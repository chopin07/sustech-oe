
<file path=[Content_Types].xml><?xml version="1.0" encoding="utf-8"?>
<Types xmlns="http://schemas.openxmlformats.org/package/2006/content-types">
  <Default Extension="jpeg" ContentType="image/jpe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9"/>
  </p:handoutMasterIdLst>
  <p:sldIdLst>
    <p:sldId id="276" r:id="rId3"/>
    <p:sldId id="259" r:id="rId4"/>
    <p:sldId id="270" r:id="rId5"/>
    <p:sldId id="271" r:id="rId7"/>
    <p:sldId id="277" r:id="rId8"/>
  </p:sldIdLst>
  <p:sldSz cx="9144000" cy="6858000" type="screen4x3"/>
  <p:notesSz cx="9931400" cy="68199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28" autoAdjust="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625495" y="0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A0449B-F7DA-4C3D-AC6B-77159A3CCC5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77722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625495" y="6477722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465B67-F554-4C98-B3A0-3BB1219CFDF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25495" y="0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650EE8-8745-4F21-801C-62A4DC04011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260725" y="511175"/>
            <a:ext cx="3409950" cy="2557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3140" y="3239452"/>
            <a:ext cx="7945120" cy="306895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477722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altLang="zh-CN" smtClean="0"/>
              <a:t>ch31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25495" y="6477722"/>
            <a:ext cx="4303607" cy="34099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8CF5AD-56E6-4A17-A876-E0A4064F6D96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smtClean="0"/>
              <a:t>ch31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228600" y="685800"/>
            <a:ext cx="4229100" cy="325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685800"/>
            <a:ext cx="4229100" cy="32591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86550" y="76200"/>
            <a:ext cx="2152650" cy="38687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28600" y="76200"/>
            <a:ext cx="6305550" cy="38687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76200"/>
            <a:ext cx="8534400" cy="501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en-US" altLang="zh-CN" smtClean="0"/>
              <a:t>Click to edit Master title style</a:t>
            </a:r>
            <a:endParaRPr lang="en-US" altLang="zh-CN" smtClean="0"/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/>
            </a:pPr>
            <a:r>
              <a:rPr lang="en-US" sz="1000" smtClean="0">
                <a:solidFill>
                  <a:srgbClr val="000000"/>
                </a:solidFill>
                <a:latin typeface="Times New Roman" panose="02020603050405020304" pitchFamily="18" charset="0"/>
              </a:rPr>
              <a:t>   General Physics II, SUSTC                                                                                                                                                                                                                Ch 29  -  </a:t>
            </a:r>
            <a:fld id="{9093E9C4-5E3C-4458-96EB-249E67D40135}" type="slidenum">
              <a:rPr lang="en-US" sz="1000" smtClean="0">
                <a:solidFill>
                  <a:srgbClr val="000000"/>
                </a:solidFill>
                <a:latin typeface="Times New Roman" panose="02020603050405020304" pitchFamily="18" charset="0"/>
              </a:rPr>
            </a:fld>
            <a:endParaRPr lang="en-US" sz="1000" smtClean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" name="Line 5"/>
          <p:cNvSpPr>
            <a:spLocks noChangeShapeType="1"/>
          </p:cNvSpPr>
          <p:nvPr/>
        </p:nvSpPr>
        <p:spPr bwMode="auto">
          <a:xfrm>
            <a:off x="179388" y="6597650"/>
            <a:ext cx="8785225" cy="0"/>
          </a:xfrm>
          <a:prstGeom prst="line">
            <a:avLst/>
          </a:prstGeom>
          <a:noFill/>
          <a:ln w="25400">
            <a:solidFill>
              <a:srgbClr val="00487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2400" smtClean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29" name="Line 6"/>
          <p:cNvSpPr>
            <a:spLocks noChangeShapeType="1"/>
          </p:cNvSpPr>
          <p:nvPr/>
        </p:nvSpPr>
        <p:spPr bwMode="auto">
          <a:xfrm>
            <a:off x="179388" y="620713"/>
            <a:ext cx="8785225" cy="0"/>
          </a:xfrm>
          <a:prstGeom prst="line">
            <a:avLst/>
          </a:prstGeom>
          <a:noFill/>
          <a:ln w="50800">
            <a:solidFill>
              <a:srgbClr val="00487A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</a:pPr>
            <a:endParaRPr lang="zh-CN" altLang="en-US" sz="2400" smtClean="0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030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685800"/>
            <a:ext cx="8610600" cy="325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1"/>
            <a:r>
              <a:rPr lang="en-US" altLang="zh-CN" smtClean="0"/>
              <a:t>Click to edit Master text styles</a:t>
            </a:r>
            <a:endParaRPr lang="en-US" altLang="zh-CN" smtClean="0"/>
          </a:p>
          <a:p>
            <a:pPr lvl="2"/>
            <a:r>
              <a:rPr lang="en-US" altLang="zh-CN" smtClean="0"/>
              <a:t>Second level</a:t>
            </a:r>
            <a:endParaRPr lang="en-US" altLang="zh-CN" smtClean="0"/>
          </a:p>
          <a:p>
            <a:pPr lvl="3"/>
            <a:r>
              <a:rPr lang="en-US" altLang="zh-CN" smtClean="0"/>
              <a:t>Third level</a:t>
            </a:r>
            <a:endParaRPr lang="en-US" altLang="zh-CN" smtClean="0"/>
          </a:p>
          <a:p>
            <a:pPr lvl="4"/>
            <a:r>
              <a:rPr lang="en-US" altLang="zh-CN" smtClean="0"/>
              <a:t>Fourth level</a:t>
            </a:r>
            <a:endParaRPr lang="en-US" altLang="zh-CN" smtClean="0"/>
          </a:p>
          <a:p>
            <a:pPr lvl="4"/>
            <a:r>
              <a:rPr lang="en-US" altLang="zh-CN" smtClean="0"/>
              <a:t>Fifth level</a:t>
            </a:r>
            <a:endParaRPr lang="en-US" altLang="zh-CN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+mj-lt"/>
          <a:ea typeface="+mj-ea"/>
          <a:cs typeface="+mj-cs"/>
        </a:defRPr>
      </a:lvl1pPr>
      <a:lvl2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2pPr>
      <a:lvl3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3pPr>
      <a:lvl4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4pPr>
      <a:lvl5pPr marL="4508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5pPr>
      <a:lvl6pPr marL="9080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6pPr>
      <a:lvl7pPr marL="13652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7pPr>
      <a:lvl8pPr marL="18224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8pPr>
      <a:lvl9pPr marL="2279650" indent="-45085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rgbClr val="D33325"/>
          </a:solidFill>
          <a:latin typeface="Times New Roman" panose="02020603050405020304" pitchFamily="18" charset="0"/>
          <a:ea typeface="MS PGothic" panose="020B0600070205080204" pitchFamily="34" charset="-128"/>
        </a:defRPr>
      </a:lvl9pPr>
    </p:titleStyle>
    <p:bodyStyle>
      <a:lvl1pPr marL="342900" indent="-34290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Char char="•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40005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•"/>
        <a:defRPr sz="3000">
          <a:solidFill>
            <a:schemeClr val="tx1"/>
          </a:solidFill>
          <a:latin typeface="+mj-lt"/>
          <a:ea typeface="+mn-ea"/>
        </a:defRPr>
      </a:lvl2pPr>
      <a:lvl3pPr marL="1254125" indent="-45085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800">
          <a:solidFill>
            <a:schemeClr val="tx1"/>
          </a:solidFill>
          <a:latin typeface="+mj-lt"/>
          <a:ea typeface="+mn-ea"/>
        </a:defRPr>
      </a:lvl3pPr>
      <a:lvl4pPr marL="1828800" indent="-34290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•"/>
        <a:defRPr sz="2600">
          <a:solidFill>
            <a:schemeClr val="tx1"/>
          </a:solidFill>
          <a:latin typeface="+mj-lt"/>
          <a:ea typeface="+mn-ea"/>
        </a:defRPr>
      </a:lvl4pPr>
      <a:lvl5pPr marL="22860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5pPr>
      <a:lvl6pPr marL="27432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6pPr>
      <a:lvl7pPr marL="32004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7pPr>
      <a:lvl8pPr marL="36576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8pPr>
      <a:lvl9pPr marL="4114800" indent="-335280" algn="l" rtl="0" eaLnBrk="0" fontAlgn="base" hangingPunct="0">
        <a:spcBef>
          <a:spcPct val="45000"/>
        </a:spcBef>
        <a:spcAft>
          <a:spcPct val="20000"/>
        </a:spcAft>
        <a:buClr>
          <a:srgbClr val="0066CC"/>
        </a:buClr>
        <a:buFont typeface="Times" pitchFamily="18" charset="0"/>
        <a:buChar char="–"/>
        <a:defRPr sz="2600">
          <a:solidFill>
            <a:schemeClr val="tx1"/>
          </a:solidFill>
          <a:latin typeface="+mj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3.png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5.jpeg"/><Relationship Id="rId1" Type="http://schemas.openxmlformats.org/officeDocument/2006/relationships/image" Target="../media/image1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vmlDrawing" Target="../drawings/vmlDrawing1.v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8.wmf"/><Relationship Id="rId2" Type="http://schemas.openxmlformats.org/officeDocument/2006/relationships/oleObject" Target="../embeddings/oleObject1.bin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220894" y="913716"/>
            <a:ext cx="40719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000" dirty="0">
                <a:latin typeface="+mj-lt"/>
              </a:rPr>
              <a:t>We can express the “current” by </a:t>
            </a:r>
            <a:r>
              <a:rPr lang="en-US" altLang="zh-CN" sz="2000" dirty="0">
                <a:solidFill>
                  <a:srgbClr val="C00000"/>
                </a:solidFill>
                <a:latin typeface="+mj-lt"/>
              </a:rPr>
              <a:t>the rate </a:t>
            </a:r>
            <a:r>
              <a:rPr lang="en-US" altLang="zh-CN" sz="2000" dirty="0" smtClean="0">
                <a:solidFill>
                  <a:srgbClr val="C00000"/>
                </a:solidFill>
                <a:latin typeface="+mj-lt"/>
              </a:rPr>
              <a:t>of flux </a:t>
            </a:r>
            <a:r>
              <a:rPr lang="el-GR" altLang="zh-CN" sz="2000" i="1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Φ</a:t>
            </a:r>
            <a:r>
              <a:rPr lang="en-US" altLang="zh-CN" sz="2000" i="1" baseline="-250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E</a:t>
            </a:r>
            <a:r>
              <a:rPr lang="en-US" altLang="zh-CN" sz="2000" dirty="0">
                <a:solidFill>
                  <a:srgbClr val="C0000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latin typeface="+mj-lt"/>
                <a:cs typeface="Times New Roman" panose="02020603050405020304" pitchFamily="18" charset="0"/>
              </a:rPr>
              <a:t>in terms of </a:t>
            </a:r>
            <a:r>
              <a:rPr lang="en-US" altLang="zh-CN" sz="2000" dirty="0" smtClean="0">
                <a:latin typeface="+mj-lt"/>
                <a:cs typeface="Times New Roman" panose="02020603050405020304" pitchFamily="18" charset="0"/>
              </a:rPr>
              <a:t>charge </a:t>
            </a:r>
            <a:r>
              <a:rPr lang="en-US" altLang="zh-CN" sz="2000" i="1" dirty="0">
                <a:latin typeface="+mj-lt"/>
                <a:cs typeface="Times New Roman" panose="02020603050405020304" pitchFamily="18" charset="0"/>
              </a:rPr>
              <a:t>q</a:t>
            </a:r>
            <a:endParaRPr lang="zh-CN" altLang="en-US" sz="2000" dirty="0">
              <a:latin typeface="+mj-lt"/>
            </a:endParaRPr>
          </a:p>
        </p:txBody>
      </p:sp>
      <p:pic>
        <p:nvPicPr>
          <p:cNvPr id="12295" name="Picture 7"/>
          <p:cNvPicPr>
            <a:picLocks noChangeAspect="1" noChangeArrowheads="1"/>
          </p:cNvPicPr>
          <p:nvPr/>
        </p:nvPicPr>
        <p:blipFill>
          <a:blip r:embed="rId1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3" y="2342467"/>
            <a:ext cx="1390650" cy="67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6" name="Picture 8"/>
          <p:cNvPicPr>
            <a:picLocks noChangeAspect="1" noChangeArrowheads="1"/>
          </p:cNvPicPr>
          <p:nvPr/>
        </p:nvPicPr>
        <p:blipFill>
          <a:blip r:embed="rId2" cstate="print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25" y="2342467"/>
            <a:ext cx="4095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7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0" y="2485342"/>
            <a:ext cx="571500" cy="409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8" name="Picture 10"/>
          <p:cNvPicPr>
            <a:picLocks noChangeAspect="1" noChangeArrowheads="1"/>
          </p:cNvPicPr>
          <p:nvPr/>
        </p:nvPicPr>
        <p:blipFill>
          <a:blip r:embed="rId4" cstate="print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2423429"/>
            <a:ext cx="885825" cy="41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9" name="Picture 11"/>
          <p:cNvPicPr>
            <a:picLocks noChangeAspect="1" noChangeArrowheads="1"/>
          </p:cNvPicPr>
          <p:nvPr/>
        </p:nvPicPr>
        <p:blipFill>
          <a:blip r:embed="rId5" cstate="print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0438" y="2485342"/>
            <a:ext cx="9144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142875" y="3304492"/>
            <a:ext cx="492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/>
              <a:t>∴</a:t>
            </a:r>
            <a:endParaRPr lang="zh-CN" altLang="en-US"/>
          </a:p>
        </p:txBody>
      </p:sp>
      <p:pic>
        <p:nvPicPr>
          <p:cNvPr id="12301" name="Picture 13"/>
          <p:cNvPicPr>
            <a:picLocks noChangeAspect="1" noChangeArrowheads="1"/>
          </p:cNvPicPr>
          <p:nvPr/>
        </p:nvPicPr>
        <p:blipFill>
          <a:blip r:embed="rId6" cstate="print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5938" y="3161617"/>
            <a:ext cx="11525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2" name="Picture 14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2119" y="804179"/>
            <a:ext cx="3306815" cy="272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3" name="Picture 15"/>
          <p:cNvPicPr>
            <a:picLocks noChangeAspect="1" noChangeArrowheads="1"/>
          </p:cNvPicPr>
          <p:nvPr/>
        </p:nvPicPr>
        <p:blipFill>
          <a:blip r:embed="rId8" cstate="print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3161617"/>
            <a:ext cx="1114425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305" name="Picture 17"/>
          <p:cNvPicPr>
            <a:picLocks noChangeAspect="1" noChangeArrowheads="1"/>
          </p:cNvPicPr>
          <p:nvPr/>
        </p:nvPicPr>
        <p:blipFill>
          <a:blip r:embed="rId9" cstate="print">
            <a:lum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94" y="4128405"/>
            <a:ext cx="6810375" cy="81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59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Ch32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995790" y="3343663"/>
            <a:ext cx="2422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Displacement current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5" dur="500"/>
                                        <p:tgtEl>
                                          <p:spTgt spid="1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12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12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28625" y="714375"/>
            <a:ext cx="57864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400" b="1" i="1" baseline="30000">
                <a:solidFill>
                  <a:srgbClr val="C00000"/>
                </a:solidFill>
              </a:rPr>
              <a:t>*</a:t>
            </a:r>
            <a:r>
              <a:rPr lang="en-US" altLang="zh-CN" sz="1400" b="1" i="1">
                <a:solidFill>
                  <a:srgbClr val="C00000"/>
                </a:solidFill>
              </a:rPr>
              <a:t> </a:t>
            </a:r>
            <a:r>
              <a:rPr lang="en-US" altLang="zh-CN" sz="1400" i="1">
                <a:solidFill>
                  <a:srgbClr val="C00000"/>
                </a:solidFill>
              </a:rPr>
              <a:t>Assume there is no dielectric or magnetic materials present</a:t>
            </a:r>
            <a:endParaRPr lang="zh-CN" altLang="en-US" sz="1400" b="1" i="1">
              <a:solidFill>
                <a:srgbClr val="C00000"/>
              </a:solidFill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1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1071563"/>
            <a:ext cx="5514975" cy="7715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2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188" y="2286000"/>
            <a:ext cx="4905375" cy="7334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143250" y="1857375"/>
            <a:ext cx="1571625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+mj-lt"/>
              </a:rPr>
              <a:t>Net electric flux</a:t>
            </a:r>
            <a:endParaRPr lang="zh-CN" altLang="en-US" sz="1600" dirty="0">
              <a:latin typeface="+mj-l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072063" y="1857375"/>
            <a:ext cx="3000375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+mj-lt"/>
              </a:rPr>
              <a:t>Net enclosed electric charge</a:t>
            </a:r>
            <a:endParaRPr lang="zh-CN" altLang="en-US" sz="1600" dirty="0"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71813" y="3000375"/>
            <a:ext cx="17145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+mj-lt"/>
              </a:rPr>
              <a:t>Net magnetic flux</a:t>
            </a:r>
            <a:endParaRPr lang="zh-CN" altLang="en-US" sz="1600" dirty="0">
              <a:latin typeface="+mj-l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43500" y="3000375"/>
            <a:ext cx="3000375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+mj-lt"/>
              </a:rPr>
              <a:t>Net enclosed magnetic charge</a:t>
            </a:r>
            <a:endParaRPr lang="zh-CN" altLang="en-US" sz="1600" dirty="0">
              <a:latin typeface="+mj-lt"/>
            </a:endParaRPr>
          </a:p>
        </p:txBody>
      </p:sp>
      <p:pic>
        <p:nvPicPr>
          <p:cNvPr id="26628" name="Picture 4"/>
          <p:cNvPicPr>
            <a:picLocks noChangeAspect="1" noChangeArrowheads="1"/>
          </p:cNvPicPr>
          <p:nvPr/>
        </p:nvPicPr>
        <p:blipFill>
          <a:blip r:embed="rId3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571875"/>
            <a:ext cx="4638675" cy="8191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2143125" y="4429125"/>
            <a:ext cx="17145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+mj-lt"/>
              </a:rPr>
              <a:t>Induced E-field</a:t>
            </a:r>
            <a:endParaRPr lang="zh-CN" altLang="en-US" sz="1600" dirty="0"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000500" y="4429125"/>
            <a:ext cx="2428875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+mj-lt"/>
              </a:rPr>
              <a:t>Changing magnetic flux</a:t>
            </a:r>
            <a:endParaRPr lang="zh-CN" altLang="en-US" sz="1600" dirty="0">
              <a:latin typeface="+mj-lt"/>
            </a:endParaRPr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4" cstate="print">
            <a:lum bright="-20000" contras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5000625"/>
            <a:ext cx="6705600" cy="762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2857500" y="5857875"/>
            <a:ext cx="17145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+mj-lt"/>
              </a:rPr>
              <a:t>Induced B-field</a:t>
            </a:r>
            <a:endParaRPr lang="zh-CN" altLang="en-US" sz="1600" dirty="0"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000625" y="5857875"/>
            <a:ext cx="3429000" cy="3381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altLang="zh-CN" sz="1600" dirty="0">
                <a:latin typeface="+mj-lt"/>
              </a:rPr>
              <a:t>Changing electric flux and current</a:t>
            </a:r>
            <a:endParaRPr lang="zh-CN" altLang="en-US" sz="1600" dirty="0">
              <a:latin typeface="+mj-lt"/>
            </a:endParaRPr>
          </a:p>
        </p:txBody>
      </p:sp>
      <p:sp>
        <p:nvSpPr>
          <p:cNvPr id="16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59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Ch32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  <p:bldP spid="9" grpId="0"/>
      <p:bldP spid="11" grpId="0"/>
      <p:bldP spid="12" grpId="0"/>
      <p:bldP spid="14" grpId="0"/>
      <p:bldP spid="1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sz="1000" dirty="0"/>
          </a:p>
        </p:txBody>
      </p:sp>
      <p:pic>
        <p:nvPicPr>
          <p:cNvPr id="2049" name="Picture 1" descr="C:\Users\Lenovo\AppData\Roaming\Tencent\Users\52563569\QQ\WinTemp\RichOle\$3FURNXB5J~}V$KS57_O}~M.jp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156682"/>
            <a:ext cx="5934280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C:\Users\Lenovo\AppData\Roaming\Tencent\Users\52563569\QQ\WinTemp\RichOle\S]U_0O96)$YGZB@JV0D2QZG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4208" y="831732"/>
            <a:ext cx="2489497" cy="4740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 bwMode="auto">
          <a:xfrm>
            <a:off x="395536" y="1124744"/>
            <a:ext cx="3744416" cy="36004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59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Ch32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8" name="Text Box 11"/>
          <p:cNvSpPr txBox="1">
            <a:spLocks noChangeArrowheads="1"/>
          </p:cNvSpPr>
          <p:nvPr/>
        </p:nvSpPr>
        <p:spPr bwMode="auto">
          <a:xfrm>
            <a:off x="1043608" y="1156682"/>
            <a:ext cx="3024336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A problem for chapter 32:        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sz="1000" dirty="0"/>
          </a:p>
        </p:txBody>
      </p:sp>
      <p:pic>
        <p:nvPicPr>
          <p:cNvPr id="3073" name="Picture 1" descr="C:\Users\Lenovo\AppData\Roaming\Tencent\Users\52563569\QQ\WinTemp\RichOle\VHA)T`XRLQ4~(JT3A15VYTP.jpg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845"/>
          <a:stretch>
            <a:fillRect/>
          </a:stretch>
        </p:blipFill>
        <p:spPr bwMode="auto">
          <a:xfrm>
            <a:off x="395536" y="1196752"/>
            <a:ext cx="8440630" cy="4032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59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Ch32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251520" y="685288"/>
            <a:ext cx="1368152" cy="40011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Solution:</a:t>
            </a:r>
            <a:endParaRPr lang="en-US" altLang="zh-CN" sz="2000" b="1" dirty="0" smtClean="0">
              <a:solidFill>
                <a:srgbClr val="0070C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矩形 1"/>
          <p:cNvSpPr/>
          <p:nvPr/>
        </p:nvSpPr>
        <p:spPr bwMode="auto">
          <a:xfrm>
            <a:off x="467544" y="1196752"/>
            <a:ext cx="360040" cy="28803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596455" y="6625276"/>
            <a:ext cx="122413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zh-CN" altLang="en-US" sz="1000" dirty="0"/>
          </a:p>
        </p:txBody>
      </p:sp>
      <p:pic>
        <p:nvPicPr>
          <p:cNvPr id="2" name="Picture 2" descr="C:\Users\Lenovo\AppData\Roaming\Tencent\Users\52563569\QQ\WinTemp\RichOle\R2%`8JO[HO{4]3[UVJBXTJY.jpg"/>
          <p:cNvPicPr>
            <a:picLocks noChangeAspect="1" noChangeArrowheads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019"/>
          <a:stretch>
            <a:fillRect/>
          </a:stretch>
        </p:blipFill>
        <p:spPr bwMode="auto">
          <a:xfrm>
            <a:off x="323528" y="764704"/>
            <a:ext cx="8640960" cy="452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" name="对象 2"/>
          <p:cNvGraphicFramePr>
            <a:graphicFrameLocks noChangeAspect="1"/>
          </p:cNvGraphicFramePr>
          <p:nvPr/>
        </p:nvGraphicFramePr>
        <p:xfrm>
          <a:off x="1409051" y="5589240"/>
          <a:ext cx="6036303" cy="5040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1" name="Equation" r:id="rId2" imgW="80467200" imgH="6705600" progId="Equation.DSMT4">
                  <p:embed/>
                </p:oleObj>
              </mc:Choice>
              <mc:Fallback>
                <p:oleObj name="Equation" r:id="rId2" imgW="80467200" imgH="6705600" progId="Equation.DSMT4">
                  <p:embed/>
                  <p:pic>
                    <p:nvPicPr>
                      <p:cNvPr id="0" name="图片 410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09051" y="5589240"/>
                        <a:ext cx="6036303" cy="504056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11"/>
          <p:cNvSpPr txBox="1">
            <a:spLocks noChangeArrowheads="1"/>
          </p:cNvSpPr>
          <p:nvPr/>
        </p:nvSpPr>
        <p:spPr bwMode="auto">
          <a:xfrm>
            <a:off x="179388" y="115888"/>
            <a:ext cx="245932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Char char="•"/>
              <a:defRPr sz="3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3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•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 eaLnBrk="0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45000"/>
              </a:spcBef>
              <a:spcAft>
                <a:spcPct val="20000"/>
              </a:spcAft>
              <a:buClr>
                <a:srgbClr val="0066CC"/>
              </a:buClr>
              <a:buFont typeface="Times" pitchFamily="18" charset="0"/>
              <a:buChar char="–"/>
              <a:defRPr sz="26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  <a:buClrTx/>
              <a:buFontTx/>
              <a:buNone/>
            </a:pPr>
            <a:r>
              <a:rPr lang="en-US" altLang="zh-CN" sz="2400" b="1" dirty="0" smtClean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宋体" panose="02010600030101010101" pitchFamily="2" charset="-122"/>
              </a:rPr>
              <a:t>Review of Ch32</a:t>
            </a:r>
            <a:endParaRPr lang="en-US" altLang="zh-CN" sz="2400" b="1" dirty="0" smtClean="0">
              <a:solidFill>
                <a:srgbClr val="CC33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6eActiveLectureQuestions">
  <a:themeElements>
    <a:clrScheme name="C6eActiveLectureQuestions 14">
      <a:dk1>
        <a:srgbClr val="000000"/>
      </a:dk1>
      <a:lt1>
        <a:srgbClr val="FFFFFF"/>
      </a:lt1>
      <a:dk2>
        <a:srgbClr val="333399"/>
      </a:dk2>
      <a:lt2>
        <a:srgbClr val="000000"/>
      </a:lt2>
      <a:accent1>
        <a:srgbClr val="B7DAB8"/>
      </a:accent1>
      <a:accent2>
        <a:srgbClr val="005472"/>
      </a:accent2>
      <a:accent3>
        <a:srgbClr val="FFFFFF"/>
      </a:accent3>
      <a:accent4>
        <a:srgbClr val="000000"/>
      </a:accent4>
      <a:accent5>
        <a:srgbClr val="D8EAD8"/>
      </a:accent5>
      <a:accent6>
        <a:srgbClr val="004B67"/>
      </a:accent6>
      <a:hlink>
        <a:srgbClr val="009999"/>
      </a:hlink>
      <a:folHlink>
        <a:srgbClr val="99CC00"/>
      </a:folHlink>
    </a:clrScheme>
    <a:fontScheme name="C6eActiveLectureQuestions">
      <a:majorFont>
        <a:latin typeface="Times New Roman"/>
        <a:ea typeface="MS PGothic"/>
        <a:cs typeface=""/>
      </a:majorFont>
      <a:minorFont>
        <a:latin typeface="Arial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C6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6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6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WPS 演示</Application>
  <PresentationFormat>全屏显示(4:3)</PresentationFormat>
  <Paragraphs>38</Paragraphs>
  <Slides>5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Times New Roman</vt:lpstr>
      <vt:lpstr>MS PGothic</vt:lpstr>
      <vt:lpstr>Times</vt:lpstr>
      <vt:lpstr>微软雅黑</vt:lpstr>
      <vt:lpstr>Arial Unicode MS</vt:lpstr>
      <vt:lpstr>Calibri</vt:lpstr>
      <vt:lpstr>C6eActiveLectureQuestions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xin</dc:creator>
  <cp:lastModifiedBy>Administrator</cp:lastModifiedBy>
  <cp:revision>112</cp:revision>
  <cp:lastPrinted>2015-05-07T01:44:00Z</cp:lastPrinted>
  <dcterms:created xsi:type="dcterms:W3CDTF">2014-04-24T05:25:00Z</dcterms:created>
  <dcterms:modified xsi:type="dcterms:W3CDTF">2019-04-28T01:27:16Z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