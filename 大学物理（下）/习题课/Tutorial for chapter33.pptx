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21"/>
  </p:handoutMasterIdLst>
  <p:sldIdLst>
    <p:sldId id="257" r:id="rId5"/>
    <p:sldId id="261" r:id="rId7"/>
    <p:sldId id="301" r:id="rId8"/>
    <p:sldId id="323" r:id="rId9"/>
    <p:sldId id="264" r:id="rId10"/>
    <p:sldId id="283" r:id="rId11"/>
    <p:sldId id="294" r:id="rId12"/>
    <p:sldId id="295" r:id="rId13"/>
    <p:sldId id="266" r:id="rId14"/>
    <p:sldId id="267" r:id="rId15"/>
    <p:sldId id="296" r:id="rId16"/>
    <p:sldId id="297" r:id="rId17"/>
    <p:sldId id="277" r:id="rId18"/>
    <p:sldId id="298" r:id="rId19"/>
    <p:sldId id="299" r:id="rId20"/>
  </p:sldIdLst>
  <p:sldSz cx="9144000" cy="6858000" type="screen4x3"/>
  <p:notesSz cx="9872345" cy="6797675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76023" autoAdjust="0"/>
  </p:normalViewPr>
  <p:slideViewPr>
    <p:cSldViewPr showGuides="1">
      <p:cViewPr varScale="1">
        <p:scale>
          <a:sx n="91" d="100"/>
          <a:sy n="91" d="100"/>
        </p:scale>
        <p:origin x="-16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gs" Target="tags/tag5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0449B-F7DA-4C3D-AC6B-77159A3CCC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65B67-F554-4C98-B3A0-3BB1219CFD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50EE8-8745-4F21-801C-62A4DC0401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267" y="3228896"/>
            <a:ext cx="789813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 smtClean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>
                <a:solidFill>
                  <a:prstClr val="black"/>
                </a:solidFill>
              </a:rPr>
              <a:t>ch31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25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25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413115" y="67354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8687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8687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922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922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4925" y="6524625"/>
            <a:ext cx="2895600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altLang="zh-CN" sz="2400">
                <a:solidFill>
                  <a:srgbClr val="000000"/>
                </a:solidFill>
                <a:ea typeface="宋体" panose="02010600030101010101" pitchFamily="2" charset="-122"/>
              </a:rPr>
              <a:t>(Gan 2007)</a:t>
            </a:r>
            <a:endParaRPr lang="en-AU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4A9DDF-B435-4E04-888B-6AC55955DE9D}" type="slidenum">
              <a:rPr lang="en-AU" altLang="zh-CN" sz="240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AU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4925" y="6524625"/>
            <a:ext cx="2895600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altLang="zh-CN" sz="2400">
                <a:solidFill>
                  <a:srgbClr val="000000"/>
                </a:solidFill>
                <a:ea typeface="宋体" panose="02010600030101010101" pitchFamily="2" charset="-122"/>
              </a:rPr>
              <a:t>(Gan 2007)</a:t>
            </a:r>
            <a:endParaRPr lang="en-AU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A0D2D8-8ADD-4297-8857-AD8D82C41BA5}" type="slidenum">
              <a:rPr lang="en-AU" altLang="zh-CN" sz="240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AU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2890"/>
            <a:ext cx="914400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en-US" sz="1000" smtClean="0">
                <a:solidFill>
                  <a:srgbClr val="000000"/>
                </a:solidFill>
                <a:latin typeface="Times New Roman" panose="02020603050405020304" pitchFamily="18" charset="0"/>
              </a:rPr>
              <a:t>College Physics II, SUSTech                                                                                                                                                                                                               Ch 32-33  -  </a:t>
            </a:r>
            <a:fld id="{9093E9C4-5E3C-4458-96EB-249E67D40135}" type="slidenum">
              <a:rPr lang="en-US" sz="1000" smtClean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sz="10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2400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2400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2"/>
            <a:r>
              <a:rPr lang="en-US" altLang="zh-CN" smtClean="0"/>
              <a:t>Second level</a:t>
            </a:r>
            <a:endParaRPr lang="en-US" altLang="zh-CN" smtClean="0"/>
          </a:p>
          <a:p>
            <a:pPr lvl="3"/>
            <a:r>
              <a:rPr lang="en-US" altLang="zh-CN" smtClean="0"/>
              <a:t>Third level</a:t>
            </a:r>
            <a:endParaRPr lang="en-US" altLang="zh-CN" smtClean="0"/>
          </a:p>
          <a:p>
            <a:pPr lvl="4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+mj-ea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9080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6pPr>
      <a:lvl7pPr marL="13652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7pPr>
      <a:lvl8pPr marL="18224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8pPr>
      <a:lvl9pPr marL="22796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+mn-ea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800">
          <a:solidFill>
            <a:schemeClr val="tx1"/>
          </a:solidFill>
          <a:latin typeface="+mj-lt"/>
          <a:ea typeface="+mn-ea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+mn-ea"/>
        </a:defRPr>
      </a:lvl4pPr>
      <a:lvl5pPr marL="22860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5pPr>
      <a:lvl6pPr marL="27432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6pPr>
      <a:lvl7pPr marL="32004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7pPr>
      <a:lvl8pPr marL="36576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8pPr>
      <a:lvl9pPr marL="41148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4478"/>
            <a:ext cx="9144000" cy="24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marL="2286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+mj-lt"/>
              <a:buNone/>
            </a:pPr>
            <a:r>
              <a:rPr lang="en-US" altLang="zh-CN" sz="100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College Physics II, SUSTech                                                                                                                                                                                                                Ch 32-33  </a:t>
            </a:r>
            <a:fld id="{94EAD25A-5877-4F14-9516-14888D5507A5}" type="slidenum">
              <a:rPr lang="en-US" altLang="zh-CN" sz="1000" smtClean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altLang="zh-CN" sz="10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2"/>
            <a:r>
              <a:rPr lang="en-US" altLang="zh-CN" smtClean="0"/>
              <a:t>Second level</a:t>
            </a:r>
            <a:endParaRPr lang="en-US" altLang="zh-CN" smtClean="0"/>
          </a:p>
          <a:p>
            <a:pPr lvl="3"/>
            <a:r>
              <a:rPr lang="en-US" altLang="zh-CN" smtClean="0"/>
              <a:t>Third level</a:t>
            </a:r>
            <a:endParaRPr lang="en-US" altLang="zh-CN" smtClean="0"/>
          </a:p>
          <a:p>
            <a:pPr lvl="4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iming>
    <p:tnLst>
      <p:par>
        <p:cTn id="1" dur="indefinite" restart="never" nodeType="tmRoot"/>
      </p:par>
    </p:tnLst>
  </p:timing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MS PGothic" panose="020B0600070205080204" pitchFamily="34" charset="-128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Char char="•"/>
        <a:defRPr sz="30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MS PGothic" panose="020B0600070205080204" pitchFamily="34" charset="-128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anose="02020603050405020304" pitchFamily="18" charset="0"/>
        <a:buChar char="–"/>
        <a:defRPr sz="2800">
          <a:solidFill>
            <a:schemeClr val="tx1"/>
          </a:solidFill>
          <a:latin typeface="+mj-lt"/>
          <a:ea typeface="MS PGothic" panose="020B0600070205080204" pitchFamily="34" charset="-128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MS PGothic" panose="020B0600070205080204" pitchFamily="34" charset="-128"/>
        </a:defRPr>
      </a:lvl4pPr>
      <a:lvl5pPr marL="2286000" indent="-33528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anose="02020603050405020304" pitchFamily="18" charset="0"/>
        <a:buChar char="–"/>
        <a:defRPr sz="2600">
          <a:solidFill>
            <a:schemeClr val="tx1"/>
          </a:solidFill>
          <a:latin typeface="+mj-lt"/>
          <a:ea typeface="MS PGothic" panose="020B0600070205080204" pitchFamily="34" charset="-128"/>
        </a:defRPr>
      </a:lvl5pPr>
      <a:lvl6pPr marL="2743200" indent="-335280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panose="02020603050405020304" pitchFamily="18" charset="0"/>
        <a:buChar char="–"/>
        <a:defRPr sz="2600">
          <a:solidFill>
            <a:schemeClr val="tx1"/>
          </a:solidFill>
          <a:latin typeface="+mj-lt"/>
        </a:defRPr>
      </a:lvl6pPr>
      <a:lvl7pPr marL="3200400" indent="-335280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panose="02020603050405020304" pitchFamily="18" charset="0"/>
        <a:buChar char="–"/>
        <a:defRPr sz="2600">
          <a:solidFill>
            <a:schemeClr val="tx1"/>
          </a:solidFill>
          <a:latin typeface="+mj-lt"/>
        </a:defRPr>
      </a:lvl7pPr>
      <a:lvl8pPr marL="3657600" indent="-335280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panose="02020603050405020304" pitchFamily="18" charset="0"/>
        <a:buChar char="–"/>
        <a:defRPr sz="2600">
          <a:solidFill>
            <a:schemeClr val="tx1"/>
          </a:solidFill>
          <a:latin typeface="+mj-lt"/>
        </a:defRPr>
      </a:lvl8pPr>
      <a:lvl9pPr marL="4114800" indent="-335280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panose="02020603050405020304" pitchFamily="18" charset="0"/>
        <a:buChar char="–"/>
        <a:defRPr sz="2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tags" Target="../tags/tag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12.wmf"/><Relationship Id="rId6" Type="http://schemas.openxmlformats.org/officeDocument/2006/relationships/oleObject" Target="../embeddings/oleObject1.bin"/><Relationship Id="rId5" Type="http://schemas.openxmlformats.org/officeDocument/2006/relationships/image" Target="../media/image11.png"/><Relationship Id="rId4" Type="http://schemas.openxmlformats.org/officeDocument/2006/relationships/tags" Target="../tags/tag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4.jpeg"/><Relationship Id="rId15" Type="http://schemas.openxmlformats.org/officeDocument/2006/relationships/notesSlide" Target="../notesSlides/notesSlide4.xml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28.xml"/><Relationship Id="rId12" Type="http://schemas.openxmlformats.org/officeDocument/2006/relationships/image" Target="../media/image19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8.wmf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8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8.png"/><Relationship Id="rId3" Type="http://schemas.openxmlformats.org/officeDocument/2006/relationships/image" Target="../media/image37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39.w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8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35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Ch33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3082" name="Text Box 11"/>
          <p:cNvSpPr txBox="1">
            <a:spLocks noChangeArrowheads="1"/>
          </p:cNvSpPr>
          <p:nvPr/>
        </p:nvSpPr>
        <p:spPr bwMode="auto">
          <a:xfrm>
            <a:off x="3781425" y="160338"/>
            <a:ext cx="1511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Key words 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9368" y="683164"/>
            <a:ext cx="3960440" cy="52927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Electromagnetic waves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电磁波</a:t>
            </a:r>
            <a:endParaRPr lang="en-US" altLang="zh-CN" sz="20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Transverse waves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横波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Antenna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天线</a:t>
            </a:r>
            <a:endParaRPr lang="en-US" altLang="zh-CN" sz="20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err="1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Wavefront</a:t>
            </a: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波前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Plane wave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平面波</a:t>
            </a:r>
            <a:endParaRPr lang="en-US" altLang="zh-CN" sz="20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Spectrum 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谱线</a:t>
            </a:r>
            <a:endParaRPr lang="en-US" altLang="zh-CN" sz="20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Infrared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红外线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Ultraviolet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紫外线</a:t>
            </a:r>
            <a:endParaRPr lang="en-US" altLang="zh-CN" sz="20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The index of refraction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折射率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Energy transport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能量传输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err="1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Poynting</a:t>
            </a: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vector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坡印廷矢量 </a:t>
            </a:r>
            <a:endParaRPr lang="en-US" altLang="zh-CN" sz="20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Intensity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光强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Transmitted intensity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透射光强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47688" y="683164"/>
            <a:ext cx="4672903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Radiation pressure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光压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Total absorption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全吸收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Polarization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（偏振）</a:t>
            </a:r>
            <a:endParaRPr lang="en-US" altLang="zh-CN" sz="20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err="1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Unpolarized</a:t>
            </a:r>
            <a:r>
              <a:rPr lang="en-US" altLang="zh-CN" sz="2000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偏振的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Polarizing filters </a:t>
            </a: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偏振片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Polarizer </a:t>
            </a:r>
            <a:r>
              <a:rPr lang="en-US" altLang="zh-CN" sz="2000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Polaroid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偏振片</a:t>
            </a: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板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Reflection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（反射） </a:t>
            </a: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Refraction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（折射）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Snell’s Law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斯涅尔定律（折射定律）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Chromatic dispersion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色散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Brewster Angle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（布鲁斯特角）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Total internal reflection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（全反射）</a:t>
            </a:r>
            <a:endParaRPr lang="en-US" altLang="zh-CN" sz="20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Critical angle 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（临界角）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hromatic dispersion (</a:t>
            </a:r>
            <a:r>
              <a:rPr lang="zh-CN" altLang="en-US" sz="2000" dirty="0" smtClean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色散）</a:t>
            </a:r>
            <a:endParaRPr lang="en-US" altLang="zh-CN" sz="2000" dirty="0" smtClean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058" y="98914"/>
            <a:ext cx="814387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EM waves → Transverse waves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1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6" y="1628801"/>
            <a:ext cx="4981734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1907704" y="1166838"/>
            <a:ext cx="1000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TW" altLang="en-US" sz="1800" b="1" dirty="0"/>
              <a:t>波面</a:t>
            </a:r>
            <a:endParaRPr lang="zh-CN" altLang="en-US" sz="1800" b="1" dirty="0"/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3419871" y="1197607"/>
            <a:ext cx="1000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 dirty="0"/>
              <a:t>光</a:t>
            </a:r>
            <a:r>
              <a:rPr lang="zh-TW" altLang="en-US" sz="1800" b="1" dirty="0" smtClean="0"/>
              <a:t>线</a:t>
            </a:r>
            <a:endParaRPr lang="zh-CN" altLang="en-US" sz="1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67659" y="3861048"/>
                <a:ext cx="2525050" cy="2329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 smtClean="0">
                    <a:latin typeface="+mj-lt"/>
                  </a:rPr>
                  <a:t>1, </a:t>
                </a:r>
                <a:r>
                  <a:rPr lang="en-US" altLang="zh-CN" sz="1600" i="1" dirty="0" smtClean="0">
                    <a:latin typeface="+mj-lt"/>
                  </a:rPr>
                  <a:t>E</a:t>
                </a:r>
                <a:r>
                  <a:rPr lang="en-US" altLang="zh-CN" sz="1600" dirty="0" smtClean="0">
                    <a:latin typeface="+mj-lt"/>
                  </a:rPr>
                  <a:t> and </a:t>
                </a:r>
                <a:r>
                  <a:rPr lang="en-US" altLang="zh-CN" sz="1600" i="1" dirty="0" smtClean="0">
                    <a:latin typeface="+mj-lt"/>
                  </a:rPr>
                  <a:t>B</a:t>
                </a:r>
                <a:r>
                  <a:rPr lang="en-US" altLang="zh-CN" sz="1600" dirty="0" smtClean="0">
                    <a:latin typeface="+mj-lt"/>
                  </a:rPr>
                  <a:t> are in phase</a:t>
                </a:r>
                <a:endParaRPr lang="en-US" altLang="zh-CN" sz="1600" dirty="0" smtClean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 smtClean="0">
                    <a:latin typeface="+mj-lt"/>
                  </a:rPr>
                  <a:t>2, </a:t>
                </a:r>
                <a:r>
                  <a:rPr lang="en-US" altLang="zh-CN" sz="1600" i="1" dirty="0" smtClean="0">
                    <a:latin typeface="+mj-lt"/>
                  </a:rPr>
                  <a:t>E</a:t>
                </a:r>
                <a:r>
                  <a:rPr lang="en-US" altLang="zh-CN" sz="1600" dirty="0" smtClean="0">
                    <a:latin typeface="+mj-lt"/>
                  </a:rPr>
                  <a:t> and </a:t>
                </a:r>
                <a:r>
                  <a:rPr lang="en-US" altLang="zh-CN" sz="1600" i="1" dirty="0" smtClean="0">
                    <a:latin typeface="+mj-lt"/>
                  </a:rPr>
                  <a:t>B</a:t>
                </a:r>
                <a:r>
                  <a:rPr lang="en-US" altLang="zh-CN" sz="1600" dirty="0" smtClean="0">
                    <a:latin typeface="+mj-lt"/>
                  </a:rPr>
                  <a:t> are perpendicular</a:t>
                </a:r>
                <a:endParaRPr lang="en-US" altLang="zh-CN" sz="1600" dirty="0" smtClean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 smtClean="0">
                    <a:latin typeface="+mj-lt"/>
                  </a:rPr>
                  <a:t>3,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1600" b="0" i="1" smtClean="0"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𝐸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acc>
                      <m:accPr>
                        <m:ctrlPr>
                          <a:rPr lang="en-US" altLang="zh-CN" sz="1600" b="0" i="1" smtClean="0">
                            <a:latin typeface="Cambria Math" panose="02040503050406030204"/>
                            <a:ea typeface="Cambria Math" panose="02040503050406030204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/>
                            <a:ea typeface="Cambria Math" panose="02040503050406030204"/>
                          </a:rPr>
                          <m:t>𝐵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/>
                      </a:rPr>
                      <m:t>=</m:t>
                    </m:r>
                    <m:acc>
                      <m:accPr>
                        <m:ctrlPr>
                          <a:rPr lang="en-US" altLang="zh-CN" sz="1600" b="0" i="1" smtClean="0"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a:rPr lang="en-US" altLang="zh-CN" sz="1600" i="1" dirty="0">
                            <a:latin typeface="Cambria Math" panose="02040503050406030204"/>
                          </a:rPr>
                          <m:t>𝑐</m:t>
                        </m:r>
                      </m:e>
                    </m:acc>
                  </m:oMath>
                </a14:m>
                <a:endParaRPr lang="en-US" altLang="zh-CN" sz="1600" dirty="0" smtClean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 smtClean="0">
                    <a:latin typeface="+mj-lt"/>
                  </a:rPr>
                  <a:t>4, </a:t>
                </a:r>
                <a:r>
                  <a:rPr lang="en-US" altLang="zh-CN" sz="1600" i="1" dirty="0" err="1" smtClean="0">
                    <a:latin typeface="+mj-lt"/>
                  </a:rPr>
                  <a:t>E</a:t>
                </a:r>
                <a:r>
                  <a:rPr lang="en-US" altLang="zh-CN" sz="1600" i="1" baseline="-25000" dirty="0" err="1" smtClean="0">
                    <a:latin typeface="+mj-lt"/>
                  </a:rPr>
                  <a:t>m</a:t>
                </a:r>
                <a:r>
                  <a:rPr lang="en-US" altLang="zh-CN" sz="1600" baseline="-25000" dirty="0" smtClean="0">
                    <a:latin typeface="+mj-lt"/>
                  </a:rPr>
                  <a:t> </a:t>
                </a:r>
                <a:r>
                  <a:rPr lang="en-US" altLang="zh-CN" sz="1600" dirty="0" smtClean="0">
                    <a:latin typeface="+mj-lt"/>
                  </a:rPr>
                  <a:t>= </a:t>
                </a:r>
                <a:r>
                  <a:rPr lang="en-US" altLang="zh-CN" sz="1600" i="1" dirty="0" err="1" smtClean="0">
                    <a:latin typeface="+mj-lt"/>
                  </a:rPr>
                  <a:t>cB</a:t>
                </a:r>
                <a:r>
                  <a:rPr lang="en-US" altLang="zh-CN" sz="1600" baseline="-25000" dirty="0" err="1">
                    <a:latin typeface="+mj-lt"/>
                  </a:rPr>
                  <a:t>m</a:t>
                </a:r>
                <a:endParaRPr lang="en-US" altLang="zh-CN" sz="1600" baseline="-25000" dirty="0" smtClean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 smtClean="0">
                    <a:latin typeface="+mj-lt"/>
                  </a:rPr>
                  <a:t>5, </a:t>
                </a:r>
                <a:r>
                  <a:rPr lang="en-US" altLang="zh-CN" sz="1600" i="1" dirty="0" smtClean="0">
                    <a:latin typeface="+mj-lt"/>
                  </a:rPr>
                  <a:t>c </a:t>
                </a:r>
                <a:r>
                  <a:rPr lang="en-US" altLang="zh-CN" sz="1600" dirty="0" smtClean="0">
                    <a:latin typeface="+mj-lt"/>
                  </a:rPr>
                  <a:t>= </a:t>
                </a:r>
                <a:r>
                  <a:rPr lang="en-US" altLang="zh-CN" sz="1600" b="0" i="0" dirty="0" smtClean="0">
                    <a:latin typeface="+mj-lt"/>
                  </a:rPr>
                  <a:t>1∕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1600" b="0" i="1" dirty="0" smtClean="0">
                            <a:latin typeface="Cambria Math" panose="02040503050406030204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1600" b="0" i="1" dirty="0" smtClean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1600" b="0" i="1" dirty="0" smtClean="0">
                                <a:latin typeface="Cambria Math" panose="02040503050406030204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endParaRPr lang="en-US" altLang="zh-CN" sz="1600" dirty="0" smtClean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 smtClean="0">
                    <a:latin typeface="+mj-lt"/>
                  </a:rPr>
                  <a:t>6, </a:t>
                </a:r>
                <a:r>
                  <a:rPr lang="en-US" altLang="zh-CN" sz="1600" i="1" dirty="0" err="1" smtClean="0">
                    <a:latin typeface="+mj-lt"/>
                  </a:rPr>
                  <a:t>u</a:t>
                </a:r>
                <a:r>
                  <a:rPr lang="en-US" altLang="zh-CN" sz="1600" baseline="-25000" dirty="0" err="1" smtClean="0">
                    <a:latin typeface="+mj-lt"/>
                  </a:rPr>
                  <a:t>E</a:t>
                </a:r>
                <a:r>
                  <a:rPr lang="en-US" altLang="zh-CN" sz="1600" baseline="-25000" dirty="0" smtClean="0">
                    <a:latin typeface="+mj-lt"/>
                  </a:rPr>
                  <a:t> </a:t>
                </a:r>
                <a:r>
                  <a:rPr lang="en-US" altLang="zh-CN" sz="1600" dirty="0" smtClean="0">
                    <a:latin typeface="+mj-lt"/>
                  </a:rPr>
                  <a:t>= </a:t>
                </a:r>
                <a:r>
                  <a:rPr lang="en-US" altLang="zh-CN" sz="1600" i="1" dirty="0" err="1" smtClean="0">
                    <a:latin typeface="+mj-lt"/>
                  </a:rPr>
                  <a:t>u</a:t>
                </a:r>
                <a:r>
                  <a:rPr lang="en-US" altLang="zh-CN" sz="1600" baseline="-25000" dirty="0" err="1" smtClean="0">
                    <a:latin typeface="+mj-lt"/>
                  </a:rPr>
                  <a:t>B</a:t>
                </a:r>
                <a:endParaRPr lang="zh-CN" altLang="en-US" sz="1600" baseline="-25000" dirty="0">
                  <a:latin typeface="+mj-lt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659" y="3861048"/>
                <a:ext cx="2525050" cy="2329099"/>
              </a:xfrm>
              <a:prstGeom prst="rect">
                <a:avLst/>
              </a:prstGeom>
              <a:blipFill rotWithShape="1">
                <a:blip r:embed="rId2"/>
                <a:stretch>
                  <a:fillRect l="-12" t="-11" r="24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724" y="683848"/>
            <a:ext cx="3388061" cy="160020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 bwMode="auto">
          <a:xfrm rot="5400000">
            <a:off x="6180745" y="2443484"/>
            <a:ext cx="628435" cy="47850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91885" y="2440527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>
                <a:latin typeface="+mj-lt"/>
              </a:rPr>
              <a:t>q </a:t>
            </a:r>
            <a:r>
              <a:rPr lang="en-US" altLang="zh-CN" dirty="0" smtClean="0">
                <a:latin typeface="+mj-lt"/>
              </a:rPr>
              <a:t>= 0 &amp; J = 0</a:t>
            </a:r>
            <a:endParaRPr lang="zh-CN" altLang="en-US" dirty="0">
              <a:latin typeface="+mj-lt"/>
            </a:endParaRPr>
          </a:p>
        </p:txBody>
      </p:sp>
      <p:pic>
        <p:nvPicPr>
          <p:cNvPr id="13" name="圖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659" y="3068962"/>
            <a:ext cx="2054606" cy="6208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23528" y="908720"/>
                <a:ext cx="8352928" cy="39693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+mj-lt"/>
                  </a:rPr>
                  <a:t> A </a:t>
                </a:r>
                <a:r>
                  <a:rPr lang="en-US" altLang="zh-CN" sz="2000" dirty="0" smtClean="0">
                    <a:latin typeface="+mj-lt"/>
                  </a:rPr>
                  <a:t>plane electromagnetic wave travels </a:t>
                </a:r>
                <a:r>
                  <a:rPr lang="en-US" altLang="zh-CN" sz="2000" dirty="0">
                    <a:latin typeface="+mj-lt"/>
                  </a:rPr>
                  <a:t>along +</a:t>
                </a:r>
                <a:r>
                  <a:rPr lang="en-US" altLang="zh-CN" sz="2000" i="1" dirty="0">
                    <a:latin typeface="+mj-lt"/>
                  </a:rPr>
                  <a:t>x</a:t>
                </a:r>
                <a:r>
                  <a:rPr lang="en-US" altLang="zh-CN" sz="2000" dirty="0">
                    <a:latin typeface="+mj-lt"/>
                  </a:rPr>
                  <a:t> axis </a:t>
                </a:r>
                <a:r>
                  <a:rPr lang="en-US" altLang="zh-CN" sz="2000" dirty="0" smtClean="0">
                    <a:latin typeface="+mj-lt"/>
                  </a:rPr>
                  <a:t>and </a:t>
                </a:r>
                <a:r>
                  <a:rPr lang="en-US" altLang="zh-CN" sz="2000" dirty="0">
                    <a:latin typeface="+mj-lt"/>
                  </a:rPr>
                  <a:t>the magnetic field of that wave is along the +</a:t>
                </a:r>
                <a:r>
                  <a:rPr lang="en-US" altLang="zh-CN" sz="2000" i="1" dirty="0">
                    <a:latin typeface="+mj-lt"/>
                  </a:rPr>
                  <a:t>y</a:t>
                </a:r>
                <a:r>
                  <a:rPr lang="en-US" altLang="zh-CN" sz="2000" dirty="0">
                    <a:latin typeface="+mj-lt"/>
                  </a:rPr>
                  <a:t> axis and its magnitude is given by</a:t>
                </a:r>
                <a:r>
                  <a:rPr lang="en-US" altLang="zh-CN" sz="2000" i="1" dirty="0">
                    <a:latin typeface="+mj-lt"/>
                  </a:rPr>
                  <a:t> </a:t>
                </a:r>
                <a:r>
                  <a:rPr lang="en-US" altLang="zh-CN" sz="2000" i="1" dirty="0" err="1">
                    <a:latin typeface="+mj-lt"/>
                  </a:rPr>
                  <a:t>B</a:t>
                </a:r>
                <a:r>
                  <a:rPr lang="en-US" altLang="zh-CN" sz="2000" i="1" baseline="-25000" dirty="0" err="1">
                    <a:latin typeface="+mj-lt"/>
                  </a:rPr>
                  <a:t>m</a:t>
                </a:r>
                <a:r>
                  <a:rPr lang="en-US" altLang="zh-CN" sz="2000" dirty="0">
                    <a:latin typeface="+mj-lt"/>
                  </a:rPr>
                  <a:t> sin (</a:t>
                </a:r>
                <a:r>
                  <a:rPr lang="en-US" altLang="zh-CN" sz="2000" i="1" dirty="0" err="1">
                    <a:latin typeface="+mj-lt"/>
                  </a:rPr>
                  <a:t>kx</a:t>
                </a:r>
                <a:r>
                  <a:rPr lang="en-US" altLang="zh-CN" sz="2000" dirty="0">
                    <a:latin typeface="+mj-lt"/>
                  </a:rPr>
                  <a:t> – 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sz="2000" i="1" dirty="0" err="1">
                    <a:latin typeface="+mj-lt"/>
                  </a:rPr>
                  <a:t>t</a:t>
                </a:r>
                <a:r>
                  <a:rPr lang="en-US" altLang="zh-CN" sz="2000" dirty="0">
                    <a:latin typeface="+mj-lt"/>
                  </a:rPr>
                  <a:t>) in SI units, then the electric field is </a:t>
                </a:r>
                <a:endParaRPr lang="zh-CN" altLang="zh-CN" sz="2000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 </a:t>
                </a:r>
                <a:endParaRPr lang="zh-CN" altLang="zh-CN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A) along the +</a:t>
                </a:r>
                <a:r>
                  <a:rPr lang="en-US" altLang="zh-CN" i="1" dirty="0">
                    <a:latin typeface="+mj-lt"/>
                  </a:rPr>
                  <a:t>z</a:t>
                </a:r>
                <a:r>
                  <a:rPr lang="en-US" altLang="zh-CN" dirty="0">
                    <a:latin typeface="+mj-lt"/>
                  </a:rPr>
                  <a:t> axis and its magnitude is given by  (</a:t>
                </a:r>
                <a:r>
                  <a:rPr lang="en-US" altLang="zh-CN" i="1" dirty="0" err="1">
                    <a:latin typeface="+mj-lt"/>
                  </a:rPr>
                  <a:t>cB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dirty="0">
                    <a:latin typeface="+mj-lt"/>
                  </a:rPr>
                  <a:t>) </a:t>
                </a:r>
                <a:r>
                  <a:rPr lang="en-US" altLang="zh-CN" dirty="0" err="1">
                    <a:latin typeface="+mj-lt"/>
                  </a:rPr>
                  <a:t>cos</a:t>
                </a:r>
                <a:r>
                  <a:rPr lang="en-US" altLang="zh-CN" dirty="0">
                    <a:latin typeface="+mj-lt"/>
                  </a:rPr>
                  <a:t>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 </a:t>
                </a:r>
                <a:endParaRPr lang="zh-CN" altLang="zh-CN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B) along the -</a:t>
                </a:r>
                <a:r>
                  <a:rPr lang="en-US" altLang="zh-CN" i="1" dirty="0">
                    <a:latin typeface="+mj-lt"/>
                  </a:rPr>
                  <a:t>z</a:t>
                </a:r>
                <a:r>
                  <a:rPr lang="en-US" altLang="zh-CN" dirty="0">
                    <a:latin typeface="+mj-lt"/>
                  </a:rPr>
                  <a:t> axis and its magnitude is given by  –(</a:t>
                </a:r>
                <a:r>
                  <a:rPr lang="en-US" altLang="zh-CN" i="1" dirty="0" err="1">
                    <a:latin typeface="+mj-lt"/>
                  </a:rPr>
                  <a:t>cB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dirty="0">
                    <a:latin typeface="+mj-lt"/>
                  </a:rPr>
                  <a:t>) </a:t>
                </a:r>
                <a:r>
                  <a:rPr lang="en-US" altLang="zh-CN" dirty="0" err="1">
                    <a:latin typeface="+mj-lt"/>
                  </a:rPr>
                  <a:t>cos</a:t>
                </a:r>
                <a:r>
                  <a:rPr lang="en-US" altLang="zh-CN" dirty="0">
                    <a:latin typeface="+mj-lt"/>
                  </a:rPr>
                  <a:t>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 </a:t>
                </a:r>
                <a:endParaRPr lang="zh-CN" altLang="zh-CN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C)  along the +</a:t>
                </a:r>
                <a:r>
                  <a:rPr lang="en-US" altLang="zh-CN" i="1" dirty="0">
                    <a:latin typeface="+mj-lt"/>
                  </a:rPr>
                  <a:t>z</a:t>
                </a:r>
                <a:r>
                  <a:rPr lang="en-US" altLang="zh-CN" dirty="0">
                    <a:latin typeface="+mj-lt"/>
                  </a:rPr>
                  <a:t> axis and its magnitude is given by (</a:t>
                </a:r>
                <a:r>
                  <a:rPr lang="en-US" altLang="zh-CN" i="1" dirty="0" err="1">
                    <a:latin typeface="+mj-lt"/>
                  </a:rPr>
                  <a:t>cB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dirty="0">
                    <a:latin typeface="+mj-lt"/>
                  </a:rPr>
                  <a:t>) sin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 </a:t>
                </a:r>
                <a:endParaRPr lang="zh-CN" altLang="zh-CN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D)  along the -z axis and its magnitude is given by (</a:t>
                </a:r>
                <a:r>
                  <a:rPr lang="en-US" altLang="zh-CN" i="1" dirty="0" err="1">
                    <a:latin typeface="+mj-lt"/>
                  </a:rPr>
                  <a:t>cB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dirty="0">
                    <a:latin typeface="+mj-lt"/>
                  </a:rPr>
                  <a:t>) sin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</a:t>
                </a:r>
                <a:endParaRPr lang="zh-CN" altLang="zh-CN" b="1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E)  along the +z axis and its magnitude is given by </a:t>
                </a:r>
                <a:r>
                  <a:rPr lang="en-US" altLang="zh-CN" i="1" dirty="0" err="1">
                    <a:latin typeface="+mj-lt"/>
                  </a:rPr>
                  <a:t>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i="1" baseline="-25000" dirty="0">
                    <a:latin typeface="+mj-lt"/>
                  </a:rPr>
                  <a:t> </a:t>
                </a:r>
                <a:r>
                  <a:rPr lang="en-US" altLang="zh-CN" dirty="0">
                    <a:latin typeface="+mj-lt"/>
                  </a:rPr>
                  <a:t>sin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</a:t>
                </a:r>
                <a:endParaRPr lang="zh-CN" altLang="zh-CN" dirty="0">
                  <a:latin typeface="+mj-lt"/>
                </a:endParaRPr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352928" cy="3969385"/>
              </a:xfrm>
              <a:prstGeom prst="rect">
                <a:avLst/>
              </a:prstGeom>
              <a:blipFill rotWithShape="1">
                <a:blip r:embed="rId1"/>
                <a:stretch>
                  <a:fillRect l="-4" t="-1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964" y="2718018"/>
            <a:ext cx="1656473" cy="143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5764" y="98913"/>
            <a:ext cx="814387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Quick question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23528" y="908720"/>
                <a:ext cx="8352928" cy="3970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+mj-lt"/>
                  </a:rPr>
                  <a:t> A </a:t>
                </a:r>
                <a:r>
                  <a:rPr lang="en-US" altLang="zh-CN" sz="2000" dirty="0" smtClean="0">
                    <a:latin typeface="+mj-lt"/>
                  </a:rPr>
                  <a:t>plane electromagnetic wave travels </a:t>
                </a:r>
                <a:r>
                  <a:rPr lang="en-US" altLang="zh-CN" sz="2000" dirty="0">
                    <a:latin typeface="+mj-lt"/>
                  </a:rPr>
                  <a:t>along +</a:t>
                </a:r>
                <a:r>
                  <a:rPr lang="en-US" altLang="zh-CN" sz="2000" i="1" dirty="0">
                    <a:latin typeface="+mj-lt"/>
                  </a:rPr>
                  <a:t>x</a:t>
                </a:r>
                <a:r>
                  <a:rPr lang="en-US" altLang="zh-CN" sz="2000" dirty="0">
                    <a:latin typeface="+mj-lt"/>
                  </a:rPr>
                  <a:t> axis </a:t>
                </a:r>
                <a:r>
                  <a:rPr lang="en-US" altLang="zh-CN" sz="2000" dirty="0" smtClean="0">
                    <a:latin typeface="+mj-lt"/>
                  </a:rPr>
                  <a:t>and </a:t>
                </a:r>
                <a:r>
                  <a:rPr lang="en-US" altLang="zh-CN" sz="2000" dirty="0">
                    <a:latin typeface="+mj-lt"/>
                  </a:rPr>
                  <a:t>the magnetic field of that wave is along the +</a:t>
                </a:r>
                <a:r>
                  <a:rPr lang="en-US" altLang="zh-CN" sz="2000" i="1" dirty="0">
                    <a:latin typeface="+mj-lt"/>
                  </a:rPr>
                  <a:t>y</a:t>
                </a:r>
                <a:r>
                  <a:rPr lang="en-US" altLang="zh-CN" sz="2000" dirty="0">
                    <a:latin typeface="+mj-lt"/>
                  </a:rPr>
                  <a:t> axis and its magnitude is given by</a:t>
                </a:r>
                <a:r>
                  <a:rPr lang="en-US" altLang="zh-CN" sz="2000" i="1" dirty="0">
                    <a:latin typeface="+mj-lt"/>
                  </a:rPr>
                  <a:t> </a:t>
                </a:r>
                <a:r>
                  <a:rPr lang="en-US" altLang="zh-CN" sz="2000" i="1" dirty="0" err="1">
                    <a:latin typeface="+mj-lt"/>
                  </a:rPr>
                  <a:t>B</a:t>
                </a:r>
                <a:r>
                  <a:rPr lang="en-US" altLang="zh-CN" sz="2000" i="1" baseline="-25000" dirty="0" err="1">
                    <a:latin typeface="+mj-lt"/>
                  </a:rPr>
                  <a:t>m</a:t>
                </a:r>
                <a:r>
                  <a:rPr lang="en-US" altLang="zh-CN" sz="2000" dirty="0">
                    <a:latin typeface="+mj-lt"/>
                  </a:rPr>
                  <a:t> sin (</a:t>
                </a:r>
                <a:r>
                  <a:rPr lang="en-US" altLang="zh-CN" sz="2000" i="1" dirty="0" err="1">
                    <a:latin typeface="+mj-lt"/>
                  </a:rPr>
                  <a:t>kx</a:t>
                </a:r>
                <a:r>
                  <a:rPr lang="en-US" altLang="zh-CN" sz="2000" dirty="0">
                    <a:latin typeface="+mj-lt"/>
                  </a:rPr>
                  <a:t> – 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sz="2000" i="1" dirty="0" err="1">
                    <a:latin typeface="+mj-lt"/>
                  </a:rPr>
                  <a:t>t</a:t>
                </a:r>
                <a:r>
                  <a:rPr lang="en-US" altLang="zh-CN" sz="2000" dirty="0">
                    <a:latin typeface="+mj-lt"/>
                  </a:rPr>
                  <a:t>) in SI units, then the electric field is </a:t>
                </a:r>
                <a:endParaRPr lang="zh-CN" altLang="zh-CN" sz="2000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 </a:t>
                </a:r>
                <a:endParaRPr lang="zh-CN" altLang="zh-CN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A) along the +</a:t>
                </a:r>
                <a:r>
                  <a:rPr lang="en-US" altLang="zh-CN" i="1" dirty="0">
                    <a:latin typeface="+mj-lt"/>
                  </a:rPr>
                  <a:t>z</a:t>
                </a:r>
                <a:r>
                  <a:rPr lang="en-US" altLang="zh-CN" dirty="0">
                    <a:latin typeface="+mj-lt"/>
                  </a:rPr>
                  <a:t> axis and its magnitude is given by  (</a:t>
                </a:r>
                <a:r>
                  <a:rPr lang="en-US" altLang="zh-CN" i="1" dirty="0" err="1">
                    <a:latin typeface="+mj-lt"/>
                  </a:rPr>
                  <a:t>cB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dirty="0">
                    <a:latin typeface="+mj-lt"/>
                  </a:rPr>
                  <a:t>) </a:t>
                </a:r>
                <a:r>
                  <a:rPr lang="en-US" altLang="zh-CN" dirty="0" err="1">
                    <a:latin typeface="+mj-lt"/>
                  </a:rPr>
                  <a:t>cos</a:t>
                </a:r>
                <a:r>
                  <a:rPr lang="en-US" altLang="zh-CN" dirty="0">
                    <a:latin typeface="+mj-lt"/>
                  </a:rPr>
                  <a:t>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 </a:t>
                </a:r>
                <a:endParaRPr lang="zh-CN" altLang="zh-CN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B) along the -</a:t>
                </a:r>
                <a:r>
                  <a:rPr lang="en-US" altLang="zh-CN" i="1" dirty="0">
                    <a:latin typeface="+mj-lt"/>
                  </a:rPr>
                  <a:t>z</a:t>
                </a:r>
                <a:r>
                  <a:rPr lang="en-US" altLang="zh-CN" dirty="0">
                    <a:latin typeface="+mj-lt"/>
                  </a:rPr>
                  <a:t> axis and its magnitude is given by  –(</a:t>
                </a:r>
                <a:r>
                  <a:rPr lang="en-US" altLang="zh-CN" i="1" dirty="0" err="1">
                    <a:latin typeface="+mj-lt"/>
                  </a:rPr>
                  <a:t>cB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dirty="0">
                    <a:latin typeface="+mj-lt"/>
                  </a:rPr>
                  <a:t>) </a:t>
                </a:r>
                <a:r>
                  <a:rPr lang="en-US" altLang="zh-CN" dirty="0" err="1">
                    <a:latin typeface="+mj-lt"/>
                  </a:rPr>
                  <a:t>cos</a:t>
                </a:r>
                <a:r>
                  <a:rPr lang="en-US" altLang="zh-CN" dirty="0">
                    <a:latin typeface="+mj-lt"/>
                  </a:rPr>
                  <a:t>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 </a:t>
                </a:r>
                <a:endParaRPr lang="zh-CN" altLang="zh-CN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C)  along the +</a:t>
                </a:r>
                <a:r>
                  <a:rPr lang="en-US" altLang="zh-CN" i="1" dirty="0">
                    <a:latin typeface="+mj-lt"/>
                  </a:rPr>
                  <a:t>z</a:t>
                </a:r>
                <a:r>
                  <a:rPr lang="en-US" altLang="zh-CN" dirty="0">
                    <a:latin typeface="+mj-lt"/>
                  </a:rPr>
                  <a:t> axis and its magnitude is given by (</a:t>
                </a:r>
                <a:r>
                  <a:rPr lang="en-US" altLang="zh-CN" i="1" dirty="0" err="1">
                    <a:latin typeface="+mj-lt"/>
                  </a:rPr>
                  <a:t>cB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dirty="0">
                    <a:latin typeface="+mj-lt"/>
                  </a:rPr>
                  <a:t>) sin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 </a:t>
                </a:r>
                <a:endParaRPr lang="zh-CN" altLang="zh-CN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latin typeface="+mj-lt"/>
                  </a:rPr>
                  <a:t>D)  along the -z axis and its magnitude is given by (</a:t>
                </a:r>
                <a:r>
                  <a:rPr lang="en-US" altLang="zh-CN" b="1" i="1" dirty="0" err="1">
                    <a:latin typeface="+mj-lt"/>
                  </a:rPr>
                  <a:t>cB</a:t>
                </a:r>
                <a:r>
                  <a:rPr lang="en-US" altLang="zh-CN" b="1" i="1" baseline="-25000" dirty="0" err="1">
                    <a:latin typeface="+mj-lt"/>
                  </a:rPr>
                  <a:t>m</a:t>
                </a:r>
                <a:r>
                  <a:rPr lang="en-US" altLang="zh-CN" b="1" dirty="0">
                    <a:latin typeface="+mj-lt"/>
                  </a:rPr>
                  <a:t>) sin (</a:t>
                </a:r>
                <a:r>
                  <a:rPr lang="en-US" altLang="zh-CN" b="1" i="1" dirty="0" err="1">
                    <a:latin typeface="+mj-lt"/>
                  </a:rPr>
                  <a:t>kx</a:t>
                </a:r>
                <a:r>
                  <a:rPr lang="en-US" altLang="zh-CN" b="1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b="1" i="1" dirty="0">
                        <a:latin typeface="Cambria Math" panose="02040503050406030204"/>
                      </a:rPr>
                      <m:t>𝝎</m:t>
                    </m:r>
                  </m:oMath>
                </a14:m>
                <a:r>
                  <a:rPr lang="en-US" altLang="zh-CN" b="1" i="1" dirty="0" err="1">
                    <a:latin typeface="+mj-lt"/>
                  </a:rPr>
                  <a:t>t</a:t>
                </a:r>
                <a:r>
                  <a:rPr lang="en-US" altLang="zh-CN" b="1" dirty="0">
                    <a:latin typeface="+mj-lt"/>
                  </a:rPr>
                  <a:t>)</a:t>
                </a:r>
                <a:endParaRPr lang="zh-CN" altLang="zh-CN" b="1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+mj-lt"/>
                  </a:rPr>
                  <a:t>E)  along the +z axis and its magnitude is given by </a:t>
                </a:r>
                <a:r>
                  <a:rPr lang="en-US" altLang="zh-CN" i="1" dirty="0" err="1">
                    <a:latin typeface="+mj-lt"/>
                  </a:rPr>
                  <a:t>B</a:t>
                </a:r>
                <a:r>
                  <a:rPr lang="en-US" altLang="zh-CN" i="1" baseline="-25000" dirty="0" err="1">
                    <a:latin typeface="+mj-lt"/>
                  </a:rPr>
                  <a:t>m</a:t>
                </a:r>
                <a:r>
                  <a:rPr lang="en-US" altLang="zh-CN" i="1" baseline="-25000" dirty="0">
                    <a:latin typeface="+mj-lt"/>
                  </a:rPr>
                  <a:t> </a:t>
                </a:r>
                <a:r>
                  <a:rPr lang="en-US" altLang="zh-CN" dirty="0">
                    <a:latin typeface="+mj-lt"/>
                  </a:rPr>
                  <a:t>sin (</a:t>
                </a:r>
                <a:r>
                  <a:rPr lang="en-US" altLang="zh-CN" i="1" dirty="0" err="1">
                    <a:latin typeface="+mj-lt"/>
                  </a:rPr>
                  <a:t>kx</a:t>
                </a:r>
                <a:r>
                  <a:rPr lang="en-US" altLang="zh-CN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/>
                      </a:rPr>
                      <m:t>𝜔</m:t>
                    </m:r>
                  </m:oMath>
                </a14:m>
                <a:r>
                  <a:rPr lang="en-US" altLang="zh-CN" i="1" dirty="0" err="1">
                    <a:latin typeface="+mj-lt"/>
                  </a:rPr>
                  <a:t>t</a:t>
                </a:r>
                <a:r>
                  <a:rPr lang="en-US" altLang="zh-CN" dirty="0">
                    <a:latin typeface="+mj-lt"/>
                  </a:rPr>
                  <a:t>)</a:t>
                </a:r>
                <a:endParaRPr lang="zh-CN" altLang="zh-CN" dirty="0">
                  <a:latin typeface="+mj-lt"/>
                </a:endParaRPr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352928" cy="3970318"/>
              </a:xfrm>
              <a:prstGeom prst="rect">
                <a:avLst/>
              </a:prstGeom>
              <a:blipFill rotWithShape="1">
                <a:blip r:embed="rId1"/>
                <a:stretch>
                  <a:fillRect l="-4" t="-1" r="5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964" y="2718018"/>
            <a:ext cx="1656473" cy="143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5764" y="98913"/>
            <a:ext cx="814387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Quick question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847" y="53416"/>
            <a:ext cx="257175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Poynting vector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19508" y="1772816"/>
            <a:ext cx="80140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dirty="0"/>
              <a:t>Since </a:t>
            </a:r>
            <a:r>
              <a:rPr lang="en-US" altLang="zh-CN" sz="1800" b="1" i="1" dirty="0"/>
              <a:t>E </a:t>
            </a:r>
            <a:r>
              <a:rPr lang="en-US" altLang="zh-CN" sz="1800" dirty="0"/>
              <a:t>and </a:t>
            </a:r>
            <a:r>
              <a:rPr lang="en-US" altLang="zh-CN" sz="1800" b="1" i="1" dirty="0"/>
              <a:t>B</a:t>
            </a:r>
            <a:r>
              <a:rPr lang="en-US" altLang="zh-CN" sz="1800" b="1" dirty="0"/>
              <a:t> </a:t>
            </a:r>
            <a:r>
              <a:rPr lang="en-US" altLang="zh-CN" sz="1800" dirty="0"/>
              <a:t>are changing, it is more meaningful to use its average </a:t>
            </a:r>
            <a:r>
              <a:rPr lang="en-US" altLang="zh-CN" sz="1800" dirty="0" smtClean="0"/>
              <a:t>value, which is called </a:t>
            </a:r>
            <a:r>
              <a:rPr lang="en-US" altLang="zh-CN" sz="1800" b="1" dirty="0">
                <a:solidFill>
                  <a:srgbClr val="C00000"/>
                </a:solidFill>
              </a:rPr>
              <a:t>intensity </a:t>
            </a:r>
            <a:r>
              <a:rPr lang="en-US" altLang="zh-CN" sz="1800" b="1" i="1" dirty="0">
                <a:solidFill>
                  <a:srgbClr val="C00000"/>
                </a:solidFill>
              </a:rPr>
              <a:t>I</a:t>
            </a:r>
            <a:r>
              <a:rPr lang="en-US" altLang="zh-CN" sz="1800" b="1" i="1" dirty="0"/>
              <a:t> </a:t>
            </a:r>
            <a:r>
              <a:rPr lang="en-US" altLang="zh-CN" sz="1800" b="1" dirty="0"/>
              <a:t>of the EM </a:t>
            </a:r>
            <a:r>
              <a:rPr lang="en-US" altLang="zh-CN" sz="1800" b="1" dirty="0" smtClean="0"/>
              <a:t>waves:</a:t>
            </a:r>
            <a:endParaRPr lang="zh-CN" altLang="en-US" sz="1800" b="1" dirty="0"/>
          </a:p>
        </p:txBody>
      </p:sp>
      <p:pic>
        <p:nvPicPr>
          <p:cNvPr id="26636" name="Picture 1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429000"/>
            <a:ext cx="1412726" cy="6775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519508" y="4542740"/>
            <a:ext cx="67758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/>
              <a:t>Change of 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intensity I </a:t>
            </a:r>
            <a:r>
              <a:rPr lang="en-US" altLang="zh-CN" sz="2000" dirty="0"/>
              <a:t>with distance for a point source :</a:t>
            </a:r>
            <a:endParaRPr lang="zh-CN" altLang="en-US" sz="2000" dirty="0"/>
          </a:p>
        </p:txBody>
      </p:sp>
      <p:grpSp>
        <p:nvGrpSpPr>
          <p:cNvPr id="4" name="组合 3"/>
          <p:cNvGrpSpPr/>
          <p:nvPr/>
        </p:nvGrpSpPr>
        <p:grpSpPr>
          <a:xfrm>
            <a:off x="1772128" y="5167658"/>
            <a:ext cx="2608511" cy="765316"/>
            <a:chOff x="1547664" y="4750216"/>
            <a:chExt cx="2608511" cy="765316"/>
          </a:xfrm>
        </p:grpSpPr>
        <p:pic>
          <p:nvPicPr>
            <p:cNvPr id="26637" name="Picture 1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7664" y="4829732"/>
              <a:ext cx="17907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38" name="Picture 1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4175" y="4750216"/>
              <a:ext cx="762000" cy="74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9" name="圖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624583"/>
            <a:ext cx="5146651" cy="619121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835785" y="894080"/>
          <a:ext cx="4261485" cy="673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6" name="Equation" r:id="rId6" imgW="2755900" imgH="431800" progId="Equation.DSMT4">
                  <p:embed/>
                </p:oleObj>
              </mc:Choice>
              <mc:Fallback>
                <p:oleObj name="Equation" r:id="rId6" imgW="2755900" imgH="431800" progId="Equation.DSMT4">
                  <p:embed/>
                  <p:pic>
                    <p:nvPicPr>
                      <p:cNvPr id="0" name="图片 5329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5785" y="894080"/>
                        <a:ext cx="4261485" cy="673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1"/>
          <p:cNvSpPr txBox="1">
            <a:spLocks noChangeArrowheads="1"/>
          </p:cNvSpPr>
          <p:nvPr/>
        </p:nvSpPr>
        <p:spPr bwMode="auto">
          <a:xfrm>
            <a:off x="285750" y="71438"/>
            <a:ext cx="6643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 smtClean="0">
                <a:solidFill>
                  <a:srgbClr val="C00000"/>
                </a:solidFill>
              </a:rPr>
              <a:t>Radiation pressure</a:t>
            </a:r>
            <a:endParaRPr lang="zh-CN" altLang="en-US" b="1" dirty="0" smtClean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14313" y="785813"/>
            <a:ext cx="82153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smtClean="0">
                <a:solidFill>
                  <a:srgbClr val="000000"/>
                </a:solidFill>
              </a:rPr>
              <a:t>We can also understand light as particles, which we called </a:t>
            </a:r>
            <a:r>
              <a:rPr lang="en-US" altLang="zh-CN" sz="1600" b="1" i="1" dirty="0" smtClean="0">
                <a:solidFill>
                  <a:srgbClr val="C00000"/>
                </a:solidFill>
              </a:rPr>
              <a:t>photons</a:t>
            </a:r>
            <a:r>
              <a:rPr lang="en-US" altLang="zh-CN" sz="1600" dirty="0" smtClean="0">
                <a:solidFill>
                  <a:srgbClr val="000000"/>
                </a:solidFill>
              </a:rPr>
              <a:t> (</a:t>
            </a:r>
            <a:r>
              <a:rPr lang="zh-TW" altLang="en-US" sz="1600" dirty="0" smtClean="0">
                <a:solidFill>
                  <a:srgbClr val="000000"/>
                </a:solidFill>
              </a:rPr>
              <a:t>光子</a:t>
            </a:r>
            <a:r>
              <a:rPr lang="en-US" altLang="zh-TW" sz="1600" dirty="0" smtClean="0">
                <a:solidFill>
                  <a:srgbClr val="000000"/>
                </a:solidFill>
              </a:rPr>
              <a:t>).</a:t>
            </a:r>
            <a:endParaRPr lang="en-US" altLang="zh-TW" sz="1600" dirty="0" smtClean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14313" y="1143000"/>
            <a:ext cx="82153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1" dirty="0" smtClean="0">
                <a:solidFill>
                  <a:srgbClr val="C00000"/>
                </a:solidFill>
              </a:rPr>
              <a:t>Photons</a:t>
            </a:r>
            <a:r>
              <a:rPr lang="en-US" altLang="zh-CN" sz="1600" dirty="0" smtClean="0">
                <a:solidFill>
                  <a:srgbClr val="000000"/>
                </a:solidFill>
              </a:rPr>
              <a:t>  have zero mass at rest, but they can carry energy and they have </a:t>
            </a:r>
            <a:r>
              <a:rPr lang="en-US" altLang="zh-CN" sz="1600" b="1" dirty="0" smtClean="0">
                <a:solidFill>
                  <a:srgbClr val="000000"/>
                </a:solidFill>
              </a:rPr>
              <a:t>momentum:</a:t>
            </a:r>
            <a:endParaRPr lang="en-US" altLang="zh-TW" sz="1600" b="1" dirty="0" smtClean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45255" y="3598068"/>
            <a:ext cx="82153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 smtClean="0">
                <a:solidFill>
                  <a:srgbClr val="000000"/>
                </a:solidFill>
              </a:rPr>
              <a:t>Therefore, light or EM waves can exert force / pressure on an object.</a:t>
            </a:r>
            <a:endParaRPr lang="en-US" altLang="zh-TW" sz="1600" dirty="0" smtClean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1437" y="2483618"/>
            <a:ext cx="3000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smtClean="0">
                <a:solidFill>
                  <a:srgbClr val="000000"/>
                </a:solidFill>
              </a:rPr>
              <a:t>Change of momentum</a:t>
            </a:r>
            <a:endParaRPr lang="zh-CN" altLang="en-US" sz="1600" dirty="0" smtClean="0">
              <a:solidFill>
                <a:srgbClr val="000000"/>
              </a:solidFill>
            </a:endParaRPr>
          </a:p>
        </p:txBody>
      </p:sp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4933217"/>
            <a:ext cx="32861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4714875"/>
            <a:ext cx="868363" cy="160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直接箭头连接符 19"/>
          <p:cNvCxnSpPr>
            <a:cxnSpLocks noChangeShapeType="1"/>
          </p:cNvCxnSpPr>
          <p:nvPr/>
        </p:nvCxnSpPr>
        <p:spPr bwMode="auto">
          <a:xfrm>
            <a:off x="500063" y="5357813"/>
            <a:ext cx="714375" cy="1587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1357313" y="5361842"/>
            <a:ext cx="428625" cy="158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/>
          <p:cNvSpPr txBox="1"/>
          <p:nvPr/>
        </p:nvSpPr>
        <p:spPr>
          <a:xfrm>
            <a:off x="1428750" y="5290404"/>
            <a:ext cx="2143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</a:t>
            </a:r>
            <a:endParaRPr lang="zh-CN" altLang="en-US" sz="2400" b="1" i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cxnSp>
        <p:nvCxnSpPr>
          <p:cNvPr id="29" name="直接连接符 28"/>
          <p:cNvCxnSpPr>
            <a:cxnSpLocks noChangeShapeType="1"/>
          </p:cNvCxnSpPr>
          <p:nvPr/>
        </p:nvCxnSpPr>
        <p:spPr bwMode="auto">
          <a:xfrm>
            <a:off x="2143125" y="5433279"/>
            <a:ext cx="428625" cy="158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2214563" y="5361842"/>
            <a:ext cx="2143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</a:t>
            </a:r>
            <a:endParaRPr lang="zh-CN" altLang="en-US" sz="2400" b="1" i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71813" y="5290404"/>
            <a:ext cx="21431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</a:t>
            </a:r>
            <a:endParaRPr lang="zh-CN" altLang="en-US" sz="2400" b="1" i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3" name="任意多边形 32"/>
          <p:cNvSpPr>
            <a:spLocks noChangeArrowheads="1"/>
          </p:cNvSpPr>
          <p:nvPr/>
        </p:nvSpPr>
        <p:spPr bwMode="auto">
          <a:xfrm>
            <a:off x="3043238" y="4891942"/>
            <a:ext cx="1252537" cy="862012"/>
          </a:xfrm>
          <a:custGeom>
            <a:avLst/>
            <a:gdLst>
              <a:gd name="T0" fmla="*/ 116556 w 1252267"/>
              <a:gd name="T1" fmla="*/ 154823 h 862640"/>
              <a:gd name="T2" fmla="*/ 323770 w 1252267"/>
              <a:gd name="T3" fmla="*/ 34405 h 862640"/>
              <a:gd name="T4" fmla="*/ 686391 w 1252267"/>
              <a:gd name="T5" fmla="*/ 8602 h 862640"/>
              <a:gd name="T6" fmla="*/ 1169886 w 1252267"/>
              <a:gd name="T7" fmla="*/ 86011 h 862640"/>
              <a:gd name="T8" fmla="*/ 1187155 w 1252267"/>
              <a:gd name="T9" fmla="*/ 344052 h 862640"/>
              <a:gd name="T10" fmla="*/ 945408 w 1252267"/>
              <a:gd name="T11" fmla="*/ 404261 h 862640"/>
              <a:gd name="T12" fmla="*/ 600051 w 1252267"/>
              <a:gd name="T13" fmla="*/ 395660 h 862640"/>
              <a:gd name="T14" fmla="*/ 436009 w 1252267"/>
              <a:gd name="T15" fmla="*/ 490275 h 862640"/>
              <a:gd name="T16" fmla="*/ 358303 w 1252267"/>
              <a:gd name="T17" fmla="*/ 679504 h 862640"/>
              <a:gd name="T18" fmla="*/ 228795 w 1252267"/>
              <a:gd name="T19" fmla="*/ 825726 h 862640"/>
              <a:gd name="T20" fmla="*/ 30220 w 1252267"/>
              <a:gd name="T21" fmla="*/ 808524 h 862640"/>
              <a:gd name="T22" fmla="*/ 47484 w 1252267"/>
              <a:gd name="T23" fmla="*/ 516078 h 862640"/>
              <a:gd name="T24" fmla="*/ 116556 w 1252267"/>
              <a:gd name="T25" fmla="*/ 103216 h 86264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252267"/>
              <a:gd name="T40" fmla="*/ 0 h 862640"/>
              <a:gd name="T41" fmla="*/ 1252267 w 1252267"/>
              <a:gd name="T42" fmla="*/ 862640 h 86264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252267" h="862640">
                <a:moveTo>
                  <a:pt x="116456" y="155275"/>
                </a:moveTo>
                <a:cubicBezTo>
                  <a:pt x="172528" y="107111"/>
                  <a:pt x="228600" y="58947"/>
                  <a:pt x="323490" y="34505"/>
                </a:cubicBezTo>
                <a:cubicBezTo>
                  <a:pt x="418381" y="10064"/>
                  <a:pt x="544901" y="0"/>
                  <a:pt x="685799" y="8626"/>
                </a:cubicBezTo>
                <a:cubicBezTo>
                  <a:pt x="826697" y="17252"/>
                  <a:pt x="1085489" y="30191"/>
                  <a:pt x="1168878" y="86263"/>
                </a:cubicBezTo>
                <a:cubicBezTo>
                  <a:pt x="1252267" y="142335"/>
                  <a:pt x="1223512" y="291860"/>
                  <a:pt x="1186131" y="345056"/>
                </a:cubicBezTo>
                <a:cubicBezTo>
                  <a:pt x="1148750" y="398252"/>
                  <a:pt x="1042358" y="396815"/>
                  <a:pt x="944592" y="405441"/>
                </a:cubicBezTo>
                <a:cubicBezTo>
                  <a:pt x="846826" y="414067"/>
                  <a:pt x="684361" y="382437"/>
                  <a:pt x="599535" y="396814"/>
                </a:cubicBezTo>
                <a:cubicBezTo>
                  <a:pt x="514709" y="411191"/>
                  <a:pt x="475890" y="444260"/>
                  <a:pt x="435633" y="491705"/>
                </a:cubicBezTo>
                <a:cubicBezTo>
                  <a:pt x="395376" y="539150"/>
                  <a:pt x="392501" y="625414"/>
                  <a:pt x="357995" y="681486"/>
                </a:cubicBezTo>
                <a:cubicBezTo>
                  <a:pt x="323489" y="737558"/>
                  <a:pt x="283233" y="806569"/>
                  <a:pt x="228599" y="828135"/>
                </a:cubicBezTo>
                <a:cubicBezTo>
                  <a:pt x="173965" y="849701"/>
                  <a:pt x="60384" y="862640"/>
                  <a:pt x="30192" y="810882"/>
                </a:cubicBezTo>
                <a:cubicBezTo>
                  <a:pt x="0" y="759124"/>
                  <a:pt x="33067" y="635478"/>
                  <a:pt x="47444" y="517584"/>
                </a:cubicBezTo>
                <a:cubicBezTo>
                  <a:pt x="61821" y="399690"/>
                  <a:pt x="102078" y="173965"/>
                  <a:pt x="116456" y="103516"/>
                </a:cubicBezTo>
              </a:path>
            </a:pathLst>
          </a:custGeom>
          <a:noFill/>
          <a:ln w="349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cxnSp>
        <p:nvCxnSpPr>
          <p:cNvPr id="35" name="直接箭头连接符 34"/>
          <p:cNvCxnSpPr>
            <a:cxnSpLocks noChangeShapeType="1"/>
            <a:stCxn id="31" idx="2"/>
          </p:cNvCxnSpPr>
          <p:nvPr/>
        </p:nvCxnSpPr>
        <p:spPr bwMode="auto">
          <a:xfrm>
            <a:off x="3178969" y="5752367"/>
            <a:ext cx="542925" cy="294481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3721894" y="5832596"/>
            <a:ext cx="1338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 smtClean="0">
                <a:solidFill>
                  <a:srgbClr val="000000"/>
                </a:solidFill>
              </a:rPr>
              <a:t>momentum</a:t>
            </a:r>
            <a:endParaRPr lang="zh-CN" altLang="en-US" sz="1800" dirty="0" smtClean="0">
              <a:solidFill>
                <a:srgbClr val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43438" y="5076092"/>
            <a:ext cx="1512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i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= pressure</a:t>
            </a:r>
            <a:endParaRPr lang="zh-CN" altLang="en-US" sz="2400" b="1" i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428875" y="1481139"/>
          <a:ext cx="3943325" cy="69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1" name="Equation" r:id="rId3" imgW="57607200" imgH="9448800" progId="Equation.DSMT4">
                  <p:embed/>
                </p:oleObj>
              </mc:Choice>
              <mc:Fallback>
                <p:oleObj name="Equation" r:id="rId3" imgW="57607200" imgH="9448800" progId="Equation.DSMT4">
                  <p:embed/>
                  <p:pic>
                    <p:nvPicPr>
                      <p:cNvPr id="0" name="图片 554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8875" y="1481139"/>
                        <a:ext cx="3943325" cy="6983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71537" y="3923506"/>
          <a:ext cx="3196407" cy="714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2" name="Equation" r:id="rId5" imgW="41757600" imgH="9448800" progId="Equation.DSMT4">
                  <p:embed/>
                </p:oleObj>
              </mc:Choice>
              <mc:Fallback>
                <p:oleObj name="Equation" r:id="rId5" imgW="41757600" imgH="9448800" progId="Equation.DSMT4">
                  <p:embed/>
                  <p:pic>
                    <p:nvPicPr>
                      <p:cNvPr id="0" name="图片 5545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1537" y="3923506"/>
                        <a:ext cx="3196407" cy="714966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86025" y="2278063"/>
          <a:ext cx="3798888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3" name="Equation" r:id="rId7" imgW="53340000" imgH="9448800" progId="Equation.DSMT4">
                  <p:embed/>
                </p:oleObj>
              </mc:Choice>
              <mc:Fallback>
                <p:oleObj name="Equation" r:id="rId7" imgW="53340000" imgH="9448800" progId="Equation.DSMT4">
                  <p:embed/>
                  <p:pic>
                    <p:nvPicPr>
                      <p:cNvPr id="0" name="图片 554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6025" y="2278063"/>
                        <a:ext cx="3798888" cy="633412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505075" y="2995613"/>
          <a:ext cx="378777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4" name="Equation" r:id="rId9" imgW="54559200" imgH="9448800" progId="Equation.DSMT4">
                  <p:embed/>
                </p:oleObj>
              </mc:Choice>
              <mc:Fallback>
                <p:oleObj name="Equation" r:id="rId9" imgW="54559200" imgH="9448800" progId="Equation.DSMT4">
                  <p:embed/>
                  <p:pic>
                    <p:nvPicPr>
                      <p:cNvPr id="0" name="图片 554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5" y="2995613"/>
                        <a:ext cx="3787775" cy="61436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549775" y="3967163"/>
          <a:ext cx="2976563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5" name="Equation" r:id="rId11" imgW="45720000" imgH="9448800" progId="Equation.DSMT4">
                  <p:embed/>
                </p:oleObj>
              </mc:Choice>
              <mc:Fallback>
                <p:oleObj name="Equation" r:id="rId11" imgW="45720000" imgH="9448800" progId="Equation.DSMT4">
                  <p:embed/>
                  <p:pic>
                    <p:nvPicPr>
                      <p:cNvPr id="0" name="图片 5545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49775" y="3967163"/>
                        <a:ext cx="2976563" cy="661987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6722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Problem 1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000" dirty="0"/>
          </a:p>
        </p:txBody>
      </p:sp>
      <p:pic>
        <p:nvPicPr>
          <p:cNvPr id="4097" name="Picture 1" descr="C:\Users\Lenovo\AppData\Roaming\Tencent\Users\52563569\QQ\WinTemp\RichOle\{5F{K9KL_E9P6KHPD%@U{MT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090886"/>
            <a:ext cx="5756068" cy="407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Lenovo\AppData\Roaming\Tencent\Users\52563569\QQ\WinTemp\RichOle\`XW]$@XXY]R%XF)4)6]3~J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555938"/>
            <a:ext cx="27336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179658" y="1090886"/>
            <a:ext cx="792212" cy="4650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000" dirty="0">
              <a:solidFill>
                <a:srgbClr val="000000"/>
              </a:solidFill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104956" y="735242"/>
          <a:ext cx="1769716" cy="369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7" name="Equation" r:id="rId1" imgW="1091565" imgH="228600" progId="Equation.DSMT4">
                  <p:embed/>
                </p:oleObj>
              </mc:Choice>
              <mc:Fallback>
                <p:oleObj name="Equation" r:id="rId1" imgW="1091565" imgH="228600" progId="Equation.DSMT4">
                  <p:embed/>
                  <p:pic>
                    <p:nvPicPr>
                      <p:cNvPr id="0" name="图片 504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4956" y="735242"/>
                        <a:ext cx="1769716" cy="3693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123728" y="1965848"/>
          <a:ext cx="425926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8" name="Equation" r:id="rId3" imgW="68580000" imgH="11582400" progId="Equation.DSMT4">
                  <p:embed/>
                </p:oleObj>
              </mc:Choice>
              <mc:Fallback>
                <p:oleObj name="Equation" r:id="rId3" imgW="68580000" imgH="11582400" progId="Equation.DSMT4">
                  <p:embed/>
                  <p:pic>
                    <p:nvPicPr>
                      <p:cNvPr id="0" name="图片 504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965848"/>
                        <a:ext cx="4259263" cy="792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65978" y="3645024"/>
          <a:ext cx="5853550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9" name="Equation" r:id="rId5" imgW="4000500" imgH="1181100" progId="Equation.DSMT4">
                  <p:embed/>
                </p:oleObj>
              </mc:Choice>
              <mc:Fallback>
                <p:oleObj name="Equation" r:id="rId5" imgW="4000500" imgH="1181100" progId="Equation.DSMT4">
                  <p:embed/>
                  <p:pic>
                    <p:nvPicPr>
                      <p:cNvPr id="0" name="图片 504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978" y="3645024"/>
                        <a:ext cx="5853550" cy="17281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395536" y="735242"/>
            <a:ext cx="44511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The mass of the cylinder is </a:t>
            </a:r>
            <a:endParaRPr lang="en-US" altLang="zh-TW" dirty="0" smtClean="0">
              <a:solidFill>
                <a:srgbClr val="000000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683687" y="1422648"/>
            <a:ext cx="69127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where </a:t>
            </a:r>
            <a:r>
              <a:rPr lang="en-US" altLang="zh-TW" sz="2000" i="1" dirty="0">
                <a:solidFill>
                  <a:srgbClr val="0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d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is the diameter of the cylinder. Since it is in equilibrium</a:t>
            </a:r>
            <a:endParaRPr lang="en-US" altLang="zh-CN" sz="2000" dirty="0" smtClean="0">
              <a:solidFill>
                <a:srgbClr val="000000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683687" y="3067020"/>
            <a:ext cx="3888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We solve for </a:t>
            </a:r>
            <a:r>
              <a:rPr lang="en-US" altLang="zh-TW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H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:</a:t>
            </a:r>
            <a:endParaRPr lang="en-US" altLang="zh-CN" sz="2000" dirty="0" smtClean="0">
              <a:solidFill>
                <a:srgbClr val="000000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0" y="28098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>
              <a:solidFill>
                <a:srgbClr val="000000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6722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Problem 1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87015"/>
            <a:ext cx="19271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Polarization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1" cstate="print">
            <a:lum bright="-3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14375"/>
            <a:ext cx="370522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714500"/>
            <a:ext cx="1081088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42875" y="928688"/>
            <a:ext cx="442912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/>
              <a:t>We normally use the plane of </a:t>
            </a:r>
            <a:r>
              <a:rPr lang="en-US" altLang="zh-CN" sz="1600" b="1" i="1" dirty="0">
                <a:solidFill>
                  <a:srgbClr val="C00000"/>
                </a:solidFill>
                <a:latin typeface="+mj-lt"/>
              </a:rPr>
              <a:t>E-field</a:t>
            </a:r>
            <a:r>
              <a:rPr lang="en-US" altLang="zh-CN" sz="1600" dirty="0"/>
              <a:t> oscillation as </a:t>
            </a:r>
            <a:r>
              <a:rPr lang="en-US" altLang="zh-CN" sz="1600" b="1" i="1" dirty="0">
                <a:solidFill>
                  <a:srgbClr val="C00000"/>
                </a:solidFill>
              </a:rPr>
              <a:t>the plane of oscillation </a:t>
            </a:r>
            <a:r>
              <a:rPr lang="en-US" altLang="zh-CN" sz="1600" dirty="0"/>
              <a:t>of the wave</a:t>
            </a:r>
            <a:endParaRPr lang="zh-CN" altLang="en-US" sz="1600" dirty="0"/>
          </a:p>
        </p:txBody>
      </p: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>
            <a:off x="3714750" y="1214438"/>
            <a:ext cx="1285875" cy="214312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 flipV="1">
            <a:off x="2071688" y="2286000"/>
            <a:ext cx="2428875" cy="785813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7" name="TextBox 17"/>
          <p:cNvSpPr txBox="1">
            <a:spLocks noChangeArrowheads="1"/>
          </p:cNvSpPr>
          <p:nvPr/>
        </p:nvSpPr>
        <p:spPr bwMode="auto">
          <a:xfrm>
            <a:off x="1714500" y="3357563"/>
            <a:ext cx="20002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/>
              <a:t>Linearly polarized light</a:t>
            </a:r>
            <a:endParaRPr lang="zh-CN" altLang="en-US" sz="1400" dirty="0"/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3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3" y="3836713"/>
            <a:ext cx="2101850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01098" y="5882015"/>
            <a:ext cx="2802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/>
              <a:t>Randomly polarized or </a:t>
            </a:r>
            <a:r>
              <a:rPr lang="en-US" altLang="zh-CN" sz="1400" dirty="0" err="1" smtClean="0"/>
              <a:t>unpolarized</a:t>
            </a:r>
            <a:r>
              <a:rPr lang="en-US" altLang="zh-CN" sz="1400" dirty="0" smtClean="0"/>
              <a:t> light (natural light)</a:t>
            </a:r>
            <a:endParaRPr lang="zh-CN" altLang="en-US" sz="1400" dirty="0"/>
          </a:p>
        </p:txBody>
      </p:sp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4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85" y="3886184"/>
            <a:ext cx="21113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2650101" y="4229143"/>
            <a:ext cx="328198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dirty="0" smtClean="0"/>
              <a:t>Another view: a superposition of two perpendicular polarized components</a:t>
            </a:r>
            <a:endParaRPr lang="zh-CN" altLang="en-US" sz="1600" dirty="0"/>
          </a:p>
        </p:txBody>
      </p:sp>
      <p:cxnSp>
        <p:nvCxnSpPr>
          <p:cNvPr id="15" name="直接箭头连接符 14"/>
          <p:cNvCxnSpPr>
            <a:cxnSpLocks noChangeShapeType="1"/>
          </p:cNvCxnSpPr>
          <p:nvPr/>
        </p:nvCxnSpPr>
        <p:spPr bwMode="auto">
          <a:xfrm flipV="1">
            <a:off x="2714625" y="5060141"/>
            <a:ext cx="2865487" cy="43762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1" cstate="print">
            <a:lum bright="-30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785813"/>
            <a:ext cx="79629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894" name="直接箭头连接符 7"/>
          <p:cNvCxnSpPr>
            <a:cxnSpLocks noChangeShapeType="1"/>
          </p:cNvCxnSpPr>
          <p:nvPr/>
        </p:nvCxnSpPr>
        <p:spPr bwMode="auto">
          <a:xfrm rot="5400000" flipH="1" flipV="1">
            <a:off x="3786188" y="2428875"/>
            <a:ext cx="357188" cy="357187"/>
          </a:xfrm>
          <a:prstGeom prst="straightConnector1">
            <a:avLst/>
          </a:prstGeom>
          <a:noFill/>
          <a:ln w="57150" algn="ctr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2" cstate="print">
            <a:lum bright="-30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47" y="738618"/>
            <a:ext cx="8672513" cy="4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572125" y="1143000"/>
            <a:ext cx="1214438" cy="428625"/>
          </a:xfrm>
          <a:prstGeom prst="rect">
            <a:avLst/>
          </a:prstGeom>
          <a:noFill/>
          <a:ln w="34925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endParaRPr lang="zh-CN" alt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500812" y="3961494"/>
            <a:ext cx="1500187" cy="428625"/>
          </a:xfrm>
          <a:prstGeom prst="rect">
            <a:avLst/>
          </a:prstGeom>
          <a:noFill/>
          <a:ln w="34925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endParaRPr lang="zh-CN" altLang="en-US"/>
          </a:p>
        </p:txBody>
      </p:sp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675" y="5805264"/>
            <a:ext cx="1648634" cy="66181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95536" y="87015"/>
            <a:ext cx="19271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Polarization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82200" y="5293021"/>
                <a:ext cx="898836" cy="3693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latin typeface="Cambria Math" panose="02040503050406030204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00" y="5293021"/>
                <a:ext cx="89883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555" t="-1456" r="-470" b="-1188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23728" y="5319711"/>
                <a:ext cx="1211421" cy="3693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latin typeface="Cambria Math" panose="02040503050406030204" charset="0"/>
                            </a:rPr>
                            <m:t>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/>
                        </a:rPr>
                        <m:t>/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5319711"/>
                <a:ext cx="121142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43" t="-1461" r="-356" b="-118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113675" y="5270927"/>
                <a:ext cx="1547668" cy="3693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latin typeface="Cambria Math" panose="02040503050406030204" charset="0"/>
                            </a:rPr>
                            <m:t> 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/>
                        </a:rPr>
                        <m:t>𝑐𝑜𝑠</m:t>
                      </m:r>
                      <m:r>
                        <a:rPr lang="en-US" altLang="zh-CN" b="0" i="1" baseline="30000" dirty="0" smtClean="0">
                          <a:latin typeface="Cambria Math" panose="02040503050406030204"/>
                        </a:rPr>
                        <m:t>2</m:t>
                      </m:r>
                      <m:r>
                        <a:rPr lang="zh-CN" altLang="en-US" b="0" i="1" dirty="0" smtClean="0">
                          <a:latin typeface="Cambria Math" panose="02040503050406030204"/>
                        </a:rPr>
                        <m:t>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675" y="5270927"/>
                <a:ext cx="1547668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30" t="-3210" r="-275" b="-115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000" dirty="0"/>
          </a:p>
        </p:txBody>
      </p:sp>
      <p:pic>
        <p:nvPicPr>
          <p:cNvPr id="6145" name="Picture 1" descr="C:\Users\Lenovo\AppData\Roaming\Tencent\Users\52563569\QQ\WinTemp\RichOle\32HBRZAJ1_7_6F_%0U(VPY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92865"/>
            <a:ext cx="8064896" cy="560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447451" y="756775"/>
            <a:ext cx="648072" cy="36609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6722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Problem 2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000" dirty="0"/>
          </a:p>
        </p:txBody>
      </p:sp>
      <p:sp>
        <p:nvSpPr>
          <p:cNvPr id="2" name="矩形 1"/>
          <p:cNvSpPr/>
          <p:nvPr/>
        </p:nvSpPr>
        <p:spPr bwMode="auto">
          <a:xfrm>
            <a:off x="611560" y="1268759"/>
            <a:ext cx="432048" cy="36004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79512" y="1282489"/>
            <a:ext cx="648072" cy="36609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611560" y="1052736"/>
                <a:ext cx="7704856" cy="24929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dirty="0">
                    <a:latin typeface="+mj-lt"/>
                  </a:rPr>
                  <a:t> After passing through the first </a:t>
                </a:r>
                <a:r>
                  <a:rPr lang="en-US" altLang="zh-CN" sz="2000" dirty="0" smtClean="0">
                    <a:latin typeface="+mj-lt"/>
                  </a:rPr>
                  <a:t>polarizer :</a:t>
                </a:r>
                <a:endParaRPr lang="en-US" altLang="zh-CN" sz="2000" dirty="0" smtClean="0">
                  <a:latin typeface="+mj-lt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000" dirty="0" smtClean="0">
                    <a:latin typeface="+mj-lt"/>
                  </a:rPr>
                  <a:t> </a:t>
                </a:r>
                <a:endParaRPr lang="en-US" altLang="zh-CN" sz="2000" dirty="0" smtClean="0">
                  <a:latin typeface="+mj-lt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000" dirty="0" smtClean="0">
                    <a:latin typeface="+mj-lt"/>
                  </a:rPr>
                  <a:t>After </a:t>
                </a:r>
                <a:r>
                  <a:rPr lang="en-US" altLang="zh-CN" sz="2000" dirty="0">
                    <a:latin typeface="+mj-lt"/>
                  </a:rPr>
                  <a:t>passing through the second </a:t>
                </a:r>
                <a:r>
                  <a:rPr lang="en-US" altLang="zh-CN" sz="2000" dirty="0" smtClean="0">
                    <a:latin typeface="+mj-lt"/>
                  </a:rPr>
                  <a:t>one </a:t>
                </a:r>
                <a:r>
                  <a:rPr lang="en-US" altLang="zh-CN" sz="2000" dirty="0">
                    <a:latin typeface="+mj-lt"/>
                  </a:rPr>
                  <a:t>it is further reduced by a factor of cos</a:t>
                </a:r>
                <a:r>
                  <a:rPr lang="en-US" altLang="zh-CN" sz="2000" baseline="30000" dirty="0">
                    <a:latin typeface="+mj-lt"/>
                  </a:rPr>
                  <a:t>2</a:t>
                </a:r>
                <a:r>
                  <a:rPr lang="en-US" altLang="zh-CN" sz="2000" dirty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/>
                      </a:rPr>
                      <m:t>𝜋</m:t>
                    </m:r>
                  </m:oMath>
                </a14:m>
                <a:r>
                  <a:rPr lang="en-US" altLang="zh-CN" sz="2000" dirty="0">
                    <a:latin typeface="+mj-lt"/>
                  </a:rPr>
                  <a:t> – 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/>
                      </a:rPr>
                      <m:t>𝜃</m:t>
                    </m:r>
                  </m:oMath>
                </a14:m>
                <a:r>
                  <a:rPr lang="en-US" altLang="zh-CN" sz="2000" baseline="-25000" dirty="0">
                    <a:latin typeface="+mj-lt"/>
                  </a:rPr>
                  <a:t>1</a:t>
                </a:r>
                <a:r>
                  <a:rPr lang="en-US" altLang="zh-CN" sz="2000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/>
                      </a:rPr>
                      <m:t>𝜃</m:t>
                    </m:r>
                  </m:oMath>
                </a14:m>
                <a:r>
                  <a:rPr lang="en-US" altLang="zh-CN" sz="2000" baseline="-25000" dirty="0">
                    <a:latin typeface="+mj-lt"/>
                  </a:rPr>
                  <a:t>2</a:t>
                </a:r>
                <a:r>
                  <a:rPr lang="en-US" altLang="zh-CN" sz="2000" dirty="0">
                    <a:latin typeface="+mj-lt"/>
                  </a:rPr>
                  <a:t>) = cos</a:t>
                </a:r>
                <a:r>
                  <a:rPr lang="en-US" altLang="zh-CN" sz="2000" baseline="30000" dirty="0">
                    <a:latin typeface="+mj-lt"/>
                  </a:rPr>
                  <a:t>2</a:t>
                </a:r>
                <a:r>
                  <a:rPr lang="en-US" altLang="zh-CN" sz="2000" dirty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/>
                      </a:rPr>
                      <m:t>𝜃</m:t>
                    </m:r>
                  </m:oMath>
                </a14:m>
                <a:r>
                  <a:rPr lang="en-US" altLang="zh-CN" sz="2000" baseline="-25000" dirty="0">
                    <a:latin typeface="+mj-lt"/>
                  </a:rPr>
                  <a:t>1</a:t>
                </a:r>
                <a:r>
                  <a:rPr lang="en-US" altLang="zh-CN" sz="2000" dirty="0">
                    <a:latin typeface="+mj-lt"/>
                  </a:rPr>
                  <a:t> +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/>
                      </a:rPr>
                      <m:t>𝜃</m:t>
                    </m:r>
                  </m:oMath>
                </a14:m>
                <a:r>
                  <a:rPr lang="en-US" altLang="zh-CN" sz="2000" baseline="-25000" dirty="0">
                    <a:latin typeface="+mj-lt"/>
                  </a:rPr>
                  <a:t>2</a:t>
                </a:r>
                <a:r>
                  <a:rPr lang="en-US" altLang="zh-CN" sz="2000" dirty="0">
                    <a:latin typeface="+mj-lt"/>
                  </a:rPr>
                  <a:t>). Finally, after passing through the third one it is again reduced by a factor of cos</a:t>
                </a:r>
                <a:r>
                  <a:rPr lang="en-US" altLang="zh-CN" sz="2000" baseline="30000" dirty="0">
                    <a:latin typeface="+mj-lt"/>
                  </a:rPr>
                  <a:t>2</a:t>
                </a:r>
                <a:r>
                  <a:rPr lang="en-US" altLang="zh-CN" sz="2000" dirty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/>
                      </a:rPr>
                      <m:t>𝜋</m:t>
                    </m:r>
                  </m:oMath>
                </a14:m>
                <a:r>
                  <a:rPr lang="en-US" altLang="zh-CN" sz="2000" dirty="0">
                    <a:latin typeface="+mj-lt"/>
                  </a:rPr>
                  <a:t>–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/>
                      </a:rPr>
                      <m:t>𝜃</m:t>
                    </m:r>
                  </m:oMath>
                </a14:m>
                <a:r>
                  <a:rPr lang="en-US" altLang="zh-CN" sz="2000" baseline="-25000" dirty="0">
                    <a:latin typeface="+mj-lt"/>
                  </a:rPr>
                  <a:t>2</a:t>
                </a:r>
                <a:r>
                  <a:rPr lang="en-US" altLang="zh-CN" sz="2000" dirty="0">
                    <a:latin typeface="+mj-lt"/>
                  </a:rPr>
                  <a:t> –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/>
                      </a:rPr>
                      <m:t>𝜃</m:t>
                    </m:r>
                  </m:oMath>
                </a14:m>
                <a:r>
                  <a:rPr lang="en-US" altLang="zh-CN" sz="2000" baseline="-25000" dirty="0">
                    <a:latin typeface="+mj-lt"/>
                  </a:rPr>
                  <a:t>3</a:t>
                </a:r>
                <a:r>
                  <a:rPr lang="en-US" altLang="zh-CN" sz="2000" dirty="0">
                    <a:latin typeface="+mj-lt"/>
                  </a:rPr>
                  <a:t>) = cos</a:t>
                </a:r>
                <a:r>
                  <a:rPr lang="en-US" altLang="zh-CN" sz="2000" baseline="30000" dirty="0">
                    <a:latin typeface="+mj-lt"/>
                  </a:rPr>
                  <a:t>2</a:t>
                </a:r>
                <a:r>
                  <a:rPr lang="en-US" altLang="zh-CN" sz="2000" dirty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/>
                      </a:rPr>
                      <m:t>𝜃</m:t>
                    </m:r>
                  </m:oMath>
                </a14:m>
                <a:r>
                  <a:rPr lang="en-US" altLang="zh-CN" sz="2000" baseline="-25000" dirty="0">
                    <a:latin typeface="+mj-lt"/>
                  </a:rPr>
                  <a:t>2</a:t>
                </a:r>
                <a:r>
                  <a:rPr lang="en-US" altLang="zh-CN" sz="2000" dirty="0">
                    <a:latin typeface="+mj-lt"/>
                  </a:rPr>
                  <a:t> +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/>
                      </a:rPr>
                      <m:t>𝜃</m:t>
                    </m:r>
                  </m:oMath>
                </a14:m>
                <a:r>
                  <a:rPr lang="en-US" altLang="zh-CN" sz="2000" baseline="-25000" dirty="0">
                    <a:latin typeface="+mj-lt"/>
                  </a:rPr>
                  <a:t>3</a:t>
                </a:r>
                <a:r>
                  <a:rPr lang="en-US" altLang="zh-CN" sz="2000" dirty="0">
                    <a:latin typeface="+mj-lt"/>
                  </a:rPr>
                  <a:t>). Therefore,</a:t>
                </a:r>
                <a:endParaRPr lang="zh-CN" altLang="zh-CN" sz="2000" dirty="0">
                  <a:latin typeface="+mj-lt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052736"/>
                <a:ext cx="7704856" cy="2492990"/>
              </a:xfrm>
              <a:prstGeom prst="rect">
                <a:avLst/>
              </a:prstGeom>
              <a:blipFill rotWithShape="1">
                <a:blip r:embed="rId1"/>
                <a:stretch>
                  <a:fillRect l="-1" t="-22" r="6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13580" y="3789040"/>
          <a:ext cx="5900816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3" name="Equation" r:id="rId2" imgW="4178300" imgH="711200" progId="Equation.DSMT4">
                  <p:embed/>
                </p:oleObj>
              </mc:Choice>
              <mc:Fallback>
                <p:oleObj name="Equation" r:id="rId2" imgW="4178300" imgH="711200" progId="Equation.DSMT4">
                  <p:embed/>
                  <p:pic>
                    <p:nvPicPr>
                      <p:cNvPr id="0" name="图片 513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580" y="3789040"/>
                        <a:ext cx="5900816" cy="1008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90736" y="5121153"/>
            <a:ext cx="6087179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indent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2000" dirty="0">
                <a:latin typeface="+mj-lt"/>
              </a:rPr>
              <a:t>Thus, 0.045% of the light’s initial intensity is transmitted.</a:t>
            </a:r>
            <a:endParaRPr lang="en-US" altLang="zh-TW" sz="20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076056" y="1124744"/>
                <a:ext cx="113845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/>
                        </a:rPr>
                        <m:t>𝐼</m:t>
                      </m:r>
                      <m:r>
                        <a:rPr lang="en-US" altLang="zh-CN" b="0" i="1" baseline="-25000" dirty="0" smtClean="0">
                          <a:latin typeface="Cambria Math" panose="02040503050406030204"/>
                        </a:rPr>
                        <m:t>1</m:t>
                      </m:r>
                      <m:r>
                        <a:rPr lang="en-US" altLang="zh-CN" b="0" i="1" dirty="0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i="1" dirty="0" smtClean="0">
                          <a:latin typeface="Cambria Math" panose="02040503050406030204"/>
                        </a:rPr>
                        <m:t>𝐼</m:t>
                      </m:r>
                      <m:r>
                        <a:rPr lang="en-US" altLang="zh-CN" i="1" baseline="-25000" dirty="0">
                          <a:latin typeface="Cambria Math" panose="02040503050406030204"/>
                        </a:rPr>
                        <m:t>0</m:t>
                      </m:r>
                      <m:r>
                        <a:rPr lang="en-US" altLang="zh-CN" i="1" dirty="0" smtClean="0">
                          <a:latin typeface="Cambria Math" panose="02040503050406030204"/>
                        </a:rPr>
                        <m:t>/</m:t>
                      </m:r>
                      <m:r>
                        <a:rPr lang="en-US" altLang="zh-CN" i="1" dirty="0" smtClean="0">
                          <a:latin typeface="Cambria Math" panose="02040503050406030204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1124744"/>
                <a:ext cx="113845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4" t="-43" r="35" b="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6722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Problem 2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62208"/>
            <a:ext cx="721518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Reflection (</a:t>
            </a:r>
            <a:r>
              <a:rPr lang="zh-TW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反射</a:t>
            </a:r>
            <a:r>
              <a:rPr lang="en-US" altLang="zh-TW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TW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TW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and Refraction (</a:t>
            </a:r>
            <a:r>
              <a:rPr lang="zh-TW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折射</a:t>
            </a:r>
            <a:r>
              <a:rPr lang="en-US" altLang="zh-TW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475647" y="2105830"/>
            <a:ext cx="4271069" cy="2609172"/>
            <a:chOff x="571500" y="1816100"/>
            <a:chExt cx="6445887" cy="4041775"/>
          </a:xfrm>
        </p:grpSpPr>
        <p:cxnSp>
          <p:nvCxnSpPr>
            <p:cNvPr id="8" name="直接连接符 7"/>
            <p:cNvCxnSpPr>
              <a:cxnSpLocks noChangeShapeType="1"/>
            </p:cNvCxnSpPr>
            <p:nvPr/>
          </p:nvCxnSpPr>
          <p:spPr bwMode="auto">
            <a:xfrm>
              <a:off x="571500" y="3571875"/>
              <a:ext cx="5072063" cy="1588"/>
            </a:xfrm>
            <a:prstGeom prst="line">
              <a:avLst/>
            </a:prstGeom>
            <a:noFill/>
            <a:ln w="34925" algn="ctr">
              <a:solidFill>
                <a:schemeClr val="tx1"/>
              </a:solidFill>
              <a:round/>
            </a:ln>
          </p:spPr>
        </p:cxnSp>
        <p:sp>
          <p:nvSpPr>
            <p:cNvPr id="9" name="矩形 8"/>
            <p:cNvSpPr/>
            <p:nvPr/>
          </p:nvSpPr>
          <p:spPr bwMode="auto">
            <a:xfrm>
              <a:off x="571500" y="3571875"/>
              <a:ext cx="5072063" cy="228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49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2075" tIns="46038" rIns="92075" bIns="46038" anchor="ctr"/>
            <a:lstStyle/>
            <a:p>
              <a:pPr algn="r" eaLnBrk="0" hangingPunct="0">
                <a:defRPr/>
              </a:pPr>
              <a:endParaRPr lang="zh-CN" altLang="en-US" sz="1400">
                <a:latin typeface="+mj-lt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4857749" y="3000375"/>
              <a:ext cx="1071563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Air</a:t>
              </a:r>
              <a:endParaRPr lang="zh-CN" altLang="en-US" sz="1400" dirty="0">
                <a:latin typeface="+mj-lt"/>
              </a:endParaRPr>
            </a:p>
          </p:txBody>
        </p:sp>
        <p:sp>
          <p:nvSpPr>
            <p:cNvPr id="11" name="TextBox 10"/>
            <p:cNvSpPr txBox="1">
              <a:spLocks noChangeArrowheads="1"/>
            </p:cNvSpPr>
            <p:nvPr/>
          </p:nvSpPr>
          <p:spPr bwMode="auto">
            <a:xfrm>
              <a:off x="4643437" y="3643312"/>
              <a:ext cx="1285876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Water</a:t>
              </a:r>
              <a:endParaRPr lang="zh-CN" altLang="en-US" sz="1400" dirty="0">
                <a:latin typeface="+mj-lt"/>
              </a:endParaRPr>
            </a:p>
          </p:txBody>
        </p:sp>
        <p:cxnSp>
          <p:nvCxnSpPr>
            <p:cNvPr id="13" name="直接连接符 12"/>
            <p:cNvCxnSpPr>
              <a:cxnSpLocks noChangeShapeType="1"/>
            </p:cNvCxnSpPr>
            <p:nvPr/>
          </p:nvCxnSpPr>
          <p:spPr bwMode="auto">
            <a:xfrm>
              <a:off x="3214688" y="1972522"/>
              <a:ext cx="0" cy="2886815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</a:ln>
          </p:spPr>
        </p:cxnSp>
        <p:sp>
          <p:nvSpPr>
            <p:cNvPr id="15" name="TextBox 14"/>
            <p:cNvSpPr txBox="1">
              <a:spLocks noChangeArrowheads="1"/>
            </p:cNvSpPr>
            <p:nvPr/>
          </p:nvSpPr>
          <p:spPr bwMode="auto">
            <a:xfrm>
              <a:off x="3146965" y="2089705"/>
              <a:ext cx="1571626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Normal</a:t>
              </a:r>
              <a:endParaRPr lang="zh-CN" altLang="en-US" sz="1400" dirty="0">
                <a:latin typeface="+mj-lt"/>
              </a:endParaRPr>
            </a:p>
          </p:txBody>
        </p:sp>
        <p:grpSp>
          <p:nvGrpSpPr>
            <p:cNvPr id="3" name="组合 22"/>
            <p:cNvGrpSpPr/>
            <p:nvPr/>
          </p:nvGrpSpPr>
          <p:grpSpPr bwMode="auto">
            <a:xfrm>
              <a:off x="1000125" y="2286000"/>
              <a:ext cx="2214563" cy="1285875"/>
              <a:chOff x="1000100" y="2285992"/>
              <a:chExt cx="2214578" cy="1285884"/>
            </a:xfrm>
          </p:grpSpPr>
          <p:cxnSp>
            <p:nvCxnSpPr>
              <p:cNvPr id="6179" name="直接连接符 16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2214578" cy="1285884"/>
              </a:xfrm>
              <a:prstGeom prst="line">
                <a:avLst/>
              </a:prstGeom>
              <a:noFill/>
              <a:ln w="3492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6180" name="直接箭头连接符 21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1357322" cy="785818"/>
              </a:xfrm>
              <a:prstGeom prst="straightConnector1">
                <a:avLst/>
              </a:prstGeom>
              <a:noFill/>
              <a:ln w="34925" algn="ctr">
                <a:solidFill>
                  <a:srgbClr val="FF0000"/>
                </a:solidFill>
                <a:round/>
                <a:tailEnd type="arrow" w="med" len="med"/>
              </a:ln>
            </p:spPr>
          </p:cxnSp>
        </p:grpSp>
        <p:sp>
          <p:nvSpPr>
            <p:cNvPr id="24" name="TextBox 23"/>
            <p:cNvSpPr txBox="1"/>
            <p:nvPr/>
          </p:nvSpPr>
          <p:spPr>
            <a:xfrm>
              <a:off x="714376" y="3929062"/>
              <a:ext cx="1928812" cy="4767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1400" dirty="0">
                  <a:latin typeface="+mj-lt"/>
                </a:rPr>
                <a:t>Interface</a:t>
              </a:r>
              <a:endParaRPr lang="zh-CN" altLang="en-US" sz="1400" dirty="0">
                <a:latin typeface="+mj-lt"/>
              </a:endParaRPr>
            </a:p>
          </p:txBody>
        </p:sp>
        <p:cxnSp>
          <p:nvCxnSpPr>
            <p:cNvPr id="26" name="直接箭头连接符 25"/>
            <p:cNvCxnSpPr>
              <a:cxnSpLocks noChangeShapeType="1"/>
              <a:stCxn id="24" idx="0"/>
            </p:cNvCxnSpPr>
            <p:nvPr/>
          </p:nvCxnSpPr>
          <p:spPr bwMode="auto">
            <a:xfrm flipH="1" flipV="1">
              <a:off x="1571626" y="3571876"/>
              <a:ext cx="107156" cy="357186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1028701" y="2065948"/>
              <a:ext cx="1758531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Incident </a:t>
              </a:r>
              <a:r>
                <a:rPr lang="en-US" altLang="zh-CN" sz="1400" dirty="0" smtClean="0">
                  <a:latin typeface="+mj-lt"/>
                </a:rPr>
                <a:t>ray</a:t>
              </a:r>
              <a:endParaRPr lang="zh-CN" altLang="en-US" sz="1400" dirty="0">
                <a:latin typeface="+mj-lt"/>
              </a:endParaRPr>
            </a:p>
          </p:txBody>
        </p:sp>
        <p:sp>
          <p:nvSpPr>
            <p:cNvPr id="31" name="弧形 30"/>
            <p:cNvSpPr/>
            <p:nvPr/>
          </p:nvSpPr>
          <p:spPr bwMode="auto">
            <a:xfrm rot="17429284">
              <a:off x="2711450" y="2997200"/>
              <a:ext cx="914400" cy="914400"/>
            </a:xfrm>
            <a:prstGeom prst="arc">
              <a:avLst>
                <a:gd name="adj1" fmla="val 16200000"/>
                <a:gd name="adj2" fmla="val 20681373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2075" tIns="46038" rIns="92075" bIns="46038" anchor="ctr"/>
            <a:lstStyle/>
            <a:p>
              <a:pPr algn="r" eaLnBrk="0" hangingPunct="0">
                <a:defRPr/>
              </a:pPr>
              <a:endParaRPr lang="zh-CN" altLang="en-US" sz="1400">
                <a:latin typeface="+mj-lt"/>
              </a:endParaRPr>
            </a:p>
          </p:txBody>
        </p:sp>
        <p:sp>
          <p:nvSpPr>
            <p:cNvPr id="32" name="TextBox 31"/>
            <p:cNvSpPr txBox="1">
              <a:spLocks noChangeArrowheads="1"/>
            </p:cNvSpPr>
            <p:nvPr/>
          </p:nvSpPr>
          <p:spPr bwMode="auto">
            <a:xfrm>
              <a:off x="2643188" y="2571750"/>
              <a:ext cx="508527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l-GR" altLang="zh-CN" sz="1400" i="1">
                  <a:latin typeface="+mj-lt"/>
                  <a:cs typeface="Times New Roman" panose="02020603050405020304" pitchFamily="18" charset="0"/>
                </a:rPr>
                <a:t>θ</a:t>
              </a:r>
              <a:r>
                <a:rPr lang="en-US" altLang="zh-CN" sz="1400" i="1" baseline="-25000">
                  <a:latin typeface="+mj-lt"/>
                  <a:cs typeface="Times New Roman" panose="02020603050405020304" pitchFamily="18" charset="0"/>
                </a:rPr>
                <a:t>1</a:t>
              </a:r>
              <a:endParaRPr lang="zh-CN" altLang="en-US" sz="1400" i="1">
                <a:latin typeface="+mj-lt"/>
              </a:endParaRPr>
            </a:p>
          </p:txBody>
        </p:sp>
        <p:grpSp>
          <p:nvGrpSpPr>
            <p:cNvPr id="4" name="组合 32"/>
            <p:cNvGrpSpPr/>
            <p:nvPr/>
          </p:nvGrpSpPr>
          <p:grpSpPr bwMode="auto">
            <a:xfrm rot="-3538368">
              <a:off x="3229769" y="2280444"/>
              <a:ext cx="2214563" cy="1285875"/>
              <a:chOff x="1000100" y="2285992"/>
              <a:chExt cx="2214578" cy="1285884"/>
            </a:xfrm>
          </p:grpSpPr>
          <p:cxnSp>
            <p:nvCxnSpPr>
              <p:cNvPr id="6177" name="直接连接符 33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2214578" cy="1285884"/>
              </a:xfrm>
              <a:prstGeom prst="line">
                <a:avLst/>
              </a:prstGeom>
              <a:noFill/>
              <a:ln w="3492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6178" name="直接箭头连接符 34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1357322" cy="785818"/>
              </a:xfrm>
              <a:prstGeom prst="straightConnector1">
                <a:avLst/>
              </a:prstGeom>
              <a:noFill/>
              <a:ln w="34925" algn="ctr">
                <a:solidFill>
                  <a:srgbClr val="FF0000"/>
                </a:solidFill>
                <a:round/>
                <a:tailEnd type="arrow" w="med" len="med"/>
              </a:ln>
            </p:spPr>
          </p:cxnSp>
        </p:grpSp>
        <p:sp>
          <p:nvSpPr>
            <p:cNvPr id="39" name="TextBox 38"/>
            <p:cNvSpPr txBox="1">
              <a:spLocks noChangeArrowheads="1"/>
            </p:cNvSpPr>
            <p:nvPr/>
          </p:nvSpPr>
          <p:spPr bwMode="auto">
            <a:xfrm>
              <a:off x="4649350" y="1892203"/>
              <a:ext cx="2368037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Reflected </a:t>
              </a:r>
              <a:r>
                <a:rPr lang="en-US" altLang="zh-CN" sz="1400" dirty="0" smtClean="0">
                  <a:latin typeface="+mj-lt"/>
                </a:rPr>
                <a:t>ray</a:t>
              </a:r>
              <a:endParaRPr lang="zh-CN" altLang="en-US" sz="1400" dirty="0">
                <a:latin typeface="+mj-lt"/>
              </a:endParaRPr>
            </a:p>
          </p:txBody>
        </p:sp>
        <p:sp>
          <p:nvSpPr>
            <p:cNvPr id="41" name="TextBox 40"/>
            <p:cNvSpPr txBox="1">
              <a:spLocks noChangeArrowheads="1"/>
            </p:cNvSpPr>
            <p:nvPr/>
          </p:nvSpPr>
          <p:spPr bwMode="auto">
            <a:xfrm>
              <a:off x="3500438" y="2571750"/>
              <a:ext cx="508527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l-GR" altLang="zh-CN" sz="1400" i="1" dirty="0">
                  <a:latin typeface="+mj-lt"/>
                  <a:cs typeface="Times New Roman" panose="02020603050405020304" pitchFamily="18" charset="0"/>
                </a:rPr>
                <a:t>θ</a:t>
              </a:r>
              <a:r>
                <a:rPr lang="en-US" altLang="zh-CN" sz="1400" i="1" baseline="-25000" dirty="0">
                  <a:latin typeface="+mj-lt"/>
                  <a:cs typeface="Times New Roman" panose="02020603050405020304" pitchFamily="18" charset="0"/>
                </a:rPr>
                <a:t>3</a:t>
              </a:r>
              <a:endParaRPr lang="zh-CN" altLang="en-US" sz="1400" i="1" dirty="0">
                <a:latin typeface="+mj-lt"/>
              </a:endParaRPr>
            </a:p>
          </p:txBody>
        </p:sp>
        <p:sp>
          <p:nvSpPr>
            <p:cNvPr id="42" name="弧形 41"/>
            <p:cNvSpPr/>
            <p:nvPr/>
          </p:nvSpPr>
          <p:spPr bwMode="auto">
            <a:xfrm>
              <a:off x="2786063" y="3000375"/>
              <a:ext cx="914400" cy="914400"/>
            </a:xfrm>
            <a:prstGeom prst="arc">
              <a:avLst>
                <a:gd name="adj1" fmla="val 15957035"/>
                <a:gd name="adj2" fmla="val 20348735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2075" tIns="46038" rIns="92075" bIns="46038" anchor="ctr"/>
            <a:lstStyle/>
            <a:p>
              <a:pPr algn="r" eaLnBrk="0" hangingPunct="0">
                <a:defRPr/>
              </a:pPr>
              <a:endParaRPr lang="zh-CN" altLang="en-US" sz="1400">
                <a:latin typeface="+mj-lt"/>
              </a:endParaRPr>
            </a:p>
          </p:txBody>
        </p:sp>
        <p:grpSp>
          <p:nvGrpSpPr>
            <p:cNvPr id="5" name="组合 42"/>
            <p:cNvGrpSpPr/>
            <p:nvPr/>
          </p:nvGrpSpPr>
          <p:grpSpPr bwMode="auto">
            <a:xfrm rot="2077750">
              <a:off x="2670175" y="4087813"/>
              <a:ext cx="2214563" cy="1285875"/>
              <a:chOff x="1000100" y="2285992"/>
              <a:chExt cx="2214578" cy="1285884"/>
            </a:xfrm>
          </p:grpSpPr>
          <p:cxnSp>
            <p:nvCxnSpPr>
              <p:cNvPr id="6175" name="直接连接符 43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2214578" cy="1285884"/>
              </a:xfrm>
              <a:prstGeom prst="line">
                <a:avLst/>
              </a:prstGeom>
              <a:noFill/>
              <a:ln w="3492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6176" name="直接箭头连接符 44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1357322" cy="785818"/>
              </a:xfrm>
              <a:prstGeom prst="straightConnector1">
                <a:avLst/>
              </a:prstGeom>
              <a:noFill/>
              <a:ln w="34925" algn="ctr">
                <a:solidFill>
                  <a:srgbClr val="FF0000"/>
                </a:solidFill>
                <a:round/>
                <a:tailEnd type="arrow" w="med" len="med"/>
              </a:ln>
            </p:spPr>
          </p:cxnSp>
        </p:grpSp>
        <p:sp>
          <p:nvSpPr>
            <p:cNvPr id="46" name="TextBox 45"/>
            <p:cNvSpPr txBox="1">
              <a:spLocks noChangeArrowheads="1"/>
            </p:cNvSpPr>
            <p:nvPr/>
          </p:nvSpPr>
          <p:spPr bwMode="auto">
            <a:xfrm>
              <a:off x="4165544" y="5106695"/>
              <a:ext cx="2477093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Refracted </a:t>
              </a:r>
              <a:r>
                <a:rPr lang="en-US" altLang="zh-CN" sz="1400" dirty="0" smtClean="0">
                  <a:latin typeface="+mj-lt"/>
                </a:rPr>
                <a:t>ray</a:t>
              </a:r>
              <a:endParaRPr lang="zh-CN" altLang="en-US" sz="1400" dirty="0">
                <a:latin typeface="+mj-lt"/>
              </a:endParaRPr>
            </a:p>
          </p:txBody>
        </p:sp>
        <p:sp>
          <p:nvSpPr>
            <p:cNvPr id="48" name="TextBox 47"/>
            <p:cNvSpPr txBox="1">
              <a:spLocks noChangeArrowheads="1"/>
            </p:cNvSpPr>
            <p:nvPr/>
          </p:nvSpPr>
          <p:spPr bwMode="auto">
            <a:xfrm>
              <a:off x="3214688" y="4357688"/>
              <a:ext cx="508527" cy="4767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l-GR" altLang="zh-CN" sz="1400" i="1">
                  <a:latin typeface="+mj-lt"/>
                  <a:cs typeface="Times New Roman" panose="02020603050405020304" pitchFamily="18" charset="0"/>
                </a:rPr>
                <a:t>θ</a:t>
              </a:r>
              <a:r>
                <a:rPr lang="en-US" altLang="zh-CN" sz="1400" i="1" baseline="-25000">
                  <a:latin typeface="+mj-lt"/>
                  <a:cs typeface="Times New Roman" panose="02020603050405020304" pitchFamily="18" charset="0"/>
                </a:rPr>
                <a:t>2</a:t>
              </a:r>
              <a:endParaRPr lang="zh-CN" altLang="en-US" sz="1400" i="1">
                <a:latin typeface="+mj-lt"/>
              </a:endParaRPr>
            </a:p>
          </p:txBody>
        </p:sp>
        <p:sp>
          <p:nvSpPr>
            <p:cNvPr id="49" name="弧形 48"/>
            <p:cNvSpPr/>
            <p:nvPr/>
          </p:nvSpPr>
          <p:spPr bwMode="auto">
            <a:xfrm rot="5400000">
              <a:off x="2786063" y="3500438"/>
              <a:ext cx="857250" cy="857250"/>
            </a:xfrm>
            <a:prstGeom prst="arc">
              <a:avLst>
                <a:gd name="adj1" fmla="val 18792768"/>
                <a:gd name="adj2" fmla="val 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2075" tIns="46038" rIns="92075" bIns="46038" anchor="ctr"/>
            <a:lstStyle/>
            <a:p>
              <a:pPr algn="r" eaLnBrk="0" hangingPunct="0">
                <a:defRPr/>
              </a:pPr>
              <a:endParaRPr lang="zh-CN" altLang="en-US" sz="1400">
                <a:latin typeface="+mj-lt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655224" y="2229423"/>
            <a:ext cx="3591272" cy="2450845"/>
            <a:chOff x="571500" y="1920686"/>
            <a:chExt cx="5143500" cy="3937189"/>
          </a:xfrm>
        </p:grpSpPr>
        <p:cxnSp>
          <p:nvCxnSpPr>
            <p:cNvPr id="44" name="直接连接符 2"/>
            <p:cNvCxnSpPr>
              <a:cxnSpLocks noChangeShapeType="1"/>
            </p:cNvCxnSpPr>
            <p:nvPr/>
          </p:nvCxnSpPr>
          <p:spPr bwMode="auto">
            <a:xfrm>
              <a:off x="571500" y="3571875"/>
              <a:ext cx="5072063" cy="1588"/>
            </a:xfrm>
            <a:prstGeom prst="line">
              <a:avLst/>
            </a:prstGeom>
            <a:noFill/>
            <a:ln w="34925" algn="ctr">
              <a:solidFill>
                <a:schemeClr val="tx1"/>
              </a:solidFill>
              <a:round/>
            </a:ln>
          </p:spPr>
        </p:cxnSp>
        <p:sp>
          <p:nvSpPr>
            <p:cNvPr id="45" name="矩形 44"/>
            <p:cNvSpPr/>
            <p:nvPr/>
          </p:nvSpPr>
          <p:spPr bwMode="auto">
            <a:xfrm>
              <a:off x="571500" y="3571875"/>
              <a:ext cx="5072063" cy="228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49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2075" tIns="46038" rIns="92075" bIns="46038" anchor="ctr"/>
            <a:lstStyle/>
            <a:p>
              <a:pPr algn="r" eaLnBrk="0" hangingPunct="0">
                <a:defRPr/>
              </a:pPr>
              <a:endParaRPr lang="zh-CN" altLang="en-US" sz="1400">
                <a:latin typeface="+mj-lt"/>
              </a:endParaRPr>
            </a:p>
          </p:txBody>
        </p:sp>
        <p:sp>
          <p:nvSpPr>
            <p:cNvPr id="47" name="TextBox 4"/>
            <p:cNvSpPr txBox="1">
              <a:spLocks noChangeArrowheads="1"/>
            </p:cNvSpPr>
            <p:nvPr/>
          </p:nvSpPr>
          <p:spPr bwMode="auto">
            <a:xfrm>
              <a:off x="4286249" y="3643313"/>
              <a:ext cx="1428751" cy="4944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400">
                  <a:latin typeface="+mj-lt"/>
                </a:rPr>
                <a:t>1: Water</a:t>
              </a:r>
              <a:endParaRPr lang="zh-CN" altLang="en-US" sz="1400">
                <a:latin typeface="+mj-lt"/>
              </a:endParaRPr>
            </a:p>
          </p:txBody>
        </p:sp>
        <p:cxnSp>
          <p:nvCxnSpPr>
            <p:cNvPr id="53" name="直接连接符 5"/>
            <p:cNvCxnSpPr>
              <a:cxnSpLocks noChangeShapeType="1"/>
            </p:cNvCxnSpPr>
            <p:nvPr/>
          </p:nvCxnSpPr>
          <p:spPr bwMode="auto">
            <a:xfrm>
              <a:off x="3214689" y="1920686"/>
              <a:ext cx="0" cy="293865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</a:ln>
          </p:spPr>
        </p:cxnSp>
        <p:sp>
          <p:nvSpPr>
            <p:cNvPr id="54" name="TextBox 6"/>
            <p:cNvSpPr txBox="1">
              <a:spLocks noChangeArrowheads="1"/>
            </p:cNvSpPr>
            <p:nvPr/>
          </p:nvSpPr>
          <p:spPr bwMode="auto">
            <a:xfrm>
              <a:off x="3307270" y="1962232"/>
              <a:ext cx="1571625" cy="4944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400" dirty="0">
                  <a:latin typeface="+mj-lt"/>
                </a:rPr>
                <a:t>Normal</a:t>
              </a:r>
              <a:endParaRPr lang="zh-CN" altLang="en-US" sz="1400" dirty="0">
                <a:latin typeface="+mj-lt"/>
              </a:endParaRPr>
            </a:p>
          </p:txBody>
        </p:sp>
        <p:grpSp>
          <p:nvGrpSpPr>
            <p:cNvPr id="55" name="组合 54"/>
            <p:cNvGrpSpPr/>
            <p:nvPr/>
          </p:nvGrpSpPr>
          <p:grpSpPr bwMode="auto">
            <a:xfrm rot="10800000">
              <a:off x="1000125" y="2286000"/>
              <a:ext cx="2214563" cy="1285875"/>
              <a:chOff x="1000100" y="2285992"/>
              <a:chExt cx="2214578" cy="1285884"/>
            </a:xfrm>
          </p:grpSpPr>
          <p:cxnSp>
            <p:nvCxnSpPr>
              <p:cNvPr id="72" name="直接连接符 8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2214578" cy="1285884"/>
              </a:xfrm>
              <a:prstGeom prst="line">
                <a:avLst/>
              </a:prstGeom>
              <a:noFill/>
              <a:ln w="3492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73" name="直接箭头连接符 9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1357322" cy="785818"/>
              </a:xfrm>
              <a:prstGeom prst="straightConnector1">
                <a:avLst/>
              </a:prstGeom>
              <a:noFill/>
              <a:ln w="34925" algn="ctr">
                <a:solidFill>
                  <a:srgbClr val="FF0000"/>
                </a:solidFill>
                <a:round/>
                <a:tailEnd type="arrow" w="med" len="med"/>
              </a:ln>
            </p:spPr>
          </p:cxnSp>
        </p:grpSp>
        <p:sp>
          <p:nvSpPr>
            <p:cNvPr id="57" name="弧形 56"/>
            <p:cNvSpPr/>
            <p:nvPr/>
          </p:nvSpPr>
          <p:spPr bwMode="auto">
            <a:xfrm rot="17429284">
              <a:off x="2711450" y="2997200"/>
              <a:ext cx="914400" cy="914400"/>
            </a:xfrm>
            <a:prstGeom prst="arc">
              <a:avLst>
                <a:gd name="adj1" fmla="val 16200000"/>
                <a:gd name="adj2" fmla="val 20681373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2075" tIns="46038" rIns="92075" bIns="46038" anchor="ctr"/>
            <a:lstStyle/>
            <a:p>
              <a:pPr algn="r" eaLnBrk="0" hangingPunct="0">
                <a:defRPr/>
              </a:pPr>
              <a:endParaRPr lang="zh-CN" altLang="en-US" sz="1400">
                <a:latin typeface="+mj-lt"/>
              </a:endParaRPr>
            </a:p>
          </p:txBody>
        </p:sp>
        <p:sp>
          <p:nvSpPr>
            <p:cNvPr id="59" name="TextBox 58"/>
            <p:cNvSpPr txBox="1">
              <a:spLocks noChangeArrowheads="1"/>
            </p:cNvSpPr>
            <p:nvPr/>
          </p:nvSpPr>
          <p:spPr bwMode="auto">
            <a:xfrm>
              <a:off x="3214688" y="4429125"/>
              <a:ext cx="482590" cy="4944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l-GR" altLang="zh-CN" sz="1400" i="1">
                  <a:latin typeface="+mj-lt"/>
                  <a:cs typeface="Times New Roman" panose="02020603050405020304" pitchFamily="18" charset="0"/>
                </a:rPr>
                <a:t>θ</a:t>
              </a:r>
              <a:r>
                <a:rPr lang="en-US" altLang="zh-CN" sz="1400" i="1" baseline="-25000">
                  <a:latin typeface="+mj-lt"/>
                  <a:cs typeface="Times New Roman" panose="02020603050405020304" pitchFamily="18" charset="0"/>
                </a:rPr>
                <a:t>1</a:t>
              </a:r>
              <a:endParaRPr lang="zh-CN" altLang="en-US" sz="1400" i="1">
                <a:latin typeface="+mj-lt"/>
              </a:endParaRPr>
            </a:p>
          </p:txBody>
        </p:sp>
        <p:grpSp>
          <p:nvGrpSpPr>
            <p:cNvPr id="61" name="组合 15"/>
            <p:cNvGrpSpPr/>
            <p:nvPr/>
          </p:nvGrpSpPr>
          <p:grpSpPr bwMode="auto">
            <a:xfrm rot="5400000">
              <a:off x="1464469" y="4036219"/>
              <a:ext cx="2214563" cy="1285875"/>
              <a:chOff x="1000100" y="2285992"/>
              <a:chExt cx="2214578" cy="1285884"/>
            </a:xfrm>
          </p:grpSpPr>
          <p:cxnSp>
            <p:nvCxnSpPr>
              <p:cNvPr id="70" name="直接连接符 16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2214578" cy="1285884"/>
              </a:xfrm>
              <a:prstGeom prst="line">
                <a:avLst/>
              </a:prstGeom>
              <a:noFill/>
              <a:ln w="3492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71" name="直接箭头连接符 17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1357322" cy="785818"/>
              </a:xfrm>
              <a:prstGeom prst="straightConnector1">
                <a:avLst/>
              </a:prstGeom>
              <a:noFill/>
              <a:ln w="34925" algn="ctr">
                <a:solidFill>
                  <a:srgbClr val="FF0000"/>
                </a:solidFill>
                <a:round/>
                <a:tailEnd type="arrow" w="med" len="med"/>
              </a:ln>
            </p:spPr>
          </p:cxnSp>
        </p:grpSp>
        <p:sp>
          <p:nvSpPr>
            <p:cNvPr id="62" name="TextBox 61"/>
            <p:cNvSpPr txBox="1">
              <a:spLocks noChangeArrowheads="1"/>
            </p:cNvSpPr>
            <p:nvPr/>
          </p:nvSpPr>
          <p:spPr bwMode="auto">
            <a:xfrm>
              <a:off x="2714625" y="4357687"/>
              <a:ext cx="482590" cy="4944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l-GR" altLang="zh-CN" sz="1400" i="1">
                  <a:latin typeface="+mj-lt"/>
                  <a:cs typeface="Times New Roman" panose="02020603050405020304" pitchFamily="18" charset="0"/>
                </a:rPr>
                <a:t>θ</a:t>
              </a:r>
              <a:r>
                <a:rPr lang="en-US" altLang="zh-CN" sz="1400" i="1" baseline="-25000">
                  <a:latin typeface="+mj-lt"/>
                  <a:cs typeface="Times New Roman" panose="02020603050405020304" pitchFamily="18" charset="0"/>
                </a:rPr>
                <a:t>3</a:t>
              </a:r>
              <a:endParaRPr lang="zh-CN" altLang="en-US" sz="1400" i="1">
                <a:latin typeface="+mj-lt"/>
              </a:endParaRPr>
            </a:p>
          </p:txBody>
        </p:sp>
        <p:sp>
          <p:nvSpPr>
            <p:cNvPr id="63" name="弧形 62"/>
            <p:cNvSpPr/>
            <p:nvPr/>
          </p:nvSpPr>
          <p:spPr bwMode="auto">
            <a:xfrm rot="11396165">
              <a:off x="2786063" y="3357563"/>
              <a:ext cx="914400" cy="914400"/>
            </a:xfrm>
            <a:prstGeom prst="arc">
              <a:avLst>
                <a:gd name="adj1" fmla="val 15992815"/>
                <a:gd name="adj2" fmla="val 1881096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2075" tIns="46038" rIns="92075" bIns="46038" anchor="ctr"/>
            <a:lstStyle/>
            <a:p>
              <a:pPr algn="r" eaLnBrk="0" hangingPunct="0">
                <a:defRPr/>
              </a:pPr>
              <a:endParaRPr lang="zh-CN" altLang="en-US" sz="1400">
                <a:latin typeface="+mj-lt"/>
              </a:endParaRPr>
            </a:p>
          </p:txBody>
        </p:sp>
        <p:grpSp>
          <p:nvGrpSpPr>
            <p:cNvPr id="64" name="组合 20"/>
            <p:cNvGrpSpPr/>
            <p:nvPr/>
          </p:nvGrpSpPr>
          <p:grpSpPr bwMode="auto">
            <a:xfrm rot="-8947339">
              <a:off x="2755900" y="4049713"/>
              <a:ext cx="2214563" cy="1285875"/>
              <a:chOff x="1000100" y="2285992"/>
              <a:chExt cx="2214578" cy="1285884"/>
            </a:xfrm>
          </p:grpSpPr>
          <p:cxnSp>
            <p:nvCxnSpPr>
              <p:cNvPr id="68" name="直接连接符 21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2214578" cy="1285884"/>
              </a:xfrm>
              <a:prstGeom prst="line">
                <a:avLst/>
              </a:prstGeom>
              <a:noFill/>
              <a:ln w="3492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69" name="直接箭头连接符 22"/>
              <p:cNvCxnSpPr>
                <a:cxnSpLocks noChangeShapeType="1"/>
              </p:cNvCxnSpPr>
              <p:nvPr/>
            </p:nvCxnSpPr>
            <p:spPr bwMode="auto">
              <a:xfrm>
                <a:off x="1000100" y="2285992"/>
                <a:ext cx="1357322" cy="785818"/>
              </a:xfrm>
              <a:prstGeom prst="straightConnector1">
                <a:avLst/>
              </a:prstGeom>
              <a:noFill/>
              <a:ln w="34925" algn="ctr">
                <a:solidFill>
                  <a:srgbClr val="FF0000"/>
                </a:solidFill>
                <a:round/>
                <a:tailEnd type="arrow" w="med" len="med"/>
              </a:ln>
            </p:spPr>
          </p:cxnSp>
        </p:grpSp>
        <p:sp>
          <p:nvSpPr>
            <p:cNvPr id="65" name="TextBox 64"/>
            <p:cNvSpPr txBox="1">
              <a:spLocks noChangeArrowheads="1"/>
            </p:cNvSpPr>
            <p:nvPr/>
          </p:nvSpPr>
          <p:spPr bwMode="auto">
            <a:xfrm>
              <a:off x="2714625" y="2500312"/>
              <a:ext cx="482590" cy="4944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l-GR" altLang="zh-CN" sz="1400" i="1">
                  <a:latin typeface="+mj-lt"/>
                  <a:cs typeface="Times New Roman" panose="02020603050405020304" pitchFamily="18" charset="0"/>
                </a:rPr>
                <a:t>θ</a:t>
              </a:r>
              <a:r>
                <a:rPr lang="en-US" altLang="zh-CN" sz="1400" i="1" baseline="-25000">
                  <a:latin typeface="+mj-lt"/>
                  <a:cs typeface="Times New Roman" panose="02020603050405020304" pitchFamily="18" charset="0"/>
                </a:rPr>
                <a:t>2</a:t>
              </a:r>
              <a:endParaRPr lang="zh-CN" altLang="en-US" sz="1400" i="1">
                <a:latin typeface="+mj-lt"/>
              </a:endParaRPr>
            </a:p>
          </p:txBody>
        </p:sp>
        <p:sp>
          <p:nvSpPr>
            <p:cNvPr id="66" name="弧形 65"/>
            <p:cNvSpPr/>
            <p:nvPr/>
          </p:nvSpPr>
          <p:spPr bwMode="auto">
            <a:xfrm rot="5400000">
              <a:off x="2786063" y="3429000"/>
              <a:ext cx="857250" cy="857250"/>
            </a:xfrm>
            <a:prstGeom prst="arc">
              <a:avLst>
                <a:gd name="adj1" fmla="val 18792768"/>
                <a:gd name="adj2" fmla="val 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2075" tIns="46038" rIns="92075" bIns="46038" anchor="ctr"/>
            <a:lstStyle/>
            <a:p>
              <a:pPr algn="r" eaLnBrk="0" hangingPunct="0">
                <a:defRPr/>
              </a:pPr>
              <a:endParaRPr lang="zh-CN" altLang="en-US" sz="1400">
                <a:latin typeface="+mj-lt"/>
              </a:endParaRPr>
            </a:p>
          </p:txBody>
        </p:sp>
        <p:sp>
          <p:nvSpPr>
            <p:cNvPr id="67" name="TextBox 25"/>
            <p:cNvSpPr txBox="1">
              <a:spLocks noChangeArrowheads="1"/>
            </p:cNvSpPr>
            <p:nvPr/>
          </p:nvSpPr>
          <p:spPr bwMode="auto">
            <a:xfrm>
              <a:off x="4429125" y="3000375"/>
              <a:ext cx="1071563" cy="4944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400">
                  <a:latin typeface="+mj-lt"/>
                </a:rPr>
                <a:t>2: Air</a:t>
              </a:r>
              <a:endParaRPr lang="zh-CN" altLang="en-US" sz="1400">
                <a:latin typeface="+mj-lt"/>
              </a:endParaRPr>
            </a:p>
          </p:txBody>
        </p:sp>
      </p:grpSp>
      <p:sp>
        <p:nvSpPr>
          <p:cNvPr id="74" name="文字方塊 1"/>
          <p:cNvSpPr txBox="1">
            <a:spLocks noChangeArrowheads="1"/>
          </p:cNvSpPr>
          <p:nvPr/>
        </p:nvSpPr>
        <p:spPr bwMode="auto">
          <a:xfrm>
            <a:off x="219653" y="674622"/>
            <a:ext cx="436513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TW" sz="2000" b="1" dirty="0">
                <a:latin typeface="+mj-lt"/>
              </a:rPr>
              <a:t>Wave speeds </a:t>
            </a:r>
            <a:r>
              <a:rPr lang="en-US" altLang="zh-TW" sz="2000" b="1" dirty="0" smtClean="0">
                <a:latin typeface="+mj-lt"/>
              </a:rPr>
              <a:t>differ </a:t>
            </a:r>
            <a:r>
              <a:rPr lang="en-US" altLang="zh-TW" sz="2000" b="1" dirty="0">
                <a:latin typeface="+mj-lt"/>
              </a:rPr>
              <a:t>in different media</a:t>
            </a:r>
            <a:r>
              <a:rPr lang="en-US" altLang="zh-TW" b="1" dirty="0">
                <a:latin typeface="+mj-lt"/>
              </a:rPr>
              <a:t>.</a:t>
            </a:r>
            <a:endParaRPr lang="en-US" altLang="zh-TW" b="1" dirty="0">
              <a:latin typeface="+mj-lt"/>
            </a:endParaRPr>
          </a:p>
        </p:txBody>
      </p:sp>
      <p:graphicFrame>
        <p:nvGraphicFramePr>
          <p:cNvPr id="75" name="物件 2"/>
          <p:cNvGraphicFramePr>
            <a:graphicFrameLocks noChangeAspect="1"/>
          </p:cNvGraphicFramePr>
          <p:nvPr/>
        </p:nvGraphicFramePr>
        <p:xfrm>
          <a:off x="2565227" y="1070013"/>
          <a:ext cx="948404" cy="699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3" name="Equation" r:id="rId1" imgW="381000" imgH="393700" progId="Equation.DSMT4">
                  <p:embed/>
                </p:oleObj>
              </mc:Choice>
              <mc:Fallback>
                <p:oleObj name="Equation" r:id="rId1" imgW="381000" imgH="393700" progId="Equation.DSMT4">
                  <p:embed/>
                  <p:pic>
                    <p:nvPicPr>
                      <p:cNvPr id="0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227" y="1070013"/>
                        <a:ext cx="948404" cy="6996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字方塊 3"/>
          <p:cNvSpPr txBox="1">
            <a:spLocks noChangeArrowheads="1"/>
          </p:cNvSpPr>
          <p:nvPr/>
        </p:nvSpPr>
        <p:spPr bwMode="auto">
          <a:xfrm>
            <a:off x="384059" y="1191036"/>
            <a:ext cx="232217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TW" sz="2000" dirty="0" smtClean="0">
                <a:latin typeface="+mj-lt"/>
              </a:rPr>
              <a:t>Index </a:t>
            </a:r>
            <a:r>
              <a:rPr lang="en-US" altLang="zh-TW" sz="2000" dirty="0">
                <a:latin typeface="+mj-lt"/>
              </a:rPr>
              <a:t>of </a:t>
            </a:r>
            <a:r>
              <a:rPr lang="en-US" altLang="zh-TW" sz="2000" dirty="0" smtClean="0">
                <a:latin typeface="+mj-lt"/>
              </a:rPr>
              <a:t>refraction:</a:t>
            </a:r>
            <a:endParaRPr lang="en-US" altLang="zh-TW" sz="2000" dirty="0">
              <a:latin typeface="+mj-lt"/>
            </a:endParaRPr>
          </a:p>
        </p:txBody>
      </p:sp>
      <p:graphicFrame>
        <p:nvGraphicFramePr>
          <p:cNvPr id="77" name="物件 4"/>
          <p:cNvGraphicFramePr>
            <a:graphicFrameLocks noChangeAspect="1"/>
          </p:cNvGraphicFramePr>
          <p:nvPr/>
        </p:nvGraphicFramePr>
        <p:xfrm>
          <a:off x="3714841" y="1074732"/>
          <a:ext cx="20637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4" name="Equation" r:id="rId3" imgW="28651200" imgH="10363200" progId="Equation.DSMT4">
                  <p:embed/>
                </p:oleObj>
              </mc:Choice>
              <mc:Fallback>
                <p:oleObj name="Equation" r:id="rId3" imgW="28651200" imgH="10363200" progId="Equation.DSMT4">
                  <p:embed/>
                  <p:pic>
                    <p:nvPicPr>
                      <p:cNvPr id="0" name="物件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841" y="1074732"/>
                        <a:ext cx="2063750" cy="749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60320" y="4745836"/>
          <a:ext cx="28035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5" name="Equation" r:id="rId5" imgW="46024800" imgH="5486400" progId="Equation.DSMT4">
                  <p:embed/>
                </p:oleObj>
              </mc:Choice>
              <mc:Fallback>
                <p:oleObj name="Equation" r:id="rId5" imgW="46024800" imgH="5486400" progId="Equation.DSMT4">
                  <p:embed/>
                  <p:pic>
                    <p:nvPicPr>
                      <p:cNvPr id="0" name="图片 544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0320" y="4745836"/>
                        <a:ext cx="2803525" cy="333375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矩形 77"/>
          <p:cNvSpPr/>
          <p:nvPr/>
        </p:nvSpPr>
        <p:spPr>
          <a:xfrm>
            <a:off x="288409" y="5877272"/>
            <a:ext cx="86808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C00000"/>
                </a:solidFill>
              </a:rPr>
              <a:t>Fermat's Principle</a:t>
            </a:r>
            <a:r>
              <a:rPr lang="en-US" sz="1600" b="1" dirty="0"/>
              <a:t>: </a:t>
            </a:r>
            <a:r>
              <a:rPr lang="en-US" sz="1600" b="1" dirty="0">
                <a:latin typeface="+mj-lt"/>
              </a:rPr>
              <a:t>Light travels between two points along the path that requires the least time, as compared to other nearby paths</a:t>
            </a:r>
            <a:endParaRPr lang="zh-CN" altLang="en-US" sz="1600" b="1" dirty="0">
              <a:latin typeface="+mj-lt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65059" y="4728588"/>
          <a:ext cx="2650976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6" name="Equation" r:id="rId7" imgW="45720000" imgH="5486400" progId="Equation.DSMT4">
                  <p:embed/>
                </p:oleObj>
              </mc:Choice>
              <mc:Fallback>
                <p:oleObj name="Equation" r:id="rId7" imgW="45720000" imgH="54864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059" y="4728588"/>
                        <a:ext cx="2650976" cy="3600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7298925" y="4256469"/>
            <a:ext cx="10470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+mj-lt"/>
              </a:rPr>
              <a:t>Incident ray</a:t>
            </a:r>
            <a:endParaRPr lang="zh-CN" altLang="en-US" sz="1400" dirty="0">
              <a:latin typeface="+mj-lt"/>
            </a:endParaRPr>
          </a:p>
        </p:txBody>
      </p: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4956968" y="2267119"/>
            <a:ext cx="1641331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+mj-lt"/>
              </a:rPr>
              <a:t>Refracted </a:t>
            </a:r>
            <a:r>
              <a:rPr lang="en-US" altLang="zh-CN" sz="1400" dirty="0" smtClean="0">
                <a:latin typeface="+mj-lt"/>
              </a:rPr>
              <a:t>ray</a:t>
            </a:r>
            <a:endParaRPr lang="zh-CN" altLang="en-US" sz="1400" dirty="0"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52702" y="4284364"/>
            <a:ext cx="11480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+mj-lt"/>
              </a:rPr>
              <a:t>Reflected ray</a:t>
            </a:r>
            <a:endParaRPr lang="zh-CN" altLang="en-US" sz="1400" dirty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2702" y="5209527"/>
            <a:ext cx="19209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latin typeface="+mj-lt"/>
              </a:rPr>
              <a:t>Critical angle:</a:t>
            </a:r>
            <a:endParaRPr lang="en-US" altLang="zh-CN" sz="1600" b="1" dirty="0" smtClean="0">
              <a:latin typeface="+mj-lt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internal reflection</a:t>
            </a:r>
            <a:r>
              <a:rPr lang="en-US" altLang="zh-CN" sz="1400" dirty="0" smtClean="0">
                <a:latin typeface="+mj-lt"/>
              </a:rPr>
              <a:t> </a:t>
            </a:r>
            <a:endParaRPr lang="zh-CN" altLang="en-US" sz="1400" dirty="0">
              <a:latin typeface="+mj-lt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946836" y="5131608"/>
          <a:ext cx="2921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7" name="Equation" r:id="rId9" imgW="55778400" imgH="10363200" progId="Equation.DSMT4">
                  <p:embed/>
                </p:oleObj>
              </mc:Choice>
              <mc:Fallback>
                <p:oleObj name="Equation" r:id="rId9" imgW="55778400" imgH="10363200" progId="Equation.DSMT4">
                  <p:embed/>
                  <p:pic>
                    <p:nvPicPr>
                      <p:cNvPr id="0" name="图片 544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46836" y="5131608"/>
                        <a:ext cx="292100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727" y="4157035"/>
            <a:ext cx="2086479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000124" y="4784299"/>
            <a:ext cx="2428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i="1" dirty="0"/>
              <a:t>Brewster’s angle</a:t>
            </a:r>
            <a:endParaRPr lang="zh-CN" altLang="en-US" sz="1800" b="1" i="1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08719"/>
            <a:ext cx="8371911" cy="3096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805264"/>
            <a:ext cx="52768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85750" y="71438"/>
            <a:ext cx="7670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Polarization by </a:t>
            </a:r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reflection—Brewster’s angle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44888" y="4727575"/>
          <a:ext cx="1785937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5" name="Equation" r:id="rId4" imgW="21640800" imgH="10363200" progId="Equation.DSMT4">
                  <p:embed/>
                </p:oleObj>
              </mc:Choice>
              <mc:Fallback>
                <p:oleObj name="Equation" r:id="rId4" imgW="21640800" imgH="10363200" progId="Equation.DSMT4">
                  <p:embed/>
                  <p:pic>
                    <p:nvPicPr>
                      <p:cNvPr id="0" name="图片 522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888" y="4727575"/>
                        <a:ext cx="1785937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3527" y="971555"/>
            <a:ext cx="7776864" cy="333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dirty="0">
                <a:latin typeface="+mj-lt"/>
              </a:rPr>
              <a:t>The critical angle for an </a:t>
            </a:r>
            <a:r>
              <a:rPr lang="en-US" altLang="zh-CN" dirty="0" smtClean="0">
                <a:latin typeface="+mj-lt"/>
              </a:rPr>
              <a:t>air-glass interface </a:t>
            </a:r>
            <a:r>
              <a:rPr lang="en-US" altLang="zh-CN" dirty="0">
                <a:latin typeface="+mj-lt"/>
              </a:rPr>
              <a:t>is </a:t>
            </a:r>
            <a:r>
              <a:rPr lang="en-US" altLang="zh-CN" dirty="0" smtClean="0">
                <a:latin typeface="+mj-lt"/>
              </a:rPr>
              <a:t>29.6˚. </a:t>
            </a:r>
            <a:r>
              <a:rPr lang="en-US" altLang="zh-CN" dirty="0">
                <a:latin typeface="+mj-lt"/>
              </a:rPr>
              <a:t>When a light </a:t>
            </a:r>
            <a:r>
              <a:rPr lang="en-US" altLang="zh-CN" dirty="0" smtClean="0">
                <a:latin typeface="+mj-lt"/>
              </a:rPr>
              <a:t>(nature light) ray </a:t>
            </a:r>
            <a:r>
              <a:rPr lang="en-US" altLang="zh-CN" dirty="0">
                <a:latin typeface="+mj-lt"/>
              </a:rPr>
              <a:t>in air is incident on the interface, the reflected ray </a:t>
            </a:r>
            <a:r>
              <a:rPr lang="en-US" altLang="zh-CN" dirty="0" smtClean="0">
                <a:latin typeface="+mj-lt"/>
              </a:rPr>
              <a:t>can be fully absorbed by a polarizer. </a:t>
            </a:r>
            <a:r>
              <a:rPr lang="en-US" altLang="zh-CN" dirty="0">
                <a:latin typeface="+mj-lt"/>
              </a:rPr>
              <a:t>What is the angle of refraction (</a:t>
            </a:r>
            <a:r>
              <a:rPr lang="zh-CN" altLang="zh-CN" dirty="0">
                <a:latin typeface="+mj-lt"/>
              </a:rPr>
              <a:t>折射角</a:t>
            </a:r>
            <a:r>
              <a:rPr lang="en-US" altLang="zh-CN" dirty="0">
                <a:latin typeface="+mj-lt"/>
              </a:rPr>
              <a:t>) of that ray</a:t>
            </a:r>
            <a:r>
              <a:rPr lang="en-US" altLang="zh-CN" dirty="0" smtClean="0">
                <a:latin typeface="+mj-lt"/>
              </a:rPr>
              <a:t>?</a:t>
            </a:r>
            <a:endParaRPr lang="en-US" altLang="zh-CN" dirty="0" smtClean="0">
              <a:latin typeface="+mj-lt"/>
            </a:endParaRPr>
          </a:p>
          <a:p>
            <a:pPr lvl="0">
              <a:lnSpc>
                <a:spcPct val="130000"/>
              </a:lnSpc>
            </a:pPr>
            <a:endParaRPr lang="zh-CN" altLang="zh-CN" dirty="0">
              <a:latin typeface="+mj-lt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+mj-lt"/>
              </a:rPr>
              <a:t>A) 23.9°</a:t>
            </a:r>
            <a:endParaRPr lang="zh-CN" altLang="zh-CN" dirty="0">
              <a:latin typeface="+mj-lt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+mj-lt"/>
              </a:rPr>
              <a:t>B) 25.7°</a:t>
            </a:r>
            <a:endParaRPr lang="zh-CN" altLang="zh-CN" dirty="0">
              <a:latin typeface="+mj-lt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+mj-lt"/>
              </a:rPr>
              <a:t>C) 25.1°</a:t>
            </a:r>
            <a:endParaRPr lang="zh-CN" altLang="zh-CN" dirty="0">
              <a:latin typeface="+mj-lt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+mj-lt"/>
              </a:rPr>
              <a:t>D) 24.5°</a:t>
            </a:r>
            <a:endParaRPr lang="zh-CN" altLang="zh-CN" dirty="0">
              <a:latin typeface="+mj-lt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+mj-lt"/>
              </a:rPr>
              <a:t>E) 26.3°</a:t>
            </a:r>
            <a:endParaRPr lang="zh-CN" altLang="zh-CN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50" y="71438"/>
            <a:ext cx="7670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Problem 3 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611560" y="3916278"/>
            <a:ext cx="1008112" cy="28803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75965" y="2205355"/>
            <a:ext cx="4947285" cy="3610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ags/tag1.xml><?xml version="1.0" encoding="utf-8"?>
<p:tagLst xmlns:p="http://schemas.openxmlformats.org/presentationml/2006/main">
  <p:tag name="ORIGINALHEIGHT" val="1298.25"/>
  <p:tag name="ORIGINALWIDTH" val="2748.75"/>
  <p:tag name="LATEXADDIN" val="\documentclass{article}&#10;\usepackage{amsmath}&#10;\pagestyle{empty}&#10;\begin{document}&#10;&#10;\begin{equation}&#10;\nonumber&#10;\left\{&#10;\begin{aligned}&#10;&amp;\oint_{\mathbf{A} = \partial V} &#10;  \mathbf{E} \cdot \mathrm{d}\mathbf{A}&#10;  = \frac{q_{\mathrm{enc}}}{\varepsilon_0}\\&#10;&amp;\oint_{\mathbf{A} = \partial V} &#10;  \mathbf{B} \cdot \mathrm{d}\mathbf{A} &#10;  = 0\\&#10;&amp;\oint_{\mathbf{l} = \partial \mathbf{A}}&#10;  \mathbf{E} \cdot \mathrm{d}\mathbf{l}&#10;  = -\frac{\mathrm{d}}{\mathrm{d}t} \int_{\mathbf{A}} &#10;  \mathbf{B} \cdot \mathrm{d}\mathbf{A}\\&#10;&amp;\oint_{\mathbf{l} = \partial \mathbf{A}}&#10;  \mathbf{B} \cdot \mathrm{d}\mathbf{l}&#10;  = \mu_0 \left( \int_{\mathbf{A}} \mathbf{J} \cdot \mathrm{d}\mathbf{A} +&#10;  \varepsilon_0 \frac{\mathrm{d}}{\mathrm{d}t} \int_{\mathbf{A}} &#10;  \mathbf{E} \cdot \mathrm{d}\mathbf{A} \right)\\&#10;\end{aligned}&#10;\right.&#10;\end{equation}&#10;&#10;&#10;\end{document}"/>
  <p:tag name="IGUANATEXSIZE" val="20"/>
  <p:tag name="IGUANATEXCURSOR" val="774"/>
</p:tagLst>
</file>

<file path=ppt/tags/tag2.xml><?xml version="1.0" encoding="utf-8"?>
<p:tagLst xmlns:p="http://schemas.openxmlformats.org/presentationml/2006/main">
  <p:tag name="ORIGINALHEIGHT" val="373.5"/>
  <p:tag name="ORIGINALWIDTH" val="1236"/>
  <p:tag name="LATEXADDIN" val="\documentclass{article}&#10;\usepackage{amsmath}&#10;\pagestyle{empty}&#10;\begin{document}&#10;&#10;\begin{equation}&#10;\nonumber&#10;\left\{&#10;\begin{aligned}&#10;E &amp;= E_m \sin (kx - \omega t)\\&#10;B &amp;= B_m \sin (kx - \omega t)\\&#10;\end{aligned}&#10;\right.&#10;\end{equation}&#10;&#10;\end{document}"/>
  <p:tag name="IGUANATEXSIZE" val="20"/>
  <p:tag name="IGUANATEXCURSOR" val="170"/>
</p:tagLst>
</file>

<file path=ppt/tags/tag3.xml><?xml version="1.0" encoding="utf-8"?>
<p:tagLst xmlns:p="http://schemas.openxmlformats.org/presentationml/2006/main">
  <p:tag name="ORIGINALHEIGHT" val="280.5"/>
  <p:tag name="ORIGINALWIDTH" val="2331.75"/>
  <p:tag name="LATEXADDIN" val="\documentclass{article}&#10;\usepackage{amsmath}&#10;\pagestyle{empty}&#10;\begin{document}&#10;&#10;\begin{equation}&#10;\nonumber&#10;I = \langle S \rangle = \frac{1}{c\mu_0} \langle E^2 \rangle&#10;= \frac{1}{2c\mu_0} E_m^2 = \frac{1}{c\mu_0} E_{\mathrm{rms}}^2.&#10;\end{equation}&#10;&#10;&#10;\end{document}"/>
  <p:tag name="IGUANATEXSIZE" val="20"/>
  <p:tag name="IGUANATEXCURSOR" val="233"/>
</p:tagLst>
</file>

<file path=ppt/tags/tag4.xml><?xml version="1.0" encoding="utf-8"?>
<p:tagLst xmlns:p="http://schemas.openxmlformats.org/presentationml/2006/main">
  <p:tag name="KSO_WM_BEAUTIFY_FLAG" val=""/>
  <p:tag name="KSO_WM_UNIT_PLACING_PICTURE_USER_VIEWPORT" val="{&quot;height&quot;:7290,&quot;width&quot;:9990}"/>
</p:tagLst>
</file>

<file path=ppt/tags/tag5.xml><?xml version="1.0" encoding="utf-8"?>
<p:tagLst xmlns:p="http://schemas.openxmlformats.org/presentationml/2006/main">
  <p:tag name="COMMONDATA" val="eyJoZGlkIjoiODUyOTQ0OTk3NTlkMzE4NjczZGEzZTE5NTY1ZjEwODgifQ=="/>
  <p:tag name="KSO_WPP_MARK_KEY" val="733b59b3-fb70-43ad-b63b-66761e8727fa"/>
  <p:tag name="commondata" val="eyJoZGlkIjoiMzI2YjcyNGM2MzE4YjNhNGNjOWExM2JhZjVlNjM4OD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MS PGothic"/>
        <a:cs typeface=""/>
      </a:majorFont>
      <a:minorFont>
        <a:latin typeface="Arial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2075" tIns="46038" rIns="92075" bIns="46038" numCol="1" anchor="ctr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2075" tIns="46038" rIns="92075" bIns="46038" numCol="1" anchor="ctr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3867</Words>
  <Application>WPS 演示</Application>
  <PresentationFormat>全屏显示(4:3)</PresentationFormat>
  <Paragraphs>198</Paragraphs>
  <Slides>15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15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MS PGothic</vt:lpstr>
      <vt:lpstr>Times</vt:lpstr>
      <vt:lpstr>Cambria Math</vt:lpstr>
      <vt:lpstr>Cambria Math</vt:lpstr>
      <vt:lpstr>Times New Roman</vt:lpstr>
      <vt:lpstr>PMingLiU</vt:lpstr>
      <vt:lpstr>微软雅黑</vt:lpstr>
      <vt:lpstr>Arial Unicode MS</vt:lpstr>
      <vt:lpstr>Calibri</vt:lpstr>
      <vt:lpstr>Office 主题</vt:lpstr>
      <vt:lpstr>C6eActiveLectureQuestions</vt:lpstr>
      <vt:lpstr>1_C6eActiveLectureQuestions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</dc:creator>
  <cp:lastModifiedBy>若风</cp:lastModifiedBy>
  <cp:revision>257</cp:revision>
  <cp:lastPrinted>2023-04-19T01:13:00Z</cp:lastPrinted>
  <dcterms:created xsi:type="dcterms:W3CDTF">2014-04-24T05:25:00Z</dcterms:created>
  <dcterms:modified xsi:type="dcterms:W3CDTF">2024-05-07T08:31:58Z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669ED5C8B37F4498BAC41DC85D626D32_12</vt:lpwstr>
  </property>
  <property fmtid="{D5CDD505-2E9C-101B-9397-08002B2CF9AE}" pid="3" name="KSOProductBuildVer">
    <vt:lpwstr>2052-12.1.0.16729</vt:lpwstr>
  </property>
</Properties>
</file>