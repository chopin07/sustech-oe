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7" r:id="rId3"/>
    <p:sldId id="274" r:id="rId4"/>
    <p:sldId id="271" r:id="rId5"/>
    <p:sldId id="272" r:id="rId6"/>
    <p:sldId id="273" r:id="rId7"/>
    <p:sldId id="275" r:id="rId8"/>
    <p:sldId id="260" r:id="rId9"/>
    <p:sldId id="261" r:id="rId10"/>
    <p:sldId id="264" r:id="rId11"/>
    <p:sldId id="265" r:id="rId12"/>
    <p:sldId id="267" r:id="rId13"/>
    <p:sldId id="270" r:id="rId14"/>
  </p:sldIdLst>
  <p:sldSz cx="9144000" cy="6858000" type="screen4x3"/>
  <p:notesSz cx="9931400" cy="68199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44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5495" y="0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0449B-F7DA-4C3D-AC6B-77159A3CCC5E}" type="datetimeFigureOut">
              <a:rPr lang="zh-CN" altLang="en-US" smtClean="0"/>
              <a:t>2024/6/11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77722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5495" y="6477722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465B67-F554-4C98-B3A0-3BB1219CFD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5495" y="0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50EE8-8745-4F21-801C-62A4DC04011B}" type="datetimeFigureOut">
              <a:rPr lang="zh-CN" altLang="en-US" smtClean="0"/>
              <a:t>2024/6/11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0725" y="511175"/>
            <a:ext cx="3409950" cy="2557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3140" y="3239452"/>
            <a:ext cx="7945120" cy="30689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77722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5495" y="6477722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CF5AD-56E6-4A17-A876-E0A4064F6D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ch31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this chapter, we discussed three</a:t>
            </a:r>
            <a:r>
              <a:rPr lang="en-US" altLang="zh-CN" baseline="0" dirty="0"/>
              <a:t> kinds of circuits. The first one, LC oscillator, for example, here has a capacitor with initial charge q0, then we connect it to a inductor at time t=0, so at time t=0, the electric energy storied in capacitor is , because there is no current in the circuit at this moment, so the magnetic energy storied in inductor is 0, so the total energy in this circuit is this, is a constant, because no energy dispassion, so ,we have , and the solution is----, here this w is so called nature frequency.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Second circuit is damping oscillator, here energy is dissipated by the resistor with power I2r, the solution is this.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And the last circuit is this, the force oscillator. We use another method, Phasor, to solve this circuit.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use phasor to describe the time-varying</a:t>
            </a:r>
            <a:r>
              <a:rPr lang="en-US" altLang="zh-CN" baseline="0" dirty="0"/>
              <a:t> quantities, phasors are vectors that rotate around an origin, for example, this is a phasor 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28600" y="685800"/>
            <a:ext cx="4229100" cy="325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685800"/>
            <a:ext cx="4229100" cy="325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76200"/>
            <a:ext cx="2152650" cy="38687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76200"/>
            <a:ext cx="6305550" cy="38687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ch31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76200"/>
            <a:ext cx="85344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0" y="6613525"/>
            <a:ext cx="9144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en-US" sz="1000">
                <a:solidFill>
                  <a:srgbClr val="000000"/>
                </a:solidFill>
                <a:latin typeface="Times New Roman" panose="02020603050405020304" pitchFamily="18" charset="0"/>
              </a:rPr>
              <a:t>   General Physics II, SUSTC                                                                                                                                                                                                                Ch 29  -  </a:t>
            </a:r>
            <a:fld id="{9093E9C4-5E3C-4458-96EB-249E67D40135}" type="slidenum">
              <a:rPr lang="en-US" sz="1000" smtClean="0">
                <a:solidFill>
                  <a:srgbClr val="000000"/>
                </a:solidFill>
                <a:latin typeface="Times New Roman" panose="02020603050405020304" pitchFamily="18" charset="0"/>
              </a:rPr>
              <a:t>‹#›</a:t>
            </a:fld>
            <a:endParaRPr 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" name="Line 5"/>
          <p:cNvSpPr>
            <a:spLocks noChangeShapeType="1"/>
          </p:cNvSpPr>
          <p:nvPr/>
        </p:nvSpPr>
        <p:spPr bwMode="auto">
          <a:xfrm>
            <a:off x="179388" y="6597650"/>
            <a:ext cx="8785225" cy="0"/>
          </a:xfrm>
          <a:prstGeom prst="line">
            <a:avLst/>
          </a:prstGeom>
          <a:noFill/>
          <a:ln w="25400">
            <a:solidFill>
              <a:srgbClr val="00487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179388" y="620713"/>
            <a:ext cx="8785225" cy="0"/>
          </a:xfrm>
          <a:prstGeom prst="line">
            <a:avLst/>
          </a:prstGeom>
          <a:noFill/>
          <a:ln w="50800">
            <a:solidFill>
              <a:srgbClr val="00487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0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685800"/>
            <a:ext cx="8610600" cy="325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1"/>
            <a:r>
              <a:rPr lang="en-US" altLang="zh-CN"/>
              <a:t>Click to edit Master text styles</a:t>
            </a:r>
          </a:p>
          <a:p>
            <a:pPr lvl="2"/>
            <a:r>
              <a:rPr lang="en-US" altLang="zh-CN"/>
              <a:t>Second level</a:t>
            </a:r>
          </a:p>
          <a:p>
            <a:pPr lvl="3"/>
            <a:r>
              <a:rPr lang="en-US" altLang="zh-CN"/>
              <a:t>Third level</a:t>
            </a:r>
          </a:p>
          <a:p>
            <a:pPr lvl="4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+mj-lt"/>
          <a:ea typeface="+mj-ea"/>
          <a:cs typeface="+mj-cs"/>
        </a:defRPr>
      </a:lvl1pPr>
      <a:lvl2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2pPr>
      <a:lvl3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3pPr>
      <a:lvl4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4pPr>
      <a:lvl5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5pPr>
      <a:lvl6pPr marL="9080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6pPr>
      <a:lvl7pPr marL="13652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7pPr>
      <a:lvl8pPr marL="18224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8pPr>
      <a:lvl9pPr marL="22796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40005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•"/>
        <a:defRPr sz="3000">
          <a:solidFill>
            <a:schemeClr val="tx1"/>
          </a:solidFill>
          <a:latin typeface="+mj-lt"/>
          <a:ea typeface="+mn-ea"/>
        </a:defRPr>
      </a:lvl2pPr>
      <a:lvl3pPr marL="1254125" indent="-45085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800">
          <a:solidFill>
            <a:schemeClr val="tx1"/>
          </a:solidFill>
          <a:latin typeface="+mj-lt"/>
          <a:ea typeface="+mn-ea"/>
        </a:defRPr>
      </a:lvl3pPr>
      <a:lvl4pPr marL="1828800" indent="-34290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•"/>
        <a:defRPr sz="2600">
          <a:solidFill>
            <a:schemeClr val="tx1"/>
          </a:solidFill>
          <a:latin typeface="+mj-lt"/>
          <a:ea typeface="+mn-ea"/>
        </a:defRPr>
      </a:lvl4pPr>
      <a:lvl5pPr marL="22860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5pPr>
      <a:lvl6pPr marL="27432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6pPr>
      <a:lvl7pPr marL="32004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7pPr>
      <a:lvl8pPr marL="36576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8pPr>
      <a:lvl9pPr marL="41148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5.w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2.bin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5" Type="http://schemas.openxmlformats.org/officeDocument/2006/relationships/image" Target="../media/image14.wmf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2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8.w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3.png"/><Relationship Id="rId11" Type="http://schemas.openxmlformats.org/officeDocument/2006/relationships/oleObject" Target="../embeddings/oleObject7.bin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jpe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9.png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0" Type="http://schemas.openxmlformats.org/officeDocument/2006/relationships/image" Target="../media/image46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eg"/><Relationship Id="rId3" Type="http://schemas.openxmlformats.org/officeDocument/2006/relationships/image" Target="../media/image58.jpeg"/><Relationship Id="rId7" Type="http://schemas.openxmlformats.org/officeDocument/2006/relationships/image" Target="../media/image62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10" Type="http://schemas.openxmlformats.org/officeDocument/2006/relationships/image" Target="../media/image65.jpeg"/><Relationship Id="rId4" Type="http://schemas.openxmlformats.org/officeDocument/2006/relationships/image" Target="../media/image59.jpeg"/><Relationship Id="rId9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jpeg"/><Relationship Id="rId7" Type="http://schemas.openxmlformats.org/officeDocument/2006/relationships/image" Target="../media/image71.pn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0.png"/><Relationship Id="rId5" Type="http://schemas.openxmlformats.org/officeDocument/2006/relationships/image" Target="../media/image69.jpeg"/><Relationship Id="rId10" Type="http://schemas.openxmlformats.org/officeDocument/2006/relationships/image" Target="../media/image74.png"/><Relationship Id="rId4" Type="http://schemas.openxmlformats.org/officeDocument/2006/relationships/image" Target="../media/image68.jpeg"/><Relationship Id="rId9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2459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Review of Ch31</a:t>
            </a:r>
          </a:p>
        </p:txBody>
      </p:sp>
      <p:sp>
        <p:nvSpPr>
          <p:cNvPr id="3082" name="Text Box 11"/>
          <p:cNvSpPr txBox="1">
            <a:spLocks noChangeArrowheads="1"/>
          </p:cNvSpPr>
          <p:nvPr/>
        </p:nvSpPr>
        <p:spPr bwMode="auto">
          <a:xfrm>
            <a:off x="3781425" y="160338"/>
            <a:ext cx="1511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Key words 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3528" y="577554"/>
                <a:ext cx="3960440" cy="512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Electromagnetic  Oscillations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LC Oscillations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Damped oscillations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Driven/forced oscillations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Natural angular frequency(</a:t>
                </a:r>
                <a14:m>
                  <m:oMath xmlns:m="http://schemas.openxmlformats.org/officeDocument/2006/math">
                    <m:r>
                      <a:rPr lang="zh-CN" altLang="en-US" sz="2200" b="1" i="1" smtClean="0">
                        <a:latin typeface="Cambria Math" panose="02040503050406030204"/>
                        <a:cs typeface="Times New Roman" panose="02020603050405020304" pitchFamily="18" charset="0"/>
                      </a:rPr>
                      <m:t>𝝎</m:t>
                    </m:r>
                  </m:oMath>
                </a14:m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 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Driving angular frequency(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200" b="1" i="1" smtClean="0"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200" b="1" i="1" smtClean="0"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𝒅</m:t>
                        </m:r>
                      </m:sub>
                    </m:sSub>
                  </m:oMath>
                </a14:m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Electromagnetic energy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AC  alternating current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DC  direct current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b="1" dirty="0">
                    <a:latin typeface="+mj-lt"/>
                    <a:cs typeface="Times New Roman" panose="02020603050405020304" pitchFamily="18" charset="0"/>
                  </a:rPr>
                  <a:t>Resonance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77554"/>
                <a:ext cx="3960440" cy="5124480"/>
              </a:xfrm>
              <a:prstGeom prst="rect">
                <a:avLst/>
              </a:prstGeom>
              <a:blipFill rotWithShape="1">
                <a:blip r:embed="rId3"/>
                <a:stretch>
                  <a:fillRect l="-8" t="-7" r="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709259" y="582800"/>
                <a:ext cx="4111332" cy="5170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200" b="1" dirty="0" err="1">
                    <a:latin typeface="+mj-lt"/>
                    <a:cs typeface="Times New Roman" panose="02020603050405020304" pitchFamily="18" charset="0"/>
                  </a:rPr>
                  <a:t>Phasor</a:t>
                </a: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 diagram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Capacitive  reactance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Inductive  reactance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Impedance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Phase constant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Root-mean-square(</a:t>
                </a:r>
                <a:r>
                  <a:rPr lang="en-US" altLang="zh-CN" sz="2200" b="1" dirty="0" err="1">
                    <a:latin typeface="+mj-lt"/>
                    <a:cs typeface="Times New Roman" panose="02020603050405020304" pitchFamily="18" charset="0"/>
                  </a:rPr>
                  <a:t>rms</a:t>
                </a: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Power factor(</a:t>
                </a:r>
                <a14:m>
                  <m:oMath xmlns:m="http://schemas.openxmlformats.org/officeDocument/2006/math">
                    <m:r>
                      <a:rPr lang="en-US" altLang="zh-CN" sz="2200" b="1" i="1" smtClean="0">
                        <a:latin typeface="Cambria Math" panose="02040503050406030204"/>
                        <a:cs typeface="Times New Roman" panose="02020603050405020304" pitchFamily="18" charset="0"/>
                      </a:rPr>
                      <m:t>𝒄𝒐𝒔</m:t>
                    </m:r>
                    <m:r>
                      <a:rPr lang="zh-CN" altLang="en-US" sz="2200" b="1" i="1" dirty="0">
                        <a:latin typeface="Cambria Math" panose="02040503050406030204"/>
                        <a:ea typeface="Cambria Math" panose="02040503050406030204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Transformer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Primary winding(primary)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b="1" dirty="0">
                    <a:latin typeface="+mj-lt"/>
                    <a:cs typeface="Times New Roman" panose="02020603050405020304" pitchFamily="18" charset="0"/>
                  </a:rPr>
                  <a:t>Secondary winding(secondary)</a:t>
                </a:r>
                <a:endParaRPr lang="zh-CN" altLang="en-US" sz="22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259" y="582800"/>
                <a:ext cx="4111332" cy="5170646"/>
              </a:xfrm>
              <a:prstGeom prst="rect">
                <a:avLst/>
              </a:prstGeom>
              <a:blipFill rotWithShape="1">
                <a:blip r:embed="rId4"/>
                <a:stretch>
                  <a:fillRect l="-2" t="-10" r="11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596455" y="6625276"/>
            <a:ext cx="122413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Ch31-1</a:t>
            </a:r>
            <a:endParaRPr lang="zh-CN" alt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2459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Review of Ch31</a:t>
            </a:r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3781423" y="160338"/>
            <a:ext cx="511105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LC oscillator  and  Damped oscillator       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25" y="1198057"/>
            <a:ext cx="1571625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716" y="689164"/>
            <a:ext cx="2857500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455" y="689164"/>
            <a:ext cx="2880321" cy="1866206"/>
          </a:xfrm>
          <a:prstGeom prst="rect">
            <a:avLst/>
          </a:prstGeom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6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055" y="3143859"/>
            <a:ext cx="17859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7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412" y="3053464"/>
            <a:ext cx="10001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876256" y="2989389"/>
            <a:ext cx="21607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b="1" i="1" dirty="0">
                <a:latin typeface="+mj-lt"/>
              </a:rPr>
              <a:t>q : instantaneous value</a:t>
            </a:r>
          </a:p>
          <a:p>
            <a:pPr>
              <a:defRPr/>
            </a:pPr>
            <a:r>
              <a:rPr lang="en-US" altLang="zh-CN" sz="1600" b="1" i="1" dirty="0">
                <a:latin typeface="+mj-lt"/>
              </a:rPr>
              <a:t>Q : the amplitudes</a:t>
            </a:r>
            <a:endParaRPr lang="zh-CN" altLang="en-US" sz="1600" b="1" i="1" dirty="0">
              <a:latin typeface="+mj-lt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8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66" y="717392"/>
            <a:ext cx="10001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9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717032"/>
            <a:ext cx="2655887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592" y="3744738"/>
            <a:ext cx="2501900" cy="192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278" y="3972878"/>
            <a:ext cx="1162786" cy="37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1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326" y="3861048"/>
            <a:ext cx="2873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7"/>
          <p:cNvPicPr>
            <a:picLocks noChangeAspect="1" noChangeArrowheads="1"/>
          </p:cNvPicPr>
          <p:nvPr/>
        </p:nvPicPr>
        <p:blipFill>
          <a:blip r:embed="rId13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639" y="4484588"/>
            <a:ext cx="200025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605" y="4929336"/>
            <a:ext cx="10001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6112471" y="5625564"/>
            <a:ext cx="2643188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1" i="1" dirty="0">
                <a:latin typeface="+mj-lt"/>
              </a:rPr>
              <a:t>If R→0, </a:t>
            </a:r>
            <a:r>
              <a:rPr lang="el-GR" altLang="zh-CN" sz="2000" b="1" i="1" dirty="0">
                <a:latin typeface="+mj-lt"/>
                <a:cs typeface="Times New Roman" panose="02020603050405020304"/>
              </a:rPr>
              <a:t>ω</a:t>
            </a:r>
            <a:r>
              <a:rPr lang="en-US" altLang="zh-CN" sz="2000" b="1" i="1" baseline="30000" dirty="0">
                <a:latin typeface="+mj-lt"/>
                <a:cs typeface="Times New Roman" panose="02020603050405020304"/>
              </a:rPr>
              <a:t>’ </a:t>
            </a:r>
            <a:r>
              <a:rPr lang="en-US" altLang="zh-CN" sz="2000" b="1" i="1" dirty="0">
                <a:latin typeface="+mj-lt"/>
              </a:rPr>
              <a:t>→ </a:t>
            </a:r>
            <a:r>
              <a:rPr lang="el-GR" altLang="zh-CN" sz="2000" b="1" i="1" dirty="0">
                <a:latin typeface="+mj-lt"/>
                <a:cs typeface="Times New Roman" panose="02020603050405020304"/>
              </a:rPr>
              <a:t>ω</a:t>
            </a:r>
            <a:endParaRPr lang="zh-CN" altLang="en-US" sz="2000" b="1" i="1" dirty="0">
              <a:latin typeface="+mj-lt"/>
            </a:endParaRPr>
          </a:p>
        </p:txBody>
      </p:sp>
      <p:cxnSp>
        <p:nvCxnSpPr>
          <p:cNvPr id="20" name="直接连接符 19"/>
          <p:cNvCxnSpPr/>
          <p:nvPr/>
        </p:nvCxnSpPr>
        <p:spPr bwMode="auto">
          <a:xfrm>
            <a:off x="0" y="3717032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135889" y="6611779"/>
            <a:ext cx="1008111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Ch31-2</a:t>
            </a:r>
            <a:endParaRPr lang="zh-CN" altLang="en-US" sz="1000" dirty="0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06203" y="3008862"/>
          <a:ext cx="2802255" cy="609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072800" imgH="10668000" progId="Equation.DSMT4">
                  <p:embed/>
                </p:oleObj>
              </mc:Choice>
              <mc:Fallback>
                <p:oleObj name="Equation" r:id="rId14" imgW="49072800" imgH="10668000" progId="Equation.DSMT4">
                  <p:embed/>
                  <p:pic>
                    <p:nvPicPr>
                      <p:cNvPr id="0" name="图片 514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6203" y="3008862"/>
                        <a:ext cx="2802255" cy="6099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右箭头 20"/>
          <p:cNvSpPr/>
          <p:nvPr/>
        </p:nvSpPr>
        <p:spPr bwMode="auto">
          <a:xfrm>
            <a:off x="3144105" y="3168944"/>
            <a:ext cx="489204" cy="31305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45849" y="5728751"/>
          <a:ext cx="551656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6621600" imgH="10363200" progId="Equation.DSMT4">
                  <p:embed/>
                </p:oleObj>
              </mc:Choice>
              <mc:Fallback>
                <p:oleObj name="Equation" r:id="rId16" imgW="96621600" imgH="10363200" progId="Equation.DSMT4">
                  <p:embed/>
                  <p:pic>
                    <p:nvPicPr>
                      <p:cNvPr id="0" name="图片 5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849" y="5728751"/>
                        <a:ext cx="551656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右箭头 22"/>
          <p:cNvSpPr/>
          <p:nvPr/>
        </p:nvSpPr>
        <p:spPr bwMode="auto">
          <a:xfrm rot="17370525">
            <a:off x="4972761" y="4917183"/>
            <a:ext cx="1664070" cy="26488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16722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Problem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73147" y="6611779"/>
            <a:ext cx="108012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Ch31-7</a:t>
            </a:r>
            <a:endParaRPr lang="zh-CN" alt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763101" y="954589"/>
                <a:ext cx="7553315" cy="24929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altLang="zh-CN" sz="2000" dirty="0">
                    <a:latin typeface="+mj-lt"/>
                  </a:rPr>
                  <a:t>In Fig,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/>
                        <a:ea typeface="Cambria Math" panose="02040503050406030204"/>
                      </a:rPr>
                      <m:t>R</m:t>
                    </m:r>
                    <m:r>
                      <a:rPr lang="en-US" altLang="zh-CN" sz="2000" b="0" i="0" smtClean="0">
                        <a:latin typeface="Cambria Math" panose="02040503050406030204"/>
                        <a:ea typeface="Cambria Math" panose="02040503050406030204"/>
                      </a:rPr>
                      <m:t>=17.0</m:t>
                    </m:r>
                    <m:r>
                      <m:rPr>
                        <m:sty m:val="p"/>
                      </m:rPr>
                      <a:rPr lang="el-GR" altLang="zh-CN" sz="2000" i="1" smtClean="0">
                        <a:latin typeface="Cambria Math" panose="02040503050406030204"/>
                        <a:ea typeface="Cambria Math" panose="02040503050406030204"/>
                      </a:rPr>
                      <m:t>Ω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=6.20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𝑚𝐹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𝑤𝑖𝑡h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𝑖𝑛𝑖𝑡𝑖𝑎𝑙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𝑐h𝑎𝑟𝑔𝑒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𝑄</m:t>
                    </m:r>
                    <m:r>
                      <a:rPr lang="en-US" altLang="zh-CN" sz="2000" b="0" i="1" baseline="-25000" smtClean="0">
                        <a:latin typeface="Cambria Math" panose="02040503050406030204"/>
                        <a:ea typeface="Cambria Math" panose="02040503050406030204"/>
                      </a:rPr>
                      <m:t>0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=36.6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𝑚𝐶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, </m:t>
                    </m:r>
                  </m:oMath>
                </a14:m>
                <a:endParaRPr lang="en-US" altLang="zh-CN" sz="2000" b="0" i="1" dirty="0">
                  <a:latin typeface="+mj-lt"/>
                  <a:ea typeface="Cambria Math" panose="02040503050406030204"/>
                </a:endParaRPr>
              </a:p>
              <a:p>
                <a:pPr algn="just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𝐿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=54.0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𝑚𝐻</m:t>
                    </m:r>
                    <m:r>
                      <a:rPr lang="en-US" altLang="zh-CN" sz="2000" b="0" i="1" smtClean="0">
                        <a:latin typeface="Cambria Math" panose="02040503050406030204"/>
                        <a:ea typeface="Cambria Math" panose="02040503050406030204"/>
                      </a:rPr>
                      <m:t>, </m:t>
                    </m:r>
                  </m:oMath>
                </a14:m>
                <a:r>
                  <a:rPr lang="en-US" altLang="zh-CN" sz="2000" dirty="0">
                    <a:latin typeface="+mj-lt"/>
                  </a:rPr>
                  <a:t>and the ideal battery has </a:t>
                </a:r>
                <a:r>
                  <a:rPr lang="en-US" altLang="zh-CN" sz="2000" dirty="0" err="1">
                    <a:latin typeface="+mj-lt"/>
                  </a:rPr>
                  <a:t>emf</a:t>
                </a:r>
                <a:r>
                  <a:rPr lang="en-US" altLang="zh-CN" sz="2000" dirty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/>
                      </a:rPr>
                      <m:t>𝜀</m:t>
                    </m:r>
                    <m:r>
                      <a:rPr lang="en-US" altLang="zh-CN" sz="2000" b="0" i="1" smtClean="0">
                        <a:latin typeface="Cambria Math" panose="02040503050406030204"/>
                      </a:rPr>
                      <m:t>=34.0</m:t>
                    </m:r>
                    <m:r>
                      <a:rPr lang="en-US" altLang="zh-CN" sz="2000" b="0" i="1" smtClean="0">
                        <a:latin typeface="Cambria Math" panose="02040503050406030204"/>
                      </a:rPr>
                      <m:t>𝑉</m:t>
                    </m:r>
                    <m:r>
                      <a:rPr lang="en-US" altLang="zh-CN" sz="2000" b="0" i="1" smtClean="0">
                        <a:latin typeface="Cambria Math" panose="02040503050406030204"/>
                      </a:rPr>
                      <m:t>. </m:t>
                    </m:r>
                  </m:oMath>
                </a14:m>
                <a:r>
                  <a:rPr lang="en-US" altLang="zh-CN" sz="2000" dirty="0">
                    <a:latin typeface="+mj-lt"/>
                  </a:rPr>
                  <a:t>The switch is kept at </a:t>
                </a:r>
                <a:r>
                  <a:rPr lang="en-US" altLang="zh-CN" sz="2000" i="1" dirty="0">
                    <a:latin typeface="+mj-lt"/>
                  </a:rPr>
                  <a:t>a </a:t>
                </a:r>
                <a:r>
                  <a:rPr lang="en-US" altLang="zh-CN" sz="2000" dirty="0">
                    <a:latin typeface="+mj-lt"/>
                  </a:rPr>
                  <a:t>for a long time and then thrown to position </a:t>
                </a:r>
                <a:r>
                  <a:rPr lang="en-US" altLang="zh-CN" sz="2000" i="1" dirty="0">
                    <a:latin typeface="+mj-lt"/>
                  </a:rPr>
                  <a:t>b at t = 0 </a:t>
                </a:r>
                <a:r>
                  <a:rPr lang="en-US" altLang="zh-CN" sz="2000" dirty="0">
                    <a:latin typeface="+mj-lt"/>
                  </a:rPr>
                  <a:t>(Assuming this process has been finished instantaneously</a:t>
                </a:r>
                <a:r>
                  <a:rPr lang="en-US" altLang="zh-CN" sz="2000" dirty="0"/>
                  <a:t> </a:t>
                </a:r>
                <a:r>
                  <a:rPr lang="en-US" altLang="zh-CN" sz="2000" dirty="0">
                    <a:latin typeface="+mj-lt"/>
                  </a:rPr>
                  <a:t>so that the current through the inductor keeps </a:t>
                </a:r>
                <a:r>
                  <a:rPr lang="en-US" altLang="zh-CN" sz="2000" dirty="0" err="1">
                    <a:latin typeface="+mj-lt"/>
                  </a:rPr>
                  <a:t>unchange</a:t>
                </a:r>
                <a:r>
                  <a:rPr lang="en-US" altLang="zh-CN" sz="2000" dirty="0">
                    <a:latin typeface="+mj-lt"/>
                  </a:rPr>
                  <a:t> at this moment). Find the expression of the charge </a:t>
                </a:r>
                <a:r>
                  <a:rPr lang="en-US" altLang="zh-CN" sz="2000" i="1" dirty="0">
                    <a:latin typeface="+mj-lt"/>
                  </a:rPr>
                  <a:t>q</a:t>
                </a:r>
                <a:r>
                  <a:rPr lang="en-US" altLang="zh-CN" sz="2000" dirty="0">
                    <a:latin typeface="+mj-lt"/>
                  </a:rPr>
                  <a:t>(t) on the right side of capacitor.</a:t>
                </a:r>
                <a:endParaRPr lang="zh-CN" alt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01" y="954589"/>
                <a:ext cx="7553315" cy="2492990"/>
              </a:xfrm>
              <a:prstGeom prst="rect">
                <a:avLst/>
              </a:prstGeom>
              <a:blipFill rotWithShape="1">
                <a:blip r:embed="rId2"/>
                <a:stretch>
                  <a:fillRect l="-6" t="-7" r="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2555775" y="3466003"/>
            <a:ext cx="3381375" cy="2657475"/>
            <a:chOff x="2555775" y="3466003"/>
            <a:chExt cx="3381375" cy="2657475"/>
          </a:xfrm>
        </p:grpSpPr>
        <p:pic>
          <p:nvPicPr>
            <p:cNvPr id="2050" name="Picture 2" descr="C:\Users\Administrator\AppData\Roaming\Tencent\Users\48161784\QQ\WinTemp\RichOle\@YHE8J9Z`)NWWK1~QZMO8J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5775" y="3466003"/>
              <a:ext cx="3381375" cy="2657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3976747" y="5348395"/>
                  <a:ext cx="55656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smtClean="0">
                            <a:latin typeface="Cambria Math" panose="02040503050406030204"/>
                            <a:ea typeface="Cambria Math" panose="02040503050406030204"/>
                          </a:rPr>
                          <m:t>+</m:t>
                        </m:r>
                        <m:r>
                          <a:rPr lang="en-US" altLang="zh-CN" sz="1400" i="1">
                            <a:latin typeface="Cambria Math" panose="02040503050406030204"/>
                            <a:ea typeface="Cambria Math" panose="02040503050406030204"/>
                          </a:rPr>
                          <m:t>𝑄</m:t>
                        </m:r>
                        <m:r>
                          <a:rPr lang="en-US" altLang="zh-CN" sz="1400" i="1" baseline="-25000">
                            <a:latin typeface="Cambria Math" panose="02040503050406030204"/>
                            <a:ea typeface="Cambria Math" panose="02040503050406030204"/>
                          </a:rPr>
                          <m:t>0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747" y="5348395"/>
                  <a:ext cx="556563" cy="30777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4582539" y="5368943"/>
                  <a:ext cx="55656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/>
                            <a:ea typeface="Cambria Math" panose="02040503050406030204"/>
                          </a:rPr>
                          <m:t>−</m:t>
                        </m:r>
                        <m:r>
                          <a:rPr lang="en-US" altLang="zh-CN" sz="1400" i="1">
                            <a:latin typeface="Cambria Math" panose="02040503050406030204"/>
                            <a:ea typeface="Cambria Math" panose="02040503050406030204"/>
                          </a:rPr>
                          <m:t>𝑄</m:t>
                        </m:r>
                        <m:r>
                          <a:rPr lang="en-US" altLang="zh-CN" sz="1400" i="1" baseline="-25000">
                            <a:latin typeface="Cambria Math" panose="02040503050406030204"/>
                            <a:ea typeface="Cambria Math" panose="02040503050406030204"/>
                          </a:rPr>
                          <m:t>0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2539" y="5368943"/>
                  <a:ext cx="556563" cy="30777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39369" y="6607885"/>
            <a:ext cx="108012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Ch31-8</a:t>
            </a:r>
            <a:endParaRPr lang="zh-CN" altLang="en-US" sz="1000" dirty="0"/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14686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Answers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6172200" y="708916"/>
            <a:ext cx="2947289" cy="2360043"/>
            <a:chOff x="5858739" y="3753264"/>
            <a:chExt cx="3381375" cy="2517355"/>
          </a:xfrm>
        </p:grpSpPr>
        <p:pic>
          <p:nvPicPr>
            <p:cNvPr id="8" name="Picture 2" descr="C:\Users\Administrator\AppData\Roaming\Tencent\Users\48161784\QQ\WinTemp\RichOle\@YHE8J9Z`)NWWK1~QZMO8JN.pn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73"/>
            <a:stretch>
              <a:fillRect/>
            </a:stretch>
          </p:blipFill>
          <p:spPr bwMode="auto">
            <a:xfrm>
              <a:off x="5858739" y="3753264"/>
              <a:ext cx="3381375" cy="25173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7264338" y="5513335"/>
                  <a:ext cx="55656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smtClean="0">
                            <a:latin typeface="Cambria Math" panose="02040503050406030204"/>
                            <a:ea typeface="Cambria Math" panose="02040503050406030204"/>
                          </a:rPr>
                          <m:t>+</m:t>
                        </m:r>
                        <m:r>
                          <a:rPr lang="en-US" altLang="zh-CN" sz="1400" i="1">
                            <a:latin typeface="Cambria Math" panose="02040503050406030204"/>
                            <a:ea typeface="Cambria Math" panose="02040503050406030204"/>
                          </a:rPr>
                          <m:t>𝑄</m:t>
                        </m:r>
                        <m:r>
                          <a:rPr lang="en-US" altLang="zh-CN" sz="1400" i="1" baseline="-25000">
                            <a:latin typeface="Cambria Math" panose="02040503050406030204"/>
                            <a:ea typeface="Cambria Math" panose="02040503050406030204"/>
                          </a:rPr>
                          <m:t>0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4338" y="5513335"/>
                  <a:ext cx="556563" cy="30777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7877770" y="5517232"/>
                  <a:ext cx="55656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/>
                            <a:ea typeface="Cambria Math" panose="02040503050406030204"/>
                          </a:rPr>
                          <m:t>−</m:t>
                        </m:r>
                        <m:r>
                          <a:rPr lang="en-US" altLang="zh-CN" sz="1400" i="1">
                            <a:latin typeface="Cambria Math" panose="02040503050406030204"/>
                            <a:ea typeface="Cambria Math" panose="02040503050406030204"/>
                          </a:rPr>
                          <m:t>𝑄</m:t>
                        </m:r>
                        <m:r>
                          <a:rPr lang="en-US" altLang="zh-CN" sz="1400" i="1" baseline="-25000">
                            <a:latin typeface="Cambria Math" panose="02040503050406030204"/>
                            <a:ea typeface="Cambria Math" panose="02040503050406030204"/>
                          </a:rPr>
                          <m:t>0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7770" y="5517232"/>
                  <a:ext cx="556563" cy="30777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矩形 2"/>
          <p:cNvSpPr/>
          <p:nvPr/>
        </p:nvSpPr>
        <p:spPr>
          <a:xfrm>
            <a:off x="90660" y="3068959"/>
            <a:ext cx="8696611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+mj-lt"/>
              </a:rPr>
              <a:t>The switch is kept at </a:t>
            </a:r>
            <a:r>
              <a:rPr lang="en-US" altLang="zh-CN" sz="2000" i="1" dirty="0">
                <a:latin typeface="+mj-lt"/>
              </a:rPr>
              <a:t>a</a:t>
            </a:r>
            <a:r>
              <a:rPr lang="en-US" altLang="zh-CN" sz="2000" dirty="0">
                <a:latin typeface="+mj-lt"/>
              </a:rPr>
              <a:t> for a long time and then thrown to position b at </a:t>
            </a:r>
            <a:r>
              <a:rPr lang="en-US" altLang="zh-CN" sz="2000" i="1" dirty="0">
                <a:latin typeface="+mj-lt"/>
              </a:rPr>
              <a:t>t</a:t>
            </a:r>
            <a:r>
              <a:rPr lang="en-US" altLang="zh-CN" sz="2000" dirty="0">
                <a:latin typeface="+mj-lt"/>
              </a:rPr>
              <a:t> = 0, that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+mj-lt"/>
              </a:rPr>
              <a:t>means the initial current for the oscillating LC circuit is clockwise with magnitude:</a:t>
            </a:r>
            <a:endParaRPr lang="zh-CN" altLang="en-US" sz="20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566613" y="4073939"/>
                <a:ext cx="4668073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/>
                        </a:rPr>
                        <m:t>𝑖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/>
                            </a:rPr>
                            <m:t>=0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𝑖</m:t>
                      </m:r>
                      <m:r>
                        <a:rPr lang="en-US" altLang="zh-CN" b="0" i="1" baseline="-25000" smtClean="0">
                          <a:latin typeface="Cambria Math" panose="02040503050406030204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 smtClean="0">
                              <a:latin typeface="Cambria Math" panose="02040503050406030204"/>
                            </a:rPr>
                            <m:t>𝜀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/>
                            </a:rPr>
                            <m:t>𝑅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/>
                        </a:rPr>
                        <m:t>=−</m:t>
                      </m:r>
                      <m:r>
                        <a:rPr lang="zh-CN" altLang="en-US" i="1">
                          <a:latin typeface="Cambria Math" panose="02040503050406030204"/>
                        </a:rPr>
                        <m:t>𝜔</m:t>
                      </m:r>
                      <m:r>
                        <a:rPr lang="en-US" altLang="zh-CN" i="1">
                          <a:latin typeface="Cambria Math" panose="02040503050406030204"/>
                        </a:rPr>
                        <m:t>𝑄𝑠𝑖𝑛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/>
                            </a:rPr>
                            <m:t>𝜙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/>
                        </a:rPr>
                        <m:t>                 (1)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613" y="4073939"/>
                <a:ext cx="4668073" cy="564898"/>
              </a:xfrm>
              <a:prstGeom prst="rect">
                <a:avLst/>
              </a:prstGeom>
              <a:blipFill rotWithShape="1">
                <a:blip r:embed="rId5"/>
                <a:stretch>
                  <a:fillRect l="-1" t="-73" r="5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75476" y="4655221"/>
                <a:ext cx="8713092" cy="8525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𝐶</m:t>
                    </m:r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=6.20</m:t>
                    </m:r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𝑚𝐹</m:t>
                    </m:r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𝑤𝑖𝑡h</m:t>
                    </m:r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𝑖𝑛𝑖𝑡𝑖𝑎𝑙</m:t>
                    </m:r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𝑐h𝑎𝑟𝑔𝑒</m:t>
                    </m:r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𝑄</m:t>
                    </m:r>
                    <m:r>
                      <a:rPr lang="en-US" altLang="zh-CN" i="1" baseline="-25000">
                        <a:latin typeface="Cambria Math" panose="02040503050406030204"/>
                        <a:ea typeface="Cambria Math" panose="02040503050406030204"/>
                      </a:rPr>
                      <m:t>0</m:t>
                    </m:r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=36.6</m:t>
                    </m:r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𝑚𝐶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>
                    <a:latin typeface="+mj-lt"/>
                  </a:rPr>
                  <a:t>as shown in the </a:t>
                </a:r>
                <a:r>
                  <a:rPr lang="en-US" altLang="zh-CN" sz="2000" dirty="0">
                    <a:latin typeface="+mj-lt"/>
                  </a:rPr>
                  <a:t>figure</a:t>
                </a:r>
                <a:r>
                  <a:rPr lang="en-US" altLang="zh-CN" dirty="0">
                    <a:latin typeface="+mj-lt"/>
                  </a:rPr>
                  <a:t>, we can get the initial charge on the right side of C is:</a:t>
                </a:r>
                <a:endParaRPr lang="zh-CN" alt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76" y="4655221"/>
                <a:ext cx="8713092" cy="852541"/>
              </a:xfrm>
              <a:prstGeom prst="rect">
                <a:avLst/>
              </a:prstGeom>
              <a:blipFill rotWithShape="1">
                <a:blip r:embed="rId6"/>
                <a:stretch>
                  <a:fillRect l="-2" t="-4" r="5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566613" y="5581784"/>
                <a:ext cx="6200032" cy="547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/>
                        </a:rPr>
                        <m:t>𝑞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/>
                            </a:rPr>
                            <m:t>=0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/>
                        </a:rPr>
                        <m:t>=−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𝑄</m:t>
                      </m:r>
                      <m:r>
                        <a:rPr lang="en-US" altLang="zh-CN" b="0" i="1" baseline="-25000" smtClean="0">
                          <a:latin typeface="Cambria Math" panose="02040503050406030204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/>
                        </a:rPr>
                        <m:t>𝑄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𝑐𝑜𝑠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/>
                            </a:rPr>
                            <m:t>𝜙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/>
                        </a:rPr>
                        <m:t>                        (2)                            </m:t>
                      </m:r>
                    </m:oMath>
                  </m:oMathPara>
                </a14:m>
                <a:endParaRPr lang="zh-CN" altLang="en-US" baseline="-25000" dirty="0"/>
              </a:p>
              <a:p>
                <a:endParaRPr lang="zh-CN" altLang="en-US" baseline="-25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613" y="5581784"/>
                <a:ext cx="6200032" cy="547650"/>
              </a:xfrm>
              <a:prstGeom prst="rect">
                <a:avLst/>
              </a:prstGeom>
              <a:blipFill rotWithShape="1">
                <a:blip r:embed="rId7"/>
                <a:stretch>
                  <a:fillRect l="-1" t="-24" r="10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209534" y="1786407"/>
            <a:ext cx="422423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+mj-lt"/>
              </a:rPr>
              <a:t>And the corresponding </a:t>
            </a:r>
            <a:r>
              <a:rPr lang="en-US" altLang="zh-CN" sz="2000" i="1" dirty="0" err="1">
                <a:latin typeface="+mj-lt"/>
              </a:rPr>
              <a:t>i</a:t>
            </a:r>
            <a:r>
              <a:rPr lang="en-US" altLang="zh-CN" sz="2000" i="1" dirty="0">
                <a:latin typeface="+mj-lt"/>
              </a:rPr>
              <a:t> </a:t>
            </a:r>
            <a:r>
              <a:rPr lang="en-US" altLang="zh-CN" sz="2000" dirty="0">
                <a:latin typeface="+mj-lt"/>
              </a:rPr>
              <a:t>(clockwise) is </a:t>
            </a:r>
            <a:endParaRPr lang="zh-CN" altLang="en-US" sz="20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741886" y="2257917"/>
                <a:ext cx="3193567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/>
                        </a:rPr>
                        <m:t>𝑖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/>
                            </a:rPr>
                            <m:t>𝑑𝑡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/>
                        </a:rPr>
                        <m:t>=−</m:t>
                      </m:r>
                      <m:r>
                        <a:rPr lang="zh-CN" altLang="en-US" b="0" i="1" smtClean="0">
                          <a:latin typeface="Cambria Math" panose="02040503050406030204"/>
                        </a:rPr>
                        <m:t>𝜔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𝑄𝑠𝑖𝑛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(</m:t>
                      </m:r>
                      <m:r>
                        <a:rPr lang="zh-CN" altLang="en-US" b="0" i="1" smtClean="0">
                          <a:latin typeface="Cambria Math" panose="02040503050406030204"/>
                        </a:rPr>
                        <m:t>𝜔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+</m:t>
                      </m:r>
                      <m:r>
                        <a:rPr lang="zh-CN" altLang="en-US" b="0" i="1" smtClean="0">
                          <a:latin typeface="Cambria Math" panose="02040503050406030204"/>
                        </a:rPr>
                        <m:t>𝜙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886" y="2257917"/>
                <a:ext cx="3193567" cy="618246"/>
              </a:xfrm>
              <a:prstGeom prst="rect">
                <a:avLst/>
              </a:prstGeom>
              <a:blipFill rotWithShape="1">
                <a:blip r:embed="rId8"/>
                <a:stretch>
                  <a:fillRect l="-3" t="-80" r="7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253498" y="830943"/>
            <a:ext cx="5942652" cy="452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+mj-lt"/>
              </a:rPr>
              <a:t>For the LC oscillating circuit, </a:t>
            </a:r>
            <a:r>
              <a:rPr lang="en-US" altLang="zh-CN" sz="2000" i="1" dirty="0">
                <a:latin typeface="+mj-lt"/>
              </a:rPr>
              <a:t>q</a:t>
            </a:r>
            <a:r>
              <a:rPr lang="en-US" altLang="zh-CN" sz="2000" dirty="0">
                <a:latin typeface="+mj-lt"/>
              </a:rPr>
              <a:t> on the right side of C is </a:t>
            </a:r>
            <a:endParaRPr lang="zh-CN" altLang="en-US" sz="20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741886" y="1405354"/>
                <a:ext cx="2340641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/>
                        </a:rPr>
                        <m:t>𝑞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𝑄𝑐𝑜𝑠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(</m:t>
                      </m:r>
                      <m:r>
                        <a:rPr lang="zh-CN" altLang="en-US" b="0" i="1" smtClean="0">
                          <a:latin typeface="Cambria Math" panose="02040503050406030204"/>
                        </a:rPr>
                        <m:t>𝜔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+</m:t>
                      </m:r>
                      <m:r>
                        <a:rPr lang="zh-CN" altLang="en-US" b="0" i="1" smtClean="0">
                          <a:latin typeface="Cambria Math" panose="02040503050406030204"/>
                        </a:rPr>
                        <m:t>𝜙</m:t>
                      </m:r>
                      <m:r>
                        <a:rPr lang="en-US" altLang="zh-CN" b="0" i="1" smtClean="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zh-CN" altLang="en-US" baseline="-25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886" y="1405354"/>
                <a:ext cx="2340641" cy="362984"/>
              </a:xfrm>
              <a:prstGeom prst="rect">
                <a:avLst/>
              </a:prstGeom>
              <a:blipFill rotWithShape="1">
                <a:blip r:embed="rId9"/>
                <a:stretch>
                  <a:fillRect l="-3" t="-27" r="5" b="-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73147" y="6611779"/>
            <a:ext cx="108012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Ch31-9</a:t>
            </a:r>
            <a:endParaRPr lang="zh-CN" altLang="en-US" sz="1000" dirty="0"/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14686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Answers</a:t>
            </a:r>
          </a:p>
        </p:txBody>
      </p:sp>
      <p:sp>
        <p:nvSpPr>
          <p:cNvPr id="7" name="矩形 6"/>
          <p:cNvSpPr/>
          <p:nvPr/>
        </p:nvSpPr>
        <p:spPr>
          <a:xfrm>
            <a:off x="355462" y="3342162"/>
            <a:ext cx="4707892" cy="452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+mj-lt"/>
              </a:rPr>
              <a:t>From the conservation of energy, we obtain:</a:t>
            </a:r>
            <a:endParaRPr lang="zh-CN" altLang="en-US" sz="2000" dirty="0">
              <a:latin typeface="+mj-lt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724578" y="3933056"/>
          <a:ext cx="8228013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320800" imgH="10668000" progId="Equation.DSMT4">
                  <p:embed/>
                </p:oleObj>
              </mc:Choice>
              <mc:Fallback>
                <p:oleObj name="Equation" r:id="rId2" imgW="128320800" imgH="10668000" progId="Equation.DSMT4">
                  <p:embed/>
                  <p:pic>
                    <p:nvPicPr>
                      <p:cNvPr id="0" name="图片 415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4578" y="3933056"/>
                        <a:ext cx="8228013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339892" y="2132856"/>
            <a:ext cx="2127505" cy="452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+mj-lt"/>
              </a:rPr>
              <a:t>(1)+(2), we obtain: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52450" y="2678113"/>
          <a:ext cx="6859588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984800" imgH="10363200" progId="Equation.DSMT4">
                  <p:embed/>
                </p:oleObj>
              </mc:Choice>
              <mc:Fallback>
                <p:oleObj name="Equation" r:id="rId4" imgW="106984800" imgH="10363200" progId="Equation.DSMT4">
                  <p:embed/>
                  <p:pic>
                    <p:nvPicPr>
                      <p:cNvPr id="0" name="图片 4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2678113"/>
                        <a:ext cx="6859588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298300" y="764704"/>
            <a:ext cx="293702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+mj-lt"/>
              </a:rPr>
              <a:t>The angular frequency is:  </a:t>
            </a:r>
            <a:endParaRPr lang="zh-CN" altLang="en-US" sz="2000" dirty="0">
              <a:latin typeface="+mj-lt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20713" y="1341438"/>
          <a:ext cx="40259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788800" imgH="10363200" progId="Equation.DSMT4">
                  <p:embed/>
                </p:oleObj>
              </mc:Choice>
              <mc:Fallback>
                <p:oleObj name="Equation" r:id="rId6" imgW="62788800" imgH="10363200" progId="Equation.DSMT4">
                  <p:embed/>
                  <p:pic>
                    <p:nvPicPr>
                      <p:cNvPr id="0" name="图片 4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1341438"/>
                        <a:ext cx="402590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355461" y="4797152"/>
            <a:ext cx="689022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+mj-lt"/>
              </a:rPr>
              <a:t>So the expression of the charge q(t) on the right side of capacitor:</a:t>
            </a:r>
            <a:endParaRPr lang="zh-CN" altLang="en-US" sz="2000" dirty="0">
              <a:latin typeface="+mj-lt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04850" y="5321300"/>
          <a:ext cx="269716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062400" imgH="9448800" progId="Equation.DSMT4">
                  <p:embed/>
                </p:oleObj>
              </mc:Choice>
              <mc:Fallback>
                <p:oleObj name="Equation" r:id="rId8" imgW="42062400" imgH="9448800" progId="Equation.DSMT4">
                  <p:embed/>
                  <p:pic>
                    <p:nvPicPr>
                      <p:cNvPr id="0" name="图片 4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5321300"/>
                        <a:ext cx="2697163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2459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Review of Ch31</a:t>
            </a:r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3781424" y="160338"/>
            <a:ext cx="23747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Series RLC circuit         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795952"/>
            <a:ext cx="756285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806452"/>
            <a:ext cx="4968552" cy="357573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104196" y="6616602"/>
            <a:ext cx="79208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Ch31-3</a:t>
            </a:r>
            <a:endParaRPr lang="zh-CN" altLang="en-US" sz="1000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323704"/>
            <a:ext cx="2014538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右箭头 7"/>
          <p:cNvSpPr/>
          <p:nvPr/>
        </p:nvSpPr>
        <p:spPr bwMode="auto">
          <a:xfrm>
            <a:off x="2411760" y="3988559"/>
            <a:ext cx="720080" cy="40383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2459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Review of Ch31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714375"/>
            <a:ext cx="2014538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189037"/>
            <a:ext cx="3633788" cy="223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411760" y="1181100"/>
            <a:ext cx="37147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1" i="1" dirty="0">
                <a:latin typeface="+mj-lt"/>
              </a:rPr>
              <a:t>→</a:t>
            </a:r>
            <a:r>
              <a:rPr lang="en-US" altLang="zh-CN" sz="2000" b="1" i="1" dirty="0">
                <a:solidFill>
                  <a:srgbClr val="C00000"/>
                </a:solidFill>
                <a:latin typeface="+mj-lt"/>
              </a:rPr>
              <a:t> V</a:t>
            </a:r>
            <a:r>
              <a:rPr lang="en-US" altLang="zh-CN" sz="2000" b="1" i="1" baseline="-25000" dirty="0">
                <a:solidFill>
                  <a:srgbClr val="C00000"/>
                </a:solidFill>
                <a:latin typeface="+mj-lt"/>
              </a:rPr>
              <a:t>R</a:t>
            </a:r>
            <a:r>
              <a:rPr lang="en-US" altLang="zh-CN" sz="2000" b="1" i="1" baseline="30000" dirty="0">
                <a:solidFill>
                  <a:srgbClr val="C00000"/>
                </a:solidFill>
                <a:latin typeface="+mj-lt"/>
              </a:rPr>
              <a:t>2</a:t>
            </a:r>
            <a:r>
              <a:rPr lang="en-US" altLang="zh-CN" sz="2000" b="1" i="1" dirty="0">
                <a:solidFill>
                  <a:srgbClr val="C00000"/>
                </a:solidFill>
                <a:latin typeface="+mj-lt"/>
              </a:rPr>
              <a:t> + 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( </a:t>
            </a:r>
            <a:r>
              <a:rPr lang="en-US" altLang="zh-CN" sz="2000" b="1" i="1" dirty="0">
                <a:solidFill>
                  <a:srgbClr val="C00000"/>
                </a:solidFill>
                <a:latin typeface="+mj-lt"/>
              </a:rPr>
              <a:t>V</a:t>
            </a:r>
            <a:r>
              <a:rPr lang="en-US" altLang="zh-CN" sz="2000" b="1" i="1" baseline="-25000" dirty="0">
                <a:solidFill>
                  <a:srgbClr val="C00000"/>
                </a:solidFill>
                <a:latin typeface="+mj-lt"/>
              </a:rPr>
              <a:t>L</a:t>
            </a:r>
            <a:r>
              <a:rPr lang="en-US" altLang="zh-CN" sz="2000" b="1" i="1" dirty="0">
                <a:solidFill>
                  <a:srgbClr val="C00000"/>
                </a:solidFill>
                <a:latin typeface="+mj-lt"/>
              </a:rPr>
              <a:t> - V</a:t>
            </a:r>
            <a:r>
              <a:rPr lang="en-US" altLang="zh-CN" sz="2000" b="1" i="1" baseline="-25000" dirty="0">
                <a:solidFill>
                  <a:srgbClr val="C00000"/>
                </a:solidFill>
                <a:latin typeface="+mj-lt"/>
              </a:rPr>
              <a:t>C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 )</a:t>
            </a:r>
            <a:r>
              <a:rPr lang="en-US" altLang="zh-CN" sz="2000" b="1" baseline="30000" dirty="0">
                <a:solidFill>
                  <a:srgbClr val="C00000"/>
                </a:solidFill>
                <a:latin typeface="+mj-lt"/>
              </a:rPr>
              <a:t>2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 =  </a:t>
            </a:r>
            <a:r>
              <a:rPr lang="el-GR" altLang="zh-CN" sz="20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ξ</a:t>
            </a:r>
            <a:r>
              <a:rPr lang="en-US" altLang="zh-CN" sz="2000" b="1" i="1" baseline="-25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000" b="1" i="1" baseline="30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lang="zh-CN" altLang="en-US" sz="2000" b="1" i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6189" y="1770878"/>
            <a:ext cx="361032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b="1" i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(</a:t>
            </a:r>
            <a:r>
              <a:rPr lang="en-US" altLang="zh-CN" sz="2000" b="1" i="1" dirty="0">
                <a:solidFill>
                  <a:srgbClr val="C00000"/>
                </a:solidFill>
                <a:latin typeface="+mj-lt"/>
              </a:rPr>
              <a:t>IR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)</a:t>
            </a:r>
            <a:r>
              <a:rPr lang="en-US" altLang="zh-CN" sz="2000" b="1" baseline="30000" dirty="0">
                <a:solidFill>
                  <a:srgbClr val="C00000"/>
                </a:solidFill>
                <a:latin typeface="+mj-lt"/>
              </a:rPr>
              <a:t>2</a:t>
            </a:r>
            <a:r>
              <a:rPr lang="en-US" altLang="zh-CN" sz="2000" b="1" i="1" dirty="0">
                <a:solidFill>
                  <a:srgbClr val="C00000"/>
                </a:solidFill>
                <a:latin typeface="+mj-lt"/>
              </a:rPr>
              <a:t> + 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( </a:t>
            </a:r>
            <a:r>
              <a:rPr lang="en-US" altLang="zh-CN" sz="2000" b="1" i="1" dirty="0">
                <a:solidFill>
                  <a:srgbClr val="C00000"/>
                </a:solidFill>
                <a:latin typeface="+mj-lt"/>
              </a:rPr>
              <a:t>I X</a:t>
            </a:r>
            <a:r>
              <a:rPr lang="en-US" altLang="zh-CN" sz="2000" b="1" i="1" baseline="-25000" dirty="0">
                <a:solidFill>
                  <a:srgbClr val="C00000"/>
                </a:solidFill>
                <a:latin typeface="+mj-lt"/>
              </a:rPr>
              <a:t>L</a:t>
            </a:r>
            <a:r>
              <a:rPr lang="en-US" altLang="zh-CN" sz="2000" b="1" i="1" dirty="0">
                <a:solidFill>
                  <a:srgbClr val="C00000"/>
                </a:solidFill>
                <a:latin typeface="+mj-lt"/>
              </a:rPr>
              <a:t> – I X</a:t>
            </a:r>
            <a:r>
              <a:rPr lang="en-US" altLang="zh-CN" sz="2000" b="1" i="1" baseline="-25000" dirty="0">
                <a:solidFill>
                  <a:srgbClr val="C00000"/>
                </a:solidFill>
                <a:latin typeface="+mj-lt"/>
              </a:rPr>
              <a:t>C</a:t>
            </a:r>
            <a:r>
              <a:rPr lang="en-US" altLang="zh-CN" sz="2000" b="1" i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)</a:t>
            </a:r>
            <a:r>
              <a:rPr lang="en-US" altLang="zh-CN" sz="2000" b="1" baseline="30000" dirty="0">
                <a:solidFill>
                  <a:srgbClr val="C00000"/>
                </a:solidFill>
                <a:latin typeface="+mj-lt"/>
              </a:rPr>
              <a:t>2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</a:rPr>
              <a:t> =  </a:t>
            </a:r>
            <a:r>
              <a:rPr lang="el-GR" altLang="zh-CN" sz="20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ξ</a:t>
            </a:r>
            <a:r>
              <a:rPr lang="en-US" altLang="zh-CN" sz="2000" b="1" i="1" baseline="-25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000" b="1" i="1" baseline="300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lang="zh-CN" altLang="en-US" sz="2000" b="1" i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424275"/>
            <a:ext cx="4256297" cy="981075"/>
          </a:xfrm>
          <a:prstGeom prst="rect">
            <a:avLst/>
          </a:prstGeom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5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170" y="3555237"/>
            <a:ext cx="3071813" cy="51276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79388" y="3574134"/>
            <a:ext cx="233680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 :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Impedance 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888" y="4308428"/>
            <a:ext cx="192881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7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736" y="4350496"/>
            <a:ext cx="1285875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8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148" y="4374310"/>
            <a:ext cx="1143000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70" y="5589240"/>
            <a:ext cx="985156" cy="317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9"/>
          <p:cNvPicPr>
            <a:picLocks noChangeAspect="1" noChangeArrowheads="1"/>
          </p:cNvPicPr>
          <p:nvPr/>
        </p:nvPicPr>
        <p:blipFill>
          <a:blip r:embed="rId10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889" y="5379659"/>
            <a:ext cx="3786188" cy="736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42873" y="5537347"/>
            <a:ext cx="223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Resonance:</a:t>
            </a:r>
            <a:endParaRPr lang="zh-CN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956376" y="6614868"/>
            <a:ext cx="96949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Ch31-4</a:t>
            </a:r>
            <a:endParaRPr lang="zh-CN" altLang="en-US" sz="1000" dirty="0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2805548" y="714375"/>
            <a:ext cx="17877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000" b="1" i="1" dirty="0">
                <a:latin typeface="Symbol" panose="05050102010706020507" pitchFamily="18" charset="2"/>
                <a:cs typeface="Times New Roman" panose="02020603050405020304" pitchFamily="18" charset="0"/>
              </a:rPr>
              <a:t>e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205645" y="4413039"/>
            <a:ext cx="335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Phase  constant (angle)     :</a:t>
            </a:r>
            <a:endParaRPr lang="zh-CN" altLang="en-US" b="1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883724" y="4436733"/>
          <a:ext cx="216024" cy="34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48000" imgH="4876800" progId="Equation.DSMT4">
                  <p:embed/>
                </p:oleObj>
              </mc:Choice>
              <mc:Fallback>
                <p:oleObj name="Equation" r:id="rId11" imgW="3048000" imgH="4876800" progId="Equation.DSMT4">
                  <p:embed/>
                  <p:pic>
                    <p:nvPicPr>
                      <p:cNvPr id="0" name="图片 11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83724" y="4436733"/>
                        <a:ext cx="216024" cy="345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667348" y="2668672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latin typeface="+mj-lt"/>
              </a:rPr>
              <a:t>m</a:t>
            </a:r>
            <a:endParaRPr lang="zh-CN" altLang="en-US" sz="1600" i="1" dirty="0">
              <a:latin typeface="+mj-lt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771800" y="160338"/>
            <a:ext cx="46085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Series RLC circuit—force oscillator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2459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Review of Ch31</a:t>
            </a:r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3781424" y="160338"/>
            <a:ext cx="2806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Power  in  AC circuit  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313" y="714375"/>
            <a:ext cx="301781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dirty="0">
                <a:latin typeface="+mj-lt"/>
              </a:rPr>
              <a:t>In DC circuit :  </a:t>
            </a:r>
            <a:r>
              <a:rPr lang="en-US" altLang="zh-CN" b="1" i="1" dirty="0">
                <a:latin typeface="+mj-lt"/>
              </a:rPr>
              <a:t>Power = i</a:t>
            </a:r>
            <a:r>
              <a:rPr lang="en-US" altLang="zh-CN" b="1" i="1" baseline="30000" dirty="0">
                <a:latin typeface="+mj-lt"/>
              </a:rPr>
              <a:t>2</a:t>
            </a:r>
            <a:r>
              <a:rPr lang="en-US" altLang="zh-CN" b="1" i="1" dirty="0">
                <a:latin typeface="+mj-lt"/>
              </a:rPr>
              <a:t>R </a:t>
            </a:r>
            <a:endParaRPr lang="zh-CN" altLang="en-US" b="1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4313" y="1285875"/>
            <a:ext cx="2085975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dirty="0">
                <a:latin typeface="+mj-lt"/>
              </a:rPr>
              <a:t>In AC circuit :</a:t>
            </a:r>
            <a:endParaRPr lang="zh-CN" altLang="en-US" b="1" i="1" dirty="0">
              <a:latin typeface="+mj-lt"/>
            </a:endParaRPr>
          </a:p>
        </p:txBody>
      </p:sp>
      <p:pic>
        <p:nvPicPr>
          <p:cNvPr id="6" name="Picture 11"/>
          <p:cNvPicPr>
            <a:picLocks noChangeAspect="1" noChangeArrowheads="1"/>
          </p:cNvPicPr>
          <p:nvPr/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728" y="1285875"/>
            <a:ext cx="335756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3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22" y="1747838"/>
            <a:ext cx="12858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4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645" y="1746966"/>
            <a:ext cx="1428750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5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526" y="1758950"/>
            <a:ext cx="1357313" cy="66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83472" y="2583591"/>
            <a:ext cx="60167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/>
              <a:t>The value shown in </a:t>
            </a:r>
            <a:r>
              <a:rPr lang="en-US" altLang="zh-CN" sz="1600" b="1" dirty="0" err="1"/>
              <a:t>multimeter</a:t>
            </a:r>
            <a:r>
              <a:rPr lang="en-US" altLang="zh-CN" sz="1600" b="1" dirty="0"/>
              <a:t>(</a:t>
            </a:r>
            <a:r>
              <a:rPr lang="zh-CN" altLang="en-US" sz="1600" b="1" dirty="0"/>
              <a:t>万用表</a:t>
            </a:r>
            <a:r>
              <a:rPr lang="en-US" altLang="zh-CN" sz="1600" b="1" dirty="0"/>
              <a:t>) is the </a:t>
            </a:r>
            <a:r>
              <a:rPr lang="en-US" altLang="zh-CN" sz="1600" b="1" dirty="0" err="1"/>
              <a:t>rms</a:t>
            </a:r>
            <a:r>
              <a:rPr lang="en-US" altLang="zh-CN" sz="1600" b="1" dirty="0"/>
              <a:t> value </a:t>
            </a:r>
            <a:endParaRPr lang="zh-CN" altLang="en-US" sz="1600" b="1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141" y="778430"/>
            <a:ext cx="2097111" cy="1805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7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315" y="3068960"/>
            <a:ext cx="3599381" cy="623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490" y="3861047"/>
            <a:ext cx="4117057" cy="681827"/>
          </a:xfrm>
          <a:prstGeom prst="rect">
            <a:avLst/>
          </a:prstGeom>
        </p:spPr>
      </p:pic>
      <p:pic>
        <p:nvPicPr>
          <p:cNvPr id="14" name="Picture 10"/>
          <p:cNvPicPr>
            <a:picLocks noChangeAspect="1" noChangeArrowheads="1"/>
          </p:cNvPicPr>
          <p:nvPr/>
        </p:nvPicPr>
        <p:blipFill>
          <a:blip r:embed="rId9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003" y="4756587"/>
            <a:ext cx="2928938" cy="46196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95" y="3068960"/>
            <a:ext cx="3085453" cy="24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2947993" y="5659070"/>
            <a:ext cx="2070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factor:</a:t>
            </a:r>
            <a:endParaRPr lang="zh-CN" altLang="en-U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11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125" y="5538936"/>
            <a:ext cx="23574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8100452" y="6611779"/>
            <a:ext cx="79208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Ch31-5</a:t>
            </a:r>
            <a:endParaRPr lang="zh-CN" alt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928688"/>
            <a:ext cx="4478337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563" y="714375"/>
            <a:ext cx="1071562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75958" y="928688"/>
            <a:ext cx="3714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l-GR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same for each turn of the primary and secondary windings</a:t>
            </a:r>
            <a:endParaRPr lang="zh-CN" altLang="en-US" sz="1800" dirty="0"/>
          </a:p>
        </p:txBody>
      </p:sp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4">
            <a:lum bright="-20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719" y="1880393"/>
            <a:ext cx="1143000" cy="79851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7" name="Picture 7"/>
          <p:cNvPicPr>
            <a:picLocks noChangeAspect="1" noChangeArrowheads="1"/>
          </p:cNvPicPr>
          <p:nvPr/>
        </p:nvPicPr>
        <p:blipFill>
          <a:blip r:embed="rId5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156" y="3062858"/>
            <a:ext cx="1524000" cy="4381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4762" y="3081908"/>
            <a:ext cx="50006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j-lt"/>
              </a:rPr>
              <a:t>By conservation of energy :</a:t>
            </a:r>
            <a:endParaRPr lang="zh-CN" altLang="en-US" sz="2000" b="1" dirty="0">
              <a:latin typeface="+mj-lt"/>
            </a:endParaRPr>
          </a:p>
        </p:txBody>
      </p:sp>
      <p:pic>
        <p:nvPicPr>
          <p:cNvPr id="40968" name="Picture 8"/>
          <p:cNvPicPr>
            <a:picLocks noChangeAspect="1" noChangeArrowheads="1"/>
          </p:cNvPicPr>
          <p:nvPr/>
        </p:nvPicPr>
        <p:blipFill>
          <a:blip r:embed="rId6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876452"/>
            <a:ext cx="130492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1500188" y="4090764"/>
            <a:ext cx="928687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j-lt"/>
              </a:rPr>
              <a:t>put in: </a:t>
            </a:r>
            <a:endParaRPr lang="zh-CN" altLang="en-US" sz="2000" b="1" dirty="0"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14813" y="4090764"/>
            <a:ext cx="928687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j-lt"/>
              </a:rPr>
              <a:t>and </a:t>
            </a:r>
            <a:endParaRPr lang="zh-CN" altLang="en-US" sz="2000" b="1" dirty="0">
              <a:latin typeface="+mj-lt"/>
            </a:endParaRPr>
          </a:p>
        </p:txBody>
      </p:sp>
      <p:pic>
        <p:nvPicPr>
          <p:cNvPr id="40969" name="Picture 9"/>
          <p:cNvPicPr>
            <a:picLocks noChangeAspect="1" noChangeArrowheads="1"/>
          </p:cNvPicPr>
          <p:nvPr/>
        </p:nvPicPr>
        <p:blipFill>
          <a:blip r:embed="rId7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4090764"/>
            <a:ext cx="12477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0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4805139"/>
            <a:ext cx="20097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357188" y="5019452"/>
            <a:ext cx="1643062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j-lt"/>
              </a:rPr>
              <a:t>we have</a:t>
            </a:r>
            <a:endParaRPr lang="zh-CN" altLang="en-US" sz="2000" b="1" dirty="0">
              <a:latin typeface="+mj-lt"/>
            </a:endParaRPr>
          </a:p>
        </p:txBody>
      </p:sp>
      <p:sp>
        <p:nvSpPr>
          <p:cNvPr id="26" name="椭圆 25"/>
          <p:cNvSpPr>
            <a:spLocks noChangeArrowheads="1"/>
          </p:cNvSpPr>
          <p:nvPr/>
        </p:nvSpPr>
        <p:spPr bwMode="auto">
          <a:xfrm>
            <a:off x="2214563" y="4733702"/>
            <a:ext cx="1285875" cy="1071562"/>
          </a:xfrm>
          <a:prstGeom prst="ellipse">
            <a:avLst/>
          </a:prstGeom>
          <a:noFill/>
          <a:ln w="349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/>
          <a:p>
            <a:pPr algn="r" eaLnBrk="0" hangingPunct="0"/>
            <a:endParaRPr lang="zh-CN" altLang="en-US"/>
          </a:p>
        </p:txBody>
      </p:sp>
      <p:cxnSp>
        <p:nvCxnSpPr>
          <p:cNvPr id="28" name="直接箭头连接符 27"/>
          <p:cNvCxnSpPr>
            <a:cxnSpLocks noChangeShapeType="1"/>
            <a:stCxn id="30" idx="1"/>
          </p:cNvCxnSpPr>
          <p:nvPr/>
        </p:nvCxnSpPr>
        <p:spPr bwMode="auto">
          <a:xfrm rot="10800000">
            <a:off x="3500438" y="5162327"/>
            <a:ext cx="857250" cy="47625"/>
          </a:xfrm>
          <a:prstGeom prst="straightConnector1">
            <a:avLst/>
          </a:prstGeom>
          <a:noFill/>
          <a:ln w="34925" algn="ctr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TextBox 29"/>
          <p:cNvSpPr txBox="1"/>
          <p:nvPr/>
        </p:nvSpPr>
        <p:spPr>
          <a:xfrm>
            <a:off x="4357688" y="4876577"/>
            <a:ext cx="4500562" cy="666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b="1" baseline="-25000" dirty="0">
                <a:solidFill>
                  <a:srgbClr val="C00000"/>
                </a:solidFill>
                <a:latin typeface="+mj-lt"/>
              </a:rPr>
              <a:t>The value of load resistance seen by the generator</a:t>
            </a:r>
            <a:endParaRPr lang="zh-CN" altLang="en-US" sz="2800" b="1" baseline="-25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2459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Review of Ch31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781424" y="160338"/>
            <a:ext cx="2806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Transformers      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086415" y="6611779"/>
            <a:ext cx="75785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Ch31-6</a:t>
            </a:r>
            <a:endParaRPr lang="zh-CN" alt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836712"/>
            <a:ext cx="8522331" cy="2739561"/>
            <a:chOff x="0" y="1052736"/>
            <a:chExt cx="8522331" cy="2739561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556" y="3087447"/>
              <a:ext cx="7724775" cy="704850"/>
            </a:xfrm>
            <a:prstGeom prst="rect">
              <a:avLst/>
            </a:prstGeom>
          </p:spPr>
        </p:pic>
        <p:grpSp>
          <p:nvGrpSpPr>
            <p:cNvPr id="2" name="组合 1"/>
            <p:cNvGrpSpPr/>
            <p:nvPr/>
          </p:nvGrpSpPr>
          <p:grpSpPr>
            <a:xfrm>
              <a:off x="0" y="1052736"/>
              <a:ext cx="8490353" cy="2028825"/>
              <a:chOff x="16281" y="1760214"/>
              <a:chExt cx="8490353" cy="2028825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8034" y="1760214"/>
                <a:ext cx="7848600" cy="2028825"/>
              </a:xfrm>
              <a:prstGeom prst="rect">
                <a:avLst/>
              </a:prstGeom>
            </p:spPr>
          </p:pic>
          <p:sp>
            <p:nvSpPr>
              <p:cNvPr id="3" name="Text Box 11"/>
              <p:cNvSpPr txBox="1">
                <a:spLocks noChangeArrowheads="1"/>
              </p:cNvSpPr>
              <p:nvPr/>
            </p:nvSpPr>
            <p:spPr bwMode="auto">
              <a:xfrm>
                <a:off x="16281" y="1765164"/>
                <a:ext cx="1511300" cy="3968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0066CC"/>
                  </a:buClr>
                  <a:buChar char="•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0066CC"/>
                  </a:buClr>
                  <a:buFont typeface="Times" pitchFamily="18" charset="0"/>
                  <a:buChar char="•"/>
                  <a:defRPr sz="3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0066CC"/>
                  </a:buClr>
                  <a:buFont typeface="Times" pitchFamily="18" charset="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0066CC"/>
                  </a:buClr>
                  <a:buFont typeface="Times" pitchFamily="18" charset="0"/>
                  <a:buChar char="•"/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0066CC"/>
                  </a:buClr>
                  <a:buFont typeface="Times" pitchFamily="18" charset="0"/>
                  <a:buChar char="–"/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0066CC"/>
                  </a:buClr>
                  <a:buFont typeface="Times" pitchFamily="18" charset="0"/>
                  <a:buChar char="–"/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0066CC"/>
                  </a:buClr>
                  <a:buFont typeface="Times" pitchFamily="18" charset="0"/>
                  <a:buChar char="–"/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0066CC"/>
                  </a:buClr>
                  <a:buFont typeface="Times" pitchFamily="18" charset="0"/>
                  <a:buChar char="–"/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0066CC"/>
                  </a:buClr>
                  <a:buFont typeface="Times" pitchFamily="18" charset="0"/>
                  <a:buChar char="–"/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r>
                  <a:rPr lang="en-US" altLang="zh-CN" sz="2000" b="1" dirty="0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</a:p>
            </p:txBody>
          </p:sp>
        </p:grpSp>
      </p:grpSp>
      <p:sp>
        <p:nvSpPr>
          <p:cNvPr id="6" name="TextBox 5"/>
          <p:cNvSpPr txBox="1"/>
          <p:nvPr/>
        </p:nvSpPr>
        <p:spPr>
          <a:xfrm>
            <a:off x="8177915" y="6631672"/>
            <a:ext cx="72008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Ch31-10</a:t>
            </a:r>
            <a:endParaRPr lang="zh-CN" altLang="en-US" sz="1000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103" y="3789039"/>
            <a:ext cx="2710001" cy="23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16722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Problem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14686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Answers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292" y="988128"/>
            <a:ext cx="1628775" cy="3905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299" y="702376"/>
            <a:ext cx="4505325" cy="9620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962" y="1729010"/>
            <a:ext cx="5256583" cy="54786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5" y="2493833"/>
            <a:ext cx="8975031" cy="71800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109" y="3317845"/>
            <a:ext cx="5423596" cy="64807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79" y="3965918"/>
            <a:ext cx="3414009" cy="38893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9" y="4437112"/>
            <a:ext cx="8693455" cy="890007"/>
          </a:xfrm>
          <a:prstGeom prst="rect">
            <a:avLst/>
          </a:prstGeom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7" y="5373216"/>
            <a:ext cx="7812360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962" y="5805264"/>
            <a:ext cx="1162050" cy="70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30407" y="6611779"/>
            <a:ext cx="100811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Ch31-11</a:t>
            </a:r>
            <a:endParaRPr lang="zh-CN" alt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14686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Answers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9" y="2238077"/>
            <a:ext cx="9088421" cy="54528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200" y="2783361"/>
            <a:ext cx="2543175" cy="6762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9" y="3459636"/>
            <a:ext cx="2667000" cy="4857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9" y="4005064"/>
            <a:ext cx="7285952" cy="438150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1" y="4581128"/>
            <a:ext cx="906301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58" y="5229200"/>
            <a:ext cx="8996150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9" y="6021288"/>
            <a:ext cx="770572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340768"/>
            <a:ext cx="229235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1" y="975131"/>
            <a:ext cx="80772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100591" y="6611779"/>
            <a:ext cx="98581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Ch31-12</a:t>
            </a:r>
            <a:endParaRPr lang="zh-CN" alt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MzNTc2ZWFiNjk4Y2FiZjM1YTE3YmQxZjE5MzE1Ym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6eActiveLectureQuestions">
  <a:themeElements>
    <a:clrScheme name="C6eActiveLectureQuestions 14">
      <a:dk1>
        <a:srgbClr val="000000"/>
      </a:dk1>
      <a:lt1>
        <a:srgbClr val="FFFFFF"/>
      </a:lt1>
      <a:dk2>
        <a:srgbClr val="333399"/>
      </a:dk2>
      <a:lt2>
        <a:srgbClr val="000000"/>
      </a:lt2>
      <a:accent1>
        <a:srgbClr val="B7DAB8"/>
      </a:accent1>
      <a:accent2>
        <a:srgbClr val="005472"/>
      </a:accent2>
      <a:accent3>
        <a:srgbClr val="FFFFFF"/>
      </a:accent3>
      <a:accent4>
        <a:srgbClr val="000000"/>
      </a:accent4>
      <a:accent5>
        <a:srgbClr val="D8EAD8"/>
      </a:accent5>
      <a:accent6>
        <a:srgbClr val="004B67"/>
      </a:accent6>
      <a:hlink>
        <a:srgbClr val="009999"/>
      </a:hlink>
      <a:folHlink>
        <a:srgbClr val="99CC00"/>
      </a:folHlink>
    </a:clrScheme>
    <a:fontScheme name="C6eActiveLectureQuestions">
      <a:majorFont>
        <a:latin typeface="Times New Roman"/>
        <a:ea typeface="MS PGothic"/>
        <a:cs typeface=""/>
      </a:majorFont>
      <a:minorFont>
        <a:latin typeface="Arial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6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727</Words>
  <Application>Microsoft Office PowerPoint</Application>
  <PresentationFormat>全屏显示(4:3)</PresentationFormat>
  <Paragraphs>102</Paragraphs>
  <Slides>12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宋体</vt:lpstr>
      <vt:lpstr>Arial</vt:lpstr>
      <vt:lpstr>Calibri</vt:lpstr>
      <vt:lpstr>Cambria Math</vt:lpstr>
      <vt:lpstr>Symbol</vt:lpstr>
      <vt:lpstr>Times</vt:lpstr>
      <vt:lpstr>Times New Roman</vt:lpstr>
      <vt:lpstr>Office 主题</vt:lpstr>
      <vt:lpstr>C6eActiveLectureQuestions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</dc:creator>
  <cp:lastModifiedBy>衍宁 何</cp:lastModifiedBy>
  <cp:revision>126</cp:revision>
  <cp:lastPrinted>2015-05-06T08:04:00Z</cp:lastPrinted>
  <dcterms:created xsi:type="dcterms:W3CDTF">2014-04-24T05:25:00Z</dcterms:created>
  <dcterms:modified xsi:type="dcterms:W3CDTF">2024-06-11T06:02:04Z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30F919A38CE3494489847B92550E59C2_13</vt:lpwstr>
  </property>
</Properties>
</file>