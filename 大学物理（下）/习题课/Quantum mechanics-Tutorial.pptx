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38"/>
  </p:handoutMasterIdLst>
  <p:sldIdLst>
    <p:sldId id="267" r:id="rId3"/>
    <p:sldId id="268" r:id="rId4"/>
    <p:sldId id="326" r:id="rId6"/>
    <p:sldId id="327" r:id="rId7"/>
    <p:sldId id="295" r:id="rId8"/>
    <p:sldId id="296" r:id="rId9"/>
    <p:sldId id="297" r:id="rId10"/>
    <p:sldId id="299" r:id="rId11"/>
    <p:sldId id="300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98" r:id="rId24"/>
    <p:sldId id="281" r:id="rId25"/>
    <p:sldId id="282" r:id="rId26"/>
    <p:sldId id="283" r:id="rId27"/>
    <p:sldId id="301" r:id="rId28"/>
    <p:sldId id="302" r:id="rId29"/>
    <p:sldId id="284" r:id="rId30"/>
    <p:sldId id="285" r:id="rId31"/>
    <p:sldId id="286" r:id="rId32"/>
    <p:sldId id="303" r:id="rId33"/>
    <p:sldId id="304" r:id="rId34"/>
    <p:sldId id="287" r:id="rId35"/>
    <p:sldId id="288" r:id="rId36"/>
    <p:sldId id="289" r:id="rId37"/>
  </p:sldIdLst>
  <p:sldSz cx="9144000" cy="6858000" type="screen4x3"/>
  <p:notesSz cx="9872345" cy="6797675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7" autoAdjust="0"/>
  </p:normalViewPr>
  <p:slideViewPr>
    <p:cSldViewPr showGuides="1">
      <p:cViewPr varScale="1">
        <p:scale>
          <a:sx n="85" d="100"/>
          <a:sy n="85" d="100"/>
        </p:scale>
        <p:origin x="-152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2" Type="http://schemas.openxmlformats.org/officeDocument/2006/relationships/tags" Target="tags/tag15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592224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468A4-3B17-484C-B036-5A2FC379B1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592224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1B232C-AB45-46D5-9540-DE0B213BF47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592224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E823F-7DBD-43D9-91D6-59255A9946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09588"/>
            <a:ext cx="3398837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87267" y="3228896"/>
            <a:ext cx="789813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592224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229CCD-7C3A-4FAF-8E8D-FAD345C1A61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FEA561-708F-43FD-9DAD-E216B61394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FEA561-708F-43FD-9DAD-E216B61394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FEA561-708F-43FD-9DAD-E216B61394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1E45534-9A11-4213-B1B7-9B5DA9DF2590}" type="slidenum">
              <a:rPr lang="en-US" altLang="zh-CN"/>
            </a:fld>
            <a:endParaRPr lang="en-US" altLang="zh-CN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solidFill>
            <a:srgbClr val="FFFFFF"/>
          </a:solidFill>
        </p:spPr>
      </p:sp>
      <p:sp>
        <p:nvSpPr>
          <p:cNvPr id="69636" name="Rectangle 3"/>
          <p:cNvSpPr>
            <a:spLocks noGrp="1" noChangeArrowheads="1"/>
          </p:cNvSpPr>
          <p:nvPr>
            <p:ph type="body" idx="4294967295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FEA561-708F-43FD-9DAD-E216B61394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.jpeg"/><Relationship Id="rId6" Type="http://schemas.openxmlformats.org/officeDocument/2006/relationships/image" Target="../media/image8.wmf"/><Relationship Id="rId5" Type="http://schemas.openxmlformats.org/officeDocument/2006/relationships/image" Target="../media/image7.png"/><Relationship Id="rId4" Type="http://schemas.openxmlformats.org/officeDocument/2006/relationships/image" Target="../media/image6.jpeg"/><Relationship Id="rId3" Type="http://schemas.openxmlformats.org/officeDocument/2006/relationships/image" Target="../media/image1.wmf"/><Relationship Id="rId2" Type="http://schemas.openxmlformats.org/officeDocument/2006/relationships/oleObject" Target="../embeddings/oleObject2.bin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4.xml"/><Relationship Id="rId14" Type="http://schemas.openxmlformats.org/officeDocument/2006/relationships/image" Target="../media/image9.png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8.png"/><Relationship Id="rId6" Type="http://schemas.openxmlformats.org/officeDocument/2006/relationships/image" Target="../media/image27.jpe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image" Target="../media/image22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jpeg"/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image" Target="../media/image2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7.jpe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0.png"/><Relationship Id="rId3" Type="http://schemas.openxmlformats.org/officeDocument/2006/relationships/image" Target="../media/image39.w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38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4.png"/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image" Target="../media/image41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1" Type="http://schemas.openxmlformats.org/officeDocument/2006/relationships/oleObject" Target="../embeddings/oleObject4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7.wmf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5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oleObject" Target="../embeddings/oleObject5.bin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image" Target="../media/image5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1" Type="http://schemas.openxmlformats.org/officeDocument/2006/relationships/image" Target="../media/image55.wmf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4.png"/><Relationship Id="rId7" Type="http://schemas.openxmlformats.org/officeDocument/2006/relationships/image" Target="../media/image63.png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6.wmf"/><Relationship Id="rId2" Type="http://schemas.openxmlformats.org/officeDocument/2006/relationships/oleObject" Target="../embeddings/oleObject6.bin"/><Relationship Id="rId1" Type="http://schemas.openxmlformats.org/officeDocument/2006/relationships/image" Target="../media/image6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7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3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4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1" Type="http://schemas.openxmlformats.org/officeDocument/2006/relationships/image" Target="../media/image7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7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85.wmf"/><Relationship Id="rId6" Type="http://schemas.openxmlformats.org/officeDocument/2006/relationships/oleObject" Target="../embeddings/oleObject7.bin"/><Relationship Id="rId5" Type="http://schemas.openxmlformats.org/officeDocument/2006/relationships/image" Target="../media/image84.jpeg"/><Relationship Id="rId4" Type="http://schemas.openxmlformats.org/officeDocument/2006/relationships/image" Target="../media/image83.png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90.wmf"/><Relationship Id="rId7" Type="http://schemas.openxmlformats.org/officeDocument/2006/relationships/oleObject" Target="../embeddings/oleObject10.bin"/><Relationship Id="rId6" Type="http://schemas.openxmlformats.org/officeDocument/2006/relationships/image" Target="../media/image89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88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87.png"/><Relationship Id="rId10" Type="http://schemas.openxmlformats.org/officeDocument/2006/relationships/vmlDrawing" Target="../drawings/vmlDrawing8.vml"/><Relationship Id="rId1" Type="http://schemas.openxmlformats.org/officeDocument/2006/relationships/image" Target="../media/image8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60336" y="2204864"/>
            <a:ext cx="7384415" cy="2122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6600" b="1" dirty="0" smtClean="0"/>
              <a:t>Quantum Mechanics</a:t>
            </a:r>
            <a:endParaRPr lang="en-US" altLang="zh-CN" sz="6600" b="1" dirty="0" smtClean="0"/>
          </a:p>
          <a:p>
            <a:r>
              <a:rPr lang="en-US" altLang="zh-CN" sz="6600" b="1" dirty="0"/>
              <a:t>             Tutorial</a:t>
            </a:r>
            <a:endParaRPr lang="en-US" altLang="zh-CN" sz="6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9"/>
          <p:cNvGraphicFramePr>
            <a:graphicFrameLocks noChangeAspect="1"/>
          </p:cNvGraphicFramePr>
          <p:nvPr/>
        </p:nvGraphicFramePr>
        <p:xfrm>
          <a:off x="3305914" y="5085184"/>
          <a:ext cx="1932879" cy="829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9" name="Equation" r:id="rId1" imgW="837565" imgH="406400" progId="Equation.3">
                  <p:embed/>
                </p:oleObj>
              </mc:Choice>
              <mc:Fallback>
                <p:oleObj name="Equation" r:id="rId1" imgW="837565" imgH="406400" progId="Equation.3">
                  <p:embed/>
                  <p:pic>
                    <p:nvPicPr>
                      <p:cNvPr id="0" name="图片 51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5914" y="5085184"/>
                        <a:ext cx="1932879" cy="8294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685081" y="160338"/>
            <a:ext cx="30948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Photoelectric effect           </a:t>
            </a:r>
            <a:endParaRPr lang="en-US" altLang="zh-CN" sz="2000" b="1" dirty="0" smtClean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72200" y="6165304"/>
            <a:ext cx="7200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22" name="Picture 5" descr="C:\Users\Administrator\Desktop\QQ截图2015061609242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941" y="5877272"/>
            <a:ext cx="3552825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接连接符 5"/>
          <p:cNvCxnSpPr/>
          <p:nvPr/>
        </p:nvCxnSpPr>
        <p:spPr bwMode="auto">
          <a:xfrm>
            <a:off x="1077780" y="5013176"/>
            <a:ext cx="673458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248" name="Picture 22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04"/>
          <a:stretch>
            <a:fillRect/>
          </a:stretch>
        </p:blipFill>
        <p:spPr bwMode="auto">
          <a:xfrm>
            <a:off x="365572" y="908720"/>
            <a:ext cx="5502572" cy="3808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50" name="Picture 22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692696"/>
            <a:ext cx="2837389" cy="4157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D15B9B4-B434-4334-8231-B61513F6FEB8}" type="slidenum">
              <a:rPr lang="en-US" altLang="zh-CN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2053" name="Picture 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916" y="2476890"/>
            <a:ext cx="2352763" cy="1672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50" name="Object 9"/>
          <p:cNvGraphicFramePr>
            <a:graphicFrameLocks noChangeAspect="1"/>
          </p:cNvGraphicFramePr>
          <p:nvPr/>
        </p:nvGraphicFramePr>
        <p:xfrm>
          <a:off x="4439321" y="714884"/>
          <a:ext cx="1932879" cy="829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" name="Equation" r:id="rId2" imgW="837565" imgH="406400" progId="Equation.3">
                  <p:embed/>
                </p:oleObj>
              </mc:Choice>
              <mc:Fallback>
                <p:oleObj name="Equation" r:id="rId2" imgW="837565" imgH="406400" progId="Equation.3">
                  <p:embed/>
                  <p:pic>
                    <p:nvPicPr>
                      <p:cNvPr id="0" name="图片 12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9321" y="714884"/>
                        <a:ext cx="1932879" cy="8294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24593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Review of Ch38</a:t>
            </a:r>
            <a:endParaRPr lang="en-US" altLang="zh-CN" sz="2400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3781424" y="160338"/>
            <a:ext cx="30948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Photoelectric  effect           </a:t>
            </a:r>
            <a:endParaRPr lang="en-US" altLang="zh-CN" sz="2000" b="1" dirty="0" smtClean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72200" y="6165304"/>
            <a:ext cx="7200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7596455" y="6625276"/>
            <a:ext cx="122413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 smtClean="0"/>
              <a:t>Ch38-3</a:t>
            </a:r>
            <a:endParaRPr lang="zh-CN" altLang="en-US" sz="1000" dirty="0"/>
          </a:p>
        </p:txBody>
      </p:sp>
      <p:pic>
        <p:nvPicPr>
          <p:cNvPr id="20" name="Picture 46" descr="C:\Users\Administrator\AppData\Roaming\Tencent\Users\48161784\QQ\WinTemp\RichOle\$LC59O4VJNUO0QAVTBTM8SO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32"/>
          <a:stretch>
            <a:fillRect/>
          </a:stretch>
        </p:blipFill>
        <p:spPr bwMode="auto">
          <a:xfrm>
            <a:off x="179388" y="707864"/>
            <a:ext cx="2243040" cy="2732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266" y="4149080"/>
            <a:ext cx="2845818" cy="201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4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0"/>
          <a:stretch>
            <a:fillRect/>
          </a:stretch>
        </p:blipFill>
        <p:spPr bwMode="auto">
          <a:xfrm>
            <a:off x="5513007" y="2339880"/>
            <a:ext cx="3135625" cy="4001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5" descr="C:\Users\Administrator\Desktop\QQ截图20150616092422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597" y="1550411"/>
            <a:ext cx="3552825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接连接符 5"/>
          <p:cNvCxnSpPr/>
          <p:nvPr/>
        </p:nvCxnSpPr>
        <p:spPr bwMode="auto">
          <a:xfrm>
            <a:off x="2301916" y="2190272"/>
            <a:ext cx="673458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连接符 7"/>
          <p:cNvCxnSpPr/>
          <p:nvPr/>
        </p:nvCxnSpPr>
        <p:spPr bwMode="auto">
          <a:xfrm>
            <a:off x="4860032" y="2190272"/>
            <a:ext cx="0" cy="434436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323265" y="6112654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en-US" altLang="zh-CN" sz="1600" dirty="0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1187500" y="6112262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en-US" altLang="zh-CN" sz="1600" dirty="0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979345" y="609282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en-US" altLang="zh-CN" sz="1600" dirty="0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椭圆 2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2843580" y="6112748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en-US" altLang="zh-CN" sz="1600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3923715" y="6112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E</a:t>
            </a:r>
            <a:endParaRPr lang="en-US" altLang="zh-CN" sz="1600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9070" y="5805170"/>
            <a:ext cx="5544820" cy="1008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>
            <p:custDataLst>
              <p:tags r:id="rId6"/>
            </p:custDataLst>
          </p:nvPr>
        </p:nvSpPr>
        <p:spPr>
          <a:xfrm>
            <a:off x="556895" y="621030"/>
            <a:ext cx="8140065" cy="195199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p>
            <a:pPr algn="just"/>
            <a:r>
              <a:rPr lang="en-US" altLang="en-US" sz="2800">
                <a:solidFill>
                  <a:srgbClr val="000000"/>
                </a:solidFill>
                <a:latin typeface="Times New Roman" panose="02020603050405020304" charset="0"/>
                <a:ea typeface="PMingLiU" panose="02020500000000000000" charset="-120"/>
                <a:sym typeface="+mn-ea"/>
              </a:rPr>
              <a:t>The work function for a certain sample is 2.3 eV. The stopping potential for electrons ejected from the sample by 7.0 </a:t>
            </a:r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  <a:ea typeface="PMingLiU" panose="02020500000000000000" charset="-120"/>
                <a:sym typeface="+mn-ea"/>
              </a:rPr>
              <a:t>×</a:t>
            </a:r>
            <a:r>
              <a:rPr lang="en-US" altLang="en-US" sz="2800">
                <a:solidFill>
                  <a:srgbClr val="000000"/>
                </a:solidFill>
                <a:latin typeface="Times New Roman" panose="02020603050405020304" charset="0"/>
                <a:ea typeface="PMingLiU" panose="02020500000000000000" charset="-120"/>
                <a:sym typeface="+mn-ea"/>
              </a:rPr>
              <a:t>10</a:t>
            </a:r>
            <a:r>
              <a:rPr lang="en-US" altLang="en-US" sz="2800" baseline="30000">
                <a:solidFill>
                  <a:srgbClr val="000000"/>
                </a:solidFill>
                <a:latin typeface="Times New Roman" panose="02020603050405020304" charset="0"/>
                <a:ea typeface="PMingLiU" panose="02020500000000000000" charset="-120"/>
                <a:sym typeface="+mn-ea"/>
              </a:rPr>
              <a:t>14</a:t>
            </a:r>
            <a:r>
              <a:rPr lang="en-US" altLang="en-US" sz="2800">
                <a:solidFill>
                  <a:srgbClr val="000000"/>
                </a:solidFill>
                <a:latin typeface="Times New Roman" panose="02020603050405020304" charset="0"/>
                <a:ea typeface="PMingLiU" panose="02020500000000000000" charset="-120"/>
                <a:sym typeface="+mn-ea"/>
              </a:rPr>
              <a:t> </a:t>
            </a:r>
            <a:r>
              <a:rPr lang="en-US" altLang="en-US" sz="2800">
                <a:solidFill>
                  <a:srgbClr val="000000"/>
                </a:solidFill>
                <a:latin typeface="Times New Roman" panose="02020603050405020304" charset="0"/>
                <a:ea typeface="PMingLiU" panose="02020500000000000000" charset="-120"/>
                <a:sym typeface="+mn-ea"/>
              </a:rPr>
              <a:t>Hz electromagnetic radiation is: </a:t>
            </a:r>
            <a:endParaRPr lang="en-US" altLang="en-US" sz="2800">
              <a:solidFill>
                <a:srgbClr val="000000"/>
              </a:solidFill>
              <a:latin typeface="Times New Roman" panose="02020603050405020304" charset="0"/>
              <a:ea typeface="PMingLiU" panose="02020500000000000000" charset="-120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72820" y="2421255"/>
            <a:ext cx="3559175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/>
            <a:r>
              <a:rPr lang="en-US" sz="2800">
                <a:latin typeface="Times New Roman" panose="02020603050405020304" charset="0"/>
                <a:sym typeface="+mn-ea"/>
              </a:rPr>
              <a:t>A)  0 V</a:t>
            </a:r>
            <a:endParaRPr lang="en-US" sz="2800">
              <a:latin typeface="Times New Roman" panose="02020603050405020304" charset="0"/>
              <a:sym typeface="+mn-ea"/>
            </a:endParaRPr>
          </a:p>
          <a:p>
            <a:pPr indent="0" algn="just"/>
            <a:endParaRPr lang="en-US" sz="2800">
              <a:latin typeface="Times New Roman" panose="02020603050405020304" charset="0"/>
              <a:sym typeface="+mn-ea"/>
            </a:endParaRPr>
          </a:p>
          <a:p>
            <a:pPr indent="0" algn="just"/>
            <a:r>
              <a:rPr lang="en-US" sz="2800">
                <a:latin typeface="Times New Roman" panose="02020603050405020304" charset="0"/>
                <a:sym typeface="+mn-ea"/>
              </a:rPr>
              <a:t>B)  0.60 V</a:t>
            </a:r>
            <a:endParaRPr lang="en-US" sz="2800">
              <a:latin typeface="Times New Roman" panose="02020603050405020304" charset="0"/>
              <a:sym typeface="+mn-ea"/>
            </a:endParaRPr>
          </a:p>
          <a:p>
            <a:pPr indent="0" algn="just"/>
            <a:r>
              <a:rPr lang="en-US" sz="2800">
                <a:latin typeface="Times New Roman" panose="02020603050405020304" charset="0"/>
                <a:sym typeface="+mn-ea"/>
              </a:rPr>
              <a:t> </a:t>
            </a:r>
            <a:endParaRPr lang="en-US" sz="2800">
              <a:latin typeface="Times New Roman" panose="02020603050405020304" charset="0"/>
              <a:sym typeface="+mn-ea"/>
            </a:endParaRPr>
          </a:p>
          <a:p>
            <a:pPr indent="0" algn="just"/>
            <a:r>
              <a:rPr lang="en-US" sz="2800">
                <a:latin typeface="Times New Roman" panose="02020603050405020304" charset="0"/>
                <a:sym typeface="+mn-ea"/>
              </a:rPr>
              <a:t>C)  2.3 V </a:t>
            </a:r>
            <a:endParaRPr lang="en-US" sz="2800">
              <a:latin typeface="Times New Roman" panose="02020603050405020304" charset="0"/>
              <a:sym typeface="+mn-ea"/>
            </a:endParaRPr>
          </a:p>
          <a:p>
            <a:pPr indent="0" algn="just"/>
            <a:endParaRPr lang="en-US" sz="2800">
              <a:latin typeface="Times New Roman" panose="02020603050405020304" charset="0"/>
              <a:sym typeface="+mn-ea"/>
            </a:endParaRPr>
          </a:p>
          <a:p>
            <a:pPr indent="0" algn="just"/>
            <a:r>
              <a:rPr lang="en-US" sz="2800">
                <a:latin typeface="Times New Roman" panose="02020603050405020304" charset="0"/>
                <a:sym typeface="+mn-ea"/>
              </a:rPr>
              <a:t>D)  2.9 V </a:t>
            </a:r>
            <a:endParaRPr lang="en-US" sz="2800">
              <a:latin typeface="Times New Roman" panose="02020603050405020304" charset="0"/>
              <a:sym typeface="+mn-ea"/>
            </a:endParaRPr>
          </a:p>
          <a:p>
            <a:pPr indent="0" algn="just"/>
            <a:endParaRPr lang="en-US" sz="2800">
              <a:latin typeface="Times New Roman" panose="02020603050405020304" charset="0"/>
              <a:sym typeface="+mn-ea"/>
            </a:endParaRPr>
          </a:p>
          <a:p>
            <a:pPr indent="0" algn="just"/>
            <a:r>
              <a:rPr lang="en-US" sz="2800">
                <a:latin typeface="Times New Roman" panose="02020603050405020304" charset="0"/>
                <a:sym typeface="+mn-ea"/>
              </a:rPr>
              <a:t>E)  5.2 V </a:t>
            </a:r>
            <a:endParaRPr lang="en-US" sz="2800">
              <a:latin typeface="Times New Roman" panose="02020603050405020304" charset="0"/>
              <a:sym typeface="+mn-ea"/>
            </a:endParaRPr>
          </a:p>
        </p:txBody>
      </p:sp>
      <p:sp>
        <p:nvSpPr>
          <p:cNvPr id="21" name="圆角矩形 20"/>
          <p:cNvSpPr/>
          <p:nvPr>
            <p:custDataLst>
              <p:tags r:id="rId7"/>
            </p:custDataLst>
          </p:nvPr>
        </p:nvSpPr>
        <p:spPr>
          <a:xfrm>
            <a:off x="61722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2" name="组合 21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5" name="TitleBackground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1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20" name="TipText"/>
            <p:cNvSpPr txBox="1"/>
            <p:nvPr>
              <p:custDataLst>
                <p:tags r:id="rId12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10分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9" name="图片 8" descr="tmp2B5F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3781424" y="160338"/>
            <a:ext cx="30948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Compton  effect          </a:t>
            </a:r>
            <a:endParaRPr lang="en-US" altLang="zh-CN" sz="2000" b="1" dirty="0" smtClean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1805"/>
            <a:ext cx="5409735" cy="21025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991729"/>
            <a:ext cx="5949931" cy="3549318"/>
          </a:xfrm>
          <a:prstGeom prst="rect">
            <a:avLst/>
          </a:prstGeom>
        </p:spPr>
      </p:pic>
      <p:sp>
        <p:nvSpPr>
          <p:cNvPr id="12" name="TextBox 1"/>
          <p:cNvSpPr txBox="1">
            <a:spLocks noChangeArrowheads="1"/>
          </p:cNvSpPr>
          <p:nvPr/>
        </p:nvSpPr>
        <p:spPr bwMode="auto">
          <a:xfrm>
            <a:off x="278253" y="3824012"/>
            <a:ext cx="8707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 smtClean="0">
                <a:solidFill>
                  <a:srgbClr val="FF0000"/>
                </a:solidFill>
                <a:latin typeface="+mj-lt"/>
              </a:rPr>
              <a:t>along </a:t>
            </a:r>
            <a:r>
              <a:rPr lang="en-US" altLang="zh-CN" dirty="0">
                <a:solidFill>
                  <a:srgbClr val="FF0000"/>
                </a:solidFill>
                <a:latin typeface="+mj-lt"/>
              </a:rPr>
              <a:t>x</a:t>
            </a:r>
            <a:endParaRPr lang="zh-CN" alt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3" name="TextBox 1"/>
          <p:cNvSpPr txBox="1">
            <a:spLocks noChangeArrowheads="1"/>
          </p:cNvSpPr>
          <p:nvPr/>
        </p:nvSpPr>
        <p:spPr bwMode="auto">
          <a:xfrm>
            <a:off x="278253" y="4397056"/>
            <a:ext cx="8707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 smtClean="0">
                <a:solidFill>
                  <a:srgbClr val="FF0000"/>
                </a:solidFill>
                <a:latin typeface="+mj-lt"/>
              </a:rPr>
              <a:t>along y</a:t>
            </a:r>
            <a:endParaRPr lang="zh-CN" altLang="en-US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259" y="1242616"/>
            <a:ext cx="4308741" cy="1440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3781424" y="146665"/>
            <a:ext cx="30948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Compton  effect          </a:t>
            </a:r>
            <a:endParaRPr lang="en-US" altLang="zh-CN" sz="2000" b="1" dirty="0" smtClean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936948"/>
            <a:ext cx="4428592" cy="2321645"/>
          </a:xfrm>
          <a:prstGeom prst="rect">
            <a:avLst/>
          </a:prstGeom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67886"/>
            <a:ext cx="2822557" cy="1845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086349"/>
            <a:ext cx="4171281" cy="3382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93" y="980727"/>
            <a:ext cx="6527803" cy="1981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986" y="3182108"/>
            <a:ext cx="5528198" cy="2874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3781424" y="146665"/>
            <a:ext cx="30948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Compton  effect          </a:t>
            </a:r>
            <a:endParaRPr lang="en-US" altLang="zh-CN" sz="2000" b="1" dirty="0" smtClean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075" y="6185584"/>
            <a:ext cx="3636479" cy="243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251520" y="160338"/>
            <a:ext cx="1800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problem</a:t>
            </a:r>
            <a:r>
              <a:rPr lang="en-US" altLang="zh-CN" sz="2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          </a:t>
            </a:r>
            <a:endParaRPr lang="en-US" altLang="zh-CN" sz="2000" b="1" dirty="0" smtClean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73147" y="6611779"/>
            <a:ext cx="108012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 smtClean="0"/>
              <a:t>Ch38-13</a:t>
            </a:r>
            <a:endParaRPr lang="zh-CN" alt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755576" y="1196752"/>
            <a:ext cx="83884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2400" dirty="0" smtClean="0">
                <a:latin typeface="+mj-lt"/>
              </a:rPr>
              <a:t>Show that when a photon of energy E is scattered from a free electron at rest, the maximum kinetic energy of the recoiling electron is given by</a:t>
            </a:r>
            <a:endParaRPr lang="en-US" altLang="zh-CN" sz="2400" dirty="0" smtClean="0">
              <a:latin typeface="+mj-lt"/>
            </a:endParaRPr>
          </a:p>
          <a:p>
            <a:r>
              <a:rPr lang="en-US" altLang="zh-CN" dirty="0" smtClean="0"/>
              <a:t> </a:t>
            </a:r>
            <a:endParaRPr lang="zh-CN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564" y="2790682"/>
            <a:ext cx="2016224" cy="6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13821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Answer </a:t>
            </a:r>
            <a:endParaRPr lang="en-US" altLang="zh-CN" sz="2400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96455" y="6625276"/>
            <a:ext cx="122413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 smtClean="0"/>
              <a:t>Ch38-14</a:t>
            </a:r>
            <a:endParaRPr lang="zh-CN" altLang="en-US" sz="10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336" y="836712"/>
            <a:ext cx="8410575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4797152"/>
            <a:ext cx="3752850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685081" y="160338"/>
            <a:ext cx="30948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Wave Particle Duality           </a:t>
            </a:r>
            <a:endParaRPr lang="en-US" altLang="zh-CN" sz="2000" b="1" dirty="0" smtClean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14" y="931396"/>
            <a:ext cx="1743075" cy="2857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18" y="1401564"/>
            <a:ext cx="4887018" cy="5810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16" y="2083437"/>
            <a:ext cx="5029200" cy="809625"/>
          </a:xfrm>
          <a:prstGeom prst="rect">
            <a:avLst/>
          </a:prstGeom>
        </p:spPr>
      </p:pic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2936" y="948164"/>
            <a:ext cx="3812671" cy="269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20" y="2942075"/>
            <a:ext cx="5219896" cy="3467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7" descr="C:\Users\Administrator\Desktop\QQ截图20150616092823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3910111"/>
            <a:ext cx="1477547" cy="73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724128" y="4780309"/>
                <a:ext cx="1593513" cy="1384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800" i="1" dirty="0" smtClean="0">
                          <a:latin typeface="+mj-lt"/>
                        </a:rPr>
                        <m:t>p</m:t>
                      </m:r>
                      <m:r>
                        <m:rPr>
                          <m:nor/>
                        </m:rPr>
                        <a:rPr lang="en-US" altLang="zh-CN" sz="2800" i="1" dirty="0" smtClean="0">
                          <a:latin typeface="+mj-lt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2800" i="1" dirty="0" smtClean="0">
                          <a:latin typeface="+mj-lt"/>
                        </a:rPr>
                        <m:t>mv</m:t>
                      </m:r>
                    </m:oMath>
                  </m:oMathPara>
                </a14:m>
                <a:endParaRPr lang="en-US" altLang="zh-CN" sz="2800" i="1" dirty="0" smtClean="0">
                  <a:latin typeface="+mj-lt"/>
                </a:endParaRPr>
              </a:p>
              <a:p>
                <a:endParaRPr lang="en-US" altLang="zh-CN" sz="2800" i="1" dirty="0" smtClean="0">
                  <a:latin typeface="+mj-lt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/>
                        </a:rPr>
                        <m:t>  </m:t>
                      </m:r>
                      <m:r>
                        <a:rPr lang="en-US" altLang="zh-CN" sz="2800" b="0" i="1" smtClean="0">
                          <a:latin typeface="Cambria Math" panose="02040503050406030204"/>
                        </a:rPr>
                        <m:t>𝐸</m:t>
                      </m:r>
                      <m:r>
                        <a:rPr lang="en-US" altLang="zh-CN" sz="2800" b="0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/>
                        </a:rPr>
                        <m:t>ℎ𝑓</m:t>
                      </m:r>
                    </m:oMath>
                  </m:oMathPara>
                </a14:m>
                <a:endParaRPr lang="en-US" altLang="zh-CN" sz="2800" b="0" i="1" dirty="0" smtClean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128" y="4780309"/>
                <a:ext cx="1593513" cy="1384995"/>
              </a:xfrm>
              <a:prstGeom prst="rect">
                <a:avLst/>
              </a:prstGeom>
              <a:blipFill rotWithShape="1">
                <a:blip r:embed="rId7"/>
                <a:stretch>
                  <a:fillRect l="-15" t="-2" r="34" b="-24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611560" y="177443"/>
            <a:ext cx="30948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Wave Function           </a:t>
            </a:r>
            <a:endParaRPr lang="en-US" altLang="zh-CN" sz="2000" b="1" dirty="0" smtClean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52" y="908720"/>
            <a:ext cx="6480722" cy="65193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221" y="1700808"/>
            <a:ext cx="3282074" cy="52889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625" y="2612848"/>
            <a:ext cx="1506279" cy="5251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2" y="3501008"/>
            <a:ext cx="6696745" cy="6720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24" y="4581128"/>
            <a:ext cx="6661054" cy="103281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012" y="5711007"/>
            <a:ext cx="2450659" cy="4805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18096"/>
            <a:ext cx="8229600" cy="46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541065" y="220578"/>
            <a:ext cx="30948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Wave Function           </a:t>
            </a:r>
            <a:endParaRPr lang="en-US" altLang="zh-CN" sz="2000" b="1" dirty="0" smtClean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093247"/>
            <a:ext cx="7467600" cy="422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541065" y="220578"/>
            <a:ext cx="30948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Wave Function           </a:t>
            </a:r>
            <a:endParaRPr lang="en-US" altLang="zh-CN" sz="2000" b="1" dirty="0" smtClean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685081" y="160338"/>
            <a:ext cx="30948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Schrodinger  Equation          </a:t>
            </a:r>
            <a:endParaRPr lang="en-US" altLang="zh-CN" sz="2000" b="1" dirty="0" smtClean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12" name="Picture 1" descr="C:\Users\Administrator\AppData\Roaming\Tencent\Users\48161784\QQ\WinTemp\RichOle\6)PYR)U}FX@V9B@IUOK]M]0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980728"/>
            <a:ext cx="7000875" cy="491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683568" y="160338"/>
            <a:ext cx="30948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Schrodinger  Equation          </a:t>
            </a:r>
            <a:endParaRPr lang="en-US" altLang="zh-CN" sz="2000" b="1" dirty="0" smtClean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554"/>
          <a:stretch>
            <a:fillRect/>
          </a:stretch>
        </p:blipFill>
        <p:spPr>
          <a:xfrm>
            <a:off x="551531" y="1476400"/>
            <a:ext cx="6459785" cy="2376264"/>
          </a:xfrm>
          <a:prstGeom prst="rect">
            <a:avLst/>
          </a:prstGeom>
        </p:spPr>
      </p:pic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342668" y="908720"/>
          <a:ext cx="17748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3" name="公式" r:id="rId2" imgW="22250400" imgH="6096000" progId="Equation.3">
                  <p:embed/>
                </p:oleObj>
              </mc:Choice>
              <mc:Fallback>
                <p:oleObj name="公式" r:id="rId2" imgW="22250400" imgH="6096000" progId="Equation.3">
                  <p:embed/>
                  <p:pic>
                    <p:nvPicPr>
                      <p:cNvPr id="0" name="图片 61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2668" y="908720"/>
                        <a:ext cx="177482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80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48" y="4221088"/>
            <a:ext cx="6667407" cy="216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755576" y="160338"/>
            <a:ext cx="30948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Schrodinger  Equation          </a:t>
            </a:r>
            <a:endParaRPr lang="en-US" altLang="zh-CN" sz="2000" b="1" dirty="0" smtClean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4448" y="3040707"/>
            <a:ext cx="2311968" cy="4603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3861048"/>
            <a:ext cx="5046251" cy="81689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951" y="4731877"/>
            <a:ext cx="3934270" cy="1152092"/>
          </a:xfrm>
          <a:prstGeom prst="rect">
            <a:avLst/>
          </a:prstGeom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24744"/>
            <a:ext cx="5788203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102834" y="2339588"/>
            <a:ext cx="270141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i="1" dirty="0" smtClean="0">
                <a:latin typeface="+mj-lt"/>
              </a:rPr>
              <a:t>k</a:t>
            </a:r>
            <a:r>
              <a:rPr lang="en-US" altLang="zh-CN" dirty="0" smtClean="0">
                <a:latin typeface="+mj-lt"/>
              </a:rPr>
              <a:t>--angular wave number</a:t>
            </a:r>
            <a:endParaRPr lang="zh-CN" altLang="en-US" dirty="0">
              <a:latin typeface="+mj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010076" y="3040707"/>
            <a:ext cx="2022476" cy="391587"/>
            <a:chOff x="3902183" y="2652067"/>
            <a:chExt cx="2022476" cy="391587"/>
          </a:xfrm>
        </p:grpSpPr>
        <p:cxnSp>
          <p:nvCxnSpPr>
            <p:cNvPr id="12" name="直接箭头连接符 11"/>
            <p:cNvCxnSpPr/>
            <p:nvPr/>
          </p:nvCxnSpPr>
          <p:spPr bwMode="auto">
            <a:xfrm>
              <a:off x="3902183" y="3043654"/>
              <a:ext cx="1863358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" name="TextBox 12"/>
            <p:cNvSpPr txBox="1"/>
            <p:nvPr/>
          </p:nvSpPr>
          <p:spPr>
            <a:xfrm>
              <a:off x="3902183" y="2652067"/>
              <a:ext cx="20224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General solution</a:t>
              </a:r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3781424" y="160338"/>
            <a:ext cx="30948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        Example</a:t>
            </a:r>
            <a:endParaRPr lang="en-US" altLang="zh-CN" sz="2000" b="1" dirty="0" smtClean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64723" y="836712"/>
          <a:ext cx="7543800" cy="540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7" name="Bitmap Image" r:id="rId1" imgW="6981825" imgH="5000625" progId="PBrush">
                  <p:embed/>
                </p:oleObj>
              </mc:Choice>
              <mc:Fallback>
                <p:oleObj name="Bitmap Image" r:id="rId1" imgW="6981825" imgH="5000625" progId="PBrush">
                  <p:embed/>
                  <p:pic>
                    <p:nvPicPr>
                      <p:cNvPr id="0" name="图片 72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723" y="836712"/>
                        <a:ext cx="7543800" cy="540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3781424" y="160338"/>
            <a:ext cx="30948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        Example</a:t>
            </a:r>
            <a:endParaRPr lang="en-US" altLang="zh-CN" sz="2000" b="1" dirty="0" smtClean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973" y="908720"/>
            <a:ext cx="7162800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3781424" y="160338"/>
            <a:ext cx="30948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        Example</a:t>
            </a:r>
            <a:endParaRPr lang="en-US" altLang="zh-CN" sz="2000" b="1" dirty="0" smtClean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17123" y="692696"/>
            <a:ext cx="7391400" cy="5302250"/>
            <a:chOff x="817123" y="692696"/>
            <a:chExt cx="7391400" cy="5302250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123" y="692696"/>
              <a:ext cx="7391400" cy="5302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5342880" y="2535287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i="1" dirty="0" smtClean="0">
                  <a:latin typeface="+mj-lt"/>
                </a:rPr>
                <a:t>L</a:t>
              </a:r>
              <a:endParaRPr lang="zh-CN" altLang="en-US" sz="2400" i="1" dirty="0">
                <a:latin typeface="+mj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3781424" y="160338"/>
            <a:ext cx="30948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        Example</a:t>
            </a:r>
            <a:endParaRPr lang="en-US" altLang="zh-CN" sz="2000" b="1" dirty="0" smtClean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693"/>
          <a:stretch>
            <a:fillRect/>
          </a:stretch>
        </p:blipFill>
        <p:spPr bwMode="auto">
          <a:xfrm>
            <a:off x="251520" y="1700808"/>
            <a:ext cx="4823353" cy="971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214" y="1309117"/>
            <a:ext cx="3524250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921" y="3483879"/>
            <a:ext cx="3888551" cy="2249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" name="组合 6"/>
          <p:cNvGrpSpPr/>
          <p:nvPr/>
        </p:nvGrpSpPr>
        <p:grpSpPr>
          <a:xfrm>
            <a:off x="228402" y="2708920"/>
            <a:ext cx="4919662" cy="3744913"/>
            <a:chOff x="157163" y="2996455"/>
            <a:chExt cx="4919662" cy="3744913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/>
          </p:nvGraphicFramePr>
          <p:xfrm>
            <a:off x="157163" y="2996455"/>
            <a:ext cx="4919662" cy="3744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31" name="BMP 图像" r:id="rId4" imgW="6667500" imgH="5000625" progId="Paint.Picture">
                    <p:embed/>
                  </p:oleObj>
                </mc:Choice>
                <mc:Fallback>
                  <p:oleObj name="BMP 图像" r:id="rId4" imgW="6667500" imgH="5000625" progId="Paint.Picture">
                    <p:embed/>
                    <p:pic>
                      <p:nvPicPr>
                        <p:cNvPr id="0" name="图片 82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163" y="2996455"/>
                          <a:ext cx="4919662" cy="37449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/>
            <p:nvPr/>
          </p:nvSpPr>
          <p:spPr bwMode="auto">
            <a:xfrm>
              <a:off x="179388" y="4292599"/>
              <a:ext cx="4896668" cy="233218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3781424" y="160338"/>
            <a:ext cx="30948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Barrier  Tunneling         </a:t>
            </a:r>
            <a:endParaRPr lang="en-US" altLang="zh-CN" sz="2000" b="1" dirty="0" smtClean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96455" y="6625276"/>
            <a:ext cx="122413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 smtClean="0"/>
              <a:t>Ch38-12</a:t>
            </a:r>
            <a:endParaRPr lang="zh-CN" altLang="en-US" sz="10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764704"/>
            <a:ext cx="6552728" cy="36004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712" y="4146128"/>
            <a:ext cx="2008439" cy="57606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180" y="4918267"/>
            <a:ext cx="3393504" cy="10081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251520" y="97468"/>
            <a:ext cx="1800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 smtClean="0">
                <a:solidFill>
                  <a:srgbClr val="0070C0"/>
                </a:solidFill>
                <a:latin typeface="Times New Roman" panose="02020603050405020304" charset="0"/>
                <a:ea typeface="宋体" panose="02010600030101010101" pitchFamily="2" charset="-122"/>
              </a:rPr>
              <a:t>Problem</a:t>
            </a:r>
            <a:r>
              <a:rPr lang="en-US" altLang="zh-CN" sz="2400" b="1" dirty="0" smtClean="0">
                <a:solidFill>
                  <a:srgbClr val="0070C0"/>
                </a:solidFill>
                <a:latin typeface="Times New Roman" panose="02020603050405020304" charset="0"/>
                <a:ea typeface="宋体" panose="02010600030101010101" pitchFamily="2" charset="-122"/>
              </a:rPr>
              <a:t>           </a:t>
            </a:r>
            <a:endParaRPr lang="en-US" altLang="zh-CN" sz="2400" b="1" dirty="0" smtClean="0">
              <a:solidFill>
                <a:srgbClr val="0070C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21568" y="1130300"/>
            <a:ext cx="8498904" cy="4530948"/>
            <a:chOff x="35496" y="1130300"/>
            <a:chExt cx="8498904" cy="4530948"/>
          </a:xfrm>
        </p:grpSpPr>
        <p:grpSp>
          <p:nvGrpSpPr>
            <p:cNvPr id="15" name="组合 14"/>
            <p:cNvGrpSpPr/>
            <p:nvPr/>
          </p:nvGrpSpPr>
          <p:grpSpPr>
            <a:xfrm>
              <a:off x="35496" y="1130300"/>
              <a:ext cx="8498904" cy="4205288"/>
              <a:chOff x="35496" y="1130300"/>
              <a:chExt cx="8498904" cy="4205288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35496" y="1130300"/>
                <a:ext cx="8498904" cy="4205288"/>
                <a:chOff x="35496" y="1130300"/>
                <a:chExt cx="8498904" cy="4205288"/>
              </a:xfrm>
            </p:grpSpPr>
            <p:pic>
              <p:nvPicPr>
                <p:cNvPr id="11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9560"/>
                <a:stretch>
                  <a:fillRect/>
                </a:stretch>
              </p:blipFill>
              <p:spPr bwMode="auto">
                <a:xfrm>
                  <a:off x="457200" y="1130300"/>
                  <a:ext cx="8077200" cy="4205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" name="TextBox 12"/>
                <p:cNvSpPr txBox="1"/>
                <p:nvPr/>
              </p:nvSpPr>
              <p:spPr>
                <a:xfrm>
                  <a:off x="35496" y="1268760"/>
                  <a:ext cx="2880320" cy="40011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 smtClean="0">
                      <a:latin typeface="+mj-lt"/>
                    </a:rPr>
                    <a:t>The second-excited state</a:t>
                  </a:r>
                  <a:endParaRPr lang="zh-CN" altLang="en-US" sz="2000" b="1" dirty="0">
                    <a:latin typeface="+mj-lt"/>
                  </a:endParaRPr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2843808" y="2636912"/>
                <a:ext cx="2736304" cy="937936"/>
                <a:chOff x="2843808" y="2636912"/>
                <a:chExt cx="2736304" cy="937936"/>
              </a:xfrm>
            </p:grpSpPr>
            <p:grpSp>
              <p:nvGrpSpPr>
                <p:cNvPr id="5" name="组合 4"/>
                <p:cNvGrpSpPr/>
                <p:nvPr/>
              </p:nvGrpSpPr>
              <p:grpSpPr>
                <a:xfrm>
                  <a:off x="2843808" y="2636912"/>
                  <a:ext cx="2736304" cy="937936"/>
                  <a:chOff x="2843808" y="2636912"/>
                  <a:chExt cx="2736304" cy="937936"/>
                </a:xfrm>
              </p:grpSpPr>
              <p:pic>
                <p:nvPicPr>
                  <p:cNvPr id="8198" name="Picture 6"/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43808" y="2636912"/>
                    <a:ext cx="2736304" cy="93793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sp>
                <p:nvSpPr>
                  <p:cNvPr id="4" name="TextBox 3"/>
                  <p:cNvSpPr txBox="1"/>
                  <p:nvPr/>
                </p:nvSpPr>
                <p:spPr>
                  <a:xfrm>
                    <a:off x="4711472" y="2708920"/>
                    <a:ext cx="580608" cy="40011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2000" b="1" i="1" dirty="0" smtClean="0">
                        <a:latin typeface="+mj-lt"/>
                      </a:rPr>
                      <a:t>3</a:t>
                    </a:r>
                    <a:r>
                      <a:rPr lang="el-GR" altLang="zh-CN" sz="2000" b="1" i="1" dirty="0" smtClean="0">
                        <a:latin typeface="+mj-lt"/>
                        <a:cs typeface="Times New Roman" panose="02020603050405020304"/>
                      </a:rPr>
                      <a:t>π</a:t>
                    </a:r>
                    <a:r>
                      <a:rPr lang="en-US" altLang="zh-CN" sz="2000" b="1" i="1" dirty="0" smtClean="0">
                        <a:latin typeface="+mj-lt"/>
                        <a:cs typeface="Times New Roman" panose="02020603050405020304"/>
                      </a:rPr>
                      <a:t>x</a:t>
                    </a:r>
                    <a:endParaRPr lang="zh-CN" altLang="en-US" sz="2000" b="1" i="1" dirty="0">
                      <a:latin typeface="+mj-lt"/>
                    </a:endParaRPr>
                  </a:p>
                </p:txBody>
              </p:sp>
            </p:grpSp>
            <p:sp>
              <p:nvSpPr>
                <p:cNvPr id="6" name="矩形 5"/>
                <p:cNvSpPr/>
                <p:nvPr/>
              </p:nvSpPr>
              <p:spPr bwMode="auto">
                <a:xfrm>
                  <a:off x="3275856" y="3105880"/>
                  <a:ext cx="72008" cy="251112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zh-CN" alt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827584" y="5199583"/>
              <a:ext cx="7075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 smtClean="0">
                  <a:latin typeface="+mj-lt"/>
                </a:rPr>
                <a:t>And how about the middle 1/3 , right 1/3 of the well?</a:t>
              </a:r>
              <a:endParaRPr lang="zh-CN" altLang="en-US" sz="2400" b="1" dirty="0">
                <a:latin typeface="+mj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762000" y="836712"/>
            <a:ext cx="7482408" cy="5290906"/>
            <a:chOff x="762000" y="901700"/>
            <a:chExt cx="7482408" cy="5290906"/>
          </a:xfrm>
        </p:grpSpPr>
        <p:grpSp>
          <p:nvGrpSpPr>
            <p:cNvPr id="8" name="组合 7"/>
            <p:cNvGrpSpPr/>
            <p:nvPr/>
          </p:nvGrpSpPr>
          <p:grpSpPr>
            <a:xfrm>
              <a:off x="762000" y="901700"/>
              <a:ext cx="7482408" cy="5290906"/>
              <a:chOff x="762000" y="901700"/>
              <a:chExt cx="7482408" cy="5290906"/>
            </a:xfrm>
          </p:grpSpPr>
          <p:pic>
            <p:nvPicPr>
              <p:cNvPr id="39939" name="Picture 4"/>
              <p:cNvPicPr>
                <a:picLocks noChangeAspect="1" noChangeArrowheads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746"/>
              <a:stretch>
                <a:fillRect/>
              </a:stretch>
            </p:blipFill>
            <p:spPr bwMode="auto">
              <a:xfrm>
                <a:off x="762000" y="901700"/>
                <a:ext cx="7391400" cy="5091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290" name="Picture 2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241"/>
              <a:stretch>
                <a:fillRect/>
              </a:stretch>
            </p:blipFill>
            <p:spPr bwMode="auto">
              <a:xfrm>
                <a:off x="2555776" y="2492896"/>
                <a:ext cx="3502438" cy="8187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2" name="组合 1"/>
              <p:cNvGrpSpPr/>
              <p:nvPr/>
            </p:nvGrpSpPr>
            <p:grpSpPr>
              <a:xfrm>
                <a:off x="2987823" y="3501008"/>
                <a:ext cx="2668569" cy="620770"/>
                <a:chOff x="2987823" y="3509624"/>
                <a:chExt cx="2668569" cy="620770"/>
              </a:xfrm>
            </p:grpSpPr>
            <p:pic>
              <p:nvPicPr>
                <p:cNvPr id="12291" name="Picture 3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87823" y="3533215"/>
                  <a:ext cx="1319171" cy="5524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2292" name="Picture 4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281841" y="3509624"/>
                  <a:ext cx="1374551" cy="62077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grpSp>
            <p:nvGrpSpPr>
              <p:cNvPr id="7" name="组合 6"/>
              <p:cNvGrpSpPr/>
              <p:nvPr/>
            </p:nvGrpSpPr>
            <p:grpSpPr>
              <a:xfrm>
                <a:off x="1907704" y="4121778"/>
                <a:ext cx="6048672" cy="2070828"/>
                <a:chOff x="1907704" y="4121778"/>
                <a:chExt cx="6048672" cy="2070828"/>
              </a:xfrm>
            </p:grpSpPr>
            <p:sp>
              <p:nvSpPr>
                <p:cNvPr id="3" name="矩形 2"/>
                <p:cNvSpPr/>
                <p:nvPr/>
              </p:nvSpPr>
              <p:spPr bwMode="auto">
                <a:xfrm>
                  <a:off x="2699792" y="4121778"/>
                  <a:ext cx="5256584" cy="1107422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zh-CN" altLang="en-US" sz="2400" b="0" i="0" u="none" strike="noStrike" cap="none" normalizeH="0" baseline="0" smtClean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" name="矩形 13"/>
                <p:cNvSpPr/>
                <p:nvPr/>
              </p:nvSpPr>
              <p:spPr bwMode="auto">
                <a:xfrm>
                  <a:off x="1907704" y="5085184"/>
                  <a:ext cx="5256584" cy="1107422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zh-CN" altLang="en-US" sz="2400" b="0" i="0" u="none" strike="noStrike" cap="none" normalizeH="0" baseline="0" smtClean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6" name="组合 5"/>
              <p:cNvGrpSpPr/>
              <p:nvPr/>
            </p:nvGrpSpPr>
            <p:grpSpPr>
              <a:xfrm>
                <a:off x="1619672" y="4426919"/>
                <a:ext cx="6624736" cy="730273"/>
                <a:chOff x="1619672" y="4365104"/>
                <a:chExt cx="6624736" cy="730273"/>
              </a:xfrm>
            </p:grpSpPr>
            <p:pic>
              <p:nvPicPr>
                <p:cNvPr id="12294" name="Picture 6"/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311905" y="4365104"/>
                  <a:ext cx="2932503" cy="7302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2293" name="Picture 5"/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619672" y="4365104"/>
                  <a:ext cx="3133681" cy="7200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4" name="右箭头 3"/>
                <p:cNvSpPr/>
                <p:nvPr/>
              </p:nvSpPr>
              <p:spPr bwMode="auto">
                <a:xfrm>
                  <a:off x="4753353" y="4581129"/>
                  <a:ext cx="558552" cy="28803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zh-CN" alt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pic>
          <p:nvPicPr>
            <p:cNvPr id="12295" name="Picture 7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35696" y="5194175"/>
              <a:ext cx="2109086" cy="7551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" name="右箭头 17"/>
            <p:cNvSpPr/>
            <p:nvPr/>
          </p:nvSpPr>
          <p:spPr bwMode="auto">
            <a:xfrm>
              <a:off x="4027719" y="5427711"/>
              <a:ext cx="558552" cy="28803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12296" name="Picture 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6016" y="5229200"/>
              <a:ext cx="1296696" cy="744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13821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Answer </a:t>
            </a:r>
            <a:endParaRPr lang="en-US" altLang="zh-CN" sz="2400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3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645024"/>
            <a:ext cx="6172200" cy="277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Rectangle 3"/>
          <p:cNvSpPr>
            <a:spLocks noChangeArrowheads="1"/>
          </p:cNvSpPr>
          <p:nvPr/>
        </p:nvSpPr>
        <p:spPr bwMode="auto">
          <a:xfrm>
            <a:off x="2562225" y="2938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zh-CN" altLang="zh-CN">
              <a:ea typeface="宋体" panose="02010600030101010101" pitchFamily="2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124223" y="1340768"/>
          <a:ext cx="6514554" cy="1591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5" name="Equation" r:id="rId2" imgW="80467200" imgH="21945600" progId="Equation.DSMT4">
                  <p:embed/>
                </p:oleObj>
              </mc:Choice>
              <mc:Fallback>
                <p:oleObj name="Equation" r:id="rId2" imgW="80467200" imgH="21945600" progId="Equation.DSMT4">
                  <p:embed/>
                  <p:pic>
                    <p:nvPicPr>
                      <p:cNvPr id="0" name="图片 92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4223" y="1340768"/>
                        <a:ext cx="6514554" cy="15911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7544" y="908720"/>
            <a:ext cx="50513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latin typeface="+mj-lt"/>
              </a:rPr>
              <a:t>Probability of detection in left one-third of well</a:t>
            </a:r>
            <a:endParaRPr lang="zh-CN" altLang="en-US" sz="2000" dirty="0"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7543" y="3028890"/>
            <a:ext cx="82240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latin typeface="+mj-lt"/>
              </a:rPr>
              <a:t>We can find the probabilities of detection in middle and right one-third of well </a:t>
            </a:r>
            <a:endParaRPr lang="en-US" altLang="zh-CN" sz="2000" dirty="0" smtClean="0">
              <a:latin typeface="+mj-lt"/>
            </a:endParaRPr>
          </a:p>
          <a:p>
            <a:r>
              <a:rPr lang="en-US" altLang="zh-CN" sz="2000" dirty="0" smtClean="0">
                <a:latin typeface="+mj-lt"/>
              </a:rPr>
              <a:t>also are 1/3 </a:t>
            </a:r>
            <a:r>
              <a:rPr lang="en-US" altLang="zh-CN" sz="2000" dirty="0">
                <a:latin typeface="+mj-lt"/>
              </a:rPr>
              <a:t>via </a:t>
            </a:r>
            <a:r>
              <a:rPr lang="en-US" altLang="zh-CN" sz="2000" dirty="0" err="1" smtClean="0">
                <a:latin typeface="+mj-lt"/>
              </a:rPr>
              <a:t>pluging</a:t>
            </a:r>
            <a:r>
              <a:rPr lang="en-US" altLang="zh-CN" sz="2000" dirty="0" smtClean="0">
                <a:latin typeface="+mj-lt"/>
              </a:rPr>
              <a:t> (</a:t>
            </a:r>
            <a:r>
              <a:rPr lang="el-GR" altLang="zh-CN" sz="2000" dirty="0" smtClean="0">
                <a:latin typeface="Times New Roman" panose="02020603050405020304"/>
                <a:cs typeface="Times New Roman" panose="02020603050405020304"/>
              </a:rPr>
              <a:t>π</a:t>
            </a:r>
            <a:r>
              <a:rPr lang="en-US" altLang="zh-CN" sz="2000" dirty="0" smtClean="0">
                <a:latin typeface="Times New Roman" panose="02020603050405020304"/>
                <a:cs typeface="Times New Roman" panose="02020603050405020304"/>
              </a:rPr>
              <a:t>, 2</a:t>
            </a:r>
            <a:r>
              <a:rPr lang="el-GR" altLang="zh-CN" sz="2000" dirty="0" smtClean="0">
                <a:latin typeface="Times New Roman" panose="02020603050405020304"/>
                <a:cs typeface="Times New Roman" panose="02020603050405020304"/>
              </a:rPr>
              <a:t>π</a:t>
            </a:r>
            <a:r>
              <a:rPr lang="en-US" altLang="zh-CN" sz="2000" dirty="0" smtClean="0">
                <a:latin typeface="+mj-lt"/>
              </a:rPr>
              <a:t>) and </a:t>
            </a:r>
            <a:r>
              <a:rPr lang="en-US" altLang="zh-CN" sz="2000" dirty="0" smtClean="0"/>
              <a:t>(</a:t>
            </a:r>
            <a:r>
              <a:rPr lang="en-US" altLang="zh-CN" sz="2000" dirty="0" smtClean="0">
                <a:latin typeface="+mj-lt"/>
              </a:rPr>
              <a:t>2</a:t>
            </a:r>
            <a:r>
              <a:rPr lang="el-GR" altLang="zh-CN" sz="2000" dirty="0" smtClean="0">
                <a:latin typeface="Times New Roman" panose="02020603050405020304"/>
                <a:cs typeface="Times New Roman" panose="02020603050405020304"/>
              </a:rPr>
              <a:t>π</a:t>
            </a:r>
            <a:r>
              <a:rPr lang="en-US" altLang="zh-CN" sz="2000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lang="en-US" altLang="zh-CN" sz="2000" dirty="0" smtClean="0">
                <a:latin typeface="Times New Roman" panose="02020603050405020304"/>
                <a:cs typeface="Times New Roman" panose="02020603050405020304"/>
              </a:rPr>
              <a:t>3</a:t>
            </a:r>
            <a:r>
              <a:rPr lang="el-GR" altLang="zh-CN" sz="2000" dirty="0" smtClean="0">
                <a:latin typeface="Times New Roman" panose="02020603050405020304"/>
                <a:cs typeface="Times New Roman" panose="02020603050405020304"/>
              </a:rPr>
              <a:t>π</a:t>
            </a:r>
            <a:r>
              <a:rPr lang="en-US" altLang="zh-CN" sz="2000" dirty="0"/>
              <a:t>)</a:t>
            </a:r>
            <a:r>
              <a:rPr lang="en-US" altLang="zh-CN" sz="2000" dirty="0" smtClean="0">
                <a:latin typeface="+mj-lt"/>
              </a:rPr>
              <a:t> into the bounds of integration.</a:t>
            </a:r>
            <a:endParaRPr lang="zh-CN" altLang="en-US" sz="20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467544" y="160337"/>
            <a:ext cx="1800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Problem           </a:t>
            </a:r>
            <a:endParaRPr lang="en-US" altLang="zh-CN" sz="2400" b="1" dirty="0" smtClean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73147" y="6611779"/>
            <a:ext cx="108012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 smtClean="0"/>
              <a:t>Ch38-15</a:t>
            </a:r>
            <a:endParaRPr lang="zh-CN" alt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251520" y="1196752"/>
            <a:ext cx="85689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+mj-lt"/>
              </a:rPr>
              <a:t>2.</a:t>
            </a:r>
            <a:r>
              <a:rPr lang="zh-CN" altLang="zh-CN" sz="2400" dirty="0">
                <a:latin typeface="+mj-lt"/>
              </a:rPr>
              <a:t> </a:t>
            </a:r>
            <a:r>
              <a:rPr lang="en-US" altLang="zh-CN" sz="2400" dirty="0">
                <a:latin typeface="+mj-lt"/>
              </a:rPr>
              <a:t>A particle moving in one dimension (the x-axis) is described by the wave </a:t>
            </a:r>
            <a:r>
              <a:rPr lang="en-US" altLang="zh-CN" sz="2400" dirty="0" smtClean="0">
                <a:latin typeface="+mj-lt"/>
              </a:rPr>
              <a:t>function</a:t>
            </a:r>
            <a:endParaRPr lang="en-US" altLang="zh-CN" sz="2400" dirty="0" smtClean="0">
              <a:latin typeface="+mj-lt"/>
            </a:endParaRPr>
          </a:p>
          <a:p>
            <a:endParaRPr lang="en-US" altLang="zh-CN" sz="2400" dirty="0" smtClean="0">
              <a:latin typeface="+mj-lt"/>
            </a:endParaRPr>
          </a:p>
          <a:p>
            <a:endParaRPr lang="zh-CN" altLang="zh-CN" sz="2400" dirty="0">
              <a:latin typeface="+mj-lt"/>
            </a:endParaRPr>
          </a:p>
          <a:p>
            <a:r>
              <a:rPr lang="en-US" altLang="zh-CN" sz="2400" dirty="0" smtClean="0">
                <a:latin typeface="+mj-lt"/>
              </a:rPr>
              <a:t>Where </a:t>
            </a:r>
            <a:r>
              <a:rPr lang="en-US" altLang="zh-CN" sz="2400" i="1" dirty="0">
                <a:latin typeface="+mj-lt"/>
              </a:rPr>
              <a:t>b</a:t>
            </a:r>
            <a:r>
              <a:rPr lang="en-US" altLang="zh-CN" sz="2400" dirty="0">
                <a:latin typeface="+mj-lt"/>
              </a:rPr>
              <a:t> = 2.00 m</a:t>
            </a:r>
            <a:r>
              <a:rPr lang="en-US" altLang="zh-CN" sz="2400" baseline="30000" dirty="0">
                <a:latin typeface="+mj-lt"/>
              </a:rPr>
              <a:t>-1</a:t>
            </a:r>
            <a:r>
              <a:rPr lang="en-US" altLang="zh-CN" sz="2400" dirty="0">
                <a:latin typeface="+mj-lt"/>
              </a:rPr>
              <a:t>, A &gt; 0, and the +x-axis points toward the right. </a:t>
            </a:r>
            <a:endParaRPr lang="zh-CN" altLang="zh-CN" sz="2400" dirty="0">
              <a:latin typeface="+mj-lt"/>
            </a:endParaRPr>
          </a:p>
          <a:p>
            <a:r>
              <a:rPr lang="en-US" altLang="zh-CN" sz="2400" dirty="0">
                <a:latin typeface="+mj-lt"/>
              </a:rPr>
              <a:t>(a) Determine A so that the wave function is </a:t>
            </a:r>
            <a:r>
              <a:rPr lang="en-US" altLang="zh-CN" sz="2400" dirty="0" smtClean="0">
                <a:latin typeface="+mj-lt"/>
              </a:rPr>
              <a:t>normalized</a:t>
            </a:r>
            <a:endParaRPr lang="zh-CN" altLang="zh-CN" sz="2400" dirty="0">
              <a:latin typeface="+mj-lt"/>
            </a:endParaRPr>
          </a:p>
          <a:p>
            <a:r>
              <a:rPr lang="en-US" altLang="zh-CN" sz="2400" dirty="0">
                <a:latin typeface="+mj-lt"/>
              </a:rPr>
              <a:t>(b) Sketch the graph of the wave </a:t>
            </a:r>
            <a:r>
              <a:rPr lang="en-US" altLang="zh-CN" sz="2400" dirty="0" smtClean="0">
                <a:latin typeface="+mj-lt"/>
              </a:rPr>
              <a:t>function</a:t>
            </a:r>
            <a:r>
              <a:rPr lang="en-US" altLang="zh-CN" sz="2400" dirty="0">
                <a:latin typeface="+mj-lt"/>
              </a:rPr>
              <a:t>.</a:t>
            </a:r>
            <a:r>
              <a:rPr lang="en-US" altLang="zh-CN" sz="2400" dirty="0" smtClean="0">
                <a:latin typeface="+mj-lt"/>
              </a:rPr>
              <a:t> </a:t>
            </a:r>
            <a:endParaRPr lang="en-US" altLang="zh-CN" sz="2400" dirty="0" smtClean="0">
              <a:latin typeface="+mj-lt"/>
            </a:endParaRPr>
          </a:p>
          <a:p>
            <a:r>
              <a:rPr lang="en-US" altLang="zh-CN" sz="2400" dirty="0" smtClean="0">
                <a:latin typeface="+mj-lt"/>
              </a:rPr>
              <a:t>(</a:t>
            </a:r>
            <a:r>
              <a:rPr lang="en-US" altLang="zh-CN" sz="2400" dirty="0">
                <a:latin typeface="+mj-lt"/>
              </a:rPr>
              <a:t>c) Find the probability of finding this particle from -50.0 cm to +</a:t>
            </a:r>
            <a:r>
              <a:rPr lang="en-US" altLang="zh-CN" sz="2400" dirty="0" smtClean="0">
                <a:latin typeface="+mj-lt"/>
              </a:rPr>
              <a:t>50cm</a:t>
            </a:r>
            <a:endParaRPr lang="en-US" altLang="zh-CN" sz="2400" dirty="0" smtClean="0">
              <a:latin typeface="+mj-lt"/>
            </a:endParaRPr>
          </a:p>
        </p:txBody>
      </p:sp>
      <p:pic>
        <p:nvPicPr>
          <p:cNvPr id="13447" name="Picture 13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3" y="1770360"/>
            <a:ext cx="3665089" cy="866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13821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Answer </a:t>
            </a:r>
            <a:endParaRPr lang="en-US" altLang="zh-CN" sz="2400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96455" y="6625276"/>
            <a:ext cx="122413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 smtClean="0"/>
              <a:t>Ch38-16</a:t>
            </a:r>
            <a:endParaRPr lang="zh-CN" altLang="en-US" sz="1000" dirty="0"/>
          </a:p>
        </p:txBody>
      </p:sp>
      <p:pic>
        <p:nvPicPr>
          <p:cNvPr id="16399" name="Picture 1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221" y="4221088"/>
            <a:ext cx="6335162" cy="2260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00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836712"/>
            <a:ext cx="6344531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01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408" y="1850885"/>
            <a:ext cx="6984776" cy="860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02" name="Picture 1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609404"/>
            <a:ext cx="4666835" cy="1606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46"/>
          <a:stretch>
            <a:fillRect/>
          </a:stretch>
        </p:blipFill>
        <p:spPr bwMode="auto">
          <a:xfrm>
            <a:off x="0" y="188218"/>
            <a:ext cx="9155262" cy="6409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179512" y="620688"/>
            <a:ext cx="8784976" cy="3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78"/>
          <a:stretch>
            <a:fillRect/>
          </a:stretch>
        </p:blipFill>
        <p:spPr bwMode="auto">
          <a:xfrm>
            <a:off x="-24439" y="200744"/>
            <a:ext cx="9192879" cy="632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179512" y="800712"/>
            <a:ext cx="8784976" cy="3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33"/>
          <a:stretch>
            <a:fillRect/>
          </a:stretch>
        </p:blipFill>
        <p:spPr bwMode="auto">
          <a:xfrm>
            <a:off x="-12367" y="139402"/>
            <a:ext cx="9192879" cy="645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179512" y="728704"/>
            <a:ext cx="8784976" cy="3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631" y="0"/>
            <a:ext cx="91552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1" y="3933056"/>
            <a:ext cx="6238875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" y="0"/>
            <a:ext cx="9110839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764704"/>
            <a:ext cx="8723255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7782" y="2060848"/>
            <a:ext cx="4717600" cy="4797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79512" y="728704"/>
            <a:ext cx="8784976" cy="3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5536" y="260648"/>
            <a:ext cx="1382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charset="0"/>
                <a:cs typeface="Times New Roman" panose="02020603050405020304" charset="0"/>
              </a:rPr>
              <a:t>Problem </a:t>
            </a:r>
            <a:endParaRPr lang="zh-CN" altLang="en-US"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331640" y="620688"/>
            <a:ext cx="5520613" cy="4032448"/>
            <a:chOff x="1331640" y="620688"/>
            <a:chExt cx="5520613" cy="4032448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5793" y="1379476"/>
              <a:ext cx="4443080" cy="1200142"/>
            </a:xfrm>
            <a:prstGeom prst="rect">
              <a:avLst/>
            </a:prstGeom>
          </p:spPr>
        </p:pic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1640" y="620688"/>
              <a:ext cx="5520613" cy="720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3518" y="2547535"/>
              <a:ext cx="4380610" cy="1512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1640" y="4103406"/>
              <a:ext cx="4837628" cy="549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1591592" y="950531"/>
              <a:ext cx="3161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b="1" dirty="0" smtClean="0"/>
                <a:t>12</a:t>
              </a:r>
              <a:endParaRPr lang="zh-CN" altLang="en-US" sz="1000" b="1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123728" y="1814627"/>
              <a:ext cx="3161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b="1" dirty="0" smtClean="0"/>
                <a:t>12</a:t>
              </a:r>
              <a:endParaRPr lang="zh-CN" altLang="en-US" sz="1000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17854" y="3094056"/>
              <a:ext cx="38985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b="1" dirty="0" smtClean="0"/>
                <a:t>min</a:t>
              </a:r>
              <a:endParaRPr lang="zh-CN" altLang="en-US" sz="1000" b="1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463778" y="4319430"/>
              <a:ext cx="38985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b="1" dirty="0" smtClean="0"/>
                <a:t>min</a:t>
              </a:r>
              <a:endParaRPr lang="zh-CN" altLang="en-US" sz="1000" b="1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441671" y="1670611"/>
              <a:ext cx="4106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b="1" dirty="0" smtClean="0"/>
                <a:t>max</a:t>
              </a:r>
              <a:endParaRPr lang="zh-CN" altLang="en-US" sz="1000" b="1" dirty="0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703972" y="74989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 New Roman" panose="02020603050405020304" charset="0"/>
                <a:cs typeface="Times New Roman" panose="02020603050405020304" charset="0"/>
              </a:rPr>
              <a:t>(a)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054" name="Picture 6" descr="C:\Users\Lenovo\AppData\Roaming\Tencent\Users\47340031\QQ\WinTemp\RichOle\JG$@N){9FNR4N[$THH1OOTL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5229200"/>
            <a:ext cx="50196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331640" y="4797152"/>
          <a:ext cx="481806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6" name="公式" r:id="rId6" imgW="62484000" imgH="5486400" progId="Equation.3">
                  <p:embed/>
                </p:oleObj>
              </mc:Choice>
              <mc:Fallback>
                <p:oleObj name="公式" r:id="rId6" imgW="62484000" imgH="5486400" progId="Equation.3">
                  <p:embed/>
                  <p:pic>
                    <p:nvPicPr>
                      <p:cNvPr id="0" name="图片 102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797152"/>
                        <a:ext cx="4818062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179512" y="692696"/>
            <a:ext cx="8784976" cy="3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395536" y="260648"/>
            <a:ext cx="1356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charset="0"/>
                <a:cs typeface="Times New Roman" panose="02020603050405020304" charset="0"/>
              </a:rPr>
              <a:t>Solution </a:t>
            </a:r>
            <a:endParaRPr lang="zh-CN" altLang="en-US"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043608" y="3356992"/>
            <a:ext cx="6909048" cy="1152592"/>
            <a:chOff x="467544" y="5112923"/>
            <a:chExt cx="6909048" cy="1152592"/>
          </a:xfrm>
        </p:grpSpPr>
        <p:pic>
          <p:nvPicPr>
            <p:cNvPr id="3074" name="Picture 2" descr="C:\Users\Lenovo\AppData\Roaming\Tencent\Users\47340031\QQ\WinTemp\RichOle\A([LL8@INSRT8A@XP19LJQJ.jpg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592" y="5589240"/>
              <a:ext cx="6477000" cy="676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544" y="5112923"/>
              <a:ext cx="6058746" cy="476317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1108719" y="846485"/>
            <a:ext cx="6058746" cy="2150467"/>
            <a:chOff x="467544" y="2276872"/>
            <a:chExt cx="6058746" cy="2150467"/>
          </a:xfrm>
        </p:grpSpPr>
        <p:grpSp>
          <p:nvGrpSpPr>
            <p:cNvPr id="6" name="组合 5"/>
            <p:cNvGrpSpPr/>
            <p:nvPr/>
          </p:nvGrpSpPr>
          <p:grpSpPr>
            <a:xfrm>
              <a:off x="1025603" y="2276872"/>
              <a:ext cx="5500687" cy="2150467"/>
              <a:chOff x="1619672" y="2276872"/>
              <a:chExt cx="5500687" cy="2150467"/>
            </a:xfrm>
          </p:grpSpPr>
          <p:graphicFrame>
            <p:nvGraphicFramePr>
              <p:cNvPr id="3" name="对象 2"/>
              <p:cNvGraphicFramePr>
                <a:graphicFrameLocks noChangeAspect="1"/>
              </p:cNvGraphicFramePr>
              <p:nvPr/>
            </p:nvGraphicFramePr>
            <p:xfrm>
              <a:off x="1626914" y="2349004"/>
              <a:ext cx="2468563" cy="15509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68" name="公式" r:id="rId3" imgW="32004000" imgH="20116800" progId="Equation.3">
                      <p:embed/>
                    </p:oleObj>
                  </mc:Choice>
                  <mc:Fallback>
                    <p:oleObj name="公式" r:id="rId3" imgW="32004000" imgH="20116800" progId="Equation.3">
                      <p:embed/>
                      <p:pic>
                        <p:nvPicPr>
                          <p:cNvPr id="0" name="图片 11367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626914" y="2349004"/>
                            <a:ext cx="2468563" cy="155098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" name="对象 3"/>
              <p:cNvGraphicFramePr>
                <a:graphicFrameLocks noChangeAspect="1"/>
              </p:cNvGraphicFramePr>
              <p:nvPr/>
            </p:nvGraphicFramePr>
            <p:xfrm>
              <a:off x="4427984" y="2276872"/>
              <a:ext cx="2327275" cy="15509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69" name="公式" r:id="rId5" imgW="30175200" imgH="20116800" progId="Equation.3">
                      <p:embed/>
                    </p:oleObj>
                  </mc:Choice>
                  <mc:Fallback>
                    <p:oleObj name="公式" r:id="rId5" imgW="30175200" imgH="20116800" progId="Equation.3">
                      <p:embed/>
                      <p:pic>
                        <p:nvPicPr>
                          <p:cNvPr id="0" name="图片 1136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27984" y="2276872"/>
                            <a:ext cx="2327275" cy="15509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" name="对象 4"/>
              <p:cNvGraphicFramePr>
                <a:graphicFrameLocks noChangeAspect="1"/>
              </p:cNvGraphicFramePr>
              <p:nvPr/>
            </p:nvGraphicFramePr>
            <p:xfrm>
              <a:off x="1619672" y="4005064"/>
              <a:ext cx="5500687" cy="4222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70" name="公式" r:id="rId7" imgW="71323200" imgH="5486400" progId="Equation.3">
                      <p:embed/>
                    </p:oleObj>
                  </mc:Choice>
                  <mc:Fallback>
                    <p:oleObj name="公式" r:id="rId7" imgW="71323200" imgH="5486400" progId="Equation.3">
                      <p:embed/>
                      <p:pic>
                        <p:nvPicPr>
                          <p:cNvPr id="0" name="图片 1136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19672" y="4005064"/>
                            <a:ext cx="5500687" cy="4222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" name="TextBox 7"/>
            <p:cNvSpPr txBox="1"/>
            <p:nvPr/>
          </p:nvSpPr>
          <p:spPr>
            <a:xfrm>
              <a:off x="467544" y="249289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latin typeface="Times New Roman" panose="02020603050405020304" charset="0"/>
                  <a:cs typeface="Times New Roman" panose="02020603050405020304" charset="0"/>
                </a:rPr>
                <a:t>(c)</a:t>
              </a:r>
              <a:endParaRPr lang="zh-CN" altLang="en-US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179512" y="692696"/>
            <a:ext cx="8784976" cy="3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95536" y="260648"/>
            <a:ext cx="1356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charset="0"/>
                <a:cs typeface="Times New Roman" panose="02020603050405020304" charset="0"/>
              </a:rPr>
              <a:t>Solution </a:t>
            </a:r>
            <a:endParaRPr lang="zh-CN" altLang="en-US"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00.1015748031496,&quot;left&quot;:36.003937007874015,&quot;top&quot;:167.94141732283464,&quot;width&quot;:562.1327559055119}"/>
</p:tagLst>
</file>

<file path=ppt/tags/tag2.xml><?xml version="1.0" encoding="utf-8"?>
<p:tagLst xmlns:p="http://schemas.openxmlformats.org/presentationml/2006/main">
  <p:tag name="RAINPROBLEM" val="ProblemBullet"/>
  <p:tag name="RAINPROBLEMTYPE" val="MultipleChoice"/>
  <p:tag name="RAINBULLET" val="Correct"/>
  <p:tag name="KSO_WM_DIAGRAM_VIRTUALLY_FRAME" val="{&quot;height&quot;:300.1015748031496,&quot;left&quot;:36.003937007874015,&quot;top&quot;:167.94141732283464,&quot;width&quot;:562.1327559055119}"/>
</p:tagLst>
</file>

<file path=ppt/tags/tag3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00.1015748031496,&quot;left&quot;:36.003937007874015,&quot;top&quot;:167.94141732283464,&quot;width&quot;:562.1327559055119}"/>
</p:tagLst>
</file>

<file path=ppt/tags/tag4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00.1015748031496,&quot;left&quot;:36.003937007874015,&quot;top&quot;:167.94141732283464,&quot;width&quot;:562.1327559055119}"/>
</p:tagLst>
</file>

<file path=ppt/tags/tag5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300.1015748031496,&quot;left&quot;:36.003937007874015,&quot;top&quot;:167.94141732283464,&quot;width&quot;:562.1327559055119}"/>
</p:tagLst>
</file>

<file path=ppt/tags/tag6.xml><?xml version="1.0" encoding="utf-8"?>
<p:tagLst xmlns:p="http://schemas.openxmlformats.org/presentationml/2006/main">
  <p:tag name="RAINPROBLEM" val="ProblemBody"/>
</p:tagLst>
</file>

<file path=ppt/tags/tag7.xml><?xml version="1.0" encoding="utf-8"?>
<p:tagLst xmlns:p="http://schemas.openxmlformats.org/presentationml/2006/main">
  <p:tag name="RAINPROBLEM" val="ProblemSubmit"/>
  <p:tag name="RAINPROBLEMTYPE" val="MultipleChoice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TYPE" val="ProblemTypeMarker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p="http://schemas.openxmlformats.org/presentationml/2006/main">
  <p:tag name="RAINPROBLEM" val="MultipleChoice"/>
  <p:tag name="PROBLEMSCORE" val="10.0"/>
</p:tagLst>
</file>

<file path=ppt/tags/tag15.xml><?xml version="1.0" encoding="utf-8"?>
<p:tagLst xmlns:p="http://schemas.openxmlformats.org/presentationml/2006/main">
  <p:tag name="commondata" val="eyJoZGlkIjoiMzI2YjcyNGM2MzE4YjNhNGNjOWExM2JhZjVlNjM4OD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prstDash val="dash"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1675</Words>
  <Application>WPS 演示</Application>
  <PresentationFormat>全屏显示(4:3)</PresentationFormat>
  <Paragraphs>149</Paragraphs>
  <Slides>34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10</vt:i4>
      </vt:variant>
      <vt:variant>
        <vt:lpstr>幻灯片标题</vt:lpstr>
      </vt:variant>
      <vt:variant>
        <vt:i4>34</vt:i4>
      </vt:variant>
    </vt:vector>
  </HeadingPairs>
  <TitlesOfParts>
    <vt:vector size="57" baseType="lpstr">
      <vt:lpstr>Arial</vt:lpstr>
      <vt:lpstr>宋体</vt:lpstr>
      <vt:lpstr>Wingdings</vt:lpstr>
      <vt:lpstr>MS PGothic</vt:lpstr>
      <vt:lpstr>Times</vt:lpstr>
      <vt:lpstr>Times New Roman</vt:lpstr>
      <vt:lpstr>微软雅黑</vt:lpstr>
      <vt:lpstr>PMingLiU</vt:lpstr>
      <vt:lpstr>Cambria Math</vt:lpstr>
      <vt:lpstr>Calibri</vt:lpstr>
      <vt:lpstr>Arial Unicode MS</vt:lpstr>
      <vt:lpstr>Times New Roman</vt:lpstr>
      <vt:lpstr>Office 主题</vt:lpstr>
      <vt:lpstr>Equation.3</vt:lpstr>
      <vt:lpstr>Equation.3</vt:lpstr>
      <vt:lpstr>Equation.3</vt:lpstr>
      <vt:lpstr>Equation.3</vt:lpstr>
      <vt:lpstr>PBrush</vt:lpstr>
      <vt:lpstr>Paint.Picture</vt:lpstr>
      <vt:lpstr>Equation.DSMT4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Electrostatics: Charges and Fields</dc:title>
  <dc:creator>Administrator</dc:creator>
  <cp:lastModifiedBy>若风</cp:lastModifiedBy>
  <cp:revision>804</cp:revision>
  <cp:lastPrinted>2018-06-06T00:38:00Z</cp:lastPrinted>
  <dcterms:created xsi:type="dcterms:W3CDTF">2018-01-19T02:25:00Z</dcterms:created>
  <dcterms:modified xsi:type="dcterms:W3CDTF">2024-05-30T15:29:02Z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7E1DB78A06E64F4EBC78C512121F0B7C_12</vt:lpwstr>
  </property>
  <property fmtid="{D5CDD505-2E9C-101B-9397-08002B2CF9AE}" pid="3" name="KSOProductBuildVer">
    <vt:lpwstr>2052-12.1.0.16929</vt:lpwstr>
  </property>
</Properties>
</file>