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359" r:id="rId3"/>
    <p:sldId id="360" r:id="rId4"/>
    <p:sldId id="363" r:id="rId5"/>
    <p:sldId id="364" r:id="rId6"/>
    <p:sldId id="365" r:id="rId7"/>
    <p:sldId id="366" r:id="rId8"/>
    <p:sldId id="361" r:id="rId9"/>
    <p:sldId id="369" r:id="rId10"/>
    <p:sldId id="378" r:id="rId11"/>
    <p:sldId id="380" r:id="rId12"/>
    <p:sldId id="379" r:id="rId13"/>
    <p:sldId id="381" r:id="rId14"/>
    <p:sldId id="382" r:id="rId15"/>
  </p:sldIdLst>
  <p:sldSz cx="9144000" cy="6858000" type="screen4x3"/>
  <p:notesSz cx="9926320" cy="6797675"/>
  <p:custDataLst>
    <p:tags r:id="rId21"/>
  </p:custDataLst>
  <p:defaultTextStyle>
    <a:defPPr>
      <a:defRPr lang="en-US"/>
    </a:defPPr>
    <a:lvl1pPr algn="l" rtl="0" eaLnBrk="0" fontAlgn="base" hangingPunct="0">
      <a:spcBef>
        <a:spcPct val="0"/>
      </a:spcBef>
      <a:spcAft>
        <a:spcPct val="0"/>
      </a:spcAft>
      <a:buFont typeface="Arial" panose="020B0604020202020204" pitchFamily="34" charset="0"/>
      <a:defRPr sz="2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sz="24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sz="24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sz="24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196" userDrawn="1">
          <p15:clr>
            <a:srgbClr val="A4A3A4"/>
          </p15:clr>
        </p15:guide>
        <p15:guide id="2" orient="horz" pos="1797" userDrawn="1">
          <p15:clr>
            <a:srgbClr val="A4A3A4"/>
          </p15:clr>
        </p15:guide>
        <p15:guide id="3" orient="horz" pos="2322" userDrawn="1">
          <p15:clr>
            <a:srgbClr val="A4A3A4"/>
          </p15:clr>
        </p15:guide>
        <p15:guide id="4" pos="2865" userDrawn="1">
          <p15:clr>
            <a:srgbClr val="A4A3A4"/>
          </p15:clr>
        </p15:guide>
        <p15:guide id="5" pos="192" userDrawn="1">
          <p15:clr>
            <a:srgbClr val="A4A3A4"/>
          </p15:clr>
        </p15:guide>
        <p15:guide id="6" pos="32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80000"/>
    <a:srgbClr val="CC3300"/>
    <a:srgbClr val="004A37"/>
    <a:srgbClr val="00417E"/>
    <a:srgbClr val="FFECD7"/>
    <a:srgbClr val="3366CC"/>
    <a:srgbClr val="0099C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p:scale>
          <a:sx n="100" d="100"/>
          <a:sy n="100" d="100"/>
        </p:scale>
        <p:origin x="-1944" y="-402"/>
      </p:cViewPr>
      <p:guideLst>
        <p:guide orient="horz" pos="1196"/>
        <p:guide orient="horz" pos="1797"/>
        <p:guide orient="horz" pos="2322"/>
        <p:guide pos="2865"/>
        <p:guide pos="192"/>
        <p:guide pos="3288"/>
      </p:guideLst>
    </p:cSldViewPr>
  </p:slideViewPr>
  <p:notesTextViewPr>
    <p:cViewPr>
      <p:scale>
        <a:sx n="1" d="1"/>
        <a:sy n="1" d="1"/>
      </p:scale>
      <p:origin x="0" y="0"/>
    </p:cViewPr>
  </p:notesTextViewPr>
  <p:notesViewPr>
    <p:cSldViewPr>
      <p:cViewPr varScale="1">
        <p:scale>
          <a:sx n="91" d="100"/>
          <a:sy n="91" d="100"/>
        </p:scale>
        <p:origin x="-1488" y="-96"/>
      </p:cViewPr>
      <p:guideLst>
        <p:guide orient="horz" pos="2141"/>
        <p:guide pos="3127"/>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gs" Target="tags/tag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8.wmf"/><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46.wmf"/><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39725"/>
          </a:xfrm>
          <a:prstGeom prst="rect">
            <a:avLst/>
          </a:prstGeom>
        </p:spPr>
        <p:txBody>
          <a:bodyPr vert="horz" lIns="91285" tIns="45642" rIns="91285" bIns="45642" rtlCol="0"/>
          <a:lstStyle>
            <a:lvl1pPr algn="l">
              <a:buFont typeface="Arial" panose="020B0604020202020204" pitchFamily="34" charset="0"/>
              <a:buNone/>
              <a:defRPr sz="1200">
                <a:latin typeface="Arial" panose="020B0604020202020204" pitchFamily="34" charset="0"/>
              </a:defRPr>
            </a:lvl1pPr>
          </a:lstStyle>
          <a:p>
            <a:pPr>
              <a:defRPr/>
            </a:pPr>
            <a:endParaRPr lang="zh-CN" altLang="en-US"/>
          </a:p>
        </p:txBody>
      </p:sp>
      <p:sp>
        <p:nvSpPr>
          <p:cNvPr id="3" name="日期占位符 2"/>
          <p:cNvSpPr>
            <a:spLocks noGrp="1"/>
          </p:cNvSpPr>
          <p:nvPr>
            <p:ph type="dt" sz="quarter" idx="1"/>
          </p:nvPr>
        </p:nvSpPr>
        <p:spPr>
          <a:xfrm>
            <a:off x="5622925" y="0"/>
            <a:ext cx="4302125" cy="339725"/>
          </a:xfrm>
          <a:prstGeom prst="rect">
            <a:avLst/>
          </a:prstGeom>
        </p:spPr>
        <p:txBody>
          <a:bodyPr vert="horz" lIns="91285" tIns="45642" rIns="91285" bIns="45642" rtlCol="0"/>
          <a:lstStyle>
            <a:lvl1pPr algn="r">
              <a:buFont typeface="Arial" panose="020B0604020202020204" pitchFamily="34" charset="0"/>
              <a:buNone/>
              <a:defRPr sz="1200">
                <a:latin typeface="Arial" panose="020B0604020202020204" pitchFamily="34" charset="0"/>
              </a:defRPr>
            </a:lvl1pPr>
          </a:lstStyle>
          <a:p>
            <a:pPr>
              <a:defRPr/>
            </a:pPr>
            <a:fld id="{4B19864B-B647-45DD-8D45-BF1933125DBA}" type="datetimeFigureOut">
              <a:rPr lang="zh-CN" altLang="en-US"/>
            </a:fld>
            <a:endParaRPr lang="zh-CN" altLang="en-US"/>
          </a:p>
        </p:txBody>
      </p:sp>
      <p:sp>
        <p:nvSpPr>
          <p:cNvPr id="4" name="页脚占位符 3"/>
          <p:cNvSpPr>
            <a:spLocks noGrp="1"/>
          </p:cNvSpPr>
          <p:nvPr>
            <p:ph type="ftr" sz="quarter" idx="2"/>
          </p:nvPr>
        </p:nvSpPr>
        <p:spPr>
          <a:xfrm>
            <a:off x="0" y="6456363"/>
            <a:ext cx="4302125" cy="339725"/>
          </a:xfrm>
          <a:prstGeom prst="rect">
            <a:avLst/>
          </a:prstGeom>
        </p:spPr>
        <p:txBody>
          <a:bodyPr vert="horz" lIns="91285" tIns="45642" rIns="91285" bIns="45642" rtlCol="0" anchor="b"/>
          <a:lstStyle>
            <a:lvl1pPr algn="l">
              <a:buFont typeface="Arial" panose="020B0604020202020204" pitchFamily="34" charset="0"/>
              <a:buNone/>
              <a:defRPr sz="1200">
                <a:latin typeface="Arial" panose="020B0604020202020204" pitchFamily="34" charset="0"/>
              </a:defRPr>
            </a:lvl1pPr>
          </a:lstStyle>
          <a:p>
            <a:pPr>
              <a:defRPr/>
            </a:pPr>
            <a:endParaRPr lang="zh-CN" altLang="en-US"/>
          </a:p>
        </p:txBody>
      </p:sp>
      <p:sp>
        <p:nvSpPr>
          <p:cNvPr id="5" name="灯片编号占位符 4"/>
          <p:cNvSpPr>
            <a:spLocks noGrp="1"/>
          </p:cNvSpPr>
          <p:nvPr>
            <p:ph type="sldNum" sz="quarter" idx="3"/>
          </p:nvPr>
        </p:nvSpPr>
        <p:spPr>
          <a:xfrm>
            <a:off x="5622925" y="6456363"/>
            <a:ext cx="4302125" cy="339725"/>
          </a:xfrm>
          <a:prstGeom prst="rect">
            <a:avLst/>
          </a:prstGeom>
        </p:spPr>
        <p:txBody>
          <a:bodyPr vert="horz" lIns="91285" tIns="45642" rIns="91285" bIns="45642" rtlCol="0" anchor="b"/>
          <a:lstStyle>
            <a:lvl1pPr algn="r">
              <a:buFont typeface="Arial" panose="020B0604020202020204" pitchFamily="34" charset="0"/>
              <a:buNone/>
              <a:defRPr sz="1200">
                <a:latin typeface="Arial" panose="020B0604020202020204" pitchFamily="34" charset="0"/>
              </a:defRPr>
            </a:lvl1pPr>
          </a:lstStyle>
          <a:p>
            <a:pPr>
              <a:defRPr/>
            </a:pPr>
            <a:fld id="{EF8F099A-7F9B-438F-869D-FAC5CB0BD72C}"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3021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522" tIns="47762" rIns="95522" bIns="47762" numCol="1" anchor="t" anchorCtr="0" compatLnSpc="1"/>
          <a:lstStyle>
            <a:lvl1pPr defTabSz="954405">
              <a:buFont typeface="Arial" panose="020B0604020202020204" pitchFamily="34" charset="0"/>
              <a:buNone/>
              <a:defRPr sz="1200">
                <a:latin typeface="Times New Roman" panose="02020603050405020304" pitchFamily="18" charset="0"/>
                <a:ea typeface="宋体" panose="02010600030101010101" pitchFamily="2" charset="-122"/>
              </a:defRPr>
            </a:lvl1pPr>
          </a:lstStyle>
          <a:p>
            <a:pPr>
              <a:defRPr/>
            </a:pPr>
            <a:endParaRPr lang="zh-CN" altLang="en-US"/>
          </a:p>
        </p:txBody>
      </p:sp>
      <p:sp>
        <p:nvSpPr>
          <p:cNvPr id="17411" name="Rectangle 3"/>
          <p:cNvSpPr>
            <a:spLocks noGrp="1" noRot="1" noChangeAspect="1" noChangeArrowheads="1"/>
          </p:cNvSpPr>
          <p:nvPr>
            <p:ph type="sldImg" idx="2"/>
          </p:nvPr>
        </p:nvSpPr>
        <p:spPr bwMode="auto">
          <a:xfrm>
            <a:off x="3263900" y="511175"/>
            <a:ext cx="3397250" cy="254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2" name="Rectangle 4"/>
          <p:cNvSpPr>
            <a:spLocks noGrp="1" noChangeArrowheads="1"/>
          </p:cNvSpPr>
          <p:nvPr>
            <p:ph type="body" sz="quarter" idx="3"/>
          </p:nvPr>
        </p:nvSpPr>
        <p:spPr bwMode="auto">
          <a:xfrm>
            <a:off x="1323975" y="3227388"/>
            <a:ext cx="7278688" cy="305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522" tIns="47762" rIns="95522" bIns="47762" numCol="1" anchor="t" anchorCtr="0" compatLnSpc="1"/>
          <a:lstStyle/>
          <a:p>
            <a:pPr lvl="0"/>
            <a:r>
              <a:rPr lang="en-US" altLang="zh-CN" noProof="0" smtClean="0"/>
              <a:t>Click to edit Master text styles</a:t>
            </a:r>
            <a:endParaRPr lang="en-US" altLang="zh-CN" noProof="0" smtClean="0"/>
          </a:p>
          <a:p>
            <a:pPr lvl="1"/>
            <a:r>
              <a:rPr lang="en-US" altLang="zh-CN" noProof="0" smtClean="0"/>
              <a:t>Second level</a:t>
            </a:r>
            <a:endParaRPr lang="en-US" altLang="zh-CN" noProof="0" smtClean="0"/>
          </a:p>
          <a:p>
            <a:pPr lvl="2"/>
            <a:r>
              <a:rPr lang="en-US" altLang="zh-CN" noProof="0" smtClean="0"/>
              <a:t>Third level</a:t>
            </a:r>
            <a:endParaRPr lang="en-US" altLang="zh-CN" noProof="0" smtClean="0"/>
          </a:p>
          <a:p>
            <a:pPr lvl="3"/>
            <a:r>
              <a:rPr lang="en-US" altLang="zh-CN" noProof="0" smtClean="0"/>
              <a:t>Fourth level</a:t>
            </a:r>
            <a:endParaRPr lang="en-US" altLang="zh-CN" noProof="0" smtClean="0"/>
          </a:p>
          <a:p>
            <a:pPr lvl="4"/>
            <a:r>
              <a:rPr lang="en-US" altLang="zh-CN" noProof="0" smtClean="0"/>
              <a:t>Fifth level</a:t>
            </a:r>
            <a:endParaRPr lang="en-US" altLang="zh-CN" noProof="0" smtClean="0"/>
          </a:p>
        </p:txBody>
      </p:sp>
      <p:sp>
        <p:nvSpPr>
          <p:cNvPr id="2053" name="Rectangle 5"/>
          <p:cNvSpPr>
            <a:spLocks noGrp="1" noChangeArrowheads="1"/>
          </p:cNvSpPr>
          <p:nvPr>
            <p:ph type="dt" idx="1"/>
          </p:nvPr>
        </p:nvSpPr>
        <p:spPr bwMode="auto">
          <a:xfrm>
            <a:off x="5624513" y="0"/>
            <a:ext cx="43005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522" tIns="47762" rIns="95522" bIns="47762" numCol="1" anchor="t" anchorCtr="0" compatLnSpc="1"/>
          <a:lstStyle>
            <a:lvl1pPr algn="r" defTabSz="954405">
              <a:buFont typeface="Arial" panose="020B0604020202020204" pitchFamily="34" charset="0"/>
              <a:buNone/>
              <a:defRPr sz="1200">
                <a:latin typeface="Times New Roman" panose="02020603050405020304" pitchFamily="18" charset="0"/>
                <a:ea typeface="宋体" panose="02010600030101010101" pitchFamily="2" charset="-122"/>
              </a:defRPr>
            </a:lvl1pPr>
          </a:lstStyle>
          <a:p>
            <a:pPr>
              <a:defRPr/>
            </a:pPr>
            <a:endParaRPr lang="zh-CN" altLang="en-US"/>
          </a:p>
        </p:txBody>
      </p:sp>
      <p:sp>
        <p:nvSpPr>
          <p:cNvPr id="2054" name="Rectangle 6"/>
          <p:cNvSpPr>
            <a:spLocks noGrp="1" noChangeArrowheads="1"/>
          </p:cNvSpPr>
          <p:nvPr>
            <p:ph type="ftr" sz="quarter" idx="4"/>
          </p:nvPr>
        </p:nvSpPr>
        <p:spPr bwMode="auto">
          <a:xfrm>
            <a:off x="0" y="6457950"/>
            <a:ext cx="43021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522" tIns="47762" rIns="95522" bIns="47762" numCol="1" anchor="b" anchorCtr="0" compatLnSpc="1"/>
          <a:lstStyle>
            <a:lvl1pPr defTabSz="954405">
              <a:buFont typeface="Arial" panose="020B0604020202020204" pitchFamily="34" charset="0"/>
              <a:buNone/>
              <a:defRPr sz="1200">
                <a:latin typeface="Times New Roman" panose="02020603050405020304" pitchFamily="18" charset="0"/>
                <a:ea typeface="宋体" panose="02010600030101010101" pitchFamily="2" charset="-122"/>
              </a:defRPr>
            </a:lvl1pPr>
          </a:lstStyle>
          <a:p>
            <a:pPr>
              <a:defRPr/>
            </a:pPr>
            <a:endParaRPr lang="zh-CN" altLang="en-US"/>
          </a:p>
        </p:txBody>
      </p:sp>
      <p:sp>
        <p:nvSpPr>
          <p:cNvPr id="2055" name="Rectangle 7"/>
          <p:cNvSpPr>
            <a:spLocks noGrp="1" noChangeArrowheads="1"/>
          </p:cNvSpPr>
          <p:nvPr>
            <p:ph type="sldNum" sz="quarter" idx="5"/>
          </p:nvPr>
        </p:nvSpPr>
        <p:spPr bwMode="auto">
          <a:xfrm>
            <a:off x="5624513" y="6457950"/>
            <a:ext cx="43005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522" tIns="47762" rIns="95522" bIns="47762" numCol="1" anchor="b" anchorCtr="0" compatLnSpc="1"/>
          <a:lstStyle>
            <a:lvl1pPr algn="r" defTabSz="954405">
              <a:buFont typeface="Arial" panose="020B0604020202020204" pitchFamily="34" charset="0"/>
              <a:buNone/>
              <a:defRPr sz="1200">
                <a:latin typeface="Times New Roman" panose="02020603050405020304" pitchFamily="18" charset="0"/>
                <a:ea typeface="宋体" panose="02010600030101010101" pitchFamily="2" charset="-122"/>
              </a:defRPr>
            </a:lvl1pPr>
          </a:lstStyle>
          <a:p>
            <a:pPr>
              <a:defRPr/>
            </a:pPr>
            <a:fld id="{F1579843-B681-477E-9452-71C784AC581D}"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228600" y="685800"/>
            <a:ext cx="4229100" cy="3259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0100" y="685800"/>
            <a:ext cx="4229100" cy="32591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76200"/>
            <a:ext cx="2152650" cy="38687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28600" y="76200"/>
            <a:ext cx="6305550" cy="38687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76200"/>
            <a:ext cx="85344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lvl="0"/>
            <a:r>
              <a:rPr lang="en-US" altLang="zh-CN" smtClean="0"/>
              <a:t>Click to edit Master title style</a:t>
            </a:r>
            <a:endParaRPr lang="en-US" altLang="zh-CN" smtClean="0"/>
          </a:p>
        </p:txBody>
      </p:sp>
      <p:sp>
        <p:nvSpPr>
          <p:cNvPr id="1027" name="Text Box 4"/>
          <p:cNvSpPr txBox="1">
            <a:spLocks noChangeArrowheads="1"/>
          </p:cNvSpPr>
          <p:nvPr/>
        </p:nvSpPr>
        <p:spPr bwMode="auto">
          <a:xfrm>
            <a:off x="0" y="6613525"/>
            <a:ext cx="91440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defRPr/>
            </a:pPr>
            <a:r>
              <a:rPr lang="en-US" altLang="zh-CN" sz="1000" dirty="0" smtClean="0">
                <a:latin typeface="Times New Roman" panose="02020603050405020304" pitchFamily="18" charset="0"/>
              </a:rPr>
              <a:t>   General Physics II, SUSTC                                                                                                                                                                                                                </a:t>
            </a:r>
            <a:r>
              <a:rPr lang="en-US" altLang="zh-CN" sz="1000" dirty="0" err="1" smtClean="0">
                <a:latin typeface="Times New Roman" panose="02020603050405020304" pitchFamily="18" charset="0"/>
              </a:rPr>
              <a:t>Ch</a:t>
            </a:r>
            <a:r>
              <a:rPr lang="en-US" altLang="zh-CN" sz="1000" dirty="0" smtClean="0">
                <a:latin typeface="Times New Roman" panose="02020603050405020304" pitchFamily="18" charset="0"/>
              </a:rPr>
              <a:t> 37 -  </a:t>
            </a:r>
            <a:fld id="{0C47AE28-D7FF-411B-8B1B-F5DC91189DA8}" type="slidenum">
              <a:rPr lang="en-US" altLang="zh-CN" sz="1000" smtClean="0">
                <a:latin typeface="Times New Roman" panose="02020603050405020304" pitchFamily="18" charset="0"/>
              </a:rPr>
            </a:fld>
            <a:endParaRPr lang="en-US" altLang="zh-CN" sz="1000" dirty="0" smtClean="0">
              <a:latin typeface="Times New Roman" panose="02020603050405020304" pitchFamily="18" charset="0"/>
            </a:endParaRPr>
          </a:p>
        </p:txBody>
      </p:sp>
      <p:sp>
        <p:nvSpPr>
          <p:cNvPr id="1028" name="Line 5"/>
          <p:cNvSpPr>
            <a:spLocks noChangeShapeType="1"/>
          </p:cNvSpPr>
          <p:nvPr/>
        </p:nvSpPr>
        <p:spPr bwMode="auto">
          <a:xfrm>
            <a:off x="179388" y="6597650"/>
            <a:ext cx="8785225" cy="0"/>
          </a:xfrm>
          <a:prstGeom prst="line">
            <a:avLst/>
          </a:prstGeom>
          <a:noFill/>
          <a:ln w="25400">
            <a:solidFill>
              <a:srgbClr val="00487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9" name="Line 6"/>
          <p:cNvSpPr>
            <a:spLocks noChangeShapeType="1"/>
          </p:cNvSpPr>
          <p:nvPr/>
        </p:nvSpPr>
        <p:spPr bwMode="auto">
          <a:xfrm>
            <a:off x="179388" y="620713"/>
            <a:ext cx="8785225" cy="0"/>
          </a:xfrm>
          <a:prstGeom prst="line">
            <a:avLst/>
          </a:prstGeom>
          <a:noFill/>
          <a:ln w="50800">
            <a:solidFill>
              <a:srgbClr val="00487A"/>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0" name="Rectangle 9"/>
          <p:cNvSpPr>
            <a:spLocks noGrp="1" noChangeArrowheads="1"/>
          </p:cNvSpPr>
          <p:nvPr>
            <p:ph type="body" idx="1"/>
          </p:nvPr>
        </p:nvSpPr>
        <p:spPr bwMode="auto">
          <a:xfrm>
            <a:off x="228600" y="685800"/>
            <a:ext cx="8610600" cy="325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p>
            <a:pPr lvl="1"/>
            <a:r>
              <a:rPr lang="en-US" altLang="zh-CN" smtClean="0"/>
              <a:t>Click to edit Master text styles</a:t>
            </a:r>
            <a:endParaRPr lang="en-US" altLang="zh-CN" smtClean="0"/>
          </a:p>
          <a:p>
            <a:pPr lvl="2"/>
            <a:r>
              <a:rPr lang="en-US" altLang="zh-CN" smtClean="0"/>
              <a:t>Second level</a:t>
            </a:r>
            <a:endParaRPr lang="en-US" altLang="zh-CN" smtClean="0"/>
          </a:p>
          <a:p>
            <a:pPr lvl="3"/>
            <a:r>
              <a:rPr lang="en-US" altLang="zh-CN" smtClean="0"/>
              <a:t>Third level</a:t>
            </a:r>
            <a:endParaRPr lang="en-US" altLang="zh-CN" smtClean="0"/>
          </a:p>
          <a:p>
            <a:pPr lvl="4"/>
            <a:r>
              <a:rPr lang="en-US" altLang="zh-CN" smtClean="0"/>
              <a:t>Fourth level</a:t>
            </a:r>
            <a:endParaRPr lang="en-US" altLang="zh-CN" smtClean="0"/>
          </a:p>
          <a:p>
            <a:pPr lvl="4"/>
            <a:r>
              <a:rPr lang="en-US" altLang="zh-CN" smtClean="0"/>
              <a:t>Fifth level</a:t>
            </a:r>
            <a:endParaRPr lang="en-US" altLang="zh-CN" smtClean="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marL="450850" indent="-450850" algn="l" rtl="0" eaLnBrk="0" fontAlgn="base" hangingPunct="0">
        <a:lnSpc>
          <a:spcPct val="90000"/>
        </a:lnSpc>
        <a:spcBef>
          <a:spcPct val="0"/>
        </a:spcBef>
        <a:spcAft>
          <a:spcPct val="0"/>
        </a:spcAft>
        <a:defRPr sz="3000" b="1">
          <a:solidFill>
            <a:srgbClr val="D33325"/>
          </a:solidFill>
          <a:latin typeface="+mj-lt"/>
          <a:ea typeface="+mj-ea"/>
          <a:cs typeface="+mj-cs"/>
        </a:defRPr>
      </a:lvl1pPr>
      <a:lvl2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2pPr>
      <a:lvl3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3pPr>
      <a:lvl4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4pPr>
      <a:lvl5pPr marL="4508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5pPr>
      <a:lvl6pPr marL="9080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6pPr>
      <a:lvl7pPr marL="13652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7pPr>
      <a:lvl8pPr marL="18224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8pPr>
      <a:lvl9pPr marL="2279650" indent="-450850" algn="l" rtl="0" eaLnBrk="0" fontAlgn="base" hangingPunct="0">
        <a:lnSpc>
          <a:spcPct val="90000"/>
        </a:lnSpc>
        <a:spcBef>
          <a:spcPct val="0"/>
        </a:spcBef>
        <a:spcAft>
          <a:spcPct val="0"/>
        </a:spcAft>
        <a:defRPr sz="3000" b="1">
          <a:solidFill>
            <a:srgbClr val="D33325"/>
          </a:solidFill>
          <a:latin typeface="Times New Roman" panose="02020603050405020304" pitchFamily="18" charset="0"/>
          <a:ea typeface="MS PGothic" panose="020B0600070205080204" pitchFamily="34" charset="-128"/>
        </a:defRPr>
      </a:lvl9pPr>
    </p:titleStyle>
    <p:bodyStyle>
      <a:lvl1pPr marL="342900" indent="-342900" algn="l" rtl="0" eaLnBrk="0" fontAlgn="base" hangingPunct="0">
        <a:spcBef>
          <a:spcPct val="45000"/>
        </a:spcBef>
        <a:spcAft>
          <a:spcPct val="20000"/>
        </a:spcAft>
        <a:buClr>
          <a:srgbClr val="0066CC"/>
        </a:buClr>
        <a:buChar char="•"/>
        <a:defRPr sz="3000">
          <a:solidFill>
            <a:schemeClr val="tx1"/>
          </a:solidFill>
          <a:latin typeface="+mn-lt"/>
          <a:ea typeface="+mn-ea"/>
          <a:cs typeface="+mn-cs"/>
        </a:defRPr>
      </a:lvl1pPr>
      <a:lvl2pPr marL="514350" indent="-400050" algn="l" rtl="0" eaLnBrk="0" fontAlgn="base" hangingPunct="0">
        <a:spcBef>
          <a:spcPct val="45000"/>
        </a:spcBef>
        <a:spcAft>
          <a:spcPct val="20000"/>
        </a:spcAft>
        <a:buClr>
          <a:srgbClr val="0066CC"/>
        </a:buClr>
        <a:buFont typeface="Times" pitchFamily="18" charset="0"/>
        <a:buChar char="•"/>
        <a:defRPr sz="3000">
          <a:solidFill>
            <a:schemeClr val="tx1"/>
          </a:solidFill>
          <a:latin typeface="+mj-lt"/>
          <a:ea typeface="+mn-ea"/>
        </a:defRPr>
      </a:lvl2pPr>
      <a:lvl3pPr marL="1254125" indent="-450850" algn="l" rtl="0" eaLnBrk="0" fontAlgn="base" hangingPunct="0">
        <a:spcBef>
          <a:spcPct val="45000"/>
        </a:spcBef>
        <a:spcAft>
          <a:spcPct val="20000"/>
        </a:spcAft>
        <a:buClr>
          <a:srgbClr val="0066CC"/>
        </a:buClr>
        <a:buFont typeface="Times" pitchFamily="18" charset="0"/>
        <a:buChar char="–"/>
        <a:defRPr sz="2800">
          <a:solidFill>
            <a:schemeClr val="tx1"/>
          </a:solidFill>
          <a:latin typeface="+mj-lt"/>
          <a:ea typeface="+mn-ea"/>
        </a:defRPr>
      </a:lvl3pPr>
      <a:lvl4pPr marL="1828800" indent="-34290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4pPr>
      <a:lvl5pPr marL="22860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5pPr>
      <a:lvl6pPr marL="27432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6pPr>
      <a:lvl7pPr marL="32004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7pPr>
      <a:lvl8pPr marL="36576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8pPr>
      <a:lvl9pPr marL="4114800" indent="-335280" algn="l" rtl="0" eaLnBrk="0" fontAlgn="base" hangingPunct="0">
        <a:spcBef>
          <a:spcPct val="45000"/>
        </a:spcBef>
        <a:spcAft>
          <a:spcPct val="20000"/>
        </a:spcAft>
        <a:buClr>
          <a:srgbClr val="0066CC"/>
        </a:buClr>
        <a:buFont typeface="Times" pitchFamily="18" charset="0"/>
        <a:buChar char="–"/>
        <a:defRPr sz="2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4.bin"/><Relationship Id="rId8" Type="http://schemas.openxmlformats.org/officeDocument/2006/relationships/image" Target="../media/image6.wmf"/><Relationship Id="rId7" Type="http://schemas.openxmlformats.org/officeDocument/2006/relationships/oleObject" Target="../embeddings/oleObject3.bin"/><Relationship Id="rId6" Type="http://schemas.openxmlformats.org/officeDocument/2006/relationships/oleObject" Target="../embeddings/oleObject2.bin"/><Relationship Id="rId5" Type="http://schemas.openxmlformats.org/officeDocument/2006/relationships/image" Target="../media/image5.wmf"/><Relationship Id="rId4" Type="http://schemas.openxmlformats.org/officeDocument/2006/relationships/oleObject" Target="../embeddings/oleObject1.bin"/><Relationship Id="rId3" Type="http://schemas.openxmlformats.org/officeDocument/2006/relationships/image" Target="../media/image4.png"/><Relationship Id="rId2" Type="http://schemas.openxmlformats.org/officeDocument/2006/relationships/image" Target="../media/image3.png"/><Relationship Id="rId14" Type="http://schemas.openxmlformats.org/officeDocument/2006/relationships/vmlDrawing" Target="../drawings/vmlDrawing1.vml"/><Relationship Id="rId13" Type="http://schemas.openxmlformats.org/officeDocument/2006/relationships/slideLayout" Target="../slideLayouts/slideLayout7.xml"/><Relationship Id="rId12" Type="http://schemas.openxmlformats.org/officeDocument/2006/relationships/image" Target="../media/image8.wmf"/><Relationship Id="rId11" Type="http://schemas.openxmlformats.org/officeDocument/2006/relationships/oleObject" Target="../embeddings/oleObject5.bin"/><Relationship Id="rId10" Type="http://schemas.openxmlformats.org/officeDocument/2006/relationships/image" Target="../media/image7.wmf"/><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0.png"/><Relationship Id="rId7" Type="http://schemas.openxmlformats.org/officeDocument/2006/relationships/image" Target="../media/image19.png"/><Relationship Id="rId6" Type="http://schemas.openxmlformats.org/officeDocument/2006/relationships/image" Target="../media/image18.wmf"/><Relationship Id="rId5" Type="http://schemas.openxmlformats.org/officeDocument/2006/relationships/oleObject" Target="../embeddings/oleObject8.bin"/><Relationship Id="rId4" Type="http://schemas.openxmlformats.org/officeDocument/2006/relationships/image" Target="../media/image17.wmf"/><Relationship Id="rId3" Type="http://schemas.openxmlformats.org/officeDocument/2006/relationships/oleObject" Target="../embeddings/oleObject7.bin"/><Relationship Id="rId2" Type="http://schemas.openxmlformats.org/officeDocument/2006/relationships/image" Target="../media/image16.wmf"/><Relationship Id="rId10" Type="http://schemas.openxmlformats.org/officeDocument/2006/relationships/vmlDrawing" Target="../drawings/vmlDrawing2.vml"/><Relationship Id="rId1"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9" Type="http://schemas.openxmlformats.org/officeDocument/2006/relationships/image" Target="../media/image28.wmf"/><Relationship Id="rId8" Type="http://schemas.openxmlformats.org/officeDocument/2006/relationships/oleObject" Target="../embeddings/oleObject9.bin"/><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6" Type="http://schemas.openxmlformats.org/officeDocument/2006/relationships/vmlDrawing" Target="../drawings/vmlDrawing3.vml"/><Relationship Id="rId15" Type="http://schemas.openxmlformats.org/officeDocument/2006/relationships/slideLayout" Target="../slideLayouts/slideLayout7.xml"/><Relationship Id="rId14" Type="http://schemas.openxmlformats.org/officeDocument/2006/relationships/image" Target="../media/image32.png"/><Relationship Id="rId13" Type="http://schemas.openxmlformats.org/officeDocument/2006/relationships/image" Target="../media/image31.png"/><Relationship Id="rId12" Type="http://schemas.openxmlformats.org/officeDocument/2006/relationships/image" Target="../media/image30.png"/><Relationship Id="rId11" Type="http://schemas.openxmlformats.org/officeDocument/2006/relationships/image" Target="../media/image29.wmf"/><Relationship Id="rId10" Type="http://schemas.openxmlformats.org/officeDocument/2006/relationships/oleObject" Target="../embeddings/oleObject10.bin"/><Relationship Id="rId1" Type="http://schemas.openxmlformats.org/officeDocument/2006/relationships/image" Target="../media/image2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7.xml"/><Relationship Id="rId6" Type="http://schemas.openxmlformats.org/officeDocument/2006/relationships/image" Target="../media/image39.wmf"/><Relationship Id="rId5" Type="http://schemas.openxmlformats.org/officeDocument/2006/relationships/oleObject" Target="../embeddings/oleObject13.bin"/><Relationship Id="rId4" Type="http://schemas.openxmlformats.org/officeDocument/2006/relationships/image" Target="../media/image38.wmf"/><Relationship Id="rId3" Type="http://schemas.openxmlformats.org/officeDocument/2006/relationships/oleObject" Target="../embeddings/oleObject12.bin"/><Relationship Id="rId2" Type="http://schemas.openxmlformats.org/officeDocument/2006/relationships/image" Target="../media/image37.wmf"/><Relationship Id="rId1"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7.xml"/><Relationship Id="rId6" Type="http://schemas.openxmlformats.org/officeDocument/2006/relationships/image" Target="../media/image42.wmf"/><Relationship Id="rId5" Type="http://schemas.openxmlformats.org/officeDocument/2006/relationships/oleObject" Target="../embeddings/oleObject16.bin"/><Relationship Id="rId4" Type="http://schemas.openxmlformats.org/officeDocument/2006/relationships/image" Target="../media/image41.wmf"/><Relationship Id="rId3" Type="http://schemas.openxmlformats.org/officeDocument/2006/relationships/oleObject" Target="../embeddings/oleObject15.bin"/><Relationship Id="rId2" Type="http://schemas.openxmlformats.org/officeDocument/2006/relationships/image" Target="../media/image40.wmf"/><Relationship Id="rId1" Type="http://schemas.openxmlformats.org/officeDocument/2006/relationships/oleObject" Target="../embeddings/oleObject14.bin"/></Relationships>
</file>

<file path=ppt/slides/_rels/slide12.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image" Target="../media/image46.wmf"/><Relationship Id="rId7" Type="http://schemas.openxmlformats.org/officeDocument/2006/relationships/oleObject" Target="../embeddings/oleObject20.bin"/><Relationship Id="rId6" Type="http://schemas.openxmlformats.org/officeDocument/2006/relationships/image" Target="../media/image45.wmf"/><Relationship Id="rId5" Type="http://schemas.openxmlformats.org/officeDocument/2006/relationships/oleObject" Target="../embeddings/oleObject19.bin"/><Relationship Id="rId4" Type="http://schemas.openxmlformats.org/officeDocument/2006/relationships/image" Target="../media/image44.wmf"/><Relationship Id="rId3" Type="http://schemas.openxmlformats.org/officeDocument/2006/relationships/oleObject" Target="../embeddings/oleObject18.bin"/><Relationship Id="rId2" Type="http://schemas.openxmlformats.org/officeDocument/2006/relationships/image" Target="../media/image43.wmf"/><Relationship Id="rId11" Type="http://schemas.openxmlformats.org/officeDocument/2006/relationships/vmlDrawing" Target="../drawings/vmlDrawing6.vml"/><Relationship Id="rId10" Type="http://schemas.openxmlformats.org/officeDocument/2006/relationships/slideLayout" Target="../slideLayouts/slideLayout7.xml"/><Relationship Id="rId1" Type="http://schemas.openxmlformats.org/officeDocument/2006/relationships/oleObject" Target="../embeddings/oleObject17.bin"/></Relationships>
</file>

<file path=ppt/slides/_rels/slide13.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7.xml"/><Relationship Id="rId6" Type="http://schemas.openxmlformats.org/officeDocument/2006/relationships/image" Target="../media/image50.wmf"/><Relationship Id="rId5" Type="http://schemas.openxmlformats.org/officeDocument/2006/relationships/oleObject" Target="../embeddings/oleObject23.bin"/><Relationship Id="rId4" Type="http://schemas.openxmlformats.org/officeDocument/2006/relationships/image" Target="../media/image49.wmf"/><Relationship Id="rId3" Type="http://schemas.openxmlformats.org/officeDocument/2006/relationships/oleObject" Target="../embeddings/oleObject22.bin"/><Relationship Id="rId2" Type="http://schemas.openxmlformats.org/officeDocument/2006/relationships/image" Target="../media/image48.wmf"/><Relationship Id="rId1" Type="http://schemas.openxmlformats.org/officeDocument/2006/relationships/oleObject" Target="../embeddings/oleObject2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矩形 1"/>
          <p:cNvSpPr>
            <a:spLocks noChangeArrowheads="1"/>
          </p:cNvSpPr>
          <p:nvPr/>
        </p:nvSpPr>
        <p:spPr bwMode="auto">
          <a:xfrm>
            <a:off x="725488" y="908050"/>
            <a:ext cx="35591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lnSpc>
                <a:spcPct val="150000"/>
              </a:lnSpc>
              <a:buFontTx/>
              <a:buNone/>
            </a:pPr>
            <a:endParaRPr lang="en-US" altLang="zh-CN" b="1">
              <a:latin typeface="Times New Roman" panose="02020603050405020304" pitchFamily="18" charset="0"/>
            </a:endParaRPr>
          </a:p>
        </p:txBody>
      </p:sp>
      <p:sp>
        <p:nvSpPr>
          <p:cNvPr id="3075" name="Text Box 11"/>
          <p:cNvSpPr txBox="1">
            <a:spLocks noChangeArrowheads="1"/>
          </p:cNvSpPr>
          <p:nvPr/>
        </p:nvSpPr>
        <p:spPr bwMode="auto">
          <a:xfrm>
            <a:off x="3563888" y="44450"/>
            <a:ext cx="2109788"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45000"/>
              </a:spcBef>
              <a:spcAft>
                <a:spcPct val="20000"/>
              </a:spcAft>
              <a:buClr>
                <a:srgbClr val="0066CC"/>
              </a:buClr>
              <a:buChar char="•"/>
              <a:defRPr sz="3000">
                <a:solidFill>
                  <a:schemeClr val="tx1"/>
                </a:solidFill>
                <a:latin typeface="Arial" panose="020B0604020202020204" pitchFamily="34" charset="0"/>
                <a:ea typeface="MS PGothic" panose="020B0600070205080204" pitchFamily="34" charset="-128"/>
              </a:defRPr>
            </a:lvl1pPr>
            <a:lvl2pPr marL="742950" indent="-285750">
              <a:spcBef>
                <a:spcPct val="45000"/>
              </a:spcBef>
              <a:spcAft>
                <a:spcPct val="20000"/>
              </a:spcAft>
              <a:buClr>
                <a:srgbClr val="0066CC"/>
              </a:buClr>
              <a:buFont typeface="Times" pitchFamily="18" charset="0"/>
              <a:buChar char="•"/>
              <a:defRPr sz="3000">
                <a:solidFill>
                  <a:schemeClr val="tx1"/>
                </a:solidFill>
                <a:latin typeface="Times New Roman" panose="02020603050405020304" pitchFamily="18" charset="0"/>
                <a:ea typeface="MS PGothic" panose="020B0600070205080204" pitchFamily="34" charset="-128"/>
              </a:defRPr>
            </a:lvl2pPr>
            <a:lvl3pPr marL="1143000" indent="-228600">
              <a:spcBef>
                <a:spcPct val="45000"/>
              </a:spcBef>
              <a:spcAft>
                <a:spcPct val="20000"/>
              </a:spcAft>
              <a:buClr>
                <a:srgbClr val="0066CC"/>
              </a:buClr>
              <a:buFont typeface="Times" pitchFamily="18" charset="0"/>
              <a:buChar char="–"/>
              <a:defRPr sz="2800">
                <a:solidFill>
                  <a:schemeClr val="tx1"/>
                </a:solidFill>
                <a:latin typeface="Times New Roman" panose="02020603050405020304" pitchFamily="18" charset="0"/>
                <a:ea typeface="MS PGothic" panose="020B0600070205080204" pitchFamily="34" charset="-128"/>
              </a:defRPr>
            </a:lvl3pPr>
            <a:lvl4pPr marL="1600200" indent="-22860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4pPr>
            <a:lvl5pPr marL="2057400" indent="-22860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45000"/>
              </a:spcBef>
              <a:spcAft>
                <a:spcPct val="20000"/>
              </a:spcAft>
              <a:buClr>
                <a:srgbClr val="0066CC"/>
              </a:buClr>
              <a:buFont typeface="Times" pitchFamily="18" charset="0"/>
              <a:buChar char="–"/>
              <a:defRPr sz="26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spcAft>
                <a:spcPct val="0"/>
              </a:spcAft>
              <a:buClrTx/>
              <a:buFontTx/>
              <a:buNone/>
              <a:defRPr/>
            </a:pPr>
            <a:r>
              <a:rPr lang="en-US" altLang="zh-CN" sz="2800" b="1" dirty="0" smtClean="0">
                <a:solidFill>
                  <a:srgbClr val="0070C0"/>
                </a:solidFill>
                <a:effectLst>
                  <a:outerShdw blurRad="38100" dist="38100" dir="2700000" algn="tl">
                    <a:srgbClr val="C0C0C0"/>
                  </a:outerShdw>
                </a:effectLst>
                <a:latin typeface="Times New Roman" panose="02020603050405020304" pitchFamily="18" charset="0"/>
                <a:ea typeface="宋体" panose="02010600030101010101" pitchFamily="2" charset="-122"/>
              </a:rPr>
              <a:t>Key words           </a:t>
            </a:r>
            <a:endParaRPr lang="en-US" altLang="zh-CN" sz="2800" b="1" dirty="0" smtClean="0">
              <a:solidFill>
                <a:srgbClr val="0070C0"/>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6" name="矩形 1"/>
          <p:cNvSpPr>
            <a:spLocks noChangeArrowheads="1"/>
          </p:cNvSpPr>
          <p:nvPr/>
        </p:nvSpPr>
        <p:spPr bwMode="auto">
          <a:xfrm>
            <a:off x="251520" y="1068900"/>
            <a:ext cx="4464496"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lnSpc>
                <a:spcPct val="150000"/>
              </a:lnSpc>
              <a:buFontTx/>
              <a:buNone/>
            </a:pPr>
            <a:r>
              <a:rPr lang="en-US" altLang="zh-CN" sz="2000" dirty="0" smtClean="0">
                <a:latin typeface="Times New Roman" panose="02020603050405020304" pitchFamily="18" charset="0"/>
              </a:rPr>
              <a:t>Relativity </a:t>
            </a:r>
            <a:r>
              <a:rPr lang="zh-CN" altLang="en-US" sz="2000" dirty="0" smtClean="0">
                <a:latin typeface="Times New Roman" panose="02020603050405020304" pitchFamily="18" charset="0"/>
              </a:rPr>
              <a:t>相对性</a:t>
            </a:r>
            <a:endParaRPr lang="en-US" altLang="zh-CN" sz="2000" dirty="0">
              <a:latin typeface="Times New Roman" panose="02020603050405020304" pitchFamily="18" charset="0"/>
            </a:endParaRPr>
          </a:p>
          <a:p>
            <a:pPr eaLnBrk="1" hangingPunct="1">
              <a:lnSpc>
                <a:spcPct val="150000"/>
              </a:lnSpc>
              <a:buFontTx/>
              <a:buNone/>
            </a:pPr>
            <a:r>
              <a:rPr lang="en-US" altLang="zh-CN" sz="2000" dirty="0" smtClean="0">
                <a:latin typeface="Times New Roman" panose="02020603050405020304" pitchFamily="18" charset="0"/>
              </a:rPr>
              <a:t>Postulates </a:t>
            </a:r>
            <a:r>
              <a:rPr lang="zh-CN" altLang="en-US" sz="2000" dirty="0" smtClean="0">
                <a:latin typeface="Times New Roman" panose="02020603050405020304" pitchFamily="18" charset="0"/>
              </a:rPr>
              <a:t>假设</a:t>
            </a:r>
            <a:endParaRPr lang="en-US" altLang="zh-CN" sz="2000" dirty="0" smtClean="0">
              <a:latin typeface="Times New Roman" panose="02020603050405020304" pitchFamily="18" charset="0"/>
            </a:endParaRPr>
          </a:p>
          <a:p>
            <a:pPr eaLnBrk="1" hangingPunct="1">
              <a:lnSpc>
                <a:spcPct val="150000"/>
              </a:lnSpc>
              <a:buFontTx/>
              <a:buNone/>
            </a:pPr>
            <a:r>
              <a:rPr lang="en-US" altLang="zh-CN" sz="2000" dirty="0" smtClean="0">
                <a:latin typeface="Times New Roman" panose="02020603050405020304" pitchFamily="18" charset="0"/>
              </a:rPr>
              <a:t>Inertial </a:t>
            </a:r>
            <a:r>
              <a:rPr lang="en-US" altLang="zh-CN" sz="2000" dirty="0">
                <a:latin typeface="Times New Roman" panose="02020603050405020304" pitchFamily="18" charset="0"/>
              </a:rPr>
              <a:t>reference </a:t>
            </a:r>
            <a:r>
              <a:rPr lang="en-US" altLang="zh-CN" sz="2000" dirty="0" smtClean="0">
                <a:latin typeface="Times New Roman" panose="02020603050405020304" pitchFamily="18" charset="0"/>
              </a:rPr>
              <a:t>frame </a:t>
            </a:r>
            <a:r>
              <a:rPr lang="zh-CN" altLang="en-US" sz="2000" dirty="0" smtClean="0">
                <a:latin typeface="Times New Roman" panose="02020603050405020304" pitchFamily="18" charset="0"/>
              </a:rPr>
              <a:t>惯性参考系</a:t>
            </a:r>
            <a:endParaRPr lang="en-US" altLang="zh-CN" sz="2000" dirty="0" smtClean="0">
              <a:latin typeface="Times New Roman" panose="02020603050405020304" pitchFamily="18" charset="0"/>
            </a:endParaRPr>
          </a:p>
          <a:p>
            <a:pPr eaLnBrk="1" hangingPunct="1">
              <a:lnSpc>
                <a:spcPct val="150000"/>
              </a:lnSpc>
              <a:buFontTx/>
              <a:buNone/>
            </a:pPr>
            <a:r>
              <a:rPr lang="en-US" altLang="zh-CN" sz="2000" dirty="0" smtClean="0">
                <a:latin typeface="Times New Roman" panose="02020603050405020304" pitchFamily="18" charset="0"/>
              </a:rPr>
              <a:t>Event </a:t>
            </a:r>
            <a:r>
              <a:rPr lang="zh-CN" altLang="en-US" sz="2000" dirty="0" smtClean="0">
                <a:latin typeface="Times New Roman" panose="02020603050405020304" pitchFamily="18" charset="0"/>
              </a:rPr>
              <a:t>事件</a:t>
            </a:r>
            <a:endParaRPr lang="en-US" altLang="zh-CN" sz="2000" dirty="0">
              <a:latin typeface="Times New Roman" panose="02020603050405020304" pitchFamily="18" charset="0"/>
            </a:endParaRPr>
          </a:p>
          <a:p>
            <a:pPr eaLnBrk="1" hangingPunct="1">
              <a:lnSpc>
                <a:spcPct val="150000"/>
              </a:lnSpc>
              <a:buFontTx/>
              <a:buNone/>
            </a:pPr>
            <a:r>
              <a:rPr lang="en-US" altLang="zh-CN" sz="2000" dirty="0">
                <a:latin typeface="Times New Roman" panose="02020603050405020304" pitchFamily="18" charset="0"/>
              </a:rPr>
              <a:t>Time Dilation </a:t>
            </a:r>
            <a:r>
              <a:rPr lang="zh-CN" altLang="en-US" sz="2000" dirty="0" smtClean="0">
                <a:latin typeface="Times New Roman" panose="02020603050405020304" pitchFamily="18" charset="0"/>
              </a:rPr>
              <a:t>时间膨胀</a:t>
            </a:r>
            <a:endParaRPr lang="en-US" altLang="zh-CN" sz="2000" dirty="0">
              <a:latin typeface="Times New Roman" panose="02020603050405020304" pitchFamily="18" charset="0"/>
            </a:endParaRPr>
          </a:p>
          <a:p>
            <a:pPr eaLnBrk="1" hangingPunct="1">
              <a:lnSpc>
                <a:spcPct val="150000"/>
              </a:lnSpc>
              <a:buFontTx/>
              <a:buNone/>
            </a:pPr>
            <a:r>
              <a:rPr lang="en-US" altLang="zh-CN" sz="2000" dirty="0">
                <a:latin typeface="Times New Roman" panose="02020603050405020304" pitchFamily="18" charset="0"/>
              </a:rPr>
              <a:t>Length </a:t>
            </a:r>
            <a:r>
              <a:rPr lang="en-US" altLang="zh-CN" sz="2000" dirty="0" smtClean="0">
                <a:latin typeface="Times New Roman" panose="02020603050405020304" pitchFamily="18" charset="0"/>
              </a:rPr>
              <a:t>Contraction </a:t>
            </a:r>
            <a:r>
              <a:rPr lang="zh-CN" altLang="en-US" sz="2000" dirty="0" smtClean="0">
                <a:latin typeface="Times New Roman" panose="02020603050405020304" pitchFamily="18" charset="0"/>
              </a:rPr>
              <a:t>长度收缩</a:t>
            </a:r>
            <a:endParaRPr lang="en-US" altLang="zh-CN" sz="2000" dirty="0" smtClean="0">
              <a:latin typeface="Times New Roman" panose="02020603050405020304" pitchFamily="18" charset="0"/>
            </a:endParaRPr>
          </a:p>
          <a:p>
            <a:pPr eaLnBrk="1" hangingPunct="1">
              <a:lnSpc>
                <a:spcPct val="150000"/>
              </a:lnSpc>
              <a:buFontTx/>
              <a:buNone/>
            </a:pPr>
            <a:r>
              <a:rPr lang="en-US" altLang="zh-CN" sz="2000" dirty="0" smtClean="0">
                <a:latin typeface="Times New Roman" panose="02020603050405020304" pitchFamily="18" charset="0"/>
              </a:rPr>
              <a:t>Spatial  separation  </a:t>
            </a:r>
            <a:r>
              <a:rPr lang="zh-CN" altLang="en-US" sz="2000" dirty="0" smtClean="0">
                <a:latin typeface="Times New Roman" panose="02020603050405020304" pitchFamily="18" charset="0"/>
              </a:rPr>
              <a:t>空间间隔</a:t>
            </a:r>
            <a:endParaRPr lang="en-US" altLang="zh-CN" sz="2000" dirty="0" smtClean="0">
              <a:latin typeface="Times New Roman" panose="02020603050405020304" pitchFamily="18" charset="0"/>
            </a:endParaRPr>
          </a:p>
          <a:p>
            <a:pPr eaLnBrk="1" hangingPunct="1">
              <a:lnSpc>
                <a:spcPct val="150000"/>
              </a:lnSpc>
              <a:buFontTx/>
              <a:buNone/>
            </a:pPr>
            <a:r>
              <a:rPr lang="en-US" altLang="zh-CN" sz="2000" dirty="0" smtClean="0">
                <a:latin typeface="Times New Roman" panose="02020603050405020304" pitchFamily="18" charset="0"/>
              </a:rPr>
              <a:t>Temporal separation  </a:t>
            </a:r>
            <a:r>
              <a:rPr lang="zh-CN" altLang="en-US" sz="2000" dirty="0" smtClean="0">
                <a:latin typeface="Times New Roman" panose="02020603050405020304" pitchFamily="18" charset="0"/>
              </a:rPr>
              <a:t>时间间隔</a:t>
            </a:r>
            <a:endParaRPr lang="en-US" altLang="zh-CN" sz="2000" dirty="0">
              <a:latin typeface="Times New Roman" panose="02020603050405020304" pitchFamily="18" charset="0"/>
            </a:endParaRPr>
          </a:p>
          <a:p>
            <a:pPr eaLnBrk="1" hangingPunct="1">
              <a:lnSpc>
                <a:spcPct val="150000"/>
              </a:lnSpc>
              <a:buFontTx/>
              <a:buNone/>
            </a:pPr>
            <a:r>
              <a:rPr lang="en-US" altLang="zh-CN" sz="2000" dirty="0">
                <a:latin typeface="Times New Roman" panose="02020603050405020304" pitchFamily="18" charset="0"/>
              </a:rPr>
              <a:t>Lorentz </a:t>
            </a:r>
            <a:r>
              <a:rPr lang="en-US" altLang="zh-CN" sz="2000" dirty="0" smtClean="0">
                <a:latin typeface="Times New Roman" panose="02020603050405020304" pitchFamily="18" charset="0"/>
              </a:rPr>
              <a:t>Transformation </a:t>
            </a:r>
            <a:r>
              <a:rPr lang="zh-CN" altLang="en-US" sz="2000" dirty="0" smtClean="0">
                <a:latin typeface="Times New Roman" panose="02020603050405020304" pitchFamily="18" charset="0"/>
              </a:rPr>
              <a:t>洛仑兹变换</a:t>
            </a:r>
            <a:endParaRPr lang="en-US" altLang="zh-CN" sz="2000" dirty="0">
              <a:latin typeface="Times New Roman" panose="02020603050405020304" pitchFamily="18" charset="0"/>
            </a:endParaRPr>
          </a:p>
          <a:p>
            <a:pPr eaLnBrk="1" hangingPunct="1">
              <a:lnSpc>
                <a:spcPct val="150000"/>
              </a:lnSpc>
              <a:buFontTx/>
              <a:buNone/>
            </a:pPr>
            <a:r>
              <a:rPr lang="en-US" altLang="zh-CN" sz="2000" dirty="0">
                <a:latin typeface="Times New Roman" panose="02020603050405020304" pitchFamily="18" charset="0"/>
              </a:rPr>
              <a:t>Doppler </a:t>
            </a:r>
            <a:r>
              <a:rPr lang="en-US" altLang="zh-CN" sz="2000" dirty="0" smtClean="0">
                <a:latin typeface="Times New Roman" panose="02020603050405020304" pitchFamily="18" charset="0"/>
              </a:rPr>
              <a:t>Effect </a:t>
            </a:r>
            <a:r>
              <a:rPr lang="zh-CN" altLang="en-US" sz="2000" dirty="0" smtClean="0">
                <a:latin typeface="Times New Roman" panose="02020603050405020304" pitchFamily="18" charset="0"/>
              </a:rPr>
              <a:t>多普勒效应</a:t>
            </a:r>
            <a:endParaRPr lang="en-US" altLang="zh-CN" sz="2000" dirty="0">
              <a:latin typeface="Times New Roman" panose="02020603050405020304" pitchFamily="18" charset="0"/>
            </a:endParaRPr>
          </a:p>
          <a:p>
            <a:pPr eaLnBrk="1" hangingPunct="1">
              <a:lnSpc>
                <a:spcPct val="150000"/>
              </a:lnSpc>
              <a:buFontTx/>
              <a:buNone/>
            </a:pPr>
            <a:endParaRPr lang="en-US" altLang="zh-CN" b="1" dirty="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7" name="矩形 1"/>
              <p:cNvSpPr>
                <a:spLocks noChangeArrowheads="1"/>
              </p:cNvSpPr>
              <p:nvPr/>
            </p:nvSpPr>
            <p:spPr bwMode="auto">
              <a:xfrm>
                <a:off x="4737720" y="1066238"/>
                <a:ext cx="3816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lnSpc>
                    <a:spcPct val="150000"/>
                  </a:lnSpc>
                  <a:buFontTx/>
                  <a:buNone/>
                </a:pPr>
                <a:r>
                  <a:rPr lang="en-US" altLang="zh-CN" sz="2000" dirty="0" smtClean="0">
                    <a:latin typeface="Times New Roman" panose="02020603050405020304" pitchFamily="18" charset="0"/>
                  </a:rPr>
                  <a:t>Simultaneity </a:t>
                </a:r>
                <a:r>
                  <a:rPr lang="zh-CN" altLang="en-US" sz="2000" dirty="0" smtClean="0">
                    <a:latin typeface="Times New Roman" panose="02020603050405020304" pitchFamily="18" charset="0"/>
                  </a:rPr>
                  <a:t>同时</a:t>
                </a:r>
                <a:endParaRPr lang="en-US" altLang="zh-CN" sz="2000" dirty="0" smtClean="0">
                  <a:latin typeface="Times New Roman" panose="02020603050405020304" pitchFamily="18" charset="0"/>
                </a:endParaRPr>
              </a:p>
              <a:p>
                <a:pPr eaLnBrk="1" hangingPunct="1">
                  <a:lnSpc>
                    <a:spcPct val="150000"/>
                  </a:lnSpc>
                  <a:buFontTx/>
                  <a:buNone/>
                </a:pPr>
                <a:r>
                  <a:rPr lang="en-US" altLang="zh-CN" sz="2000" dirty="0" smtClean="0">
                    <a:latin typeface="Times New Roman" panose="02020603050405020304" pitchFamily="18" charset="0"/>
                  </a:rPr>
                  <a:t>Proper time (</a:t>
                </a:r>
                <a14:m>
                  <m:oMath xmlns:m="http://schemas.openxmlformats.org/officeDocument/2006/math">
                    <m:r>
                      <a:rPr lang="en-US" altLang="zh-CN" sz="2000" i="1" smtClean="0">
                        <a:latin typeface="Cambria Math" panose="02040503050406030204"/>
                        <a:ea typeface="Cambria Math" panose="02040503050406030204"/>
                      </a:rPr>
                      <m:t>∆</m:t>
                    </m:r>
                    <m:r>
                      <a:rPr lang="en-US" altLang="zh-CN" sz="2000" b="0" i="1" smtClean="0">
                        <a:latin typeface="Cambria Math" panose="02040503050406030204"/>
                        <a:ea typeface="Cambria Math" panose="02040503050406030204"/>
                      </a:rPr>
                      <m:t>𝑡</m:t>
                    </m:r>
                    <m:r>
                      <a:rPr lang="en-US" altLang="zh-CN" sz="2000" b="0" i="1" baseline="-25000" smtClean="0">
                        <a:latin typeface="Cambria Math" panose="02040503050406030204"/>
                        <a:ea typeface="Cambria Math" panose="02040503050406030204"/>
                      </a:rPr>
                      <m:t>0</m:t>
                    </m:r>
                    <m:r>
                      <a:rPr lang="en-US" altLang="zh-CN" sz="2000" b="0" i="1" smtClean="0">
                        <a:latin typeface="Cambria Math" panose="02040503050406030204"/>
                        <a:ea typeface="Cambria Math" panose="02040503050406030204"/>
                      </a:rPr>
                      <m:t>)</m:t>
                    </m:r>
                  </m:oMath>
                </a14:m>
                <a:r>
                  <a:rPr lang="zh-CN" altLang="en-US" sz="2000" dirty="0" smtClean="0">
                    <a:latin typeface="Times New Roman" panose="02020603050405020304" pitchFamily="18" charset="0"/>
                  </a:rPr>
                  <a:t> 固有时</a:t>
                </a:r>
                <a:endParaRPr lang="en-US" altLang="zh-CN" sz="2000" dirty="0" smtClean="0">
                  <a:latin typeface="Times New Roman" panose="02020603050405020304" pitchFamily="18" charset="0"/>
                </a:endParaRPr>
              </a:p>
              <a:p>
                <a:pPr eaLnBrk="1" hangingPunct="1">
                  <a:lnSpc>
                    <a:spcPct val="150000"/>
                  </a:lnSpc>
                  <a:buFontTx/>
                  <a:buNone/>
                </a:pPr>
                <a:r>
                  <a:rPr lang="en-US" altLang="zh-CN" sz="2000" dirty="0" smtClean="0">
                    <a:latin typeface="Times New Roman" panose="02020603050405020304" pitchFamily="18" charset="0"/>
                  </a:rPr>
                  <a:t>Proper frequency (</a:t>
                </a:r>
                <a:r>
                  <a:rPr lang="en-US" altLang="zh-CN" sz="2000" i="1" dirty="0" smtClean="0">
                    <a:latin typeface="Times New Roman" panose="02020603050405020304" pitchFamily="18" charset="0"/>
                  </a:rPr>
                  <a:t>f</a:t>
                </a:r>
                <a:r>
                  <a:rPr lang="en-US" altLang="zh-CN" sz="2000" baseline="-25000" dirty="0" smtClean="0">
                    <a:latin typeface="Times New Roman" panose="02020603050405020304" pitchFamily="18" charset="0"/>
                  </a:rPr>
                  <a:t>0</a:t>
                </a:r>
                <a:r>
                  <a:rPr lang="en-US" altLang="zh-CN" sz="2000" dirty="0" smtClean="0">
                    <a:latin typeface="Times New Roman" panose="02020603050405020304" pitchFamily="18" charset="0"/>
                  </a:rPr>
                  <a:t>) </a:t>
                </a:r>
                <a:r>
                  <a:rPr lang="zh-CN" altLang="en-US" sz="2000" dirty="0" smtClean="0">
                    <a:latin typeface="Times New Roman" panose="02020603050405020304" pitchFamily="18" charset="0"/>
                  </a:rPr>
                  <a:t>固有频率</a:t>
                </a:r>
                <a:endParaRPr lang="en-US" altLang="zh-CN" sz="2000" dirty="0">
                  <a:latin typeface="Times New Roman" panose="02020603050405020304" pitchFamily="18" charset="0"/>
                </a:endParaRPr>
              </a:p>
              <a:p>
                <a:pPr eaLnBrk="1" hangingPunct="1">
                  <a:lnSpc>
                    <a:spcPct val="150000"/>
                  </a:lnSpc>
                  <a:buFontTx/>
                  <a:buNone/>
                </a:pPr>
                <a:r>
                  <a:rPr lang="en-US" altLang="zh-CN" sz="2000" dirty="0">
                    <a:latin typeface="Times New Roman" panose="02020603050405020304" pitchFamily="18" charset="0"/>
                  </a:rPr>
                  <a:t>Proper </a:t>
                </a:r>
                <a:r>
                  <a:rPr lang="en-US" altLang="zh-CN" sz="2000" dirty="0" smtClean="0">
                    <a:latin typeface="Times New Roman" panose="02020603050405020304" pitchFamily="18" charset="0"/>
                  </a:rPr>
                  <a:t>length (</a:t>
                </a:r>
                <a:r>
                  <a:rPr lang="en-US" altLang="zh-CN" sz="2000" i="1" dirty="0" smtClean="0">
                    <a:latin typeface="Times New Roman" panose="02020603050405020304" pitchFamily="18" charset="0"/>
                  </a:rPr>
                  <a:t>l</a:t>
                </a:r>
                <a:r>
                  <a:rPr lang="en-US" altLang="zh-CN" sz="2000" baseline="-25000" dirty="0" smtClean="0">
                    <a:latin typeface="Times New Roman" panose="02020603050405020304" pitchFamily="18" charset="0"/>
                  </a:rPr>
                  <a:t>0</a:t>
                </a:r>
                <a:r>
                  <a:rPr lang="en-US" altLang="zh-CN" sz="2000" dirty="0" smtClean="0">
                    <a:latin typeface="Times New Roman" panose="02020603050405020304" pitchFamily="18" charset="0"/>
                  </a:rPr>
                  <a:t>) </a:t>
                </a:r>
                <a:r>
                  <a:rPr lang="zh-CN" altLang="en-US" sz="2000" dirty="0" smtClean="0">
                    <a:latin typeface="Times New Roman" panose="02020603050405020304" pitchFamily="18" charset="0"/>
                  </a:rPr>
                  <a:t>固有长度</a:t>
                </a:r>
                <a:endParaRPr lang="en-US" altLang="zh-CN" sz="2000" dirty="0">
                  <a:latin typeface="Times New Roman" panose="02020603050405020304" pitchFamily="18" charset="0"/>
                </a:endParaRPr>
              </a:p>
              <a:p>
                <a:pPr eaLnBrk="1" hangingPunct="1">
                  <a:lnSpc>
                    <a:spcPct val="150000"/>
                  </a:lnSpc>
                  <a:buFontTx/>
                  <a:buNone/>
                </a:pPr>
                <a:r>
                  <a:rPr lang="en-US" altLang="zh-CN" sz="2000" dirty="0">
                    <a:latin typeface="Times New Roman" panose="02020603050405020304" pitchFamily="18" charset="0"/>
                  </a:rPr>
                  <a:t>Speed </a:t>
                </a:r>
                <a:r>
                  <a:rPr lang="en-US" altLang="zh-CN" sz="2000" dirty="0" smtClean="0">
                    <a:latin typeface="Times New Roman" panose="02020603050405020304" pitchFamily="18" charset="0"/>
                  </a:rPr>
                  <a:t>parameter (</a:t>
                </a:r>
                <a14:m>
                  <m:oMath xmlns:m="http://schemas.openxmlformats.org/officeDocument/2006/math">
                    <m:r>
                      <a:rPr lang="zh-CN" altLang="en-US" sz="2000" i="1" smtClean="0">
                        <a:latin typeface="Cambria Math" panose="02040503050406030204"/>
                      </a:rPr>
                      <m:t>𝛽</m:t>
                    </m:r>
                    <m:r>
                      <a:rPr lang="en-US" altLang="zh-CN" sz="2000" b="0" i="1" smtClean="0">
                        <a:latin typeface="Cambria Math" panose="02040503050406030204"/>
                      </a:rPr>
                      <m:t>) </m:t>
                    </m:r>
                  </m:oMath>
                </a14:m>
                <a:r>
                  <a:rPr lang="zh-CN" altLang="en-US" sz="2000" dirty="0" smtClean="0">
                    <a:latin typeface="Times New Roman" panose="02020603050405020304" pitchFamily="18" charset="0"/>
                  </a:rPr>
                  <a:t>速度参数</a:t>
                </a:r>
                <a:endParaRPr lang="en-US" altLang="zh-CN" sz="2000" dirty="0">
                  <a:latin typeface="Times New Roman" panose="02020603050405020304" pitchFamily="18" charset="0"/>
                </a:endParaRPr>
              </a:p>
              <a:p>
                <a:pPr eaLnBrk="1" hangingPunct="1">
                  <a:lnSpc>
                    <a:spcPct val="150000"/>
                  </a:lnSpc>
                  <a:buFontTx/>
                  <a:buNone/>
                </a:pPr>
                <a:r>
                  <a:rPr lang="en-US" altLang="zh-CN" sz="2000" dirty="0">
                    <a:latin typeface="Times New Roman" panose="02020603050405020304" pitchFamily="18" charset="0"/>
                  </a:rPr>
                  <a:t>Lorentz </a:t>
                </a:r>
                <a:r>
                  <a:rPr lang="en-US" altLang="zh-CN" sz="2000" dirty="0" smtClean="0">
                    <a:latin typeface="Times New Roman" panose="02020603050405020304" pitchFamily="18" charset="0"/>
                  </a:rPr>
                  <a:t>factor (</a:t>
                </a:r>
                <a14:m>
                  <m:oMath xmlns:m="http://schemas.openxmlformats.org/officeDocument/2006/math">
                    <m:r>
                      <a:rPr lang="zh-CN" altLang="en-US" sz="2000" i="1" smtClean="0">
                        <a:latin typeface="Cambria Math" panose="02040503050406030204"/>
                      </a:rPr>
                      <m:t>𝛾</m:t>
                    </m:r>
                    <m:r>
                      <a:rPr lang="en-US" altLang="zh-CN" sz="2000" b="0" i="1" smtClean="0">
                        <a:latin typeface="Cambria Math" panose="02040503050406030204"/>
                      </a:rPr>
                      <m:t>) </m:t>
                    </m:r>
                  </m:oMath>
                </a14:m>
                <a:r>
                  <a:rPr lang="zh-CN" altLang="en-US" sz="2000" dirty="0" smtClean="0">
                    <a:latin typeface="Times New Roman" panose="02020603050405020304" pitchFamily="18" charset="0"/>
                  </a:rPr>
                  <a:t>洛仑兹因子</a:t>
                </a:r>
                <a:endParaRPr lang="en-US" altLang="zh-CN" sz="2000" dirty="0">
                  <a:latin typeface="Times New Roman" panose="02020603050405020304" pitchFamily="18" charset="0"/>
                </a:endParaRPr>
              </a:p>
              <a:p>
                <a:pPr eaLnBrk="1" hangingPunct="1">
                  <a:lnSpc>
                    <a:spcPct val="150000"/>
                  </a:lnSpc>
                  <a:buFontTx/>
                  <a:buNone/>
                </a:pPr>
                <a:endParaRPr lang="en-US" altLang="zh-CN" b="1" dirty="0">
                  <a:latin typeface="Times New Roman" panose="02020603050405020304" pitchFamily="18" charset="0"/>
                </a:endParaRPr>
              </a:p>
              <a:p>
                <a:pPr eaLnBrk="1" hangingPunct="1">
                  <a:lnSpc>
                    <a:spcPct val="150000"/>
                  </a:lnSpc>
                  <a:buFontTx/>
                  <a:buNone/>
                </a:pPr>
                <a:endParaRPr lang="en-US" altLang="zh-CN" b="1" dirty="0">
                  <a:latin typeface="Times New Roman" panose="02020603050405020304" pitchFamily="18" charset="0"/>
                </a:endParaRPr>
              </a:p>
            </p:txBody>
          </p:sp>
        </mc:Choice>
        <mc:Fallback>
          <p:sp>
            <p:nvSpPr>
              <p:cNvPr id="7" name="矩形 1"/>
              <p:cNvSpPr>
                <a:spLocks noRot="1" noChangeAspect="1" noMove="1" noResize="1" noEditPoints="1" noAdjustHandles="1" noChangeArrowheads="1" noChangeShapeType="1" noTextEdit="1"/>
              </p:cNvSpPr>
              <p:nvPr/>
            </p:nvSpPr>
            <p:spPr bwMode="auto">
              <a:xfrm>
                <a:off x="4737720" y="1066238"/>
                <a:ext cx="3816350" cy="3970318"/>
              </a:xfrm>
              <a:prstGeom prst="rect">
                <a:avLst/>
              </a:prstGeom>
              <a:blipFill rotWithShape="1">
                <a:blip r:embed="rId1"/>
                <a:stretch>
                  <a:fillRect l="-16" t="-2" r="16" b="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矩形 1"/>
          <p:cNvSpPr>
            <a:spLocks noChangeArrowheads="1"/>
          </p:cNvSpPr>
          <p:nvPr/>
        </p:nvSpPr>
        <p:spPr bwMode="auto">
          <a:xfrm>
            <a:off x="250825" y="115888"/>
            <a:ext cx="8893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dirty="0" smtClean="0">
                <a:latin typeface="Times New Roman" panose="02020603050405020304" pitchFamily="18" charset="0"/>
                <a:cs typeface="Times New Roman" panose="02020603050405020304" pitchFamily="18" charset="0"/>
              </a:rPr>
              <a:t>Two postulates</a:t>
            </a:r>
            <a:endParaRPr lang="zh-CN" altLang="en-US" dirty="0">
              <a:latin typeface="Times New Roman" panose="02020603050405020304" pitchFamily="18" charset="0"/>
              <a:cs typeface="Times New Roman" panose="02020603050405020304" pitchFamily="18" charset="0"/>
            </a:endParaRPr>
          </a:p>
        </p:txBody>
      </p:sp>
      <p:sp>
        <p:nvSpPr>
          <p:cNvPr id="3" name="TextBox 2"/>
          <p:cNvSpPr txBox="1">
            <a:spLocks noChangeArrowheads="1"/>
          </p:cNvSpPr>
          <p:nvPr/>
        </p:nvSpPr>
        <p:spPr bwMode="auto">
          <a:xfrm>
            <a:off x="695325" y="1149350"/>
            <a:ext cx="798036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Tx/>
              <a:buNone/>
              <a:defRPr/>
            </a:pPr>
            <a:r>
              <a:rPr lang="en-US" altLang="zh-CN" sz="2000" b="1" dirty="0" smtClean="0">
                <a:latin typeface="+mj-lt"/>
              </a:rPr>
              <a:t>First postulate :</a:t>
            </a:r>
            <a:endParaRPr lang="en-US" altLang="zh-CN" sz="2000" b="1" dirty="0" smtClean="0">
              <a:latin typeface="+mj-lt"/>
            </a:endParaRPr>
          </a:p>
          <a:p>
            <a:r>
              <a:rPr lang="en-US" altLang="zh-CN" sz="2000" dirty="0">
                <a:latin typeface="Times New Roman" panose="02020603050405020304" pitchFamily="18" charset="0"/>
              </a:rPr>
              <a:t>      The laws of physics are the same for observers in </a:t>
            </a:r>
            <a:r>
              <a:rPr lang="en-US" altLang="zh-CN" sz="2000" dirty="0" smtClean="0">
                <a:latin typeface="Times New Roman" panose="02020603050405020304" pitchFamily="18" charset="0"/>
              </a:rPr>
              <a:t>all inertial </a:t>
            </a:r>
            <a:r>
              <a:rPr lang="en-US" altLang="zh-CN" sz="2000" dirty="0">
                <a:latin typeface="Times New Roman" panose="02020603050405020304" pitchFamily="18" charset="0"/>
              </a:rPr>
              <a:t>reference </a:t>
            </a:r>
            <a:r>
              <a:rPr lang="en-US" altLang="zh-CN" sz="2000" dirty="0" smtClean="0">
                <a:latin typeface="Times New Roman" panose="02020603050405020304" pitchFamily="18" charset="0"/>
              </a:rPr>
              <a:t>frames </a:t>
            </a:r>
            <a:r>
              <a:rPr lang="en-US" altLang="zh-CN" sz="2000" dirty="0" smtClean="0">
                <a:latin typeface="+mj-lt"/>
              </a:rPr>
              <a:t>(</a:t>
            </a:r>
            <a:r>
              <a:rPr lang="en-US" altLang="zh-CN" sz="2000" dirty="0">
                <a:latin typeface="+mj-lt"/>
              </a:rPr>
              <a:t>no </a:t>
            </a:r>
            <a:r>
              <a:rPr lang="en-US" altLang="zh-CN" sz="2000" dirty="0" smtClean="0">
                <a:latin typeface="+mj-lt"/>
              </a:rPr>
              <a:t>acceleration )</a:t>
            </a:r>
            <a:r>
              <a:rPr lang="en-US" altLang="zh-CN" sz="2000" dirty="0" smtClean="0">
                <a:latin typeface="Times New Roman" panose="02020603050405020304" pitchFamily="18" charset="0"/>
              </a:rPr>
              <a:t>. </a:t>
            </a:r>
            <a:r>
              <a:rPr lang="en-US" altLang="zh-CN" sz="2000" dirty="0">
                <a:latin typeface="Times New Roman" panose="02020603050405020304" pitchFamily="18" charset="0"/>
              </a:rPr>
              <a:t>No one frame is preferred over any </a:t>
            </a:r>
            <a:r>
              <a:rPr lang="en-US" altLang="zh-CN" sz="2000" dirty="0" smtClean="0">
                <a:latin typeface="Times New Roman" panose="02020603050405020304" pitchFamily="18" charset="0"/>
              </a:rPr>
              <a:t>other</a:t>
            </a:r>
            <a:endParaRPr lang="zh-CN" altLang="en-US" sz="2000" dirty="0" smtClean="0">
              <a:latin typeface="+mj-lt"/>
            </a:endParaRPr>
          </a:p>
        </p:txBody>
      </p:sp>
      <p:sp>
        <p:nvSpPr>
          <p:cNvPr id="4" name="TextBox 3"/>
          <p:cNvSpPr txBox="1">
            <a:spLocks noChangeArrowheads="1"/>
          </p:cNvSpPr>
          <p:nvPr/>
        </p:nvSpPr>
        <p:spPr bwMode="auto">
          <a:xfrm>
            <a:off x="611560" y="2708920"/>
            <a:ext cx="755491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000" b="1" dirty="0">
                <a:latin typeface="Times New Roman" panose="02020603050405020304" pitchFamily="18" charset="0"/>
              </a:rPr>
              <a:t>Second postulate : </a:t>
            </a:r>
            <a:endParaRPr lang="en-US" altLang="zh-CN" sz="2000" b="1" dirty="0">
              <a:latin typeface="Times New Roman" panose="02020603050405020304" pitchFamily="18" charset="0"/>
            </a:endParaRPr>
          </a:p>
          <a:p>
            <a:r>
              <a:rPr lang="en-US" altLang="zh-CN" sz="2000" b="1" i="1" dirty="0">
                <a:solidFill>
                  <a:srgbClr val="FF0000"/>
                </a:solidFill>
                <a:latin typeface="Times New Roman" panose="02020603050405020304" pitchFamily="18" charset="0"/>
              </a:rPr>
              <a:t>     </a:t>
            </a:r>
            <a:r>
              <a:rPr lang="en-US" altLang="zh-CN" sz="2000" dirty="0">
                <a:latin typeface="Times New Roman" panose="02020603050405020304" pitchFamily="18" charset="0"/>
              </a:rPr>
              <a:t>The speed of light in vacuum has the same value </a:t>
            </a:r>
            <a:r>
              <a:rPr lang="en-US" altLang="zh-CN" sz="2000" dirty="0" smtClean="0">
                <a:latin typeface="Times New Roman" panose="02020603050405020304" pitchFamily="18" charset="0"/>
              </a:rPr>
              <a:t>c in </a:t>
            </a:r>
            <a:r>
              <a:rPr lang="en-US" altLang="zh-CN" sz="2000" dirty="0">
                <a:latin typeface="Times New Roman" panose="02020603050405020304" pitchFamily="18" charset="0"/>
              </a:rPr>
              <a:t>all directions and in all inertial reference frames </a:t>
            </a:r>
            <a:r>
              <a:rPr lang="en-US" altLang="zh-CN" sz="2000" dirty="0" smtClean="0">
                <a:latin typeface="Times New Roman" panose="02020603050405020304" pitchFamily="18" charset="0"/>
              </a:rPr>
              <a:t>(is </a:t>
            </a:r>
            <a:r>
              <a:rPr lang="en-US" altLang="zh-CN" sz="2000" dirty="0">
                <a:latin typeface="Times New Roman" panose="02020603050405020304" pitchFamily="18" charset="0"/>
              </a:rPr>
              <a:t>independent of the motion of the </a:t>
            </a:r>
            <a:r>
              <a:rPr lang="en-US" altLang="zh-CN" sz="2000" dirty="0" smtClean="0">
                <a:latin typeface="Times New Roman" panose="02020603050405020304" pitchFamily="18" charset="0"/>
              </a:rPr>
              <a:t>source)</a:t>
            </a:r>
            <a:endParaRPr lang="zh-CN" altLang="en-US" sz="20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1"/>
          <p:cNvSpPr txBox="1">
            <a:spLocks noChangeArrowheads="1"/>
          </p:cNvSpPr>
          <p:nvPr/>
        </p:nvSpPr>
        <p:spPr bwMode="auto">
          <a:xfrm>
            <a:off x="285750" y="117475"/>
            <a:ext cx="36766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dirty="0"/>
              <a:t>Relativity of time intervals</a:t>
            </a:r>
            <a:endParaRPr lang="zh-CN" altLang="en-US" dirty="0"/>
          </a:p>
        </p:txBody>
      </p:sp>
      <p:pic>
        <p:nvPicPr>
          <p:cNvPr id="5123" name="Picture 2"/>
          <p:cNvPicPr>
            <a:picLocks noChangeAspect="1" noChangeArrowheads="1"/>
          </p:cNvPicPr>
          <p:nvPr/>
        </p:nvPicPr>
        <p:blipFill>
          <a:blip r:embed="rId1">
            <a:lum bright="-20000" contrast="40000"/>
            <a:extLst>
              <a:ext uri="{28A0092B-C50C-407E-A947-70E740481C1C}">
                <a14:useLocalDpi xmlns:a14="http://schemas.microsoft.com/office/drawing/2010/main" val="0"/>
              </a:ext>
            </a:extLst>
          </a:blip>
          <a:srcRect/>
          <a:stretch>
            <a:fillRect/>
          </a:stretch>
        </p:blipFill>
        <p:spPr bwMode="auto">
          <a:xfrm>
            <a:off x="207418" y="980729"/>
            <a:ext cx="2432050" cy="2232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4"/>
          <p:cNvPicPr>
            <a:picLocks noChangeAspect="1" noChangeArrowheads="1"/>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982763" y="3501008"/>
            <a:ext cx="928687" cy="5873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5125" name="TextBox 7"/>
          <p:cNvSpPr txBox="1">
            <a:spLocks noChangeArrowheads="1"/>
          </p:cNvSpPr>
          <p:nvPr/>
        </p:nvSpPr>
        <p:spPr bwMode="auto">
          <a:xfrm>
            <a:off x="331118" y="4529713"/>
            <a:ext cx="30630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000" dirty="0" smtClean="0">
                <a:latin typeface="Times New Roman" panose="02020603050405020304" pitchFamily="18" charset="0"/>
                <a:cs typeface="Times New Roman" panose="02020603050405020304" pitchFamily="18" charset="0"/>
              </a:rPr>
              <a:t>Combine </a:t>
            </a:r>
            <a:r>
              <a:rPr lang="en-US" altLang="zh-CN" sz="2000" dirty="0">
                <a:latin typeface="Times New Roman" panose="02020603050405020304" pitchFamily="18" charset="0"/>
                <a:cs typeface="Times New Roman" panose="02020603050405020304" pitchFamily="18" charset="0"/>
              </a:rPr>
              <a:t>the 2 equations </a:t>
            </a:r>
            <a:r>
              <a:rPr lang="en-US" altLang="zh-CN" sz="2000" dirty="0" smtClean="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11" name="TextBox 10"/>
          <p:cNvSpPr txBox="1">
            <a:spLocks noChangeArrowheads="1"/>
          </p:cNvSpPr>
          <p:nvPr/>
        </p:nvSpPr>
        <p:spPr bwMode="auto">
          <a:xfrm>
            <a:off x="4932040" y="4529713"/>
            <a:ext cx="2286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Tx/>
              <a:buNone/>
              <a:defRPr/>
            </a:pPr>
            <a:r>
              <a:rPr lang="en-US" altLang="zh-CN" sz="2000" dirty="0" smtClean="0">
                <a:latin typeface="+mj-lt"/>
              </a:rPr>
              <a:t>Time dilation</a:t>
            </a:r>
            <a:endParaRPr lang="zh-CN" altLang="en-US" sz="2000" dirty="0" smtClean="0">
              <a:latin typeface="+mj-lt"/>
            </a:endParaRPr>
          </a:p>
        </p:txBody>
      </p:sp>
      <p:grpSp>
        <p:nvGrpSpPr>
          <p:cNvPr id="5127" name="组合 2"/>
          <p:cNvGrpSpPr/>
          <p:nvPr/>
        </p:nvGrpSpPr>
        <p:grpSpPr bwMode="auto">
          <a:xfrm>
            <a:off x="3347864" y="692696"/>
            <a:ext cx="5127699" cy="2808312"/>
            <a:chOff x="3260409" y="764704"/>
            <a:chExt cx="5056007" cy="2620070"/>
          </a:xfrm>
        </p:grpSpPr>
        <p:pic>
          <p:nvPicPr>
            <p:cNvPr id="5131" name="Picture 3"/>
            <p:cNvPicPr>
              <a:picLocks noChangeAspect="1" noChangeArrowheads="1"/>
            </p:cNvPicPr>
            <p:nvPr/>
          </p:nvPicPr>
          <p:blipFill>
            <a:blip r:embed="rId3">
              <a:lum bright="-20000" contrast="40000"/>
              <a:extLst>
                <a:ext uri="{28A0092B-C50C-407E-A947-70E740481C1C}">
                  <a14:useLocalDpi xmlns:a14="http://schemas.microsoft.com/office/drawing/2010/main" val="0"/>
                </a:ext>
              </a:extLst>
            </a:blip>
            <a:srcRect/>
            <a:stretch>
              <a:fillRect/>
            </a:stretch>
          </p:blipFill>
          <p:spPr bwMode="auto">
            <a:xfrm>
              <a:off x="3260409" y="764704"/>
              <a:ext cx="5056007" cy="2620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132" name="对象 2"/>
            <p:cNvGraphicFramePr>
              <a:graphicFrameLocks noChangeAspect="1"/>
            </p:cNvGraphicFramePr>
            <p:nvPr/>
          </p:nvGraphicFramePr>
          <p:xfrm>
            <a:off x="8028384" y="1756038"/>
            <a:ext cx="177831" cy="216024"/>
          </p:xfrm>
          <a:graphic>
            <a:graphicData uri="http://schemas.openxmlformats.org/presentationml/2006/ole">
              <mc:AlternateContent xmlns:mc="http://schemas.openxmlformats.org/markup-compatibility/2006">
                <mc:Choice xmlns:v="urn:schemas-microsoft-com:vml" Requires="v">
                  <p:oleObj spid="_x0000_s5529" name="Equation" r:id="rId4" imgW="114300" imgH="139700" progId="Equation.DSMT4">
                    <p:embed/>
                  </p:oleObj>
                </mc:Choice>
                <mc:Fallback>
                  <p:oleObj name="Equation" r:id="rId4" imgW="114300" imgH="139700" progId="Equation.DSMT4">
                    <p:embed/>
                    <p:pic>
                      <p:nvPicPr>
                        <p:cNvPr id="0"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28384" y="1756038"/>
                          <a:ext cx="177831" cy="21602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33" name="对象 3"/>
            <p:cNvGraphicFramePr>
              <a:graphicFrameLocks noChangeAspect="1"/>
            </p:cNvGraphicFramePr>
            <p:nvPr/>
          </p:nvGraphicFramePr>
          <p:xfrm>
            <a:off x="5132140" y="2374047"/>
            <a:ext cx="142875" cy="174625"/>
          </p:xfrm>
          <a:graphic>
            <a:graphicData uri="http://schemas.openxmlformats.org/presentationml/2006/ole">
              <mc:AlternateContent xmlns:mc="http://schemas.openxmlformats.org/markup-compatibility/2006">
                <mc:Choice xmlns:v="urn:schemas-microsoft-com:vml" Requires="v">
                  <p:oleObj spid="_x0000_s5530" name="Equation" r:id="rId6" imgW="114300" imgH="139700" progId="Equation.DSMT4">
                    <p:embed/>
                  </p:oleObj>
                </mc:Choice>
                <mc:Fallback>
                  <p:oleObj name="Equation" r:id="rId6" imgW="114300" imgH="139700" progId="Equation.DSMT4">
                    <p:embed/>
                    <p:pic>
                      <p:nvPicPr>
                        <p:cNvPr id="0"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2140" y="2374047"/>
                          <a:ext cx="142875" cy="1746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5128" name="对象 4"/>
          <p:cNvGraphicFramePr>
            <a:graphicFrameLocks noChangeAspect="1"/>
          </p:cNvGraphicFramePr>
          <p:nvPr/>
        </p:nvGraphicFramePr>
        <p:xfrm>
          <a:off x="3347864" y="3508995"/>
          <a:ext cx="1511300" cy="630237"/>
        </p:xfrm>
        <a:graphic>
          <a:graphicData uri="http://schemas.openxmlformats.org/presentationml/2006/ole">
            <mc:AlternateContent xmlns:mc="http://schemas.openxmlformats.org/markup-compatibility/2006">
              <mc:Choice xmlns:v="urn:schemas-microsoft-com:vml" Requires="v">
                <p:oleObj spid="_x0000_s5531" name="Equation" r:id="rId7" imgW="1066165" imgH="444500" progId="Equation.DSMT4">
                  <p:embed/>
                </p:oleObj>
              </mc:Choice>
              <mc:Fallback>
                <p:oleObj name="Equation" r:id="rId7" imgW="1066165" imgH="444500" progId="Equation.DSMT4">
                  <p:embed/>
                  <p:pic>
                    <p:nvPicPr>
                      <p:cNvPr id="0" name="对象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7864" y="3508995"/>
                        <a:ext cx="1511300"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9" name="对象 5"/>
          <p:cNvGraphicFramePr>
            <a:graphicFrameLocks noChangeAspect="1"/>
          </p:cNvGraphicFramePr>
          <p:nvPr/>
        </p:nvGraphicFramePr>
        <p:xfrm>
          <a:off x="5292080" y="3481561"/>
          <a:ext cx="2376488" cy="671512"/>
        </p:xfrm>
        <a:graphic>
          <a:graphicData uri="http://schemas.openxmlformats.org/presentationml/2006/ole">
            <mc:AlternateContent xmlns:mc="http://schemas.openxmlformats.org/markup-compatibility/2006">
              <mc:Choice xmlns:v="urn:schemas-microsoft-com:vml" Requires="v">
                <p:oleObj spid="_x0000_s5532" name="Equation" r:id="rId9" imgW="1574800" imgH="444500" progId="Equation.DSMT4">
                  <p:embed/>
                </p:oleObj>
              </mc:Choice>
              <mc:Fallback>
                <p:oleObj name="Equation" r:id="rId9" imgW="1574800" imgH="444500" progId="Equation.DSMT4">
                  <p:embed/>
                  <p:pic>
                    <p:nvPicPr>
                      <p:cNvPr id="0" name="对象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92080" y="3481561"/>
                        <a:ext cx="2376488"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30" name="对象 6"/>
          <p:cNvGraphicFramePr>
            <a:graphicFrameLocks noChangeAspect="1"/>
          </p:cNvGraphicFramePr>
          <p:nvPr/>
        </p:nvGraphicFramePr>
        <p:xfrm>
          <a:off x="3329359" y="4468406"/>
          <a:ext cx="1436613" cy="682460"/>
        </p:xfrm>
        <a:graphic>
          <a:graphicData uri="http://schemas.openxmlformats.org/presentationml/2006/ole">
            <mc:AlternateContent xmlns:mc="http://schemas.openxmlformats.org/markup-compatibility/2006">
              <mc:Choice xmlns:v="urn:schemas-microsoft-com:vml" Requires="v">
                <p:oleObj spid="_x0000_s5533" name="Equation" r:id="rId11" imgW="989965" imgH="469900" progId="Equation.DSMT4">
                  <p:embed/>
                </p:oleObj>
              </mc:Choice>
              <mc:Fallback>
                <p:oleObj name="Equation" r:id="rId11" imgW="989965" imgH="469900" progId="Equation.DSMT4">
                  <p:embed/>
                  <p:pic>
                    <p:nvPicPr>
                      <p:cNvPr id="0" name="对象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29359" y="4468406"/>
                        <a:ext cx="1436613" cy="682460"/>
                      </a:xfrm>
                      <a:prstGeom prst="rect">
                        <a:avLst/>
                      </a:prstGeom>
                      <a:noFill/>
                      <a:ln w="9525">
                        <a:solidFill>
                          <a:srgbClr val="F80000"/>
                        </a:solidFill>
                        <a:miter lim="800000"/>
                        <a:headEnd/>
                        <a:tailEnd/>
                      </a:ln>
                    </p:spPr>
                  </p:pic>
                </p:oleObj>
              </mc:Fallback>
            </mc:AlternateContent>
          </a:graphicData>
        </a:graphic>
      </p:graphicFrame>
      <p:sp>
        <p:nvSpPr>
          <p:cNvPr id="14" name="矩形 13"/>
          <p:cNvSpPr/>
          <p:nvPr/>
        </p:nvSpPr>
        <p:spPr>
          <a:xfrm>
            <a:off x="395536" y="5373216"/>
            <a:ext cx="8568952" cy="1200329"/>
          </a:xfrm>
          <a:prstGeom prst="rect">
            <a:avLst/>
          </a:prstGeom>
        </p:spPr>
        <p:txBody>
          <a:bodyPr wrap="square">
            <a:spAutoFit/>
          </a:bodyPr>
          <a:lstStyle/>
          <a:p>
            <a:r>
              <a:rPr lang="en-US" altLang="zh-CN" sz="1800" b="1" dirty="0" smtClean="0">
                <a:latin typeface="+mj-lt"/>
              </a:rPr>
              <a:t>Proper time</a:t>
            </a:r>
            <a:r>
              <a:rPr lang="zh-CN" altLang="en-US" sz="1800" b="1" dirty="0" smtClean="0">
                <a:latin typeface="+mj-lt"/>
              </a:rPr>
              <a:t>：</a:t>
            </a:r>
            <a:r>
              <a:rPr lang="en-US" altLang="zh-CN" sz="1800" dirty="0">
                <a:latin typeface="+mj-lt"/>
              </a:rPr>
              <a:t>When two events occur </a:t>
            </a:r>
            <a:r>
              <a:rPr lang="en-US" altLang="zh-CN" sz="1800" b="1" dirty="0">
                <a:latin typeface="+mj-lt"/>
              </a:rPr>
              <a:t>at the same location </a:t>
            </a:r>
            <a:r>
              <a:rPr lang="en-US" altLang="zh-CN" sz="1800" dirty="0">
                <a:latin typeface="+mj-lt"/>
              </a:rPr>
              <a:t>in an inertial reference frame, the time interval between them, measured in that frame, is called </a:t>
            </a:r>
            <a:r>
              <a:rPr lang="en-US" altLang="zh-CN" sz="1800" dirty="0" smtClean="0">
                <a:latin typeface="+mj-lt"/>
              </a:rPr>
              <a:t>the </a:t>
            </a:r>
            <a:r>
              <a:rPr lang="en-US" altLang="zh-CN" sz="1800" dirty="0">
                <a:latin typeface="+mj-lt"/>
              </a:rPr>
              <a:t>proper </a:t>
            </a:r>
            <a:r>
              <a:rPr lang="en-US" altLang="zh-CN" sz="1800" dirty="0" smtClean="0">
                <a:latin typeface="+mj-lt"/>
              </a:rPr>
              <a:t>time. Measurements </a:t>
            </a:r>
            <a:r>
              <a:rPr lang="en-US" altLang="zh-CN" sz="1800" dirty="0">
                <a:latin typeface="+mj-lt"/>
              </a:rPr>
              <a:t>of the same time interval from any other inertial reference frame are always greater.</a:t>
            </a:r>
            <a:endParaRPr lang="zh-CN" altLang="en-US" sz="1800" dirty="0">
              <a:latin typeface="+mj-l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矩形 1"/>
          <p:cNvSpPr>
            <a:spLocks noChangeArrowheads="1"/>
          </p:cNvSpPr>
          <p:nvPr/>
        </p:nvSpPr>
        <p:spPr bwMode="auto">
          <a:xfrm>
            <a:off x="317500" y="100013"/>
            <a:ext cx="2717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a:t>Length contraction</a:t>
            </a:r>
            <a:endParaRPr lang="zh-CN" altLang="en-US"/>
          </a:p>
        </p:txBody>
      </p:sp>
      <p:pic>
        <p:nvPicPr>
          <p:cNvPr id="6147" name="Picture 2"/>
          <p:cNvPicPr>
            <a:picLocks noChangeAspect="1" noChangeArrowheads="1"/>
          </p:cNvPicPr>
          <p:nvPr/>
        </p:nvPicPr>
        <p:blipFill>
          <a:blip r:embed="rId1">
            <a:lum bright="-20000" contrast="40000"/>
            <a:extLst>
              <a:ext uri="{28A0092B-C50C-407E-A947-70E740481C1C}">
                <a14:useLocalDpi xmlns:a14="http://schemas.microsoft.com/office/drawing/2010/main" val="0"/>
              </a:ext>
            </a:extLst>
          </a:blip>
          <a:srcRect/>
          <a:stretch>
            <a:fillRect/>
          </a:stretch>
        </p:blipFill>
        <p:spPr bwMode="auto">
          <a:xfrm>
            <a:off x="714375" y="2071688"/>
            <a:ext cx="86677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3"/>
          <p:cNvPicPr>
            <a:picLocks noChangeAspect="1" noChangeArrowheads="1"/>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1071563" y="1000125"/>
            <a:ext cx="5929312"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149" name="直接箭头连接符 5"/>
          <p:cNvCxnSpPr>
            <a:cxnSpLocks noChangeShapeType="1"/>
          </p:cNvCxnSpPr>
          <p:nvPr/>
        </p:nvCxnSpPr>
        <p:spPr bwMode="auto">
          <a:xfrm>
            <a:off x="1357313" y="928688"/>
            <a:ext cx="5286375" cy="1587"/>
          </a:xfrm>
          <a:prstGeom prst="straightConnector1">
            <a:avLst/>
          </a:prstGeom>
          <a:noFill/>
          <a:ln w="34925"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6150" name="TextBox 6"/>
          <p:cNvSpPr txBox="1">
            <a:spLocks noChangeArrowheads="1"/>
          </p:cNvSpPr>
          <p:nvPr/>
        </p:nvSpPr>
        <p:spPr bwMode="auto">
          <a:xfrm>
            <a:off x="3786188" y="785813"/>
            <a:ext cx="18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Tx/>
              <a:buNone/>
            </a:pPr>
            <a:endParaRPr lang="zh-CN" altLang="en-US"/>
          </a:p>
        </p:txBody>
      </p:sp>
      <p:pic>
        <p:nvPicPr>
          <p:cNvPr id="6151" name="Picture 4"/>
          <p:cNvPicPr>
            <a:picLocks noChangeAspect="1" noChangeArrowheads="1"/>
          </p:cNvPicPr>
          <p:nvPr/>
        </p:nvPicPr>
        <p:blipFill>
          <a:blip r:embed="rId3">
            <a:clrChange>
              <a:clrFrom>
                <a:srgbClr val="FFFFFF"/>
              </a:clrFrom>
              <a:clrTo>
                <a:srgbClr val="FFFFFF">
                  <a:alpha val="0"/>
                </a:srgbClr>
              </a:clrTo>
            </a:clrChange>
            <a:lum contrast="40000"/>
            <a:extLst>
              <a:ext uri="{28A0092B-C50C-407E-A947-70E740481C1C}">
                <a14:useLocalDpi xmlns:a14="http://schemas.microsoft.com/office/drawing/2010/main" val="0"/>
              </a:ext>
            </a:extLst>
          </a:blip>
          <a:srcRect/>
          <a:stretch>
            <a:fillRect/>
          </a:stretch>
        </p:blipFill>
        <p:spPr bwMode="auto">
          <a:xfrm>
            <a:off x="3786188" y="642938"/>
            <a:ext cx="2667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2" name="TextBox 8"/>
          <p:cNvSpPr txBox="1">
            <a:spLocks noChangeArrowheads="1"/>
          </p:cNvSpPr>
          <p:nvPr/>
        </p:nvSpPr>
        <p:spPr bwMode="auto">
          <a:xfrm>
            <a:off x="1692275" y="2149475"/>
            <a:ext cx="19510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600" dirty="0"/>
              <a:t>Measured on earth</a:t>
            </a:r>
            <a:endParaRPr lang="zh-CN" altLang="en-US" sz="1600" dirty="0"/>
          </a:p>
        </p:txBody>
      </p:sp>
      <p:pic>
        <p:nvPicPr>
          <p:cNvPr id="6153" name="Picture 5"/>
          <p:cNvPicPr>
            <a:picLocks noChangeAspect="1" noChangeArrowheads="1"/>
          </p:cNvPicPr>
          <p:nvPr/>
        </p:nvPicPr>
        <p:blipFill>
          <a:blip r:embed="rId4">
            <a:lum bright="-20000" contrast="40000"/>
            <a:extLst>
              <a:ext uri="{28A0092B-C50C-407E-A947-70E740481C1C}">
                <a14:useLocalDpi xmlns:a14="http://schemas.microsoft.com/office/drawing/2010/main" val="0"/>
              </a:ext>
            </a:extLst>
          </a:blip>
          <a:srcRect/>
          <a:stretch>
            <a:fillRect/>
          </a:stretch>
        </p:blipFill>
        <p:spPr bwMode="auto">
          <a:xfrm>
            <a:off x="1143000" y="2564398"/>
            <a:ext cx="5857875"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p:nvPr/>
        </p:nvSpPr>
        <p:spPr>
          <a:xfrm>
            <a:off x="428625" y="3763963"/>
            <a:ext cx="8429625" cy="307975"/>
          </a:xfrm>
          <a:prstGeom prst="rect">
            <a:avLst/>
          </a:prstGeom>
          <a:noFill/>
        </p:spPr>
        <p:txBody>
          <a:bodyPr>
            <a:spAutoFit/>
          </a:bodyPr>
          <a:lstStyle/>
          <a:p>
            <a:pPr>
              <a:buFont typeface="Arial" panose="020B0604020202020204" pitchFamily="34" charset="0"/>
              <a:buNone/>
              <a:defRPr/>
            </a:pPr>
            <a:r>
              <a:rPr lang="en-US" altLang="zh-CN" sz="1400" dirty="0">
                <a:latin typeface="Arial" panose="020B0604020202020204" pitchFamily="34" charset="0"/>
              </a:rPr>
              <a:t>If I am in the spacecraft, the earth is leaving me at a speed of </a:t>
            </a:r>
            <a:r>
              <a:rPr lang="en-US" altLang="zh-CN" sz="1400" b="1" i="1" dirty="0">
                <a:latin typeface="+mj-lt"/>
              </a:rPr>
              <a:t>v</a:t>
            </a:r>
            <a:r>
              <a:rPr lang="en-US" altLang="zh-CN" sz="1400" dirty="0">
                <a:latin typeface="Arial" panose="020B0604020202020204" pitchFamily="34" charset="0"/>
              </a:rPr>
              <a:t> and Neptune is coming into me at </a:t>
            </a:r>
            <a:r>
              <a:rPr lang="en-US" altLang="zh-CN" sz="1400" b="1" i="1" dirty="0">
                <a:latin typeface="+mj-lt"/>
              </a:rPr>
              <a:t>v</a:t>
            </a:r>
            <a:endParaRPr lang="zh-CN" altLang="en-US" sz="1400" dirty="0">
              <a:latin typeface="+mj-lt"/>
            </a:endParaRPr>
          </a:p>
        </p:txBody>
      </p:sp>
      <p:pic>
        <p:nvPicPr>
          <p:cNvPr id="6155" name="Picture 7"/>
          <p:cNvPicPr>
            <a:picLocks noChangeAspect="1" noChangeArrowheads="1"/>
          </p:cNvPicPr>
          <p:nvPr/>
        </p:nvPicPr>
        <p:blipFill>
          <a:blip r:embed="rId5">
            <a:lum bright="-20000" contrast="40000"/>
            <a:extLst>
              <a:ext uri="{28A0092B-C50C-407E-A947-70E740481C1C}">
                <a14:useLocalDpi xmlns:a14="http://schemas.microsoft.com/office/drawing/2010/main" val="0"/>
              </a:ext>
            </a:extLst>
          </a:blip>
          <a:srcRect/>
          <a:stretch>
            <a:fillRect/>
          </a:stretch>
        </p:blipFill>
        <p:spPr bwMode="auto">
          <a:xfrm>
            <a:off x="1966342" y="4176713"/>
            <a:ext cx="31527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6" name="TextBox 13"/>
          <p:cNvSpPr txBox="1">
            <a:spLocks noChangeArrowheads="1"/>
          </p:cNvSpPr>
          <p:nvPr/>
        </p:nvSpPr>
        <p:spPr bwMode="auto">
          <a:xfrm>
            <a:off x="475679" y="4176713"/>
            <a:ext cx="2071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800"/>
              <a:t>proper time: </a:t>
            </a:r>
            <a:endParaRPr lang="zh-CN" altLang="en-US" sz="1800"/>
          </a:p>
        </p:txBody>
      </p:sp>
      <p:sp>
        <p:nvSpPr>
          <p:cNvPr id="6157" name="TextBox 15"/>
          <p:cNvSpPr txBox="1">
            <a:spLocks noChangeArrowheads="1"/>
          </p:cNvSpPr>
          <p:nvPr/>
        </p:nvSpPr>
        <p:spPr bwMode="auto">
          <a:xfrm>
            <a:off x="461392" y="4760913"/>
            <a:ext cx="23574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400"/>
              <a:t>the length I experience :</a:t>
            </a:r>
            <a:endParaRPr lang="zh-CN" altLang="en-US" sz="1400"/>
          </a:p>
        </p:txBody>
      </p:sp>
      <p:pic>
        <p:nvPicPr>
          <p:cNvPr id="6158" name="Picture 10"/>
          <p:cNvPicPr>
            <a:picLocks noChangeAspect="1" noChangeArrowheads="1"/>
          </p:cNvPicPr>
          <p:nvPr/>
        </p:nvPicPr>
        <p:blipFill>
          <a:blip r:embed="rId6">
            <a:lum bright="-20000" contrast="40000"/>
            <a:extLst>
              <a:ext uri="{28A0092B-C50C-407E-A947-70E740481C1C}">
                <a14:useLocalDpi xmlns:a14="http://schemas.microsoft.com/office/drawing/2010/main" val="0"/>
              </a:ext>
            </a:extLst>
          </a:blip>
          <a:srcRect/>
          <a:stretch>
            <a:fillRect/>
          </a:stretch>
        </p:blipFill>
        <p:spPr bwMode="auto">
          <a:xfrm>
            <a:off x="2547367" y="4748213"/>
            <a:ext cx="1187450"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9" name="Picture 11"/>
          <p:cNvPicPr>
            <a:picLocks noChangeAspect="1" noChangeArrowheads="1"/>
          </p:cNvPicPr>
          <p:nvPr/>
        </p:nvPicPr>
        <p:blipFill>
          <a:blip r:embed="rId7">
            <a:lum bright="-20000" contrast="40000"/>
            <a:extLst>
              <a:ext uri="{28A0092B-C50C-407E-A947-70E740481C1C}">
                <a14:useLocalDpi xmlns:a14="http://schemas.microsoft.com/office/drawing/2010/main" val="0"/>
              </a:ext>
            </a:extLst>
          </a:blip>
          <a:srcRect/>
          <a:stretch>
            <a:fillRect/>
          </a:stretch>
        </p:blipFill>
        <p:spPr bwMode="auto">
          <a:xfrm>
            <a:off x="3833242" y="4748213"/>
            <a:ext cx="3571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61392" y="5301208"/>
            <a:ext cx="8322121" cy="923330"/>
          </a:xfrm>
          <a:prstGeom prst="rect">
            <a:avLst/>
          </a:prstGeom>
        </p:spPr>
        <p:txBody>
          <a:bodyPr wrap="square">
            <a:spAutoFit/>
          </a:bodyPr>
          <a:lstStyle/>
          <a:p>
            <a:r>
              <a:rPr lang="en-US" altLang="zh-CN" sz="1800" b="1" dirty="0" smtClean="0">
                <a:latin typeface="+mj-lt"/>
              </a:rPr>
              <a:t>Proper length</a:t>
            </a:r>
            <a:r>
              <a:rPr lang="zh-CN" altLang="en-US" sz="1800" b="1" dirty="0" smtClean="0">
                <a:latin typeface="+mj-lt"/>
              </a:rPr>
              <a:t>：</a:t>
            </a:r>
            <a:r>
              <a:rPr lang="en-US" altLang="zh-CN" sz="1800" dirty="0">
                <a:latin typeface="+mj-lt"/>
              </a:rPr>
              <a:t>The length </a:t>
            </a:r>
            <a:r>
              <a:rPr lang="en-US" altLang="zh-CN" sz="1800" dirty="0" smtClean="0">
                <a:latin typeface="+mj-lt"/>
              </a:rPr>
              <a:t>of </a:t>
            </a:r>
            <a:r>
              <a:rPr lang="en-US" altLang="zh-CN" sz="1800" dirty="0">
                <a:latin typeface="+mj-lt"/>
              </a:rPr>
              <a:t>an object measured in the rest frame of the object is its proper length or rest length. Measurements of the length from any reference frame that is in relative motion parallel to that length are always less than the proper length</a:t>
            </a:r>
            <a:endParaRPr lang="zh-CN" altLang="en-US" sz="1800" dirty="0">
              <a:latin typeface="+mj-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1"/>
          <p:cNvSpPr>
            <a:spLocks noChangeArrowheads="1"/>
          </p:cNvSpPr>
          <p:nvPr/>
        </p:nvSpPr>
        <p:spPr bwMode="auto">
          <a:xfrm>
            <a:off x="300038" y="82550"/>
            <a:ext cx="7339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a:t>Galilean transformations VS Lorentz transformations</a:t>
            </a:r>
            <a:endParaRPr lang="zh-CN" altLang="en-US"/>
          </a:p>
        </p:txBody>
      </p:sp>
      <p:sp>
        <p:nvSpPr>
          <p:cNvPr id="7172" name="TextBox 3"/>
          <p:cNvSpPr txBox="1">
            <a:spLocks noChangeArrowheads="1"/>
          </p:cNvSpPr>
          <p:nvPr/>
        </p:nvSpPr>
        <p:spPr bwMode="auto">
          <a:xfrm>
            <a:off x="209548" y="764704"/>
            <a:ext cx="38576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Tx/>
              <a:buNone/>
              <a:defRPr/>
            </a:pPr>
            <a:r>
              <a:rPr lang="en-US" altLang="zh-CN" sz="2000" dirty="0" smtClean="0">
                <a:latin typeface="+mj-lt"/>
              </a:rPr>
              <a:t>Galilean transformations: </a:t>
            </a:r>
            <a:endParaRPr lang="zh-CN" altLang="en-US" sz="2000" dirty="0" smtClean="0">
              <a:latin typeface="+mj-lt"/>
            </a:endParaRPr>
          </a:p>
        </p:txBody>
      </p:sp>
      <p:sp>
        <p:nvSpPr>
          <p:cNvPr id="7173" name="TextBox 4"/>
          <p:cNvSpPr txBox="1">
            <a:spLocks noChangeArrowheads="1"/>
          </p:cNvSpPr>
          <p:nvPr/>
        </p:nvSpPr>
        <p:spPr bwMode="auto">
          <a:xfrm>
            <a:off x="300038" y="2658815"/>
            <a:ext cx="38576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Tx/>
              <a:buNone/>
              <a:defRPr/>
            </a:pPr>
            <a:r>
              <a:rPr lang="en-US" altLang="zh-CN" sz="2000" dirty="0" smtClean="0">
                <a:latin typeface="+mj-lt"/>
              </a:rPr>
              <a:t>Lorentz transformations : </a:t>
            </a:r>
            <a:endParaRPr lang="zh-CN" altLang="en-US" sz="2000" dirty="0" smtClean="0">
              <a:latin typeface="+mj-lt"/>
            </a:endParaRPr>
          </a:p>
        </p:txBody>
      </p:sp>
      <p:graphicFrame>
        <p:nvGraphicFramePr>
          <p:cNvPr id="2" name="对象 3"/>
          <p:cNvGraphicFramePr>
            <a:graphicFrameLocks noChangeAspect="1"/>
          </p:cNvGraphicFramePr>
          <p:nvPr/>
        </p:nvGraphicFramePr>
        <p:xfrm>
          <a:off x="598487" y="1190575"/>
          <a:ext cx="1221257" cy="1158305"/>
        </p:xfrm>
        <a:graphic>
          <a:graphicData uri="http://schemas.openxmlformats.org/presentationml/2006/ole">
            <mc:AlternateContent xmlns:mc="http://schemas.openxmlformats.org/markup-compatibility/2006">
              <mc:Choice xmlns:v="urn:schemas-microsoft-com:vml" Requires="v">
                <p:oleObj spid="_x0000_s7416" name="Equation" r:id="rId1" imgW="16154400" imgH="18897600" progId="Equation.DSMT4">
                  <p:embed/>
                </p:oleObj>
              </mc:Choice>
              <mc:Fallback>
                <p:oleObj name="Equation" r:id="rId1" imgW="16154400" imgH="18897600" progId="Equation.DSMT4">
                  <p:embed/>
                  <p:pic>
                    <p:nvPicPr>
                      <p:cNvPr id="0" name="对象 3"/>
                      <p:cNvPicPr>
                        <a:picLocks noChangeAspect="1" noChangeArrowheads="1"/>
                      </p:cNvPicPr>
                      <p:nvPr/>
                    </p:nvPicPr>
                    <p:blipFill>
                      <a:blip r:embed="rId2"/>
                      <a:srcRect/>
                      <a:stretch>
                        <a:fillRect/>
                      </a:stretch>
                    </p:blipFill>
                    <p:spPr bwMode="auto">
                      <a:xfrm>
                        <a:off x="598487" y="1190575"/>
                        <a:ext cx="1221257" cy="1158305"/>
                      </a:xfrm>
                      <a:prstGeom prst="rect">
                        <a:avLst/>
                      </a:prstGeom>
                      <a:noFill/>
                      <a:ln>
                        <a:noFill/>
                      </a:ln>
                    </p:spPr>
                  </p:pic>
                </p:oleObj>
              </mc:Fallback>
            </mc:AlternateContent>
          </a:graphicData>
        </a:graphic>
      </p:graphicFrame>
      <p:graphicFrame>
        <p:nvGraphicFramePr>
          <p:cNvPr id="7174" name="对象 4"/>
          <p:cNvGraphicFramePr>
            <a:graphicFrameLocks noChangeAspect="1"/>
          </p:cNvGraphicFramePr>
          <p:nvPr/>
        </p:nvGraphicFramePr>
        <p:xfrm>
          <a:off x="457983" y="3230316"/>
          <a:ext cx="4042010" cy="1795338"/>
        </p:xfrm>
        <a:graphic>
          <a:graphicData uri="http://schemas.openxmlformats.org/presentationml/2006/ole">
            <mc:AlternateContent xmlns:mc="http://schemas.openxmlformats.org/markup-compatibility/2006">
              <mc:Choice xmlns:v="urn:schemas-microsoft-com:vml" Requires="v">
                <p:oleObj spid="_x0000_s7417" name="Equation" r:id="rId3" imgW="52120800" imgH="28346400" progId="Equation.DSMT4">
                  <p:embed/>
                </p:oleObj>
              </mc:Choice>
              <mc:Fallback>
                <p:oleObj name="Equation" r:id="rId3" imgW="52120800" imgH="28346400" progId="Equation.DSMT4">
                  <p:embed/>
                  <p:pic>
                    <p:nvPicPr>
                      <p:cNvPr id="0" name="对象 4"/>
                      <p:cNvPicPr>
                        <a:picLocks noChangeAspect="1" noChangeArrowheads="1"/>
                      </p:cNvPicPr>
                      <p:nvPr/>
                    </p:nvPicPr>
                    <p:blipFill>
                      <a:blip r:embed="rId4"/>
                      <a:srcRect/>
                      <a:stretch>
                        <a:fillRect/>
                      </a:stretch>
                    </p:blipFill>
                    <p:spPr bwMode="auto">
                      <a:xfrm>
                        <a:off x="457983" y="3230316"/>
                        <a:ext cx="4042010" cy="1795338"/>
                      </a:xfrm>
                      <a:prstGeom prst="rect">
                        <a:avLst/>
                      </a:prstGeom>
                      <a:noFill/>
                      <a:ln>
                        <a:noFill/>
                      </a:ln>
                    </p:spPr>
                  </p:pic>
                </p:oleObj>
              </mc:Fallback>
            </mc:AlternateContent>
          </a:graphicData>
        </a:graphic>
      </p:graphicFrame>
      <p:graphicFrame>
        <p:nvGraphicFramePr>
          <p:cNvPr id="7175" name="对象 5"/>
          <p:cNvGraphicFramePr>
            <a:graphicFrameLocks noChangeAspect="1"/>
          </p:cNvGraphicFramePr>
          <p:nvPr/>
        </p:nvGraphicFramePr>
        <p:xfrm>
          <a:off x="395537" y="5445225"/>
          <a:ext cx="5472608" cy="618566"/>
        </p:xfrm>
        <a:graphic>
          <a:graphicData uri="http://schemas.openxmlformats.org/presentationml/2006/ole">
            <mc:AlternateContent xmlns:mc="http://schemas.openxmlformats.org/markup-compatibility/2006">
              <mc:Choice xmlns:v="urn:schemas-microsoft-com:vml" Requires="v">
                <p:oleObj spid="_x0000_s7418" name="Equation" r:id="rId5" imgW="68275200" imgH="9448800" progId="Equation.DSMT4">
                  <p:embed/>
                </p:oleObj>
              </mc:Choice>
              <mc:Fallback>
                <p:oleObj name="Equation" r:id="rId5" imgW="68275200" imgH="9448800" progId="Equation.DSMT4">
                  <p:embed/>
                  <p:pic>
                    <p:nvPicPr>
                      <p:cNvPr id="0" name="对象 5"/>
                      <p:cNvPicPr>
                        <a:picLocks noChangeAspect="1" noChangeArrowheads="1"/>
                      </p:cNvPicPr>
                      <p:nvPr/>
                    </p:nvPicPr>
                    <p:blipFill>
                      <a:blip r:embed="rId6"/>
                      <a:srcRect/>
                      <a:stretch>
                        <a:fillRect/>
                      </a:stretch>
                    </p:blipFill>
                    <p:spPr bwMode="auto">
                      <a:xfrm>
                        <a:off x="395537" y="5445225"/>
                        <a:ext cx="5472608" cy="618566"/>
                      </a:xfrm>
                      <a:prstGeom prst="rect">
                        <a:avLst/>
                      </a:prstGeom>
                      <a:noFill/>
                      <a:ln>
                        <a:noFill/>
                      </a:ln>
                    </p:spPr>
                  </p:pic>
                </p:oleObj>
              </mc:Fallback>
            </mc:AlternateContent>
          </a:graphicData>
        </a:graphic>
      </p:graphicFrame>
      <p:pic>
        <p:nvPicPr>
          <p:cNvPr id="7176" name="Picture 5"/>
          <p:cNvPicPr>
            <a:picLocks noChangeAspect="1" noChangeArrowheads="1"/>
          </p:cNvPicPr>
          <p:nvPr/>
        </p:nvPicPr>
        <p:blipFill>
          <a:blip r:embed="rId7">
            <a:lum bright="-20000" contrast="40000"/>
            <a:extLst>
              <a:ext uri="{28A0092B-C50C-407E-A947-70E740481C1C}">
                <a14:useLocalDpi xmlns:a14="http://schemas.microsoft.com/office/drawing/2010/main" val="0"/>
              </a:ext>
            </a:extLst>
          </a:blip>
          <a:srcRect/>
          <a:stretch>
            <a:fillRect/>
          </a:stretch>
        </p:blipFill>
        <p:spPr bwMode="auto">
          <a:xfrm>
            <a:off x="2353469" y="4528170"/>
            <a:ext cx="1498451" cy="551984"/>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pic>
      <p:cxnSp>
        <p:nvCxnSpPr>
          <p:cNvPr id="4" name="直接连接符 3"/>
          <p:cNvCxnSpPr/>
          <p:nvPr/>
        </p:nvCxnSpPr>
        <p:spPr bwMode="auto">
          <a:xfrm>
            <a:off x="107504" y="2636912"/>
            <a:ext cx="3384376"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7255" name="Picture 8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2040" y="964759"/>
            <a:ext cx="3925431" cy="24547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矩形 1"/>
          <p:cNvSpPr>
            <a:spLocks noChangeArrowheads="1"/>
          </p:cNvSpPr>
          <p:nvPr/>
        </p:nvSpPr>
        <p:spPr bwMode="auto">
          <a:xfrm>
            <a:off x="311150" y="92075"/>
            <a:ext cx="30940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a:t>Doppler shift for light</a:t>
            </a:r>
            <a:endParaRPr lang="zh-CN" altLang="en-US"/>
          </a:p>
        </p:txBody>
      </p:sp>
      <p:pic>
        <p:nvPicPr>
          <p:cNvPr id="8195" name="Picture 2"/>
          <p:cNvPicPr>
            <a:picLocks noChangeAspect="1" noChangeArrowheads="1"/>
          </p:cNvPicPr>
          <p:nvPr/>
        </p:nvPicPr>
        <p:blipFill rotWithShape="1">
          <a:blip r:embed="rId1">
            <a:lum bright="-20000" contrast="40000"/>
            <a:extLst>
              <a:ext uri="{28A0092B-C50C-407E-A947-70E740481C1C}">
                <a14:useLocalDpi xmlns:a14="http://schemas.microsoft.com/office/drawing/2010/main" val="0"/>
              </a:ext>
            </a:extLst>
          </a:blip>
          <a:srcRect t="11461" r="39167" b="661"/>
          <a:stretch>
            <a:fillRect/>
          </a:stretch>
        </p:blipFill>
        <p:spPr bwMode="auto">
          <a:xfrm>
            <a:off x="5475974" y="680872"/>
            <a:ext cx="1810651" cy="1058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6"/>
          <p:cNvPicPr>
            <a:picLocks noChangeAspect="1" noChangeArrowheads="1"/>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498834" y="2244109"/>
            <a:ext cx="1704181" cy="265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7"/>
          <p:cNvPicPr>
            <a:picLocks noChangeAspect="1" noChangeArrowheads="1"/>
          </p:cNvPicPr>
          <p:nvPr/>
        </p:nvPicPr>
        <p:blipFill>
          <a:blip r:embed="rId3">
            <a:lum bright="-20000" contrast="40000"/>
            <a:extLst>
              <a:ext uri="{28A0092B-C50C-407E-A947-70E740481C1C}">
                <a14:useLocalDpi xmlns:a14="http://schemas.microsoft.com/office/drawing/2010/main" val="0"/>
              </a:ext>
            </a:extLst>
          </a:blip>
          <a:srcRect/>
          <a:stretch>
            <a:fillRect/>
          </a:stretch>
        </p:blipFill>
        <p:spPr bwMode="auto">
          <a:xfrm>
            <a:off x="428625" y="833439"/>
            <a:ext cx="2487191" cy="416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198" name="直接箭头连接符 13"/>
          <p:cNvCxnSpPr>
            <a:cxnSpLocks noChangeShapeType="1"/>
          </p:cNvCxnSpPr>
          <p:nvPr/>
        </p:nvCxnSpPr>
        <p:spPr bwMode="auto">
          <a:xfrm flipV="1">
            <a:off x="1168400" y="1235810"/>
            <a:ext cx="133648" cy="285750"/>
          </a:xfrm>
          <a:prstGeom prst="straightConnector1">
            <a:avLst/>
          </a:prstGeom>
          <a:noFill/>
          <a:ln w="34925" algn="ctr">
            <a:solidFill>
              <a:schemeClr val="tx1"/>
            </a:solidFill>
            <a:round/>
            <a:tailEnd type="arrow" w="med" len="med"/>
          </a:ln>
          <a:extLst>
            <a:ext uri="{909E8E84-426E-40DD-AFC4-6F175D3DCCD1}">
              <a14:hiddenFill xmlns:a14="http://schemas.microsoft.com/office/drawing/2010/main">
                <a:noFill/>
              </a14:hiddenFill>
            </a:ext>
          </a:extLst>
        </p:spPr>
      </p:cxnSp>
      <p:sp>
        <p:nvSpPr>
          <p:cNvPr id="8199" name="TextBox 15"/>
          <p:cNvSpPr txBox="1">
            <a:spLocks noChangeArrowheads="1"/>
          </p:cNvSpPr>
          <p:nvPr/>
        </p:nvSpPr>
        <p:spPr bwMode="auto">
          <a:xfrm>
            <a:off x="322263" y="1521560"/>
            <a:ext cx="48815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600" dirty="0"/>
              <a:t>period in the source stationary reference frame</a:t>
            </a:r>
            <a:endParaRPr lang="zh-CN" altLang="en-US" sz="1600" dirty="0"/>
          </a:p>
        </p:txBody>
      </p:sp>
      <p:pic>
        <p:nvPicPr>
          <p:cNvPr id="8200" name="Picture 8"/>
          <p:cNvPicPr>
            <a:picLocks noChangeAspect="1" noChangeArrowheads="1"/>
          </p:cNvPicPr>
          <p:nvPr/>
        </p:nvPicPr>
        <p:blipFill>
          <a:blip r:embed="rId4">
            <a:lum bright="-20000" contrast="40000"/>
            <a:extLst>
              <a:ext uri="{28A0092B-C50C-407E-A947-70E740481C1C}">
                <a14:useLocalDpi xmlns:a14="http://schemas.microsoft.com/office/drawing/2010/main" val="0"/>
              </a:ext>
            </a:extLst>
          </a:blip>
          <a:srcRect l="18231"/>
          <a:stretch>
            <a:fillRect/>
          </a:stretch>
        </p:blipFill>
        <p:spPr bwMode="auto">
          <a:xfrm>
            <a:off x="2300609" y="2184249"/>
            <a:ext cx="1512763" cy="384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1" name="Picture 9"/>
          <p:cNvPicPr>
            <a:picLocks noChangeAspect="1" noChangeArrowheads="1"/>
          </p:cNvPicPr>
          <p:nvPr/>
        </p:nvPicPr>
        <p:blipFill>
          <a:blip r:embed="rId5">
            <a:lum bright="-20000" contrast="40000"/>
            <a:extLst>
              <a:ext uri="{28A0092B-C50C-407E-A947-70E740481C1C}">
                <a14:useLocalDpi xmlns:a14="http://schemas.microsoft.com/office/drawing/2010/main" val="0"/>
              </a:ext>
            </a:extLst>
          </a:blip>
          <a:srcRect/>
          <a:stretch>
            <a:fillRect/>
          </a:stretch>
        </p:blipFill>
        <p:spPr bwMode="auto">
          <a:xfrm>
            <a:off x="790463" y="2578431"/>
            <a:ext cx="2366218" cy="669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2"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0463" y="3319293"/>
            <a:ext cx="1732002" cy="8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3" name="Picture 11"/>
          <p:cNvPicPr>
            <a:picLocks noChangeAspect="1" noChangeArrowheads="1"/>
          </p:cNvPicPr>
          <p:nvPr/>
        </p:nvPicPr>
        <p:blipFill>
          <a:blip r:embed="rId7">
            <a:lum bright="-20000" contrast="40000"/>
          </a:blip>
          <a:srcRect/>
          <a:stretch>
            <a:fillRect/>
          </a:stretch>
        </p:blipFill>
        <p:spPr bwMode="auto">
          <a:xfrm>
            <a:off x="3156681" y="738636"/>
            <a:ext cx="994743" cy="590102"/>
          </a:xfrm>
          <a:prstGeom prst="rect">
            <a:avLst/>
          </a:prstGeom>
          <a:noFill/>
          <a:ln w="9525">
            <a:solidFill>
              <a:schemeClr val="bg1">
                <a:lumMod val="65000"/>
              </a:schemeClr>
            </a:solidFill>
            <a:miter lim="800000"/>
            <a:headEnd/>
            <a:tailEnd/>
          </a:ln>
          <a:effectLst/>
        </p:spPr>
      </p:pic>
      <p:sp>
        <p:nvSpPr>
          <p:cNvPr id="8204" name="TextBox 23"/>
          <p:cNvSpPr txBox="1">
            <a:spLocks noChangeArrowheads="1"/>
          </p:cNvSpPr>
          <p:nvPr/>
        </p:nvSpPr>
        <p:spPr bwMode="auto">
          <a:xfrm>
            <a:off x="739775" y="5637213"/>
            <a:ext cx="2857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600" dirty="0"/>
              <a:t>(source and observer moving toward each other)</a:t>
            </a:r>
            <a:endParaRPr lang="zh-CN" altLang="en-US" sz="1600" dirty="0"/>
          </a:p>
        </p:txBody>
      </p:sp>
      <p:sp>
        <p:nvSpPr>
          <p:cNvPr id="8205" name="TextBox 25"/>
          <p:cNvSpPr txBox="1">
            <a:spLocks noChangeArrowheads="1"/>
          </p:cNvSpPr>
          <p:nvPr/>
        </p:nvSpPr>
        <p:spPr bwMode="auto">
          <a:xfrm>
            <a:off x="4305300" y="5637213"/>
            <a:ext cx="2857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600"/>
              <a:t>(source and observer moving away from each other)</a:t>
            </a:r>
            <a:endParaRPr lang="zh-CN" altLang="en-US" sz="1600"/>
          </a:p>
        </p:txBody>
      </p:sp>
      <p:graphicFrame>
        <p:nvGraphicFramePr>
          <p:cNvPr id="8206" name="对象 2"/>
          <p:cNvGraphicFramePr>
            <a:graphicFrameLocks noChangeAspect="1"/>
          </p:cNvGraphicFramePr>
          <p:nvPr/>
        </p:nvGraphicFramePr>
        <p:xfrm>
          <a:off x="1036204" y="4653136"/>
          <a:ext cx="1324508" cy="720080"/>
        </p:xfrm>
        <a:graphic>
          <a:graphicData uri="http://schemas.openxmlformats.org/presentationml/2006/ole">
            <mc:AlternateContent xmlns:mc="http://schemas.openxmlformats.org/markup-compatibility/2006">
              <mc:Choice xmlns:v="urn:schemas-microsoft-com:vml" Requires="v">
                <p:oleObj spid="_x0000_s8374" name="Equation" r:id="rId8" imgW="862965" imgH="469900" progId="Equation.DSMT4">
                  <p:embed/>
                </p:oleObj>
              </mc:Choice>
              <mc:Fallback>
                <p:oleObj name="Equation" r:id="rId8" imgW="862965" imgH="469900" progId="Equation.DSMT4">
                  <p:embed/>
                  <p:pic>
                    <p:nvPicPr>
                      <p:cNvPr id="0" name="对象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6204" y="4653136"/>
                        <a:ext cx="1324508" cy="720080"/>
                      </a:xfrm>
                      <a:prstGeom prst="rect">
                        <a:avLst/>
                      </a:prstGeom>
                      <a:noFill/>
                      <a:ln>
                        <a:noFill/>
                      </a:ln>
                    </p:spPr>
                  </p:pic>
                </p:oleObj>
              </mc:Fallback>
            </mc:AlternateContent>
          </a:graphicData>
        </a:graphic>
      </p:graphicFrame>
      <p:graphicFrame>
        <p:nvGraphicFramePr>
          <p:cNvPr id="8207" name="对象 3"/>
          <p:cNvGraphicFramePr>
            <a:graphicFrameLocks noChangeAspect="1"/>
          </p:cNvGraphicFramePr>
          <p:nvPr/>
        </p:nvGraphicFramePr>
        <p:xfrm>
          <a:off x="4687458" y="4797152"/>
          <a:ext cx="1325400" cy="720080"/>
        </p:xfrm>
        <a:graphic>
          <a:graphicData uri="http://schemas.openxmlformats.org/presentationml/2006/ole">
            <mc:AlternateContent xmlns:mc="http://schemas.openxmlformats.org/markup-compatibility/2006">
              <mc:Choice xmlns:v="urn:schemas-microsoft-com:vml" Requires="v">
                <p:oleObj spid="_x0000_s8375" name="Equation" r:id="rId10" imgW="862965" imgH="469900" progId="Equation.DSMT4">
                  <p:embed/>
                </p:oleObj>
              </mc:Choice>
              <mc:Fallback>
                <p:oleObj name="Equation" r:id="rId10" imgW="862965" imgH="469900" progId="Equation.DSMT4">
                  <p:embed/>
                  <p:pic>
                    <p:nvPicPr>
                      <p:cNvPr id="0" name="对象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87458" y="4797152"/>
                        <a:ext cx="1325400" cy="720080"/>
                      </a:xfrm>
                      <a:prstGeom prst="rect">
                        <a:avLst/>
                      </a:prstGeom>
                      <a:noFill/>
                      <a:ln>
                        <a:noFill/>
                      </a:ln>
                    </p:spPr>
                  </p:pic>
                </p:oleObj>
              </mc:Fallback>
            </mc:AlternateContent>
          </a:graphicData>
        </a:graphic>
      </p:graphicFrame>
      <p:grpSp>
        <p:nvGrpSpPr>
          <p:cNvPr id="8208" name="组合 8"/>
          <p:cNvGrpSpPr/>
          <p:nvPr/>
        </p:nvGrpSpPr>
        <p:grpSpPr bwMode="auto">
          <a:xfrm>
            <a:off x="5629722" y="2079573"/>
            <a:ext cx="2433353" cy="1764886"/>
            <a:chOff x="6084168" y="2179701"/>
            <a:chExt cx="2583984" cy="1897371"/>
          </a:xfrm>
        </p:grpSpPr>
        <p:pic>
          <p:nvPicPr>
            <p:cNvPr id="8209" name="Picture 3"/>
            <p:cNvPicPr>
              <a:picLocks noChangeAspect="1" noChangeArrowheads="1"/>
            </p:cNvPicPr>
            <p:nvPr/>
          </p:nvPicPr>
          <p:blipFill rotWithShape="1">
            <a:blip r:embed="rId12">
              <a:lum bright="-20000" contrast="40000"/>
              <a:extLst>
                <a:ext uri="{28A0092B-C50C-407E-A947-70E740481C1C}">
                  <a14:useLocalDpi xmlns:a14="http://schemas.microsoft.com/office/drawing/2010/main" val="0"/>
                </a:ext>
              </a:extLst>
            </a:blip>
            <a:srcRect r="10748"/>
            <a:stretch>
              <a:fillRect/>
            </a:stretch>
          </p:blipFill>
          <p:spPr bwMode="auto">
            <a:xfrm>
              <a:off x="6084168" y="2179701"/>
              <a:ext cx="2583984" cy="1674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0" name="Picture 4"/>
            <p:cNvPicPr>
              <a:picLocks noChangeAspect="1" noChangeArrowheads="1"/>
            </p:cNvPicPr>
            <p:nvPr/>
          </p:nvPicPr>
          <p:blipFill>
            <a:blip r:embed="rId13">
              <a:clrChange>
                <a:clrFrom>
                  <a:srgbClr val="FFFFFF"/>
                </a:clrFrom>
                <a:clrTo>
                  <a:srgbClr val="FFFFFF">
                    <a:alpha val="0"/>
                  </a:srgbClr>
                </a:clrTo>
              </a:clrChange>
              <a:lum bright="-20000" contrast="40000"/>
              <a:extLst>
                <a:ext uri="{28A0092B-C50C-407E-A947-70E740481C1C}">
                  <a14:useLocalDpi xmlns:a14="http://schemas.microsoft.com/office/drawing/2010/main" val="0"/>
                </a:ext>
              </a:extLst>
            </a:blip>
            <a:srcRect/>
            <a:stretch>
              <a:fillRect/>
            </a:stretch>
          </p:blipFill>
          <p:spPr bwMode="auto">
            <a:xfrm>
              <a:off x="6153075" y="3435647"/>
              <a:ext cx="609972" cy="290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11" name="Picture 5"/>
            <p:cNvPicPr>
              <a:picLocks noChangeAspect="1" noChangeArrowheads="1"/>
            </p:cNvPicPr>
            <p:nvPr/>
          </p:nvPicPr>
          <p:blipFill>
            <a:blip r:embed="rId14">
              <a:lum bright="-20000" contrast="40000"/>
              <a:extLst>
                <a:ext uri="{28A0092B-C50C-407E-A947-70E740481C1C}">
                  <a14:useLocalDpi xmlns:a14="http://schemas.microsoft.com/office/drawing/2010/main" val="0"/>
                </a:ext>
              </a:extLst>
            </a:blip>
            <a:srcRect/>
            <a:stretch>
              <a:fillRect/>
            </a:stretch>
          </p:blipFill>
          <p:spPr bwMode="auto">
            <a:xfrm>
              <a:off x="6180559" y="3804560"/>
              <a:ext cx="1332135" cy="27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212" name="直接连接符 4"/>
            <p:cNvCxnSpPr>
              <a:cxnSpLocks noChangeShapeType="1"/>
            </p:cNvCxnSpPr>
            <p:nvPr/>
          </p:nvCxnSpPr>
          <p:spPr bwMode="auto">
            <a:xfrm>
              <a:off x="6199609" y="3214688"/>
              <a:ext cx="0" cy="677798"/>
            </a:xfrm>
            <a:prstGeom prst="line">
              <a:avLst/>
            </a:prstGeom>
            <a:noFill/>
            <a:ln w="9525" algn="ctr">
              <a:solidFill>
                <a:schemeClr val="tx1"/>
              </a:solidFill>
              <a:prstDash val="dash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3" name="直接连接符 25"/>
            <p:cNvCxnSpPr>
              <a:cxnSpLocks noChangeShapeType="1"/>
            </p:cNvCxnSpPr>
            <p:nvPr/>
          </p:nvCxnSpPr>
          <p:spPr bwMode="auto">
            <a:xfrm>
              <a:off x="6703665" y="3233738"/>
              <a:ext cx="0" cy="677798"/>
            </a:xfrm>
            <a:prstGeom prst="line">
              <a:avLst/>
            </a:prstGeom>
            <a:noFill/>
            <a:ln w="9525" algn="ctr">
              <a:solidFill>
                <a:schemeClr val="tx1"/>
              </a:solidFill>
              <a:prstDash val="dash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14" name="直接连接符 26"/>
            <p:cNvCxnSpPr>
              <a:cxnSpLocks noChangeShapeType="1"/>
            </p:cNvCxnSpPr>
            <p:nvPr/>
          </p:nvCxnSpPr>
          <p:spPr bwMode="auto">
            <a:xfrm>
              <a:off x="7501234" y="3267076"/>
              <a:ext cx="0" cy="677798"/>
            </a:xfrm>
            <a:prstGeom prst="line">
              <a:avLst/>
            </a:prstGeom>
            <a:noFill/>
            <a:ln w="9525" algn="ctr">
              <a:solidFill>
                <a:schemeClr val="tx1"/>
              </a:solidFill>
              <a:prstDash val="dash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 name="TextBox 1"/>
          <p:cNvSpPr txBox="1"/>
          <p:nvPr/>
        </p:nvSpPr>
        <p:spPr>
          <a:xfrm>
            <a:off x="5203825" y="680872"/>
            <a:ext cx="1186543" cy="307777"/>
          </a:xfrm>
          <a:prstGeom prst="rect">
            <a:avLst/>
          </a:prstGeom>
          <a:solidFill>
            <a:schemeClr val="bg1"/>
          </a:solidFill>
        </p:spPr>
        <p:txBody>
          <a:bodyPr wrap="none" rtlCol="0">
            <a:spAutoFit/>
          </a:bodyPr>
          <a:lstStyle/>
          <a:p>
            <a:r>
              <a:rPr lang="en-US" altLang="zh-CN" sz="1400" dirty="0" smtClean="0">
                <a:latin typeface="+mj-lt"/>
              </a:rPr>
              <a:t>Source Frame</a:t>
            </a:r>
            <a:endParaRPr lang="zh-CN" altLang="en-US" sz="1400" dirty="0">
              <a:latin typeface="+mj-lt"/>
            </a:endParaRPr>
          </a:p>
        </p:txBody>
      </p:sp>
      <p:sp>
        <p:nvSpPr>
          <p:cNvPr id="25" name="TextBox 24"/>
          <p:cNvSpPr txBox="1"/>
          <p:nvPr/>
        </p:nvSpPr>
        <p:spPr>
          <a:xfrm>
            <a:off x="5104285" y="2530941"/>
            <a:ext cx="1287532" cy="307777"/>
          </a:xfrm>
          <a:prstGeom prst="rect">
            <a:avLst/>
          </a:prstGeom>
          <a:solidFill>
            <a:schemeClr val="bg1"/>
          </a:solidFill>
        </p:spPr>
        <p:txBody>
          <a:bodyPr wrap="none" rtlCol="0">
            <a:spAutoFit/>
          </a:bodyPr>
          <a:lstStyle/>
          <a:p>
            <a:r>
              <a:rPr lang="en-US" altLang="zh-CN" sz="1400" dirty="0" smtClean="0">
                <a:latin typeface="+mj-lt"/>
              </a:rPr>
              <a:t>Observe Frame</a:t>
            </a:r>
            <a:endParaRPr lang="zh-CN" altLang="en-US" sz="1400" dirty="0">
              <a:latin typeface="+mj-lt"/>
            </a:endParaRPr>
          </a:p>
        </p:txBody>
      </p:sp>
      <p:cxnSp>
        <p:nvCxnSpPr>
          <p:cNvPr id="6" name="直接连接符 5"/>
          <p:cNvCxnSpPr/>
          <p:nvPr/>
        </p:nvCxnSpPr>
        <p:spPr bwMode="auto">
          <a:xfrm>
            <a:off x="322263" y="1859697"/>
            <a:ext cx="7922145"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ChangeArrowheads="1"/>
          </p:cNvSpPr>
          <p:nvPr/>
        </p:nvSpPr>
        <p:spPr bwMode="auto">
          <a:xfrm>
            <a:off x="358775" y="115888"/>
            <a:ext cx="8534400" cy="480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90000"/>
              </a:lnSpc>
            </a:pPr>
            <a:r>
              <a:rPr lang="en-US" altLang="zh-TW" sz="2800" dirty="0">
                <a:latin typeface="Times New Roman" panose="02020603050405020304" pitchFamily="18" charset="0"/>
                <a:ea typeface="MS PGothic" panose="020B0600070205080204" pitchFamily="34" charset="-128"/>
              </a:rPr>
              <a:t>Problem 1</a:t>
            </a:r>
            <a:endParaRPr lang="en-US" altLang="zh-TW" sz="2800" dirty="0">
              <a:latin typeface="Times New Roman" panose="02020603050405020304" pitchFamily="18" charset="0"/>
              <a:ea typeface="MS PGothic" panose="020B0600070205080204" pitchFamily="34" charset="-128"/>
            </a:endParaRPr>
          </a:p>
        </p:txBody>
      </p:sp>
      <p:sp>
        <p:nvSpPr>
          <p:cNvPr id="12291" name="矩形 2"/>
          <p:cNvSpPr>
            <a:spLocks noRot="1" noChangeAspect="1" noMove="1" noResize="1" noEditPoints="1" noAdjustHandles="1" noChangeArrowheads="1" noChangeShapeType="1" noTextEdit="1"/>
          </p:cNvSpPr>
          <p:nvPr/>
        </p:nvSpPr>
        <p:spPr bwMode="auto">
          <a:xfrm>
            <a:off x="268288" y="811213"/>
            <a:ext cx="8642350" cy="1630362"/>
          </a:xfrm>
          <a:prstGeom prst="rect">
            <a:avLst/>
          </a:prstGeom>
          <a:blipFill rotWithShape="1">
            <a:blip r:embed="rId1"/>
            <a:stretch>
              <a:fillRect l="-705" t="-1866" b="-5597"/>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endParaRPr lang="zh-CN" altLang="en-US">
              <a:noFill/>
            </a:endParaRPr>
          </a:p>
        </p:txBody>
      </p:sp>
      <p:pic>
        <p:nvPicPr>
          <p:cNvPr id="17409" name="Picture 1" descr="C:\Users\admin\AppData\Roaming\Tencent\Users\48161784\QQ\WinTemp\RichOle\~1IL31U]YN1`~YKQHMA`HTI.png"/>
          <p:cNvPicPr>
            <a:picLocks noChangeAspect="1" noChangeArrowheads="1"/>
          </p:cNvPicPr>
          <p:nvPr/>
        </p:nvPicPr>
        <p:blipFill rotWithShape="1">
          <a:blip r:embed="rId2">
            <a:extLst>
              <a:ext uri="{28A0092B-C50C-407E-A947-70E740481C1C}">
                <a14:useLocalDpi xmlns:a14="http://schemas.microsoft.com/office/drawing/2010/main" val="0"/>
              </a:ext>
            </a:extLst>
          </a:blip>
          <a:srcRect r="61449" b="29028"/>
          <a:stretch>
            <a:fillRect/>
          </a:stretch>
        </p:blipFill>
        <p:spPr bwMode="auto">
          <a:xfrm>
            <a:off x="971600" y="2714050"/>
            <a:ext cx="2419092" cy="2194919"/>
          </a:xfrm>
          <a:prstGeom prst="rect">
            <a:avLst/>
          </a:prstGeom>
          <a:noFill/>
          <a:extLst>
            <a:ext uri="{909E8E84-426E-40DD-AFC4-6F175D3DCCD1}">
              <a14:hiddenFill xmlns:a14="http://schemas.microsoft.com/office/drawing/2010/main">
                <a:solidFill>
                  <a:srgbClr val="FFFFFF"/>
                </a:solidFill>
              </a14:hiddenFill>
            </a:ext>
          </a:extLst>
        </p:spPr>
      </p:pic>
      <p:pic>
        <p:nvPicPr>
          <p:cNvPr id="18433" name="Picture 1" descr="C:\Users\PC\AppData\Roaming\Tencent\Users\48161784\QQ\WinTemp\RichOle\]G`06C]{~YKUN3XOI9[]K`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7904" y="2804723"/>
            <a:ext cx="2952328" cy="20135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0" name="组合 3"/>
          <p:cNvGrpSpPr/>
          <p:nvPr/>
        </p:nvGrpSpPr>
        <p:grpSpPr bwMode="auto">
          <a:xfrm>
            <a:off x="203200" y="1341438"/>
            <a:ext cx="8761413" cy="3455987"/>
            <a:chOff x="382587" y="1183655"/>
            <a:chExt cx="8761413" cy="3455988"/>
          </a:xfrm>
        </p:grpSpPr>
        <p:pic>
          <p:nvPicPr>
            <p:cNvPr id="12292" name="Picture 2"/>
            <p:cNvPicPr>
              <a:picLocks noChangeAspect="1" noChangeArrowheads="1"/>
            </p:cNvPicPr>
            <p:nvPr/>
          </p:nvPicPr>
          <p:blipFill>
            <a:blip r:embed="rId1">
              <a:extLst>
                <a:ext uri="{28A0092B-C50C-407E-A947-70E740481C1C}">
                  <a14:useLocalDpi xmlns:a14="http://schemas.microsoft.com/office/drawing/2010/main" val="0"/>
                </a:ext>
              </a:extLst>
            </a:blip>
            <a:srcRect l="1360" t="27811" r="7169" b="27078"/>
            <a:stretch>
              <a:fillRect/>
            </a:stretch>
          </p:blipFill>
          <p:spPr bwMode="auto">
            <a:xfrm>
              <a:off x="382587" y="1183655"/>
              <a:ext cx="8761413" cy="3455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293" name="矩形 1"/>
            <p:cNvSpPr>
              <a:spLocks noChangeArrowheads="1"/>
            </p:cNvSpPr>
            <p:nvPr/>
          </p:nvSpPr>
          <p:spPr bwMode="auto">
            <a:xfrm>
              <a:off x="382587" y="1340768"/>
              <a:ext cx="372989" cy="288032"/>
            </a:xfrm>
            <a:prstGeom prst="rect">
              <a:avLst/>
            </a:prstGeom>
            <a:solidFill>
              <a:schemeClr val="bg1"/>
            </a:solidFill>
            <a:ln w="9525" algn="ctr">
              <a:solidFill>
                <a:schemeClr val="bg1"/>
              </a:solidFill>
              <a:round/>
            </a:ln>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grpSp>
      <p:sp>
        <p:nvSpPr>
          <p:cNvPr id="12291" name="Rectangle 4"/>
          <p:cNvSpPr>
            <a:spLocks noChangeArrowheads="1"/>
          </p:cNvSpPr>
          <p:nvPr/>
        </p:nvSpPr>
        <p:spPr bwMode="auto">
          <a:xfrm>
            <a:off x="358775" y="115888"/>
            <a:ext cx="85344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90000"/>
              </a:lnSpc>
            </a:pPr>
            <a:r>
              <a:rPr lang="en-US" altLang="zh-TW" sz="3000">
                <a:latin typeface="Times New Roman" panose="02020603050405020304" pitchFamily="18" charset="0"/>
                <a:ea typeface="MS PGothic" panose="020B0600070205080204" pitchFamily="34" charset="-128"/>
              </a:rPr>
              <a:t>Answer 1</a:t>
            </a:r>
            <a:endParaRPr lang="en-US" altLang="zh-TW" sz="3000">
              <a:latin typeface="Times New Roman" panose="02020603050405020304" pitchFamily="18" charset="0"/>
              <a:ea typeface="MS PGothic" panose="020B0600070205080204" pitchFamily="34"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8775" y="980728"/>
            <a:ext cx="8389690" cy="3711785"/>
          </a:xfrm>
          <a:prstGeom prst="rect">
            <a:avLst/>
          </a:prstGeom>
        </p:spPr>
        <p:txBody>
          <a:bodyPr wrap="square">
            <a:spAutoFit/>
          </a:bodyPr>
          <a:lstStyle/>
          <a:p>
            <a:pPr>
              <a:lnSpc>
                <a:spcPct val="120000"/>
              </a:lnSpc>
              <a:defRPr/>
            </a:pPr>
            <a:r>
              <a:rPr lang="en-US" altLang="zh-CN" sz="2800" dirty="0">
                <a:latin typeface="+mj-lt"/>
              </a:rPr>
              <a:t>     </a:t>
            </a:r>
            <a:r>
              <a:rPr lang="en-US" altLang="zh-CN" dirty="0">
                <a:latin typeface="Times New Roman" panose="02020603050405020304" pitchFamily="18" charset="0"/>
                <a:cs typeface="Times New Roman" panose="02020603050405020304" pitchFamily="18" charset="0"/>
              </a:rPr>
              <a:t>An armada (</a:t>
            </a:r>
            <a:r>
              <a:rPr lang="zh-CN" altLang="en-US" dirty="0">
                <a:latin typeface="Times New Roman" panose="02020603050405020304" pitchFamily="18" charset="0"/>
                <a:cs typeface="Times New Roman" panose="02020603050405020304" pitchFamily="18" charset="0"/>
              </a:rPr>
              <a:t>舰队 </a:t>
            </a:r>
            <a:r>
              <a:rPr lang="en-US" altLang="zh-CN" dirty="0">
                <a:latin typeface="Times New Roman" panose="02020603050405020304" pitchFamily="18" charset="0"/>
                <a:cs typeface="Times New Roman" panose="02020603050405020304" pitchFamily="18" charset="0"/>
              </a:rPr>
              <a:t>a large group of war ships) of spaceships that is 1.00 </a:t>
            </a:r>
            <a:r>
              <a:rPr lang="en-US" altLang="zh-CN" dirty="0" err="1">
                <a:latin typeface="Times New Roman" panose="02020603050405020304" pitchFamily="18" charset="0"/>
                <a:cs typeface="Times New Roman" panose="02020603050405020304" pitchFamily="18" charset="0"/>
              </a:rPr>
              <a:t>ly</a:t>
            </a:r>
            <a:r>
              <a:rPr lang="en-US" altLang="zh-CN" dirty="0">
                <a:latin typeface="Times New Roman" panose="02020603050405020304" pitchFamily="18" charset="0"/>
                <a:cs typeface="Times New Roman" panose="02020603050405020304" pitchFamily="18" charset="0"/>
              </a:rPr>
              <a:t> long (in its rest frame) moves with speed 0.800</a:t>
            </a:r>
            <a:r>
              <a:rPr lang="en-US" altLang="zh-CN" i="1" dirty="0">
                <a:latin typeface="Times New Roman" panose="02020603050405020304" pitchFamily="18" charset="0"/>
                <a:cs typeface="Times New Roman" panose="02020603050405020304" pitchFamily="18" charset="0"/>
              </a:rPr>
              <a:t>c </a:t>
            </a:r>
            <a:r>
              <a:rPr lang="en-US" altLang="zh-CN" dirty="0">
                <a:latin typeface="Times New Roman" panose="02020603050405020304" pitchFamily="18" charset="0"/>
                <a:cs typeface="Times New Roman" panose="02020603050405020304" pitchFamily="18" charset="0"/>
              </a:rPr>
              <a:t>relative to a ground station in frame </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A messenger travels from the rear of the armada to the front with a speed of 0.950</a:t>
            </a:r>
            <a:r>
              <a:rPr lang="en-US" altLang="zh-CN" i="1" dirty="0">
                <a:latin typeface="Times New Roman" panose="02020603050405020304" pitchFamily="18" charset="0"/>
                <a:cs typeface="Times New Roman" panose="02020603050405020304" pitchFamily="18" charset="0"/>
              </a:rPr>
              <a:t>c </a:t>
            </a:r>
            <a:r>
              <a:rPr lang="en-US" altLang="zh-CN" dirty="0">
                <a:latin typeface="Times New Roman" panose="02020603050405020304" pitchFamily="18" charset="0"/>
                <a:cs typeface="Times New Roman" panose="02020603050405020304" pitchFamily="18" charset="0"/>
              </a:rPr>
              <a:t>relative to </a:t>
            </a:r>
            <a:r>
              <a:rPr lang="en-US" altLang="zh-CN" i="1" dirty="0">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 How long does the trip take as measured </a:t>
            </a:r>
            <a:endParaRPr lang="en-US" altLang="zh-CN" dirty="0">
              <a:latin typeface="Times New Roman" panose="02020603050405020304" pitchFamily="18" charset="0"/>
              <a:cs typeface="Times New Roman" panose="02020603050405020304" pitchFamily="18" charset="0"/>
            </a:endParaRPr>
          </a:p>
          <a:p>
            <a:pPr>
              <a:lnSpc>
                <a:spcPct val="120000"/>
              </a:lnSpc>
              <a:defRPr/>
            </a:pPr>
            <a:r>
              <a:rPr lang="en-US" altLang="zh-CN" dirty="0">
                <a:latin typeface="Times New Roman" panose="02020603050405020304" pitchFamily="18" charset="0"/>
                <a:cs typeface="Times New Roman" panose="02020603050405020304" pitchFamily="18" charset="0"/>
              </a:rPr>
              <a:t>(a) in the </a:t>
            </a:r>
            <a:r>
              <a:rPr lang="en-US" altLang="zh-CN" dirty="0">
                <a:solidFill>
                  <a:srgbClr val="FF0000"/>
                </a:solidFill>
                <a:latin typeface="Times New Roman" panose="02020603050405020304" pitchFamily="18" charset="0"/>
                <a:cs typeface="Times New Roman" panose="02020603050405020304" pitchFamily="18" charset="0"/>
              </a:rPr>
              <a:t>armada’s</a:t>
            </a:r>
            <a:r>
              <a:rPr lang="en-US" altLang="zh-CN" dirty="0">
                <a:latin typeface="Times New Roman" panose="02020603050405020304" pitchFamily="18" charset="0"/>
                <a:cs typeface="Times New Roman" panose="02020603050405020304" pitchFamily="18" charset="0"/>
              </a:rPr>
              <a:t> rest frame</a:t>
            </a:r>
            <a:endParaRPr lang="en-US" altLang="zh-CN" dirty="0">
              <a:latin typeface="Times New Roman" panose="02020603050405020304" pitchFamily="18" charset="0"/>
              <a:cs typeface="Times New Roman" panose="02020603050405020304" pitchFamily="18" charset="0"/>
            </a:endParaRPr>
          </a:p>
          <a:p>
            <a:pPr>
              <a:lnSpc>
                <a:spcPct val="120000"/>
              </a:lnSpc>
              <a:defRPr/>
            </a:pPr>
            <a:r>
              <a:rPr lang="en-US" altLang="zh-CN" dirty="0">
                <a:latin typeface="Times New Roman" panose="02020603050405020304" pitchFamily="18" charset="0"/>
                <a:cs typeface="Times New Roman" panose="02020603050405020304" pitchFamily="18" charset="0"/>
              </a:rPr>
              <a:t>(b) in the </a:t>
            </a:r>
            <a:r>
              <a:rPr lang="en-US" altLang="zh-CN" dirty="0">
                <a:solidFill>
                  <a:srgbClr val="FF0000"/>
                </a:solidFill>
                <a:latin typeface="Times New Roman" panose="02020603050405020304" pitchFamily="18" charset="0"/>
                <a:cs typeface="Times New Roman" panose="02020603050405020304" pitchFamily="18" charset="0"/>
              </a:rPr>
              <a:t>messenger’s</a:t>
            </a:r>
            <a:r>
              <a:rPr lang="en-US" altLang="zh-CN" dirty="0">
                <a:latin typeface="Times New Roman" panose="02020603050405020304" pitchFamily="18" charset="0"/>
                <a:cs typeface="Times New Roman" panose="02020603050405020304" pitchFamily="18" charset="0"/>
              </a:rPr>
              <a:t> rest frame</a:t>
            </a:r>
            <a:endParaRPr lang="en-US" altLang="zh-CN" dirty="0">
              <a:latin typeface="Times New Roman" panose="02020603050405020304" pitchFamily="18" charset="0"/>
              <a:cs typeface="Times New Roman" panose="02020603050405020304" pitchFamily="18" charset="0"/>
            </a:endParaRPr>
          </a:p>
          <a:p>
            <a:pPr>
              <a:lnSpc>
                <a:spcPct val="120000"/>
              </a:lnSpc>
              <a:defRPr/>
            </a:pPr>
            <a:r>
              <a:rPr lang="en-US" altLang="zh-CN" dirty="0">
                <a:latin typeface="Times New Roman" panose="02020603050405020304" pitchFamily="18" charset="0"/>
                <a:cs typeface="Times New Roman" panose="02020603050405020304" pitchFamily="18" charset="0"/>
              </a:rPr>
              <a:t>(c) In frame </a:t>
            </a:r>
            <a:r>
              <a:rPr lang="en-US" altLang="zh-CN" dirty="0">
                <a:solidFill>
                  <a:srgbClr val="FF0000"/>
                </a:solidFill>
                <a:latin typeface="Times New Roman" panose="02020603050405020304" pitchFamily="18" charset="0"/>
                <a:cs typeface="Times New Roman" panose="02020603050405020304" pitchFamily="18" charset="0"/>
              </a:rPr>
              <a:t>S</a:t>
            </a:r>
            <a:endParaRPr lang="en-US" altLang="zh-CN" dirty="0">
              <a:solidFill>
                <a:srgbClr val="FF0000"/>
              </a:solidFill>
              <a:latin typeface="Times New Roman" panose="02020603050405020304" pitchFamily="18" charset="0"/>
              <a:cs typeface="Times New Roman" panose="02020603050405020304" pitchFamily="18" charset="0"/>
            </a:endParaRPr>
          </a:p>
        </p:txBody>
      </p:sp>
      <p:sp>
        <p:nvSpPr>
          <p:cNvPr id="13315" name="Rectangle 4"/>
          <p:cNvSpPr>
            <a:spLocks noChangeArrowheads="1"/>
          </p:cNvSpPr>
          <p:nvPr/>
        </p:nvSpPr>
        <p:spPr bwMode="auto">
          <a:xfrm>
            <a:off x="358775" y="115888"/>
            <a:ext cx="85344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90000"/>
              </a:lnSpc>
            </a:pPr>
            <a:r>
              <a:rPr lang="en-US" altLang="zh-TW" sz="3000">
                <a:latin typeface="Times New Roman" panose="02020603050405020304" pitchFamily="18" charset="0"/>
                <a:ea typeface="MS PGothic" panose="020B0600070205080204" pitchFamily="34" charset="-128"/>
              </a:rPr>
              <a:t>Problem 2</a:t>
            </a:r>
            <a:endParaRPr lang="en-US" altLang="zh-TW" sz="3000">
              <a:latin typeface="Times New Roman" panose="02020603050405020304" pitchFamily="18" charset="0"/>
              <a:ea typeface="MS PGothic" panose="020B0600070205080204" pitchFamily="34" charset="-128"/>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39" name="矩形 3"/>
          <p:cNvSpPr>
            <a:spLocks noChangeArrowheads="1"/>
          </p:cNvSpPr>
          <p:nvPr/>
        </p:nvSpPr>
        <p:spPr bwMode="auto">
          <a:xfrm>
            <a:off x="323850" y="725458"/>
            <a:ext cx="7986738"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sz="2000" dirty="0">
                <a:latin typeface="Times New Roman" panose="02020603050405020304" pitchFamily="18" charset="0"/>
                <a:cs typeface="Times New Roman" panose="02020603050405020304" pitchFamily="18" charset="0"/>
              </a:rPr>
              <a:t>(</a:t>
            </a:r>
            <a:r>
              <a:rPr lang="en-US" altLang="zh-CN" sz="2000" dirty="0" smtClean="0">
                <a:latin typeface="Times New Roman" panose="02020603050405020304" pitchFamily="18" charset="0"/>
                <a:cs typeface="Times New Roman" panose="02020603050405020304" pitchFamily="18" charset="0"/>
              </a:rPr>
              <a:t>a</a:t>
            </a:r>
            <a:r>
              <a:rPr lang="en-US" altLang="zh-CN" sz="2000" dirty="0">
                <a:latin typeface="Times New Roman" panose="02020603050405020304" pitchFamily="18" charset="0"/>
                <a:cs typeface="Times New Roman" panose="02020603050405020304" pitchFamily="18" charset="0"/>
              </a:rPr>
              <a:t>) In the armada’s rest frame (called </a:t>
            </a:r>
            <a:r>
              <a:rPr lang="en-US" altLang="zh-CN" sz="2000" i="1" dirty="0">
                <a:latin typeface="Times New Roman" panose="02020603050405020304" pitchFamily="18" charset="0"/>
                <a:cs typeface="Times New Roman" panose="02020603050405020304" pitchFamily="18" charset="0"/>
              </a:rPr>
              <a:t>S</a:t>
            </a:r>
            <a:r>
              <a:rPr lang="en-US" altLang="zh-CN" sz="2000" i="1" baseline="-25000" dirty="0">
                <a:latin typeface="Times New Roman" panose="02020603050405020304" pitchFamily="18" charset="0"/>
                <a:cs typeface="Times New Roman" panose="02020603050405020304" pitchFamily="18" charset="0"/>
              </a:rPr>
              <a:t>a</a:t>
            </a:r>
            <a:r>
              <a:rPr lang="en-US" altLang="zh-CN" sz="2000" dirty="0">
                <a:latin typeface="Times New Roman" panose="02020603050405020304" pitchFamily="18" charset="0"/>
                <a:cs typeface="Times New Roman" panose="02020603050405020304" pitchFamily="18" charset="0"/>
              </a:rPr>
              <a:t>), the velocity of the messenger is:</a:t>
            </a:r>
            <a:endParaRPr lang="zh-CN" altLang="zh-CN" sz="2000" dirty="0">
              <a:latin typeface="Times New Roman" panose="02020603050405020304" pitchFamily="18" charset="0"/>
              <a:cs typeface="Times New Roman" panose="02020603050405020304" pitchFamily="18" charset="0"/>
            </a:endParaRPr>
          </a:p>
        </p:txBody>
      </p:sp>
      <p:sp>
        <p:nvSpPr>
          <p:cNvPr id="1434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42" name="矩形 6"/>
          <p:cNvSpPr>
            <a:spLocks noChangeArrowheads="1"/>
          </p:cNvSpPr>
          <p:nvPr/>
        </p:nvSpPr>
        <p:spPr bwMode="auto">
          <a:xfrm>
            <a:off x="558800" y="2205038"/>
            <a:ext cx="7702550" cy="400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CN" sz="2000">
                <a:latin typeface="Times New Roman" panose="02020603050405020304" pitchFamily="18" charset="0"/>
                <a:cs typeface="Times New Roman" panose="02020603050405020304" pitchFamily="18" charset="0"/>
              </a:rPr>
              <a:t>The length of the trip is proper length, and the time interval of the trip is  </a:t>
            </a:r>
            <a:endParaRPr lang="zh-CN" altLang="zh-CN" sz="2000">
              <a:latin typeface="Times New Roman" panose="02020603050405020304" pitchFamily="18" charset="0"/>
              <a:cs typeface="Times New Roman" panose="02020603050405020304" pitchFamily="18" charset="0"/>
            </a:endParaRPr>
          </a:p>
        </p:txBody>
      </p:sp>
      <p:sp>
        <p:nvSpPr>
          <p:cNvPr id="14343"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45"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4346" name="Rectangle 8"/>
          <p:cNvSpPr>
            <a:spLocks noChangeArrowheads="1"/>
          </p:cNvSpPr>
          <p:nvPr/>
        </p:nvSpPr>
        <p:spPr bwMode="auto">
          <a:xfrm>
            <a:off x="468313" y="3549650"/>
            <a:ext cx="797877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TW" sz="2000" dirty="0">
                <a:latin typeface="Times New Roman" panose="02020603050405020304" pitchFamily="18" charset="0"/>
                <a:cs typeface="Times New Roman" panose="02020603050405020304" pitchFamily="18" charset="0"/>
              </a:rPr>
              <a:t>(b) In the messenger</a:t>
            </a:r>
            <a:r>
              <a:rPr lang="en-US" altLang="zh-TW" sz="2000" dirty="0">
                <a:cs typeface="Times New Roman" panose="02020603050405020304" pitchFamily="18" charset="0"/>
              </a:rPr>
              <a:t>’</a:t>
            </a:r>
            <a:r>
              <a:rPr lang="en-US" altLang="zh-TW" sz="2000" dirty="0">
                <a:latin typeface="Times New Roman" panose="02020603050405020304" pitchFamily="18" charset="0"/>
                <a:cs typeface="Times New Roman" panose="02020603050405020304" pitchFamily="18" charset="0"/>
              </a:rPr>
              <a:t>s rest system (called </a:t>
            </a:r>
            <a:r>
              <a:rPr lang="en-US" altLang="zh-TW" sz="2000" i="1" dirty="0">
                <a:latin typeface="Times New Roman" panose="02020603050405020304" pitchFamily="18" charset="0"/>
                <a:cs typeface="Times New Roman" panose="02020603050405020304" pitchFamily="18" charset="0"/>
              </a:rPr>
              <a:t>S</a:t>
            </a:r>
            <a:r>
              <a:rPr lang="en-US" altLang="zh-TW" sz="2000" i="1" baseline="-30000" dirty="0">
                <a:latin typeface="Times New Roman" panose="02020603050405020304" pitchFamily="18" charset="0"/>
                <a:cs typeface="Times New Roman" panose="02020603050405020304" pitchFamily="18" charset="0"/>
              </a:rPr>
              <a:t>m</a:t>
            </a:r>
            <a:r>
              <a:rPr lang="en-US" altLang="zh-TW"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the time interval of the trip is </a:t>
            </a:r>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proper time:</a:t>
            </a:r>
            <a:endParaRPr lang="en-US" altLang="zh-CN" sz="2000" dirty="0"/>
          </a:p>
        </p:txBody>
      </p:sp>
      <p:graphicFrame>
        <p:nvGraphicFramePr>
          <p:cNvPr id="14347" name="对象 1"/>
          <p:cNvGraphicFramePr>
            <a:graphicFrameLocks noChangeAspect="1"/>
          </p:cNvGraphicFramePr>
          <p:nvPr/>
        </p:nvGraphicFramePr>
        <p:xfrm>
          <a:off x="1763713" y="4508500"/>
          <a:ext cx="3395662" cy="612775"/>
        </p:xfrm>
        <a:graphic>
          <a:graphicData uri="http://schemas.openxmlformats.org/presentationml/2006/ole">
            <mc:AlternateContent xmlns:mc="http://schemas.openxmlformats.org/markup-compatibility/2006">
              <mc:Choice xmlns:v="urn:schemas-microsoft-com:vml" Requires="v">
                <p:oleObj spid="_x0000_s14594" name="Equation" r:id="rId1" imgW="2298700" imgH="419100" progId="Equation.DSMT4">
                  <p:embed/>
                </p:oleObj>
              </mc:Choice>
              <mc:Fallback>
                <p:oleObj name="Equation" r:id="rId1" imgW="2298700" imgH="419100" progId="Equation.DSMT4">
                  <p:embed/>
                  <p:pic>
                    <p:nvPicPr>
                      <p:cNvPr id="0" name="对象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4508500"/>
                        <a:ext cx="3395662"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8" name="Rectangle 4"/>
          <p:cNvSpPr>
            <a:spLocks noChangeArrowheads="1"/>
          </p:cNvSpPr>
          <p:nvPr/>
        </p:nvSpPr>
        <p:spPr bwMode="auto">
          <a:xfrm>
            <a:off x="358775" y="115888"/>
            <a:ext cx="85344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90000"/>
              </a:lnSpc>
            </a:pPr>
            <a:r>
              <a:rPr lang="en-US" altLang="zh-TW" sz="3000" dirty="0">
                <a:latin typeface="Times New Roman" panose="02020603050405020304" pitchFamily="18" charset="0"/>
                <a:ea typeface="MS PGothic" panose="020B0600070205080204" pitchFamily="34" charset="-128"/>
              </a:rPr>
              <a:t>Answer 2</a:t>
            </a:r>
            <a:endParaRPr lang="en-US" altLang="zh-TW" sz="3000" dirty="0">
              <a:latin typeface="Times New Roman" panose="02020603050405020304" pitchFamily="18" charset="0"/>
              <a:ea typeface="MS PGothic" panose="020B0600070205080204" pitchFamily="34" charset="-128"/>
            </a:endParaRPr>
          </a:p>
        </p:txBody>
      </p:sp>
      <p:graphicFrame>
        <p:nvGraphicFramePr>
          <p:cNvPr id="3" name="对象 2"/>
          <p:cNvGraphicFramePr>
            <a:graphicFrameLocks noChangeAspect="1"/>
          </p:cNvGraphicFramePr>
          <p:nvPr/>
        </p:nvGraphicFramePr>
        <p:xfrm>
          <a:off x="1827213" y="2792413"/>
          <a:ext cx="3030537" cy="746125"/>
        </p:xfrm>
        <a:graphic>
          <a:graphicData uri="http://schemas.openxmlformats.org/presentationml/2006/ole">
            <mc:AlternateContent xmlns:mc="http://schemas.openxmlformats.org/markup-compatibility/2006">
              <mc:Choice xmlns:v="urn:schemas-microsoft-com:vml" Requires="v">
                <p:oleObj spid="_x0000_s14595" name="Equation" r:id="rId3" imgW="40843200" imgH="10058400" progId="Equation.DSMT4">
                  <p:embed/>
                </p:oleObj>
              </mc:Choice>
              <mc:Fallback>
                <p:oleObj name="Equation" r:id="rId3" imgW="40843200" imgH="10058400" progId="Equation.DSMT4">
                  <p:embed/>
                  <p:pic>
                    <p:nvPicPr>
                      <p:cNvPr id="0" name="对象 20"/>
                      <p:cNvPicPr>
                        <a:picLocks noChangeAspect="1" noChangeArrowheads="1"/>
                      </p:cNvPicPr>
                      <p:nvPr/>
                    </p:nvPicPr>
                    <p:blipFill>
                      <a:blip r:embed="rId4"/>
                      <a:srcRect/>
                      <a:stretch>
                        <a:fillRect/>
                      </a:stretch>
                    </p:blipFill>
                    <p:spPr bwMode="auto">
                      <a:xfrm>
                        <a:off x="1827213" y="2792413"/>
                        <a:ext cx="3030537"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2197100" y="1341438"/>
          <a:ext cx="4424363" cy="638175"/>
        </p:xfrm>
        <a:graphic>
          <a:graphicData uri="http://schemas.openxmlformats.org/presentationml/2006/ole">
            <mc:AlternateContent xmlns:mc="http://schemas.openxmlformats.org/markup-compatibility/2006">
              <mc:Choice xmlns:v="urn:schemas-microsoft-com:vml" Requires="v">
                <p:oleObj spid="_x0000_s14596" name="Equation" r:id="rId5" imgW="71323200" imgH="10363200" progId="Equation.DSMT4">
                  <p:embed/>
                </p:oleObj>
              </mc:Choice>
              <mc:Fallback>
                <p:oleObj name="Equation" r:id="rId5" imgW="71323200" imgH="10363200" progId="Equation.DSMT4">
                  <p:embed/>
                  <p:pic>
                    <p:nvPicPr>
                      <p:cNvPr id="0" name="对象 1"/>
                      <p:cNvPicPr>
                        <a:picLocks noChangeAspect="1" noChangeArrowheads="1"/>
                      </p:cNvPicPr>
                      <p:nvPr/>
                    </p:nvPicPr>
                    <p:blipFill>
                      <a:blip r:embed="rId6"/>
                      <a:srcRect/>
                      <a:stretch>
                        <a:fillRect/>
                      </a:stretch>
                    </p:blipFill>
                    <p:spPr bwMode="auto">
                      <a:xfrm>
                        <a:off x="2197100" y="1341438"/>
                        <a:ext cx="44243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对象 1"/>
          <p:cNvGraphicFramePr>
            <a:graphicFrameLocks noChangeAspect="1"/>
          </p:cNvGraphicFramePr>
          <p:nvPr/>
        </p:nvGraphicFramePr>
        <p:xfrm>
          <a:off x="2137084" y="1412777"/>
          <a:ext cx="4705041" cy="638274"/>
        </p:xfrm>
        <a:graphic>
          <a:graphicData uri="http://schemas.openxmlformats.org/presentationml/2006/ole">
            <mc:AlternateContent xmlns:mc="http://schemas.openxmlformats.org/markup-compatibility/2006">
              <mc:Choice xmlns:v="urn:schemas-microsoft-com:vml" Requires="v">
                <p:oleObj spid="_x0000_s15624" name="Equation" r:id="rId1" imgW="75895200" imgH="10363200" progId="Equation.DSMT4">
                  <p:embed/>
                </p:oleObj>
              </mc:Choice>
              <mc:Fallback>
                <p:oleObj name="Equation" r:id="rId1" imgW="75895200" imgH="10363200" progId="Equation.DSMT4">
                  <p:embed/>
                  <p:pic>
                    <p:nvPicPr>
                      <p:cNvPr id="0" name="对象 1"/>
                      <p:cNvPicPr>
                        <a:picLocks noChangeAspect="1" noChangeArrowheads="1"/>
                      </p:cNvPicPr>
                      <p:nvPr/>
                    </p:nvPicPr>
                    <p:blipFill>
                      <a:blip r:embed="rId2"/>
                      <a:srcRect/>
                      <a:stretch>
                        <a:fillRect/>
                      </a:stretch>
                    </p:blipFill>
                    <p:spPr bwMode="auto">
                      <a:xfrm>
                        <a:off x="2137084" y="1412777"/>
                        <a:ext cx="4705041" cy="638274"/>
                      </a:xfrm>
                      <a:prstGeom prst="rect">
                        <a:avLst/>
                      </a:prstGeom>
                      <a:noFill/>
                      <a:ln>
                        <a:noFill/>
                      </a:ln>
                    </p:spPr>
                  </p:pic>
                </p:oleObj>
              </mc:Fallback>
            </mc:AlternateContent>
          </a:graphicData>
        </a:graphic>
      </p:graphicFrame>
      <p:sp>
        <p:nvSpPr>
          <p:cNvPr id="15363" name="Rectangle 8"/>
          <p:cNvSpPr>
            <a:spLocks noChangeArrowheads="1"/>
          </p:cNvSpPr>
          <p:nvPr/>
        </p:nvSpPr>
        <p:spPr bwMode="auto">
          <a:xfrm>
            <a:off x="179388" y="854075"/>
            <a:ext cx="78263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r>
              <a:rPr lang="en-US" altLang="zh-TW" sz="2000" dirty="0">
                <a:latin typeface="Times New Roman" panose="02020603050405020304" pitchFamily="18" charset="0"/>
                <a:cs typeface="Times New Roman" panose="02020603050405020304" pitchFamily="18" charset="0"/>
              </a:rPr>
              <a:t>(b) In the messenger</a:t>
            </a:r>
            <a:r>
              <a:rPr lang="en-US" altLang="zh-TW" sz="2000" dirty="0">
                <a:cs typeface="Times New Roman" panose="02020603050405020304" pitchFamily="18" charset="0"/>
              </a:rPr>
              <a:t>’</a:t>
            </a:r>
            <a:r>
              <a:rPr lang="en-US" altLang="zh-TW" sz="2000" dirty="0">
                <a:latin typeface="Times New Roman" panose="02020603050405020304" pitchFamily="18" charset="0"/>
                <a:cs typeface="Times New Roman" panose="02020603050405020304" pitchFamily="18" charset="0"/>
              </a:rPr>
              <a:t>s rest system (called </a:t>
            </a:r>
            <a:r>
              <a:rPr lang="en-US" altLang="zh-TW" sz="2000" i="1" dirty="0">
                <a:latin typeface="Times New Roman" panose="02020603050405020304" pitchFamily="18" charset="0"/>
                <a:cs typeface="Times New Roman" panose="02020603050405020304" pitchFamily="18" charset="0"/>
              </a:rPr>
              <a:t>S</a:t>
            </a:r>
            <a:r>
              <a:rPr lang="en-US" altLang="zh-TW" sz="2000" i="1" baseline="-30000" dirty="0">
                <a:latin typeface="Times New Roman" panose="02020603050405020304" pitchFamily="18" charset="0"/>
                <a:cs typeface="Times New Roman" panose="02020603050405020304" pitchFamily="18" charset="0"/>
              </a:rPr>
              <a:t>m</a:t>
            </a:r>
            <a:r>
              <a:rPr lang="en-US" altLang="zh-TW" sz="2000" dirty="0">
                <a:latin typeface="Times New Roman" panose="02020603050405020304" pitchFamily="18" charset="0"/>
                <a:cs typeface="Times New Roman" panose="02020603050405020304" pitchFamily="18" charset="0"/>
              </a:rPr>
              <a:t>), the velocity of the armada is</a:t>
            </a:r>
            <a:endParaRPr lang="en-US" altLang="zh-CN" sz="2000" dirty="0"/>
          </a:p>
        </p:txBody>
      </p:sp>
      <p:sp>
        <p:nvSpPr>
          <p:cNvPr id="16" name="矩形 15"/>
          <p:cNvSpPr/>
          <p:nvPr/>
        </p:nvSpPr>
        <p:spPr>
          <a:xfrm>
            <a:off x="468313" y="2192338"/>
            <a:ext cx="6840537" cy="400050"/>
          </a:xfrm>
          <a:prstGeom prst="rect">
            <a:avLst/>
          </a:prstGeom>
        </p:spPr>
        <p:txBody>
          <a:bodyPr>
            <a:spAutoFit/>
          </a:bodyPr>
          <a:lstStyle/>
          <a:p>
            <a:pPr>
              <a:defRPr/>
            </a:pPr>
            <a:r>
              <a:rPr lang="en-US" altLang="zh-CN" sz="2000" dirty="0">
                <a:latin typeface="+mj-lt"/>
              </a:rPr>
              <a:t>The length of the armada as measured in </a:t>
            </a:r>
            <a:r>
              <a:rPr lang="en-US" altLang="zh-CN" sz="2000" i="1" dirty="0" err="1">
                <a:latin typeface="+mj-lt"/>
              </a:rPr>
              <a:t>S</a:t>
            </a:r>
            <a:r>
              <a:rPr lang="en-US" altLang="zh-CN" sz="2000" i="1" baseline="-25000" dirty="0" err="1">
                <a:latin typeface="+mj-lt"/>
              </a:rPr>
              <a:t>m</a:t>
            </a:r>
            <a:r>
              <a:rPr lang="en-US" altLang="zh-CN" sz="2000" dirty="0">
                <a:latin typeface="+mj-lt"/>
              </a:rPr>
              <a:t> is</a:t>
            </a:r>
            <a:endParaRPr lang="zh-CN" altLang="zh-CN" sz="2000" dirty="0">
              <a:latin typeface="+mj-lt"/>
            </a:endParaRPr>
          </a:p>
        </p:txBody>
      </p:sp>
      <p:sp>
        <p:nvSpPr>
          <p:cNvPr id="15365"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5366" name="对象 17"/>
          <p:cNvGraphicFramePr>
            <a:graphicFrameLocks noChangeAspect="1"/>
          </p:cNvGraphicFramePr>
          <p:nvPr/>
        </p:nvGraphicFramePr>
        <p:xfrm>
          <a:off x="2216150" y="2924175"/>
          <a:ext cx="4160838" cy="698500"/>
        </p:xfrm>
        <a:graphic>
          <a:graphicData uri="http://schemas.openxmlformats.org/presentationml/2006/ole">
            <mc:AlternateContent xmlns:mc="http://schemas.openxmlformats.org/markup-compatibility/2006">
              <mc:Choice xmlns:v="urn:schemas-microsoft-com:vml" Requires="v">
                <p:oleObj spid="_x0000_s15625" name="Equation" r:id="rId3" imgW="2476500" imgH="419100" progId="Equation.DSMT4">
                  <p:embed/>
                </p:oleObj>
              </mc:Choice>
              <mc:Fallback>
                <p:oleObj name="Equation" r:id="rId3" imgW="2476500" imgH="419100" progId="Equation.DSMT4">
                  <p:embed/>
                  <p:pic>
                    <p:nvPicPr>
                      <p:cNvPr id="0" name="对象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150" y="2924175"/>
                        <a:ext cx="4160838"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矩形 18"/>
          <p:cNvSpPr/>
          <p:nvPr/>
        </p:nvSpPr>
        <p:spPr>
          <a:xfrm>
            <a:off x="541338" y="3933825"/>
            <a:ext cx="4822825" cy="400050"/>
          </a:xfrm>
          <a:prstGeom prst="rect">
            <a:avLst/>
          </a:prstGeom>
        </p:spPr>
        <p:txBody>
          <a:bodyPr>
            <a:spAutoFit/>
          </a:bodyPr>
          <a:lstStyle/>
          <a:p>
            <a:pPr>
              <a:defRPr/>
            </a:pPr>
            <a:r>
              <a:rPr lang="en-US" altLang="zh-CN" sz="2000" dirty="0">
                <a:latin typeface="+mj-lt"/>
              </a:rPr>
              <a:t>Thus, the length of the trip is:</a:t>
            </a:r>
            <a:endParaRPr lang="zh-CN" altLang="zh-CN" sz="2000" dirty="0">
              <a:latin typeface="+mj-lt"/>
            </a:endParaRPr>
          </a:p>
        </p:txBody>
      </p:sp>
      <p:sp>
        <p:nvSpPr>
          <p:cNvPr id="15368" name="Rectangle 1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graphicFrame>
        <p:nvGraphicFramePr>
          <p:cNvPr id="15369" name="对象 20"/>
          <p:cNvGraphicFramePr>
            <a:graphicFrameLocks noChangeAspect="1"/>
          </p:cNvGraphicFramePr>
          <p:nvPr/>
        </p:nvGraphicFramePr>
        <p:xfrm>
          <a:off x="2238375" y="4724400"/>
          <a:ext cx="3300413" cy="746125"/>
        </p:xfrm>
        <a:graphic>
          <a:graphicData uri="http://schemas.openxmlformats.org/presentationml/2006/ole">
            <mc:AlternateContent xmlns:mc="http://schemas.openxmlformats.org/markup-compatibility/2006">
              <mc:Choice xmlns:v="urn:schemas-microsoft-com:vml" Requires="v">
                <p:oleObj spid="_x0000_s15626" name="Equation" r:id="rId5" imgW="44500800" imgH="10058400" progId="Equation.DSMT4">
                  <p:embed/>
                </p:oleObj>
              </mc:Choice>
              <mc:Fallback>
                <p:oleObj name="Equation" r:id="rId5" imgW="44500800" imgH="10058400" progId="Equation.DSMT4">
                  <p:embed/>
                  <p:pic>
                    <p:nvPicPr>
                      <p:cNvPr id="0" name="对象 20"/>
                      <p:cNvPicPr>
                        <a:picLocks noChangeAspect="1" noChangeArrowheads="1"/>
                      </p:cNvPicPr>
                      <p:nvPr/>
                    </p:nvPicPr>
                    <p:blipFill>
                      <a:blip r:embed="rId6"/>
                      <a:srcRect/>
                      <a:stretch>
                        <a:fillRect/>
                      </a:stretch>
                    </p:blipFill>
                    <p:spPr bwMode="auto">
                      <a:xfrm>
                        <a:off x="2238375" y="4724400"/>
                        <a:ext cx="3300413"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0" name="Rectangle 2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5371" name="Rectangle 4"/>
          <p:cNvSpPr>
            <a:spLocks noChangeArrowheads="1"/>
          </p:cNvSpPr>
          <p:nvPr/>
        </p:nvSpPr>
        <p:spPr bwMode="auto">
          <a:xfrm>
            <a:off x="358775" y="115888"/>
            <a:ext cx="85344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90000"/>
              </a:lnSpc>
            </a:pPr>
            <a:r>
              <a:rPr lang="en-US" altLang="zh-TW" sz="3000">
                <a:latin typeface="Times New Roman" panose="02020603050405020304" pitchFamily="18" charset="0"/>
                <a:ea typeface="MS PGothic" panose="020B0600070205080204" pitchFamily="34" charset="-128"/>
              </a:rPr>
              <a:t>Answer 2</a:t>
            </a:r>
            <a:endParaRPr lang="en-US" altLang="zh-TW" sz="3000">
              <a:latin typeface="Times New Roman" panose="02020603050405020304" pitchFamily="18" charset="0"/>
              <a:ea typeface="MS PGothic" panose="020B0600070205080204" pitchFamily="34"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8"/>
          <p:cNvSpPr>
            <a:spLocks noChangeArrowheads="1"/>
          </p:cNvSpPr>
          <p:nvPr/>
        </p:nvSpPr>
        <p:spPr bwMode="auto">
          <a:xfrm>
            <a:off x="186680" y="739925"/>
            <a:ext cx="15985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0000"/>
              </a:lnSpc>
            </a:pPr>
            <a:r>
              <a:rPr lang="en-US" altLang="zh-TW" sz="2000" dirty="0">
                <a:latin typeface="Times New Roman" panose="02020603050405020304" pitchFamily="18" charset="0"/>
                <a:cs typeface="Times New Roman" panose="02020603050405020304" pitchFamily="18" charset="0"/>
              </a:rPr>
              <a:t>(c) </a:t>
            </a:r>
            <a:r>
              <a:rPr lang="en-US" altLang="zh-CN" sz="2000" dirty="0">
                <a:latin typeface="Times New Roman" panose="02020603050405020304" pitchFamily="18" charset="0"/>
                <a:cs typeface="Times New Roman" panose="02020603050405020304" pitchFamily="18" charset="0"/>
              </a:rPr>
              <a:t>in frame S</a:t>
            </a:r>
            <a:endParaRPr lang="en-US" altLang="zh-CN" sz="2000" dirty="0">
              <a:latin typeface="Times New Roman" panose="02020603050405020304" pitchFamily="18" charset="0"/>
              <a:cs typeface="Times New Roman" panose="02020603050405020304" pitchFamily="18" charset="0"/>
            </a:endParaRPr>
          </a:p>
        </p:txBody>
      </p:sp>
      <p:sp>
        <p:nvSpPr>
          <p:cNvPr id="16387"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6388" name="Rectangle 1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6389" name="Rectangle 2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6390" name="Rectangle 4"/>
          <p:cNvSpPr>
            <a:spLocks noChangeArrowheads="1"/>
          </p:cNvSpPr>
          <p:nvPr/>
        </p:nvSpPr>
        <p:spPr bwMode="auto">
          <a:xfrm>
            <a:off x="358775" y="115888"/>
            <a:ext cx="85344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90000"/>
              </a:lnSpc>
            </a:pPr>
            <a:r>
              <a:rPr lang="en-US" altLang="zh-TW" sz="3000">
                <a:latin typeface="Times New Roman" panose="02020603050405020304" pitchFamily="18" charset="0"/>
                <a:ea typeface="MS PGothic" panose="020B0600070205080204" pitchFamily="34" charset="-128"/>
              </a:rPr>
              <a:t>Answer 2</a:t>
            </a:r>
            <a:endParaRPr lang="en-US" altLang="zh-TW" sz="3000">
              <a:latin typeface="Times New Roman" panose="02020603050405020304" pitchFamily="18" charset="0"/>
              <a:ea typeface="MS PGothic" panose="020B0600070205080204" pitchFamily="34" charset="-128"/>
            </a:endParaRPr>
          </a:p>
        </p:txBody>
      </p:sp>
      <p:sp>
        <p:nvSpPr>
          <p:cNvPr id="2" name="矩形 1"/>
          <p:cNvSpPr/>
          <p:nvPr/>
        </p:nvSpPr>
        <p:spPr>
          <a:xfrm>
            <a:off x="133847" y="2174672"/>
            <a:ext cx="2736304" cy="369332"/>
          </a:xfrm>
          <a:prstGeom prst="rect">
            <a:avLst/>
          </a:prstGeom>
        </p:spPr>
        <p:txBody>
          <a:bodyPr wrap="square">
            <a:spAutoFit/>
          </a:bodyPr>
          <a:lstStyle/>
          <a:p>
            <a:r>
              <a:rPr lang="en-US" altLang="zh-CN" sz="1800" dirty="0" smtClean="0">
                <a:latin typeface="Times New Roman" panose="02020603050405020304" pitchFamily="18" charset="0"/>
                <a:cs typeface="Times New Roman" panose="02020603050405020304" pitchFamily="18" charset="0"/>
              </a:rPr>
              <a:t>From the figure, we have:</a:t>
            </a:r>
            <a:endParaRPr lang="zh-CN" altLang="en-US" sz="1800" dirty="0">
              <a:latin typeface="Times New Roman" panose="02020603050405020304" pitchFamily="18" charset="0"/>
              <a:cs typeface="Times New Roman" panose="02020603050405020304" pitchFamily="18" charset="0"/>
            </a:endParaRPr>
          </a:p>
        </p:txBody>
      </p:sp>
      <p:sp>
        <p:nvSpPr>
          <p:cNvPr id="3" name="矩形 2"/>
          <p:cNvSpPr/>
          <p:nvPr/>
        </p:nvSpPr>
        <p:spPr>
          <a:xfrm>
            <a:off x="252772" y="1232521"/>
            <a:ext cx="7453586" cy="707886"/>
          </a:xfrm>
          <a:prstGeom prst="rect">
            <a:avLst/>
          </a:prstGeom>
        </p:spPr>
        <p:txBody>
          <a:bodyPr wrap="square">
            <a:spAutoFit/>
          </a:bodyPr>
          <a:lstStyle/>
          <a:p>
            <a:r>
              <a:rPr lang="en-US" altLang="zh-CN" sz="2000" dirty="0" smtClean="0">
                <a:solidFill>
                  <a:srgbClr val="FF0000"/>
                </a:solidFill>
                <a:latin typeface="Times New Roman" panose="02020603050405020304" pitchFamily="18" charset="0"/>
                <a:cs typeface="Times New Roman" panose="02020603050405020304" pitchFamily="18" charset="0"/>
              </a:rPr>
              <a:t>Event 1: </a:t>
            </a:r>
            <a:r>
              <a:rPr lang="en-US" altLang="zh-CN" sz="2000" dirty="0" smtClean="0">
                <a:latin typeface="Times New Roman" panose="02020603050405020304" pitchFamily="18" charset="0"/>
                <a:cs typeface="Times New Roman" panose="02020603050405020304" pitchFamily="18" charset="0"/>
              </a:rPr>
              <a:t>messenger leaves the rear of the armada (</a:t>
            </a:r>
            <a:r>
              <a:rPr lang="en-US" altLang="zh-CN" sz="2000" i="1" dirty="0" smtClean="0">
                <a:latin typeface="Times New Roman" panose="02020603050405020304" pitchFamily="18" charset="0"/>
                <a:cs typeface="Times New Roman" panose="02020603050405020304" pitchFamily="18" charset="0"/>
              </a:rPr>
              <a:t>x</a:t>
            </a:r>
            <a:r>
              <a:rPr lang="en-US" altLang="zh-CN" sz="2000" baseline="-25000" dirty="0" smtClean="0">
                <a:latin typeface="Times New Roman" panose="02020603050405020304" pitchFamily="18" charset="0"/>
                <a:cs typeface="Times New Roman" panose="02020603050405020304" pitchFamily="18" charset="0"/>
              </a:rPr>
              <a:t>1</a:t>
            </a:r>
            <a:r>
              <a:rPr lang="en-US" altLang="zh-CN" sz="2000" dirty="0" smtClean="0">
                <a:latin typeface="Times New Roman" panose="02020603050405020304" pitchFamily="18" charset="0"/>
                <a:cs typeface="Times New Roman" panose="02020603050405020304" pitchFamily="18" charset="0"/>
              </a:rPr>
              <a:t>); </a:t>
            </a:r>
            <a:endParaRPr lang="en-US" altLang="zh-CN" sz="2000" i="1" dirty="0" smtClean="0">
              <a:latin typeface="Times New Roman" panose="02020603050405020304" pitchFamily="18" charset="0"/>
              <a:cs typeface="Times New Roman" panose="02020603050405020304" pitchFamily="18" charset="0"/>
            </a:endParaRPr>
          </a:p>
          <a:p>
            <a:r>
              <a:rPr lang="en-US" altLang="zh-CN" sz="2000" dirty="0" smtClean="0">
                <a:solidFill>
                  <a:srgbClr val="FF0000"/>
                </a:solidFill>
                <a:latin typeface="Times New Roman" panose="02020603050405020304" pitchFamily="18" charset="0"/>
                <a:cs typeface="Times New Roman" panose="02020603050405020304" pitchFamily="18" charset="0"/>
              </a:rPr>
              <a:t>Event 2:</a:t>
            </a:r>
            <a:r>
              <a:rPr lang="en-US" altLang="zh-CN" sz="2000" dirty="0" smtClean="0">
                <a:latin typeface="Times New Roman" panose="02020603050405020304" pitchFamily="18" charset="0"/>
                <a:cs typeface="Times New Roman" panose="02020603050405020304" pitchFamily="18" charset="0"/>
              </a:rPr>
              <a:t> messenger arrives at the front of the armada (</a:t>
            </a:r>
            <a:r>
              <a:rPr lang="en-US" altLang="zh-CN" sz="2000" i="1" dirty="0" smtClean="0">
                <a:latin typeface="Times New Roman" panose="02020603050405020304" pitchFamily="18" charset="0"/>
                <a:cs typeface="Times New Roman" panose="02020603050405020304" pitchFamily="18" charset="0"/>
              </a:rPr>
              <a:t>x</a:t>
            </a:r>
            <a:r>
              <a:rPr lang="en-US" altLang="zh-CN" sz="2000" baseline="-25000" dirty="0" smtClean="0">
                <a:latin typeface="Times New Roman" panose="02020603050405020304" pitchFamily="18" charset="0"/>
                <a:cs typeface="Times New Roman" panose="02020603050405020304" pitchFamily="18" charset="0"/>
              </a:rPr>
              <a:t>2</a:t>
            </a:r>
            <a:r>
              <a:rPr lang="en-US" altLang="zh-CN" sz="2000" dirty="0" smtClean="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nvGraphicFramePr>
        <p:xfrm>
          <a:off x="709911" y="2544004"/>
          <a:ext cx="2433638" cy="569913"/>
        </p:xfrm>
        <a:graphic>
          <a:graphicData uri="http://schemas.openxmlformats.org/presentationml/2006/ole">
            <mc:AlternateContent xmlns:mc="http://schemas.openxmlformats.org/markup-compatibility/2006">
              <mc:Choice xmlns:v="urn:schemas-microsoft-com:vml" Requires="v">
                <p:oleObj spid="_x0000_s16710" name="Equation" r:id="rId1" imgW="40233600" imgH="9448800" progId="Equation.DSMT4">
                  <p:embed/>
                </p:oleObj>
              </mc:Choice>
              <mc:Fallback>
                <p:oleObj name="Equation" r:id="rId1" imgW="40233600" imgH="9448800" progId="Equation.DSMT4">
                  <p:embed/>
                  <p:pic>
                    <p:nvPicPr>
                      <p:cNvPr id="0" name="对象 1"/>
                      <p:cNvPicPr>
                        <a:picLocks noChangeAspect="1" noChangeArrowheads="1"/>
                      </p:cNvPicPr>
                      <p:nvPr/>
                    </p:nvPicPr>
                    <p:blipFill>
                      <a:blip r:embed="rId2"/>
                      <a:srcRect/>
                      <a:stretch>
                        <a:fillRect/>
                      </a:stretch>
                    </p:blipFill>
                    <p:spPr bwMode="auto">
                      <a:xfrm>
                        <a:off x="709911" y="2544004"/>
                        <a:ext cx="243363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p:cNvSpPr/>
          <p:nvPr/>
        </p:nvSpPr>
        <p:spPr>
          <a:xfrm>
            <a:off x="241524" y="4927347"/>
            <a:ext cx="7992888" cy="400110"/>
          </a:xfrm>
          <a:prstGeom prst="rect">
            <a:avLst/>
          </a:prstGeom>
        </p:spPr>
        <p:txBody>
          <a:bodyPr wrap="square">
            <a:spAutoFit/>
          </a:bodyPr>
          <a:lstStyle/>
          <a:p>
            <a:pPr>
              <a:defRPr/>
            </a:pPr>
            <a:r>
              <a:rPr lang="en-US" altLang="zh-CN" sz="2000" dirty="0" smtClean="0">
                <a:latin typeface="+mj-lt"/>
              </a:rPr>
              <a:t>So we can get the time interval in the frame S:  </a:t>
            </a:r>
            <a:endParaRPr lang="zh-CN" altLang="zh-CN" sz="2000" dirty="0">
              <a:latin typeface="+mj-lt"/>
            </a:endParaRPr>
          </a:p>
        </p:txBody>
      </p:sp>
      <p:graphicFrame>
        <p:nvGraphicFramePr>
          <p:cNvPr id="8" name="对象 7"/>
          <p:cNvGraphicFramePr>
            <a:graphicFrameLocks noChangeAspect="1"/>
          </p:cNvGraphicFramePr>
          <p:nvPr/>
        </p:nvGraphicFramePr>
        <p:xfrm>
          <a:off x="788034" y="5487442"/>
          <a:ext cx="4319588" cy="642937"/>
        </p:xfrm>
        <a:graphic>
          <a:graphicData uri="http://schemas.openxmlformats.org/presentationml/2006/ole">
            <mc:AlternateContent xmlns:mc="http://schemas.openxmlformats.org/markup-compatibility/2006">
              <mc:Choice xmlns:v="urn:schemas-microsoft-com:vml" Requires="v">
                <p:oleObj spid="_x0000_s16711" name="Equation" r:id="rId3" imgW="71323200" imgH="10668000" progId="Equation.DSMT4">
                  <p:embed/>
                </p:oleObj>
              </mc:Choice>
              <mc:Fallback>
                <p:oleObj name="Equation" r:id="rId3" imgW="71323200" imgH="10668000" progId="Equation.DSMT4">
                  <p:embed/>
                  <p:pic>
                    <p:nvPicPr>
                      <p:cNvPr id="0" name="对象 5"/>
                      <p:cNvPicPr>
                        <a:picLocks noChangeAspect="1" noChangeArrowheads="1"/>
                      </p:cNvPicPr>
                      <p:nvPr/>
                    </p:nvPicPr>
                    <p:blipFill>
                      <a:blip r:embed="rId4"/>
                      <a:srcRect/>
                      <a:stretch>
                        <a:fillRect/>
                      </a:stretch>
                    </p:blipFill>
                    <p:spPr bwMode="auto">
                      <a:xfrm>
                        <a:off x="788034" y="5487442"/>
                        <a:ext cx="4319588"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 name="矩形 48"/>
          <p:cNvSpPr/>
          <p:nvPr/>
        </p:nvSpPr>
        <p:spPr>
          <a:xfrm>
            <a:off x="141493" y="3523065"/>
            <a:ext cx="7992888" cy="400110"/>
          </a:xfrm>
          <a:prstGeom prst="rect">
            <a:avLst/>
          </a:prstGeom>
        </p:spPr>
        <p:txBody>
          <a:bodyPr wrap="square">
            <a:spAutoFit/>
          </a:bodyPr>
          <a:lstStyle/>
          <a:p>
            <a:pPr>
              <a:defRPr/>
            </a:pPr>
            <a:r>
              <a:rPr lang="en-US" altLang="zh-CN" sz="2000" dirty="0" smtClean="0">
                <a:latin typeface="+mj-lt"/>
              </a:rPr>
              <a:t>The length of the armada in the S frame is:</a:t>
            </a:r>
            <a:endParaRPr lang="zh-CN" altLang="zh-CN" sz="2000" dirty="0">
              <a:latin typeface="+mj-lt"/>
            </a:endParaRPr>
          </a:p>
        </p:txBody>
      </p:sp>
      <p:graphicFrame>
        <p:nvGraphicFramePr>
          <p:cNvPr id="30" name="对象 29"/>
          <p:cNvGraphicFramePr>
            <a:graphicFrameLocks noChangeAspect="1"/>
          </p:cNvGraphicFramePr>
          <p:nvPr/>
        </p:nvGraphicFramePr>
        <p:xfrm>
          <a:off x="826270" y="3940687"/>
          <a:ext cx="663575" cy="608013"/>
        </p:xfrm>
        <a:graphic>
          <a:graphicData uri="http://schemas.openxmlformats.org/presentationml/2006/ole">
            <mc:AlternateContent xmlns:mc="http://schemas.openxmlformats.org/markup-compatibility/2006">
              <mc:Choice xmlns:v="urn:schemas-microsoft-com:vml" Requires="v">
                <p:oleObj spid="_x0000_s16712" name="Equation" r:id="rId5" imgW="10972800" imgH="10058400" progId="Equation.DSMT4">
                  <p:embed/>
                </p:oleObj>
              </mc:Choice>
              <mc:Fallback>
                <p:oleObj name="Equation" r:id="rId5" imgW="10972800" imgH="10058400" progId="Equation.DSMT4">
                  <p:embed/>
                  <p:pic>
                    <p:nvPicPr>
                      <p:cNvPr id="0" name="对象 3"/>
                      <p:cNvPicPr>
                        <a:picLocks noChangeAspect="1" noChangeArrowheads="1"/>
                      </p:cNvPicPr>
                      <p:nvPr/>
                    </p:nvPicPr>
                    <p:blipFill>
                      <a:blip r:embed="rId6"/>
                      <a:srcRect/>
                      <a:stretch>
                        <a:fillRect/>
                      </a:stretch>
                    </p:blipFill>
                    <p:spPr bwMode="auto">
                      <a:xfrm>
                        <a:off x="826270" y="3940687"/>
                        <a:ext cx="663575"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 name="矩形 50"/>
          <p:cNvSpPr/>
          <p:nvPr/>
        </p:nvSpPr>
        <p:spPr>
          <a:xfrm>
            <a:off x="1718023" y="4075575"/>
            <a:ext cx="6912768" cy="369332"/>
          </a:xfrm>
          <a:prstGeom prst="rect">
            <a:avLst/>
          </a:prstGeom>
        </p:spPr>
        <p:txBody>
          <a:bodyPr wrap="square">
            <a:spAutoFit/>
          </a:bodyPr>
          <a:lstStyle/>
          <a:p>
            <a:pPr>
              <a:defRPr/>
            </a:pPr>
            <a:r>
              <a:rPr lang="en-US" altLang="zh-CN" sz="1800" dirty="0" smtClean="0">
                <a:latin typeface="+mj-lt"/>
              </a:rPr>
              <a:t>Where                          , relates to the S frame and armada’s frame    </a:t>
            </a:r>
            <a:endParaRPr lang="zh-CN" altLang="zh-CN" sz="1800" dirty="0">
              <a:latin typeface="+mj-lt"/>
            </a:endParaRPr>
          </a:p>
        </p:txBody>
      </p:sp>
      <p:graphicFrame>
        <p:nvGraphicFramePr>
          <p:cNvPr id="31" name="对象 30"/>
          <p:cNvGraphicFramePr>
            <a:graphicFrameLocks noChangeAspect="1"/>
          </p:cNvGraphicFramePr>
          <p:nvPr/>
        </p:nvGraphicFramePr>
        <p:xfrm>
          <a:off x="2510111" y="4061815"/>
          <a:ext cx="1402439" cy="383092"/>
        </p:xfrm>
        <a:graphic>
          <a:graphicData uri="http://schemas.openxmlformats.org/presentationml/2006/ole">
            <mc:AlternateContent xmlns:mc="http://schemas.openxmlformats.org/markup-compatibility/2006">
              <mc:Choice xmlns:v="urn:schemas-microsoft-com:vml" Requires="v">
                <p:oleObj spid="_x0000_s16713" name="Equation" r:id="rId7" imgW="23469600" imgH="6400800" progId="Equation.DSMT4">
                  <p:embed/>
                </p:oleObj>
              </mc:Choice>
              <mc:Fallback>
                <p:oleObj name="Equation" r:id="rId7" imgW="23469600" imgH="6400800" progId="Equation.DSMT4">
                  <p:embed/>
                  <p:pic>
                    <p:nvPicPr>
                      <p:cNvPr id="0" name="图片 16712"/>
                      <p:cNvPicPr/>
                      <p:nvPr/>
                    </p:nvPicPr>
                    <p:blipFill>
                      <a:blip r:embed="rId8"/>
                      <a:stretch>
                        <a:fillRect/>
                      </a:stretch>
                    </p:blipFill>
                    <p:spPr>
                      <a:xfrm>
                        <a:off x="2510111" y="4061815"/>
                        <a:ext cx="1402439" cy="383092"/>
                      </a:xfrm>
                      <a:prstGeom prst="rect">
                        <a:avLst/>
                      </a:prstGeom>
                    </p:spPr>
                  </p:pic>
                </p:oleObj>
              </mc:Fallback>
            </mc:AlternateContent>
          </a:graphicData>
        </a:graphic>
      </p:graphicFrame>
      <p:pic>
        <p:nvPicPr>
          <p:cNvPr id="16565" name="Picture 18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49799" y="2577540"/>
            <a:ext cx="5181600" cy="83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8"/>
          <p:cNvSpPr>
            <a:spLocks noChangeArrowheads="1"/>
          </p:cNvSpPr>
          <p:nvPr/>
        </p:nvSpPr>
        <p:spPr bwMode="auto">
          <a:xfrm>
            <a:off x="186680" y="739925"/>
            <a:ext cx="15985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120000"/>
              </a:lnSpc>
            </a:pPr>
            <a:r>
              <a:rPr lang="en-US" altLang="zh-TW" sz="2000" dirty="0">
                <a:latin typeface="Times New Roman" panose="02020603050405020304" pitchFamily="18" charset="0"/>
                <a:cs typeface="Times New Roman" panose="02020603050405020304" pitchFamily="18" charset="0"/>
              </a:rPr>
              <a:t>(c) </a:t>
            </a:r>
            <a:r>
              <a:rPr lang="en-US" altLang="zh-CN" sz="2000" dirty="0">
                <a:latin typeface="Times New Roman" panose="02020603050405020304" pitchFamily="18" charset="0"/>
                <a:cs typeface="Times New Roman" panose="02020603050405020304" pitchFamily="18" charset="0"/>
              </a:rPr>
              <a:t>in frame S</a:t>
            </a:r>
            <a:endParaRPr lang="en-US" altLang="zh-CN" sz="2000" dirty="0">
              <a:latin typeface="Times New Roman" panose="02020603050405020304" pitchFamily="18" charset="0"/>
              <a:cs typeface="Times New Roman" panose="02020603050405020304" pitchFamily="18" charset="0"/>
            </a:endParaRPr>
          </a:p>
        </p:txBody>
      </p:sp>
      <p:sp>
        <p:nvSpPr>
          <p:cNvPr id="16387" name="Rectangle 1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6388" name="Rectangle 1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6389" name="Rectangle 2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6390" name="Rectangle 4"/>
          <p:cNvSpPr>
            <a:spLocks noChangeArrowheads="1"/>
          </p:cNvSpPr>
          <p:nvPr/>
        </p:nvSpPr>
        <p:spPr bwMode="auto">
          <a:xfrm>
            <a:off x="358775" y="115888"/>
            <a:ext cx="85344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0850" indent="-45085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nSpc>
                <a:spcPct val="90000"/>
              </a:lnSpc>
            </a:pPr>
            <a:r>
              <a:rPr lang="en-US" altLang="zh-TW" sz="3000">
                <a:latin typeface="Times New Roman" panose="02020603050405020304" pitchFamily="18" charset="0"/>
                <a:ea typeface="MS PGothic" panose="020B0600070205080204" pitchFamily="34" charset="-128"/>
              </a:rPr>
              <a:t>Answer 2</a:t>
            </a:r>
            <a:endParaRPr lang="en-US" altLang="zh-TW" sz="3000">
              <a:latin typeface="Times New Roman" panose="02020603050405020304" pitchFamily="18" charset="0"/>
              <a:ea typeface="MS PGothic" panose="020B0600070205080204" pitchFamily="34" charset="-128"/>
            </a:endParaRPr>
          </a:p>
        </p:txBody>
      </p:sp>
      <p:sp>
        <p:nvSpPr>
          <p:cNvPr id="2" name="矩形 1"/>
          <p:cNvSpPr/>
          <p:nvPr/>
        </p:nvSpPr>
        <p:spPr>
          <a:xfrm>
            <a:off x="133845" y="2006164"/>
            <a:ext cx="8902651" cy="400110"/>
          </a:xfrm>
          <a:prstGeom prst="rect">
            <a:avLst/>
          </a:prstGeom>
        </p:spPr>
        <p:txBody>
          <a:bodyPr wrap="square">
            <a:spAutoFit/>
          </a:bodyPr>
          <a:lstStyle/>
          <a:p>
            <a:r>
              <a:rPr lang="en-US" altLang="zh-CN" sz="1800" dirty="0" smtClean="0">
                <a:latin typeface="Times New Roman" panose="02020603050405020304" pitchFamily="18" charset="0"/>
                <a:cs typeface="Times New Roman" panose="02020603050405020304" pitchFamily="18" charset="0"/>
              </a:rPr>
              <a:t>Alternatively, we also can get the time interval in S frame from the </a:t>
            </a:r>
            <a:r>
              <a:rPr lang="en-US" altLang="zh-CN" sz="2000" dirty="0">
                <a:solidFill>
                  <a:srgbClr val="000000"/>
                </a:solidFill>
                <a:latin typeface="Times New Roman" panose="02020603050405020304"/>
              </a:rPr>
              <a:t>Lorentz </a:t>
            </a:r>
            <a:r>
              <a:rPr lang="en-US" altLang="zh-CN" sz="2000" dirty="0" smtClean="0">
                <a:solidFill>
                  <a:srgbClr val="000000"/>
                </a:solidFill>
                <a:latin typeface="Times New Roman" panose="02020603050405020304"/>
              </a:rPr>
              <a:t>transformation:</a:t>
            </a:r>
            <a:r>
              <a:rPr lang="en-US" altLang="zh-CN" sz="1800" dirty="0" smtClean="0">
                <a:latin typeface="Times New Roman" panose="02020603050405020304" pitchFamily="18" charset="0"/>
                <a:cs typeface="Times New Roman" panose="02020603050405020304" pitchFamily="18" charset="0"/>
              </a:rPr>
              <a:t> </a:t>
            </a:r>
            <a:endParaRPr lang="zh-CN" altLang="en-US" sz="1800" dirty="0">
              <a:latin typeface="Times New Roman" panose="02020603050405020304" pitchFamily="18" charset="0"/>
              <a:cs typeface="Times New Roman" panose="02020603050405020304" pitchFamily="18" charset="0"/>
            </a:endParaRPr>
          </a:p>
        </p:txBody>
      </p:sp>
      <p:sp>
        <p:nvSpPr>
          <p:cNvPr id="3" name="矩形 2"/>
          <p:cNvSpPr/>
          <p:nvPr/>
        </p:nvSpPr>
        <p:spPr>
          <a:xfrm>
            <a:off x="252772" y="1232521"/>
            <a:ext cx="7453586" cy="707886"/>
          </a:xfrm>
          <a:prstGeom prst="rect">
            <a:avLst/>
          </a:prstGeom>
        </p:spPr>
        <p:txBody>
          <a:bodyPr wrap="square">
            <a:spAutoFit/>
          </a:bodyPr>
          <a:lstStyle/>
          <a:p>
            <a:r>
              <a:rPr lang="en-US" altLang="zh-CN" sz="2000" dirty="0" smtClean="0">
                <a:solidFill>
                  <a:srgbClr val="FF0000"/>
                </a:solidFill>
                <a:latin typeface="Times New Roman" panose="02020603050405020304" pitchFamily="18" charset="0"/>
                <a:cs typeface="Times New Roman" panose="02020603050405020304" pitchFamily="18" charset="0"/>
              </a:rPr>
              <a:t>Event 1: </a:t>
            </a:r>
            <a:r>
              <a:rPr lang="en-US" altLang="zh-CN" sz="2000" dirty="0" smtClean="0">
                <a:latin typeface="Times New Roman" panose="02020603050405020304" pitchFamily="18" charset="0"/>
                <a:cs typeface="Times New Roman" panose="02020603050405020304" pitchFamily="18" charset="0"/>
              </a:rPr>
              <a:t>messenger leaves the rear of the armada (</a:t>
            </a:r>
            <a:r>
              <a:rPr lang="en-US" altLang="zh-CN" sz="2000" i="1" dirty="0" smtClean="0">
                <a:latin typeface="Times New Roman" panose="02020603050405020304" pitchFamily="18" charset="0"/>
                <a:cs typeface="Times New Roman" panose="02020603050405020304" pitchFamily="18" charset="0"/>
              </a:rPr>
              <a:t>x</a:t>
            </a:r>
            <a:r>
              <a:rPr lang="en-US" altLang="zh-CN" sz="2000" baseline="-25000" dirty="0" smtClean="0">
                <a:latin typeface="Times New Roman" panose="02020603050405020304" pitchFamily="18" charset="0"/>
                <a:cs typeface="Times New Roman" panose="02020603050405020304" pitchFamily="18" charset="0"/>
              </a:rPr>
              <a:t>1</a:t>
            </a:r>
            <a:r>
              <a:rPr lang="en-US" altLang="zh-CN" sz="2000" dirty="0" smtClean="0">
                <a:latin typeface="Times New Roman" panose="02020603050405020304" pitchFamily="18" charset="0"/>
                <a:cs typeface="Times New Roman" panose="02020603050405020304" pitchFamily="18" charset="0"/>
              </a:rPr>
              <a:t>); </a:t>
            </a:r>
            <a:endParaRPr lang="en-US" altLang="zh-CN" sz="2000" i="1" dirty="0" smtClean="0">
              <a:latin typeface="Times New Roman" panose="02020603050405020304" pitchFamily="18" charset="0"/>
              <a:cs typeface="Times New Roman" panose="02020603050405020304" pitchFamily="18" charset="0"/>
            </a:endParaRPr>
          </a:p>
          <a:p>
            <a:r>
              <a:rPr lang="en-US" altLang="zh-CN" sz="2000" dirty="0" smtClean="0">
                <a:solidFill>
                  <a:srgbClr val="FF0000"/>
                </a:solidFill>
                <a:latin typeface="Times New Roman" panose="02020603050405020304" pitchFamily="18" charset="0"/>
                <a:cs typeface="Times New Roman" panose="02020603050405020304" pitchFamily="18" charset="0"/>
              </a:rPr>
              <a:t>Event 2:</a:t>
            </a:r>
            <a:r>
              <a:rPr lang="en-US" altLang="zh-CN" sz="2000" dirty="0" smtClean="0">
                <a:latin typeface="Times New Roman" panose="02020603050405020304" pitchFamily="18" charset="0"/>
                <a:cs typeface="Times New Roman" panose="02020603050405020304" pitchFamily="18" charset="0"/>
              </a:rPr>
              <a:t> messenger arrives at the front of the armada (</a:t>
            </a:r>
            <a:r>
              <a:rPr lang="en-US" altLang="zh-CN" sz="2000" i="1" dirty="0" smtClean="0">
                <a:latin typeface="Times New Roman" panose="02020603050405020304" pitchFamily="18" charset="0"/>
                <a:cs typeface="Times New Roman" panose="02020603050405020304" pitchFamily="18" charset="0"/>
              </a:rPr>
              <a:t>x</a:t>
            </a:r>
            <a:r>
              <a:rPr lang="en-US" altLang="zh-CN" sz="2000" baseline="-25000" dirty="0" smtClean="0">
                <a:latin typeface="Times New Roman" panose="02020603050405020304" pitchFamily="18" charset="0"/>
                <a:cs typeface="Times New Roman" panose="02020603050405020304" pitchFamily="18" charset="0"/>
              </a:rPr>
              <a:t>2</a:t>
            </a:r>
            <a:r>
              <a:rPr lang="en-US" altLang="zh-CN" sz="2000" dirty="0" smtClean="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p:graphicFrame>
        <p:nvGraphicFramePr>
          <p:cNvPr id="5" name="对象 4"/>
          <p:cNvGraphicFramePr>
            <a:graphicFrameLocks noChangeAspect="1"/>
          </p:cNvGraphicFramePr>
          <p:nvPr/>
        </p:nvGraphicFramePr>
        <p:xfrm>
          <a:off x="899592" y="2421901"/>
          <a:ext cx="2128838" cy="598488"/>
        </p:xfrm>
        <a:graphic>
          <a:graphicData uri="http://schemas.openxmlformats.org/presentationml/2006/ole">
            <mc:AlternateContent xmlns:mc="http://schemas.openxmlformats.org/markup-compatibility/2006">
              <mc:Choice xmlns:v="urn:schemas-microsoft-com:vml" Requires="v">
                <p:oleObj spid="_x0000_s17452" name="Equation" r:id="rId1" imgW="27432000" imgH="9448800" progId="Equation.DSMT4">
                  <p:embed/>
                </p:oleObj>
              </mc:Choice>
              <mc:Fallback>
                <p:oleObj name="Equation" r:id="rId1" imgW="27432000" imgH="9448800" progId="Equation.DSMT4">
                  <p:embed/>
                  <p:pic>
                    <p:nvPicPr>
                      <p:cNvPr id="0" name="对象 4"/>
                      <p:cNvPicPr>
                        <a:picLocks noChangeAspect="1" noChangeArrowheads="1"/>
                      </p:cNvPicPr>
                      <p:nvPr/>
                    </p:nvPicPr>
                    <p:blipFill>
                      <a:blip r:embed="rId2"/>
                      <a:srcRect/>
                      <a:stretch>
                        <a:fillRect/>
                      </a:stretch>
                    </p:blipFill>
                    <p:spPr bwMode="auto">
                      <a:xfrm>
                        <a:off x="899592" y="2421901"/>
                        <a:ext cx="2128838"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矩形 17"/>
          <p:cNvSpPr/>
          <p:nvPr/>
        </p:nvSpPr>
        <p:spPr>
          <a:xfrm>
            <a:off x="229567" y="3068960"/>
            <a:ext cx="8902651" cy="369332"/>
          </a:xfrm>
          <a:prstGeom prst="rect">
            <a:avLst/>
          </a:prstGeom>
        </p:spPr>
        <p:txBody>
          <a:bodyPr wrap="square">
            <a:spAutoFit/>
          </a:bodyPr>
          <a:lstStyle/>
          <a:p>
            <a:r>
              <a:rPr lang="en-US" altLang="zh-CN" sz="1800" dirty="0" smtClean="0">
                <a:latin typeface="Times New Roman" panose="02020603050405020304" pitchFamily="18" charset="0"/>
                <a:cs typeface="Times New Roman" panose="02020603050405020304" pitchFamily="18" charset="0"/>
              </a:rPr>
              <a:t>For the frame S and message’s frame:</a:t>
            </a:r>
            <a:endParaRPr lang="zh-CN" altLang="en-US" sz="1800" dirty="0">
              <a:latin typeface="Times New Roman" panose="02020603050405020304" pitchFamily="18" charset="0"/>
              <a:cs typeface="Times New Roman" panose="02020603050405020304" pitchFamily="18" charset="0"/>
            </a:endParaRPr>
          </a:p>
        </p:txBody>
      </p:sp>
      <p:sp>
        <p:nvSpPr>
          <p:cNvPr id="19" name="矩形 18"/>
          <p:cNvSpPr/>
          <p:nvPr/>
        </p:nvSpPr>
        <p:spPr>
          <a:xfrm>
            <a:off x="276411" y="4221088"/>
            <a:ext cx="8902651" cy="369332"/>
          </a:xfrm>
          <a:prstGeom prst="rect">
            <a:avLst/>
          </a:prstGeom>
        </p:spPr>
        <p:txBody>
          <a:bodyPr wrap="square">
            <a:spAutoFit/>
          </a:bodyPr>
          <a:lstStyle/>
          <a:p>
            <a:r>
              <a:rPr lang="en-US" altLang="zh-CN" sz="1800" dirty="0" smtClean="0">
                <a:latin typeface="Times New Roman" panose="02020603050405020304" pitchFamily="18" charset="0"/>
                <a:cs typeface="Times New Roman" panose="02020603050405020304" pitchFamily="18" charset="0"/>
              </a:rPr>
              <a:t>For the frame S and armada’s frame:</a:t>
            </a:r>
            <a:endParaRPr lang="zh-CN" altLang="en-US" sz="1800" dirty="0">
              <a:latin typeface="Times New Roman" panose="02020603050405020304" pitchFamily="18" charset="0"/>
              <a:cs typeface="Times New Roman" panose="02020603050405020304" pitchFamily="18" charset="0"/>
            </a:endParaRPr>
          </a:p>
        </p:txBody>
      </p:sp>
      <p:graphicFrame>
        <p:nvGraphicFramePr>
          <p:cNvPr id="6" name="对象 5"/>
          <p:cNvGraphicFramePr>
            <a:graphicFrameLocks noChangeAspect="1"/>
          </p:cNvGraphicFramePr>
          <p:nvPr/>
        </p:nvGraphicFramePr>
        <p:xfrm>
          <a:off x="827584" y="3598466"/>
          <a:ext cx="4435475" cy="611187"/>
        </p:xfrm>
        <a:graphic>
          <a:graphicData uri="http://schemas.openxmlformats.org/presentationml/2006/ole">
            <mc:AlternateContent xmlns:mc="http://schemas.openxmlformats.org/markup-compatibility/2006">
              <mc:Choice xmlns:v="urn:schemas-microsoft-com:vml" Requires="v">
                <p:oleObj spid="_x0000_s17453" name="Equation" r:id="rId3" imgW="65532000" imgH="10363200" progId="Equation.DSMT4">
                  <p:embed/>
                </p:oleObj>
              </mc:Choice>
              <mc:Fallback>
                <p:oleObj name="Equation" r:id="rId3" imgW="65532000" imgH="10363200" progId="Equation.DSMT4">
                  <p:embed/>
                  <p:pic>
                    <p:nvPicPr>
                      <p:cNvPr id="0" name="对象 4"/>
                      <p:cNvPicPr>
                        <a:picLocks noChangeAspect="1" noChangeArrowheads="1"/>
                      </p:cNvPicPr>
                      <p:nvPr/>
                    </p:nvPicPr>
                    <p:blipFill>
                      <a:blip r:embed="rId4"/>
                      <a:srcRect/>
                      <a:stretch>
                        <a:fillRect/>
                      </a:stretch>
                    </p:blipFill>
                    <p:spPr bwMode="auto">
                      <a:xfrm>
                        <a:off x="827584" y="3598466"/>
                        <a:ext cx="4435475" cy="611187"/>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nvGraphicFramePr>
        <p:xfrm>
          <a:off x="827584" y="4797152"/>
          <a:ext cx="4968552" cy="611188"/>
        </p:xfrm>
        <a:graphic>
          <a:graphicData uri="http://schemas.openxmlformats.org/presentationml/2006/ole">
            <mc:AlternateContent xmlns:mc="http://schemas.openxmlformats.org/markup-compatibility/2006">
              <mc:Choice xmlns:v="urn:schemas-microsoft-com:vml" Requires="v">
                <p:oleObj spid="_x0000_s17454" name="Equation" r:id="rId5" imgW="80162400" imgH="10363200" progId="Equation.DSMT4">
                  <p:embed/>
                </p:oleObj>
              </mc:Choice>
              <mc:Fallback>
                <p:oleObj name="Equation" r:id="rId5" imgW="80162400" imgH="10363200" progId="Equation.DSMT4">
                  <p:embed/>
                  <p:pic>
                    <p:nvPicPr>
                      <p:cNvPr id="0" name="对象 5"/>
                      <p:cNvPicPr>
                        <a:picLocks noChangeAspect="1" noChangeArrowheads="1"/>
                      </p:cNvPicPr>
                      <p:nvPr/>
                    </p:nvPicPr>
                    <p:blipFill>
                      <a:blip r:embed="rId6"/>
                      <a:srcRect/>
                      <a:stretch>
                        <a:fillRect/>
                      </a:stretch>
                    </p:blipFill>
                    <p:spPr bwMode="auto">
                      <a:xfrm>
                        <a:off x="827584" y="4797152"/>
                        <a:ext cx="4968552" cy="611188"/>
                      </a:xfrm>
                      <a:prstGeom prst="rect">
                        <a:avLst/>
                      </a:prstGeom>
                      <a:noFill/>
                      <a:ln>
                        <a:noFill/>
                      </a:ln>
                    </p:spPr>
                  </p:pic>
                </p:oleObj>
              </mc:Fallback>
            </mc:AlternateContent>
          </a:graphicData>
        </a:graphic>
      </p:graphicFrame>
    </p:spTree>
  </p:cSld>
  <p:clrMapOvr>
    <a:masterClrMapping/>
  </p:clrMapOvr>
</p:sld>
</file>

<file path=ppt/tags/tag1.xml><?xml version="1.0" encoding="utf-8"?>
<p:tagLst xmlns:p="http://schemas.openxmlformats.org/presentationml/2006/main">
  <p:tag name="commondata" val="eyJoZGlkIjoiMzI2YjcyNGM2MzE4YjNhNGNjOWExM2JhZjVlNjM4ODIifQ=="/>
</p:tagLst>
</file>

<file path=ppt/theme/theme1.xml><?xml version="1.0" encoding="utf-8"?>
<a:theme xmlns:a="http://schemas.openxmlformats.org/drawingml/2006/main" name="C6eActiveLectureQuestions">
  <a:themeElements>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fontScheme name="C6eActiveLectureQuestions">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alt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C6eActiveLectureQuestion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6eActiveLectureQuestion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6eActiveLectureQuestion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6eActiveLectureQuestion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6eActiveLectureQuestion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6eActiveLectureQuestion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6eActiveLectureQuestion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6eActiveLectureQuestion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6eActiveLectureQuestion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6eActiveLectureQuestion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6eActiveLectureQuestion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6eActiveLectureQuestions 13">
        <a:dk1>
          <a:srgbClr val="000000"/>
        </a:dk1>
        <a:lt1>
          <a:srgbClr val="FFFFFF"/>
        </a:lt1>
        <a:dk2>
          <a:srgbClr val="005472"/>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6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3226</Words>
  <Application>WPS 演示</Application>
  <PresentationFormat>全屏显示(4:3)</PresentationFormat>
  <Paragraphs>127</Paragraphs>
  <Slides>13</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23</vt:i4>
      </vt:variant>
      <vt:variant>
        <vt:lpstr>幻灯片标题</vt:lpstr>
      </vt:variant>
      <vt:variant>
        <vt:i4>13</vt:i4>
      </vt:variant>
    </vt:vector>
  </HeadingPairs>
  <TitlesOfParts>
    <vt:vector size="47" baseType="lpstr">
      <vt:lpstr>Arial</vt:lpstr>
      <vt:lpstr>宋体</vt:lpstr>
      <vt:lpstr>Wingdings</vt:lpstr>
      <vt:lpstr>Times New Roman</vt:lpstr>
      <vt:lpstr>MS PGothic</vt:lpstr>
      <vt:lpstr>Times</vt:lpstr>
      <vt:lpstr>Cambria Math</vt:lpstr>
      <vt:lpstr>Times New Roman</vt:lpstr>
      <vt:lpstr>微软雅黑</vt:lpstr>
      <vt:lpstr>Arial Unicode MS</vt:lpstr>
      <vt:lpstr>C6eActiveLectureQuestions</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21</dc:title>
  <dc:creator>System 104</dc:creator>
  <cp:lastModifiedBy>若风</cp:lastModifiedBy>
  <cp:revision>734</cp:revision>
  <cp:lastPrinted>2016-05-25T07:47:00Z</cp:lastPrinted>
  <dcterms:created xsi:type="dcterms:W3CDTF">2013-03-08T13:55:00Z</dcterms:created>
  <dcterms:modified xsi:type="dcterms:W3CDTF">2024-05-22T01:51:10Z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473557616265488787D95A3E72E96968_12</vt:lpwstr>
  </property>
</Properties>
</file>