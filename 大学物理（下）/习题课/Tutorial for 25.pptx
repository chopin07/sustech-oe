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82" r:id="rId2"/>
    <p:sldMasterId id="2147483693" r:id="rId3"/>
    <p:sldMasterId id="2147483704" r:id="rId4"/>
    <p:sldMasterId id="2147483715" r:id="rId5"/>
  </p:sldMasterIdLst>
  <p:notesMasterIdLst>
    <p:notesMasterId r:id="rId24"/>
  </p:notesMasterIdLst>
  <p:handoutMasterIdLst>
    <p:handoutMasterId r:id="rId25"/>
  </p:handoutMasterIdLst>
  <p:sldIdLst>
    <p:sldId id="271" r:id="rId6"/>
    <p:sldId id="272" r:id="rId7"/>
    <p:sldId id="273" r:id="rId8"/>
    <p:sldId id="274" r:id="rId9"/>
    <p:sldId id="275" r:id="rId10"/>
    <p:sldId id="276" r:id="rId11"/>
    <p:sldId id="279" r:id="rId12"/>
    <p:sldId id="280" r:id="rId13"/>
    <p:sldId id="281" r:id="rId14"/>
    <p:sldId id="258" r:id="rId15"/>
    <p:sldId id="263" r:id="rId16"/>
    <p:sldId id="259" r:id="rId17"/>
    <p:sldId id="265" r:id="rId18"/>
    <p:sldId id="260" r:id="rId19"/>
    <p:sldId id="266" r:id="rId20"/>
    <p:sldId id="261" r:id="rId21"/>
    <p:sldId id="267" r:id="rId22"/>
    <p:sldId id="268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3" d="100"/>
          <a:sy n="8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60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41FF4-10F1-4344-AED1-225022F79095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91B0F-2F40-499D-A1D5-20BAC96E0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60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54D89-1BE6-4BDD-8F63-0F6F123914B1}" type="datetimeFigureOut">
              <a:rPr lang="zh-CN" altLang="en-US" smtClean="0"/>
              <a:t>2023/3/7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C655F-7417-4F93-AF58-C18D2F8D9D2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2829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58465" y="686474"/>
            <a:ext cx="4941072" cy="3428114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smtClean="0"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Without dielectric,</a:t>
            </a:r>
            <a:r>
              <a:rPr lang="en-US" altLang="zh-CN" baseline="0" dirty="0"/>
              <a:t> only free charge is involved, so gauss’s law is </a:t>
            </a:r>
          </a:p>
          <a:p>
            <a:r>
              <a:rPr lang="en-US" altLang="zh-CN" dirty="0"/>
              <a:t>With</a:t>
            </a:r>
            <a:r>
              <a:rPr lang="en-US" altLang="zh-CN" baseline="0" dirty="0"/>
              <a:t> dielectric, we know on the top and bottom surfaces of the dielectric have induced charge which can decrease the original E field, because involving the free charge and induced charge, the gauss’s law can be written as this</a:t>
            </a:r>
            <a:r>
              <a:rPr lang="zh-CN" altLang="en-US" baseline="0" dirty="0"/>
              <a:t>：</a:t>
            </a:r>
            <a:endParaRPr lang="en-US" altLang="zh-CN" baseline="0" dirty="0"/>
          </a:p>
          <a:p>
            <a:r>
              <a:rPr lang="en-US" altLang="zh-CN" baseline="0" dirty="0"/>
              <a:t> </a:t>
            </a:r>
            <a:endParaRPr lang="en-US" altLang="zh-CN" dirty="0"/>
          </a:p>
          <a:p>
            <a:r>
              <a:rPr lang="en-US" altLang="zh-CN" dirty="0"/>
              <a:t>We</a:t>
            </a:r>
            <a:r>
              <a:rPr lang="en-US" altLang="zh-CN" baseline="0" dirty="0"/>
              <a:t> use k to describe the ability of the dielectric to weak the original E field, let the right side of gauss’s law only involving free charge, the gauss’s law is also can be written as:</a:t>
            </a:r>
          </a:p>
          <a:p>
            <a:endParaRPr lang="en-US" altLang="zh-CN" baseline="0" dirty="0"/>
          </a:p>
          <a:p>
            <a:r>
              <a:rPr lang="en-US" altLang="zh-CN" baseline="0" dirty="0"/>
              <a:t>The induced surface charge have been taken fully into account by this k.</a:t>
            </a:r>
          </a:p>
          <a:p>
            <a:r>
              <a:rPr lang="en-US" altLang="zh-CN" baseline="0" dirty="0"/>
              <a:t>Compare to these two equation, we can get this relation between free charge and induced charge. </a:t>
            </a:r>
          </a:p>
          <a:p>
            <a:endParaRPr lang="en-US" altLang="zh-CN" baseline="0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9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5697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84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89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54761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12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91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49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301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131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2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95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09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0024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10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47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8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6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25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28993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06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300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779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6235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1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171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731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060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068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72037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441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945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9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9587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70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6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754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440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21193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51027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58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8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927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8868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313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516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567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161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2129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67126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16679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11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922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922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218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b">
            <a:spAutoFit/>
          </a:bodyPr>
          <a:lstStyle>
            <a:lvl1pPr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37931725" indent="-37474525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zh-CN" sz="1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25  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-  </a:t>
            </a:r>
            <a:fld id="{C0E60604-F5AF-4D58-81B3-5329A2BA5166}" type="slidenum">
              <a:rPr lang="en-US" altLang="zh-CN" sz="1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</a:p>
          <a:p>
            <a:pPr lvl="2"/>
            <a:r>
              <a:rPr lang="en-US" altLang="zh-CN" smtClean="0"/>
              <a:t>Second level</a:t>
            </a:r>
          </a:p>
          <a:p>
            <a:pPr lvl="3"/>
            <a:r>
              <a:rPr lang="en-US" altLang="zh-CN" smtClean="0"/>
              <a:t>Third level</a:t>
            </a:r>
          </a:p>
          <a:p>
            <a:pPr lvl="4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18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defRPr sz="3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800">
          <a:solidFill>
            <a:schemeClr val="tx1"/>
          </a:solidFill>
          <a:latin typeface="+mj-lt"/>
          <a:ea typeface="MS PGothic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itchFamily="34" charset="-128"/>
        </a:defRPr>
      </a:lvl4pPr>
      <a:lvl5pPr marL="2286000" indent="-334963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600">
          <a:solidFill>
            <a:schemeClr val="tx1"/>
          </a:solidFill>
          <a:latin typeface="+mj-lt"/>
          <a:ea typeface="MS PGothic" pitchFamily="34" charset="-128"/>
        </a:defRPr>
      </a:lvl5pPr>
      <a:lvl6pPr marL="27432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b">
            <a:spAutoFit/>
          </a:bodyPr>
          <a:lstStyle>
            <a:lvl1pPr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37931725" indent="-37474525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zh-CN" sz="1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25  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-  </a:t>
            </a:r>
            <a:fld id="{C0E60604-F5AF-4D58-81B3-5329A2BA5166}" type="slidenum">
              <a:rPr lang="en-US" altLang="zh-CN" sz="1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</a:p>
          <a:p>
            <a:pPr lvl="2"/>
            <a:r>
              <a:rPr lang="en-US" altLang="zh-CN" smtClean="0"/>
              <a:t>Second level</a:t>
            </a:r>
          </a:p>
          <a:p>
            <a:pPr lvl="3"/>
            <a:r>
              <a:rPr lang="en-US" altLang="zh-CN" smtClean="0"/>
              <a:t>Third level</a:t>
            </a:r>
          </a:p>
          <a:p>
            <a:pPr lvl="4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231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defRPr sz="3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800">
          <a:solidFill>
            <a:schemeClr val="tx1"/>
          </a:solidFill>
          <a:latin typeface="+mj-lt"/>
          <a:ea typeface="MS PGothic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itchFamily="34" charset="-128"/>
        </a:defRPr>
      </a:lvl4pPr>
      <a:lvl5pPr marL="2286000" indent="-334963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600">
          <a:solidFill>
            <a:schemeClr val="tx1"/>
          </a:solidFill>
          <a:latin typeface="+mj-lt"/>
          <a:ea typeface="MS PGothic" pitchFamily="34" charset="-128"/>
        </a:defRPr>
      </a:lvl5pPr>
      <a:lvl6pPr marL="27432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b">
            <a:spAutoFit/>
          </a:bodyPr>
          <a:lstStyle>
            <a:lvl1pPr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37931725" indent="-37474525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zh-CN" sz="1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25  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-  </a:t>
            </a:r>
            <a:fld id="{C0E60604-F5AF-4D58-81B3-5329A2BA5166}" type="slidenum">
              <a:rPr lang="en-US" altLang="zh-CN" sz="1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</a:p>
          <a:p>
            <a:pPr lvl="2"/>
            <a:r>
              <a:rPr lang="en-US" altLang="zh-CN" smtClean="0"/>
              <a:t>Second level</a:t>
            </a:r>
          </a:p>
          <a:p>
            <a:pPr lvl="3"/>
            <a:r>
              <a:rPr lang="en-US" altLang="zh-CN" smtClean="0"/>
              <a:t>Third level</a:t>
            </a:r>
          </a:p>
          <a:p>
            <a:pPr lvl="4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15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defRPr sz="3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800">
          <a:solidFill>
            <a:schemeClr val="tx1"/>
          </a:solidFill>
          <a:latin typeface="+mj-lt"/>
          <a:ea typeface="MS PGothic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itchFamily="34" charset="-128"/>
        </a:defRPr>
      </a:lvl4pPr>
      <a:lvl5pPr marL="2286000" indent="-334963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600">
          <a:solidFill>
            <a:schemeClr val="tx1"/>
          </a:solidFill>
          <a:latin typeface="+mj-lt"/>
          <a:ea typeface="MS PGothic" pitchFamily="34" charset="-128"/>
        </a:defRPr>
      </a:lvl5pPr>
      <a:lvl6pPr marL="27432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b">
            <a:spAutoFit/>
          </a:bodyPr>
          <a:lstStyle>
            <a:lvl1pPr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37931725" indent="-37474525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zh-CN" sz="1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25  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-  </a:t>
            </a:r>
            <a:fld id="{C0E60604-F5AF-4D58-81B3-5329A2BA5166}" type="slidenum">
              <a:rPr lang="en-US" altLang="zh-CN" sz="1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</a:p>
          <a:p>
            <a:pPr lvl="2"/>
            <a:r>
              <a:rPr lang="en-US" altLang="zh-CN" smtClean="0"/>
              <a:t>Second level</a:t>
            </a:r>
          </a:p>
          <a:p>
            <a:pPr lvl="3"/>
            <a:r>
              <a:rPr lang="en-US" altLang="zh-CN" smtClean="0"/>
              <a:t>Third level</a:t>
            </a:r>
          </a:p>
          <a:p>
            <a:pPr lvl="4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508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defRPr sz="3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800">
          <a:solidFill>
            <a:schemeClr val="tx1"/>
          </a:solidFill>
          <a:latin typeface="+mj-lt"/>
          <a:ea typeface="MS PGothic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itchFamily="34" charset="-128"/>
        </a:defRPr>
      </a:lvl4pPr>
      <a:lvl5pPr marL="2286000" indent="-334963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600">
          <a:solidFill>
            <a:schemeClr val="tx1"/>
          </a:solidFill>
          <a:latin typeface="+mj-lt"/>
          <a:ea typeface="MS PGothic" pitchFamily="34" charset="-128"/>
        </a:defRPr>
      </a:lvl5pPr>
      <a:lvl6pPr marL="27432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b">
            <a:spAutoFit/>
          </a:bodyPr>
          <a:lstStyle>
            <a:lvl1pPr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37931725" indent="-37474525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zh-CN" sz="1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1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25  </a:t>
            </a:r>
            <a:r>
              <a:rPr lang="en-US" altLang="zh-CN" sz="1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-  </a:t>
            </a:r>
            <a:fld id="{C0E60604-F5AF-4D58-81B3-5329A2BA5166}" type="slidenum">
              <a:rPr lang="en-US" altLang="zh-CN" sz="1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31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</a:p>
          <a:p>
            <a:pPr lvl="2"/>
            <a:r>
              <a:rPr lang="en-US" altLang="zh-CN" smtClean="0"/>
              <a:t>Second level</a:t>
            </a:r>
          </a:p>
          <a:p>
            <a:pPr lvl="3"/>
            <a:r>
              <a:rPr lang="en-US" altLang="zh-CN" smtClean="0"/>
              <a:t>Third level</a:t>
            </a:r>
          </a:p>
          <a:p>
            <a:pPr lvl="4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0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MS PGothic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  <a:ea typeface="MS PGothic" pitchFamily="34" charset="-128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defRPr sz="30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MS PGothic" pitchFamily="34" charset="-128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800">
          <a:solidFill>
            <a:schemeClr val="tx1"/>
          </a:solidFill>
          <a:latin typeface="+mj-lt"/>
          <a:ea typeface="MS PGothic" pitchFamily="34" charset="-128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MS PGothic" pitchFamily="34" charset="-128"/>
        </a:defRPr>
      </a:lvl4pPr>
      <a:lvl5pPr marL="2286000" indent="-334963" algn="l" rtl="0" eaLnBrk="0" fontAlgn="base" hangingPunct="0">
        <a:spcBef>
          <a:spcPct val="45000"/>
        </a:spcBef>
        <a:spcAft>
          <a:spcPct val="20000"/>
        </a:spcAft>
        <a:buClr>
          <a:srgbClr val="D33325"/>
        </a:buClr>
        <a:buFont typeface="Times New Roman" pitchFamily="18" charset="0"/>
        <a:buChar char="–"/>
        <a:defRPr sz="2600">
          <a:solidFill>
            <a:schemeClr val="tx1"/>
          </a:solidFill>
          <a:latin typeface="+mj-lt"/>
          <a:ea typeface="MS PGothic" pitchFamily="34" charset="-128"/>
        </a:defRPr>
      </a:lvl5pPr>
      <a:lvl6pPr marL="27432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6pPr>
      <a:lvl7pPr marL="32004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7pPr>
      <a:lvl8pPr marL="36576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8pPr>
      <a:lvl9pPr marL="4114800" indent="-334963" algn="l" rtl="0" fontAlgn="base">
        <a:spcBef>
          <a:spcPct val="45000"/>
        </a:spcBef>
        <a:spcAft>
          <a:spcPct val="20000"/>
        </a:spcAft>
        <a:buClr>
          <a:srgbClr val="D33325"/>
        </a:buClr>
        <a:buFont typeface="Times New Roman" charset="0"/>
        <a:buChar char="–"/>
        <a:defRPr sz="2600">
          <a:solidFill>
            <a:schemeClr val="tx1"/>
          </a:solidFill>
          <a:latin typeface="+mj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5.wmf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image" Target="../media/image33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g"/><Relationship Id="rId7" Type="http://schemas.openxmlformats.org/officeDocument/2006/relationships/image" Target="../media/image41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10" Type="http://schemas.openxmlformats.org/officeDocument/2006/relationships/image" Target="../media/image44.png"/><Relationship Id="rId4" Type="http://schemas.openxmlformats.org/officeDocument/2006/relationships/image" Target="../media/image38.jp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Key words</a:t>
            </a:r>
            <a:endParaRPr lang="zh-CN" altLang="en-US" smtClean="0">
              <a:ea typeface="宋体" pitchFamily="2" charset="-122"/>
            </a:endParaRP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2820794" y="764704"/>
            <a:ext cx="316736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400"/>
              </a:spcBef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Capacitance </a:t>
            </a:r>
          </a:p>
          <a:p>
            <a:pPr>
              <a:spcBef>
                <a:spcPts val="2400"/>
              </a:spcBef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Charging a capacitor</a:t>
            </a:r>
          </a:p>
          <a:p>
            <a:pPr>
              <a:spcBef>
                <a:spcPts val="2400"/>
              </a:spcBef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In parallel</a:t>
            </a:r>
          </a:p>
          <a:p>
            <a:pPr>
              <a:spcBef>
                <a:spcPts val="2400"/>
              </a:spcBef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In series</a:t>
            </a:r>
          </a:p>
          <a:p>
            <a:pPr>
              <a:spcBef>
                <a:spcPts val="2400"/>
              </a:spcBef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Equivalent capacitance </a:t>
            </a:r>
          </a:p>
          <a:p>
            <a:pPr algn="l">
              <a:spcBef>
                <a:spcPts val="2400"/>
              </a:spcBef>
            </a:pPr>
            <a:r>
              <a:rPr lang="en-US" altLang="zh-CN" sz="2000" dirty="0" smtClean="0">
                <a:latin typeface="Times New Roman" pitchFamily="18" charset="0"/>
                <a:ea typeface="宋体" pitchFamily="2" charset="-122"/>
              </a:rPr>
              <a:t>Energy density</a:t>
            </a:r>
          </a:p>
          <a:p>
            <a:pPr algn="l">
              <a:spcBef>
                <a:spcPts val="2400"/>
              </a:spcBef>
            </a:pPr>
            <a:r>
              <a:rPr lang="en-US" altLang="zh-CN" sz="2000" dirty="0" smtClean="0">
                <a:latin typeface="Times New Roman" pitchFamily="18" charset="0"/>
                <a:ea typeface="宋体" pitchFamily="2" charset="-122"/>
              </a:rPr>
              <a:t>Polar dielectrics</a:t>
            </a:r>
          </a:p>
          <a:p>
            <a:pPr>
              <a:spcBef>
                <a:spcPts val="2400"/>
              </a:spcBef>
            </a:pPr>
            <a:r>
              <a:rPr lang="en-US" altLang="zh-CN" sz="2000" dirty="0" smtClean="0">
                <a:latin typeface="Times New Roman" pitchFamily="18" charset="0"/>
                <a:ea typeface="宋体" pitchFamily="2" charset="-122"/>
              </a:rPr>
              <a:t>Nonpolar dielectrics</a:t>
            </a:r>
          </a:p>
          <a:p>
            <a:pPr>
              <a:spcBef>
                <a:spcPts val="2400"/>
              </a:spcBef>
            </a:pPr>
            <a:r>
              <a:rPr lang="en-US" altLang="zh-CN" sz="2000" dirty="0" smtClean="0">
                <a:latin typeface="Times New Roman" pitchFamily="18" charset="0"/>
                <a:ea typeface="宋体" pitchFamily="2" charset="-122"/>
              </a:rPr>
              <a:t>Induced surface charges</a:t>
            </a:r>
            <a:endParaRPr lang="en-US" altLang="zh-CN" sz="2000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3" name="矩形 1"/>
          <p:cNvSpPr>
            <a:spLocks noChangeArrowheads="1"/>
          </p:cNvSpPr>
          <p:nvPr/>
        </p:nvSpPr>
        <p:spPr bwMode="auto">
          <a:xfrm>
            <a:off x="5435600" y="1177925"/>
            <a:ext cx="28082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Bef>
                <a:spcPts val="2400"/>
              </a:spcBef>
            </a:pPr>
            <a:endParaRPr lang="en-US" altLang="zh-CN" sz="2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l">
              <a:spcBef>
                <a:spcPts val="2400"/>
              </a:spcBef>
            </a:pPr>
            <a:endParaRPr lang="en-US" altLang="zh-CN" sz="2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20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Capacitance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58862"/>
            <a:ext cx="15335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8" name="Text Box 39"/>
          <p:cNvSpPr txBox="1">
            <a:spLocks noChangeArrowheads="1"/>
          </p:cNvSpPr>
          <p:nvPr/>
        </p:nvSpPr>
        <p:spPr bwMode="auto">
          <a:xfrm>
            <a:off x="3490888" y="858862"/>
            <a:ext cx="2952750" cy="6540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i="1"/>
              <a:t>q is not the total charge</a:t>
            </a:r>
          </a:p>
          <a:p>
            <a:pPr>
              <a:lnSpc>
                <a:spcPct val="90000"/>
              </a:lnSpc>
            </a:pPr>
            <a:r>
              <a:rPr lang="en-US" altLang="zh-CN" sz="2000" i="1"/>
              <a:t>V is </a:t>
            </a:r>
            <a:r>
              <a:rPr lang="en-US" altLang="zh-CN" sz="2000" i="1">
                <a:cs typeface="Arial" charset="0"/>
              </a:rPr>
              <a:t>∆V</a:t>
            </a:r>
          </a:p>
        </p:txBody>
      </p:sp>
      <p:pic>
        <p:nvPicPr>
          <p:cNvPr id="38" name="Picture 3" descr="parallel-plate capaci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28" y="2348880"/>
            <a:ext cx="19050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20"/>
          <p:cNvPicPr>
            <a:picLocks noChangeAspect="1" noChangeArrowheads="1"/>
          </p:cNvPicPr>
          <p:nvPr/>
        </p:nvPicPr>
        <p:blipFill>
          <a:blip r:embed="rId4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844478"/>
            <a:ext cx="1368425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25"/>
          <p:cNvPicPr>
            <a:picLocks noChangeAspect="1" noChangeArrowheads="1"/>
          </p:cNvPicPr>
          <p:nvPr/>
        </p:nvPicPr>
        <p:blipFill>
          <a:blip r:embed="rId5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796867"/>
            <a:ext cx="1150938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33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Capacitance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58862"/>
            <a:ext cx="15335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8" name="Text Box 39"/>
          <p:cNvSpPr txBox="1">
            <a:spLocks noChangeArrowheads="1"/>
          </p:cNvSpPr>
          <p:nvPr/>
        </p:nvSpPr>
        <p:spPr bwMode="auto">
          <a:xfrm>
            <a:off x="3490888" y="858862"/>
            <a:ext cx="2952750" cy="6540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i="1"/>
              <a:t>q is not the total charge</a:t>
            </a:r>
          </a:p>
          <a:p>
            <a:pPr>
              <a:lnSpc>
                <a:spcPct val="90000"/>
              </a:lnSpc>
            </a:pPr>
            <a:r>
              <a:rPr lang="en-US" altLang="zh-CN" sz="2000" i="1"/>
              <a:t>V is </a:t>
            </a:r>
            <a:r>
              <a:rPr lang="en-US" altLang="zh-CN" sz="2000" i="1">
                <a:cs typeface="Arial" charset="0"/>
              </a:rPr>
              <a:t>∆V</a:t>
            </a:r>
          </a:p>
        </p:txBody>
      </p:sp>
      <p:pic>
        <p:nvPicPr>
          <p:cNvPr id="39" name="Picture 4" descr="ccy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63304">
            <a:off x="2918214" y="2026708"/>
            <a:ext cx="2709863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800" y="5013176"/>
            <a:ext cx="4800600" cy="6953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42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4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Capacitance</a:t>
            </a:r>
          </a:p>
        </p:txBody>
      </p:sp>
      <p:pic>
        <p:nvPicPr>
          <p:cNvPr id="8196" name="Picture 5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858862"/>
            <a:ext cx="15335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8" name="Text Box 39"/>
          <p:cNvSpPr txBox="1">
            <a:spLocks noChangeArrowheads="1"/>
          </p:cNvSpPr>
          <p:nvPr/>
        </p:nvSpPr>
        <p:spPr bwMode="auto">
          <a:xfrm>
            <a:off x="3490888" y="858862"/>
            <a:ext cx="2952750" cy="65405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i="1"/>
              <a:t>q is not the total charge</a:t>
            </a:r>
          </a:p>
          <a:p>
            <a:pPr>
              <a:lnSpc>
                <a:spcPct val="90000"/>
              </a:lnSpc>
            </a:pPr>
            <a:r>
              <a:rPr lang="en-US" altLang="zh-CN" sz="2000" i="1"/>
              <a:t>V is </a:t>
            </a:r>
            <a:r>
              <a:rPr lang="en-US" altLang="zh-CN" sz="2000" i="1">
                <a:cs typeface="Arial" charset="0"/>
              </a:rPr>
              <a:t>∆V</a:t>
            </a:r>
          </a:p>
        </p:txBody>
      </p:sp>
      <p:pic>
        <p:nvPicPr>
          <p:cNvPr id="40" name="Picture 5" descr="cs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412" y="1772816"/>
            <a:ext cx="220186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5157192"/>
            <a:ext cx="4724400" cy="79851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42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4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Capacitor in series / parallel connection</a:t>
            </a:r>
          </a:p>
        </p:txBody>
      </p:sp>
      <p:pic>
        <p:nvPicPr>
          <p:cNvPr id="12291" name="Picture 4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4608512" cy="458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4" name="Picture 10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359978"/>
            <a:ext cx="23336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7" name="Picture 13"/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5300663"/>
            <a:ext cx="6446838" cy="85725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209178"/>
              </p:ext>
            </p:extLst>
          </p:nvPr>
        </p:nvGraphicFramePr>
        <p:xfrm>
          <a:off x="5508104" y="3284984"/>
          <a:ext cx="1512168" cy="453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6" imgW="761760" imgH="228600" progId="Equation.DSMT4">
                  <p:embed/>
                </p:oleObj>
              </mc:Choice>
              <mc:Fallback>
                <p:oleObj name="Equation" r:id="rId6" imgW="761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8104" y="3284984"/>
                        <a:ext cx="1512168" cy="453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72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Capacitor in series / parallel connection</a:t>
            </a:r>
          </a:p>
        </p:txBody>
      </p:sp>
      <p:pic>
        <p:nvPicPr>
          <p:cNvPr id="13316" name="Picture 10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765175"/>
            <a:ext cx="4968875" cy="364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1" name="Picture 13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543967"/>
            <a:ext cx="17907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24" name="Picture 16"/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4797425"/>
            <a:ext cx="6637338" cy="49530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75740"/>
              </p:ext>
            </p:extLst>
          </p:nvPr>
        </p:nvGraphicFramePr>
        <p:xfrm>
          <a:off x="5508104" y="3212976"/>
          <a:ext cx="156817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6" imgW="711000" imgH="228600" progId="Equation.DSMT4">
                  <p:embed/>
                </p:oleObj>
              </mc:Choice>
              <mc:Fallback>
                <p:oleObj name="Equation" r:id="rId6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8104" y="3212976"/>
                        <a:ext cx="1568174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529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4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Electric field energy / Electric energy density</a:t>
            </a:r>
          </a:p>
        </p:txBody>
      </p:sp>
      <p:pic>
        <p:nvPicPr>
          <p:cNvPr id="24579" name="Picture 4" descr="parallel-plate capacitor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908050"/>
            <a:ext cx="2189162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5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918364"/>
            <a:ext cx="3600450" cy="947738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1" name="Picture 6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2852936"/>
            <a:ext cx="24003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5" name="Picture 11"/>
          <p:cNvPicPr>
            <a:picLocks noChangeAspect="1" noChangeArrowheads="1"/>
          </p:cNvPicPr>
          <p:nvPr/>
        </p:nvPicPr>
        <p:blipFill>
          <a:blip r:embed="rId5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644900"/>
            <a:ext cx="1584325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6" name="Picture 12"/>
          <p:cNvPicPr>
            <a:picLocks noChangeAspect="1" noChangeArrowheads="1"/>
          </p:cNvPicPr>
          <p:nvPr/>
        </p:nvPicPr>
        <p:blipFill>
          <a:blip r:embed="rId6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221163"/>
            <a:ext cx="436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466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839200" cy="503238"/>
          </a:xfrm>
        </p:spPr>
        <p:txBody>
          <a:bodyPr/>
          <a:lstStyle/>
          <a:p>
            <a:r>
              <a:rPr lang="en-US" altLang="zh-CN" smtClean="0">
                <a:ea typeface="宋体" charset="-122"/>
              </a:rPr>
              <a:t>Molecular model of induced charge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2016125" cy="366712"/>
          </a:xfrm>
        </p:spPr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000" b="1" smtClean="0">
                <a:ea typeface="宋体" charset="-122"/>
              </a:rPr>
              <a:t>polar molecules</a:t>
            </a:r>
            <a:endParaRPr lang="en-US" altLang="zh-CN" sz="2800" b="1" smtClean="0">
              <a:ea typeface="宋体" charset="-122"/>
            </a:endParaRPr>
          </a:p>
        </p:txBody>
      </p:sp>
      <p:pic>
        <p:nvPicPr>
          <p:cNvPr id="29700" name="Picture 4" descr="24_Figure18-I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8"/>
          <a:stretch>
            <a:fillRect/>
          </a:stretch>
        </p:blipFill>
        <p:spPr bwMode="auto">
          <a:xfrm>
            <a:off x="2771775" y="836613"/>
            <a:ext cx="5943600" cy="218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 descr="24_Figure19-I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3"/>
          <a:stretch>
            <a:fillRect/>
          </a:stretch>
        </p:blipFill>
        <p:spPr bwMode="auto">
          <a:xfrm>
            <a:off x="755650" y="3429000"/>
            <a:ext cx="7772400" cy="256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1692275" y="3357563"/>
            <a:ext cx="309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514350" lvl="1" indent="-400050">
              <a:lnSpc>
                <a:spcPct val="90000"/>
              </a:lnSpc>
              <a:spcBef>
                <a:spcPct val="45000"/>
              </a:spcBef>
              <a:spcAft>
                <a:spcPct val="20000"/>
              </a:spcAft>
              <a:buClr>
                <a:srgbClr val="D33325"/>
              </a:buClr>
            </a:pPr>
            <a:r>
              <a:rPr lang="en-US" altLang="zh-CN" sz="2000" b="1">
                <a:latin typeface="Times New Roman" pitchFamily="18" charset="0"/>
                <a:ea typeface="宋体" charset="-122"/>
              </a:rPr>
              <a:t>nonpolar molecules</a:t>
            </a:r>
            <a:endParaRPr lang="en-US" altLang="zh-CN" sz="2800" b="1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165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Dielectric and Gauss’ Law</a:t>
            </a:r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4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6629400" cy="22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39752" y="3313907"/>
          <a:ext cx="3270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5" imgW="3657600" imgH="4267200" progId="Equation.DSMT4">
                  <p:embed/>
                </p:oleObj>
              </mc:Choice>
              <mc:Fallback>
                <p:oleObj name="Equation" r:id="rId5" imgW="3657600" imgH="426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313907"/>
                        <a:ext cx="3270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932040" y="3302477"/>
          <a:ext cx="515938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7" imgW="5791200" imgH="4267200" progId="Equation.DSMT4">
                  <p:embed/>
                </p:oleObj>
              </mc:Choice>
              <mc:Fallback>
                <p:oleObj name="Equation" r:id="rId7" imgW="5791200" imgH="426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302477"/>
                        <a:ext cx="515938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2843808" y="3489578"/>
            <a:ext cx="1944216" cy="45719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 w="349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rtlCol="0" anchor="ctr" anchorCtr="0" compatLnSpc="1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336" name="Picture 2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4005063"/>
            <a:ext cx="8494713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711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Question </a:t>
            </a:r>
            <a:r>
              <a:rPr lang="en-US" altLang="zh-CN" dirty="0" smtClean="0"/>
              <a:t>1</a:t>
            </a:r>
          </a:p>
        </p:txBody>
      </p:sp>
      <p:pic>
        <p:nvPicPr>
          <p:cNvPr id="196612" name="Picture 4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052736"/>
            <a:ext cx="4643438" cy="28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614" name="Rectangle 6"/>
          <p:cNvSpPr>
            <a:spLocks noChangeArrowheads="1"/>
          </p:cNvSpPr>
          <p:nvPr/>
        </p:nvSpPr>
        <p:spPr bwMode="auto">
          <a:xfrm>
            <a:off x="179388" y="836613"/>
            <a:ext cx="33845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ea typeface="MS PGothic" pitchFamily="34" charset="-128"/>
              </a:rPr>
              <a:t>Switch is thrown to the left side until C</a:t>
            </a:r>
            <a:r>
              <a:rPr lang="en-US" altLang="zh-CN" sz="2400" baseline="-25000">
                <a:solidFill>
                  <a:srgbClr val="000000"/>
                </a:solidFill>
                <a:ea typeface="MS PGothic" pitchFamily="34" charset="-128"/>
              </a:rPr>
              <a:t>1</a:t>
            </a:r>
            <a:r>
              <a:rPr lang="en-US" altLang="zh-CN" sz="2400">
                <a:solidFill>
                  <a:srgbClr val="000000"/>
                </a:solidFill>
                <a:ea typeface="MS PGothic" pitchFamily="34" charset="-128"/>
              </a:rPr>
              <a:t> is fully charged. Then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ea typeface="MS PGothic" pitchFamily="34" charset="-128"/>
              </a:rPr>
              <a:t>the switch is thrown to the right.</a:t>
            </a:r>
            <a:endParaRPr lang="zh-CN" altLang="en-US" sz="240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196615" name="Rectangle 7"/>
          <p:cNvSpPr>
            <a:spLocks noChangeArrowheads="1"/>
          </p:cNvSpPr>
          <p:nvPr/>
        </p:nvSpPr>
        <p:spPr bwMode="auto">
          <a:xfrm>
            <a:off x="611188" y="4653136"/>
            <a:ext cx="763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MS PGothic" pitchFamily="34" charset="-128"/>
              </a:rPr>
              <a:t>What is the final charge on  C</a:t>
            </a:r>
            <a:r>
              <a:rPr lang="en-US" altLang="zh-CN" sz="2400" baseline="-25000" dirty="0">
                <a:solidFill>
                  <a:srgbClr val="000000"/>
                </a:solidFill>
                <a:ea typeface="MS PGothic" pitchFamily="34" charset="-128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ea typeface="MS PGothic" pitchFamily="34" charset="-128"/>
              </a:rPr>
              <a:t> , C</a:t>
            </a:r>
            <a:r>
              <a:rPr lang="en-US" altLang="zh-CN" sz="2400" baseline="-25000" dirty="0">
                <a:solidFill>
                  <a:srgbClr val="000000"/>
                </a:solidFill>
                <a:ea typeface="MS PGothic" pitchFamily="34" charset="-128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ea typeface="MS PGothic" pitchFamily="34" charset="-128"/>
              </a:rPr>
              <a:t> and C</a:t>
            </a:r>
            <a:r>
              <a:rPr lang="en-US" altLang="zh-CN" sz="2400" baseline="-25000" dirty="0">
                <a:solidFill>
                  <a:srgbClr val="000000"/>
                </a:solidFill>
                <a:ea typeface="MS PGothic" pitchFamily="34" charset="-128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ea typeface="MS PGothic" pitchFamily="34" charset="-128"/>
              </a:rPr>
              <a:t>  ?</a:t>
            </a:r>
            <a:endParaRPr lang="zh-CN" altLang="en-US" sz="2400" dirty="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71236" y="2132856"/>
            <a:ext cx="8088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+mj-lt"/>
              </a:rPr>
              <a:t>16.0 V</a:t>
            </a:r>
            <a:endParaRPr 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16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9512" y="760020"/>
            <a:ext cx="896448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(a) Solving the two equations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97340"/>
              </p:ext>
            </p:extLst>
          </p:nvPr>
        </p:nvGraphicFramePr>
        <p:xfrm>
          <a:off x="4378077" y="620688"/>
          <a:ext cx="2930227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" name="Equation" r:id="rId3" imgW="901700" imgH="685800" progId="Equation.DSMT4">
                  <p:embed/>
                </p:oleObj>
              </mc:Choice>
              <mc:Fallback>
                <p:oleObj name="Equation" r:id="rId3" imgW="901700" imgH="685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077" y="620688"/>
                        <a:ext cx="2930227" cy="12961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" y="2204864"/>
            <a:ext cx="37799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for </a:t>
            </a:r>
            <a:r>
              <a:rPr lang="en-US" altLang="zh-CN" sz="2400" i="1" dirty="0"/>
              <a:t>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q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, we obtain</a:t>
            </a:r>
            <a:endParaRPr lang="zh-CN" altLang="zh-CN" sz="2400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531623"/>
              </p:ext>
            </p:extLst>
          </p:nvPr>
        </p:nvGraphicFramePr>
        <p:xfrm>
          <a:off x="3347864" y="2060848"/>
          <a:ext cx="5775349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" name="Equation" r:id="rId5" imgW="3009900" imgH="660400" progId="Equation.DSMT4">
                  <p:embed/>
                </p:oleObj>
              </mc:Choice>
              <mc:Fallback>
                <p:oleObj name="Equation" r:id="rId5" imgW="3009900" imgH="660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060848"/>
                        <a:ext cx="5775349" cy="1368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230312" y="3486525"/>
            <a:ext cx="1637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 </a:t>
            </a:r>
            <a:r>
              <a:rPr lang="en-US" altLang="zh-CN" sz="2400" i="1" dirty="0"/>
              <a:t>q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= </a:t>
            </a:r>
            <a:r>
              <a:rPr lang="en-US" altLang="zh-CN" sz="2400" dirty="0" smtClean="0"/>
              <a:t>42.7 </a:t>
            </a:r>
            <a:endParaRPr lang="zh-CN" altLang="zh-CN" sz="2400" dirty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78392" y="4008348"/>
            <a:ext cx="491368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66700" algn="r"/>
                <a:tab pos="2743200" algn="ctr"/>
                <a:tab pos="5486400" algn="r"/>
              </a:tabLs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r"/>
                <a:tab pos="2743200" algn="ctr"/>
                <a:tab pos="5486400" algn="r"/>
              </a:tabLst>
            </a:pPr>
            <a:r>
              <a:rPr kumimoji="0" lang="en-US" altLang="zh-TW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PMingLiU" pitchFamily="18" charset="-120"/>
                <a:cs typeface="Times New Roman" pitchFamily="18" charset="0"/>
              </a:rPr>
              <a:t>(b) The charge on capacitors 2 is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r"/>
                <a:tab pos="2743200" algn="ctr"/>
                <a:tab pos="5486400" algn="r"/>
              </a:tabLst>
            </a:pP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926343"/>
              </p:ext>
            </p:extLst>
          </p:nvPr>
        </p:nvGraphicFramePr>
        <p:xfrm>
          <a:off x="957697" y="4624955"/>
          <a:ext cx="6840760" cy="40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" name="Equation" r:id="rId7" imgW="3276600" imgH="228600" progId="Equation.DSMT4">
                  <p:embed/>
                </p:oleObj>
              </mc:Choice>
              <mc:Fallback>
                <p:oleObj name="Equation" r:id="rId7" imgW="32766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697" y="4624955"/>
                        <a:ext cx="6840760" cy="4047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78393" y="5232484"/>
            <a:ext cx="799936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(c) The charge on capacitor 3 is the same as that on capacitor 2: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637691"/>
              </p:ext>
            </p:extLst>
          </p:nvPr>
        </p:nvGraphicFramePr>
        <p:xfrm>
          <a:off x="1043608" y="5908961"/>
          <a:ext cx="6984776" cy="40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" name="Equation" r:id="rId9" imgW="3302000" imgH="228600" progId="Equation.DSMT4">
                  <p:embed/>
                </p:oleObj>
              </mc:Choice>
              <mc:Fallback>
                <p:oleObj name="Equation" r:id="rId9" imgW="33020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5908961"/>
                        <a:ext cx="6984776" cy="4003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78393" y="0"/>
            <a:ext cx="32575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b="1" dirty="0" smtClean="0">
                <a:solidFill>
                  <a:srgbClr val="D33325"/>
                </a:solidFill>
                <a:latin typeface="+mj-lt"/>
                <a:ea typeface="MS PGothic" pitchFamily="34" charset="-128"/>
                <a:cs typeface="+mj-cs"/>
              </a:rPr>
              <a:t>Answer:</a:t>
            </a:r>
            <a:endParaRPr lang="zh-CN" altLang="en-US" sz="3000" b="1" dirty="0">
              <a:solidFill>
                <a:srgbClr val="D33325"/>
              </a:solidFill>
              <a:latin typeface="+mj-lt"/>
              <a:ea typeface="MS PGothic" pitchFamily="34" charset="-128"/>
              <a:cs typeface="+mj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796869"/>
              </p:ext>
            </p:extLst>
          </p:nvPr>
        </p:nvGraphicFramePr>
        <p:xfrm>
          <a:off x="3302000" y="1955800"/>
          <a:ext cx="914400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5" name="Equation" r:id="rId11" imgW="914400" imgH="179640" progId="Equation.DSMT4">
                  <p:embed/>
                </p:oleObj>
              </mc:Choice>
              <mc:Fallback>
                <p:oleObj name="Equation" r:id="rId11" imgW="914400" imgH="179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2000" y="1955800"/>
                        <a:ext cx="914400" cy="179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501008"/>
            <a:ext cx="1863635" cy="43270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858" y="3481295"/>
            <a:ext cx="646334" cy="40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2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534400" cy="503237"/>
          </a:xfrm>
        </p:spPr>
        <p:txBody>
          <a:bodyPr/>
          <a:lstStyle/>
          <a:p>
            <a:r>
              <a:rPr lang="en-US" altLang="zh-CN" dirty="0" smtClean="0"/>
              <a:t>Question 2</a:t>
            </a:r>
          </a:p>
        </p:txBody>
      </p:sp>
      <p:pic>
        <p:nvPicPr>
          <p:cNvPr id="197636" name="Picture 4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765175"/>
            <a:ext cx="4972050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468313" y="1844675"/>
            <a:ext cx="388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400">
                <a:solidFill>
                  <a:srgbClr val="000000"/>
                </a:solidFill>
                <a:ea typeface="MS PGothic" pitchFamily="34" charset="-128"/>
              </a:rPr>
              <a:t>Capacitance? </a:t>
            </a:r>
          </a:p>
        </p:txBody>
      </p:sp>
    </p:spTree>
    <p:extLst>
      <p:ext uri="{BB962C8B-B14F-4D97-AF65-F5344CB8AC3E}">
        <p14:creationId xmlns:p14="http://schemas.microsoft.com/office/powerpoint/2010/main" val="104203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92696"/>
            <a:ext cx="8105775" cy="523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541" y="945108"/>
            <a:ext cx="1276350" cy="542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628800"/>
            <a:ext cx="5229225" cy="295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501" y="1490687"/>
            <a:ext cx="1352550" cy="571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7" y="2260613"/>
            <a:ext cx="8201025" cy="619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970" y="2879738"/>
            <a:ext cx="4942857" cy="7238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977" y="3644837"/>
            <a:ext cx="2409524" cy="64761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9" y="4310551"/>
            <a:ext cx="8295239" cy="1276191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652036"/>
            <a:ext cx="6853237" cy="81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矩形 12"/>
          <p:cNvSpPr/>
          <p:nvPr/>
        </p:nvSpPr>
        <p:spPr>
          <a:xfrm>
            <a:off x="179513" y="116632"/>
            <a:ext cx="177466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000" b="1" smtClean="0">
                <a:solidFill>
                  <a:srgbClr val="D33325"/>
                </a:solidFill>
                <a:latin typeface="+mj-lt"/>
                <a:ea typeface="MS PGothic" pitchFamily="34" charset="-128"/>
                <a:cs typeface="+mj-cs"/>
              </a:rPr>
              <a:t>Answer:</a:t>
            </a:r>
            <a:endParaRPr lang="zh-CN" altLang="en-US" sz="3000" b="1" dirty="0">
              <a:solidFill>
                <a:srgbClr val="D33325"/>
              </a:solidFill>
              <a:latin typeface="+mj-lt"/>
              <a:ea typeface="MS PGothic" pitchFamily="34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7512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Question 3</a:t>
            </a:r>
          </a:p>
        </p:txBody>
      </p:sp>
      <p:pic>
        <p:nvPicPr>
          <p:cNvPr id="200708" name="Picture 4"/>
          <p:cNvPicPr>
            <a:picLocks noChangeAspect="1" noChangeArrowheads="1"/>
          </p:cNvPicPr>
          <p:nvPr/>
        </p:nvPicPr>
        <p:blipFill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0"/>
            <a:ext cx="5651500" cy="281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2268538" y="333375"/>
            <a:ext cx="2016125" cy="431800"/>
          </a:xfrm>
          <a:prstGeom prst="rect">
            <a:avLst/>
          </a:prstGeom>
          <a:solidFill>
            <a:schemeClr val="bg1"/>
          </a:solidFill>
          <a:ln w="349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00710" name="Text Box 6"/>
          <p:cNvSpPr txBox="1">
            <a:spLocks noChangeArrowheads="1"/>
          </p:cNvSpPr>
          <p:nvPr/>
        </p:nvSpPr>
        <p:spPr bwMode="auto">
          <a:xfrm>
            <a:off x="468313" y="2924175"/>
            <a:ext cx="74168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9144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3716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8288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2860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7432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32004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6576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41148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</a:rPr>
              <a:t>Capacitance with the copper introduced?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</a:rPr>
              <a:t>If </a:t>
            </a:r>
            <a:r>
              <a:rPr lang="en-US" altLang="zh-CN" i="1">
                <a:solidFill>
                  <a:srgbClr val="000000"/>
                </a:solidFill>
              </a:rPr>
              <a:t>q = </a:t>
            </a:r>
            <a:r>
              <a:rPr lang="en-US" altLang="zh-CN">
                <a:solidFill>
                  <a:srgbClr val="000000"/>
                </a:solidFill>
              </a:rPr>
              <a:t>3.4 </a:t>
            </a:r>
            <a:r>
              <a:rPr lang="el-GR" altLang="zh-CN">
                <a:solidFill>
                  <a:srgbClr val="000000"/>
                </a:solidFill>
                <a:cs typeface="Arial" charset="0"/>
              </a:rPr>
              <a:t>μ</a:t>
            </a:r>
            <a:r>
              <a:rPr lang="en-US" altLang="zh-CN">
                <a:solidFill>
                  <a:srgbClr val="000000"/>
                </a:solidFill>
                <a:cs typeface="Arial" charset="0"/>
              </a:rPr>
              <a:t>C is on the plates, what is the ratio of the stored energy before to that after the copper is inserted? (i.e. </a:t>
            </a:r>
            <a:r>
              <a:rPr lang="en-US" altLang="zh-CN" i="1">
                <a:solidFill>
                  <a:srgbClr val="000000"/>
                </a:solidFill>
                <a:cs typeface="Arial" charset="0"/>
              </a:rPr>
              <a:t>U</a:t>
            </a:r>
            <a:r>
              <a:rPr lang="en-US" altLang="zh-CN" i="1" baseline="-25000">
                <a:solidFill>
                  <a:srgbClr val="000000"/>
                </a:solidFill>
                <a:cs typeface="Arial" charset="0"/>
              </a:rPr>
              <a:t>before</a:t>
            </a:r>
            <a:r>
              <a:rPr lang="en-US" altLang="zh-CN">
                <a:solidFill>
                  <a:srgbClr val="000000"/>
                </a:solidFill>
                <a:cs typeface="Arial" charset="0"/>
              </a:rPr>
              <a:t> : </a:t>
            </a:r>
            <a:r>
              <a:rPr lang="en-US" altLang="zh-CN" i="1">
                <a:solidFill>
                  <a:srgbClr val="000000"/>
                </a:solidFill>
                <a:cs typeface="Arial" charset="0"/>
              </a:rPr>
              <a:t>U</a:t>
            </a:r>
            <a:r>
              <a:rPr lang="en-US" altLang="zh-CN" i="1" baseline="-25000">
                <a:solidFill>
                  <a:srgbClr val="000000"/>
                </a:solidFill>
                <a:cs typeface="Arial" charset="0"/>
              </a:rPr>
              <a:t>after </a:t>
            </a:r>
            <a:r>
              <a:rPr lang="en-US" altLang="zh-CN">
                <a:solidFill>
                  <a:srgbClr val="000000"/>
                </a:solidFill>
                <a:cs typeface="Arial" charset="0"/>
              </a:rPr>
              <a:t>)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How much work is done on the copper as it is inserted?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Is the copper sucked in or pushed in?</a:t>
            </a:r>
            <a:endParaRPr lang="el-GR" altLang="zh-CN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00711" name="Line 7"/>
          <p:cNvSpPr>
            <a:spLocks noChangeShapeType="1"/>
          </p:cNvSpPr>
          <p:nvPr/>
        </p:nvSpPr>
        <p:spPr bwMode="auto">
          <a:xfrm>
            <a:off x="2627313" y="1484313"/>
            <a:ext cx="863600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971550" y="908050"/>
            <a:ext cx="201612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000000"/>
                </a:solidFill>
                <a:ea typeface="MS PGothic" pitchFamily="34" charset="-128"/>
              </a:rPr>
              <a:t>Copper is introduced to the isolated capacitor</a:t>
            </a:r>
          </a:p>
        </p:txBody>
      </p:sp>
    </p:spTree>
    <p:extLst>
      <p:ext uri="{BB962C8B-B14F-4D97-AF65-F5344CB8AC3E}">
        <p14:creationId xmlns:p14="http://schemas.microsoft.com/office/powerpoint/2010/main" val="369187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08720"/>
            <a:ext cx="8496944" cy="5112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520" y="116632"/>
            <a:ext cx="223224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solidFill>
                  <a:srgbClr val="D33325"/>
                </a:solidFill>
                <a:latin typeface="+mj-lt"/>
                <a:ea typeface="MS PGothic" pitchFamily="34" charset="-128"/>
                <a:cs typeface="+mj-cs"/>
              </a:rPr>
              <a:t>Answer: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16216" y="908720"/>
            <a:ext cx="12961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0.708pF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956376" y="4571952"/>
            <a:ext cx="9361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5.44J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35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Question 4</a:t>
            </a:r>
          </a:p>
        </p:txBody>
      </p:sp>
      <p:pic>
        <p:nvPicPr>
          <p:cNvPr id="201732" name="Picture 4"/>
          <p:cNvPicPr>
            <a:picLocks noChangeAspect="1" noChangeArrowheads="1"/>
          </p:cNvPicPr>
          <p:nvPr/>
        </p:nvPicPr>
        <p:blipFill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8" y="836613"/>
            <a:ext cx="6373812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1733" name="Rectangle 5"/>
          <p:cNvSpPr>
            <a:spLocks noChangeArrowheads="1"/>
          </p:cNvSpPr>
          <p:nvPr/>
        </p:nvSpPr>
        <p:spPr bwMode="auto">
          <a:xfrm>
            <a:off x="5256213" y="260350"/>
            <a:ext cx="3887787" cy="431800"/>
          </a:xfrm>
          <a:prstGeom prst="rect">
            <a:avLst/>
          </a:prstGeom>
          <a:solidFill>
            <a:schemeClr val="bg1"/>
          </a:solidFill>
          <a:ln w="349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468313" y="2636838"/>
            <a:ext cx="7775575" cy="392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9144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3716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8288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286000" indent="-457200" algn="r"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7432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32004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6576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4114800" indent="-4572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Find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</a:rPr>
              <a:t>E-field in the dielectric of capacitor B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</a:rPr>
              <a:t>E-field in capacitor A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</a:rPr>
              <a:t>Free charge density </a:t>
            </a:r>
            <a:r>
              <a:rPr lang="el-GR" altLang="zh-CN">
                <a:solidFill>
                  <a:srgbClr val="000000"/>
                </a:solidFill>
                <a:cs typeface="Arial" charset="0"/>
              </a:rPr>
              <a:t>σ</a:t>
            </a:r>
            <a:r>
              <a:rPr lang="en-US" altLang="zh-CN">
                <a:solidFill>
                  <a:srgbClr val="000000"/>
                </a:solidFill>
                <a:cs typeface="Arial" charset="0"/>
              </a:rPr>
              <a:t>on the higher potential plate of capacitor A and capacitor B</a:t>
            </a: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  <a:buFontTx/>
              <a:buAutoNum type="alphaLcParenBoth"/>
            </a:pPr>
            <a:r>
              <a:rPr lang="en-US" altLang="zh-CN">
                <a:solidFill>
                  <a:srgbClr val="000000"/>
                </a:solidFill>
                <a:cs typeface="Arial" charset="0"/>
              </a:rPr>
              <a:t>What is the induced charge density </a:t>
            </a:r>
            <a:r>
              <a:rPr lang="el-GR" altLang="zh-CN">
                <a:solidFill>
                  <a:srgbClr val="000000"/>
                </a:solidFill>
                <a:cs typeface="Arial" charset="0"/>
              </a:rPr>
              <a:t>σ</a:t>
            </a:r>
            <a:r>
              <a:rPr lang="en-US" altLang="zh-CN">
                <a:solidFill>
                  <a:srgbClr val="000000"/>
                </a:solidFill>
                <a:cs typeface="Arial" charset="0"/>
              </a:rPr>
              <a:t>’ on the top surface of the dielectric?</a:t>
            </a:r>
            <a:endParaRPr lang="el-GR" altLang="zh-CN">
              <a:solidFill>
                <a:srgbClr val="000000"/>
              </a:solidFill>
              <a:cs typeface="Arial" charset="0"/>
            </a:endParaRPr>
          </a:p>
          <a:p>
            <a:pPr algn="l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934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22" y="764704"/>
            <a:ext cx="8180953" cy="5552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2246" y="137319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D33325"/>
                </a:solidFill>
                <a:latin typeface="+mj-lt"/>
                <a:ea typeface="MS PGothic" pitchFamily="34" charset="-128"/>
                <a:cs typeface="+mj-cs"/>
              </a:rPr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277242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02" y="1700808"/>
            <a:ext cx="8190477" cy="1512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28" y="144975"/>
            <a:ext cx="17281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D33325"/>
                </a:solidFill>
                <a:latin typeface="+mj-lt"/>
                <a:ea typeface="MS PGothic" pitchFamily="34" charset="-128"/>
                <a:cs typeface="+mj-cs"/>
              </a:rPr>
              <a:t>Answer:</a:t>
            </a:r>
          </a:p>
        </p:txBody>
      </p:sp>
    </p:spTree>
    <p:extLst>
      <p:ext uri="{BB962C8B-B14F-4D97-AF65-F5344CB8AC3E}">
        <p14:creationId xmlns:p14="http://schemas.microsoft.com/office/powerpoint/2010/main" val="3225477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349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430</Words>
  <Application>Microsoft Office PowerPoint</Application>
  <PresentationFormat>全屏显示(4:3)</PresentationFormat>
  <Paragraphs>64</Paragraphs>
  <Slides>18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1_C6eActiveLectureQuestions</vt:lpstr>
      <vt:lpstr>2_C6eActiveLectureQuestions</vt:lpstr>
      <vt:lpstr>3_C6eActiveLectureQuestions</vt:lpstr>
      <vt:lpstr>4_C6eActiveLectureQuestions</vt:lpstr>
      <vt:lpstr>5_C6eActiveLectureQuestions</vt:lpstr>
      <vt:lpstr>Equation</vt:lpstr>
      <vt:lpstr>Key words</vt:lpstr>
      <vt:lpstr>Capacitance</vt:lpstr>
      <vt:lpstr>Capacitance</vt:lpstr>
      <vt:lpstr>Capacitance</vt:lpstr>
      <vt:lpstr>Capacitor in series / parallel connection</vt:lpstr>
      <vt:lpstr>Capacitor in series / parallel connection</vt:lpstr>
      <vt:lpstr>Electric field energy / Electric energy density</vt:lpstr>
      <vt:lpstr>Molecular model of induced charge</vt:lpstr>
      <vt:lpstr>Dielectric and Gauss’ Law</vt:lpstr>
      <vt:lpstr>Question 1</vt:lpstr>
      <vt:lpstr>PowerPoint 演示文稿</vt:lpstr>
      <vt:lpstr>Question 2</vt:lpstr>
      <vt:lpstr>PowerPoint 演示文稿</vt:lpstr>
      <vt:lpstr>Question 3</vt:lpstr>
      <vt:lpstr>PowerPoint 演示文稿</vt:lpstr>
      <vt:lpstr>Question 4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1</dc:title>
  <dc:creator>xin</dc:creator>
  <cp:lastModifiedBy>Windows 用户</cp:lastModifiedBy>
  <cp:revision>34</cp:revision>
  <dcterms:created xsi:type="dcterms:W3CDTF">2014-03-16T02:40:08Z</dcterms:created>
  <dcterms:modified xsi:type="dcterms:W3CDTF">2023-03-07T11:59:18Z</dcterms:modified>
</cp:coreProperties>
</file>