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59" r:id="rId3"/>
    <p:sldId id="418" r:id="rId5"/>
    <p:sldId id="419" r:id="rId6"/>
    <p:sldId id="390" r:id="rId7"/>
    <p:sldId id="410" r:id="rId8"/>
    <p:sldId id="392" r:id="rId9"/>
    <p:sldId id="393" r:id="rId10"/>
    <p:sldId id="417" r:id="rId11"/>
    <p:sldId id="420" r:id="rId12"/>
    <p:sldId id="406" r:id="rId13"/>
    <p:sldId id="407" r:id="rId14"/>
    <p:sldId id="399" r:id="rId15"/>
    <p:sldId id="414" r:id="rId16"/>
    <p:sldId id="401" r:id="rId17"/>
    <p:sldId id="411" r:id="rId18"/>
  </p:sldIdLst>
  <p:sldSz cx="9144000" cy="6858000" type="screen4x3"/>
  <p:notesSz cx="7099300" cy="10234930"/>
  <p:custDataLst>
    <p:tags r:id="rId22"/>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209" userDrawn="1">
          <p15:clr>
            <a:srgbClr val="A4A3A4"/>
          </p15:clr>
        </p15:guide>
        <p15:guide id="2" orient="horz" pos="1830" userDrawn="1">
          <p15:clr>
            <a:srgbClr val="A4A3A4"/>
          </p15:clr>
        </p15:guide>
        <p15:guide id="3" orient="horz" pos="2373" userDrawn="1">
          <p15:clr>
            <a:srgbClr val="A4A3A4"/>
          </p15:clr>
        </p15:guide>
        <p15:guide id="4" pos="2806" userDrawn="1">
          <p15:clr>
            <a:srgbClr val="A4A3A4"/>
          </p15:clr>
        </p15:guide>
        <p15:guide id="5" pos="192" userDrawn="1">
          <p15:clr>
            <a:srgbClr val="A4A3A4"/>
          </p15:clr>
        </p15:guide>
        <p15:guide id="6" pos="33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CC3300"/>
    <a:srgbClr val="F80000"/>
    <a:srgbClr val="004A37"/>
    <a:srgbClr val="00417E"/>
    <a:srgbClr val="FFECD7"/>
    <a:srgbClr val="3366CC"/>
    <a:srgbClr val="0099CC"/>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72280"/>
  </p:normalViewPr>
  <p:slideViewPr>
    <p:cSldViewPr showGuides="1">
      <p:cViewPr>
        <p:scale>
          <a:sx n="100" d="100"/>
          <a:sy n="100" d="100"/>
        </p:scale>
        <p:origin x="-1944" y="-324"/>
      </p:cViewPr>
      <p:guideLst>
        <p:guide orient="horz" pos="1209"/>
        <p:guide orient="horz" pos="1830"/>
        <p:guide orient="horz" pos="2373"/>
        <p:guide pos="2806"/>
        <p:guide pos="192"/>
        <p:guide pos="33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gs" Target="tags/tag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44.wmf"/><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52.w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8.wmf"/></Relationships>
</file>

<file path=ppt/drawings/_rels/vmlDrawing9.vml.rels><?xml version="1.0" encoding="UTF-8" standalone="yes"?>
<Relationships xmlns="http://schemas.openxmlformats.org/package/2006/relationships"><Relationship Id="rId7" Type="http://schemas.openxmlformats.org/officeDocument/2006/relationships/image" Target="../media/image60.wmf"/><Relationship Id="rId6" Type="http://schemas.openxmlformats.org/officeDocument/2006/relationships/image" Target="../media/image59.wmf"/><Relationship Id="rId5" Type="http://schemas.openxmlformats.org/officeDocument/2006/relationships/image" Target="../media/image57.wmf"/><Relationship Id="rId4" Type="http://schemas.openxmlformats.org/officeDocument/2006/relationships/image" Target="../media/image56.wmf"/><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noChangeArrowheads="1"/>
          </p:cNvSpPr>
          <p:nvPr>
            <p:ph type="hdr" sz="quarter"/>
          </p:nvPr>
        </p:nvSpPr>
        <p:spPr bwMode="auto">
          <a:xfrm>
            <a:off x="0" y="0"/>
            <a:ext cx="3076575" cy="511175"/>
          </a:xfrm>
          <a:prstGeom prst="rect">
            <a:avLst/>
          </a:prstGeom>
          <a:noFill/>
          <a:ln>
            <a:noFill/>
          </a:ln>
        </p:spPr>
        <p:txBody>
          <a:bodyPr vert="horz" wrap="square" lIns="99048" tIns="49524" rIns="99048" bIns="49524" numCol="1" anchor="t" anchorCtr="0" compatLnSpc="1"/>
          <a:lstStyle>
            <a:lvl1pPr defTabSz="990600" eaLnBrk="0" hangingPunct="0">
              <a:buFont typeface="Arial" panose="020B0604020202020204" pitchFamily="34" charset="0"/>
              <a:buNone/>
              <a:defRPr sz="1300">
                <a:latin typeface="Times New Roman" panose="02020603050405020304" pitchFamily="18" charset="0"/>
                <a:ea typeface="宋体" panose="02010600030101010101" pitchFamily="2" charset="-122"/>
              </a:defRPr>
            </a:lvl1pPr>
          </a:lstStyle>
          <a:p>
            <a:pPr marL="0" marR="0" lvl="0" indent="0" algn="l" defTabSz="9906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435" name="Rectangle 3"/>
          <p:cNvSpPr>
            <a:spLocks noGrp="1"/>
          </p:cNvSpPr>
          <p:nvPr>
            <p:ph type="sldImg" idx="2"/>
          </p:nvPr>
        </p:nvSpPr>
        <p:spPr>
          <a:xfrm>
            <a:off x="990600" y="768350"/>
            <a:ext cx="5118100" cy="3836988"/>
          </a:xfrm>
          <a:prstGeom prst="rect">
            <a:avLst/>
          </a:prstGeom>
          <a:noFill/>
          <a:ln w="9525">
            <a:noFill/>
          </a:ln>
        </p:spPr>
      </p:sp>
      <p:sp>
        <p:nvSpPr>
          <p:cNvPr id="2052" name="Rectangle 4"/>
          <p:cNvSpPr>
            <a:spLocks noGrp="1" noChangeArrowheads="1"/>
          </p:cNvSpPr>
          <p:nvPr>
            <p:ph type="body" sz="quarter" idx="3"/>
          </p:nvPr>
        </p:nvSpPr>
        <p:spPr bwMode="auto">
          <a:xfrm>
            <a:off x="946150" y="4860925"/>
            <a:ext cx="5207000" cy="4605338"/>
          </a:xfrm>
          <a:prstGeom prst="rect">
            <a:avLst/>
          </a:prstGeom>
          <a:noFill/>
          <a:ln>
            <a:noFill/>
          </a:ln>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Click to edit Master text styles</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Second level</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Third level</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Fourth level</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rPr>
              <a:t>Fifth level</a:t>
            </a: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S PGothic" panose="020B0600070205080204" pitchFamily="34" charset="-128"/>
              <a:cs typeface="+mn-cs"/>
            </a:endParaRPr>
          </a:p>
        </p:txBody>
      </p:sp>
      <p:sp>
        <p:nvSpPr>
          <p:cNvPr id="2053" name="Rectangle 5"/>
          <p:cNvSpPr>
            <a:spLocks noGrp="1" noChangeArrowheads="1"/>
          </p:cNvSpPr>
          <p:nvPr>
            <p:ph type="dt" idx="1"/>
          </p:nvPr>
        </p:nvSpPr>
        <p:spPr bwMode="auto">
          <a:xfrm>
            <a:off x="4022725" y="0"/>
            <a:ext cx="3076575" cy="511175"/>
          </a:xfrm>
          <a:prstGeom prst="rect">
            <a:avLst/>
          </a:prstGeom>
          <a:noFill/>
          <a:ln>
            <a:noFill/>
          </a:ln>
        </p:spPr>
        <p:txBody>
          <a:bodyPr vert="horz" wrap="square" lIns="99048" tIns="49524" rIns="99048" bIns="49524" numCol="1" anchor="t" anchorCtr="0" compatLnSpc="1"/>
          <a:lstStyle>
            <a:lvl1pPr algn="r" defTabSz="990600" eaLnBrk="0" hangingPunct="0">
              <a:buFont typeface="Arial" panose="020B0604020202020204" pitchFamily="34" charset="0"/>
              <a:buNone/>
              <a:defRPr sz="1300">
                <a:latin typeface="Times New Roman" panose="02020603050405020304" pitchFamily="18" charset="0"/>
                <a:ea typeface="宋体" panose="02010600030101010101" pitchFamily="2" charset="-122"/>
              </a:defRPr>
            </a:lvl1pPr>
          </a:lstStyle>
          <a:p>
            <a:pPr marL="0" marR="0" lvl="0" indent="0" algn="r" defTabSz="9906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9723438"/>
            <a:ext cx="3076575" cy="511175"/>
          </a:xfrm>
          <a:prstGeom prst="rect">
            <a:avLst/>
          </a:prstGeom>
          <a:noFill/>
          <a:ln>
            <a:noFill/>
          </a:ln>
        </p:spPr>
        <p:txBody>
          <a:bodyPr vert="horz" wrap="square" lIns="99048" tIns="49524" rIns="99048" bIns="49524" numCol="1" anchor="b" anchorCtr="0" compatLnSpc="1"/>
          <a:lstStyle>
            <a:lvl1pPr defTabSz="990600" eaLnBrk="0" hangingPunct="0">
              <a:buFont typeface="Arial" panose="020B0604020202020204" pitchFamily="34" charset="0"/>
              <a:buNone/>
              <a:defRPr sz="1300">
                <a:latin typeface="Times New Roman" panose="02020603050405020304" pitchFamily="18" charset="0"/>
                <a:ea typeface="宋体" panose="02010600030101010101" pitchFamily="2" charset="-122"/>
              </a:defRPr>
            </a:lvl1pPr>
          </a:lstStyle>
          <a:p>
            <a:pPr marL="0" marR="0" lvl="0" indent="0" algn="l" defTabSz="9906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4022725" y="9723438"/>
            <a:ext cx="3076575" cy="511175"/>
          </a:xfrm>
          <a:prstGeom prst="rect">
            <a:avLst/>
          </a:prstGeom>
          <a:noFill/>
          <a:ln>
            <a:noFill/>
          </a:ln>
        </p:spPr>
        <p:txBody>
          <a:bodyPr vert="horz" wrap="square" lIns="99048" tIns="49524" rIns="99048" bIns="49524" numCol="1" anchor="b" anchorCtr="0" compatLnSpc="1"/>
          <a:p>
            <a:pPr lvl="0" algn="r" defTabSz="990600">
              <a:buNone/>
            </a:pPr>
            <a:fld id="{9A0DB2DC-4C9A-4742-B13C-FB6460FD3503}" type="slidenum">
              <a:rPr lang="zh-CN" altLang="en-US" sz="1300" dirty="0">
                <a:latin typeface="Times New Roman" panose="02020603050405020304" pitchFamily="18" charset="0"/>
              </a:rPr>
            </a:fld>
            <a:endParaRPr lang="zh-CN" altLang="en-US" sz="13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幻灯片图像占位符 1"/>
          <p:cNvSpPr>
            <a:spLocks noGrp="1" noRot="1" noChangeAspect="1" noTextEdit="1"/>
          </p:cNvSpPr>
          <p:nvPr>
            <p:ph type="sldImg"/>
          </p:nvPr>
        </p:nvSpPr>
        <p:spPr>
          <a:xfrm>
            <a:off x="992188" y="768350"/>
            <a:ext cx="5114925" cy="3836988"/>
          </a:xfrm>
        </p:spPr>
      </p:sp>
      <p:sp>
        <p:nvSpPr>
          <p:cNvPr id="19459" name="备注占位符 2"/>
          <p:cNvSpPr>
            <a:spLocks noGrp="1"/>
          </p:cNvSpPr>
          <p:nvPr>
            <p:ph type="body" idx="1"/>
          </p:nvPr>
        </p:nvSpPr>
        <p:spPr/>
        <p:txBody>
          <a:bodyPr wrap="square" lIns="99048" tIns="49524" rIns="99048" bIns="49524" anchor="t" anchorCtr="0"/>
          <a:p>
            <a:pPr lvl="0"/>
            <a:endParaRPr lang="zh-CN" altLang="en-US" dirty="0"/>
          </a:p>
        </p:txBody>
      </p:sp>
      <p:sp>
        <p:nvSpPr>
          <p:cNvPr id="19460"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p>
            <a:pPr lvl="0" algn="r" defTabSz="990600">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幻灯片图像占位符 1"/>
          <p:cNvSpPr>
            <a:spLocks noGrp="1" noRot="1" noChangeAspect="1" noTextEdit="1"/>
          </p:cNvSpPr>
          <p:nvPr>
            <p:ph type="sldImg"/>
          </p:nvPr>
        </p:nvSpPr>
        <p:spPr>
          <a:xfrm>
            <a:off x="992188" y="768350"/>
            <a:ext cx="5114925" cy="3836988"/>
          </a:xfrm>
        </p:spPr>
      </p:sp>
      <p:sp>
        <p:nvSpPr>
          <p:cNvPr id="20483" name="备注占位符 2"/>
          <p:cNvSpPr>
            <a:spLocks noGrp="1"/>
          </p:cNvSpPr>
          <p:nvPr>
            <p:ph type="body" idx="1"/>
          </p:nvPr>
        </p:nvSpPr>
        <p:spPr/>
        <p:txBody>
          <a:bodyPr wrap="square" lIns="99048" tIns="49524" rIns="99048" bIns="49524" anchor="t" anchorCtr="0"/>
          <a:p>
            <a:pPr lvl="0"/>
            <a:r>
              <a:rPr lang="en-US" altLang="zh-CN" dirty="0"/>
              <a:t>BS law describes the B field produced by a current length element, here ds is the length differential whose direction is the direction of current, r is the distance between point p and length element, and r hat is a unit vector pointing from ds to P, so the direction of B is into the paper at this case. We also can use right hand rule to determine the direction of B field. Use your right hand, Grasp the element with your thumb pointing in the direction of the current, your four fingers then curl around the direction of  the B field.</a:t>
            </a:r>
            <a:endParaRPr lang="en-US" altLang="zh-CN" dirty="0"/>
          </a:p>
          <a:p>
            <a:pPr lvl="0"/>
            <a:endParaRPr lang="en-US" altLang="zh-CN" dirty="0"/>
          </a:p>
          <a:p>
            <a:pPr lvl="0"/>
            <a:r>
              <a:rPr lang="en-US" altLang="zh-CN" dirty="0"/>
              <a:t>a circular arc carrying current I produce a B field around it, and we want to find the B field at the center of the arc. So we use BS law, here we choose a current length element ds, then this is r, r=R, and r hat cross ds, just out of paper, and the angle theta is 90 degree, so we have, then do a sum for all the B field produced by each element, that is integration, from 0 to pha. Then we get the B field at the center of the arc.</a:t>
            </a:r>
            <a:endParaRPr lang="en-US" altLang="zh-CN" dirty="0"/>
          </a:p>
        </p:txBody>
      </p:sp>
      <p:sp>
        <p:nvSpPr>
          <p:cNvPr id="20484"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p>
            <a:pPr lvl="0" algn="r" defTabSz="990600">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幻灯片图像占位符 1"/>
          <p:cNvSpPr>
            <a:spLocks noGrp="1" noRot="1" noChangeAspect="1" noTextEdit="1"/>
          </p:cNvSpPr>
          <p:nvPr>
            <p:ph type="sldImg"/>
          </p:nvPr>
        </p:nvSpPr>
        <p:spPr>
          <a:xfrm>
            <a:off x="992188" y="768350"/>
            <a:ext cx="5114925" cy="3836988"/>
          </a:xfrm>
        </p:spPr>
      </p:sp>
      <p:sp>
        <p:nvSpPr>
          <p:cNvPr id="21507" name="备注占位符 2"/>
          <p:cNvSpPr>
            <a:spLocks noGrp="1"/>
          </p:cNvSpPr>
          <p:nvPr>
            <p:ph type="body" idx="1"/>
          </p:nvPr>
        </p:nvSpPr>
        <p:spPr/>
        <p:txBody>
          <a:bodyPr wrap="square" lIns="99048" tIns="49524" rIns="99048" bIns="49524" anchor="t" anchorCtr="0"/>
          <a:p>
            <a:pPr lvl="0"/>
            <a:r>
              <a:rPr lang="en-US" altLang="zh-CN" dirty="0"/>
              <a:t>Ampere’s law is very important, and it’s convenient to evaluate B field if the current distribution has a good symmetry.</a:t>
            </a:r>
            <a:endParaRPr lang="en-US" altLang="zh-CN" dirty="0"/>
          </a:p>
          <a:p>
            <a:pPr lvl="0"/>
            <a:endParaRPr lang="en-US" altLang="zh-CN" dirty="0"/>
          </a:p>
          <a:p>
            <a:pPr lvl="0"/>
            <a:r>
              <a:rPr lang="en-US" altLang="zh-CN" dirty="0"/>
              <a:t>First we choose the current distribution as our target, and then we choose a closed loop, and dl is the path differential of this loop, B is the magnetic field produced by the chosen current distribution, and this circle indicate we do the intergradation along the closed loop, and I encircled is the net current encircled by the this closed. </a:t>
            </a:r>
            <a:endParaRPr lang="en-US" altLang="zh-CN" dirty="0"/>
          </a:p>
          <a:p>
            <a:pPr lvl="0"/>
            <a:r>
              <a:rPr lang="en-US" altLang="zh-CN" dirty="0"/>
              <a:t>This close loop define a positive direction, grasp the loop by your right hand with your four fingers pointing to the loop direction, then your thumb points to the positive current direction. in this figure, I1 and I3 are positive, and I2 negative, so--.</a:t>
            </a:r>
            <a:endParaRPr lang="zh-CN" altLang="en-US" dirty="0"/>
          </a:p>
        </p:txBody>
      </p:sp>
      <p:sp>
        <p:nvSpPr>
          <p:cNvPr id="21508"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p>
            <a:pPr lvl="0" algn="r" defTabSz="990600">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幻灯片图像占位符 1"/>
          <p:cNvSpPr>
            <a:spLocks noGrp="1" noRot="1" noChangeAspect="1" noTextEdit="1"/>
          </p:cNvSpPr>
          <p:nvPr>
            <p:ph type="sldImg"/>
          </p:nvPr>
        </p:nvSpPr>
        <p:spPr>
          <a:xfrm>
            <a:off x="992188" y="768350"/>
            <a:ext cx="5114925" cy="3836988"/>
          </a:xfrm>
        </p:spPr>
      </p:sp>
      <p:sp>
        <p:nvSpPr>
          <p:cNvPr id="22531" name="备注占位符 2"/>
          <p:cNvSpPr>
            <a:spLocks noGrp="1"/>
          </p:cNvSpPr>
          <p:nvPr>
            <p:ph type="body" idx="1"/>
          </p:nvPr>
        </p:nvSpPr>
        <p:spPr/>
        <p:txBody>
          <a:bodyPr wrap="square" lIns="99048" tIns="49524" rIns="99048" bIns="49524" anchor="t" anchorCtr="0"/>
          <a:p>
            <a:pPr lvl="0"/>
            <a:r>
              <a:rPr lang="en-US" altLang="zh-CN" dirty="0"/>
              <a:t>A long cylindrical current distribution has a good cylindrical symmetry, if we rotate the cylinder about its central axis, the current distribution dose not change, so the B field does not change, so we know, along a concentric circle, the magnitude of B field must be same. The magnitude of B field only related by the perpendicular distance r from the center axis. the B field line form a circle, so B must point to the tangential direction of the circle. So we can choose a proper loop according to the property of the B field and then use ampere’s law to find the value of it.</a:t>
            </a:r>
            <a:endParaRPr lang="en-US" altLang="zh-CN" dirty="0"/>
          </a:p>
          <a:p>
            <a:pPr lvl="0"/>
            <a:r>
              <a:rPr lang="en-US" altLang="zh-CN" dirty="0"/>
              <a:t>A concentric circle is a good choice, then ------</a:t>
            </a:r>
            <a:endParaRPr lang="en-US" altLang="zh-CN" dirty="0"/>
          </a:p>
          <a:p>
            <a:pPr lvl="0"/>
            <a:endParaRPr lang="en-US" altLang="zh-CN" dirty="0"/>
          </a:p>
          <a:p>
            <a:pPr lvl="0"/>
            <a:r>
              <a:rPr lang="en-US" altLang="zh-CN" dirty="0"/>
              <a:t>For a large current sheet, with a uniform current density, first we analyze the property of B field, this sheet can be considered as a combination of straight current wires, each current wire produce a B field like this, then for the </a:t>
            </a:r>
            <a:r>
              <a:rPr lang="en-US" altLang="zh-CN" b="1" dirty="0"/>
              <a:t>adjacent</a:t>
            </a:r>
            <a:r>
              <a:rPr lang="en-US" altLang="zh-CN" dirty="0"/>
              <a:t> two wires, the vertical component cancel each other, so B field near the surface must be along the horizontal direction, like this, then we can choose a rectangle  as our ampere’s loop, </a:t>
            </a:r>
            <a:endParaRPr lang="zh-CN" altLang="en-US" dirty="0"/>
          </a:p>
        </p:txBody>
      </p:sp>
      <p:sp>
        <p:nvSpPr>
          <p:cNvPr id="22532"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p>
            <a:pPr lvl="0" algn="r" defTabSz="990600">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幻灯片图像占位符 1"/>
          <p:cNvSpPr>
            <a:spLocks noGrp="1" noRot="1" noChangeAspect="1" noTextEdit="1"/>
          </p:cNvSpPr>
          <p:nvPr>
            <p:ph type="sldImg"/>
          </p:nvPr>
        </p:nvSpPr>
        <p:spPr>
          <a:xfrm>
            <a:off x="992188" y="768350"/>
            <a:ext cx="5114925" cy="3836988"/>
          </a:xfrm>
        </p:spPr>
      </p:sp>
      <p:sp>
        <p:nvSpPr>
          <p:cNvPr id="23555" name="备注占位符 2"/>
          <p:cNvSpPr>
            <a:spLocks noGrp="1"/>
          </p:cNvSpPr>
          <p:nvPr>
            <p:ph type="body" idx="1"/>
          </p:nvPr>
        </p:nvSpPr>
        <p:spPr/>
        <p:txBody>
          <a:bodyPr wrap="square" lIns="99048" tIns="49524" rIns="99048" bIns="49524" anchor="t" anchorCtr="0"/>
          <a:p>
            <a:pPr lvl="0"/>
            <a:r>
              <a:rPr lang="en-US" altLang="zh-CN" dirty="0"/>
              <a:t>For the ideal solenoid, the B field distribution like this, inside, along the longitudinal direction, because it’s a long solenoid, each point you can think as the center of the solenoid, so B field must be same along this direction, outside, almost 0, so we choose this loop, let the path parallel to the B field or perpendicular to B, like this ,then we have:</a:t>
            </a:r>
            <a:endParaRPr lang="en-US" altLang="zh-CN" dirty="0"/>
          </a:p>
          <a:p>
            <a:pPr lvl="0"/>
            <a:endParaRPr lang="zh-CN" altLang="en-US" dirty="0"/>
          </a:p>
        </p:txBody>
      </p:sp>
      <p:sp>
        <p:nvSpPr>
          <p:cNvPr id="23556"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p>
            <a:pPr lvl="0" algn="r" defTabSz="990600">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幻灯片图像占位符 1"/>
          <p:cNvSpPr>
            <a:spLocks noGrp="1" noRot="1" noChangeAspect="1" noTextEdit="1"/>
          </p:cNvSpPr>
          <p:nvPr>
            <p:ph type="sldImg"/>
          </p:nvPr>
        </p:nvSpPr>
        <p:spPr>
          <a:xfrm>
            <a:off x="992188" y="768350"/>
            <a:ext cx="5114925" cy="3836988"/>
          </a:xfrm>
        </p:spPr>
      </p:sp>
      <p:sp>
        <p:nvSpPr>
          <p:cNvPr id="24579" name="备注占位符 2"/>
          <p:cNvSpPr>
            <a:spLocks noGrp="1"/>
          </p:cNvSpPr>
          <p:nvPr>
            <p:ph type="body" idx="1"/>
          </p:nvPr>
        </p:nvSpPr>
        <p:spPr/>
        <p:txBody>
          <a:bodyPr wrap="square" lIns="99048" tIns="49524" rIns="99048" bIns="49524" anchor="t" anchorCtr="0"/>
          <a:p>
            <a:pPr lvl="0"/>
            <a:r>
              <a:rPr lang="en-US" altLang="zh-CN" dirty="0"/>
              <a:t>Cylindrical symmetry, so the magnitude of B field only related by the distance r from center, and along tangential direction, so we choose concentric circle as the ampere’s loop</a:t>
            </a:r>
            <a:endParaRPr lang="en-US" altLang="zh-CN" dirty="0"/>
          </a:p>
          <a:p>
            <a:pPr lvl="0"/>
            <a:r>
              <a:rPr lang="en-US" altLang="zh-CN" dirty="0"/>
              <a:t>Then we have: </a:t>
            </a:r>
            <a:endParaRPr lang="zh-CN" altLang="en-US" dirty="0"/>
          </a:p>
        </p:txBody>
      </p:sp>
      <p:sp>
        <p:nvSpPr>
          <p:cNvPr id="24580"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p>
            <a:pPr lvl="0" algn="r" defTabSz="990600">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幻灯片图像占位符 1"/>
          <p:cNvSpPr>
            <a:spLocks noGrp="1" noRot="1" noChangeAspect="1" noTextEdit="1"/>
          </p:cNvSpPr>
          <p:nvPr>
            <p:ph type="sldImg"/>
          </p:nvPr>
        </p:nvSpPr>
        <p:spPr>
          <a:xfrm>
            <a:off x="992188" y="768350"/>
            <a:ext cx="5114925" cy="3836988"/>
          </a:xfrm>
        </p:spPr>
      </p:sp>
      <p:sp>
        <p:nvSpPr>
          <p:cNvPr id="25603" name="备注占位符 2"/>
          <p:cNvSpPr>
            <a:spLocks noGrp="1"/>
          </p:cNvSpPr>
          <p:nvPr>
            <p:ph type="body" idx="1"/>
          </p:nvPr>
        </p:nvSpPr>
        <p:spPr/>
        <p:txBody>
          <a:bodyPr wrap="square" lIns="99048" tIns="49524" rIns="99048" bIns="49524" anchor="t" anchorCtr="0"/>
          <a:p>
            <a:pPr lvl="0"/>
            <a:r>
              <a:rPr lang="en-US" altLang="zh-CN" dirty="0"/>
              <a:t>It’s a cylindrical wire with J only related by radius r, so it indeed has cylindrical symmetry, so we know the B field must have same magnitude along a concentric circle, so we choose a concentric circle through the point at which we want to evaluate its B field as ampere’s loop, and then write ampere’s law, calculate the right hand and the left hand, then we can figure out B field.</a:t>
            </a:r>
            <a:endParaRPr lang="zh-CN" altLang="en-US" dirty="0"/>
          </a:p>
        </p:txBody>
      </p:sp>
      <p:sp>
        <p:nvSpPr>
          <p:cNvPr id="25604"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p>
            <a:pPr lvl="0" algn="r" defTabSz="990600">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幻灯片图像占位符 1"/>
          <p:cNvSpPr>
            <a:spLocks noGrp="1" noRot="1" noChangeAspect="1" noTextEdit="1"/>
          </p:cNvSpPr>
          <p:nvPr>
            <p:ph type="sldImg"/>
          </p:nvPr>
        </p:nvSpPr>
        <p:spPr>
          <a:xfrm>
            <a:off x="992188" y="768350"/>
            <a:ext cx="5114925" cy="3836988"/>
          </a:xfrm>
        </p:spPr>
      </p:sp>
      <p:sp>
        <p:nvSpPr>
          <p:cNvPr id="26627" name="备注占位符 2"/>
          <p:cNvSpPr>
            <a:spLocks noGrp="1"/>
          </p:cNvSpPr>
          <p:nvPr>
            <p:ph type="body" idx="1"/>
          </p:nvPr>
        </p:nvSpPr>
        <p:spPr/>
        <p:txBody>
          <a:bodyPr wrap="square" lIns="99048" tIns="49524" rIns="99048" bIns="49524" anchor="t" anchorCtr="0"/>
          <a:p>
            <a:pPr lvl="0"/>
            <a:endParaRPr lang="zh-CN" altLang="en-US" dirty="0"/>
          </a:p>
        </p:txBody>
      </p:sp>
      <p:sp>
        <p:nvSpPr>
          <p:cNvPr id="26628"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p>
            <a:pPr lvl="0" algn="r" defTabSz="990600">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幻灯片图像占位符 1"/>
          <p:cNvSpPr>
            <a:spLocks noGrp="1" noRot="1" noChangeAspect="1" noTextEdit="1"/>
          </p:cNvSpPr>
          <p:nvPr>
            <p:ph type="sldImg"/>
          </p:nvPr>
        </p:nvSpPr>
        <p:spPr>
          <a:xfrm>
            <a:off x="992188" y="768350"/>
            <a:ext cx="5114925" cy="3836988"/>
          </a:xfrm>
        </p:spPr>
      </p:sp>
      <p:sp>
        <p:nvSpPr>
          <p:cNvPr id="27651" name="备注占位符 2"/>
          <p:cNvSpPr>
            <a:spLocks noGrp="1"/>
          </p:cNvSpPr>
          <p:nvPr>
            <p:ph type="body" idx="1"/>
          </p:nvPr>
        </p:nvSpPr>
        <p:spPr/>
        <p:txBody>
          <a:bodyPr wrap="square" lIns="99048" tIns="49524" rIns="99048" bIns="49524" anchor="t" anchorCtr="0"/>
          <a:p>
            <a:pPr lvl="0"/>
            <a:r>
              <a:rPr lang="en-US" altLang="zh-CN" dirty="0"/>
              <a:t>For the hollow cylinder, it has no cylindrical symmetry, so we can not use the ampere’s law directly to find B field produced by this current distribution.</a:t>
            </a:r>
            <a:endParaRPr lang="en-US" altLang="zh-CN" dirty="0"/>
          </a:p>
          <a:p>
            <a:pPr lvl="0"/>
            <a:r>
              <a:rPr lang="en-US" altLang="zh-CN" dirty="0"/>
              <a:t>But we can considered it as a combination of the two cylinders. A big </a:t>
            </a:r>
            <a:endParaRPr lang="zh-CN" altLang="en-US" dirty="0"/>
          </a:p>
        </p:txBody>
      </p:sp>
      <p:sp>
        <p:nvSpPr>
          <p:cNvPr id="27652"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p>
            <a:pPr lvl="0" algn="r" defTabSz="990600">
              <a:spcBef>
                <a:spcPct val="0"/>
              </a:spcBef>
            </a:pPr>
            <a:fld id="{9A0DB2DC-4C9A-4742-B13C-FB6460FD3503}" type="slidenum">
              <a:rPr lang="zh-CN" altLang="en-US" sz="1300" dirty="0">
                <a:ea typeface="宋体" panose="02010600030101010101" pitchFamily="2" charset="-122"/>
              </a:rPr>
            </a:fld>
            <a:endParaRPr lang="zh-CN" altLang="en-US" sz="1300"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228600" y="685800"/>
            <a:ext cx="4229100" cy="3259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685800"/>
            <a:ext cx="4229100" cy="3259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45000"/>
              </a:spcBef>
              <a:spcAft>
                <a:spcPct val="20000"/>
              </a:spcAft>
              <a:buClr>
                <a:srgbClr val="0066CC"/>
              </a:buClr>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76200"/>
            <a:ext cx="2152650" cy="38687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228600" y="76200"/>
            <a:ext cx="6305550" cy="38687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304800" y="76200"/>
            <a:ext cx="8534400" cy="501650"/>
          </a:xfrm>
          <a:prstGeom prst="rect">
            <a:avLst/>
          </a:prstGeom>
          <a:noFill/>
          <a:ln w="9525">
            <a:noFill/>
          </a:ln>
        </p:spPr>
        <p:txBody>
          <a:bodyPr>
            <a:spAutoFit/>
          </a:bodyPr>
          <a:p>
            <a:pPr lvl="0"/>
            <a:r>
              <a:rPr lang="en-US" altLang="zh-CN" dirty="0"/>
              <a:t>Click to edit Master title style</a:t>
            </a:r>
            <a:endParaRPr lang="en-US" altLang="zh-CN" dirty="0"/>
          </a:p>
        </p:txBody>
      </p:sp>
      <p:sp>
        <p:nvSpPr>
          <p:cNvPr id="1027" name="Text Box 4"/>
          <p:cNvSpPr txBox="1">
            <a:spLocks noChangeArrowheads="1"/>
          </p:cNvSpPr>
          <p:nvPr/>
        </p:nvSpPr>
        <p:spPr bwMode="auto">
          <a:xfrm>
            <a:off x="0" y="6613525"/>
            <a:ext cx="9144000" cy="244475"/>
          </a:xfrm>
          <a:prstGeom prst="rect">
            <a:avLst/>
          </a:prstGeom>
          <a:noFill/>
          <a:ln>
            <a:noFill/>
          </a:ln>
        </p:spPr>
        <p:txBody>
          <a:bodyPr anchor="b">
            <a:spAutoFit/>
          </a:bodyPr>
          <a:p>
            <a:pPr lvl="0"/>
            <a:r>
              <a:rPr lang="en-US" altLang="zh-CN" sz="1000" dirty="0">
                <a:latin typeface="Times New Roman" panose="02020603050405020304" pitchFamily="18" charset="0"/>
              </a:rPr>
              <a:t>   General Physics II, SUSTC                                                                                                                                                                                                                Ch 29  -  </a:t>
            </a:r>
            <a:fld id="{9A0DB2DC-4C9A-4742-B13C-FB6460FD3503}" type="slidenum">
              <a:rPr lang="en-US" altLang="zh-CN" sz="1000" dirty="0">
                <a:latin typeface="Times New Roman" panose="02020603050405020304" pitchFamily="18" charset="0"/>
              </a:rPr>
            </a:fld>
            <a:endParaRPr lang="en-US" altLang="zh-CN" sz="1000" dirty="0">
              <a:latin typeface="Times New Roman" panose="02020603050405020304" pitchFamily="18" charset="0"/>
            </a:endParaRPr>
          </a:p>
        </p:txBody>
      </p:sp>
      <p:sp>
        <p:nvSpPr>
          <p:cNvPr id="1028" name="Line 5"/>
          <p:cNvSpPr/>
          <p:nvPr/>
        </p:nvSpPr>
        <p:spPr>
          <a:xfrm>
            <a:off x="179388" y="6597650"/>
            <a:ext cx="8785225" cy="0"/>
          </a:xfrm>
          <a:prstGeom prst="line">
            <a:avLst/>
          </a:prstGeom>
          <a:ln w="25400" cap="flat" cmpd="sng">
            <a:solidFill>
              <a:srgbClr val="00487A"/>
            </a:solidFill>
            <a:prstDash val="solid"/>
            <a:headEnd type="none" w="med" len="med"/>
            <a:tailEnd type="none" w="med" len="med"/>
          </a:ln>
        </p:spPr>
      </p:sp>
      <p:sp>
        <p:nvSpPr>
          <p:cNvPr id="1029" name="Line 6"/>
          <p:cNvSpPr/>
          <p:nvPr/>
        </p:nvSpPr>
        <p:spPr>
          <a:xfrm>
            <a:off x="179388" y="620713"/>
            <a:ext cx="8785225" cy="0"/>
          </a:xfrm>
          <a:prstGeom prst="line">
            <a:avLst/>
          </a:prstGeom>
          <a:ln w="50800" cap="flat" cmpd="sng">
            <a:solidFill>
              <a:srgbClr val="00487A"/>
            </a:solidFill>
            <a:prstDash val="solid"/>
            <a:headEnd type="none" w="med" len="med"/>
            <a:tailEnd type="none" w="med" len="med"/>
          </a:ln>
        </p:spPr>
      </p:sp>
      <p:sp>
        <p:nvSpPr>
          <p:cNvPr id="1030" name="Rectangle 9"/>
          <p:cNvSpPr>
            <a:spLocks noGrp="1"/>
          </p:cNvSpPr>
          <p:nvPr>
            <p:ph type="body" idx="1"/>
          </p:nvPr>
        </p:nvSpPr>
        <p:spPr>
          <a:xfrm>
            <a:off x="228600" y="685800"/>
            <a:ext cx="8610600" cy="3259138"/>
          </a:xfrm>
          <a:prstGeom prst="rect">
            <a:avLst/>
          </a:prstGeom>
          <a:noFill/>
          <a:ln w="9525">
            <a:noFill/>
          </a:ln>
        </p:spPr>
        <p:txBody>
          <a:bodyPr>
            <a:spAutoFit/>
          </a:bodyPr>
          <a:p>
            <a:pPr lvl="1"/>
            <a:r>
              <a:rPr lang="en-US" altLang="zh-CN" dirty="0"/>
              <a:t>Click to edit Master text styles</a:t>
            </a:r>
            <a:endParaRPr lang="en-US" altLang="zh-CN" dirty="0"/>
          </a:p>
          <a:p>
            <a:pPr lvl="2"/>
            <a:r>
              <a:rPr lang="en-US" altLang="zh-CN" dirty="0"/>
              <a:t>Second level</a:t>
            </a:r>
            <a:endParaRPr lang="en-US" altLang="zh-CN" dirty="0"/>
          </a:p>
          <a:p>
            <a:pPr lvl="3"/>
            <a:r>
              <a:rPr lang="en-US" altLang="zh-CN" dirty="0"/>
              <a:t>Third level</a:t>
            </a:r>
            <a:endParaRPr lang="en-US" altLang="zh-CN" dirty="0"/>
          </a:p>
          <a:p>
            <a:pPr lvl="4"/>
            <a:r>
              <a:rPr lang="en-US" altLang="zh-CN" dirty="0"/>
              <a:t>Fourth level</a:t>
            </a:r>
            <a:endParaRPr lang="en-US" altLang="zh-CN" dirty="0"/>
          </a:p>
          <a:p>
            <a:pPr lvl="4"/>
            <a:r>
              <a:rPr lang="en-US" altLang="zh-CN" dirty="0"/>
              <a:t>Fifth level</a:t>
            </a:r>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450850" indent="-450850" algn="l" rtl="0" eaLnBrk="0" fontAlgn="base" hangingPunct="0">
        <a:lnSpc>
          <a:spcPct val="90000"/>
        </a:lnSpc>
        <a:spcBef>
          <a:spcPct val="0"/>
        </a:spcBef>
        <a:spcAft>
          <a:spcPct val="0"/>
        </a:spcAft>
        <a:defRPr sz="3000" b="1">
          <a:solidFill>
            <a:srgbClr val="D33325"/>
          </a:solidFill>
          <a:latin typeface="+mj-lt"/>
          <a:ea typeface="+mj-ea"/>
          <a:cs typeface="+mj-cs"/>
        </a:defRPr>
      </a:lvl1pPr>
      <a:lvl2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p:titleStyle>
    <p:body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vl6pPr marL="27432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6pPr>
      <a:lvl7pPr marL="32004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7pPr>
      <a:lvl8pPr marL="36576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8pPr>
      <a:lvl9pPr marL="41148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9" Type="http://schemas.openxmlformats.org/officeDocument/2006/relationships/oleObject" Target="../embeddings/oleObject2.bin"/><Relationship Id="rId8" Type="http://schemas.openxmlformats.org/officeDocument/2006/relationships/image" Target="../media/image7.jpeg"/><Relationship Id="rId7" Type="http://schemas.openxmlformats.org/officeDocument/2006/relationships/image" Target="../media/image6.jpeg"/><Relationship Id="rId6" Type="http://schemas.openxmlformats.org/officeDocument/2006/relationships/image" Target="../media/image5.wmf"/><Relationship Id="rId5" Type="http://schemas.openxmlformats.org/officeDocument/2006/relationships/oleObject" Target="../embeddings/oleObject1.bin"/><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7" Type="http://schemas.openxmlformats.org/officeDocument/2006/relationships/notesSlide" Target="../notesSlides/notesSlide2.xml"/><Relationship Id="rId16" Type="http://schemas.openxmlformats.org/officeDocument/2006/relationships/vmlDrawing" Target="../drawings/vmlDrawing1.vml"/><Relationship Id="rId15" Type="http://schemas.openxmlformats.org/officeDocument/2006/relationships/slideLayout" Target="../slideLayouts/slideLayout7.xml"/><Relationship Id="rId14" Type="http://schemas.openxmlformats.org/officeDocument/2006/relationships/image" Target="../media/image10.wmf"/><Relationship Id="rId13" Type="http://schemas.openxmlformats.org/officeDocument/2006/relationships/oleObject" Target="../embeddings/oleObject4.bin"/><Relationship Id="rId12" Type="http://schemas.openxmlformats.org/officeDocument/2006/relationships/image" Target="../media/image9.wmf"/><Relationship Id="rId11" Type="http://schemas.openxmlformats.org/officeDocument/2006/relationships/oleObject" Target="../embeddings/oleObject3.bin"/><Relationship Id="rId10" Type="http://schemas.openxmlformats.org/officeDocument/2006/relationships/image" Target="../media/image8.wmf"/><Relationship Id="rId1" Type="http://schemas.openxmlformats.org/officeDocument/2006/relationships/image" Target="../media/image1.wmf"/></Relationships>
</file>

<file path=ppt/slides/_rels/slide3.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oleObject" Target="../embeddings/oleObject8.bin"/><Relationship Id="rId7" Type="http://schemas.openxmlformats.org/officeDocument/2006/relationships/image" Target="../media/image14.wmf"/><Relationship Id="rId6" Type="http://schemas.openxmlformats.org/officeDocument/2006/relationships/oleObject" Target="../embeddings/oleObject7.bin"/><Relationship Id="rId5" Type="http://schemas.openxmlformats.org/officeDocument/2006/relationships/image" Target="../media/image13.wmf"/><Relationship Id="rId4" Type="http://schemas.openxmlformats.org/officeDocument/2006/relationships/oleObject" Target="../embeddings/oleObject6.bin"/><Relationship Id="rId3" Type="http://schemas.openxmlformats.org/officeDocument/2006/relationships/image" Target="../media/image12.wmf"/><Relationship Id="rId2" Type="http://schemas.openxmlformats.org/officeDocument/2006/relationships/oleObject" Target="../embeddings/oleObject5.bin"/><Relationship Id="rId11" Type="http://schemas.openxmlformats.org/officeDocument/2006/relationships/vmlDrawing" Target="../drawings/vmlDrawing2.vml"/><Relationship Id="rId10" Type="http://schemas.openxmlformats.org/officeDocument/2006/relationships/slideLayout" Target="../slideLayouts/slideLayout7.xml"/><Relationship Id="rId1" Type="http://schemas.openxmlformats.org/officeDocument/2006/relationships/image" Target="../media/image11.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vmlDrawing" Target="../drawings/vmlDrawing3.vml"/><Relationship Id="rId6" Type="http://schemas.openxmlformats.org/officeDocument/2006/relationships/slideLayout" Target="../slideLayouts/slideLayout7.xml"/><Relationship Id="rId5" Type="http://schemas.openxmlformats.org/officeDocument/2006/relationships/image" Target="../media/image18.wmf"/><Relationship Id="rId4" Type="http://schemas.openxmlformats.org/officeDocument/2006/relationships/oleObject" Target="../embeddings/oleObject10.bin"/><Relationship Id="rId3" Type="http://schemas.openxmlformats.org/officeDocument/2006/relationships/image" Target="../media/image17.wmf"/><Relationship Id="rId2" Type="http://schemas.openxmlformats.org/officeDocument/2006/relationships/oleObject" Target="../embeddings/oleObject9.bin"/><Relationship Id="rId1" Type="http://schemas.openxmlformats.org/officeDocument/2006/relationships/image" Target="../media/image16.png"/></Relationships>
</file>

<file path=ppt/slides/_rels/slide5.xml.rels><?xml version="1.0" encoding="UTF-8" standalone="yes"?>
<Relationships xmlns="http://schemas.openxmlformats.org/package/2006/relationships"><Relationship Id="rId9" Type="http://schemas.openxmlformats.org/officeDocument/2006/relationships/image" Target="../media/image25.wmf"/><Relationship Id="rId8" Type="http://schemas.openxmlformats.org/officeDocument/2006/relationships/oleObject" Target="../embeddings/oleObject12.bin"/><Relationship Id="rId7" Type="http://schemas.openxmlformats.org/officeDocument/2006/relationships/image" Target="../media/image24.wmf"/><Relationship Id="rId6" Type="http://schemas.openxmlformats.org/officeDocument/2006/relationships/oleObject" Target="../embeddings/oleObject11.bin"/><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2" Type="http://schemas.openxmlformats.org/officeDocument/2006/relationships/notesSlide" Target="../notesSlides/notesSlide4.xml"/><Relationship Id="rId11" Type="http://schemas.openxmlformats.org/officeDocument/2006/relationships/vmlDrawing" Target="../drawings/vmlDrawing4.vml"/><Relationship Id="rId10" Type="http://schemas.openxmlformats.org/officeDocument/2006/relationships/slideLayout" Target="../slideLayouts/slideLayout7.xml"/><Relationship Id="rId1" Type="http://schemas.openxmlformats.org/officeDocument/2006/relationships/image" Target="../media/image19.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2.png"/><Relationship Id="rId2" Type="http://schemas.openxmlformats.org/officeDocument/2006/relationships/image" Target="../media/image27.jpeg"/><Relationship Id="rId1" Type="http://schemas.openxmlformats.org/officeDocument/2006/relationships/image" Target="../media/image26.jpe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22.png"/><Relationship Id="rId2" Type="http://schemas.openxmlformats.org/officeDocument/2006/relationships/image" Target="../media/image31.png"/><Relationship Id="rId1"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6.png"/><Relationship Id="rId1" Type="http://schemas.openxmlformats.org/officeDocument/2006/relationships/image" Target="../media/image35.png"/></Relationships>
</file>

<file path=ppt/slides/_rels/slide9.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7.xml"/><Relationship Id="rId7" Type="http://schemas.openxmlformats.org/officeDocument/2006/relationships/image" Target="../media/image40.wmf"/><Relationship Id="rId6" Type="http://schemas.openxmlformats.org/officeDocument/2006/relationships/oleObject" Target="../embeddings/oleObject15.bin"/><Relationship Id="rId5" Type="http://schemas.openxmlformats.org/officeDocument/2006/relationships/image" Target="../media/image39.wmf"/><Relationship Id="rId4" Type="http://schemas.openxmlformats.org/officeDocument/2006/relationships/oleObject" Target="../embeddings/oleObject14.bin"/><Relationship Id="rId3" Type="http://schemas.openxmlformats.org/officeDocument/2006/relationships/image" Target="../media/image38.wmf"/><Relationship Id="rId2" Type="http://schemas.openxmlformats.org/officeDocument/2006/relationships/oleObject" Target="../embeddings/oleObject13.bin"/><Relationship Id="rId1" Type="http://schemas.openxmlformats.org/officeDocument/2006/relationships/image" Target="../media/image3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4.wmf"/><Relationship Id="rId7" Type="http://schemas.openxmlformats.org/officeDocument/2006/relationships/oleObject" Target="../embeddings/oleObject19.bin"/><Relationship Id="rId6" Type="http://schemas.openxmlformats.org/officeDocument/2006/relationships/image" Target="../media/image43.wmf"/><Relationship Id="rId5" Type="http://schemas.openxmlformats.org/officeDocument/2006/relationships/oleObject" Target="../embeddings/oleObject18.bin"/><Relationship Id="rId4" Type="http://schemas.openxmlformats.org/officeDocument/2006/relationships/image" Target="../media/image42.wmf"/><Relationship Id="rId3" Type="http://schemas.openxmlformats.org/officeDocument/2006/relationships/oleObject" Target="../embeddings/oleObject17.bin"/><Relationship Id="rId2" Type="http://schemas.openxmlformats.org/officeDocument/2006/relationships/image" Target="../media/image41.wmf"/><Relationship Id="rId11" Type="http://schemas.openxmlformats.org/officeDocument/2006/relationships/notesSlide" Target="../notesSlides/notesSlide8.xml"/><Relationship Id="rId10" Type="http://schemas.openxmlformats.org/officeDocument/2006/relationships/vmlDrawing" Target="../drawings/vmlDrawing6.vml"/><Relationship Id="rId1" Type="http://schemas.openxmlformats.org/officeDocument/2006/relationships/oleObject" Target="../embeddings/oleObject16.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45.jpeg"/></Relationships>
</file>

<file path=ppt/slides/_rels/slide13.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7.xml"/><Relationship Id="rId5" Type="http://schemas.openxmlformats.org/officeDocument/2006/relationships/image" Target="../media/image47.wmf"/><Relationship Id="rId4" Type="http://schemas.openxmlformats.org/officeDocument/2006/relationships/oleObject" Target="../embeddings/oleObject21.bin"/><Relationship Id="rId3" Type="http://schemas.openxmlformats.org/officeDocument/2006/relationships/image" Target="../media/image46.wmf"/><Relationship Id="rId2" Type="http://schemas.openxmlformats.org/officeDocument/2006/relationships/oleObject" Target="../embeddings/oleObject20.bin"/><Relationship Id="rId1" Type="http://schemas.openxmlformats.org/officeDocument/2006/relationships/image" Target="../media/image45.jpeg"/></Relationships>
</file>

<file path=ppt/slides/_rels/slide14.xml.rels><?xml version="1.0" encoding="UTF-8" standalone="yes"?>
<Relationships xmlns="http://schemas.openxmlformats.org/package/2006/relationships"><Relationship Id="rId9" Type="http://schemas.openxmlformats.org/officeDocument/2006/relationships/image" Target="../media/image52.wmf"/><Relationship Id="rId8" Type="http://schemas.openxmlformats.org/officeDocument/2006/relationships/oleObject" Target="../embeddings/oleObject25.bin"/><Relationship Id="rId7" Type="http://schemas.openxmlformats.org/officeDocument/2006/relationships/image" Target="../media/image51.wmf"/><Relationship Id="rId6" Type="http://schemas.openxmlformats.org/officeDocument/2006/relationships/oleObject" Target="../embeddings/oleObject24.bin"/><Relationship Id="rId5" Type="http://schemas.openxmlformats.org/officeDocument/2006/relationships/image" Target="../media/image50.wmf"/><Relationship Id="rId4" Type="http://schemas.openxmlformats.org/officeDocument/2006/relationships/oleObject" Target="../embeddings/oleObject23.bin"/><Relationship Id="rId3" Type="http://schemas.openxmlformats.org/officeDocument/2006/relationships/image" Target="../media/image49.png"/><Relationship Id="rId2" Type="http://schemas.openxmlformats.org/officeDocument/2006/relationships/image" Target="../media/image48.wmf"/><Relationship Id="rId11" Type="http://schemas.openxmlformats.org/officeDocument/2006/relationships/vmlDrawing" Target="../drawings/vmlDrawing8.vml"/><Relationship Id="rId10" Type="http://schemas.openxmlformats.org/officeDocument/2006/relationships/slideLayout" Target="../slideLayouts/slideLayout7.xml"/><Relationship Id="rId1" Type="http://schemas.openxmlformats.org/officeDocument/2006/relationships/oleObject" Target="../embeddings/oleObject22.bin"/></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30.bin"/><Relationship Id="rId8" Type="http://schemas.openxmlformats.org/officeDocument/2006/relationships/image" Target="../media/image56.wmf"/><Relationship Id="rId7" Type="http://schemas.openxmlformats.org/officeDocument/2006/relationships/oleObject" Target="../embeddings/oleObject29.bin"/><Relationship Id="rId6" Type="http://schemas.openxmlformats.org/officeDocument/2006/relationships/image" Target="../media/image55.wmf"/><Relationship Id="rId5" Type="http://schemas.openxmlformats.org/officeDocument/2006/relationships/oleObject" Target="../embeddings/oleObject28.bin"/><Relationship Id="rId4" Type="http://schemas.openxmlformats.org/officeDocument/2006/relationships/image" Target="../media/image54.wmf"/><Relationship Id="rId3" Type="http://schemas.openxmlformats.org/officeDocument/2006/relationships/oleObject" Target="../embeddings/oleObject27.bin"/><Relationship Id="rId2" Type="http://schemas.openxmlformats.org/officeDocument/2006/relationships/image" Target="../media/image53.wmf"/><Relationship Id="rId17" Type="http://schemas.openxmlformats.org/officeDocument/2006/relationships/vmlDrawing" Target="../drawings/vmlDrawing9.vml"/><Relationship Id="rId16" Type="http://schemas.openxmlformats.org/officeDocument/2006/relationships/slideLayout" Target="../slideLayouts/slideLayout7.xml"/><Relationship Id="rId15" Type="http://schemas.openxmlformats.org/officeDocument/2006/relationships/image" Target="../media/image60.wmf"/><Relationship Id="rId14" Type="http://schemas.openxmlformats.org/officeDocument/2006/relationships/oleObject" Target="../embeddings/oleObject32.bin"/><Relationship Id="rId13" Type="http://schemas.openxmlformats.org/officeDocument/2006/relationships/image" Target="../media/image59.wmf"/><Relationship Id="rId12" Type="http://schemas.openxmlformats.org/officeDocument/2006/relationships/oleObject" Target="../embeddings/oleObject31.bin"/><Relationship Id="rId11" Type="http://schemas.openxmlformats.org/officeDocument/2006/relationships/image" Target="../media/image58.png"/><Relationship Id="rId10" Type="http://schemas.openxmlformats.org/officeDocument/2006/relationships/image" Target="../media/image57.wmf"/><Relationship Id="rId1" Type="http://schemas.openxmlformats.org/officeDocument/2006/relationships/oleObject" Target="../embeddings/oleObject2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82" name="Text Box 11"/>
          <p:cNvSpPr txBox="1">
            <a:spLocks noChangeArrowheads="1"/>
          </p:cNvSpPr>
          <p:nvPr/>
        </p:nvSpPr>
        <p:spPr bwMode="auto">
          <a:xfrm>
            <a:off x="190500" y="95250"/>
            <a:ext cx="5497513" cy="461963"/>
          </a:xfrm>
          <a:prstGeom prst="rect">
            <a:avLst/>
          </a:prstGeom>
          <a:noFill/>
          <a:ln>
            <a:noFill/>
          </a:ln>
          <a:effectLst/>
        </p:spPr>
        <p:txBody>
          <a:bodyPr>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Key words of chapter 29          </a:t>
            </a:r>
            <a:endParaRPr kumimoji="0"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051" name="Text Box 5"/>
          <p:cNvSpPr txBox="1"/>
          <p:nvPr/>
        </p:nvSpPr>
        <p:spPr>
          <a:xfrm>
            <a:off x="2022475" y="1125538"/>
            <a:ext cx="4997450" cy="4560887"/>
          </a:xfrm>
          <a:prstGeom prst="rect">
            <a:avLst/>
          </a:prstGeom>
          <a:noFill/>
          <a:ln w="9525">
            <a:noFill/>
          </a:ln>
        </p:spPr>
        <p:txBody>
          <a:bodyPr>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lnSpc>
                <a:spcPct val="130000"/>
              </a:lnSpc>
              <a:spcBef>
                <a:spcPct val="0"/>
              </a:spcBef>
              <a:spcAft>
                <a:spcPct val="0"/>
              </a:spcAft>
              <a:buClrTx/>
              <a:buNone/>
            </a:pPr>
            <a:r>
              <a:rPr lang="en-US" altLang="zh-CN" sz="2100" dirty="0">
                <a:latin typeface="Times New Roman" panose="02020603050405020304" pitchFamily="18" charset="0"/>
                <a:ea typeface="宋体" panose="02010600030101010101" pitchFamily="2" charset="-122"/>
              </a:rPr>
              <a:t>L</a:t>
            </a:r>
            <a:r>
              <a:rPr lang="zh-CN" altLang="en-US" sz="2100" dirty="0">
                <a:latin typeface="Times New Roman" panose="02020603050405020304" pitchFamily="18" charset="0"/>
                <a:ea typeface="宋体" panose="02010600030101010101" pitchFamily="2" charset="-122"/>
              </a:rPr>
              <a:t>aw of Biot</a:t>
            </a:r>
            <a:r>
              <a:rPr lang="en-US" altLang="zh-CN" sz="2100" dirty="0">
                <a:latin typeface="Times New Roman" panose="02020603050405020304" pitchFamily="18" charset="0"/>
                <a:ea typeface="宋体" panose="02010600030101010101" pitchFamily="2" charset="-122"/>
              </a:rPr>
              <a:t> </a:t>
            </a:r>
            <a:r>
              <a:rPr lang="zh-CN" altLang="en-US" sz="2100" dirty="0">
                <a:latin typeface="Times New Roman" panose="02020603050405020304" pitchFamily="18" charset="0"/>
                <a:ea typeface="宋体" panose="02010600030101010101" pitchFamily="2" charset="-122"/>
              </a:rPr>
              <a:t>and Savart 毕奥萨法尔定律</a:t>
            </a:r>
            <a:endParaRPr lang="en-US" altLang="zh-CN" sz="2100"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spcAft>
                <a:spcPct val="0"/>
              </a:spcAft>
              <a:buClrTx/>
              <a:buNone/>
            </a:pPr>
            <a:r>
              <a:rPr lang="en-US" altLang="zh-CN" sz="2100" dirty="0">
                <a:latin typeface="Times New Roman" panose="02020603050405020304" pitchFamily="18" charset="0"/>
                <a:ea typeface="宋体" panose="02010600030101010101" pitchFamily="2" charset="-122"/>
              </a:rPr>
              <a:t>Ampere’s Law </a:t>
            </a:r>
            <a:r>
              <a:rPr lang="zh-CN" altLang="en-US" sz="2100" dirty="0">
                <a:latin typeface="Times New Roman" panose="02020603050405020304" pitchFamily="18" charset="0"/>
                <a:ea typeface="宋体" panose="02010600030101010101" pitchFamily="2" charset="-122"/>
              </a:rPr>
              <a:t>安培定理</a:t>
            </a:r>
            <a:endParaRPr lang="en-US" altLang="zh-CN" sz="2100"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spcAft>
                <a:spcPct val="0"/>
              </a:spcAft>
              <a:buClrTx/>
              <a:buNone/>
            </a:pPr>
            <a:r>
              <a:rPr lang="en-US" altLang="zh-CN" sz="2100" dirty="0">
                <a:latin typeface="Times New Roman" panose="02020603050405020304" pitchFamily="18" charset="0"/>
                <a:ea typeface="宋体" panose="02010600030101010101" pitchFamily="2" charset="-122"/>
              </a:rPr>
              <a:t>Long Straight Wire </a:t>
            </a:r>
            <a:r>
              <a:rPr lang="zh-CN" altLang="en-US" sz="2100" dirty="0">
                <a:latin typeface="Times New Roman" panose="02020603050405020304" pitchFamily="18" charset="0"/>
                <a:ea typeface="宋体" panose="02010600030101010101" pitchFamily="2" charset="-122"/>
              </a:rPr>
              <a:t>长直导线</a:t>
            </a:r>
            <a:endParaRPr lang="en-US" altLang="zh-CN" sz="2100"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spcAft>
                <a:spcPct val="0"/>
              </a:spcAft>
              <a:buClrTx/>
              <a:buNone/>
            </a:pPr>
            <a:r>
              <a:rPr lang="en-US" altLang="zh-CN" sz="2100" dirty="0">
                <a:latin typeface="Times New Roman" panose="02020603050405020304" pitchFamily="18" charset="0"/>
                <a:ea typeface="宋体" panose="02010600030101010101" pitchFamily="2" charset="-122"/>
              </a:rPr>
              <a:t>Circular Arc </a:t>
            </a:r>
            <a:r>
              <a:rPr lang="zh-CN" altLang="en-US" sz="2100" dirty="0">
                <a:latin typeface="Times New Roman" panose="02020603050405020304" pitchFamily="18" charset="0"/>
                <a:ea typeface="宋体" panose="02010600030101010101" pitchFamily="2" charset="-122"/>
              </a:rPr>
              <a:t>圆弧</a:t>
            </a:r>
            <a:endParaRPr lang="en-US" altLang="zh-CN" sz="2100"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spcAft>
                <a:spcPct val="0"/>
              </a:spcAft>
              <a:buClrTx/>
              <a:buNone/>
            </a:pPr>
            <a:r>
              <a:rPr lang="en-US" altLang="zh-CN" sz="2100" dirty="0">
                <a:latin typeface="Times New Roman" panose="02020603050405020304" pitchFamily="18" charset="0"/>
                <a:ea typeface="宋体" panose="02010600030101010101" pitchFamily="2" charset="-122"/>
              </a:rPr>
              <a:t>Solenoids </a:t>
            </a:r>
            <a:r>
              <a:rPr lang="zh-CN" altLang="en-US" sz="2100" dirty="0">
                <a:latin typeface="Times New Roman" panose="02020603050405020304" pitchFamily="18" charset="0"/>
                <a:ea typeface="宋体" panose="02010600030101010101" pitchFamily="2" charset="-122"/>
              </a:rPr>
              <a:t>直螺线管</a:t>
            </a:r>
            <a:endParaRPr lang="en-US" altLang="zh-CN" sz="2100"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spcAft>
                <a:spcPct val="0"/>
              </a:spcAft>
              <a:buClrTx/>
              <a:buNone/>
            </a:pPr>
            <a:r>
              <a:rPr lang="en-US" altLang="zh-CN" sz="2100" dirty="0">
                <a:latin typeface="Times New Roman" panose="02020603050405020304" pitchFamily="18" charset="0"/>
                <a:ea typeface="宋体" panose="02010600030101010101" pitchFamily="2" charset="-122"/>
              </a:rPr>
              <a:t>Toroids </a:t>
            </a:r>
            <a:r>
              <a:rPr lang="zh-CN" altLang="en-US" sz="2100" dirty="0">
                <a:latin typeface="Times New Roman" panose="02020603050405020304" pitchFamily="18" charset="0"/>
                <a:ea typeface="宋体" panose="02010600030101010101" pitchFamily="2" charset="-122"/>
              </a:rPr>
              <a:t>环形螺线管</a:t>
            </a:r>
            <a:endParaRPr lang="en-US" altLang="zh-CN" sz="2100"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spcAft>
                <a:spcPct val="0"/>
              </a:spcAft>
              <a:buClrTx/>
              <a:buNone/>
            </a:pPr>
            <a:r>
              <a:rPr lang="en-US" altLang="zh-CN" sz="2100" dirty="0">
                <a:latin typeface="Times New Roman" panose="02020603050405020304" pitchFamily="18" charset="0"/>
                <a:ea typeface="宋体" panose="02010600030101010101" pitchFamily="2" charset="-122"/>
              </a:rPr>
              <a:t>Crooked wire </a:t>
            </a:r>
            <a:r>
              <a:rPr lang="zh-CN" altLang="en-US" sz="2100" dirty="0">
                <a:latin typeface="Times New Roman" panose="02020603050405020304" pitchFamily="18" charset="0"/>
                <a:ea typeface="宋体" panose="02010600030101010101" pitchFamily="2" charset="-122"/>
              </a:rPr>
              <a:t>弯曲导线</a:t>
            </a:r>
            <a:endParaRPr lang="en-US" altLang="zh-CN" sz="2100" dirty="0">
              <a:latin typeface="Times New Roman" panose="02020603050405020304" pitchFamily="18" charset="0"/>
              <a:ea typeface="宋体" panose="02010600030101010101" pitchFamily="2" charset="-122"/>
            </a:endParaRPr>
          </a:p>
          <a:p>
            <a:pPr marL="0" lvl="0" indent="0" eaLnBrk="1" hangingPunct="1">
              <a:lnSpc>
                <a:spcPct val="130000"/>
              </a:lnSpc>
              <a:spcBef>
                <a:spcPct val="0"/>
              </a:spcBef>
              <a:spcAft>
                <a:spcPct val="0"/>
              </a:spcAft>
              <a:buClrTx/>
              <a:buNone/>
            </a:pPr>
            <a:r>
              <a:rPr lang="en-US" altLang="zh-CN" sz="2100" dirty="0">
                <a:latin typeface="Times New Roman" panose="02020603050405020304" pitchFamily="18" charset="0"/>
                <a:ea typeface="宋体" panose="02010600030101010101" pitchFamily="2" charset="-122"/>
              </a:rPr>
              <a:t>Amperian loop </a:t>
            </a:r>
            <a:r>
              <a:rPr lang="zh-CN" altLang="en-US" sz="2100" dirty="0">
                <a:latin typeface="Times New Roman" panose="02020603050405020304" pitchFamily="18" charset="0"/>
                <a:ea typeface="宋体" panose="02010600030101010101" pitchFamily="2" charset="-122"/>
              </a:rPr>
              <a:t>安培回路</a:t>
            </a:r>
            <a:endParaRPr lang="en-US" altLang="zh-CN" sz="2100" dirty="0">
              <a:latin typeface="Times New Roman" panose="02020603050405020304" pitchFamily="18" charset="0"/>
              <a:ea typeface="宋体" panose="02010600030101010101" pitchFamily="2" charset="-122"/>
            </a:endParaRPr>
          </a:p>
          <a:p>
            <a:pPr marL="0" lvl="0" indent="0" eaLnBrk="1" hangingPunct="1">
              <a:spcBef>
                <a:spcPct val="0"/>
              </a:spcBef>
              <a:spcAft>
                <a:spcPct val="0"/>
              </a:spcAft>
              <a:buClrTx/>
              <a:buNone/>
            </a:pPr>
            <a:endParaRPr lang="en-US" altLang="zh-CN" sz="2400" b="1" dirty="0">
              <a:latin typeface="Times New Roman" panose="02020603050405020304" pitchFamily="18" charset="0"/>
              <a:ea typeface="宋体" panose="02010600030101010101" pitchFamily="2" charset="-122"/>
            </a:endParaRPr>
          </a:p>
          <a:p>
            <a:pPr marL="0" lvl="0" indent="0" eaLnBrk="1" hangingPunct="1">
              <a:spcBef>
                <a:spcPct val="0"/>
              </a:spcBef>
              <a:spcAft>
                <a:spcPct val="0"/>
              </a:spcAft>
              <a:buClrTx/>
              <a:buNone/>
            </a:pPr>
            <a:endParaRPr lang="en-US" altLang="zh-CN" sz="2400" b="1" dirty="0">
              <a:latin typeface="Times New Roman" panose="02020603050405020304" pitchFamily="18" charset="0"/>
              <a:ea typeface="宋体" panose="02010600030101010101" pitchFamily="2" charset="-122"/>
            </a:endParaRPr>
          </a:p>
          <a:p>
            <a:pPr marL="0" lvl="0" indent="0" eaLnBrk="1" hangingPunct="1">
              <a:spcBef>
                <a:spcPct val="0"/>
              </a:spcBef>
              <a:spcAft>
                <a:spcPct val="0"/>
              </a:spcAft>
              <a:buClrTx/>
              <a:buNone/>
            </a:pP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74" name="Picture 14"/>
          <p:cNvPicPr>
            <a:picLocks noChangeAspect="1"/>
          </p:cNvPicPr>
          <p:nvPr/>
        </p:nvPicPr>
        <p:blipFill>
          <a:blip r:embed="rId1">
            <a:lum bright="-20001" contrast="40000"/>
          </a:blip>
          <a:srcRect t="7056"/>
          <a:stretch>
            <a:fillRect/>
          </a:stretch>
        </p:blipFill>
        <p:spPr>
          <a:xfrm>
            <a:off x="3233738" y="765175"/>
            <a:ext cx="2917825" cy="2303463"/>
          </a:xfrm>
          <a:prstGeom prst="rect">
            <a:avLst/>
          </a:prstGeom>
          <a:noFill/>
          <a:ln w="9525">
            <a:noFill/>
          </a:ln>
        </p:spPr>
      </p:pic>
      <p:pic>
        <p:nvPicPr>
          <p:cNvPr id="3075" name="Picture 12"/>
          <p:cNvPicPr>
            <a:picLocks noChangeAspect="1"/>
          </p:cNvPicPr>
          <p:nvPr/>
        </p:nvPicPr>
        <p:blipFill>
          <a:blip r:embed="rId2">
            <a:lum bright="-20001" contrast="40000"/>
          </a:blip>
          <a:stretch>
            <a:fillRect/>
          </a:stretch>
        </p:blipFill>
        <p:spPr>
          <a:xfrm>
            <a:off x="6516688" y="803275"/>
            <a:ext cx="1584325" cy="2238375"/>
          </a:xfrm>
          <a:prstGeom prst="rect">
            <a:avLst/>
          </a:prstGeom>
          <a:noFill/>
          <a:ln w="9525">
            <a:noFill/>
          </a:ln>
        </p:spPr>
      </p:pic>
      <p:grpSp>
        <p:nvGrpSpPr>
          <p:cNvPr id="3076" name="Group 4"/>
          <p:cNvGrpSpPr/>
          <p:nvPr/>
        </p:nvGrpSpPr>
        <p:grpSpPr>
          <a:xfrm>
            <a:off x="400050" y="992188"/>
            <a:ext cx="3095625" cy="809625"/>
            <a:chOff x="0" y="0"/>
            <a:chExt cx="3095625" cy="809625"/>
          </a:xfrm>
        </p:grpSpPr>
        <p:grpSp>
          <p:nvGrpSpPr>
            <p:cNvPr id="3091" name="Group 5"/>
            <p:cNvGrpSpPr/>
            <p:nvPr/>
          </p:nvGrpSpPr>
          <p:grpSpPr>
            <a:xfrm>
              <a:off x="0" y="0"/>
              <a:ext cx="3095625" cy="809625"/>
              <a:chOff x="0" y="0"/>
              <a:chExt cx="1950" cy="474"/>
            </a:xfrm>
          </p:grpSpPr>
          <p:sp>
            <p:nvSpPr>
              <p:cNvPr id="3093" name="Text Box 4"/>
              <p:cNvSpPr txBox="1"/>
              <p:nvPr/>
            </p:nvSpPr>
            <p:spPr>
              <a:xfrm>
                <a:off x="0" y="91"/>
                <a:ext cx="499" cy="268"/>
              </a:xfrm>
              <a:prstGeom prst="rect">
                <a:avLst/>
              </a:prstGeom>
              <a:noFill/>
              <a:ln w="9525">
                <a:noFill/>
              </a:ln>
            </p:spPr>
            <p:txBody>
              <a:bodyPr>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50000"/>
                  </a:spcBef>
                  <a:spcAft>
                    <a:spcPct val="0"/>
                  </a:spcAft>
                  <a:buClrTx/>
                  <a:buNone/>
                </a:pPr>
                <a:r>
                  <a:rPr lang="en-US" altLang="zh-CN" sz="2400" i="1" dirty="0">
                    <a:latin typeface="Times New Roman" panose="02020603050405020304" pitchFamily="18" charset="0"/>
                    <a:ea typeface="宋体" panose="02010600030101010101" pitchFamily="2" charset="-122"/>
                  </a:rPr>
                  <a:t>d</a:t>
                </a:r>
                <a:r>
                  <a:rPr lang="en-US" altLang="zh-CN" sz="2400" b="1" i="1" dirty="0">
                    <a:latin typeface="Times New Roman" panose="02020603050405020304" pitchFamily="18" charset="0"/>
                    <a:ea typeface="宋体" panose="02010600030101010101" pitchFamily="2" charset="-122"/>
                  </a:rPr>
                  <a:t>B =  </a:t>
                </a:r>
                <a:endParaRPr lang="en-US" altLang="zh-CN" sz="2400" b="1" i="1" dirty="0">
                  <a:latin typeface="Times New Roman" panose="02020603050405020304" pitchFamily="18" charset="0"/>
                  <a:ea typeface="宋体" panose="02010600030101010101" pitchFamily="2" charset="-122"/>
                </a:endParaRPr>
              </a:p>
            </p:txBody>
          </p:sp>
          <p:pic>
            <p:nvPicPr>
              <p:cNvPr id="3094" name="Picture 5"/>
              <p:cNvPicPr>
                <a:picLocks noChangeAspect="1"/>
              </p:cNvPicPr>
              <p:nvPr/>
            </p:nvPicPr>
            <p:blipFill>
              <a:blip r:embed="rId3">
                <a:lum bright="-20001" contrast="40000"/>
              </a:blip>
              <a:stretch>
                <a:fillRect/>
              </a:stretch>
            </p:blipFill>
            <p:spPr>
              <a:xfrm>
                <a:off x="318" y="62"/>
                <a:ext cx="544" cy="412"/>
              </a:xfrm>
              <a:prstGeom prst="rect">
                <a:avLst/>
              </a:prstGeom>
              <a:noFill/>
              <a:ln w="9525">
                <a:noFill/>
              </a:ln>
            </p:spPr>
          </p:pic>
          <p:pic>
            <p:nvPicPr>
              <p:cNvPr id="3095" name="Picture 6"/>
              <p:cNvPicPr>
                <a:picLocks noChangeAspect="1"/>
              </p:cNvPicPr>
              <p:nvPr/>
            </p:nvPicPr>
            <p:blipFill>
              <a:blip r:embed="rId4">
                <a:lum bright="-20001" contrast="40000"/>
              </a:blip>
              <a:stretch>
                <a:fillRect/>
              </a:stretch>
            </p:blipFill>
            <p:spPr>
              <a:xfrm>
                <a:off x="952" y="16"/>
                <a:ext cx="333" cy="453"/>
              </a:xfrm>
              <a:prstGeom prst="rect">
                <a:avLst/>
              </a:prstGeom>
              <a:noFill/>
              <a:ln w="9525">
                <a:noFill/>
              </a:ln>
            </p:spPr>
          </p:pic>
          <p:sp>
            <p:nvSpPr>
              <p:cNvPr id="3096" name="Line 7"/>
              <p:cNvSpPr/>
              <p:nvPr/>
            </p:nvSpPr>
            <p:spPr>
              <a:xfrm>
                <a:off x="1224" y="62"/>
                <a:ext cx="91" cy="0"/>
              </a:xfrm>
              <a:prstGeom prst="line">
                <a:avLst/>
              </a:prstGeom>
              <a:ln w="19050" cap="flat" cmpd="sng">
                <a:solidFill>
                  <a:schemeClr val="tx1"/>
                </a:solidFill>
                <a:prstDash val="solid"/>
                <a:headEnd type="none" w="med" len="med"/>
                <a:tailEnd type="triangle" w="med" len="med"/>
              </a:ln>
            </p:spPr>
          </p:sp>
          <p:grpSp>
            <p:nvGrpSpPr>
              <p:cNvPr id="3097" name="Group 10"/>
              <p:cNvGrpSpPr/>
              <p:nvPr/>
            </p:nvGrpSpPr>
            <p:grpSpPr>
              <a:xfrm>
                <a:off x="1315" y="0"/>
                <a:ext cx="635" cy="268"/>
                <a:chOff x="0" y="0"/>
                <a:chExt cx="635" cy="268"/>
              </a:xfrm>
            </p:grpSpPr>
            <p:sp>
              <p:nvSpPr>
                <p:cNvPr id="3098" name="Text Box 9"/>
                <p:cNvSpPr txBox="1"/>
                <p:nvPr/>
              </p:nvSpPr>
              <p:spPr>
                <a:xfrm>
                  <a:off x="0" y="0"/>
                  <a:ext cx="635" cy="268"/>
                </a:xfrm>
                <a:prstGeom prst="rect">
                  <a:avLst/>
                </a:prstGeom>
                <a:noFill/>
                <a:ln w="9525">
                  <a:noFill/>
                </a:ln>
              </p:spPr>
              <p:txBody>
                <a:bodyPr>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50000"/>
                    </a:spcBef>
                    <a:spcAft>
                      <a:spcPct val="0"/>
                    </a:spcAft>
                    <a:buClrTx/>
                    <a:buNone/>
                  </a:pPr>
                  <a:r>
                    <a:rPr lang="en-US" altLang="zh-CN" sz="2400" dirty="0">
                      <a:ea typeface="宋体" panose="02010600030101010101" pitchFamily="2" charset="-122"/>
                    </a:rPr>
                    <a:t>x </a:t>
                  </a:r>
                  <a:r>
                    <a:rPr lang="en-US" altLang="zh-CN" sz="2400" b="1" i="1" dirty="0">
                      <a:latin typeface="Times New Roman" panose="02020603050405020304" pitchFamily="18" charset="0"/>
                      <a:ea typeface="宋体" panose="02010600030101010101" pitchFamily="2" charset="-122"/>
                    </a:rPr>
                    <a:t>r</a:t>
                  </a:r>
                  <a:endParaRPr lang="en-US" altLang="zh-CN" sz="2400" b="1" i="1" dirty="0">
                    <a:latin typeface="Times New Roman" panose="02020603050405020304" pitchFamily="18" charset="0"/>
                    <a:ea typeface="宋体" panose="02010600030101010101" pitchFamily="2" charset="-122"/>
                  </a:endParaRPr>
                </a:p>
              </p:txBody>
            </p:sp>
            <p:grpSp>
              <p:nvGrpSpPr>
                <p:cNvPr id="3099" name="Group 12"/>
                <p:cNvGrpSpPr/>
                <p:nvPr/>
              </p:nvGrpSpPr>
              <p:grpSpPr>
                <a:xfrm>
                  <a:off x="228" y="45"/>
                  <a:ext cx="90" cy="45"/>
                  <a:chOff x="0" y="0"/>
                  <a:chExt cx="90" cy="45"/>
                </a:xfrm>
              </p:grpSpPr>
              <p:sp>
                <p:nvSpPr>
                  <p:cNvPr id="3100" name="Line 11"/>
                  <p:cNvSpPr/>
                  <p:nvPr/>
                </p:nvSpPr>
                <p:spPr>
                  <a:xfrm flipV="1">
                    <a:off x="0" y="0"/>
                    <a:ext cx="45" cy="45"/>
                  </a:xfrm>
                  <a:prstGeom prst="line">
                    <a:avLst/>
                  </a:prstGeom>
                  <a:ln w="19050" cap="flat" cmpd="sng">
                    <a:solidFill>
                      <a:schemeClr val="tx1"/>
                    </a:solidFill>
                    <a:prstDash val="solid"/>
                    <a:headEnd type="none" w="med" len="med"/>
                    <a:tailEnd type="none" w="med" len="med"/>
                  </a:ln>
                </p:spPr>
              </p:sp>
              <p:sp>
                <p:nvSpPr>
                  <p:cNvPr id="3101" name="Line 12"/>
                  <p:cNvSpPr/>
                  <p:nvPr/>
                </p:nvSpPr>
                <p:spPr>
                  <a:xfrm flipH="1" flipV="1">
                    <a:off x="45" y="0"/>
                    <a:ext cx="45" cy="45"/>
                  </a:xfrm>
                  <a:prstGeom prst="line">
                    <a:avLst/>
                  </a:prstGeom>
                  <a:ln w="19050" cap="flat" cmpd="sng">
                    <a:solidFill>
                      <a:schemeClr val="tx1"/>
                    </a:solidFill>
                    <a:prstDash val="solid"/>
                    <a:headEnd type="none" w="med" len="med"/>
                    <a:tailEnd type="none" w="med" len="med"/>
                  </a:ln>
                </p:spPr>
              </p:sp>
            </p:grpSp>
          </p:grpSp>
        </p:grpSp>
        <p:sp>
          <p:nvSpPr>
            <p:cNvPr id="3092" name="Line 7"/>
            <p:cNvSpPr/>
            <p:nvPr/>
          </p:nvSpPr>
          <p:spPr>
            <a:xfrm>
              <a:off x="347316" y="258300"/>
              <a:ext cx="144463" cy="0"/>
            </a:xfrm>
            <a:prstGeom prst="line">
              <a:avLst/>
            </a:prstGeom>
            <a:ln w="19050" cap="flat" cmpd="sng">
              <a:solidFill>
                <a:schemeClr val="tx1"/>
              </a:solidFill>
              <a:prstDash val="solid"/>
              <a:headEnd type="none" w="med" len="med"/>
              <a:tailEnd type="triangle" w="med" len="med"/>
            </a:ln>
          </p:spPr>
        </p:sp>
      </p:grpSp>
      <p:sp>
        <p:nvSpPr>
          <p:cNvPr id="17424" name="Text Box 11"/>
          <p:cNvSpPr txBox="1">
            <a:spLocks noChangeArrowheads="1"/>
          </p:cNvSpPr>
          <p:nvPr/>
        </p:nvSpPr>
        <p:spPr bwMode="auto">
          <a:xfrm>
            <a:off x="179388" y="115888"/>
            <a:ext cx="5786438" cy="461963"/>
          </a:xfrm>
          <a:prstGeom prst="rect">
            <a:avLst/>
          </a:prstGeom>
          <a:noFill/>
          <a:ln>
            <a:noFill/>
          </a:ln>
        </p:spPr>
        <p:txBody>
          <a:bodyPr wrap="none">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Review of Ch29             Biot-Savart law</a:t>
            </a:r>
            <a:endPar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aphicFrame>
        <p:nvGraphicFramePr>
          <p:cNvPr id="3078" name="Object 17"/>
          <p:cNvGraphicFramePr>
            <a:graphicFrameLocks noChangeAspect="1"/>
          </p:cNvGraphicFramePr>
          <p:nvPr/>
        </p:nvGraphicFramePr>
        <p:xfrm>
          <a:off x="536575" y="2060575"/>
          <a:ext cx="2173288" cy="776288"/>
        </p:xfrm>
        <a:graphic>
          <a:graphicData uri="http://schemas.openxmlformats.org/presentationml/2006/ole">
            <mc:AlternateContent xmlns:mc="http://schemas.openxmlformats.org/markup-compatibility/2006">
              <mc:Choice xmlns:v="urn:schemas-microsoft-com:vml" Requires="v">
                <p:oleObj spid="_x0000_s4" name="" r:id="rId5" imgW="1105535" imgH="393700" progId="Equation.3">
                  <p:embed/>
                </p:oleObj>
              </mc:Choice>
              <mc:Fallback>
                <p:oleObj name="" r:id="rId5" imgW="1105535" imgH="393700" progId="Equation.3">
                  <p:embed/>
                  <p:pic>
                    <p:nvPicPr>
                      <p:cNvPr id="0" name="图片 3"/>
                      <p:cNvPicPr/>
                      <p:nvPr/>
                    </p:nvPicPr>
                    <p:blipFill>
                      <a:blip r:embed="rId6"/>
                      <a:stretch>
                        <a:fillRect/>
                      </a:stretch>
                    </p:blipFill>
                    <p:spPr>
                      <a:xfrm>
                        <a:off x="536575" y="2060575"/>
                        <a:ext cx="2173288" cy="776288"/>
                      </a:xfrm>
                      <a:prstGeom prst="rect">
                        <a:avLst/>
                      </a:prstGeom>
                      <a:noFill/>
                      <a:ln w="38100">
                        <a:noFill/>
                        <a:miter/>
                      </a:ln>
                    </p:spPr>
                  </p:pic>
                </p:oleObj>
              </mc:Fallback>
            </mc:AlternateContent>
          </a:graphicData>
        </a:graphic>
      </p:graphicFrame>
      <p:sp>
        <p:nvSpPr>
          <p:cNvPr id="3079" name="Text Box 18"/>
          <p:cNvSpPr txBox="1"/>
          <p:nvPr/>
        </p:nvSpPr>
        <p:spPr>
          <a:xfrm>
            <a:off x="6372225" y="698500"/>
            <a:ext cx="2232025" cy="430213"/>
          </a:xfrm>
          <a:prstGeom prst="rect">
            <a:avLst/>
          </a:prstGeom>
          <a:noFill/>
          <a:ln w="9525">
            <a:noFill/>
          </a:ln>
        </p:spPr>
        <p:txBody>
          <a:bodyPr>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r>
              <a:rPr lang="en-US" altLang="zh-CN" sz="2200" dirty="0">
                <a:latin typeface="Times New Roman" panose="02020603050405020304" pitchFamily="18" charset="0"/>
                <a:ea typeface="宋体" panose="02010600030101010101" pitchFamily="2" charset="-122"/>
              </a:rPr>
              <a:t>Right-hand rule</a:t>
            </a:r>
            <a:endParaRPr lang="en-US" altLang="zh-CN" sz="2200" dirty="0">
              <a:latin typeface="Times New Roman" panose="02020603050405020304" pitchFamily="18" charset="0"/>
              <a:ea typeface="宋体" panose="02010600030101010101" pitchFamily="2" charset="-122"/>
            </a:endParaRPr>
          </a:p>
        </p:txBody>
      </p:sp>
      <p:cxnSp>
        <p:nvCxnSpPr>
          <p:cNvPr id="3080" name="直接连接符 2"/>
          <p:cNvCxnSpPr/>
          <p:nvPr/>
        </p:nvCxnSpPr>
        <p:spPr>
          <a:xfrm>
            <a:off x="0" y="3071813"/>
            <a:ext cx="9144000" cy="0"/>
          </a:xfrm>
          <a:prstGeom prst="line">
            <a:avLst/>
          </a:prstGeom>
          <a:ln w="9525" cap="flat" cmpd="sng">
            <a:solidFill>
              <a:schemeClr val="tx1"/>
            </a:solidFill>
            <a:prstDash val="sysDash"/>
            <a:headEnd type="none" w="med" len="med"/>
            <a:tailEnd type="none" w="med" len="med"/>
          </a:ln>
        </p:spPr>
      </p:cxnSp>
      <p:pic>
        <p:nvPicPr>
          <p:cNvPr id="3081" name="Picture 7" descr="F29_05"/>
          <p:cNvPicPr>
            <a:picLocks noChangeAspect="1"/>
          </p:cNvPicPr>
          <p:nvPr/>
        </p:nvPicPr>
        <p:blipFill>
          <a:blip r:embed="rId7"/>
          <a:srcRect l="410" t="12592" r="-410" b="23232"/>
          <a:stretch>
            <a:fillRect/>
          </a:stretch>
        </p:blipFill>
        <p:spPr>
          <a:xfrm>
            <a:off x="214313" y="3357563"/>
            <a:ext cx="2122487" cy="2478087"/>
          </a:xfrm>
          <a:prstGeom prst="rect">
            <a:avLst/>
          </a:prstGeom>
          <a:noFill/>
          <a:ln w="9525">
            <a:noFill/>
          </a:ln>
        </p:spPr>
      </p:pic>
      <p:grpSp>
        <p:nvGrpSpPr>
          <p:cNvPr id="3082" name="Group 3"/>
          <p:cNvGrpSpPr/>
          <p:nvPr/>
        </p:nvGrpSpPr>
        <p:grpSpPr>
          <a:xfrm>
            <a:off x="5741988" y="3244850"/>
            <a:ext cx="2363787" cy="1427163"/>
            <a:chOff x="0" y="-82"/>
            <a:chExt cx="1489" cy="899"/>
          </a:xfrm>
        </p:grpSpPr>
        <p:pic>
          <p:nvPicPr>
            <p:cNvPr id="3086" name="Picture 5" descr="F29_06"/>
            <p:cNvPicPr>
              <a:picLocks noChangeAspect="1"/>
            </p:cNvPicPr>
            <p:nvPr/>
          </p:nvPicPr>
          <p:blipFill>
            <a:blip r:embed="rId8"/>
            <a:srcRect r="53937" b="69785"/>
            <a:stretch>
              <a:fillRect/>
            </a:stretch>
          </p:blipFill>
          <p:spPr>
            <a:xfrm>
              <a:off x="333" y="-82"/>
              <a:ext cx="1156" cy="899"/>
            </a:xfrm>
            <a:prstGeom prst="rect">
              <a:avLst/>
            </a:prstGeom>
            <a:noFill/>
            <a:ln w="9525">
              <a:noFill/>
            </a:ln>
          </p:spPr>
        </p:pic>
        <p:grpSp>
          <p:nvGrpSpPr>
            <p:cNvPr id="3087" name="Group 7"/>
            <p:cNvGrpSpPr/>
            <p:nvPr/>
          </p:nvGrpSpPr>
          <p:grpSpPr>
            <a:xfrm>
              <a:off x="135" y="-2"/>
              <a:ext cx="528" cy="442"/>
              <a:chOff x="-9" y="-2"/>
              <a:chExt cx="528" cy="442"/>
            </a:xfrm>
          </p:grpSpPr>
          <p:sp>
            <p:nvSpPr>
              <p:cNvPr id="3089" name="Oval 8"/>
              <p:cNvSpPr/>
              <p:nvPr/>
            </p:nvSpPr>
            <p:spPr>
              <a:xfrm>
                <a:off x="39" y="264"/>
                <a:ext cx="109" cy="109"/>
              </a:xfrm>
              <a:prstGeom prst="ellipse">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endParaRPr lang="zh-CN" altLang="en-US" sz="2400" dirty="0">
                  <a:ea typeface="宋体" panose="02010600030101010101" pitchFamily="2" charset="-122"/>
                </a:endParaRPr>
              </a:p>
            </p:txBody>
          </p:sp>
          <p:sp>
            <p:nvSpPr>
              <p:cNvPr id="3090" name="Text Box 9"/>
              <p:cNvSpPr txBox="1"/>
              <p:nvPr/>
            </p:nvSpPr>
            <p:spPr>
              <a:xfrm>
                <a:off x="-9" y="-2"/>
                <a:ext cx="528" cy="442"/>
              </a:xfrm>
              <a:prstGeom prst="rect">
                <a:avLst/>
              </a:prstGeom>
              <a:noFill/>
              <a:ln w="9525">
                <a:noFill/>
              </a:ln>
            </p:spPr>
            <p:txBody>
              <a:bodyPr>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a:spcBef>
                    <a:spcPct val="50000"/>
                  </a:spcBef>
                  <a:spcAft>
                    <a:spcPct val="0"/>
                  </a:spcAft>
                  <a:buClrTx/>
                  <a:buNone/>
                </a:pPr>
                <a:r>
                  <a:rPr lang="en-US" altLang="zh-CN" sz="4000" dirty="0">
                    <a:solidFill>
                      <a:schemeClr val="accent2"/>
                    </a:solidFill>
                    <a:ea typeface="宋体" panose="02010600030101010101" pitchFamily="2" charset="-122"/>
                  </a:rPr>
                  <a:t>.</a:t>
                </a:r>
                <a:endParaRPr lang="en-US" altLang="zh-CN" sz="4000" dirty="0">
                  <a:solidFill>
                    <a:schemeClr val="accent2"/>
                  </a:solidFill>
                  <a:ea typeface="宋体" panose="02010600030101010101" pitchFamily="2" charset="-122"/>
                </a:endParaRPr>
              </a:p>
            </p:txBody>
          </p:sp>
        </p:grpSp>
        <p:graphicFrame>
          <p:nvGraphicFramePr>
            <p:cNvPr id="3088" name="Object 14"/>
            <p:cNvGraphicFramePr>
              <a:graphicFrameLocks noChangeAspect="1"/>
            </p:cNvGraphicFramePr>
            <p:nvPr/>
          </p:nvGraphicFramePr>
          <p:xfrm>
            <a:off x="0" y="154"/>
            <a:ext cx="170" cy="228"/>
          </p:xfrm>
          <a:graphic>
            <a:graphicData uri="http://schemas.openxmlformats.org/presentationml/2006/ole">
              <mc:AlternateContent xmlns:mc="http://schemas.openxmlformats.org/markup-compatibility/2006">
                <mc:Choice xmlns:v="urn:schemas-microsoft-com:vml" Requires="v">
                  <p:oleObj spid="_x0000_s2" name="" r:id="rId9" imgW="153035" imgH="203835" progId="Equation.DSMT4">
                    <p:embed/>
                  </p:oleObj>
                </mc:Choice>
                <mc:Fallback>
                  <p:oleObj name="" r:id="rId9" imgW="153035" imgH="203835" progId="Equation.DSMT4">
                    <p:embed/>
                    <p:pic>
                      <p:nvPicPr>
                        <p:cNvPr id="0" name="图片 1"/>
                        <p:cNvPicPr/>
                        <p:nvPr/>
                      </p:nvPicPr>
                      <p:blipFill>
                        <a:blip r:embed="rId10"/>
                        <a:stretch>
                          <a:fillRect/>
                        </a:stretch>
                      </p:blipFill>
                      <p:spPr>
                        <a:xfrm>
                          <a:off x="0" y="154"/>
                          <a:ext cx="170" cy="228"/>
                        </a:xfrm>
                        <a:prstGeom prst="rect">
                          <a:avLst/>
                        </a:prstGeom>
                        <a:noFill/>
                        <a:ln w="38100">
                          <a:noFill/>
                          <a:miter/>
                        </a:ln>
                      </p:spPr>
                    </p:pic>
                  </p:oleObj>
                </mc:Fallback>
              </mc:AlternateContent>
            </a:graphicData>
          </a:graphic>
        </p:graphicFrame>
      </p:grpSp>
      <p:graphicFrame>
        <p:nvGraphicFramePr>
          <p:cNvPr id="3083" name="对象 3"/>
          <p:cNvGraphicFramePr>
            <a:graphicFrameLocks noChangeAspect="1"/>
          </p:cNvGraphicFramePr>
          <p:nvPr/>
        </p:nvGraphicFramePr>
        <p:xfrm>
          <a:off x="5522913" y="4700588"/>
          <a:ext cx="3100387" cy="1379537"/>
        </p:xfrm>
        <a:graphic>
          <a:graphicData uri="http://schemas.openxmlformats.org/presentationml/2006/ole">
            <mc:AlternateContent xmlns:mc="http://schemas.openxmlformats.org/markup-compatibility/2006">
              <mc:Choice xmlns:v="urn:schemas-microsoft-com:vml" Requires="v">
                <p:oleObj spid="_x0000_s3077" name="" r:id="rId11" imgW="1828800" imgH="812800" progId="Equation.DSMT4">
                  <p:embed/>
                </p:oleObj>
              </mc:Choice>
              <mc:Fallback>
                <p:oleObj name="" r:id="rId11" imgW="1828800" imgH="812800" progId="Equation.DSMT4">
                  <p:embed/>
                  <p:pic>
                    <p:nvPicPr>
                      <p:cNvPr id="0" name="图片 3076"/>
                      <p:cNvPicPr/>
                      <p:nvPr/>
                    </p:nvPicPr>
                    <p:blipFill>
                      <a:blip r:embed="rId12"/>
                      <a:stretch>
                        <a:fillRect/>
                      </a:stretch>
                    </p:blipFill>
                    <p:spPr>
                      <a:xfrm>
                        <a:off x="5522913" y="4700588"/>
                        <a:ext cx="3100387" cy="1379537"/>
                      </a:xfrm>
                      <a:prstGeom prst="rect">
                        <a:avLst/>
                      </a:prstGeom>
                      <a:noFill/>
                      <a:ln w="38100">
                        <a:noFill/>
                        <a:miter/>
                      </a:ln>
                    </p:spPr>
                  </p:pic>
                </p:oleObj>
              </mc:Fallback>
            </mc:AlternateContent>
          </a:graphicData>
        </a:graphic>
      </p:graphicFrame>
      <p:graphicFrame>
        <p:nvGraphicFramePr>
          <p:cNvPr id="3084" name="对象 4"/>
          <p:cNvGraphicFramePr>
            <a:graphicFrameLocks noChangeAspect="1"/>
          </p:cNvGraphicFramePr>
          <p:nvPr/>
        </p:nvGraphicFramePr>
        <p:xfrm>
          <a:off x="2643188" y="3571875"/>
          <a:ext cx="1955800" cy="2300288"/>
        </p:xfrm>
        <a:graphic>
          <a:graphicData uri="http://schemas.openxmlformats.org/presentationml/2006/ole">
            <mc:AlternateContent xmlns:mc="http://schemas.openxmlformats.org/markup-compatibility/2006">
              <mc:Choice xmlns:v="urn:schemas-microsoft-com:vml" Requires="v">
                <p:oleObj spid="_x0000_s3" name="" r:id="rId13" imgW="1155700" imgH="1358900" progId="Equation.DSMT4">
                  <p:embed/>
                </p:oleObj>
              </mc:Choice>
              <mc:Fallback>
                <p:oleObj name="" r:id="rId13" imgW="1155700" imgH="1358900" progId="Equation.DSMT4">
                  <p:embed/>
                  <p:pic>
                    <p:nvPicPr>
                      <p:cNvPr id="0" name="图片 2"/>
                      <p:cNvPicPr/>
                      <p:nvPr/>
                    </p:nvPicPr>
                    <p:blipFill>
                      <a:blip r:embed="rId14"/>
                      <a:stretch>
                        <a:fillRect/>
                      </a:stretch>
                    </p:blipFill>
                    <p:spPr>
                      <a:xfrm>
                        <a:off x="2643188" y="3571875"/>
                        <a:ext cx="1955800" cy="2300288"/>
                      </a:xfrm>
                      <a:prstGeom prst="rect">
                        <a:avLst/>
                      </a:prstGeom>
                      <a:noFill/>
                      <a:ln w="38100">
                        <a:noFill/>
                        <a:miter/>
                      </a:ln>
                    </p:spPr>
                  </p:pic>
                </p:oleObj>
              </mc:Fallback>
            </mc:AlternateContent>
          </a:graphicData>
        </a:graphic>
      </p:graphicFrame>
      <p:cxnSp>
        <p:nvCxnSpPr>
          <p:cNvPr id="3085" name="直接连接符 35"/>
          <p:cNvCxnSpPr/>
          <p:nvPr/>
        </p:nvCxnSpPr>
        <p:spPr>
          <a:xfrm rot="-5400000" flipH="1">
            <a:off x="2987675" y="4773613"/>
            <a:ext cx="3432175" cy="22225"/>
          </a:xfrm>
          <a:prstGeom prst="line">
            <a:avLst/>
          </a:prstGeom>
          <a:ln w="9525" cap="flat" cmpd="sng">
            <a:solidFill>
              <a:schemeClr val="tx1"/>
            </a:solidFill>
            <a:prstDash val="sysDash"/>
            <a:headEnd type="none" w="med" len="med"/>
            <a:tailEnd type="none" w="med" len="med"/>
          </a:ln>
        </p:spPr>
      </p:cxnSp>
    </p:spTree>
  </p:cSld>
  <p:clrMapOvr>
    <a:masterClrMapping/>
  </p:clrMapOvr>
  <p:transition spd="slow" advTm="455518"/>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11"/>
          <p:cNvSpPr txBox="1">
            <a:spLocks noChangeArrowheads="1"/>
          </p:cNvSpPr>
          <p:nvPr/>
        </p:nvSpPr>
        <p:spPr bwMode="auto">
          <a:xfrm>
            <a:off x="179388" y="115888"/>
            <a:ext cx="7862888" cy="457200"/>
          </a:xfrm>
          <a:prstGeom prst="rect">
            <a:avLst/>
          </a:prstGeom>
          <a:noFill/>
          <a:ln>
            <a:noFill/>
          </a:ln>
        </p:spPr>
        <p:txBody>
          <a:bodyPr wrap="none">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smtClean="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Review of Ch29             </a:t>
            </a:r>
            <a:r>
              <a:rPr kumimoji="0" lang="en-US" altLang="zh-CN" sz="2400" b="1" i="0" u="none" strike="noStrike" kern="1200" cap="none" spc="0" normalizeH="0" baseline="0" noProof="0" dirty="0" err="1" smtClean="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Biot</a:t>
            </a:r>
            <a:r>
              <a:rPr kumimoji="0" lang="en-US" altLang="zh-CN" sz="2400" b="1" i="0" u="none" strike="noStrike" kern="1200" cap="none" spc="0" normalizeH="0" baseline="0" noProof="0" dirty="0" smtClean="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-Savart law--circular Loop</a:t>
            </a:r>
            <a:endParaRPr kumimoji="0" lang="en-US" altLang="zh-CN" sz="2400" b="0"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4099" name="Picture 3" descr="F29_23"/>
          <p:cNvPicPr>
            <a:picLocks noChangeAspect="1"/>
          </p:cNvPicPr>
          <p:nvPr/>
        </p:nvPicPr>
        <p:blipFill>
          <a:blip r:embed="rId1"/>
          <a:srcRect b="13782"/>
          <a:stretch>
            <a:fillRect/>
          </a:stretch>
        </p:blipFill>
        <p:spPr>
          <a:xfrm>
            <a:off x="720725" y="4005263"/>
            <a:ext cx="2239963" cy="2317750"/>
          </a:xfrm>
          <a:prstGeom prst="rect">
            <a:avLst/>
          </a:prstGeom>
          <a:noFill/>
          <a:ln w="9525">
            <a:noFill/>
          </a:ln>
        </p:spPr>
      </p:pic>
      <p:graphicFrame>
        <p:nvGraphicFramePr>
          <p:cNvPr id="4100" name="Object 4"/>
          <p:cNvGraphicFramePr>
            <a:graphicFrameLocks noChangeAspect="1"/>
          </p:cNvGraphicFramePr>
          <p:nvPr/>
        </p:nvGraphicFramePr>
        <p:xfrm>
          <a:off x="3059113" y="939800"/>
          <a:ext cx="5399087" cy="2260600"/>
        </p:xfrm>
        <a:graphic>
          <a:graphicData uri="http://schemas.openxmlformats.org/presentationml/2006/ole">
            <mc:AlternateContent xmlns:mc="http://schemas.openxmlformats.org/markup-compatibility/2006">
              <mc:Choice xmlns:v="urn:schemas-microsoft-com:vml" Requires="v">
                <p:oleObj spid="_x0000_s3081" name="" r:id="rId2" imgW="3922395" imgH="1459865" progId="Equation.DSMT4">
                  <p:embed/>
                </p:oleObj>
              </mc:Choice>
              <mc:Fallback>
                <p:oleObj name="" r:id="rId2" imgW="3922395" imgH="1459865" progId="Equation.DSMT4">
                  <p:embed/>
                  <p:pic>
                    <p:nvPicPr>
                      <p:cNvPr id="0" name="图片 3080"/>
                      <p:cNvPicPr/>
                      <p:nvPr/>
                    </p:nvPicPr>
                    <p:blipFill>
                      <a:blip r:embed="rId3"/>
                      <a:stretch>
                        <a:fillRect/>
                      </a:stretch>
                    </p:blipFill>
                    <p:spPr>
                      <a:xfrm>
                        <a:off x="3059113" y="939800"/>
                        <a:ext cx="5399087" cy="2260600"/>
                      </a:xfrm>
                      <a:prstGeom prst="rect">
                        <a:avLst/>
                      </a:prstGeom>
                      <a:noFill/>
                      <a:ln w="38100">
                        <a:noFill/>
                        <a:miter/>
                      </a:ln>
                    </p:spPr>
                  </p:pic>
                </p:oleObj>
              </mc:Fallback>
            </mc:AlternateContent>
          </a:graphicData>
        </a:graphic>
      </p:graphicFrame>
      <p:sp>
        <p:nvSpPr>
          <p:cNvPr id="4101" name="Text Box 5"/>
          <p:cNvSpPr txBox="1"/>
          <p:nvPr/>
        </p:nvSpPr>
        <p:spPr>
          <a:xfrm>
            <a:off x="4416425" y="3200400"/>
            <a:ext cx="311150" cy="457200"/>
          </a:xfrm>
          <a:prstGeom prst="rect">
            <a:avLst/>
          </a:prstGeom>
          <a:noFill/>
          <a:ln w="9525">
            <a:noFill/>
          </a:ln>
        </p:spPr>
        <p:txBody>
          <a:bodyPr wrap="none">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endParaRPr lang="zh-CN" altLang="zh-CN" sz="2400" dirty="0">
              <a:ea typeface="宋体" panose="02010600030101010101" pitchFamily="2" charset="-122"/>
            </a:endParaRPr>
          </a:p>
        </p:txBody>
      </p:sp>
      <p:graphicFrame>
        <p:nvGraphicFramePr>
          <p:cNvPr id="4102" name="Object 6"/>
          <p:cNvGraphicFramePr>
            <a:graphicFrameLocks noChangeAspect="1"/>
          </p:cNvGraphicFramePr>
          <p:nvPr/>
        </p:nvGraphicFramePr>
        <p:xfrm>
          <a:off x="3132138" y="3549650"/>
          <a:ext cx="4279900" cy="749300"/>
        </p:xfrm>
        <a:graphic>
          <a:graphicData uri="http://schemas.openxmlformats.org/presentationml/2006/ole">
            <mc:AlternateContent xmlns:mc="http://schemas.openxmlformats.org/markup-compatibility/2006">
              <mc:Choice xmlns:v="urn:schemas-microsoft-com:vml" Requires="v">
                <p:oleObj spid="_x0000_s3079" name="" r:id="rId4" imgW="2400300" imgH="419100" progId="Equation.DSMT4">
                  <p:embed/>
                </p:oleObj>
              </mc:Choice>
              <mc:Fallback>
                <p:oleObj name="" r:id="rId4" imgW="2400300" imgH="419100" progId="Equation.DSMT4">
                  <p:embed/>
                  <p:pic>
                    <p:nvPicPr>
                      <p:cNvPr id="0" name="图片 3078"/>
                      <p:cNvPicPr/>
                      <p:nvPr/>
                    </p:nvPicPr>
                    <p:blipFill>
                      <a:blip r:embed="rId5"/>
                      <a:stretch>
                        <a:fillRect/>
                      </a:stretch>
                    </p:blipFill>
                    <p:spPr>
                      <a:xfrm>
                        <a:off x="3132138" y="3549650"/>
                        <a:ext cx="4279900" cy="749300"/>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4103" name="下箭头 16"/>
          <p:cNvSpPr/>
          <p:nvPr/>
        </p:nvSpPr>
        <p:spPr>
          <a:xfrm>
            <a:off x="1649413" y="3549650"/>
            <a:ext cx="184150" cy="419100"/>
          </a:xfrm>
          <a:prstGeom prst="downArrow">
            <a:avLst>
              <a:gd name="adj1" fmla="val 50000"/>
              <a:gd name="adj2" fmla="val 49763"/>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endParaRPr lang="zh-CN" altLang="en-US" sz="2400" dirty="0">
              <a:ea typeface="宋体" panose="02010600030101010101" pitchFamily="2" charset="-122"/>
            </a:endParaRPr>
          </a:p>
        </p:txBody>
      </p:sp>
      <p:sp>
        <p:nvSpPr>
          <p:cNvPr id="4104" name="矩形 21"/>
          <p:cNvSpPr/>
          <p:nvPr/>
        </p:nvSpPr>
        <p:spPr>
          <a:xfrm>
            <a:off x="3419475" y="4533900"/>
            <a:ext cx="1152525" cy="720725"/>
          </a:xfrm>
          <a:prstGeom prst="rect">
            <a:avLst/>
          </a:prstGeom>
          <a:noFill/>
          <a:ln w="9525" cap="flat" cmpd="sng">
            <a:solidFill>
              <a:srgbClr val="C00000"/>
            </a:solidFill>
            <a:prstDash val="solid"/>
            <a:round/>
            <a:headEnd type="none" w="med" len="med"/>
            <a:tailEnd type="none" w="med" len="med"/>
          </a:ln>
        </p:spPr>
        <p:txBody>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endParaRPr lang="zh-CN" altLang="en-US" sz="2400" dirty="0">
              <a:ea typeface="宋体" panose="02010600030101010101" pitchFamily="2" charset="-122"/>
            </a:endParaRPr>
          </a:p>
        </p:txBody>
      </p:sp>
      <p:grpSp>
        <p:nvGrpSpPr>
          <p:cNvPr id="4105" name="组合 1"/>
          <p:cNvGrpSpPr/>
          <p:nvPr/>
        </p:nvGrpSpPr>
        <p:grpSpPr>
          <a:xfrm>
            <a:off x="857250" y="908050"/>
            <a:ext cx="1582738" cy="2520950"/>
            <a:chOff x="857250" y="908050"/>
            <a:chExt cx="1582738" cy="2520950"/>
          </a:xfrm>
        </p:grpSpPr>
        <p:grpSp>
          <p:nvGrpSpPr>
            <p:cNvPr id="4107" name="组合 15"/>
            <p:cNvGrpSpPr/>
            <p:nvPr/>
          </p:nvGrpSpPr>
          <p:grpSpPr>
            <a:xfrm>
              <a:off x="857250" y="1444625"/>
              <a:ext cx="1582738" cy="1984375"/>
              <a:chOff x="827584" y="868070"/>
              <a:chExt cx="1584176" cy="1984866"/>
            </a:xfrm>
          </p:grpSpPr>
          <p:sp>
            <p:nvSpPr>
              <p:cNvPr id="4118" name="椭圆 1"/>
              <p:cNvSpPr/>
              <p:nvPr/>
            </p:nvSpPr>
            <p:spPr>
              <a:xfrm>
                <a:off x="827584" y="2132856"/>
                <a:ext cx="1584176" cy="720080"/>
              </a:xfrm>
              <a:prstGeom prst="ellipse">
                <a:avLst/>
              </a:prstGeom>
              <a:no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endParaRPr lang="zh-CN" altLang="en-US" sz="2400" dirty="0">
                  <a:ea typeface="宋体" panose="02010600030101010101" pitchFamily="2" charset="-122"/>
                </a:endParaRPr>
              </a:p>
            </p:txBody>
          </p:sp>
          <p:cxnSp>
            <p:nvCxnSpPr>
              <p:cNvPr id="4119" name="直接连接符 3"/>
              <p:cNvCxnSpPr/>
              <p:nvPr/>
            </p:nvCxnSpPr>
            <p:spPr>
              <a:xfrm flipV="1">
                <a:off x="1619672" y="1052736"/>
                <a:ext cx="0" cy="1440160"/>
              </a:xfrm>
              <a:prstGeom prst="line">
                <a:avLst/>
              </a:prstGeom>
              <a:ln w="9525" cap="flat" cmpd="sng">
                <a:solidFill>
                  <a:schemeClr val="tx1"/>
                </a:solidFill>
                <a:prstDash val="solid"/>
                <a:headEnd type="none" w="med" len="med"/>
                <a:tailEnd type="none" w="med" len="med"/>
              </a:ln>
            </p:spPr>
          </p:cxnSp>
          <p:cxnSp>
            <p:nvCxnSpPr>
              <p:cNvPr id="4120" name="直接连接符 5"/>
              <p:cNvCxnSpPr/>
              <p:nvPr/>
            </p:nvCxnSpPr>
            <p:spPr>
              <a:xfrm flipH="1">
                <a:off x="827584" y="1052736"/>
                <a:ext cx="792088" cy="1440160"/>
              </a:xfrm>
              <a:prstGeom prst="line">
                <a:avLst/>
              </a:prstGeom>
              <a:ln w="9525" cap="flat" cmpd="sng">
                <a:solidFill>
                  <a:schemeClr val="tx1"/>
                </a:solidFill>
                <a:prstDash val="solid"/>
                <a:headEnd type="none" w="med" len="med"/>
                <a:tailEnd type="none" w="med" len="med"/>
              </a:ln>
            </p:spPr>
          </p:cxnSp>
          <p:cxnSp>
            <p:nvCxnSpPr>
              <p:cNvPr id="4121" name="直接连接符 7"/>
              <p:cNvCxnSpPr/>
              <p:nvPr/>
            </p:nvCxnSpPr>
            <p:spPr>
              <a:xfrm>
                <a:off x="1619672" y="1052736"/>
                <a:ext cx="792088" cy="1368152"/>
              </a:xfrm>
              <a:prstGeom prst="line">
                <a:avLst/>
              </a:prstGeom>
              <a:ln w="9525" cap="flat" cmpd="sng">
                <a:solidFill>
                  <a:schemeClr val="tx1"/>
                </a:solidFill>
                <a:prstDash val="solid"/>
                <a:headEnd type="none" w="med" len="med"/>
                <a:tailEnd type="none" w="med" len="med"/>
              </a:ln>
            </p:spPr>
          </p:cxnSp>
          <p:sp>
            <p:nvSpPr>
              <p:cNvPr id="11" name="TextBox 10"/>
              <p:cNvSpPr txBox="1"/>
              <p:nvPr/>
            </p:nvSpPr>
            <p:spPr>
              <a:xfrm>
                <a:off x="1703092" y="868070"/>
                <a:ext cx="313021" cy="369980"/>
              </a:xfrm>
              <a:prstGeom prst="rect">
                <a:avLst/>
              </a:prstGeom>
              <a:noFill/>
            </p:spPr>
            <p:txBody>
              <a:bodyPr wrap="none">
                <a:spAutoFit/>
              </a:bodyPr>
              <a:lstStyle/>
              <a:p>
                <a:pPr marR="0" defTabSz="914400">
                  <a:buClrTx/>
                  <a:buSzTx/>
                  <a:buFontTx/>
                  <a:buNone/>
                  <a:defRPr/>
                </a:pPr>
                <a:r>
                  <a:rPr kumimoji="0" lang="en-US" altLang="zh-CN" sz="1800" kern="1200" cap="none" spc="0" normalizeH="0" baseline="0" noProof="0" dirty="0">
                    <a:latin typeface="+mj-lt"/>
                    <a:ea typeface="宋体" panose="02010600030101010101" pitchFamily="2" charset="-122"/>
                    <a:cs typeface="+mn-cs"/>
                  </a:rPr>
                  <a:t>P</a:t>
                </a:r>
                <a:endParaRPr kumimoji="0" lang="zh-CN" altLang="en-US" sz="1800" kern="1200" cap="none" spc="0" normalizeH="0" baseline="0" noProof="0" dirty="0">
                  <a:latin typeface="+mj-lt"/>
                  <a:ea typeface="宋体" panose="02010600030101010101" pitchFamily="2" charset="-122"/>
                  <a:cs typeface="+mn-cs"/>
                </a:endParaRPr>
              </a:p>
            </p:txBody>
          </p:sp>
          <p:sp>
            <p:nvSpPr>
              <p:cNvPr id="4123" name="任意多边形 11"/>
              <p:cNvSpPr/>
              <p:nvPr/>
            </p:nvSpPr>
            <p:spPr>
              <a:xfrm>
                <a:off x="1803109" y="2133600"/>
                <a:ext cx="104713" cy="79022"/>
              </a:xfrm>
              <a:custGeom>
                <a:avLst/>
                <a:gdLst>
                  <a:gd name="txL" fmla="*/ 0 w 104713"/>
                  <a:gd name="txT" fmla="*/ 0 h 79022"/>
                  <a:gd name="txR" fmla="*/ 104713 w 104713"/>
                  <a:gd name="txB" fmla="*/ 79022 h 79022"/>
                </a:gdLst>
                <a:ahLst/>
                <a:cxnLst>
                  <a:cxn ang="0">
                    <a:pos x="104713" y="0"/>
                  </a:cxn>
                  <a:cxn ang="0">
                    <a:pos x="3113" y="11289"/>
                  </a:cxn>
                  <a:cxn ang="0">
                    <a:pos x="25691" y="45156"/>
                  </a:cxn>
                  <a:cxn ang="0">
                    <a:pos x="82135" y="79022"/>
                  </a:cxn>
                </a:cxnLst>
                <a:rect l="txL" t="txT" r="txR" b="txB"/>
                <a:pathLst>
                  <a:path w="104713" h="79022">
                    <a:moveTo>
                      <a:pt x="104713" y="0"/>
                    </a:moveTo>
                    <a:cubicBezTo>
                      <a:pt x="70846" y="3763"/>
                      <a:pt x="32698" y="-5617"/>
                      <a:pt x="3113" y="11289"/>
                    </a:cubicBezTo>
                    <a:cubicBezTo>
                      <a:pt x="-8667" y="18021"/>
                      <a:pt x="16097" y="35562"/>
                      <a:pt x="25691" y="45156"/>
                    </a:cubicBezTo>
                    <a:cubicBezTo>
                      <a:pt x="39311" y="58775"/>
                      <a:pt x="64321" y="70115"/>
                      <a:pt x="82135" y="79022"/>
                    </a:cubicBezTo>
                  </a:path>
                </a:pathLst>
              </a:custGeom>
              <a:noFill/>
              <a:ln w="19050" cap="flat" cmpd="sng">
                <a:solidFill>
                  <a:srgbClr val="C00000">
                    <a:alpha val="100000"/>
                  </a:srgbClr>
                </a:solidFill>
                <a:prstDash val="solid"/>
                <a:round/>
                <a:headEnd type="none" w="med" len="med"/>
                <a:tailEnd type="none" w="med" len="med"/>
              </a:ln>
            </p:spPr>
            <p:txBody>
              <a:bodyPr/>
              <a:p>
                <a:endParaRPr lang="zh-CN" altLang="en-US"/>
              </a:p>
            </p:txBody>
          </p:sp>
          <p:cxnSp>
            <p:nvCxnSpPr>
              <p:cNvPr id="4124" name="直接连接符 14"/>
              <p:cNvCxnSpPr>
                <a:stCxn id="4118" idx="2"/>
              </p:cNvCxnSpPr>
              <p:nvPr/>
            </p:nvCxnSpPr>
            <p:spPr>
              <a:xfrm>
                <a:off x="827584" y="2492896"/>
                <a:ext cx="792088" cy="0"/>
              </a:xfrm>
              <a:prstGeom prst="line">
                <a:avLst/>
              </a:prstGeom>
              <a:ln w="9525" cap="flat" cmpd="sng">
                <a:solidFill>
                  <a:schemeClr val="tx1"/>
                </a:solidFill>
                <a:prstDash val="solid"/>
                <a:headEnd type="none" w="med" len="med"/>
                <a:tailEnd type="none" w="med" len="med"/>
              </a:ln>
            </p:spPr>
          </p:cxnSp>
          <p:sp>
            <p:nvSpPr>
              <p:cNvPr id="21" name="TextBox 20"/>
              <p:cNvSpPr txBox="1"/>
              <p:nvPr/>
            </p:nvSpPr>
            <p:spPr>
              <a:xfrm>
                <a:off x="1191452" y="2106626"/>
                <a:ext cx="338444" cy="368391"/>
              </a:xfrm>
              <a:prstGeom prst="rect">
                <a:avLst/>
              </a:prstGeom>
              <a:noFill/>
            </p:spPr>
            <p:txBody>
              <a:bodyPr wrap="none">
                <a:spAutoFit/>
              </a:bodyPr>
              <a:lstStyle/>
              <a:p>
                <a:pPr marR="0" defTabSz="914400">
                  <a:buClrTx/>
                  <a:buSzTx/>
                  <a:buFontTx/>
                  <a:buNone/>
                  <a:defRPr/>
                </a:pPr>
                <a:r>
                  <a:rPr kumimoji="0" lang="en-US" altLang="zh-CN" sz="1800" kern="1200" cap="none" spc="0" normalizeH="0" baseline="0" noProof="0" dirty="0">
                    <a:latin typeface="+mj-lt"/>
                    <a:ea typeface="宋体" panose="02010600030101010101" pitchFamily="2" charset="-122"/>
                    <a:cs typeface="+mn-cs"/>
                  </a:rPr>
                  <a:t>R</a:t>
                </a:r>
                <a:endParaRPr kumimoji="0" lang="zh-CN" altLang="en-US" sz="1800" kern="1200" cap="none" spc="0" normalizeH="0" baseline="0" noProof="0" dirty="0">
                  <a:latin typeface="+mj-lt"/>
                  <a:ea typeface="宋体" panose="02010600030101010101" pitchFamily="2" charset="-122"/>
                  <a:cs typeface="+mn-cs"/>
                </a:endParaRPr>
              </a:p>
            </p:txBody>
          </p:sp>
        </p:grpSp>
        <p:sp>
          <p:nvSpPr>
            <p:cNvPr id="4108" name="椭圆 1"/>
            <p:cNvSpPr/>
            <p:nvPr/>
          </p:nvSpPr>
          <p:spPr>
            <a:xfrm>
              <a:off x="857250" y="908050"/>
              <a:ext cx="1482725" cy="268288"/>
            </a:xfrm>
            <a:prstGeom prst="ellipse">
              <a:avLst/>
            </a:prstGeom>
            <a:no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endParaRPr lang="zh-CN" altLang="en-US" sz="2400" dirty="0">
                <a:ea typeface="宋体" panose="02010600030101010101" pitchFamily="2" charset="-122"/>
              </a:endParaRPr>
            </a:p>
          </p:txBody>
        </p:sp>
        <p:cxnSp>
          <p:nvCxnSpPr>
            <p:cNvPr id="4109" name="直接连接符 3"/>
            <p:cNvCxnSpPr>
              <a:endCxn id="4108" idx="6"/>
            </p:cNvCxnSpPr>
            <p:nvPr/>
          </p:nvCxnSpPr>
          <p:spPr>
            <a:xfrm flipV="1">
              <a:off x="1649413" y="1042988"/>
              <a:ext cx="690562" cy="587375"/>
            </a:xfrm>
            <a:prstGeom prst="line">
              <a:avLst/>
            </a:prstGeom>
            <a:ln w="9525" cap="flat" cmpd="sng">
              <a:solidFill>
                <a:schemeClr val="tx1"/>
              </a:solidFill>
              <a:prstDash val="solid"/>
              <a:headEnd type="none" w="med" len="med"/>
              <a:tailEnd type="none" w="med" len="med"/>
            </a:ln>
          </p:spPr>
        </p:cxnSp>
        <p:cxnSp>
          <p:nvCxnSpPr>
            <p:cNvPr id="4110" name="直接连接符 5"/>
            <p:cNvCxnSpPr>
              <a:endCxn id="4108" idx="2"/>
            </p:cNvCxnSpPr>
            <p:nvPr/>
          </p:nvCxnSpPr>
          <p:spPr>
            <a:xfrm flipH="1" flipV="1">
              <a:off x="857250" y="1042988"/>
              <a:ext cx="790575" cy="587375"/>
            </a:xfrm>
            <a:prstGeom prst="line">
              <a:avLst/>
            </a:prstGeom>
            <a:ln w="9525" cap="flat" cmpd="sng">
              <a:solidFill>
                <a:schemeClr val="tx1"/>
              </a:solidFill>
              <a:prstDash val="solid"/>
              <a:headEnd type="none" w="med" len="med"/>
              <a:tailEnd type="none" w="med" len="med"/>
            </a:ln>
          </p:spPr>
        </p:cxnSp>
        <p:cxnSp>
          <p:nvCxnSpPr>
            <p:cNvPr id="4111" name="直接连接符 8"/>
            <p:cNvCxnSpPr/>
            <p:nvPr/>
          </p:nvCxnSpPr>
          <p:spPr>
            <a:xfrm>
              <a:off x="1647825" y="1176338"/>
              <a:ext cx="1588" cy="638175"/>
            </a:xfrm>
            <a:prstGeom prst="line">
              <a:avLst/>
            </a:prstGeom>
            <a:ln w="9525" cap="flat" cmpd="sng">
              <a:solidFill>
                <a:schemeClr val="tx1"/>
              </a:solidFill>
              <a:prstDash val="solid"/>
              <a:headEnd type="none" w="med" len="med"/>
              <a:tailEnd type="none" w="med" len="med"/>
            </a:ln>
          </p:spPr>
        </p:cxnSp>
        <p:cxnSp>
          <p:nvCxnSpPr>
            <p:cNvPr id="4112" name="直接连接符 11"/>
            <p:cNvCxnSpPr/>
            <p:nvPr/>
          </p:nvCxnSpPr>
          <p:spPr>
            <a:xfrm>
              <a:off x="1647825" y="1176338"/>
              <a:ext cx="1588" cy="0"/>
            </a:xfrm>
            <a:prstGeom prst="line">
              <a:avLst/>
            </a:prstGeom>
            <a:ln w="9525" cap="flat" cmpd="sng">
              <a:solidFill>
                <a:schemeClr val="tx1"/>
              </a:solidFill>
              <a:prstDash val="solid"/>
              <a:headEnd type="none" w="med" len="med"/>
              <a:tailEnd type="none" w="med" len="med"/>
            </a:ln>
          </p:spPr>
        </p:cxnSp>
        <p:sp>
          <p:nvSpPr>
            <p:cNvPr id="4113" name="任意多边形 16"/>
            <p:cNvSpPr/>
            <p:nvPr/>
          </p:nvSpPr>
          <p:spPr>
            <a:xfrm>
              <a:off x="1444625" y="1625600"/>
              <a:ext cx="112713" cy="225425"/>
            </a:xfrm>
            <a:custGeom>
              <a:avLst/>
              <a:gdLst>
                <a:gd name="txL" fmla="*/ 0 w 112889"/>
                <a:gd name="txT" fmla="*/ 0 h 225778"/>
                <a:gd name="txR" fmla="*/ 112889 w 112889"/>
                <a:gd name="txB" fmla="*/ 225778 h 225778"/>
              </a:gdLst>
              <a:ahLst/>
              <a:cxnLst>
                <a:cxn ang="0">
                  <a:pos x="76475" y="0"/>
                </a:cxn>
                <a:cxn ang="0">
                  <a:pos x="54624" y="54619"/>
                </a:cxn>
                <a:cxn ang="0">
                  <a:pos x="43700" y="87392"/>
                </a:cxn>
                <a:cxn ang="0">
                  <a:pos x="0" y="152935"/>
                </a:cxn>
                <a:cxn ang="0">
                  <a:pos x="21851" y="185707"/>
                </a:cxn>
                <a:cxn ang="0">
                  <a:pos x="65550" y="196632"/>
                </a:cxn>
                <a:cxn ang="0">
                  <a:pos x="109250" y="218480"/>
                </a:cxn>
              </a:cxnLst>
              <a:rect l="txL" t="txT" r="txR" b="txB"/>
              <a:pathLst>
                <a:path w="112889" h="225778">
                  <a:moveTo>
                    <a:pt x="79022" y="0"/>
                  </a:moveTo>
                  <a:cubicBezTo>
                    <a:pt x="71496" y="18815"/>
                    <a:pt x="63559" y="37470"/>
                    <a:pt x="56444" y="56444"/>
                  </a:cubicBezTo>
                  <a:cubicBezTo>
                    <a:pt x="52266" y="67586"/>
                    <a:pt x="50934" y="79909"/>
                    <a:pt x="45155" y="90311"/>
                  </a:cubicBezTo>
                  <a:cubicBezTo>
                    <a:pt x="31977" y="114031"/>
                    <a:pt x="0" y="158044"/>
                    <a:pt x="0" y="158044"/>
                  </a:cubicBezTo>
                  <a:cubicBezTo>
                    <a:pt x="7526" y="169333"/>
                    <a:pt x="11289" y="184385"/>
                    <a:pt x="22578" y="191911"/>
                  </a:cubicBezTo>
                  <a:cubicBezTo>
                    <a:pt x="35487" y="200517"/>
                    <a:pt x="52815" y="198938"/>
                    <a:pt x="67733" y="203200"/>
                  </a:cubicBezTo>
                  <a:cubicBezTo>
                    <a:pt x="104054" y="213578"/>
                    <a:pt x="94346" y="207235"/>
                    <a:pt x="112889" y="225778"/>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114" name="任意多边形 17"/>
            <p:cNvSpPr/>
            <p:nvPr/>
          </p:nvSpPr>
          <p:spPr>
            <a:xfrm>
              <a:off x="958850" y="2924175"/>
              <a:ext cx="57150" cy="146050"/>
            </a:xfrm>
            <a:custGeom>
              <a:avLst/>
              <a:gdLst>
                <a:gd name="txL" fmla="*/ 0 w 56602"/>
                <a:gd name="txT" fmla="*/ 0 h 146756"/>
                <a:gd name="txR" fmla="*/ 56602 w 56602"/>
                <a:gd name="txB" fmla="*/ 146756 h 146756"/>
              </a:gdLst>
              <a:ahLst/>
              <a:cxnLst>
                <a:cxn ang="0">
                  <a:pos x="0" y="0"/>
                </a:cxn>
                <a:cxn ang="0">
                  <a:pos x="27640" y="51007"/>
                </a:cxn>
                <a:cxn ang="0">
                  <a:pos x="55281" y="81616"/>
                </a:cxn>
                <a:cxn ang="0">
                  <a:pos x="69101" y="132621"/>
                </a:cxn>
              </a:cxnLst>
              <a:rect l="txL" t="txT" r="txR" b="txB"/>
              <a:pathLst>
                <a:path w="56602" h="146756">
                  <a:moveTo>
                    <a:pt x="0" y="0"/>
                  </a:moveTo>
                  <a:cubicBezTo>
                    <a:pt x="7526" y="18815"/>
                    <a:pt x="13515" y="38320"/>
                    <a:pt x="22577" y="56445"/>
                  </a:cubicBezTo>
                  <a:cubicBezTo>
                    <a:pt x="28644" y="68580"/>
                    <a:pt x="39087" y="78176"/>
                    <a:pt x="45155" y="90311"/>
                  </a:cubicBezTo>
                  <a:cubicBezTo>
                    <a:pt x="58824" y="117648"/>
                    <a:pt x="56444" y="120924"/>
                    <a:pt x="56444" y="146756"/>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aphicFrame>
          <p:nvGraphicFramePr>
            <p:cNvPr id="4115" name="对象 19"/>
            <p:cNvGraphicFramePr>
              <a:graphicFrameLocks noChangeAspect="1"/>
            </p:cNvGraphicFramePr>
            <p:nvPr/>
          </p:nvGraphicFramePr>
          <p:xfrm>
            <a:off x="1379538" y="1276350"/>
            <a:ext cx="239712" cy="219075"/>
          </p:xfrm>
          <a:graphic>
            <a:graphicData uri="http://schemas.openxmlformats.org/presentationml/2006/ole">
              <mc:AlternateContent xmlns:mc="http://schemas.openxmlformats.org/markup-compatibility/2006">
                <mc:Choice xmlns:v="urn:schemas-microsoft-com:vml" Requires="v">
                  <p:oleObj spid="_x0000_s3084" name="" r:id="rId6" imgW="152400" imgH="139700" progId="Equation.DSMT4">
                    <p:embed/>
                  </p:oleObj>
                </mc:Choice>
                <mc:Fallback>
                  <p:oleObj name="" r:id="rId6" imgW="152400" imgH="139700" progId="Equation.DSMT4">
                    <p:embed/>
                    <p:pic>
                      <p:nvPicPr>
                        <p:cNvPr id="0" name="图片 3083"/>
                        <p:cNvPicPr/>
                        <p:nvPr/>
                      </p:nvPicPr>
                      <p:blipFill>
                        <a:blip r:embed="rId7"/>
                        <a:stretch>
                          <a:fillRect/>
                        </a:stretch>
                      </p:blipFill>
                      <p:spPr>
                        <a:xfrm>
                          <a:off x="1379538" y="1276350"/>
                          <a:ext cx="239712" cy="219075"/>
                        </a:xfrm>
                        <a:prstGeom prst="rect">
                          <a:avLst/>
                        </a:prstGeom>
                        <a:noFill/>
                        <a:ln w="38100">
                          <a:noFill/>
                          <a:miter/>
                        </a:ln>
                      </p:spPr>
                    </p:pic>
                  </p:oleObj>
                </mc:Fallback>
              </mc:AlternateContent>
            </a:graphicData>
          </a:graphic>
        </p:graphicFrame>
        <p:graphicFrame>
          <p:nvGraphicFramePr>
            <p:cNvPr id="4116" name="对象 24"/>
            <p:cNvGraphicFramePr>
              <a:graphicFrameLocks noChangeAspect="1"/>
            </p:cNvGraphicFramePr>
            <p:nvPr/>
          </p:nvGraphicFramePr>
          <p:xfrm>
            <a:off x="1016000" y="2822575"/>
            <a:ext cx="239713" cy="203200"/>
          </p:xfrm>
          <a:graphic>
            <a:graphicData uri="http://schemas.openxmlformats.org/presentationml/2006/ole">
              <mc:AlternateContent xmlns:mc="http://schemas.openxmlformats.org/markup-compatibility/2006">
                <mc:Choice xmlns:v="urn:schemas-microsoft-com:vml" Requires="v">
                  <p:oleObj spid="_x0000_s3085" name="" r:id="rId8" imgW="152400" imgH="139700" progId="Equation.DSMT4">
                    <p:embed/>
                  </p:oleObj>
                </mc:Choice>
                <mc:Fallback>
                  <p:oleObj name="" r:id="rId8" imgW="152400" imgH="139700" progId="Equation.DSMT4">
                    <p:embed/>
                    <p:pic>
                      <p:nvPicPr>
                        <p:cNvPr id="0" name="图片 3084"/>
                        <p:cNvPicPr/>
                        <p:nvPr/>
                      </p:nvPicPr>
                      <p:blipFill>
                        <a:blip r:embed="rId7"/>
                        <a:stretch>
                          <a:fillRect/>
                        </a:stretch>
                      </p:blipFill>
                      <p:spPr>
                        <a:xfrm>
                          <a:off x="1016000" y="2822575"/>
                          <a:ext cx="239713" cy="203200"/>
                        </a:xfrm>
                        <a:prstGeom prst="rect">
                          <a:avLst/>
                        </a:prstGeom>
                        <a:noFill/>
                        <a:ln w="38100">
                          <a:noFill/>
                          <a:miter/>
                        </a:ln>
                      </p:spPr>
                    </p:pic>
                  </p:oleObj>
                </mc:Fallback>
              </mc:AlternateContent>
            </a:graphicData>
          </a:graphic>
        </p:graphicFrame>
        <p:sp>
          <p:nvSpPr>
            <p:cNvPr id="4117" name="任意多边形 20483"/>
            <p:cNvSpPr/>
            <p:nvPr/>
          </p:nvSpPr>
          <p:spPr>
            <a:xfrm>
              <a:off x="1512888" y="1512888"/>
              <a:ext cx="157162" cy="22225"/>
            </a:xfrm>
            <a:custGeom>
              <a:avLst/>
              <a:gdLst>
                <a:gd name="txL" fmla="*/ 0 w 158045"/>
                <a:gd name="txT" fmla="*/ 0 h 22954"/>
                <a:gd name="txR" fmla="*/ 158045 w 158045"/>
                <a:gd name="txB" fmla="*/ 22954 h 22954"/>
              </a:gdLst>
              <a:ahLst/>
              <a:cxnLst>
                <a:cxn ang="0">
                  <a:pos x="0" y="11655"/>
                </a:cxn>
                <a:cxn ang="0">
                  <a:pos x="80286" y="5923"/>
                </a:cxn>
                <a:cxn ang="0">
                  <a:pos x="140503" y="191"/>
                </a:cxn>
              </a:cxnLst>
              <a:rect l="txL" t="txT" r="txR" b="txB"/>
              <a:pathLst>
                <a:path w="158045" h="22954">
                  <a:moveTo>
                    <a:pt x="0" y="22954"/>
                  </a:moveTo>
                  <a:cubicBezTo>
                    <a:pt x="30104" y="19191"/>
                    <a:pt x="60462" y="17092"/>
                    <a:pt x="90311" y="11665"/>
                  </a:cubicBezTo>
                  <a:cubicBezTo>
                    <a:pt x="172034" y="-3194"/>
                    <a:pt x="77038" y="376"/>
                    <a:pt x="158045" y="376"/>
                  </a:cubicBez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pic>
        <p:nvPicPr>
          <p:cNvPr id="4106" name="Picture 3"/>
          <p:cNvPicPr>
            <a:picLocks noChangeAspect="1"/>
          </p:cNvPicPr>
          <p:nvPr/>
        </p:nvPicPr>
        <p:blipFill>
          <a:blip r:embed="rId9"/>
          <a:stretch>
            <a:fillRect/>
          </a:stretch>
        </p:blipFill>
        <p:spPr>
          <a:xfrm>
            <a:off x="3133725" y="4508500"/>
            <a:ext cx="1438275" cy="723900"/>
          </a:xfrm>
          <a:prstGeom prst="rect">
            <a:avLst/>
          </a:prstGeom>
          <a:noFill/>
          <a:ln w="9525">
            <a:noFill/>
          </a:ln>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ext Box 11"/>
          <p:cNvSpPr txBox="1">
            <a:spLocks noChangeArrowheads="1"/>
          </p:cNvSpPr>
          <p:nvPr/>
        </p:nvSpPr>
        <p:spPr bwMode="auto">
          <a:xfrm>
            <a:off x="179388" y="115888"/>
            <a:ext cx="5483225" cy="457200"/>
          </a:xfrm>
          <a:prstGeom prst="rect">
            <a:avLst/>
          </a:prstGeom>
          <a:noFill/>
          <a:ln>
            <a:noFill/>
          </a:ln>
        </p:spPr>
        <p:txBody>
          <a:bodyPr wrap="none">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Review of Ch29             Ampere's law</a:t>
            </a:r>
            <a:endPar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5123" name="Picture 5"/>
          <p:cNvPicPr>
            <a:picLocks noChangeAspect="1"/>
          </p:cNvPicPr>
          <p:nvPr/>
        </p:nvPicPr>
        <p:blipFill>
          <a:blip r:embed="rId1">
            <a:lum bright="-20001" contrast="40000"/>
          </a:blip>
          <a:stretch>
            <a:fillRect/>
          </a:stretch>
        </p:blipFill>
        <p:spPr>
          <a:xfrm>
            <a:off x="201613" y="1125538"/>
            <a:ext cx="4464050" cy="4462462"/>
          </a:xfrm>
          <a:prstGeom prst="rect">
            <a:avLst/>
          </a:prstGeom>
          <a:noFill/>
          <a:ln w="9525">
            <a:noFill/>
          </a:ln>
        </p:spPr>
      </p:pic>
      <p:graphicFrame>
        <p:nvGraphicFramePr>
          <p:cNvPr id="5124" name="Object 4"/>
          <p:cNvGraphicFramePr>
            <a:graphicFrameLocks noChangeAspect="1"/>
          </p:cNvGraphicFramePr>
          <p:nvPr/>
        </p:nvGraphicFramePr>
        <p:xfrm>
          <a:off x="5019675" y="1436688"/>
          <a:ext cx="1368425" cy="401637"/>
        </p:xfrm>
        <a:graphic>
          <a:graphicData uri="http://schemas.openxmlformats.org/presentationml/2006/ole">
            <mc:AlternateContent xmlns:mc="http://schemas.openxmlformats.org/markup-compatibility/2006">
              <mc:Choice xmlns:v="urn:schemas-microsoft-com:vml" Requires="v">
                <p:oleObj spid="_x0000_s3087" name="" r:id="rId2" imgW="951865" imgH="279400" progId="Equation.DSMT4">
                  <p:embed/>
                </p:oleObj>
              </mc:Choice>
              <mc:Fallback>
                <p:oleObj name="" r:id="rId2" imgW="951865" imgH="279400" progId="Equation.DSMT4">
                  <p:embed/>
                  <p:pic>
                    <p:nvPicPr>
                      <p:cNvPr id="0" name="图片 3086"/>
                      <p:cNvPicPr/>
                      <p:nvPr/>
                    </p:nvPicPr>
                    <p:blipFill>
                      <a:blip r:embed="rId3"/>
                      <a:stretch>
                        <a:fillRect/>
                      </a:stretch>
                    </p:blipFill>
                    <p:spPr>
                      <a:xfrm>
                        <a:off x="5019675" y="1436688"/>
                        <a:ext cx="1368425" cy="401637"/>
                      </a:xfrm>
                      <a:prstGeom prst="rect">
                        <a:avLst/>
                      </a:prstGeom>
                      <a:noFill/>
                      <a:ln w="9525" cap="flat" cmpd="sng">
                        <a:solidFill>
                          <a:srgbClr val="FF3300"/>
                        </a:solidFill>
                        <a:prstDash val="solid"/>
                        <a:miter/>
                        <a:headEnd type="none" w="med" len="med"/>
                        <a:tailEnd type="none" w="med" len="med"/>
                      </a:ln>
                    </p:spPr>
                  </p:pic>
                </p:oleObj>
              </mc:Fallback>
            </mc:AlternateContent>
          </a:graphicData>
        </a:graphic>
      </p:graphicFrame>
      <p:sp>
        <p:nvSpPr>
          <p:cNvPr id="21516" name="TextBox 7"/>
          <p:cNvSpPr txBox="1"/>
          <p:nvPr/>
        </p:nvSpPr>
        <p:spPr>
          <a:xfrm>
            <a:off x="4995863" y="4508500"/>
            <a:ext cx="3714750" cy="738188"/>
          </a:xfrm>
          <a:prstGeom prst="rect">
            <a:avLst/>
          </a:prstGeom>
          <a:noFill/>
          <a:ln w="9525">
            <a:noFill/>
          </a:ln>
        </p:spPr>
        <p:txBody>
          <a:bodyPr>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457200" lvl="0" indent="-457200" eaLnBrk="1" hangingPunct="1">
              <a:spcBef>
                <a:spcPct val="0"/>
              </a:spcBef>
              <a:spcAft>
                <a:spcPct val="0"/>
              </a:spcAft>
              <a:buClrTx/>
              <a:buAutoNum type="arabicParenR"/>
            </a:pPr>
            <a:r>
              <a:rPr lang="en-US" altLang="zh-CN" sz="1400" dirty="0">
                <a:solidFill>
                  <a:srgbClr val="CC3300"/>
                </a:solidFill>
                <a:ea typeface="宋体" panose="02010600030101010101" pitchFamily="2" charset="-122"/>
              </a:rPr>
              <a:t>Currents are steady</a:t>
            </a:r>
            <a:endParaRPr lang="en-US" altLang="zh-CN" sz="1400" dirty="0">
              <a:solidFill>
                <a:srgbClr val="CC3300"/>
              </a:solidFill>
              <a:ea typeface="宋体" panose="02010600030101010101" pitchFamily="2" charset="-122"/>
            </a:endParaRPr>
          </a:p>
          <a:p>
            <a:pPr marL="457200" lvl="0" indent="-457200" eaLnBrk="1" hangingPunct="1">
              <a:spcBef>
                <a:spcPct val="0"/>
              </a:spcBef>
              <a:spcAft>
                <a:spcPct val="0"/>
              </a:spcAft>
              <a:buClrTx/>
              <a:buAutoNum type="arabicParenR"/>
            </a:pPr>
            <a:r>
              <a:rPr lang="en-US" altLang="zh-CN" sz="1400" dirty="0">
                <a:solidFill>
                  <a:srgbClr val="CC3300"/>
                </a:solidFill>
                <a:ea typeface="宋体" panose="02010600030101010101" pitchFamily="2" charset="-122"/>
              </a:rPr>
              <a:t>No magnetic materials are present</a:t>
            </a:r>
            <a:endParaRPr lang="en-US" altLang="zh-CN" sz="1400" dirty="0">
              <a:solidFill>
                <a:srgbClr val="CC3300"/>
              </a:solidFill>
              <a:ea typeface="宋体" panose="02010600030101010101" pitchFamily="2" charset="-122"/>
            </a:endParaRPr>
          </a:p>
          <a:p>
            <a:pPr marL="457200" lvl="0" indent="-457200" eaLnBrk="1" hangingPunct="1">
              <a:spcBef>
                <a:spcPct val="0"/>
              </a:spcBef>
              <a:spcAft>
                <a:spcPct val="0"/>
              </a:spcAft>
              <a:buClrTx/>
              <a:buAutoNum type="arabicParenR"/>
            </a:pPr>
            <a:r>
              <a:rPr lang="en-US" altLang="zh-CN" sz="1400" dirty="0">
                <a:solidFill>
                  <a:srgbClr val="CC3300"/>
                </a:solidFill>
                <a:ea typeface="宋体" panose="02010600030101010101" pitchFamily="2" charset="-122"/>
              </a:rPr>
              <a:t>No time-varying E-fields are present</a:t>
            </a:r>
            <a:endParaRPr lang="zh-CN" altLang="en-US" sz="1400" dirty="0">
              <a:solidFill>
                <a:srgbClr val="CC3300"/>
              </a:solidFill>
              <a:ea typeface="宋体" panose="02010600030101010101" pitchFamily="2" charset="-122"/>
            </a:endParaRPr>
          </a:p>
        </p:txBody>
      </p:sp>
      <p:graphicFrame>
        <p:nvGraphicFramePr>
          <p:cNvPr id="5126" name="对象 1"/>
          <p:cNvGraphicFramePr>
            <a:graphicFrameLocks noChangeAspect="1"/>
          </p:cNvGraphicFramePr>
          <p:nvPr/>
        </p:nvGraphicFramePr>
        <p:xfrm>
          <a:off x="5019675" y="2349500"/>
          <a:ext cx="2089150" cy="381000"/>
        </p:xfrm>
        <a:graphic>
          <a:graphicData uri="http://schemas.openxmlformats.org/presentationml/2006/ole">
            <mc:AlternateContent xmlns:mc="http://schemas.openxmlformats.org/markup-compatibility/2006">
              <mc:Choice xmlns:v="urn:schemas-microsoft-com:vml" Requires="v">
                <p:oleObj spid="_x0000_s3088" name="" r:id="rId4" imgW="1536700" imgH="279400" progId="Equation.DSMT4">
                  <p:embed/>
                </p:oleObj>
              </mc:Choice>
              <mc:Fallback>
                <p:oleObj name="" r:id="rId4" imgW="1536700" imgH="279400" progId="Equation.DSMT4">
                  <p:embed/>
                  <p:pic>
                    <p:nvPicPr>
                      <p:cNvPr id="0" name="图片 3087"/>
                      <p:cNvPicPr/>
                      <p:nvPr/>
                    </p:nvPicPr>
                    <p:blipFill>
                      <a:blip r:embed="rId5"/>
                      <a:stretch>
                        <a:fillRect/>
                      </a:stretch>
                    </p:blipFill>
                    <p:spPr>
                      <a:xfrm>
                        <a:off x="5019675" y="2349500"/>
                        <a:ext cx="2089150" cy="381000"/>
                      </a:xfrm>
                      <a:prstGeom prst="rect">
                        <a:avLst/>
                      </a:prstGeom>
                      <a:noFill/>
                      <a:ln w="9525" cap="flat" cmpd="sng">
                        <a:solidFill>
                          <a:srgbClr val="FF3300"/>
                        </a:solidFill>
                        <a:prstDash val="solid"/>
                        <a:miter/>
                        <a:headEnd type="none" w="med" len="med"/>
                        <a:tailEnd type="none" w="med" len="med"/>
                      </a:ln>
                    </p:spPr>
                  </p:pic>
                </p:oleObj>
              </mc:Fallback>
            </mc:AlternateContent>
          </a:graphicData>
        </a:graphic>
      </p:graphicFrame>
    </p:spTree>
  </p:cSld>
  <p:clrMapOvr>
    <a:masterClrMapping/>
  </p:clrMapOvr>
  <p:transition spd="slow" advTm="71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16"/>
                                        </p:tgtEl>
                                        <p:attrNameLst>
                                          <p:attrName>style.visibility</p:attrName>
                                        </p:attrNameLst>
                                      </p:cBhvr>
                                      <p:to>
                                        <p:strVal val="visible"/>
                                      </p:to>
                                    </p:set>
                                    <p:animEffect transition="in" filter="blinds(horizontal)">
                                      <p:cBhvr>
                                        <p:cTn id="7" dur="500"/>
                                        <p:tgtEl>
                                          <p:spTgt spid="21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ext Box 11"/>
          <p:cNvSpPr txBox="1">
            <a:spLocks noChangeArrowheads="1"/>
          </p:cNvSpPr>
          <p:nvPr/>
        </p:nvSpPr>
        <p:spPr bwMode="auto">
          <a:xfrm>
            <a:off x="179388" y="115888"/>
            <a:ext cx="5627688" cy="461963"/>
          </a:xfrm>
          <a:prstGeom prst="rect">
            <a:avLst/>
          </a:prstGeom>
          <a:noFill/>
          <a:ln>
            <a:noFill/>
          </a:ln>
        </p:spPr>
        <p:txBody>
          <a:bodyPr wrap="none">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Review of Ch29             Ampere's law</a:t>
            </a:r>
            <a:endParaRPr kumimoji="0" lang="en-US" altLang="zh-CN" sz="2400" b="1" i="1" u="none" strike="noStrike" kern="1200" cap="none" spc="0" normalizeH="0" baseline="0" noProof="0">
              <a:ln>
                <a:noFill/>
              </a:ln>
              <a:solidFill>
                <a:srgbClr val="C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147" name="Text Box 3"/>
          <p:cNvSpPr txBox="1"/>
          <p:nvPr/>
        </p:nvSpPr>
        <p:spPr>
          <a:xfrm>
            <a:off x="506413" y="642938"/>
            <a:ext cx="2881312" cy="400050"/>
          </a:xfrm>
          <a:prstGeom prst="rect">
            <a:avLst/>
          </a:prstGeom>
          <a:noFill/>
          <a:ln w="9525">
            <a:noFill/>
          </a:ln>
        </p:spPr>
        <p:txBody>
          <a:bodyPr wrap="none">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r>
              <a:rPr lang="en-US" altLang="zh-CN" sz="2000" b="1" dirty="0">
                <a:latin typeface="Times New Roman" panose="02020603050405020304" pitchFamily="18" charset="0"/>
                <a:ea typeface="宋体" panose="02010600030101010101" pitchFamily="2" charset="-122"/>
              </a:rPr>
              <a:t>A long Current Cylinder</a:t>
            </a:r>
            <a:endParaRPr lang="en-US" altLang="zh-CN" sz="2000" b="1" dirty="0">
              <a:latin typeface="Times New Roman" panose="02020603050405020304" pitchFamily="18" charset="0"/>
              <a:ea typeface="宋体" panose="02010600030101010101" pitchFamily="2" charset="-122"/>
            </a:endParaRPr>
          </a:p>
        </p:txBody>
      </p:sp>
      <p:pic>
        <p:nvPicPr>
          <p:cNvPr id="6148" name="Picture 3"/>
          <p:cNvPicPr>
            <a:picLocks noChangeAspect="1"/>
          </p:cNvPicPr>
          <p:nvPr/>
        </p:nvPicPr>
        <p:blipFill>
          <a:blip r:embed="rId1">
            <a:lum bright="-20001" contrast="40000"/>
          </a:blip>
          <a:srcRect t="3481"/>
          <a:stretch>
            <a:fillRect/>
          </a:stretch>
        </p:blipFill>
        <p:spPr>
          <a:xfrm>
            <a:off x="649288" y="1143000"/>
            <a:ext cx="2343150" cy="1744663"/>
          </a:xfrm>
          <a:prstGeom prst="rect">
            <a:avLst/>
          </a:prstGeom>
          <a:noFill/>
          <a:ln w="9525">
            <a:noFill/>
          </a:ln>
        </p:spPr>
      </p:pic>
      <p:pic>
        <p:nvPicPr>
          <p:cNvPr id="22535" name="Picture 6"/>
          <p:cNvPicPr>
            <a:picLocks noChangeAspect="1"/>
          </p:cNvPicPr>
          <p:nvPr/>
        </p:nvPicPr>
        <p:blipFill>
          <a:blip r:embed="rId2">
            <a:lum bright="-20001" contrast="40000"/>
          </a:blip>
          <a:srcRect t="13528"/>
          <a:stretch>
            <a:fillRect/>
          </a:stretch>
        </p:blipFill>
        <p:spPr>
          <a:xfrm>
            <a:off x="649288" y="3262313"/>
            <a:ext cx="2216150" cy="385762"/>
          </a:xfrm>
          <a:prstGeom prst="rect">
            <a:avLst/>
          </a:prstGeom>
          <a:noFill/>
          <a:ln w="9525">
            <a:noFill/>
          </a:ln>
        </p:spPr>
      </p:pic>
      <p:pic>
        <p:nvPicPr>
          <p:cNvPr id="22536" name="Picture 12"/>
          <p:cNvPicPr>
            <a:picLocks noChangeAspect="1"/>
          </p:cNvPicPr>
          <p:nvPr/>
        </p:nvPicPr>
        <p:blipFill>
          <a:blip r:embed="rId3">
            <a:lum bright="-20001" contrast="40000"/>
          </a:blip>
          <a:stretch>
            <a:fillRect/>
          </a:stretch>
        </p:blipFill>
        <p:spPr>
          <a:xfrm>
            <a:off x="395288" y="3789363"/>
            <a:ext cx="3810000" cy="2487612"/>
          </a:xfrm>
          <a:prstGeom prst="rect">
            <a:avLst/>
          </a:prstGeom>
          <a:noFill/>
          <a:ln w="9525">
            <a:noFill/>
          </a:ln>
        </p:spPr>
      </p:pic>
      <p:pic>
        <p:nvPicPr>
          <p:cNvPr id="7" name="Picture 4"/>
          <p:cNvPicPr>
            <a:picLocks noChangeAspect="1"/>
          </p:cNvPicPr>
          <p:nvPr/>
        </p:nvPicPr>
        <p:blipFill>
          <a:blip r:embed="rId4"/>
          <a:stretch>
            <a:fillRect/>
          </a:stretch>
        </p:blipFill>
        <p:spPr>
          <a:xfrm>
            <a:off x="5694363" y="3924300"/>
            <a:ext cx="1800225" cy="620713"/>
          </a:xfrm>
          <a:prstGeom prst="rect">
            <a:avLst/>
          </a:prstGeom>
          <a:noFill/>
          <a:ln w="9525">
            <a:noFill/>
          </a:ln>
        </p:spPr>
      </p:pic>
      <p:sp>
        <p:nvSpPr>
          <p:cNvPr id="6152" name="矩形 10"/>
          <p:cNvSpPr/>
          <p:nvPr/>
        </p:nvSpPr>
        <p:spPr>
          <a:xfrm>
            <a:off x="5364163" y="744538"/>
            <a:ext cx="3455987" cy="646112"/>
          </a:xfrm>
          <a:prstGeom prst="rect">
            <a:avLst/>
          </a:prstGeom>
          <a:noFill/>
          <a:ln w="9525">
            <a:noFill/>
          </a:ln>
        </p:spPr>
        <p:txBody>
          <a:bodyPr>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r>
              <a:rPr lang="en-US" altLang="zh-TW" sz="1800" b="1" dirty="0">
                <a:latin typeface="Times New Roman" panose="02020603050405020304" pitchFamily="18" charset="0"/>
                <a:ea typeface="宋体" panose="02010600030101010101" pitchFamily="2" charset="-122"/>
              </a:rPr>
              <a:t>A Large Current Sheet </a:t>
            </a:r>
            <a:endParaRPr lang="en-US" altLang="zh-TW" sz="1800" b="1" dirty="0">
              <a:latin typeface="Times New Roman" panose="02020603050405020304" pitchFamily="18" charset="0"/>
              <a:ea typeface="宋体" panose="02010600030101010101" pitchFamily="2" charset="-122"/>
            </a:endParaRPr>
          </a:p>
          <a:p>
            <a:pPr marL="0" lvl="0" indent="0" eaLnBrk="1" hangingPunct="1">
              <a:spcBef>
                <a:spcPct val="0"/>
              </a:spcBef>
              <a:spcAft>
                <a:spcPct val="0"/>
              </a:spcAft>
              <a:buClrTx/>
              <a:buNone/>
            </a:pPr>
            <a:r>
              <a:rPr lang="en-US" altLang="zh-CN" sz="1800" b="1" dirty="0">
                <a:latin typeface="Times New Roman" panose="02020603050405020304" pitchFamily="18" charset="0"/>
                <a:ea typeface="宋体" panose="02010600030101010101" pitchFamily="2" charset="-122"/>
              </a:rPr>
              <a:t>with uniform current density </a:t>
            </a:r>
            <a:r>
              <a:rPr lang="en-US" altLang="zh-CN" sz="1800" b="1" i="1" dirty="0">
                <a:latin typeface="Times New Roman" panose="02020603050405020304" pitchFamily="18" charset="0"/>
                <a:ea typeface="宋体" panose="02010600030101010101" pitchFamily="2" charset="-122"/>
              </a:rPr>
              <a:t>J</a:t>
            </a:r>
            <a:r>
              <a:rPr lang="en-US" altLang="zh-CN" sz="1800" b="1" baseline="-25000" dirty="0">
                <a:latin typeface="Times New Roman" panose="02020603050405020304" pitchFamily="18" charset="0"/>
                <a:ea typeface="宋体" panose="02010600030101010101" pitchFamily="2" charset="-122"/>
              </a:rPr>
              <a:t>S</a:t>
            </a:r>
            <a:r>
              <a:rPr lang="en-US" altLang="zh-CN" sz="1800" b="1" dirty="0">
                <a:latin typeface="Times New Roman" panose="02020603050405020304" pitchFamily="18" charset="0"/>
                <a:ea typeface="宋体" panose="02010600030101010101" pitchFamily="2" charset="-122"/>
              </a:rPr>
              <a:t> </a:t>
            </a:r>
            <a:endParaRPr lang="zh-CN" altLang="en-US" sz="1800" b="1" dirty="0">
              <a:latin typeface="Times New Roman" panose="02020603050405020304" pitchFamily="18" charset="0"/>
              <a:ea typeface="宋体" panose="02010600030101010101" pitchFamily="2" charset="-122"/>
            </a:endParaRPr>
          </a:p>
        </p:txBody>
      </p:sp>
      <p:pic>
        <p:nvPicPr>
          <p:cNvPr id="9" name="Picture 12"/>
          <p:cNvPicPr>
            <a:picLocks noChangeAspect="1"/>
          </p:cNvPicPr>
          <p:nvPr/>
        </p:nvPicPr>
        <p:blipFill>
          <a:blip r:embed="rId5">
            <a:lum bright="-10001" contrast="40000"/>
          </a:blip>
          <a:srcRect r="7802"/>
          <a:stretch>
            <a:fillRect/>
          </a:stretch>
        </p:blipFill>
        <p:spPr>
          <a:xfrm>
            <a:off x="5364163" y="1631950"/>
            <a:ext cx="3125787" cy="1685925"/>
          </a:xfrm>
          <a:prstGeom prst="rect">
            <a:avLst/>
          </a:prstGeom>
          <a:noFill/>
          <a:ln w="9525">
            <a:noFill/>
          </a:ln>
        </p:spPr>
      </p:pic>
      <p:graphicFrame>
        <p:nvGraphicFramePr>
          <p:cNvPr id="10" name="Object 5"/>
          <p:cNvGraphicFramePr>
            <a:graphicFrameLocks noChangeAspect="1"/>
          </p:cNvGraphicFramePr>
          <p:nvPr/>
        </p:nvGraphicFramePr>
        <p:xfrm>
          <a:off x="5732463" y="4564063"/>
          <a:ext cx="1858962" cy="836612"/>
        </p:xfrm>
        <a:graphic>
          <a:graphicData uri="http://schemas.openxmlformats.org/presentationml/2006/ole">
            <mc:AlternateContent xmlns:mc="http://schemas.openxmlformats.org/markup-compatibility/2006">
              <mc:Choice xmlns:v="urn:schemas-microsoft-com:vml" Requires="v">
                <p:oleObj spid="_x0000_s3082" name="" r:id="rId6" imgW="1104900" imgH="431800" progId="Equation.DSMT4">
                  <p:embed/>
                </p:oleObj>
              </mc:Choice>
              <mc:Fallback>
                <p:oleObj name="" r:id="rId6" imgW="1104900" imgH="431800" progId="Equation.DSMT4">
                  <p:embed/>
                  <p:pic>
                    <p:nvPicPr>
                      <p:cNvPr id="0" name="图片 3081"/>
                      <p:cNvPicPr/>
                      <p:nvPr/>
                    </p:nvPicPr>
                    <p:blipFill>
                      <a:blip r:embed="rId7"/>
                      <a:stretch>
                        <a:fillRect/>
                      </a:stretch>
                    </p:blipFill>
                    <p:spPr>
                      <a:xfrm>
                        <a:off x="5732463" y="4564063"/>
                        <a:ext cx="1858962" cy="836612"/>
                      </a:xfrm>
                      <a:prstGeom prst="rect">
                        <a:avLst/>
                      </a:prstGeom>
                      <a:noFill/>
                      <a:ln w="38100">
                        <a:noFill/>
                        <a:miter/>
                      </a:ln>
                    </p:spPr>
                  </p:pic>
                </p:oleObj>
              </mc:Fallback>
            </mc:AlternateContent>
          </a:graphicData>
        </a:graphic>
      </p:graphicFrame>
      <p:graphicFrame>
        <p:nvGraphicFramePr>
          <p:cNvPr id="11" name="Object 6"/>
          <p:cNvGraphicFramePr>
            <a:graphicFrameLocks noChangeAspect="1"/>
          </p:cNvGraphicFramePr>
          <p:nvPr/>
        </p:nvGraphicFramePr>
        <p:xfrm>
          <a:off x="5803900" y="5649913"/>
          <a:ext cx="1665288" cy="733425"/>
        </p:xfrm>
        <a:graphic>
          <a:graphicData uri="http://schemas.openxmlformats.org/presentationml/2006/ole">
            <mc:AlternateContent xmlns:mc="http://schemas.openxmlformats.org/markup-compatibility/2006">
              <mc:Choice xmlns:v="urn:schemas-microsoft-com:vml" Requires="v">
                <p:oleObj spid="_x0000_s3083" name="" r:id="rId8" imgW="888365" imgH="393700" progId="Equation.DSMT4">
                  <p:embed/>
                </p:oleObj>
              </mc:Choice>
              <mc:Fallback>
                <p:oleObj name="" r:id="rId8" imgW="888365" imgH="393700" progId="Equation.DSMT4">
                  <p:embed/>
                  <p:pic>
                    <p:nvPicPr>
                      <p:cNvPr id="0" name="图片 3082"/>
                      <p:cNvPicPr/>
                      <p:nvPr/>
                    </p:nvPicPr>
                    <p:blipFill>
                      <a:blip r:embed="rId9"/>
                      <a:stretch>
                        <a:fillRect/>
                      </a:stretch>
                    </p:blipFill>
                    <p:spPr>
                      <a:xfrm>
                        <a:off x="5803900" y="5649913"/>
                        <a:ext cx="1665288" cy="733425"/>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12" name="文字方塊 21"/>
          <p:cNvSpPr txBox="1">
            <a:spLocks noChangeArrowheads="1"/>
          </p:cNvSpPr>
          <p:nvPr/>
        </p:nvSpPr>
        <p:spPr bwMode="auto">
          <a:xfrm>
            <a:off x="5411788" y="3524250"/>
            <a:ext cx="2740025" cy="401638"/>
          </a:xfrm>
          <a:prstGeom prst="rect">
            <a:avLst/>
          </a:prstGeom>
          <a:noFill/>
          <a:ln>
            <a:noFill/>
          </a:ln>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TW" sz="20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B</a:t>
            </a:r>
            <a:r>
              <a:rPr kumimoji="0" lang="en-US" altLang="zh-TW"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is // to sheet &amp; </a:t>
            </a:r>
            <a:r>
              <a:rPr kumimoji="0" lang="en-US" altLang="zh-TW"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rPr>
              <a:t></a:t>
            </a:r>
            <a:r>
              <a:rPr kumimoji="0" lang="en-US" altLang="zh-TW"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TW" sz="2000" b="0" i="1" u="none" strike="noStrike" kern="1200" cap="none" spc="0" normalizeH="0" baseline="0" noProof="0" dirty="0" err="1">
                <a:ln>
                  <a:noFill/>
                </a:ln>
                <a:solidFill>
                  <a:schemeClr val="tx1"/>
                </a:solidFill>
                <a:effectLst/>
                <a:uLnTx/>
                <a:uFillTx/>
                <a:latin typeface="+mj-lt"/>
                <a:ea typeface="宋体" panose="02010600030101010101" pitchFamily="2" charset="-122"/>
                <a:cs typeface="+mn-cs"/>
              </a:rPr>
              <a:t>I</a:t>
            </a:r>
            <a:r>
              <a:rPr kumimoji="0" lang="en-US" altLang="zh-CN" sz="2000" b="0" i="0" u="none" strike="noStrike" kern="1200" cap="none" spc="0" normalizeH="0" baseline="-25000" noProof="0" dirty="0" err="1">
                <a:ln>
                  <a:noFill/>
                </a:ln>
                <a:solidFill>
                  <a:schemeClr val="tx1"/>
                </a:solidFill>
                <a:effectLst/>
                <a:uLnTx/>
                <a:uFillTx/>
                <a:latin typeface="+mj-lt"/>
                <a:ea typeface="宋体" panose="02010600030101010101" pitchFamily="2" charset="-122"/>
                <a:cs typeface="+mn-cs"/>
              </a:rPr>
              <a:t>out</a:t>
            </a:r>
            <a:endParaRPr kumimoji="0" lang="en-US" altLang="zh-TW"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cxnSp>
        <p:nvCxnSpPr>
          <p:cNvPr id="6157" name="直接连接符 2"/>
          <p:cNvCxnSpPr/>
          <p:nvPr/>
        </p:nvCxnSpPr>
        <p:spPr>
          <a:xfrm>
            <a:off x="4572000" y="642938"/>
            <a:ext cx="0" cy="5954712"/>
          </a:xfrm>
          <a:prstGeom prst="line">
            <a:avLst/>
          </a:prstGeom>
          <a:ln w="9525" cap="flat" cmpd="sng">
            <a:solidFill>
              <a:schemeClr val="tx1"/>
            </a:solidFill>
            <a:prstDash val="solid"/>
            <a:headEnd type="none" w="med" len="med"/>
            <a:tailEnd type="none" w="med" len="med"/>
          </a:ln>
        </p:spPr>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35"/>
                                        </p:tgtEl>
                                        <p:attrNameLst>
                                          <p:attrName>style.visibility</p:attrName>
                                        </p:attrNameLst>
                                      </p:cBhvr>
                                      <p:to>
                                        <p:strVal val="visible"/>
                                      </p:to>
                                    </p:set>
                                    <p:animEffect transition="in" filter="blinds(horizontal)">
                                      <p:cBhvr>
                                        <p:cTn id="7" dur="500"/>
                                        <p:tgtEl>
                                          <p:spTgt spid="225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6"/>
                                        </p:tgtEl>
                                        <p:attrNameLst>
                                          <p:attrName>style.visibility</p:attrName>
                                        </p:attrNameLst>
                                      </p:cBhvr>
                                      <p:to>
                                        <p:strVal val="visible"/>
                                      </p:to>
                                    </p:set>
                                    <p:animEffect transition="in" filter="blinds(horizontal)">
                                      <p:cBhvr>
                                        <p:cTn id="12" dur="500"/>
                                        <p:tgtEl>
                                          <p:spTgt spid="2253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ox(in)">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ox(in)">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box(in)">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ext Box 11"/>
          <p:cNvSpPr txBox="1">
            <a:spLocks noChangeArrowheads="1"/>
          </p:cNvSpPr>
          <p:nvPr/>
        </p:nvSpPr>
        <p:spPr bwMode="auto">
          <a:xfrm>
            <a:off x="179388" y="115888"/>
            <a:ext cx="6937375" cy="457200"/>
          </a:xfrm>
          <a:prstGeom prst="rect">
            <a:avLst/>
          </a:prstGeom>
          <a:noFill/>
          <a:ln>
            <a:noFill/>
          </a:ln>
        </p:spPr>
        <p:txBody>
          <a:bodyPr wrap="none">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Review of Ch29             Ampere's law--</a:t>
            </a:r>
            <a:r>
              <a:rPr kumimoji="0" lang="en-US" altLang="zh-CN" sz="2400" b="1" i="1" u="none" strike="noStrike" kern="1200" cap="none" spc="0" normalizeH="0" baseline="0" noProof="0">
                <a:ln>
                  <a:noFill/>
                </a:ln>
                <a:solidFill>
                  <a:srgbClr val="C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solenoid</a:t>
            </a:r>
            <a:endParaRPr kumimoji="0" lang="en-US" altLang="zh-CN" sz="2400" b="1" i="1" u="none" strike="noStrike" kern="1200" cap="none" spc="0" normalizeH="0" baseline="0" noProof="0">
              <a:ln>
                <a:noFill/>
              </a:ln>
              <a:solidFill>
                <a:srgbClr val="C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171" name="Text Box 3"/>
          <p:cNvSpPr txBox="1"/>
          <p:nvPr/>
        </p:nvSpPr>
        <p:spPr>
          <a:xfrm>
            <a:off x="611188" y="909638"/>
            <a:ext cx="6061075" cy="430212"/>
          </a:xfrm>
          <a:prstGeom prst="rect">
            <a:avLst/>
          </a:prstGeom>
          <a:noFill/>
          <a:ln w="9525">
            <a:noFill/>
          </a:ln>
        </p:spPr>
        <p:txBody>
          <a:bodyPr wrap="none">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r>
              <a:rPr lang="en-US" altLang="zh-CN" sz="2200" b="1" dirty="0">
                <a:latin typeface="Times New Roman" panose="02020603050405020304" pitchFamily="18" charset="0"/>
                <a:ea typeface="宋体" panose="02010600030101010101" pitchFamily="2" charset="-122"/>
              </a:rPr>
              <a:t>Coil length is much longer than the coil diameter</a:t>
            </a:r>
            <a:endParaRPr lang="en-US" altLang="zh-CN" sz="2200" b="1" dirty="0">
              <a:latin typeface="Times New Roman" panose="02020603050405020304" pitchFamily="18" charset="0"/>
              <a:ea typeface="宋体" panose="02010600030101010101" pitchFamily="2" charset="-122"/>
            </a:endParaRPr>
          </a:p>
        </p:txBody>
      </p:sp>
      <p:pic>
        <p:nvPicPr>
          <p:cNvPr id="7172" name="Picture 4" descr="F29_18"/>
          <p:cNvPicPr>
            <a:picLocks noChangeAspect="1"/>
          </p:cNvPicPr>
          <p:nvPr/>
        </p:nvPicPr>
        <p:blipFill>
          <a:blip r:embed="rId1"/>
          <a:stretch>
            <a:fillRect/>
          </a:stretch>
        </p:blipFill>
        <p:spPr>
          <a:xfrm>
            <a:off x="611188" y="1401763"/>
            <a:ext cx="2736850" cy="2058987"/>
          </a:xfrm>
          <a:prstGeom prst="rect">
            <a:avLst/>
          </a:prstGeom>
          <a:noFill/>
          <a:ln w="9525">
            <a:noFill/>
          </a:ln>
        </p:spPr>
      </p:pic>
      <p:pic>
        <p:nvPicPr>
          <p:cNvPr id="7173" name="Picture 5" descr="F29_19"/>
          <p:cNvPicPr>
            <a:picLocks noChangeAspect="1"/>
          </p:cNvPicPr>
          <p:nvPr/>
        </p:nvPicPr>
        <p:blipFill>
          <a:blip r:embed="rId2"/>
          <a:srcRect b="11357"/>
          <a:stretch>
            <a:fillRect/>
          </a:stretch>
        </p:blipFill>
        <p:spPr>
          <a:xfrm>
            <a:off x="465138" y="3713163"/>
            <a:ext cx="2736850" cy="2530475"/>
          </a:xfrm>
          <a:prstGeom prst="rect">
            <a:avLst/>
          </a:prstGeom>
          <a:noFill/>
          <a:ln w="9525">
            <a:noFill/>
          </a:ln>
        </p:spPr>
      </p:pic>
      <p:sp>
        <p:nvSpPr>
          <p:cNvPr id="7174" name="AutoShape 6"/>
          <p:cNvSpPr/>
          <p:nvPr/>
        </p:nvSpPr>
        <p:spPr>
          <a:xfrm>
            <a:off x="1624013" y="3213100"/>
            <a:ext cx="360362" cy="288925"/>
          </a:xfrm>
          <a:prstGeom prst="down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vert="eaVert" anchor="ctr" anchorCtr="0"/>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endParaRPr lang="zh-CN" altLang="en-US" sz="2400" dirty="0">
              <a:ea typeface="宋体" panose="02010600030101010101" pitchFamily="2" charset="-122"/>
            </a:endParaRPr>
          </a:p>
        </p:txBody>
      </p:sp>
      <p:sp>
        <p:nvSpPr>
          <p:cNvPr id="7175" name="Text Box 7"/>
          <p:cNvSpPr txBox="1"/>
          <p:nvPr/>
        </p:nvSpPr>
        <p:spPr>
          <a:xfrm>
            <a:off x="3348038" y="1485900"/>
            <a:ext cx="5721350" cy="400050"/>
          </a:xfrm>
          <a:prstGeom prst="rect">
            <a:avLst/>
          </a:prstGeom>
          <a:noFill/>
          <a:ln w="9525">
            <a:noFill/>
          </a:ln>
        </p:spPr>
        <p:txBody>
          <a:bodyPr wrap="none">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r>
              <a:rPr lang="en-US" altLang="zh-CN" sz="2000" b="1" i="1" dirty="0">
                <a:latin typeface="Times New Roman" panose="02020603050405020304" pitchFamily="18" charset="0"/>
                <a:ea typeface="宋体" panose="02010600030101010101" pitchFamily="2" charset="-122"/>
              </a:rPr>
              <a:t>B</a:t>
            </a:r>
            <a:r>
              <a:rPr lang="en-US" altLang="zh-CN" sz="2000" dirty="0">
                <a:latin typeface="Times New Roman" panose="02020603050405020304" pitchFamily="18" charset="0"/>
                <a:ea typeface="宋体" panose="02010600030101010101" pitchFamily="2" charset="-122"/>
              </a:rPr>
              <a:t>-field is uniform inside the solenoid and zero outside</a:t>
            </a:r>
            <a:endParaRPr lang="zh-CN" altLang="en-US" sz="2000" dirty="0">
              <a:latin typeface="Times New Roman" panose="02020603050405020304" pitchFamily="18" charset="0"/>
              <a:ea typeface="宋体" panose="02010600030101010101" pitchFamily="2" charset="-122"/>
            </a:endParaRPr>
          </a:p>
        </p:txBody>
      </p:sp>
      <p:pic>
        <p:nvPicPr>
          <p:cNvPr id="23560" name="Picture 4"/>
          <p:cNvPicPr>
            <a:picLocks noChangeAspect="1"/>
          </p:cNvPicPr>
          <p:nvPr/>
        </p:nvPicPr>
        <p:blipFill>
          <a:blip r:embed="rId3"/>
          <a:stretch>
            <a:fillRect/>
          </a:stretch>
        </p:blipFill>
        <p:spPr>
          <a:xfrm>
            <a:off x="5364163" y="4652963"/>
            <a:ext cx="2089150" cy="720725"/>
          </a:xfrm>
          <a:prstGeom prst="rect">
            <a:avLst/>
          </a:prstGeom>
          <a:noFill/>
          <a:ln w="9525">
            <a:noFill/>
          </a:ln>
        </p:spPr>
      </p:pic>
      <p:pic>
        <p:nvPicPr>
          <p:cNvPr id="23561" name="Picture 7"/>
          <p:cNvPicPr>
            <a:picLocks noChangeAspect="1"/>
          </p:cNvPicPr>
          <p:nvPr/>
        </p:nvPicPr>
        <p:blipFill>
          <a:blip r:embed="rId4">
            <a:lum bright="-20001" contrast="40000"/>
          </a:blip>
          <a:stretch>
            <a:fillRect/>
          </a:stretch>
        </p:blipFill>
        <p:spPr>
          <a:xfrm>
            <a:off x="5580063" y="5611813"/>
            <a:ext cx="1420812" cy="358775"/>
          </a:xfrm>
          <a:prstGeom prst="rect">
            <a:avLst/>
          </a:prstGeom>
          <a:noFill/>
          <a:ln w="9525">
            <a:noFill/>
          </a:ln>
        </p:spPr>
      </p:pic>
      <p:pic>
        <p:nvPicPr>
          <p:cNvPr id="23562" name="Picture 4"/>
          <p:cNvPicPr>
            <a:picLocks noChangeAspect="1"/>
          </p:cNvPicPr>
          <p:nvPr/>
        </p:nvPicPr>
        <p:blipFill>
          <a:blip r:embed="rId5">
            <a:lum bright="-20001" contrast="40000"/>
          </a:blip>
          <a:stretch>
            <a:fillRect/>
          </a:stretch>
        </p:blipFill>
        <p:spPr>
          <a:xfrm>
            <a:off x="4500563" y="2060575"/>
            <a:ext cx="3417887" cy="2233613"/>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560"/>
                                        </p:tgtEl>
                                        <p:attrNameLst>
                                          <p:attrName>style.visibility</p:attrName>
                                        </p:attrNameLst>
                                      </p:cBhvr>
                                      <p:to>
                                        <p:strVal val="visible"/>
                                      </p:to>
                                    </p:set>
                                    <p:animEffect transition="in" filter="blinds(horizontal)">
                                      <p:cBhvr>
                                        <p:cTn id="7" dur="500"/>
                                        <p:tgtEl>
                                          <p:spTgt spid="23560"/>
                                        </p:tgtEl>
                                      </p:cBhvr>
                                    </p:animEffect>
                                  </p:childTnLst>
                                </p:cTn>
                              </p:par>
                              <p:par>
                                <p:cTn id="8" presetID="3" presetClass="entr" presetSubtype="10" fill="hold" nodeType="withEffect">
                                  <p:stCondLst>
                                    <p:cond delay="0"/>
                                  </p:stCondLst>
                                  <p:childTnLst>
                                    <p:set>
                                      <p:cBhvr>
                                        <p:cTn id="9" dur="1" fill="hold">
                                          <p:stCondLst>
                                            <p:cond delay="0"/>
                                          </p:stCondLst>
                                        </p:cTn>
                                        <p:tgtEl>
                                          <p:spTgt spid="23561"/>
                                        </p:tgtEl>
                                        <p:attrNameLst>
                                          <p:attrName>style.visibility</p:attrName>
                                        </p:attrNameLst>
                                      </p:cBhvr>
                                      <p:to>
                                        <p:strVal val="visible"/>
                                      </p:to>
                                    </p:set>
                                    <p:animEffect transition="in" filter="blinds(horizontal)">
                                      <p:cBhvr>
                                        <p:cTn id="10" dur="500"/>
                                        <p:tgtEl>
                                          <p:spTgt spid="2356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3562"/>
                                        </p:tgtEl>
                                        <p:attrNameLst>
                                          <p:attrName>style.visibility</p:attrName>
                                        </p:attrNameLst>
                                      </p:cBhvr>
                                      <p:to>
                                        <p:strVal val="visible"/>
                                      </p:to>
                                    </p:set>
                                    <p:animEffect transition="in" filter="blinds(horizontal)">
                                      <p:cBhvr>
                                        <p:cTn id="15" dur="500"/>
                                        <p:tgtEl>
                                          <p:spTgt spid="23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ext Box 11"/>
          <p:cNvSpPr txBox="1">
            <a:spLocks noChangeArrowheads="1"/>
          </p:cNvSpPr>
          <p:nvPr/>
        </p:nvSpPr>
        <p:spPr bwMode="auto">
          <a:xfrm>
            <a:off x="179388" y="115888"/>
            <a:ext cx="6548438" cy="457200"/>
          </a:xfrm>
          <a:prstGeom prst="rect">
            <a:avLst/>
          </a:prstGeom>
          <a:noFill/>
          <a:ln>
            <a:noFill/>
          </a:ln>
        </p:spPr>
        <p:txBody>
          <a:bodyPr wrap="none">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Review of Ch29             Ampere's law--</a:t>
            </a:r>
            <a:r>
              <a:rPr kumimoji="0" lang="en-US" altLang="zh-CN" sz="2400" b="1" i="1" u="none" strike="noStrike" kern="1200" cap="none" spc="0" normalizeH="0" baseline="0" noProof="0">
                <a:ln>
                  <a:noFill/>
                </a:ln>
                <a:solidFill>
                  <a:srgbClr val="C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toroid</a:t>
            </a:r>
            <a:endParaRPr kumimoji="0" lang="en-US" altLang="zh-CN" sz="2400" b="1" i="1" u="none" strike="noStrike" kern="1200" cap="none" spc="0" normalizeH="0" baseline="0" noProof="0">
              <a:ln>
                <a:noFill/>
              </a:ln>
              <a:solidFill>
                <a:srgbClr val="C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8195" name="Picture 2"/>
          <p:cNvPicPr>
            <a:picLocks noChangeAspect="1"/>
          </p:cNvPicPr>
          <p:nvPr/>
        </p:nvPicPr>
        <p:blipFill>
          <a:blip r:embed="rId1">
            <a:lum bright="-20001" contrast="40000"/>
          </a:blip>
          <a:stretch>
            <a:fillRect/>
          </a:stretch>
        </p:blipFill>
        <p:spPr>
          <a:xfrm>
            <a:off x="1763713" y="1412875"/>
            <a:ext cx="2024062" cy="2087563"/>
          </a:xfrm>
          <a:prstGeom prst="rect">
            <a:avLst/>
          </a:prstGeom>
          <a:noFill/>
          <a:ln w="9525">
            <a:noFill/>
          </a:ln>
        </p:spPr>
      </p:pic>
      <p:pic>
        <p:nvPicPr>
          <p:cNvPr id="24580" name="Picture 3"/>
          <p:cNvPicPr>
            <a:picLocks noChangeAspect="1"/>
          </p:cNvPicPr>
          <p:nvPr/>
        </p:nvPicPr>
        <p:blipFill>
          <a:blip r:embed="rId2"/>
          <a:stretch>
            <a:fillRect/>
          </a:stretch>
        </p:blipFill>
        <p:spPr>
          <a:xfrm>
            <a:off x="4860925" y="1196975"/>
            <a:ext cx="2309813" cy="2447925"/>
          </a:xfrm>
          <a:prstGeom prst="rect">
            <a:avLst/>
          </a:prstGeom>
          <a:noFill/>
          <a:ln w="9525">
            <a:noFill/>
          </a:ln>
        </p:spPr>
      </p:pic>
      <p:sp>
        <p:nvSpPr>
          <p:cNvPr id="24581" name="TextBox 5"/>
          <p:cNvSpPr txBox="1"/>
          <p:nvPr/>
        </p:nvSpPr>
        <p:spPr>
          <a:xfrm>
            <a:off x="357188" y="3714750"/>
            <a:ext cx="4143375" cy="400050"/>
          </a:xfrm>
          <a:prstGeom prst="rect">
            <a:avLst/>
          </a:prstGeom>
          <a:noFill/>
          <a:ln w="9525">
            <a:noFill/>
          </a:ln>
        </p:spPr>
        <p:txBody>
          <a:bodyPr>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r>
              <a:rPr lang="en-US" altLang="zh-CN" sz="2000" b="1" dirty="0">
                <a:latin typeface="Times New Roman" panose="02020603050405020304" pitchFamily="18" charset="0"/>
                <a:ea typeface="宋体" panose="02010600030101010101" pitchFamily="2" charset="-122"/>
              </a:rPr>
              <a:t>Path 1 : </a:t>
            </a:r>
            <a:r>
              <a:rPr lang="en-US" altLang="zh-CN" sz="2000" dirty="0">
                <a:latin typeface="Times New Roman" panose="02020603050405020304" pitchFamily="18" charset="0"/>
                <a:ea typeface="宋体" panose="02010600030101010101" pitchFamily="2" charset="-122"/>
              </a:rPr>
              <a:t>no current enclosed,  </a:t>
            </a:r>
            <a:r>
              <a:rPr lang="en-US" altLang="zh-CN" sz="2000" b="1" i="1" dirty="0">
                <a:latin typeface="Times New Roman" panose="02020603050405020304" pitchFamily="18" charset="0"/>
                <a:ea typeface="宋体" panose="02010600030101010101" pitchFamily="2" charset="-122"/>
              </a:rPr>
              <a:t>B = </a:t>
            </a:r>
            <a:r>
              <a:rPr lang="en-US" altLang="zh-CN" sz="2000" b="1" dirty="0">
                <a:latin typeface="Times New Roman" panose="02020603050405020304" pitchFamily="18" charset="0"/>
                <a:ea typeface="宋体" panose="02010600030101010101" pitchFamily="2" charset="-122"/>
              </a:rPr>
              <a:t>0 </a:t>
            </a:r>
            <a:endParaRPr lang="zh-CN" altLang="en-US" sz="2000" b="1" dirty="0">
              <a:latin typeface="Times New Roman" panose="02020603050405020304" pitchFamily="18" charset="0"/>
              <a:ea typeface="宋体" panose="02010600030101010101" pitchFamily="2" charset="-122"/>
            </a:endParaRPr>
          </a:p>
        </p:txBody>
      </p:sp>
      <p:sp>
        <p:nvSpPr>
          <p:cNvPr id="24582" name="TextBox 7"/>
          <p:cNvSpPr txBox="1"/>
          <p:nvPr/>
        </p:nvSpPr>
        <p:spPr>
          <a:xfrm>
            <a:off x="357188" y="4143375"/>
            <a:ext cx="4714875" cy="400050"/>
          </a:xfrm>
          <a:prstGeom prst="rect">
            <a:avLst/>
          </a:prstGeom>
          <a:noFill/>
          <a:ln w="9525">
            <a:noFill/>
          </a:ln>
        </p:spPr>
        <p:txBody>
          <a:bodyPr>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r>
              <a:rPr lang="en-US" altLang="zh-CN" sz="2000" b="1" dirty="0">
                <a:latin typeface="Times New Roman" panose="02020603050405020304" pitchFamily="18" charset="0"/>
                <a:ea typeface="宋体" panose="02010600030101010101" pitchFamily="2" charset="-122"/>
              </a:rPr>
              <a:t>Path 3 : </a:t>
            </a:r>
            <a:r>
              <a:rPr lang="en-US" altLang="zh-CN" sz="2000" dirty="0">
                <a:latin typeface="Times New Roman" panose="02020603050405020304" pitchFamily="18" charset="0"/>
                <a:ea typeface="宋体" panose="02010600030101010101" pitchFamily="2" charset="-122"/>
              </a:rPr>
              <a:t>net current enclosed is zero,  </a:t>
            </a:r>
            <a:r>
              <a:rPr lang="en-US" altLang="zh-CN" sz="2000" b="1" i="1" dirty="0">
                <a:latin typeface="Times New Roman" panose="02020603050405020304" pitchFamily="18" charset="0"/>
                <a:ea typeface="宋体" panose="02010600030101010101" pitchFamily="2" charset="-122"/>
              </a:rPr>
              <a:t>B = </a:t>
            </a:r>
            <a:r>
              <a:rPr lang="en-US" altLang="zh-CN" sz="2000" b="1" dirty="0">
                <a:latin typeface="Times New Roman" panose="02020603050405020304" pitchFamily="18" charset="0"/>
                <a:ea typeface="宋体" panose="02010600030101010101" pitchFamily="2" charset="-122"/>
              </a:rPr>
              <a:t>0 </a:t>
            </a:r>
            <a:endParaRPr lang="zh-CN" altLang="en-US" sz="2000" b="1" dirty="0">
              <a:latin typeface="Times New Roman" panose="02020603050405020304" pitchFamily="18" charset="0"/>
              <a:ea typeface="宋体" panose="02010600030101010101" pitchFamily="2" charset="-122"/>
            </a:endParaRPr>
          </a:p>
        </p:txBody>
      </p:sp>
      <p:sp>
        <p:nvSpPr>
          <p:cNvPr id="24583" name="TextBox 8"/>
          <p:cNvSpPr txBox="1"/>
          <p:nvPr/>
        </p:nvSpPr>
        <p:spPr>
          <a:xfrm>
            <a:off x="357188" y="4643438"/>
            <a:ext cx="4714875" cy="400050"/>
          </a:xfrm>
          <a:prstGeom prst="rect">
            <a:avLst/>
          </a:prstGeom>
          <a:noFill/>
          <a:ln w="9525">
            <a:noFill/>
          </a:ln>
        </p:spPr>
        <p:txBody>
          <a:bodyPr>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r>
              <a:rPr lang="en-US" altLang="zh-CN" sz="2000" b="1" dirty="0">
                <a:latin typeface="Times New Roman" panose="02020603050405020304" pitchFamily="18" charset="0"/>
                <a:ea typeface="宋体" panose="02010600030101010101" pitchFamily="2" charset="-122"/>
              </a:rPr>
              <a:t>Path 2 :</a:t>
            </a:r>
            <a:endParaRPr lang="zh-CN" altLang="en-US" sz="2000" b="1" dirty="0">
              <a:latin typeface="Times New Roman" panose="02020603050405020304" pitchFamily="18" charset="0"/>
              <a:ea typeface="宋体" panose="02010600030101010101" pitchFamily="2" charset="-122"/>
            </a:endParaRPr>
          </a:p>
        </p:txBody>
      </p:sp>
      <p:pic>
        <p:nvPicPr>
          <p:cNvPr id="24584" name="Picture 4"/>
          <p:cNvPicPr>
            <a:picLocks noChangeAspect="1"/>
          </p:cNvPicPr>
          <p:nvPr/>
        </p:nvPicPr>
        <p:blipFill>
          <a:blip r:embed="rId3"/>
          <a:stretch>
            <a:fillRect/>
          </a:stretch>
        </p:blipFill>
        <p:spPr>
          <a:xfrm>
            <a:off x="1500188" y="4572000"/>
            <a:ext cx="1785937" cy="615950"/>
          </a:xfrm>
          <a:prstGeom prst="rect">
            <a:avLst/>
          </a:prstGeom>
          <a:noFill/>
          <a:ln w="9525">
            <a:noFill/>
          </a:ln>
        </p:spPr>
      </p:pic>
      <p:pic>
        <p:nvPicPr>
          <p:cNvPr id="24585" name="Picture 5"/>
          <p:cNvPicPr>
            <a:picLocks noChangeAspect="1"/>
          </p:cNvPicPr>
          <p:nvPr/>
        </p:nvPicPr>
        <p:blipFill>
          <a:blip r:embed="rId4">
            <a:lum bright="-20001" contrast="40000"/>
          </a:blip>
          <a:stretch>
            <a:fillRect/>
          </a:stretch>
        </p:blipFill>
        <p:spPr>
          <a:xfrm>
            <a:off x="1714500" y="5214938"/>
            <a:ext cx="638175" cy="295275"/>
          </a:xfrm>
          <a:prstGeom prst="rect">
            <a:avLst/>
          </a:prstGeom>
          <a:noFill/>
          <a:ln w="9525">
            <a:noFill/>
          </a:ln>
        </p:spPr>
      </p:pic>
      <p:pic>
        <p:nvPicPr>
          <p:cNvPr id="24586" name="Picture 6"/>
          <p:cNvPicPr>
            <a:picLocks noChangeAspect="1"/>
          </p:cNvPicPr>
          <p:nvPr/>
        </p:nvPicPr>
        <p:blipFill>
          <a:blip r:embed="rId5">
            <a:lum bright="-20001" contrast="40000"/>
          </a:blip>
          <a:stretch>
            <a:fillRect/>
          </a:stretch>
        </p:blipFill>
        <p:spPr>
          <a:xfrm>
            <a:off x="2454275" y="5256213"/>
            <a:ext cx="847725" cy="295275"/>
          </a:xfrm>
          <a:prstGeom prst="rect">
            <a:avLst/>
          </a:prstGeom>
          <a:noFill/>
          <a:ln w="9525">
            <a:noFill/>
          </a:ln>
        </p:spPr>
      </p:pic>
      <p:pic>
        <p:nvPicPr>
          <p:cNvPr id="24587" name="Picture 7"/>
          <p:cNvPicPr>
            <a:picLocks noChangeAspect="1"/>
          </p:cNvPicPr>
          <p:nvPr/>
        </p:nvPicPr>
        <p:blipFill>
          <a:blip r:embed="rId6">
            <a:lum bright="-20001" contrast="40000"/>
          </a:blip>
          <a:stretch>
            <a:fillRect/>
          </a:stretch>
        </p:blipFill>
        <p:spPr>
          <a:xfrm>
            <a:off x="3635375" y="5018088"/>
            <a:ext cx="3240088" cy="688975"/>
          </a:xfrm>
          <a:prstGeom prst="rect">
            <a:avLst/>
          </a:prstGeom>
          <a:noFill/>
          <a:ln w="12700" cap="flat" cmpd="sng">
            <a:solidFill>
              <a:srgbClr val="FF0000"/>
            </a:solidFill>
            <a:prstDash val="solid"/>
            <a:miter/>
            <a:headEnd type="none" w="med" len="med"/>
            <a:tailEnd type="none" w="med" len="med"/>
          </a:ln>
        </p:spPr>
      </p:pic>
      <p:sp>
        <p:nvSpPr>
          <p:cNvPr id="8204" name="Text Box 12"/>
          <p:cNvSpPr txBox="1"/>
          <p:nvPr/>
        </p:nvSpPr>
        <p:spPr>
          <a:xfrm>
            <a:off x="684213" y="909638"/>
            <a:ext cx="3135312" cy="457200"/>
          </a:xfrm>
          <a:prstGeom prst="rect">
            <a:avLst/>
          </a:prstGeom>
          <a:noFill/>
          <a:ln w="9525">
            <a:noFill/>
          </a:ln>
        </p:spPr>
        <p:txBody>
          <a:bodyPr wrap="none">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r>
              <a:rPr lang="en-US" altLang="zh-CN" sz="2400" b="1" dirty="0">
                <a:latin typeface="Times New Roman" panose="02020603050405020304" pitchFamily="18" charset="0"/>
                <a:ea typeface="宋体" panose="02010600030101010101" pitchFamily="2" charset="-122"/>
              </a:rPr>
              <a:t>Cylindrical symmetry:</a:t>
            </a:r>
            <a:endParaRPr lang="en-US" altLang="zh-CN" sz="2400" b="1" dirty="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blinds(horizontal)">
                                      <p:cBhvr>
                                        <p:cTn id="7" dur="500"/>
                                        <p:tgtEl>
                                          <p:spTgt spid="2458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81"/>
                                        </p:tgtEl>
                                        <p:attrNameLst>
                                          <p:attrName>style.visibility</p:attrName>
                                        </p:attrNameLst>
                                      </p:cBhvr>
                                      <p:to>
                                        <p:strVal val="visible"/>
                                      </p:to>
                                    </p:set>
                                    <p:animEffect transition="in" filter="blinds(horizontal)">
                                      <p:cBhvr>
                                        <p:cTn id="12" dur="500"/>
                                        <p:tgtEl>
                                          <p:spTgt spid="2458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582"/>
                                        </p:tgtEl>
                                        <p:attrNameLst>
                                          <p:attrName>style.visibility</p:attrName>
                                        </p:attrNameLst>
                                      </p:cBhvr>
                                      <p:to>
                                        <p:strVal val="visible"/>
                                      </p:to>
                                    </p:set>
                                    <p:animEffect transition="in" filter="blinds(horizontal)">
                                      <p:cBhvr>
                                        <p:cTn id="17" dur="500"/>
                                        <p:tgtEl>
                                          <p:spTgt spid="2458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583"/>
                                        </p:tgtEl>
                                        <p:attrNameLst>
                                          <p:attrName>style.visibility</p:attrName>
                                        </p:attrNameLst>
                                      </p:cBhvr>
                                      <p:to>
                                        <p:strVal val="visible"/>
                                      </p:to>
                                    </p:set>
                                    <p:animEffect transition="in" filter="blinds(horizontal)">
                                      <p:cBhvr>
                                        <p:cTn id="22" dur="500"/>
                                        <p:tgtEl>
                                          <p:spTgt spid="2458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4584"/>
                                        </p:tgtEl>
                                        <p:attrNameLst>
                                          <p:attrName>style.visibility</p:attrName>
                                        </p:attrNameLst>
                                      </p:cBhvr>
                                      <p:to>
                                        <p:strVal val="visible"/>
                                      </p:to>
                                    </p:set>
                                    <p:animEffect transition="in" filter="blinds(horizontal)">
                                      <p:cBhvr>
                                        <p:cTn id="27" dur="500"/>
                                        <p:tgtEl>
                                          <p:spTgt spid="2458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4585"/>
                                        </p:tgtEl>
                                        <p:attrNameLst>
                                          <p:attrName>style.visibility</p:attrName>
                                        </p:attrNameLst>
                                      </p:cBhvr>
                                      <p:to>
                                        <p:strVal val="visible"/>
                                      </p:to>
                                    </p:set>
                                    <p:animEffect transition="in" filter="blinds(horizontal)">
                                      <p:cBhvr>
                                        <p:cTn id="32" dur="500"/>
                                        <p:tgtEl>
                                          <p:spTgt spid="2458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4586"/>
                                        </p:tgtEl>
                                        <p:attrNameLst>
                                          <p:attrName>style.visibility</p:attrName>
                                        </p:attrNameLst>
                                      </p:cBhvr>
                                      <p:to>
                                        <p:strVal val="visible"/>
                                      </p:to>
                                    </p:set>
                                    <p:animEffect transition="in" filter="blinds(horizontal)">
                                      <p:cBhvr>
                                        <p:cTn id="37" dur="500"/>
                                        <p:tgtEl>
                                          <p:spTgt spid="2458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4587"/>
                                        </p:tgtEl>
                                        <p:attrNameLst>
                                          <p:attrName>style.visibility</p:attrName>
                                        </p:attrNameLst>
                                      </p:cBhvr>
                                      <p:to>
                                        <p:strVal val="visible"/>
                                      </p:to>
                                    </p:set>
                                    <p:animEffect transition="in" filter="blinds(horizontal)">
                                      <p:cBhvr>
                                        <p:cTn id="42" dur="500"/>
                                        <p:tgtEl>
                                          <p:spTgt spid="24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24582" grpId="0"/>
      <p:bldP spid="2458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Rot="1" noChangeAspect="1" noMove="1" noResize="1" noEditPoints="1" noAdjustHandles="1" noChangeArrowheads="1" noChangeShapeType="1" noTextEdit="1"/>
          </p:cNvSpPr>
          <p:nvPr/>
        </p:nvSpPr>
        <p:spPr>
          <a:xfrm>
            <a:off x="755576" y="3789040"/>
            <a:ext cx="7326610" cy="1015663"/>
          </a:xfrm>
          <a:prstGeom prst="rect">
            <a:avLst/>
          </a:prstGeom>
          <a:blipFill rotWithShape="1">
            <a:blip r:embed="rId1"/>
            <a:stretch>
              <a:fillRect l="-915" t="-3012" r="-832" b="-10241"/>
            </a:stretch>
          </a:blipFill>
        </p:spPr>
        <p:txBody>
          <a:bodyPr/>
          <a:lstStyle/>
          <a:p>
            <a:r>
              <a:rPr lang="zh-CN" altLang="en-US">
                <a:noFill/>
              </a:rPr>
              <a:t> </a:t>
            </a:r>
            <a:endParaRPr lang="zh-CN" altLang="en-US">
              <a:noFill/>
            </a:endParaRPr>
          </a:p>
        </p:txBody>
      </p:sp>
      <p:pic>
        <p:nvPicPr>
          <p:cNvPr id="9219" name="Picture 1" descr="C:\Users\PC\AppData\Roaming\Tencent\Users\48161784\QQ\WinTemp\RichOle\2EGV9JKSQ3D140R`P}5LK@B.png"/>
          <p:cNvPicPr>
            <a:picLocks noChangeAspect="1"/>
          </p:cNvPicPr>
          <p:nvPr/>
        </p:nvPicPr>
        <p:blipFill>
          <a:blip r:embed="rId2"/>
          <a:stretch>
            <a:fillRect/>
          </a:stretch>
        </p:blipFill>
        <p:spPr>
          <a:xfrm>
            <a:off x="2484438" y="1052513"/>
            <a:ext cx="2633662" cy="2246312"/>
          </a:xfrm>
          <a:prstGeom prst="rect">
            <a:avLst/>
          </a:prstGeom>
          <a:noFill/>
          <a:ln w="9525">
            <a:noFill/>
          </a:ln>
        </p:spPr>
      </p:pic>
      <p:sp>
        <p:nvSpPr>
          <p:cNvPr id="4" name="Text Box 11"/>
          <p:cNvSpPr txBox="1">
            <a:spLocks noChangeArrowheads="1"/>
          </p:cNvSpPr>
          <p:nvPr/>
        </p:nvSpPr>
        <p:spPr bwMode="auto">
          <a:xfrm>
            <a:off x="179388" y="115888"/>
            <a:ext cx="2970213" cy="461963"/>
          </a:xfrm>
          <a:prstGeom prst="rect">
            <a:avLst/>
          </a:prstGeom>
          <a:noFill/>
          <a:ln>
            <a:noFill/>
          </a:ln>
        </p:spPr>
        <p:txBody>
          <a:bodyPr wrap="none">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Problem </a:t>
            </a:r>
            <a:r>
              <a:rPr kumimoji="0" lang="en-US" altLang="zh-CN" sz="2400" b="1" i="0" u="none" strike="noStrike" kern="1200" cap="none" spc="0" normalizeH="0" baseline="0" noProof="0" dirty="0" smtClean="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 </a:t>
            </a:r>
            <a:r>
              <a:rPr kumimoji="0" lang="en-US" altLang="zh-CN" sz="2400" b="1" i="0" u="none" strike="noStrike" kern="1200" cap="none" spc="0" normalizeH="0" baseline="0" noProof="0" dirty="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of Ch29 </a:t>
            </a:r>
            <a:endParaRPr kumimoji="0" lang="en-US" altLang="zh-CN" sz="2400" b="1" i="0" u="none" strike="noStrike" kern="1200" cap="none" spc="0" normalizeH="0" baseline="0" noProof="0" dirty="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11"/>
          <p:cNvSpPr txBox="1">
            <a:spLocks noChangeArrowheads="1"/>
          </p:cNvSpPr>
          <p:nvPr/>
        </p:nvSpPr>
        <p:spPr bwMode="auto">
          <a:xfrm>
            <a:off x="179388" y="115888"/>
            <a:ext cx="2967038" cy="461963"/>
          </a:xfrm>
          <a:prstGeom prst="rect">
            <a:avLst/>
          </a:prstGeom>
          <a:noFill/>
          <a:ln>
            <a:noFill/>
          </a:ln>
        </p:spPr>
        <p:txBody>
          <a:bodyPr wrap="none">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smtClean="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Solution 1 </a:t>
            </a:r>
            <a:r>
              <a:rPr kumimoji="0" lang="en-US" altLang="zh-CN" sz="2400" b="1" i="0" u="none" strike="noStrike" kern="1200" cap="none" spc="0" normalizeH="0" baseline="0" noProof="0" dirty="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of Ch29 </a:t>
            </a:r>
            <a:endParaRPr kumimoji="0" lang="en-US" altLang="zh-CN" sz="2400" b="1" i="0" u="none" strike="noStrike" kern="1200" cap="none" spc="0" normalizeH="0" baseline="0" noProof="0" dirty="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243" name="Rectangle 4"/>
          <p:cNvSpPr/>
          <p:nvPr/>
        </p:nvSpPr>
        <p:spPr>
          <a:xfrm>
            <a:off x="250825" y="685800"/>
            <a:ext cx="6481763" cy="1708150"/>
          </a:xfrm>
          <a:prstGeom prst="rect">
            <a:avLst/>
          </a:prstGeom>
          <a:noFill/>
          <a:ln w="9525">
            <a:noFill/>
          </a:ln>
        </p:spPr>
        <p:txBody>
          <a:bodyPr anchor="ctr" anchorCtr="0">
            <a:spAutoFit/>
          </a:bodyPr>
          <a:p>
            <a:pPr>
              <a:spcAft>
                <a:spcPts val="600"/>
              </a:spcAft>
            </a:pPr>
            <a:r>
              <a:rPr lang="en-US" altLang="zh-TW" sz="1800" dirty="0">
                <a:latin typeface="Times New Roman" panose="02020603050405020304" pitchFamily="18" charset="0"/>
                <a:cs typeface="Times New Roman" panose="02020603050405020304" pitchFamily="18" charset="0"/>
              </a:rPr>
              <a:t>We refer to the center of the circle as C. we see that:</a:t>
            </a:r>
            <a:endParaRPr lang="en-US" altLang="zh-TW" sz="1800" dirty="0">
              <a:latin typeface="Times New Roman" panose="02020603050405020304" pitchFamily="18" charset="0"/>
              <a:cs typeface="Times New Roman" panose="02020603050405020304" pitchFamily="18" charset="0"/>
            </a:endParaRPr>
          </a:p>
          <a:p>
            <a:r>
              <a:rPr lang="en-US" altLang="zh-TW" sz="1800" dirty="0">
                <a:latin typeface="Times New Roman" panose="02020603050405020304" pitchFamily="18" charset="0"/>
                <a:cs typeface="Times New Roman" panose="02020603050405020304" pitchFamily="18" charset="0"/>
              </a:rPr>
              <a:t>the current in the straight segments that are collinear with </a:t>
            </a:r>
            <a:r>
              <a:rPr lang="en-US" altLang="zh-TW" sz="1800" i="1" dirty="0">
                <a:latin typeface="Times New Roman" panose="02020603050405020304" pitchFamily="18" charset="0"/>
                <a:cs typeface="Times New Roman" panose="02020603050405020304" pitchFamily="18" charset="0"/>
              </a:rPr>
              <a:t>C </a:t>
            </a:r>
            <a:r>
              <a:rPr lang="en-US" altLang="zh-TW" sz="1800" dirty="0">
                <a:latin typeface="Times New Roman" panose="02020603050405020304" pitchFamily="18" charset="0"/>
                <a:cs typeface="Times New Roman" panose="02020603050405020304" pitchFamily="18" charset="0"/>
              </a:rPr>
              <a:t>(the section 4 and section 6) do not contribute to the field there. </a:t>
            </a:r>
            <a:endParaRPr lang="en-US" altLang="zh-TW" sz="1800" dirty="0">
              <a:latin typeface="Times New Roman" panose="02020603050405020304" pitchFamily="18" charset="0"/>
              <a:cs typeface="Times New Roman" panose="02020603050405020304" pitchFamily="18" charset="0"/>
            </a:endParaRPr>
          </a:p>
          <a:p>
            <a:pPr>
              <a:spcBef>
                <a:spcPts val="1200"/>
              </a:spcBef>
            </a:pPr>
            <a:r>
              <a:rPr lang="en-US" altLang="zh-TW" sz="1800" dirty="0">
                <a:latin typeface="Times New Roman" panose="02020603050405020304" pitchFamily="18" charset="0"/>
                <a:cs typeface="Times New Roman" panose="02020603050405020304" pitchFamily="18" charset="0"/>
              </a:rPr>
              <a:t>The right-hand rule indicates that the currents in the two arcs (section 2 and section 5) contribute to the field at </a:t>
            </a:r>
            <a:r>
              <a:rPr lang="en-US" altLang="zh-TW" sz="1800" i="1" dirty="0">
                <a:latin typeface="Times New Roman" panose="02020603050405020304" pitchFamily="18" charset="0"/>
                <a:cs typeface="Times New Roman" panose="02020603050405020304" pitchFamily="18" charset="0"/>
              </a:rPr>
              <a:t>C</a:t>
            </a:r>
            <a:r>
              <a:rPr lang="en-US" altLang="zh-TW" sz="1800" dirty="0">
                <a:latin typeface="Times New Roman" panose="02020603050405020304" pitchFamily="18" charset="0"/>
                <a:cs typeface="Times New Roman" panose="02020603050405020304" pitchFamily="18" charset="0"/>
              </a:rPr>
              <a:t>:</a:t>
            </a:r>
            <a:endParaRPr lang="en-US" altLang="zh-TW" sz="1800" dirty="0">
              <a:latin typeface="Times New Roman" panose="02020603050405020304" pitchFamily="18" charset="0"/>
              <a:ea typeface="Times New Roman" panose="02020603050405020304" pitchFamily="18" charset="0"/>
            </a:endParaRPr>
          </a:p>
        </p:txBody>
      </p:sp>
      <p:sp>
        <p:nvSpPr>
          <p:cNvPr id="9" name="Rectangle 6"/>
          <p:cNvSpPr>
            <a:spLocks noChangeArrowheads="1"/>
          </p:cNvSpPr>
          <p:nvPr/>
        </p:nvSpPr>
        <p:spPr bwMode="auto">
          <a:xfrm>
            <a:off x="336550" y="3089275"/>
            <a:ext cx="8280400" cy="175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a:tabLst>
                <a:tab pos="266700" algn="r"/>
                <a:tab pos="2743200" algn="ctr"/>
                <a:tab pos="5486400" algn="r"/>
              </a:tabLst>
              <a:defRPr sz="2400">
                <a:solidFill>
                  <a:schemeClr val="tx1"/>
                </a:solidFill>
                <a:latin typeface="Arial" panose="020B0604020202020204" pitchFamily="34" charset="0"/>
                <a:ea typeface="宋体" panose="02010600030101010101" pitchFamily="2" charset="-122"/>
              </a:defRPr>
            </a:lvl1pPr>
            <a:lvl2pPr>
              <a:tabLst>
                <a:tab pos="266700" algn="r"/>
                <a:tab pos="2743200" algn="ctr"/>
                <a:tab pos="5486400" algn="r"/>
              </a:tabLst>
              <a:defRPr sz="2400">
                <a:solidFill>
                  <a:schemeClr val="tx1"/>
                </a:solidFill>
                <a:latin typeface="Arial" panose="020B0604020202020204" pitchFamily="34" charset="0"/>
                <a:ea typeface="宋体" panose="02010600030101010101" pitchFamily="2" charset="-122"/>
              </a:defRPr>
            </a:lvl2pPr>
            <a:lvl3pPr>
              <a:tabLst>
                <a:tab pos="266700" algn="r"/>
                <a:tab pos="2743200" algn="ctr"/>
                <a:tab pos="5486400" algn="r"/>
              </a:tabLst>
              <a:defRPr sz="2400">
                <a:solidFill>
                  <a:schemeClr val="tx1"/>
                </a:solidFill>
                <a:latin typeface="Arial" panose="020B0604020202020204" pitchFamily="34" charset="0"/>
                <a:ea typeface="宋体" panose="02010600030101010101" pitchFamily="2" charset="-122"/>
              </a:defRPr>
            </a:lvl3pPr>
            <a:lvl4pPr>
              <a:tabLst>
                <a:tab pos="266700" algn="r"/>
                <a:tab pos="2743200" algn="ctr"/>
                <a:tab pos="5486400" algn="r"/>
              </a:tabLst>
              <a:defRPr sz="2400">
                <a:solidFill>
                  <a:schemeClr val="tx1"/>
                </a:solidFill>
                <a:latin typeface="Arial" panose="020B0604020202020204" pitchFamily="34" charset="0"/>
                <a:ea typeface="宋体" panose="02010600030101010101" pitchFamily="2" charset="-122"/>
              </a:defRPr>
            </a:lvl4pPr>
            <a:lvl5pPr>
              <a:tabLst>
                <a:tab pos="266700" algn="r"/>
                <a:tab pos="2743200" algn="ctr"/>
                <a:tab pos="5486400" algn="r"/>
              </a:tabLst>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tabLst>
                <a:tab pos="266700" algn="r"/>
                <a:tab pos="2743200" algn="ctr"/>
                <a:tab pos="5486400" algn="r"/>
              </a:tabLst>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tabLst>
                <a:tab pos="266700" algn="r"/>
                <a:tab pos="2743200" algn="ctr"/>
                <a:tab pos="5486400" algn="r"/>
              </a:tabLst>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tabLst>
                <a:tab pos="266700" algn="r"/>
                <a:tab pos="2743200" algn="ctr"/>
                <a:tab pos="5486400" algn="r"/>
              </a:tabLst>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tabLst>
                <a:tab pos="266700" algn="r"/>
                <a:tab pos="2743200" algn="ctr"/>
                <a:tab pos="5486400" algn="r"/>
              </a:tabLst>
              <a:defRPr sz="2400">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tab pos="266700" algn="r"/>
                <a:tab pos="2743200" algn="ctr"/>
                <a:tab pos="5486400" algn="r"/>
              </a:tabLst>
              <a:defRPr/>
            </a:pPr>
            <a:r>
              <a:rPr kumimoji="0" lang="en-US" altLang="zh-TW"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Times New Roman" panose="02020603050405020304" pitchFamily="18" charset="0"/>
              </a:rPr>
              <a:t>Thus, the nonzero contributions come from those straight segments that are not collinear with </a:t>
            </a:r>
            <a:r>
              <a:rPr kumimoji="0" lang="en-US" altLang="zh-TW" sz="1800" b="0" i="1" u="none" strike="noStrike" kern="1200" cap="none" spc="0" normalizeH="0" baseline="0" noProof="0" dirty="0" smtClean="0">
                <a:ln>
                  <a:noFill/>
                </a:ln>
                <a:solidFill>
                  <a:schemeClr val="tx1"/>
                </a:solidFill>
                <a:effectLst/>
                <a:uLnTx/>
                <a:uFillTx/>
                <a:latin typeface="+mj-lt"/>
                <a:ea typeface="宋体" panose="02010600030101010101" pitchFamily="2" charset="-122"/>
                <a:cs typeface="Times New Roman" panose="02020603050405020304" pitchFamily="18" charset="0"/>
              </a:rPr>
              <a:t>C </a:t>
            </a:r>
            <a:r>
              <a:rPr kumimoji="0" lang="en-US" altLang="zh-TW"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Times New Roman" panose="02020603050405020304" pitchFamily="18" charset="0"/>
              </a:rPr>
              <a:t>(section 1 and section 3). Both contribute fields pointing out of the page according to the right hand rule. For a </a:t>
            </a:r>
            <a:r>
              <a:rPr kumimoji="0" lang="en-US" altLang="zh-CN" sz="1800" b="0" i="0" u="none" strike="noStrike" kern="1200" cap="none" spc="0" normalizeH="0" baseline="0" noProof="0" dirty="0" smtClean="0">
                <a:ln>
                  <a:noFill/>
                </a:ln>
                <a:solidFill>
                  <a:schemeClr val="tx1"/>
                </a:solidFill>
                <a:effectLst/>
                <a:uLnTx/>
                <a:uFillTx/>
                <a:latin typeface="Times New Roman" panose="02020603050405020304"/>
                <a:ea typeface="PMingLiU" panose="02020500000000000000" charset="-120"/>
                <a:cs typeface="+mn-cs"/>
              </a:rPr>
              <a:t>“semi-infinite” current carrying wire, from the symmetry, we know the magnetic field is exactly half of </a:t>
            </a:r>
            <a:r>
              <a:rPr kumimoji="0" lang="en-US" altLang="zh-CN" sz="1800" b="0" i="1" u="none" strike="noStrike" kern="1200" cap="none" spc="0" normalizeH="0" baseline="0" noProof="0" dirty="0" smtClean="0">
                <a:ln>
                  <a:noFill/>
                </a:ln>
                <a:solidFill>
                  <a:schemeClr val="tx1"/>
                </a:solidFill>
                <a:effectLst/>
                <a:uLnTx/>
                <a:uFillTx/>
                <a:latin typeface="Times New Roman" panose="02020603050405020304"/>
                <a:ea typeface="PMingLiU" panose="02020500000000000000" charset="-120"/>
                <a:cs typeface="+mn-cs"/>
              </a:rPr>
              <a:t>B</a:t>
            </a:r>
            <a:r>
              <a:rPr kumimoji="0" lang="en-US" altLang="zh-CN" sz="1800" b="0" i="0" u="none" strike="noStrike" kern="1200" cap="none" spc="0" normalizeH="0" baseline="0" noProof="0" dirty="0" smtClean="0">
                <a:ln>
                  <a:noFill/>
                </a:ln>
                <a:solidFill>
                  <a:schemeClr val="tx1"/>
                </a:solidFill>
                <a:effectLst/>
                <a:uLnTx/>
                <a:uFillTx/>
                <a:latin typeface="Times New Roman" panose="02020603050405020304"/>
                <a:ea typeface="PMingLiU" panose="02020500000000000000" charset="-120"/>
                <a:cs typeface="+mn-cs"/>
              </a:rPr>
              <a:t> field due to the infinite long one. We can apply Ampere’s law to get the B field created by infinite long current carrying wire, that is: </a:t>
            </a:r>
            <a:endParaRPr kumimoji="0" lang="en-US" altLang="zh-TW"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Times New Roman" panose="02020603050405020304" pitchFamily="18" charset="0"/>
            </a:endParaRPr>
          </a:p>
        </p:txBody>
      </p:sp>
      <p:pic>
        <p:nvPicPr>
          <p:cNvPr id="10245" name="Picture 11" descr="C:\Users\PC\AppData\Roaming\Tencent\Users\48161784\QQ\WinTemp\RichOle\C))KZ7D_TN{V$I260D1}C54.png"/>
          <p:cNvPicPr>
            <a:picLocks noChangeAspect="1"/>
          </p:cNvPicPr>
          <p:nvPr/>
        </p:nvPicPr>
        <p:blipFill>
          <a:blip r:embed="rId1"/>
          <a:stretch>
            <a:fillRect/>
          </a:stretch>
        </p:blipFill>
        <p:spPr>
          <a:xfrm>
            <a:off x="6305550" y="0"/>
            <a:ext cx="2808288" cy="2079625"/>
          </a:xfrm>
          <a:prstGeom prst="rect">
            <a:avLst/>
          </a:prstGeom>
          <a:noFill/>
          <a:ln w="9525">
            <a:noFill/>
          </a:ln>
        </p:spPr>
      </p:pic>
      <p:sp>
        <p:nvSpPr>
          <p:cNvPr id="10246" name="矩形 14"/>
          <p:cNvSpPr/>
          <p:nvPr/>
        </p:nvSpPr>
        <p:spPr>
          <a:xfrm>
            <a:off x="344488" y="5629275"/>
            <a:ext cx="2913062" cy="368300"/>
          </a:xfrm>
          <a:prstGeom prst="rect">
            <a:avLst/>
          </a:prstGeom>
          <a:noFill/>
          <a:ln w="9525">
            <a:noFill/>
          </a:ln>
        </p:spPr>
        <p:txBody>
          <a:bodyPr>
            <a:spAutoFit/>
          </a:bodyPr>
          <a:p>
            <a:pPr defTabSz="914400">
              <a:tabLst>
                <a:tab pos="266700" algn="r"/>
                <a:tab pos="2743200" algn="ctr"/>
                <a:tab pos="5486400" algn="r"/>
              </a:tabLst>
            </a:pPr>
            <a:r>
              <a:rPr lang="en-US" altLang="zh-TW" sz="1800" dirty="0">
                <a:solidFill>
                  <a:srgbClr val="000000"/>
                </a:solidFill>
                <a:latin typeface="Times New Roman" panose="02020603050405020304" pitchFamily="18" charset="0"/>
                <a:cs typeface="Times New Roman" panose="02020603050405020304" pitchFamily="18" charset="0"/>
              </a:rPr>
              <a:t>So we get the net field is: </a:t>
            </a:r>
            <a:endParaRPr lang="en-US" altLang="zh-CN" sz="1800" dirty="0">
              <a:solidFill>
                <a:srgbClr val="000000"/>
              </a:solidFill>
              <a:latin typeface="Times New Roman" panose="02020603050405020304" pitchFamily="18" charset="0"/>
            </a:endParaRPr>
          </a:p>
        </p:txBody>
      </p:sp>
      <p:graphicFrame>
        <p:nvGraphicFramePr>
          <p:cNvPr id="10247" name="对象 21"/>
          <p:cNvGraphicFramePr>
            <a:graphicFrameLocks noChangeAspect="1"/>
          </p:cNvGraphicFramePr>
          <p:nvPr/>
        </p:nvGraphicFramePr>
        <p:xfrm>
          <a:off x="1801813" y="4724400"/>
          <a:ext cx="4133850" cy="631825"/>
        </p:xfrm>
        <a:graphic>
          <a:graphicData uri="http://schemas.openxmlformats.org/presentationml/2006/ole">
            <mc:AlternateContent xmlns:mc="http://schemas.openxmlformats.org/markup-compatibility/2006">
              <mc:Choice xmlns:v="urn:schemas-microsoft-com:vml" Requires="v">
                <p:oleObj spid="_x0000_s3096" name="" r:id="rId2" imgW="2830830" imgH="431800" progId="Equation.DSMT4">
                  <p:embed/>
                </p:oleObj>
              </mc:Choice>
              <mc:Fallback>
                <p:oleObj name="" r:id="rId2" imgW="2830830" imgH="431800" progId="Equation.DSMT4">
                  <p:embed/>
                  <p:pic>
                    <p:nvPicPr>
                      <p:cNvPr id="0" name="图片 3095"/>
                      <p:cNvPicPr/>
                      <p:nvPr/>
                    </p:nvPicPr>
                    <p:blipFill>
                      <a:blip r:embed="rId3"/>
                      <a:stretch>
                        <a:fillRect/>
                      </a:stretch>
                    </p:blipFill>
                    <p:spPr>
                      <a:xfrm>
                        <a:off x="1801813" y="4724400"/>
                        <a:ext cx="4133850" cy="631825"/>
                      </a:xfrm>
                      <a:prstGeom prst="rect">
                        <a:avLst/>
                      </a:prstGeom>
                      <a:noFill/>
                      <a:ln w="38100">
                        <a:noFill/>
                        <a:miter/>
                      </a:ln>
                    </p:spPr>
                  </p:pic>
                </p:oleObj>
              </mc:Fallback>
            </mc:AlternateContent>
          </a:graphicData>
        </a:graphic>
      </p:graphicFrame>
      <p:graphicFrame>
        <p:nvGraphicFramePr>
          <p:cNvPr id="10248" name="对象 22"/>
          <p:cNvGraphicFramePr>
            <a:graphicFrameLocks noChangeAspect="1"/>
          </p:cNvGraphicFramePr>
          <p:nvPr/>
        </p:nvGraphicFramePr>
        <p:xfrm>
          <a:off x="2806700" y="5497513"/>
          <a:ext cx="4392613" cy="631825"/>
        </p:xfrm>
        <a:graphic>
          <a:graphicData uri="http://schemas.openxmlformats.org/presentationml/2006/ole">
            <mc:AlternateContent xmlns:mc="http://schemas.openxmlformats.org/markup-compatibility/2006">
              <mc:Choice xmlns:v="urn:schemas-microsoft-com:vml" Requires="v">
                <p:oleObj spid="_x0000_s3095" name="" r:id="rId4" imgW="3008630" imgH="431800" progId="Equation.DSMT4">
                  <p:embed/>
                </p:oleObj>
              </mc:Choice>
              <mc:Fallback>
                <p:oleObj name="" r:id="rId4" imgW="3008630" imgH="431800" progId="Equation.DSMT4">
                  <p:embed/>
                  <p:pic>
                    <p:nvPicPr>
                      <p:cNvPr id="0" name="图片 3094"/>
                      <p:cNvPicPr/>
                      <p:nvPr/>
                    </p:nvPicPr>
                    <p:blipFill>
                      <a:blip r:embed="rId5"/>
                      <a:stretch>
                        <a:fillRect/>
                      </a:stretch>
                    </p:blipFill>
                    <p:spPr>
                      <a:xfrm>
                        <a:off x="2806700" y="5497513"/>
                        <a:ext cx="4392613" cy="631825"/>
                      </a:xfrm>
                      <a:prstGeom prst="rect">
                        <a:avLst/>
                      </a:prstGeom>
                      <a:noFill/>
                      <a:ln w="38100">
                        <a:noFill/>
                        <a:miter/>
                      </a:ln>
                    </p:spPr>
                  </p:pic>
                </p:oleObj>
              </mc:Fallback>
            </mc:AlternateContent>
          </a:graphicData>
        </a:graphic>
      </p:graphicFrame>
      <p:graphicFrame>
        <p:nvGraphicFramePr>
          <p:cNvPr id="10249" name="对象 23"/>
          <p:cNvGraphicFramePr>
            <a:graphicFrameLocks noChangeAspect="1"/>
          </p:cNvGraphicFramePr>
          <p:nvPr/>
        </p:nvGraphicFramePr>
        <p:xfrm>
          <a:off x="1723390" y="2492375"/>
          <a:ext cx="3106420" cy="615950"/>
        </p:xfrm>
        <a:graphic>
          <a:graphicData uri="http://schemas.openxmlformats.org/presentationml/2006/ole">
            <mc:AlternateContent xmlns:mc="http://schemas.openxmlformats.org/markup-compatibility/2006">
              <mc:Choice xmlns:v="urn:schemas-microsoft-com:vml" Requires="v">
                <p:oleObj spid="_x0000_s3094" name="" r:id="rId6" imgW="2184400" imgH="431800" progId="Equation.DSMT4">
                  <p:embed/>
                </p:oleObj>
              </mc:Choice>
              <mc:Fallback>
                <p:oleObj name="" r:id="rId6" imgW="2184400" imgH="431800" progId="Equation.DSMT4">
                  <p:embed/>
                  <p:pic>
                    <p:nvPicPr>
                      <p:cNvPr id="0" name="图片 3093"/>
                      <p:cNvPicPr/>
                      <p:nvPr/>
                    </p:nvPicPr>
                    <p:blipFill>
                      <a:blip r:embed="rId7"/>
                      <a:stretch>
                        <a:fillRect/>
                      </a:stretch>
                    </p:blipFill>
                    <p:spPr>
                      <a:xfrm>
                        <a:off x="1723390" y="2492375"/>
                        <a:ext cx="3106420" cy="615950"/>
                      </a:xfrm>
                      <a:prstGeom prst="rect">
                        <a:avLst/>
                      </a:prstGeom>
                      <a:noFill/>
                      <a:ln w="38100">
                        <a:noFill/>
                        <a:miter/>
                      </a:ln>
                    </p:spPr>
                  </p:pic>
                </p:oleObj>
              </mc:Fallback>
            </mc:AlternateContent>
          </a:graphicData>
        </a:graphic>
      </p:graphicFrame>
      <p:sp>
        <p:nvSpPr>
          <p:cNvPr id="25" name="TextBox 24"/>
          <p:cNvSpPr txBox="1"/>
          <p:nvPr/>
        </p:nvSpPr>
        <p:spPr>
          <a:xfrm>
            <a:off x="2824163" y="6043613"/>
            <a:ext cx="2217738" cy="369888"/>
          </a:xfrm>
          <a:prstGeom prst="rect">
            <a:avLst/>
          </a:prstGeom>
          <a:noFill/>
        </p:spPr>
        <p:txBody>
          <a:bodyPr wrap="none" rtlCol="0">
            <a:spAutoFit/>
          </a:bodyPr>
          <a:lstStyle/>
          <a:p>
            <a:pPr marR="0" defTabSz="914400">
              <a:buClrTx/>
              <a:buSzTx/>
              <a:buFontTx/>
              <a:buNone/>
              <a:defRPr/>
            </a:pPr>
            <a:r>
              <a:rPr kumimoji="0" lang="en-US" altLang="zh-CN" sz="1800" kern="1200" cap="none" spc="0" normalizeH="0" baseline="0" noProof="0" dirty="0" smtClean="0">
                <a:latin typeface="+mj-lt"/>
                <a:ea typeface="宋体" panose="02010600030101010101" pitchFamily="2" charset="-122"/>
                <a:cs typeface="+mn-cs"/>
              </a:rPr>
              <a:t>direction: out of page</a:t>
            </a:r>
            <a:endParaRPr kumimoji="0" lang="zh-CN" altLang="en-US" sz="1800" kern="1200" cap="none" spc="0" normalizeH="0" baseline="0" noProof="0" dirty="0" smtClean="0">
              <a:latin typeface="+mj-lt"/>
              <a:ea typeface="宋体" panose="02010600030101010101" pitchFamily="2"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ext Box 11"/>
          <p:cNvSpPr txBox="1">
            <a:spLocks noChangeArrowheads="1"/>
          </p:cNvSpPr>
          <p:nvPr/>
        </p:nvSpPr>
        <p:spPr bwMode="auto">
          <a:xfrm>
            <a:off x="179388" y="115888"/>
            <a:ext cx="2970213" cy="461963"/>
          </a:xfrm>
          <a:prstGeom prst="rect">
            <a:avLst/>
          </a:prstGeom>
          <a:noFill/>
          <a:ln>
            <a:noFill/>
          </a:ln>
        </p:spPr>
        <p:txBody>
          <a:bodyPr wrap="none">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Problem 2 of Ch29 </a:t>
            </a:r>
            <a:endParaRPr kumimoji="0" lang="en-US" altLang="zh-CN" sz="2400" b="1" i="0" u="none" strike="noStrike" kern="1200" cap="none" spc="0" normalizeH="0" baseline="0" noProof="0" dirty="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9699" name="Text Box 3"/>
          <p:cNvSpPr txBox="1">
            <a:spLocks noChangeArrowheads="1"/>
          </p:cNvSpPr>
          <p:nvPr/>
        </p:nvSpPr>
        <p:spPr bwMode="auto">
          <a:xfrm>
            <a:off x="412750" y="765175"/>
            <a:ext cx="8316913" cy="4413250"/>
          </a:xfrm>
          <a:prstGeom prst="rect">
            <a:avLst/>
          </a:prstGeom>
          <a:noFill/>
          <a:ln>
            <a:noFill/>
          </a:ln>
        </p:spPr>
        <p:txBody>
          <a:bodyPr>
            <a:spAutoFit/>
          </a:bodyPr>
          <a:lstStyle/>
          <a:p>
            <a:pPr marR="0" algn="just" defTabSz="914400" eaLnBrk="1" hangingPunct="1">
              <a:lnSpc>
                <a:spcPct val="130000"/>
              </a:lnSpc>
              <a:buClrTx/>
              <a:buSzTx/>
              <a:buFont typeface="Arial" panose="020B0604020202020204" pitchFamily="34" charset="0"/>
              <a:buNone/>
              <a:defRPr/>
            </a:pPr>
            <a:r>
              <a:rPr kumimoji="0" lang="zh-CN" altLang="en-US" kern="1200" cap="none" spc="0" normalizeH="0" baseline="0" noProof="0" dirty="0">
                <a:latin typeface="+mj-lt"/>
                <a:ea typeface="宋体" panose="02010600030101010101" pitchFamily="2" charset="-122"/>
                <a:cs typeface="+mn-cs"/>
              </a:rPr>
              <a:t>The current density</a:t>
            </a:r>
            <a:r>
              <a:rPr kumimoji="0" lang="en-US" kern="1200" cap="none" spc="0" normalizeH="0" baseline="0" noProof="0" dirty="0">
                <a:latin typeface="+mj-lt"/>
                <a:ea typeface="宋体" panose="02010600030101010101" pitchFamily="2" charset="-122"/>
                <a:cs typeface="+mn-cs"/>
              </a:rPr>
              <a:t> </a:t>
            </a:r>
            <a:r>
              <a:rPr kumimoji="0" lang="en-US" i="1" kern="1200" cap="none" spc="0" normalizeH="0" baseline="0" noProof="0" dirty="0">
                <a:latin typeface="+mj-lt"/>
                <a:ea typeface="宋体" panose="02010600030101010101" pitchFamily="2" charset="-122"/>
                <a:cs typeface="+mn-cs"/>
              </a:rPr>
              <a:t>J</a:t>
            </a:r>
            <a:r>
              <a:rPr kumimoji="0" lang="en-US" kern="1200" cap="none" spc="0" normalizeH="0" baseline="0" noProof="0" dirty="0">
                <a:latin typeface="+mj-lt"/>
                <a:ea typeface="宋体" panose="02010600030101010101" pitchFamily="2" charset="-122"/>
                <a:cs typeface="+mn-cs"/>
              </a:rPr>
              <a:t> </a:t>
            </a:r>
            <a:r>
              <a:rPr kumimoji="0" lang="zh-CN" altLang="en-US" kern="1200" cap="none" spc="0" normalizeH="0" baseline="0" noProof="0" dirty="0">
                <a:latin typeface="+mj-lt"/>
                <a:ea typeface="宋体" panose="02010600030101010101" pitchFamily="2" charset="-122"/>
                <a:cs typeface="+mn-cs"/>
              </a:rPr>
              <a:t>inside a long, solid, cylindrical wire</a:t>
            </a:r>
            <a:r>
              <a:rPr kumimoji="0" lang="en-US" kern="1200" cap="none" spc="0" normalizeH="0" baseline="0" noProof="0" dirty="0">
                <a:latin typeface="+mj-lt"/>
                <a:ea typeface="宋体" panose="02010600030101010101" pitchFamily="2" charset="-122"/>
                <a:cs typeface="+mn-cs"/>
              </a:rPr>
              <a:t> of radius </a:t>
            </a:r>
            <a:r>
              <a:rPr kumimoji="0" lang="en-US" i="1" kern="1200" cap="none" spc="0" normalizeH="0" baseline="0" noProof="0" dirty="0">
                <a:latin typeface="+mj-lt"/>
                <a:ea typeface="宋体" panose="02010600030101010101" pitchFamily="2" charset="-122"/>
                <a:cs typeface="+mn-cs"/>
              </a:rPr>
              <a:t>a </a:t>
            </a:r>
            <a:r>
              <a:rPr kumimoji="0" lang="en-US" kern="1200" cap="none" spc="0" normalizeH="0" baseline="0" noProof="0" dirty="0">
                <a:latin typeface="+mj-lt"/>
                <a:ea typeface="宋体" panose="02010600030101010101" pitchFamily="2" charset="-122"/>
                <a:cs typeface="+mn-cs"/>
              </a:rPr>
              <a:t>= 3.1mm is in the direction of the central axis, and its </a:t>
            </a:r>
            <a:r>
              <a:rPr kumimoji="0" lang="zh-CN" altLang="en-US" kern="1200" cap="none" spc="0" normalizeH="0" baseline="0" noProof="0" dirty="0">
                <a:latin typeface="+mj-lt"/>
                <a:ea typeface="宋体" panose="02010600030101010101" pitchFamily="2" charset="-122"/>
                <a:cs typeface="+mn-cs"/>
              </a:rPr>
              <a:t>magnitude varies linearly with radial distance </a:t>
            </a:r>
            <a:r>
              <a:rPr kumimoji="0" lang="zh-CN" altLang="en-US" i="1" kern="1200" cap="none" spc="0" normalizeH="0" baseline="0" noProof="0" dirty="0">
                <a:latin typeface="+mj-lt"/>
                <a:ea typeface="宋体" panose="02010600030101010101" pitchFamily="2" charset="-122"/>
                <a:cs typeface="+mn-cs"/>
              </a:rPr>
              <a:t>r</a:t>
            </a:r>
            <a:r>
              <a:rPr kumimoji="0" lang="zh-CN" altLang="en-US" kern="1200" cap="none" spc="0" normalizeH="0" baseline="0" noProof="0" dirty="0">
                <a:latin typeface="+mj-lt"/>
                <a:ea typeface="宋体" panose="02010600030101010101" pitchFamily="2" charset="-122"/>
                <a:cs typeface="+mn-cs"/>
              </a:rPr>
              <a:t> from the axis according</a:t>
            </a:r>
            <a:r>
              <a:rPr kumimoji="0" lang="en-US" kern="1200" cap="none" spc="0" normalizeH="0" baseline="0" noProof="0" dirty="0">
                <a:latin typeface="+mj-lt"/>
                <a:ea typeface="宋体" panose="02010600030101010101" pitchFamily="2" charset="-122"/>
                <a:cs typeface="+mn-cs"/>
              </a:rPr>
              <a:t> </a:t>
            </a:r>
            <a:r>
              <a:rPr kumimoji="0" lang="zh-CN" altLang="en-US" kern="1200" cap="none" spc="0" normalizeH="0" baseline="0" noProof="0" dirty="0">
                <a:latin typeface="+mj-lt"/>
                <a:ea typeface="宋体" panose="02010600030101010101" pitchFamily="2" charset="-122"/>
                <a:cs typeface="+mn-cs"/>
              </a:rPr>
              <a:t>to </a:t>
            </a:r>
            <a:r>
              <a:rPr kumimoji="0" lang="zh-CN" altLang="en-US" i="1" kern="1200" cap="none" spc="0" normalizeH="0" baseline="0" noProof="0" dirty="0">
                <a:latin typeface="+mj-lt"/>
                <a:ea typeface="宋体" panose="02010600030101010101" pitchFamily="2" charset="-122"/>
                <a:cs typeface="+mn-cs"/>
              </a:rPr>
              <a:t>J </a:t>
            </a:r>
            <a:r>
              <a:rPr kumimoji="0" lang="en-US" kern="1200" cap="none" spc="0" normalizeH="0" baseline="0" noProof="0" dirty="0">
                <a:latin typeface="+mj-lt"/>
                <a:ea typeface="宋体" panose="02010600030101010101" pitchFamily="2" charset="-122"/>
                <a:cs typeface="+mn-cs"/>
              </a:rPr>
              <a:t>= </a:t>
            </a:r>
            <a:r>
              <a:rPr kumimoji="0" lang="zh-CN" altLang="en-US" i="1" kern="1200" cap="none" spc="0" normalizeH="0" baseline="0" noProof="0" dirty="0">
                <a:latin typeface="+mj-lt"/>
                <a:ea typeface="宋体" panose="02010600030101010101" pitchFamily="2" charset="-122"/>
                <a:cs typeface="+mn-cs"/>
              </a:rPr>
              <a:t>J</a:t>
            </a:r>
            <a:r>
              <a:rPr kumimoji="0" lang="zh-CN" altLang="en-US" kern="1200" cap="none" spc="0" normalizeH="0" baseline="-25000" noProof="0" dirty="0">
                <a:latin typeface="+mj-lt"/>
                <a:ea typeface="宋体" panose="02010600030101010101" pitchFamily="2" charset="-122"/>
                <a:cs typeface="+mn-cs"/>
              </a:rPr>
              <a:t>0</a:t>
            </a:r>
            <a:r>
              <a:rPr kumimoji="0" lang="zh-CN" altLang="en-US" i="1" kern="1200" cap="none" spc="0" normalizeH="0" baseline="0" noProof="0" dirty="0">
                <a:latin typeface="+mj-lt"/>
                <a:ea typeface="宋体" panose="02010600030101010101" pitchFamily="2" charset="-122"/>
                <a:cs typeface="+mn-cs"/>
              </a:rPr>
              <a:t>r</a:t>
            </a:r>
            <a:r>
              <a:rPr kumimoji="0" lang="zh-CN" altLang="en-US" kern="1200" cap="none" spc="0" normalizeH="0" baseline="0" noProof="0" dirty="0">
                <a:latin typeface="+mj-lt"/>
                <a:ea typeface="宋体" panose="02010600030101010101" pitchFamily="2" charset="-122"/>
                <a:cs typeface="+mn-cs"/>
              </a:rPr>
              <a:t>/</a:t>
            </a:r>
            <a:r>
              <a:rPr kumimoji="0" lang="en-US" altLang="zh-CN" i="1" kern="1200" cap="none" spc="0" normalizeH="0" baseline="0" noProof="0" dirty="0">
                <a:latin typeface="+mj-lt"/>
                <a:ea typeface="宋体" panose="02010600030101010101" pitchFamily="2" charset="-122"/>
                <a:cs typeface="+mn-cs"/>
              </a:rPr>
              <a:t>a</a:t>
            </a:r>
            <a:r>
              <a:rPr kumimoji="0" lang="zh-CN" altLang="en-US" kern="1200" cap="none" spc="0" normalizeH="0" baseline="0" noProof="0" dirty="0">
                <a:latin typeface="+mj-lt"/>
                <a:ea typeface="宋体" panose="02010600030101010101" pitchFamily="2" charset="-122"/>
                <a:cs typeface="+mn-cs"/>
              </a:rPr>
              <a:t>, where</a:t>
            </a:r>
            <a:r>
              <a:rPr kumimoji="0" lang="zh-CN" altLang="en-US" i="1" kern="1200" cap="none" spc="0" normalizeH="0" baseline="0" noProof="0" dirty="0">
                <a:latin typeface="+mj-lt"/>
                <a:ea typeface="宋体" panose="02010600030101010101" pitchFamily="2" charset="-122"/>
                <a:cs typeface="+mn-cs"/>
              </a:rPr>
              <a:t> J</a:t>
            </a:r>
            <a:r>
              <a:rPr kumimoji="0" lang="zh-CN" altLang="en-US" kern="1200" cap="none" spc="0" normalizeH="0" baseline="-25000" noProof="0" dirty="0">
                <a:latin typeface="+mj-lt"/>
                <a:ea typeface="宋体" panose="02010600030101010101" pitchFamily="2" charset="-122"/>
                <a:cs typeface="+mn-cs"/>
              </a:rPr>
              <a:t>0 </a:t>
            </a:r>
            <a:r>
              <a:rPr kumimoji="0" lang="en-US" kern="1200" cap="none" spc="0" normalizeH="0" baseline="0" noProof="0" dirty="0">
                <a:latin typeface="+mj-lt"/>
                <a:ea typeface="宋体" panose="02010600030101010101" pitchFamily="2" charset="-122"/>
                <a:cs typeface="+mn-cs"/>
              </a:rPr>
              <a:t>= </a:t>
            </a:r>
            <a:r>
              <a:rPr kumimoji="0" lang="zh-CN" altLang="en-US" kern="1200" cap="none" spc="0" normalizeH="0" baseline="0" noProof="0" dirty="0">
                <a:latin typeface="+mj-lt"/>
                <a:ea typeface="宋体" panose="02010600030101010101" pitchFamily="2" charset="-122"/>
                <a:cs typeface="+mn-cs"/>
              </a:rPr>
              <a:t>310 A/m</a:t>
            </a:r>
            <a:r>
              <a:rPr kumimoji="0" lang="zh-CN" altLang="en-US" kern="1200" cap="none" spc="0" normalizeH="0" baseline="30000" noProof="0" dirty="0">
                <a:latin typeface="+mj-lt"/>
                <a:ea typeface="宋体" panose="02010600030101010101" pitchFamily="2" charset="-122"/>
                <a:cs typeface="+mn-cs"/>
              </a:rPr>
              <a:t>2</a:t>
            </a:r>
            <a:r>
              <a:rPr kumimoji="0" lang="zh-CN" altLang="en-US" kern="1200" cap="none" spc="0" normalizeH="0" baseline="0" noProof="0" dirty="0">
                <a:latin typeface="+mj-lt"/>
                <a:ea typeface="宋体" panose="02010600030101010101" pitchFamily="2" charset="-122"/>
                <a:cs typeface="+mn-cs"/>
              </a:rPr>
              <a:t>. Find the magnitude of the magnetic field at </a:t>
            </a:r>
            <a:r>
              <a:rPr kumimoji="0" lang="en-US" altLang="zh-CN" kern="1200" cap="none" spc="0" normalizeH="0" baseline="0" noProof="0" dirty="0">
                <a:latin typeface="+mj-lt"/>
                <a:ea typeface="宋体" panose="02010600030101010101" pitchFamily="2" charset="-122"/>
                <a:cs typeface="+mn-cs"/>
              </a:rPr>
              <a:t>following </a:t>
            </a:r>
            <a:r>
              <a:rPr kumimoji="0" lang="en-US" altLang="zh-CN" kern="1200" cap="none" spc="0" normalizeH="0" baseline="0" noProof="0" dirty="0" smtClean="0">
                <a:latin typeface="+mj-lt"/>
                <a:ea typeface="宋体" panose="02010600030101010101" pitchFamily="2" charset="-122"/>
                <a:cs typeface="+mn-cs"/>
              </a:rPr>
              <a:t>position:</a:t>
            </a:r>
            <a:endParaRPr kumimoji="0" lang="en-US" altLang="zh-CN" kern="1200" cap="none" spc="0" normalizeH="0" baseline="0" noProof="0" dirty="0">
              <a:latin typeface="+mj-lt"/>
              <a:ea typeface="宋体" panose="02010600030101010101" pitchFamily="2" charset="-122"/>
              <a:cs typeface="+mn-cs"/>
            </a:endParaRPr>
          </a:p>
          <a:p>
            <a:pPr marR="0" algn="just" defTabSz="914400" eaLnBrk="1" hangingPunct="1">
              <a:lnSpc>
                <a:spcPct val="130000"/>
              </a:lnSpc>
              <a:buClrTx/>
              <a:buSzTx/>
              <a:buFont typeface="Arial" panose="020B0604020202020204" pitchFamily="34" charset="0"/>
              <a:buNone/>
              <a:defRPr/>
            </a:pPr>
            <a:r>
              <a:rPr kumimoji="0" lang="en-US" altLang="zh-CN" kern="1200" cap="none" spc="0" normalizeH="0" baseline="0" noProof="0" dirty="0">
                <a:latin typeface="+mj-lt"/>
                <a:ea typeface="宋体" panose="02010600030101010101" pitchFamily="2" charset="-122"/>
                <a:cs typeface="+mn-cs"/>
              </a:rPr>
              <a:t>        </a:t>
            </a:r>
            <a:r>
              <a:rPr kumimoji="0" lang="zh-CN" altLang="en-US" kern="1200" cap="none" spc="0" normalizeH="0" baseline="0" noProof="0" dirty="0">
                <a:latin typeface="+mj-lt"/>
                <a:ea typeface="宋体" panose="02010600030101010101" pitchFamily="2" charset="-122"/>
                <a:cs typeface="+mn-cs"/>
              </a:rPr>
              <a:t>(a)</a:t>
            </a:r>
            <a:r>
              <a:rPr kumimoji="0" lang="zh-CN" altLang="en-US" i="1" kern="1200" cap="none" spc="0" normalizeH="0" baseline="0" noProof="0" dirty="0">
                <a:latin typeface="+mj-lt"/>
                <a:ea typeface="宋体" panose="02010600030101010101" pitchFamily="2" charset="-122"/>
                <a:cs typeface="+mn-cs"/>
              </a:rPr>
              <a:t> r </a:t>
            </a:r>
            <a:r>
              <a:rPr kumimoji="0" lang="en-US" kern="1200" cap="none" spc="0" normalizeH="0" baseline="0" noProof="0" dirty="0">
                <a:latin typeface="+mj-lt"/>
                <a:ea typeface="宋体" panose="02010600030101010101" pitchFamily="2" charset="-122"/>
                <a:cs typeface="+mn-cs"/>
              </a:rPr>
              <a:t>= </a:t>
            </a:r>
            <a:r>
              <a:rPr kumimoji="0" lang="zh-CN" altLang="en-US" kern="1200" cap="none" spc="0" normalizeH="0" baseline="0" noProof="0" dirty="0">
                <a:latin typeface="+mj-lt"/>
                <a:ea typeface="宋体" panose="02010600030101010101" pitchFamily="2" charset="-122"/>
                <a:cs typeface="+mn-cs"/>
              </a:rPr>
              <a:t>0</a:t>
            </a:r>
            <a:endParaRPr kumimoji="0" lang="en-US" altLang="zh-CN" kern="1200" cap="none" spc="0" normalizeH="0" baseline="0" noProof="0" dirty="0">
              <a:latin typeface="+mj-lt"/>
              <a:ea typeface="宋体" panose="02010600030101010101" pitchFamily="2" charset="-122"/>
              <a:cs typeface="+mn-cs"/>
            </a:endParaRPr>
          </a:p>
          <a:p>
            <a:pPr marR="0" algn="just" defTabSz="914400" eaLnBrk="1" hangingPunct="1">
              <a:lnSpc>
                <a:spcPct val="130000"/>
              </a:lnSpc>
              <a:buClrTx/>
              <a:buSzTx/>
              <a:buFont typeface="Arial" panose="020B0604020202020204" pitchFamily="34" charset="0"/>
              <a:buNone/>
              <a:defRPr/>
            </a:pPr>
            <a:r>
              <a:rPr kumimoji="0" lang="zh-CN" altLang="en-US" kern="1200" cap="none" spc="0" normalizeH="0" baseline="0" noProof="0" dirty="0">
                <a:latin typeface="+mj-lt"/>
                <a:ea typeface="宋体" panose="02010600030101010101" pitchFamily="2" charset="-122"/>
                <a:cs typeface="+mn-cs"/>
              </a:rPr>
              <a:t>        (b) </a:t>
            </a:r>
            <a:r>
              <a:rPr kumimoji="0" lang="zh-CN" altLang="en-US" i="1" kern="1200" cap="none" spc="0" normalizeH="0" baseline="0" noProof="0" dirty="0">
                <a:latin typeface="+mj-lt"/>
                <a:ea typeface="宋体" panose="02010600030101010101" pitchFamily="2" charset="-122"/>
                <a:cs typeface="+mn-cs"/>
              </a:rPr>
              <a:t>r </a:t>
            </a:r>
            <a:r>
              <a:rPr kumimoji="0" lang="en-US" kern="1200" cap="none" spc="0" normalizeH="0" baseline="0" noProof="0" dirty="0">
                <a:latin typeface="+mj-lt"/>
                <a:ea typeface="宋体" panose="02010600030101010101" pitchFamily="2" charset="-122"/>
                <a:cs typeface="+mn-cs"/>
              </a:rPr>
              <a:t>= </a:t>
            </a:r>
            <a:r>
              <a:rPr kumimoji="0" lang="zh-CN" altLang="en-US" i="1" kern="1200" cap="none" spc="0" normalizeH="0" baseline="0" noProof="0" dirty="0">
                <a:latin typeface="+mj-lt"/>
                <a:ea typeface="宋体" panose="02010600030101010101" pitchFamily="2" charset="-122"/>
                <a:cs typeface="+mn-cs"/>
              </a:rPr>
              <a:t>a</a:t>
            </a:r>
            <a:r>
              <a:rPr kumimoji="0" lang="zh-CN" altLang="en-US" kern="1200" cap="none" spc="0" normalizeH="0" baseline="0" noProof="0" dirty="0">
                <a:latin typeface="+mj-lt"/>
                <a:ea typeface="宋体" panose="02010600030101010101" pitchFamily="2" charset="-122"/>
                <a:cs typeface="+mn-cs"/>
              </a:rPr>
              <a:t>/2</a:t>
            </a:r>
            <a:endParaRPr kumimoji="0" lang="en-US" altLang="zh-CN" kern="1200" cap="none" spc="0" normalizeH="0" baseline="0" noProof="0" dirty="0">
              <a:latin typeface="+mj-lt"/>
              <a:ea typeface="宋体" panose="02010600030101010101" pitchFamily="2" charset="-122"/>
              <a:cs typeface="+mn-cs"/>
            </a:endParaRPr>
          </a:p>
          <a:p>
            <a:pPr marR="0" algn="just" defTabSz="914400" eaLnBrk="1" hangingPunct="1">
              <a:lnSpc>
                <a:spcPct val="130000"/>
              </a:lnSpc>
              <a:buClrTx/>
              <a:buSzTx/>
              <a:buFont typeface="Arial" panose="020B0604020202020204" pitchFamily="34" charset="0"/>
              <a:buNone/>
              <a:defRPr/>
            </a:pPr>
            <a:r>
              <a:rPr kumimoji="0" lang="zh-CN" altLang="en-US" kern="1200" cap="none" spc="0" normalizeH="0" baseline="0" noProof="0" dirty="0">
                <a:latin typeface="+mj-lt"/>
                <a:ea typeface="宋体" panose="02010600030101010101" pitchFamily="2" charset="-122"/>
                <a:cs typeface="+mn-cs"/>
              </a:rPr>
              <a:t>        (c) </a:t>
            </a:r>
            <a:r>
              <a:rPr kumimoji="0" lang="zh-CN" altLang="en-US" i="1" kern="1200" cap="none" spc="0" normalizeH="0" baseline="0" noProof="0" dirty="0">
                <a:latin typeface="+mj-lt"/>
                <a:ea typeface="宋体" panose="02010600030101010101" pitchFamily="2" charset="-122"/>
                <a:cs typeface="+mn-cs"/>
              </a:rPr>
              <a:t>r</a:t>
            </a:r>
            <a:r>
              <a:rPr kumimoji="0" lang="zh-CN" altLang="en-US" kern="1200" cap="none" spc="0" normalizeH="0" baseline="0" noProof="0" dirty="0">
                <a:latin typeface="+mj-lt"/>
                <a:ea typeface="宋体" panose="02010600030101010101" pitchFamily="2" charset="-122"/>
                <a:cs typeface="+mn-cs"/>
              </a:rPr>
              <a:t> </a:t>
            </a:r>
            <a:r>
              <a:rPr kumimoji="0" lang="en-US" kern="1200" cap="none" spc="0" normalizeH="0" baseline="0" noProof="0" dirty="0">
                <a:latin typeface="+mj-lt"/>
                <a:ea typeface="宋体" panose="02010600030101010101" pitchFamily="2" charset="-122"/>
                <a:cs typeface="+mn-cs"/>
              </a:rPr>
              <a:t>= </a:t>
            </a:r>
            <a:r>
              <a:rPr kumimoji="0" lang="zh-CN" altLang="en-US" i="1" kern="1200" cap="none" spc="0" normalizeH="0" baseline="0" noProof="0" dirty="0">
                <a:latin typeface="+mj-lt"/>
                <a:ea typeface="宋体" panose="02010600030101010101" pitchFamily="2" charset="-122"/>
                <a:cs typeface="+mn-cs"/>
              </a:rPr>
              <a:t>a</a:t>
            </a:r>
            <a:endParaRPr kumimoji="0" lang="en-US" altLang="zh-CN" i="1" kern="1200" cap="none" spc="0" normalizeH="0" baseline="0" noProof="0" dirty="0">
              <a:latin typeface="+mj-lt"/>
              <a:ea typeface="宋体" panose="02010600030101010101" pitchFamily="2" charset="-122"/>
              <a:cs typeface="+mn-cs"/>
            </a:endParaRPr>
          </a:p>
          <a:p>
            <a:pPr marR="0" algn="just" defTabSz="914400" eaLnBrk="1" hangingPunct="1">
              <a:lnSpc>
                <a:spcPct val="130000"/>
              </a:lnSpc>
              <a:buClrTx/>
              <a:buSzTx/>
              <a:buFont typeface="Arial" panose="020B0604020202020204" pitchFamily="34" charset="0"/>
              <a:buNone/>
              <a:defRPr/>
            </a:pPr>
            <a:r>
              <a:rPr kumimoji="0" lang="en-US" altLang="zh-CN" kern="1200" cap="none" spc="0" normalizeH="0" baseline="0" noProof="0" dirty="0">
                <a:latin typeface="+mj-lt"/>
                <a:ea typeface="宋体" panose="02010600030101010101" pitchFamily="2" charset="-122"/>
                <a:cs typeface="+mn-cs"/>
              </a:rPr>
              <a:t>        (d)</a:t>
            </a:r>
            <a:r>
              <a:rPr kumimoji="0" lang="zh-CN" altLang="en-US" kern="1200" cap="none" spc="0" normalizeH="0" baseline="0" noProof="0" dirty="0">
                <a:latin typeface="+mj-lt"/>
                <a:ea typeface="宋体" panose="02010600030101010101" pitchFamily="2" charset="-122"/>
                <a:cs typeface="+mn-cs"/>
              </a:rPr>
              <a:t> </a:t>
            </a:r>
            <a:r>
              <a:rPr kumimoji="0" lang="zh-CN" altLang="en-US" i="1" kern="1200" cap="none" spc="0" normalizeH="0" baseline="0" noProof="0" dirty="0">
                <a:latin typeface="+mj-lt"/>
                <a:ea typeface="宋体" panose="02010600030101010101" pitchFamily="2" charset="-122"/>
                <a:cs typeface="+mn-cs"/>
              </a:rPr>
              <a:t>r </a:t>
            </a:r>
            <a:r>
              <a:rPr kumimoji="0" lang="en-US" altLang="en-US" i="1" kern="1200" cap="none" spc="0" normalizeH="0" baseline="0" noProof="0" dirty="0">
                <a:latin typeface="+mj-lt"/>
                <a:ea typeface="宋体" panose="02010600030101010101" pitchFamily="2" charset="-122"/>
                <a:cs typeface="+mn-cs"/>
              </a:rPr>
              <a:t>= </a:t>
            </a:r>
            <a:r>
              <a:rPr kumimoji="0" lang="en-US" altLang="en-US" kern="1200" cap="none" spc="0" normalizeH="0" baseline="0" noProof="0" dirty="0">
                <a:latin typeface="+mj-lt"/>
                <a:ea typeface="宋体" panose="02010600030101010101" pitchFamily="2" charset="-122"/>
                <a:cs typeface="+mn-cs"/>
              </a:rPr>
              <a:t>4</a:t>
            </a:r>
            <a:r>
              <a:rPr kumimoji="0" lang="zh-CN" altLang="en-US" i="1" kern="1200" cap="none" spc="0" normalizeH="0" baseline="0" noProof="0" dirty="0">
                <a:latin typeface="+mj-lt"/>
                <a:ea typeface="宋体" panose="02010600030101010101" pitchFamily="2" charset="-122"/>
                <a:cs typeface="+mn-cs"/>
              </a:rPr>
              <a:t>a</a:t>
            </a:r>
            <a:endParaRPr kumimoji="0" lang="zh-CN" altLang="en-US" i="1" kern="1200" cap="none" spc="0" normalizeH="0" baseline="0" noProof="0" dirty="0">
              <a:latin typeface="+mj-lt"/>
              <a:ea typeface="宋体" panose="02010600030101010101" pitchFamily="2" charset="-122"/>
              <a:cs typeface="+mn-cs"/>
            </a:endParaRPr>
          </a:p>
        </p:txBody>
      </p:sp>
    </p:spTree>
  </p:cSld>
  <p:clrMapOvr>
    <a:masterClrMapping/>
  </p:clrMapOvr>
  <p:transition spd="slow" advTm="62513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ext Box 11"/>
          <p:cNvSpPr txBox="1">
            <a:spLocks noChangeArrowheads="1"/>
          </p:cNvSpPr>
          <p:nvPr/>
        </p:nvSpPr>
        <p:spPr bwMode="auto">
          <a:xfrm>
            <a:off x="179388" y="115888"/>
            <a:ext cx="2970213" cy="461963"/>
          </a:xfrm>
          <a:prstGeom prst="rect">
            <a:avLst/>
          </a:prstGeom>
          <a:noFill/>
          <a:ln>
            <a:noFill/>
          </a:ln>
        </p:spPr>
        <p:txBody>
          <a:bodyPr wrap="none">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Problem 2 of Ch29 </a:t>
            </a:r>
            <a:endPar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291" name="Text Box 6"/>
          <p:cNvSpPr txBox="1"/>
          <p:nvPr/>
        </p:nvSpPr>
        <p:spPr>
          <a:xfrm>
            <a:off x="2276475" y="3871913"/>
            <a:ext cx="5408613" cy="276225"/>
          </a:xfrm>
          <a:prstGeom prst="rect">
            <a:avLst/>
          </a:prstGeom>
          <a:noFill/>
          <a:ln w="9525">
            <a:noFill/>
          </a:ln>
        </p:spPr>
        <p:txBody>
          <a:bodyPr>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r>
              <a:rPr lang="en-US" altLang="zh-CN" sz="1200" dirty="0">
                <a:latin typeface="PMingLiU" panose="02020500000000000000" charset="-120"/>
                <a:ea typeface="PMingLiU" panose="02020500000000000000" charset="-120"/>
                <a:sym typeface="PMingLiU" panose="02020500000000000000" charset="-120"/>
              </a:rPr>
              <a:t> </a:t>
            </a:r>
            <a:endParaRPr lang="en-US" altLang="zh-CN" sz="2400" dirty="0">
              <a:ea typeface="宋体" panose="02010600030101010101" pitchFamily="2" charset="-122"/>
            </a:endParaRPr>
          </a:p>
        </p:txBody>
      </p:sp>
      <p:sp>
        <p:nvSpPr>
          <p:cNvPr id="2" name="矩形 1"/>
          <p:cNvSpPr/>
          <p:nvPr/>
        </p:nvSpPr>
        <p:spPr>
          <a:xfrm>
            <a:off x="785813" y="785813"/>
            <a:ext cx="7880350" cy="43021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Cylindrical symmetry, </a:t>
            </a:r>
            <a:r>
              <a:rPr kumimoji="0" lang="en-US" altLang="zh-CN" sz="22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rPr>
              <a:t>Applying Ampere’s law inside the cylinder:</a:t>
            </a:r>
            <a:endParaRPr kumimoji="0" lang="zh-CN" altLang="en-US" sz="22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graphicFrame>
        <p:nvGraphicFramePr>
          <p:cNvPr id="12293" name="对象 2"/>
          <p:cNvGraphicFramePr>
            <a:graphicFrameLocks noChangeAspect="1"/>
          </p:cNvGraphicFramePr>
          <p:nvPr/>
        </p:nvGraphicFramePr>
        <p:xfrm>
          <a:off x="4495800" y="2065338"/>
          <a:ext cx="228600" cy="368300"/>
        </p:xfrm>
        <a:graphic>
          <a:graphicData uri="http://schemas.openxmlformats.org/presentationml/2006/ole">
            <mc:AlternateContent xmlns:mc="http://schemas.openxmlformats.org/markup-compatibility/2006">
              <mc:Choice xmlns:v="urn:schemas-microsoft-com:vml" Requires="v">
                <p:oleObj spid="_x0000_s3092" name="" r:id="rId1" imgW="114300" imgH="177800" progId="Equation.DSMT4">
                  <p:embed/>
                </p:oleObj>
              </mc:Choice>
              <mc:Fallback>
                <p:oleObj name="" r:id="rId1" imgW="114300" imgH="177800" progId="Equation.DSMT4">
                  <p:embed/>
                  <p:pic>
                    <p:nvPicPr>
                      <p:cNvPr id="0" name="图片 3091"/>
                      <p:cNvPicPr/>
                      <p:nvPr/>
                    </p:nvPicPr>
                    <p:blipFill>
                      <a:blip r:embed="rId2"/>
                      <a:stretch>
                        <a:fillRect/>
                      </a:stretch>
                    </p:blipFill>
                    <p:spPr>
                      <a:xfrm>
                        <a:off x="4495800" y="2065338"/>
                        <a:ext cx="228600" cy="368300"/>
                      </a:xfrm>
                      <a:prstGeom prst="rect">
                        <a:avLst/>
                      </a:prstGeom>
                      <a:noFill/>
                      <a:ln w="38100">
                        <a:noFill/>
                        <a:miter/>
                      </a:ln>
                    </p:spPr>
                  </p:pic>
                </p:oleObj>
              </mc:Fallback>
            </mc:AlternateContent>
          </a:graphicData>
        </a:graphic>
      </p:graphicFrame>
      <p:graphicFrame>
        <p:nvGraphicFramePr>
          <p:cNvPr id="12294" name="Object 3"/>
          <p:cNvGraphicFramePr>
            <a:graphicFrameLocks noChangeAspect="1"/>
          </p:cNvGraphicFramePr>
          <p:nvPr/>
        </p:nvGraphicFramePr>
        <p:xfrm>
          <a:off x="1187450" y="4868863"/>
          <a:ext cx="6130925" cy="754062"/>
        </p:xfrm>
        <a:graphic>
          <a:graphicData uri="http://schemas.openxmlformats.org/presentationml/2006/ole">
            <mc:AlternateContent xmlns:mc="http://schemas.openxmlformats.org/markup-compatibility/2006">
              <mc:Choice xmlns:v="urn:schemas-microsoft-com:vml" Requires="v">
                <p:oleObj spid="_x0000_s3090" name="" r:id="rId3" imgW="3746500" imgH="444500" progId="Equation.DSMT4">
                  <p:embed/>
                </p:oleObj>
              </mc:Choice>
              <mc:Fallback>
                <p:oleObj name="" r:id="rId3" imgW="3746500" imgH="444500" progId="Equation.DSMT4">
                  <p:embed/>
                  <p:pic>
                    <p:nvPicPr>
                      <p:cNvPr id="0" name="图片 3089"/>
                      <p:cNvPicPr/>
                      <p:nvPr/>
                    </p:nvPicPr>
                    <p:blipFill>
                      <a:blip r:embed="rId4"/>
                      <a:stretch>
                        <a:fillRect/>
                      </a:stretch>
                    </p:blipFill>
                    <p:spPr>
                      <a:xfrm>
                        <a:off x="1187450" y="4868863"/>
                        <a:ext cx="6130925" cy="754062"/>
                      </a:xfrm>
                      <a:prstGeom prst="rect">
                        <a:avLst/>
                      </a:prstGeom>
                      <a:noFill/>
                      <a:ln w="38100">
                        <a:noFill/>
                        <a:miter/>
                      </a:ln>
                    </p:spPr>
                  </p:pic>
                </p:oleObj>
              </mc:Fallback>
            </mc:AlternateContent>
          </a:graphicData>
        </a:graphic>
      </p:graphicFrame>
      <p:graphicFrame>
        <p:nvGraphicFramePr>
          <p:cNvPr id="12295" name="对象 2"/>
          <p:cNvGraphicFramePr>
            <a:graphicFrameLocks noChangeAspect="1"/>
          </p:cNvGraphicFramePr>
          <p:nvPr/>
        </p:nvGraphicFramePr>
        <p:xfrm>
          <a:off x="1177925" y="1484313"/>
          <a:ext cx="5959475" cy="1179512"/>
        </p:xfrm>
        <a:graphic>
          <a:graphicData uri="http://schemas.openxmlformats.org/presentationml/2006/ole">
            <mc:AlternateContent xmlns:mc="http://schemas.openxmlformats.org/markup-compatibility/2006">
              <mc:Choice xmlns:v="urn:schemas-microsoft-com:vml" Requires="v">
                <p:oleObj spid="_x0000_s3091" name="" r:id="rId5" imgW="3731895" imgH="711200" progId="Equation.DSMT4">
                  <p:embed/>
                </p:oleObj>
              </mc:Choice>
              <mc:Fallback>
                <p:oleObj name="" r:id="rId5" imgW="3731895" imgH="711200" progId="Equation.DSMT4">
                  <p:embed/>
                  <p:pic>
                    <p:nvPicPr>
                      <p:cNvPr id="0" name="图片 3090"/>
                      <p:cNvPicPr/>
                      <p:nvPr/>
                    </p:nvPicPr>
                    <p:blipFill>
                      <a:blip r:embed="rId6"/>
                      <a:stretch>
                        <a:fillRect/>
                      </a:stretch>
                    </p:blipFill>
                    <p:spPr>
                      <a:xfrm>
                        <a:off x="1177925" y="1484313"/>
                        <a:ext cx="5959475" cy="1179512"/>
                      </a:xfrm>
                      <a:prstGeom prst="rect">
                        <a:avLst/>
                      </a:prstGeom>
                      <a:noFill/>
                      <a:ln w="38100">
                        <a:noFill/>
                        <a:miter/>
                      </a:ln>
                    </p:spPr>
                  </p:pic>
                </p:oleObj>
              </mc:Fallback>
            </mc:AlternateContent>
          </a:graphicData>
        </a:graphic>
      </p:graphicFrame>
      <p:graphicFrame>
        <p:nvGraphicFramePr>
          <p:cNvPr id="12296" name="对象 3"/>
          <p:cNvGraphicFramePr>
            <a:graphicFrameLocks noChangeAspect="1"/>
          </p:cNvGraphicFramePr>
          <p:nvPr/>
        </p:nvGraphicFramePr>
        <p:xfrm>
          <a:off x="1258888" y="3103563"/>
          <a:ext cx="5235575" cy="1812925"/>
        </p:xfrm>
        <a:graphic>
          <a:graphicData uri="http://schemas.openxmlformats.org/presentationml/2006/ole">
            <mc:AlternateContent xmlns:mc="http://schemas.openxmlformats.org/markup-compatibility/2006">
              <mc:Choice xmlns:v="urn:schemas-microsoft-com:vml" Requires="v">
                <p:oleObj spid="_x0000_s3086" name="" r:id="rId7" imgW="3200400" imgH="1066800" progId="Equation.DSMT4">
                  <p:embed/>
                </p:oleObj>
              </mc:Choice>
              <mc:Fallback>
                <p:oleObj name="" r:id="rId7" imgW="3200400" imgH="1066800" progId="Equation.DSMT4">
                  <p:embed/>
                  <p:pic>
                    <p:nvPicPr>
                      <p:cNvPr id="0" name="图片 3085"/>
                      <p:cNvPicPr/>
                      <p:nvPr/>
                    </p:nvPicPr>
                    <p:blipFill>
                      <a:blip r:embed="rId8"/>
                      <a:stretch>
                        <a:fillRect/>
                      </a:stretch>
                    </p:blipFill>
                    <p:spPr>
                      <a:xfrm>
                        <a:off x="1258888" y="3103563"/>
                        <a:ext cx="5235575" cy="1812925"/>
                      </a:xfrm>
                      <a:prstGeom prst="rect">
                        <a:avLst/>
                      </a:prstGeom>
                      <a:noFill/>
                      <a:ln w="38100">
                        <a:noFill/>
                        <a:miter/>
                      </a:ln>
                    </p:spPr>
                  </p:pic>
                </p:oleObj>
              </mc:Fallback>
            </mc:AlternateContent>
          </a:graphicData>
        </a:graphic>
      </p:graphicFrame>
    </p:spTree>
  </p:cSld>
  <p:clrMapOvr>
    <a:masterClrMapping/>
  </p:clrMapOvr>
  <p:transition spd="slow" advTm="992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ext Box 11"/>
          <p:cNvSpPr txBox="1">
            <a:spLocks noChangeArrowheads="1"/>
          </p:cNvSpPr>
          <p:nvPr/>
        </p:nvSpPr>
        <p:spPr bwMode="auto">
          <a:xfrm>
            <a:off x="179388" y="115888"/>
            <a:ext cx="2970213" cy="461963"/>
          </a:xfrm>
          <a:prstGeom prst="rect">
            <a:avLst/>
          </a:prstGeom>
          <a:noFill/>
          <a:ln>
            <a:noFill/>
          </a:ln>
        </p:spPr>
        <p:txBody>
          <a:bodyPr wrap="none">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Problem 3 of Ch29 </a:t>
            </a:r>
            <a:endPar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1747" name="Text Box 3"/>
          <p:cNvSpPr txBox="1">
            <a:spLocks noChangeArrowheads="1"/>
          </p:cNvSpPr>
          <p:nvPr/>
        </p:nvSpPr>
        <p:spPr bwMode="auto">
          <a:xfrm>
            <a:off x="611188" y="3068638"/>
            <a:ext cx="8172450" cy="2493963"/>
          </a:xfrm>
          <a:prstGeom prst="rect">
            <a:avLst/>
          </a:prstGeom>
          <a:noFill/>
          <a:ln>
            <a:noFill/>
          </a:ln>
        </p:spPr>
        <p:txBody>
          <a:bodyPr>
            <a:spAutoFit/>
          </a:bodyPr>
          <a:lstStyle/>
          <a:p>
            <a:pPr marR="0" algn="just" defTabSz="914400" eaLnBrk="1" hangingPunct="1">
              <a:lnSpc>
                <a:spcPct val="120000"/>
              </a:lnSpc>
              <a:buClrTx/>
              <a:buSzTx/>
              <a:buFont typeface="Arial" panose="020B0604020202020204" pitchFamily="34" charset="0"/>
              <a:buNone/>
              <a:defRPr/>
            </a:pPr>
            <a:r>
              <a:rPr kumimoji="0" lang="en-US" sz="2200" kern="1200" cap="none" spc="0" normalizeH="0" baseline="0" noProof="0" dirty="0">
                <a:latin typeface="+mj-lt"/>
                <a:ea typeface="宋体" panose="02010600030101010101" pitchFamily="2" charset="-122"/>
                <a:cs typeface="+mn-cs"/>
              </a:rPr>
              <a:t>A</a:t>
            </a:r>
            <a:r>
              <a:rPr kumimoji="0" lang="zh-CN" altLang="en-US" sz="2200" kern="1200" cap="none" spc="0" normalizeH="0" baseline="0" noProof="0" dirty="0">
                <a:latin typeface="+mj-lt"/>
                <a:ea typeface="宋体" panose="02010600030101010101" pitchFamily="2" charset="-122"/>
                <a:cs typeface="+mn-cs"/>
              </a:rPr>
              <a:t> cross section of a</a:t>
            </a:r>
            <a:r>
              <a:rPr kumimoji="0" lang="en-US" sz="2200" kern="1200" cap="none" spc="0" normalizeH="0" baseline="0" noProof="0" dirty="0">
                <a:latin typeface="+mj-lt"/>
                <a:ea typeface="宋体" panose="02010600030101010101" pitchFamily="2" charset="-122"/>
                <a:cs typeface="+mn-cs"/>
              </a:rPr>
              <a:t> </a:t>
            </a:r>
            <a:r>
              <a:rPr kumimoji="0" lang="zh-CN" altLang="en-US" sz="2200" kern="1200" cap="none" spc="0" normalizeH="0" baseline="0" noProof="0" dirty="0">
                <a:latin typeface="+mj-lt"/>
                <a:ea typeface="宋体" panose="02010600030101010101" pitchFamily="2" charset="-122"/>
                <a:cs typeface="+mn-cs"/>
              </a:rPr>
              <a:t>long cylindrical conductor of radius </a:t>
            </a:r>
            <a:r>
              <a:rPr kumimoji="0" lang="zh-CN" altLang="en-US" sz="2200" i="1" kern="1200" cap="none" spc="0" normalizeH="0" baseline="0" noProof="0" dirty="0">
                <a:latin typeface="+mj-lt"/>
                <a:ea typeface="宋体" panose="02010600030101010101" pitchFamily="2" charset="-122"/>
                <a:cs typeface="+mn-cs"/>
              </a:rPr>
              <a:t>a</a:t>
            </a:r>
            <a:r>
              <a:rPr kumimoji="0" lang="zh-CN" altLang="en-US" sz="2200" kern="1200" cap="none" spc="0" normalizeH="0" baseline="0" noProof="0" dirty="0">
                <a:latin typeface="+mj-lt"/>
                <a:ea typeface="宋体" panose="02010600030101010101" pitchFamily="2" charset="-122"/>
                <a:cs typeface="+mn-cs"/>
              </a:rPr>
              <a:t> </a:t>
            </a:r>
            <a:r>
              <a:rPr kumimoji="0" lang="en-US" sz="2200" kern="1200" cap="none" spc="0" normalizeH="0" baseline="0" noProof="0" dirty="0">
                <a:latin typeface="+mj-lt"/>
                <a:ea typeface="宋体" panose="02010600030101010101" pitchFamily="2" charset="-122"/>
                <a:cs typeface="+mn-cs"/>
              </a:rPr>
              <a:t>= </a:t>
            </a:r>
            <a:r>
              <a:rPr kumimoji="0" lang="zh-CN" altLang="en-US" sz="2200" kern="1200" cap="none" spc="0" normalizeH="0" baseline="0" noProof="0" dirty="0">
                <a:latin typeface="+mj-lt"/>
                <a:ea typeface="宋体" panose="02010600030101010101" pitchFamily="2" charset="-122"/>
                <a:cs typeface="+mn-cs"/>
              </a:rPr>
              <a:t>4.00cm containing a long cylindrical hole of radius</a:t>
            </a:r>
            <a:r>
              <a:rPr kumimoji="0" lang="en-US" sz="2200" kern="1200" cap="none" spc="0" normalizeH="0" baseline="0" noProof="0" dirty="0">
                <a:latin typeface="+mj-lt"/>
                <a:ea typeface="宋体" panose="02010600030101010101" pitchFamily="2" charset="-122"/>
                <a:cs typeface="+mn-cs"/>
              </a:rPr>
              <a:t> </a:t>
            </a:r>
            <a:r>
              <a:rPr kumimoji="0" lang="zh-CN" altLang="en-US" sz="2200" i="1" kern="1200" cap="none" spc="0" normalizeH="0" baseline="0" noProof="0" dirty="0">
                <a:latin typeface="+mj-lt"/>
                <a:ea typeface="宋体" panose="02010600030101010101" pitchFamily="2" charset="-122"/>
                <a:cs typeface="+mn-cs"/>
              </a:rPr>
              <a:t>b </a:t>
            </a:r>
            <a:r>
              <a:rPr kumimoji="0" lang="en-US" sz="2200" kern="1200" cap="none" spc="0" normalizeH="0" baseline="0" noProof="0" dirty="0">
                <a:latin typeface="+mj-lt"/>
                <a:ea typeface="宋体" panose="02010600030101010101" pitchFamily="2" charset="-122"/>
                <a:cs typeface="+mn-cs"/>
              </a:rPr>
              <a:t>= </a:t>
            </a:r>
            <a:r>
              <a:rPr kumimoji="0" lang="zh-CN" altLang="en-US" sz="2200" kern="1200" cap="none" spc="0" normalizeH="0" baseline="0" noProof="0" dirty="0">
                <a:latin typeface="+mj-lt"/>
                <a:ea typeface="宋体" panose="02010600030101010101" pitchFamily="2" charset="-122"/>
                <a:cs typeface="+mn-cs"/>
              </a:rPr>
              <a:t>1.50 cm. The central axes of the cylinder</a:t>
            </a:r>
            <a:r>
              <a:rPr kumimoji="0" lang="en-US" sz="2200" kern="1200" cap="none" spc="0" normalizeH="0" baseline="0" noProof="0" dirty="0">
                <a:latin typeface="+mj-lt"/>
                <a:ea typeface="宋体" panose="02010600030101010101" pitchFamily="2" charset="-122"/>
                <a:cs typeface="+mn-cs"/>
              </a:rPr>
              <a:t> </a:t>
            </a:r>
            <a:r>
              <a:rPr kumimoji="0" lang="zh-CN" altLang="en-US" sz="2200" kern="1200" cap="none" spc="0" normalizeH="0" baseline="0" noProof="0" dirty="0">
                <a:latin typeface="+mj-lt"/>
                <a:ea typeface="宋体" panose="02010600030101010101" pitchFamily="2" charset="-122"/>
                <a:cs typeface="+mn-cs"/>
              </a:rPr>
              <a:t>and hole are parallel and are distance </a:t>
            </a:r>
            <a:r>
              <a:rPr kumimoji="0" lang="zh-CN" altLang="en-US" sz="2200" i="1" kern="1200" cap="none" spc="0" normalizeH="0" baseline="0" noProof="0" dirty="0">
                <a:latin typeface="+mj-lt"/>
                <a:ea typeface="宋体" panose="02010600030101010101" pitchFamily="2" charset="-122"/>
                <a:cs typeface="+mn-cs"/>
              </a:rPr>
              <a:t>d </a:t>
            </a:r>
            <a:r>
              <a:rPr kumimoji="0" lang="en-US" sz="2200" kern="1200" cap="none" spc="0" normalizeH="0" baseline="0" noProof="0" dirty="0">
                <a:latin typeface="+mj-lt"/>
                <a:ea typeface="宋体" panose="02010600030101010101" pitchFamily="2" charset="-122"/>
                <a:cs typeface="+mn-cs"/>
              </a:rPr>
              <a:t>= </a:t>
            </a:r>
            <a:r>
              <a:rPr kumimoji="0" lang="zh-CN" altLang="en-US" sz="2200" kern="1200" cap="none" spc="0" normalizeH="0" baseline="0" noProof="0" dirty="0">
                <a:latin typeface="+mj-lt"/>
                <a:ea typeface="宋体" panose="02010600030101010101" pitchFamily="2" charset="-122"/>
                <a:cs typeface="+mn-cs"/>
              </a:rPr>
              <a:t>2.00 cm apart; current </a:t>
            </a:r>
            <a:r>
              <a:rPr kumimoji="0" lang="en-US" altLang="zh-CN" sz="2200" i="1" kern="1200" cap="none" spc="0" normalizeH="0" baseline="0" noProof="0" dirty="0" err="1">
                <a:latin typeface="+mj-lt"/>
                <a:ea typeface="宋体" panose="02010600030101010101" pitchFamily="2" charset="-122"/>
                <a:cs typeface="+mn-cs"/>
              </a:rPr>
              <a:t>i</a:t>
            </a:r>
            <a:r>
              <a:rPr kumimoji="0" lang="zh-CN" altLang="en-US" sz="2200" i="1" kern="1200" cap="none" spc="0" normalizeH="0" baseline="0" noProof="0" dirty="0">
                <a:latin typeface="+mj-lt"/>
                <a:ea typeface="宋体" panose="02010600030101010101" pitchFamily="2" charset="-122"/>
                <a:cs typeface="+mn-cs"/>
              </a:rPr>
              <a:t> </a:t>
            </a:r>
            <a:r>
              <a:rPr kumimoji="0" lang="en-US" sz="2200" kern="1200" cap="none" spc="0" normalizeH="0" baseline="0" noProof="0" dirty="0">
                <a:latin typeface="+mj-lt"/>
                <a:ea typeface="宋体" panose="02010600030101010101" pitchFamily="2" charset="-122"/>
                <a:cs typeface="+mn-cs"/>
              </a:rPr>
              <a:t>= </a:t>
            </a:r>
            <a:r>
              <a:rPr kumimoji="0" lang="zh-CN" altLang="en-US" sz="2200" kern="1200" cap="none" spc="0" normalizeH="0" baseline="0" noProof="0" dirty="0">
                <a:latin typeface="+mj-lt"/>
                <a:ea typeface="宋体" panose="02010600030101010101" pitchFamily="2" charset="-122"/>
                <a:cs typeface="+mn-cs"/>
              </a:rPr>
              <a:t>5.25 A is uniformly</a:t>
            </a:r>
            <a:r>
              <a:rPr kumimoji="0" lang="en-US" sz="2200" kern="1200" cap="none" spc="0" normalizeH="0" baseline="0" noProof="0" dirty="0">
                <a:latin typeface="+mj-lt"/>
                <a:ea typeface="宋体" panose="02010600030101010101" pitchFamily="2" charset="-122"/>
                <a:cs typeface="+mn-cs"/>
              </a:rPr>
              <a:t> </a:t>
            </a:r>
            <a:r>
              <a:rPr kumimoji="0" lang="zh-CN" altLang="en-US" sz="2200" kern="1200" cap="none" spc="0" normalizeH="0" baseline="0" noProof="0" dirty="0">
                <a:latin typeface="+mj-lt"/>
                <a:ea typeface="宋体" panose="02010600030101010101" pitchFamily="2" charset="-122"/>
                <a:cs typeface="+mn-cs"/>
              </a:rPr>
              <a:t>distributed over the tinted area. </a:t>
            </a:r>
            <a:endParaRPr kumimoji="0" lang="en-US" altLang="zh-CN" sz="2200" kern="1200" cap="none" spc="0" normalizeH="0" baseline="0" noProof="0" dirty="0">
              <a:latin typeface="+mj-lt"/>
              <a:ea typeface="宋体" panose="02010600030101010101" pitchFamily="2" charset="-122"/>
              <a:cs typeface="+mn-cs"/>
            </a:endParaRPr>
          </a:p>
          <a:p>
            <a:pPr marL="457200" marR="0" indent="-457200" algn="just" defTabSz="914400" eaLnBrk="1" hangingPunct="1">
              <a:lnSpc>
                <a:spcPct val="120000"/>
              </a:lnSpc>
              <a:buClrTx/>
              <a:buSzTx/>
              <a:buFont typeface="Arial" panose="020B0604020202020204" pitchFamily="34" charset="0"/>
              <a:buAutoNum type="alphaLcParenBoth"/>
              <a:defRPr/>
            </a:pPr>
            <a:r>
              <a:rPr kumimoji="0" lang="en-US" altLang="zh-CN" sz="2200" kern="1200" cap="none" spc="0" normalizeH="0" baseline="0" noProof="0" dirty="0">
                <a:latin typeface="+mj-lt"/>
                <a:ea typeface="宋体" panose="02010600030101010101" pitchFamily="2" charset="-122"/>
                <a:cs typeface="+mn-cs"/>
              </a:rPr>
              <a:t>Find </a:t>
            </a:r>
            <a:r>
              <a:rPr kumimoji="0" lang="zh-CN" altLang="en-US" sz="2200" kern="1200" cap="none" spc="0" normalizeH="0" baseline="0" noProof="0" dirty="0">
                <a:latin typeface="+mj-lt"/>
                <a:ea typeface="宋体" panose="02010600030101010101" pitchFamily="2" charset="-122"/>
                <a:cs typeface="+mn-cs"/>
              </a:rPr>
              <a:t>the magnitude of the magnetic field at the</a:t>
            </a:r>
            <a:r>
              <a:rPr kumimoji="0" lang="en-US" sz="2200" kern="1200" cap="none" spc="0" normalizeH="0" baseline="0" noProof="0" dirty="0">
                <a:latin typeface="+mj-lt"/>
                <a:ea typeface="宋体" panose="02010600030101010101" pitchFamily="2" charset="-122"/>
                <a:cs typeface="+mn-cs"/>
              </a:rPr>
              <a:t> </a:t>
            </a:r>
            <a:r>
              <a:rPr kumimoji="0" lang="zh-CN" altLang="en-US" sz="2200" kern="1200" cap="none" spc="0" normalizeH="0" baseline="0" noProof="0" dirty="0">
                <a:latin typeface="+mj-lt"/>
                <a:ea typeface="宋体" panose="02010600030101010101" pitchFamily="2" charset="-122"/>
                <a:cs typeface="+mn-cs"/>
              </a:rPr>
              <a:t>center of the hole</a:t>
            </a:r>
            <a:endParaRPr kumimoji="0" lang="en-US" altLang="zh-CN" sz="2200" kern="1200" cap="none" spc="0" normalizeH="0" baseline="0" noProof="0" dirty="0">
              <a:latin typeface="+mj-lt"/>
              <a:ea typeface="宋体" panose="02010600030101010101" pitchFamily="2" charset="-122"/>
              <a:cs typeface="+mn-cs"/>
            </a:endParaRPr>
          </a:p>
          <a:p>
            <a:pPr marL="457200" marR="0" indent="-457200" algn="just" defTabSz="914400" eaLnBrk="1" hangingPunct="1">
              <a:lnSpc>
                <a:spcPct val="120000"/>
              </a:lnSpc>
              <a:buClrTx/>
              <a:buSzTx/>
              <a:buFont typeface="Arial" panose="020B0604020202020204" pitchFamily="34" charset="0"/>
              <a:buAutoNum type="alphaLcParenBoth"/>
              <a:defRPr/>
            </a:pPr>
            <a:r>
              <a:rPr kumimoji="0" lang="en-US" altLang="zh-CN" sz="2200" kern="1200" cap="none" spc="0" normalizeH="0" baseline="0" noProof="0" dirty="0">
                <a:latin typeface="+mj-lt"/>
                <a:ea typeface="宋体" panose="02010600030101010101" pitchFamily="2" charset="-122"/>
                <a:cs typeface="+mn-cs"/>
              </a:rPr>
              <a:t>Find the </a:t>
            </a:r>
            <a:r>
              <a:rPr kumimoji="0" lang="zh-CN" altLang="en-US" sz="2200" kern="1200" cap="none" spc="0" normalizeH="0" baseline="0" noProof="0" dirty="0">
                <a:latin typeface="+mj-lt"/>
                <a:ea typeface="宋体" panose="02010600030101010101" pitchFamily="2" charset="-122"/>
                <a:cs typeface="+mn-cs"/>
              </a:rPr>
              <a:t>magnetic field </a:t>
            </a:r>
            <a:r>
              <a:rPr kumimoji="0" lang="en-US" altLang="zh-CN" sz="2200" kern="1200" cap="none" spc="0" normalizeH="0" baseline="0" noProof="0" dirty="0">
                <a:latin typeface="+mj-lt"/>
                <a:ea typeface="宋体" panose="02010600030101010101" pitchFamily="2" charset="-122"/>
                <a:cs typeface="+mn-cs"/>
              </a:rPr>
              <a:t>at any point in the hole.</a:t>
            </a:r>
            <a:endParaRPr kumimoji="0" lang="zh-CN" altLang="en-US" sz="2200" kern="1200" cap="none" spc="0" normalizeH="0" baseline="0" noProof="0" dirty="0">
              <a:latin typeface="+mj-lt"/>
              <a:ea typeface="宋体" panose="02010600030101010101" pitchFamily="2" charset="-122"/>
              <a:cs typeface="+mn-cs"/>
            </a:endParaRPr>
          </a:p>
        </p:txBody>
      </p:sp>
      <p:pic>
        <p:nvPicPr>
          <p:cNvPr id="13316" name="Picture 4" descr="C:\Users\Administrator\AppData\Roaming\Tencent\Users\48161784\QQ\WinTemp\RichOle\9RP0XCLF]5461NUD@}G1MAQ.jpg"/>
          <p:cNvPicPr>
            <a:picLocks noChangeAspect="1"/>
          </p:cNvPicPr>
          <p:nvPr/>
        </p:nvPicPr>
        <p:blipFill>
          <a:blip r:embed="rId1"/>
          <a:stretch>
            <a:fillRect/>
          </a:stretch>
        </p:blipFill>
        <p:spPr>
          <a:xfrm>
            <a:off x="2947988" y="692150"/>
            <a:ext cx="2087562" cy="2273300"/>
          </a:xfrm>
          <a:prstGeom prst="rect">
            <a:avLst/>
          </a:prstGeom>
          <a:noFill/>
          <a:ln w="9525">
            <a:noFill/>
          </a:ln>
        </p:spPr>
      </p:pic>
    </p:spTree>
  </p:cSld>
  <p:clrMapOvr>
    <a:masterClrMapping/>
  </p:clrMapOvr>
  <p:transition spd="slow" advTm="77243"/>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ext Box 11"/>
          <p:cNvSpPr txBox="1">
            <a:spLocks noChangeArrowheads="1"/>
          </p:cNvSpPr>
          <p:nvPr/>
        </p:nvSpPr>
        <p:spPr bwMode="auto">
          <a:xfrm>
            <a:off x="179388" y="115888"/>
            <a:ext cx="2970213" cy="461963"/>
          </a:xfrm>
          <a:prstGeom prst="rect">
            <a:avLst/>
          </a:prstGeom>
          <a:noFill/>
          <a:ln>
            <a:noFill/>
          </a:ln>
        </p:spPr>
        <p:txBody>
          <a:bodyPr wrap="none">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Problem 3 of Ch29 </a:t>
            </a:r>
            <a:endPar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 name="矩形 1"/>
          <p:cNvSpPr/>
          <p:nvPr/>
        </p:nvSpPr>
        <p:spPr>
          <a:xfrm>
            <a:off x="539750" y="877888"/>
            <a:ext cx="8056563" cy="430213"/>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rPr>
              <a:t>The total current in the region of the hole is zero</a:t>
            </a:r>
            <a:endParaRPr kumimoji="0" lang="en-US" altLang="zh-CN" sz="22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pic>
        <p:nvPicPr>
          <p:cNvPr id="14340" name="Picture 4" descr="C:\Users\Administrator\AppData\Roaming\Tencent\Users\48161784\QQ\WinTemp\RichOle\9RP0XCLF]5461NUD@}G1MAQ.jpg"/>
          <p:cNvPicPr>
            <a:picLocks noChangeAspect="1"/>
          </p:cNvPicPr>
          <p:nvPr/>
        </p:nvPicPr>
        <p:blipFill>
          <a:blip r:embed="rId1"/>
          <a:stretch>
            <a:fillRect/>
          </a:stretch>
        </p:blipFill>
        <p:spPr>
          <a:xfrm>
            <a:off x="6288088" y="1055688"/>
            <a:ext cx="2376487" cy="2587625"/>
          </a:xfrm>
          <a:prstGeom prst="rect">
            <a:avLst/>
          </a:prstGeom>
          <a:noFill/>
          <a:ln w="9525">
            <a:noFill/>
          </a:ln>
        </p:spPr>
      </p:pic>
      <p:sp>
        <p:nvSpPr>
          <p:cNvPr id="3" name="TextBox 2"/>
          <p:cNvSpPr txBox="1"/>
          <p:nvPr/>
        </p:nvSpPr>
        <p:spPr>
          <a:xfrm>
            <a:off x="6934200" y="2097088"/>
            <a:ext cx="420688" cy="430213"/>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200" b="1" i="1" kern="1200" cap="none" spc="0" normalizeH="0" baseline="0" noProof="0" dirty="0">
                <a:solidFill>
                  <a:srgbClr val="C00000"/>
                </a:solidFill>
                <a:latin typeface="+mj-lt"/>
                <a:ea typeface="宋体" panose="02010600030101010101" pitchFamily="2" charset="-122"/>
                <a:cs typeface="+mn-cs"/>
              </a:rPr>
              <a:t>J</a:t>
            </a:r>
            <a:r>
              <a:rPr kumimoji="0" lang="en-US" altLang="zh-CN" sz="2200" b="1" i="1" kern="1200" cap="none" spc="0" normalizeH="0" baseline="-25000" noProof="0" dirty="0">
                <a:solidFill>
                  <a:srgbClr val="C00000"/>
                </a:solidFill>
                <a:latin typeface="+mj-lt"/>
                <a:ea typeface="宋体" panose="02010600030101010101" pitchFamily="2" charset="-122"/>
                <a:cs typeface="+mn-cs"/>
              </a:rPr>
              <a:t>a</a:t>
            </a:r>
            <a:endParaRPr kumimoji="0" lang="zh-CN" altLang="en-US" sz="2200" b="1" i="1" kern="1200" cap="none" spc="0" normalizeH="0" baseline="0" noProof="0" dirty="0">
              <a:solidFill>
                <a:srgbClr val="C00000"/>
              </a:solidFill>
              <a:latin typeface="+mj-lt"/>
              <a:ea typeface="宋体" panose="02010600030101010101" pitchFamily="2" charset="-122"/>
              <a:cs typeface="+mn-cs"/>
            </a:endParaRPr>
          </a:p>
        </p:txBody>
      </p:sp>
      <p:sp>
        <p:nvSpPr>
          <p:cNvPr id="6" name="TextBox 5"/>
          <p:cNvSpPr txBox="1"/>
          <p:nvPr/>
        </p:nvSpPr>
        <p:spPr>
          <a:xfrm>
            <a:off x="7921625" y="1590675"/>
            <a:ext cx="420688" cy="430213"/>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200" b="1" i="1" kern="1200" cap="none" spc="0" normalizeH="0" baseline="0" noProof="0" dirty="0" err="1">
                <a:solidFill>
                  <a:srgbClr val="C00000"/>
                </a:solidFill>
                <a:latin typeface="+mj-lt"/>
                <a:ea typeface="宋体" panose="02010600030101010101" pitchFamily="2" charset="-122"/>
                <a:cs typeface="+mn-cs"/>
              </a:rPr>
              <a:t>J</a:t>
            </a:r>
            <a:r>
              <a:rPr kumimoji="0" lang="en-US" altLang="zh-CN" sz="2200" b="1" i="1" kern="1200" cap="none" spc="0" normalizeH="0" baseline="-25000" noProof="0" dirty="0" err="1">
                <a:solidFill>
                  <a:srgbClr val="C00000"/>
                </a:solidFill>
                <a:latin typeface="+mj-lt"/>
                <a:ea typeface="宋体" panose="02010600030101010101" pitchFamily="2" charset="-122"/>
                <a:cs typeface="+mn-cs"/>
              </a:rPr>
              <a:t>b</a:t>
            </a:r>
            <a:endParaRPr kumimoji="0" lang="zh-CN" altLang="en-US" sz="2200" b="1" i="1" kern="1200" cap="none" spc="0" normalizeH="0" baseline="0" noProof="0" dirty="0">
              <a:solidFill>
                <a:srgbClr val="C00000"/>
              </a:solidFill>
              <a:latin typeface="+mj-lt"/>
              <a:ea typeface="宋体" panose="02010600030101010101" pitchFamily="2" charset="-122"/>
              <a:cs typeface="+mn-cs"/>
            </a:endParaRPr>
          </a:p>
        </p:txBody>
      </p:sp>
      <p:graphicFrame>
        <p:nvGraphicFramePr>
          <p:cNvPr id="14343" name="对象 6"/>
          <p:cNvGraphicFramePr>
            <a:graphicFrameLocks noChangeAspect="1"/>
          </p:cNvGraphicFramePr>
          <p:nvPr/>
        </p:nvGraphicFramePr>
        <p:xfrm>
          <a:off x="1042988" y="1430338"/>
          <a:ext cx="3017837" cy="666750"/>
        </p:xfrm>
        <a:graphic>
          <a:graphicData uri="http://schemas.openxmlformats.org/presentationml/2006/ole">
            <mc:AlternateContent xmlns:mc="http://schemas.openxmlformats.org/markup-compatibility/2006">
              <mc:Choice xmlns:v="urn:schemas-microsoft-com:vml" Requires="v">
                <p:oleObj spid="_x0000_s3093" name="" r:id="rId2" imgW="1892300" imgH="419100" progId="Equation.DSMT4">
                  <p:embed/>
                </p:oleObj>
              </mc:Choice>
              <mc:Fallback>
                <p:oleObj name="" r:id="rId2" imgW="1892300" imgH="419100" progId="Equation.DSMT4">
                  <p:embed/>
                  <p:pic>
                    <p:nvPicPr>
                      <p:cNvPr id="0" name="图片 3092"/>
                      <p:cNvPicPr/>
                      <p:nvPr/>
                    </p:nvPicPr>
                    <p:blipFill>
                      <a:blip r:embed="rId3"/>
                      <a:stretch>
                        <a:fillRect/>
                      </a:stretch>
                    </p:blipFill>
                    <p:spPr>
                      <a:xfrm>
                        <a:off x="1042988" y="1430338"/>
                        <a:ext cx="3017837" cy="666750"/>
                      </a:xfrm>
                      <a:prstGeom prst="rect">
                        <a:avLst/>
                      </a:prstGeom>
                      <a:noFill/>
                      <a:ln w="38100">
                        <a:noFill/>
                        <a:miter/>
                      </a:ln>
                    </p:spPr>
                  </p:pic>
                </p:oleObj>
              </mc:Fallback>
            </mc:AlternateContent>
          </a:graphicData>
        </a:graphic>
      </p:graphicFrame>
      <p:graphicFrame>
        <p:nvGraphicFramePr>
          <p:cNvPr id="14344" name="对象 7"/>
          <p:cNvGraphicFramePr>
            <a:graphicFrameLocks noChangeAspect="1"/>
          </p:cNvGraphicFramePr>
          <p:nvPr/>
        </p:nvGraphicFramePr>
        <p:xfrm>
          <a:off x="1042988" y="2176463"/>
          <a:ext cx="2997200" cy="1387475"/>
        </p:xfrm>
        <a:graphic>
          <a:graphicData uri="http://schemas.openxmlformats.org/presentationml/2006/ole">
            <mc:AlternateContent xmlns:mc="http://schemas.openxmlformats.org/markup-compatibility/2006">
              <mc:Choice xmlns:v="urn:schemas-microsoft-com:vml" Requires="v">
                <p:oleObj spid="_x0000_s3098" name="" r:id="rId4" imgW="1968500" imgH="914400" progId="Equation.DSMT4">
                  <p:embed/>
                </p:oleObj>
              </mc:Choice>
              <mc:Fallback>
                <p:oleObj name="" r:id="rId4" imgW="1968500" imgH="914400" progId="Equation.DSMT4">
                  <p:embed/>
                  <p:pic>
                    <p:nvPicPr>
                      <p:cNvPr id="0" name="图片 3097"/>
                      <p:cNvPicPr/>
                      <p:nvPr/>
                    </p:nvPicPr>
                    <p:blipFill>
                      <a:blip r:embed="rId5"/>
                      <a:stretch>
                        <a:fillRect/>
                      </a:stretch>
                    </p:blipFill>
                    <p:spPr>
                      <a:xfrm>
                        <a:off x="1042988" y="2176463"/>
                        <a:ext cx="2997200" cy="1387475"/>
                      </a:xfrm>
                      <a:prstGeom prst="rect">
                        <a:avLst/>
                      </a:prstGeom>
                      <a:noFill/>
                      <a:ln w="38100">
                        <a:noFill/>
                        <a:miter/>
                      </a:ln>
                    </p:spPr>
                  </p:pic>
                </p:oleObj>
              </mc:Fallback>
            </mc:AlternateContent>
          </a:graphicData>
        </a:graphic>
      </p:graphicFrame>
      <p:sp>
        <p:nvSpPr>
          <p:cNvPr id="14345" name="椭圆 3"/>
          <p:cNvSpPr/>
          <p:nvPr/>
        </p:nvSpPr>
        <p:spPr>
          <a:xfrm>
            <a:off x="5802313" y="3678238"/>
            <a:ext cx="2008187" cy="1939925"/>
          </a:xfrm>
          <a:prstGeom prst="ellipse">
            <a:avLst/>
          </a:prstGeom>
          <a:solidFill>
            <a:schemeClr val="bg1"/>
          </a:solidFill>
          <a:ln w="9525" cap="flat" cmpd="sng">
            <a:solidFill>
              <a:schemeClr val="tx1"/>
            </a:solidFill>
            <a:prstDash val="solid"/>
            <a:headEnd type="none" w="med" len="med"/>
            <a:tailEnd type="none" w="med" len="med"/>
          </a:ln>
        </p:spPr>
        <p:txBody>
          <a:bodyPr/>
          <a:p>
            <a:pPr eaLnBrk="1" hangingPunct="1"/>
            <a:endParaRPr lang="zh-CN" altLang="en-US" dirty="0">
              <a:latin typeface="Arial" panose="020B0604020202020204" pitchFamily="34" charset="0"/>
            </a:endParaRPr>
          </a:p>
        </p:txBody>
      </p:sp>
      <p:sp>
        <p:nvSpPr>
          <p:cNvPr id="14346" name="椭圆 4"/>
          <p:cNvSpPr/>
          <p:nvPr/>
        </p:nvSpPr>
        <p:spPr>
          <a:xfrm>
            <a:off x="8027988" y="4432300"/>
            <a:ext cx="568325" cy="581025"/>
          </a:xfrm>
          <a:prstGeom prst="ellipse">
            <a:avLst/>
          </a:prstGeom>
          <a:noFill/>
          <a:ln w="9525" cap="flat" cmpd="sng">
            <a:solidFill>
              <a:schemeClr val="tx1"/>
            </a:solidFill>
            <a:prstDash val="solid"/>
            <a:headEnd type="none" w="med" len="med"/>
            <a:tailEnd type="none" w="med" len="med"/>
          </a:ln>
        </p:spPr>
        <p:txBody>
          <a:bodyPr/>
          <a:p>
            <a:pPr eaLnBrk="1" hangingPunct="1"/>
            <a:endParaRPr lang="zh-CN" altLang="en-US" dirty="0">
              <a:latin typeface="Arial" panose="020B0604020202020204" pitchFamily="34" charset="0"/>
            </a:endParaRPr>
          </a:p>
        </p:txBody>
      </p:sp>
      <p:cxnSp>
        <p:nvCxnSpPr>
          <p:cNvPr id="14347" name="直接箭头连接符 7"/>
          <p:cNvCxnSpPr/>
          <p:nvPr/>
        </p:nvCxnSpPr>
        <p:spPr>
          <a:xfrm flipH="1">
            <a:off x="6934200" y="3179763"/>
            <a:ext cx="211138" cy="463550"/>
          </a:xfrm>
          <a:prstGeom prst="straightConnector1">
            <a:avLst/>
          </a:prstGeom>
          <a:ln w="9525" cap="flat" cmpd="sng">
            <a:solidFill>
              <a:schemeClr val="tx1"/>
            </a:solidFill>
            <a:prstDash val="solid"/>
            <a:headEnd type="none" w="med" len="med"/>
            <a:tailEnd type="triangle" w="med" len="med"/>
          </a:ln>
        </p:spPr>
      </p:cxnSp>
      <p:cxnSp>
        <p:nvCxnSpPr>
          <p:cNvPr id="14348" name="直接箭头连接符 13"/>
          <p:cNvCxnSpPr/>
          <p:nvPr/>
        </p:nvCxnSpPr>
        <p:spPr>
          <a:xfrm>
            <a:off x="7145338" y="3179763"/>
            <a:ext cx="987425" cy="1252537"/>
          </a:xfrm>
          <a:prstGeom prst="straightConnector1">
            <a:avLst/>
          </a:prstGeom>
          <a:ln w="9525" cap="flat" cmpd="sng">
            <a:solidFill>
              <a:schemeClr val="tx1"/>
            </a:solidFill>
            <a:prstDash val="solid"/>
            <a:headEnd type="none" w="med" len="med"/>
            <a:tailEnd type="triangle" w="med" len="med"/>
          </a:ln>
        </p:spPr>
      </p:cxnSp>
    </p:spTree>
  </p:cSld>
  <p:clrMapOvr>
    <a:masterClrMapping/>
  </p:clrMapOvr>
  <p:transition spd="slow" advTm="551638"/>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ext Box 11"/>
          <p:cNvSpPr txBox="1">
            <a:spLocks noChangeArrowheads="1"/>
          </p:cNvSpPr>
          <p:nvPr/>
        </p:nvSpPr>
        <p:spPr bwMode="auto">
          <a:xfrm>
            <a:off x="179388" y="115888"/>
            <a:ext cx="2970213" cy="461963"/>
          </a:xfrm>
          <a:prstGeom prst="rect">
            <a:avLst/>
          </a:prstGeom>
          <a:noFill/>
          <a:ln>
            <a:noFill/>
          </a:ln>
        </p:spPr>
        <p:txBody>
          <a:bodyPr wrap="none">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Problem 3 of Ch29 </a:t>
            </a:r>
            <a:endPar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矩形 4"/>
          <p:cNvSpPr/>
          <p:nvPr/>
        </p:nvSpPr>
        <p:spPr>
          <a:xfrm>
            <a:off x="504825" y="860425"/>
            <a:ext cx="8294688" cy="3103563"/>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rPr>
              <a:t>The magnetic field at a point within the hole is the sum of the B fields due to this two current distributions:</a:t>
            </a:r>
            <a:endParaRPr kumimoji="0" lang="en-US" altLang="zh-CN" sz="22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2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a:p>
            <a:pPr marL="0" marR="0" lvl="0" indent="0" algn="just" defTabSz="914400" rtl="0" eaLnBrk="1" fontAlgn="base" latinLnBrk="0" hangingPunct="1">
              <a:lnSpc>
                <a:spcPct val="120000"/>
              </a:lnSpc>
              <a:spcBef>
                <a:spcPct val="0"/>
              </a:spcBef>
              <a:spcAft>
                <a:spcPct val="0"/>
              </a:spcAft>
              <a:buClrTx/>
              <a:buSzTx/>
              <a:buFont typeface="Arial" panose="020B0604020202020204" pitchFamily="34" charset="0"/>
              <a:buNone/>
              <a:defRPr/>
            </a:pPr>
            <a:endParaRPr kumimoji="0" lang="en-US" altLang="zh-CN" sz="2200" b="0" i="1"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a:p>
            <a:pPr marL="0" marR="0" lvl="0" indent="0" algn="just" defTabSz="914400" rtl="0" eaLnBrk="1" fontAlgn="base" latinLnBrk="0" hangingPunct="1">
              <a:lnSpc>
                <a:spcPct val="120000"/>
              </a:lnSpc>
              <a:spcBef>
                <a:spcPct val="0"/>
              </a:spcBef>
              <a:spcAft>
                <a:spcPct val="0"/>
              </a:spcAft>
              <a:buClrTx/>
              <a:buSzTx/>
              <a:buFont typeface="Arial" panose="020B0604020202020204" pitchFamily="34" charset="0"/>
              <a:buNone/>
              <a:defRPr/>
            </a:pPr>
            <a:endParaRPr kumimoji="0" lang="en-US" altLang="zh-CN" sz="2200" b="0" i="1"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a:p>
            <a:pPr marL="0" marR="0" lvl="0" indent="0" algn="just" defTabSz="914400" rtl="0" eaLnBrk="1" fontAlgn="base" latinLnBrk="0" hangingPunct="1">
              <a:lnSpc>
                <a:spcPct val="120000"/>
              </a:lnSpc>
              <a:spcBef>
                <a:spcPct val="0"/>
              </a:spcBef>
              <a:spcAft>
                <a:spcPct val="0"/>
              </a:spcAft>
              <a:buClrTx/>
              <a:buSzTx/>
              <a:buFont typeface="Arial" panose="020B0604020202020204" pitchFamily="34" charset="0"/>
              <a:buNone/>
              <a:defRPr/>
            </a:pPr>
            <a:endParaRPr kumimoji="0" lang="en-US" altLang="zh-CN" sz="2200" b="0" i="1"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a:p>
            <a:pPr marL="0" marR="0" lvl="0" indent="0" algn="just" defTabSz="914400" rtl="0" eaLnBrk="1" fontAlgn="base" latinLnBrk="0" hangingPunct="1">
              <a:lnSpc>
                <a:spcPct val="120000"/>
              </a:lnSpc>
              <a:spcBef>
                <a:spcPct val="0"/>
              </a:spcBef>
              <a:spcAft>
                <a:spcPct val="0"/>
              </a:spcAft>
              <a:buClrTx/>
              <a:buSzTx/>
              <a:buFont typeface="Arial" panose="020B0604020202020204" pitchFamily="34" charset="0"/>
              <a:buNone/>
              <a:defRPr/>
            </a:pPr>
            <a:endParaRPr kumimoji="0" lang="en-US" altLang="zh-CN" sz="2200" b="0" i="1"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a:p>
            <a:pPr marL="0" marR="0" lvl="0" indent="0" algn="just"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rPr>
              <a:t>a)</a:t>
            </a:r>
            <a:r>
              <a:rPr kumimoji="0" lang="en-US" altLang="zh-CN" sz="22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zh-CN" altLang="en-US" sz="22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the magnitude of the </a:t>
            </a:r>
            <a:r>
              <a:rPr kumimoji="0" lang="en-US" altLang="zh-CN" sz="22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B</a:t>
            </a:r>
            <a:r>
              <a:rPr kumimoji="0" lang="zh-CN" altLang="en-US" sz="22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field at the</a:t>
            </a:r>
            <a:r>
              <a:rPr kumimoji="0" lang="en-US" altLang="zh-CN" sz="22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zh-CN" altLang="en-US" sz="22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center of the hole</a:t>
            </a:r>
            <a:endParaRPr kumimoji="0" lang="en-US" altLang="zh-CN" sz="22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graphicFrame>
        <p:nvGraphicFramePr>
          <p:cNvPr id="15364" name="对象 12"/>
          <p:cNvGraphicFramePr>
            <a:graphicFrameLocks noChangeAspect="1"/>
          </p:cNvGraphicFramePr>
          <p:nvPr/>
        </p:nvGraphicFramePr>
        <p:xfrm>
          <a:off x="1071721" y="4237197"/>
          <a:ext cx="6998970" cy="1122045"/>
        </p:xfrm>
        <a:graphic>
          <a:graphicData uri="http://schemas.openxmlformats.org/presentationml/2006/ole">
            <mc:AlternateContent xmlns:mc="http://schemas.openxmlformats.org/markup-compatibility/2006">
              <mc:Choice xmlns:v="urn:schemas-microsoft-com:vml" Requires="v">
                <p:oleObj spid="_x0000_s3099" name="" r:id="rId1" imgW="4495800" imgH="711200" progId="Equation.DSMT4">
                  <p:embed/>
                </p:oleObj>
              </mc:Choice>
              <mc:Fallback>
                <p:oleObj name="" r:id="rId1" imgW="4495800" imgH="711200" progId="Equation.DSMT4">
                  <p:embed/>
                  <p:pic>
                    <p:nvPicPr>
                      <p:cNvPr id="0" name="图片 3098"/>
                      <p:cNvPicPr/>
                      <p:nvPr/>
                    </p:nvPicPr>
                    <p:blipFill>
                      <a:blip r:embed="rId2"/>
                      <a:stretch>
                        <a:fillRect/>
                      </a:stretch>
                    </p:blipFill>
                    <p:spPr>
                      <a:xfrm>
                        <a:off x="1071721" y="4237197"/>
                        <a:ext cx="6998970" cy="1122045"/>
                      </a:xfrm>
                      <a:prstGeom prst="rect">
                        <a:avLst/>
                      </a:prstGeom>
                      <a:noFill/>
                      <a:ln w="38100">
                        <a:noFill/>
                        <a:miter/>
                      </a:ln>
                    </p:spPr>
                  </p:pic>
                </p:oleObj>
              </mc:Fallback>
            </mc:AlternateContent>
          </a:graphicData>
        </a:graphic>
      </p:graphicFrame>
      <p:sp>
        <p:nvSpPr>
          <p:cNvPr id="15365" name="Rectangle 5"/>
          <p:cNvSpPr/>
          <p:nvPr/>
        </p:nvSpPr>
        <p:spPr>
          <a:xfrm>
            <a:off x="0" y="857250"/>
            <a:ext cx="9144000" cy="0"/>
          </a:xfrm>
          <a:prstGeom prst="rect">
            <a:avLst/>
          </a:prstGeom>
          <a:noFill/>
          <a:ln w="9525">
            <a:noFill/>
          </a:ln>
        </p:spPr>
        <p:txBody>
          <a:bodyPr wrap="none" anchor="ctr" anchorCtr="0">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a:spcBef>
                <a:spcPct val="0"/>
              </a:spcBef>
              <a:spcAft>
                <a:spcPct val="0"/>
              </a:spcAft>
              <a:buClrTx/>
              <a:buNone/>
            </a:pPr>
            <a:endParaRPr lang="zh-CN" altLang="zh-CN" sz="2400" dirty="0">
              <a:ea typeface="宋体" panose="02010600030101010101" pitchFamily="2" charset="-122"/>
            </a:endParaRPr>
          </a:p>
        </p:txBody>
      </p:sp>
      <p:grpSp>
        <p:nvGrpSpPr>
          <p:cNvPr id="15369" name="组合 2"/>
          <p:cNvGrpSpPr/>
          <p:nvPr/>
        </p:nvGrpSpPr>
        <p:grpSpPr>
          <a:xfrm>
            <a:off x="6230938" y="1389063"/>
            <a:ext cx="2087562" cy="2039937"/>
            <a:chOff x="5076056" y="741273"/>
            <a:chExt cx="3455740" cy="3384376"/>
          </a:xfrm>
        </p:grpSpPr>
        <p:sp>
          <p:nvSpPr>
            <p:cNvPr id="15370" name="椭圆 14"/>
            <p:cNvSpPr/>
            <p:nvPr/>
          </p:nvSpPr>
          <p:spPr>
            <a:xfrm>
              <a:off x="5076056" y="741273"/>
              <a:ext cx="3455740" cy="3384376"/>
            </a:xfrm>
            <a:prstGeom prst="ellipse">
              <a:avLst/>
            </a:prstGeom>
            <a:noFill/>
            <a:ln w="9525" cap="flat" cmpd="sng">
              <a:solidFill>
                <a:schemeClr val="tx1"/>
              </a:solidFill>
              <a:prstDash val="solid"/>
              <a:headEnd type="none" w="med" len="med"/>
              <a:tailEnd type="none" w="med" len="med"/>
            </a:ln>
          </p:spPr>
          <p:txBody>
            <a:bodyPr/>
            <a:p>
              <a:pPr eaLnBrk="1" hangingPunct="1"/>
              <a:endParaRPr lang="zh-CN" altLang="en-US" dirty="0">
                <a:latin typeface="Arial" panose="020B0604020202020204" pitchFamily="34" charset="0"/>
              </a:endParaRPr>
            </a:p>
          </p:txBody>
        </p:sp>
        <p:sp>
          <p:nvSpPr>
            <p:cNvPr id="15371" name="椭圆 15"/>
            <p:cNvSpPr/>
            <p:nvPr/>
          </p:nvSpPr>
          <p:spPr>
            <a:xfrm>
              <a:off x="7017569" y="1698393"/>
              <a:ext cx="1253144" cy="1189197"/>
            </a:xfrm>
            <a:prstGeom prst="ellipse">
              <a:avLst/>
            </a:prstGeom>
            <a:noFill/>
            <a:ln w="9525" cap="flat" cmpd="sng">
              <a:solidFill>
                <a:schemeClr val="tx1"/>
              </a:solidFill>
              <a:prstDash val="solid"/>
              <a:headEnd type="none" w="med" len="med"/>
              <a:tailEnd type="none" w="med" len="med"/>
            </a:ln>
          </p:spPr>
          <p:txBody>
            <a:bodyPr/>
            <a:p>
              <a:pPr eaLnBrk="1" hangingPunct="1"/>
              <a:endParaRPr lang="zh-CN" altLang="en-US" dirty="0">
                <a:latin typeface="Arial" panose="020B0604020202020204" pitchFamily="34" charset="0"/>
              </a:endParaRPr>
            </a:p>
          </p:txBody>
        </p:sp>
      </p:grpSp>
      <p:pic>
        <p:nvPicPr>
          <p:cNvPr id="2" name="图片 1"/>
          <p:cNvPicPr>
            <a:picLocks noChangeAspect="1"/>
          </p:cNvPicPr>
          <p:nvPr/>
        </p:nvPicPr>
        <p:blipFill>
          <a:blip r:embed="rId3"/>
          <a:stretch>
            <a:fillRect/>
          </a:stretch>
        </p:blipFill>
        <p:spPr>
          <a:xfrm>
            <a:off x="5988050" y="1196975"/>
            <a:ext cx="2708910" cy="2355850"/>
          </a:xfrm>
          <a:prstGeom prst="rect">
            <a:avLst/>
          </a:prstGeom>
        </p:spPr>
      </p:pic>
      <p:graphicFrame>
        <p:nvGraphicFramePr>
          <p:cNvPr id="14342" name="对象 1"/>
          <p:cNvGraphicFramePr>
            <a:graphicFrameLocks noChangeAspect="1"/>
          </p:cNvGraphicFramePr>
          <p:nvPr/>
        </p:nvGraphicFramePr>
        <p:xfrm>
          <a:off x="827405" y="2277110"/>
          <a:ext cx="1235075" cy="441325"/>
        </p:xfrm>
        <a:graphic>
          <a:graphicData uri="http://schemas.openxmlformats.org/presentationml/2006/ole">
            <mc:AlternateContent xmlns:mc="http://schemas.openxmlformats.org/markup-compatibility/2006">
              <mc:Choice xmlns:v="urn:schemas-microsoft-com:vml" Requires="v">
                <p:oleObj spid="_x0000_s3" name="" r:id="rId4" imgW="711200" imgH="254000" progId="Equation.DSMT4">
                  <p:embed/>
                </p:oleObj>
              </mc:Choice>
              <mc:Fallback>
                <p:oleObj name="" r:id="rId4" imgW="711200" imgH="254000" progId="Equation.DSMT4">
                  <p:embed/>
                  <p:pic>
                    <p:nvPicPr>
                      <p:cNvPr id="0" name="图片 3100"/>
                      <p:cNvPicPr/>
                      <p:nvPr/>
                    </p:nvPicPr>
                    <p:blipFill>
                      <a:blip r:embed="rId5"/>
                      <a:stretch>
                        <a:fillRect/>
                      </a:stretch>
                    </p:blipFill>
                    <p:spPr>
                      <a:xfrm>
                        <a:off x="827405" y="2277110"/>
                        <a:ext cx="1235075" cy="441325"/>
                      </a:xfrm>
                      <a:prstGeom prst="rect">
                        <a:avLst/>
                      </a:prstGeom>
                      <a:noFill/>
                      <a:ln w="38100">
                        <a:noFill/>
                        <a:miter/>
                      </a:ln>
                    </p:spPr>
                  </p:pic>
                </p:oleObj>
              </mc:Fallback>
            </mc:AlternateContent>
          </a:graphicData>
        </a:graphic>
      </p:graphicFrame>
      <p:graphicFrame>
        <p:nvGraphicFramePr>
          <p:cNvPr id="14343" name="对象 9"/>
          <p:cNvGraphicFramePr>
            <a:graphicFrameLocks noChangeAspect="1"/>
          </p:cNvGraphicFramePr>
          <p:nvPr/>
        </p:nvGraphicFramePr>
        <p:xfrm>
          <a:off x="3108643" y="1772920"/>
          <a:ext cx="1760537" cy="690563"/>
        </p:xfrm>
        <a:graphic>
          <a:graphicData uri="http://schemas.openxmlformats.org/presentationml/2006/ole">
            <mc:AlternateContent xmlns:mc="http://schemas.openxmlformats.org/markup-compatibility/2006">
              <mc:Choice xmlns:v="urn:schemas-microsoft-com:vml" Requires="v">
                <p:oleObj spid="_x0000_s3095" name="" r:id="rId6" imgW="1066800" imgH="419100" progId="Equation.DSMT4">
                  <p:embed/>
                </p:oleObj>
              </mc:Choice>
              <mc:Fallback>
                <p:oleObj name="" r:id="rId6" imgW="1066800" imgH="419100" progId="Equation.DSMT4">
                  <p:embed/>
                  <p:pic>
                    <p:nvPicPr>
                      <p:cNvPr id="0" name="图片 3094"/>
                      <p:cNvPicPr/>
                      <p:nvPr/>
                    </p:nvPicPr>
                    <p:blipFill>
                      <a:blip r:embed="rId7"/>
                      <a:stretch>
                        <a:fillRect/>
                      </a:stretch>
                    </p:blipFill>
                    <p:spPr>
                      <a:xfrm>
                        <a:off x="3108643" y="1772920"/>
                        <a:ext cx="1760537" cy="690563"/>
                      </a:xfrm>
                      <a:prstGeom prst="rect">
                        <a:avLst/>
                      </a:prstGeom>
                      <a:noFill/>
                      <a:ln w="38100">
                        <a:noFill/>
                        <a:miter/>
                      </a:ln>
                    </p:spPr>
                  </p:pic>
                </p:oleObj>
              </mc:Fallback>
            </mc:AlternateContent>
          </a:graphicData>
        </a:graphic>
      </p:graphicFrame>
      <p:graphicFrame>
        <p:nvGraphicFramePr>
          <p:cNvPr id="14344" name="对象 10"/>
          <p:cNvGraphicFramePr>
            <a:graphicFrameLocks noChangeAspect="1"/>
          </p:cNvGraphicFramePr>
          <p:nvPr/>
        </p:nvGraphicFramePr>
        <p:xfrm>
          <a:off x="3131820" y="2565400"/>
          <a:ext cx="1778000" cy="690563"/>
        </p:xfrm>
        <a:graphic>
          <a:graphicData uri="http://schemas.openxmlformats.org/presentationml/2006/ole">
            <mc:AlternateContent xmlns:mc="http://schemas.openxmlformats.org/markup-compatibility/2006">
              <mc:Choice xmlns:v="urn:schemas-microsoft-com:vml" Requires="v">
                <p:oleObj spid="_x0000_s3096" name="" r:id="rId8" imgW="1079500" imgH="419100" progId="Equation.DSMT4">
                  <p:embed/>
                </p:oleObj>
              </mc:Choice>
              <mc:Fallback>
                <p:oleObj name="" r:id="rId8" imgW="1079500" imgH="419100" progId="Equation.DSMT4">
                  <p:embed/>
                  <p:pic>
                    <p:nvPicPr>
                      <p:cNvPr id="0" name="图片 3095"/>
                      <p:cNvPicPr/>
                      <p:nvPr/>
                    </p:nvPicPr>
                    <p:blipFill>
                      <a:blip r:embed="rId9"/>
                      <a:stretch>
                        <a:fillRect/>
                      </a:stretch>
                    </p:blipFill>
                    <p:spPr>
                      <a:xfrm>
                        <a:off x="3131820" y="2565400"/>
                        <a:ext cx="1778000" cy="690563"/>
                      </a:xfrm>
                      <a:prstGeom prst="rect">
                        <a:avLst/>
                      </a:prstGeom>
                      <a:noFill/>
                      <a:ln w="38100">
                        <a:noFill/>
                        <a:miter/>
                      </a:ln>
                    </p:spPr>
                  </p:pic>
                </p:oleObj>
              </mc:Fallback>
            </mc:AlternateContent>
          </a:graphicData>
        </a:graphic>
      </p:graphicFrame>
    </p:spTree>
  </p:cSld>
  <p:clrMapOvr>
    <a:masterClrMapping/>
  </p:clrMapOvr>
  <p:transition spd="slow" advTm="128667"/>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ext Box 11"/>
          <p:cNvSpPr txBox="1">
            <a:spLocks noChangeArrowheads="1"/>
          </p:cNvSpPr>
          <p:nvPr/>
        </p:nvSpPr>
        <p:spPr bwMode="auto">
          <a:xfrm>
            <a:off x="179388" y="115888"/>
            <a:ext cx="2970213" cy="461963"/>
          </a:xfrm>
          <a:prstGeom prst="rect">
            <a:avLst/>
          </a:prstGeom>
          <a:noFill/>
          <a:ln>
            <a:noFill/>
          </a:ln>
        </p:spPr>
        <p:txBody>
          <a:bodyPr wrap="none">
            <a:spAutoFit/>
          </a:bodyPr>
          <a:lstStyle>
            <a:lvl1pPr eaLnBrk="0" hangingPunct="0">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eaLnBrk="0" hangingPunct="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eaLnBrk="0"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Problem 3 of Ch29 </a:t>
            </a:r>
            <a:endParaRPr kumimoji="0" lang="en-US" altLang="zh-CN" sz="2400" b="1" i="0" u="none" strike="noStrike" kern="1200" cap="none" spc="0" normalizeH="0" baseline="0" noProof="0">
              <a:ln>
                <a:noFill/>
              </a:ln>
              <a:solidFill>
                <a:srgbClr val="CC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矩形 4"/>
          <p:cNvSpPr/>
          <p:nvPr/>
        </p:nvSpPr>
        <p:spPr>
          <a:xfrm>
            <a:off x="468313" y="908050"/>
            <a:ext cx="7991475" cy="39878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mj-lt"/>
                <a:ea typeface="宋体" panose="02010600030101010101" pitchFamily="2" charset="-122"/>
                <a:cs typeface="+mn-cs"/>
              </a:rPr>
              <a:t>b)  </a:t>
            </a:r>
            <a:r>
              <a:rPr kumimoji="0" lang="en-US" altLang="zh-CN" sz="20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rPr>
              <a:t>Any point in the hole</a:t>
            </a:r>
            <a:endParaRPr kumimoji="0" lang="en-US" altLang="zh-CN" sz="20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17412" name="Rectangle 5"/>
          <p:cNvSpPr/>
          <p:nvPr/>
        </p:nvSpPr>
        <p:spPr>
          <a:xfrm>
            <a:off x="0" y="857250"/>
            <a:ext cx="9144000" cy="0"/>
          </a:xfrm>
          <a:prstGeom prst="rect">
            <a:avLst/>
          </a:prstGeom>
          <a:noFill/>
          <a:ln w="9525">
            <a:noFill/>
          </a:ln>
        </p:spPr>
        <p:txBody>
          <a:bodyPr wrap="none" anchor="ctr" anchorCtr="0">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a:spcBef>
                <a:spcPct val="0"/>
              </a:spcBef>
              <a:spcAft>
                <a:spcPct val="0"/>
              </a:spcAft>
              <a:buClrTx/>
              <a:buNone/>
            </a:pPr>
            <a:endParaRPr lang="zh-CN" altLang="zh-CN" sz="2400" dirty="0">
              <a:ea typeface="宋体" panose="02010600030101010101" pitchFamily="2" charset="-122"/>
            </a:endParaRPr>
          </a:p>
        </p:txBody>
      </p:sp>
      <p:graphicFrame>
        <p:nvGraphicFramePr>
          <p:cNvPr id="17413" name="对象 32788"/>
          <p:cNvGraphicFramePr>
            <a:graphicFrameLocks noChangeAspect="1"/>
          </p:cNvGraphicFramePr>
          <p:nvPr/>
        </p:nvGraphicFramePr>
        <p:xfrm>
          <a:off x="427038" y="1485900"/>
          <a:ext cx="4813300" cy="692150"/>
        </p:xfrm>
        <a:graphic>
          <a:graphicData uri="http://schemas.openxmlformats.org/presentationml/2006/ole">
            <mc:AlternateContent xmlns:mc="http://schemas.openxmlformats.org/markup-compatibility/2006">
              <mc:Choice xmlns:v="urn:schemas-microsoft-com:vml" Requires="v">
                <p:oleObj spid="_x0000_s3104" name="" r:id="rId1" imgW="2908300" imgH="419100" progId="Equation.DSMT4">
                  <p:embed/>
                </p:oleObj>
              </mc:Choice>
              <mc:Fallback>
                <p:oleObj name="" r:id="rId1" imgW="2908300" imgH="419100" progId="Equation.DSMT4">
                  <p:embed/>
                  <p:pic>
                    <p:nvPicPr>
                      <p:cNvPr id="0" name="图片 3103"/>
                      <p:cNvPicPr/>
                      <p:nvPr/>
                    </p:nvPicPr>
                    <p:blipFill>
                      <a:blip r:embed="rId2"/>
                      <a:stretch>
                        <a:fillRect/>
                      </a:stretch>
                    </p:blipFill>
                    <p:spPr>
                      <a:xfrm>
                        <a:off x="427038" y="1485900"/>
                        <a:ext cx="4813300" cy="692150"/>
                      </a:xfrm>
                      <a:prstGeom prst="rect">
                        <a:avLst/>
                      </a:prstGeom>
                      <a:noFill/>
                      <a:ln w="38100">
                        <a:noFill/>
                        <a:miter/>
                      </a:ln>
                    </p:spPr>
                  </p:pic>
                </p:oleObj>
              </mc:Fallback>
            </mc:AlternateContent>
          </a:graphicData>
        </a:graphic>
      </p:graphicFrame>
      <p:graphicFrame>
        <p:nvGraphicFramePr>
          <p:cNvPr id="17414" name="对象 32789"/>
          <p:cNvGraphicFramePr>
            <a:graphicFrameLocks noChangeAspect="1"/>
          </p:cNvGraphicFramePr>
          <p:nvPr/>
        </p:nvGraphicFramePr>
        <p:xfrm>
          <a:off x="427038" y="2178050"/>
          <a:ext cx="4833937" cy="692150"/>
        </p:xfrm>
        <a:graphic>
          <a:graphicData uri="http://schemas.openxmlformats.org/presentationml/2006/ole">
            <mc:AlternateContent xmlns:mc="http://schemas.openxmlformats.org/markup-compatibility/2006">
              <mc:Choice xmlns:v="urn:schemas-microsoft-com:vml" Requires="v">
                <p:oleObj spid="_x0000_s3103" name="" r:id="rId3" imgW="2933700" imgH="419100" progId="Equation.DSMT4">
                  <p:embed/>
                </p:oleObj>
              </mc:Choice>
              <mc:Fallback>
                <p:oleObj name="" r:id="rId3" imgW="2933700" imgH="419100" progId="Equation.DSMT4">
                  <p:embed/>
                  <p:pic>
                    <p:nvPicPr>
                      <p:cNvPr id="0" name="图片 3102"/>
                      <p:cNvPicPr/>
                      <p:nvPr/>
                    </p:nvPicPr>
                    <p:blipFill>
                      <a:blip r:embed="rId4"/>
                      <a:stretch>
                        <a:fillRect/>
                      </a:stretch>
                    </p:blipFill>
                    <p:spPr>
                      <a:xfrm>
                        <a:off x="427038" y="2178050"/>
                        <a:ext cx="4833937" cy="692150"/>
                      </a:xfrm>
                      <a:prstGeom prst="rect">
                        <a:avLst/>
                      </a:prstGeom>
                      <a:noFill/>
                      <a:ln w="38100">
                        <a:noFill/>
                        <a:miter/>
                      </a:ln>
                    </p:spPr>
                  </p:pic>
                </p:oleObj>
              </mc:Fallback>
            </mc:AlternateContent>
          </a:graphicData>
        </a:graphic>
      </p:graphicFrame>
      <p:sp>
        <p:nvSpPr>
          <p:cNvPr id="17415" name="TextBox 46"/>
          <p:cNvSpPr txBox="1"/>
          <p:nvPr/>
        </p:nvSpPr>
        <p:spPr>
          <a:xfrm>
            <a:off x="468313" y="5880100"/>
            <a:ext cx="8413750" cy="384175"/>
          </a:xfrm>
          <a:prstGeom prst="rect">
            <a:avLst/>
          </a:prstGeom>
          <a:noFill/>
          <a:ln w="9525">
            <a:noFill/>
          </a:ln>
        </p:spPr>
        <p:txBody>
          <a:bodyPr wrap="none">
            <a:spAutoFit/>
          </a:bodyPr>
          <a:lst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stStyle>
          <a:p>
            <a:pPr marL="0" lvl="0" indent="0" eaLnBrk="1" hangingPunct="1">
              <a:spcBef>
                <a:spcPct val="0"/>
              </a:spcBef>
              <a:spcAft>
                <a:spcPct val="0"/>
              </a:spcAft>
              <a:buClrTx/>
              <a:buNone/>
            </a:pPr>
            <a:r>
              <a:rPr lang="en-US" altLang="zh-CN" sz="1900" dirty="0">
                <a:ea typeface="宋体" panose="02010600030101010101" pitchFamily="2" charset="-122"/>
              </a:rPr>
              <a:t>Conclusion: for the hollow cylinder, the B-field within the hollow is a constant</a:t>
            </a:r>
            <a:endParaRPr lang="zh-CN" altLang="en-US" sz="1900" dirty="0">
              <a:ea typeface="宋体" panose="02010600030101010101" pitchFamily="2" charset="-122"/>
            </a:endParaRPr>
          </a:p>
        </p:txBody>
      </p:sp>
      <p:graphicFrame>
        <p:nvGraphicFramePr>
          <p:cNvPr id="17416" name="对象 1"/>
          <p:cNvGraphicFramePr>
            <a:graphicFrameLocks noChangeAspect="1"/>
          </p:cNvGraphicFramePr>
          <p:nvPr/>
        </p:nvGraphicFramePr>
        <p:xfrm>
          <a:off x="5264150" y="3248025"/>
          <a:ext cx="1385888" cy="650875"/>
        </p:xfrm>
        <a:graphic>
          <a:graphicData uri="http://schemas.openxmlformats.org/presentationml/2006/ole">
            <mc:AlternateContent xmlns:mc="http://schemas.openxmlformats.org/markup-compatibility/2006">
              <mc:Choice xmlns:v="urn:schemas-microsoft-com:vml" Requires="v">
                <p:oleObj spid="_x0000_s3105" name="" r:id="rId5" imgW="837565" imgH="393700" progId="Equation.DSMT4">
                  <p:embed/>
                </p:oleObj>
              </mc:Choice>
              <mc:Fallback>
                <p:oleObj name="" r:id="rId5" imgW="837565" imgH="393700" progId="Equation.DSMT4">
                  <p:embed/>
                  <p:pic>
                    <p:nvPicPr>
                      <p:cNvPr id="0" name="图片 3104"/>
                      <p:cNvPicPr/>
                      <p:nvPr/>
                    </p:nvPicPr>
                    <p:blipFill>
                      <a:blip r:embed="rId6"/>
                      <a:stretch>
                        <a:fillRect/>
                      </a:stretch>
                    </p:blipFill>
                    <p:spPr>
                      <a:xfrm>
                        <a:off x="5264150" y="3248025"/>
                        <a:ext cx="1385888" cy="650875"/>
                      </a:xfrm>
                      <a:prstGeom prst="rect">
                        <a:avLst/>
                      </a:prstGeom>
                      <a:noFill/>
                      <a:ln w="38100">
                        <a:noFill/>
                        <a:miter/>
                      </a:ln>
                    </p:spPr>
                  </p:pic>
                </p:oleObj>
              </mc:Fallback>
            </mc:AlternateContent>
          </a:graphicData>
        </a:graphic>
      </p:graphicFrame>
      <p:graphicFrame>
        <p:nvGraphicFramePr>
          <p:cNvPr id="17417" name="对象 2"/>
          <p:cNvGraphicFramePr>
            <a:graphicFrameLocks noChangeAspect="1"/>
          </p:cNvGraphicFramePr>
          <p:nvPr/>
        </p:nvGraphicFramePr>
        <p:xfrm>
          <a:off x="5208588" y="4005263"/>
          <a:ext cx="1763712" cy="650875"/>
        </p:xfrm>
        <a:graphic>
          <a:graphicData uri="http://schemas.openxmlformats.org/presentationml/2006/ole">
            <mc:AlternateContent xmlns:mc="http://schemas.openxmlformats.org/markup-compatibility/2006">
              <mc:Choice xmlns:v="urn:schemas-microsoft-com:vml" Requires="v">
                <p:oleObj spid="_x0000_s3089" name="" r:id="rId7" imgW="1066165" imgH="393700" progId="Equation.DSMT4">
                  <p:embed/>
                </p:oleObj>
              </mc:Choice>
              <mc:Fallback>
                <p:oleObj name="" r:id="rId7" imgW="1066165" imgH="393700" progId="Equation.DSMT4">
                  <p:embed/>
                  <p:pic>
                    <p:nvPicPr>
                      <p:cNvPr id="0" name="图片 3088"/>
                      <p:cNvPicPr/>
                      <p:nvPr/>
                    </p:nvPicPr>
                    <p:blipFill>
                      <a:blip r:embed="rId8"/>
                      <a:stretch>
                        <a:fillRect/>
                      </a:stretch>
                    </p:blipFill>
                    <p:spPr>
                      <a:xfrm>
                        <a:off x="5208588" y="4005263"/>
                        <a:ext cx="1763712" cy="650875"/>
                      </a:xfrm>
                      <a:prstGeom prst="rect">
                        <a:avLst/>
                      </a:prstGeom>
                      <a:noFill/>
                      <a:ln w="38100">
                        <a:noFill/>
                        <a:miter/>
                      </a:ln>
                    </p:spPr>
                  </p:pic>
                </p:oleObj>
              </mc:Fallback>
            </mc:AlternateContent>
          </a:graphicData>
        </a:graphic>
      </p:graphicFrame>
      <p:graphicFrame>
        <p:nvGraphicFramePr>
          <p:cNvPr id="17418" name="对象 3"/>
          <p:cNvGraphicFramePr>
            <a:graphicFrameLocks noChangeAspect="1"/>
          </p:cNvGraphicFramePr>
          <p:nvPr/>
        </p:nvGraphicFramePr>
        <p:xfrm>
          <a:off x="5310188" y="4724400"/>
          <a:ext cx="3554412" cy="650875"/>
        </p:xfrm>
        <a:graphic>
          <a:graphicData uri="http://schemas.openxmlformats.org/presentationml/2006/ole">
            <mc:AlternateContent xmlns:mc="http://schemas.openxmlformats.org/markup-compatibility/2006">
              <mc:Choice xmlns:v="urn:schemas-microsoft-com:vml" Requires="v">
                <p:oleObj spid="_x0000_s3106" name="" r:id="rId9" imgW="2235200" imgH="393700" progId="Equation.DSMT4">
                  <p:embed/>
                </p:oleObj>
              </mc:Choice>
              <mc:Fallback>
                <p:oleObj name="" r:id="rId9" imgW="2235200" imgH="393700" progId="Equation.DSMT4">
                  <p:embed/>
                  <p:pic>
                    <p:nvPicPr>
                      <p:cNvPr id="0" name="图片 3105"/>
                      <p:cNvPicPr/>
                      <p:nvPr/>
                    </p:nvPicPr>
                    <p:blipFill>
                      <a:blip r:embed="rId10"/>
                      <a:stretch>
                        <a:fillRect/>
                      </a:stretch>
                    </p:blipFill>
                    <p:spPr>
                      <a:xfrm>
                        <a:off x="5310188" y="4724400"/>
                        <a:ext cx="3554412" cy="650875"/>
                      </a:xfrm>
                      <a:prstGeom prst="rect">
                        <a:avLst/>
                      </a:prstGeom>
                      <a:noFill/>
                      <a:ln w="38100">
                        <a:noFill/>
                        <a:miter/>
                      </a:ln>
                    </p:spPr>
                  </p:pic>
                </p:oleObj>
              </mc:Fallback>
            </mc:AlternateContent>
          </a:graphicData>
        </a:graphic>
      </p:graphicFrame>
      <p:pic>
        <p:nvPicPr>
          <p:cNvPr id="17419" name="Picture 22"/>
          <p:cNvPicPr>
            <a:picLocks noChangeAspect="1"/>
          </p:cNvPicPr>
          <p:nvPr/>
        </p:nvPicPr>
        <p:blipFill>
          <a:blip r:embed="rId11"/>
          <a:srcRect t="6828"/>
          <a:stretch>
            <a:fillRect/>
          </a:stretch>
        </p:blipFill>
        <p:spPr>
          <a:xfrm>
            <a:off x="6091238" y="692150"/>
            <a:ext cx="2828925" cy="2246313"/>
          </a:xfrm>
          <a:prstGeom prst="rect">
            <a:avLst/>
          </a:prstGeom>
          <a:noFill/>
          <a:ln w="9525">
            <a:noFill/>
          </a:ln>
        </p:spPr>
      </p:pic>
      <p:graphicFrame>
        <p:nvGraphicFramePr>
          <p:cNvPr id="17420" name="对象 1"/>
          <p:cNvGraphicFramePr>
            <a:graphicFrameLocks noChangeAspect="1"/>
          </p:cNvGraphicFramePr>
          <p:nvPr/>
        </p:nvGraphicFramePr>
        <p:xfrm>
          <a:off x="395288" y="3284538"/>
          <a:ext cx="3422650" cy="1050925"/>
        </p:xfrm>
        <a:graphic>
          <a:graphicData uri="http://schemas.openxmlformats.org/presentationml/2006/ole">
            <mc:AlternateContent xmlns:mc="http://schemas.openxmlformats.org/markup-compatibility/2006">
              <mc:Choice xmlns:v="urn:schemas-microsoft-com:vml" Requires="v">
                <p:oleObj spid="_x0000_s3107" name="" r:id="rId12" imgW="2070100" imgH="635000" progId="Equation.DSMT4">
                  <p:embed/>
                </p:oleObj>
              </mc:Choice>
              <mc:Fallback>
                <p:oleObj name="" r:id="rId12" imgW="2070100" imgH="635000" progId="Equation.DSMT4">
                  <p:embed/>
                  <p:pic>
                    <p:nvPicPr>
                      <p:cNvPr id="0" name="图片 3106"/>
                      <p:cNvPicPr/>
                      <p:nvPr/>
                    </p:nvPicPr>
                    <p:blipFill>
                      <a:blip r:embed="rId13"/>
                      <a:stretch>
                        <a:fillRect/>
                      </a:stretch>
                    </p:blipFill>
                    <p:spPr>
                      <a:xfrm>
                        <a:off x="395288" y="3284538"/>
                        <a:ext cx="3422650" cy="1050925"/>
                      </a:xfrm>
                      <a:prstGeom prst="rect">
                        <a:avLst/>
                      </a:prstGeom>
                      <a:noFill/>
                      <a:ln w="38100">
                        <a:noFill/>
                        <a:miter/>
                      </a:ln>
                    </p:spPr>
                  </p:pic>
                </p:oleObj>
              </mc:Fallback>
            </mc:AlternateContent>
          </a:graphicData>
        </a:graphic>
      </p:graphicFrame>
      <p:graphicFrame>
        <p:nvGraphicFramePr>
          <p:cNvPr id="17421" name="对象 2"/>
          <p:cNvGraphicFramePr>
            <a:graphicFrameLocks noChangeAspect="1"/>
          </p:cNvGraphicFramePr>
          <p:nvPr/>
        </p:nvGraphicFramePr>
        <p:xfrm>
          <a:off x="366713" y="4508500"/>
          <a:ext cx="4094162" cy="1049338"/>
        </p:xfrm>
        <a:graphic>
          <a:graphicData uri="http://schemas.openxmlformats.org/presentationml/2006/ole">
            <mc:AlternateContent xmlns:mc="http://schemas.openxmlformats.org/markup-compatibility/2006">
              <mc:Choice xmlns:v="urn:schemas-microsoft-com:vml" Requires="v">
                <p:oleObj spid="_x0000_s3108" name="" r:id="rId14" imgW="2476500" imgH="635000" progId="Equation.DSMT4">
                  <p:embed/>
                </p:oleObj>
              </mc:Choice>
              <mc:Fallback>
                <p:oleObj name="" r:id="rId14" imgW="2476500" imgH="635000" progId="Equation.DSMT4">
                  <p:embed/>
                  <p:pic>
                    <p:nvPicPr>
                      <p:cNvPr id="0" name="图片 3107"/>
                      <p:cNvPicPr/>
                      <p:nvPr/>
                    </p:nvPicPr>
                    <p:blipFill>
                      <a:blip r:embed="rId15"/>
                      <a:stretch>
                        <a:fillRect/>
                      </a:stretch>
                    </p:blipFill>
                    <p:spPr>
                      <a:xfrm>
                        <a:off x="366713" y="4508500"/>
                        <a:ext cx="4094162" cy="1049338"/>
                      </a:xfrm>
                      <a:prstGeom prst="rect">
                        <a:avLst/>
                      </a:prstGeom>
                      <a:noFill/>
                      <a:ln w="38100">
                        <a:noFill/>
                        <a:miter/>
                      </a:ln>
                    </p:spPr>
                  </p:pic>
                </p:oleObj>
              </mc:Fallback>
            </mc:AlternateContent>
          </a:graphicData>
        </a:graphic>
      </p:graphicFrame>
      <p:cxnSp>
        <p:nvCxnSpPr>
          <p:cNvPr id="17422" name="直接连接符 5"/>
          <p:cNvCxnSpPr/>
          <p:nvPr/>
        </p:nvCxnSpPr>
        <p:spPr>
          <a:xfrm>
            <a:off x="395288" y="2938463"/>
            <a:ext cx="8640762" cy="0"/>
          </a:xfrm>
          <a:prstGeom prst="line">
            <a:avLst/>
          </a:prstGeom>
          <a:ln w="9525" cap="flat" cmpd="sng">
            <a:solidFill>
              <a:schemeClr val="tx1"/>
            </a:solidFill>
            <a:prstDash val="solid"/>
            <a:headEnd type="none" w="med" len="med"/>
            <a:tailEnd type="none" w="med" len="med"/>
          </a:ln>
        </p:spPr>
      </p:cxnSp>
      <p:cxnSp>
        <p:nvCxnSpPr>
          <p:cNvPr id="17423" name="直接连接符 7"/>
          <p:cNvCxnSpPr/>
          <p:nvPr/>
        </p:nvCxnSpPr>
        <p:spPr>
          <a:xfrm>
            <a:off x="4859338" y="2938463"/>
            <a:ext cx="0" cy="2506662"/>
          </a:xfrm>
          <a:prstGeom prst="line">
            <a:avLst/>
          </a:prstGeom>
          <a:ln w="9525" cap="flat" cmpd="sng">
            <a:solidFill>
              <a:schemeClr val="tx1"/>
            </a:solidFill>
            <a:prstDash val="solid"/>
            <a:headEnd type="none" w="med" len="med"/>
            <a:tailEnd type="none" w="med" len="med"/>
          </a:ln>
        </p:spPr>
      </p:cxnSp>
    </p:spTree>
  </p:cSld>
  <p:clrMapOvr>
    <a:masterClrMapping/>
  </p:clrMapOvr>
  <p:transition spd="slow" advTm="2615"/>
</p:sld>
</file>

<file path=ppt/tags/tag1.xml><?xml version="1.0" encoding="utf-8"?>
<p:tagLst xmlns:p="http://schemas.openxmlformats.org/presentationml/2006/main">
  <p:tag name="commondata" val="eyJoZGlkIjoiMzI2YjcyNGM2MzE4YjNhNGNjOWExM2JhZjVlNjM4ODIifQ=="/>
</p:tagLst>
</file>

<file path=ppt/theme/theme1.xml><?xml version="1.0" encoding="utf-8"?>
<a:theme xmlns:a="http://schemas.openxmlformats.org/drawingml/2006/main" name="C6eActiveLectureQuestions">
  <a:themeElements>
    <a:clrScheme name="C6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fontScheme name="C6eActiveLectureQuestions">
      <a:majorFont>
        <a:latin typeface="Times New Roman"/>
        <a:ea typeface="MS PGothic"/>
        <a:cs typeface=""/>
      </a:majorFont>
      <a:minorFont>
        <a:latin typeface="Arial"/>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C6eActiveLectureQuestion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6eActiveLectureQuestion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6eActiveLectureQuestion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6eActiveLectureQuestion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6eActiveLectureQuestion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6eActiveLectureQuestion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6eActiveLectureQuestions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6eActiveLectureQuestion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6eActiveLectureQuestion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6eActiveLectureQuestion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6eActiveLectureQuestion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6eActiveLectureQuestion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6eActiveLectureQuestions 13">
        <a:dk1>
          <a:srgbClr val="000000"/>
        </a:dk1>
        <a:lt1>
          <a:srgbClr val="FFFFFF"/>
        </a:lt1>
        <a:dk2>
          <a:srgbClr val="005472"/>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6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3006</Words>
  <Application>WPS 演示</Application>
  <PresentationFormat>全屏显示(4:3)</PresentationFormat>
  <Paragraphs>121</Paragraphs>
  <Slides>15</Slides>
  <Notes>9</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32</vt:i4>
      </vt:variant>
      <vt:variant>
        <vt:lpstr>幻灯片标题</vt:lpstr>
      </vt:variant>
      <vt:variant>
        <vt:i4>15</vt:i4>
      </vt:variant>
    </vt:vector>
  </HeadingPairs>
  <TitlesOfParts>
    <vt:vector size="59" baseType="lpstr">
      <vt:lpstr>Arial</vt:lpstr>
      <vt:lpstr>宋体</vt:lpstr>
      <vt:lpstr>Wingdings</vt:lpstr>
      <vt:lpstr>Times New Roman</vt:lpstr>
      <vt:lpstr>MS PGothic</vt:lpstr>
      <vt:lpstr>Times</vt:lpstr>
      <vt:lpstr>Symbol</vt:lpstr>
      <vt:lpstr>Times New Roman</vt:lpstr>
      <vt:lpstr>PMingLiU</vt:lpstr>
      <vt:lpstr>微软雅黑</vt:lpstr>
      <vt:lpstr>Arial Unicode MS</vt:lpstr>
      <vt:lpstr>C6eActiveLectureQuestions</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Progressive Info. Tech.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21</dc:title>
  <dc:creator>System 104</dc:creator>
  <cp:lastModifiedBy>若风</cp:lastModifiedBy>
  <cp:revision>786</cp:revision>
  <cp:lastPrinted>2011-04-21T16:56:00Z</cp:lastPrinted>
  <dcterms:created xsi:type="dcterms:W3CDTF">2013-03-08T13:55:00Z</dcterms:created>
  <dcterms:modified xsi:type="dcterms:W3CDTF">2024-04-02T14:19:04Z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22ACB21BCC634319898A2B9C6018DF66_12</vt:lpwstr>
  </property>
</Properties>
</file>