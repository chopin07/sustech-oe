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0"/>
  </p:handoutMasterIdLst>
  <p:sldIdLst>
    <p:sldId id="307" r:id="rId3"/>
    <p:sldId id="291" r:id="rId4"/>
    <p:sldId id="295" r:id="rId5"/>
    <p:sldId id="296" r:id="rId6"/>
    <p:sldId id="297" r:id="rId7"/>
    <p:sldId id="298" r:id="rId8"/>
    <p:sldId id="285" r:id="rId9"/>
    <p:sldId id="309" r:id="rId10"/>
    <p:sldId id="276" r:id="rId11"/>
    <p:sldId id="277" r:id="rId12"/>
    <p:sldId id="278" r:id="rId13"/>
    <p:sldId id="308" r:id="rId14"/>
    <p:sldId id="302" r:id="rId15"/>
    <p:sldId id="306" r:id="rId16"/>
    <p:sldId id="303" r:id="rId17"/>
    <p:sldId id="304" r:id="rId18"/>
    <p:sldId id="305" r:id="rId19"/>
  </p:sldIdLst>
  <p:sldSz cx="9144000" cy="6858000" type="screen4x3"/>
  <p:notesSz cx="9931400" cy="68199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1704" y="-78"/>
      </p:cViewPr>
      <p:guideLst>
        <p:guide orient="horz" pos="213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gs" Target="tags/tag3.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5.wmf"/><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4304531" cy="3412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4560" y="1"/>
            <a:ext cx="4304531" cy="341213"/>
          </a:xfrm>
          <a:prstGeom prst="rect">
            <a:avLst/>
          </a:prstGeom>
        </p:spPr>
        <p:txBody>
          <a:bodyPr vert="horz" lIns="91440" tIns="45720" rIns="91440" bIns="45720" rtlCol="0"/>
          <a:lstStyle>
            <a:lvl1pPr algn="r">
              <a:defRPr sz="1200"/>
            </a:lvl1pPr>
          </a:lstStyle>
          <a:p>
            <a:fld id="{294C8D8A-6BC4-4E3F-9F7D-769A82720409}" type="datetimeFigureOut">
              <a:rPr lang="zh-CN" altLang="en-US" smtClean="0"/>
            </a:fld>
            <a:endParaRPr lang="zh-CN" altLang="en-US"/>
          </a:p>
        </p:txBody>
      </p:sp>
      <p:sp>
        <p:nvSpPr>
          <p:cNvPr id="4" name="页脚占位符 3"/>
          <p:cNvSpPr>
            <a:spLocks noGrp="1"/>
          </p:cNvSpPr>
          <p:nvPr>
            <p:ph type="ftr" sz="quarter" idx="2"/>
          </p:nvPr>
        </p:nvSpPr>
        <p:spPr>
          <a:xfrm>
            <a:off x="2" y="6477598"/>
            <a:ext cx="4304531" cy="34121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4560" y="6477598"/>
            <a:ext cx="4304531" cy="341213"/>
          </a:xfrm>
          <a:prstGeom prst="rect">
            <a:avLst/>
          </a:prstGeom>
        </p:spPr>
        <p:txBody>
          <a:bodyPr vert="horz" lIns="91440" tIns="45720" rIns="91440" bIns="45720" rtlCol="0" anchor="b"/>
          <a:lstStyle>
            <a:lvl1pPr algn="r">
              <a:defRPr sz="1200"/>
            </a:lvl1pPr>
          </a:lstStyle>
          <a:p>
            <a:fld id="{9B8148C3-FB9B-43DF-BFE6-DB082DFD403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6301.34619" units="1/cm"/>
          <inkml:channelProperty channel="Y" name="resolution" value="6301.34619" units="1/cm"/>
          <inkml:channelProperty channel="F" name="resolution" value="3999.51147" units="1/cm"/>
        </inkml:channelProperties>
      </inkml:inkSource>
      <inkml:timestamp xml:id="ts0" timeString="2023-04-10T09:07:19"/>
    </inkml:context>
    <inkml:brush xml:id="br0">
      <inkml:brushProperty name="width" value="0.06667" units="cm"/>
      <inkml:brushProperty name="height" value="0.06667" units="cm"/>
      <inkml:brushProperty name="color" value="#ed1c24"/>
      <inkml:brushProperty name="fitToCurve" value="1"/>
    </inkml:brush>
  </inkml:definitions>
  <inkml:trace contextRef="#ctx0" brushRef="#br0">415 168 157,'-8'0'219,"8"-4"0,0 4-52,0-7-41,0 7-28,0 0-26,0 0-19,-9 0-12,9 0-2,0 0 3,0 0 5,0 0 6,0 7 8,-10-7 1,10 4-6,0 1-7,0 0-6,-8 0-5,8 1-8,-9 3-4,9-4-3,-10 5-4,10 0-3,-9 1-1,9-2 1,0 2 0,-8-1 1,8 6 0,0-7 1,8 2 0,-8-2-1,0 2 3,9-1-2,1 0 1,-1 1-1,-1-7-2,11 1-2,-11 1-1,11-1-2,-2-5 0,2 0-4,-1 0 0,-9 0-1,10 0-1,-2-5-1,1-1 0,-9 1 0,10 5 0,-2-10-1,-7 5 1,-2-5-1,11 5 1,-2-11 0,-8 7 0,1-7 0,-2 1-1,1 0 0,1-5 1,-2 4 5,-8 1 5,0 1 7,0-2 10,0 0 6,-8 7 3,8-7-4,-10 6 0,1 5-4,9-6-7,-8 2-5,-11 3-5,11 1-2,-1 0-5,-1 0-2,-7 5-4,7-5 2,1 5-3,-9 0-1,9 0 0,-10 0-1,11 0-2,-1 0 0,1 5 1,-2-5 1,1 5 1,0 0-1,-1 0-1,2-5-7,8 6-14,-9 3-16,9-3-25,-10-1-29,10 0-44,-8 1-59,8-2-93,0 1-61,0 0-19,0-5 7,0 0 34</inkml:trace>
  <inkml:trace contextRef="#ctx0" brushRef="#br0">606 0 55,'0'0'197,"0"-4"16,0 4-39,0 0-46,0 0-33,0 0-20,0 0-16,0 0-12,-10 0-9,10 0-6,0 0-2,0 0 0,0 0 1,-9 4 5,9-4 4,0 5-2,-8-5 5,8 6 5,0 3 4,-10-4 2,1 6 2,9 4 4,-9 0-1,9 0-5,-10 6 1,2-1 0,-1 6 0,1-1-3,-2-5 0,1 10 0,0-4 1,-1-1-2,2 1-1,-1-1 2,-1 5-3,2-4-3,-1-1-4,0 1-5,9-1-4,-10-5-3,2 1-4,8-1-6,0-5-5,-9 1-1,9-2-5,-10-8-2,10 4-4,0-5-15,0 0-35,0-5-71,0 0-161,0-10-109,0 0-54,0-1-17,0 2 18,10-2 62</inkml:trace>
  <inkml:trace contextRef="#ctx0" brushRef="#br0">73 0 17,'0'0'44,"0"0"-2,0 0 1,0 0 4,0 0 6,0 0 7,0 0 11,0 5 5,0-5 7,0 0-3,0 0-6,0 0-8,0 0-13,0 0-12,0 0-14,0 0-8,0 0-9,0 0-4,0 0-3,0 0-3,0 0 1,0 0 1,0 0 5,0 6 4,0-6-1,0 0 3,0 5 1,0-5-1,0 4 1,0-4 8,0 5 11,0 2 6,0-3 4,0 1 0,9 5 2,-9-4-8,0-1-10,0 4-5,0-4 4,9 5 0,-9-5 0,0 6 0,0-1 8,10-5 4,-10 6-1,0-2-4,0 2-1,0-2-1,0-2-7,8 2-5,-8 1-4,0-4 2,0 3 1,0 1 0,0-5-4,0 5 0,0-4 0,0 4-2,0-6-4,0 7-2,0-6 3,0 5-1,-8-5 1,8 5 0,0-5 5,0 6-4,-10-2 3,10-3 1,0 4 4,0-5 1,-9 5-3,9 1 3,0-7-4,0 1-4,0 1-4,0-1-2,0-1-5,-9 2 2,9-1 2,0 0-3,0 0 3,0 0 1,-8 0 1,8 0 0,0 1 1,0-2 0,-10 1 0,10 1 5,0-1 1,-9-1 2,9 0 2,0 3 3,0-7 0,-8 5-2,8-5 1,0 5 1,0-5 1,0 0 0,-10 5 0,10-5 0,0 0-1,0 0-2,-9 5-1,9-5-3,0 0-3,0 5-1,-9-5-2,9 0 0,0 6 1,-10-6 2,10 0 3,0 0 7,0 0 0,0 0 2,0 0-1,0 0-2,0 0-5,0 0-8,0 0-14,10-6-25,-10 1-51,0 0-99,9 0-150,-9-5-76,9 3-32,-9-1 0,10-3 37</inkml:trace>
  <inkml:trace contextRef="#ctx0" brushRef="#br0">813 503 17,'-10'0'106,"10"0"-18,0 4-21,-8-4-16,8 0-11,0 0-8,0 0 1,0 0 2,0 0 7,0 0 11,0 0 9,0 0 7,0 0 1,0 0-4,-9 0-3,9 0-6,0 0-8,0 0-7,0 0-6,-10 0-4,10 0-8,0 0-8,0 0-4,0 0-5,0 0-4,0 0 1,0 0 1,0 0 1,0 0 3,0 0 7,0 0 8,0 0 2,0-4 1,0 4 0,0 0-3,0 0-5,0 0 0,0-5-2,0 5 3,0 0 1,0 0 3,0 0-2,0 0-5,0 0-3,0 0-3,0 0-5,0 0-3,0 0-3,0 0 0,0 0 0,10 0 5,-10 0 6,0 0 7,0 0 7,9 0 1,-9 0 5,0 0-3,0 5-4,0-5-4,8 0-5,-8 0-3,0 4-4,0-4-4,10 5 1,-10-5 1,0 6 1,0-1 0,0 0 0,0-5 4,0 5-3,0 0 0,0 0 0,0 1 7,0-2 4,0 1 1,0 0 2,-10 1 0,10-2-2,0 2-5,-8-1-2,8 0-5,0 0 0,0-5-1,-9 5-1,9 0-2,0-5-1,0 5 1,-10-5-1,10 5-1,-9 0 1,9-5-1,0 5 3,-8-1-1,8 3 1,0-7-2,-10 4 1,10 1-1,0-5-1,0 0 0,0 0 5,0 0 5,0 0 5,0 0 8,0 0 2,0 0 3,0 0-3,0 0-5,0 0-6,0 0-9,0 0-1,0-5-3,0 5 0,0 0-2,0-4 6,0 4-2,0-7-3,0 3 0,10-1 0,-10 0 0,0 0-7,8 0 4,-8 0 1,9 0 0,-9 0-2,10 0 2,-10 0 1,9-1-2,-9 2 1,0-2 0,8 6 1,-8-5-1,10 0-1,-10 1 2,0-2-1,9 6 1,-9-5 1,8 0 0,-8 0 0,0 5-1,9-5 0,-9 0-1,0-1 0,10 1 0,-10 5 0,0-4 0,0 4 0,0-5 0,0 5-1,0-6 1,0 6 2,0-5 0,0 5-1,0-4 1,0 4-1,0 0 0,0-6-3,0 6 2,0-5 1,0 5-2,0-5 0,0 5 1,0 0-1,0-5-3,0 5 2,0 0 0,0 0 2,0 0 1,0 0 1,0 0-2,0 0 0,0 0 1,0 0-2,0 0-2,0 0 0,0 0 2,0 5-1,0-5 0,0 5 0,0-5-5,-10 5-11,10-5-21,0 6-47,-9-6-109,9 4-119,-8 1-57,-1-5-22,-1 6 2,2-1 37</inkml:trace>
  <inkml:trace contextRef="#ctx0" brushRef="#br0">1516 695 77,'0'0'245,"0"0"33,0-5-13,0 5-38,0 0-39,0 0-32,0-5-31,0 5-29,8-5-24,-8 5-19,0-5-12,0 0-5,0-1-2,11 6-1,-11-4 1,0-1-1,0 5 0,0-5-3,-11 5-5,11-6-4,0 6-5,-8 0-3,-1-5-4,9 5-4,-10 0-1,2 0-2,-1 0 1,1 0-1,-2 5-2,1-5 0,-10 6-1,11-1-1,-1 0 0,-1-1 2,2 2 4,-10 4 2,8 0 2,2 1 0,-1-1 4,9 0-2,-10-1 3,10 2 0,0-1 0,0 5 0,0-9 0,0 3-1,10 2-4,-10-7-1,9 2-2,-1-1 0,11-5-3,-10 0 2,9 0-1,-1-5-3,2 5-3,0-6-13,-2 2-15,1-1-25,-1-6-35,-6 7-48,-3-8-77,1 8-100,1-6-43,-2-1-9,1 2 18,-1 4 41</inkml:trace>
  <inkml:trace contextRef="#ctx0" brushRef="#br0">1715 437 160,'0'-5'230,"-10"5"16,10 0-56,0 0-56,0 0-32,0 0-20,-9 5-8,9 3 3,-8-1 7,8 3 7,-10 5 1,1 0 7,0 5 4,1 1-4,-2-1-7,1 0-9,1 6-7,-11-1-11,10-5-11,-9 6-9,9-1-12,1-5-8,-11 0-8,11 1-4,-3-1-7,11-4-5,-8-1-14,8-5-22,0 0-36,0 1-61,0-6-120,0-5-99,0 0-43,0 0-8,8 0 22,3 0 51</inkml:trace>
  <inkml:trace contextRef="#ctx0" brushRef="#br0">1832 650 12,'0'0'249,"0"-6"25,0 1 17,0 5-62,0 0-72,0 0-47,0 0-32,-10 0-18,10 5-10,-8 1-6,8 4 3,-9 0 5,-1 0 7,10 5 2,-9-4 0,9 4-1,-8-1-8,8 2-9,0-1-6,0 0-6,0-4-5,8 4-2,1-5-3,-9 0 0,10 1-5,7-6 0,-7-1-2,-1 2-1,8-1-2,2-5-2,-1 0-2,-1 0-2,2-5-1,-10-1-2,9 2-1,-1-1-1,2-6 1,-11 1-1,2 0 0,-1-1 0,0 2 1,-9-6-2,0-1 1,0 1-1,0 0 1,0 0 0,0-1 0,0 1 0,-9 5 0,9-5 2,-9 4-1,-1 6 0,2 1 1,-11-3-2,11 3-1,-9 4 0,7 0 0,-8 4 0,8-4-1,2 7 0,-1-3-1,-1 1-6,2 1-16,-1-1-25,9 0-42,-10-1-64,10 2-123,-9-6-72,9 0-25,0 0 4,0 0 29</inkml:trace>
  <inkml:trace contextRef="#ctx0" brushRef="#br0">2093 452 33,'0'5'213,"-9"0"23,0 5-23,-1 1-47,2-2-33,8 11-23,-9-4-17,1 5 0,-2-1 3,1 5 9,0 0 3,-9 0 8,9 1 2,-1 5-6,-7-6-11,-1 5-6,9 1-10,-10-6-13,2 6-12,7-7-13,2 1-9,-1 2-13,-10-2-8,19-5-5,-8 0-4,-1-5-3,9 1-1,-10-1-2,10-5 1,0-5-3,0 6-1,0-11-6,0 5-11,0-5-18,0 4-34,-8-4-51,8-4-82,0 4-131,-9-5-59,9 0-20,0-1 13,-10 6 41</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6301.34619" units="1/cm"/>
          <inkml:channelProperty channel="Y" name="resolution" value="6301.34619" units="1/cm"/>
          <inkml:channelProperty channel="F" name="resolution" value="3999.51147" units="1/cm"/>
        </inkml:channelProperties>
      </inkml:inkSource>
      <inkml:timestamp xml:id="ts0" timeString="2023-04-10T09:07:49"/>
    </inkml:context>
    <inkml:brush xml:id="br0">
      <inkml:brushProperty name="width" value="0.06667" units="cm"/>
      <inkml:brushProperty name="height" value="0.06667" units="cm"/>
      <inkml:brushProperty name="color" value="#ed1c24"/>
      <inkml:brushProperty name="fitToCurve" value="1"/>
    </inkml:brush>
  </inkml:definitions>
  <inkml:trace contextRef="#ctx0" brushRef="#br0">4528-192 221,'0'-6'254,"0"6"9,0 0-50,0 0-39,0 0-28,0 0-21,0 0-21,0 0-15,0 0-16,0 0-13,0 0-11,0 6-6,0-6-6,-10 5 2,2 0 3,-1 5-1,-1 0 2,-7 5 1,-2-5 3,2 6-8,-10-1-5,0 0-5,8 6-5,2-12-6,-10 6-5,8 1-4,11-6-3,-11 0-4,10 0-11,1-5-22,-2 1-40,10-6-62,0 0-98,0 0-105,0-6-43,10-3-10,-2-2 24,1 0 55</inkml:trace>
  <inkml:trace contextRef="#ctx0" brushRef="#br0">4447-121 19,'8'0'317,"2"0"40,-10-6 19,9 6-19,-9 0-114,0 0-79,0 6-56,0-1-37,0-1-18,0 2-15,0 9-13,0-5-11,-9 5-14,9 1-27,0-1-61,0 0-117,0 1-107,0-1-57,0-6-23,9 3 9,-9 2 51</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6301.34619" units="1/cm"/>
          <inkml:channelProperty channel="Y" name="resolution" value="6301.34619" units="1/cm"/>
          <inkml:channelProperty channel="F" name="resolution" value="3999.51147" units="1/cm"/>
        </inkml:channelProperties>
      </inkml:inkSource>
      <inkml:timestamp xml:id="ts0" timeString="2023-04-10T09:07:58"/>
    </inkml:context>
    <inkml:brush xml:id="br0">
      <inkml:brushProperty name="width" value="0.06667" units="cm"/>
      <inkml:brushProperty name="height" value="0.06667" units="cm"/>
      <inkml:brushProperty name="color" value="#ed1c24"/>
      <inkml:brushProperty name="fitToCurve" value="1"/>
    </inkml:brush>
  </inkml:definitions>
  <inkml:trace contextRef="#ctx0" brushRef="#br0">135 3 70,'-9'0'247,"9"-4"25,0 4 7,-10 0-67,10 0-60,0 0-40,0 0-21,0 0-20,0 0-16,0 0-9,0 0 1,0 0 1,0 0 5,-9 4 6,9-4 7,0 6-2,0-1 6,0-1 2,-8 7 1,-1 5-3,9-1-3,-10 5-2,2 1-7,-1 3-8,9 3-6,-10 2-9,1-2-1,1-3-6,-2 1-6,10 2-3,-9-8-3,9 1-3,-8-5-3,8 1-2,0-1-1,-9-5-1,9 0-2,0-4 0,0-1 3,0-5 3,0 4 1,0-8 3,0 4 1,9-5 1,-9-1-5,8-4-2,-8 0-3,9 0-4,-9 0-2,10-6-1,-10 6 1,8-4-1,1-2 2,-9 1 0,10 4 0,-1-4-1,-1 0-1,2 5 1,-10 0-1,9 1 1,-1-2 0,-8 6 1,9-1 1,1 6-1,-1-5-2,-1 5 0,2-4-4,-1 4 1,-1 0 1,11 0 1,-11 0 0,11 0 0,-10 0 1,-1 0 0,11 0 0,-11 4-1,2 1-8,-10 6-16,9-7-34,-9 7-59,0-1-95,0 0-152,0-5-72,0 5-27,-9-5 12,9 6 47</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traceFormat>
        <inkml:channelProperties>
          <inkml:channelProperty channel="X" name="resolution" value="6301.34619" units="1/cm"/>
          <inkml:channelProperty channel="Y" name="resolution" value="6301.34619" units="1/cm"/>
          <inkml:channelProperty channel="F" name="resolution" value="3999.51147" units="1/cm"/>
        </inkml:channelProperties>
      </inkml:inkSource>
      <inkml:timestamp xml:id="ts0" timeString="2023-04-10T09:07:49"/>
    </inkml:context>
    <inkml:brush xml:id="br0">
      <inkml:brushProperty name="width" value="0.06667" units="cm"/>
      <inkml:brushProperty name="height" value="0.06667" units="cm"/>
      <inkml:brushProperty name="color" value="#ed1c24"/>
      <inkml:brushProperty name="fitToCurve" value="1"/>
    </inkml:brush>
  </inkml:definitions>
  <inkml:trace contextRef="#ctx0" brushRef="#br0">3753 913 140,'0'0'188,"0"0"-16,-10 0-56,10 0-45,0 0-21,0 6-3,0-1-1,0-5 6,-9 4 4,9 7 10,-9-6 2,9 0-1,-8 5-1,-2-5 0,1 5-3,9 0-5,-8 0-6,-2 1-5,1 4-5,1-5-2,-2 0-5,1 6-3,0-1 3,1-5 3,-2 5 4,1-5 1,1 6 2,-2-2 0,1-3-3,0 4-5,-1-5-3,2 5-3,-1-5-1,1 0 1,8 0-2,-10-4 4,10 5 0,-9-7 4,9 1 4,0 0 5,-9-5 5,9 5-1,0-5-2,0 6-4,-10-6-8,10 0-9,0 0-7,0 4-4,0-4-5,0 0-4,0 0-1,0 0-2,0 0-1,10 0-4,-10-4-22,9 4-56,10-6-99,-11-4-156,9 1-85,-7-8-41,8 2-1,-8 0 41</inkml:trace>
  <inkml:trace contextRef="#ctx0" brushRef="#br0">3770 892 169,'0'0'206,"0"0"-19,0 0-41,0-4-37,0 4-21,0-5-13,0 5-6,0-5-6,0 5-3,0 0 0,0 0 1,0 0 0,0 0-1,0 0-3,0 0-1,0 0 1,0 0-1,0 0-2,0 0-1,0 0-4,0 0-5,0 0-8,0 0-8,0 0-7,0 0-7,0 0-5,10 0-1,-10 5-1,0 0 2,0-5 1,0 4 3,0 2 3,8 0 6,-8-2 7,9 1 3,1-5 2,-1 6 2,-1-1 0,11-1-3,-11 1-8,11 1-3,-10 4-3,9-5-4,-9 0-3,8 6-2,2-7-1,-11 1-1,2 0-1,7 1-1,-7-2 1,-1 1-1,0 1-1,-9-1 1,10 0 1,-10-5 0,8 5-2,-8-5 1,0 6 0,0-6-4,9 0 0,-9 4 0,0-4-2,0 0 0,8 0-1,-8 0-1,0 5-10,0-5-27,0 0-57,10 0-100,-10 0-132,-10-5-69,10 1-27,-8-2 10,8-4 44</inkml:trace>
  <inkml:trace contextRef="#ctx0" brushRef="#br0">3950 1334 61,'-8'5'247,"8"-5"17,-9 0 2,9 0-76,0 0-68,0 0-43,0 6-27,-10-6-14,10 0-12,0 0-7,0 0-2,0 0 9,0 0 15,0 4 7,0-4 6,-9 0 6,1 0 5,8 0-5,-9 0-10,-1-4-1,2 4 3,8 0 1,-9 0-4,9 0 0,-10-6 0,10 6-4,0-5-6,0 5-8,0-5-7,10 1-7,-10-2-5,9 1-2,-9 0-4,8 5-1,2-5-1,-1 0 0,-9 5 1,8-5-4,-8 5 1,9 5 2,-9 0-1,10-5 2,-10 5-2,0 5 2,0-4 1,0 3 3,0-4 2,-10 5 0,1-5 0,9 1 2,-8 0 2,-1-2 2,-1-4 3,2 0 3,-1 0 3,9-4 4,-10-2 1,1 0 0,9 1 0,0-5-2,-8 5-2,8 0-5,8-5-2,-8 5-5,0 0-12,9-5-1,1 5-1,-1 5 0,-9-4-1,8 4 0,2 0 8,-1 0-2,-1 4-1,1 1 8,-9 0-6,10 5-4,-10 1-2,0-2 0,0 2 0,-10-2-11,1-3 10,1 4 7,8 0 10,-9-5 10,-1-5 8,2 6 11,-1-6 7,9-6 4,-10 1-3,1 5-6,9-10-5,0 0-10,0 4-13,0-3-11,0-2-9,9 2-14,1-2-29,-1 6-56,-1-5-97,-8 1-192,10 2-98,-10-2-44,0 3-2,-10 1 40,10 5 91</inkml:trace>
  <inkml:trace contextRef="#ctx0" brushRef="#br0">3960 974 42,'0'0'189,"-10"0"-1,10-4-26,-8 4-38,8 0-34,0 0-24,-9 0-17,9-6-12,0 6-11,0-5-5,0 5-6,0-5 1,0 5 2,0-5 3,0 0 2,0 5 3,-10-5 1,10-1 0,-9 6-2,1-5-4,8 1-1,0-1-2,-9 5-2,-1-6-5,10 1-2,-8 5-2,-1-4-2,-1-2 0,1 6-1,1 0-2,-2-6 0,-7 6 1,8 0-2,-1 6-1,1-6-1,1 0 1,-2 0 1,1 0 4,1 0 4,8 0 5,-10 0 3,10 0 3,-9 0 3,9 0-4,0 0-4,-9 0-6,9 0-4,0 0-2,0 0-3,-8 0 1,8 0-4,0 6 4,0-6 1,0 0 0,0 0 1,0 0-1,0 0 5,0 0-4,0 0 2,0 0-1,0 0-2,0 0 0,0 0 1,0 0-1,0 0 0,0 0-2,0 0 2,0 0 0,0 0-1,0 0-1,0 0 0,-10 0 1,10 0 0,0 0 0,0 4 1,0-4 0,0 0 4,0 0 3,0 0 1,0 0 8,0 0 3,0 0 3,0 0 0,0 0-3,0 5 10,0-5 10,0 6 6,0 3 8,-9 2 9,9-1 4,0 0 0,-8 5-13,8-5-2,0 5-7,0 1-6,-10-1-3,10 0-12,0 1 0,0-2-1,0 2-3,-9-1-2,9 1-1,0-2 7,0-3-6,0 0-5,-8 3 3,8-3-3,0-7-1,0 6-6,0-5 0,-10 0 0,10 5-3,0-4 0,0-1-1,0 1 4,0-6-3,0 4 1,0-4-3,0 5-2,-9-5 0,9 0-1,0 5 2,0-5-1,0 5 2,0-5 1,0 0 3,0 6-2,0-6 0,0 0-2,0 0 1,0 0-2,0 0 2,0 0-9,0 0 6,0 0 1,0 0 4,0 0 1,0 0-1,0 0 10,0 0-6,0-6-1,9 6-1,-9-5-4,10 0-2,-10-4-1,0 3-1,8-5 1,-8 1-3,9-4 1,1 4-3,-10-6-2,8 0-1,1-4-6,-9 5-2,10-1 0,-10 1 1,0 1 2,8-1 3,-8 4 3,0 1 4,0 1 0,0 3 3,0 1 1,0 0 0,0 0-2,0 5 1,0-6-1,0 6-2,0 0 1,0 6 1,0-6 1,0 5 2,0 5 1,-8 0 3,8 5-1,-10 1 3,10 4 1,-9-1 3,1 3 1,8-2 2,-10 5 0,10-5-2,-9 0-2,9 1-2,0-1-2,-8-5-1,8-4 0,0-2-1,0 2 2,0-6 0,0 0 0,0 0 2,0-5 0,0 0 1,0 0-3,0-5-1,0 0-1,0-4-3,0-2-1,8-5-1,-8 1 0,0 1 1,0-7-1,0 1 0,0-1 1,9 7-1,-9-2-1,0 1 0,0 4 1,0 1 0,0 4-3,0 2 1,0 4 0,-9 0 0,9 0 2,0 4-2,-8 2 2,8 4 0,0 1 2,-10-2 0,10 6-1,-9-4 2,9 4 0,0-5 2,0 5-1,0-4-1,0-1-1,0-5-1,0 5-10,0-5-36,0 5-77,0-4-167,0-6-111,0 0-58,0 0-21,0-11 18,0 6 67</inkml:trace>
  <inkml:trace contextRef="#ctx0" brushRef="#br0">4726 229 211,'-9'0'329,"1"5"20,8 0 15,-10-1-110,1 2-99,0 4-56,1 5-31,-2 0-17,1 1-11,1 4-8,-2 0-4,-8 6 3,8-1 3,-7-4 7,7 3 1,2-3 3,-1 4 1,1-5-4,-2 1-3,10-6-6,0 0 0,0 6-3,10-11-2,-10 5-2,8-5-4,9 4-2,2-3-4,-1 0-3,0-1-4,0-6-4,1 2-4,-2-6-9,2 5-22,-2-5-43,1-5-65,-9-1-105,1 2-118,-1-6-54,-1-5-12,-8 4 23,0-4 56</inkml:trace>
  <inkml:trace contextRef="#ctx0" brushRef="#br0">4673 445 270,'-10'-4'345,"10"0"31,0-1 5,0-1-115,10 1-80,-2 1-53,1 4-41,0-6-29,9 6-21,1 0-18,-2 0-22,2 6-47,-2-6-69,1 0-133,1 0-92,-10-6-46,9 6-14,-9-5 25</inkml:trace>
  <inkml:trace contextRef="#ctx0" brushRef="#br0">4717 178 189,'0'0'333,"0"5"29,0-5 27,9 6-93,-9-6-89,18 4-56,-9 1-31,1 0-25,7 0-25,10 0-19,-8 0-19,8 0-16,-10 1-18,11-1-36,-10 0-63,-9-5-118,-1 4-114,2-4-59,-10 0-21,-10 0 13,2 0 52</inkml:trace>
  <inkml:trace contextRef="#ctx0" brushRef="#br0">4816-26 62,'0'0'260,"0"-4"26,0 4 20,10 0-73,-10 4-70,9-4-43,-1 6-22,11-1-17,-2 6-16,2-7-14,-1 7-11,9-2-6,-9-4-5,9 2-4,0-3-3,0 1-1,-10 0 3,2-5 9,-1 0 15,0 0 18,-8 0 19,-10 0 10,8-5 3,-8 5-8,0-5-18,-8-6-20,-2 6-21,1-4-24,0 3-49,-9-3-102,9-2-171,-18-4-92,8-1-48,-8 1-16,0-5 27</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286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76200"/>
            <a:ext cx="2152650" cy="38687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28600" y="76200"/>
            <a:ext cx="6305550" cy="38687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76200"/>
            <a:ext cx="85344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0"/>
            <a:r>
              <a:rPr lang="en-US" altLang="zh-CN"/>
              <a:t>Click to edit Master title style</a:t>
            </a:r>
            <a:endParaRPr lang="en-US" altLang="zh-CN"/>
          </a:p>
        </p:txBody>
      </p:sp>
      <p:sp>
        <p:nvSpPr>
          <p:cNvPr id="1027" name="Text Box 4"/>
          <p:cNvSpPr txBox="1">
            <a:spLocks noChangeArrowheads="1"/>
          </p:cNvSpPr>
          <p:nvPr/>
        </p:nvSpPr>
        <p:spPr bwMode="auto">
          <a:xfrm>
            <a:off x="0" y="6613525"/>
            <a:ext cx="9144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 typeface="Arial" panose="020B0604020202020204" pitchFamily="34" charset="0"/>
              <a:buNone/>
              <a:defRPr/>
            </a:pPr>
            <a:r>
              <a:rPr lang="en-US" sz="1000" dirty="0">
                <a:solidFill>
                  <a:srgbClr val="000000"/>
                </a:solidFill>
                <a:latin typeface="Times New Roman" panose="02020603050405020304" pitchFamily="18" charset="0"/>
              </a:rPr>
              <a:t>   General Physics II, SUSTC                                                                                                                                                                                                                </a:t>
            </a:r>
            <a:r>
              <a:rPr lang="en-US" sz="1000" dirty="0" err="1">
                <a:solidFill>
                  <a:srgbClr val="000000"/>
                </a:solidFill>
                <a:latin typeface="Times New Roman" panose="02020603050405020304" pitchFamily="18" charset="0"/>
              </a:rPr>
              <a:t>Ch</a:t>
            </a:r>
            <a:r>
              <a:rPr lang="en-US" sz="1000" dirty="0">
                <a:solidFill>
                  <a:srgbClr val="000000"/>
                </a:solidFill>
                <a:latin typeface="Times New Roman" panose="02020603050405020304" pitchFamily="18" charset="0"/>
              </a:rPr>
              <a:t> 30  -  </a:t>
            </a:r>
            <a:fld id="{908CDD56-8787-430F-81DA-DC1F25DDC2DC}" type="slidenum">
              <a:rPr lang="en-US" sz="1000" dirty="0" smtClean="0">
                <a:solidFill>
                  <a:srgbClr val="000000"/>
                </a:solidFill>
                <a:latin typeface="Times New Roman" panose="02020603050405020304" pitchFamily="18" charset="0"/>
              </a:rPr>
            </a:fld>
            <a:endParaRPr lang="en-US" sz="1000" dirty="0">
              <a:solidFill>
                <a:srgbClr val="000000"/>
              </a:solidFill>
              <a:latin typeface="Times New Roman" panose="02020603050405020304" pitchFamily="18" charset="0"/>
            </a:endParaRPr>
          </a:p>
        </p:txBody>
      </p:sp>
      <p:sp>
        <p:nvSpPr>
          <p:cNvPr id="1028" name="Line 5"/>
          <p:cNvSpPr>
            <a:spLocks noChangeShapeType="1"/>
          </p:cNvSpPr>
          <p:nvPr/>
        </p:nvSpPr>
        <p:spPr bwMode="auto">
          <a:xfrm>
            <a:off x="179388" y="6597650"/>
            <a:ext cx="8785225" cy="0"/>
          </a:xfrm>
          <a:prstGeom prst="line">
            <a:avLst/>
          </a:prstGeom>
          <a:noFill/>
          <a:ln w="25400">
            <a:solidFill>
              <a:srgbClr val="00487A"/>
            </a:solidFill>
            <a:rou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buFont typeface="Arial" panose="020B0604020202020204" pitchFamily="34" charset="0"/>
              <a:buNone/>
            </a:pPr>
            <a:endParaRPr lang="zh-CN" altLang="en-US" sz="2400">
              <a:solidFill>
                <a:srgbClr val="000000"/>
              </a:solidFill>
              <a:ea typeface="宋体" panose="02010600030101010101" pitchFamily="2" charset="-122"/>
            </a:endParaRPr>
          </a:p>
        </p:txBody>
      </p:sp>
      <p:sp>
        <p:nvSpPr>
          <p:cNvPr id="1029" name="Line 6"/>
          <p:cNvSpPr>
            <a:spLocks noChangeShapeType="1"/>
          </p:cNvSpPr>
          <p:nvPr/>
        </p:nvSpPr>
        <p:spPr bwMode="auto">
          <a:xfrm>
            <a:off x="179388" y="620713"/>
            <a:ext cx="8785225" cy="0"/>
          </a:xfrm>
          <a:prstGeom prst="line">
            <a:avLst/>
          </a:prstGeom>
          <a:noFill/>
          <a:ln w="50800">
            <a:solidFill>
              <a:srgbClr val="00487A"/>
            </a:solidFill>
            <a:rou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buFont typeface="Arial" panose="020B0604020202020204" pitchFamily="34" charset="0"/>
              <a:buNone/>
            </a:pPr>
            <a:endParaRPr lang="zh-CN" altLang="en-US" sz="2400">
              <a:solidFill>
                <a:srgbClr val="000000"/>
              </a:solidFill>
              <a:ea typeface="宋体" panose="02010600030101010101" pitchFamily="2" charset="-122"/>
            </a:endParaRPr>
          </a:p>
        </p:txBody>
      </p:sp>
      <p:sp>
        <p:nvSpPr>
          <p:cNvPr id="1030" name="Rectangle 9"/>
          <p:cNvSpPr>
            <a:spLocks noGrp="1" noChangeArrowheads="1"/>
          </p:cNvSpPr>
          <p:nvPr>
            <p:ph type="body" idx="1"/>
          </p:nvPr>
        </p:nvSpPr>
        <p:spPr bwMode="auto">
          <a:xfrm>
            <a:off x="228600" y="685800"/>
            <a:ext cx="8610600" cy="325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1"/>
            <a:r>
              <a:rPr lang="en-US" altLang="zh-CN"/>
              <a:t>Click to edit Master text styles</a:t>
            </a:r>
            <a:endParaRPr lang="en-US" altLang="zh-CN"/>
          </a:p>
          <a:p>
            <a:pPr lvl="2"/>
            <a:r>
              <a:rPr lang="en-US" altLang="zh-CN"/>
              <a:t>Second level</a:t>
            </a:r>
            <a:endParaRPr lang="en-US" altLang="zh-CN"/>
          </a:p>
          <a:p>
            <a:pPr lvl="3"/>
            <a:r>
              <a:rPr lang="en-US" altLang="zh-CN"/>
              <a:t>Third level</a:t>
            </a:r>
            <a:endParaRPr lang="en-US" altLang="zh-CN"/>
          </a:p>
          <a:p>
            <a:pPr lvl="4"/>
            <a:r>
              <a:rPr lang="en-US" altLang="zh-CN"/>
              <a:t>Fourth level</a:t>
            </a:r>
            <a:endParaRPr lang="en-US" altLang="zh-CN"/>
          </a:p>
          <a:p>
            <a:pPr lvl="4"/>
            <a:r>
              <a:rPr lang="en-US" altLang="zh-CN"/>
              <a:t>Fifth level</a:t>
            </a: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450850" indent="-450850" algn="l" rtl="0" eaLnBrk="0" fontAlgn="base" hangingPunct="0">
        <a:lnSpc>
          <a:spcPct val="90000"/>
        </a:lnSpc>
        <a:spcBef>
          <a:spcPct val="0"/>
        </a:spcBef>
        <a:spcAft>
          <a:spcPct val="0"/>
        </a:spcAft>
        <a:defRPr sz="3000" b="1">
          <a:solidFill>
            <a:srgbClr val="D33325"/>
          </a:solidFill>
          <a:latin typeface="+mj-lt"/>
          <a:ea typeface="MS PGothic" panose="020B0600070205080204" pitchFamily="34" charset="-128"/>
          <a:cs typeface="+mj-cs"/>
        </a:defRPr>
      </a:lvl1pPr>
      <a:lvl2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p:titleStyle>
    <p:body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S PGothic" panose="020B0600070205080204" pitchFamily="34" charset="-128"/>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S PGothic" panose="020B0600070205080204" pitchFamily="34" charset="-128"/>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S PGothic" panose="020B0600070205080204" pitchFamily="34" charset="-128"/>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S PGothic" panose="020B0600070205080204" pitchFamily="34" charset="-128"/>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S PGothic" panose="020B0600070205080204" pitchFamily="34" charset="-128"/>
        </a:defRPr>
      </a:lvl5pPr>
      <a:lvl6pPr marL="27432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6pPr>
      <a:lvl7pPr marL="32004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7pPr>
      <a:lvl8pPr marL="36576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8pPr>
      <a:lvl9pPr marL="41148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3" Type="http://schemas.openxmlformats.org/officeDocument/2006/relationships/vmlDrawing" Target="../drawings/vmlDrawing1.vml"/><Relationship Id="rId12" Type="http://schemas.openxmlformats.org/officeDocument/2006/relationships/slideLayout" Target="../slideLayouts/slideLayout7.xml"/><Relationship Id="rId11" Type="http://schemas.openxmlformats.org/officeDocument/2006/relationships/image" Target="../media/image7.jpeg"/><Relationship Id="rId10" Type="http://schemas.openxmlformats.org/officeDocument/2006/relationships/image" Target="../media/image6.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image" Target="../media/image12.wmf"/><Relationship Id="rId5" Type="http://schemas.openxmlformats.org/officeDocument/2006/relationships/oleObject" Target="../embeddings/oleObject9.bin"/><Relationship Id="rId4" Type="http://schemas.openxmlformats.org/officeDocument/2006/relationships/image" Target="../media/image11.wmf"/><Relationship Id="rId3" Type="http://schemas.openxmlformats.org/officeDocument/2006/relationships/oleObject" Target="../embeddings/oleObject8.bin"/><Relationship Id="rId2" Type="http://schemas.openxmlformats.org/officeDocument/2006/relationships/image" Target="../media/image10.wmf"/><Relationship Id="rId1"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4.wmf"/><Relationship Id="rId3" Type="http://schemas.openxmlformats.org/officeDocument/2006/relationships/oleObject" Target="../embeddings/oleObject11.bin"/><Relationship Id="rId2" Type="http://schemas.openxmlformats.org/officeDocument/2006/relationships/image" Target="../media/image13.wmf"/><Relationship Id="rId1"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wmf"/><Relationship Id="rId3" Type="http://schemas.openxmlformats.org/officeDocument/2006/relationships/oleObject" Target="../embeddings/oleObject13.bin"/><Relationship Id="rId2" Type="http://schemas.openxmlformats.org/officeDocument/2006/relationships/image" Target="../media/image15.wmf"/><Relationship Id="rId1"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16.bin"/><Relationship Id="rId4" Type="http://schemas.openxmlformats.org/officeDocument/2006/relationships/image" Target="../media/image32.wmf"/><Relationship Id="rId3" Type="http://schemas.openxmlformats.org/officeDocument/2006/relationships/oleObject" Target="../embeddings/oleObject15.bin"/><Relationship Id="rId2" Type="http://schemas.openxmlformats.org/officeDocument/2006/relationships/image" Target="../media/image31.wmf"/><Relationship Id="rId1"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9" Type="http://schemas.openxmlformats.org/officeDocument/2006/relationships/image" Target="../media/image38.wmf"/><Relationship Id="rId8" Type="http://schemas.openxmlformats.org/officeDocument/2006/relationships/oleObject" Target="../embeddings/oleObject20.bin"/><Relationship Id="rId7" Type="http://schemas.openxmlformats.org/officeDocument/2006/relationships/image" Target="../media/image37.wmf"/><Relationship Id="rId6" Type="http://schemas.openxmlformats.org/officeDocument/2006/relationships/oleObject" Target="../embeddings/oleObject19.bin"/><Relationship Id="rId5" Type="http://schemas.openxmlformats.org/officeDocument/2006/relationships/image" Target="../media/image36.jpeg"/><Relationship Id="rId4" Type="http://schemas.openxmlformats.org/officeDocument/2006/relationships/image" Target="../media/image35.wmf"/><Relationship Id="rId3" Type="http://schemas.openxmlformats.org/officeDocument/2006/relationships/oleObject" Target="../embeddings/oleObject18.bin"/><Relationship Id="rId2" Type="http://schemas.openxmlformats.org/officeDocument/2006/relationships/image" Target="../media/image34.wmf"/><Relationship Id="rId11" Type="http://schemas.openxmlformats.org/officeDocument/2006/relationships/vmlDrawing" Target="../drawings/vmlDrawing7.vml"/><Relationship Id="rId10" Type="http://schemas.openxmlformats.org/officeDocument/2006/relationships/slideLayout" Target="../slideLayouts/slideLayout7.xml"/><Relationship Id="rId1" Type="http://schemas.openxmlformats.org/officeDocument/2006/relationships/oleObject" Target="../embeddings/oleObject17.bin"/></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14.xml.rels><?xml version="1.0" encoding="UTF-8" standalone="yes"?>
<Relationships xmlns="http://schemas.openxmlformats.org/package/2006/relationships"><Relationship Id="rId9" Type="http://schemas.openxmlformats.org/officeDocument/2006/relationships/image" Target="../media/image53.wmf"/><Relationship Id="rId8" Type="http://schemas.openxmlformats.org/officeDocument/2006/relationships/oleObject" Target="../embeddings/oleObject22.bin"/><Relationship Id="rId7" Type="http://schemas.openxmlformats.org/officeDocument/2006/relationships/image" Target="../media/image52.png"/><Relationship Id="rId6" Type="http://schemas.openxmlformats.org/officeDocument/2006/relationships/image" Target="../media/image51.png"/><Relationship Id="rId5" Type="http://schemas.openxmlformats.org/officeDocument/2006/relationships/image" Target="../media/image50.wmf"/><Relationship Id="rId4" Type="http://schemas.openxmlformats.org/officeDocument/2006/relationships/oleObject" Target="../embeddings/oleObject21.bin"/><Relationship Id="rId3" Type="http://schemas.openxmlformats.org/officeDocument/2006/relationships/image" Target="../media/image49.png"/><Relationship Id="rId2" Type="http://schemas.openxmlformats.org/officeDocument/2006/relationships/image" Target="../media/image48.png"/><Relationship Id="rId12" Type="http://schemas.openxmlformats.org/officeDocument/2006/relationships/vmlDrawing" Target="../drawings/vmlDrawing8.vml"/><Relationship Id="rId11" Type="http://schemas.openxmlformats.org/officeDocument/2006/relationships/slideLayout" Target="../slideLayouts/slideLayout7.xml"/><Relationship Id="rId10" Type="http://schemas.openxmlformats.org/officeDocument/2006/relationships/tags" Target="../tags/tag2.xml"/><Relationship Id="rId1" Type="http://schemas.openxmlformats.org/officeDocument/2006/relationships/image" Target="../media/image42.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jpe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2.png"/></Relationships>
</file>

<file path=ppt/slides/_rels/slide17.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customXml" Target="../ink/ink3.xml"/><Relationship Id="rId7" Type="http://schemas.openxmlformats.org/officeDocument/2006/relationships/image" Target="../media/image65.png"/><Relationship Id="rId6" Type="http://schemas.openxmlformats.org/officeDocument/2006/relationships/customXml" Target="../ink/ink2.xml"/><Relationship Id="rId5" Type="http://schemas.openxmlformats.org/officeDocument/2006/relationships/image" Target="../media/image64.png"/><Relationship Id="rId4" Type="http://schemas.openxmlformats.org/officeDocument/2006/relationships/customXml" Target="../ink/ink1.xml"/><Relationship Id="rId3" Type="http://schemas.openxmlformats.org/officeDocument/2006/relationships/image" Target="../media/image52.png"/><Relationship Id="rId2" Type="http://schemas.openxmlformats.org/officeDocument/2006/relationships/image" Target="../media/image63.wmf"/><Relationship Id="rId14" Type="http://schemas.openxmlformats.org/officeDocument/2006/relationships/vmlDrawing" Target="../drawings/vmlDrawing9.vml"/><Relationship Id="rId13" Type="http://schemas.openxmlformats.org/officeDocument/2006/relationships/slideLayout" Target="../slideLayouts/slideLayout7.xml"/><Relationship Id="rId12" Type="http://schemas.openxmlformats.org/officeDocument/2006/relationships/image" Target="../media/image68.png"/><Relationship Id="rId11" Type="http://schemas.openxmlformats.org/officeDocument/2006/relationships/image" Target="../media/image67.png"/><Relationship Id="rId10" Type="http://schemas.openxmlformats.org/officeDocument/2006/relationships/customXml" Target="../ink/ink4.xml"/><Relationship Id="rId1" Type="http://schemas.openxmlformats.org/officeDocument/2006/relationships/oleObject" Target="../embeddings/oleObject2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p:cNvPicPr>
            <a:picLocks noChangeAspect="1"/>
          </p:cNvPicPr>
          <p:nvPr/>
        </p:nvPicPr>
        <p:blipFill>
          <a:blip r:embed="rId1"/>
          <a:stretch>
            <a:fillRect/>
          </a:stretch>
        </p:blipFill>
        <p:spPr>
          <a:xfrm>
            <a:off x="755576" y="836713"/>
            <a:ext cx="8045565" cy="5328592"/>
          </a:xfrm>
          <a:prstGeom prst="rect">
            <a:avLst/>
          </a:prstGeom>
        </p:spPr>
      </p:pic>
      <p:sp>
        <p:nvSpPr>
          <p:cNvPr id="46" name="Text Box 11"/>
          <p:cNvSpPr txBox="1">
            <a:spLocks noChangeArrowheads="1"/>
          </p:cNvSpPr>
          <p:nvPr/>
        </p:nvSpPr>
        <p:spPr bwMode="auto">
          <a:xfrm>
            <a:off x="179388" y="115888"/>
            <a:ext cx="60767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Review of Ch30             </a:t>
            </a:r>
            <a:r>
              <a:rPr lang="en-US" altLang="zh-CN" dirty="0"/>
              <a:t>Faraday’s Law</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110696"/>
    </mc:Choice>
    <mc:Fallback>
      <p:transition spd="slow" advTm="11069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4" name="Text Box 11"/>
          <p:cNvSpPr txBox="1">
            <a:spLocks noChangeArrowheads="1"/>
          </p:cNvSpPr>
          <p:nvPr/>
        </p:nvSpPr>
        <p:spPr bwMode="auto">
          <a:xfrm>
            <a:off x="179388" y="115888"/>
            <a:ext cx="60767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Review of Ch30             </a:t>
            </a:r>
            <a:r>
              <a:rPr lang="en-US" altLang="zh-CN" dirty="0"/>
              <a:t>Faraday’s Law</a:t>
            </a:r>
            <a:endParaRPr lang="zh-CN" altLang="en-US" dirty="0"/>
          </a:p>
        </p:txBody>
      </p:sp>
      <p:graphicFrame>
        <p:nvGraphicFramePr>
          <p:cNvPr id="23555" name="对象 1"/>
          <p:cNvGraphicFramePr>
            <a:graphicFrameLocks noChangeAspect="1"/>
          </p:cNvGraphicFramePr>
          <p:nvPr/>
        </p:nvGraphicFramePr>
        <p:xfrm>
          <a:off x="3995935" y="1857083"/>
          <a:ext cx="5172671" cy="2003965"/>
        </p:xfrm>
        <a:graphic>
          <a:graphicData uri="http://schemas.openxmlformats.org/presentationml/2006/ole">
            <mc:AlternateContent xmlns:mc="http://schemas.openxmlformats.org/markup-compatibility/2006">
              <mc:Choice xmlns:v="urn:schemas-microsoft-com:vml" Requires="v">
                <p:oleObj spid="_x0000_s26224" name="Equation" r:id="rId1" imgW="71628000" imgH="27736800" progId="Equation.DSMT4">
                  <p:embed/>
                </p:oleObj>
              </mc:Choice>
              <mc:Fallback>
                <p:oleObj name="Equation" r:id="rId1" imgW="71628000" imgH="27736800" progId="Equation.DSMT4">
                  <p:embed/>
                  <p:pic>
                    <p:nvPicPr>
                      <p:cNvPr id="0" name="图片 25726"/>
                      <p:cNvPicPr>
                        <a:picLocks noChangeAspect="1" noChangeArrowheads="1"/>
                      </p:cNvPicPr>
                      <p:nvPr/>
                    </p:nvPicPr>
                    <p:blipFill>
                      <a:blip r:embed="rId2"/>
                      <a:srcRect/>
                      <a:stretch>
                        <a:fillRect/>
                      </a:stretch>
                    </p:blipFill>
                    <p:spPr bwMode="auto">
                      <a:xfrm>
                        <a:off x="3995935" y="1857083"/>
                        <a:ext cx="5172671" cy="2003965"/>
                      </a:xfrm>
                      <a:prstGeom prst="rect">
                        <a:avLst/>
                      </a:prstGeom>
                      <a:noFill/>
                      <a:ln>
                        <a:noFill/>
                      </a:ln>
                    </p:spPr>
                  </p:pic>
                </p:oleObj>
              </mc:Fallback>
            </mc:AlternateContent>
          </a:graphicData>
        </a:graphic>
      </p:graphicFrame>
      <p:grpSp>
        <p:nvGrpSpPr>
          <p:cNvPr id="23556" name="Group 2"/>
          <p:cNvGrpSpPr/>
          <p:nvPr/>
        </p:nvGrpSpPr>
        <p:grpSpPr bwMode="auto">
          <a:xfrm>
            <a:off x="200951" y="1188369"/>
            <a:ext cx="3312368" cy="1975271"/>
            <a:chOff x="960" y="682"/>
            <a:chExt cx="1824" cy="935"/>
          </a:xfrm>
        </p:grpSpPr>
        <p:sp>
          <p:nvSpPr>
            <p:cNvPr id="23567" name="Oval 3"/>
            <p:cNvSpPr>
              <a:spLocks noChangeArrowheads="1"/>
            </p:cNvSpPr>
            <p:nvPr/>
          </p:nvSpPr>
          <p:spPr bwMode="auto">
            <a:xfrm>
              <a:off x="960" y="1089"/>
              <a:ext cx="1728" cy="528"/>
            </a:xfrm>
            <a:prstGeom prst="ellipse">
              <a:avLst/>
            </a:prstGeom>
            <a:solidFill>
              <a:srgbClr val="CCECFF"/>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3568" name="Oval 4"/>
            <p:cNvSpPr>
              <a:spLocks noChangeArrowheads="1"/>
            </p:cNvSpPr>
            <p:nvPr/>
          </p:nvSpPr>
          <p:spPr bwMode="auto">
            <a:xfrm>
              <a:off x="1920" y="1440"/>
              <a:ext cx="240" cy="9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3569" name="Line 5"/>
            <p:cNvSpPr>
              <a:spLocks noChangeShapeType="1"/>
            </p:cNvSpPr>
            <p:nvPr/>
          </p:nvSpPr>
          <p:spPr bwMode="auto">
            <a:xfrm flipV="1">
              <a:off x="2064" y="1056"/>
              <a:ext cx="0" cy="432"/>
            </a:xfrm>
            <a:prstGeom prst="line">
              <a:avLst/>
            </a:prstGeom>
            <a:noFill/>
            <a:ln w="285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buFont typeface="Arial" panose="020B0604020202020204" pitchFamily="34" charset="0"/>
                <a:buNone/>
              </a:pPr>
              <a:endParaRPr lang="zh-CN" altLang="en-US" sz="2400">
                <a:solidFill>
                  <a:srgbClr val="000000"/>
                </a:solidFill>
                <a:ea typeface="宋体" panose="02010600030101010101" pitchFamily="2" charset="-122"/>
              </a:endParaRPr>
            </a:p>
          </p:txBody>
        </p:sp>
        <p:sp>
          <p:nvSpPr>
            <p:cNvPr id="23570" name="Line 6"/>
            <p:cNvSpPr>
              <a:spLocks noChangeShapeType="1"/>
            </p:cNvSpPr>
            <p:nvPr/>
          </p:nvSpPr>
          <p:spPr bwMode="auto">
            <a:xfrm flipV="1">
              <a:off x="2064" y="960"/>
              <a:ext cx="576" cy="528"/>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buFont typeface="Arial" panose="020B0604020202020204" pitchFamily="34" charset="0"/>
                <a:buNone/>
              </a:pPr>
              <a:endParaRPr lang="zh-CN" altLang="en-US" sz="2400">
                <a:solidFill>
                  <a:srgbClr val="000000"/>
                </a:solidFill>
                <a:ea typeface="宋体" panose="02010600030101010101" pitchFamily="2" charset="-122"/>
              </a:endParaRPr>
            </a:p>
          </p:txBody>
        </p:sp>
        <p:sp>
          <p:nvSpPr>
            <p:cNvPr id="23571" name="Freeform 7"/>
            <p:cNvSpPr/>
            <p:nvPr/>
          </p:nvSpPr>
          <p:spPr bwMode="auto">
            <a:xfrm>
              <a:off x="2034" y="1287"/>
              <a:ext cx="144" cy="112"/>
            </a:xfrm>
            <a:custGeom>
              <a:avLst/>
              <a:gdLst>
                <a:gd name="T0" fmla="*/ 0 w 144"/>
                <a:gd name="T1" fmla="*/ 16 h 112"/>
                <a:gd name="T2" fmla="*/ 96 w 144"/>
                <a:gd name="T3" fmla="*/ 16 h 112"/>
                <a:gd name="T4" fmla="*/ 144 w 144"/>
                <a:gd name="T5" fmla="*/ 112 h 112"/>
                <a:gd name="T6" fmla="*/ 0 60000 65536"/>
                <a:gd name="T7" fmla="*/ 0 60000 65536"/>
                <a:gd name="T8" fmla="*/ 0 60000 65536"/>
              </a:gdLst>
              <a:ahLst/>
              <a:cxnLst>
                <a:cxn ang="T6">
                  <a:pos x="T0" y="T1"/>
                </a:cxn>
                <a:cxn ang="T7">
                  <a:pos x="T2" y="T3"/>
                </a:cxn>
                <a:cxn ang="T8">
                  <a:pos x="T4" y="T5"/>
                </a:cxn>
              </a:cxnLst>
              <a:rect l="0" t="0" r="r" b="b"/>
              <a:pathLst>
                <a:path w="144" h="112">
                  <a:moveTo>
                    <a:pt x="0" y="16"/>
                  </a:moveTo>
                  <a:cubicBezTo>
                    <a:pt x="36" y="8"/>
                    <a:pt x="72" y="0"/>
                    <a:pt x="96" y="16"/>
                  </a:cubicBezTo>
                  <a:cubicBezTo>
                    <a:pt x="120" y="32"/>
                    <a:pt x="132" y="72"/>
                    <a:pt x="144" y="11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buFont typeface="Arial" panose="020B0604020202020204" pitchFamily="34" charset="0"/>
                <a:buNone/>
              </a:pPr>
              <a:endParaRPr lang="zh-CN" altLang="en-US" sz="2400">
                <a:solidFill>
                  <a:srgbClr val="000000"/>
                </a:solidFill>
                <a:ea typeface="宋体" panose="02010600030101010101" pitchFamily="2" charset="-122"/>
              </a:endParaRPr>
            </a:p>
          </p:txBody>
        </p:sp>
        <p:graphicFrame>
          <p:nvGraphicFramePr>
            <p:cNvPr id="23572" name="Object 8"/>
            <p:cNvGraphicFramePr>
              <a:graphicFrameLocks noChangeAspect="1"/>
            </p:cNvGraphicFramePr>
            <p:nvPr/>
          </p:nvGraphicFramePr>
          <p:xfrm>
            <a:off x="2611" y="682"/>
            <a:ext cx="173" cy="230"/>
          </p:xfrm>
          <a:graphic>
            <a:graphicData uri="http://schemas.openxmlformats.org/presentationml/2006/ole">
              <mc:AlternateContent xmlns:mc="http://schemas.openxmlformats.org/markup-compatibility/2006">
                <mc:Choice xmlns:v="urn:schemas-microsoft-com:vml" Requires="v">
                  <p:oleObj spid="_x0000_s26225" name="Equation" r:id="rId3" imgW="152400" imgH="203200" progId="Equation.DSMT4">
                    <p:embed/>
                  </p:oleObj>
                </mc:Choice>
                <mc:Fallback>
                  <p:oleObj name="Equation" r:id="rId3" imgW="152400" imgH="203200" progId="Equation.DSMT4">
                    <p:embed/>
                    <p:pic>
                      <p:nvPicPr>
                        <p:cNvPr id="0" name="图片 257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1" y="682"/>
                          <a:ext cx="173"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73" name="Object 9"/>
            <p:cNvGraphicFramePr>
              <a:graphicFrameLocks noChangeAspect="1"/>
            </p:cNvGraphicFramePr>
            <p:nvPr/>
          </p:nvGraphicFramePr>
          <p:xfrm>
            <a:off x="2016" y="855"/>
            <a:ext cx="144" cy="201"/>
          </p:xfrm>
          <a:graphic>
            <a:graphicData uri="http://schemas.openxmlformats.org/presentationml/2006/ole">
              <mc:AlternateContent xmlns:mc="http://schemas.openxmlformats.org/markup-compatibility/2006">
                <mc:Choice xmlns:v="urn:schemas-microsoft-com:vml" Requires="v">
                  <p:oleObj spid="_x0000_s26226" name="Equation" r:id="rId5" imgW="127000" imgH="177165" progId="Equation.DSMT4">
                    <p:embed/>
                  </p:oleObj>
                </mc:Choice>
                <mc:Fallback>
                  <p:oleObj name="Equation" r:id="rId5" imgW="127000" imgH="177165" progId="Equation.DSMT4">
                    <p:embed/>
                    <p:pic>
                      <p:nvPicPr>
                        <p:cNvPr id="0" name="图片 257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 y="855"/>
                          <a:ext cx="144"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74" name="Object 10"/>
            <p:cNvGraphicFramePr>
              <a:graphicFrameLocks noChangeAspect="1"/>
            </p:cNvGraphicFramePr>
            <p:nvPr/>
          </p:nvGraphicFramePr>
          <p:xfrm>
            <a:off x="2112" y="1104"/>
            <a:ext cx="144" cy="230"/>
          </p:xfrm>
          <a:graphic>
            <a:graphicData uri="http://schemas.openxmlformats.org/presentationml/2006/ole">
              <mc:AlternateContent xmlns:mc="http://schemas.openxmlformats.org/markup-compatibility/2006">
                <mc:Choice xmlns:v="urn:schemas-microsoft-com:vml" Requires="v">
                  <p:oleObj spid="_x0000_s26227" name="Equation" r:id="rId7" imgW="127000" imgH="203200" progId="Equation.DSMT4">
                    <p:embed/>
                  </p:oleObj>
                </mc:Choice>
                <mc:Fallback>
                  <p:oleObj name="Equation" r:id="rId7" imgW="127000" imgH="203200" progId="Equation.DSMT4">
                    <p:embed/>
                    <p:pic>
                      <p:nvPicPr>
                        <p:cNvPr id="0" name="图片 257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2" y="1104"/>
                          <a:ext cx="144"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75" name="Object 11"/>
            <p:cNvGraphicFramePr>
              <a:graphicFrameLocks noChangeAspect="1"/>
            </p:cNvGraphicFramePr>
            <p:nvPr/>
          </p:nvGraphicFramePr>
          <p:xfrm>
            <a:off x="1680" y="1383"/>
            <a:ext cx="245" cy="201"/>
          </p:xfrm>
          <a:graphic>
            <a:graphicData uri="http://schemas.openxmlformats.org/presentationml/2006/ole">
              <mc:AlternateContent xmlns:mc="http://schemas.openxmlformats.org/markup-compatibility/2006">
                <mc:Choice xmlns:v="urn:schemas-microsoft-com:vml" Requires="v">
                  <p:oleObj spid="_x0000_s26228" name="Equation" r:id="rId9" imgW="215900" imgH="177800" progId="Equation.DSMT4">
                    <p:embed/>
                  </p:oleObj>
                </mc:Choice>
                <mc:Fallback>
                  <p:oleObj name="Equation" r:id="rId9" imgW="215900" imgH="177800" progId="Equation.DSMT4">
                    <p:embed/>
                    <p:pic>
                      <p:nvPicPr>
                        <p:cNvPr id="0" name="图片 257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0" y="1383"/>
                          <a:ext cx="245"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14" name="Picture 14" descr="F30_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8158" y="4221088"/>
            <a:ext cx="3330575"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2852"/>
    </mc:Choice>
    <mc:Fallback>
      <p:transition spd="slow" advTm="1285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9388" y="740469"/>
            <a:ext cx="5816832" cy="3139321"/>
          </a:xfrm>
          <a:prstGeom prst="rect">
            <a:avLst/>
          </a:prstGeom>
        </p:spPr>
        <p:txBody>
          <a:bodyPr wrap="square">
            <a:spAutoFit/>
          </a:bodyPr>
          <a:lstStyle/>
          <a:p>
            <a:pPr algn="just"/>
            <a:r>
              <a:rPr lang="en-US" altLang="zh-CN" sz="2200" dirty="0">
                <a:latin typeface="+mj-lt"/>
              </a:rPr>
              <a:t>The figure shows a rod of length </a:t>
            </a:r>
            <a:r>
              <a:rPr lang="en-US" altLang="zh-CN" sz="2200" i="1" dirty="0">
                <a:solidFill>
                  <a:srgbClr val="FF0000"/>
                </a:solidFill>
                <a:latin typeface="+mj-lt"/>
              </a:rPr>
              <a:t>L=</a:t>
            </a:r>
            <a:r>
              <a:rPr lang="en-US" altLang="zh-CN" sz="2200" dirty="0">
                <a:solidFill>
                  <a:srgbClr val="FF0000"/>
                </a:solidFill>
                <a:latin typeface="+mj-lt"/>
              </a:rPr>
              <a:t>10.0 cm </a:t>
            </a:r>
            <a:r>
              <a:rPr lang="en-US" altLang="zh-CN" sz="2200" dirty="0">
                <a:latin typeface="+mj-lt"/>
              </a:rPr>
              <a:t>that is forced to move at constant speed </a:t>
            </a:r>
            <a:r>
              <a:rPr lang="en-US" altLang="zh-CN" sz="2200" i="1" dirty="0">
                <a:solidFill>
                  <a:srgbClr val="FF0000"/>
                </a:solidFill>
                <a:latin typeface="+mj-lt"/>
              </a:rPr>
              <a:t>v=</a:t>
            </a:r>
            <a:r>
              <a:rPr lang="en-US" altLang="zh-CN" sz="2200" dirty="0">
                <a:solidFill>
                  <a:srgbClr val="FF0000"/>
                </a:solidFill>
                <a:latin typeface="+mj-lt"/>
              </a:rPr>
              <a:t>5.00m/s</a:t>
            </a:r>
            <a:r>
              <a:rPr lang="en-US" altLang="zh-CN" sz="2200" dirty="0">
                <a:latin typeface="+mj-lt"/>
              </a:rPr>
              <a:t> along horizontal rails. The rod, rails, and connecting strip at the right form a conducting loop. The rod has resistance </a:t>
            </a:r>
            <a:r>
              <a:rPr lang="en-US" altLang="zh-CN" sz="2200" dirty="0">
                <a:solidFill>
                  <a:srgbClr val="FF0000"/>
                </a:solidFill>
                <a:latin typeface="+mj-lt"/>
              </a:rPr>
              <a:t>0.400</a:t>
            </a:r>
            <a:r>
              <a:rPr lang="en-US" altLang="zh-CN" sz="2200" dirty="0">
                <a:latin typeface="+mj-lt"/>
              </a:rPr>
              <a:t>   ; the rest of the loop has negligible resistance. A current </a:t>
            </a:r>
            <a:r>
              <a:rPr lang="en-US" altLang="zh-CN" sz="2200" i="1" dirty="0" err="1">
                <a:solidFill>
                  <a:srgbClr val="FF0000"/>
                </a:solidFill>
                <a:latin typeface="+mj-lt"/>
              </a:rPr>
              <a:t>i</a:t>
            </a:r>
            <a:r>
              <a:rPr lang="en-US" altLang="zh-CN" sz="2200" i="1" dirty="0">
                <a:solidFill>
                  <a:srgbClr val="FF0000"/>
                </a:solidFill>
                <a:latin typeface="+mj-lt"/>
              </a:rPr>
              <a:t>=</a:t>
            </a:r>
            <a:r>
              <a:rPr lang="en-US" altLang="zh-CN" sz="2200" dirty="0">
                <a:solidFill>
                  <a:srgbClr val="FF0000"/>
                </a:solidFill>
                <a:latin typeface="+mj-lt"/>
              </a:rPr>
              <a:t>100 A</a:t>
            </a:r>
            <a:r>
              <a:rPr lang="en-US" altLang="zh-CN" sz="2200" dirty="0">
                <a:latin typeface="+mj-lt"/>
              </a:rPr>
              <a:t> through the long straight wire at distance </a:t>
            </a:r>
            <a:r>
              <a:rPr lang="en-US" altLang="zh-CN" sz="2200" i="1" dirty="0">
                <a:solidFill>
                  <a:srgbClr val="FF0000"/>
                </a:solidFill>
                <a:latin typeface="+mj-lt"/>
              </a:rPr>
              <a:t>a=</a:t>
            </a:r>
            <a:r>
              <a:rPr lang="en-US" altLang="zh-CN" sz="2200" dirty="0">
                <a:solidFill>
                  <a:srgbClr val="FF0000"/>
                </a:solidFill>
                <a:latin typeface="+mj-lt"/>
              </a:rPr>
              <a:t>10.0 mm </a:t>
            </a:r>
            <a:r>
              <a:rPr lang="en-US" altLang="zh-CN" sz="2200" dirty="0">
                <a:latin typeface="+mj-lt"/>
              </a:rPr>
              <a:t>from the loop sets up a magnetic field through the loop. Find:</a:t>
            </a:r>
            <a:endParaRPr lang="en-US" altLang="zh-CN" sz="2200" dirty="0">
              <a:latin typeface="+mj-lt"/>
            </a:endParaRPr>
          </a:p>
        </p:txBody>
      </p:sp>
      <p:graphicFrame>
        <p:nvGraphicFramePr>
          <p:cNvPr id="4" name="对象 3"/>
          <p:cNvGraphicFramePr>
            <a:graphicFrameLocks noChangeAspect="1"/>
          </p:cNvGraphicFramePr>
          <p:nvPr/>
        </p:nvGraphicFramePr>
        <p:xfrm>
          <a:off x="4256526" y="2132856"/>
          <a:ext cx="303733" cy="303733"/>
        </p:xfrm>
        <a:graphic>
          <a:graphicData uri="http://schemas.openxmlformats.org/presentationml/2006/ole">
            <mc:AlternateContent xmlns:mc="http://schemas.openxmlformats.org/markup-compatibility/2006">
              <mc:Choice xmlns:v="urn:schemas-microsoft-com:vml" Requires="v">
                <p:oleObj spid="_x0000_s28768" name="Equation" r:id="rId1" imgW="3962400" imgH="3962400" progId="Equation.DSMT4">
                  <p:embed/>
                </p:oleObj>
              </mc:Choice>
              <mc:Fallback>
                <p:oleObj name="Equation" r:id="rId1" imgW="3962400" imgH="3962400" progId="Equation.DSMT4">
                  <p:embed/>
                  <p:pic>
                    <p:nvPicPr>
                      <p:cNvPr id="0" name="图片 28767"/>
                      <p:cNvPicPr/>
                      <p:nvPr/>
                    </p:nvPicPr>
                    <p:blipFill>
                      <a:blip r:embed="rId2"/>
                      <a:stretch>
                        <a:fillRect/>
                      </a:stretch>
                    </p:blipFill>
                    <p:spPr>
                      <a:xfrm>
                        <a:off x="4256526" y="2132856"/>
                        <a:ext cx="303733" cy="303733"/>
                      </a:xfrm>
                      <a:prstGeom prst="rect">
                        <a:avLst/>
                      </a:prstGeom>
                    </p:spPr>
                  </p:pic>
                </p:oleObj>
              </mc:Fallback>
            </mc:AlternateContent>
          </a:graphicData>
        </a:graphic>
      </p:graphicFrame>
      <p:pic>
        <p:nvPicPr>
          <p:cNvPr id="22535" name="Picture 7" descr="C:\Users\pcuser\AppData\Roaming\Tencent\Users\635683196\QQ\WinTemp\RichOle\TQ7MKKNBGF3HTN%8EWU5JF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6051" y="740469"/>
            <a:ext cx="2748561" cy="2808312"/>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1</a:t>
            </a:r>
            <a:endParaRPr lang="zh-CN" altLang="en-US" dirty="0"/>
          </a:p>
        </p:txBody>
      </p:sp>
      <p:sp>
        <p:nvSpPr>
          <p:cNvPr id="5" name="矩形 4"/>
          <p:cNvSpPr/>
          <p:nvPr/>
        </p:nvSpPr>
        <p:spPr>
          <a:xfrm>
            <a:off x="179388" y="4216137"/>
            <a:ext cx="8569076" cy="1785104"/>
          </a:xfrm>
          <a:prstGeom prst="rect">
            <a:avLst/>
          </a:prstGeom>
        </p:spPr>
        <p:txBody>
          <a:bodyPr wrap="square">
            <a:spAutoFit/>
          </a:bodyPr>
          <a:lstStyle/>
          <a:p>
            <a:pPr marL="342900" indent="-342900" algn="just">
              <a:buAutoNum type="alphaLcParenBoth"/>
            </a:pPr>
            <a:r>
              <a:rPr lang="en-US" altLang="zh-CN" sz="2200" dirty="0">
                <a:latin typeface="+mj-lt"/>
              </a:rPr>
              <a:t>the emf and current induced in the loop. </a:t>
            </a:r>
            <a:endParaRPr lang="en-US" altLang="zh-CN" sz="2200" dirty="0">
              <a:latin typeface="+mj-lt"/>
            </a:endParaRPr>
          </a:p>
          <a:p>
            <a:pPr marL="342900" indent="-342900" algn="just">
              <a:buAutoNum type="alphaLcParenBoth"/>
            </a:pPr>
            <a:r>
              <a:rPr lang="en-US" altLang="zh-CN" sz="2200" dirty="0">
                <a:latin typeface="+mj-lt"/>
              </a:rPr>
              <a:t>At what rate is thermal energy generated in the rod? </a:t>
            </a:r>
            <a:endParaRPr lang="en-US" altLang="zh-CN" sz="2200" dirty="0">
              <a:latin typeface="+mj-lt"/>
            </a:endParaRPr>
          </a:p>
          <a:p>
            <a:pPr marL="342900" indent="-342900" algn="just">
              <a:buAutoNum type="alphaLcParenBoth"/>
            </a:pPr>
            <a:r>
              <a:rPr lang="en-US" altLang="zh-CN" sz="2200" dirty="0">
                <a:latin typeface="+mj-lt"/>
              </a:rPr>
              <a:t>What is the magnitude of the force that must be applied to the rod to make it move at constant speed? </a:t>
            </a:r>
            <a:endParaRPr lang="en-US" altLang="zh-CN" sz="2200" dirty="0">
              <a:latin typeface="+mj-lt"/>
            </a:endParaRPr>
          </a:p>
          <a:p>
            <a:pPr marL="342900" indent="-342900" algn="just">
              <a:buAutoNum type="alphaLcParenBoth"/>
            </a:pPr>
            <a:r>
              <a:rPr lang="en-US" altLang="zh-CN" sz="2200" dirty="0">
                <a:latin typeface="+mj-lt"/>
              </a:rPr>
              <a:t>At what rate does this force do work on the rod?</a:t>
            </a:r>
            <a:endParaRPr lang="zh-CN" altLang="en-US" sz="22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advTm="676948"/>
    </mc:Choice>
    <mc:Fallback>
      <p:transition spd="slow" advTm="67694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4"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1</a:t>
            </a:r>
            <a:endParaRPr lang="zh-CN" altLang="en-US" dirty="0"/>
          </a:p>
        </p:txBody>
      </p:sp>
      <p:sp>
        <p:nvSpPr>
          <p:cNvPr id="27654"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7657"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endParaRPr lang="zh-CN" altLang="en-US">
              <a:solidFill>
                <a:srgbClr val="000000"/>
              </a:solidFill>
            </a:endParaRPr>
          </a:p>
        </p:txBody>
      </p:sp>
      <p:sp>
        <p:nvSpPr>
          <p:cNvPr id="2" name="矩形 1"/>
          <p:cNvSpPr/>
          <p:nvPr/>
        </p:nvSpPr>
        <p:spPr>
          <a:xfrm>
            <a:off x="117778" y="838453"/>
            <a:ext cx="8640960" cy="646331"/>
          </a:xfrm>
          <a:prstGeom prst="rect">
            <a:avLst/>
          </a:prstGeom>
        </p:spPr>
        <p:txBody>
          <a:bodyPr wrap="square">
            <a:spAutoFit/>
          </a:bodyPr>
          <a:lstStyle/>
          <a:p>
            <a:r>
              <a:rPr lang="en-US" altLang="zh-CN" dirty="0"/>
              <a:t>(a) We consider an infinitesimal horizontal strip of length </a:t>
            </a:r>
            <a:r>
              <a:rPr lang="en-US" altLang="zh-CN" i="1" dirty="0"/>
              <a:t>x</a:t>
            </a:r>
            <a:r>
              <a:rPr lang="en-US" altLang="zh-CN" dirty="0"/>
              <a:t> and width </a:t>
            </a:r>
            <a:r>
              <a:rPr lang="en-US" altLang="zh-CN" i="1" dirty="0" err="1"/>
              <a:t>dr</a:t>
            </a:r>
            <a:r>
              <a:rPr lang="en-US" altLang="zh-CN" dirty="0"/>
              <a:t>, parallel to the wire and a distance </a:t>
            </a:r>
            <a:r>
              <a:rPr lang="en-US" altLang="zh-CN" i="1" dirty="0"/>
              <a:t>r</a:t>
            </a:r>
            <a:r>
              <a:rPr lang="en-US" altLang="zh-CN" dirty="0"/>
              <a:t> from it; it has area </a:t>
            </a:r>
            <a:r>
              <a:rPr lang="en-US" altLang="zh-CN" i="1" dirty="0"/>
              <a:t>A = x </a:t>
            </a:r>
            <a:r>
              <a:rPr lang="en-US" altLang="zh-CN" i="1" dirty="0" err="1"/>
              <a:t>dr</a:t>
            </a:r>
            <a:r>
              <a:rPr lang="en-US" altLang="zh-CN" dirty="0"/>
              <a:t> and the flux is</a:t>
            </a:r>
            <a:endParaRPr lang="zh-CN" altLang="en-US" dirty="0"/>
          </a:p>
        </p:txBody>
      </p:sp>
      <p:sp>
        <p:nvSpPr>
          <p:cNvPr id="3" name="Rectangle 7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251520" y="1824526"/>
          <a:ext cx="2952328" cy="812386"/>
        </p:xfrm>
        <a:graphic>
          <a:graphicData uri="http://schemas.openxmlformats.org/presentationml/2006/ole">
            <mc:AlternateContent xmlns:mc="http://schemas.openxmlformats.org/markup-compatibility/2006">
              <mc:Choice xmlns:v="urn:schemas-microsoft-com:vml" Requires="v">
                <p:oleObj spid="_x0000_s29977" name="Equation" r:id="rId1" imgW="1422400" imgH="393700" progId="Equation.DSMT4">
                  <p:embed/>
                </p:oleObj>
              </mc:Choice>
              <mc:Fallback>
                <p:oleObj name="Equation" r:id="rId1" imgW="1422400" imgH="393700" progId="Equation.DSMT4">
                  <p:embed/>
                  <p:pic>
                    <p:nvPicPr>
                      <p:cNvPr id="0" name="图片 299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824526"/>
                        <a:ext cx="2952328" cy="812386"/>
                      </a:xfrm>
                      <a:prstGeom prst="rect">
                        <a:avLst/>
                      </a:prstGeom>
                      <a:noFill/>
                    </p:spPr>
                  </p:pic>
                </p:oleObj>
              </mc:Fallback>
            </mc:AlternateContent>
          </a:graphicData>
        </a:graphic>
      </p:graphicFrame>
      <p:sp>
        <p:nvSpPr>
          <p:cNvPr id="5" name="Rectangle 7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4100544" y="1782839"/>
          <a:ext cx="4215872" cy="926081"/>
        </p:xfrm>
        <a:graphic>
          <a:graphicData uri="http://schemas.openxmlformats.org/presentationml/2006/ole">
            <mc:AlternateContent xmlns:mc="http://schemas.openxmlformats.org/markup-compatibility/2006">
              <mc:Choice xmlns:v="urn:schemas-microsoft-com:vml" Requires="v">
                <p:oleObj spid="_x0000_s29978" name="Equation" r:id="rId3" imgW="2273300" imgH="431800" progId="Equation.DSMT4">
                  <p:embed/>
                </p:oleObj>
              </mc:Choice>
              <mc:Fallback>
                <p:oleObj name="Equation" r:id="rId3" imgW="2273300" imgH="431800" progId="Equation.DSMT4">
                  <p:embed/>
                  <p:pic>
                    <p:nvPicPr>
                      <p:cNvPr id="0" name="图片 299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0544" y="1782839"/>
                        <a:ext cx="4215872" cy="926081"/>
                      </a:xfrm>
                      <a:prstGeom prst="rect">
                        <a:avLst/>
                      </a:prstGeom>
                      <a:noFill/>
                    </p:spPr>
                  </p:pic>
                </p:oleObj>
              </mc:Fallback>
            </mc:AlternateContent>
          </a:graphicData>
        </a:graphic>
      </p:graphicFrame>
      <p:sp>
        <p:nvSpPr>
          <p:cNvPr id="7" name="右箭头 6"/>
          <p:cNvSpPr/>
          <p:nvPr/>
        </p:nvSpPr>
        <p:spPr>
          <a:xfrm>
            <a:off x="3347864" y="2060888"/>
            <a:ext cx="576064" cy="360000"/>
          </a:xfrm>
          <a:prstGeom prst="rightArrow">
            <a:avLst>
              <a:gd name="adj1" fmla="val 19192"/>
              <a:gd name="adj2" fmla="val 41083"/>
            </a:avLst>
          </a:prstGeom>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eaLnBrk="1" hangingPunct="1"/>
            <a:endParaRPr lang="zh-CN" alt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j-lt"/>
            </a:endParaRPr>
          </a:p>
        </p:txBody>
      </p:sp>
      <p:sp>
        <p:nvSpPr>
          <p:cNvPr id="8" name="矩形 7"/>
          <p:cNvSpPr/>
          <p:nvPr/>
        </p:nvSpPr>
        <p:spPr>
          <a:xfrm>
            <a:off x="251520" y="3275692"/>
            <a:ext cx="6534472" cy="369332"/>
          </a:xfrm>
          <a:prstGeom prst="rect">
            <a:avLst/>
          </a:prstGeom>
        </p:spPr>
        <p:txBody>
          <a:bodyPr wrap="square">
            <a:spAutoFit/>
          </a:bodyPr>
          <a:lstStyle/>
          <a:p>
            <a:r>
              <a:rPr lang="en-US" altLang="zh-CN" dirty="0"/>
              <a:t>According to Faraday’s law the </a:t>
            </a:r>
            <a:r>
              <a:rPr lang="en-US" altLang="zh-CN" dirty="0" err="1"/>
              <a:t>emf</a:t>
            </a:r>
            <a:r>
              <a:rPr lang="en-US" altLang="zh-CN" dirty="0"/>
              <a:t> induced in the loop is</a:t>
            </a:r>
            <a:endParaRPr lang="zh-CN" altLang="zh-CN" dirty="0"/>
          </a:p>
        </p:txBody>
      </p:sp>
      <p:sp>
        <p:nvSpPr>
          <p:cNvPr id="9" name="Rectangle 7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313630" y="4150072"/>
          <a:ext cx="8578850" cy="1727200"/>
        </p:xfrm>
        <a:graphic>
          <a:graphicData uri="http://schemas.openxmlformats.org/presentationml/2006/ole">
            <mc:AlternateContent xmlns:mc="http://schemas.openxmlformats.org/markup-compatibility/2006">
              <mc:Choice xmlns:v="urn:schemas-microsoft-com:vml" Requires="v">
                <p:oleObj spid="_x0000_s29979" name="Equation" r:id="rId5" imgW="114604800" imgH="23164800" progId="Equation.DSMT4">
                  <p:embed/>
                </p:oleObj>
              </mc:Choice>
              <mc:Fallback>
                <p:oleObj name="Equation" r:id="rId5" imgW="114604800" imgH="23164800" progId="Equation.DSMT4">
                  <p:embed/>
                  <p:pic>
                    <p:nvPicPr>
                      <p:cNvPr id="0" name="图片 29978"/>
                      <p:cNvPicPr>
                        <a:picLocks noChangeAspect="1" noChangeArrowheads="1"/>
                      </p:cNvPicPr>
                      <p:nvPr/>
                    </p:nvPicPr>
                    <p:blipFill>
                      <a:blip r:embed="rId6"/>
                      <a:srcRect/>
                      <a:stretch>
                        <a:fillRect/>
                      </a:stretch>
                    </p:blipFill>
                    <p:spPr bwMode="auto">
                      <a:xfrm>
                        <a:off x="313630" y="4150072"/>
                        <a:ext cx="8578850" cy="1727200"/>
                      </a:xfrm>
                      <a:prstGeom prst="rect">
                        <a:avLst/>
                      </a:prstGeom>
                      <a:no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104"/>
    </mc:Choice>
    <mc:Fallback>
      <p:transition spd="slow" advTm="210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1</a:t>
            </a:r>
            <a:endParaRPr lang="zh-CN" altLang="en-US" dirty="0"/>
          </a:p>
        </p:txBody>
      </p:sp>
      <p:sp>
        <p:nvSpPr>
          <p:cNvPr id="3" name="矩形 2"/>
          <p:cNvSpPr/>
          <p:nvPr/>
        </p:nvSpPr>
        <p:spPr>
          <a:xfrm>
            <a:off x="219986" y="980728"/>
            <a:ext cx="4053417" cy="369332"/>
          </a:xfrm>
          <a:prstGeom prst="rect">
            <a:avLst/>
          </a:prstGeom>
        </p:spPr>
        <p:txBody>
          <a:bodyPr wrap="none">
            <a:spAutoFit/>
          </a:bodyPr>
          <a:lstStyle/>
          <a:p>
            <a:r>
              <a:rPr lang="en-US" altLang="zh-CN" dirty="0"/>
              <a:t> By Ohm’s law, the induced current is</a:t>
            </a:r>
            <a:endParaRPr lang="zh-CN" altLang="zh-C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1491869" y="1700808"/>
          <a:ext cx="5892241" cy="504056"/>
        </p:xfrm>
        <a:graphic>
          <a:graphicData uri="http://schemas.openxmlformats.org/presentationml/2006/ole">
            <mc:AlternateContent xmlns:mc="http://schemas.openxmlformats.org/markup-compatibility/2006">
              <mc:Choice xmlns:v="urn:schemas-microsoft-com:vml" Requires="v">
                <p:oleObj spid="_x0000_s30908" name="Equation" r:id="rId1" imgW="3225800" imgH="279400" progId="Equation.DSMT4">
                  <p:embed/>
                </p:oleObj>
              </mc:Choice>
              <mc:Fallback>
                <p:oleObj name="Equation" r:id="rId1" imgW="3225800" imgH="279400" progId="Equation.DSMT4">
                  <p:embed/>
                  <p:pic>
                    <p:nvPicPr>
                      <p:cNvPr id="0" name="图片 309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1869" y="1700808"/>
                        <a:ext cx="5892241" cy="504056"/>
                      </a:xfrm>
                      <a:prstGeom prst="rect">
                        <a:avLst/>
                      </a:prstGeom>
                      <a:noFill/>
                    </p:spPr>
                  </p:pic>
                </p:oleObj>
              </mc:Fallback>
            </mc:AlternateContent>
          </a:graphicData>
        </a:graphic>
      </p:graphicFrame>
      <p:sp>
        <p:nvSpPr>
          <p:cNvPr id="6" name="矩形 5"/>
          <p:cNvSpPr/>
          <p:nvPr/>
        </p:nvSpPr>
        <p:spPr>
          <a:xfrm>
            <a:off x="251520" y="2492896"/>
            <a:ext cx="8353052" cy="923330"/>
          </a:xfrm>
          <a:prstGeom prst="rect">
            <a:avLst/>
          </a:prstGeom>
        </p:spPr>
        <p:txBody>
          <a:bodyPr wrap="square">
            <a:spAutoFit/>
          </a:bodyPr>
          <a:lstStyle/>
          <a:p>
            <a:r>
              <a:rPr lang="en-US" altLang="zh-CN" dirty="0"/>
              <a:t>Since the flux is increasing, the magnetic field produced by the induced current must be into the page in the region enclosed by the rod and rails. This means the current is clockwise.</a:t>
            </a:r>
            <a:endParaRPr lang="zh-CN" altLang="zh-CN" dirty="0"/>
          </a:p>
        </p:txBody>
      </p:sp>
      <p:sp>
        <p:nvSpPr>
          <p:cNvPr id="7" name="矩形 6"/>
          <p:cNvSpPr/>
          <p:nvPr/>
        </p:nvSpPr>
        <p:spPr>
          <a:xfrm>
            <a:off x="251520" y="4005064"/>
            <a:ext cx="6462464" cy="369332"/>
          </a:xfrm>
          <a:prstGeom prst="rect">
            <a:avLst/>
          </a:prstGeom>
        </p:spPr>
        <p:txBody>
          <a:bodyPr wrap="square">
            <a:spAutoFit/>
          </a:bodyPr>
          <a:lstStyle/>
          <a:p>
            <a:r>
              <a:rPr lang="en-US" altLang="zh-CN" dirty="0"/>
              <a:t>(b) Thermal energy is being generated at the rate </a:t>
            </a:r>
            <a:endParaRPr lang="zh-CN" altLang="zh-CN" dirty="0"/>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1471612" y="4869160"/>
          <a:ext cx="6200776" cy="598488"/>
        </p:xfrm>
        <a:graphic>
          <a:graphicData uri="http://schemas.openxmlformats.org/presentationml/2006/ole">
            <mc:AlternateContent xmlns:mc="http://schemas.openxmlformats.org/markup-compatibility/2006">
              <mc:Choice xmlns:v="urn:schemas-microsoft-com:vml" Requires="v">
                <p:oleObj spid="_x0000_s30909" name="Equation" r:id="rId3" imgW="75895200" imgH="7315200" progId="Equation.DSMT4">
                  <p:embed/>
                </p:oleObj>
              </mc:Choice>
              <mc:Fallback>
                <p:oleObj name="Equation" r:id="rId3" imgW="75895200" imgH="7315200" progId="Equation.DSMT4">
                  <p:embed/>
                  <p:pic>
                    <p:nvPicPr>
                      <p:cNvPr id="0" name="图片 30908"/>
                      <p:cNvPicPr>
                        <a:picLocks noChangeAspect="1" noChangeArrowheads="1"/>
                      </p:cNvPicPr>
                      <p:nvPr/>
                    </p:nvPicPr>
                    <p:blipFill>
                      <a:blip r:embed="rId4"/>
                      <a:srcRect/>
                      <a:stretch>
                        <a:fillRect/>
                      </a:stretch>
                    </p:blipFill>
                    <p:spPr bwMode="auto">
                      <a:xfrm>
                        <a:off x="1471612" y="4869160"/>
                        <a:ext cx="6200776" cy="598488"/>
                      </a:xfrm>
                      <a:prstGeom prst="rect">
                        <a:avLst/>
                      </a:prstGeom>
                      <a:noFill/>
                    </p:spPr>
                  </p:pic>
                </p:oleObj>
              </mc:Fallback>
            </mc:AlternateContent>
          </a:graphicData>
        </a:graphic>
      </p:graphicFrame>
      <p:sp>
        <p:nvSpPr>
          <p:cNvPr id="10"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824"/>
    </mc:Choice>
    <mc:Fallback>
      <p:transition spd="slow" advTm="182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1</a:t>
            </a:r>
            <a:endParaRPr lang="zh-CN" altLang="en-US" dirty="0"/>
          </a:p>
        </p:txBody>
      </p:sp>
      <p:sp>
        <p:nvSpPr>
          <p:cNvPr id="3" name="矩形 2"/>
          <p:cNvSpPr/>
          <p:nvPr/>
        </p:nvSpPr>
        <p:spPr>
          <a:xfrm>
            <a:off x="35496" y="692696"/>
            <a:ext cx="8640960" cy="646331"/>
          </a:xfrm>
          <a:prstGeom prst="rect">
            <a:avLst/>
          </a:prstGeom>
        </p:spPr>
        <p:txBody>
          <a:bodyPr wrap="square">
            <a:spAutoFit/>
          </a:bodyPr>
          <a:lstStyle/>
          <a:p>
            <a:r>
              <a:rPr lang="en-US" altLang="zh-CN" dirty="0"/>
              <a:t>(c) The force of the external agent must have the same magnitude as the magnetic force and must be in the opposite direction.</a:t>
            </a:r>
            <a:endParaRPr lang="zh-CN" altLang="zh-C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1331640" y="1484784"/>
          <a:ext cx="3009900" cy="428625"/>
        </p:xfrm>
        <a:graphic>
          <a:graphicData uri="http://schemas.openxmlformats.org/presentationml/2006/ole">
            <mc:AlternateContent xmlns:mc="http://schemas.openxmlformats.org/markup-compatibility/2006">
              <mc:Choice xmlns:v="urn:schemas-microsoft-com:vml" Requires="v">
                <p:oleObj spid="_x0000_s31934" name="Equation" r:id="rId1" imgW="43891200" imgH="6096000" progId="Equation.DSMT4">
                  <p:embed/>
                </p:oleObj>
              </mc:Choice>
              <mc:Fallback>
                <p:oleObj name="Equation" r:id="rId1" imgW="43891200" imgH="6096000" progId="Equation.DSMT4">
                  <p:embed/>
                  <p:pic>
                    <p:nvPicPr>
                      <p:cNvPr id="0" name="图片 31933"/>
                      <p:cNvPicPr>
                        <a:picLocks noChangeAspect="1" noChangeArrowheads="1"/>
                      </p:cNvPicPr>
                      <p:nvPr/>
                    </p:nvPicPr>
                    <p:blipFill>
                      <a:blip r:embed="rId2"/>
                      <a:srcRect/>
                      <a:stretch>
                        <a:fillRect/>
                      </a:stretch>
                    </p:blipFill>
                    <p:spPr bwMode="auto">
                      <a:xfrm>
                        <a:off x="1331640" y="1484784"/>
                        <a:ext cx="3009900" cy="428625"/>
                      </a:xfrm>
                      <a:prstGeom prst="rect">
                        <a:avLst/>
                      </a:prstGeom>
                      <a:noFill/>
                    </p:spPr>
                  </p:pic>
                </p:oleObj>
              </mc:Fallback>
            </mc:AlternateContent>
          </a:graphicData>
        </a:graphic>
      </p:graphicFrame>
      <p:sp>
        <p:nvSpPr>
          <p:cNvPr id="6"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1293953" y="2132856"/>
          <a:ext cx="6904263" cy="1944216"/>
        </p:xfrm>
        <a:graphic>
          <a:graphicData uri="http://schemas.openxmlformats.org/presentationml/2006/ole">
            <mc:AlternateContent xmlns:mc="http://schemas.openxmlformats.org/markup-compatibility/2006">
              <mc:Choice xmlns:v="urn:schemas-microsoft-com:vml" Requires="v">
                <p:oleObj spid="_x0000_s31935" name="Equation" r:id="rId3" imgW="103022400" imgH="28956000" progId="Equation.DSMT4">
                  <p:embed/>
                </p:oleObj>
              </mc:Choice>
              <mc:Fallback>
                <p:oleObj name="Equation" r:id="rId3" imgW="103022400" imgH="28956000" progId="Equation.DSMT4">
                  <p:embed/>
                  <p:pic>
                    <p:nvPicPr>
                      <p:cNvPr id="0" name="图片 31934"/>
                      <p:cNvPicPr>
                        <a:picLocks noChangeAspect="1" noChangeArrowheads="1"/>
                      </p:cNvPicPr>
                      <p:nvPr/>
                    </p:nvPicPr>
                    <p:blipFill>
                      <a:blip r:embed="rId4"/>
                      <a:srcRect/>
                      <a:stretch>
                        <a:fillRect/>
                      </a:stretch>
                    </p:blipFill>
                    <p:spPr bwMode="auto">
                      <a:xfrm>
                        <a:off x="1293953" y="2132856"/>
                        <a:ext cx="6904263" cy="1944216"/>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8" name="矩形 7"/>
              <p:cNvSpPr/>
              <p:nvPr/>
            </p:nvSpPr>
            <p:spPr>
              <a:xfrm>
                <a:off x="107442" y="4283804"/>
                <a:ext cx="8497068" cy="369332"/>
              </a:xfrm>
              <a:prstGeom prst="rect">
                <a:avLst/>
              </a:prstGeom>
            </p:spPr>
            <p:txBody>
              <a:bodyPr wrap="square">
                <a:spAutoFit/>
              </a:bodyPr>
              <a:lstStyle/>
              <a:p>
                <a:r>
                  <a:rPr lang="en-US" altLang="zh-CN" dirty="0"/>
                  <a:t>The external agent must therefore apply a force of 2.87</a:t>
                </a:r>
                <a14:m>
                  <m:oMath xmlns:m="http://schemas.openxmlformats.org/officeDocument/2006/math">
                    <m:r>
                      <a:rPr lang="en-US" altLang="zh-CN" i="1" smtClean="0">
                        <a:latin typeface="Cambria Math" panose="02040503050406030204"/>
                        <a:ea typeface="Cambria Math" panose="02040503050406030204"/>
                      </a:rPr>
                      <m:t>×</m:t>
                    </m:r>
                  </m:oMath>
                </a14:m>
                <a:r>
                  <a:rPr lang="en-US" altLang="zh-CN" dirty="0"/>
                  <a:t>10</a:t>
                </a:r>
                <a:r>
                  <a:rPr lang="en-US" altLang="zh-CN" baseline="30000" dirty="0"/>
                  <a:t>–8</a:t>
                </a:r>
                <a:r>
                  <a:rPr lang="en-US" altLang="zh-CN" dirty="0"/>
                  <a:t> N, to the left.</a:t>
                </a:r>
                <a:endParaRPr lang="zh-CN" altLang="zh-CN" dirty="0"/>
              </a:p>
            </p:txBody>
          </p:sp>
        </mc:Choice>
        <mc:Fallback>
          <p:sp>
            <p:nvSpPr>
              <p:cNvPr id="8" name="矩形 7"/>
              <p:cNvSpPr>
                <a:spLocks noRot="1" noChangeAspect="1" noMove="1" noResize="1" noEditPoints="1" noAdjustHandles="1" noChangeArrowheads="1" noChangeShapeType="1" noTextEdit="1"/>
              </p:cNvSpPr>
              <p:nvPr/>
            </p:nvSpPr>
            <p:spPr>
              <a:xfrm>
                <a:off x="107442" y="4283804"/>
                <a:ext cx="8497068" cy="369332"/>
              </a:xfrm>
              <a:prstGeom prst="rect">
                <a:avLst/>
              </a:prstGeom>
              <a:blipFill rotWithShape="1">
                <a:blip r:embed="rId5"/>
                <a:stretch>
                  <a:fillRect l="-1" t="-3120" r="3" b="133"/>
                </a:stretch>
              </a:blipFill>
            </p:spPr>
            <p:txBody>
              <a:bodyPr/>
              <a:lstStyle/>
              <a:p>
                <a:r>
                  <a:rPr lang="zh-CN" altLang="en-US">
                    <a:noFill/>
                  </a:rPr>
                  <a:t> </a:t>
                </a:r>
              </a:p>
            </p:txBody>
          </p:sp>
        </mc:Fallback>
      </mc:AlternateContent>
      <p:sp>
        <p:nvSpPr>
          <p:cNvPr id="9" name="矩形 8"/>
          <p:cNvSpPr/>
          <p:nvPr/>
        </p:nvSpPr>
        <p:spPr>
          <a:xfrm>
            <a:off x="35496" y="4790192"/>
            <a:ext cx="6984776" cy="369332"/>
          </a:xfrm>
          <a:prstGeom prst="rect">
            <a:avLst/>
          </a:prstGeom>
        </p:spPr>
        <p:txBody>
          <a:bodyPr wrap="square">
            <a:spAutoFit/>
          </a:bodyPr>
          <a:lstStyle/>
          <a:p>
            <a:r>
              <a:rPr lang="en-US" altLang="zh-CN" dirty="0"/>
              <a:t>(d) The external agent does work at the rate </a:t>
            </a:r>
            <a:endParaRPr lang="zh-CN" altLang="zh-CN" dirty="0"/>
          </a:p>
        </p:txBody>
      </p:sp>
      <mc:AlternateContent xmlns:mc="http://schemas.openxmlformats.org/markup-compatibility/2006">
        <mc:Choice xmlns:a14="http://schemas.microsoft.com/office/drawing/2010/main" Requires="a14">
          <p:sp>
            <p:nvSpPr>
              <p:cNvPr id="10" name="矩形 9"/>
              <p:cNvSpPr/>
              <p:nvPr/>
            </p:nvSpPr>
            <p:spPr>
              <a:xfrm>
                <a:off x="1435093" y="5363924"/>
                <a:ext cx="6621984" cy="369332"/>
              </a:xfrm>
              <a:prstGeom prst="rect">
                <a:avLst/>
              </a:prstGeom>
            </p:spPr>
            <p:txBody>
              <a:bodyPr wrap="square">
                <a:spAutoFit/>
              </a:bodyPr>
              <a:lstStyle/>
              <a:p>
                <a:r>
                  <a:rPr lang="en-US" altLang="zh-CN" i="1" dirty="0"/>
                  <a:t>P = F v</a:t>
                </a:r>
                <a:r>
                  <a:rPr lang="en-US" altLang="zh-CN" dirty="0"/>
                  <a:t> = (2.87</a:t>
                </a:r>
                <a14:m>
                  <m:oMath xmlns:m="http://schemas.openxmlformats.org/officeDocument/2006/math">
                    <m:r>
                      <a:rPr lang="en-US" altLang="zh-CN" i="1" smtClean="0">
                        <a:latin typeface="Cambria Math" panose="02040503050406030204"/>
                        <a:ea typeface="Cambria Math" panose="02040503050406030204"/>
                      </a:rPr>
                      <m:t>×</m:t>
                    </m:r>
                  </m:oMath>
                </a14:m>
                <a:r>
                  <a:rPr lang="en-US" altLang="zh-CN" dirty="0"/>
                  <a:t>10</a:t>
                </a:r>
                <a:r>
                  <a:rPr lang="en-US" altLang="zh-CN" baseline="30000" dirty="0"/>
                  <a:t>–8</a:t>
                </a:r>
                <a:r>
                  <a:rPr lang="en-US" altLang="zh-CN" dirty="0"/>
                  <a:t> N)(5.00 m/s) = 1.44</a:t>
                </a:r>
                <a14:m>
                  <m:oMath xmlns:m="http://schemas.openxmlformats.org/officeDocument/2006/math">
                    <m:r>
                      <a:rPr lang="en-US" altLang="zh-CN" i="1" smtClean="0">
                        <a:latin typeface="Cambria Math" panose="02040503050406030204"/>
                        <a:ea typeface="Cambria Math" panose="02040503050406030204"/>
                      </a:rPr>
                      <m:t>×</m:t>
                    </m:r>
                  </m:oMath>
                </a14:m>
                <a:r>
                  <a:rPr lang="en-US" altLang="zh-CN" dirty="0"/>
                  <a:t>10</a:t>
                </a:r>
                <a:r>
                  <a:rPr lang="en-US" altLang="zh-CN" baseline="30000" dirty="0"/>
                  <a:t>–7</a:t>
                </a:r>
                <a:r>
                  <a:rPr lang="en-US" altLang="zh-CN" dirty="0"/>
                  <a:t> W.</a:t>
                </a:r>
                <a:endParaRPr lang="zh-CN" altLang="zh-CN" dirty="0"/>
              </a:p>
            </p:txBody>
          </p:sp>
        </mc:Choice>
        <mc:Fallback>
          <p:sp>
            <p:nvSpPr>
              <p:cNvPr id="10" name="矩形 9"/>
              <p:cNvSpPr>
                <a:spLocks noRot="1" noChangeAspect="1" noMove="1" noResize="1" noEditPoints="1" noAdjustHandles="1" noChangeArrowheads="1" noChangeShapeType="1" noTextEdit="1"/>
              </p:cNvSpPr>
              <p:nvPr/>
            </p:nvSpPr>
            <p:spPr>
              <a:xfrm>
                <a:off x="1435093" y="5363924"/>
                <a:ext cx="6621984" cy="369332"/>
              </a:xfrm>
              <a:prstGeom prst="rect">
                <a:avLst/>
              </a:prstGeom>
              <a:blipFill rotWithShape="1">
                <a:blip r:embed="rId6"/>
                <a:stretch>
                  <a:fillRect l="-9" t="-3116" r="3" b="129"/>
                </a:stretch>
              </a:blipFill>
            </p:spPr>
            <p:txBody>
              <a:bodyPr/>
              <a:lstStyle/>
              <a:p>
                <a:r>
                  <a:rPr lang="zh-CN" altLang="en-US">
                    <a:noFill/>
                  </a:rPr>
                  <a:t> </a:t>
                </a:r>
              </a:p>
            </p:txBody>
          </p:sp>
        </mc:Fallback>
      </mc:AlternateContent>
      <p:sp>
        <p:nvSpPr>
          <p:cNvPr id="11" name="矩形 10"/>
          <p:cNvSpPr/>
          <p:nvPr/>
        </p:nvSpPr>
        <p:spPr>
          <a:xfrm>
            <a:off x="211722" y="5931239"/>
            <a:ext cx="7241364" cy="369332"/>
          </a:xfrm>
          <a:prstGeom prst="rect">
            <a:avLst/>
          </a:prstGeom>
        </p:spPr>
        <p:txBody>
          <a:bodyPr wrap="square">
            <a:spAutoFit/>
          </a:bodyPr>
          <a:lstStyle/>
          <a:p>
            <a:r>
              <a:rPr lang="en-US" altLang="zh-CN" dirty="0"/>
              <a:t>All the energy supplied by the agent is converted to thermal energy.</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57761"/>
    </mc:Choice>
    <mc:Fallback>
      <p:transition spd="slow" advTm="35776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625" y="142875"/>
            <a:ext cx="685800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altLang="zh-CN" dirty="0"/>
              <a:t>Potential difference across an inductor</a:t>
            </a:r>
            <a:endParaRPr lang="zh-CN" altLang="en-US" dirty="0"/>
          </a:p>
        </p:txBody>
      </p:sp>
      <p:pic>
        <p:nvPicPr>
          <p:cNvPr id="45058" name="Picture 2"/>
          <p:cNvPicPr>
            <a:picLocks noChangeAspect="1" noChangeArrowheads="1"/>
          </p:cNvPicPr>
          <p:nvPr/>
        </p:nvPicPr>
        <p:blipFill>
          <a:blip r:embed="rId1">
            <a:lum bright="-20000" contrast="40000"/>
            <a:extLst>
              <a:ext uri="{28A0092B-C50C-407E-A947-70E740481C1C}">
                <a14:useLocalDpi xmlns:a14="http://schemas.microsoft.com/office/drawing/2010/main" val="0"/>
              </a:ext>
            </a:extLst>
          </a:blip>
          <a:srcRect/>
          <a:stretch>
            <a:fillRect/>
          </a:stretch>
        </p:blipFill>
        <p:spPr bwMode="auto">
          <a:xfrm>
            <a:off x="285750" y="857250"/>
            <a:ext cx="432752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59" name="Picture 3"/>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4572000" y="857250"/>
            <a:ext cx="4411663"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4"/>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71438" y="3071813"/>
            <a:ext cx="4357687" cy="1776412"/>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pic>
        <p:nvPicPr>
          <p:cNvPr id="45061" name="Picture 5"/>
          <p:cNvPicPr>
            <a:picLocks noChangeAspect="1" noChangeArrowheads="1"/>
          </p:cNvPicPr>
          <p:nvPr/>
        </p:nvPicPr>
        <p:blipFill>
          <a:blip r:embed="rId4">
            <a:lum bright="-20000" contrast="40000"/>
            <a:extLst>
              <a:ext uri="{28A0092B-C50C-407E-A947-70E740481C1C}">
                <a14:useLocalDpi xmlns:a14="http://schemas.microsoft.com/office/drawing/2010/main" val="0"/>
              </a:ext>
            </a:extLst>
          </a:blip>
          <a:srcRect/>
          <a:stretch>
            <a:fillRect/>
          </a:stretch>
        </p:blipFill>
        <p:spPr bwMode="auto">
          <a:xfrm>
            <a:off x="4557713" y="3071813"/>
            <a:ext cx="4514850" cy="1785937"/>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93146"/>
    </mc:Choice>
    <mc:Fallback>
      <p:transition spd="slow" advTm="1931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blinds(horizontal)">
                                      <p:cBhvr>
                                        <p:cTn id="7" dur="500"/>
                                        <p:tgtEl>
                                          <p:spTgt spid="450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gtEl>
                                        <p:attrNameLst>
                                          <p:attrName>style.visibility</p:attrName>
                                        </p:attrNameLst>
                                      </p:cBhvr>
                                      <p:to>
                                        <p:strVal val="visible"/>
                                      </p:to>
                                    </p:set>
                                    <p:animEffect transition="in" filter="blinds(horizontal)">
                                      <p:cBhvr>
                                        <p:cTn id="12" dur="500"/>
                                        <p:tgtEl>
                                          <p:spTgt spid="4505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060"/>
                                        </p:tgtEl>
                                        <p:attrNameLst>
                                          <p:attrName>style.visibility</p:attrName>
                                        </p:attrNameLst>
                                      </p:cBhvr>
                                      <p:to>
                                        <p:strVal val="visible"/>
                                      </p:to>
                                    </p:set>
                                    <p:animEffect transition="in" filter="blinds(horizontal)">
                                      <p:cBhvr>
                                        <p:cTn id="17" dur="500"/>
                                        <p:tgtEl>
                                          <p:spTgt spid="4506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061"/>
                                        </p:tgtEl>
                                        <p:attrNameLst>
                                          <p:attrName>style.visibility</p:attrName>
                                        </p:attrNameLst>
                                      </p:cBhvr>
                                      <p:to>
                                        <p:strVal val="visible"/>
                                      </p:to>
                                    </p:set>
                                    <p:animEffect transition="in" filter="blinds(horizontal)">
                                      <p:cBhvr>
                                        <p:cTn id="22" dur="5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50" y="142875"/>
            <a:ext cx="585787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altLang="zh-CN" dirty="0"/>
              <a:t>RL Circuit</a:t>
            </a:r>
            <a:endParaRPr lang="zh-CN" altLang="en-US" dirty="0"/>
          </a:p>
        </p:txBody>
      </p:sp>
      <p:sp>
        <p:nvSpPr>
          <p:cNvPr id="5" name="TextBox 4"/>
          <p:cNvSpPr txBox="1"/>
          <p:nvPr/>
        </p:nvSpPr>
        <p:spPr>
          <a:xfrm>
            <a:off x="285750" y="825501"/>
            <a:ext cx="2428875" cy="369887"/>
          </a:xfrm>
          <a:prstGeom prst="rect">
            <a:avLst/>
          </a:prstGeom>
          <a:noFill/>
        </p:spPr>
        <p:txBody>
          <a:bodyPr>
            <a:spAutoFit/>
          </a:bodyPr>
          <a:lstStyle/>
          <a:p>
            <a:pPr>
              <a:defRPr/>
            </a:pPr>
            <a:r>
              <a:rPr lang="en-US" altLang="zh-CN" sz="1800" b="1" dirty="0">
                <a:latin typeface="+mj-lt"/>
                <a:ea typeface="宋体" panose="02010600030101010101" pitchFamily="2" charset="-122"/>
              </a:rPr>
              <a:t>At </a:t>
            </a:r>
            <a:r>
              <a:rPr lang="en-US" altLang="zh-CN" sz="1800" b="1" i="1" dirty="0">
                <a:latin typeface="+mj-lt"/>
                <a:ea typeface="宋体" panose="02010600030101010101" pitchFamily="2" charset="-122"/>
              </a:rPr>
              <a:t>t = 0,  </a:t>
            </a:r>
            <a:r>
              <a:rPr lang="en-US" altLang="zh-CN" sz="1800" b="1" i="1" dirty="0" err="1">
                <a:latin typeface="+mj-lt"/>
                <a:ea typeface="宋体" panose="02010600030101010101" pitchFamily="2" charset="-122"/>
              </a:rPr>
              <a:t>i</a:t>
            </a:r>
            <a:r>
              <a:rPr lang="en-US" altLang="zh-CN" sz="1800" b="1" i="1" dirty="0">
                <a:latin typeface="+mj-lt"/>
                <a:ea typeface="宋体" panose="02010600030101010101" pitchFamily="2" charset="-122"/>
              </a:rPr>
              <a:t> = 0</a:t>
            </a:r>
            <a:endParaRPr lang="zh-CN" altLang="en-US" sz="1800" b="1" dirty="0">
              <a:latin typeface="+mj-lt"/>
              <a:ea typeface="宋体" panose="02010600030101010101" pitchFamily="2" charset="-122"/>
            </a:endParaRPr>
          </a:p>
        </p:txBody>
      </p:sp>
      <p:pic>
        <p:nvPicPr>
          <p:cNvPr id="3481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767013" y="999543"/>
            <a:ext cx="2247602" cy="1938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676" y="1196752"/>
            <a:ext cx="2357564" cy="1830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50" y="4318163"/>
            <a:ext cx="2088232" cy="1618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9556" y="1091145"/>
            <a:ext cx="3438742" cy="2041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4"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02396" y="3987008"/>
            <a:ext cx="2275421" cy="2074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6"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9891" y="4262426"/>
            <a:ext cx="2592549" cy="1598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7"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750" y="4186389"/>
            <a:ext cx="2481263" cy="463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连接符 5"/>
          <p:cNvCxnSpPr/>
          <p:nvPr/>
        </p:nvCxnSpPr>
        <p:spPr bwMode="auto">
          <a:xfrm>
            <a:off x="139676" y="3501008"/>
            <a:ext cx="8838622" cy="0"/>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646932"/>
            <a:ext cx="8496944" cy="2795958"/>
          </a:xfrm>
          <a:prstGeom prst="rect">
            <a:avLst/>
          </a:prstGeom>
        </p:spPr>
        <p:txBody>
          <a:bodyPr wrap="square">
            <a:spAutoFit/>
          </a:bodyPr>
          <a:lstStyle/>
          <a:p>
            <a:pPr algn="just">
              <a:lnSpc>
                <a:spcPct val="150000"/>
              </a:lnSpc>
            </a:pPr>
            <a:r>
              <a:rPr lang="en-GB" altLang="zh-CN" sz="2400" dirty="0">
                <a:latin typeface="+mj-lt"/>
              </a:rPr>
              <a:t>As shown in below figure, </a:t>
            </a:r>
            <a:r>
              <a:rPr lang="en-US" altLang="zh-CN" sz="2400" dirty="0">
                <a:latin typeface="+mj-lt"/>
              </a:rPr>
              <a:t>after switch S is closed at time </a:t>
            </a:r>
            <a:r>
              <a:rPr lang="en-US" altLang="zh-CN" sz="2400" i="1" dirty="0">
                <a:latin typeface="+mj-lt"/>
              </a:rPr>
              <a:t>t=</a:t>
            </a:r>
            <a:r>
              <a:rPr lang="en-US" altLang="zh-CN" sz="2400" dirty="0">
                <a:latin typeface="+mj-lt"/>
              </a:rPr>
              <a:t>0, the </a:t>
            </a:r>
            <a:r>
              <a:rPr lang="en-US" altLang="zh-CN" sz="2400" dirty="0" err="1">
                <a:latin typeface="+mj-lt"/>
              </a:rPr>
              <a:t>emf</a:t>
            </a:r>
            <a:r>
              <a:rPr lang="en-US" altLang="zh-CN" sz="2400" dirty="0">
                <a:latin typeface="+mj-lt"/>
              </a:rPr>
              <a:t> of the source is automatically </a:t>
            </a:r>
            <a:r>
              <a:rPr lang="en-GB" altLang="zh-CN" sz="2400" dirty="0">
                <a:latin typeface="+mj-lt"/>
              </a:rPr>
              <a:t>adjusted to maintain a </a:t>
            </a:r>
            <a:r>
              <a:rPr lang="en-US" altLang="zh-CN" sz="2400" dirty="0">
                <a:latin typeface="+mj-lt"/>
              </a:rPr>
              <a:t>constant current </a:t>
            </a:r>
            <a:r>
              <a:rPr lang="en-US" altLang="zh-CN" sz="2400" i="1" dirty="0" err="1">
                <a:latin typeface="+mj-lt"/>
              </a:rPr>
              <a:t>i</a:t>
            </a:r>
            <a:r>
              <a:rPr lang="en-US" altLang="zh-CN" sz="2400" i="1" dirty="0">
                <a:latin typeface="+mj-lt"/>
              </a:rPr>
              <a:t> </a:t>
            </a:r>
            <a:r>
              <a:rPr lang="en-US" altLang="zh-CN" sz="2400" dirty="0">
                <a:latin typeface="+mj-lt"/>
              </a:rPr>
              <a:t>through S. (a) Find the current through the inductor as a function of time. (b) At what time is the current through the resistor equal to the current through the inductor?</a:t>
            </a:r>
            <a:endParaRPr lang="en-US" altLang="zh-CN" sz="2400" dirty="0">
              <a:latin typeface="+mj-lt"/>
            </a:endParaRPr>
          </a:p>
        </p:txBody>
      </p:sp>
      <p:sp>
        <p:nvSpPr>
          <p:cNvPr id="3"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2</a:t>
            </a:r>
            <a:endParaRPr lang="zh-CN" altLang="en-US" dirty="0"/>
          </a:p>
        </p:txBody>
      </p:sp>
      <p:pic>
        <p:nvPicPr>
          <p:cNvPr id="225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9892" y="3518596"/>
            <a:ext cx="4104456" cy="284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381658"/>
    </mc:Choice>
    <mc:Fallback>
      <p:transition spd="slow" advTm="38165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2</a:t>
            </a:r>
            <a:endParaRPr lang="zh-CN" altLang="en-US" dirty="0"/>
          </a:p>
        </p:txBody>
      </p:sp>
      <p:sp>
        <p:nvSpPr>
          <p:cNvPr id="3" name="矩形 2"/>
          <p:cNvSpPr/>
          <p:nvPr/>
        </p:nvSpPr>
        <p:spPr>
          <a:xfrm>
            <a:off x="251520" y="692696"/>
            <a:ext cx="8496944" cy="5493812"/>
          </a:xfrm>
          <a:prstGeom prst="rect">
            <a:avLst/>
          </a:prstGeom>
        </p:spPr>
        <p:txBody>
          <a:bodyPr wrap="square">
            <a:spAutoFit/>
          </a:bodyPr>
          <a:lstStyle/>
          <a:p>
            <a:pPr>
              <a:lnSpc>
                <a:spcPct val="150000"/>
              </a:lnSpc>
            </a:pPr>
            <a:r>
              <a:rPr lang="en-US" altLang="zh-CN" dirty="0"/>
              <a:t>(a) We assume </a:t>
            </a:r>
            <a:r>
              <a:rPr lang="en-US" altLang="zh-CN" i="1" dirty="0" err="1"/>
              <a:t>i</a:t>
            </a:r>
            <a:r>
              <a:rPr lang="en-US" altLang="zh-CN" dirty="0"/>
              <a:t> is from left to right through the closed switch. We let </a:t>
            </a:r>
            <a:r>
              <a:rPr lang="en-US" altLang="zh-CN" i="1" dirty="0"/>
              <a:t>i</a:t>
            </a:r>
            <a:r>
              <a:rPr lang="en-US" altLang="zh-CN" baseline="-25000" dirty="0"/>
              <a:t>1</a:t>
            </a:r>
            <a:r>
              <a:rPr lang="en-US" altLang="zh-CN" dirty="0"/>
              <a:t> be the current in the resistor and take it to be downward. Let </a:t>
            </a:r>
            <a:r>
              <a:rPr lang="en-US" altLang="zh-CN" i="1" dirty="0"/>
              <a:t>i</a:t>
            </a:r>
            <a:r>
              <a:rPr lang="en-US" altLang="zh-CN" baseline="-25000" dirty="0"/>
              <a:t>2</a:t>
            </a:r>
            <a:r>
              <a:rPr lang="en-US" altLang="zh-CN" dirty="0"/>
              <a:t> be the current in the inductor, also assumed downward. The junction rule gives </a:t>
            </a:r>
            <a:r>
              <a:rPr lang="en-US" altLang="zh-CN" i="1" dirty="0" err="1"/>
              <a:t>i</a:t>
            </a:r>
            <a:r>
              <a:rPr lang="en-US" altLang="zh-CN" i="1" dirty="0"/>
              <a:t> = i</a:t>
            </a:r>
            <a:r>
              <a:rPr lang="en-US" altLang="zh-CN" baseline="-25000" dirty="0"/>
              <a:t>1</a:t>
            </a:r>
            <a:r>
              <a:rPr lang="en-US" altLang="zh-CN" dirty="0"/>
              <a:t> + </a:t>
            </a:r>
            <a:r>
              <a:rPr lang="en-US" altLang="zh-CN" i="1" dirty="0"/>
              <a:t>i</a:t>
            </a:r>
            <a:r>
              <a:rPr lang="en-US" altLang="zh-CN" baseline="-25000" dirty="0"/>
              <a:t>2</a:t>
            </a:r>
            <a:r>
              <a:rPr lang="en-US" altLang="zh-CN" dirty="0"/>
              <a:t> and the loop rule gives </a:t>
            </a:r>
            <a:r>
              <a:rPr lang="en-US" altLang="zh-CN" i="1" dirty="0"/>
              <a:t>i</a:t>
            </a:r>
            <a:r>
              <a:rPr lang="en-US" altLang="zh-CN" baseline="-25000" dirty="0"/>
              <a:t>1</a:t>
            </a:r>
            <a:r>
              <a:rPr lang="en-US" altLang="zh-CN" i="1" dirty="0"/>
              <a:t>R – L</a:t>
            </a:r>
            <a:r>
              <a:rPr lang="en-US" altLang="zh-CN" dirty="0"/>
              <a:t>(</a:t>
            </a:r>
            <a:r>
              <a:rPr lang="en-US" altLang="zh-CN" i="1" dirty="0"/>
              <a:t>di</a:t>
            </a:r>
            <a:r>
              <a:rPr lang="en-US" altLang="zh-CN" baseline="-25000" dirty="0"/>
              <a:t>2</a:t>
            </a:r>
            <a:r>
              <a:rPr lang="en-US" altLang="zh-CN" dirty="0"/>
              <a:t>/</a:t>
            </a:r>
            <a:r>
              <a:rPr lang="en-US" altLang="zh-CN" i="1" dirty="0" err="1"/>
              <a:t>dt</a:t>
            </a:r>
            <a:r>
              <a:rPr lang="en-US" altLang="zh-CN" dirty="0"/>
              <a:t>) = 0. According to the junction rule, (</a:t>
            </a:r>
            <a:r>
              <a:rPr lang="en-US" altLang="zh-CN" i="1" dirty="0"/>
              <a:t>di</a:t>
            </a:r>
            <a:r>
              <a:rPr lang="en-US" altLang="zh-CN" baseline="-25000" dirty="0"/>
              <a:t>1</a:t>
            </a:r>
            <a:r>
              <a:rPr lang="en-US" altLang="zh-CN" dirty="0"/>
              <a:t>/</a:t>
            </a:r>
            <a:r>
              <a:rPr lang="en-US" altLang="zh-CN" i="1" dirty="0" err="1"/>
              <a:t>dt</a:t>
            </a:r>
            <a:r>
              <a:rPr lang="en-US" altLang="zh-CN" dirty="0"/>
              <a:t>)</a:t>
            </a:r>
            <a:r>
              <a:rPr lang="en-US" altLang="zh-CN" i="1" dirty="0"/>
              <a:t> = – </a:t>
            </a:r>
            <a:r>
              <a:rPr lang="en-US" altLang="zh-CN" dirty="0"/>
              <a:t>(</a:t>
            </a:r>
            <a:r>
              <a:rPr lang="en-US" altLang="zh-CN" i="1" dirty="0"/>
              <a:t>di</a:t>
            </a:r>
            <a:r>
              <a:rPr lang="en-US" altLang="zh-CN" baseline="-25000" dirty="0"/>
              <a:t>2</a:t>
            </a:r>
            <a:r>
              <a:rPr lang="en-US" altLang="zh-CN" dirty="0"/>
              <a:t>/</a:t>
            </a:r>
            <a:r>
              <a:rPr lang="en-US" altLang="zh-CN" i="1" dirty="0" err="1"/>
              <a:t>dt</a:t>
            </a:r>
            <a:r>
              <a:rPr lang="en-US" altLang="zh-CN" dirty="0"/>
              <a:t>). We substitute into the loop equation to obtain</a:t>
            </a:r>
            <a:endParaRPr lang="zh-CN" altLang="zh-CN" dirty="0"/>
          </a:p>
          <a:p>
            <a:pPr>
              <a:lnSpc>
                <a:spcPct val="150000"/>
              </a:lnSpc>
            </a:pPr>
            <a:r>
              <a:rPr lang="en-US" altLang="zh-CN" dirty="0"/>
              <a:t> </a:t>
            </a:r>
            <a:endParaRPr lang="zh-CN" altLang="zh-CN" dirty="0"/>
          </a:p>
          <a:p>
            <a:pPr>
              <a:lnSpc>
                <a:spcPct val="150000"/>
              </a:lnSpc>
            </a:pPr>
            <a:r>
              <a:rPr lang="en-US" altLang="zh-CN" dirty="0"/>
              <a:t>This equation is similar to Eq. 30-44, and its solution is the function given as Eq. 30-45:</a:t>
            </a:r>
            <a:endParaRPr lang="zh-CN" altLang="zh-CN" dirty="0"/>
          </a:p>
          <a:p>
            <a:pPr>
              <a:lnSpc>
                <a:spcPct val="150000"/>
              </a:lnSpc>
            </a:pPr>
            <a:r>
              <a:rPr lang="en-US" altLang="zh-CN" dirty="0"/>
              <a:t> </a:t>
            </a:r>
            <a:endParaRPr lang="zh-CN" altLang="zh-CN" dirty="0"/>
          </a:p>
          <a:p>
            <a:pPr>
              <a:lnSpc>
                <a:spcPct val="150000"/>
              </a:lnSpc>
            </a:pPr>
            <a:r>
              <a:rPr lang="en-US" altLang="zh-CN" dirty="0"/>
              <a:t> where </a:t>
            </a:r>
            <a:r>
              <a:rPr lang="en-US" altLang="zh-CN" i="1" dirty="0"/>
              <a:t>i</a:t>
            </a:r>
            <a:r>
              <a:rPr lang="en-US" altLang="zh-CN" baseline="-25000" dirty="0"/>
              <a:t>0</a:t>
            </a:r>
            <a:r>
              <a:rPr lang="en-US" altLang="zh-CN" dirty="0"/>
              <a:t> is the current through the resistor at </a:t>
            </a:r>
            <a:r>
              <a:rPr lang="en-US" altLang="zh-CN" i="1" dirty="0"/>
              <a:t>t</a:t>
            </a:r>
            <a:r>
              <a:rPr lang="en-US" altLang="zh-CN" dirty="0"/>
              <a:t> = 0, just after the switch is closed. Now just after the switch is closed, the inductor prevents the rapid build-up of current in its branch, so at that moment </a:t>
            </a:r>
            <a:r>
              <a:rPr lang="en-US" altLang="zh-CN" i="1" dirty="0"/>
              <a:t>i</a:t>
            </a:r>
            <a:r>
              <a:rPr lang="en-US" altLang="zh-CN" baseline="-25000" dirty="0"/>
              <a:t>2</a:t>
            </a:r>
            <a:r>
              <a:rPr lang="en-US" altLang="zh-CN" dirty="0"/>
              <a:t> = 0 and </a:t>
            </a:r>
            <a:r>
              <a:rPr lang="en-US" altLang="zh-CN" i="1" dirty="0"/>
              <a:t>i</a:t>
            </a:r>
            <a:r>
              <a:rPr lang="en-US" altLang="zh-CN" baseline="-25000" dirty="0"/>
              <a:t>1</a:t>
            </a:r>
            <a:r>
              <a:rPr lang="en-US" altLang="zh-CN" dirty="0"/>
              <a:t> = </a:t>
            </a:r>
            <a:r>
              <a:rPr lang="en-US" altLang="zh-CN" i="1" dirty="0" err="1"/>
              <a:t>i</a:t>
            </a:r>
            <a:r>
              <a:rPr lang="en-US" altLang="zh-CN" dirty="0"/>
              <a:t>. Thus </a:t>
            </a:r>
            <a:r>
              <a:rPr lang="en-US" altLang="zh-CN" i="1" dirty="0"/>
              <a:t>i</a:t>
            </a:r>
            <a:r>
              <a:rPr lang="en-US" altLang="zh-CN" baseline="-25000" dirty="0"/>
              <a:t>0</a:t>
            </a:r>
            <a:r>
              <a:rPr lang="en-US" altLang="zh-CN" dirty="0"/>
              <a:t> = </a:t>
            </a:r>
            <a:r>
              <a:rPr lang="en-US" altLang="zh-CN" i="1" dirty="0" err="1"/>
              <a:t>i</a:t>
            </a:r>
            <a:r>
              <a:rPr lang="en-US" altLang="zh-CN" dirty="0"/>
              <a:t>, so</a:t>
            </a:r>
            <a:endParaRPr lang="zh-CN" altLang="zh-CN" dirty="0"/>
          </a:p>
          <a:p>
            <a:pPr algn="just">
              <a:lnSpc>
                <a:spcPct val="150000"/>
              </a:lnSpc>
            </a:pPr>
            <a:endParaRPr lang="en-US" altLang="zh-CN"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5004048" y="2532240"/>
          <a:ext cx="1440160" cy="608728"/>
        </p:xfrm>
        <a:graphic>
          <a:graphicData uri="http://schemas.openxmlformats.org/presentationml/2006/ole">
            <mc:AlternateContent xmlns:mc="http://schemas.openxmlformats.org/markup-compatibility/2006">
              <mc:Choice xmlns:v="urn:schemas-microsoft-com:vml" Requires="v">
                <p:oleObj spid="_x0000_s19900" name="Equation" r:id="rId1" imgW="926465" imgH="393700" progId="Equation.DSMT4">
                  <p:embed/>
                </p:oleObj>
              </mc:Choice>
              <mc:Fallback>
                <p:oleObj name="Equation" r:id="rId1" imgW="926465" imgH="3937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2532240"/>
                        <a:ext cx="1440160" cy="608728"/>
                      </a:xfrm>
                      <a:prstGeom prst="rect">
                        <a:avLst/>
                      </a:prstGeom>
                      <a:noFill/>
                    </p:spPr>
                  </p:pic>
                </p:oleObj>
              </mc:Fallback>
            </mc:AlternateContent>
          </a:graphicData>
        </a:graphic>
      </p:graphicFrame>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2915816" y="3861048"/>
          <a:ext cx="1584176" cy="493769"/>
        </p:xfrm>
        <a:graphic>
          <a:graphicData uri="http://schemas.openxmlformats.org/presentationml/2006/ole">
            <mc:AlternateContent xmlns:mc="http://schemas.openxmlformats.org/markup-compatibility/2006">
              <mc:Choice xmlns:v="urn:schemas-microsoft-com:vml" Requires="v">
                <p:oleObj spid="_x0000_s19901" name="Equation" r:id="rId3" imgW="736600" imgH="228600" progId="Equation.DSMT4">
                  <p:embed/>
                </p:oleObj>
              </mc:Choice>
              <mc:Fallback>
                <p:oleObj name="Equation" r:id="rId3" imgW="7366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3861048"/>
                        <a:ext cx="1584176" cy="493769"/>
                      </a:xfrm>
                      <a:prstGeom prst="rect">
                        <a:avLst/>
                      </a:prstGeom>
                      <a:noFill/>
                    </p:spPr>
                  </p:pic>
                </p:oleObj>
              </mc:Fallback>
            </mc:AlternateContent>
          </a:graphicData>
        </a:graphic>
      </p:graphicFrame>
      <p:sp>
        <p:nvSpPr>
          <p:cNvPr id="8"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2411760" y="5898476"/>
          <a:ext cx="4343215" cy="554860"/>
        </p:xfrm>
        <a:graphic>
          <a:graphicData uri="http://schemas.openxmlformats.org/presentationml/2006/ole">
            <mc:AlternateContent xmlns:mc="http://schemas.openxmlformats.org/markup-compatibility/2006">
              <mc:Choice xmlns:v="urn:schemas-microsoft-com:vml" Requires="v">
                <p:oleObj spid="_x0000_s19902" name="Equation" r:id="rId5" imgW="2159000" imgH="279400" progId="Equation.DSMT4">
                  <p:embed/>
                </p:oleObj>
              </mc:Choice>
              <mc:Fallback>
                <p:oleObj name="Equation" r:id="rId5" imgW="2159000" imgH="2794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760" y="5898476"/>
                        <a:ext cx="4343215" cy="554860"/>
                      </a:xfrm>
                      <a:prstGeom prst="rect">
                        <a:avLst/>
                      </a:prstGeom>
                      <a:no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5576"/>
    </mc:Choice>
    <mc:Fallback>
      <p:transition spd="slow" advTm="1557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2</a:t>
            </a:r>
            <a:endParaRPr lang="zh-CN" altLang="en-US" dirty="0"/>
          </a:p>
        </p:txBody>
      </p:sp>
      <p:sp>
        <p:nvSpPr>
          <p:cNvPr id="4" name="矩形 3"/>
          <p:cNvSpPr/>
          <p:nvPr/>
        </p:nvSpPr>
        <p:spPr>
          <a:xfrm>
            <a:off x="251520" y="908720"/>
            <a:ext cx="8496944" cy="2308324"/>
          </a:xfrm>
          <a:prstGeom prst="rect">
            <a:avLst/>
          </a:prstGeom>
        </p:spPr>
        <p:txBody>
          <a:bodyPr wrap="square">
            <a:spAutoFit/>
          </a:bodyPr>
          <a:lstStyle/>
          <a:p>
            <a:r>
              <a:rPr lang="en-US" altLang="zh-CN" dirty="0"/>
              <a:t>(b) When </a:t>
            </a:r>
            <a:r>
              <a:rPr lang="en-US" altLang="zh-CN" i="1" dirty="0"/>
              <a:t>i</a:t>
            </a:r>
            <a:r>
              <a:rPr lang="en-US" altLang="zh-CN" baseline="-25000" dirty="0"/>
              <a:t>2</a:t>
            </a:r>
            <a:r>
              <a:rPr lang="en-US" altLang="zh-CN" dirty="0"/>
              <a:t> = </a:t>
            </a:r>
            <a:r>
              <a:rPr lang="en-US" altLang="zh-CN" i="1" dirty="0"/>
              <a:t>i</a:t>
            </a:r>
            <a:r>
              <a:rPr lang="en-US" altLang="zh-CN" baseline="-25000" dirty="0"/>
              <a:t>1</a:t>
            </a:r>
            <a:r>
              <a:rPr lang="en-US" altLang="zh-CN" dirty="0"/>
              <a:t>,</a:t>
            </a:r>
            <a:endParaRPr lang="zh-CN" altLang="zh-CN" dirty="0"/>
          </a:p>
          <a:p>
            <a:r>
              <a:rPr lang="en-US" altLang="zh-CN" dirty="0"/>
              <a:t> </a:t>
            </a:r>
            <a:endParaRPr lang="zh-CN" altLang="zh-CN" dirty="0"/>
          </a:p>
          <a:p>
            <a:endParaRPr lang="en-US" altLang="zh-CN" dirty="0"/>
          </a:p>
          <a:p>
            <a:r>
              <a:rPr lang="en-US" altLang="zh-CN" dirty="0"/>
              <a:t>Taking the natural logarithm of both sides we obtain</a:t>
            </a:r>
            <a:endParaRPr lang="zh-CN" altLang="zh-CN" dirty="0"/>
          </a:p>
          <a:p>
            <a:r>
              <a:rPr lang="en-US" altLang="zh-CN" dirty="0"/>
              <a:t> </a:t>
            </a:r>
            <a:endParaRPr lang="zh-CN" altLang="zh-CN" dirty="0"/>
          </a:p>
          <a:p>
            <a:r>
              <a:rPr lang="en-US" altLang="zh-CN" dirty="0"/>
              <a:t> </a:t>
            </a:r>
            <a:endParaRPr lang="zh-CN" altLang="zh-CN" dirty="0"/>
          </a:p>
          <a:p>
            <a:endParaRPr lang="en-US" altLang="zh-CN" dirty="0"/>
          </a:p>
          <a:p>
            <a:r>
              <a:rPr lang="en-US" altLang="zh-CN" dirty="0"/>
              <a:t>A plot of          as a function of         is shown below.</a:t>
            </a:r>
            <a:endParaRPr lang="zh-CN" altLang="zh-CN" dirty="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2267743" y="836712"/>
          <a:ext cx="3530149" cy="720080"/>
        </p:xfrm>
        <a:graphic>
          <a:graphicData uri="http://schemas.openxmlformats.org/presentationml/2006/ole">
            <mc:AlternateContent xmlns:mc="http://schemas.openxmlformats.org/markup-compatibility/2006">
              <mc:Choice xmlns:v="urn:schemas-microsoft-com:vml" Requires="v">
                <p:oleObj spid="_x0000_s22084" name="Equation" r:id="rId1" imgW="1917065" imgH="393700" progId="Equation.DSMT4">
                  <p:embed/>
                </p:oleObj>
              </mc:Choice>
              <mc:Fallback>
                <p:oleObj name="Equation" r:id="rId1" imgW="1917065" imgH="3937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3" y="836712"/>
                        <a:ext cx="3530149" cy="720080"/>
                      </a:xfrm>
                      <a:prstGeom prst="rect">
                        <a:avLst/>
                      </a:prstGeom>
                      <a:noFill/>
                    </p:spPr>
                  </p:pic>
                </p:oleObj>
              </mc:Fallback>
            </mc:AlternateContent>
          </a:graphicData>
        </a:graphic>
      </p:graphicFrame>
      <p:sp>
        <p:nvSpPr>
          <p:cNvPr id="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2555776" y="2136279"/>
          <a:ext cx="2578596" cy="644649"/>
        </p:xfrm>
        <a:graphic>
          <a:graphicData uri="http://schemas.openxmlformats.org/presentationml/2006/ole">
            <mc:AlternateContent xmlns:mc="http://schemas.openxmlformats.org/markup-compatibility/2006">
              <mc:Choice xmlns:v="urn:schemas-microsoft-com:vml" Requires="v">
                <p:oleObj spid="_x0000_s22085" name="Equation" r:id="rId3" imgW="1714500" imgH="431800" progId="Equation.DSMT4">
                  <p:embed/>
                </p:oleObj>
              </mc:Choice>
              <mc:Fallback>
                <p:oleObj name="Equation" r:id="rId3" imgW="1714500" imgH="431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2136279"/>
                        <a:ext cx="2578596" cy="644649"/>
                      </a:xfrm>
                      <a:prstGeom prst="rect">
                        <a:avLst/>
                      </a:prstGeom>
                      <a:noFill/>
                    </p:spPr>
                  </p:pic>
                </p:oleObj>
              </mc:Fallback>
            </mc:AlternateContent>
          </a:graphicData>
        </a:graphic>
      </p:graphicFrame>
      <p:pic>
        <p:nvPicPr>
          <p:cNvPr id="21509" name="Picture 5" descr="30-5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35696" y="3746673"/>
            <a:ext cx="4464496" cy="270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1254249" y="2852936"/>
          <a:ext cx="523582" cy="364108"/>
        </p:xfrm>
        <a:graphic>
          <a:graphicData uri="http://schemas.openxmlformats.org/presentationml/2006/ole">
            <mc:AlternateContent xmlns:mc="http://schemas.openxmlformats.org/markup-compatibility/2006">
              <mc:Choice xmlns:v="urn:schemas-microsoft-com:vml" Requires="v">
                <p:oleObj spid="_x0000_s22086" name="Equation" r:id="rId6" imgW="8229600" imgH="5791200" progId="Equation.DSMT4">
                  <p:embed/>
                </p:oleObj>
              </mc:Choice>
              <mc:Fallback>
                <p:oleObj name="Equation" r:id="rId6" imgW="8229600" imgH="5791200" progId="Equation.DSMT4">
                  <p:embed/>
                  <p:pic>
                    <p:nvPicPr>
                      <p:cNvPr id="0" name="Object 6"/>
                      <p:cNvPicPr>
                        <a:picLocks noChangeAspect="1" noChangeArrowheads="1"/>
                      </p:cNvPicPr>
                      <p:nvPr/>
                    </p:nvPicPr>
                    <p:blipFill>
                      <a:blip r:embed="rId7"/>
                      <a:srcRect/>
                      <a:stretch>
                        <a:fillRect/>
                      </a:stretch>
                    </p:blipFill>
                    <p:spPr bwMode="auto">
                      <a:xfrm>
                        <a:off x="1254249" y="2852936"/>
                        <a:ext cx="523582" cy="364108"/>
                      </a:xfrm>
                      <a:prstGeom prst="rect">
                        <a:avLst/>
                      </a:prstGeom>
                      <a:noFill/>
                    </p:spPr>
                  </p:pic>
                </p:oleObj>
              </mc:Fallback>
            </mc:AlternateContent>
          </a:graphicData>
        </a:graphic>
      </p:graphicFrame>
      <p:sp>
        <p:nvSpPr>
          <p:cNvPr id="11"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2" name="对象 11"/>
          <p:cNvGraphicFramePr>
            <a:graphicFrameLocks noChangeAspect="1"/>
          </p:cNvGraphicFramePr>
          <p:nvPr/>
        </p:nvGraphicFramePr>
        <p:xfrm>
          <a:off x="3417119" y="2886875"/>
          <a:ext cx="434801" cy="326101"/>
        </p:xfrm>
        <a:graphic>
          <a:graphicData uri="http://schemas.openxmlformats.org/presentationml/2006/ole">
            <mc:AlternateContent xmlns:mc="http://schemas.openxmlformats.org/markup-compatibility/2006">
              <mc:Choice xmlns:v="urn:schemas-microsoft-com:vml" Requires="v">
                <p:oleObj spid="_x0000_s22087" name="Equation" r:id="rId8" imgW="304800" imgH="228600" progId="Equation.DSMT4">
                  <p:embed/>
                </p:oleObj>
              </mc:Choice>
              <mc:Fallback>
                <p:oleObj name="Equation" r:id="rId8" imgW="304800" imgH="2286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7119" y="2886875"/>
                        <a:ext cx="434801" cy="326101"/>
                      </a:xfrm>
                      <a:prstGeom prst="rect">
                        <a:avLst/>
                      </a:prstGeom>
                      <a:no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9462"/>
    </mc:Choice>
    <mc:Fallback>
      <p:transition spd="slow" advTm="2946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142875" y="142875"/>
            <a:ext cx="842962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altLang="zh-CN" dirty="0"/>
              <a:t>Faraday’s law &amp; Inductance</a:t>
            </a:r>
            <a:endParaRPr lang="zh-CN" altLang="en-US" dirty="0"/>
          </a:p>
        </p:txBody>
      </p:sp>
      <p:pic>
        <p:nvPicPr>
          <p:cNvPr id="40965" name="Picture 5"/>
          <p:cNvPicPr>
            <a:picLocks noChangeAspect="1" noChangeArrowheads="1"/>
          </p:cNvPicPr>
          <p:nvPr/>
        </p:nvPicPr>
        <p:blipFill>
          <a:blip r:embed="rId1">
            <a:lum bright="-20000" contrast="40000"/>
            <a:extLst>
              <a:ext uri="{28A0092B-C50C-407E-A947-70E740481C1C}">
                <a14:useLocalDpi xmlns:a14="http://schemas.microsoft.com/office/drawing/2010/main" val="0"/>
              </a:ext>
            </a:extLst>
          </a:blip>
          <a:srcRect/>
          <a:stretch>
            <a:fillRect/>
          </a:stretch>
        </p:blipFill>
        <p:spPr bwMode="auto">
          <a:xfrm>
            <a:off x="589010" y="2610260"/>
            <a:ext cx="21240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Box 67"/>
          <p:cNvSpPr txBox="1"/>
          <p:nvPr/>
        </p:nvSpPr>
        <p:spPr>
          <a:xfrm>
            <a:off x="880455" y="5960188"/>
            <a:ext cx="5594354" cy="369332"/>
          </a:xfrm>
          <a:prstGeom prst="rect">
            <a:avLst/>
          </a:prstGeom>
          <a:noFill/>
        </p:spPr>
        <p:txBody>
          <a:bodyPr wrap="square">
            <a:spAutoFit/>
          </a:bodyPr>
          <a:lstStyle/>
          <a:p>
            <a:pPr>
              <a:defRPr/>
            </a:pPr>
            <a:r>
              <a:rPr lang="en-US" altLang="zh-CN" b="1" i="1" dirty="0">
                <a:effectLst>
                  <a:outerShdw blurRad="38100" dist="38100" dir="2700000" algn="tl">
                    <a:srgbClr val="000000">
                      <a:alpha val="43137"/>
                    </a:srgbClr>
                  </a:outerShdw>
                </a:effectLst>
                <a:ea typeface="宋体" panose="02010600030101010101" pitchFamily="2" charset="-122"/>
              </a:rPr>
              <a:t>M</a:t>
            </a:r>
            <a:r>
              <a:rPr lang="en-US" altLang="zh-CN" b="1" dirty="0">
                <a:effectLst>
                  <a:outerShdw blurRad="38100" dist="38100" dir="2700000" algn="tl">
                    <a:srgbClr val="000000">
                      <a:alpha val="43137"/>
                    </a:srgbClr>
                  </a:outerShdw>
                </a:effectLst>
                <a:ea typeface="宋体" panose="02010600030101010101" pitchFamily="2" charset="-122"/>
              </a:rPr>
              <a:t> : Mutual inductance;     </a:t>
            </a:r>
            <a:endParaRPr lang="zh-CN" altLang="en-US" b="1" dirty="0">
              <a:effectLst>
                <a:outerShdw blurRad="38100" dist="38100" dir="2700000" algn="tl">
                  <a:srgbClr val="000000">
                    <a:alpha val="43137"/>
                  </a:srgbClr>
                </a:outerShdw>
              </a:effectLst>
              <a:ea typeface="宋体" panose="02010600030101010101" pitchFamily="2" charset="-122"/>
            </a:endParaRPr>
          </a:p>
        </p:txBody>
      </p:sp>
      <p:pic>
        <p:nvPicPr>
          <p:cNvPr id="40968" name="Picture 8"/>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787395" y="4153239"/>
            <a:ext cx="18859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9" name="Picture 9"/>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734662" y="1636533"/>
            <a:ext cx="1704061" cy="73211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0970" name="Picture 10"/>
          <p:cNvPicPr>
            <a:picLocks noChangeAspect="1" noChangeArrowheads="1"/>
          </p:cNvPicPr>
          <p:nvPr/>
        </p:nvPicPr>
        <p:blipFill>
          <a:blip r:embed="rId4">
            <a:lum bright="-20000" contrast="40000"/>
            <a:extLst>
              <a:ext uri="{28A0092B-C50C-407E-A947-70E740481C1C}">
                <a14:useLocalDpi xmlns:a14="http://schemas.microsoft.com/office/drawing/2010/main" val="0"/>
              </a:ext>
            </a:extLst>
          </a:blip>
          <a:srcRect/>
          <a:stretch>
            <a:fillRect/>
          </a:stretch>
        </p:blipFill>
        <p:spPr bwMode="auto">
          <a:xfrm>
            <a:off x="787395" y="4931232"/>
            <a:ext cx="2800350" cy="79057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a:blip r:embed="rId5"/>
          <a:stretch>
            <a:fillRect/>
          </a:stretch>
        </p:blipFill>
        <p:spPr>
          <a:xfrm>
            <a:off x="2958998" y="764704"/>
            <a:ext cx="3546416" cy="2017750"/>
          </a:xfrm>
          <a:prstGeom prst="rect">
            <a:avLst/>
          </a:prstGeom>
        </p:spPr>
      </p:pic>
      <p:pic>
        <p:nvPicPr>
          <p:cNvPr id="10" name="图片 9"/>
          <p:cNvPicPr>
            <a:picLocks noChangeAspect="1"/>
          </p:cNvPicPr>
          <p:nvPr/>
        </p:nvPicPr>
        <p:blipFill rotWithShape="1">
          <a:blip r:embed="rId6"/>
          <a:srcRect r="60516"/>
          <a:stretch>
            <a:fillRect/>
          </a:stretch>
        </p:blipFill>
        <p:spPr>
          <a:xfrm>
            <a:off x="5806872" y="2637082"/>
            <a:ext cx="1368152" cy="725487"/>
          </a:xfrm>
          <a:prstGeom prst="rect">
            <a:avLst/>
          </a:prstGeom>
        </p:spPr>
      </p:pic>
      <p:pic>
        <p:nvPicPr>
          <p:cNvPr id="11" name="图片 10"/>
          <p:cNvPicPr>
            <a:picLocks noChangeAspect="1"/>
          </p:cNvPicPr>
          <p:nvPr/>
        </p:nvPicPr>
        <p:blipFill rotWithShape="1">
          <a:blip r:embed="rId7"/>
          <a:srcRect r="62906" b="49804"/>
          <a:stretch>
            <a:fillRect/>
          </a:stretch>
        </p:blipFill>
        <p:spPr>
          <a:xfrm>
            <a:off x="5806872" y="3535910"/>
            <a:ext cx="1757150" cy="780356"/>
          </a:xfrm>
          <a:prstGeom prst="rect">
            <a:avLst/>
          </a:prstGeom>
        </p:spPr>
      </p:pic>
      <p:pic>
        <p:nvPicPr>
          <p:cNvPr id="12" name="图片 11"/>
          <p:cNvPicPr>
            <a:picLocks noChangeAspect="1"/>
          </p:cNvPicPr>
          <p:nvPr/>
        </p:nvPicPr>
        <p:blipFill rotWithShape="1">
          <a:blip r:embed="rId8"/>
          <a:srcRect r="38196"/>
          <a:stretch>
            <a:fillRect/>
          </a:stretch>
        </p:blipFill>
        <p:spPr>
          <a:xfrm>
            <a:off x="788847" y="3176355"/>
            <a:ext cx="2000747" cy="780356"/>
          </a:xfrm>
          <a:prstGeom prst="rect">
            <a:avLst/>
          </a:prstGeom>
        </p:spPr>
      </p:pic>
      <p:pic>
        <p:nvPicPr>
          <p:cNvPr id="59" name="图片 58"/>
          <p:cNvPicPr>
            <a:picLocks noChangeAspect="1"/>
          </p:cNvPicPr>
          <p:nvPr/>
        </p:nvPicPr>
        <p:blipFill rotWithShape="1">
          <a:blip r:embed="rId7"/>
          <a:srcRect t="50985" r="57473"/>
          <a:stretch>
            <a:fillRect/>
          </a:stretch>
        </p:blipFill>
        <p:spPr>
          <a:xfrm>
            <a:off x="5329451" y="4653136"/>
            <a:ext cx="2014513" cy="762000"/>
          </a:xfrm>
          <a:prstGeom prst="rect">
            <a:avLst/>
          </a:prstGeom>
        </p:spPr>
      </p:pic>
      <p:sp>
        <p:nvSpPr>
          <p:cNvPr id="2" name="矩形 1"/>
          <p:cNvSpPr/>
          <p:nvPr/>
        </p:nvSpPr>
        <p:spPr>
          <a:xfrm>
            <a:off x="5874824" y="5971144"/>
            <a:ext cx="2065630" cy="369332"/>
          </a:xfrm>
          <a:prstGeom prst="rect">
            <a:avLst/>
          </a:prstGeom>
        </p:spPr>
        <p:txBody>
          <a:bodyPr wrap="none">
            <a:spAutoFit/>
          </a:bodyPr>
          <a:lstStyle/>
          <a:p>
            <a:pPr lvl="0">
              <a:defRPr/>
            </a:pPr>
            <a:r>
              <a:rPr lang="en-US" altLang="zh-CN" b="1" dirty="0">
                <a:solidFill>
                  <a:srgbClr val="000000"/>
                </a:solidFill>
                <a:effectLst>
                  <a:outerShdw blurRad="38100" dist="38100" dir="2700000" algn="tl">
                    <a:srgbClr val="000000">
                      <a:alpha val="43137"/>
                    </a:srgbClr>
                  </a:outerShdw>
                </a:effectLst>
                <a:ea typeface="宋体" panose="02010600030101010101" pitchFamily="2" charset="-122"/>
              </a:rPr>
              <a:t>L self inductance</a:t>
            </a:r>
            <a:endParaRPr lang="zh-CN" altLang="en-US" b="1" dirty="0">
              <a:solidFill>
                <a:srgbClr val="000000"/>
              </a:solidFill>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871512" y="4171379"/>
            <a:ext cx="6409942" cy="2219241"/>
          </a:xfrm>
          <a:prstGeom prst="rect">
            <a:avLst/>
          </a:prstGeom>
        </p:spPr>
      </p:pic>
      <p:sp>
        <p:nvSpPr>
          <p:cNvPr id="2" name="矩形 1"/>
          <p:cNvSpPr/>
          <p:nvPr/>
        </p:nvSpPr>
        <p:spPr>
          <a:xfrm>
            <a:off x="240459" y="700813"/>
            <a:ext cx="8663081" cy="3288030"/>
          </a:xfrm>
          <a:prstGeom prst="rect">
            <a:avLst/>
          </a:prstGeom>
        </p:spPr>
        <p:txBody>
          <a:bodyPr wrap="square">
            <a:spAutoFit/>
          </a:bodyPr>
          <a:lstStyle/>
          <a:p>
            <a:pPr algn="just">
              <a:lnSpc>
                <a:spcPct val="105000"/>
              </a:lnSpc>
            </a:pPr>
            <a:r>
              <a:rPr lang="en-US" altLang="zh-CN" sz="2200" kern="100" dirty="0">
                <a:latin typeface="+mj-lt"/>
                <a:ea typeface="宋体" panose="02010600030101010101" pitchFamily="2" charset="-122"/>
                <a:cs typeface="Times New Roman" panose="02020603050405020304" pitchFamily="18" charset="0"/>
              </a:rPr>
              <a:t>An ideal long solenoid has 50 turns/cm, radius </a:t>
            </a:r>
            <a:r>
              <a:rPr lang="en-US" altLang="zh-CN" sz="2200" i="1" kern="100" dirty="0">
                <a:latin typeface="+mj-lt"/>
                <a:ea typeface="宋体" panose="02010600030101010101" pitchFamily="2" charset="-122"/>
                <a:cs typeface="Times New Roman" panose="02020603050405020304" pitchFamily="18" charset="0"/>
              </a:rPr>
              <a:t>R </a:t>
            </a:r>
            <a:r>
              <a:rPr lang="en-US" altLang="zh-CN" sz="2200" kern="100" dirty="0">
                <a:latin typeface="+mj-lt"/>
                <a:ea typeface="宋体" panose="02010600030101010101" pitchFamily="2" charset="-122"/>
                <a:cs typeface="Times New Roman" panose="02020603050405020304" pitchFamily="18" charset="0"/>
              </a:rPr>
              <a:t>= 5 cm and length </a:t>
            </a:r>
            <a:r>
              <a:rPr lang="en-US" altLang="zh-CN" sz="2200" i="1" kern="100" dirty="0">
                <a:latin typeface="+mj-lt"/>
                <a:ea typeface="宋体" panose="02010600030101010101" pitchFamily="2" charset="-122"/>
                <a:cs typeface="Times New Roman" panose="02020603050405020304" pitchFamily="18" charset="0"/>
              </a:rPr>
              <a:t>l</a:t>
            </a:r>
            <a:r>
              <a:rPr lang="en-US" altLang="zh-CN" sz="2200" kern="100" dirty="0">
                <a:latin typeface="+mj-lt"/>
                <a:ea typeface="宋体" panose="02010600030101010101" pitchFamily="2" charset="-122"/>
                <a:cs typeface="Times New Roman" panose="02020603050405020304" pitchFamily="18" charset="0"/>
              </a:rPr>
              <a:t> = 52 cm. An ideal battery of </a:t>
            </a:r>
            <a:r>
              <a:rPr lang="en-US" altLang="zh-CN" sz="2200" i="1" kern="0" dirty="0">
                <a:latin typeface="+mj-lt"/>
                <a:ea typeface="方正兰亭超细黑简体" panose="02000000000000000000" pitchFamily="2" charset="-122"/>
                <a:cs typeface="Times New Roman" panose="02020603050405020304" pitchFamily="18" charset="0"/>
              </a:rPr>
              <a:t>ε</a:t>
            </a:r>
            <a:r>
              <a:rPr lang="en-US" altLang="zh-CN" sz="2200" i="1" kern="0" dirty="0">
                <a:latin typeface="+mj-lt"/>
                <a:ea typeface="方正兰亭超细黑简体" panose="02000000000000000000" pitchFamily="2" charset="-122"/>
                <a:cs typeface="Arial" panose="020B0604020202020204" pitchFamily="34" charset="0"/>
              </a:rPr>
              <a:t> </a:t>
            </a:r>
            <a:r>
              <a:rPr lang="en-US" altLang="zh-CN" sz="2200" kern="0" dirty="0">
                <a:latin typeface="+mj-lt"/>
                <a:ea typeface="宋体" panose="02010600030101010101" pitchFamily="2" charset="-122"/>
                <a:cs typeface="Times New Roman" panose="02020603050405020304" pitchFamily="18" charset="0"/>
              </a:rPr>
              <a:t>= 10 V</a:t>
            </a:r>
            <a:r>
              <a:rPr lang="en-US" altLang="zh-CN" sz="2200" kern="100" dirty="0">
                <a:latin typeface="+mj-lt"/>
                <a:ea typeface="宋体" panose="02010600030101010101" pitchFamily="2" charset="-122"/>
                <a:cs typeface="Times New Roman" panose="02020603050405020304" pitchFamily="18" charset="0"/>
              </a:rPr>
              <a:t> and resistor of R</a:t>
            </a:r>
            <a:r>
              <a:rPr lang="en-US" altLang="zh-CN" sz="2200" kern="100" baseline="-25000" dirty="0">
                <a:latin typeface="+mj-lt"/>
                <a:ea typeface="宋体" panose="02010600030101010101" pitchFamily="2" charset="-122"/>
                <a:cs typeface="Times New Roman" panose="02020603050405020304" pitchFamily="18" charset="0"/>
              </a:rPr>
              <a:t>1</a:t>
            </a:r>
            <a:r>
              <a:rPr lang="en-US" altLang="zh-CN" sz="2200" kern="100" dirty="0">
                <a:latin typeface="+mj-lt"/>
                <a:ea typeface="宋体" panose="02010600030101010101" pitchFamily="2" charset="-122"/>
                <a:cs typeface="Times New Roman" panose="02020603050405020304" pitchFamily="18" charset="0"/>
              </a:rPr>
              <a:t> = 10 Ω are in </a:t>
            </a:r>
            <a:r>
              <a:rPr lang="en-US" altLang="zh-CN" sz="2200" kern="100" dirty="0" smtClean="0">
                <a:latin typeface="+mj-lt"/>
                <a:ea typeface="宋体" panose="02010600030101010101" pitchFamily="2" charset="-122"/>
                <a:cs typeface="Times New Roman" panose="02020603050405020304" pitchFamily="18" charset="0"/>
              </a:rPr>
              <a:t>series. </a:t>
            </a:r>
            <a:r>
              <a:rPr lang="en-US" altLang="zh-CN" sz="2200" kern="100" dirty="0">
                <a:latin typeface="+mj-lt"/>
                <a:ea typeface="宋体" panose="02010600030101010101" pitchFamily="2" charset="-122"/>
                <a:cs typeface="Times New Roman" panose="02020603050405020304" pitchFamily="18" charset="0"/>
              </a:rPr>
              <a:t>A triangle wire loop, </a:t>
            </a:r>
            <a:r>
              <a:rPr lang="en-US" altLang="zh-CN" sz="2200" kern="100" dirty="0">
                <a:solidFill>
                  <a:srgbClr val="000000"/>
                </a:solidFill>
                <a:latin typeface="Times New Roman" panose="02020603050405020304"/>
                <a:ea typeface="宋体" panose="02010600030101010101" pitchFamily="2" charset="-122"/>
                <a:cs typeface="Times New Roman" panose="02020603050405020304" pitchFamily="18" charset="0"/>
              </a:rPr>
              <a:t>whose one vertex is at the center of one coil, </a:t>
            </a:r>
            <a:r>
              <a:rPr lang="en-US" altLang="zh-CN" sz="2200" kern="100" dirty="0">
                <a:latin typeface="+mj-lt"/>
                <a:ea typeface="宋体" panose="02010600030101010101" pitchFamily="2" charset="-122"/>
                <a:cs typeface="Times New Roman" panose="02020603050405020304" pitchFamily="18" charset="0"/>
              </a:rPr>
              <a:t>is put in the plane of that coil as shown in figures. </a:t>
            </a:r>
            <a:endParaRPr lang="en-US" altLang="zh-CN" sz="2200" kern="100" dirty="0" smtClean="0">
              <a:latin typeface="+mj-lt"/>
              <a:ea typeface="宋体" panose="02010600030101010101" pitchFamily="2" charset="-122"/>
              <a:cs typeface="Times New Roman" panose="02020603050405020304" pitchFamily="18" charset="0"/>
            </a:endParaRPr>
          </a:p>
          <a:p>
            <a:pPr algn="just">
              <a:lnSpc>
                <a:spcPct val="105000"/>
              </a:lnSpc>
            </a:pPr>
            <a:r>
              <a:rPr lang="en-US" altLang="zh-CN" sz="2200" kern="100" dirty="0" smtClean="0">
                <a:latin typeface="+mj-lt"/>
                <a:ea typeface="宋体" panose="02010600030101010101" pitchFamily="2" charset="-122"/>
                <a:cs typeface="Times New Roman" panose="02020603050405020304" pitchFamily="18" charset="0"/>
              </a:rPr>
              <a:t>a</a:t>
            </a:r>
            <a:r>
              <a:rPr lang="en-US" altLang="zh-CN" sz="2200" kern="100" dirty="0">
                <a:latin typeface="+mj-lt"/>
                <a:ea typeface="宋体" panose="02010600030101010101" pitchFamily="2" charset="-122"/>
                <a:cs typeface="Times New Roman" panose="02020603050405020304" pitchFamily="18" charset="0"/>
              </a:rPr>
              <a:t>)</a:t>
            </a:r>
            <a:r>
              <a:rPr lang="zh-CN" altLang="en-US" sz="2200" kern="100" dirty="0">
                <a:latin typeface="+mj-lt"/>
                <a:ea typeface="宋体" panose="02010600030101010101" pitchFamily="2" charset="-122"/>
                <a:cs typeface="Times New Roman" panose="02020603050405020304" pitchFamily="18" charset="0"/>
              </a:rPr>
              <a:t> </a:t>
            </a:r>
            <a:r>
              <a:rPr lang="en-US" altLang="zh-CN" sz="2200" kern="100" dirty="0">
                <a:latin typeface="+mj-lt"/>
                <a:ea typeface="宋体" panose="02010600030101010101" pitchFamily="2" charset="-122"/>
                <a:cs typeface="Times New Roman" panose="02020603050405020304" pitchFamily="18" charset="0"/>
              </a:rPr>
              <a:t>What is the mutual inductance for this arrangement?</a:t>
            </a:r>
            <a:r>
              <a:rPr lang="en-US" altLang="zh-CN" sz="2200" b="1" kern="100" dirty="0">
                <a:latin typeface="+mj-lt"/>
                <a:ea typeface="宋体" panose="02010600030101010101" pitchFamily="2" charset="-122"/>
                <a:cs typeface="Times New Roman" panose="02020603050405020304" pitchFamily="18" charset="0"/>
              </a:rPr>
              <a:t> </a:t>
            </a:r>
            <a:endParaRPr lang="en-US" altLang="zh-CN" sz="2200" b="1" kern="100" dirty="0">
              <a:latin typeface="+mj-lt"/>
              <a:ea typeface="宋体" panose="02010600030101010101" pitchFamily="2" charset="-122"/>
              <a:cs typeface="Times New Roman" panose="02020603050405020304" pitchFamily="18" charset="0"/>
            </a:endParaRPr>
          </a:p>
          <a:p>
            <a:pPr algn="just">
              <a:lnSpc>
                <a:spcPct val="105000"/>
              </a:lnSpc>
            </a:pPr>
            <a:r>
              <a:rPr lang="en-US" altLang="zh-CN" sz="2200" kern="100" dirty="0">
                <a:latin typeface="+mj-lt"/>
                <a:ea typeface="宋体" panose="02010600030101010101" pitchFamily="2" charset="-122"/>
                <a:cs typeface="Times New Roman" panose="02020603050405020304" pitchFamily="18" charset="0"/>
                <a:sym typeface="+mn-ea"/>
              </a:rPr>
              <a:t>b) Find the induced </a:t>
            </a:r>
            <a:r>
              <a:rPr lang="en-US" altLang="zh-CN" sz="2200" i="1" kern="100" dirty="0">
                <a:latin typeface="+mj-lt"/>
                <a:ea typeface="宋体" panose="02010600030101010101" pitchFamily="2" charset="-122"/>
                <a:cs typeface="Times New Roman" panose="02020603050405020304" pitchFamily="18" charset="0"/>
                <a:sym typeface="+mn-ea"/>
              </a:rPr>
              <a:t>E</a:t>
            </a:r>
            <a:r>
              <a:rPr lang="en-US" altLang="zh-CN" sz="2200" kern="100" dirty="0">
                <a:latin typeface="+mj-lt"/>
                <a:ea typeface="宋体" panose="02010600030101010101" pitchFamily="2" charset="-122"/>
                <a:cs typeface="Times New Roman" panose="02020603050405020304" pitchFamily="18" charset="0"/>
                <a:sym typeface="+mn-ea"/>
              </a:rPr>
              <a:t>(</a:t>
            </a:r>
            <a:r>
              <a:rPr lang="en-US" altLang="zh-CN" sz="2200" i="1" kern="100" dirty="0">
                <a:latin typeface="+mj-lt"/>
                <a:ea typeface="宋体" panose="02010600030101010101" pitchFamily="2" charset="-122"/>
                <a:cs typeface="Times New Roman" panose="02020603050405020304" pitchFamily="18" charset="0"/>
                <a:sym typeface="+mn-ea"/>
              </a:rPr>
              <a:t>r</a:t>
            </a:r>
            <a:r>
              <a:rPr lang="en-US" altLang="zh-CN" sz="2200" kern="100" dirty="0">
                <a:latin typeface="+mj-lt"/>
                <a:ea typeface="宋体" panose="02010600030101010101" pitchFamily="2" charset="-122"/>
                <a:cs typeface="Times New Roman" panose="02020603050405020304" pitchFamily="18" charset="0"/>
                <a:sym typeface="+mn-ea"/>
              </a:rPr>
              <a:t>) in the plane shown in </a:t>
            </a:r>
            <a:r>
              <a:rPr lang="en-US" altLang="zh-CN" sz="2200" kern="100" dirty="0" smtClean="0">
                <a:latin typeface="+mj-lt"/>
                <a:ea typeface="宋体" panose="02010600030101010101" pitchFamily="2" charset="-122"/>
                <a:cs typeface="Times New Roman" panose="02020603050405020304" pitchFamily="18" charset="0"/>
                <a:sym typeface="+mn-ea"/>
              </a:rPr>
              <a:t>the left </a:t>
            </a:r>
            <a:r>
              <a:rPr lang="en-US" altLang="zh-CN" sz="2200" kern="100" dirty="0">
                <a:latin typeface="+mj-lt"/>
                <a:ea typeface="宋体" panose="02010600030101010101" pitchFamily="2" charset="-122"/>
                <a:cs typeface="Times New Roman" panose="02020603050405020304" pitchFamily="18" charset="0"/>
                <a:sym typeface="+mn-ea"/>
              </a:rPr>
              <a:t>figure</a:t>
            </a:r>
            <a:endParaRPr lang="en-US" altLang="zh-CN" sz="2200" b="1" kern="100" dirty="0">
              <a:latin typeface="+mj-lt"/>
              <a:ea typeface="宋体" panose="02010600030101010101" pitchFamily="2" charset="-122"/>
              <a:cs typeface="Times New Roman" panose="02020603050405020304" pitchFamily="18" charset="0"/>
            </a:endParaRPr>
          </a:p>
          <a:p>
            <a:pPr algn="just">
              <a:lnSpc>
                <a:spcPct val="105000"/>
              </a:lnSpc>
            </a:pPr>
            <a:r>
              <a:rPr lang="en-US" altLang="zh-CN" sz="2200" kern="100" dirty="0" smtClean="0">
                <a:latin typeface="+mj-lt"/>
                <a:ea typeface="宋体" panose="02010600030101010101" pitchFamily="2" charset="-122"/>
                <a:cs typeface="Times New Roman" panose="02020603050405020304" pitchFamily="18" charset="0"/>
              </a:rPr>
              <a:t>If the triangle wire loop is replaced by only the straight wire AB, at the same location. </a:t>
            </a:r>
            <a:r>
              <a:rPr lang="en-US" altLang="zh-CN" sz="2200" b="1" kern="100" dirty="0" smtClean="0">
                <a:latin typeface="+mj-lt"/>
                <a:ea typeface="宋体" panose="02010600030101010101" pitchFamily="2" charset="-122"/>
                <a:cs typeface="Times New Roman" panose="02020603050405020304" pitchFamily="18" charset="0"/>
              </a:rPr>
              <a:t>5ms </a:t>
            </a:r>
            <a:r>
              <a:rPr lang="en-US" altLang="zh-CN" sz="2200" kern="100" dirty="0">
                <a:latin typeface="+mj-lt"/>
                <a:ea typeface="宋体" panose="02010600030101010101" pitchFamily="2" charset="-122"/>
                <a:cs typeface="Times New Roman" panose="02020603050405020304" pitchFamily="18" charset="0"/>
              </a:rPr>
              <a:t>after the solenoid connected to the </a:t>
            </a:r>
            <a:r>
              <a:rPr lang="en-US" altLang="zh-CN" sz="2200" kern="100" dirty="0" smtClean="0">
                <a:latin typeface="+mj-lt"/>
                <a:ea typeface="宋体" panose="02010600030101010101" pitchFamily="2" charset="-122"/>
                <a:cs typeface="Times New Roman" panose="02020603050405020304" pitchFamily="18" charset="0"/>
              </a:rPr>
              <a:t>battery,</a:t>
            </a:r>
            <a:endParaRPr lang="en-US" altLang="zh-CN" sz="2200" kern="100" dirty="0">
              <a:latin typeface="+mj-lt"/>
              <a:ea typeface="宋体" panose="02010600030101010101" pitchFamily="2" charset="-122"/>
              <a:cs typeface="Times New Roman" panose="02020603050405020304" pitchFamily="18" charset="0"/>
            </a:endParaRPr>
          </a:p>
          <a:p>
            <a:pPr algn="just">
              <a:lnSpc>
                <a:spcPct val="105000"/>
              </a:lnSpc>
            </a:pPr>
            <a:r>
              <a:rPr lang="en-US" altLang="zh-CN" sz="2200" kern="100" dirty="0">
                <a:latin typeface="+mj-lt"/>
                <a:ea typeface="宋体" panose="02010600030101010101" pitchFamily="2" charset="-122"/>
                <a:cs typeface="Times New Roman" panose="02020603050405020304" pitchFamily="18" charset="0"/>
              </a:rPr>
              <a:t>c) </a:t>
            </a:r>
            <a:r>
              <a:rPr lang="en-US" altLang="zh-CN" sz="2200" kern="100" dirty="0">
                <a:solidFill>
                  <a:srgbClr val="000000"/>
                </a:solidFill>
                <a:latin typeface="Times New Roman" panose="02020603050405020304"/>
                <a:ea typeface="宋体" panose="02010600030101010101" pitchFamily="2" charset="-122"/>
                <a:cs typeface="Times New Roman" panose="02020603050405020304" pitchFamily="18" charset="0"/>
              </a:rPr>
              <a:t>What is the induced emf in the straight wire AB</a:t>
            </a:r>
            <a:r>
              <a:rPr lang="zh-CN" altLang="en-US" sz="2200" kern="100" dirty="0">
                <a:solidFill>
                  <a:srgbClr val="000000"/>
                </a:solidFill>
                <a:latin typeface="Times New Roman" panose="02020603050405020304"/>
                <a:ea typeface="宋体" panose="02010600030101010101" pitchFamily="2" charset="-122"/>
                <a:cs typeface="Times New Roman" panose="02020603050405020304" pitchFamily="18" charset="0"/>
              </a:rPr>
              <a:t> </a:t>
            </a:r>
            <a:endParaRPr lang="en-US" altLang="zh-CN" sz="2200" kern="100" dirty="0" smtClean="0">
              <a:solidFill>
                <a:srgbClr val="000000"/>
              </a:solidFill>
              <a:latin typeface="Times New Roman" panose="02020603050405020304"/>
              <a:ea typeface="宋体" panose="02010600030101010101" pitchFamily="2" charset="-122"/>
              <a:cs typeface="Times New Roman" panose="02020603050405020304" pitchFamily="18" charset="0"/>
            </a:endParaRPr>
          </a:p>
        </p:txBody>
      </p:sp>
      <p:sp>
        <p:nvSpPr>
          <p:cNvPr id="6"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3</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264743"/>
    </mc:Choice>
    <mc:Fallback>
      <p:transition spd="slow" advTm="26474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3</a:t>
            </a:r>
            <a:endParaRPr lang="zh-CN" altLang="en-US" dirty="0"/>
          </a:p>
        </p:txBody>
      </p:sp>
      <p:sp>
        <p:nvSpPr>
          <p:cNvPr id="2" name="矩形 1"/>
          <p:cNvSpPr/>
          <p:nvPr/>
        </p:nvSpPr>
        <p:spPr>
          <a:xfrm>
            <a:off x="467544" y="2657781"/>
            <a:ext cx="7776864" cy="769441"/>
          </a:xfrm>
          <a:prstGeom prst="rect">
            <a:avLst/>
          </a:prstGeom>
        </p:spPr>
        <p:txBody>
          <a:bodyPr wrap="square">
            <a:spAutoFit/>
          </a:bodyPr>
          <a:lstStyle/>
          <a:p>
            <a:r>
              <a:rPr lang="en-US" altLang="zh-CN" sz="2200" kern="100" dirty="0">
                <a:latin typeface="+mj-lt"/>
                <a:ea typeface="宋体" panose="02010600030101010101" pitchFamily="2" charset="-122"/>
                <a:cs typeface="Times New Roman" panose="02020603050405020304" pitchFamily="18" charset="0"/>
              </a:rPr>
              <a:t>By using the definition of mutual inductance, we can get the mutual inductance for arrangement of the loop and solenoid:</a:t>
            </a:r>
            <a:endParaRPr lang="zh-CN" altLang="en-US" sz="2200" dirty="0">
              <a:latin typeface="+mj-lt"/>
            </a:endParaRPr>
          </a:p>
        </p:txBody>
      </p:sp>
      <p:pic>
        <p:nvPicPr>
          <p:cNvPr id="5" name="Picture 10"/>
          <p:cNvPicPr>
            <a:picLocks noChangeAspect="1" noChangeArrowheads="1"/>
          </p:cNvPicPr>
          <p:nvPr/>
        </p:nvPicPr>
        <p:blipFill>
          <a:blip r:embed="rId1">
            <a:lum bright="-20000" contrast="40000"/>
            <a:extLst>
              <a:ext uri="{28A0092B-C50C-407E-A947-70E740481C1C}">
                <a14:useLocalDpi xmlns:a14="http://schemas.microsoft.com/office/drawing/2010/main" val="0"/>
              </a:ext>
            </a:extLst>
          </a:blip>
          <a:srcRect/>
          <a:stretch>
            <a:fillRect/>
          </a:stretch>
        </p:blipFill>
        <p:spPr bwMode="auto">
          <a:xfrm>
            <a:off x="4687833" y="3585133"/>
            <a:ext cx="2614968" cy="738239"/>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7" name="矩形 6"/>
          <p:cNvSpPr/>
          <p:nvPr/>
        </p:nvSpPr>
        <p:spPr>
          <a:xfrm>
            <a:off x="179388" y="789756"/>
            <a:ext cx="6984776" cy="430887"/>
          </a:xfrm>
          <a:prstGeom prst="rect">
            <a:avLst/>
          </a:prstGeom>
        </p:spPr>
        <p:txBody>
          <a:bodyPr wrap="square">
            <a:spAutoFit/>
          </a:bodyPr>
          <a:lstStyle/>
          <a:p>
            <a:pPr lvl="0" indent="200025" eaLnBrk="0" fontAlgn="base" hangingPunct="0">
              <a:spcBef>
                <a:spcPct val="0"/>
              </a:spcBef>
              <a:spcAft>
                <a:spcPct val="0"/>
              </a:spcAft>
            </a:pPr>
            <a:r>
              <a:rPr lang="zh-CN" altLang="zh-CN" sz="2200" dirty="0">
                <a:latin typeface="+mj-lt"/>
                <a:ea typeface="宋体" panose="02010600030101010101" pitchFamily="2" charset="-122"/>
                <a:cs typeface="Times New Roman" panose="02020603050405020304" pitchFamily="18" charset="0"/>
              </a:rPr>
              <a:t>For </a:t>
            </a:r>
            <a:r>
              <a:rPr lang="zh-CN" altLang="zh-CN" sz="2200" i="1" dirty="0">
                <a:latin typeface="+mj-lt"/>
                <a:ea typeface="宋体" panose="02010600030101010101" pitchFamily="2" charset="-122"/>
                <a:cs typeface="Times New Roman" panose="02020603050405020304" pitchFamily="18" charset="0"/>
              </a:rPr>
              <a:t>RL</a:t>
            </a:r>
            <a:r>
              <a:rPr lang="zh-CN" altLang="zh-CN" sz="2200" dirty="0">
                <a:latin typeface="+mj-lt"/>
                <a:ea typeface="宋体" panose="02010600030101010101" pitchFamily="2" charset="-122"/>
                <a:cs typeface="Times New Roman" panose="02020603050405020304" pitchFamily="18" charset="0"/>
              </a:rPr>
              <a:t> </a:t>
            </a:r>
            <a:r>
              <a:rPr lang="zh-CN" altLang="zh-CN" sz="2200" i="1" dirty="0">
                <a:latin typeface="+mj-lt"/>
                <a:ea typeface="宋体" panose="02010600030101010101" pitchFamily="2" charset="-122"/>
                <a:cs typeface="Times New Roman" panose="02020603050405020304" pitchFamily="18" charset="0"/>
              </a:rPr>
              <a:t>DC</a:t>
            </a:r>
            <a:r>
              <a:rPr lang="zh-CN" altLang="zh-CN" sz="2200" dirty="0">
                <a:latin typeface="+mj-lt"/>
                <a:ea typeface="宋体" panose="02010600030101010101" pitchFamily="2" charset="-122"/>
                <a:cs typeface="Times New Roman" panose="02020603050405020304" pitchFamily="18" charset="0"/>
              </a:rPr>
              <a:t> circuit, the increasing current in the loop is:     </a:t>
            </a:r>
            <a:endParaRPr lang="zh-CN" altLang="en-US" sz="2200" dirty="0"/>
          </a:p>
        </p:txBody>
      </p:sp>
      <mc:AlternateContent xmlns:mc="http://schemas.openxmlformats.org/markup-compatibility/2006">
        <mc:Choice xmlns:a14="http://schemas.microsoft.com/office/drawing/2010/main" Requires="a14">
          <p:sp>
            <p:nvSpPr>
              <p:cNvPr id="8" name="矩形 7"/>
              <p:cNvSpPr/>
              <p:nvPr/>
            </p:nvSpPr>
            <p:spPr>
              <a:xfrm>
                <a:off x="753999" y="1276113"/>
                <a:ext cx="6998655" cy="564898"/>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r>
                        <a:rPr lang="zh-CN" altLang="en-US" i="1" smtClean="0">
                          <a:latin typeface="Cambria Math" panose="02040503050406030204" pitchFamily="18" charset="0"/>
                        </a:rPr>
                        <m:t>𝑖</m:t>
                      </m:r>
                      <m:r>
                        <a:rPr lang="zh-CN" altLang="en-US">
                          <a:latin typeface="Cambria Math" panose="02040503050406030204" pitchFamily="18" charset="0"/>
                        </a:rPr>
                        <m:t>=</m:t>
                      </m:r>
                      <m:f>
                        <m:fPr>
                          <m:ctrlPr>
                            <a:rPr lang="zh-CN" altLang="en-US" i="1">
                              <a:latin typeface="Cambria Math" panose="02040503050406030204"/>
                            </a:rPr>
                          </m:ctrlPr>
                        </m:fPr>
                        <m:num>
                          <m:r>
                            <a:rPr lang="zh-CN" altLang="en-US" i="1">
                              <a:latin typeface="Cambria Math" panose="02040503050406030204" pitchFamily="18" charset="0"/>
                            </a:rPr>
                            <m:t>𝜀</m:t>
                          </m:r>
                        </m:num>
                        <m:den>
                          <m:r>
                            <a:rPr lang="zh-CN" altLang="en-US" i="1">
                              <a:latin typeface="Cambria Math" panose="02040503050406030204" pitchFamily="18" charset="0"/>
                            </a:rPr>
                            <m:t>𝑅</m:t>
                          </m:r>
                          <m:r>
                            <a:rPr lang="en-US" altLang="zh-CN" b="0" i="1" baseline="-25000" smtClean="0">
                              <a:latin typeface="Cambria Math" panose="02040503050406030204" pitchFamily="18" charset="0"/>
                            </a:rPr>
                            <m:t>1</m:t>
                          </m:r>
                        </m:den>
                      </m:f>
                      <m:r>
                        <m:rPr>
                          <m:nor/>
                        </m:rPr>
                        <a:rPr lang="zh-CN" altLang="en-US">
                          <a:latin typeface="Cambria Math" panose="02040503050406030204" pitchFamily="18" charset="0"/>
                        </a:rPr>
                        <m:t>(</m:t>
                      </m:r>
                      <m:r>
                        <a:rPr lang="zh-CN" altLang="en-US">
                          <a:latin typeface="Cambria Math" panose="02040503050406030204" pitchFamily="18" charset="0"/>
                        </a:rPr>
                        <m:t>1</m:t>
                      </m:r>
                      <m:r>
                        <a:rPr lang="zh-CN" altLang="en-US">
                          <a:latin typeface="Cambria Math" panose="02040503050406030204" pitchFamily="18" charset="0"/>
                        </a:rPr>
                        <m:t>−</m:t>
                      </m:r>
                      <m:sSup>
                        <m:sSupPr>
                          <m:ctrlPr>
                            <a:rPr lang="zh-CN" altLang="en-US" i="1">
                              <a:latin typeface="Cambria Math" panose="02040503050406030204"/>
                            </a:rPr>
                          </m:ctrlPr>
                        </m:sSupPr>
                        <m:e>
                          <m:r>
                            <a:rPr lang="zh-CN" altLang="en-US" i="1">
                              <a:latin typeface="Cambria Math" panose="02040503050406030204" pitchFamily="18" charset="0"/>
                            </a:rPr>
                            <m:t>𝑒</m:t>
                          </m:r>
                        </m:e>
                        <m:sup>
                          <m:r>
                            <a:rPr lang="zh-CN" altLang="en-US">
                              <a:latin typeface="Cambria Math" panose="02040503050406030204" pitchFamily="18" charset="0"/>
                            </a:rPr>
                            <m:t>−</m:t>
                          </m:r>
                          <m:r>
                            <a:rPr lang="zh-CN" altLang="en-US" i="1">
                              <a:latin typeface="Cambria Math" panose="02040503050406030204" pitchFamily="18" charset="0"/>
                            </a:rPr>
                            <m:t>𝑅</m:t>
                          </m:r>
                          <m:r>
                            <a:rPr lang="en-US" altLang="zh-CN" b="0" i="1" baseline="-25000" smtClean="0">
                              <a:latin typeface="Cambria Math" panose="02040503050406030204" pitchFamily="18" charset="0"/>
                            </a:rPr>
                            <m:t>1</m:t>
                          </m:r>
                          <m:f>
                            <m:fPr>
                              <m:type m:val="lin"/>
                              <m:ctrlPr>
                                <a:rPr lang="zh-CN" altLang="en-US" i="1">
                                  <a:latin typeface="Cambria Math" panose="02040503050406030204"/>
                                </a:rPr>
                              </m:ctrlPr>
                            </m:fPr>
                            <m:num>
                              <m:r>
                                <a:rPr lang="zh-CN" altLang="en-US" i="1">
                                  <a:latin typeface="Cambria Math" panose="02040503050406030204" pitchFamily="18" charset="0"/>
                                </a:rPr>
                                <m:t>𝑡</m:t>
                              </m:r>
                            </m:num>
                            <m:den>
                              <m:r>
                                <a:rPr lang="zh-CN" altLang="en-US" i="1">
                                  <a:latin typeface="Cambria Math" panose="02040503050406030204" pitchFamily="18" charset="0"/>
                                </a:rPr>
                                <m:t>𝐿</m:t>
                              </m:r>
                            </m:den>
                          </m:f>
                        </m:sup>
                      </m:sSup>
                      <m:r>
                        <m:rPr>
                          <m:nor/>
                        </m:rPr>
                        <a:rPr lang="zh-CN" altLang="en-US">
                          <a:latin typeface="Cambria Math" panose="02040503050406030204" pitchFamily="18" charset="0"/>
                        </a:rPr>
                        <m:t>)</m:t>
                      </m:r>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753999" y="1276113"/>
                <a:ext cx="6998655" cy="564898"/>
              </a:xfrm>
              <a:prstGeom prst="rect">
                <a:avLst/>
              </a:prstGeom>
              <a:blipFill rotWithShape="1">
                <a:blip r:embed="rId2"/>
                <a:stretch>
                  <a:fillRect l="-4" t="-70" r="8" b="26"/>
                </a:stretch>
              </a:blipFill>
            </p:spPr>
            <p:txBody>
              <a:bodyPr/>
              <a:lstStyle/>
              <a:p>
                <a:r>
                  <a:rPr lang="zh-CN" altLang="en-US">
                    <a:noFill/>
                  </a:rPr>
                  <a:t> </a:t>
                </a:r>
              </a:p>
            </p:txBody>
          </p:sp>
        </mc:Fallback>
      </mc:AlternateContent>
      <p:sp>
        <p:nvSpPr>
          <p:cNvPr id="9" name="矩形 8"/>
          <p:cNvSpPr/>
          <p:nvPr/>
        </p:nvSpPr>
        <p:spPr>
          <a:xfrm>
            <a:off x="187460" y="2054026"/>
            <a:ext cx="5245347" cy="430887"/>
          </a:xfrm>
          <a:prstGeom prst="rect">
            <a:avLst/>
          </a:prstGeom>
        </p:spPr>
        <p:txBody>
          <a:bodyPr wrap="none">
            <a:spAutoFit/>
          </a:bodyPr>
          <a:lstStyle/>
          <a:p>
            <a:pPr indent="200025" eaLnBrk="0" fontAlgn="base" hangingPunct="0">
              <a:spcBef>
                <a:spcPct val="0"/>
              </a:spcBef>
              <a:spcAft>
                <a:spcPct val="0"/>
              </a:spcAft>
            </a:pPr>
            <a:r>
              <a:rPr lang="en-US" altLang="zh-CN" sz="2200" dirty="0">
                <a:latin typeface="+mj-lt"/>
                <a:ea typeface="宋体" panose="02010600030101010101" pitchFamily="2" charset="-122"/>
                <a:cs typeface="Times New Roman" panose="02020603050405020304" pitchFamily="18" charset="0"/>
              </a:rPr>
              <a:t>The uniform B field inside the solenoid is :</a:t>
            </a:r>
            <a:endParaRPr lang="en-US" altLang="zh-CN" sz="2200" dirty="0">
              <a:latin typeface="+mj-lt"/>
              <a:ea typeface="宋体"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 name="矩形 9"/>
              <p:cNvSpPr/>
              <p:nvPr/>
            </p:nvSpPr>
            <p:spPr>
              <a:xfrm>
                <a:off x="5339689" y="2073558"/>
                <a:ext cx="1311256"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𝐵</m:t>
                      </m:r>
                      <m:r>
                        <a:rPr lang="zh-CN" altLang="en-US" sz="2000" i="0">
                          <a:latin typeface="Cambria Math" panose="02040503050406030204" pitchFamily="18" charset="0"/>
                        </a:rPr>
                        <m:t>=</m:t>
                      </m:r>
                      <m:sSub>
                        <m:sSubPr>
                          <m:ctrlPr>
                            <a:rPr lang="zh-CN" altLang="en-US" sz="2000" i="1">
                              <a:latin typeface="Cambria Math" panose="02040503050406030204"/>
                            </a:rPr>
                          </m:ctrlPr>
                        </m:sSubPr>
                        <m:e>
                          <m:r>
                            <a:rPr lang="zh-CN" altLang="en-US" sz="2000" i="1">
                              <a:latin typeface="Cambria Math" panose="02040503050406030204" pitchFamily="18" charset="0"/>
                            </a:rPr>
                            <m:t>𝜇</m:t>
                          </m:r>
                        </m:e>
                        <m:sub>
                          <m:r>
                            <a:rPr lang="zh-CN" altLang="en-US" sz="2000" i="0">
                              <a:latin typeface="Cambria Math" panose="02040503050406030204" pitchFamily="18" charset="0"/>
                            </a:rPr>
                            <m:t>0</m:t>
                          </m:r>
                        </m:sub>
                      </m:sSub>
                      <m:r>
                        <a:rPr lang="zh-CN" altLang="en-US" sz="2000" i="1">
                          <a:latin typeface="Cambria Math" panose="02040503050406030204" pitchFamily="18" charset="0"/>
                        </a:rPr>
                        <m:t>𝑛𝑖</m:t>
                      </m:r>
                      <m:r>
                        <m:rPr>
                          <m:nor/>
                        </m:rPr>
                        <a:rPr lang="zh-CN" altLang="en-US" sz="2000" i="1">
                          <a:latin typeface="Cambria Math" panose="02040503050406030204" pitchFamily="18" charset="0"/>
                        </a:rPr>
                        <m:t> </m:t>
                      </m:r>
                    </m:oMath>
                  </m:oMathPara>
                </a14:m>
                <a:endParaRPr lang="zh-CN" altLang="en-US" sz="2000" dirty="0"/>
              </a:p>
            </p:txBody>
          </p:sp>
        </mc:Choice>
        <mc:Fallback>
          <p:sp>
            <p:nvSpPr>
              <p:cNvPr id="10" name="矩形 9"/>
              <p:cNvSpPr>
                <a:spLocks noRot="1" noChangeAspect="1" noMove="1" noResize="1" noEditPoints="1" noAdjustHandles="1" noChangeArrowheads="1" noChangeShapeType="1" noTextEdit="1"/>
              </p:cNvSpPr>
              <p:nvPr/>
            </p:nvSpPr>
            <p:spPr>
              <a:xfrm>
                <a:off x="5339689" y="2073558"/>
                <a:ext cx="1311256" cy="400110"/>
              </a:xfrm>
              <a:prstGeom prst="rect">
                <a:avLst/>
              </a:prstGeom>
              <a:blipFill rotWithShape="1">
                <a:blip r:embed="rId3"/>
                <a:stretch>
                  <a:fillRect l="-46" t="-71" r="45" b="86"/>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894176" y="3629025"/>
          <a:ext cx="3286886" cy="694347"/>
        </p:xfrm>
        <a:graphic>
          <a:graphicData uri="http://schemas.openxmlformats.org/presentationml/2006/ole">
            <mc:AlternateContent xmlns:mc="http://schemas.openxmlformats.org/markup-compatibility/2006">
              <mc:Choice xmlns:v="urn:schemas-microsoft-com:vml" Requires="v">
                <p:oleObj spid="_x0000_s35933" name="Equation" r:id="rId4" imgW="49072800" imgH="10363200" progId="Equation.DSMT4">
                  <p:embed/>
                </p:oleObj>
              </mc:Choice>
              <mc:Fallback>
                <p:oleObj name="Equation" r:id="rId4" imgW="49072800" imgH="10363200" progId="Equation.DSMT4">
                  <p:embed/>
                  <p:pic>
                    <p:nvPicPr>
                      <p:cNvPr id="0" name="图片 35932"/>
                      <p:cNvPicPr/>
                      <p:nvPr/>
                    </p:nvPicPr>
                    <p:blipFill>
                      <a:blip r:embed="rId5"/>
                      <a:stretch>
                        <a:fillRect/>
                      </a:stretch>
                    </p:blipFill>
                    <p:spPr>
                      <a:xfrm>
                        <a:off x="894176" y="3629025"/>
                        <a:ext cx="3286886" cy="694347"/>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11" name="矩形 10"/>
              <p:cNvSpPr/>
              <p:nvPr/>
            </p:nvSpPr>
            <p:spPr>
              <a:xfrm>
                <a:off x="899592" y="4525174"/>
                <a:ext cx="5425000" cy="530658"/>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sSub>
                        <m:sSubPr>
                          <m:ctrlPr>
                            <a:rPr lang="zh-CN" altLang="en-US" sz="1500" i="1" smtClean="0">
                              <a:latin typeface="Cambria Math" panose="02040503050406030204"/>
                            </a:rPr>
                          </m:ctrlPr>
                        </m:sSubPr>
                        <m:e>
                          <m:r>
                            <a:rPr lang="zh-CN" altLang="en-US" sz="1500" i="1">
                              <a:latin typeface="Cambria Math" panose="02040503050406030204" pitchFamily="18" charset="0"/>
                            </a:rPr>
                            <m:t>𝐴</m:t>
                          </m:r>
                        </m:e>
                        <m:sub>
                          <m:r>
                            <a:rPr lang="zh-CN" altLang="en-US" sz="1500" i="1">
                              <a:latin typeface="Cambria Math" panose="02040503050406030204" pitchFamily="18" charset="0"/>
                            </a:rPr>
                            <m:t>1</m:t>
                          </m:r>
                        </m:sub>
                      </m:sSub>
                      <m:r>
                        <a:rPr lang="zh-CN" altLang="en-US" sz="1500" i="1">
                          <a:latin typeface="Cambria Math" panose="02040503050406030204" pitchFamily="18" charset="0"/>
                        </a:rPr>
                        <m:t>=</m:t>
                      </m:r>
                      <m:f>
                        <m:fPr>
                          <m:ctrlPr>
                            <a:rPr lang="zh-CN" altLang="en-US" sz="1500" i="1">
                              <a:latin typeface="Cambria Math" panose="02040503050406030204"/>
                            </a:rPr>
                          </m:ctrlPr>
                        </m:fPr>
                        <m:num>
                          <m:r>
                            <a:rPr lang="zh-CN" altLang="en-US" sz="1500" i="1">
                              <a:latin typeface="Cambria Math" panose="02040503050406030204" pitchFamily="18" charset="0"/>
                            </a:rPr>
                            <m:t>1</m:t>
                          </m:r>
                        </m:num>
                        <m:den>
                          <m:r>
                            <a:rPr lang="zh-CN" altLang="en-US" sz="1500" i="1">
                              <a:latin typeface="Cambria Math" panose="02040503050406030204" pitchFamily="18" charset="0"/>
                            </a:rPr>
                            <m:t>2</m:t>
                          </m:r>
                        </m:den>
                      </m:f>
                      <m:sSup>
                        <m:sSupPr>
                          <m:ctrlPr>
                            <a:rPr lang="zh-CN" altLang="en-US" sz="1500" i="1">
                              <a:latin typeface="Cambria Math" panose="02040503050406030204"/>
                            </a:rPr>
                          </m:ctrlPr>
                        </m:sSupPr>
                        <m:e>
                          <m:r>
                            <a:rPr lang="en-US" altLang="zh-CN" sz="1500" b="0" i="1" smtClean="0">
                              <a:latin typeface="Cambria Math" panose="02040503050406030204" pitchFamily="18" charset="0"/>
                            </a:rPr>
                            <m:t>𝑅</m:t>
                          </m:r>
                        </m:e>
                        <m:sup>
                          <m:r>
                            <a:rPr lang="zh-CN" altLang="en-US" sz="1500" i="1">
                              <a:latin typeface="Cambria Math" panose="02040503050406030204" pitchFamily="18" charset="0"/>
                            </a:rPr>
                            <m:t>2</m:t>
                          </m:r>
                        </m:sup>
                      </m:sSup>
                      <m:r>
                        <a:rPr lang="zh-CN" altLang="en-US" sz="1500" i="1">
                          <a:latin typeface="Cambria Math" panose="02040503050406030204" pitchFamily="18" charset="0"/>
                        </a:rPr>
                        <m:t>𝜃</m:t>
                      </m:r>
                      <m:r>
                        <a:rPr lang="zh-CN" altLang="en-US" sz="1500" i="1">
                          <a:latin typeface="Cambria Math" panose="02040503050406030204" pitchFamily="18" charset="0"/>
                        </a:rPr>
                        <m:t>=</m:t>
                      </m:r>
                      <m:f>
                        <m:fPr>
                          <m:ctrlPr>
                            <a:rPr lang="zh-CN" altLang="en-US" sz="1500" i="1">
                              <a:latin typeface="Cambria Math" panose="02040503050406030204"/>
                            </a:rPr>
                          </m:ctrlPr>
                        </m:fPr>
                        <m:num>
                          <m:r>
                            <a:rPr lang="zh-CN" altLang="en-US" sz="1500" i="1">
                              <a:latin typeface="Cambria Math" panose="02040503050406030204" pitchFamily="18" charset="0"/>
                            </a:rPr>
                            <m:t>1</m:t>
                          </m:r>
                        </m:num>
                        <m:den>
                          <m:r>
                            <a:rPr lang="zh-CN" altLang="en-US" sz="1500" i="1">
                              <a:latin typeface="Cambria Math" panose="02040503050406030204" pitchFamily="18" charset="0"/>
                            </a:rPr>
                            <m:t>2</m:t>
                          </m:r>
                        </m:den>
                      </m:f>
                      <m:sSup>
                        <m:sSupPr>
                          <m:ctrlPr>
                            <a:rPr lang="zh-CN" altLang="en-US" sz="1500" i="1">
                              <a:latin typeface="Cambria Math" panose="02040503050406030204"/>
                            </a:rPr>
                          </m:ctrlPr>
                        </m:sSupPr>
                        <m:e>
                          <m:d>
                            <m:dPr>
                              <m:ctrlPr>
                                <a:rPr lang="zh-CN" altLang="en-US" sz="1500" i="1">
                                  <a:latin typeface="Cambria Math" panose="02040503050406030204"/>
                                </a:rPr>
                              </m:ctrlPr>
                            </m:dPr>
                            <m:e>
                              <m:r>
                                <a:rPr lang="en-US" altLang="zh-CN" sz="1500" i="1">
                                  <a:latin typeface="Cambria Math" panose="02040503050406030204" pitchFamily="18" charset="0"/>
                                </a:rPr>
                                <m:t>5</m:t>
                              </m:r>
                              <m:r>
                                <a:rPr lang="en-US" altLang="zh-CN" sz="1500" i="1">
                                  <a:latin typeface="Cambria Math" panose="02040503050406030204" pitchFamily="18" charset="0"/>
                                </a:rPr>
                                <m:t>𝑐𝑚</m:t>
                              </m:r>
                            </m:e>
                          </m:d>
                        </m:e>
                        <m:sup>
                          <m:r>
                            <a:rPr lang="zh-CN" altLang="en-US" sz="1500" i="1">
                              <a:latin typeface="Cambria Math" panose="02040503050406030204" pitchFamily="18" charset="0"/>
                            </a:rPr>
                            <m:t>2</m:t>
                          </m:r>
                        </m:sup>
                      </m:sSup>
                      <m:r>
                        <a:rPr lang="zh-CN" altLang="en-US" sz="1500" i="1">
                          <a:latin typeface="Cambria Math" panose="02040503050406030204" pitchFamily="18" charset="0"/>
                        </a:rPr>
                        <m:t>(</m:t>
                      </m:r>
                      <m:r>
                        <a:rPr lang="en-US" altLang="zh-CN" sz="1500" b="0" i="1" smtClean="0">
                          <a:latin typeface="Cambria Math" panose="02040503050406030204"/>
                        </a:rPr>
                        <m:t>0</m:t>
                      </m:r>
                      <m:r>
                        <a:rPr lang="en-US" altLang="zh-CN" sz="1500" b="0" i="1" smtClean="0">
                          <a:latin typeface="Cambria Math" panose="02040503050406030204"/>
                        </a:rPr>
                        <m:t>.</m:t>
                      </m:r>
                      <m:r>
                        <a:rPr lang="en-US" altLang="zh-CN" sz="1500" b="0" i="1" smtClean="0">
                          <a:latin typeface="Cambria Math" panose="02040503050406030204"/>
                        </a:rPr>
                        <m:t>93</m:t>
                      </m:r>
                      <m:r>
                        <a:rPr lang="zh-CN" altLang="en-US" sz="1500" i="1">
                          <a:latin typeface="Cambria Math" panose="02040503050406030204" pitchFamily="18" charset="0"/>
                        </a:rPr>
                        <m:t>)=</m:t>
                      </m:r>
                      <m:r>
                        <a:rPr lang="zh-CN" altLang="en-US" sz="1500" i="1">
                          <a:latin typeface="Cambria Math" panose="02040503050406030204" pitchFamily="18" charset="0"/>
                        </a:rPr>
                        <m:t>1</m:t>
                      </m:r>
                      <m:r>
                        <a:rPr lang="zh-CN" altLang="en-US" sz="1500" i="1">
                          <a:latin typeface="Cambria Math" panose="02040503050406030204" pitchFamily="18" charset="0"/>
                        </a:rPr>
                        <m:t>.</m:t>
                      </m:r>
                      <m:r>
                        <a:rPr lang="zh-CN" altLang="en-US" sz="1500" i="1">
                          <a:latin typeface="Cambria Math" panose="02040503050406030204" pitchFamily="18" charset="0"/>
                        </a:rPr>
                        <m:t>16</m:t>
                      </m:r>
                      <m:r>
                        <a:rPr lang="zh-CN" altLang="en-US" sz="1500" i="1">
                          <a:latin typeface="Cambria Math" panose="02040503050406030204" pitchFamily="18" charset="0"/>
                        </a:rPr>
                        <m:t>×</m:t>
                      </m:r>
                      <m:sSup>
                        <m:sSupPr>
                          <m:ctrlPr>
                            <a:rPr lang="zh-CN" altLang="en-US" sz="1500" i="1">
                              <a:latin typeface="Cambria Math" panose="02040503050406030204"/>
                            </a:rPr>
                          </m:ctrlPr>
                        </m:sSupPr>
                        <m:e>
                          <m:r>
                            <a:rPr lang="zh-CN" altLang="en-US" sz="1500" i="1">
                              <a:latin typeface="Cambria Math" panose="02040503050406030204" pitchFamily="18" charset="0"/>
                            </a:rPr>
                            <m:t>10</m:t>
                          </m:r>
                        </m:e>
                        <m:sup>
                          <m:r>
                            <a:rPr lang="zh-CN" altLang="en-US" sz="1500" i="1">
                              <a:latin typeface="Cambria Math" panose="02040503050406030204" pitchFamily="18" charset="0"/>
                            </a:rPr>
                            <m:t>−</m:t>
                          </m:r>
                          <m:r>
                            <a:rPr lang="zh-CN" altLang="en-US" sz="1500" i="1">
                              <a:latin typeface="Cambria Math" panose="02040503050406030204" pitchFamily="18" charset="0"/>
                            </a:rPr>
                            <m:t>3</m:t>
                          </m:r>
                        </m:sup>
                      </m:sSup>
                      <m:sSup>
                        <m:sSupPr>
                          <m:ctrlPr>
                            <a:rPr lang="zh-CN" altLang="en-US" sz="1500" i="1">
                              <a:latin typeface="Cambria Math" panose="02040503050406030204"/>
                            </a:rPr>
                          </m:ctrlPr>
                        </m:sSupPr>
                        <m:e>
                          <m:r>
                            <m:rPr>
                              <m:nor/>
                            </m:rPr>
                            <a:rPr lang="zh-CN" altLang="en-US" sz="1500" i="1">
                              <a:latin typeface="+mj-lt"/>
                            </a:rPr>
                            <m:t> </m:t>
                          </m:r>
                          <m:r>
                            <m:rPr>
                              <m:nor/>
                            </m:rPr>
                            <a:rPr lang="zh-CN" altLang="en-US" sz="1500" i="1">
                              <a:latin typeface="+mj-lt"/>
                            </a:rPr>
                            <m:t>m</m:t>
                          </m:r>
                        </m:e>
                        <m:sup>
                          <m:r>
                            <a:rPr lang="en-US" altLang="zh-CN" sz="1500" b="0" i="1" smtClean="0">
                              <a:latin typeface="Cambria Math" panose="02040503050406030204"/>
                            </a:rPr>
                            <m:t>2</m:t>
                          </m:r>
                        </m:sup>
                      </m:sSup>
                      <m:r>
                        <m:rPr>
                          <m:nor/>
                        </m:rPr>
                        <a:rPr lang="zh-CN" altLang="en-US" sz="1500" i="1">
                          <a:latin typeface="+mj-lt"/>
                        </a:rPr>
                        <m:t> </m:t>
                      </m:r>
                    </m:oMath>
                  </m:oMathPara>
                </a14:m>
                <a:endParaRPr lang="zh-CN" altLang="en-US" sz="1500" dirty="0"/>
              </a:p>
            </p:txBody>
          </p:sp>
        </mc:Choice>
        <mc:Fallback>
          <p:sp>
            <p:nvSpPr>
              <p:cNvPr id="11" name="矩形 10"/>
              <p:cNvSpPr>
                <a:spLocks noRot="1" noChangeAspect="1" noMove="1" noResize="1" noEditPoints="1" noAdjustHandles="1" noChangeArrowheads="1" noChangeShapeType="1" noTextEdit="1"/>
              </p:cNvSpPr>
              <p:nvPr/>
            </p:nvSpPr>
            <p:spPr>
              <a:xfrm>
                <a:off x="899592" y="4525174"/>
                <a:ext cx="5425000" cy="530658"/>
              </a:xfrm>
              <a:prstGeom prst="rect">
                <a:avLst/>
              </a:prstGeom>
              <a:blipFill rotWithShape="1">
                <a:blip r:embed="rId6"/>
                <a:stretch>
                  <a:fillRect l="-8" t="-31" r="12" b="113"/>
                </a:stretch>
              </a:blipFill>
            </p:spPr>
            <p:txBody>
              <a:bodyPr/>
              <a:lstStyle/>
              <a:p>
                <a:r>
                  <a:rPr lang="zh-CN" altLang="en-US">
                    <a:noFill/>
                  </a:rPr>
                  <a:t> </a:t>
                </a:r>
              </a:p>
            </p:txBody>
          </p:sp>
        </mc:Fallback>
      </mc:AlternateContent>
      <p:pic>
        <p:nvPicPr>
          <p:cNvPr id="12" name="图片 11"/>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28790"/>
          <a:stretch>
            <a:fillRect/>
          </a:stretch>
        </p:blipFill>
        <p:spPr>
          <a:xfrm>
            <a:off x="6610097" y="4428479"/>
            <a:ext cx="2304256" cy="2016224"/>
          </a:xfrm>
          <a:prstGeom prst="rect">
            <a:avLst/>
          </a:prstGeom>
          <a:noFill/>
          <a:ln>
            <a:noFill/>
          </a:ln>
        </p:spPr>
      </p:pic>
      <p:graphicFrame>
        <p:nvGraphicFramePr>
          <p:cNvPr id="13" name="对象 12"/>
          <p:cNvGraphicFramePr>
            <a:graphicFrameLocks noChangeAspect="1"/>
          </p:cNvGraphicFramePr>
          <p:nvPr/>
        </p:nvGraphicFramePr>
        <p:xfrm>
          <a:off x="828920" y="5437188"/>
          <a:ext cx="4967216" cy="342529"/>
        </p:xfrm>
        <a:graphic>
          <a:graphicData uri="http://schemas.openxmlformats.org/presentationml/2006/ole">
            <mc:AlternateContent xmlns:mc="http://schemas.openxmlformats.org/markup-compatibility/2006">
              <mc:Choice xmlns:v="urn:schemas-microsoft-com:vml" Requires="v">
                <p:oleObj spid="_x0000_s35934" name="Equation" r:id="rId8" imgW="90830400" imgH="5791200" progId="Equation.DSMT4">
                  <p:embed/>
                </p:oleObj>
              </mc:Choice>
              <mc:Fallback>
                <p:oleObj name="Equation" r:id="rId8" imgW="90830400" imgH="5791200" progId="Equation.DSMT4">
                  <p:embed/>
                  <p:pic>
                    <p:nvPicPr>
                      <p:cNvPr id="0" name="对象 3"/>
                      <p:cNvPicPr/>
                      <p:nvPr/>
                    </p:nvPicPr>
                    <p:blipFill>
                      <a:blip r:embed="rId9"/>
                      <a:stretch>
                        <a:fillRect/>
                      </a:stretch>
                    </p:blipFill>
                    <p:spPr>
                      <a:xfrm>
                        <a:off x="828920" y="5437188"/>
                        <a:ext cx="4967216" cy="342529"/>
                      </a:xfrm>
                      <a:prstGeom prst="rect">
                        <a:avLst/>
                      </a:prstGeom>
                    </p:spPr>
                  </p:pic>
                </p:oleObj>
              </mc:Fallback>
            </mc:AlternateContent>
          </a:graphicData>
        </a:graphic>
      </p:graphicFrame>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advTm="44770"/>
    </mc:Choice>
    <mc:Fallback>
      <p:transition spd="slow" advTm="447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3</a:t>
            </a:r>
            <a:endParaRPr lang="zh-CN" altLang="en-US" dirty="0"/>
          </a:p>
        </p:txBody>
      </p:sp>
      <p:pic>
        <p:nvPicPr>
          <p:cNvPr id="22" name="Picture 7" descr="F30_14"/>
          <p:cNvPicPr>
            <a:picLocks noChangeAspect="1" noChangeArrowheads="1"/>
          </p:cNvPicPr>
          <p:nvPr/>
        </p:nvPicPr>
        <p:blipFill>
          <a:blip r:embed="rId1">
            <a:extLst>
              <a:ext uri="{28A0092B-C50C-407E-A947-70E740481C1C}">
                <a14:useLocalDpi xmlns:a14="http://schemas.microsoft.com/office/drawing/2010/main" val="0"/>
              </a:ext>
            </a:extLst>
          </a:blip>
          <a:srcRect l="43742" r="7715" b="76263"/>
          <a:stretch>
            <a:fillRect/>
          </a:stretch>
        </p:blipFill>
        <p:spPr bwMode="auto">
          <a:xfrm>
            <a:off x="6672873" y="2822333"/>
            <a:ext cx="2471127" cy="1939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矩形 24"/>
          <p:cNvSpPr/>
          <p:nvPr/>
        </p:nvSpPr>
        <p:spPr>
          <a:xfrm>
            <a:off x="251520" y="836712"/>
            <a:ext cx="8395265" cy="1015663"/>
          </a:xfrm>
          <a:prstGeom prst="rect">
            <a:avLst/>
          </a:prstGeom>
        </p:spPr>
        <p:txBody>
          <a:bodyPr wrap="square">
            <a:spAutoFit/>
          </a:bodyPr>
          <a:lstStyle/>
          <a:p>
            <a:pPr indent="200025" eaLnBrk="0" fontAlgn="base" hangingPunct="0">
              <a:spcBef>
                <a:spcPct val="0"/>
              </a:spcBef>
              <a:spcAft>
                <a:spcPct val="0"/>
              </a:spcAft>
            </a:pPr>
            <a:r>
              <a:rPr lang="en-US" altLang="zh-CN" sz="2000" dirty="0" smtClean="0">
                <a:latin typeface="+mj-lt"/>
                <a:ea typeface="宋体" panose="02010600030101010101" pitchFamily="2" charset="-122"/>
                <a:cs typeface="Times New Roman" panose="02020603050405020304" pitchFamily="18" charset="0"/>
              </a:rPr>
              <a:t>According to the symmetry of the B field distribution, we can imagine that the E field must also have the same symmetry. So we can choose the closed loop shown in the figure to calculate the induced electric field:</a:t>
            </a:r>
            <a:endParaRPr lang="en-US" altLang="zh-CN" sz="2000" dirty="0">
              <a:latin typeface="+mj-lt"/>
              <a:ea typeface="宋体"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899592" y="2978687"/>
                <a:ext cx="6178164" cy="904158"/>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nary>
                        <m:naryPr>
                          <m:chr m:val="∮"/>
                          <m:grow m:val="on"/>
                          <m:subHide m:val="on"/>
                          <m:supHide m:val="on"/>
                          <m:ctrlPr>
                            <a:rPr lang="zh-CN" altLang="en-US" i="1" smtClean="0">
                              <a:solidFill>
                                <a:srgbClr val="000000"/>
                              </a:solidFill>
                              <a:latin typeface="Cambria Math" panose="02040503050406030204"/>
                            </a:rPr>
                          </m:ctrlPr>
                        </m:naryPr>
                        <m:sub/>
                        <m:sup/>
                        <m:e>
                          <m:acc>
                            <m:accPr>
                              <m:chr m:val="⃗"/>
                              <m:ctrlPr>
                                <a:rPr lang="zh-CN" altLang="en-US" i="1">
                                  <a:solidFill>
                                    <a:srgbClr val="000000"/>
                                  </a:solidFill>
                                  <a:latin typeface="Cambria Math" panose="02040503050406030204"/>
                                </a:rPr>
                              </m:ctrlPr>
                            </m:accPr>
                            <m:e>
                              <m:r>
                                <a:rPr lang="zh-CN" altLang="en-US" i="1">
                                  <a:solidFill>
                                    <a:srgbClr val="000000"/>
                                  </a:solidFill>
                                  <a:latin typeface="Cambria Math" panose="02040503050406030204" pitchFamily="18" charset="0"/>
                                </a:rPr>
                                <m:t>𝐸</m:t>
                              </m:r>
                            </m:e>
                          </m:acc>
                          <m:r>
                            <a:rPr lang="zh-CN" altLang="en-US">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a:rPr>
                              </m:ctrlPr>
                            </m:accPr>
                            <m:e>
                              <m:r>
                                <a:rPr lang="en-US" altLang="zh-CN" b="0" i="1" smtClean="0">
                                  <a:solidFill>
                                    <a:srgbClr val="000000"/>
                                  </a:solidFill>
                                  <a:latin typeface="Cambria Math" panose="02040503050406030204"/>
                                </a:rPr>
                                <m:t>𝑙</m:t>
                              </m:r>
                            </m:e>
                          </m:acc>
                        </m:e>
                      </m:nary>
                      <m:r>
                        <a:rPr lang="zh-CN" altLang="en-US">
                          <a:solidFill>
                            <a:srgbClr val="000000"/>
                          </a:solidFill>
                          <a:latin typeface="Cambria Math" panose="02040503050406030204" pitchFamily="18" charset="0"/>
                        </a:rPr>
                        <m:t>=</m:t>
                      </m:r>
                      <m:nary>
                        <m:naryPr>
                          <m:chr m:val="∮"/>
                          <m:grow m:val="on"/>
                          <m:subHide m:val="on"/>
                          <m:supHide m:val="on"/>
                          <m:ctrlPr>
                            <a:rPr lang="zh-CN" altLang="en-US" i="1">
                              <a:solidFill>
                                <a:srgbClr val="000000"/>
                              </a:solidFill>
                              <a:latin typeface="Cambria Math" panose="02040503050406030204"/>
                            </a:rPr>
                          </m:ctrlPr>
                        </m:naryPr>
                        <m:sub/>
                        <m:sup/>
                        <m:e>
                          <m:r>
                            <a:rPr lang="zh-CN" altLang="en-US" i="1">
                              <a:solidFill>
                                <a:srgbClr val="000000"/>
                              </a:solidFill>
                              <a:latin typeface="Cambria Math" panose="02040503050406030204" pitchFamily="18" charset="0"/>
                            </a:rPr>
                            <m:t>𝐸𝑑𝑠</m:t>
                          </m:r>
                          <m:r>
                            <m:rPr>
                              <m:sty m:val="p"/>
                            </m:rPr>
                            <a:rPr lang="zh-CN" altLang="en-US">
                              <a:solidFill>
                                <a:srgbClr val="000000"/>
                              </a:solidFill>
                              <a:latin typeface="Cambria Math" panose="02040503050406030204" pitchFamily="18" charset="0"/>
                            </a:rPr>
                            <m:t>cos</m:t>
                          </m:r>
                          <m:r>
                            <a:rPr lang="zh-CN" altLang="en-US">
                              <a:solidFill>
                                <a:srgbClr val="000000"/>
                              </a:solidFill>
                              <a:latin typeface="Cambria Math" panose="02040503050406030204" pitchFamily="18" charset="0"/>
                            </a:rPr>
                            <m:t>0</m:t>
                          </m:r>
                          <m:r>
                            <a:rPr lang="zh-CN" altLang="en-US">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nary>
                            <m:naryPr>
                              <m:chr m:val="∮"/>
                              <m:grow m:val="on"/>
                              <m:subHide m:val="on"/>
                              <m:supHide m:val="on"/>
                              <m:ctrlPr>
                                <a:rPr lang="zh-CN" altLang="en-US" i="1">
                                  <a:solidFill>
                                    <a:srgbClr val="000000"/>
                                  </a:solidFill>
                                  <a:latin typeface="Cambria Math" panose="02040503050406030204"/>
                                </a:rPr>
                              </m:ctrlPr>
                            </m:naryPr>
                            <m:sub/>
                            <m:sup/>
                            <m:e>
                              <m:r>
                                <a:rPr lang="zh-CN" altLang="en-US" i="1">
                                  <a:solidFill>
                                    <a:srgbClr val="000000"/>
                                  </a:solidFill>
                                  <a:latin typeface="Cambria Math" panose="02040503050406030204" pitchFamily="18" charset="0"/>
                                </a:rPr>
                                <m:t>𝑑𝑠</m:t>
                              </m:r>
                            </m:e>
                          </m:nary>
                          <m:r>
                            <a:rPr lang="zh-CN" altLang="en-US">
                              <a:solidFill>
                                <a:srgbClr val="000000"/>
                              </a:solidFill>
                              <a:latin typeface="Cambria Math" panose="02040503050406030204" pitchFamily="18" charset="0"/>
                            </a:rPr>
                            <m:t>=</m:t>
                          </m:r>
                          <m:r>
                            <a:rPr lang="zh-CN" altLang="en-US">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𝑟𝐸</m:t>
                          </m:r>
                        </m:e>
                      </m:nary>
                    </m:oMath>
                  </m:oMathPara>
                </a14:m>
                <a:endParaRPr lang="zh-CN" altLang="en-US" dirty="0"/>
              </a:p>
            </p:txBody>
          </p:sp>
        </mc:Choice>
        <mc:Fallback>
          <p:sp>
            <p:nvSpPr>
              <p:cNvPr id="3" name="矩形 2"/>
              <p:cNvSpPr>
                <a:spLocks noRot="1" noChangeAspect="1" noMove="1" noResize="1" noEditPoints="1" noAdjustHandles="1" noChangeArrowheads="1" noChangeShapeType="1" noTextEdit="1"/>
              </p:cNvSpPr>
              <p:nvPr/>
            </p:nvSpPr>
            <p:spPr>
              <a:xfrm>
                <a:off x="899592" y="2978687"/>
                <a:ext cx="6178164" cy="904158"/>
              </a:xfrm>
              <a:prstGeom prst="rect">
                <a:avLst/>
              </a:prstGeom>
              <a:blipFill rotWithShape="1">
                <a:blip r:embed="rId2"/>
                <a:stretch>
                  <a:fillRect l="-7" t="-59" r="1"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899592" y="2095183"/>
                <a:ext cx="6207405" cy="1295611"/>
              </a:xfrm>
              <a:prstGeom prst="rect">
                <a:avLst/>
              </a:prstGeom>
            </p:spPr>
            <p:txBody>
              <a:bodyPr wrap="none">
                <a:spAutoFit/>
              </a:bodyPr>
              <a:lstStyle/>
              <a:p>
                <a:pPr lvl="0"/>
                <a14:m>
                  <m:oMathPara xmlns:m="http://schemas.openxmlformats.org/officeDocument/2006/math">
                    <m:oMathParaPr>
                      <m:jc m:val="left"/>
                    </m:oMathParaPr>
                    <m:oMath xmlns:m="http://schemas.openxmlformats.org/officeDocument/2006/math">
                      <m:m>
                        <m:mPr>
                          <m:mcs>
                            <m:mc>
                              <m:mcPr>
                                <m:count m:val="1"/>
                                <m:mcJc m:val="center"/>
                              </m:mcPr>
                            </m:mc>
                          </m:mcs>
                          <m:plcHide m:val="on"/>
                          <m:ctrlPr>
                            <a:rPr lang="zh-CN" altLang="en-US" i="1">
                              <a:solidFill>
                                <a:srgbClr val="000000"/>
                              </a:solidFill>
                              <a:latin typeface="Cambria Math" panose="02040503050406030204"/>
                            </a:rPr>
                          </m:ctrlPr>
                        </m:mPr>
                        <m:mr>
                          <m:e>
                            <m:nary>
                              <m:naryPr>
                                <m:chr m:val="∮"/>
                                <m:grow m:val="on"/>
                                <m:subHide m:val="on"/>
                                <m:supHide m:val="on"/>
                                <m:ctrlPr>
                                  <a:rPr lang="zh-CN" altLang="en-US" i="1">
                                    <a:solidFill>
                                      <a:srgbClr val="000000"/>
                                    </a:solidFill>
                                    <a:latin typeface="Cambria Math" panose="02040503050406030204"/>
                                  </a:rPr>
                                </m:ctrlPr>
                              </m:naryPr>
                              <m:sub/>
                              <m:sup/>
                              <m:e>
                                <m:acc>
                                  <m:accPr>
                                    <m:chr m:val="⃗"/>
                                    <m:ctrlPr>
                                      <a:rPr lang="zh-CN" altLang="en-US" i="1">
                                        <a:solidFill>
                                          <a:srgbClr val="000000"/>
                                        </a:solidFill>
                                        <a:latin typeface="Cambria Math" panose="02040503050406030204"/>
                                      </a:rPr>
                                    </m:ctrlPr>
                                  </m:accPr>
                                  <m:e>
                                    <m:r>
                                      <a:rPr lang="zh-CN" altLang="en-US" i="1">
                                        <a:solidFill>
                                          <a:srgbClr val="000000"/>
                                        </a:solidFill>
                                        <a:latin typeface="Cambria Math" panose="02040503050406030204" pitchFamily="18" charset="0"/>
                                      </a:rPr>
                                      <m:t>𝐸</m:t>
                                    </m:r>
                                  </m:e>
                                </m:acc>
                                <m:r>
                                  <a:rPr lang="zh-CN" altLang="en-US">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a:rPr>
                                    </m:ctrlPr>
                                  </m:accPr>
                                  <m:e>
                                    <m:r>
                                      <a:rPr lang="en-US" altLang="zh-CN" i="1">
                                        <a:solidFill>
                                          <a:srgbClr val="000000"/>
                                        </a:solidFill>
                                        <a:latin typeface="Cambria Math" panose="02040503050406030204"/>
                                      </a:rPr>
                                      <m:t>𝑙</m:t>
                                    </m:r>
                                  </m:e>
                                </m:acc>
                              </m:e>
                            </m:nary>
                            <m:r>
                              <m:rPr>
                                <m:nor/>
                              </m:rPr>
                              <a:rPr lang="zh-CN" altLang="en-US" i="1">
                                <a:solidFill>
                                  <a:srgbClr val="000000"/>
                                </a:solidFill>
                                <a:latin typeface="Cambria Math" panose="02040503050406030204" pitchFamily="18" charset="0"/>
                              </a:rPr>
                              <m:t>=</m:t>
                            </m:r>
                            <m:r>
                              <a:rPr lang="zh-CN" altLang="en-US">
                                <a:solidFill>
                                  <a:srgbClr val="000000"/>
                                </a:solidFill>
                                <a:latin typeface="Cambria Math" panose="02040503050406030204" pitchFamily="18" charset="0"/>
                              </a:rPr>
                              <m:t>−</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a:rPr>
                                    </m:ctrlPr>
                                  </m:sSubPr>
                                  <m:e>
                                    <m:r>
                                      <a:rPr lang="zh-CN" altLang="en-US" i="1">
                                        <a:solidFill>
                                          <a:srgbClr val="000000"/>
                                        </a:solidFill>
                                        <a:latin typeface="Cambria Math" panose="02040503050406030204" pitchFamily="18" charset="0"/>
                                      </a:rPr>
                                      <m:t>𝛷</m:t>
                                    </m:r>
                                  </m:e>
                                  <m:sub>
                                    <m:r>
                                      <a:rPr lang="zh-CN" altLang="en-US" i="1">
                                        <a:solidFill>
                                          <a:srgbClr val="000000"/>
                                        </a:solidFill>
                                        <a:latin typeface="Cambria Math" panose="02040503050406030204" pitchFamily="18" charset="0"/>
                                      </a:rPr>
                                      <m:t>𝐵</m:t>
                                    </m:r>
                                  </m:sub>
                                </m:sSub>
                              </m:num>
                              <m:den>
                                <m:r>
                                  <a:rPr lang="zh-CN" altLang="en-US" i="1">
                                    <a:solidFill>
                                      <a:srgbClr val="000000"/>
                                    </a:solidFill>
                                    <a:latin typeface="Cambria Math" panose="02040503050406030204" pitchFamily="18" charset="0"/>
                                  </a:rPr>
                                  <m:t>𝑑𝑡</m:t>
                                </m:r>
                              </m:den>
                            </m:f>
                            <m:r>
                              <m:rPr>
                                <m:nor/>
                              </m:rPr>
                              <a:rPr lang="zh-CN" altLang="en-US"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a:rPr>
                                </m:ctrlPr>
                              </m:sSupPr>
                              <m:e>
                                <m:r>
                                  <a:rPr lang="zh-CN" altLang="en-US" i="1">
                                    <a:solidFill>
                                      <a:srgbClr val="000000"/>
                                    </a:solidFill>
                                    <a:latin typeface="Cambria Math" panose="02040503050406030204" pitchFamily="18" charset="0"/>
                                  </a:rPr>
                                  <m:t>𝑟</m:t>
                                </m:r>
                              </m:e>
                              <m:sup>
                                <m:r>
                                  <a:rPr lang="zh-CN" altLang="en-US">
                                    <a:solidFill>
                                      <a:srgbClr val="000000"/>
                                    </a:solidFill>
                                    <a:latin typeface="Cambria Math" panose="02040503050406030204" pitchFamily="18" charset="0"/>
                                  </a:rPr>
                                  <m:t>2</m:t>
                                </m:r>
                              </m:sup>
                            </m:sSup>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𝑑𝐵</m:t>
                                </m:r>
                              </m:num>
                              <m:den>
                                <m:r>
                                  <a:rPr lang="zh-CN" altLang="en-US" i="1">
                                    <a:solidFill>
                                      <a:srgbClr val="000000"/>
                                    </a:solidFill>
                                    <a:latin typeface="Cambria Math" panose="02040503050406030204" pitchFamily="18" charset="0"/>
                                  </a:rPr>
                                  <m:t>𝑑𝑡</m:t>
                                </m:r>
                              </m:den>
                            </m:f>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a:rPr>
                              <m:t>𝑓𝑜𝑟</m:t>
                            </m:r>
                            <m:r>
                              <a:rPr lang="en-US" altLang="zh-CN" i="1">
                                <a:solidFill>
                                  <a:srgbClr val="000000"/>
                                </a:solidFill>
                                <a:latin typeface="Cambria Math" panose="02040503050406030204"/>
                              </a:rPr>
                              <m:t> </m:t>
                            </m:r>
                            <m:r>
                              <a:rPr lang="en-US" altLang="zh-CN" i="1">
                                <a:solidFill>
                                  <a:srgbClr val="000000"/>
                                </a:solidFill>
                                <a:latin typeface="Cambria Math" panose="02040503050406030204"/>
                              </a:rPr>
                              <m:t>𝑟</m:t>
                            </m:r>
                            <m:r>
                              <a:rPr lang="en-US" altLang="zh-CN" i="1">
                                <a:solidFill>
                                  <a:srgbClr val="000000"/>
                                </a:solidFill>
                                <a:latin typeface="Cambria Math" panose="02040503050406030204"/>
                              </a:rPr>
                              <m:t>&lt;</m:t>
                            </m:r>
                            <m:r>
                              <a:rPr lang="en-US" altLang="zh-CN" i="1">
                                <a:solidFill>
                                  <a:srgbClr val="000000"/>
                                </a:solidFill>
                                <a:latin typeface="Cambria Math" panose="02040503050406030204"/>
                              </a:rPr>
                              <m:t>𝑅</m:t>
                            </m:r>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𝑜𝑟</m:t>
                            </m:r>
                            <m:r>
                              <a:rPr lang="en-US" altLang="zh-CN"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a:rPr>
                                </m:ctrlPr>
                              </m:sSupPr>
                              <m:e>
                                <m:r>
                                  <a:rPr lang="en-US" altLang="zh-CN" i="1">
                                    <a:solidFill>
                                      <a:srgbClr val="000000"/>
                                    </a:solidFill>
                                    <a:latin typeface="Cambria Math" panose="02040503050406030204" pitchFamily="18" charset="0"/>
                                  </a:rPr>
                                  <m:t>𝑅</m:t>
                                </m:r>
                              </m:e>
                              <m:sup>
                                <m:r>
                                  <a:rPr lang="zh-CN" altLang="en-US">
                                    <a:solidFill>
                                      <a:srgbClr val="000000"/>
                                    </a:solidFill>
                                    <a:latin typeface="Cambria Math" panose="02040503050406030204" pitchFamily="18" charset="0"/>
                                  </a:rPr>
                                  <m:t>2</m:t>
                                </m:r>
                              </m:sup>
                            </m:sSup>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𝑑𝐵</m:t>
                                </m:r>
                              </m:num>
                              <m:den>
                                <m:r>
                                  <a:rPr lang="zh-CN" altLang="en-US" i="1">
                                    <a:solidFill>
                                      <a:srgbClr val="000000"/>
                                    </a:solidFill>
                                    <a:latin typeface="Cambria Math" panose="02040503050406030204" pitchFamily="18" charset="0"/>
                                  </a:rPr>
                                  <m:t>𝑑𝑡</m:t>
                                </m:r>
                              </m:den>
                            </m:f>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𝑓𝑜𝑟</m:t>
                            </m:r>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𝑟</m:t>
                            </m:r>
                            <m:r>
                              <a:rPr lang="en-US" altLang="zh-CN" i="1">
                                <a:solidFill>
                                  <a:srgbClr val="000000"/>
                                </a:solidFill>
                                <a:latin typeface="Cambria Math" panose="02040503050406030204" pitchFamily="18" charset="0"/>
                              </a:rPr>
                              <m:t>&gt;</m:t>
                            </m:r>
                            <m:r>
                              <a:rPr lang="en-US" altLang="zh-CN" i="1">
                                <a:solidFill>
                                  <a:srgbClr val="000000"/>
                                </a:solidFill>
                                <a:latin typeface="Cambria Math" panose="02040503050406030204" pitchFamily="18" charset="0"/>
                              </a:rPr>
                              <m:t>𝑅</m:t>
                            </m:r>
                          </m:e>
                        </m:mr>
                        <m:mr>
                          <m:e/>
                        </m:mr>
                        <m:mr>
                          <m:e/>
                        </m:mr>
                        <m:mr>
                          <m:e/>
                        </m:mr>
                      </m:m>
                    </m:oMath>
                  </m:oMathPara>
                </a14:m>
                <a:endParaRPr lang="zh-CN" altLang="en-US" dirty="0">
                  <a:solidFill>
                    <a:srgbClr val="000000"/>
                  </a:solidFill>
                </a:endParaRPr>
              </a:p>
            </p:txBody>
          </p:sp>
        </mc:Choice>
        <mc:Fallback>
          <p:sp>
            <p:nvSpPr>
              <p:cNvPr id="4" name="矩形 3"/>
              <p:cNvSpPr>
                <a:spLocks noRot="1" noChangeAspect="1" noMove="1" noResize="1" noEditPoints="1" noAdjustHandles="1" noChangeArrowheads="1" noChangeShapeType="1" noTextEdit="1"/>
              </p:cNvSpPr>
              <p:nvPr/>
            </p:nvSpPr>
            <p:spPr>
              <a:xfrm>
                <a:off x="899592" y="2095183"/>
                <a:ext cx="6207405" cy="1295611"/>
              </a:xfrm>
              <a:prstGeom prst="rect">
                <a:avLst/>
              </a:prstGeom>
              <a:blipFill rotWithShape="1">
                <a:blip r:embed="rId3"/>
                <a:stretch>
                  <a:fillRect l="-7" t="-25" r="1" b="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351112" y="4941168"/>
                <a:ext cx="4968552" cy="612140"/>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𝐸</m:t>
                      </m:r>
                      <m:r>
                        <a:rPr lang="en-US" altLang="zh-CN" i="1" baseline="-25000">
                          <a:solidFill>
                            <a:srgbClr val="000000"/>
                          </a:solidFill>
                          <a:latin typeface="Cambria Math" panose="02040503050406030204" pitchFamily="18" charset="0"/>
                        </a:rPr>
                        <m:t>𝑜𝑢𝑡</m:t>
                      </m:r>
                      <m:r>
                        <a:rPr lang="en-US" altLang="zh-CN" i="1">
                          <a:solidFill>
                            <a:srgbClr val="000000"/>
                          </a:solidFill>
                          <a:latin typeface="Cambria Math" panose="02040503050406030204" pitchFamily="18" charset="0"/>
                        </a:rPr>
                        <m:t>=</m:t>
                      </m:r>
                      <m:f>
                        <m:fPr>
                          <m:ctrlPr>
                            <a:rPr lang="zh-CN" altLang="en-US" i="1">
                              <a:solidFill>
                                <a:srgbClr val="000000"/>
                              </a:solidFill>
                              <a:latin typeface="Cambria Math" panose="02040503050406030204"/>
                            </a:rPr>
                          </m:ctrlPr>
                        </m:fPr>
                        <m:num>
                          <m:r>
                            <a:rPr lang="en-US" altLang="zh-CN" i="1">
                              <a:solidFill>
                                <a:srgbClr val="000000"/>
                              </a:solidFill>
                              <a:latin typeface="Cambria Math" panose="02040503050406030204" pitchFamily="18" charset="0"/>
                            </a:rPr>
                            <m:t>𝑅</m:t>
                          </m:r>
                          <m:r>
                            <a:rPr lang="en-US" altLang="zh-CN" i="1" baseline="30000">
                              <a:solidFill>
                                <a:srgbClr val="000000"/>
                              </a:solidFill>
                              <a:latin typeface="Cambria Math" panose="02040503050406030204" pitchFamily="18" charset="0"/>
                            </a:rPr>
                            <m:t>2</m:t>
                          </m:r>
                        </m:num>
                        <m:den>
                          <m:r>
                            <a:rPr lang="en-US" altLang="zh-CN">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den>
                      </m:f>
                      <m:sSub>
                        <m:sSubPr>
                          <m:ctrlPr>
                            <a:rPr lang="zh-CN" altLang="en-US" i="1">
                              <a:solidFill>
                                <a:srgbClr val="000000"/>
                              </a:solidFill>
                              <a:latin typeface="Cambria Math" panose="02040503050406030204"/>
                            </a:rPr>
                          </m:ctrlPr>
                        </m:sSubPr>
                        <m:e>
                          <m:r>
                            <a:rPr lang="zh-CN" altLang="en-US" i="1">
                              <a:solidFill>
                                <a:srgbClr val="000000"/>
                              </a:solidFill>
                              <a:latin typeface="Cambria Math" panose="02040503050406030204" pitchFamily="18" charset="0"/>
                            </a:rPr>
                            <m:t>𝜇</m:t>
                          </m:r>
                        </m:e>
                        <m:sub>
                          <m:r>
                            <a:rPr lang="zh-CN" altLang="en-US">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𝑛</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𝑑𝑖</m:t>
                          </m:r>
                        </m:num>
                        <m:den>
                          <m:r>
                            <a:rPr lang="zh-CN" altLang="en-US" i="1">
                              <a:solidFill>
                                <a:srgbClr val="000000"/>
                              </a:solidFill>
                              <a:latin typeface="Cambria Math" panose="02040503050406030204" pitchFamily="18" charset="0"/>
                            </a:rPr>
                            <m:t>𝑑𝑡</m:t>
                          </m:r>
                        </m:den>
                      </m:f>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𝐸</m:t>
                      </m:r>
                      <m:r>
                        <a:rPr lang="en-US" altLang="zh-CN" i="1" baseline="-25000">
                          <a:solidFill>
                            <a:srgbClr val="000000"/>
                          </a:solidFill>
                          <a:latin typeface="Cambria Math" panose="02040503050406030204" pitchFamily="18" charset="0"/>
                        </a:rPr>
                        <m:t>0</m:t>
                      </m:r>
                      <m:f>
                        <m:fPr>
                          <m:ctrlPr>
                            <a:rPr lang="zh-CN" altLang="en-US" i="1">
                              <a:solidFill>
                                <a:srgbClr val="000000"/>
                              </a:solidFill>
                              <a:latin typeface="Cambria Math" panose="02040503050406030204"/>
                            </a:rPr>
                          </m:ctrlPr>
                        </m:fPr>
                        <m:num>
                          <m:r>
                            <a:rPr lang="en-US" altLang="zh-CN" i="1">
                              <a:solidFill>
                                <a:srgbClr val="000000"/>
                              </a:solidFill>
                              <a:latin typeface="Cambria Math" panose="02040503050406030204" pitchFamily="18" charset="0"/>
                            </a:rPr>
                            <m:t>𝑅</m:t>
                          </m:r>
                        </m:num>
                        <m:den>
                          <m:r>
                            <a:rPr lang="zh-CN" altLang="en-US" i="1">
                              <a:solidFill>
                                <a:srgbClr val="000000"/>
                              </a:solidFill>
                              <a:latin typeface="Cambria Math" panose="02040503050406030204" pitchFamily="18" charset="0"/>
                            </a:rPr>
                            <m:t>𝑟</m:t>
                          </m:r>
                        </m:den>
                      </m:f>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𝑟</m:t>
                      </m:r>
                      <m:r>
                        <a:rPr lang="en-US" altLang="zh-CN" i="1">
                          <a:solidFill>
                            <a:srgbClr val="000000"/>
                          </a:solidFill>
                          <a:latin typeface="Cambria Math" panose="02040503050406030204" pitchFamily="18" charset="0"/>
                        </a:rPr>
                        <m:t>&gt;</m:t>
                      </m:r>
                      <m:r>
                        <a:rPr lang="en-US" altLang="zh-CN" i="1">
                          <a:solidFill>
                            <a:srgbClr val="000000"/>
                          </a:solidFill>
                          <a:latin typeface="Cambria Math" panose="02040503050406030204" pitchFamily="18" charset="0"/>
                        </a:rPr>
                        <m:t>𝑅</m:t>
                      </m:r>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1351112" y="4941168"/>
                <a:ext cx="4968552" cy="612140"/>
              </a:xfrm>
              <a:prstGeom prst="rect">
                <a:avLst/>
              </a:prstGeom>
              <a:blipFill rotWithShape="1">
                <a:blip r:embed="rId4"/>
                <a:stretch>
                  <a:fillRect l="-9" t="-1905" r="3"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072515" y="4034790"/>
                <a:ext cx="4563110" cy="61214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𝐸</m:t>
                      </m:r>
                      <m:r>
                        <a:rPr lang="en-US" altLang="zh-CN" i="1" baseline="-25000">
                          <a:solidFill>
                            <a:srgbClr val="000000"/>
                          </a:solidFill>
                          <a:latin typeface="Cambria Math" panose="02040503050406030204" pitchFamily="18" charset="0"/>
                        </a:rPr>
                        <m:t>𝑖𝑛</m:t>
                      </m:r>
                      <m:r>
                        <a:rPr lang="zh-CN" altLang="en-US">
                          <a:solidFill>
                            <a:srgbClr val="000000"/>
                          </a:solidFill>
                          <a:latin typeface="Cambria Math" panose="02040503050406030204" pitchFamily="18" charset="0"/>
                        </a:rPr>
                        <m:t>=</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𝑟</m:t>
                          </m:r>
                        </m:num>
                        <m:den>
                          <m:r>
                            <a:rPr lang="zh-CN" altLang="en-US">
                              <a:solidFill>
                                <a:srgbClr val="000000"/>
                              </a:solidFill>
                              <a:latin typeface="Cambria Math" panose="02040503050406030204" pitchFamily="18" charset="0"/>
                            </a:rPr>
                            <m:t>2</m:t>
                          </m:r>
                        </m:den>
                      </m:f>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𝑑𝐵</m:t>
                          </m:r>
                        </m:num>
                        <m:den>
                          <m:r>
                            <a:rPr lang="zh-CN" altLang="en-US" i="1">
                              <a:solidFill>
                                <a:srgbClr val="000000"/>
                              </a:solidFill>
                              <a:latin typeface="Cambria Math" panose="02040503050406030204" pitchFamily="18" charset="0"/>
                            </a:rPr>
                            <m:t>𝑑𝑡</m:t>
                          </m:r>
                        </m:den>
                      </m:f>
                      <m:r>
                        <a:rPr lang="en-US" altLang="zh-CN" i="1">
                          <a:solidFill>
                            <a:srgbClr val="000000"/>
                          </a:solidFill>
                          <a:latin typeface="Cambria Math" panose="02040503050406030204" pitchFamily="18" charset="0"/>
                        </a:rPr>
                        <m:t>=</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𝑟</m:t>
                          </m:r>
                        </m:num>
                        <m:den>
                          <m:r>
                            <a:rPr lang="zh-CN" altLang="en-US">
                              <a:solidFill>
                                <a:srgbClr val="000000"/>
                              </a:solidFill>
                              <a:latin typeface="Cambria Math" panose="02040503050406030204" pitchFamily="18" charset="0"/>
                            </a:rPr>
                            <m:t>2</m:t>
                          </m:r>
                        </m:den>
                      </m:f>
                      <m:sSub>
                        <m:sSubPr>
                          <m:ctrlPr>
                            <a:rPr lang="zh-CN" altLang="en-US" i="1">
                              <a:solidFill>
                                <a:srgbClr val="000000"/>
                              </a:solidFill>
                              <a:latin typeface="Cambria Math" panose="02040503050406030204"/>
                            </a:rPr>
                          </m:ctrlPr>
                        </m:sSubPr>
                        <m:e>
                          <m:r>
                            <a:rPr lang="zh-CN" altLang="en-US" i="1">
                              <a:solidFill>
                                <a:srgbClr val="000000"/>
                              </a:solidFill>
                              <a:latin typeface="Cambria Math" panose="02040503050406030204" pitchFamily="18" charset="0"/>
                            </a:rPr>
                            <m:t>𝜇</m:t>
                          </m:r>
                        </m:e>
                        <m:sub>
                          <m:r>
                            <a:rPr lang="zh-CN" altLang="en-US">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𝑛</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𝑑𝑖</m:t>
                          </m:r>
                        </m:num>
                        <m:den>
                          <m:r>
                            <a:rPr lang="zh-CN" altLang="en-US" i="1">
                              <a:solidFill>
                                <a:srgbClr val="000000"/>
                              </a:solidFill>
                              <a:latin typeface="Cambria Math" panose="02040503050406030204" pitchFamily="18" charset="0"/>
                            </a:rPr>
                            <m:t>𝑑𝑡</m:t>
                          </m:r>
                        </m:den>
                      </m:f>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𝐸</m:t>
                      </m:r>
                      <m:r>
                        <a:rPr lang="en-US" altLang="zh-CN" i="1" baseline="-25000">
                          <a:solidFill>
                            <a:srgbClr val="000000"/>
                          </a:solidFill>
                          <a:latin typeface="Cambria Math" panose="02040503050406030204" pitchFamily="18" charset="0"/>
                        </a:rPr>
                        <m:t>0</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𝑟</m:t>
                          </m:r>
                        </m:num>
                        <m:den>
                          <m:r>
                            <a:rPr lang="en-US" altLang="zh-CN" i="1">
                              <a:solidFill>
                                <a:srgbClr val="000000"/>
                              </a:solidFill>
                              <a:latin typeface="Cambria Math" panose="02040503050406030204" pitchFamily="18" charset="0"/>
                            </a:rPr>
                            <m:t>𝑅</m:t>
                          </m:r>
                        </m:den>
                      </m:f>
                      <m:r>
                        <a:rPr lang="en-US" altLang="zh-CN" i="1">
                          <a:solidFill>
                            <a:srgbClr val="000000"/>
                          </a:solidFill>
                          <a:latin typeface="Cambria Math" panose="02040503050406030204"/>
                        </a:rPr>
                        <m:t>             </m:t>
                      </m:r>
                      <m:r>
                        <a:rPr lang="en-US" altLang="zh-CN" i="1">
                          <a:solidFill>
                            <a:srgbClr val="000000"/>
                          </a:solidFill>
                          <a:latin typeface="Cambria Math" panose="02040503050406030204"/>
                        </a:rPr>
                        <m:t>𝑟</m:t>
                      </m:r>
                      <m:r>
                        <a:rPr lang="en-US" altLang="zh-CN" i="1">
                          <a:solidFill>
                            <a:srgbClr val="000000"/>
                          </a:solidFill>
                          <a:latin typeface="Cambria Math" panose="02040503050406030204"/>
                        </a:rPr>
                        <m:t>&lt;</m:t>
                      </m:r>
                      <m:r>
                        <a:rPr lang="en-US" altLang="zh-CN" i="1">
                          <a:solidFill>
                            <a:srgbClr val="000000"/>
                          </a:solidFill>
                          <a:latin typeface="Cambria Math" panose="02040503050406030204"/>
                        </a:rPr>
                        <m:t>𝑅</m:t>
                      </m:r>
                      <m:r>
                        <a:rPr lang="en-US" altLang="zh-CN" i="1">
                          <a:solidFill>
                            <a:srgbClr val="000000"/>
                          </a:solidFill>
                          <a:latin typeface="Cambria Math" panose="02040503050406030204" pitchFamily="18" charset="0"/>
                        </a:rPr>
                        <m:t> </m:t>
                      </m:r>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1072515" y="4034790"/>
                <a:ext cx="4563110" cy="612140"/>
              </a:xfrm>
              <a:prstGeom prst="rect">
                <a:avLst/>
              </a:prstGeom>
              <a:blipFill rotWithShape="1">
                <a:blip r:embed="rId5"/>
                <a:stretch>
                  <a:fillRect/>
                </a:stretch>
              </a:blipFill>
            </p:spPr>
            <p:txBody>
              <a:bodyPr/>
              <a:lstStyle/>
              <a:p>
                <a:r>
                  <a:rPr lang="zh-CN" altLang="en-US">
                    <a:noFill/>
                  </a:rPr>
                  <a:t> </a:t>
                </a:r>
              </a:p>
            </p:txBody>
          </p:sp>
        </mc:Fallback>
      </mc:AlternateContent>
      <p:sp>
        <p:nvSpPr>
          <p:cNvPr id="9" name="右箭头 8"/>
          <p:cNvSpPr/>
          <p:nvPr/>
        </p:nvSpPr>
        <p:spPr>
          <a:xfrm>
            <a:off x="467544" y="4653136"/>
            <a:ext cx="648072" cy="360040"/>
          </a:xfrm>
          <a:prstGeom prst="rightArrow">
            <a:avLst/>
          </a:prstGeom>
        </p:spPr>
        <p:txBody>
          <a:bodyPr wrap="square" rtlCol="0" anchor="ctr">
            <a:spAutoFit/>
          </a:bodyPr>
          <a:lstStyle/>
          <a:p>
            <a:pPr algn="ctr" eaLnBrk="1" hangingPunct="1"/>
            <a:endParaRPr lang="zh-CN" altLang="en-US" dirty="0" smtClean="0">
              <a:latin typeface="+mj-lt"/>
            </a:endParaRPr>
          </a:p>
        </p:txBody>
      </p:sp>
      <p:sp>
        <p:nvSpPr>
          <p:cNvPr id="10" name="右箭头 9"/>
          <p:cNvSpPr/>
          <p:nvPr/>
        </p:nvSpPr>
        <p:spPr>
          <a:xfrm>
            <a:off x="542329" y="4653136"/>
            <a:ext cx="501279" cy="180020"/>
          </a:xfrm>
          <a:prstGeom prst="rightArrow">
            <a:avLst/>
          </a:prstGeom>
          <a:solidFill>
            <a:schemeClr val="tx1"/>
          </a:solidFill>
        </p:spPr>
        <p:txBody>
          <a:bodyPr wrap="square" rtlCol="0" anchor="ctr">
            <a:spAutoFit/>
          </a:bodyPr>
          <a:lstStyle/>
          <a:p>
            <a:pPr algn="ctr" eaLnBrk="1" hangingPunct="1"/>
            <a:endParaRPr lang="zh-CN" altLang="en-US" dirty="0" smtClean="0">
              <a:latin typeface="+mj-lt"/>
            </a:endParaRPr>
          </a:p>
        </p:txBody>
      </p:sp>
      <mc:AlternateContent xmlns:mc="http://schemas.openxmlformats.org/markup-compatibility/2006">
        <mc:Choice xmlns:a14="http://schemas.microsoft.com/office/drawing/2010/main" Requires="a14">
          <p:sp>
            <p:nvSpPr>
              <p:cNvPr id="2" name="文本框 1"/>
              <p:cNvSpPr txBox="1"/>
              <p:nvPr/>
            </p:nvSpPr>
            <p:spPr>
              <a:xfrm>
                <a:off x="179705" y="5732780"/>
                <a:ext cx="4802505" cy="61214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a:rPr>
                          </m:ctrlPr>
                        </m:sSubPr>
                        <m:e>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𝐸</m:t>
                          </m:r>
                          <m:r>
                            <a:rPr lang="en-US" altLang="zh-CN" i="1" baseline="-25000">
                              <a:solidFill>
                                <a:srgbClr val="000000"/>
                              </a:solidFill>
                              <a:latin typeface="Cambria Math" panose="02040503050406030204" pitchFamily="18" charset="0"/>
                            </a:rPr>
                            <m:t>0</m:t>
                          </m:r>
                          <m:r>
                            <a:rPr lang="en-US" altLang="zh-CN" i="1" baseline="-25000">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m:t>
                          </m:r>
                          <m:f>
                            <m:fPr>
                              <m:ctrlPr>
                                <a:rPr lang="zh-CN" altLang="en-US" i="1">
                                  <a:solidFill>
                                    <a:srgbClr val="000000"/>
                                  </a:solidFill>
                                  <a:latin typeface="Cambria Math" panose="02040503050406030204"/>
                                </a:rPr>
                              </m:ctrlPr>
                            </m:fPr>
                            <m:num>
                              <m:r>
                                <a:rPr lang="en-US" altLang="zh-CN" i="1">
                                  <a:solidFill>
                                    <a:srgbClr val="000000"/>
                                  </a:solidFill>
                                  <a:latin typeface="Cambria Math" panose="02040503050406030204"/>
                                </a:rPr>
                                <m:t>1</m:t>
                              </m:r>
                            </m:num>
                            <m:den>
                              <m:r>
                                <a:rPr lang="en-US" altLang="zh-CN">
                                  <a:solidFill>
                                    <a:srgbClr val="000000"/>
                                  </a:solidFill>
                                  <a:latin typeface="Cambria Math" panose="02040503050406030204" pitchFamily="18" charset="0"/>
                                </a:rPr>
                                <m:t>2</m:t>
                              </m:r>
                            </m:den>
                          </m:f>
                          <m:r>
                            <a:rPr lang="en-US" altLang="zh-CN"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𝜇</m:t>
                          </m:r>
                        </m:e>
                        <m:sub>
                          <m:r>
                            <a:rPr lang="zh-CN" altLang="en-US">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𝑛</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𝑑𝑖</m:t>
                          </m:r>
                        </m:num>
                        <m:den>
                          <m:r>
                            <a:rPr lang="zh-CN" altLang="en-US" i="1">
                              <a:solidFill>
                                <a:srgbClr val="000000"/>
                              </a:solidFill>
                              <a:latin typeface="Cambria Math" panose="02040503050406030204" pitchFamily="18" charset="0"/>
                            </a:rPr>
                            <m:t>𝑑𝑡</m:t>
                          </m:r>
                        </m:den>
                      </m:f>
                      <m:r>
                        <a:rPr lang="en-US" altLang="zh-CN" i="1">
                          <a:solidFill>
                            <a:srgbClr val="000000"/>
                          </a:solidFill>
                          <a:latin typeface="Cambria Math" panose="02040503050406030204" pitchFamily="18" charset="0"/>
                        </a:rPr>
                        <m:t>)</m:t>
                      </m:r>
                    </m:oMath>
                  </m:oMathPara>
                </a14:m>
                <a:endParaRPr lang="en-US" altLang="zh-CN" i="1" baseline="-25000">
                  <a:solidFill>
                    <a:srgbClr val="000000"/>
                  </a:solidFill>
                  <a:latin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179705" y="5732780"/>
                <a:ext cx="4802505" cy="612140"/>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346398"/>
    </mc:Choice>
    <mc:Fallback>
      <p:transition spd="slow" advTm="34639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3</a:t>
            </a:r>
            <a:endParaRPr lang="zh-CN" altLang="en-US" dirty="0"/>
          </a:p>
        </p:txBody>
      </p:sp>
      <p:sp>
        <p:nvSpPr>
          <p:cNvPr id="2" name="矩形 1"/>
          <p:cNvSpPr/>
          <p:nvPr/>
        </p:nvSpPr>
        <p:spPr>
          <a:xfrm>
            <a:off x="440031" y="1772816"/>
            <a:ext cx="4886437" cy="1708160"/>
          </a:xfrm>
          <a:prstGeom prst="rect">
            <a:avLst/>
          </a:prstGeom>
        </p:spPr>
        <p:txBody>
          <a:bodyPr wrap="square">
            <a:spAutoFit/>
          </a:bodyPr>
          <a:lstStyle/>
          <a:p>
            <a:pPr indent="200025" eaLnBrk="0" fontAlgn="base" hangingPunct="0">
              <a:spcBef>
                <a:spcPct val="0"/>
              </a:spcBef>
              <a:spcAft>
                <a:spcPct val="0"/>
              </a:spcAft>
            </a:pPr>
            <a:r>
              <a:rPr lang="en-US" altLang="zh-CN" sz="2000" b="1" dirty="0">
                <a:latin typeface="+mj-lt"/>
                <a:ea typeface="宋体" panose="02010600030101010101" pitchFamily="2" charset="-122"/>
                <a:cs typeface="Times New Roman" panose="02020603050405020304" pitchFamily="18" charset="0"/>
              </a:rPr>
              <a:t>Method 1</a:t>
            </a:r>
            <a:r>
              <a:rPr lang="zh-CN" altLang="en-US" sz="2000" b="1" dirty="0">
                <a:latin typeface="+mj-lt"/>
                <a:ea typeface="宋体" panose="02010600030101010101" pitchFamily="2" charset="-122"/>
                <a:cs typeface="Times New Roman" panose="02020603050405020304" pitchFamily="18" charset="0"/>
              </a:rPr>
              <a:t>：</a:t>
            </a:r>
            <a:endParaRPr lang="en-US" altLang="zh-CN" sz="2000" b="1" dirty="0">
              <a:latin typeface="+mj-lt"/>
              <a:ea typeface="宋体" panose="02010600030101010101" pitchFamily="2" charset="-122"/>
              <a:cs typeface="Times New Roman" panose="02020603050405020304" pitchFamily="18" charset="0"/>
            </a:endParaRPr>
          </a:p>
          <a:p>
            <a:pPr indent="200025" eaLnBrk="0" fontAlgn="base" hangingPunct="0">
              <a:spcBef>
                <a:spcPts val="600"/>
              </a:spcBef>
              <a:spcAft>
                <a:spcPct val="0"/>
              </a:spcAft>
            </a:pPr>
            <a:r>
              <a:rPr lang="en-US" altLang="zh-CN" sz="2000" dirty="0">
                <a:latin typeface="+mj-lt"/>
                <a:ea typeface="宋体" panose="02010600030101010101" pitchFamily="2" charset="-122"/>
                <a:cs typeface="Times New Roman" panose="02020603050405020304" pitchFamily="18" charset="0"/>
              </a:rPr>
              <a:t>Because the induced E field has no radial component, so the induced </a:t>
            </a:r>
            <a:r>
              <a:rPr lang="en-US" altLang="zh-CN" sz="2000" dirty="0" err="1">
                <a:latin typeface="+mj-lt"/>
                <a:ea typeface="宋体" panose="02010600030101010101" pitchFamily="2" charset="-122"/>
                <a:cs typeface="Times New Roman" panose="02020603050405020304" pitchFamily="18" charset="0"/>
              </a:rPr>
              <a:t>emf</a:t>
            </a:r>
            <a:r>
              <a:rPr lang="en-US" altLang="zh-CN" sz="2000" dirty="0">
                <a:latin typeface="+mj-lt"/>
                <a:ea typeface="宋体" panose="02010600030101010101" pitchFamily="2" charset="-122"/>
                <a:cs typeface="Times New Roman" panose="02020603050405020304" pitchFamily="18" charset="0"/>
              </a:rPr>
              <a:t> </a:t>
            </a:r>
            <a:r>
              <a:rPr lang="en-US" altLang="zh-CN" sz="2000" dirty="0" smtClean="0">
                <a:latin typeface="+mj-lt"/>
                <a:ea typeface="宋体" panose="02010600030101010101" pitchFamily="2" charset="-122"/>
                <a:cs typeface="Times New Roman" panose="02020603050405020304" pitchFamily="18" charset="0"/>
              </a:rPr>
              <a:t>in </a:t>
            </a:r>
            <a:r>
              <a:rPr lang="en-US" altLang="zh-CN" sz="2000" dirty="0">
                <a:latin typeface="+mj-lt"/>
                <a:ea typeface="宋体" panose="02010600030101010101" pitchFamily="2" charset="-122"/>
                <a:cs typeface="Times New Roman" panose="02020603050405020304" pitchFamily="18" charset="0"/>
              </a:rPr>
              <a:t>the </a:t>
            </a:r>
            <a:r>
              <a:rPr lang="en-US" altLang="zh-CN" sz="2000" dirty="0" smtClean="0">
                <a:latin typeface="+mj-lt"/>
                <a:ea typeface="宋体" panose="02010600030101010101" pitchFamily="2" charset="-122"/>
                <a:cs typeface="Times New Roman" panose="02020603050405020304" pitchFamily="18" charset="0"/>
              </a:rPr>
              <a:t>straight wire </a:t>
            </a:r>
            <a:r>
              <a:rPr lang="en-US" altLang="zh-CN" sz="2000" dirty="0">
                <a:latin typeface="+mj-lt"/>
                <a:ea typeface="宋体" panose="02010600030101010101" pitchFamily="2" charset="-122"/>
                <a:cs typeface="Times New Roman" panose="02020603050405020304" pitchFamily="18" charset="0"/>
              </a:rPr>
              <a:t>exactly equals the induced </a:t>
            </a:r>
            <a:r>
              <a:rPr lang="en-US" altLang="zh-CN" sz="2000" dirty="0" err="1">
                <a:latin typeface="+mj-lt"/>
                <a:ea typeface="宋体" panose="02010600030101010101" pitchFamily="2" charset="-122"/>
                <a:cs typeface="Times New Roman" panose="02020603050405020304" pitchFamily="18" charset="0"/>
              </a:rPr>
              <a:t>emf</a:t>
            </a:r>
            <a:r>
              <a:rPr lang="en-US" altLang="zh-CN" sz="2000" dirty="0">
                <a:latin typeface="+mj-lt"/>
                <a:ea typeface="宋体" panose="02010600030101010101" pitchFamily="2" charset="-122"/>
                <a:cs typeface="Times New Roman" panose="02020603050405020304" pitchFamily="18" charset="0"/>
              </a:rPr>
              <a:t> </a:t>
            </a:r>
            <a:r>
              <a:rPr lang="en-US" altLang="zh-CN" sz="2000" dirty="0" smtClean="0">
                <a:latin typeface="+mj-lt"/>
                <a:ea typeface="宋体" panose="02010600030101010101" pitchFamily="2" charset="-122"/>
                <a:cs typeface="Times New Roman" panose="02020603050405020304" pitchFamily="18" charset="0"/>
              </a:rPr>
              <a:t>in the </a:t>
            </a:r>
            <a:r>
              <a:rPr lang="en-US" altLang="zh-CN" sz="2000" dirty="0">
                <a:latin typeface="+mj-lt"/>
                <a:ea typeface="宋体" panose="02010600030101010101" pitchFamily="2" charset="-122"/>
                <a:cs typeface="Times New Roman" panose="02020603050405020304" pitchFamily="18" charset="0"/>
              </a:rPr>
              <a:t>triangle </a:t>
            </a:r>
            <a:r>
              <a:rPr lang="en-US" altLang="zh-CN" sz="2000" dirty="0" smtClean="0">
                <a:latin typeface="+mj-lt"/>
                <a:ea typeface="宋体" panose="02010600030101010101" pitchFamily="2" charset="-122"/>
                <a:cs typeface="Times New Roman" panose="02020603050405020304" pitchFamily="18" charset="0"/>
              </a:rPr>
              <a:t>loop, </a:t>
            </a:r>
            <a:r>
              <a:rPr lang="en-US" altLang="zh-CN" sz="2000" dirty="0">
                <a:latin typeface="+mj-lt"/>
                <a:ea typeface="宋体" panose="02010600030101010101" pitchFamily="2" charset="-122"/>
                <a:cs typeface="Times New Roman" panose="02020603050405020304" pitchFamily="18" charset="0"/>
              </a:rPr>
              <a:t>so we have:</a:t>
            </a:r>
            <a:endParaRPr lang="en-US" altLang="zh-CN" sz="2000" dirty="0">
              <a:latin typeface="+mj-lt"/>
              <a:ea typeface="宋体" panose="02010600030101010101" pitchFamily="2" charset="-122"/>
              <a:cs typeface="Times New Roman" panose="02020603050405020304" pitchFamily="18" charset="0"/>
            </a:endParaRPr>
          </a:p>
        </p:txBody>
      </p:sp>
      <p:pic>
        <p:nvPicPr>
          <p:cNvPr id="4" name="图片 3"/>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26951"/>
          <a:stretch>
            <a:fillRect/>
          </a:stretch>
        </p:blipFill>
        <p:spPr>
          <a:xfrm>
            <a:off x="5580112" y="1969818"/>
            <a:ext cx="2311294" cy="1971461"/>
          </a:xfrm>
          <a:prstGeom prst="rect">
            <a:avLst/>
          </a:prstGeom>
          <a:noFill/>
          <a:ln>
            <a:noFill/>
          </a:ln>
        </p:spPr>
      </p:pic>
      <mc:AlternateContent xmlns:mc="http://schemas.openxmlformats.org/markup-compatibility/2006">
        <mc:Choice xmlns:a14="http://schemas.microsoft.com/office/drawing/2010/main" Requires="a14">
          <p:sp>
            <p:nvSpPr>
              <p:cNvPr id="10" name="矩形 9"/>
              <p:cNvSpPr/>
              <p:nvPr/>
            </p:nvSpPr>
            <p:spPr>
              <a:xfrm>
                <a:off x="608646" y="4437112"/>
                <a:ext cx="6912768" cy="962636"/>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m>
                        <m:mPr>
                          <m:mcs>
                            <m:mc>
                              <m:mcPr>
                                <m:count m:val="1"/>
                                <m:mcJc m:val="center"/>
                              </m:mcPr>
                            </m:mc>
                          </m:mcs>
                          <m:plcHide m:val="on"/>
                          <m:ctrlPr>
                            <a:rPr lang="zh-CN" altLang="en-US" i="1" kern="1000" spc="-100" smtClean="0">
                              <a:latin typeface="Cambria Math" panose="02040503050406030204"/>
                            </a:rPr>
                          </m:ctrlPr>
                        </m:mPr>
                        <m:mr>
                          <m:e/>
                        </m:mr>
                        <m:mr>
                          <m:e/>
                        </m:mr>
                        <m:mr>
                          <m:e>
                            <m:sSub>
                              <m:sSubPr>
                                <m:ctrlPr>
                                  <a:rPr lang="zh-CN" altLang="en-US" i="1" kern="1000" spc="-100">
                                    <a:latin typeface="Cambria Math" panose="02040503050406030204"/>
                                  </a:rPr>
                                </m:ctrlPr>
                              </m:sSubPr>
                              <m:e>
                                <m:r>
                                  <a:rPr lang="zh-CN" altLang="en-US" i="1" kern="1000" spc="-100">
                                    <a:latin typeface="Cambria Math" panose="02040503050406030204" pitchFamily="18" charset="0"/>
                                  </a:rPr>
                                  <m:t>𝜀</m:t>
                                </m:r>
                              </m:e>
                              <m:sub>
                                <m:r>
                                  <a:rPr lang="zh-CN" altLang="en-US" i="1" kern="1000" spc="-100">
                                    <a:latin typeface="Cambria Math" panose="02040503050406030204" pitchFamily="18" charset="0"/>
                                  </a:rPr>
                                  <m:t>𝑖𝑛</m:t>
                                </m:r>
                              </m:sub>
                            </m:sSub>
                            <m:r>
                              <a:rPr lang="zh-CN" altLang="en-US" i="0" kern="1000" spc="-100">
                                <a:latin typeface="Cambria Math" panose="02040503050406030204" pitchFamily="18" charset="0"/>
                              </a:rPr>
                              <m:t>=</m:t>
                            </m:r>
                            <m:r>
                              <a:rPr lang="zh-CN" altLang="en-US" i="1" kern="1000" spc="-100">
                                <a:latin typeface="Cambria Math" panose="02040503050406030204" pitchFamily="18" charset="0"/>
                              </a:rPr>
                              <m:t>𝐴</m:t>
                            </m:r>
                            <m:r>
                              <a:rPr lang="en-US" altLang="zh-CN" b="0" i="1" kern="1000" spc="-100" baseline="-25000" smtClean="0">
                                <a:latin typeface="Cambria Math" panose="02040503050406030204" pitchFamily="18" charset="0"/>
                              </a:rPr>
                              <m:t>1</m:t>
                            </m:r>
                            <m:sSub>
                              <m:sSubPr>
                                <m:ctrlPr>
                                  <a:rPr lang="zh-CN" altLang="en-US" i="1" kern="1000" spc="-100">
                                    <a:latin typeface="Cambria Math" panose="02040503050406030204"/>
                                  </a:rPr>
                                </m:ctrlPr>
                              </m:sSubPr>
                              <m:e>
                                <m:r>
                                  <a:rPr lang="zh-CN" altLang="en-US" i="1" kern="1000" spc="-100">
                                    <a:latin typeface="Cambria Math" panose="02040503050406030204" pitchFamily="18" charset="0"/>
                                  </a:rPr>
                                  <m:t>𝜇</m:t>
                                </m:r>
                              </m:e>
                              <m:sub>
                                <m:r>
                                  <a:rPr lang="zh-CN" altLang="en-US" i="0" kern="1000" spc="-100">
                                    <a:latin typeface="Cambria Math" panose="02040503050406030204" pitchFamily="18" charset="0"/>
                                  </a:rPr>
                                  <m:t>0</m:t>
                                </m:r>
                              </m:sub>
                            </m:sSub>
                            <m:r>
                              <a:rPr lang="zh-CN" altLang="en-US" i="1" kern="1000" spc="-100">
                                <a:latin typeface="Cambria Math" panose="02040503050406030204" pitchFamily="18" charset="0"/>
                              </a:rPr>
                              <m:t>𝑛</m:t>
                            </m:r>
                            <m:f>
                              <m:fPr>
                                <m:ctrlPr>
                                  <a:rPr lang="zh-CN" altLang="en-US" i="1" kern="1000" spc="-100">
                                    <a:latin typeface="Cambria Math" panose="02040503050406030204"/>
                                  </a:rPr>
                                </m:ctrlPr>
                              </m:fPr>
                              <m:num>
                                <m:r>
                                  <a:rPr lang="zh-CN" altLang="en-US" i="1" kern="1000" spc="-100">
                                    <a:latin typeface="Cambria Math" panose="02040503050406030204" pitchFamily="18" charset="0"/>
                                  </a:rPr>
                                  <m:t>𝑑𝑖</m:t>
                                </m:r>
                              </m:num>
                              <m:den>
                                <m:r>
                                  <a:rPr lang="zh-CN" altLang="en-US" i="1" kern="1000" spc="-100">
                                    <a:latin typeface="Cambria Math" panose="02040503050406030204" pitchFamily="18" charset="0"/>
                                  </a:rPr>
                                  <m:t>𝑑𝑡</m:t>
                                </m:r>
                              </m:den>
                            </m:f>
                            <m:r>
                              <a:rPr lang="zh-CN" altLang="en-US" i="0" kern="1000" spc="-100">
                                <a:latin typeface="Cambria Math" panose="02040503050406030204" pitchFamily="18" charset="0"/>
                              </a:rPr>
                              <m:t>=</m:t>
                            </m:r>
                            <m:r>
                              <m:rPr>
                                <m:nor/>
                              </m:rPr>
                              <a:rPr lang="zh-CN" altLang="en-US" i="1" kern="1000" spc="-100">
                                <a:latin typeface="Cambria Math" panose="02040503050406030204" pitchFamily="18" charset="0"/>
                              </a:rPr>
                              <m:t> </m:t>
                            </m:r>
                            <m:r>
                              <a:rPr lang="zh-CN" altLang="en-US" i="0" kern="1000" spc="-100">
                                <a:latin typeface="Cambria Math" panose="02040503050406030204" pitchFamily="18" charset="0"/>
                              </a:rPr>
                              <m:t>1</m:t>
                            </m:r>
                            <m:r>
                              <a:rPr lang="zh-CN" altLang="en-US" i="0" kern="1000" spc="-100">
                                <a:latin typeface="Cambria Math" panose="02040503050406030204" pitchFamily="18" charset="0"/>
                              </a:rPr>
                              <m:t>.</m:t>
                            </m:r>
                            <m:r>
                              <a:rPr lang="zh-CN" altLang="en-US" i="0" kern="1000" spc="-100">
                                <a:latin typeface="Cambria Math" panose="02040503050406030204" pitchFamily="18" charset="0"/>
                              </a:rPr>
                              <m:t>16</m:t>
                            </m:r>
                            <m:r>
                              <a:rPr lang="zh-CN" altLang="en-US" i="0" kern="1000" spc="-100">
                                <a:latin typeface="Cambria Math" panose="02040503050406030204" pitchFamily="18" charset="0"/>
                              </a:rPr>
                              <m:t>×</m:t>
                            </m:r>
                            <m:sSup>
                              <m:sSupPr>
                                <m:ctrlPr>
                                  <a:rPr lang="zh-CN" altLang="en-US" i="1" kern="1000" spc="-100">
                                    <a:latin typeface="Cambria Math" panose="02040503050406030204"/>
                                  </a:rPr>
                                </m:ctrlPr>
                              </m:sSupPr>
                              <m:e>
                                <m:r>
                                  <a:rPr lang="zh-CN" altLang="en-US" i="0" kern="1000" spc="-100">
                                    <a:latin typeface="Cambria Math" panose="02040503050406030204" pitchFamily="18" charset="0"/>
                                  </a:rPr>
                                  <m:t>10</m:t>
                                </m:r>
                              </m:e>
                              <m:sup>
                                <m:r>
                                  <a:rPr lang="zh-CN" altLang="en-US" i="0" kern="1000" spc="-100">
                                    <a:latin typeface="Cambria Math" panose="02040503050406030204" pitchFamily="18" charset="0"/>
                                  </a:rPr>
                                  <m:t>−</m:t>
                                </m:r>
                                <m:r>
                                  <a:rPr lang="zh-CN" altLang="en-US" i="0" kern="1000" spc="-100">
                                    <a:latin typeface="Cambria Math" panose="02040503050406030204" pitchFamily="18" charset="0"/>
                                  </a:rPr>
                                  <m:t>3</m:t>
                                </m:r>
                              </m:sup>
                            </m:sSup>
                            <m:r>
                              <a:rPr lang="zh-CN" altLang="en-US" i="0" kern="1000" spc="-100">
                                <a:latin typeface="Cambria Math" panose="02040503050406030204" pitchFamily="18" charset="0"/>
                              </a:rPr>
                              <m:t>×</m:t>
                            </m:r>
                            <m:r>
                              <a:rPr lang="zh-CN" altLang="en-US" i="0" kern="1000" spc="-100">
                                <a:latin typeface="Cambria Math" panose="02040503050406030204" pitchFamily="18" charset="0"/>
                              </a:rPr>
                              <m:t>4</m:t>
                            </m:r>
                            <m:r>
                              <a:rPr lang="zh-CN" altLang="en-US" i="1" kern="1000" spc="-100">
                                <a:latin typeface="Cambria Math" panose="02040503050406030204" pitchFamily="18" charset="0"/>
                              </a:rPr>
                              <m:t>𝜋</m:t>
                            </m:r>
                            <m:r>
                              <a:rPr lang="zh-CN" altLang="en-US" i="0" kern="1000" spc="-100">
                                <a:latin typeface="Cambria Math" panose="02040503050406030204" pitchFamily="18" charset="0"/>
                              </a:rPr>
                              <m:t>×</m:t>
                            </m:r>
                            <m:sSup>
                              <m:sSupPr>
                                <m:ctrlPr>
                                  <a:rPr lang="zh-CN" altLang="en-US" i="1" kern="1000" spc="-100">
                                    <a:latin typeface="Cambria Math" panose="02040503050406030204"/>
                                  </a:rPr>
                                </m:ctrlPr>
                              </m:sSupPr>
                              <m:e>
                                <m:r>
                                  <a:rPr lang="zh-CN" altLang="en-US" i="0" kern="1000" spc="-100">
                                    <a:latin typeface="Cambria Math" panose="02040503050406030204" pitchFamily="18" charset="0"/>
                                  </a:rPr>
                                  <m:t>10</m:t>
                                </m:r>
                              </m:e>
                              <m:sup>
                                <m:r>
                                  <a:rPr lang="zh-CN" altLang="en-US" i="0" kern="1000" spc="-100">
                                    <a:latin typeface="Cambria Math" panose="02040503050406030204" pitchFamily="18" charset="0"/>
                                  </a:rPr>
                                  <m:t>−</m:t>
                                </m:r>
                                <m:r>
                                  <a:rPr lang="zh-CN" altLang="en-US" i="0" kern="1000" spc="-100">
                                    <a:latin typeface="Cambria Math" panose="02040503050406030204" pitchFamily="18" charset="0"/>
                                  </a:rPr>
                                  <m:t>7</m:t>
                                </m:r>
                              </m:sup>
                            </m:sSup>
                            <m:r>
                              <a:rPr lang="zh-CN" altLang="en-US" i="0" kern="1000" spc="-100">
                                <a:latin typeface="Cambria Math" panose="02040503050406030204" pitchFamily="18" charset="0"/>
                              </a:rPr>
                              <m:t>×</m:t>
                            </m:r>
                            <m:r>
                              <a:rPr lang="zh-CN" altLang="en-US" i="0" kern="1000" spc="-100">
                                <a:latin typeface="Cambria Math" panose="02040503050406030204" pitchFamily="18" charset="0"/>
                              </a:rPr>
                              <m:t>50</m:t>
                            </m:r>
                            <m:r>
                              <a:rPr lang="zh-CN" altLang="en-US" i="0" kern="1000" spc="-100">
                                <a:latin typeface="Cambria Math" panose="02040503050406030204" pitchFamily="18" charset="0"/>
                              </a:rPr>
                              <m:t>×</m:t>
                            </m:r>
                            <m:sSup>
                              <m:sSupPr>
                                <m:ctrlPr>
                                  <a:rPr lang="zh-CN" altLang="en-US" i="1" kern="1000" spc="-100">
                                    <a:latin typeface="Cambria Math" panose="02040503050406030204"/>
                                  </a:rPr>
                                </m:ctrlPr>
                              </m:sSupPr>
                              <m:e>
                                <m:r>
                                  <a:rPr lang="zh-CN" altLang="en-US" i="0" kern="1000" spc="-100">
                                    <a:latin typeface="Cambria Math" panose="02040503050406030204" pitchFamily="18" charset="0"/>
                                  </a:rPr>
                                  <m:t>10</m:t>
                                </m:r>
                              </m:e>
                              <m:sup>
                                <m:r>
                                  <a:rPr lang="zh-CN" altLang="en-US" i="0" kern="1000" spc="-100">
                                    <a:latin typeface="Cambria Math" panose="02040503050406030204" pitchFamily="18" charset="0"/>
                                  </a:rPr>
                                  <m:t>2</m:t>
                                </m:r>
                              </m:sup>
                            </m:sSup>
                            <m:r>
                              <a:rPr lang="zh-CN" altLang="en-US" i="0" kern="1000" spc="-100">
                                <a:latin typeface="Cambria Math" panose="02040503050406030204" pitchFamily="18" charset="0"/>
                              </a:rPr>
                              <m:t>×</m:t>
                            </m:r>
                            <m:r>
                              <a:rPr lang="zh-CN" altLang="en-US" i="0" kern="1000" spc="-100">
                                <a:latin typeface="Cambria Math" panose="02040503050406030204" pitchFamily="18" charset="0"/>
                              </a:rPr>
                              <m:t>52</m:t>
                            </m:r>
                            <m:r>
                              <a:rPr lang="zh-CN" altLang="en-US" i="0" kern="1000" spc="-100">
                                <a:latin typeface="Cambria Math" panose="02040503050406030204" pitchFamily="18" charset="0"/>
                              </a:rPr>
                              <m:t>.</m:t>
                            </m:r>
                            <m:r>
                              <a:rPr lang="zh-CN" altLang="en-US" i="0" kern="1000" spc="-100">
                                <a:latin typeface="Cambria Math" panose="02040503050406030204" pitchFamily="18" charset="0"/>
                              </a:rPr>
                              <m:t>36</m:t>
                            </m:r>
                            <m:r>
                              <m:rPr>
                                <m:nor/>
                              </m:rPr>
                              <a:rPr lang="zh-CN" altLang="en-US" i="1" kern="1000" spc="-100">
                                <a:latin typeface="Cambria Math" panose="02040503050406030204" pitchFamily="18" charset="0"/>
                              </a:rPr>
                              <m:t> </m:t>
                            </m:r>
                            <m:r>
                              <a:rPr lang="zh-CN" altLang="en-US" i="0" kern="1000" spc="-100">
                                <a:latin typeface="Cambria Math" panose="02040503050406030204" pitchFamily="18" charset="0"/>
                              </a:rPr>
                              <m:t>=</m:t>
                            </m:r>
                            <m:r>
                              <a:rPr lang="zh-CN" altLang="en-US" i="0" kern="1000" spc="-100">
                                <a:latin typeface="Cambria Math" panose="02040503050406030204" pitchFamily="18" charset="0"/>
                              </a:rPr>
                              <m:t>3</m:t>
                            </m:r>
                            <m:r>
                              <a:rPr lang="zh-CN" altLang="en-US" i="0" kern="1000" spc="-100">
                                <a:latin typeface="Cambria Math" panose="02040503050406030204" pitchFamily="18" charset="0"/>
                              </a:rPr>
                              <m:t>.</m:t>
                            </m:r>
                            <m:r>
                              <a:rPr lang="zh-CN" altLang="en-US" i="0" kern="1000" spc="-100">
                                <a:latin typeface="Cambria Math" panose="02040503050406030204" pitchFamily="18" charset="0"/>
                              </a:rPr>
                              <m:t>82</m:t>
                            </m:r>
                            <m:r>
                              <a:rPr lang="zh-CN" altLang="en-US" i="0" kern="1000" spc="-100">
                                <a:latin typeface="Cambria Math" panose="02040503050406030204" pitchFamily="18" charset="0"/>
                              </a:rPr>
                              <m:t>×</m:t>
                            </m:r>
                            <m:sSup>
                              <m:sSupPr>
                                <m:ctrlPr>
                                  <a:rPr lang="zh-CN" altLang="en-US" i="1" kern="1000" spc="-100">
                                    <a:latin typeface="Cambria Math" panose="02040503050406030204"/>
                                  </a:rPr>
                                </m:ctrlPr>
                              </m:sSupPr>
                              <m:e>
                                <m:r>
                                  <a:rPr lang="zh-CN" altLang="en-US" i="0" kern="1000" spc="-100">
                                    <a:latin typeface="Cambria Math" panose="02040503050406030204" pitchFamily="18" charset="0"/>
                                  </a:rPr>
                                  <m:t>10</m:t>
                                </m:r>
                              </m:e>
                              <m:sup>
                                <m:r>
                                  <a:rPr lang="zh-CN" altLang="en-US" i="0" kern="1000" spc="-100">
                                    <a:latin typeface="Cambria Math" panose="02040503050406030204" pitchFamily="18" charset="0"/>
                                  </a:rPr>
                                  <m:t>−</m:t>
                                </m:r>
                                <m:r>
                                  <a:rPr lang="zh-CN" altLang="en-US" i="0" kern="1000" spc="-100">
                                    <a:latin typeface="Cambria Math" panose="02040503050406030204" pitchFamily="18" charset="0"/>
                                  </a:rPr>
                                  <m:t>4</m:t>
                                </m:r>
                              </m:sup>
                            </m:sSup>
                            <m:r>
                              <m:rPr>
                                <m:nor/>
                              </m:rPr>
                              <a:rPr lang="zh-CN" altLang="en-US" i="1" kern="1000" spc="-100">
                                <a:latin typeface="Cambria Math" panose="02040503050406030204" pitchFamily="18" charset="0"/>
                              </a:rPr>
                              <m:t> </m:t>
                            </m:r>
                            <m:r>
                              <m:rPr>
                                <m:nor/>
                              </m:rPr>
                              <a:rPr lang="zh-CN" altLang="en-US" i="1" kern="1000" spc="-100">
                                <a:latin typeface="Cambria Math" panose="02040503050406030204" pitchFamily="18" charset="0"/>
                              </a:rPr>
                              <m:t>V</m:t>
                            </m:r>
                            <m:r>
                              <m:rPr>
                                <m:nor/>
                              </m:rPr>
                              <a:rPr lang="zh-CN" altLang="en-US" i="1" kern="1000" spc="-100">
                                <a:latin typeface="Cambria Math" panose="02040503050406030204" pitchFamily="18" charset="0"/>
                              </a:rPr>
                              <m:t> </m:t>
                            </m:r>
                          </m:e>
                        </m:mr>
                      </m:m>
                    </m:oMath>
                  </m:oMathPara>
                </a14:m>
                <a:endParaRPr lang="zh-CN" altLang="en-US" kern="1000" spc="-100" dirty="0"/>
              </a:p>
            </p:txBody>
          </p:sp>
        </mc:Choice>
        <mc:Fallback>
          <p:sp>
            <p:nvSpPr>
              <p:cNvPr id="10" name="矩形 9"/>
              <p:cNvSpPr>
                <a:spLocks noRot="1" noChangeAspect="1" noMove="1" noResize="1" noEditPoints="1" noAdjustHandles="1" noChangeArrowheads="1" noChangeShapeType="1" noTextEdit="1"/>
              </p:cNvSpPr>
              <p:nvPr/>
            </p:nvSpPr>
            <p:spPr>
              <a:xfrm>
                <a:off x="608646" y="4437112"/>
                <a:ext cx="6912768" cy="962636"/>
              </a:xfrm>
              <a:prstGeom prst="rect">
                <a:avLst/>
              </a:prstGeom>
              <a:blipFill rotWithShape="1">
                <a:blip r:embed="rId2"/>
                <a:stretch>
                  <a:fillRect l="-5" t="-38" r="-12100"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597513" y="3933056"/>
                <a:ext cx="8121878" cy="618246"/>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f>
                        <m:fPr>
                          <m:ctrlPr>
                            <a:rPr lang="zh-CN" altLang="en-US" i="1" smtClean="0">
                              <a:latin typeface="Cambria Math" panose="02040503050406030204"/>
                            </a:rPr>
                          </m:ctrlPr>
                        </m:fPr>
                        <m:num>
                          <m:r>
                            <a:rPr lang="zh-CN" altLang="en-US" i="1">
                              <a:latin typeface="Cambria Math" panose="02040503050406030204" pitchFamily="18" charset="0"/>
                            </a:rPr>
                            <m:t>𝑑𝑖</m:t>
                          </m:r>
                        </m:num>
                        <m:den>
                          <m:r>
                            <a:rPr lang="zh-CN" altLang="en-US" i="1">
                              <a:latin typeface="Cambria Math" panose="02040503050406030204" pitchFamily="18" charset="0"/>
                            </a:rPr>
                            <m:t>𝑑𝑡</m:t>
                          </m:r>
                        </m:den>
                      </m:f>
                      <m:r>
                        <a:rPr lang="zh-CN" altLang="en-US">
                          <a:latin typeface="Cambria Math" panose="02040503050406030204" pitchFamily="18" charset="0"/>
                        </a:rPr>
                        <m:t>=</m:t>
                      </m:r>
                      <m:f>
                        <m:fPr>
                          <m:ctrlPr>
                            <a:rPr lang="zh-CN" altLang="en-US" i="1">
                              <a:latin typeface="Cambria Math" panose="02040503050406030204"/>
                            </a:rPr>
                          </m:ctrlPr>
                        </m:fPr>
                        <m:num>
                          <m:r>
                            <a:rPr lang="zh-CN" altLang="en-US" i="1">
                              <a:latin typeface="Cambria Math" panose="02040503050406030204" pitchFamily="18" charset="0"/>
                            </a:rPr>
                            <m:t>𝜀</m:t>
                          </m:r>
                        </m:num>
                        <m:den>
                          <m:r>
                            <a:rPr lang="zh-CN" altLang="en-US" i="1">
                              <a:latin typeface="Cambria Math" panose="02040503050406030204" pitchFamily="18" charset="0"/>
                            </a:rPr>
                            <m:t>𝑅</m:t>
                          </m:r>
                        </m:den>
                      </m:f>
                      <m:f>
                        <m:fPr>
                          <m:ctrlPr>
                            <a:rPr lang="zh-CN" altLang="en-US" i="1">
                              <a:latin typeface="Cambria Math" panose="02040503050406030204"/>
                            </a:rPr>
                          </m:ctrlPr>
                        </m:fPr>
                        <m:num>
                          <m:r>
                            <a:rPr lang="zh-CN" altLang="en-US" i="1">
                              <a:latin typeface="Cambria Math" panose="02040503050406030204" pitchFamily="18" charset="0"/>
                            </a:rPr>
                            <m:t>𝑅</m:t>
                          </m:r>
                        </m:num>
                        <m:den>
                          <m:r>
                            <a:rPr lang="zh-CN" altLang="en-US" i="1">
                              <a:latin typeface="Cambria Math" panose="02040503050406030204" pitchFamily="18" charset="0"/>
                            </a:rPr>
                            <m:t>𝐿</m:t>
                          </m:r>
                        </m:den>
                      </m:f>
                      <m:sSup>
                        <m:sSupPr>
                          <m:ctrlPr>
                            <a:rPr lang="zh-CN" altLang="en-US" i="1">
                              <a:latin typeface="Cambria Math" panose="02040503050406030204"/>
                            </a:rPr>
                          </m:ctrlPr>
                        </m:sSupPr>
                        <m:e>
                          <m:r>
                            <a:rPr lang="zh-CN" altLang="en-US" i="1">
                              <a:latin typeface="Cambria Math" panose="02040503050406030204" pitchFamily="18" charset="0"/>
                            </a:rPr>
                            <m:t>𝑒</m:t>
                          </m:r>
                        </m:e>
                        <m:sup>
                          <m:r>
                            <a:rPr lang="zh-CN" altLang="en-US">
                              <a:latin typeface="Cambria Math" panose="02040503050406030204" pitchFamily="18" charset="0"/>
                            </a:rPr>
                            <m:t>−</m:t>
                          </m:r>
                          <m:r>
                            <a:rPr lang="zh-CN" altLang="en-US" i="1">
                              <a:latin typeface="Cambria Math" panose="02040503050406030204" pitchFamily="18" charset="0"/>
                            </a:rPr>
                            <m:t>𝑅</m:t>
                          </m:r>
                          <m:f>
                            <m:fPr>
                              <m:type m:val="lin"/>
                              <m:ctrlPr>
                                <a:rPr lang="zh-CN" altLang="en-US" i="1">
                                  <a:latin typeface="Cambria Math" panose="02040503050406030204"/>
                                </a:rPr>
                              </m:ctrlPr>
                            </m:fPr>
                            <m:num>
                              <m:r>
                                <a:rPr lang="zh-CN" altLang="en-US" i="1">
                                  <a:latin typeface="Cambria Math" panose="02040503050406030204" pitchFamily="18" charset="0"/>
                                </a:rPr>
                                <m:t>𝑡</m:t>
                              </m:r>
                            </m:num>
                            <m:den>
                              <m:r>
                                <a:rPr lang="zh-CN" altLang="en-US" i="1">
                                  <a:latin typeface="Cambria Math" panose="02040503050406030204" pitchFamily="18" charset="0"/>
                                </a:rPr>
                                <m:t>𝐿</m:t>
                              </m:r>
                            </m:den>
                          </m:f>
                        </m:sup>
                      </m:sSup>
                      <m:r>
                        <a:rPr lang="zh-CN" altLang="en-US">
                          <a:latin typeface="Cambria Math" panose="02040503050406030204" pitchFamily="18" charset="0"/>
                        </a:rPr>
                        <m:t>=</m:t>
                      </m:r>
                      <m:f>
                        <m:fPr>
                          <m:ctrlPr>
                            <a:rPr lang="zh-CN" altLang="en-US" i="1">
                              <a:latin typeface="Cambria Math" panose="02040503050406030204"/>
                            </a:rPr>
                          </m:ctrlPr>
                        </m:fPr>
                        <m:num>
                          <m:r>
                            <a:rPr lang="zh-CN" altLang="en-US" i="1">
                              <a:latin typeface="Cambria Math" panose="02040503050406030204" pitchFamily="18" charset="0"/>
                            </a:rPr>
                            <m:t>𝜀</m:t>
                          </m:r>
                        </m:num>
                        <m:den>
                          <m:r>
                            <a:rPr lang="zh-CN" altLang="en-US" i="1">
                              <a:latin typeface="Cambria Math" panose="02040503050406030204" pitchFamily="18" charset="0"/>
                            </a:rPr>
                            <m:t>𝐿</m:t>
                          </m:r>
                        </m:den>
                      </m:f>
                      <m:sSup>
                        <m:sSupPr>
                          <m:ctrlPr>
                            <a:rPr lang="zh-CN" altLang="en-US" i="1">
                              <a:latin typeface="Cambria Math" panose="02040503050406030204"/>
                            </a:rPr>
                          </m:ctrlPr>
                        </m:sSupPr>
                        <m:e>
                          <m:r>
                            <a:rPr lang="zh-CN" altLang="en-US" i="1">
                              <a:latin typeface="Cambria Math" panose="02040503050406030204" pitchFamily="18" charset="0"/>
                            </a:rPr>
                            <m:t>𝑒</m:t>
                          </m:r>
                        </m:e>
                        <m:sup>
                          <m:r>
                            <a:rPr lang="zh-CN" altLang="en-US">
                              <a:latin typeface="Cambria Math" panose="02040503050406030204" pitchFamily="18" charset="0"/>
                            </a:rPr>
                            <m:t>−</m:t>
                          </m:r>
                          <m:r>
                            <a:rPr lang="zh-CN" altLang="en-US" i="1">
                              <a:latin typeface="Cambria Math" panose="02040503050406030204" pitchFamily="18" charset="0"/>
                            </a:rPr>
                            <m:t>𝑅</m:t>
                          </m:r>
                          <m:f>
                            <m:fPr>
                              <m:type m:val="lin"/>
                              <m:ctrlPr>
                                <a:rPr lang="zh-CN" altLang="en-US" i="1">
                                  <a:latin typeface="Cambria Math" panose="02040503050406030204"/>
                                </a:rPr>
                              </m:ctrlPr>
                            </m:fPr>
                            <m:num>
                              <m:r>
                                <a:rPr lang="zh-CN" altLang="en-US" i="1">
                                  <a:latin typeface="Cambria Math" panose="02040503050406030204" pitchFamily="18" charset="0"/>
                                </a:rPr>
                                <m:t>𝑡</m:t>
                              </m:r>
                            </m:num>
                            <m:den>
                              <m:r>
                                <a:rPr lang="zh-CN" altLang="en-US" i="1">
                                  <a:latin typeface="Cambria Math" panose="02040503050406030204" pitchFamily="18" charset="0"/>
                                </a:rPr>
                                <m:t>𝐿</m:t>
                              </m:r>
                            </m:den>
                          </m:f>
                        </m:sup>
                      </m:sSup>
                      <m:r>
                        <a:rPr lang="zh-CN" altLang="en-US">
                          <a:latin typeface="Cambria Math" panose="02040503050406030204" pitchFamily="18" charset="0"/>
                        </a:rPr>
                        <m:t>=</m:t>
                      </m:r>
                      <m:f>
                        <m:fPr>
                          <m:ctrlPr>
                            <a:rPr lang="zh-CN" altLang="en-US" i="1">
                              <a:latin typeface="Cambria Math" panose="02040503050406030204"/>
                            </a:rPr>
                          </m:ctrlPr>
                        </m:fPr>
                        <m:num>
                          <m:r>
                            <a:rPr lang="zh-CN" altLang="en-US">
                              <a:latin typeface="Cambria Math" panose="02040503050406030204" pitchFamily="18" charset="0"/>
                            </a:rPr>
                            <m:t>10</m:t>
                          </m:r>
                        </m:num>
                        <m:den>
                          <m:r>
                            <a:rPr lang="zh-CN" altLang="en-US">
                              <a:latin typeface="Cambria Math" panose="02040503050406030204" pitchFamily="18" charset="0"/>
                            </a:rPr>
                            <m:t>0</m:t>
                          </m:r>
                          <m:r>
                            <a:rPr lang="zh-CN" altLang="en-US">
                              <a:latin typeface="Cambria Math" panose="02040503050406030204" pitchFamily="18" charset="0"/>
                            </a:rPr>
                            <m:t>.</m:t>
                          </m:r>
                          <m:r>
                            <a:rPr lang="zh-CN" altLang="en-US">
                              <a:latin typeface="Cambria Math" panose="02040503050406030204" pitchFamily="18" charset="0"/>
                            </a:rPr>
                            <m:t>13</m:t>
                          </m:r>
                        </m:den>
                      </m:f>
                      <m:sSup>
                        <m:sSupPr>
                          <m:ctrlPr>
                            <a:rPr lang="zh-CN" altLang="en-US" i="1">
                              <a:latin typeface="Cambria Math" panose="02040503050406030204"/>
                            </a:rPr>
                          </m:ctrlPr>
                        </m:sSupPr>
                        <m:e>
                          <m:r>
                            <a:rPr lang="zh-CN" altLang="en-US" i="1">
                              <a:latin typeface="Cambria Math" panose="02040503050406030204" pitchFamily="18" charset="0"/>
                            </a:rPr>
                            <m:t>𝑒</m:t>
                          </m:r>
                        </m:e>
                        <m:sup>
                          <m:r>
                            <a:rPr lang="zh-CN" altLang="en-US">
                              <a:latin typeface="Cambria Math" panose="02040503050406030204" pitchFamily="18" charset="0"/>
                            </a:rPr>
                            <m:t>−</m:t>
                          </m:r>
                          <m:r>
                            <m:rPr>
                              <m:nor/>
                            </m:rPr>
                            <a:rPr lang="zh-CN" altLang="en-US">
                              <a:latin typeface="Cambria Math" panose="02040503050406030204" pitchFamily="18" charset="0"/>
                            </a:rPr>
                            <m:t>(</m:t>
                          </m:r>
                          <m:r>
                            <m:rPr>
                              <m:nor/>
                            </m:rPr>
                            <a:rPr lang="zh-CN" altLang="en-US">
                              <a:latin typeface="Cambria Math" panose="02040503050406030204" pitchFamily="18" charset="0"/>
                            </a:rPr>
                            <m:t>10</m:t>
                          </m:r>
                          <m:r>
                            <m:rPr>
                              <m:nor/>
                            </m:rPr>
                            <a:rPr lang="zh-CN" altLang="en-US">
                              <a:latin typeface="Cambria Math" panose="02040503050406030204" pitchFamily="18" charset="0"/>
                            </a:rPr>
                            <m:t>)(</m:t>
                          </m:r>
                          <m:r>
                            <m:rPr>
                              <m:nor/>
                            </m:rPr>
                            <a:rPr lang="zh-CN" altLang="en-US">
                              <a:latin typeface="Cambria Math" panose="02040503050406030204" pitchFamily="18" charset="0"/>
                            </a:rPr>
                            <m:t>0</m:t>
                          </m:r>
                          <m:f>
                            <m:fPr>
                              <m:type m:val="lin"/>
                              <m:ctrlPr>
                                <a:rPr lang="zh-CN" altLang="en-US" i="1">
                                  <a:latin typeface="Cambria Math" panose="02040503050406030204"/>
                                </a:rPr>
                              </m:ctrlPr>
                            </m:fPr>
                            <m:num>
                              <m:r>
                                <m:rPr>
                                  <m:nor/>
                                </m:rPr>
                                <a:rPr lang="zh-CN" altLang="en-US">
                                  <a:latin typeface="Cambria Math" panose="02040503050406030204" pitchFamily="18" charset="0"/>
                                </a:rPr>
                                <m:t>.</m:t>
                              </m:r>
                              <m:r>
                                <m:rPr>
                                  <m:nor/>
                                </m:rPr>
                                <a:rPr lang="zh-CN" altLang="en-US">
                                  <a:latin typeface="Cambria Math" panose="02040503050406030204" pitchFamily="18" charset="0"/>
                                </a:rPr>
                                <m:t>005</m:t>
                              </m:r>
                              <m:r>
                                <m:rPr>
                                  <m:nor/>
                                </m:rPr>
                                <a:rPr lang="zh-CN" altLang="en-US">
                                  <a:latin typeface="Cambria Math" panose="02040503050406030204" pitchFamily="18" charset="0"/>
                                </a:rPr>
                                <m:t>)</m:t>
                              </m:r>
                            </m:num>
                            <m:den>
                              <m:r>
                                <a:rPr lang="zh-CN" altLang="en-US" i="0">
                                  <a:latin typeface="Cambria Math" panose="02040503050406030204" pitchFamily="18" charset="0"/>
                                </a:rPr>
                                <m:t>0</m:t>
                              </m:r>
                              <m:r>
                                <a:rPr lang="zh-CN" altLang="en-US" i="0">
                                  <a:latin typeface="Cambria Math" panose="02040503050406030204" pitchFamily="18" charset="0"/>
                                </a:rPr>
                                <m:t>.</m:t>
                              </m:r>
                              <m:r>
                                <a:rPr lang="zh-CN" altLang="en-US" i="0">
                                  <a:latin typeface="Cambria Math" panose="02040503050406030204" pitchFamily="18" charset="0"/>
                                </a:rPr>
                                <m:t>13</m:t>
                              </m:r>
                            </m:den>
                          </m:f>
                        </m:sup>
                      </m:sSup>
                      <m:r>
                        <a:rPr lang="zh-CN" altLang="en-US">
                          <a:latin typeface="Cambria Math" panose="02040503050406030204" pitchFamily="18" charset="0"/>
                        </a:rPr>
                        <m:t>=</m:t>
                      </m:r>
                      <m:r>
                        <a:rPr lang="zh-CN" altLang="en-US">
                          <a:latin typeface="Cambria Math" panose="02040503050406030204" pitchFamily="18" charset="0"/>
                        </a:rPr>
                        <m:t>52</m:t>
                      </m:r>
                      <m:r>
                        <a:rPr lang="zh-CN" altLang="en-US">
                          <a:latin typeface="Cambria Math" panose="02040503050406030204" pitchFamily="18" charset="0"/>
                        </a:rPr>
                        <m:t>.</m:t>
                      </m:r>
                      <m:r>
                        <a:rPr lang="zh-CN" altLang="en-US">
                          <a:latin typeface="Cambria Math" panose="02040503050406030204" pitchFamily="18" charset="0"/>
                        </a:rPr>
                        <m:t>36</m:t>
                      </m:r>
                      <m:r>
                        <m:rPr>
                          <m:nor/>
                        </m:rPr>
                        <a:rPr lang="zh-CN" altLang="en-US" i="1">
                          <a:latin typeface="Cambria Math" panose="02040503050406030204" pitchFamily="18" charset="0"/>
                        </a:rPr>
                        <m:t> </m:t>
                      </m:r>
                      <m:f>
                        <m:fPr>
                          <m:type m:val="lin"/>
                          <m:ctrlPr>
                            <a:rPr lang="zh-CN" altLang="en-US" i="1">
                              <a:latin typeface="Cambria Math" panose="02040503050406030204"/>
                            </a:rPr>
                          </m:ctrlPr>
                        </m:fPr>
                        <m:num>
                          <m:r>
                            <a:rPr lang="zh-CN" altLang="en-US" i="1">
                              <a:latin typeface="Cambria Math" panose="02040503050406030204" pitchFamily="18" charset="0"/>
                            </a:rPr>
                            <m:t>𝐴</m:t>
                          </m:r>
                        </m:num>
                        <m:den>
                          <m:r>
                            <a:rPr lang="zh-CN" altLang="en-US" i="1">
                              <a:latin typeface="Cambria Math" panose="02040503050406030204" pitchFamily="18" charset="0"/>
                            </a:rPr>
                            <m:t>𝑠</m:t>
                          </m:r>
                        </m:den>
                      </m:f>
                      <m:r>
                        <m:rPr>
                          <m:nor/>
                        </m:rPr>
                        <a:rPr lang="zh-CN" altLang="en-US" i="1">
                          <a:latin typeface="Cambria Math" panose="02040503050406030204" pitchFamily="18" charset="0"/>
                        </a:rPr>
                        <m:t> </m:t>
                      </m:r>
                    </m:oMath>
                  </m:oMathPara>
                </a14:m>
                <a:endParaRPr lang="zh-CN" altLang="en-US" sz="2000" dirty="0"/>
              </a:p>
            </p:txBody>
          </p:sp>
        </mc:Choice>
        <mc:Fallback>
          <p:sp>
            <p:nvSpPr>
              <p:cNvPr id="11" name="矩形 10"/>
              <p:cNvSpPr>
                <a:spLocks noRot="1" noChangeAspect="1" noMove="1" noResize="1" noEditPoints="1" noAdjustHandles="1" noChangeArrowheads="1" noChangeShapeType="1" noTextEdit="1"/>
              </p:cNvSpPr>
              <p:nvPr/>
            </p:nvSpPr>
            <p:spPr>
              <a:xfrm>
                <a:off x="597513" y="3933056"/>
                <a:ext cx="8121878" cy="618246"/>
              </a:xfrm>
              <a:prstGeom prst="rect">
                <a:avLst/>
              </a:prstGeom>
              <a:blipFill rotWithShape="1">
                <a:blip r:embed="rId3"/>
                <a:stretch>
                  <a:fillRect l="-8" t="-81" r="3"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nvSpPr>
            <p:spPr>
              <a:xfrm>
                <a:off x="323528" y="1081738"/>
                <a:ext cx="8330295" cy="40011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𝐿</m:t>
                      </m:r>
                      <m:r>
                        <a:rPr lang="zh-CN" altLang="en-US" sz="2000" i="0">
                          <a:latin typeface="Cambria Math" panose="02040503050406030204" pitchFamily="18" charset="0"/>
                        </a:rPr>
                        <m:t>=</m:t>
                      </m:r>
                      <m:sSub>
                        <m:sSubPr>
                          <m:ctrlPr>
                            <a:rPr lang="zh-CN" altLang="en-US" sz="2000" i="1">
                              <a:latin typeface="Cambria Math" panose="02040503050406030204"/>
                            </a:rPr>
                          </m:ctrlPr>
                        </m:sSubPr>
                        <m:e>
                          <m:r>
                            <m:rPr>
                              <m:sty m:val="p"/>
                            </m:rPr>
                            <a:rPr lang="zh-CN" altLang="en-US" sz="2000" i="0">
                              <a:latin typeface="Cambria Math" panose="02040503050406030204" pitchFamily="18" charset="0"/>
                            </a:rPr>
                            <m:t>μ</m:t>
                          </m:r>
                        </m:e>
                        <m:sub>
                          <m:r>
                            <a:rPr lang="zh-CN" altLang="en-US" sz="2000" i="0">
                              <a:latin typeface="Cambria Math" panose="02040503050406030204" pitchFamily="18" charset="0"/>
                            </a:rPr>
                            <m:t>0</m:t>
                          </m:r>
                        </m:sub>
                      </m:sSub>
                      <m:sSup>
                        <m:sSupPr>
                          <m:ctrlPr>
                            <a:rPr lang="zh-CN" altLang="en-US" sz="2000" i="1">
                              <a:latin typeface="Cambria Math" panose="02040503050406030204"/>
                            </a:rPr>
                          </m:ctrlPr>
                        </m:sSupPr>
                        <m:e>
                          <m:r>
                            <m:rPr>
                              <m:sty m:val="p"/>
                            </m:rPr>
                            <a:rPr lang="zh-CN" altLang="en-US" sz="2000" i="0">
                              <a:latin typeface="Cambria Math" panose="02040503050406030204" pitchFamily="18" charset="0"/>
                            </a:rPr>
                            <m:t>n</m:t>
                          </m:r>
                        </m:e>
                        <m:sup>
                          <m:r>
                            <a:rPr lang="zh-CN" altLang="en-US" sz="2000" i="0">
                              <a:latin typeface="Cambria Math" panose="02040503050406030204" pitchFamily="18" charset="0"/>
                            </a:rPr>
                            <m:t>2</m:t>
                          </m:r>
                        </m:sup>
                      </m:sSup>
                      <m:r>
                        <m:rPr>
                          <m:sty m:val="p"/>
                        </m:rPr>
                        <a:rPr lang="zh-CN" altLang="en-US" sz="2000" i="0">
                          <a:latin typeface="Cambria Math" panose="02040503050406030204" pitchFamily="18" charset="0"/>
                        </a:rPr>
                        <m:t>Al</m:t>
                      </m:r>
                      <m:r>
                        <a:rPr lang="zh-CN" altLang="en-US" sz="2000" i="0">
                          <a:latin typeface="Cambria Math" panose="02040503050406030204" pitchFamily="18" charset="0"/>
                        </a:rPr>
                        <m:t>=</m:t>
                      </m:r>
                      <m:r>
                        <a:rPr lang="zh-CN" altLang="en-US" sz="2000" i="0">
                          <a:latin typeface="Cambria Math" panose="02040503050406030204" pitchFamily="18" charset="0"/>
                        </a:rPr>
                        <m:t>4</m:t>
                      </m:r>
                      <m:r>
                        <m:rPr>
                          <m:sty m:val="p"/>
                        </m:rPr>
                        <a:rPr lang="zh-CN" altLang="en-US" sz="2000" i="0">
                          <a:latin typeface="Cambria Math" panose="02040503050406030204" pitchFamily="18" charset="0"/>
                        </a:rPr>
                        <m:t>π</m:t>
                      </m:r>
                      <m:r>
                        <a:rPr lang="zh-CN" altLang="en-US" sz="2000" i="0">
                          <a:latin typeface="Cambria Math" panose="02040503050406030204" pitchFamily="18" charset="0"/>
                        </a:rPr>
                        <m:t>×</m:t>
                      </m:r>
                      <m:sSup>
                        <m:sSupPr>
                          <m:ctrlPr>
                            <a:rPr lang="zh-CN" altLang="en-US" sz="2000" i="1">
                              <a:latin typeface="Cambria Math" panose="02040503050406030204"/>
                            </a:rPr>
                          </m:ctrlPr>
                        </m:sSupPr>
                        <m:e>
                          <m:r>
                            <a:rPr lang="zh-CN" altLang="en-US" sz="2000" i="0">
                              <a:latin typeface="Cambria Math" panose="02040503050406030204" pitchFamily="18" charset="0"/>
                            </a:rPr>
                            <m:t>10</m:t>
                          </m:r>
                        </m:e>
                        <m:sup>
                          <m:r>
                            <a:rPr lang="zh-CN" altLang="en-US" sz="2000" i="0">
                              <a:latin typeface="Cambria Math" panose="02040503050406030204" pitchFamily="18" charset="0"/>
                            </a:rPr>
                            <m:t>−</m:t>
                          </m:r>
                          <m:r>
                            <a:rPr lang="zh-CN" altLang="en-US" sz="2000" i="0">
                              <a:latin typeface="Cambria Math" panose="02040503050406030204" pitchFamily="18" charset="0"/>
                            </a:rPr>
                            <m:t>7</m:t>
                          </m:r>
                        </m:sup>
                      </m:sSup>
                      <m:r>
                        <a:rPr lang="zh-CN" altLang="en-US" sz="2000" i="0">
                          <a:latin typeface="Cambria Math" panose="02040503050406030204" pitchFamily="18" charset="0"/>
                        </a:rPr>
                        <m:t>×</m:t>
                      </m:r>
                      <m:sSup>
                        <m:sSupPr>
                          <m:ctrlPr>
                            <a:rPr lang="zh-CN" altLang="en-US" sz="2000" i="1">
                              <a:latin typeface="Cambria Math" panose="02040503050406030204"/>
                            </a:rPr>
                          </m:ctrlPr>
                        </m:sSupPr>
                        <m:e>
                          <m:r>
                            <m:rPr>
                              <m:nor/>
                            </m:rPr>
                            <a:rPr lang="zh-CN" altLang="en-US" sz="2000">
                              <a:latin typeface="Cambria Math" panose="02040503050406030204" pitchFamily="18" charset="0"/>
                            </a:rPr>
                            <m:t>(</m:t>
                          </m:r>
                          <m:r>
                            <m:rPr>
                              <m:nor/>
                            </m:rPr>
                            <a:rPr lang="zh-CN" altLang="en-US" sz="2000">
                              <a:latin typeface="Cambria Math" panose="02040503050406030204" pitchFamily="18" charset="0"/>
                            </a:rPr>
                            <m:t>50</m:t>
                          </m:r>
                          <m:r>
                            <a:rPr lang="zh-CN" altLang="en-US" sz="2000" i="0">
                              <a:latin typeface="Cambria Math" panose="02040503050406030204" pitchFamily="18" charset="0"/>
                            </a:rPr>
                            <m:t>×</m:t>
                          </m:r>
                          <m:sSup>
                            <m:sSupPr>
                              <m:ctrlPr>
                                <a:rPr lang="zh-CN" altLang="en-US" sz="2000" i="1">
                                  <a:latin typeface="Cambria Math" panose="02040503050406030204"/>
                                </a:rPr>
                              </m:ctrlPr>
                            </m:sSupPr>
                            <m:e>
                              <m:r>
                                <m:rPr>
                                  <m:nor/>
                                </m:rPr>
                                <a:rPr lang="zh-CN" altLang="en-US" sz="2000">
                                  <a:latin typeface="Cambria Math" panose="02040503050406030204" pitchFamily="18" charset="0"/>
                                </a:rPr>
                                <m:t>10</m:t>
                              </m:r>
                            </m:e>
                            <m:sup>
                              <m:r>
                                <a:rPr lang="zh-CN" altLang="en-US" sz="2000" i="0">
                                  <a:latin typeface="Cambria Math" panose="02040503050406030204" pitchFamily="18" charset="0"/>
                                </a:rPr>
                                <m:t>2</m:t>
                              </m:r>
                            </m:sup>
                          </m:sSup>
                          <m:r>
                            <m:rPr>
                              <m:nor/>
                            </m:rPr>
                            <a:rPr lang="zh-CN" altLang="en-US" sz="200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0">
                          <a:latin typeface="Cambria Math" panose="02040503050406030204" pitchFamily="18" charset="0"/>
                        </a:rPr>
                        <m:t>×</m:t>
                      </m:r>
                      <m:r>
                        <m:rPr>
                          <m:sty m:val="p"/>
                        </m:rPr>
                        <a:rPr lang="zh-CN" altLang="en-US" sz="2000" i="0">
                          <a:latin typeface="Cambria Math" panose="02040503050406030204" pitchFamily="18" charset="0"/>
                        </a:rPr>
                        <m:t>π</m:t>
                      </m:r>
                      <m:sSup>
                        <m:sSupPr>
                          <m:ctrlPr>
                            <a:rPr lang="zh-CN" altLang="en-US" sz="2000" i="1">
                              <a:latin typeface="Cambria Math" panose="02040503050406030204"/>
                            </a:rPr>
                          </m:ctrlPr>
                        </m:sSupPr>
                        <m:e>
                          <m:r>
                            <m:rPr>
                              <m:nor/>
                            </m:rPr>
                            <a:rPr lang="zh-CN" altLang="en-US" sz="2000">
                              <a:latin typeface="Cambria Math" panose="02040503050406030204" pitchFamily="18" charset="0"/>
                            </a:rPr>
                            <m:t>(</m:t>
                          </m:r>
                          <m:r>
                            <a:rPr lang="zh-CN" altLang="en-US" sz="2000" i="0">
                              <a:latin typeface="Cambria Math" panose="02040503050406030204" pitchFamily="18" charset="0"/>
                            </a:rPr>
                            <m:t>5</m:t>
                          </m:r>
                          <m:r>
                            <a:rPr lang="zh-CN" altLang="en-US" sz="2000" i="0">
                              <a:latin typeface="Cambria Math" panose="02040503050406030204" pitchFamily="18" charset="0"/>
                            </a:rPr>
                            <m:t>×</m:t>
                          </m:r>
                          <m:sSup>
                            <m:sSupPr>
                              <m:ctrlPr>
                                <a:rPr lang="zh-CN" altLang="en-US" sz="2000" i="1">
                                  <a:latin typeface="Cambria Math" panose="02040503050406030204"/>
                                </a:rPr>
                              </m:ctrlPr>
                            </m:sSupPr>
                            <m:e>
                              <m:r>
                                <a:rPr lang="zh-CN" altLang="en-US" sz="2000" i="0">
                                  <a:latin typeface="Cambria Math" panose="02040503050406030204" pitchFamily="18" charset="0"/>
                                </a:rPr>
                                <m:t>10</m:t>
                              </m:r>
                            </m:e>
                            <m:sup>
                              <m:r>
                                <a:rPr lang="zh-CN" altLang="en-US" sz="2000" i="0">
                                  <a:latin typeface="Cambria Math" panose="02040503050406030204" pitchFamily="18" charset="0"/>
                                </a:rPr>
                                <m:t>−</m:t>
                              </m:r>
                              <m:r>
                                <a:rPr lang="zh-CN" altLang="en-US" sz="2000" i="0">
                                  <a:latin typeface="Cambria Math" panose="02040503050406030204" pitchFamily="18" charset="0"/>
                                </a:rPr>
                                <m:t>2</m:t>
                              </m:r>
                            </m:sup>
                          </m:sSup>
                          <m:r>
                            <m:rPr>
                              <m:nor/>
                            </m:rPr>
                            <a:rPr lang="zh-CN" altLang="en-US" sz="200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0">
                          <a:latin typeface="Cambria Math" panose="02040503050406030204" pitchFamily="18" charset="0"/>
                        </a:rPr>
                        <m:t>×</m:t>
                      </m:r>
                      <m:r>
                        <m:rPr>
                          <m:nor/>
                        </m:rPr>
                        <a:rPr lang="zh-CN" altLang="en-US" sz="2000">
                          <a:latin typeface="Cambria Math" panose="02040503050406030204" pitchFamily="18" charset="0"/>
                        </a:rPr>
                        <m:t>0</m:t>
                      </m:r>
                      <m:r>
                        <m:rPr>
                          <m:nor/>
                        </m:rPr>
                        <a:rPr lang="zh-CN" altLang="en-US" sz="2000">
                          <a:latin typeface="Cambria Math" panose="02040503050406030204" pitchFamily="18" charset="0"/>
                        </a:rPr>
                        <m:t>.</m:t>
                      </m:r>
                      <m:r>
                        <m:rPr>
                          <m:nor/>
                        </m:rPr>
                        <a:rPr lang="zh-CN" altLang="en-US" sz="2000">
                          <a:latin typeface="Cambria Math" panose="02040503050406030204" pitchFamily="18" charset="0"/>
                        </a:rPr>
                        <m:t>52</m:t>
                      </m:r>
                      <m:r>
                        <m:rPr>
                          <m:nor/>
                        </m:rPr>
                        <a:rPr lang="zh-CN" altLang="en-US" sz="2000">
                          <a:latin typeface="Cambria Math" panose="02040503050406030204" pitchFamily="18" charset="0"/>
                        </a:rPr>
                        <m:t>m</m:t>
                      </m:r>
                      <m:r>
                        <a:rPr lang="zh-CN" altLang="en-US" sz="2000" i="0">
                          <a:latin typeface="Cambria Math" panose="02040503050406030204" pitchFamily="18" charset="0"/>
                        </a:rPr>
                        <m:t>=</m:t>
                      </m:r>
                      <m:r>
                        <a:rPr lang="zh-CN" altLang="en-US" sz="2000" i="0">
                          <a:latin typeface="Cambria Math" panose="02040503050406030204" pitchFamily="18" charset="0"/>
                        </a:rPr>
                        <m:t>0</m:t>
                      </m:r>
                      <m:r>
                        <a:rPr lang="zh-CN" altLang="en-US" sz="2000" i="0">
                          <a:latin typeface="Cambria Math" panose="02040503050406030204" pitchFamily="18" charset="0"/>
                        </a:rPr>
                        <m:t>.</m:t>
                      </m:r>
                      <m:r>
                        <a:rPr lang="zh-CN" altLang="en-US" sz="2000" i="0">
                          <a:latin typeface="Cambria Math" panose="02040503050406030204" pitchFamily="18" charset="0"/>
                        </a:rPr>
                        <m:t>13</m:t>
                      </m:r>
                      <m:r>
                        <m:rPr>
                          <m:nor/>
                        </m:rPr>
                        <a:rPr lang="zh-CN" altLang="en-US" sz="2000">
                          <a:latin typeface="Cambria Math" panose="02040503050406030204" pitchFamily="18" charset="0"/>
                        </a:rPr>
                        <m:t> </m:t>
                      </m:r>
                      <m:r>
                        <m:rPr>
                          <m:sty m:val="p"/>
                        </m:rPr>
                        <a:rPr lang="zh-CN" altLang="en-US" sz="2000" i="0">
                          <a:latin typeface="Cambria Math" panose="02040503050406030204" pitchFamily="18" charset="0"/>
                        </a:rPr>
                        <m:t>H</m:t>
                      </m:r>
                      <m:r>
                        <m:rPr>
                          <m:nor/>
                        </m:rPr>
                        <a:rPr lang="zh-CN" altLang="en-US" sz="2000">
                          <a:latin typeface="Cambria Math" panose="02040503050406030204" pitchFamily="18" charset="0"/>
                        </a:rPr>
                        <m:t> </m:t>
                      </m:r>
                    </m:oMath>
                  </m:oMathPara>
                </a14:m>
                <a:endParaRPr lang="zh-CN" altLang="en-US" sz="2000" dirty="0"/>
              </a:p>
            </p:txBody>
          </p:sp>
        </mc:Choice>
        <mc:Fallback>
          <p:sp>
            <p:nvSpPr>
              <p:cNvPr id="12" name="矩形 11"/>
              <p:cNvSpPr>
                <a:spLocks noRot="1" noChangeAspect="1" noMove="1" noResize="1" noEditPoints="1" noAdjustHandles="1" noChangeArrowheads="1" noChangeShapeType="1" noTextEdit="1"/>
              </p:cNvSpPr>
              <p:nvPr/>
            </p:nvSpPr>
            <p:spPr>
              <a:xfrm>
                <a:off x="323528" y="1081738"/>
                <a:ext cx="8330295" cy="400110"/>
              </a:xfrm>
              <a:prstGeom prst="rect">
                <a:avLst/>
              </a:prstGeom>
              <a:blipFill rotWithShape="1">
                <a:blip r:embed="rId4"/>
                <a:stretch>
                  <a:fillRect l="-4" t="-83" r="1" b="-61956"/>
                </a:stretch>
              </a:blipFill>
            </p:spPr>
            <p:txBody>
              <a:bodyPr/>
              <a:lstStyle/>
              <a:p>
                <a:r>
                  <a:rPr lang="zh-CN" altLang="en-US">
                    <a:noFill/>
                  </a:rPr>
                  <a:t> </a:t>
                </a:r>
              </a:p>
            </p:txBody>
          </p:sp>
        </mc:Fallback>
      </mc:AlternateContent>
      <p:sp>
        <p:nvSpPr>
          <p:cNvPr id="13" name="矩形 12"/>
          <p:cNvSpPr/>
          <p:nvPr/>
        </p:nvSpPr>
        <p:spPr>
          <a:xfrm>
            <a:off x="140598" y="630142"/>
            <a:ext cx="4703532" cy="430887"/>
          </a:xfrm>
          <a:prstGeom prst="rect">
            <a:avLst/>
          </a:prstGeom>
        </p:spPr>
        <p:txBody>
          <a:bodyPr wrap="none">
            <a:spAutoFit/>
          </a:bodyPr>
          <a:lstStyle/>
          <a:p>
            <a:pPr lvl="0" indent="200025" eaLnBrk="0" fontAlgn="base" hangingPunct="0">
              <a:spcBef>
                <a:spcPct val="0"/>
              </a:spcBef>
              <a:spcAft>
                <a:spcPct val="0"/>
              </a:spcAft>
            </a:pPr>
            <a:r>
              <a:rPr lang="zh-CN" altLang="zh-CN" sz="2200" dirty="0">
                <a:latin typeface="+mj-lt"/>
                <a:ea typeface="宋体" panose="02010600030101010101" pitchFamily="2" charset="-122"/>
                <a:cs typeface="Times New Roman" panose="02020603050405020304" pitchFamily="18" charset="0"/>
              </a:rPr>
              <a:t>The self-inductance of the solenoid is:</a:t>
            </a:r>
            <a:endParaRPr lang="zh-CN" altLang="zh-CN" sz="22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advTm="333171"/>
    </mc:Choice>
    <mc:Fallback>
      <p:transition spd="slow" advTm="33317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179388" y="115888"/>
            <a:ext cx="306199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lnSpcReduction="20000"/>
          </a:bodyPr>
          <a:lstStyle>
            <a:defPPr>
              <a:defRPr lang="zh-CN"/>
            </a:defPPr>
            <a:lvl1pPr marL="450850" indent="-450850" eaLnBrk="0" fontAlgn="base" hangingPunct="0">
              <a:lnSpc>
                <a:spcPct val="90000"/>
              </a:lnSpc>
              <a:spcBef>
                <a:spcPct val="0"/>
              </a:spcBef>
              <a:spcAft>
                <a:spcPct val="0"/>
              </a:spcAft>
              <a:defRPr sz="2800" b="1">
                <a:solidFill>
                  <a:srgbClr val="D33325"/>
                </a:solidFill>
                <a:latin typeface="+mj-lt"/>
                <a:ea typeface="MS PGothic" panose="020B0600070205080204" pitchFamily="34" charset="-128"/>
                <a:cs typeface="+mj-cs"/>
              </a:defRPr>
            </a:lvl1pPr>
            <a:lvl2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a:lstStyle>
          <a:p>
            <a:r>
              <a:rPr lang="en-US" dirty="0"/>
              <a:t>Problem </a:t>
            </a:r>
            <a:r>
              <a:rPr lang="en-US" dirty="0" smtClean="0"/>
              <a:t>3</a:t>
            </a:r>
            <a:endParaRPr lang="zh-CN" altLang="en-US" dirty="0"/>
          </a:p>
        </p:txBody>
      </p:sp>
      <p:sp>
        <p:nvSpPr>
          <p:cNvPr id="2" name="矩形 1"/>
          <p:cNvSpPr/>
          <p:nvPr/>
        </p:nvSpPr>
        <p:spPr>
          <a:xfrm>
            <a:off x="395536" y="836712"/>
            <a:ext cx="7704856" cy="1092607"/>
          </a:xfrm>
          <a:prstGeom prst="rect">
            <a:avLst/>
          </a:prstGeom>
        </p:spPr>
        <p:txBody>
          <a:bodyPr wrap="square">
            <a:spAutoFit/>
          </a:bodyPr>
          <a:lstStyle/>
          <a:p>
            <a:pPr indent="200025" eaLnBrk="0" fontAlgn="base" hangingPunct="0">
              <a:spcBef>
                <a:spcPct val="0"/>
              </a:spcBef>
              <a:spcAft>
                <a:spcPct val="0"/>
              </a:spcAft>
            </a:pPr>
            <a:r>
              <a:rPr lang="en-US" altLang="zh-CN" sz="2000" b="1" dirty="0">
                <a:latin typeface="+mj-lt"/>
                <a:ea typeface="宋体" panose="02010600030101010101" pitchFamily="2" charset="-122"/>
                <a:cs typeface="Times New Roman" panose="02020603050405020304" pitchFamily="18" charset="0"/>
              </a:rPr>
              <a:t>Method 2</a:t>
            </a:r>
            <a:r>
              <a:rPr lang="zh-CN" altLang="en-US" sz="2000" dirty="0">
                <a:latin typeface="+mj-lt"/>
                <a:ea typeface="宋体" panose="02010600030101010101" pitchFamily="2" charset="-122"/>
                <a:cs typeface="Times New Roman" panose="02020603050405020304" pitchFamily="18" charset="0"/>
              </a:rPr>
              <a:t>： </a:t>
            </a:r>
            <a:endParaRPr lang="en-US" altLang="zh-CN" sz="2000" dirty="0" smtClean="0">
              <a:latin typeface="+mj-lt"/>
              <a:ea typeface="宋体" panose="02010600030101010101" pitchFamily="2" charset="-122"/>
              <a:cs typeface="Times New Roman" panose="02020603050405020304" pitchFamily="18" charset="0"/>
            </a:endParaRPr>
          </a:p>
          <a:p>
            <a:pPr indent="200025" eaLnBrk="0" fontAlgn="base" hangingPunct="0">
              <a:spcBef>
                <a:spcPts val="600"/>
              </a:spcBef>
              <a:spcAft>
                <a:spcPct val="0"/>
              </a:spcAft>
            </a:pPr>
            <a:r>
              <a:rPr lang="en-US" altLang="zh-CN" sz="2000" dirty="0" smtClean="0">
                <a:latin typeface="+mj-lt"/>
                <a:ea typeface="宋体" panose="02010600030101010101" pitchFamily="2" charset="-122"/>
                <a:cs typeface="Times New Roman" panose="02020603050405020304" pitchFamily="18" charset="0"/>
              </a:rPr>
              <a:t>We have known the induced electric field distribution, so we </a:t>
            </a:r>
            <a:r>
              <a:rPr lang="en-US" altLang="zh-CN" sz="2000" dirty="0">
                <a:latin typeface="+mj-lt"/>
                <a:ea typeface="宋体" panose="02010600030101010101" pitchFamily="2" charset="-122"/>
                <a:cs typeface="Times New Roman" panose="02020603050405020304" pitchFamily="18" charset="0"/>
              </a:rPr>
              <a:t>do the following integral directly: </a:t>
            </a:r>
            <a:endParaRPr lang="en-US" altLang="zh-CN" sz="2000" dirty="0">
              <a:latin typeface="+mj-lt"/>
              <a:ea typeface="宋体" panose="02010600030101010101" pitchFamily="2" charset="-122"/>
              <a:cs typeface="Times New Roman" panose="02020603050405020304" pitchFamily="18" charset="0"/>
            </a:endParaRPr>
          </a:p>
        </p:txBody>
      </p:sp>
      <p:graphicFrame>
        <p:nvGraphicFramePr>
          <p:cNvPr id="3" name="对象 2"/>
          <p:cNvGraphicFramePr>
            <a:graphicFrameLocks noChangeAspect="1"/>
          </p:cNvGraphicFramePr>
          <p:nvPr/>
        </p:nvGraphicFramePr>
        <p:xfrm>
          <a:off x="460058" y="2228533"/>
          <a:ext cx="4388485" cy="3053080"/>
        </p:xfrm>
        <a:graphic>
          <a:graphicData uri="http://schemas.openxmlformats.org/presentationml/2006/ole">
            <mc:AlternateContent xmlns:mc="http://schemas.openxmlformats.org/markup-compatibility/2006">
              <mc:Choice xmlns:v="urn:schemas-microsoft-com:vml" Requires="v">
                <p:oleObj spid="_x0000_s34892" name="Equation" r:id="rId1" imgW="2171700" imgH="1625600" progId="Equation.DSMT4">
                  <p:embed/>
                </p:oleObj>
              </mc:Choice>
              <mc:Fallback>
                <p:oleObj name="Equation" r:id="rId1" imgW="2171700" imgH="1625600" progId="Equation.DSMT4">
                  <p:embed/>
                  <p:pic>
                    <p:nvPicPr>
                      <p:cNvPr id="0" name="图片 34891"/>
                      <p:cNvPicPr/>
                      <p:nvPr/>
                    </p:nvPicPr>
                    <p:blipFill>
                      <a:blip r:embed="rId2"/>
                      <a:stretch>
                        <a:fillRect/>
                      </a:stretch>
                    </p:blipFill>
                    <p:spPr>
                      <a:xfrm>
                        <a:off x="460058" y="2228533"/>
                        <a:ext cx="4388485" cy="3053080"/>
                      </a:xfrm>
                      <a:prstGeom prst="rect">
                        <a:avLst/>
                      </a:prstGeom>
                    </p:spPr>
                  </p:pic>
                </p:oleObj>
              </mc:Fallback>
            </mc:AlternateContent>
          </a:graphicData>
        </a:graphic>
      </p:graphicFrame>
      <p:pic>
        <p:nvPicPr>
          <p:cNvPr id="5" name="图片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7509"/>
          <a:stretch>
            <a:fillRect/>
          </a:stretch>
        </p:blipFill>
        <p:spPr>
          <a:xfrm>
            <a:off x="5004048" y="1838129"/>
            <a:ext cx="3468687" cy="2981478"/>
          </a:xfrm>
          <a:prstGeom prst="rect">
            <a:avLst/>
          </a:prstGeom>
          <a:noFill/>
          <a:ln>
            <a:noFill/>
          </a:ln>
        </p:spPr>
      </p:pic>
      <p:cxnSp>
        <p:nvCxnSpPr>
          <p:cNvPr id="7" name="直接连接符 6"/>
          <p:cNvCxnSpPr/>
          <p:nvPr/>
        </p:nvCxnSpPr>
        <p:spPr bwMode="auto">
          <a:xfrm>
            <a:off x="6361382" y="3202513"/>
            <a:ext cx="2100535" cy="0"/>
          </a:xfrm>
          <a:prstGeom prst="line">
            <a:avLst/>
          </a:prstGeom>
          <a:solidFill>
            <a:schemeClr val="accent1"/>
          </a:solidFill>
          <a:ln w="9525" cap="flat" cmpd="sng" algn="ctr">
            <a:solidFill>
              <a:schemeClr val="tx1"/>
            </a:solidFill>
            <a:prstDash val="dashDot"/>
            <a:round/>
            <a:headEnd type="none" w="med" len="med"/>
            <a:tailEnd type="none" w="med" len="med"/>
          </a:ln>
        </p:spPr>
      </p:cxnSp>
      <p:sp>
        <p:nvSpPr>
          <p:cNvPr id="10" name="任意多边形: 形状 9"/>
          <p:cNvSpPr/>
          <p:nvPr/>
        </p:nvSpPr>
        <p:spPr>
          <a:xfrm>
            <a:off x="6947681" y="3243603"/>
            <a:ext cx="70339" cy="337625"/>
          </a:xfrm>
          <a:custGeom>
            <a:avLst/>
            <a:gdLst>
              <a:gd name="connsiteX0" fmla="*/ 56271 w 70339"/>
              <a:gd name="connsiteY0" fmla="*/ 0 h 337625"/>
              <a:gd name="connsiteX1" fmla="*/ 70339 w 70339"/>
              <a:gd name="connsiteY1" fmla="*/ 70338 h 337625"/>
              <a:gd name="connsiteX2" fmla="*/ 42203 w 70339"/>
              <a:gd name="connsiteY2" fmla="*/ 281354 h 337625"/>
              <a:gd name="connsiteX3" fmla="*/ 0 w 70339"/>
              <a:gd name="connsiteY3" fmla="*/ 337625 h 337625"/>
            </a:gdLst>
            <a:ahLst/>
            <a:cxnLst>
              <a:cxn ang="0">
                <a:pos x="connsiteX0" y="connsiteY0"/>
              </a:cxn>
              <a:cxn ang="0">
                <a:pos x="connsiteX1" y="connsiteY1"/>
              </a:cxn>
              <a:cxn ang="0">
                <a:pos x="connsiteX2" y="connsiteY2"/>
              </a:cxn>
              <a:cxn ang="0">
                <a:pos x="connsiteX3" y="connsiteY3"/>
              </a:cxn>
            </a:cxnLst>
            <a:rect l="l" t="t" r="r" b="b"/>
            <a:pathLst>
              <a:path w="70339" h="337625">
                <a:moveTo>
                  <a:pt x="56271" y="0"/>
                </a:moveTo>
                <a:cubicBezTo>
                  <a:pt x="60960" y="23446"/>
                  <a:pt x="70339" y="46428"/>
                  <a:pt x="70339" y="70338"/>
                </a:cubicBezTo>
                <a:cubicBezTo>
                  <a:pt x="70339" y="101773"/>
                  <a:pt x="70110" y="225541"/>
                  <a:pt x="42203" y="281354"/>
                </a:cubicBezTo>
                <a:cubicBezTo>
                  <a:pt x="26296" y="313169"/>
                  <a:pt x="19784" y="317841"/>
                  <a:pt x="0" y="337625"/>
                </a:cubicBezTo>
              </a:path>
            </a:pathLst>
          </a:custGeom>
          <a:noFill/>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2" name="直接连接符 11"/>
          <p:cNvCxnSpPr/>
          <p:nvPr/>
        </p:nvCxnSpPr>
        <p:spPr bwMode="auto">
          <a:xfrm>
            <a:off x="6361382" y="3202513"/>
            <a:ext cx="2016224" cy="378715"/>
          </a:xfrm>
          <a:prstGeom prst="line">
            <a:avLst/>
          </a:prstGeom>
          <a:solidFill>
            <a:schemeClr val="accent1"/>
          </a:solidFill>
          <a:ln w="9525" cap="flat" cmpd="sng" algn="ctr">
            <a:solidFill>
              <a:schemeClr val="tx1"/>
            </a:solidFill>
            <a:prstDash val="dashDot"/>
            <a:round/>
            <a:headEnd type="none" w="med" len="med"/>
            <a:tailEnd type="none" w="med" len="med"/>
          </a:ln>
        </p:spPr>
      </p:cxnSp>
      <p:cxnSp>
        <p:nvCxnSpPr>
          <p:cNvPr id="14" name="直接连接符 13"/>
          <p:cNvCxnSpPr/>
          <p:nvPr/>
        </p:nvCxnSpPr>
        <p:spPr bwMode="auto">
          <a:xfrm>
            <a:off x="6361382" y="3202513"/>
            <a:ext cx="2016224" cy="481061"/>
          </a:xfrm>
          <a:prstGeom prst="line">
            <a:avLst/>
          </a:prstGeom>
          <a:solidFill>
            <a:schemeClr val="accent1"/>
          </a:solidFill>
          <a:ln w="9525" cap="flat" cmpd="sng" algn="ctr">
            <a:solidFill>
              <a:schemeClr val="tx1"/>
            </a:solidFill>
            <a:prstDash val="dashDot"/>
            <a:round/>
            <a:headEnd type="none" w="med" len="med"/>
            <a:tailEnd type="none" w="med" len="med"/>
          </a:ln>
        </p:spPr>
      </p:cxnSp>
      <p:cxnSp>
        <p:nvCxnSpPr>
          <p:cNvPr id="16" name="直接连接符 15"/>
          <p:cNvCxnSpPr/>
          <p:nvPr/>
        </p:nvCxnSpPr>
        <p:spPr bwMode="auto">
          <a:xfrm flipV="1">
            <a:off x="8377606" y="3104037"/>
            <a:ext cx="216024" cy="579538"/>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4" name="任意多边形 3"/>
          <p:cNvSpPr/>
          <p:nvPr/>
        </p:nvSpPr>
        <p:spPr>
          <a:xfrm>
            <a:off x="6998677" y="3200400"/>
            <a:ext cx="8792" cy="179428"/>
          </a:xfrm>
          <a:custGeom>
            <a:avLst/>
            <a:gdLst>
              <a:gd name="connsiteX0" fmla="*/ 8792 w 8792"/>
              <a:gd name="connsiteY0" fmla="*/ 0 h 179428"/>
              <a:gd name="connsiteX1" fmla="*/ 0 w 8792"/>
              <a:gd name="connsiteY1" fmla="*/ 167054 h 179428"/>
              <a:gd name="connsiteX2" fmla="*/ 8792 w 8792"/>
              <a:gd name="connsiteY2" fmla="*/ 167054 h 179428"/>
            </a:gdLst>
            <a:ahLst/>
            <a:cxnLst>
              <a:cxn ang="0">
                <a:pos x="connsiteX0" y="connsiteY0"/>
              </a:cxn>
              <a:cxn ang="0">
                <a:pos x="connsiteX1" y="connsiteY1"/>
              </a:cxn>
              <a:cxn ang="0">
                <a:pos x="connsiteX2" y="connsiteY2"/>
              </a:cxn>
            </a:cxnLst>
            <a:rect l="l" t="t" r="r" b="b"/>
            <a:pathLst>
              <a:path w="8792" h="179428">
                <a:moveTo>
                  <a:pt x="8792" y="0"/>
                </a:moveTo>
                <a:cubicBezTo>
                  <a:pt x="4396" y="69606"/>
                  <a:pt x="0" y="139212"/>
                  <a:pt x="0" y="167054"/>
                </a:cubicBezTo>
                <a:cubicBezTo>
                  <a:pt x="0" y="194896"/>
                  <a:pt x="8792" y="167054"/>
                  <a:pt x="8792" y="167054"/>
                </a:cubicBezTo>
              </a:path>
            </a:pathLst>
          </a:custGeom>
          <a:noFill/>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p14="http://schemas.microsoft.com/office/powerpoint/2010/main">
        <mc:Choice Requires="p14">
          <p:contentPart r:id="rId4" p14:bwMode="auto">
            <p14:nvContentPartPr>
              <p14:cNvPr id="13" name="墨迹 12"/>
              <p14:cNvContentPartPr/>
              <p14:nvPr/>
            </p14:nvContentPartPr>
            <p14:xfrm>
              <a:off x="6986465" y="3198988"/>
              <a:ext cx="753480" cy="383760"/>
            </p14:xfrm>
          </p:contentPart>
        </mc:Choice>
        <mc:Fallback xmlns="">
          <p:pic>
            <p:nvPicPr>
              <p:cNvPr id="13" name="墨迹 12"/>
            </p:nvPicPr>
            <p:blipFill>
              <a:blip r:embed="rId5"/>
            </p:blipFill>
            <p:spPr>
              <a:xfrm>
                <a:off x="6986465" y="3198988"/>
                <a:ext cx="753480" cy="3837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31" name="墨迹 30"/>
              <p14:cNvContentPartPr/>
              <p14:nvPr/>
            </p14:nvContentPartPr>
            <p14:xfrm>
              <a:off x="8516465" y="3130588"/>
              <a:ext cx="97560" cy="85320"/>
            </p14:xfrm>
          </p:contentPart>
        </mc:Choice>
        <mc:Fallback xmlns="">
          <p:pic>
            <p:nvPicPr>
              <p:cNvPr id="31" name="墨迹 30"/>
            </p:nvPicPr>
            <p:blipFill>
              <a:blip r:embed="rId7"/>
            </p:blipFill>
            <p:spPr>
              <a:xfrm>
                <a:off x="8516465" y="3130588"/>
                <a:ext cx="97560" cy="8532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35" name="墨迹 34"/>
              <p14:cNvContentPartPr/>
              <p14:nvPr/>
            </p14:nvContentPartPr>
            <p14:xfrm>
              <a:off x="7785665" y="3588508"/>
              <a:ext cx="100440" cy="145800"/>
            </p14:xfrm>
          </p:contentPart>
        </mc:Choice>
        <mc:Fallback xmlns="">
          <p:pic>
            <p:nvPicPr>
              <p:cNvPr id="35" name="墨迹 34"/>
            </p:nvPicPr>
            <p:blipFill>
              <a:blip r:embed="rId9"/>
            </p:blipFill>
            <p:spPr>
              <a:xfrm>
                <a:off x="7785665" y="3588508"/>
                <a:ext cx="100440" cy="1458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36" name="墨迹 35"/>
              <p14:cNvContentPartPr/>
              <p14:nvPr/>
            </p14:nvContentPartPr>
            <p14:xfrm>
              <a:off x="8246105" y="3169828"/>
              <a:ext cx="588240" cy="529560"/>
            </p14:xfrm>
          </p:contentPart>
        </mc:Choice>
        <mc:Fallback xmlns="">
          <p:pic>
            <p:nvPicPr>
              <p:cNvPr id="36" name="墨迹 35"/>
            </p:nvPicPr>
            <p:blipFill>
              <a:blip r:embed="rId11"/>
            </p:blipFill>
            <p:spPr>
              <a:xfrm>
                <a:off x="8246105" y="3169828"/>
                <a:ext cx="588240" cy="529560"/>
              </a:xfrm>
              <a:prstGeom prst="rect"/>
            </p:spPr>
          </p:pic>
        </mc:Fallback>
      </mc:AlternateContent>
      <mc:AlternateContent xmlns:mc="http://schemas.openxmlformats.org/markup-compatibility/2006">
        <mc:Choice xmlns:a14="http://schemas.microsoft.com/office/drawing/2010/main" Requires="a14">
          <p:sp>
            <p:nvSpPr>
              <p:cNvPr id="8" name="文本框 7"/>
              <p:cNvSpPr txBox="1"/>
              <p:nvPr/>
            </p:nvSpPr>
            <p:spPr>
              <a:xfrm>
                <a:off x="1403350" y="4725035"/>
                <a:ext cx="4802505" cy="61214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a:rPr>
                          </m:ctrlPr>
                        </m:sSubPr>
                        <m:e>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𝐸</m:t>
                          </m:r>
                          <m:r>
                            <a:rPr lang="en-US" altLang="zh-CN" i="1" baseline="-25000">
                              <a:solidFill>
                                <a:srgbClr val="000000"/>
                              </a:solidFill>
                              <a:latin typeface="Cambria Math" panose="02040503050406030204" pitchFamily="18" charset="0"/>
                            </a:rPr>
                            <m:t>0</m:t>
                          </m:r>
                          <m:r>
                            <a:rPr lang="en-US" altLang="zh-CN" i="1" baseline="-25000">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m:t>
                          </m:r>
                          <m:f>
                            <m:fPr>
                              <m:ctrlPr>
                                <a:rPr lang="zh-CN" altLang="en-US" i="1">
                                  <a:solidFill>
                                    <a:srgbClr val="000000"/>
                                  </a:solidFill>
                                  <a:latin typeface="Cambria Math" panose="02040503050406030204"/>
                                </a:rPr>
                              </m:ctrlPr>
                            </m:fPr>
                            <m:num>
                              <m:r>
                                <a:rPr lang="en-US" altLang="zh-CN" i="1">
                                  <a:solidFill>
                                    <a:srgbClr val="000000"/>
                                  </a:solidFill>
                                  <a:latin typeface="Cambria Math" panose="02040503050406030204"/>
                                </a:rPr>
                                <m:t>1</m:t>
                              </m:r>
                            </m:num>
                            <m:den>
                              <m:r>
                                <a:rPr lang="en-US" altLang="zh-CN">
                                  <a:solidFill>
                                    <a:srgbClr val="000000"/>
                                  </a:solidFill>
                                  <a:latin typeface="Cambria Math" panose="02040503050406030204" pitchFamily="18" charset="0"/>
                                </a:rPr>
                                <m:t>2</m:t>
                              </m:r>
                            </m:den>
                          </m:f>
                          <m:r>
                            <a:rPr lang="en-US" altLang="zh-CN"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𝜇</m:t>
                          </m:r>
                        </m:e>
                        <m:sub>
                          <m:r>
                            <a:rPr lang="zh-CN" altLang="en-US">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𝑛</m:t>
                      </m:r>
                      <m:f>
                        <m:fPr>
                          <m:ctrlPr>
                            <a:rPr lang="zh-CN" altLang="en-US" i="1">
                              <a:solidFill>
                                <a:srgbClr val="000000"/>
                              </a:solidFill>
                              <a:latin typeface="Cambria Math" panose="02040503050406030204"/>
                            </a:rPr>
                          </m:ctrlPr>
                        </m:fPr>
                        <m:num>
                          <m:r>
                            <a:rPr lang="zh-CN" altLang="en-US" i="1">
                              <a:solidFill>
                                <a:srgbClr val="000000"/>
                              </a:solidFill>
                              <a:latin typeface="Cambria Math" panose="02040503050406030204" pitchFamily="18" charset="0"/>
                            </a:rPr>
                            <m:t>𝑑𝑖</m:t>
                          </m:r>
                        </m:num>
                        <m:den>
                          <m:r>
                            <a:rPr lang="zh-CN" altLang="en-US" i="1">
                              <a:solidFill>
                                <a:srgbClr val="000000"/>
                              </a:solidFill>
                              <a:latin typeface="Cambria Math" panose="02040503050406030204" pitchFamily="18" charset="0"/>
                            </a:rPr>
                            <m:t>𝑑𝑡</m:t>
                          </m:r>
                        </m:den>
                      </m:f>
                      <m:r>
                        <a:rPr lang="en-US" altLang="zh-CN" i="1">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𝐴</m:t>
                      </m:r>
                      <m:r>
                        <a:rPr lang="en-US" altLang="zh-CN" i="1" baseline="-25000">
                          <a:solidFill>
                            <a:srgbClr val="000000"/>
                          </a:solidFill>
                          <a:latin typeface="Cambria Math" panose="02040503050406030204" pitchFamily="18" charset="0"/>
                        </a:rPr>
                        <m:t>1</m:t>
                      </m:r>
                      <m:r>
                        <a:rPr lang="en-US" altLang="zh-CN" i="1">
                          <a:solidFill>
                            <a:srgbClr val="000000"/>
                          </a:solidFill>
                          <a:latin typeface="Cambria Math" panose="02040503050406030204" pitchFamily="18" charset="0"/>
                        </a:rPr>
                        <m:t>=</m:t>
                      </m:r>
                      <m:f>
                        <m:fPr>
                          <m:ctrlPr>
                            <a:rPr lang="zh-CN" altLang="en-US" i="1">
                              <a:solidFill>
                                <a:srgbClr val="000000"/>
                              </a:solidFill>
                              <a:latin typeface="Cambria Math" panose="02040503050406030204"/>
                            </a:rPr>
                          </m:ctrlPr>
                        </m:fPr>
                        <m:num>
                          <m:r>
                            <a:rPr lang="en-US" altLang="zh-CN" i="1">
                              <a:solidFill>
                                <a:srgbClr val="000000"/>
                              </a:solidFill>
                              <a:latin typeface="Cambria Math" panose="02040503050406030204"/>
                            </a:rPr>
                            <m:t>1</m:t>
                          </m:r>
                        </m:num>
                        <m:den>
                          <m:r>
                            <a:rPr lang="en-US" altLang="zh-CN">
                              <a:solidFill>
                                <a:srgbClr val="000000"/>
                              </a:solidFill>
                              <a:latin typeface="Cambria Math" panose="02040503050406030204" pitchFamily="18" charset="0"/>
                            </a:rPr>
                            <m:t>2</m:t>
                          </m:r>
                        </m:den>
                      </m:f>
                      <m:sSup>
                        <m:sSupPr>
                          <m:ctrlPr>
                            <a:rPr lang="en-US" altLang="zh-CN" i="1">
                              <a:solidFill>
                                <a:srgbClr val="000000"/>
                              </a:solidFill>
                              <a:latin typeface="Cambria Math" panose="02040503050406030204" pitchFamily="18" charset="0"/>
                              <a:cs typeface="Cambria Math" panose="02040503050406030204" pitchFamily="18" charset="0"/>
                            </a:rPr>
                          </m:ctrlPr>
                        </m:sSupPr>
                        <m:e>
                          <m:r>
                            <a:rPr lang="en-US" altLang="zh-CN" i="1">
                              <a:solidFill>
                                <a:srgbClr val="000000"/>
                              </a:solidFill>
                              <a:latin typeface="Cambria Math" panose="02040503050406030204" pitchFamily="18" charset="0"/>
                              <a:cs typeface="Cambria Math" panose="02040503050406030204" pitchFamily="18" charset="0"/>
                            </a:rPr>
                            <m:t>𝑅</m:t>
                          </m:r>
                        </m:e>
                        <m:sup>
                          <m:r>
                            <a:rPr lang="en-US" altLang="zh-CN" i="1">
                              <a:solidFill>
                                <a:srgbClr val="000000"/>
                              </a:solidFill>
                              <a:latin typeface="Cambria Math" panose="02040503050406030204" pitchFamily="18" charset="0"/>
                              <a:cs typeface="Cambria Math" panose="02040503050406030204" pitchFamily="18" charset="0"/>
                            </a:rPr>
                            <m:t>2</m:t>
                          </m:r>
                        </m:sup>
                      </m:sSup>
                      <m:r>
                        <a:rPr lang="en-US" altLang="zh-CN" i="1">
                          <a:solidFill>
                            <a:srgbClr val="000000"/>
                          </a:solidFill>
                          <a:latin typeface="Cambria Math" panose="02040503050406030204" pitchFamily="18" charset="0"/>
                          <a:cs typeface="Cambria Math" panose="02040503050406030204" pitchFamily="18" charset="0"/>
                        </a:rPr>
                        <m:t>𝜃</m:t>
                      </m:r>
                      <m:r>
                        <a:rPr lang="en-US" altLang="zh-CN" i="1">
                          <a:solidFill>
                            <a:srgbClr val="000000"/>
                          </a:solidFill>
                          <a:latin typeface="Cambria Math" panose="02040503050406030204" pitchFamily="18" charset="0"/>
                        </a:rPr>
                        <m:t>)</m:t>
                      </m:r>
                    </m:oMath>
                  </m:oMathPara>
                </a14:m>
                <a:endParaRPr lang="en-US" altLang="zh-CN" i="1" baseline="-25000">
                  <a:solidFill>
                    <a:srgbClr val="000000"/>
                  </a:solidFill>
                  <a:latin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1403350" y="4725035"/>
                <a:ext cx="4802505" cy="612140"/>
              </a:xfrm>
              <a:prstGeom prst="rect">
                <a:avLst/>
              </a:prstGeom>
              <a:blipFill rotWithShape="1">
                <a:blip r:embed="rId12"/>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247186"/>
    </mc:Choice>
    <mc:Fallback>
      <p:transition spd="slow" advTm="247186"/>
    </mc:Fallback>
  </mc:AlternateContent>
</p:sld>
</file>

<file path=ppt/tags/tag1.xml><?xml version="1.0" encoding="utf-8"?>
<p:tagLst xmlns:p="http://schemas.openxmlformats.org/presentationml/2006/main">
  <p:tag name="TIMING" val="|1|1.9|1|0.7"/>
</p:tagLst>
</file>

<file path=ppt/tags/tag2.xml><?xml version="1.0" encoding="utf-8"?>
<p:tagLst xmlns:p="http://schemas.openxmlformats.org/presentationml/2006/main">
  <p:tag name="TIMING" val="|43.5"/>
</p:tagLst>
</file>

<file path=ppt/tags/tag3.xml><?xml version="1.0" encoding="utf-8"?>
<p:tagLst xmlns:p="http://schemas.openxmlformats.org/presentationml/2006/main">
  <p:tag name="commondata" val="eyJoZGlkIjoiMzI2YjcyNGM2MzE4YjNhNGNjOWExM2JhZjVlNjM4ODIifQ=="/>
</p:tagLst>
</file>

<file path=ppt/theme/theme1.xml><?xml version="1.0" encoding="utf-8"?>
<a:theme xmlns:a="http://schemas.openxmlformats.org/drawingml/2006/main" name="C6eActiveLectureQuestions">
  <a:themeElements>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fontScheme name="C6eActiveLectureQuestions">
      <a:majorFont>
        <a:latin typeface="Times New Roman"/>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eaLnBrk="1" hangingPunct="1">
          <a:defRPr dirty="0" smtClean="0">
            <a:latin typeface="+mj-lt"/>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6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6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6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6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6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6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6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6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6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6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6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6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5103</Words>
  <Application>WPS 演示</Application>
  <PresentationFormat>全屏显示(4:3)</PresentationFormat>
  <Paragraphs>131</Paragraphs>
  <Slides>17</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23</vt:i4>
      </vt:variant>
      <vt:variant>
        <vt:lpstr>幻灯片标题</vt:lpstr>
      </vt:variant>
      <vt:variant>
        <vt:i4>17</vt:i4>
      </vt:variant>
    </vt:vector>
  </HeadingPairs>
  <TitlesOfParts>
    <vt:vector size="55" baseType="lpstr">
      <vt:lpstr>Arial</vt:lpstr>
      <vt:lpstr>宋体</vt:lpstr>
      <vt:lpstr>Wingdings</vt:lpstr>
      <vt:lpstr>Times New Roman</vt:lpstr>
      <vt:lpstr>MS PGothic</vt:lpstr>
      <vt:lpstr>Times</vt:lpstr>
      <vt:lpstr>Cambria Math</vt:lpstr>
      <vt:lpstr>方正兰亭超细黑简体</vt:lpstr>
      <vt:lpstr>黑体</vt:lpstr>
      <vt:lpstr>Times New Roman</vt:lpstr>
      <vt:lpstr>Cambria Math</vt:lpstr>
      <vt:lpstr>微软雅黑</vt:lpstr>
      <vt:lpstr>Arial Unicode MS</vt:lpstr>
      <vt:lpstr>Calibri</vt:lpstr>
      <vt:lpstr>C6eActiveLectureQuestions</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hku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Jeff Dai</dc:creator>
  <cp:lastModifiedBy>若风</cp:lastModifiedBy>
  <cp:revision>142</cp:revision>
  <cp:lastPrinted>2015-04-23T01:32:00Z</cp:lastPrinted>
  <dcterms:created xsi:type="dcterms:W3CDTF">2014-04-14T09:38:00Z</dcterms:created>
  <dcterms:modified xsi:type="dcterms:W3CDTF">2024-04-09T13:45:13Z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6F0DA2B32473479E849232B1C8BA15F3_12</vt:lpwstr>
  </property>
</Properties>
</file>