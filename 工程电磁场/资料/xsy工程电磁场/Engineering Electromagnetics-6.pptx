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5"/>
  </p:handoutMasterIdLst>
  <p:sldIdLst>
    <p:sldId id="256" r:id="rId3"/>
    <p:sldId id="340" r:id="rId4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9" r:id="rId22"/>
    <p:sldId id="357" r:id="rId23"/>
    <p:sldId id="358" r:id="rId24"/>
  </p:sldIdLst>
  <p:sldSz cx="9144000" cy="6858000" type="screen4x3"/>
  <p:notesSz cx="9926320" cy="6797675"/>
  <p:custDataLst>
    <p:tags r:id="rId3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shengyi" initials="x" lastIdx="1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333399"/>
    <a:srgbClr val="006600"/>
    <a:srgbClr val="9900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6" autoAdjust="0"/>
    <p:restoredTop sz="94660"/>
  </p:normalViewPr>
  <p:slideViewPr>
    <p:cSldViewPr>
      <p:cViewPr varScale="1">
        <p:scale>
          <a:sx n="115" d="100"/>
          <a:sy n="115" d="100"/>
        </p:scale>
        <p:origin x="79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5T17:59:35.935" idx="5">
    <p:pos x="1969" y="3436"/>
    <p:text>非常非常重要的基本定义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5T17:59:16.864" idx="4">
    <p:pos x="1816" y="2671"/>
    <p:text>重要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5T17:53:20.372" idx="1">
    <p:pos x="4955" y="3494"/>
    <p:text>这里要注意负号，想想流出的意义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6T22:45:29.688" idx="6">
    <p:pos x="5006" y="2728"/>
    <p:text>定义电导</p:text>
  </p:cm>
  <p:cm authorId="1" dt="2024-10-26T22:52:22.610" idx="7">
    <p:pos x="3385" y="3481"/>
    <p:text>电导率的表达式，μ实际上在固态电子中可以找到=eτ/m，固态电子中σ=neμ，此处体电荷ρ=固态电子中ne，其实就是体电荷密度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5T17:54:53.953" idx="2">
    <p:pos x="4400" y="3039"/>
    <p:text/>
  </p:cm>
  <p:cm authorId="1" dt="2024-10-26T14:24:30.924" idx="3">
    <p:pos x="4482" y="3620"/>
    <p:text>电阻的表达式，同时也说明电导率和电阻率之间的关系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6T14:29:30.907" idx="8">
    <p:pos x="4304" y="1414"/>
    <p:text>欧姆定律宏观与微观的表达式（Vab=Va-Vb=δV）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6T14:32:49.078" idx="9">
    <p:pos x="5268" y="2767"/>
    <p:text>导体在静电场下的现象。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6T14:57:52.712" idx="10">
    <p:pos x="4292" y="2894"/>
    <p:text>很重要的边界条件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6T14:58:20.311" idx="11">
    <p:pos x="4968" y="2779"/>
    <p:text>很重要的边界条件，可以求出导体表面电荷密度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8T23:37:18.317" idx="13">
    <p:pos x="2780" y="2282"/>
    <p:text>important boundary condition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6T15:19:20.554" idx="12">
    <p:pos x="1573" y="1529"/>
    <p:text>注意这里是面电荷密度，求散度得到的是无穷小体（点）电荷密度，维度就不一样
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9T16:40:22.755" idx="14">
    <p:pos x="3188" y="2167"/>
    <p:text>求电场线方程方法</p:text>
  </p:cm>
  <p:cm authorId="1" dt="2024-10-29T16:40:52.445" idx="15">
    <p:pos x="4508" y="1637"/>
    <p:text>利用导体表面是等势面性质，求表面方程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58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>
              <a:defRPr sz="1200"/>
            </a:lvl1pPr>
          </a:lstStyle>
          <a:p>
            <a:fld id="{686A4324-7C28-4329-B2F1-5FD4B6C256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58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/>
            </a:lvl1pPr>
          </a:lstStyle>
          <a:p>
            <a:fld id="{FA732558-7D0B-4745-B877-2B020FA1E1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pPr>
              <a:defRPr/>
            </a:pPr>
            <a:fld id="{CFCE66B6-4CF2-4562-A36E-FD57958B22D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11175"/>
            <a:ext cx="3398838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pPr>
              <a:defRPr/>
            </a:pPr>
            <a:fld id="{BEA14968-9F28-4550-9E62-5AFEB150A69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A915F-EF48-4E12-9322-014AC14B82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6757F-36B6-4B03-A23B-51A791095A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2D1AA-81AF-4136-B6B7-4DF8B2353D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3869A-52EA-439A-85B4-5B99DA02ADD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549B5-7C33-4401-8DCA-0C1C099D07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D6E32-8AFF-48B0-BFAA-79EFD98B79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729E0-9F39-4321-BCC4-0E383C4192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98902-1749-4578-ADD1-C8D6FC14DD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96899-CE8E-4251-8463-AEEF76D0B8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EBD7C-0FB7-467E-B4C1-280AB41F76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B3FA2-80A2-486F-B8BD-C573184B8A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67C57CB3-D73C-4ACB-B9FF-2C58343599B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jpeg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comments" Target="../comments/commen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2.xml"/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3" Type="http://schemas.openxmlformats.org/officeDocument/2006/relationships/comments" Target="../comments/comment3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4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.GIF"/><Relationship Id="rId3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image" Target="../media/image4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4.xml"/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55.png"/><Relationship Id="rId7" Type="http://schemas.openxmlformats.org/officeDocument/2006/relationships/image" Target="../media/image54.png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3" Type="http://schemas.openxmlformats.org/officeDocument/2006/relationships/comments" Target="../comments/comment5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7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6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7.png"/><Relationship Id="rId2" Type="http://schemas.openxmlformats.org/officeDocument/2006/relationships/image" Target="../media/image58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7.xml"/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0" Type="http://schemas.openxmlformats.org/officeDocument/2006/relationships/comments" Target="../comments/comment8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1.png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0" Type="http://schemas.openxmlformats.org/officeDocument/2006/relationships/comments" Target="../comments/comment9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0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5.png"/><Relationship Id="rId3" Type="http://schemas.openxmlformats.org/officeDocument/2006/relationships/image" Target="../media/image71.png"/><Relationship Id="rId2" Type="http://schemas.openxmlformats.org/officeDocument/2006/relationships/image" Target="../media/image72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1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3.png"/><Relationship Id="rId3" Type="http://schemas.openxmlformats.org/officeDocument/2006/relationships/image" Target="../media/image4.png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png"/><Relationship Id="rId8" Type="http://schemas.openxmlformats.org/officeDocument/2006/relationships/image" Target="../media/image83.png"/><Relationship Id="rId7" Type="http://schemas.openxmlformats.org/officeDocument/2006/relationships/image" Target="../media/image82.png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3" Type="http://schemas.openxmlformats.org/officeDocument/2006/relationships/image" Target="../media/image73.png"/><Relationship Id="rId2" Type="http://schemas.openxmlformats.org/officeDocument/2006/relationships/image" Target="../media/image4.png"/><Relationship Id="rId16" Type="http://schemas.openxmlformats.org/officeDocument/2006/relationships/comments" Target="../comments/comment12.xml"/><Relationship Id="rId15" Type="http://schemas.openxmlformats.org/officeDocument/2006/relationships/notesSlide" Target="../notesSlides/notesSlide20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88.png"/><Relationship Id="rId12" Type="http://schemas.openxmlformats.org/officeDocument/2006/relationships/image" Target="../media/image87.png"/><Relationship Id="rId11" Type="http://schemas.openxmlformats.org/officeDocument/2006/relationships/image" Target="../media/image86.png"/><Relationship Id="rId10" Type="http://schemas.openxmlformats.org/officeDocument/2006/relationships/image" Target="../media/image85.png"/><Relationship Id="rId1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828800"/>
            <a:ext cx="8534400" cy="198120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Electromagnetics</a:t>
            </a:r>
            <a:b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工程电磁场</a:t>
            </a:r>
            <a:endParaRPr lang="zh-CN" altLang="en-US" sz="40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133600"/>
          </a:xfrm>
        </p:spPr>
        <p:txBody>
          <a:bodyPr/>
          <a:lstStyle/>
          <a:p>
            <a:pPr eaLnBrk="1" hangingPunct="1"/>
            <a:endParaRPr lang="zh-CN" altLang="en-US" sz="36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Youwei Jia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嘉有为</a:t>
            </a:r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52" name="Gerade Verbindung 11"/>
          <p:cNvCxnSpPr>
            <a:cxnSpLocks noChangeShapeType="1"/>
          </p:cNvCxnSpPr>
          <p:nvPr/>
        </p:nvCxnSpPr>
        <p:spPr bwMode="auto">
          <a:xfrm>
            <a:off x="85725" y="1371600"/>
            <a:ext cx="7305675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53" name="Picture 9" descr="13829064795036"/>
          <p:cNvPicPr>
            <a:picLocks noChangeAspect="1" noChangeArrowheads="1"/>
          </p:cNvPicPr>
          <p:nvPr/>
        </p:nvPicPr>
        <p:blipFill>
          <a:blip r:embed="rId1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12713"/>
            <a:ext cx="260985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0" descr="13829064803086"/>
          <p:cNvPicPr>
            <a:picLocks noChangeAspect="1" noChangeArrowheads="1"/>
          </p:cNvPicPr>
          <p:nvPr/>
        </p:nvPicPr>
        <p:blipFill>
          <a:blip r:embed="rId2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112713"/>
            <a:ext cx="275431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 descr="13829064833397"/>
          <p:cNvPicPr>
            <a:picLocks noChangeAspect="1" noChangeArrowheads="1"/>
          </p:cNvPicPr>
          <p:nvPr/>
        </p:nvPicPr>
        <p:blipFill>
          <a:blip r:embed="rId3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12713"/>
            <a:ext cx="183991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6" name="Gerade Verbindung 11"/>
          <p:cNvCxnSpPr>
            <a:cxnSpLocks noChangeShapeType="1"/>
          </p:cNvCxnSpPr>
          <p:nvPr/>
        </p:nvCxnSpPr>
        <p:spPr bwMode="auto">
          <a:xfrm>
            <a:off x="609600" y="3657600"/>
            <a:ext cx="7916863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Current and Current Density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电流和电流密度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85800" y="1676400"/>
            <a:ext cx="417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is a flux quantity and is defined as: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102" y="1570037"/>
            <a:ext cx="861426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702576" y="2057400"/>
            <a:ext cx="58144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is defined as the motion of positive charges.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 of current is the ampere (A), and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is a scalar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:\Users\dpcuser\Desktop\About Teaching\225px-Ampere_Andre_182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213" y="1784054"/>
            <a:ext cx="1255880" cy="169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6248400" y="3439180"/>
            <a:ext cx="17525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André-Marie Ampère </a:t>
            </a:r>
            <a:endParaRPr lang="fr-FR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(1775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1836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2577" y="2667000"/>
            <a:ext cx="56982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Ampere is one of the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seven SI unit symbol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constant current that will produce an attractive force of 2×10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–7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newton per meter of length between two straight, parallel conductors of infinite length and negligible circular cross section placed one meter apart in a vacuum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:\Users\dpcuser\Desktop\About Teaching\工程电磁场\Instructor Notes\Lecture 6\250px-Ampere-def-en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274498"/>
            <a:ext cx="1408043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dpcuser\Desktop\About Teaching\工程电磁场\Instructor Notes\Lecture 6\175px-Metric_seal.sv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328366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2362200" y="5943600"/>
            <a:ext cx="20138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Meter Convention </a:t>
            </a: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米制公约</a:t>
            </a:r>
            <a:endParaRPr lang="zh-CN" altLang="en-US" dirty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6031468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国际计量局</a:t>
            </a:r>
            <a:endParaRPr lang="zh-CN" altLang="en-US" dirty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52" name="Picture 4" descr="C:\Users\dpcuser\Desktop\About Teaching\工程电磁场\Instructor Notes\Lecture 6\SI-Globe-logo-April-2008_4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314195"/>
            <a:ext cx="1684811" cy="1681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dpcuser\Desktop\About Teaching\工程电磁场\Instructor Notes\Lecture 6\si_units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199" y="4190999"/>
            <a:ext cx="4144657" cy="207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Current and Current Density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电流和电流密度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9" name="Group 56"/>
          <p:cNvGrpSpPr/>
          <p:nvPr/>
        </p:nvGrpSpPr>
        <p:grpSpPr bwMode="auto">
          <a:xfrm>
            <a:off x="6324600" y="1686450"/>
            <a:ext cx="2426320" cy="1818750"/>
            <a:chOff x="1872" y="2784"/>
            <a:chExt cx="1968" cy="1440"/>
          </a:xfrm>
        </p:grpSpPr>
        <p:sp>
          <p:nvSpPr>
            <p:cNvPr id="21" name="Oval 9"/>
            <p:cNvSpPr>
              <a:spLocks noChangeArrowheads="1"/>
            </p:cNvSpPr>
            <p:nvPr/>
          </p:nvSpPr>
          <p:spPr bwMode="auto">
            <a:xfrm>
              <a:off x="2400" y="2784"/>
              <a:ext cx="672" cy="1248"/>
            </a:xfrm>
            <a:prstGeom prst="ellipse">
              <a:avLst/>
            </a:prstGeom>
            <a:solidFill>
              <a:srgbClr val="E7F5F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Line 10"/>
            <p:cNvSpPr>
              <a:spLocks noChangeShapeType="1"/>
            </p:cNvSpPr>
            <p:nvPr/>
          </p:nvSpPr>
          <p:spPr bwMode="auto">
            <a:xfrm>
              <a:off x="2736" y="2976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1872" y="2976"/>
              <a:ext cx="624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>
              <a:off x="2832" y="3120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Line 13"/>
            <p:cNvSpPr>
              <a:spLocks noChangeShapeType="1"/>
            </p:cNvSpPr>
            <p:nvPr/>
          </p:nvSpPr>
          <p:spPr bwMode="auto">
            <a:xfrm flipV="1">
              <a:off x="1930" y="3120"/>
              <a:ext cx="506" cy="1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Line 14"/>
            <p:cNvSpPr>
              <a:spLocks noChangeShapeType="1"/>
            </p:cNvSpPr>
            <p:nvPr/>
          </p:nvSpPr>
          <p:spPr bwMode="auto">
            <a:xfrm>
              <a:off x="2640" y="3264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Line 15"/>
            <p:cNvSpPr>
              <a:spLocks noChangeShapeType="1"/>
            </p:cNvSpPr>
            <p:nvPr/>
          </p:nvSpPr>
          <p:spPr bwMode="auto">
            <a:xfrm>
              <a:off x="1961" y="3264"/>
              <a:ext cx="439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>
              <a:off x="2832" y="3408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Line 17"/>
            <p:cNvSpPr>
              <a:spLocks noChangeShapeType="1"/>
            </p:cNvSpPr>
            <p:nvPr/>
          </p:nvSpPr>
          <p:spPr bwMode="auto">
            <a:xfrm>
              <a:off x="1985" y="3408"/>
              <a:ext cx="415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Line 18"/>
            <p:cNvSpPr>
              <a:spLocks noChangeShapeType="1"/>
            </p:cNvSpPr>
            <p:nvPr/>
          </p:nvSpPr>
          <p:spPr bwMode="auto">
            <a:xfrm>
              <a:off x="2640" y="3552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Line 20"/>
            <p:cNvSpPr>
              <a:spLocks noChangeShapeType="1"/>
            </p:cNvSpPr>
            <p:nvPr/>
          </p:nvSpPr>
          <p:spPr bwMode="auto">
            <a:xfrm>
              <a:off x="2784" y="3744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Line 21"/>
            <p:cNvSpPr>
              <a:spLocks noChangeShapeType="1"/>
            </p:cNvSpPr>
            <p:nvPr/>
          </p:nvSpPr>
          <p:spPr bwMode="auto">
            <a:xfrm>
              <a:off x="2037" y="3744"/>
              <a:ext cx="411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Line 22"/>
            <p:cNvSpPr>
              <a:spLocks noChangeShapeType="1"/>
            </p:cNvSpPr>
            <p:nvPr/>
          </p:nvSpPr>
          <p:spPr bwMode="auto">
            <a:xfrm>
              <a:off x="2640" y="3888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Line 23"/>
            <p:cNvSpPr>
              <a:spLocks noChangeShapeType="1"/>
            </p:cNvSpPr>
            <p:nvPr/>
          </p:nvSpPr>
          <p:spPr bwMode="auto">
            <a:xfrm>
              <a:off x="2059" y="3888"/>
              <a:ext cx="461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>
              <a:off x="1989" y="3552"/>
              <a:ext cx="415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1" name="Picture 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0" y="4074"/>
              <a:ext cx="230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组合 2"/>
          <p:cNvGrpSpPr/>
          <p:nvPr/>
        </p:nvGrpSpPr>
        <p:grpSpPr>
          <a:xfrm>
            <a:off x="685800" y="1714142"/>
            <a:ext cx="6038850" cy="1257658"/>
            <a:chOff x="742950" y="1619071"/>
            <a:chExt cx="6038850" cy="1257658"/>
          </a:xfrm>
        </p:grpSpPr>
        <p:pic>
          <p:nvPicPr>
            <p:cNvPr id="18" name="Picture 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0156" y="2419529"/>
              <a:ext cx="15636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Rectangle 53"/>
            <p:cNvSpPr>
              <a:spLocks noChangeArrowheads="1"/>
            </p:cNvSpPr>
            <p:nvPr/>
          </p:nvSpPr>
          <p:spPr bwMode="auto">
            <a:xfrm>
              <a:off x="742950" y="1619071"/>
              <a:ext cx="6038850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 density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J,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measured in A/m</a:t>
              </a:r>
              <a:r>
                <a:rPr lang="en-US" altLang="zh-CN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yields current in Amps when it is integrated over a cross-sectional area.  The assumption would be that </a:t>
              </a:r>
              <a:r>
                <a: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direction of </a:t>
              </a:r>
              <a:r>
                <a:rPr lang="en-US" altLang="zh-CN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is normal to the surface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and so we would write:  </a:t>
              </a:r>
              <a:endPara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Rectangle 25"/>
          <p:cNvSpPr>
            <a:spLocks noChangeArrowheads="1"/>
          </p:cNvSpPr>
          <p:nvPr/>
        </p:nvSpPr>
        <p:spPr bwMode="auto">
          <a:xfrm>
            <a:off x="628650" y="3124200"/>
            <a:ext cx="59691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reality, the direction of current flow may not be normal to the surface in question, so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treat current density as a vector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write the incremental flux through the small surface in the usual way: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Picture 2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3978453"/>
            <a:ext cx="1371600" cy="379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Rectangle 26"/>
          <p:cNvSpPr>
            <a:spLocks noChangeArrowheads="1"/>
          </p:cNvSpPr>
          <p:nvPr/>
        </p:nvSpPr>
        <p:spPr bwMode="auto">
          <a:xfrm>
            <a:off x="3613244" y="4004924"/>
            <a:ext cx="17379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5" name="Group 29"/>
          <p:cNvGrpSpPr/>
          <p:nvPr/>
        </p:nvGrpSpPr>
        <p:grpSpPr bwMode="auto">
          <a:xfrm>
            <a:off x="6147888" y="4095450"/>
            <a:ext cx="2796031" cy="1822419"/>
            <a:chOff x="2928" y="2052"/>
            <a:chExt cx="2106" cy="1498"/>
          </a:xfrm>
        </p:grpSpPr>
        <p:sp>
          <p:nvSpPr>
            <p:cNvPr id="46" name="Oval 5"/>
            <p:cNvSpPr>
              <a:spLocks noChangeArrowheads="1"/>
            </p:cNvSpPr>
            <p:nvPr/>
          </p:nvSpPr>
          <p:spPr bwMode="auto">
            <a:xfrm rot="-1780458">
              <a:off x="3450" y="2152"/>
              <a:ext cx="672" cy="1248"/>
            </a:xfrm>
            <a:prstGeom prst="ellipse">
              <a:avLst/>
            </a:prstGeom>
            <a:solidFill>
              <a:srgbClr val="E7F5F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Line 6"/>
            <p:cNvSpPr>
              <a:spLocks noChangeShapeType="1"/>
            </p:cNvSpPr>
            <p:nvPr/>
          </p:nvSpPr>
          <p:spPr bwMode="auto">
            <a:xfrm>
              <a:off x="3642" y="2344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Line 7"/>
            <p:cNvSpPr>
              <a:spLocks noChangeShapeType="1"/>
            </p:cNvSpPr>
            <p:nvPr/>
          </p:nvSpPr>
          <p:spPr bwMode="auto">
            <a:xfrm>
              <a:off x="2928" y="2344"/>
              <a:ext cx="454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Line 8"/>
            <p:cNvSpPr>
              <a:spLocks noChangeShapeType="1"/>
            </p:cNvSpPr>
            <p:nvPr/>
          </p:nvSpPr>
          <p:spPr bwMode="auto">
            <a:xfrm>
              <a:off x="3834" y="2488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Line 9"/>
            <p:cNvSpPr>
              <a:spLocks noChangeShapeType="1"/>
            </p:cNvSpPr>
            <p:nvPr/>
          </p:nvSpPr>
          <p:spPr bwMode="auto">
            <a:xfrm flipV="1">
              <a:off x="2945" y="2488"/>
              <a:ext cx="407" cy="1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Line 10"/>
            <p:cNvSpPr>
              <a:spLocks noChangeShapeType="1"/>
            </p:cNvSpPr>
            <p:nvPr/>
          </p:nvSpPr>
          <p:spPr bwMode="auto">
            <a:xfrm>
              <a:off x="3642" y="2632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Line 11"/>
            <p:cNvSpPr>
              <a:spLocks noChangeShapeType="1"/>
            </p:cNvSpPr>
            <p:nvPr/>
          </p:nvSpPr>
          <p:spPr bwMode="auto">
            <a:xfrm>
              <a:off x="2938" y="2632"/>
              <a:ext cx="439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Line 12"/>
            <p:cNvSpPr>
              <a:spLocks noChangeShapeType="1"/>
            </p:cNvSpPr>
            <p:nvPr/>
          </p:nvSpPr>
          <p:spPr bwMode="auto">
            <a:xfrm>
              <a:off x="3882" y="2776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Line 13"/>
            <p:cNvSpPr>
              <a:spLocks noChangeShapeType="1"/>
            </p:cNvSpPr>
            <p:nvPr/>
          </p:nvSpPr>
          <p:spPr bwMode="auto">
            <a:xfrm>
              <a:off x="2999" y="2776"/>
              <a:ext cx="415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Line 14"/>
            <p:cNvSpPr>
              <a:spLocks noChangeShapeType="1"/>
            </p:cNvSpPr>
            <p:nvPr/>
          </p:nvSpPr>
          <p:spPr bwMode="auto">
            <a:xfrm>
              <a:off x="3690" y="2920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Line 15"/>
            <p:cNvSpPr>
              <a:spLocks noChangeShapeType="1"/>
            </p:cNvSpPr>
            <p:nvPr/>
          </p:nvSpPr>
          <p:spPr bwMode="auto">
            <a:xfrm flipV="1">
              <a:off x="3043" y="2920"/>
              <a:ext cx="435" cy="2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Line 16"/>
            <p:cNvSpPr>
              <a:spLocks noChangeShapeType="1"/>
            </p:cNvSpPr>
            <p:nvPr/>
          </p:nvSpPr>
          <p:spPr bwMode="auto">
            <a:xfrm>
              <a:off x="3834" y="3112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Line 17"/>
            <p:cNvSpPr>
              <a:spLocks noChangeShapeType="1"/>
            </p:cNvSpPr>
            <p:nvPr/>
          </p:nvSpPr>
          <p:spPr bwMode="auto">
            <a:xfrm>
              <a:off x="3108" y="3112"/>
              <a:ext cx="494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Line 18"/>
            <p:cNvSpPr>
              <a:spLocks noChangeShapeType="1"/>
            </p:cNvSpPr>
            <p:nvPr/>
          </p:nvSpPr>
          <p:spPr bwMode="auto">
            <a:xfrm>
              <a:off x="4026" y="3256"/>
              <a:ext cx="1008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Line 19"/>
            <p:cNvSpPr>
              <a:spLocks noChangeShapeType="1"/>
            </p:cNvSpPr>
            <p:nvPr/>
          </p:nvSpPr>
          <p:spPr bwMode="auto">
            <a:xfrm>
              <a:off x="3183" y="3256"/>
              <a:ext cx="575" cy="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1" name="Picture 2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2" y="3400"/>
              <a:ext cx="230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2" name="Line 21"/>
            <p:cNvSpPr>
              <a:spLocks noChangeShapeType="1"/>
            </p:cNvSpPr>
            <p:nvPr/>
          </p:nvSpPr>
          <p:spPr bwMode="auto">
            <a:xfrm flipV="1">
              <a:off x="3834" y="2248"/>
              <a:ext cx="48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Rectangle 22"/>
            <p:cNvSpPr>
              <a:spLocks noChangeArrowheads="1"/>
            </p:cNvSpPr>
            <p:nvPr/>
          </p:nvSpPr>
          <p:spPr bwMode="auto">
            <a:xfrm>
              <a:off x="4308" y="2052"/>
              <a:ext cx="342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4" name="Picture 2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5" y="2852"/>
              <a:ext cx="121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65" name="Picture 2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218652"/>
            <a:ext cx="1800225" cy="103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6" name="Rectangle 28"/>
          <p:cNvSpPr>
            <a:spLocks noChangeArrowheads="1"/>
          </p:cNvSpPr>
          <p:nvPr/>
        </p:nvSpPr>
        <p:spPr bwMode="auto">
          <a:xfrm>
            <a:off x="685800" y="4527676"/>
            <a:ext cx="40020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the current through a large surface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found through the flux integral: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4" descr="Chapter 5 Fig 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612640"/>
            <a:ext cx="5295549" cy="2259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Relation of Current to Charge Velocity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6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679" y="2356689"/>
            <a:ext cx="25225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0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504062"/>
            <a:ext cx="1636713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421" y="5653881"/>
            <a:ext cx="1627188" cy="29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2" name="Rectangle 9"/>
          <p:cNvSpPr>
            <a:spLocks noChangeArrowheads="1"/>
          </p:cNvSpPr>
          <p:nvPr/>
        </p:nvSpPr>
        <p:spPr bwMode="auto">
          <a:xfrm>
            <a:off x="504870" y="1611094"/>
            <a:ext cx="84105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charge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occupying volume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moving in the positive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 at velocity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10"/>
          <p:cNvSpPr>
            <a:spLocks noChangeArrowheads="1"/>
          </p:cNvSpPr>
          <p:nvPr/>
        </p:nvSpPr>
        <p:spPr bwMode="auto">
          <a:xfrm>
            <a:off x="536575" y="2297112"/>
            <a:ext cx="5102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terms of the volume charge density, we may write: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11"/>
          <p:cNvSpPr>
            <a:spLocks noChangeArrowheads="1"/>
          </p:cNvSpPr>
          <p:nvPr/>
        </p:nvSpPr>
        <p:spPr bwMode="auto">
          <a:xfrm>
            <a:off x="536575" y="2658374"/>
            <a:ext cx="74755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that in time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charge moves through a distance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 =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 =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12"/>
          <p:cNvSpPr>
            <a:spLocks noChangeArrowheads="1"/>
          </p:cNvSpPr>
          <p:nvPr/>
        </p:nvSpPr>
        <p:spPr bwMode="auto">
          <a:xfrm>
            <a:off x="548077" y="3454849"/>
            <a:ext cx="658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6" name="Picture 1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60" y="4724400"/>
            <a:ext cx="2542710" cy="609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7" name="Rectangle 14"/>
          <p:cNvSpPr>
            <a:spLocks noChangeArrowheads="1"/>
          </p:cNvSpPr>
          <p:nvPr/>
        </p:nvSpPr>
        <p:spPr bwMode="auto">
          <a:xfrm>
            <a:off x="657660" y="5577681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15"/>
          <p:cNvSpPr>
            <a:spLocks noChangeArrowheads="1"/>
          </p:cNvSpPr>
          <p:nvPr/>
        </p:nvSpPr>
        <p:spPr bwMode="auto">
          <a:xfrm>
            <a:off x="548077" y="3962400"/>
            <a:ext cx="310952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motion of the charge represents a current given by: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4" descr="Chapter 5 Fig 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612640"/>
            <a:ext cx="5295549" cy="2259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Relation of Current to Charge Velocity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500" y="1930669"/>
            <a:ext cx="1773238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1143000" y="1959634"/>
            <a:ext cx="17043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now have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175" y="4418670"/>
            <a:ext cx="148113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2415970"/>
            <a:ext cx="2038174" cy="654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1143000" y="2558534"/>
            <a:ext cx="27109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density is then: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1143000" y="3810000"/>
            <a:ext cx="18710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in general: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90600" y="6076847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How to define the direction of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herein ?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0" y="2457450"/>
            <a:ext cx="4191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Continuity of Current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电流的连续性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6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80" y="4419600"/>
            <a:ext cx="2668588" cy="69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75" y="5137150"/>
            <a:ext cx="3154363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25" y="5800725"/>
            <a:ext cx="301625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5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830" y="5565775"/>
            <a:ext cx="1928813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6" name="Group 35"/>
          <p:cNvGrpSpPr/>
          <p:nvPr/>
        </p:nvGrpSpPr>
        <p:grpSpPr bwMode="auto">
          <a:xfrm>
            <a:off x="5867400" y="1625600"/>
            <a:ext cx="2901754" cy="2805113"/>
            <a:chOff x="3552" y="828"/>
            <a:chExt cx="1728" cy="1700"/>
          </a:xfrm>
        </p:grpSpPr>
        <p:grpSp>
          <p:nvGrpSpPr>
            <p:cNvPr id="38" name="Group 32"/>
            <p:cNvGrpSpPr/>
            <p:nvPr/>
          </p:nvGrpSpPr>
          <p:grpSpPr bwMode="auto">
            <a:xfrm>
              <a:off x="3552" y="828"/>
              <a:ext cx="1728" cy="1700"/>
              <a:chOff x="3552" y="828"/>
              <a:chExt cx="1728" cy="1700"/>
            </a:xfrm>
          </p:grpSpPr>
          <p:sp>
            <p:nvSpPr>
              <p:cNvPr id="41" name="Oval 11"/>
              <p:cNvSpPr>
                <a:spLocks noChangeArrowheads="1"/>
              </p:cNvSpPr>
              <p:nvPr/>
            </p:nvSpPr>
            <p:spPr bwMode="auto">
              <a:xfrm>
                <a:off x="3984" y="1248"/>
                <a:ext cx="864" cy="864"/>
              </a:xfrm>
              <a:prstGeom prst="ellipse">
                <a:avLst/>
              </a:prstGeom>
              <a:solidFill>
                <a:srgbClr val="E7F5FD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4240" y="1556"/>
                <a:ext cx="38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180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1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Line 13"/>
              <p:cNvSpPr>
                <a:spLocks noChangeShapeType="1"/>
              </p:cNvSpPr>
              <p:nvPr/>
            </p:nvSpPr>
            <p:spPr bwMode="auto">
              <a:xfrm>
                <a:off x="4848" y="168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20A2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5" name="Group 22"/>
              <p:cNvGrpSpPr/>
              <p:nvPr/>
            </p:nvGrpSpPr>
            <p:grpSpPr bwMode="auto">
              <a:xfrm>
                <a:off x="4620" y="1896"/>
                <a:ext cx="537" cy="527"/>
                <a:chOff x="4620" y="1896"/>
                <a:chExt cx="537" cy="527"/>
              </a:xfrm>
            </p:grpSpPr>
            <p:sp>
              <p:nvSpPr>
                <p:cNvPr id="58" name="Line 14"/>
                <p:cNvSpPr>
                  <a:spLocks noChangeShapeType="1"/>
                </p:cNvSpPr>
                <p:nvPr/>
              </p:nvSpPr>
              <p:spPr bwMode="auto">
                <a:xfrm>
                  <a:off x="4788" y="1896"/>
                  <a:ext cx="369" cy="210"/>
                </a:xfrm>
                <a:prstGeom prst="line">
                  <a:avLst/>
                </a:prstGeom>
                <a:noFill/>
                <a:ln w="19050">
                  <a:solidFill>
                    <a:srgbClr val="FF20A2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" name="Line 15"/>
                <p:cNvSpPr>
                  <a:spLocks noChangeShapeType="1"/>
                </p:cNvSpPr>
                <p:nvPr/>
              </p:nvSpPr>
              <p:spPr bwMode="auto">
                <a:xfrm>
                  <a:off x="4620" y="2060"/>
                  <a:ext cx="235" cy="363"/>
                </a:xfrm>
                <a:prstGeom prst="line">
                  <a:avLst/>
                </a:prstGeom>
                <a:noFill/>
                <a:ln w="19050">
                  <a:solidFill>
                    <a:srgbClr val="FF20A2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" name="Line 16"/>
              <p:cNvSpPr>
                <a:spLocks noChangeShapeType="1"/>
              </p:cNvSpPr>
              <p:nvPr/>
            </p:nvSpPr>
            <p:spPr bwMode="auto">
              <a:xfrm>
                <a:off x="4404" y="2116"/>
                <a:ext cx="0" cy="412"/>
              </a:xfrm>
              <a:prstGeom prst="line">
                <a:avLst/>
              </a:prstGeom>
              <a:noFill/>
              <a:ln w="19050">
                <a:solidFill>
                  <a:srgbClr val="FF20A2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Line 17"/>
              <p:cNvSpPr>
                <a:spLocks noChangeShapeType="1"/>
              </p:cNvSpPr>
              <p:nvPr/>
            </p:nvSpPr>
            <p:spPr bwMode="auto">
              <a:xfrm flipV="1">
                <a:off x="4404" y="828"/>
                <a:ext cx="0" cy="412"/>
              </a:xfrm>
              <a:prstGeom prst="line">
                <a:avLst/>
              </a:prstGeom>
              <a:noFill/>
              <a:ln w="19050">
                <a:solidFill>
                  <a:srgbClr val="FF20A2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Line 18"/>
              <p:cNvSpPr>
                <a:spLocks noChangeShapeType="1"/>
              </p:cNvSpPr>
              <p:nvPr/>
            </p:nvSpPr>
            <p:spPr bwMode="auto">
              <a:xfrm flipH="1">
                <a:off x="3552" y="168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20A2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9" name="Group 23"/>
              <p:cNvGrpSpPr/>
              <p:nvPr/>
            </p:nvGrpSpPr>
            <p:grpSpPr bwMode="auto">
              <a:xfrm flipH="1" flipV="1">
                <a:off x="3652" y="952"/>
                <a:ext cx="537" cy="527"/>
                <a:chOff x="4620" y="1896"/>
                <a:chExt cx="537" cy="527"/>
              </a:xfrm>
            </p:grpSpPr>
            <p:sp>
              <p:nvSpPr>
                <p:cNvPr id="56" name="Line 24"/>
                <p:cNvSpPr>
                  <a:spLocks noChangeShapeType="1"/>
                </p:cNvSpPr>
                <p:nvPr/>
              </p:nvSpPr>
              <p:spPr bwMode="auto">
                <a:xfrm>
                  <a:off x="4788" y="1896"/>
                  <a:ext cx="369" cy="210"/>
                </a:xfrm>
                <a:prstGeom prst="line">
                  <a:avLst/>
                </a:prstGeom>
                <a:noFill/>
                <a:ln w="19050">
                  <a:solidFill>
                    <a:srgbClr val="FF20A2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Line 25"/>
                <p:cNvSpPr>
                  <a:spLocks noChangeShapeType="1"/>
                </p:cNvSpPr>
                <p:nvPr/>
              </p:nvSpPr>
              <p:spPr bwMode="auto">
                <a:xfrm>
                  <a:off x="4620" y="2060"/>
                  <a:ext cx="235" cy="363"/>
                </a:xfrm>
                <a:prstGeom prst="line">
                  <a:avLst/>
                </a:prstGeom>
                <a:noFill/>
                <a:ln w="19050">
                  <a:solidFill>
                    <a:srgbClr val="FF20A2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" name="Group 26"/>
              <p:cNvGrpSpPr/>
              <p:nvPr/>
            </p:nvGrpSpPr>
            <p:grpSpPr bwMode="auto">
              <a:xfrm flipH="1">
                <a:off x="3664" y="1889"/>
                <a:ext cx="537" cy="527"/>
                <a:chOff x="4620" y="1896"/>
                <a:chExt cx="537" cy="527"/>
              </a:xfrm>
            </p:grpSpPr>
            <p:sp>
              <p:nvSpPr>
                <p:cNvPr id="54" name="Line 27"/>
                <p:cNvSpPr>
                  <a:spLocks noChangeShapeType="1"/>
                </p:cNvSpPr>
                <p:nvPr/>
              </p:nvSpPr>
              <p:spPr bwMode="auto">
                <a:xfrm>
                  <a:off x="4788" y="1896"/>
                  <a:ext cx="369" cy="210"/>
                </a:xfrm>
                <a:prstGeom prst="line">
                  <a:avLst/>
                </a:prstGeom>
                <a:noFill/>
                <a:ln w="19050">
                  <a:solidFill>
                    <a:srgbClr val="FF20A2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" name="Line 28"/>
                <p:cNvSpPr>
                  <a:spLocks noChangeShapeType="1"/>
                </p:cNvSpPr>
                <p:nvPr/>
              </p:nvSpPr>
              <p:spPr bwMode="auto">
                <a:xfrm>
                  <a:off x="4620" y="2060"/>
                  <a:ext cx="235" cy="363"/>
                </a:xfrm>
                <a:prstGeom prst="line">
                  <a:avLst/>
                </a:prstGeom>
                <a:noFill/>
                <a:ln w="19050">
                  <a:solidFill>
                    <a:srgbClr val="FF20A2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1" name="Group 29"/>
              <p:cNvGrpSpPr/>
              <p:nvPr/>
            </p:nvGrpSpPr>
            <p:grpSpPr bwMode="auto">
              <a:xfrm flipV="1">
                <a:off x="4627" y="936"/>
                <a:ext cx="537" cy="527"/>
                <a:chOff x="4620" y="1896"/>
                <a:chExt cx="537" cy="527"/>
              </a:xfrm>
            </p:grpSpPr>
            <p:sp>
              <p:nvSpPr>
                <p:cNvPr id="52" name="Line 30"/>
                <p:cNvSpPr>
                  <a:spLocks noChangeShapeType="1"/>
                </p:cNvSpPr>
                <p:nvPr/>
              </p:nvSpPr>
              <p:spPr bwMode="auto">
                <a:xfrm>
                  <a:off x="4788" y="1896"/>
                  <a:ext cx="369" cy="210"/>
                </a:xfrm>
                <a:prstGeom prst="line">
                  <a:avLst/>
                </a:prstGeom>
                <a:noFill/>
                <a:ln w="19050">
                  <a:solidFill>
                    <a:srgbClr val="FF20A2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Line 31"/>
                <p:cNvSpPr>
                  <a:spLocks noChangeShapeType="1"/>
                </p:cNvSpPr>
                <p:nvPr/>
              </p:nvSpPr>
              <p:spPr bwMode="auto">
                <a:xfrm>
                  <a:off x="4620" y="2060"/>
                  <a:ext cx="235" cy="363"/>
                </a:xfrm>
                <a:prstGeom prst="line">
                  <a:avLst/>
                </a:prstGeom>
                <a:noFill/>
                <a:ln w="19050">
                  <a:solidFill>
                    <a:srgbClr val="FF20A2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39" name="Picture 3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4" y="960"/>
              <a:ext cx="10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40" name="Picture 3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0" y="1749"/>
              <a:ext cx="104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7" name="Rectangle 36"/>
          <p:cNvSpPr>
            <a:spLocks noChangeArrowheads="1"/>
          </p:cNvSpPr>
          <p:nvPr/>
        </p:nvSpPr>
        <p:spPr bwMode="auto">
          <a:xfrm>
            <a:off x="700087" y="1676400"/>
            <a:ext cx="53258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that charge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escaping from a volume through closed surface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form current density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Then the total current is: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37"/>
          <p:cNvSpPr>
            <a:spLocks noChangeArrowheads="1"/>
          </p:cNvSpPr>
          <p:nvPr/>
        </p:nvSpPr>
        <p:spPr bwMode="auto">
          <a:xfrm>
            <a:off x="700087" y="3212307"/>
            <a:ext cx="53258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minus sign is needed to produce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outward flux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interior charge is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time.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40"/>
          <p:cNvGrpSpPr/>
          <p:nvPr/>
        </p:nvGrpSpPr>
        <p:grpSpPr bwMode="auto">
          <a:xfrm>
            <a:off x="990600" y="2566987"/>
            <a:ext cx="4211638" cy="633413"/>
            <a:chOff x="960" y="1632"/>
            <a:chExt cx="2653" cy="399"/>
          </a:xfrm>
        </p:grpSpPr>
        <p:grpSp>
          <p:nvGrpSpPr>
            <p:cNvPr id="34" name="Group 5"/>
            <p:cNvGrpSpPr/>
            <p:nvPr/>
          </p:nvGrpSpPr>
          <p:grpSpPr bwMode="auto">
            <a:xfrm>
              <a:off x="960" y="1632"/>
              <a:ext cx="1517" cy="394"/>
              <a:chOff x="843" y="1308"/>
              <a:chExt cx="1517" cy="394"/>
            </a:xfrm>
          </p:grpSpPr>
          <p:pic>
            <p:nvPicPr>
              <p:cNvPr id="36" name="Picture 3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3" y="1311"/>
                <a:ext cx="939" cy="3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37" name="Picture 4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61" y="1308"/>
                <a:ext cx="599" cy="3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35" name="Picture 39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6" y="1632"/>
              <a:ext cx="1117" cy="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30" name="Rectangle 41"/>
          <p:cNvSpPr>
            <a:spLocks noChangeArrowheads="1"/>
          </p:cNvSpPr>
          <p:nvPr/>
        </p:nvSpPr>
        <p:spPr bwMode="auto">
          <a:xfrm>
            <a:off x="685800" y="4125912"/>
            <a:ext cx="3797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now apply the divergence theorem: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42"/>
          <p:cNvSpPr>
            <a:spLocks noChangeArrowheads="1"/>
          </p:cNvSpPr>
          <p:nvPr/>
        </p:nvSpPr>
        <p:spPr bwMode="auto">
          <a:xfrm>
            <a:off x="730250" y="5332413"/>
            <a:ext cx="793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43"/>
          <p:cNvSpPr>
            <a:spLocks noChangeArrowheads="1"/>
          </p:cNvSpPr>
          <p:nvPr/>
        </p:nvSpPr>
        <p:spPr bwMode="auto">
          <a:xfrm>
            <a:off x="725487" y="5972175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44"/>
          <p:cNvSpPr>
            <a:spLocks noChangeArrowheads="1"/>
          </p:cNvSpPr>
          <p:nvPr/>
        </p:nvSpPr>
        <p:spPr bwMode="auto">
          <a:xfrm>
            <a:off x="5120192" y="4604215"/>
            <a:ext cx="36337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integrands of the last expression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equal, leading to the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Equation of Continuity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连续性方程</a:t>
            </a:r>
            <a:endParaRPr lang="en-US" altLang="zh-CN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467" y="2133077"/>
            <a:ext cx="1757362" cy="610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4400" y="1600200"/>
            <a:ext cx="731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current density that is directed radially outward and decreases exponentially with time,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46030" y="2660043"/>
            <a:ext cx="75883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an instant of time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 s, we may calculate the total outward current at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 m: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096" y="3159543"/>
            <a:ext cx="3906104" cy="49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990600" y="3690897"/>
            <a:ext cx="670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same instant, but for a slightly larger radius,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6 m, we have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212629"/>
            <a:ext cx="3886200" cy="435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990600" y="4736068"/>
            <a:ext cx="67179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total current is larger at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6 than it is at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715" y="5220421"/>
            <a:ext cx="6477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828800"/>
            <a:ext cx="6477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2590800"/>
            <a:ext cx="632539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628300"/>
            <a:ext cx="5561808" cy="169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C:\Users\dpcuser\Desktop\About Teaching\工程电磁场\Instructor Notes\Lecture 6\194_2011092015310714RKf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066800"/>
            <a:ext cx="1447800" cy="139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Metallic Conductors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金属导体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" name="Picture 2" descr="Ch 5 Fig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15" y="2438400"/>
            <a:ext cx="5447885" cy="230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57200" y="1752600"/>
            <a:ext cx="52578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kern="0" dirty="0">
                <a:latin typeface="Times New Roman" panose="02020603050405020304" pitchFamily="18" charset="0"/>
              </a:rPr>
              <a:t>Energy Band Structure in Three Material Types</a:t>
            </a:r>
            <a:endParaRPr lang="en-US" altLang="zh-CN" sz="2000" kern="0" dirty="0">
              <a:latin typeface="Times New Roman" panose="02020603050405020304" pitchFamily="18" charset="0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04800" y="4983540"/>
            <a:ext cx="8534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9pPr>
          </a:lstStyle>
          <a:p>
            <a:pPr>
              <a:buFont typeface="Arial" panose="020B0604020202020204" pitchFamily="34" charset="0"/>
              <a:buAutoNum type="alphaLcParenR"/>
            </a:pPr>
            <a:r>
              <a:rPr lang="en-US" altLang="zh-CN" sz="1600" dirty="0">
                <a:latin typeface="Times New Roman" panose="02020603050405020304" pitchFamily="18" charset="0"/>
              </a:rPr>
              <a:t>Conductors exhibit no energy gap between valence and conduction bands, so electrons move freely.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AutoNum type="alphaLcParenR"/>
            </a:pPr>
            <a:r>
              <a:rPr lang="en-US" altLang="zh-CN" sz="1600" dirty="0">
                <a:latin typeface="Times New Roman" panose="02020603050405020304" pitchFamily="18" charset="0"/>
              </a:rPr>
              <a:t>Insulators show large energy gaps, requiring large amounts of energy to lift electrons into the conduction band. When this occurs, the dielectric breaks down.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AutoNum type="alphaLcParenR" startAt="3"/>
            </a:pPr>
            <a:r>
              <a:rPr lang="en-US" altLang="zh-CN" sz="1600" dirty="0">
                <a:latin typeface="Times New Roman" panose="02020603050405020304" pitchFamily="18" charset="0"/>
              </a:rPr>
              <a:t>Semiconductors have a relatively small energy gap, so modest amounts of energy (applied through heat, light, or an electric field) may lift electrons from valence to conduction bands. 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36106" y="2409938"/>
            <a:ext cx="24478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Rutherford’s Atomic Model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5" name="Picture 5" descr="C:\Users\dpcuser\Desktop\About Teaching\工程电磁场\Instructor Notes\Lecture 6\bohr_atom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19400"/>
            <a:ext cx="2853906" cy="1832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6770160" y="4614446"/>
            <a:ext cx="18404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Bohr Atomic Model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Electron Flow in Conductors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412929" y="1639887"/>
            <a:ext cx="804527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electrons move under the influence of an electric field. The applied force on an electron of charge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-e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067" y="2334568"/>
            <a:ext cx="1060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443287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414517" y="2743200"/>
            <a:ext cx="850088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forced, the electron accelerates to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equilibrium velocity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known as the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drift velocity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漂移速度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439917" y="3902076"/>
            <a:ext cx="801828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</a:t>
            </a:r>
            <a:r>
              <a:rPr lang="en-US" altLang="zh-CN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electron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mobility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漂移率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expressed in units of m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/(Vs).  The drift velocity is used to find the current density through: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00" y="4654550"/>
            <a:ext cx="316230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526510" y="5122069"/>
            <a:ext cx="75506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which we identify the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conductivity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电导率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case of electron flow 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19"/>
          <p:cNvSpPr>
            <a:spLocks noChangeArrowheads="1"/>
          </p:cNvSpPr>
          <p:nvPr/>
        </p:nvSpPr>
        <p:spPr bwMode="auto">
          <a:xfrm>
            <a:off x="4695645" y="5676900"/>
            <a:ext cx="557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S/m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1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88" y="5591969"/>
            <a:ext cx="1636712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113" y="4548407"/>
            <a:ext cx="1133475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Conductance &amp; Resistance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电导</a:t>
            </a:r>
            <a:r>
              <a:rPr lang="en-US" altLang="zh-CN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&amp;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电阻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533400" y="1591270"/>
            <a:ext cx="801687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cylindrical conductor shown here, with voltage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across the ends. Current flows down the length, and is assumed to be uniformly distributed over the cross-section,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738" y="4808537"/>
            <a:ext cx="1160463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3" name="Picture 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5732462"/>
            <a:ext cx="1143000" cy="82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" name="Rectangle 17"/>
          <p:cNvSpPr>
            <a:spLocks noChangeArrowheads="1"/>
          </p:cNvSpPr>
          <p:nvPr/>
        </p:nvSpPr>
        <p:spPr bwMode="auto">
          <a:xfrm>
            <a:off x="517525" y="2449512"/>
            <a:ext cx="8032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we can write the voltage and current in the cylinder in terms of field quantities: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3581399"/>
            <a:ext cx="1087438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6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73462"/>
            <a:ext cx="2203450" cy="69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7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43" y="2802866"/>
            <a:ext cx="4735513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765" y="3042249"/>
            <a:ext cx="11144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9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556" y="3022600"/>
            <a:ext cx="9318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" name="Picture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738" y="3581399"/>
            <a:ext cx="2020888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" name="AutoShape 18"/>
          <p:cNvSpPr>
            <a:spLocks noChangeArrowheads="1"/>
          </p:cNvSpPr>
          <p:nvPr/>
        </p:nvSpPr>
        <p:spPr bwMode="auto">
          <a:xfrm>
            <a:off x="3013075" y="3816349"/>
            <a:ext cx="381000" cy="152400"/>
          </a:xfrm>
          <a:prstGeom prst="notchedRightArrow">
            <a:avLst>
              <a:gd name="adj1" fmla="val 50000"/>
              <a:gd name="adj2" fmla="val 62500"/>
            </a:avLst>
          </a:prstGeom>
          <a:solidFill>
            <a:srgbClr val="E7F5F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AutoShape 19"/>
          <p:cNvSpPr>
            <a:spLocks noChangeArrowheads="1"/>
          </p:cNvSpPr>
          <p:nvPr/>
        </p:nvSpPr>
        <p:spPr bwMode="auto">
          <a:xfrm>
            <a:off x="6324600" y="3096553"/>
            <a:ext cx="381000" cy="152400"/>
          </a:xfrm>
          <a:prstGeom prst="notchedRightArrow">
            <a:avLst>
              <a:gd name="adj1" fmla="val 50000"/>
              <a:gd name="adj2" fmla="val 62500"/>
            </a:avLst>
          </a:prstGeom>
          <a:solidFill>
            <a:srgbClr val="E7F5F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utoShape 21"/>
          <p:cNvSpPr>
            <a:spLocks noChangeArrowheads="1"/>
          </p:cNvSpPr>
          <p:nvPr/>
        </p:nvSpPr>
        <p:spPr bwMode="auto">
          <a:xfrm>
            <a:off x="5737225" y="3829049"/>
            <a:ext cx="381000" cy="152400"/>
          </a:xfrm>
          <a:prstGeom prst="notchedRightArrow">
            <a:avLst>
              <a:gd name="adj1" fmla="val 50000"/>
              <a:gd name="adj2" fmla="val 62500"/>
            </a:avLst>
          </a:prstGeom>
          <a:solidFill>
            <a:srgbClr val="E7F5F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23"/>
          <p:cNvSpPr>
            <a:spLocks noChangeArrowheads="1"/>
          </p:cNvSpPr>
          <p:nvPr/>
        </p:nvSpPr>
        <p:spPr bwMode="auto">
          <a:xfrm>
            <a:off x="4902994" y="4438649"/>
            <a:ext cx="19986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Ohm’s Law: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24"/>
          <p:cNvSpPr>
            <a:spLocks noChangeArrowheads="1"/>
          </p:cNvSpPr>
          <p:nvPr/>
        </p:nvSpPr>
        <p:spPr bwMode="auto">
          <a:xfrm>
            <a:off x="4876800" y="5292725"/>
            <a:ext cx="3692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find the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cylinder: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7" name="Group 31"/>
          <p:cNvGrpSpPr/>
          <p:nvPr/>
        </p:nvGrpSpPr>
        <p:grpSpPr bwMode="auto">
          <a:xfrm>
            <a:off x="487333" y="4521515"/>
            <a:ext cx="4387057" cy="2133600"/>
            <a:chOff x="382" y="2880"/>
            <a:chExt cx="2908" cy="1385"/>
          </a:xfrm>
        </p:grpSpPr>
        <p:pic>
          <p:nvPicPr>
            <p:cNvPr id="49" name="Picture 2" descr="Figure 3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" y="2880"/>
              <a:ext cx="2908" cy="1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Rectangle 26"/>
            <p:cNvSpPr>
              <a:spLocks noChangeArrowheads="1"/>
            </p:cNvSpPr>
            <p:nvPr/>
          </p:nvSpPr>
          <p:spPr bwMode="auto">
            <a:xfrm>
              <a:off x="1076" y="4032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27"/>
            <p:cNvSpPr>
              <a:spLocks noChangeArrowheads="1"/>
            </p:cNvSpPr>
            <p:nvPr/>
          </p:nvSpPr>
          <p:spPr bwMode="auto">
            <a:xfrm>
              <a:off x="2864" y="4020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Line 29"/>
          <p:cNvSpPr>
            <a:spLocks noChangeShapeType="1"/>
          </p:cNvSpPr>
          <p:nvPr/>
        </p:nvSpPr>
        <p:spPr bwMode="auto">
          <a:xfrm>
            <a:off x="6248400" y="4191000"/>
            <a:ext cx="1066800" cy="0"/>
          </a:xfrm>
          <a:prstGeom prst="line">
            <a:avLst/>
          </a:prstGeom>
          <a:noFill/>
          <a:ln w="19050">
            <a:solidFill>
              <a:srgbClr val="DE6E9D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38137" y="5973060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Unit: ohm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Conductance &amp; Resistance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电导</a:t>
            </a:r>
            <a:r>
              <a:rPr lang="en-US" altLang="zh-CN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&amp;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电阻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985568" y="1600200"/>
            <a:ext cx="7772400" cy="659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kern="0" dirty="0">
                <a:latin typeface="Times New Roman" panose="02020603050405020304" pitchFamily="18" charset="0"/>
              </a:rPr>
              <a:t>General Expression for Resistance</a:t>
            </a:r>
            <a:endParaRPr lang="en-US" altLang="zh-CN" sz="1800" kern="0" dirty="0">
              <a:latin typeface="Times New Roman" panose="02020603050405020304" pitchFamily="18" charset="0"/>
            </a:endParaRPr>
          </a:p>
        </p:txBody>
      </p:sp>
      <p:grpSp>
        <p:nvGrpSpPr>
          <p:cNvPr id="29" name="Group 5"/>
          <p:cNvGrpSpPr/>
          <p:nvPr/>
        </p:nvGrpSpPr>
        <p:grpSpPr bwMode="auto">
          <a:xfrm>
            <a:off x="2803525" y="2286000"/>
            <a:ext cx="3962400" cy="1295400"/>
            <a:chOff x="1536" y="1488"/>
            <a:chExt cx="2496" cy="816"/>
          </a:xfrm>
        </p:grpSpPr>
        <p:pic>
          <p:nvPicPr>
            <p:cNvPr id="55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6" y="1633"/>
              <a:ext cx="2142" cy="6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6" name="Rectangle 4"/>
            <p:cNvSpPr>
              <a:spLocks noChangeArrowheads="1"/>
            </p:cNvSpPr>
            <p:nvPr/>
          </p:nvSpPr>
          <p:spPr bwMode="auto">
            <a:xfrm>
              <a:off x="1536" y="1488"/>
              <a:ext cx="2496" cy="816"/>
            </a:xfrm>
            <a:prstGeom prst="rect">
              <a:avLst/>
            </a:prstGeom>
            <a:noFill/>
            <a:ln w="19050">
              <a:solidFill>
                <a:srgbClr val="FF20A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" name="Group 6"/>
          <p:cNvGrpSpPr/>
          <p:nvPr/>
        </p:nvGrpSpPr>
        <p:grpSpPr bwMode="auto">
          <a:xfrm>
            <a:off x="2225673" y="3903078"/>
            <a:ext cx="4860927" cy="2465388"/>
            <a:chOff x="382" y="2880"/>
            <a:chExt cx="2908" cy="1314"/>
          </a:xfrm>
        </p:grpSpPr>
        <p:pic>
          <p:nvPicPr>
            <p:cNvPr id="52" name="Picture 7" descr="Fig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" y="2880"/>
              <a:ext cx="2908" cy="1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Rectangle 8"/>
            <p:cNvSpPr>
              <a:spLocks noChangeArrowheads="1"/>
            </p:cNvSpPr>
            <p:nvPr/>
          </p:nvSpPr>
          <p:spPr bwMode="auto">
            <a:xfrm>
              <a:off x="1076" y="4032"/>
              <a:ext cx="172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/>
                <a:t>a</a:t>
              </a:r>
              <a:endParaRPr lang="en-US" altLang="zh-CN" i="1"/>
            </a:p>
          </p:txBody>
        </p:sp>
        <p:sp>
          <p:nvSpPr>
            <p:cNvPr id="54" name="Rectangle 9"/>
            <p:cNvSpPr>
              <a:spLocks noChangeArrowheads="1"/>
            </p:cNvSpPr>
            <p:nvPr/>
          </p:nvSpPr>
          <p:spPr bwMode="auto">
            <a:xfrm>
              <a:off x="2864" y="4020"/>
              <a:ext cx="172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/>
                <a:t>b</a:t>
              </a:r>
              <a:endParaRPr lang="en-US" altLang="zh-CN" i="1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Electrostatic Properties of Conductors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759035" y="4649307"/>
            <a:ext cx="769916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9pPr>
          </a:lstStyle>
          <a:p>
            <a:pPr marL="0" indent="0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Charge can exist only on the surface as a surface charge density, </a:t>
            </a:r>
            <a:r>
              <a:rPr lang="en-US" altLang="zh-CN" sz="18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</a:t>
            </a:r>
            <a:r>
              <a:rPr lang="en-US" altLang="zh-CN" sz="1800" i="1" baseline="-25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-- </a:t>
            </a:r>
            <a:r>
              <a:rPr lang="en-US" altLang="zh-CN" sz="18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altLang="zh-CN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 the interior. </a:t>
            </a:r>
            <a:endParaRPr lang="en-US" altLang="zh-CN" sz="18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CN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</a:t>
            </a:r>
            <a:r>
              <a:rPr lang="en-US" altLang="zh-CN" sz="18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cannot </a:t>
            </a:r>
            <a:r>
              <a:rPr lang="en-US" altLang="zh-CN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exist in the interior, nor can it possess a tangential component at the surface.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It follows from condition 2 that the surface of a conductor is an </a:t>
            </a:r>
            <a:r>
              <a:rPr lang="en-US" altLang="zh-CN" sz="18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equipotential</a:t>
            </a:r>
            <a:r>
              <a:rPr lang="en-US" altLang="zh-CN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18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53"/>
          <p:cNvGrpSpPr/>
          <p:nvPr/>
        </p:nvGrpSpPr>
        <p:grpSpPr bwMode="auto">
          <a:xfrm>
            <a:off x="1381455" y="2200274"/>
            <a:ext cx="6357937" cy="2447925"/>
            <a:chOff x="1728" y="1290"/>
            <a:chExt cx="4005" cy="1542"/>
          </a:xfrm>
        </p:grpSpPr>
        <p:grpSp>
          <p:nvGrpSpPr>
            <p:cNvPr id="19" name="Group 46"/>
            <p:cNvGrpSpPr/>
            <p:nvPr/>
          </p:nvGrpSpPr>
          <p:grpSpPr bwMode="auto">
            <a:xfrm>
              <a:off x="1728" y="1290"/>
              <a:ext cx="1988" cy="1542"/>
              <a:chOff x="1728" y="1050"/>
              <a:chExt cx="1988" cy="1542"/>
            </a:xfrm>
          </p:grpSpPr>
          <p:grpSp>
            <p:nvGrpSpPr>
              <p:cNvPr id="24" name="Group 44"/>
              <p:cNvGrpSpPr/>
              <p:nvPr/>
            </p:nvGrpSpPr>
            <p:grpSpPr bwMode="auto">
              <a:xfrm>
                <a:off x="1728" y="1050"/>
                <a:ext cx="1988" cy="1542"/>
                <a:chOff x="1728" y="1050"/>
                <a:chExt cx="1988" cy="1542"/>
              </a:xfrm>
            </p:grpSpPr>
            <p:grpSp>
              <p:nvGrpSpPr>
                <p:cNvPr id="26" name="Group 21"/>
                <p:cNvGrpSpPr/>
                <p:nvPr/>
              </p:nvGrpSpPr>
              <p:grpSpPr bwMode="auto">
                <a:xfrm>
                  <a:off x="1728" y="1050"/>
                  <a:ext cx="1988" cy="1542"/>
                  <a:chOff x="1104" y="976"/>
                  <a:chExt cx="1988" cy="1542"/>
                </a:xfrm>
              </p:grpSpPr>
              <p:sp>
                <p:nvSpPr>
                  <p:cNvPr id="58" name="Freeform 9"/>
                  <p:cNvSpPr/>
                  <p:nvPr/>
                </p:nvSpPr>
                <p:spPr bwMode="auto">
                  <a:xfrm>
                    <a:off x="1536" y="1344"/>
                    <a:ext cx="1152" cy="743"/>
                  </a:xfrm>
                  <a:custGeom>
                    <a:avLst/>
                    <a:gdLst>
                      <a:gd name="T0" fmla="*/ 16 w 1722"/>
                      <a:gd name="T1" fmla="*/ 673 h 1085"/>
                      <a:gd name="T2" fmla="*/ 125 w 1722"/>
                      <a:gd name="T3" fmla="*/ 306 h 1085"/>
                      <a:gd name="T4" fmla="*/ 379 w 1722"/>
                      <a:gd name="T5" fmla="*/ 148 h 1085"/>
                      <a:gd name="T6" fmla="*/ 816 w 1722"/>
                      <a:gd name="T7" fmla="*/ 27 h 1085"/>
                      <a:gd name="T8" fmla="*/ 991 w 1722"/>
                      <a:gd name="T9" fmla="*/ 15 h 1085"/>
                      <a:gd name="T10" fmla="*/ 1512 w 1722"/>
                      <a:gd name="T11" fmla="*/ 98 h 1085"/>
                      <a:gd name="T12" fmla="*/ 1670 w 1722"/>
                      <a:gd name="T13" fmla="*/ 265 h 1085"/>
                      <a:gd name="T14" fmla="*/ 1712 w 1722"/>
                      <a:gd name="T15" fmla="*/ 360 h 1085"/>
                      <a:gd name="T16" fmla="*/ 1712 w 1722"/>
                      <a:gd name="T17" fmla="*/ 531 h 1085"/>
                      <a:gd name="T18" fmla="*/ 1625 w 1722"/>
                      <a:gd name="T19" fmla="*/ 698 h 1085"/>
                      <a:gd name="T20" fmla="*/ 1541 w 1722"/>
                      <a:gd name="T21" fmla="*/ 831 h 1085"/>
                      <a:gd name="T22" fmla="*/ 1529 w 1722"/>
                      <a:gd name="T23" fmla="*/ 860 h 1085"/>
                      <a:gd name="T24" fmla="*/ 1433 w 1722"/>
                      <a:gd name="T25" fmla="*/ 940 h 1085"/>
                      <a:gd name="T26" fmla="*/ 1095 w 1722"/>
                      <a:gd name="T27" fmla="*/ 1060 h 1085"/>
                      <a:gd name="T28" fmla="*/ 879 w 1722"/>
                      <a:gd name="T29" fmla="*/ 1085 h 1085"/>
                      <a:gd name="T30" fmla="*/ 525 w 1722"/>
                      <a:gd name="T31" fmla="*/ 1073 h 1085"/>
                      <a:gd name="T32" fmla="*/ 370 w 1722"/>
                      <a:gd name="T33" fmla="*/ 1040 h 1085"/>
                      <a:gd name="T34" fmla="*/ 291 w 1722"/>
                      <a:gd name="T35" fmla="*/ 1006 h 1085"/>
                      <a:gd name="T36" fmla="*/ 225 w 1722"/>
                      <a:gd name="T37" fmla="*/ 965 h 1085"/>
                      <a:gd name="T38" fmla="*/ 129 w 1722"/>
                      <a:gd name="T39" fmla="*/ 869 h 1085"/>
                      <a:gd name="T40" fmla="*/ 75 w 1722"/>
                      <a:gd name="T41" fmla="*/ 806 h 1085"/>
                      <a:gd name="T42" fmla="*/ 54 w 1722"/>
                      <a:gd name="T43" fmla="*/ 781 h 1085"/>
                      <a:gd name="T44" fmla="*/ 50 w 1722"/>
                      <a:gd name="T45" fmla="*/ 769 h 1085"/>
                      <a:gd name="T46" fmla="*/ 41 w 1722"/>
                      <a:gd name="T47" fmla="*/ 760 h 1085"/>
                      <a:gd name="T48" fmla="*/ 25 w 1722"/>
                      <a:gd name="T49" fmla="*/ 706 h 1085"/>
                      <a:gd name="T50" fmla="*/ 16 w 1722"/>
                      <a:gd name="T51" fmla="*/ 673 h 10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</a:cxnLst>
                    <a:rect l="0" t="0" r="r" b="b"/>
                    <a:pathLst>
                      <a:path w="1722" h="1085">
                        <a:moveTo>
                          <a:pt x="16" y="673"/>
                        </a:moveTo>
                        <a:cubicBezTo>
                          <a:pt x="20" y="554"/>
                          <a:pt x="41" y="400"/>
                          <a:pt x="125" y="306"/>
                        </a:cubicBezTo>
                        <a:cubicBezTo>
                          <a:pt x="197" y="224"/>
                          <a:pt x="278" y="189"/>
                          <a:pt x="379" y="148"/>
                        </a:cubicBezTo>
                        <a:cubicBezTo>
                          <a:pt x="518" y="90"/>
                          <a:pt x="664" y="38"/>
                          <a:pt x="816" y="27"/>
                        </a:cubicBezTo>
                        <a:cubicBezTo>
                          <a:pt x="873" y="17"/>
                          <a:pt x="932" y="17"/>
                          <a:pt x="991" y="15"/>
                        </a:cubicBezTo>
                        <a:cubicBezTo>
                          <a:pt x="1123" y="17"/>
                          <a:pt x="1383" y="0"/>
                          <a:pt x="1512" y="98"/>
                        </a:cubicBezTo>
                        <a:cubicBezTo>
                          <a:pt x="1573" y="144"/>
                          <a:pt x="1630" y="197"/>
                          <a:pt x="1670" y="265"/>
                        </a:cubicBezTo>
                        <a:cubicBezTo>
                          <a:pt x="1687" y="294"/>
                          <a:pt x="1712" y="360"/>
                          <a:pt x="1712" y="360"/>
                        </a:cubicBezTo>
                        <a:cubicBezTo>
                          <a:pt x="1722" y="428"/>
                          <a:pt x="1720" y="405"/>
                          <a:pt x="1712" y="531"/>
                        </a:cubicBezTo>
                        <a:cubicBezTo>
                          <a:pt x="1708" y="584"/>
                          <a:pt x="1648" y="650"/>
                          <a:pt x="1625" y="698"/>
                        </a:cubicBezTo>
                        <a:cubicBezTo>
                          <a:pt x="1601" y="745"/>
                          <a:pt x="1566" y="785"/>
                          <a:pt x="1541" y="831"/>
                        </a:cubicBezTo>
                        <a:cubicBezTo>
                          <a:pt x="1535" y="840"/>
                          <a:pt x="1535" y="851"/>
                          <a:pt x="1529" y="860"/>
                        </a:cubicBezTo>
                        <a:cubicBezTo>
                          <a:pt x="1499" y="900"/>
                          <a:pt x="1469" y="913"/>
                          <a:pt x="1433" y="940"/>
                        </a:cubicBezTo>
                        <a:cubicBezTo>
                          <a:pt x="1331" y="1013"/>
                          <a:pt x="1219" y="1045"/>
                          <a:pt x="1095" y="1060"/>
                        </a:cubicBezTo>
                        <a:cubicBezTo>
                          <a:pt x="1033" y="1079"/>
                          <a:pt x="943" y="1081"/>
                          <a:pt x="879" y="1085"/>
                        </a:cubicBezTo>
                        <a:cubicBezTo>
                          <a:pt x="758" y="1082"/>
                          <a:pt x="643" y="1081"/>
                          <a:pt x="525" y="1073"/>
                        </a:cubicBezTo>
                        <a:cubicBezTo>
                          <a:pt x="474" y="1063"/>
                          <a:pt x="418" y="1056"/>
                          <a:pt x="370" y="1040"/>
                        </a:cubicBezTo>
                        <a:cubicBezTo>
                          <a:pt x="341" y="1029"/>
                          <a:pt x="321" y="1011"/>
                          <a:pt x="291" y="1006"/>
                        </a:cubicBezTo>
                        <a:cubicBezTo>
                          <a:pt x="269" y="991"/>
                          <a:pt x="245" y="981"/>
                          <a:pt x="225" y="965"/>
                        </a:cubicBezTo>
                        <a:cubicBezTo>
                          <a:pt x="189" y="936"/>
                          <a:pt x="164" y="897"/>
                          <a:pt x="129" y="869"/>
                        </a:cubicBezTo>
                        <a:cubicBezTo>
                          <a:pt x="105" y="850"/>
                          <a:pt x="93" y="828"/>
                          <a:pt x="75" y="806"/>
                        </a:cubicBezTo>
                        <a:cubicBezTo>
                          <a:pt x="68" y="797"/>
                          <a:pt x="54" y="781"/>
                          <a:pt x="54" y="781"/>
                        </a:cubicBezTo>
                        <a:cubicBezTo>
                          <a:pt x="52" y="777"/>
                          <a:pt x="52" y="772"/>
                          <a:pt x="50" y="769"/>
                        </a:cubicBezTo>
                        <a:cubicBezTo>
                          <a:pt x="47" y="765"/>
                          <a:pt x="42" y="763"/>
                          <a:pt x="41" y="760"/>
                        </a:cubicBezTo>
                        <a:cubicBezTo>
                          <a:pt x="33" y="743"/>
                          <a:pt x="32" y="723"/>
                          <a:pt x="25" y="706"/>
                        </a:cubicBezTo>
                        <a:cubicBezTo>
                          <a:pt x="19" y="693"/>
                          <a:pt x="0" y="680"/>
                          <a:pt x="16" y="673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2660" y="1768"/>
                    <a:ext cx="432" cy="240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2536" y="1960"/>
                    <a:ext cx="336" cy="336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48" y="1296"/>
                    <a:ext cx="424" cy="220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" name="Line 1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001" y="976"/>
                    <a:ext cx="63" cy="388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" name="Line 1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16" y="1008"/>
                    <a:ext cx="80" cy="356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4" name="Line 1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405" y="1062"/>
                    <a:ext cx="295" cy="426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2068"/>
                    <a:ext cx="117" cy="419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" name="Line 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25" y="2084"/>
                    <a:ext cx="31" cy="434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" name="Line 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96" y="1996"/>
                    <a:ext cx="380" cy="356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" name="Line 2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104" y="1728"/>
                    <a:ext cx="444" cy="24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8" name="Rectangle 22"/>
                <p:cNvSpPr>
                  <a:spLocks noChangeArrowheads="1"/>
                </p:cNvSpPr>
                <p:nvPr/>
              </p:nvSpPr>
              <p:spPr bwMode="auto">
                <a:xfrm>
                  <a:off x="3408" y="1664"/>
                  <a:ext cx="233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i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" charset="2"/>
                    </a:rPr>
                    <a:t></a:t>
                  </a:r>
                  <a:r>
                    <a:rPr lang="en-US" altLang="zh-CN" i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endPara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" charset="2"/>
                  </a:endParaRPr>
                </a:p>
              </p:txBody>
            </p:sp>
            <p:sp>
              <p:nvSpPr>
                <p:cNvPr id="31" name="Rectangle 23"/>
                <p:cNvSpPr>
                  <a:spLocks noChangeArrowheads="1"/>
                </p:cNvSpPr>
                <p:nvPr/>
              </p:nvSpPr>
              <p:spPr bwMode="auto">
                <a:xfrm>
                  <a:off x="2364" y="136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Rectangle 24"/>
                <p:cNvSpPr>
                  <a:spLocks noChangeArrowheads="1"/>
                </p:cNvSpPr>
                <p:nvPr/>
              </p:nvSpPr>
              <p:spPr bwMode="auto">
                <a:xfrm>
                  <a:off x="3200" y="1824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Rectangle 25"/>
                <p:cNvSpPr>
                  <a:spLocks noChangeArrowheads="1"/>
                </p:cNvSpPr>
                <p:nvPr/>
              </p:nvSpPr>
              <p:spPr bwMode="auto">
                <a:xfrm>
                  <a:off x="3060" y="2004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Rectangle 26"/>
                <p:cNvSpPr>
                  <a:spLocks noChangeArrowheads="1"/>
                </p:cNvSpPr>
                <p:nvPr/>
              </p:nvSpPr>
              <p:spPr bwMode="auto">
                <a:xfrm>
                  <a:off x="2812" y="2104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" name="Rectangle 27"/>
                <p:cNvSpPr>
                  <a:spLocks noChangeArrowheads="1"/>
                </p:cNvSpPr>
                <p:nvPr/>
              </p:nvSpPr>
              <p:spPr bwMode="auto">
                <a:xfrm>
                  <a:off x="2440" y="210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Rectangle 28"/>
                <p:cNvSpPr>
                  <a:spLocks noChangeArrowheads="1"/>
                </p:cNvSpPr>
                <p:nvPr/>
              </p:nvSpPr>
              <p:spPr bwMode="auto">
                <a:xfrm>
                  <a:off x="2152" y="1976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Rectangle 29"/>
                <p:cNvSpPr>
                  <a:spLocks noChangeArrowheads="1"/>
                </p:cNvSpPr>
                <p:nvPr/>
              </p:nvSpPr>
              <p:spPr bwMode="auto">
                <a:xfrm>
                  <a:off x="2056" y="1684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Rectangle 30"/>
                <p:cNvSpPr>
                  <a:spLocks noChangeArrowheads="1"/>
                </p:cNvSpPr>
                <p:nvPr/>
              </p:nvSpPr>
              <p:spPr bwMode="auto">
                <a:xfrm>
                  <a:off x="2256" y="1412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Rectangle 31"/>
                <p:cNvSpPr>
                  <a:spLocks noChangeArrowheads="1"/>
                </p:cNvSpPr>
                <p:nvPr/>
              </p:nvSpPr>
              <p:spPr bwMode="auto">
                <a:xfrm>
                  <a:off x="2648" y="1296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Rectangle 32"/>
                <p:cNvSpPr>
                  <a:spLocks noChangeArrowheads="1"/>
                </p:cNvSpPr>
                <p:nvPr/>
              </p:nvSpPr>
              <p:spPr bwMode="auto">
                <a:xfrm>
                  <a:off x="3024" y="1312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Rectangle 33"/>
                <p:cNvSpPr>
                  <a:spLocks noChangeArrowheads="1"/>
                </p:cNvSpPr>
                <p:nvPr/>
              </p:nvSpPr>
              <p:spPr bwMode="auto">
                <a:xfrm>
                  <a:off x="3256" y="152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" name="Rectangle 34"/>
                <p:cNvSpPr>
                  <a:spLocks noChangeArrowheads="1"/>
                </p:cNvSpPr>
                <p:nvPr/>
              </p:nvSpPr>
              <p:spPr bwMode="auto">
                <a:xfrm>
                  <a:off x="2948" y="206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35"/>
                <p:cNvSpPr>
                  <a:spLocks noChangeArrowheads="1"/>
                </p:cNvSpPr>
                <p:nvPr/>
              </p:nvSpPr>
              <p:spPr bwMode="auto">
                <a:xfrm>
                  <a:off x="2616" y="2112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36"/>
                <p:cNvSpPr>
                  <a:spLocks noChangeArrowheads="1"/>
                </p:cNvSpPr>
                <p:nvPr/>
              </p:nvSpPr>
              <p:spPr bwMode="auto">
                <a:xfrm>
                  <a:off x="2280" y="206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Rectangle 37"/>
                <p:cNvSpPr>
                  <a:spLocks noChangeArrowheads="1"/>
                </p:cNvSpPr>
                <p:nvPr/>
              </p:nvSpPr>
              <p:spPr bwMode="auto">
                <a:xfrm>
                  <a:off x="2068" y="1864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38"/>
                <p:cNvSpPr>
                  <a:spLocks noChangeArrowheads="1"/>
                </p:cNvSpPr>
                <p:nvPr/>
              </p:nvSpPr>
              <p:spPr bwMode="auto">
                <a:xfrm>
                  <a:off x="2104" y="152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39"/>
                <p:cNvSpPr>
                  <a:spLocks noChangeArrowheads="1"/>
                </p:cNvSpPr>
                <p:nvPr/>
              </p:nvSpPr>
              <p:spPr bwMode="auto">
                <a:xfrm>
                  <a:off x="2488" y="1320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Rectangle 40"/>
                <p:cNvSpPr>
                  <a:spLocks noChangeArrowheads="1"/>
                </p:cNvSpPr>
                <p:nvPr/>
              </p:nvSpPr>
              <p:spPr bwMode="auto">
                <a:xfrm>
                  <a:off x="2816" y="1296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Rectangle 41"/>
                <p:cNvSpPr>
                  <a:spLocks noChangeArrowheads="1"/>
                </p:cNvSpPr>
                <p:nvPr/>
              </p:nvSpPr>
              <p:spPr bwMode="auto">
                <a:xfrm>
                  <a:off x="3144" y="138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Rectangle 42"/>
                <p:cNvSpPr>
                  <a:spLocks noChangeArrowheads="1"/>
                </p:cNvSpPr>
                <p:nvPr/>
              </p:nvSpPr>
              <p:spPr bwMode="auto">
                <a:xfrm>
                  <a:off x="3268" y="166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Rectangle 43"/>
                <p:cNvSpPr>
                  <a:spLocks noChangeArrowheads="1"/>
                </p:cNvSpPr>
                <p:nvPr/>
              </p:nvSpPr>
              <p:spPr bwMode="auto">
                <a:xfrm>
                  <a:off x="3152" y="1916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5" name="Rectangle 45"/>
              <p:cNvSpPr>
                <a:spLocks noChangeArrowheads="1"/>
              </p:cNvSpPr>
              <p:nvPr/>
            </p:nvSpPr>
            <p:spPr bwMode="auto">
              <a:xfrm>
                <a:off x="1872" y="1440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>
                    <a:solidFill>
                      <a:srgbClr val="FF20A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sz="1800" b="1">
                  <a:solidFill>
                    <a:srgbClr val="FF20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" name="Rectangle 47"/>
            <p:cNvSpPr>
              <a:spLocks noChangeArrowheads="1"/>
            </p:cNvSpPr>
            <p:nvPr/>
          </p:nvSpPr>
          <p:spPr bwMode="auto">
            <a:xfrm>
              <a:off x="2311" y="1899"/>
              <a:ext cx="10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solid conductor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48"/>
            <p:cNvSpPr>
              <a:spLocks noChangeArrowheads="1"/>
            </p:cNvSpPr>
            <p:nvPr/>
          </p:nvSpPr>
          <p:spPr bwMode="auto">
            <a:xfrm>
              <a:off x="3888" y="1690"/>
              <a:ext cx="1845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Electric field at the surface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points in the 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direction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Line 49"/>
            <p:cNvSpPr>
              <a:spLocks noChangeShapeType="1"/>
            </p:cNvSpPr>
            <p:nvPr/>
          </p:nvSpPr>
          <p:spPr bwMode="auto">
            <a:xfrm flipH="1">
              <a:off x="3408" y="1824"/>
              <a:ext cx="480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50"/>
            <p:cNvSpPr>
              <a:spLocks noChangeArrowheads="1"/>
            </p:cNvSpPr>
            <p:nvPr/>
          </p:nvSpPr>
          <p:spPr bwMode="auto">
            <a:xfrm>
              <a:off x="2448" y="2064"/>
              <a:ext cx="58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</a:t>
              </a:r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 inside</a:t>
              </a:r>
              <a:endPara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ectangle 52"/>
          <p:cNvSpPr>
            <a:spLocks noChangeArrowheads="1"/>
          </p:cNvSpPr>
          <p:nvPr/>
        </p:nvSpPr>
        <p:spPr bwMode="auto">
          <a:xfrm>
            <a:off x="441326" y="1689773"/>
            <a:ext cx="70262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conductor, on which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excess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charge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been placed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Electrostatic Properties of Conductors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759035" y="4649307"/>
            <a:ext cx="769916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1" charset="-128"/>
              </a:defRPr>
            </a:lvl9pPr>
          </a:lstStyle>
          <a:p>
            <a:pPr marL="0" indent="0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Charge can exist only on the surface as a surface charge density, 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</a:t>
            </a:r>
            <a:r>
              <a:rPr lang="en-US" altLang="zh-CN" sz="1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 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interior. 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Electric field 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 in the interior, nor can it possess a tangential component at the surface.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It follows from condition 2 that the surface of a conductor is an 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equipotential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53"/>
          <p:cNvGrpSpPr/>
          <p:nvPr/>
        </p:nvGrpSpPr>
        <p:grpSpPr bwMode="auto">
          <a:xfrm>
            <a:off x="795698" y="1982786"/>
            <a:ext cx="3155950" cy="2447925"/>
            <a:chOff x="1728" y="1290"/>
            <a:chExt cx="1988" cy="1542"/>
          </a:xfrm>
        </p:grpSpPr>
        <p:grpSp>
          <p:nvGrpSpPr>
            <p:cNvPr id="19" name="Group 46"/>
            <p:cNvGrpSpPr/>
            <p:nvPr/>
          </p:nvGrpSpPr>
          <p:grpSpPr bwMode="auto">
            <a:xfrm>
              <a:off x="1728" y="1290"/>
              <a:ext cx="1988" cy="1542"/>
              <a:chOff x="1728" y="1050"/>
              <a:chExt cx="1988" cy="1542"/>
            </a:xfrm>
          </p:grpSpPr>
          <p:grpSp>
            <p:nvGrpSpPr>
              <p:cNvPr id="24" name="Group 44"/>
              <p:cNvGrpSpPr/>
              <p:nvPr/>
            </p:nvGrpSpPr>
            <p:grpSpPr bwMode="auto">
              <a:xfrm>
                <a:off x="1728" y="1050"/>
                <a:ext cx="1988" cy="1542"/>
                <a:chOff x="1728" y="1050"/>
                <a:chExt cx="1988" cy="1542"/>
              </a:xfrm>
            </p:grpSpPr>
            <p:grpSp>
              <p:nvGrpSpPr>
                <p:cNvPr id="26" name="Group 21"/>
                <p:cNvGrpSpPr/>
                <p:nvPr/>
              </p:nvGrpSpPr>
              <p:grpSpPr bwMode="auto">
                <a:xfrm>
                  <a:off x="1728" y="1050"/>
                  <a:ext cx="1988" cy="1542"/>
                  <a:chOff x="1104" y="976"/>
                  <a:chExt cx="1988" cy="1542"/>
                </a:xfrm>
              </p:grpSpPr>
              <p:sp>
                <p:nvSpPr>
                  <p:cNvPr id="58" name="Freeform 9"/>
                  <p:cNvSpPr/>
                  <p:nvPr/>
                </p:nvSpPr>
                <p:spPr bwMode="auto">
                  <a:xfrm>
                    <a:off x="1536" y="1344"/>
                    <a:ext cx="1152" cy="743"/>
                  </a:xfrm>
                  <a:custGeom>
                    <a:avLst/>
                    <a:gdLst>
                      <a:gd name="T0" fmla="*/ 16 w 1722"/>
                      <a:gd name="T1" fmla="*/ 673 h 1085"/>
                      <a:gd name="T2" fmla="*/ 125 w 1722"/>
                      <a:gd name="T3" fmla="*/ 306 h 1085"/>
                      <a:gd name="T4" fmla="*/ 379 w 1722"/>
                      <a:gd name="T5" fmla="*/ 148 h 1085"/>
                      <a:gd name="T6" fmla="*/ 816 w 1722"/>
                      <a:gd name="T7" fmla="*/ 27 h 1085"/>
                      <a:gd name="T8" fmla="*/ 991 w 1722"/>
                      <a:gd name="T9" fmla="*/ 15 h 1085"/>
                      <a:gd name="T10" fmla="*/ 1512 w 1722"/>
                      <a:gd name="T11" fmla="*/ 98 h 1085"/>
                      <a:gd name="T12" fmla="*/ 1670 w 1722"/>
                      <a:gd name="T13" fmla="*/ 265 h 1085"/>
                      <a:gd name="T14" fmla="*/ 1712 w 1722"/>
                      <a:gd name="T15" fmla="*/ 360 h 1085"/>
                      <a:gd name="T16" fmla="*/ 1712 w 1722"/>
                      <a:gd name="T17" fmla="*/ 531 h 1085"/>
                      <a:gd name="T18" fmla="*/ 1625 w 1722"/>
                      <a:gd name="T19" fmla="*/ 698 h 1085"/>
                      <a:gd name="T20" fmla="*/ 1541 w 1722"/>
                      <a:gd name="T21" fmla="*/ 831 h 1085"/>
                      <a:gd name="T22" fmla="*/ 1529 w 1722"/>
                      <a:gd name="T23" fmla="*/ 860 h 1085"/>
                      <a:gd name="T24" fmla="*/ 1433 w 1722"/>
                      <a:gd name="T25" fmla="*/ 940 h 1085"/>
                      <a:gd name="T26" fmla="*/ 1095 w 1722"/>
                      <a:gd name="T27" fmla="*/ 1060 h 1085"/>
                      <a:gd name="T28" fmla="*/ 879 w 1722"/>
                      <a:gd name="T29" fmla="*/ 1085 h 1085"/>
                      <a:gd name="T30" fmla="*/ 525 w 1722"/>
                      <a:gd name="T31" fmla="*/ 1073 h 1085"/>
                      <a:gd name="T32" fmla="*/ 370 w 1722"/>
                      <a:gd name="T33" fmla="*/ 1040 h 1085"/>
                      <a:gd name="T34" fmla="*/ 291 w 1722"/>
                      <a:gd name="T35" fmla="*/ 1006 h 1085"/>
                      <a:gd name="T36" fmla="*/ 225 w 1722"/>
                      <a:gd name="T37" fmla="*/ 965 h 1085"/>
                      <a:gd name="T38" fmla="*/ 129 w 1722"/>
                      <a:gd name="T39" fmla="*/ 869 h 1085"/>
                      <a:gd name="T40" fmla="*/ 75 w 1722"/>
                      <a:gd name="T41" fmla="*/ 806 h 1085"/>
                      <a:gd name="T42" fmla="*/ 54 w 1722"/>
                      <a:gd name="T43" fmla="*/ 781 h 1085"/>
                      <a:gd name="T44" fmla="*/ 50 w 1722"/>
                      <a:gd name="T45" fmla="*/ 769 h 1085"/>
                      <a:gd name="T46" fmla="*/ 41 w 1722"/>
                      <a:gd name="T47" fmla="*/ 760 h 1085"/>
                      <a:gd name="T48" fmla="*/ 25 w 1722"/>
                      <a:gd name="T49" fmla="*/ 706 h 1085"/>
                      <a:gd name="T50" fmla="*/ 16 w 1722"/>
                      <a:gd name="T51" fmla="*/ 673 h 10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</a:cxnLst>
                    <a:rect l="0" t="0" r="r" b="b"/>
                    <a:pathLst>
                      <a:path w="1722" h="1085">
                        <a:moveTo>
                          <a:pt x="16" y="673"/>
                        </a:moveTo>
                        <a:cubicBezTo>
                          <a:pt x="20" y="554"/>
                          <a:pt x="41" y="400"/>
                          <a:pt x="125" y="306"/>
                        </a:cubicBezTo>
                        <a:cubicBezTo>
                          <a:pt x="197" y="224"/>
                          <a:pt x="278" y="189"/>
                          <a:pt x="379" y="148"/>
                        </a:cubicBezTo>
                        <a:cubicBezTo>
                          <a:pt x="518" y="90"/>
                          <a:pt x="664" y="38"/>
                          <a:pt x="816" y="27"/>
                        </a:cubicBezTo>
                        <a:cubicBezTo>
                          <a:pt x="873" y="17"/>
                          <a:pt x="932" y="17"/>
                          <a:pt x="991" y="15"/>
                        </a:cubicBezTo>
                        <a:cubicBezTo>
                          <a:pt x="1123" y="17"/>
                          <a:pt x="1383" y="0"/>
                          <a:pt x="1512" y="98"/>
                        </a:cubicBezTo>
                        <a:cubicBezTo>
                          <a:pt x="1573" y="144"/>
                          <a:pt x="1630" y="197"/>
                          <a:pt x="1670" y="265"/>
                        </a:cubicBezTo>
                        <a:cubicBezTo>
                          <a:pt x="1687" y="294"/>
                          <a:pt x="1712" y="360"/>
                          <a:pt x="1712" y="360"/>
                        </a:cubicBezTo>
                        <a:cubicBezTo>
                          <a:pt x="1722" y="428"/>
                          <a:pt x="1720" y="405"/>
                          <a:pt x="1712" y="531"/>
                        </a:cubicBezTo>
                        <a:cubicBezTo>
                          <a:pt x="1708" y="584"/>
                          <a:pt x="1648" y="650"/>
                          <a:pt x="1625" y="698"/>
                        </a:cubicBezTo>
                        <a:cubicBezTo>
                          <a:pt x="1601" y="745"/>
                          <a:pt x="1566" y="785"/>
                          <a:pt x="1541" y="831"/>
                        </a:cubicBezTo>
                        <a:cubicBezTo>
                          <a:pt x="1535" y="840"/>
                          <a:pt x="1535" y="851"/>
                          <a:pt x="1529" y="860"/>
                        </a:cubicBezTo>
                        <a:cubicBezTo>
                          <a:pt x="1499" y="900"/>
                          <a:pt x="1469" y="913"/>
                          <a:pt x="1433" y="940"/>
                        </a:cubicBezTo>
                        <a:cubicBezTo>
                          <a:pt x="1331" y="1013"/>
                          <a:pt x="1219" y="1045"/>
                          <a:pt x="1095" y="1060"/>
                        </a:cubicBezTo>
                        <a:cubicBezTo>
                          <a:pt x="1033" y="1079"/>
                          <a:pt x="943" y="1081"/>
                          <a:pt x="879" y="1085"/>
                        </a:cubicBezTo>
                        <a:cubicBezTo>
                          <a:pt x="758" y="1082"/>
                          <a:pt x="643" y="1081"/>
                          <a:pt x="525" y="1073"/>
                        </a:cubicBezTo>
                        <a:cubicBezTo>
                          <a:pt x="474" y="1063"/>
                          <a:pt x="418" y="1056"/>
                          <a:pt x="370" y="1040"/>
                        </a:cubicBezTo>
                        <a:cubicBezTo>
                          <a:pt x="341" y="1029"/>
                          <a:pt x="321" y="1011"/>
                          <a:pt x="291" y="1006"/>
                        </a:cubicBezTo>
                        <a:cubicBezTo>
                          <a:pt x="269" y="991"/>
                          <a:pt x="245" y="981"/>
                          <a:pt x="225" y="965"/>
                        </a:cubicBezTo>
                        <a:cubicBezTo>
                          <a:pt x="189" y="936"/>
                          <a:pt x="164" y="897"/>
                          <a:pt x="129" y="869"/>
                        </a:cubicBezTo>
                        <a:cubicBezTo>
                          <a:pt x="105" y="850"/>
                          <a:pt x="93" y="828"/>
                          <a:pt x="75" y="806"/>
                        </a:cubicBezTo>
                        <a:cubicBezTo>
                          <a:pt x="68" y="797"/>
                          <a:pt x="54" y="781"/>
                          <a:pt x="54" y="781"/>
                        </a:cubicBezTo>
                        <a:cubicBezTo>
                          <a:pt x="52" y="777"/>
                          <a:pt x="52" y="772"/>
                          <a:pt x="50" y="769"/>
                        </a:cubicBezTo>
                        <a:cubicBezTo>
                          <a:pt x="47" y="765"/>
                          <a:pt x="42" y="763"/>
                          <a:pt x="41" y="760"/>
                        </a:cubicBezTo>
                        <a:cubicBezTo>
                          <a:pt x="33" y="743"/>
                          <a:pt x="32" y="723"/>
                          <a:pt x="25" y="706"/>
                        </a:cubicBezTo>
                        <a:cubicBezTo>
                          <a:pt x="19" y="693"/>
                          <a:pt x="0" y="680"/>
                          <a:pt x="16" y="673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2660" y="1768"/>
                    <a:ext cx="432" cy="240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2536" y="1960"/>
                    <a:ext cx="336" cy="336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48" y="1296"/>
                    <a:ext cx="424" cy="220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" name="Line 1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001" y="976"/>
                    <a:ext cx="63" cy="388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" name="Line 1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16" y="1008"/>
                    <a:ext cx="80" cy="356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4" name="Line 1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405" y="1062"/>
                    <a:ext cx="295" cy="426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2068"/>
                    <a:ext cx="117" cy="419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" name="Line 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25" y="2084"/>
                    <a:ext cx="31" cy="434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" name="Line 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96" y="1996"/>
                    <a:ext cx="380" cy="356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" name="Line 2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104" y="1728"/>
                    <a:ext cx="444" cy="24"/>
                  </a:xfrm>
                  <a:prstGeom prst="line">
                    <a:avLst/>
                  </a:prstGeom>
                  <a:noFill/>
                  <a:ln w="19050">
                    <a:solidFill>
                      <a:srgbClr val="FF20A2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8" name="Rectangle 22"/>
                <p:cNvSpPr>
                  <a:spLocks noChangeArrowheads="1"/>
                </p:cNvSpPr>
                <p:nvPr/>
              </p:nvSpPr>
              <p:spPr bwMode="auto">
                <a:xfrm>
                  <a:off x="3408" y="1664"/>
                  <a:ext cx="233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i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" charset="2"/>
                    </a:rPr>
                    <a:t></a:t>
                  </a:r>
                  <a:r>
                    <a:rPr lang="en-US" altLang="zh-CN" i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endPara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" charset="2"/>
                  </a:endParaRPr>
                </a:p>
              </p:txBody>
            </p:sp>
            <p:sp>
              <p:nvSpPr>
                <p:cNvPr id="31" name="Rectangle 23"/>
                <p:cNvSpPr>
                  <a:spLocks noChangeArrowheads="1"/>
                </p:cNvSpPr>
                <p:nvPr/>
              </p:nvSpPr>
              <p:spPr bwMode="auto">
                <a:xfrm>
                  <a:off x="2364" y="136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Rectangle 24"/>
                <p:cNvSpPr>
                  <a:spLocks noChangeArrowheads="1"/>
                </p:cNvSpPr>
                <p:nvPr/>
              </p:nvSpPr>
              <p:spPr bwMode="auto">
                <a:xfrm>
                  <a:off x="3200" y="1824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Rectangle 25"/>
                <p:cNvSpPr>
                  <a:spLocks noChangeArrowheads="1"/>
                </p:cNvSpPr>
                <p:nvPr/>
              </p:nvSpPr>
              <p:spPr bwMode="auto">
                <a:xfrm>
                  <a:off x="3060" y="2004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Rectangle 26"/>
                <p:cNvSpPr>
                  <a:spLocks noChangeArrowheads="1"/>
                </p:cNvSpPr>
                <p:nvPr/>
              </p:nvSpPr>
              <p:spPr bwMode="auto">
                <a:xfrm>
                  <a:off x="2812" y="2104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" name="Rectangle 27"/>
                <p:cNvSpPr>
                  <a:spLocks noChangeArrowheads="1"/>
                </p:cNvSpPr>
                <p:nvPr/>
              </p:nvSpPr>
              <p:spPr bwMode="auto">
                <a:xfrm>
                  <a:off x="2440" y="210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Rectangle 28"/>
                <p:cNvSpPr>
                  <a:spLocks noChangeArrowheads="1"/>
                </p:cNvSpPr>
                <p:nvPr/>
              </p:nvSpPr>
              <p:spPr bwMode="auto">
                <a:xfrm>
                  <a:off x="2152" y="1976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Rectangle 29"/>
                <p:cNvSpPr>
                  <a:spLocks noChangeArrowheads="1"/>
                </p:cNvSpPr>
                <p:nvPr/>
              </p:nvSpPr>
              <p:spPr bwMode="auto">
                <a:xfrm>
                  <a:off x="2056" y="1684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Rectangle 30"/>
                <p:cNvSpPr>
                  <a:spLocks noChangeArrowheads="1"/>
                </p:cNvSpPr>
                <p:nvPr/>
              </p:nvSpPr>
              <p:spPr bwMode="auto">
                <a:xfrm>
                  <a:off x="2256" y="1412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Rectangle 31"/>
                <p:cNvSpPr>
                  <a:spLocks noChangeArrowheads="1"/>
                </p:cNvSpPr>
                <p:nvPr/>
              </p:nvSpPr>
              <p:spPr bwMode="auto">
                <a:xfrm>
                  <a:off x="2648" y="1296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Rectangle 32"/>
                <p:cNvSpPr>
                  <a:spLocks noChangeArrowheads="1"/>
                </p:cNvSpPr>
                <p:nvPr/>
              </p:nvSpPr>
              <p:spPr bwMode="auto">
                <a:xfrm>
                  <a:off x="3024" y="1312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Rectangle 33"/>
                <p:cNvSpPr>
                  <a:spLocks noChangeArrowheads="1"/>
                </p:cNvSpPr>
                <p:nvPr/>
              </p:nvSpPr>
              <p:spPr bwMode="auto">
                <a:xfrm>
                  <a:off x="3256" y="152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" name="Rectangle 34"/>
                <p:cNvSpPr>
                  <a:spLocks noChangeArrowheads="1"/>
                </p:cNvSpPr>
                <p:nvPr/>
              </p:nvSpPr>
              <p:spPr bwMode="auto">
                <a:xfrm>
                  <a:off x="2948" y="206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35"/>
                <p:cNvSpPr>
                  <a:spLocks noChangeArrowheads="1"/>
                </p:cNvSpPr>
                <p:nvPr/>
              </p:nvSpPr>
              <p:spPr bwMode="auto">
                <a:xfrm>
                  <a:off x="2616" y="2112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36"/>
                <p:cNvSpPr>
                  <a:spLocks noChangeArrowheads="1"/>
                </p:cNvSpPr>
                <p:nvPr/>
              </p:nvSpPr>
              <p:spPr bwMode="auto">
                <a:xfrm>
                  <a:off x="2280" y="206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Rectangle 37"/>
                <p:cNvSpPr>
                  <a:spLocks noChangeArrowheads="1"/>
                </p:cNvSpPr>
                <p:nvPr/>
              </p:nvSpPr>
              <p:spPr bwMode="auto">
                <a:xfrm>
                  <a:off x="2068" y="1864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38"/>
                <p:cNvSpPr>
                  <a:spLocks noChangeArrowheads="1"/>
                </p:cNvSpPr>
                <p:nvPr/>
              </p:nvSpPr>
              <p:spPr bwMode="auto">
                <a:xfrm>
                  <a:off x="2104" y="152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39"/>
                <p:cNvSpPr>
                  <a:spLocks noChangeArrowheads="1"/>
                </p:cNvSpPr>
                <p:nvPr/>
              </p:nvSpPr>
              <p:spPr bwMode="auto">
                <a:xfrm>
                  <a:off x="2488" y="1320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Rectangle 40"/>
                <p:cNvSpPr>
                  <a:spLocks noChangeArrowheads="1"/>
                </p:cNvSpPr>
                <p:nvPr/>
              </p:nvSpPr>
              <p:spPr bwMode="auto">
                <a:xfrm>
                  <a:off x="2816" y="1296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Rectangle 41"/>
                <p:cNvSpPr>
                  <a:spLocks noChangeArrowheads="1"/>
                </p:cNvSpPr>
                <p:nvPr/>
              </p:nvSpPr>
              <p:spPr bwMode="auto">
                <a:xfrm>
                  <a:off x="3144" y="138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Rectangle 42"/>
                <p:cNvSpPr>
                  <a:spLocks noChangeArrowheads="1"/>
                </p:cNvSpPr>
                <p:nvPr/>
              </p:nvSpPr>
              <p:spPr bwMode="auto">
                <a:xfrm>
                  <a:off x="3268" y="1668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Rectangle 43"/>
                <p:cNvSpPr>
                  <a:spLocks noChangeArrowheads="1"/>
                </p:cNvSpPr>
                <p:nvPr/>
              </p:nvSpPr>
              <p:spPr bwMode="auto">
                <a:xfrm>
                  <a:off x="3152" y="1916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5" name="Rectangle 45"/>
              <p:cNvSpPr>
                <a:spLocks noChangeArrowheads="1"/>
              </p:cNvSpPr>
              <p:nvPr/>
            </p:nvSpPr>
            <p:spPr bwMode="auto">
              <a:xfrm>
                <a:off x="1872" y="1440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>
                    <a:solidFill>
                      <a:srgbClr val="FF20A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sz="1800" b="1">
                  <a:solidFill>
                    <a:srgbClr val="FF20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" name="Rectangle 47"/>
            <p:cNvSpPr>
              <a:spLocks noChangeArrowheads="1"/>
            </p:cNvSpPr>
            <p:nvPr/>
          </p:nvSpPr>
          <p:spPr bwMode="auto">
            <a:xfrm>
              <a:off x="2311" y="1899"/>
              <a:ext cx="10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solid conductor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50"/>
            <p:cNvSpPr>
              <a:spLocks noChangeArrowheads="1"/>
            </p:cNvSpPr>
            <p:nvPr/>
          </p:nvSpPr>
          <p:spPr bwMode="auto">
            <a:xfrm>
              <a:off x="2448" y="2064"/>
              <a:ext cx="58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</a:t>
              </a:r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 inside</a:t>
              </a:r>
              <a:endPara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6146" name="Picture 2" descr="C:\Users\dpcuser\Desktop\About Teaching\工程电磁场\Instructor Notes\Lecture 6\800px-Electrostatic_induction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851603"/>
            <a:ext cx="3678527" cy="2519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Boundary Condition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3" name="Group 9"/>
          <p:cNvGrpSpPr/>
          <p:nvPr/>
        </p:nvGrpSpPr>
        <p:grpSpPr bwMode="auto">
          <a:xfrm>
            <a:off x="415506" y="3856833"/>
            <a:ext cx="4268787" cy="2587625"/>
            <a:chOff x="1488" y="1546"/>
            <a:chExt cx="2689" cy="1630"/>
          </a:xfrm>
        </p:grpSpPr>
        <p:grpSp>
          <p:nvGrpSpPr>
            <p:cNvPr id="83" name="Group 6"/>
            <p:cNvGrpSpPr/>
            <p:nvPr/>
          </p:nvGrpSpPr>
          <p:grpSpPr bwMode="auto">
            <a:xfrm>
              <a:off x="1488" y="1546"/>
              <a:ext cx="2689" cy="1630"/>
              <a:chOff x="1488" y="1546"/>
              <a:chExt cx="2689" cy="1630"/>
            </a:xfrm>
          </p:grpSpPr>
          <p:pic>
            <p:nvPicPr>
              <p:cNvPr id="85" name="Picture 2" descr="Efield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88" y="1546"/>
                <a:ext cx="2689" cy="15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6" name="Rectangle 3"/>
              <p:cNvSpPr>
                <a:spLocks noChangeArrowheads="1"/>
              </p:cNvSpPr>
              <p:nvPr/>
            </p:nvSpPr>
            <p:spPr bwMode="auto">
              <a:xfrm>
                <a:off x="2318" y="2943"/>
                <a:ext cx="69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conductor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Rectangle 4"/>
              <p:cNvSpPr>
                <a:spLocks noChangeArrowheads="1"/>
              </p:cNvSpPr>
              <p:nvPr/>
            </p:nvSpPr>
            <p:spPr bwMode="auto">
              <a:xfrm>
                <a:off x="1684" y="1737"/>
                <a:ext cx="65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dielectric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Line 5"/>
              <p:cNvSpPr>
                <a:spLocks noChangeShapeType="1"/>
              </p:cNvSpPr>
              <p:nvPr/>
            </p:nvSpPr>
            <p:spPr bwMode="auto">
              <a:xfrm flipH="1" flipV="1">
                <a:off x="2471" y="1937"/>
                <a:ext cx="25" cy="567"/>
              </a:xfrm>
              <a:prstGeom prst="line">
                <a:avLst/>
              </a:prstGeom>
              <a:noFill/>
              <a:ln w="19050">
                <a:solidFill>
                  <a:srgbClr val="FF20A2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4" name="Rectangle 8"/>
            <p:cNvSpPr>
              <a:spLocks noChangeArrowheads="1"/>
            </p:cNvSpPr>
            <p:nvPr/>
          </p:nvSpPr>
          <p:spPr bwMode="auto">
            <a:xfrm>
              <a:off x="2318" y="187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4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115884"/>
            <a:ext cx="1270000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5" name="Rectangle 11"/>
          <p:cNvSpPr>
            <a:spLocks noChangeArrowheads="1"/>
          </p:cNvSpPr>
          <p:nvPr/>
        </p:nvSpPr>
        <p:spPr bwMode="auto">
          <a:xfrm>
            <a:off x="856456" y="1619250"/>
            <a:ext cx="47997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rectangular integration path, we use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12"/>
          <p:cNvSpPr>
            <a:spLocks noChangeArrowheads="1"/>
          </p:cNvSpPr>
          <p:nvPr/>
        </p:nvSpPr>
        <p:spPr bwMode="auto">
          <a:xfrm>
            <a:off x="726281" y="2853531"/>
            <a:ext cx="919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543" y="2079581"/>
            <a:ext cx="2514600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0" name="Rectangle 14"/>
          <p:cNvSpPr>
            <a:spLocks noChangeArrowheads="1"/>
          </p:cNvSpPr>
          <p:nvPr/>
        </p:nvSpPr>
        <p:spPr bwMode="auto">
          <a:xfrm>
            <a:off x="4266226" y="2267460"/>
            <a:ext cx="376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" name="Picture 1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356" y="2824163"/>
            <a:ext cx="41592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2" name="AutoShape 19"/>
          <p:cNvSpPr/>
          <p:nvPr/>
        </p:nvSpPr>
        <p:spPr bwMode="auto">
          <a:xfrm rot="16208314">
            <a:off x="4622666" y="1963383"/>
            <a:ext cx="265129" cy="2997206"/>
          </a:xfrm>
          <a:prstGeom prst="leftBrace">
            <a:avLst>
              <a:gd name="adj1" fmla="val 141667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20"/>
          <p:cNvSpPr>
            <a:spLocks noChangeArrowheads="1"/>
          </p:cNvSpPr>
          <p:nvPr/>
        </p:nvSpPr>
        <p:spPr bwMode="auto">
          <a:xfrm>
            <a:off x="2596356" y="3590926"/>
            <a:ext cx="4667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These become negligible as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approaches zero.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4" name="Group 24"/>
          <p:cNvGrpSpPr/>
          <p:nvPr/>
        </p:nvGrpSpPr>
        <p:grpSpPr bwMode="auto">
          <a:xfrm>
            <a:off x="5656168" y="4270376"/>
            <a:ext cx="1143000" cy="990600"/>
            <a:chOff x="3936" y="2784"/>
            <a:chExt cx="720" cy="624"/>
          </a:xfrm>
        </p:grpSpPr>
        <p:pic>
          <p:nvPicPr>
            <p:cNvPr id="80" name="Picture 1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2" y="3120"/>
              <a:ext cx="46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1" name="Rectangle 21"/>
            <p:cNvSpPr>
              <a:spLocks noChangeArrowheads="1"/>
            </p:cNvSpPr>
            <p:nvPr/>
          </p:nvSpPr>
          <p:spPr bwMode="auto">
            <a:xfrm>
              <a:off x="3955" y="2784"/>
              <a:ext cx="6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Therefore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22"/>
            <p:cNvSpPr>
              <a:spLocks noChangeArrowheads="1"/>
            </p:cNvSpPr>
            <p:nvPr/>
          </p:nvSpPr>
          <p:spPr bwMode="auto">
            <a:xfrm>
              <a:off x="3936" y="3072"/>
              <a:ext cx="720" cy="336"/>
            </a:xfrm>
            <a:prstGeom prst="rect">
              <a:avLst/>
            </a:prstGeom>
            <a:noFill/>
            <a:ln w="19050">
              <a:solidFill>
                <a:srgbClr val="FF20A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Rectangle 26"/>
          <p:cNvSpPr>
            <a:spLocks noChangeArrowheads="1"/>
          </p:cNvSpPr>
          <p:nvPr/>
        </p:nvSpPr>
        <p:spPr bwMode="auto">
          <a:xfrm>
            <a:off x="4685731" y="5889627"/>
            <a:ext cx="16017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formally: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6" name="Group 32"/>
          <p:cNvGrpSpPr/>
          <p:nvPr/>
        </p:nvGrpSpPr>
        <p:grpSpPr bwMode="auto">
          <a:xfrm>
            <a:off x="6368256" y="5843588"/>
            <a:ext cx="1790700" cy="538163"/>
            <a:chOff x="4104" y="3696"/>
            <a:chExt cx="1128" cy="339"/>
          </a:xfrm>
        </p:grpSpPr>
        <p:pic>
          <p:nvPicPr>
            <p:cNvPr id="78" name="Picture 25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4" y="3696"/>
              <a:ext cx="1088" cy="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9" name="Rectangle 27"/>
            <p:cNvSpPr>
              <a:spLocks noChangeArrowheads="1"/>
            </p:cNvSpPr>
            <p:nvPr/>
          </p:nvSpPr>
          <p:spPr bwMode="auto">
            <a:xfrm>
              <a:off x="4116" y="3711"/>
              <a:ext cx="1116" cy="312"/>
            </a:xfrm>
            <a:prstGeom prst="rect">
              <a:avLst/>
            </a:prstGeom>
            <a:noFill/>
            <a:ln w="19050">
              <a:solidFill>
                <a:srgbClr val="FF20A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7" name="Line 30"/>
          <p:cNvSpPr>
            <a:spLocks noChangeShapeType="1"/>
          </p:cNvSpPr>
          <p:nvPr/>
        </p:nvSpPr>
        <p:spPr bwMode="auto">
          <a:xfrm>
            <a:off x="2748756" y="3962400"/>
            <a:ext cx="4337844" cy="0"/>
          </a:xfrm>
          <a:prstGeom prst="line">
            <a:avLst/>
          </a:prstGeom>
          <a:noFill/>
          <a:ln w="9525">
            <a:solidFill>
              <a:srgbClr val="FF20A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Boundary Condition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1" name="Group 35"/>
          <p:cNvGrpSpPr/>
          <p:nvPr/>
        </p:nvGrpSpPr>
        <p:grpSpPr bwMode="auto">
          <a:xfrm>
            <a:off x="838200" y="1693863"/>
            <a:ext cx="7272338" cy="4859337"/>
            <a:chOff x="528" y="1067"/>
            <a:chExt cx="4581" cy="3061"/>
          </a:xfrm>
        </p:grpSpPr>
        <p:grpSp>
          <p:nvGrpSpPr>
            <p:cNvPr id="32" name="Group 11"/>
            <p:cNvGrpSpPr/>
            <p:nvPr/>
          </p:nvGrpSpPr>
          <p:grpSpPr bwMode="auto">
            <a:xfrm>
              <a:off x="528" y="2362"/>
              <a:ext cx="2448" cy="1766"/>
              <a:chOff x="1392" y="1488"/>
              <a:chExt cx="2448" cy="1766"/>
            </a:xfrm>
          </p:grpSpPr>
          <p:grpSp>
            <p:nvGrpSpPr>
              <p:cNvPr id="52" name="Group 8"/>
              <p:cNvGrpSpPr/>
              <p:nvPr/>
            </p:nvGrpSpPr>
            <p:grpSpPr bwMode="auto">
              <a:xfrm>
                <a:off x="1392" y="1488"/>
                <a:ext cx="2448" cy="1766"/>
                <a:chOff x="1392" y="1488"/>
                <a:chExt cx="2448" cy="1766"/>
              </a:xfrm>
            </p:grpSpPr>
            <p:pic>
              <p:nvPicPr>
                <p:cNvPr id="58" name="Picture 2" descr="Dfield 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92" y="1488"/>
                  <a:ext cx="2322" cy="17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9" name="Line 3"/>
                <p:cNvSpPr>
                  <a:spLocks noChangeShapeType="1"/>
                </p:cNvSpPr>
                <p:nvPr/>
              </p:nvSpPr>
              <p:spPr bwMode="auto">
                <a:xfrm flipH="1" flipV="1">
                  <a:off x="1654" y="2433"/>
                  <a:ext cx="322" cy="511"/>
                </a:xfrm>
                <a:prstGeom prst="line">
                  <a:avLst/>
                </a:prstGeom>
                <a:noFill/>
                <a:ln w="19050">
                  <a:solidFill>
                    <a:srgbClr val="FF20A2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" name="Rectangle 4"/>
                <p:cNvSpPr>
                  <a:spLocks noChangeArrowheads="1"/>
                </p:cNvSpPr>
                <p:nvPr/>
              </p:nvSpPr>
              <p:spPr bwMode="auto">
                <a:xfrm>
                  <a:off x="1488" y="2400"/>
                  <a:ext cx="197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Rectangle 5"/>
                <p:cNvSpPr>
                  <a:spLocks noChangeArrowheads="1"/>
                </p:cNvSpPr>
                <p:nvPr/>
              </p:nvSpPr>
              <p:spPr bwMode="auto">
                <a:xfrm>
                  <a:off x="3600" y="1536"/>
                  <a:ext cx="240" cy="1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Rectangle 6"/>
                <p:cNvSpPr>
                  <a:spLocks noChangeArrowheads="1"/>
                </p:cNvSpPr>
                <p:nvPr/>
              </p:nvSpPr>
              <p:spPr bwMode="auto">
                <a:xfrm>
                  <a:off x="2544" y="1632"/>
                  <a:ext cx="658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dielectric</a:t>
                  </a:r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Rectangle 7"/>
                <p:cNvSpPr>
                  <a:spLocks noChangeArrowheads="1"/>
                </p:cNvSpPr>
                <p:nvPr/>
              </p:nvSpPr>
              <p:spPr bwMode="auto">
                <a:xfrm>
                  <a:off x="2556" y="2928"/>
                  <a:ext cx="698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conductor</a:t>
                  </a:r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7" name="Rectangle 10"/>
              <p:cNvSpPr>
                <a:spLocks noChangeArrowheads="1"/>
              </p:cNvSpPr>
              <p:nvPr/>
            </p:nvSpPr>
            <p:spPr bwMode="auto">
              <a:xfrm>
                <a:off x="1716" y="2816"/>
                <a:ext cx="22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600" i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" charset="2"/>
                  </a:rPr>
                  <a:t></a:t>
                </a:r>
                <a:r>
                  <a:rPr lang="en-US" altLang="zh-CN" sz="160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16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" charset="2"/>
                </a:endParaRPr>
              </a:p>
            </p:txBody>
          </p:sp>
        </p:grpSp>
        <p:grpSp>
          <p:nvGrpSpPr>
            <p:cNvPr id="33" name="Group 16"/>
            <p:cNvGrpSpPr/>
            <p:nvPr/>
          </p:nvGrpSpPr>
          <p:grpSpPr bwMode="auto">
            <a:xfrm>
              <a:off x="1373" y="1296"/>
              <a:ext cx="2611" cy="524"/>
              <a:chOff x="1167" y="1156"/>
              <a:chExt cx="2611" cy="524"/>
            </a:xfrm>
          </p:grpSpPr>
          <p:pic>
            <p:nvPicPr>
              <p:cNvPr id="50" name="Picture 1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67" y="1156"/>
                <a:ext cx="852" cy="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51" name="Picture 15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6" y="1156"/>
                <a:ext cx="1762" cy="5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34" name="Rectangle 17"/>
            <p:cNvSpPr>
              <a:spLocks noChangeArrowheads="1"/>
            </p:cNvSpPr>
            <p:nvPr/>
          </p:nvSpPr>
          <p:spPr bwMode="auto">
            <a:xfrm>
              <a:off x="909" y="1078"/>
              <a:ext cx="15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/>
          </p:txBody>
        </p:sp>
        <p:sp>
          <p:nvSpPr>
            <p:cNvPr id="35" name="Rectangle 18"/>
            <p:cNvSpPr>
              <a:spLocks noChangeArrowheads="1"/>
            </p:cNvSpPr>
            <p:nvPr/>
          </p:nvSpPr>
          <p:spPr bwMode="auto">
            <a:xfrm>
              <a:off x="646" y="1067"/>
              <a:ext cx="37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Gauss’ Law is applied to the cylindrical surface shown below: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Line 22"/>
            <p:cNvSpPr>
              <a:spLocks noChangeShapeType="1"/>
            </p:cNvSpPr>
            <p:nvPr/>
          </p:nvSpPr>
          <p:spPr bwMode="auto">
            <a:xfrm flipV="1">
              <a:off x="2688" y="1440"/>
              <a:ext cx="336" cy="24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Line 23"/>
            <p:cNvSpPr>
              <a:spLocks noChangeShapeType="1"/>
            </p:cNvSpPr>
            <p:nvPr/>
          </p:nvSpPr>
          <p:spPr bwMode="auto">
            <a:xfrm flipV="1">
              <a:off x="3260" y="1432"/>
              <a:ext cx="336" cy="240"/>
            </a:xfrm>
            <a:prstGeom prst="line">
              <a:avLst/>
            </a:prstGeom>
            <a:noFill/>
            <a:ln w="19050">
              <a:solidFill>
                <a:srgbClr val="FF20A2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8" name="Group 25"/>
            <p:cNvGrpSpPr/>
            <p:nvPr/>
          </p:nvGrpSpPr>
          <p:grpSpPr bwMode="auto">
            <a:xfrm>
              <a:off x="850" y="1968"/>
              <a:ext cx="4259" cy="294"/>
              <a:chOff x="850" y="1968"/>
              <a:chExt cx="4259" cy="294"/>
            </a:xfrm>
          </p:grpSpPr>
          <p:pic>
            <p:nvPicPr>
              <p:cNvPr id="47" name="Picture 20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92" y="1968"/>
                <a:ext cx="1704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48" name="Rectangle 21"/>
              <p:cNvSpPr>
                <a:spLocks noChangeArrowheads="1"/>
              </p:cNvSpPr>
              <p:nvPr/>
            </p:nvSpPr>
            <p:spPr bwMode="auto">
              <a:xfrm>
                <a:off x="850" y="1998"/>
                <a:ext cx="104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reduces to: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Rectangle 24"/>
              <p:cNvSpPr>
                <a:spLocks noChangeArrowheads="1"/>
              </p:cNvSpPr>
              <p:nvPr/>
            </p:nvSpPr>
            <p:spPr bwMode="auto">
              <a:xfrm>
                <a:off x="3696" y="2016"/>
                <a:ext cx="141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" charset="2"/>
                  </a:rPr>
                  <a:t></a:t>
                </a:r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approaches zero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Group 30"/>
            <p:cNvGrpSpPr/>
            <p:nvPr/>
          </p:nvGrpSpPr>
          <p:grpSpPr bwMode="auto">
            <a:xfrm>
              <a:off x="3888" y="2625"/>
              <a:ext cx="960" cy="639"/>
              <a:chOff x="3888" y="2625"/>
              <a:chExt cx="960" cy="639"/>
            </a:xfrm>
          </p:grpSpPr>
          <p:pic>
            <p:nvPicPr>
              <p:cNvPr id="44" name="Picture 26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84" y="2976"/>
                <a:ext cx="766" cy="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45" name="Rectangle 27"/>
              <p:cNvSpPr>
                <a:spLocks noChangeArrowheads="1"/>
              </p:cNvSpPr>
              <p:nvPr/>
            </p:nvSpPr>
            <p:spPr bwMode="auto">
              <a:xfrm>
                <a:off x="4005" y="2625"/>
                <a:ext cx="69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Rectangle 28"/>
              <p:cNvSpPr>
                <a:spLocks noChangeArrowheads="1"/>
              </p:cNvSpPr>
              <p:nvPr/>
            </p:nvSpPr>
            <p:spPr bwMode="auto">
              <a:xfrm>
                <a:off x="3888" y="2880"/>
                <a:ext cx="960" cy="384"/>
              </a:xfrm>
              <a:prstGeom prst="rect">
                <a:avLst/>
              </a:prstGeom>
              <a:noFill/>
              <a:ln w="19050">
                <a:solidFill>
                  <a:srgbClr val="FF20A2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0" name="Picture 9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6" y="3696"/>
              <a:ext cx="1025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1" name="Rectangle 29"/>
            <p:cNvSpPr>
              <a:spLocks noChangeArrowheads="1"/>
            </p:cNvSpPr>
            <p:nvPr/>
          </p:nvSpPr>
          <p:spPr bwMode="auto">
            <a:xfrm>
              <a:off x="3840" y="3648"/>
              <a:ext cx="1200" cy="432"/>
            </a:xfrm>
            <a:prstGeom prst="rect">
              <a:avLst/>
            </a:prstGeom>
            <a:noFill/>
            <a:ln w="19050">
              <a:solidFill>
                <a:srgbClr val="FF20A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3888" y="3408"/>
              <a:ext cx="10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More formally: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Summary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3" name="Group 15"/>
          <p:cNvGrpSpPr/>
          <p:nvPr/>
        </p:nvGrpSpPr>
        <p:grpSpPr bwMode="auto">
          <a:xfrm>
            <a:off x="512762" y="2047875"/>
            <a:ext cx="8042276" cy="3103562"/>
            <a:chOff x="681" y="1463"/>
            <a:chExt cx="5066" cy="1955"/>
          </a:xfrm>
        </p:grpSpPr>
        <p:pic>
          <p:nvPicPr>
            <p:cNvPr id="54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" y="1463"/>
              <a:ext cx="4215" cy="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5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7" y="3072"/>
              <a:ext cx="1025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6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6" y="2640"/>
              <a:ext cx="1088" cy="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4" name="Rectangle 10"/>
            <p:cNvSpPr>
              <a:spLocks noChangeArrowheads="1"/>
            </p:cNvSpPr>
            <p:nvPr/>
          </p:nvSpPr>
          <p:spPr bwMode="auto">
            <a:xfrm>
              <a:off x="816" y="2946"/>
              <a:ext cx="9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At the surface:</a:t>
              </a:r>
              <a:endPara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Rectangle 13"/>
            <p:cNvSpPr>
              <a:spLocks noChangeArrowheads="1"/>
            </p:cNvSpPr>
            <p:nvPr/>
          </p:nvSpPr>
          <p:spPr bwMode="auto">
            <a:xfrm>
              <a:off x="3120" y="2709"/>
              <a:ext cx="115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Tangential 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is zero</a:t>
              </a:r>
              <a:endPara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14"/>
            <p:cNvSpPr>
              <a:spLocks noChangeArrowheads="1"/>
            </p:cNvSpPr>
            <p:nvPr/>
          </p:nvSpPr>
          <p:spPr bwMode="auto">
            <a:xfrm>
              <a:off x="3164" y="3126"/>
              <a:ext cx="258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 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is equal to the surface charge density</a:t>
              </a:r>
              <a:endPara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666220"/>
            <a:ext cx="7353300" cy="1256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666220"/>
            <a:ext cx="7353300" cy="1256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3048000"/>
            <a:ext cx="5743575" cy="730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810000"/>
            <a:ext cx="7405711" cy="227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/>
        </p:nvCxnSpPr>
        <p:spPr>
          <a:xfrm>
            <a:off x="733425" y="2895600"/>
            <a:ext cx="7724775" cy="0"/>
          </a:xfrm>
          <a:prstGeom prst="line">
            <a:avLst/>
          </a:prstGeom>
          <a:ln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57" y="2940513"/>
            <a:ext cx="5319443" cy="132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91000"/>
            <a:ext cx="6324600" cy="2263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666220"/>
            <a:ext cx="7353300" cy="1256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直接连接符 10"/>
          <p:cNvCxnSpPr/>
          <p:nvPr/>
        </p:nvCxnSpPr>
        <p:spPr>
          <a:xfrm>
            <a:off x="733425" y="2895600"/>
            <a:ext cx="7724775" cy="0"/>
          </a:xfrm>
          <a:prstGeom prst="line">
            <a:avLst/>
          </a:prstGeom>
          <a:ln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008086"/>
            <a:ext cx="2971800" cy="3773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9: Conductors &amp; Dielectrics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666220"/>
            <a:ext cx="7353300" cy="1256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直接连接符 10"/>
          <p:cNvCxnSpPr/>
          <p:nvPr/>
        </p:nvCxnSpPr>
        <p:spPr>
          <a:xfrm>
            <a:off x="733425" y="2895600"/>
            <a:ext cx="7724775" cy="0"/>
          </a:xfrm>
          <a:prstGeom prst="line">
            <a:avLst/>
          </a:prstGeom>
          <a:ln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65" y="2971800"/>
            <a:ext cx="5774935" cy="310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82416"/>
            <a:ext cx="4539692" cy="832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216715"/>
            <a:ext cx="533400" cy="21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161559"/>
            <a:ext cx="13335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4716525"/>
            <a:ext cx="1485900" cy="350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047751"/>
            <a:ext cx="877019" cy="28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066975"/>
            <a:ext cx="861159" cy="26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410200"/>
            <a:ext cx="3505200" cy="307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8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262" y="5791202"/>
            <a:ext cx="2352675" cy="212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9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2" y="6181725"/>
            <a:ext cx="875447" cy="241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315" y="6174208"/>
            <a:ext cx="533400" cy="21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208f680b-25ad-4da8-8753-6ccd1308948c"/>
  <p:tag name="COMMONDATA" val="eyJoZGlkIjoiODI0ZjJiMmIyODM0NTc5MzEyN2IzOWYzNjgwNDFiN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5662</Words>
  <Application>WPS 演示</Application>
  <PresentationFormat>On-screen Show (4:3)</PresentationFormat>
  <Paragraphs>390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Times New Roman</vt:lpstr>
      <vt:lpstr>华文行楷</vt:lpstr>
      <vt:lpstr>Symbol</vt:lpstr>
      <vt:lpstr>MS PGothic</vt:lpstr>
      <vt:lpstr>微软雅黑</vt:lpstr>
      <vt:lpstr>Arial Unicode MS</vt:lpstr>
      <vt:lpstr>Calibri</vt:lpstr>
      <vt:lpstr>默认设计模板</vt:lpstr>
      <vt:lpstr>Engineering Electromagnetics 工程电磁场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  <vt:lpstr>9: Conductors &amp; Dielectrics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dpcuser</dc:creator>
  <cp:lastModifiedBy>林碧容</cp:lastModifiedBy>
  <cp:revision>463</cp:revision>
  <cp:lastPrinted>2014-03-03T09:16:00Z</cp:lastPrinted>
  <dcterms:created xsi:type="dcterms:W3CDTF">2113-01-01T00:00:00Z</dcterms:created>
  <dcterms:modified xsi:type="dcterms:W3CDTF">2024-10-29T08:40:53Z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D2954149563F43AEA7C950934FE57955</vt:lpwstr>
  </property>
  <property fmtid="{D5CDD505-2E9C-101B-9397-08002B2CF9AE}" pid="4" name="KSOProductBuildVer">
    <vt:lpwstr>2052-11.1.0.12165</vt:lpwstr>
  </property>
</Properties>
</file>