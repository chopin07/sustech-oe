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39"/>
  </p:handoutMasterIdLst>
  <p:sldIdLst>
    <p:sldId id="256" r:id="rId3"/>
    <p:sldId id="391" r:id="rId4"/>
    <p:sldId id="520" r:id="rId6"/>
    <p:sldId id="521" r:id="rId7"/>
    <p:sldId id="522" r:id="rId8"/>
    <p:sldId id="523" r:id="rId9"/>
    <p:sldId id="524" r:id="rId10"/>
    <p:sldId id="525" r:id="rId11"/>
    <p:sldId id="526" r:id="rId12"/>
    <p:sldId id="527" r:id="rId13"/>
    <p:sldId id="528" r:id="rId14"/>
    <p:sldId id="529" r:id="rId15"/>
    <p:sldId id="530" r:id="rId16"/>
    <p:sldId id="531" r:id="rId17"/>
    <p:sldId id="532" r:id="rId18"/>
    <p:sldId id="533" r:id="rId19"/>
    <p:sldId id="534" r:id="rId20"/>
    <p:sldId id="535" r:id="rId21"/>
    <p:sldId id="536" r:id="rId22"/>
    <p:sldId id="537" r:id="rId23"/>
    <p:sldId id="538" r:id="rId24"/>
    <p:sldId id="539" r:id="rId25"/>
    <p:sldId id="540" r:id="rId26"/>
    <p:sldId id="541" r:id="rId27"/>
    <p:sldId id="542" r:id="rId28"/>
    <p:sldId id="543" r:id="rId29"/>
    <p:sldId id="544" r:id="rId30"/>
    <p:sldId id="545" r:id="rId31"/>
    <p:sldId id="546" r:id="rId32"/>
    <p:sldId id="548" r:id="rId33"/>
    <p:sldId id="547" r:id="rId34"/>
    <p:sldId id="549" r:id="rId35"/>
    <p:sldId id="550" r:id="rId36"/>
    <p:sldId id="551" r:id="rId37"/>
    <p:sldId id="552" r:id="rId38"/>
  </p:sldIdLst>
  <p:sldSz cx="9144000" cy="6858000" type="screen4x3"/>
  <p:notesSz cx="9926320" cy="6797675"/>
  <p:custDataLst>
    <p:tags r:id="rId4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shengyi" initials="x" lastIdx="1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6600"/>
    <a:srgbClr val="333399"/>
    <a:srgbClr val="9900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6" autoAdjust="0"/>
    <p:restoredTop sz="94660"/>
  </p:normalViewPr>
  <p:slideViewPr>
    <p:cSldViewPr>
      <p:cViewPr varScale="1">
        <p:scale>
          <a:sx n="115" d="100"/>
          <a:sy n="115" d="100"/>
        </p:scale>
        <p:origin x="955" y="82"/>
      </p:cViewPr>
      <p:guideLst>
        <p:guide orient="horz" pos="2160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4" Type="http://schemas.openxmlformats.org/officeDocument/2006/relationships/tags" Target="tags/tag1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0T17:03:10.494" idx="1">
    <p:pos x="4854" y="3456"/>
    <p:text>重要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0T17:38:55.774" idx="4">
    <p:pos x="3303" y="1446"/>
    <p:text>非常重要的概念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0T17:34:47.871" idx="2">
    <p:pos x="1797" y="2939"/>
    <p:text>非常重要</p:text>
  </p:cm>
  <p:cm authorId="1" dt="2024-12-10T17:41:23.888" idx="3">
    <p:pos x="1675" y="3680"/>
    <p:text>这个方向非常重要，右手四指为绕行方向，大拇指就是dS方向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0T17:39:34.532" idx="5">
    <p:pos x="2140" y="2461"/>
    <p:text>非常重要的公式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0T20:42:02.892" idx="12">
    <p:pos x="3456" y="2237"/>
    <p:text>前提是B要uniform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0T17:46:45.906" idx="7">
    <p:pos x="4196" y="1694"/>
    <p:text>I*dS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6:49:21.092" idx="15">
    <p:pos x="4758" y="686"/>
    <p:text>受外界磁场强度影响，响应出相反的微弱磁场强度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6:48:43.260" idx="14">
    <p:pos x="4451" y="584"/>
    <p:text>无磁畴，磁偶极子都是随机取向的，受外界磁场强度影响响应出一定的微弱磁性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7T16:49:39.570" idx="13">
    <p:pos x="4579" y="654"/>
    <p:text>具有磁畴（磁偶极子有区域与区域之间的划分），取向有较强的一致性，因此表现出较强响应磁场强度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0T20:24:22.588" idx="11">
    <p:pos x="2084" y="1529"/>
    <p:text>重要，注意与电场中p=Qd的对照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0T20:23:57.353" idx="8">
    <p:pos x="2862" y="3443"/>
    <p:text>注意与电场中的极化率P的对称性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12-10T20:21:45.042" idx="9">
    <p:pos x="2167" y="1669"/>
    <p:text>注意：这里M与P不对称：P=ε0*Xe*E
而M=Xm*H</p:text>
  </p:cm>
  <p:cm authorId="1" dt="2024-12-10T20:22:31.011" idx="10">
    <p:pos x="2081" y="1063"/>
    <p:text>注意：B=μ0*（H+M）
而D=ε0*E+P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2581" y="0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>
              <a:defRPr sz="1200"/>
            </a:lvl1pPr>
          </a:lstStyle>
          <a:p>
            <a:fld id="{686A4324-7C28-4329-B2F1-5FD4B6C256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2581" y="6457106"/>
            <a:ext cx="4301839" cy="339515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r">
              <a:defRPr sz="1200"/>
            </a:lvl1pPr>
          </a:lstStyle>
          <a:p>
            <a:fld id="{FA732558-7D0B-4745-B877-2B020FA1E1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/>
          <a:lstStyle>
            <a:lvl1pPr algn="r">
              <a:defRPr sz="1300"/>
            </a:lvl1pPr>
          </a:lstStyle>
          <a:p>
            <a:pPr>
              <a:defRPr/>
            </a:pPr>
            <a:fld id="{CFCE66B6-4CF2-4562-A36E-FD57958B22D0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11175"/>
            <a:ext cx="3398838" cy="25479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2" tIns="47781" rIns="95562" bIns="47781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5562" tIns="47781" rIns="95562" bIns="47781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2799" y="6456612"/>
            <a:ext cx="4301542" cy="339884"/>
          </a:xfrm>
          <a:prstGeom prst="rect">
            <a:avLst/>
          </a:prstGeom>
        </p:spPr>
        <p:txBody>
          <a:bodyPr vert="horz" lIns="95562" tIns="47781" rIns="95562" bIns="47781" rtlCol="0" anchor="b"/>
          <a:lstStyle>
            <a:lvl1pPr algn="r">
              <a:defRPr sz="1300"/>
            </a:lvl1pPr>
          </a:lstStyle>
          <a:p>
            <a:pPr>
              <a:defRPr/>
            </a:pPr>
            <a:fld id="{BEA14968-9F28-4550-9E62-5AFEB150A692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14968-9F28-4550-9E62-5AFEB150A69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8A915F-EF48-4E12-9322-014AC14B82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6757F-36B6-4B03-A23B-51A791095A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22D1AA-81AF-4136-B6B7-4DF8B2353D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13869A-52EA-439A-85B4-5B99DA02ADD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549B5-7C33-4401-8DCA-0C1C099D071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D6E32-8AFF-48B0-BFAA-79EFD98B79A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9729E0-9F39-4321-BCC4-0E383C41923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98902-1749-4578-ADD1-C8D6FC14DD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96899-CE8E-4251-8463-AEEF76D0B85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FEBD7C-0FB7-467E-B4C1-280AB41F763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7B3FA2-80A2-486F-B8BD-C573184B8A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67C57CB3-D73C-4ACB-B9FF-2C58343599B0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comments" Target="../comments/comment1.xml"/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2.xml"/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3.png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3" Type="http://schemas.openxmlformats.org/officeDocument/2006/relationships/image" Target="../media/image28.png"/><Relationship Id="rId2" Type="http://schemas.openxmlformats.org/officeDocument/2006/relationships/image" Target="../media/image29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8.png"/><Relationship Id="rId7" Type="http://schemas.openxmlformats.org/officeDocument/2006/relationships/image" Target="../media/image37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0.png"/><Relationship Id="rId3" Type="http://schemas.openxmlformats.org/officeDocument/2006/relationships/image" Target="../media/image28.png"/><Relationship Id="rId2" Type="http://schemas.openxmlformats.org/officeDocument/2006/relationships/image" Target="../media/image34.png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46.png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png"/><Relationship Id="rId8" Type="http://schemas.openxmlformats.org/officeDocument/2006/relationships/image" Target="../media/image48.png"/><Relationship Id="rId7" Type="http://schemas.openxmlformats.org/officeDocument/2006/relationships/image" Target="../media/image47.png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0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4.png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64.png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3" Type="http://schemas.openxmlformats.org/officeDocument/2006/relationships/image" Target="../media/image60.png"/><Relationship Id="rId2" Type="http://schemas.openxmlformats.org/officeDocument/2006/relationships/image" Target="../media/image54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6.png"/><Relationship Id="rId3" Type="http://schemas.openxmlformats.org/officeDocument/2006/relationships/image" Target="../media/image4.png"/><Relationship Id="rId2" Type="http://schemas.openxmlformats.org/officeDocument/2006/relationships/image" Target="../media/image65.png"/><Relationship Id="rId11" Type="http://schemas.openxmlformats.org/officeDocument/2006/relationships/comments" Target="../comments/comment3.xml"/><Relationship Id="rId10" Type="http://schemas.openxmlformats.org/officeDocument/2006/relationships/notesSlide" Target="../notesSlides/notesSlide20.xml"/><Relationship Id="rId1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66.png"/><Relationship Id="rId2" Type="http://schemas.openxmlformats.org/officeDocument/2006/relationships/image" Target="../media/image4.png"/><Relationship Id="rId10" Type="http://schemas.openxmlformats.org/officeDocument/2006/relationships/comments" Target="../comments/comment4.xml"/><Relationship Id="rId1" Type="http://schemas.openxmlformats.org/officeDocument/2006/relationships/image" Target="../media/image69.png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5.xml"/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6.xml"/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1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7.xml"/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comments" Target="../comments/comment8.xml"/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1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comments" Target="../comments/comment9.xml"/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1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10.xml"/><Relationship Id="rId7" Type="http://schemas.openxmlformats.org/officeDocument/2006/relationships/notesSlide" Target="../notesSlides/notesSlide3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comments" Target="../comments/comment11.xml"/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8.png"/><Relationship Id="rId3" Type="http://schemas.openxmlformats.org/officeDocument/2006/relationships/image" Target="../media/image86.png"/><Relationship Id="rId2" Type="http://schemas.openxmlformats.org/officeDocument/2006/relationships/image" Target="../media/image87.png"/><Relationship Id="rId1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image" Target="../media/image95.png"/><Relationship Id="rId7" Type="http://schemas.openxmlformats.org/officeDocument/2006/relationships/image" Target="../media/image94.png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4" Type="http://schemas.openxmlformats.org/officeDocument/2006/relationships/comments" Target="../comments/comment12.xml"/><Relationship Id="rId13" Type="http://schemas.openxmlformats.org/officeDocument/2006/relationships/notesSlide" Target="../notesSlides/notesSlide34.xml"/><Relationship Id="rId12" Type="http://schemas.openxmlformats.org/officeDocument/2006/relationships/slideLayout" Target="../slideLayouts/slideLayout2.xml"/><Relationship Id="rId11" Type="http://schemas.openxmlformats.org/officeDocument/2006/relationships/image" Target="../media/image98.jpeg"/><Relationship Id="rId10" Type="http://schemas.openxmlformats.org/officeDocument/2006/relationships/image" Target="../media/image97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828800"/>
            <a:ext cx="8534400" cy="1981200"/>
          </a:xfrm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Electromagnetics</a:t>
            </a:r>
            <a:br>
              <a:rPr lang="en-US" altLang="zh-CN" sz="480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00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工程电磁场</a:t>
            </a:r>
            <a:endParaRPr lang="zh-CN" altLang="en-US" sz="400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2133600"/>
          </a:xfrm>
        </p:spPr>
        <p:txBody>
          <a:bodyPr/>
          <a:lstStyle/>
          <a:p>
            <a:pPr eaLnBrk="1" hangingPunct="1"/>
            <a:endParaRPr lang="zh-CN" altLang="en-US" sz="36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CN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Youwei Jia </a:t>
            </a: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嘉有为</a:t>
            </a:r>
            <a:endParaRPr lang="en-US" altLang="zh-CN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52" name="Gerade Verbindung 11"/>
          <p:cNvCxnSpPr>
            <a:cxnSpLocks noChangeShapeType="1"/>
          </p:cNvCxnSpPr>
          <p:nvPr/>
        </p:nvCxnSpPr>
        <p:spPr bwMode="auto">
          <a:xfrm>
            <a:off x="85725" y="1371600"/>
            <a:ext cx="7305675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053" name="Picture 9" descr="13829064795036"/>
          <p:cNvPicPr>
            <a:picLocks noChangeAspect="1" noChangeArrowheads="1"/>
          </p:cNvPicPr>
          <p:nvPr/>
        </p:nvPicPr>
        <p:blipFill>
          <a:blip r:embed="rId1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12713"/>
            <a:ext cx="2609850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0" descr="13829064803086"/>
          <p:cNvPicPr>
            <a:picLocks noChangeAspect="1" noChangeArrowheads="1"/>
          </p:cNvPicPr>
          <p:nvPr/>
        </p:nvPicPr>
        <p:blipFill>
          <a:blip r:embed="rId2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112713"/>
            <a:ext cx="2754312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11" descr="13829064833397"/>
          <p:cNvPicPr>
            <a:picLocks noChangeAspect="1" noChangeArrowheads="1"/>
          </p:cNvPicPr>
          <p:nvPr/>
        </p:nvPicPr>
        <p:blipFill>
          <a:blip r:embed="rId3">
            <a:lum brigh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375" y="112713"/>
            <a:ext cx="1839913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56" name="Gerade Verbindung 11"/>
          <p:cNvCxnSpPr>
            <a:cxnSpLocks noChangeShapeType="1"/>
          </p:cNvCxnSpPr>
          <p:nvPr/>
        </p:nvCxnSpPr>
        <p:spPr bwMode="auto">
          <a:xfrm>
            <a:off x="609600" y="3657600"/>
            <a:ext cx="7916863" cy="0"/>
          </a:xfrm>
          <a:prstGeom prst="line">
            <a:avLst/>
          </a:prstGeom>
          <a:noFill/>
          <a:ln w="19050" algn="ctr">
            <a:solidFill>
              <a:srgbClr val="0000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Force on a Moving Charge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914400" y="1859756"/>
            <a:ext cx="6842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forces exerted on a point charge by electric and magnetic fields are: </a:t>
            </a:r>
            <a:endParaRPr lang="en-US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1600200" y="2447925"/>
            <a:ext cx="2601913" cy="3495675"/>
            <a:chOff x="1524000" y="2449513"/>
            <a:chExt cx="2601913" cy="3495675"/>
          </a:xfrm>
        </p:grpSpPr>
        <p:grpSp>
          <p:nvGrpSpPr>
            <p:cNvPr id="25" name="Group 16"/>
            <p:cNvGrpSpPr/>
            <p:nvPr/>
          </p:nvGrpSpPr>
          <p:grpSpPr bwMode="auto">
            <a:xfrm rot="16200000">
              <a:off x="1905000" y="2827338"/>
              <a:ext cx="1371600" cy="2133600"/>
              <a:chOff x="768" y="2352"/>
              <a:chExt cx="864" cy="1344"/>
            </a:xfrm>
          </p:grpSpPr>
          <p:sp>
            <p:nvSpPr>
              <p:cNvPr id="61" name="Line 9"/>
              <p:cNvSpPr>
                <a:spLocks noChangeShapeType="1"/>
              </p:cNvSpPr>
              <p:nvPr/>
            </p:nvSpPr>
            <p:spPr bwMode="auto">
              <a:xfrm>
                <a:off x="768" y="235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Line 10"/>
              <p:cNvSpPr>
                <a:spLocks noChangeShapeType="1"/>
              </p:cNvSpPr>
              <p:nvPr/>
            </p:nvSpPr>
            <p:spPr bwMode="auto">
              <a:xfrm>
                <a:off x="912" y="235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Line 11"/>
              <p:cNvSpPr>
                <a:spLocks noChangeShapeType="1"/>
              </p:cNvSpPr>
              <p:nvPr/>
            </p:nvSpPr>
            <p:spPr bwMode="auto">
              <a:xfrm>
                <a:off x="1056" y="235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4" name="Line 12"/>
              <p:cNvSpPr>
                <a:spLocks noChangeShapeType="1"/>
              </p:cNvSpPr>
              <p:nvPr/>
            </p:nvSpPr>
            <p:spPr bwMode="auto">
              <a:xfrm>
                <a:off x="1200" y="235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5" name="Line 13"/>
              <p:cNvSpPr>
                <a:spLocks noChangeShapeType="1"/>
              </p:cNvSpPr>
              <p:nvPr/>
            </p:nvSpPr>
            <p:spPr bwMode="auto">
              <a:xfrm>
                <a:off x="1344" y="235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Line 14"/>
              <p:cNvSpPr>
                <a:spLocks noChangeShapeType="1"/>
              </p:cNvSpPr>
              <p:nvPr/>
            </p:nvSpPr>
            <p:spPr bwMode="auto">
              <a:xfrm>
                <a:off x="1488" y="235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15"/>
              <p:cNvSpPr>
                <a:spLocks noChangeShapeType="1"/>
              </p:cNvSpPr>
              <p:nvPr/>
            </p:nvSpPr>
            <p:spPr bwMode="auto">
              <a:xfrm>
                <a:off x="1632" y="235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2438400" y="4651375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E</a:t>
              </a:r>
              <a:endParaRPr lang="en-US" altLang="zh-CN" b="1"/>
            </a:p>
          </p:txBody>
        </p:sp>
        <p:grpSp>
          <p:nvGrpSpPr>
            <p:cNvPr id="27" name="Group 20"/>
            <p:cNvGrpSpPr/>
            <p:nvPr/>
          </p:nvGrpSpPr>
          <p:grpSpPr bwMode="auto">
            <a:xfrm>
              <a:off x="2366963" y="3381375"/>
              <a:ext cx="315913" cy="369888"/>
              <a:chOff x="480" y="2008"/>
              <a:chExt cx="199" cy="233"/>
            </a:xfrm>
          </p:grpSpPr>
          <p:sp>
            <p:nvSpPr>
              <p:cNvPr id="59" name="Oval 18"/>
              <p:cNvSpPr>
                <a:spLocks noChangeArrowheads="1"/>
              </p:cNvSpPr>
              <p:nvPr/>
            </p:nvSpPr>
            <p:spPr bwMode="auto">
              <a:xfrm>
                <a:off x="528" y="206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60" name="Rectangle 19"/>
              <p:cNvSpPr>
                <a:spLocks noChangeArrowheads="1"/>
              </p:cNvSpPr>
              <p:nvPr/>
            </p:nvSpPr>
            <p:spPr bwMode="auto">
              <a:xfrm>
                <a:off x="480" y="2008"/>
                <a:ext cx="19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b="1"/>
                  <a:t>+</a:t>
                </a:r>
                <a:endParaRPr lang="en-US" altLang="zh-CN" b="1"/>
              </a:p>
            </p:txBody>
          </p:sp>
        </p:grp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2667000" y="3556000"/>
              <a:ext cx="1092200" cy="3175"/>
            </a:xfrm>
            <a:prstGeom prst="line">
              <a:avLst/>
            </a:prstGeom>
            <a:noFill/>
            <a:ln w="28575">
              <a:solidFill>
                <a:srgbClr val="FF1485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Rectangle 25"/>
            <p:cNvSpPr>
              <a:spLocks noChangeArrowheads="1"/>
            </p:cNvSpPr>
            <p:nvPr/>
          </p:nvSpPr>
          <p:spPr bwMode="auto">
            <a:xfrm>
              <a:off x="2197100" y="3379788"/>
              <a:ext cx="3508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i="1"/>
                <a:t>Q</a:t>
              </a:r>
              <a:endParaRPr lang="en-US" altLang="zh-CN" i="1"/>
            </a:p>
          </p:txBody>
        </p:sp>
        <p:sp>
          <p:nvSpPr>
            <p:cNvPr id="31" name="Rectangle 26"/>
            <p:cNvSpPr>
              <a:spLocks noChangeArrowheads="1"/>
            </p:cNvSpPr>
            <p:nvPr/>
          </p:nvSpPr>
          <p:spPr bwMode="auto">
            <a:xfrm>
              <a:off x="2057400" y="5113338"/>
              <a:ext cx="9525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F</a:t>
              </a:r>
              <a:r>
                <a:rPr lang="en-US" altLang="zh-CN" i="1" baseline="-25000"/>
                <a:t>e</a:t>
              </a:r>
              <a:r>
                <a:rPr lang="en-US" altLang="zh-CN"/>
                <a:t> = </a:t>
              </a:r>
              <a:r>
                <a:rPr lang="en-US" altLang="zh-CN" i="1"/>
                <a:t>Q</a:t>
              </a:r>
              <a:r>
                <a:rPr lang="en-US" altLang="zh-CN" b="1"/>
                <a:t>E</a:t>
              </a:r>
              <a:endParaRPr lang="en-US" altLang="zh-CN" b="1"/>
            </a:p>
          </p:txBody>
        </p:sp>
        <p:sp>
          <p:nvSpPr>
            <p:cNvPr id="39" name="Rectangle 43"/>
            <p:cNvSpPr>
              <a:spLocks noChangeArrowheads="1"/>
            </p:cNvSpPr>
            <p:nvPr/>
          </p:nvSpPr>
          <p:spPr bwMode="auto">
            <a:xfrm>
              <a:off x="3733800" y="3375025"/>
              <a:ext cx="3921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F</a:t>
              </a:r>
              <a:r>
                <a:rPr lang="en-US" altLang="zh-CN" i="1" baseline="-25000"/>
                <a:t>e</a:t>
              </a:r>
              <a:endParaRPr lang="en-US" altLang="zh-CN" b="1"/>
            </a:p>
          </p:txBody>
        </p:sp>
        <p:sp>
          <p:nvSpPr>
            <p:cNvPr id="41" name="Rectangle 45"/>
            <p:cNvSpPr>
              <a:spLocks noChangeArrowheads="1"/>
            </p:cNvSpPr>
            <p:nvPr/>
          </p:nvSpPr>
          <p:spPr bwMode="auto">
            <a:xfrm>
              <a:off x="1684338" y="5575300"/>
              <a:ext cx="20447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/>
                <a:t>in the direction of </a:t>
              </a:r>
              <a:r>
                <a:rPr lang="en-US" altLang="zh-CN" b="1"/>
                <a:t>E</a:t>
              </a:r>
              <a:endParaRPr lang="en-US" altLang="zh-CN"/>
            </a:p>
          </p:txBody>
        </p:sp>
        <p:sp>
          <p:nvSpPr>
            <p:cNvPr id="44" name="Rectangle 47"/>
            <p:cNvSpPr>
              <a:spLocks noChangeArrowheads="1"/>
            </p:cNvSpPr>
            <p:nvPr/>
          </p:nvSpPr>
          <p:spPr bwMode="auto">
            <a:xfrm>
              <a:off x="1524000" y="2449513"/>
              <a:ext cx="2476500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/>
                <a:t>charge can be stationary </a:t>
              </a:r>
              <a:endParaRPr lang="en-US" altLang="zh-CN"/>
            </a:p>
            <a:p>
              <a:r>
                <a:rPr lang="en-US" altLang="zh-CN"/>
                <a:t>or moving</a:t>
              </a:r>
              <a:endParaRPr lang="en-US" altLang="zh-CN"/>
            </a:p>
          </p:txBody>
        </p:sp>
        <p:sp>
          <p:nvSpPr>
            <p:cNvPr id="46" name="Rectangle 50"/>
            <p:cNvSpPr>
              <a:spLocks noChangeArrowheads="1"/>
            </p:cNvSpPr>
            <p:nvPr/>
          </p:nvSpPr>
          <p:spPr bwMode="auto">
            <a:xfrm>
              <a:off x="1981200" y="5105400"/>
              <a:ext cx="1066800" cy="381000"/>
            </a:xfrm>
            <a:prstGeom prst="rect">
              <a:avLst/>
            </a:prstGeom>
            <a:noFill/>
            <a:ln w="9525">
              <a:solidFill>
                <a:srgbClr val="FF1485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334000" y="2458244"/>
            <a:ext cx="2133600" cy="3502026"/>
            <a:chOff x="5105400" y="2438400"/>
            <a:chExt cx="2133600" cy="3502026"/>
          </a:xfrm>
        </p:grpSpPr>
        <p:grpSp>
          <p:nvGrpSpPr>
            <p:cNvPr id="28" name="Group 21"/>
            <p:cNvGrpSpPr/>
            <p:nvPr/>
          </p:nvGrpSpPr>
          <p:grpSpPr bwMode="auto">
            <a:xfrm>
              <a:off x="5795963" y="4090988"/>
              <a:ext cx="315913" cy="369888"/>
              <a:chOff x="480" y="2008"/>
              <a:chExt cx="199" cy="233"/>
            </a:xfrm>
          </p:grpSpPr>
          <p:sp>
            <p:nvSpPr>
              <p:cNvPr id="57" name="Oval 22"/>
              <p:cNvSpPr>
                <a:spLocks noChangeArrowheads="1"/>
              </p:cNvSpPr>
              <p:nvPr/>
            </p:nvSpPr>
            <p:spPr bwMode="auto">
              <a:xfrm>
                <a:off x="528" y="206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58" name="Rectangle 23"/>
              <p:cNvSpPr>
                <a:spLocks noChangeArrowheads="1"/>
              </p:cNvSpPr>
              <p:nvPr/>
            </p:nvSpPr>
            <p:spPr bwMode="auto">
              <a:xfrm>
                <a:off x="480" y="2008"/>
                <a:ext cx="19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b="1"/>
                  <a:t>+</a:t>
                </a:r>
                <a:endParaRPr lang="en-US" altLang="zh-CN" b="1"/>
              </a:p>
            </p:txBody>
          </p:sp>
        </p:grpSp>
        <p:grpSp>
          <p:nvGrpSpPr>
            <p:cNvPr id="32" name="Group 27"/>
            <p:cNvGrpSpPr/>
            <p:nvPr/>
          </p:nvGrpSpPr>
          <p:grpSpPr bwMode="auto">
            <a:xfrm rot="16200000">
              <a:off x="5486400" y="2827338"/>
              <a:ext cx="1371600" cy="2133600"/>
              <a:chOff x="768" y="2352"/>
              <a:chExt cx="864" cy="1344"/>
            </a:xfrm>
          </p:grpSpPr>
          <p:sp>
            <p:nvSpPr>
              <p:cNvPr id="50" name="Line 28"/>
              <p:cNvSpPr>
                <a:spLocks noChangeShapeType="1"/>
              </p:cNvSpPr>
              <p:nvPr/>
            </p:nvSpPr>
            <p:spPr bwMode="auto">
              <a:xfrm>
                <a:off x="768" y="235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Line 29"/>
              <p:cNvSpPr>
                <a:spLocks noChangeShapeType="1"/>
              </p:cNvSpPr>
              <p:nvPr/>
            </p:nvSpPr>
            <p:spPr bwMode="auto">
              <a:xfrm>
                <a:off x="912" y="235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2" name="Line 30"/>
              <p:cNvSpPr>
                <a:spLocks noChangeShapeType="1"/>
              </p:cNvSpPr>
              <p:nvPr/>
            </p:nvSpPr>
            <p:spPr bwMode="auto">
              <a:xfrm>
                <a:off x="1056" y="235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3" name="Line 31"/>
              <p:cNvSpPr>
                <a:spLocks noChangeShapeType="1"/>
              </p:cNvSpPr>
              <p:nvPr/>
            </p:nvSpPr>
            <p:spPr bwMode="auto">
              <a:xfrm>
                <a:off x="1200" y="235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Line 32"/>
              <p:cNvSpPr>
                <a:spLocks noChangeShapeType="1"/>
              </p:cNvSpPr>
              <p:nvPr/>
            </p:nvSpPr>
            <p:spPr bwMode="auto">
              <a:xfrm>
                <a:off x="1344" y="235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Line 33"/>
              <p:cNvSpPr>
                <a:spLocks noChangeShapeType="1"/>
              </p:cNvSpPr>
              <p:nvPr/>
            </p:nvSpPr>
            <p:spPr bwMode="auto">
              <a:xfrm>
                <a:off x="1488" y="235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Line 34"/>
              <p:cNvSpPr>
                <a:spLocks noChangeShapeType="1"/>
              </p:cNvSpPr>
              <p:nvPr/>
            </p:nvSpPr>
            <p:spPr bwMode="auto">
              <a:xfrm>
                <a:off x="1632" y="235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3" name="Rectangle 35"/>
            <p:cNvSpPr>
              <a:spLocks noChangeArrowheads="1"/>
            </p:cNvSpPr>
            <p:nvPr/>
          </p:nvSpPr>
          <p:spPr bwMode="auto">
            <a:xfrm>
              <a:off x="5988050" y="4651375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B</a:t>
              </a:r>
              <a:endParaRPr lang="en-US" altLang="zh-CN" b="1"/>
            </a:p>
          </p:txBody>
        </p:sp>
        <p:sp>
          <p:nvSpPr>
            <p:cNvPr id="34" name="Line 36"/>
            <p:cNvSpPr>
              <a:spLocks noChangeShapeType="1"/>
            </p:cNvSpPr>
            <p:nvPr/>
          </p:nvSpPr>
          <p:spPr bwMode="auto">
            <a:xfrm flipV="1">
              <a:off x="5943600" y="3055938"/>
              <a:ext cx="0" cy="1066800"/>
            </a:xfrm>
            <a:prstGeom prst="line">
              <a:avLst/>
            </a:prstGeom>
            <a:noFill/>
            <a:ln w="19050">
              <a:solidFill>
                <a:srgbClr val="5607FF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Rectangle 37"/>
            <p:cNvSpPr>
              <a:spLocks noChangeArrowheads="1"/>
            </p:cNvSpPr>
            <p:nvPr/>
          </p:nvSpPr>
          <p:spPr bwMode="auto">
            <a:xfrm>
              <a:off x="5927725" y="3581400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v</a:t>
              </a:r>
              <a:endParaRPr lang="en-US" altLang="zh-CN" b="1"/>
            </a:p>
          </p:txBody>
        </p:sp>
        <p:sp>
          <p:nvSpPr>
            <p:cNvPr id="36" name="Rectangle 38"/>
            <p:cNvSpPr>
              <a:spLocks noChangeArrowheads="1"/>
            </p:cNvSpPr>
            <p:nvPr/>
          </p:nvSpPr>
          <p:spPr bwMode="auto">
            <a:xfrm>
              <a:off x="5583238" y="4084638"/>
              <a:ext cx="3508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i="1"/>
                <a:t>Q</a:t>
              </a:r>
              <a:endParaRPr lang="en-US" altLang="zh-CN" i="1"/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5549107" y="3355286"/>
              <a:ext cx="338138" cy="369888"/>
              <a:chOff x="7739062" y="3440112"/>
              <a:chExt cx="338138" cy="369888"/>
            </a:xfrm>
          </p:grpSpPr>
          <p:sp>
            <p:nvSpPr>
              <p:cNvPr id="48" name="Oval 39"/>
              <p:cNvSpPr>
                <a:spLocks noChangeArrowheads="1"/>
              </p:cNvSpPr>
              <p:nvPr/>
            </p:nvSpPr>
            <p:spPr bwMode="auto">
              <a:xfrm>
                <a:off x="7788218" y="3496574"/>
                <a:ext cx="228600" cy="228600"/>
              </a:xfrm>
              <a:prstGeom prst="ellipse">
                <a:avLst/>
              </a:prstGeom>
              <a:noFill/>
              <a:ln w="9525">
                <a:solidFill>
                  <a:srgbClr val="000099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>
                  <a:solidFill>
                    <a:srgbClr val="000099"/>
                  </a:solidFill>
                </a:endParaRPr>
              </a:p>
            </p:txBody>
          </p:sp>
          <p:sp>
            <p:nvSpPr>
              <p:cNvPr id="49" name="Rectangle 40"/>
              <p:cNvSpPr>
                <a:spLocks noChangeArrowheads="1"/>
              </p:cNvSpPr>
              <p:nvPr/>
            </p:nvSpPr>
            <p:spPr bwMode="auto">
              <a:xfrm>
                <a:off x="7739062" y="3440112"/>
                <a:ext cx="338138" cy="369888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>
                    <a:solidFill>
                      <a:srgbClr val="000099"/>
                    </a:solidFill>
                    <a:latin typeface="Arial" panose="020B0604020202020204" pitchFamily="34" charset="0"/>
                  </a:rPr>
                  <a:t>X</a:t>
                </a:r>
                <a:endParaRPr lang="en-US" altLang="zh-CN">
                  <a:solidFill>
                    <a:srgbClr val="000099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8" name="Rectangle 42"/>
            <p:cNvSpPr>
              <a:spLocks noChangeArrowheads="1"/>
            </p:cNvSpPr>
            <p:nvPr/>
          </p:nvSpPr>
          <p:spPr bwMode="auto">
            <a:xfrm>
              <a:off x="5181600" y="3276600"/>
              <a:ext cx="43656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F</a:t>
              </a:r>
              <a:r>
                <a:rPr lang="en-US" altLang="zh-CN" i="1" baseline="-25000"/>
                <a:t>m</a:t>
              </a:r>
              <a:endParaRPr lang="en-US" altLang="zh-CN" b="1"/>
            </a:p>
          </p:txBody>
        </p:sp>
        <p:sp>
          <p:nvSpPr>
            <p:cNvPr id="40" name="Rectangle 44"/>
            <p:cNvSpPr>
              <a:spLocks noChangeArrowheads="1"/>
            </p:cNvSpPr>
            <p:nvPr/>
          </p:nvSpPr>
          <p:spPr bwMode="auto">
            <a:xfrm>
              <a:off x="5324475" y="5127625"/>
              <a:ext cx="153352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 dirty="0" err="1"/>
                <a:t>F</a:t>
              </a:r>
              <a:r>
                <a:rPr lang="en-US" altLang="zh-CN" i="1" baseline="-25000" dirty="0" err="1"/>
                <a:t>m</a:t>
              </a:r>
              <a:r>
                <a:rPr lang="en-US" altLang="zh-CN" i="1" baseline="-25000" dirty="0"/>
                <a:t> </a:t>
              </a:r>
              <a:r>
                <a:rPr lang="en-US" altLang="zh-CN" dirty="0"/>
                <a:t>= </a:t>
              </a:r>
              <a:r>
                <a:rPr lang="en-US" altLang="zh-CN" i="1" dirty="0"/>
                <a:t>Q </a:t>
              </a:r>
              <a:r>
                <a:rPr lang="en-US" altLang="zh-CN" dirty="0"/>
                <a:t>(</a:t>
              </a:r>
              <a:r>
                <a:rPr lang="en-US" altLang="zh-CN" b="1" dirty="0"/>
                <a:t>v </a:t>
              </a:r>
              <a:r>
                <a:rPr lang="en-US" altLang="zh-CN" dirty="0">
                  <a:latin typeface="Arial" panose="020B0604020202020204" pitchFamily="34" charset="0"/>
                </a:rPr>
                <a:t>x </a:t>
              </a:r>
              <a:r>
                <a:rPr lang="en-US" altLang="zh-CN" b="1" dirty="0"/>
                <a:t>B)</a:t>
              </a:r>
              <a:endParaRPr lang="en-US" altLang="zh-CN" b="1" dirty="0"/>
            </a:p>
          </p:txBody>
        </p:sp>
        <p:sp>
          <p:nvSpPr>
            <p:cNvPr id="42" name="Rectangle 46"/>
            <p:cNvSpPr>
              <a:spLocks noChangeArrowheads="1"/>
            </p:cNvSpPr>
            <p:nvPr/>
          </p:nvSpPr>
          <p:spPr bwMode="auto">
            <a:xfrm>
              <a:off x="5413375" y="5570538"/>
              <a:ext cx="15319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/>
                <a:t>into the screen</a:t>
              </a:r>
              <a:endParaRPr lang="en-US" altLang="zh-CN"/>
            </a:p>
          </p:txBody>
        </p:sp>
        <p:sp>
          <p:nvSpPr>
            <p:cNvPr id="45" name="Rectangle 48"/>
            <p:cNvSpPr>
              <a:spLocks noChangeArrowheads="1"/>
            </p:cNvSpPr>
            <p:nvPr/>
          </p:nvSpPr>
          <p:spPr bwMode="auto">
            <a:xfrm>
              <a:off x="5275263" y="2438400"/>
              <a:ext cx="1770063" cy="646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/>
                <a:t>charge is moving</a:t>
              </a:r>
              <a:endParaRPr lang="en-US" altLang="zh-CN"/>
            </a:p>
            <a:p>
              <a:r>
                <a:rPr lang="en-US" altLang="zh-CN"/>
                <a:t>at velocity </a:t>
              </a:r>
              <a:r>
                <a:rPr lang="en-US" altLang="zh-CN" b="1"/>
                <a:t>v</a:t>
              </a:r>
              <a:endParaRPr lang="en-US" altLang="zh-CN"/>
            </a:p>
          </p:txBody>
        </p:sp>
        <p:sp>
          <p:nvSpPr>
            <p:cNvPr id="47" name="Rectangle 51"/>
            <p:cNvSpPr>
              <a:spLocks noChangeArrowheads="1"/>
            </p:cNvSpPr>
            <p:nvPr/>
          </p:nvSpPr>
          <p:spPr bwMode="auto">
            <a:xfrm>
              <a:off x="5334000" y="5105400"/>
              <a:ext cx="1524000" cy="457200"/>
            </a:xfrm>
            <a:prstGeom prst="rect">
              <a:avLst/>
            </a:prstGeom>
            <a:noFill/>
            <a:ln w="9525">
              <a:solidFill>
                <a:srgbClr val="FF1485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Lorentz Force Law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69" name="Rectangle 54"/>
          <p:cNvSpPr>
            <a:spLocks noChangeArrowheads="1"/>
          </p:cNvSpPr>
          <p:nvPr/>
        </p:nvSpPr>
        <p:spPr bwMode="auto">
          <a:xfrm>
            <a:off x="925182" y="1672691"/>
            <a:ext cx="7434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Generally, with both electric and magnetic fields present, we have both forces:</a:t>
            </a:r>
            <a:endParaRPr lang="en-US" altLang="zh-CN" dirty="0"/>
          </a:p>
        </p:txBody>
      </p:sp>
      <p:grpSp>
        <p:nvGrpSpPr>
          <p:cNvPr id="7" name="组合 6"/>
          <p:cNvGrpSpPr/>
          <p:nvPr/>
        </p:nvGrpSpPr>
        <p:grpSpPr>
          <a:xfrm>
            <a:off x="1698294" y="2134792"/>
            <a:ext cx="2471738" cy="2597944"/>
            <a:chOff x="3082595" y="2095501"/>
            <a:chExt cx="2471738" cy="2597944"/>
          </a:xfrm>
        </p:grpSpPr>
        <p:grpSp>
          <p:nvGrpSpPr>
            <p:cNvPr id="70" name="Group 51"/>
            <p:cNvGrpSpPr/>
            <p:nvPr/>
          </p:nvGrpSpPr>
          <p:grpSpPr bwMode="auto">
            <a:xfrm rot="16200000">
              <a:off x="3006395" y="2940051"/>
              <a:ext cx="2135188" cy="1371600"/>
              <a:chOff x="959" y="2020"/>
              <a:chExt cx="1345" cy="864"/>
            </a:xfrm>
          </p:grpSpPr>
          <p:sp>
            <p:nvSpPr>
              <p:cNvPr id="89" name="Line 10"/>
              <p:cNvSpPr>
                <a:spLocks noChangeShapeType="1"/>
              </p:cNvSpPr>
              <p:nvPr/>
            </p:nvSpPr>
            <p:spPr bwMode="auto">
              <a:xfrm rot="-5400000">
                <a:off x="1631" y="221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Line 11"/>
              <p:cNvSpPr>
                <a:spLocks noChangeShapeType="1"/>
              </p:cNvSpPr>
              <p:nvPr/>
            </p:nvSpPr>
            <p:spPr bwMode="auto">
              <a:xfrm rot="-5400000">
                <a:off x="1631" y="2068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Line 12"/>
              <p:cNvSpPr>
                <a:spLocks noChangeShapeType="1"/>
              </p:cNvSpPr>
              <p:nvPr/>
            </p:nvSpPr>
            <p:spPr bwMode="auto">
              <a:xfrm rot="-5400000">
                <a:off x="1631" y="1924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Line 13"/>
              <p:cNvSpPr>
                <a:spLocks noChangeShapeType="1"/>
              </p:cNvSpPr>
              <p:nvPr/>
            </p:nvSpPr>
            <p:spPr bwMode="auto">
              <a:xfrm rot="-5400000">
                <a:off x="1632" y="1781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Line 14"/>
              <p:cNvSpPr>
                <a:spLocks noChangeShapeType="1"/>
              </p:cNvSpPr>
              <p:nvPr/>
            </p:nvSpPr>
            <p:spPr bwMode="auto">
              <a:xfrm rot="-5400000">
                <a:off x="1631" y="1636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Line 15"/>
              <p:cNvSpPr>
                <a:spLocks noChangeShapeType="1"/>
              </p:cNvSpPr>
              <p:nvPr/>
            </p:nvSpPr>
            <p:spPr bwMode="auto">
              <a:xfrm rot="-5400000">
                <a:off x="1631" y="1492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Line 16"/>
              <p:cNvSpPr>
                <a:spLocks noChangeShapeType="1"/>
              </p:cNvSpPr>
              <p:nvPr/>
            </p:nvSpPr>
            <p:spPr bwMode="auto">
              <a:xfrm rot="-5400000">
                <a:off x="1631" y="1348"/>
                <a:ext cx="0" cy="1344"/>
              </a:xfrm>
              <a:prstGeom prst="line">
                <a:avLst/>
              </a:prstGeom>
              <a:noFill/>
              <a:ln w="19050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" name="Rectangle 17"/>
            <p:cNvSpPr>
              <a:spLocks noChangeArrowheads="1"/>
            </p:cNvSpPr>
            <p:nvPr/>
          </p:nvSpPr>
          <p:spPr bwMode="auto">
            <a:xfrm>
              <a:off x="5217783" y="3433764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>
                  <a:solidFill>
                    <a:srgbClr val="FF1485"/>
                  </a:solidFill>
                </a:rPr>
                <a:t>E</a:t>
              </a:r>
              <a:endParaRPr lang="en-US" altLang="zh-CN" b="1">
                <a:solidFill>
                  <a:srgbClr val="FF1485"/>
                </a:solidFill>
              </a:endParaRPr>
            </a:p>
          </p:txBody>
        </p:sp>
        <p:sp>
          <p:nvSpPr>
            <p:cNvPr id="72" name="Oval 22"/>
            <p:cNvSpPr>
              <a:spLocks noChangeArrowheads="1"/>
            </p:cNvSpPr>
            <p:nvPr/>
          </p:nvSpPr>
          <p:spPr bwMode="auto">
            <a:xfrm>
              <a:off x="3879520" y="3913189"/>
              <a:ext cx="152400" cy="1524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sp>
          <p:nvSpPr>
            <p:cNvPr id="73" name="Rectangle 23"/>
            <p:cNvSpPr>
              <a:spLocks noChangeArrowheads="1"/>
            </p:cNvSpPr>
            <p:nvPr/>
          </p:nvSpPr>
          <p:spPr bwMode="auto">
            <a:xfrm>
              <a:off x="3798558" y="3824289"/>
              <a:ext cx="31591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+</a:t>
              </a:r>
              <a:endParaRPr lang="en-US" altLang="zh-CN" b="1"/>
            </a:p>
          </p:txBody>
        </p:sp>
        <p:sp>
          <p:nvSpPr>
            <p:cNvPr id="74" name="Line 28"/>
            <p:cNvSpPr>
              <a:spLocks noChangeShapeType="1"/>
            </p:cNvSpPr>
            <p:nvPr/>
          </p:nvSpPr>
          <p:spPr bwMode="auto">
            <a:xfrm rot="16200000">
              <a:off x="4149395" y="3244851"/>
              <a:ext cx="0" cy="2133600"/>
            </a:xfrm>
            <a:prstGeom prst="line">
              <a:avLst/>
            </a:prstGeom>
            <a:noFill/>
            <a:ln w="19050">
              <a:solidFill>
                <a:srgbClr val="FF1485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Line 29"/>
            <p:cNvSpPr>
              <a:spLocks noChangeShapeType="1"/>
            </p:cNvSpPr>
            <p:nvPr/>
          </p:nvSpPr>
          <p:spPr bwMode="auto">
            <a:xfrm rot="16200000">
              <a:off x="4149395" y="3016251"/>
              <a:ext cx="0" cy="2133600"/>
            </a:xfrm>
            <a:prstGeom prst="line">
              <a:avLst/>
            </a:prstGeom>
            <a:noFill/>
            <a:ln w="19050">
              <a:solidFill>
                <a:srgbClr val="FF1485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Line 30"/>
            <p:cNvSpPr>
              <a:spLocks noChangeShapeType="1"/>
            </p:cNvSpPr>
            <p:nvPr/>
          </p:nvSpPr>
          <p:spPr bwMode="auto">
            <a:xfrm rot="16200000">
              <a:off x="4149395" y="2787651"/>
              <a:ext cx="0" cy="2133600"/>
            </a:xfrm>
            <a:prstGeom prst="line">
              <a:avLst/>
            </a:prstGeom>
            <a:noFill/>
            <a:ln w="19050">
              <a:solidFill>
                <a:srgbClr val="FF1485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Line 31"/>
            <p:cNvSpPr>
              <a:spLocks noChangeShapeType="1"/>
            </p:cNvSpPr>
            <p:nvPr/>
          </p:nvSpPr>
          <p:spPr bwMode="auto">
            <a:xfrm rot="16200000">
              <a:off x="4150983" y="2560638"/>
              <a:ext cx="0" cy="2133600"/>
            </a:xfrm>
            <a:prstGeom prst="line">
              <a:avLst/>
            </a:prstGeom>
            <a:noFill/>
            <a:ln w="19050">
              <a:solidFill>
                <a:srgbClr val="FF1485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32"/>
            <p:cNvSpPr>
              <a:spLocks noChangeShapeType="1"/>
            </p:cNvSpPr>
            <p:nvPr/>
          </p:nvSpPr>
          <p:spPr bwMode="auto">
            <a:xfrm rot="16200000">
              <a:off x="4149395" y="2330451"/>
              <a:ext cx="0" cy="2133600"/>
            </a:xfrm>
            <a:prstGeom prst="line">
              <a:avLst/>
            </a:prstGeom>
            <a:noFill/>
            <a:ln w="19050">
              <a:solidFill>
                <a:srgbClr val="FF1485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Line 33"/>
            <p:cNvSpPr>
              <a:spLocks noChangeShapeType="1"/>
            </p:cNvSpPr>
            <p:nvPr/>
          </p:nvSpPr>
          <p:spPr bwMode="auto">
            <a:xfrm rot="16200000">
              <a:off x="4149395" y="2101851"/>
              <a:ext cx="0" cy="2133600"/>
            </a:xfrm>
            <a:prstGeom prst="line">
              <a:avLst/>
            </a:prstGeom>
            <a:noFill/>
            <a:ln w="19050">
              <a:solidFill>
                <a:srgbClr val="FF1485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34"/>
            <p:cNvSpPr>
              <a:spLocks noChangeShapeType="1"/>
            </p:cNvSpPr>
            <p:nvPr/>
          </p:nvSpPr>
          <p:spPr bwMode="auto">
            <a:xfrm rot="16200000">
              <a:off x="4149395" y="1873251"/>
              <a:ext cx="0" cy="2133600"/>
            </a:xfrm>
            <a:prstGeom prst="line">
              <a:avLst/>
            </a:prstGeom>
            <a:noFill/>
            <a:ln w="19050">
              <a:solidFill>
                <a:srgbClr val="FF1485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Rectangle 35"/>
            <p:cNvSpPr>
              <a:spLocks noChangeArrowheads="1"/>
            </p:cNvSpPr>
            <p:nvPr/>
          </p:nvSpPr>
          <p:spPr bwMode="auto">
            <a:xfrm>
              <a:off x="3922383" y="2095501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>
                  <a:solidFill>
                    <a:srgbClr val="0B7CFF"/>
                  </a:solidFill>
                </a:rPr>
                <a:t>B</a:t>
              </a:r>
              <a:endParaRPr lang="en-US" altLang="zh-CN" b="1">
                <a:solidFill>
                  <a:srgbClr val="0B7CFF"/>
                </a:solidFill>
              </a:endParaRPr>
            </a:p>
          </p:txBody>
        </p:sp>
        <p:sp>
          <p:nvSpPr>
            <p:cNvPr id="82" name="Line 36"/>
            <p:cNvSpPr>
              <a:spLocks noChangeShapeType="1"/>
            </p:cNvSpPr>
            <p:nvPr/>
          </p:nvSpPr>
          <p:spPr bwMode="auto">
            <a:xfrm flipV="1">
              <a:off x="4160508" y="3976689"/>
              <a:ext cx="1098550" cy="1588"/>
            </a:xfrm>
            <a:prstGeom prst="line">
              <a:avLst/>
            </a:prstGeom>
            <a:noFill/>
            <a:ln w="19050">
              <a:solidFill>
                <a:srgbClr val="5607FF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Rectangle 37"/>
            <p:cNvSpPr>
              <a:spLocks noChangeArrowheads="1"/>
            </p:cNvSpPr>
            <p:nvPr/>
          </p:nvSpPr>
          <p:spPr bwMode="auto">
            <a:xfrm>
              <a:off x="5216195" y="3786189"/>
              <a:ext cx="298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v</a:t>
              </a:r>
              <a:endParaRPr lang="en-US" altLang="zh-CN" b="1"/>
            </a:p>
          </p:txBody>
        </p:sp>
        <p:sp>
          <p:nvSpPr>
            <p:cNvPr id="84" name="Rectangle 38"/>
            <p:cNvSpPr>
              <a:spLocks noChangeArrowheads="1"/>
            </p:cNvSpPr>
            <p:nvPr/>
          </p:nvSpPr>
          <p:spPr bwMode="auto">
            <a:xfrm>
              <a:off x="3562020" y="3817939"/>
              <a:ext cx="350838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i="1"/>
                <a:t>Q</a:t>
              </a:r>
              <a:endParaRPr lang="en-US" altLang="zh-CN" i="1"/>
            </a:p>
          </p:txBody>
        </p:sp>
      </p:grpSp>
      <p:pic>
        <p:nvPicPr>
          <p:cNvPr id="85" name="Picture 5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365" y="5358890"/>
            <a:ext cx="2632075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6" name="Rectangle 55"/>
          <p:cNvSpPr>
            <a:spLocks noChangeArrowheads="1"/>
          </p:cNvSpPr>
          <p:nvPr/>
        </p:nvSpPr>
        <p:spPr bwMode="auto">
          <a:xfrm>
            <a:off x="952962" y="4832937"/>
            <a:ext cx="6354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total force on the moving charge is then the sum of the two, or</a:t>
            </a:r>
            <a:endParaRPr lang="en-US" altLang="zh-CN" dirty="0"/>
          </a:p>
        </p:txBody>
      </p:sp>
      <p:sp>
        <p:nvSpPr>
          <p:cNvPr id="87" name="Rectangle 56"/>
          <p:cNvSpPr>
            <a:spLocks noChangeArrowheads="1"/>
          </p:cNvSpPr>
          <p:nvPr/>
        </p:nvSpPr>
        <p:spPr bwMode="auto">
          <a:xfrm>
            <a:off x="888610" y="5970019"/>
            <a:ext cx="7440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This is the </a:t>
            </a:r>
            <a:r>
              <a:rPr lang="en-US" altLang="zh-CN" i="1" dirty="0">
                <a:solidFill>
                  <a:srgbClr val="C00000"/>
                </a:solidFill>
              </a:rPr>
              <a:t>Lorentz Force Law </a:t>
            </a:r>
            <a:r>
              <a:rPr lang="en-US" altLang="zh-CN" dirty="0"/>
              <a:t>(sometimes called the “</a:t>
            </a:r>
            <a:r>
              <a:rPr lang="en-US" altLang="zh-CN" dirty="0">
                <a:solidFill>
                  <a:srgbClr val="C00000"/>
                </a:solidFill>
              </a:rPr>
              <a:t>fifth Maxwell equation</a:t>
            </a:r>
            <a:r>
              <a:rPr lang="en-US" altLang="zh-CN" dirty="0"/>
              <a:t>”)</a:t>
            </a:r>
            <a:endParaRPr lang="en-US" altLang="zh-CN" dirty="0"/>
          </a:p>
        </p:txBody>
      </p:sp>
      <p:sp>
        <p:nvSpPr>
          <p:cNvPr id="88" name="Rectangle 58"/>
          <p:cNvSpPr>
            <a:spLocks noChangeArrowheads="1"/>
          </p:cNvSpPr>
          <p:nvPr/>
        </p:nvSpPr>
        <p:spPr bwMode="auto">
          <a:xfrm>
            <a:off x="4533900" y="2698610"/>
            <a:ext cx="3230563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electric field will, in this</a:t>
            </a:r>
            <a:endParaRPr lang="en-US" altLang="zh-CN" dirty="0"/>
          </a:p>
          <a:p>
            <a:r>
              <a:rPr lang="en-US" altLang="zh-CN" dirty="0"/>
              <a:t>case, accelerate the charge in </a:t>
            </a:r>
            <a:endParaRPr lang="en-US" altLang="zh-CN" dirty="0"/>
          </a:p>
          <a:p>
            <a:r>
              <a:rPr lang="en-US" altLang="zh-CN" dirty="0"/>
              <a:t>the direction of </a:t>
            </a:r>
            <a:r>
              <a:rPr lang="en-US" altLang="zh-CN" b="1" dirty="0"/>
              <a:t>E</a:t>
            </a:r>
            <a:r>
              <a:rPr lang="en-US" altLang="zh-CN" dirty="0"/>
              <a:t>, making it</a:t>
            </a:r>
            <a:endParaRPr lang="en-US" altLang="zh-CN" dirty="0"/>
          </a:p>
          <a:p>
            <a:r>
              <a:rPr lang="en-US" altLang="zh-CN" dirty="0"/>
              <a:t>cross the </a:t>
            </a:r>
            <a:r>
              <a:rPr lang="en-US" altLang="zh-CN" b="1" dirty="0"/>
              <a:t>B </a:t>
            </a:r>
            <a:r>
              <a:rPr lang="en-US" altLang="zh-CN" dirty="0"/>
              <a:t>field lines in the </a:t>
            </a:r>
            <a:endParaRPr lang="en-US" altLang="zh-CN" dirty="0"/>
          </a:p>
          <a:p>
            <a:r>
              <a:rPr lang="en-US" altLang="zh-CN" dirty="0"/>
              <a:t>perpendicular sense;  this gives a</a:t>
            </a:r>
            <a:endParaRPr lang="en-US" altLang="zh-CN" dirty="0"/>
          </a:p>
          <a:p>
            <a:r>
              <a:rPr lang="en-US" altLang="zh-CN" dirty="0"/>
              <a:t>magnetic force component that </a:t>
            </a:r>
            <a:endParaRPr lang="en-US" altLang="zh-CN" dirty="0"/>
          </a:p>
          <a:p>
            <a:r>
              <a:rPr lang="en-US" altLang="zh-CN" dirty="0"/>
              <a:t>is out of the screen</a:t>
            </a: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Hall Effect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6" name="Picture 4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620" y="3657600"/>
            <a:ext cx="7150180" cy="2166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Rectangle 6"/>
          <p:cNvSpPr>
            <a:spLocks noChangeArrowheads="1"/>
          </p:cNvSpPr>
          <p:nvPr/>
        </p:nvSpPr>
        <p:spPr bwMode="auto">
          <a:xfrm>
            <a:off x="838200" y="1743075"/>
            <a:ext cx="75438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When a </a:t>
            </a:r>
            <a:r>
              <a:rPr lang="en-US" altLang="zh-CN" b="1" dirty="0"/>
              <a:t>B </a:t>
            </a:r>
            <a:r>
              <a:rPr lang="en-US" altLang="zh-CN" dirty="0"/>
              <a:t>field is applied in a direction perpendicular to a current, positive and negative carriers will be displaced slightly, as shown, as a result of the magnetic forces on the moving charges.</a:t>
            </a:r>
            <a:endParaRPr lang="en-US" altLang="zh-CN" dirty="0"/>
          </a:p>
        </p:txBody>
      </p:sp>
      <p:sp>
        <p:nvSpPr>
          <p:cNvPr id="38" name="Rectangle 7"/>
          <p:cNvSpPr>
            <a:spLocks noChangeArrowheads="1"/>
          </p:cNvSpPr>
          <p:nvPr/>
        </p:nvSpPr>
        <p:spPr bwMode="auto">
          <a:xfrm>
            <a:off x="825500" y="2895600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/>
              <a:t>This </a:t>
            </a:r>
            <a:r>
              <a:rPr lang="en-US" altLang="zh-CN" dirty="0"/>
              <a:t>produces a measurable voltage, known as the </a:t>
            </a:r>
            <a:r>
              <a:rPr lang="en-US" altLang="zh-CN" i="1" dirty="0">
                <a:solidFill>
                  <a:srgbClr val="C00000"/>
                </a:solidFill>
              </a:rPr>
              <a:t>Hall Voltage</a:t>
            </a:r>
            <a:r>
              <a:rPr lang="en-US" altLang="zh-CN" dirty="0"/>
              <a:t>. 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Force on a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Differential Current Element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" name="Rectangle 20"/>
          <p:cNvSpPr>
            <a:spLocks noChangeArrowheads="1"/>
          </p:cNvSpPr>
          <p:nvPr/>
        </p:nvSpPr>
        <p:spPr bwMode="auto">
          <a:xfrm>
            <a:off x="4090091" y="2109729"/>
            <a:ext cx="435471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Consider a small segment (length </a:t>
            </a:r>
            <a:r>
              <a:rPr lang="en-US" altLang="zh-CN" i="1" dirty="0" err="1"/>
              <a:t>dL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/>
              <a:t>of current in the form of a </a:t>
            </a:r>
            <a:r>
              <a:rPr lang="en-US" altLang="zh-CN" dirty="0">
                <a:solidFill>
                  <a:srgbClr val="C00000"/>
                </a:solidFill>
              </a:rPr>
              <a:t>volume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current density </a:t>
            </a:r>
            <a:r>
              <a:rPr lang="en-US" altLang="zh-CN" b="1" dirty="0">
                <a:solidFill>
                  <a:srgbClr val="C00000"/>
                </a:solidFill>
              </a:rPr>
              <a:t>J</a:t>
            </a:r>
            <a:r>
              <a:rPr lang="en-US" altLang="zh-CN" dirty="0"/>
              <a:t>, suspended in a </a:t>
            </a:r>
            <a:r>
              <a:rPr lang="en-US" altLang="zh-CN" dirty="0">
                <a:solidFill>
                  <a:srgbClr val="C00000"/>
                </a:solidFill>
              </a:rPr>
              <a:t>magnetic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field, </a:t>
            </a:r>
            <a:r>
              <a:rPr lang="en-US" altLang="zh-CN" b="1" dirty="0">
                <a:solidFill>
                  <a:srgbClr val="C00000"/>
                </a:solidFill>
              </a:rPr>
              <a:t>B</a:t>
            </a:r>
            <a:r>
              <a:rPr lang="en-US" altLang="zh-CN" dirty="0"/>
              <a:t>.  The current element has volume </a:t>
            </a:r>
            <a:r>
              <a:rPr lang="en-US" altLang="zh-CN" i="1" dirty="0"/>
              <a:t>dv</a:t>
            </a:r>
            <a:r>
              <a:rPr lang="en-US" altLang="zh-CN" dirty="0"/>
              <a:t>.</a:t>
            </a:r>
            <a:endParaRPr lang="en-US" altLang="zh-CN" dirty="0"/>
          </a:p>
        </p:txBody>
      </p:sp>
      <p:pic>
        <p:nvPicPr>
          <p:cNvPr id="13" name="Picture 2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937" y="4291141"/>
            <a:ext cx="1096963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" name="Rectangle 22"/>
          <p:cNvSpPr>
            <a:spLocks noChangeArrowheads="1"/>
          </p:cNvSpPr>
          <p:nvPr/>
        </p:nvSpPr>
        <p:spPr bwMode="auto">
          <a:xfrm>
            <a:off x="655636" y="3921809"/>
            <a:ext cx="72793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We know that current density is volume charge density moving at velocity </a:t>
            </a:r>
            <a:r>
              <a:rPr lang="en-US" altLang="zh-CN" b="1" dirty="0"/>
              <a:t>v</a:t>
            </a:r>
            <a:r>
              <a:rPr lang="en-US" altLang="zh-CN" dirty="0"/>
              <a:t>:</a:t>
            </a:r>
            <a:endParaRPr lang="en-US" altLang="zh-CN" dirty="0"/>
          </a:p>
        </p:txBody>
      </p:sp>
      <p:pic>
        <p:nvPicPr>
          <p:cNvPr id="15" name="Picture 2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1081" y="5283224"/>
            <a:ext cx="15906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" name="Picture 2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5249892"/>
            <a:ext cx="1179513" cy="28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" name="Picture 2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0801" y="5791200"/>
            <a:ext cx="1773238" cy="328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8" name="Picture 2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5791200"/>
            <a:ext cx="181927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9" name="Rectangle 28"/>
          <p:cNvSpPr>
            <a:spLocks noChangeArrowheads="1"/>
          </p:cNvSpPr>
          <p:nvPr/>
        </p:nvSpPr>
        <p:spPr bwMode="auto">
          <a:xfrm>
            <a:off x="685800" y="4800600"/>
            <a:ext cx="64238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..and we can write </a:t>
            </a:r>
            <a:r>
              <a:rPr lang="en-US" altLang="zh-CN" dirty="0">
                <a:solidFill>
                  <a:srgbClr val="C00000"/>
                </a:solidFill>
              </a:rPr>
              <a:t>the differential force on a differential charge, </a:t>
            </a:r>
            <a:r>
              <a:rPr lang="en-US" altLang="zh-CN" i="1" dirty="0" err="1">
                <a:solidFill>
                  <a:srgbClr val="C00000"/>
                </a:solidFill>
              </a:rPr>
              <a:t>dQ</a:t>
            </a:r>
            <a:r>
              <a:rPr lang="en-US" altLang="zh-CN" dirty="0"/>
              <a:t>:</a:t>
            </a:r>
            <a:endParaRPr lang="en-US" altLang="zh-CN" dirty="0"/>
          </a:p>
        </p:txBody>
      </p:sp>
      <p:sp>
        <p:nvSpPr>
          <p:cNvPr id="20" name="Rectangle 29"/>
          <p:cNvSpPr>
            <a:spLocks noChangeArrowheads="1"/>
          </p:cNvSpPr>
          <p:nvPr/>
        </p:nvSpPr>
        <p:spPr bwMode="auto">
          <a:xfrm>
            <a:off x="4167188" y="5207373"/>
            <a:ext cx="7489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where</a:t>
            </a:r>
            <a:endParaRPr lang="en-US" altLang="zh-CN" dirty="0"/>
          </a:p>
        </p:txBody>
      </p:sp>
      <p:sp>
        <p:nvSpPr>
          <p:cNvPr id="21" name="Rectangle 30"/>
          <p:cNvSpPr>
            <a:spLocks noChangeArrowheads="1"/>
          </p:cNvSpPr>
          <p:nvPr/>
        </p:nvSpPr>
        <p:spPr bwMode="auto">
          <a:xfrm>
            <a:off x="792582" y="5734050"/>
            <a:ext cx="11592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Therefore:</a:t>
            </a:r>
            <a:endParaRPr lang="en-US" altLang="zh-CN" dirty="0"/>
          </a:p>
        </p:txBody>
      </p:sp>
      <p:sp>
        <p:nvSpPr>
          <p:cNvPr id="22" name="Rectangle 31"/>
          <p:cNvSpPr>
            <a:spLocks noChangeArrowheads="1"/>
          </p:cNvSpPr>
          <p:nvPr/>
        </p:nvSpPr>
        <p:spPr bwMode="auto">
          <a:xfrm>
            <a:off x="4114800" y="5791200"/>
            <a:ext cx="163378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..so that finally:</a:t>
            </a:r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1436688" y="1711356"/>
            <a:ext cx="2546350" cy="2165350"/>
            <a:chOff x="1981200" y="1568450"/>
            <a:chExt cx="2546350" cy="2165350"/>
          </a:xfrm>
        </p:grpSpPr>
        <p:grpSp>
          <p:nvGrpSpPr>
            <p:cNvPr id="11" name="Group 23"/>
            <p:cNvGrpSpPr/>
            <p:nvPr/>
          </p:nvGrpSpPr>
          <p:grpSpPr bwMode="auto">
            <a:xfrm>
              <a:off x="1981200" y="1676400"/>
              <a:ext cx="2546350" cy="2057400"/>
              <a:chOff x="1248" y="1248"/>
              <a:chExt cx="1604" cy="1296"/>
            </a:xfrm>
          </p:grpSpPr>
          <p:grpSp>
            <p:nvGrpSpPr>
              <p:cNvPr id="24" name="Group 3"/>
              <p:cNvGrpSpPr/>
              <p:nvPr/>
            </p:nvGrpSpPr>
            <p:grpSpPr bwMode="auto">
              <a:xfrm rot="-5400000">
                <a:off x="1488" y="1170"/>
                <a:ext cx="864" cy="1344"/>
                <a:chOff x="768" y="2352"/>
                <a:chExt cx="864" cy="1344"/>
              </a:xfrm>
            </p:grpSpPr>
            <p:sp>
              <p:nvSpPr>
                <p:cNvPr id="31" name="Line 4"/>
                <p:cNvSpPr>
                  <a:spLocks noChangeShapeType="1"/>
                </p:cNvSpPr>
                <p:nvPr/>
              </p:nvSpPr>
              <p:spPr bwMode="auto">
                <a:xfrm>
                  <a:off x="768" y="2352"/>
                  <a:ext cx="0" cy="1344"/>
                </a:xfrm>
                <a:prstGeom prst="lin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Line 5"/>
                <p:cNvSpPr>
                  <a:spLocks noChangeShapeType="1"/>
                </p:cNvSpPr>
                <p:nvPr/>
              </p:nvSpPr>
              <p:spPr bwMode="auto">
                <a:xfrm>
                  <a:off x="912" y="2352"/>
                  <a:ext cx="0" cy="1344"/>
                </a:xfrm>
                <a:prstGeom prst="lin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Line 6"/>
                <p:cNvSpPr>
                  <a:spLocks noChangeShapeType="1"/>
                </p:cNvSpPr>
                <p:nvPr/>
              </p:nvSpPr>
              <p:spPr bwMode="auto">
                <a:xfrm>
                  <a:off x="1056" y="2352"/>
                  <a:ext cx="0" cy="1344"/>
                </a:xfrm>
                <a:prstGeom prst="lin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Line 7"/>
                <p:cNvSpPr>
                  <a:spLocks noChangeShapeType="1"/>
                </p:cNvSpPr>
                <p:nvPr/>
              </p:nvSpPr>
              <p:spPr bwMode="auto">
                <a:xfrm>
                  <a:off x="1200" y="2352"/>
                  <a:ext cx="0" cy="1344"/>
                </a:xfrm>
                <a:prstGeom prst="lin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Line 8"/>
                <p:cNvSpPr>
                  <a:spLocks noChangeShapeType="1"/>
                </p:cNvSpPr>
                <p:nvPr/>
              </p:nvSpPr>
              <p:spPr bwMode="auto">
                <a:xfrm>
                  <a:off x="1344" y="2352"/>
                  <a:ext cx="0" cy="1344"/>
                </a:xfrm>
                <a:prstGeom prst="lin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Line 9"/>
                <p:cNvSpPr>
                  <a:spLocks noChangeShapeType="1"/>
                </p:cNvSpPr>
                <p:nvPr/>
              </p:nvSpPr>
              <p:spPr bwMode="auto">
                <a:xfrm>
                  <a:off x="1488" y="2352"/>
                  <a:ext cx="0" cy="1344"/>
                </a:xfrm>
                <a:prstGeom prst="lin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Line 10"/>
                <p:cNvSpPr>
                  <a:spLocks noChangeShapeType="1"/>
                </p:cNvSpPr>
                <p:nvPr/>
              </p:nvSpPr>
              <p:spPr bwMode="auto">
                <a:xfrm>
                  <a:off x="1632" y="2352"/>
                  <a:ext cx="0" cy="1344"/>
                </a:xfrm>
                <a:prstGeom prst="lin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5" name="AutoShape 13"/>
              <p:cNvSpPr>
                <a:spLocks noChangeArrowheads="1"/>
              </p:cNvSpPr>
              <p:nvPr/>
            </p:nvSpPr>
            <p:spPr bwMode="auto">
              <a:xfrm>
                <a:off x="1776" y="1248"/>
                <a:ext cx="144" cy="1296"/>
              </a:xfrm>
              <a:prstGeom prst="can">
                <a:avLst>
                  <a:gd name="adj" fmla="val 79875"/>
                </a:avLst>
              </a:prstGeom>
              <a:gradFill rotWithShape="0">
                <a:gsLst>
                  <a:gs pos="0">
                    <a:schemeClr val="bg1">
                      <a:alpha val="64999"/>
                    </a:schemeClr>
                  </a:gs>
                  <a:gs pos="100000">
                    <a:schemeClr val="bg1">
                      <a:gamma/>
                      <a:shade val="46275"/>
                      <a:invGamma/>
                      <a:alpha val="52000"/>
                    </a:schemeClr>
                  </a:gs>
                </a:gsLst>
                <a:lin ang="5400000" scaled="1"/>
              </a:gradFill>
              <a:ln w="9525">
                <a:solidFill>
                  <a:schemeClr val="tx1">
                    <a:alpha val="33000"/>
                  </a:schemeClr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26" name="Line 14"/>
              <p:cNvSpPr>
                <a:spLocks noChangeShapeType="1"/>
              </p:cNvSpPr>
              <p:nvPr/>
            </p:nvSpPr>
            <p:spPr bwMode="auto">
              <a:xfrm flipV="1">
                <a:off x="1848" y="1470"/>
                <a:ext cx="0" cy="8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Rectangle 16"/>
              <p:cNvSpPr>
                <a:spLocks noChangeArrowheads="1"/>
              </p:cNvSpPr>
              <p:nvPr/>
            </p:nvSpPr>
            <p:spPr bwMode="auto">
              <a:xfrm>
                <a:off x="2640" y="1764"/>
                <a:ext cx="21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b="1"/>
                  <a:t>B</a:t>
                </a:r>
                <a:endParaRPr lang="en-US" altLang="zh-CN" b="1"/>
              </a:p>
            </p:txBody>
          </p:sp>
          <p:sp>
            <p:nvSpPr>
              <p:cNvPr id="28" name="AutoShape 17"/>
              <p:cNvSpPr/>
              <p:nvPr/>
            </p:nvSpPr>
            <p:spPr bwMode="auto">
              <a:xfrm>
                <a:off x="1605" y="1287"/>
                <a:ext cx="96" cy="1248"/>
              </a:xfrm>
              <a:prstGeom prst="leftBrace">
                <a:avLst>
                  <a:gd name="adj1" fmla="val 108333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29" name="Rectangle 18"/>
              <p:cNvSpPr>
                <a:spLocks noChangeArrowheads="1"/>
              </p:cNvSpPr>
              <p:nvPr/>
            </p:nvSpPr>
            <p:spPr bwMode="auto">
              <a:xfrm>
                <a:off x="1396" y="1809"/>
                <a:ext cx="25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600" i="1"/>
                  <a:t>dL</a:t>
                </a:r>
                <a:endParaRPr lang="en-US" altLang="zh-CN" sz="1600" i="1"/>
              </a:p>
            </p:txBody>
          </p:sp>
          <p:sp>
            <p:nvSpPr>
              <p:cNvPr id="30" name="Rectangle 19"/>
              <p:cNvSpPr>
                <a:spLocks noChangeArrowheads="1"/>
              </p:cNvSpPr>
              <p:nvPr/>
            </p:nvSpPr>
            <p:spPr bwMode="auto">
              <a:xfrm>
                <a:off x="1905" y="1797"/>
                <a:ext cx="1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b="1"/>
                  <a:t>J</a:t>
                </a:r>
                <a:endParaRPr lang="en-US" altLang="zh-CN" b="1"/>
              </a:p>
            </p:txBody>
          </p:sp>
        </p:grpSp>
        <p:sp>
          <p:nvSpPr>
            <p:cNvPr id="23" name="Rectangle 32"/>
            <p:cNvSpPr>
              <a:spLocks noChangeArrowheads="1"/>
            </p:cNvSpPr>
            <p:nvPr/>
          </p:nvSpPr>
          <p:spPr bwMode="auto">
            <a:xfrm>
              <a:off x="3048000" y="1568450"/>
              <a:ext cx="3762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600" i="1"/>
                <a:t>dv</a:t>
              </a:r>
              <a:endParaRPr lang="en-US" altLang="zh-CN" sz="1600" i="1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Other Expressions for Differential Force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576602"/>
            <a:ext cx="2220913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8" name="Rectangle 4"/>
          <p:cNvSpPr>
            <a:spLocks noChangeArrowheads="1"/>
          </p:cNvSpPr>
          <p:nvPr/>
        </p:nvSpPr>
        <p:spPr bwMode="auto">
          <a:xfrm>
            <a:off x="693497" y="1828800"/>
            <a:ext cx="806180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For volume current, surface current, or filament current, we have the appropriate expressions for differential current:</a:t>
            </a:r>
            <a:endParaRPr lang="en-US" altLang="zh-CN" dirty="0"/>
          </a:p>
        </p:txBody>
      </p:sp>
      <p:pic>
        <p:nvPicPr>
          <p:cNvPr id="4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696" y="4657725"/>
            <a:ext cx="1865313" cy="446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2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0696" y="5429250"/>
            <a:ext cx="1855788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4" name="Picture 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0221" y="3914775"/>
            <a:ext cx="181927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5" name="Rectangle 8"/>
          <p:cNvSpPr>
            <a:spLocks noChangeArrowheads="1"/>
          </p:cNvSpPr>
          <p:nvPr/>
        </p:nvSpPr>
        <p:spPr bwMode="auto">
          <a:xfrm>
            <a:off x="629757" y="3200400"/>
            <a:ext cx="7643814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corresponding expressions for differential force within magnetic field </a:t>
            </a:r>
            <a:r>
              <a:rPr lang="en-US" altLang="zh-CN" b="1" dirty="0"/>
              <a:t>B </a:t>
            </a:r>
            <a:r>
              <a:rPr lang="en-US" altLang="zh-CN" dirty="0"/>
              <a:t>are:</a:t>
            </a:r>
            <a:endParaRPr lang="en-US" altLang="zh-CN" dirty="0"/>
          </a:p>
        </p:txBody>
      </p:sp>
      <p:sp>
        <p:nvSpPr>
          <p:cNvPr id="46" name="Rectangle 9"/>
          <p:cNvSpPr>
            <a:spLocks noChangeArrowheads="1"/>
          </p:cNvSpPr>
          <p:nvPr/>
        </p:nvSpPr>
        <p:spPr bwMode="auto">
          <a:xfrm>
            <a:off x="3640497" y="3962400"/>
            <a:ext cx="409575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volume current density (three dimensions)</a:t>
            </a:r>
            <a:endParaRPr lang="en-US" altLang="zh-CN" dirty="0"/>
          </a:p>
        </p:txBody>
      </p:sp>
      <p:sp>
        <p:nvSpPr>
          <p:cNvPr id="47" name="Rectangle 10"/>
          <p:cNvSpPr>
            <a:spLocks noChangeArrowheads="1"/>
          </p:cNvSpPr>
          <p:nvPr/>
        </p:nvSpPr>
        <p:spPr bwMode="auto">
          <a:xfrm>
            <a:off x="3640497" y="4648200"/>
            <a:ext cx="39544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surface current density (two dimensions)</a:t>
            </a:r>
            <a:endParaRPr lang="en-US" altLang="zh-CN" dirty="0"/>
          </a:p>
        </p:txBody>
      </p:sp>
      <p:sp>
        <p:nvSpPr>
          <p:cNvPr id="48" name="Rectangle 11"/>
          <p:cNvSpPr>
            <a:spLocks noChangeArrowheads="1"/>
          </p:cNvSpPr>
          <p:nvPr/>
        </p:nvSpPr>
        <p:spPr bwMode="auto">
          <a:xfrm>
            <a:off x="3640497" y="5486400"/>
            <a:ext cx="44116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filament current of length </a:t>
            </a:r>
            <a:r>
              <a:rPr lang="en-US" altLang="zh-CN" i="1" dirty="0" err="1"/>
              <a:t>dL</a:t>
            </a:r>
            <a:r>
              <a:rPr lang="en-US" altLang="zh-CN" i="1" dirty="0"/>
              <a:t> </a:t>
            </a:r>
            <a:r>
              <a:rPr lang="en-US" altLang="zh-CN" dirty="0"/>
              <a:t>(one dimension)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838200" y="1879959"/>
            <a:ext cx="34226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In three or two dimensions, </a:t>
            </a:r>
            <a:endParaRPr lang="en-US" altLang="zh-CN" dirty="0"/>
          </a:p>
          <a:p>
            <a:r>
              <a:rPr lang="en-US" altLang="zh-CN" dirty="0"/>
              <a:t>the net force is found by </a:t>
            </a:r>
            <a:endParaRPr lang="en-US" altLang="zh-CN" dirty="0"/>
          </a:p>
          <a:p>
            <a:r>
              <a:rPr lang="en-US" altLang="zh-CN" dirty="0"/>
              <a:t>integrating over the volume </a:t>
            </a:r>
            <a:endParaRPr lang="en-US" altLang="zh-CN" dirty="0"/>
          </a:p>
          <a:p>
            <a:r>
              <a:rPr lang="en-US" altLang="zh-CN" dirty="0"/>
              <a:t>or surface that the current occupies</a:t>
            </a:r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4290121" y="1748729"/>
            <a:ext cx="2066229" cy="1510951"/>
            <a:chOff x="4509690" y="1626667"/>
            <a:chExt cx="2066229" cy="1510951"/>
          </a:xfrm>
        </p:grpSpPr>
        <p:pic>
          <p:nvPicPr>
            <p:cNvPr id="17" name="Picture 3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37581" y="1626667"/>
              <a:ext cx="1938338" cy="639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18" name="Picture 4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0125" y="2504205"/>
              <a:ext cx="1873250" cy="633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0" name="AutoShape 6"/>
            <p:cNvSpPr/>
            <p:nvPr/>
          </p:nvSpPr>
          <p:spPr bwMode="auto">
            <a:xfrm>
              <a:off x="4509690" y="1879959"/>
              <a:ext cx="128191" cy="1015641"/>
            </a:xfrm>
            <a:prstGeom prst="leftBrace">
              <a:avLst>
                <a:gd name="adj1" fmla="val 958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</p:grpSp>
      <p:pic>
        <p:nvPicPr>
          <p:cNvPr id="21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825" y="4191000"/>
            <a:ext cx="3830638" cy="814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838200" y="3352800"/>
            <a:ext cx="78867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For a filament current, the total force will be the integral of the differential force, generally taken over the closed path that comprises the current:</a:t>
            </a:r>
            <a:endParaRPr lang="en-US" altLang="zh-CN" dirty="0"/>
          </a:p>
        </p:txBody>
      </p:sp>
      <p:sp>
        <p:nvSpPr>
          <p:cNvPr id="23" name="Rectangle 10"/>
          <p:cNvSpPr>
            <a:spLocks noChangeArrowheads="1"/>
          </p:cNvSpPr>
          <p:nvPr/>
        </p:nvSpPr>
        <p:spPr bwMode="auto">
          <a:xfrm>
            <a:off x="838200" y="5192712"/>
            <a:ext cx="784859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For a straight filament of length </a:t>
            </a:r>
            <a:r>
              <a:rPr lang="en-US" altLang="zh-CN" i="1" dirty="0"/>
              <a:t>L, </a:t>
            </a:r>
            <a:r>
              <a:rPr lang="en-US" altLang="zh-CN" dirty="0"/>
              <a:t>having uniform current, and within a uniform field, this becomes: </a:t>
            </a:r>
            <a:endParaRPr lang="en-US" altLang="zh-CN" dirty="0"/>
          </a:p>
        </p:txBody>
      </p:sp>
      <p:pic>
        <p:nvPicPr>
          <p:cNvPr id="24" name="Picture 1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5943600"/>
            <a:ext cx="151765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5" name="Rectangle 12"/>
          <p:cNvSpPr>
            <a:spLocks noChangeArrowheads="1"/>
          </p:cNvSpPr>
          <p:nvPr/>
        </p:nvSpPr>
        <p:spPr bwMode="auto">
          <a:xfrm>
            <a:off x="3581400" y="5954712"/>
            <a:ext cx="2473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which in turn reduces to </a:t>
            </a:r>
            <a:endParaRPr lang="en-US" altLang="zh-CN" dirty="0"/>
          </a:p>
        </p:txBody>
      </p:sp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597" y="5985668"/>
            <a:ext cx="1435100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Evaluating the Total Force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Example: Force on a Square Current Loop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8" name="Picture 2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3106" y="1676400"/>
            <a:ext cx="4338408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545" y="2398713"/>
            <a:ext cx="2668588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" name="Rectangle 6"/>
          <p:cNvSpPr>
            <a:spLocks noChangeArrowheads="1"/>
          </p:cNvSpPr>
          <p:nvPr/>
        </p:nvSpPr>
        <p:spPr bwMode="auto">
          <a:xfrm>
            <a:off x="568326" y="1752600"/>
            <a:ext cx="47371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magnetic field arising from the straight wire,</a:t>
            </a:r>
            <a:endParaRPr lang="en-US" altLang="zh-CN" dirty="0"/>
          </a:p>
          <a:p>
            <a:r>
              <a:rPr lang="en-US" altLang="zh-CN" dirty="0"/>
              <a:t>evaluated in the plane of the loop, is:</a:t>
            </a:r>
            <a:endParaRPr lang="en-US" altLang="zh-CN" dirty="0"/>
          </a:p>
        </p:txBody>
      </p:sp>
      <p:pic>
        <p:nvPicPr>
          <p:cNvPr id="31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87" y="3532255"/>
            <a:ext cx="4003675" cy="557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2" name="Rectangle 8"/>
          <p:cNvSpPr>
            <a:spLocks noChangeArrowheads="1"/>
          </p:cNvSpPr>
          <p:nvPr/>
        </p:nvSpPr>
        <p:spPr bwMode="auto">
          <a:xfrm>
            <a:off x="547687" y="3124200"/>
            <a:ext cx="1966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</a:t>
            </a:r>
            <a:r>
              <a:rPr lang="en-US" altLang="zh-CN" b="1" dirty="0"/>
              <a:t>B </a:t>
            </a:r>
            <a:r>
              <a:rPr lang="en-US" altLang="zh-CN" dirty="0"/>
              <a:t>field is then:</a:t>
            </a:r>
            <a:endParaRPr lang="en-US" altLang="zh-CN" dirty="0"/>
          </a:p>
        </p:txBody>
      </p:sp>
      <p:pic>
        <p:nvPicPr>
          <p:cNvPr id="33" name="Picture 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441919"/>
            <a:ext cx="1955800" cy="55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" name="Rectangle 10"/>
          <p:cNvSpPr>
            <a:spLocks noChangeArrowheads="1"/>
          </p:cNvSpPr>
          <p:nvPr/>
        </p:nvSpPr>
        <p:spPr bwMode="auto">
          <a:xfrm>
            <a:off x="457200" y="4923855"/>
            <a:ext cx="5391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total force on the loop is then found by evaluating:</a:t>
            </a:r>
            <a:endParaRPr lang="en-US" altLang="zh-CN" dirty="0"/>
          </a:p>
        </p:txBody>
      </p:sp>
      <p:sp>
        <p:nvSpPr>
          <p:cNvPr id="35" name="Rectangle 11"/>
          <p:cNvSpPr>
            <a:spLocks noChangeArrowheads="1"/>
          </p:cNvSpPr>
          <p:nvPr/>
        </p:nvSpPr>
        <p:spPr bwMode="auto">
          <a:xfrm>
            <a:off x="685800" y="6125787"/>
            <a:ext cx="2711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over all four loop segments</a:t>
            </a:r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Example: Force on a Square Current Loop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457200" y="1676400"/>
            <a:ext cx="223651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integral becomes:</a:t>
            </a:r>
            <a:endParaRPr lang="en-US" altLang="zh-CN" dirty="0"/>
          </a:p>
        </p:txBody>
      </p:sp>
      <p:grpSp>
        <p:nvGrpSpPr>
          <p:cNvPr id="23" name="Group 20"/>
          <p:cNvGrpSpPr/>
          <p:nvPr/>
        </p:nvGrpSpPr>
        <p:grpSpPr bwMode="auto">
          <a:xfrm>
            <a:off x="5335587" y="1905000"/>
            <a:ext cx="3656013" cy="2667000"/>
            <a:chOff x="3361" y="1968"/>
            <a:chExt cx="2303" cy="1680"/>
          </a:xfrm>
        </p:grpSpPr>
        <p:pic>
          <p:nvPicPr>
            <p:cNvPr id="38" name="Picture 3" descr="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1" y="1968"/>
              <a:ext cx="2303" cy="16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Rectangle 11"/>
            <p:cNvSpPr>
              <a:spLocks noChangeArrowheads="1"/>
            </p:cNvSpPr>
            <p:nvPr/>
          </p:nvSpPr>
          <p:spPr bwMode="auto">
            <a:xfrm>
              <a:off x="3621" y="3024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>
                  <a:solidFill>
                    <a:srgbClr val="FF1485"/>
                  </a:solidFill>
                </a:rPr>
                <a:t>A</a:t>
              </a:r>
              <a:endParaRPr lang="en-US" altLang="zh-CN" i="1"/>
            </a:p>
          </p:txBody>
        </p:sp>
        <p:sp>
          <p:nvSpPr>
            <p:cNvPr id="40" name="Rectangle 12"/>
            <p:cNvSpPr>
              <a:spLocks noChangeArrowheads="1"/>
            </p:cNvSpPr>
            <p:nvPr/>
          </p:nvSpPr>
          <p:spPr bwMode="auto">
            <a:xfrm>
              <a:off x="3909" y="3417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>
                  <a:solidFill>
                    <a:srgbClr val="FF1485"/>
                  </a:solidFill>
                </a:rPr>
                <a:t>B</a:t>
              </a:r>
              <a:endParaRPr lang="en-US" altLang="zh-CN">
                <a:solidFill>
                  <a:srgbClr val="FF1485"/>
                </a:solidFill>
              </a:endParaRPr>
            </a:p>
          </p:txBody>
        </p:sp>
        <p:sp>
          <p:nvSpPr>
            <p:cNvPr id="41" name="Rectangle 13"/>
            <p:cNvSpPr>
              <a:spLocks noChangeArrowheads="1"/>
            </p:cNvSpPr>
            <p:nvPr/>
          </p:nvSpPr>
          <p:spPr bwMode="auto">
            <a:xfrm>
              <a:off x="4541" y="3081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>
                  <a:solidFill>
                    <a:srgbClr val="FF1485"/>
                  </a:solidFill>
                </a:rPr>
                <a:t>C</a:t>
              </a:r>
              <a:endParaRPr lang="en-US" altLang="zh-CN">
                <a:solidFill>
                  <a:srgbClr val="FF1485"/>
                </a:solidFill>
              </a:endParaRPr>
            </a:p>
          </p:txBody>
        </p:sp>
        <p:sp>
          <p:nvSpPr>
            <p:cNvPr id="42" name="Rectangle 14"/>
            <p:cNvSpPr>
              <a:spLocks noChangeArrowheads="1"/>
            </p:cNvSpPr>
            <p:nvPr/>
          </p:nvSpPr>
          <p:spPr bwMode="auto">
            <a:xfrm>
              <a:off x="4321" y="2736"/>
              <a:ext cx="2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dirty="0">
                  <a:solidFill>
                    <a:srgbClr val="FF1485"/>
                  </a:solidFill>
                </a:rPr>
                <a:t>D</a:t>
              </a:r>
              <a:endParaRPr lang="en-US" altLang="zh-CN" dirty="0">
                <a:solidFill>
                  <a:srgbClr val="FF1485"/>
                </a:solidFill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33400" y="2057400"/>
            <a:ext cx="5581723" cy="1143000"/>
            <a:chOff x="533400" y="2057400"/>
            <a:chExt cx="5995988" cy="1219201"/>
          </a:xfrm>
        </p:grpSpPr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2057400"/>
              <a:ext cx="5995988" cy="647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9" name="AutoShape 7"/>
            <p:cNvSpPr/>
            <p:nvPr/>
          </p:nvSpPr>
          <p:spPr bwMode="auto">
            <a:xfrm rot="16200000">
              <a:off x="3924300" y="2247900"/>
              <a:ext cx="152400" cy="1295400"/>
            </a:xfrm>
            <a:prstGeom prst="leftBrace">
              <a:avLst>
                <a:gd name="adj1" fmla="val 708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sp>
          <p:nvSpPr>
            <p:cNvPr id="20" name="AutoShape 8"/>
            <p:cNvSpPr/>
            <p:nvPr/>
          </p:nvSpPr>
          <p:spPr bwMode="auto">
            <a:xfrm rot="16200000">
              <a:off x="5676900" y="2247900"/>
              <a:ext cx="152400" cy="1295400"/>
            </a:xfrm>
            <a:prstGeom prst="leftBrace">
              <a:avLst>
                <a:gd name="adj1" fmla="val 708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sp>
          <p:nvSpPr>
            <p:cNvPr id="24" name="Rectangle 15"/>
            <p:cNvSpPr>
              <a:spLocks noChangeArrowheads="1"/>
            </p:cNvSpPr>
            <p:nvPr/>
          </p:nvSpPr>
          <p:spPr bwMode="auto">
            <a:xfrm>
              <a:off x="3827463" y="2909888"/>
              <a:ext cx="349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>
                  <a:solidFill>
                    <a:srgbClr val="FF1485"/>
                  </a:solidFill>
                </a:rPr>
                <a:t>A</a:t>
              </a:r>
              <a:endParaRPr lang="en-US" altLang="zh-CN" i="1"/>
            </a:p>
          </p:txBody>
        </p:sp>
        <p:sp>
          <p:nvSpPr>
            <p:cNvPr id="25" name="Rectangle 16"/>
            <p:cNvSpPr>
              <a:spLocks noChangeArrowheads="1"/>
            </p:cNvSpPr>
            <p:nvPr/>
          </p:nvSpPr>
          <p:spPr bwMode="auto">
            <a:xfrm>
              <a:off x="5581650" y="2895600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>
                  <a:solidFill>
                    <a:srgbClr val="FF1485"/>
                  </a:solidFill>
                </a:rPr>
                <a:t>B</a:t>
              </a:r>
              <a:endParaRPr lang="en-US" altLang="zh-CN">
                <a:solidFill>
                  <a:srgbClr val="FF1485"/>
                </a:solidFill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982662" y="3276600"/>
            <a:ext cx="3284538" cy="1066801"/>
            <a:chOff x="609600" y="3276600"/>
            <a:chExt cx="3665538" cy="1204913"/>
          </a:xfrm>
        </p:grpSpPr>
        <p:pic>
          <p:nvPicPr>
            <p:cNvPr id="17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3276600"/>
              <a:ext cx="3665538" cy="685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1" name="AutoShape 9"/>
            <p:cNvSpPr/>
            <p:nvPr/>
          </p:nvSpPr>
          <p:spPr bwMode="auto">
            <a:xfrm rot="16200000">
              <a:off x="1485900" y="3467100"/>
              <a:ext cx="152400" cy="1295400"/>
            </a:xfrm>
            <a:prstGeom prst="leftBrace">
              <a:avLst>
                <a:gd name="adj1" fmla="val 708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sp>
          <p:nvSpPr>
            <p:cNvPr id="22" name="AutoShape 10"/>
            <p:cNvSpPr/>
            <p:nvPr/>
          </p:nvSpPr>
          <p:spPr bwMode="auto">
            <a:xfrm rot="16200000">
              <a:off x="3238500" y="3467100"/>
              <a:ext cx="152400" cy="1295400"/>
            </a:xfrm>
            <a:prstGeom prst="leftBrace">
              <a:avLst>
                <a:gd name="adj1" fmla="val 708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1387475" y="4114800"/>
              <a:ext cx="3365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>
                  <a:solidFill>
                    <a:srgbClr val="FF1485"/>
                  </a:solidFill>
                </a:rPr>
                <a:t>C</a:t>
              </a:r>
              <a:endParaRPr lang="en-US" altLang="zh-CN">
                <a:solidFill>
                  <a:srgbClr val="FF1485"/>
                </a:solidFill>
              </a:endParaRPr>
            </a:p>
          </p:txBody>
        </p:sp>
        <p:sp>
          <p:nvSpPr>
            <p:cNvPr id="27" name="Rectangle 18"/>
            <p:cNvSpPr>
              <a:spLocks noChangeArrowheads="1"/>
            </p:cNvSpPr>
            <p:nvPr/>
          </p:nvSpPr>
          <p:spPr bwMode="auto">
            <a:xfrm>
              <a:off x="3151188" y="4114800"/>
              <a:ext cx="3492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>
                  <a:solidFill>
                    <a:srgbClr val="FF1485"/>
                  </a:solidFill>
                </a:rPr>
                <a:t>D</a:t>
              </a:r>
              <a:endParaRPr lang="en-US" altLang="zh-CN">
                <a:solidFill>
                  <a:srgbClr val="FF1485"/>
                </a:solidFill>
              </a:endParaRPr>
            </a:p>
          </p:txBody>
        </p:sp>
      </p:grpSp>
      <p:pic>
        <p:nvPicPr>
          <p:cNvPr id="36" name="Picture 1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591" y="4693445"/>
            <a:ext cx="5263950" cy="1631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Force Between Differential Current Elements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1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1" y="2880789"/>
            <a:ext cx="2933700" cy="1087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639283" y="1827662"/>
            <a:ext cx="781891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We use the </a:t>
            </a:r>
            <a:r>
              <a:rPr lang="en-US" altLang="zh-CN" dirty="0" err="1">
                <a:solidFill>
                  <a:srgbClr val="C00000"/>
                </a:solidFill>
              </a:rPr>
              <a:t>Biot-Savart</a:t>
            </a:r>
            <a:r>
              <a:rPr lang="en-US" altLang="zh-CN" dirty="0">
                <a:solidFill>
                  <a:srgbClr val="C00000"/>
                </a:solidFill>
              </a:rPr>
              <a:t> Law </a:t>
            </a:r>
            <a:r>
              <a:rPr lang="en-US" altLang="zh-CN" dirty="0"/>
              <a:t>to find the </a:t>
            </a:r>
            <a:r>
              <a:rPr lang="en-US" altLang="zh-CN" dirty="0">
                <a:solidFill>
                  <a:srgbClr val="C00000"/>
                </a:solidFill>
              </a:rPr>
              <a:t>differential magnetic field at Point 2 </a:t>
            </a:r>
            <a:r>
              <a:rPr lang="en-US" altLang="zh-CN" dirty="0"/>
              <a:t>that </a:t>
            </a:r>
            <a:r>
              <a:rPr lang="en-US" altLang="zh-CN" dirty="0">
                <a:solidFill>
                  <a:srgbClr val="C00000"/>
                </a:solidFill>
              </a:rPr>
              <a:t>arises from the differential current element at Point 1</a:t>
            </a:r>
            <a:r>
              <a:rPr lang="en-US" altLang="zh-CN" dirty="0"/>
              <a:t>:</a:t>
            </a:r>
            <a:endParaRPr lang="en-US" altLang="zh-CN" dirty="0"/>
          </a:p>
        </p:txBody>
      </p:sp>
      <p:grpSp>
        <p:nvGrpSpPr>
          <p:cNvPr id="6" name="组合 5"/>
          <p:cNvGrpSpPr/>
          <p:nvPr/>
        </p:nvGrpSpPr>
        <p:grpSpPr>
          <a:xfrm>
            <a:off x="4439699" y="2456132"/>
            <a:ext cx="4427538" cy="3378200"/>
            <a:chOff x="4297363" y="2456132"/>
            <a:chExt cx="4427538" cy="3378200"/>
          </a:xfrm>
        </p:grpSpPr>
        <p:grpSp>
          <p:nvGrpSpPr>
            <p:cNvPr id="32" name="Group 10"/>
            <p:cNvGrpSpPr/>
            <p:nvPr/>
          </p:nvGrpSpPr>
          <p:grpSpPr bwMode="auto">
            <a:xfrm>
              <a:off x="4297363" y="2456132"/>
              <a:ext cx="4427538" cy="3378200"/>
              <a:chOff x="2587" y="1664"/>
              <a:chExt cx="2789" cy="2128"/>
            </a:xfrm>
          </p:grpSpPr>
          <p:pic>
            <p:nvPicPr>
              <p:cNvPr id="37" name="Picture 2" descr="8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87" y="1664"/>
                <a:ext cx="2741" cy="21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" name="Line 6"/>
              <p:cNvSpPr>
                <a:spLocks noChangeShapeType="1"/>
              </p:cNvSpPr>
              <p:nvPr/>
            </p:nvSpPr>
            <p:spPr bwMode="auto">
              <a:xfrm flipV="1">
                <a:off x="3984" y="2502"/>
                <a:ext cx="418" cy="330"/>
              </a:xfrm>
              <a:prstGeom prst="line">
                <a:avLst/>
              </a:prstGeom>
              <a:noFill/>
              <a:ln w="19050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Rectangle 7"/>
              <p:cNvSpPr>
                <a:spLocks noChangeArrowheads="1"/>
              </p:cNvSpPr>
              <p:nvPr/>
            </p:nvSpPr>
            <p:spPr bwMode="auto">
              <a:xfrm>
                <a:off x="4272" y="2544"/>
                <a:ext cx="34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b="1"/>
                  <a:t>a</a:t>
                </a:r>
                <a:r>
                  <a:rPr lang="en-US" altLang="zh-CN" i="1" baseline="-25000"/>
                  <a:t>R</a:t>
                </a:r>
                <a:r>
                  <a:rPr lang="en-US" altLang="zh-CN" baseline="-25000"/>
                  <a:t>12</a:t>
                </a:r>
                <a:endParaRPr lang="en-US" altLang="zh-CN" b="1"/>
              </a:p>
            </p:txBody>
          </p:sp>
          <p:sp>
            <p:nvSpPr>
              <p:cNvPr id="46" name="Rectangle 8"/>
              <p:cNvSpPr>
                <a:spLocks noChangeArrowheads="1"/>
              </p:cNvSpPr>
              <p:nvPr/>
            </p:nvSpPr>
            <p:spPr bwMode="auto">
              <a:xfrm>
                <a:off x="4512" y="1872"/>
                <a:ext cx="432" cy="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47" name="Rectangle 9"/>
              <p:cNvSpPr>
                <a:spLocks noChangeArrowheads="1"/>
              </p:cNvSpPr>
              <p:nvPr/>
            </p:nvSpPr>
            <p:spPr bwMode="auto">
              <a:xfrm>
                <a:off x="4701" y="2064"/>
                <a:ext cx="675" cy="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</p:grpSp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7786688" y="3057795"/>
              <a:ext cx="552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i="1"/>
                <a:t>d</a:t>
              </a:r>
              <a:r>
                <a:rPr lang="en-US" altLang="zh-CN" b="1"/>
                <a:t>H</a:t>
              </a:r>
              <a:r>
                <a:rPr lang="en-US" altLang="zh-CN" baseline="-25000"/>
                <a:t>2</a:t>
              </a:r>
              <a:endParaRPr lang="en-US" altLang="zh-CN" i="1"/>
            </a:p>
          </p:txBody>
        </p:sp>
        <p:sp>
          <p:nvSpPr>
            <p:cNvPr id="35" name="Line 15"/>
            <p:cNvSpPr>
              <a:spLocks noChangeShapeType="1"/>
            </p:cNvSpPr>
            <p:nvPr/>
          </p:nvSpPr>
          <p:spPr bwMode="auto">
            <a:xfrm>
              <a:off x="7667626" y="3119707"/>
              <a:ext cx="168275" cy="414338"/>
            </a:xfrm>
            <a:prstGeom prst="line">
              <a:avLst/>
            </a:prstGeom>
            <a:noFill/>
            <a:ln w="19050">
              <a:solidFill>
                <a:srgbClr val="0B7CFF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0" name="Rectangle 17"/>
          <p:cNvSpPr>
            <a:spLocks noChangeArrowheads="1"/>
          </p:cNvSpPr>
          <p:nvPr/>
        </p:nvSpPr>
        <p:spPr bwMode="auto">
          <a:xfrm>
            <a:off x="639283" y="4310332"/>
            <a:ext cx="4391025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flux density associated with this field </a:t>
            </a:r>
            <a:endParaRPr lang="en-US" altLang="zh-CN" dirty="0"/>
          </a:p>
          <a:p>
            <a:r>
              <a:rPr lang="en-US" altLang="zh-CN" dirty="0"/>
              <a:t>will generate a force on an additional current </a:t>
            </a:r>
            <a:endParaRPr lang="en-US" altLang="zh-CN" dirty="0"/>
          </a:p>
          <a:p>
            <a:r>
              <a:rPr lang="en-US" altLang="zh-CN" dirty="0"/>
              <a:t>element at Point 2</a:t>
            </a:r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Force Between Differential Current Elements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5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76" y="2590800"/>
            <a:ext cx="2833688" cy="50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4222750" y="1905000"/>
            <a:ext cx="4845050" cy="3378200"/>
            <a:chOff x="4149726" y="2498725"/>
            <a:chExt cx="4845050" cy="3378200"/>
          </a:xfrm>
        </p:grpSpPr>
        <p:pic>
          <p:nvPicPr>
            <p:cNvPr id="21" name="Picture 2" descr="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49726" y="2498725"/>
              <a:ext cx="4351338" cy="3378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Line 6"/>
            <p:cNvSpPr>
              <a:spLocks noChangeShapeType="1"/>
            </p:cNvSpPr>
            <p:nvPr/>
          </p:nvSpPr>
          <p:spPr bwMode="auto">
            <a:xfrm flipV="1">
              <a:off x="6367463" y="3829050"/>
              <a:ext cx="663575" cy="523875"/>
            </a:xfrm>
            <a:prstGeom prst="line">
              <a:avLst/>
            </a:prstGeom>
            <a:noFill/>
            <a:ln w="19050">
              <a:solidFill>
                <a:srgbClr val="FF1485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6824663" y="3895725"/>
              <a:ext cx="544513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a</a:t>
              </a:r>
              <a:r>
                <a:rPr lang="en-US" altLang="zh-CN" i="1" baseline="-25000"/>
                <a:t>R</a:t>
              </a:r>
              <a:r>
                <a:rPr lang="en-US" altLang="zh-CN" baseline="-25000"/>
                <a:t>12</a:t>
              </a:r>
              <a:endParaRPr lang="en-US" altLang="zh-CN" b="1"/>
            </a:p>
          </p:txBody>
        </p:sp>
        <p:pic>
          <p:nvPicPr>
            <p:cNvPr id="24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43851" y="3448050"/>
              <a:ext cx="1050925" cy="209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6" name="Line 13"/>
            <p:cNvSpPr>
              <a:spLocks noChangeShapeType="1"/>
            </p:cNvSpPr>
            <p:nvPr/>
          </p:nvSpPr>
          <p:spPr bwMode="auto">
            <a:xfrm>
              <a:off x="7519988" y="3162300"/>
              <a:ext cx="168275" cy="414338"/>
            </a:xfrm>
            <a:prstGeom prst="line">
              <a:avLst/>
            </a:prstGeom>
            <a:noFill/>
            <a:ln w="19050">
              <a:solidFill>
                <a:srgbClr val="0B7CFF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14"/>
            <p:cNvSpPr>
              <a:spLocks noChangeShapeType="1"/>
            </p:cNvSpPr>
            <p:nvPr/>
          </p:nvSpPr>
          <p:spPr bwMode="auto">
            <a:xfrm>
              <a:off x="7543801" y="3338513"/>
              <a:ext cx="152400" cy="0"/>
            </a:xfrm>
            <a:prstGeom prst="line">
              <a:avLst/>
            </a:prstGeom>
            <a:noFill/>
            <a:ln w="28575">
              <a:solidFill>
                <a:srgbClr val="FF003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15"/>
            <p:cNvSpPr>
              <a:spLocks noChangeShapeType="1"/>
            </p:cNvSpPr>
            <p:nvPr/>
          </p:nvSpPr>
          <p:spPr bwMode="auto">
            <a:xfrm flipH="1" flipV="1">
              <a:off x="7691438" y="3438525"/>
              <a:ext cx="22860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" name="Rectangle 16"/>
          <p:cNvSpPr>
            <a:spLocks noChangeArrowheads="1"/>
          </p:cNvSpPr>
          <p:nvPr/>
        </p:nvSpPr>
        <p:spPr bwMode="auto">
          <a:xfrm>
            <a:off x="423863" y="1792287"/>
            <a:ext cx="49450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A second differential current element is now placed</a:t>
            </a:r>
            <a:endParaRPr lang="en-US" altLang="zh-CN" dirty="0"/>
          </a:p>
          <a:p>
            <a:r>
              <a:rPr lang="en-US" altLang="zh-CN" dirty="0"/>
              <a:t>at Point 2.  It will experience a force given by:</a:t>
            </a:r>
            <a:endParaRPr lang="en-US" altLang="zh-CN" dirty="0"/>
          </a:p>
        </p:txBody>
      </p:sp>
      <p:pic>
        <p:nvPicPr>
          <p:cNvPr id="36" name="Picture 1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3467100"/>
            <a:ext cx="2473325" cy="862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" name="Picture 1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101" y="4359275"/>
            <a:ext cx="1704975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9" name="Rectangle 19"/>
          <p:cNvSpPr>
            <a:spLocks noChangeArrowheads="1"/>
          </p:cNvSpPr>
          <p:nvPr/>
        </p:nvSpPr>
        <p:spPr bwMode="auto">
          <a:xfrm>
            <a:off x="500063" y="3200400"/>
            <a:ext cx="1190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Then with:</a:t>
            </a:r>
            <a:endParaRPr lang="en-US" altLang="zh-CN" dirty="0"/>
          </a:p>
        </p:txBody>
      </p:sp>
      <p:sp>
        <p:nvSpPr>
          <p:cNvPr id="40" name="Rectangle 20"/>
          <p:cNvSpPr>
            <a:spLocks noChangeArrowheads="1"/>
          </p:cNvSpPr>
          <p:nvPr/>
        </p:nvSpPr>
        <p:spPr bwMode="auto">
          <a:xfrm>
            <a:off x="617538" y="4329113"/>
            <a:ext cx="812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where:</a:t>
            </a:r>
            <a:endParaRPr lang="en-US" altLang="zh-CN" dirty="0"/>
          </a:p>
        </p:txBody>
      </p:sp>
      <p:sp>
        <p:nvSpPr>
          <p:cNvPr id="41" name="Rectangle 21"/>
          <p:cNvSpPr>
            <a:spLocks noChangeArrowheads="1"/>
          </p:cNvSpPr>
          <p:nvPr/>
        </p:nvSpPr>
        <p:spPr bwMode="auto">
          <a:xfrm>
            <a:off x="585788" y="4881563"/>
            <a:ext cx="1812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we finally obtain:</a:t>
            </a:r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609600" y="5486400"/>
            <a:ext cx="3902075" cy="838201"/>
            <a:chOff x="236538" y="5562600"/>
            <a:chExt cx="3902075" cy="838201"/>
          </a:xfrm>
        </p:grpSpPr>
        <p:pic>
          <p:nvPicPr>
            <p:cNvPr id="20" name="Picture 11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538" y="5586413"/>
              <a:ext cx="3902075" cy="814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2" name="Rectangle 22"/>
            <p:cNvSpPr>
              <a:spLocks noChangeArrowheads="1"/>
            </p:cNvSpPr>
            <p:nvPr/>
          </p:nvSpPr>
          <p:spPr bwMode="auto">
            <a:xfrm>
              <a:off x="279401" y="5562600"/>
              <a:ext cx="3832225" cy="762000"/>
            </a:xfrm>
            <a:prstGeom prst="rect">
              <a:avLst/>
            </a:prstGeom>
            <a:noFill/>
            <a:ln w="9525">
              <a:solidFill>
                <a:srgbClr val="FF0035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0" name="Group 33"/>
          <p:cNvGrpSpPr/>
          <p:nvPr/>
        </p:nvGrpSpPr>
        <p:grpSpPr bwMode="auto">
          <a:xfrm>
            <a:off x="220663" y="1676400"/>
            <a:ext cx="8731250" cy="4643438"/>
            <a:chOff x="139" y="1056"/>
            <a:chExt cx="5500" cy="2925"/>
          </a:xfrm>
        </p:grpSpPr>
        <p:pic>
          <p:nvPicPr>
            <p:cNvPr id="31" name="Picture 2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" y="3360"/>
              <a:ext cx="3674" cy="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2" name="Group 28"/>
            <p:cNvGrpSpPr/>
            <p:nvPr/>
          </p:nvGrpSpPr>
          <p:grpSpPr bwMode="auto">
            <a:xfrm>
              <a:off x="2587" y="1056"/>
              <a:ext cx="3052" cy="2128"/>
              <a:chOff x="2587" y="1056"/>
              <a:chExt cx="3052" cy="2128"/>
            </a:xfrm>
          </p:grpSpPr>
          <p:grpSp>
            <p:nvGrpSpPr>
              <p:cNvPr id="50" name="Group 26"/>
              <p:cNvGrpSpPr/>
              <p:nvPr/>
            </p:nvGrpSpPr>
            <p:grpSpPr bwMode="auto">
              <a:xfrm>
                <a:off x="2587" y="1056"/>
                <a:ext cx="3052" cy="2128"/>
                <a:chOff x="2587" y="1664"/>
                <a:chExt cx="3052" cy="2128"/>
              </a:xfrm>
            </p:grpSpPr>
            <p:pic>
              <p:nvPicPr>
                <p:cNvPr id="52" name="Picture 5" descr="8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587" y="1664"/>
                  <a:ext cx="2741" cy="21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53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3984" y="2502"/>
                  <a:ext cx="418" cy="330"/>
                </a:xfrm>
                <a:prstGeom prst="lin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Rectangle 7"/>
                <p:cNvSpPr>
                  <a:spLocks noChangeArrowheads="1"/>
                </p:cNvSpPr>
                <p:nvPr/>
              </p:nvSpPr>
              <p:spPr bwMode="auto">
                <a:xfrm>
                  <a:off x="4272" y="2544"/>
                  <a:ext cx="343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b="1"/>
                    <a:t>a</a:t>
                  </a:r>
                  <a:r>
                    <a:rPr lang="en-US" altLang="zh-CN" i="1" baseline="-25000"/>
                    <a:t>R</a:t>
                  </a:r>
                  <a:r>
                    <a:rPr lang="en-US" altLang="zh-CN" baseline="-25000"/>
                    <a:t>12</a:t>
                  </a:r>
                  <a:endParaRPr lang="en-US" altLang="zh-CN" b="1"/>
                </a:p>
              </p:txBody>
            </p:sp>
            <p:pic>
              <p:nvPicPr>
                <p:cNvPr id="55" name="Picture 8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977" y="2262"/>
                  <a:ext cx="662" cy="1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56" name="Line 10"/>
                <p:cNvSpPr>
                  <a:spLocks noChangeShapeType="1"/>
                </p:cNvSpPr>
                <p:nvPr/>
              </p:nvSpPr>
              <p:spPr bwMode="auto">
                <a:xfrm>
                  <a:off x="4710" y="2082"/>
                  <a:ext cx="106" cy="261"/>
                </a:xfrm>
                <a:prstGeom prst="line">
                  <a:avLst/>
                </a:prstGeom>
                <a:noFill/>
                <a:ln w="19050">
                  <a:solidFill>
                    <a:srgbClr val="0B7CFF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Line 11"/>
                <p:cNvSpPr>
                  <a:spLocks noChangeShapeType="1"/>
                </p:cNvSpPr>
                <p:nvPr/>
              </p:nvSpPr>
              <p:spPr bwMode="auto">
                <a:xfrm>
                  <a:off x="4725" y="2193"/>
                  <a:ext cx="96" cy="0"/>
                </a:xfrm>
                <a:prstGeom prst="line">
                  <a:avLst/>
                </a:prstGeom>
                <a:noFill/>
                <a:ln w="28575">
                  <a:solidFill>
                    <a:srgbClr val="FF0035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Line 12"/>
                <p:cNvSpPr>
                  <a:spLocks noChangeShapeType="1"/>
                </p:cNvSpPr>
                <p:nvPr/>
              </p:nvSpPr>
              <p:spPr bwMode="auto">
                <a:xfrm flipH="1" flipV="1">
                  <a:off x="4818" y="2256"/>
                  <a:ext cx="144" cy="4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51" name="Rectangle 27"/>
              <p:cNvSpPr>
                <a:spLocks noChangeArrowheads="1"/>
              </p:cNvSpPr>
              <p:nvPr/>
            </p:nvSpPr>
            <p:spPr bwMode="auto">
              <a:xfrm>
                <a:off x="2688" y="1680"/>
                <a:ext cx="576" cy="24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</p:grpSp>
        <p:sp>
          <p:nvSpPr>
            <p:cNvPr id="33" name="Rectangle 20"/>
            <p:cNvSpPr>
              <a:spLocks noChangeArrowheads="1"/>
            </p:cNvSpPr>
            <p:nvPr/>
          </p:nvSpPr>
          <p:spPr bwMode="auto">
            <a:xfrm>
              <a:off x="240" y="1167"/>
              <a:ext cx="51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/>
                <a:t>Given:</a:t>
              </a:r>
              <a:endParaRPr lang="en-US" altLang="zh-CN"/>
            </a:p>
          </p:txBody>
        </p:sp>
        <p:pic>
          <p:nvPicPr>
            <p:cNvPr id="34" name="Picture 2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" y="1182"/>
              <a:ext cx="196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2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" y="1488"/>
              <a:ext cx="1347" cy="1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23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4" y="1482"/>
              <a:ext cx="59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" name="Picture 24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" y="1872"/>
              <a:ext cx="1370" cy="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Rectangle 29"/>
            <p:cNvSpPr>
              <a:spLocks noChangeArrowheads="1"/>
            </p:cNvSpPr>
            <p:nvPr/>
          </p:nvSpPr>
          <p:spPr bwMode="auto">
            <a:xfrm>
              <a:off x="500" y="1845"/>
              <a:ext cx="41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/>
                <a:t>Then</a:t>
              </a:r>
              <a:endParaRPr lang="en-US" altLang="zh-CN"/>
            </a:p>
          </p:txBody>
        </p:sp>
        <p:pic>
          <p:nvPicPr>
            <p:cNvPr id="46" name="Picture 4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2463"/>
              <a:ext cx="2458" cy="5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7" name="Rectangle 30"/>
            <p:cNvSpPr>
              <a:spLocks noChangeArrowheads="1"/>
            </p:cNvSpPr>
            <p:nvPr/>
          </p:nvSpPr>
          <p:spPr bwMode="auto">
            <a:xfrm>
              <a:off x="139" y="2228"/>
              <a:ext cx="133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/>
                <a:t>Substitute these into:</a:t>
              </a:r>
              <a:endParaRPr lang="en-US" altLang="zh-CN"/>
            </a:p>
          </p:txBody>
        </p:sp>
        <p:sp>
          <p:nvSpPr>
            <p:cNvPr id="48" name="Rectangle 31"/>
            <p:cNvSpPr>
              <a:spLocks noChangeArrowheads="1"/>
            </p:cNvSpPr>
            <p:nvPr/>
          </p:nvSpPr>
          <p:spPr bwMode="auto">
            <a:xfrm>
              <a:off x="163" y="3151"/>
              <a:ext cx="55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/>
                <a:t>Obtain:</a:t>
              </a:r>
              <a:endParaRPr lang="en-US" altLang="zh-CN"/>
            </a:p>
          </p:txBody>
        </p:sp>
        <p:sp>
          <p:nvSpPr>
            <p:cNvPr id="49" name="Line 32"/>
            <p:cNvSpPr>
              <a:spLocks noChangeShapeType="1"/>
            </p:cNvSpPr>
            <p:nvPr/>
          </p:nvSpPr>
          <p:spPr bwMode="auto">
            <a:xfrm>
              <a:off x="939" y="3981"/>
              <a:ext cx="624" cy="0"/>
            </a:xfrm>
            <a:prstGeom prst="line">
              <a:avLst/>
            </a:prstGeom>
            <a:noFill/>
            <a:ln w="9525">
              <a:solidFill>
                <a:srgbClr val="FF148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Force Between Current Filaments of Finite or Infinite Lengths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343400"/>
            <a:ext cx="4724400" cy="1635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482" y="2431252"/>
            <a:ext cx="4316232" cy="921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Rectangle 5"/>
          <p:cNvSpPr>
            <a:spLocks noChangeArrowheads="1"/>
          </p:cNvSpPr>
          <p:nvPr/>
        </p:nvSpPr>
        <p:spPr bwMode="auto">
          <a:xfrm>
            <a:off x="685800" y="2068512"/>
            <a:ext cx="6111876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force is found by integrating the differential filament result:</a:t>
            </a:r>
            <a:endParaRPr lang="en-US" altLang="zh-CN" dirty="0"/>
          </a:p>
        </p:txBody>
      </p:sp>
      <p:sp>
        <p:nvSpPr>
          <p:cNvPr id="40" name="Rectangle 6"/>
          <p:cNvSpPr>
            <a:spLocks noChangeArrowheads="1"/>
          </p:cNvSpPr>
          <p:nvPr/>
        </p:nvSpPr>
        <p:spPr bwMode="auto">
          <a:xfrm>
            <a:off x="685800" y="3267075"/>
            <a:ext cx="80391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in which </a:t>
            </a:r>
            <a:r>
              <a:rPr lang="en-US" altLang="zh-CN" dirty="0">
                <a:solidFill>
                  <a:srgbClr val="C00000"/>
                </a:solidFill>
              </a:rPr>
              <a:t>the integral is taken over the lengths of both filaments</a:t>
            </a:r>
            <a:r>
              <a:rPr lang="en-US" altLang="zh-CN" dirty="0"/>
              <a:t>. To be complete, both integrals would be taken over the closed loops that the currents must form, thus the general expression:</a:t>
            </a:r>
            <a:endParaRPr lang="en-US" altLang="zh-CN" dirty="0"/>
          </a:p>
        </p:txBody>
      </p:sp>
      <p:sp>
        <p:nvSpPr>
          <p:cNvPr id="41" name="Rectangle 7"/>
          <p:cNvSpPr>
            <a:spLocks noChangeArrowheads="1"/>
          </p:cNvSpPr>
          <p:nvPr/>
        </p:nvSpPr>
        <p:spPr bwMode="auto">
          <a:xfrm>
            <a:off x="5791200" y="4114800"/>
            <a:ext cx="269875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These integrals can </a:t>
            </a:r>
            <a:endParaRPr lang="en-US" altLang="zh-CN" dirty="0"/>
          </a:p>
          <a:p>
            <a:r>
              <a:rPr lang="en-US" altLang="zh-CN" dirty="0"/>
              <a:t>be </a:t>
            </a:r>
            <a:r>
              <a:rPr lang="en-US" altLang="zh-CN" dirty="0">
                <a:solidFill>
                  <a:srgbClr val="C00000"/>
                </a:solidFill>
              </a:rPr>
              <a:t>modified to incorporate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specific limits</a:t>
            </a:r>
            <a:r>
              <a:rPr lang="en-US" altLang="zh-CN" dirty="0"/>
              <a:t>, in order to </a:t>
            </a:r>
            <a:endParaRPr lang="en-US" altLang="zh-CN" dirty="0"/>
          </a:p>
          <a:p>
            <a:r>
              <a:rPr lang="en-US" altLang="zh-CN" dirty="0"/>
              <a:t>find the force from a 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specified segment </a:t>
            </a:r>
            <a:r>
              <a:rPr lang="en-US" altLang="zh-CN" dirty="0"/>
              <a:t>of a </a:t>
            </a:r>
            <a:endParaRPr lang="en-US" altLang="zh-CN" dirty="0"/>
          </a:p>
          <a:p>
            <a:r>
              <a:rPr lang="en-US" altLang="zh-CN" dirty="0"/>
              <a:t>wire that acts on a </a:t>
            </a:r>
            <a:r>
              <a:rPr lang="en-US" altLang="zh-CN" dirty="0">
                <a:solidFill>
                  <a:srgbClr val="C00000"/>
                </a:solidFill>
              </a:rPr>
              <a:t>specific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segment</a:t>
            </a:r>
            <a:r>
              <a:rPr lang="en-US" altLang="zh-CN" dirty="0"/>
              <a:t> of another wire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Example:  Force Between Parallel Wires (the easy way)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533400" y="1600200"/>
            <a:ext cx="8001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Consider the two wires shown here, </a:t>
            </a:r>
            <a:r>
              <a:rPr lang="en-US" altLang="zh-CN" dirty="0">
                <a:solidFill>
                  <a:srgbClr val="C00000"/>
                </a:solidFill>
              </a:rPr>
              <a:t>carrying equal and opposite currents, </a:t>
            </a:r>
            <a:r>
              <a:rPr lang="en-US" altLang="zh-CN" i="1" dirty="0"/>
              <a:t>I</a:t>
            </a:r>
            <a:r>
              <a:rPr lang="en-US" altLang="zh-CN" dirty="0"/>
              <a:t>, and spaced by distance </a:t>
            </a:r>
            <a:r>
              <a:rPr lang="en-US" altLang="zh-CN" i="1" dirty="0"/>
              <a:t>d</a:t>
            </a:r>
            <a:r>
              <a:rPr lang="en-US" altLang="zh-CN" baseline="-25000" dirty="0"/>
              <a:t>12</a:t>
            </a:r>
            <a:r>
              <a:rPr lang="en-US" altLang="zh-CN" dirty="0"/>
              <a:t> along the </a:t>
            </a:r>
            <a:r>
              <a:rPr lang="en-US" altLang="zh-CN" i="1" dirty="0"/>
              <a:t>y </a:t>
            </a:r>
            <a:r>
              <a:rPr lang="en-US" altLang="zh-CN" dirty="0"/>
              <a:t>axis.  The wires are oriented in the </a:t>
            </a:r>
            <a:r>
              <a:rPr lang="en-US" altLang="zh-CN" i="1" dirty="0"/>
              <a:t>z </a:t>
            </a:r>
            <a:r>
              <a:rPr lang="en-US" altLang="zh-CN" dirty="0"/>
              <a:t>direction</a:t>
            </a:r>
            <a:endParaRPr lang="en-US" altLang="zh-CN" dirty="0"/>
          </a:p>
          <a:p>
            <a:r>
              <a:rPr lang="en-US" altLang="zh-CN" dirty="0"/>
              <a:t>and both are </a:t>
            </a:r>
            <a:r>
              <a:rPr lang="en-US" altLang="zh-CN" dirty="0">
                <a:solidFill>
                  <a:srgbClr val="C00000"/>
                </a:solidFill>
              </a:rPr>
              <a:t>infinitely long</a:t>
            </a:r>
            <a:r>
              <a:rPr lang="en-US" altLang="zh-CN" dirty="0"/>
              <a:t>.</a:t>
            </a:r>
            <a:endParaRPr lang="en-US" altLang="zh-CN" dirty="0"/>
          </a:p>
        </p:txBody>
      </p:sp>
      <p:grpSp>
        <p:nvGrpSpPr>
          <p:cNvPr id="13" name="Group 41"/>
          <p:cNvGrpSpPr/>
          <p:nvPr/>
        </p:nvGrpSpPr>
        <p:grpSpPr bwMode="auto">
          <a:xfrm>
            <a:off x="528638" y="2554287"/>
            <a:ext cx="4775199" cy="646113"/>
            <a:chOff x="384" y="1839"/>
            <a:chExt cx="3008" cy="407"/>
          </a:xfrm>
        </p:grpSpPr>
        <p:sp>
          <p:nvSpPr>
            <p:cNvPr id="14" name="Rectangle 21"/>
            <p:cNvSpPr>
              <a:spLocks noChangeArrowheads="1"/>
            </p:cNvSpPr>
            <p:nvPr/>
          </p:nvSpPr>
          <p:spPr bwMode="auto">
            <a:xfrm>
              <a:off x="384" y="1839"/>
              <a:ext cx="300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dirty="0"/>
                <a:t>The force is to be found on a length    of wire 2, </a:t>
              </a:r>
              <a:endParaRPr lang="en-US" altLang="zh-CN" dirty="0"/>
            </a:p>
            <a:p>
              <a:r>
                <a:rPr lang="en-US" altLang="zh-CN" dirty="0"/>
                <a:t>of equal extent above and below the </a:t>
              </a:r>
              <a:r>
                <a:rPr lang="en-US" altLang="zh-CN" i="1" dirty="0"/>
                <a:t>y </a:t>
              </a:r>
              <a:r>
                <a:rPr lang="en-US" altLang="zh-CN" dirty="0"/>
                <a:t>axis. </a:t>
              </a:r>
              <a:endParaRPr lang="en-US" altLang="zh-CN" dirty="0"/>
            </a:p>
          </p:txBody>
        </p:sp>
        <p:pic>
          <p:nvPicPr>
            <p:cNvPr id="15" name="Picture 2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9" y="1887"/>
              <a:ext cx="98" cy="1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33" name="Rectangle 28"/>
          <p:cNvSpPr>
            <a:spLocks noChangeArrowheads="1"/>
          </p:cNvSpPr>
          <p:nvPr/>
        </p:nvSpPr>
        <p:spPr bwMode="auto">
          <a:xfrm>
            <a:off x="523875" y="3350770"/>
            <a:ext cx="4968027" cy="840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dirty="0"/>
              <a:t>We can solve this one fairly quickly by observing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that the </a:t>
            </a:r>
            <a:r>
              <a:rPr lang="en-US" altLang="zh-CN" b="1" dirty="0"/>
              <a:t>B </a:t>
            </a:r>
            <a:r>
              <a:rPr lang="en-US" altLang="zh-CN" dirty="0"/>
              <a:t>field from wire 1 at the location of wire 2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en-US" altLang="zh-CN" dirty="0"/>
              <a:t>will be:</a:t>
            </a:r>
            <a:endParaRPr lang="en-US" altLang="zh-CN" dirty="0"/>
          </a:p>
        </p:txBody>
      </p:sp>
      <p:grpSp>
        <p:nvGrpSpPr>
          <p:cNvPr id="3" name="组合 2"/>
          <p:cNvGrpSpPr/>
          <p:nvPr/>
        </p:nvGrpSpPr>
        <p:grpSpPr>
          <a:xfrm>
            <a:off x="5486400" y="2286000"/>
            <a:ext cx="2852737" cy="3886199"/>
            <a:chOff x="5802223" y="2360613"/>
            <a:chExt cx="2852737" cy="3886199"/>
          </a:xfrm>
        </p:grpSpPr>
        <p:grpSp>
          <p:nvGrpSpPr>
            <p:cNvPr id="16" name="Group 27"/>
            <p:cNvGrpSpPr/>
            <p:nvPr/>
          </p:nvGrpSpPr>
          <p:grpSpPr bwMode="auto">
            <a:xfrm>
              <a:off x="5802223" y="2360613"/>
              <a:ext cx="2852737" cy="3886199"/>
              <a:chOff x="3531" y="1641"/>
              <a:chExt cx="1797" cy="2448"/>
            </a:xfrm>
          </p:grpSpPr>
          <p:grpSp>
            <p:nvGrpSpPr>
              <p:cNvPr id="17" name="Group 20"/>
              <p:cNvGrpSpPr/>
              <p:nvPr/>
            </p:nvGrpSpPr>
            <p:grpSpPr bwMode="auto">
              <a:xfrm>
                <a:off x="3531" y="1641"/>
                <a:ext cx="1797" cy="2448"/>
                <a:chOff x="3531" y="1641"/>
                <a:chExt cx="1797" cy="2448"/>
              </a:xfrm>
            </p:grpSpPr>
            <p:sp>
              <p:nvSpPr>
                <p:cNvPr id="22" name="Line 4"/>
                <p:cNvSpPr>
                  <a:spLocks noChangeShapeType="1"/>
                </p:cNvSpPr>
                <p:nvPr/>
              </p:nvSpPr>
              <p:spPr bwMode="auto">
                <a:xfrm>
                  <a:off x="4566" y="2067"/>
                  <a:ext cx="0" cy="1728"/>
                </a:xfrm>
                <a:prstGeom prst="line">
                  <a:avLst/>
                </a:prstGeom>
                <a:noFill/>
                <a:ln w="19050">
                  <a:solidFill>
                    <a:srgbClr val="0B7CFF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5"/>
                <p:cNvSpPr>
                  <a:spLocks noChangeShapeType="1"/>
                </p:cNvSpPr>
                <p:nvPr/>
              </p:nvSpPr>
              <p:spPr bwMode="auto">
                <a:xfrm flipV="1">
                  <a:off x="3750" y="2055"/>
                  <a:ext cx="0" cy="1728"/>
                </a:xfrm>
                <a:prstGeom prst="line">
                  <a:avLst/>
                </a:prstGeom>
                <a:noFill/>
                <a:ln w="19050">
                  <a:solidFill>
                    <a:srgbClr val="0B7CFF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6"/>
                <p:cNvSpPr>
                  <a:spLocks noChangeShapeType="1"/>
                </p:cNvSpPr>
                <p:nvPr/>
              </p:nvSpPr>
              <p:spPr bwMode="auto">
                <a:xfrm>
                  <a:off x="3747" y="2928"/>
                  <a:ext cx="15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3750" y="1776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Rectangle 8"/>
                <p:cNvSpPr>
                  <a:spLocks noChangeArrowheads="1"/>
                </p:cNvSpPr>
                <p:nvPr/>
              </p:nvSpPr>
              <p:spPr bwMode="auto">
                <a:xfrm>
                  <a:off x="5148" y="2898"/>
                  <a:ext cx="18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i="1"/>
                    <a:t>y</a:t>
                  </a:r>
                  <a:endParaRPr lang="en-US" altLang="zh-CN" i="1"/>
                </a:p>
              </p:txBody>
            </p:sp>
            <p:sp>
              <p:nvSpPr>
                <p:cNvPr id="27" name="Rectangle 9"/>
                <p:cNvSpPr>
                  <a:spLocks noChangeArrowheads="1"/>
                </p:cNvSpPr>
                <p:nvPr/>
              </p:nvSpPr>
              <p:spPr bwMode="auto">
                <a:xfrm>
                  <a:off x="4299" y="2886"/>
                  <a:ext cx="28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i="1" dirty="0"/>
                    <a:t>d</a:t>
                  </a:r>
                  <a:r>
                    <a:rPr lang="en-US" altLang="zh-CN" baseline="-25000" dirty="0"/>
                    <a:t>12</a:t>
                  </a:r>
                  <a:endParaRPr lang="en-US" altLang="zh-CN" i="1" dirty="0"/>
                </a:p>
              </p:txBody>
            </p:sp>
            <p:sp>
              <p:nvSpPr>
                <p:cNvPr id="28" name="Rectangle 10"/>
                <p:cNvSpPr>
                  <a:spLocks noChangeArrowheads="1"/>
                </p:cNvSpPr>
                <p:nvPr/>
              </p:nvSpPr>
              <p:spPr bwMode="auto">
                <a:xfrm>
                  <a:off x="4614" y="3648"/>
                  <a:ext cx="16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i="1"/>
                    <a:t>I</a:t>
                  </a:r>
                  <a:endParaRPr lang="en-US" altLang="zh-CN" i="1"/>
                </a:p>
              </p:txBody>
            </p:sp>
            <p:sp>
              <p:nvSpPr>
                <p:cNvPr id="29" name="Rectangle 11"/>
                <p:cNvSpPr>
                  <a:spLocks noChangeArrowheads="1"/>
                </p:cNvSpPr>
                <p:nvPr/>
              </p:nvSpPr>
              <p:spPr bwMode="auto">
                <a:xfrm>
                  <a:off x="3531" y="2016"/>
                  <a:ext cx="16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i="1"/>
                    <a:t>I</a:t>
                  </a:r>
                  <a:endParaRPr lang="en-US" altLang="zh-CN" i="1"/>
                </a:p>
              </p:txBody>
            </p:sp>
            <p:sp>
              <p:nvSpPr>
                <p:cNvPr id="30" name="Rectangle 12"/>
                <p:cNvSpPr>
                  <a:spLocks noChangeArrowheads="1"/>
                </p:cNvSpPr>
                <p:nvPr/>
              </p:nvSpPr>
              <p:spPr bwMode="auto">
                <a:xfrm>
                  <a:off x="3578" y="1641"/>
                  <a:ext cx="17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i="1" dirty="0"/>
                    <a:t>z</a:t>
                  </a:r>
                  <a:endParaRPr lang="en-US" altLang="zh-CN" i="1" dirty="0"/>
                </a:p>
              </p:txBody>
            </p:sp>
            <p:sp>
              <p:nvSpPr>
                <p:cNvPr id="31" name="Rectangle 13"/>
                <p:cNvSpPr>
                  <a:spLocks noChangeArrowheads="1"/>
                </p:cNvSpPr>
                <p:nvPr/>
              </p:nvSpPr>
              <p:spPr bwMode="auto">
                <a:xfrm>
                  <a:off x="3591" y="3874"/>
                  <a:ext cx="443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sz="1600" dirty="0"/>
                    <a:t>wire 1</a:t>
                  </a:r>
                  <a:endParaRPr lang="en-US" altLang="zh-CN" sz="1600" dirty="0"/>
                </a:p>
              </p:txBody>
            </p:sp>
            <p:sp>
              <p:nvSpPr>
                <p:cNvPr id="32" name="Rectangle 14"/>
                <p:cNvSpPr>
                  <a:spLocks noChangeArrowheads="1"/>
                </p:cNvSpPr>
                <p:nvPr/>
              </p:nvSpPr>
              <p:spPr bwMode="auto">
                <a:xfrm>
                  <a:off x="4386" y="3876"/>
                  <a:ext cx="443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sz="1600" dirty="0"/>
                    <a:t>wire 2</a:t>
                  </a:r>
                  <a:endParaRPr lang="en-US" altLang="zh-CN" sz="1600" dirty="0"/>
                </a:p>
              </p:txBody>
            </p:sp>
          </p:grpSp>
          <p:sp>
            <p:nvSpPr>
              <p:cNvPr id="18" name="Line 23"/>
              <p:cNvSpPr>
                <a:spLocks noChangeShapeType="1"/>
              </p:cNvSpPr>
              <p:nvPr/>
            </p:nvSpPr>
            <p:spPr bwMode="auto">
              <a:xfrm>
                <a:off x="4500" y="249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Line 24"/>
              <p:cNvSpPr>
                <a:spLocks noChangeShapeType="1"/>
              </p:cNvSpPr>
              <p:nvPr/>
            </p:nvSpPr>
            <p:spPr bwMode="auto">
              <a:xfrm>
                <a:off x="4491" y="338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20" name="Picture 25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4" y="2400"/>
                <a:ext cx="276" cy="1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21" name="Picture 26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56" y="3297"/>
                <a:ext cx="403" cy="1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34" name="Group 31"/>
            <p:cNvGrpSpPr/>
            <p:nvPr/>
          </p:nvGrpSpPr>
          <p:grpSpPr bwMode="auto">
            <a:xfrm>
              <a:off x="7446873" y="3932238"/>
              <a:ext cx="260350" cy="274637"/>
              <a:chOff x="1396" y="2961"/>
              <a:chExt cx="164" cy="173"/>
            </a:xfrm>
          </p:grpSpPr>
          <p:sp>
            <p:nvSpPr>
              <p:cNvPr id="35" name="Oval 29"/>
              <p:cNvSpPr>
                <a:spLocks noChangeArrowheads="1"/>
              </p:cNvSpPr>
              <p:nvPr/>
            </p:nvSpPr>
            <p:spPr bwMode="auto">
              <a:xfrm>
                <a:off x="1433" y="3010"/>
                <a:ext cx="82" cy="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37" name="Rectangle 30"/>
              <p:cNvSpPr>
                <a:spLocks noChangeArrowheads="1"/>
              </p:cNvSpPr>
              <p:nvPr/>
            </p:nvSpPr>
            <p:spPr bwMode="auto">
              <a:xfrm>
                <a:off x="1396" y="2961"/>
                <a:ext cx="1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200">
                    <a:latin typeface="Arial" panose="020B0604020202020204" pitchFamily="34" charset="0"/>
                  </a:rPr>
                  <a:t>x</a:t>
                </a:r>
                <a:endParaRPr lang="en-US" altLang="zh-CN" sz="12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42" name="Rectangle 32"/>
            <p:cNvSpPr>
              <a:spLocks noChangeArrowheads="1"/>
            </p:cNvSpPr>
            <p:nvPr/>
          </p:nvSpPr>
          <p:spPr bwMode="auto">
            <a:xfrm>
              <a:off x="7592923" y="3894138"/>
              <a:ext cx="4889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B</a:t>
              </a:r>
              <a:r>
                <a:rPr lang="en-US" altLang="zh-CN" baseline="-25000"/>
                <a:t>12</a:t>
              </a:r>
              <a:endParaRPr lang="en-US" altLang="zh-CN" b="1"/>
            </a:p>
          </p:txBody>
        </p:sp>
        <p:sp>
          <p:nvSpPr>
            <p:cNvPr id="44" name="Line 33"/>
            <p:cNvSpPr>
              <a:spLocks noChangeShapeType="1"/>
            </p:cNvSpPr>
            <p:nvPr/>
          </p:nvSpPr>
          <p:spPr bwMode="auto">
            <a:xfrm>
              <a:off x="7440523" y="3897313"/>
              <a:ext cx="0" cy="354012"/>
            </a:xfrm>
            <a:prstGeom prst="line">
              <a:avLst/>
            </a:prstGeom>
            <a:noFill/>
            <a:ln w="28575">
              <a:solidFill>
                <a:srgbClr val="FF1485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34"/>
            <p:cNvSpPr>
              <a:spLocks noChangeShapeType="1"/>
            </p:cNvSpPr>
            <p:nvPr/>
          </p:nvSpPr>
          <p:spPr bwMode="auto">
            <a:xfrm flipV="1">
              <a:off x="7332573" y="4246563"/>
              <a:ext cx="222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35"/>
            <p:cNvSpPr>
              <a:spLocks noChangeShapeType="1"/>
            </p:cNvSpPr>
            <p:nvPr/>
          </p:nvSpPr>
          <p:spPr bwMode="auto">
            <a:xfrm flipV="1">
              <a:off x="7330985" y="3902075"/>
              <a:ext cx="222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47" name="Picture 37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68960" y="3641725"/>
              <a:ext cx="603250" cy="3079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8" name="Line 38"/>
            <p:cNvSpPr>
              <a:spLocks noChangeShapeType="1"/>
            </p:cNvSpPr>
            <p:nvPr/>
          </p:nvSpPr>
          <p:spPr bwMode="auto">
            <a:xfrm>
              <a:off x="6978560" y="3870325"/>
              <a:ext cx="333375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49" name="Picture 3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5094287"/>
            <a:ext cx="2001838" cy="39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0" name="Picture 4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295774"/>
            <a:ext cx="2028825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" name="Rectangle 42"/>
          <p:cNvSpPr>
            <a:spLocks noChangeArrowheads="1"/>
          </p:cNvSpPr>
          <p:nvPr/>
        </p:nvSpPr>
        <p:spPr bwMode="auto">
          <a:xfrm>
            <a:off x="703263" y="5084762"/>
            <a:ext cx="5180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and</a:t>
            </a:r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Example:  Force Between Parallel Wires (the easy way)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3" name="Group 38"/>
          <p:cNvGrpSpPr/>
          <p:nvPr/>
        </p:nvGrpSpPr>
        <p:grpSpPr bwMode="auto">
          <a:xfrm>
            <a:off x="5715000" y="2514601"/>
            <a:ext cx="2852738" cy="3852863"/>
            <a:chOff x="3531" y="1653"/>
            <a:chExt cx="1797" cy="2427"/>
          </a:xfrm>
        </p:grpSpPr>
        <p:grpSp>
          <p:nvGrpSpPr>
            <p:cNvPr id="64" name="Group 7"/>
            <p:cNvGrpSpPr/>
            <p:nvPr/>
          </p:nvGrpSpPr>
          <p:grpSpPr bwMode="auto">
            <a:xfrm>
              <a:off x="3531" y="1653"/>
              <a:ext cx="1797" cy="2427"/>
              <a:chOff x="3531" y="1641"/>
              <a:chExt cx="1797" cy="2427"/>
            </a:xfrm>
          </p:grpSpPr>
          <p:grpSp>
            <p:nvGrpSpPr>
              <p:cNvPr id="74" name="Group 8"/>
              <p:cNvGrpSpPr/>
              <p:nvPr/>
            </p:nvGrpSpPr>
            <p:grpSpPr bwMode="auto">
              <a:xfrm>
                <a:off x="3531" y="1641"/>
                <a:ext cx="1797" cy="2427"/>
                <a:chOff x="3531" y="1641"/>
                <a:chExt cx="1797" cy="2427"/>
              </a:xfrm>
            </p:grpSpPr>
            <p:sp>
              <p:nvSpPr>
                <p:cNvPr id="79" name="Line 9"/>
                <p:cNvSpPr>
                  <a:spLocks noChangeShapeType="1"/>
                </p:cNvSpPr>
                <p:nvPr/>
              </p:nvSpPr>
              <p:spPr bwMode="auto">
                <a:xfrm>
                  <a:off x="4566" y="2067"/>
                  <a:ext cx="0" cy="1728"/>
                </a:xfrm>
                <a:prstGeom prst="line">
                  <a:avLst/>
                </a:prstGeom>
                <a:noFill/>
                <a:ln w="19050">
                  <a:solidFill>
                    <a:srgbClr val="0B7CFF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3750" y="2055"/>
                  <a:ext cx="0" cy="1728"/>
                </a:xfrm>
                <a:prstGeom prst="line">
                  <a:avLst/>
                </a:prstGeom>
                <a:noFill/>
                <a:ln w="19050">
                  <a:solidFill>
                    <a:srgbClr val="0B7CFF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Line 11"/>
                <p:cNvSpPr>
                  <a:spLocks noChangeShapeType="1"/>
                </p:cNvSpPr>
                <p:nvPr/>
              </p:nvSpPr>
              <p:spPr bwMode="auto">
                <a:xfrm>
                  <a:off x="3747" y="2928"/>
                  <a:ext cx="15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3750" y="1776"/>
                  <a:ext cx="0" cy="1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Rectangle 13"/>
                <p:cNvSpPr>
                  <a:spLocks noChangeArrowheads="1"/>
                </p:cNvSpPr>
                <p:nvPr/>
              </p:nvSpPr>
              <p:spPr bwMode="auto">
                <a:xfrm>
                  <a:off x="5148" y="2898"/>
                  <a:ext cx="18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i="1"/>
                    <a:t>y</a:t>
                  </a:r>
                  <a:endParaRPr lang="en-US" altLang="zh-CN" i="1"/>
                </a:p>
              </p:txBody>
            </p:sp>
            <p:sp>
              <p:nvSpPr>
                <p:cNvPr id="84" name="Rectangle 14"/>
                <p:cNvSpPr>
                  <a:spLocks noChangeArrowheads="1"/>
                </p:cNvSpPr>
                <p:nvPr/>
              </p:nvSpPr>
              <p:spPr bwMode="auto">
                <a:xfrm>
                  <a:off x="4320" y="2886"/>
                  <a:ext cx="28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i="1"/>
                    <a:t>d</a:t>
                  </a:r>
                  <a:r>
                    <a:rPr lang="en-US" altLang="zh-CN" baseline="-25000"/>
                    <a:t>12</a:t>
                  </a:r>
                  <a:endParaRPr lang="en-US" altLang="zh-CN" i="1"/>
                </a:p>
              </p:txBody>
            </p:sp>
            <p:sp>
              <p:nvSpPr>
                <p:cNvPr id="85" name="Rectangle 15"/>
                <p:cNvSpPr>
                  <a:spLocks noChangeArrowheads="1"/>
                </p:cNvSpPr>
                <p:nvPr/>
              </p:nvSpPr>
              <p:spPr bwMode="auto">
                <a:xfrm>
                  <a:off x="4614" y="3648"/>
                  <a:ext cx="16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i="1"/>
                    <a:t>I</a:t>
                  </a:r>
                  <a:endParaRPr lang="en-US" altLang="zh-CN" i="1"/>
                </a:p>
              </p:txBody>
            </p:sp>
            <p:sp>
              <p:nvSpPr>
                <p:cNvPr id="86" name="Rectangle 16"/>
                <p:cNvSpPr>
                  <a:spLocks noChangeArrowheads="1"/>
                </p:cNvSpPr>
                <p:nvPr/>
              </p:nvSpPr>
              <p:spPr bwMode="auto">
                <a:xfrm>
                  <a:off x="3531" y="2016"/>
                  <a:ext cx="16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i="1"/>
                    <a:t>I</a:t>
                  </a:r>
                  <a:endParaRPr lang="en-US" altLang="zh-CN" i="1"/>
                </a:p>
              </p:txBody>
            </p:sp>
            <p:sp>
              <p:nvSpPr>
                <p:cNvPr id="87" name="Rectangle 17"/>
                <p:cNvSpPr>
                  <a:spLocks noChangeArrowheads="1"/>
                </p:cNvSpPr>
                <p:nvPr/>
              </p:nvSpPr>
              <p:spPr bwMode="auto">
                <a:xfrm>
                  <a:off x="3578" y="1641"/>
                  <a:ext cx="17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i="1"/>
                    <a:t>z</a:t>
                  </a:r>
                  <a:endParaRPr lang="en-US" altLang="zh-CN" i="1"/>
                </a:p>
              </p:txBody>
            </p:sp>
            <p:sp>
              <p:nvSpPr>
                <p:cNvPr id="88" name="Rectangle 18"/>
                <p:cNvSpPr>
                  <a:spLocks noChangeArrowheads="1"/>
                </p:cNvSpPr>
                <p:nvPr/>
              </p:nvSpPr>
              <p:spPr bwMode="auto">
                <a:xfrm>
                  <a:off x="3591" y="3874"/>
                  <a:ext cx="399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sz="1400"/>
                    <a:t>wire 1</a:t>
                  </a:r>
                  <a:endParaRPr lang="en-US" altLang="zh-CN" sz="1400"/>
                </a:p>
              </p:txBody>
            </p:sp>
            <p:sp>
              <p:nvSpPr>
                <p:cNvPr id="89" name="Rectangle 19"/>
                <p:cNvSpPr>
                  <a:spLocks noChangeArrowheads="1"/>
                </p:cNvSpPr>
                <p:nvPr/>
              </p:nvSpPr>
              <p:spPr bwMode="auto">
                <a:xfrm>
                  <a:off x="4386" y="3876"/>
                  <a:ext cx="399" cy="19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sz="1400"/>
                    <a:t>wire 2</a:t>
                  </a:r>
                  <a:endParaRPr lang="en-US" altLang="zh-CN" sz="1400"/>
                </a:p>
              </p:txBody>
            </p:sp>
          </p:grpSp>
          <p:sp>
            <p:nvSpPr>
              <p:cNvPr id="75" name="Line 20"/>
              <p:cNvSpPr>
                <a:spLocks noChangeShapeType="1"/>
              </p:cNvSpPr>
              <p:nvPr/>
            </p:nvSpPr>
            <p:spPr bwMode="auto">
              <a:xfrm>
                <a:off x="4500" y="249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Line 21"/>
              <p:cNvSpPr>
                <a:spLocks noChangeShapeType="1"/>
              </p:cNvSpPr>
              <p:nvPr/>
            </p:nvSpPr>
            <p:spPr bwMode="auto">
              <a:xfrm>
                <a:off x="4491" y="3384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pic>
            <p:nvPicPr>
              <p:cNvPr id="77" name="Picture 22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4" y="2400"/>
                <a:ext cx="276" cy="18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pic>
            <p:nvPicPr>
              <p:cNvPr id="78" name="Picture 2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56" y="3297"/>
                <a:ext cx="403" cy="1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</p:grpSp>
        <p:grpSp>
          <p:nvGrpSpPr>
            <p:cNvPr id="65" name="Group 25"/>
            <p:cNvGrpSpPr/>
            <p:nvPr/>
          </p:nvGrpSpPr>
          <p:grpSpPr bwMode="auto">
            <a:xfrm>
              <a:off x="4567" y="2631"/>
              <a:ext cx="164" cy="173"/>
              <a:chOff x="1396" y="2961"/>
              <a:chExt cx="164" cy="173"/>
            </a:xfrm>
          </p:grpSpPr>
          <p:sp>
            <p:nvSpPr>
              <p:cNvPr id="72" name="Oval 26"/>
              <p:cNvSpPr>
                <a:spLocks noChangeArrowheads="1"/>
              </p:cNvSpPr>
              <p:nvPr/>
            </p:nvSpPr>
            <p:spPr bwMode="auto">
              <a:xfrm>
                <a:off x="1433" y="3010"/>
                <a:ext cx="82" cy="88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73" name="Rectangle 27"/>
              <p:cNvSpPr>
                <a:spLocks noChangeArrowheads="1"/>
              </p:cNvSpPr>
              <p:nvPr/>
            </p:nvSpPr>
            <p:spPr bwMode="auto">
              <a:xfrm>
                <a:off x="1396" y="2961"/>
                <a:ext cx="1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200">
                    <a:latin typeface="Arial" panose="020B0604020202020204" pitchFamily="34" charset="0"/>
                  </a:rPr>
                  <a:t>x</a:t>
                </a:r>
                <a:endParaRPr lang="en-US" altLang="zh-CN" sz="12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6" name="Rectangle 28"/>
            <p:cNvSpPr>
              <a:spLocks noChangeArrowheads="1"/>
            </p:cNvSpPr>
            <p:nvPr/>
          </p:nvSpPr>
          <p:spPr bwMode="auto">
            <a:xfrm>
              <a:off x="4659" y="2607"/>
              <a:ext cx="3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B</a:t>
              </a:r>
              <a:r>
                <a:rPr lang="en-US" altLang="zh-CN" baseline="-25000"/>
                <a:t>12</a:t>
              </a:r>
              <a:endParaRPr lang="en-US" altLang="zh-CN" b="1"/>
            </a:p>
          </p:txBody>
        </p:sp>
        <p:sp>
          <p:nvSpPr>
            <p:cNvPr id="67" name="Line 29"/>
            <p:cNvSpPr>
              <a:spLocks noChangeShapeType="1"/>
            </p:cNvSpPr>
            <p:nvPr/>
          </p:nvSpPr>
          <p:spPr bwMode="auto">
            <a:xfrm>
              <a:off x="4563" y="2609"/>
              <a:ext cx="0" cy="223"/>
            </a:xfrm>
            <a:prstGeom prst="line">
              <a:avLst/>
            </a:prstGeom>
            <a:noFill/>
            <a:ln w="28575">
              <a:solidFill>
                <a:srgbClr val="FF1485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30"/>
            <p:cNvSpPr>
              <a:spLocks noChangeShapeType="1"/>
            </p:cNvSpPr>
            <p:nvPr/>
          </p:nvSpPr>
          <p:spPr bwMode="auto">
            <a:xfrm flipV="1">
              <a:off x="4495" y="2829"/>
              <a:ext cx="1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31"/>
            <p:cNvSpPr>
              <a:spLocks noChangeShapeType="1"/>
            </p:cNvSpPr>
            <p:nvPr/>
          </p:nvSpPr>
          <p:spPr bwMode="auto">
            <a:xfrm flipV="1">
              <a:off x="4494" y="2612"/>
              <a:ext cx="1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70" name="Picture 3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8" y="2448"/>
              <a:ext cx="380" cy="1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1" name="Line 33"/>
            <p:cNvSpPr>
              <a:spLocks noChangeShapeType="1"/>
            </p:cNvSpPr>
            <p:nvPr/>
          </p:nvSpPr>
          <p:spPr bwMode="auto">
            <a:xfrm>
              <a:off x="4272" y="2592"/>
              <a:ext cx="210" cy="1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54" name="Picture 3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825" y="1868488"/>
            <a:ext cx="2001838" cy="392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5" name="Picture 3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1679575"/>
            <a:ext cx="2028825" cy="722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6" name="Rectangle 36"/>
          <p:cNvSpPr>
            <a:spLocks noChangeArrowheads="1"/>
          </p:cNvSpPr>
          <p:nvPr/>
        </p:nvSpPr>
        <p:spPr bwMode="auto">
          <a:xfrm>
            <a:off x="3849688" y="1858963"/>
            <a:ext cx="5180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/>
              <a:t>and</a:t>
            </a:r>
            <a:endParaRPr lang="en-US" altLang="zh-CN"/>
          </a:p>
        </p:txBody>
      </p:sp>
      <p:pic>
        <p:nvPicPr>
          <p:cNvPr id="57" name="Picture 39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2808" y="3056135"/>
            <a:ext cx="2203450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" name="Picture 40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700464"/>
            <a:ext cx="4616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Rectangle 41"/>
          <p:cNvSpPr>
            <a:spLocks noChangeArrowheads="1"/>
          </p:cNvSpPr>
          <p:nvPr/>
        </p:nvSpPr>
        <p:spPr bwMode="auto">
          <a:xfrm>
            <a:off x="538163" y="1824038"/>
            <a:ext cx="10446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/>
              <a:t>We have:</a:t>
            </a:r>
            <a:endParaRPr lang="en-US" altLang="zh-CN"/>
          </a:p>
        </p:txBody>
      </p:sp>
      <p:sp>
        <p:nvSpPr>
          <p:cNvPr id="60" name="Rectangle 42"/>
          <p:cNvSpPr>
            <a:spLocks noChangeArrowheads="1"/>
          </p:cNvSpPr>
          <p:nvPr/>
        </p:nvSpPr>
        <p:spPr bwMode="auto">
          <a:xfrm>
            <a:off x="547642" y="2441823"/>
            <a:ext cx="510799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Then the force acting on the differential element shown is:</a:t>
            </a:r>
            <a:endParaRPr lang="en-US" altLang="zh-CN" dirty="0"/>
          </a:p>
        </p:txBody>
      </p:sp>
      <p:pic>
        <p:nvPicPr>
          <p:cNvPr id="61" name="Picture 43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182" y="4961732"/>
            <a:ext cx="4003675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Rectangle 44"/>
          <p:cNvSpPr>
            <a:spLocks noChangeArrowheads="1"/>
          </p:cNvSpPr>
          <p:nvPr/>
        </p:nvSpPr>
        <p:spPr bwMode="auto">
          <a:xfrm>
            <a:off x="563457" y="4592400"/>
            <a:ext cx="39741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total force on the length is therefore:</a:t>
            </a:r>
            <a:endParaRPr lang="en-US" altLang="zh-CN" dirty="0"/>
          </a:p>
        </p:txBody>
      </p:sp>
      <p:sp>
        <p:nvSpPr>
          <p:cNvPr id="63" name="Rectangle 46"/>
          <p:cNvSpPr>
            <a:spLocks noChangeArrowheads="1"/>
          </p:cNvSpPr>
          <p:nvPr/>
        </p:nvSpPr>
        <p:spPr bwMode="auto">
          <a:xfrm>
            <a:off x="719031" y="5789031"/>
            <a:ext cx="28456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….which is a repulsive force</a:t>
            </a:r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Torque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转矩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: Basic Definition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45" name="Group 8"/>
          <p:cNvGrpSpPr>
            <a:grpSpLocks noChangeAspect="1"/>
          </p:cNvGrpSpPr>
          <p:nvPr/>
        </p:nvGrpSpPr>
        <p:grpSpPr bwMode="auto">
          <a:xfrm>
            <a:off x="685800" y="2011625"/>
            <a:ext cx="6827838" cy="3948113"/>
            <a:chOff x="960" y="1584"/>
            <a:chExt cx="3984" cy="2304"/>
          </a:xfrm>
        </p:grpSpPr>
        <p:pic>
          <p:nvPicPr>
            <p:cNvPr id="49" name="Picture 2" descr="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" y="1872"/>
              <a:ext cx="3766" cy="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Rectangle 6"/>
            <p:cNvSpPr>
              <a:spLocks noChangeAspect="1" noChangeArrowheads="1"/>
            </p:cNvSpPr>
            <p:nvPr/>
          </p:nvSpPr>
          <p:spPr bwMode="auto">
            <a:xfrm>
              <a:off x="2688" y="1584"/>
              <a:ext cx="2256" cy="2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>
                <a:cs typeface="Times New Roman" panose="02020603050405020304" pitchFamily="18" charset="0"/>
              </a:endParaRPr>
            </a:p>
          </p:txBody>
        </p:sp>
        <p:sp>
          <p:nvSpPr>
            <p:cNvPr id="51" name="Rectangle 7"/>
            <p:cNvSpPr>
              <a:spLocks noChangeAspect="1" noChangeArrowheads="1"/>
            </p:cNvSpPr>
            <p:nvPr/>
          </p:nvSpPr>
          <p:spPr bwMode="auto">
            <a:xfrm>
              <a:off x="1632" y="3456"/>
              <a:ext cx="240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>
                <a:cs typeface="Times New Roman" panose="02020603050405020304" pitchFamily="18" charset="0"/>
              </a:endParaRPr>
            </a:p>
          </p:txBody>
        </p:sp>
      </p:grpSp>
      <p:pic>
        <p:nvPicPr>
          <p:cNvPr id="46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5238" y="3840425"/>
            <a:ext cx="16541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Rectangle 10"/>
          <p:cNvSpPr>
            <a:spLocks noChangeArrowheads="1"/>
          </p:cNvSpPr>
          <p:nvPr/>
        </p:nvSpPr>
        <p:spPr bwMode="auto">
          <a:xfrm>
            <a:off x="3647272" y="2011625"/>
            <a:ext cx="45958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>
                <a:cs typeface="Times New Roman" panose="02020603050405020304" pitchFamily="18" charset="0"/>
              </a:rPr>
              <a:t>Given a force </a:t>
            </a:r>
            <a:r>
              <a:rPr lang="en-US" altLang="zh-CN" b="1" dirty="0">
                <a:cs typeface="Times New Roman" panose="02020603050405020304" pitchFamily="18" charset="0"/>
              </a:rPr>
              <a:t>F </a:t>
            </a:r>
            <a:r>
              <a:rPr lang="en-US" altLang="zh-CN" dirty="0">
                <a:cs typeface="Times New Roman" panose="02020603050405020304" pitchFamily="18" charset="0"/>
              </a:rPr>
              <a:t>at point </a:t>
            </a:r>
            <a:r>
              <a:rPr lang="en-US" altLang="zh-CN" i="1" dirty="0">
                <a:cs typeface="Times New Roman" panose="02020603050405020304" pitchFamily="18" charset="0"/>
              </a:rPr>
              <a:t>P</a:t>
            </a:r>
            <a:r>
              <a:rPr lang="en-US" altLang="zh-CN" dirty="0">
                <a:cs typeface="Times New Roman" panose="02020603050405020304" pitchFamily="18" charset="0"/>
              </a:rPr>
              <a:t>, the </a:t>
            </a:r>
            <a:r>
              <a:rPr lang="en-US" altLang="zh-CN" dirty="0">
                <a:solidFill>
                  <a:srgbClr val="C00000"/>
                </a:solidFill>
                <a:cs typeface="Times New Roman" panose="02020603050405020304" pitchFamily="18" charset="0"/>
              </a:rPr>
              <a:t>torque</a:t>
            </a:r>
            <a:endParaRPr lang="en-US" altLang="zh-CN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cs typeface="Times New Roman" panose="02020603050405020304" pitchFamily="18" charset="0"/>
              </a:rPr>
              <a:t>about the origin </a:t>
            </a:r>
            <a:r>
              <a:rPr lang="en-US" altLang="zh-CN" dirty="0">
                <a:cs typeface="Times New Roman" panose="02020603050405020304" pitchFamily="18" charset="0"/>
              </a:rPr>
              <a:t>is a vector that </a:t>
            </a:r>
            <a:r>
              <a:rPr lang="en-US" altLang="zh-CN" dirty="0">
                <a:solidFill>
                  <a:srgbClr val="C00000"/>
                </a:solidFill>
                <a:cs typeface="Times New Roman" panose="02020603050405020304" pitchFamily="18" charset="0"/>
              </a:rPr>
              <a:t>is perpendicular</a:t>
            </a:r>
            <a:endParaRPr lang="en-US" altLang="zh-CN" dirty="0">
              <a:solidFill>
                <a:srgbClr val="C00000"/>
              </a:solidFill>
              <a:cs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cs typeface="Times New Roman" panose="02020603050405020304" pitchFamily="18" charset="0"/>
              </a:rPr>
              <a:t>to </a:t>
            </a:r>
            <a:r>
              <a:rPr lang="en-US" altLang="zh-CN" dirty="0">
                <a:cs typeface="Times New Roman" panose="02020603050405020304" pitchFamily="18" charset="0"/>
              </a:rPr>
              <a:t>the plane containing </a:t>
            </a:r>
            <a:r>
              <a:rPr lang="en-US" altLang="zh-CN" b="1" dirty="0">
                <a:cs typeface="Times New Roman" panose="02020603050405020304" pitchFamily="18" charset="0"/>
              </a:rPr>
              <a:t>F </a:t>
            </a:r>
            <a:r>
              <a:rPr lang="en-US" altLang="zh-CN" dirty="0">
                <a:cs typeface="Times New Roman" panose="02020603050405020304" pitchFamily="18" charset="0"/>
              </a:rPr>
              <a:t>and position vector</a:t>
            </a:r>
            <a:endParaRPr lang="en-US" altLang="zh-CN" dirty="0">
              <a:cs typeface="Times New Roman" panose="02020603050405020304" pitchFamily="18" charset="0"/>
            </a:endParaRPr>
          </a:p>
          <a:p>
            <a:r>
              <a:rPr lang="en-US" altLang="zh-CN" b="1" dirty="0">
                <a:cs typeface="Times New Roman" panose="02020603050405020304" pitchFamily="18" charset="0"/>
              </a:rPr>
              <a:t>R</a:t>
            </a:r>
            <a:r>
              <a:rPr lang="en-US" altLang="zh-CN" dirty="0">
                <a:cs typeface="Times New Roman" panose="02020603050405020304" pitchFamily="18" charset="0"/>
              </a:rPr>
              <a:t>.  The </a:t>
            </a:r>
            <a:r>
              <a:rPr lang="en-US" altLang="zh-CN" dirty="0">
                <a:solidFill>
                  <a:srgbClr val="C00000"/>
                </a:solidFill>
                <a:cs typeface="Times New Roman" panose="02020603050405020304" pitchFamily="18" charset="0"/>
              </a:rPr>
              <a:t>torque vector </a:t>
            </a:r>
            <a:r>
              <a:rPr lang="en-US" altLang="zh-CN" dirty="0">
                <a:cs typeface="Times New Roman" panose="02020603050405020304" pitchFamily="18" charset="0"/>
              </a:rPr>
              <a:t>is the cross product:</a:t>
            </a:r>
            <a:endParaRPr lang="en-US" altLang="zh-CN" dirty="0">
              <a:cs typeface="Times New Roman" panose="02020603050405020304" pitchFamily="18" charset="0"/>
            </a:endParaRPr>
          </a:p>
        </p:txBody>
      </p:sp>
      <p:sp>
        <p:nvSpPr>
          <p:cNvPr id="48" name="Line 11"/>
          <p:cNvSpPr>
            <a:spLocks noChangeShapeType="1"/>
          </p:cNvSpPr>
          <p:nvPr/>
        </p:nvSpPr>
        <p:spPr bwMode="auto">
          <a:xfrm>
            <a:off x="5151438" y="4297625"/>
            <a:ext cx="1447800" cy="0"/>
          </a:xfrm>
          <a:prstGeom prst="line">
            <a:avLst/>
          </a:prstGeom>
          <a:noFill/>
          <a:ln w="9525">
            <a:solidFill>
              <a:srgbClr val="FF148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Torque: General Equation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5" name="Group 6"/>
          <p:cNvGrpSpPr>
            <a:grpSpLocks noChangeAspect="1"/>
          </p:cNvGrpSpPr>
          <p:nvPr/>
        </p:nvGrpSpPr>
        <p:grpSpPr bwMode="auto">
          <a:xfrm>
            <a:off x="1590675" y="1616075"/>
            <a:ext cx="7248525" cy="3940175"/>
            <a:chOff x="576" y="1728"/>
            <a:chExt cx="4150" cy="2256"/>
          </a:xfrm>
        </p:grpSpPr>
        <p:pic>
          <p:nvPicPr>
            <p:cNvPr id="24" name="Picture 2" descr="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0" y="1872"/>
              <a:ext cx="3766" cy="1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Rectangle 4"/>
            <p:cNvSpPr>
              <a:spLocks noChangeAspect="1" noChangeArrowheads="1"/>
            </p:cNvSpPr>
            <p:nvPr/>
          </p:nvSpPr>
          <p:spPr bwMode="auto">
            <a:xfrm>
              <a:off x="576" y="1728"/>
              <a:ext cx="2112" cy="2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sp>
          <p:nvSpPr>
            <p:cNvPr id="26" name="Rectangle 5"/>
            <p:cNvSpPr>
              <a:spLocks noChangeAspect="1" noChangeArrowheads="1"/>
            </p:cNvSpPr>
            <p:nvPr/>
          </p:nvSpPr>
          <p:spPr bwMode="auto">
            <a:xfrm>
              <a:off x="3648" y="3456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</p:grp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533400" y="1676400"/>
            <a:ext cx="42814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Now, consider two </a:t>
            </a:r>
            <a:r>
              <a:rPr lang="en-US" altLang="zh-CN" i="1" dirty="0">
                <a:solidFill>
                  <a:srgbClr val="C00000"/>
                </a:solidFill>
              </a:rPr>
              <a:t>equal and opposite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forces, applied at points </a:t>
            </a:r>
            <a:r>
              <a:rPr lang="en-US" altLang="zh-CN" i="1" dirty="0"/>
              <a:t>P</a:t>
            </a:r>
            <a:r>
              <a:rPr lang="en-US" altLang="zh-CN" baseline="-25000" dirty="0"/>
              <a:t>1 </a:t>
            </a:r>
            <a:r>
              <a:rPr lang="en-US" altLang="zh-CN" dirty="0"/>
              <a:t>and </a:t>
            </a:r>
            <a:r>
              <a:rPr lang="en-US" altLang="zh-CN" i="1" dirty="0"/>
              <a:t>P</a:t>
            </a:r>
            <a:r>
              <a:rPr lang="en-US" altLang="zh-CN" baseline="-25000" dirty="0"/>
              <a:t>2</a:t>
            </a:r>
            <a:r>
              <a:rPr lang="en-US" altLang="zh-CN" dirty="0"/>
              <a:t> as shown.</a:t>
            </a:r>
            <a:endParaRPr lang="en-US" altLang="zh-CN" dirty="0"/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539750" y="2438400"/>
            <a:ext cx="5699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As the </a:t>
            </a:r>
            <a:r>
              <a:rPr lang="en-US" altLang="zh-CN" dirty="0">
                <a:solidFill>
                  <a:srgbClr val="C00000"/>
                </a:solidFill>
              </a:rPr>
              <a:t>net force </a:t>
            </a:r>
            <a:r>
              <a:rPr lang="en-US" altLang="zh-CN" dirty="0"/>
              <a:t>is zero, there is no translation of the object.</a:t>
            </a:r>
            <a:endParaRPr lang="en-US" altLang="zh-CN" dirty="0"/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527050" y="2895600"/>
            <a:ext cx="3614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</a:t>
            </a:r>
            <a:r>
              <a:rPr lang="en-US" altLang="zh-CN" dirty="0">
                <a:solidFill>
                  <a:srgbClr val="C00000"/>
                </a:solidFill>
              </a:rPr>
              <a:t>net torque </a:t>
            </a:r>
            <a:r>
              <a:rPr lang="en-US" altLang="zh-CN" dirty="0"/>
              <a:t>on the system will be:</a:t>
            </a:r>
            <a:endParaRPr lang="en-US" altLang="zh-CN" dirty="0"/>
          </a:p>
        </p:txBody>
      </p:sp>
      <p:pic>
        <p:nvPicPr>
          <p:cNvPr id="19" name="Picture 1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343" y="3276600"/>
            <a:ext cx="3373438" cy="61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25" y="4495800"/>
            <a:ext cx="4232275" cy="37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606425" y="3962400"/>
            <a:ext cx="20569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But since </a:t>
            </a:r>
            <a:r>
              <a:rPr lang="en-US" altLang="zh-CN" sz="2000" b="1" dirty="0"/>
              <a:t>F</a:t>
            </a:r>
            <a:r>
              <a:rPr lang="en-US" altLang="zh-CN" sz="2000" baseline="-25000" dirty="0"/>
              <a:t>2 </a:t>
            </a:r>
            <a:r>
              <a:rPr lang="en-US" altLang="zh-CN" sz="2000" dirty="0"/>
              <a:t>= -</a:t>
            </a:r>
            <a:r>
              <a:rPr lang="en-US" altLang="zh-CN" sz="2000" b="1" dirty="0"/>
              <a:t>F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en-US" altLang="zh-CN" dirty="0"/>
              <a:t>:</a:t>
            </a:r>
            <a:endParaRPr lang="en-US" altLang="zh-CN" dirty="0"/>
          </a:p>
        </p:txBody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558800" y="5181600"/>
            <a:ext cx="793884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This means that </a:t>
            </a:r>
            <a:r>
              <a:rPr lang="en-US" altLang="zh-CN" dirty="0">
                <a:solidFill>
                  <a:srgbClr val="C00000"/>
                </a:solidFill>
              </a:rPr>
              <a:t>the </a:t>
            </a:r>
            <a:r>
              <a:rPr lang="en-US" altLang="zh-CN" i="1" dirty="0">
                <a:solidFill>
                  <a:srgbClr val="C00000"/>
                </a:solidFill>
              </a:rPr>
              <a:t>torque is independent of the choice of origin, provided the total </a:t>
            </a:r>
            <a:endParaRPr lang="en-US" altLang="zh-CN" i="1" dirty="0">
              <a:solidFill>
                <a:srgbClr val="C00000"/>
              </a:solidFill>
            </a:endParaRPr>
          </a:p>
          <a:p>
            <a:r>
              <a:rPr lang="en-US" altLang="zh-CN" i="1" dirty="0">
                <a:solidFill>
                  <a:srgbClr val="C00000"/>
                </a:solidFill>
              </a:rPr>
              <a:t>force acting is zero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en-US" altLang="zh-CN" dirty="0"/>
              <a:t>  This applies to </a:t>
            </a:r>
            <a:r>
              <a:rPr lang="en-US" altLang="zh-CN" dirty="0">
                <a:solidFill>
                  <a:srgbClr val="C00000"/>
                </a:solidFill>
              </a:rPr>
              <a:t>any number of forces</a:t>
            </a:r>
            <a:r>
              <a:rPr lang="en-US" altLang="zh-CN" dirty="0"/>
              <a:t>.  </a:t>
            </a:r>
            <a:r>
              <a:rPr lang="en-US" altLang="zh-CN" dirty="0">
                <a:solidFill>
                  <a:srgbClr val="C00000"/>
                </a:solidFill>
              </a:rPr>
              <a:t>And the origin can be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located anywhere that is convenient.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23" name="Line 14"/>
          <p:cNvSpPr>
            <a:spLocks noChangeShapeType="1"/>
          </p:cNvSpPr>
          <p:nvPr/>
        </p:nvSpPr>
        <p:spPr bwMode="auto">
          <a:xfrm>
            <a:off x="3886200" y="4876800"/>
            <a:ext cx="1143000" cy="0"/>
          </a:xfrm>
          <a:prstGeom prst="line">
            <a:avLst/>
          </a:prstGeom>
          <a:noFill/>
          <a:ln w="9525">
            <a:solidFill>
              <a:srgbClr val="FF148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Torque on a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Differential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Current Loop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8" name="Picture 3" descr="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7851" y="2865437"/>
            <a:ext cx="3638550" cy="337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4"/>
          <p:cNvSpPr>
            <a:spLocks noChangeArrowheads="1"/>
          </p:cNvSpPr>
          <p:nvPr/>
        </p:nvSpPr>
        <p:spPr bwMode="auto">
          <a:xfrm>
            <a:off x="555625" y="1828800"/>
            <a:ext cx="5311776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The filament loop </a:t>
            </a:r>
            <a:r>
              <a:rPr lang="en-US" altLang="zh-CN" dirty="0"/>
              <a:t>shown here lies in the </a:t>
            </a:r>
            <a:r>
              <a:rPr lang="en-US" altLang="zh-CN" i="1" dirty="0" err="1"/>
              <a:t>xy</a:t>
            </a:r>
            <a:r>
              <a:rPr lang="en-US" altLang="zh-CN" dirty="0"/>
              <a:t> plane with </a:t>
            </a:r>
            <a:endParaRPr lang="en-US" altLang="zh-CN" dirty="0"/>
          </a:p>
          <a:p>
            <a:r>
              <a:rPr lang="en-US" altLang="zh-CN" dirty="0"/>
              <a:t>its center at the origin. Magnetic flux density </a:t>
            </a:r>
            <a:r>
              <a:rPr lang="en-US" altLang="zh-CN" b="1" dirty="0"/>
              <a:t>B</a:t>
            </a:r>
            <a:endParaRPr lang="en-US" altLang="zh-CN" b="1" dirty="0"/>
          </a:p>
          <a:p>
            <a:r>
              <a:rPr lang="en-US" altLang="zh-CN" dirty="0"/>
              <a:t>exists everywhere, and in a general direction. </a:t>
            </a:r>
            <a:r>
              <a:rPr lang="en-US" altLang="zh-CN" dirty="0">
                <a:solidFill>
                  <a:srgbClr val="C00000"/>
                </a:solidFill>
              </a:rPr>
              <a:t>As the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loop is of differential size, the magnitude of </a:t>
            </a:r>
            <a:r>
              <a:rPr lang="en-US" altLang="zh-CN" b="1" dirty="0">
                <a:solidFill>
                  <a:srgbClr val="C00000"/>
                </a:solidFill>
              </a:rPr>
              <a:t>B</a:t>
            </a:r>
            <a:r>
              <a:rPr lang="en-US" altLang="zh-CN" dirty="0">
                <a:solidFill>
                  <a:srgbClr val="C00000"/>
                </a:solidFill>
              </a:rPr>
              <a:t> is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assumed uniform over the loop area</a:t>
            </a:r>
            <a:r>
              <a:rPr lang="en-US" altLang="zh-CN" dirty="0"/>
              <a:t>, and has value </a:t>
            </a:r>
            <a:r>
              <a:rPr lang="en-US" altLang="zh-CN" i="1" dirty="0"/>
              <a:t>B</a:t>
            </a:r>
            <a:r>
              <a:rPr lang="en-US" altLang="zh-CN" baseline="-25000" dirty="0"/>
              <a:t>0</a:t>
            </a:r>
            <a:r>
              <a:rPr lang="en-US" altLang="zh-CN" dirty="0"/>
              <a:t>.  </a:t>
            </a:r>
            <a:endParaRPr lang="en-US" altLang="zh-CN" dirty="0"/>
          </a:p>
          <a:p>
            <a:r>
              <a:rPr lang="en-US" altLang="zh-CN" dirty="0"/>
              <a:t>Current </a:t>
            </a:r>
            <a:r>
              <a:rPr lang="en-US" altLang="zh-CN" i="1" dirty="0"/>
              <a:t>I </a:t>
            </a:r>
            <a:r>
              <a:rPr lang="en-US" altLang="zh-CN" dirty="0"/>
              <a:t>circulates around the loop.</a:t>
            </a:r>
            <a:endParaRPr lang="en-US" altLang="zh-CN" dirty="0"/>
          </a:p>
        </p:txBody>
      </p:sp>
      <p:pic>
        <p:nvPicPr>
          <p:cNvPr id="3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68" y="4340405"/>
            <a:ext cx="2468563" cy="37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1" name="Rectangle 7"/>
          <p:cNvSpPr>
            <a:spLocks noChangeArrowheads="1"/>
          </p:cNvSpPr>
          <p:nvPr/>
        </p:nvSpPr>
        <p:spPr bwMode="auto">
          <a:xfrm>
            <a:off x="576263" y="3744912"/>
            <a:ext cx="3944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/>
              <a:t>The differential force acting on side 1 is:</a:t>
            </a:r>
            <a:endParaRPr lang="en-US" altLang="zh-CN"/>
          </a:p>
        </p:txBody>
      </p:sp>
      <p:pic>
        <p:nvPicPr>
          <p:cNvPr id="32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50" y="4800600"/>
            <a:ext cx="272415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Torque on a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Differential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Current Loop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13" name="Picture 4" descr="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981200"/>
            <a:ext cx="3638550" cy="337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457200" y="1828800"/>
            <a:ext cx="4510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We have the differential force acting on side 1:</a:t>
            </a:r>
            <a:endParaRPr lang="en-US" altLang="zh-CN" dirty="0"/>
          </a:p>
        </p:txBody>
      </p:sp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438400"/>
            <a:ext cx="3271837" cy="547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10"/>
          <p:cNvSpPr>
            <a:spLocks noChangeShapeType="1"/>
          </p:cNvSpPr>
          <p:nvPr/>
        </p:nvSpPr>
        <p:spPr bwMode="auto">
          <a:xfrm>
            <a:off x="6343650" y="3886200"/>
            <a:ext cx="0" cy="788988"/>
          </a:xfrm>
          <a:prstGeom prst="line">
            <a:avLst/>
          </a:prstGeom>
          <a:noFill/>
          <a:ln w="19050">
            <a:solidFill>
              <a:srgbClr val="0B7CFF"/>
            </a:solidFill>
            <a:round/>
            <a:tailEnd type="stealth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6332538" y="4200525"/>
            <a:ext cx="42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b="1"/>
              <a:t>R</a:t>
            </a:r>
            <a:r>
              <a:rPr lang="en-US" altLang="zh-CN" baseline="-25000"/>
              <a:t>1</a:t>
            </a:r>
            <a:endParaRPr lang="en-US" altLang="zh-CN" b="1"/>
          </a:p>
        </p:txBody>
      </p:sp>
      <p:sp>
        <p:nvSpPr>
          <p:cNvPr id="18" name="Rectangle 12"/>
          <p:cNvSpPr>
            <a:spLocks noChangeArrowheads="1"/>
          </p:cNvSpPr>
          <p:nvPr/>
        </p:nvSpPr>
        <p:spPr bwMode="auto">
          <a:xfrm>
            <a:off x="533400" y="3048000"/>
            <a:ext cx="40132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For side 1, the </a:t>
            </a:r>
            <a:r>
              <a:rPr lang="en-US" altLang="zh-CN" dirty="0">
                <a:solidFill>
                  <a:srgbClr val="C00000"/>
                </a:solidFill>
              </a:rPr>
              <a:t>lever arm </a:t>
            </a:r>
            <a:r>
              <a:rPr lang="en-US" altLang="zh-CN" dirty="0"/>
              <a:t>extends from </a:t>
            </a:r>
            <a:endParaRPr lang="en-US" altLang="zh-CN" dirty="0"/>
          </a:p>
          <a:p>
            <a:r>
              <a:rPr lang="en-US" altLang="zh-CN" dirty="0"/>
              <a:t>the origin to the midpoint of the side, and</a:t>
            </a:r>
            <a:endParaRPr lang="en-US" altLang="zh-CN" dirty="0"/>
          </a:p>
          <a:p>
            <a:r>
              <a:rPr lang="en-US" altLang="zh-CN" dirty="0"/>
              <a:t>is given by:</a:t>
            </a:r>
            <a:endParaRPr lang="en-US" altLang="zh-CN" dirty="0"/>
          </a:p>
        </p:txBody>
      </p:sp>
      <p:pic>
        <p:nvPicPr>
          <p:cNvPr id="19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217" y="4038599"/>
            <a:ext cx="161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029200"/>
            <a:ext cx="4818062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15"/>
          <p:cNvSpPr>
            <a:spLocks noChangeArrowheads="1"/>
          </p:cNvSpPr>
          <p:nvPr/>
        </p:nvSpPr>
        <p:spPr bwMode="auto">
          <a:xfrm>
            <a:off x="593725" y="4572000"/>
            <a:ext cx="4514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/>
              <a:t>The differential torque acting on side 1 is then:</a:t>
            </a:r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19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Torque on a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Differential Current Loop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365990" y="1714500"/>
            <a:ext cx="3638550" cy="3375025"/>
            <a:chOff x="5365990" y="1714500"/>
            <a:chExt cx="3638550" cy="3375025"/>
          </a:xfrm>
        </p:grpSpPr>
        <p:pic>
          <p:nvPicPr>
            <p:cNvPr id="23" name="Picture 4" descr="8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5990" y="1714500"/>
              <a:ext cx="3638550" cy="3375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Line 7"/>
            <p:cNvSpPr>
              <a:spLocks noChangeShapeType="1"/>
            </p:cNvSpPr>
            <p:nvPr/>
          </p:nvSpPr>
          <p:spPr bwMode="auto">
            <a:xfrm flipV="1">
              <a:off x="6832840" y="2862263"/>
              <a:ext cx="9525" cy="757238"/>
            </a:xfrm>
            <a:prstGeom prst="line">
              <a:avLst/>
            </a:prstGeom>
            <a:noFill/>
            <a:ln w="19050">
              <a:solidFill>
                <a:srgbClr val="0B7CFF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6845540" y="3009900"/>
              <a:ext cx="4254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R</a:t>
              </a:r>
              <a:r>
                <a:rPr lang="en-US" altLang="zh-CN" baseline="-25000"/>
                <a:t>3</a:t>
              </a:r>
              <a:endParaRPr lang="en-US" altLang="zh-CN" b="1"/>
            </a:p>
          </p:txBody>
        </p:sp>
      </p:grpSp>
      <p:sp>
        <p:nvSpPr>
          <p:cNvPr id="26" name="Rectangle 12"/>
          <p:cNvSpPr>
            <a:spLocks noChangeArrowheads="1"/>
          </p:cNvSpPr>
          <p:nvPr/>
        </p:nvSpPr>
        <p:spPr bwMode="auto">
          <a:xfrm>
            <a:off x="418082" y="4158456"/>
            <a:ext cx="485718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total differential torque acting on sides 1 and 3 is then:</a:t>
            </a:r>
            <a:endParaRPr lang="en-US" altLang="zh-CN" dirty="0"/>
          </a:p>
        </p:txBody>
      </p:sp>
      <p:sp>
        <p:nvSpPr>
          <p:cNvPr id="27" name="Rectangle 13"/>
          <p:cNvSpPr>
            <a:spLocks noChangeArrowheads="1"/>
          </p:cNvSpPr>
          <p:nvPr/>
        </p:nvSpPr>
        <p:spPr bwMode="auto">
          <a:xfrm>
            <a:off x="454025" y="1600200"/>
            <a:ext cx="43037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/>
              <a:t>We next consider the opposite side (3), and</a:t>
            </a:r>
            <a:endParaRPr lang="en-US" altLang="zh-CN"/>
          </a:p>
          <a:p>
            <a:r>
              <a:rPr lang="en-US" altLang="zh-CN"/>
              <a:t>using similar reasoning, find the differential </a:t>
            </a:r>
            <a:endParaRPr lang="en-US" altLang="zh-CN"/>
          </a:p>
          <a:p>
            <a:r>
              <a:rPr lang="en-US" altLang="zh-CN"/>
              <a:t>torque acting on side 3: </a:t>
            </a:r>
            <a:endParaRPr lang="en-US" altLang="zh-CN"/>
          </a:p>
        </p:txBody>
      </p:sp>
      <p:grpSp>
        <p:nvGrpSpPr>
          <p:cNvPr id="28" name="Group 18"/>
          <p:cNvGrpSpPr/>
          <p:nvPr/>
        </p:nvGrpSpPr>
        <p:grpSpPr bwMode="auto">
          <a:xfrm>
            <a:off x="713761" y="2651124"/>
            <a:ext cx="3871913" cy="1501775"/>
            <a:chOff x="240" y="1584"/>
            <a:chExt cx="2439" cy="946"/>
          </a:xfrm>
        </p:grpSpPr>
        <p:pic>
          <p:nvPicPr>
            <p:cNvPr id="32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1584"/>
              <a:ext cx="1232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Picture 1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0" y="1821"/>
              <a:ext cx="2079" cy="3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1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" y="2202"/>
              <a:ext cx="196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Rectangle 17"/>
            <p:cNvSpPr>
              <a:spLocks noChangeArrowheads="1"/>
            </p:cNvSpPr>
            <p:nvPr/>
          </p:nvSpPr>
          <p:spPr bwMode="auto">
            <a:xfrm>
              <a:off x="2394" y="2205"/>
              <a:ext cx="11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en-US" altLang="zh-CN" dirty="0"/>
            </a:p>
          </p:txBody>
        </p:sp>
      </p:grpSp>
      <p:pic>
        <p:nvPicPr>
          <p:cNvPr id="29" name="Picture 1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98" y="4821980"/>
            <a:ext cx="3492500" cy="43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" name="Rectangle 20"/>
          <p:cNvSpPr>
            <a:spLocks noChangeArrowheads="1"/>
          </p:cNvSpPr>
          <p:nvPr/>
        </p:nvSpPr>
        <p:spPr bwMode="auto">
          <a:xfrm>
            <a:off x="452797" y="5297487"/>
            <a:ext cx="50466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Then, using the same reasoning, the total differential</a:t>
            </a:r>
            <a:endParaRPr lang="en-US" altLang="zh-CN" dirty="0"/>
          </a:p>
          <a:p>
            <a:r>
              <a:rPr lang="en-US" altLang="zh-CN" dirty="0"/>
              <a:t>torque acting on sides 2 and 4 is:</a:t>
            </a:r>
            <a:endParaRPr lang="en-US" altLang="zh-CN" dirty="0"/>
          </a:p>
        </p:txBody>
      </p:sp>
      <p:pic>
        <p:nvPicPr>
          <p:cNvPr id="31" name="Picture 2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847" y="6038850"/>
            <a:ext cx="323532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" name="Star: 5 Points 3"/>
          <p:cNvSpPr/>
          <p:nvPr/>
        </p:nvSpPr>
        <p:spPr>
          <a:xfrm>
            <a:off x="4325323" y="3619446"/>
            <a:ext cx="345342" cy="374651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4" descr="8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101" y="1558025"/>
            <a:ext cx="3638550" cy="337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345" y="2895600"/>
            <a:ext cx="3546475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Torque on a </a:t>
            </a:r>
            <a:r>
              <a:rPr lang="en-US" altLang="zh-CN" sz="2800" dirty="0">
                <a:solidFill>
                  <a:srgbClr val="C00000"/>
                </a:solidFill>
                <a:latin typeface="Times New Roman" panose="02020603050405020304" pitchFamily="18" charset="0"/>
              </a:rPr>
              <a:t>Differential Current Loop</a:t>
            </a:r>
            <a:endParaRPr lang="zh-CN" altLang="en-US" sz="28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2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62" y="4691856"/>
            <a:ext cx="2174875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288" y="1676400"/>
            <a:ext cx="3492500" cy="439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152650"/>
            <a:ext cx="3235325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9" name="Rectangle 17"/>
          <p:cNvSpPr>
            <a:spLocks noChangeArrowheads="1"/>
          </p:cNvSpPr>
          <p:nvPr/>
        </p:nvSpPr>
        <p:spPr bwMode="auto">
          <a:xfrm>
            <a:off x="457200" y="1687512"/>
            <a:ext cx="1208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Now, with:</a:t>
            </a:r>
            <a:endParaRPr lang="en-US" altLang="zh-CN" dirty="0"/>
          </a:p>
        </p:txBody>
      </p:sp>
      <p:sp>
        <p:nvSpPr>
          <p:cNvPr id="40" name="Rectangle 18"/>
          <p:cNvSpPr>
            <a:spLocks noChangeArrowheads="1"/>
          </p:cNvSpPr>
          <p:nvPr/>
        </p:nvSpPr>
        <p:spPr bwMode="auto">
          <a:xfrm>
            <a:off x="457200" y="2144712"/>
            <a:ext cx="517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and</a:t>
            </a:r>
            <a:endParaRPr lang="en-US" altLang="zh-CN" dirty="0"/>
          </a:p>
        </p:txBody>
      </p:sp>
      <p:sp>
        <p:nvSpPr>
          <p:cNvPr id="41" name="Rectangle 19"/>
          <p:cNvSpPr>
            <a:spLocks noChangeArrowheads="1"/>
          </p:cNvSpPr>
          <p:nvPr/>
        </p:nvSpPr>
        <p:spPr bwMode="auto">
          <a:xfrm>
            <a:off x="457200" y="2593675"/>
            <a:ext cx="347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total torque on all four sides is:</a:t>
            </a:r>
            <a:endParaRPr lang="en-US" altLang="zh-CN" dirty="0"/>
          </a:p>
        </p:txBody>
      </p:sp>
      <p:pic>
        <p:nvPicPr>
          <p:cNvPr id="44" name="Picture 2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537" y="3886200"/>
            <a:ext cx="2843213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Rectangle 22"/>
          <p:cNvSpPr>
            <a:spLocks noChangeArrowheads="1"/>
          </p:cNvSpPr>
          <p:nvPr/>
        </p:nvSpPr>
        <p:spPr bwMode="auto">
          <a:xfrm>
            <a:off x="457200" y="3352800"/>
            <a:ext cx="47005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terms in parenthesis can be written as a cross product:</a:t>
            </a:r>
            <a:endParaRPr lang="en-US" altLang="zh-CN" dirty="0"/>
          </a:p>
        </p:txBody>
      </p:sp>
      <p:sp>
        <p:nvSpPr>
          <p:cNvPr id="46" name="Rectangle 23"/>
          <p:cNvSpPr>
            <a:spLocks noChangeArrowheads="1"/>
          </p:cNvSpPr>
          <p:nvPr/>
        </p:nvSpPr>
        <p:spPr bwMode="auto">
          <a:xfrm>
            <a:off x="457200" y="4506912"/>
            <a:ext cx="2005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Finally resulting in:</a:t>
            </a:r>
            <a:endParaRPr lang="en-US" altLang="zh-CN" dirty="0"/>
          </a:p>
        </p:txBody>
      </p:sp>
      <p:pic>
        <p:nvPicPr>
          <p:cNvPr id="47" name="Picture 2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798" y="5943600"/>
            <a:ext cx="1617663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Rectangle 26"/>
          <p:cNvSpPr>
            <a:spLocks noChangeArrowheads="1"/>
          </p:cNvSpPr>
          <p:nvPr/>
        </p:nvSpPr>
        <p:spPr bwMode="auto">
          <a:xfrm>
            <a:off x="507999" y="5497512"/>
            <a:ext cx="7721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where the </a:t>
            </a:r>
            <a:r>
              <a:rPr lang="en-US" altLang="zh-CN" dirty="0">
                <a:solidFill>
                  <a:srgbClr val="C00000"/>
                </a:solidFill>
              </a:rPr>
              <a:t>differential loop area vector is defined using the right hand convention</a:t>
            </a:r>
            <a:r>
              <a:rPr lang="en-US" altLang="zh-CN" dirty="0"/>
              <a:t>:</a:t>
            </a:r>
            <a:endParaRPr lang="en-US" altLang="zh-CN" dirty="0"/>
          </a:p>
        </p:txBody>
      </p:sp>
      <p:sp>
        <p:nvSpPr>
          <p:cNvPr id="49" name="Rectangle 29"/>
          <p:cNvSpPr>
            <a:spLocks noChangeArrowheads="1"/>
          </p:cNvSpPr>
          <p:nvPr/>
        </p:nvSpPr>
        <p:spPr bwMode="auto">
          <a:xfrm>
            <a:off x="3103563" y="4953000"/>
            <a:ext cx="4108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i="1" dirty="0" err="1"/>
              <a:t>d</a:t>
            </a:r>
            <a:r>
              <a:rPr lang="en-US" altLang="zh-CN" b="1" dirty="0" err="1"/>
              <a:t>S</a:t>
            </a:r>
            <a:r>
              <a:rPr lang="en-US" altLang="zh-CN" b="1" dirty="0"/>
              <a:t> </a:t>
            </a:r>
            <a:r>
              <a:rPr lang="en-US" altLang="zh-CN" dirty="0"/>
              <a:t>points out of the screen in this example</a:t>
            </a:r>
            <a:endParaRPr lang="en-US" altLang="zh-CN" i="1" dirty="0"/>
          </a:p>
        </p:txBody>
      </p:sp>
      <p:sp>
        <p:nvSpPr>
          <p:cNvPr id="50" name="Line 30"/>
          <p:cNvSpPr>
            <a:spLocks noChangeShapeType="1"/>
          </p:cNvSpPr>
          <p:nvPr/>
        </p:nvSpPr>
        <p:spPr bwMode="auto">
          <a:xfrm flipV="1">
            <a:off x="3179763" y="5322888"/>
            <a:ext cx="3906837" cy="1438"/>
          </a:xfrm>
          <a:prstGeom prst="line">
            <a:avLst/>
          </a:prstGeom>
          <a:noFill/>
          <a:ln w="9525">
            <a:solidFill>
              <a:srgbClr val="0B7C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" name="Rectangle 31"/>
          <p:cNvSpPr>
            <a:spLocks noChangeArrowheads="1"/>
          </p:cNvSpPr>
          <p:nvPr/>
        </p:nvSpPr>
        <p:spPr bwMode="auto">
          <a:xfrm>
            <a:off x="2781615" y="5943600"/>
            <a:ext cx="5211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Fingers in direction of current, thumb in direction of </a:t>
            </a:r>
            <a:r>
              <a:rPr lang="en-US" altLang="zh-CN" b="1" dirty="0"/>
              <a:t>S</a:t>
            </a:r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46" descr="Loop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7453" y="1501775"/>
            <a:ext cx="3795713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Differential Magnetic Moment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208950"/>
            <a:ext cx="2174875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4"/>
          <p:cNvSpPr>
            <a:spLocks noChangeArrowheads="1"/>
          </p:cNvSpPr>
          <p:nvPr/>
        </p:nvSpPr>
        <p:spPr bwMode="auto">
          <a:xfrm>
            <a:off x="698500" y="1839912"/>
            <a:ext cx="5219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Having found the torque on a differential current loop:</a:t>
            </a:r>
            <a:endParaRPr lang="en-US" altLang="zh-CN" dirty="0"/>
          </a:p>
        </p:txBody>
      </p:sp>
      <p:pic>
        <p:nvPicPr>
          <p:cNvPr id="2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095" y="4091782"/>
            <a:ext cx="1571625" cy="503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7" name="Rectangle 6"/>
          <p:cNvSpPr>
            <a:spLocks noChangeArrowheads="1"/>
          </p:cNvSpPr>
          <p:nvPr/>
        </p:nvSpPr>
        <p:spPr bwMode="auto">
          <a:xfrm>
            <a:off x="698500" y="3124200"/>
            <a:ext cx="43307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Define the </a:t>
            </a:r>
            <a:r>
              <a:rPr lang="en-US" altLang="zh-CN" i="1" dirty="0">
                <a:solidFill>
                  <a:srgbClr val="C00000"/>
                </a:solidFill>
              </a:rPr>
              <a:t>differential magnetic dipole moment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as the product of the current and </a:t>
            </a:r>
            <a:endParaRPr lang="en-US" altLang="zh-CN" dirty="0"/>
          </a:p>
          <a:p>
            <a:r>
              <a:rPr lang="en-US" altLang="zh-CN" dirty="0"/>
              <a:t>the differential area vector:</a:t>
            </a:r>
            <a:endParaRPr lang="en-US" altLang="zh-CN" dirty="0"/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762000" y="4648200"/>
            <a:ext cx="1319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/>
              <a:t>from which:</a:t>
            </a:r>
            <a:endParaRPr lang="en-US" altLang="zh-CN"/>
          </a:p>
        </p:txBody>
      </p:sp>
      <p:pic>
        <p:nvPicPr>
          <p:cNvPr id="29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5210175"/>
            <a:ext cx="2211387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1" name="Picture 3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0486" y="4895850"/>
            <a:ext cx="2678113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Rectangle 41"/>
          <p:cNvSpPr>
            <a:spLocks noChangeArrowheads="1"/>
          </p:cNvSpPr>
          <p:nvPr/>
        </p:nvSpPr>
        <p:spPr bwMode="auto">
          <a:xfrm>
            <a:off x="6120486" y="4868862"/>
            <a:ext cx="2743200" cy="1323976"/>
          </a:xfrm>
          <a:prstGeom prst="rect">
            <a:avLst/>
          </a:prstGeom>
          <a:noFill/>
          <a:ln w="9525">
            <a:solidFill>
              <a:srgbClr val="D43C8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 sz="1800" i="0"/>
          </a:p>
        </p:txBody>
      </p:sp>
      <p:pic>
        <p:nvPicPr>
          <p:cNvPr id="33" name="Picture 40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5762625"/>
            <a:ext cx="1901825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矩形 16"/>
          <p:cNvSpPr/>
          <p:nvPr/>
        </p:nvSpPr>
        <p:spPr>
          <a:xfrm>
            <a:off x="7325015" y="2133600"/>
            <a:ext cx="17427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Dipole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磁偶极子</a:t>
            </a:r>
            <a:endParaRPr lang="zh-CN" altLang="en-US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Torque on a Large-Scale Current Loop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581025" y="1828800"/>
            <a:ext cx="81438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If we remove the restriction on differential size, </a:t>
            </a:r>
            <a:r>
              <a:rPr lang="en-US" altLang="zh-CN" dirty="0">
                <a:solidFill>
                  <a:srgbClr val="C00000"/>
                </a:solidFill>
              </a:rPr>
              <a:t>and assume </a:t>
            </a:r>
            <a:r>
              <a:rPr lang="en-US" altLang="zh-CN" i="1" dirty="0">
                <a:solidFill>
                  <a:srgbClr val="C00000"/>
                </a:solidFill>
              </a:rPr>
              <a:t>uniform magnetic flux density</a:t>
            </a:r>
            <a:r>
              <a:rPr lang="en-US" altLang="zh-CN" dirty="0">
                <a:solidFill>
                  <a:srgbClr val="C00000"/>
                </a:solidFill>
              </a:rPr>
              <a:t> over the entire loop area</a:t>
            </a:r>
            <a:r>
              <a:rPr lang="en-US" altLang="zh-CN" dirty="0"/>
              <a:t>, the differential result</a:t>
            </a:r>
            <a:endParaRPr lang="en-US" altLang="zh-CN" dirty="0"/>
          </a:p>
        </p:txBody>
      </p: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363" y="3716338"/>
            <a:ext cx="2916238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7608" y="2643187"/>
            <a:ext cx="2349500" cy="703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609600" y="3346450"/>
            <a:ext cx="10572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becomes:</a:t>
            </a:r>
            <a:endParaRPr lang="en-US" altLang="zh-CN" dirty="0"/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685800" y="4744169"/>
            <a:ext cx="75961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These results are </a:t>
            </a:r>
            <a:r>
              <a:rPr lang="en-US" altLang="zh-CN" dirty="0">
                <a:solidFill>
                  <a:srgbClr val="C00000"/>
                </a:solidFill>
              </a:rPr>
              <a:t>independent of the shape of the loop </a:t>
            </a:r>
            <a:r>
              <a:rPr lang="en-US" altLang="zh-CN" dirty="0"/>
              <a:t>-- the area and orientation</a:t>
            </a:r>
            <a:endParaRPr lang="en-US" altLang="zh-CN" dirty="0"/>
          </a:p>
          <a:p>
            <a:r>
              <a:rPr lang="en-US" altLang="zh-CN" dirty="0"/>
              <a:t>are all that matter.</a:t>
            </a:r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Example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5" name="Picture 2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0813" y="1600201"/>
            <a:ext cx="4444587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" y="2667000"/>
            <a:ext cx="4881563" cy="611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78188"/>
            <a:ext cx="2011363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3" name="组合 2"/>
          <p:cNvGrpSpPr/>
          <p:nvPr/>
        </p:nvGrpSpPr>
        <p:grpSpPr>
          <a:xfrm>
            <a:off x="442912" y="1901825"/>
            <a:ext cx="4662488" cy="536575"/>
            <a:chOff x="228600" y="1905000"/>
            <a:chExt cx="4662488" cy="536575"/>
          </a:xfrm>
        </p:grpSpPr>
        <p:pic>
          <p:nvPicPr>
            <p:cNvPr id="26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600" y="2057400"/>
              <a:ext cx="4662488" cy="384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1905000" y="1905000"/>
              <a:ext cx="4572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</p:grpSp>
      <p:pic>
        <p:nvPicPr>
          <p:cNvPr id="30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486400"/>
            <a:ext cx="8286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Materials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415506" y="1670768"/>
            <a:ext cx="842369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Materials are characterized according to their configurations of -- and interactions between -- atomic magnetic moments. </a:t>
            </a:r>
            <a:r>
              <a:rPr lang="en-US" altLang="zh-CN" dirty="0">
                <a:solidFill>
                  <a:srgbClr val="C00000"/>
                </a:solidFill>
              </a:rPr>
              <a:t>On the atomic or molecular scale, magnetic moments are associated with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electron orbital configurations, electron spin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自旋</a:t>
            </a:r>
            <a:r>
              <a:rPr lang="en-US" altLang="zh-CN" dirty="0">
                <a:solidFill>
                  <a:srgbClr val="C00000"/>
                </a:solidFill>
              </a:rPr>
              <a:t>,  and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(to a lesser extent) nuclear spin</a:t>
            </a:r>
            <a:r>
              <a:rPr lang="en-US" altLang="zh-CN" dirty="0"/>
              <a:t>.  </a:t>
            </a:r>
            <a:endParaRPr lang="en-US" altLang="zh-CN" dirty="0"/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412631" y="3124200"/>
            <a:ext cx="3473569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>
                <a:highlight>
                  <a:srgbClr val="FFFF00"/>
                </a:highlight>
              </a:rPr>
              <a:t>The diagram shows contributions to the total </a:t>
            </a:r>
            <a:r>
              <a:rPr lang="en-US" altLang="zh-CN" dirty="0">
                <a:solidFill>
                  <a:srgbClr val="C00000"/>
                </a:solidFill>
                <a:highlight>
                  <a:srgbClr val="FFFF00"/>
                </a:highlight>
              </a:rPr>
              <a:t>magnetic moment</a:t>
            </a:r>
            <a:r>
              <a:rPr lang="en-US" altLang="zh-CN" dirty="0">
                <a:highlight>
                  <a:srgbClr val="FFFF00"/>
                </a:highlight>
              </a:rPr>
              <a:t> of an atom that arise from the electron orbit (</a:t>
            </a:r>
            <a:r>
              <a:rPr lang="en-US" altLang="zh-CN" b="1" dirty="0" err="1">
                <a:highlight>
                  <a:srgbClr val="FFFF00"/>
                </a:highlight>
              </a:rPr>
              <a:t>m</a:t>
            </a:r>
            <a:r>
              <a:rPr lang="en-US" altLang="zh-CN" baseline="-25000" dirty="0" err="1">
                <a:highlight>
                  <a:srgbClr val="FFFF00"/>
                </a:highlight>
              </a:rPr>
              <a:t>orb</a:t>
            </a:r>
            <a:r>
              <a:rPr lang="en-US" altLang="zh-CN" dirty="0">
                <a:highlight>
                  <a:srgbClr val="FFFF00"/>
                </a:highlight>
              </a:rPr>
              <a:t>) and electron spin (</a:t>
            </a:r>
            <a:r>
              <a:rPr lang="en-US" altLang="zh-CN" b="1" dirty="0" err="1">
                <a:highlight>
                  <a:srgbClr val="FFFF00"/>
                </a:highlight>
              </a:rPr>
              <a:t>m</a:t>
            </a:r>
            <a:r>
              <a:rPr lang="en-US" altLang="zh-CN" baseline="-25000" dirty="0" err="1">
                <a:highlight>
                  <a:srgbClr val="FFFF00"/>
                </a:highlight>
              </a:rPr>
              <a:t>spin</a:t>
            </a:r>
            <a:r>
              <a:rPr lang="en-US" altLang="zh-CN" dirty="0">
                <a:highlight>
                  <a:srgbClr val="FFFF00"/>
                </a:highlight>
              </a:rPr>
              <a:t>), in which the latter vector </a:t>
            </a:r>
            <a:r>
              <a:rPr lang="en-US" altLang="zh-CN" dirty="0">
                <a:solidFill>
                  <a:srgbClr val="C00000"/>
                </a:solidFill>
                <a:highlight>
                  <a:srgbClr val="FFFF00"/>
                </a:highlight>
              </a:rPr>
              <a:t>may add to or subtract from </a:t>
            </a:r>
            <a:r>
              <a:rPr lang="en-US" altLang="zh-CN" dirty="0">
                <a:highlight>
                  <a:srgbClr val="FFFF00"/>
                </a:highlight>
              </a:rPr>
              <a:t>the </a:t>
            </a:r>
            <a:endParaRPr lang="en-US" altLang="zh-CN" dirty="0">
              <a:highlight>
                <a:srgbClr val="FFFF00"/>
              </a:highlight>
            </a:endParaRPr>
          </a:p>
          <a:p>
            <a:r>
              <a:rPr lang="en-US" altLang="zh-CN" dirty="0">
                <a:highlight>
                  <a:srgbClr val="FFFF00"/>
                </a:highlight>
              </a:rPr>
              <a:t>orbital moment.  </a:t>
            </a:r>
            <a:endParaRPr lang="en-US" altLang="zh-CN" dirty="0">
              <a:highlight>
                <a:srgbClr val="FFFF00"/>
              </a:highlight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038600" y="2743200"/>
            <a:ext cx="5053012" cy="3328988"/>
            <a:chOff x="4186238" y="2895600"/>
            <a:chExt cx="5053012" cy="3328988"/>
          </a:xfrm>
        </p:grpSpPr>
        <p:grpSp>
          <p:nvGrpSpPr>
            <p:cNvPr id="17" name="Group 8"/>
            <p:cNvGrpSpPr/>
            <p:nvPr/>
          </p:nvGrpSpPr>
          <p:grpSpPr bwMode="auto">
            <a:xfrm>
              <a:off x="4186238" y="2971800"/>
              <a:ext cx="4195763" cy="2743200"/>
              <a:chOff x="2637" y="1872"/>
              <a:chExt cx="2643" cy="1728"/>
            </a:xfrm>
          </p:grpSpPr>
          <p:pic>
            <p:nvPicPr>
              <p:cNvPr id="23" name="Picture 2" descr="8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37" y="1918"/>
                <a:ext cx="2643" cy="16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" name="Rectangle 7"/>
              <p:cNvSpPr>
                <a:spLocks noChangeArrowheads="1"/>
              </p:cNvSpPr>
              <p:nvPr/>
            </p:nvSpPr>
            <p:spPr bwMode="auto">
              <a:xfrm>
                <a:off x="3984" y="1872"/>
                <a:ext cx="192" cy="1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</p:grpSp>
        <p:sp>
          <p:nvSpPr>
            <p:cNvPr id="18" name="Rectangle 6"/>
            <p:cNvSpPr>
              <a:spLocks noChangeArrowheads="1"/>
            </p:cNvSpPr>
            <p:nvPr/>
          </p:nvSpPr>
          <p:spPr bwMode="auto">
            <a:xfrm>
              <a:off x="6324600" y="2895600"/>
              <a:ext cx="582613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m</a:t>
              </a:r>
              <a:r>
                <a:rPr lang="en-US" altLang="zh-CN" baseline="-25000"/>
                <a:t>orb</a:t>
              </a:r>
              <a:endParaRPr lang="en-US" altLang="zh-CN" baseline="-25000"/>
            </a:p>
          </p:txBody>
        </p:sp>
        <p:sp>
          <p:nvSpPr>
            <p:cNvPr id="19" name="Line 9"/>
            <p:cNvSpPr>
              <a:spLocks noChangeShapeType="1"/>
            </p:cNvSpPr>
            <p:nvPr/>
          </p:nvSpPr>
          <p:spPr bwMode="auto">
            <a:xfrm>
              <a:off x="6281738" y="5767388"/>
              <a:ext cx="0" cy="457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10"/>
            <p:cNvSpPr>
              <a:spLocks noChangeShapeType="1"/>
            </p:cNvSpPr>
            <p:nvPr/>
          </p:nvSpPr>
          <p:spPr bwMode="auto">
            <a:xfrm flipV="1">
              <a:off x="6276975" y="4876800"/>
              <a:ext cx="0" cy="457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>
              <a:off x="6553200" y="5715000"/>
              <a:ext cx="268605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m</a:t>
              </a:r>
              <a:r>
                <a:rPr lang="en-US" altLang="zh-CN" baseline="-25000"/>
                <a:t>spin  </a:t>
              </a:r>
              <a:r>
                <a:rPr lang="en-US" altLang="zh-CN"/>
                <a:t>(positive or negative)</a:t>
              </a:r>
              <a:endParaRPr lang="en-US" altLang="zh-CN" baseline="-25000"/>
            </a:p>
          </p:txBody>
        </p:sp>
      </p:grpSp>
      <p:sp>
        <p:nvSpPr>
          <p:cNvPr id="22" name="Rectangle 12"/>
          <p:cNvSpPr>
            <a:spLocks noChangeArrowheads="1"/>
          </p:cNvSpPr>
          <p:nvPr/>
        </p:nvSpPr>
        <p:spPr bwMode="auto">
          <a:xfrm>
            <a:off x="381000" y="5373687"/>
            <a:ext cx="32607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magnetic flux density, </a:t>
            </a:r>
            <a:r>
              <a:rPr lang="en-US" altLang="zh-CN" b="1" dirty="0"/>
              <a:t>B</a:t>
            </a:r>
            <a:r>
              <a:rPr lang="en-US" altLang="zh-CN" baseline="-25000" dirty="0"/>
              <a:t>0</a:t>
            </a:r>
            <a:r>
              <a:rPr lang="en-US" altLang="zh-CN" dirty="0"/>
              <a:t>, is </a:t>
            </a:r>
            <a:endParaRPr lang="en-US" altLang="zh-CN" dirty="0"/>
          </a:p>
          <a:p>
            <a:r>
              <a:rPr lang="en-US" altLang="zh-CN" dirty="0"/>
              <a:t>externally applied.</a:t>
            </a:r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795837" y="1524000"/>
            <a:ext cx="4195763" cy="3748086"/>
            <a:chOff x="4145306" y="1984345"/>
            <a:chExt cx="4195763" cy="3748086"/>
          </a:xfrm>
        </p:grpSpPr>
        <p:grpSp>
          <p:nvGrpSpPr>
            <p:cNvPr id="28" name="Group 20"/>
            <p:cNvGrpSpPr/>
            <p:nvPr/>
          </p:nvGrpSpPr>
          <p:grpSpPr bwMode="auto">
            <a:xfrm>
              <a:off x="4145306" y="1984345"/>
              <a:ext cx="4195763" cy="3748086"/>
              <a:chOff x="2637" y="1833"/>
              <a:chExt cx="2643" cy="2361"/>
            </a:xfrm>
          </p:grpSpPr>
          <p:grpSp>
            <p:nvGrpSpPr>
              <p:cNvPr id="35" name="Group 15"/>
              <p:cNvGrpSpPr/>
              <p:nvPr/>
            </p:nvGrpSpPr>
            <p:grpSpPr bwMode="auto">
              <a:xfrm>
                <a:off x="2637" y="1833"/>
                <a:ext cx="2643" cy="2361"/>
                <a:chOff x="2637" y="1824"/>
                <a:chExt cx="2643" cy="2361"/>
              </a:xfrm>
            </p:grpSpPr>
            <p:grpSp>
              <p:nvGrpSpPr>
                <p:cNvPr id="38" name="Group 6"/>
                <p:cNvGrpSpPr/>
                <p:nvPr/>
              </p:nvGrpSpPr>
              <p:grpSpPr bwMode="auto">
                <a:xfrm>
                  <a:off x="2637" y="1872"/>
                  <a:ext cx="2643" cy="1728"/>
                  <a:chOff x="2637" y="1872"/>
                  <a:chExt cx="2643" cy="1728"/>
                </a:xfrm>
              </p:grpSpPr>
              <p:pic>
                <p:nvPicPr>
                  <p:cNvPr id="42" name="Picture 7" descr="8"/>
                  <p:cNvPicPr>
                    <a:picLocks noChangeAspect="1" noChangeArrowheads="1"/>
                  </p:cNvPicPr>
                  <p:nvPr/>
                </p:nvPicPr>
                <p:blipFill>
                  <a:blip r:embed="rId1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637" y="1918"/>
                    <a:ext cx="2643" cy="168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4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3984" y="1872"/>
                    <a:ext cx="192" cy="14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/>
                  </a:p>
                </p:txBody>
              </p:sp>
            </p:grpSp>
            <p:sp>
              <p:nvSpPr>
                <p:cNvPr id="39" name="Rectangle 9"/>
                <p:cNvSpPr>
                  <a:spLocks noChangeArrowheads="1"/>
                </p:cNvSpPr>
                <p:nvPr/>
              </p:nvSpPr>
              <p:spPr bwMode="auto">
                <a:xfrm>
                  <a:off x="3984" y="1824"/>
                  <a:ext cx="367" cy="23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b="1"/>
                    <a:t>m</a:t>
                  </a:r>
                  <a:r>
                    <a:rPr lang="en-US" altLang="zh-CN" baseline="-25000"/>
                    <a:t>orb</a:t>
                  </a:r>
                  <a:endParaRPr lang="en-US" altLang="zh-CN" baseline="-25000"/>
                </a:p>
              </p:txBody>
            </p:sp>
            <p:sp>
              <p:nvSpPr>
                <p:cNvPr id="40" name="Line 10"/>
                <p:cNvSpPr>
                  <a:spLocks noChangeShapeType="1"/>
                </p:cNvSpPr>
                <p:nvPr/>
              </p:nvSpPr>
              <p:spPr bwMode="auto">
                <a:xfrm>
                  <a:off x="3957" y="3633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Rectangle 12"/>
                <p:cNvSpPr>
                  <a:spLocks noChangeArrowheads="1"/>
                </p:cNvSpPr>
                <p:nvPr/>
              </p:nvSpPr>
              <p:spPr bwMode="auto">
                <a:xfrm>
                  <a:off x="4025" y="3545"/>
                  <a:ext cx="964" cy="6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zh-CN" b="1" dirty="0" err="1"/>
                    <a:t>m</a:t>
                  </a:r>
                  <a:r>
                    <a:rPr lang="en-US" altLang="zh-CN" baseline="-25000" dirty="0" err="1"/>
                    <a:t>spin</a:t>
                  </a:r>
                  <a:r>
                    <a:rPr lang="en-US" altLang="zh-CN" baseline="-25000" dirty="0"/>
                    <a:t>  </a:t>
                  </a:r>
                  <a:endParaRPr lang="en-US" altLang="zh-CN" baseline="-25000" dirty="0"/>
                </a:p>
                <a:p>
                  <a:r>
                    <a:rPr lang="en-US" altLang="zh-CN" sz="1400" dirty="0"/>
                    <a:t>(acting to partially cancel the orbital contribution)</a:t>
                  </a:r>
                  <a:endParaRPr lang="en-US" altLang="zh-CN" sz="1400" baseline="-25000" dirty="0"/>
                </a:p>
              </p:txBody>
            </p:sp>
          </p:grpSp>
          <p:sp>
            <p:nvSpPr>
              <p:cNvPr id="36" name="Line 16"/>
              <p:cNvSpPr>
                <a:spLocks noChangeShapeType="1"/>
              </p:cNvSpPr>
              <p:nvPr/>
            </p:nvSpPr>
            <p:spPr bwMode="auto">
              <a:xfrm flipH="1">
                <a:off x="3408" y="3600"/>
                <a:ext cx="432" cy="336"/>
              </a:xfrm>
              <a:prstGeom prst="line">
                <a:avLst/>
              </a:prstGeom>
              <a:noFill/>
              <a:ln w="19050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Rectangle 17"/>
              <p:cNvSpPr>
                <a:spLocks noChangeArrowheads="1"/>
              </p:cNvSpPr>
              <p:nvPr/>
            </p:nvSpPr>
            <p:spPr bwMode="auto">
              <a:xfrm>
                <a:off x="3135" y="3801"/>
                <a:ext cx="27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b="1"/>
                  <a:t>F</a:t>
                </a:r>
                <a:r>
                  <a:rPr lang="en-US" altLang="zh-CN" i="1" baseline="-25000"/>
                  <a:t>m</a:t>
                </a:r>
                <a:endParaRPr lang="en-US" altLang="zh-CN" b="1"/>
              </a:p>
            </p:txBody>
          </p:sp>
        </p:grpSp>
        <p:sp>
          <p:nvSpPr>
            <p:cNvPr id="27" name="Rectangle 28"/>
            <p:cNvSpPr>
              <a:spLocks noChangeArrowheads="1"/>
            </p:cNvSpPr>
            <p:nvPr/>
          </p:nvSpPr>
          <p:spPr bwMode="auto">
            <a:xfrm>
              <a:off x="4568869" y="3810000"/>
              <a:ext cx="355231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400" dirty="0"/>
                <a:t>A rough sketch of what is  going on in an atom</a:t>
              </a:r>
              <a:endParaRPr lang="en-US" altLang="zh-CN" sz="1400" dirty="0"/>
            </a:p>
            <a:p>
              <a:r>
                <a:rPr lang="en-US" altLang="zh-CN" sz="1400" dirty="0"/>
                <a:t>                (greatly oversimplified!) </a:t>
              </a:r>
              <a:endParaRPr lang="en-US" altLang="zh-CN" sz="1400" dirty="0"/>
            </a:p>
          </p:txBody>
        </p:sp>
      </p:grpSp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25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Materials: </a:t>
            </a:r>
            <a:r>
              <a:rPr lang="en-US" altLang="zh-CN" sz="28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Diamagnetisim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抗</a:t>
            </a:r>
            <a:r>
              <a:rPr lang="en-US" altLang="zh-CN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/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反磁性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228600" y="2636838"/>
            <a:ext cx="429577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Application of a magnetic field leads</a:t>
            </a:r>
            <a:endParaRPr lang="en-US" altLang="zh-CN" dirty="0"/>
          </a:p>
          <a:p>
            <a:r>
              <a:rPr lang="en-US" altLang="zh-CN" dirty="0"/>
              <a:t>to an </a:t>
            </a:r>
            <a:r>
              <a:rPr lang="en-US" altLang="zh-CN" dirty="0">
                <a:solidFill>
                  <a:srgbClr val="C00000"/>
                </a:solidFill>
              </a:rPr>
              <a:t>outward radial force </a:t>
            </a:r>
            <a:r>
              <a:rPr lang="en-US" altLang="zh-CN" b="1" dirty="0" err="1">
                <a:solidFill>
                  <a:srgbClr val="C00000"/>
                </a:solidFill>
              </a:rPr>
              <a:t>F</a:t>
            </a:r>
            <a:r>
              <a:rPr lang="en-US" altLang="zh-CN" i="1" baseline="-25000" dirty="0" err="1">
                <a:solidFill>
                  <a:srgbClr val="C00000"/>
                </a:solidFill>
              </a:rPr>
              <a:t>m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on the orbiting</a:t>
            </a:r>
            <a:endParaRPr lang="en-US" altLang="zh-CN" dirty="0"/>
          </a:p>
          <a:p>
            <a:r>
              <a:rPr lang="en-US" altLang="zh-CN" dirty="0"/>
              <a:t>electron shown here, resulting </a:t>
            </a:r>
            <a:r>
              <a:rPr lang="en-US" altLang="zh-CN" dirty="0">
                <a:solidFill>
                  <a:srgbClr val="C00000"/>
                </a:solidFill>
              </a:rPr>
              <a:t>in a decrease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in its orbital velocity</a:t>
            </a:r>
            <a:r>
              <a:rPr lang="en-US" altLang="zh-CN" dirty="0"/>
              <a:t> in order to maintain a</a:t>
            </a:r>
            <a:endParaRPr lang="en-US" altLang="zh-CN" dirty="0"/>
          </a:p>
          <a:p>
            <a:r>
              <a:rPr lang="en-US" altLang="zh-CN" dirty="0"/>
              <a:t>balance of Coulomb and magnetic forces.</a:t>
            </a:r>
            <a:endParaRPr lang="en-US" altLang="zh-CN" dirty="0"/>
          </a:p>
        </p:txBody>
      </p:sp>
      <p:sp>
        <p:nvSpPr>
          <p:cNvPr id="30" name="Rectangle 19"/>
          <p:cNvSpPr>
            <a:spLocks noChangeArrowheads="1"/>
          </p:cNvSpPr>
          <p:nvPr/>
        </p:nvSpPr>
        <p:spPr bwMode="auto">
          <a:xfrm>
            <a:off x="241464" y="4135346"/>
            <a:ext cx="4144963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velocity reduction will result</a:t>
            </a:r>
            <a:endParaRPr lang="en-US" altLang="zh-CN" dirty="0"/>
          </a:p>
          <a:p>
            <a:r>
              <a:rPr lang="en-US" altLang="zh-CN" dirty="0"/>
              <a:t>in a </a:t>
            </a:r>
            <a:r>
              <a:rPr lang="en-US" altLang="zh-CN" dirty="0">
                <a:solidFill>
                  <a:srgbClr val="C00000"/>
                </a:solidFill>
              </a:rPr>
              <a:t>lessening of the orbital magnetic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moment</a:t>
            </a:r>
            <a:r>
              <a:rPr lang="en-US" altLang="zh-CN" dirty="0"/>
              <a:t>, thus producing </a:t>
            </a:r>
            <a:r>
              <a:rPr lang="en-US" altLang="zh-CN" dirty="0">
                <a:solidFill>
                  <a:srgbClr val="C00000"/>
                </a:solidFill>
              </a:rPr>
              <a:t>a very small net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magnetic moment in the direction of the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spin moment</a:t>
            </a:r>
            <a:r>
              <a:rPr lang="en-US" altLang="zh-CN" dirty="0"/>
              <a:t>; i.e., in the </a:t>
            </a:r>
            <a:r>
              <a:rPr lang="en-US" altLang="zh-CN" i="1" dirty="0"/>
              <a:t>opposite direction</a:t>
            </a:r>
            <a:endParaRPr lang="en-US" altLang="zh-CN" dirty="0"/>
          </a:p>
          <a:p>
            <a:r>
              <a:rPr lang="en-US" altLang="zh-CN" dirty="0"/>
              <a:t>to the applied field. </a:t>
            </a:r>
            <a:endParaRPr lang="en-US" altLang="zh-CN" dirty="0"/>
          </a:p>
        </p:txBody>
      </p:sp>
      <p:sp>
        <p:nvSpPr>
          <p:cNvPr id="31" name="Rectangle 14"/>
          <p:cNvSpPr>
            <a:spLocks noChangeArrowheads="1"/>
          </p:cNvSpPr>
          <p:nvPr/>
        </p:nvSpPr>
        <p:spPr bwMode="auto">
          <a:xfrm>
            <a:off x="259106" y="1676400"/>
            <a:ext cx="5699126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In this case, </a:t>
            </a:r>
            <a:r>
              <a:rPr lang="en-US" altLang="zh-CN" dirty="0">
                <a:solidFill>
                  <a:srgbClr val="C00000"/>
                </a:solidFill>
              </a:rPr>
              <a:t>the summation of all orbital and spin magnetic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moments associated with all electrons in a single atom is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precisely zero, with the atom in its unperturbed state.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33" name="Rectangle 24"/>
          <p:cNvSpPr>
            <a:spLocks noChangeArrowheads="1"/>
          </p:cNvSpPr>
          <p:nvPr/>
        </p:nvSpPr>
        <p:spPr bwMode="auto">
          <a:xfrm>
            <a:off x="294031" y="5907088"/>
            <a:ext cx="32797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So </a:t>
            </a:r>
            <a:r>
              <a:rPr lang="en-US" altLang="zh-CN" dirty="0">
                <a:solidFill>
                  <a:srgbClr val="C00000"/>
                </a:solidFill>
              </a:rPr>
              <a:t>a net </a:t>
            </a:r>
            <a:r>
              <a:rPr lang="en-US" altLang="zh-CN" i="1" dirty="0">
                <a:solidFill>
                  <a:srgbClr val="C00000"/>
                </a:solidFill>
              </a:rPr>
              <a:t>decrease </a:t>
            </a:r>
            <a:r>
              <a:rPr lang="en-US" altLang="zh-CN" dirty="0">
                <a:solidFill>
                  <a:srgbClr val="C00000"/>
                </a:solidFill>
              </a:rPr>
              <a:t>in the magnetic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flux density will occur</a:t>
            </a:r>
            <a:r>
              <a:rPr lang="en-US" altLang="zh-CN" dirty="0"/>
              <a:t>.</a:t>
            </a:r>
            <a:endParaRPr lang="en-US" altLang="zh-CN" dirty="0"/>
          </a:p>
        </p:txBody>
      </p:sp>
      <p:sp>
        <p:nvSpPr>
          <p:cNvPr id="32" name="Rectangle 23"/>
          <p:cNvSpPr>
            <a:spLocks noChangeArrowheads="1"/>
          </p:cNvSpPr>
          <p:nvPr/>
        </p:nvSpPr>
        <p:spPr bwMode="auto">
          <a:xfrm>
            <a:off x="5181600" y="5276671"/>
            <a:ext cx="3543300" cy="120032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Examples of diamagnetic materials: metallic bismuth</a:t>
            </a: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铋</a:t>
            </a:r>
            <a:r>
              <a:rPr lang="en-US" altLang="zh-CN" dirty="0"/>
              <a:t>, copper, gold,</a:t>
            </a:r>
            <a:endParaRPr lang="en-US" altLang="zh-CN" dirty="0"/>
          </a:p>
          <a:p>
            <a:r>
              <a:rPr lang="en-US" altLang="zh-CN" dirty="0"/>
              <a:t>silicon, germanium</a:t>
            </a: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锗</a:t>
            </a:r>
            <a:r>
              <a:rPr lang="en-US" altLang="zh-CN" dirty="0"/>
              <a:t>, graphite</a:t>
            </a: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石墨</a:t>
            </a:r>
            <a:r>
              <a:rPr lang="en-US" altLang="zh-CN" dirty="0"/>
              <a:t>, sulfur</a:t>
            </a: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硫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26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Materials: </a:t>
            </a:r>
            <a:r>
              <a:rPr lang="en-US" altLang="zh-CN" sz="28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Paramagnetism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顺磁性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5" name="Group 18"/>
          <p:cNvGrpSpPr/>
          <p:nvPr/>
        </p:nvGrpSpPr>
        <p:grpSpPr bwMode="auto">
          <a:xfrm>
            <a:off x="4800600" y="2438400"/>
            <a:ext cx="4572000" cy="3490912"/>
            <a:chOff x="2688" y="1488"/>
            <a:chExt cx="2880" cy="2199"/>
          </a:xfrm>
        </p:grpSpPr>
        <p:grpSp>
          <p:nvGrpSpPr>
            <p:cNvPr id="49" name="Group 6"/>
            <p:cNvGrpSpPr/>
            <p:nvPr/>
          </p:nvGrpSpPr>
          <p:grpSpPr bwMode="auto">
            <a:xfrm>
              <a:off x="2688" y="1536"/>
              <a:ext cx="2643" cy="1728"/>
              <a:chOff x="2637" y="1872"/>
              <a:chExt cx="2643" cy="1728"/>
            </a:xfrm>
          </p:grpSpPr>
          <p:pic>
            <p:nvPicPr>
              <p:cNvPr id="55" name="Picture 7" descr="8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37" y="1918"/>
                <a:ext cx="2643" cy="16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6" name="Rectangle 8"/>
              <p:cNvSpPr>
                <a:spLocks noChangeArrowheads="1"/>
              </p:cNvSpPr>
              <p:nvPr/>
            </p:nvSpPr>
            <p:spPr bwMode="auto">
              <a:xfrm>
                <a:off x="3984" y="1872"/>
                <a:ext cx="192" cy="14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</p:grpSp>
        <p:sp>
          <p:nvSpPr>
            <p:cNvPr id="50" name="Rectangle 9"/>
            <p:cNvSpPr>
              <a:spLocks noChangeArrowheads="1"/>
            </p:cNvSpPr>
            <p:nvPr/>
          </p:nvSpPr>
          <p:spPr bwMode="auto">
            <a:xfrm>
              <a:off x="4035" y="1488"/>
              <a:ext cx="3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600" b="1"/>
                <a:t>m</a:t>
              </a:r>
              <a:r>
                <a:rPr lang="en-US" altLang="zh-CN" sz="1600" baseline="-25000"/>
                <a:t>orb</a:t>
              </a:r>
              <a:endParaRPr lang="en-US" altLang="zh-CN" sz="1600" baseline="-25000"/>
            </a:p>
          </p:txBody>
        </p:sp>
        <p:sp>
          <p:nvSpPr>
            <p:cNvPr id="51" name="Line 10"/>
            <p:cNvSpPr>
              <a:spLocks noChangeShapeType="1"/>
            </p:cNvSpPr>
            <p:nvPr/>
          </p:nvSpPr>
          <p:spPr bwMode="auto">
            <a:xfrm flipV="1">
              <a:off x="4008" y="2736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Rectangle 11"/>
            <p:cNvSpPr>
              <a:spLocks noChangeArrowheads="1"/>
            </p:cNvSpPr>
            <p:nvPr/>
          </p:nvSpPr>
          <p:spPr bwMode="auto">
            <a:xfrm>
              <a:off x="4080" y="2688"/>
              <a:ext cx="1488" cy="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 dirty="0" err="1"/>
                <a:t>m</a:t>
              </a:r>
              <a:r>
                <a:rPr lang="en-US" altLang="zh-CN" baseline="-25000" dirty="0" err="1"/>
                <a:t>spin</a:t>
              </a:r>
              <a:r>
                <a:rPr lang="en-US" altLang="zh-CN" baseline="-25000" dirty="0"/>
                <a:t>  </a:t>
              </a:r>
              <a:endParaRPr lang="en-US" altLang="zh-CN" baseline="-25000" dirty="0"/>
            </a:p>
            <a:p>
              <a:r>
                <a:rPr lang="en-US" altLang="zh-CN" sz="1400" dirty="0"/>
                <a:t>(adding to the orbital contribution, or not completely cancelling it if negative)</a:t>
              </a:r>
              <a:endParaRPr lang="en-US" altLang="zh-CN" sz="1400" baseline="-25000" dirty="0"/>
            </a:p>
          </p:txBody>
        </p:sp>
        <p:sp>
          <p:nvSpPr>
            <p:cNvPr id="53" name="Line 12"/>
            <p:cNvSpPr>
              <a:spLocks noChangeShapeType="1"/>
            </p:cNvSpPr>
            <p:nvPr/>
          </p:nvSpPr>
          <p:spPr bwMode="auto">
            <a:xfrm flipH="1">
              <a:off x="3459" y="3255"/>
              <a:ext cx="432" cy="336"/>
            </a:xfrm>
            <a:prstGeom prst="line">
              <a:avLst/>
            </a:prstGeom>
            <a:noFill/>
            <a:ln w="19050">
              <a:solidFill>
                <a:srgbClr val="FF1485"/>
              </a:solidFill>
              <a:rou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Rectangle 13"/>
            <p:cNvSpPr>
              <a:spLocks noChangeArrowheads="1"/>
            </p:cNvSpPr>
            <p:nvPr/>
          </p:nvSpPr>
          <p:spPr bwMode="auto">
            <a:xfrm>
              <a:off x="3186" y="3456"/>
              <a:ext cx="2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F</a:t>
              </a:r>
              <a:r>
                <a:rPr lang="en-US" altLang="zh-CN" i="1" baseline="-25000"/>
                <a:t>m</a:t>
              </a:r>
              <a:endParaRPr lang="en-US" altLang="zh-CN" b="1"/>
            </a:p>
          </p:txBody>
        </p:sp>
      </p:grpSp>
      <p:sp>
        <p:nvSpPr>
          <p:cNvPr id="26" name="Rectangle 14"/>
          <p:cNvSpPr>
            <a:spLocks noChangeArrowheads="1"/>
          </p:cNvSpPr>
          <p:nvPr/>
        </p:nvSpPr>
        <p:spPr bwMode="auto">
          <a:xfrm>
            <a:off x="306388" y="2590800"/>
            <a:ext cx="4646612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Application of a magnetic field on the non-zero moments </a:t>
            </a:r>
            <a:r>
              <a:rPr lang="en-US" altLang="zh-CN" dirty="0">
                <a:solidFill>
                  <a:srgbClr val="C00000"/>
                </a:solidFill>
              </a:rPr>
              <a:t>introduces a torque on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the ensemble </a:t>
            </a:r>
            <a:r>
              <a:rPr lang="en-US" altLang="zh-CN" dirty="0"/>
              <a:t>which results in the </a:t>
            </a:r>
            <a:r>
              <a:rPr lang="en-US" altLang="zh-CN" dirty="0">
                <a:solidFill>
                  <a:srgbClr val="C00000"/>
                </a:solidFill>
              </a:rPr>
              <a:t>partial alignment </a:t>
            </a:r>
            <a:r>
              <a:rPr lang="en-US" altLang="zh-CN" dirty="0"/>
              <a:t>of the moments of adjacent atoms. This </a:t>
            </a:r>
            <a:r>
              <a:rPr lang="en-US" altLang="zh-CN" dirty="0">
                <a:solidFill>
                  <a:srgbClr val="C00000"/>
                </a:solidFill>
              </a:rPr>
              <a:t>strengthens the overall magnetic flux density</a:t>
            </a:r>
            <a:r>
              <a:rPr lang="en-US" altLang="zh-CN" dirty="0"/>
              <a:t>.  </a:t>
            </a:r>
            <a:endParaRPr lang="en-US" altLang="zh-CN" dirty="0"/>
          </a:p>
        </p:txBody>
      </p:sp>
      <p:sp>
        <p:nvSpPr>
          <p:cNvPr id="34" name="Rectangle 15"/>
          <p:cNvSpPr>
            <a:spLocks noChangeArrowheads="1"/>
          </p:cNvSpPr>
          <p:nvPr/>
        </p:nvSpPr>
        <p:spPr bwMode="auto">
          <a:xfrm>
            <a:off x="324883" y="4114800"/>
            <a:ext cx="478051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However, the diamagnetic effect,  in addition to the tendency toward random orientations due to molecular activity (increasing with temperature) reduces the net increase in </a:t>
            </a:r>
            <a:r>
              <a:rPr lang="en-US" altLang="zh-CN" b="1" dirty="0">
                <a:solidFill>
                  <a:srgbClr val="C00000"/>
                </a:solidFill>
              </a:rPr>
              <a:t>B</a:t>
            </a:r>
            <a:r>
              <a:rPr lang="en-US" altLang="zh-CN" dirty="0"/>
              <a:t>. </a:t>
            </a:r>
            <a:endParaRPr lang="en-US" altLang="zh-CN" dirty="0"/>
          </a:p>
        </p:txBody>
      </p:sp>
      <p:sp>
        <p:nvSpPr>
          <p:cNvPr id="45" name="Rectangle 16"/>
          <p:cNvSpPr>
            <a:spLocks noChangeArrowheads="1"/>
          </p:cNvSpPr>
          <p:nvPr/>
        </p:nvSpPr>
        <p:spPr bwMode="auto">
          <a:xfrm>
            <a:off x="306388" y="1666220"/>
            <a:ext cx="860901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In this case, </a:t>
            </a:r>
            <a:r>
              <a:rPr lang="en-US" altLang="zh-CN" dirty="0">
                <a:solidFill>
                  <a:srgbClr val="C00000"/>
                </a:solidFill>
              </a:rPr>
              <a:t>the summation of all orbital and spin magnetic moments associated with individual atoms is not zero, but is very small.  Because of random orientations of adjacent atoms, however, the </a:t>
            </a:r>
            <a:r>
              <a:rPr lang="en-US" altLang="zh-CN" i="1" dirty="0">
                <a:solidFill>
                  <a:srgbClr val="C00000"/>
                </a:solidFill>
              </a:rPr>
              <a:t>average</a:t>
            </a:r>
            <a:r>
              <a:rPr lang="en-US" altLang="zh-CN" dirty="0">
                <a:solidFill>
                  <a:srgbClr val="C00000"/>
                </a:solidFill>
              </a:rPr>
              <a:t> magnetic moment in the material is zero. 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6" name="Rectangle 19"/>
          <p:cNvSpPr>
            <a:spLocks noChangeArrowheads="1"/>
          </p:cNvSpPr>
          <p:nvPr/>
        </p:nvSpPr>
        <p:spPr bwMode="auto">
          <a:xfrm>
            <a:off x="379967" y="5315129"/>
            <a:ext cx="472543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So a net </a:t>
            </a:r>
            <a:r>
              <a:rPr lang="en-US" altLang="zh-CN" i="1" dirty="0">
                <a:solidFill>
                  <a:srgbClr val="C00000"/>
                </a:solidFill>
              </a:rPr>
              <a:t>increase</a:t>
            </a:r>
            <a:r>
              <a:rPr lang="en-US" altLang="zh-CN" dirty="0">
                <a:solidFill>
                  <a:srgbClr val="C00000"/>
                </a:solidFill>
              </a:rPr>
              <a:t> in the </a:t>
            </a:r>
            <a:r>
              <a:rPr lang="en-US" altLang="zh-CN" b="1" dirty="0">
                <a:solidFill>
                  <a:srgbClr val="C00000"/>
                </a:solidFill>
              </a:rPr>
              <a:t>B</a:t>
            </a:r>
            <a:r>
              <a:rPr lang="en-US" altLang="zh-CN" dirty="0">
                <a:solidFill>
                  <a:srgbClr val="C00000"/>
                </a:solidFill>
              </a:rPr>
              <a:t> field will be seen, but this increase is very small.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7" name="Rectangle 22"/>
          <p:cNvSpPr>
            <a:spLocks noChangeArrowheads="1"/>
          </p:cNvSpPr>
          <p:nvPr/>
        </p:nvSpPr>
        <p:spPr bwMode="auto">
          <a:xfrm>
            <a:off x="370953" y="6059269"/>
            <a:ext cx="7020447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Examples of paramagnetic materials:  potassium</a:t>
            </a: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钾</a:t>
            </a:r>
            <a:r>
              <a:rPr lang="en-US" altLang="zh-CN" dirty="0"/>
              <a:t>, tungsten</a:t>
            </a: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钨</a:t>
            </a:r>
            <a:r>
              <a:rPr lang="en-US" altLang="zh-CN" dirty="0"/>
              <a:t>, rare earth elements</a:t>
            </a: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稀土</a:t>
            </a:r>
            <a:endParaRPr lang="en-US" altLang="zh-CN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27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Materials: Ferromagnetism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铁磁性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21" name="Group 143"/>
          <p:cNvGrpSpPr/>
          <p:nvPr/>
        </p:nvGrpSpPr>
        <p:grpSpPr bwMode="auto">
          <a:xfrm>
            <a:off x="5307012" y="2054225"/>
            <a:ext cx="2617788" cy="3681413"/>
            <a:chOff x="3120" y="1294"/>
            <a:chExt cx="1649" cy="2319"/>
          </a:xfrm>
        </p:grpSpPr>
        <p:sp>
          <p:nvSpPr>
            <p:cNvPr id="22" name="Freeform 21"/>
            <p:cNvSpPr/>
            <p:nvPr/>
          </p:nvSpPr>
          <p:spPr bwMode="auto">
            <a:xfrm rot="7670293">
              <a:off x="3996" y="2655"/>
              <a:ext cx="797" cy="534"/>
            </a:xfrm>
            <a:custGeom>
              <a:avLst/>
              <a:gdLst>
                <a:gd name="T0" fmla="*/ 55 w 797"/>
                <a:gd name="T1" fmla="*/ 534 h 534"/>
                <a:gd name="T2" fmla="*/ 11 w 797"/>
                <a:gd name="T3" fmla="*/ 476 h 534"/>
                <a:gd name="T4" fmla="*/ 17 w 797"/>
                <a:gd name="T5" fmla="*/ 352 h 534"/>
                <a:gd name="T6" fmla="*/ 106 w 797"/>
                <a:gd name="T7" fmla="*/ 263 h 534"/>
                <a:gd name="T8" fmla="*/ 333 w 797"/>
                <a:gd name="T9" fmla="*/ 65 h 534"/>
                <a:gd name="T10" fmla="*/ 416 w 797"/>
                <a:gd name="T11" fmla="*/ 17 h 534"/>
                <a:gd name="T12" fmla="*/ 702 w 797"/>
                <a:gd name="T13" fmla="*/ 27 h 534"/>
                <a:gd name="T14" fmla="*/ 747 w 797"/>
                <a:gd name="T15" fmla="*/ 56 h 534"/>
                <a:gd name="T16" fmla="*/ 785 w 797"/>
                <a:gd name="T17" fmla="*/ 97 h 534"/>
                <a:gd name="T18" fmla="*/ 788 w 797"/>
                <a:gd name="T19" fmla="*/ 202 h 534"/>
                <a:gd name="T20" fmla="*/ 757 w 797"/>
                <a:gd name="T21" fmla="*/ 295 h 534"/>
                <a:gd name="T22" fmla="*/ 632 w 797"/>
                <a:gd name="T23" fmla="*/ 438 h 534"/>
                <a:gd name="T24" fmla="*/ 559 w 797"/>
                <a:gd name="T25" fmla="*/ 435 h 534"/>
                <a:gd name="T26" fmla="*/ 486 w 797"/>
                <a:gd name="T27" fmla="*/ 400 h 534"/>
                <a:gd name="T28" fmla="*/ 473 w 797"/>
                <a:gd name="T29" fmla="*/ 394 h 534"/>
                <a:gd name="T30" fmla="*/ 365 w 797"/>
                <a:gd name="T31" fmla="*/ 416 h 534"/>
                <a:gd name="T32" fmla="*/ 279 w 797"/>
                <a:gd name="T33" fmla="*/ 473 h 534"/>
                <a:gd name="T34" fmla="*/ 141 w 797"/>
                <a:gd name="T35" fmla="*/ 511 h 534"/>
                <a:gd name="T36" fmla="*/ 71 w 797"/>
                <a:gd name="T37" fmla="*/ 524 h 534"/>
                <a:gd name="T38" fmla="*/ 55 w 797"/>
                <a:gd name="T39" fmla="*/ 534 h 53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97" h="534">
                  <a:moveTo>
                    <a:pt x="55" y="534"/>
                  </a:moveTo>
                  <a:cubicBezTo>
                    <a:pt x="40" y="513"/>
                    <a:pt x="23" y="498"/>
                    <a:pt x="11" y="476"/>
                  </a:cubicBezTo>
                  <a:cubicBezTo>
                    <a:pt x="5" y="435"/>
                    <a:pt x="0" y="390"/>
                    <a:pt x="17" y="352"/>
                  </a:cubicBezTo>
                  <a:cubicBezTo>
                    <a:pt x="35" y="308"/>
                    <a:pt x="75" y="293"/>
                    <a:pt x="106" y="263"/>
                  </a:cubicBezTo>
                  <a:cubicBezTo>
                    <a:pt x="175" y="193"/>
                    <a:pt x="242" y="106"/>
                    <a:pt x="333" y="65"/>
                  </a:cubicBezTo>
                  <a:cubicBezTo>
                    <a:pt x="359" y="38"/>
                    <a:pt x="379" y="25"/>
                    <a:pt x="416" y="17"/>
                  </a:cubicBezTo>
                  <a:cubicBezTo>
                    <a:pt x="452" y="17"/>
                    <a:pt x="617" y="5"/>
                    <a:pt x="702" y="27"/>
                  </a:cubicBezTo>
                  <a:cubicBezTo>
                    <a:pt x="743" y="59"/>
                    <a:pt x="666" y="0"/>
                    <a:pt x="747" y="56"/>
                  </a:cubicBezTo>
                  <a:cubicBezTo>
                    <a:pt x="762" y="66"/>
                    <a:pt x="771" y="83"/>
                    <a:pt x="785" y="97"/>
                  </a:cubicBezTo>
                  <a:cubicBezTo>
                    <a:pt x="797" y="137"/>
                    <a:pt x="795" y="135"/>
                    <a:pt x="788" y="202"/>
                  </a:cubicBezTo>
                  <a:cubicBezTo>
                    <a:pt x="784" y="232"/>
                    <a:pt x="766" y="265"/>
                    <a:pt x="757" y="295"/>
                  </a:cubicBezTo>
                  <a:cubicBezTo>
                    <a:pt x="735" y="362"/>
                    <a:pt x="715" y="427"/>
                    <a:pt x="632" y="438"/>
                  </a:cubicBezTo>
                  <a:cubicBezTo>
                    <a:pt x="607" y="437"/>
                    <a:pt x="582" y="441"/>
                    <a:pt x="559" y="435"/>
                  </a:cubicBezTo>
                  <a:cubicBezTo>
                    <a:pt x="532" y="428"/>
                    <a:pt x="510" y="411"/>
                    <a:pt x="486" y="400"/>
                  </a:cubicBezTo>
                  <a:cubicBezTo>
                    <a:pt x="481" y="397"/>
                    <a:pt x="473" y="394"/>
                    <a:pt x="473" y="394"/>
                  </a:cubicBezTo>
                  <a:cubicBezTo>
                    <a:pt x="438" y="399"/>
                    <a:pt x="397" y="401"/>
                    <a:pt x="365" y="416"/>
                  </a:cubicBezTo>
                  <a:cubicBezTo>
                    <a:pt x="334" y="429"/>
                    <a:pt x="308" y="456"/>
                    <a:pt x="279" y="473"/>
                  </a:cubicBezTo>
                  <a:cubicBezTo>
                    <a:pt x="234" y="496"/>
                    <a:pt x="190" y="507"/>
                    <a:pt x="141" y="511"/>
                  </a:cubicBezTo>
                  <a:cubicBezTo>
                    <a:pt x="117" y="515"/>
                    <a:pt x="94" y="520"/>
                    <a:pt x="71" y="524"/>
                  </a:cubicBezTo>
                  <a:cubicBezTo>
                    <a:pt x="67" y="526"/>
                    <a:pt x="48" y="534"/>
                    <a:pt x="55" y="534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19"/>
            <p:cNvSpPr/>
            <p:nvPr/>
          </p:nvSpPr>
          <p:spPr bwMode="auto">
            <a:xfrm rot="-5850591">
              <a:off x="3174" y="2463"/>
              <a:ext cx="797" cy="534"/>
            </a:xfrm>
            <a:custGeom>
              <a:avLst/>
              <a:gdLst>
                <a:gd name="T0" fmla="*/ 55 w 797"/>
                <a:gd name="T1" fmla="*/ 534 h 534"/>
                <a:gd name="T2" fmla="*/ 11 w 797"/>
                <a:gd name="T3" fmla="*/ 476 h 534"/>
                <a:gd name="T4" fmla="*/ 17 w 797"/>
                <a:gd name="T5" fmla="*/ 352 h 534"/>
                <a:gd name="T6" fmla="*/ 106 w 797"/>
                <a:gd name="T7" fmla="*/ 263 h 534"/>
                <a:gd name="T8" fmla="*/ 333 w 797"/>
                <a:gd name="T9" fmla="*/ 65 h 534"/>
                <a:gd name="T10" fmla="*/ 416 w 797"/>
                <a:gd name="T11" fmla="*/ 17 h 534"/>
                <a:gd name="T12" fmla="*/ 702 w 797"/>
                <a:gd name="T13" fmla="*/ 27 h 534"/>
                <a:gd name="T14" fmla="*/ 747 w 797"/>
                <a:gd name="T15" fmla="*/ 56 h 534"/>
                <a:gd name="T16" fmla="*/ 785 w 797"/>
                <a:gd name="T17" fmla="*/ 97 h 534"/>
                <a:gd name="T18" fmla="*/ 788 w 797"/>
                <a:gd name="T19" fmla="*/ 202 h 534"/>
                <a:gd name="T20" fmla="*/ 757 w 797"/>
                <a:gd name="T21" fmla="*/ 295 h 534"/>
                <a:gd name="T22" fmla="*/ 632 w 797"/>
                <a:gd name="T23" fmla="*/ 438 h 534"/>
                <a:gd name="T24" fmla="*/ 559 w 797"/>
                <a:gd name="T25" fmla="*/ 435 h 534"/>
                <a:gd name="T26" fmla="*/ 486 w 797"/>
                <a:gd name="T27" fmla="*/ 400 h 534"/>
                <a:gd name="T28" fmla="*/ 473 w 797"/>
                <a:gd name="T29" fmla="*/ 394 h 534"/>
                <a:gd name="T30" fmla="*/ 365 w 797"/>
                <a:gd name="T31" fmla="*/ 416 h 534"/>
                <a:gd name="T32" fmla="*/ 279 w 797"/>
                <a:gd name="T33" fmla="*/ 473 h 534"/>
                <a:gd name="T34" fmla="*/ 141 w 797"/>
                <a:gd name="T35" fmla="*/ 511 h 534"/>
                <a:gd name="T36" fmla="*/ 71 w 797"/>
                <a:gd name="T37" fmla="*/ 524 h 534"/>
                <a:gd name="T38" fmla="*/ 55 w 797"/>
                <a:gd name="T39" fmla="*/ 534 h 53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97" h="534">
                  <a:moveTo>
                    <a:pt x="55" y="534"/>
                  </a:moveTo>
                  <a:cubicBezTo>
                    <a:pt x="40" y="513"/>
                    <a:pt x="23" y="498"/>
                    <a:pt x="11" y="476"/>
                  </a:cubicBezTo>
                  <a:cubicBezTo>
                    <a:pt x="5" y="435"/>
                    <a:pt x="0" y="390"/>
                    <a:pt x="17" y="352"/>
                  </a:cubicBezTo>
                  <a:cubicBezTo>
                    <a:pt x="35" y="308"/>
                    <a:pt x="75" y="293"/>
                    <a:pt x="106" y="263"/>
                  </a:cubicBezTo>
                  <a:cubicBezTo>
                    <a:pt x="175" y="193"/>
                    <a:pt x="242" y="106"/>
                    <a:pt x="333" y="65"/>
                  </a:cubicBezTo>
                  <a:cubicBezTo>
                    <a:pt x="359" y="38"/>
                    <a:pt x="379" y="25"/>
                    <a:pt x="416" y="17"/>
                  </a:cubicBezTo>
                  <a:cubicBezTo>
                    <a:pt x="452" y="17"/>
                    <a:pt x="617" y="5"/>
                    <a:pt x="702" y="27"/>
                  </a:cubicBezTo>
                  <a:cubicBezTo>
                    <a:pt x="743" y="59"/>
                    <a:pt x="666" y="0"/>
                    <a:pt x="747" y="56"/>
                  </a:cubicBezTo>
                  <a:cubicBezTo>
                    <a:pt x="762" y="66"/>
                    <a:pt x="771" y="83"/>
                    <a:pt x="785" y="97"/>
                  </a:cubicBezTo>
                  <a:cubicBezTo>
                    <a:pt x="797" y="137"/>
                    <a:pt x="795" y="135"/>
                    <a:pt x="788" y="202"/>
                  </a:cubicBezTo>
                  <a:cubicBezTo>
                    <a:pt x="784" y="232"/>
                    <a:pt x="766" y="265"/>
                    <a:pt x="757" y="295"/>
                  </a:cubicBezTo>
                  <a:cubicBezTo>
                    <a:pt x="735" y="362"/>
                    <a:pt x="715" y="427"/>
                    <a:pt x="632" y="438"/>
                  </a:cubicBezTo>
                  <a:cubicBezTo>
                    <a:pt x="607" y="437"/>
                    <a:pt x="582" y="441"/>
                    <a:pt x="559" y="435"/>
                  </a:cubicBezTo>
                  <a:cubicBezTo>
                    <a:pt x="532" y="428"/>
                    <a:pt x="510" y="411"/>
                    <a:pt x="486" y="400"/>
                  </a:cubicBezTo>
                  <a:cubicBezTo>
                    <a:pt x="481" y="397"/>
                    <a:pt x="473" y="394"/>
                    <a:pt x="473" y="394"/>
                  </a:cubicBezTo>
                  <a:cubicBezTo>
                    <a:pt x="438" y="399"/>
                    <a:pt x="397" y="401"/>
                    <a:pt x="365" y="416"/>
                  </a:cubicBezTo>
                  <a:cubicBezTo>
                    <a:pt x="334" y="429"/>
                    <a:pt x="308" y="456"/>
                    <a:pt x="279" y="473"/>
                  </a:cubicBezTo>
                  <a:cubicBezTo>
                    <a:pt x="234" y="496"/>
                    <a:pt x="190" y="507"/>
                    <a:pt x="141" y="511"/>
                  </a:cubicBezTo>
                  <a:cubicBezTo>
                    <a:pt x="117" y="515"/>
                    <a:pt x="94" y="520"/>
                    <a:pt x="71" y="524"/>
                  </a:cubicBezTo>
                  <a:cubicBezTo>
                    <a:pt x="67" y="526"/>
                    <a:pt x="48" y="534"/>
                    <a:pt x="55" y="534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17"/>
            <p:cNvSpPr/>
            <p:nvPr/>
          </p:nvSpPr>
          <p:spPr bwMode="auto">
            <a:xfrm rot="9480312">
              <a:off x="3811" y="2427"/>
              <a:ext cx="797" cy="534"/>
            </a:xfrm>
            <a:custGeom>
              <a:avLst/>
              <a:gdLst>
                <a:gd name="T0" fmla="*/ 55 w 797"/>
                <a:gd name="T1" fmla="*/ 534 h 534"/>
                <a:gd name="T2" fmla="*/ 11 w 797"/>
                <a:gd name="T3" fmla="*/ 476 h 534"/>
                <a:gd name="T4" fmla="*/ 17 w 797"/>
                <a:gd name="T5" fmla="*/ 352 h 534"/>
                <a:gd name="T6" fmla="*/ 106 w 797"/>
                <a:gd name="T7" fmla="*/ 263 h 534"/>
                <a:gd name="T8" fmla="*/ 333 w 797"/>
                <a:gd name="T9" fmla="*/ 65 h 534"/>
                <a:gd name="T10" fmla="*/ 416 w 797"/>
                <a:gd name="T11" fmla="*/ 17 h 534"/>
                <a:gd name="T12" fmla="*/ 702 w 797"/>
                <a:gd name="T13" fmla="*/ 27 h 534"/>
                <a:gd name="T14" fmla="*/ 747 w 797"/>
                <a:gd name="T15" fmla="*/ 56 h 534"/>
                <a:gd name="T16" fmla="*/ 785 w 797"/>
                <a:gd name="T17" fmla="*/ 97 h 534"/>
                <a:gd name="T18" fmla="*/ 788 w 797"/>
                <a:gd name="T19" fmla="*/ 202 h 534"/>
                <a:gd name="T20" fmla="*/ 757 w 797"/>
                <a:gd name="T21" fmla="*/ 295 h 534"/>
                <a:gd name="T22" fmla="*/ 632 w 797"/>
                <a:gd name="T23" fmla="*/ 438 h 534"/>
                <a:gd name="T24" fmla="*/ 559 w 797"/>
                <a:gd name="T25" fmla="*/ 435 h 534"/>
                <a:gd name="T26" fmla="*/ 486 w 797"/>
                <a:gd name="T27" fmla="*/ 400 h 534"/>
                <a:gd name="T28" fmla="*/ 473 w 797"/>
                <a:gd name="T29" fmla="*/ 394 h 534"/>
                <a:gd name="T30" fmla="*/ 365 w 797"/>
                <a:gd name="T31" fmla="*/ 416 h 534"/>
                <a:gd name="T32" fmla="*/ 279 w 797"/>
                <a:gd name="T33" fmla="*/ 473 h 534"/>
                <a:gd name="T34" fmla="*/ 141 w 797"/>
                <a:gd name="T35" fmla="*/ 511 h 534"/>
                <a:gd name="T36" fmla="*/ 71 w 797"/>
                <a:gd name="T37" fmla="*/ 524 h 534"/>
                <a:gd name="T38" fmla="*/ 55 w 797"/>
                <a:gd name="T39" fmla="*/ 534 h 53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97" h="534">
                  <a:moveTo>
                    <a:pt x="55" y="534"/>
                  </a:moveTo>
                  <a:cubicBezTo>
                    <a:pt x="40" y="513"/>
                    <a:pt x="23" y="498"/>
                    <a:pt x="11" y="476"/>
                  </a:cubicBezTo>
                  <a:cubicBezTo>
                    <a:pt x="5" y="435"/>
                    <a:pt x="0" y="390"/>
                    <a:pt x="17" y="352"/>
                  </a:cubicBezTo>
                  <a:cubicBezTo>
                    <a:pt x="35" y="308"/>
                    <a:pt x="75" y="293"/>
                    <a:pt x="106" y="263"/>
                  </a:cubicBezTo>
                  <a:cubicBezTo>
                    <a:pt x="175" y="193"/>
                    <a:pt x="242" y="106"/>
                    <a:pt x="333" y="65"/>
                  </a:cubicBezTo>
                  <a:cubicBezTo>
                    <a:pt x="359" y="38"/>
                    <a:pt x="379" y="25"/>
                    <a:pt x="416" y="17"/>
                  </a:cubicBezTo>
                  <a:cubicBezTo>
                    <a:pt x="452" y="17"/>
                    <a:pt x="617" y="5"/>
                    <a:pt x="702" y="27"/>
                  </a:cubicBezTo>
                  <a:cubicBezTo>
                    <a:pt x="743" y="59"/>
                    <a:pt x="666" y="0"/>
                    <a:pt x="747" y="56"/>
                  </a:cubicBezTo>
                  <a:cubicBezTo>
                    <a:pt x="762" y="66"/>
                    <a:pt x="771" y="83"/>
                    <a:pt x="785" y="97"/>
                  </a:cubicBezTo>
                  <a:cubicBezTo>
                    <a:pt x="797" y="137"/>
                    <a:pt x="795" y="135"/>
                    <a:pt x="788" y="202"/>
                  </a:cubicBezTo>
                  <a:cubicBezTo>
                    <a:pt x="784" y="232"/>
                    <a:pt x="766" y="265"/>
                    <a:pt x="757" y="295"/>
                  </a:cubicBezTo>
                  <a:cubicBezTo>
                    <a:pt x="735" y="362"/>
                    <a:pt x="715" y="427"/>
                    <a:pt x="632" y="438"/>
                  </a:cubicBezTo>
                  <a:cubicBezTo>
                    <a:pt x="607" y="437"/>
                    <a:pt x="582" y="441"/>
                    <a:pt x="559" y="435"/>
                  </a:cubicBezTo>
                  <a:cubicBezTo>
                    <a:pt x="532" y="428"/>
                    <a:pt x="510" y="411"/>
                    <a:pt x="486" y="400"/>
                  </a:cubicBezTo>
                  <a:cubicBezTo>
                    <a:pt x="481" y="397"/>
                    <a:pt x="473" y="394"/>
                    <a:pt x="473" y="394"/>
                  </a:cubicBezTo>
                  <a:cubicBezTo>
                    <a:pt x="438" y="399"/>
                    <a:pt x="397" y="401"/>
                    <a:pt x="365" y="416"/>
                  </a:cubicBezTo>
                  <a:cubicBezTo>
                    <a:pt x="334" y="429"/>
                    <a:pt x="308" y="456"/>
                    <a:pt x="279" y="473"/>
                  </a:cubicBezTo>
                  <a:cubicBezTo>
                    <a:pt x="234" y="496"/>
                    <a:pt x="190" y="507"/>
                    <a:pt x="141" y="511"/>
                  </a:cubicBezTo>
                  <a:cubicBezTo>
                    <a:pt x="117" y="515"/>
                    <a:pt x="94" y="520"/>
                    <a:pt x="71" y="524"/>
                  </a:cubicBezTo>
                  <a:cubicBezTo>
                    <a:pt x="67" y="526"/>
                    <a:pt x="48" y="534"/>
                    <a:pt x="55" y="534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Freeform 16"/>
            <p:cNvSpPr/>
            <p:nvPr/>
          </p:nvSpPr>
          <p:spPr bwMode="auto">
            <a:xfrm>
              <a:off x="3648" y="2270"/>
              <a:ext cx="585" cy="541"/>
            </a:xfrm>
            <a:custGeom>
              <a:avLst/>
              <a:gdLst>
                <a:gd name="T0" fmla="*/ 91 w 585"/>
                <a:gd name="T1" fmla="*/ 484 h 541"/>
                <a:gd name="T2" fmla="*/ 8 w 585"/>
                <a:gd name="T3" fmla="*/ 363 h 541"/>
                <a:gd name="T4" fmla="*/ 8 w 585"/>
                <a:gd name="T5" fmla="*/ 229 h 541"/>
                <a:gd name="T6" fmla="*/ 34 w 585"/>
                <a:gd name="T7" fmla="*/ 181 h 541"/>
                <a:gd name="T8" fmla="*/ 168 w 585"/>
                <a:gd name="T9" fmla="*/ 67 h 541"/>
                <a:gd name="T10" fmla="*/ 349 w 585"/>
                <a:gd name="T11" fmla="*/ 19 h 541"/>
                <a:gd name="T12" fmla="*/ 474 w 585"/>
                <a:gd name="T13" fmla="*/ 25 h 541"/>
                <a:gd name="T14" fmla="*/ 525 w 585"/>
                <a:gd name="T15" fmla="*/ 86 h 541"/>
                <a:gd name="T16" fmla="*/ 557 w 585"/>
                <a:gd name="T17" fmla="*/ 153 h 541"/>
                <a:gd name="T18" fmla="*/ 572 w 585"/>
                <a:gd name="T19" fmla="*/ 191 h 541"/>
                <a:gd name="T20" fmla="*/ 582 w 585"/>
                <a:gd name="T21" fmla="*/ 248 h 541"/>
                <a:gd name="T22" fmla="*/ 563 w 585"/>
                <a:gd name="T23" fmla="*/ 417 h 541"/>
                <a:gd name="T24" fmla="*/ 496 w 585"/>
                <a:gd name="T25" fmla="*/ 494 h 541"/>
                <a:gd name="T26" fmla="*/ 439 w 585"/>
                <a:gd name="T27" fmla="*/ 522 h 541"/>
                <a:gd name="T28" fmla="*/ 317 w 585"/>
                <a:gd name="T29" fmla="*/ 538 h 541"/>
                <a:gd name="T30" fmla="*/ 184 w 585"/>
                <a:gd name="T31" fmla="*/ 532 h 541"/>
                <a:gd name="T32" fmla="*/ 139 w 585"/>
                <a:gd name="T33" fmla="*/ 519 h 541"/>
                <a:gd name="T34" fmla="*/ 114 w 585"/>
                <a:gd name="T35" fmla="*/ 497 h 541"/>
                <a:gd name="T36" fmla="*/ 91 w 585"/>
                <a:gd name="T37" fmla="*/ 484 h 5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85" h="541">
                  <a:moveTo>
                    <a:pt x="91" y="484"/>
                  </a:moveTo>
                  <a:cubicBezTo>
                    <a:pt x="55" y="446"/>
                    <a:pt x="38" y="403"/>
                    <a:pt x="8" y="363"/>
                  </a:cubicBezTo>
                  <a:cubicBezTo>
                    <a:pt x="2" y="311"/>
                    <a:pt x="0" y="300"/>
                    <a:pt x="8" y="229"/>
                  </a:cubicBezTo>
                  <a:cubicBezTo>
                    <a:pt x="9" y="216"/>
                    <a:pt x="27" y="192"/>
                    <a:pt x="34" y="181"/>
                  </a:cubicBezTo>
                  <a:cubicBezTo>
                    <a:pt x="61" y="133"/>
                    <a:pt x="114" y="83"/>
                    <a:pt x="168" y="67"/>
                  </a:cubicBezTo>
                  <a:cubicBezTo>
                    <a:pt x="206" y="35"/>
                    <a:pt x="298" y="23"/>
                    <a:pt x="349" y="19"/>
                  </a:cubicBezTo>
                  <a:cubicBezTo>
                    <a:pt x="390" y="20"/>
                    <a:pt x="440" y="0"/>
                    <a:pt x="474" y="25"/>
                  </a:cubicBezTo>
                  <a:cubicBezTo>
                    <a:pt x="504" y="47"/>
                    <a:pt x="502" y="63"/>
                    <a:pt x="525" y="86"/>
                  </a:cubicBezTo>
                  <a:cubicBezTo>
                    <a:pt x="530" y="112"/>
                    <a:pt x="539" y="131"/>
                    <a:pt x="557" y="153"/>
                  </a:cubicBezTo>
                  <a:cubicBezTo>
                    <a:pt x="561" y="166"/>
                    <a:pt x="569" y="177"/>
                    <a:pt x="572" y="191"/>
                  </a:cubicBezTo>
                  <a:cubicBezTo>
                    <a:pt x="575" y="209"/>
                    <a:pt x="575" y="229"/>
                    <a:pt x="582" y="248"/>
                  </a:cubicBezTo>
                  <a:cubicBezTo>
                    <a:pt x="579" y="287"/>
                    <a:pt x="585" y="367"/>
                    <a:pt x="563" y="417"/>
                  </a:cubicBezTo>
                  <a:cubicBezTo>
                    <a:pt x="556" y="453"/>
                    <a:pt x="529" y="479"/>
                    <a:pt x="496" y="494"/>
                  </a:cubicBezTo>
                  <a:cubicBezTo>
                    <a:pt x="477" y="510"/>
                    <a:pt x="462" y="518"/>
                    <a:pt x="439" y="522"/>
                  </a:cubicBezTo>
                  <a:cubicBezTo>
                    <a:pt x="411" y="541"/>
                    <a:pt x="340" y="537"/>
                    <a:pt x="317" y="538"/>
                  </a:cubicBezTo>
                  <a:cubicBezTo>
                    <a:pt x="287" y="537"/>
                    <a:pt x="222" y="536"/>
                    <a:pt x="184" y="532"/>
                  </a:cubicBezTo>
                  <a:cubicBezTo>
                    <a:pt x="168" y="530"/>
                    <a:pt x="139" y="519"/>
                    <a:pt x="139" y="519"/>
                  </a:cubicBezTo>
                  <a:cubicBezTo>
                    <a:pt x="131" y="511"/>
                    <a:pt x="123" y="501"/>
                    <a:pt x="114" y="497"/>
                  </a:cubicBezTo>
                  <a:cubicBezTo>
                    <a:pt x="104" y="492"/>
                    <a:pt x="96" y="494"/>
                    <a:pt x="91" y="484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Freeform 14"/>
            <p:cNvSpPr/>
            <p:nvPr/>
          </p:nvSpPr>
          <p:spPr bwMode="auto">
            <a:xfrm rot="-9205815">
              <a:off x="3188" y="1777"/>
              <a:ext cx="652" cy="458"/>
            </a:xfrm>
            <a:custGeom>
              <a:avLst/>
              <a:gdLst>
                <a:gd name="T0" fmla="*/ 8 w 652"/>
                <a:gd name="T1" fmla="*/ 318 h 458"/>
                <a:gd name="T2" fmla="*/ 31 w 652"/>
                <a:gd name="T3" fmla="*/ 139 h 458"/>
                <a:gd name="T4" fmla="*/ 120 w 652"/>
                <a:gd name="T5" fmla="*/ 82 h 458"/>
                <a:gd name="T6" fmla="*/ 391 w 652"/>
                <a:gd name="T7" fmla="*/ 5 h 458"/>
                <a:gd name="T8" fmla="*/ 550 w 652"/>
                <a:gd name="T9" fmla="*/ 28 h 458"/>
                <a:gd name="T10" fmla="*/ 604 w 652"/>
                <a:gd name="T11" fmla="*/ 66 h 458"/>
                <a:gd name="T12" fmla="*/ 652 w 652"/>
                <a:gd name="T13" fmla="*/ 196 h 458"/>
                <a:gd name="T14" fmla="*/ 649 w 652"/>
                <a:gd name="T15" fmla="*/ 279 h 458"/>
                <a:gd name="T16" fmla="*/ 445 w 652"/>
                <a:gd name="T17" fmla="*/ 458 h 458"/>
                <a:gd name="T18" fmla="*/ 301 w 652"/>
                <a:gd name="T19" fmla="*/ 455 h 458"/>
                <a:gd name="T20" fmla="*/ 82 w 652"/>
                <a:gd name="T21" fmla="*/ 413 h 458"/>
                <a:gd name="T22" fmla="*/ 21 w 652"/>
                <a:gd name="T23" fmla="*/ 388 h 458"/>
                <a:gd name="T24" fmla="*/ 15 w 652"/>
                <a:gd name="T25" fmla="*/ 334 h 458"/>
                <a:gd name="T26" fmla="*/ 8 w 652"/>
                <a:gd name="T27" fmla="*/ 318 h 45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52" h="458">
                  <a:moveTo>
                    <a:pt x="8" y="318"/>
                  </a:moveTo>
                  <a:cubicBezTo>
                    <a:pt x="8" y="310"/>
                    <a:pt x="0" y="176"/>
                    <a:pt x="31" y="139"/>
                  </a:cubicBezTo>
                  <a:cubicBezTo>
                    <a:pt x="51" y="113"/>
                    <a:pt x="90" y="96"/>
                    <a:pt x="120" y="82"/>
                  </a:cubicBezTo>
                  <a:cubicBezTo>
                    <a:pt x="206" y="38"/>
                    <a:pt x="294" y="11"/>
                    <a:pt x="391" y="5"/>
                  </a:cubicBezTo>
                  <a:cubicBezTo>
                    <a:pt x="439" y="6"/>
                    <a:pt x="504" y="0"/>
                    <a:pt x="550" y="28"/>
                  </a:cubicBezTo>
                  <a:cubicBezTo>
                    <a:pt x="568" y="39"/>
                    <a:pt x="604" y="66"/>
                    <a:pt x="604" y="66"/>
                  </a:cubicBezTo>
                  <a:cubicBezTo>
                    <a:pt x="632" y="107"/>
                    <a:pt x="639" y="148"/>
                    <a:pt x="652" y="196"/>
                  </a:cubicBezTo>
                  <a:cubicBezTo>
                    <a:pt x="651" y="223"/>
                    <a:pt x="651" y="251"/>
                    <a:pt x="649" y="279"/>
                  </a:cubicBezTo>
                  <a:cubicBezTo>
                    <a:pt x="639" y="378"/>
                    <a:pt x="527" y="430"/>
                    <a:pt x="445" y="458"/>
                  </a:cubicBezTo>
                  <a:cubicBezTo>
                    <a:pt x="397" y="457"/>
                    <a:pt x="348" y="457"/>
                    <a:pt x="301" y="455"/>
                  </a:cubicBezTo>
                  <a:cubicBezTo>
                    <a:pt x="226" y="451"/>
                    <a:pt x="155" y="421"/>
                    <a:pt x="82" y="413"/>
                  </a:cubicBezTo>
                  <a:cubicBezTo>
                    <a:pt x="61" y="403"/>
                    <a:pt x="41" y="395"/>
                    <a:pt x="21" y="388"/>
                  </a:cubicBezTo>
                  <a:cubicBezTo>
                    <a:pt x="12" y="359"/>
                    <a:pt x="23" y="398"/>
                    <a:pt x="15" y="334"/>
                  </a:cubicBezTo>
                  <a:cubicBezTo>
                    <a:pt x="14" y="328"/>
                    <a:pt x="8" y="312"/>
                    <a:pt x="8" y="318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Freeform 9"/>
            <p:cNvSpPr/>
            <p:nvPr/>
          </p:nvSpPr>
          <p:spPr bwMode="auto">
            <a:xfrm rot="-5850591">
              <a:off x="3660" y="1426"/>
              <a:ext cx="797" cy="534"/>
            </a:xfrm>
            <a:custGeom>
              <a:avLst/>
              <a:gdLst>
                <a:gd name="T0" fmla="*/ 55 w 797"/>
                <a:gd name="T1" fmla="*/ 534 h 534"/>
                <a:gd name="T2" fmla="*/ 11 w 797"/>
                <a:gd name="T3" fmla="*/ 476 h 534"/>
                <a:gd name="T4" fmla="*/ 17 w 797"/>
                <a:gd name="T5" fmla="*/ 352 h 534"/>
                <a:gd name="T6" fmla="*/ 106 w 797"/>
                <a:gd name="T7" fmla="*/ 263 h 534"/>
                <a:gd name="T8" fmla="*/ 333 w 797"/>
                <a:gd name="T9" fmla="*/ 65 h 534"/>
                <a:gd name="T10" fmla="*/ 416 w 797"/>
                <a:gd name="T11" fmla="*/ 17 h 534"/>
                <a:gd name="T12" fmla="*/ 702 w 797"/>
                <a:gd name="T13" fmla="*/ 27 h 534"/>
                <a:gd name="T14" fmla="*/ 747 w 797"/>
                <a:gd name="T15" fmla="*/ 56 h 534"/>
                <a:gd name="T16" fmla="*/ 785 w 797"/>
                <a:gd name="T17" fmla="*/ 97 h 534"/>
                <a:gd name="T18" fmla="*/ 788 w 797"/>
                <a:gd name="T19" fmla="*/ 202 h 534"/>
                <a:gd name="T20" fmla="*/ 757 w 797"/>
                <a:gd name="T21" fmla="*/ 295 h 534"/>
                <a:gd name="T22" fmla="*/ 632 w 797"/>
                <a:gd name="T23" fmla="*/ 438 h 534"/>
                <a:gd name="T24" fmla="*/ 559 w 797"/>
                <a:gd name="T25" fmla="*/ 435 h 534"/>
                <a:gd name="T26" fmla="*/ 486 w 797"/>
                <a:gd name="T27" fmla="*/ 400 h 534"/>
                <a:gd name="T28" fmla="*/ 473 w 797"/>
                <a:gd name="T29" fmla="*/ 394 h 534"/>
                <a:gd name="T30" fmla="*/ 365 w 797"/>
                <a:gd name="T31" fmla="*/ 416 h 534"/>
                <a:gd name="T32" fmla="*/ 279 w 797"/>
                <a:gd name="T33" fmla="*/ 473 h 534"/>
                <a:gd name="T34" fmla="*/ 141 w 797"/>
                <a:gd name="T35" fmla="*/ 511 h 534"/>
                <a:gd name="T36" fmla="*/ 71 w 797"/>
                <a:gd name="T37" fmla="*/ 524 h 534"/>
                <a:gd name="T38" fmla="*/ 55 w 797"/>
                <a:gd name="T39" fmla="*/ 534 h 53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97" h="534">
                  <a:moveTo>
                    <a:pt x="55" y="534"/>
                  </a:moveTo>
                  <a:cubicBezTo>
                    <a:pt x="40" y="513"/>
                    <a:pt x="23" y="498"/>
                    <a:pt x="11" y="476"/>
                  </a:cubicBezTo>
                  <a:cubicBezTo>
                    <a:pt x="5" y="435"/>
                    <a:pt x="0" y="390"/>
                    <a:pt x="17" y="352"/>
                  </a:cubicBezTo>
                  <a:cubicBezTo>
                    <a:pt x="35" y="308"/>
                    <a:pt x="75" y="293"/>
                    <a:pt x="106" y="263"/>
                  </a:cubicBezTo>
                  <a:cubicBezTo>
                    <a:pt x="175" y="193"/>
                    <a:pt x="242" y="106"/>
                    <a:pt x="333" y="65"/>
                  </a:cubicBezTo>
                  <a:cubicBezTo>
                    <a:pt x="359" y="38"/>
                    <a:pt x="379" y="25"/>
                    <a:pt x="416" y="17"/>
                  </a:cubicBezTo>
                  <a:cubicBezTo>
                    <a:pt x="452" y="17"/>
                    <a:pt x="617" y="5"/>
                    <a:pt x="702" y="27"/>
                  </a:cubicBezTo>
                  <a:cubicBezTo>
                    <a:pt x="743" y="59"/>
                    <a:pt x="666" y="0"/>
                    <a:pt x="747" y="56"/>
                  </a:cubicBezTo>
                  <a:cubicBezTo>
                    <a:pt x="762" y="66"/>
                    <a:pt x="771" y="83"/>
                    <a:pt x="785" y="97"/>
                  </a:cubicBezTo>
                  <a:cubicBezTo>
                    <a:pt x="797" y="137"/>
                    <a:pt x="795" y="135"/>
                    <a:pt x="788" y="202"/>
                  </a:cubicBezTo>
                  <a:cubicBezTo>
                    <a:pt x="784" y="232"/>
                    <a:pt x="766" y="265"/>
                    <a:pt x="757" y="295"/>
                  </a:cubicBezTo>
                  <a:cubicBezTo>
                    <a:pt x="735" y="362"/>
                    <a:pt x="715" y="427"/>
                    <a:pt x="632" y="438"/>
                  </a:cubicBezTo>
                  <a:cubicBezTo>
                    <a:pt x="607" y="437"/>
                    <a:pt x="582" y="441"/>
                    <a:pt x="559" y="435"/>
                  </a:cubicBezTo>
                  <a:cubicBezTo>
                    <a:pt x="532" y="428"/>
                    <a:pt x="510" y="411"/>
                    <a:pt x="486" y="400"/>
                  </a:cubicBezTo>
                  <a:cubicBezTo>
                    <a:pt x="481" y="397"/>
                    <a:pt x="473" y="394"/>
                    <a:pt x="473" y="394"/>
                  </a:cubicBezTo>
                  <a:cubicBezTo>
                    <a:pt x="438" y="399"/>
                    <a:pt x="397" y="401"/>
                    <a:pt x="365" y="416"/>
                  </a:cubicBezTo>
                  <a:cubicBezTo>
                    <a:pt x="334" y="429"/>
                    <a:pt x="308" y="456"/>
                    <a:pt x="279" y="473"/>
                  </a:cubicBezTo>
                  <a:cubicBezTo>
                    <a:pt x="234" y="496"/>
                    <a:pt x="190" y="507"/>
                    <a:pt x="141" y="511"/>
                  </a:cubicBezTo>
                  <a:cubicBezTo>
                    <a:pt x="117" y="515"/>
                    <a:pt x="94" y="520"/>
                    <a:pt x="71" y="524"/>
                  </a:cubicBezTo>
                  <a:cubicBezTo>
                    <a:pt x="67" y="526"/>
                    <a:pt x="48" y="534"/>
                    <a:pt x="55" y="534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Freeform 8"/>
            <p:cNvSpPr/>
            <p:nvPr/>
          </p:nvSpPr>
          <p:spPr bwMode="auto">
            <a:xfrm>
              <a:off x="3888" y="1701"/>
              <a:ext cx="797" cy="534"/>
            </a:xfrm>
            <a:custGeom>
              <a:avLst/>
              <a:gdLst>
                <a:gd name="T0" fmla="*/ 55 w 797"/>
                <a:gd name="T1" fmla="*/ 534 h 534"/>
                <a:gd name="T2" fmla="*/ 11 w 797"/>
                <a:gd name="T3" fmla="*/ 476 h 534"/>
                <a:gd name="T4" fmla="*/ 17 w 797"/>
                <a:gd name="T5" fmla="*/ 352 h 534"/>
                <a:gd name="T6" fmla="*/ 106 w 797"/>
                <a:gd name="T7" fmla="*/ 263 h 534"/>
                <a:gd name="T8" fmla="*/ 333 w 797"/>
                <a:gd name="T9" fmla="*/ 65 h 534"/>
                <a:gd name="T10" fmla="*/ 416 w 797"/>
                <a:gd name="T11" fmla="*/ 17 h 534"/>
                <a:gd name="T12" fmla="*/ 702 w 797"/>
                <a:gd name="T13" fmla="*/ 27 h 534"/>
                <a:gd name="T14" fmla="*/ 747 w 797"/>
                <a:gd name="T15" fmla="*/ 56 h 534"/>
                <a:gd name="T16" fmla="*/ 785 w 797"/>
                <a:gd name="T17" fmla="*/ 97 h 534"/>
                <a:gd name="T18" fmla="*/ 788 w 797"/>
                <a:gd name="T19" fmla="*/ 202 h 534"/>
                <a:gd name="T20" fmla="*/ 757 w 797"/>
                <a:gd name="T21" fmla="*/ 295 h 534"/>
                <a:gd name="T22" fmla="*/ 632 w 797"/>
                <a:gd name="T23" fmla="*/ 438 h 534"/>
                <a:gd name="T24" fmla="*/ 559 w 797"/>
                <a:gd name="T25" fmla="*/ 435 h 534"/>
                <a:gd name="T26" fmla="*/ 486 w 797"/>
                <a:gd name="T27" fmla="*/ 400 h 534"/>
                <a:gd name="T28" fmla="*/ 473 w 797"/>
                <a:gd name="T29" fmla="*/ 394 h 534"/>
                <a:gd name="T30" fmla="*/ 365 w 797"/>
                <a:gd name="T31" fmla="*/ 416 h 534"/>
                <a:gd name="T32" fmla="*/ 279 w 797"/>
                <a:gd name="T33" fmla="*/ 473 h 534"/>
                <a:gd name="T34" fmla="*/ 141 w 797"/>
                <a:gd name="T35" fmla="*/ 511 h 534"/>
                <a:gd name="T36" fmla="*/ 71 w 797"/>
                <a:gd name="T37" fmla="*/ 524 h 534"/>
                <a:gd name="T38" fmla="*/ 55 w 797"/>
                <a:gd name="T39" fmla="*/ 534 h 53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797" h="534">
                  <a:moveTo>
                    <a:pt x="55" y="534"/>
                  </a:moveTo>
                  <a:cubicBezTo>
                    <a:pt x="40" y="513"/>
                    <a:pt x="23" y="498"/>
                    <a:pt x="11" y="476"/>
                  </a:cubicBezTo>
                  <a:cubicBezTo>
                    <a:pt x="5" y="435"/>
                    <a:pt x="0" y="390"/>
                    <a:pt x="17" y="352"/>
                  </a:cubicBezTo>
                  <a:cubicBezTo>
                    <a:pt x="35" y="308"/>
                    <a:pt x="75" y="293"/>
                    <a:pt x="106" y="263"/>
                  </a:cubicBezTo>
                  <a:cubicBezTo>
                    <a:pt x="175" y="193"/>
                    <a:pt x="242" y="106"/>
                    <a:pt x="333" y="65"/>
                  </a:cubicBezTo>
                  <a:cubicBezTo>
                    <a:pt x="359" y="38"/>
                    <a:pt x="379" y="25"/>
                    <a:pt x="416" y="17"/>
                  </a:cubicBezTo>
                  <a:cubicBezTo>
                    <a:pt x="452" y="17"/>
                    <a:pt x="617" y="5"/>
                    <a:pt x="702" y="27"/>
                  </a:cubicBezTo>
                  <a:cubicBezTo>
                    <a:pt x="743" y="59"/>
                    <a:pt x="666" y="0"/>
                    <a:pt x="747" y="56"/>
                  </a:cubicBezTo>
                  <a:cubicBezTo>
                    <a:pt x="762" y="66"/>
                    <a:pt x="771" y="83"/>
                    <a:pt x="785" y="97"/>
                  </a:cubicBezTo>
                  <a:cubicBezTo>
                    <a:pt x="797" y="137"/>
                    <a:pt x="795" y="135"/>
                    <a:pt x="788" y="202"/>
                  </a:cubicBezTo>
                  <a:cubicBezTo>
                    <a:pt x="784" y="232"/>
                    <a:pt x="766" y="265"/>
                    <a:pt x="757" y="295"/>
                  </a:cubicBezTo>
                  <a:cubicBezTo>
                    <a:pt x="735" y="362"/>
                    <a:pt x="715" y="427"/>
                    <a:pt x="632" y="438"/>
                  </a:cubicBezTo>
                  <a:cubicBezTo>
                    <a:pt x="607" y="437"/>
                    <a:pt x="582" y="441"/>
                    <a:pt x="559" y="435"/>
                  </a:cubicBezTo>
                  <a:cubicBezTo>
                    <a:pt x="532" y="428"/>
                    <a:pt x="510" y="411"/>
                    <a:pt x="486" y="400"/>
                  </a:cubicBezTo>
                  <a:cubicBezTo>
                    <a:pt x="481" y="397"/>
                    <a:pt x="473" y="394"/>
                    <a:pt x="473" y="394"/>
                  </a:cubicBezTo>
                  <a:cubicBezTo>
                    <a:pt x="438" y="399"/>
                    <a:pt x="397" y="401"/>
                    <a:pt x="365" y="416"/>
                  </a:cubicBezTo>
                  <a:cubicBezTo>
                    <a:pt x="334" y="429"/>
                    <a:pt x="308" y="456"/>
                    <a:pt x="279" y="473"/>
                  </a:cubicBezTo>
                  <a:cubicBezTo>
                    <a:pt x="234" y="496"/>
                    <a:pt x="190" y="507"/>
                    <a:pt x="141" y="511"/>
                  </a:cubicBezTo>
                  <a:cubicBezTo>
                    <a:pt x="117" y="515"/>
                    <a:pt x="94" y="520"/>
                    <a:pt x="71" y="524"/>
                  </a:cubicBezTo>
                  <a:cubicBezTo>
                    <a:pt x="67" y="526"/>
                    <a:pt x="48" y="534"/>
                    <a:pt x="55" y="534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Freeform 6"/>
            <p:cNvSpPr/>
            <p:nvPr/>
          </p:nvSpPr>
          <p:spPr bwMode="auto">
            <a:xfrm>
              <a:off x="3871" y="2043"/>
              <a:ext cx="737" cy="435"/>
            </a:xfrm>
            <a:custGeom>
              <a:avLst/>
              <a:gdLst>
                <a:gd name="T0" fmla="*/ 55 w 748"/>
                <a:gd name="T1" fmla="*/ 298 h 596"/>
                <a:gd name="T2" fmla="*/ 8 w 748"/>
                <a:gd name="T3" fmla="*/ 226 h 596"/>
                <a:gd name="T4" fmla="*/ 30 w 748"/>
                <a:gd name="T5" fmla="*/ 121 h 596"/>
                <a:gd name="T6" fmla="*/ 124 w 748"/>
                <a:gd name="T7" fmla="*/ 79 h 596"/>
                <a:gd name="T8" fmla="*/ 366 w 748"/>
                <a:gd name="T9" fmla="*/ 47 h 596"/>
                <a:gd name="T10" fmla="*/ 435 w 748"/>
                <a:gd name="T11" fmla="*/ 30 h 596"/>
                <a:gd name="T12" fmla="*/ 510 w 748"/>
                <a:gd name="T13" fmla="*/ 7 h 596"/>
                <a:gd name="T14" fmla="*/ 677 w 748"/>
                <a:gd name="T15" fmla="*/ 39 h 596"/>
                <a:gd name="T16" fmla="*/ 717 w 748"/>
                <a:gd name="T17" fmla="*/ 112 h 596"/>
                <a:gd name="T18" fmla="*/ 724 w 748"/>
                <a:gd name="T19" fmla="*/ 144 h 596"/>
                <a:gd name="T20" fmla="*/ 633 w 748"/>
                <a:gd name="T21" fmla="*/ 374 h 596"/>
                <a:gd name="T22" fmla="*/ 570 w 748"/>
                <a:gd name="T23" fmla="*/ 400 h 596"/>
                <a:gd name="T24" fmla="*/ 457 w 748"/>
                <a:gd name="T25" fmla="*/ 433 h 596"/>
                <a:gd name="T26" fmla="*/ 272 w 748"/>
                <a:gd name="T27" fmla="*/ 426 h 596"/>
                <a:gd name="T28" fmla="*/ 243 w 748"/>
                <a:gd name="T29" fmla="*/ 412 h 596"/>
                <a:gd name="T30" fmla="*/ 127 w 748"/>
                <a:gd name="T31" fmla="*/ 349 h 596"/>
                <a:gd name="T32" fmla="*/ 71 w 748"/>
                <a:gd name="T33" fmla="*/ 316 h 596"/>
                <a:gd name="T34" fmla="*/ 55 w 748"/>
                <a:gd name="T35" fmla="*/ 298 h 59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48" h="596">
                  <a:moveTo>
                    <a:pt x="56" y="408"/>
                  </a:moveTo>
                  <a:cubicBezTo>
                    <a:pt x="34" y="373"/>
                    <a:pt x="13" y="348"/>
                    <a:pt x="8" y="309"/>
                  </a:cubicBezTo>
                  <a:cubicBezTo>
                    <a:pt x="10" y="259"/>
                    <a:pt x="0" y="208"/>
                    <a:pt x="30" y="166"/>
                  </a:cubicBezTo>
                  <a:cubicBezTo>
                    <a:pt x="53" y="132"/>
                    <a:pt x="90" y="124"/>
                    <a:pt x="126" y="108"/>
                  </a:cubicBezTo>
                  <a:cubicBezTo>
                    <a:pt x="204" y="71"/>
                    <a:pt x="284" y="66"/>
                    <a:pt x="371" y="64"/>
                  </a:cubicBezTo>
                  <a:cubicBezTo>
                    <a:pt x="394" y="56"/>
                    <a:pt x="416" y="45"/>
                    <a:pt x="441" y="41"/>
                  </a:cubicBezTo>
                  <a:cubicBezTo>
                    <a:pt x="466" y="25"/>
                    <a:pt x="488" y="14"/>
                    <a:pt x="518" y="9"/>
                  </a:cubicBezTo>
                  <a:cubicBezTo>
                    <a:pt x="609" y="14"/>
                    <a:pt x="633" y="0"/>
                    <a:pt x="687" y="54"/>
                  </a:cubicBezTo>
                  <a:cubicBezTo>
                    <a:pt x="700" y="85"/>
                    <a:pt x="720" y="119"/>
                    <a:pt x="728" y="153"/>
                  </a:cubicBezTo>
                  <a:cubicBezTo>
                    <a:pt x="731" y="167"/>
                    <a:pt x="735" y="197"/>
                    <a:pt x="735" y="197"/>
                  </a:cubicBezTo>
                  <a:cubicBezTo>
                    <a:pt x="733" y="267"/>
                    <a:pt x="748" y="473"/>
                    <a:pt x="642" y="513"/>
                  </a:cubicBezTo>
                  <a:cubicBezTo>
                    <a:pt x="618" y="521"/>
                    <a:pt x="600" y="536"/>
                    <a:pt x="578" y="548"/>
                  </a:cubicBezTo>
                  <a:cubicBezTo>
                    <a:pt x="560" y="577"/>
                    <a:pt x="497" y="585"/>
                    <a:pt x="464" y="593"/>
                  </a:cubicBezTo>
                  <a:cubicBezTo>
                    <a:pt x="401" y="590"/>
                    <a:pt x="337" y="596"/>
                    <a:pt x="276" y="583"/>
                  </a:cubicBezTo>
                  <a:cubicBezTo>
                    <a:pt x="260" y="579"/>
                    <a:pt x="261" y="572"/>
                    <a:pt x="247" y="564"/>
                  </a:cubicBezTo>
                  <a:cubicBezTo>
                    <a:pt x="200" y="537"/>
                    <a:pt x="168" y="513"/>
                    <a:pt x="129" y="478"/>
                  </a:cubicBezTo>
                  <a:cubicBezTo>
                    <a:pt x="121" y="453"/>
                    <a:pt x="90" y="449"/>
                    <a:pt x="72" y="433"/>
                  </a:cubicBezTo>
                  <a:cubicBezTo>
                    <a:pt x="63" y="425"/>
                    <a:pt x="42" y="413"/>
                    <a:pt x="56" y="408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Freeform 10"/>
            <p:cNvSpPr/>
            <p:nvPr/>
          </p:nvSpPr>
          <p:spPr bwMode="auto">
            <a:xfrm>
              <a:off x="4032" y="1416"/>
              <a:ext cx="737" cy="435"/>
            </a:xfrm>
            <a:custGeom>
              <a:avLst/>
              <a:gdLst>
                <a:gd name="T0" fmla="*/ 55 w 748"/>
                <a:gd name="T1" fmla="*/ 298 h 596"/>
                <a:gd name="T2" fmla="*/ 8 w 748"/>
                <a:gd name="T3" fmla="*/ 226 h 596"/>
                <a:gd name="T4" fmla="*/ 30 w 748"/>
                <a:gd name="T5" fmla="*/ 121 h 596"/>
                <a:gd name="T6" fmla="*/ 124 w 748"/>
                <a:gd name="T7" fmla="*/ 79 h 596"/>
                <a:gd name="T8" fmla="*/ 366 w 748"/>
                <a:gd name="T9" fmla="*/ 47 h 596"/>
                <a:gd name="T10" fmla="*/ 435 w 748"/>
                <a:gd name="T11" fmla="*/ 30 h 596"/>
                <a:gd name="T12" fmla="*/ 510 w 748"/>
                <a:gd name="T13" fmla="*/ 7 h 596"/>
                <a:gd name="T14" fmla="*/ 677 w 748"/>
                <a:gd name="T15" fmla="*/ 39 h 596"/>
                <a:gd name="T16" fmla="*/ 717 w 748"/>
                <a:gd name="T17" fmla="*/ 112 h 596"/>
                <a:gd name="T18" fmla="*/ 724 w 748"/>
                <a:gd name="T19" fmla="*/ 144 h 596"/>
                <a:gd name="T20" fmla="*/ 633 w 748"/>
                <a:gd name="T21" fmla="*/ 374 h 596"/>
                <a:gd name="T22" fmla="*/ 570 w 748"/>
                <a:gd name="T23" fmla="*/ 400 h 596"/>
                <a:gd name="T24" fmla="*/ 457 w 748"/>
                <a:gd name="T25" fmla="*/ 433 h 596"/>
                <a:gd name="T26" fmla="*/ 272 w 748"/>
                <a:gd name="T27" fmla="*/ 426 h 596"/>
                <a:gd name="T28" fmla="*/ 243 w 748"/>
                <a:gd name="T29" fmla="*/ 412 h 596"/>
                <a:gd name="T30" fmla="*/ 127 w 748"/>
                <a:gd name="T31" fmla="*/ 349 h 596"/>
                <a:gd name="T32" fmla="*/ 71 w 748"/>
                <a:gd name="T33" fmla="*/ 316 h 596"/>
                <a:gd name="T34" fmla="*/ 55 w 748"/>
                <a:gd name="T35" fmla="*/ 298 h 59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48" h="596">
                  <a:moveTo>
                    <a:pt x="56" y="408"/>
                  </a:moveTo>
                  <a:cubicBezTo>
                    <a:pt x="34" y="373"/>
                    <a:pt x="13" y="348"/>
                    <a:pt x="8" y="309"/>
                  </a:cubicBezTo>
                  <a:cubicBezTo>
                    <a:pt x="10" y="259"/>
                    <a:pt x="0" y="208"/>
                    <a:pt x="30" y="166"/>
                  </a:cubicBezTo>
                  <a:cubicBezTo>
                    <a:pt x="53" y="132"/>
                    <a:pt x="90" y="124"/>
                    <a:pt x="126" y="108"/>
                  </a:cubicBezTo>
                  <a:cubicBezTo>
                    <a:pt x="204" y="71"/>
                    <a:pt x="284" y="66"/>
                    <a:pt x="371" y="64"/>
                  </a:cubicBezTo>
                  <a:cubicBezTo>
                    <a:pt x="394" y="56"/>
                    <a:pt x="416" y="45"/>
                    <a:pt x="441" y="41"/>
                  </a:cubicBezTo>
                  <a:cubicBezTo>
                    <a:pt x="466" y="25"/>
                    <a:pt x="488" y="14"/>
                    <a:pt x="518" y="9"/>
                  </a:cubicBezTo>
                  <a:cubicBezTo>
                    <a:pt x="609" y="14"/>
                    <a:pt x="633" y="0"/>
                    <a:pt x="687" y="54"/>
                  </a:cubicBezTo>
                  <a:cubicBezTo>
                    <a:pt x="700" y="85"/>
                    <a:pt x="720" y="119"/>
                    <a:pt x="728" y="153"/>
                  </a:cubicBezTo>
                  <a:cubicBezTo>
                    <a:pt x="731" y="167"/>
                    <a:pt x="735" y="197"/>
                    <a:pt x="735" y="197"/>
                  </a:cubicBezTo>
                  <a:cubicBezTo>
                    <a:pt x="733" y="267"/>
                    <a:pt x="748" y="473"/>
                    <a:pt x="642" y="513"/>
                  </a:cubicBezTo>
                  <a:cubicBezTo>
                    <a:pt x="618" y="521"/>
                    <a:pt x="600" y="536"/>
                    <a:pt x="578" y="548"/>
                  </a:cubicBezTo>
                  <a:cubicBezTo>
                    <a:pt x="560" y="577"/>
                    <a:pt x="497" y="585"/>
                    <a:pt x="464" y="593"/>
                  </a:cubicBezTo>
                  <a:cubicBezTo>
                    <a:pt x="401" y="590"/>
                    <a:pt x="337" y="596"/>
                    <a:pt x="276" y="583"/>
                  </a:cubicBezTo>
                  <a:cubicBezTo>
                    <a:pt x="260" y="579"/>
                    <a:pt x="261" y="572"/>
                    <a:pt x="247" y="564"/>
                  </a:cubicBezTo>
                  <a:cubicBezTo>
                    <a:pt x="200" y="537"/>
                    <a:pt x="168" y="513"/>
                    <a:pt x="129" y="478"/>
                  </a:cubicBezTo>
                  <a:cubicBezTo>
                    <a:pt x="121" y="453"/>
                    <a:pt x="90" y="449"/>
                    <a:pt x="72" y="433"/>
                  </a:cubicBezTo>
                  <a:cubicBezTo>
                    <a:pt x="63" y="425"/>
                    <a:pt x="42" y="413"/>
                    <a:pt x="56" y="408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Freeform 11"/>
            <p:cNvSpPr/>
            <p:nvPr/>
          </p:nvSpPr>
          <p:spPr bwMode="auto">
            <a:xfrm>
              <a:off x="3543" y="1947"/>
              <a:ext cx="585" cy="541"/>
            </a:xfrm>
            <a:custGeom>
              <a:avLst/>
              <a:gdLst>
                <a:gd name="T0" fmla="*/ 91 w 585"/>
                <a:gd name="T1" fmla="*/ 484 h 541"/>
                <a:gd name="T2" fmla="*/ 8 w 585"/>
                <a:gd name="T3" fmla="*/ 363 h 541"/>
                <a:gd name="T4" fmla="*/ 8 w 585"/>
                <a:gd name="T5" fmla="*/ 229 h 541"/>
                <a:gd name="T6" fmla="*/ 34 w 585"/>
                <a:gd name="T7" fmla="*/ 181 h 541"/>
                <a:gd name="T8" fmla="*/ 168 w 585"/>
                <a:gd name="T9" fmla="*/ 67 h 541"/>
                <a:gd name="T10" fmla="*/ 349 w 585"/>
                <a:gd name="T11" fmla="*/ 19 h 541"/>
                <a:gd name="T12" fmla="*/ 474 w 585"/>
                <a:gd name="T13" fmla="*/ 25 h 541"/>
                <a:gd name="T14" fmla="*/ 525 w 585"/>
                <a:gd name="T15" fmla="*/ 86 h 541"/>
                <a:gd name="T16" fmla="*/ 557 w 585"/>
                <a:gd name="T17" fmla="*/ 153 h 541"/>
                <a:gd name="T18" fmla="*/ 572 w 585"/>
                <a:gd name="T19" fmla="*/ 191 h 541"/>
                <a:gd name="T20" fmla="*/ 582 w 585"/>
                <a:gd name="T21" fmla="*/ 248 h 541"/>
                <a:gd name="T22" fmla="*/ 563 w 585"/>
                <a:gd name="T23" fmla="*/ 417 h 541"/>
                <a:gd name="T24" fmla="*/ 496 w 585"/>
                <a:gd name="T25" fmla="*/ 494 h 541"/>
                <a:gd name="T26" fmla="*/ 439 w 585"/>
                <a:gd name="T27" fmla="*/ 522 h 541"/>
                <a:gd name="T28" fmla="*/ 317 w 585"/>
                <a:gd name="T29" fmla="*/ 538 h 541"/>
                <a:gd name="T30" fmla="*/ 184 w 585"/>
                <a:gd name="T31" fmla="*/ 532 h 541"/>
                <a:gd name="T32" fmla="*/ 139 w 585"/>
                <a:gd name="T33" fmla="*/ 519 h 541"/>
                <a:gd name="T34" fmla="*/ 114 w 585"/>
                <a:gd name="T35" fmla="*/ 497 h 541"/>
                <a:gd name="T36" fmla="*/ 91 w 585"/>
                <a:gd name="T37" fmla="*/ 484 h 5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85" h="541">
                  <a:moveTo>
                    <a:pt x="91" y="484"/>
                  </a:moveTo>
                  <a:cubicBezTo>
                    <a:pt x="55" y="446"/>
                    <a:pt x="38" y="403"/>
                    <a:pt x="8" y="363"/>
                  </a:cubicBezTo>
                  <a:cubicBezTo>
                    <a:pt x="2" y="311"/>
                    <a:pt x="0" y="300"/>
                    <a:pt x="8" y="229"/>
                  </a:cubicBezTo>
                  <a:cubicBezTo>
                    <a:pt x="9" y="216"/>
                    <a:pt x="27" y="192"/>
                    <a:pt x="34" y="181"/>
                  </a:cubicBezTo>
                  <a:cubicBezTo>
                    <a:pt x="61" y="133"/>
                    <a:pt x="114" y="83"/>
                    <a:pt x="168" y="67"/>
                  </a:cubicBezTo>
                  <a:cubicBezTo>
                    <a:pt x="206" y="35"/>
                    <a:pt x="298" y="23"/>
                    <a:pt x="349" y="19"/>
                  </a:cubicBezTo>
                  <a:cubicBezTo>
                    <a:pt x="390" y="20"/>
                    <a:pt x="440" y="0"/>
                    <a:pt x="474" y="25"/>
                  </a:cubicBezTo>
                  <a:cubicBezTo>
                    <a:pt x="504" y="47"/>
                    <a:pt x="502" y="63"/>
                    <a:pt x="525" y="86"/>
                  </a:cubicBezTo>
                  <a:cubicBezTo>
                    <a:pt x="530" y="112"/>
                    <a:pt x="539" y="131"/>
                    <a:pt x="557" y="153"/>
                  </a:cubicBezTo>
                  <a:cubicBezTo>
                    <a:pt x="561" y="166"/>
                    <a:pt x="569" y="177"/>
                    <a:pt x="572" y="191"/>
                  </a:cubicBezTo>
                  <a:cubicBezTo>
                    <a:pt x="575" y="209"/>
                    <a:pt x="575" y="229"/>
                    <a:pt x="582" y="248"/>
                  </a:cubicBezTo>
                  <a:cubicBezTo>
                    <a:pt x="579" y="287"/>
                    <a:pt x="585" y="367"/>
                    <a:pt x="563" y="417"/>
                  </a:cubicBezTo>
                  <a:cubicBezTo>
                    <a:pt x="556" y="453"/>
                    <a:pt x="529" y="479"/>
                    <a:pt x="496" y="494"/>
                  </a:cubicBezTo>
                  <a:cubicBezTo>
                    <a:pt x="477" y="510"/>
                    <a:pt x="462" y="518"/>
                    <a:pt x="439" y="522"/>
                  </a:cubicBezTo>
                  <a:cubicBezTo>
                    <a:pt x="411" y="541"/>
                    <a:pt x="340" y="537"/>
                    <a:pt x="317" y="538"/>
                  </a:cubicBezTo>
                  <a:cubicBezTo>
                    <a:pt x="287" y="537"/>
                    <a:pt x="222" y="536"/>
                    <a:pt x="184" y="532"/>
                  </a:cubicBezTo>
                  <a:cubicBezTo>
                    <a:pt x="168" y="530"/>
                    <a:pt x="139" y="519"/>
                    <a:pt x="139" y="519"/>
                  </a:cubicBezTo>
                  <a:cubicBezTo>
                    <a:pt x="131" y="511"/>
                    <a:pt x="123" y="501"/>
                    <a:pt x="114" y="497"/>
                  </a:cubicBezTo>
                  <a:cubicBezTo>
                    <a:pt x="104" y="492"/>
                    <a:pt x="96" y="494"/>
                    <a:pt x="91" y="484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Freeform 12"/>
            <p:cNvSpPr/>
            <p:nvPr/>
          </p:nvSpPr>
          <p:spPr bwMode="auto">
            <a:xfrm>
              <a:off x="3696" y="1611"/>
              <a:ext cx="585" cy="541"/>
            </a:xfrm>
            <a:custGeom>
              <a:avLst/>
              <a:gdLst>
                <a:gd name="T0" fmla="*/ 91 w 585"/>
                <a:gd name="T1" fmla="*/ 484 h 541"/>
                <a:gd name="T2" fmla="*/ 8 w 585"/>
                <a:gd name="T3" fmla="*/ 363 h 541"/>
                <a:gd name="T4" fmla="*/ 8 w 585"/>
                <a:gd name="T5" fmla="*/ 229 h 541"/>
                <a:gd name="T6" fmla="*/ 34 w 585"/>
                <a:gd name="T7" fmla="*/ 181 h 541"/>
                <a:gd name="T8" fmla="*/ 168 w 585"/>
                <a:gd name="T9" fmla="*/ 67 h 541"/>
                <a:gd name="T10" fmla="*/ 349 w 585"/>
                <a:gd name="T11" fmla="*/ 19 h 541"/>
                <a:gd name="T12" fmla="*/ 474 w 585"/>
                <a:gd name="T13" fmla="*/ 25 h 541"/>
                <a:gd name="T14" fmla="*/ 525 w 585"/>
                <a:gd name="T15" fmla="*/ 86 h 541"/>
                <a:gd name="T16" fmla="*/ 557 w 585"/>
                <a:gd name="T17" fmla="*/ 153 h 541"/>
                <a:gd name="T18" fmla="*/ 572 w 585"/>
                <a:gd name="T19" fmla="*/ 191 h 541"/>
                <a:gd name="T20" fmla="*/ 582 w 585"/>
                <a:gd name="T21" fmla="*/ 248 h 541"/>
                <a:gd name="T22" fmla="*/ 563 w 585"/>
                <a:gd name="T23" fmla="*/ 417 h 541"/>
                <a:gd name="T24" fmla="*/ 496 w 585"/>
                <a:gd name="T25" fmla="*/ 494 h 541"/>
                <a:gd name="T26" fmla="*/ 439 w 585"/>
                <a:gd name="T27" fmla="*/ 522 h 541"/>
                <a:gd name="T28" fmla="*/ 317 w 585"/>
                <a:gd name="T29" fmla="*/ 538 h 541"/>
                <a:gd name="T30" fmla="*/ 184 w 585"/>
                <a:gd name="T31" fmla="*/ 532 h 541"/>
                <a:gd name="T32" fmla="*/ 139 w 585"/>
                <a:gd name="T33" fmla="*/ 519 h 541"/>
                <a:gd name="T34" fmla="*/ 114 w 585"/>
                <a:gd name="T35" fmla="*/ 497 h 541"/>
                <a:gd name="T36" fmla="*/ 91 w 585"/>
                <a:gd name="T37" fmla="*/ 484 h 5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85" h="541">
                  <a:moveTo>
                    <a:pt x="91" y="484"/>
                  </a:moveTo>
                  <a:cubicBezTo>
                    <a:pt x="55" y="446"/>
                    <a:pt x="38" y="403"/>
                    <a:pt x="8" y="363"/>
                  </a:cubicBezTo>
                  <a:cubicBezTo>
                    <a:pt x="2" y="311"/>
                    <a:pt x="0" y="300"/>
                    <a:pt x="8" y="229"/>
                  </a:cubicBezTo>
                  <a:cubicBezTo>
                    <a:pt x="9" y="216"/>
                    <a:pt x="27" y="192"/>
                    <a:pt x="34" y="181"/>
                  </a:cubicBezTo>
                  <a:cubicBezTo>
                    <a:pt x="61" y="133"/>
                    <a:pt x="114" y="83"/>
                    <a:pt x="168" y="67"/>
                  </a:cubicBezTo>
                  <a:cubicBezTo>
                    <a:pt x="206" y="35"/>
                    <a:pt x="298" y="23"/>
                    <a:pt x="349" y="19"/>
                  </a:cubicBezTo>
                  <a:cubicBezTo>
                    <a:pt x="390" y="20"/>
                    <a:pt x="440" y="0"/>
                    <a:pt x="474" y="25"/>
                  </a:cubicBezTo>
                  <a:cubicBezTo>
                    <a:pt x="504" y="47"/>
                    <a:pt x="502" y="63"/>
                    <a:pt x="525" y="86"/>
                  </a:cubicBezTo>
                  <a:cubicBezTo>
                    <a:pt x="530" y="112"/>
                    <a:pt x="539" y="131"/>
                    <a:pt x="557" y="153"/>
                  </a:cubicBezTo>
                  <a:cubicBezTo>
                    <a:pt x="561" y="166"/>
                    <a:pt x="569" y="177"/>
                    <a:pt x="572" y="191"/>
                  </a:cubicBezTo>
                  <a:cubicBezTo>
                    <a:pt x="575" y="209"/>
                    <a:pt x="575" y="229"/>
                    <a:pt x="582" y="248"/>
                  </a:cubicBezTo>
                  <a:cubicBezTo>
                    <a:pt x="579" y="287"/>
                    <a:pt x="585" y="367"/>
                    <a:pt x="563" y="417"/>
                  </a:cubicBezTo>
                  <a:cubicBezTo>
                    <a:pt x="556" y="453"/>
                    <a:pt x="529" y="479"/>
                    <a:pt x="496" y="494"/>
                  </a:cubicBezTo>
                  <a:cubicBezTo>
                    <a:pt x="477" y="510"/>
                    <a:pt x="462" y="518"/>
                    <a:pt x="439" y="522"/>
                  </a:cubicBezTo>
                  <a:cubicBezTo>
                    <a:pt x="411" y="541"/>
                    <a:pt x="340" y="537"/>
                    <a:pt x="317" y="538"/>
                  </a:cubicBezTo>
                  <a:cubicBezTo>
                    <a:pt x="287" y="537"/>
                    <a:pt x="222" y="536"/>
                    <a:pt x="184" y="532"/>
                  </a:cubicBezTo>
                  <a:cubicBezTo>
                    <a:pt x="168" y="530"/>
                    <a:pt x="139" y="519"/>
                    <a:pt x="139" y="519"/>
                  </a:cubicBezTo>
                  <a:cubicBezTo>
                    <a:pt x="131" y="511"/>
                    <a:pt x="123" y="501"/>
                    <a:pt x="114" y="497"/>
                  </a:cubicBezTo>
                  <a:cubicBezTo>
                    <a:pt x="104" y="492"/>
                    <a:pt x="96" y="494"/>
                    <a:pt x="91" y="484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Freeform 13"/>
            <p:cNvSpPr/>
            <p:nvPr/>
          </p:nvSpPr>
          <p:spPr bwMode="auto">
            <a:xfrm rot="-3568751">
              <a:off x="3325" y="1393"/>
              <a:ext cx="585" cy="541"/>
            </a:xfrm>
            <a:custGeom>
              <a:avLst/>
              <a:gdLst>
                <a:gd name="T0" fmla="*/ 91 w 585"/>
                <a:gd name="T1" fmla="*/ 484 h 541"/>
                <a:gd name="T2" fmla="*/ 8 w 585"/>
                <a:gd name="T3" fmla="*/ 363 h 541"/>
                <a:gd name="T4" fmla="*/ 8 w 585"/>
                <a:gd name="T5" fmla="*/ 229 h 541"/>
                <a:gd name="T6" fmla="*/ 34 w 585"/>
                <a:gd name="T7" fmla="*/ 181 h 541"/>
                <a:gd name="T8" fmla="*/ 168 w 585"/>
                <a:gd name="T9" fmla="*/ 67 h 541"/>
                <a:gd name="T10" fmla="*/ 349 w 585"/>
                <a:gd name="T11" fmla="*/ 19 h 541"/>
                <a:gd name="T12" fmla="*/ 474 w 585"/>
                <a:gd name="T13" fmla="*/ 25 h 541"/>
                <a:gd name="T14" fmla="*/ 525 w 585"/>
                <a:gd name="T15" fmla="*/ 86 h 541"/>
                <a:gd name="T16" fmla="*/ 557 w 585"/>
                <a:gd name="T17" fmla="*/ 153 h 541"/>
                <a:gd name="T18" fmla="*/ 572 w 585"/>
                <a:gd name="T19" fmla="*/ 191 h 541"/>
                <a:gd name="T20" fmla="*/ 582 w 585"/>
                <a:gd name="T21" fmla="*/ 248 h 541"/>
                <a:gd name="T22" fmla="*/ 563 w 585"/>
                <a:gd name="T23" fmla="*/ 417 h 541"/>
                <a:gd name="T24" fmla="*/ 496 w 585"/>
                <a:gd name="T25" fmla="*/ 494 h 541"/>
                <a:gd name="T26" fmla="*/ 439 w 585"/>
                <a:gd name="T27" fmla="*/ 522 h 541"/>
                <a:gd name="T28" fmla="*/ 317 w 585"/>
                <a:gd name="T29" fmla="*/ 538 h 541"/>
                <a:gd name="T30" fmla="*/ 184 w 585"/>
                <a:gd name="T31" fmla="*/ 532 h 541"/>
                <a:gd name="T32" fmla="*/ 139 w 585"/>
                <a:gd name="T33" fmla="*/ 519 h 541"/>
                <a:gd name="T34" fmla="*/ 114 w 585"/>
                <a:gd name="T35" fmla="*/ 497 h 541"/>
                <a:gd name="T36" fmla="*/ 91 w 585"/>
                <a:gd name="T37" fmla="*/ 484 h 5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85" h="541">
                  <a:moveTo>
                    <a:pt x="91" y="484"/>
                  </a:moveTo>
                  <a:cubicBezTo>
                    <a:pt x="55" y="446"/>
                    <a:pt x="38" y="403"/>
                    <a:pt x="8" y="363"/>
                  </a:cubicBezTo>
                  <a:cubicBezTo>
                    <a:pt x="2" y="311"/>
                    <a:pt x="0" y="300"/>
                    <a:pt x="8" y="229"/>
                  </a:cubicBezTo>
                  <a:cubicBezTo>
                    <a:pt x="9" y="216"/>
                    <a:pt x="27" y="192"/>
                    <a:pt x="34" y="181"/>
                  </a:cubicBezTo>
                  <a:cubicBezTo>
                    <a:pt x="61" y="133"/>
                    <a:pt x="114" y="83"/>
                    <a:pt x="168" y="67"/>
                  </a:cubicBezTo>
                  <a:cubicBezTo>
                    <a:pt x="206" y="35"/>
                    <a:pt x="298" y="23"/>
                    <a:pt x="349" y="19"/>
                  </a:cubicBezTo>
                  <a:cubicBezTo>
                    <a:pt x="390" y="20"/>
                    <a:pt x="440" y="0"/>
                    <a:pt x="474" y="25"/>
                  </a:cubicBezTo>
                  <a:cubicBezTo>
                    <a:pt x="504" y="47"/>
                    <a:pt x="502" y="63"/>
                    <a:pt x="525" y="86"/>
                  </a:cubicBezTo>
                  <a:cubicBezTo>
                    <a:pt x="530" y="112"/>
                    <a:pt x="539" y="131"/>
                    <a:pt x="557" y="153"/>
                  </a:cubicBezTo>
                  <a:cubicBezTo>
                    <a:pt x="561" y="166"/>
                    <a:pt x="569" y="177"/>
                    <a:pt x="572" y="191"/>
                  </a:cubicBezTo>
                  <a:cubicBezTo>
                    <a:pt x="575" y="209"/>
                    <a:pt x="575" y="229"/>
                    <a:pt x="582" y="248"/>
                  </a:cubicBezTo>
                  <a:cubicBezTo>
                    <a:pt x="579" y="287"/>
                    <a:pt x="585" y="367"/>
                    <a:pt x="563" y="417"/>
                  </a:cubicBezTo>
                  <a:cubicBezTo>
                    <a:pt x="556" y="453"/>
                    <a:pt x="529" y="479"/>
                    <a:pt x="496" y="494"/>
                  </a:cubicBezTo>
                  <a:cubicBezTo>
                    <a:pt x="477" y="510"/>
                    <a:pt x="462" y="518"/>
                    <a:pt x="439" y="522"/>
                  </a:cubicBezTo>
                  <a:cubicBezTo>
                    <a:pt x="411" y="541"/>
                    <a:pt x="340" y="537"/>
                    <a:pt x="317" y="538"/>
                  </a:cubicBezTo>
                  <a:cubicBezTo>
                    <a:pt x="287" y="537"/>
                    <a:pt x="222" y="536"/>
                    <a:pt x="184" y="532"/>
                  </a:cubicBezTo>
                  <a:cubicBezTo>
                    <a:pt x="168" y="530"/>
                    <a:pt x="139" y="519"/>
                    <a:pt x="139" y="519"/>
                  </a:cubicBezTo>
                  <a:cubicBezTo>
                    <a:pt x="131" y="511"/>
                    <a:pt x="123" y="501"/>
                    <a:pt x="114" y="497"/>
                  </a:cubicBezTo>
                  <a:cubicBezTo>
                    <a:pt x="104" y="492"/>
                    <a:pt x="96" y="494"/>
                    <a:pt x="91" y="484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Freeform 15"/>
            <p:cNvSpPr/>
            <p:nvPr/>
          </p:nvSpPr>
          <p:spPr bwMode="auto">
            <a:xfrm rot="-9205815">
              <a:off x="3120" y="2161"/>
              <a:ext cx="652" cy="458"/>
            </a:xfrm>
            <a:custGeom>
              <a:avLst/>
              <a:gdLst>
                <a:gd name="T0" fmla="*/ 8 w 652"/>
                <a:gd name="T1" fmla="*/ 318 h 458"/>
                <a:gd name="T2" fmla="*/ 31 w 652"/>
                <a:gd name="T3" fmla="*/ 139 h 458"/>
                <a:gd name="T4" fmla="*/ 120 w 652"/>
                <a:gd name="T5" fmla="*/ 82 h 458"/>
                <a:gd name="T6" fmla="*/ 391 w 652"/>
                <a:gd name="T7" fmla="*/ 5 h 458"/>
                <a:gd name="T8" fmla="*/ 550 w 652"/>
                <a:gd name="T9" fmla="*/ 28 h 458"/>
                <a:gd name="T10" fmla="*/ 604 w 652"/>
                <a:gd name="T11" fmla="*/ 66 h 458"/>
                <a:gd name="T12" fmla="*/ 652 w 652"/>
                <a:gd name="T13" fmla="*/ 196 h 458"/>
                <a:gd name="T14" fmla="*/ 649 w 652"/>
                <a:gd name="T15" fmla="*/ 279 h 458"/>
                <a:gd name="T16" fmla="*/ 445 w 652"/>
                <a:gd name="T17" fmla="*/ 458 h 458"/>
                <a:gd name="T18" fmla="*/ 301 w 652"/>
                <a:gd name="T19" fmla="*/ 455 h 458"/>
                <a:gd name="T20" fmla="*/ 82 w 652"/>
                <a:gd name="T21" fmla="*/ 413 h 458"/>
                <a:gd name="T22" fmla="*/ 21 w 652"/>
                <a:gd name="T23" fmla="*/ 388 h 458"/>
                <a:gd name="T24" fmla="*/ 15 w 652"/>
                <a:gd name="T25" fmla="*/ 334 h 458"/>
                <a:gd name="T26" fmla="*/ 8 w 652"/>
                <a:gd name="T27" fmla="*/ 318 h 45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52" h="458">
                  <a:moveTo>
                    <a:pt x="8" y="318"/>
                  </a:moveTo>
                  <a:cubicBezTo>
                    <a:pt x="8" y="310"/>
                    <a:pt x="0" y="176"/>
                    <a:pt x="31" y="139"/>
                  </a:cubicBezTo>
                  <a:cubicBezTo>
                    <a:pt x="51" y="113"/>
                    <a:pt x="90" y="96"/>
                    <a:pt x="120" y="82"/>
                  </a:cubicBezTo>
                  <a:cubicBezTo>
                    <a:pt x="206" y="38"/>
                    <a:pt x="294" y="11"/>
                    <a:pt x="391" y="5"/>
                  </a:cubicBezTo>
                  <a:cubicBezTo>
                    <a:pt x="439" y="6"/>
                    <a:pt x="504" y="0"/>
                    <a:pt x="550" y="28"/>
                  </a:cubicBezTo>
                  <a:cubicBezTo>
                    <a:pt x="568" y="39"/>
                    <a:pt x="604" y="66"/>
                    <a:pt x="604" y="66"/>
                  </a:cubicBezTo>
                  <a:cubicBezTo>
                    <a:pt x="632" y="107"/>
                    <a:pt x="639" y="148"/>
                    <a:pt x="652" y="196"/>
                  </a:cubicBezTo>
                  <a:cubicBezTo>
                    <a:pt x="651" y="223"/>
                    <a:pt x="651" y="251"/>
                    <a:pt x="649" y="279"/>
                  </a:cubicBezTo>
                  <a:cubicBezTo>
                    <a:pt x="639" y="378"/>
                    <a:pt x="527" y="430"/>
                    <a:pt x="445" y="458"/>
                  </a:cubicBezTo>
                  <a:cubicBezTo>
                    <a:pt x="397" y="457"/>
                    <a:pt x="348" y="457"/>
                    <a:pt x="301" y="455"/>
                  </a:cubicBezTo>
                  <a:cubicBezTo>
                    <a:pt x="226" y="451"/>
                    <a:pt x="155" y="421"/>
                    <a:pt x="82" y="413"/>
                  </a:cubicBezTo>
                  <a:cubicBezTo>
                    <a:pt x="61" y="403"/>
                    <a:pt x="41" y="395"/>
                    <a:pt x="21" y="388"/>
                  </a:cubicBezTo>
                  <a:cubicBezTo>
                    <a:pt x="12" y="359"/>
                    <a:pt x="23" y="398"/>
                    <a:pt x="15" y="334"/>
                  </a:cubicBezTo>
                  <a:cubicBezTo>
                    <a:pt x="14" y="328"/>
                    <a:pt x="8" y="312"/>
                    <a:pt x="8" y="318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Freeform 18"/>
            <p:cNvSpPr/>
            <p:nvPr/>
          </p:nvSpPr>
          <p:spPr bwMode="auto">
            <a:xfrm>
              <a:off x="3408" y="2654"/>
              <a:ext cx="585" cy="541"/>
            </a:xfrm>
            <a:custGeom>
              <a:avLst/>
              <a:gdLst>
                <a:gd name="T0" fmla="*/ 91 w 585"/>
                <a:gd name="T1" fmla="*/ 484 h 541"/>
                <a:gd name="T2" fmla="*/ 8 w 585"/>
                <a:gd name="T3" fmla="*/ 363 h 541"/>
                <a:gd name="T4" fmla="*/ 8 w 585"/>
                <a:gd name="T5" fmla="*/ 229 h 541"/>
                <a:gd name="T6" fmla="*/ 34 w 585"/>
                <a:gd name="T7" fmla="*/ 181 h 541"/>
                <a:gd name="T8" fmla="*/ 168 w 585"/>
                <a:gd name="T9" fmla="*/ 67 h 541"/>
                <a:gd name="T10" fmla="*/ 349 w 585"/>
                <a:gd name="T11" fmla="*/ 19 h 541"/>
                <a:gd name="T12" fmla="*/ 474 w 585"/>
                <a:gd name="T13" fmla="*/ 25 h 541"/>
                <a:gd name="T14" fmla="*/ 525 w 585"/>
                <a:gd name="T15" fmla="*/ 86 h 541"/>
                <a:gd name="T16" fmla="*/ 557 w 585"/>
                <a:gd name="T17" fmla="*/ 153 h 541"/>
                <a:gd name="T18" fmla="*/ 572 w 585"/>
                <a:gd name="T19" fmla="*/ 191 h 541"/>
                <a:gd name="T20" fmla="*/ 582 w 585"/>
                <a:gd name="T21" fmla="*/ 248 h 541"/>
                <a:gd name="T22" fmla="*/ 563 w 585"/>
                <a:gd name="T23" fmla="*/ 417 h 541"/>
                <a:gd name="T24" fmla="*/ 496 w 585"/>
                <a:gd name="T25" fmla="*/ 494 h 541"/>
                <a:gd name="T26" fmla="*/ 439 w 585"/>
                <a:gd name="T27" fmla="*/ 522 h 541"/>
                <a:gd name="T28" fmla="*/ 317 w 585"/>
                <a:gd name="T29" fmla="*/ 538 h 541"/>
                <a:gd name="T30" fmla="*/ 184 w 585"/>
                <a:gd name="T31" fmla="*/ 532 h 541"/>
                <a:gd name="T32" fmla="*/ 139 w 585"/>
                <a:gd name="T33" fmla="*/ 519 h 541"/>
                <a:gd name="T34" fmla="*/ 114 w 585"/>
                <a:gd name="T35" fmla="*/ 497 h 541"/>
                <a:gd name="T36" fmla="*/ 91 w 585"/>
                <a:gd name="T37" fmla="*/ 484 h 5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85" h="541">
                  <a:moveTo>
                    <a:pt x="91" y="484"/>
                  </a:moveTo>
                  <a:cubicBezTo>
                    <a:pt x="55" y="446"/>
                    <a:pt x="38" y="403"/>
                    <a:pt x="8" y="363"/>
                  </a:cubicBezTo>
                  <a:cubicBezTo>
                    <a:pt x="2" y="311"/>
                    <a:pt x="0" y="300"/>
                    <a:pt x="8" y="229"/>
                  </a:cubicBezTo>
                  <a:cubicBezTo>
                    <a:pt x="9" y="216"/>
                    <a:pt x="27" y="192"/>
                    <a:pt x="34" y="181"/>
                  </a:cubicBezTo>
                  <a:cubicBezTo>
                    <a:pt x="61" y="133"/>
                    <a:pt x="114" y="83"/>
                    <a:pt x="168" y="67"/>
                  </a:cubicBezTo>
                  <a:cubicBezTo>
                    <a:pt x="206" y="35"/>
                    <a:pt x="298" y="23"/>
                    <a:pt x="349" y="19"/>
                  </a:cubicBezTo>
                  <a:cubicBezTo>
                    <a:pt x="390" y="20"/>
                    <a:pt x="440" y="0"/>
                    <a:pt x="474" y="25"/>
                  </a:cubicBezTo>
                  <a:cubicBezTo>
                    <a:pt x="504" y="47"/>
                    <a:pt x="502" y="63"/>
                    <a:pt x="525" y="86"/>
                  </a:cubicBezTo>
                  <a:cubicBezTo>
                    <a:pt x="530" y="112"/>
                    <a:pt x="539" y="131"/>
                    <a:pt x="557" y="153"/>
                  </a:cubicBezTo>
                  <a:cubicBezTo>
                    <a:pt x="561" y="166"/>
                    <a:pt x="569" y="177"/>
                    <a:pt x="572" y="191"/>
                  </a:cubicBezTo>
                  <a:cubicBezTo>
                    <a:pt x="575" y="209"/>
                    <a:pt x="575" y="229"/>
                    <a:pt x="582" y="248"/>
                  </a:cubicBezTo>
                  <a:cubicBezTo>
                    <a:pt x="579" y="287"/>
                    <a:pt x="585" y="367"/>
                    <a:pt x="563" y="417"/>
                  </a:cubicBezTo>
                  <a:cubicBezTo>
                    <a:pt x="556" y="453"/>
                    <a:pt x="529" y="479"/>
                    <a:pt x="496" y="494"/>
                  </a:cubicBezTo>
                  <a:cubicBezTo>
                    <a:pt x="477" y="510"/>
                    <a:pt x="462" y="518"/>
                    <a:pt x="439" y="522"/>
                  </a:cubicBezTo>
                  <a:cubicBezTo>
                    <a:pt x="411" y="541"/>
                    <a:pt x="340" y="537"/>
                    <a:pt x="317" y="538"/>
                  </a:cubicBezTo>
                  <a:cubicBezTo>
                    <a:pt x="287" y="537"/>
                    <a:pt x="222" y="536"/>
                    <a:pt x="184" y="532"/>
                  </a:cubicBezTo>
                  <a:cubicBezTo>
                    <a:pt x="168" y="530"/>
                    <a:pt x="139" y="519"/>
                    <a:pt x="139" y="519"/>
                  </a:cubicBezTo>
                  <a:cubicBezTo>
                    <a:pt x="131" y="511"/>
                    <a:pt x="123" y="501"/>
                    <a:pt x="114" y="497"/>
                  </a:cubicBezTo>
                  <a:cubicBezTo>
                    <a:pt x="104" y="492"/>
                    <a:pt x="96" y="494"/>
                    <a:pt x="91" y="484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Freeform 20"/>
            <p:cNvSpPr/>
            <p:nvPr/>
          </p:nvSpPr>
          <p:spPr bwMode="auto">
            <a:xfrm rot="-6449138">
              <a:off x="3791" y="3024"/>
              <a:ext cx="652" cy="458"/>
            </a:xfrm>
            <a:custGeom>
              <a:avLst/>
              <a:gdLst>
                <a:gd name="T0" fmla="*/ 8 w 652"/>
                <a:gd name="T1" fmla="*/ 318 h 458"/>
                <a:gd name="T2" fmla="*/ 31 w 652"/>
                <a:gd name="T3" fmla="*/ 139 h 458"/>
                <a:gd name="T4" fmla="*/ 120 w 652"/>
                <a:gd name="T5" fmla="*/ 82 h 458"/>
                <a:gd name="T6" fmla="*/ 391 w 652"/>
                <a:gd name="T7" fmla="*/ 5 h 458"/>
                <a:gd name="T8" fmla="*/ 550 w 652"/>
                <a:gd name="T9" fmla="*/ 28 h 458"/>
                <a:gd name="T10" fmla="*/ 604 w 652"/>
                <a:gd name="T11" fmla="*/ 66 h 458"/>
                <a:gd name="T12" fmla="*/ 652 w 652"/>
                <a:gd name="T13" fmla="*/ 196 h 458"/>
                <a:gd name="T14" fmla="*/ 649 w 652"/>
                <a:gd name="T15" fmla="*/ 279 h 458"/>
                <a:gd name="T16" fmla="*/ 445 w 652"/>
                <a:gd name="T17" fmla="*/ 458 h 458"/>
                <a:gd name="T18" fmla="*/ 301 w 652"/>
                <a:gd name="T19" fmla="*/ 455 h 458"/>
                <a:gd name="T20" fmla="*/ 82 w 652"/>
                <a:gd name="T21" fmla="*/ 413 h 458"/>
                <a:gd name="T22" fmla="*/ 21 w 652"/>
                <a:gd name="T23" fmla="*/ 388 h 458"/>
                <a:gd name="T24" fmla="*/ 15 w 652"/>
                <a:gd name="T25" fmla="*/ 334 h 458"/>
                <a:gd name="T26" fmla="*/ 8 w 652"/>
                <a:gd name="T27" fmla="*/ 318 h 45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52" h="458">
                  <a:moveTo>
                    <a:pt x="8" y="318"/>
                  </a:moveTo>
                  <a:cubicBezTo>
                    <a:pt x="8" y="310"/>
                    <a:pt x="0" y="176"/>
                    <a:pt x="31" y="139"/>
                  </a:cubicBezTo>
                  <a:cubicBezTo>
                    <a:pt x="51" y="113"/>
                    <a:pt x="90" y="96"/>
                    <a:pt x="120" y="82"/>
                  </a:cubicBezTo>
                  <a:cubicBezTo>
                    <a:pt x="206" y="38"/>
                    <a:pt x="294" y="11"/>
                    <a:pt x="391" y="5"/>
                  </a:cubicBezTo>
                  <a:cubicBezTo>
                    <a:pt x="439" y="6"/>
                    <a:pt x="504" y="0"/>
                    <a:pt x="550" y="28"/>
                  </a:cubicBezTo>
                  <a:cubicBezTo>
                    <a:pt x="568" y="39"/>
                    <a:pt x="604" y="66"/>
                    <a:pt x="604" y="66"/>
                  </a:cubicBezTo>
                  <a:cubicBezTo>
                    <a:pt x="632" y="107"/>
                    <a:pt x="639" y="148"/>
                    <a:pt x="652" y="196"/>
                  </a:cubicBezTo>
                  <a:cubicBezTo>
                    <a:pt x="651" y="223"/>
                    <a:pt x="651" y="251"/>
                    <a:pt x="649" y="279"/>
                  </a:cubicBezTo>
                  <a:cubicBezTo>
                    <a:pt x="639" y="378"/>
                    <a:pt x="527" y="430"/>
                    <a:pt x="445" y="458"/>
                  </a:cubicBezTo>
                  <a:cubicBezTo>
                    <a:pt x="397" y="457"/>
                    <a:pt x="348" y="457"/>
                    <a:pt x="301" y="455"/>
                  </a:cubicBezTo>
                  <a:cubicBezTo>
                    <a:pt x="226" y="451"/>
                    <a:pt x="155" y="421"/>
                    <a:pt x="82" y="413"/>
                  </a:cubicBezTo>
                  <a:cubicBezTo>
                    <a:pt x="61" y="403"/>
                    <a:pt x="41" y="395"/>
                    <a:pt x="21" y="388"/>
                  </a:cubicBezTo>
                  <a:cubicBezTo>
                    <a:pt x="12" y="359"/>
                    <a:pt x="23" y="398"/>
                    <a:pt x="15" y="334"/>
                  </a:cubicBezTo>
                  <a:cubicBezTo>
                    <a:pt x="14" y="328"/>
                    <a:pt x="8" y="312"/>
                    <a:pt x="8" y="318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Freeform 22"/>
            <p:cNvSpPr/>
            <p:nvPr/>
          </p:nvSpPr>
          <p:spPr bwMode="auto">
            <a:xfrm rot="5302227">
              <a:off x="3444" y="3050"/>
              <a:ext cx="585" cy="541"/>
            </a:xfrm>
            <a:custGeom>
              <a:avLst/>
              <a:gdLst>
                <a:gd name="T0" fmla="*/ 91 w 585"/>
                <a:gd name="T1" fmla="*/ 484 h 541"/>
                <a:gd name="T2" fmla="*/ 8 w 585"/>
                <a:gd name="T3" fmla="*/ 363 h 541"/>
                <a:gd name="T4" fmla="*/ 8 w 585"/>
                <a:gd name="T5" fmla="*/ 229 h 541"/>
                <a:gd name="T6" fmla="*/ 34 w 585"/>
                <a:gd name="T7" fmla="*/ 181 h 541"/>
                <a:gd name="T8" fmla="*/ 168 w 585"/>
                <a:gd name="T9" fmla="*/ 67 h 541"/>
                <a:gd name="T10" fmla="*/ 349 w 585"/>
                <a:gd name="T11" fmla="*/ 19 h 541"/>
                <a:gd name="T12" fmla="*/ 474 w 585"/>
                <a:gd name="T13" fmla="*/ 25 h 541"/>
                <a:gd name="T14" fmla="*/ 525 w 585"/>
                <a:gd name="T15" fmla="*/ 86 h 541"/>
                <a:gd name="T16" fmla="*/ 557 w 585"/>
                <a:gd name="T17" fmla="*/ 153 h 541"/>
                <a:gd name="T18" fmla="*/ 572 w 585"/>
                <a:gd name="T19" fmla="*/ 191 h 541"/>
                <a:gd name="T20" fmla="*/ 582 w 585"/>
                <a:gd name="T21" fmla="*/ 248 h 541"/>
                <a:gd name="T22" fmla="*/ 563 w 585"/>
                <a:gd name="T23" fmla="*/ 417 h 541"/>
                <a:gd name="T24" fmla="*/ 496 w 585"/>
                <a:gd name="T25" fmla="*/ 494 h 541"/>
                <a:gd name="T26" fmla="*/ 439 w 585"/>
                <a:gd name="T27" fmla="*/ 522 h 541"/>
                <a:gd name="T28" fmla="*/ 317 w 585"/>
                <a:gd name="T29" fmla="*/ 538 h 541"/>
                <a:gd name="T30" fmla="*/ 184 w 585"/>
                <a:gd name="T31" fmla="*/ 532 h 541"/>
                <a:gd name="T32" fmla="*/ 139 w 585"/>
                <a:gd name="T33" fmla="*/ 519 h 541"/>
                <a:gd name="T34" fmla="*/ 114 w 585"/>
                <a:gd name="T35" fmla="*/ 497 h 541"/>
                <a:gd name="T36" fmla="*/ 91 w 585"/>
                <a:gd name="T37" fmla="*/ 484 h 541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85" h="541">
                  <a:moveTo>
                    <a:pt x="91" y="484"/>
                  </a:moveTo>
                  <a:cubicBezTo>
                    <a:pt x="55" y="446"/>
                    <a:pt x="38" y="403"/>
                    <a:pt x="8" y="363"/>
                  </a:cubicBezTo>
                  <a:cubicBezTo>
                    <a:pt x="2" y="311"/>
                    <a:pt x="0" y="300"/>
                    <a:pt x="8" y="229"/>
                  </a:cubicBezTo>
                  <a:cubicBezTo>
                    <a:pt x="9" y="216"/>
                    <a:pt x="27" y="192"/>
                    <a:pt x="34" y="181"/>
                  </a:cubicBezTo>
                  <a:cubicBezTo>
                    <a:pt x="61" y="133"/>
                    <a:pt x="114" y="83"/>
                    <a:pt x="168" y="67"/>
                  </a:cubicBezTo>
                  <a:cubicBezTo>
                    <a:pt x="206" y="35"/>
                    <a:pt x="298" y="23"/>
                    <a:pt x="349" y="19"/>
                  </a:cubicBezTo>
                  <a:cubicBezTo>
                    <a:pt x="390" y="20"/>
                    <a:pt x="440" y="0"/>
                    <a:pt x="474" y="25"/>
                  </a:cubicBezTo>
                  <a:cubicBezTo>
                    <a:pt x="504" y="47"/>
                    <a:pt x="502" y="63"/>
                    <a:pt x="525" y="86"/>
                  </a:cubicBezTo>
                  <a:cubicBezTo>
                    <a:pt x="530" y="112"/>
                    <a:pt x="539" y="131"/>
                    <a:pt x="557" y="153"/>
                  </a:cubicBezTo>
                  <a:cubicBezTo>
                    <a:pt x="561" y="166"/>
                    <a:pt x="569" y="177"/>
                    <a:pt x="572" y="191"/>
                  </a:cubicBezTo>
                  <a:cubicBezTo>
                    <a:pt x="575" y="209"/>
                    <a:pt x="575" y="229"/>
                    <a:pt x="582" y="248"/>
                  </a:cubicBezTo>
                  <a:cubicBezTo>
                    <a:pt x="579" y="287"/>
                    <a:pt x="585" y="367"/>
                    <a:pt x="563" y="417"/>
                  </a:cubicBezTo>
                  <a:cubicBezTo>
                    <a:pt x="556" y="453"/>
                    <a:pt x="529" y="479"/>
                    <a:pt x="496" y="494"/>
                  </a:cubicBezTo>
                  <a:cubicBezTo>
                    <a:pt x="477" y="510"/>
                    <a:pt x="462" y="518"/>
                    <a:pt x="439" y="522"/>
                  </a:cubicBezTo>
                  <a:cubicBezTo>
                    <a:pt x="411" y="541"/>
                    <a:pt x="340" y="537"/>
                    <a:pt x="317" y="538"/>
                  </a:cubicBezTo>
                  <a:cubicBezTo>
                    <a:pt x="287" y="537"/>
                    <a:pt x="222" y="536"/>
                    <a:pt x="184" y="532"/>
                  </a:cubicBezTo>
                  <a:cubicBezTo>
                    <a:pt x="168" y="530"/>
                    <a:pt x="139" y="519"/>
                    <a:pt x="139" y="519"/>
                  </a:cubicBezTo>
                  <a:cubicBezTo>
                    <a:pt x="131" y="511"/>
                    <a:pt x="123" y="501"/>
                    <a:pt x="114" y="497"/>
                  </a:cubicBezTo>
                  <a:cubicBezTo>
                    <a:pt x="104" y="492"/>
                    <a:pt x="96" y="494"/>
                    <a:pt x="91" y="484"/>
                  </a:cubicBezTo>
                  <a:close/>
                </a:path>
              </a:pathLst>
            </a:custGeom>
            <a:solidFill>
              <a:srgbClr val="E4E4E4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41" name="Group 45"/>
            <p:cNvGrpSpPr/>
            <p:nvPr/>
          </p:nvGrpSpPr>
          <p:grpSpPr bwMode="auto">
            <a:xfrm>
              <a:off x="3540" y="3135"/>
              <a:ext cx="387" cy="390"/>
              <a:chOff x="138" y="3135"/>
              <a:chExt cx="387" cy="390"/>
            </a:xfrm>
          </p:grpSpPr>
          <p:sp>
            <p:nvSpPr>
              <p:cNvPr id="144" name="Line 39"/>
              <p:cNvSpPr>
                <a:spLocks noChangeShapeType="1"/>
              </p:cNvSpPr>
              <p:nvPr/>
            </p:nvSpPr>
            <p:spPr bwMode="auto">
              <a:xfrm flipV="1">
                <a:off x="138" y="3135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5" name="Line 40"/>
              <p:cNvSpPr>
                <a:spLocks noChangeShapeType="1"/>
              </p:cNvSpPr>
              <p:nvPr/>
            </p:nvSpPr>
            <p:spPr bwMode="auto">
              <a:xfrm flipV="1">
                <a:off x="180" y="3174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" name="Line 41"/>
              <p:cNvSpPr>
                <a:spLocks noChangeShapeType="1"/>
              </p:cNvSpPr>
              <p:nvPr/>
            </p:nvSpPr>
            <p:spPr bwMode="auto">
              <a:xfrm flipV="1">
                <a:off x="216" y="3216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7" name="Line 42"/>
              <p:cNvSpPr>
                <a:spLocks noChangeShapeType="1"/>
              </p:cNvSpPr>
              <p:nvPr/>
            </p:nvSpPr>
            <p:spPr bwMode="auto">
              <a:xfrm flipV="1">
                <a:off x="249" y="3261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8" name="Line 43"/>
              <p:cNvSpPr>
                <a:spLocks noChangeShapeType="1"/>
              </p:cNvSpPr>
              <p:nvPr/>
            </p:nvSpPr>
            <p:spPr bwMode="auto">
              <a:xfrm flipV="1">
                <a:off x="285" y="3303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2" name="Group 46"/>
            <p:cNvGrpSpPr/>
            <p:nvPr/>
          </p:nvGrpSpPr>
          <p:grpSpPr bwMode="auto">
            <a:xfrm rot="-4693893">
              <a:off x="3937" y="3051"/>
              <a:ext cx="387" cy="390"/>
              <a:chOff x="138" y="3135"/>
              <a:chExt cx="387" cy="390"/>
            </a:xfrm>
          </p:grpSpPr>
          <p:sp>
            <p:nvSpPr>
              <p:cNvPr id="139" name="Line 47"/>
              <p:cNvSpPr>
                <a:spLocks noChangeShapeType="1"/>
              </p:cNvSpPr>
              <p:nvPr/>
            </p:nvSpPr>
            <p:spPr bwMode="auto">
              <a:xfrm flipV="1">
                <a:off x="138" y="3135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48"/>
              <p:cNvSpPr>
                <a:spLocks noChangeShapeType="1"/>
              </p:cNvSpPr>
              <p:nvPr/>
            </p:nvSpPr>
            <p:spPr bwMode="auto">
              <a:xfrm flipV="1">
                <a:off x="180" y="3174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" name="Line 49"/>
              <p:cNvSpPr>
                <a:spLocks noChangeShapeType="1"/>
              </p:cNvSpPr>
              <p:nvPr/>
            </p:nvSpPr>
            <p:spPr bwMode="auto">
              <a:xfrm flipV="1">
                <a:off x="216" y="3216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50"/>
              <p:cNvSpPr>
                <a:spLocks noChangeShapeType="1"/>
              </p:cNvSpPr>
              <p:nvPr/>
            </p:nvSpPr>
            <p:spPr bwMode="auto">
              <a:xfrm flipV="1">
                <a:off x="249" y="3261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Line 51"/>
              <p:cNvSpPr>
                <a:spLocks noChangeShapeType="1"/>
              </p:cNvSpPr>
              <p:nvPr/>
            </p:nvSpPr>
            <p:spPr bwMode="auto">
              <a:xfrm flipV="1">
                <a:off x="285" y="3303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4" name="Group 52"/>
            <p:cNvGrpSpPr/>
            <p:nvPr/>
          </p:nvGrpSpPr>
          <p:grpSpPr bwMode="auto">
            <a:xfrm rot="2391301">
              <a:off x="3519" y="2688"/>
              <a:ext cx="387" cy="390"/>
              <a:chOff x="138" y="3135"/>
              <a:chExt cx="387" cy="390"/>
            </a:xfrm>
          </p:grpSpPr>
          <p:sp>
            <p:nvSpPr>
              <p:cNvPr id="134" name="Line 53"/>
              <p:cNvSpPr>
                <a:spLocks noChangeShapeType="1"/>
              </p:cNvSpPr>
              <p:nvPr/>
            </p:nvSpPr>
            <p:spPr bwMode="auto">
              <a:xfrm flipV="1">
                <a:off x="138" y="3135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" name="Line 54"/>
              <p:cNvSpPr>
                <a:spLocks noChangeShapeType="1"/>
              </p:cNvSpPr>
              <p:nvPr/>
            </p:nvSpPr>
            <p:spPr bwMode="auto">
              <a:xfrm flipV="1">
                <a:off x="180" y="3174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" name="Line 55"/>
              <p:cNvSpPr>
                <a:spLocks noChangeShapeType="1"/>
              </p:cNvSpPr>
              <p:nvPr/>
            </p:nvSpPr>
            <p:spPr bwMode="auto">
              <a:xfrm flipV="1">
                <a:off x="216" y="3216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" name="Line 56"/>
              <p:cNvSpPr>
                <a:spLocks noChangeShapeType="1"/>
              </p:cNvSpPr>
              <p:nvPr/>
            </p:nvSpPr>
            <p:spPr bwMode="auto">
              <a:xfrm flipV="1">
                <a:off x="249" y="3261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" name="Line 57"/>
              <p:cNvSpPr>
                <a:spLocks noChangeShapeType="1"/>
              </p:cNvSpPr>
              <p:nvPr/>
            </p:nvSpPr>
            <p:spPr bwMode="auto">
              <a:xfrm flipV="1">
                <a:off x="285" y="3303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48" name="Group 58"/>
            <p:cNvGrpSpPr/>
            <p:nvPr/>
          </p:nvGrpSpPr>
          <p:grpSpPr bwMode="auto">
            <a:xfrm rot="4921652">
              <a:off x="3860" y="2442"/>
              <a:ext cx="313" cy="390"/>
              <a:chOff x="138" y="3135"/>
              <a:chExt cx="387" cy="390"/>
            </a:xfrm>
          </p:grpSpPr>
          <p:sp>
            <p:nvSpPr>
              <p:cNvPr id="129" name="Line 59"/>
              <p:cNvSpPr>
                <a:spLocks noChangeShapeType="1"/>
              </p:cNvSpPr>
              <p:nvPr/>
            </p:nvSpPr>
            <p:spPr bwMode="auto">
              <a:xfrm flipV="1">
                <a:off x="138" y="3135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0" name="Line 60"/>
              <p:cNvSpPr>
                <a:spLocks noChangeShapeType="1"/>
              </p:cNvSpPr>
              <p:nvPr/>
            </p:nvSpPr>
            <p:spPr bwMode="auto">
              <a:xfrm flipV="1">
                <a:off x="180" y="3174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1" name="Line 61"/>
              <p:cNvSpPr>
                <a:spLocks noChangeShapeType="1"/>
              </p:cNvSpPr>
              <p:nvPr/>
            </p:nvSpPr>
            <p:spPr bwMode="auto">
              <a:xfrm flipV="1">
                <a:off x="216" y="3216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2" name="Line 62"/>
              <p:cNvSpPr>
                <a:spLocks noChangeShapeType="1"/>
              </p:cNvSpPr>
              <p:nvPr/>
            </p:nvSpPr>
            <p:spPr bwMode="auto">
              <a:xfrm flipV="1">
                <a:off x="249" y="3261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" name="Line 63"/>
              <p:cNvSpPr>
                <a:spLocks noChangeShapeType="1"/>
              </p:cNvSpPr>
              <p:nvPr/>
            </p:nvSpPr>
            <p:spPr bwMode="auto">
              <a:xfrm flipV="1">
                <a:off x="285" y="3303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7" name="Group 64"/>
            <p:cNvGrpSpPr/>
            <p:nvPr/>
          </p:nvGrpSpPr>
          <p:grpSpPr bwMode="auto">
            <a:xfrm rot="10419859">
              <a:off x="4308" y="2805"/>
              <a:ext cx="288" cy="336"/>
              <a:chOff x="138" y="3135"/>
              <a:chExt cx="387" cy="390"/>
            </a:xfrm>
          </p:grpSpPr>
          <p:sp>
            <p:nvSpPr>
              <p:cNvPr id="124" name="Line 65"/>
              <p:cNvSpPr>
                <a:spLocks noChangeShapeType="1"/>
              </p:cNvSpPr>
              <p:nvPr/>
            </p:nvSpPr>
            <p:spPr bwMode="auto">
              <a:xfrm flipV="1">
                <a:off x="138" y="3135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5" name="Line 66"/>
              <p:cNvSpPr>
                <a:spLocks noChangeShapeType="1"/>
              </p:cNvSpPr>
              <p:nvPr/>
            </p:nvSpPr>
            <p:spPr bwMode="auto">
              <a:xfrm flipV="1">
                <a:off x="180" y="3174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6" name="Line 67"/>
              <p:cNvSpPr>
                <a:spLocks noChangeShapeType="1"/>
              </p:cNvSpPr>
              <p:nvPr/>
            </p:nvSpPr>
            <p:spPr bwMode="auto">
              <a:xfrm flipV="1">
                <a:off x="216" y="3216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7" name="Line 68"/>
              <p:cNvSpPr>
                <a:spLocks noChangeShapeType="1"/>
              </p:cNvSpPr>
              <p:nvPr/>
            </p:nvSpPr>
            <p:spPr bwMode="auto">
              <a:xfrm flipV="1">
                <a:off x="249" y="3261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" name="Line 69"/>
              <p:cNvSpPr>
                <a:spLocks noChangeShapeType="1"/>
              </p:cNvSpPr>
              <p:nvPr/>
            </p:nvSpPr>
            <p:spPr bwMode="auto">
              <a:xfrm flipV="1">
                <a:off x="285" y="3303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8" name="Group 76"/>
            <p:cNvGrpSpPr/>
            <p:nvPr/>
          </p:nvGrpSpPr>
          <p:grpSpPr bwMode="auto">
            <a:xfrm>
              <a:off x="4158" y="2526"/>
              <a:ext cx="286" cy="382"/>
              <a:chOff x="2376" y="2497"/>
              <a:chExt cx="286" cy="382"/>
            </a:xfrm>
          </p:grpSpPr>
          <p:sp>
            <p:nvSpPr>
              <p:cNvPr id="119" name="Line 71"/>
              <p:cNvSpPr>
                <a:spLocks noChangeShapeType="1"/>
              </p:cNvSpPr>
              <p:nvPr/>
            </p:nvSpPr>
            <p:spPr bwMode="auto">
              <a:xfrm rot="21231430" flipV="1">
                <a:off x="2376" y="2497"/>
                <a:ext cx="212" cy="2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0" name="Line 72"/>
              <p:cNvSpPr>
                <a:spLocks noChangeShapeType="1"/>
              </p:cNvSpPr>
              <p:nvPr/>
            </p:nvSpPr>
            <p:spPr bwMode="auto">
              <a:xfrm rot="21231430" flipV="1">
                <a:off x="2402" y="2531"/>
                <a:ext cx="208" cy="25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1" name="Line 73"/>
              <p:cNvSpPr>
                <a:spLocks noChangeShapeType="1"/>
              </p:cNvSpPr>
              <p:nvPr/>
            </p:nvSpPr>
            <p:spPr bwMode="auto">
              <a:xfrm rot="21231430" flipV="1">
                <a:off x="2424" y="2560"/>
                <a:ext cx="202" cy="2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" name="Line 74"/>
              <p:cNvSpPr>
                <a:spLocks noChangeShapeType="1"/>
              </p:cNvSpPr>
              <p:nvPr/>
            </p:nvSpPr>
            <p:spPr bwMode="auto">
              <a:xfrm rot="21231430" flipV="1">
                <a:off x="2444" y="2592"/>
                <a:ext cx="199" cy="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" name="Line 75"/>
              <p:cNvSpPr>
                <a:spLocks noChangeShapeType="1"/>
              </p:cNvSpPr>
              <p:nvPr/>
            </p:nvSpPr>
            <p:spPr bwMode="auto">
              <a:xfrm rot="21231430" flipV="1">
                <a:off x="2467" y="2622"/>
                <a:ext cx="195" cy="2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9" name="Group 77"/>
            <p:cNvGrpSpPr/>
            <p:nvPr/>
          </p:nvGrpSpPr>
          <p:grpSpPr bwMode="auto">
            <a:xfrm rot="-5754869">
              <a:off x="3237" y="2156"/>
              <a:ext cx="387" cy="390"/>
              <a:chOff x="138" y="3135"/>
              <a:chExt cx="387" cy="390"/>
            </a:xfrm>
          </p:grpSpPr>
          <p:sp>
            <p:nvSpPr>
              <p:cNvPr id="114" name="Line 78"/>
              <p:cNvSpPr>
                <a:spLocks noChangeShapeType="1"/>
              </p:cNvSpPr>
              <p:nvPr/>
            </p:nvSpPr>
            <p:spPr bwMode="auto">
              <a:xfrm flipV="1">
                <a:off x="138" y="3135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5" name="Line 79"/>
              <p:cNvSpPr>
                <a:spLocks noChangeShapeType="1"/>
              </p:cNvSpPr>
              <p:nvPr/>
            </p:nvSpPr>
            <p:spPr bwMode="auto">
              <a:xfrm flipV="1">
                <a:off x="180" y="3174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6" name="Line 80"/>
              <p:cNvSpPr>
                <a:spLocks noChangeShapeType="1"/>
              </p:cNvSpPr>
              <p:nvPr/>
            </p:nvSpPr>
            <p:spPr bwMode="auto">
              <a:xfrm flipV="1">
                <a:off x="216" y="3216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" name="Line 81"/>
              <p:cNvSpPr>
                <a:spLocks noChangeShapeType="1"/>
              </p:cNvSpPr>
              <p:nvPr/>
            </p:nvSpPr>
            <p:spPr bwMode="auto">
              <a:xfrm flipV="1">
                <a:off x="249" y="3261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" name="Line 82"/>
              <p:cNvSpPr>
                <a:spLocks noChangeShapeType="1"/>
              </p:cNvSpPr>
              <p:nvPr/>
            </p:nvSpPr>
            <p:spPr bwMode="auto">
              <a:xfrm flipV="1">
                <a:off x="285" y="3303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0" name="Group 83"/>
            <p:cNvGrpSpPr/>
            <p:nvPr/>
          </p:nvGrpSpPr>
          <p:grpSpPr bwMode="auto">
            <a:xfrm rot="-8413164">
              <a:off x="3308" y="2586"/>
              <a:ext cx="206" cy="217"/>
              <a:chOff x="138" y="3135"/>
              <a:chExt cx="387" cy="390"/>
            </a:xfrm>
          </p:grpSpPr>
          <p:sp>
            <p:nvSpPr>
              <p:cNvPr id="109" name="Line 84"/>
              <p:cNvSpPr>
                <a:spLocks noChangeShapeType="1"/>
              </p:cNvSpPr>
              <p:nvPr/>
            </p:nvSpPr>
            <p:spPr bwMode="auto">
              <a:xfrm flipV="1">
                <a:off x="138" y="3135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0" name="Line 85"/>
              <p:cNvSpPr>
                <a:spLocks noChangeShapeType="1"/>
              </p:cNvSpPr>
              <p:nvPr/>
            </p:nvSpPr>
            <p:spPr bwMode="auto">
              <a:xfrm flipV="1">
                <a:off x="180" y="3174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1" name="Line 86"/>
              <p:cNvSpPr>
                <a:spLocks noChangeShapeType="1"/>
              </p:cNvSpPr>
              <p:nvPr/>
            </p:nvSpPr>
            <p:spPr bwMode="auto">
              <a:xfrm flipV="1">
                <a:off x="216" y="3216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2" name="Line 87"/>
              <p:cNvSpPr>
                <a:spLocks noChangeShapeType="1"/>
              </p:cNvSpPr>
              <p:nvPr/>
            </p:nvSpPr>
            <p:spPr bwMode="auto">
              <a:xfrm flipV="1">
                <a:off x="249" y="3261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Line 88"/>
              <p:cNvSpPr>
                <a:spLocks noChangeShapeType="1"/>
              </p:cNvSpPr>
              <p:nvPr/>
            </p:nvSpPr>
            <p:spPr bwMode="auto">
              <a:xfrm flipV="1">
                <a:off x="285" y="3303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" name="Group 89"/>
            <p:cNvGrpSpPr/>
            <p:nvPr/>
          </p:nvGrpSpPr>
          <p:grpSpPr bwMode="auto">
            <a:xfrm rot="1482959">
              <a:off x="3789" y="2136"/>
              <a:ext cx="291" cy="336"/>
              <a:chOff x="138" y="3135"/>
              <a:chExt cx="387" cy="390"/>
            </a:xfrm>
          </p:grpSpPr>
          <p:sp>
            <p:nvSpPr>
              <p:cNvPr id="104" name="Line 90"/>
              <p:cNvSpPr>
                <a:spLocks noChangeShapeType="1"/>
              </p:cNvSpPr>
              <p:nvPr/>
            </p:nvSpPr>
            <p:spPr bwMode="auto">
              <a:xfrm flipV="1">
                <a:off x="138" y="3135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5" name="Line 91"/>
              <p:cNvSpPr>
                <a:spLocks noChangeShapeType="1"/>
              </p:cNvSpPr>
              <p:nvPr/>
            </p:nvSpPr>
            <p:spPr bwMode="auto">
              <a:xfrm flipV="1">
                <a:off x="180" y="3174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6" name="Line 92"/>
              <p:cNvSpPr>
                <a:spLocks noChangeShapeType="1"/>
              </p:cNvSpPr>
              <p:nvPr/>
            </p:nvSpPr>
            <p:spPr bwMode="auto">
              <a:xfrm flipV="1">
                <a:off x="216" y="3216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7" name="Line 93"/>
              <p:cNvSpPr>
                <a:spLocks noChangeShapeType="1"/>
              </p:cNvSpPr>
              <p:nvPr/>
            </p:nvSpPr>
            <p:spPr bwMode="auto">
              <a:xfrm flipV="1">
                <a:off x="249" y="3261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8" name="Line 94"/>
              <p:cNvSpPr>
                <a:spLocks noChangeShapeType="1"/>
              </p:cNvSpPr>
              <p:nvPr/>
            </p:nvSpPr>
            <p:spPr bwMode="auto">
              <a:xfrm flipV="1">
                <a:off x="285" y="3303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2" name="Group 95"/>
            <p:cNvGrpSpPr/>
            <p:nvPr/>
          </p:nvGrpSpPr>
          <p:grpSpPr bwMode="auto">
            <a:xfrm>
              <a:off x="3456" y="1467"/>
              <a:ext cx="387" cy="390"/>
              <a:chOff x="138" y="3135"/>
              <a:chExt cx="387" cy="390"/>
            </a:xfrm>
          </p:grpSpPr>
          <p:sp>
            <p:nvSpPr>
              <p:cNvPr id="99" name="Line 96"/>
              <p:cNvSpPr>
                <a:spLocks noChangeShapeType="1"/>
              </p:cNvSpPr>
              <p:nvPr/>
            </p:nvSpPr>
            <p:spPr bwMode="auto">
              <a:xfrm flipV="1">
                <a:off x="138" y="3135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0" name="Line 97"/>
              <p:cNvSpPr>
                <a:spLocks noChangeShapeType="1"/>
              </p:cNvSpPr>
              <p:nvPr/>
            </p:nvSpPr>
            <p:spPr bwMode="auto">
              <a:xfrm flipV="1">
                <a:off x="180" y="3174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1" name="Line 98"/>
              <p:cNvSpPr>
                <a:spLocks noChangeShapeType="1"/>
              </p:cNvSpPr>
              <p:nvPr/>
            </p:nvSpPr>
            <p:spPr bwMode="auto">
              <a:xfrm flipV="1">
                <a:off x="216" y="3216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" name="Line 99"/>
              <p:cNvSpPr>
                <a:spLocks noChangeShapeType="1"/>
              </p:cNvSpPr>
              <p:nvPr/>
            </p:nvSpPr>
            <p:spPr bwMode="auto">
              <a:xfrm flipV="1">
                <a:off x="249" y="3261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3" name="Line 100"/>
              <p:cNvSpPr>
                <a:spLocks noChangeShapeType="1"/>
              </p:cNvSpPr>
              <p:nvPr/>
            </p:nvSpPr>
            <p:spPr bwMode="auto">
              <a:xfrm flipV="1">
                <a:off x="285" y="3303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3" name="Group 101"/>
            <p:cNvGrpSpPr/>
            <p:nvPr/>
          </p:nvGrpSpPr>
          <p:grpSpPr bwMode="auto">
            <a:xfrm rot="-5205233">
              <a:off x="3841" y="1706"/>
              <a:ext cx="387" cy="390"/>
              <a:chOff x="138" y="3135"/>
              <a:chExt cx="387" cy="390"/>
            </a:xfrm>
          </p:grpSpPr>
          <p:sp>
            <p:nvSpPr>
              <p:cNvPr id="94" name="Line 102"/>
              <p:cNvSpPr>
                <a:spLocks noChangeShapeType="1"/>
              </p:cNvSpPr>
              <p:nvPr/>
            </p:nvSpPr>
            <p:spPr bwMode="auto">
              <a:xfrm flipV="1">
                <a:off x="138" y="3135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5" name="Line 103"/>
              <p:cNvSpPr>
                <a:spLocks noChangeShapeType="1"/>
              </p:cNvSpPr>
              <p:nvPr/>
            </p:nvSpPr>
            <p:spPr bwMode="auto">
              <a:xfrm flipV="1">
                <a:off x="180" y="3174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Line 104"/>
              <p:cNvSpPr>
                <a:spLocks noChangeShapeType="1"/>
              </p:cNvSpPr>
              <p:nvPr/>
            </p:nvSpPr>
            <p:spPr bwMode="auto">
              <a:xfrm flipV="1">
                <a:off x="216" y="3216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Line 105"/>
              <p:cNvSpPr>
                <a:spLocks noChangeShapeType="1"/>
              </p:cNvSpPr>
              <p:nvPr/>
            </p:nvSpPr>
            <p:spPr bwMode="auto">
              <a:xfrm flipV="1">
                <a:off x="249" y="3261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Line 106"/>
              <p:cNvSpPr>
                <a:spLocks noChangeShapeType="1"/>
              </p:cNvSpPr>
              <p:nvPr/>
            </p:nvSpPr>
            <p:spPr bwMode="auto">
              <a:xfrm flipV="1">
                <a:off x="285" y="3303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4" name="Group 108"/>
            <p:cNvGrpSpPr/>
            <p:nvPr/>
          </p:nvGrpSpPr>
          <p:grpSpPr bwMode="auto">
            <a:xfrm rot="3157659">
              <a:off x="4171" y="2069"/>
              <a:ext cx="387" cy="390"/>
              <a:chOff x="138" y="3135"/>
              <a:chExt cx="387" cy="390"/>
            </a:xfrm>
          </p:grpSpPr>
          <p:sp>
            <p:nvSpPr>
              <p:cNvPr id="89" name="Line 109"/>
              <p:cNvSpPr>
                <a:spLocks noChangeShapeType="1"/>
              </p:cNvSpPr>
              <p:nvPr/>
            </p:nvSpPr>
            <p:spPr bwMode="auto">
              <a:xfrm flipV="1">
                <a:off x="138" y="3135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0" name="Line 110"/>
              <p:cNvSpPr>
                <a:spLocks noChangeShapeType="1"/>
              </p:cNvSpPr>
              <p:nvPr/>
            </p:nvSpPr>
            <p:spPr bwMode="auto">
              <a:xfrm flipV="1">
                <a:off x="180" y="3174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1" name="Line 111"/>
              <p:cNvSpPr>
                <a:spLocks noChangeShapeType="1"/>
              </p:cNvSpPr>
              <p:nvPr/>
            </p:nvSpPr>
            <p:spPr bwMode="auto">
              <a:xfrm flipV="1">
                <a:off x="216" y="3216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" name="Line 112"/>
              <p:cNvSpPr>
                <a:spLocks noChangeShapeType="1"/>
              </p:cNvSpPr>
              <p:nvPr/>
            </p:nvSpPr>
            <p:spPr bwMode="auto">
              <a:xfrm flipV="1">
                <a:off x="249" y="3261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Line 113"/>
              <p:cNvSpPr>
                <a:spLocks noChangeShapeType="1"/>
              </p:cNvSpPr>
              <p:nvPr/>
            </p:nvSpPr>
            <p:spPr bwMode="auto">
              <a:xfrm flipV="1">
                <a:off x="285" y="3303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5" name="Group 114"/>
            <p:cNvGrpSpPr/>
            <p:nvPr/>
          </p:nvGrpSpPr>
          <p:grpSpPr bwMode="auto">
            <a:xfrm rot="9975545">
              <a:off x="4393" y="1860"/>
              <a:ext cx="195" cy="192"/>
              <a:chOff x="138" y="3135"/>
              <a:chExt cx="387" cy="390"/>
            </a:xfrm>
          </p:grpSpPr>
          <p:sp>
            <p:nvSpPr>
              <p:cNvPr id="84" name="Line 115"/>
              <p:cNvSpPr>
                <a:spLocks noChangeShapeType="1"/>
              </p:cNvSpPr>
              <p:nvPr/>
            </p:nvSpPr>
            <p:spPr bwMode="auto">
              <a:xfrm flipV="1">
                <a:off x="138" y="3135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5" name="Line 116"/>
              <p:cNvSpPr>
                <a:spLocks noChangeShapeType="1"/>
              </p:cNvSpPr>
              <p:nvPr/>
            </p:nvSpPr>
            <p:spPr bwMode="auto">
              <a:xfrm flipV="1">
                <a:off x="180" y="3174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Line 117"/>
              <p:cNvSpPr>
                <a:spLocks noChangeShapeType="1"/>
              </p:cNvSpPr>
              <p:nvPr/>
            </p:nvSpPr>
            <p:spPr bwMode="auto">
              <a:xfrm flipV="1">
                <a:off x="216" y="3216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Line 118"/>
              <p:cNvSpPr>
                <a:spLocks noChangeShapeType="1"/>
              </p:cNvSpPr>
              <p:nvPr/>
            </p:nvSpPr>
            <p:spPr bwMode="auto">
              <a:xfrm flipV="1">
                <a:off x="249" y="3261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8" name="Line 119"/>
              <p:cNvSpPr>
                <a:spLocks noChangeShapeType="1"/>
              </p:cNvSpPr>
              <p:nvPr/>
            </p:nvSpPr>
            <p:spPr bwMode="auto">
              <a:xfrm flipV="1">
                <a:off x="285" y="3303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6" name="Group 132"/>
            <p:cNvGrpSpPr/>
            <p:nvPr/>
          </p:nvGrpSpPr>
          <p:grpSpPr bwMode="auto">
            <a:xfrm>
              <a:off x="3259" y="1813"/>
              <a:ext cx="262" cy="375"/>
              <a:chOff x="859" y="1834"/>
              <a:chExt cx="262" cy="375"/>
            </a:xfrm>
          </p:grpSpPr>
          <p:sp>
            <p:nvSpPr>
              <p:cNvPr id="79" name="Line 127"/>
              <p:cNvSpPr>
                <a:spLocks noChangeShapeType="1"/>
              </p:cNvSpPr>
              <p:nvPr/>
            </p:nvSpPr>
            <p:spPr bwMode="auto">
              <a:xfrm rot="13304702" flipV="1">
                <a:off x="883" y="2006"/>
                <a:ext cx="238" cy="2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0" name="Line 128"/>
              <p:cNvSpPr>
                <a:spLocks noChangeShapeType="1"/>
              </p:cNvSpPr>
              <p:nvPr/>
            </p:nvSpPr>
            <p:spPr bwMode="auto">
              <a:xfrm rot="13304702" flipV="1">
                <a:off x="875" y="1952"/>
                <a:ext cx="238" cy="2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1" name="Line 129"/>
              <p:cNvSpPr>
                <a:spLocks noChangeShapeType="1"/>
              </p:cNvSpPr>
              <p:nvPr/>
            </p:nvSpPr>
            <p:spPr bwMode="auto">
              <a:xfrm rot="13304702" flipV="1">
                <a:off x="873" y="1898"/>
                <a:ext cx="239" cy="2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" name="Line 130"/>
              <p:cNvSpPr>
                <a:spLocks noChangeShapeType="1"/>
              </p:cNvSpPr>
              <p:nvPr/>
            </p:nvSpPr>
            <p:spPr bwMode="auto">
              <a:xfrm rot="13304702" flipV="1">
                <a:off x="868" y="1868"/>
                <a:ext cx="190" cy="1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" name="Line 131"/>
              <p:cNvSpPr>
                <a:spLocks noChangeShapeType="1"/>
              </p:cNvSpPr>
              <p:nvPr/>
            </p:nvSpPr>
            <p:spPr bwMode="auto">
              <a:xfrm rot="13304702" flipV="1">
                <a:off x="859" y="1834"/>
                <a:ext cx="137" cy="1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7" name="Group 120"/>
            <p:cNvGrpSpPr/>
            <p:nvPr/>
          </p:nvGrpSpPr>
          <p:grpSpPr bwMode="auto">
            <a:xfrm rot="-10301997">
              <a:off x="4272" y="1452"/>
              <a:ext cx="387" cy="390"/>
              <a:chOff x="138" y="3135"/>
              <a:chExt cx="387" cy="390"/>
            </a:xfrm>
          </p:grpSpPr>
          <p:sp>
            <p:nvSpPr>
              <p:cNvPr id="74" name="Line 121"/>
              <p:cNvSpPr>
                <a:spLocks noChangeShapeType="1"/>
              </p:cNvSpPr>
              <p:nvPr/>
            </p:nvSpPr>
            <p:spPr bwMode="auto">
              <a:xfrm flipV="1">
                <a:off x="138" y="3135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" name="Line 122"/>
              <p:cNvSpPr>
                <a:spLocks noChangeShapeType="1"/>
              </p:cNvSpPr>
              <p:nvPr/>
            </p:nvSpPr>
            <p:spPr bwMode="auto">
              <a:xfrm flipV="1">
                <a:off x="180" y="3174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6" name="Line 123"/>
              <p:cNvSpPr>
                <a:spLocks noChangeShapeType="1"/>
              </p:cNvSpPr>
              <p:nvPr/>
            </p:nvSpPr>
            <p:spPr bwMode="auto">
              <a:xfrm flipV="1">
                <a:off x="216" y="3216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7" name="Line 124"/>
              <p:cNvSpPr>
                <a:spLocks noChangeShapeType="1"/>
              </p:cNvSpPr>
              <p:nvPr/>
            </p:nvSpPr>
            <p:spPr bwMode="auto">
              <a:xfrm flipV="1">
                <a:off x="249" y="3261"/>
                <a:ext cx="240" cy="2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Line 125"/>
              <p:cNvSpPr>
                <a:spLocks noChangeShapeType="1"/>
              </p:cNvSpPr>
              <p:nvPr/>
            </p:nvSpPr>
            <p:spPr bwMode="auto">
              <a:xfrm flipV="1">
                <a:off x="285" y="3303"/>
                <a:ext cx="240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8" name="Group 139"/>
            <p:cNvGrpSpPr/>
            <p:nvPr/>
          </p:nvGrpSpPr>
          <p:grpSpPr bwMode="auto">
            <a:xfrm>
              <a:off x="3832" y="1360"/>
              <a:ext cx="284" cy="206"/>
              <a:chOff x="1432" y="1381"/>
              <a:chExt cx="284" cy="206"/>
            </a:xfrm>
          </p:grpSpPr>
          <p:sp>
            <p:nvSpPr>
              <p:cNvPr id="69" name="Line 134"/>
              <p:cNvSpPr>
                <a:spLocks noChangeShapeType="1"/>
              </p:cNvSpPr>
              <p:nvPr/>
            </p:nvSpPr>
            <p:spPr bwMode="auto">
              <a:xfrm rot="18692207" flipV="1">
                <a:off x="1437" y="1376"/>
                <a:ext cx="138" cy="1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Line 135"/>
              <p:cNvSpPr>
                <a:spLocks noChangeShapeType="1"/>
              </p:cNvSpPr>
              <p:nvPr/>
            </p:nvSpPr>
            <p:spPr bwMode="auto">
              <a:xfrm rot="18692207" flipV="1">
                <a:off x="1456" y="1381"/>
                <a:ext cx="182" cy="1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Line 136"/>
              <p:cNvSpPr>
                <a:spLocks noChangeShapeType="1"/>
              </p:cNvSpPr>
              <p:nvPr/>
            </p:nvSpPr>
            <p:spPr bwMode="auto">
              <a:xfrm rot="18692207" flipV="1">
                <a:off x="1481" y="1390"/>
                <a:ext cx="198" cy="1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" name="Line 137"/>
              <p:cNvSpPr>
                <a:spLocks noChangeShapeType="1"/>
              </p:cNvSpPr>
              <p:nvPr/>
            </p:nvSpPr>
            <p:spPr bwMode="auto">
              <a:xfrm rot="18692207" flipV="1">
                <a:off x="1525" y="1392"/>
                <a:ext cx="184" cy="18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3" name="Line 138"/>
              <p:cNvSpPr>
                <a:spLocks noChangeShapeType="1"/>
              </p:cNvSpPr>
              <p:nvPr/>
            </p:nvSpPr>
            <p:spPr bwMode="auto">
              <a:xfrm rot="18692207" flipV="1">
                <a:off x="1595" y="1379"/>
                <a:ext cx="117" cy="1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49" name="Rectangle 142"/>
          <p:cNvSpPr>
            <a:spLocks noChangeArrowheads="1"/>
          </p:cNvSpPr>
          <p:nvPr/>
        </p:nvSpPr>
        <p:spPr bwMode="auto">
          <a:xfrm>
            <a:off x="685800" y="2286000"/>
            <a:ext cx="41910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In ferromagnetic materials, </a:t>
            </a:r>
            <a:r>
              <a:rPr lang="en-US" altLang="zh-CN" dirty="0">
                <a:solidFill>
                  <a:srgbClr val="C00000"/>
                </a:solidFill>
              </a:rPr>
              <a:t>fairly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strong atomic or molecular magnetic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moments exist</a:t>
            </a:r>
            <a:r>
              <a:rPr lang="en-US" altLang="zh-CN" dirty="0"/>
              <a:t>.  </a:t>
            </a:r>
            <a:r>
              <a:rPr lang="en-US" altLang="zh-CN" dirty="0">
                <a:solidFill>
                  <a:srgbClr val="C00000"/>
                </a:solidFill>
              </a:rPr>
              <a:t>Moments of adjacent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molecules interact to cause partial alignment of moments within small regions known as </a:t>
            </a:r>
            <a:r>
              <a:rPr lang="en-US" altLang="zh-CN" i="1" dirty="0">
                <a:solidFill>
                  <a:srgbClr val="C00000"/>
                </a:solidFill>
              </a:rPr>
              <a:t>domains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磁畴</a:t>
            </a:r>
            <a:r>
              <a:rPr lang="en-US" altLang="zh-CN" dirty="0"/>
              <a:t>.  Magnetic moment orientations from domain to domain are random, thus resulting in a zero overall magnetic moment for the material.</a:t>
            </a:r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28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Materials: Ferromagnetism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铁磁性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50" name="Group 228"/>
          <p:cNvGrpSpPr/>
          <p:nvPr/>
        </p:nvGrpSpPr>
        <p:grpSpPr bwMode="auto">
          <a:xfrm>
            <a:off x="530224" y="1542314"/>
            <a:ext cx="8689976" cy="4819650"/>
            <a:chOff x="-553" y="960"/>
            <a:chExt cx="5474" cy="3036"/>
          </a:xfrm>
        </p:grpSpPr>
        <p:grpSp>
          <p:nvGrpSpPr>
            <p:cNvPr id="151" name="Group 220"/>
            <p:cNvGrpSpPr/>
            <p:nvPr/>
          </p:nvGrpSpPr>
          <p:grpSpPr bwMode="auto">
            <a:xfrm>
              <a:off x="2998" y="960"/>
              <a:ext cx="1923" cy="3036"/>
              <a:chOff x="2998" y="960"/>
              <a:chExt cx="1923" cy="3036"/>
            </a:xfrm>
          </p:grpSpPr>
          <p:grpSp>
            <p:nvGrpSpPr>
              <p:cNvPr id="157" name="Group 214"/>
              <p:cNvGrpSpPr/>
              <p:nvPr/>
            </p:nvGrpSpPr>
            <p:grpSpPr bwMode="auto">
              <a:xfrm>
                <a:off x="2998" y="1250"/>
                <a:ext cx="1923" cy="2368"/>
                <a:chOff x="2998" y="1250"/>
                <a:chExt cx="1923" cy="2368"/>
              </a:xfrm>
            </p:grpSpPr>
            <p:sp>
              <p:nvSpPr>
                <p:cNvPr id="163" name="Freeform 3"/>
                <p:cNvSpPr/>
                <p:nvPr/>
              </p:nvSpPr>
              <p:spPr bwMode="auto">
                <a:xfrm rot="7670293">
                  <a:off x="3999" y="2657"/>
                  <a:ext cx="797" cy="534"/>
                </a:xfrm>
                <a:custGeom>
                  <a:avLst/>
                  <a:gdLst>
                    <a:gd name="T0" fmla="*/ 55 w 797"/>
                    <a:gd name="T1" fmla="*/ 534 h 534"/>
                    <a:gd name="T2" fmla="*/ 11 w 797"/>
                    <a:gd name="T3" fmla="*/ 476 h 534"/>
                    <a:gd name="T4" fmla="*/ 17 w 797"/>
                    <a:gd name="T5" fmla="*/ 352 h 534"/>
                    <a:gd name="T6" fmla="*/ 106 w 797"/>
                    <a:gd name="T7" fmla="*/ 263 h 534"/>
                    <a:gd name="T8" fmla="*/ 333 w 797"/>
                    <a:gd name="T9" fmla="*/ 65 h 534"/>
                    <a:gd name="T10" fmla="*/ 416 w 797"/>
                    <a:gd name="T11" fmla="*/ 17 h 534"/>
                    <a:gd name="T12" fmla="*/ 702 w 797"/>
                    <a:gd name="T13" fmla="*/ 27 h 534"/>
                    <a:gd name="T14" fmla="*/ 747 w 797"/>
                    <a:gd name="T15" fmla="*/ 56 h 534"/>
                    <a:gd name="T16" fmla="*/ 785 w 797"/>
                    <a:gd name="T17" fmla="*/ 97 h 534"/>
                    <a:gd name="T18" fmla="*/ 788 w 797"/>
                    <a:gd name="T19" fmla="*/ 202 h 534"/>
                    <a:gd name="T20" fmla="*/ 757 w 797"/>
                    <a:gd name="T21" fmla="*/ 295 h 534"/>
                    <a:gd name="T22" fmla="*/ 632 w 797"/>
                    <a:gd name="T23" fmla="*/ 438 h 534"/>
                    <a:gd name="T24" fmla="*/ 559 w 797"/>
                    <a:gd name="T25" fmla="*/ 435 h 534"/>
                    <a:gd name="T26" fmla="*/ 486 w 797"/>
                    <a:gd name="T27" fmla="*/ 400 h 534"/>
                    <a:gd name="T28" fmla="*/ 473 w 797"/>
                    <a:gd name="T29" fmla="*/ 394 h 534"/>
                    <a:gd name="T30" fmla="*/ 365 w 797"/>
                    <a:gd name="T31" fmla="*/ 416 h 534"/>
                    <a:gd name="T32" fmla="*/ 279 w 797"/>
                    <a:gd name="T33" fmla="*/ 473 h 534"/>
                    <a:gd name="T34" fmla="*/ 141 w 797"/>
                    <a:gd name="T35" fmla="*/ 511 h 534"/>
                    <a:gd name="T36" fmla="*/ 71 w 797"/>
                    <a:gd name="T37" fmla="*/ 524 h 534"/>
                    <a:gd name="T38" fmla="*/ 55 w 797"/>
                    <a:gd name="T39" fmla="*/ 534 h 534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797" h="534">
                      <a:moveTo>
                        <a:pt x="55" y="534"/>
                      </a:moveTo>
                      <a:cubicBezTo>
                        <a:pt x="40" y="513"/>
                        <a:pt x="23" y="498"/>
                        <a:pt x="11" y="476"/>
                      </a:cubicBezTo>
                      <a:cubicBezTo>
                        <a:pt x="5" y="435"/>
                        <a:pt x="0" y="390"/>
                        <a:pt x="17" y="352"/>
                      </a:cubicBezTo>
                      <a:cubicBezTo>
                        <a:pt x="35" y="308"/>
                        <a:pt x="75" y="293"/>
                        <a:pt x="106" y="263"/>
                      </a:cubicBezTo>
                      <a:cubicBezTo>
                        <a:pt x="175" y="193"/>
                        <a:pt x="242" y="106"/>
                        <a:pt x="333" y="65"/>
                      </a:cubicBezTo>
                      <a:cubicBezTo>
                        <a:pt x="359" y="38"/>
                        <a:pt x="379" y="25"/>
                        <a:pt x="416" y="17"/>
                      </a:cubicBezTo>
                      <a:cubicBezTo>
                        <a:pt x="452" y="17"/>
                        <a:pt x="617" y="5"/>
                        <a:pt x="702" y="27"/>
                      </a:cubicBezTo>
                      <a:cubicBezTo>
                        <a:pt x="743" y="59"/>
                        <a:pt x="666" y="0"/>
                        <a:pt x="747" y="56"/>
                      </a:cubicBezTo>
                      <a:cubicBezTo>
                        <a:pt x="762" y="66"/>
                        <a:pt x="771" y="83"/>
                        <a:pt x="785" y="97"/>
                      </a:cubicBezTo>
                      <a:cubicBezTo>
                        <a:pt x="797" y="137"/>
                        <a:pt x="795" y="135"/>
                        <a:pt x="788" y="202"/>
                      </a:cubicBezTo>
                      <a:cubicBezTo>
                        <a:pt x="784" y="232"/>
                        <a:pt x="766" y="265"/>
                        <a:pt x="757" y="295"/>
                      </a:cubicBezTo>
                      <a:cubicBezTo>
                        <a:pt x="735" y="362"/>
                        <a:pt x="715" y="427"/>
                        <a:pt x="632" y="438"/>
                      </a:cubicBezTo>
                      <a:cubicBezTo>
                        <a:pt x="607" y="437"/>
                        <a:pt x="582" y="441"/>
                        <a:pt x="559" y="435"/>
                      </a:cubicBezTo>
                      <a:cubicBezTo>
                        <a:pt x="532" y="428"/>
                        <a:pt x="510" y="411"/>
                        <a:pt x="486" y="400"/>
                      </a:cubicBezTo>
                      <a:cubicBezTo>
                        <a:pt x="481" y="397"/>
                        <a:pt x="473" y="394"/>
                        <a:pt x="473" y="394"/>
                      </a:cubicBezTo>
                      <a:cubicBezTo>
                        <a:pt x="438" y="399"/>
                        <a:pt x="397" y="401"/>
                        <a:pt x="365" y="416"/>
                      </a:cubicBezTo>
                      <a:cubicBezTo>
                        <a:pt x="334" y="429"/>
                        <a:pt x="308" y="456"/>
                        <a:pt x="279" y="473"/>
                      </a:cubicBezTo>
                      <a:cubicBezTo>
                        <a:pt x="234" y="496"/>
                        <a:pt x="190" y="507"/>
                        <a:pt x="141" y="511"/>
                      </a:cubicBezTo>
                      <a:cubicBezTo>
                        <a:pt x="117" y="515"/>
                        <a:pt x="94" y="520"/>
                        <a:pt x="71" y="524"/>
                      </a:cubicBezTo>
                      <a:cubicBezTo>
                        <a:pt x="67" y="526"/>
                        <a:pt x="48" y="534"/>
                        <a:pt x="55" y="534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" name="Freeform 4"/>
                <p:cNvSpPr/>
                <p:nvPr/>
              </p:nvSpPr>
              <p:spPr bwMode="auto">
                <a:xfrm rot="-5850591">
                  <a:off x="3177" y="2465"/>
                  <a:ext cx="797" cy="534"/>
                </a:xfrm>
                <a:custGeom>
                  <a:avLst/>
                  <a:gdLst>
                    <a:gd name="T0" fmla="*/ 55 w 797"/>
                    <a:gd name="T1" fmla="*/ 534 h 534"/>
                    <a:gd name="T2" fmla="*/ 11 w 797"/>
                    <a:gd name="T3" fmla="*/ 476 h 534"/>
                    <a:gd name="T4" fmla="*/ 17 w 797"/>
                    <a:gd name="T5" fmla="*/ 352 h 534"/>
                    <a:gd name="T6" fmla="*/ 106 w 797"/>
                    <a:gd name="T7" fmla="*/ 263 h 534"/>
                    <a:gd name="T8" fmla="*/ 333 w 797"/>
                    <a:gd name="T9" fmla="*/ 65 h 534"/>
                    <a:gd name="T10" fmla="*/ 416 w 797"/>
                    <a:gd name="T11" fmla="*/ 17 h 534"/>
                    <a:gd name="T12" fmla="*/ 702 w 797"/>
                    <a:gd name="T13" fmla="*/ 27 h 534"/>
                    <a:gd name="T14" fmla="*/ 747 w 797"/>
                    <a:gd name="T15" fmla="*/ 56 h 534"/>
                    <a:gd name="T16" fmla="*/ 785 w 797"/>
                    <a:gd name="T17" fmla="*/ 97 h 534"/>
                    <a:gd name="T18" fmla="*/ 788 w 797"/>
                    <a:gd name="T19" fmla="*/ 202 h 534"/>
                    <a:gd name="T20" fmla="*/ 757 w 797"/>
                    <a:gd name="T21" fmla="*/ 295 h 534"/>
                    <a:gd name="T22" fmla="*/ 632 w 797"/>
                    <a:gd name="T23" fmla="*/ 438 h 534"/>
                    <a:gd name="T24" fmla="*/ 559 w 797"/>
                    <a:gd name="T25" fmla="*/ 435 h 534"/>
                    <a:gd name="T26" fmla="*/ 486 w 797"/>
                    <a:gd name="T27" fmla="*/ 400 h 534"/>
                    <a:gd name="T28" fmla="*/ 473 w 797"/>
                    <a:gd name="T29" fmla="*/ 394 h 534"/>
                    <a:gd name="T30" fmla="*/ 365 w 797"/>
                    <a:gd name="T31" fmla="*/ 416 h 534"/>
                    <a:gd name="T32" fmla="*/ 279 w 797"/>
                    <a:gd name="T33" fmla="*/ 473 h 534"/>
                    <a:gd name="T34" fmla="*/ 141 w 797"/>
                    <a:gd name="T35" fmla="*/ 511 h 534"/>
                    <a:gd name="T36" fmla="*/ 71 w 797"/>
                    <a:gd name="T37" fmla="*/ 524 h 534"/>
                    <a:gd name="T38" fmla="*/ 55 w 797"/>
                    <a:gd name="T39" fmla="*/ 534 h 534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797" h="534">
                      <a:moveTo>
                        <a:pt x="55" y="534"/>
                      </a:moveTo>
                      <a:cubicBezTo>
                        <a:pt x="40" y="513"/>
                        <a:pt x="23" y="498"/>
                        <a:pt x="11" y="476"/>
                      </a:cubicBezTo>
                      <a:cubicBezTo>
                        <a:pt x="5" y="435"/>
                        <a:pt x="0" y="390"/>
                        <a:pt x="17" y="352"/>
                      </a:cubicBezTo>
                      <a:cubicBezTo>
                        <a:pt x="35" y="308"/>
                        <a:pt x="75" y="293"/>
                        <a:pt x="106" y="263"/>
                      </a:cubicBezTo>
                      <a:cubicBezTo>
                        <a:pt x="175" y="193"/>
                        <a:pt x="242" y="106"/>
                        <a:pt x="333" y="65"/>
                      </a:cubicBezTo>
                      <a:cubicBezTo>
                        <a:pt x="359" y="38"/>
                        <a:pt x="379" y="25"/>
                        <a:pt x="416" y="17"/>
                      </a:cubicBezTo>
                      <a:cubicBezTo>
                        <a:pt x="452" y="17"/>
                        <a:pt x="617" y="5"/>
                        <a:pt x="702" y="27"/>
                      </a:cubicBezTo>
                      <a:cubicBezTo>
                        <a:pt x="743" y="59"/>
                        <a:pt x="666" y="0"/>
                        <a:pt x="747" y="56"/>
                      </a:cubicBezTo>
                      <a:cubicBezTo>
                        <a:pt x="762" y="66"/>
                        <a:pt x="771" y="83"/>
                        <a:pt x="785" y="97"/>
                      </a:cubicBezTo>
                      <a:cubicBezTo>
                        <a:pt x="797" y="137"/>
                        <a:pt x="795" y="135"/>
                        <a:pt x="788" y="202"/>
                      </a:cubicBezTo>
                      <a:cubicBezTo>
                        <a:pt x="784" y="232"/>
                        <a:pt x="766" y="265"/>
                        <a:pt x="757" y="295"/>
                      </a:cubicBezTo>
                      <a:cubicBezTo>
                        <a:pt x="735" y="362"/>
                        <a:pt x="715" y="427"/>
                        <a:pt x="632" y="438"/>
                      </a:cubicBezTo>
                      <a:cubicBezTo>
                        <a:pt x="607" y="437"/>
                        <a:pt x="582" y="441"/>
                        <a:pt x="559" y="435"/>
                      </a:cubicBezTo>
                      <a:cubicBezTo>
                        <a:pt x="532" y="428"/>
                        <a:pt x="510" y="411"/>
                        <a:pt x="486" y="400"/>
                      </a:cubicBezTo>
                      <a:cubicBezTo>
                        <a:pt x="481" y="397"/>
                        <a:pt x="473" y="394"/>
                        <a:pt x="473" y="394"/>
                      </a:cubicBezTo>
                      <a:cubicBezTo>
                        <a:pt x="438" y="399"/>
                        <a:pt x="397" y="401"/>
                        <a:pt x="365" y="416"/>
                      </a:cubicBezTo>
                      <a:cubicBezTo>
                        <a:pt x="334" y="429"/>
                        <a:pt x="308" y="456"/>
                        <a:pt x="279" y="473"/>
                      </a:cubicBezTo>
                      <a:cubicBezTo>
                        <a:pt x="234" y="496"/>
                        <a:pt x="190" y="507"/>
                        <a:pt x="141" y="511"/>
                      </a:cubicBezTo>
                      <a:cubicBezTo>
                        <a:pt x="117" y="515"/>
                        <a:pt x="94" y="520"/>
                        <a:pt x="71" y="524"/>
                      </a:cubicBezTo>
                      <a:cubicBezTo>
                        <a:pt x="67" y="526"/>
                        <a:pt x="48" y="534"/>
                        <a:pt x="55" y="534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5" name="Freeform 5"/>
                <p:cNvSpPr/>
                <p:nvPr/>
              </p:nvSpPr>
              <p:spPr bwMode="auto">
                <a:xfrm rot="9480312">
                  <a:off x="3549" y="2400"/>
                  <a:ext cx="1372" cy="801"/>
                </a:xfrm>
                <a:custGeom>
                  <a:avLst/>
                  <a:gdLst>
                    <a:gd name="T0" fmla="*/ 95 w 797"/>
                    <a:gd name="T1" fmla="*/ 801 h 534"/>
                    <a:gd name="T2" fmla="*/ 19 w 797"/>
                    <a:gd name="T3" fmla="*/ 714 h 534"/>
                    <a:gd name="T4" fmla="*/ 29 w 797"/>
                    <a:gd name="T5" fmla="*/ 528 h 534"/>
                    <a:gd name="T6" fmla="*/ 182 w 797"/>
                    <a:gd name="T7" fmla="*/ 395 h 534"/>
                    <a:gd name="T8" fmla="*/ 573 w 797"/>
                    <a:gd name="T9" fmla="*/ 98 h 534"/>
                    <a:gd name="T10" fmla="*/ 716 w 797"/>
                    <a:gd name="T11" fmla="*/ 26 h 534"/>
                    <a:gd name="T12" fmla="*/ 1208 w 797"/>
                    <a:gd name="T13" fmla="*/ 41 h 534"/>
                    <a:gd name="T14" fmla="*/ 1286 w 797"/>
                    <a:gd name="T15" fmla="*/ 84 h 534"/>
                    <a:gd name="T16" fmla="*/ 1351 w 797"/>
                    <a:gd name="T17" fmla="*/ 146 h 534"/>
                    <a:gd name="T18" fmla="*/ 1357 w 797"/>
                    <a:gd name="T19" fmla="*/ 303 h 534"/>
                    <a:gd name="T20" fmla="*/ 1303 w 797"/>
                    <a:gd name="T21" fmla="*/ 443 h 534"/>
                    <a:gd name="T22" fmla="*/ 1088 w 797"/>
                    <a:gd name="T23" fmla="*/ 657 h 534"/>
                    <a:gd name="T24" fmla="*/ 962 w 797"/>
                    <a:gd name="T25" fmla="*/ 653 h 534"/>
                    <a:gd name="T26" fmla="*/ 837 w 797"/>
                    <a:gd name="T27" fmla="*/ 600 h 534"/>
                    <a:gd name="T28" fmla="*/ 814 w 797"/>
                    <a:gd name="T29" fmla="*/ 591 h 534"/>
                    <a:gd name="T30" fmla="*/ 628 w 797"/>
                    <a:gd name="T31" fmla="*/ 624 h 534"/>
                    <a:gd name="T32" fmla="*/ 480 w 797"/>
                    <a:gd name="T33" fmla="*/ 710 h 534"/>
                    <a:gd name="T34" fmla="*/ 243 w 797"/>
                    <a:gd name="T35" fmla="*/ 767 h 534"/>
                    <a:gd name="T36" fmla="*/ 122 w 797"/>
                    <a:gd name="T37" fmla="*/ 786 h 534"/>
                    <a:gd name="T38" fmla="*/ 95 w 797"/>
                    <a:gd name="T39" fmla="*/ 801 h 534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797" h="534">
                      <a:moveTo>
                        <a:pt x="55" y="534"/>
                      </a:moveTo>
                      <a:cubicBezTo>
                        <a:pt x="40" y="513"/>
                        <a:pt x="23" y="498"/>
                        <a:pt x="11" y="476"/>
                      </a:cubicBezTo>
                      <a:cubicBezTo>
                        <a:pt x="5" y="435"/>
                        <a:pt x="0" y="390"/>
                        <a:pt x="17" y="352"/>
                      </a:cubicBezTo>
                      <a:cubicBezTo>
                        <a:pt x="35" y="308"/>
                        <a:pt x="75" y="293"/>
                        <a:pt x="106" y="263"/>
                      </a:cubicBezTo>
                      <a:cubicBezTo>
                        <a:pt x="175" y="193"/>
                        <a:pt x="242" y="106"/>
                        <a:pt x="333" y="65"/>
                      </a:cubicBezTo>
                      <a:cubicBezTo>
                        <a:pt x="359" y="38"/>
                        <a:pt x="379" y="25"/>
                        <a:pt x="416" y="17"/>
                      </a:cubicBezTo>
                      <a:cubicBezTo>
                        <a:pt x="452" y="17"/>
                        <a:pt x="617" y="5"/>
                        <a:pt x="702" y="27"/>
                      </a:cubicBezTo>
                      <a:cubicBezTo>
                        <a:pt x="743" y="59"/>
                        <a:pt x="666" y="0"/>
                        <a:pt x="747" y="56"/>
                      </a:cubicBezTo>
                      <a:cubicBezTo>
                        <a:pt x="762" y="66"/>
                        <a:pt x="771" y="83"/>
                        <a:pt x="785" y="97"/>
                      </a:cubicBezTo>
                      <a:cubicBezTo>
                        <a:pt x="797" y="137"/>
                        <a:pt x="795" y="135"/>
                        <a:pt x="788" y="202"/>
                      </a:cubicBezTo>
                      <a:cubicBezTo>
                        <a:pt x="784" y="232"/>
                        <a:pt x="766" y="265"/>
                        <a:pt x="757" y="295"/>
                      </a:cubicBezTo>
                      <a:cubicBezTo>
                        <a:pt x="735" y="362"/>
                        <a:pt x="715" y="427"/>
                        <a:pt x="632" y="438"/>
                      </a:cubicBezTo>
                      <a:cubicBezTo>
                        <a:pt x="607" y="437"/>
                        <a:pt x="582" y="441"/>
                        <a:pt x="559" y="435"/>
                      </a:cubicBezTo>
                      <a:cubicBezTo>
                        <a:pt x="532" y="428"/>
                        <a:pt x="510" y="411"/>
                        <a:pt x="486" y="400"/>
                      </a:cubicBezTo>
                      <a:cubicBezTo>
                        <a:pt x="481" y="397"/>
                        <a:pt x="473" y="394"/>
                        <a:pt x="473" y="394"/>
                      </a:cubicBezTo>
                      <a:cubicBezTo>
                        <a:pt x="438" y="399"/>
                        <a:pt x="397" y="401"/>
                        <a:pt x="365" y="416"/>
                      </a:cubicBezTo>
                      <a:cubicBezTo>
                        <a:pt x="334" y="429"/>
                        <a:pt x="308" y="456"/>
                        <a:pt x="279" y="473"/>
                      </a:cubicBezTo>
                      <a:cubicBezTo>
                        <a:pt x="234" y="496"/>
                        <a:pt x="190" y="507"/>
                        <a:pt x="141" y="511"/>
                      </a:cubicBezTo>
                      <a:cubicBezTo>
                        <a:pt x="117" y="515"/>
                        <a:pt x="94" y="520"/>
                        <a:pt x="71" y="524"/>
                      </a:cubicBezTo>
                      <a:cubicBezTo>
                        <a:pt x="67" y="526"/>
                        <a:pt x="48" y="534"/>
                        <a:pt x="55" y="534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6" name="Freeform 6"/>
                <p:cNvSpPr/>
                <p:nvPr/>
              </p:nvSpPr>
              <p:spPr bwMode="auto">
                <a:xfrm>
                  <a:off x="3651" y="2272"/>
                  <a:ext cx="585" cy="541"/>
                </a:xfrm>
                <a:custGeom>
                  <a:avLst/>
                  <a:gdLst>
                    <a:gd name="T0" fmla="*/ 91 w 585"/>
                    <a:gd name="T1" fmla="*/ 484 h 541"/>
                    <a:gd name="T2" fmla="*/ 8 w 585"/>
                    <a:gd name="T3" fmla="*/ 363 h 541"/>
                    <a:gd name="T4" fmla="*/ 8 w 585"/>
                    <a:gd name="T5" fmla="*/ 229 h 541"/>
                    <a:gd name="T6" fmla="*/ 34 w 585"/>
                    <a:gd name="T7" fmla="*/ 181 h 541"/>
                    <a:gd name="T8" fmla="*/ 168 w 585"/>
                    <a:gd name="T9" fmla="*/ 67 h 541"/>
                    <a:gd name="T10" fmla="*/ 349 w 585"/>
                    <a:gd name="T11" fmla="*/ 19 h 541"/>
                    <a:gd name="T12" fmla="*/ 474 w 585"/>
                    <a:gd name="T13" fmla="*/ 25 h 541"/>
                    <a:gd name="T14" fmla="*/ 525 w 585"/>
                    <a:gd name="T15" fmla="*/ 86 h 541"/>
                    <a:gd name="T16" fmla="*/ 557 w 585"/>
                    <a:gd name="T17" fmla="*/ 153 h 541"/>
                    <a:gd name="T18" fmla="*/ 572 w 585"/>
                    <a:gd name="T19" fmla="*/ 191 h 541"/>
                    <a:gd name="T20" fmla="*/ 582 w 585"/>
                    <a:gd name="T21" fmla="*/ 248 h 541"/>
                    <a:gd name="T22" fmla="*/ 563 w 585"/>
                    <a:gd name="T23" fmla="*/ 417 h 541"/>
                    <a:gd name="T24" fmla="*/ 496 w 585"/>
                    <a:gd name="T25" fmla="*/ 494 h 541"/>
                    <a:gd name="T26" fmla="*/ 439 w 585"/>
                    <a:gd name="T27" fmla="*/ 522 h 541"/>
                    <a:gd name="T28" fmla="*/ 317 w 585"/>
                    <a:gd name="T29" fmla="*/ 538 h 541"/>
                    <a:gd name="T30" fmla="*/ 184 w 585"/>
                    <a:gd name="T31" fmla="*/ 532 h 541"/>
                    <a:gd name="T32" fmla="*/ 139 w 585"/>
                    <a:gd name="T33" fmla="*/ 519 h 541"/>
                    <a:gd name="T34" fmla="*/ 114 w 585"/>
                    <a:gd name="T35" fmla="*/ 497 h 541"/>
                    <a:gd name="T36" fmla="*/ 91 w 585"/>
                    <a:gd name="T37" fmla="*/ 484 h 54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585" h="541">
                      <a:moveTo>
                        <a:pt x="91" y="484"/>
                      </a:moveTo>
                      <a:cubicBezTo>
                        <a:pt x="55" y="446"/>
                        <a:pt x="38" y="403"/>
                        <a:pt x="8" y="363"/>
                      </a:cubicBezTo>
                      <a:cubicBezTo>
                        <a:pt x="2" y="311"/>
                        <a:pt x="0" y="300"/>
                        <a:pt x="8" y="229"/>
                      </a:cubicBezTo>
                      <a:cubicBezTo>
                        <a:pt x="9" y="216"/>
                        <a:pt x="27" y="192"/>
                        <a:pt x="34" y="181"/>
                      </a:cubicBezTo>
                      <a:cubicBezTo>
                        <a:pt x="61" y="133"/>
                        <a:pt x="114" y="83"/>
                        <a:pt x="168" y="67"/>
                      </a:cubicBezTo>
                      <a:cubicBezTo>
                        <a:pt x="206" y="35"/>
                        <a:pt x="298" y="23"/>
                        <a:pt x="349" y="19"/>
                      </a:cubicBezTo>
                      <a:cubicBezTo>
                        <a:pt x="390" y="20"/>
                        <a:pt x="440" y="0"/>
                        <a:pt x="474" y="25"/>
                      </a:cubicBezTo>
                      <a:cubicBezTo>
                        <a:pt x="504" y="47"/>
                        <a:pt x="502" y="63"/>
                        <a:pt x="525" y="86"/>
                      </a:cubicBezTo>
                      <a:cubicBezTo>
                        <a:pt x="530" y="112"/>
                        <a:pt x="539" y="131"/>
                        <a:pt x="557" y="153"/>
                      </a:cubicBezTo>
                      <a:cubicBezTo>
                        <a:pt x="561" y="166"/>
                        <a:pt x="569" y="177"/>
                        <a:pt x="572" y="191"/>
                      </a:cubicBezTo>
                      <a:cubicBezTo>
                        <a:pt x="575" y="209"/>
                        <a:pt x="575" y="229"/>
                        <a:pt x="582" y="248"/>
                      </a:cubicBezTo>
                      <a:cubicBezTo>
                        <a:pt x="579" y="287"/>
                        <a:pt x="585" y="367"/>
                        <a:pt x="563" y="417"/>
                      </a:cubicBezTo>
                      <a:cubicBezTo>
                        <a:pt x="556" y="453"/>
                        <a:pt x="529" y="479"/>
                        <a:pt x="496" y="494"/>
                      </a:cubicBezTo>
                      <a:cubicBezTo>
                        <a:pt x="477" y="510"/>
                        <a:pt x="462" y="518"/>
                        <a:pt x="439" y="522"/>
                      </a:cubicBezTo>
                      <a:cubicBezTo>
                        <a:pt x="411" y="541"/>
                        <a:pt x="340" y="537"/>
                        <a:pt x="317" y="538"/>
                      </a:cubicBezTo>
                      <a:cubicBezTo>
                        <a:pt x="287" y="537"/>
                        <a:pt x="222" y="536"/>
                        <a:pt x="184" y="532"/>
                      </a:cubicBezTo>
                      <a:cubicBezTo>
                        <a:pt x="168" y="530"/>
                        <a:pt x="139" y="519"/>
                        <a:pt x="139" y="519"/>
                      </a:cubicBezTo>
                      <a:cubicBezTo>
                        <a:pt x="131" y="511"/>
                        <a:pt x="123" y="501"/>
                        <a:pt x="114" y="497"/>
                      </a:cubicBezTo>
                      <a:cubicBezTo>
                        <a:pt x="104" y="492"/>
                        <a:pt x="96" y="494"/>
                        <a:pt x="91" y="484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7" name="Freeform 7"/>
                <p:cNvSpPr/>
                <p:nvPr/>
              </p:nvSpPr>
              <p:spPr bwMode="auto">
                <a:xfrm rot="-9205815">
                  <a:off x="3191" y="1779"/>
                  <a:ext cx="652" cy="458"/>
                </a:xfrm>
                <a:custGeom>
                  <a:avLst/>
                  <a:gdLst>
                    <a:gd name="T0" fmla="*/ 8 w 652"/>
                    <a:gd name="T1" fmla="*/ 318 h 458"/>
                    <a:gd name="T2" fmla="*/ 31 w 652"/>
                    <a:gd name="T3" fmla="*/ 139 h 458"/>
                    <a:gd name="T4" fmla="*/ 120 w 652"/>
                    <a:gd name="T5" fmla="*/ 82 h 458"/>
                    <a:gd name="T6" fmla="*/ 391 w 652"/>
                    <a:gd name="T7" fmla="*/ 5 h 458"/>
                    <a:gd name="T8" fmla="*/ 550 w 652"/>
                    <a:gd name="T9" fmla="*/ 28 h 458"/>
                    <a:gd name="T10" fmla="*/ 604 w 652"/>
                    <a:gd name="T11" fmla="*/ 66 h 458"/>
                    <a:gd name="T12" fmla="*/ 652 w 652"/>
                    <a:gd name="T13" fmla="*/ 196 h 458"/>
                    <a:gd name="T14" fmla="*/ 649 w 652"/>
                    <a:gd name="T15" fmla="*/ 279 h 458"/>
                    <a:gd name="T16" fmla="*/ 445 w 652"/>
                    <a:gd name="T17" fmla="*/ 458 h 458"/>
                    <a:gd name="T18" fmla="*/ 301 w 652"/>
                    <a:gd name="T19" fmla="*/ 455 h 458"/>
                    <a:gd name="T20" fmla="*/ 82 w 652"/>
                    <a:gd name="T21" fmla="*/ 413 h 458"/>
                    <a:gd name="T22" fmla="*/ 21 w 652"/>
                    <a:gd name="T23" fmla="*/ 388 h 458"/>
                    <a:gd name="T24" fmla="*/ 15 w 652"/>
                    <a:gd name="T25" fmla="*/ 334 h 458"/>
                    <a:gd name="T26" fmla="*/ 8 w 652"/>
                    <a:gd name="T27" fmla="*/ 318 h 45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652" h="458">
                      <a:moveTo>
                        <a:pt x="8" y="318"/>
                      </a:moveTo>
                      <a:cubicBezTo>
                        <a:pt x="8" y="310"/>
                        <a:pt x="0" y="176"/>
                        <a:pt x="31" y="139"/>
                      </a:cubicBezTo>
                      <a:cubicBezTo>
                        <a:pt x="51" y="113"/>
                        <a:pt x="90" y="96"/>
                        <a:pt x="120" y="82"/>
                      </a:cubicBezTo>
                      <a:cubicBezTo>
                        <a:pt x="206" y="38"/>
                        <a:pt x="294" y="11"/>
                        <a:pt x="391" y="5"/>
                      </a:cubicBezTo>
                      <a:cubicBezTo>
                        <a:pt x="439" y="6"/>
                        <a:pt x="504" y="0"/>
                        <a:pt x="550" y="28"/>
                      </a:cubicBezTo>
                      <a:cubicBezTo>
                        <a:pt x="568" y="39"/>
                        <a:pt x="604" y="66"/>
                        <a:pt x="604" y="66"/>
                      </a:cubicBezTo>
                      <a:cubicBezTo>
                        <a:pt x="632" y="107"/>
                        <a:pt x="639" y="148"/>
                        <a:pt x="652" y="196"/>
                      </a:cubicBezTo>
                      <a:cubicBezTo>
                        <a:pt x="651" y="223"/>
                        <a:pt x="651" y="251"/>
                        <a:pt x="649" y="279"/>
                      </a:cubicBezTo>
                      <a:cubicBezTo>
                        <a:pt x="639" y="378"/>
                        <a:pt x="527" y="430"/>
                        <a:pt x="445" y="458"/>
                      </a:cubicBezTo>
                      <a:cubicBezTo>
                        <a:pt x="397" y="457"/>
                        <a:pt x="348" y="457"/>
                        <a:pt x="301" y="455"/>
                      </a:cubicBezTo>
                      <a:cubicBezTo>
                        <a:pt x="226" y="451"/>
                        <a:pt x="155" y="421"/>
                        <a:pt x="82" y="413"/>
                      </a:cubicBezTo>
                      <a:cubicBezTo>
                        <a:pt x="61" y="403"/>
                        <a:pt x="41" y="395"/>
                        <a:pt x="21" y="388"/>
                      </a:cubicBezTo>
                      <a:cubicBezTo>
                        <a:pt x="12" y="359"/>
                        <a:pt x="23" y="398"/>
                        <a:pt x="15" y="334"/>
                      </a:cubicBezTo>
                      <a:cubicBezTo>
                        <a:pt x="14" y="328"/>
                        <a:pt x="8" y="312"/>
                        <a:pt x="8" y="318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8" name="Freeform 9"/>
                <p:cNvSpPr/>
                <p:nvPr/>
              </p:nvSpPr>
              <p:spPr bwMode="auto">
                <a:xfrm>
                  <a:off x="3891" y="1703"/>
                  <a:ext cx="797" cy="534"/>
                </a:xfrm>
                <a:custGeom>
                  <a:avLst/>
                  <a:gdLst>
                    <a:gd name="T0" fmla="*/ 55 w 797"/>
                    <a:gd name="T1" fmla="*/ 534 h 534"/>
                    <a:gd name="T2" fmla="*/ 11 w 797"/>
                    <a:gd name="T3" fmla="*/ 476 h 534"/>
                    <a:gd name="T4" fmla="*/ 17 w 797"/>
                    <a:gd name="T5" fmla="*/ 352 h 534"/>
                    <a:gd name="T6" fmla="*/ 106 w 797"/>
                    <a:gd name="T7" fmla="*/ 263 h 534"/>
                    <a:gd name="T8" fmla="*/ 333 w 797"/>
                    <a:gd name="T9" fmla="*/ 65 h 534"/>
                    <a:gd name="T10" fmla="*/ 416 w 797"/>
                    <a:gd name="T11" fmla="*/ 17 h 534"/>
                    <a:gd name="T12" fmla="*/ 702 w 797"/>
                    <a:gd name="T13" fmla="*/ 27 h 534"/>
                    <a:gd name="T14" fmla="*/ 747 w 797"/>
                    <a:gd name="T15" fmla="*/ 56 h 534"/>
                    <a:gd name="T16" fmla="*/ 785 w 797"/>
                    <a:gd name="T17" fmla="*/ 97 h 534"/>
                    <a:gd name="T18" fmla="*/ 788 w 797"/>
                    <a:gd name="T19" fmla="*/ 202 h 534"/>
                    <a:gd name="T20" fmla="*/ 757 w 797"/>
                    <a:gd name="T21" fmla="*/ 295 h 534"/>
                    <a:gd name="T22" fmla="*/ 632 w 797"/>
                    <a:gd name="T23" fmla="*/ 438 h 534"/>
                    <a:gd name="T24" fmla="*/ 559 w 797"/>
                    <a:gd name="T25" fmla="*/ 435 h 534"/>
                    <a:gd name="T26" fmla="*/ 486 w 797"/>
                    <a:gd name="T27" fmla="*/ 400 h 534"/>
                    <a:gd name="T28" fmla="*/ 473 w 797"/>
                    <a:gd name="T29" fmla="*/ 394 h 534"/>
                    <a:gd name="T30" fmla="*/ 365 w 797"/>
                    <a:gd name="T31" fmla="*/ 416 h 534"/>
                    <a:gd name="T32" fmla="*/ 279 w 797"/>
                    <a:gd name="T33" fmla="*/ 473 h 534"/>
                    <a:gd name="T34" fmla="*/ 141 w 797"/>
                    <a:gd name="T35" fmla="*/ 511 h 534"/>
                    <a:gd name="T36" fmla="*/ 71 w 797"/>
                    <a:gd name="T37" fmla="*/ 524 h 534"/>
                    <a:gd name="T38" fmla="*/ 55 w 797"/>
                    <a:gd name="T39" fmla="*/ 534 h 534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797" h="534">
                      <a:moveTo>
                        <a:pt x="55" y="534"/>
                      </a:moveTo>
                      <a:cubicBezTo>
                        <a:pt x="40" y="513"/>
                        <a:pt x="23" y="498"/>
                        <a:pt x="11" y="476"/>
                      </a:cubicBezTo>
                      <a:cubicBezTo>
                        <a:pt x="5" y="435"/>
                        <a:pt x="0" y="390"/>
                        <a:pt x="17" y="352"/>
                      </a:cubicBezTo>
                      <a:cubicBezTo>
                        <a:pt x="35" y="308"/>
                        <a:pt x="75" y="293"/>
                        <a:pt x="106" y="263"/>
                      </a:cubicBezTo>
                      <a:cubicBezTo>
                        <a:pt x="175" y="193"/>
                        <a:pt x="242" y="106"/>
                        <a:pt x="333" y="65"/>
                      </a:cubicBezTo>
                      <a:cubicBezTo>
                        <a:pt x="359" y="38"/>
                        <a:pt x="379" y="25"/>
                        <a:pt x="416" y="17"/>
                      </a:cubicBezTo>
                      <a:cubicBezTo>
                        <a:pt x="452" y="17"/>
                        <a:pt x="617" y="5"/>
                        <a:pt x="702" y="27"/>
                      </a:cubicBezTo>
                      <a:cubicBezTo>
                        <a:pt x="743" y="59"/>
                        <a:pt x="666" y="0"/>
                        <a:pt x="747" y="56"/>
                      </a:cubicBezTo>
                      <a:cubicBezTo>
                        <a:pt x="762" y="66"/>
                        <a:pt x="771" y="83"/>
                        <a:pt x="785" y="97"/>
                      </a:cubicBezTo>
                      <a:cubicBezTo>
                        <a:pt x="797" y="137"/>
                        <a:pt x="795" y="135"/>
                        <a:pt x="788" y="202"/>
                      </a:cubicBezTo>
                      <a:cubicBezTo>
                        <a:pt x="784" y="232"/>
                        <a:pt x="766" y="265"/>
                        <a:pt x="757" y="295"/>
                      </a:cubicBezTo>
                      <a:cubicBezTo>
                        <a:pt x="735" y="362"/>
                        <a:pt x="715" y="427"/>
                        <a:pt x="632" y="438"/>
                      </a:cubicBezTo>
                      <a:cubicBezTo>
                        <a:pt x="607" y="437"/>
                        <a:pt x="582" y="441"/>
                        <a:pt x="559" y="435"/>
                      </a:cubicBezTo>
                      <a:cubicBezTo>
                        <a:pt x="532" y="428"/>
                        <a:pt x="510" y="411"/>
                        <a:pt x="486" y="400"/>
                      </a:cubicBezTo>
                      <a:cubicBezTo>
                        <a:pt x="481" y="397"/>
                        <a:pt x="473" y="394"/>
                        <a:pt x="473" y="394"/>
                      </a:cubicBezTo>
                      <a:cubicBezTo>
                        <a:pt x="438" y="399"/>
                        <a:pt x="397" y="401"/>
                        <a:pt x="365" y="416"/>
                      </a:cubicBezTo>
                      <a:cubicBezTo>
                        <a:pt x="334" y="429"/>
                        <a:pt x="308" y="456"/>
                        <a:pt x="279" y="473"/>
                      </a:cubicBezTo>
                      <a:cubicBezTo>
                        <a:pt x="234" y="496"/>
                        <a:pt x="190" y="507"/>
                        <a:pt x="141" y="511"/>
                      </a:cubicBezTo>
                      <a:cubicBezTo>
                        <a:pt x="117" y="515"/>
                        <a:pt x="94" y="520"/>
                        <a:pt x="71" y="524"/>
                      </a:cubicBezTo>
                      <a:cubicBezTo>
                        <a:pt x="67" y="526"/>
                        <a:pt x="48" y="534"/>
                        <a:pt x="55" y="534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9" name="Freeform 10"/>
                <p:cNvSpPr/>
                <p:nvPr/>
              </p:nvSpPr>
              <p:spPr bwMode="auto">
                <a:xfrm>
                  <a:off x="3874" y="2045"/>
                  <a:ext cx="737" cy="435"/>
                </a:xfrm>
                <a:custGeom>
                  <a:avLst/>
                  <a:gdLst>
                    <a:gd name="T0" fmla="*/ 55 w 748"/>
                    <a:gd name="T1" fmla="*/ 298 h 596"/>
                    <a:gd name="T2" fmla="*/ 8 w 748"/>
                    <a:gd name="T3" fmla="*/ 226 h 596"/>
                    <a:gd name="T4" fmla="*/ 30 w 748"/>
                    <a:gd name="T5" fmla="*/ 121 h 596"/>
                    <a:gd name="T6" fmla="*/ 124 w 748"/>
                    <a:gd name="T7" fmla="*/ 79 h 596"/>
                    <a:gd name="T8" fmla="*/ 366 w 748"/>
                    <a:gd name="T9" fmla="*/ 47 h 596"/>
                    <a:gd name="T10" fmla="*/ 435 w 748"/>
                    <a:gd name="T11" fmla="*/ 30 h 596"/>
                    <a:gd name="T12" fmla="*/ 510 w 748"/>
                    <a:gd name="T13" fmla="*/ 7 h 596"/>
                    <a:gd name="T14" fmla="*/ 677 w 748"/>
                    <a:gd name="T15" fmla="*/ 39 h 596"/>
                    <a:gd name="T16" fmla="*/ 717 w 748"/>
                    <a:gd name="T17" fmla="*/ 112 h 596"/>
                    <a:gd name="T18" fmla="*/ 724 w 748"/>
                    <a:gd name="T19" fmla="*/ 144 h 596"/>
                    <a:gd name="T20" fmla="*/ 633 w 748"/>
                    <a:gd name="T21" fmla="*/ 374 h 596"/>
                    <a:gd name="T22" fmla="*/ 570 w 748"/>
                    <a:gd name="T23" fmla="*/ 400 h 596"/>
                    <a:gd name="T24" fmla="*/ 457 w 748"/>
                    <a:gd name="T25" fmla="*/ 433 h 596"/>
                    <a:gd name="T26" fmla="*/ 272 w 748"/>
                    <a:gd name="T27" fmla="*/ 426 h 596"/>
                    <a:gd name="T28" fmla="*/ 243 w 748"/>
                    <a:gd name="T29" fmla="*/ 412 h 596"/>
                    <a:gd name="T30" fmla="*/ 127 w 748"/>
                    <a:gd name="T31" fmla="*/ 349 h 596"/>
                    <a:gd name="T32" fmla="*/ 71 w 748"/>
                    <a:gd name="T33" fmla="*/ 316 h 596"/>
                    <a:gd name="T34" fmla="*/ 55 w 748"/>
                    <a:gd name="T35" fmla="*/ 298 h 59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48" h="596">
                      <a:moveTo>
                        <a:pt x="56" y="408"/>
                      </a:moveTo>
                      <a:cubicBezTo>
                        <a:pt x="34" y="373"/>
                        <a:pt x="13" y="348"/>
                        <a:pt x="8" y="309"/>
                      </a:cubicBezTo>
                      <a:cubicBezTo>
                        <a:pt x="10" y="259"/>
                        <a:pt x="0" y="208"/>
                        <a:pt x="30" y="166"/>
                      </a:cubicBezTo>
                      <a:cubicBezTo>
                        <a:pt x="53" y="132"/>
                        <a:pt x="90" y="124"/>
                        <a:pt x="126" y="108"/>
                      </a:cubicBezTo>
                      <a:cubicBezTo>
                        <a:pt x="204" y="71"/>
                        <a:pt x="284" y="66"/>
                        <a:pt x="371" y="64"/>
                      </a:cubicBezTo>
                      <a:cubicBezTo>
                        <a:pt x="394" y="56"/>
                        <a:pt x="416" y="45"/>
                        <a:pt x="441" y="41"/>
                      </a:cubicBezTo>
                      <a:cubicBezTo>
                        <a:pt x="466" y="25"/>
                        <a:pt x="488" y="14"/>
                        <a:pt x="518" y="9"/>
                      </a:cubicBezTo>
                      <a:cubicBezTo>
                        <a:pt x="609" y="14"/>
                        <a:pt x="633" y="0"/>
                        <a:pt x="687" y="54"/>
                      </a:cubicBezTo>
                      <a:cubicBezTo>
                        <a:pt x="700" y="85"/>
                        <a:pt x="720" y="119"/>
                        <a:pt x="728" y="153"/>
                      </a:cubicBezTo>
                      <a:cubicBezTo>
                        <a:pt x="731" y="167"/>
                        <a:pt x="735" y="197"/>
                        <a:pt x="735" y="197"/>
                      </a:cubicBezTo>
                      <a:cubicBezTo>
                        <a:pt x="733" y="267"/>
                        <a:pt x="748" y="473"/>
                        <a:pt x="642" y="513"/>
                      </a:cubicBezTo>
                      <a:cubicBezTo>
                        <a:pt x="618" y="521"/>
                        <a:pt x="600" y="536"/>
                        <a:pt x="578" y="548"/>
                      </a:cubicBezTo>
                      <a:cubicBezTo>
                        <a:pt x="560" y="577"/>
                        <a:pt x="497" y="585"/>
                        <a:pt x="464" y="593"/>
                      </a:cubicBezTo>
                      <a:cubicBezTo>
                        <a:pt x="401" y="590"/>
                        <a:pt x="337" y="596"/>
                        <a:pt x="276" y="583"/>
                      </a:cubicBezTo>
                      <a:cubicBezTo>
                        <a:pt x="260" y="579"/>
                        <a:pt x="261" y="572"/>
                        <a:pt x="247" y="564"/>
                      </a:cubicBezTo>
                      <a:cubicBezTo>
                        <a:pt x="200" y="537"/>
                        <a:pt x="168" y="513"/>
                        <a:pt x="129" y="478"/>
                      </a:cubicBezTo>
                      <a:cubicBezTo>
                        <a:pt x="121" y="453"/>
                        <a:pt x="90" y="449"/>
                        <a:pt x="72" y="433"/>
                      </a:cubicBezTo>
                      <a:cubicBezTo>
                        <a:pt x="63" y="425"/>
                        <a:pt x="42" y="413"/>
                        <a:pt x="56" y="408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0" name="Freeform 11"/>
                <p:cNvSpPr/>
                <p:nvPr/>
              </p:nvSpPr>
              <p:spPr bwMode="auto">
                <a:xfrm>
                  <a:off x="4035" y="1418"/>
                  <a:ext cx="657" cy="435"/>
                </a:xfrm>
                <a:custGeom>
                  <a:avLst/>
                  <a:gdLst>
                    <a:gd name="T0" fmla="*/ 49 w 748"/>
                    <a:gd name="T1" fmla="*/ 298 h 596"/>
                    <a:gd name="T2" fmla="*/ 7 w 748"/>
                    <a:gd name="T3" fmla="*/ 226 h 596"/>
                    <a:gd name="T4" fmla="*/ 26 w 748"/>
                    <a:gd name="T5" fmla="*/ 121 h 596"/>
                    <a:gd name="T6" fmla="*/ 111 w 748"/>
                    <a:gd name="T7" fmla="*/ 79 h 596"/>
                    <a:gd name="T8" fmla="*/ 326 w 748"/>
                    <a:gd name="T9" fmla="*/ 47 h 596"/>
                    <a:gd name="T10" fmla="*/ 387 w 748"/>
                    <a:gd name="T11" fmla="*/ 30 h 596"/>
                    <a:gd name="T12" fmla="*/ 455 w 748"/>
                    <a:gd name="T13" fmla="*/ 7 h 596"/>
                    <a:gd name="T14" fmla="*/ 603 w 748"/>
                    <a:gd name="T15" fmla="*/ 39 h 596"/>
                    <a:gd name="T16" fmla="*/ 639 w 748"/>
                    <a:gd name="T17" fmla="*/ 112 h 596"/>
                    <a:gd name="T18" fmla="*/ 646 w 748"/>
                    <a:gd name="T19" fmla="*/ 144 h 596"/>
                    <a:gd name="T20" fmla="*/ 564 w 748"/>
                    <a:gd name="T21" fmla="*/ 374 h 596"/>
                    <a:gd name="T22" fmla="*/ 508 w 748"/>
                    <a:gd name="T23" fmla="*/ 400 h 596"/>
                    <a:gd name="T24" fmla="*/ 408 w 748"/>
                    <a:gd name="T25" fmla="*/ 433 h 596"/>
                    <a:gd name="T26" fmla="*/ 242 w 748"/>
                    <a:gd name="T27" fmla="*/ 426 h 596"/>
                    <a:gd name="T28" fmla="*/ 217 w 748"/>
                    <a:gd name="T29" fmla="*/ 412 h 596"/>
                    <a:gd name="T30" fmla="*/ 113 w 748"/>
                    <a:gd name="T31" fmla="*/ 349 h 596"/>
                    <a:gd name="T32" fmla="*/ 63 w 748"/>
                    <a:gd name="T33" fmla="*/ 316 h 596"/>
                    <a:gd name="T34" fmla="*/ 49 w 748"/>
                    <a:gd name="T35" fmla="*/ 298 h 59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48" h="596">
                      <a:moveTo>
                        <a:pt x="56" y="408"/>
                      </a:moveTo>
                      <a:cubicBezTo>
                        <a:pt x="34" y="373"/>
                        <a:pt x="13" y="348"/>
                        <a:pt x="8" y="309"/>
                      </a:cubicBezTo>
                      <a:cubicBezTo>
                        <a:pt x="10" y="259"/>
                        <a:pt x="0" y="208"/>
                        <a:pt x="30" y="166"/>
                      </a:cubicBezTo>
                      <a:cubicBezTo>
                        <a:pt x="53" y="132"/>
                        <a:pt x="90" y="124"/>
                        <a:pt x="126" y="108"/>
                      </a:cubicBezTo>
                      <a:cubicBezTo>
                        <a:pt x="204" y="71"/>
                        <a:pt x="284" y="66"/>
                        <a:pt x="371" y="64"/>
                      </a:cubicBezTo>
                      <a:cubicBezTo>
                        <a:pt x="394" y="56"/>
                        <a:pt x="416" y="45"/>
                        <a:pt x="441" y="41"/>
                      </a:cubicBezTo>
                      <a:cubicBezTo>
                        <a:pt x="466" y="25"/>
                        <a:pt x="488" y="14"/>
                        <a:pt x="518" y="9"/>
                      </a:cubicBezTo>
                      <a:cubicBezTo>
                        <a:pt x="609" y="14"/>
                        <a:pt x="633" y="0"/>
                        <a:pt x="687" y="54"/>
                      </a:cubicBezTo>
                      <a:cubicBezTo>
                        <a:pt x="700" y="85"/>
                        <a:pt x="720" y="119"/>
                        <a:pt x="728" y="153"/>
                      </a:cubicBezTo>
                      <a:cubicBezTo>
                        <a:pt x="731" y="167"/>
                        <a:pt x="735" y="197"/>
                        <a:pt x="735" y="197"/>
                      </a:cubicBezTo>
                      <a:cubicBezTo>
                        <a:pt x="733" y="267"/>
                        <a:pt x="748" y="473"/>
                        <a:pt x="642" y="513"/>
                      </a:cubicBezTo>
                      <a:cubicBezTo>
                        <a:pt x="618" y="521"/>
                        <a:pt x="600" y="536"/>
                        <a:pt x="578" y="548"/>
                      </a:cubicBezTo>
                      <a:cubicBezTo>
                        <a:pt x="560" y="577"/>
                        <a:pt x="497" y="585"/>
                        <a:pt x="464" y="593"/>
                      </a:cubicBezTo>
                      <a:cubicBezTo>
                        <a:pt x="401" y="590"/>
                        <a:pt x="337" y="596"/>
                        <a:pt x="276" y="583"/>
                      </a:cubicBezTo>
                      <a:cubicBezTo>
                        <a:pt x="260" y="579"/>
                        <a:pt x="261" y="572"/>
                        <a:pt x="247" y="564"/>
                      </a:cubicBezTo>
                      <a:cubicBezTo>
                        <a:pt x="200" y="537"/>
                        <a:pt x="168" y="513"/>
                        <a:pt x="129" y="478"/>
                      </a:cubicBezTo>
                      <a:cubicBezTo>
                        <a:pt x="121" y="453"/>
                        <a:pt x="90" y="449"/>
                        <a:pt x="72" y="433"/>
                      </a:cubicBezTo>
                      <a:cubicBezTo>
                        <a:pt x="63" y="425"/>
                        <a:pt x="42" y="413"/>
                        <a:pt x="56" y="408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1" name="Freeform 12"/>
                <p:cNvSpPr/>
                <p:nvPr/>
              </p:nvSpPr>
              <p:spPr bwMode="auto">
                <a:xfrm>
                  <a:off x="3546" y="1949"/>
                  <a:ext cx="585" cy="643"/>
                </a:xfrm>
                <a:custGeom>
                  <a:avLst/>
                  <a:gdLst>
                    <a:gd name="T0" fmla="*/ 91 w 585"/>
                    <a:gd name="T1" fmla="*/ 575 h 541"/>
                    <a:gd name="T2" fmla="*/ 8 w 585"/>
                    <a:gd name="T3" fmla="*/ 431 h 541"/>
                    <a:gd name="T4" fmla="*/ 8 w 585"/>
                    <a:gd name="T5" fmla="*/ 272 h 541"/>
                    <a:gd name="T6" fmla="*/ 34 w 585"/>
                    <a:gd name="T7" fmla="*/ 215 h 541"/>
                    <a:gd name="T8" fmla="*/ 168 w 585"/>
                    <a:gd name="T9" fmla="*/ 80 h 541"/>
                    <a:gd name="T10" fmla="*/ 349 w 585"/>
                    <a:gd name="T11" fmla="*/ 23 h 541"/>
                    <a:gd name="T12" fmla="*/ 474 w 585"/>
                    <a:gd name="T13" fmla="*/ 30 h 541"/>
                    <a:gd name="T14" fmla="*/ 525 w 585"/>
                    <a:gd name="T15" fmla="*/ 102 h 541"/>
                    <a:gd name="T16" fmla="*/ 557 w 585"/>
                    <a:gd name="T17" fmla="*/ 182 h 541"/>
                    <a:gd name="T18" fmla="*/ 572 w 585"/>
                    <a:gd name="T19" fmla="*/ 227 h 541"/>
                    <a:gd name="T20" fmla="*/ 582 w 585"/>
                    <a:gd name="T21" fmla="*/ 295 h 541"/>
                    <a:gd name="T22" fmla="*/ 563 w 585"/>
                    <a:gd name="T23" fmla="*/ 496 h 541"/>
                    <a:gd name="T24" fmla="*/ 496 w 585"/>
                    <a:gd name="T25" fmla="*/ 587 h 541"/>
                    <a:gd name="T26" fmla="*/ 439 w 585"/>
                    <a:gd name="T27" fmla="*/ 620 h 541"/>
                    <a:gd name="T28" fmla="*/ 317 w 585"/>
                    <a:gd name="T29" fmla="*/ 639 h 541"/>
                    <a:gd name="T30" fmla="*/ 184 w 585"/>
                    <a:gd name="T31" fmla="*/ 632 h 541"/>
                    <a:gd name="T32" fmla="*/ 139 w 585"/>
                    <a:gd name="T33" fmla="*/ 617 h 541"/>
                    <a:gd name="T34" fmla="*/ 114 w 585"/>
                    <a:gd name="T35" fmla="*/ 591 h 541"/>
                    <a:gd name="T36" fmla="*/ 91 w 585"/>
                    <a:gd name="T37" fmla="*/ 575 h 54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585" h="541">
                      <a:moveTo>
                        <a:pt x="91" y="484"/>
                      </a:moveTo>
                      <a:cubicBezTo>
                        <a:pt x="55" y="446"/>
                        <a:pt x="38" y="403"/>
                        <a:pt x="8" y="363"/>
                      </a:cubicBezTo>
                      <a:cubicBezTo>
                        <a:pt x="2" y="311"/>
                        <a:pt x="0" y="300"/>
                        <a:pt x="8" y="229"/>
                      </a:cubicBezTo>
                      <a:cubicBezTo>
                        <a:pt x="9" y="216"/>
                        <a:pt x="27" y="192"/>
                        <a:pt x="34" y="181"/>
                      </a:cubicBezTo>
                      <a:cubicBezTo>
                        <a:pt x="61" y="133"/>
                        <a:pt x="114" y="83"/>
                        <a:pt x="168" y="67"/>
                      </a:cubicBezTo>
                      <a:cubicBezTo>
                        <a:pt x="206" y="35"/>
                        <a:pt x="298" y="23"/>
                        <a:pt x="349" y="19"/>
                      </a:cubicBezTo>
                      <a:cubicBezTo>
                        <a:pt x="390" y="20"/>
                        <a:pt x="440" y="0"/>
                        <a:pt x="474" y="25"/>
                      </a:cubicBezTo>
                      <a:cubicBezTo>
                        <a:pt x="504" y="47"/>
                        <a:pt x="502" y="63"/>
                        <a:pt x="525" y="86"/>
                      </a:cubicBezTo>
                      <a:cubicBezTo>
                        <a:pt x="530" y="112"/>
                        <a:pt x="539" y="131"/>
                        <a:pt x="557" y="153"/>
                      </a:cubicBezTo>
                      <a:cubicBezTo>
                        <a:pt x="561" y="166"/>
                        <a:pt x="569" y="177"/>
                        <a:pt x="572" y="191"/>
                      </a:cubicBezTo>
                      <a:cubicBezTo>
                        <a:pt x="575" y="209"/>
                        <a:pt x="575" y="229"/>
                        <a:pt x="582" y="248"/>
                      </a:cubicBezTo>
                      <a:cubicBezTo>
                        <a:pt x="579" y="287"/>
                        <a:pt x="585" y="367"/>
                        <a:pt x="563" y="417"/>
                      </a:cubicBezTo>
                      <a:cubicBezTo>
                        <a:pt x="556" y="453"/>
                        <a:pt x="529" y="479"/>
                        <a:pt x="496" y="494"/>
                      </a:cubicBezTo>
                      <a:cubicBezTo>
                        <a:pt x="477" y="510"/>
                        <a:pt x="462" y="518"/>
                        <a:pt x="439" y="522"/>
                      </a:cubicBezTo>
                      <a:cubicBezTo>
                        <a:pt x="411" y="541"/>
                        <a:pt x="340" y="537"/>
                        <a:pt x="317" y="538"/>
                      </a:cubicBezTo>
                      <a:cubicBezTo>
                        <a:pt x="287" y="537"/>
                        <a:pt x="222" y="536"/>
                        <a:pt x="184" y="532"/>
                      </a:cubicBezTo>
                      <a:cubicBezTo>
                        <a:pt x="168" y="530"/>
                        <a:pt x="139" y="519"/>
                        <a:pt x="139" y="519"/>
                      </a:cubicBezTo>
                      <a:cubicBezTo>
                        <a:pt x="131" y="511"/>
                        <a:pt x="123" y="501"/>
                        <a:pt x="114" y="497"/>
                      </a:cubicBezTo>
                      <a:cubicBezTo>
                        <a:pt x="104" y="492"/>
                        <a:pt x="96" y="494"/>
                        <a:pt x="91" y="484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2" name="Freeform 13"/>
                <p:cNvSpPr/>
                <p:nvPr/>
              </p:nvSpPr>
              <p:spPr bwMode="auto">
                <a:xfrm>
                  <a:off x="3690" y="1682"/>
                  <a:ext cx="726" cy="883"/>
                </a:xfrm>
                <a:custGeom>
                  <a:avLst/>
                  <a:gdLst>
                    <a:gd name="T0" fmla="*/ 113 w 585"/>
                    <a:gd name="T1" fmla="*/ 790 h 541"/>
                    <a:gd name="T2" fmla="*/ 10 w 585"/>
                    <a:gd name="T3" fmla="*/ 592 h 541"/>
                    <a:gd name="T4" fmla="*/ 10 w 585"/>
                    <a:gd name="T5" fmla="*/ 374 h 541"/>
                    <a:gd name="T6" fmla="*/ 42 w 585"/>
                    <a:gd name="T7" fmla="*/ 295 h 541"/>
                    <a:gd name="T8" fmla="*/ 208 w 585"/>
                    <a:gd name="T9" fmla="*/ 109 h 541"/>
                    <a:gd name="T10" fmla="*/ 433 w 585"/>
                    <a:gd name="T11" fmla="*/ 31 h 541"/>
                    <a:gd name="T12" fmla="*/ 588 w 585"/>
                    <a:gd name="T13" fmla="*/ 41 h 541"/>
                    <a:gd name="T14" fmla="*/ 652 w 585"/>
                    <a:gd name="T15" fmla="*/ 140 h 541"/>
                    <a:gd name="T16" fmla="*/ 691 w 585"/>
                    <a:gd name="T17" fmla="*/ 250 h 541"/>
                    <a:gd name="T18" fmla="*/ 710 w 585"/>
                    <a:gd name="T19" fmla="*/ 312 h 541"/>
                    <a:gd name="T20" fmla="*/ 722 w 585"/>
                    <a:gd name="T21" fmla="*/ 405 h 541"/>
                    <a:gd name="T22" fmla="*/ 699 w 585"/>
                    <a:gd name="T23" fmla="*/ 681 h 541"/>
                    <a:gd name="T24" fmla="*/ 616 w 585"/>
                    <a:gd name="T25" fmla="*/ 806 h 541"/>
                    <a:gd name="T26" fmla="*/ 545 w 585"/>
                    <a:gd name="T27" fmla="*/ 852 h 541"/>
                    <a:gd name="T28" fmla="*/ 393 w 585"/>
                    <a:gd name="T29" fmla="*/ 878 h 541"/>
                    <a:gd name="T30" fmla="*/ 228 w 585"/>
                    <a:gd name="T31" fmla="*/ 868 h 541"/>
                    <a:gd name="T32" fmla="*/ 173 w 585"/>
                    <a:gd name="T33" fmla="*/ 847 h 541"/>
                    <a:gd name="T34" fmla="*/ 141 w 585"/>
                    <a:gd name="T35" fmla="*/ 811 h 541"/>
                    <a:gd name="T36" fmla="*/ 113 w 585"/>
                    <a:gd name="T37" fmla="*/ 790 h 54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585" h="541">
                      <a:moveTo>
                        <a:pt x="91" y="484"/>
                      </a:moveTo>
                      <a:cubicBezTo>
                        <a:pt x="55" y="446"/>
                        <a:pt x="38" y="403"/>
                        <a:pt x="8" y="363"/>
                      </a:cubicBezTo>
                      <a:cubicBezTo>
                        <a:pt x="2" y="311"/>
                        <a:pt x="0" y="300"/>
                        <a:pt x="8" y="229"/>
                      </a:cubicBezTo>
                      <a:cubicBezTo>
                        <a:pt x="9" y="216"/>
                        <a:pt x="27" y="192"/>
                        <a:pt x="34" y="181"/>
                      </a:cubicBezTo>
                      <a:cubicBezTo>
                        <a:pt x="61" y="133"/>
                        <a:pt x="114" y="83"/>
                        <a:pt x="168" y="67"/>
                      </a:cubicBezTo>
                      <a:cubicBezTo>
                        <a:pt x="206" y="35"/>
                        <a:pt x="298" y="23"/>
                        <a:pt x="349" y="19"/>
                      </a:cubicBezTo>
                      <a:cubicBezTo>
                        <a:pt x="390" y="20"/>
                        <a:pt x="440" y="0"/>
                        <a:pt x="474" y="25"/>
                      </a:cubicBezTo>
                      <a:cubicBezTo>
                        <a:pt x="504" y="47"/>
                        <a:pt x="502" y="63"/>
                        <a:pt x="525" y="86"/>
                      </a:cubicBezTo>
                      <a:cubicBezTo>
                        <a:pt x="530" y="112"/>
                        <a:pt x="539" y="131"/>
                        <a:pt x="557" y="153"/>
                      </a:cubicBezTo>
                      <a:cubicBezTo>
                        <a:pt x="561" y="166"/>
                        <a:pt x="569" y="177"/>
                        <a:pt x="572" y="191"/>
                      </a:cubicBezTo>
                      <a:cubicBezTo>
                        <a:pt x="575" y="209"/>
                        <a:pt x="575" y="229"/>
                        <a:pt x="582" y="248"/>
                      </a:cubicBezTo>
                      <a:cubicBezTo>
                        <a:pt x="579" y="287"/>
                        <a:pt x="585" y="367"/>
                        <a:pt x="563" y="417"/>
                      </a:cubicBezTo>
                      <a:cubicBezTo>
                        <a:pt x="556" y="453"/>
                        <a:pt x="529" y="479"/>
                        <a:pt x="496" y="494"/>
                      </a:cubicBezTo>
                      <a:cubicBezTo>
                        <a:pt x="477" y="510"/>
                        <a:pt x="462" y="518"/>
                        <a:pt x="439" y="522"/>
                      </a:cubicBezTo>
                      <a:cubicBezTo>
                        <a:pt x="411" y="541"/>
                        <a:pt x="340" y="537"/>
                        <a:pt x="317" y="538"/>
                      </a:cubicBezTo>
                      <a:cubicBezTo>
                        <a:pt x="287" y="537"/>
                        <a:pt x="222" y="536"/>
                        <a:pt x="184" y="532"/>
                      </a:cubicBezTo>
                      <a:cubicBezTo>
                        <a:pt x="168" y="530"/>
                        <a:pt x="139" y="519"/>
                        <a:pt x="139" y="519"/>
                      </a:cubicBezTo>
                      <a:cubicBezTo>
                        <a:pt x="131" y="511"/>
                        <a:pt x="123" y="501"/>
                        <a:pt x="114" y="497"/>
                      </a:cubicBezTo>
                      <a:cubicBezTo>
                        <a:pt x="104" y="492"/>
                        <a:pt x="96" y="494"/>
                        <a:pt x="91" y="484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3" name="Freeform 14"/>
                <p:cNvSpPr/>
                <p:nvPr/>
              </p:nvSpPr>
              <p:spPr bwMode="auto">
                <a:xfrm rot="-3568751">
                  <a:off x="3094" y="1205"/>
                  <a:ext cx="764" cy="955"/>
                </a:xfrm>
                <a:custGeom>
                  <a:avLst/>
                  <a:gdLst>
                    <a:gd name="T0" fmla="*/ 119 w 585"/>
                    <a:gd name="T1" fmla="*/ 854 h 541"/>
                    <a:gd name="T2" fmla="*/ 10 w 585"/>
                    <a:gd name="T3" fmla="*/ 641 h 541"/>
                    <a:gd name="T4" fmla="*/ 10 w 585"/>
                    <a:gd name="T5" fmla="*/ 404 h 541"/>
                    <a:gd name="T6" fmla="*/ 44 w 585"/>
                    <a:gd name="T7" fmla="*/ 320 h 541"/>
                    <a:gd name="T8" fmla="*/ 219 w 585"/>
                    <a:gd name="T9" fmla="*/ 118 h 541"/>
                    <a:gd name="T10" fmla="*/ 456 w 585"/>
                    <a:gd name="T11" fmla="*/ 34 h 541"/>
                    <a:gd name="T12" fmla="*/ 619 w 585"/>
                    <a:gd name="T13" fmla="*/ 44 h 541"/>
                    <a:gd name="T14" fmla="*/ 686 w 585"/>
                    <a:gd name="T15" fmla="*/ 152 h 541"/>
                    <a:gd name="T16" fmla="*/ 727 w 585"/>
                    <a:gd name="T17" fmla="*/ 270 h 541"/>
                    <a:gd name="T18" fmla="*/ 747 w 585"/>
                    <a:gd name="T19" fmla="*/ 337 h 541"/>
                    <a:gd name="T20" fmla="*/ 760 w 585"/>
                    <a:gd name="T21" fmla="*/ 438 h 541"/>
                    <a:gd name="T22" fmla="*/ 735 w 585"/>
                    <a:gd name="T23" fmla="*/ 736 h 541"/>
                    <a:gd name="T24" fmla="*/ 648 w 585"/>
                    <a:gd name="T25" fmla="*/ 872 h 541"/>
                    <a:gd name="T26" fmla="*/ 573 w 585"/>
                    <a:gd name="T27" fmla="*/ 921 h 541"/>
                    <a:gd name="T28" fmla="*/ 414 w 585"/>
                    <a:gd name="T29" fmla="*/ 950 h 541"/>
                    <a:gd name="T30" fmla="*/ 240 w 585"/>
                    <a:gd name="T31" fmla="*/ 939 h 541"/>
                    <a:gd name="T32" fmla="*/ 182 w 585"/>
                    <a:gd name="T33" fmla="*/ 916 h 541"/>
                    <a:gd name="T34" fmla="*/ 149 w 585"/>
                    <a:gd name="T35" fmla="*/ 877 h 541"/>
                    <a:gd name="T36" fmla="*/ 119 w 585"/>
                    <a:gd name="T37" fmla="*/ 854 h 54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585" h="541">
                      <a:moveTo>
                        <a:pt x="91" y="484"/>
                      </a:moveTo>
                      <a:cubicBezTo>
                        <a:pt x="55" y="446"/>
                        <a:pt x="38" y="403"/>
                        <a:pt x="8" y="363"/>
                      </a:cubicBezTo>
                      <a:cubicBezTo>
                        <a:pt x="2" y="311"/>
                        <a:pt x="0" y="300"/>
                        <a:pt x="8" y="229"/>
                      </a:cubicBezTo>
                      <a:cubicBezTo>
                        <a:pt x="9" y="216"/>
                        <a:pt x="27" y="192"/>
                        <a:pt x="34" y="181"/>
                      </a:cubicBezTo>
                      <a:cubicBezTo>
                        <a:pt x="61" y="133"/>
                        <a:pt x="114" y="83"/>
                        <a:pt x="168" y="67"/>
                      </a:cubicBezTo>
                      <a:cubicBezTo>
                        <a:pt x="206" y="35"/>
                        <a:pt x="298" y="23"/>
                        <a:pt x="349" y="19"/>
                      </a:cubicBezTo>
                      <a:cubicBezTo>
                        <a:pt x="390" y="20"/>
                        <a:pt x="440" y="0"/>
                        <a:pt x="474" y="25"/>
                      </a:cubicBezTo>
                      <a:cubicBezTo>
                        <a:pt x="504" y="47"/>
                        <a:pt x="502" y="63"/>
                        <a:pt x="525" y="86"/>
                      </a:cubicBezTo>
                      <a:cubicBezTo>
                        <a:pt x="530" y="112"/>
                        <a:pt x="539" y="131"/>
                        <a:pt x="557" y="153"/>
                      </a:cubicBezTo>
                      <a:cubicBezTo>
                        <a:pt x="561" y="166"/>
                        <a:pt x="569" y="177"/>
                        <a:pt x="572" y="191"/>
                      </a:cubicBezTo>
                      <a:cubicBezTo>
                        <a:pt x="575" y="209"/>
                        <a:pt x="575" y="229"/>
                        <a:pt x="582" y="248"/>
                      </a:cubicBezTo>
                      <a:cubicBezTo>
                        <a:pt x="579" y="287"/>
                        <a:pt x="585" y="367"/>
                        <a:pt x="563" y="417"/>
                      </a:cubicBezTo>
                      <a:cubicBezTo>
                        <a:pt x="556" y="453"/>
                        <a:pt x="529" y="479"/>
                        <a:pt x="496" y="494"/>
                      </a:cubicBezTo>
                      <a:cubicBezTo>
                        <a:pt x="477" y="510"/>
                        <a:pt x="462" y="518"/>
                        <a:pt x="439" y="522"/>
                      </a:cubicBezTo>
                      <a:cubicBezTo>
                        <a:pt x="411" y="541"/>
                        <a:pt x="340" y="537"/>
                        <a:pt x="317" y="538"/>
                      </a:cubicBezTo>
                      <a:cubicBezTo>
                        <a:pt x="287" y="537"/>
                        <a:pt x="222" y="536"/>
                        <a:pt x="184" y="532"/>
                      </a:cubicBezTo>
                      <a:cubicBezTo>
                        <a:pt x="168" y="530"/>
                        <a:pt x="139" y="519"/>
                        <a:pt x="139" y="519"/>
                      </a:cubicBezTo>
                      <a:cubicBezTo>
                        <a:pt x="131" y="511"/>
                        <a:pt x="123" y="501"/>
                        <a:pt x="114" y="497"/>
                      </a:cubicBezTo>
                      <a:cubicBezTo>
                        <a:pt x="104" y="492"/>
                        <a:pt x="96" y="494"/>
                        <a:pt x="91" y="484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4" name="Freeform 15"/>
                <p:cNvSpPr/>
                <p:nvPr/>
              </p:nvSpPr>
              <p:spPr bwMode="auto">
                <a:xfrm rot="-9205815">
                  <a:off x="3103" y="2032"/>
                  <a:ext cx="722" cy="713"/>
                </a:xfrm>
                <a:custGeom>
                  <a:avLst/>
                  <a:gdLst>
                    <a:gd name="T0" fmla="*/ 9 w 652"/>
                    <a:gd name="T1" fmla="*/ 495 h 458"/>
                    <a:gd name="T2" fmla="*/ 34 w 652"/>
                    <a:gd name="T3" fmla="*/ 216 h 458"/>
                    <a:gd name="T4" fmla="*/ 133 w 652"/>
                    <a:gd name="T5" fmla="*/ 128 h 458"/>
                    <a:gd name="T6" fmla="*/ 433 w 652"/>
                    <a:gd name="T7" fmla="*/ 8 h 458"/>
                    <a:gd name="T8" fmla="*/ 609 w 652"/>
                    <a:gd name="T9" fmla="*/ 44 h 458"/>
                    <a:gd name="T10" fmla="*/ 669 w 652"/>
                    <a:gd name="T11" fmla="*/ 103 h 458"/>
                    <a:gd name="T12" fmla="*/ 722 w 652"/>
                    <a:gd name="T13" fmla="*/ 305 h 458"/>
                    <a:gd name="T14" fmla="*/ 719 w 652"/>
                    <a:gd name="T15" fmla="*/ 434 h 458"/>
                    <a:gd name="T16" fmla="*/ 493 w 652"/>
                    <a:gd name="T17" fmla="*/ 713 h 458"/>
                    <a:gd name="T18" fmla="*/ 333 w 652"/>
                    <a:gd name="T19" fmla="*/ 708 h 458"/>
                    <a:gd name="T20" fmla="*/ 91 w 652"/>
                    <a:gd name="T21" fmla="*/ 643 h 458"/>
                    <a:gd name="T22" fmla="*/ 23 w 652"/>
                    <a:gd name="T23" fmla="*/ 604 h 458"/>
                    <a:gd name="T24" fmla="*/ 17 w 652"/>
                    <a:gd name="T25" fmla="*/ 520 h 458"/>
                    <a:gd name="T26" fmla="*/ 9 w 652"/>
                    <a:gd name="T27" fmla="*/ 495 h 45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652" h="458">
                      <a:moveTo>
                        <a:pt x="8" y="318"/>
                      </a:moveTo>
                      <a:cubicBezTo>
                        <a:pt x="8" y="310"/>
                        <a:pt x="0" y="176"/>
                        <a:pt x="31" y="139"/>
                      </a:cubicBezTo>
                      <a:cubicBezTo>
                        <a:pt x="51" y="113"/>
                        <a:pt x="90" y="96"/>
                        <a:pt x="120" y="82"/>
                      </a:cubicBezTo>
                      <a:cubicBezTo>
                        <a:pt x="206" y="38"/>
                        <a:pt x="294" y="11"/>
                        <a:pt x="391" y="5"/>
                      </a:cubicBezTo>
                      <a:cubicBezTo>
                        <a:pt x="439" y="6"/>
                        <a:pt x="504" y="0"/>
                        <a:pt x="550" y="28"/>
                      </a:cubicBezTo>
                      <a:cubicBezTo>
                        <a:pt x="568" y="39"/>
                        <a:pt x="604" y="66"/>
                        <a:pt x="604" y="66"/>
                      </a:cubicBezTo>
                      <a:cubicBezTo>
                        <a:pt x="632" y="107"/>
                        <a:pt x="639" y="148"/>
                        <a:pt x="652" y="196"/>
                      </a:cubicBezTo>
                      <a:cubicBezTo>
                        <a:pt x="651" y="223"/>
                        <a:pt x="651" y="251"/>
                        <a:pt x="649" y="279"/>
                      </a:cubicBezTo>
                      <a:cubicBezTo>
                        <a:pt x="639" y="378"/>
                        <a:pt x="527" y="430"/>
                        <a:pt x="445" y="458"/>
                      </a:cubicBezTo>
                      <a:cubicBezTo>
                        <a:pt x="397" y="457"/>
                        <a:pt x="348" y="457"/>
                        <a:pt x="301" y="455"/>
                      </a:cubicBezTo>
                      <a:cubicBezTo>
                        <a:pt x="226" y="451"/>
                        <a:pt x="155" y="421"/>
                        <a:pt x="82" y="413"/>
                      </a:cubicBezTo>
                      <a:cubicBezTo>
                        <a:pt x="61" y="403"/>
                        <a:pt x="41" y="395"/>
                        <a:pt x="21" y="388"/>
                      </a:cubicBezTo>
                      <a:cubicBezTo>
                        <a:pt x="12" y="359"/>
                        <a:pt x="23" y="398"/>
                        <a:pt x="15" y="334"/>
                      </a:cubicBezTo>
                      <a:cubicBezTo>
                        <a:pt x="14" y="328"/>
                        <a:pt x="8" y="312"/>
                        <a:pt x="8" y="318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5" name="Freeform 16"/>
                <p:cNvSpPr/>
                <p:nvPr/>
              </p:nvSpPr>
              <p:spPr bwMode="auto">
                <a:xfrm>
                  <a:off x="3411" y="2656"/>
                  <a:ext cx="585" cy="541"/>
                </a:xfrm>
                <a:custGeom>
                  <a:avLst/>
                  <a:gdLst>
                    <a:gd name="T0" fmla="*/ 91 w 585"/>
                    <a:gd name="T1" fmla="*/ 484 h 541"/>
                    <a:gd name="T2" fmla="*/ 8 w 585"/>
                    <a:gd name="T3" fmla="*/ 363 h 541"/>
                    <a:gd name="T4" fmla="*/ 8 w 585"/>
                    <a:gd name="T5" fmla="*/ 229 h 541"/>
                    <a:gd name="T6" fmla="*/ 34 w 585"/>
                    <a:gd name="T7" fmla="*/ 181 h 541"/>
                    <a:gd name="T8" fmla="*/ 168 w 585"/>
                    <a:gd name="T9" fmla="*/ 67 h 541"/>
                    <a:gd name="T10" fmla="*/ 349 w 585"/>
                    <a:gd name="T11" fmla="*/ 19 h 541"/>
                    <a:gd name="T12" fmla="*/ 474 w 585"/>
                    <a:gd name="T13" fmla="*/ 25 h 541"/>
                    <a:gd name="T14" fmla="*/ 525 w 585"/>
                    <a:gd name="T15" fmla="*/ 86 h 541"/>
                    <a:gd name="T16" fmla="*/ 557 w 585"/>
                    <a:gd name="T17" fmla="*/ 153 h 541"/>
                    <a:gd name="T18" fmla="*/ 572 w 585"/>
                    <a:gd name="T19" fmla="*/ 191 h 541"/>
                    <a:gd name="T20" fmla="*/ 582 w 585"/>
                    <a:gd name="T21" fmla="*/ 248 h 541"/>
                    <a:gd name="T22" fmla="*/ 563 w 585"/>
                    <a:gd name="T23" fmla="*/ 417 h 541"/>
                    <a:gd name="T24" fmla="*/ 496 w 585"/>
                    <a:gd name="T25" fmla="*/ 494 h 541"/>
                    <a:gd name="T26" fmla="*/ 439 w 585"/>
                    <a:gd name="T27" fmla="*/ 522 h 541"/>
                    <a:gd name="T28" fmla="*/ 317 w 585"/>
                    <a:gd name="T29" fmla="*/ 538 h 541"/>
                    <a:gd name="T30" fmla="*/ 184 w 585"/>
                    <a:gd name="T31" fmla="*/ 532 h 541"/>
                    <a:gd name="T32" fmla="*/ 139 w 585"/>
                    <a:gd name="T33" fmla="*/ 519 h 541"/>
                    <a:gd name="T34" fmla="*/ 114 w 585"/>
                    <a:gd name="T35" fmla="*/ 497 h 541"/>
                    <a:gd name="T36" fmla="*/ 91 w 585"/>
                    <a:gd name="T37" fmla="*/ 484 h 54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585" h="541">
                      <a:moveTo>
                        <a:pt x="91" y="484"/>
                      </a:moveTo>
                      <a:cubicBezTo>
                        <a:pt x="55" y="446"/>
                        <a:pt x="38" y="403"/>
                        <a:pt x="8" y="363"/>
                      </a:cubicBezTo>
                      <a:cubicBezTo>
                        <a:pt x="2" y="311"/>
                        <a:pt x="0" y="300"/>
                        <a:pt x="8" y="229"/>
                      </a:cubicBezTo>
                      <a:cubicBezTo>
                        <a:pt x="9" y="216"/>
                        <a:pt x="27" y="192"/>
                        <a:pt x="34" y="181"/>
                      </a:cubicBezTo>
                      <a:cubicBezTo>
                        <a:pt x="61" y="133"/>
                        <a:pt x="114" y="83"/>
                        <a:pt x="168" y="67"/>
                      </a:cubicBezTo>
                      <a:cubicBezTo>
                        <a:pt x="206" y="35"/>
                        <a:pt x="298" y="23"/>
                        <a:pt x="349" y="19"/>
                      </a:cubicBezTo>
                      <a:cubicBezTo>
                        <a:pt x="390" y="20"/>
                        <a:pt x="440" y="0"/>
                        <a:pt x="474" y="25"/>
                      </a:cubicBezTo>
                      <a:cubicBezTo>
                        <a:pt x="504" y="47"/>
                        <a:pt x="502" y="63"/>
                        <a:pt x="525" y="86"/>
                      </a:cubicBezTo>
                      <a:cubicBezTo>
                        <a:pt x="530" y="112"/>
                        <a:pt x="539" y="131"/>
                        <a:pt x="557" y="153"/>
                      </a:cubicBezTo>
                      <a:cubicBezTo>
                        <a:pt x="561" y="166"/>
                        <a:pt x="569" y="177"/>
                        <a:pt x="572" y="191"/>
                      </a:cubicBezTo>
                      <a:cubicBezTo>
                        <a:pt x="575" y="209"/>
                        <a:pt x="575" y="229"/>
                        <a:pt x="582" y="248"/>
                      </a:cubicBezTo>
                      <a:cubicBezTo>
                        <a:pt x="579" y="287"/>
                        <a:pt x="585" y="367"/>
                        <a:pt x="563" y="417"/>
                      </a:cubicBezTo>
                      <a:cubicBezTo>
                        <a:pt x="556" y="453"/>
                        <a:pt x="529" y="479"/>
                        <a:pt x="496" y="494"/>
                      </a:cubicBezTo>
                      <a:cubicBezTo>
                        <a:pt x="477" y="510"/>
                        <a:pt x="462" y="518"/>
                        <a:pt x="439" y="522"/>
                      </a:cubicBezTo>
                      <a:cubicBezTo>
                        <a:pt x="411" y="541"/>
                        <a:pt x="340" y="537"/>
                        <a:pt x="317" y="538"/>
                      </a:cubicBezTo>
                      <a:cubicBezTo>
                        <a:pt x="287" y="537"/>
                        <a:pt x="222" y="536"/>
                        <a:pt x="184" y="532"/>
                      </a:cubicBezTo>
                      <a:cubicBezTo>
                        <a:pt x="168" y="530"/>
                        <a:pt x="139" y="519"/>
                        <a:pt x="139" y="519"/>
                      </a:cubicBezTo>
                      <a:cubicBezTo>
                        <a:pt x="131" y="511"/>
                        <a:pt x="123" y="501"/>
                        <a:pt x="114" y="497"/>
                      </a:cubicBezTo>
                      <a:cubicBezTo>
                        <a:pt x="104" y="492"/>
                        <a:pt x="96" y="494"/>
                        <a:pt x="91" y="484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6" name="Freeform 17"/>
                <p:cNvSpPr/>
                <p:nvPr/>
              </p:nvSpPr>
              <p:spPr bwMode="auto">
                <a:xfrm rot="-6449138">
                  <a:off x="3856" y="2738"/>
                  <a:ext cx="797" cy="768"/>
                </a:xfrm>
                <a:custGeom>
                  <a:avLst/>
                  <a:gdLst>
                    <a:gd name="T0" fmla="*/ 10 w 652"/>
                    <a:gd name="T1" fmla="*/ 533 h 458"/>
                    <a:gd name="T2" fmla="*/ 38 w 652"/>
                    <a:gd name="T3" fmla="*/ 233 h 458"/>
                    <a:gd name="T4" fmla="*/ 147 w 652"/>
                    <a:gd name="T5" fmla="*/ 138 h 458"/>
                    <a:gd name="T6" fmla="*/ 478 w 652"/>
                    <a:gd name="T7" fmla="*/ 8 h 458"/>
                    <a:gd name="T8" fmla="*/ 672 w 652"/>
                    <a:gd name="T9" fmla="*/ 47 h 458"/>
                    <a:gd name="T10" fmla="*/ 738 w 652"/>
                    <a:gd name="T11" fmla="*/ 111 h 458"/>
                    <a:gd name="T12" fmla="*/ 797 w 652"/>
                    <a:gd name="T13" fmla="*/ 329 h 458"/>
                    <a:gd name="T14" fmla="*/ 793 w 652"/>
                    <a:gd name="T15" fmla="*/ 468 h 458"/>
                    <a:gd name="T16" fmla="*/ 544 w 652"/>
                    <a:gd name="T17" fmla="*/ 768 h 458"/>
                    <a:gd name="T18" fmla="*/ 368 w 652"/>
                    <a:gd name="T19" fmla="*/ 763 h 458"/>
                    <a:gd name="T20" fmla="*/ 100 w 652"/>
                    <a:gd name="T21" fmla="*/ 693 h 458"/>
                    <a:gd name="T22" fmla="*/ 26 w 652"/>
                    <a:gd name="T23" fmla="*/ 651 h 458"/>
                    <a:gd name="T24" fmla="*/ 18 w 652"/>
                    <a:gd name="T25" fmla="*/ 560 h 458"/>
                    <a:gd name="T26" fmla="*/ 10 w 652"/>
                    <a:gd name="T27" fmla="*/ 533 h 458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0" t="0" r="r" b="b"/>
                  <a:pathLst>
                    <a:path w="652" h="458">
                      <a:moveTo>
                        <a:pt x="8" y="318"/>
                      </a:moveTo>
                      <a:cubicBezTo>
                        <a:pt x="8" y="310"/>
                        <a:pt x="0" y="176"/>
                        <a:pt x="31" y="139"/>
                      </a:cubicBezTo>
                      <a:cubicBezTo>
                        <a:pt x="51" y="113"/>
                        <a:pt x="90" y="96"/>
                        <a:pt x="120" y="82"/>
                      </a:cubicBezTo>
                      <a:cubicBezTo>
                        <a:pt x="206" y="38"/>
                        <a:pt x="294" y="11"/>
                        <a:pt x="391" y="5"/>
                      </a:cubicBezTo>
                      <a:cubicBezTo>
                        <a:pt x="439" y="6"/>
                        <a:pt x="504" y="0"/>
                        <a:pt x="550" y="28"/>
                      </a:cubicBezTo>
                      <a:cubicBezTo>
                        <a:pt x="568" y="39"/>
                        <a:pt x="604" y="66"/>
                        <a:pt x="604" y="66"/>
                      </a:cubicBezTo>
                      <a:cubicBezTo>
                        <a:pt x="632" y="107"/>
                        <a:pt x="639" y="148"/>
                        <a:pt x="652" y="196"/>
                      </a:cubicBezTo>
                      <a:cubicBezTo>
                        <a:pt x="651" y="223"/>
                        <a:pt x="651" y="251"/>
                        <a:pt x="649" y="279"/>
                      </a:cubicBezTo>
                      <a:cubicBezTo>
                        <a:pt x="639" y="378"/>
                        <a:pt x="527" y="430"/>
                        <a:pt x="445" y="458"/>
                      </a:cubicBezTo>
                      <a:cubicBezTo>
                        <a:pt x="397" y="457"/>
                        <a:pt x="348" y="457"/>
                        <a:pt x="301" y="455"/>
                      </a:cubicBezTo>
                      <a:cubicBezTo>
                        <a:pt x="226" y="451"/>
                        <a:pt x="155" y="421"/>
                        <a:pt x="82" y="413"/>
                      </a:cubicBezTo>
                      <a:cubicBezTo>
                        <a:pt x="61" y="403"/>
                        <a:pt x="41" y="395"/>
                        <a:pt x="21" y="388"/>
                      </a:cubicBezTo>
                      <a:cubicBezTo>
                        <a:pt x="12" y="359"/>
                        <a:pt x="23" y="398"/>
                        <a:pt x="15" y="334"/>
                      </a:cubicBezTo>
                      <a:cubicBezTo>
                        <a:pt x="14" y="328"/>
                        <a:pt x="8" y="312"/>
                        <a:pt x="8" y="318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7" name="Freeform 18"/>
                <p:cNvSpPr/>
                <p:nvPr/>
              </p:nvSpPr>
              <p:spPr bwMode="auto">
                <a:xfrm rot="5302227">
                  <a:off x="3195" y="2808"/>
                  <a:ext cx="831" cy="790"/>
                </a:xfrm>
                <a:custGeom>
                  <a:avLst/>
                  <a:gdLst>
                    <a:gd name="T0" fmla="*/ 129 w 585"/>
                    <a:gd name="T1" fmla="*/ 707 h 541"/>
                    <a:gd name="T2" fmla="*/ 11 w 585"/>
                    <a:gd name="T3" fmla="*/ 530 h 541"/>
                    <a:gd name="T4" fmla="*/ 11 w 585"/>
                    <a:gd name="T5" fmla="*/ 334 h 541"/>
                    <a:gd name="T6" fmla="*/ 48 w 585"/>
                    <a:gd name="T7" fmla="*/ 264 h 541"/>
                    <a:gd name="T8" fmla="*/ 239 w 585"/>
                    <a:gd name="T9" fmla="*/ 98 h 541"/>
                    <a:gd name="T10" fmla="*/ 496 w 585"/>
                    <a:gd name="T11" fmla="*/ 28 h 541"/>
                    <a:gd name="T12" fmla="*/ 673 w 585"/>
                    <a:gd name="T13" fmla="*/ 37 h 541"/>
                    <a:gd name="T14" fmla="*/ 746 w 585"/>
                    <a:gd name="T15" fmla="*/ 126 h 541"/>
                    <a:gd name="T16" fmla="*/ 791 w 585"/>
                    <a:gd name="T17" fmla="*/ 223 h 541"/>
                    <a:gd name="T18" fmla="*/ 813 w 585"/>
                    <a:gd name="T19" fmla="*/ 279 h 541"/>
                    <a:gd name="T20" fmla="*/ 827 w 585"/>
                    <a:gd name="T21" fmla="*/ 362 h 541"/>
                    <a:gd name="T22" fmla="*/ 800 w 585"/>
                    <a:gd name="T23" fmla="*/ 609 h 541"/>
                    <a:gd name="T24" fmla="*/ 705 w 585"/>
                    <a:gd name="T25" fmla="*/ 721 h 541"/>
                    <a:gd name="T26" fmla="*/ 624 w 585"/>
                    <a:gd name="T27" fmla="*/ 762 h 541"/>
                    <a:gd name="T28" fmla="*/ 450 w 585"/>
                    <a:gd name="T29" fmla="*/ 786 h 541"/>
                    <a:gd name="T30" fmla="*/ 261 w 585"/>
                    <a:gd name="T31" fmla="*/ 777 h 541"/>
                    <a:gd name="T32" fmla="*/ 197 w 585"/>
                    <a:gd name="T33" fmla="*/ 758 h 541"/>
                    <a:gd name="T34" fmla="*/ 162 w 585"/>
                    <a:gd name="T35" fmla="*/ 726 h 541"/>
                    <a:gd name="T36" fmla="*/ 129 w 585"/>
                    <a:gd name="T37" fmla="*/ 707 h 541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585" h="541">
                      <a:moveTo>
                        <a:pt x="91" y="484"/>
                      </a:moveTo>
                      <a:cubicBezTo>
                        <a:pt x="55" y="446"/>
                        <a:pt x="38" y="403"/>
                        <a:pt x="8" y="363"/>
                      </a:cubicBezTo>
                      <a:cubicBezTo>
                        <a:pt x="2" y="311"/>
                        <a:pt x="0" y="300"/>
                        <a:pt x="8" y="229"/>
                      </a:cubicBezTo>
                      <a:cubicBezTo>
                        <a:pt x="9" y="216"/>
                        <a:pt x="27" y="192"/>
                        <a:pt x="34" y="181"/>
                      </a:cubicBezTo>
                      <a:cubicBezTo>
                        <a:pt x="61" y="133"/>
                        <a:pt x="114" y="83"/>
                        <a:pt x="168" y="67"/>
                      </a:cubicBezTo>
                      <a:cubicBezTo>
                        <a:pt x="206" y="35"/>
                        <a:pt x="298" y="23"/>
                        <a:pt x="349" y="19"/>
                      </a:cubicBezTo>
                      <a:cubicBezTo>
                        <a:pt x="390" y="20"/>
                        <a:pt x="440" y="0"/>
                        <a:pt x="474" y="25"/>
                      </a:cubicBezTo>
                      <a:cubicBezTo>
                        <a:pt x="504" y="47"/>
                        <a:pt x="502" y="63"/>
                        <a:pt x="525" y="86"/>
                      </a:cubicBezTo>
                      <a:cubicBezTo>
                        <a:pt x="530" y="112"/>
                        <a:pt x="539" y="131"/>
                        <a:pt x="557" y="153"/>
                      </a:cubicBezTo>
                      <a:cubicBezTo>
                        <a:pt x="561" y="166"/>
                        <a:pt x="569" y="177"/>
                        <a:pt x="572" y="191"/>
                      </a:cubicBezTo>
                      <a:cubicBezTo>
                        <a:pt x="575" y="209"/>
                        <a:pt x="575" y="229"/>
                        <a:pt x="582" y="248"/>
                      </a:cubicBezTo>
                      <a:cubicBezTo>
                        <a:pt x="579" y="287"/>
                        <a:pt x="585" y="367"/>
                        <a:pt x="563" y="417"/>
                      </a:cubicBezTo>
                      <a:cubicBezTo>
                        <a:pt x="556" y="453"/>
                        <a:pt x="529" y="479"/>
                        <a:pt x="496" y="494"/>
                      </a:cubicBezTo>
                      <a:cubicBezTo>
                        <a:pt x="477" y="510"/>
                        <a:pt x="462" y="518"/>
                        <a:pt x="439" y="522"/>
                      </a:cubicBezTo>
                      <a:cubicBezTo>
                        <a:pt x="411" y="541"/>
                        <a:pt x="340" y="537"/>
                        <a:pt x="317" y="538"/>
                      </a:cubicBezTo>
                      <a:cubicBezTo>
                        <a:pt x="287" y="537"/>
                        <a:pt x="222" y="536"/>
                        <a:pt x="184" y="532"/>
                      </a:cubicBezTo>
                      <a:cubicBezTo>
                        <a:pt x="168" y="530"/>
                        <a:pt x="139" y="519"/>
                        <a:pt x="139" y="519"/>
                      </a:cubicBezTo>
                      <a:cubicBezTo>
                        <a:pt x="131" y="511"/>
                        <a:pt x="123" y="501"/>
                        <a:pt x="114" y="497"/>
                      </a:cubicBezTo>
                      <a:cubicBezTo>
                        <a:pt x="104" y="492"/>
                        <a:pt x="96" y="494"/>
                        <a:pt x="91" y="484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8" name="Freeform 8"/>
                <p:cNvSpPr/>
                <p:nvPr/>
              </p:nvSpPr>
              <p:spPr bwMode="auto">
                <a:xfrm rot="-5850591">
                  <a:off x="3604" y="1190"/>
                  <a:ext cx="924" cy="1043"/>
                </a:xfrm>
                <a:custGeom>
                  <a:avLst/>
                  <a:gdLst>
                    <a:gd name="T0" fmla="*/ 64 w 797"/>
                    <a:gd name="T1" fmla="*/ 1043 h 534"/>
                    <a:gd name="T2" fmla="*/ 13 w 797"/>
                    <a:gd name="T3" fmla="*/ 930 h 534"/>
                    <a:gd name="T4" fmla="*/ 20 w 797"/>
                    <a:gd name="T5" fmla="*/ 688 h 534"/>
                    <a:gd name="T6" fmla="*/ 123 w 797"/>
                    <a:gd name="T7" fmla="*/ 514 h 534"/>
                    <a:gd name="T8" fmla="*/ 386 w 797"/>
                    <a:gd name="T9" fmla="*/ 127 h 534"/>
                    <a:gd name="T10" fmla="*/ 482 w 797"/>
                    <a:gd name="T11" fmla="*/ 33 h 534"/>
                    <a:gd name="T12" fmla="*/ 814 w 797"/>
                    <a:gd name="T13" fmla="*/ 53 h 534"/>
                    <a:gd name="T14" fmla="*/ 866 w 797"/>
                    <a:gd name="T15" fmla="*/ 109 h 534"/>
                    <a:gd name="T16" fmla="*/ 910 w 797"/>
                    <a:gd name="T17" fmla="*/ 189 h 534"/>
                    <a:gd name="T18" fmla="*/ 914 w 797"/>
                    <a:gd name="T19" fmla="*/ 395 h 534"/>
                    <a:gd name="T20" fmla="*/ 878 w 797"/>
                    <a:gd name="T21" fmla="*/ 576 h 534"/>
                    <a:gd name="T22" fmla="*/ 733 w 797"/>
                    <a:gd name="T23" fmla="*/ 855 h 534"/>
                    <a:gd name="T24" fmla="*/ 648 w 797"/>
                    <a:gd name="T25" fmla="*/ 850 h 534"/>
                    <a:gd name="T26" fmla="*/ 563 w 797"/>
                    <a:gd name="T27" fmla="*/ 781 h 534"/>
                    <a:gd name="T28" fmla="*/ 548 w 797"/>
                    <a:gd name="T29" fmla="*/ 770 h 534"/>
                    <a:gd name="T30" fmla="*/ 423 w 797"/>
                    <a:gd name="T31" fmla="*/ 813 h 534"/>
                    <a:gd name="T32" fmla="*/ 323 w 797"/>
                    <a:gd name="T33" fmla="*/ 924 h 534"/>
                    <a:gd name="T34" fmla="*/ 163 w 797"/>
                    <a:gd name="T35" fmla="*/ 998 h 534"/>
                    <a:gd name="T36" fmla="*/ 82 w 797"/>
                    <a:gd name="T37" fmla="*/ 1023 h 534"/>
                    <a:gd name="T38" fmla="*/ 64 w 797"/>
                    <a:gd name="T39" fmla="*/ 1043 h 534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0" t="0" r="r" b="b"/>
                  <a:pathLst>
                    <a:path w="797" h="534">
                      <a:moveTo>
                        <a:pt x="55" y="534"/>
                      </a:moveTo>
                      <a:cubicBezTo>
                        <a:pt x="40" y="513"/>
                        <a:pt x="23" y="498"/>
                        <a:pt x="11" y="476"/>
                      </a:cubicBezTo>
                      <a:cubicBezTo>
                        <a:pt x="5" y="435"/>
                        <a:pt x="0" y="390"/>
                        <a:pt x="17" y="352"/>
                      </a:cubicBezTo>
                      <a:cubicBezTo>
                        <a:pt x="35" y="308"/>
                        <a:pt x="75" y="293"/>
                        <a:pt x="106" y="263"/>
                      </a:cubicBezTo>
                      <a:cubicBezTo>
                        <a:pt x="175" y="193"/>
                        <a:pt x="242" y="106"/>
                        <a:pt x="333" y="65"/>
                      </a:cubicBezTo>
                      <a:cubicBezTo>
                        <a:pt x="359" y="38"/>
                        <a:pt x="379" y="25"/>
                        <a:pt x="416" y="17"/>
                      </a:cubicBezTo>
                      <a:cubicBezTo>
                        <a:pt x="452" y="17"/>
                        <a:pt x="617" y="5"/>
                        <a:pt x="702" y="27"/>
                      </a:cubicBezTo>
                      <a:cubicBezTo>
                        <a:pt x="743" y="59"/>
                        <a:pt x="666" y="0"/>
                        <a:pt x="747" y="56"/>
                      </a:cubicBezTo>
                      <a:cubicBezTo>
                        <a:pt x="762" y="66"/>
                        <a:pt x="771" y="83"/>
                        <a:pt x="785" y="97"/>
                      </a:cubicBezTo>
                      <a:cubicBezTo>
                        <a:pt x="797" y="137"/>
                        <a:pt x="795" y="135"/>
                        <a:pt x="788" y="202"/>
                      </a:cubicBezTo>
                      <a:cubicBezTo>
                        <a:pt x="784" y="232"/>
                        <a:pt x="766" y="265"/>
                        <a:pt x="757" y="295"/>
                      </a:cubicBezTo>
                      <a:cubicBezTo>
                        <a:pt x="735" y="362"/>
                        <a:pt x="715" y="427"/>
                        <a:pt x="632" y="438"/>
                      </a:cubicBezTo>
                      <a:cubicBezTo>
                        <a:pt x="607" y="437"/>
                        <a:pt x="582" y="441"/>
                        <a:pt x="559" y="435"/>
                      </a:cubicBezTo>
                      <a:cubicBezTo>
                        <a:pt x="532" y="428"/>
                        <a:pt x="510" y="411"/>
                        <a:pt x="486" y="400"/>
                      </a:cubicBezTo>
                      <a:cubicBezTo>
                        <a:pt x="481" y="397"/>
                        <a:pt x="473" y="394"/>
                        <a:pt x="473" y="394"/>
                      </a:cubicBezTo>
                      <a:cubicBezTo>
                        <a:pt x="438" y="399"/>
                        <a:pt x="397" y="401"/>
                        <a:pt x="365" y="416"/>
                      </a:cubicBezTo>
                      <a:cubicBezTo>
                        <a:pt x="334" y="429"/>
                        <a:pt x="308" y="456"/>
                        <a:pt x="279" y="473"/>
                      </a:cubicBezTo>
                      <a:cubicBezTo>
                        <a:pt x="234" y="496"/>
                        <a:pt x="190" y="507"/>
                        <a:pt x="141" y="511"/>
                      </a:cubicBezTo>
                      <a:cubicBezTo>
                        <a:pt x="117" y="515"/>
                        <a:pt x="94" y="520"/>
                        <a:pt x="71" y="524"/>
                      </a:cubicBezTo>
                      <a:cubicBezTo>
                        <a:pt x="67" y="526"/>
                        <a:pt x="48" y="534"/>
                        <a:pt x="55" y="534"/>
                      </a:cubicBezTo>
                      <a:close/>
                    </a:path>
                  </a:pathLst>
                </a:custGeom>
                <a:solidFill>
                  <a:srgbClr val="E4E4E4"/>
                </a:solidFill>
                <a:ln w="9525">
                  <a:solidFill>
                    <a:schemeClr val="tx1"/>
                  </a:solidFill>
                  <a:rou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79" name="Group 132"/>
                <p:cNvGrpSpPr/>
                <p:nvPr/>
              </p:nvGrpSpPr>
              <p:grpSpPr bwMode="auto">
                <a:xfrm rot="-1753193">
                  <a:off x="3312" y="2955"/>
                  <a:ext cx="531" cy="501"/>
                  <a:chOff x="138" y="3135"/>
                  <a:chExt cx="387" cy="390"/>
                </a:xfrm>
              </p:grpSpPr>
              <p:sp>
                <p:nvSpPr>
                  <p:cNvPr id="248" name="Line 13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8" y="3135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9" name="Line 13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0" y="3174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0" name="Line 13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6" y="3216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1" name="Line 13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9" y="3261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52" name="Line 13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" y="3303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0" name="Group 138"/>
                <p:cNvGrpSpPr/>
                <p:nvPr/>
              </p:nvGrpSpPr>
              <p:grpSpPr bwMode="auto">
                <a:xfrm rot="-4693893">
                  <a:off x="3941" y="2890"/>
                  <a:ext cx="655" cy="486"/>
                  <a:chOff x="138" y="3135"/>
                  <a:chExt cx="387" cy="390"/>
                </a:xfrm>
              </p:grpSpPr>
              <p:sp>
                <p:nvSpPr>
                  <p:cNvPr id="243" name="Line 13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8" y="3135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4" name="Line 14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0" y="3174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5" name="Line 14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6" y="3216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6" name="Line 14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9" y="3261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7" name="Line 14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" y="3303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1" name="Group 144"/>
                <p:cNvGrpSpPr/>
                <p:nvPr/>
              </p:nvGrpSpPr>
              <p:grpSpPr bwMode="auto">
                <a:xfrm rot="-4225247">
                  <a:off x="3201" y="2031"/>
                  <a:ext cx="528" cy="630"/>
                  <a:chOff x="138" y="3135"/>
                  <a:chExt cx="387" cy="390"/>
                </a:xfrm>
              </p:grpSpPr>
              <p:sp>
                <p:nvSpPr>
                  <p:cNvPr id="238" name="Line 14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8" y="3135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9" name="Line 14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0" y="3174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0" name="Line 14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6" y="3216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1" name="Line 14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9" y="3261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42" name="Line 14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" y="3303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2" name="Group 150"/>
                <p:cNvGrpSpPr/>
                <p:nvPr/>
              </p:nvGrpSpPr>
              <p:grpSpPr bwMode="auto">
                <a:xfrm rot="-3901062">
                  <a:off x="3863" y="1967"/>
                  <a:ext cx="387" cy="623"/>
                  <a:chOff x="138" y="3135"/>
                  <a:chExt cx="387" cy="390"/>
                </a:xfrm>
              </p:grpSpPr>
              <p:sp>
                <p:nvSpPr>
                  <p:cNvPr id="233" name="Line 15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8" y="3135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4" name="Line 15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0" y="3174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5" name="Line 15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6" y="3216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" name="Line 15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9" y="3261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7" name="Line 15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" y="3303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3" name="Group 156"/>
                <p:cNvGrpSpPr/>
                <p:nvPr/>
              </p:nvGrpSpPr>
              <p:grpSpPr bwMode="auto">
                <a:xfrm rot="-3207399">
                  <a:off x="3678" y="1284"/>
                  <a:ext cx="654" cy="726"/>
                  <a:chOff x="138" y="3135"/>
                  <a:chExt cx="387" cy="390"/>
                </a:xfrm>
              </p:grpSpPr>
              <p:sp>
                <p:nvSpPr>
                  <p:cNvPr id="228" name="Line 15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8" y="3135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9" name="Line 15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0" y="3174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0" name="Line 15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6" y="3216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1" name="Line 16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9" y="3261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2" name="Line 16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" y="3303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4" name="Group 168"/>
                <p:cNvGrpSpPr/>
                <p:nvPr/>
              </p:nvGrpSpPr>
              <p:grpSpPr bwMode="auto">
                <a:xfrm>
                  <a:off x="4461" y="2112"/>
                  <a:ext cx="89" cy="301"/>
                  <a:chOff x="2884" y="2309"/>
                  <a:chExt cx="153" cy="349"/>
                </a:xfrm>
              </p:grpSpPr>
              <p:sp>
                <p:nvSpPr>
                  <p:cNvPr id="223" name="Line 163"/>
                  <p:cNvSpPr>
                    <a:spLocks noChangeShapeType="1"/>
                  </p:cNvSpPr>
                  <p:nvPr/>
                </p:nvSpPr>
                <p:spPr bwMode="auto">
                  <a:xfrm rot="3157659" flipV="1">
                    <a:off x="2910" y="2315"/>
                    <a:ext cx="134" cy="1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4" name="Line 164"/>
                  <p:cNvSpPr>
                    <a:spLocks noChangeShapeType="1"/>
                  </p:cNvSpPr>
                  <p:nvPr/>
                </p:nvSpPr>
                <p:spPr bwMode="auto">
                  <a:xfrm rot="3157659" flipV="1">
                    <a:off x="2907" y="2374"/>
                    <a:ext cx="133" cy="12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5" name="Line 165"/>
                  <p:cNvSpPr>
                    <a:spLocks noChangeShapeType="1"/>
                  </p:cNvSpPr>
                  <p:nvPr/>
                </p:nvSpPr>
                <p:spPr bwMode="auto">
                  <a:xfrm rot="3157659" flipV="1">
                    <a:off x="2893" y="2425"/>
                    <a:ext cx="136" cy="12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6" name="Line 166"/>
                  <p:cNvSpPr>
                    <a:spLocks noChangeShapeType="1"/>
                  </p:cNvSpPr>
                  <p:nvPr/>
                </p:nvSpPr>
                <p:spPr bwMode="auto">
                  <a:xfrm rot="3157659" flipV="1">
                    <a:off x="2887" y="2482"/>
                    <a:ext cx="127" cy="11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7" name="Line 167"/>
                  <p:cNvSpPr>
                    <a:spLocks noChangeShapeType="1"/>
                  </p:cNvSpPr>
                  <p:nvPr/>
                </p:nvSpPr>
                <p:spPr bwMode="auto">
                  <a:xfrm rot="3157659" flipV="1">
                    <a:off x="2875" y="2537"/>
                    <a:ext cx="130" cy="11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5" name="Group 170"/>
                <p:cNvGrpSpPr/>
                <p:nvPr/>
              </p:nvGrpSpPr>
              <p:grpSpPr bwMode="auto">
                <a:xfrm rot="4921652">
                  <a:off x="3934" y="2540"/>
                  <a:ext cx="208" cy="246"/>
                  <a:chOff x="138" y="3135"/>
                  <a:chExt cx="387" cy="390"/>
                </a:xfrm>
              </p:grpSpPr>
              <p:sp>
                <p:nvSpPr>
                  <p:cNvPr id="218" name="Line 17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8" y="3135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9" name="Line 17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0" y="3174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0" name="Line 17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6" y="3216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1" name="Line 17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9" y="3261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22" name="Line 17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" y="3303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6" name="Group 176"/>
                <p:cNvGrpSpPr/>
                <p:nvPr/>
              </p:nvGrpSpPr>
              <p:grpSpPr bwMode="auto">
                <a:xfrm>
                  <a:off x="4382" y="2370"/>
                  <a:ext cx="370" cy="402"/>
                  <a:chOff x="2376" y="2497"/>
                  <a:chExt cx="286" cy="382"/>
                </a:xfrm>
              </p:grpSpPr>
              <p:sp>
                <p:nvSpPr>
                  <p:cNvPr id="213" name="Line 177"/>
                  <p:cNvSpPr>
                    <a:spLocks noChangeShapeType="1"/>
                  </p:cNvSpPr>
                  <p:nvPr/>
                </p:nvSpPr>
                <p:spPr bwMode="auto">
                  <a:xfrm rot="21231430" flipV="1">
                    <a:off x="2376" y="2497"/>
                    <a:ext cx="212" cy="26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4" name="Line 178"/>
                  <p:cNvSpPr>
                    <a:spLocks noChangeShapeType="1"/>
                  </p:cNvSpPr>
                  <p:nvPr/>
                </p:nvSpPr>
                <p:spPr bwMode="auto">
                  <a:xfrm rot="21231430" flipV="1">
                    <a:off x="2402" y="2531"/>
                    <a:ext cx="208" cy="25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5" name="Line 179"/>
                  <p:cNvSpPr>
                    <a:spLocks noChangeShapeType="1"/>
                  </p:cNvSpPr>
                  <p:nvPr/>
                </p:nvSpPr>
                <p:spPr bwMode="auto">
                  <a:xfrm rot="21231430" flipV="1">
                    <a:off x="2424" y="2560"/>
                    <a:ext cx="202" cy="25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6" name="Line 180"/>
                  <p:cNvSpPr>
                    <a:spLocks noChangeShapeType="1"/>
                  </p:cNvSpPr>
                  <p:nvPr/>
                </p:nvSpPr>
                <p:spPr bwMode="auto">
                  <a:xfrm rot="21231430" flipV="1">
                    <a:off x="2444" y="2592"/>
                    <a:ext cx="199" cy="256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7" name="Line 181"/>
                  <p:cNvSpPr>
                    <a:spLocks noChangeShapeType="1"/>
                  </p:cNvSpPr>
                  <p:nvPr/>
                </p:nvSpPr>
                <p:spPr bwMode="auto">
                  <a:xfrm rot="21231430" flipV="1">
                    <a:off x="2467" y="2622"/>
                    <a:ext cx="195" cy="25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7" name="Group 188"/>
                <p:cNvGrpSpPr/>
                <p:nvPr/>
              </p:nvGrpSpPr>
              <p:grpSpPr bwMode="auto">
                <a:xfrm rot="-640028">
                  <a:off x="3772" y="2664"/>
                  <a:ext cx="103" cy="190"/>
                  <a:chOff x="2612" y="2756"/>
                  <a:chExt cx="247" cy="334"/>
                </a:xfrm>
              </p:grpSpPr>
              <p:sp>
                <p:nvSpPr>
                  <p:cNvPr id="210" name="Line 183"/>
                  <p:cNvSpPr>
                    <a:spLocks noChangeShapeType="1"/>
                  </p:cNvSpPr>
                  <p:nvPr/>
                </p:nvSpPr>
                <p:spPr bwMode="auto">
                  <a:xfrm rot="2391301" flipV="1">
                    <a:off x="2612" y="2756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1" name="Line 184"/>
                  <p:cNvSpPr>
                    <a:spLocks noChangeShapeType="1"/>
                  </p:cNvSpPr>
                  <p:nvPr/>
                </p:nvSpPr>
                <p:spPr bwMode="auto">
                  <a:xfrm rot="2391301" flipV="1">
                    <a:off x="2619" y="2812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12" name="Line 185"/>
                  <p:cNvSpPr>
                    <a:spLocks noChangeShapeType="1"/>
                  </p:cNvSpPr>
                  <p:nvPr/>
                </p:nvSpPr>
                <p:spPr bwMode="auto">
                  <a:xfrm rot="2391301" flipV="1">
                    <a:off x="2619" y="2868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8" name="Group 189"/>
                <p:cNvGrpSpPr/>
                <p:nvPr/>
              </p:nvGrpSpPr>
              <p:grpSpPr bwMode="auto">
                <a:xfrm>
                  <a:off x="3165" y="1392"/>
                  <a:ext cx="387" cy="561"/>
                  <a:chOff x="138" y="3135"/>
                  <a:chExt cx="387" cy="390"/>
                </a:xfrm>
              </p:grpSpPr>
              <p:sp>
                <p:nvSpPr>
                  <p:cNvPr id="205" name="Line 19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8" y="3135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6" name="Line 19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0" y="3174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7" name="Line 19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6" y="3216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8" name="Line 19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9" y="3261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9" name="Line 19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" y="3303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89" name="Group 195"/>
                <p:cNvGrpSpPr/>
                <p:nvPr/>
              </p:nvGrpSpPr>
              <p:grpSpPr bwMode="auto">
                <a:xfrm rot="-10301997">
                  <a:off x="4320" y="1467"/>
                  <a:ext cx="336" cy="288"/>
                  <a:chOff x="138" y="3135"/>
                  <a:chExt cx="387" cy="390"/>
                </a:xfrm>
              </p:grpSpPr>
              <p:sp>
                <p:nvSpPr>
                  <p:cNvPr id="200" name="Line 19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8" y="3135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1" name="Line 19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0" y="3174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2" name="Line 19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6" y="3216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3" name="Line 19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9" y="3261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04" name="Line 20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" y="3303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90" name="Group 201"/>
                <p:cNvGrpSpPr/>
                <p:nvPr/>
              </p:nvGrpSpPr>
              <p:grpSpPr bwMode="auto">
                <a:xfrm rot="9975545">
                  <a:off x="4569" y="1809"/>
                  <a:ext cx="99" cy="144"/>
                  <a:chOff x="138" y="3135"/>
                  <a:chExt cx="387" cy="390"/>
                </a:xfrm>
              </p:grpSpPr>
              <p:sp>
                <p:nvSpPr>
                  <p:cNvPr id="195" name="Line 20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38" y="3135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6" name="Line 20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0" y="3174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7" name="Line 20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16" y="3216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8" name="Line 20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49" y="3261"/>
                    <a:ext cx="240" cy="221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9" name="Line 20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85" y="3303"/>
                    <a:ext cx="240" cy="22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191" name="Group 213"/>
                <p:cNvGrpSpPr/>
                <p:nvPr/>
              </p:nvGrpSpPr>
              <p:grpSpPr bwMode="auto">
                <a:xfrm>
                  <a:off x="3373" y="2696"/>
                  <a:ext cx="83" cy="136"/>
                  <a:chOff x="2832" y="2648"/>
                  <a:chExt cx="131" cy="184"/>
                </a:xfrm>
              </p:grpSpPr>
              <p:sp>
                <p:nvSpPr>
                  <p:cNvPr id="192" name="Line 210"/>
                  <p:cNvSpPr>
                    <a:spLocks noChangeShapeType="1"/>
                  </p:cNvSpPr>
                  <p:nvPr/>
                </p:nvSpPr>
                <p:spPr bwMode="auto">
                  <a:xfrm rot="13186836" flipV="1">
                    <a:off x="2832" y="2708"/>
                    <a:ext cx="127" cy="12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3" name="Line 211"/>
                  <p:cNvSpPr>
                    <a:spLocks noChangeShapeType="1"/>
                  </p:cNvSpPr>
                  <p:nvPr/>
                </p:nvSpPr>
                <p:spPr bwMode="auto">
                  <a:xfrm rot="13186836" flipV="1">
                    <a:off x="2835" y="2678"/>
                    <a:ext cx="128" cy="123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4" name="Line 212"/>
                  <p:cNvSpPr>
                    <a:spLocks noChangeShapeType="1"/>
                  </p:cNvSpPr>
                  <p:nvPr/>
                </p:nvSpPr>
                <p:spPr bwMode="auto">
                  <a:xfrm rot="13186836" flipV="1">
                    <a:off x="2835" y="2648"/>
                    <a:ext cx="128" cy="12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tailEnd type="stealth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58" name="Line 215"/>
              <p:cNvSpPr>
                <a:spLocks noChangeShapeType="1"/>
              </p:cNvSpPr>
              <p:nvPr/>
            </p:nvSpPr>
            <p:spPr bwMode="auto">
              <a:xfrm flipV="1">
                <a:off x="3312" y="960"/>
                <a:ext cx="0" cy="3024"/>
              </a:xfrm>
              <a:prstGeom prst="line">
                <a:avLst/>
              </a:prstGeom>
              <a:noFill/>
              <a:ln w="19050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9" name="Line 216"/>
              <p:cNvSpPr>
                <a:spLocks noChangeShapeType="1"/>
              </p:cNvSpPr>
              <p:nvPr/>
            </p:nvSpPr>
            <p:spPr bwMode="auto">
              <a:xfrm flipV="1">
                <a:off x="3600" y="960"/>
                <a:ext cx="0" cy="3024"/>
              </a:xfrm>
              <a:prstGeom prst="line">
                <a:avLst/>
              </a:prstGeom>
              <a:noFill/>
              <a:ln w="19050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0" name="Line 217"/>
              <p:cNvSpPr>
                <a:spLocks noChangeShapeType="1"/>
              </p:cNvSpPr>
              <p:nvPr/>
            </p:nvSpPr>
            <p:spPr bwMode="auto">
              <a:xfrm flipV="1">
                <a:off x="3888" y="963"/>
                <a:ext cx="0" cy="3024"/>
              </a:xfrm>
              <a:prstGeom prst="line">
                <a:avLst/>
              </a:prstGeom>
              <a:noFill/>
              <a:ln w="19050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1" name="Line 218"/>
              <p:cNvSpPr>
                <a:spLocks noChangeShapeType="1"/>
              </p:cNvSpPr>
              <p:nvPr/>
            </p:nvSpPr>
            <p:spPr bwMode="auto">
              <a:xfrm flipV="1">
                <a:off x="4158" y="969"/>
                <a:ext cx="0" cy="3024"/>
              </a:xfrm>
              <a:prstGeom prst="line">
                <a:avLst/>
              </a:prstGeom>
              <a:noFill/>
              <a:ln w="19050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2" name="Line 219"/>
              <p:cNvSpPr>
                <a:spLocks noChangeShapeType="1"/>
              </p:cNvSpPr>
              <p:nvPr/>
            </p:nvSpPr>
            <p:spPr bwMode="auto">
              <a:xfrm flipV="1">
                <a:off x="4425" y="972"/>
                <a:ext cx="0" cy="3024"/>
              </a:xfrm>
              <a:prstGeom prst="line">
                <a:avLst/>
              </a:prstGeom>
              <a:noFill/>
              <a:ln w="19050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2" name="Rectangle 221"/>
            <p:cNvSpPr>
              <a:spLocks noChangeArrowheads="1"/>
            </p:cNvSpPr>
            <p:nvPr/>
          </p:nvSpPr>
          <p:spPr bwMode="auto">
            <a:xfrm>
              <a:off x="4464" y="1008"/>
              <a:ext cx="2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B</a:t>
              </a:r>
              <a:r>
                <a:rPr lang="en-US" altLang="zh-CN" baseline="-25000"/>
                <a:t>0</a:t>
              </a:r>
              <a:endParaRPr lang="en-US" altLang="zh-CN" b="1"/>
            </a:p>
          </p:txBody>
        </p:sp>
        <p:sp>
          <p:nvSpPr>
            <p:cNvPr id="153" name="Rectangle 222"/>
            <p:cNvSpPr>
              <a:spLocks noChangeArrowheads="1"/>
            </p:cNvSpPr>
            <p:nvPr/>
          </p:nvSpPr>
          <p:spPr bwMode="auto">
            <a:xfrm>
              <a:off x="-553" y="1104"/>
              <a:ext cx="3444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dirty="0"/>
                <a:t>Application of a steady magnetic field produces greater torque on magnetic moments that are closer to alignment with </a:t>
              </a:r>
              <a:r>
                <a:rPr lang="en-US" altLang="zh-CN" b="1" dirty="0"/>
                <a:t>B</a:t>
              </a:r>
              <a:r>
                <a:rPr lang="en-US" altLang="zh-CN" baseline="-25000" dirty="0"/>
                <a:t>0</a:t>
              </a:r>
              <a:r>
                <a:rPr lang="en-US" altLang="zh-CN" dirty="0"/>
                <a:t>.  Average alignment throughout the material thus increases, </a:t>
              </a:r>
              <a:r>
                <a:rPr lang="en-US" altLang="zh-CN" dirty="0">
                  <a:solidFill>
                    <a:srgbClr val="C00000"/>
                  </a:solidFill>
                </a:rPr>
                <a:t>but does so through the enlargement of the nearly-aligned domains, at the expense of those that are not aligned with </a:t>
              </a:r>
              <a:r>
                <a:rPr lang="en-US" altLang="zh-CN" b="1" dirty="0">
                  <a:solidFill>
                    <a:srgbClr val="C00000"/>
                  </a:solidFill>
                </a:rPr>
                <a:t>B</a:t>
              </a:r>
              <a:r>
                <a:rPr lang="en-US" altLang="zh-CN" baseline="-25000" dirty="0">
                  <a:solidFill>
                    <a:srgbClr val="C00000"/>
                  </a:solidFill>
                </a:rPr>
                <a:t>0</a:t>
              </a:r>
              <a:r>
                <a:rPr lang="en-US" altLang="zh-CN" dirty="0">
                  <a:solidFill>
                    <a:srgbClr val="C00000"/>
                  </a:solidFill>
                </a:rPr>
                <a:t>. </a:t>
              </a:r>
              <a:endParaRPr lang="en-US" altLang="zh-CN" dirty="0">
                <a:solidFill>
                  <a:srgbClr val="C00000"/>
                </a:solidFill>
              </a:endParaRPr>
            </a:p>
          </p:txBody>
        </p:sp>
        <p:sp>
          <p:nvSpPr>
            <p:cNvPr id="154" name="Rectangle 223"/>
            <p:cNvSpPr>
              <a:spLocks noChangeArrowheads="1"/>
            </p:cNvSpPr>
            <p:nvPr/>
          </p:nvSpPr>
          <p:spPr bwMode="auto">
            <a:xfrm>
              <a:off x="-551" y="2253"/>
              <a:ext cx="36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dirty="0"/>
                <a:t>A significant increase in the overall magnetic flux density occurs.</a:t>
              </a:r>
              <a:endParaRPr lang="en-US" altLang="zh-CN" dirty="0"/>
            </a:p>
          </p:txBody>
        </p:sp>
        <p:sp>
          <p:nvSpPr>
            <p:cNvPr id="155" name="Rectangle 224"/>
            <p:cNvSpPr>
              <a:spLocks noChangeArrowheads="1"/>
            </p:cNvSpPr>
            <p:nvPr/>
          </p:nvSpPr>
          <p:spPr bwMode="auto">
            <a:xfrm>
              <a:off x="-551" y="2724"/>
              <a:ext cx="3709" cy="4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dirty="0"/>
                <a:t>Ferromagnetic elements: iron, nickel</a:t>
              </a:r>
              <a:r>
                <a:rPr lang="zh-CN" altLang="en-US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镍</a:t>
              </a:r>
              <a:r>
                <a:rPr lang="en-US" altLang="zh-CN" dirty="0"/>
                <a:t>, cobalt</a:t>
              </a:r>
              <a:r>
                <a:rPr lang="zh-CN" altLang="en-US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钴</a:t>
              </a:r>
              <a:r>
                <a:rPr lang="en-US" altLang="zh-CN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 </a:t>
              </a:r>
              <a:r>
                <a:rPr lang="en-US" altLang="zh-CN" dirty="0"/>
                <a:t>(room temperature), gadolinium</a:t>
              </a:r>
              <a:r>
                <a:rPr lang="zh-CN" altLang="en-US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轧</a:t>
              </a:r>
              <a:r>
                <a:rPr lang="en-US" altLang="zh-CN" dirty="0"/>
                <a:t>, dysprosium</a:t>
              </a:r>
              <a:r>
                <a:rPr lang="zh-CN" altLang="en-US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镝</a:t>
              </a:r>
              <a:r>
                <a:rPr lang="en-US" altLang="zh-CN" dirty="0"/>
                <a:t> (low temperature).</a:t>
              </a:r>
              <a:endParaRPr lang="en-US" altLang="zh-CN" dirty="0"/>
            </a:p>
          </p:txBody>
        </p:sp>
      </p:grpSp>
      <p:sp>
        <p:nvSpPr>
          <p:cNvPr id="253" name="Rectangle 227"/>
          <p:cNvSpPr>
            <a:spLocks noChangeArrowheads="1"/>
          </p:cNvSpPr>
          <p:nvPr/>
        </p:nvSpPr>
        <p:spPr bwMode="auto">
          <a:xfrm>
            <a:off x="533400" y="5257800"/>
            <a:ext cx="579755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Another manifestation is found in </a:t>
            </a:r>
            <a:r>
              <a:rPr lang="en-US" altLang="zh-CN" i="1" dirty="0" err="1">
                <a:solidFill>
                  <a:srgbClr val="C00000"/>
                </a:solidFill>
              </a:rPr>
              <a:t>superparamagnetic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超顺磁性</a:t>
            </a:r>
            <a:r>
              <a:rPr lang="en-US" altLang="zh-CN" dirty="0">
                <a:solidFill>
                  <a:srgbClr val="C00000"/>
                </a:solidFill>
              </a:rPr>
              <a:t>materials</a:t>
            </a:r>
            <a:r>
              <a:rPr lang="en-US" altLang="zh-CN" dirty="0"/>
              <a:t>, consisting of ferromagnetic particles suspended in a non-ferromagnetic matrix (magnetic recording tape is the most common example)</a:t>
            </a:r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29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Materials: </a:t>
            </a:r>
            <a:r>
              <a:rPr lang="en-US" altLang="zh-CN" sz="2800" dirty="0" err="1">
                <a:solidFill>
                  <a:srgbClr val="000099"/>
                </a:solidFill>
                <a:latin typeface="Times New Roman" panose="02020603050405020304" pitchFamily="18" charset="0"/>
              </a:rPr>
              <a:t>Antiferromagnetism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反铁磁性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13" name="Group 21"/>
          <p:cNvGrpSpPr/>
          <p:nvPr/>
        </p:nvGrpSpPr>
        <p:grpSpPr bwMode="auto">
          <a:xfrm>
            <a:off x="2911475" y="3170238"/>
            <a:ext cx="1600200" cy="1147763"/>
            <a:chOff x="912" y="1968"/>
            <a:chExt cx="1008" cy="723"/>
          </a:xfrm>
        </p:grpSpPr>
        <p:grpSp>
          <p:nvGrpSpPr>
            <p:cNvPr id="117" name="Group 11"/>
            <p:cNvGrpSpPr/>
            <p:nvPr/>
          </p:nvGrpSpPr>
          <p:grpSpPr bwMode="auto">
            <a:xfrm>
              <a:off x="912" y="1968"/>
              <a:ext cx="144" cy="720"/>
              <a:chOff x="912" y="1968"/>
              <a:chExt cx="144" cy="720"/>
            </a:xfrm>
          </p:grpSpPr>
          <p:sp>
            <p:nvSpPr>
              <p:cNvPr id="127" name="Line 9"/>
              <p:cNvSpPr>
                <a:spLocks noChangeShapeType="1"/>
              </p:cNvSpPr>
              <p:nvPr/>
            </p:nvSpPr>
            <p:spPr bwMode="auto">
              <a:xfrm>
                <a:off x="912" y="1968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8" name="Line 10"/>
              <p:cNvSpPr>
                <a:spLocks noChangeShapeType="1"/>
              </p:cNvSpPr>
              <p:nvPr/>
            </p:nvSpPr>
            <p:spPr bwMode="auto">
              <a:xfrm flipV="1">
                <a:off x="1056" y="1968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8" name="Group 12"/>
            <p:cNvGrpSpPr/>
            <p:nvPr/>
          </p:nvGrpSpPr>
          <p:grpSpPr bwMode="auto">
            <a:xfrm>
              <a:off x="1200" y="1968"/>
              <a:ext cx="144" cy="720"/>
              <a:chOff x="912" y="1968"/>
              <a:chExt cx="144" cy="720"/>
            </a:xfrm>
          </p:grpSpPr>
          <p:sp>
            <p:nvSpPr>
              <p:cNvPr id="125" name="Line 13"/>
              <p:cNvSpPr>
                <a:spLocks noChangeShapeType="1"/>
              </p:cNvSpPr>
              <p:nvPr/>
            </p:nvSpPr>
            <p:spPr bwMode="auto">
              <a:xfrm>
                <a:off x="912" y="1968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6" name="Line 14"/>
              <p:cNvSpPr>
                <a:spLocks noChangeShapeType="1"/>
              </p:cNvSpPr>
              <p:nvPr/>
            </p:nvSpPr>
            <p:spPr bwMode="auto">
              <a:xfrm flipV="1">
                <a:off x="1056" y="1968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19" name="Group 15"/>
            <p:cNvGrpSpPr/>
            <p:nvPr/>
          </p:nvGrpSpPr>
          <p:grpSpPr bwMode="auto">
            <a:xfrm>
              <a:off x="1488" y="1971"/>
              <a:ext cx="144" cy="720"/>
              <a:chOff x="912" y="1968"/>
              <a:chExt cx="144" cy="720"/>
            </a:xfrm>
          </p:grpSpPr>
          <p:sp>
            <p:nvSpPr>
              <p:cNvPr id="123" name="Line 16"/>
              <p:cNvSpPr>
                <a:spLocks noChangeShapeType="1"/>
              </p:cNvSpPr>
              <p:nvPr/>
            </p:nvSpPr>
            <p:spPr bwMode="auto">
              <a:xfrm>
                <a:off x="912" y="1968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4" name="Line 17"/>
              <p:cNvSpPr>
                <a:spLocks noChangeShapeType="1"/>
              </p:cNvSpPr>
              <p:nvPr/>
            </p:nvSpPr>
            <p:spPr bwMode="auto">
              <a:xfrm flipV="1">
                <a:off x="1056" y="1968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0" name="Group 18"/>
            <p:cNvGrpSpPr/>
            <p:nvPr/>
          </p:nvGrpSpPr>
          <p:grpSpPr bwMode="auto">
            <a:xfrm>
              <a:off x="1776" y="1968"/>
              <a:ext cx="144" cy="720"/>
              <a:chOff x="912" y="1968"/>
              <a:chExt cx="144" cy="720"/>
            </a:xfrm>
          </p:grpSpPr>
          <p:sp>
            <p:nvSpPr>
              <p:cNvPr id="121" name="Line 19"/>
              <p:cNvSpPr>
                <a:spLocks noChangeShapeType="1"/>
              </p:cNvSpPr>
              <p:nvPr/>
            </p:nvSpPr>
            <p:spPr bwMode="auto">
              <a:xfrm>
                <a:off x="912" y="1968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2" name="Line 20"/>
              <p:cNvSpPr>
                <a:spLocks noChangeShapeType="1"/>
              </p:cNvSpPr>
              <p:nvPr/>
            </p:nvSpPr>
            <p:spPr bwMode="auto">
              <a:xfrm flipV="1">
                <a:off x="1056" y="1968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14" name="Rectangle 22"/>
          <p:cNvSpPr>
            <a:spLocks noChangeArrowheads="1"/>
          </p:cNvSpPr>
          <p:nvPr/>
        </p:nvSpPr>
        <p:spPr bwMode="auto">
          <a:xfrm>
            <a:off x="639763" y="1905000"/>
            <a:ext cx="80851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>
                <a:solidFill>
                  <a:srgbClr val="C00000"/>
                </a:solidFill>
              </a:rPr>
              <a:t>In certain materials, and at low temperatures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C00000"/>
                </a:solidFill>
              </a:rPr>
              <a:t>adjacent magnetic moments are oriented 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in opposite directions</a:t>
            </a:r>
            <a:r>
              <a:rPr lang="en-US" altLang="zh-CN" dirty="0"/>
              <a:t>, this being the </a:t>
            </a:r>
            <a:r>
              <a:rPr lang="en-US" altLang="zh-CN" dirty="0">
                <a:solidFill>
                  <a:srgbClr val="C00000"/>
                </a:solidFill>
              </a:rPr>
              <a:t>lowest energy state for the ensemble</a:t>
            </a:r>
            <a:r>
              <a:rPr lang="en-US" altLang="zh-CN" dirty="0"/>
              <a:t>.  </a:t>
            </a:r>
            <a:endParaRPr lang="en-US" altLang="zh-CN" dirty="0"/>
          </a:p>
          <a:p>
            <a:r>
              <a:rPr lang="en-US" altLang="zh-CN" dirty="0"/>
              <a:t>The application of an external field produces </a:t>
            </a:r>
            <a:r>
              <a:rPr lang="en-US" altLang="zh-CN" dirty="0">
                <a:solidFill>
                  <a:srgbClr val="C00000"/>
                </a:solidFill>
              </a:rPr>
              <a:t>no change in the net flux density </a:t>
            </a:r>
            <a:r>
              <a:rPr lang="en-US" altLang="zh-CN" dirty="0"/>
              <a:t>.</a:t>
            </a:r>
            <a:endParaRPr lang="en-US" altLang="zh-CN" dirty="0"/>
          </a:p>
        </p:txBody>
      </p:sp>
      <p:sp>
        <p:nvSpPr>
          <p:cNvPr id="115" name="Rectangle 23"/>
          <p:cNvSpPr>
            <a:spLocks noChangeArrowheads="1"/>
          </p:cNvSpPr>
          <p:nvPr/>
        </p:nvSpPr>
        <p:spPr bwMode="auto">
          <a:xfrm>
            <a:off x="2728913" y="4227513"/>
            <a:ext cx="376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b="1"/>
              <a:t>m</a:t>
            </a:r>
            <a:endParaRPr lang="en-US" altLang="zh-CN" b="1"/>
          </a:p>
        </p:txBody>
      </p:sp>
      <p:sp>
        <p:nvSpPr>
          <p:cNvPr id="116" name="Rectangle 24"/>
          <p:cNvSpPr>
            <a:spLocks noChangeArrowheads="1"/>
          </p:cNvSpPr>
          <p:nvPr/>
        </p:nvSpPr>
        <p:spPr bwMode="auto">
          <a:xfrm>
            <a:off x="736600" y="4951413"/>
            <a:ext cx="7635424" cy="6463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Example of antiferromagnetic materials:  manganese oxide</a:t>
            </a: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氧化锰</a:t>
            </a:r>
            <a:r>
              <a:rPr lang="en-US" altLang="zh-CN" dirty="0"/>
              <a:t>, nickel oxide,</a:t>
            </a:r>
            <a:endParaRPr lang="en-US" altLang="zh-CN" dirty="0"/>
          </a:p>
          <a:p>
            <a:r>
              <a:rPr lang="en-US" altLang="zh-CN" dirty="0"/>
              <a:t>ferrous sulfide</a:t>
            </a: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硫化亚铁</a:t>
            </a:r>
            <a:r>
              <a:rPr lang="en-US" altLang="zh-CN" dirty="0"/>
              <a:t>, cobalt chloride</a:t>
            </a:r>
            <a:r>
              <a:rPr lang="zh-CN" altLang="en-US" dirty="0">
                <a:latin typeface="华文行楷" panose="02010800040101010101" pitchFamily="2" charset="-122"/>
                <a:ea typeface="华文行楷" panose="02010800040101010101" pitchFamily="2" charset="-122"/>
              </a:rPr>
              <a:t>氯化亚钴</a:t>
            </a:r>
            <a:endParaRPr lang="en-US" altLang="zh-CN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30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Materials: Ferrimagnetism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亚铁磁性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130" name="Group 30"/>
          <p:cNvGrpSpPr/>
          <p:nvPr/>
        </p:nvGrpSpPr>
        <p:grpSpPr bwMode="auto">
          <a:xfrm>
            <a:off x="442911" y="1644650"/>
            <a:ext cx="8015289" cy="4222750"/>
            <a:chOff x="279" y="864"/>
            <a:chExt cx="5049" cy="2660"/>
          </a:xfrm>
        </p:grpSpPr>
        <p:sp>
          <p:nvSpPr>
            <p:cNvPr id="131" name="Rectangle 18"/>
            <p:cNvSpPr>
              <a:spLocks noChangeArrowheads="1"/>
            </p:cNvSpPr>
            <p:nvPr/>
          </p:nvSpPr>
          <p:spPr bwMode="auto">
            <a:xfrm>
              <a:off x="279" y="864"/>
              <a:ext cx="5049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dirty="0"/>
                <a:t>In certain materials, the lowest energy configuration involves </a:t>
              </a:r>
              <a:r>
                <a:rPr lang="en-US" altLang="zh-CN" dirty="0">
                  <a:solidFill>
                    <a:srgbClr val="C00000"/>
                  </a:solidFill>
                </a:rPr>
                <a:t>adjacent magnetic moments that are oriented with opposing orientations</a:t>
              </a:r>
              <a:r>
                <a:rPr lang="en-US" altLang="zh-CN" dirty="0"/>
                <a:t>, </a:t>
              </a:r>
              <a:r>
                <a:rPr lang="en-US" altLang="zh-CN" dirty="0">
                  <a:solidFill>
                    <a:srgbClr val="C00000"/>
                  </a:solidFill>
                </a:rPr>
                <a:t>but with different magnitudes as shown. </a:t>
              </a:r>
              <a:r>
                <a:rPr lang="en-US" altLang="zh-CN" dirty="0"/>
                <a:t>The application of </a:t>
              </a:r>
              <a:r>
                <a:rPr lang="en-US" altLang="zh-CN" dirty="0">
                  <a:solidFill>
                    <a:srgbClr val="C00000"/>
                  </a:solidFill>
                </a:rPr>
                <a:t>an external field produces a significant change in the net flux density, but not as strong as in ferromagnetic materials</a:t>
              </a:r>
              <a:r>
                <a:rPr lang="en-US" altLang="zh-CN" dirty="0"/>
                <a:t>.  The most important materials in this class are the </a:t>
              </a:r>
              <a:r>
                <a:rPr lang="en-US" altLang="zh-CN" i="1" dirty="0"/>
                <a:t>ferrites</a:t>
              </a:r>
              <a:r>
                <a:rPr lang="zh-CN" altLang="en-US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铁氧体</a:t>
              </a:r>
              <a:r>
                <a:rPr lang="en-US" altLang="zh-CN" dirty="0"/>
                <a:t>, distinguished by having low conductivity</a:t>
              </a:r>
              <a:r>
                <a:rPr lang="zh-CN" altLang="en-US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很低的电阻率</a:t>
              </a:r>
              <a:r>
                <a:rPr lang="en-US" altLang="zh-CN" dirty="0"/>
                <a:t>. </a:t>
              </a:r>
              <a:endParaRPr lang="en-US" altLang="zh-CN" dirty="0"/>
            </a:p>
          </p:txBody>
        </p:sp>
        <p:sp>
          <p:nvSpPr>
            <p:cNvPr id="132" name="Rectangle 20"/>
            <p:cNvSpPr>
              <a:spLocks noChangeArrowheads="1"/>
            </p:cNvSpPr>
            <p:nvPr/>
          </p:nvSpPr>
          <p:spPr bwMode="auto">
            <a:xfrm>
              <a:off x="468" y="3117"/>
              <a:ext cx="4716" cy="40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dirty="0"/>
                <a:t>Example of </a:t>
              </a:r>
              <a:r>
                <a:rPr lang="en-US" altLang="zh-CN" dirty="0" err="1"/>
                <a:t>ferrimagnetic</a:t>
              </a:r>
              <a:r>
                <a:rPr lang="en-US" altLang="zh-CN" dirty="0"/>
                <a:t> materials:  iron oxide magnetite</a:t>
              </a:r>
              <a:r>
                <a:rPr lang="zh-CN" altLang="en-US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氧化铁磁体</a:t>
              </a:r>
              <a:r>
                <a:rPr lang="zh-CN" altLang="en-US" dirty="0"/>
                <a:t>（</a:t>
              </a:r>
              <a:r>
                <a:rPr lang="en-US" altLang="zh-CN" dirty="0"/>
                <a:t>Fe</a:t>
              </a:r>
              <a:r>
                <a:rPr lang="en-US" altLang="zh-CN" baseline="-25000" dirty="0"/>
                <a:t>3</a:t>
              </a:r>
              <a:r>
                <a:rPr lang="en-US" altLang="zh-CN" dirty="0"/>
                <a:t>O</a:t>
              </a:r>
              <a:r>
                <a:rPr lang="en-US" altLang="zh-CN" baseline="-25000" dirty="0"/>
                <a:t>4</a:t>
              </a:r>
              <a:r>
                <a:rPr lang="zh-CN" altLang="en-US" dirty="0"/>
                <a:t>）</a:t>
              </a:r>
              <a:r>
                <a:rPr lang="en-US" altLang="zh-CN" dirty="0"/>
                <a:t>, nickel-zinc Ferrite</a:t>
              </a:r>
              <a:r>
                <a:rPr lang="zh-CN" altLang="en-US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镍锌铁氧体</a:t>
              </a:r>
              <a:r>
                <a:rPr lang="en-US" altLang="zh-CN" dirty="0"/>
                <a:t>, nickel ferrite</a:t>
              </a:r>
              <a:r>
                <a:rPr lang="zh-CN" altLang="en-US" dirty="0">
                  <a:latin typeface="华文行楷" panose="02010800040101010101" pitchFamily="2" charset="-122"/>
                  <a:ea typeface="华文行楷" panose="02010800040101010101" pitchFamily="2" charset="-122"/>
                </a:rPr>
                <a:t>镍铁氧体</a:t>
              </a:r>
              <a:r>
                <a:rPr lang="en-US" altLang="zh-CN" dirty="0"/>
                <a:t>.</a:t>
              </a:r>
              <a:endParaRPr lang="en-US" altLang="zh-CN" dirty="0"/>
            </a:p>
          </p:txBody>
        </p:sp>
        <p:grpSp>
          <p:nvGrpSpPr>
            <p:cNvPr id="133" name="Group 27"/>
            <p:cNvGrpSpPr/>
            <p:nvPr/>
          </p:nvGrpSpPr>
          <p:grpSpPr bwMode="auto">
            <a:xfrm>
              <a:off x="2016" y="2109"/>
              <a:ext cx="1506" cy="726"/>
              <a:chOff x="2016" y="2109"/>
              <a:chExt cx="1506" cy="726"/>
            </a:xfrm>
          </p:grpSpPr>
          <p:sp>
            <p:nvSpPr>
              <p:cNvPr id="136" name="Line 7"/>
              <p:cNvSpPr>
                <a:spLocks noChangeShapeType="1"/>
              </p:cNvSpPr>
              <p:nvPr/>
            </p:nvSpPr>
            <p:spPr bwMode="auto">
              <a:xfrm>
                <a:off x="2160" y="2109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" name="Line 10"/>
              <p:cNvSpPr>
                <a:spLocks noChangeShapeType="1"/>
              </p:cNvSpPr>
              <p:nvPr/>
            </p:nvSpPr>
            <p:spPr bwMode="auto">
              <a:xfrm flipV="1">
                <a:off x="2313" y="2334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" name="Line 11"/>
              <p:cNvSpPr>
                <a:spLocks noChangeShapeType="1"/>
              </p:cNvSpPr>
              <p:nvPr/>
            </p:nvSpPr>
            <p:spPr bwMode="auto">
              <a:xfrm flipV="1">
                <a:off x="2463" y="2109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" name="Line 13"/>
              <p:cNvSpPr>
                <a:spLocks noChangeShapeType="1"/>
              </p:cNvSpPr>
              <p:nvPr/>
            </p:nvSpPr>
            <p:spPr bwMode="auto">
              <a:xfrm>
                <a:off x="2607" y="2112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0" name="Line 14"/>
              <p:cNvSpPr>
                <a:spLocks noChangeShapeType="1"/>
              </p:cNvSpPr>
              <p:nvPr/>
            </p:nvSpPr>
            <p:spPr bwMode="auto">
              <a:xfrm flipV="1">
                <a:off x="2907" y="2112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1" name="Line 16"/>
              <p:cNvSpPr>
                <a:spLocks noChangeShapeType="1"/>
              </p:cNvSpPr>
              <p:nvPr/>
            </p:nvSpPr>
            <p:spPr bwMode="auto">
              <a:xfrm>
                <a:off x="3051" y="2109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" name="Line 22"/>
              <p:cNvSpPr>
                <a:spLocks noChangeShapeType="1"/>
              </p:cNvSpPr>
              <p:nvPr/>
            </p:nvSpPr>
            <p:spPr bwMode="auto">
              <a:xfrm flipV="1">
                <a:off x="2016" y="2109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" name="Line 23"/>
              <p:cNvSpPr>
                <a:spLocks noChangeShapeType="1"/>
              </p:cNvSpPr>
              <p:nvPr/>
            </p:nvSpPr>
            <p:spPr bwMode="auto">
              <a:xfrm flipV="1">
                <a:off x="2757" y="2337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" name="Line 24"/>
              <p:cNvSpPr>
                <a:spLocks noChangeShapeType="1"/>
              </p:cNvSpPr>
              <p:nvPr/>
            </p:nvSpPr>
            <p:spPr bwMode="auto">
              <a:xfrm flipV="1">
                <a:off x="3210" y="2340"/>
                <a:ext cx="0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5" name="Line 25"/>
              <p:cNvSpPr>
                <a:spLocks noChangeShapeType="1"/>
              </p:cNvSpPr>
              <p:nvPr/>
            </p:nvSpPr>
            <p:spPr bwMode="auto">
              <a:xfrm flipV="1">
                <a:off x="3378" y="2115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" name="Line 26"/>
              <p:cNvSpPr>
                <a:spLocks noChangeShapeType="1"/>
              </p:cNvSpPr>
              <p:nvPr/>
            </p:nvSpPr>
            <p:spPr bwMode="auto">
              <a:xfrm>
                <a:off x="3522" y="2112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4" name="Rectangle 28"/>
            <p:cNvSpPr>
              <a:spLocks noChangeArrowheads="1"/>
            </p:cNvSpPr>
            <p:nvPr/>
          </p:nvSpPr>
          <p:spPr bwMode="auto">
            <a:xfrm>
              <a:off x="1905" y="2794"/>
              <a:ext cx="22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600" b="1"/>
                <a:t>m</a:t>
              </a:r>
              <a:endParaRPr lang="en-US" altLang="zh-CN" sz="1600" b="1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31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Magnetic Material Summary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2133600"/>
            <a:ext cx="8033981" cy="305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32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Magnetization 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磁化，磁化强度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8" name="Group 12"/>
          <p:cNvGrpSpPr/>
          <p:nvPr/>
        </p:nvGrpSpPr>
        <p:grpSpPr bwMode="auto">
          <a:xfrm>
            <a:off x="5791200" y="1447800"/>
            <a:ext cx="2514600" cy="2281238"/>
            <a:chOff x="3744" y="1194"/>
            <a:chExt cx="1584" cy="1437"/>
          </a:xfrm>
        </p:grpSpPr>
        <p:grpSp>
          <p:nvGrpSpPr>
            <p:cNvPr id="9" name="Group 8"/>
            <p:cNvGrpSpPr/>
            <p:nvPr/>
          </p:nvGrpSpPr>
          <p:grpSpPr bwMode="auto">
            <a:xfrm>
              <a:off x="3744" y="1194"/>
              <a:ext cx="1584" cy="1254"/>
              <a:chOff x="3744" y="1194"/>
              <a:chExt cx="1584" cy="1254"/>
            </a:xfrm>
          </p:grpSpPr>
          <p:sp>
            <p:nvSpPr>
              <p:cNvPr id="13" name="Oval 4"/>
              <p:cNvSpPr>
                <a:spLocks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14" name="Line 5"/>
              <p:cNvSpPr>
                <a:spLocks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Line 6"/>
              <p:cNvSpPr>
                <a:spLocks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Line 7"/>
              <p:cNvSpPr>
                <a:spLocks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896" y="2400"/>
              <a:ext cx="2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i="1"/>
                <a:t>I</a:t>
              </a:r>
              <a:r>
                <a:rPr lang="en-US" altLang="zh-CN" i="1" baseline="-25000"/>
                <a:t>b</a:t>
              </a:r>
              <a:endParaRPr lang="en-US" altLang="zh-CN" i="1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4560" y="1248"/>
              <a:ext cx="2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m</a:t>
              </a:r>
              <a:endParaRPr lang="en-US" altLang="zh-CN" b="1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936" y="2016"/>
              <a:ext cx="2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i="1"/>
                <a:t>d</a:t>
              </a:r>
              <a:r>
                <a:rPr lang="en-US" altLang="zh-CN" b="1"/>
                <a:t>S</a:t>
              </a:r>
              <a:endParaRPr lang="en-US" altLang="zh-CN" i="1"/>
            </a:p>
          </p:txBody>
        </p:sp>
      </p:grpSp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528887"/>
            <a:ext cx="1644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457200" y="1720850"/>
            <a:ext cx="5486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Consider a </a:t>
            </a:r>
            <a:r>
              <a:rPr lang="en-US" altLang="zh-CN" dirty="0">
                <a:solidFill>
                  <a:srgbClr val="C00000"/>
                </a:solidFill>
              </a:rPr>
              <a:t>bound current</a:t>
            </a:r>
            <a:r>
              <a:rPr lang="en-US" altLang="zh-CN" dirty="0"/>
              <a:t>, </a:t>
            </a:r>
            <a:r>
              <a:rPr lang="en-US" altLang="zh-CN" i="1" dirty="0" err="1"/>
              <a:t>I</a:t>
            </a:r>
            <a:r>
              <a:rPr lang="en-US" altLang="zh-CN" i="1" baseline="-25000" dirty="0" err="1"/>
              <a:t>b</a:t>
            </a:r>
            <a:r>
              <a:rPr lang="en-US" altLang="zh-CN" i="1" dirty="0"/>
              <a:t>, </a:t>
            </a:r>
            <a:r>
              <a:rPr lang="en-US" altLang="zh-CN" dirty="0"/>
              <a:t>surrounding</a:t>
            </a:r>
            <a:r>
              <a:rPr lang="zh-CN" altLang="en-US" dirty="0"/>
              <a:t> </a:t>
            </a:r>
            <a:r>
              <a:rPr lang="en-US" altLang="zh-CN" dirty="0"/>
              <a:t>a differential area, </a:t>
            </a:r>
            <a:r>
              <a:rPr lang="en-US" altLang="zh-CN" i="1" dirty="0" err="1"/>
              <a:t>dS</a:t>
            </a:r>
            <a:r>
              <a:rPr lang="en-US" altLang="zh-CN" dirty="0"/>
              <a:t>.  The magnetic moment is</a:t>
            </a:r>
            <a:endParaRPr lang="en-US" altLang="zh-CN" dirty="0"/>
          </a:p>
        </p:txBody>
      </p:sp>
      <p:pic>
        <p:nvPicPr>
          <p:cNvPr id="19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3525" y="4572000"/>
            <a:ext cx="2505075" cy="1147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20" name="Group 95"/>
          <p:cNvGrpSpPr/>
          <p:nvPr/>
        </p:nvGrpSpPr>
        <p:grpSpPr bwMode="auto">
          <a:xfrm>
            <a:off x="457200" y="3228975"/>
            <a:ext cx="5105401" cy="1190625"/>
            <a:chOff x="243" y="1938"/>
            <a:chExt cx="3216" cy="750"/>
          </a:xfrm>
        </p:grpSpPr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243" y="1938"/>
              <a:ext cx="3216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dirty="0"/>
                <a:t>Then, if </a:t>
              </a:r>
              <a:r>
                <a:rPr lang="en-US" altLang="zh-CN" dirty="0">
                  <a:solidFill>
                    <a:srgbClr val="C00000"/>
                  </a:solidFill>
                </a:rPr>
                <a:t>several such moments exist within</a:t>
              </a:r>
              <a:endParaRPr lang="en-US" altLang="zh-CN" dirty="0">
                <a:solidFill>
                  <a:srgbClr val="C00000"/>
                </a:solidFill>
              </a:endParaRPr>
            </a:p>
            <a:p>
              <a:r>
                <a:rPr lang="en-US" altLang="zh-CN" dirty="0">
                  <a:solidFill>
                    <a:srgbClr val="C00000"/>
                  </a:solidFill>
                </a:rPr>
                <a:t>a volume</a:t>
              </a:r>
              <a:r>
                <a:rPr lang="en-US" altLang="zh-CN" dirty="0"/>
                <a:t>        , then </a:t>
              </a:r>
              <a:r>
                <a:rPr lang="en-US" altLang="zh-CN" dirty="0">
                  <a:solidFill>
                    <a:srgbClr val="C00000"/>
                  </a:solidFill>
                </a:rPr>
                <a:t>the total magnetic moment</a:t>
              </a:r>
              <a:endParaRPr lang="en-US" altLang="zh-CN" dirty="0">
                <a:solidFill>
                  <a:srgbClr val="C00000"/>
                </a:solidFill>
              </a:endParaRPr>
            </a:p>
            <a:p>
              <a:r>
                <a:rPr lang="en-US" altLang="zh-CN" dirty="0"/>
                <a:t>within that volume will be the vector sum of the </a:t>
              </a:r>
              <a:endParaRPr lang="en-US" altLang="zh-CN" dirty="0"/>
            </a:p>
            <a:p>
              <a:r>
                <a:rPr lang="en-US" altLang="zh-CN" dirty="0"/>
                <a:t>contributors, or: </a:t>
              </a:r>
              <a:endParaRPr lang="en-US" altLang="zh-CN" dirty="0"/>
            </a:p>
          </p:txBody>
        </p:sp>
        <p:pic>
          <p:nvPicPr>
            <p:cNvPr id="22" name="Picture 1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2" y="2129"/>
              <a:ext cx="242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4" name="Rectangle 20"/>
          <p:cNvSpPr>
            <a:spLocks noChangeArrowheads="1"/>
          </p:cNvSpPr>
          <p:nvPr/>
        </p:nvSpPr>
        <p:spPr bwMode="auto">
          <a:xfrm>
            <a:off x="419675" y="5943600"/>
            <a:ext cx="59811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where </a:t>
            </a:r>
            <a:r>
              <a:rPr lang="en-US" altLang="zh-CN" i="1" dirty="0"/>
              <a:t>n </a:t>
            </a:r>
            <a:r>
              <a:rPr lang="en-US" altLang="zh-CN" dirty="0"/>
              <a:t>is the </a:t>
            </a:r>
            <a:r>
              <a:rPr lang="en-US" altLang="zh-CN" dirty="0">
                <a:solidFill>
                  <a:srgbClr val="C00000"/>
                </a:solidFill>
              </a:rPr>
              <a:t>dipole volume density </a:t>
            </a:r>
            <a:r>
              <a:rPr lang="en-US" altLang="zh-CN" dirty="0"/>
              <a:t>(dipoles per unit volume)</a:t>
            </a:r>
            <a:endParaRPr lang="en-US" altLang="zh-CN" dirty="0"/>
          </a:p>
        </p:txBody>
      </p:sp>
      <p:grpSp>
        <p:nvGrpSpPr>
          <p:cNvPr id="25" name="Group 93"/>
          <p:cNvGrpSpPr/>
          <p:nvPr/>
        </p:nvGrpSpPr>
        <p:grpSpPr bwMode="auto">
          <a:xfrm>
            <a:off x="6096000" y="3962400"/>
            <a:ext cx="1828800" cy="2209800"/>
            <a:chOff x="3024" y="2475"/>
            <a:chExt cx="1152" cy="1392"/>
          </a:xfrm>
        </p:grpSpPr>
        <p:grpSp>
          <p:nvGrpSpPr>
            <p:cNvPr id="26" name="Group 27"/>
            <p:cNvGrpSpPr>
              <a:grpSpLocks noChangeAspect="1"/>
            </p:cNvGrpSpPr>
            <p:nvPr/>
          </p:nvGrpSpPr>
          <p:grpSpPr bwMode="auto">
            <a:xfrm>
              <a:off x="3600" y="2739"/>
              <a:ext cx="322" cy="255"/>
              <a:chOff x="3744" y="1194"/>
              <a:chExt cx="1584" cy="1254"/>
            </a:xfrm>
          </p:grpSpPr>
          <p:sp>
            <p:nvSpPr>
              <p:cNvPr id="84" name="Oval 28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85" name="Line 29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6" name="Line 30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7" name="Line 31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" name="Group 36"/>
            <p:cNvGrpSpPr>
              <a:grpSpLocks noChangeAspect="1"/>
            </p:cNvGrpSpPr>
            <p:nvPr/>
          </p:nvGrpSpPr>
          <p:grpSpPr bwMode="auto">
            <a:xfrm rot="2796953">
              <a:off x="3759" y="3009"/>
              <a:ext cx="322" cy="255"/>
              <a:chOff x="3744" y="1194"/>
              <a:chExt cx="1584" cy="1254"/>
            </a:xfrm>
          </p:grpSpPr>
          <p:sp>
            <p:nvSpPr>
              <p:cNvPr id="80" name="Oval 37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81" name="Line 38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" name="Line 39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3" name="Line 40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" name="Group 41"/>
            <p:cNvGrpSpPr>
              <a:grpSpLocks noChangeAspect="1"/>
            </p:cNvGrpSpPr>
            <p:nvPr/>
          </p:nvGrpSpPr>
          <p:grpSpPr bwMode="auto">
            <a:xfrm rot="-2281751">
              <a:off x="3408" y="3168"/>
              <a:ext cx="322" cy="255"/>
              <a:chOff x="3744" y="1194"/>
              <a:chExt cx="1584" cy="1254"/>
            </a:xfrm>
          </p:grpSpPr>
          <p:sp>
            <p:nvSpPr>
              <p:cNvPr id="76" name="Oval 42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77" name="Line 43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" name="Line 44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9" name="Line 45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9" name="Group 46"/>
            <p:cNvGrpSpPr>
              <a:grpSpLocks noChangeAspect="1"/>
            </p:cNvGrpSpPr>
            <p:nvPr/>
          </p:nvGrpSpPr>
          <p:grpSpPr bwMode="auto">
            <a:xfrm rot="4752089">
              <a:off x="3744" y="3345"/>
              <a:ext cx="322" cy="255"/>
              <a:chOff x="3744" y="1194"/>
              <a:chExt cx="1584" cy="1254"/>
            </a:xfrm>
          </p:grpSpPr>
          <p:sp>
            <p:nvSpPr>
              <p:cNvPr id="72" name="Oval 47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73" name="Line 48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4" name="Line 49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5" name="Line 50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0" name="Group 51"/>
            <p:cNvGrpSpPr>
              <a:grpSpLocks noChangeAspect="1"/>
            </p:cNvGrpSpPr>
            <p:nvPr/>
          </p:nvGrpSpPr>
          <p:grpSpPr bwMode="auto">
            <a:xfrm rot="2406003">
              <a:off x="3312" y="2865"/>
              <a:ext cx="322" cy="255"/>
              <a:chOff x="3744" y="1194"/>
              <a:chExt cx="1584" cy="1254"/>
            </a:xfrm>
          </p:grpSpPr>
          <p:sp>
            <p:nvSpPr>
              <p:cNvPr id="68" name="Oval 52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69" name="Line 53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0" name="Line 54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" name="Line 55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" name="Group 56"/>
            <p:cNvGrpSpPr>
              <a:grpSpLocks noChangeAspect="1"/>
            </p:cNvGrpSpPr>
            <p:nvPr/>
          </p:nvGrpSpPr>
          <p:grpSpPr bwMode="auto">
            <a:xfrm rot="7327711">
              <a:off x="3519" y="3551"/>
              <a:ext cx="322" cy="255"/>
              <a:chOff x="3744" y="1194"/>
              <a:chExt cx="1584" cy="1254"/>
            </a:xfrm>
          </p:grpSpPr>
          <p:sp>
            <p:nvSpPr>
              <p:cNvPr id="64" name="Oval 57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65" name="Line 58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6" name="Line 59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7" name="Line 60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2" name="Group 62"/>
            <p:cNvGrpSpPr>
              <a:grpSpLocks noChangeAspect="1"/>
            </p:cNvGrpSpPr>
            <p:nvPr/>
          </p:nvGrpSpPr>
          <p:grpSpPr bwMode="auto">
            <a:xfrm rot="-2248777">
              <a:off x="3143" y="3117"/>
              <a:ext cx="322" cy="255"/>
              <a:chOff x="3744" y="1194"/>
              <a:chExt cx="1584" cy="1254"/>
            </a:xfrm>
          </p:grpSpPr>
          <p:sp>
            <p:nvSpPr>
              <p:cNvPr id="60" name="Oval 63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61" name="Line 64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" name="Line 65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" name="Line 66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3" name="Group 67"/>
            <p:cNvGrpSpPr>
              <a:grpSpLocks noChangeAspect="1"/>
            </p:cNvGrpSpPr>
            <p:nvPr/>
          </p:nvGrpSpPr>
          <p:grpSpPr bwMode="auto">
            <a:xfrm rot="-7482063">
              <a:off x="3168" y="3489"/>
              <a:ext cx="322" cy="255"/>
              <a:chOff x="3744" y="1194"/>
              <a:chExt cx="1584" cy="1254"/>
            </a:xfrm>
          </p:grpSpPr>
          <p:sp>
            <p:nvSpPr>
              <p:cNvPr id="56" name="Oval 68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57" name="Line 69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8" name="Line 70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9" name="Line 71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4" name="Oval 72"/>
            <p:cNvSpPr>
              <a:spLocks noChangeArrowheads="1"/>
            </p:cNvSpPr>
            <p:nvPr/>
          </p:nvSpPr>
          <p:spPr bwMode="auto">
            <a:xfrm>
              <a:off x="3024" y="2475"/>
              <a:ext cx="1152" cy="13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grpSp>
          <p:nvGrpSpPr>
            <p:cNvPr id="35" name="Group 73"/>
            <p:cNvGrpSpPr>
              <a:grpSpLocks noChangeAspect="1"/>
            </p:cNvGrpSpPr>
            <p:nvPr/>
          </p:nvGrpSpPr>
          <p:grpSpPr bwMode="auto">
            <a:xfrm rot="5835545">
              <a:off x="3366" y="2624"/>
              <a:ext cx="322" cy="255"/>
              <a:chOff x="3744" y="1194"/>
              <a:chExt cx="1584" cy="1254"/>
            </a:xfrm>
          </p:grpSpPr>
          <p:sp>
            <p:nvSpPr>
              <p:cNvPr id="52" name="Oval 74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53" name="Line 75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Line 76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Line 77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6" name="Group 78"/>
            <p:cNvGrpSpPr>
              <a:grpSpLocks noChangeAspect="1"/>
            </p:cNvGrpSpPr>
            <p:nvPr/>
          </p:nvGrpSpPr>
          <p:grpSpPr bwMode="auto">
            <a:xfrm rot="6866920">
              <a:off x="3123" y="2730"/>
              <a:ext cx="322" cy="255"/>
              <a:chOff x="3744" y="1194"/>
              <a:chExt cx="1584" cy="1254"/>
            </a:xfrm>
          </p:grpSpPr>
          <p:sp>
            <p:nvSpPr>
              <p:cNvPr id="48" name="Oval 79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49" name="Line 80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0" name="Line 81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" name="Line 82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7" name="Group 83"/>
            <p:cNvGrpSpPr>
              <a:grpSpLocks noChangeAspect="1"/>
            </p:cNvGrpSpPr>
            <p:nvPr/>
          </p:nvGrpSpPr>
          <p:grpSpPr bwMode="auto">
            <a:xfrm rot="-9200728">
              <a:off x="3576" y="2556"/>
              <a:ext cx="322" cy="255"/>
              <a:chOff x="3744" y="1194"/>
              <a:chExt cx="1584" cy="1254"/>
            </a:xfrm>
          </p:grpSpPr>
          <p:sp>
            <p:nvSpPr>
              <p:cNvPr id="44" name="Oval 84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45" name="Line 85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6" name="Line 86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7" name="Line 87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8" name="Group 88"/>
            <p:cNvGrpSpPr>
              <a:grpSpLocks noChangeAspect="1"/>
            </p:cNvGrpSpPr>
            <p:nvPr/>
          </p:nvGrpSpPr>
          <p:grpSpPr bwMode="auto">
            <a:xfrm rot="4049944">
              <a:off x="3045" y="2994"/>
              <a:ext cx="322" cy="255"/>
              <a:chOff x="3744" y="1194"/>
              <a:chExt cx="1584" cy="1254"/>
            </a:xfrm>
          </p:grpSpPr>
          <p:sp>
            <p:nvSpPr>
              <p:cNvPr id="39" name="Oval 89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40" name="Line 90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" name="Line 91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2" name="Line 92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88" name="Picture 9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188" y="4643438"/>
            <a:ext cx="328612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7349224" y="1905000"/>
            <a:ext cx="17427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Magnetic Dipole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磁偶极子</a:t>
            </a:r>
            <a:endParaRPr lang="zh-CN" altLang="en-US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33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Magnetization</a:t>
            </a:r>
            <a:r>
              <a:rPr lang="zh-CN" altLang="en-US" sz="2800" dirty="0">
                <a:solidFill>
                  <a:srgbClr val="000099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磁化强度</a:t>
            </a:r>
            <a:endParaRPr lang="zh-CN" altLang="en-US" sz="2800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0" name="Rectangle 20"/>
          <p:cNvSpPr>
            <a:spLocks noChangeArrowheads="1"/>
          </p:cNvSpPr>
          <p:nvPr/>
        </p:nvSpPr>
        <p:spPr bwMode="auto">
          <a:xfrm>
            <a:off x="609600" y="1662113"/>
            <a:ext cx="748153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The </a:t>
            </a:r>
            <a:r>
              <a:rPr lang="en-US" altLang="zh-CN" i="1" dirty="0">
                <a:solidFill>
                  <a:srgbClr val="C00000"/>
                </a:solidFill>
              </a:rPr>
              <a:t>magnetization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磁化强度</a:t>
            </a:r>
            <a:r>
              <a:rPr lang="en-US" altLang="zh-CN" dirty="0"/>
              <a:t>is the dipole moment per unit volume, in the limit </a:t>
            </a:r>
            <a:endParaRPr lang="en-US" altLang="zh-CN" dirty="0"/>
          </a:p>
          <a:p>
            <a:r>
              <a:rPr lang="en-US" altLang="zh-CN" dirty="0"/>
              <a:t>as the volume shrinks to a point:</a:t>
            </a:r>
            <a:endParaRPr lang="en-US" altLang="zh-CN" dirty="0"/>
          </a:p>
        </p:txBody>
      </p:sp>
      <p:pic>
        <p:nvPicPr>
          <p:cNvPr id="91" name="Picture 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950" y="2613025"/>
            <a:ext cx="3117850" cy="1044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2" name="Rectangle 24"/>
          <p:cNvSpPr>
            <a:spLocks noChangeArrowheads="1"/>
          </p:cNvSpPr>
          <p:nvPr/>
        </p:nvSpPr>
        <p:spPr bwMode="auto">
          <a:xfrm>
            <a:off x="685800" y="4646613"/>
            <a:ext cx="51054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i="1" dirty="0"/>
              <a:t>If all dipoles are identical</a:t>
            </a:r>
            <a:r>
              <a:rPr lang="en-US" altLang="zh-CN" dirty="0"/>
              <a:t>, each having moment </a:t>
            </a:r>
            <a:r>
              <a:rPr lang="en-US" altLang="zh-CN" b="1" dirty="0"/>
              <a:t>m</a:t>
            </a:r>
            <a:r>
              <a:rPr lang="en-US" altLang="zh-CN" dirty="0"/>
              <a:t>, </a:t>
            </a:r>
            <a:endParaRPr lang="en-US" altLang="zh-CN" dirty="0"/>
          </a:p>
          <a:p>
            <a:r>
              <a:rPr lang="en-US" altLang="zh-CN" dirty="0"/>
              <a:t>and if they all have the same orientation, then the </a:t>
            </a:r>
            <a:endParaRPr lang="en-US" altLang="zh-CN" dirty="0"/>
          </a:p>
          <a:p>
            <a:r>
              <a:rPr lang="en-US" altLang="zh-CN" dirty="0"/>
              <a:t>magnetization simplifies to:</a:t>
            </a:r>
            <a:endParaRPr lang="en-US" altLang="zh-CN" dirty="0"/>
          </a:p>
        </p:txBody>
      </p:sp>
      <p:grpSp>
        <p:nvGrpSpPr>
          <p:cNvPr id="93" name="Group 25"/>
          <p:cNvGrpSpPr/>
          <p:nvPr/>
        </p:nvGrpSpPr>
        <p:grpSpPr bwMode="auto">
          <a:xfrm>
            <a:off x="6172200" y="2057400"/>
            <a:ext cx="1828800" cy="2209800"/>
            <a:chOff x="3024" y="2475"/>
            <a:chExt cx="1152" cy="1392"/>
          </a:xfrm>
        </p:grpSpPr>
        <p:grpSp>
          <p:nvGrpSpPr>
            <p:cNvPr id="164" name="Group 26"/>
            <p:cNvGrpSpPr>
              <a:grpSpLocks noChangeAspect="1"/>
            </p:cNvGrpSpPr>
            <p:nvPr/>
          </p:nvGrpSpPr>
          <p:grpSpPr bwMode="auto">
            <a:xfrm>
              <a:off x="3600" y="2739"/>
              <a:ext cx="322" cy="255"/>
              <a:chOff x="3744" y="1194"/>
              <a:chExt cx="1584" cy="1254"/>
            </a:xfrm>
          </p:grpSpPr>
          <p:sp>
            <p:nvSpPr>
              <p:cNvPr id="221" name="Oval 27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222" name="Line 28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3" name="Line 29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4" name="Line 30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5" name="Group 31"/>
            <p:cNvGrpSpPr>
              <a:grpSpLocks noChangeAspect="1"/>
            </p:cNvGrpSpPr>
            <p:nvPr/>
          </p:nvGrpSpPr>
          <p:grpSpPr bwMode="auto">
            <a:xfrm rot="2796953">
              <a:off x="3759" y="3009"/>
              <a:ext cx="322" cy="255"/>
              <a:chOff x="3744" y="1194"/>
              <a:chExt cx="1584" cy="1254"/>
            </a:xfrm>
          </p:grpSpPr>
          <p:sp>
            <p:nvSpPr>
              <p:cNvPr id="217" name="Oval 32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218" name="Line 33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9" name="Line 34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0" name="Line 35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6" name="Group 36"/>
            <p:cNvGrpSpPr>
              <a:grpSpLocks noChangeAspect="1"/>
            </p:cNvGrpSpPr>
            <p:nvPr/>
          </p:nvGrpSpPr>
          <p:grpSpPr bwMode="auto">
            <a:xfrm rot="-2281751">
              <a:off x="3408" y="3168"/>
              <a:ext cx="322" cy="255"/>
              <a:chOff x="3744" y="1194"/>
              <a:chExt cx="1584" cy="1254"/>
            </a:xfrm>
          </p:grpSpPr>
          <p:sp>
            <p:nvSpPr>
              <p:cNvPr id="213" name="Oval 37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214" name="Line 38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" name="Line 39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6" name="Line 40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7" name="Group 41"/>
            <p:cNvGrpSpPr>
              <a:grpSpLocks noChangeAspect="1"/>
            </p:cNvGrpSpPr>
            <p:nvPr/>
          </p:nvGrpSpPr>
          <p:grpSpPr bwMode="auto">
            <a:xfrm rot="4752089">
              <a:off x="3744" y="3345"/>
              <a:ext cx="322" cy="255"/>
              <a:chOff x="3744" y="1194"/>
              <a:chExt cx="1584" cy="1254"/>
            </a:xfrm>
          </p:grpSpPr>
          <p:sp>
            <p:nvSpPr>
              <p:cNvPr id="209" name="Oval 42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210" name="Line 43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1" name="Line 44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2" name="Line 45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8" name="Group 46"/>
            <p:cNvGrpSpPr>
              <a:grpSpLocks noChangeAspect="1"/>
            </p:cNvGrpSpPr>
            <p:nvPr/>
          </p:nvGrpSpPr>
          <p:grpSpPr bwMode="auto">
            <a:xfrm rot="2406003">
              <a:off x="3312" y="2865"/>
              <a:ext cx="322" cy="255"/>
              <a:chOff x="3744" y="1194"/>
              <a:chExt cx="1584" cy="1254"/>
            </a:xfrm>
          </p:grpSpPr>
          <p:sp>
            <p:nvSpPr>
              <p:cNvPr id="205" name="Oval 47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206" name="Line 48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7" name="Line 49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8" name="Line 50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69" name="Group 51"/>
            <p:cNvGrpSpPr>
              <a:grpSpLocks noChangeAspect="1"/>
            </p:cNvGrpSpPr>
            <p:nvPr/>
          </p:nvGrpSpPr>
          <p:grpSpPr bwMode="auto">
            <a:xfrm rot="7327711">
              <a:off x="3519" y="3551"/>
              <a:ext cx="322" cy="255"/>
              <a:chOff x="3744" y="1194"/>
              <a:chExt cx="1584" cy="1254"/>
            </a:xfrm>
          </p:grpSpPr>
          <p:sp>
            <p:nvSpPr>
              <p:cNvPr id="201" name="Oval 52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202" name="Line 53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3" name="Line 54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4" name="Line 55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0" name="Group 56"/>
            <p:cNvGrpSpPr>
              <a:grpSpLocks noChangeAspect="1"/>
            </p:cNvGrpSpPr>
            <p:nvPr/>
          </p:nvGrpSpPr>
          <p:grpSpPr bwMode="auto">
            <a:xfrm rot="-2248777">
              <a:off x="3143" y="3117"/>
              <a:ext cx="322" cy="255"/>
              <a:chOff x="3744" y="1194"/>
              <a:chExt cx="1584" cy="1254"/>
            </a:xfrm>
          </p:grpSpPr>
          <p:sp>
            <p:nvSpPr>
              <p:cNvPr id="197" name="Oval 57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198" name="Line 58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9" name="Line 59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0" name="Line 60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1" name="Group 61"/>
            <p:cNvGrpSpPr>
              <a:grpSpLocks noChangeAspect="1"/>
            </p:cNvGrpSpPr>
            <p:nvPr/>
          </p:nvGrpSpPr>
          <p:grpSpPr bwMode="auto">
            <a:xfrm rot="-7482063">
              <a:off x="3168" y="3489"/>
              <a:ext cx="322" cy="255"/>
              <a:chOff x="3744" y="1194"/>
              <a:chExt cx="1584" cy="1254"/>
            </a:xfrm>
          </p:grpSpPr>
          <p:sp>
            <p:nvSpPr>
              <p:cNvPr id="193" name="Oval 62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194" name="Line 63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" name="Line 64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" name="Line 65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2" name="Oval 66"/>
            <p:cNvSpPr>
              <a:spLocks noChangeArrowheads="1"/>
            </p:cNvSpPr>
            <p:nvPr/>
          </p:nvSpPr>
          <p:spPr bwMode="auto">
            <a:xfrm>
              <a:off x="3024" y="2475"/>
              <a:ext cx="1152" cy="13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/>
            </a:p>
          </p:txBody>
        </p:sp>
        <p:grpSp>
          <p:nvGrpSpPr>
            <p:cNvPr id="173" name="Group 67"/>
            <p:cNvGrpSpPr>
              <a:grpSpLocks noChangeAspect="1"/>
            </p:cNvGrpSpPr>
            <p:nvPr/>
          </p:nvGrpSpPr>
          <p:grpSpPr bwMode="auto">
            <a:xfrm rot="5835545">
              <a:off x="3366" y="2624"/>
              <a:ext cx="322" cy="255"/>
              <a:chOff x="3744" y="1194"/>
              <a:chExt cx="1584" cy="1254"/>
            </a:xfrm>
          </p:grpSpPr>
          <p:sp>
            <p:nvSpPr>
              <p:cNvPr id="189" name="Oval 68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190" name="Line 69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1" name="Line 70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2" name="Line 71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4" name="Group 72"/>
            <p:cNvGrpSpPr>
              <a:grpSpLocks noChangeAspect="1"/>
            </p:cNvGrpSpPr>
            <p:nvPr/>
          </p:nvGrpSpPr>
          <p:grpSpPr bwMode="auto">
            <a:xfrm rot="6866920">
              <a:off x="3123" y="2730"/>
              <a:ext cx="322" cy="255"/>
              <a:chOff x="3744" y="1194"/>
              <a:chExt cx="1584" cy="1254"/>
            </a:xfrm>
          </p:grpSpPr>
          <p:sp>
            <p:nvSpPr>
              <p:cNvPr id="185" name="Oval 73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186" name="Line 74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7" name="Line 75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8" name="Line 76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5" name="Group 77"/>
            <p:cNvGrpSpPr>
              <a:grpSpLocks noChangeAspect="1"/>
            </p:cNvGrpSpPr>
            <p:nvPr/>
          </p:nvGrpSpPr>
          <p:grpSpPr bwMode="auto">
            <a:xfrm rot="-9200728">
              <a:off x="3576" y="2556"/>
              <a:ext cx="322" cy="255"/>
              <a:chOff x="3744" y="1194"/>
              <a:chExt cx="1584" cy="1254"/>
            </a:xfrm>
          </p:grpSpPr>
          <p:sp>
            <p:nvSpPr>
              <p:cNvPr id="181" name="Oval 78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182" name="Line 79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3" name="Line 80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" name="Line 81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6" name="Group 82"/>
            <p:cNvGrpSpPr>
              <a:grpSpLocks noChangeAspect="1"/>
            </p:cNvGrpSpPr>
            <p:nvPr/>
          </p:nvGrpSpPr>
          <p:grpSpPr bwMode="auto">
            <a:xfrm rot="4049944">
              <a:off x="3045" y="2994"/>
              <a:ext cx="322" cy="255"/>
              <a:chOff x="3744" y="1194"/>
              <a:chExt cx="1584" cy="1254"/>
            </a:xfrm>
          </p:grpSpPr>
          <p:sp>
            <p:nvSpPr>
              <p:cNvPr id="177" name="Oval 83"/>
              <p:cNvSpPr>
                <a:spLocks noChangeAspect="1" noChangeArrowheads="1"/>
              </p:cNvSpPr>
              <p:nvPr/>
            </p:nvSpPr>
            <p:spPr bwMode="auto">
              <a:xfrm>
                <a:off x="3744" y="1872"/>
                <a:ext cx="1584" cy="576"/>
              </a:xfrm>
              <a:prstGeom prst="ellipse">
                <a:avLst/>
              </a:prstGeom>
              <a:noFill/>
              <a:ln w="19050">
                <a:solidFill>
                  <a:srgbClr val="FF1485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sp>
            <p:nvSpPr>
              <p:cNvPr id="178" name="Line 84"/>
              <p:cNvSpPr>
                <a:spLocks noChangeAspect="1" noChangeShapeType="1"/>
              </p:cNvSpPr>
              <p:nvPr/>
            </p:nvSpPr>
            <p:spPr bwMode="auto">
              <a:xfrm>
                <a:off x="4446" y="2445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9" name="Line 85"/>
              <p:cNvSpPr>
                <a:spLocks noChangeAspect="1" noChangeShapeType="1"/>
              </p:cNvSpPr>
              <p:nvPr/>
            </p:nvSpPr>
            <p:spPr bwMode="auto">
              <a:xfrm flipH="1">
                <a:off x="4413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rgbClr val="FF1485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0" name="Line 86"/>
              <p:cNvSpPr>
                <a:spLocks noChangeAspect="1" noChangeShapeType="1"/>
              </p:cNvSpPr>
              <p:nvPr/>
            </p:nvSpPr>
            <p:spPr bwMode="auto">
              <a:xfrm flipV="1">
                <a:off x="4557" y="1194"/>
                <a:ext cx="0" cy="9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pic>
        <p:nvPicPr>
          <p:cNvPr id="94" name="Picture 8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7163" y="2890838"/>
            <a:ext cx="32861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5" name="Rectangle 88"/>
          <p:cNvSpPr>
            <a:spLocks noChangeArrowheads="1"/>
          </p:cNvSpPr>
          <p:nvPr/>
        </p:nvSpPr>
        <p:spPr bwMode="auto">
          <a:xfrm>
            <a:off x="1676400" y="2514600"/>
            <a:ext cx="3276600" cy="1219200"/>
          </a:xfrm>
          <a:prstGeom prst="rect">
            <a:avLst/>
          </a:prstGeom>
          <a:noFill/>
          <a:ln w="9525">
            <a:solidFill>
              <a:srgbClr val="FF148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/>
          </a:p>
        </p:txBody>
      </p:sp>
      <p:grpSp>
        <p:nvGrpSpPr>
          <p:cNvPr id="96" name="Group 156"/>
          <p:cNvGrpSpPr/>
          <p:nvPr/>
        </p:nvGrpSpPr>
        <p:grpSpPr bwMode="auto">
          <a:xfrm>
            <a:off x="6019800" y="4572000"/>
            <a:ext cx="2619375" cy="2209800"/>
            <a:chOff x="3888" y="2784"/>
            <a:chExt cx="1650" cy="1392"/>
          </a:xfrm>
        </p:grpSpPr>
        <p:grpSp>
          <p:nvGrpSpPr>
            <p:cNvPr id="99" name="Group 154"/>
            <p:cNvGrpSpPr/>
            <p:nvPr/>
          </p:nvGrpSpPr>
          <p:grpSpPr bwMode="auto">
            <a:xfrm>
              <a:off x="3888" y="2784"/>
              <a:ext cx="1440" cy="1392"/>
              <a:chOff x="3888" y="2784"/>
              <a:chExt cx="1440" cy="1392"/>
            </a:xfrm>
          </p:grpSpPr>
          <p:grpSp>
            <p:nvGrpSpPr>
              <p:cNvPr id="101" name="Group 90"/>
              <p:cNvGrpSpPr>
                <a:grpSpLocks noChangeAspect="1"/>
              </p:cNvGrpSpPr>
              <p:nvPr/>
            </p:nvGrpSpPr>
            <p:grpSpPr bwMode="auto">
              <a:xfrm rot="5400000">
                <a:off x="4752" y="3081"/>
                <a:ext cx="322" cy="255"/>
                <a:chOff x="3744" y="1194"/>
                <a:chExt cx="1584" cy="1254"/>
              </a:xfrm>
            </p:grpSpPr>
            <p:sp>
              <p:nvSpPr>
                <p:cNvPr id="160" name="Oval 91"/>
                <p:cNvSpPr>
                  <a:spLocks noChangeAspect="1" noChangeArrowheads="1"/>
                </p:cNvSpPr>
                <p:nvPr/>
              </p:nvSpPr>
              <p:spPr bwMode="auto">
                <a:xfrm>
                  <a:off x="3744" y="1872"/>
                  <a:ext cx="1584" cy="576"/>
                </a:xfrm>
                <a:prstGeom prst="ellips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/>
                </a:p>
              </p:txBody>
            </p:sp>
            <p:sp>
              <p:nvSpPr>
                <p:cNvPr id="161" name="Line 92"/>
                <p:cNvSpPr>
                  <a:spLocks noChangeAspect="1" noChangeShapeType="1"/>
                </p:cNvSpPr>
                <p:nvPr/>
              </p:nvSpPr>
              <p:spPr bwMode="auto">
                <a:xfrm>
                  <a:off x="4446" y="2445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2" name="Line 93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413" y="187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3" name="Line 94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557" y="1194"/>
                  <a:ext cx="0" cy="96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2" name="Group 95"/>
              <p:cNvGrpSpPr>
                <a:grpSpLocks noChangeAspect="1"/>
              </p:cNvGrpSpPr>
              <p:nvPr/>
            </p:nvGrpSpPr>
            <p:grpSpPr bwMode="auto">
              <a:xfrm rot="5385852">
                <a:off x="4818" y="3393"/>
                <a:ext cx="322" cy="255"/>
                <a:chOff x="3744" y="1194"/>
                <a:chExt cx="1584" cy="1254"/>
              </a:xfrm>
            </p:grpSpPr>
            <p:sp>
              <p:nvSpPr>
                <p:cNvPr id="156" name="Oval 96"/>
                <p:cNvSpPr>
                  <a:spLocks noChangeAspect="1" noChangeArrowheads="1"/>
                </p:cNvSpPr>
                <p:nvPr/>
              </p:nvSpPr>
              <p:spPr bwMode="auto">
                <a:xfrm>
                  <a:off x="3744" y="1872"/>
                  <a:ext cx="1584" cy="576"/>
                </a:xfrm>
                <a:prstGeom prst="ellips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/>
                </a:p>
              </p:txBody>
            </p:sp>
            <p:sp>
              <p:nvSpPr>
                <p:cNvPr id="157" name="Line 97"/>
                <p:cNvSpPr>
                  <a:spLocks noChangeAspect="1" noChangeShapeType="1"/>
                </p:cNvSpPr>
                <p:nvPr/>
              </p:nvSpPr>
              <p:spPr bwMode="auto">
                <a:xfrm>
                  <a:off x="4446" y="2445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8" name="Line 98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413" y="187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9" name="Line 99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557" y="1194"/>
                  <a:ext cx="0" cy="96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Group 100"/>
              <p:cNvGrpSpPr>
                <a:grpSpLocks noChangeAspect="1"/>
              </p:cNvGrpSpPr>
              <p:nvPr/>
            </p:nvGrpSpPr>
            <p:grpSpPr bwMode="auto">
              <a:xfrm rot="5464666">
                <a:off x="4542" y="3333"/>
                <a:ext cx="322" cy="255"/>
                <a:chOff x="3744" y="1194"/>
                <a:chExt cx="1584" cy="1254"/>
              </a:xfrm>
            </p:grpSpPr>
            <p:sp>
              <p:nvSpPr>
                <p:cNvPr id="152" name="Oval 101"/>
                <p:cNvSpPr>
                  <a:spLocks noChangeAspect="1" noChangeArrowheads="1"/>
                </p:cNvSpPr>
                <p:nvPr/>
              </p:nvSpPr>
              <p:spPr bwMode="auto">
                <a:xfrm>
                  <a:off x="3744" y="1872"/>
                  <a:ext cx="1584" cy="576"/>
                </a:xfrm>
                <a:prstGeom prst="ellips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/>
                </a:p>
              </p:txBody>
            </p:sp>
            <p:sp>
              <p:nvSpPr>
                <p:cNvPr id="153" name="Line 102"/>
                <p:cNvSpPr>
                  <a:spLocks noChangeAspect="1" noChangeShapeType="1"/>
                </p:cNvSpPr>
                <p:nvPr/>
              </p:nvSpPr>
              <p:spPr bwMode="auto">
                <a:xfrm>
                  <a:off x="4446" y="2445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" name="Line 103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413" y="187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" name="Line 104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557" y="1194"/>
                  <a:ext cx="0" cy="96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4" name="Group 105"/>
              <p:cNvGrpSpPr>
                <a:grpSpLocks noChangeAspect="1"/>
              </p:cNvGrpSpPr>
              <p:nvPr/>
            </p:nvGrpSpPr>
            <p:grpSpPr bwMode="auto">
              <a:xfrm rot="5446866">
                <a:off x="4704" y="3654"/>
                <a:ext cx="322" cy="255"/>
                <a:chOff x="3744" y="1194"/>
                <a:chExt cx="1584" cy="1254"/>
              </a:xfrm>
            </p:grpSpPr>
            <p:sp>
              <p:nvSpPr>
                <p:cNvPr id="148" name="Oval 106"/>
                <p:cNvSpPr>
                  <a:spLocks noChangeAspect="1" noChangeArrowheads="1"/>
                </p:cNvSpPr>
                <p:nvPr/>
              </p:nvSpPr>
              <p:spPr bwMode="auto">
                <a:xfrm>
                  <a:off x="3744" y="1872"/>
                  <a:ext cx="1584" cy="576"/>
                </a:xfrm>
                <a:prstGeom prst="ellips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/>
                </a:p>
              </p:txBody>
            </p:sp>
            <p:sp>
              <p:nvSpPr>
                <p:cNvPr id="149" name="Line 107"/>
                <p:cNvSpPr>
                  <a:spLocks noChangeAspect="1" noChangeShapeType="1"/>
                </p:cNvSpPr>
                <p:nvPr/>
              </p:nvSpPr>
              <p:spPr bwMode="auto">
                <a:xfrm>
                  <a:off x="4446" y="2445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0" name="Line 108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413" y="187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1" name="Line 109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557" y="1194"/>
                  <a:ext cx="0" cy="96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5" name="Group 110"/>
              <p:cNvGrpSpPr>
                <a:grpSpLocks noChangeAspect="1"/>
              </p:cNvGrpSpPr>
              <p:nvPr/>
            </p:nvGrpSpPr>
            <p:grpSpPr bwMode="auto">
              <a:xfrm rot="5375234">
                <a:off x="4428" y="3117"/>
                <a:ext cx="322" cy="255"/>
                <a:chOff x="3744" y="1194"/>
                <a:chExt cx="1584" cy="1254"/>
              </a:xfrm>
            </p:grpSpPr>
            <p:sp>
              <p:nvSpPr>
                <p:cNvPr id="144" name="Oval 111"/>
                <p:cNvSpPr>
                  <a:spLocks noChangeAspect="1" noChangeArrowheads="1"/>
                </p:cNvSpPr>
                <p:nvPr/>
              </p:nvSpPr>
              <p:spPr bwMode="auto">
                <a:xfrm>
                  <a:off x="3744" y="1872"/>
                  <a:ext cx="1584" cy="576"/>
                </a:xfrm>
                <a:prstGeom prst="ellips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/>
                </a:p>
              </p:txBody>
            </p:sp>
            <p:sp>
              <p:nvSpPr>
                <p:cNvPr id="145" name="Line 112"/>
                <p:cNvSpPr>
                  <a:spLocks noChangeAspect="1" noChangeShapeType="1"/>
                </p:cNvSpPr>
                <p:nvPr/>
              </p:nvSpPr>
              <p:spPr bwMode="auto">
                <a:xfrm>
                  <a:off x="4446" y="2445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6" name="Line 113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413" y="187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7" name="Line 114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557" y="1194"/>
                  <a:ext cx="0" cy="96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6" name="Group 115"/>
              <p:cNvGrpSpPr>
                <a:grpSpLocks noChangeAspect="1"/>
              </p:cNvGrpSpPr>
              <p:nvPr/>
            </p:nvGrpSpPr>
            <p:grpSpPr bwMode="auto">
              <a:xfrm rot="5425596">
                <a:off x="4533" y="3858"/>
                <a:ext cx="322" cy="255"/>
                <a:chOff x="3744" y="1194"/>
                <a:chExt cx="1584" cy="1254"/>
              </a:xfrm>
            </p:grpSpPr>
            <p:sp>
              <p:nvSpPr>
                <p:cNvPr id="140" name="Oval 116"/>
                <p:cNvSpPr>
                  <a:spLocks noChangeAspect="1" noChangeArrowheads="1"/>
                </p:cNvSpPr>
                <p:nvPr/>
              </p:nvSpPr>
              <p:spPr bwMode="auto">
                <a:xfrm>
                  <a:off x="3744" y="1872"/>
                  <a:ext cx="1584" cy="576"/>
                </a:xfrm>
                <a:prstGeom prst="ellips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/>
                </a:p>
              </p:txBody>
            </p:sp>
            <p:sp>
              <p:nvSpPr>
                <p:cNvPr id="141" name="Line 117"/>
                <p:cNvSpPr>
                  <a:spLocks noChangeAspect="1" noChangeShapeType="1"/>
                </p:cNvSpPr>
                <p:nvPr/>
              </p:nvSpPr>
              <p:spPr bwMode="auto">
                <a:xfrm>
                  <a:off x="4446" y="2445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2" name="Line 118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413" y="187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3" name="Line 119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557" y="1194"/>
                  <a:ext cx="0" cy="96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7" name="Group 120"/>
              <p:cNvGrpSpPr>
                <a:grpSpLocks noChangeAspect="1"/>
              </p:cNvGrpSpPr>
              <p:nvPr/>
            </p:nvGrpSpPr>
            <p:grpSpPr bwMode="auto">
              <a:xfrm rot="5425228">
                <a:off x="4368" y="3518"/>
                <a:ext cx="322" cy="255"/>
                <a:chOff x="3744" y="1194"/>
                <a:chExt cx="1584" cy="1254"/>
              </a:xfrm>
            </p:grpSpPr>
            <p:sp>
              <p:nvSpPr>
                <p:cNvPr id="136" name="Oval 121"/>
                <p:cNvSpPr>
                  <a:spLocks noChangeAspect="1" noChangeArrowheads="1"/>
                </p:cNvSpPr>
                <p:nvPr/>
              </p:nvSpPr>
              <p:spPr bwMode="auto">
                <a:xfrm>
                  <a:off x="3744" y="1872"/>
                  <a:ext cx="1584" cy="576"/>
                </a:xfrm>
                <a:prstGeom prst="ellips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/>
                </a:p>
              </p:txBody>
            </p:sp>
            <p:sp>
              <p:nvSpPr>
                <p:cNvPr id="137" name="Line 122"/>
                <p:cNvSpPr>
                  <a:spLocks noChangeAspect="1" noChangeShapeType="1"/>
                </p:cNvSpPr>
                <p:nvPr/>
              </p:nvSpPr>
              <p:spPr bwMode="auto">
                <a:xfrm>
                  <a:off x="4446" y="2445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8" name="Line 123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413" y="187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9" name="Line 124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557" y="1194"/>
                  <a:ext cx="0" cy="96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8" name="Group 125"/>
              <p:cNvGrpSpPr>
                <a:grpSpLocks noChangeAspect="1"/>
              </p:cNvGrpSpPr>
              <p:nvPr/>
            </p:nvGrpSpPr>
            <p:grpSpPr bwMode="auto">
              <a:xfrm rot="5429674">
                <a:off x="4245" y="3789"/>
                <a:ext cx="322" cy="255"/>
                <a:chOff x="3744" y="1194"/>
                <a:chExt cx="1584" cy="1254"/>
              </a:xfrm>
            </p:grpSpPr>
            <p:sp>
              <p:nvSpPr>
                <p:cNvPr id="132" name="Oval 126"/>
                <p:cNvSpPr>
                  <a:spLocks noChangeAspect="1" noChangeArrowheads="1"/>
                </p:cNvSpPr>
                <p:nvPr/>
              </p:nvSpPr>
              <p:spPr bwMode="auto">
                <a:xfrm>
                  <a:off x="3744" y="1872"/>
                  <a:ext cx="1584" cy="576"/>
                </a:xfrm>
                <a:prstGeom prst="ellips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/>
                </a:p>
              </p:txBody>
            </p:sp>
            <p:sp>
              <p:nvSpPr>
                <p:cNvPr id="133" name="Line 127"/>
                <p:cNvSpPr>
                  <a:spLocks noChangeAspect="1" noChangeShapeType="1"/>
                </p:cNvSpPr>
                <p:nvPr/>
              </p:nvSpPr>
              <p:spPr bwMode="auto">
                <a:xfrm>
                  <a:off x="4446" y="2445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4" name="Line 128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413" y="187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5" name="Line 129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557" y="1194"/>
                  <a:ext cx="0" cy="96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09" name="Oval 130"/>
              <p:cNvSpPr>
                <a:spLocks noChangeArrowheads="1"/>
              </p:cNvSpPr>
              <p:nvPr/>
            </p:nvSpPr>
            <p:spPr bwMode="auto">
              <a:xfrm>
                <a:off x="3984" y="2784"/>
                <a:ext cx="1152" cy="139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/>
              </a:p>
            </p:txBody>
          </p:sp>
          <p:grpSp>
            <p:nvGrpSpPr>
              <p:cNvPr id="110" name="Group 131"/>
              <p:cNvGrpSpPr>
                <a:grpSpLocks noChangeAspect="1"/>
              </p:cNvGrpSpPr>
              <p:nvPr/>
            </p:nvGrpSpPr>
            <p:grpSpPr bwMode="auto">
              <a:xfrm rot="5433387">
                <a:off x="4326" y="2886"/>
                <a:ext cx="322" cy="255"/>
                <a:chOff x="3744" y="1194"/>
                <a:chExt cx="1584" cy="1254"/>
              </a:xfrm>
            </p:grpSpPr>
            <p:sp>
              <p:nvSpPr>
                <p:cNvPr id="128" name="Oval 132"/>
                <p:cNvSpPr>
                  <a:spLocks noChangeAspect="1" noChangeArrowheads="1"/>
                </p:cNvSpPr>
                <p:nvPr/>
              </p:nvSpPr>
              <p:spPr bwMode="auto">
                <a:xfrm>
                  <a:off x="3744" y="1872"/>
                  <a:ext cx="1584" cy="576"/>
                </a:xfrm>
                <a:prstGeom prst="ellips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/>
                </a:p>
              </p:txBody>
            </p:sp>
            <p:sp>
              <p:nvSpPr>
                <p:cNvPr id="129" name="Line 133"/>
                <p:cNvSpPr>
                  <a:spLocks noChangeAspect="1" noChangeShapeType="1"/>
                </p:cNvSpPr>
                <p:nvPr/>
              </p:nvSpPr>
              <p:spPr bwMode="auto">
                <a:xfrm>
                  <a:off x="4446" y="2445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0" name="Line 134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413" y="187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1" name="Line 135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557" y="1194"/>
                  <a:ext cx="0" cy="96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1" name="Group 136"/>
              <p:cNvGrpSpPr>
                <a:grpSpLocks noChangeAspect="1"/>
              </p:cNvGrpSpPr>
              <p:nvPr/>
            </p:nvGrpSpPr>
            <p:grpSpPr bwMode="auto">
              <a:xfrm rot="5402953">
                <a:off x="4134" y="3087"/>
                <a:ext cx="322" cy="255"/>
                <a:chOff x="3744" y="1194"/>
                <a:chExt cx="1584" cy="1254"/>
              </a:xfrm>
            </p:grpSpPr>
            <p:sp>
              <p:nvSpPr>
                <p:cNvPr id="124" name="Oval 137"/>
                <p:cNvSpPr>
                  <a:spLocks noChangeAspect="1" noChangeArrowheads="1"/>
                </p:cNvSpPr>
                <p:nvPr/>
              </p:nvSpPr>
              <p:spPr bwMode="auto">
                <a:xfrm>
                  <a:off x="3744" y="1872"/>
                  <a:ext cx="1584" cy="576"/>
                </a:xfrm>
                <a:prstGeom prst="ellips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/>
                </a:p>
              </p:txBody>
            </p:sp>
            <p:sp>
              <p:nvSpPr>
                <p:cNvPr id="125" name="Line 138"/>
                <p:cNvSpPr>
                  <a:spLocks noChangeAspect="1" noChangeShapeType="1"/>
                </p:cNvSpPr>
                <p:nvPr/>
              </p:nvSpPr>
              <p:spPr bwMode="auto">
                <a:xfrm>
                  <a:off x="4446" y="2445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6" name="Line 139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413" y="187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7" name="Line 140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557" y="1194"/>
                  <a:ext cx="0" cy="96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2" name="Group 141"/>
              <p:cNvGrpSpPr>
                <a:grpSpLocks noChangeAspect="1"/>
              </p:cNvGrpSpPr>
              <p:nvPr/>
            </p:nvGrpSpPr>
            <p:grpSpPr bwMode="auto">
              <a:xfrm rot="5457678">
                <a:off x="4608" y="2862"/>
                <a:ext cx="322" cy="255"/>
                <a:chOff x="3744" y="1194"/>
                <a:chExt cx="1584" cy="1254"/>
              </a:xfrm>
            </p:grpSpPr>
            <p:sp>
              <p:nvSpPr>
                <p:cNvPr id="120" name="Oval 142"/>
                <p:cNvSpPr>
                  <a:spLocks noChangeAspect="1" noChangeArrowheads="1"/>
                </p:cNvSpPr>
                <p:nvPr/>
              </p:nvSpPr>
              <p:spPr bwMode="auto">
                <a:xfrm>
                  <a:off x="3744" y="1872"/>
                  <a:ext cx="1584" cy="576"/>
                </a:xfrm>
                <a:prstGeom prst="ellips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/>
                </a:p>
              </p:txBody>
            </p:sp>
            <p:sp>
              <p:nvSpPr>
                <p:cNvPr id="121" name="Line 143"/>
                <p:cNvSpPr>
                  <a:spLocks noChangeAspect="1" noChangeShapeType="1"/>
                </p:cNvSpPr>
                <p:nvPr/>
              </p:nvSpPr>
              <p:spPr bwMode="auto">
                <a:xfrm>
                  <a:off x="4446" y="2445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2" name="Line 144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413" y="187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" name="Line 145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557" y="1194"/>
                  <a:ext cx="0" cy="96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3" name="Group 146"/>
              <p:cNvGrpSpPr>
                <a:grpSpLocks noChangeAspect="1"/>
              </p:cNvGrpSpPr>
              <p:nvPr/>
            </p:nvGrpSpPr>
            <p:grpSpPr bwMode="auto">
              <a:xfrm rot="5508553">
                <a:off x="4086" y="3429"/>
                <a:ext cx="322" cy="255"/>
                <a:chOff x="3744" y="1194"/>
                <a:chExt cx="1584" cy="1254"/>
              </a:xfrm>
            </p:grpSpPr>
            <p:sp>
              <p:nvSpPr>
                <p:cNvPr id="116" name="Oval 147"/>
                <p:cNvSpPr>
                  <a:spLocks noChangeAspect="1" noChangeArrowheads="1"/>
                </p:cNvSpPr>
                <p:nvPr/>
              </p:nvSpPr>
              <p:spPr bwMode="auto">
                <a:xfrm>
                  <a:off x="3744" y="1872"/>
                  <a:ext cx="1584" cy="576"/>
                </a:xfrm>
                <a:prstGeom prst="ellipse">
                  <a:avLst/>
                </a:prstGeom>
                <a:noFill/>
                <a:ln w="19050">
                  <a:solidFill>
                    <a:srgbClr val="FF1485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/>
                </a:p>
              </p:txBody>
            </p:sp>
            <p:sp>
              <p:nvSpPr>
                <p:cNvPr id="117" name="Line 148"/>
                <p:cNvSpPr>
                  <a:spLocks noChangeAspect="1" noChangeShapeType="1"/>
                </p:cNvSpPr>
                <p:nvPr/>
              </p:nvSpPr>
              <p:spPr bwMode="auto">
                <a:xfrm>
                  <a:off x="4446" y="2445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8" name="Line 149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413" y="1872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rgbClr val="FF1485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9" name="Line 150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4557" y="1194"/>
                  <a:ext cx="0" cy="96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tailEnd type="stealth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pic>
            <p:nvPicPr>
              <p:cNvPr id="114" name="Picture 152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40" y="3295"/>
                <a:ext cx="207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pic>
          <p:sp>
            <p:nvSpPr>
              <p:cNvPr id="115" name="Line 153"/>
              <p:cNvSpPr>
                <a:spLocks noChangeShapeType="1"/>
              </p:cNvSpPr>
              <p:nvPr/>
            </p:nvSpPr>
            <p:spPr bwMode="auto">
              <a:xfrm>
                <a:off x="3888" y="3504"/>
                <a:ext cx="1440" cy="0"/>
              </a:xfrm>
              <a:prstGeom prst="line">
                <a:avLst/>
              </a:prstGeom>
              <a:noFill/>
              <a:ln w="28575">
                <a:solidFill>
                  <a:srgbClr val="0B7CFF"/>
                </a:solidFill>
                <a:rou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0" name="Rectangle 155"/>
            <p:cNvSpPr>
              <a:spLocks noChangeArrowheads="1"/>
            </p:cNvSpPr>
            <p:nvPr/>
          </p:nvSpPr>
          <p:spPr bwMode="auto">
            <a:xfrm>
              <a:off x="5286" y="3399"/>
              <a:ext cx="2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b="1"/>
                <a:t>M</a:t>
              </a:r>
              <a:endParaRPr lang="en-US" altLang="zh-CN" b="1"/>
            </a:p>
          </p:txBody>
        </p:sp>
      </p:grpSp>
      <p:pic>
        <p:nvPicPr>
          <p:cNvPr id="97" name="Picture 15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1820" y="5712979"/>
            <a:ext cx="2687638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8" name="Rectangle 159"/>
          <p:cNvSpPr>
            <a:spLocks noChangeArrowheads="1"/>
          </p:cNvSpPr>
          <p:nvPr/>
        </p:nvSpPr>
        <p:spPr bwMode="auto">
          <a:xfrm>
            <a:off x="685800" y="4129088"/>
            <a:ext cx="5105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Units are dipole moment per unit volume, or Amps/m</a:t>
            </a:r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Line 18"/>
          <p:cNvSpPr>
            <a:spLocks noChangeShapeType="1"/>
          </p:cNvSpPr>
          <p:nvPr/>
        </p:nvSpPr>
        <p:spPr bwMode="auto">
          <a:xfrm>
            <a:off x="152400" y="1041400"/>
            <a:ext cx="8763000" cy="0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7" name="Picture 20" descr="sustc logo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28600"/>
            <a:ext cx="7620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圆角矩形 1"/>
          <p:cNvSpPr/>
          <p:nvPr/>
        </p:nvSpPr>
        <p:spPr>
          <a:xfrm>
            <a:off x="8458200" y="6324600"/>
            <a:ext cx="533400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34</a:t>
            </a:r>
            <a:endParaRPr lang="zh-CN" altLang="en-US" dirty="0"/>
          </a:p>
        </p:txBody>
      </p:sp>
      <p:sp>
        <p:nvSpPr>
          <p:cNvPr id="4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3500"/>
            <a:ext cx="8229600" cy="1143000"/>
          </a:xfrm>
        </p:spPr>
        <p:txBody>
          <a:bodyPr/>
          <a:lstStyle/>
          <a:p>
            <a:pPr algn="l" eaLnBrk="1" hangingPunct="1"/>
            <a:r>
              <a:rPr lang="en-US" altLang="zh-CN" sz="4200" dirty="0">
                <a:solidFill>
                  <a:srgbClr val="000099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11: The Steady Magnetic Field</a:t>
            </a:r>
            <a:endParaRPr lang="zh-CN" altLang="en-US" sz="4200" dirty="0">
              <a:solidFill>
                <a:srgbClr val="000099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81000" y="11430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Relation Between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99"/>
                </a:solidFill>
                <a:latin typeface="Times New Roman" panose="02020603050405020304" pitchFamily="18" charset="0"/>
              </a:rPr>
              <a:t> and </a:t>
            </a:r>
            <a:r>
              <a:rPr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</a:rPr>
              <a:t>H</a:t>
            </a:r>
            <a:endParaRPr lang="zh-CN" altLang="en-US" sz="2800" b="1" dirty="0">
              <a:solidFill>
                <a:srgbClr val="000099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pic>
        <p:nvPicPr>
          <p:cNvPr id="225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207" y="1891389"/>
            <a:ext cx="1873250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6" name="Picture 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9801" y="1905000"/>
            <a:ext cx="2468563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739" y="2743200"/>
            <a:ext cx="1600200" cy="495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8" name="Rectangle 159"/>
          <p:cNvSpPr>
            <a:spLocks noChangeArrowheads="1"/>
          </p:cNvSpPr>
          <p:nvPr/>
        </p:nvSpPr>
        <p:spPr bwMode="auto">
          <a:xfrm>
            <a:off x="762000" y="2777705"/>
            <a:ext cx="877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Define:</a:t>
            </a:r>
            <a:endParaRPr lang="en-US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685800" y="3200400"/>
            <a:ext cx="4249881" cy="369332"/>
            <a:chOff x="3934981" y="2945509"/>
            <a:chExt cx="4249881" cy="369332"/>
          </a:xfrm>
        </p:grpSpPr>
        <p:sp>
          <p:nvSpPr>
            <p:cNvPr id="230" name="Rectangle 159"/>
            <p:cNvSpPr>
              <a:spLocks noChangeArrowheads="1"/>
            </p:cNvSpPr>
            <p:nvPr/>
          </p:nvSpPr>
          <p:spPr bwMode="auto">
            <a:xfrm>
              <a:off x="3934981" y="2945509"/>
              <a:ext cx="424988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dirty="0"/>
                <a:t>where       is </a:t>
              </a:r>
              <a:r>
                <a:rPr lang="en-US" altLang="zh-CN" dirty="0">
                  <a:solidFill>
                    <a:srgbClr val="C00000"/>
                  </a:solidFill>
                </a:rPr>
                <a:t>magnetic susceptibility </a:t>
              </a:r>
              <a:r>
                <a:rPr lang="zh-CN" altLang="en-US" dirty="0">
                  <a:solidFill>
                    <a:srgbClr val="C00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磁化率</a:t>
              </a:r>
              <a:endPara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0781" y="3018256"/>
              <a:ext cx="371474" cy="223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31" name="Group 10"/>
          <p:cNvGrpSpPr/>
          <p:nvPr/>
        </p:nvGrpSpPr>
        <p:grpSpPr bwMode="auto">
          <a:xfrm>
            <a:off x="1836277" y="3654425"/>
            <a:ext cx="3975100" cy="612775"/>
            <a:chOff x="768" y="2688"/>
            <a:chExt cx="2504" cy="386"/>
          </a:xfrm>
        </p:grpSpPr>
        <p:pic>
          <p:nvPicPr>
            <p:cNvPr id="232" name="Picture 8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2688"/>
              <a:ext cx="1739" cy="3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233" name="Picture 9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1" y="2765"/>
              <a:ext cx="881" cy="2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34" name="Rectangle 11"/>
          <p:cNvSpPr>
            <a:spLocks noChangeArrowheads="1"/>
          </p:cNvSpPr>
          <p:nvPr/>
        </p:nvSpPr>
        <p:spPr bwMode="auto">
          <a:xfrm>
            <a:off x="718747" y="3826565"/>
            <a:ext cx="990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So now..</a:t>
            </a:r>
            <a:endParaRPr lang="en-US" altLang="zh-CN" dirty="0"/>
          </a:p>
        </p:txBody>
      </p:sp>
      <p:pic>
        <p:nvPicPr>
          <p:cNvPr id="235" name="Picture 1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860925"/>
            <a:ext cx="1938338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36" name="Rectangle 13"/>
          <p:cNvSpPr>
            <a:spLocks noChangeArrowheads="1"/>
          </p:cNvSpPr>
          <p:nvPr/>
        </p:nvSpPr>
        <p:spPr bwMode="auto">
          <a:xfrm>
            <a:off x="739471" y="4486275"/>
            <a:ext cx="455547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where the </a:t>
            </a:r>
            <a:r>
              <a:rPr lang="en-US" altLang="zh-CN" i="1" dirty="0">
                <a:solidFill>
                  <a:srgbClr val="C00000"/>
                </a:solidFill>
              </a:rPr>
              <a:t>relative permeability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相对磁导率</a:t>
            </a:r>
            <a:r>
              <a:rPr lang="zh-CN" altLang="en-US" i="1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is:</a:t>
            </a:r>
            <a:endParaRPr lang="en-US" altLang="zh-CN" dirty="0"/>
          </a:p>
        </p:txBody>
      </p:sp>
      <p:sp>
        <p:nvSpPr>
          <p:cNvPr id="237" name="Line 14"/>
          <p:cNvSpPr>
            <a:spLocks noChangeShapeType="1"/>
          </p:cNvSpPr>
          <p:nvPr/>
        </p:nvSpPr>
        <p:spPr bwMode="auto">
          <a:xfrm>
            <a:off x="1928813" y="5356225"/>
            <a:ext cx="1752600" cy="0"/>
          </a:xfrm>
          <a:prstGeom prst="line">
            <a:avLst/>
          </a:prstGeom>
          <a:noFill/>
          <a:ln w="9525">
            <a:solidFill>
              <a:srgbClr val="FF148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238" name="Picture 1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0234" y="5945187"/>
            <a:ext cx="141763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239" name="Picture 16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071" y="5905499"/>
            <a:ext cx="1243013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40" name="Rectangle 17"/>
          <p:cNvSpPr>
            <a:spLocks noChangeArrowheads="1"/>
          </p:cNvSpPr>
          <p:nvPr/>
        </p:nvSpPr>
        <p:spPr bwMode="auto">
          <a:xfrm>
            <a:off x="788187" y="5500686"/>
            <a:ext cx="3289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…so that the </a:t>
            </a:r>
            <a:r>
              <a:rPr lang="en-US" altLang="zh-CN" i="1" dirty="0">
                <a:solidFill>
                  <a:srgbClr val="C00000"/>
                </a:solidFill>
              </a:rPr>
              <a:t>permeability</a:t>
            </a:r>
            <a:r>
              <a:rPr lang="en-US" altLang="zh-CN" i="1" dirty="0"/>
              <a:t> </a:t>
            </a:r>
            <a:r>
              <a:rPr lang="en-US" altLang="zh-CN" dirty="0"/>
              <a:t>is now:</a:t>
            </a:r>
            <a:endParaRPr lang="en-US" altLang="zh-CN" dirty="0"/>
          </a:p>
        </p:txBody>
      </p:sp>
      <p:sp>
        <p:nvSpPr>
          <p:cNvPr id="241" name="Rectangle 18"/>
          <p:cNvSpPr>
            <a:spLocks noChangeArrowheads="1"/>
          </p:cNvSpPr>
          <p:nvPr/>
        </p:nvSpPr>
        <p:spPr bwMode="auto">
          <a:xfrm>
            <a:off x="3939871" y="5943599"/>
            <a:ext cx="1841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/>
              <a:t>and consequently:</a:t>
            </a:r>
            <a:endParaRPr lang="en-US" altLang="zh-CN"/>
          </a:p>
        </p:txBody>
      </p:sp>
      <p:sp>
        <p:nvSpPr>
          <p:cNvPr id="242" name="Rectangle 19"/>
          <p:cNvSpPr>
            <a:spLocks noChangeArrowheads="1"/>
          </p:cNvSpPr>
          <p:nvPr/>
        </p:nvSpPr>
        <p:spPr bwMode="auto">
          <a:xfrm>
            <a:off x="5844871" y="5867399"/>
            <a:ext cx="1371600" cy="533400"/>
          </a:xfrm>
          <a:prstGeom prst="rect">
            <a:avLst/>
          </a:prstGeom>
          <a:noFill/>
          <a:ln w="9525">
            <a:solidFill>
              <a:srgbClr val="FF1485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zh-CN" altLang="zh-CN"/>
          </a:p>
        </p:txBody>
      </p:sp>
      <p:sp>
        <p:nvSpPr>
          <p:cNvPr id="243" name="Line 20"/>
          <p:cNvSpPr>
            <a:spLocks noChangeShapeType="1"/>
          </p:cNvSpPr>
          <p:nvPr/>
        </p:nvSpPr>
        <p:spPr bwMode="auto">
          <a:xfrm>
            <a:off x="1806271" y="6324599"/>
            <a:ext cx="1295400" cy="0"/>
          </a:xfrm>
          <a:prstGeom prst="line">
            <a:avLst/>
          </a:prstGeom>
          <a:noFill/>
          <a:ln w="9525">
            <a:solidFill>
              <a:srgbClr val="FF1485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pic>
        <p:nvPicPr>
          <p:cNvPr id="1027" name="Picture 3" descr="C:\Users\dpcuser\Desktop\About Teaching\工程电磁场\Instructor Notes\Lecture 12\toroid-ccw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577" y="1327033"/>
            <a:ext cx="2294635" cy="232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9a61a690-5700-46f4-9a27-43fe1df62781"/>
  <p:tag name="COMMONDATA" val="eyJoZGlkIjoiODI0ZjJiMmIyODM0NTc5MzEyN2IzOWYzNjgwNDFiNTY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13079</Words>
  <Application>WPS 演示</Application>
  <PresentationFormat>On-screen Show (4:3)</PresentationFormat>
  <Paragraphs>659</Paragraphs>
  <Slides>35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Arial</vt:lpstr>
      <vt:lpstr>宋体</vt:lpstr>
      <vt:lpstr>Wingdings</vt:lpstr>
      <vt:lpstr>Times New Roman</vt:lpstr>
      <vt:lpstr>华文行楷</vt:lpstr>
      <vt:lpstr>MS PGothic</vt:lpstr>
      <vt:lpstr>微软雅黑</vt:lpstr>
      <vt:lpstr>Arial Unicode MS</vt:lpstr>
      <vt:lpstr>Calibri</vt:lpstr>
      <vt:lpstr>默认设计模板</vt:lpstr>
      <vt:lpstr>Engineering Electromagnetics 工程电磁场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  <vt:lpstr>11: The Steady Magnetic Field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dpcuser</dc:creator>
  <cp:lastModifiedBy>林碧容</cp:lastModifiedBy>
  <cp:revision>753</cp:revision>
  <cp:lastPrinted>2014-03-03T09:16:00Z</cp:lastPrinted>
  <dcterms:created xsi:type="dcterms:W3CDTF">2113-01-01T00:00:00Z</dcterms:created>
  <dcterms:modified xsi:type="dcterms:W3CDTF">2024-12-17T08:50:22Z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DDBB3231F7F54BCAB36B8209F43B31D9</vt:lpwstr>
  </property>
  <property fmtid="{D5CDD505-2E9C-101B-9397-08002B2CF9AE}" pid="4" name="KSOProductBuildVer">
    <vt:lpwstr>2052-11.1.0.12165</vt:lpwstr>
  </property>
</Properties>
</file>