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1"/>
  </p:handoutMasterIdLst>
  <p:sldIdLst>
    <p:sldId id="256" r:id="rId3"/>
    <p:sldId id="280" r:id="rId4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21" r:id="rId22"/>
    <p:sldId id="338" r:id="rId23"/>
    <p:sldId id="322" r:id="rId24"/>
    <p:sldId id="319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</p:sldIdLst>
  <p:sldSz cx="9144000" cy="6858000" type="screen4x3"/>
  <p:notesSz cx="9926320" cy="6797675"/>
  <p:custDataLst>
    <p:tags r:id="rId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333399"/>
    <a:srgbClr val="006600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6" autoAdjust="0"/>
    <p:restoredTop sz="94660"/>
  </p:normalViewPr>
  <p:slideViewPr>
    <p:cSldViewPr>
      <p:cViewPr varScale="1">
        <p:scale>
          <a:sx n="115" d="100"/>
          <a:sy n="115" d="100"/>
        </p:scale>
        <p:origin x="79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6" Type="http://schemas.openxmlformats.org/officeDocument/2006/relationships/tags" Target="tags/tag1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2:13:05.662" idx="11">
    <p:pos x="4758" y="2039"/>
    <p:text>以无穷远伪零点的绝对电势定义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2:22:25.917" idx="12">
    <p:pos x="4547" y="1114"/>
    <p:text>全微分</p:text>
  </p:cm>
  <p:cm authorId="1" dt="2024-10-28T22:22:44.397" idx="13">
    <p:pos x="5160" y="2805"/>
    <p:text>电场的第二种表达式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5T17:09:43.963" idx="1">
    <p:pos x="2696" y="2780"/>
    <p:text>电场是电势的梯度方向相反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2:25:32.631" idx="14">
    <p:pos x="4674" y="2014"/>
    <p:text>注意梯度与散度不同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8:01:27.175" idx="3">
    <p:pos x="2499" y="1101"/>
    <p:text/>
  </p:cm>
  <p:cm authorId="1" dt="2024-10-25T18:01:30.598" idx="4">
    <p:pos x="2996" y="3156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5T18:02:00.986" idx="2">
    <p:pos x="1376" y="1426"/>
    <p:text>电偶极矩定义，方向是从负电荷指向正电荷</p:text>
  </p:cm>
  <p:cm authorId="1" dt="2024-10-28T22:28:43.655" idx="15">
    <p:pos x="1516" y="2716"/>
    <p:text>注意电偶极矩的方向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05:55.103" idx="5">
    <p:pos x="3966" y="2562"/>
    <p:text>V2,1表示2号电荷在1号电荷电场下的电势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07:16.953" idx="6">
    <p:pos x="2292" y="2013"/>
    <p:text>V1表示1号电荷在所有其他电荷下电场感受到的电势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08:51.131" idx="7">
    <p:pos x="4178" y="1556"/>
    <p:text>重要的认识：势能一定是两个或两个以上的物体之间存在的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11:55.119" idx="8">
    <p:pos x="3060" y="2556"/>
    <p:text>整体电势能积分形式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6T14:14:59.980" idx="9">
    <p:pos x="4343" y="2275"/>
    <p:text>重要的认识：许多电荷之间的势能可以试做上是“存”在电场里的</p:text>
  </p:cm>
  <p:cm authorId="1" dt="2024-10-26T14:15:31.755" idx="10">
    <p:pos x="4911" y="3015"/>
    <p:text>“存”在电场里的能量的密度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25.png"/><Relationship Id="rId4" Type="http://schemas.openxmlformats.org/officeDocument/2006/relationships/image" Target="../media/image31.png"/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46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4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1.png"/><Relationship Id="rId2" Type="http://schemas.openxmlformats.org/officeDocument/2006/relationships/image" Target="../media/image4.png"/><Relationship Id="rId1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5.xml"/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png"/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4.png"/><Relationship Id="rId11" Type="http://schemas.openxmlformats.org/officeDocument/2006/relationships/comments" Target="../comments/comment6.xml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7.xml"/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7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0" Type="http://schemas.openxmlformats.org/officeDocument/2006/relationships/comments" Target="../comments/comment8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9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0.xml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09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1.xml"/><Relationship Id="rId7" Type="http://schemas.openxmlformats.org/officeDocument/2006/relationships/notesSlide" Target="../notesSlides/notesSlide3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Conservative Field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保守场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456915" y="1666220"/>
            <a:ext cx="830608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field is conservative if its line integral between any two points is independent of the path chosen.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property of a conservative field is that its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path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integral is zero: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场量的线积分与积分路径无关，或者场量的闭合路径积分为零：</a:t>
            </a:r>
            <a:endParaRPr lang="en-US" altLang="zh-CN" sz="20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609600" y="4800600"/>
            <a:ext cx="8001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One can confirm that a field is conservative by evaluating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possible closed path integral and showing a result of zero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all cases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A much faster way, that we will see later, is to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curl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旋度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field. If the curl is zero at all defined points, the field is conservative.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48564" y="2819400"/>
            <a:ext cx="2057400" cy="838200"/>
            <a:chOff x="3248564" y="2844800"/>
            <a:chExt cx="2057400" cy="838200"/>
          </a:xfrm>
        </p:grpSpPr>
        <p:pic>
          <p:nvPicPr>
            <p:cNvPr id="30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9265" y="2895600"/>
              <a:ext cx="1682750" cy="78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3248564" y="2844800"/>
              <a:ext cx="2057400" cy="838200"/>
            </a:xfrm>
            <a:prstGeom prst="rect">
              <a:avLst/>
            </a:prstGeom>
            <a:noFill/>
            <a:ln w="9525">
              <a:solidFill>
                <a:srgbClr val="FF16A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533400" y="4114800"/>
            <a:ext cx="830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Most fields in nature are conservative, such as earth’s gravitational field, electrostatic field... 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09600" y="61722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Conservative field must be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irrotational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field!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保守场一定是无旋场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400" y="3733800"/>
            <a:ext cx="7472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Conservative field must be vector field!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保守场一定是矢量场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27068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Conservative Force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保守力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441" y="3326688"/>
            <a:ext cx="78105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 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force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 force with the property that the work done in moving a particle between two points is independent of the taken path. Equivalently, if a particle travels in a closed loop, the net work done by a conservative force is zero.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5800" y="4648200"/>
            <a:ext cx="79239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In other words, the force involved in conservative field is conservative force,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sometimes, conservative field is also termed as ‘conservative force field’.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93299"/>
            <a:ext cx="1400461" cy="65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27068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Field of a Point Charge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点电荷的电位场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255" y="5755862"/>
            <a:ext cx="1708945" cy="644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2070460"/>
            <a:ext cx="3489325" cy="65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57200" y="1641475"/>
            <a:ext cx="85149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 just found the difference in potential between two positions in a point charge field: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511175" y="2706469"/>
            <a:ext cx="84042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We could perform the same calculation by specifying the starting point at infinity, and the ending point at some general radius,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519113" y="4258270"/>
            <a:ext cx="824388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result is a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function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field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specifies potential at any position within the defined space, and with the potential at infinity (the reference value) equal to zero.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557213" y="5178311"/>
            <a:ext cx="83581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practice, we can “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this function any way we want (or need) to, by an additive constant,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8782" y="3380433"/>
            <a:ext cx="5614987" cy="734367"/>
            <a:chOff x="1848782" y="3657600"/>
            <a:chExt cx="5614987" cy="734367"/>
          </a:xfrm>
        </p:grpSpPr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420" y="3733800"/>
              <a:ext cx="5433734" cy="658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1848782" y="3657600"/>
              <a:ext cx="5614987" cy="685800"/>
            </a:xfrm>
            <a:prstGeom prst="rect">
              <a:avLst/>
            </a:prstGeom>
            <a:noFill/>
            <a:ln w="9525">
              <a:solidFill>
                <a:srgbClr val="FF16AB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27068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Field of a Point Charge Off-Origin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9" name="Group 20"/>
          <p:cNvGrpSpPr/>
          <p:nvPr/>
        </p:nvGrpSpPr>
        <p:grpSpPr bwMode="auto">
          <a:xfrm>
            <a:off x="499434" y="2561241"/>
            <a:ext cx="4743450" cy="4092575"/>
            <a:chOff x="1692" y="1632"/>
            <a:chExt cx="2988" cy="2578"/>
          </a:xfrm>
        </p:grpSpPr>
        <p:grpSp>
          <p:nvGrpSpPr>
            <p:cNvPr id="20" name="Group 7"/>
            <p:cNvGrpSpPr/>
            <p:nvPr/>
          </p:nvGrpSpPr>
          <p:grpSpPr bwMode="auto">
            <a:xfrm>
              <a:off x="1692" y="1632"/>
              <a:ext cx="2988" cy="2578"/>
              <a:chOff x="1692" y="1632"/>
              <a:chExt cx="2988" cy="2578"/>
            </a:xfrm>
          </p:grpSpPr>
          <p:grpSp>
            <p:nvGrpSpPr>
              <p:cNvPr id="30" name="Group 5"/>
              <p:cNvGrpSpPr/>
              <p:nvPr/>
            </p:nvGrpSpPr>
            <p:grpSpPr bwMode="auto">
              <a:xfrm>
                <a:off x="1692" y="1632"/>
                <a:ext cx="2988" cy="2578"/>
                <a:chOff x="1692" y="1632"/>
                <a:chExt cx="2988" cy="2578"/>
              </a:xfrm>
            </p:grpSpPr>
            <p:pic>
              <p:nvPicPr>
                <p:cNvPr id="32" name="Picture 3" descr="Chapter 2 Fig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92" y="1776"/>
                  <a:ext cx="2868" cy="2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3344FF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" name="Rectangle 4"/>
                <p:cNvSpPr>
                  <a:spLocks noChangeArrowheads="1"/>
                </p:cNvSpPr>
                <p:nvPr/>
              </p:nvSpPr>
              <p:spPr bwMode="auto">
                <a:xfrm>
                  <a:off x="3912" y="1632"/>
                  <a:ext cx="768" cy="4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" name="Oval 6"/>
              <p:cNvSpPr>
                <a:spLocks noChangeArrowheads="1"/>
              </p:cNvSpPr>
              <p:nvPr/>
            </p:nvSpPr>
            <p:spPr bwMode="auto">
              <a:xfrm>
                <a:off x="3837" y="2052"/>
                <a:ext cx="81" cy="8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2578" y="3264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 b="1">
                  <a:solidFill>
                    <a:srgbClr val="D707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 b="1">
                <a:solidFill>
                  <a:srgbClr val="D7074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2974" y="2211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 b="1">
                  <a:solidFill>
                    <a:srgbClr val="D7074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 b="1">
                <a:solidFill>
                  <a:srgbClr val="D7074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1794" y="2899"/>
              <a:ext cx="59" cy="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1957" y="2889"/>
              <a:ext cx="59" cy="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2112" y="2914"/>
              <a:ext cx="59" cy="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2122" y="2820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1720" y="2949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18"/>
            <p:cNvSpPr>
              <a:spLocks noChangeArrowheads="1"/>
            </p:cNvSpPr>
            <p:nvPr/>
          </p:nvSpPr>
          <p:spPr bwMode="auto">
            <a:xfrm>
              <a:off x="1873" y="2952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2038" y="2955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9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23"/>
          <p:cNvGrpSpPr/>
          <p:nvPr/>
        </p:nvGrpSpPr>
        <p:grpSpPr bwMode="auto">
          <a:xfrm>
            <a:off x="6035105" y="2079734"/>
            <a:ext cx="2459038" cy="742950"/>
            <a:chOff x="3168" y="1392"/>
            <a:chExt cx="1549" cy="468"/>
          </a:xfrm>
        </p:grpSpPr>
        <p:pic>
          <p:nvPicPr>
            <p:cNvPr id="35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392"/>
              <a:ext cx="1549" cy="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3204" y="1607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ectangle 22"/>
          <p:cNvSpPr>
            <a:spLocks noChangeArrowheads="1"/>
          </p:cNvSpPr>
          <p:nvPr/>
        </p:nvSpPr>
        <p:spPr bwMode="auto">
          <a:xfrm>
            <a:off x="735013" y="1807021"/>
            <a:ext cx="47156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setup here is the same as what we used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writing the electric field of an off-origin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charge.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40525" y="3962400"/>
            <a:ext cx="434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define an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 surface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surface composed of all those points having the same value of potential.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equipotential surfaces in the potential field of a point charge are spheres centered at the point charge.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27068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Field Arising From Two or More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953" y="2505974"/>
            <a:ext cx="3940174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755291" y="1897962"/>
            <a:ext cx="782319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second point charge, and the two scalar potentials simply add: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804503" y="3810000"/>
            <a:ext cx="396239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charges, the process continues: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753" y="4487174"/>
            <a:ext cx="29337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2144353" y="4410974"/>
            <a:ext cx="3200400" cy="9906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3190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600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Associated with Continuous Charge Distributions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601" y="2718758"/>
            <a:ext cx="5146581" cy="55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" name="Group 8"/>
          <p:cNvGrpSpPr/>
          <p:nvPr/>
        </p:nvGrpSpPr>
        <p:grpSpPr bwMode="auto">
          <a:xfrm>
            <a:off x="667340" y="1676400"/>
            <a:ext cx="7672388" cy="762000"/>
            <a:chOff x="531" y="1344"/>
            <a:chExt cx="4386" cy="408"/>
          </a:xfrm>
        </p:grpSpPr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1392"/>
              <a:ext cx="4296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531" y="1344"/>
              <a:ext cx="48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4869" y="1368"/>
              <a:ext cx="48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2" y="4887913"/>
            <a:ext cx="2770188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693797" y="3849469"/>
            <a:ext cx="8129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allow the number of elements to become infinite, we obtain the integral expression: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219200" y="4724400"/>
            <a:ext cx="2971800" cy="990600"/>
          </a:xfrm>
          <a:prstGeom prst="rect">
            <a:avLst/>
          </a:prstGeom>
          <a:noFill/>
          <a:ln w="19050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" descr="C:\Users\dpcuser\Desktop\About Teaching\工程电磁场\Instructor Notes\Lecture 2\SMT359_2_004i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580" y="2145467"/>
            <a:ext cx="2386126" cy="158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9"/>
          <p:cNvGrpSpPr/>
          <p:nvPr/>
        </p:nvGrpSpPr>
        <p:grpSpPr bwMode="auto">
          <a:xfrm>
            <a:off x="4592105" y="4724400"/>
            <a:ext cx="3790950" cy="990600"/>
            <a:chOff x="1308" y="3372"/>
            <a:chExt cx="2388" cy="624"/>
          </a:xfrm>
        </p:grpSpPr>
        <p:pic>
          <p:nvPicPr>
            <p:cNvPr id="25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" y="3467"/>
              <a:ext cx="2315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1308" y="3372"/>
              <a:ext cx="2304" cy="624"/>
            </a:xfrm>
            <a:prstGeom prst="rect">
              <a:avLst/>
            </a:prstGeom>
            <a:noFill/>
            <a:ln w="19050">
              <a:solidFill>
                <a:srgbClr val="E7277E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050" y="6008687"/>
            <a:ext cx="32639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600" y="1153180"/>
            <a:ext cx="90491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Functions Associated with Line, Surface, and Volume Charge Distributions 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86000"/>
            <a:ext cx="2624137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3443288"/>
            <a:ext cx="255905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4476750"/>
            <a:ext cx="2624137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1676400" y="2555875"/>
            <a:ext cx="1392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Charge: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1687513" y="3616325"/>
            <a:ext cx="1674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Charge: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1676400" y="4633913"/>
            <a:ext cx="1682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Charge: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" name="Picture 2" descr="Chapter 4 Fig 4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2590800"/>
            <a:ext cx="404304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53882" y="1685955"/>
            <a:ext cx="75519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find the potential anywhere on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arising from a circular ring of charge in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plane, centered at the origin.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6"/>
          <p:cNvGrpSpPr/>
          <p:nvPr/>
        </p:nvGrpSpPr>
        <p:grpSpPr bwMode="auto">
          <a:xfrm>
            <a:off x="838200" y="2799556"/>
            <a:ext cx="2819400" cy="3240088"/>
            <a:chOff x="493" y="1954"/>
            <a:chExt cx="1776" cy="2041"/>
          </a:xfrm>
        </p:grpSpPr>
        <p:pic>
          <p:nvPicPr>
            <p:cNvPr id="1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256"/>
              <a:ext cx="1457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493" y="1954"/>
              <a:ext cx="62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use: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" y="2922"/>
              <a:ext cx="783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" name="Picture 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3264"/>
              <a:ext cx="507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0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" y="3516"/>
              <a:ext cx="57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1" name="Group 13"/>
            <p:cNvGrpSpPr/>
            <p:nvPr/>
          </p:nvGrpSpPr>
          <p:grpSpPr bwMode="auto">
            <a:xfrm>
              <a:off x="1029" y="3777"/>
              <a:ext cx="1240" cy="218"/>
              <a:chOff x="771" y="3975"/>
              <a:chExt cx="1240" cy="218"/>
            </a:xfrm>
          </p:grpSpPr>
          <p:pic>
            <p:nvPicPr>
              <p:cNvPr id="23" name="Picture 11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1" y="3984"/>
                <a:ext cx="599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12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1" y="3975"/>
                <a:ext cx="610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549" y="2927"/>
              <a:ext cx="4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29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(Cont’d)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30</a:t>
            </a:r>
            <a:endParaRPr lang="zh-CN" altLang="en-US" dirty="0"/>
          </a:p>
        </p:txBody>
      </p:sp>
      <p:pic>
        <p:nvPicPr>
          <p:cNvPr id="27" name="Picture 2" descr="Chapter 4 Fig 4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62200"/>
            <a:ext cx="3913188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917700"/>
            <a:ext cx="2312988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838200" y="2057400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now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3276600"/>
            <a:ext cx="4040188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804862" y="2724150"/>
            <a:ext cx="1150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becomes: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4521200"/>
            <a:ext cx="11525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" name="Picture 1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2" y="5011737"/>
            <a:ext cx="7493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411787"/>
            <a:ext cx="858838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5" name="Group 20"/>
          <p:cNvGrpSpPr/>
          <p:nvPr/>
        </p:nvGrpSpPr>
        <p:grpSpPr bwMode="auto">
          <a:xfrm>
            <a:off x="1841500" y="5826125"/>
            <a:ext cx="1968500" cy="346075"/>
            <a:chOff x="480" y="3975"/>
            <a:chExt cx="1240" cy="218"/>
          </a:xfrm>
        </p:grpSpPr>
        <p:pic>
          <p:nvPicPr>
            <p:cNvPr id="38" name="Picture 21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3984"/>
              <a:ext cx="59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9" name="Picture 2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0" y="3975"/>
              <a:ext cx="610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3810000" y="4114800"/>
            <a:ext cx="1219200" cy="0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26"/>
          <p:cNvSpPr>
            <a:spLocks noChangeArrowheads="1"/>
          </p:cNvSpPr>
          <p:nvPr/>
        </p:nvSpPr>
        <p:spPr bwMode="auto">
          <a:xfrm>
            <a:off x="903287" y="4511675"/>
            <a:ext cx="811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Summary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31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6528"/>
            <a:ext cx="8029942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615941"/>
            <a:ext cx="6629220" cy="9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0"/>
            <a:ext cx="3324083" cy="64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317" y="5568973"/>
            <a:ext cx="189749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箭头 1"/>
          <p:cNvSpPr/>
          <p:nvPr/>
        </p:nvSpPr>
        <p:spPr>
          <a:xfrm>
            <a:off x="4267200" y="5867400"/>
            <a:ext cx="685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Summary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32</a:t>
            </a:r>
            <a:endParaRPr lang="zh-CN" alt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151" y="1905000"/>
            <a:ext cx="189749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103" y="3048000"/>
            <a:ext cx="503959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434415" y="55626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circuital law for voltages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Change in Potential over an Incremental Distance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33</a:t>
            </a:r>
            <a:endParaRPr lang="zh-CN" altLang="en-US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688302"/>
            <a:ext cx="2770188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1676400"/>
            <a:ext cx="2262187" cy="78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Chapter 4 Fig 6"/>
          <p:cNvPicPr>
            <a:picLocks noChangeAspect="1" noChangeArrowheads="1"/>
          </p:cNvPicPr>
          <p:nvPr/>
        </p:nvPicPr>
        <p:blipFill>
          <a:blip r:embed="rId4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3142456"/>
            <a:ext cx="3492500" cy="223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3733800"/>
            <a:ext cx="1873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88681" y="2438400"/>
            <a:ext cx="47815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in potential occurring over distance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the angle between this vector and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 field; i.e., the projection of the field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the path: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2" y="4352972"/>
            <a:ext cx="2257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09600" y="4354512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463" y="4800600"/>
            <a:ext cx="1984375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330" y="5410200"/>
            <a:ext cx="1498600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86567" y="4887912"/>
            <a:ext cx="1319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from which: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586567" y="5581126"/>
            <a:ext cx="2601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whose maximum value is: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601662" y="6248400"/>
            <a:ext cx="5570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path vector lies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electric field direction.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Relation Between Potential and Electric Field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34</a:t>
            </a:r>
            <a:endParaRPr lang="zh-CN" altLang="en-US" dirty="0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645035" y="1676400"/>
            <a:ext cx="811796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rate of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potential should occur in a direction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exactly opposite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electric field: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9"/>
          <p:cNvGrpSpPr/>
          <p:nvPr/>
        </p:nvGrpSpPr>
        <p:grpSpPr bwMode="auto">
          <a:xfrm>
            <a:off x="2286000" y="2286000"/>
            <a:ext cx="5692774" cy="1155701"/>
            <a:chOff x="2064" y="1726"/>
            <a:chExt cx="3586" cy="728"/>
          </a:xfrm>
        </p:grpSpPr>
        <p:pic>
          <p:nvPicPr>
            <p:cNvPr id="37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2016"/>
              <a:ext cx="1244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3135" y="196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6"/>
            <p:cNvSpPr>
              <a:spLocks noChangeShapeType="1"/>
            </p:cNvSpPr>
            <p:nvPr/>
          </p:nvSpPr>
          <p:spPr bwMode="auto">
            <a:xfrm>
              <a:off x="3135" y="19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3649" y="1726"/>
              <a:ext cx="200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unit vector normal to an equipotential</a:t>
              </a:r>
              <a:endPara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surface and in the direction of </a:t>
              </a:r>
              <a:r>
                <a:rPr lang="en-US" altLang="zh-CN" sz="1400" i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increasing</a:t>
              </a:r>
              <a:r>
                <a:rPr lang="en-US" altLang="zh-CN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potential</a:t>
              </a:r>
              <a:endPara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AutoShape 8"/>
            <p:cNvSpPr/>
            <p:nvPr/>
          </p:nvSpPr>
          <p:spPr bwMode="auto">
            <a:xfrm>
              <a:off x="3552" y="1797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7" name="Picture 10" descr="Chapter 4 Fig 7"/>
          <p:cNvPicPr>
            <a:picLocks noChangeAspect="1" noChangeArrowheads="1"/>
          </p:cNvPicPr>
          <p:nvPr/>
        </p:nvPicPr>
        <p:blipFill>
          <a:blip r:embed="rId3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71900"/>
            <a:ext cx="40957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028950" y="5519738"/>
            <a:ext cx="411162" cy="125412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3243263" y="5257800"/>
            <a:ext cx="319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FF31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>
              <a:solidFill>
                <a:srgbClr val="FF31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5619750" y="4527550"/>
            <a:ext cx="30130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points in the direction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of maximum rate of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decrease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 potential  -- in the direction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negative gradient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 flipH="1">
            <a:off x="4095750" y="3733800"/>
            <a:ext cx="1143000" cy="457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flipH="1">
            <a:off x="3409950" y="3733800"/>
            <a:ext cx="1828800" cy="304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7"/>
          <p:cNvSpPr>
            <a:spLocks noChangeArrowheads="1"/>
          </p:cNvSpPr>
          <p:nvPr/>
        </p:nvSpPr>
        <p:spPr bwMode="auto">
          <a:xfrm>
            <a:off x="5238750" y="3581400"/>
            <a:ext cx="2243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 surfaces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19"/>
          <p:cNvSpPr>
            <a:spLocks noChangeShapeType="1"/>
          </p:cNvSpPr>
          <p:nvPr/>
        </p:nvSpPr>
        <p:spPr bwMode="auto">
          <a:xfrm flipH="1" flipV="1">
            <a:off x="2422525" y="5308600"/>
            <a:ext cx="387350" cy="1301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2362200" y="4964113"/>
            <a:ext cx="403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360318" y="5727700"/>
            <a:ext cx="1488282" cy="0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87705" y="574552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负梯度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Electric Field in Terms of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in Rectangular Coordinates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35</a:t>
            </a:r>
            <a:endParaRPr lang="zh-CN" altLang="en-US" dirty="0"/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1974850" cy="69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327" y="1708150"/>
            <a:ext cx="337343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2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667000"/>
            <a:ext cx="4543425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Rectangle 6"/>
          <p:cNvSpPr>
            <a:spLocks noChangeArrowheads="1"/>
          </p:cNvSpPr>
          <p:nvPr/>
        </p:nvSpPr>
        <p:spPr bwMode="auto">
          <a:xfrm>
            <a:off x="707261" y="2678113"/>
            <a:ext cx="195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also know that: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36" y="4213166"/>
            <a:ext cx="1462088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" name="Rectangle 8"/>
          <p:cNvSpPr>
            <a:spLocks noChangeArrowheads="1"/>
          </p:cNvSpPr>
          <p:nvPr/>
        </p:nvSpPr>
        <p:spPr bwMode="auto">
          <a:xfrm>
            <a:off x="818356" y="3733800"/>
            <a:ext cx="2217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therefore identify: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utoShape 9"/>
          <p:cNvSpPr/>
          <p:nvPr/>
        </p:nvSpPr>
        <p:spPr bwMode="auto">
          <a:xfrm>
            <a:off x="1377036" y="4441766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Line 10"/>
          <p:cNvSpPr>
            <a:spLocks noChangeShapeType="1"/>
          </p:cNvSpPr>
          <p:nvPr/>
        </p:nvSpPr>
        <p:spPr bwMode="auto">
          <a:xfrm>
            <a:off x="3581400" y="4251266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4308265" y="3733800"/>
            <a:ext cx="896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87" y="4800600"/>
            <a:ext cx="3986213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Electric Field in Terms of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in Rectangular Coordinates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36</a:t>
            </a:r>
            <a:endParaRPr lang="zh-CN" altLang="en-US" dirty="0"/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618" y="1676400"/>
            <a:ext cx="3967163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38" y="2635876"/>
            <a:ext cx="2989262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607219" y="2743200"/>
            <a:ext cx="4060824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obtained by using the del operator,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7462838" y="2743200"/>
            <a:ext cx="614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619440" y="3429000"/>
            <a:ext cx="82532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compact relation therefore emerges, which is applicable to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799" y="3798332"/>
            <a:ext cx="14986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898435" y="3869770"/>
            <a:ext cx="38138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equal to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gradient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609600" y="4953000"/>
            <a:ext cx="815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 of the gradient is that of the maximum rate of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scalar field, or normal to all equipotential surfaces.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609600" y="5650468"/>
            <a:ext cx="7102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1) The gradient of a scalar is a vector!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2) Any gradient field is conservative field, or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irrotational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field.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323" y="4346020"/>
            <a:ext cx="1812924" cy="58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Direction of the Gradient Vector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37</a:t>
            </a:r>
            <a:endParaRPr lang="zh-CN" altLang="en-US" dirty="0"/>
          </a:p>
        </p:txBody>
      </p:sp>
      <p:pic>
        <p:nvPicPr>
          <p:cNvPr id="34" name="Picture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606" y="2645677"/>
            <a:ext cx="136207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491331" y="1676400"/>
            <a:ext cx="796686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projection of the gradient along a direction tangent to an equipotential surface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a result of zero, as the potential by definition is constant along that surface: In other words,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520520" y="3163669"/>
            <a:ext cx="82043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must be perpendicular to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an equipotential surface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 the direction of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increase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45425"/>
            <a:ext cx="391985" cy="253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3" descr="Chapter 4 Fig 7"/>
          <p:cNvPicPr>
            <a:picLocks noChangeAspect="1" noChangeArrowheads="1"/>
          </p:cNvPicPr>
          <p:nvPr/>
        </p:nvPicPr>
        <p:blipFill>
          <a:blip r:embed="rId4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038600"/>
            <a:ext cx="40957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3810000" y="5346700"/>
            <a:ext cx="604838" cy="4763"/>
          </a:xfrm>
          <a:prstGeom prst="line">
            <a:avLst/>
          </a:prstGeom>
          <a:noFill/>
          <a:ln w="19050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3867150" y="5035550"/>
            <a:ext cx="319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31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>
              <a:solidFill>
                <a:srgbClr val="FF31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 flipH="1" flipV="1">
            <a:off x="3225800" y="5340350"/>
            <a:ext cx="581025" cy="476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1"/>
          <p:cNvSpPr>
            <a:spLocks noChangeShapeType="1"/>
          </p:cNvSpPr>
          <p:nvPr/>
        </p:nvSpPr>
        <p:spPr bwMode="auto">
          <a:xfrm flipH="1" flipV="1">
            <a:off x="3808413" y="4695825"/>
            <a:ext cx="6350" cy="6477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Rectangle 12"/>
          <p:cNvSpPr>
            <a:spLocks noChangeArrowheads="1"/>
          </p:cNvSpPr>
          <p:nvPr/>
        </p:nvSpPr>
        <p:spPr bwMode="auto">
          <a:xfrm>
            <a:off x="3790950" y="4595813"/>
            <a:ext cx="2616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688" y="5143500"/>
            <a:ext cx="246063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Gradient of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in the Three Coordinate Systems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38</a:t>
            </a:r>
            <a:endParaRPr lang="zh-CN" altLang="en-US" dirty="0"/>
          </a:p>
        </p:txBody>
      </p:sp>
      <p:grpSp>
        <p:nvGrpSpPr>
          <p:cNvPr id="18" name="Group 6"/>
          <p:cNvGrpSpPr/>
          <p:nvPr/>
        </p:nvGrpSpPr>
        <p:grpSpPr bwMode="auto">
          <a:xfrm>
            <a:off x="1517650" y="2286000"/>
            <a:ext cx="6024562" cy="3505200"/>
            <a:chOff x="957" y="1488"/>
            <a:chExt cx="3795" cy="2208"/>
          </a:xfrm>
        </p:grpSpPr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5" y="1488"/>
              <a:ext cx="3317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0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" y="2304"/>
              <a:ext cx="3489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" y="3120"/>
              <a:ext cx="3795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39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8083"/>
            <a:ext cx="7944389" cy="89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533400" y="2595129"/>
            <a:ext cx="786818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867" y="4648200"/>
            <a:ext cx="5231729" cy="16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39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8083"/>
            <a:ext cx="7944389" cy="89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7" y="2667000"/>
            <a:ext cx="51407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533400" y="2595129"/>
            <a:ext cx="786818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352800"/>
            <a:ext cx="6629400" cy="700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038600"/>
            <a:ext cx="4981036" cy="619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9049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Example (Cont’d)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40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8083"/>
            <a:ext cx="7944389" cy="89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7" y="2667000"/>
            <a:ext cx="51407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533400" y="2595129"/>
            <a:ext cx="786818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352800"/>
            <a:ext cx="6629400" cy="700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1538681" y="4114800"/>
            <a:ext cx="7376719" cy="2086459"/>
            <a:chOff x="1538681" y="4114800"/>
            <a:chExt cx="7376719" cy="2086459"/>
          </a:xfrm>
        </p:grpSpPr>
        <p:pic>
          <p:nvPicPr>
            <p:cNvPr id="6151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8681" y="4114800"/>
              <a:ext cx="7376719" cy="2086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直接连接符 6"/>
            <p:cNvCxnSpPr/>
            <p:nvPr/>
          </p:nvCxnSpPr>
          <p:spPr>
            <a:xfrm>
              <a:off x="7467600" y="4495800"/>
              <a:ext cx="228600" cy="152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/>
          </p:nvSpPr>
          <p:spPr>
            <a:xfrm>
              <a:off x="7543800" y="4343400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2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Electric Dipole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电偶极子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41</a:t>
            </a:r>
            <a:endParaRPr lang="zh-CN" altLang="en-US" dirty="0"/>
          </a:p>
        </p:txBody>
      </p:sp>
      <p:pic>
        <p:nvPicPr>
          <p:cNvPr id="12" name="Picture 3" descr="Chapter 4 Fig 9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799" y="2890838"/>
            <a:ext cx="4011963" cy="312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1" y="4724400"/>
            <a:ext cx="3992592" cy="705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609600" y="3276600"/>
            <a:ext cx="449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will be just the sum of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potential functions associated with each point charge: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600" y="1600200"/>
            <a:ext cx="8229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dipole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simply a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name given to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point charges of equal magnitude and opposite sign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separated by a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that is small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the distance to the point P at which we want to know the electric and potential fields.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Far-Field Approximation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远场近似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42</a:t>
            </a:r>
            <a:endParaRPr lang="zh-CN" altLang="en-US" dirty="0"/>
          </a:p>
        </p:txBody>
      </p:sp>
      <p:pic>
        <p:nvPicPr>
          <p:cNvPr id="13" name="Picture 4" descr="Chapter 4 Fig 9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029" y="1775576"/>
            <a:ext cx="4278313" cy="353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551821" y="1905000"/>
            <a:ext cx="39512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condition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&gt;&gt;d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three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vectors are approximately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parallel.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66" y="3810000"/>
            <a:ext cx="13716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66" y="4397349"/>
            <a:ext cx="19748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620759" y="2971800"/>
            <a:ext cx="3521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we may use the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698141" y="4344962"/>
            <a:ext cx="555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816" y="5429250"/>
            <a:ext cx="18288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685800" y="4876800"/>
            <a:ext cx="1562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finally: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109" y="5543131"/>
            <a:ext cx="3992592" cy="705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右箭头 2"/>
          <p:cNvSpPr/>
          <p:nvPr/>
        </p:nvSpPr>
        <p:spPr>
          <a:xfrm rot="10800000">
            <a:off x="3505200" y="5757862"/>
            <a:ext cx="762000" cy="238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Electric Field of the Dipole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43</a:t>
            </a:r>
            <a:endParaRPr lang="zh-CN" altLang="en-US" dirty="0"/>
          </a:p>
        </p:txBody>
      </p:sp>
      <p:pic>
        <p:nvPicPr>
          <p:cNvPr id="13" name="Picture 4" descr="Chapter 4 Fig 9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734" y="2454960"/>
            <a:ext cx="3852917" cy="318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471" y="1828800"/>
            <a:ext cx="18288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30015"/>
            <a:ext cx="5087742" cy="651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08" y="3810000"/>
            <a:ext cx="3639975" cy="703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125" y="5319622"/>
            <a:ext cx="37655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327804" y="397658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or..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382587" y="4724400"/>
            <a:ext cx="1979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which finally: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Electric Dipole Field and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Equipotentials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44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8658" y="1862587"/>
            <a:ext cx="7499350" cy="4457700"/>
            <a:chOff x="762000" y="1862587"/>
            <a:chExt cx="7499350" cy="4457700"/>
          </a:xfrm>
        </p:grpSpPr>
        <p:grpSp>
          <p:nvGrpSpPr>
            <p:cNvPr id="15" name="Group 6"/>
            <p:cNvGrpSpPr/>
            <p:nvPr/>
          </p:nvGrpSpPr>
          <p:grpSpPr bwMode="auto">
            <a:xfrm>
              <a:off x="762000" y="1862587"/>
              <a:ext cx="7499350" cy="4457700"/>
              <a:chOff x="412" y="1008"/>
              <a:chExt cx="4724" cy="2808"/>
            </a:xfrm>
          </p:grpSpPr>
          <p:pic>
            <p:nvPicPr>
              <p:cNvPr id="20" name="Picture 2" descr="Chapter 4 Fig 1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84" y="1008"/>
                <a:ext cx="2752" cy="28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" y="3120"/>
                <a:ext cx="2372" cy="5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2" name="Picture 5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" y="2172"/>
                <a:ext cx="1152" cy="5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1099" y="2240412"/>
              <a:ext cx="21526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Equipotential surface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2215970" y="2940499"/>
              <a:ext cx="24034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Electric field streamline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>
              <a:off x="4048005" y="3310387"/>
              <a:ext cx="381000" cy="228600"/>
            </a:xfrm>
            <a:prstGeom prst="line">
              <a:avLst/>
            </a:prstGeom>
            <a:noFill/>
            <a:ln w="9525">
              <a:solidFill>
                <a:srgbClr val="FF3190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4448055" y="2610300"/>
              <a:ext cx="590550" cy="242888"/>
            </a:xfrm>
            <a:prstGeom prst="line">
              <a:avLst/>
            </a:prstGeom>
            <a:noFill/>
            <a:ln w="9525">
              <a:solidFill>
                <a:srgbClr val="FF3190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Chapter 4 Fig 9b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768" y="2075765"/>
            <a:ext cx="3629062" cy="299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Electric Dipole Moment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偶极矩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45</a:t>
            </a:r>
            <a:endParaRPr lang="zh-CN" altLang="en-US" dirty="0"/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12311"/>
            <a:ext cx="1279525" cy="55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609600" y="1752600"/>
            <a:ext cx="81246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dipole moment vector is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 from the negative charge to the positive charge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is defined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68" y="3690236"/>
            <a:ext cx="15716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660400" y="2971800"/>
            <a:ext cx="482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charge configuration we have used, 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 of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4461848"/>
            <a:ext cx="144462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685800" y="4090656"/>
            <a:ext cx="176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may write: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718867" y="5444511"/>
            <a:ext cx="6297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in general, for a dipole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any orientation, positioned off-origin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47" y="5803900"/>
            <a:ext cx="31623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707365" y="5074623"/>
            <a:ext cx="442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would account for any orientation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061" y="2590800"/>
            <a:ext cx="2330629" cy="2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548" y="4191000"/>
            <a:ext cx="1342852" cy="65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Energy in a System of Two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46</a:t>
            </a:r>
            <a:endParaRPr lang="zh-CN" altLang="en-US" dirty="0"/>
          </a:p>
        </p:txBody>
      </p:sp>
      <p:grpSp>
        <p:nvGrpSpPr>
          <p:cNvPr id="20" name="Group 11"/>
          <p:cNvGrpSpPr/>
          <p:nvPr/>
        </p:nvGrpSpPr>
        <p:grpSpPr bwMode="auto">
          <a:xfrm>
            <a:off x="2544762" y="2282736"/>
            <a:ext cx="330200" cy="400050"/>
            <a:chOff x="918" y="1860"/>
            <a:chExt cx="208" cy="252"/>
          </a:xfrm>
        </p:grpSpPr>
        <p:sp>
          <p:nvSpPr>
            <p:cNvPr id="49" name="Oval 9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918" y="1860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12"/>
          <p:cNvGrpSpPr/>
          <p:nvPr/>
        </p:nvGrpSpPr>
        <p:grpSpPr bwMode="auto">
          <a:xfrm>
            <a:off x="4602162" y="2273211"/>
            <a:ext cx="330200" cy="400050"/>
            <a:chOff x="918" y="1860"/>
            <a:chExt cx="208" cy="252"/>
          </a:xfrm>
        </p:grpSpPr>
        <p:sp>
          <p:nvSpPr>
            <p:cNvPr id="47" name="Oval 13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918" y="1860"/>
              <a:ext cx="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3525837" y="2254161"/>
            <a:ext cx="555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3983037" y="246847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2859087" y="246847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2509837" y="1954123"/>
            <a:ext cx="455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19"/>
          <p:cNvSpPr>
            <a:spLocks noChangeArrowheads="1"/>
          </p:cNvSpPr>
          <p:nvPr/>
        </p:nvSpPr>
        <p:spPr bwMode="auto">
          <a:xfrm>
            <a:off x="4535487" y="1954123"/>
            <a:ext cx="455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 flipH="1">
            <a:off x="5002212" y="2458948"/>
            <a:ext cx="2667000" cy="0"/>
          </a:xfrm>
          <a:prstGeom prst="line">
            <a:avLst/>
          </a:prstGeom>
          <a:noFill/>
          <a:ln w="19050">
            <a:solidFill>
              <a:srgbClr val="FF3190"/>
            </a:solidFill>
            <a:prstDash val="dash"/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21"/>
          <p:cNvSpPr>
            <a:spLocks noChangeArrowheads="1"/>
          </p:cNvSpPr>
          <p:nvPr/>
        </p:nvSpPr>
        <p:spPr bwMode="auto">
          <a:xfrm>
            <a:off x="5376862" y="2563723"/>
            <a:ext cx="2876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Charge 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brought into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position from infinity.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22"/>
          <p:cNvSpPr>
            <a:spLocks noChangeArrowheads="1"/>
          </p:cNvSpPr>
          <p:nvPr/>
        </p:nvSpPr>
        <p:spPr bwMode="auto">
          <a:xfrm>
            <a:off x="1265237" y="2757398"/>
            <a:ext cx="3201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has zero energy if isolated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762000" y="3564389"/>
            <a:ext cx="492124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in bringing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position is: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4400461"/>
            <a:ext cx="404971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" name="Rectangle 25"/>
          <p:cNvSpPr>
            <a:spLocks noChangeArrowheads="1"/>
          </p:cNvSpPr>
          <p:nvPr/>
        </p:nvSpPr>
        <p:spPr bwMode="auto">
          <a:xfrm>
            <a:off x="803275" y="5386959"/>
            <a:ext cx="80359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stored energy in the “system”, consisting of the two assembled charges.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2095500" y="4305211"/>
            <a:ext cx="4114799" cy="8382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Energy in a System of Three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51" name="Rectangle 18"/>
          <p:cNvSpPr>
            <a:spLocks noChangeArrowheads="1"/>
          </p:cNvSpPr>
          <p:nvPr/>
        </p:nvSpPr>
        <p:spPr bwMode="auto">
          <a:xfrm>
            <a:off x="658483" y="3847305"/>
            <a:ext cx="78759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energy is now the previous 2-charge energy plus the work done in bringing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position: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26190" y="1804193"/>
            <a:ext cx="5633498" cy="2043112"/>
            <a:chOff x="2814638" y="2173287"/>
            <a:chExt cx="5633498" cy="2043112"/>
          </a:xfrm>
        </p:grpSpPr>
        <p:grpSp>
          <p:nvGrpSpPr>
            <p:cNvPr id="27" name="Group 4"/>
            <p:cNvGrpSpPr/>
            <p:nvPr/>
          </p:nvGrpSpPr>
          <p:grpSpPr bwMode="auto">
            <a:xfrm>
              <a:off x="2849563" y="2501899"/>
              <a:ext cx="314325" cy="366712"/>
              <a:chOff x="918" y="1860"/>
              <a:chExt cx="198" cy="231"/>
            </a:xfrm>
          </p:grpSpPr>
          <p:sp>
            <p:nvSpPr>
              <p:cNvPr id="70" name="Oval 5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6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7"/>
            <p:cNvGrpSpPr/>
            <p:nvPr/>
          </p:nvGrpSpPr>
          <p:grpSpPr bwMode="auto">
            <a:xfrm>
              <a:off x="4906963" y="2492374"/>
              <a:ext cx="314325" cy="366712"/>
              <a:chOff x="918" y="1860"/>
              <a:chExt cx="198" cy="231"/>
            </a:xfrm>
          </p:grpSpPr>
          <p:sp>
            <p:nvSpPr>
              <p:cNvPr id="68" name="Oval 8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Rectangle 9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830638" y="2473324"/>
              <a:ext cx="514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4287838" y="268763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3163888" y="268763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2814638" y="2173287"/>
              <a:ext cx="425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auto">
            <a:xfrm>
              <a:off x="4840288" y="2173287"/>
              <a:ext cx="425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H="1" flipV="1">
              <a:off x="4711700" y="3816349"/>
              <a:ext cx="2947988" cy="14287"/>
            </a:xfrm>
            <a:prstGeom prst="line">
              <a:avLst/>
            </a:prstGeom>
            <a:noFill/>
            <a:ln w="19050">
              <a:solidFill>
                <a:srgbClr val="FF3190"/>
              </a:solidFill>
              <a:prstDash val="dash"/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5706523" y="2883976"/>
              <a:ext cx="2741613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Charge 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brought into 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 from infinity, with 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already situated.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Group 22"/>
            <p:cNvGrpSpPr/>
            <p:nvPr/>
          </p:nvGrpSpPr>
          <p:grpSpPr bwMode="auto">
            <a:xfrm>
              <a:off x="4383088" y="3635374"/>
              <a:ext cx="314325" cy="366712"/>
              <a:chOff x="918" y="1860"/>
              <a:chExt cx="198" cy="231"/>
            </a:xfrm>
          </p:grpSpPr>
          <p:sp>
            <p:nvSpPr>
              <p:cNvPr id="66" name="Oval 23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Rectangle 24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4154488" y="3849687"/>
              <a:ext cx="425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4583113" y="2992437"/>
              <a:ext cx="514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 flipH="1">
              <a:off x="4881563" y="2825749"/>
              <a:ext cx="106363" cy="263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 flipH="1">
              <a:off x="4610100" y="3403599"/>
              <a:ext cx="123825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29"/>
            <p:cNvSpPr>
              <a:spLocks noChangeArrowheads="1"/>
            </p:cNvSpPr>
            <p:nvPr/>
          </p:nvSpPr>
          <p:spPr bwMode="auto">
            <a:xfrm>
              <a:off x="3535363" y="3044824"/>
              <a:ext cx="514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>
              <a:off x="3983038" y="3432174"/>
              <a:ext cx="431800" cy="301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31"/>
            <p:cNvSpPr>
              <a:spLocks noChangeShapeType="1"/>
            </p:cNvSpPr>
            <p:nvPr/>
          </p:nvSpPr>
          <p:spPr bwMode="auto">
            <a:xfrm>
              <a:off x="3113088" y="2771774"/>
              <a:ext cx="490538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0" name="Picture 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33" y="4671412"/>
            <a:ext cx="4826000" cy="62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" name="Picture 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052" y="5562265"/>
            <a:ext cx="1855788" cy="65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2" name="Picture 3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88" y="5602254"/>
            <a:ext cx="18923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" name="Rectangle 35"/>
          <p:cNvSpPr>
            <a:spLocks noChangeArrowheads="1"/>
          </p:cNvSpPr>
          <p:nvPr/>
        </p:nvSpPr>
        <p:spPr bwMode="auto">
          <a:xfrm>
            <a:off x="1956220" y="4685699"/>
            <a:ext cx="5105400" cy="5334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36"/>
          <p:cNvSpPr>
            <a:spLocks noChangeArrowheads="1"/>
          </p:cNvSpPr>
          <p:nvPr/>
        </p:nvSpPr>
        <p:spPr bwMode="auto">
          <a:xfrm>
            <a:off x="1325563" y="5657055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37"/>
          <p:cNvSpPr>
            <a:spLocks noChangeArrowheads="1"/>
          </p:cNvSpPr>
          <p:nvPr/>
        </p:nvSpPr>
        <p:spPr bwMode="auto">
          <a:xfrm>
            <a:off x="4094163" y="5678487"/>
            <a:ext cx="517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Energy in a System of Four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48</a:t>
            </a:r>
            <a:endParaRPr lang="zh-CN" altLang="en-US" dirty="0"/>
          </a:p>
        </p:txBody>
      </p:sp>
      <p:grpSp>
        <p:nvGrpSpPr>
          <p:cNvPr id="41" name="Group 4"/>
          <p:cNvGrpSpPr/>
          <p:nvPr/>
        </p:nvGrpSpPr>
        <p:grpSpPr bwMode="auto">
          <a:xfrm>
            <a:off x="4130675" y="2477279"/>
            <a:ext cx="314325" cy="366713"/>
            <a:chOff x="918" y="1860"/>
            <a:chExt cx="198" cy="231"/>
          </a:xfrm>
        </p:grpSpPr>
        <p:sp>
          <p:nvSpPr>
            <p:cNvPr id="105" name="Oval 5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6"/>
            <p:cNvSpPr>
              <a:spLocks noChangeArrowheads="1"/>
            </p:cNvSpPr>
            <p:nvPr/>
          </p:nvSpPr>
          <p:spPr bwMode="auto">
            <a:xfrm>
              <a:off x="918" y="1860"/>
              <a:ext cx="1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7"/>
          <p:cNvGrpSpPr/>
          <p:nvPr/>
        </p:nvGrpSpPr>
        <p:grpSpPr bwMode="auto">
          <a:xfrm>
            <a:off x="6188075" y="2467754"/>
            <a:ext cx="314325" cy="366713"/>
            <a:chOff x="918" y="1860"/>
            <a:chExt cx="198" cy="231"/>
          </a:xfrm>
        </p:grpSpPr>
        <p:sp>
          <p:nvSpPr>
            <p:cNvPr id="103" name="Oval 8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9"/>
            <p:cNvSpPr>
              <a:spLocks noChangeArrowheads="1"/>
            </p:cNvSpPr>
            <p:nvPr/>
          </p:nvSpPr>
          <p:spPr bwMode="auto">
            <a:xfrm>
              <a:off x="918" y="1860"/>
              <a:ext cx="1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Rectangle 10"/>
          <p:cNvSpPr>
            <a:spLocks noChangeArrowheads="1"/>
          </p:cNvSpPr>
          <p:nvPr/>
        </p:nvSpPr>
        <p:spPr bwMode="auto">
          <a:xfrm>
            <a:off x="5111750" y="2448704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>
            <a:off x="5568950" y="266301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>
            <a:off x="4445000" y="266301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095750" y="2148667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6121400" y="2148667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Line 15"/>
          <p:cNvSpPr>
            <a:spLocks noChangeShapeType="1"/>
          </p:cNvSpPr>
          <p:nvPr/>
        </p:nvSpPr>
        <p:spPr bwMode="auto">
          <a:xfrm>
            <a:off x="1330325" y="2416954"/>
            <a:ext cx="1044575" cy="849313"/>
          </a:xfrm>
          <a:prstGeom prst="line">
            <a:avLst/>
          </a:prstGeom>
          <a:noFill/>
          <a:ln w="19050">
            <a:solidFill>
              <a:srgbClr val="FF3190"/>
            </a:solidFill>
            <a:prstDash val="dash"/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16"/>
          <p:cNvSpPr>
            <a:spLocks noChangeArrowheads="1"/>
          </p:cNvSpPr>
          <p:nvPr/>
        </p:nvSpPr>
        <p:spPr bwMode="auto">
          <a:xfrm>
            <a:off x="1371600" y="1641565"/>
            <a:ext cx="27701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brought into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from infinity, with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situated.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17"/>
          <p:cNvSpPr>
            <a:spLocks noChangeArrowheads="1"/>
          </p:cNvSpPr>
          <p:nvPr/>
        </p:nvSpPr>
        <p:spPr bwMode="auto">
          <a:xfrm>
            <a:off x="575469" y="4164073"/>
            <a:ext cx="81494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energy is now the previous 3-charge energy plus the work done in bringing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position: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3" name="Group 18"/>
          <p:cNvGrpSpPr/>
          <p:nvPr/>
        </p:nvGrpSpPr>
        <p:grpSpPr bwMode="auto">
          <a:xfrm>
            <a:off x="5664200" y="3610754"/>
            <a:ext cx="314325" cy="366713"/>
            <a:chOff x="918" y="1860"/>
            <a:chExt cx="198" cy="231"/>
          </a:xfrm>
        </p:grpSpPr>
        <p:sp>
          <p:nvSpPr>
            <p:cNvPr id="101" name="Oval 19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918" y="1860"/>
              <a:ext cx="1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Rectangle 21"/>
          <p:cNvSpPr>
            <a:spLocks noChangeArrowheads="1"/>
          </p:cNvSpPr>
          <p:nvPr/>
        </p:nvSpPr>
        <p:spPr bwMode="auto">
          <a:xfrm>
            <a:off x="5435600" y="3825067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5864225" y="2967817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3,2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Line 23"/>
          <p:cNvSpPr>
            <a:spLocks noChangeShapeType="1"/>
          </p:cNvSpPr>
          <p:nvPr/>
        </p:nvSpPr>
        <p:spPr bwMode="auto">
          <a:xfrm flipH="1">
            <a:off x="6162675" y="2801129"/>
            <a:ext cx="106363" cy="263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Line 24"/>
          <p:cNvSpPr>
            <a:spLocks noChangeShapeType="1"/>
          </p:cNvSpPr>
          <p:nvPr/>
        </p:nvSpPr>
        <p:spPr bwMode="auto">
          <a:xfrm flipH="1">
            <a:off x="5891213" y="3378979"/>
            <a:ext cx="123825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25"/>
          <p:cNvSpPr>
            <a:spLocks noChangeArrowheads="1"/>
          </p:cNvSpPr>
          <p:nvPr/>
        </p:nvSpPr>
        <p:spPr bwMode="auto">
          <a:xfrm>
            <a:off x="4816475" y="3020204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3,1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Line 26"/>
          <p:cNvSpPr>
            <a:spLocks noChangeShapeType="1"/>
          </p:cNvSpPr>
          <p:nvPr/>
        </p:nvSpPr>
        <p:spPr bwMode="auto">
          <a:xfrm>
            <a:off x="5264150" y="3407554"/>
            <a:ext cx="4318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Line 27"/>
          <p:cNvSpPr>
            <a:spLocks noChangeShapeType="1"/>
          </p:cNvSpPr>
          <p:nvPr/>
        </p:nvSpPr>
        <p:spPr bwMode="auto">
          <a:xfrm>
            <a:off x="4394200" y="2747154"/>
            <a:ext cx="490538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32"/>
          <p:cNvSpPr>
            <a:spLocks noChangeArrowheads="1"/>
          </p:cNvSpPr>
          <p:nvPr/>
        </p:nvSpPr>
        <p:spPr bwMode="auto">
          <a:xfrm>
            <a:off x="838200" y="5681663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33"/>
          <p:cNvSpPr>
            <a:spLocks noChangeArrowheads="1"/>
          </p:cNvSpPr>
          <p:nvPr/>
        </p:nvSpPr>
        <p:spPr bwMode="auto">
          <a:xfrm>
            <a:off x="5705475" y="5711825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3" name="Group 34"/>
          <p:cNvGrpSpPr/>
          <p:nvPr/>
        </p:nvGrpSpPr>
        <p:grpSpPr bwMode="auto">
          <a:xfrm>
            <a:off x="2387600" y="3202767"/>
            <a:ext cx="314325" cy="366713"/>
            <a:chOff x="918" y="1860"/>
            <a:chExt cx="198" cy="231"/>
          </a:xfrm>
        </p:grpSpPr>
        <p:sp>
          <p:nvSpPr>
            <p:cNvPr id="99" name="Oval 35"/>
            <p:cNvSpPr>
              <a:spLocks noChangeArrowheads="1"/>
            </p:cNvSpPr>
            <p:nvPr/>
          </p:nvSpPr>
          <p:spPr bwMode="auto">
            <a:xfrm>
              <a:off x="950" y="1906"/>
              <a:ext cx="137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 36"/>
            <p:cNvSpPr>
              <a:spLocks noChangeArrowheads="1"/>
            </p:cNvSpPr>
            <p:nvPr/>
          </p:nvSpPr>
          <p:spPr bwMode="auto">
            <a:xfrm>
              <a:off x="918" y="1860"/>
              <a:ext cx="1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4" name="Rectangle 37"/>
          <p:cNvSpPr>
            <a:spLocks noChangeArrowheads="1"/>
          </p:cNvSpPr>
          <p:nvPr/>
        </p:nvSpPr>
        <p:spPr bwMode="auto">
          <a:xfrm>
            <a:off x="2343150" y="2821767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38"/>
          <p:cNvSpPr>
            <a:spLocks noChangeArrowheads="1"/>
          </p:cNvSpPr>
          <p:nvPr/>
        </p:nvSpPr>
        <p:spPr bwMode="auto">
          <a:xfrm>
            <a:off x="3168650" y="2793192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4,1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39"/>
          <p:cNvSpPr>
            <a:spLocks noChangeArrowheads="1"/>
          </p:cNvSpPr>
          <p:nvPr/>
        </p:nvSpPr>
        <p:spPr bwMode="auto">
          <a:xfrm>
            <a:off x="4078288" y="2855104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endParaRPr lang="en-US" altLang="zh-C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40"/>
          <p:cNvSpPr>
            <a:spLocks noChangeArrowheads="1"/>
          </p:cNvSpPr>
          <p:nvPr/>
        </p:nvSpPr>
        <p:spPr bwMode="auto">
          <a:xfrm>
            <a:off x="3930650" y="3355167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4,3</a:t>
            </a:r>
            <a:endParaRPr lang="en-US" altLang="zh-CN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Line 41"/>
          <p:cNvSpPr>
            <a:spLocks noChangeShapeType="1"/>
          </p:cNvSpPr>
          <p:nvPr/>
        </p:nvSpPr>
        <p:spPr bwMode="auto">
          <a:xfrm flipV="1">
            <a:off x="2690813" y="3099579"/>
            <a:ext cx="546100" cy="220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Line 42"/>
          <p:cNvSpPr>
            <a:spLocks noChangeShapeType="1"/>
          </p:cNvSpPr>
          <p:nvPr/>
        </p:nvSpPr>
        <p:spPr bwMode="auto">
          <a:xfrm flipV="1">
            <a:off x="3641725" y="2710642"/>
            <a:ext cx="508000" cy="220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Line 43"/>
          <p:cNvSpPr>
            <a:spLocks noChangeShapeType="1"/>
          </p:cNvSpPr>
          <p:nvPr/>
        </p:nvSpPr>
        <p:spPr bwMode="auto">
          <a:xfrm flipV="1">
            <a:off x="2692400" y="3105929"/>
            <a:ext cx="1419225" cy="277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Line 44"/>
          <p:cNvSpPr>
            <a:spLocks noChangeShapeType="1"/>
          </p:cNvSpPr>
          <p:nvPr/>
        </p:nvSpPr>
        <p:spPr bwMode="auto">
          <a:xfrm flipV="1">
            <a:off x="4518025" y="2701117"/>
            <a:ext cx="1681163" cy="325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Line 45"/>
          <p:cNvSpPr>
            <a:spLocks noChangeShapeType="1"/>
          </p:cNvSpPr>
          <p:nvPr/>
        </p:nvSpPr>
        <p:spPr bwMode="auto">
          <a:xfrm>
            <a:off x="4468813" y="3612342"/>
            <a:ext cx="1204913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Line 46"/>
          <p:cNvSpPr>
            <a:spLocks noChangeShapeType="1"/>
          </p:cNvSpPr>
          <p:nvPr/>
        </p:nvSpPr>
        <p:spPr bwMode="auto">
          <a:xfrm>
            <a:off x="2697163" y="3418667"/>
            <a:ext cx="1220788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4905690"/>
            <a:ext cx="7496175" cy="44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5" name="Picture 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486400"/>
            <a:ext cx="196532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6" name="Picture 4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38" y="5556250"/>
            <a:ext cx="1928813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7" name="Picture 5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5591175"/>
            <a:ext cx="18923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8" name="Rectangle 51"/>
          <p:cNvSpPr>
            <a:spLocks noChangeArrowheads="1"/>
          </p:cNvSpPr>
          <p:nvPr/>
        </p:nvSpPr>
        <p:spPr bwMode="auto">
          <a:xfrm>
            <a:off x="806450" y="4876800"/>
            <a:ext cx="7956550" cy="56229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6502400" y="3522648"/>
            <a:ext cx="2441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getting complicated!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1" y="4956652"/>
            <a:ext cx="7642374" cy="52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Energy in a System of Four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49</a:t>
            </a:r>
            <a:endParaRPr lang="zh-CN" altLang="en-US" dirty="0"/>
          </a:p>
        </p:txBody>
      </p:sp>
      <p:pic>
        <p:nvPicPr>
          <p:cNvPr id="52" name="Picture 4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683777"/>
            <a:ext cx="7496175" cy="44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869891" y="4068320"/>
            <a:ext cx="4572000" cy="671090"/>
            <a:chOff x="1219200" y="2286000"/>
            <a:chExt cx="4572000" cy="671090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2286000"/>
              <a:ext cx="3614737" cy="671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2519362"/>
              <a:ext cx="685800" cy="30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6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2569157"/>
              <a:ext cx="190500" cy="10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/>
          <p:cNvGrpSpPr/>
          <p:nvPr/>
        </p:nvGrpSpPr>
        <p:grpSpPr>
          <a:xfrm>
            <a:off x="4176712" y="2248675"/>
            <a:ext cx="4203700" cy="2043113"/>
            <a:chOff x="2343150" y="2148667"/>
            <a:chExt cx="4203700" cy="2043113"/>
          </a:xfrm>
        </p:grpSpPr>
        <p:grpSp>
          <p:nvGrpSpPr>
            <p:cNvPr id="58" name="Group 4"/>
            <p:cNvGrpSpPr/>
            <p:nvPr/>
          </p:nvGrpSpPr>
          <p:grpSpPr bwMode="auto">
            <a:xfrm>
              <a:off x="4130675" y="2477279"/>
              <a:ext cx="314325" cy="366713"/>
              <a:chOff x="918" y="1860"/>
              <a:chExt cx="198" cy="231"/>
            </a:xfrm>
          </p:grpSpPr>
          <p:sp>
            <p:nvSpPr>
              <p:cNvPr id="59" name="Oval 5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ectangle 6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Group 7"/>
            <p:cNvGrpSpPr/>
            <p:nvPr/>
          </p:nvGrpSpPr>
          <p:grpSpPr bwMode="auto">
            <a:xfrm>
              <a:off x="6188075" y="2467754"/>
              <a:ext cx="314325" cy="366713"/>
              <a:chOff x="918" y="1860"/>
              <a:chExt cx="198" cy="231"/>
            </a:xfrm>
          </p:grpSpPr>
          <p:sp>
            <p:nvSpPr>
              <p:cNvPr id="62" name="Oval 8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" name="Rectangle 10"/>
            <p:cNvSpPr>
              <a:spLocks noChangeArrowheads="1"/>
            </p:cNvSpPr>
            <p:nvPr/>
          </p:nvSpPr>
          <p:spPr bwMode="auto">
            <a:xfrm>
              <a:off x="5111750" y="24487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11"/>
            <p:cNvSpPr>
              <a:spLocks noChangeShapeType="1"/>
            </p:cNvSpPr>
            <p:nvPr/>
          </p:nvSpPr>
          <p:spPr bwMode="auto">
            <a:xfrm>
              <a:off x="5568950" y="266301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Line 12"/>
            <p:cNvSpPr>
              <a:spLocks noChangeShapeType="1"/>
            </p:cNvSpPr>
            <p:nvPr/>
          </p:nvSpPr>
          <p:spPr bwMode="auto">
            <a:xfrm>
              <a:off x="4445000" y="266301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13"/>
            <p:cNvSpPr>
              <a:spLocks noChangeArrowheads="1"/>
            </p:cNvSpPr>
            <p:nvPr/>
          </p:nvSpPr>
          <p:spPr bwMode="auto">
            <a:xfrm>
              <a:off x="4095750" y="21486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14"/>
            <p:cNvSpPr>
              <a:spLocks noChangeArrowheads="1"/>
            </p:cNvSpPr>
            <p:nvPr/>
          </p:nvSpPr>
          <p:spPr bwMode="auto">
            <a:xfrm>
              <a:off x="6121400" y="21486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Group 18"/>
            <p:cNvGrpSpPr/>
            <p:nvPr/>
          </p:nvGrpSpPr>
          <p:grpSpPr bwMode="auto">
            <a:xfrm>
              <a:off x="5664200" y="3610754"/>
              <a:ext cx="314325" cy="366713"/>
              <a:chOff x="918" y="1860"/>
              <a:chExt cx="198" cy="231"/>
            </a:xfrm>
          </p:grpSpPr>
          <p:sp>
            <p:nvSpPr>
              <p:cNvPr id="70" name="Oval 19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20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7" name="Rectangle 21"/>
            <p:cNvSpPr>
              <a:spLocks noChangeArrowheads="1"/>
            </p:cNvSpPr>
            <p:nvPr/>
          </p:nvSpPr>
          <p:spPr bwMode="auto">
            <a:xfrm>
              <a:off x="5435600" y="38250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22"/>
            <p:cNvSpPr>
              <a:spLocks noChangeArrowheads="1"/>
            </p:cNvSpPr>
            <p:nvPr/>
          </p:nvSpPr>
          <p:spPr bwMode="auto">
            <a:xfrm>
              <a:off x="5864225" y="2967817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Line 23"/>
            <p:cNvSpPr>
              <a:spLocks noChangeShapeType="1"/>
            </p:cNvSpPr>
            <p:nvPr/>
          </p:nvSpPr>
          <p:spPr bwMode="auto">
            <a:xfrm flipH="1">
              <a:off x="6162675" y="2801129"/>
              <a:ext cx="106363" cy="263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Line 24"/>
            <p:cNvSpPr>
              <a:spLocks noChangeShapeType="1"/>
            </p:cNvSpPr>
            <p:nvPr/>
          </p:nvSpPr>
          <p:spPr bwMode="auto">
            <a:xfrm flipH="1">
              <a:off x="5891213" y="3378979"/>
              <a:ext cx="123825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Rectangle 25"/>
            <p:cNvSpPr>
              <a:spLocks noChangeArrowheads="1"/>
            </p:cNvSpPr>
            <p:nvPr/>
          </p:nvSpPr>
          <p:spPr bwMode="auto">
            <a:xfrm>
              <a:off x="4816475" y="30202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ine 26"/>
            <p:cNvSpPr>
              <a:spLocks noChangeShapeType="1"/>
            </p:cNvSpPr>
            <p:nvPr/>
          </p:nvSpPr>
          <p:spPr bwMode="auto">
            <a:xfrm>
              <a:off x="5264150" y="3407554"/>
              <a:ext cx="431800" cy="301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Line 27"/>
            <p:cNvSpPr>
              <a:spLocks noChangeShapeType="1"/>
            </p:cNvSpPr>
            <p:nvPr/>
          </p:nvSpPr>
          <p:spPr bwMode="auto">
            <a:xfrm>
              <a:off x="4394200" y="2747154"/>
              <a:ext cx="490538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4" name="Group 34"/>
            <p:cNvGrpSpPr/>
            <p:nvPr/>
          </p:nvGrpSpPr>
          <p:grpSpPr bwMode="auto">
            <a:xfrm>
              <a:off x="2387600" y="3202767"/>
              <a:ext cx="314325" cy="366713"/>
              <a:chOff x="918" y="1860"/>
              <a:chExt cx="198" cy="231"/>
            </a:xfrm>
          </p:grpSpPr>
          <p:sp>
            <p:nvSpPr>
              <p:cNvPr id="115" name="Oval 35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Rectangle 36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7" name="Rectangle 37"/>
            <p:cNvSpPr>
              <a:spLocks noChangeArrowheads="1"/>
            </p:cNvSpPr>
            <p:nvPr/>
          </p:nvSpPr>
          <p:spPr bwMode="auto">
            <a:xfrm>
              <a:off x="2343150" y="28217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Rectangle 38"/>
            <p:cNvSpPr>
              <a:spLocks noChangeArrowheads="1"/>
            </p:cNvSpPr>
            <p:nvPr/>
          </p:nvSpPr>
          <p:spPr bwMode="auto">
            <a:xfrm>
              <a:off x="3168650" y="2793192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Rectangle 39"/>
            <p:cNvSpPr>
              <a:spLocks noChangeArrowheads="1"/>
            </p:cNvSpPr>
            <p:nvPr/>
          </p:nvSpPr>
          <p:spPr bwMode="auto">
            <a:xfrm>
              <a:off x="4078288" y="28551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4,2</a:t>
              </a:r>
              <a:endPara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Rectangle 40"/>
            <p:cNvSpPr>
              <a:spLocks noChangeArrowheads="1"/>
            </p:cNvSpPr>
            <p:nvPr/>
          </p:nvSpPr>
          <p:spPr bwMode="auto">
            <a:xfrm>
              <a:off x="3930650" y="3355167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4,3</a:t>
              </a:r>
              <a:endPara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Line 41"/>
            <p:cNvSpPr>
              <a:spLocks noChangeShapeType="1"/>
            </p:cNvSpPr>
            <p:nvPr/>
          </p:nvSpPr>
          <p:spPr bwMode="auto">
            <a:xfrm flipV="1">
              <a:off x="2690813" y="3099579"/>
              <a:ext cx="546100" cy="220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Line 42"/>
            <p:cNvSpPr>
              <a:spLocks noChangeShapeType="1"/>
            </p:cNvSpPr>
            <p:nvPr/>
          </p:nvSpPr>
          <p:spPr bwMode="auto">
            <a:xfrm flipV="1">
              <a:off x="3641725" y="2710642"/>
              <a:ext cx="508000" cy="220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Line 43"/>
            <p:cNvSpPr>
              <a:spLocks noChangeShapeType="1"/>
            </p:cNvSpPr>
            <p:nvPr/>
          </p:nvSpPr>
          <p:spPr bwMode="auto">
            <a:xfrm flipV="1">
              <a:off x="2692400" y="3105929"/>
              <a:ext cx="1419225" cy="277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ine 44"/>
            <p:cNvSpPr>
              <a:spLocks noChangeShapeType="1"/>
            </p:cNvSpPr>
            <p:nvPr/>
          </p:nvSpPr>
          <p:spPr bwMode="auto">
            <a:xfrm flipV="1">
              <a:off x="4518025" y="2701117"/>
              <a:ext cx="1681163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Line 45"/>
            <p:cNvSpPr>
              <a:spLocks noChangeShapeType="1"/>
            </p:cNvSpPr>
            <p:nvPr/>
          </p:nvSpPr>
          <p:spPr bwMode="auto">
            <a:xfrm>
              <a:off x="4468813" y="3612342"/>
              <a:ext cx="1204913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Line 46"/>
            <p:cNvSpPr>
              <a:spLocks noChangeShapeType="1"/>
            </p:cNvSpPr>
            <p:nvPr/>
          </p:nvSpPr>
          <p:spPr bwMode="auto">
            <a:xfrm>
              <a:off x="2697163" y="3418667"/>
              <a:ext cx="1220788" cy="123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8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658733"/>
            <a:ext cx="86106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9" name="Line 11"/>
          <p:cNvSpPr>
            <a:spLocks noChangeShapeType="1"/>
          </p:cNvSpPr>
          <p:nvPr/>
        </p:nvSpPr>
        <p:spPr bwMode="auto">
          <a:xfrm>
            <a:off x="228600" y="6090533"/>
            <a:ext cx="8610600" cy="0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Condensed Expression for the Stored Energy in an Assembly of Point Charges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50</a:t>
            </a:r>
            <a:endParaRPr lang="zh-CN" altLang="en-US" dirty="0"/>
          </a:p>
        </p:txBody>
      </p:sp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2" y="3412450"/>
            <a:ext cx="22034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53775"/>
            <a:ext cx="2257425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4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7" y="4342725"/>
            <a:ext cx="22494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4842787"/>
            <a:ext cx="2230437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6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33" y="5302925"/>
            <a:ext cx="6608762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7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95" y="2362200"/>
            <a:ext cx="86106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3" name="AutoShape 10"/>
          <p:cNvSpPr/>
          <p:nvPr/>
        </p:nvSpPr>
        <p:spPr bwMode="auto">
          <a:xfrm>
            <a:off x="1052512" y="3352800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11"/>
          <p:cNvSpPr>
            <a:spLocks noChangeArrowheads="1"/>
          </p:cNvSpPr>
          <p:nvPr/>
        </p:nvSpPr>
        <p:spPr bwMode="auto">
          <a:xfrm>
            <a:off x="314295" y="2824939"/>
            <a:ext cx="2884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“local” potentials: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12"/>
          <p:cNvSpPr>
            <a:spLocks noChangeArrowheads="1"/>
          </p:cNvSpPr>
          <p:nvPr/>
        </p:nvSpPr>
        <p:spPr bwMode="auto">
          <a:xfrm>
            <a:off x="533400" y="5486400"/>
            <a:ext cx="9096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..so that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Line 13"/>
          <p:cNvSpPr>
            <a:spLocks noChangeShapeType="1"/>
          </p:cNvSpPr>
          <p:nvPr/>
        </p:nvSpPr>
        <p:spPr bwMode="auto">
          <a:xfrm>
            <a:off x="6715095" y="6145887"/>
            <a:ext cx="1295400" cy="0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4592638" y="2899550"/>
            <a:ext cx="4203700" cy="2043113"/>
            <a:chOff x="2343150" y="2148667"/>
            <a:chExt cx="4203700" cy="2043113"/>
          </a:xfrm>
        </p:grpSpPr>
        <p:grpSp>
          <p:nvGrpSpPr>
            <p:cNvPr id="78" name="Group 4"/>
            <p:cNvGrpSpPr/>
            <p:nvPr/>
          </p:nvGrpSpPr>
          <p:grpSpPr bwMode="auto">
            <a:xfrm>
              <a:off x="4130675" y="2477279"/>
              <a:ext cx="314325" cy="366713"/>
              <a:chOff x="918" y="1860"/>
              <a:chExt cx="198" cy="231"/>
            </a:xfrm>
          </p:grpSpPr>
          <p:sp>
            <p:nvSpPr>
              <p:cNvPr id="133" name="Oval 5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Rectangle 6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" name="Group 7"/>
            <p:cNvGrpSpPr/>
            <p:nvPr/>
          </p:nvGrpSpPr>
          <p:grpSpPr bwMode="auto">
            <a:xfrm>
              <a:off x="6188075" y="2467754"/>
              <a:ext cx="314325" cy="366713"/>
              <a:chOff x="918" y="1860"/>
              <a:chExt cx="198" cy="231"/>
            </a:xfrm>
          </p:grpSpPr>
          <p:sp>
            <p:nvSpPr>
              <p:cNvPr id="131" name="Oval 8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Rectangle 9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5111750" y="24487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Line 11"/>
            <p:cNvSpPr>
              <a:spLocks noChangeShapeType="1"/>
            </p:cNvSpPr>
            <p:nvPr/>
          </p:nvSpPr>
          <p:spPr bwMode="auto">
            <a:xfrm>
              <a:off x="5568950" y="266301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Line 12"/>
            <p:cNvSpPr>
              <a:spLocks noChangeShapeType="1"/>
            </p:cNvSpPr>
            <p:nvPr/>
          </p:nvSpPr>
          <p:spPr bwMode="auto">
            <a:xfrm>
              <a:off x="4445000" y="266301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13"/>
            <p:cNvSpPr>
              <a:spLocks noChangeArrowheads="1"/>
            </p:cNvSpPr>
            <p:nvPr/>
          </p:nvSpPr>
          <p:spPr bwMode="auto">
            <a:xfrm>
              <a:off x="4095750" y="21486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14"/>
            <p:cNvSpPr>
              <a:spLocks noChangeArrowheads="1"/>
            </p:cNvSpPr>
            <p:nvPr/>
          </p:nvSpPr>
          <p:spPr bwMode="auto">
            <a:xfrm>
              <a:off x="6121400" y="21486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5" name="Group 18"/>
            <p:cNvGrpSpPr/>
            <p:nvPr/>
          </p:nvGrpSpPr>
          <p:grpSpPr bwMode="auto">
            <a:xfrm>
              <a:off x="5664200" y="3610754"/>
              <a:ext cx="314325" cy="366713"/>
              <a:chOff x="918" y="1860"/>
              <a:chExt cx="198" cy="231"/>
            </a:xfrm>
          </p:grpSpPr>
          <p:sp>
            <p:nvSpPr>
              <p:cNvPr id="106" name="Oval 19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Rectangle 20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6" name="Rectangle 21"/>
            <p:cNvSpPr>
              <a:spLocks noChangeArrowheads="1"/>
            </p:cNvSpPr>
            <p:nvPr/>
          </p:nvSpPr>
          <p:spPr bwMode="auto">
            <a:xfrm>
              <a:off x="5435600" y="38250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22"/>
            <p:cNvSpPr>
              <a:spLocks noChangeArrowheads="1"/>
            </p:cNvSpPr>
            <p:nvPr/>
          </p:nvSpPr>
          <p:spPr bwMode="auto">
            <a:xfrm>
              <a:off x="5864225" y="2967817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3,2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23"/>
            <p:cNvSpPr>
              <a:spLocks noChangeShapeType="1"/>
            </p:cNvSpPr>
            <p:nvPr/>
          </p:nvSpPr>
          <p:spPr bwMode="auto">
            <a:xfrm flipH="1">
              <a:off x="6162675" y="2801129"/>
              <a:ext cx="106363" cy="263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24"/>
            <p:cNvSpPr>
              <a:spLocks noChangeShapeType="1"/>
            </p:cNvSpPr>
            <p:nvPr/>
          </p:nvSpPr>
          <p:spPr bwMode="auto">
            <a:xfrm flipH="1">
              <a:off x="5891213" y="3378979"/>
              <a:ext cx="123825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25"/>
            <p:cNvSpPr>
              <a:spLocks noChangeArrowheads="1"/>
            </p:cNvSpPr>
            <p:nvPr/>
          </p:nvSpPr>
          <p:spPr bwMode="auto">
            <a:xfrm>
              <a:off x="4816475" y="30202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26"/>
            <p:cNvSpPr>
              <a:spLocks noChangeShapeType="1"/>
            </p:cNvSpPr>
            <p:nvPr/>
          </p:nvSpPr>
          <p:spPr bwMode="auto">
            <a:xfrm>
              <a:off x="5264150" y="3407554"/>
              <a:ext cx="431800" cy="301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Line 27"/>
            <p:cNvSpPr>
              <a:spLocks noChangeShapeType="1"/>
            </p:cNvSpPr>
            <p:nvPr/>
          </p:nvSpPr>
          <p:spPr bwMode="auto">
            <a:xfrm>
              <a:off x="4394200" y="2747154"/>
              <a:ext cx="490538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3" name="Group 34"/>
            <p:cNvGrpSpPr/>
            <p:nvPr/>
          </p:nvGrpSpPr>
          <p:grpSpPr bwMode="auto">
            <a:xfrm>
              <a:off x="2387600" y="3202767"/>
              <a:ext cx="314325" cy="366713"/>
              <a:chOff x="918" y="1860"/>
              <a:chExt cx="198" cy="231"/>
            </a:xfrm>
          </p:grpSpPr>
          <p:sp>
            <p:nvSpPr>
              <p:cNvPr id="104" name="Oval 35"/>
              <p:cNvSpPr>
                <a:spLocks noChangeArrowheads="1"/>
              </p:cNvSpPr>
              <p:nvPr/>
            </p:nvSpPr>
            <p:spPr bwMode="auto">
              <a:xfrm>
                <a:off x="950" y="1906"/>
                <a:ext cx="137" cy="1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Rectangle 36"/>
              <p:cNvSpPr>
                <a:spLocks noChangeArrowheads="1"/>
              </p:cNvSpPr>
              <p:nvPr/>
            </p:nvSpPr>
            <p:spPr bwMode="auto">
              <a:xfrm>
                <a:off x="918" y="1860"/>
                <a:ext cx="1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1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4" name="Rectangle 37"/>
            <p:cNvSpPr>
              <a:spLocks noChangeArrowheads="1"/>
            </p:cNvSpPr>
            <p:nvPr/>
          </p:nvSpPr>
          <p:spPr bwMode="auto">
            <a:xfrm>
              <a:off x="2343150" y="2821767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38"/>
            <p:cNvSpPr>
              <a:spLocks noChangeArrowheads="1"/>
            </p:cNvSpPr>
            <p:nvPr/>
          </p:nvSpPr>
          <p:spPr bwMode="auto">
            <a:xfrm>
              <a:off x="3168650" y="2793192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4,1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39"/>
            <p:cNvSpPr>
              <a:spLocks noChangeArrowheads="1"/>
            </p:cNvSpPr>
            <p:nvPr/>
          </p:nvSpPr>
          <p:spPr bwMode="auto">
            <a:xfrm>
              <a:off x="4078288" y="2855104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4,2</a:t>
              </a:r>
              <a:endPara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40"/>
            <p:cNvSpPr>
              <a:spLocks noChangeArrowheads="1"/>
            </p:cNvSpPr>
            <p:nvPr/>
          </p:nvSpPr>
          <p:spPr bwMode="auto">
            <a:xfrm>
              <a:off x="3930650" y="3355167"/>
              <a:ext cx="514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4,3</a:t>
              </a:r>
              <a:endParaRPr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Line 41"/>
            <p:cNvSpPr>
              <a:spLocks noChangeShapeType="1"/>
            </p:cNvSpPr>
            <p:nvPr/>
          </p:nvSpPr>
          <p:spPr bwMode="auto">
            <a:xfrm flipV="1">
              <a:off x="2690813" y="3099579"/>
              <a:ext cx="546100" cy="220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Line 42"/>
            <p:cNvSpPr>
              <a:spLocks noChangeShapeType="1"/>
            </p:cNvSpPr>
            <p:nvPr/>
          </p:nvSpPr>
          <p:spPr bwMode="auto">
            <a:xfrm flipV="1">
              <a:off x="3641725" y="2710642"/>
              <a:ext cx="508000" cy="220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 flipV="1">
              <a:off x="2692400" y="3105929"/>
              <a:ext cx="1419225" cy="277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Line 44"/>
            <p:cNvSpPr>
              <a:spLocks noChangeShapeType="1"/>
            </p:cNvSpPr>
            <p:nvPr/>
          </p:nvSpPr>
          <p:spPr bwMode="auto">
            <a:xfrm flipV="1">
              <a:off x="4518025" y="2701117"/>
              <a:ext cx="1681163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Line 45"/>
            <p:cNvSpPr>
              <a:spLocks noChangeShapeType="1"/>
            </p:cNvSpPr>
            <p:nvPr/>
          </p:nvSpPr>
          <p:spPr bwMode="auto">
            <a:xfrm>
              <a:off x="4468813" y="3612342"/>
              <a:ext cx="1204913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Line 46"/>
            <p:cNvSpPr>
              <a:spLocks noChangeShapeType="1"/>
            </p:cNvSpPr>
            <p:nvPr/>
          </p:nvSpPr>
          <p:spPr bwMode="auto">
            <a:xfrm>
              <a:off x="2697163" y="3418667"/>
              <a:ext cx="1220788" cy="123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Potential Energy in a System: Extension to an </a:t>
            </a:r>
            <a:r>
              <a:rPr lang="en-US" altLang="zh-CN" sz="28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-Charge Ensemble 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51</a:t>
            </a:r>
            <a:endParaRPr lang="zh-CN" altLang="en-US" dirty="0"/>
          </a:p>
        </p:txBody>
      </p:sp>
      <p:sp>
        <p:nvSpPr>
          <p:cNvPr id="58" name="Rectangle 3"/>
          <p:cNvSpPr>
            <a:spLocks noChangeArrowheads="1"/>
          </p:cNvSpPr>
          <p:nvPr/>
        </p:nvSpPr>
        <p:spPr bwMode="auto">
          <a:xfrm>
            <a:off x="823913" y="2139291"/>
            <a:ext cx="75819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the previous result, we can write the energy expression for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Group 6"/>
          <p:cNvGrpSpPr/>
          <p:nvPr/>
        </p:nvGrpSpPr>
        <p:grpSpPr bwMode="auto">
          <a:xfrm>
            <a:off x="2294731" y="2667000"/>
            <a:ext cx="4038600" cy="1066800"/>
            <a:chOff x="1218" y="1776"/>
            <a:chExt cx="2544" cy="672"/>
          </a:xfrm>
        </p:grpSpPr>
        <p:pic>
          <p:nvPicPr>
            <p:cNvPr id="64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1776"/>
              <a:ext cx="2407" cy="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1218" y="1776"/>
              <a:ext cx="2544" cy="672"/>
            </a:xfrm>
            <a:prstGeom prst="rect">
              <a:avLst/>
            </a:prstGeom>
            <a:noFill/>
            <a:ln w="9525">
              <a:solidFill>
                <a:srgbClr val="FF319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0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555" y="4781774"/>
            <a:ext cx="3181350" cy="1023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762000" y="4082735"/>
            <a:ext cx="30654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local potential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the position of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9"/>
          <p:cNvSpPr>
            <a:spLocks noChangeArrowheads="1"/>
          </p:cNvSpPr>
          <p:nvPr/>
        </p:nvSpPr>
        <p:spPr bwMode="auto">
          <a:xfrm>
            <a:off x="640901" y="5776823"/>
            <a:ext cx="76649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this is the potential due to all charges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 charge 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evaluated at the location of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2286105" y="4781774"/>
            <a:ext cx="3352800" cy="9144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Stored Energy in a Continuous Charge Distribution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52</a:t>
            </a:r>
            <a:endParaRPr lang="zh-CN" altLang="en-US" dirty="0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600375" y="1690577"/>
            <a:ext cx="81216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a continuous charge, characterized by a charge density function, we use implicitly the expression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840" y="2336908"/>
            <a:ext cx="1325562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24817" y="3325004"/>
            <a:ext cx="80107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charge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replaced by the quantity 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dv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summation becomes an integral over the charge volume: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296" y="4175124"/>
            <a:ext cx="2022561" cy="67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62000" y="5162923"/>
            <a:ext cx="748029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position-dependent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function within the charge volume.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2743200" y="4098925"/>
            <a:ext cx="2068286" cy="747304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Stored Energy in the Electric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53</a:t>
            </a:r>
            <a:endParaRPr lang="zh-CN" altLang="en-US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00" y="2514600"/>
            <a:ext cx="4397375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31166" y="1981200"/>
            <a:ext cx="76454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Maxwell’s first equation to express volume charge density in terms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593" y="3261725"/>
            <a:ext cx="3684588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658812" y="4038600"/>
            <a:ext cx="74472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vector identity,                                                            , has been used.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75" y="5404598"/>
            <a:ext cx="4441825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685800" y="4611469"/>
            <a:ext cx="801753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the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divergence theorem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on the first term, replacing the volume integral by an integral over the surface that surrounds the volume: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60" y="4054109"/>
            <a:ext cx="3312181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382" y="1153180"/>
            <a:ext cx="2265818" cy="75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3" name="直接连接符 2"/>
          <p:cNvCxnSpPr/>
          <p:nvPr/>
        </p:nvCxnSpPr>
        <p:spPr>
          <a:xfrm flipV="1">
            <a:off x="3065760" y="4407932"/>
            <a:ext cx="3487440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Stored Energy in the Electric Field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54</a:t>
            </a:r>
            <a:endParaRPr lang="zh-CN" altLang="en-US" dirty="0"/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634027" y="1905000"/>
            <a:ext cx="1500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have: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314" y="1828800"/>
            <a:ext cx="4441825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19727" y="2819399"/>
            <a:ext cx="86083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the region of integration now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space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wherever the field and potential exist.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519727" y="3467707"/>
            <a:ext cx="82051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infinite distance, the potential 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 begin to resemble those of a point charge: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9" y="4105275"/>
            <a:ext cx="135255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77" y="4105275"/>
            <a:ext cx="1398588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60" y="4160837"/>
            <a:ext cx="180022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3965560" y="4263216"/>
            <a:ext cx="147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therefore: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544169" y="4944070"/>
            <a:ext cx="818073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surface integral will vanish, because the inverse cube dependence in the integrand falls off at a more rapid rate with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the surface area increases (surface area increases only as the square of the radius).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 flipV="1">
            <a:off x="3124814" y="1703387"/>
            <a:ext cx="1219200" cy="990600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13"/>
          <p:cNvSpPr>
            <a:spLocks noChangeShapeType="1"/>
          </p:cNvSpPr>
          <p:nvPr/>
        </p:nvSpPr>
        <p:spPr bwMode="auto">
          <a:xfrm>
            <a:off x="2365749" y="5248870"/>
            <a:ext cx="2485472" cy="0"/>
          </a:xfrm>
          <a:prstGeom prst="line">
            <a:avLst/>
          </a:prstGeom>
          <a:noFill/>
          <a:ln w="9525">
            <a:solidFill>
              <a:srgbClr val="FF319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8: Energy and Potential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能量与电位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491" y="1153180"/>
            <a:ext cx="859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Electric Field Energy and Energy Density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55</a:t>
            </a:r>
            <a:endParaRPr lang="zh-CN" altLang="en-US" dirty="0"/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674" y="1905000"/>
            <a:ext cx="2998788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186" y="2813021"/>
            <a:ext cx="1196975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94" y="3563578"/>
            <a:ext cx="2395538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294" y="4889141"/>
            <a:ext cx="3509963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" name="Rectangle 9"/>
          <p:cNvSpPr>
            <a:spLocks noChangeArrowheads="1"/>
          </p:cNvSpPr>
          <p:nvPr/>
        </p:nvSpPr>
        <p:spPr bwMode="auto">
          <a:xfrm>
            <a:off x="794381" y="2025291"/>
            <a:ext cx="3816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field energy expression now reads: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2437279" y="2792054"/>
            <a:ext cx="1844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know that: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794381" y="3709629"/>
            <a:ext cx="323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which leads us to the final result: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4089731" y="3487378"/>
            <a:ext cx="2590800" cy="8382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726118" y="4889141"/>
            <a:ext cx="3054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density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is defined as: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4031294" y="4809766"/>
            <a:ext cx="3733800" cy="914400"/>
          </a:xfrm>
          <a:prstGeom prst="rect">
            <a:avLst/>
          </a:prstGeom>
          <a:noFill/>
          <a:ln w="9525">
            <a:solidFill>
              <a:srgbClr val="FF319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HW-4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56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295400"/>
            <a:ext cx="8382001" cy="93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438400"/>
            <a:ext cx="8385765" cy="31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6fa3d67-5145-4099-954d-671c7120695c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9468</Words>
  <Application>WPS 演示</Application>
  <PresentationFormat>On-screen Show (4:3)</PresentationFormat>
  <Paragraphs>570</Paragraphs>
  <Slides>37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华文行楷</vt:lpstr>
      <vt:lpstr>微软雅黑</vt:lpstr>
      <vt:lpstr>Arial Unicode MS</vt:lpstr>
      <vt:lpstr>Calibri</vt:lpstr>
      <vt:lpstr>Symbol</vt:lpstr>
      <vt:lpstr>默认设计模板</vt:lpstr>
      <vt:lpstr>Engineering Electromagnetics 工程电磁场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8: Energy and Potential能量与电位</vt:lpstr>
      <vt:lpstr>HW-4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421</cp:revision>
  <cp:lastPrinted>2014-03-03T09:16:00Z</cp:lastPrinted>
  <dcterms:created xsi:type="dcterms:W3CDTF">2113-01-01T00:00:00Z</dcterms:created>
  <dcterms:modified xsi:type="dcterms:W3CDTF">2024-10-28T14:28:44Z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C63CABE39AE84525A0B1DCB0A4D0DD82</vt:lpwstr>
  </property>
  <property fmtid="{D5CDD505-2E9C-101B-9397-08002B2CF9AE}" pid="4" name="KSOProductBuildVer">
    <vt:lpwstr>2052-11.1.0.12165</vt:lpwstr>
  </property>
</Properties>
</file>