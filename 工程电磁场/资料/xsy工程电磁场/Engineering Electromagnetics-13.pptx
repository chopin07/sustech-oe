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14.xml" ContentType="application/vnd.openxmlformats-officedocument.presentationml.comments+xml"/>
  <Override PartName="/ppt/comments/comment15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39"/>
  </p:handoutMasterIdLst>
  <p:sldIdLst>
    <p:sldId id="256" r:id="rId3"/>
    <p:sldId id="391" r:id="rId4"/>
    <p:sldId id="553" r:id="rId6"/>
    <p:sldId id="554" r:id="rId7"/>
    <p:sldId id="555" r:id="rId8"/>
    <p:sldId id="556" r:id="rId9"/>
    <p:sldId id="557" r:id="rId10"/>
    <p:sldId id="558" r:id="rId11"/>
    <p:sldId id="559" r:id="rId12"/>
    <p:sldId id="560" r:id="rId13"/>
    <p:sldId id="561" r:id="rId14"/>
    <p:sldId id="562" r:id="rId15"/>
    <p:sldId id="563" r:id="rId16"/>
    <p:sldId id="564" r:id="rId17"/>
    <p:sldId id="565" r:id="rId18"/>
    <p:sldId id="566" r:id="rId19"/>
    <p:sldId id="567" r:id="rId20"/>
    <p:sldId id="568" r:id="rId21"/>
    <p:sldId id="570" r:id="rId22"/>
    <p:sldId id="571" r:id="rId23"/>
    <p:sldId id="572" r:id="rId24"/>
    <p:sldId id="573" r:id="rId25"/>
    <p:sldId id="574" r:id="rId26"/>
    <p:sldId id="575" r:id="rId27"/>
    <p:sldId id="576" r:id="rId28"/>
    <p:sldId id="577" r:id="rId29"/>
    <p:sldId id="578" r:id="rId30"/>
    <p:sldId id="579" r:id="rId31"/>
    <p:sldId id="580" r:id="rId32"/>
    <p:sldId id="581" r:id="rId33"/>
    <p:sldId id="582" r:id="rId34"/>
    <p:sldId id="583" r:id="rId35"/>
    <p:sldId id="584" r:id="rId36"/>
    <p:sldId id="585" r:id="rId37"/>
    <p:sldId id="586" r:id="rId38"/>
  </p:sldIdLst>
  <p:sldSz cx="9144000" cy="6858000" type="screen4x3"/>
  <p:notesSz cx="9926320" cy="6797675"/>
  <p:custDataLst>
    <p:tags r:id="rId4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shengyi" initials="x" lastIdx="1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6600"/>
    <a:srgbClr val="333399"/>
    <a:srgbClr val="990000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26" autoAdjust="0"/>
    <p:restoredTop sz="94660"/>
  </p:normalViewPr>
  <p:slideViewPr>
    <p:cSldViewPr>
      <p:cViewPr varScale="1">
        <p:scale>
          <a:sx n="104" d="100"/>
          <a:sy n="104" d="100"/>
        </p:scale>
        <p:origin x="122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4" Type="http://schemas.openxmlformats.org/officeDocument/2006/relationships/tags" Target="tags/tag1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7T19:19:01.985" idx="1">
    <p:pos x="5485" y="3360"/>
    <p:text>非常重要，常用
需要注意：电流方向和单位切向向量要符合右手螺旋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7T17:22:24.210" idx="4">
    <p:pos x="2307" y="2403"/>
    <p:text>顺着电流I产生的H的绕行方向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24T11:05:15.297" idx="5">
    <p:pos x="4049" y="1778"/>
    <p:text>注意：定义式是有个负号，然后B到A。
这里是从A到B，和定义式本质上一样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7T17:11:27.296" idx="3">
    <p:pos x="2014" y="3348"/>
    <p:text>“磁流”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7T17:06:41.384" idx="2">
    <p:pos x="3622" y="1535"/>
    <p:text>磁阻：Rm</p:text>
  </p:cm>
  <p:cm authorId="1" dt="2024-12-17T17:23:42.518" idx="6">
    <p:pos x="4923" y="3181"/>
    <p:text>重要：磁阻计算式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24T16:57:05.895" idx="9">
    <p:pos x="2358" y="3079"/>
    <p:text>磁压是针对两点之间的，对于环绕了一圈回到出发点的“磁压”，根据安培环路定律，有以上式子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7T17:30:17.887" idx="7">
    <p:pos x="2314" y="2128"/>
    <p:text>因为μr非常大，所以1几乎可以忽略。这也说明，这个气隙带来的磁阻远远大于铁磁性材料的磁阻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7T17:33:05.715" idx="8">
    <p:pos x="5383" y="1842"/>
    <p:text>高斯定理：闭合曲面积分为0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7T17:38:42.932" idx="10">
    <p:pos x="4699" y="590"/>
    <p:text>重要</p:tex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24T16:40:22.685" idx="16">
    <p:pos x="5261" y="878"/>
    <p:text>非常非常非常重要
重点：磁通不变，整个环路内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7T17:48:02.464" idx="11">
    <p:pos x="3870" y="3196"/>
    <p:text>非常重要：磁场能量密度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7T17:50:35.930" idx="12">
    <p:pos x="2804" y="1541"/>
    <p:text>非常重要：磁链的定义：所有匝电流环的磁通之和</p:tex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7T17:54:46.209" idx="13">
    <p:pos x="3568" y="2331"/>
    <p:text>非常重要：自感系数</p:text>
  </p:cm>
</p:cmLst>
</file>

<file path=ppt/comments/comment1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7T17:58:20.698" idx="14">
    <p:pos x="2987" y="2005"/>
    <p:text>互感磁链</p:text>
  </p:cm>
</p:cmLst>
</file>

<file path=ppt/comments/comment1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7T18:03:02.791" idx="15">
    <p:pos x="4675" y="2778"/>
    <p:text>因为是1线圈产生的磁通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581" y="0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>
              <a:defRPr sz="1200"/>
            </a:lvl1pPr>
          </a:lstStyle>
          <a:p>
            <a:fld id="{686A4324-7C28-4329-B2F1-5FD4B6C256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6457106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581" y="6457106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r">
              <a:defRPr sz="1200"/>
            </a:lvl1pPr>
          </a:lstStyle>
          <a:p>
            <a:fld id="{FA732558-7D0B-4745-B877-2B020FA1E1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pPr>
              <a:defRPr/>
            </a:pPr>
            <a:fld id="{CFCE66B6-4CF2-4562-A36E-FD57958B22D0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11175"/>
            <a:ext cx="3398838" cy="25479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5562" tIns="47781" rIns="95562" bIns="47781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pPr>
              <a:defRPr/>
            </a:pPr>
            <a:fld id="{BEA14968-9F28-4550-9E62-5AFEB150A69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A915F-EF48-4E12-9322-014AC14B824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6757F-36B6-4B03-A23B-51A791095A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22D1AA-81AF-4136-B6B7-4DF8B2353D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3869A-52EA-439A-85B4-5B99DA02ADD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549B5-7C33-4401-8DCA-0C1C099D07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D6E32-8AFF-48B0-BFAA-79EFD98B79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729E0-9F39-4321-BCC4-0E383C4192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898902-1749-4578-ADD1-C8D6FC14DD7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96899-CE8E-4251-8463-AEEF76D0B8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EBD7C-0FB7-467E-B4C1-280AB41F76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7B3FA2-80A2-486F-B8BD-C573184B8A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67C57CB3-D73C-4ACB-B9FF-2C58343599B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0" Type="http://schemas.openxmlformats.org/officeDocument/2006/relationships/comments" Target="../comments/comment1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2.xml"/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3.xml"/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4.xml"/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5.xml"/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6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3.jpeg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1.jpeg"/><Relationship Id="rId7" Type="http://schemas.openxmlformats.org/officeDocument/2006/relationships/image" Target="../media/image60.png"/><Relationship Id="rId6" Type="http://schemas.openxmlformats.org/officeDocument/2006/relationships/image" Target="../media/image49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3" Type="http://schemas.openxmlformats.org/officeDocument/2006/relationships/image" Target="../media/image47.png"/><Relationship Id="rId2" Type="http://schemas.openxmlformats.org/officeDocument/2006/relationships/image" Target="../media/image57.pn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7.xml"/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60.png"/><Relationship Id="rId4" Type="http://schemas.openxmlformats.org/officeDocument/2006/relationships/image" Target="../media/image62.png"/><Relationship Id="rId3" Type="http://schemas.openxmlformats.org/officeDocument/2006/relationships/image" Target="../media/image47.png"/><Relationship Id="rId2" Type="http://schemas.openxmlformats.org/officeDocument/2006/relationships/image" Target="../media/image57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8.png"/><Relationship Id="rId8" Type="http://schemas.openxmlformats.org/officeDocument/2006/relationships/image" Target="../media/image67.png"/><Relationship Id="rId7" Type="http://schemas.openxmlformats.org/officeDocument/2006/relationships/image" Target="../media/image66.png"/><Relationship Id="rId6" Type="http://schemas.openxmlformats.org/officeDocument/2006/relationships/image" Target="../media/image65.png"/><Relationship Id="rId5" Type="http://schemas.openxmlformats.org/officeDocument/2006/relationships/image" Target="../media/image49.png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4" Type="http://schemas.openxmlformats.org/officeDocument/2006/relationships/comments" Target="../comments/comment8.xml"/><Relationship Id="rId13" Type="http://schemas.openxmlformats.org/officeDocument/2006/relationships/notesSlide" Target="../notesSlides/notesSlide15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70.png"/><Relationship Id="rId10" Type="http://schemas.openxmlformats.org/officeDocument/2006/relationships/image" Target="../media/image69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8.png"/><Relationship Id="rId8" Type="http://schemas.openxmlformats.org/officeDocument/2006/relationships/image" Target="../media/image77.png"/><Relationship Id="rId7" Type="http://schemas.openxmlformats.org/officeDocument/2006/relationships/image" Target="../media/image76.png"/><Relationship Id="rId6" Type="http://schemas.openxmlformats.org/officeDocument/2006/relationships/image" Target="../media/image70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2" Type="http://schemas.openxmlformats.org/officeDocument/2006/relationships/notesSlide" Target="../notesSlides/notesSlide17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79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9.xml"/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10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1.png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1.xml"/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12.xml"/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9.png"/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13.xml"/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0.png"/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8.png"/><Relationship Id="rId8" Type="http://schemas.openxmlformats.org/officeDocument/2006/relationships/image" Target="../media/image97.png"/><Relationship Id="rId7" Type="http://schemas.openxmlformats.org/officeDocument/2006/relationships/image" Target="../media/image96.png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1" Type="http://schemas.openxmlformats.org/officeDocument/2006/relationships/notesSlide" Target="../notesSlides/notesSlide23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9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6.png"/><Relationship Id="rId7" Type="http://schemas.openxmlformats.org/officeDocument/2006/relationships/image" Target="../media/image105.png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0" Type="http://schemas.openxmlformats.org/officeDocument/2006/relationships/notesSlide" Target="../notesSlides/notesSlide25.xml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comments" Target="../comments/comment14.xml"/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7.png"/><Relationship Id="rId3" Type="http://schemas.openxmlformats.org/officeDocument/2006/relationships/image" Target="../media/image116.png"/><Relationship Id="rId2" Type="http://schemas.openxmlformats.org/officeDocument/2006/relationships/image" Target="../media/image115.jpeg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5.xml"/><Relationship Id="rId7" Type="http://schemas.openxmlformats.org/officeDocument/2006/relationships/notesSlide" Target="../notesSlides/notesSlide3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4.png"/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5.png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6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828800"/>
            <a:ext cx="8534400" cy="1981200"/>
          </a:xfrm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zh-CN" sz="4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Electromagnetics</a:t>
            </a:r>
            <a:br>
              <a:rPr lang="en-US" altLang="zh-CN" sz="4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400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工程电磁场</a:t>
            </a:r>
            <a:endParaRPr lang="zh-CN" altLang="en-US" sz="400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2133600"/>
          </a:xfrm>
        </p:spPr>
        <p:txBody>
          <a:bodyPr/>
          <a:lstStyle/>
          <a:p>
            <a:pPr eaLnBrk="1" hangingPunct="1"/>
            <a:endParaRPr lang="zh-CN" altLang="en-US" sz="36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Youwei Jia 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嘉有为</a:t>
            </a:r>
            <a:endParaRPr lang="en-US" altLang="zh-CN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052" name="Gerade Verbindung 11"/>
          <p:cNvCxnSpPr>
            <a:cxnSpLocks noChangeShapeType="1"/>
          </p:cNvCxnSpPr>
          <p:nvPr/>
        </p:nvCxnSpPr>
        <p:spPr bwMode="auto">
          <a:xfrm>
            <a:off x="85725" y="1371600"/>
            <a:ext cx="7305675" cy="0"/>
          </a:xfrm>
          <a:prstGeom prst="line">
            <a:avLst/>
          </a:prstGeom>
          <a:noFill/>
          <a:ln w="19050" algn="ctr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053" name="Picture 9" descr="13829064795036"/>
          <p:cNvPicPr>
            <a:picLocks noChangeAspect="1" noChangeArrowheads="1"/>
          </p:cNvPicPr>
          <p:nvPr/>
        </p:nvPicPr>
        <p:blipFill>
          <a:blip r:embed="rId1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112713"/>
            <a:ext cx="2609850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10" descr="13829064803086"/>
          <p:cNvPicPr>
            <a:picLocks noChangeAspect="1" noChangeArrowheads="1"/>
          </p:cNvPicPr>
          <p:nvPr/>
        </p:nvPicPr>
        <p:blipFill>
          <a:blip r:embed="rId2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313" y="112713"/>
            <a:ext cx="2754312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11" descr="13829064833397"/>
          <p:cNvPicPr>
            <a:picLocks noChangeAspect="1" noChangeArrowheads="1"/>
          </p:cNvPicPr>
          <p:nvPr/>
        </p:nvPicPr>
        <p:blipFill>
          <a:blip r:embed="rId3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75" y="112713"/>
            <a:ext cx="1839913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56" name="Gerade Verbindung 11"/>
          <p:cNvCxnSpPr>
            <a:cxnSpLocks noChangeShapeType="1"/>
          </p:cNvCxnSpPr>
          <p:nvPr/>
        </p:nvCxnSpPr>
        <p:spPr bwMode="auto">
          <a:xfrm>
            <a:off x="609600" y="3657600"/>
            <a:ext cx="7916863" cy="0"/>
          </a:xfrm>
          <a:prstGeom prst="line">
            <a:avLst/>
          </a:prstGeom>
          <a:noFill/>
          <a:ln w="19050" algn="ctr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Magnetic Field Boundary Conditions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69" name="Picture 2" descr="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195" y="3124200"/>
            <a:ext cx="5181600" cy="3285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" name="Rectangle 4"/>
          <p:cNvSpPr>
            <a:spLocks noChangeArrowheads="1"/>
          </p:cNvSpPr>
          <p:nvPr/>
        </p:nvSpPr>
        <p:spPr bwMode="auto">
          <a:xfrm>
            <a:off x="674686" y="1724108"/>
            <a:ext cx="785971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Consider 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an interface between two media </a:t>
            </a:r>
            <a:r>
              <a:rPr lang="en-US" altLang="zh-CN" sz="1800" dirty="0">
                <a:latin typeface="Times New Roman" panose="02020603050405020304" pitchFamily="18" charset="0"/>
              </a:rPr>
              <a:t>that have different </a:t>
            </a:r>
            <a:r>
              <a:rPr lang="en-US" altLang="zh-CN" sz="1800" dirty="0" err="1">
                <a:latin typeface="Times New Roman" panose="02020603050405020304" pitchFamily="18" charset="0"/>
              </a:rPr>
              <a:t>permeabilities</a:t>
            </a:r>
            <a:r>
              <a:rPr lang="en-US" altLang="zh-CN" sz="1800" dirty="0">
                <a:latin typeface="Times New Roman" panose="02020603050405020304" pitchFamily="18" charset="0"/>
              </a:rPr>
              <a:t> </a:t>
            </a:r>
            <a:r>
              <a:rPr lang="zh-CN" altLang="en-US" sz="1800" dirty="0">
                <a:latin typeface="华文行楷" panose="02010800040101010101" pitchFamily="2" charset="-122"/>
                <a:ea typeface="华文行楷" panose="02010800040101010101" pitchFamily="2" charset="-122"/>
              </a:rPr>
              <a:t>磁导率</a:t>
            </a:r>
            <a:r>
              <a:rPr lang="en-US" altLang="zh-CN" sz="1800" dirty="0">
                <a:latin typeface="Times New Roman" panose="02020603050405020304" pitchFamily="18" charset="0"/>
              </a:rPr>
              <a:t>.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We want to find the relationship between 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magnetic fields at the boundary</a:t>
            </a:r>
            <a:r>
              <a:rPr lang="en-US" altLang="zh-CN" sz="1800" dirty="0">
                <a:latin typeface="Times New Roman" panose="02020603050405020304" pitchFamily="18" charset="0"/>
              </a:rPr>
              <a:t>, on either side. This is done by considering separately the normal and tangential components of the field.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5"/>
          <p:cNvGrpSpPr/>
          <p:nvPr/>
        </p:nvGrpSpPr>
        <p:grpSpPr bwMode="auto">
          <a:xfrm>
            <a:off x="404854" y="2497903"/>
            <a:ext cx="5935847" cy="4129088"/>
            <a:chOff x="960" y="1233"/>
            <a:chExt cx="3409" cy="2465"/>
          </a:xfrm>
        </p:grpSpPr>
        <p:pic>
          <p:nvPicPr>
            <p:cNvPr id="19" name="Picture 2" descr="8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0" y="1536"/>
              <a:ext cx="3409" cy="2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Rectangle 4"/>
            <p:cNvSpPr>
              <a:spLocks noChangeArrowheads="1"/>
            </p:cNvSpPr>
            <p:nvPr/>
          </p:nvSpPr>
          <p:spPr bwMode="auto">
            <a:xfrm rot="-1729883">
              <a:off x="2550" y="1233"/>
              <a:ext cx="1790" cy="14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Boundary Condition for the Normal Component of 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B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951" y="2133600"/>
            <a:ext cx="1865313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685800" y="1752600"/>
            <a:ext cx="65532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In this case, we use 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Gauss’ Law for the magnetic flux density</a:t>
            </a:r>
            <a:r>
              <a:rPr lang="en-US" altLang="zh-CN" sz="1800" dirty="0">
                <a:latin typeface="Times New Roman" panose="02020603050405020304" pitchFamily="18" charset="0"/>
              </a:rPr>
              <a:t>: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806393" y="2971800"/>
            <a:ext cx="62040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..and apply this to the right circular cylinder as shown: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pic>
        <p:nvPicPr>
          <p:cNvPr id="14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900" y="3723639"/>
            <a:ext cx="311785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798888" y="3814127"/>
            <a:ext cx="825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obtain: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3878914" y="4811712"/>
            <a:ext cx="857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so that:</a:t>
            </a:r>
            <a:endParaRPr lang="en-US" altLang="zh-CN" sz="1800">
              <a:latin typeface="Times New Roman" panose="02020603050405020304" pitchFamily="18" charset="0"/>
            </a:endParaRPr>
          </a:p>
        </p:txBody>
      </p:sp>
      <p:pic>
        <p:nvPicPr>
          <p:cNvPr id="17" name="Picture 1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880" y="4613275"/>
            <a:ext cx="194627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3886200" y="5562600"/>
            <a:ext cx="493159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The normal component of </a:t>
            </a:r>
            <a:r>
              <a: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 is continuous across a boundary.</a:t>
            </a:r>
            <a:endParaRPr lang="en-US" altLang="zh-CN" sz="1800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1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626144"/>
            <a:ext cx="2093913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Boundary Condition for the Tangential Component of 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H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28" name="Group 7"/>
          <p:cNvGrpSpPr>
            <a:grpSpLocks noChangeAspect="1"/>
          </p:cNvGrpSpPr>
          <p:nvPr/>
        </p:nvGrpSpPr>
        <p:grpSpPr bwMode="auto">
          <a:xfrm>
            <a:off x="2590730" y="2102774"/>
            <a:ext cx="6124575" cy="3843338"/>
            <a:chOff x="1324" y="2112"/>
            <a:chExt cx="3085" cy="1936"/>
          </a:xfrm>
        </p:grpSpPr>
        <p:pic>
          <p:nvPicPr>
            <p:cNvPr id="37" name="Picture 4" descr="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2" y="2112"/>
              <a:ext cx="3017" cy="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Rectangle 6"/>
            <p:cNvSpPr>
              <a:spLocks noChangeAspect="1" noChangeArrowheads="1"/>
            </p:cNvSpPr>
            <p:nvPr/>
          </p:nvSpPr>
          <p:spPr bwMode="auto">
            <a:xfrm rot="-1948204">
              <a:off x="1324" y="2656"/>
              <a:ext cx="1286" cy="13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29" name="Rectangle 8"/>
          <p:cNvSpPr>
            <a:spLocks noChangeArrowheads="1"/>
          </p:cNvSpPr>
          <p:nvPr/>
        </p:nvSpPr>
        <p:spPr bwMode="auto">
          <a:xfrm>
            <a:off x="7393844" y="2558346"/>
            <a:ext cx="361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Times New Roman" panose="02020603050405020304" pitchFamily="18" charset="0"/>
              </a:rPr>
              <a:t>K</a:t>
            </a:r>
            <a:endParaRPr lang="en-US" altLang="zh-CN" sz="1800" b="1">
              <a:latin typeface="Times New Roman" panose="02020603050405020304" pitchFamily="18" charset="0"/>
            </a:endParaRPr>
          </a:p>
        </p:txBody>
      </p:sp>
      <p:sp>
        <p:nvSpPr>
          <p:cNvPr id="30" name="Rectangle 9"/>
          <p:cNvSpPr>
            <a:spLocks noChangeArrowheads="1"/>
          </p:cNvSpPr>
          <p:nvPr/>
        </p:nvSpPr>
        <p:spPr bwMode="auto">
          <a:xfrm>
            <a:off x="480641" y="1676400"/>
            <a:ext cx="5130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In this case, we allow for the possibility of a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surface current density, </a:t>
            </a:r>
            <a:r>
              <a: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1800" dirty="0">
                <a:latin typeface="Times New Roman" panose="02020603050405020304" pitchFamily="18" charset="0"/>
              </a:rPr>
              <a:t>at the boundary, as shown.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sp>
        <p:nvSpPr>
          <p:cNvPr id="31" name="Rectangle 10"/>
          <p:cNvSpPr>
            <a:spLocks noChangeArrowheads="1"/>
          </p:cNvSpPr>
          <p:nvPr/>
        </p:nvSpPr>
        <p:spPr bwMode="auto">
          <a:xfrm>
            <a:off x="480641" y="2362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Ampere’s Circuital Law states: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pic>
        <p:nvPicPr>
          <p:cNvPr id="33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962400"/>
            <a:ext cx="3529013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Rectangle 13"/>
          <p:cNvSpPr>
            <a:spLocks noChangeArrowheads="1"/>
          </p:cNvSpPr>
          <p:nvPr/>
        </p:nvSpPr>
        <p:spPr bwMode="auto">
          <a:xfrm>
            <a:off x="544512" y="3581400"/>
            <a:ext cx="4179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..and over the indicated path, this becomes: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pic>
        <p:nvPicPr>
          <p:cNvPr id="35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328" y="4793118"/>
            <a:ext cx="237648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Rectangle 15"/>
          <p:cNvSpPr>
            <a:spLocks noChangeArrowheads="1"/>
          </p:cNvSpPr>
          <p:nvPr/>
        </p:nvSpPr>
        <p:spPr bwMode="auto">
          <a:xfrm>
            <a:off x="679078" y="4975681"/>
            <a:ext cx="44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or:</a:t>
            </a:r>
            <a:endParaRPr lang="en-US" altLang="zh-CN" sz="1800">
              <a:latin typeface="Times New Roman" panose="02020603050405020304" pitchFamily="18" charset="0"/>
            </a:endParaRPr>
          </a:p>
        </p:txBody>
      </p:sp>
      <p:pic>
        <p:nvPicPr>
          <p:cNvPr id="23" name="Picture 1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3075" y="4897010"/>
            <a:ext cx="31718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18"/>
          <p:cNvSpPr>
            <a:spLocks noChangeArrowheads="1"/>
          </p:cNvSpPr>
          <p:nvPr/>
        </p:nvSpPr>
        <p:spPr bwMode="auto">
          <a:xfrm>
            <a:off x="3898900" y="4961392"/>
            <a:ext cx="165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More generally: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5562600" y="5486400"/>
            <a:ext cx="3352800" cy="6096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Rectangle 20"/>
          <p:cNvSpPr>
            <a:spLocks noChangeArrowheads="1"/>
          </p:cNvSpPr>
          <p:nvPr/>
        </p:nvSpPr>
        <p:spPr bwMode="auto">
          <a:xfrm>
            <a:off x="631840" y="6096000"/>
            <a:ext cx="74453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Obviously, 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if no surface current exists, then the two tangential fields are equal at the boundary!</a:t>
            </a:r>
            <a:endParaRPr lang="en-US" altLang="zh-CN" sz="1800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6" name="Picture 2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4362" y="5542757"/>
            <a:ext cx="3144838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Rectangle 23"/>
          <p:cNvSpPr>
            <a:spLocks noChangeArrowheads="1"/>
          </p:cNvSpPr>
          <p:nvPr/>
        </p:nvSpPr>
        <p:spPr bwMode="auto">
          <a:xfrm>
            <a:off x="5111765" y="5576224"/>
            <a:ext cx="376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or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 (8.6)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39" name="Group 23"/>
          <p:cNvGrpSpPr/>
          <p:nvPr/>
        </p:nvGrpSpPr>
        <p:grpSpPr bwMode="auto">
          <a:xfrm>
            <a:off x="419100" y="1676400"/>
            <a:ext cx="8420100" cy="4508500"/>
            <a:chOff x="264" y="1056"/>
            <a:chExt cx="5304" cy="2840"/>
          </a:xfrm>
        </p:grpSpPr>
        <p:grpSp>
          <p:nvGrpSpPr>
            <p:cNvPr id="40" name="Group 7"/>
            <p:cNvGrpSpPr/>
            <p:nvPr/>
          </p:nvGrpSpPr>
          <p:grpSpPr bwMode="auto">
            <a:xfrm>
              <a:off x="2544" y="1056"/>
              <a:ext cx="1851" cy="975"/>
              <a:chOff x="2670" y="1306"/>
              <a:chExt cx="1851" cy="975"/>
            </a:xfrm>
          </p:grpSpPr>
          <p:pic>
            <p:nvPicPr>
              <p:cNvPr id="54" name="Picture 3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70" y="1306"/>
                <a:ext cx="1808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5" name="Picture 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88" y="1632"/>
                <a:ext cx="1774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6" name="Picture 5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36" y="2016"/>
                <a:ext cx="1226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7" name="Rectangle 6"/>
              <p:cNvSpPr>
                <a:spLocks noChangeArrowheads="1"/>
              </p:cNvSpPr>
              <p:nvPr/>
            </p:nvSpPr>
            <p:spPr bwMode="auto">
              <a:xfrm>
                <a:off x="3984" y="2037"/>
                <a:ext cx="53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at </a:t>
                </a:r>
                <a:r>
                  <a:rPr lang="en-US" altLang="zh-CN" sz="1800" i="1">
                    <a:latin typeface="Times New Roman" panose="02020603050405020304" pitchFamily="18" charset="0"/>
                  </a:rPr>
                  <a:t>z 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= 0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1" name="AutoShape 8"/>
            <p:cNvSpPr/>
            <p:nvPr/>
          </p:nvSpPr>
          <p:spPr bwMode="auto">
            <a:xfrm>
              <a:off x="2352" y="1149"/>
              <a:ext cx="96" cy="864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42" name="Rectangle 9"/>
            <p:cNvSpPr>
              <a:spLocks noChangeArrowheads="1"/>
            </p:cNvSpPr>
            <p:nvPr/>
          </p:nvSpPr>
          <p:spPr bwMode="auto">
            <a:xfrm>
              <a:off x="888" y="1339"/>
              <a:ext cx="141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Given, a configuration</a:t>
              </a:r>
              <a:endParaRPr lang="en-US" altLang="zh-CN" sz="18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for which: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pic>
          <p:nvPicPr>
            <p:cNvPr id="44" name="Picture 1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" y="2256"/>
              <a:ext cx="1981" cy="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" name="Rectangle 11"/>
            <p:cNvSpPr>
              <a:spLocks noChangeArrowheads="1"/>
            </p:cNvSpPr>
            <p:nvPr/>
          </p:nvSpPr>
          <p:spPr bwMode="auto">
            <a:xfrm>
              <a:off x="3400" y="2278"/>
              <a:ext cx="61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Find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6" name="Line 12"/>
            <p:cNvSpPr>
              <a:spLocks noChangeShapeType="1"/>
            </p:cNvSpPr>
            <p:nvPr/>
          </p:nvSpPr>
          <p:spPr bwMode="auto">
            <a:xfrm>
              <a:off x="3408" y="2544"/>
              <a:ext cx="576" cy="0"/>
            </a:xfrm>
            <a:prstGeom prst="line">
              <a:avLst/>
            </a:prstGeom>
            <a:noFill/>
            <a:ln w="9525">
              <a:solidFill>
                <a:srgbClr val="FF148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13"/>
            <p:cNvSpPr>
              <a:spLocks noChangeShapeType="1"/>
            </p:cNvSpPr>
            <p:nvPr/>
          </p:nvSpPr>
          <p:spPr bwMode="auto">
            <a:xfrm flipV="1">
              <a:off x="264" y="2640"/>
              <a:ext cx="5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48" name="Picture 14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" y="2993"/>
              <a:ext cx="1514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" name="Picture 15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6" y="3246"/>
              <a:ext cx="2914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" name="Rectangle 16"/>
            <p:cNvSpPr>
              <a:spLocks noChangeArrowheads="1"/>
            </p:cNvSpPr>
            <p:nvPr/>
          </p:nvSpPr>
          <p:spPr bwMode="auto">
            <a:xfrm>
              <a:off x="525" y="2731"/>
              <a:ext cx="26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First, we work with the normal components: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pic>
          <p:nvPicPr>
            <p:cNvPr id="51" name="Picture 18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3600"/>
              <a:ext cx="1468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" name="Rectangle 19"/>
            <p:cNvSpPr>
              <a:spLocks noChangeArrowheads="1"/>
            </p:cNvSpPr>
            <p:nvPr/>
          </p:nvSpPr>
          <p:spPr bwMode="auto">
            <a:xfrm>
              <a:off x="544" y="3628"/>
              <a:ext cx="65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Therefore: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53" name="Line 20"/>
            <p:cNvSpPr>
              <a:spLocks noChangeShapeType="1"/>
            </p:cNvSpPr>
            <p:nvPr/>
          </p:nvSpPr>
          <p:spPr bwMode="auto">
            <a:xfrm>
              <a:off x="1266" y="3896"/>
              <a:ext cx="1344" cy="0"/>
            </a:xfrm>
            <a:prstGeom prst="line">
              <a:avLst/>
            </a:prstGeom>
            <a:noFill/>
            <a:ln w="9525">
              <a:solidFill>
                <a:srgbClr val="FF148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39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 (8.6 Cont’d)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25" name="Group 11"/>
          <p:cNvGrpSpPr/>
          <p:nvPr/>
        </p:nvGrpSpPr>
        <p:grpSpPr bwMode="auto">
          <a:xfrm>
            <a:off x="617538" y="1828801"/>
            <a:ext cx="7307262" cy="4170363"/>
            <a:chOff x="293" y="1152"/>
            <a:chExt cx="4603" cy="2627"/>
          </a:xfrm>
        </p:grpSpPr>
        <p:pic>
          <p:nvPicPr>
            <p:cNvPr id="26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1477"/>
              <a:ext cx="2315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" y="1849"/>
              <a:ext cx="3731" cy="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2496"/>
              <a:ext cx="3870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" name="Picture 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" y="2976"/>
              <a:ext cx="3317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7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3456"/>
              <a:ext cx="4250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" name="Line 8"/>
            <p:cNvSpPr>
              <a:spLocks noChangeShapeType="1"/>
            </p:cNvSpPr>
            <p:nvPr/>
          </p:nvSpPr>
          <p:spPr bwMode="auto">
            <a:xfrm>
              <a:off x="1056" y="3744"/>
              <a:ext cx="192" cy="0"/>
            </a:xfrm>
            <a:prstGeom prst="line">
              <a:avLst/>
            </a:prstGeom>
            <a:noFill/>
            <a:ln w="9525">
              <a:solidFill>
                <a:srgbClr val="FF148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9"/>
            <p:cNvSpPr>
              <a:spLocks noChangeShapeType="1"/>
            </p:cNvSpPr>
            <p:nvPr/>
          </p:nvSpPr>
          <p:spPr bwMode="auto">
            <a:xfrm>
              <a:off x="3600" y="3744"/>
              <a:ext cx="1296" cy="0"/>
            </a:xfrm>
            <a:prstGeom prst="line">
              <a:avLst/>
            </a:prstGeom>
            <a:noFill/>
            <a:ln w="9525">
              <a:solidFill>
                <a:srgbClr val="FF148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Rectangle 10"/>
            <p:cNvSpPr>
              <a:spLocks noChangeArrowheads="1"/>
            </p:cNvSpPr>
            <p:nvPr/>
          </p:nvSpPr>
          <p:spPr bwMode="auto">
            <a:xfrm>
              <a:off x="293" y="1152"/>
              <a:ext cx="284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Next, we work with the tangential components: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40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 (8.6 Cont’d)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6" name="Group 16"/>
          <p:cNvGrpSpPr/>
          <p:nvPr/>
        </p:nvGrpSpPr>
        <p:grpSpPr bwMode="auto">
          <a:xfrm>
            <a:off x="698500" y="2133600"/>
            <a:ext cx="6845300" cy="2895600"/>
            <a:chOff x="440" y="1344"/>
            <a:chExt cx="4312" cy="1824"/>
          </a:xfrm>
        </p:grpSpPr>
        <p:grpSp>
          <p:nvGrpSpPr>
            <p:cNvPr id="17" name="Group 10"/>
            <p:cNvGrpSpPr/>
            <p:nvPr/>
          </p:nvGrpSpPr>
          <p:grpSpPr bwMode="auto">
            <a:xfrm>
              <a:off x="2284" y="1344"/>
              <a:ext cx="1124" cy="315"/>
              <a:chOff x="2199" y="1632"/>
              <a:chExt cx="1124" cy="315"/>
            </a:xfrm>
          </p:grpSpPr>
          <p:pic>
            <p:nvPicPr>
              <p:cNvPr id="35" name="Picture 3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99" y="1666"/>
                <a:ext cx="397" cy="2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" name="Picture 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92" y="1632"/>
                <a:ext cx="731" cy="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" name="Group 11"/>
            <p:cNvGrpSpPr/>
            <p:nvPr/>
          </p:nvGrpSpPr>
          <p:grpSpPr bwMode="auto">
            <a:xfrm>
              <a:off x="2352" y="1872"/>
              <a:ext cx="2088" cy="379"/>
              <a:chOff x="2112" y="2160"/>
              <a:chExt cx="2088" cy="379"/>
            </a:xfrm>
          </p:grpSpPr>
          <p:pic>
            <p:nvPicPr>
              <p:cNvPr id="24" name="Picture 6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40" y="2160"/>
                <a:ext cx="1560" cy="3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4" name="Picture 7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12" y="2208"/>
                <a:ext cx="524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9" name="Picture 8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" y="2736"/>
              <a:ext cx="4163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Rectangle 12"/>
            <p:cNvSpPr>
              <a:spLocks noChangeArrowheads="1"/>
            </p:cNvSpPr>
            <p:nvPr/>
          </p:nvSpPr>
          <p:spPr bwMode="auto">
            <a:xfrm>
              <a:off x="440" y="1641"/>
              <a:ext cx="1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Summarizing, we have: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1" name="AutoShape 13"/>
            <p:cNvSpPr/>
            <p:nvPr/>
          </p:nvSpPr>
          <p:spPr bwMode="auto">
            <a:xfrm>
              <a:off x="2112" y="1392"/>
              <a:ext cx="96" cy="768"/>
            </a:xfrm>
            <a:prstGeom prst="leftBrace">
              <a:avLst>
                <a:gd name="adj1" fmla="val 66667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14"/>
            <p:cNvSpPr>
              <a:spLocks noChangeArrowheads="1"/>
            </p:cNvSpPr>
            <p:nvPr/>
          </p:nvSpPr>
          <p:spPr bwMode="auto">
            <a:xfrm>
              <a:off x="449" y="2396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..so finally: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3" name="Line 15"/>
            <p:cNvSpPr>
              <a:spLocks noChangeShapeType="1"/>
            </p:cNvSpPr>
            <p:nvPr/>
          </p:nvSpPr>
          <p:spPr bwMode="auto">
            <a:xfrm>
              <a:off x="2496" y="3120"/>
              <a:ext cx="2256" cy="0"/>
            </a:xfrm>
            <a:prstGeom prst="line">
              <a:avLst/>
            </a:prstGeom>
            <a:noFill/>
            <a:ln w="9525">
              <a:solidFill>
                <a:srgbClr val="FF148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 and 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 -- and Related Potentials 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25" name="Group 14"/>
          <p:cNvGrpSpPr/>
          <p:nvPr/>
        </p:nvGrpSpPr>
        <p:grpSpPr bwMode="auto">
          <a:xfrm>
            <a:off x="879379" y="1983582"/>
            <a:ext cx="6049963" cy="4252912"/>
            <a:chOff x="528" y="1329"/>
            <a:chExt cx="3811" cy="2679"/>
          </a:xfrm>
        </p:grpSpPr>
        <p:grpSp>
          <p:nvGrpSpPr>
            <p:cNvPr id="26" name="Group 10"/>
            <p:cNvGrpSpPr/>
            <p:nvPr/>
          </p:nvGrpSpPr>
          <p:grpSpPr bwMode="auto">
            <a:xfrm>
              <a:off x="582" y="1329"/>
              <a:ext cx="3520" cy="1091"/>
              <a:chOff x="582" y="1329"/>
              <a:chExt cx="3520" cy="1091"/>
            </a:xfrm>
          </p:grpSpPr>
          <p:pic>
            <p:nvPicPr>
              <p:cNvPr id="33" name="Picture 3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52" y="1351"/>
                <a:ext cx="1111" cy="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37" name="Picture 5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" y="1776"/>
                <a:ext cx="1704" cy="6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38" name="Rectangle 8"/>
              <p:cNvSpPr>
                <a:spLocks noChangeArrowheads="1"/>
              </p:cNvSpPr>
              <p:nvPr/>
            </p:nvSpPr>
            <p:spPr bwMode="auto">
              <a:xfrm>
                <a:off x="582" y="1329"/>
                <a:ext cx="1506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Electric field -- electric 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potential relations: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" name="Group 11"/>
            <p:cNvGrpSpPr/>
            <p:nvPr/>
          </p:nvGrpSpPr>
          <p:grpSpPr bwMode="auto">
            <a:xfrm>
              <a:off x="528" y="2640"/>
              <a:ext cx="3783" cy="1045"/>
              <a:chOff x="528" y="2946"/>
              <a:chExt cx="3783" cy="1045"/>
            </a:xfrm>
          </p:grpSpPr>
          <p:pic>
            <p:nvPicPr>
              <p:cNvPr id="30" name="Picture 6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52" y="2955"/>
                <a:ext cx="1192" cy="3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31" name="Picture 7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78" y="3265"/>
                <a:ext cx="2033" cy="7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32" name="Rectangle 9"/>
              <p:cNvSpPr>
                <a:spLocks noChangeArrowheads="1"/>
              </p:cNvSpPr>
              <p:nvPr/>
            </p:nvSpPr>
            <p:spPr bwMode="auto">
              <a:xfrm>
                <a:off x="528" y="2946"/>
                <a:ext cx="177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Magnetic field -- scalar 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magnetic potential relations: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8" name="Rectangle 12"/>
            <p:cNvSpPr>
              <a:spLocks noChangeArrowheads="1"/>
            </p:cNvSpPr>
            <p:nvPr/>
          </p:nvSpPr>
          <p:spPr bwMode="auto">
            <a:xfrm>
              <a:off x="576" y="3775"/>
              <a:ext cx="376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i="1" dirty="0" err="1">
                  <a:solidFill>
                    <a:srgbClr val="C0000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 err="1">
                  <a:solidFill>
                    <a:srgbClr val="C00000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1800" i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is the </a:t>
              </a:r>
              <a:r>
                <a:rPr lang="en-US" altLang="zh-CN" sz="1800" i="1" dirty="0" err="1">
                  <a:solidFill>
                    <a:srgbClr val="C00000"/>
                  </a:solidFill>
                  <a:latin typeface="Times New Roman" panose="02020603050405020304" pitchFamily="18" charset="0"/>
                </a:rPr>
                <a:t>magnetomotive</a:t>
              </a:r>
              <a:r>
                <a:rPr lang="en-US" altLang="zh-CN" sz="1800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 force</a:t>
              </a:r>
              <a:r>
                <a:rPr lang="zh-CN" altLang="en-US" sz="1800" dirty="0">
                  <a:solidFill>
                    <a:srgbClr val="C0000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磁动势</a:t>
              </a:r>
              <a:r>
                <a:rPr lang="en-US" altLang="zh-CN" sz="1800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, </a:t>
              </a:r>
              <a:r>
                <a:rPr lang="en-US" altLang="zh-CN" sz="18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or </a:t>
              </a:r>
              <a:r>
                <a:rPr lang="en-US" altLang="zh-CN" sz="1800" i="1" dirty="0" err="1">
                  <a:solidFill>
                    <a:srgbClr val="C00000"/>
                  </a:solidFill>
                  <a:latin typeface="Times New Roman" panose="02020603050405020304" pitchFamily="18" charset="0"/>
                </a:rPr>
                <a:t>mmf</a:t>
              </a:r>
              <a:r>
                <a:rPr lang="en-US" altLang="zh-CN" sz="1800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. </a:t>
              </a:r>
              <a:r>
                <a:rPr lang="en-US" altLang="zh-CN" sz="18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Unit: A.t </a:t>
              </a:r>
              <a:r>
                <a:rPr lang="zh-CN" altLang="en-US" sz="1800" dirty="0">
                  <a:solidFill>
                    <a:srgbClr val="C0000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安匝</a:t>
              </a:r>
              <a:endParaRPr lang="en-US" altLang="zh-CN" sz="18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Ohm’s Law and Current Analogies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用电路模拟磁路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7" name="Group 13"/>
          <p:cNvGrpSpPr/>
          <p:nvPr/>
        </p:nvGrpSpPr>
        <p:grpSpPr bwMode="auto">
          <a:xfrm>
            <a:off x="685800" y="2133600"/>
            <a:ext cx="7543800" cy="4175125"/>
            <a:chOff x="432" y="1344"/>
            <a:chExt cx="4752" cy="2630"/>
          </a:xfrm>
        </p:grpSpPr>
        <p:pic>
          <p:nvPicPr>
            <p:cNvPr id="18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3" y="1344"/>
              <a:ext cx="864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9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7" y="2880"/>
              <a:ext cx="881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0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6" y="3312"/>
              <a:ext cx="1693" cy="6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1" name="Picture 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3" y="1872"/>
              <a:ext cx="1393" cy="6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2" name="Rectangle 7"/>
            <p:cNvSpPr>
              <a:spLocks noChangeArrowheads="1"/>
            </p:cNvSpPr>
            <p:nvPr/>
          </p:nvSpPr>
          <p:spPr bwMode="auto">
            <a:xfrm>
              <a:off x="528" y="1392"/>
              <a:ext cx="161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Point form of Ohm’s Law</a:t>
              </a:r>
              <a:endParaRPr lang="en-US" altLang="zh-CN" sz="180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for the electric field: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8"/>
            <p:cNvSpPr>
              <a:spLocks noChangeArrowheads="1"/>
            </p:cNvSpPr>
            <p:nvPr/>
          </p:nvSpPr>
          <p:spPr bwMode="auto">
            <a:xfrm>
              <a:off x="533" y="2832"/>
              <a:ext cx="151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Analogy to Ohm’s Law </a:t>
              </a:r>
              <a:endParaRPr lang="en-US" altLang="zh-CN" sz="180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for the magnetic field: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9"/>
            <p:cNvSpPr>
              <a:spLocks noChangeArrowheads="1"/>
            </p:cNvSpPr>
            <p:nvPr/>
          </p:nvSpPr>
          <p:spPr bwMode="auto">
            <a:xfrm>
              <a:off x="528" y="2112"/>
              <a:ext cx="8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Current flux: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9" name="Rectangle 10"/>
            <p:cNvSpPr>
              <a:spLocks noChangeArrowheads="1"/>
            </p:cNvSpPr>
            <p:nvPr/>
          </p:nvSpPr>
          <p:spPr bwMode="auto">
            <a:xfrm>
              <a:off x="3648" y="2880"/>
              <a:ext cx="139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8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assumes the role of </a:t>
              </a:r>
              <a:endPara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current density</a:t>
              </a:r>
              <a:endPara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" name="Rectangle 11"/>
            <p:cNvSpPr>
              <a:spLocks noChangeArrowheads="1"/>
            </p:cNvSpPr>
            <p:nvPr/>
          </p:nvSpPr>
          <p:spPr bwMode="auto">
            <a:xfrm>
              <a:off x="485" y="3511"/>
              <a:ext cx="153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Magnetic “current” flux: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35" name="Line 12"/>
            <p:cNvSpPr>
              <a:spLocks noChangeShapeType="1"/>
            </p:cNvSpPr>
            <p:nvPr/>
          </p:nvSpPr>
          <p:spPr bwMode="auto">
            <a:xfrm>
              <a:off x="432" y="2640"/>
              <a:ext cx="47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Reluctance as an analogy to Resistance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磁阻 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vs</a:t>
            </a:r>
            <a:r>
              <a:rPr lang="en-US" altLang="zh-CN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电阻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112" y="1804987"/>
            <a:ext cx="1298575" cy="569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490787"/>
            <a:ext cx="2047875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8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5199" y="4191000"/>
            <a:ext cx="1409700" cy="7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994" y="5218312"/>
            <a:ext cx="1562100" cy="1139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1" name="Rectangle 7"/>
          <p:cNvSpPr>
            <a:spLocks noChangeArrowheads="1"/>
          </p:cNvSpPr>
          <p:nvPr/>
        </p:nvSpPr>
        <p:spPr bwMode="auto">
          <a:xfrm>
            <a:off x="580232" y="1895474"/>
            <a:ext cx="33766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In large scale form, Ohm’s Law is: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sp>
        <p:nvSpPr>
          <p:cNvPr id="32" name="Rectangle 8"/>
          <p:cNvSpPr>
            <a:spLocks noChangeArrowheads="1"/>
          </p:cNvSpPr>
          <p:nvPr/>
        </p:nvSpPr>
        <p:spPr bwMode="auto">
          <a:xfrm>
            <a:off x="571500" y="2611437"/>
            <a:ext cx="32877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A similar rule can be constructed</a:t>
            </a:r>
            <a:endParaRPr lang="en-US" altLang="zh-CN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that relates mmf to magnetic flux:</a:t>
            </a:r>
            <a:endParaRPr lang="en-US" altLang="zh-CN" sz="1800">
              <a:latin typeface="Times New Roman" panose="02020603050405020304" pitchFamily="18" charset="0"/>
            </a:endParaRPr>
          </a:p>
        </p:txBody>
      </p:sp>
      <p:grpSp>
        <p:nvGrpSpPr>
          <p:cNvPr id="33" name="Group 13"/>
          <p:cNvGrpSpPr/>
          <p:nvPr/>
        </p:nvGrpSpPr>
        <p:grpSpPr bwMode="auto">
          <a:xfrm>
            <a:off x="611188" y="3557587"/>
            <a:ext cx="7466012" cy="377825"/>
            <a:chOff x="633" y="2352"/>
            <a:chExt cx="4703" cy="238"/>
          </a:xfrm>
        </p:grpSpPr>
        <p:sp>
          <p:nvSpPr>
            <p:cNvPr id="39" name="Rectangle 9"/>
            <p:cNvSpPr>
              <a:spLocks noChangeArrowheads="1"/>
            </p:cNvSpPr>
            <p:nvPr/>
          </p:nvSpPr>
          <p:spPr bwMode="auto">
            <a:xfrm>
              <a:off x="633" y="2352"/>
              <a:ext cx="470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where      is </a:t>
              </a:r>
              <a:r>
                <a:rPr lang="en-US" altLang="zh-CN" sz="18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the </a:t>
              </a:r>
              <a:r>
                <a:rPr lang="en-US" altLang="zh-CN" sz="1800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reluctance </a:t>
              </a:r>
              <a:r>
                <a:rPr lang="zh-CN" altLang="en-US" sz="1800" dirty="0">
                  <a:solidFill>
                    <a:srgbClr val="C0000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磁阻</a:t>
              </a:r>
              <a:r>
                <a:rPr lang="zh-CN" altLang="en-US" sz="1800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of the medium, in direct analogy to resistance. 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pic>
          <p:nvPicPr>
            <p:cNvPr id="40" name="Picture 10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5" y="2384"/>
              <a:ext cx="196" cy="2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36" name="Rectangle 12"/>
          <p:cNvSpPr>
            <a:spLocks noChangeArrowheads="1"/>
          </p:cNvSpPr>
          <p:nvPr/>
        </p:nvSpPr>
        <p:spPr bwMode="auto">
          <a:xfrm>
            <a:off x="611188" y="4384674"/>
            <a:ext cx="55419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For 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a straight wire of uniform conductivity</a:t>
            </a:r>
            <a:r>
              <a:rPr lang="en-US" altLang="zh-CN" sz="1800" dirty="0">
                <a:latin typeface="Times New Roman" panose="02020603050405020304" pitchFamily="18" charset="0"/>
              </a:rPr>
              <a:t>, we found that: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sp>
        <p:nvSpPr>
          <p:cNvPr id="37" name="Rectangle 14"/>
          <p:cNvSpPr>
            <a:spLocks noChangeArrowheads="1"/>
          </p:cNvSpPr>
          <p:nvPr/>
        </p:nvSpPr>
        <p:spPr bwMode="auto">
          <a:xfrm>
            <a:off x="611188" y="5445918"/>
            <a:ext cx="58594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For a similar medium of uniform permeability, it follows that: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sp>
        <p:nvSpPr>
          <p:cNvPr id="38" name="Rectangle 16"/>
          <p:cNvSpPr>
            <a:spLocks noChangeArrowheads="1"/>
          </p:cNvSpPr>
          <p:nvPr/>
        </p:nvSpPr>
        <p:spPr bwMode="auto">
          <a:xfrm>
            <a:off x="6286500" y="2490787"/>
            <a:ext cx="259981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This is the analogous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equation for Ohm’s Law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in a 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magnetic circuit </a:t>
            </a:r>
            <a:r>
              <a:rPr lang="zh-CN" altLang="en-US" sz="18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磁路</a:t>
            </a:r>
            <a:endParaRPr lang="en-US" altLang="zh-CN" sz="1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Analogy to Source Voltage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9" name="Group 12"/>
          <p:cNvGrpSpPr/>
          <p:nvPr/>
        </p:nvGrpSpPr>
        <p:grpSpPr bwMode="auto">
          <a:xfrm>
            <a:off x="457200" y="1909763"/>
            <a:ext cx="7840663" cy="4376738"/>
            <a:chOff x="288" y="1443"/>
            <a:chExt cx="4939" cy="2757"/>
          </a:xfrm>
        </p:grpSpPr>
        <p:pic>
          <p:nvPicPr>
            <p:cNvPr id="20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9" y="1443"/>
              <a:ext cx="1411" cy="6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1" name="Rectangle 5"/>
            <p:cNvSpPr>
              <a:spLocks noChangeArrowheads="1"/>
            </p:cNvSpPr>
            <p:nvPr/>
          </p:nvSpPr>
          <p:spPr bwMode="auto">
            <a:xfrm>
              <a:off x="288" y="1548"/>
              <a:ext cx="1793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In an electric circuit, </a:t>
              </a:r>
              <a:r>
                <a:rPr lang="en-US" altLang="zh-CN" sz="1600" dirty="0" err="1">
                  <a:solidFill>
                    <a:srgbClr val="C00000"/>
                  </a:solidFill>
                  <a:latin typeface="Times New Roman" panose="02020603050405020304" pitchFamily="18" charset="0"/>
                </a:rPr>
                <a:t>Kirchoff’s</a:t>
              </a: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Voltage Law 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is expressed as: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pic>
          <p:nvPicPr>
            <p:cNvPr id="22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0" y="2208"/>
              <a:ext cx="1716" cy="6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3" name="Rectangle 7"/>
            <p:cNvSpPr>
              <a:spLocks noChangeArrowheads="1"/>
            </p:cNvSpPr>
            <p:nvPr/>
          </p:nvSpPr>
          <p:spPr bwMode="auto">
            <a:xfrm>
              <a:off x="301" y="2304"/>
              <a:ext cx="1907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The magnetic analogy is expressed</a:t>
              </a:r>
              <a:endParaRPr lang="en-US" altLang="zh-CN" sz="16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as Ampere’s Circuital Law: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pic>
          <p:nvPicPr>
            <p:cNvPr id="25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3326"/>
              <a:ext cx="1779" cy="8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9" name="Rectangle 10"/>
            <p:cNvSpPr>
              <a:spLocks noChangeArrowheads="1"/>
            </p:cNvSpPr>
            <p:nvPr/>
          </p:nvSpPr>
          <p:spPr bwMode="auto">
            <a:xfrm>
              <a:off x="309" y="2985"/>
              <a:ext cx="476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Generally, the closed path integral of </a:t>
              </a:r>
              <a:r>
                <a:rPr lang="en-US" altLang="zh-CN" sz="1800" b="1" dirty="0">
                  <a:latin typeface="Times New Roman" panose="02020603050405020304" pitchFamily="18" charset="0"/>
                </a:rPr>
                <a:t>H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 may include </a:t>
              </a:r>
              <a:r>
                <a:rPr lang="en-US" altLang="zh-CN" sz="1800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 turns of wire, leading to: 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34" name="Rectangle 11"/>
            <p:cNvSpPr>
              <a:spLocks noChangeArrowheads="1"/>
            </p:cNvSpPr>
            <p:nvPr/>
          </p:nvSpPr>
          <p:spPr bwMode="auto">
            <a:xfrm>
              <a:off x="2682" y="3474"/>
              <a:ext cx="2545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This quantity is the </a:t>
              </a:r>
              <a:r>
                <a:rPr lang="en-US" altLang="zh-CN" sz="1800" dirty="0" err="1">
                  <a:latin typeface="Times New Roman" panose="02020603050405020304" pitchFamily="18" charset="0"/>
                </a:rPr>
                <a:t>mmf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 around a closed</a:t>
              </a:r>
              <a:endParaRPr lang="en-US" altLang="zh-CN" sz="18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path, which we use as </a:t>
              </a:r>
              <a:r>
                <a:rPr lang="en-US" altLang="zh-CN" sz="1800" i="1" dirty="0" err="1">
                  <a:latin typeface="Times New Roman" panose="02020603050405020304" pitchFamily="18" charset="0"/>
                </a:rPr>
                <a:t>V</a:t>
              </a:r>
              <a:r>
                <a:rPr lang="en-US" altLang="zh-CN" sz="1800" i="1" baseline="-25000" dirty="0" err="1">
                  <a:latin typeface="Times New Roman" panose="02020603050405020304" pitchFamily="18" charset="0"/>
                </a:rPr>
                <a:t>m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 in our magnetic </a:t>
              </a:r>
              <a:endParaRPr lang="en-US" altLang="zh-CN" sz="18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circuit equation.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Application of Reluctance: A Simple Magnetic Circuit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7" name="Group 587"/>
          <p:cNvGrpSpPr/>
          <p:nvPr/>
        </p:nvGrpSpPr>
        <p:grpSpPr bwMode="auto">
          <a:xfrm>
            <a:off x="4848225" y="1828800"/>
            <a:ext cx="3962400" cy="4494213"/>
            <a:chOff x="2928" y="1152"/>
            <a:chExt cx="2496" cy="2831"/>
          </a:xfrm>
        </p:grpSpPr>
        <p:sp>
          <p:nvSpPr>
            <p:cNvPr id="38" name="Oval 273"/>
            <p:cNvSpPr>
              <a:spLocks noChangeArrowheads="1"/>
            </p:cNvSpPr>
            <p:nvPr/>
          </p:nvSpPr>
          <p:spPr bwMode="auto">
            <a:xfrm>
              <a:off x="3401" y="1625"/>
              <a:ext cx="1248" cy="1248"/>
            </a:xfrm>
            <a:prstGeom prst="ellipse">
              <a:avLst/>
            </a:prstGeom>
            <a:noFill/>
            <a:ln w="19050">
              <a:solidFill>
                <a:srgbClr val="D43C8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39" name="Line 274"/>
            <p:cNvSpPr>
              <a:spLocks noChangeShapeType="1"/>
            </p:cNvSpPr>
            <p:nvPr/>
          </p:nvSpPr>
          <p:spPr bwMode="auto">
            <a:xfrm flipV="1">
              <a:off x="4026" y="1795"/>
              <a:ext cx="430" cy="459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0" name="Group 276"/>
            <p:cNvGrpSpPr/>
            <p:nvPr/>
          </p:nvGrpSpPr>
          <p:grpSpPr bwMode="auto">
            <a:xfrm>
              <a:off x="3449" y="2058"/>
              <a:ext cx="164" cy="288"/>
              <a:chOff x="932" y="2743"/>
              <a:chExt cx="164" cy="288"/>
            </a:xfrm>
          </p:grpSpPr>
          <p:sp>
            <p:nvSpPr>
              <p:cNvPr id="198" name="Oval 277"/>
              <p:cNvSpPr>
                <a:spLocks noChangeArrowheads="1"/>
              </p:cNvSpPr>
              <p:nvPr/>
            </p:nvSpPr>
            <p:spPr bwMode="auto">
              <a:xfrm>
                <a:off x="968" y="2891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9" name="Rectangle 278"/>
              <p:cNvSpPr>
                <a:spLocks noChangeArrowheads="1"/>
              </p:cNvSpPr>
              <p:nvPr/>
            </p:nvSpPr>
            <p:spPr bwMode="auto">
              <a:xfrm>
                <a:off x="932" y="2743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1" name="Oval 280"/>
            <p:cNvSpPr>
              <a:spLocks noChangeAspect="1" noChangeArrowheads="1"/>
            </p:cNvSpPr>
            <p:nvPr/>
          </p:nvSpPr>
          <p:spPr bwMode="auto">
            <a:xfrm>
              <a:off x="3479" y="1703"/>
              <a:ext cx="1094" cy="109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42" name="Oval 281"/>
            <p:cNvSpPr>
              <a:spLocks noChangeArrowheads="1"/>
            </p:cNvSpPr>
            <p:nvPr/>
          </p:nvSpPr>
          <p:spPr bwMode="auto">
            <a:xfrm>
              <a:off x="3284" y="1506"/>
              <a:ext cx="1488" cy="14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44" name="Group 282"/>
            <p:cNvGrpSpPr/>
            <p:nvPr/>
          </p:nvGrpSpPr>
          <p:grpSpPr bwMode="auto">
            <a:xfrm>
              <a:off x="3181" y="1896"/>
              <a:ext cx="172" cy="192"/>
              <a:chOff x="568" y="2590"/>
              <a:chExt cx="172" cy="192"/>
            </a:xfrm>
          </p:grpSpPr>
          <p:sp>
            <p:nvSpPr>
              <p:cNvPr id="196" name="Oval 283"/>
              <p:cNvSpPr>
                <a:spLocks noChangeArrowheads="1"/>
              </p:cNvSpPr>
              <p:nvPr/>
            </p:nvSpPr>
            <p:spPr bwMode="auto">
              <a:xfrm>
                <a:off x="608" y="264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7" name="Rectangle 284"/>
              <p:cNvSpPr>
                <a:spLocks noChangeArrowheads="1"/>
              </p:cNvSpPr>
              <p:nvPr/>
            </p:nvSpPr>
            <p:spPr bwMode="auto">
              <a:xfrm>
                <a:off x="568" y="2590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CC006B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45" name="Group 285"/>
            <p:cNvGrpSpPr/>
            <p:nvPr/>
          </p:nvGrpSpPr>
          <p:grpSpPr bwMode="auto">
            <a:xfrm>
              <a:off x="3137" y="2151"/>
              <a:ext cx="172" cy="192"/>
              <a:chOff x="533" y="2833"/>
              <a:chExt cx="172" cy="192"/>
            </a:xfrm>
          </p:grpSpPr>
          <p:sp>
            <p:nvSpPr>
              <p:cNvPr id="194" name="Oval 286"/>
              <p:cNvSpPr>
                <a:spLocks noChangeArrowheads="1"/>
              </p:cNvSpPr>
              <p:nvPr/>
            </p:nvSpPr>
            <p:spPr bwMode="auto">
              <a:xfrm>
                <a:off x="573" y="2889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" name="Rectangle 287"/>
              <p:cNvSpPr>
                <a:spLocks noChangeArrowheads="1"/>
              </p:cNvSpPr>
              <p:nvPr/>
            </p:nvSpPr>
            <p:spPr bwMode="auto">
              <a:xfrm>
                <a:off x="533" y="2833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46" name="Group 288"/>
            <p:cNvGrpSpPr/>
            <p:nvPr/>
          </p:nvGrpSpPr>
          <p:grpSpPr bwMode="auto">
            <a:xfrm>
              <a:off x="3181" y="2397"/>
              <a:ext cx="172" cy="192"/>
              <a:chOff x="577" y="3079"/>
              <a:chExt cx="172" cy="192"/>
            </a:xfrm>
          </p:grpSpPr>
          <p:sp>
            <p:nvSpPr>
              <p:cNvPr id="192" name="Oval 289"/>
              <p:cNvSpPr>
                <a:spLocks noChangeArrowheads="1"/>
              </p:cNvSpPr>
              <p:nvPr/>
            </p:nvSpPr>
            <p:spPr bwMode="auto">
              <a:xfrm>
                <a:off x="617" y="313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3" name="Rectangle 290"/>
              <p:cNvSpPr>
                <a:spLocks noChangeArrowheads="1"/>
              </p:cNvSpPr>
              <p:nvPr/>
            </p:nvSpPr>
            <p:spPr bwMode="auto">
              <a:xfrm>
                <a:off x="577" y="307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47" name="Group 291"/>
            <p:cNvGrpSpPr/>
            <p:nvPr/>
          </p:nvGrpSpPr>
          <p:grpSpPr bwMode="auto">
            <a:xfrm>
              <a:off x="3938" y="2949"/>
              <a:ext cx="172" cy="192"/>
              <a:chOff x="1349" y="3613"/>
              <a:chExt cx="172" cy="192"/>
            </a:xfrm>
          </p:grpSpPr>
          <p:sp>
            <p:nvSpPr>
              <p:cNvPr id="190" name="Oval 292"/>
              <p:cNvSpPr>
                <a:spLocks noChangeArrowheads="1"/>
              </p:cNvSpPr>
              <p:nvPr/>
            </p:nvSpPr>
            <p:spPr bwMode="auto">
              <a:xfrm>
                <a:off x="1389" y="3669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1" name="Rectangle 293"/>
              <p:cNvSpPr>
                <a:spLocks noChangeArrowheads="1"/>
              </p:cNvSpPr>
              <p:nvPr/>
            </p:nvSpPr>
            <p:spPr bwMode="auto">
              <a:xfrm>
                <a:off x="1349" y="3613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48" name="Group 294"/>
            <p:cNvGrpSpPr/>
            <p:nvPr/>
          </p:nvGrpSpPr>
          <p:grpSpPr bwMode="auto">
            <a:xfrm>
              <a:off x="3295" y="1674"/>
              <a:ext cx="172" cy="192"/>
              <a:chOff x="682" y="2359"/>
              <a:chExt cx="172" cy="192"/>
            </a:xfrm>
          </p:grpSpPr>
          <p:sp>
            <p:nvSpPr>
              <p:cNvPr id="188" name="Oval 295"/>
              <p:cNvSpPr>
                <a:spLocks noChangeArrowheads="1"/>
              </p:cNvSpPr>
              <p:nvPr/>
            </p:nvSpPr>
            <p:spPr bwMode="auto">
              <a:xfrm>
                <a:off x="722" y="241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9" name="Rectangle 296"/>
              <p:cNvSpPr>
                <a:spLocks noChangeArrowheads="1"/>
              </p:cNvSpPr>
              <p:nvPr/>
            </p:nvSpPr>
            <p:spPr bwMode="auto">
              <a:xfrm>
                <a:off x="682" y="235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49" name="Group 297"/>
            <p:cNvGrpSpPr/>
            <p:nvPr/>
          </p:nvGrpSpPr>
          <p:grpSpPr bwMode="auto">
            <a:xfrm>
              <a:off x="3943" y="1338"/>
              <a:ext cx="172" cy="192"/>
              <a:chOff x="1351" y="2023"/>
              <a:chExt cx="172" cy="192"/>
            </a:xfrm>
          </p:grpSpPr>
          <p:sp>
            <p:nvSpPr>
              <p:cNvPr id="186" name="Oval 298"/>
              <p:cNvSpPr>
                <a:spLocks noChangeArrowheads="1"/>
              </p:cNvSpPr>
              <p:nvPr/>
            </p:nvSpPr>
            <p:spPr bwMode="auto">
              <a:xfrm>
                <a:off x="1391" y="2079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7" name="Rectangle 299"/>
              <p:cNvSpPr>
                <a:spLocks noChangeArrowheads="1"/>
              </p:cNvSpPr>
              <p:nvPr/>
            </p:nvSpPr>
            <p:spPr bwMode="auto">
              <a:xfrm>
                <a:off x="1351" y="2023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50" name="Group 300"/>
            <p:cNvGrpSpPr/>
            <p:nvPr/>
          </p:nvGrpSpPr>
          <p:grpSpPr bwMode="auto">
            <a:xfrm>
              <a:off x="4184" y="1383"/>
              <a:ext cx="172" cy="192"/>
              <a:chOff x="1592" y="2068"/>
              <a:chExt cx="172" cy="192"/>
            </a:xfrm>
          </p:grpSpPr>
          <p:sp>
            <p:nvSpPr>
              <p:cNvPr id="184" name="Oval 301"/>
              <p:cNvSpPr>
                <a:spLocks noChangeArrowheads="1"/>
              </p:cNvSpPr>
              <p:nvPr/>
            </p:nvSpPr>
            <p:spPr bwMode="auto">
              <a:xfrm>
                <a:off x="1632" y="212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" name="Rectangle 302"/>
              <p:cNvSpPr>
                <a:spLocks noChangeArrowheads="1"/>
              </p:cNvSpPr>
              <p:nvPr/>
            </p:nvSpPr>
            <p:spPr bwMode="auto">
              <a:xfrm>
                <a:off x="1592" y="2068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51" name="Group 303"/>
            <p:cNvGrpSpPr/>
            <p:nvPr/>
          </p:nvGrpSpPr>
          <p:grpSpPr bwMode="auto">
            <a:xfrm>
              <a:off x="4697" y="1893"/>
              <a:ext cx="172" cy="192"/>
              <a:chOff x="2093" y="2584"/>
              <a:chExt cx="172" cy="192"/>
            </a:xfrm>
          </p:grpSpPr>
          <p:sp>
            <p:nvSpPr>
              <p:cNvPr id="182" name="Oval 304"/>
              <p:cNvSpPr>
                <a:spLocks noChangeArrowheads="1"/>
              </p:cNvSpPr>
              <p:nvPr/>
            </p:nvSpPr>
            <p:spPr bwMode="auto">
              <a:xfrm>
                <a:off x="2133" y="2640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3" name="Rectangle 305"/>
              <p:cNvSpPr>
                <a:spLocks noChangeArrowheads="1"/>
              </p:cNvSpPr>
              <p:nvPr/>
            </p:nvSpPr>
            <p:spPr bwMode="auto">
              <a:xfrm>
                <a:off x="2093" y="2584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52" name="Group 306"/>
            <p:cNvGrpSpPr/>
            <p:nvPr/>
          </p:nvGrpSpPr>
          <p:grpSpPr bwMode="auto">
            <a:xfrm>
              <a:off x="4571" y="1674"/>
              <a:ext cx="172" cy="192"/>
              <a:chOff x="1979" y="2359"/>
              <a:chExt cx="172" cy="192"/>
            </a:xfrm>
          </p:grpSpPr>
          <p:sp>
            <p:nvSpPr>
              <p:cNvPr id="180" name="Oval 307"/>
              <p:cNvSpPr>
                <a:spLocks noChangeArrowheads="1"/>
              </p:cNvSpPr>
              <p:nvPr/>
            </p:nvSpPr>
            <p:spPr bwMode="auto">
              <a:xfrm>
                <a:off x="2019" y="241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1" name="Rectangle 308"/>
              <p:cNvSpPr>
                <a:spLocks noChangeArrowheads="1"/>
              </p:cNvSpPr>
              <p:nvPr/>
            </p:nvSpPr>
            <p:spPr bwMode="auto">
              <a:xfrm>
                <a:off x="1979" y="235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53" name="Group 309"/>
            <p:cNvGrpSpPr/>
            <p:nvPr/>
          </p:nvGrpSpPr>
          <p:grpSpPr bwMode="auto">
            <a:xfrm>
              <a:off x="4394" y="1494"/>
              <a:ext cx="172" cy="192"/>
              <a:chOff x="1802" y="2179"/>
              <a:chExt cx="172" cy="192"/>
            </a:xfrm>
          </p:grpSpPr>
          <p:sp>
            <p:nvSpPr>
              <p:cNvPr id="178" name="Oval 310"/>
              <p:cNvSpPr>
                <a:spLocks noChangeArrowheads="1"/>
              </p:cNvSpPr>
              <p:nvPr/>
            </p:nvSpPr>
            <p:spPr bwMode="auto">
              <a:xfrm>
                <a:off x="1842" y="223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9" name="Rectangle 311"/>
              <p:cNvSpPr>
                <a:spLocks noChangeArrowheads="1"/>
              </p:cNvSpPr>
              <p:nvPr/>
            </p:nvSpPr>
            <p:spPr bwMode="auto">
              <a:xfrm>
                <a:off x="1802" y="217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54" name="Group 312"/>
            <p:cNvGrpSpPr/>
            <p:nvPr/>
          </p:nvGrpSpPr>
          <p:grpSpPr bwMode="auto">
            <a:xfrm>
              <a:off x="3698" y="1380"/>
              <a:ext cx="172" cy="192"/>
              <a:chOff x="1103" y="2059"/>
              <a:chExt cx="172" cy="192"/>
            </a:xfrm>
          </p:grpSpPr>
          <p:sp>
            <p:nvSpPr>
              <p:cNvPr id="176" name="Oval 313"/>
              <p:cNvSpPr>
                <a:spLocks noChangeArrowheads="1"/>
              </p:cNvSpPr>
              <p:nvPr/>
            </p:nvSpPr>
            <p:spPr bwMode="auto">
              <a:xfrm>
                <a:off x="1143" y="211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7" name="Rectangle 314"/>
              <p:cNvSpPr>
                <a:spLocks noChangeArrowheads="1"/>
              </p:cNvSpPr>
              <p:nvPr/>
            </p:nvSpPr>
            <p:spPr bwMode="auto">
              <a:xfrm>
                <a:off x="1103" y="205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55" name="Group 315"/>
            <p:cNvGrpSpPr/>
            <p:nvPr/>
          </p:nvGrpSpPr>
          <p:grpSpPr bwMode="auto">
            <a:xfrm>
              <a:off x="3467" y="1494"/>
              <a:ext cx="172" cy="192"/>
              <a:chOff x="866" y="2173"/>
              <a:chExt cx="172" cy="192"/>
            </a:xfrm>
          </p:grpSpPr>
          <p:sp>
            <p:nvSpPr>
              <p:cNvPr id="174" name="Oval 316"/>
              <p:cNvSpPr>
                <a:spLocks noChangeArrowheads="1"/>
              </p:cNvSpPr>
              <p:nvPr/>
            </p:nvSpPr>
            <p:spPr bwMode="auto">
              <a:xfrm>
                <a:off x="906" y="2229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5" name="Rectangle 317"/>
              <p:cNvSpPr>
                <a:spLocks noChangeArrowheads="1"/>
              </p:cNvSpPr>
              <p:nvPr/>
            </p:nvSpPr>
            <p:spPr bwMode="auto">
              <a:xfrm>
                <a:off x="866" y="2173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56" name="Group 318"/>
            <p:cNvGrpSpPr/>
            <p:nvPr/>
          </p:nvGrpSpPr>
          <p:grpSpPr bwMode="auto">
            <a:xfrm>
              <a:off x="4741" y="2148"/>
              <a:ext cx="172" cy="192"/>
              <a:chOff x="2122" y="2839"/>
              <a:chExt cx="172" cy="192"/>
            </a:xfrm>
          </p:grpSpPr>
          <p:sp>
            <p:nvSpPr>
              <p:cNvPr id="172" name="Oval 319"/>
              <p:cNvSpPr>
                <a:spLocks noChangeArrowheads="1"/>
              </p:cNvSpPr>
              <p:nvPr/>
            </p:nvSpPr>
            <p:spPr bwMode="auto">
              <a:xfrm>
                <a:off x="2162" y="289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3" name="Rectangle 320"/>
              <p:cNvSpPr>
                <a:spLocks noChangeArrowheads="1"/>
              </p:cNvSpPr>
              <p:nvPr/>
            </p:nvSpPr>
            <p:spPr bwMode="auto">
              <a:xfrm>
                <a:off x="2122" y="283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57" name="Group 321"/>
            <p:cNvGrpSpPr/>
            <p:nvPr/>
          </p:nvGrpSpPr>
          <p:grpSpPr bwMode="auto">
            <a:xfrm>
              <a:off x="3289" y="2613"/>
              <a:ext cx="172" cy="192"/>
              <a:chOff x="691" y="3307"/>
              <a:chExt cx="172" cy="192"/>
            </a:xfrm>
          </p:grpSpPr>
          <p:sp>
            <p:nvSpPr>
              <p:cNvPr id="170" name="Oval 322"/>
              <p:cNvSpPr>
                <a:spLocks noChangeArrowheads="1"/>
              </p:cNvSpPr>
              <p:nvPr/>
            </p:nvSpPr>
            <p:spPr bwMode="auto">
              <a:xfrm>
                <a:off x="731" y="3363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1" name="Rectangle 323"/>
              <p:cNvSpPr>
                <a:spLocks noChangeArrowheads="1"/>
              </p:cNvSpPr>
              <p:nvPr/>
            </p:nvSpPr>
            <p:spPr bwMode="auto">
              <a:xfrm>
                <a:off x="691" y="3307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58" name="Group 324"/>
            <p:cNvGrpSpPr/>
            <p:nvPr/>
          </p:nvGrpSpPr>
          <p:grpSpPr bwMode="auto">
            <a:xfrm>
              <a:off x="3455" y="2781"/>
              <a:ext cx="172" cy="192"/>
              <a:chOff x="863" y="3472"/>
              <a:chExt cx="172" cy="192"/>
            </a:xfrm>
          </p:grpSpPr>
          <p:sp>
            <p:nvSpPr>
              <p:cNvPr id="168" name="Oval 325"/>
              <p:cNvSpPr>
                <a:spLocks noChangeArrowheads="1"/>
              </p:cNvSpPr>
              <p:nvPr/>
            </p:nvSpPr>
            <p:spPr bwMode="auto">
              <a:xfrm>
                <a:off x="903" y="352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9" name="Rectangle 326"/>
              <p:cNvSpPr>
                <a:spLocks noChangeArrowheads="1"/>
              </p:cNvSpPr>
              <p:nvPr/>
            </p:nvSpPr>
            <p:spPr bwMode="auto">
              <a:xfrm>
                <a:off x="863" y="3472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59" name="Group 327"/>
            <p:cNvGrpSpPr/>
            <p:nvPr/>
          </p:nvGrpSpPr>
          <p:grpSpPr bwMode="auto">
            <a:xfrm>
              <a:off x="4583" y="2619"/>
              <a:ext cx="172" cy="192"/>
              <a:chOff x="1982" y="3286"/>
              <a:chExt cx="172" cy="192"/>
            </a:xfrm>
          </p:grpSpPr>
          <p:sp>
            <p:nvSpPr>
              <p:cNvPr id="166" name="Oval 328"/>
              <p:cNvSpPr>
                <a:spLocks noChangeArrowheads="1"/>
              </p:cNvSpPr>
              <p:nvPr/>
            </p:nvSpPr>
            <p:spPr bwMode="auto">
              <a:xfrm>
                <a:off x="2022" y="334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7" name="Rectangle 329"/>
              <p:cNvSpPr>
                <a:spLocks noChangeArrowheads="1"/>
              </p:cNvSpPr>
              <p:nvPr/>
            </p:nvSpPr>
            <p:spPr bwMode="auto">
              <a:xfrm>
                <a:off x="1982" y="3286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60" name="Group 330"/>
            <p:cNvGrpSpPr/>
            <p:nvPr/>
          </p:nvGrpSpPr>
          <p:grpSpPr bwMode="auto">
            <a:xfrm>
              <a:off x="4702" y="2394"/>
              <a:ext cx="172" cy="192"/>
              <a:chOff x="2083" y="3079"/>
              <a:chExt cx="172" cy="192"/>
            </a:xfrm>
          </p:grpSpPr>
          <p:sp>
            <p:nvSpPr>
              <p:cNvPr id="164" name="Oval 331"/>
              <p:cNvSpPr>
                <a:spLocks noChangeArrowheads="1"/>
              </p:cNvSpPr>
              <p:nvPr/>
            </p:nvSpPr>
            <p:spPr bwMode="auto">
              <a:xfrm>
                <a:off x="2123" y="313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5" name="Rectangle 332"/>
              <p:cNvSpPr>
                <a:spLocks noChangeArrowheads="1"/>
              </p:cNvSpPr>
              <p:nvPr/>
            </p:nvSpPr>
            <p:spPr bwMode="auto">
              <a:xfrm>
                <a:off x="2083" y="307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61" name="Group 333"/>
            <p:cNvGrpSpPr/>
            <p:nvPr/>
          </p:nvGrpSpPr>
          <p:grpSpPr bwMode="auto">
            <a:xfrm>
              <a:off x="4420" y="2790"/>
              <a:ext cx="172" cy="192"/>
              <a:chOff x="1822" y="3448"/>
              <a:chExt cx="172" cy="192"/>
            </a:xfrm>
          </p:grpSpPr>
          <p:sp>
            <p:nvSpPr>
              <p:cNvPr id="162" name="Oval 334"/>
              <p:cNvSpPr>
                <a:spLocks noChangeArrowheads="1"/>
              </p:cNvSpPr>
              <p:nvPr/>
            </p:nvSpPr>
            <p:spPr bwMode="auto">
              <a:xfrm>
                <a:off x="1862" y="350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3" name="Rectangle 335"/>
              <p:cNvSpPr>
                <a:spLocks noChangeArrowheads="1"/>
              </p:cNvSpPr>
              <p:nvPr/>
            </p:nvSpPr>
            <p:spPr bwMode="auto">
              <a:xfrm>
                <a:off x="1822" y="3448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62" name="Group 336"/>
            <p:cNvGrpSpPr/>
            <p:nvPr/>
          </p:nvGrpSpPr>
          <p:grpSpPr bwMode="auto">
            <a:xfrm>
              <a:off x="4202" y="2901"/>
              <a:ext cx="172" cy="192"/>
              <a:chOff x="1610" y="3568"/>
              <a:chExt cx="172" cy="192"/>
            </a:xfrm>
          </p:grpSpPr>
          <p:sp>
            <p:nvSpPr>
              <p:cNvPr id="160" name="Oval 337"/>
              <p:cNvSpPr>
                <a:spLocks noChangeArrowheads="1"/>
              </p:cNvSpPr>
              <p:nvPr/>
            </p:nvSpPr>
            <p:spPr bwMode="auto">
              <a:xfrm>
                <a:off x="1650" y="362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1" name="Rectangle 338"/>
              <p:cNvSpPr>
                <a:spLocks noChangeArrowheads="1"/>
              </p:cNvSpPr>
              <p:nvPr/>
            </p:nvSpPr>
            <p:spPr bwMode="auto">
              <a:xfrm>
                <a:off x="1610" y="3568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63" name="Group 339"/>
            <p:cNvGrpSpPr/>
            <p:nvPr/>
          </p:nvGrpSpPr>
          <p:grpSpPr bwMode="auto">
            <a:xfrm>
              <a:off x="3473" y="1896"/>
              <a:ext cx="164" cy="288"/>
              <a:chOff x="950" y="2608"/>
              <a:chExt cx="164" cy="288"/>
            </a:xfrm>
          </p:grpSpPr>
          <p:sp>
            <p:nvSpPr>
              <p:cNvPr id="158" name="Oval 340"/>
              <p:cNvSpPr>
                <a:spLocks noChangeArrowheads="1"/>
              </p:cNvSpPr>
              <p:nvPr/>
            </p:nvSpPr>
            <p:spPr bwMode="auto">
              <a:xfrm>
                <a:off x="986" y="275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9" name="Rectangle 341"/>
              <p:cNvSpPr>
                <a:spLocks noChangeArrowheads="1"/>
              </p:cNvSpPr>
              <p:nvPr/>
            </p:nvSpPr>
            <p:spPr bwMode="auto">
              <a:xfrm>
                <a:off x="950" y="2608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4" name="Group 342"/>
            <p:cNvGrpSpPr/>
            <p:nvPr/>
          </p:nvGrpSpPr>
          <p:grpSpPr bwMode="auto">
            <a:xfrm>
              <a:off x="3546" y="1766"/>
              <a:ext cx="164" cy="288"/>
              <a:chOff x="1014" y="2497"/>
              <a:chExt cx="164" cy="288"/>
            </a:xfrm>
          </p:grpSpPr>
          <p:sp>
            <p:nvSpPr>
              <p:cNvPr id="156" name="Oval 343"/>
              <p:cNvSpPr>
                <a:spLocks noChangeArrowheads="1"/>
              </p:cNvSpPr>
              <p:nvPr/>
            </p:nvSpPr>
            <p:spPr bwMode="auto">
              <a:xfrm>
                <a:off x="1050" y="264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" name="Rectangle 344"/>
              <p:cNvSpPr>
                <a:spLocks noChangeArrowheads="1"/>
              </p:cNvSpPr>
              <p:nvPr/>
            </p:nvSpPr>
            <p:spPr bwMode="auto">
              <a:xfrm>
                <a:off x="1014" y="2497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5" name="Group 345"/>
            <p:cNvGrpSpPr/>
            <p:nvPr/>
          </p:nvGrpSpPr>
          <p:grpSpPr bwMode="auto">
            <a:xfrm>
              <a:off x="3659" y="1655"/>
              <a:ext cx="164" cy="288"/>
              <a:chOff x="1106" y="2407"/>
              <a:chExt cx="164" cy="288"/>
            </a:xfrm>
          </p:grpSpPr>
          <p:sp>
            <p:nvSpPr>
              <p:cNvPr id="154" name="Oval 346"/>
              <p:cNvSpPr>
                <a:spLocks noChangeArrowheads="1"/>
              </p:cNvSpPr>
              <p:nvPr/>
            </p:nvSpPr>
            <p:spPr bwMode="auto">
              <a:xfrm>
                <a:off x="1142" y="255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" name="Rectangle 347"/>
              <p:cNvSpPr>
                <a:spLocks noChangeArrowheads="1"/>
              </p:cNvSpPr>
              <p:nvPr/>
            </p:nvSpPr>
            <p:spPr bwMode="auto">
              <a:xfrm>
                <a:off x="1106" y="2407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6" name="Group 348"/>
            <p:cNvGrpSpPr/>
            <p:nvPr/>
          </p:nvGrpSpPr>
          <p:grpSpPr bwMode="auto">
            <a:xfrm>
              <a:off x="3476" y="2211"/>
              <a:ext cx="164" cy="288"/>
              <a:chOff x="950" y="2869"/>
              <a:chExt cx="164" cy="288"/>
            </a:xfrm>
          </p:grpSpPr>
          <p:sp>
            <p:nvSpPr>
              <p:cNvPr id="152" name="Oval 349"/>
              <p:cNvSpPr>
                <a:spLocks noChangeArrowheads="1"/>
              </p:cNvSpPr>
              <p:nvPr/>
            </p:nvSpPr>
            <p:spPr bwMode="auto">
              <a:xfrm>
                <a:off x="986" y="3017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" name="Rectangle 350"/>
              <p:cNvSpPr>
                <a:spLocks noChangeArrowheads="1"/>
              </p:cNvSpPr>
              <p:nvPr/>
            </p:nvSpPr>
            <p:spPr bwMode="auto">
              <a:xfrm>
                <a:off x="950" y="2869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7" name="Group 351"/>
            <p:cNvGrpSpPr/>
            <p:nvPr/>
          </p:nvGrpSpPr>
          <p:grpSpPr bwMode="auto">
            <a:xfrm>
              <a:off x="3942" y="2543"/>
              <a:ext cx="164" cy="288"/>
              <a:chOff x="1353" y="3139"/>
              <a:chExt cx="164" cy="288"/>
            </a:xfrm>
          </p:grpSpPr>
          <p:sp>
            <p:nvSpPr>
              <p:cNvPr id="150" name="Oval 352"/>
              <p:cNvSpPr>
                <a:spLocks noChangeArrowheads="1"/>
              </p:cNvSpPr>
              <p:nvPr/>
            </p:nvSpPr>
            <p:spPr bwMode="auto">
              <a:xfrm>
                <a:off x="1389" y="3287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1" name="Rectangle 353"/>
              <p:cNvSpPr>
                <a:spLocks noChangeArrowheads="1"/>
              </p:cNvSpPr>
              <p:nvPr/>
            </p:nvSpPr>
            <p:spPr bwMode="auto">
              <a:xfrm>
                <a:off x="1353" y="3139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8" name="Group 354"/>
            <p:cNvGrpSpPr/>
            <p:nvPr/>
          </p:nvGrpSpPr>
          <p:grpSpPr bwMode="auto">
            <a:xfrm>
              <a:off x="3668" y="2462"/>
              <a:ext cx="164" cy="288"/>
              <a:chOff x="1106" y="3073"/>
              <a:chExt cx="164" cy="288"/>
            </a:xfrm>
          </p:grpSpPr>
          <p:sp>
            <p:nvSpPr>
              <p:cNvPr id="148" name="Oval 355"/>
              <p:cNvSpPr>
                <a:spLocks noChangeArrowheads="1"/>
              </p:cNvSpPr>
              <p:nvPr/>
            </p:nvSpPr>
            <p:spPr bwMode="auto">
              <a:xfrm>
                <a:off x="1142" y="3221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9" name="Rectangle 356"/>
              <p:cNvSpPr>
                <a:spLocks noChangeArrowheads="1"/>
              </p:cNvSpPr>
              <p:nvPr/>
            </p:nvSpPr>
            <p:spPr bwMode="auto">
              <a:xfrm>
                <a:off x="1106" y="3073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9" name="Group 357"/>
            <p:cNvGrpSpPr/>
            <p:nvPr/>
          </p:nvGrpSpPr>
          <p:grpSpPr bwMode="auto">
            <a:xfrm>
              <a:off x="4344" y="2336"/>
              <a:ext cx="164" cy="288"/>
              <a:chOff x="1665" y="2971"/>
              <a:chExt cx="164" cy="288"/>
            </a:xfrm>
          </p:grpSpPr>
          <p:sp>
            <p:nvSpPr>
              <p:cNvPr id="146" name="Oval 358"/>
              <p:cNvSpPr>
                <a:spLocks noChangeArrowheads="1"/>
              </p:cNvSpPr>
              <p:nvPr/>
            </p:nvSpPr>
            <p:spPr bwMode="auto">
              <a:xfrm>
                <a:off x="1701" y="3119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7" name="Rectangle 359"/>
              <p:cNvSpPr>
                <a:spLocks noChangeArrowheads="1"/>
              </p:cNvSpPr>
              <p:nvPr/>
            </p:nvSpPr>
            <p:spPr bwMode="auto">
              <a:xfrm>
                <a:off x="1665" y="2971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0" name="Group 360"/>
            <p:cNvGrpSpPr/>
            <p:nvPr/>
          </p:nvGrpSpPr>
          <p:grpSpPr bwMode="auto">
            <a:xfrm>
              <a:off x="4230" y="2450"/>
              <a:ext cx="164" cy="288"/>
              <a:chOff x="1581" y="3055"/>
              <a:chExt cx="164" cy="288"/>
            </a:xfrm>
          </p:grpSpPr>
          <p:sp>
            <p:nvSpPr>
              <p:cNvPr id="144" name="Oval 361"/>
              <p:cNvSpPr>
                <a:spLocks noChangeArrowheads="1"/>
              </p:cNvSpPr>
              <p:nvPr/>
            </p:nvSpPr>
            <p:spPr bwMode="auto">
              <a:xfrm>
                <a:off x="1617" y="3203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" name="Rectangle 362"/>
              <p:cNvSpPr>
                <a:spLocks noChangeArrowheads="1"/>
              </p:cNvSpPr>
              <p:nvPr/>
            </p:nvSpPr>
            <p:spPr bwMode="auto">
              <a:xfrm>
                <a:off x="1581" y="3055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1" name="Group 363"/>
            <p:cNvGrpSpPr/>
            <p:nvPr/>
          </p:nvGrpSpPr>
          <p:grpSpPr bwMode="auto">
            <a:xfrm>
              <a:off x="4095" y="2522"/>
              <a:ext cx="164" cy="288"/>
              <a:chOff x="1473" y="3121"/>
              <a:chExt cx="164" cy="288"/>
            </a:xfrm>
          </p:grpSpPr>
          <p:sp>
            <p:nvSpPr>
              <p:cNvPr id="142" name="Oval 364"/>
              <p:cNvSpPr>
                <a:spLocks noChangeArrowheads="1"/>
              </p:cNvSpPr>
              <p:nvPr/>
            </p:nvSpPr>
            <p:spPr bwMode="auto">
              <a:xfrm>
                <a:off x="1509" y="3269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" name="Rectangle 365"/>
              <p:cNvSpPr>
                <a:spLocks noChangeArrowheads="1"/>
              </p:cNvSpPr>
              <p:nvPr/>
            </p:nvSpPr>
            <p:spPr bwMode="auto">
              <a:xfrm>
                <a:off x="1473" y="3121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2" name="Group 366"/>
            <p:cNvGrpSpPr/>
            <p:nvPr/>
          </p:nvGrpSpPr>
          <p:grpSpPr bwMode="auto">
            <a:xfrm>
              <a:off x="3554" y="2351"/>
              <a:ext cx="164" cy="288"/>
              <a:chOff x="1013" y="2980"/>
              <a:chExt cx="164" cy="288"/>
            </a:xfrm>
          </p:grpSpPr>
          <p:sp>
            <p:nvSpPr>
              <p:cNvPr id="140" name="Oval 367"/>
              <p:cNvSpPr>
                <a:spLocks noChangeArrowheads="1"/>
              </p:cNvSpPr>
              <p:nvPr/>
            </p:nvSpPr>
            <p:spPr bwMode="auto">
              <a:xfrm>
                <a:off x="1049" y="312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1" name="Rectangle 368"/>
              <p:cNvSpPr>
                <a:spLocks noChangeArrowheads="1"/>
              </p:cNvSpPr>
              <p:nvPr/>
            </p:nvSpPr>
            <p:spPr bwMode="auto">
              <a:xfrm>
                <a:off x="1013" y="2980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3" name="Group 369"/>
            <p:cNvGrpSpPr/>
            <p:nvPr/>
          </p:nvGrpSpPr>
          <p:grpSpPr bwMode="auto">
            <a:xfrm>
              <a:off x="4335" y="1760"/>
              <a:ext cx="164" cy="288"/>
              <a:chOff x="1659" y="2500"/>
              <a:chExt cx="164" cy="288"/>
            </a:xfrm>
          </p:grpSpPr>
          <p:sp>
            <p:nvSpPr>
              <p:cNvPr id="138" name="Oval 370"/>
              <p:cNvSpPr>
                <a:spLocks noChangeArrowheads="1"/>
              </p:cNvSpPr>
              <p:nvPr/>
            </p:nvSpPr>
            <p:spPr bwMode="auto">
              <a:xfrm>
                <a:off x="1695" y="264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9" name="Rectangle 371"/>
              <p:cNvSpPr>
                <a:spLocks noChangeArrowheads="1"/>
              </p:cNvSpPr>
              <p:nvPr/>
            </p:nvSpPr>
            <p:spPr bwMode="auto">
              <a:xfrm>
                <a:off x="1659" y="2500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4" name="Group 372"/>
            <p:cNvGrpSpPr/>
            <p:nvPr/>
          </p:nvGrpSpPr>
          <p:grpSpPr bwMode="auto">
            <a:xfrm>
              <a:off x="4218" y="1649"/>
              <a:ext cx="164" cy="288"/>
              <a:chOff x="1574" y="2413"/>
              <a:chExt cx="164" cy="288"/>
            </a:xfrm>
          </p:grpSpPr>
          <p:sp>
            <p:nvSpPr>
              <p:cNvPr id="136" name="Oval 373"/>
              <p:cNvSpPr>
                <a:spLocks noChangeArrowheads="1"/>
              </p:cNvSpPr>
              <p:nvPr/>
            </p:nvSpPr>
            <p:spPr bwMode="auto">
              <a:xfrm>
                <a:off x="1610" y="2561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7" name="Rectangle 374"/>
              <p:cNvSpPr>
                <a:spLocks noChangeArrowheads="1"/>
              </p:cNvSpPr>
              <p:nvPr/>
            </p:nvSpPr>
            <p:spPr bwMode="auto">
              <a:xfrm>
                <a:off x="1574" y="2413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5" name="Group 375"/>
            <p:cNvGrpSpPr/>
            <p:nvPr/>
          </p:nvGrpSpPr>
          <p:grpSpPr bwMode="auto">
            <a:xfrm>
              <a:off x="3944" y="1565"/>
              <a:ext cx="164" cy="288"/>
              <a:chOff x="1349" y="2332"/>
              <a:chExt cx="164" cy="288"/>
            </a:xfrm>
          </p:grpSpPr>
          <p:sp>
            <p:nvSpPr>
              <p:cNvPr id="134" name="Oval 376"/>
              <p:cNvSpPr>
                <a:spLocks noChangeArrowheads="1"/>
              </p:cNvSpPr>
              <p:nvPr/>
            </p:nvSpPr>
            <p:spPr bwMode="auto">
              <a:xfrm>
                <a:off x="1385" y="2480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" name="Rectangle 377"/>
              <p:cNvSpPr>
                <a:spLocks noChangeArrowheads="1"/>
              </p:cNvSpPr>
              <p:nvPr/>
            </p:nvSpPr>
            <p:spPr bwMode="auto">
              <a:xfrm>
                <a:off x="1349" y="2332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6" name="Group 378"/>
            <p:cNvGrpSpPr/>
            <p:nvPr/>
          </p:nvGrpSpPr>
          <p:grpSpPr bwMode="auto">
            <a:xfrm>
              <a:off x="4089" y="1586"/>
              <a:ext cx="164" cy="288"/>
              <a:chOff x="1466" y="2359"/>
              <a:chExt cx="164" cy="288"/>
            </a:xfrm>
          </p:grpSpPr>
          <p:sp>
            <p:nvSpPr>
              <p:cNvPr id="132" name="Oval 379"/>
              <p:cNvSpPr>
                <a:spLocks noChangeArrowheads="1"/>
              </p:cNvSpPr>
              <p:nvPr/>
            </p:nvSpPr>
            <p:spPr bwMode="auto">
              <a:xfrm>
                <a:off x="1502" y="2507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" name="Rectangle 380"/>
              <p:cNvSpPr>
                <a:spLocks noChangeArrowheads="1"/>
              </p:cNvSpPr>
              <p:nvPr/>
            </p:nvSpPr>
            <p:spPr bwMode="auto">
              <a:xfrm>
                <a:off x="1466" y="2359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7" name="Group 381"/>
            <p:cNvGrpSpPr/>
            <p:nvPr/>
          </p:nvGrpSpPr>
          <p:grpSpPr bwMode="auto">
            <a:xfrm>
              <a:off x="3798" y="1589"/>
              <a:ext cx="164" cy="288"/>
              <a:chOff x="1224" y="2350"/>
              <a:chExt cx="164" cy="288"/>
            </a:xfrm>
          </p:grpSpPr>
          <p:sp>
            <p:nvSpPr>
              <p:cNvPr id="130" name="Oval 382"/>
              <p:cNvSpPr>
                <a:spLocks noChangeArrowheads="1"/>
              </p:cNvSpPr>
              <p:nvPr/>
            </p:nvSpPr>
            <p:spPr bwMode="auto">
              <a:xfrm>
                <a:off x="1260" y="249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" name="Rectangle 383"/>
              <p:cNvSpPr>
                <a:spLocks noChangeArrowheads="1"/>
              </p:cNvSpPr>
              <p:nvPr/>
            </p:nvSpPr>
            <p:spPr bwMode="auto">
              <a:xfrm>
                <a:off x="1224" y="2350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8" name="Group 384"/>
            <p:cNvGrpSpPr/>
            <p:nvPr/>
          </p:nvGrpSpPr>
          <p:grpSpPr bwMode="auto">
            <a:xfrm>
              <a:off x="4410" y="2202"/>
              <a:ext cx="164" cy="288"/>
              <a:chOff x="1719" y="2863"/>
              <a:chExt cx="164" cy="288"/>
            </a:xfrm>
          </p:grpSpPr>
          <p:sp>
            <p:nvSpPr>
              <p:cNvPr id="128" name="Oval 385"/>
              <p:cNvSpPr>
                <a:spLocks noChangeArrowheads="1"/>
              </p:cNvSpPr>
              <p:nvPr/>
            </p:nvSpPr>
            <p:spPr bwMode="auto">
              <a:xfrm>
                <a:off x="1755" y="3011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" name="Rectangle 386"/>
              <p:cNvSpPr>
                <a:spLocks noChangeArrowheads="1"/>
              </p:cNvSpPr>
              <p:nvPr/>
            </p:nvSpPr>
            <p:spPr bwMode="auto">
              <a:xfrm>
                <a:off x="1719" y="2863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9" name="Group 387"/>
            <p:cNvGrpSpPr/>
            <p:nvPr/>
          </p:nvGrpSpPr>
          <p:grpSpPr bwMode="auto">
            <a:xfrm>
              <a:off x="4431" y="2055"/>
              <a:ext cx="164" cy="288"/>
              <a:chOff x="1737" y="2743"/>
              <a:chExt cx="164" cy="288"/>
            </a:xfrm>
          </p:grpSpPr>
          <p:sp>
            <p:nvSpPr>
              <p:cNvPr id="126" name="Oval 388"/>
              <p:cNvSpPr>
                <a:spLocks noChangeArrowheads="1"/>
              </p:cNvSpPr>
              <p:nvPr/>
            </p:nvSpPr>
            <p:spPr bwMode="auto">
              <a:xfrm>
                <a:off x="1773" y="2891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" name="Rectangle 389"/>
              <p:cNvSpPr>
                <a:spLocks noChangeArrowheads="1"/>
              </p:cNvSpPr>
              <p:nvPr/>
            </p:nvSpPr>
            <p:spPr bwMode="auto">
              <a:xfrm>
                <a:off x="1737" y="2743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0" name="Group 390"/>
            <p:cNvGrpSpPr/>
            <p:nvPr/>
          </p:nvGrpSpPr>
          <p:grpSpPr bwMode="auto">
            <a:xfrm>
              <a:off x="4407" y="1898"/>
              <a:ext cx="164" cy="288"/>
              <a:chOff x="1719" y="2620"/>
              <a:chExt cx="164" cy="288"/>
            </a:xfrm>
          </p:grpSpPr>
          <p:sp>
            <p:nvSpPr>
              <p:cNvPr id="124" name="Oval 391"/>
              <p:cNvSpPr>
                <a:spLocks noChangeArrowheads="1"/>
              </p:cNvSpPr>
              <p:nvPr/>
            </p:nvSpPr>
            <p:spPr bwMode="auto">
              <a:xfrm>
                <a:off x="1755" y="276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5" name="Rectangle 392"/>
              <p:cNvSpPr>
                <a:spLocks noChangeArrowheads="1"/>
              </p:cNvSpPr>
              <p:nvPr/>
            </p:nvSpPr>
            <p:spPr bwMode="auto">
              <a:xfrm>
                <a:off x="1719" y="2620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1" name="Line 393"/>
            <p:cNvSpPr>
              <a:spLocks noChangeShapeType="1"/>
            </p:cNvSpPr>
            <p:nvPr/>
          </p:nvSpPr>
          <p:spPr bwMode="auto">
            <a:xfrm flipV="1">
              <a:off x="2928" y="2253"/>
              <a:ext cx="2156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Rectangle 394"/>
            <p:cNvSpPr>
              <a:spLocks noChangeArrowheads="1"/>
            </p:cNvSpPr>
            <p:nvPr/>
          </p:nvSpPr>
          <p:spPr bwMode="auto">
            <a:xfrm>
              <a:off x="4978" y="2208"/>
              <a:ext cx="16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>
                  <a:latin typeface="Times New Roman" panose="02020603050405020304" pitchFamily="18" charset="0"/>
                </a:rPr>
                <a:t>x</a:t>
              </a:r>
              <a:endParaRPr lang="en-US" altLang="zh-CN" sz="1400" i="1">
                <a:latin typeface="Times New Roman" panose="02020603050405020304" pitchFamily="18" charset="0"/>
              </a:endParaRPr>
            </a:p>
          </p:txBody>
        </p:sp>
        <p:sp>
          <p:nvSpPr>
            <p:cNvPr id="83" name="Line 395"/>
            <p:cNvSpPr>
              <a:spLocks noChangeShapeType="1"/>
            </p:cNvSpPr>
            <p:nvPr/>
          </p:nvSpPr>
          <p:spPr bwMode="auto">
            <a:xfrm flipV="1">
              <a:off x="4025" y="1211"/>
              <a:ext cx="4" cy="19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Rectangle 396"/>
            <p:cNvSpPr>
              <a:spLocks noChangeArrowheads="1"/>
            </p:cNvSpPr>
            <p:nvPr/>
          </p:nvSpPr>
          <p:spPr bwMode="auto">
            <a:xfrm>
              <a:off x="4040" y="1152"/>
              <a:ext cx="16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>
                  <a:latin typeface="Times New Roman" panose="02020603050405020304" pitchFamily="18" charset="0"/>
                </a:rPr>
                <a:t>y</a:t>
              </a:r>
              <a:endParaRPr lang="en-US" altLang="zh-CN" sz="1400" i="1">
                <a:latin typeface="Times New Roman" panose="02020603050405020304" pitchFamily="18" charset="0"/>
              </a:endParaRPr>
            </a:p>
          </p:txBody>
        </p:sp>
        <p:grpSp>
          <p:nvGrpSpPr>
            <p:cNvPr id="85" name="Group 397"/>
            <p:cNvGrpSpPr/>
            <p:nvPr/>
          </p:nvGrpSpPr>
          <p:grpSpPr bwMode="auto">
            <a:xfrm>
              <a:off x="3803" y="2528"/>
              <a:ext cx="164" cy="288"/>
              <a:chOff x="1226" y="3127"/>
              <a:chExt cx="164" cy="288"/>
            </a:xfrm>
          </p:grpSpPr>
          <p:sp>
            <p:nvSpPr>
              <p:cNvPr id="122" name="Oval 398"/>
              <p:cNvSpPr>
                <a:spLocks noChangeArrowheads="1"/>
              </p:cNvSpPr>
              <p:nvPr/>
            </p:nvSpPr>
            <p:spPr bwMode="auto">
              <a:xfrm>
                <a:off x="1262" y="327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" name="Rectangle 399"/>
              <p:cNvSpPr>
                <a:spLocks noChangeArrowheads="1"/>
              </p:cNvSpPr>
              <p:nvPr/>
            </p:nvSpPr>
            <p:spPr bwMode="auto">
              <a:xfrm>
                <a:off x="1226" y="3127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6" name="Group 400"/>
            <p:cNvGrpSpPr/>
            <p:nvPr/>
          </p:nvGrpSpPr>
          <p:grpSpPr bwMode="auto">
            <a:xfrm>
              <a:off x="3680" y="2904"/>
              <a:ext cx="172" cy="192"/>
              <a:chOff x="1091" y="3583"/>
              <a:chExt cx="172" cy="192"/>
            </a:xfrm>
          </p:grpSpPr>
          <p:sp>
            <p:nvSpPr>
              <p:cNvPr id="120" name="Oval 401"/>
              <p:cNvSpPr>
                <a:spLocks noChangeArrowheads="1"/>
              </p:cNvSpPr>
              <p:nvPr/>
            </p:nvSpPr>
            <p:spPr bwMode="auto">
              <a:xfrm>
                <a:off x="1131" y="3639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1" name="Rectangle 402"/>
              <p:cNvSpPr>
                <a:spLocks noChangeArrowheads="1"/>
              </p:cNvSpPr>
              <p:nvPr/>
            </p:nvSpPr>
            <p:spPr bwMode="auto">
              <a:xfrm>
                <a:off x="1091" y="3583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sp>
          <p:nvSpPr>
            <p:cNvPr id="87" name="Rectangle 404"/>
            <p:cNvSpPr>
              <a:spLocks noChangeArrowheads="1"/>
            </p:cNvSpPr>
            <p:nvPr/>
          </p:nvSpPr>
          <p:spPr bwMode="auto">
            <a:xfrm>
              <a:off x="3656" y="2291"/>
              <a:ext cx="1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>
                  <a:latin typeface="Times New Roman" panose="02020603050405020304" pitchFamily="18" charset="0"/>
                </a:rPr>
                <a:t>I</a:t>
              </a:r>
              <a:endParaRPr lang="en-US" altLang="zh-CN" sz="1400" i="1">
                <a:latin typeface="Times New Roman" panose="02020603050405020304" pitchFamily="18" charset="0"/>
              </a:endParaRPr>
            </a:p>
          </p:txBody>
        </p:sp>
        <p:sp>
          <p:nvSpPr>
            <p:cNvPr id="88" name="Oval 405"/>
            <p:cNvSpPr>
              <a:spLocks noChangeArrowheads="1"/>
            </p:cNvSpPr>
            <p:nvPr/>
          </p:nvSpPr>
          <p:spPr bwMode="auto">
            <a:xfrm>
              <a:off x="3377" y="1601"/>
              <a:ext cx="1296" cy="1296"/>
            </a:xfrm>
            <a:prstGeom prst="ellipse">
              <a:avLst/>
            </a:prstGeom>
            <a:noFill/>
            <a:ln w="19050">
              <a:solidFill>
                <a:srgbClr val="2453E8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89" name="Line 406"/>
            <p:cNvSpPr>
              <a:spLocks noChangeShapeType="1"/>
            </p:cNvSpPr>
            <p:nvPr/>
          </p:nvSpPr>
          <p:spPr bwMode="auto">
            <a:xfrm flipH="1" flipV="1">
              <a:off x="4568" y="1889"/>
              <a:ext cx="48" cy="96"/>
            </a:xfrm>
            <a:prstGeom prst="line">
              <a:avLst/>
            </a:prstGeom>
            <a:noFill/>
            <a:ln w="19050">
              <a:solidFill>
                <a:srgbClr val="2453E8"/>
              </a:solidFill>
              <a:round/>
              <a:tailEnd type="stealth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Line 407"/>
            <p:cNvSpPr>
              <a:spLocks noChangeShapeType="1"/>
            </p:cNvSpPr>
            <p:nvPr/>
          </p:nvSpPr>
          <p:spPr bwMode="auto">
            <a:xfrm>
              <a:off x="3500" y="2627"/>
              <a:ext cx="89" cy="100"/>
            </a:xfrm>
            <a:prstGeom prst="line">
              <a:avLst/>
            </a:prstGeom>
            <a:noFill/>
            <a:ln w="19050">
              <a:solidFill>
                <a:srgbClr val="2453E8"/>
              </a:solidFill>
              <a:round/>
              <a:tailEnd type="stealth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408"/>
            <p:cNvSpPr>
              <a:spLocks noChangeShapeType="1"/>
            </p:cNvSpPr>
            <p:nvPr/>
          </p:nvSpPr>
          <p:spPr bwMode="auto">
            <a:xfrm flipH="1">
              <a:off x="3560" y="1688"/>
              <a:ext cx="133" cy="102"/>
            </a:xfrm>
            <a:prstGeom prst="line">
              <a:avLst/>
            </a:prstGeom>
            <a:noFill/>
            <a:ln w="19050">
              <a:solidFill>
                <a:srgbClr val="2453E8"/>
              </a:solidFill>
              <a:round/>
              <a:tailEnd type="stealth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409"/>
            <p:cNvSpPr>
              <a:spLocks noChangeShapeType="1"/>
            </p:cNvSpPr>
            <p:nvPr/>
          </p:nvSpPr>
          <p:spPr bwMode="auto">
            <a:xfrm flipV="1">
              <a:off x="4446" y="2645"/>
              <a:ext cx="92" cy="99"/>
            </a:xfrm>
            <a:prstGeom prst="line">
              <a:avLst/>
            </a:prstGeom>
            <a:noFill/>
            <a:ln w="19050">
              <a:solidFill>
                <a:srgbClr val="2453E8"/>
              </a:solidFill>
              <a:round/>
              <a:tailEnd type="stealth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Rectangle 410"/>
            <p:cNvSpPr>
              <a:spLocks noChangeArrowheads="1"/>
            </p:cNvSpPr>
            <p:nvPr/>
          </p:nvSpPr>
          <p:spPr bwMode="auto">
            <a:xfrm>
              <a:off x="3846" y="1463"/>
              <a:ext cx="20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solidFill>
                    <a:srgbClr val="2453E8"/>
                  </a:solidFill>
                  <a:latin typeface="Times New Roman" panose="02020603050405020304" pitchFamily="18" charset="0"/>
                </a:rPr>
                <a:t>H</a:t>
              </a:r>
              <a:endParaRPr lang="en-US" altLang="zh-CN" sz="1400" b="1">
                <a:solidFill>
                  <a:srgbClr val="2453E8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4" name="Rectangle 411"/>
            <p:cNvSpPr>
              <a:spLocks noChangeArrowheads="1"/>
            </p:cNvSpPr>
            <p:nvPr/>
          </p:nvSpPr>
          <p:spPr bwMode="auto">
            <a:xfrm>
              <a:off x="4626" y="2081"/>
              <a:ext cx="1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>
                  <a:solidFill>
                    <a:srgbClr val="CC006B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1400" i="1">
                <a:solidFill>
                  <a:srgbClr val="CC006B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5" name="Line 559"/>
            <p:cNvSpPr>
              <a:spLocks noChangeShapeType="1"/>
            </p:cNvSpPr>
            <p:nvPr/>
          </p:nvSpPr>
          <p:spPr bwMode="auto">
            <a:xfrm>
              <a:off x="4022" y="2257"/>
              <a:ext cx="395" cy="373"/>
            </a:xfrm>
            <a:prstGeom prst="line">
              <a:avLst/>
            </a:prstGeom>
            <a:noFill/>
            <a:ln w="19050">
              <a:solidFill>
                <a:srgbClr val="FF148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560"/>
            <p:cNvSpPr>
              <a:spLocks noChangeShapeType="1"/>
            </p:cNvSpPr>
            <p:nvPr/>
          </p:nvSpPr>
          <p:spPr bwMode="auto">
            <a:xfrm>
              <a:off x="4025" y="2257"/>
              <a:ext cx="335" cy="656"/>
            </a:xfrm>
            <a:prstGeom prst="line">
              <a:avLst/>
            </a:prstGeom>
            <a:noFill/>
            <a:ln w="19050">
              <a:solidFill>
                <a:srgbClr val="FF5C2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Rectangle 561"/>
            <p:cNvSpPr>
              <a:spLocks noChangeArrowheads="1"/>
            </p:cNvSpPr>
            <p:nvPr/>
          </p:nvSpPr>
          <p:spPr bwMode="auto">
            <a:xfrm>
              <a:off x="4183" y="2292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a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98" name="Rectangle 562"/>
            <p:cNvSpPr>
              <a:spLocks noChangeArrowheads="1"/>
            </p:cNvSpPr>
            <p:nvPr/>
          </p:nvSpPr>
          <p:spPr bwMode="auto">
            <a:xfrm>
              <a:off x="4026" y="2472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b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99" name="Line 556"/>
            <p:cNvSpPr>
              <a:spLocks noChangeShapeType="1"/>
            </p:cNvSpPr>
            <p:nvPr/>
          </p:nvSpPr>
          <p:spPr bwMode="auto">
            <a:xfrm>
              <a:off x="3386" y="3396"/>
              <a:ext cx="1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Line 557"/>
            <p:cNvSpPr>
              <a:spLocks noChangeShapeType="1"/>
            </p:cNvSpPr>
            <p:nvPr/>
          </p:nvSpPr>
          <p:spPr bwMode="auto">
            <a:xfrm>
              <a:off x="3385" y="3594"/>
              <a:ext cx="1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Rectangle 563" descr="Light downward diagonal"/>
            <p:cNvSpPr>
              <a:spLocks noChangeArrowheads="1"/>
            </p:cNvSpPr>
            <p:nvPr/>
          </p:nvSpPr>
          <p:spPr bwMode="auto">
            <a:xfrm>
              <a:off x="3282" y="3394"/>
              <a:ext cx="199" cy="200"/>
            </a:xfrm>
            <a:prstGeom prst="rect">
              <a:avLst/>
            </a:prstGeom>
            <a:pattFill prst="ltDnDiag">
              <a:fgClr>
                <a:schemeClr val="tx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02" name="Rectangle 564" descr="Light downward diagonal"/>
            <p:cNvSpPr>
              <a:spLocks noChangeArrowheads="1"/>
            </p:cNvSpPr>
            <p:nvPr/>
          </p:nvSpPr>
          <p:spPr bwMode="auto">
            <a:xfrm>
              <a:off x="4574" y="3394"/>
              <a:ext cx="199" cy="200"/>
            </a:xfrm>
            <a:prstGeom prst="rect">
              <a:avLst/>
            </a:prstGeom>
            <a:pattFill prst="ltDnDiag">
              <a:fgClr>
                <a:schemeClr val="tx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03" name="Line 567"/>
            <p:cNvSpPr>
              <a:spLocks noChangeShapeType="1"/>
            </p:cNvSpPr>
            <p:nvPr/>
          </p:nvSpPr>
          <p:spPr bwMode="auto">
            <a:xfrm>
              <a:off x="3483" y="2256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" name="Line 568"/>
            <p:cNvSpPr>
              <a:spLocks noChangeShapeType="1"/>
            </p:cNvSpPr>
            <p:nvPr/>
          </p:nvSpPr>
          <p:spPr bwMode="auto">
            <a:xfrm>
              <a:off x="3285" y="2256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Line 569"/>
            <p:cNvSpPr>
              <a:spLocks noChangeShapeType="1"/>
            </p:cNvSpPr>
            <p:nvPr/>
          </p:nvSpPr>
          <p:spPr bwMode="auto">
            <a:xfrm>
              <a:off x="4776" y="2256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" name="Line 570"/>
            <p:cNvSpPr>
              <a:spLocks noChangeShapeType="1"/>
            </p:cNvSpPr>
            <p:nvPr/>
          </p:nvSpPr>
          <p:spPr bwMode="auto">
            <a:xfrm>
              <a:off x="4575" y="2253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" name="Line 572"/>
            <p:cNvSpPr>
              <a:spLocks noChangeShapeType="1"/>
            </p:cNvSpPr>
            <p:nvPr/>
          </p:nvSpPr>
          <p:spPr bwMode="auto">
            <a:xfrm>
              <a:off x="4026" y="3750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" name="Line 573"/>
            <p:cNvSpPr>
              <a:spLocks noChangeShapeType="1"/>
            </p:cNvSpPr>
            <p:nvPr/>
          </p:nvSpPr>
          <p:spPr bwMode="auto">
            <a:xfrm>
              <a:off x="4026" y="3261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09" name="Picture 57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7" y="3673"/>
              <a:ext cx="13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10" name="Line 575"/>
            <p:cNvSpPr>
              <a:spLocks noChangeShapeType="1"/>
            </p:cNvSpPr>
            <p:nvPr/>
          </p:nvSpPr>
          <p:spPr bwMode="auto">
            <a:xfrm>
              <a:off x="4575" y="370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" name="Line 576"/>
            <p:cNvSpPr>
              <a:spLocks noChangeShapeType="1"/>
            </p:cNvSpPr>
            <p:nvPr/>
          </p:nvSpPr>
          <p:spPr bwMode="auto">
            <a:xfrm>
              <a:off x="4773" y="3705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" name="Rectangle 577"/>
            <p:cNvSpPr>
              <a:spLocks noChangeArrowheads="1"/>
            </p:cNvSpPr>
            <p:nvPr/>
          </p:nvSpPr>
          <p:spPr bwMode="auto">
            <a:xfrm>
              <a:off x="4494" y="3762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a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113" name="Rectangle 578"/>
            <p:cNvSpPr>
              <a:spLocks noChangeArrowheads="1"/>
            </p:cNvSpPr>
            <p:nvPr/>
          </p:nvSpPr>
          <p:spPr bwMode="auto">
            <a:xfrm>
              <a:off x="4683" y="3771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b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114" name="Rectangle 579"/>
            <p:cNvSpPr>
              <a:spLocks noChangeArrowheads="1"/>
            </p:cNvSpPr>
            <p:nvPr/>
          </p:nvSpPr>
          <p:spPr bwMode="auto">
            <a:xfrm>
              <a:off x="2991" y="3385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h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115" name="AutoShape 580"/>
            <p:cNvSpPr/>
            <p:nvPr/>
          </p:nvSpPr>
          <p:spPr bwMode="auto">
            <a:xfrm>
              <a:off x="3159" y="3400"/>
              <a:ext cx="96" cy="190"/>
            </a:xfrm>
            <a:prstGeom prst="leftBrace">
              <a:avLst>
                <a:gd name="adj1" fmla="val 1649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16" name="Rectangle 582"/>
            <p:cNvSpPr>
              <a:spLocks noChangeArrowheads="1"/>
            </p:cNvSpPr>
            <p:nvPr/>
          </p:nvSpPr>
          <p:spPr bwMode="auto">
            <a:xfrm>
              <a:off x="4880" y="1401"/>
              <a:ext cx="5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N turns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17" name="Line 583"/>
            <p:cNvSpPr>
              <a:spLocks noChangeShapeType="1"/>
            </p:cNvSpPr>
            <p:nvPr/>
          </p:nvSpPr>
          <p:spPr bwMode="auto">
            <a:xfrm flipH="1">
              <a:off x="4560" y="1536"/>
              <a:ext cx="28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" name="Line 584"/>
            <p:cNvSpPr>
              <a:spLocks noChangeShapeType="1"/>
            </p:cNvSpPr>
            <p:nvPr/>
          </p:nvSpPr>
          <p:spPr bwMode="auto">
            <a:xfrm flipH="1">
              <a:off x="4752" y="1632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19" name="Picture 58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06" y="2073"/>
              <a:ext cx="230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18" name="Rectangle 589"/>
          <p:cNvSpPr>
            <a:spLocks noChangeArrowheads="1"/>
          </p:cNvSpPr>
          <p:nvPr/>
        </p:nvSpPr>
        <p:spPr bwMode="auto">
          <a:xfrm>
            <a:off x="381000" y="1676400"/>
            <a:ext cx="458330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To see how reluctance is used, consider 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this example, involving 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a toroid of rectangular</a:t>
            </a:r>
            <a:endParaRPr lang="en-US" altLang="zh-CN" sz="180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cross-section</a:t>
            </a:r>
            <a:r>
              <a:rPr lang="en-US" altLang="zh-CN" sz="1800" dirty="0">
                <a:latin typeface="Times New Roman" panose="02020603050405020304" pitchFamily="18" charset="0"/>
              </a:rPr>
              <a:t>, in which the inner and outer radii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satisfy the 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condition 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- 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a &lt;&lt; b</a:t>
            </a:r>
            <a:r>
              <a:rPr lang="en-US" altLang="zh-CN" sz="1800" i="1" dirty="0">
                <a:latin typeface="Times New Roman" panose="02020603050405020304" pitchFamily="18" charset="0"/>
              </a:rPr>
              <a:t>.  </a:t>
            </a:r>
            <a:r>
              <a:rPr lang="en-US" altLang="zh-CN" sz="1800" dirty="0">
                <a:latin typeface="Times New Roman" panose="02020603050405020304" pitchFamily="18" charset="0"/>
              </a:rPr>
              <a:t> 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sp>
        <p:nvSpPr>
          <p:cNvPr id="26" name="Rectangle 590"/>
          <p:cNvSpPr>
            <a:spLocks noChangeArrowheads="1"/>
          </p:cNvSpPr>
          <p:nvPr/>
        </p:nvSpPr>
        <p:spPr bwMode="auto">
          <a:xfrm>
            <a:off x="369888" y="2994467"/>
            <a:ext cx="31353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In this case, we can approximate the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reluctance as:</a:t>
            </a:r>
            <a:endParaRPr lang="en-US" altLang="zh-CN" sz="1600" dirty="0">
              <a:latin typeface="Times New Roman" panose="02020603050405020304" pitchFamily="18" charset="0"/>
            </a:endParaRPr>
          </a:p>
        </p:txBody>
      </p:sp>
      <p:grpSp>
        <p:nvGrpSpPr>
          <p:cNvPr id="27" name="Group 596"/>
          <p:cNvGrpSpPr/>
          <p:nvPr/>
        </p:nvGrpSpPr>
        <p:grpSpPr bwMode="auto">
          <a:xfrm>
            <a:off x="808038" y="3581400"/>
            <a:ext cx="2697163" cy="787400"/>
            <a:chOff x="557" y="2336"/>
            <a:chExt cx="1699" cy="496"/>
          </a:xfrm>
        </p:grpSpPr>
        <p:pic>
          <p:nvPicPr>
            <p:cNvPr id="36" name="Picture 58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7" y="2467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37" name="Picture 591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0" y="2336"/>
              <a:ext cx="1496" cy="4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28" name="Group 601"/>
          <p:cNvGrpSpPr/>
          <p:nvPr/>
        </p:nvGrpSpPr>
        <p:grpSpPr bwMode="auto">
          <a:xfrm>
            <a:off x="304800" y="4648200"/>
            <a:ext cx="3692525" cy="996950"/>
            <a:chOff x="192" y="2928"/>
            <a:chExt cx="2326" cy="628"/>
          </a:xfrm>
        </p:grpSpPr>
        <p:pic>
          <p:nvPicPr>
            <p:cNvPr id="33" name="Picture 59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2928"/>
              <a:ext cx="2326" cy="6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35" name="Picture 59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2" y="3255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pic>
        <p:nvPicPr>
          <p:cNvPr id="30" name="Picture 59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867400"/>
            <a:ext cx="3573463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1" name="Rectangle 598"/>
          <p:cNvSpPr>
            <a:spLocks noChangeArrowheads="1"/>
          </p:cNvSpPr>
          <p:nvPr/>
        </p:nvSpPr>
        <p:spPr bwMode="auto">
          <a:xfrm>
            <a:off x="400050" y="4373563"/>
            <a:ext cx="1962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so that the flux becomes:</a:t>
            </a:r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2" name="Rectangle 599"/>
          <p:cNvSpPr>
            <a:spLocks noChangeArrowheads="1"/>
          </p:cNvSpPr>
          <p:nvPr/>
        </p:nvSpPr>
        <p:spPr bwMode="auto">
          <a:xfrm>
            <a:off x="373063" y="5537200"/>
            <a:ext cx="1087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..and finally:</a:t>
            </a:r>
            <a:endParaRPr lang="en-US" altLang="zh-CN" sz="1400">
              <a:latin typeface="Times New Roman" panose="02020603050405020304" pitchFamily="18" charset="0"/>
            </a:endParaRPr>
          </a:p>
        </p:txBody>
      </p:sp>
      <p:pic>
        <p:nvPicPr>
          <p:cNvPr id="200" name="Picture 3" descr="C:\Users\dpcuser\Desktop\About Teaching\工程电磁场\Instructor Notes\Lecture 12\toroid-ccw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00" y="4083050"/>
            <a:ext cx="1115621" cy="113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Two Ways of Finding 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H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7" name="Group 587"/>
          <p:cNvGrpSpPr/>
          <p:nvPr/>
        </p:nvGrpSpPr>
        <p:grpSpPr bwMode="auto">
          <a:xfrm>
            <a:off x="4848225" y="1600200"/>
            <a:ext cx="3962400" cy="4494213"/>
            <a:chOff x="2928" y="1152"/>
            <a:chExt cx="2496" cy="2831"/>
          </a:xfrm>
        </p:grpSpPr>
        <p:sp>
          <p:nvSpPr>
            <p:cNvPr id="38" name="Oval 273"/>
            <p:cNvSpPr>
              <a:spLocks noChangeArrowheads="1"/>
            </p:cNvSpPr>
            <p:nvPr/>
          </p:nvSpPr>
          <p:spPr bwMode="auto">
            <a:xfrm>
              <a:off x="3401" y="1625"/>
              <a:ext cx="1248" cy="1248"/>
            </a:xfrm>
            <a:prstGeom prst="ellipse">
              <a:avLst/>
            </a:prstGeom>
            <a:noFill/>
            <a:ln w="19050">
              <a:solidFill>
                <a:srgbClr val="D43C8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39" name="Line 274"/>
            <p:cNvSpPr>
              <a:spLocks noChangeShapeType="1"/>
            </p:cNvSpPr>
            <p:nvPr/>
          </p:nvSpPr>
          <p:spPr bwMode="auto">
            <a:xfrm flipV="1">
              <a:off x="4026" y="1795"/>
              <a:ext cx="430" cy="459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0" name="Group 276"/>
            <p:cNvGrpSpPr/>
            <p:nvPr/>
          </p:nvGrpSpPr>
          <p:grpSpPr bwMode="auto">
            <a:xfrm>
              <a:off x="3449" y="2058"/>
              <a:ext cx="164" cy="288"/>
              <a:chOff x="932" y="2743"/>
              <a:chExt cx="164" cy="288"/>
            </a:xfrm>
          </p:grpSpPr>
          <p:sp>
            <p:nvSpPr>
              <p:cNvPr id="198" name="Oval 277"/>
              <p:cNvSpPr>
                <a:spLocks noChangeArrowheads="1"/>
              </p:cNvSpPr>
              <p:nvPr/>
            </p:nvSpPr>
            <p:spPr bwMode="auto">
              <a:xfrm>
                <a:off x="968" y="2891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9" name="Rectangle 278"/>
              <p:cNvSpPr>
                <a:spLocks noChangeArrowheads="1"/>
              </p:cNvSpPr>
              <p:nvPr/>
            </p:nvSpPr>
            <p:spPr bwMode="auto">
              <a:xfrm>
                <a:off x="932" y="2743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1" name="Oval 280"/>
            <p:cNvSpPr>
              <a:spLocks noChangeAspect="1" noChangeArrowheads="1"/>
            </p:cNvSpPr>
            <p:nvPr/>
          </p:nvSpPr>
          <p:spPr bwMode="auto">
            <a:xfrm>
              <a:off x="3479" y="1703"/>
              <a:ext cx="1094" cy="109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42" name="Oval 281"/>
            <p:cNvSpPr>
              <a:spLocks noChangeArrowheads="1"/>
            </p:cNvSpPr>
            <p:nvPr/>
          </p:nvSpPr>
          <p:spPr bwMode="auto">
            <a:xfrm>
              <a:off x="3284" y="1506"/>
              <a:ext cx="1488" cy="14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44" name="Group 282"/>
            <p:cNvGrpSpPr/>
            <p:nvPr/>
          </p:nvGrpSpPr>
          <p:grpSpPr bwMode="auto">
            <a:xfrm>
              <a:off x="3181" y="1896"/>
              <a:ext cx="172" cy="192"/>
              <a:chOff x="568" y="2590"/>
              <a:chExt cx="172" cy="192"/>
            </a:xfrm>
          </p:grpSpPr>
          <p:sp>
            <p:nvSpPr>
              <p:cNvPr id="196" name="Oval 283"/>
              <p:cNvSpPr>
                <a:spLocks noChangeArrowheads="1"/>
              </p:cNvSpPr>
              <p:nvPr/>
            </p:nvSpPr>
            <p:spPr bwMode="auto">
              <a:xfrm>
                <a:off x="608" y="264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7" name="Rectangle 284"/>
              <p:cNvSpPr>
                <a:spLocks noChangeArrowheads="1"/>
              </p:cNvSpPr>
              <p:nvPr/>
            </p:nvSpPr>
            <p:spPr bwMode="auto">
              <a:xfrm>
                <a:off x="568" y="2590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CC006B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45" name="Group 285"/>
            <p:cNvGrpSpPr/>
            <p:nvPr/>
          </p:nvGrpSpPr>
          <p:grpSpPr bwMode="auto">
            <a:xfrm>
              <a:off x="3137" y="2151"/>
              <a:ext cx="172" cy="192"/>
              <a:chOff x="533" y="2833"/>
              <a:chExt cx="172" cy="192"/>
            </a:xfrm>
          </p:grpSpPr>
          <p:sp>
            <p:nvSpPr>
              <p:cNvPr id="194" name="Oval 286"/>
              <p:cNvSpPr>
                <a:spLocks noChangeArrowheads="1"/>
              </p:cNvSpPr>
              <p:nvPr/>
            </p:nvSpPr>
            <p:spPr bwMode="auto">
              <a:xfrm>
                <a:off x="573" y="2889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" name="Rectangle 287"/>
              <p:cNvSpPr>
                <a:spLocks noChangeArrowheads="1"/>
              </p:cNvSpPr>
              <p:nvPr/>
            </p:nvSpPr>
            <p:spPr bwMode="auto">
              <a:xfrm>
                <a:off x="533" y="2833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46" name="Group 288"/>
            <p:cNvGrpSpPr/>
            <p:nvPr/>
          </p:nvGrpSpPr>
          <p:grpSpPr bwMode="auto">
            <a:xfrm>
              <a:off x="3181" y="2397"/>
              <a:ext cx="172" cy="192"/>
              <a:chOff x="577" y="3079"/>
              <a:chExt cx="172" cy="192"/>
            </a:xfrm>
          </p:grpSpPr>
          <p:sp>
            <p:nvSpPr>
              <p:cNvPr id="192" name="Oval 289"/>
              <p:cNvSpPr>
                <a:spLocks noChangeArrowheads="1"/>
              </p:cNvSpPr>
              <p:nvPr/>
            </p:nvSpPr>
            <p:spPr bwMode="auto">
              <a:xfrm>
                <a:off x="617" y="313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3" name="Rectangle 290"/>
              <p:cNvSpPr>
                <a:spLocks noChangeArrowheads="1"/>
              </p:cNvSpPr>
              <p:nvPr/>
            </p:nvSpPr>
            <p:spPr bwMode="auto">
              <a:xfrm>
                <a:off x="577" y="307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47" name="Group 291"/>
            <p:cNvGrpSpPr/>
            <p:nvPr/>
          </p:nvGrpSpPr>
          <p:grpSpPr bwMode="auto">
            <a:xfrm>
              <a:off x="3938" y="2949"/>
              <a:ext cx="172" cy="192"/>
              <a:chOff x="1349" y="3613"/>
              <a:chExt cx="172" cy="192"/>
            </a:xfrm>
          </p:grpSpPr>
          <p:sp>
            <p:nvSpPr>
              <p:cNvPr id="190" name="Oval 292"/>
              <p:cNvSpPr>
                <a:spLocks noChangeArrowheads="1"/>
              </p:cNvSpPr>
              <p:nvPr/>
            </p:nvSpPr>
            <p:spPr bwMode="auto">
              <a:xfrm>
                <a:off x="1389" y="3669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1" name="Rectangle 293"/>
              <p:cNvSpPr>
                <a:spLocks noChangeArrowheads="1"/>
              </p:cNvSpPr>
              <p:nvPr/>
            </p:nvSpPr>
            <p:spPr bwMode="auto">
              <a:xfrm>
                <a:off x="1349" y="3613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48" name="Group 294"/>
            <p:cNvGrpSpPr/>
            <p:nvPr/>
          </p:nvGrpSpPr>
          <p:grpSpPr bwMode="auto">
            <a:xfrm>
              <a:off x="3295" y="1674"/>
              <a:ext cx="172" cy="192"/>
              <a:chOff x="682" y="2359"/>
              <a:chExt cx="172" cy="192"/>
            </a:xfrm>
          </p:grpSpPr>
          <p:sp>
            <p:nvSpPr>
              <p:cNvPr id="188" name="Oval 295"/>
              <p:cNvSpPr>
                <a:spLocks noChangeArrowheads="1"/>
              </p:cNvSpPr>
              <p:nvPr/>
            </p:nvSpPr>
            <p:spPr bwMode="auto">
              <a:xfrm>
                <a:off x="722" y="241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9" name="Rectangle 296"/>
              <p:cNvSpPr>
                <a:spLocks noChangeArrowheads="1"/>
              </p:cNvSpPr>
              <p:nvPr/>
            </p:nvSpPr>
            <p:spPr bwMode="auto">
              <a:xfrm>
                <a:off x="682" y="235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49" name="Group 297"/>
            <p:cNvGrpSpPr/>
            <p:nvPr/>
          </p:nvGrpSpPr>
          <p:grpSpPr bwMode="auto">
            <a:xfrm>
              <a:off x="3943" y="1338"/>
              <a:ext cx="172" cy="192"/>
              <a:chOff x="1351" y="2023"/>
              <a:chExt cx="172" cy="192"/>
            </a:xfrm>
          </p:grpSpPr>
          <p:sp>
            <p:nvSpPr>
              <p:cNvPr id="186" name="Oval 298"/>
              <p:cNvSpPr>
                <a:spLocks noChangeArrowheads="1"/>
              </p:cNvSpPr>
              <p:nvPr/>
            </p:nvSpPr>
            <p:spPr bwMode="auto">
              <a:xfrm>
                <a:off x="1391" y="2079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7" name="Rectangle 299"/>
              <p:cNvSpPr>
                <a:spLocks noChangeArrowheads="1"/>
              </p:cNvSpPr>
              <p:nvPr/>
            </p:nvSpPr>
            <p:spPr bwMode="auto">
              <a:xfrm>
                <a:off x="1351" y="2023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50" name="Group 300"/>
            <p:cNvGrpSpPr/>
            <p:nvPr/>
          </p:nvGrpSpPr>
          <p:grpSpPr bwMode="auto">
            <a:xfrm>
              <a:off x="4184" y="1383"/>
              <a:ext cx="172" cy="192"/>
              <a:chOff x="1592" y="2068"/>
              <a:chExt cx="172" cy="192"/>
            </a:xfrm>
          </p:grpSpPr>
          <p:sp>
            <p:nvSpPr>
              <p:cNvPr id="184" name="Oval 301"/>
              <p:cNvSpPr>
                <a:spLocks noChangeArrowheads="1"/>
              </p:cNvSpPr>
              <p:nvPr/>
            </p:nvSpPr>
            <p:spPr bwMode="auto">
              <a:xfrm>
                <a:off x="1632" y="212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" name="Rectangle 302"/>
              <p:cNvSpPr>
                <a:spLocks noChangeArrowheads="1"/>
              </p:cNvSpPr>
              <p:nvPr/>
            </p:nvSpPr>
            <p:spPr bwMode="auto">
              <a:xfrm>
                <a:off x="1592" y="2068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51" name="Group 303"/>
            <p:cNvGrpSpPr/>
            <p:nvPr/>
          </p:nvGrpSpPr>
          <p:grpSpPr bwMode="auto">
            <a:xfrm>
              <a:off x="4697" y="1893"/>
              <a:ext cx="172" cy="192"/>
              <a:chOff x="2093" y="2584"/>
              <a:chExt cx="172" cy="192"/>
            </a:xfrm>
          </p:grpSpPr>
          <p:sp>
            <p:nvSpPr>
              <p:cNvPr id="182" name="Oval 304"/>
              <p:cNvSpPr>
                <a:spLocks noChangeArrowheads="1"/>
              </p:cNvSpPr>
              <p:nvPr/>
            </p:nvSpPr>
            <p:spPr bwMode="auto">
              <a:xfrm>
                <a:off x="2133" y="2640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3" name="Rectangle 305"/>
              <p:cNvSpPr>
                <a:spLocks noChangeArrowheads="1"/>
              </p:cNvSpPr>
              <p:nvPr/>
            </p:nvSpPr>
            <p:spPr bwMode="auto">
              <a:xfrm>
                <a:off x="2093" y="2584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52" name="Group 306"/>
            <p:cNvGrpSpPr/>
            <p:nvPr/>
          </p:nvGrpSpPr>
          <p:grpSpPr bwMode="auto">
            <a:xfrm>
              <a:off x="4571" y="1674"/>
              <a:ext cx="172" cy="192"/>
              <a:chOff x="1979" y="2359"/>
              <a:chExt cx="172" cy="192"/>
            </a:xfrm>
          </p:grpSpPr>
          <p:sp>
            <p:nvSpPr>
              <p:cNvPr id="180" name="Oval 307"/>
              <p:cNvSpPr>
                <a:spLocks noChangeArrowheads="1"/>
              </p:cNvSpPr>
              <p:nvPr/>
            </p:nvSpPr>
            <p:spPr bwMode="auto">
              <a:xfrm>
                <a:off x="2019" y="241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1" name="Rectangle 308"/>
              <p:cNvSpPr>
                <a:spLocks noChangeArrowheads="1"/>
              </p:cNvSpPr>
              <p:nvPr/>
            </p:nvSpPr>
            <p:spPr bwMode="auto">
              <a:xfrm>
                <a:off x="1979" y="235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53" name="Group 309"/>
            <p:cNvGrpSpPr/>
            <p:nvPr/>
          </p:nvGrpSpPr>
          <p:grpSpPr bwMode="auto">
            <a:xfrm>
              <a:off x="4394" y="1494"/>
              <a:ext cx="172" cy="192"/>
              <a:chOff x="1802" y="2179"/>
              <a:chExt cx="172" cy="192"/>
            </a:xfrm>
          </p:grpSpPr>
          <p:sp>
            <p:nvSpPr>
              <p:cNvPr id="178" name="Oval 310"/>
              <p:cNvSpPr>
                <a:spLocks noChangeArrowheads="1"/>
              </p:cNvSpPr>
              <p:nvPr/>
            </p:nvSpPr>
            <p:spPr bwMode="auto">
              <a:xfrm>
                <a:off x="1842" y="223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9" name="Rectangle 311"/>
              <p:cNvSpPr>
                <a:spLocks noChangeArrowheads="1"/>
              </p:cNvSpPr>
              <p:nvPr/>
            </p:nvSpPr>
            <p:spPr bwMode="auto">
              <a:xfrm>
                <a:off x="1802" y="217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54" name="Group 312"/>
            <p:cNvGrpSpPr/>
            <p:nvPr/>
          </p:nvGrpSpPr>
          <p:grpSpPr bwMode="auto">
            <a:xfrm>
              <a:off x="3698" y="1380"/>
              <a:ext cx="172" cy="192"/>
              <a:chOff x="1103" y="2059"/>
              <a:chExt cx="172" cy="192"/>
            </a:xfrm>
          </p:grpSpPr>
          <p:sp>
            <p:nvSpPr>
              <p:cNvPr id="176" name="Oval 313"/>
              <p:cNvSpPr>
                <a:spLocks noChangeArrowheads="1"/>
              </p:cNvSpPr>
              <p:nvPr/>
            </p:nvSpPr>
            <p:spPr bwMode="auto">
              <a:xfrm>
                <a:off x="1143" y="211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7" name="Rectangle 314"/>
              <p:cNvSpPr>
                <a:spLocks noChangeArrowheads="1"/>
              </p:cNvSpPr>
              <p:nvPr/>
            </p:nvSpPr>
            <p:spPr bwMode="auto">
              <a:xfrm>
                <a:off x="1103" y="205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55" name="Group 315"/>
            <p:cNvGrpSpPr/>
            <p:nvPr/>
          </p:nvGrpSpPr>
          <p:grpSpPr bwMode="auto">
            <a:xfrm>
              <a:off x="3467" y="1494"/>
              <a:ext cx="172" cy="192"/>
              <a:chOff x="866" y="2173"/>
              <a:chExt cx="172" cy="192"/>
            </a:xfrm>
          </p:grpSpPr>
          <p:sp>
            <p:nvSpPr>
              <p:cNvPr id="174" name="Oval 316"/>
              <p:cNvSpPr>
                <a:spLocks noChangeArrowheads="1"/>
              </p:cNvSpPr>
              <p:nvPr/>
            </p:nvSpPr>
            <p:spPr bwMode="auto">
              <a:xfrm>
                <a:off x="906" y="2229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5" name="Rectangle 317"/>
              <p:cNvSpPr>
                <a:spLocks noChangeArrowheads="1"/>
              </p:cNvSpPr>
              <p:nvPr/>
            </p:nvSpPr>
            <p:spPr bwMode="auto">
              <a:xfrm>
                <a:off x="866" y="2173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56" name="Group 318"/>
            <p:cNvGrpSpPr/>
            <p:nvPr/>
          </p:nvGrpSpPr>
          <p:grpSpPr bwMode="auto">
            <a:xfrm>
              <a:off x="4741" y="2148"/>
              <a:ext cx="172" cy="192"/>
              <a:chOff x="2122" y="2839"/>
              <a:chExt cx="172" cy="192"/>
            </a:xfrm>
          </p:grpSpPr>
          <p:sp>
            <p:nvSpPr>
              <p:cNvPr id="172" name="Oval 319"/>
              <p:cNvSpPr>
                <a:spLocks noChangeArrowheads="1"/>
              </p:cNvSpPr>
              <p:nvPr/>
            </p:nvSpPr>
            <p:spPr bwMode="auto">
              <a:xfrm>
                <a:off x="2162" y="289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3" name="Rectangle 320"/>
              <p:cNvSpPr>
                <a:spLocks noChangeArrowheads="1"/>
              </p:cNvSpPr>
              <p:nvPr/>
            </p:nvSpPr>
            <p:spPr bwMode="auto">
              <a:xfrm>
                <a:off x="2122" y="283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57" name="Group 321"/>
            <p:cNvGrpSpPr/>
            <p:nvPr/>
          </p:nvGrpSpPr>
          <p:grpSpPr bwMode="auto">
            <a:xfrm>
              <a:off x="3289" y="2613"/>
              <a:ext cx="172" cy="192"/>
              <a:chOff x="691" y="3307"/>
              <a:chExt cx="172" cy="192"/>
            </a:xfrm>
          </p:grpSpPr>
          <p:sp>
            <p:nvSpPr>
              <p:cNvPr id="170" name="Oval 322"/>
              <p:cNvSpPr>
                <a:spLocks noChangeArrowheads="1"/>
              </p:cNvSpPr>
              <p:nvPr/>
            </p:nvSpPr>
            <p:spPr bwMode="auto">
              <a:xfrm>
                <a:off x="731" y="3363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1" name="Rectangle 323"/>
              <p:cNvSpPr>
                <a:spLocks noChangeArrowheads="1"/>
              </p:cNvSpPr>
              <p:nvPr/>
            </p:nvSpPr>
            <p:spPr bwMode="auto">
              <a:xfrm>
                <a:off x="691" y="3307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58" name="Group 324"/>
            <p:cNvGrpSpPr/>
            <p:nvPr/>
          </p:nvGrpSpPr>
          <p:grpSpPr bwMode="auto">
            <a:xfrm>
              <a:off x="3455" y="2781"/>
              <a:ext cx="172" cy="192"/>
              <a:chOff x="863" y="3472"/>
              <a:chExt cx="172" cy="192"/>
            </a:xfrm>
          </p:grpSpPr>
          <p:sp>
            <p:nvSpPr>
              <p:cNvPr id="168" name="Oval 325"/>
              <p:cNvSpPr>
                <a:spLocks noChangeArrowheads="1"/>
              </p:cNvSpPr>
              <p:nvPr/>
            </p:nvSpPr>
            <p:spPr bwMode="auto">
              <a:xfrm>
                <a:off x="903" y="352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9" name="Rectangle 326"/>
              <p:cNvSpPr>
                <a:spLocks noChangeArrowheads="1"/>
              </p:cNvSpPr>
              <p:nvPr/>
            </p:nvSpPr>
            <p:spPr bwMode="auto">
              <a:xfrm>
                <a:off x="863" y="3472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59" name="Group 327"/>
            <p:cNvGrpSpPr/>
            <p:nvPr/>
          </p:nvGrpSpPr>
          <p:grpSpPr bwMode="auto">
            <a:xfrm>
              <a:off x="4583" y="2619"/>
              <a:ext cx="172" cy="192"/>
              <a:chOff x="1982" y="3286"/>
              <a:chExt cx="172" cy="192"/>
            </a:xfrm>
          </p:grpSpPr>
          <p:sp>
            <p:nvSpPr>
              <p:cNvPr id="166" name="Oval 328"/>
              <p:cNvSpPr>
                <a:spLocks noChangeArrowheads="1"/>
              </p:cNvSpPr>
              <p:nvPr/>
            </p:nvSpPr>
            <p:spPr bwMode="auto">
              <a:xfrm>
                <a:off x="2022" y="334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7" name="Rectangle 329"/>
              <p:cNvSpPr>
                <a:spLocks noChangeArrowheads="1"/>
              </p:cNvSpPr>
              <p:nvPr/>
            </p:nvSpPr>
            <p:spPr bwMode="auto">
              <a:xfrm>
                <a:off x="1982" y="3286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60" name="Group 330"/>
            <p:cNvGrpSpPr/>
            <p:nvPr/>
          </p:nvGrpSpPr>
          <p:grpSpPr bwMode="auto">
            <a:xfrm>
              <a:off x="4702" y="2394"/>
              <a:ext cx="172" cy="192"/>
              <a:chOff x="2083" y="3079"/>
              <a:chExt cx="172" cy="192"/>
            </a:xfrm>
          </p:grpSpPr>
          <p:sp>
            <p:nvSpPr>
              <p:cNvPr id="164" name="Oval 331"/>
              <p:cNvSpPr>
                <a:spLocks noChangeArrowheads="1"/>
              </p:cNvSpPr>
              <p:nvPr/>
            </p:nvSpPr>
            <p:spPr bwMode="auto">
              <a:xfrm>
                <a:off x="2123" y="313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5" name="Rectangle 332"/>
              <p:cNvSpPr>
                <a:spLocks noChangeArrowheads="1"/>
              </p:cNvSpPr>
              <p:nvPr/>
            </p:nvSpPr>
            <p:spPr bwMode="auto">
              <a:xfrm>
                <a:off x="2083" y="307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61" name="Group 333"/>
            <p:cNvGrpSpPr/>
            <p:nvPr/>
          </p:nvGrpSpPr>
          <p:grpSpPr bwMode="auto">
            <a:xfrm>
              <a:off x="4420" y="2790"/>
              <a:ext cx="172" cy="192"/>
              <a:chOff x="1822" y="3448"/>
              <a:chExt cx="172" cy="192"/>
            </a:xfrm>
          </p:grpSpPr>
          <p:sp>
            <p:nvSpPr>
              <p:cNvPr id="162" name="Oval 334"/>
              <p:cNvSpPr>
                <a:spLocks noChangeArrowheads="1"/>
              </p:cNvSpPr>
              <p:nvPr/>
            </p:nvSpPr>
            <p:spPr bwMode="auto">
              <a:xfrm>
                <a:off x="1862" y="350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3" name="Rectangle 335"/>
              <p:cNvSpPr>
                <a:spLocks noChangeArrowheads="1"/>
              </p:cNvSpPr>
              <p:nvPr/>
            </p:nvSpPr>
            <p:spPr bwMode="auto">
              <a:xfrm>
                <a:off x="1822" y="3448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62" name="Group 336"/>
            <p:cNvGrpSpPr/>
            <p:nvPr/>
          </p:nvGrpSpPr>
          <p:grpSpPr bwMode="auto">
            <a:xfrm>
              <a:off x="4202" y="2901"/>
              <a:ext cx="172" cy="192"/>
              <a:chOff x="1610" y="3568"/>
              <a:chExt cx="172" cy="192"/>
            </a:xfrm>
          </p:grpSpPr>
          <p:sp>
            <p:nvSpPr>
              <p:cNvPr id="160" name="Oval 337"/>
              <p:cNvSpPr>
                <a:spLocks noChangeArrowheads="1"/>
              </p:cNvSpPr>
              <p:nvPr/>
            </p:nvSpPr>
            <p:spPr bwMode="auto">
              <a:xfrm>
                <a:off x="1650" y="362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1" name="Rectangle 338"/>
              <p:cNvSpPr>
                <a:spLocks noChangeArrowheads="1"/>
              </p:cNvSpPr>
              <p:nvPr/>
            </p:nvSpPr>
            <p:spPr bwMode="auto">
              <a:xfrm>
                <a:off x="1610" y="3568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63" name="Group 339"/>
            <p:cNvGrpSpPr/>
            <p:nvPr/>
          </p:nvGrpSpPr>
          <p:grpSpPr bwMode="auto">
            <a:xfrm>
              <a:off x="3473" y="1896"/>
              <a:ext cx="164" cy="288"/>
              <a:chOff x="950" y="2608"/>
              <a:chExt cx="164" cy="288"/>
            </a:xfrm>
          </p:grpSpPr>
          <p:sp>
            <p:nvSpPr>
              <p:cNvPr id="158" name="Oval 340"/>
              <p:cNvSpPr>
                <a:spLocks noChangeArrowheads="1"/>
              </p:cNvSpPr>
              <p:nvPr/>
            </p:nvSpPr>
            <p:spPr bwMode="auto">
              <a:xfrm>
                <a:off x="986" y="275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9" name="Rectangle 341"/>
              <p:cNvSpPr>
                <a:spLocks noChangeArrowheads="1"/>
              </p:cNvSpPr>
              <p:nvPr/>
            </p:nvSpPr>
            <p:spPr bwMode="auto">
              <a:xfrm>
                <a:off x="950" y="2608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4" name="Group 342"/>
            <p:cNvGrpSpPr/>
            <p:nvPr/>
          </p:nvGrpSpPr>
          <p:grpSpPr bwMode="auto">
            <a:xfrm>
              <a:off x="3546" y="1766"/>
              <a:ext cx="164" cy="288"/>
              <a:chOff x="1014" y="2497"/>
              <a:chExt cx="164" cy="288"/>
            </a:xfrm>
          </p:grpSpPr>
          <p:sp>
            <p:nvSpPr>
              <p:cNvPr id="156" name="Oval 343"/>
              <p:cNvSpPr>
                <a:spLocks noChangeArrowheads="1"/>
              </p:cNvSpPr>
              <p:nvPr/>
            </p:nvSpPr>
            <p:spPr bwMode="auto">
              <a:xfrm>
                <a:off x="1050" y="264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" name="Rectangle 344"/>
              <p:cNvSpPr>
                <a:spLocks noChangeArrowheads="1"/>
              </p:cNvSpPr>
              <p:nvPr/>
            </p:nvSpPr>
            <p:spPr bwMode="auto">
              <a:xfrm>
                <a:off x="1014" y="2497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5" name="Group 345"/>
            <p:cNvGrpSpPr/>
            <p:nvPr/>
          </p:nvGrpSpPr>
          <p:grpSpPr bwMode="auto">
            <a:xfrm>
              <a:off x="3659" y="1655"/>
              <a:ext cx="164" cy="288"/>
              <a:chOff x="1106" y="2407"/>
              <a:chExt cx="164" cy="288"/>
            </a:xfrm>
          </p:grpSpPr>
          <p:sp>
            <p:nvSpPr>
              <p:cNvPr id="154" name="Oval 346"/>
              <p:cNvSpPr>
                <a:spLocks noChangeArrowheads="1"/>
              </p:cNvSpPr>
              <p:nvPr/>
            </p:nvSpPr>
            <p:spPr bwMode="auto">
              <a:xfrm>
                <a:off x="1142" y="255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" name="Rectangle 347"/>
              <p:cNvSpPr>
                <a:spLocks noChangeArrowheads="1"/>
              </p:cNvSpPr>
              <p:nvPr/>
            </p:nvSpPr>
            <p:spPr bwMode="auto">
              <a:xfrm>
                <a:off x="1106" y="2407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6" name="Group 348"/>
            <p:cNvGrpSpPr/>
            <p:nvPr/>
          </p:nvGrpSpPr>
          <p:grpSpPr bwMode="auto">
            <a:xfrm>
              <a:off x="3476" y="2211"/>
              <a:ext cx="164" cy="288"/>
              <a:chOff x="950" y="2869"/>
              <a:chExt cx="164" cy="288"/>
            </a:xfrm>
          </p:grpSpPr>
          <p:sp>
            <p:nvSpPr>
              <p:cNvPr id="152" name="Oval 349"/>
              <p:cNvSpPr>
                <a:spLocks noChangeArrowheads="1"/>
              </p:cNvSpPr>
              <p:nvPr/>
            </p:nvSpPr>
            <p:spPr bwMode="auto">
              <a:xfrm>
                <a:off x="986" y="3017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" name="Rectangle 350"/>
              <p:cNvSpPr>
                <a:spLocks noChangeArrowheads="1"/>
              </p:cNvSpPr>
              <p:nvPr/>
            </p:nvSpPr>
            <p:spPr bwMode="auto">
              <a:xfrm>
                <a:off x="950" y="2869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7" name="Group 351"/>
            <p:cNvGrpSpPr/>
            <p:nvPr/>
          </p:nvGrpSpPr>
          <p:grpSpPr bwMode="auto">
            <a:xfrm>
              <a:off x="3942" y="2543"/>
              <a:ext cx="164" cy="288"/>
              <a:chOff x="1353" y="3139"/>
              <a:chExt cx="164" cy="288"/>
            </a:xfrm>
          </p:grpSpPr>
          <p:sp>
            <p:nvSpPr>
              <p:cNvPr id="150" name="Oval 352"/>
              <p:cNvSpPr>
                <a:spLocks noChangeArrowheads="1"/>
              </p:cNvSpPr>
              <p:nvPr/>
            </p:nvSpPr>
            <p:spPr bwMode="auto">
              <a:xfrm>
                <a:off x="1389" y="3287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1" name="Rectangle 353"/>
              <p:cNvSpPr>
                <a:spLocks noChangeArrowheads="1"/>
              </p:cNvSpPr>
              <p:nvPr/>
            </p:nvSpPr>
            <p:spPr bwMode="auto">
              <a:xfrm>
                <a:off x="1353" y="3139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8" name="Group 354"/>
            <p:cNvGrpSpPr/>
            <p:nvPr/>
          </p:nvGrpSpPr>
          <p:grpSpPr bwMode="auto">
            <a:xfrm>
              <a:off x="3668" y="2462"/>
              <a:ext cx="164" cy="288"/>
              <a:chOff x="1106" y="3073"/>
              <a:chExt cx="164" cy="288"/>
            </a:xfrm>
          </p:grpSpPr>
          <p:sp>
            <p:nvSpPr>
              <p:cNvPr id="148" name="Oval 355"/>
              <p:cNvSpPr>
                <a:spLocks noChangeArrowheads="1"/>
              </p:cNvSpPr>
              <p:nvPr/>
            </p:nvSpPr>
            <p:spPr bwMode="auto">
              <a:xfrm>
                <a:off x="1142" y="3221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9" name="Rectangle 356"/>
              <p:cNvSpPr>
                <a:spLocks noChangeArrowheads="1"/>
              </p:cNvSpPr>
              <p:nvPr/>
            </p:nvSpPr>
            <p:spPr bwMode="auto">
              <a:xfrm>
                <a:off x="1106" y="3073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9" name="Group 357"/>
            <p:cNvGrpSpPr/>
            <p:nvPr/>
          </p:nvGrpSpPr>
          <p:grpSpPr bwMode="auto">
            <a:xfrm>
              <a:off x="4344" y="2336"/>
              <a:ext cx="164" cy="288"/>
              <a:chOff x="1665" y="2971"/>
              <a:chExt cx="164" cy="288"/>
            </a:xfrm>
          </p:grpSpPr>
          <p:sp>
            <p:nvSpPr>
              <p:cNvPr id="146" name="Oval 358"/>
              <p:cNvSpPr>
                <a:spLocks noChangeArrowheads="1"/>
              </p:cNvSpPr>
              <p:nvPr/>
            </p:nvSpPr>
            <p:spPr bwMode="auto">
              <a:xfrm>
                <a:off x="1701" y="3119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7" name="Rectangle 359"/>
              <p:cNvSpPr>
                <a:spLocks noChangeArrowheads="1"/>
              </p:cNvSpPr>
              <p:nvPr/>
            </p:nvSpPr>
            <p:spPr bwMode="auto">
              <a:xfrm>
                <a:off x="1665" y="2971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0" name="Group 360"/>
            <p:cNvGrpSpPr/>
            <p:nvPr/>
          </p:nvGrpSpPr>
          <p:grpSpPr bwMode="auto">
            <a:xfrm>
              <a:off x="4230" y="2450"/>
              <a:ext cx="164" cy="288"/>
              <a:chOff x="1581" y="3055"/>
              <a:chExt cx="164" cy="288"/>
            </a:xfrm>
          </p:grpSpPr>
          <p:sp>
            <p:nvSpPr>
              <p:cNvPr id="144" name="Oval 361"/>
              <p:cNvSpPr>
                <a:spLocks noChangeArrowheads="1"/>
              </p:cNvSpPr>
              <p:nvPr/>
            </p:nvSpPr>
            <p:spPr bwMode="auto">
              <a:xfrm>
                <a:off x="1617" y="3203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" name="Rectangle 362"/>
              <p:cNvSpPr>
                <a:spLocks noChangeArrowheads="1"/>
              </p:cNvSpPr>
              <p:nvPr/>
            </p:nvSpPr>
            <p:spPr bwMode="auto">
              <a:xfrm>
                <a:off x="1581" y="3055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1" name="Group 363"/>
            <p:cNvGrpSpPr/>
            <p:nvPr/>
          </p:nvGrpSpPr>
          <p:grpSpPr bwMode="auto">
            <a:xfrm>
              <a:off x="4095" y="2522"/>
              <a:ext cx="164" cy="288"/>
              <a:chOff x="1473" y="3121"/>
              <a:chExt cx="164" cy="288"/>
            </a:xfrm>
          </p:grpSpPr>
          <p:sp>
            <p:nvSpPr>
              <p:cNvPr id="142" name="Oval 364"/>
              <p:cNvSpPr>
                <a:spLocks noChangeArrowheads="1"/>
              </p:cNvSpPr>
              <p:nvPr/>
            </p:nvSpPr>
            <p:spPr bwMode="auto">
              <a:xfrm>
                <a:off x="1509" y="3269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" name="Rectangle 365"/>
              <p:cNvSpPr>
                <a:spLocks noChangeArrowheads="1"/>
              </p:cNvSpPr>
              <p:nvPr/>
            </p:nvSpPr>
            <p:spPr bwMode="auto">
              <a:xfrm>
                <a:off x="1473" y="3121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2" name="Group 366"/>
            <p:cNvGrpSpPr/>
            <p:nvPr/>
          </p:nvGrpSpPr>
          <p:grpSpPr bwMode="auto">
            <a:xfrm>
              <a:off x="3554" y="2351"/>
              <a:ext cx="164" cy="288"/>
              <a:chOff x="1013" y="2980"/>
              <a:chExt cx="164" cy="288"/>
            </a:xfrm>
          </p:grpSpPr>
          <p:sp>
            <p:nvSpPr>
              <p:cNvPr id="140" name="Oval 367"/>
              <p:cNvSpPr>
                <a:spLocks noChangeArrowheads="1"/>
              </p:cNvSpPr>
              <p:nvPr/>
            </p:nvSpPr>
            <p:spPr bwMode="auto">
              <a:xfrm>
                <a:off x="1049" y="312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1" name="Rectangle 368"/>
              <p:cNvSpPr>
                <a:spLocks noChangeArrowheads="1"/>
              </p:cNvSpPr>
              <p:nvPr/>
            </p:nvSpPr>
            <p:spPr bwMode="auto">
              <a:xfrm>
                <a:off x="1013" y="2980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3" name="Group 369"/>
            <p:cNvGrpSpPr/>
            <p:nvPr/>
          </p:nvGrpSpPr>
          <p:grpSpPr bwMode="auto">
            <a:xfrm>
              <a:off x="4335" y="1760"/>
              <a:ext cx="164" cy="288"/>
              <a:chOff x="1659" y="2500"/>
              <a:chExt cx="164" cy="288"/>
            </a:xfrm>
          </p:grpSpPr>
          <p:sp>
            <p:nvSpPr>
              <p:cNvPr id="138" name="Oval 370"/>
              <p:cNvSpPr>
                <a:spLocks noChangeArrowheads="1"/>
              </p:cNvSpPr>
              <p:nvPr/>
            </p:nvSpPr>
            <p:spPr bwMode="auto">
              <a:xfrm>
                <a:off x="1695" y="264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9" name="Rectangle 371"/>
              <p:cNvSpPr>
                <a:spLocks noChangeArrowheads="1"/>
              </p:cNvSpPr>
              <p:nvPr/>
            </p:nvSpPr>
            <p:spPr bwMode="auto">
              <a:xfrm>
                <a:off x="1659" y="2500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4" name="Group 372"/>
            <p:cNvGrpSpPr/>
            <p:nvPr/>
          </p:nvGrpSpPr>
          <p:grpSpPr bwMode="auto">
            <a:xfrm>
              <a:off x="4218" y="1649"/>
              <a:ext cx="164" cy="288"/>
              <a:chOff x="1574" y="2413"/>
              <a:chExt cx="164" cy="288"/>
            </a:xfrm>
          </p:grpSpPr>
          <p:sp>
            <p:nvSpPr>
              <p:cNvPr id="136" name="Oval 373"/>
              <p:cNvSpPr>
                <a:spLocks noChangeArrowheads="1"/>
              </p:cNvSpPr>
              <p:nvPr/>
            </p:nvSpPr>
            <p:spPr bwMode="auto">
              <a:xfrm>
                <a:off x="1610" y="2561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7" name="Rectangle 374"/>
              <p:cNvSpPr>
                <a:spLocks noChangeArrowheads="1"/>
              </p:cNvSpPr>
              <p:nvPr/>
            </p:nvSpPr>
            <p:spPr bwMode="auto">
              <a:xfrm>
                <a:off x="1574" y="2413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5" name="Group 375"/>
            <p:cNvGrpSpPr/>
            <p:nvPr/>
          </p:nvGrpSpPr>
          <p:grpSpPr bwMode="auto">
            <a:xfrm>
              <a:off x="3944" y="1565"/>
              <a:ext cx="164" cy="288"/>
              <a:chOff x="1349" y="2332"/>
              <a:chExt cx="164" cy="288"/>
            </a:xfrm>
          </p:grpSpPr>
          <p:sp>
            <p:nvSpPr>
              <p:cNvPr id="134" name="Oval 376"/>
              <p:cNvSpPr>
                <a:spLocks noChangeArrowheads="1"/>
              </p:cNvSpPr>
              <p:nvPr/>
            </p:nvSpPr>
            <p:spPr bwMode="auto">
              <a:xfrm>
                <a:off x="1385" y="2480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" name="Rectangle 377"/>
              <p:cNvSpPr>
                <a:spLocks noChangeArrowheads="1"/>
              </p:cNvSpPr>
              <p:nvPr/>
            </p:nvSpPr>
            <p:spPr bwMode="auto">
              <a:xfrm>
                <a:off x="1349" y="2332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6" name="Group 378"/>
            <p:cNvGrpSpPr/>
            <p:nvPr/>
          </p:nvGrpSpPr>
          <p:grpSpPr bwMode="auto">
            <a:xfrm>
              <a:off x="4089" y="1586"/>
              <a:ext cx="164" cy="288"/>
              <a:chOff x="1466" y="2359"/>
              <a:chExt cx="164" cy="288"/>
            </a:xfrm>
          </p:grpSpPr>
          <p:sp>
            <p:nvSpPr>
              <p:cNvPr id="132" name="Oval 379"/>
              <p:cNvSpPr>
                <a:spLocks noChangeArrowheads="1"/>
              </p:cNvSpPr>
              <p:nvPr/>
            </p:nvSpPr>
            <p:spPr bwMode="auto">
              <a:xfrm>
                <a:off x="1502" y="2507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" name="Rectangle 380"/>
              <p:cNvSpPr>
                <a:spLocks noChangeArrowheads="1"/>
              </p:cNvSpPr>
              <p:nvPr/>
            </p:nvSpPr>
            <p:spPr bwMode="auto">
              <a:xfrm>
                <a:off x="1466" y="2359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7" name="Group 381"/>
            <p:cNvGrpSpPr/>
            <p:nvPr/>
          </p:nvGrpSpPr>
          <p:grpSpPr bwMode="auto">
            <a:xfrm>
              <a:off x="3798" y="1589"/>
              <a:ext cx="164" cy="288"/>
              <a:chOff x="1224" y="2350"/>
              <a:chExt cx="164" cy="288"/>
            </a:xfrm>
          </p:grpSpPr>
          <p:sp>
            <p:nvSpPr>
              <p:cNvPr id="130" name="Oval 382"/>
              <p:cNvSpPr>
                <a:spLocks noChangeArrowheads="1"/>
              </p:cNvSpPr>
              <p:nvPr/>
            </p:nvSpPr>
            <p:spPr bwMode="auto">
              <a:xfrm>
                <a:off x="1260" y="249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" name="Rectangle 383"/>
              <p:cNvSpPr>
                <a:spLocks noChangeArrowheads="1"/>
              </p:cNvSpPr>
              <p:nvPr/>
            </p:nvSpPr>
            <p:spPr bwMode="auto">
              <a:xfrm>
                <a:off x="1224" y="2350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8" name="Group 384"/>
            <p:cNvGrpSpPr/>
            <p:nvPr/>
          </p:nvGrpSpPr>
          <p:grpSpPr bwMode="auto">
            <a:xfrm>
              <a:off x="4410" y="2202"/>
              <a:ext cx="164" cy="288"/>
              <a:chOff x="1719" y="2863"/>
              <a:chExt cx="164" cy="288"/>
            </a:xfrm>
          </p:grpSpPr>
          <p:sp>
            <p:nvSpPr>
              <p:cNvPr id="128" name="Oval 385"/>
              <p:cNvSpPr>
                <a:spLocks noChangeArrowheads="1"/>
              </p:cNvSpPr>
              <p:nvPr/>
            </p:nvSpPr>
            <p:spPr bwMode="auto">
              <a:xfrm>
                <a:off x="1755" y="3011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" name="Rectangle 386"/>
              <p:cNvSpPr>
                <a:spLocks noChangeArrowheads="1"/>
              </p:cNvSpPr>
              <p:nvPr/>
            </p:nvSpPr>
            <p:spPr bwMode="auto">
              <a:xfrm>
                <a:off x="1719" y="2863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9" name="Group 387"/>
            <p:cNvGrpSpPr/>
            <p:nvPr/>
          </p:nvGrpSpPr>
          <p:grpSpPr bwMode="auto">
            <a:xfrm>
              <a:off x="4431" y="2055"/>
              <a:ext cx="164" cy="288"/>
              <a:chOff x="1737" y="2743"/>
              <a:chExt cx="164" cy="288"/>
            </a:xfrm>
          </p:grpSpPr>
          <p:sp>
            <p:nvSpPr>
              <p:cNvPr id="126" name="Oval 388"/>
              <p:cNvSpPr>
                <a:spLocks noChangeArrowheads="1"/>
              </p:cNvSpPr>
              <p:nvPr/>
            </p:nvSpPr>
            <p:spPr bwMode="auto">
              <a:xfrm>
                <a:off x="1773" y="2891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" name="Rectangle 389"/>
              <p:cNvSpPr>
                <a:spLocks noChangeArrowheads="1"/>
              </p:cNvSpPr>
              <p:nvPr/>
            </p:nvSpPr>
            <p:spPr bwMode="auto">
              <a:xfrm>
                <a:off x="1737" y="2743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0" name="Group 390"/>
            <p:cNvGrpSpPr/>
            <p:nvPr/>
          </p:nvGrpSpPr>
          <p:grpSpPr bwMode="auto">
            <a:xfrm>
              <a:off x="4407" y="1898"/>
              <a:ext cx="164" cy="288"/>
              <a:chOff x="1719" y="2620"/>
              <a:chExt cx="164" cy="288"/>
            </a:xfrm>
          </p:grpSpPr>
          <p:sp>
            <p:nvSpPr>
              <p:cNvPr id="124" name="Oval 391"/>
              <p:cNvSpPr>
                <a:spLocks noChangeArrowheads="1"/>
              </p:cNvSpPr>
              <p:nvPr/>
            </p:nvSpPr>
            <p:spPr bwMode="auto">
              <a:xfrm>
                <a:off x="1755" y="276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5" name="Rectangle 392"/>
              <p:cNvSpPr>
                <a:spLocks noChangeArrowheads="1"/>
              </p:cNvSpPr>
              <p:nvPr/>
            </p:nvSpPr>
            <p:spPr bwMode="auto">
              <a:xfrm>
                <a:off x="1719" y="2620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1" name="Line 393"/>
            <p:cNvSpPr>
              <a:spLocks noChangeShapeType="1"/>
            </p:cNvSpPr>
            <p:nvPr/>
          </p:nvSpPr>
          <p:spPr bwMode="auto">
            <a:xfrm flipV="1">
              <a:off x="2928" y="2253"/>
              <a:ext cx="2156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Rectangle 394"/>
            <p:cNvSpPr>
              <a:spLocks noChangeArrowheads="1"/>
            </p:cNvSpPr>
            <p:nvPr/>
          </p:nvSpPr>
          <p:spPr bwMode="auto">
            <a:xfrm>
              <a:off x="4978" y="2208"/>
              <a:ext cx="16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>
                  <a:latin typeface="Times New Roman" panose="02020603050405020304" pitchFamily="18" charset="0"/>
                </a:rPr>
                <a:t>x</a:t>
              </a:r>
              <a:endParaRPr lang="en-US" altLang="zh-CN" sz="1400" i="1">
                <a:latin typeface="Times New Roman" panose="02020603050405020304" pitchFamily="18" charset="0"/>
              </a:endParaRPr>
            </a:p>
          </p:txBody>
        </p:sp>
        <p:sp>
          <p:nvSpPr>
            <p:cNvPr id="83" name="Line 395"/>
            <p:cNvSpPr>
              <a:spLocks noChangeShapeType="1"/>
            </p:cNvSpPr>
            <p:nvPr/>
          </p:nvSpPr>
          <p:spPr bwMode="auto">
            <a:xfrm flipV="1">
              <a:off x="4025" y="1211"/>
              <a:ext cx="4" cy="19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Rectangle 396"/>
            <p:cNvSpPr>
              <a:spLocks noChangeArrowheads="1"/>
            </p:cNvSpPr>
            <p:nvPr/>
          </p:nvSpPr>
          <p:spPr bwMode="auto">
            <a:xfrm>
              <a:off x="4040" y="1152"/>
              <a:ext cx="16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>
                  <a:latin typeface="Times New Roman" panose="02020603050405020304" pitchFamily="18" charset="0"/>
                </a:rPr>
                <a:t>y</a:t>
              </a:r>
              <a:endParaRPr lang="en-US" altLang="zh-CN" sz="1400" i="1">
                <a:latin typeface="Times New Roman" panose="02020603050405020304" pitchFamily="18" charset="0"/>
              </a:endParaRPr>
            </a:p>
          </p:txBody>
        </p:sp>
        <p:grpSp>
          <p:nvGrpSpPr>
            <p:cNvPr id="85" name="Group 397"/>
            <p:cNvGrpSpPr/>
            <p:nvPr/>
          </p:nvGrpSpPr>
          <p:grpSpPr bwMode="auto">
            <a:xfrm>
              <a:off x="3803" y="2528"/>
              <a:ext cx="164" cy="288"/>
              <a:chOff x="1226" y="3127"/>
              <a:chExt cx="164" cy="288"/>
            </a:xfrm>
          </p:grpSpPr>
          <p:sp>
            <p:nvSpPr>
              <p:cNvPr id="122" name="Oval 398"/>
              <p:cNvSpPr>
                <a:spLocks noChangeArrowheads="1"/>
              </p:cNvSpPr>
              <p:nvPr/>
            </p:nvSpPr>
            <p:spPr bwMode="auto">
              <a:xfrm>
                <a:off x="1262" y="327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" name="Rectangle 399"/>
              <p:cNvSpPr>
                <a:spLocks noChangeArrowheads="1"/>
              </p:cNvSpPr>
              <p:nvPr/>
            </p:nvSpPr>
            <p:spPr bwMode="auto">
              <a:xfrm>
                <a:off x="1226" y="3127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6" name="Group 400"/>
            <p:cNvGrpSpPr/>
            <p:nvPr/>
          </p:nvGrpSpPr>
          <p:grpSpPr bwMode="auto">
            <a:xfrm>
              <a:off x="3680" y="2904"/>
              <a:ext cx="172" cy="192"/>
              <a:chOff x="1091" y="3583"/>
              <a:chExt cx="172" cy="192"/>
            </a:xfrm>
          </p:grpSpPr>
          <p:sp>
            <p:nvSpPr>
              <p:cNvPr id="120" name="Oval 401"/>
              <p:cNvSpPr>
                <a:spLocks noChangeArrowheads="1"/>
              </p:cNvSpPr>
              <p:nvPr/>
            </p:nvSpPr>
            <p:spPr bwMode="auto">
              <a:xfrm>
                <a:off x="1131" y="3639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1" name="Rectangle 402"/>
              <p:cNvSpPr>
                <a:spLocks noChangeArrowheads="1"/>
              </p:cNvSpPr>
              <p:nvPr/>
            </p:nvSpPr>
            <p:spPr bwMode="auto">
              <a:xfrm>
                <a:off x="1091" y="3583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sp>
          <p:nvSpPr>
            <p:cNvPr id="87" name="Rectangle 404"/>
            <p:cNvSpPr>
              <a:spLocks noChangeArrowheads="1"/>
            </p:cNvSpPr>
            <p:nvPr/>
          </p:nvSpPr>
          <p:spPr bwMode="auto">
            <a:xfrm>
              <a:off x="3656" y="2291"/>
              <a:ext cx="1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>
                  <a:latin typeface="Times New Roman" panose="02020603050405020304" pitchFamily="18" charset="0"/>
                </a:rPr>
                <a:t>I</a:t>
              </a:r>
              <a:endParaRPr lang="en-US" altLang="zh-CN" sz="1400" i="1">
                <a:latin typeface="Times New Roman" panose="02020603050405020304" pitchFamily="18" charset="0"/>
              </a:endParaRPr>
            </a:p>
          </p:txBody>
        </p:sp>
        <p:sp>
          <p:nvSpPr>
            <p:cNvPr id="88" name="Oval 405"/>
            <p:cNvSpPr>
              <a:spLocks noChangeArrowheads="1"/>
            </p:cNvSpPr>
            <p:nvPr/>
          </p:nvSpPr>
          <p:spPr bwMode="auto">
            <a:xfrm>
              <a:off x="3377" y="1601"/>
              <a:ext cx="1296" cy="1296"/>
            </a:xfrm>
            <a:prstGeom prst="ellipse">
              <a:avLst/>
            </a:prstGeom>
            <a:noFill/>
            <a:ln w="19050">
              <a:solidFill>
                <a:srgbClr val="2453E8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89" name="Line 406"/>
            <p:cNvSpPr>
              <a:spLocks noChangeShapeType="1"/>
            </p:cNvSpPr>
            <p:nvPr/>
          </p:nvSpPr>
          <p:spPr bwMode="auto">
            <a:xfrm flipH="1" flipV="1">
              <a:off x="4568" y="1889"/>
              <a:ext cx="48" cy="96"/>
            </a:xfrm>
            <a:prstGeom prst="line">
              <a:avLst/>
            </a:prstGeom>
            <a:noFill/>
            <a:ln w="19050">
              <a:solidFill>
                <a:srgbClr val="2453E8"/>
              </a:solidFill>
              <a:round/>
              <a:tailEnd type="stealth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Line 407"/>
            <p:cNvSpPr>
              <a:spLocks noChangeShapeType="1"/>
            </p:cNvSpPr>
            <p:nvPr/>
          </p:nvSpPr>
          <p:spPr bwMode="auto">
            <a:xfrm>
              <a:off x="3500" y="2627"/>
              <a:ext cx="89" cy="100"/>
            </a:xfrm>
            <a:prstGeom prst="line">
              <a:avLst/>
            </a:prstGeom>
            <a:noFill/>
            <a:ln w="19050">
              <a:solidFill>
                <a:srgbClr val="2453E8"/>
              </a:solidFill>
              <a:round/>
              <a:tailEnd type="stealth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408"/>
            <p:cNvSpPr>
              <a:spLocks noChangeShapeType="1"/>
            </p:cNvSpPr>
            <p:nvPr/>
          </p:nvSpPr>
          <p:spPr bwMode="auto">
            <a:xfrm flipH="1">
              <a:off x="3560" y="1688"/>
              <a:ext cx="133" cy="102"/>
            </a:xfrm>
            <a:prstGeom prst="line">
              <a:avLst/>
            </a:prstGeom>
            <a:noFill/>
            <a:ln w="19050">
              <a:solidFill>
                <a:srgbClr val="2453E8"/>
              </a:solidFill>
              <a:round/>
              <a:tailEnd type="stealth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409"/>
            <p:cNvSpPr>
              <a:spLocks noChangeShapeType="1"/>
            </p:cNvSpPr>
            <p:nvPr/>
          </p:nvSpPr>
          <p:spPr bwMode="auto">
            <a:xfrm flipV="1">
              <a:off x="4446" y="2645"/>
              <a:ext cx="92" cy="99"/>
            </a:xfrm>
            <a:prstGeom prst="line">
              <a:avLst/>
            </a:prstGeom>
            <a:noFill/>
            <a:ln w="19050">
              <a:solidFill>
                <a:srgbClr val="2453E8"/>
              </a:solidFill>
              <a:round/>
              <a:tailEnd type="stealth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Rectangle 410"/>
            <p:cNvSpPr>
              <a:spLocks noChangeArrowheads="1"/>
            </p:cNvSpPr>
            <p:nvPr/>
          </p:nvSpPr>
          <p:spPr bwMode="auto">
            <a:xfrm>
              <a:off x="3846" y="1463"/>
              <a:ext cx="20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solidFill>
                    <a:srgbClr val="2453E8"/>
                  </a:solidFill>
                  <a:latin typeface="Times New Roman" panose="02020603050405020304" pitchFamily="18" charset="0"/>
                </a:rPr>
                <a:t>H</a:t>
              </a:r>
              <a:endParaRPr lang="en-US" altLang="zh-CN" sz="1400" b="1">
                <a:solidFill>
                  <a:srgbClr val="2453E8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4" name="Rectangle 411"/>
            <p:cNvSpPr>
              <a:spLocks noChangeArrowheads="1"/>
            </p:cNvSpPr>
            <p:nvPr/>
          </p:nvSpPr>
          <p:spPr bwMode="auto">
            <a:xfrm>
              <a:off x="4626" y="2081"/>
              <a:ext cx="1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>
                  <a:solidFill>
                    <a:srgbClr val="CC006B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1400" i="1">
                <a:solidFill>
                  <a:srgbClr val="CC006B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5" name="Line 559"/>
            <p:cNvSpPr>
              <a:spLocks noChangeShapeType="1"/>
            </p:cNvSpPr>
            <p:nvPr/>
          </p:nvSpPr>
          <p:spPr bwMode="auto">
            <a:xfrm>
              <a:off x="4022" y="2257"/>
              <a:ext cx="395" cy="373"/>
            </a:xfrm>
            <a:prstGeom prst="line">
              <a:avLst/>
            </a:prstGeom>
            <a:noFill/>
            <a:ln w="19050">
              <a:solidFill>
                <a:srgbClr val="FF148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560"/>
            <p:cNvSpPr>
              <a:spLocks noChangeShapeType="1"/>
            </p:cNvSpPr>
            <p:nvPr/>
          </p:nvSpPr>
          <p:spPr bwMode="auto">
            <a:xfrm>
              <a:off x="4025" y="2257"/>
              <a:ext cx="335" cy="656"/>
            </a:xfrm>
            <a:prstGeom prst="line">
              <a:avLst/>
            </a:prstGeom>
            <a:noFill/>
            <a:ln w="19050">
              <a:solidFill>
                <a:srgbClr val="FF5C2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Rectangle 561"/>
            <p:cNvSpPr>
              <a:spLocks noChangeArrowheads="1"/>
            </p:cNvSpPr>
            <p:nvPr/>
          </p:nvSpPr>
          <p:spPr bwMode="auto">
            <a:xfrm>
              <a:off x="4183" y="2292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a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98" name="Rectangle 562"/>
            <p:cNvSpPr>
              <a:spLocks noChangeArrowheads="1"/>
            </p:cNvSpPr>
            <p:nvPr/>
          </p:nvSpPr>
          <p:spPr bwMode="auto">
            <a:xfrm>
              <a:off x="4026" y="2472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b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99" name="Line 556"/>
            <p:cNvSpPr>
              <a:spLocks noChangeShapeType="1"/>
            </p:cNvSpPr>
            <p:nvPr/>
          </p:nvSpPr>
          <p:spPr bwMode="auto">
            <a:xfrm>
              <a:off x="3386" y="3396"/>
              <a:ext cx="1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Line 557"/>
            <p:cNvSpPr>
              <a:spLocks noChangeShapeType="1"/>
            </p:cNvSpPr>
            <p:nvPr/>
          </p:nvSpPr>
          <p:spPr bwMode="auto">
            <a:xfrm>
              <a:off x="3385" y="3594"/>
              <a:ext cx="1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Rectangle 563" descr="Light downward diagonal"/>
            <p:cNvSpPr>
              <a:spLocks noChangeArrowheads="1"/>
            </p:cNvSpPr>
            <p:nvPr/>
          </p:nvSpPr>
          <p:spPr bwMode="auto">
            <a:xfrm>
              <a:off x="3282" y="3394"/>
              <a:ext cx="199" cy="200"/>
            </a:xfrm>
            <a:prstGeom prst="rect">
              <a:avLst/>
            </a:prstGeom>
            <a:pattFill prst="ltDnDiag">
              <a:fgClr>
                <a:schemeClr val="tx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02" name="Rectangle 564" descr="Light downward diagonal"/>
            <p:cNvSpPr>
              <a:spLocks noChangeArrowheads="1"/>
            </p:cNvSpPr>
            <p:nvPr/>
          </p:nvSpPr>
          <p:spPr bwMode="auto">
            <a:xfrm>
              <a:off x="4574" y="3394"/>
              <a:ext cx="199" cy="200"/>
            </a:xfrm>
            <a:prstGeom prst="rect">
              <a:avLst/>
            </a:prstGeom>
            <a:pattFill prst="ltDnDiag">
              <a:fgClr>
                <a:schemeClr val="tx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03" name="Line 567"/>
            <p:cNvSpPr>
              <a:spLocks noChangeShapeType="1"/>
            </p:cNvSpPr>
            <p:nvPr/>
          </p:nvSpPr>
          <p:spPr bwMode="auto">
            <a:xfrm>
              <a:off x="3483" y="2256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" name="Line 568"/>
            <p:cNvSpPr>
              <a:spLocks noChangeShapeType="1"/>
            </p:cNvSpPr>
            <p:nvPr/>
          </p:nvSpPr>
          <p:spPr bwMode="auto">
            <a:xfrm>
              <a:off x="3285" y="2256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Line 569"/>
            <p:cNvSpPr>
              <a:spLocks noChangeShapeType="1"/>
            </p:cNvSpPr>
            <p:nvPr/>
          </p:nvSpPr>
          <p:spPr bwMode="auto">
            <a:xfrm>
              <a:off x="4776" y="2256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" name="Line 570"/>
            <p:cNvSpPr>
              <a:spLocks noChangeShapeType="1"/>
            </p:cNvSpPr>
            <p:nvPr/>
          </p:nvSpPr>
          <p:spPr bwMode="auto">
            <a:xfrm>
              <a:off x="4575" y="2253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" name="Line 572"/>
            <p:cNvSpPr>
              <a:spLocks noChangeShapeType="1"/>
            </p:cNvSpPr>
            <p:nvPr/>
          </p:nvSpPr>
          <p:spPr bwMode="auto">
            <a:xfrm>
              <a:off x="4026" y="3750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" name="Line 573"/>
            <p:cNvSpPr>
              <a:spLocks noChangeShapeType="1"/>
            </p:cNvSpPr>
            <p:nvPr/>
          </p:nvSpPr>
          <p:spPr bwMode="auto">
            <a:xfrm>
              <a:off x="4026" y="3261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09" name="Picture 57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7" y="3673"/>
              <a:ext cx="13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10" name="Line 575"/>
            <p:cNvSpPr>
              <a:spLocks noChangeShapeType="1"/>
            </p:cNvSpPr>
            <p:nvPr/>
          </p:nvSpPr>
          <p:spPr bwMode="auto">
            <a:xfrm>
              <a:off x="4575" y="370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" name="Line 576"/>
            <p:cNvSpPr>
              <a:spLocks noChangeShapeType="1"/>
            </p:cNvSpPr>
            <p:nvPr/>
          </p:nvSpPr>
          <p:spPr bwMode="auto">
            <a:xfrm>
              <a:off x="4773" y="3705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" name="Rectangle 577"/>
            <p:cNvSpPr>
              <a:spLocks noChangeArrowheads="1"/>
            </p:cNvSpPr>
            <p:nvPr/>
          </p:nvSpPr>
          <p:spPr bwMode="auto">
            <a:xfrm>
              <a:off x="4494" y="3762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a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113" name="Rectangle 578"/>
            <p:cNvSpPr>
              <a:spLocks noChangeArrowheads="1"/>
            </p:cNvSpPr>
            <p:nvPr/>
          </p:nvSpPr>
          <p:spPr bwMode="auto">
            <a:xfrm>
              <a:off x="4683" y="3771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b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114" name="Rectangle 579"/>
            <p:cNvSpPr>
              <a:spLocks noChangeArrowheads="1"/>
            </p:cNvSpPr>
            <p:nvPr/>
          </p:nvSpPr>
          <p:spPr bwMode="auto">
            <a:xfrm>
              <a:off x="2991" y="3385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h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115" name="AutoShape 580"/>
            <p:cNvSpPr/>
            <p:nvPr/>
          </p:nvSpPr>
          <p:spPr bwMode="auto">
            <a:xfrm>
              <a:off x="3159" y="3400"/>
              <a:ext cx="96" cy="190"/>
            </a:xfrm>
            <a:prstGeom prst="leftBrace">
              <a:avLst>
                <a:gd name="adj1" fmla="val 1649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16" name="Rectangle 582"/>
            <p:cNvSpPr>
              <a:spLocks noChangeArrowheads="1"/>
            </p:cNvSpPr>
            <p:nvPr/>
          </p:nvSpPr>
          <p:spPr bwMode="auto">
            <a:xfrm>
              <a:off x="4880" y="1401"/>
              <a:ext cx="5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N turns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17" name="Line 583"/>
            <p:cNvSpPr>
              <a:spLocks noChangeShapeType="1"/>
            </p:cNvSpPr>
            <p:nvPr/>
          </p:nvSpPr>
          <p:spPr bwMode="auto">
            <a:xfrm flipH="1">
              <a:off x="4560" y="1536"/>
              <a:ext cx="28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" name="Line 584"/>
            <p:cNvSpPr>
              <a:spLocks noChangeShapeType="1"/>
            </p:cNvSpPr>
            <p:nvPr/>
          </p:nvSpPr>
          <p:spPr bwMode="auto">
            <a:xfrm flipH="1">
              <a:off x="4752" y="1632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19" name="Picture 58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06" y="2073"/>
              <a:ext cx="230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pic>
        <p:nvPicPr>
          <p:cNvPr id="200" name="Picture 17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044" y="2341149"/>
            <a:ext cx="3358356" cy="790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1" name="Rectangle 177"/>
          <p:cNvSpPr>
            <a:spLocks noChangeArrowheads="1"/>
          </p:cNvSpPr>
          <p:nvPr/>
        </p:nvSpPr>
        <p:spPr bwMode="auto">
          <a:xfrm>
            <a:off x="327390" y="1764268"/>
            <a:ext cx="20633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Note that this result:</a:t>
            </a:r>
            <a:endParaRPr lang="en-US" altLang="zh-CN" sz="1800">
              <a:latin typeface="Times New Roman" panose="02020603050405020304" pitchFamily="18" charset="0"/>
            </a:endParaRPr>
          </a:p>
        </p:txBody>
      </p:sp>
      <p:sp>
        <p:nvSpPr>
          <p:cNvPr id="202" name="Rectangle 178"/>
          <p:cNvSpPr>
            <a:spLocks noChangeArrowheads="1"/>
          </p:cNvSpPr>
          <p:nvPr/>
        </p:nvSpPr>
        <p:spPr bwMode="auto">
          <a:xfrm>
            <a:off x="368665" y="3277156"/>
            <a:ext cx="4179349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..is the same as that found using Ampere’s</a:t>
            </a:r>
            <a:endParaRPr lang="en-US" altLang="zh-CN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circuital law at the mean radius, giving the </a:t>
            </a:r>
            <a:endParaRPr lang="en-US" altLang="zh-CN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magnetic field at that location:</a:t>
            </a:r>
            <a:endParaRPr lang="en-US" altLang="zh-CN" sz="1800">
              <a:latin typeface="Times New Roman" panose="02020603050405020304" pitchFamily="18" charset="0"/>
            </a:endParaRPr>
          </a:p>
        </p:txBody>
      </p:sp>
      <p:pic>
        <p:nvPicPr>
          <p:cNvPr id="203" name="Picture 17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76" y="4378325"/>
            <a:ext cx="4668837" cy="725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" name="Picture 18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89" y="5271219"/>
            <a:ext cx="2443341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Toroid with Air Gap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206" name="Group 179"/>
          <p:cNvGrpSpPr/>
          <p:nvPr/>
        </p:nvGrpSpPr>
        <p:grpSpPr bwMode="auto">
          <a:xfrm>
            <a:off x="4268788" y="1778000"/>
            <a:ext cx="4646613" cy="4699000"/>
            <a:chOff x="2689" y="1120"/>
            <a:chExt cx="2927" cy="2960"/>
          </a:xfrm>
        </p:grpSpPr>
        <p:sp>
          <p:nvSpPr>
            <p:cNvPr id="218" name="Line 8"/>
            <p:cNvSpPr>
              <a:spLocks noChangeShapeType="1"/>
            </p:cNvSpPr>
            <p:nvPr/>
          </p:nvSpPr>
          <p:spPr bwMode="auto">
            <a:xfrm flipV="1">
              <a:off x="4218" y="1763"/>
              <a:ext cx="430" cy="459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" name="Oval 12"/>
            <p:cNvSpPr>
              <a:spLocks noChangeArrowheads="1"/>
            </p:cNvSpPr>
            <p:nvPr/>
          </p:nvSpPr>
          <p:spPr bwMode="auto">
            <a:xfrm>
              <a:off x="3759" y="1764"/>
              <a:ext cx="912" cy="9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20" name="Oval 13"/>
            <p:cNvSpPr>
              <a:spLocks noChangeArrowheads="1"/>
            </p:cNvSpPr>
            <p:nvPr/>
          </p:nvSpPr>
          <p:spPr bwMode="auto">
            <a:xfrm>
              <a:off x="3474" y="1474"/>
              <a:ext cx="1488" cy="14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221" name="Group 14"/>
            <p:cNvGrpSpPr/>
            <p:nvPr/>
          </p:nvGrpSpPr>
          <p:grpSpPr bwMode="auto">
            <a:xfrm>
              <a:off x="3367" y="1873"/>
              <a:ext cx="172" cy="192"/>
              <a:chOff x="568" y="2590"/>
              <a:chExt cx="172" cy="192"/>
            </a:xfrm>
          </p:grpSpPr>
          <p:sp>
            <p:nvSpPr>
              <p:cNvPr id="381" name="Oval 15"/>
              <p:cNvSpPr>
                <a:spLocks noChangeArrowheads="1"/>
              </p:cNvSpPr>
              <p:nvPr/>
            </p:nvSpPr>
            <p:spPr bwMode="auto">
              <a:xfrm>
                <a:off x="608" y="264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2" name="Rectangle 16"/>
              <p:cNvSpPr>
                <a:spLocks noChangeArrowheads="1"/>
              </p:cNvSpPr>
              <p:nvPr/>
            </p:nvSpPr>
            <p:spPr bwMode="auto">
              <a:xfrm>
                <a:off x="568" y="2590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CC006B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222" name="Group 20"/>
            <p:cNvGrpSpPr/>
            <p:nvPr/>
          </p:nvGrpSpPr>
          <p:grpSpPr bwMode="auto">
            <a:xfrm>
              <a:off x="3370" y="2368"/>
              <a:ext cx="172" cy="192"/>
              <a:chOff x="577" y="3079"/>
              <a:chExt cx="172" cy="192"/>
            </a:xfrm>
          </p:grpSpPr>
          <p:sp>
            <p:nvSpPr>
              <p:cNvPr id="379" name="Oval 21"/>
              <p:cNvSpPr>
                <a:spLocks noChangeArrowheads="1"/>
              </p:cNvSpPr>
              <p:nvPr/>
            </p:nvSpPr>
            <p:spPr bwMode="auto">
              <a:xfrm>
                <a:off x="617" y="313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0" name="Rectangle 22"/>
              <p:cNvSpPr>
                <a:spLocks noChangeArrowheads="1"/>
              </p:cNvSpPr>
              <p:nvPr/>
            </p:nvSpPr>
            <p:spPr bwMode="auto">
              <a:xfrm>
                <a:off x="577" y="307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223" name="Group 23"/>
            <p:cNvGrpSpPr/>
            <p:nvPr/>
          </p:nvGrpSpPr>
          <p:grpSpPr bwMode="auto">
            <a:xfrm>
              <a:off x="4127" y="2914"/>
              <a:ext cx="172" cy="192"/>
              <a:chOff x="1349" y="3613"/>
              <a:chExt cx="172" cy="192"/>
            </a:xfrm>
          </p:grpSpPr>
          <p:sp>
            <p:nvSpPr>
              <p:cNvPr id="377" name="Oval 24"/>
              <p:cNvSpPr>
                <a:spLocks noChangeArrowheads="1"/>
              </p:cNvSpPr>
              <p:nvPr/>
            </p:nvSpPr>
            <p:spPr bwMode="auto">
              <a:xfrm>
                <a:off x="1389" y="3669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8" name="Rectangle 25"/>
              <p:cNvSpPr>
                <a:spLocks noChangeArrowheads="1"/>
              </p:cNvSpPr>
              <p:nvPr/>
            </p:nvSpPr>
            <p:spPr bwMode="auto">
              <a:xfrm>
                <a:off x="1349" y="3613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224" name="Group 26"/>
            <p:cNvGrpSpPr/>
            <p:nvPr/>
          </p:nvGrpSpPr>
          <p:grpSpPr bwMode="auto">
            <a:xfrm>
              <a:off x="3481" y="1645"/>
              <a:ext cx="172" cy="192"/>
              <a:chOff x="682" y="2359"/>
              <a:chExt cx="172" cy="192"/>
            </a:xfrm>
          </p:grpSpPr>
          <p:sp>
            <p:nvSpPr>
              <p:cNvPr id="375" name="Oval 27"/>
              <p:cNvSpPr>
                <a:spLocks noChangeArrowheads="1"/>
              </p:cNvSpPr>
              <p:nvPr/>
            </p:nvSpPr>
            <p:spPr bwMode="auto">
              <a:xfrm>
                <a:off x="722" y="241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6" name="Rectangle 28"/>
              <p:cNvSpPr>
                <a:spLocks noChangeArrowheads="1"/>
              </p:cNvSpPr>
              <p:nvPr/>
            </p:nvSpPr>
            <p:spPr bwMode="auto">
              <a:xfrm>
                <a:off x="682" y="235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225" name="Group 29"/>
            <p:cNvGrpSpPr/>
            <p:nvPr/>
          </p:nvGrpSpPr>
          <p:grpSpPr bwMode="auto">
            <a:xfrm>
              <a:off x="4135" y="1309"/>
              <a:ext cx="172" cy="192"/>
              <a:chOff x="1351" y="2023"/>
              <a:chExt cx="172" cy="192"/>
            </a:xfrm>
          </p:grpSpPr>
          <p:sp>
            <p:nvSpPr>
              <p:cNvPr id="373" name="Oval 30"/>
              <p:cNvSpPr>
                <a:spLocks noChangeArrowheads="1"/>
              </p:cNvSpPr>
              <p:nvPr/>
            </p:nvSpPr>
            <p:spPr bwMode="auto">
              <a:xfrm>
                <a:off x="1391" y="2079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4" name="Rectangle 31"/>
              <p:cNvSpPr>
                <a:spLocks noChangeArrowheads="1"/>
              </p:cNvSpPr>
              <p:nvPr/>
            </p:nvSpPr>
            <p:spPr bwMode="auto">
              <a:xfrm>
                <a:off x="1351" y="2023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226" name="Group 32"/>
            <p:cNvGrpSpPr/>
            <p:nvPr/>
          </p:nvGrpSpPr>
          <p:grpSpPr bwMode="auto">
            <a:xfrm>
              <a:off x="4376" y="1351"/>
              <a:ext cx="172" cy="192"/>
              <a:chOff x="1592" y="2068"/>
              <a:chExt cx="172" cy="192"/>
            </a:xfrm>
          </p:grpSpPr>
          <p:sp>
            <p:nvSpPr>
              <p:cNvPr id="371" name="Oval 33"/>
              <p:cNvSpPr>
                <a:spLocks noChangeArrowheads="1"/>
              </p:cNvSpPr>
              <p:nvPr/>
            </p:nvSpPr>
            <p:spPr bwMode="auto">
              <a:xfrm>
                <a:off x="1632" y="212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2" name="Rectangle 34"/>
              <p:cNvSpPr>
                <a:spLocks noChangeArrowheads="1"/>
              </p:cNvSpPr>
              <p:nvPr/>
            </p:nvSpPr>
            <p:spPr bwMode="auto">
              <a:xfrm>
                <a:off x="1592" y="2068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227" name="Group 35"/>
            <p:cNvGrpSpPr/>
            <p:nvPr/>
          </p:nvGrpSpPr>
          <p:grpSpPr bwMode="auto">
            <a:xfrm>
              <a:off x="4886" y="1861"/>
              <a:ext cx="172" cy="192"/>
              <a:chOff x="2093" y="2584"/>
              <a:chExt cx="172" cy="192"/>
            </a:xfrm>
          </p:grpSpPr>
          <p:sp>
            <p:nvSpPr>
              <p:cNvPr id="369" name="Oval 36"/>
              <p:cNvSpPr>
                <a:spLocks noChangeArrowheads="1"/>
              </p:cNvSpPr>
              <p:nvPr/>
            </p:nvSpPr>
            <p:spPr bwMode="auto">
              <a:xfrm>
                <a:off x="2133" y="2640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0" name="Rectangle 37"/>
              <p:cNvSpPr>
                <a:spLocks noChangeArrowheads="1"/>
              </p:cNvSpPr>
              <p:nvPr/>
            </p:nvSpPr>
            <p:spPr bwMode="auto">
              <a:xfrm>
                <a:off x="2093" y="2584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228" name="Group 38"/>
            <p:cNvGrpSpPr/>
            <p:nvPr/>
          </p:nvGrpSpPr>
          <p:grpSpPr bwMode="auto">
            <a:xfrm>
              <a:off x="4772" y="1636"/>
              <a:ext cx="172" cy="192"/>
              <a:chOff x="1979" y="2359"/>
              <a:chExt cx="172" cy="192"/>
            </a:xfrm>
          </p:grpSpPr>
          <p:sp>
            <p:nvSpPr>
              <p:cNvPr id="367" name="Oval 39"/>
              <p:cNvSpPr>
                <a:spLocks noChangeArrowheads="1"/>
              </p:cNvSpPr>
              <p:nvPr/>
            </p:nvSpPr>
            <p:spPr bwMode="auto">
              <a:xfrm>
                <a:off x="2019" y="241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8" name="Rectangle 40"/>
              <p:cNvSpPr>
                <a:spLocks noChangeArrowheads="1"/>
              </p:cNvSpPr>
              <p:nvPr/>
            </p:nvSpPr>
            <p:spPr bwMode="auto">
              <a:xfrm>
                <a:off x="1979" y="235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229" name="Group 41"/>
            <p:cNvGrpSpPr/>
            <p:nvPr/>
          </p:nvGrpSpPr>
          <p:grpSpPr bwMode="auto">
            <a:xfrm>
              <a:off x="4592" y="1459"/>
              <a:ext cx="172" cy="192"/>
              <a:chOff x="1802" y="2179"/>
              <a:chExt cx="172" cy="192"/>
            </a:xfrm>
          </p:grpSpPr>
          <p:sp>
            <p:nvSpPr>
              <p:cNvPr id="365" name="Oval 42"/>
              <p:cNvSpPr>
                <a:spLocks noChangeArrowheads="1"/>
              </p:cNvSpPr>
              <p:nvPr/>
            </p:nvSpPr>
            <p:spPr bwMode="auto">
              <a:xfrm>
                <a:off x="1842" y="223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6" name="Rectangle 43"/>
              <p:cNvSpPr>
                <a:spLocks noChangeArrowheads="1"/>
              </p:cNvSpPr>
              <p:nvPr/>
            </p:nvSpPr>
            <p:spPr bwMode="auto">
              <a:xfrm>
                <a:off x="1802" y="217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230" name="Group 44"/>
            <p:cNvGrpSpPr/>
            <p:nvPr/>
          </p:nvGrpSpPr>
          <p:grpSpPr bwMode="auto">
            <a:xfrm>
              <a:off x="3890" y="1348"/>
              <a:ext cx="172" cy="192"/>
              <a:chOff x="1103" y="2059"/>
              <a:chExt cx="172" cy="192"/>
            </a:xfrm>
          </p:grpSpPr>
          <p:sp>
            <p:nvSpPr>
              <p:cNvPr id="363" name="Oval 45"/>
              <p:cNvSpPr>
                <a:spLocks noChangeArrowheads="1"/>
              </p:cNvSpPr>
              <p:nvPr/>
            </p:nvSpPr>
            <p:spPr bwMode="auto">
              <a:xfrm>
                <a:off x="1143" y="211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4" name="Rectangle 46"/>
              <p:cNvSpPr>
                <a:spLocks noChangeArrowheads="1"/>
              </p:cNvSpPr>
              <p:nvPr/>
            </p:nvSpPr>
            <p:spPr bwMode="auto">
              <a:xfrm>
                <a:off x="1103" y="205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231" name="Group 47"/>
            <p:cNvGrpSpPr/>
            <p:nvPr/>
          </p:nvGrpSpPr>
          <p:grpSpPr bwMode="auto">
            <a:xfrm>
              <a:off x="3650" y="1468"/>
              <a:ext cx="172" cy="192"/>
              <a:chOff x="866" y="2173"/>
              <a:chExt cx="172" cy="192"/>
            </a:xfrm>
          </p:grpSpPr>
          <p:sp>
            <p:nvSpPr>
              <p:cNvPr id="361" name="Oval 48"/>
              <p:cNvSpPr>
                <a:spLocks noChangeArrowheads="1"/>
              </p:cNvSpPr>
              <p:nvPr/>
            </p:nvSpPr>
            <p:spPr bwMode="auto">
              <a:xfrm>
                <a:off x="906" y="2229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2" name="Rectangle 49"/>
              <p:cNvSpPr>
                <a:spLocks noChangeArrowheads="1"/>
              </p:cNvSpPr>
              <p:nvPr/>
            </p:nvSpPr>
            <p:spPr bwMode="auto">
              <a:xfrm>
                <a:off x="866" y="2173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232" name="Group 50"/>
            <p:cNvGrpSpPr/>
            <p:nvPr/>
          </p:nvGrpSpPr>
          <p:grpSpPr bwMode="auto">
            <a:xfrm>
              <a:off x="4930" y="2119"/>
              <a:ext cx="172" cy="192"/>
              <a:chOff x="2122" y="2839"/>
              <a:chExt cx="172" cy="192"/>
            </a:xfrm>
          </p:grpSpPr>
          <p:sp>
            <p:nvSpPr>
              <p:cNvPr id="359" name="Oval 51"/>
              <p:cNvSpPr>
                <a:spLocks noChangeArrowheads="1"/>
              </p:cNvSpPr>
              <p:nvPr/>
            </p:nvSpPr>
            <p:spPr bwMode="auto">
              <a:xfrm>
                <a:off x="2162" y="289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0" name="Rectangle 52"/>
              <p:cNvSpPr>
                <a:spLocks noChangeArrowheads="1"/>
              </p:cNvSpPr>
              <p:nvPr/>
            </p:nvSpPr>
            <p:spPr bwMode="auto">
              <a:xfrm>
                <a:off x="2122" y="283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233" name="Group 53"/>
            <p:cNvGrpSpPr/>
            <p:nvPr/>
          </p:nvGrpSpPr>
          <p:grpSpPr bwMode="auto">
            <a:xfrm>
              <a:off x="3484" y="2593"/>
              <a:ext cx="172" cy="192"/>
              <a:chOff x="691" y="3307"/>
              <a:chExt cx="172" cy="192"/>
            </a:xfrm>
          </p:grpSpPr>
          <p:sp>
            <p:nvSpPr>
              <p:cNvPr id="357" name="Oval 54"/>
              <p:cNvSpPr>
                <a:spLocks noChangeArrowheads="1"/>
              </p:cNvSpPr>
              <p:nvPr/>
            </p:nvSpPr>
            <p:spPr bwMode="auto">
              <a:xfrm>
                <a:off x="731" y="3363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8" name="Rectangle 55"/>
              <p:cNvSpPr>
                <a:spLocks noChangeArrowheads="1"/>
              </p:cNvSpPr>
              <p:nvPr/>
            </p:nvSpPr>
            <p:spPr bwMode="auto">
              <a:xfrm>
                <a:off x="691" y="3307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234" name="Group 56"/>
            <p:cNvGrpSpPr/>
            <p:nvPr/>
          </p:nvGrpSpPr>
          <p:grpSpPr bwMode="auto">
            <a:xfrm>
              <a:off x="3650" y="2755"/>
              <a:ext cx="172" cy="192"/>
              <a:chOff x="863" y="3472"/>
              <a:chExt cx="172" cy="192"/>
            </a:xfrm>
          </p:grpSpPr>
          <p:sp>
            <p:nvSpPr>
              <p:cNvPr id="355" name="Oval 57"/>
              <p:cNvSpPr>
                <a:spLocks noChangeArrowheads="1"/>
              </p:cNvSpPr>
              <p:nvPr/>
            </p:nvSpPr>
            <p:spPr bwMode="auto">
              <a:xfrm>
                <a:off x="903" y="352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6" name="Rectangle 58"/>
              <p:cNvSpPr>
                <a:spLocks noChangeArrowheads="1"/>
              </p:cNvSpPr>
              <p:nvPr/>
            </p:nvSpPr>
            <p:spPr bwMode="auto">
              <a:xfrm>
                <a:off x="863" y="3472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235" name="Group 59"/>
            <p:cNvGrpSpPr/>
            <p:nvPr/>
          </p:nvGrpSpPr>
          <p:grpSpPr bwMode="auto">
            <a:xfrm>
              <a:off x="4784" y="2578"/>
              <a:ext cx="172" cy="192"/>
              <a:chOff x="1982" y="3286"/>
              <a:chExt cx="172" cy="192"/>
            </a:xfrm>
          </p:grpSpPr>
          <p:sp>
            <p:nvSpPr>
              <p:cNvPr id="353" name="Oval 60"/>
              <p:cNvSpPr>
                <a:spLocks noChangeArrowheads="1"/>
              </p:cNvSpPr>
              <p:nvPr/>
            </p:nvSpPr>
            <p:spPr bwMode="auto">
              <a:xfrm>
                <a:off x="2022" y="334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4" name="Rectangle 61"/>
              <p:cNvSpPr>
                <a:spLocks noChangeArrowheads="1"/>
              </p:cNvSpPr>
              <p:nvPr/>
            </p:nvSpPr>
            <p:spPr bwMode="auto">
              <a:xfrm>
                <a:off x="1982" y="3286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236" name="Group 62"/>
            <p:cNvGrpSpPr/>
            <p:nvPr/>
          </p:nvGrpSpPr>
          <p:grpSpPr bwMode="auto">
            <a:xfrm>
              <a:off x="4891" y="2365"/>
              <a:ext cx="172" cy="192"/>
              <a:chOff x="2083" y="3079"/>
              <a:chExt cx="172" cy="192"/>
            </a:xfrm>
          </p:grpSpPr>
          <p:sp>
            <p:nvSpPr>
              <p:cNvPr id="351" name="Oval 63"/>
              <p:cNvSpPr>
                <a:spLocks noChangeArrowheads="1"/>
              </p:cNvSpPr>
              <p:nvPr/>
            </p:nvSpPr>
            <p:spPr bwMode="auto">
              <a:xfrm>
                <a:off x="2123" y="313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2" name="Rectangle 64"/>
              <p:cNvSpPr>
                <a:spLocks noChangeArrowheads="1"/>
              </p:cNvSpPr>
              <p:nvPr/>
            </p:nvSpPr>
            <p:spPr bwMode="auto">
              <a:xfrm>
                <a:off x="2083" y="3079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237" name="Group 65"/>
            <p:cNvGrpSpPr/>
            <p:nvPr/>
          </p:nvGrpSpPr>
          <p:grpSpPr bwMode="auto">
            <a:xfrm>
              <a:off x="4621" y="2749"/>
              <a:ext cx="172" cy="192"/>
              <a:chOff x="1822" y="3448"/>
              <a:chExt cx="172" cy="192"/>
            </a:xfrm>
          </p:grpSpPr>
          <p:sp>
            <p:nvSpPr>
              <p:cNvPr id="349" name="Oval 66"/>
              <p:cNvSpPr>
                <a:spLocks noChangeArrowheads="1"/>
              </p:cNvSpPr>
              <p:nvPr/>
            </p:nvSpPr>
            <p:spPr bwMode="auto">
              <a:xfrm>
                <a:off x="1862" y="350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0" name="Rectangle 67"/>
              <p:cNvSpPr>
                <a:spLocks noChangeArrowheads="1"/>
              </p:cNvSpPr>
              <p:nvPr/>
            </p:nvSpPr>
            <p:spPr bwMode="auto">
              <a:xfrm>
                <a:off x="1822" y="3448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238" name="Group 68"/>
            <p:cNvGrpSpPr/>
            <p:nvPr/>
          </p:nvGrpSpPr>
          <p:grpSpPr bwMode="auto">
            <a:xfrm>
              <a:off x="4385" y="2872"/>
              <a:ext cx="172" cy="192"/>
              <a:chOff x="1610" y="3568"/>
              <a:chExt cx="172" cy="192"/>
            </a:xfrm>
          </p:grpSpPr>
          <p:sp>
            <p:nvSpPr>
              <p:cNvPr id="347" name="Oval 69"/>
              <p:cNvSpPr>
                <a:spLocks noChangeArrowheads="1"/>
              </p:cNvSpPr>
              <p:nvPr/>
            </p:nvSpPr>
            <p:spPr bwMode="auto">
              <a:xfrm>
                <a:off x="1650" y="362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" name="Rectangle 70"/>
              <p:cNvSpPr>
                <a:spLocks noChangeArrowheads="1"/>
              </p:cNvSpPr>
              <p:nvPr/>
            </p:nvSpPr>
            <p:spPr bwMode="auto">
              <a:xfrm>
                <a:off x="1610" y="3568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grpSp>
          <p:nvGrpSpPr>
            <p:cNvPr id="239" name="Group 71"/>
            <p:cNvGrpSpPr/>
            <p:nvPr/>
          </p:nvGrpSpPr>
          <p:grpSpPr bwMode="auto">
            <a:xfrm>
              <a:off x="3749" y="1900"/>
              <a:ext cx="164" cy="288"/>
              <a:chOff x="950" y="2608"/>
              <a:chExt cx="164" cy="288"/>
            </a:xfrm>
          </p:grpSpPr>
          <p:sp>
            <p:nvSpPr>
              <p:cNvPr id="345" name="Oval 72"/>
              <p:cNvSpPr>
                <a:spLocks noChangeArrowheads="1"/>
              </p:cNvSpPr>
              <p:nvPr/>
            </p:nvSpPr>
            <p:spPr bwMode="auto">
              <a:xfrm>
                <a:off x="986" y="275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6" name="Rectangle 73"/>
              <p:cNvSpPr>
                <a:spLocks noChangeArrowheads="1"/>
              </p:cNvSpPr>
              <p:nvPr/>
            </p:nvSpPr>
            <p:spPr bwMode="auto">
              <a:xfrm>
                <a:off x="950" y="2608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0" name="Group 74"/>
            <p:cNvGrpSpPr/>
            <p:nvPr/>
          </p:nvGrpSpPr>
          <p:grpSpPr bwMode="auto">
            <a:xfrm>
              <a:off x="3804" y="1789"/>
              <a:ext cx="164" cy="288"/>
              <a:chOff x="1014" y="2497"/>
              <a:chExt cx="164" cy="288"/>
            </a:xfrm>
          </p:grpSpPr>
          <p:sp>
            <p:nvSpPr>
              <p:cNvPr id="343" name="Oval 75"/>
              <p:cNvSpPr>
                <a:spLocks noChangeArrowheads="1"/>
              </p:cNvSpPr>
              <p:nvPr/>
            </p:nvSpPr>
            <p:spPr bwMode="auto">
              <a:xfrm>
                <a:off x="1050" y="264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4" name="Rectangle 76"/>
              <p:cNvSpPr>
                <a:spLocks noChangeArrowheads="1"/>
              </p:cNvSpPr>
              <p:nvPr/>
            </p:nvSpPr>
            <p:spPr bwMode="auto">
              <a:xfrm>
                <a:off x="1014" y="2497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1" name="Group 77"/>
            <p:cNvGrpSpPr/>
            <p:nvPr/>
          </p:nvGrpSpPr>
          <p:grpSpPr bwMode="auto">
            <a:xfrm>
              <a:off x="3890" y="1699"/>
              <a:ext cx="164" cy="288"/>
              <a:chOff x="1106" y="2407"/>
              <a:chExt cx="164" cy="288"/>
            </a:xfrm>
          </p:grpSpPr>
          <p:sp>
            <p:nvSpPr>
              <p:cNvPr id="341" name="Oval 78"/>
              <p:cNvSpPr>
                <a:spLocks noChangeArrowheads="1"/>
              </p:cNvSpPr>
              <p:nvPr/>
            </p:nvSpPr>
            <p:spPr bwMode="auto">
              <a:xfrm>
                <a:off x="1142" y="255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2" name="Rectangle 79"/>
              <p:cNvSpPr>
                <a:spLocks noChangeArrowheads="1"/>
              </p:cNvSpPr>
              <p:nvPr/>
            </p:nvSpPr>
            <p:spPr bwMode="auto">
              <a:xfrm>
                <a:off x="1106" y="2407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2" name="Group 80"/>
            <p:cNvGrpSpPr/>
            <p:nvPr/>
          </p:nvGrpSpPr>
          <p:grpSpPr bwMode="auto">
            <a:xfrm>
              <a:off x="3749" y="2149"/>
              <a:ext cx="164" cy="288"/>
              <a:chOff x="950" y="2869"/>
              <a:chExt cx="164" cy="288"/>
            </a:xfrm>
          </p:grpSpPr>
          <p:sp>
            <p:nvSpPr>
              <p:cNvPr id="339" name="Oval 81"/>
              <p:cNvSpPr>
                <a:spLocks noChangeArrowheads="1"/>
              </p:cNvSpPr>
              <p:nvPr/>
            </p:nvSpPr>
            <p:spPr bwMode="auto">
              <a:xfrm>
                <a:off x="986" y="3017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0" name="Rectangle 82"/>
              <p:cNvSpPr>
                <a:spLocks noChangeArrowheads="1"/>
              </p:cNvSpPr>
              <p:nvPr/>
            </p:nvSpPr>
            <p:spPr bwMode="auto">
              <a:xfrm>
                <a:off x="950" y="2869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3" name="Group 83"/>
            <p:cNvGrpSpPr/>
            <p:nvPr/>
          </p:nvGrpSpPr>
          <p:grpSpPr bwMode="auto">
            <a:xfrm>
              <a:off x="4134" y="2428"/>
              <a:ext cx="164" cy="288"/>
              <a:chOff x="1353" y="3139"/>
              <a:chExt cx="164" cy="288"/>
            </a:xfrm>
          </p:grpSpPr>
          <p:sp>
            <p:nvSpPr>
              <p:cNvPr id="337" name="Oval 84"/>
              <p:cNvSpPr>
                <a:spLocks noChangeArrowheads="1"/>
              </p:cNvSpPr>
              <p:nvPr/>
            </p:nvSpPr>
            <p:spPr bwMode="auto">
              <a:xfrm>
                <a:off x="1389" y="3287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" name="Rectangle 85"/>
              <p:cNvSpPr>
                <a:spLocks noChangeArrowheads="1"/>
              </p:cNvSpPr>
              <p:nvPr/>
            </p:nvSpPr>
            <p:spPr bwMode="auto">
              <a:xfrm>
                <a:off x="1353" y="3139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4" name="Group 86"/>
            <p:cNvGrpSpPr/>
            <p:nvPr/>
          </p:nvGrpSpPr>
          <p:grpSpPr bwMode="auto">
            <a:xfrm>
              <a:off x="3893" y="2347"/>
              <a:ext cx="164" cy="288"/>
              <a:chOff x="1106" y="3073"/>
              <a:chExt cx="164" cy="288"/>
            </a:xfrm>
          </p:grpSpPr>
          <p:sp>
            <p:nvSpPr>
              <p:cNvPr id="335" name="Oval 87"/>
              <p:cNvSpPr>
                <a:spLocks noChangeArrowheads="1"/>
              </p:cNvSpPr>
              <p:nvPr/>
            </p:nvSpPr>
            <p:spPr bwMode="auto">
              <a:xfrm>
                <a:off x="1142" y="3221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6" name="Rectangle 88"/>
              <p:cNvSpPr>
                <a:spLocks noChangeArrowheads="1"/>
              </p:cNvSpPr>
              <p:nvPr/>
            </p:nvSpPr>
            <p:spPr bwMode="auto">
              <a:xfrm>
                <a:off x="1106" y="3073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5" name="Group 89"/>
            <p:cNvGrpSpPr/>
            <p:nvPr/>
          </p:nvGrpSpPr>
          <p:grpSpPr bwMode="auto">
            <a:xfrm>
              <a:off x="4452" y="2266"/>
              <a:ext cx="164" cy="288"/>
              <a:chOff x="1665" y="2971"/>
              <a:chExt cx="164" cy="288"/>
            </a:xfrm>
          </p:grpSpPr>
          <p:sp>
            <p:nvSpPr>
              <p:cNvPr id="333" name="Oval 90"/>
              <p:cNvSpPr>
                <a:spLocks noChangeArrowheads="1"/>
              </p:cNvSpPr>
              <p:nvPr/>
            </p:nvSpPr>
            <p:spPr bwMode="auto">
              <a:xfrm>
                <a:off x="1701" y="3119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4" name="Rectangle 91"/>
              <p:cNvSpPr>
                <a:spLocks noChangeArrowheads="1"/>
              </p:cNvSpPr>
              <p:nvPr/>
            </p:nvSpPr>
            <p:spPr bwMode="auto">
              <a:xfrm>
                <a:off x="1665" y="2971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6" name="Group 92"/>
            <p:cNvGrpSpPr/>
            <p:nvPr/>
          </p:nvGrpSpPr>
          <p:grpSpPr bwMode="auto">
            <a:xfrm>
              <a:off x="4362" y="2350"/>
              <a:ext cx="164" cy="288"/>
              <a:chOff x="1581" y="3055"/>
              <a:chExt cx="164" cy="288"/>
            </a:xfrm>
          </p:grpSpPr>
          <p:sp>
            <p:nvSpPr>
              <p:cNvPr id="331" name="Oval 93"/>
              <p:cNvSpPr>
                <a:spLocks noChangeArrowheads="1"/>
              </p:cNvSpPr>
              <p:nvPr/>
            </p:nvSpPr>
            <p:spPr bwMode="auto">
              <a:xfrm>
                <a:off x="1617" y="3203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2" name="Rectangle 94"/>
              <p:cNvSpPr>
                <a:spLocks noChangeArrowheads="1"/>
              </p:cNvSpPr>
              <p:nvPr/>
            </p:nvSpPr>
            <p:spPr bwMode="auto">
              <a:xfrm>
                <a:off x="1581" y="3055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7" name="Group 95"/>
            <p:cNvGrpSpPr/>
            <p:nvPr/>
          </p:nvGrpSpPr>
          <p:grpSpPr bwMode="auto">
            <a:xfrm>
              <a:off x="4257" y="2404"/>
              <a:ext cx="164" cy="288"/>
              <a:chOff x="1473" y="3121"/>
              <a:chExt cx="164" cy="288"/>
            </a:xfrm>
          </p:grpSpPr>
          <p:sp>
            <p:nvSpPr>
              <p:cNvPr id="329" name="Oval 96"/>
              <p:cNvSpPr>
                <a:spLocks noChangeArrowheads="1"/>
              </p:cNvSpPr>
              <p:nvPr/>
            </p:nvSpPr>
            <p:spPr bwMode="auto">
              <a:xfrm>
                <a:off x="1509" y="3269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0" name="Rectangle 97"/>
              <p:cNvSpPr>
                <a:spLocks noChangeArrowheads="1"/>
              </p:cNvSpPr>
              <p:nvPr/>
            </p:nvSpPr>
            <p:spPr bwMode="auto">
              <a:xfrm>
                <a:off x="1473" y="3121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8" name="Group 98"/>
            <p:cNvGrpSpPr/>
            <p:nvPr/>
          </p:nvGrpSpPr>
          <p:grpSpPr bwMode="auto">
            <a:xfrm>
              <a:off x="3803" y="2260"/>
              <a:ext cx="164" cy="288"/>
              <a:chOff x="1013" y="2980"/>
              <a:chExt cx="164" cy="288"/>
            </a:xfrm>
          </p:grpSpPr>
          <p:sp>
            <p:nvSpPr>
              <p:cNvPr id="327" name="Oval 99"/>
              <p:cNvSpPr>
                <a:spLocks noChangeArrowheads="1"/>
              </p:cNvSpPr>
              <p:nvPr/>
            </p:nvSpPr>
            <p:spPr bwMode="auto">
              <a:xfrm>
                <a:off x="1049" y="312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" name="Rectangle 100"/>
              <p:cNvSpPr>
                <a:spLocks noChangeArrowheads="1"/>
              </p:cNvSpPr>
              <p:nvPr/>
            </p:nvSpPr>
            <p:spPr bwMode="auto">
              <a:xfrm>
                <a:off x="1013" y="2980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9" name="Group 101"/>
            <p:cNvGrpSpPr/>
            <p:nvPr/>
          </p:nvGrpSpPr>
          <p:grpSpPr bwMode="auto">
            <a:xfrm>
              <a:off x="4449" y="1780"/>
              <a:ext cx="164" cy="288"/>
              <a:chOff x="1659" y="2500"/>
              <a:chExt cx="164" cy="288"/>
            </a:xfrm>
          </p:grpSpPr>
          <p:sp>
            <p:nvSpPr>
              <p:cNvPr id="325" name="Oval 102"/>
              <p:cNvSpPr>
                <a:spLocks noChangeArrowheads="1"/>
              </p:cNvSpPr>
              <p:nvPr/>
            </p:nvSpPr>
            <p:spPr bwMode="auto">
              <a:xfrm>
                <a:off x="1695" y="264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6" name="Rectangle 103"/>
              <p:cNvSpPr>
                <a:spLocks noChangeArrowheads="1"/>
              </p:cNvSpPr>
              <p:nvPr/>
            </p:nvSpPr>
            <p:spPr bwMode="auto">
              <a:xfrm>
                <a:off x="1659" y="2500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0" name="Group 104"/>
            <p:cNvGrpSpPr/>
            <p:nvPr/>
          </p:nvGrpSpPr>
          <p:grpSpPr bwMode="auto">
            <a:xfrm>
              <a:off x="4361" y="1693"/>
              <a:ext cx="164" cy="288"/>
              <a:chOff x="1574" y="2413"/>
              <a:chExt cx="164" cy="288"/>
            </a:xfrm>
          </p:grpSpPr>
          <p:sp>
            <p:nvSpPr>
              <p:cNvPr id="323" name="Oval 105"/>
              <p:cNvSpPr>
                <a:spLocks noChangeArrowheads="1"/>
              </p:cNvSpPr>
              <p:nvPr/>
            </p:nvSpPr>
            <p:spPr bwMode="auto">
              <a:xfrm>
                <a:off x="1610" y="2561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4" name="Rectangle 106"/>
              <p:cNvSpPr>
                <a:spLocks noChangeArrowheads="1"/>
              </p:cNvSpPr>
              <p:nvPr/>
            </p:nvSpPr>
            <p:spPr bwMode="auto">
              <a:xfrm>
                <a:off x="1574" y="2413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1" name="Group 107"/>
            <p:cNvGrpSpPr/>
            <p:nvPr/>
          </p:nvGrpSpPr>
          <p:grpSpPr bwMode="auto">
            <a:xfrm>
              <a:off x="4133" y="1615"/>
              <a:ext cx="164" cy="288"/>
              <a:chOff x="1349" y="2332"/>
              <a:chExt cx="164" cy="288"/>
            </a:xfrm>
          </p:grpSpPr>
          <p:sp>
            <p:nvSpPr>
              <p:cNvPr id="321" name="Oval 108"/>
              <p:cNvSpPr>
                <a:spLocks noChangeArrowheads="1"/>
              </p:cNvSpPr>
              <p:nvPr/>
            </p:nvSpPr>
            <p:spPr bwMode="auto">
              <a:xfrm>
                <a:off x="1385" y="2480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2" name="Rectangle 109"/>
              <p:cNvSpPr>
                <a:spLocks noChangeArrowheads="1"/>
              </p:cNvSpPr>
              <p:nvPr/>
            </p:nvSpPr>
            <p:spPr bwMode="auto">
              <a:xfrm>
                <a:off x="1349" y="2332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2" name="Group 110"/>
            <p:cNvGrpSpPr/>
            <p:nvPr/>
          </p:nvGrpSpPr>
          <p:grpSpPr bwMode="auto">
            <a:xfrm>
              <a:off x="4253" y="1639"/>
              <a:ext cx="164" cy="288"/>
              <a:chOff x="1466" y="2359"/>
              <a:chExt cx="164" cy="288"/>
            </a:xfrm>
          </p:grpSpPr>
          <p:sp>
            <p:nvSpPr>
              <p:cNvPr id="319" name="Oval 111"/>
              <p:cNvSpPr>
                <a:spLocks noChangeArrowheads="1"/>
              </p:cNvSpPr>
              <p:nvPr/>
            </p:nvSpPr>
            <p:spPr bwMode="auto">
              <a:xfrm>
                <a:off x="1502" y="2507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" name="Rectangle 112"/>
              <p:cNvSpPr>
                <a:spLocks noChangeArrowheads="1"/>
              </p:cNvSpPr>
              <p:nvPr/>
            </p:nvSpPr>
            <p:spPr bwMode="auto">
              <a:xfrm>
                <a:off x="1466" y="2359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3" name="Group 113"/>
            <p:cNvGrpSpPr/>
            <p:nvPr/>
          </p:nvGrpSpPr>
          <p:grpSpPr bwMode="auto">
            <a:xfrm>
              <a:off x="4008" y="1639"/>
              <a:ext cx="164" cy="288"/>
              <a:chOff x="1224" y="2350"/>
              <a:chExt cx="164" cy="288"/>
            </a:xfrm>
          </p:grpSpPr>
          <p:sp>
            <p:nvSpPr>
              <p:cNvPr id="317" name="Oval 114"/>
              <p:cNvSpPr>
                <a:spLocks noChangeArrowheads="1"/>
              </p:cNvSpPr>
              <p:nvPr/>
            </p:nvSpPr>
            <p:spPr bwMode="auto">
              <a:xfrm>
                <a:off x="1260" y="249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" name="Rectangle 115"/>
              <p:cNvSpPr>
                <a:spLocks noChangeArrowheads="1"/>
              </p:cNvSpPr>
              <p:nvPr/>
            </p:nvSpPr>
            <p:spPr bwMode="auto">
              <a:xfrm>
                <a:off x="1224" y="2350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4" name="Group 116"/>
            <p:cNvGrpSpPr/>
            <p:nvPr/>
          </p:nvGrpSpPr>
          <p:grpSpPr bwMode="auto">
            <a:xfrm>
              <a:off x="4512" y="2152"/>
              <a:ext cx="164" cy="288"/>
              <a:chOff x="1719" y="2863"/>
              <a:chExt cx="164" cy="288"/>
            </a:xfrm>
          </p:grpSpPr>
          <p:sp>
            <p:nvSpPr>
              <p:cNvPr id="315" name="Oval 117"/>
              <p:cNvSpPr>
                <a:spLocks noChangeArrowheads="1"/>
              </p:cNvSpPr>
              <p:nvPr/>
            </p:nvSpPr>
            <p:spPr bwMode="auto">
              <a:xfrm>
                <a:off x="1755" y="3011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6" name="Rectangle 118"/>
              <p:cNvSpPr>
                <a:spLocks noChangeArrowheads="1"/>
              </p:cNvSpPr>
              <p:nvPr/>
            </p:nvSpPr>
            <p:spPr bwMode="auto">
              <a:xfrm>
                <a:off x="1719" y="2863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5" name="Group 119"/>
            <p:cNvGrpSpPr/>
            <p:nvPr/>
          </p:nvGrpSpPr>
          <p:grpSpPr bwMode="auto">
            <a:xfrm>
              <a:off x="4536" y="2026"/>
              <a:ext cx="164" cy="288"/>
              <a:chOff x="1737" y="2743"/>
              <a:chExt cx="164" cy="288"/>
            </a:xfrm>
          </p:grpSpPr>
          <p:sp>
            <p:nvSpPr>
              <p:cNvPr id="313" name="Oval 120"/>
              <p:cNvSpPr>
                <a:spLocks noChangeArrowheads="1"/>
              </p:cNvSpPr>
              <p:nvPr/>
            </p:nvSpPr>
            <p:spPr bwMode="auto">
              <a:xfrm>
                <a:off x="1773" y="2891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" name="Rectangle 121"/>
              <p:cNvSpPr>
                <a:spLocks noChangeArrowheads="1"/>
              </p:cNvSpPr>
              <p:nvPr/>
            </p:nvSpPr>
            <p:spPr bwMode="auto">
              <a:xfrm>
                <a:off x="1737" y="2743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6" name="Group 122"/>
            <p:cNvGrpSpPr/>
            <p:nvPr/>
          </p:nvGrpSpPr>
          <p:grpSpPr bwMode="auto">
            <a:xfrm>
              <a:off x="4512" y="1894"/>
              <a:ext cx="164" cy="288"/>
              <a:chOff x="1719" y="2620"/>
              <a:chExt cx="164" cy="288"/>
            </a:xfrm>
          </p:grpSpPr>
          <p:sp>
            <p:nvSpPr>
              <p:cNvPr id="311" name="Oval 123"/>
              <p:cNvSpPr>
                <a:spLocks noChangeArrowheads="1"/>
              </p:cNvSpPr>
              <p:nvPr/>
            </p:nvSpPr>
            <p:spPr bwMode="auto">
              <a:xfrm>
                <a:off x="1755" y="276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2" name="Rectangle 124"/>
              <p:cNvSpPr>
                <a:spLocks noChangeArrowheads="1"/>
              </p:cNvSpPr>
              <p:nvPr/>
            </p:nvSpPr>
            <p:spPr bwMode="auto">
              <a:xfrm>
                <a:off x="1719" y="2620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57" name="Rectangle 126"/>
            <p:cNvSpPr>
              <a:spLocks noChangeArrowheads="1"/>
            </p:cNvSpPr>
            <p:nvPr/>
          </p:nvSpPr>
          <p:spPr bwMode="auto">
            <a:xfrm>
              <a:off x="5170" y="2176"/>
              <a:ext cx="16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>
                  <a:latin typeface="Times New Roman" panose="02020603050405020304" pitchFamily="18" charset="0"/>
                </a:rPr>
                <a:t>x</a:t>
              </a:r>
              <a:endParaRPr lang="en-US" altLang="zh-CN" sz="1400" i="1">
                <a:latin typeface="Times New Roman" panose="02020603050405020304" pitchFamily="18" charset="0"/>
              </a:endParaRPr>
            </a:p>
          </p:txBody>
        </p:sp>
        <p:sp>
          <p:nvSpPr>
            <p:cNvPr id="258" name="Line 127"/>
            <p:cNvSpPr>
              <a:spLocks noChangeShapeType="1"/>
            </p:cNvSpPr>
            <p:nvPr/>
          </p:nvSpPr>
          <p:spPr bwMode="auto">
            <a:xfrm flipV="1">
              <a:off x="4217" y="1179"/>
              <a:ext cx="4" cy="19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9" name="Rectangle 128"/>
            <p:cNvSpPr>
              <a:spLocks noChangeArrowheads="1"/>
            </p:cNvSpPr>
            <p:nvPr/>
          </p:nvSpPr>
          <p:spPr bwMode="auto">
            <a:xfrm>
              <a:off x="4232" y="1120"/>
              <a:ext cx="16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>
                  <a:latin typeface="Times New Roman" panose="02020603050405020304" pitchFamily="18" charset="0"/>
                </a:rPr>
                <a:t>y</a:t>
              </a:r>
              <a:endParaRPr lang="en-US" altLang="zh-CN" sz="1400" i="1">
                <a:latin typeface="Times New Roman" panose="02020603050405020304" pitchFamily="18" charset="0"/>
              </a:endParaRPr>
            </a:p>
          </p:txBody>
        </p:sp>
        <p:grpSp>
          <p:nvGrpSpPr>
            <p:cNvPr id="260" name="Group 129"/>
            <p:cNvGrpSpPr/>
            <p:nvPr/>
          </p:nvGrpSpPr>
          <p:grpSpPr bwMode="auto">
            <a:xfrm>
              <a:off x="4010" y="2410"/>
              <a:ext cx="164" cy="288"/>
              <a:chOff x="1226" y="3127"/>
              <a:chExt cx="164" cy="288"/>
            </a:xfrm>
          </p:grpSpPr>
          <p:sp>
            <p:nvSpPr>
              <p:cNvPr id="309" name="Oval 130"/>
              <p:cNvSpPr>
                <a:spLocks noChangeArrowheads="1"/>
              </p:cNvSpPr>
              <p:nvPr/>
            </p:nvSpPr>
            <p:spPr bwMode="auto">
              <a:xfrm>
                <a:off x="1262" y="3275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0" name="Rectangle 131"/>
              <p:cNvSpPr>
                <a:spLocks noChangeArrowheads="1"/>
              </p:cNvSpPr>
              <p:nvPr/>
            </p:nvSpPr>
            <p:spPr bwMode="auto">
              <a:xfrm>
                <a:off x="1226" y="3127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.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1" name="Group 132"/>
            <p:cNvGrpSpPr/>
            <p:nvPr/>
          </p:nvGrpSpPr>
          <p:grpSpPr bwMode="auto">
            <a:xfrm>
              <a:off x="3875" y="2872"/>
              <a:ext cx="172" cy="192"/>
              <a:chOff x="1091" y="3583"/>
              <a:chExt cx="172" cy="192"/>
            </a:xfrm>
          </p:grpSpPr>
          <p:sp>
            <p:nvSpPr>
              <p:cNvPr id="307" name="Oval 133"/>
              <p:cNvSpPr>
                <a:spLocks noChangeArrowheads="1"/>
              </p:cNvSpPr>
              <p:nvPr/>
            </p:nvSpPr>
            <p:spPr bwMode="auto">
              <a:xfrm>
                <a:off x="1131" y="3639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" name="Rectangle 134"/>
              <p:cNvSpPr>
                <a:spLocks noChangeArrowheads="1"/>
              </p:cNvSpPr>
              <p:nvPr/>
            </p:nvSpPr>
            <p:spPr bwMode="auto">
              <a:xfrm>
                <a:off x="1091" y="3583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/>
                  <a:t>x</a:t>
                </a:r>
                <a:endParaRPr lang="en-US" altLang="zh-CN" sz="1400"/>
              </a:p>
            </p:txBody>
          </p:sp>
        </p:grpSp>
        <p:pic>
          <p:nvPicPr>
            <p:cNvPr id="262" name="Picture 1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6" y="2068"/>
              <a:ext cx="144" cy="1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63" name="Rectangle 136"/>
            <p:cNvSpPr>
              <a:spLocks noChangeArrowheads="1"/>
            </p:cNvSpPr>
            <p:nvPr/>
          </p:nvSpPr>
          <p:spPr bwMode="auto">
            <a:xfrm>
              <a:off x="3848" y="2259"/>
              <a:ext cx="1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>
                  <a:latin typeface="Times New Roman" panose="02020603050405020304" pitchFamily="18" charset="0"/>
                </a:rPr>
                <a:t>I</a:t>
              </a:r>
              <a:endParaRPr lang="en-US" altLang="zh-CN" sz="1400" i="1">
                <a:latin typeface="Times New Roman" panose="02020603050405020304" pitchFamily="18" charset="0"/>
              </a:endParaRPr>
            </a:p>
          </p:txBody>
        </p:sp>
        <p:sp>
          <p:nvSpPr>
            <p:cNvPr id="264" name="Line 138"/>
            <p:cNvSpPr>
              <a:spLocks noChangeShapeType="1"/>
            </p:cNvSpPr>
            <p:nvPr/>
          </p:nvSpPr>
          <p:spPr bwMode="auto">
            <a:xfrm flipH="1" flipV="1">
              <a:off x="4760" y="1857"/>
              <a:ext cx="48" cy="96"/>
            </a:xfrm>
            <a:prstGeom prst="line">
              <a:avLst/>
            </a:prstGeom>
            <a:noFill/>
            <a:ln w="19050">
              <a:solidFill>
                <a:srgbClr val="2453E8"/>
              </a:solidFill>
              <a:round/>
              <a:tailEnd type="stealth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5" name="Line 139"/>
            <p:cNvSpPr>
              <a:spLocks noChangeShapeType="1"/>
            </p:cNvSpPr>
            <p:nvPr/>
          </p:nvSpPr>
          <p:spPr bwMode="auto">
            <a:xfrm>
              <a:off x="3692" y="2595"/>
              <a:ext cx="89" cy="100"/>
            </a:xfrm>
            <a:prstGeom prst="line">
              <a:avLst/>
            </a:prstGeom>
            <a:noFill/>
            <a:ln w="19050">
              <a:solidFill>
                <a:srgbClr val="2453E8"/>
              </a:solidFill>
              <a:round/>
              <a:tailEnd type="stealth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" name="Line 140"/>
            <p:cNvSpPr>
              <a:spLocks noChangeShapeType="1"/>
            </p:cNvSpPr>
            <p:nvPr/>
          </p:nvSpPr>
          <p:spPr bwMode="auto">
            <a:xfrm flipH="1">
              <a:off x="3752" y="1656"/>
              <a:ext cx="133" cy="102"/>
            </a:xfrm>
            <a:prstGeom prst="line">
              <a:avLst/>
            </a:prstGeom>
            <a:noFill/>
            <a:ln w="19050">
              <a:solidFill>
                <a:srgbClr val="2453E8"/>
              </a:solidFill>
              <a:round/>
              <a:tailEnd type="stealth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" name="Line 141"/>
            <p:cNvSpPr>
              <a:spLocks noChangeShapeType="1"/>
            </p:cNvSpPr>
            <p:nvPr/>
          </p:nvSpPr>
          <p:spPr bwMode="auto">
            <a:xfrm flipV="1">
              <a:off x="4638" y="2613"/>
              <a:ext cx="92" cy="99"/>
            </a:xfrm>
            <a:prstGeom prst="line">
              <a:avLst/>
            </a:prstGeom>
            <a:noFill/>
            <a:ln w="19050">
              <a:solidFill>
                <a:srgbClr val="2453E8"/>
              </a:solidFill>
              <a:round/>
              <a:tailEnd type="stealth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" name="Rectangle 142"/>
            <p:cNvSpPr>
              <a:spLocks noChangeArrowheads="1"/>
            </p:cNvSpPr>
            <p:nvPr/>
          </p:nvSpPr>
          <p:spPr bwMode="auto">
            <a:xfrm>
              <a:off x="3972" y="1575"/>
              <a:ext cx="20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solidFill>
                    <a:srgbClr val="2453E8"/>
                  </a:solidFill>
                  <a:latin typeface="Times New Roman" panose="02020603050405020304" pitchFamily="18" charset="0"/>
                </a:rPr>
                <a:t>H</a:t>
              </a:r>
              <a:endParaRPr lang="en-US" altLang="zh-CN" sz="1400" b="1">
                <a:solidFill>
                  <a:srgbClr val="2453E8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9" name="Rectangle 143"/>
            <p:cNvSpPr>
              <a:spLocks noChangeArrowheads="1"/>
            </p:cNvSpPr>
            <p:nvPr/>
          </p:nvSpPr>
          <p:spPr bwMode="auto">
            <a:xfrm>
              <a:off x="4643" y="1977"/>
              <a:ext cx="1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>
                  <a:solidFill>
                    <a:srgbClr val="CC006B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1400" i="1">
                <a:solidFill>
                  <a:srgbClr val="CC006B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0" name="Rectangle 145" descr="Light downward diagonal"/>
            <p:cNvSpPr>
              <a:spLocks noChangeArrowheads="1"/>
            </p:cNvSpPr>
            <p:nvPr/>
          </p:nvSpPr>
          <p:spPr bwMode="auto">
            <a:xfrm>
              <a:off x="3473" y="3511"/>
              <a:ext cx="284" cy="204"/>
            </a:xfrm>
            <a:prstGeom prst="rect">
              <a:avLst/>
            </a:prstGeom>
            <a:pattFill prst="ltDnDiag">
              <a:fgClr>
                <a:schemeClr val="tx2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71" name="Rectangle 146" descr="Light downward diagonal"/>
            <p:cNvSpPr>
              <a:spLocks noChangeArrowheads="1"/>
            </p:cNvSpPr>
            <p:nvPr/>
          </p:nvSpPr>
          <p:spPr bwMode="auto">
            <a:xfrm>
              <a:off x="4674" y="3509"/>
              <a:ext cx="284" cy="204"/>
            </a:xfrm>
            <a:prstGeom prst="rect">
              <a:avLst/>
            </a:prstGeom>
            <a:pattFill prst="ltDnDiag">
              <a:fgClr>
                <a:schemeClr val="tx2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72" name="Line 147"/>
            <p:cNvSpPr>
              <a:spLocks noChangeShapeType="1"/>
            </p:cNvSpPr>
            <p:nvPr/>
          </p:nvSpPr>
          <p:spPr bwMode="auto">
            <a:xfrm flipV="1">
              <a:off x="3754" y="3509"/>
              <a:ext cx="921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" name="Line 148"/>
            <p:cNvSpPr>
              <a:spLocks noChangeShapeType="1"/>
            </p:cNvSpPr>
            <p:nvPr/>
          </p:nvSpPr>
          <p:spPr bwMode="auto">
            <a:xfrm flipV="1">
              <a:off x="3755" y="3713"/>
              <a:ext cx="921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" name="Line 149"/>
            <p:cNvSpPr>
              <a:spLocks noChangeShapeType="1"/>
            </p:cNvSpPr>
            <p:nvPr/>
          </p:nvSpPr>
          <p:spPr bwMode="auto">
            <a:xfrm>
              <a:off x="4213" y="2221"/>
              <a:ext cx="319" cy="332"/>
            </a:xfrm>
            <a:prstGeom prst="line">
              <a:avLst/>
            </a:prstGeom>
            <a:noFill/>
            <a:ln w="12700">
              <a:solidFill>
                <a:srgbClr val="FF003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5" name="Line 150"/>
            <p:cNvSpPr>
              <a:spLocks noChangeShapeType="1"/>
            </p:cNvSpPr>
            <p:nvPr/>
          </p:nvSpPr>
          <p:spPr bwMode="auto">
            <a:xfrm>
              <a:off x="4213" y="2218"/>
              <a:ext cx="334" cy="667"/>
            </a:xfrm>
            <a:prstGeom prst="line">
              <a:avLst/>
            </a:prstGeom>
            <a:noFill/>
            <a:ln w="12700">
              <a:solidFill>
                <a:srgbClr val="FF5C2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" name="Rectangle 151"/>
            <p:cNvSpPr>
              <a:spLocks noChangeArrowheads="1"/>
            </p:cNvSpPr>
            <p:nvPr/>
          </p:nvSpPr>
          <p:spPr bwMode="auto">
            <a:xfrm>
              <a:off x="4328" y="2204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a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277" name="Rectangle 152"/>
            <p:cNvSpPr>
              <a:spLocks noChangeArrowheads="1"/>
            </p:cNvSpPr>
            <p:nvPr/>
          </p:nvSpPr>
          <p:spPr bwMode="auto">
            <a:xfrm>
              <a:off x="4184" y="2345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b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278" name="Line 153"/>
            <p:cNvSpPr>
              <a:spLocks noChangeShapeType="1"/>
            </p:cNvSpPr>
            <p:nvPr/>
          </p:nvSpPr>
          <p:spPr bwMode="auto">
            <a:xfrm>
              <a:off x="3470" y="2225"/>
              <a:ext cx="3" cy="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9" name="Line 154"/>
            <p:cNvSpPr>
              <a:spLocks noChangeShapeType="1"/>
            </p:cNvSpPr>
            <p:nvPr/>
          </p:nvSpPr>
          <p:spPr bwMode="auto">
            <a:xfrm>
              <a:off x="3758" y="2218"/>
              <a:ext cx="3" cy="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0" name="Line 155"/>
            <p:cNvSpPr>
              <a:spLocks noChangeShapeType="1"/>
            </p:cNvSpPr>
            <p:nvPr/>
          </p:nvSpPr>
          <p:spPr bwMode="auto">
            <a:xfrm>
              <a:off x="4958" y="2221"/>
              <a:ext cx="3" cy="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1" name="Line 156"/>
            <p:cNvSpPr>
              <a:spLocks noChangeShapeType="1"/>
            </p:cNvSpPr>
            <p:nvPr/>
          </p:nvSpPr>
          <p:spPr bwMode="auto">
            <a:xfrm>
              <a:off x="4673" y="2218"/>
              <a:ext cx="3" cy="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2" name="Line 157"/>
            <p:cNvSpPr>
              <a:spLocks noChangeShapeType="1"/>
            </p:cNvSpPr>
            <p:nvPr/>
          </p:nvSpPr>
          <p:spPr bwMode="auto">
            <a:xfrm>
              <a:off x="4217" y="3856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3" name="Line 158"/>
            <p:cNvSpPr>
              <a:spLocks noChangeShapeType="1"/>
            </p:cNvSpPr>
            <p:nvPr/>
          </p:nvSpPr>
          <p:spPr bwMode="auto">
            <a:xfrm>
              <a:off x="4217" y="3367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284" name="Picture 15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8" y="3779"/>
              <a:ext cx="13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85" name="Line 160"/>
            <p:cNvSpPr>
              <a:spLocks noChangeShapeType="1"/>
            </p:cNvSpPr>
            <p:nvPr/>
          </p:nvSpPr>
          <p:spPr bwMode="auto">
            <a:xfrm>
              <a:off x="4676" y="380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" name="Line 161"/>
            <p:cNvSpPr>
              <a:spLocks noChangeShapeType="1"/>
            </p:cNvSpPr>
            <p:nvPr/>
          </p:nvSpPr>
          <p:spPr bwMode="auto">
            <a:xfrm>
              <a:off x="4958" y="380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" name="Rectangle 162"/>
            <p:cNvSpPr>
              <a:spLocks noChangeArrowheads="1"/>
            </p:cNvSpPr>
            <p:nvPr/>
          </p:nvSpPr>
          <p:spPr bwMode="auto">
            <a:xfrm>
              <a:off x="4580" y="3868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a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288" name="Rectangle 163"/>
            <p:cNvSpPr>
              <a:spLocks noChangeArrowheads="1"/>
            </p:cNvSpPr>
            <p:nvPr/>
          </p:nvSpPr>
          <p:spPr bwMode="auto">
            <a:xfrm>
              <a:off x="4868" y="3868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b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289" name="Rectangle 164"/>
            <p:cNvSpPr>
              <a:spLocks noChangeArrowheads="1"/>
            </p:cNvSpPr>
            <p:nvPr/>
          </p:nvSpPr>
          <p:spPr bwMode="auto">
            <a:xfrm>
              <a:off x="3179" y="3505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h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290" name="AutoShape 165"/>
            <p:cNvSpPr/>
            <p:nvPr/>
          </p:nvSpPr>
          <p:spPr bwMode="auto">
            <a:xfrm>
              <a:off x="3347" y="3520"/>
              <a:ext cx="96" cy="190"/>
            </a:xfrm>
            <a:prstGeom prst="leftBrace">
              <a:avLst>
                <a:gd name="adj1" fmla="val 1649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91" name="Rectangle 166"/>
            <p:cNvSpPr>
              <a:spLocks noChangeArrowheads="1"/>
            </p:cNvSpPr>
            <p:nvPr/>
          </p:nvSpPr>
          <p:spPr bwMode="auto">
            <a:xfrm>
              <a:off x="5072" y="1369"/>
              <a:ext cx="5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N turns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92" name="Line 167"/>
            <p:cNvSpPr>
              <a:spLocks noChangeShapeType="1"/>
            </p:cNvSpPr>
            <p:nvPr/>
          </p:nvSpPr>
          <p:spPr bwMode="auto">
            <a:xfrm flipH="1">
              <a:off x="4752" y="1504"/>
              <a:ext cx="28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3" name="Line 168"/>
            <p:cNvSpPr>
              <a:spLocks noChangeShapeType="1"/>
            </p:cNvSpPr>
            <p:nvPr/>
          </p:nvSpPr>
          <p:spPr bwMode="auto">
            <a:xfrm flipH="1">
              <a:off x="4944" y="1600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4" name="Rectangle 169"/>
            <p:cNvSpPr>
              <a:spLocks noChangeArrowheads="1"/>
            </p:cNvSpPr>
            <p:nvPr/>
          </p:nvSpPr>
          <p:spPr bwMode="auto">
            <a:xfrm>
              <a:off x="3444" y="2172"/>
              <a:ext cx="336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95" name="Line 170"/>
            <p:cNvSpPr>
              <a:spLocks noChangeShapeType="1"/>
            </p:cNvSpPr>
            <p:nvPr/>
          </p:nvSpPr>
          <p:spPr bwMode="auto">
            <a:xfrm>
              <a:off x="3478" y="2174"/>
              <a:ext cx="2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6" name="Line 171"/>
            <p:cNvSpPr>
              <a:spLocks noChangeShapeType="1"/>
            </p:cNvSpPr>
            <p:nvPr/>
          </p:nvSpPr>
          <p:spPr bwMode="auto">
            <a:xfrm>
              <a:off x="3477" y="2270"/>
              <a:ext cx="2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" name="Oval 137"/>
            <p:cNvSpPr>
              <a:spLocks noChangeArrowheads="1"/>
            </p:cNvSpPr>
            <p:nvPr/>
          </p:nvSpPr>
          <p:spPr bwMode="auto">
            <a:xfrm>
              <a:off x="3569" y="1569"/>
              <a:ext cx="1296" cy="1296"/>
            </a:xfrm>
            <a:prstGeom prst="ellipse">
              <a:avLst/>
            </a:prstGeom>
            <a:noFill/>
            <a:ln w="19050">
              <a:solidFill>
                <a:srgbClr val="2453E8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98" name="Oval 7"/>
            <p:cNvSpPr>
              <a:spLocks noChangeArrowheads="1"/>
            </p:cNvSpPr>
            <p:nvPr/>
          </p:nvSpPr>
          <p:spPr bwMode="auto">
            <a:xfrm>
              <a:off x="3593" y="1593"/>
              <a:ext cx="1248" cy="1248"/>
            </a:xfrm>
            <a:prstGeom prst="ellipse">
              <a:avLst/>
            </a:prstGeom>
            <a:noFill/>
            <a:ln w="19050">
              <a:solidFill>
                <a:srgbClr val="D43C8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99" name="Line 125"/>
            <p:cNvSpPr>
              <a:spLocks noChangeShapeType="1"/>
            </p:cNvSpPr>
            <p:nvPr/>
          </p:nvSpPr>
          <p:spPr bwMode="auto">
            <a:xfrm flipV="1">
              <a:off x="3541" y="2221"/>
              <a:ext cx="1735" cy="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0" name="Rectangle 172"/>
            <p:cNvSpPr>
              <a:spLocks noChangeArrowheads="1"/>
            </p:cNvSpPr>
            <p:nvPr/>
          </p:nvSpPr>
          <p:spPr bwMode="auto">
            <a:xfrm>
              <a:off x="2689" y="1488"/>
              <a:ext cx="719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Air Gap</a:t>
              </a:r>
              <a:endParaRPr lang="en-US" altLang="zh-CN" sz="14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(free space </a:t>
              </a:r>
              <a:endParaRPr lang="en-US" altLang="zh-CN" sz="14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permeability)</a:t>
              </a:r>
              <a:endParaRPr lang="en-US" altLang="zh-CN" sz="1400" dirty="0">
                <a:latin typeface="Times New Roman" panose="02020603050405020304" pitchFamily="18" charset="0"/>
              </a:endParaRPr>
            </a:p>
          </p:txBody>
        </p:sp>
        <p:sp>
          <p:nvSpPr>
            <p:cNvPr id="301" name="Line 173"/>
            <p:cNvSpPr>
              <a:spLocks noChangeShapeType="1"/>
            </p:cNvSpPr>
            <p:nvPr/>
          </p:nvSpPr>
          <p:spPr bwMode="auto">
            <a:xfrm>
              <a:off x="3219" y="1947"/>
              <a:ext cx="285" cy="2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2" name="Line 174"/>
            <p:cNvSpPr>
              <a:spLocks noChangeShapeType="1"/>
            </p:cNvSpPr>
            <p:nvPr/>
          </p:nvSpPr>
          <p:spPr bwMode="auto">
            <a:xfrm>
              <a:off x="3168" y="217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3" name="Line 175"/>
            <p:cNvSpPr>
              <a:spLocks noChangeShapeType="1"/>
            </p:cNvSpPr>
            <p:nvPr/>
          </p:nvSpPr>
          <p:spPr bwMode="auto">
            <a:xfrm>
              <a:off x="3168" y="22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4" name="Line 176"/>
            <p:cNvSpPr>
              <a:spLocks noChangeShapeType="1"/>
            </p:cNvSpPr>
            <p:nvPr/>
          </p:nvSpPr>
          <p:spPr bwMode="auto">
            <a:xfrm flipV="1">
              <a:off x="3264" y="226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5" name="Line 177"/>
            <p:cNvSpPr>
              <a:spLocks noChangeShapeType="1"/>
            </p:cNvSpPr>
            <p:nvPr/>
          </p:nvSpPr>
          <p:spPr bwMode="auto">
            <a:xfrm>
              <a:off x="3264" y="202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6" name="Rectangle 178"/>
            <p:cNvSpPr>
              <a:spLocks noChangeArrowheads="1"/>
            </p:cNvSpPr>
            <p:nvPr/>
          </p:nvSpPr>
          <p:spPr bwMode="auto">
            <a:xfrm>
              <a:off x="3177" y="2364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 New Roman" panose="02020603050405020304" pitchFamily="18" charset="0"/>
                </a:rPr>
                <a:t>t</a:t>
              </a:r>
              <a:endParaRPr lang="en-US" altLang="zh-CN" sz="180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207" name="Rectangle 180"/>
          <p:cNvSpPr>
            <a:spLocks noChangeArrowheads="1"/>
          </p:cNvSpPr>
          <p:nvPr/>
        </p:nvSpPr>
        <p:spPr bwMode="auto">
          <a:xfrm>
            <a:off x="381000" y="1734563"/>
            <a:ext cx="388778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Suppose that an air gap exists in the 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core, having thickness </a:t>
            </a:r>
            <a:r>
              <a:rPr lang="en-US" altLang="zh-CN" sz="1600" i="1" dirty="0">
                <a:latin typeface="Times New Roman" panose="02020603050405020304" pitchFamily="18" charset="0"/>
              </a:rPr>
              <a:t>t</a:t>
            </a:r>
            <a:r>
              <a:rPr lang="en-US" altLang="zh-CN" sz="1600" dirty="0">
                <a:latin typeface="Times New Roman" panose="02020603050405020304" pitchFamily="18" charset="0"/>
              </a:rPr>
              <a:t>, as shown. </a:t>
            </a:r>
            <a:endParaRPr lang="en-US" altLang="zh-CN" sz="1600" dirty="0">
              <a:latin typeface="Times New Roman" panose="02020603050405020304" pitchFamily="18" charset="0"/>
            </a:endParaRPr>
          </a:p>
        </p:txBody>
      </p:sp>
      <p:pic>
        <p:nvPicPr>
          <p:cNvPr id="208" name="Picture 18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032" y="4668479"/>
            <a:ext cx="12065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09" name="Group 187"/>
          <p:cNvGrpSpPr/>
          <p:nvPr/>
        </p:nvGrpSpPr>
        <p:grpSpPr bwMode="auto">
          <a:xfrm>
            <a:off x="863600" y="3475038"/>
            <a:ext cx="2946400" cy="715963"/>
            <a:chOff x="856" y="2316"/>
            <a:chExt cx="1856" cy="451"/>
          </a:xfrm>
        </p:grpSpPr>
        <p:pic>
          <p:nvPicPr>
            <p:cNvPr id="216" name="Picture 181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8" y="2316"/>
              <a:ext cx="1664" cy="4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17" name="Picture 184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6" y="2427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210" name="Group 186"/>
          <p:cNvGrpSpPr/>
          <p:nvPr/>
        </p:nvGrpSpPr>
        <p:grpSpPr bwMode="auto">
          <a:xfrm>
            <a:off x="956420" y="5586412"/>
            <a:ext cx="2901950" cy="766763"/>
            <a:chOff x="708" y="3456"/>
            <a:chExt cx="1828" cy="483"/>
          </a:xfrm>
        </p:grpSpPr>
        <p:pic>
          <p:nvPicPr>
            <p:cNvPr id="214" name="Picture 183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" y="3456"/>
              <a:ext cx="1624" cy="4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15" name="Picture 185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" y="3597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211" name="Rectangle 188"/>
          <p:cNvSpPr>
            <a:spLocks noChangeArrowheads="1"/>
          </p:cNvSpPr>
          <p:nvPr/>
        </p:nvSpPr>
        <p:spPr bwMode="auto">
          <a:xfrm>
            <a:off x="438337" y="4281488"/>
            <a:ext cx="219162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The core permeability is</a:t>
            </a:r>
            <a:endParaRPr lang="en-US" altLang="zh-CN" sz="1600" dirty="0">
              <a:latin typeface="Times New Roman" panose="02020603050405020304" pitchFamily="18" charset="0"/>
            </a:endParaRPr>
          </a:p>
        </p:txBody>
      </p:sp>
      <p:sp>
        <p:nvSpPr>
          <p:cNvPr id="212" name="Rectangle 189"/>
          <p:cNvSpPr>
            <a:spLocks noChangeArrowheads="1"/>
          </p:cNvSpPr>
          <p:nvPr/>
        </p:nvSpPr>
        <p:spPr bwMode="auto">
          <a:xfrm>
            <a:off x="387351" y="2438400"/>
            <a:ext cx="37274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The reluctance of the magnetic circuit will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be the series combination of the core reluctance and that of the air gap:</a:t>
            </a:r>
            <a:endParaRPr lang="en-US" altLang="zh-CN" sz="1600" dirty="0">
              <a:latin typeface="Times New Roman" panose="02020603050405020304" pitchFamily="18" charset="0"/>
            </a:endParaRPr>
          </a:p>
        </p:txBody>
      </p:sp>
      <p:sp>
        <p:nvSpPr>
          <p:cNvPr id="213" name="Rectangle 190"/>
          <p:cNvSpPr>
            <a:spLocks noChangeArrowheads="1"/>
          </p:cNvSpPr>
          <p:nvPr/>
        </p:nvSpPr>
        <p:spPr bwMode="auto">
          <a:xfrm>
            <a:off x="507860" y="5175836"/>
            <a:ext cx="33730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with which the total reluctance is now:</a:t>
            </a:r>
            <a:endParaRPr lang="en-US" altLang="zh-CN" sz="1600" dirty="0">
              <a:latin typeface="Times New Roman" panose="02020603050405020304" pitchFamily="18" charset="0"/>
            </a:endParaRPr>
          </a:p>
        </p:txBody>
      </p:sp>
      <p:pic>
        <p:nvPicPr>
          <p:cNvPr id="2050" name="Picture 2" descr="C:\Users\dpcuser\Desktop\About Teaching\工程电磁场\Instructor Notes\Lecture 13\images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 flipV="1">
            <a:off x="4002655" y="4302209"/>
            <a:ext cx="1292280" cy="1226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Approximations for Ferromagnetic Core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85" name="Group 190"/>
          <p:cNvGrpSpPr/>
          <p:nvPr/>
        </p:nvGrpSpPr>
        <p:grpSpPr bwMode="auto">
          <a:xfrm>
            <a:off x="388938" y="1757363"/>
            <a:ext cx="8662987" cy="4719637"/>
            <a:chOff x="245" y="1107"/>
            <a:chExt cx="5457" cy="2973"/>
          </a:xfrm>
        </p:grpSpPr>
        <p:grpSp>
          <p:nvGrpSpPr>
            <p:cNvPr id="186" name="Group 182"/>
            <p:cNvGrpSpPr/>
            <p:nvPr/>
          </p:nvGrpSpPr>
          <p:grpSpPr bwMode="auto">
            <a:xfrm>
              <a:off x="2768" y="1120"/>
              <a:ext cx="2934" cy="2960"/>
              <a:chOff x="2768" y="1120"/>
              <a:chExt cx="2934" cy="2960"/>
            </a:xfrm>
          </p:grpSpPr>
          <p:grpSp>
            <p:nvGrpSpPr>
              <p:cNvPr id="196" name="Group 4"/>
              <p:cNvGrpSpPr/>
              <p:nvPr/>
            </p:nvGrpSpPr>
            <p:grpSpPr bwMode="auto">
              <a:xfrm>
                <a:off x="2768" y="1120"/>
                <a:ext cx="2848" cy="2960"/>
                <a:chOff x="2768" y="1120"/>
                <a:chExt cx="2848" cy="2960"/>
              </a:xfrm>
            </p:grpSpPr>
            <p:sp>
              <p:nvSpPr>
                <p:cNvPr id="199" name="Line 5"/>
                <p:cNvSpPr>
                  <a:spLocks noChangeShapeType="1"/>
                </p:cNvSpPr>
                <p:nvPr/>
              </p:nvSpPr>
              <p:spPr bwMode="auto">
                <a:xfrm flipV="1">
                  <a:off x="4218" y="1763"/>
                  <a:ext cx="430" cy="459"/>
                </a:xfrm>
                <a:prstGeom prst="line">
                  <a:avLst/>
                </a:prstGeom>
                <a:noFill/>
                <a:ln w="19050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0" name="Oval 6"/>
                <p:cNvSpPr>
                  <a:spLocks noChangeArrowheads="1"/>
                </p:cNvSpPr>
                <p:nvPr/>
              </p:nvSpPr>
              <p:spPr bwMode="auto">
                <a:xfrm>
                  <a:off x="3759" y="1764"/>
                  <a:ext cx="912" cy="912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1" name="Oval 7"/>
                <p:cNvSpPr>
                  <a:spLocks noChangeArrowheads="1"/>
                </p:cNvSpPr>
                <p:nvPr/>
              </p:nvSpPr>
              <p:spPr bwMode="auto">
                <a:xfrm>
                  <a:off x="3474" y="1474"/>
                  <a:ext cx="1488" cy="148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02" name="Group 8"/>
                <p:cNvGrpSpPr/>
                <p:nvPr/>
              </p:nvGrpSpPr>
              <p:grpSpPr bwMode="auto">
                <a:xfrm>
                  <a:off x="3367" y="1873"/>
                  <a:ext cx="172" cy="192"/>
                  <a:chOff x="568" y="2590"/>
                  <a:chExt cx="172" cy="192"/>
                </a:xfrm>
              </p:grpSpPr>
              <p:sp>
                <p:nvSpPr>
                  <p:cNvPr id="539" name="Oval 9"/>
                  <p:cNvSpPr>
                    <a:spLocks noChangeArrowheads="1"/>
                  </p:cNvSpPr>
                  <p:nvPr/>
                </p:nvSpPr>
                <p:spPr bwMode="auto">
                  <a:xfrm>
                    <a:off x="608" y="264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40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568" y="2590"/>
                    <a:ext cx="17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CC006B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400"/>
                      <a:t>x</a:t>
                    </a:r>
                    <a:endParaRPr lang="en-US" altLang="zh-CN" sz="1400"/>
                  </a:p>
                </p:txBody>
              </p:sp>
            </p:grpSp>
            <p:grpSp>
              <p:nvGrpSpPr>
                <p:cNvPr id="203" name="Group 11"/>
                <p:cNvGrpSpPr/>
                <p:nvPr/>
              </p:nvGrpSpPr>
              <p:grpSpPr bwMode="auto">
                <a:xfrm>
                  <a:off x="3370" y="2368"/>
                  <a:ext cx="172" cy="192"/>
                  <a:chOff x="577" y="3079"/>
                  <a:chExt cx="172" cy="192"/>
                </a:xfrm>
              </p:grpSpPr>
              <p:sp>
                <p:nvSpPr>
                  <p:cNvPr id="537" name="Oval 12"/>
                  <p:cNvSpPr>
                    <a:spLocks noChangeArrowheads="1"/>
                  </p:cNvSpPr>
                  <p:nvPr/>
                </p:nvSpPr>
                <p:spPr bwMode="auto">
                  <a:xfrm>
                    <a:off x="617" y="3135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38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577" y="3079"/>
                    <a:ext cx="17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400"/>
                      <a:t>x</a:t>
                    </a:r>
                    <a:endParaRPr lang="en-US" altLang="zh-CN" sz="1400"/>
                  </a:p>
                </p:txBody>
              </p:sp>
            </p:grpSp>
            <p:grpSp>
              <p:nvGrpSpPr>
                <p:cNvPr id="204" name="Group 14"/>
                <p:cNvGrpSpPr/>
                <p:nvPr/>
              </p:nvGrpSpPr>
              <p:grpSpPr bwMode="auto">
                <a:xfrm>
                  <a:off x="4127" y="2914"/>
                  <a:ext cx="172" cy="192"/>
                  <a:chOff x="1349" y="3613"/>
                  <a:chExt cx="172" cy="192"/>
                </a:xfrm>
              </p:grpSpPr>
              <p:sp>
                <p:nvSpPr>
                  <p:cNvPr id="535" name="Oval 15"/>
                  <p:cNvSpPr>
                    <a:spLocks noChangeArrowheads="1"/>
                  </p:cNvSpPr>
                  <p:nvPr/>
                </p:nvSpPr>
                <p:spPr bwMode="auto">
                  <a:xfrm>
                    <a:off x="1389" y="3669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36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3613"/>
                    <a:ext cx="17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400"/>
                      <a:t>x</a:t>
                    </a:r>
                    <a:endParaRPr lang="en-US" altLang="zh-CN" sz="1400"/>
                  </a:p>
                </p:txBody>
              </p:sp>
            </p:grpSp>
            <p:grpSp>
              <p:nvGrpSpPr>
                <p:cNvPr id="205" name="Group 17"/>
                <p:cNvGrpSpPr/>
                <p:nvPr/>
              </p:nvGrpSpPr>
              <p:grpSpPr bwMode="auto">
                <a:xfrm>
                  <a:off x="3481" y="1645"/>
                  <a:ext cx="172" cy="192"/>
                  <a:chOff x="682" y="2359"/>
                  <a:chExt cx="172" cy="192"/>
                </a:xfrm>
              </p:grpSpPr>
              <p:sp>
                <p:nvSpPr>
                  <p:cNvPr id="533" name="Oval 18"/>
                  <p:cNvSpPr>
                    <a:spLocks noChangeArrowheads="1"/>
                  </p:cNvSpPr>
                  <p:nvPr/>
                </p:nvSpPr>
                <p:spPr bwMode="auto">
                  <a:xfrm>
                    <a:off x="722" y="2415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34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682" y="2359"/>
                    <a:ext cx="17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400"/>
                      <a:t>x</a:t>
                    </a:r>
                    <a:endParaRPr lang="en-US" altLang="zh-CN" sz="1400"/>
                  </a:p>
                </p:txBody>
              </p:sp>
            </p:grpSp>
            <p:grpSp>
              <p:nvGrpSpPr>
                <p:cNvPr id="383" name="Group 20"/>
                <p:cNvGrpSpPr/>
                <p:nvPr/>
              </p:nvGrpSpPr>
              <p:grpSpPr bwMode="auto">
                <a:xfrm>
                  <a:off x="4135" y="1309"/>
                  <a:ext cx="172" cy="192"/>
                  <a:chOff x="1351" y="2023"/>
                  <a:chExt cx="172" cy="192"/>
                </a:xfrm>
              </p:grpSpPr>
              <p:sp>
                <p:nvSpPr>
                  <p:cNvPr id="531" name="Oval 21"/>
                  <p:cNvSpPr>
                    <a:spLocks noChangeArrowheads="1"/>
                  </p:cNvSpPr>
                  <p:nvPr/>
                </p:nvSpPr>
                <p:spPr bwMode="auto">
                  <a:xfrm>
                    <a:off x="1391" y="2079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32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1351" y="2023"/>
                    <a:ext cx="17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400"/>
                      <a:t>x</a:t>
                    </a:r>
                    <a:endParaRPr lang="en-US" altLang="zh-CN" sz="1400"/>
                  </a:p>
                </p:txBody>
              </p:sp>
            </p:grpSp>
            <p:grpSp>
              <p:nvGrpSpPr>
                <p:cNvPr id="384" name="Group 23"/>
                <p:cNvGrpSpPr/>
                <p:nvPr/>
              </p:nvGrpSpPr>
              <p:grpSpPr bwMode="auto">
                <a:xfrm>
                  <a:off x="4376" y="1351"/>
                  <a:ext cx="172" cy="192"/>
                  <a:chOff x="1592" y="2068"/>
                  <a:chExt cx="172" cy="192"/>
                </a:xfrm>
              </p:grpSpPr>
              <p:sp>
                <p:nvSpPr>
                  <p:cNvPr id="529" name="Oval 24"/>
                  <p:cNvSpPr>
                    <a:spLocks noChangeArrowheads="1"/>
                  </p:cNvSpPr>
                  <p:nvPr/>
                </p:nvSpPr>
                <p:spPr bwMode="auto">
                  <a:xfrm>
                    <a:off x="1632" y="2124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30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1592" y="2068"/>
                    <a:ext cx="17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400"/>
                      <a:t>x</a:t>
                    </a:r>
                    <a:endParaRPr lang="en-US" altLang="zh-CN" sz="1400"/>
                  </a:p>
                </p:txBody>
              </p:sp>
            </p:grpSp>
            <p:grpSp>
              <p:nvGrpSpPr>
                <p:cNvPr id="385" name="Group 26"/>
                <p:cNvGrpSpPr/>
                <p:nvPr/>
              </p:nvGrpSpPr>
              <p:grpSpPr bwMode="auto">
                <a:xfrm>
                  <a:off x="4886" y="1861"/>
                  <a:ext cx="172" cy="192"/>
                  <a:chOff x="2093" y="2584"/>
                  <a:chExt cx="172" cy="192"/>
                </a:xfrm>
              </p:grpSpPr>
              <p:sp>
                <p:nvSpPr>
                  <p:cNvPr id="527" name="Oval 27"/>
                  <p:cNvSpPr>
                    <a:spLocks noChangeArrowheads="1"/>
                  </p:cNvSpPr>
                  <p:nvPr/>
                </p:nvSpPr>
                <p:spPr bwMode="auto">
                  <a:xfrm>
                    <a:off x="2133" y="2640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8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2093" y="2584"/>
                    <a:ext cx="17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400"/>
                      <a:t>x</a:t>
                    </a:r>
                    <a:endParaRPr lang="en-US" altLang="zh-CN" sz="1400"/>
                  </a:p>
                </p:txBody>
              </p:sp>
            </p:grpSp>
            <p:grpSp>
              <p:nvGrpSpPr>
                <p:cNvPr id="386" name="Group 29"/>
                <p:cNvGrpSpPr/>
                <p:nvPr/>
              </p:nvGrpSpPr>
              <p:grpSpPr bwMode="auto">
                <a:xfrm>
                  <a:off x="4772" y="1636"/>
                  <a:ext cx="172" cy="192"/>
                  <a:chOff x="1979" y="2359"/>
                  <a:chExt cx="172" cy="192"/>
                </a:xfrm>
              </p:grpSpPr>
              <p:sp>
                <p:nvSpPr>
                  <p:cNvPr id="525" name="Oval 30"/>
                  <p:cNvSpPr>
                    <a:spLocks noChangeArrowheads="1"/>
                  </p:cNvSpPr>
                  <p:nvPr/>
                </p:nvSpPr>
                <p:spPr bwMode="auto">
                  <a:xfrm>
                    <a:off x="2019" y="2415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6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1979" y="2359"/>
                    <a:ext cx="17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400"/>
                      <a:t>x</a:t>
                    </a:r>
                    <a:endParaRPr lang="en-US" altLang="zh-CN" sz="1400"/>
                  </a:p>
                </p:txBody>
              </p:sp>
            </p:grpSp>
            <p:grpSp>
              <p:nvGrpSpPr>
                <p:cNvPr id="387" name="Group 32"/>
                <p:cNvGrpSpPr/>
                <p:nvPr/>
              </p:nvGrpSpPr>
              <p:grpSpPr bwMode="auto">
                <a:xfrm>
                  <a:off x="4592" y="1459"/>
                  <a:ext cx="172" cy="192"/>
                  <a:chOff x="1802" y="2179"/>
                  <a:chExt cx="172" cy="192"/>
                </a:xfrm>
              </p:grpSpPr>
              <p:sp>
                <p:nvSpPr>
                  <p:cNvPr id="523" name="Oval 33"/>
                  <p:cNvSpPr>
                    <a:spLocks noChangeArrowheads="1"/>
                  </p:cNvSpPr>
                  <p:nvPr/>
                </p:nvSpPr>
                <p:spPr bwMode="auto">
                  <a:xfrm>
                    <a:off x="1842" y="2235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4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1802" y="2179"/>
                    <a:ext cx="17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400"/>
                      <a:t>x</a:t>
                    </a:r>
                    <a:endParaRPr lang="en-US" altLang="zh-CN" sz="1400"/>
                  </a:p>
                </p:txBody>
              </p:sp>
            </p:grpSp>
            <p:grpSp>
              <p:nvGrpSpPr>
                <p:cNvPr id="388" name="Group 35"/>
                <p:cNvGrpSpPr/>
                <p:nvPr/>
              </p:nvGrpSpPr>
              <p:grpSpPr bwMode="auto">
                <a:xfrm>
                  <a:off x="3890" y="1348"/>
                  <a:ext cx="172" cy="192"/>
                  <a:chOff x="1103" y="2059"/>
                  <a:chExt cx="172" cy="192"/>
                </a:xfrm>
              </p:grpSpPr>
              <p:sp>
                <p:nvSpPr>
                  <p:cNvPr id="521" name="Oval 36"/>
                  <p:cNvSpPr>
                    <a:spLocks noChangeArrowheads="1"/>
                  </p:cNvSpPr>
                  <p:nvPr/>
                </p:nvSpPr>
                <p:spPr bwMode="auto">
                  <a:xfrm>
                    <a:off x="1143" y="2115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2" name="Rectangle 37"/>
                  <p:cNvSpPr>
                    <a:spLocks noChangeArrowheads="1"/>
                  </p:cNvSpPr>
                  <p:nvPr/>
                </p:nvSpPr>
                <p:spPr bwMode="auto">
                  <a:xfrm>
                    <a:off x="1103" y="2059"/>
                    <a:ext cx="17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400"/>
                      <a:t>x</a:t>
                    </a:r>
                    <a:endParaRPr lang="en-US" altLang="zh-CN" sz="1400"/>
                  </a:p>
                </p:txBody>
              </p:sp>
            </p:grpSp>
            <p:grpSp>
              <p:nvGrpSpPr>
                <p:cNvPr id="389" name="Group 38"/>
                <p:cNvGrpSpPr/>
                <p:nvPr/>
              </p:nvGrpSpPr>
              <p:grpSpPr bwMode="auto">
                <a:xfrm>
                  <a:off x="3650" y="1468"/>
                  <a:ext cx="172" cy="192"/>
                  <a:chOff x="866" y="2173"/>
                  <a:chExt cx="172" cy="192"/>
                </a:xfrm>
              </p:grpSpPr>
              <p:sp>
                <p:nvSpPr>
                  <p:cNvPr id="519" name="Oval 39"/>
                  <p:cNvSpPr>
                    <a:spLocks noChangeArrowheads="1"/>
                  </p:cNvSpPr>
                  <p:nvPr/>
                </p:nvSpPr>
                <p:spPr bwMode="auto">
                  <a:xfrm>
                    <a:off x="906" y="2229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0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866" y="2173"/>
                    <a:ext cx="17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400"/>
                      <a:t>x</a:t>
                    </a:r>
                    <a:endParaRPr lang="en-US" altLang="zh-CN" sz="1400"/>
                  </a:p>
                </p:txBody>
              </p:sp>
            </p:grpSp>
            <p:grpSp>
              <p:nvGrpSpPr>
                <p:cNvPr id="390" name="Group 41"/>
                <p:cNvGrpSpPr/>
                <p:nvPr/>
              </p:nvGrpSpPr>
              <p:grpSpPr bwMode="auto">
                <a:xfrm>
                  <a:off x="4930" y="2119"/>
                  <a:ext cx="172" cy="192"/>
                  <a:chOff x="2122" y="2839"/>
                  <a:chExt cx="172" cy="192"/>
                </a:xfrm>
              </p:grpSpPr>
              <p:sp>
                <p:nvSpPr>
                  <p:cNvPr id="517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2162" y="2895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18" name="Rectangle 43"/>
                  <p:cNvSpPr>
                    <a:spLocks noChangeArrowheads="1"/>
                  </p:cNvSpPr>
                  <p:nvPr/>
                </p:nvSpPr>
                <p:spPr bwMode="auto">
                  <a:xfrm>
                    <a:off x="2122" y="2839"/>
                    <a:ext cx="17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400"/>
                      <a:t>x</a:t>
                    </a:r>
                    <a:endParaRPr lang="en-US" altLang="zh-CN" sz="1400"/>
                  </a:p>
                </p:txBody>
              </p:sp>
            </p:grpSp>
            <p:grpSp>
              <p:nvGrpSpPr>
                <p:cNvPr id="391" name="Group 44"/>
                <p:cNvGrpSpPr/>
                <p:nvPr/>
              </p:nvGrpSpPr>
              <p:grpSpPr bwMode="auto">
                <a:xfrm>
                  <a:off x="3484" y="2593"/>
                  <a:ext cx="172" cy="192"/>
                  <a:chOff x="691" y="3307"/>
                  <a:chExt cx="172" cy="192"/>
                </a:xfrm>
              </p:grpSpPr>
              <p:sp>
                <p:nvSpPr>
                  <p:cNvPr id="515" name="Oval 45"/>
                  <p:cNvSpPr>
                    <a:spLocks noChangeArrowheads="1"/>
                  </p:cNvSpPr>
                  <p:nvPr/>
                </p:nvSpPr>
                <p:spPr bwMode="auto">
                  <a:xfrm>
                    <a:off x="731" y="3363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16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691" y="3307"/>
                    <a:ext cx="17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400"/>
                      <a:t>x</a:t>
                    </a:r>
                    <a:endParaRPr lang="en-US" altLang="zh-CN" sz="1400"/>
                  </a:p>
                </p:txBody>
              </p:sp>
            </p:grpSp>
            <p:grpSp>
              <p:nvGrpSpPr>
                <p:cNvPr id="392" name="Group 47"/>
                <p:cNvGrpSpPr/>
                <p:nvPr/>
              </p:nvGrpSpPr>
              <p:grpSpPr bwMode="auto">
                <a:xfrm>
                  <a:off x="3650" y="2755"/>
                  <a:ext cx="172" cy="192"/>
                  <a:chOff x="863" y="3472"/>
                  <a:chExt cx="172" cy="192"/>
                </a:xfrm>
              </p:grpSpPr>
              <p:sp>
                <p:nvSpPr>
                  <p:cNvPr id="513" name="Oval 48"/>
                  <p:cNvSpPr>
                    <a:spLocks noChangeArrowheads="1"/>
                  </p:cNvSpPr>
                  <p:nvPr/>
                </p:nvSpPr>
                <p:spPr bwMode="auto">
                  <a:xfrm>
                    <a:off x="903" y="3528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14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863" y="3472"/>
                    <a:ext cx="17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400"/>
                      <a:t>x</a:t>
                    </a:r>
                    <a:endParaRPr lang="en-US" altLang="zh-CN" sz="1400"/>
                  </a:p>
                </p:txBody>
              </p:sp>
            </p:grpSp>
            <p:grpSp>
              <p:nvGrpSpPr>
                <p:cNvPr id="393" name="Group 50"/>
                <p:cNvGrpSpPr/>
                <p:nvPr/>
              </p:nvGrpSpPr>
              <p:grpSpPr bwMode="auto">
                <a:xfrm>
                  <a:off x="4784" y="2578"/>
                  <a:ext cx="172" cy="192"/>
                  <a:chOff x="1982" y="3286"/>
                  <a:chExt cx="172" cy="192"/>
                </a:xfrm>
              </p:grpSpPr>
              <p:sp>
                <p:nvSpPr>
                  <p:cNvPr id="511" name="Oval 51"/>
                  <p:cNvSpPr>
                    <a:spLocks noChangeArrowheads="1"/>
                  </p:cNvSpPr>
                  <p:nvPr/>
                </p:nvSpPr>
                <p:spPr bwMode="auto">
                  <a:xfrm>
                    <a:off x="2022" y="3342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12" name="Rectangle 52"/>
                  <p:cNvSpPr>
                    <a:spLocks noChangeArrowheads="1"/>
                  </p:cNvSpPr>
                  <p:nvPr/>
                </p:nvSpPr>
                <p:spPr bwMode="auto">
                  <a:xfrm>
                    <a:off x="1982" y="3286"/>
                    <a:ext cx="17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400"/>
                      <a:t>x</a:t>
                    </a:r>
                    <a:endParaRPr lang="en-US" altLang="zh-CN" sz="1400"/>
                  </a:p>
                </p:txBody>
              </p:sp>
            </p:grpSp>
            <p:grpSp>
              <p:nvGrpSpPr>
                <p:cNvPr id="394" name="Group 53"/>
                <p:cNvGrpSpPr/>
                <p:nvPr/>
              </p:nvGrpSpPr>
              <p:grpSpPr bwMode="auto">
                <a:xfrm>
                  <a:off x="4891" y="2365"/>
                  <a:ext cx="172" cy="192"/>
                  <a:chOff x="2083" y="3079"/>
                  <a:chExt cx="172" cy="192"/>
                </a:xfrm>
              </p:grpSpPr>
              <p:sp>
                <p:nvSpPr>
                  <p:cNvPr id="509" name="Oval 54"/>
                  <p:cNvSpPr>
                    <a:spLocks noChangeArrowheads="1"/>
                  </p:cNvSpPr>
                  <p:nvPr/>
                </p:nvSpPr>
                <p:spPr bwMode="auto">
                  <a:xfrm>
                    <a:off x="2123" y="3135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10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2083" y="3079"/>
                    <a:ext cx="17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400"/>
                      <a:t>x</a:t>
                    </a:r>
                    <a:endParaRPr lang="en-US" altLang="zh-CN" sz="1400"/>
                  </a:p>
                </p:txBody>
              </p:sp>
            </p:grpSp>
            <p:grpSp>
              <p:nvGrpSpPr>
                <p:cNvPr id="395" name="Group 56"/>
                <p:cNvGrpSpPr/>
                <p:nvPr/>
              </p:nvGrpSpPr>
              <p:grpSpPr bwMode="auto">
                <a:xfrm>
                  <a:off x="4621" y="2749"/>
                  <a:ext cx="172" cy="192"/>
                  <a:chOff x="1822" y="3448"/>
                  <a:chExt cx="172" cy="192"/>
                </a:xfrm>
              </p:grpSpPr>
              <p:sp>
                <p:nvSpPr>
                  <p:cNvPr id="507" name="Oval 57"/>
                  <p:cNvSpPr>
                    <a:spLocks noChangeArrowheads="1"/>
                  </p:cNvSpPr>
                  <p:nvPr/>
                </p:nvSpPr>
                <p:spPr bwMode="auto">
                  <a:xfrm>
                    <a:off x="1862" y="3504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08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1822" y="3448"/>
                    <a:ext cx="17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400"/>
                      <a:t>x</a:t>
                    </a:r>
                    <a:endParaRPr lang="en-US" altLang="zh-CN" sz="1400"/>
                  </a:p>
                </p:txBody>
              </p:sp>
            </p:grpSp>
            <p:grpSp>
              <p:nvGrpSpPr>
                <p:cNvPr id="396" name="Group 59"/>
                <p:cNvGrpSpPr/>
                <p:nvPr/>
              </p:nvGrpSpPr>
              <p:grpSpPr bwMode="auto">
                <a:xfrm>
                  <a:off x="4385" y="2872"/>
                  <a:ext cx="172" cy="192"/>
                  <a:chOff x="1610" y="3568"/>
                  <a:chExt cx="172" cy="192"/>
                </a:xfrm>
              </p:grpSpPr>
              <p:sp>
                <p:nvSpPr>
                  <p:cNvPr id="505" name="Oval 60"/>
                  <p:cNvSpPr>
                    <a:spLocks noChangeArrowheads="1"/>
                  </p:cNvSpPr>
                  <p:nvPr/>
                </p:nvSpPr>
                <p:spPr bwMode="auto">
                  <a:xfrm>
                    <a:off x="1650" y="3624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06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1610" y="3568"/>
                    <a:ext cx="17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400"/>
                      <a:t>x</a:t>
                    </a:r>
                    <a:endParaRPr lang="en-US" altLang="zh-CN" sz="1400"/>
                  </a:p>
                </p:txBody>
              </p:sp>
            </p:grpSp>
            <p:grpSp>
              <p:nvGrpSpPr>
                <p:cNvPr id="397" name="Group 62"/>
                <p:cNvGrpSpPr/>
                <p:nvPr/>
              </p:nvGrpSpPr>
              <p:grpSpPr bwMode="auto">
                <a:xfrm>
                  <a:off x="3749" y="1900"/>
                  <a:ext cx="164" cy="288"/>
                  <a:chOff x="950" y="2608"/>
                  <a:chExt cx="164" cy="288"/>
                </a:xfrm>
              </p:grpSpPr>
              <p:sp>
                <p:nvSpPr>
                  <p:cNvPr id="503" name="Oval 63"/>
                  <p:cNvSpPr>
                    <a:spLocks noChangeArrowheads="1"/>
                  </p:cNvSpPr>
                  <p:nvPr/>
                </p:nvSpPr>
                <p:spPr bwMode="auto">
                  <a:xfrm>
                    <a:off x="986" y="27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04" name="Rectangle 64"/>
                  <p:cNvSpPr>
                    <a:spLocks noChangeArrowheads="1"/>
                  </p:cNvSpPr>
                  <p:nvPr/>
                </p:nvSpPr>
                <p:spPr bwMode="auto">
                  <a:xfrm>
                    <a:off x="950" y="2608"/>
                    <a:ext cx="16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>
                        <a:latin typeface="Times New Roman" panose="02020603050405020304" pitchFamily="18" charset="0"/>
                      </a:rPr>
                      <a:t>.</a:t>
                    </a:r>
                    <a:endParaRPr lang="en-US" altLang="zh-CN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98" name="Group 65"/>
                <p:cNvGrpSpPr/>
                <p:nvPr/>
              </p:nvGrpSpPr>
              <p:grpSpPr bwMode="auto">
                <a:xfrm>
                  <a:off x="3804" y="1789"/>
                  <a:ext cx="164" cy="288"/>
                  <a:chOff x="1014" y="2497"/>
                  <a:chExt cx="164" cy="288"/>
                </a:xfrm>
              </p:grpSpPr>
              <p:sp>
                <p:nvSpPr>
                  <p:cNvPr id="501" name="Oval 66"/>
                  <p:cNvSpPr>
                    <a:spLocks noChangeArrowheads="1"/>
                  </p:cNvSpPr>
                  <p:nvPr/>
                </p:nvSpPr>
                <p:spPr bwMode="auto">
                  <a:xfrm>
                    <a:off x="1050" y="2645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02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1014" y="2497"/>
                    <a:ext cx="16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>
                        <a:latin typeface="Times New Roman" panose="02020603050405020304" pitchFamily="18" charset="0"/>
                      </a:rPr>
                      <a:t>.</a:t>
                    </a:r>
                    <a:endParaRPr lang="en-US" altLang="zh-CN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99" name="Group 68"/>
                <p:cNvGrpSpPr/>
                <p:nvPr/>
              </p:nvGrpSpPr>
              <p:grpSpPr bwMode="auto">
                <a:xfrm>
                  <a:off x="3890" y="1699"/>
                  <a:ext cx="164" cy="288"/>
                  <a:chOff x="1106" y="2407"/>
                  <a:chExt cx="164" cy="288"/>
                </a:xfrm>
              </p:grpSpPr>
              <p:sp>
                <p:nvSpPr>
                  <p:cNvPr id="499" name="Oval 69"/>
                  <p:cNvSpPr>
                    <a:spLocks noChangeArrowheads="1"/>
                  </p:cNvSpPr>
                  <p:nvPr/>
                </p:nvSpPr>
                <p:spPr bwMode="auto">
                  <a:xfrm>
                    <a:off x="1142" y="2555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00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1106" y="2407"/>
                    <a:ext cx="16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>
                        <a:latin typeface="Times New Roman" panose="02020603050405020304" pitchFamily="18" charset="0"/>
                      </a:rPr>
                      <a:t>.</a:t>
                    </a:r>
                    <a:endParaRPr lang="en-US" altLang="zh-CN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00" name="Group 71"/>
                <p:cNvGrpSpPr/>
                <p:nvPr/>
              </p:nvGrpSpPr>
              <p:grpSpPr bwMode="auto">
                <a:xfrm>
                  <a:off x="3749" y="2149"/>
                  <a:ext cx="164" cy="288"/>
                  <a:chOff x="950" y="2869"/>
                  <a:chExt cx="164" cy="288"/>
                </a:xfrm>
              </p:grpSpPr>
              <p:sp>
                <p:nvSpPr>
                  <p:cNvPr id="497" name="Oval 72"/>
                  <p:cNvSpPr>
                    <a:spLocks noChangeArrowheads="1"/>
                  </p:cNvSpPr>
                  <p:nvPr/>
                </p:nvSpPr>
                <p:spPr bwMode="auto">
                  <a:xfrm>
                    <a:off x="986" y="3017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98" name="Rectangle 73"/>
                  <p:cNvSpPr>
                    <a:spLocks noChangeArrowheads="1"/>
                  </p:cNvSpPr>
                  <p:nvPr/>
                </p:nvSpPr>
                <p:spPr bwMode="auto">
                  <a:xfrm>
                    <a:off x="950" y="2869"/>
                    <a:ext cx="16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>
                        <a:latin typeface="Times New Roman" panose="02020603050405020304" pitchFamily="18" charset="0"/>
                      </a:rPr>
                      <a:t>.</a:t>
                    </a:r>
                    <a:endParaRPr lang="en-US" altLang="zh-CN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01" name="Group 74"/>
                <p:cNvGrpSpPr/>
                <p:nvPr/>
              </p:nvGrpSpPr>
              <p:grpSpPr bwMode="auto">
                <a:xfrm>
                  <a:off x="4134" y="2428"/>
                  <a:ext cx="164" cy="288"/>
                  <a:chOff x="1353" y="3139"/>
                  <a:chExt cx="164" cy="288"/>
                </a:xfrm>
              </p:grpSpPr>
              <p:sp>
                <p:nvSpPr>
                  <p:cNvPr id="495" name="Oval 75"/>
                  <p:cNvSpPr>
                    <a:spLocks noChangeArrowheads="1"/>
                  </p:cNvSpPr>
                  <p:nvPr/>
                </p:nvSpPr>
                <p:spPr bwMode="auto">
                  <a:xfrm>
                    <a:off x="1389" y="3287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96" name="Rectangle 76"/>
                  <p:cNvSpPr>
                    <a:spLocks noChangeArrowheads="1"/>
                  </p:cNvSpPr>
                  <p:nvPr/>
                </p:nvSpPr>
                <p:spPr bwMode="auto">
                  <a:xfrm>
                    <a:off x="1353" y="3139"/>
                    <a:ext cx="16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>
                        <a:latin typeface="Times New Roman" panose="02020603050405020304" pitchFamily="18" charset="0"/>
                      </a:rPr>
                      <a:t>.</a:t>
                    </a:r>
                    <a:endParaRPr lang="en-US" altLang="zh-CN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02" name="Group 77"/>
                <p:cNvGrpSpPr/>
                <p:nvPr/>
              </p:nvGrpSpPr>
              <p:grpSpPr bwMode="auto">
                <a:xfrm>
                  <a:off x="3893" y="2347"/>
                  <a:ext cx="164" cy="288"/>
                  <a:chOff x="1106" y="3073"/>
                  <a:chExt cx="164" cy="288"/>
                </a:xfrm>
              </p:grpSpPr>
              <p:sp>
                <p:nvSpPr>
                  <p:cNvPr id="493" name="Oval 78"/>
                  <p:cNvSpPr>
                    <a:spLocks noChangeArrowheads="1"/>
                  </p:cNvSpPr>
                  <p:nvPr/>
                </p:nvSpPr>
                <p:spPr bwMode="auto">
                  <a:xfrm>
                    <a:off x="1142" y="3221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94" name="Rectangle 79"/>
                  <p:cNvSpPr>
                    <a:spLocks noChangeArrowheads="1"/>
                  </p:cNvSpPr>
                  <p:nvPr/>
                </p:nvSpPr>
                <p:spPr bwMode="auto">
                  <a:xfrm>
                    <a:off x="1106" y="3073"/>
                    <a:ext cx="16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>
                        <a:latin typeface="Times New Roman" panose="02020603050405020304" pitchFamily="18" charset="0"/>
                      </a:rPr>
                      <a:t>.</a:t>
                    </a:r>
                    <a:endParaRPr lang="en-US" altLang="zh-CN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03" name="Group 80"/>
                <p:cNvGrpSpPr/>
                <p:nvPr/>
              </p:nvGrpSpPr>
              <p:grpSpPr bwMode="auto">
                <a:xfrm>
                  <a:off x="4452" y="2266"/>
                  <a:ext cx="164" cy="288"/>
                  <a:chOff x="1665" y="2971"/>
                  <a:chExt cx="164" cy="288"/>
                </a:xfrm>
              </p:grpSpPr>
              <p:sp>
                <p:nvSpPr>
                  <p:cNvPr id="491" name="Oval 81"/>
                  <p:cNvSpPr>
                    <a:spLocks noChangeArrowheads="1"/>
                  </p:cNvSpPr>
                  <p:nvPr/>
                </p:nvSpPr>
                <p:spPr bwMode="auto">
                  <a:xfrm>
                    <a:off x="1701" y="3119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92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1665" y="2971"/>
                    <a:ext cx="16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>
                        <a:latin typeface="Times New Roman" panose="02020603050405020304" pitchFamily="18" charset="0"/>
                      </a:rPr>
                      <a:t>.</a:t>
                    </a:r>
                    <a:endParaRPr lang="en-US" altLang="zh-CN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04" name="Group 83"/>
                <p:cNvGrpSpPr/>
                <p:nvPr/>
              </p:nvGrpSpPr>
              <p:grpSpPr bwMode="auto">
                <a:xfrm>
                  <a:off x="4362" y="2350"/>
                  <a:ext cx="164" cy="288"/>
                  <a:chOff x="1581" y="3055"/>
                  <a:chExt cx="164" cy="288"/>
                </a:xfrm>
              </p:grpSpPr>
              <p:sp>
                <p:nvSpPr>
                  <p:cNvPr id="489" name="Oval 84"/>
                  <p:cNvSpPr>
                    <a:spLocks noChangeArrowheads="1"/>
                  </p:cNvSpPr>
                  <p:nvPr/>
                </p:nvSpPr>
                <p:spPr bwMode="auto">
                  <a:xfrm>
                    <a:off x="1617" y="3203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90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1581" y="3055"/>
                    <a:ext cx="16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>
                        <a:latin typeface="Times New Roman" panose="02020603050405020304" pitchFamily="18" charset="0"/>
                      </a:rPr>
                      <a:t>.</a:t>
                    </a:r>
                    <a:endParaRPr lang="en-US" altLang="zh-CN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05" name="Group 86"/>
                <p:cNvGrpSpPr/>
                <p:nvPr/>
              </p:nvGrpSpPr>
              <p:grpSpPr bwMode="auto">
                <a:xfrm>
                  <a:off x="4257" y="2404"/>
                  <a:ext cx="164" cy="288"/>
                  <a:chOff x="1473" y="3121"/>
                  <a:chExt cx="164" cy="288"/>
                </a:xfrm>
              </p:grpSpPr>
              <p:sp>
                <p:nvSpPr>
                  <p:cNvPr id="487" name="Oval 87"/>
                  <p:cNvSpPr>
                    <a:spLocks noChangeArrowheads="1"/>
                  </p:cNvSpPr>
                  <p:nvPr/>
                </p:nvSpPr>
                <p:spPr bwMode="auto">
                  <a:xfrm>
                    <a:off x="1509" y="3269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88" name="Rectangle 88"/>
                  <p:cNvSpPr>
                    <a:spLocks noChangeArrowheads="1"/>
                  </p:cNvSpPr>
                  <p:nvPr/>
                </p:nvSpPr>
                <p:spPr bwMode="auto">
                  <a:xfrm>
                    <a:off x="1473" y="3121"/>
                    <a:ext cx="16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>
                        <a:latin typeface="Times New Roman" panose="02020603050405020304" pitchFamily="18" charset="0"/>
                      </a:rPr>
                      <a:t>.</a:t>
                    </a:r>
                    <a:endParaRPr lang="en-US" altLang="zh-CN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06" name="Group 89"/>
                <p:cNvGrpSpPr/>
                <p:nvPr/>
              </p:nvGrpSpPr>
              <p:grpSpPr bwMode="auto">
                <a:xfrm>
                  <a:off x="3803" y="2260"/>
                  <a:ext cx="164" cy="288"/>
                  <a:chOff x="1013" y="2980"/>
                  <a:chExt cx="164" cy="288"/>
                </a:xfrm>
              </p:grpSpPr>
              <p:sp>
                <p:nvSpPr>
                  <p:cNvPr id="485" name="Oval 90"/>
                  <p:cNvSpPr>
                    <a:spLocks noChangeArrowheads="1"/>
                  </p:cNvSpPr>
                  <p:nvPr/>
                </p:nvSpPr>
                <p:spPr bwMode="auto">
                  <a:xfrm>
                    <a:off x="1049" y="3128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86" name="Rectangle 91"/>
                  <p:cNvSpPr>
                    <a:spLocks noChangeArrowheads="1"/>
                  </p:cNvSpPr>
                  <p:nvPr/>
                </p:nvSpPr>
                <p:spPr bwMode="auto">
                  <a:xfrm>
                    <a:off x="1013" y="2980"/>
                    <a:ext cx="16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>
                        <a:latin typeface="Times New Roman" panose="02020603050405020304" pitchFamily="18" charset="0"/>
                      </a:rPr>
                      <a:t>.</a:t>
                    </a:r>
                    <a:endParaRPr lang="en-US" altLang="zh-CN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07" name="Group 92"/>
                <p:cNvGrpSpPr/>
                <p:nvPr/>
              </p:nvGrpSpPr>
              <p:grpSpPr bwMode="auto">
                <a:xfrm>
                  <a:off x="4449" y="1780"/>
                  <a:ext cx="164" cy="288"/>
                  <a:chOff x="1659" y="2500"/>
                  <a:chExt cx="164" cy="288"/>
                </a:xfrm>
              </p:grpSpPr>
              <p:sp>
                <p:nvSpPr>
                  <p:cNvPr id="483" name="Oval 93"/>
                  <p:cNvSpPr>
                    <a:spLocks noChangeArrowheads="1"/>
                  </p:cNvSpPr>
                  <p:nvPr/>
                </p:nvSpPr>
                <p:spPr bwMode="auto">
                  <a:xfrm>
                    <a:off x="1695" y="2648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84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1659" y="2500"/>
                    <a:ext cx="16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>
                        <a:latin typeface="Times New Roman" panose="02020603050405020304" pitchFamily="18" charset="0"/>
                      </a:rPr>
                      <a:t>.</a:t>
                    </a:r>
                    <a:endParaRPr lang="en-US" altLang="zh-CN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08" name="Group 95"/>
                <p:cNvGrpSpPr/>
                <p:nvPr/>
              </p:nvGrpSpPr>
              <p:grpSpPr bwMode="auto">
                <a:xfrm>
                  <a:off x="4361" y="1693"/>
                  <a:ext cx="164" cy="288"/>
                  <a:chOff x="1574" y="2413"/>
                  <a:chExt cx="164" cy="288"/>
                </a:xfrm>
              </p:grpSpPr>
              <p:sp>
                <p:nvSpPr>
                  <p:cNvPr id="481" name="Oval 96"/>
                  <p:cNvSpPr>
                    <a:spLocks noChangeArrowheads="1"/>
                  </p:cNvSpPr>
                  <p:nvPr/>
                </p:nvSpPr>
                <p:spPr bwMode="auto">
                  <a:xfrm>
                    <a:off x="1610" y="2561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82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1574" y="2413"/>
                    <a:ext cx="16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>
                        <a:latin typeface="Times New Roman" panose="02020603050405020304" pitchFamily="18" charset="0"/>
                      </a:rPr>
                      <a:t>.</a:t>
                    </a:r>
                    <a:endParaRPr lang="en-US" altLang="zh-CN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09" name="Group 98"/>
                <p:cNvGrpSpPr/>
                <p:nvPr/>
              </p:nvGrpSpPr>
              <p:grpSpPr bwMode="auto">
                <a:xfrm>
                  <a:off x="4133" y="1615"/>
                  <a:ext cx="164" cy="288"/>
                  <a:chOff x="1349" y="2332"/>
                  <a:chExt cx="164" cy="288"/>
                </a:xfrm>
              </p:grpSpPr>
              <p:sp>
                <p:nvSpPr>
                  <p:cNvPr id="479" name="Oval 99"/>
                  <p:cNvSpPr>
                    <a:spLocks noChangeArrowheads="1"/>
                  </p:cNvSpPr>
                  <p:nvPr/>
                </p:nvSpPr>
                <p:spPr bwMode="auto">
                  <a:xfrm>
                    <a:off x="1385" y="2480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80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1349" y="2332"/>
                    <a:ext cx="16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>
                        <a:latin typeface="Times New Roman" panose="02020603050405020304" pitchFamily="18" charset="0"/>
                      </a:rPr>
                      <a:t>.</a:t>
                    </a:r>
                    <a:endParaRPr lang="en-US" altLang="zh-CN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10" name="Group 101"/>
                <p:cNvGrpSpPr/>
                <p:nvPr/>
              </p:nvGrpSpPr>
              <p:grpSpPr bwMode="auto">
                <a:xfrm>
                  <a:off x="4253" y="1639"/>
                  <a:ext cx="164" cy="288"/>
                  <a:chOff x="1466" y="2359"/>
                  <a:chExt cx="164" cy="288"/>
                </a:xfrm>
              </p:grpSpPr>
              <p:sp>
                <p:nvSpPr>
                  <p:cNvPr id="477" name="Oval 102"/>
                  <p:cNvSpPr>
                    <a:spLocks noChangeArrowheads="1"/>
                  </p:cNvSpPr>
                  <p:nvPr/>
                </p:nvSpPr>
                <p:spPr bwMode="auto">
                  <a:xfrm>
                    <a:off x="1502" y="2507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78" name="Rectangle 103"/>
                  <p:cNvSpPr>
                    <a:spLocks noChangeArrowheads="1"/>
                  </p:cNvSpPr>
                  <p:nvPr/>
                </p:nvSpPr>
                <p:spPr bwMode="auto">
                  <a:xfrm>
                    <a:off x="1466" y="2359"/>
                    <a:ext cx="16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>
                        <a:latin typeface="Times New Roman" panose="02020603050405020304" pitchFamily="18" charset="0"/>
                      </a:rPr>
                      <a:t>.</a:t>
                    </a:r>
                    <a:endParaRPr lang="en-US" altLang="zh-CN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11" name="Group 104"/>
                <p:cNvGrpSpPr/>
                <p:nvPr/>
              </p:nvGrpSpPr>
              <p:grpSpPr bwMode="auto">
                <a:xfrm>
                  <a:off x="4008" y="1639"/>
                  <a:ext cx="164" cy="288"/>
                  <a:chOff x="1224" y="2350"/>
                  <a:chExt cx="164" cy="288"/>
                </a:xfrm>
              </p:grpSpPr>
              <p:sp>
                <p:nvSpPr>
                  <p:cNvPr id="475" name="Oval 105"/>
                  <p:cNvSpPr>
                    <a:spLocks noChangeArrowheads="1"/>
                  </p:cNvSpPr>
                  <p:nvPr/>
                </p:nvSpPr>
                <p:spPr bwMode="auto">
                  <a:xfrm>
                    <a:off x="1260" y="2498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76" name="Rectangle 106"/>
                  <p:cNvSpPr>
                    <a:spLocks noChangeArrowheads="1"/>
                  </p:cNvSpPr>
                  <p:nvPr/>
                </p:nvSpPr>
                <p:spPr bwMode="auto">
                  <a:xfrm>
                    <a:off x="1224" y="2350"/>
                    <a:ext cx="16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>
                        <a:latin typeface="Times New Roman" panose="02020603050405020304" pitchFamily="18" charset="0"/>
                      </a:rPr>
                      <a:t>.</a:t>
                    </a:r>
                    <a:endParaRPr lang="en-US" altLang="zh-CN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12" name="Group 107"/>
                <p:cNvGrpSpPr/>
                <p:nvPr/>
              </p:nvGrpSpPr>
              <p:grpSpPr bwMode="auto">
                <a:xfrm>
                  <a:off x="4512" y="2152"/>
                  <a:ext cx="164" cy="288"/>
                  <a:chOff x="1719" y="2863"/>
                  <a:chExt cx="164" cy="288"/>
                </a:xfrm>
              </p:grpSpPr>
              <p:sp>
                <p:nvSpPr>
                  <p:cNvPr id="473" name="Oval 108"/>
                  <p:cNvSpPr>
                    <a:spLocks noChangeArrowheads="1"/>
                  </p:cNvSpPr>
                  <p:nvPr/>
                </p:nvSpPr>
                <p:spPr bwMode="auto">
                  <a:xfrm>
                    <a:off x="1755" y="3011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74" name="Rectangle 109"/>
                  <p:cNvSpPr>
                    <a:spLocks noChangeArrowheads="1"/>
                  </p:cNvSpPr>
                  <p:nvPr/>
                </p:nvSpPr>
                <p:spPr bwMode="auto">
                  <a:xfrm>
                    <a:off x="1719" y="2863"/>
                    <a:ext cx="16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>
                        <a:latin typeface="Times New Roman" panose="02020603050405020304" pitchFamily="18" charset="0"/>
                      </a:rPr>
                      <a:t>.</a:t>
                    </a:r>
                    <a:endParaRPr lang="en-US" altLang="zh-CN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13" name="Group 110"/>
                <p:cNvGrpSpPr/>
                <p:nvPr/>
              </p:nvGrpSpPr>
              <p:grpSpPr bwMode="auto">
                <a:xfrm>
                  <a:off x="4536" y="2026"/>
                  <a:ext cx="164" cy="288"/>
                  <a:chOff x="1737" y="2743"/>
                  <a:chExt cx="164" cy="288"/>
                </a:xfrm>
              </p:grpSpPr>
              <p:sp>
                <p:nvSpPr>
                  <p:cNvPr id="471" name="Oval 111"/>
                  <p:cNvSpPr>
                    <a:spLocks noChangeArrowheads="1"/>
                  </p:cNvSpPr>
                  <p:nvPr/>
                </p:nvSpPr>
                <p:spPr bwMode="auto">
                  <a:xfrm>
                    <a:off x="1773" y="2891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72" name="Rectangle 112"/>
                  <p:cNvSpPr>
                    <a:spLocks noChangeArrowheads="1"/>
                  </p:cNvSpPr>
                  <p:nvPr/>
                </p:nvSpPr>
                <p:spPr bwMode="auto">
                  <a:xfrm>
                    <a:off x="1737" y="2743"/>
                    <a:ext cx="16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>
                        <a:latin typeface="Times New Roman" panose="02020603050405020304" pitchFamily="18" charset="0"/>
                      </a:rPr>
                      <a:t>.</a:t>
                    </a:r>
                    <a:endParaRPr lang="en-US" altLang="zh-CN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14" name="Group 113"/>
                <p:cNvGrpSpPr/>
                <p:nvPr/>
              </p:nvGrpSpPr>
              <p:grpSpPr bwMode="auto">
                <a:xfrm>
                  <a:off x="4512" y="1894"/>
                  <a:ext cx="164" cy="288"/>
                  <a:chOff x="1719" y="2620"/>
                  <a:chExt cx="164" cy="288"/>
                </a:xfrm>
              </p:grpSpPr>
              <p:sp>
                <p:nvSpPr>
                  <p:cNvPr id="469" name="Oval 114"/>
                  <p:cNvSpPr>
                    <a:spLocks noChangeArrowheads="1"/>
                  </p:cNvSpPr>
                  <p:nvPr/>
                </p:nvSpPr>
                <p:spPr bwMode="auto">
                  <a:xfrm>
                    <a:off x="1755" y="2768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70" name="Rectangle 115"/>
                  <p:cNvSpPr>
                    <a:spLocks noChangeArrowheads="1"/>
                  </p:cNvSpPr>
                  <p:nvPr/>
                </p:nvSpPr>
                <p:spPr bwMode="auto">
                  <a:xfrm>
                    <a:off x="1719" y="2620"/>
                    <a:ext cx="16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>
                        <a:latin typeface="Times New Roman" panose="02020603050405020304" pitchFamily="18" charset="0"/>
                      </a:rPr>
                      <a:t>.</a:t>
                    </a:r>
                    <a:endParaRPr lang="en-US" altLang="zh-CN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15" name="Rectangle 116"/>
                <p:cNvSpPr>
                  <a:spLocks noChangeArrowheads="1"/>
                </p:cNvSpPr>
                <p:nvPr/>
              </p:nvSpPr>
              <p:spPr bwMode="auto">
                <a:xfrm>
                  <a:off x="5170" y="2176"/>
                  <a:ext cx="166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400" i="1">
                      <a:latin typeface="Times New Roman" panose="02020603050405020304" pitchFamily="18" charset="0"/>
                    </a:rPr>
                    <a:t>x</a:t>
                  </a:r>
                  <a:endParaRPr lang="en-US" altLang="zh-CN" sz="14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6" name="Line 117"/>
                <p:cNvSpPr>
                  <a:spLocks noChangeShapeType="1"/>
                </p:cNvSpPr>
                <p:nvPr/>
              </p:nvSpPr>
              <p:spPr bwMode="auto">
                <a:xfrm flipV="1">
                  <a:off x="4217" y="1179"/>
                  <a:ext cx="4" cy="19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7" name="Rectangle 118"/>
                <p:cNvSpPr>
                  <a:spLocks noChangeArrowheads="1"/>
                </p:cNvSpPr>
                <p:nvPr/>
              </p:nvSpPr>
              <p:spPr bwMode="auto">
                <a:xfrm>
                  <a:off x="4232" y="1120"/>
                  <a:ext cx="166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400" i="1">
                      <a:latin typeface="Times New Roman" panose="02020603050405020304" pitchFamily="18" charset="0"/>
                    </a:rPr>
                    <a:t>y</a:t>
                  </a:r>
                  <a:endParaRPr lang="en-US" altLang="zh-CN" sz="1400" i="1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418" name="Group 119"/>
                <p:cNvGrpSpPr/>
                <p:nvPr/>
              </p:nvGrpSpPr>
              <p:grpSpPr bwMode="auto">
                <a:xfrm>
                  <a:off x="4010" y="2410"/>
                  <a:ext cx="164" cy="288"/>
                  <a:chOff x="1226" y="3127"/>
                  <a:chExt cx="164" cy="288"/>
                </a:xfrm>
              </p:grpSpPr>
              <p:sp>
                <p:nvSpPr>
                  <p:cNvPr id="467" name="Oval 120"/>
                  <p:cNvSpPr>
                    <a:spLocks noChangeArrowheads="1"/>
                  </p:cNvSpPr>
                  <p:nvPr/>
                </p:nvSpPr>
                <p:spPr bwMode="auto">
                  <a:xfrm>
                    <a:off x="1262" y="3275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68" name="Rectangle 121"/>
                  <p:cNvSpPr>
                    <a:spLocks noChangeArrowheads="1"/>
                  </p:cNvSpPr>
                  <p:nvPr/>
                </p:nvSpPr>
                <p:spPr bwMode="auto">
                  <a:xfrm>
                    <a:off x="1226" y="3127"/>
                    <a:ext cx="16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>
                        <a:latin typeface="Times New Roman" panose="02020603050405020304" pitchFamily="18" charset="0"/>
                      </a:rPr>
                      <a:t>.</a:t>
                    </a:r>
                    <a:endParaRPr lang="en-US" altLang="zh-CN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19" name="Group 122"/>
                <p:cNvGrpSpPr/>
                <p:nvPr/>
              </p:nvGrpSpPr>
              <p:grpSpPr bwMode="auto">
                <a:xfrm>
                  <a:off x="3875" y="2872"/>
                  <a:ext cx="172" cy="192"/>
                  <a:chOff x="1091" y="3583"/>
                  <a:chExt cx="172" cy="192"/>
                </a:xfrm>
              </p:grpSpPr>
              <p:sp>
                <p:nvSpPr>
                  <p:cNvPr id="465" name="Oval 123"/>
                  <p:cNvSpPr>
                    <a:spLocks noChangeArrowheads="1"/>
                  </p:cNvSpPr>
                  <p:nvPr/>
                </p:nvSpPr>
                <p:spPr bwMode="auto">
                  <a:xfrm>
                    <a:off x="1131" y="3639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66" name="Rectangle 124"/>
                  <p:cNvSpPr>
                    <a:spLocks noChangeArrowheads="1"/>
                  </p:cNvSpPr>
                  <p:nvPr/>
                </p:nvSpPr>
                <p:spPr bwMode="auto">
                  <a:xfrm>
                    <a:off x="1091" y="3583"/>
                    <a:ext cx="17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400"/>
                      <a:t>x</a:t>
                    </a:r>
                    <a:endParaRPr lang="en-US" altLang="zh-CN" sz="1400"/>
                  </a:p>
                </p:txBody>
              </p:sp>
            </p:grpSp>
            <p:pic>
              <p:nvPicPr>
                <p:cNvPr id="420" name="Picture 125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376" y="2068"/>
                  <a:ext cx="144" cy="1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421" name="Rectangle 126"/>
                <p:cNvSpPr>
                  <a:spLocks noChangeArrowheads="1"/>
                </p:cNvSpPr>
                <p:nvPr/>
              </p:nvSpPr>
              <p:spPr bwMode="auto">
                <a:xfrm>
                  <a:off x="3848" y="2259"/>
                  <a:ext cx="15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400" i="1">
                      <a:latin typeface="Times New Roman" panose="02020603050405020304" pitchFamily="18" charset="0"/>
                    </a:rPr>
                    <a:t>I</a:t>
                  </a:r>
                  <a:endParaRPr lang="en-US" altLang="zh-CN" sz="14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2" name="Line 127"/>
                <p:cNvSpPr>
                  <a:spLocks noChangeShapeType="1"/>
                </p:cNvSpPr>
                <p:nvPr/>
              </p:nvSpPr>
              <p:spPr bwMode="auto">
                <a:xfrm flipH="1" flipV="1">
                  <a:off x="4760" y="1857"/>
                  <a:ext cx="48" cy="96"/>
                </a:xfrm>
                <a:prstGeom prst="line">
                  <a:avLst/>
                </a:prstGeom>
                <a:noFill/>
                <a:ln w="19050">
                  <a:solidFill>
                    <a:srgbClr val="2453E8"/>
                  </a:solidFill>
                  <a:round/>
                  <a:tailEnd type="stealth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3" name="Line 128"/>
                <p:cNvSpPr>
                  <a:spLocks noChangeShapeType="1"/>
                </p:cNvSpPr>
                <p:nvPr/>
              </p:nvSpPr>
              <p:spPr bwMode="auto">
                <a:xfrm>
                  <a:off x="3692" y="2595"/>
                  <a:ext cx="89" cy="100"/>
                </a:xfrm>
                <a:prstGeom prst="line">
                  <a:avLst/>
                </a:prstGeom>
                <a:noFill/>
                <a:ln w="19050">
                  <a:solidFill>
                    <a:srgbClr val="2453E8"/>
                  </a:solidFill>
                  <a:round/>
                  <a:tailEnd type="stealth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4" name="Line 129"/>
                <p:cNvSpPr>
                  <a:spLocks noChangeShapeType="1"/>
                </p:cNvSpPr>
                <p:nvPr/>
              </p:nvSpPr>
              <p:spPr bwMode="auto">
                <a:xfrm flipH="1">
                  <a:off x="3752" y="1656"/>
                  <a:ext cx="133" cy="102"/>
                </a:xfrm>
                <a:prstGeom prst="line">
                  <a:avLst/>
                </a:prstGeom>
                <a:noFill/>
                <a:ln w="19050">
                  <a:solidFill>
                    <a:srgbClr val="2453E8"/>
                  </a:solidFill>
                  <a:round/>
                  <a:tailEnd type="stealth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5" name="Line 130"/>
                <p:cNvSpPr>
                  <a:spLocks noChangeShapeType="1"/>
                </p:cNvSpPr>
                <p:nvPr/>
              </p:nvSpPr>
              <p:spPr bwMode="auto">
                <a:xfrm flipV="1">
                  <a:off x="4638" y="2613"/>
                  <a:ext cx="92" cy="99"/>
                </a:xfrm>
                <a:prstGeom prst="line">
                  <a:avLst/>
                </a:prstGeom>
                <a:noFill/>
                <a:ln w="19050">
                  <a:solidFill>
                    <a:srgbClr val="2453E8"/>
                  </a:solidFill>
                  <a:round/>
                  <a:tailEnd type="stealth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6" name="Rectangle 131"/>
                <p:cNvSpPr>
                  <a:spLocks noChangeArrowheads="1"/>
                </p:cNvSpPr>
                <p:nvPr/>
              </p:nvSpPr>
              <p:spPr bwMode="auto">
                <a:xfrm>
                  <a:off x="3972" y="1575"/>
                  <a:ext cx="20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400" b="1">
                      <a:solidFill>
                        <a:srgbClr val="2453E8"/>
                      </a:solidFill>
                      <a:latin typeface="Times New Roman" panose="02020603050405020304" pitchFamily="18" charset="0"/>
                    </a:rPr>
                    <a:t>H</a:t>
                  </a:r>
                  <a:endParaRPr lang="en-US" altLang="zh-CN" sz="1400" b="1">
                    <a:solidFill>
                      <a:srgbClr val="2453E8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7" name="Rectangle 132"/>
                <p:cNvSpPr>
                  <a:spLocks noChangeArrowheads="1"/>
                </p:cNvSpPr>
                <p:nvPr/>
              </p:nvSpPr>
              <p:spPr bwMode="auto">
                <a:xfrm>
                  <a:off x="4643" y="1977"/>
                  <a:ext cx="191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400" i="1">
                      <a:solidFill>
                        <a:srgbClr val="CC006B"/>
                      </a:solidFill>
                      <a:latin typeface="Times New Roman" panose="02020603050405020304" pitchFamily="18" charset="0"/>
                    </a:rPr>
                    <a:t>C</a:t>
                  </a:r>
                  <a:endParaRPr lang="en-US" altLang="zh-CN" sz="1400" i="1">
                    <a:solidFill>
                      <a:srgbClr val="CC006B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8" name="Rectangle 133" descr="Light downward diagonal"/>
                <p:cNvSpPr>
                  <a:spLocks noChangeArrowheads="1"/>
                </p:cNvSpPr>
                <p:nvPr/>
              </p:nvSpPr>
              <p:spPr bwMode="auto">
                <a:xfrm>
                  <a:off x="3473" y="3511"/>
                  <a:ext cx="284" cy="204"/>
                </a:xfrm>
                <a:prstGeom prst="rect">
                  <a:avLst/>
                </a:prstGeom>
                <a:pattFill prst="ltDnDiag">
                  <a:fgClr>
                    <a:schemeClr val="tx2"/>
                  </a:fgClr>
                  <a:bgClr>
                    <a:schemeClr val="bg1"/>
                  </a:bgClr>
                </a:pattFill>
                <a:ln w="127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9" name="Rectangle 134" descr="Light downward diagonal"/>
                <p:cNvSpPr>
                  <a:spLocks noChangeArrowheads="1"/>
                </p:cNvSpPr>
                <p:nvPr/>
              </p:nvSpPr>
              <p:spPr bwMode="auto">
                <a:xfrm>
                  <a:off x="4674" y="3509"/>
                  <a:ext cx="284" cy="204"/>
                </a:xfrm>
                <a:prstGeom prst="rect">
                  <a:avLst/>
                </a:prstGeom>
                <a:pattFill prst="ltDnDiag">
                  <a:fgClr>
                    <a:schemeClr val="tx2"/>
                  </a:fgClr>
                  <a:bgClr>
                    <a:schemeClr val="bg1"/>
                  </a:bgClr>
                </a:pattFill>
                <a:ln w="127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" name="Line 135"/>
                <p:cNvSpPr>
                  <a:spLocks noChangeShapeType="1"/>
                </p:cNvSpPr>
                <p:nvPr/>
              </p:nvSpPr>
              <p:spPr bwMode="auto">
                <a:xfrm flipV="1">
                  <a:off x="3754" y="3509"/>
                  <a:ext cx="921" cy="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" name="Line 136"/>
                <p:cNvSpPr>
                  <a:spLocks noChangeShapeType="1"/>
                </p:cNvSpPr>
                <p:nvPr/>
              </p:nvSpPr>
              <p:spPr bwMode="auto">
                <a:xfrm flipV="1">
                  <a:off x="3755" y="3713"/>
                  <a:ext cx="921" cy="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2" name="Line 137"/>
                <p:cNvSpPr>
                  <a:spLocks noChangeShapeType="1"/>
                </p:cNvSpPr>
                <p:nvPr/>
              </p:nvSpPr>
              <p:spPr bwMode="auto">
                <a:xfrm>
                  <a:off x="4213" y="2221"/>
                  <a:ext cx="319" cy="332"/>
                </a:xfrm>
                <a:prstGeom prst="line">
                  <a:avLst/>
                </a:prstGeom>
                <a:noFill/>
                <a:ln w="12700">
                  <a:solidFill>
                    <a:srgbClr val="FF0035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3" name="Line 138"/>
                <p:cNvSpPr>
                  <a:spLocks noChangeShapeType="1"/>
                </p:cNvSpPr>
                <p:nvPr/>
              </p:nvSpPr>
              <p:spPr bwMode="auto">
                <a:xfrm>
                  <a:off x="4213" y="2218"/>
                  <a:ext cx="334" cy="667"/>
                </a:xfrm>
                <a:prstGeom prst="line">
                  <a:avLst/>
                </a:prstGeom>
                <a:noFill/>
                <a:ln w="12700">
                  <a:solidFill>
                    <a:srgbClr val="FF5C23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4" name="Rectangle 139"/>
                <p:cNvSpPr>
                  <a:spLocks noChangeArrowheads="1"/>
                </p:cNvSpPr>
                <p:nvPr/>
              </p:nvSpPr>
              <p:spPr bwMode="auto">
                <a:xfrm>
                  <a:off x="4328" y="2204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600" i="1">
                      <a:latin typeface="Times New Roman" panose="02020603050405020304" pitchFamily="18" charset="0"/>
                    </a:rPr>
                    <a:t>a</a:t>
                  </a:r>
                  <a:endParaRPr lang="en-US" altLang="zh-CN" sz="16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5" name="Rectangle 140"/>
                <p:cNvSpPr>
                  <a:spLocks noChangeArrowheads="1"/>
                </p:cNvSpPr>
                <p:nvPr/>
              </p:nvSpPr>
              <p:spPr bwMode="auto">
                <a:xfrm>
                  <a:off x="4184" y="2345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600" i="1">
                      <a:latin typeface="Times New Roman" panose="02020603050405020304" pitchFamily="18" charset="0"/>
                    </a:rPr>
                    <a:t>b</a:t>
                  </a:r>
                  <a:endParaRPr lang="en-US" altLang="zh-CN" sz="16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6" name="Line 141"/>
                <p:cNvSpPr>
                  <a:spLocks noChangeShapeType="1"/>
                </p:cNvSpPr>
                <p:nvPr/>
              </p:nvSpPr>
              <p:spPr bwMode="auto">
                <a:xfrm>
                  <a:off x="3470" y="2225"/>
                  <a:ext cx="3" cy="13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7" name="Line 142"/>
                <p:cNvSpPr>
                  <a:spLocks noChangeShapeType="1"/>
                </p:cNvSpPr>
                <p:nvPr/>
              </p:nvSpPr>
              <p:spPr bwMode="auto">
                <a:xfrm>
                  <a:off x="3758" y="2218"/>
                  <a:ext cx="3" cy="13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8" name="Line 143"/>
                <p:cNvSpPr>
                  <a:spLocks noChangeShapeType="1"/>
                </p:cNvSpPr>
                <p:nvPr/>
              </p:nvSpPr>
              <p:spPr bwMode="auto">
                <a:xfrm>
                  <a:off x="4958" y="2221"/>
                  <a:ext cx="3" cy="13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9" name="Line 144"/>
                <p:cNvSpPr>
                  <a:spLocks noChangeShapeType="1"/>
                </p:cNvSpPr>
                <p:nvPr/>
              </p:nvSpPr>
              <p:spPr bwMode="auto">
                <a:xfrm>
                  <a:off x="4673" y="2218"/>
                  <a:ext cx="3" cy="13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0" name="Line 145"/>
                <p:cNvSpPr>
                  <a:spLocks noChangeShapeType="1"/>
                </p:cNvSpPr>
                <p:nvPr/>
              </p:nvSpPr>
              <p:spPr bwMode="auto">
                <a:xfrm>
                  <a:off x="4217" y="3856"/>
                  <a:ext cx="105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1" name="Line 146"/>
                <p:cNvSpPr>
                  <a:spLocks noChangeShapeType="1"/>
                </p:cNvSpPr>
                <p:nvPr/>
              </p:nvSpPr>
              <p:spPr bwMode="auto">
                <a:xfrm>
                  <a:off x="4217" y="3367"/>
                  <a:ext cx="0" cy="52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pic>
              <p:nvPicPr>
                <p:cNvPr id="442" name="Picture 147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288" y="3779"/>
                  <a:ext cx="138" cy="1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443" name="Line 148"/>
                <p:cNvSpPr>
                  <a:spLocks noChangeShapeType="1"/>
                </p:cNvSpPr>
                <p:nvPr/>
              </p:nvSpPr>
              <p:spPr bwMode="auto">
                <a:xfrm>
                  <a:off x="4676" y="3808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4" name="Line 149"/>
                <p:cNvSpPr>
                  <a:spLocks noChangeShapeType="1"/>
                </p:cNvSpPr>
                <p:nvPr/>
              </p:nvSpPr>
              <p:spPr bwMode="auto">
                <a:xfrm>
                  <a:off x="4958" y="3808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5" name="Rectangle 150"/>
                <p:cNvSpPr>
                  <a:spLocks noChangeArrowheads="1"/>
                </p:cNvSpPr>
                <p:nvPr/>
              </p:nvSpPr>
              <p:spPr bwMode="auto">
                <a:xfrm>
                  <a:off x="4580" y="3868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600" i="1">
                      <a:latin typeface="Times New Roman" panose="02020603050405020304" pitchFamily="18" charset="0"/>
                    </a:rPr>
                    <a:t>a</a:t>
                  </a:r>
                  <a:endParaRPr lang="en-US" altLang="zh-CN" sz="16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6" name="Rectangle 151"/>
                <p:cNvSpPr>
                  <a:spLocks noChangeArrowheads="1"/>
                </p:cNvSpPr>
                <p:nvPr/>
              </p:nvSpPr>
              <p:spPr bwMode="auto">
                <a:xfrm>
                  <a:off x="4868" y="3868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600" i="1">
                      <a:latin typeface="Times New Roman" panose="02020603050405020304" pitchFamily="18" charset="0"/>
                    </a:rPr>
                    <a:t>b</a:t>
                  </a:r>
                  <a:endParaRPr lang="en-US" altLang="zh-CN" sz="16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7" name="Rectangle 152"/>
                <p:cNvSpPr>
                  <a:spLocks noChangeArrowheads="1"/>
                </p:cNvSpPr>
                <p:nvPr/>
              </p:nvSpPr>
              <p:spPr bwMode="auto">
                <a:xfrm>
                  <a:off x="3179" y="3505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600" i="1">
                      <a:latin typeface="Times New Roman" panose="02020603050405020304" pitchFamily="18" charset="0"/>
                    </a:rPr>
                    <a:t>h</a:t>
                  </a:r>
                  <a:endParaRPr lang="en-US" altLang="zh-CN" sz="16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8" name="AutoShape 153"/>
                <p:cNvSpPr/>
                <p:nvPr/>
              </p:nvSpPr>
              <p:spPr bwMode="auto">
                <a:xfrm>
                  <a:off x="3347" y="3520"/>
                  <a:ext cx="96" cy="190"/>
                </a:xfrm>
                <a:prstGeom prst="leftBrace">
                  <a:avLst>
                    <a:gd name="adj1" fmla="val 16493"/>
                    <a:gd name="adj2" fmla="val 50000"/>
                  </a:avLst>
                </a:prstGeom>
                <a:noFill/>
                <a:ln w="127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9" name="Rectangle 154"/>
                <p:cNvSpPr>
                  <a:spLocks noChangeArrowheads="1"/>
                </p:cNvSpPr>
                <p:nvPr/>
              </p:nvSpPr>
              <p:spPr bwMode="auto">
                <a:xfrm>
                  <a:off x="5072" y="1369"/>
                  <a:ext cx="544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>
                      <a:latin typeface="Times New Roman" panose="02020603050405020304" pitchFamily="18" charset="0"/>
                    </a:rPr>
                    <a:t>N turns</a:t>
                  </a:r>
                  <a:endParaRPr lang="en-US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0" name="Line 155"/>
                <p:cNvSpPr>
                  <a:spLocks noChangeShapeType="1"/>
                </p:cNvSpPr>
                <p:nvPr/>
              </p:nvSpPr>
              <p:spPr bwMode="auto">
                <a:xfrm flipH="1">
                  <a:off x="4752" y="1504"/>
                  <a:ext cx="288" cy="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51" name="Line 156"/>
                <p:cNvSpPr>
                  <a:spLocks noChangeShapeType="1"/>
                </p:cNvSpPr>
                <p:nvPr/>
              </p:nvSpPr>
              <p:spPr bwMode="auto">
                <a:xfrm flipH="1">
                  <a:off x="4944" y="1600"/>
                  <a:ext cx="192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52" name="Rectangle 157"/>
                <p:cNvSpPr>
                  <a:spLocks noChangeArrowheads="1"/>
                </p:cNvSpPr>
                <p:nvPr/>
              </p:nvSpPr>
              <p:spPr bwMode="auto">
                <a:xfrm>
                  <a:off x="3444" y="2172"/>
                  <a:ext cx="336" cy="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3" name="Line 158"/>
                <p:cNvSpPr>
                  <a:spLocks noChangeShapeType="1"/>
                </p:cNvSpPr>
                <p:nvPr/>
              </p:nvSpPr>
              <p:spPr bwMode="auto">
                <a:xfrm>
                  <a:off x="3478" y="2174"/>
                  <a:ext cx="2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54" name="Line 159"/>
                <p:cNvSpPr>
                  <a:spLocks noChangeShapeType="1"/>
                </p:cNvSpPr>
                <p:nvPr/>
              </p:nvSpPr>
              <p:spPr bwMode="auto">
                <a:xfrm>
                  <a:off x="3477" y="2270"/>
                  <a:ext cx="2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55" name="Oval 160"/>
                <p:cNvSpPr>
                  <a:spLocks noChangeArrowheads="1"/>
                </p:cNvSpPr>
                <p:nvPr/>
              </p:nvSpPr>
              <p:spPr bwMode="auto">
                <a:xfrm>
                  <a:off x="3569" y="1569"/>
                  <a:ext cx="1296" cy="1296"/>
                </a:xfrm>
                <a:prstGeom prst="ellipse">
                  <a:avLst/>
                </a:prstGeom>
                <a:noFill/>
                <a:ln w="19050">
                  <a:solidFill>
                    <a:srgbClr val="2453E8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6" name="Oval 161"/>
                <p:cNvSpPr>
                  <a:spLocks noChangeArrowheads="1"/>
                </p:cNvSpPr>
                <p:nvPr/>
              </p:nvSpPr>
              <p:spPr bwMode="auto">
                <a:xfrm>
                  <a:off x="3593" y="1593"/>
                  <a:ext cx="1248" cy="1248"/>
                </a:xfrm>
                <a:prstGeom prst="ellipse">
                  <a:avLst/>
                </a:prstGeom>
                <a:noFill/>
                <a:ln w="19050">
                  <a:solidFill>
                    <a:srgbClr val="D43C82"/>
                  </a:solidFill>
                  <a:prstDash val="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7" name="Line 162"/>
                <p:cNvSpPr>
                  <a:spLocks noChangeShapeType="1"/>
                </p:cNvSpPr>
                <p:nvPr/>
              </p:nvSpPr>
              <p:spPr bwMode="auto">
                <a:xfrm flipV="1">
                  <a:off x="3541" y="2221"/>
                  <a:ext cx="1735" cy="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58" name="Rectangle 163"/>
                <p:cNvSpPr>
                  <a:spLocks noChangeArrowheads="1"/>
                </p:cNvSpPr>
                <p:nvPr/>
              </p:nvSpPr>
              <p:spPr bwMode="auto">
                <a:xfrm>
                  <a:off x="2768" y="1434"/>
                  <a:ext cx="719" cy="4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400" dirty="0">
                      <a:latin typeface="Times New Roman" panose="02020603050405020304" pitchFamily="18" charset="0"/>
                    </a:rPr>
                    <a:t>Air Gap</a:t>
                  </a:r>
                  <a:endParaRPr lang="en-US" altLang="zh-CN" sz="1400" dirty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400" dirty="0">
                      <a:latin typeface="Times New Roman" panose="02020603050405020304" pitchFamily="18" charset="0"/>
                    </a:rPr>
                    <a:t>(free space </a:t>
                  </a:r>
                  <a:endParaRPr lang="en-US" altLang="zh-CN" sz="1400" dirty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400" dirty="0">
                      <a:latin typeface="Times New Roman" panose="02020603050405020304" pitchFamily="18" charset="0"/>
                    </a:rPr>
                    <a:t>permeability)</a:t>
                  </a:r>
                  <a:endParaRPr lang="en-US" altLang="zh-CN" sz="1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9" name="Line 164"/>
                <p:cNvSpPr>
                  <a:spLocks noChangeShapeType="1"/>
                </p:cNvSpPr>
                <p:nvPr/>
              </p:nvSpPr>
              <p:spPr bwMode="auto">
                <a:xfrm>
                  <a:off x="3219" y="1883"/>
                  <a:ext cx="285" cy="3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0" name="Line 165"/>
                <p:cNvSpPr>
                  <a:spLocks noChangeShapeType="1"/>
                </p:cNvSpPr>
                <p:nvPr/>
              </p:nvSpPr>
              <p:spPr bwMode="auto">
                <a:xfrm>
                  <a:off x="3168" y="217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1" name="Line 166"/>
                <p:cNvSpPr>
                  <a:spLocks noChangeShapeType="1"/>
                </p:cNvSpPr>
                <p:nvPr/>
              </p:nvSpPr>
              <p:spPr bwMode="auto">
                <a:xfrm>
                  <a:off x="3168" y="226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2" name="Line 167"/>
                <p:cNvSpPr>
                  <a:spLocks noChangeShapeType="1"/>
                </p:cNvSpPr>
                <p:nvPr/>
              </p:nvSpPr>
              <p:spPr bwMode="auto">
                <a:xfrm flipV="1">
                  <a:off x="3264" y="2268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3" name="Line 168"/>
                <p:cNvSpPr>
                  <a:spLocks noChangeShapeType="1"/>
                </p:cNvSpPr>
                <p:nvPr/>
              </p:nvSpPr>
              <p:spPr bwMode="auto">
                <a:xfrm>
                  <a:off x="3264" y="202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4" name="Rectangle 169"/>
                <p:cNvSpPr>
                  <a:spLocks noChangeArrowheads="1"/>
                </p:cNvSpPr>
                <p:nvPr/>
              </p:nvSpPr>
              <p:spPr bwMode="auto">
                <a:xfrm>
                  <a:off x="3177" y="2364"/>
                  <a:ext cx="15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i="1">
                      <a:latin typeface="Times New Roman" panose="02020603050405020304" pitchFamily="18" charset="0"/>
                    </a:rPr>
                    <a:t>t</a:t>
                  </a:r>
                  <a:endParaRPr lang="en-US" altLang="zh-CN" sz="1800" i="1">
                    <a:latin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197" name="Picture 171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40" y="2736"/>
                <a:ext cx="662" cy="1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198" name="Line 181"/>
              <p:cNvSpPr>
                <a:spLocks noChangeShapeType="1"/>
              </p:cNvSpPr>
              <p:nvPr/>
            </p:nvSpPr>
            <p:spPr bwMode="auto">
              <a:xfrm flipH="1" flipV="1">
                <a:off x="4704" y="2448"/>
                <a:ext cx="528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7" name="Rectangle 184"/>
            <p:cNvSpPr>
              <a:spLocks noChangeArrowheads="1"/>
            </p:cNvSpPr>
            <p:nvPr/>
          </p:nvSpPr>
          <p:spPr bwMode="auto">
            <a:xfrm>
              <a:off x="245" y="1107"/>
              <a:ext cx="2479" cy="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If the core is ferromagnetic, the relative </a:t>
              </a:r>
              <a:endPara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permeability will be on the order of several </a:t>
              </a:r>
              <a:endPara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thousands, in which case the air gap contribution to the reluctance may dominate, even though the gap dimension is very small.</a:t>
              </a:r>
              <a:endPara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88" name="Group 187"/>
            <p:cNvGrpSpPr/>
            <p:nvPr/>
          </p:nvGrpSpPr>
          <p:grpSpPr bwMode="auto">
            <a:xfrm>
              <a:off x="432" y="1939"/>
              <a:ext cx="2059" cy="653"/>
              <a:chOff x="432" y="1939"/>
              <a:chExt cx="2059" cy="653"/>
            </a:xfrm>
          </p:grpSpPr>
          <p:grpSp>
            <p:nvGrpSpPr>
              <p:cNvPr id="191" name="Group 175"/>
              <p:cNvGrpSpPr/>
              <p:nvPr/>
            </p:nvGrpSpPr>
            <p:grpSpPr bwMode="auto">
              <a:xfrm>
                <a:off x="432" y="2109"/>
                <a:ext cx="1828" cy="483"/>
                <a:chOff x="708" y="3456"/>
                <a:chExt cx="1828" cy="483"/>
              </a:xfrm>
            </p:grpSpPr>
            <p:pic>
              <p:nvPicPr>
                <p:cNvPr id="194" name="Picture 176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12" y="3456"/>
                  <a:ext cx="1624" cy="48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95" name="Picture 177"/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08" y="3597"/>
                  <a:ext cx="227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pic>
          </p:grpSp>
          <p:sp>
            <p:nvSpPr>
              <p:cNvPr id="192" name="Line 185"/>
              <p:cNvSpPr>
                <a:spLocks noChangeShapeType="1"/>
              </p:cNvSpPr>
              <p:nvPr/>
            </p:nvSpPr>
            <p:spPr bwMode="auto">
              <a:xfrm flipV="1">
                <a:off x="1920" y="2112"/>
                <a:ext cx="192" cy="192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3" name="Rectangle 186"/>
              <p:cNvSpPr>
                <a:spLocks noChangeArrowheads="1"/>
              </p:cNvSpPr>
              <p:nvPr/>
            </p:nvSpPr>
            <p:spPr bwMode="auto">
              <a:xfrm>
                <a:off x="1824" y="1939"/>
                <a:ext cx="667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dirty="0">
                    <a:latin typeface="Times New Roman" panose="02020603050405020304" pitchFamily="18" charset="0"/>
                  </a:rPr>
                  <a:t>may neglect</a:t>
                </a:r>
                <a:endParaRPr lang="en-US" altLang="zh-CN" sz="14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89" name="Rectangle 188"/>
            <p:cNvSpPr>
              <a:spLocks noChangeArrowheads="1"/>
            </p:cNvSpPr>
            <p:nvPr/>
          </p:nvSpPr>
          <p:spPr bwMode="auto">
            <a:xfrm>
              <a:off x="294" y="3216"/>
              <a:ext cx="2586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Another assumption is that the </a:t>
              </a: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gap thickness is </a:t>
              </a:r>
              <a:endPara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small enough so that fringing magnetic fields </a:t>
              </a:r>
              <a:endPara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can be neglected.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  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190" name="Rectangle 189"/>
            <p:cNvSpPr>
              <a:spLocks noChangeArrowheads="1"/>
            </p:cNvSpPr>
            <p:nvPr/>
          </p:nvSpPr>
          <p:spPr bwMode="auto">
            <a:xfrm>
              <a:off x="302" y="2694"/>
              <a:ext cx="3129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If </a:t>
              </a:r>
              <a:r>
                <a:rPr lang="en-US" altLang="zh-CN" sz="1600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t </a:t>
              </a: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is even a small fraction of the core circumference,</a:t>
              </a:r>
              <a:endPara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the net reluctance can often be taken as that of the air gap.</a:t>
              </a:r>
              <a:endPara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49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Magnetic Field in Core and Air Gap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207" name="Group 184"/>
          <p:cNvGrpSpPr/>
          <p:nvPr/>
        </p:nvGrpSpPr>
        <p:grpSpPr bwMode="auto">
          <a:xfrm>
            <a:off x="304800" y="1918225"/>
            <a:ext cx="5491162" cy="4953000"/>
            <a:chOff x="1149" y="1152"/>
            <a:chExt cx="3459" cy="3120"/>
          </a:xfrm>
        </p:grpSpPr>
        <p:sp>
          <p:nvSpPr>
            <p:cNvPr id="225" name="Rectangle 131"/>
            <p:cNvSpPr>
              <a:spLocks noChangeArrowheads="1"/>
            </p:cNvSpPr>
            <p:nvPr/>
          </p:nvSpPr>
          <p:spPr bwMode="auto">
            <a:xfrm>
              <a:off x="1713" y="2223"/>
              <a:ext cx="23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latin typeface="Times New Roman" panose="02020603050405020304" pitchFamily="18" charset="0"/>
                </a:rPr>
                <a:t>H</a:t>
              </a:r>
              <a:r>
                <a:rPr lang="en-US" altLang="zh-CN" sz="1400" i="1" baseline="-25000">
                  <a:latin typeface="Times New Roman" panose="02020603050405020304" pitchFamily="18" charset="0"/>
                </a:rPr>
                <a:t>c</a:t>
              </a:r>
              <a:endParaRPr lang="en-US" altLang="zh-CN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226" name="Line 165"/>
            <p:cNvSpPr>
              <a:spLocks noChangeShapeType="1"/>
            </p:cNvSpPr>
            <p:nvPr/>
          </p:nvSpPr>
          <p:spPr bwMode="auto">
            <a:xfrm>
              <a:off x="1152" y="2601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" name="Line 166"/>
            <p:cNvSpPr>
              <a:spLocks noChangeShapeType="1"/>
            </p:cNvSpPr>
            <p:nvPr/>
          </p:nvSpPr>
          <p:spPr bwMode="auto">
            <a:xfrm>
              <a:off x="1149" y="2787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8" name="Line 167"/>
            <p:cNvSpPr>
              <a:spLocks noChangeShapeType="1"/>
            </p:cNvSpPr>
            <p:nvPr/>
          </p:nvSpPr>
          <p:spPr bwMode="auto">
            <a:xfrm flipV="1">
              <a:off x="1272" y="278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" name="Line 168"/>
            <p:cNvSpPr>
              <a:spLocks noChangeShapeType="1"/>
            </p:cNvSpPr>
            <p:nvPr/>
          </p:nvSpPr>
          <p:spPr bwMode="auto">
            <a:xfrm>
              <a:off x="1272" y="245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0" name="Rectangle 169"/>
            <p:cNvSpPr>
              <a:spLocks noChangeArrowheads="1"/>
            </p:cNvSpPr>
            <p:nvPr/>
          </p:nvSpPr>
          <p:spPr bwMode="auto">
            <a:xfrm>
              <a:off x="1188" y="2565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 New Roman" panose="02020603050405020304" pitchFamily="18" charset="0"/>
                </a:rPr>
                <a:t>t</a:t>
              </a:r>
              <a:endParaRPr lang="en-US" altLang="zh-CN" sz="1800" i="1">
                <a:latin typeface="Times New Roman" panose="02020603050405020304" pitchFamily="18" charset="0"/>
              </a:endParaRPr>
            </a:p>
          </p:txBody>
        </p:sp>
        <p:sp>
          <p:nvSpPr>
            <p:cNvPr id="231" name="Oval 6"/>
            <p:cNvSpPr>
              <a:spLocks noChangeAspect="1" noChangeArrowheads="1"/>
            </p:cNvSpPr>
            <p:nvPr/>
          </p:nvSpPr>
          <p:spPr bwMode="auto">
            <a:xfrm>
              <a:off x="2055" y="1781"/>
              <a:ext cx="1826" cy="182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32" name="Oval 7"/>
            <p:cNvSpPr>
              <a:spLocks noChangeAspect="1" noChangeArrowheads="1"/>
            </p:cNvSpPr>
            <p:nvPr/>
          </p:nvSpPr>
          <p:spPr bwMode="auto">
            <a:xfrm>
              <a:off x="1484" y="1200"/>
              <a:ext cx="2980" cy="29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33" name="Line 128"/>
            <p:cNvSpPr>
              <a:spLocks noChangeAspect="1" noChangeShapeType="1"/>
            </p:cNvSpPr>
            <p:nvPr/>
          </p:nvSpPr>
          <p:spPr bwMode="auto">
            <a:xfrm rot="1798052">
              <a:off x="1616" y="2931"/>
              <a:ext cx="101" cy="114"/>
            </a:xfrm>
            <a:prstGeom prst="line">
              <a:avLst/>
            </a:prstGeom>
            <a:noFill/>
            <a:ln w="19050">
              <a:solidFill>
                <a:srgbClr val="2453E8"/>
              </a:solidFill>
              <a:round/>
              <a:tailEnd type="stealth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4" name="Line 129"/>
            <p:cNvSpPr>
              <a:spLocks noChangeAspect="1" noChangeShapeType="1"/>
            </p:cNvSpPr>
            <p:nvPr/>
          </p:nvSpPr>
          <p:spPr bwMode="auto">
            <a:xfrm rot="19391074" flipH="1">
              <a:off x="1596" y="2314"/>
              <a:ext cx="150" cy="118"/>
            </a:xfrm>
            <a:prstGeom prst="line">
              <a:avLst/>
            </a:prstGeom>
            <a:noFill/>
            <a:ln w="19050">
              <a:solidFill>
                <a:srgbClr val="2453E8"/>
              </a:solidFill>
              <a:round/>
              <a:tailEnd type="stealth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" name="Rectangle 157"/>
            <p:cNvSpPr>
              <a:spLocks noChangeAspect="1" noChangeArrowheads="1"/>
            </p:cNvSpPr>
            <p:nvPr/>
          </p:nvSpPr>
          <p:spPr bwMode="auto">
            <a:xfrm>
              <a:off x="1424" y="2598"/>
              <a:ext cx="673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36" name="Line 158"/>
            <p:cNvSpPr>
              <a:spLocks noChangeAspect="1" noChangeShapeType="1"/>
            </p:cNvSpPr>
            <p:nvPr/>
          </p:nvSpPr>
          <p:spPr bwMode="auto">
            <a:xfrm>
              <a:off x="1489" y="2602"/>
              <a:ext cx="5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" name="Line 159"/>
            <p:cNvSpPr>
              <a:spLocks noChangeAspect="1" noChangeShapeType="1"/>
            </p:cNvSpPr>
            <p:nvPr/>
          </p:nvSpPr>
          <p:spPr bwMode="auto">
            <a:xfrm>
              <a:off x="1484" y="2788"/>
              <a:ext cx="5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8" name="Oval 160"/>
            <p:cNvSpPr>
              <a:spLocks noChangeAspect="1" noChangeArrowheads="1"/>
            </p:cNvSpPr>
            <p:nvPr/>
          </p:nvSpPr>
          <p:spPr bwMode="auto">
            <a:xfrm>
              <a:off x="1632" y="1390"/>
              <a:ext cx="2596" cy="2596"/>
            </a:xfrm>
            <a:prstGeom prst="ellipse">
              <a:avLst/>
            </a:prstGeom>
            <a:noFill/>
            <a:ln w="19050">
              <a:solidFill>
                <a:srgbClr val="2453E8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39" name="Line 173"/>
            <p:cNvSpPr>
              <a:spLocks noChangeAspect="1" noChangeShapeType="1"/>
            </p:cNvSpPr>
            <p:nvPr/>
          </p:nvSpPr>
          <p:spPr bwMode="auto">
            <a:xfrm rot="18517186" flipH="1">
              <a:off x="1557" y="2639"/>
              <a:ext cx="147" cy="116"/>
            </a:xfrm>
            <a:prstGeom prst="line">
              <a:avLst/>
            </a:prstGeom>
            <a:noFill/>
            <a:ln w="19050">
              <a:solidFill>
                <a:srgbClr val="2453E8"/>
              </a:solidFill>
              <a:round/>
              <a:tailEnd type="stealth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0" name="Rectangle 174"/>
            <p:cNvSpPr>
              <a:spLocks noChangeArrowheads="1"/>
            </p:cNvSpPr>
            <p:nvPr/>
          </p:nvSpPr>
          <p:spPr bwMode="auto">
            <a:xfrm>
              <a:off x="2256" y="1152"/>
              <a:ext cx="2352" cy="3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41" name="Rectangle 176"/>
            <p:cNvSpPr>
              <a:spLocks noChangeArrowheads="1"/>
            </p:cNvSpPr>
            <p:nvPr/>
          </p:nvSpPr>
          <p:spPr bwMode="auto">
            <a:xfrm>
              <a:off x="1728" y="3024"/>
              <a:ext cx="23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latin typeface="Times New Roman" panose="02020603050405020304" pitchFamily="18" charset="0"/>
                </a:rPr>
                <a:t>H</a:t>
              </a:r>
              <a:r>
                <a:rPr lang="en-US" altLang="zh-CN" sz="1400" i="1" baseline="-25000">
                  <a:latin typeface="Times New Roman" panose="02020603050405020304" pitchFamily="18" charset="0"/>
                </a:rPr>
                <a:t>c</a:t>
              </a:r>
              <a:endParaRPr lang="en-US" altLang="zh-CN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242" name="Rectangle 177"/>
            <p:cNvSpPr>
              <a:spLocks noChangeArrowheads="1"/>
            </p:cNvSpPr>
            <p:nvPr/>
          </p:nvSpPr>
          <p:spPr bwMode="auto">
            <a:xfrm>
              <a:off x="1680" y="2592"/>
              <a:ext cx="23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latin typeface="Times New Roman" panose="02020603050405020304" pitchFamily="18" charset="0"/>
                </a:rPr>
                <a:t>H</a:t>
              </a:r>
              <a:r>
                <a:rPr lang="en-US" altLang="zh-CN" sz="1400" i="1" baseline="-25000">
                  <a:latin typeface="Times New Roman" panose="02020603050405020304" pitchFamily="18" charset="0"/>
                </a:rPr>
                <a:t>g</a:t>
              </a:r>
              <a:endParaRPr lang="en-US" altLang="zh-CN" sz="1400" b="1">
                <a:latin typeface="Times New Roman" panose="02020603050405020304" pitchFamily="18" charset="0"/>
              </a:endParaRPr>
            </a:p>
          </p:txBody>
        </p:sp>
        <p:pic>
          <p:nvPicPr>
            <p:cNvPr id="243" name="Picture 17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4" y="3360"/>
              <a:ext cx="662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grpSp>
          <p:nvGrpSpPr>
            <p:cNvPr id="244" name="Group 180"/>
            <p:cNvGrpSpPr/>
            <p:nvPr/>
          </p:nvGrpSpPr>
          <p:grpSpPr bwMode="auto">
            <a:xfrm>
              <a:off x="2235" y="2613"/>
              <a:ext cx="444" cy="191"/>
              <a:chOff x="2208" y="2592"/>
              <a:chExt cx="444" cy="191"/>
            </a:xfrm>
          </p:grpSpPr>
          <p:pic>
            <p:nvPicPr>
              <p:cNvPr id="247" name="Picture 178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8" y="2592"/>
                <a:ext cx="288" cy="1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248" name="Picture 179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7" y="2613"/>
                <a:ext cx="155" cy="1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245" name="Line 182"/>
            <p:cNvSpPr>
              <a:spLocks noChangeShapeType="1"/>
            </p:cNvSpPr>
            <p:nvPr/>
          </p:nvSpPr>
          <p:spPr bwMode="auto">
            <a:xfrm flipH="1">
              <a:off x="1992" y="270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" name="Line 183"/>
            <p:cNvSpPr>
              <a:spLocks noChangeShapeType="1"/>
            </p:cNvSpPr>
            <p:nvPr/>
          </p:nvSpPr>
          <p:spPr bwMode="auto">
            <a:xfrm flipH="1">
              <a:off x="2091" y="3441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8" name="Group 210"/>
          <p:cNvGrpSpPr/>
          <p:nvPr/>
        </p:nvGrpSpPr>
        <p:grpSpPr bwMode="auto">
          <a:xfrm>
            <a:off x="990600" y="1661050"/>
            <a:ext cx="7845424" cy="4600575"/>
            <a:chOff x="864" y="990"/>
            <a:chExt cx="4942" cy="2898"/>
          </a:xfrm>
        </p:grpSpPr>
        <p:pic>
          <p:nvPicPr>
            <p:cNvPr id="211" name="Picture 18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1336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12" name="Picture 191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" y="1233"/>
              <a:ext cx="1140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13" name="Rectangle 192"/>
            <p:cNvSpPr>
              <a:spLocks noChangeArrowheads="1"/>
            </p:cNvSpPr>
            <p:nvPr/>
          </p:nvSpPr>
          <p:spPr bwMode="auto">
            <a:xfrm>
              <a:off x="864" y="1018"/>
              <a:ext cx="9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We assume that 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pic>
          <p:nvPicPr>
            <p:cNvPr id="214" name="Picture 193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6" y="1008"/>
              <a:ext cx="679" cy="2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15" name="Rectangle 195"/>
            <p:cNvSpPr>
              <a:spLocks noChangeArrowheads="1"/>
            </p:cNvSpPr>
            <p:nvPr/>
          </p:nvSpPr>
          <p:spPr bwMode="auto">
            <a:xfrm>
              <a:off x="2448" y="990"/>
              <a:ext cx="244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…so that the net reluctance approximates as: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216" name="Rectangle 197"/>
            <p:cNvSpPr>
              <a:spLocks noChangeArrowheads="1"/>
            </p:cNvSpPr>
            <p:nvPr/>
          </p:nvSpPr>
          <p:spPr bwMode="auto">
            <a:xfrm>
              <a:off x="2180" y="1680"/>
              <a:ext cx="362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The magnetic flux density is the same in the core and in the air gap </a:t>
              </a:r>
              <a:endParaRPr lang="en-US" altLang="zh-CN" sz="16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highlight>
                    <a:srgbClr val="FFFF00"/>
                  </a:highlight>
                  <a:latin typeface="Times New Roman" panose="02020603050405020304" pitchFamily="18" charset="0"/>
                </a:rPr>
                <a:t>(remember the boundary condition for </a:t>
              </a:r>
              <a:r>
                <a:rPr lang="en-US" altLang="zh-CN" sz="1600" b="1" dirty="0">
                  <a:highlight>
                    <a:srgbClr val="FFFF00"/>
                  </a:highlight>
                  <a:latin typeface="Times New Roman" panose="02020603050405020304" pitchFamily="18" charset="0"/>
                </a:rPr>
                <a:t>B </a:t>
              </a:r>
              <a:r>
                <a:rPr lang="en-US" altLang="zh-CN" sz="1600" dirty="0">
                  <a:highlight>
                    <a:srgbClr val="FFFF00"/>
                  </a:highlight>
                  <a:latin typeface="Times New Roman" panose="02020603050405020304" pitchFamily="18" charset="0"/>
                </a:rPr>
                <a:t>normal to an interface)</a:t>
              </a:r>
              <a:endParaRPr lang="en-US" altLang="zh-CN" sz="1600" dirty="0">
                <a:highlight>
                  <a:srgbClr val="FFFF00"/>
                </a:highlight>
                <a:latin typeface="Times New Roman" panose="02020603050405020304" pitchFamily="18" charset="0"/>
              </a:endParaRPr>
            </a:p>
          </p:txBody>
        </p:sp>
        <p:sp>
          <p:nvSpPr>
            <p:cNvPr id="217" name="Rectangle 198"/>
            <p:cNvSpPr>
              <a:spLocks noChangeArrowheads="1"/>
            </p:cNvSpPr>
            <p:nvPr/>
          </p:nvSpPr>
          <p:spPr bwMode="auto">
            <a:xfrm>
              <a:off x="2208" y="2640"/>
              <a:ext cx="284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The magnetic field strengths in each region are now: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pic>
          <p:nvPicPr>
            <p:cNvPr id="218" name="Picture 199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0" y="2928"/>
              <a:ext cx="2050" cy="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19" name="Rectangle 200"/>
            <p:cNvSpPr>
              <a:spLocks noChangeArrowheads="1"/>
            </p:cNvSpPr>
            <p:nvPr/>
          </p:nvSpPr>
          <p:spPr bwMode="auto">
            <a:xfrm>
              <a:off x="2340" y="3034"/>
              <a:ext cx="86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Core material: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220" name="Rectangle 201"/>
            <p:cNvSpPr>
              <a:spLocks noChangeArrowheads="1"/>
            </p:cNvSpPr>
            <p:nvPr/>
          </p:nvSpPr>
          <p:spPr bwMode="auto">
            <a:xfrm>
              <a:off x="2336" y="3496"/>
              <a:ext cx="54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Air gap: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pic>
          <p:nvPicPr>
            <p:cNvPr id="221" name="Picture 202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3433"/>
              <a:ext cx="2534" cy="4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grpSp>
          <p:nvGrpSpPr>
            <p:cNvPr id="222" name="Group 204"/>
            <p:cNvGrpSpPr/>
            <p:nvPr/>
          </p:nvGrpSpPr>
          <p:grpSpPr bwMode="auto">
            <a:xfrm>
              <a:off x="2305" y="2112"/>
              <a:ext cx="3311" cy="426"/>
              <a:chOff x="2305" y="2208"/>
              <a:chExt cx="3311" cy="426"/>
            </a:xfrm>
          </p:grpSpPr>
          <p:pic>
            <p:nvPicPr>
              <p:cNvPr id="223" name="Picture 196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05" y="2208"/>
                <a:ext cx="3311" cy="4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224" name="Picture 203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63" y="2439"/>
                <a:ext cx="173" cy="1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</p:grpSp>
      </p:grpSp>
      <p:sp>
        <p:nvSpPr>
          <p:cNvPr id="209" name="Line 206"/>
          <p:cNvSpPr>
            <a:spLocks noChangeShapeType="1"/>
          </p:cNvSpPr>
          <p:nvPr/>
        </p:nvSpPr>
        <p:spPr bwMode="auto">
          <a:xfrm>
            <a:off x="6629400" y="5423425"/>
            <a:ext cx="1295400" cy="0"/>
          </a:xfrm>
          <a:prstGeom prst="line">
            <a:avLst/>
          </a:prstGeom>
          <a:noFill/>
          <a:ln w="9525">
            <a:solidFill>
              <a:srgbClr val="FF148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" name="Line 207"/>
          <p:cNvSpPr>
            <a:spLocks noChangeShapeType="1"/>
          </p:cNvSpPr>
          <p:nvPr/>
        </p:nvSpPr>
        <p:spPr bwMode="auto">
          <a:xfrm>
            <a:off x="5867400" y="6261625"/>
            <a:ext cx="2362200" cy="0"/>
          </a:xfrm>
          <a:prstGeom prst="line">
            <a:avLst/>
          </a:prstGeom>
          <a:noFill/>
          <a:ln w="9525">
            <a:solidFill>
              <a:srgbClr val="FF148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50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Nonlinear Relation between 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 and 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H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49" name="Picture 2" descr="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667000"/>
            <a:ext cx="3940175" cy="284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Rectangle 4"/>
          <p:cNvSpPr>
            <a:spLocks noChangeArrowheads="1"/>
          </p:cNvSpPr>
          <p:nvPr/>
        </p:nvSpPr>
        <p:spPr bwMode="auto">
          <a:xfrm>
            <a:off x="838200" y="1778441"/>
            <a:ext cx="7239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In ferromagnetic materials, </a:t>
            </a:r>
            <a:r>
              <a:rPr lang="en-US" altLang="zh-CN" sz="1800" b="1" dirty="0">
                <a:latin typeface="Times New Roman" panose="02020603050405020304" pitchFamily="18" charset="0"/>
              </a:rPr>
              <a:t>B </a:t>
            </a:r>
            <a:r>
              <a:rPr lang="en-US" altLang="zh-CN" sz="1800" dirty="0">
                <a:latin typeface="Times New Roman" panose="02020603050405020304" pitchFamily="18" charset="0"/>
              </a:rPr>
              <a:t>increases with increasing </a:t>
            </a:r>
            <a:r>
              <a:rPr lang="en-US" altLang="zh-CN" sz="1800" b="1" dirty="0">
                <a:latin typeface="Times New Roman" panose="02020603050405020304" pitchFamily="18" charset="0"/>
              </a:rPr>
              <a:t>H</a:t>
            </a:r>
            <a:r>
              <a:rPr lang="en-US" altLang="zh-CN" sz="1800" dirty="0">
                <a:latin typeface="Times New Roman" panose="02020603050405020304" pitchFamily="18" charset="0"/>
              </a:rPr>
              <a:t>, but in a nonlinear manner as shown in the typical curve below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sp>
        <p:nvSpPr>
          <p:cNvPr id="51" name="Rectangle 5"/>
          <p:cNvSpPr>
            <a:spLocks noChangeArrowheads="1"/>
          </p:cNvSpPr>
          <p:nvPr/>
        </p:nvSpPr>
        <p:spPr bwMode="auto">
          <a:xfrm>
            <a:off x="914400" y="5715000"/>
            <a:ext cx="8001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So we really don’t know what the actual permeability is until we have definite knowledge of </a:t>
            </a:r>
            <a:r>
              <a: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or </a:t>
            </a:r>
            <a:r>
              <a: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. </a:t>
            </a:r>
            <a:endParaRPr lang="en-US" altLang="zh-CN" sz="1800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922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Procedure for Including the Nonlinear 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B-H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 Characteristic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1" name="Group 5"/>
          <p:cNvGrpSpPr/>
          <p:nvPr/>
        </p:nvGrpSpPr>
        <p:grpSpPr bwMode="auto">
          <a:xfrm>
            <a:off x="611283" y="1826419"/>
            <a:ext cx="6289675" cy="336550"/>
            <a:chOff x="382" y="1289"/>
            <a:chExt cx="3962" cy="212"/>
          </a:xfrm>
        </p:grpSpPr>
        <p:sp>
          <p:nvSpPr>
            <p:cNvPr id="41" name="Rectangle 3"/>
            <p:cNvSpPr>
              <a:spLocks noChangeArrowheads="1"/>
            </p:cNvSpPr>
            <p:nvPr/>
          </p:nvSpPr>
          <p:spPr bwMode="auto">
            <a:xfrm>
              <a:off x="382" y="1289"/>
              <a:ext cx="39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Consider again the toroid with mean radius         and air gap of thickness </a:t>
              </a:r>
              <a:r>
                <a:rPr lang="en-US" altLang="zh-CN" sz="160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. 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pic>
          <p:nvPicPr>
            <p:cNvPr id="42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2" y="1332"/>
              <a:ext cx="179" cy="1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12" name="Group 13"/>
          <p:cNvGrpSpPr/>
          <p:nvPr/>
        </p:nvGrpSpPr>
        <p:grpSpPr bwMode="auto">
          <a:xfrm>
            <a:off x="2804090" y="2363996"/>
            <a:ext cx="1925638" cy="639762"/>
            <a:chOff x="2234" y="1673"/>
            <a:chExt cx="1213" cy="403"/>
          </a:xfrm>
        </p:grpSpPr>
        <p:pic>
          <p:nvPicPr>
            <p:cNvPr id="39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4" y="1770"/>
              <a:ext cx="190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40" name="Picture 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9" y="1673"/>
              <a:ext cx="1048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611283" y="2485816"/>
            <a:ext cx="205979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We already found that:</a:t>
            </a:r>
            <a:endParaRPr lang="en-US" altLang="zh-CN" sz="1600" dirty="0">
              <a:latin typeface="Times New Roman" panose="02020603050405020304" pitchFamily="18" charset="0"/>
            </a:endParaRPr>
          </a:p>
        </p:txBody>
      </p:sp>
      <p:grpSp>
        <p:nvGrpSpPr>
          <p:cNvPr id="14" name="Group 12"/>
          <p:cNvGrpSpPr/>
          <p:nvPr/>
        </p:nvGrpSpPr>
        <p:grpSpPr bwMode="auto">
          <a:xfrm>
            <a:off x="685800" y="3361531"/>
            <a:ext cx="3336925" cy="608012"/>
            <a:chOff x="1152" y="2496"/>
            <a:chExt cx="2102" cy="383"/>
          </a:xfrm>
        </p:grpSpPr>
        <p:pic>
          <p:nvPicPr>
            <p:cNvPr id="37" name="Picture 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2496"/>
              <a:ext cx="210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38" name="Picture 1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7" y="2703"/>
              <a:ext cx="173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609600" y="2995261"/>
            <a:ext cx="89960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and that:</a:t>
            </a:r>
            <a:endParaRPr lang="en-US" altLang="zh-CN" sz="1600" dirty="0">
              <a:latin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5276850"/>
            <a:ext cx="272415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7" name="Group 25"/>
          <p:cNvGrpSpPr/>
          <p:nvPr/>
        </p:nvGrpSpPr>
        <p:grpSpPr bwMode="auto">
          <a:xfrm>
            <a:off x="4335462" y="2994819"/>
            <a:ext cx="3513138" cy="1738313"/>
            <a:chOff x="3021" y="2025"/>
            <a:chExt cx="2213" cy="1095"/>
          </a:xfrm>
        </p:grpSpPr>
        <p:pic>
          <p:nvPicPr>
            <p:cNvPr id="28" name="Picture 16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3" y="2256"/>
              <a:ext cx="1647" cy="4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9" name="AutoShape 17"/>
            <p:cNvSpPr>
              <a:spLocks noChangeArrowheads="1"/>
            </p:cNvSpPr>
            <p:nvPr/>
          </p:nvSpPr>
          <p:spPr bwMode="auto">
            <a:xfrm>
              <a:off x="3021" y="2433"/>
              <a:ext cx="288" cy="48"/>
            </a:xfrm>
            <a:prstGeom prst="notchedRightArrow">
              <a:avLst>
                <a:gd name="adj1" fmla="val 50000"/>
                <a:gd name="adj2" fmla="val 150000"/>
              </a:avLst>
            </a:prstGeom>
            <a:solidFill>
              <a:srgbClr val="CC006B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30" name="Line 18"/>
            <p:cNvSpPr>
              <a:spLocks noChangeShapeType="1"/>
            </p:cNvSpPr>
            <p:nvPr/>
          </p:nvSpPr>
          <p:spPr bwMode="auto">
            <a:xfrm flipV="1">
              <a:off x="3534" y="25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Rectangle 19"/>
            <p:cNvSpPr>
              <a:spLocks noChangeArrowheads="1"/>
            </p:cNvSpPr>
            <p:nvPr/>
          </p:nvSpPr>
          <p:spPr bwMode="auto">
            <a:xfrm>
              <a:off x="3357" y="2838"/>
              <a:ext cx="3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</a:rPr>
                <a:t>given</a:t>
              </a:r>
              <a:endParaRPr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32" name="Line 20"/>
            <p:cNvSpPr>
              <a:spLocks noChangeShapeType="1"/>
            </p:cNvSpPr>
            <p:nvPr/>
          </p:nvSpPr>
          <p:spPr bwMode="auto">
            <a:xfrm flipV="1">
              <a:off x="4095" y="265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Rectangle 21"/>
            <p:cNvSpPr>
              <a:spLocks noChangeArrowheads="1"/>
            </p:cNvSpPr>
            <p:nvPr/>
          </p:nvSpPr>
          <p:spPr bwMode="auto">
            <a:xfrm>
              <a:off x="3835" y="2928"/>
              <a:ext cx="53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</a:rPr>
                <a:t>unknown</a:t>
              </a:r>
              <a:endParaRPr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34" name="Line 22"/>
            <p:cNvSpPr>
              <a:spLocks noChangeShapeType="1"/>
            </p:cNvSpPr>
            <p:nvPr/>
          </p:nvSpPr>
          <p:spPr bwMode="auto">
            <a:xfrm flipV="1">
              <a:off x="4961" y="255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Rectangle 23"/>
            <p:cNvSpPr>
              <a:spLocks noChangeArrowheads="1"/>
            </p:cNvSpPr>
            <p:nvPr/>
          </p:nvSpPr>
          <p:spPr bwMode="auto">
            <a:xfrm>
              <a:off x="4701" y="2826"/>
              <a:ext cx="53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</a:rPr>
                <a:t>unknown</a:t>
              </a:r>
              <a:endParaRPr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36" name="Rectangle 24"/>
            <p:cNvSpPr>
              <a:spLocks noChangeArrowheads="1"/>
            </p:cNvSpPr>
            <p:nvPr/>
          </p:nvSpPr>
          <p:spPr bwMode="auto">
            <a:xfrm>
              <a:off x="3449" y="2025"/>
              <a:ext cx="132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..so the problem is this: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8" name="Rectangle 26"/>
          <p:cNvSpPr>
            <a:spLocks noChangeArrowheads="1"/>
          </p:cNvSpPr>
          <p:nvPr/>
        </p:nvSpPr>
        <p:spPr bwMode="auto">
          <a:xfrm>
            <a:off x="797849" y="4406106"/>
            <a:ext cx="39131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The procedure is to assume a value for </a:t>
            </a:r>
            <a:r>
              <a:rPr lang="en-US" altLang="zh-CN" sz="1400" i="1">
                <a:latin typeface="Times New Roman" panose="02020603050405020304" pitchFamily="18" charset="0"/>
              </a:rPr>
              <a:t>B</a:t>
            </a:r>
            <a:r>
              <a:rPr lang="en-US" altLang="zh-CN" sz="1400">
                <a:latin typeface="Times New Roman" panose="02020603050405020304" pitchFamily="18" charset="0"/>
              </a:rPr>
              <a:t>, solve the </a:t>
            </a:r>
            <a:endParaRPr lang="en-US" altLang="zh-CN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equation for       , and then use that result to find </a:t>
            </a:r>
            <a:r>
              <a:rPr lang="en-US" altLang="zh-CN" sz="1400" i="1">
                <a:latin typeface="Times New Roman" panose="02020603050405020304" pitchFamily="18" charset="0"/>
              </a:rPr>
              <a:t>H</a:t>
            </a:r>
            <a:r>
              <a:rPr lang="en-US" altLang="zh-CN" sz="1400" i="1" baseline="-25000">
                <a:latin typeface="Times New Roman" panose="02020603050405020304" pitchFamily="18" charset="0"/>
              </a:rPr>
              <a:t>c</a:t>
            </a:r>
            <a:r>
              <a:rPr lang="en-US" altLang="zh-CN" sz="1400" i="1">
                <a:latin typeface="Times New Roman" panose="02020603050405020304" pitchFamily="18" charset="0"/>
              </a:rPr>
              <a:t> </a:t>
            </a:r>
            <a:r>
              <a:rPr lang="en-US" altLang="zh-CN" sz="1400">
                <a:latin typeface="Times New Roman" panose="02020603050405020304" pitchFamily="18" charset="0"/>
              </a:rPr>
              <a:t> </a:t>
            </a:r>
            <a:endParaRPr lang="en-US" altLang="zh-CN" sz="1400">
              <a:latin typeface="Times New Roman" panose="02020603050405020304" pitchFamily="18" charset="0"/>
            </a:endParaRPr>
          </a:p>
        </p:txBody>
      </p:sp>
      <p:pic>
        <p:nvPicPr>
          <p:cNvPr id="19" name="Picture 27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574" y="4680744"/>
            <a:ext cx="2555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" name="Picture 29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578" y="5245100"/>
            <a:ext cx="106045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" name="Rectangle 30"/>
          <p:cNvSpPr>
            <a:spLocks noChangeArrowheads="1"/>
          </p:cNvSpPr>
          <p:nvPr/>
        </p:nvSpPr>
        <p:spPr bwMode="auto">
          <a:xfrm>
            <a:off x="799436" y="4809331"/>
            <a:ext cx="21685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anose="02020603050405020304" pitchFamily="18" charset="0"/>
              </a:rPr>
              <a:t>using the actual </a:t>
            </a:r>
            <a:r>
              <a:rPr lang="en-US" altLang="zh-CN" sz="1400" i="1" dirty="0">
                <a:latin typeface="Times New Roman" panose="02020603050405020304" pitchFamily="18" charset="0"/>
              </a:rPr>
              <a:t>B-H </a:t>
            </a:r>
            <a:r>
              <a:rPr lang="en-US" altLang="zh-CN" sz="1400" dirty="0">
                <a:latin typeface="Times New Roman" panose="02020603050405020304" pitchFamily="18" charset="0"/>
              </a:rPr>
              <a:t>curve. </a:t>
            </a:r>
            <a:endParaRPr lang="en-US" altLang="zh-CN" sz="1400" dirty="0">
              <a:latin typeface="Times New Roman" panose="02020603050405020304" pitchFamily="18" charset="0"/>
            </a:endParaRPr>
          </a:p>
        </p:txBody>
      </p:sp>
      <p:sp>
        <p:nvSpPr>
          <p:cNvPr id="22" name="Rectangle 31"/>
          <p:cNvSpPr>
            <a:spLocks noChangeArrowheads="1"/>
          </p:cNvSpPr>
          <p:nvPr/>
        </p:nvSpPr>
        <p:spPr bwMode="auto">
          <a:xfrm>
            <a:off x="436661" y="5348873"/>
            <a:ext cx="15840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This, along with:</a:t>
            </a:r>
            <a:endParaRPr lang="en-US" altLang="zh-CN" sz="1600" dirty="0">
              <a:latin typeface="Times New Roman" panose="02020603050405020304" pitchFamily="18" charset="0"/>
            </a:endParaRPr>
          </a:p>
        </p:txBody>
      </p:sp>
      <p:sp>
        <p:nvSpPr>
          <p:cNvPr id="23" name="Rectangle 32"/>
          <p:cNvSpPr>
            <a:spLocks noChangeArrowheads="1"/>
          </p:cNvSpPr>
          <p:nvPr/>
        </p:nvSpPr>
        <p:spPr bwMode="auto">
          <a:xfrm>
            <a:off x="3048000" y="5365750"/>
            <a:ext cx="331186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must satisfy Ampere’s Circuital Law: </a:t>
            </a:r>
            <a:endParaRPr lang="en-US" altLang="zh-CN" sz="1600" dirty="0">
              <a:latin typeface="Times New Roman" panose="02020603050405020304" pitchFamily="18" charset="0"/>
            </a:endParaRPr>
          </a:p>
        </p:txBody>
      </p:sp>
      <p:sp>
        <p:nvSpPr>
          <p:cNvPr id="24" name="Rectangle 33"/>
          <p:cNvSpPr>
            <a:spLocks noChangeArrowheads="1"/>
          </p:cNvSpPr>
          <p:nvPr/>
        </p:nvSpPr>
        <p:spPr bwMode="auto">
          <a:xfrm>
            <a:off x="457200" y="5986046"/>
            <a:ext cx="715452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If not, try again with a corrected value for </a:t>
            </a:r>
            <a:r>
              <a:rPr lang="en-US" altLang="zh-CN" sz="16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1600" dirty="0">
                <a:latin typeface="Times New Roman" panose="02020603050405020304" pitchFamily="18" charset="0"/>
              </a:rPr>
              <a:t>, over as many 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iterations </a:t>
            </a:r>
            <a:r>
              <a:rPr lang="zh-CN" altLang="en-US" sz="16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迭代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</a:rPr>
              <a:t>as needed.</a:t>
            </a:r>
            <a:endParaRPr lang="en-US" altLang="zh-CN" sz="1600" dirty="0">
              <a:latin typeface="Times New Roman" panose="02020603050405020304" pitchFamily="18" charset="0"/>
            </a:endParaRPr>
          </a:p>
        </p:txBody>
      </p:sp>
      <p:sp>
        <p:nvSpPr>
          <p:cNvPr id="25" name="Rectangle 35"/>
          <p:cNvSpPr>
            <a:spLocks noChangeArrowheads="1"/>
          </p:cNvSpPr>
          <p:nvPr/>
        </p:nvSpPr>
        <p:spPr bwMode="auto">
          <a:xfrm>
            <a:off x="756574" y="4380706"/>
            <a:ext cx="3962400" cy="762000"/>
          </a:xfrm>
          <a:prstGeom prst="rect">
            <a:avLst/>
          </a:prstGeom>
          <a:noFill/>
          <a:ln w="9525">
            <a:solidFill>
              <a:srgbClr val="CC006B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CC006B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26" name="Line 36"/>
          <p:cNvSpPr>
            <a:spLocks noChangeShapeType="1"/>
          </p:cNvSpPr>
          <p:nvPr/>
        </p:nvSpPr>
        <p:spPr bwMode="auto">
          <a:xfrm flipV="1">
            <a:off x="4111624" y="3971131"/>
            <a:ext cx="838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39"/>
          <p:cNvSpPr>
            <a:spLocks noChangeShapeType="1"/>
          </p:cNvSpPr>
          <p:nvPr/>
        </p:nvSpPr>
        <p:spPr bwMode="auto">
          <a:xfrm>
            <a:off x="6238875" y="5714029"/>
            <a:ext cx="2590800" cy="0"/>
          </a:xfrm>
          <a:prstGeom prst="line">
            <a:avLst/>
          </a:prstGeom>
          <a:noFill/>
          <a:ln w="9525">
            <a:solidFill>
              <a:srgbClr val="CC006B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922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 Further Complication: </a:t>
            </a:r>
            <a:r>
              <a:rPr lang="en-US" altLang="zh-CN" sz="2800" dirty="0">
                <a:solidFill>
                  <a:srgbClr val="000099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Hysteresis </a:t>
            </a:r>
            <a:r>
              <a:rPr lang="zh-CN" altLang="en-US" sz="2800" dirty="0">
                <a:solidFill>
                  <a:srgbClr val="000099"/>
                </a:solidFill>
                <a:highlight>
                  <a:srgbClr val="FFFF00"/>
                </a:highlight>
                <a:latin typeface="华文行楷" panose="02010800040101010101" pitchFamily="2" charset="-122"/>
                <a:ea typeface="华文行楷" panose="02010800040101010101" pitchFamily="2" charset="-122"/>
              </a:rPr>
              <a:t>磁滞回线</a:t>
            </a:r>
            <a:endParaRPr lang="zh-CN" altLang="en-US" sz="2800" b="1" dirty="0">
              <a:solidFill>
                <a:srgbClr val="000099"/>
              </a:solidFill>
              <a:highlight>
                <a:srgbClr val="FFFF00"/>
              </a:highlight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44" name="Group 31"/>
          <p:cNvGrpSpPr/>
          <p:nvPr/>
        </p:nvGrpSpPr>
        <p:grpSpPr bwMode="auto">
          <a:xfrm>
            <a:off x="166687" y="1600200"/>
            <a:ext cx="9075738" cy="5186363"/>
            <a:chOff x="138" y="960"/>
            <a:chExt cx="5717" cy="3267"/>
          </a:xfrm>
        </p:grpSpPr>
        <p:grpSp>
          <p:nvGrpSpPr>
            <p:cNvPr id="45" name="Group 16"/>
            <p:cNvGrpSpPr/>
            <p:nvPr/>
          </p:nvGrpSpPr>
          <p:grpSpPr bwMode="auto">
            <a:xfrm>
              <a:off x="1521" y="1152"/>
              <a:ext cx="3368" cy="2892"/>
              <a:chOff x="1521" y="1152"/>
              <a:chExt cx="3368" cy="2892"/>
            </a:xfrm>
          </p:grpSpPr>
          <p:grpSp>
            <p:nvGrpSpPr>
              <p:cNvPr id="60" name="Group 9"/>
              <p:cNvGrpSpPr>
                <a:grpSpLocks noChangeAspect="1"/>
              </p:cNvGrpSpPr>
              <p:nvPr/>
            </p:nvGrpSpPr>
            <p:grpSpPr bwMode="auto">
              <a:xfrm>
                <a:off x="1872" y="1152"/>
                <a:ext cx="3017" cy="2892"/>
                <a:chOff x="2435" y="1383"/>
                <a:chExt cx="2413" cy="2313"/>
              </a:xfrm>
            </p:grpSpPr>
            <p:pic>
              <p:nvPicPr>
                <p:cNvPr id="65" name="Picture 2" descr="8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435" y="1383"/>
                  <a:ext cx="2413" cy="23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6" name="Line 5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3603" y="2022"/>
                  <a:ext cx="144" cy="96"/>
                </a:xfrm>
                <a:prstGeom prst="line">
                  <a:avLst/>
                </a:prstGeom>
                <a:noFill/>
                <a:ln w="12700">
                  <a:solidFill>
                    <a:srgbClr val="B5234B"/>
                  </a:solidFill>
                  <a:rou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7" name="Line 6"/>
                <p:cNvSpPr>
                  <a:spLocks noChangeAspect="1" noChangeShapeType="1"/>
                </p:cNvSpPr>
                <p:nvPr/>
              </p:nvSpPr>
              <p:spPr bwMode="auto">
                <a:xfrm rot="19869350" flipH="1">
                  <a:off x="3054" y="2844"/>
                  <a:ext cx="144" cy="96"/>
                </a:xfrm>
                <a:prstGeom prst="line">
                  <a:avLst/>
                </a:prstGeom>
                <a:noFill/>
                <a:ln w="12700">
                  <a:solidFill>
                    <a:srgbClr val="B5234B"/>
                  </a:solidFill>
                  <a:rou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8" name="Line 7"/>
                <p:cNvSpPr>
                  <a:spLocks noChangeAspect="1" noChangeShapeType="1"/>
                </p:cNvSpPr>
                <p:nvPr/>
              </p:nvSpPr>
              <p:spPr bwMode="auto">
                <a:xfrm rot="9553664" flipH="1">
                  <a:off x="3873" y="2223"/>
                  <a:ext cx="144" cy="96"/>
                </a:xfrm>
                <a:prstGeom prst="line">
                  <a:avLst/>
                </a:prstGeom>
                <a:noFill/>
                <a:ln w="12700">
                  <a:solidFill>
                    <a:srgbClr val="B5234B"/>
                  </a:solidFill>
                  <a:rou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9" name="Line 8"/>
                <p:cNvSpPr>
                  <a:spLocks noChangeAspect="1" noChangeShapeType="1"/>
                </p:cNvSpPr>
                <p:nvPr/>
              </p:nvSpPr>
              <p:spPr bwMode="auto">
                <a:xfrm rot="11174345" flipH="1">
                  <a:off x="3099" y="3288"/>
                  <a:ext cx="144" cy="96"/>
                </a:xfrm>
                <a:prstGeom prst="line">
                  <a:avLst/>
                </a:prstGeom>
                <a:noFill/>
                <a:ln w="12700">
                  <a:solidFill>
                    <a:srgbClr val="B5234B"/>
                  </a:solidFill>
                  <a:rou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1" name="Rectangle 11"/>
              <p:cNvSpPr>
                <a:spLocks noChangeArrowheads="1"/>
              </p:cNvSpPr>
              <p:nvPr/>
            </p:nvSpPr>
            <p:spPr bwMode="auto">
              <a:xfrm>
                <a:off x="4320" y="1680"/>
                <a:ext cx="225" cy="1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" name="Line 13"/>
              <p:cNvSpPr>
                <a:spLocks noChangeShapeType="1"/>
              </p:cNvSpPr>
              <p:nvPr/>
            </p:nvSpPr>
            <p:spPr bwMode="auto">
              <a:xfrm flipV="1">
                <a:off x="4308" y="1722"/>
                <a:ext cx="524" cy="32"/>
              </a:xfrm>
              <a:prstGeom prst="line">
                <a:avLst/>
              </a:prstGeom>
              <a:noFill/>
              <a:ln w="381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Rectangle 15"/>
              <p:cNvSpPr>
                <a:spLocks noChangeArrowheads="1"/>
              </p:cNvSpPr>
              <p:nvPr/>
            </p:nvSpPr>
            <p:spPr bwMode="auto">
              <a:xfrm>
                <a:off x="1923" y="3729"/>
                <a:ext cx="113" cy="1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4" name="Line 14"/>
              <p:cNvSpPr>
                <a:spLocks noChangeShapeType="1"/>
              </p:cNvSpPr>
              <p:nvPr/>
            </p:nvSpPr>
            <p:spPr bwMode="auto">
              <a:xfrm flipV="1">
                <a:off x="1521" y="3771"/>
                <a:ext cx="524" cy="32"/>
              </a:xfrm>
              <a:prstGeom prst="line">
                <a:avLst/>
              </a:prstGeom>
              <a:noFill/>
              <a:ln w="381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6" name="Rectangle 10"/>
            <p:cNvSpPr>
              <a:spLocks noChangeArrowheads="1"/>
            </p:cNvSpPr>
            <p:nvPr/>
          </p:nvSpPr>
          <p:spPr bwMode="auto">
            <a:xfrm>
              <a:off x="3729" y="960"/>
              <a:ext cx="212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 dirty="0">
                  <a:latin typeface="Times New Roman" panose="02020603050405020304" pitchFamily="18" charset="0"/>
                </a:rPr>
                <a:t>Increasing </a:t>
              </a:r>
              <a:r>
                <a:rPr lang="en-US" altLang="zh-CN" sz="1200" b="1" dirty="0">
                  <a:latin typeface="Times New Roman" panose="02020603050405020304" pitchFamily="18" charset="0"/>
                </a:rPr>
                <a:t>H </a:t>
              </a:r>
              <a:r>
                <a:rPr lang="en-US" altLang="zh-CN" sz="1200" dirty="0">
                  <a:latin typeface="Times New Roman" panose="02020603050405020304" pitchFamily="18" charset="0"/>
                </a:rPr>
                <a:t>to high positive values lines up all</a:t>
              </a:r>
              <a:endParaRPr lang="en-US" altLang="zh-CN" sz="12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 dirty="0">
                  <a:latin typeface="Times New Roman" panose="02020603050405020304" pitchFamily="18" charset="0"/>
                </a:rPr>
                <a:t>magnetic moments, and a single domain is</a:t>
              </a:r>
              <a:endParaRPr lang="en-US" altLang="zh-CN" sz="12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 dirty="0">
                  <a:latin typeface="Times New Roman" panose="02020603050405020304" pitchFamily="18" charset="0"/>
                </a:rPr>
                <a:t>left (in the extreme case).  The core is thus in </a:t>
              </a:r>
              <a:endParaRPr lang="en-US" altLang="zh-CN" sz="12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 b="1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Saturation </a:t>
              </a:r>
              <a:r>
                <a:rPr lang="zh-CN" altLang="en-US" sz="1200" b="1" dirty="0">
                  <a:solidFill>
                    <a:srgbClr val="C0000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饱和</a:t>
              </a:r>
              <a:r>
                <a:rPr lang="en-US" altLang="zh-CN" sz="1200" i="1" dirty="0">
                  <a:latin typeface="Times New Roman" panose="02020603050405020304" pitchFamily="18" charset="0"/>
                </a:rPr>
                <a:t>.  </a:t>
              </a:r>
              <a:r>
                <a:rPr lang="en-US" altLang="zh-CN" sz="1200" dirty="0">
                  <a:latin typeface="Times New Roman" panose="02020603050405020304" pitchFamily="18" charset="0"/>
                </a:rPr>
                <a:t>Further increase in </a:t>
              </a:r>
              <a:r>
                <a:rPr lang="en-US" altLang="zh-CN" sz="1200" b="1" dirty="0">
                  <a:latin typeface="Times New Roman" panose="02020603050405020304" pitchFamily="18" charset="0"/>
                </a:rPr>
                <a:t>H</a:t>
              </a:r>
              <a:r>
                <a:rPr lang="en-US" altLang="zh-CN" sz="1200" dirty="0">
                  <a:latin typeface="Times New Roman" panose="02020603050405020304" pitchFamily="18" charset="0"/>
                </a:rPr>
                <a:t> leads to an </a:t>
              </a:r>
              <a:endParaRPr lang="en-US" altLang="zh-CN" sz="12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 dirty="0">
                  <a:latin typeface="Times New Roman" panose="02020603050405020304" pitchFamily="18" charset="0"/>
                </a:rPr>
                <a:t>increase in </a:t>
              </a:r>
              <a:r>
                <a:rPr lang="en-US" altLang="zh-CN" sz="1200" b="1" dirty="0">
                  <a:latin typeface="Times New Roman" panose="02020603050405020304" pitchFamily="18" charset="0"/>
                </a:rPr>
                <a:t>B </a:t>
              </a:r>
              <a:r>
                <a:rPr lang="en-US" altLang="zh-CN" sz="1200" dirty="0">
                  <a:latin typeface="Times New Roman" panose="02020603050405020304" pitchFamily="18" charset="0"/>
                </a:rPr>
                <a:t>through the free space permeability</a:t>
              </a:r>
              <a:endParaRPr lang="en-US" altLang="zh-CN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47" name="Line 17"/>
            <p:cNvSpPr>
              <a:spLocks noChangeShapeType="1"/>
            </p:cNvSpPr>
            <p:nvPr/>
          </p:nvSpPr>
          <p:spPr bwMode="auto">
            <a:xfrm>
              <a:off x="4512" y="1584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Rectangle 19"/>
            <p:cNvSpPr>
              <a:spLocks noChangeArrowheads="1"/>
            </p:cNvSpPr>
            <p:nvPr/>
          </p:nvSpPr>
          <p:spPr bwMode="auto">
            <a:xfrm>
              <a:off x="177" y="3936"/>
              <a:ext cx="17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 dirty="0">
                  <a:latin typeface="Times New Roman" panose="02020603050405020304" pitchFamily="18" charset="0"/>
                </a:rPr>
                <a:t>Increasing </a:t>
              </a:r>
              <a:r>
                <a:rPr lang="en-US" altLang="zh-CN" sz="1200" b="1" dirty="0">
                  <a:latin typeface="Times New Roman" panose="02020603050405020304" pitchFamily="18" charset="0"/>
                </a:rPr>
                <a:t>H </a:t>
              </a:r>
              <a:r>
                <a:rPr lang="en-US" altLang="zh-CN" sz="1200" dirty="0">
                  <a:latin typeface="Times New Roman" panose="02020603050405020304" pitchFamily="18" charset="0"/>
                </a:rPr>
                <a:t>to high negative values again</a:t>
              </a:r>
              <a:endParaRPr lang="en-US" altLang="zh-CN" sz="12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 dirty="0">
                  <a:latin typeface="Times New Roman" panose="02020603050405020304" pitchFamily="18" charset="0"/>
                </a:rPr>
                <a:t>leads to </a:t>
              </a:r>
              <a:r>
                <a:rPr lang="en-US" altLang="zh-CN" sz="12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saturation</a:t>
              </a:r>
              <a:endParaRPr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" name="Line 20"/>
            <p:cNvSpPr>
              <a:spLocks noChangeShapeType="1"/>
            </p:cNvSpPr>
            <p:nvPr/>
          </p:nvSpPr>
          <p:spPr bwMode="auto">
            <a:xfrm flipV="1">
              <a:off x="1392" y="3840"/>
              <a:ext cx="28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Rectangle 4"/>
            <p:cNvSpPr>
              <a:spLocks noChangeArrowheads="1"/>
            </p:cNvSpPr>
            <p:nvPr/>
          </p:nvSpPr>
          <p:spPr bwMode="auto">
            <a:xfrm>
              <a:off x="144" y="1056"/>
              <a:ext cx="2759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Domain wall </a:t>
              </a:r>
              <a:r>
                <a:rPr lang="zh-CN" altLang="en-US" sz="1200" b="1" dirty="0">
                  <a:solidFill>
                    <a:srgbClr val="C0000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磁畴壁 </a:t>
              </a:r>
              <a:r>
                <a:rPr lang="en-US" altLang="zh-CN" sz="1200" dirty="0">
                  <a:latin typeface="Times New Roman" panose="02020603050405020304" pitchFamily="18" charset="0"/>
                </a:rPr>
                <a:t>shifting in ferromagnetic materials introduces </a:t>
              </a:r>
              <a:endParaRPr lang="en-US" altLang="zh-CN" sz="12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 dirty="0">
                  <a:latin typeface="Times New Roman" panose="02020603050405020304" pitchFamily="18" charset="0"/>
                </a:rPr>
                <a:t>semi-permanent magnetization states that are slow to respond to </a:t>
              </a:r>
              <a:endParaRPr lang="en-US" altLang="zh-CN" sz="12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 dirty="0">
                  <a:latin typeface="Times New Roman" panose="02020603050405020304" pitchFamily="18" charset="0"/>
                </a:rPr>
                <a:t>changes in applied magnetic fields.  The resulting magnetization </a:t>
              </a:r>
              <a:endParaRPr lang="en-US" altLang="zh-CN" sz="12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 dirty="0">
                  <a:latin typeface="Times New Roman" panose="02020603050405020304" pitchFamily="18" charset="0"/>
                </a:rPr>
                <a:t>curve demonstrates the </a:t>
              </a:r>
              <a:r>
                <a:rPr lang="en-US" altLang="zh-CN" sz="1200" b="1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hysteresis</a:t>
              </a:r>
              <a:r>
                <a:rPr lang="en-US" altLang="zh-CN" sz="1200" dirty="0">
                  <a:latin typeface="Times New Roman" panose="02020603050405020304" pitchFamily="18" charset="0"/>
                </a:rPr>
                <a:t> phenomenon as shown here.  </a:t>
              </a:r>
              <a:endParaRPr lang="en-US" altLang="zh-CN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51" name="Rectangle 21"/>
            <p:cNvSpPr>
              <a:spLocks noChangeArrowheads="1"/>
            </p:cNvSpPr>
            <p:nvPr/>
          </p:nvSpPr>
          <p:spPr bwMode="auto">
            <a:xfrm>
              <a:off x="192" y="1776"/>
              <a:ext cx="2714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 dirty="0">
                  <a:latin typeface="Times New Roman" panose="02020603050405020304" pitchFamily="18" charset="0"/>
                </a:rPr>
                <a:t>Decreasing the applied </a:t>
              </a:r>
              <a:r>
                <a:rPr lang="en-US" altLang="zh-CN" sz="1200" b="1" dirty="0">
                  <a:latin typeface="Times New Roman" panose="02020603050405020304" pitchFamily="18" charset="0"/>
                </a:rPr>
                <a:t>H </a:t>
              </a:r>
              <a:r>
                <a:rPr lang="en-US" altLang="zh-CN" sz="1200" dirty="0">
                  <a:latin typeface="Times New Roman" panose="02020603050405020304" pitchFamily="18" charset="0"/>
                </a:rPr>
                <a:t>field to zero leaves many dipoles</a:t>
              </a:r>
              <a:endParaRPr lang="en-US" altLang="zh-CN" sz="12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 dirty="0">
                  <a:latin typeface="Times New Roman" panose="02020603050405020304" pitchFamily="18" charset="0"/>
                </a:rPr>
                <a:t>still aligned, and we have the </a:t>
              </a:r>
              <a:r>
                <a:rPr lang="en-US" altLang="zh-CN" sz="1200" b="1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remnant </a:t>
              </a:r>
              <a:r>
                <a:rPr lang="en-US" altLang="zh-CN" sz="12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magnetic flux density</a:t>
              </a:r>
              <a:r>
                <a:rPr lang="en-US" altLang="zh-CN" sz="1200" dirty="0">
                  <a:latin typeface="Times New Roman" panose="02020603050405020304" pitchFamily="18" charset="0"/>
                </a:rPr>
                <a:t>,</a:t>
              </a:r>
              <a:endParaRPr lang="en-US" altLang="zh-CN" sz="12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 b="1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200" b="1" i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1200" i="1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200" dirty="0">
                  <a:latin typeface="Times New Roman" panose="02020603050405020304" pitchFamily="18" charset="0"/>
                </a:rPr>
                <a:t> </a:t>
              </a:r>
              <a:r>
                <a:rPr lang="zh-CN" altLang="en-US" sz="1200" dirty="0">
                  <a:solidFill>
                    <a:srgbClr val="C0000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剩余磁通密度</a:t>
              </a:r>
              <a:r>
                <a:rPr lang="en-US" altLang="zh-CN" sz="1200" dirty="0">
                  <a:latin typeface="Times New Roman" panose="02020603050405020304" pitchFamily="18" charset="0"/>
                </a:rPr>
                <a:t>.  The material has become a permanent magnet. </a:t>
              </a:r>
              <a:endParaRPr lang="en-US" altLang="zh-CN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52" name="Line 22"/>
            <p:cNvSpPr>
              <a:spLocks noChangeShapeType="1"/>
            </p:cNvSpPr>
            <p:nvPr/>
          </p:nvSpPr>
          <p:spPr bwMode="auto">
            <a:xfrm>
              <a:off x="2352" y="220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Rectangle 23"/>
            <p:cNvSpPr>
              <a:spLocks noChangeArrowheads="1"/>
            </p:cNvSpPr>
            <p:nvPr/>
          </p:nvSpPr>
          <p:spPr bwMode="auto">
            <a:xfrm>
              <a:off x="138" y="3053"/>
              <a:ext cx="2339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 dirty="0">
                  <a:latin typeface="Times New Roman" panose="02020603050405020304" pitchFamily="18" charset="0"/>
                </a:rPr>
                <a:t>The remnant flux density is reduced to zero by applying</a:t>
              </a:r>
              <a:endParaRPr lang="en-US" altLang="zh-CN" sz="12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 dirty="0">
                  <a:latin typeface="Times New Roman" panose="02020603050405020304" pitchFamily="18" charset="0"/>
                </a:rPr>
                <a:t>an opposing </a:t>
              </a:r>
              <a:r>
                <a:rPr lang="en-US" altLang="zh-CN" sz="1200" dirty="0" err="1">
                  <a:latin typeface="Times New Roman" panose="02020603050405020304" pitchFamily="18" charset="0"/>
                </a:rPr>
                <a:t>magentic</a:t>
              </a:r>
              <a:r>
                <a:rPr lang="en-US" altLang="zh-CN" sz="1200" dirty="0">
                  <a:latin typeface="Times New Roman" panose="02020603050405020304" pitchFamily="18" charset="0"/>
                </a:rPr>
                <a:t> field strength, </a:t>
              </a:r>
              <a:r>
                <a:rPr lang="en-US" altLang="zh-CN" sz="1200" i="1" dirty="0">
                  <a:latin typeface="Times New Roman" panose="02020603050405020304" pitchFamily="18" charset="0"/>
                </a:rPr>
                <a:t>-</a:t>
              </a:r>
              <a:r>
                <a:rPr lang="en-US" altLang="zh-CN" sz="1200" i="1" dirty="0" err="1">
                  <a:latin typeface="Times New Roman" panose="02020603050405020304" pitchFamily="18" charset="0"/>
                </a:rPr>
                <a:t>H</a:t>
              </a:r>
              <a:r>
                <a:rPr lang="en-US" altLang="zh-CN" sz="1200" i="1" baseline="-25000" dirty="0" err="1">
                  <a:latin typeface="Times New Roman" panose="02020603050405020304" pitchFamily="18" charset="0"/>
                </a:rPr>
                <a:t>c</a:t>
              </a:r>
              <a:r>
                <a:rPr lang="en-US" altLang="zh-CN" sz="1200" dirty="0">
                  <a:latin typeface="Times New Roman" panose="02020603050405020304" pitchFamily="18" charset="0"/>
                </a:rPr>
                <a:t> known as the </a:t>
              </a:r>
              <a:endParaRPr lang="en-US" altLang="zh-CN" sz="12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 b="1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coercive</a:t>
              </a:r>
              <a:r>
                <a:rPr lang="en-US" altLang="zh-CN" sz="12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field (or coercive force). </a:t>
              </a:r>
              <a:r>
                <a:rPr lang="zh-CN" altLang="en-US" sz="1200" b="1" dirty="0">
                  <a:solidFill>
                    <a:srgbClr val="C0000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矫顽力</a:t>
              </a:r>
              <a:endParaRPr lang="en-US" altLang="zh-CN" sz="1200" b="1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  <p:sp>
          <p:nvSpPr>
            <p:cNvPr id="54" name="Line 24"/>
            <p:cNvSpPr>
              <a:spLocks noChangeShapeType="1"/>
            </p:cNvSpPr>
            <p:nvPr/>
          </p:nvSpPr>
          <p:spPr bwMode="auto">
            <a:xfrm flipV="1">
              <a:off x="2352" y="2784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Rectangle 25"/>
            <p:cNvSpPr>
              <a:spLocks noChangeArrowheads="1"/>
            </p:cNvSpPr>
            <p:nvPr/>
          </p:nvSpPr>
          <p:spPr bwMode="auto">
            <a:xfrm>
              <a:off x="3648" y="3408"/>
              <a:ext cx="2049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latin typeface="Times New Roman" panose="02020603050405020304" pitchFamily="18" charset="0"/>
                </a:rPr>
                <a:t>Remanant</a:t>
              </a:r>
              <a:r>
                <a:rPr lang="en-US" altLang="zh-CN" sz="1200" i="1">
                  <a:latin typeface="Times New Roman" panose="02020603050405020304" pitchFamily="18" charset="0"/>
                </a:rPr>
                <a:t> </a:t>
              </a:r>
              <a:r>
                <a:rPr lang="en-US" altLang="zh-CN" sz="1200">
                  <a:latin typeface="Times New Roman" panose="02020603050405020304" pitchFamily="18" charset="0"/>
                </a:rPr>
                <a:t>magnetic flux density, for </a:t>
              </a:r>
              <a:r>
                <a:rPr lang="en-US" altLang="zh-CN" sz="1200" i="1">
                  <a:latin typeface="Times New Roman" panose="02020603050405020304" pitchFamily="18" charset="0"/>
                </a:rPr>
                <a:t>increasing</a:t>
              </a:r>
              <a:r>
                <a:rPr lang="en-US" altLang="zh-CN" sz="1200">
                  <a:latin typeface="Times New Roman" panose="02020603050405020304" pitchFamily="18" charset="0"/>
                </a:rPr>
                <a:t> </a:t>
              </a:r>
              <a:r>
                <a:rPr lang="en-US" altLang="zh-CN" sz="1200" b="1">
                  <a:latin typeface="Times New Roman" panose="02020603050405020304" pitchFamily="18" charset="0"/>
                </a:rPr>
                <a:t>H</a:t>
              </a:r>
              <a:endParaRPr lang="en-US" altLang="zh-CN" sz="120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latin typeface="Times New Roman" panose="02020603050405020304" pitchFamily="18" charset="0"/>
                </a:rPr>
                <a:t>field from negative to positive values </a:t>
              </a:r>
              <a:endParaRPr lang="en-US" altLang="zh-CN" sz="120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zh-CN" sz="1200">
                <a:latin typeface="Times New Roman" panose="02020603050405020304" pitchFamily="18" charset="0"/>
              </a:endParaRPr>
            </a:p>
          </p:txBody>
        </p:sp>
        <p:sp>
          <p:nvSpPr>
            <p:cNvPr id="56" name="Line 26"/>
            <p:cNvSpPr>
              <a:spLocks noChangeShapeType="1"/>
            </p:cNvSpPr>
            <p:nvPr/>
          </p:nvSpPr>
          <p:spPr bwMode="auto">
            <a:xfrm flipH="1" flipV="1">
              <a:off x="3264" y="3360"/>
              <a:ext cx="38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Rectangle 27"/>
            <p:cNvSpPr>
              <a:spLocks noChangeArrowheads="1"/>
            </p:cNvSpPr>
            <p:nvPr/>
          </p:nvSpPr>
          <p:spPr bwMode="auto">
            <a:xfrm>
              <a:off x="4176" y="2208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58" name="Rectangle 28"/>
            <p:cNvSpPr>
              <a:spLocks noChangeArrowheads="1"/>
            </p:cNvSpPr>
            <p:nvPr/>
          </p:nvSpPr>
          <p:spPr bwMode="auto">
            <a:xfrm>
              <a:off x="3984" y="2208"/>
              <a:ext cx="14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latin typeface="Times New Roman" panose="02020603050405020304" pitchFamily="18" charset="0"/>
                </a:rPr>
                <a:t>Coercive field in transistioning</a:t>
              </a:r>
              <a:endParaRPr lang="en-US" altLang="zh-CN" sz="120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 b="1">
                  <a:latin typeface="Times New Roman" panose="02020603050405020304" pitchFamily="18" charset="0"/>
                </a:rPr>
                <a:t>B </a:t>
              </a:r>
              <a:r>
                <a:rPr lang="en-US" altLang="zh-CN" sz="1200">
                  <a:latin typeface="Times New Roman" panose="02020603050405020304" pitchFamily="18" charset="0"/>
                </a:rPr>
                <a:t>from negative to positive values</a:t>
              </a:r>
              <a:endParaRPr lang="en-US" altLang="zh-CN" sz="1200">
                <a:latin typeface="Times New Roman" panose="02020603050405020304" pitchFamily="18" charset="0"/>
              </a:endParaRPr>
            </a:p>
          </p:txBody>
        </p:sp>
        <p:sp>
          <p:nvSpPr>
            <p:cNvPr id="59" name="Line 29"/>
            <p:cNvSpPr>
              <a:spLocks noChangeShapeType="1"/>
            </p:cNvSpPr>
            <p:nvPr/>
          </p:nvSpPr>
          <p:spPr bwMode="auto">
            <a:xfrm flipH="1">
              <a:off x="3554" y="2448"/>
              <a:ext cx="430" cy="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922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Magnetic Circuit in Rectangular Geometry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4" name="Picture 2" descr="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276600"/>
            <a:ext cx="4876800" cy="2702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4"/>
          <p:cNvSpPr>
            <a:spLocks noChangeArrowheads="1"/>
          </p:cNvSpPr>
          <p:nvPr/>
        </p:nvSpPr>
        <p:spPr bwMode="auto">
          <a:xfrm>
            <a:off x="533400" y="3186387"/>
            <a:ext cx="34316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This problem is handled in the same way as before, except that the perimeter is constructed using the mean distances, </a:t>
            </a:r>
            <a:r>
              <a:rPr lang="en-US" altLang="zh-CN" sz="1800" i="1" dirty="0">
                <a:latin typeface="Times New Roman" panose="02020603050405020304" pitchFamily="18" charset="0"/>
              </a:rPr>
              <a:t>L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1800" dirty="0">
                <a:latin typeface="Times New Roman" panose="02020603050405020304" pitchFamily="18" charset="0"/>
              </a:rPr>
              <a:t> and </a:t>
            </a:r>
            <a:r>
              <a:rPr lang="en-US" altLang="zh-CN" sz="1800" i="1" dirty="0">
                <a:latin typeface="Times New Roman" panose="02020603050405020304" pitchFamily="18" charset="0"/>
              </a:rPr>
              <a:t>L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sz="1800" dirty="0">
                <a:latin typeface="Times New Roman" panose="02020603050405020304" pitchFamily="18" charset="0"/>
              </a:rPr>
              <a:t>.   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473" y="1661582"/>
            <a:ext cx="7620000" cy="144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 descr="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71" y="4427103"/>
            <a:ext cx="3233530" cy="2330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922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Energy and Energy Density in the Magnetic Field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553341" y="1783556"/>
            <a:ext cx="828585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In a previous lecture it was demonstrated that the energy in the electric field within volume </a:t>
            </a:r>
            <a:r>
              <a:rPr lang="en-US" altLang="zh-CN" sz="1800" i="1" dirty="0">
                <a:latin typeface="Times New Roman" panose="02020603050405020304" pitchFamily="18" charset="0"/>
              </a:rPr>
              <a:t>v </a:t>
            </a:r>
            <a:r>
              <a:rPr lang="en-US" altLang="zh-CN" sz="1800" dirty="0">
                <a:latin typeface="Times New Roman" panose="02020603050405020304" pitchFamily="18" charset="0"/>
              </a:rPr>
              <a:t>is given by: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688" y="2429887"/>
            <a:ext cx="2595563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617525" y="3200400"/>
            <a:ext cx="82632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In like manner, it would seem logical that the magnetic field energy within volume 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dirty="0">
                <a:latin typeface="Times New Roman" panose="02020603050405020304" pitchFamily="18" charset="0"/>
              </a:rPr>
              <a:t> is: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87" y="3815721"/>
            <a:ext cx="2697163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674910" y="4572000"/>
            <a:ext cx="61436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Energy density relations are as previously found, or as expected: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pic>
        <p:nvPicPr>
          <p:cNvPr id="15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8" y="5255446"/>
            <a:ext cx="3125788" cy="59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651" y="5210996"/>
            <a:ext cx="3336925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4197351" y="5398321"/>
            <a:ext cx="441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and</a:t>
            </a:r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8" name="AutoShape 12"/>
          <p:cNvSpPr/>
          <p:nvPr/>
        </p:nvSpPr>
        <p:spPr bwMode="auto">
          <a:xfrm rot="16200000">
            <a:off x="2867025" y="5660259"/>
            <a:ext cx="152400" cy="533400"/>
          </a:xfrm>
          <a:prstGeom prst="leftBrace">
            <a:avLst>
              <a:gd name="adj1" fmla="val 2916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19" name="AutoShape 13"/>
          <p:cNvSpPr/>
          <p:nvPr/>
        </p:nvSpPr>
        <p:spPr bwMode="auto">
          <a:xfrm rot="16200000">
            <a:off x="6919913" y="5665021"/>
            <a:ext cx="152400" cy="533400"/>
          </a:xfrm>
          <a:prstGeom prst="leftBrace">
            <a:avLst>
              <a:gd name="adj1" fmla="val 2916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3443288" y="6003159"/>
            <a:ext cx="1936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anose="02020603050405020304" pitchFamily="18" charset="0"/>
              </a:rPr>
              <a:t>valid for isotropic media</a:t>
            </a:r>
            <a:endParaRPr lang="en-US" altLang="zh-CN" sz="1400" dirty="0">
              <a:latin typeface="Times New Roman" panose="02020603050405020304" pitchFamily="18" charset="0"/>
            </a:endParaRPr>
          </a:p>
        </p:txBody>
      </p:sp>
      <p:sp>
        <p:nvSpPr>
          <p:cNvPr id="21" name="Line 15"/>
          <p:cNvSpPr>
            <a:spLocks noChangeShapeType="1"/>
          </p:cNvSpPr>
          <p:nvPr/>
        </p:nvSpPr>
        <p:spPr bwMode="auto">
          <a:xfrm flipH="1" flipV="1">
            <a:off x="3005138" y="6012684"/>
            <a:ext cx="438150" cy="157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16"/>
          <p:cNvSpPr>
            <a:spLocks noChangeShapeType="1"/>
          </p:cNvSpPr>
          <p:nvPr/>
        </p:nvSpPr>
        <p:spPr bwMode="auto">
          <a:xfrm flipV="1">
            <a:off x="5424488" y="6017446"/>
            <a:ext cx="1524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17"/>
          <p:cNvSpPr>
            <a:spLocks noChangeShapeType="1"/>
          </p:cNvSpPr>
          <p:nvPr/>
        </p:nvSpPr>
        <p:spPr bwMode="auto">
          <a:xfrm>
            <a:off x="928688" y="5822184"/>
            <a:ext cx="1295400" cy="0"/>
          </a:xfrm>
          <a:prstGeom prst="line">
            <a:avLst/>
          </a:prstGeom>
          <a:noFill/>
          <a:ln w="9525">
            <a:solidFill>
              <a:srgbClr val="CC006B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18"/>
          <p:cNvSpPr>
            <a:spLocks noChangeShapeType="1"/>
          </p:cNvSpPr>
          <p:nvPr/>
        </p:nvSpPr>
        <p:spPr bwMode="auto">
          <a:xfrm>
            <a:off x="4938713" y="5798371"/>
            <a:ext cx="1295400" cy="0"/>
          </a:xfrm>
          <a:prstGeom prst="line">
            <a:avLst/>
          </a:prstGeom>
          <a:noFill/>
          <a:ln w="9525">
            <a:solidFill>
              <a:srgbClr val="CC006B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922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Magnetic Flux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磁通</a:t>
            </a:r>
            <a:r>
              <a:rPr lang="zh-CN" altLang="en-US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and Flux Linkage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磁链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6" name="Picture 7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042" y="5684043"/>
            <a:ext cx="2897188" cy="766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7" name="Rectangle 57"/>
          <p:cNvSpPr>
            <a:spLocks noChangeArrowheads="1"/>
          </p:cNvSpPr>
          <p:nvPr/>
        </p:nvSpPr>
        <p:spPr bwMode="auto">
          <a:xfrm>
            <a:off x="2514601" y="1679882"/>
            <a:ext cx="628253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Consider a 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solenoid</a:t>
            </a:r>
            <a:r>
              <a:rPr lang="en-US" altLang="zh-CN" sz="1600" dirty="0">
                <a:latin typeface="Times New Roman" panose="02020603050405020304" pitchFamily="18" charset="0"/>
              </a:rPr>
              <a:t> of length </a:t>
            </a:r>
            <a:r>
              <a:rPr lang="en-US" altLang="zh-CN" sz="16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1600" dirty="0">
                <a:latin typeface="Times New Roman" panose="02020603050405020304" pitchFamily="18" charset="0"/>
              </a:rPr>
              <a:t>, which carries current </a:t>
            </a:r>
            <a:r>
              <a:rPr lang="en-US" altLang="zh-CN" sz="16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600" i="1" dirty="0">
                <a:latin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</a:rPr>
              <a:t>in each of </a:t>
            </a:r>
            <a:r>
              <a:rPr lang="en-US" altLang="zh-CN" sz="16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600" i="1" dirty="0">
                <a:latin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turns</a:t>
            </a:r>
            <a:r>
              <a:rPr lang="en-US" altLang="zh-CN" sz="1600" dirty="0">
                <a:latin typeface="Times New Roman" panose="02020603050405020304" pitchFamily="18" charset="0"/>
              </a:rPr>
              <a:t> </a:t>
            </a:r>
            <a:r>
              <a:rPr lang="zh-CN" altLang="en-US" sz="16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匝</a:t>
            </a:r>
            <a:r>
              <a:rPr lang="en-US" altLang="zh-CN" sz="1600" dirty="0">
                <a:latin typeface="Times New Roman" panose="02020603050405020304" pitchFamily="18" charset="0"/>
              </a:rPr>
              <a:t>.  The turns have individual areas </a:t>
            </a:r>
            <a:r>
              <a:rPr lang="en-US" altLang="zh-CN" sz="1600" i="1" dirty="0">
                <a:latin typeface="Times New Roman" panose="02020603050405020304" pitchFamily="18" charset="0"/>
              </a:rPr>
              <a:t>S</a:t>
            </a:r>
            <a:r>
              <a:rPr lang="en-US" altLang="zh-CN" sz="1600" i="1" baseline="-25000" dirty="0">
                <a:latin typeface="Times New Roman" panose="02020603050405020304" pitchFamily="18" charset="0"/>
              </a:rPr>
              <a:t>i </a:t>
            </a:r>
            <a:r>
              <a:rPr lang="en-US" altLang="zh-CN" sz="1600" dirty="0">
                <a:latin typeface="Times New Roman" panose="02020603050405020304" pitchFamily="18" charset="0"/>
              </a:rPr>
              <a:t>which may be different from each other.  The </a:t>
            </a:r>
            <a:r>
              <a:rPr lang="en-US" altLang="zh-CN" sz="1600" b="1" dirty="0">
                <a:latin typeface="Times New Roman" panose="02020603050405020304" pitchFamily="18" charset="0"/>
              </a:rPr>
              <a:t>B </a:t>
            </a:r>
            <a:r>
              <a:rPr lang="en-US" altLang="zh-CN" sz="1600" dirty="0">
                <a:latin typeface="Times New Roman" panose="02020603050405020304" pitchFamily="18" charset="0"/>
              </a:rPr>
              <a:t>field may also evaluate differently in each turn. </a:t>
            </a:r>
            <a:endParaRPr lang="en-US" altLang="zh-CN" sz="1600" dirty="0">
              <a:latin typeface="Times New Roman" panose="02020603050405020304" pitchFamily="18" charset="0"/>
            </a:endParaRPr>
          </a:p>
        </p:txBody>
      </p:sp>
      <p:grpSp>
        <p:nvGrpSpPr>
          <p:cNvPr id="28" name="Group 66"/>
          <p:cNvGrpSpPr/>
          <p:nvPr/>
        </p:nvGrpSpPr>
        <p:grpSpPr bwMode="auto">
          <a:xfrm>
            <a:off x="130175" y="2183606"/>
            <a:ext cx="2765425" cy="3209925"/>
            <a:chOff x="124" y="1440"/>
            <a:chExt cx="1742" cy="2022"/>
          </a:xfrm>
        </p:grpSpPr>
        <p:grpSp>
          <p:nvGrpSpPr>
            <p:cNvPr id="38" name="Group 56"/>
            <p:cNvGrpSpPr/>
            <p:nvPr/>
          </p:nvGrpSpPr>
          <p:grpSpPr bwMode="auto">
            <a:xfrm>
              <a:off x="672" y="1674"/>
              <a:ext cx="771" cy="1788"/>
              <a:chOff x="672" y="1674"/>
              <a:chExt cx="771" cy="1788"/>
            </a:xfrm>
          </p:grpSpPr>
          <p:sp>
            <p:nvSpPr>
              <p:cNvPr id="49" name="Line 45"/>
              <p:cNvSpPr>
                <a:spLocks noChangeShapeType="1"/>
              </p:cNvSpPr>
              <p:nvPr/>
            </p:nvSpPr>
            <p:spPr bwMode="auto">
              <a:xfrm flipV="1">
                <a:off x="1158" y="1686"/>
                <a:ext cx="0" cy="177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" name="Line 38"/>
              <p:cNvSpPr>
                <a:spLocks noChangeShapeType="1"/>
              </p:cNvSpPr>
              <p:nvPr/>
            </p:nvSpPr>
            <p:spPr bwMode="auto">
              <a:xfrm flipV="1">
                <a:off x="1284" y="1686"/>
                <a:ext cx="0" cy="177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" name="Line 31"/>
              <p:cNvSpPr>
                <a:spLocks noChangeShapeType="1"/>
              </p:cNvSpPr>
              <p:nvPr/>
            </p:nvSpPr>
            <p:spPr bwMode="auto">
              <a:xfrm flipV="1">
                <a:off x="1038" y="1686"/>
                <a:ext cx="0" cy="177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Line 24"/>
              <p:cNvSpPr>
                <a:spLocks noChangeShapeType="1"/>
              </p:cNvSpPr>
              <p:nvPr/>
            </p:nvSpPr>
            <p:spPr bwMode="auto">
              <a:xfrm flipV="1">
                <a:off x="927" y="1680"/>
                <a:ext cx="0" cy="177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" name="Line 16"/>
              <p:cNvSpPr>
                <a:spLocks noChangeShapeType="1"/>
              </p:cNvSpPr>
              <p:nvPr/>
            </p:nvSpPr>
            <p:spPr bwMode="auto">
              <a:xfrm flipV="1">
                <a:off x="822" y="1674"/>
                <a:ext cx="0" cy="177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4" name="Group 17"/>
              <p:cNvGrpSpPr/>
              <p:nvPr/>
            </p:nvGrpSpPr>
            <p:grpSpPr bwMode="auto">
              <a:xfrm>
                <a:off x="672" y="2016"/>
                <a:ext cx="771" cy="1074"/>
                <a:chOff x="522" y="2016"/>
                <a:chExt cx="771" cy="1074"/>
              </a:xfrm>
            </p:grpSpPr>
            <p:sp>
              <p:nvSpPr>
                <p:cNvPr id="85" name="Oval 3"/>
                <p:cNvSpPr>
                  <a:spLocks noChangeArrowheads="1"/>
                </p:cNvSpPr>
                <p:nvPr/>
              </p:nvSpPr>
              <p:spPr bwMode="auto">
                <a:xfrm>
                  <a:off x="525" y="2016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" name="Oval 4"/>
                <p:cNvSpPr>
                  <a:spLocks noChangeArrowheads="1"/>
                </p:cNvSpPr>
                <p:nvPr/>
              </p:nvSpPr>
              <p:spPr bwMode="auto">
                <a:xfrm>
                  <a:off x="525" y="2208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" name="Oval 5"/>
                <p:cNvSpPr>
                  <a:spLocks noChangeArrowheads="1"/>
                </p:cNvSpPr>
                <p:nvPr/>
              </p:nvSpPr>
              <p:spPr bwMode="auto">
                <a:xfrm>
                  <a:off x="525" y="2394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" name="Oval 6"/>
                <p:cNvSpPr>
                  <a:spLocks noChangeArrowheads="1"/>
                </p:cNvSpPr>
                <p:nvPr/>
              </p:nvSpPr>
              <p:spPr bwMode="auto">
                <a:xfrm>
                  <a:off x="525" y="2577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9" name="Oval 7"/>
                <p:cNvSpPr>
                  <a:spLocks noChangeArrowheads="1"/>
                </p:cNvSpPr>
                <p:nvPr/>
              </p:nvSpPr>
              <p:spPr bwMode="auto">
                <a:xfrm>
                  <a:off x="525" y="2763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0" name="Oval 8"/>
                <p:cNvSpPr>
                  <a:spLocks noChangeArrowheads="1"/>
                </p:cNvSpPr>
                <p:nvPr/>
              </p:nvSpPr>
              <p:spPr bwMode="auto">
                <a:xfrm>
                  <a:off x="522" y="2946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1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1035" y="3072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1038" y="2892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3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1035" y="2706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1041" y="2520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5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1041" y="2334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6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1041" y="2145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5" name="Line 18"/>
              <p:cNvSpPr>
                <a:spLocks noChangeShapeType="1"/>
              </p:cNvSpPr>
              <p:nvPr/>
            </p:nvSpPr>
            <p:spPr bwMode="auto">
              <a:xfrm>
                <a:off x="822" y="1980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Line 19"/>
              <p:cNvSpPr>
                <a:spLocks noChangeShapeType="1"/>
              </p:cNvSpPr>
              <p:nvPr/>
            </p:nvSpPr>
            <p:spPr bwMode="auto">
              <a:xfrm>
                <a:off x="822" y="2178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Line 20"/>
              <p:cNvSpPr>
                <a:spLocks noChangeShapeType="1"/>
              </p:cNvSpPr>
              <p:nvPr/>
            </p:nvSpPr>
            <p:spPr bwMode="auto">
              <a:xfrm>
                <a:off x="822" y="2364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Line 21"/>
              <p:cNvSpPr>
                <a:spLocks noChangeShapeType="1"/>
              </p:cNvSpPr>
              <p:nvPr/>
            </p:nvSpPr>
            <p:spPr bwMode="auto">
              <a:xfrm>
                <a:off x="822" y="2550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Line 22"/>
              <p:cNvSpPr>
                <a:spLocks noChangeShapeType="1"/>
              </p:cNvSpPr>
              <p:nvPr/>
            </p:nvSpPr>
            <p:spPr bwMode="auto">
              <a:xfrm>
                <a:off x="822" y="2736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Line 23"/>
              <p:cNvSpPr>
                <a:spLocks noChangeShapeType="1"/>
              </p:cNvSpPr>
              <p:nvPr/>
            </p:nvSpPr>
            <p:spPr bwMode="auto">
              <a:xfrm>
                <a:off x="822" y="2916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Line 25"/>
              <p:cNvSpPr>
                <a:spLocks noChangeShapeType="1"/>
              </p:cNvSpPr>
              <p:nvPr/>
            </p:nvSpPr>
            <p:spPr bwMode="auto">
              <a:xfrm>
                <a:off x="927" y="2013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Line 26"/>
              <p:cNvSpPr>
                <a:spLocks noChangeShapeType="1"/>
              </p:cNvSpPr>
              <p:nvPr/>
            </p:nvSpPr>
            <p:spPr bwMode="auto">
              <a:xfrm>
                <a:off x="927" y="2208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Line 27"/>
              <p:cNvSpPr>
                <a:spLocks noChangeShapeType="1"/>
              </p:cNvSpPr>
              <p:nvPr/>
            </p:nvSpPr>
            <p:spPr bwMode="auto">
              <a:xfrm>
                <a:off x="927" y="2403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Line 28"/>
              <p:cNvSpPr>
                <a:spLocks noChangeShapeType="1"/>
              </p:cNvSpPr>
              <p:nvPr/>
            </p:nvSpPr>
            <p:spPr bwMode="auto">
              <a:xfrm>
                <a:off x="927" y="2580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Line 29"/>
              <p:cNvSpPr>
                <a:spLocks noChangeShapeType="1"/>
              </p:cNvSpPr>
              <p:nvPr/>
            </p:nvSpPr>
            <p:spPr bwMode="auto">
              <a:xfrm>
                <a:off x="927" y="2769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Line 30"/>
              <p:cNvSpPr>
                <a:spLocks noChangeShapeType="1"/>
              </p:cNvSpPr>
              <p:nvPr/>
            </p:nvSpPr>
            <p:spPr bwMode="auto">
              <a:xfrm>
                <a:off x="927" y="2943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Line 32"/>
              <p:cNvSpPr>
                <a:spLocks noChangeShapeType="1"/>
              </p:cNvSpPr>
              <p:nvPr/>
            </p:nvSpPr>
            <p:spPr bwMode="auto">
              <a:xfrm>
                <a:off x="1038" y="1977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" name="Line 33"/>
              <p:cNvSpPr>
                <a:spLocks noChangeShapeType="1"/>
              </p:cNvSpPr>
              <p:nvPr/>
            </p:nvSpPr>
            <p:spPr bwMode="auto">
              <a:xfrm>
                <a:off x="1038" y="2190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" name="Line 34"/>
              <p:cNvSpPr>
                <a:spLocks noChangeShapeType="1"/>
              </p:cNvSpPr>
              <p:nvPr/>
            </p:nvSpPr>
            <p:spPr bwMode="auto">
              <a:xfrm>
                <a:off x="1038" y="2367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Line 35"/>
              <p:cNvSpPr>
                <a:spLocks noChangeShapeType="1"/>
              </p:cNvSpPr>
              <p:nvPr/>
            </p:nvSpPr>
            <p:spPr bwMode="auto">
              <a:xfrm>
                <a:off x="1038" y="2550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" name="Line 36"/>
              <p:cNvSpPr>
                <a:spLocks noChangeShapeType="1"/>
              </p:cNvSpPr>
              <p:nvPr/>
            </p:nvSpPr>
            <p:spPr bwMode="auto">
              <a:xfrm>
                <a:off x="1038" y="2739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" name="Line 37"/>
              <p:cNvSpPr>
                <a:spLocks noChangeShapeType="1"/>
              </p:cNvSpPr>
              <p:nvPr/>
            </p:nvSpPr>
            <p:spPr bwMode="auto">
              <a:xfrm>
                <a:off x="1038" y="2916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3" name="Line 39"/>
              <p:cNvSpPr>
                <a:spLocks noChangeShapeType="1"/>
              </p:cNvSpPr>
              <p:nvPr/>
            </p:nvSpPr>
            <p:spPr bwMode="auto">
              <a:xfrm>
                <a:off x="1284" y="1986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" name="Line 40"/>
              <p:cNvSpPr>
                <a:spLocks noChangeShapeType="1"/>
              </p:cNvSpPr>
              <p:nvPr/>
            </p:nvSpPr>
            <p:spPr bwMode="auto">
              <a:xfrm>
                <a:off x="1284" y="2202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" name="Line 41"/>
              <p:cNvSpPr>
                <a:spLocks noChangeShapeType="1"/>
              </p:cNvSpPr>
              <p:nvPr/>
            </p:nvSpPr>
            <p:spPr bwMode="auto">
              <a:xfrm>
                <a:off x="1284" y="2361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6" name="Line 42"/>
              <p:cNvSpPr>
                <a:spLocks noChangeShapeType="1"/>
              </p:cNvSpPr>
              <p:nvPr/>
            </p:nvSpPr>
            <p:spPr bwMode="auto">
              <a:xfrm>
                <a:off x="1284" y="2547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" name="Line 43"/>
              <p:cNvSpPr>
                <a:spLocks noChangeShapeType="1"/>
              </p:cNvSpPr>
              <p:nvPr/>
            </p:nvSpPr>
            <p:spPr bwMode="auto">
              <a:xfrm>
                <a:off x="1284" y="2736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" name="Line 44"/>
              <p:cNvSpPr>
                <a:spLocks noChangeShapeType="1"/>
              </p:cNvSpPr>
              <p:nvPr/>
            </p:nvSpPr>
            <p:spPr bwMode="auto">
              <a:xfrm>
                <a:off x="1284" y="2919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" name="Line 46"/>
              <p:cNvSpPr>
                <a:spLocks noChangeShapeType="1"/>
              </p:cNvSpPr>
              <p:nvPr/>
            </p:nvSpPr>
            <p:spPr bwMode="auto">
              <a:xfrm>
                <a:off x="1158" y="2013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" name="Line 47"/>
              <p:cNvSpPr>
                <a:spLocks noChangeShapeType="1"/>
              </p:cNvSpPr>
              <p:nvPr/>
            </p:nvSpPr>
            <p:spPr bwMode="auto">
              <a:xfrm>
                <a:off x="1158" y="2214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" name="Line 48"/>
              <p:cNvSpPr>
                <a:spLocks noChangeShapeType="1"/>
              </p:cNvSpPr>
              <p:nvPr/>
            </p:nvSpPr>
            <p:spPr bwMode="auto">
              <a:xfrm>
                <a:off x="1158" y="2400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" name="Line 49"/>
              <p:cNvSpPr>
                <a:spLocks noChangeShapeType="1"/>
              </p:cNvSpPr>
              <p:nvPr/>
            </p:nvSpPr>
            <p:spPr bwMode="auto">
              <a:xfrm>
                <a:off x="1158" y="2571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" name="Line 50"/>
              <p:cNvSpPr>
                <a:spLocks noChangeShapeType="1"/>
              </p:cNvSpPr>
              <p:nvPr/>
            </p:nvSpPr>
            <p:spPr bwMode="auto">
              <a:xfrm>
                <a:off x="1158" y="2760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" name="Line 51"/>
              <p:cNvSpPr>
                <a:spLocks noChangeShapeType="1"/>
              </p:cNvSpPr>
              <p:nvPr/>
            </p:nvSpPr>
            <p:spPr bwMode="auto">
              <a:xfrm>
                <a:off x="1158" y="2937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9" name="Rectangle 53"/>
            <p:cNvSpPr>
              <a:spLocks noChangeArrowheads="1"/>
            </p:cNvSpPr>
            <p:nvPr/>
          </p:nvSpPr>
          <p:spPr bwMode="auto">
            <a:xfrm>
              <a:off x="1425" y="2361"/>
              <a:ext cx="15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I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40" name="Rectangle 54"/>
            <p:cNvSpPr>
              <a:spLocks noChangeArrowheads="1"/>
            </p:cNvSpPr>
            <p:nvPr/>
          </p:nvSpPr>
          <p:spPr bwMode="auto">
            <a:xfrm>
              <a:off x="124" y="2428"/>
              <a:ext cx="52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N </a:t>
              </a:r>
              <a:r>
                <a:rPr lang="en-US" altLang="zh-CN" sz="1600">
                  <a:latin typeface="Times New Roman" panose="02020603050405020304" pitchFamily="18" charset="0"/>
                </a:rPr>
                <a:t>turns</a:t>
              </a:r>
              <a:r>
                <a:rPr lang="en-US" altLang="zh-CN" sz="1600" i="1">
                  <a:latin typeface="Times New Roman" panose="02020603050405020304" pitchFamily="18" charset="0"/>
                </a:rPr>
                <a:t> 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41" name="Rectangle 55"/>
            <p:cNvSpPr>
              <a:spLocks noChangeArrowheads="1"/>
            </p:cNvSpPr>
            <p:nvPr/>
          </p:nvSpPr>
          <p:spPr bwMode="auto">
            <a:xfrm>
              <a:off x="960" y="1440"/>
              <a:ext cx="20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B</a:t>
              </a:r>
              <a:endParaRPr lang="en-US" altLang="zh-CN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42" name="Rectangle 58"/>
            <p:cNvSpPr>
              <a:spLocks noChangeArrowheads="1"/>
            </p:cNvSpPr>
            <p:nvPr/>
          </p:nvSpPr>
          <p:spPr bwMode="auto">
            <a:xfrm>
              <a:off x="898" y="2920"/>
              <a:ext cx="18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latin typeface="Times New Roman" panose="02020603050405020304" pitchFamily="18" charset="0"/>
                </a:rPr>
                <a:t>S</a:t>
              </a:r>
              <a:r>
                <a:rPr lang="en-US" altLang="zh-CN" sz="1200" i="1" baseline="-25000">
                  <a:latin typeface="Times New Roman" panose="02020603050405020304" pitchFamily="18" charset="0"/>
                </a:rPr>
                <a:t>i</a:t>
              </a:r>
              <a:endParaRPr lang="en-US" altLang="zh-CN" sz="1200" i="1">
                <a:latin typeface="Times New Roman" panose="02020603050405020304" pitchFamily="18" charset="0"/>
              </a:endParaRPr>
            </a:p>
          </p:txBody>
        </p:sp>
        <p:sp>
          <p:nvSpPr>
            <p:cNvPr id="44" name="Line 59"/>
            <p:cNvSpPr>
              <a:spLocks noChangeShapeType="1"/>
            </p:cNvSpPr>
            <p:nvPr/>
          </p:nvSpPr>
          <p:spPr bwMode="auto">
            <a:xfrm>
              <a:off x="1536" y="2088"/>
              <a:ext cx="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60"/>
            <p:cNvSpPr>
              <a:spLocks noChangeShapeType="1"/>
            </p:cNvSpPr>
            <p:nvPr/>
          </p:nvSpPr>
          <p:spPr bwMode="auto">
            <a:xfrm>
              <a:off x="1536" y="3021"/>
              <a:ext cx="3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Rectangle 61"/>
            <p:cNvSpPr>
              <a:spLocks noChangeArrowheads="1"/>
            </p:cNvSpPr>
            <p:nvPr/>
          </p:nvSpPr>
          <p:spPr bwMode="auto">
            <a:xfrm>
              <a:off x="1632" y="2434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d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47" name="Line 62"/>
            <p:cNvSpPr>
              <a:spLocks noChangeShapeType="1"/>
            </p:cNvSpPr>
            <p:nvPr/>
          </p:nvSpPr>
          <p:spPr bwMode="auto">
            <a:xfrm flipV="1">
              <a:off x="1731" y="2085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Line 63"/>
            <p:cNvSpPr>
              <a:spLocks noChangeShapeType="1"/>
            </p:cNvSpPr>
            <p:nvPr/>
          </p:nvSpPr>
          <p:spPr bwMode="auto">
            <a:xfrm>
              <a:off x="1731" y="2685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" name="Rectangle 65"/>
          <p:cNvSpPr>
            <a:spLocks noChangeArrowheads="1"/>
          </p:cNvSpPr>
          <p:nvPr/>
        </p:nvSpPr>
        <p:spPr bwMode="auto">
          <a:xfrm>
            <a:off x="2971800" y="2605330"/>
            <a:ext cx="613020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The </a:t>
            </a:r>
            <a:r>
              <a:rPr lang="en-US" altLang="zh-CN" sz="1600" i="1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Flux Linkage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 is defined as the sum of the magnetic fluxes through </a:t>
            </a:r>
            <a:endParaRPr lang="en-US" altLang="zh-CN" sz="160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all turns, where the flux evaluated at each surface is the </a:t>
            </a:r>
            <a:r>
              <a:rPr lang="en-US" altLang="zh-CN" sz="16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total 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flux there, </a:t>
            </a:r>
            <a:endParaRPr lang="en-US" altLang="zh-CN" sz="160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generated by all turns acting together.</a:t>
            </a:r>
            <a:endParaRPr lang="en-US" altLang="zh-CN" sz="1600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0" name="Picture 6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663" y="3780631"/>
            <a:ext cx="1216025" cy="70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" name="Picture 6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860006"/>
            <a:ext cx="1819275" cy="59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2" name="Rectangle 69"/>
          <p:cNvSpPr>
            <a:spLocks noChangeArrowheads="1"/>
          </p:cNvSpPr>
          <p:nvPr/>
        </p:nvSpPr>
        <p:spPr bwMode="auto">
          <a:xfrm>
            <a:off x="5295900" y="3956844"/>
            <a:ext cx="6191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where</a:t>
            </a:r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3" name="Rectangle 70"/>
          <p:cNvSpPr>
            <a:spLocks noChangeArrowheads="1"/>
          </p:cNvSpPr>
          <p:nvPr/>
        </p:nvSpPr>
        <p:spPr bwMode="auto">
          <a:xfrm>
            <a:off x="3657600" y="3707606"/>
            <a:ext cx="1524000" cy="838200"/>
          </a:xfrm>
          <a:prstGeom prst="rect">
            <a:avLst/>
          </a:prstGeom>
          <a:noFill/>
          <a:ln w="9525">
            <a:solidFill>
              <a:srgbClr val="CC006B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34" name="Rectangle 71"/>
          <p:cNvSpPr>
            <a:spLocks noChangeArrowheads="1"/>
          </p:cNvSpPr>
          <p:nvPr/>
        </p:nvSpPr>
        <p:spPr bwMode="auto">
          <a:xfrm>
            <a:off x="3343275" y="4761706"/>
            <a:ext cx="386496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Units of flux linkage are Weber-turns [</a:t>
            </a:r>
            <a:r>
              <a:rPr lang="en-US" altLang="zh-CN" sz="1600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Wb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-t]</a:t>
            </a:r>
            <a:endParaRPr lang="en-US" altLang="zh-CN" sz="1600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Rectangle 73"/>
          <p:cNvSpPr>
            <a:spLocks noChangeArrowheads="1"/>
          </p:cNvSpPr>
          <p:nvPr/>
        </p:nvSpPr>
        <p:spPr bwMode="auto">
          <a:xfrm>
            <a:off x="2514601" y="5241131"/>
            <a:ext cx="60724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If all turns (and </a:t>
            </a:r>
            <a:r>
              <a:rPr lang="en-US" altLang="zh-CN" sz="1600" b="1" dirty="0">
                <a:latin typeface="Times New Roman" panose="02020603050405020304" pitchFamily="18" charset="0"/>
              </a:rPr>
              <a:t>B</a:t>
            </a:r>
            <a:r>
              <a:rPr lang="en-US" altLang="zh-CN" sz="1600" dirty="0">
                <a:latin typeface="Times New Roman" panose="02020603050405020304" pitchFamily="18" charset="0"/>
              </a:rPr>
              <a:t> through each) are equal, then the above simplifies to:</a:t>
            </a:r>
            <a:endParaRPr lang="en-US" altLang="zh-CN" sz="1600" dirty="0">
              <a:latin typeface="Times New Roman" panose="02020603050405020304" pitchFamily="18" charset="0"/>
            </a:endParaRPr>
          </a:p>
        </p:txBody>
      </p:sp>
      <p:sp>
        <p:nvSpPr>
          <p:cNvPr id="36" name="Line 75"/>
          <p:cNvSpPr>
            <a:spLocks noChangeShapeType="1"/>
          </p:cNvSpPr>
          <p:nvPr/>
        </p:nvSpPr>
        <p:spPr bwMode="auto">
          <a:xfrm>
            <a:off x="5533230" y="5104645"/>
            <a:ext cx="1553369" cy="0"/>
          </a:xfrm>
          <a:prstGeom prst="line">
            <a:avLst/>
          </a:prstGeom>
          <a:noFill/>
          <a:ln w="9525">
            <a:solidFill>
              <a:srgbClr val="CC006B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Rectangle 77"/>
          <p:cNvSpPr>
            <a:spLocks noChangeArrowheads="1"/>
          </p:cNvSpPr>
          <p:nvPr/>
        </p:nvSpPr>
        <p:spPr bwMode="auto">
          <a:xfrm>
            <a:off x="5721350" y="5808661"/>
            <a:ext cx="269977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where the integral is evaluated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over any single turn.</a:t>
            </a:r>
            <a:endParaRPr lang="en-US" altLang="zh-CN" sz="16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922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Inductance Definition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电感的定义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97" name="Group 82"/>
          <p:cNvGrpSpPr/>
          <p:nvPr/>
        </p:nvGrpSpPr>
        <p:grpSpPr bwMode="auto">
          <a:xfrm>
            <a:off x="196850" y="1828800"/>
            <a:ext cx="8794750" cy="3581400"/>
            <a:chOff x="124" y="1206"/>
            <a:chExt cx="5540" cy="2256"/>
          </a:xfrm>
        </p:grpSpPr>
        <p:grpSp>
          <p:nvGrpSpPr>
            <p:cNvPr id="98" name="Group 6"/>
            <p:cNvGrpSpPr/>
            <p:nvPr/>
          </p:nvGrpSpPr>
          <p:grpSpPr bwMode="auto">
            <a:xfrm>
              <a:off x="124" y="1440"/>
              <a:ext cx="1742" cy="2022"/>
              <a:chOff x="124" y="1440"/>
              <a:chExt cx="1742" cy="2022"/>
            </a:xfrm>
          </p:grpSpPr>
          <p:grpSp>
            <p:nvGrpSpPr>
              <p:cNvPr id="107" name="Group 7"/>
              <p:cNvGrpSpPr/>
              <p:nvPr/>
            </p:nvGrpSpPr>
            <p:grpSpPr bwMode="auto">
              <a:xfrm>
                <a:off x="672" y="1674"/>
                <a:ext cx="771" cy="1788"/>
                <a:chOff x="672" y="1674"/>
                <a:chExt cx="771" cy="1788"/>
              </a:xfrm>
            </p:grpSpPr>
            <p:sp>
              <p:nvSpPr>
                <p:cNvPr id="117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1158" y="1686"/>
                  <a:ext cx="0" cy="177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8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1284" y="1686"/>
                  <a:ext cx="0" cy="177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9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1038" y="1686"/>
                  <a:ext cx="0" cy="177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0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927" y="1680"/>
                  <a:ext cx="0" cy="177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1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822" y="1674"/>
                  <a:ext cx="0" cy="177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22" name="Group 13"/>
                <p:cNvGrpSpPr/>
                <p:nvPr/>
              </p:nvGrpSpPr>
              <p:grpSpPr bwMode="auto">
                <a:xfrm>
                  <a:off x="672" y="2016"/>
                  <a:ext cx="771" cy="1074"/>
                  <a:chOff x="522" y="2016"/>
                  <a:chExt cx="771" cy="1074"/>
                </a:xfrm>
              </p:grpSpPr>
              <p:sp>
                <p:nvSpPr>
                  <p:cNvPr id="153" name="Oval 14"/>
                  <p:cNvSpPr>
                    <a:spLocks noChangeArrowheads="1"/>
                  </p:cNvSpPr>
                  <p:nvPr/>
                </p:nvSpPr>
                <p:spPr bwMode="auto">
                  <a:xfrm>
                    <a:off x="525" y="2016"/>
                    <a:ext cx="768" cy="144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4" name="Oval 15"/>
                  <p:cNvSpPr>
                    <a:spLocks noChangeArrowheads="1"/>
                  </p:cNvSpPr>
                  <p:nvPr/>
                </p:nvSpPr>
                <p:spPr bwMode="auto">
                  <a:xfrm>
                    <a:off x="525" y="2208"/>
                    <a:ext cx="768" cy="144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5" name="Oval 16"/>
                  <p:cNvSpPr>
                    <a:spLocks noChangeArrowheads="1"/>
                  </p:cNvSpPr>
                  <p:nvPr/>
                </p:nvSpPr>
                <p:spPr bwMode="auto">
                  <a:xfrm>
                    <a:off x="525" y="2394"/>
                    <a:ext cx="768" cy="144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6" name="Oval 17"/>
                  <p:cNvSpPr>
                    <a:spLocks noChangeArrowheads="1"/>
                  </p:cNvSpPr>
                  <p:nvPr/>
                </p:nvSpPr>
                <p:spPr bwMode="auto">
                  <a:xfrm>
                    <a:off x="525" y="2577"/>
                    <a:ext cx="768" cy="144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7" name="Oval 18"/>
                  <p:cNvSpPr>
                    <a:spLocks noChangeArrowheads="1"/>
                  </p:cNvSpPr>
                  <p:nvPr/>
                </p:nvSpPr>
                <p:spPr bwMode="auto">
                  <a:xfrm>
                    <a:off x="525" y="2763"/>
                    <a:ext cx="768" cy="144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8" name="Oval 19"/>
                  <p:cNvSpPr>
                    <a:spLocks noChangeArrowheads="1"/>
                  </p:cNvSpPr>
                  <p:nvPr/>
                </p:nvSpPr>
                <p:spPr bwMode="auto">
                  <a:xfrm>
                    <a:off x="522" y="2946"/>
                    <a:ext cx="768" cy="144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9" name="Line 2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035" y="3072"/>
                    <a:ext cx="123" cy="1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0" name="Lin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038" y="2892"/>
                    <a:ext cx="123" cy="1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1" name="Line 2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035" y="2706"/>
                    <a:ext cx="123" cy="1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2" name="Line 2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041" y="2520"/>
                    <a:ext cx="123" cy="1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3" name="Line 2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041" y="2334"/>
                    <a:ext cx="123" cy="1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4" name="Line 2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041" y="2145"/>
                    <a:ext cx="123" cy="1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23" name="Line 26"/>
                <p:cNvSpPr>
                  <a:spLocks noChangeShapeType="1"/>
                </p:cNvSpPr>
                <p:nvPr/>
              </p:nvSpPr>
              <p:spPr bwMode="auto">
                <a:xfrm>
                  <a:off x="822" y="1980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4" name="Line 27"/>
                <p:cNvSpPr>
                  <a:spLocks noChangeShapeType="1"/>
                </p:cNvSpPr>
                <p:nvPr/>
              </p:nvSpPr>
              <p:spPr bwMode="auto">
                <a:xfrm>
                  <a:off x="822" y="2178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5" name="Line 28"/>
                <p:cNvSpPr>
                  <a:spLocks noChangeShapeType="1"/>
                </p:cNvSpPr>
                <p:nvPr/>
              </p:nvSpPr>
              <p:spPr bwMode="auto">
                <a:xfrm>
                  <a:off x="822" y="2364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6" name="Line 29"/>
                <p:cNvSpPr>
                  <a:spLocks noChangeShapeType="1"/>
                </p:cNvSpPr>
                <p:nvPr/>
              </p:nvSpPr>
              <p:spPr bwMode="auto">
                <a:xfrm>
                  <a:off x="822" y="2550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7" name="Line 30"/>
                <p:cNvSpPr>
                  <a:spLocks noChangeShapeType="1"/>
                </p:cNvSpPr>
                <p:nvPr/>
              </p:nvSpPr>
              <p:spPr bwMode="auto">
                <a:xfrm>
                  <a:off x="822" y="2736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8" name="Line 31"/>
                <p:cNvSpPr>
                  <a:spLocks noChangeShapeType="1"/>
                </p:cNvSpPr>
                <p:nvPr/>
              </p:nvSpPr>
              <p:spPr bwMode="auto">
                <a:xfrm>
                  <a:off x="822" y="2916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9" name="Line 32"/>
                <p:cNvSpPr>
                  <a:spLocks noChangeShapeType="1"/>
                </p:cNvSpPr>
                <p:nvPr/>
              </p:nvSpPr>
              <p:spPr bwMode="auto">
                <a:xfrm>
                  <a:off x="927" y="2013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0" name="Line 33"/>
                <p:cNvSpPr>
                  <a:spLocks noChangeShapeType="1"/>
                </p:cNvSpPr>
                <p:nvPr/>
              </p:nvSpPr>
              <p:spPr bwMode="auto">
                <a:xfrm>
                  <a:off x="927" y="2208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1" name="Line 34"/>
                <p:cNvSpPr>
                  <a:spLocks noChangeShapeType="1"/>
                </p:cNvSpPr>
                <p:nvPr/>
              </p:nvSpPr>
              <p:spPr bwMode="auto">
                <a:xfrm>
                  <a:off x="927" y="2403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2" name="Line 35"/>
                <p:cNvSpPr>
                  <a:spLocks noChangeShapeType="1"/>
                </p:cNvSpPr>
                <p:nvPr/>
              </p:nvSpPr>
              <p:spPr bwMode="auto">
                <a:xfrm>
                  <a:off x="927" y="2580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" name="Line 36"/>
                <p:cNvSpPr>
                  <a:spLocks noChangeShapeType="1"/>
                </p:cNvSpPr>
                <p:nvPr/>
              </p:nvSpPr>
              <p:spPr bwMode="auto">
                <a:xfrm>
                  <a:off x="927" y="2769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" name="Line 37"/>
                <p:cNvSpPr>
                  <a:spLocks noChangeShapeType="1"/>
                </p:cNvSpPr>
                <p:nvPr/>
              </p:nvSpPr>
              <p:spPr bwMode="auto">
                <a:xfrm>
                  <a:off x="927" y="2943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5" name="Line 38"/>
                <p:cNvSpPr>
                  <a:spLocks noChangeShapeType="1"/>
                </p:cNvSpPr>
                <p:nvPr/>
              </p:nvSpPr>
              <p:spPr bwMode="auto">
                <a:xfrm>
                  <a:off x="1038" y="1977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6" name="Line 39"/>
                <p:cNvSpPr>
                  <a:spLocks noChangeShapeType="1"/>
                </p:cNvSpPr>
                <p:nvPr/>
              </p:nvSpPr>
              <p:spPr bwMode="auto">
                <a:xfrm>
                  <a:off x="1038" y="2190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7" name="Line 40"/>
                <p:cNvSpPr>
                  <a:spLocks noChangeShapeType="1"/>
                </p:cNvSpPr>
                <p:nvPr/>
              </p:nvSpPr>
              <p:spPr bwMode="auto">
                <a:xfrm>
                  <a:off x="1038" y="2367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8" name="Line 41"/>
                <p:cNvSpPr>
                  <a:spLocks noChangeShapeType="1"/>
                </p:cNvSpPr>
                <p:nvPr/>
              </p:nvSpPr>
              <p:spPr bwMode="auto">
                <a:xfrm>
                  <a:off x="1038" y="2550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9" name="Line 42"/>
                <p:cNvSpPr>
                  <a:spLocks noChangeShapeType="1"/>
                </p:cNvSpPr>
                <p:nvPr/>
              </p:nvSpPr>
              <p:spPr bwMode="auto">
                <a:xfrm>
                  <a:off x="1038" y="2739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0" name="Line 43"/>
                <p:cNvSpPr>
                  <a:spLocks noChangeShapeType="1"/>
                </p:cNvSpPr>
                <p:nvPr/>
              </p:nvSpPr>
              <p:spPr bwMode="auto">
                <a:xfrm>
                  <a:off x="1038" y="2916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1" name="Line 44"/>
                <p:cNvSpPr>
                  <a:spLocks noChangeShapeType="1"/>
                </p:cNvSpPr>
                <p:nvPr/>
              </p:nvSpPr>
              <p:spPr bwMode="auto">
                <a:xfrm>
                  <a:off x="1284" y="1986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2" name="Line 45"/>
                <p:cNvSpPr>
                  <a:spLocks noChangeShapeType="1"/>
                </p:cNvSpPr>
                <p:nvPr/>
              </p:nvSpPr>
              <p:spPr bwMode="auto">
                <a:xfrm>
                  <a:off x="1284" y="2202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3" name="Line 46"/>
                <p:cNvSpPr>
                  <a:spLocks noChangeShapeType="1"/>
                </p:cNvSpPr>
                <p:nvPr/>
              </p:nvSpPr>
              <p:spPr bwMode="auto">
                <a:xfrm>
                  <a:off x="1284" y="2361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4" name="Line 47"/>
                <p:cNvSpPr>
                  <a:spLocks noChangeShapeType="1"/>
                </p:cNvSpPr>
                <p:nvPr/>
              </p:nvSpPr>
              <p:spPr bwMode="auto">
                <a:xfrm>
                  <a:off x="1284" y="2547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5" name="Line 48"/>
                <p:cNvSpPr>
                  <a:spLocks noChangeShapeType="1"/>
                </p:cNvSpPr>
                <p:nvPr/>
              </p:nvSpPr>
              <p:spPr bwMode="auto">
                <a:xfrm>
                  <a:off x="1284" y="2736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6" name="Line 49"/>
                <p:cNvSpPr>
                  <a:spLocks noChangeShapeType="1"/>
                </p:cNvSpPr>
                <p:nvPr/>
              </p:nvSpPr>
              <p:spPr bwMode="auto">
                <a:xfrm>
                  <a:off x="1284" y="2919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7" name="Line 50"/>
                <p:cNvSpPr>
                  <a:spLocks noChangeShapeType="1"/>
                </p:cNvSpPr>
                <p:nvPr/>
              </p:nvSpPr>
              <p:spPr bwMode="auto">
                <a:xfrm>
                  <a:off x="1158" y="2013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8" name="Line 51"/>
                <p:cNvSpPr>
                  <a:spLocks noChangeShapeType="1"/>
                </p:cNvSpPr>
                <p:nvPr/>
              </p:nvSpPr>
              <p:spPr bwMode="auto">
                <a:xfrm>
                  <a:off x="1158" y="2214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9" name="Line 52"/>
                <p:cNvSpPr>
                  <a:spLocks noChangeShapeType="1"/>
                </p:cNvSpPr>
                <p:nvPr/>
              </p:nvSpPr>
              <p:spPr bwMode="auto">
                <a:xfrm>
                  <a:off x="1158" y="2400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" name="Line 53"/>
                <p:cNvSpPr>
                  <a:spLocks noChangeShapeType="1"/>
                </p:cNvSpPr>
                <p:nvPr/>
              </p:nvSpPr>
              <p:spPr bwMode="auto">
                <a:xfrm>
                  <a:off x="1158" y="2571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1" name="Line 54"/>
                <p:cNvSpPr>
                  <a:spLocks noChangeShapeType="1"/>
                </p:cNvSpPr>
                <p:nvPr/>
              </p:nvSpPr>
              <p:spPr bwMode="auto">
                <a:xfrm>
                  <a:off x="1158" y="2760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2" name="Line 55"/>
                <p:cNvSpPr>
                  <a:spLocks noChangeShapeType="1"/>
                </p:cNvSpPr>
                <p:nvPr/>
              </p:nvSpPr>
              <p:spPr bwMode="auto">
                <a:xfrm>
                  <a:off x="1158" y="2937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08" name="Rectangle 56"/>
              <p:cNvSpPr>
                <a:spLocks noChangeArrowheads="1"/>
              </p:cNvSpPr>
              <p:nvPr/>
            </p:nvSpPr>
            <p:spPr bwMode="auto">
              <a:xfrm>
                <a:off x="1425" y="2361"/>
                <a:ext cx="15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 i="1">
                    <a:latin typeface="Times New Roman" panose="02020603050405020304" pitchFamily="18" charset="0"/>
                  </a:rPr>
                  <a:t>I</a:t>
                </a:r>
                <a:endParaRPr lang="en-US" altLang="zh-CN" sz="16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9" name="Rectangle 57"/>
              <p:cNvSpPr>
                <a:spLocks noChangeArrowheads="1"/>
              </p:cNvSpPr>
              <p:nvPr/>
            </p:nvSpPr>
            <p:spPr bwMode="auto">
              <a:xfrm>
                <a:off x="124" y="2428"/>
                <a:ext cx="52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 i="1">
                    <a:latin typeface="Times New Roman" panose="02020603050405020304" pitchFamily="18" charset="0"/>
                  </a:rPr>
                  <a:t>N </a:t>
                </a:r>
                <a:r>
                  <a:rPr lang="en-US" altLang="zh-CN" sz="1600">
                    <a:latin typeface="Times New Roman" panose="02020603050405020304" pitchFamily="18" charset="0"/>
                  </a:rPr>
                  <a:t>turns</a:t>
                </a:r>
                <a:r>
                  <a:rPr lang="en-US" altLang="zh-CN" sz="1600" i="1">
                    <a:latin typeface="Times New Roman" panose="02020603050405020304" pitchFamily="18" charset="0"/>
                  </a:rPr>
                  <a:t> </a:t>
                </a:r>
                <a:endParaRPr lang="en-US" altLang="zh-CN" sz="16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0" name="Rectangle 58"/>
              <p:cNvSpPr>
                <a:spLocks noChangeArrowheads="1"/>
              </p:cNvSpPr>
              <p:nvPr/>
            </p:nvSpPr>
            <p:spPr bwMode="auto">
              <a:xfrm>
                <a:off x="960" y="1440"/>
                <a:ext cx="20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 b="1">
                    <a:latin typeface="Times New Roman" panose="02020603050405020304" pitchFamily="18" charset="0"/>
                  </a:rPr>
                  <a:t>B</a:t>
                </a:r>
                <a:endParaRPr lang="en-US" altLang="zh-CN" sz="16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1" name="Rectangle 59"/>
              <p:cNvSpPr>
                <a:spLocks noChangeArrowheads="1"/>
              </p:cNvSpPr>
              <p:nvPr/>
            </p:nvSpPr>
            <p:spPr bwMode="auto">
              <a:xfrm>
                <a:off x="898" y="2920"/>
                <a:ext cx="18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200" i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1200" i="1" baseline="-25000">
                    <a:latin typeface="Times New Roman" panose="02020603050405020304" pitchFamily="18" charset="0"/>
                  </a:rPr>
                  <a:t>i</a:t>
                </a:r>
                <a:endParaRPr lang="en-US" altLang="zh-CN" sz="12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" name="Line 60"/>
              <p:cNvSpPr>
                <a:spLocks noChangeShapeType="1"/>
              </p:cNvSpPr>
              <p:nvPr/>
            </p:nvSpPr>
            <p:spPr bwMode="auto">
              <a:xfrm>
                <a:off x="1536" y="2088"/>
                <a:ext cx="3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" name="Line 61"/>
              <p:cNvSpPr>
                <a:spLocks noChangeShapeType="1"/>
              </p:cNvSpPr>
              <p:nvPr/>
            </p:nvSpPr>
            <p:spPr bwMode="auto">
              <a:xfrm>
                <a:off x="1536" y="3021"/>
                <a:ext cx="33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" name="Rectangle 62"/>
              <p:cNvSpPr>
                <a:spLocks noChangeArrowheads="1"/>
              </p:cNvSpPr>
              <p:nvPr/>
            </p:nvSpPr>
            <p:spPr bwMode="auto">
              <a:xfrm>
                <a:off x="1632" y="2434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 i="1">
                    <a:latin typeface="Times New Roman" panose="02020603050405020304" pitchFamily="18" charset="0"/>
                  </a:rPr>
                  <a:t>d</a:t>
                </a:r>
                <a:endParaRPr lang="en-US" altLang="zh-CN" sz="16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5" name="Line 63"/>
              <p:cNvSpPr>
                <a:spLocks noChangeShapeType="1"/>
              </p:cNvSpPr>
              <p:nvPr/>
            </p:nvSpPr>
            <p:spPr bwMode="auto">
              <a:xfrm flipV="1">
                <a:off x="1731" y="2085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" name="Line 64"/>
              <p:cNvSpPr>
                <a:spLocks noChangeShapeType="1"/>
              </p:cNvSpPr>
              <p:nvPr/>
            </p:nvSpPr>
            <p:spPr bwMode="auto">
              <a:xfrm>
                <a:off x="1731" y="2685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pic>
          <p:nvPicPr>
            <p:cNvPr id="99" name="Picture 6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9" y="1494"/>
              <a:ext cx="766" cy="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00" name="Picture 6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8" y="1542"/>
              <a:ext cx="1146" cy="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1" name="Rectangle 68"/>
            <p:cNvSpPr>
              <a:spLocks noChangeArrowheads="1"/>
            </p:cNvSpPr>
            <p:nvPr/>
          </p:nvSpPr>
          <p:spPr bwMode="auto">
            <a:xfrm>
              <a:off x="3336" y="1590"/>
              <a:ext cx="47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where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102" name="Rectangle 74"/>
            <p:cNvSpPr>
              <a:spLocks noChangeArrowheads="1"/>
            </p:cNvSpPr>
            <p:nvPr/>
          </p:nvSpPr>
          <p:spPr bwMode="auto">
            <a:xfrm>
              <a:off x="2065" y="1206"/>
              <a:ext cx="153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Having the flux linkage: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103" name="Rectangle 75"/>
            <p:cNvSpPr>
              <a:spLocks noChangeArrowheads="1"/>
            </p:cNvSpPr>
            <p:nvPr/>
          </p:nvSpPr>
          <p:spPr bwMode="auto">
            <a:xfrm>
              <a:off x="2054" y="2022"/>
              <a:ext cx="3610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The inductance of the device is defined as the flux linkage per unit current, or</a:t>
              </a:r>
              <a:endPara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  <p:pic>
          <p:nvPicPr>
            <p:cNvPr id="104" name="Picture 7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2544"/>
              <a:ext cx="1382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5" name="Rectangle 77"/>
            <p:cNvSpPr>
              <a:spLocks noChangeArrowheads="1"/>
            </p:cNvSpPr>
            <p:nvPr/>
          </p:nvSpPr>
          <p:spPr bwMode="auto">
            <a:xfrm>
              <a:off x="3575" y="2646"/>
              <a:ext cx="1993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where the last equality applies if all </a:t>
              </a:r>
              <a:endParaRPr lang="en-US" altLang="zh-CN" sz="16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turns are identical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65" name="Rectangle 80"/>
          <p:cNvSpPr>
            <a:spLocks noChangeArrowheads="1"/>
          </p:cNvSpPr>
          <p:nvPr/>
        </p:nvSpPr>
        <p:spPr bwMode="auto">
          <a:xfrm>
            <a:off x="3239522" y="5119687"/>
            <a:ext cx="576157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The units of inductance are Weber-turns per Ampere</a:t>
            </a:r>
            <a:r>
              <a:rPr lang="en-US" altLang="zh-CN" sz="1800" dirty="0">
                <a:latin typeface="Times New Roman" panose="02020603050405020304" pitchFamily="18" charset="0"/>
              </a:rPr>
              <a:t>, where 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1800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Wb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-t/A is defined as one 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Henry 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[H].</a:t>
            </a:r>
            <a:endParaRPr lang="en-US" altLang="zh-CN" sz="1800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451211" y="4022684"/>
            <a:ext cx="1265238" cy="6778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922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Solenoid Inductance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76" name="Group 4"/>
          <p:cNvGrpSpPr/>
          <p:nvPr/>
        </p:nvGrpSpPr>
        <p:grpSpPr bwMode="auto">
          <a:xfrm>
            <a:off x="189403" y="2211664"/>
            <a:ext cx="2765425" cy="3209925"/>
            <a:chOff x="124" y="1440"/>
            <a:chExt cx="1742" cy="2022"/>
          </a:xfrm>
        </p:grpSpPr>
        <p:grpSp>
          <p:nvGrpSpPr>
            <p:cNvPr id="77" name="Group 5"/>
            <p:cNvGrpSpPr/>
            <p:nvPr/>
          </p:nvGrpSpPr>
          <p:grpSpPr bwMode="auto">
            <a:xfrm>
              <a:off x="672" y="1674"/>
              <a:ext cx="771" cy="1788"/>
              <a:chOff x="672" y="1674"/>
              <a:chExt cx="771" cy="1788"/>
            </a:xfrm>
          </p:grpSpPr>
          <p:sp>
            <p:nvSpPr>
              <p:cNvPr id="87" name="Line 6"/>
              <p:cNvSpPr>
                <a:spLocks noChangeShapeType="1"/>
              </p:cNvSpPr>
              <p:nvPr/>
            </p:nvSpPr>
            <p:spPr bwMode="auto">
              <a:xfrm flipV="1">
                <a:off x="1158" y="1686"/>
                <a:ext cx="0" cy="177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" name="Line 7"/>
              <p:cNvSpPr>
                <a:spLocks noChangeShapeType="1"/>
              </p:cNvSpPr>
              <p:nvPr/>
            </p:nvSpPr>
            <p:spPr bwMode="auto">
              <a:xfrm flipV="1">
                <a:off x="1284" y="1686"/>
                <a:ext cx="0" cy="177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9" name="Line 8"/>
              <p:cNvSpPr>
                <a:spLocks noChangeShapeType="1"/>
              </p:cNvSpPr>
              <p:nvPr/>
            </p:nvSpPr>
            <p:spPr bwMode="auto">
              <a:xfrm flipV="1">
                <a:off x="1038" y="1686"/>
                <a:ext cx="0" cy="177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" name="Line 9"/>
              <p:cNvSpPr>
                <a:spLocks noChangeShapeType="1"/>
              </p:cNvSpPr>
              <p:nvPr/>
            </p:nvSpPr>
            <p:spPr bwMode="auto">
              <a:xfrm flipV="1">
                <a:off x="927" y="1680"/>
                <a:ext cx="0" cy="177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" name="Line 10"/>
              <p:cNvSpPr>
                <a:spLocks noChangeShapeType="1"/>
              </p:cNvSpPr>
              <p:nvPr/>
            </p:nvSpPr>
            <p:spPr bwMode="auto">
              <a:xfrm flipV="1">
                <a:off x="822" y="1674"/>
                <a:ext cx="0" cy="177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92" name="Group 11"/>
              <p:cNvGrpSpPr/>
              <p:nvPr/>
            </p:nvGrpSpPr>
            <p:grpSpPr bwMode="auto">
              <a:xfrm>
                <a:off x="672" y="2016"/>
                <a:ext cx="771" cy="1074"/>
                <a:chOff x="522" y="2016"/>
                <a:chExt cx="771" cy="1074"/>
              </a:xfrm>
            </p:grpSpPr>
            <p:sp>
              <p:nvSpPr>
                <p:cNvPr id="191" name="Oval 12"/>
                <p:cNvSpPr>
                  <a:spLocks noChangeArrowheads="1"/>
                </p:cNvSpPr>
                <p:nvPr/>
              </p:nvSpPr>
              <p:spPr bwMode="auto">
                <a:xfrm>
                  <a:off x="525" y="2016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2" name="Oval 13"/>
                <p:cNvSpPr>
                  <a:spLocks noChangeArrowheads="1"/>
                </p:cNvSpPr>
                <p:nvPr/>
              </p:nvSpPr>
              <p:spPr bwMode="auto">
                <a:xfrm>
                  <a:off x="525" y="2208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3" name="Oval 14"/>
                <p:cNvSpPr>
                  <a:spLocks noChangeArrowheads="1"/>
                </p:cNvSpPr>
                <p:nvPr/>
              </p:nvSpPr>
              <p:spPr bwMode="auto">
                <a:xfrm>
                  <a:off x="525" y="2394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4" name="Oval 15"/>
                <p:cNvSpPr>
                  <a:spLocks noChangeArrowheads="1"/>
                </p:cNvSpPr>
                <p:nvPr/>
              </p:nvSpPr>
              <p:spPr bwMode="auto">
                <a:xfrm>
                  <a:off x="525" y="2577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5" name="Oval 16"/>
                <p:cNvSpPr>
                  <a:spLocks noChangeArrowheads="1"/>
                </p:cNvSpPr>
                <p:nvPr/>
              </p:nvSpPr>
              <p:spPr bwMode="auto">
                <a:xfrm>
                  <a:off x="525" y="2763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6" name="Oval 17"/>
                <p:cNvSpPr>
                  <a:spLocks noChangeArrowheads="1"/>
                </p:cNvSpPr>
                <p:nvPr/>
              </p:nvSpPr>
              <p:spPr bwMode="auto">
                <a:xfrm>
                  <a:off x="522" y="2946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7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1035" y="3072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8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1038" y="2892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9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1035" y="2706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0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1041" y="2520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1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1041" y="2334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2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1041" y="2145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3" name="Line 24"/>
              <p:cNvSpPr>
                <a:spLocks noChangeShapeType="1"/>
              </p:cNvSpPr>
              <p:nvPr/>
            </p:nvSpPr>
            <p:spPr bwMode="auto">
              <a:xfrm>
                <a:off x="822" y="1980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" name="Line 25"/>
              <p:cNvSpPr>
                <a:spLocks noChangeShapeType="1"/>
              </p:cNvSpPr>
              <p:nvPr/>
            </p:nvSpPr>
            <p:spPr bwMode="auto">
              <a:xfrm>
                <a:off x="822" y="2178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" name="Line 26"/>
              <p:cNvSpPr>
                <a:spLocks noChangeShapeType="1"/>
              </p:cNvSpPr>
              <p:nvPr/>
            </p:nvSpPr>
            <p:spPr bwMode="auto">
              <a:xfrm>
                <a:off x="822" y="2364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" name="Line 27"/>
              <p:cNvSpPr>
                <a:spLocks noChangeShapeType="1"/>
              </p:cNvSpPr>
              <p:nvPr/>
            </p:nvSpPr>
            <p:spPr bwMode="auto">
              <a:xfrm>
                <a:off x="822" y="2550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" name="Line 28"/>
              <p:cNvSpPr>
                <a:spLocks noChangeShapeType="1"/>
              </p:cNvSpPr>
              <p:nvPr/>
            </p:nvSpPr>
            <p:spPr bwMode="auto">
              <a:xfrm>
                <a:off x="822" y="2736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" name="Line 29"/>
              <p:cNvSpPr>
                <a:spLocks noChangeShapeType="1"/>
              </p:cNvSpPr>
              <p:nvPr/>
            </p:nvSpPr>
            <p:spPr bwMode="auto">
              <a:xfrm>
                <a:off x="822" y="2916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7" name="Line 30"/>
              <p:cNvSpPr>
                <a:spLocks noChangeShapeType="1"/>
              </p:cNvSpPr>
              <p:nvPr/>
            </p:nvSpPr>
            <p:spPr bwMode="auto">
              <a:xfrm>
                <a:off x="927" y="2013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8" name="Line 31"/>
              <p:cNvSpPr>
                <a:spLocks noChangeShapeType="1"/>
              </p:cNvSpPr>
              <p:nvPr/>
            </p:nvSpPr>
            <p:spPr bwMode="auto">
              <a:xfrm>
                <a:off x="927" y="2208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9" name="Line 32"/>
              <p:cNvSpPr>
                <a:spLocks noChangeShapeType="1"/>
              </p:cNvSpPr>
              <p:nvPr/>
            </p:nvSpPr>
            <p:spPr bwMode="auto">
              <a:xfrm>
                <a:off x="927" y="2403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" name="Line 33"/>
              <p:cNvSpPr>
                <a:spLocks noChangeShapeType="1"/>
              </p:cNvSpPr>
              <p:nvPr/>
            </p:nvSpPr>
            <p:spPr bwMode="auto">
              <a:xfrm>
                <a:off x="927" y="2580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1" name="Line 34"/>
              <p:cNvSpPr>
                <a:spLocks noChangeShapeType="1"/>
              </p:cNvSpPr>
              <p:nvPr/>
            </p:nvSpPr>
            <p:spPr bwMode="auto">
              <a:xfrm>
                <a:off x="927" y="2769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2" name="Line 35"/>
              <p:cNvSpPr>
                <a:spLocks noChangeShapeType="1"/>
              </p:cNvSpPr>
              <p:nvPr/>
            </p:nvSpPr>
            <p:spPr bwMode="auto">
              <a:xfrm>
                <a:off x="927" y="2943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3" name="Line 36"/>
              <p:cNvSpPr>
                <a:spLocks noChangeShapeType="1"/>
              </p:cNvSpPr>
              <p:nvPr/>
            </p:nvSpPr>
            <p:spPr bwMode="auto">
              <a:xfrm>
                <a:off x="1038" y="1977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" name="Line 37"/>
              <p:cNvSpPr>
                <a:spLocks noChangeShapeType="1"/>
              </p:cNvSpPr>
              <p:nvPr/>
            </p:nvSpPr>
            <p:spPr bwMode="auto">
              <a:xfrm>
                <a:off x="1038" y="2190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5" name="Line 38"/>
              <p:cNvSpPr>
                <a:spLocks noChangeShapeType="1"/>
              </p:cNvSpPr>
              <p:nvPr/>
            </p:nvSpPr>
            <p:spPr bwMode="auto">
              <a:xfrm>
                <a:off x="1038" y="2367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" name="Line 39"/>
              <p:cNvSpPr>
                <a:spLocks noChangeShapeType="1"/>
              </p:cNvSpPr>
              <p:nvPr/>
            </p:nvSpPr>
            <p:spPr bwMode="auto">
              <a:xfrm>
                <a:off x="1038" y="2550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7" name="Line 40"/>
              <p:cNvSpPr>
                <a:spLocks noChangeShapeType="1"/>
              </p:cNvSpPr>
              <p:nvPr/>
            </p:nvSpPr>
            <p:spPr bwMode="auto">
              <a:xfrm>
                <a:off x="1038" y="2739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8" name="Line 41"/>
              <p:cNvSpPr>
                <a:spLocks noChangeShapeType="1"/>
              </p:cNvSpPr>
              <p:nvPr/>
            </p:nvSpPr>
            <p:spPr bwMode="auto">
              <a:xfrm>
                <a:off x="1038" y="2916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9" name="Line 42"/>
              <p:cNvSpPr>
                <a:spLocks noChangeShapeType="1"/>
              </p:cNvSpPr>
              <p:nvPr/>
            </p:nvSpPr>
            <p:spPr bwMode="auto">
              <a:xfrm>
                <a:off x="1284" y="1986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" name="Line 43"/>
              <p:cNvSpPr>
                <a:spLocks noChangeShapeType="1"/>
              </p:cNvSpPr>
              <p:nvPr/>
            </p:nvSpPr>
            <p:spPr bwMode="auto">
              <a:xfrm>
                <a:off x="1284" y="2202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1" name="Line 44"/>
              <p:cNvSpPr>
                <a:spLocks noChangeShapeType="1"/>
              </p:cNvSpPr>
              <p:nvPr/>
            </p:nvSpPr>
            <p:spPr bwMode="auto">
              <a:xfrm>
                <a:off x="1284" y="2361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2" name="Line 45"/>
              <p:cNvSpPr>
                <a:spLocks noChangeShapeType="1"/>
              </p:cNvSpPr>
              <p:nvPr/>
            </p:nvSpPr>
            <p:spPr bwMode="auto">
              <a:xfrm>
                <a:off x="1284" y="2547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" name="Line 46"/>
              <p:cNvSpPr>
                <a:spLocks noChangeShapeType="1"/>
              </p:cNvSpPr>
              <p:nvPr/>
            </p:nvSpPr>
            <p:spPr bwMode="auto">
              <a:xfrm>
                <a:off x="1284" y="2736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" name="Line 47"/>
              <p:cNvSpPr>
                <a:spLocks noChangeShapeType="1"/>
              </p:cNvSpPr>
              <p:nvPr/>
            </p:nvSpPr>
            <p:spPr bwMode="auto">
              <a:xfrm>
                <a:off x="1284" y="2919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" name="Line 48"/>
              <p:cNvSpPr>
                <a:spLocks noChangeShapeType="1"/>
              </p:cNvSpPr>
              <p:nvPr/>
            </p:nvSpPr>
            <p:spPr bwMode="auto">
              <a:xfrm>
                <a:off x="1158" y="2013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6" name="Line 49"/>
              <p:cNvSpPr>
                <a:spLocks noChangeShapeType="1"/>
              </p:cNvSpPr>
              <p:nvPr/>
            </p:nvSpPr>
            <p:spPr bwMode="auto">
              <a:xfrm>
                <a:off x="1158" y="2214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7" name="Line 50"/>
              <p:cNvSpPr>
                <a:spLocks noChangeShapeType="1"/>
              </p:cNvSpPr>
              <p:nvPr/>
            </p:nvSpPr>
            <p:spPr bwMode="auto">
              <a:xfrm>
                <a:off x="1158" y="2400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8" name="Line 51"/>
              <p:cNvSpPr>
                <a:spLocks noChangeShapeType="1"/>
              </p:cNvSpPr>
              <p:nvPr/>
            </p:nvSpPr>
            <p:spPr bwMode="auto">
              <a:xfrm>
                <a:off x="1158" y="2571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9" name="Line 52"/>
              <p:cNvSpPr>
                <a:spLocks noChangeShapeType="1"/>
              </p:cNvSpPr>
              <p:nvPr/>
            </p:nvSpPr>
            <p:spPr bwMode="auto">
              <a:xfrm>
                <a:off x="1158" y="2760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0" name="Line 53"/>
              <p:cNvSpPr>
                <a:spLocks noChangeShapeType="1"/>
              </p:cNvSpPr>
              <p:nvPr/>
            </p:nvSpPr>
            <p:spPr bwMode="auto">
              <a:xfrm>
                <a:off x="1158" y="2937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8" name="Rectangle 54"/>
            <p:cNvSpPr>
              <a:spLocks noChangeArrowheads="1"/>
            </p:cNvSpPr>
            <p:nvPr/>
          </p:nvSpPr>
          <p:spPr bwMode="auto">
            <a:xfrm>
              <a:off x="1425" y="2361"/>
              <a:ext cx="15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I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79" name="Rectangle 55"/>
            <p:cNvSpPr>
              <a:spLocks noChangeArrowheads="1"/>
            </p:cNvSpPr>
            <p:nvPr/>
          </p:nvSpPr>
          <p:spPr bwMode="auto">
            <a:xfrm>
              <a:off x="124" y="2428"/>
              <a:ext cx="52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N </a:t>
              </a:r>
              <a:r>
                <a:rPr lang="en-US" altLang="zh-CN" sz="1600">
                  <a:latin typeface="Times New Roman" panose="02020603050405020304" pitchFamily="18" charset="0"/>
                </a:rPr>
                <a:t>turns</a:t>
              </a:r>
              <a:r>
                <a:rPr lang="en-US" altLang="zh-CN" sz="1600" i="1">
                  <a:latin typeface="Times New Roman" panose="02020603050405020304" pitchFamily="18" charset="0"/>
                </a:rPr>
                <a:t> 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80" name="Rectangle 56"/>
            <p:cNvSpPr>
              <a:spLocks noChangeArrowheads="1"/>
            </p:cNvSpPr>
            <p:nvPr/>
          </p:nvSpPr>
          <p:spPr bwMode="auto">
            <a:xfrm>
              <a:off x="960" y="1440"/>
              <a:ext cx="20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B</a:t>
              </a:r>
              <a:endParaRPr lang="en-US" altLang="zh-CN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81" name="Rectangle 57"/>
            <p:cNvSpPr>
              <a:spLocks noChangeArrowheads="1"/>
            </p:cNvSpPr>
            <p:nvPr/>
          </p:nvSpPr>
          <p:spPr bwMode="auto">
            <a:xfrm>
              <a:off x="898" y="2920"/>
              <a:ext cx="18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latin typeface="Times New Roman" panose="02020603050405020304" pitchFamily="18" charset="0"/>
                </a:rPr>
                <a:t>S</a:t>
              </a:r>
              <a:r>
                <a:rPr lang="en-US" altLang="zh-CN" sz="1200" i="1" baseline="-25000">
                  <a:latin typeface="Times New Roman" panose="02020603050405020304" pitchFamily="18" charset="0"/>
                </a:rPr>
                <a:t>i</a:t>
              </a:r>
              <a:endParaRPr lang="en-US" altLang="zh-CN" sz="1200" i="1">
                <a:latin typeface="Times New Roman" panose="02020603050405020304" pitchFamily="18" charset="0"/>
              </a:endParaRPr>
            </a:p>
          </p:txBody>
        </p:sp>
        <p:sp>
          <p:nvSpPr>
            <p:cNvPr id="82" name="Line 58"/>
            <p:cNvSpPr>
              <a:spLocks noChangeShapeType="1"/>
            </p:cNvSpPr>
            <p:nvPr/>
          </p:nvSpPr>
          <p:spPr bwMode="auto">
            <a:xfrm>
              <a:off x="1536" y="2088"/>
              <a:ext cx="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Line 59"/>
            <p:cNvSpPr>
              <a:spLocks noChangeShapeType="1"/>
            </p:cNvSpPr>
            <p:nvPr/>
          </p:nvSpPr>
          <p:spPr bwMode="auto">
            <a:xfrm>
              <a:off x="1536" y="3021"/>
              <a:ext cx="3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Rectangle 60"/>
            <p:cNvSpPr>
              <a:spLocks noChangeArrowheads="1"/>
            </p:cNvSpPr>
            <p:nvPr/>
          </p:nvSpPr>
          <p:spPr bwMode="auto">
            <a:xfrm>
              <a:off x="1632" y="2434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d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85" name="Line 61"/>
            <p:cNvSpPr>
              <a:spLocks noChangeShapeType="1"/>
            </p:cNvSpPr>
            <p:nvPr/>
          </p:nvSpPr>
          <p:spPr bwMode="auto">
            <a:xfrm flipV="1">
              <a:off x="1731" y="2085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Line 62"/>
            <p:cNvSpPr>
              <a:spLocks noChangeShapeType="1"/>
            </p:cNvSpPr>
            <p:nvPr/>
          </p:nvSpPr>
          <p:spPr bwMode="auto">
            <a:xfrm>
              <a:off x="1731" y="2685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03" name="Picture 7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719" y="2397167"/>
            <a:ext cx="2476500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4" name="Group 92"/>
          <p:cNvGrpSpPr/>
          <p:nvPr/>
        </p:nvGrpSpPr>
        <p:grpSpPr bwMode="auto">
          <a:xfrm>
            <a:off x="2583353" y="1666220"/>
            <a:ext cx="6577012" cy="646113"/>
            <a:chOff x="1871" y="1212"/>
            <a:chExt cx="4143" cy="407"/>
          </a:xfrm>
        </p:grpSpPr>
        <p:sp>
          <p:nvSpPr>
            <p:cNvPr id="205" name="Rectangle 72"/>
            <p:cNvSpPr>
              <a:spLocks noChangeArrowheads="1"/>
            </p:cNvSpPr>
            <p:nvPr/>
          </p:nvSpPr>
          <p:spPr bwMode="auto">
            <a:xfrm>
              <a:off x="1871" y="1212"/>
              <a:ext cx="4143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For a long solenoid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, having </a:t>
              </a:r>
              <a:r>
                <a:rPr lang="en-US" altLang="zh-CN" sz="18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turn density </a:t>
              </a:r>
              <a:r>
                <a:rPr lang="en-US" altLang="zh-CN" sz="1800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, and </a:t>
              </a:r>
              <a:r>
                <a:rPr lang="en-US" altLang="zh-CN" sz="18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core permeability    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,  </a:t>
              </a:r>
              <a:endParaRPr lang="en-US" altLang="zh-CN" sz="18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the magnetic flux density has magnitude: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pic>
          <p:nvPicPr>
            <p:cNvPr id="206" name="Picture 7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6" y="1262"/>
              <a:ext cx="126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7" name="Group 77"/>
          <p:cNvGrpSpPr/>
          <p:nvPr/>
        </p:nvGrpSpPr>
        <p:grpSpPr bwMode="auto">
          <a:xfrm>
            <a:off x="3972719" y="3875723"/>
            <a:ext cx="3646487" cy="749300"/>
            <a:chOff x="2256" y="2319"/>
            <a:chExt cx="2297" cy="472"/>
          </a:xfrm>
        </p:grpSpPr>
        <p:pic>
          <p:nvPicPr>
            <p:cNvPr id="208" name="Picture 7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6" y="2448"/>
              <a:ext cx="800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9" name="Picture 7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1" y="2319"/>
              <a:ext cx="1532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0" name="Rectangle 78"/>
          <p:cNvSpPr>
            <a:spLocks noChangeArrowheads="1"/>
          </p:cNvSpPr>
          <p:nvPr/>
        </p:nvSpPr>
        <p:spPr bwMode="auto">
          <a:xfrm>
            <a:off x="3216795" y="3179136"/>
            <a:ext cx="597471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Then, assuming equal flux densities through </a:t>
            </a:r>
            <a:r>
              <a:rPr lang="en-US" altLang="zh-CN" sz="1800" i="1" dirty="0">
                <a:latin typeface="Times New Roman" panose="02020603050405020304" pitchFamily="18" charset="0"/>
              </a:rPr>
              <a:t>N 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identical turns</a:t>
            </a:r>
            <a:r>
              <a:rPr lang="en-US" altLang="zh-CN" sz="1800" dirty="0">
                <a:latin typeface="Times New Roman" panose="02020603050405020304" pitchFamily="18" charset="0"/>
              </a:rPr>
              <a:t>, 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the flux linkage is 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sp>
        <p:nvSpPr>
          <p:cNvPr id="211" name="Rectangle 82"/>
          <p:cNvSpPr>
            <a:spLocks noChangeArrowheads="1"/>
          </p:cNvSpPr>
          <p:nvPr/>
        </p:nvSpPr>
        <p:spPr bwMode="auto">
          <a:xfrm>
            <a:off x="3227611" y="4443451"/>
            <a:ext cx="24224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…and the inductance is: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grpSp>
        <p:nvGrpSpPr>
          <p:cNvPr id="212" name="Group 91"/>
          <p:cNvGrpSpPr/>
          <p:nvPr/>
        </p:nvGrpSpPr>
        <p:grpSpPr bwMode="auto">
          <a:xfrm>
            <a:off x="3886200" y="4883149"/>
            <a:ext cx="2438400" cy="838200"/>
            <a:chOff x="3456" y="2976"/>
            <a:chExt cx="1536" cy="528"/>
          </a:xfrm>
        </p:grpSpPr>
        <p:grpSp>
          <p:nvGrpSpPr>
            <p:cNvPr id="213" name="Group 81"/>
            <p:cNvGrpSpPr/>
            <p:nvPr/>
          </p:nvGrpSpPr>
          <p:grpSpPr bwMode="auto">
            <a:xfrm>
              <a:off x="3504" y="3017"/>
              <a:ext cx="1481" cy="439"/>
              <a:chOff x="2160" y="3168"/>
              <a:chExt cx="1481" cy="439"/>
            </a:xfrm>
          </p:grpSpPr>
          <p:pic>
            <p:nvPicPr>
              <p:cNvPr id="215" name="Picture 79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60" y="3168"/>
                <a:ext cx="708" cy="4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6" name="Picture 80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5" y="3207"/>
                <a:ext cx="806" cy="3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14" name="Rectangle 83"/>
            <p:cNvSpPr>
              <a:spLocks noChangeArrowheads="1"/>
            </p:cNvSpPr>
            <p:nvPr/>
          </p:nvSpPr>
          <p:spPr bwMode="auto">
            <a:xfrm>
              <a:off x="3456" y="2976"/>
              <a:ext cx="1536" cy="528"/>
            </a:xfrm>
            <a:prstGeom prst="rect">
              <a:avLst/>
            </a:prstGeom>
            <a:noFill/>
            <a:ln w="9525">
              <a:solidFill>
                <a:srgbClr val="CC006B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7" name="Group 87"/>
          <p:cNvGrpSpPr/>
          <p:nvPr/>
        </p:nvGrpSpPr>
        <p:grpSpPr bwMode="auto">
          <a:xfrm>
            <a:off x="727075" y="5916613"/>
            <a:ext cx="4192588" cy="730250"/>
            <a:chOff x="458" y="3727"/>
            <a:chExt cx="2641" cy="460"/>
          </a:xfrm>
        </p:grpSpPr>
        <p:sp>
          <p:nvSpPr>
            <p:cNvPr id="218" name="Rectangle 84"/>
            <p:cNvSpPr>
              <a:spLocks noChangeArrowheads="1"/>
            </p:cNvSpPr>
            <p:nvPr/>
          </p:nvSpPr>
          <p:spPr bwMode="auto">
            <a:xfrm>
              <a:off x="458" y="3727"/>
              <a:ext cx="2641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</a:rPr>
                <a:t>It is interesting to compare this result to the capacitance </a:t>
              </a:r>
              <a:endParaRPr lang="en-US" altLang="zh-CN" sz="140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</a:rPr>
                <a:t>of a parallel-plate capacitor, having plate area </a:t>
              </a:r>
              <a:r>
                <a:rPr lang="en-US" altLang="zh-CN" sz="1400" i="1">
                  <a:latin typeface="Times New Roman" panose="02020603050405020304" pitchFamily="18" charset="0"/>
                </a:rPr>
                <a:t>S</a:t>
              </a:r>
              <a:r>
                <a:rPr lang="en-US" altLang="zh-CN" sz="1400">
                  <a:latin typeface="Times New Roman" panose="02020603050405020304" pitchFamily="18" charset="0"/>
                </a:rPr>
                <a:t>, plate </a:t>
              </a:r>
              <a:endParaRPr lang="en-US" altLang="zh-CN" sz="140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</a:rPr>
                <a:t>spacing, </a:t>
              </a:r>
              <a:r>
                <a:rPr lang="en-US" altLang="zh-CN" sz="1400" i="1">
                  <a:latin typeface="Times New Roman" panose="02020603050405020304" pitchFamily="18" charset="0"/>
                </a:rPr>
                <a:t>d</a:t>
              </a:r>
              <a:r>
                <a:rPr lang="en-US" altLang="zh-CN" sz="1400">
                  <a:latin typeface="Times New Roman" panose="02020603050405020304" pitchFamily="18" charset="0"/>
                </a:rPr>
                <a:t>, and dielectric permittivity,   : </a:t>
              </a:r>
              <a:endParaRPr lang="en-US" altLang="zh-CN" sz="1400">
                <a:latin typeface="Times New Roman" panose="02020603050405020304" pitchFamily="18" charset="0"/>
              </a:endParaRPr>
            </a:p>
          </p:txBody>
        </p:sp>
        <p:pic>
          <p:nvPicPr>
            <p:cNvPr id="219" name="Picture 86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8" y="4053"/>
              <a:ext cx="86" cy="1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0" name="AutoShape 88"/>
          <p:cNvSpPr/>
          <p:nvPr/>
        </p:nvSpPr>
        <p:spPr bwMode="auto">
          <a:xfrm>
            <a:off x="4876800" y="6019800"/>
            <a:ext cx="152400" cy="609600"/>
          </a:xfrm>
          <a:prstGeom prst="rightBrace">
            <a:avLst>
              <a:gd name="adj1" fmla="val 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zh-CN" sz="1800">
              <a:latin typeface="Times New Roman" panose="02020603050405020304" pitchFamily="18" charset="0"/>
            </a:endParaRPr>
          </a:p>
        </p:txBody>
      </p:sp>
      <p:grpSp>
        <p:nvGrpSpPr>
          <p:cNvPr id="221" name="Group 90"/>
          <p:cNvGrpSpPr/>
          <p:nvPr/>
        </p:nvGrpSpPr>
        <p:grpSpPr bwMode="auto">
          <a:xfrm>
            <a:off x="5715000" y="5943600"/>
            <a:ext cx="1219200" cy="685800"/>
            <a:chOff x="3600" y="3744"/>
            <a:chExt cx="768" cy="432"/>
          </a:xfrm>
        </p:grpSpPr>
        <p:pic>
          <p:nvPicPr>
            <p:cNvPr id="222" name="Picture 85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9" y="3785"/>
              <a:ext cx="691" cy="3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3" name="Rectangle 89"/>
            <p:cNvSpPr>
              <a:spLocks noChangeArrowheads="1"/>
            </p:cNvSpPr>
            <p:nvPr/>
          </p:nvSpPr>
          <p:spPr bwMode="auto">
            <a:xfrm>
              <a:off x="3600" y="3744"/>
              <a:ext cx="768" cy="432"/>
            </a:xfrm>
            <a:prstGeom prst="rect">
              <a:avLst/>
            </a:prstGeom>
            <a:noFill/>
            <a:ln w="9525">
              <a:solidFill>
                <a:srgbClr val="0B7C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922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Departure from the Ideal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98" name="Picture 2" descr="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667000"/>
            <a:ext cx="3300413" cy="276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" name="Rectangle 4"/>
          <p:cNvSpPr>
            <a:spLocks noChangeArrowheads="1"/>
          </p:cNvSpPr>
          <p:nvPr/>
        </p:nvSpPr>
        <p:spPr bwMode="auto">
          <a:xfrm>
            <a:off x="500856" y="1828800"/>
            <a:ext cx="833834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In reality, 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flux density generated by each turn may not link the entire coil</a:t>
            </a:r>
            <a:r>
              <a:rPr lang="en-US" altLang="zh-CN" sz="1800" dirty="0">
                <a:latin typeface="Times New Roman" panose="02020603050405020304" pitchFamily="18" charset="0"/>
              </a:rPr>
              <a:t>.  Such 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fringing fields </a:t>
            </a:r>
            <a:r>
              <a:rPr lang="zh-CN" altLang="en-US" sz="18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边缘场</a:t>
            </a:r>
            <a:r>
              <a:rPr lang="en-US" altLang="zh-CN" sz="1800" dirty="0">
                <a:latin typeface="Times New Roman" panose="02020603050405020304" pitchFamily="18" charset="0"/>
              </a:rPr>
              <a:t>, shown here, may link only one or two turns.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sp>
        <p:nvSpPr>
          <p:cNvPr id="100" name="Rectangle 5"/>
          <p:cNvSpPr>
            <a:spLocks noChangeArrowheads="1"/>
          </p:cNvSpPr>
          <p:nvPr/>
        </p:nvSpPr>
        <p:spPr bwMode="auto">
          <a:xfrm>
            <a:off x="736600" y="5762625"/>
            <a:ext cx="8178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The problem is made worse by increased 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winding pitch </a:t>
            </a:r>
            <a:r>
              <a:rPr lang="zh-CN" altLang="en-US" sz="18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匝距</a:t>
            </a:r>
            <a:r>
              <a:rPr lang="en-US" altLang="zh-CN" sz="1800" dirty="0">
                <a:latin typeface="Times New Roman" panose="02020603050405020304" pitchFamily="18" charset="0"/>
              </a:rPr>
              <a:t>.  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59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922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Example: Inductance of a Coaxial Line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0" name="Group 41"/>
          <p:cNvGrpSpPr/>
          <p:nvPr/>
        </p:nvGrpSpPr>
        <p:grpSpPr bwMode="auto">
          <a:xfrm>
            <a:off x="384175" y="1754188"/>
            <a:ext cx="8531225" cy="4951413"/>
            <a:chOff x="242" y="1105"/>
            <a:chExt cx="5374" cy="3119"/>
          </a:xfrm>
        </p:grpSpPr>
        <p:grpSp>
          <p:nvGrpSpPr>
            <p:cNvPr id="11" name="Group 4"/>
            <p:cNvGrpSpPr/>
            <p:nvPr/>
          </p:nvGrpSpPr>
          <p:grpSpPr bwMode="auto">
            <a:xfrm>
              <a:off x="242" y="1652"/>
              <a:ext cx="3982" cy="1601"/>
              <a:chOff x="242" y="2036"/>
              <a:chExt cx="3982" cy="1601"/>
            </a:xfrm>
          </p:grpSpPr>
          <p:grpSp>
            <p:nvGrpSpPr>
              <p:cNvPr id="27" name="Group 5"/>
              <p:cNvGrpSpPr/>
              <p:nvPr/>
            </p:nvGrpSpPr>
            <p:grpSpPr bwMode="auto">
              <a:xfrm>
                <a:off x="242" y="2036"/>
                <a:ext cx="3982" cy="1601"/>
                <a:chOff x="242" y="2036"/>
                <a:chExt cx="3982" cy="1601"/>
              </a:xfrm>
            </p:grpSpPr>
            <p:grpSp>
              <p:nvGrpSpPr>
                <p:cNvPr id="36" name="Group 6"/>
                <p:cNvGrpSpPr/>
                <p:nvPr/>
              </p:nvGrpSpPr>
              <p:grpSpPr bwMode="auto">
                <a:xfrm>
                  <a:off x="242" y="2036"/>
                  <a:ext cx="3982" cy="1601"/>
                  <a:chOff x="818" y="1711"/>
                  <a:chExt cx="3982" cy="1601"/>
                </a:xfrm>
              </p:grpSpPr>
              <p:pic>
                <p:nvPicPr>
                  <p:cNvPr id="42" name="Picture 7" descr="7"/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18" y="1711"/>
                    <a:ext cx="3489" cy="155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4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1824"/>
                    <a:ext cx="1776" cy="148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1872" y="3024"/>
                    <a:ext cx="192" cy="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37" name="Line 10"/>
                <p:cNvSpPr>
                  <a:spLocks noChangeShapeType="1"/>
                </p:cNvSpPr>
                <p:nvPr/>
              </p:nvSpPr>
              <p:spPr bwMode="auto">
                <a:xfrm>
                  <a:off x="1143" y="2850"/>
                  <a:ext cx="26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1140" y="2717"/>
                  <a:ext cx="229" cy="12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1440" y="2475"/>
                  <a:ext cx="370" cy="20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" name="Line 13"/>
                <p:cNvSpPr>
                  <a:spLocks noChangeShapeType="1"/>
                </p:cNvSpPr>
                <p:nvPr/>
              </p:nvSpPr>
              <p:spPr bwMode="auto">
                <a:xfrm>
                  <a:off x="1812" y="2475"/>
                  <a:ext cx="26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1413" y="2476"/>
                  <a:ext cx="669" cy="3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8" name="Rectangle 15"/>
              <p:cNvSpPr>
                <a:spLocks noChangeArrowheads="1"/>
              </p:cNvSpPr>
              <p:nvPr/>
            </p:nvSpPr>
            <p:spPr bwMode="auto">
              <a:xfrm>
                <a:off x="1620" y="3021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i="1">
                    <a:latin typeface="Times New Roman" panose="02020603050405020304" pitchFamily="18" charset="0"/>
                  </a:rPr>
                  <a:t>d</a:t>
                </a:r>
                <a:endParaRPr lang="en-US" altLang="zh-CN" sz="1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" name="Line 16"/>
              <p:cNvSpPr>
                <a:spLocks noChangeShapeType="1"/>
              </p:cNvSpPr>
              <p:nvPr/>
            </p:nvSpPr>
            <p:spPr bwMode="auto">
              <a:xfrm>
                <a:off x="2108" y="2784"/>
                <a:ext cx="4" cy="29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Line 17"/>
              <p:cNvSpPr>
                <a:spLocks noChangeShapeType="1"/>
              </p:cNvSpPr>
              <p:nvPr/>
            </p:nvSpPr>
            <p:spPr bwMode="auto">
              <a:xfrm>
                <a:off x="1296" y="3288"/>
                <a:ext cx="4" cy="29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Line 18"/>
              <p:cNvSpPr>
                <a:spLocks noChangeShapeType="1"/>
              </p:cNvSpPr>
              <p:nvPr/>
            </p:nvSpPr>
            <p:spPr bwMode="auto">
              <a:xfrm flipV="1">
                <a:off x="1776" y="2860"/>
                <a:ext cx="324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Line 19"/>
              <p:cNvSpPr>
                <a:spLocks noChangeShapeType="1"/>
              </p:cNvSpPr>
              <p:nvPr/>
            </p:nvSpPr>
            <p:spPr bwMode="auto">
              <a:xfrm flipH="1">
                <a:off x="1296" y="3165"/>
                <a:ext cx="324" cy="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Arc 20"/>
              <p:cNvSpPr/>
              <p:nvPr/>
            </p:nvSpPr>
            <p:spPr bwMode="auto">
              <a:xfrm>
                <a:off x="1152" y="2688"/>
                <a:ext cx="144" cy="269"/>
              </a:xfrm>
              <a:custGeom>
                <a:avLst/>
                <a:gdLst>
                  <a:gd name="T0" fmla="*/ 1 w 21600"/>
                  <a:gd name="T1" fmla="*/ 0 h 20392"/>
                  <a:gd name="T2" fmla="*/ 1 w 21600"/>
                  <a:gd name="T3" fmla="*/ 4 h 20392"/>
                  <a:gd name="T4" fmla="*/ 0 w 21600"/>
                  <a:gd name="T5" fmla="*/ 3 h 2039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0392" fill="none" extrusionOk="0">
                    <a:moveTo>
                      <a:pt x="12835" y="-1"/>
                    </a:moveTo>
                    <a:cubicBezTo>
                      <a:pt x="18347" y="4071"/>
                      <a:pt x="21600" y="10518"/>
                      <a:pt x="21600" y="17372"/>
                    </a:cubicBezTo>
                    <a:cubicBezTo>
                      <a:pt x="21600" y="18382"/>
                      <a:pt x="21529" y="19391"/>
                      <a:pt x="21387" y="20392"/>
                    </a:cubicBezTo>
                  </a:path>
                  <a:path w="21600" h="20392" stroke="0" extrusionOk="0">
                    <a:moveTo>
                      <a:pt x="12835" y="-1"/>
                    </a:moveTo>
                    <a:cubicBezTo>
                      <a:pt x="18347" y="4071"/>
                      <a:pt x="21600" y="10518"/>
                      <a:pt x="21600" y="17372"/>
                    </a:cubicBezTo>
                    <a:cubicBezTo>
                      <a:pt x="21600" y="18382"/>
                      <a:pt x="21529" y="19391"/>
                      <a:pt x="21387" y="20392"/>
                    </a:cubicBezTo>
                    <a:lnTo>
                      <a:pt x="0" y="17372"/>
                    </a:lnTo>
                    <a:lnTo>
                      <a:pt x="12835" y="-1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Line 21"/>
              <p:cNvSpPr>
                <a:spLocks noChangeShapeType="1"/>
              </p:cNvSpPr>
              <p:nvPr/>
            </p:nvSpPr>
            <p:spPr bwMode="auto">
              <a:xfrm>
                <a:off x="1293" y="2955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Rectangle 22"/>
              <p:cNvSpPr>
                <a:spLocks noChangeArrowheads="1"/>
              </p:cNvSpPr>
              <p:nvPr/>
            </p:nvSpPr>
            <p:spPr bwMode="auto">
              <a:xfrm>
                <a:off x="1153" y="2970"/>
                <a:ext cx="19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b="1">
                    <a:latin typeface="Times New Roman" panose="02020603050405020304" pitchFamily="18" charset="0"/>
                  </a:rPr>
                  <a:t>B</a:t>
                </a:r>
                <a:endParaRPr lang="en-US" altLang="zh-CN" sz="1400" b="1">
                  <a:latin typeface="Times New Roman" panose="02020603050405020304" pitchFamily="18" charset="0"/>
                </a:endParaRPr>
              </a:p>
            </p:txBody>
          </p:sp>
        </p:grpSp>
        <p:pic>
          <p:nvPicPr>
            <p:cNvPr id="12" name="Picture 2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2" y="1382"/>
              <a:ext cx="1555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3" name="Picture 2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" y="1839"/>
              <a:ext cx="1203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4" name="Rectangle 27"/>
            <p:cNvSpPr>
              <a:spLocks noChangeArrowheads="1"/>
            </p:cNvSpPr>
            <p:nvPr/>
          </p:nvSpPr>
          <p:spPr bwMode="auto">
            <a:xfrm>
              <a:off x="432" y="1105"/>
              <a:ext cx="5184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Consider a length </a:t>
              </a:r>
              <a:r>
                <a:rPr lang="en-US" altLang="zh-CN" sz="1800" i="1" dirty="0">
                  <a:latin typeface="Times New Roman" panose="02020603050405020304" pitchFamily="18" charset="0"/>
                </a:rPr>
                <a:t>d 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of coax, as shown here.  The magnetic field strength between conductors is: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15" name="Rectangle 28"/>
            <p:cNvSpPr>
              <a:spLocks noChangeArrowheads="1"/>
            </p:cNvSpPr>
            <p:nvPr/>
          </p:nvSpPr>
          <p:spPr bwMode="auto">
            <a:xfrm>
              <a:off x="2592" y="1896"/>
              <a:ext cx="53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and so: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16" name="Rectangle 29"/>
            <p:cNvSpPr>
              <a:spLocks noChangeArrowheads="1"/>
            </p:cNvSpPr>
            <p:nvPr/>
          </p:nvSpPr>
          <p:spPr bwMode="auto">
            <a:xfrm>
              <a:off x="2640" y="2400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7" name="Rectangle 30"/>
            <p:cNvSpPr>
              <a:spLocks noChangeArrowheads="1"/>
            </p:cNvSpPr>
            <p:nvPr/>
          </p:nvSpPr>
          <p:spPr bwMode="auto">
            <a:xfrm>
              <a:off x="2349" y="2229"/>
              <a:ext cx="3229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The magnetic flux is now the integral of 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B 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over the </a:t>
              </a:r>
              <a:endParaRPr lang="en-US" altLang="zh-CN" sz="16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flat surface between radii </a:t>
              </a:r>
              <a:r>
                <a:rPr lang="en-US" altLang="zh-CN" sz="1600" i="1" dirty="0">
                  <a:latin typeface="Times New Roman" panose="02020603050405020304" pitchFamily="18" charset="0"/>
                </a:rPr>
                <a:t>a 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and </a:t>
              </a:r>
              <a:r>
                <a:rPr lang="en-US" altLang="zh-CN" sz="1600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, and of length </a:t>
              </a:r>
              <a:r>
                <a:rPr lang="en-US" altLang="zh-CN" sz="1600" i="1" dirty="0">
                  <a:latin typeface="Times New Roman" panose="02020603050405020304" pitchFamily="18" charset="0"/>
                </a:rPr>
                <a:t>d 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along </a:t>
              </a:r>
              <a:r>
                <a:rPr lang="en-US" altLang="zh-CN" sz="1600" i="1" dirty="0">
                  <a:latin typeface="Times New Roman" panose="02020603050405020304" pitchFamily="18" charset="0"/>
                </a:rPr>
                <a:t>z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. </a:t>
              </a:r>
              <a:endParaRPr lang="en-US" altLang="zh-CN" sz="16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As we have only one turn (</a:t>
              </a:r>
              <a:r>
                <a:rPr lang="en-US" altLang="zh-CN" sz="1600" i="1" dirty="0">
                  <a:latin typeface="Times New Roman" panose="02020603050405020304" pitchFamily="18" charset="0"/>
                </a:rPr>
                <a:t>N 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= 1)</a:t>
              </a:r>
              <a:r>
                <a:rPr lang="en-US" altLang="zh-CN" sz="1600" i="1" dirty="0">
                  <a:latin typeface="Times New Roman" panose="02020603050405020304" pitchFamily="18" charset="0"/>
                </a:rPr>
                <a:t>,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 the result is also the flux linkage: 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8" name="Group 36"/>
            <p:cNvGrpSpPr/>
            <p:nvPr/>
          </p:nvGrpSpPr>
          <p:grpSpPr bwMode="auto">
            <a:xfrm>
              <a:off x="1920" y="2949"/>
              <a:ext cx="3621" cy="455"/>
              <a:chOff x="2064" y="2876"/>
              <a:chExt cx="3621" cy="455"/>
            </a:xfrm>
          </p:grpSpPr>
          <p:pic>
            <p:nvPicPr>
              <p:cNvPr id="23" name="Picture 26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06" y="2927"/>
                <a:ext cx="979" cy="3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24" name="Group 35"/>
              <p:cNvGrpSpPr/>
              <p:nvPr/>
            </p:nvGrpSpPr>
            <p:grpSpPr bwMode="auto">
              <a:xfrm>
                <a:off x="2064" y="2876"/>
                <a:ext cx="2811" cy="455"/>
                <a:chOff x="2265" y="2876"/>
                <a:chExt cx="2811" cy="455"/>
              </a:xfrm>
            </p:grpSpPr>
            <p:pic>
              <p:nvPicPr>
                <p:cNvPr id="25" name="Picture 25"/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40" y="2876"/>
                  <a:ext cx="2436" cy="4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26" name="Picture 34"/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65" y="2982"/>
                  <a:ext cx="369" cy="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19" name="Rectangle 37"/>
            <p:cNvSpPr>
              <a:spLocks noChangeArrowheads="1"/>
            </p:cNvSpPr>
            <p:nvPr/>
          </p:nvSpPr>
          <p:spPr bwMode="auto">
            <a:xfrm>
              <a:off x="1029" y="3409"/>
              <a:ext cx="269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Now, with </a:t>
              </a:r>
              <a:r>
                <a:rPr lang="en-US" altLang="zh-CN" sz="1600" i="1">
                  <a:latin typeface="Times New Roman" panose="02020603050405020304" pitchFamily="18" charset="0"/>
                </a:rPr>
                <a:t>d </a:t>
              </a:r>
              <a:r>
                <a:rPr lang="en-US" altLang="zh-CN" sz="1600">
                  <a:latin typeface="Times New Roman" panose="02020603050405020304" pitchFamily="18" charset="0"/>
                </a:rPr>
                <a:t>= 1, the inductance per unit length is: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pic>
          <p:nvPicPr>
            <p:cNvPr id="20" name="Picture 38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" y="3744"/>
              <a:ext cx="2240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Line 39"/>
            <p:cNvSpPr>
              <a:spLocks noChangeShapeType="1"/>
            </p:cNvSpPr>
            <p:nvPr/>
          </p:nvSpPr>
          <p:spPr bwMode="auto">
            <a:xfrm>
              <a:off x="1680" y="3600"/>
              <a:ext cx="240" cy="0"/>
            </a:xfrm>
            <a:prstGeom prst="line">
              <a:avLst/>
            </a:prstGeom>
            <a:noFill/>
            <a:ln w="9525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Rectangle 40"/>
            <p:cNvSpPr>
              <a:spLocks noChangeArrowheads="1"/>
            </p:cNvSpPr>
            <p:nvPr/>
          </p:nvSpPr>
          <p:spPr bwMode="auto">
            <a:xfrm>
              <a:off x="1968" y="3696"/>
              <a:ext cx="2256" cy="528"/>
            </a:xfrm>
            <a:prstGeom prst="rect">
              <a:avLst/>
            </a:prstGeom>
            <a:noFill/>
            <a:ln w="9525">
              <a:solidFill>
                <a:srgbClr val="CC006B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60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922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Two Inductors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46" name="Group 206"/>
          <p:cNvGrpSpPr/>
          <p:nvPr/>
        </p:nvGrpSpPr>
        <p:grpSpPr bwMode="auto">
          <a:xfrm>
            <a:off x="276225" y="1649412"/>
            <a:ext cx="8639175" cy="4865688"/>
            <a:chOff x="78" y="958"/>
            <a:chExt cx="5442" cy="3065"/>
          </a:xfrm>
        </p:grpSpPr>
        <p:grpSp>
          <p:nvGrpSpPr>
            <p:cNvPr id="47" name="Group 111"/>
            <p:cNvGrpSpPr/>
            <p:nvPr/>
          </p:nvGrpSpPr>
          <p:grpSpPr bwMode="auto">
            <a:xfrm>
              <a:off x="864" y="1200"/>
              <a:ext cx="576" cy="1335"/>
              <a:chOff x="864" y="1200"/>
              <a:chExt cx="576" cy="1335"/>
            </a:xfrm>
          </p:grpSpPr>
          <p:sp>
            <p:nvSpPr>
              <p:cNvPr id="128" name="Line 5"/>
              <p:cNvSpPr>
                <a:spLocks noChangeAspect="1" noChangeShapeType="1"/>
              </p:cNvSpPr>
              <p:nvPr/>
            </p:nvSpPr>
            <p:spPr bwMode="auto">
              <a:xfrm flipV="1">
                <a:off x="1227" y="1209"/>
                <a:ext cx="0" cy="132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" name="Line 6"/>
              <p:cNvSpPr>
                <a:spLocks noChangeAspect="1" noChangeShapeType="1"/>
              </p:cNvSpPr>
              <p:nvPr/>
            </p:nvSpPr>
            <p:spPr bwMode="auto">
              <a:xfrm flipV="1">
                <a:off x="1321" y="1209"/>
                <a:ext cx="0" cy="132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0" name="Line 7"/>
              <p:cNvSpPr>
                <a:spLocks noChangeAspect="1" noChangeShapeType="1"/>
              </p:cNvSpPr>
              <p:nvPr/>
            </p:nvSpPr>
            <p:spPr bwMode="auto">
              <a:xfrm flipV="1">
                <a:off x="1137" y="1209"/>
                <a:ext cx="0" cy="132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" name="Line 8"/>
              <p:cNvSpPr>
                <a:spLocks noChangeAspect="1" noChangeShapeType="1"/>
              </p:cNvSpPr>
              <p:nvPr/>
            </p:nvSpPr>
            <p:spPr bwMode="auto">
              <a:xfrm flipV="1">
                <a:off x="1055" y="1204"/>
                <a:ext cx="0" cy="1327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2" name="Line 9"/>
              <p:cNvSpPr>
                <a:spLocks noChangeAspect="1" noChangeShapeType="1"/>
              </p:cNvSpPr>
              <p:nvPr/>
            </p:nvSpPr>
            <p:spPr bwMode="auto">
              <a:xfrm flipV="1">
                <a:off x="976" y="1200"/>
                <a:ext cx="0" cy="132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33" name="Group 10"/>
              <p:cNvGrpSpPr>
                <a:grpSpLocks noChangeAspect="1"/>
              </p:cNvGrpSpPr>
              <p:nvPr/>
            </p:nvGrpSpPr>
            <p:grpSpPr bwMode="auto">
              <a:xfrm>
                <a:off x="864" y="1455"/>
                <a:ext cx="576" cy="802"/>
                <a:chOff x="522" y="2016"/>
                <a:chExt cx="771" cy="1074"/>
              </a:xfrm>
            </p:grpSpPr>
            <p:sp>
              <p:nvSpPr>
                <p:cNvPr id="164" name="Oval 11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016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65" name="Oval 12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208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66" name="Oval 13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394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67" name="Oval 14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577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68" name="Oval 15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763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69" name="Oval 16"/>
                <p:cNvSpPr>
                  <a:spLocks noChangeAspect="1" noChangeArrowheads="1"/>
                </p:cNvSpPr>
                <p:nvPr/>
              </p:nvSpPr>
              <p:spPr bwMode="auto">
                <a:xfrm>
                  <a:off x="522" y="2946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0" name="Line 17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35" y="3072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1" name="Line 18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38" y="2892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2" name="Line 19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35" y="2706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3" name="Line 20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41" y="2520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" name="Line 21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41" y="2334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5" name="Line 22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41" y="2145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34" name="Line 23"/>
              <p:cNvSpPr>
                <a:spLocks noChangeAspect="1" noChangeShapeType="1"/>
              </p:cNvSpPr>
              <p:nvPr/>
            </p:nvSpPr>
            <p:spPr bwMode="auto">
              <a:xfrm>
                <a:off x="976" y="1428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" name="Line 24"/>
              <p:cNvSpPr>
                <a:spLocks noChangeAspect="1" noChangeShapeType="1"/>
              </p:cNvSpPr>
              <p:nvPr/>
            </p:nvSpPr>
            <p:spPr bwMode="auto">
              <a:xfrm>
                <a:off x="976" y="157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6" name="Line 25"/>
              <p:cNvSpPr>
                <a:spLocks noChangeAspect="1" noChangeShapeType="1"/>
              </p:cNvSpPr>
              <p:nvPr/>
            </p:nvSpPr>
            <p:spPr bwMode="auto">
              <a:xfrm>
                <a:off x="976" y="171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" name="Line 26"/>
              <p:cNvSpPr>
                <a:spLocks noChangeAspect="1" noChangeShapeType="1"/>
              </p:cNvSpPr>
              <p:nvPr/>
            </p:nvSpPr>
            <p:spPr bwMode="auto">
              <a:xfrm>
                <a:off x="976" y="185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8" name="Line 27"/>
              <p:cNvSpPr>
                <a:spLocks noChangeAspect="1" noChangeShapeType="1"/>
              </p:cNvSpPr>
              <p:nvPr/>
            </p:nvSpPr>
            <p:spPr bwMode="auto">
              <a:xfrm>
                <a:off x="976" y="199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" name="Line 28"/>
              <p:cNvSpPr>
                <a:spLocks noChangeAspect="1" noChangeShapeType="1"/>
              </p:cNvSpPr>
              <p:nvPr/>
            </p:nvSpPr>
            <p:spPr bwMode="auto">
              <a:xfrm>
                <a:off x="976" y="2127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" name="Line 29"/>
              <p:cNvSpPr>
                <a:spLocks noChangeAspect="1" noChangeShapeType="1"/>
              </p:cNvSpPr>
              <p:nvPr/>
            </p:nvSpPr>
            <p:spPr bwMode="auto">
              <a:xfrm>
                <a:off x="1055" y="145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" name="Line 30"/>
              <p:cNvSpPr>
                <a:spLocks noChangeAspect="1" noChangeShapeType="1"/>
              </p:cNvSpPr>
              <p:nvPr/>
            </p:nvSpPr>
            <p:spPr bwMode="auto">
              <a:xfrm>
                <a:off x="1055" y="1599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" name="Line 31"/>
              <p:cNvSpPr>
                <a:spLocks noChangeAspect="1" noChangeShapeType="1"/>
              </p:cNvSpPr>
              <p:nvPr/>
            </p:nvSpPr>
            <p:spPr bwMode="auto">
              <a:xfrm>
                <a:off x="1055" y="174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" name="Line 32"/>
              <p:cNvSpPr>
                <a:spLocks noChangeAspect="1" noChangeShapeType="1"/>
              </p:cNvSpPr>
              <p:nvPr/>
            </p:nvSpPr>
            <p:spPr bwMode="auto">
              <a:xfrm>
                <a:off x="1055" y="187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" name="Line 33"/>
              <p:cNvSpPr>
                <a:spLocks noChangeAspect="1" noChangeShapeType="1"/>
              </p:cNvSpPr>
              <p:nvPr/>
            </p:nvSpPr>
            <p:spPr bwMode="auto">
              <a:xfrm>
                <a:off x="1055" y="2018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5" name="Line 34"/>
              <p:cNvSpPr>
                <a:spLocks noChangeAspect="1" noChangeShapeType="1"/>
              </p:cNvSpPr>
              <p:nvPr/>
            </p:nvSpPr>
            <p:spPr bwMode="auto">
              <a:xfrm>
                <a:off x="1055" y="2147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6" name="Line 35"/>
              <p:cNvSpPr>
                <a:spLocks noChangeAspect="1" noChangeShapeType="1"/>
              </p:cNvSpPr>
              <p:nvPr/>
            </p:nvSpPr>
            <p:spPr bwMode="auto">
              <a:xfrm>
                <a:off x="1137" y="142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" name="Line 36"/>
              <p:cNvSpPr>
                <a:spLocks noChangeAspect="1" noChangeShapeType="1"/>
              </p:cNvSpPr>
              <p:nvPr/>
            </p:nvSpPr>
            <p:spPr bwMode="auto">
              <a:xfrm>
                <a:off x="1137" y="158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" name="Line 37"/>
              <p:cNvSpPr>
                <a:spLocks noChangeAspect="1" noChangeShapeType="1"/>
              </p:cNvSpPr>
              <p:nvPr/>
            </p:nvSpPr>
            <p:spPr bwMode="auto">
              <a:xfrm>
                <a:off x="1137" y="1717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" name="Line 38"/>
              <p:cNvSpPr>
                <a:spLocks noChangeAspect="1" noChangeShapeType="1"/>
              </p:cNvSpPr>
              <p:nvPr/>
            </p:nvSpPr>
            <p:spPr bwMode="auto">
              <a:xfrm>
                <a:off x="1137" y="185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" name="Line 39"/>
              <p:cNvSpPr>
                <a:spLocks noChangeAspect="1" noChangeShapeType="1"/>
              </p:cNvSpPr>
              <p:nvPr/>
            </p:nvSpPr>
            <p:spPr bwMode="auto">
              <a:xfrm>
                <a:off x="1137" y="199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" name="Line 40"/>
              <p:cNvSpPr>
                <a:spLocks noChangeAspect="1" noChangeShapeType="1"/>
              </p:cNvSpPr>
              <p:nvPr/>
            </p:nvSpPr>
            <p:spPr bwMode="auto">
              <a:xfrm>
                <a:off x="1137" y="2127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" name="Line 41"/>
              <p:cNvSpPr>
                <a:spLocks noChangeAspect="1" noChangeShapeType="1"/>
              </p:cNvSpPr>
              <p:nvPr/>
            </p:nvSpPr>
            <p:spPr bwMode="auto">
              <a:xfrm>
                <a:off x="1321" y="143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" name="Line 42"/>
              <p:cNvSpPr>
                <a:spLocks noChangeAspect="1" noChangeShapeType="1"/>
              </p:cNvSpPr>
              <p:nvPr/>
            </p:nvSpPr>
            <p:spPr bwMode="auto">
              <a:xfrm>
                <a:off x="1321" y="159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" name="Line 43"/>
              <p:cNvSpPr>
                <a:spLocks noChangeAspect="1" noChangeShapeType="1"/>
              </p:cNvSpPr>
              <p:nvPr/>
            </p:nvSpPr>
            <p:spPr bwMode="auto">
              <a:xfrm>
                <a:off x="1321" y="171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" name="Line 44"/>
              <p:cNvSpPr>
                <a:spLocks noChangeAspect="1" noChangeShapeType="1"/>
              </p:cNvSpPr>
              <p:nvPr/>
            </p:nvSpPr>
            <p:spPr bwMode="auto">
              <a:xfrm>
                <a:off x="1321" y="1852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" name="Line 45"/>
              <p:cNvSpPr>
                <a:spLocks noChangeAspect="1" noChangeShapeType="1"/>
              </p:cNvSpPr>
              <p:nvPr/>
            </p:nvSpPr>
            <p:spPr bwMode="auto">
              <a:xfrm>
                <a:off x="1321" y="199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7" name="Line 46"/>
              <p:cNvSpPr>
                <a:spLocks noChangeAspect="1" noChangeShapeType="1"/>
              </p:cNvSpPr>
              <p:nvPr/>
            </p:nvSpPr>
            <p:spPr bwMode="auto">
              <a:xfrm>
                <a:off x="1321" y="2130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8" name="Line 47"/>
              <p:cNvSpPr>
                <a:spLocks noChangeAspect="1" noChangeShapeType="1"/>
              </p:cNvSpPr>
              <p:nvPr/>
            </p:nvSpPr>
            <p:spPr bwMode="auto">
              <a:xfrm>
                <a:off x="1227" y="145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9" name="Line 48"/>
              <p:cNvSpPr>
                <a:spLocks noChangeAspect="1" noChangeShapeType="1"/>
              </p:cNvSpPr>
              <p:nvPr/>
            </p:nvSpPr>
            <p:spPr bwMode="auto">
              <a:xfrm>
                <a:off x="1227" y="160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0" name="Line 49"/>
              <p:cNvSpPr>
                <a:spLocks noChangeAspect="1" noChangeShapeType="1"/>
              </p:cNvSpPr>
              <p:nvPr/>
            </p:nvSpPr>
            <p:spPr bwMode="auto">
              <a:xfrm>
                <a:off x="1227" y="1742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1" name="Line 50"/>
              <p:cNvSpPr>
                <a:spLocks noChangeAspect="1" noChangeShapeType="1"/>
              </p:cNvSpPr>
              <p:nvPr/>
            </p:nvSpPr>
            <p:spPr bwMode="auto">
              <a:xfrm>
                <a:off x="1227" y="1870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2" name="Line 51"/>
              <p:cNvSpPr>
                <a:spLocks noChangeAspect="1" noChangeShapeType="1"/>
              </p:cNvSpPr>
              <p:nvPr/>
            </p:nvSpPr>
            <p:spPr bwMode="auto">
              <a:xfrm>
                <a:off x="1227" y="201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3" name="Line 52"/>
              <p:cNvSpPr>
                <a:spLocks noChangeAspect="1" noChangeShapeType="1"/>
              </p:cNvSpPr>
              <p:nvPr/>
            </p:nvSpPr>
            <p:spPr bwMode="auto">
              <a:xfrm>
                <a:off x="1227" y="214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8" name="Rectangle 54"/>
            <p:cNvSpPr>
              <a:spLocks noChangeArrowheads="1"/>
            </p:cNvSpPr>
            <p:nvPr/>
          </p:nvSpPr>
          <p:spPr bwMode="auto">
            <a:xfrm>
              <a:off x="1488" y="1776"/>
              <a:ext cx="27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N</a:t>
              </a:r>
              <a:r>
                <a:rPr lang="en-US" altLang="zh-CN" sz="1600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1600" i="1">
                  <a:latin typeface="Times New Roman" panose="02020603050405020304" pitchFamily="18" charset="0"/>
                </a:rPr>
                <a:t> 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49" name="Rectangle 56"/>
            <p:cNvSpPr>
              <a:spLocks noChangeArrowheads="1"/>
            </p:cNvSpPr>
            <p:nvPr/>
          </p:nvSpPr>
          <p:spPr bwMode="auto">
            <a:xfrm>
              <a:off x="1002" y="2106"/>
              <a:ext cx="19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latin typeface="Times New Roman" panose="02020603050405020304" pitchFamily="18" charset="0"/>
                </a:rPr>
                <a:t>S</a:t>
              </a:r>
              <a:r>
                <a:rPr lang="en-US" altLang="zh-CN" sz="1200" baseline="-25000">
                  <a:latin typeface="Times New Roman" panose="02020603050405020304" pitchFamily="18" charset="0"/>
                </a:rPr>
                <a:t>2</a:t>
              </a:r>
              <a:endParaRPr lang="en-US" altLang="zh-CN" sz="1200" i="1">
                <a:latin typeface="Times New Roman" panose="02020603050405020304" pitchFamily="18" charset="0"/>
              </a:endParaRPr>
            </a:p>
          </p:txBody>
        </p:sp>
        <p:sp>
          <p:nvSpPr>
            <p:cNvPr id="50" name="Rectangle 114"/>
            <p:cNvSpPr>
              <a:spLocks noChangeArrowheads="1"/>
            </p:cNvSpPr>
            <p:nvPr/>
          </p:nvSpPr>
          <p:spPr bwMode="auto">
            <a:xfrm>
              <a:off x="1404" y="2103"/>
              <a:ext cx="1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>
                  <a:latin typeface="Times New Roman" panose="02020603050405020304" pitchFamily="18" charset="0"/>
                </a:rPr>
                <a:t>I</a:t>
              </a:r>
              <a:r>
                <a:rPr lang="en-US" altLang="zh-CN" sz="1400" baseline="-25000">
                  <a:latin typeface="Times New Roman" panose="02020603050405020304" pitchFamily="18" charset="0"/>
                </a:rPr>
                <a:t>2</a:t>
              </a:r>
              <a:endParaRPr lang="en-US" altLang="zh-CN" sz="1400" i="1">
                <a:latin typeface="Times New Roman" panose="02020603050405020304" pitchFamily="18" charset="0"/>
              </a:endParaRPr>
            </a:p>
          </p:txBody>
        </p:sp>
        <p:sp>
          <p:nvSpPr>
            <p:cNvPr id="51" name="Rectangle 116"/>
            <p:cNvSpPr>
              <a:spLocks noChangeArrowheads="1"/>
            </p:cNvSpPr>
            <p:nvPr/>
          </p:nvSpPr>
          <p:spPr bwMode="auto">
            <a:xfrm>
              <a:off x="717" y="1200"/>
              <a:ext cx="26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latin typeface="Times New Roman" panose="02020603050405020304" pitchFamily="18" charset="0"/>
                </a:rPr>
                <a:t>B</a:t>
              </a:r>
              <a:r>
                <a:rPr lang="en-US" altLang="zh-CN" sz="1400" baseline="-25000">
                  <a:latin typeface="Times New Roman" panose="02020603050405020304" pitchFamily="18" charset="0"/>
                </a:rPr>
                <a:t>22</a:t>
              </a:r>
              <a:endParaRPr lang="en-US" altLang="zh-CN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52" name="Line 179"/>
            <p:cNvSpPr>
              <a:spLocks noChangeAspect="1" noChangeShapeType="1"/>
            </p:cNvSpPr>
            <p:nvPr/>
          </p:nvSpPr>
          <p:spPr bwMode="auto">
            <a:xfrm>
              <a:off x="583" y="1505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Line 180"/>
            <p:cNvSpPr>
              <a:spLocks noChangeAspect="1" noChangeShapeType="1"/>
            </p:cNvSpPr>
            <p:nvPr/>
          </p:nvSpPr>
          <p:spPr bwMode="auto">
            <a:xfrm>
              <a:off x="583" y="2205"/>
              <a:ext cx="2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Rectangle 181"/>
            <p:cNvSpPr>
              <a:spLocks noChangeAspect="1" noChangeArrowheads="1"/>
            </p:cNvSpPr>
            <p:nvPr/>
          </p:nvSpPr>
          <p:spPr bwMode="auto">
            <a:xfrm>
              <a:off x="636" y="1759"/>
              <a:ext cx="20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>
                  <a:latin typeface="Times New Roman" panose="02020603050405020304" pitchFamily="18" charset="0"/>
                </a:rPr>
                <a:t>d</a:t>
              </a:r>
              <a:r>
                <a:rPr lang="en-US" altLang="zh-CN" sz="1400" baseline="-25000">
                  <a:latin typeface="Times New Roman" panose="02020603050405020304" pitchFamily="18" charset="0"/>
                </a:rPr>
                <a:t>2</a:t>
              </a:r>
              <a:endParaRPr lang="en-US" altLang="zh-CN" sz="1400" i="1">
                <a:latin typeface="Times New Roman" panose="02020603050405020304" pitchFamily="18" charset="0"/>
              </a:endParaRPr>
            </a:p>
          </p:txBody>
        </p:sp>
        <p:sp>
          <p:nvSpPr>
            <p:cNvPr id="55" name="Line 182"/>
            <p:cNvSpPr>
              <a:spLocks noChangeAspect="1" noChangeShapeType="1"/>
            </p:cNvSpPr>
            <p:nvPr/>
          </p:nvSpPr>
          <p:spPr bwMode="auto">
            <a:xfrm flipV="1">
              <a:off x="729" y="1503"/>
              <a:ext cx="0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Line 183"/>
            <p:cNvSpPr>
              <a:spLocks noChangeAspect="1" noChangeShapeType="1"/>
            </p:cNvSpPr>
            <p:nvPr/>
          </p:nvSpPr>
          <p:spPr bwMode="auto">
            <a:xfrm>
              <a:off x="729" y="1953"/>
              <a:ext cx="0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7" name="Group 62"/>
            <p:cNvGrpSpPr>
              <a:grpSpLocks noChangeAspect="1"/>
            </p:cNvGrpSpPr>
            <p:nvPr/>
          </p:nvGrpSpPr>
          <p:grpSpPr bwMode="auto">
            <a:xfrm>
              <a:off x="846" y="2688"/>
              <a:ext cx="576" cy="1335"/>
              <a:chOff x="672" y="1674"/>
              <a:chExt cx="771" cy="1788"/>
            </a:xfrm>
          </p:grpSpPr>
          <p:sp>
            <p:nvSpPr>
              <p:cNvPr id="80" name="Line 63"/>
              <p:cNvSpPr>
                <a:spLocks noChangeAspect="1" noChangeShapeType="1"/>
              </p:cNvSpPr>
              <p:nvPr/>
            </p:nvSpPr>
            <p:spPr bwMode="auto">
              <a:xfrm flipV="1">
                <a:off x="1158" y="1686"/>
                <a:ext cx="0" cy="177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" name="Line 64"/>
              <p:cNvSpPr>
                <a:spLocks noChangeAspect="1" noChangeShapeType="1"/>
              </p:cNvSpPr>
              <p:nvPr/>
            </p:nvSpPr>
            <p:spPr bwMode="auto">
              <a:xfrm flipV="1">
                <a:off x="1284" y="1686"/>
                <a:ext cx="0" cy="177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" name="Line 65"/>
              <p:cNvSpPr>
                <a:spLocks noChangeAspect="1" noChangeShapeType="1"/>
              </p:cNvSpPr>
              <p:nvPr/>
            </p:nvSpPr>
            <p:spPr bwMode="auto">
              <a:xfrm flipV="1">
                <a:off x="1038" y="1686"/>
                <a:ext cx="0" cy="177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" name="Line 66"/>
              <p:cNvSpPr>
                <a:spLocks noChangeAspect="1" noChangeShapeType="1"/>
              </p:cNvSpPr>
              <p:nvPr/>
            </p:nvSpPr>
            <p:spPr bwMode="auto">
              <a:xfrm flipV="1">
                <a:off x="927" y="1680"/>
                <a:ext cx="0" cy="177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" name="Line 67"/>
              <p:cNvSpPr>
                <a:spLocks noChangeAspect="1" noChangeShapeType="1"/>
              </p:cNvSpPr>
              <p:nvPr/>
            </p:nvSpPr>
            <p:spPr bwMode="auto">
              <a:xfrm flipV="1">
                <a:off x="822" y="1674"/>
                <a:ext cx="0" cy="177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85" name="Group 68"/>
              <p:cNvGrpSpPr>
                <a:grpSpLocks noChangeAspect="1"/>
              </p:cNvGrpSpPr>
              <p:nvPr/>
            </p:nvGrpSpPr>
            <p:grpSpPr bwMode="auto">
              <a:xfrm>
                <a:off x="672" y="2016"/>
                <a:ext cx="771" cy="1074"/>
                <a:chOff x="522" y="2016"/>
                <a:chExt cx="771" cy="1074"/>
              </a:xfrm>
            </p:grpSpPr>
            <p:sp>
              <p:nvSpPr>
                <p:cNvPr id="116" name="Oval 69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016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7" name="Oval 70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208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8" name="Oval 71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394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9" name="Oval 72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577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0" name="Oval 73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763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1" name="Oval 74"/>
                <p:cNvSpPr>
                  <a:spLocks noChangeAspect="1" noChangeArrowheads="1"/>
                </p:cNvSpPr>
                <p:nvPr/>
              </p:nvSpPr>
              <p:spPr bwMode="auto">
                <a:xfrm>
                  <a:off x="522" y="2946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2" name="Line 75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35" y="3072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" name="Line 76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38" y="2892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4" name="Line 77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35" y="2706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5" name="Line 78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41" y="2520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6" name="Line 79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41" y="2334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7" name="Line 80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41" y="2145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86" name="Line 81"/>
              <p:cNvSpPr>
                <a:spLocks noChangeAspect="1" noChangeShapeType="1"/>
              </p:cNvSpPr>
              <p:nvPr/>
            </p:nvSpPr>
            <p:spPr bwMode="auto">
              <a:xfrm>
                <a:off x="822" y="1980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" name="Line 82"/>
              <p:cNvSpPr>
                <a:spLocks noChangeAspect="1" noChangeShapeType="1"/>
              </p:cNvSpPr>
              <p:nvPr/>
            </p:nvSpPr>
            <p:spPr bwMode="auto">
              <a:xfrm>
                <a:off x="822" y="2178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" name="Line 83"/>
              <p:cNvSpPr>
                <a:spLocks noChangeAspect="1" noChangeShapeType="1"/>
              </p:cNvSpPr>
              <p:nvPr/>
            </p:nvSpPr>
            <p:spPr bwMode="auto">
              <a:xfrm>
                <a:off x="822" y="2364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9" name="Line 84"/>
              <p:cNvSpPr>
                <a:spLocks noChangeAspect="1" noChangeShapeType="1"/>
              </p:cNvSpPr>
              <p:nvPr/>
            </p:nvSpPr>
            <p:spPr bwMode="auto">
              <a:xfrm>
                <a:off x="822" y="2550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" name="Line 85"/>
              <p:cNvSpPr>
                <a:spLocks noChangeAspect="1" noChangeShapeType="1"/>
              </p:cNvSpPr>
              <p:nvPr/>
            </p:nvSpPr>
            <p:spPr bwMode="auto">
              <a:xfrm>
                <a:off x="822" y="2736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" name="Line 86"/>
              <p:cNvSpPr>
                <a:spLocks noChangeAspect="1" noChangeShapeType="1"/>
              </p:cNvSpPr>
              <p:nvPr/>
            </p:nvSpPr>
            <p:spPr bwMode="auto">
              <a:xfrm>
                <a:off x="822" y="2916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" name="Line 87"/>
              <p:cNvSpPr>
                <a:spLocks noChangeAspect="1" noChangeShapeType="1"/>
              </p:cNvSpPr>
              <p:nvPr/>
            </p:nvSpPr>
            <p:spPr bwMode="auto">
              <a:xfrm>
                <a:off x="927" y="2013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3" name="Line 88"/>
              <p:cNvSpPr>
                <a:spLocks noChangeAspect="1" noChangeShapeType="1"/>
              </p:cNvSpPr>
              <p:nvPr/>
            </p:nvSpPr>
            <p:spPr bwMode="auto">
              <a:xfrm>
                <a:off x="927" y="2208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" name="Line 89"/>
              <p:cNvSpPr>
                <a:spLocks noChangeAspect="1" noChangeShapeType="1"/>
              </p:cNvSpPr>
              <p:nvPr/>
            </p:nvSpPr>
            <p:spPr bwMode="auto">
              <a:xfrm>
                <a:off x="927" y="2403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" name="Line 90"/>
              <p:cNvSpPr>
                <a:spLocks noChangeAspect="1" noChangeShapeType="1"/>
              </p:cNvSpPr>
              <p:nvPr/>
            </p:nvSpPr>
            <p:spPr bwMode="auto">
              <a:xfrm>
                <a:off x="927" y="2580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" name="Line 91"/>
              <p:cNvSpPr>
                <a:spLocks noChangeAspect="1" noChangeShapeType="1"/>
              </p:cNvSpPr>
              <p:nvPr/>
            </p:nvSpPr>
            <p:spPr bwMode="auto">
              <a:xfrm>
                <a:off x="927" y="2769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" name="Line 92"/>
              <p:cNvSpPr>
                <a:spLocks noChangeAspect="1" noChangeShapeType="1"/>
              </p:cNvSpPr>
              <p:nvPr/>
            </p:nvSpPr>
            <p:spPr bwMode="auto">
              <a:xfrm>
                <a:off x="927" y="2943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" name="Line 93"/>
              <p:cNvSpPr>
                <a:spLocks noChangeAspect="1" noChangeShapeType="1"/>
              </p:cNvSpPr>
              <p:nvPr/>
            </p:nvSpPr>
            <p:spPr bwMode="auto">
              <a:xfrm>
                <a:off x="1038" y="1977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" name="Line 94"/>
              <p:cNvSpPr>
                <a:spLocks noChangeAspect="1" noChangeShapeType="1"/>
              </p:cNvSpPr>
              <p:nvPr/>
            </p:nvSpPr>
            <p:spPr bwMode="auto">
              <a:xfrm>
                <a:off x="1038" y="2190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" name="Line 95"/>
              <p:cNvSpPr>
                <a:spLocks noChangeAspect="1" noChangeShapeType="1"/>
              </p:cNvSpPr>
              <p:nvPr/>
            </p:nvSpPr>
            <p:spPr bwMode="auto">
              <a:xfrm>
                <a:off x="1038" y="2367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1" name="Line 96"/>
              <p:cNvSpPr>
                <a:spLocks noChangeAspect="1" noChangeShapeType="1"/>
              </p:cNvSpPr>
              <p:nvPr/>
            </p:nvSpPr>
            <p:spPr bwMode="auto">
              <a:xfrm>
                <a:off x="1038" y="2550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" name="Line 97"/>
              <p:cNvSpPr>
                <a:spLocks noChangeAspect="1" noChangeShapeType="1"/>
              </p:cNvSpPr>
              <p:nvPr/>
            </p:nvSpPr>
            <p:spPr bwMode="auto">
              <a:xfrm>
                <a:off x="1038" y="2739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" name="Line 98"/>
              <p:cNvSpPr>
                <a:spLocks noChangeAspect="1" noChangeShapeType="1"/>
              </p:cNvSpPr>
              <p:nvPr/>
            </p:nvSpPr>
            <p:spPr bwMode="auto">
              <a:xfrm>
                <a:off x="1038" y="2916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" name="Line 99"/>
              <p:cNvSpPr>
                <a:spLocks noChangeAspect="1" noChangeShapeType="1"/>
              </p:cNvSpPr>
              <p:nvPr/>
            </p:nvSpPr>
            <p:spPr bwMode="auto">
              <a:xfrm>
                <a:off x="1284" y="1986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" name="Line 100"/>
              <p:cNvSpPr>
                <a:spLocks noChangeAspect="1" noChangeShapeType="1"/>
              </p:cNvSpPr>
              <p:nvPr/>
            </p:nvSpPr>
            <p:spPr bwMode="auto">
              <a:xfrm>
                <a:off x="1284" y="2202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" name="Line 101"/>
              <p:cNvSpPr>
                <a:spLocks noChangeAspect="1" noChangeShapeType="1"/>
              </p:cNvSpPr>
              <p:nvPr/>
            </p:nvSpPr>
            <p:spPr bwMode="auto">
              <a:xfrm>
                <a:off x="1284" y="2361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7" name="Line 102"/>
              <p:cNvSpPr>
                <a:spLocks noChangeAspect="1" noChangeShapeType="1"/>
              </p:cNvSpPr>
              <p:nvPr/>
            </p:nvSpPr>
            <p:spPr bwMode="auto">
              <a:xfrm>
                <a:off x="1284" y="2547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" name="Line 103"/>
              <p:cNvSpPr>
                <a:spLocks noChangeAspect="1" noChangeShapeType="1"/>
              </p:cNvSpPr>
              <p:nvPr/>
            </p:nvSpPr>
            <p:spPr bwMode="auto">
              <a:xfrm>
                <a:off x="1284" y="2736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9" name="Line 104"/>
              <p:cNvSpPr>
                <a:spLocks noChangeAspect="1" noChangeShapeType="1"/>
              </p:cNvSpPr>
              <p:nvPr/>
            </p:nvSpPr>
            <p:spPr bwMode="auto">
              <a:xfrm>
                <a:off x="1284" y="2919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" name="Line 105"/>
              <p:cNvSpPr>
                <a:spLocks noChangeAspect="1" noChangeShapeType="1"/>
              </p:cNvSpPr>
              <p:nvPr/>
            </p:nvSpPr>
            <p:spPr bwMode="auto">
              <a:xfrm>
                <a:off x="1158" y="2013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" name="Line 106"/>
              <p:cNvSpPr>
                <a:spLocks noChangeAspect="1" noChangeShapeType="1"/>
              </p:cNvSpPr>
              <p:nvPr/>
            </p:nvSpPr>
            <p:spPr bwMode="auto">
              <a:xfrm>
                <a:off x="1158" y="2214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" name="Line 107"/>
              <p:cNvSpPr>
                <a:spLocks noChangeAspect="1" noChangeShapeType="1"/>
              </p:cNvSpPr>
              <p:nvPr/>
            </p:nvSpPr>
            <p:spPr bwMode="auto">
              <a:xfrm>
                <a:off x="1158" y="2400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" name="Line 108"/>
              <p:cNvSpPr>
                <a:spLocks noChangeAspect="1" noChangeShapeType="1"/>
              </p:cNvSpPr>
              <p:nvPr/>
            </p:nvSpPr>
            <p:spPr bwMode="auto">
              <a:xfrm>
                <a:off x="1158" y="2571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" name="Line 109"/>
              <p:cNvSpPr>
                <a:spLocks noChangeAspect="1" noChangeShapeType="1"/>
              </p:cNvSpPr>
              <p:nvPr/>
            </p:nvSpPr>
            <p:spPr bwMode="auto">
              <a:xfrm>
                <a:off x="1158" y="2760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" name="Line 110"/>
              <p:cNvSpPr>
                <a:spLocks noChangeAspect="1" noChangeShapeType="1"/>
              </p:cNvSpPr>
              <p:nvPr/>
            </p:nvSpPr>
            <p:spPr bwMode="auto">
              <a:xfrm>
                <a:off x="1158" y="2937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8" name="Rectangle 112"/>
            <p:cNvSpPr>
              <a:spLocks noChangeArrowheads="1"/>
            </p:cNvSpPr>
            <p:nvPr/>
          </p:nvSpPr>
          <p:spPr bwMode="auto">
            <a:xfrm>
              <a:off x="1470" y="3292"/>
              <a:ext cx="27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N</a:t>
              </a:r>
              <a:r>
                <a:rPr lang="en-US" altLang="zh-CN" sz="1600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1600" i="1">
                  <a:latin typeface="Times New Roman" panose="02020603050405020304" pitchFamily="18" charset="0"/>
                </a:rPr>
                <a:t> 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113"/>
            <p:cNvSpPr>
              <a:spLocks noChangeArrowheads="1"/>
            </p:cNvSpPr>
            <p:nvPr/>
          </p:nvSpPr>
          <p:spPr bwMode="auto">
            <a:xfrm>
              <a:off x="978" y="3597"/>
              <a:ext cx="19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latin typeface="Times New Roman" panose="02020603050405020304" pitchFamily="18" charset="0"/>
                </a:rPr>
                <a:t>S</a:t>
              </a:r>
              <a:r>
                <a:rPr lang="en-US" altLang="zh-CN" sz="1200" baseline="-25000">
                  <a:latin typeface="Times New Roman" panose="02020603050405020304" pitchFamily="18" charset="0"/>
                </a:rPr>
                <a:t>1</a:t>
              </a:r>
              <a:endParaRPr lang="en-US" altLang="zh-CN" sz="1200" i="1">
                <a:latin typeface="Times New Roman" panose="02020603050405020304" pitchFamily="18" charset="0"/>
              </a:endParaRPr>
            </a:p>
          </p:txBody>
        </p:sp>
        <p:sp>
          <p:nvSpPr>
            <p:cNvPr id="60" name="Rectangle 115"/>
            <p:cNvSpPr>
              <a:spLocks noChangeArrowheads="1"/>
            </p:cNvSpPr>
            <p:nvPr/>
          </p:nvSpPr>
          <p:spPr bwMode="auto">
            <a:xfrm>
              <a:off x="1380" y="3600"/>
              <a:ext cx="1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>
                  <a:latin typeface="Times New Roman" panose="02020603050405020304" pitchFamily="18" charset="0"/>
                </a:rPr>
                <a:t>I</a:t>
              </a:r>
              <a:r>
                <a:rPr lang="en-US" altLang="zh-CN" sz="1400" baseline="-25000">
                  <a:latin typeface="Times New Roman" panose="02020603050405020304" pitchFamily="18" charset="0"/>
                </a:rPr>
                <a:t>1</a:t>
              </a:r>
              <a:endParaRPr lang="en-US" altLang="zh-CN" sz="1400" i="1">
                <a:latin typeface="Times New Roman" panose="02020603050405020304" pitchFamily="18" charset="0"/>
              </a:endParaRPr>
            </a:p>
          </p:txBody>
        </p:sp>
        <p:sp>
          <p:nvSpPr>
            <p:cNvPr id="61" name="Rectangle 117"/>
            <p:cNvSpPr>
              <a:spLocks noChangeArrowheads="1"/>
            </p:cNvSpPr>
            <p:nvPr/>
          </p:nvSpPr>
          <p:spPr bwMode="auto">
            <a:xfrm>
              <a:off x="708" y="2724"/>
              <a:ext cx="26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latin typeface="Times New Roman" panose="02020603050405020304" pitchFamily="18" charset="0"/>
                </a:rPr>
                <a:t>B</a:t>
              </a:r>
              <a:r>
                <a:rPr lang="en-US" altLang="zh-CN" sz="1400" baseline="-25000">
                  <a:latin typeface="Times New Roman" panose="02020603050405020304" pitchFamily="18" charset="0"/>
                </a:rPr>
                <a:t>11</a:t>
              </a:r>
              <a:endParaRPr lang="en-US" altLang="zh-CN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62" name="Line 184"/>
            <p:cNvSpPr>
              <a:spLocks noChangeAspect="1" noChangeShapeType="1"/>
            </p:cNvSpPr>
            <p:nvPr/>
          </p:nvSpPr>
          <p:spPr bwMode="auto">
            <a:xfrm>
              <a:off x="567" y="299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185"/>
            <p:cNvSpPr>
              <a:spLocks noChangeAspect="1" noChangeShapeType="1"/>
            </p:cNvSpPr>
            <p:nvPr/>
          </p:nvSpPr>
          <p:spPr bwMode="auto">
            <a:xfrm>
              <a:off x="567" y="3696"/>
              <a:ext cx="2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Rectangle 186"/>
            <p:cNvSpPr>
              <a:spLocks noChangeAspect="1" noChangeArrowheads="1"/>
            </p:cNvSpPr>
            <p:nvPr/>
          </p:nvSpPr>
          <p:spPr bwMode="auto">
            <a:xfrm>
              <a:off x="620" y="3235"/>
              <a:ext cx="20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>
                  <a:latin typeface="Times New Roman" panose="02020603050405020304" pitchFamily="18" charset="0"/>
                </a:rPr>
                <a:t>d</a:t>
              </a:r>
              <a:r>
                <a:rPr lang="en-US" altLang="zh-CN" sz="1400" baseline="-25000">
                  <a:latin typeface="Times New Roman" panose="02020603050405020304" pitchFamily="18" charset="0"/>
                </a:rPr>
                <a:t>1</a:t>
              </a:r>
              <a:endParaRPr lang="en-US" altLang="zh-CN" sz="1400" i="1">
                <a:latin typeface="Times New Roman" panose="02020603050405020304" pitchFamily="18" charset="0"/>
              </a:endParaRPr>
            </a:p>
          </p:txBody>
        </p:sp>
        <p:sp>
          <p:nvSpPr>
            <p:cNvPr id="65" name="Line 187"/>
            <p:cNvSpPr>
              <a:spLocks noChangeAspect="1" noChangeShapeType="1"/>
            </p:cNvSpPr>
            <p:nvPr/>
          </p:nvSpPr>
          <p:spPr bwMode="auto">
            <a:xfrm flipV="1">
              <a:off x="713" y="2994"/>
              <a:ext cx="0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188"/>
            <p:cNvSpPr>
              <a:spLocks noChangeAspect="1" noChangeShapeType="1"/>
            </p:cNvSpPr>
            <p:nvPr/>
          </p:nvSpPr>
          <p:spPr bwMode="auto">
            <a:xfrm>
              <a:off x="713" y="3444"/>
              <a:ext cx="0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Rectangle 193"/>
            <p:cNvSpPr>
              <a:spLocks noChangeArrowheads="1"/>
            </p:cNvSpPr>
            <p:nvPr/>
          </p:nvSpPr>
          <p:spPr bwMode="auto">
            <a:xfrm>
              <a:off x="1392" y="958"/>
              <a:ext cx="408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Suppose we have two solenoids, having different specifications as indicated: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68" name="Rectangle 194"/>
            <p:cNvSpPr>
              <a:spLocks noChangeArrowheads="1"/>
            </p:cNvSpPr>
            <p:nvPr/>
          </p:nvSpPr>
          <p:spPr bwMode="auto">
            <a:xfrm>
              <a:off x="1665" y="1167"/>
              <a:ext cx="3855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The </a:t>
              </a:r>
              <a:r>
                <a:rPr lang="en-US" altLang="zh-CN" sz="1600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self linkage 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and </a:t>
              </a:r>
              <a:r>
                <a:rPr lang="en-US" altLang="zh-CN" sz="1600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self inductance </a:t>
              </a:r>
              <a:r>
                <a:rPr lang="zh-CN" altLang="en-US" sz="1600" dirty="0">
                  <a:solidFill>
                    <a:srgbClr val="C0000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自感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of each coil are determined in the manner that we used before, assuming identical fluxes through each turn.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pic>
          <p:nvPicPr>
            <p:cNvPr id="69" name="Picture 19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4" y="2832"/>
              <a:ext cx="2470" cy="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" name="Picture 19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2" y="1547"/>
              <a:ext cx="2418" cy="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Rectangle 197"/>
            <p:cNvSpPr>
              <a:spLocks noChangeArrowheads="1"/>
            </p:cNvSpPr>
            <p:nvPr/>
          </p:nvSpPr>
          <p:spPr bwMode="auto">
            <a:xfrm>
              <a:off x="79" y="1761"/>
              <a:ext cx="43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Coil 2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72" name="Rectangle 198"/>
            <p:cNvSpPr>
              <a:spLocks noChangeArrowheads="1"/>
            </p:cNvSpPr>
            <p:nvPr/>
          </p:nvSpPr>
          <p:spPr bwMode="auto">
            <a:xfrm>
              <a:off x="78" y="3244"/>
              <a:ext cx="43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Coil 1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pic>
          <p:nvPicPr>
            <p:cNvPr id="73" name="Picture 19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1" y="3385"/>
              <a:ext cx="1681" cy="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74" name="Picture 20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" y="2016"/>
              <a:ext cx="1756" cy="4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75" name="Rectangle 201"/>
            <p:cNvSpPr>
              <a:spLocks noChangeArrowheads="1"/>
            </p:cNvSpPr>
            <p:nvPr/>
          </p:nvSpPr>
          <p:spPr bwMode="auto">
            <a:xfrm>
              <a:off x="2026" y="2120"/>
              <a:ext cx="30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and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76" name="Rectangle 202"/>
            <p:cNvSpPr>
              <a:spLocks noChangeArrowheads="1"/>
            </p:cNvSpPr>
            <p:nvPr/>
          </p:nvSpPr>
          <p:spPr bwMode="auto">
            <a:xfrm>
              <a:off x="2093" y="3520"/>
              <a:ext cx="30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and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77" name="Line 203"/>
            <p:cNvSpPr>
              <a:spLocks noChangeShapeType="1"/>
            </p:cNvSpPr>
            <p:nvPr/>
          </p:nvSpPr>
          <p:spPr bwMode="auto">
            <a:xfrm>
              <a:off x="2016" y="2640"/>
              <a:ext cx="29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Line 204"/>
            <p:cNvSpPr>
              <a:spLocks noChangeShapeType="1"/>
            </p:cNvSpPr>
            <p:nvPr/>
          </p:nvSpPr>
          <p:spPr bwMode="auto">
            <a:xfrm>
              <a:off x="1722" y="1746"/>
              <a:ext cx="624" cy="0"/>
            </a:xfrm>
            <a:prstGeom prst="line">
              <a:avLst/>
            </a:prstGeom>
            <a:noFill/>
            <a:ln w="9525">
              <a:solidFill>
                <a:srgbClr val="FF5C23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Line 205"/>
            <p:cNvSpPr>
              <a:spLocks noChangeShapeType="1"/>
            </p:cNvSpPr>
            <p:nvPr/>
          </p:nvSpPr>
          <p:spPr bwMode="auto">
            <a:xfrm>
              <a:off x="1719" y="3054"/>
              <a:ext cx="624" cy="0"/>
            </a:xfrm>
            <a:prstGeom prst="line">
              <a:avLst/>
            </a:prstGeom>
            <a:noFill/>
            <a:ln w="9525">
              <a:solidFill>
                <a:srgbClr val="FF5C23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922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Interaction Between Inductors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76" name="Group 279"/>
          <p:cNvGrpSpPr/>
          <p:nvPr/>
        </p:nvGrpSpPr>
        <p:grpSpPr bwMode="auto">
          <a:xfrm>
            <a:off x="900113" y="1776413"/>
            <a:ext cx="8180387" cy="4610100"/>
            <a:chOff x="567" y="1119"/>
            <a:chExt cx="5153" cy="2904"/>
          </a:xfrm>
        </p:grpSpPr>
        <p:grpSp>
          <p:nvGrpSpPr>
            <p:cNvPr id="177" name="Group 268"/>
            <p:cNvGrpSpPr/>
            <p:nvPr/>
          </p:nvGrpSpPr>
          <p:grpSpPr bwMode="auto">
            <a:xfrm>
              <a:off x="567" y="1191"/>
              <a:ext cx="1198" cy="2832"/>
              <a:chOff x="567" y="1191"/>
              <a:chExt cx="1198" cy="2832"/>
            </a:xfrm>
          </p:grpSpPr>
          <p:sp>
            <p:nvSpPr>
              <p:cNvPr id="188" name="Line 233"/>
              <p:cNvSpPr>
                <a:spLocks noChangeAspect="1" noChangeShapeType="1"/>
              </p:cNvSpPr>
              <p:nvPr/>
            </p:nvSpPr>
            <p:spPr bwMode="auto">
              <a:xfrm flipV="1">
                <a:off x="975" y="2513"/>
                <a:ext cx="0" cy="1498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9" name="Line 232"/>
              <p:cNvSpPr>
                <a:spLocks noChangeAspect="1" noChangeShapeType="1"/>
              </p:cNvSpPr>
              <p:nvPr/>
            </p:nvSpPr>
            <p:spPr bwMode="auto">
              <a:xfrm flipV="1">
                <a:off x="1054" y="2527"/>
                <a:ext cx="0" cy="1489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0" name="Line 231"/>
              <p:cNvSpPr>
                <a:spLocks noChangeAspect="1" noChangeShapeType="1"/>
              </p:cNvSpPr>
              <p:nvPr/>
            </p:nvSpPr>
            <p:spPr bwMode="auto">
              <a:xfrm flipV="1">
                <a:off x="1139" y="2526"/>
                <a:ext cx="0" cy="1494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1" name="Line 229"/>
              <p:cNvSpPr>
                <a:spLocks noChangeAspect="1" noChangeShapeType="1"/>
              </p:cNvSpPr>
              <p:nvPr/>
            </p:nvSpPr>
            <p:spPr bwMode="auto">
              <a:xfrm flipV="1">
                <a:off x="1226" y="2529"/>
                <a:ext cx="0" cy="149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2" name="Line 230"/>
              <p:cNvSpPr>
                <a:spLocks noChangeAspect="1" noChangeShapeType="1"/>
              </p:cNvSpPr>
              <p:nvPr/>
            </p:nvSpPr>
            <p:spPr bwMode="auto">
              <a:xfrm flipV="1">
                <a:off x="1320" y="2529"/>
                <a:ext cx="0" cy="149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3" name="Line 197"/>
              <p:cNvSpPr>
                <a:spLocks noChangeAspect="1" noChangeShapeType="1"/>
              </p:cNvSpPr>
              <p:nvPr/>
            </p:nvSpPr>
            <p:spPr bwMode="auto">
              <a:xfrm flipV="1">
                <a:off x="960" y="1200"/>
                <a:ext cx="0" cy="132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" name="Line 196"/>
              <p:cNvSpPr>
                <a:spLocks noChangeAspect="1" noChangeShapeType="1"/>
              </p:cNvSpPr>
              <p:nvPr/>
            </p:nvSpPr>
            <p:spPr bwMode="auto">
              <a:xfrm flipV="1">
                <a:off x="1039" y="1204"/>
                <a:ext cx="0" cy="1327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" name="Line 195"/>
              <p:cNvSpPr>
                <a:spLocks noChangeAspect="1" noChangeShapeType="1"/>
              </p:cNvSpPr>
              <p:nvPr/>
            </p:nvSpPr>
            <p:spPr bwMode="auto">
              <a:xfrm flipV="1">
                <a:off x="1121" y="1209"/>
                <a:ext cx="0" cy="132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6" name="Line 193"/>
              <p:cNvSpPr>
                <a:spLocks noChangeAspect="1" noChangeShapeType="1"/>
              </p:cNvSpPr>
              <p:nvPr/>
            </p:nvSpPr>
            <p:spPr bwMode="auto">
              <a:xfrm flipV="1">
                <a:off x="1211" y="1209"/>
                <a:ext cx="0" cy="132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7" name="Line 194"/>
              <p:cNvSpPr>
                <a:spLocks noChangeAspect="1" noChangeShapeType="1"/>
              </p:cNvSpPr>
              <p:nvPr/>
            </p:nvSpPr>
            <p:spPr bwMode="auto">
              <a:xfrm flipV="1">
                <a:off x="1305" y="1209"/>
                <a:ext cx="0" cy="132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8" name="Line 5"/>
              <p:cNvSpPr>
                <a:spLocks noChangeAspect="1" noChangeShapeType="1"/>
              </p:cNvSpPr>
              <p:nvPr/>
            </p:nvSpPr>
            <p:spPr bwMode="auto">
              <a:xfrm flipV="1">
                <a:off x="1227" y="1209"/>
                <a:ext cx="0" cy="132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9" name="Line 6"/>
              <p:cNvSpPr>
                <a:spLocks noChangeAspect="1" noChangeShapeType="1"/>
              </p:cNvSpPr>
              <p:nvPr/>
            </p:nvSpPr>
            <p:spPr bwMode="auto">
              <a:xfrm flipV="1">
                <a:off x="1321" y="1209"/>
                <a:ext cx="0" cy="132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" name="Line 7"/>
              <p:cNvSpPr>
                <a:spLocks noChangeAspect="1" noChangeShapeType="1"/>
              </p:cNvSpPr>
              <p:nvPr/>
            </p:nvSpPr>
            <p:spPr bwMode="auto">
              <a:xfrm flipV="1">
                <a:off x="1137" y="1209"/>
                <a:ext cx="0" cy="132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1" name="Line 8"/>
              <p:cNvSpPr>
                <a:spLocks noChangeAspect="1" noChangeShapeType="1"/>
              </p:cNvSpPr>
              <p:nvPr/>
            </p:nvSpPr>
            <p:spPr bwMode="auto">
              <a:xfrm flipV="1">
                <a:off x="1055" y="1204"/>
                <a:ext cx="0" cy="1327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2" name="Line 9"/>
              <p:cNvSpPr>
                <a:spLocks noChangeAspect="1" noChangeShapeType="1"/>
              </p:cNvSpPr>
              <p:nvPr/>
            </p:nvSpPr>
            <p:spPr bwMode="auto">
              <a:xfrm flipV="1">
                <a:off x="976" y="1200"/>
                <a:ext cx="0" cy="132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03" name="Group 10"/>
              <p:cNvGrpSpPr>
                <a:grpSpLocks noChangeAspect="1"/>
              </p:cNvGrpSpPr>
              <p:nvPr/>
            </p:nvGrpSpPr>
            <p:grpSpPr bwMode="auto">
              <a:xfrm>
                <a:off x="864" y="1455"/>
                <a:ext cx="576" cy="802"/>
                <a:chOff x="522" y="2016"/>
                <a:chExt cx="771" cy="1074"/>
              </a:xfrm>
            </p:grpSpPr>
            <p:sp>
              <p:nvSpPr>
                <p:cNvPr id="362" name="Oval 11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016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3" name="Oval 12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208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4" name="Oval 13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394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5" name="Oval 14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577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6" name="Oval 15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763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7" name="Oval 16"/>
                <p:cNvSpPr>
                  <a:spLocks noChangeAspect="1" noChangeArrowheads="1"/>
                </p:cNvSpPr>
                <p:nvPr/>
              </p:nvSpPr>
              <p:spPr bwMode="auto">
                <a:xfrm>
                  <a:off x="522" y="2946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8" name="Line 17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35" y="3072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" name="Line 18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38" y="2892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0" name="Line 19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35" y="2706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1" name="Line 20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41" y="2520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2" name="Line 21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41" y="2334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3" name="Line 22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41" y="2145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04" name="Line 23"/>
              <p:cNvSpPr>
                <a:spLocks noChangeAspect="1" noChangeShapeType="1"/>
              </p:cNvSpPr>
              <p:nvPr/>
            </p:nvSpPr>
            <p:spPr bwMode="auto">
              <a:xfrm>
                <a:off x="976" y="1428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" name="Line 24"/>
              <p:cNvSpPr>
                <a:spLocks noChangeAspect="1" noChangeShapeType="1"/>
              </p:cNvSpPr>
              <p:nvPr/>
            </p:nvSpPr>
            <p:spPr bwMode="auto">
              <a:xfrm>
                <a:off x="976" y="157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" name="Line 25"/>
              <p:cNvSpPr>
                <a:spLocks noChangeAspect="1" noChangeShapeType="1"/>
              </p:cNvSpPr>
              <p:nvPr/>
            </p:nvSpPr>
            <p:spPr bwMode="auto">
              <a:xfrm>
                <a:off x="976" y="171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7" name="Line 26"/>
              <p:cNvSpPr>
                <a:spLocks noChangeAspect="1" noChangeShapeType="1"/>
              </p:cNvSpPr>
              <p:nvPr/>
            </p:nvSpPr>
            <p:spPr bwMode="auto">
              <a:xfrm>
                <a:off x="976" y="185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8" name="Line 27"/>
              <p:cNvSpPr>
                <a:spLocks noChangeAspect="1" noChangeShapeType="1"/>
              </p:cNvSpPr>
              <p:nvPr/>
            </p:nvSpPr>
            <p:spPr bwMode="auto">
              <a:xfrm>
                <a:off x="976" y="199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9" name="Line 28"/>
              <p:cNvSpPr>
                <a:spLocks noChangeAspect="1" noChangeShapeType="1"/>
              </p:cNvSpPr>
              <p:nvPr/>
            </p:nvSpPr>
            <p:spPr bwMode="auto">
              <a:xfrm>
                <a:off x="976" y="2127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0" name="Line 29"/>
              <p:cNvSpPr>
                <a:spLocks noChangeAspect="1" noChangeShapeType="1"/>
              </p:cNvSpPr>
              <p:nvPr/>
            </p:nvSpPr>
            <p:spPr bwMode="auto">
              <a:xfrm>
                <a:off x="1055" y="145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1" name="Line 30"/>
              <p:cNvSpPr>
                <a:spLocks noChangeAspect="1" noChangeShapeType="1"/>
              </p:cNvSpPr>
              <p:nvPr/>
            </p:nvSpPr>
            <p:spPr bwMode="auto">
              <a:xfrm>
                <a:off x="1055" y="1599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2" name="Line 31"/>
              <p:cNvSpPr>
                <a:spLocks noChangeAspect="1" noChangeShapeType="1"/>
              </p:cNvSpPr>
              <p:nvPr/>
            </p:nvSpPr>
            <p:spPr bwMode="auto">
              <a:xfrm>
                <a:off x="1055" y="174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3" name="Line 32"/>
              <p:cNvSpPr>
                <a:spLocks noChangeAspect="1" noChangeShapeType="1"/>
              </p:cNvSpPr>
              <p:nvPr/>
            </p:nvSpPr>
            <p:spPr bwMode="auto">
              <a:xfrm>
                <a:off x="1055" y="187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4" name="Line 33"/>
              <p:cNvSpPr>
                <a:spLocks noChangeAspect="1" noChangeShapeType="1"/>
              </p:cNvSpPr>
              <p:nvPr/>
            </p:nvSpPr>
            <p:spPr bwMode="auto">
              <a:xfrm>
                <a:off x="1055" y="2018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" name="Line 34"/>
              <p:cNvSpPr>
                <a:spLocks noChangeAspect="1" noChangeShapeType="1"/>
              </p:cNvSpPr>
              <p:nvPr/>
            </p:nvSpPr>
            <p:spPr bwMode="auto">
              <a:xfrm>
                <a:off x="1055" y="2147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6" name="Line 35"/>
              <p:cNvSpPr>
                <a:spLocks noChangeAspect="1" noChangeShapeType="1"/>
              </p:cNvSpPr>
              <p:nvPr/>
            </p:nvSpPr>
            <p:spPr bwMode="auto">
              <a:xfrm>
                <a:off x="1137" y="142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7" name="Line 36"/>
              <p:cNvSpPr>
                <a:spLocks noChangeAspect="1" noChangeShapeType="1"/>
              </p:cNvSpPr>
              <p:nvPr/>
            </p:nvSpPr>
            <p:spPr bwMode="auto">
              <a:xfrm>
                <a:off x="1137" y="158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8" name="Line 37"/>
              <p:cNvSpPr>
                <a:spLocks noChangeAspect="1" noChangeShapeType="1"/>
              </p:cNvSpPr>
              <p:nvPr/>
            </p:nvSpPr>
            <p:spPr bwMode="auto">
              <a:xfrm>
                <a:off x="1137" y="1717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9" name="Line 38"/>
              <p:cNvSpPr>
                <a:spLocks noChangeAspect="1" noChangeShapeType="1"/>
              </p:cNvSpPr>
              <p:nvPr/>
            </p:nvSpPr>
            <p:spPr bwMode="auto">
              <a:xfrm>
                <a:off x="1137" y="185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0" name="Line 39"/>
              <p:cNvSpPr>
                <a:spLocks noChangeAspect="1" noChangeShapeType="1"/>
              </p:cNvSpPr>
              <p:nvPr/>
            </p:nvSpPr>
            <p:spPr bwMode="auto">
              <a:xfrm>
                <a:off x="1137" y="199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1" name="Line 40"/>
              <p:cNvSpPr>
                <a:spLocks noChangeAspect="1" noChangeShapeType="1"/>
              </p:cNvSpPr>
              <p:nvPr/>
            </p:nvSpPr>
            <p:spPr bwMode="auto">
              <a:xfrm>
                <a:off x="1137" y="2127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2" name="Line 41"/>
              <p:cNvSpPr>
                <a:spLocks noChangeAspect="1" noChangeShapeType="1"/>
              </p:cNvSpPr>
              <p:nvPr/>
            </p:nvSpPr>
            <p:spPr bwMode="auto">
              <a:xfrm>
                <a:off x="1321" y="143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3" name="Line 42"/>
              <p:cNvSpPr>
                <a:spLocks noChangeAspect="1" noChangeShapeType="1"/>
              </p:cNvSpPr>
              <p:nvPr/>
            </p:nvSpPr>
            <p:spPr bwMode="auto">
              <a:xfrm>
                <a:off x="1321" y="159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4" name="Line 43"/>
              <p:cNvSpPr>
                <a:spLocks noChangeAspect="1" noChangeShapeType="1"/>
              </p:cNvSpPr>
              <p:nvPr/>
            </p:nvSpPr>
            <p:spPr bwMode="auto">
              <a:xfrm>
                <a:off x="1321" y="171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" name="Line 44"/>
              <p:cNvSpPr>
                <a:spLocks noChangeAspect="1" noChangeShapeType="1"/>
              </p:cNvSpPr>
              <p:nvPr/>
            </p:nvSpPr>
            <p:spPr bwMode="auto">
              <a:xfrm>
                <a:off x="1321" y="1852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" name="Line 45"/>
              <p:cNvSpPr>
                <a:spLocks noChangeAspect="1" noChangeShapeType="1"/>
              </p:cNvSpPr>
              <p:nvPr/>
            </p:nvSpPr>
            <p:spPr bwMode="auto">
              <a:xfrm>
                <a:off x="1321" y="199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7" name="Line 46"/>
              <p:cNvSpPr>
                <a:spLocks noChangeAspect="1" noChangeShapeType="1"/>
              </p:cNvSpPr>
              <p:nvPr/>
            </p:nvSpPr>
            <p:spPr bwMode="auto">
              <a:xfrm>
                <a:off x="1321" y="2130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8" name="Line 47"/>
              <p:cNvSpPr>
                <a:spLocks noChangeAspect="1" noChangeShapeType="1"/>
              </p:cNvSpPr>
              <p:nvPr/>
            </p:nvSpPr>
            <p:spPr bwMode="auto">
              <a:xfrm>
                <a:off x="1227" y="145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9" name="Line 48"/>
              <p:cNvSpPr>
                <a:spLocks noChangeAspect="1" noChangeShapeType="1"/>
              </p:cNvSpPr>
              <p:nvPr/>
            </p:nvSpPr>
            <p:spPr bwMode="auto">
              <a:xfrm>
                <a:off x="1227" y="160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0" name="Line 49"/>
              <p:cNvSpPr>
                <a:spLocks noChangeAspect="1" noChangeShapeType="1"/>
              </p:cNvSpPr>
              <p:nvPr/>
            </p:nvSpPr>
            <p:spPr bwMode="auto">
              <a:xfrm>
                <a:off x="1227" y="1742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1" name="Line 50"/>
              <p:cNvSpPr>
                <a:spLocks noChangeAspect="1" noChangeShapeType="1"/>
              </p:cNvSpPr>
              <p:nvPr/>
            </p:nvSpPr>
            <p:spPr bwMode="auto">
              <a:xfrm>
                <a:off x="1227" y="1870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2" name="Line 51"/>
              <p:cNvSpPr>
                <a:spLocks noChangeAspect="1" noChangeShapeType="1"/>
              </p:cNvSpPr>
              <p:nvPr/>
            </p:nvSpPr>
            <p:spPr bwMode="auto">
              <a:xfrm>
                <a:off x="1227" y="201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3" name="Line 52"/>
              <p:cNvSpPr>
                <a:spLocks noChangeAspect="1" noChangeShapeType="1"/>
              </p:cNvSpPr>
              <p:nvPr/>
            </p:nvSpPr>
            <p:spPr bwMode="auto">
              <a:xfrm>
                <a:off x="1227" y="214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4" name="Rectangle 53"/>
              <p:cNvSpPr>
                <a:spLocks noChangeArrowheads="1"/>
              </p:cNvSpPr>
              <p:nvPr/>
            </p:nvSpPr>
            <p:spPr bwMode="auto">
              <a:xfrm>
                <a:off x="1488" y="1776"/>
                <a:ext cx="27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1600" baseline="-2500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1600" i="1">
                    <a:latin typeface="Times New Roman" panose="02020603050405020304" pitchFamily="18" charset="0"/>
                  </a:rPr>
                  <a:t> </a:t>
                </a:r>
                <a:endParaRPr lang="en-US" altLang="zh-CN" sz="16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" name="Rectangle 54"/>
              <p:cNvSpPr>
                <a:spLocks noChangeArrowheads="1"/>
              </p:cNvSpPr>
              <p:nvPr/>
            </p:nvSpPr>
            <p:spPr bwMode="auto">
              <a:xfrm>
                <a:off x="1002" y="2106"/>
                <a:ext cx="19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200" i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1200" baseline="-25000">
                    <a:latin typeface="Times New Roman" panose="02020603050405020304" pitchFamily="18" charset="0"/>
                  </a:rPr>
                  <a:t>2</a:t>
                </a:r>
                <a:endParaRPr lang="en-US" altLang="zh-CN" sz="12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" name="Rectangle 55"/>
              <p:cNvSpPr>
                <a:spLocks noChangeArrowheads="1"/>
              </p:cNvSpPr>
              <p:nvPr/>
            </p:nvSpPr>
            <p:spPr bwMode="auto">
              <a:xfrm>
                <a:off x="1404" y="2103"/>
                <a:ext cx="18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i="1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1400" baseline="-25000">
                    <a:latin typeface="Times New Roman" panose="02020603050405020304" pitchFamily="18" charset="0"/>
                  </a:rPr>
                  <a:t>2</a:t>
                </a:r>
                <a:endParaRPr lang="en-US" altLang="zh-CN" sz="1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7" name="Rectangle 56"/>
              <p:cNvSpPr>
                <a:spLocks noChangeArrowheads="1"/>
              </p:cNvSpPr>
              <p:nvPr/>
            </p:nvSpPr>
            <p:spPr bwMode="auto">
              <a:xfrm>
                <a:off x="1312" y="1191"/>
                <a:ext cx="26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b="1">
                    <a:solidFill>
                      <a:srgbClr val="0B7CFF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400" baseline="-25000">
                    <a:solidFill>
                      <a:srgbClr val="0B7CFF"/>
                    </a:solidFill>
                    <a:latin typeface="Times New Roman" panose="02020603050405020304" pitchFamily="18" charset="0"/>
                  </a:rPr>
                  <a:t>22</a:t>
                </a:r>
                <a:endParaRPr lang="en-US" altLang="zh-CN" sz="1400" b="1">
                  <a:solidFill>
                    <a:srgbClr val="0B7C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8" name="Line 57"/>
              <p:cNvSpPr>
                <a:spLocks noChangeAspect="1" noChangeShapeType="1"/>
              </p:cNvSpPr>
              <p:nvPr/>
            </p:nvSpPr>
            <p:spPr bwMode="auto">
              <a:xfrm>
                <a:off x="583" y="1505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9" name="Line 58"/>
              <p:cNvSpPr>
                <a:spLocks noChangeAspect="1" noChangeShapeType="1"/>
              </p:cNvSpPr>
              <p:nvPr/>
            </p:nvSpPr>
            <p:spPr bwMode="auto">
              <a:xfrm>
                <a:off x="583" y="2205"/>
                <a:ext cx="24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" name="Rectangle 59"/>
              <p:cNvSpPr>
                <a:spLocks noChangeAspect="1" noChangeArrowheads="1"/>
              </p:cNvSpPr>
              <p:nvPr/>
            </p:nvSpPr>
            <p:spPr bwMode="auto">
              <a:xfrm>
                <a:off x="636" y="1759"/>
                <a:ext cx="20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i="1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1400" baseline="-25000">
                    <a:latin typeface="Times New Roman" panose="02020603050405020304" pitchFamily="18" charset="0"/>
                  </a:rPr>
                  <a:t>2</a:t>
                </a:r>
                <a:endParaRPr lang="en-US" altLang="zh-CN" sz="1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1" name="Line 60"/>
              <p:cNvSpPr>
                <a:spLocks noChangeAspect="1" noChangeShapeType="1"/>
              </p:cNvSpPr>
              <p:nvPr/>
            </p:nvSpPr>
            <p:spPr bwMode="auto">
              <a:xfrm flipV="1">
                <a:off x="729" y="1503"/>
                <a:ext cx="0" cy="2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" name="Line 61"/>
              <p:cNvSpPr>
                <a:spLocks noChangeAspect="1" noChangeShapeType="1"/>
              </p:cNvSpPr>
              <p:nvPr/>
            </p:nvSpPr>
            <p:spPr bwMode="auto">
              <a:xfrm>
                <a:off x="729" y="1953"/>
                <a:ext cx="0" cy="2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3" name="Line 64"/>
              <p:cNvSpPr>
                <a:spLocks noChangeAspect="1" noChangeShapeType="1"/>
              </p:cNvSpPr>
              <p:nvPr/>
            </p:nvSpPr>
            <p:spPr bwMode="auto">
              <a:xfrm flipV="1">
                <a:off x="1212" y="2532"/>
                <a:ext cx="0" cy="149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4" name="Line 65"/>
              <p:cNvSpPr>
                <a:spLocks noChangeAspect="1" noChangeShapeType="1"/>
              </p:cNvSpPr>
              <p:nvPr/>
            </p:nvSpPr>
            <p:spPr bwMode="auto">
              <a:xfrm flipV="1">
                <a:off x="1303" y="2522"/>
                <a:ext cx="0" cy="150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5" name="Line 66"/>
              <p:cNvSpPr>
                <a:spLocks noChangeAspect="1" noChangeShapeType="1"/>
              </p:cNvSpPr>
              <p:nvPr/>
            </p:nvSpPr>
            <p:spPr bwMode="auto">
              <a:xfrm flipV="1">
                <a:off x="1122" y="2535"/>
                <a:ext cx="0" cy="1488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" name="Line 67"/>
              <p:cNvSpPr>
                <a:spLocks noChangeAspect="1" noChangeShapeType="1"/>
              </p:cNvSpPr>
              <p:nvPr/>
            </p:nvSpPr>
            <p:spPr bwMode="auto">
              <a:xfrm flipV="1">
                <a:off x="1040" y="2523"/>
                <a:ext cx="0" cy="149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7" name="Line 68"/>
              <p:cNvSpPr>
                <a:spLocks noChangeAspect="1" noChangeShapeType="1"/>
              </p:cNvSpPr>
              <p:nvPr/>
            </p:nvSpPr>
            <p:spPr bwMode="auto">
              <a:xfrm flipV="1">
                <a:off x="958" y="2503"/>
                <a:ext cx="0" cy="151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48" name="Group 69"/>
              <p:cNvGrpSpPr>
                <a:grpSpLocks noChangeAspect="1"/>
              </p:cNvGrpSpPr>
              <p:nvPr/>
            </p:nvGrpSpPr>
            <p:grpSpPr bwMode="auto">
              <a:xfrm>
                <a:off x="846" y="2943"/>
                <a:ext cx="576" cy="802"/>
                <a:chOff x="522" y="2016"/>
                <a:chExt cx="771" cy="1074"/>
              </a:xfrm>
            </p:grpSpPr>
            <p:sp>
              <p:nvSpPr>
                <p:cNvPr id="350" name="Oval 70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016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51" name="Oval 71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208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52" name="Oval 72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394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53" name="Oval 73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577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54" name="Oval 74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763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55" name="Oval 75"/>
                <p:cNvSpPr>
                  <a:spLocks noChangeAspect="1" noChangeArrowheads="1"/>
                </p:cNvSpPr>
                <p:nvPr/>
              </p:nvSpPr>
              <p:spPr bwMode="auto">
                <a:xfrm>
                  <a:off x="522" y="2946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56" name="Line 76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35" y="3072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7" name="Line 77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38" y="2892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8" name="Line 78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35" y="2706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9" name="Line 79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41" y="2520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0" name="Line 80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41" y="2334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1" name="Line 81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41" y="2145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49" name="Line 82"/>
              <p:cNvSpPr>
                <a:spLocks noChangeAspect="1" noChangeShapeType="1"/>
              </p:cNvSpPr>
              <p:nvPr/>
            </p:nvSpPr>
            <p:spPr bwMode="auto">
              <a:xfrm>
                <a:off x="958" y="291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0" name="Line 83"/>
              <p:cNvSpPr>
                <a:spLocks noChangeAspect="1" noChangeShapeType="1"/>
              </p:cNvSpPr>
              <p:nvPr/>
            </p:nvSpPr>
            <p:spPr bwMode="auto">
              <a:xfrm>
                <a:off x="958" y="306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1" name="Line 84"/>
              <p:cNvSpPr>
                <a:spLocks noChangeAspect="1" noChangeShapeType="1"/>
              </p:cNvSpPr>
              <p:nvPr/>
            </p:nvSpPr>
            <p:spPr bwMode="auto">
              <a:xfrm>
                <a:off x="958" y="320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2" name="Line 85"/>
              <p:cNvSpPr>
                <a:spLocks noChangeAspect="1" noChangeShapeType="1"/>
              </p:cNvSpPr>
              <p:nvPr/>
            </p:nvSpPr>
            <p:spPr bwMode="auto">
              <a:xfrm>
                <a:off x="958" y="3342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3" name="Line 86"/>
              <p:cNvSpPr>
                <a:spLocks noChangeAspect="1" noChangeShapeType="1"/>
              </p:cNvSpPr>
              <p:nvPr/>
            </p:nvSpPr>
            <p:spPr bwMode="auto">
              <a:xfrm>
                <a:off x="958" y="348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4" name="Line 87"/>
              <p:cNvSpPr>
                <a:spLocks noChangeAspect="1" noChangeShapeType="1"/>
              </p:cNvSpPr>
              <p:nvPr/>
            </p:nvSpPr>
            <p:spPr bwMode="auto">
              <a:xfrm>
                <a:off x="958" y="361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5" name="Line 88"/>
              <p:cNvSpPr>
                <a:spLocks noChangeAspect="1" noChangeShapeType="1"/>
              </p:cNvSpPr>
              <p:nvPr/>
            </p:nvSpPr>
            <p:spPr bwMode="auto">
              <a:xfrm>
                <a:off x="1040" y="294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" name="Line 89"/>
              <p:cNvSpPr>
                <a:spLocks noChangeAspect="1" noChangeShapeType="1"/>
              </p:cNvSpPr>
              <p:nvPr/>
            </p:nvSpPr>
            <p:spPr bwMode="auto">
              <a:xfrm>
                <a:off x="1040" y="3087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7" name="Line 90"/>
              <p:cNvSpPr>
                <a:spLocks noChangeAspect="1" noChangeShapeType="1"/>
              </p:cNvSpPr>
              <p:nvPr/>
            </p:nvSpPr>
            <p:spPr bwMode="auto">
              <a:xfrm>
                <a:off x="1040" y="3232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8" name="Line 91"/>
              <p:cNvSpPr>
                <a:spLocks noChangeAspect="1" noChangeShapeType="1"/>
              </p:cNvSpPr>
              <p:nvPr/>
            </p:nvSpPr>
            <p:spPr bwMode="auto">
              <a:xfrm>
                <a:off x="1040" y="336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9" name="Line 92"/>
              <p:cNvSpPr>
                <a:spLocks noChangeAspect="1" noChangeShapeType="1"/>
              </p:cNvSpPr>
              <p:nvPr/>
            </p:nvSpPr>
            <p:spPr bwMode="auto">
              <a:xfrm>
                <a:off x="1040" y="3506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0" name="Line 93"/>
              <p:cNvSpPr>
                <a:spLocks noChangeAspect="1" noChangeShapeType="1"/>
              </p:cNvSpPr>
              <p:nvPr/>
            </p:nvSpPr>
            <p:spPr bwMode="auto">
              <a:xfrm>
                <a:off x="1040" y="363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1" name="Line 94"/>
              <p:cNvSpPr>
                <a:spLocks noChangeAspect="1" noChangeShapeType="1"/>
              </p:cNvSpPr>
              <p:nvPr/>
            </p:nvSpPr>
            <p:spPr bwMode="auto">
              <a:xfrm>
                <a:off x="1122" y="291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2" name="Line 95"/>
              <p:cNvSpPr>
                <a:spLocks noChangeAspect="1" noChangeShapeType="1"/>
              </p:cNvSpPr>
              <p:nvPr/>
            </p:nvSpPr>
            <p:spPr bwMode="auto">
              <a:xfrm>
                <a:off x="1122" y="307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3" name="Line 96"/>
              <p:cNvSpPr>
                <a:spLocks noChangeAspect="1" noChangeShapeType="1"/>
              </p:cNvSpPr>
              <p:nvPr/>
            </p:nvSpPr>
            <p:spPr bwMode="auto">
              <a:xfrm>
                <a:off x="1122" y="320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4" name="Line 97"/>
              <p:cNvSpPr>
                <a:spLocks noChangeAspect="1" noChangeShapeType="1"/>
              </p:cNvSpPr>
              <p:nvPr/>
            </p:nvSpPr>
            <p:spPr bwMode="auto">
              <a:xfrm>
                <a:off x="1122" y="3342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5" name="Line 98"/>
              <p:cNvSpPr>
                <a:spLocks noChangeAspect="1" noChangeShapeType="1"/>
              </p:cNvSpPr>
              <p:nvPr/>
            </p:nvSpPr>
            <p:spPr bwMode="auto">
              <a:xfrm>
                <a:off x="1122" y="348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" name="Line 99"/>
              <p:cNvSpPr>
                <a:spLocks noChangeAspect="1" noChangeShapeType="1"/>
              </p:cNvSpPr>
              <p:nvPr/>
            </p:nvSpPr>
            <p:spPr bwMode="auto">
              <a:xfrm>
                <a:off x="1122" y="361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" name="Line 100"/>
              <p:cNvSpPr>
                <a:spLocks noChangeAspect="1" noChangeShapeType="1"/>
              </p:cNvSpPr>
              <p:nvPr/>
            </p:nvSpPr>
            <p:spPr bwMode="auto">
              <a:xfrm>
                <a:off x="1303" y="292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8" name="Line 101"/>
              <p:cNvSpPr>
                <a:spLocks noChangeAspect="1" noChangeShapeType="1"/>
              </p:cNvSpPr>
              <p:nvPr/>
            </p:nvSpPr>
            <p:spPr bwMode="auto">
              <a:xfrm>
                <a:off x="1303" y="3082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9" name="Line 102"/>
              <p:cNvSpPr>
                <a:spLocks noChangeAspect="1" noChangeShapeType="1"/>
              </p:cNvSpPr>
              <p:nvPr/>
            </p:nvSpPr>
            <p:spPr bwMode="auto">
              <a:xfrm>
                <a:off x="1303" y="320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0" name="Line 103"/>
              <p:cNvSpPr>
                <a:spLocks noChangeAspect="1" noChangeShapeType="1"/>
              </p:cNvSpPr>
              <p:nvPr/>
            </p:nvSpPr>
            <p:spPr bwMode="auto">
              <a:xfrm>
                <a:off x="1303" y="3340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1" name="Line 104"/>
              <p:cNvSpPr>
                <a:spLocks noChangeAspect="1" noChangeShapeType="1"/>
              </p:cNvSpPr>
              <p:nvPr/>
            </p:nvSpPr>
            <p:spPr bwMode="auto">
              <a:xfrm>
                <a:off x="1303" y="348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2" name="Line 105"/>
              <p:cNvSpPr>
                <a:spLocks noChangeAspect="1" noChangeShapeType="1"/>
              </p:cNvSpPr>
              <p:nvPr/>
            </p:nvSpPr>
            <p:spPr bwMode="auto">
              <a:xfrm>
                <a:off x="1303" y="3618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3" name="Line 106"/>
              <p:cNvSpPr>
                <a:spLocks noChangeAspect="1" noChangeShapeType="1"/>
              </p:cNvSpPr>
              <p:nvPr/>
            </p:nvSpPr>
            <p:spPr bwMode="auto">
              <a:xfrm>
                <a:off x="1212" y="294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4" name="Line 107"/>
              <p:cNvSpPr>
                <a:spLocks noChangeAspect="1" noChangeShapeType="1"/>
              </p:cNvSpPr>
              <p:nvPr/>
            </p:nvSpPr>
            <p:spPr bwMode="auto">
              <a:xfrm>
                <a:off x="1212" y="3088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5" name="Line 108"/>
              <p:cNvSpPr>
                <a:spLocks noChangeAspect="1" noChangeShapeType="1"/>
              </p:cNvSpPr>
              <p:nvPr/>
            </p:nvSpPr>
            <p:spPr bwMode="auto">
              <a:xfrm>
                <a:off x="1212" y="3230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" name="Line 109"/>
              <p:cNvSpPr>
                <a:spLocks noChangeAspect="1" noChangeShapeType="1"/>
              </p:cNvSpPr>
              <p:nvPr/>
            </p:nvSpPr>
            <p:spPr bwMode="auto">
              <a:xfrm>
                <a:off x="1212" y="3358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7" name="Line 110"/>
              <p:cNvSpPr>
                <a:spLocks noChangeAspect="1" noChangeShapeType="1"/>
              </p:cNvSpPr>
              <p:nvPr/>
            </p:nvSpPr>
            <p:spPr bwMode="auto">
              <a:xfrm>
                <a:off x="1212" y="3499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8" name="Line 111"/>
              <p:cNvSpPr>
                <a:spLocks noChangeAspect="1" noChangeShapeType="1"/>
              </p:cNvSpPr>
              <p:nvPr/>
            </p:nvSpPr>
            <p:spPr bwMode="auto">
              <a:xfrm>
                <a:off x="1212" y="363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9" name="Rectangle 112"/>
              <p:cNvSpPr>
                <a:spLocks noChangeArrowheads="1"/>
              </p:cNvSpPr>
              <p:nvPr/>
            </p:nvSpPr>
            <p:spPr bwMode="auto">
              <a:xfrm>
                <a:off x="1470" y="3292"/>
                <a:ext cx="27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1600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1600" i="1">
                    <a:latin typeface="Times New Roman" panose="02020603050405020304" pitchFamily="18" charset="0"/>
                  </a:rPr>
                  <a:t> </a:t>
                </a:r>
                <a:endParaRPr lang="en-US" altLang="zh-CN" sz="16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" name="Rectangle 113"/>
              <p:cNvSpPr>
                <a:spLocks noChangeArrowheads="1"/>
              </p:cNvSpPr>
              <p:nvPr/>
            </p:nvSpPr>
            <p:spPr bwMode="auto">
              <a:xfrm>
                <a:off x="990" y="3597"/>
                <a:ext cx="19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200" i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1200" baseline="-25000">
                    <a:latin typeface="Times New Roman" panose="02020603050405020304" pitchFamily="18" charset="0"/>
                  </a:rPr>
                  <a:t>1</a:t>
                </a:r>
                <a:endParaRPr lang="en-US" altLang="zh-CN" sz="12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" name="Rectangle 114"/>
              <p:cNvSpPr>
                <a:spLocks noChangeArrowheads="1"/>
              </p:cNvSpPr>
              <p:nvPr/>
            </p:nvSpPr>
            <p:spPr bwMode="auto">
              <a:xfrm>
                <a:off x="1380" y="3600"/>
                <a:ext cx="18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i="1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1400" baseline="-25000">
                    <a:latin typeface="Times New Roman" panose="02020603050405020304" pitchFamily="18" charset="0"/>
                  </a:rPr>
                  <a:t>1</a:t>
                </a:r>
                <a:endParaRPr lang="en-US" altLang="zh-CN" sz="1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2" name="Rectangle 115"/>
              <p:cNvSpPr>
                <a:spLocks noChangeArrowheads="1"/>
              </p:cNvSpPr>
              <p:nvPr/>
            </p:nvSpPr>
            <p:spPr bwMode="auto">
              <a:xfrm>
                <a:off x="708" y="2724"/>
                <a:ext cx="26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b="1">
                    <a:solidFill>
                      <a:srgbClr val="CC006B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400" baseline="-25000">
                    <a:solidFill>
                      <a:srgbClr val="CC006B"/>
                    </a:solidFill>
                    <a:latin typeface="Times New Roman" panose="02020603050405020304" pitchFamily="18" charset="0"/>
                  </a:rPr>
                  <a:t>11</a:t>
                </a:r>
                <a:endParaRPr lang="en-US" altLang="zh-CN" sz="1400" b="1">
                  <a:solidFill>
                    <a:srgbClr val="CC006B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" name="Line 116"/>
              <p:cNvSpPr>
                <a:spLocks noChangeAspect="1" noChangeShapeType="1"/>
              </p:cNvSpPr>
              <p:nvPr/>
            </p:nvSpPr>
            <p:spPr bwMode="auto">
              <a:xfrm>
                <a:off x="567" y="299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4" name="Line 117"/>
              <p:cNvSpPr>
                <a:spLocks noChangeAspect="1" noChangeShapeType="1"/>
              </p:cNvSpPr>
              <p:nvPr/>
            </p:nvSpPr>
            <p:spPr bwMode="auto">
              <a:xfrm>
                <a:off x="567" y="3696"/>
                <a:ext cx="24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5" name="Rectangle 118"/>
              <p:cNvSpPr>
                <a:spLocks noChangeAspect="1" noChangeArrowheads="1"/>
              </p:cNvSpPr>
              <p:nvPr/>
            </p:nvSpPr>
            <p:spPr bwMode="auto">
              <a:xfrm>
                <a:off x="620" y="3235"/>
                <a:ext cx="20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i="1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1400" baseline="-25000">
                    <a:latin typeface="Times New Roman" panose="02020603050405020304" pitchFamily="18" charset="0"/>
                  </a:rPr>
                  <a:t>1</a:t>
                </a:r>
                <a:endParaRPr lang="en-US" altLang="zh-CN" sz="1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" name="Line 119"/>
              <p:cNvSpPr>
                <a:spLocks noChangeAspect="1" noChangeShapeType="1"/>
              </p:cNvSpPr>
              <p:nvPr/>
            </p:nvSpPr>
            <p:spPr bwMode="auto">
              <a:xfrm flipV="1">
                <a:off x="713" y="2994"/>
                <a:ext cx="0" cy="2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" name="Line 120"/>
              <p:cNvSpPr>
                <a:spLocks noChangeAspect="1" noChangeShapeType="1"/>
              </p:cNvSpPr>
              <p:nvPr/>
            </p:nvSpPr>
            <p:spPr bwMode="auto">
              <a:xfrm>
                <a:off x="713" y="3444"/>
                <a:ext cx="0" cy="2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" name="Line 198"/>
              <p:cNvSpPr>
                <a:spLocks noChangeAspect="1" noChangeShapeType="1"/>
              </p:cNvSpPr>
              <p:nvPr/>
            </p:nvSpPr>
            <p:spPr bwMode="auto">
              <a:xfrm>
                <a:off x="960" y="1428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" name="Line 199"/>
              <p:cNvSpPr>
                <a:spLocks noChangeAspect="1" noChangeShapeType="1"/>
              </p:cNvSpPr>
              <p:nvPr/>
            </p:nvSpPr>
            <p:spPr bwMode="auto">
              <a:xfrm>
                <a:off x="960" y="157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0" name="Line 200"/>
              <p:cNvSpPr>
                <a:spLocks noChangeAspect="1" noChangeShapeType="1"/>
              </p:cNvSpPr>
              <p:nvPr/>
            </p:nvSpPr>
            <p:spPr bwMode="auto">
              <a:xfrm>
                <a:off x="960" y="171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" name="Line 201"/>
              <p:cNvSpPr>
                <a:spLocks noChangeAspect="1" noChangeShapeType="1"/>
              </p:cNvSpPr>
              <p:nvPr/>
            </p:nvSpPr>
            <p:spPr bwMode="auto">
              <a:xfrm>
                <a:off x="960" y="185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2" name="Line 202"/>
              <p:cNvSpPr>
                <a:spLocks noChangeAspect="1" noChangeShapeType="1"/>
              </p:cNvSpPr>
              <p:nvPr/>
            </p:nvSpPr>
            <p:spPr bwMode="auto">
              <a:xfrm>
                <a:off x="960" y="199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3" name="Line 203"/>
              <p:cNvSpPr>
                <a:spLocks noChangeAspect="1" noChangeShapeType="1"/>
              </p:cNvSpPr>
              <p:nvPr/>
            </p:nvSpPr>
            <p:spPr bwMode="auto">
              <a:xfrm>
                <a:off x="960" y="2127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" name="Line 204"/>
              <p:cNvSpPr>
                <a:spLocks noChangeAspect="1" noChangeShapeType="1"/>
              </p:cNvSpPr>
              <p:nvPr/>
            </p:nvSpPr>
            <p:spPr bwMode="auto">
              <a:xfrm>
                <a:off x="1039" y="145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5" name="Line 205"/>
              <p:cNvSpPr>
                <a:spLocks noChangeAspect="1" noChangeShapeType="1"/>
              </p:cNvSpPr>
              <p:nvPr/>
            </p:nvSpPr>
            <p:spPr bwMode="auto">
              <a:xfrm>
                <a:off x="1039" y="1599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6" name="Line 206"/>
              <p:cNvSpPr>
                <a:spLocks noChangeAspect="1" noChangeShapeType="1"/>
              </p:cNvSpPr>
              <p:nvPr/>
            </p:nvSpPr>
            <p:spPr bwMode="auto">
              <a:xfrm>
                <a:off x="1039" y="174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" name="Line 207"/>
              <p:cNvSpPr>
                <a:spLocks noChangeAspect="1" noChangeShapeType="1"/>
              </p:cNvSpPr>
              <p:nvPr/>
            </p:nvSpPr>
            <p:spPr bwMode="auto">
              <a:xfrm>
                <a:off x="1039" y="187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8" name="Line 208"/>
              <p:cNvSpPr>
                <a:spLocks noChangeAspect="1" noChangeShapeType="1"/>
              </p:cNvSpPr>
              <p:nvPr/>
            </p:nvSpPr>
            <p:spPr bwMode="auto">
              <a:xfrm>
                <a:off x="1039" y="2018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9" name="Line 209"/>
              <p:cNvSpPr>
                <a:spLocks noChangeAspect="1" noChangeShapeType="1"/>
              </p:cNvSpPr>
              <p:nvPr/>
            </p:nvSpPr>
            <p:spPr bwMode="auto">
              <a:xfrm>
                <a:off x="1039" y="2147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0" name="Line 210"/>
              <p:cNvSpPr>
                <a:spLocks noChangeAspect="1" noChangeShapeType="1"/>
              </p:cNvSpPr>
              <p:nvPr/>
            </p:nvSpPr>
            <p:spPr bwMode="auto">
              <a:xfrm>
                <a:off x="1121" y="142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1" name="Line 211"/>
              <p:cNvSpPr>
                <a:spLocks noChangeAspect="1" noChangeShapeType="1"/>
              </p:cNvSpPr>
              <p:nvPr/>
            </p:nvSpPr>
            <p:spPr bwMode="auto">
              <a:xfrm>
                <a:off x="1121" y="158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2" name="Line 212"/>
              <p:cNvSpPr>
                <a:spLocks noChangeAspect="1" noChangeShapeType="1"/>
              </p:cNvSpPr>
              <p:nvPr/>
            </p:nvSpPr>
            <p:spPr bwMode="auto">
              <a:xfrm>
                <a:off x="1121" y="1717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3" name="Line 213"/>
              <p:cNvSpPr>
                <a:spLocks noChangeAspect="1" noChangeShapeType="1"/>
              </p:cNvSpPr>
              <p:nvPr/>
            </p:nvSpPr>
            <p:spPr bwMode="auto">
              <a:xfrm>
                <a:off x="1121" y="185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4" name="Line 214"/>
              <p:cNvSpPr>
                <a:spLocks noChangeAspect="1" noChangeShapeType="1"/>
              </p:cNvSpPr>
              <p:nvPr/>
            </p:nvSpPr>
            <p:spPr bwMode="auto">
              <a:xfrm>
                <a:off x="1121" y="199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5" name="Line 215"/>
              <p:cNvSpPr>
                <a:spLocks noChangeAspect="1" noChangeShapeType="1"/>
              </p:cNvSpPr>
              <p:nvPr/>
            </p:nvSpPr>
            <p:spPr bwMode="auto">
              <a:xfrm>
                <a:off x="1121" y="2127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6" name="Line 216"/>
              <p:cNvSpPr>
                <a:spLocks noChangeAspect="1" noChangeShapeType="1"/>
              </p:cNvSpPr>
              <p:nvPr/>
            </p:nvSpPr>
            <p:spPr bwMode="auto">
              <a:xfrm>
                <a:off x="1305" y="143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" name="Line 217"/>
              <p:cNvSpPr>
                <a:spLocks noChangeAspect="1" noChangeShapeType="1"/>
              </p:cNvSpPr>
              <p:nvPr/>
            </p:nvSpPr>
            <p:spPr bwMode="auto">
              <a:xfrm>
                <a:off x="1305" y="159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8" name="Line 218"/>
              <p:cNvSpPr>
                <a:spLocks noChangeAspect="1" noChangeShapeType="1"/>
              </p:cNvSpPr>
              <p:nvPr/>
            </p:nvSpPr>
            <p:spPr bwMode="auto">
              <a:xfrm>
                <a:off x="1305" y="171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9" name="Line 219"/>
              <p:cNvSpPr>
                <a:spLocks noChangeAspect="1" noChangeShapeType="1"/>
              </p:cNvSpPr>
              <p:nvPr/>
            </p:nvSpPr>
            <p:spPr bwMode="auto">
              <a:xfrm>
                <a:off x="1305" y="1852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0" name="Line 220"/>
              <p:cNvSpPr>
                <a:spLocks noChangeAspect="1" noChangeShapeType="1"/>
              </p:cNvSpPr>
              <p:nvPr/>
            </p:nvSpPr>
            <p:spPr bwMode="auto">
              <a:xfrm>
                <a:off x="1305" y="199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1" name="Line 221"/>
              <p:cNvSpPr>
                <a:spLocks noChangeAspect="1" noChangeShapeType="1"/>
              </p:cNvSpPr>
              <p:nvPr/>
            </p:nvSpPr>
            <p:spPr bwMode="auto">
              <a:xfrm>
                <a:off x="1305" y="2130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2" name="Line 222"/>
              <p:cNvSpPr>
                <a:spLocks noChangeAspect="1" noChangeShapeType="1"/>
              </p:cNvSpPr>
              <p:nvPr/>
            </p:nvSpPr>
            <p:spPr bwMode="auto">
              <a:xfrm>
                <a:off x="1211" y="145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3" name="Line 223"/>
              <p:cNvSpPr>
                <a:spLocks noChangeAspect="1" noChangeShapeType="1"/>
              </p:cNvSpPr>
              <p:nvPr/>
            </p:nvSpPr>
            <p:spPr bwMode="auto">
              <a:xfrm>
                <a:off x="1211" y="160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4" name="Line 224"/>
              <p:cNvSpPr>
                <a:spLocks noChangeAspect="1" noChangeShapeType="1"/>
              </p:cNvSpPr>
              <p:nvPr/>
            </p:nvSpPr>
            <p:spPr bwMode="auto">
              <a:xfrm>
                <a:off x="1211" y="1742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5" name="Line 225"/>
              <p:cNvSpPr>
                <a:spLocks noChangeAspect="1" noChangeShapeType="1"/>
              </p:cNvSpPr>
              <p:nvPr/>
            </p:nvSpPr>
            <p:spPr bwMode="auto">
              <a:xfrm>
                <a:off x="1211" y="1870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6" name="Line 226"/>
              <p:cNvSpPr>
                <a:spLocks noChangeAspect="1" noChangeShapeType="1"/>
              </p:cNvSpPr>
              <p:nvPr/>
            </p:nvSpPr>
            <p:spPr bwMode="auto">
              <a:xfrm>
                <a:off x="1211" y="201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" name="Line 227"/>
              <p:cNvSpPr>
                <a:spLocks noChangeAspect="1" noChangeShapeType="1"/>
              </p:cNvSpPr>
              <p:nvPr/>
            </p:nvSpPr>
            <p:spPr bwMode="auto">
              <a:xfrm>
                <a:off x="1211" y="214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8" name="Line 234"/>
              <p:cNvSpPr>
                <a:spLocks noChangeAspect="1" noChangeShapeType="1"/>
              </p:cNvSpPr>
              <p:nvPr/>
            </p:nvSpPr>
            <p:spPr bwMode="auto">
              <a:xfrm>
                <a:off x="975" y="291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9" name="Line 235"/>
              <p:cNvSpPr>
                <a:spLocks noChangeAspect="1" noChangeShapeType="1"/>
              </p:cNvSpPr>
              <p:nvPr/>
            </p:nvSpPr>
            <p:spPr bwMode="auto">
              <a:xfrm>
                <a:off x="975" y="306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0" name="Line 236"/>
              <p:cNvSpPr>
                <a:spLocks noChangeAspect="1" noChangeShapeType="1"/>
              </p:cNvSpPr>
              <p:nvPr/>
            </p:nvSpPr>
            <p:spPr bwMode="auto">
              <a:xfrm>
                <a:off x="975" y="3200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1" name="Line 237"/>
              <p:cNvSpPr>
                <a:spLocks noChangeAspect="1" noChangeShapeType="1"/>
              </p:cNvSpPr>
              <p:nvPr/>
            </p:nvSpPr>
            <p:spPr bwMode="auto">
              <a:xfrm>
                <a:off x="975" y="3339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2" name="Line 238"/>
              <p:cNvSpPr>
                <a:spLocks noChangeAspect="1" noChangeShapeType="1"/>
              </p:cNvSpPr>
              <p:nvPr/>
            </p:nvSpPr>
            <p:spPr bwMode="auto">
              <a:xfrm>
                <a:off x="975" y="3478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3" name="Line 239"/>
              <p:cNvSpPr>
                <a:spLocks noChangeAspect="1" noChangeShapeType="1"/>
              </p:cNvSpPr>
              <p:nvPr/>
            </p:nvSpPr>
            <p:spPr bwMode="auto">
              <a:xfrm>
                <a:off x="975" y="3612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4" name="Line 240"/>
              <p:cNvSpPr>
                <a:spLocks noChangeAspect="1" noChangeShapeType="1"/>
              </p:cNvSpPr>
              <p:nvPr/>
            </p:nvSpPr>
            <p:spPr bwMode="auto">
              <a:xfrm>
                <a:off x="1054" y="2938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5" name="Line 241"/>
              <p:cNvSpPr>
                <a:spLocks noChangeAspect="1" noChangeShapeType="1"/>
              </p:cNvSpPr>
              <p:nvPr/>
            </p:nvSpPr>
            <p:spPr bwMode="auto">
              <a:xfrm>
                <a:off x="1054" y="3084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6" name="Line 242"/>
              <p:cNvSpPr>
                <a:spLocks noChangeAspect="1" noChangeShapeType="1"/>
              </p:cNvSpPr>
              <p:nvPr/>
            </p:nvSpPr>
            <p:spPr bwMode="auto">
              <a:xfrm>
                <a:off x="1054" y="3229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7" name="Line 243"/>
              <p:cNvSpPr>
                <a:spLocks noChangeAspect="1" noChangeShapeType="1"/>
              </p:cNvSpPr>
              <p:nvPr/>
            </p:nvSpPr>
            <p:spPr bwMode="auto">
              <a:xfrm>
                <a:off x="1054" y="336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" name="Line 244"/>
              <p:cNvSpPr>
                <a:spLocks noChangeAspect="1" noChangeShapeType="1"/>
              </p:cNvSpPr>
              <p:nvPr/>
            </p:nvSpPr>
            <p:spPr bwMode="auto">
              <a:xfrm>
                <a:off x="1054" y="3503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9" name="Line 245"/>
              <p:cNvSpPr>
                <a:spLocks noChangeAspect="1" noChangeShapeType="1"/>
              </p:cNvSpPr>
              <p:nvPr/>
            </p:nvSpPr>
            <p:spPr bwMode="auto">
              <a:xfrm>
                <a:off x="1054" y="3632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0" name="Line 246"/>
              <p:cNvSpPr>
                <a:spLocks noChangeAspect="1" noChangeShapeType="1"/>
              </p:cNvSpPr>
              <p:nvPr/>
            </p:nvSpPr>
            <p:spPr bwMode="auto">
              <a:xfrm>
                <a:off x="1139" y="291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1" name="Line 247"/>
              <p:cNvSpPr>
                <a:spLocks noChangeAspect="1" noChangeShapeType="1"/>
              </p:cNvSpPr>
              <p:nvPr/>
            </p:nvSpPr>
            <p:spPr bwMode="auto">
              <a:xfrm>
                <a:off x="1139" y="3070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2" name="Line 248"/>
              <p:cNvSpPr>
                <a:spLocks noChangeAspect="1" noChangeShapeType="1"/>
              </p:cNvSpPr>
              <p:nvPr/>
            </p:nvSpPr>
            <p:spPr bwMode="auto">
              <a:xfrm>
                <a:off x="1139" y="3202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3" name="Line 249"/>
              <p:cNvSpPr>
                <a:spLocks noChangeAspect="1" noChangeShapeType="1"/>
              </p:cNvSpPr>
              <p:nvPr/>
            </p:nvSpPr>
            <p:spPr bwMode="auto">
              <a:xfrm>
                <a:off x="1139" y="3339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4" name="Line 250"/>
              <p:cNvSpPr>
                <a:spLocks noChangeAspect="1" noChangeShapeType="1"/>
              </p:cNvSpPr>
              <p:nvPr/>
            </p:nvSpPr>
            <p:spPr bwMode="auto">
              <a:xfrm>
                <a:off x="1139" y="3480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5" name="Line 251"/>
              <p:cNvSpPr>
                <a:spLocks noChangeAspect="1" noChangeShapeType="1"/>
              </p:cNvSpPr>
              <p:nvPr/>
            </p:nvSpPr>
            <p:spPr bwMode="auto">
              <a:xfrm>
                <a:off x="1139" y="3612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6" name="Line 252"/>
              <p:cNvSpPr>
                <a:spLocks noChangeAspect="1" noChangeShapeType="1"/>
              </p:cNvSpPr>
              <p:nvPr/>
            </p:nvSpPr>
            <p:spPr bwMode="auto">
              <a:xfrm>
                <a:off x="1320" y="2918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7" name="Line 253"/>
              <p:cNvSpPr>
                <a:spLocks noChangeAspect="1" noChangeShapeType="1"/>
              </p:cNvSpPr>
              <p:nvPr/>
            </p:nvSpPr>
            <p:spPr bwMode="auto">
              <a:xfrm>
                <a:off x="1320" y="3079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" name="Line 254"/>
              <p:cNvSpPr>
                <a:spLocks noChangeAspect="1" noChangeShapeType="1"/>
              </p:cNvSpPr>
              <p:nvPr/>
            </p:nvSpPr>
            <p:spPr bwMode="auto">
              <a:xfrm>
                <a:off x="1320" y="3198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9" name="Line 255"/>
              <p:cNvSpPr>
                <a:spLocks noChangeAspect="1" noChangeShapeType="1"/>
              </p:cNvSpPr>
              <p:nvPr/>
            </p:nvSpPr>
            <p:spPr bwMode="auto">
              <a:xfrm>
                <a:off x="1320" y="3337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0" name="Line 256"/>
              <p:cNvSpPr>
                <a:spLocks noChangeAspect="1" noChangeShapeType="1"/>
              </p:cNvSpPr>
              <p:nvPr/>
            </p:nvSpPr>
            <p:spPr bwMode="auto">
              <a:xfrm>
                <a:off x="1320" y="3478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1" name="Line 257"/>
              <p:cNvSpPr>
                <a:spLocks noChangeAspect="1" noChangeShapeType="1"/>
              </p:cNvSpPr>
              <p:nvPr/>
            </p:nvSpPr>
            <p:spPr bwMode="auto">
              <a:xfrm>
                <a:off x="1320" y="3615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2" name="Line 258"/>
              <p:cNvSpPr>
                <a:spLocks noChangeAspect="1" noChangeShapeType="1"/>
              </p:cNvSpPr>
              <p:nvPr/>
            </p:nvSpPr>
            <p:spPr bwMode="auto">
              <a:xfrm>
                <a:off x="1226" y="2938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3" name="Line 259"/>
              <p:cNvSpPr>
                <a:spLocks noChangeAspect="1" noChangeShapeType="1"/>
              </p:cNvSpPr>
              <p:nvPr/>
            </p:nvSpPr>
            <p:spPr bwMode="auto">
              <a:xfrm>
                <a:off x="1226" y="3088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4" name="Line 260"/>
              <p:cNvSpPr>
                <a:spLocks noChangeAspect="1" noChangeShapeType="1"/>
              </p:cNvSpPr>
              <p:nvPr/>
            </p:nvSpPr>
            <p:spPr bwMode="auto">
              <a:xfrm>
                <a:off x="1226" y="3227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5" name="Line 261"/>
              <p:cNvSpPr>
                <a:spLocks noChangeAspect="1" noChangeShapeType="1"/>
              </p:cNvSpPr>
              <p:nvPr/>
            </p:nvSpPr>
            <p:spPr bwMode="auto">
              <a:xfrm>
                <a:off x="1226" y="3355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6" name="Line 262"/>
              <p:cNvSpPr>
                <a:spLocks noChangeAspect="1" noChangeShapeType="1"/>
              </p:cNvSpPr>
              <p:nvPr/>
            </p:nvSpPr>
            <p:spPr bwMode="auto">
              <a:xfrm>
                <a:off x="1226" y="349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7" name="Line 263"/>
              <p:cNvSpPr>
                <a:spLocks noChangeAspect="1" noChangeShapeType="1"/>
              </p:cNvSpPr>
              <p:nvPr/>
            </p:nvSpPr>
            <p:spPr bwMode="auto">
              <a:xfrm>
                <a:off x="1226" y="3628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" name="Rectangle 265"/>
              <p:cNvSpPr>
                <a:spLocks noChangeArrowheads="1"/>
              </p:cNvSpPr>
              <p:nvPr/>
            </p:nvSpPr>
            <p:spPr bwMode="auto">
              <a:xfrm>
                <a:off x="690" y="1191"/>
                <a:ext cx="26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b="1">
                    <a:solidFill>
                      <a:srgbClr val="CC006B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400" baseline="-25000">
                    <a:solidFill>
                      <a:srgbClr val="CC006B"/>
                    </a:solidFill>
                    <a:latin typeface="Times New Roman" panose="02020603050405020304" pitchFamily="18" charset="0"/>
                  </a:rPr>
                  <a:t>12</a:t>
                </a:r>
                <a:endParaRPr lang="en-US" altLang="zh-CN" sz="1400" b="1">
                  <a:solidFill>
                    <a:srgbClr val="CC006B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9" name="Rectangle 266"/>
              <p:cNvSpPr>
                <a:spLocks noChangeArrowheads="1"/>
              </p:cNvSpPr>
              <p:nvPr/>
            </p:nvSpPr>
            <p:spPr bwMode="auto">
              <a:xfrm>
                <a:off x="1312" y="2724"/>
                <a:ext cx="26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b="1">
                    <a:solidFill>
                      <a:srgbClr val="0B7CFF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400" baseline="-25000">
                    <a:solidFill>
                      <a:srgbClr val="0B7CFF"/>
                    </a:solidFill>
                    <a:latin typeface="Times New Roman" panose="02020603050405020304" pitchFamily="18" charset="0"/>
                  </a:rPr>
                  <a:t>21</a:t>
                </a:r>
                <a:endParaRPr lang="en-US" altLang="zh-CN" sz="1400" b="1">
                  <a:solidFill>
                    <a:srgbClr val="0B7CFF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78" name="Rectangle 267"/>
            <p:cNvSpPr>
              <a:spLocks noChangeArrowheads="1"/>
            </p:cNvSpPr>
            <p:nvPr/>
          </p:nvSpPr>
          <p:spPr bwMode="auto">
            <a:xfrm>
              <a:off x="1934" y="1119"/>
              <a:ext cx="378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Actually, </a:t>
              </a: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the magnetic fields generated by each coil will link the other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,</a:t>
              </a:r>
              <a:endParaRPr lang="en-US" altLang="zh-CN" sz="16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as shown here.  </a:t>
              </a: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This flux overlap is the basis of </a:t>
              </a:r>
              <a:r>
                <a:rPr lang="en-US" altLang="zh-CN" sz="1600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mutual inductance</a:t>
              </a: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.</a:t>
              </a:r>
              <a:endPara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9" name="Rectangle 269"/>
            <p:cNvSpPr>
              <a:spLocks noChangeArrowheads="1"/>
            </p:cNvSpPr>
            <p:nvPr/>
          </p:nvSpPr>
          <p:spPr bwMode="auto">
            <a:xfrm>
              <a:off x="1905" y="1595"/>
              <a:ext cx="380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Throughout this discussion, the field in </a:t>
              </a:r>
              <a:r>
                <a:rPr lang="en-US" altLang="zh-CN" sz="1600" dirty="0">
                  <a:solidFill>
                    <a:srgbClr val="CC006B"/>
                  </a:solidFill>
                  <a:latin typeface="Times New Roman" panose="02020603050405020304" pitchFamily="18" charset="0"/>
                </a:rPr>
                <a:t>red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 is that generated by Coil 1, </a:t>
              </a:r>
              <a:endParaRPr lang="en-US" altLang="zh-CN" sz="16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while the </a:t>
              </a:r>
              <a:r>
                <a:rPr lang="en-US" altLang="zh-CN" sz="1600" dirty="0">
                  <a:solidFill>
                    <a:srgbClr val="0B7CFF"/>
                  </a:solidFill>
                  <a:latin typeface="Times New Roman" panose="02020603050405020304" pitchFamily="18" charset="0"/>
                </a:rPr>
                <a:t>blue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 field is generated by Coil 2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180" name="Rectangle 270"/>
            <p:cNvSpPr>
              <a:spLocks noChangeArrowheads="1"/>
            </p:cNvSpPr>
            <p:nvPr/>
          </p:nvSpPr>
          <p:spPr bwMode="auto">
            <a:xfrm>
              <a:off x="1920" y="2016"/>
              <a:ext cx="3543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With both currents on, all the fields indicated here will be present.</a:t>
              </a:r>
              <a:endParaRPr lang="en-US" altLang="zh-CN" sz="16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The fields and other quantities are kept track of by the subscripts, </a:t>
              </a:r>
              <a:endPara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the meaning of which is:</a:t>
              </a:r>
              <a:endPara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81" name="Group 277"/>
            <p:cNvGrpSpPr/>
            <p:nvPr/>
          </p:nvGrpSpPr>
          <p:grpSpPr bwMode="auto">
            <a:xfrm>
              <a:off x="2640" y="2544"/>
              <a:ext cx="1638" cy="1196"/>
              <a:chOff x="2784" y="2620"/>
              <a:chExt cx="1638" cy="1196"/>
            </a:xfrm>
          </p:grpSpPr>
          <p:sp>
            <p:nvSpPr>
              <p:cNvPr id="182" name="Rectangle 271"/>
              <p:cNvSpPr>
                <a:spLocks noChangeArrowheads="1"/>
              </p:cNvSpPr>
              <p:nvPr/>
            </p:nvSpPr>
            <p:spPr bwMode="auto">
              <a:xfrm>
                <a:off x="3168" y="2620"/>
                <a:ext cx="463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3600" i="1" baseline="-25000">
                    <a:latin typeface="Times New Roman" panose="02020603050405020304" pitchFamily="18" charset="0"/>
                  </a:rPr>
                  <a:t>i j</a:t>
                </a:r>
                <a:endParaRPr lang="en-US" altLang="zh-CN" sz="36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3" name="Rectangle 272"/>
              <p:cNvSpPr>
                <a:spLocks noChangeArrowheads="1"/>
              </p:cNvSpPr>
              <p:nvPr/>
            </p:nvSpPr>
            <p:spPr bwMode="auto">
              <a:xfrm>
                <a:off x="2784" y="3178"/>
                <a:ext cx="593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dirty="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arising </a:t>
                </a:r>
                <a:endParaRPr lang="en-US" altLang="zh-CN" sz="1400" dirty="0">
                  <a:solidFill>
                    <a:srgbClr val="C00000"/>
                  </a:solidFill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dirty="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from coil </a:t>
                </a:r>
                <a:r>
                  <a:rPr lang="en-US" altLang="zh-CN" sz="1400" i="1" dirty="0" err="1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i</a:t>
                </a:r>
                <a:endParaRPr lang="en-US" altLang="zh-CN" sz="1400" dirty="0">
                  <a:solidFill>
                    <a:srgbClr val="C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" name="Rectangle 273"/>
              <p:cNvSpPr>
                <a:spLocks noChangeArrowheads="1"/>
              </p:cNvSpPr>
              <p:nvPr/>
            </p:nvSpPr>
            <p:spPr bwMode="auto">
              <a:xfrm>
                <a:off x="3759" y="3178"/>
                <a:ext cx="663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dirty="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evaluated </a:t>
                </a:r>
                <a:endParaRPr lang="en-US" altLang="zh-CN" sz="1400" dirty="0">
                  <a:solidFill>
                    <a:srgbClr val="C00000"/>
                  </a:solidFill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dirty="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within coil </a:t>
                </a:r>
                <a:r>
                  <a:rPr lang="en-US" altLang="zh-CN" sz="1400" i="1" dirty="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j</a:t>
                </a:r>
                <a:endParaRPr lang="en-US" altLang="zh-CN" sz="1400" dirty="0">
                  <a:solidFill>
                    <a:srgbClr val="C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" name="Line 274"/>
              <p:cNvSpPr>
                <a:spLocks noChangeShapeType="1"/>
              </p:cNvSpPr>
              <p:nvPr/>
            </p:nvSpPr>
            <p:spPr bwMode="auto">
              <a:xfrm flipH="1" flipV="1">
                <a:off x="3552" y="3024"/>
                <a:ext cx="192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6" name="Line 275"/>
              <p:cNvSpPr>
                <a:spLocks noChangeShapeType="1"/>
              </p:cNvSpPr>
              <p:nvPr/>
            </p:nvSpPr>
            <p:spPr bwMode="auto">
              <a:xfrm flipV="1">
                <a:off x="3216" y="3024"/>
                <a:ext cx="192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7" name="Rectangle 276"/>
              <p:cNvSpPr>
                <a:spLocks noChangeArrowheads="1"/>
              </p:cNvSpPr>
              <p:nvPr/>
            </p:nvSpPr>
            <p:spPr bwMode="auto">
              <a:xfrm>
                <a:off x="3216" y="3585"/>
                <a:ext cx="63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 i="1" dirty="0" err="1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1800" i="1" dirty="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, j </a:t>
                </a:r>
                <a:r>
                  <a:rPr lang="en-US" altLang="zh-CN" sz="1800" dirty="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= 1, 2</a:t>
                </a:r>
                <a:endParaRPr lang="en-US" altLang="zh-CN" sz="1800" i="1" dirty="0">
                  <a:solidFill>
                    <a:srgbClr val="C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74" name="Rectangle 197"/>
          <p:cNvSpPr>
            <a:spLocks noChangeArrowheads="1"/>
          </p:cNvSpPr>
          <p:nvPr/>
        </p:nvSpPr>
        <p:spPr bwMode="auto">
          <a:xfrm>
            <a:off x="277813" y="2924175"/>
            <a:ext cx="6873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Coil 2</a:t>
            </a:r>
            <a:endParaRPr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375" name="Rectangle 198"/>
          <p:cNvSpPr>
            <a:spLocks noChangeArrowheads="1"/>
          </p:cNvSpPr>
          <p:nvPr/>
        </p:nvSpPr>
        <p:spPr bwMode="auto">
          <a:xfrm>
            <a:off x="276225" y="5278437"/>
            <a:ext cx="6873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Coil 1</a:t>
            </a:r>
            <a:endParaRPr lang="en-US" altLang="zh-CN" sz="16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922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Mutual Inductance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互感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12</a:t>
            </a:r>
            <a:endParaRPr lang="zh-CN" altLang="en-US" sz="2800" b="1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376" name="Group 175"/>
          <p:cNvGrpSpPr/>
          <p:nvPr/>
        </p:nvGrpSpPr>
        <p:grpSpPr bwMode="auto">
          <a:xfrm>
            <a:off x="161925" y="1828800"/>
            <a:ext cx="8743951" cy="4481514"/>
            <a:chOff x="102" y="1200"/>
            <a:chExt cx="5508" cy="2823"/>
          </a:xfrm>
        </p:grpSpPr>
        <p:grpSp>
          <p:nvGrpSpPr>
            <p:cNvPr id="377" name="Group 159"/>
            <p:cNvGrpSpPr/>
            <p:nvPr/>
          </p:nvGrpSpPr>
          <p:grpSpPr bwMode="auto">
            <a:xfrm>
              <a:off x="567" y="1200"/>
              <a:ext cx="1198" cy="2823"/>
              <a:chOff x="567" y="1200"/>
              <a:chExt cx="1198" cy="2823"/>
            </a:xfrm>
          </p:grpSpPr>
          <p:sp>
            <p:nvSpPr>
              <p:cNvPr id="387" name="Line 122"/>
              <p:cNvSpPr>
                <a:spLocks noChangeAspect="1" noChangeShapeType="1"/>
              </p:cNvSpPr>
              <p:nvPr/>
            </p:nvSpPr>
            <p:spPr bwMode="auto">
              <a:xfrm flipV="1">
                <a:off x="1302" y="1212"/>
                <a:ext cx="0" cy="132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8" name="Line 121"/>
              <p:cNvSpPr>
                <a:spLocks noChangeAspect="1" noChangeShapeType="1"/>
              </p:cNvSpPr>
              <p:nvPr/>
            </p:nvSpPr>
            <p:spPr bwMode="auto">
              <a:xfrm flipV="1">
                <a:off x="1208" y="1212"/>
                <a:ext cx="0" cy="132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" name="Line 123"/>
              <p:cNvSpPr>
                <a:spLocks noChangeAspect="1" noChangeShapeType="1"/>
              </p:cNvSpPr>
              <p:nvPr/>
            </p:nvSpPr>
            <p:spPr bwMode="auto">
              <a:xfrm flipV="1">
                <a:off x="1118" y="1212"/>
                <a:ext cx="0" cy="132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0" name="Line 124"/>
              <p:cNvSpPr>
                <a:spLocks noChangeAspect="1" noChangeShapeType="1"/>
              </p:cNvSpPr>
              <p:nvPr/>
            </p:nvSpPr>
            <p:spPr bwMode="auto">
              <a:xfrm flipV="1">
                <a:off x="1036" y="1207"/>
                <a:ext cx="0" cy="1327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1" name="Line 125"/>
              <p:cNvSpPr>
                <a:spLocks noChangeAspect="1" noChangeShapeType="1"/>
              </p:cNvSpPr>
              <p:nvPr/>
            </p:nvSpPr>
            <p:spPr bwMode="auto">
              <a:xfrm flipV="1">
                <a:off x="957" y="1203"/>
                <a:ext cx="0" cy="1326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2" name="Oval 11"/>
              <p:cNvSpPr>
                <a:spLocks noChangeAspect="1" noChangeArrowheads="1"/>
              </p:cNvSpPr>
              <p:nvPr/>
            </p:nvSpPr>
            <p:spPr bwMode="auto">
              <a:xfrm>
                <a:off x="866" y="1455"/>
                <a:ext cx="574" cy="10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3" name="Oval 12"/>
              <p:cNvSpPr>
                <a:spLocks noChangeAspect="1" noChangeArrowheads="1"/>
              </p:cNvSpPr>
              <p:nvPr/>
            </p:nvSpPr>
            <p:spPr bwMode="auto">
              <a:xfrm>
                <a:off x="866" y="1598"/>
                <a:ext cx="574" cy="10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4" name="Oval 13"/>
              <p:cNvSpPr>
                <a:spLocks noChangeAspect="1" noChangeArrowheads="1"/>
              </p:cNvSpPr>
              <p:nvPr/>
            </p:nvSpPr>
            <p:spPr bwMode="auto">
              <a:xfrm>
                <a:off x="866" y="1737"/>
                <a:ext cx="574" cy="10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5" name="Oval 14"/>
              <p:cNvSpPr>
                <a:spLocks noChangeAspect="1" noChangeArrowheads="1"/>
              </p:cNvSpPr>
              <p:nvPr/>
            </p:nvSpPr>
            <p:spPr bwMode="auto">
              <a:xfrm>
                <a:off x="866" y="1874"/>
                <a:ext cx="574" cy="10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6" name="Oval 15"/>
              <p:cNvSpPr>
                <a:spLocks noChangeAspect="1" noChangeArrowheads="1"/>
              </p:cNvSpPr>
              <p:nvPr/>
            </p:nvSpPr>
            <p:spPr bwMode="auto">
              <a:xfrm>
                <a:off x="866" y="2013"/>
                <a:ext cx="574" cy="10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7" name="Oval 16"/>
              <p:cNvSpPr>
                <a:spLocks noChangeAspect="1" noChangeArrowheads="1"/>
              </p:cNvSpPr>
              <p:nvPr/>
            </p:nvSpPr>
            <p:spPr bwMode="auto">
              <a:xfrm>
                <a:off x="864" y="2149"/>
                <a:ext cx="574" cy="10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8" name="Rectangle 53"/>
              <p:cNvSpPr>
                <a:spLocks noChangeArrowheads="1"/>
              </p:cNvSpPr>
              <p:nvPr/>
            </p:nvSpPr>
            <p:spPr bwMode="auto">
              <a:xfrm>
                <a:off x="1488" y="1776"/>
                <a:ext cx="27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1600" baseline="-2500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1600" i="1">
                    <a:latin typeface="Times New Roman" panose="02020603050405020304" pitchFamily="18" charset="0"/>
                  </a:rPr>
                  <a:t> </a:t>
                </a:r>
                <a:endParaRPr lang="en-US" altLang="zh-CN" sz="16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" name="Rectangle 54"/>
              <p:cNvSpPr>
                <a:spLocks noChangeArrowheads="1"/>
              </p:cNvSpPr>
              <p:nvPr/>
            </p:nvSpPr>
            <p:spPr bwMode="auto">
              <a:xfrm>
                <a:off x="1002" y="2106"/>
                <a:ext cx="19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200" i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1200" baseline="-25000">
                    <a:latin typeface="Times New Roman" panose="02020603050405020304" pitchFamily="18" charset="0"/>
                  </a:rPr>
                  <a:t>2</a:t>
                </a:r>
                <a:endParaRPr lang="en-US" altLang="zh-CN" sz="12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" name="Rectangle 55"/>
              <p:cNvSpPr>
                <a:spLocks noChangeArrowheads="1"/>
              </p:cNvSpPr>
              <p:nvPr/>
            </p:nvSpPr>
            <p:spPr bwMode="auto">
              <a:xfrm>
                <a:off x="1404" y="2103"/>
                <a:ext cx="35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i="1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1400" baseline="-25000">
                    <a:latin typeface="Times New Roman" panose="02020603050405020304" pitchFamily="18" charset="0"/>
                  </a:rPr>
                  <a:t>2 </a:t>
                </a:r>
                <a:r>
                  <a:rPr lang="en-US" altLang="zh-CN" sz="1400">
                    <a:latin typeface="Times New Roman" panose="02020603050405020304" pitchFamily="18" charset="0"/>
                  </a:rPr>
                  <a:t>= 0</a:t>
                </a:r>
                <a:endParaRPr lang="en-US" altLang="zh-CN" sz="1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1" name="Line 57"/>
              <p:cNvSpPr>
                <a:spLocks noChangeAspect="1" noChangeShapeType="1"/>
              </p:cNvSpPr>
              <p:nvPr/>
            </p:nvSpPr>
            <p:spPr bwMode="auto">
              <a:xfrm>
                <a:off x="583" y="1505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2" name="Line 58"/>
              <p:cNvSpPr>
                <a:spLocks noChangeAspect="1" noChangeShapeType="1"/>
              </p:cNvSpPr>
              <p:nvPr/>
            </p:nvSpPr>
            <p:spPr bwMode="auto">
              <a:xfrm>
                <a:off x="583" y="2205"/>
                <a:ext cx="24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3" name="Rectangle 59"/>
              <p:cNvSpPr>
                <a:spLocks noChangeAspect="1" noChangeArrowheads="1"/>
              </p:cNvSpPr>
              <p:nvPr/>
            </p:nvSpPr>
            <p:spPr bwMode="auto">
              <a:xfrm>
                <a:off x="636" y="1759"/>
                <a:ext cx="20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i="1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1400" baseline="-25000">
                    <a:latin typeface="Times New Roman" panose="02020603050405020304" pitchFamily="18" charset="0"/>
                  </a:rPr>
                  <a:t>2</a:t>
                </a:r>
                <a:endParaRPr lang="en-US" altLang="zh-CN" sz="1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4" name="Line 60"/>
              <p:cNvSpPr>
                <a:spLocks noChangeAspect="1" noChangeShapeType="1"/>
              </p:cNvSpPr>
              <p:nvPr/>
            </p:nvSpPr>
            <p:spPr bwMode="auto">
              <a:xfrm flipV="1">
                <a:off x="729" y="1503"/>
                <a:ext cx="0" cy="2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" name="Line 61"/>
              <p:cNvSpPr>
                <a:spLocks noChangeAspect="1" noChangeShapeType="1"/>
              </p:cNvSpPr>
              <p:nvPr/>
            </p:nvSpPr>
            <p:spPr bwMode="auto">
              <a:xfrm>
                <a:off x="729" y="1953"/>
                <a:ext cx="0" cy="2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6" name="Line 64"/>
              <p:cNvSpPr>
                <a:spLocks noChangeAspect="1" noChangeShapeType="1"/>
              </p:cNvSpPr>
              <p:nvPr/>
            </p:nvSpPr>
            <p:spPr bwMode="auto">
              <a:xfrm flipV="1">
                <a:off x="1209" y="2525"/>
                <a:ext cx="0" cy="1498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7" name="Line 65"/>
              <p:cNvSpPr>
                <a:spLocks noChangeAspect="1" noChangeShapeType="1"/>
              </p:cNvSpPr>
              <p:nvPr/>
            </p:nvSpPr>
            <p:spPr bwMode="auto">
              <a:xfrm flipV="1">
                <a:off x="1303" y="2528"/>
                <a:ext cx="0" cy="1495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8" name="Line 66"/>
              <p:cNvSpPr>
                <a:spLocks noChangeAspect="1" noChangeShapeType="1"/>
              </p:cNvSpPr>
              <p:nvPr/>
            </p:nvSpPr>
            <p:spPr bwMode="auto">
              <a:xfrm flipV="1">
                <a:off x="1119" y="2522"/>
                <a:ext cx="0" cy="150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" name="Line 67"/>
              <p:cNvSpPr>
                <a:spLocks noChangeAspect="1" noChangeShapeType="1"/>
              </p:cNvSpPr>
              <p:nvPr/>
            </p:nvSpPr>
            <p:spPr bwMode="auto">
              <a:xfrm flipV="1">
                <a:off x="1037" y="2527"/>
                <a:ext cx="0" cy="149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" name="Line 68"/>
              <p:cNvSpPr>
                <a:spLocks noChangeAspect="1" noChangeShapeType="1"/>
              </p:cNvSpPr>
              <p:nvPr/>
            </p:nvSpPr>
            <p:spPr bwMode="auto">
              <a:xfrm flipV="1">
                <a:off x="955" y="2516"/>
                <a:ext cx="0" cy="1498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11" name="Group 69"/>
              <p:cNvGrpSpPr>
                <a:grpSpLocks noChangeAspect="1"/>
              </p:cNvGrpSpPr>
              <p:nvPr/>
            </p:nvGrpSpPr>
            <p:grpSpPr bwMode="auto">
              <a:xfrm>
                <a:off x="846" y="2943"/>
                <a:ext cx="576" cy="802"/>
                <a:chOff x="522" y="2016"/>
                <a:chExt cx="771" cy="1074"/>
              </a:xfrm>
            </p:grpSpPr>
            <p:sp>
              <p:nvSpPr>
                <p:cNvPr id="482" name="Oval 70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016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3" name="Oval 71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208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4" name="Oval 72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394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5" name="Oval 73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577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6" name="Oval 74"/>
                <p:cNvSpPr>
                  <a:spLocks noChangeAspect="1" noChangeArrowheads="1"/>
                </p:cNvSpPr>
                <p:nvPr/>
              </p:nvSpPr>
              <p:spPr bwMode="auto">
                <a:xfrm>
                  <a:off x="525" y="2763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7" name="Oval 75"/>
                <p:cNvSpPr>
                  <a:spLocks noChangeAspect="1" noChangeArrowheads="1"/>
                </p:cNvSpPr>
                <p:nvPr/>
              </p:nvSpPr>
              <p:spPr bwMode="auto">
                <a:xfrm>
                  <a:off x="522" y="2946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8" name="Line 76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35" y="3072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9" name="Line 77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38" y="2892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90" name="Line 78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35" y="2706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91" name="Line 79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41" y="2520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92" name="Line 80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41" y="2334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93" name="Line 81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041" y="2145"/>
                  <a:ext cx="123" cy="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12" name="Line 82"/>
              <p:cNvSpPr>
                <a:spLocks noChangeAspect="1" noChangeShapeType="1"/>
              </p:cNvSpPr>
              <p:nvPr/>
            </p:nvSpPr>
            <p:spPr bwMode="auto">
              <a:xfrm>
                <a:off x="955" y="291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3" name="Line 83"/>
              <p:cNvSpPr>
                <a:spLocks noChangeAspect="1" noChangeShapeType="1"/>
              </p:cNvSpPr>
              <p:nvPr/>
            </p:nvSpPr>
            <p:spPr bwMode="auto">
              <a:xfrm>
                <a:off x="955" y="306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4" name="Line 84"/>
              <p:cNvSpPr>
                <a:spLocks noChangeAspect="1" noChangeShapeType="1"/>
              </p:cNvSpPr>
              <p:nvPr/>
            </p:nvSpPr>
            <p:spPr bwMode="auto">
              <a:xfrm>
                <a:off x="955" y="320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5" name="Line 85"/>
              <p:cNvSpPr>
                <a:spLocks noChangeAspect="1" noChangeShapeType="1"/>
              </p:cNvSpPr>
              <p:nvPr/>
            </p:nvSpPr>
            <p:spPr bwMode="auto">
              <a:xfrm>
                <a:off x="955" y="3342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6" name="Line 86"/>
              <p:cNvSpPr>
                <a:spLocks noChangeAspect="1" noChangeShapeType="1"/>
              </p:cNvSpPr>
              <p:nvPr/>
            </p:nvSpPr>
            <p:spPr bwMode="auto">
              <a:xfrm>
                <a:off x="955" y="348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7" name="Line 87"/>
              <p:cNvSpPr>
                <a:spLocks noChangeAspect="1" noChangeShapeType="1"/>
              </p:cNvSpPr>
              <p:nvPr/>
            </p:nvSpPr>
            <p:spPr bwMode="auto">
              <a:xfrm>
                <a:off x="955" y="361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8" name="Line 88"/>
              <p:cNvSpPr>
                <a:spLocks noChangeAspect="1" noChangeShapeType="1"/>
              </p:cNvSpPr>
              <p:nvPr/>
            </p:nvSpPr>
            <p:spPr bwMode="auto">
              <a:xfrm>
                <a:off x="1037" y="294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9" name="Line 89"/>
              <p:cNvSpPr>
                <a:spLocks noChangeAspect="1" noChangeShapeType="1"/>
              </p:cNvSpPr>
              <p:nvPr/>
            </p:nvSpPr>
            <p:spPr bwMode="auto">
              <a:xfrm>
                <a:off x="1037" y="3087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" name="Line 90"/>
              <p:cNvSpPr>
                <a:spLocks noChangeAspect="1" noChangeShapeType="1"/>
              </p:cNvSpPr>
              <p:nvPr/>
            </p:nvSpPr>
            <p:spPr bwMode="auto">
              <a:xfrm>
                <a:off x="1037" y="3232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1" name="Line 91"/>
              <p:cNvSpPr>
                <a:spLocks noChangeAspect="1" noChangeShapeType="1"/>
              </p:cNvSpPr>
              <p:nvPr/>
            </p:nvSpPr>
            <p:spPr bwMode="auto">
              <a:xfrm>
                <a:off x="1037" y="336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2" name="Line 92"/>
              <p:cNvSpPr>
                <a:spLocks noChangeAspect="1" noChangeShapeType="1"/>
              </p:cNvSpPr>
              <p:nvPr/>
            </p:nvSpPr>
            <p:spPr bwMode="auto">
              <a:xfrm>
                <a:off x="1037" y="3506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3" name="Line 93"/>
              <p:cNvSpPr>
                <a:spLocks noChangeAspect="1" noChangeShapeType="1"/>
              </p:cNvSpPr>
              <p:nvPr/>
            </p:nvSpPr>
            <p:spPr bwMode="auto">
              <a:xfrm>
                <a:off x="1037" y="363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4" name="Line 94"/>
              <p:cNvSpPr>
                <a:spLocks noChangeAspect="1" noChangeShapeType="1"/>
              </p:cNvSpPr>
              <p:nvPr/>
            </p:nvSpPr>
            <p:spPr bwMode="auto">
              <a:xfrm>
                <a:off x="1119" y="291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5" name="Line 95"/>
              <p:cNvSpPr>
                <a:spLocks noChangeAspect="1" noChangeShapeType="1"/>
              </p:cNvSpPr>
              <p:nvPr/>
            </p:nvSpPr>
            <p:spPr bwMode="auto">
              <a:xfrm>
                <a:off x="1119" y="307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6" name="Line 96"/>
              <p:cNvSpPr>
                <a:spLocks noChangeAspect="1" noChangeShapeType="1"/>
              </p:cNvSpPr>
              <p:nvPr/>
            </p:nvSpPr>
            <p:spPr bwMode="auto">
              <a:xfrm>
                <a:off x="1119" y="320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7" name="Line 97"/>
              <p:cNvSpPr>
                <a:spLocks noChangeAspect="1" noChangeShapeType="1"/>
              </p:cNvSpPr>
              <p:nvPr/>
            </p:nvSpPr>
            <p:spPr bwMode="auto">
              <a:xfrm>
                <a:off x="1119" y="3342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8" name="Line 98"/>
              <p:cNvSpPr>
                <a:spLocks noChangeAspect="1" noChangeShapeType="1"/>
              </p:cNvSpPr>
              <p:nvPr/>
            </p:nvSpPr>
            <p:spPr bwMode="auto">
              <a:xfrm>
                <a:off x="1119" y="348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9" name="Line 99"/>
              <p:cNvSpPr>
                <a:spLocks noChangeAspect="1" noChangeShapeType="1"/>
              </p:cNvSpPr>
              <p:nvPr/>
            </p:nvSpPr>
            <p:spPr bwMode="auto">
              <a:xfrm>
                <a:off x="1119" y="361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" name="Line 100"/>
              <p:cNvSpPr>
                <a:spLocks noChangeAspect="1" noChangeShapeType="1"/>
              </p:cNvSpPr>
              <p:nvPr/>
            </p:nvSpPr>
            <p:spPr bwMode="auto">
              <a:xfrm>
                <a:off x="1303" y="292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" name="Line 101"/>
              <p:cNvSpPr>
                <a:spLocks noChangeAspect="1" noChangeShapeType="1"/>
              </p:cNvSpPr>
              <p:nvPr/>
            </p:nvSpPr>
            <p:spPr bwMode="auto">
              <a:xfrm>
                <a:off x="1303" y="3082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2" name="Line 102"/>
              <p:cNvSpPr>
                <a:spLocks noChangeAspect="1" noChangeShapeType="1"/>
              </p:cNvSpPr>
              <p:nvPr/>
            </p:nvSpPr>
            <p:spPr bwMode="auto">
              <a:xfrm>
                <a:off x="1303" y="320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3" name="Line 103"/>
              <p:cNvSpPr>
                <a:spLocks noChangeAspect="1" noChangeShapeType="1"/>
              </p:cNvSpPr>
              <p:nvPr/>
            </p:nvSpPr>
            <p:spPr bwMode="auto">
              <a:xfrm>
                <a:off x="1303" y="3340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4" name="Line 104"/>
              <p:cNvSpPr>
                <a:spLocks noChangeAspect="1" noChangeShapeType="1"/>
              </p:cNvSpPr>
              <p:nvPr/>
            </p:nvSpPr>
            <p:spPr bwMode="auto">
              <a:xfrm>
                <a:off x="1303" y="348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5" name="Line 105"/>
              <p:cNvSpPr>
                <a:spLocks noChangeAspect="1" noChangeShapeType="1"/>
              </p:cNvSpPr>
              <p:nvPr/>
            </p:nvSpPr>
            <p:spPr bwMode="auto">
              <a:xfrm>
                <a:off x="1303" y="3618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6" name="Line 106"/>
              <p:cNvSpPr>
                <a:spLocks noChangeAspect="1" noChangeShapeType="1"/>
              </p:cNvSpPr>
              <p:nvPr/>
            </p:nvSpPr>
            <p:spPr bwMode="auto">
              <a:xfrm>
                <a:off x="1209" y="294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7" name="Line 107"/>
              <p:cNvSpPr>
                <a:spLocks noChangeAspect="1" noChangeShapeType="1"/>
              </p:cNvSpPr>
              <p:nvPr/>
            </p:nvSpPr>
            <p:spPr bwMode="auto">
              <a:xfrm>
                <a:off x="1209" y="309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8" name="Line 108"/>
              <p:cNvSpPr>
                <a:spLocks noChangeAspect="1" noChangeShapeType="1"/>
              </p:cNvSpPr>
              <p:nvPr/>
            </p:nvSpPr>
            <p:spPr bwMode="auto">
              <a:xfrm>
                <a:off x="1209" y="3230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9" name="Line 109"/>
              <p:cNvSpPr>
                <a:spLocks noChangeAspect="1" noChangeShapeType="1"/>
              </p:cNvSpPr>
              <p:nvPr/>
            </p:nvSpPr>
            <p:spPr bwMode="auto">
              <a:xfrm>
                <a:off x="1209" y="3358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" name="Line 110"/>
              <p:cNvSpPr>
                <a:spLocks noChangeAspect="1" noChangeShapeType="1"/>
              </p:cNvSpPr>
              <p:nvPr/>
            </p:nvSpPr>
            <p:spPr bwMode="auto">
              <a:xfrm>
                <a:off x="1209" y="3499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" name="Line 111"/>
              <p:cNvSpPr>
                <a:spLocks noChangeAspect="1" noChangeShapeType="1"/>
              </p:cNvSpPr>
              <p:nvPr/>
            </p:nvSpPr>
            <p:spPr bwMode="auto">
              <a:xfrm>
                <a:off x="1209" y="363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2" name="Rectangle 112"/>
              <p:cNvSpPr>
                <a:spLocks noChangeArrowheads="1"/>
              </p:cNvSpPr>
              <p:nvPr/>
            </p:nvSpPr>
            <p:spPr bwMode="auto">
              <a:xfrm>
                <a:off x="1470" y="3292"/>
                <a:ext cx="27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1600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1600" i="1">
                    <a:latin typeface="Times New Roman" panose="02020603050405020304" pitchFamily="18" charset="0"/>
                  </a:rPr>
                  <a:t> </a:t>
                </a:r>
                <a:endParaRPr lang="en-US" altLang="zh-CN" sz="16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3" name="Rectangle 113"/>
              <p:cNvSpPr>
                <a:spLocks noChangeArrowheads="1"/>
              </p:cNvSpPr>
              <p:nvPr/>
            </p:nvSpPr>
            <p:spPr bwMode="auto">
              <a:xfrm>
                <a:off x="978" y="3597"/>
                <a:ext cx="19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200" i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1200" baseline="-25000">
                    <a:latin typeface="Times New Roman" panose="02020603050405020304" pitchFamily="18" charset="0"/>
                  </a:rPr>
                  <a:t>1</a:t>
                </a:r>
                <a:endParaRPr lang="en-US" altLang="zh-CN" sz="12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4" name="Rectangle 114"/>
              <p:cNvSpPr>
                <a:spLocks noChangeArrowheads="1"/>
              </p:cNvSpPr>
              <p:nvPr/>
            </p:nvSpPr>
            <p:spPr bwMode="auto">
              <a:xfrm>
                <a:off x="1380" y="3600"/>
                <a:ext cx="18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i="1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1400" baseline="-25000">
                    <a:latin typeface="Times New Roman" panose="02020603050405020304" pitchFamily="18" charset="0"/>
                  </a:rPr>
                  <a:t>1</a:t>
                </a:r>
                <a:endParaRPr lang="en-US" altLang="zh-CN" sz="1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5" name="Rectangle 115"/>
              <p:cNvSpPr>
                <a:spLocks noChangeArrowheads="1"/>
              </p:cNvSpPr>
              <p:nvPr/>
            </p:nvSpPr>
            <p:spPr bwMode="auto">
              <a:xfrm>
                <a:off x="708" y="2724"/>
                <a:ext cx="26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b="1">
                    <a:solidFill>
                      <a:srgbClr val="CC006B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400" baseline="-25000">
                    <a:solidFill>
                      <a:srgbClr val="CC006B"/>
                    </a:solidFill>
                    <a:latin typeface="Times New Roman" panose="02020603050405020304" pitchFamily="18" charset="0"/>
                  </a:rPr>
                  <a:t>11</a:t>
                </a:r>
                <a:endParaRPr lang="en-US" altLang="zh-CN" sz="1400" b="1">
                  <a:solidFill>
                    <a:srgbClr val="CC006B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6" name="Line 116"/>
              <p:cNvSpPr>
                <a:spLocks noChangeAspect="1" noChangeShapeType="1"/>
              </p:cNvSpPr>
              <p:nvPr/>
            </p:nvSpPr>
            <p:spPr bwMode="auto">
              <a:xfrm>
                <a:off x="567" y="299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7" name="Line 117"/>
              <p:cNvSpPr>
                <a:spLocks noChangeAspect="1" noChangeShapeType="1"/>
              </p:cNvSpPr>
              <p:nvPr/>
            </p:nvSpPr>
            <p:spPr bwMode="auto">
              <a:xfrm>
                <a:off x="567" y="3696"/>
                <a:ext cx="24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8" name="Rectangle 118"/>
              <p:cNvSpPr>
                <a:spLocks noChangeAspect="1" noChangeArrowheads="1"/>
              </p:cNvSpPr>
              <p:nvPr/>
            </p:nvSpPr>
            <p:spPr bwMode="auto">
              <a:xfrm>
                <a:off x="620" y="3235"/>
                <a:ext cx="20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i="1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1400" baseline="-25000">
                    <a:latin typeface="Times New Roman" panose="02020603050405020304" pitchFamily="18" charset="0"/>
                  </a:rPr>
                  <a:t>1</a:t>
                </a:r>
                <a:endParaRPr lang="en-US" altLang="zh-CN" sz="1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9" name="Line 119"/>
              <p:cNvSpPr>
                <a:spLocks noChangeAspect="1" noChangeShapeType="1"/>
              </p:cNvSpPr>
              <p:nvPr/>
            </p:nvSpPr>
            <p:spPr bwMode="auto">
              <a:xfrm flipV="1">
                <a:off x="713" y="2994"/>
                <a:ext cx="0" cy="2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" name="Line 120"/>
              <p:cNvSpPr>
                <a:spLocks noChangeAspect="1" noChangeShapeType="1"/>
              </p:cNvSpPr>
              <p:nvPr/>
            </p:nvSpPr>
            <p:spPr bwMode="auto">
              <a:xfrm>
                <a:off x="713" y="3444"/>
                <a:ext cx="0" cy="2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1" name="Line 126"/>
              <p:cNvSpPr>
                <a:spLocks noChangeAspect="1" noChangeShapeType="1"/>
              </p:cNvSpPr>
              <p:nvPr/>
            </p:nvSpPr>
            <p:spPr bwMode="auto">
              <a:xfrm>
                <a:off x="957" y="143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2" name="Line 127"/>
              <p:cNvSpPr>
                <a:spLocks noChangeAspect="1" noChangeShapeType="1"/>
              </p:cNvSpPr>
              <p:nvPr/>
            </p:nvSpPr>
            <p:spPr bwMode="auto">
              <a:xfrm>
                <a:off x="957" y="1579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3" name="Line 128"/>
              <p:cNvSpPr>
                <a:spLocks noChangeAspect="1" noChangeShapeType="1"/>
              </p:cNvSpPr>
              <p:nvPr/>
            </p:nvSpPr>
            <p:spPr bwMode="auto">
              <a:xfrm>
                <a:off x="957" y="1718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4" name="Line 129"/>
              <p:cNvSpPr>
                <a:spLocks noChangeAspect="1" noChangeShapeType="1"/>
              </p:cNvSpPr>
              <p:nvPr/>
            </p:nvSpPr>
            <p:spPr bwMode="auto">
              <a:xfrm>
                <a:off x="957" y="1857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5" name="Line 130"/>
              <p:cNvSpPr>
                <a:spLocks noChangeAspect="1" noChangeShapeType="1"/>
              </p:cNvSpPr>
              <p:nvPr/>
            </p:nvSpPr>
            <p:spPr bwMode="auto">
              <a:xfrm>
                <a:off x="957" y="199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6" name="Line 131"/>
              <p:cNvSpPr>
                <a:spLocks noChangeAspect="1" noChangeShapeType="1"/>
              </p:cNvSpPr>
              <p:nvPr/>
            </p:nvSpPr>
            <p:spPr bwMode="auto">
              <a:xfrm>
                <a:off x="957" y="2130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7" name="Line 132"/>
              <p:cNvSpPr>
                <a:spLocks noChangeAspect="1" noChangeShapeType="1"/>
              </p:cNvSpPr>
              <p:nvPr/>
            </p:nvSpPr>
            <p:spPr bwMode="auto">
              <a:xfrm>
                <a:off x="1036" y="145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8" name="Line 133"/>
              <p:cNvSpPr>
                <a:spLocks noChangeAspect="1" noChangeShapeType="1"/>
              </p:cNvSpPr>
              <p:nvPr/>
            </p:nvSpPr>
            <p:spPr bwMode="auto">
              <a:xfrm>
                <a:off x="1036" y="1602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9" name="Line 134"/>
              <p:cNvSpPr>
                <a:spLocks noChangeAspect="1" noChangeShapeType="1"/>
              </p:cNvSpPr>
              <p:nvPr/>
            </p:nvSpPr>
            <p:spPr bwMode="auto">
              <a:xfrm>
                <a:off x="1036" y="1747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0" name="Line 135"/>
              <p:cNvSpPr>
                <a:spLocks noChangeAspect="1" noChangeShapeType="1"/>
              </p:cNvSpPr>
              <p:nvPr/>
            </p:nvSpPr>
            <p:spPr bwMode="auto">
              <a:xfrm>
                <a:off x="1036" y="1879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" name="Line 136"/>
              <p:cNvSpPr>
                <a:spLocks noChangeAspect="1" noChangeShapeType="1"/>
              </p:cNvSpPr>
              <p:nvPr/>
            </p:nvSpPr>
            <p:spPr bwMode="auto">
              <a:xfrm>
                <a:off x="1036" y="2021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" name="Line 137"/>
              <p:cNvSpPr>
                <a:spLocks noChangeAspect="1" noChangeShapeType="1"/>
              </p:cNvSpPr>
              <p:nvPr/>
            </p:nvSpPr>
            <p:spPr bwMode="auto">
              <a:xfrm>
                <a:off x="1036" y="2150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3" name="Line 138"/>
              <p:cNvSpPr>
                <a:spLocks noChangeAspect="1" noChangeShapeType="1"/>
              </p:cNvSpPr>
              <p:nvPr/>
            </p:nvSpPr>
            <p:spPr bwMode="auto">
              <a:xfrm>
                <a:off x="1118" y="1429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4" name="Line 139"/>
              <p:cNvSpPr>
                <a:spLocks noChangeAspect="1" noChangeShapeType="1"/>
              </p:cNvSpPr>
              <p:nvPr/>
            </p:nvSpPr>
            <p:spPr bwMode="auto">
              <a:xfrm>
                <a:off x="1118" y="1588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5" name="Line 140"/>
              <p:cNvSpPr>
                <a:spLocks noChangeAspect="1" noChangeShapeType="1"/>
              </p:cNvSpPr>
              <p:nvPr/>
            </p:nvSpPr>
            <p:spPr bwMode="auto">
              <a:xfrm>
                <a:off x="1118" y="1720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6" name="Line 141"/>
              <p:cNvSpPr>
                <a:spLocks noChangeAspect="1" noChangeShapeType="1"/>
              </p:cNvSpPr>
              <p:nvPr/>
            </p:nvSpPr>
            <p:spPr bwMode="auto">
              <a:xfrm>
                <a:off x="1118" y="1857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7" name="Line 142"/>
              <p:cNvSpPr>
                <a:spLocks noChangeAspect="1" noChangeShapeType="1"/>
              </p:cNvSpPr>
              <p:nvPr/>
            </p:nvSpPr>
            <p:spPr bwMode="auto">
              <a:xfrm>
                <a:off x="1118" y="1998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8" name="Line 143"/>
              <p:cNvSpPr>
                <a:spLocks noChangeAspect="1" noChangeShapeType="1"/>
              </p:cNvSpPr>
              <p:nvPr/>
            </p:nvSpPr>
            <p:spPr bwMode="auto">
              <a:xfrm>
                <a:off x="1118" y="2130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9" name="Line 144"/>
              <p:cNvSpPr>
                <a:spLocks noChangeAspect="1" noChangeShapeType="1"/>
              </p:cNvSpPr>
              <p:nvPr/>
            </p:nvSpPr>
            <p:spPr bwMode="auto">
              <a:xfrm>
                <a:off x="1302" y="143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0" name="Line 145"/>
              <p:cNvSpPr>
                <a:spLocks noChangeAspect="1" noChangeShapeType="1"/>
              </p:cNvSpPr>
              <p:nvPr/>
            </p:nvSpPr>
            <p:spPr bwMode="auto">
              <a:xfrm>
                <a:off x="1302" y="1597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" name="Line 146"/>
              <p:cNvSpPr>
                <a:spLocks noChangeAspect="1" noChangeShapeType="1"/>
              </p:cNvSpPr>
              <p:nvPr/>
            </p:nvSpPr>
            <p:spPr bwMode="auto">
              <a:xfrm>
                <a:off x="1302" y="171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" name="Line 147"/>
              <p:cNvSpPr>
                <a:spLocks noChangeAspect="1" noChangeShapeType="1"/>
              </p:cNvSpPr>
              <p:nvPr/>
            </p:nvSpPr>
            <p:spPr bwMode="auto">
              <a:xfrm>
                <a:off x="1302" y="1855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3" name="Line 148"/>
              <p:cNvSpPr>
                <a:spLocks noChangeAspect="1" noChangeShapeType="1"/>
              </p:cNvSpPr>
              <p:nvPr/>
            </p:nvSpPr>
            <p:spPr bwMode="auto">
              <a:xfrm>
                <a:off x="1302" y="199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4" name="Line 149"/>
              <p:cNvSpPr>
                <a:spLocks noChangeAspect="1" noChangeShapeType="1"/>
              </p:cNvSpPr>
              <p:nvPr/>
            </p:nvSpPr>
            <p:spPr bwMode="auto">
              <a:xfrm>
                <a:off x="1302" y="2133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5" name="Line 150"/>
              <p:cNvSpPr>
                <a:spLocks noChangeAspect="1" noChangeShapeType="1"/>
              </p:cNvSpPr>
              <p:nvPr/>
            </p:nvSpPr>
            <p:spPr bwMode="auto">
              <a:xfrm>
                <a:off x="1208" y="145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6" name="Line 151"/>
              <p:cNvSpPr>
                <a:spLocks noChangeAspect="1" noChangeShapeType="1"/>
              </p:cNvSpPr>
              <p:nvPr/>
            </p:nvSpPr>
            <p:spPr bwMode="auto">
              <a:xfrm>
                <a:off x="1208" y="160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7" name="Line 152"/>
              <p:cNvSpPr>
                <a:spLocks noChangeAspect="1" noChangeShapeType="1"/>
              </p:cNvSpPr>
              <p:nvPr/>
            </p:nvSpPr>
            <p:spPr bwMode="auto">
              <a:xfrm>
                <a:off x="1208" y="174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8" name="Line 153"/>
              <p:cNvSpPr>
                <a:spLocks noChangeAspect="1" noChangeShapeType="1"/>
              </p:cNvSpPr>
              <p:nvPr/>
            </p:nvSpPr>
            <p:spPr bwMode="auto">
              <a:xfrm>
                <a:off x="1208" y="1873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9" name="Line 154"/>
              <p:cNvSpPr>
                <a:spLocks noChangeAspect="1" noChangeShapeType="1"/>
              </p:cNvSpPr>
              <p:nvPr/>
            </p:nvSpPr>
            <p:spPr bwMode="auto">
              <a:xfrm>
                <a:off x="1208" y="201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0" name="Line 155"/>
              <p:cNvSpPr>
                <a:spLocks noChangeAspect="1" noChangeShapeType="1"/>
              </p:cNvSpPr>
              <p:nvPr/>
            </p:nvSpPr>
            <p:spPr bwMode="auto">
              <a:xfrm>
                <a:off x="1208" y="214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" name="Rectangle 157"/>
              <p:cNvSpPr>
                <a:spLocks noChangeArrowheads="1"/>
              </p:cNvSpPr>
              <p:nvPr/>
            </p:nvSpPr>
            <p:spPr bwMode="auto">
              <a:xfrm>
                <a:off x="697" y="1200"/>
                <a:ext cx="26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b="1">
                    <a:solidFill>
                      <a:srgbClr val="CC006B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400" baseline="-25000">
                    <a:solidFill>
                      <a:srgbClr val="CC006B"/>
                    </a:solidFill>
                    <a:latin typeface="Times New Roman" panose="02020603050405020304" pitchFamily="18" charset="0"/>
                  </a:rPr>
                  <a:t>12</a:t>
                </a:r>
                <a:endParaRPr lang="en-US" altLang="zh-CN" sz="1400" b="1">
                  <a:solidFill>
                    <a:srgbClr val="CC006B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78" name="Rectangle 160"/>
            <p:cNvSpPr>
              <a:spLocks noChangeArrowheads="1"/>
            </p:cNvSpPr>
            <p:nvPr/>
          </p:nvSpPr>
          <p:spPr bwMode="auto">
            <a:xfrm>
              <a:off x="1780" y="1209"/>
              <a:ext cx="383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In this case, </a:t>
              </a: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current in Coil 2 is turned off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, leaving only the flux density</a:t>
              </a:r>
              <a:endParaRPr lang="en-US" altLang="zh-CN" sz="16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generated by Coil 1, 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12 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, existing within Coil 2.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379" name="Rectangle 161"/>
            <p:cNvSpPr>
              <a:spLocks noChangeArrowheads="1"/>
            </p:cNvSpPr>
            <p:nvPr/>
          </p:nvSpPr>
          <p:spPr bwMode="auto">
            <a:xfrm>
              <a:off x="102" y="3243"/>
              <a:ext cx="39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</a:rPr>
                <a:t>Coil 1</a:t>
              </a:r>
              <a:endParaRPr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380" name="Rectangle 162"/>
            <p:cNvSpPr>
              <a:spLocks noChangeArrowheads="1"/>
            </p:cNvSpPr>
            <p:nvPr/>
          </p:nvSpPr>
          <p:spPr bwMode="auto">
            <a:xfrm>
              <a:off x="105" y="1773"/>
              <a:ext cx="39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Coil 2</a:t>
              </a:r>
              <a:endParaRPr lang="en-US" altLang="zh-CN" sz="1400" dirty="0">
                <a:latin typeface="Times New Roman" panose="02020603050405020304" pitchFamily="18" charset="0"/>
              </a:endParaRPr>
            </a:p>
          </p:txBody>
        </p:sp>
        <p:pic>
          <p:nvPicPr>
            <p:cNvPr id="381" name="Picture 16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6" y="2115"/>
              <a:ext cx="2511" cy="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82" name="Rectangle 164"/>
            <p:cNvSpPr>
              <a:spLocks noChangeArrowheads="1"/>
            </p:cNvSpPr>
            <p:nvPr/>
          </p:nvSpPr>
          <p:spPr bwMode="auto">
            <a:xfrm>
              <a:off x="1872" y="1741"/>
              <a:ext cx="323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The </a:t>
              </a:r>
              <a:r>
                <a:rPr lang="en-US" altLang="zh-CN" sz="1600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mutual linkage 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between Coils 1 and 2 is found through: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383" name="Rectangle 165"/>
            <p:cNvSpPr>
              <a:spLocks noChangeArrowheads="1"/>
            </p:cNvSpPr>
            <p:nvPr/>
          </p:nvSpPr>
          <p:spPr bwMode="auto">
            <a:xfrm>
              <a:off x="1876" y="2640"/>
              <a:ext cx="354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… and </a:t>
              </a: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the </a:t>
              </a:r>
              <a:r>
                <a:rPr lang="en-US" altLang="zh-CN" sz="1600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mutual inductance </a:t>
              </a: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between Coils 1 and 2 is defined as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: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384" name="Rectangle 167"/>
            <p:cNvSpPr>
              <a:spLocks noChangeArrowheads="1"/>
            </p:cNvSpPr>
            <p:nvPr/>
          </p:nvSpPr>
          <p:spPr bwMode="auto">
            <a:xfrm>
              <a:off x="2965" y="2950"/>
              <a:ext cx="960" cy="528"/>
            </a:xfrm>
            <a:prstGeom prst="rect">
              <a:avLst/>
            </a:prstGeom>
            <a:noFill/>
            <a:ln w="9525">
              <a:solidFill>
                <a:srgbClr val="CC006B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pic>
          <p:nvPicPr>
            <p:cNvPr id="386" name="Picture 17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3" y="2998"/>
              <a:ext cx="846" cy="4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922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Mutual Inductance, </a:t>
            </a:r>
            <a:r>
              <a:rPr lang="en-US" altLang="zh-CN" sz="28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21</a:t>
            </a:r>
            <a:endParaRPr lang="zh-CN" altLang="en-US" sz="2800" b="1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24" name="Group 125"/>
          <p:cNvGrpSpPr/>
          <p:nvPr/>
        </p:nvGrpSpPr>
        <p:grpSpPr bwMode="auto">
          <a:xfrm>
            <a:off x="161925" y="1854200"/>
            <a:ext cx="8864601" cy="4532313"/>
            <a:chOff x="102" y="1168"/>
            <a:chExt cx="5584" cy="2855"/>
          </a:xfrm>
        </p:grpSpPr>
        <p:grpSp>
          <p:nvGrpSpPr>
            <p:cNvPr id="125" name="Group 114"/>
            <p:cNvGrpSpPr/>
            <p:nvPr/>
          </p:nvGrpSpPr>
          <p:grpSpPr bwMode="auto">
            <a:xfrm>
              <a:off x="567" y="1200"/>
              <a:ext cx="1198" cy="2823"/>
              <a:chOff x="567" y="1200"/>
              <a:chExt cx="1198" cy="2823"/>
            </a:xfrm>
          </p:grpSpPr>
          <p:sp>
            <p:nvSpPr>
              <p:cNvPr id="135" name="Line 4"/>
              <p:cNvSpPr>
                <a:spLocks noChangeAspect="1" noChangeShapeType="1"/>
              </p:cNvSpPr>
              <p:nvPr/>
            </p:nvSpPr>
            <p:spPr bwMode="auto">
              <a:xfrm flipV="1">
                <a:off x="1302" y="1212"/>
                <a:ext cx="0" cy="132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6" name="Line 5"/>
              <p:cNvSpPr>
                <a:spLocks noChangeAspect="1" noChangeShapeType="1"/>
              </p:cNvSpPr>
              <p:nvPr/>
            </p:nvSpPr>
            <p:spPr bwMode="auto">
              <a:xfrm flipV="1">
                <a:off x="1208" y="1212"/>
                <a:ext cx="0" cy="132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" name="Line 6"/>
              <p:cNvSpPr>
                <a:spLocks noChangeAspect="1" noChangeShapeType="1"/>
              </p:cNvSpPr>
              <p:nvPr/>
            </p:nvSpPr>
            <p:spPr bwMode="auto">
              <a:xfrm flipV="1">
                <a:off x="1118" y="1212"/>
                <a:ext cx="0" cy="132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8" name="Line 7"/>
              <p:cNvSpPr>
                <a:spLocks noChangeAspect="1" noChangeShapeType="1"/>
              </p:cNvSpPr>
              <p:nvPr/>
            </p:nvSpPr>
            <p:spPr bwMode="auto">
              <a:xfrm flipV="1">
                <a:off x="1036" y="1207"/>
                <a:ext cx="0" cy="1327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" name="Line 8"/>
              <p:cNvSpPr>
                <a:spLocks noChangeAspect="1" noChangeShapeType="1"/>
              </p:cNvSpPr>
              <p:nvPr/>
            </p:nvSpPr>
            <p:spPr bwMode="auto">
              <a:xfrm flipV="1">
                <a:off x="957" y="1203"/>
                <a:ext cx="0" cy="132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" name="Oval 9"/>
              <p:cNvSpPr>
                <a:spLocks noChangeAspect="1" noChangeArrowheads="1"/>
              </p:cNvSpPr>
              <p:nvPr/>
            </p:nvSpPr>
            <p:spPr bwMode="auto">
              <a:xfrm>
                <a:off x="866" y="1455"/>
                <a:ext cx="574" cy="10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1" name="Oval 10"/>
              <p:cNvSpPr>
                <a:spLocks noChangeAspect="1" noChangeArrowheads="1"/>
              </p:cNvSpPr>
              <p:nvPr/>
            </p:nvSpPr>
            <p:spPr bwMode="auto">
              <a:xfrm>
                <a:off x="866" y="1598"/>
                <a:ext cx="574" cy="10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2" name="Oval 11"/>
              <p:cNvSpPr>
                <a:spLocks noChangeAspect="1" noChangeArrowheads="1"/>
              </p:cNvSpPr>
              <p:nvPr/>
            </p:nvSpPr>
            <p:spPr bwMode="auto">
              <a:xfrm>
                <a:off x="866" y="1737"/>
                <a:ext cx="574" cy="10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" name="Oval 12"/>
              <p:cNvSpPr>
                <a:spLocks noChangeAspect="1" noChangeArrowheads="1"/>
              </p:cNvSpPr>
              <p:nvPr/>
            </p:nvSpPr>
            <p:spPr bwMode="auto">
              <a:xfrm>
                <a:off x="866" y="1874"/>
                <a:ext cx="574" cy="10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4" name="Oval 13"/>
              <p:cNvSpPr>
                <a:spLocks noChangeAspect="1" noChangeArrowheads="1"/>
              </p:cNvSpPr>
              <p:nvPr/>
            </p:nvSpPr>
            <p:spPr bwMode="auto">
              <a:xfrm>
                <a:off x="866" y="2013"/>
                <a:ext cx="574" cy="10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" name="Oval 14"/>
              <p:cNvSpPr>
                <a:spLocks noChangeAspect="1" noChangeArrowheads="1"/>
              </p:cNvSpPr>
              <p:nvPr/>
            </p:nvSpPr>
            <p:spPr bwMode="auto">
              <a:xfrm>
                <a:off x="864" y="2149"/>
                <a:ext cx="574" cy="10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6" name="Rectangle 15"/>
              <p:cNvSpPr>
                <a:spLocks noChangeArrowheads="1"/>
              </p:cNvSpPr>
              <p:nvPr/>
            </p:nvSpPr>
            <p:spPr bwMode="auto">
              <a:xfrm>
                <a:off x="1488" y="1776"/>
                <a:ext cx="27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1600" baseline="-2500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1600" i="1">
                    <a:latin typeface="Times New Roman" panose="02020603050405020304" pitchFamily="18" charset="0"/>
                  </a:rPr>
                  <a:t> </a:t>
                </a:r>
                <a:endParaRPr lang="en-US" altLang="zh-CN" sz="16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7" name="Rectangle 16"/>
              <p:cNvSpPr>
                <a:spLocks noChangeArrowheads="1"/>
              </p:cNvSpPr>
              <p:nvPr/>
            </p:nvSpPr>
            <p:spPr bwMode="auto">
              <a:xfrm>
                <a:off x="1002" y="2106"/>
                <a:ext cx="19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200" i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1200" baseline="-25000">
                    <a:latin typeface="Times New Roman" panose="02020603050405020304" pitchFamily="18" charset="0"/>
                  </a:rPr>
                  <a:t>2</a:t>
                </a:r>
                <a:endParaRPr lang="en-US" altLang="zh-CN" sz="12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8" name="Rectangle 17"/>
              <p:cNvSpPr>
                <a:spLocks noChangeArrowheads="1"/>
              </p:cNvSpPr>
              <p:nvPr/>
            </p:nvSpPr>
            <p:spPr bwMode="auto">
              <a:xfrm>
                <a:off x="1404" y="2103"/>
                <a:ext cx="2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i="1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1400" baseline="-25000">
                    <a:latin typeface="Times New Roman" panose="02020603050405020304" pitchFamily="18" charset="0"/>
                  </a:rPr>
                  <a:t>2 </a:t>
                </a:r>
                <a:endParaRPr lang="en-US" altLang="zh-CN" sz="1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9" name="Line 18"/>
              <p:cNvSpPr>
                <a:spLocks noChangeAspect="1" noChangeShapeType="1"/>
              </p:cNvSpPr>
              <p:nvPr/>
            </p:nvSpPr>
            <p:spPr bwMode="auto">
              <a:xfrm>
                <a:off x="583" y="1505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" name="Line 19"/>
              <p:cNvSpPr>
                <a:spLocks noChangeAspect="1" noChangeShapeType="1"/>
              </p:cNvSpPr>
              <p:nvPr/>
            </p:nvSpPr>
            <p:spPr bwMode="auto">
              <a:xfrm>
                <a:off x="583" y="2205"/>
                <a:ext cx="24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636" y="1759"/>
                <a:ext cx="20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i="1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1400" baseline="-25000">
                    <a:latin typeface="Times New Roman" panose="02020603050405020304" pitchFamily="18" charset="0"/>
                  </a:rPr>
                  <a:t>2</a:t>
                </a:r>
                <a:endParaRPr lang="en-US" altLang="zh-CN" sz="1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2" name="Line 21"/>
              <p:cNvSpPr>
                <a:spLocks noChangeAspect="1" noChangeShapeType="1"/>
              </p:cNvSpPr>
              <p:nvPr/>
            </p:nvSpPr>
            <p:spPr bwMode="auto">
              <a:xfrm flipV="1">
                <a:off x="729" y="1503"/>
                <a:ext cx="0" cy="2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" name="Line 22"/>
              <p:cNvSpPr>
                <a:spLocks noChangeAspect="1" noChangeShapeType="1"/>
              </p:cNvSpPr>
              <p:nvPr/>
            </p:nvSpPr>
            <p:spPr bwMode="auto">
              <a:xfrm>
                <a:off x="729" y="1953"/>
                <a:ext cx="0" cy="2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" name="Line 23"/>
              <p:cNvSpPr>
                <a:spLocks noChangeAspect="1" noChangeShapeType="1"/>
              </p:cNvSpPr>
              <p:nvPr/>
            </p:nvSpPr>
            <p:spPr bwMode="auto">
              <a:xfrm flipV="1">
                <a:off x="1209" y="2525"/>
                <a:ext cx="0" cy="1498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" name="Line 24"/>
              <p:cNvSpPr>
                <a:spLocks noChangeAspect="1" noChangeShapeType="1"/>
              </p:cNvSpPr>
              <p:nvPr/>
            </p:nvSpPr>
            <p:spPr bwMode="auto">
              <a:xfrm flipV="1">
                <a:off x="1303" y="2528"/>
                <a:ext cx="0" cy="1495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" name="Line 25"/>
              <p:cNvSpPr>
                <a:spLocks noChangeAspect="1" noChangeShapeType="1"/>
              </p:cNvSpPr>
              <p:nvPr/>
            </p:nvSpPr>
            <p:spPr bwMode="auto">
              <a:xfrm flipV="1">
                <a:off x="1119" y="2522"/>
                <a:ext cx="0" cy="150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7" name="Line 26"/>
              <p:cNvSpPr>
                <a:spLocks noChangeAspect="1" noChangeShapeType="1"/>
              </p:cNvSpPr>
              <p:nvPr/>
            </p:nvSpPr>
            <p:spPr bwMode="auto">
              <a:xfrm flipV="1">
                <a:off x="1037" y="2527"/>
                <a:ext cx="0" cy="149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8" name="Line 27"/>
              <p:cNvSpPr>
                <a:spLocks noChangeAspect="1" noChangeShapeType="1"/>
              </p:cNvSpPr>
              <p:nvPr/>
            </p:nvSpPr>
            <p:spPr bwMode="auto">
              <a:xfrm flipV="1">
                <a:off x="955" y="2516"/>
                <a:ext cx="0" cy="1498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9" name="Oval 29"/>
              <p:cNvSpPr>
                <a:spLocks noChangeAspect="1" noChangeArrowheads="1"/>
              </p:cNvSpPr>
              <p:nvPr/>
            </p:nvSpPr>
            <p:spPr bwMode="auto">
              <a:xfrm>
                <a:off x="848" y="2943"/>
                <a:ext cx="574" cy="10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0" name="Oval 30"/>
              <p:cNvSpPr>
                <a:spLocks noChangeAspect="1" noChangeArrowheads="1"/>
              </p:cNvSpPr>
              <p:nvPr/>
            </p:nvSpPr>
            <p:spPr bwMode="auto">
              <a:xfrm>
                <a:off x="848" y="3086"/>
                <a:ext cx="574" cy="10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1" name="Oval 31"/>
              <p:cNvSpPr>
                <a:spLocks noChangeAspect="1" noChangeArrowheads="1"/>
              </p:cNvSpPr>
              <p:nvPr/>
            </p:nvSpPr>
            <p:spPr bwMode="auto">
              <a:xfrm>
                <a:off x="848" y="3225"/>
                <a:ext cx="574" cy="10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2" name="Oval 32"/>
              <p:cNvSpPr>
                <a:spLocks noChangeAspect="1" noChangeArrowheads="1"/>
              </p:cNvSpPr>
              <p:nvPr/>
            </p:nvSpPr>
            <p:spPr bwMode="auto">
              <a:xfrm>
                <a:off x="848" y="3362"/>
                <a:ext cx="574" cy="10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3" name="Oval 33"/>
              <p:cNvSpPr>
                <a:spLocks noChangeAspect="1" noChangeArrowheads="1"/>
              </p:cNvSpPr>
              <p:nvPr/>
            </p:nvSpPr>
            <p:spPr bwMode="auto">
              <a:xfrm>
                <a:off x="848" y="3501"/>
                <a:ext cx="574" cy="10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" name="Oval 34"/>
              <p:cNvSpPr>
                <a:spLocks noChangeAspect="1" noChangeArrowheads="1"/>
              </p:cNvSpPr>
              <p:nvPr/>
            </p:nvSpPr>
            <p:spPr bwMode="auto">
              <a:xfrm>
                <a:off x="846" y="3637"/>
                <a:ext cx="574" cy="10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5" name="Line 35"/>
              <p:cNvSpPr>
                <a:spLocks noChangeAspect="1" noChangeShapeType="1"/>
              </p:cNvSpPr>
              <p:nvPr/>
            </p:nvSpPr>
            <p:spPr bwMode="auto">
              <a:xfrm flipV="1">
                <a:off x="1229" y="2247"/>
                <a:ext cx="92" cy="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" name="Line 36"/>
              <p:cNvSpPr>
                <a:spLocks noChangeAspect="1" noChangeShapeType="1"/>
              </p:cNvSpPr>
              <p:nvPr/>
            </p:nvSpPr>
            <p:spPr bwMode="auto">
              <a:xfrm flipV="1">
                <a:off x="1231" y="2106"/>
                <a:ext cx="92" cy="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7" name="Line 37"/>
              <p:cNvSpPr>
                <a:spLocks noChangeAspect="1" noChangeShapeType="1"/>
              </p:cNvSpPr>
              <p:nvPr/>
            </p:nvSpPr>
            <p:spPr bwMode="auto">
              <a:xfrm flipV="1">
                <a:off x="1229" y="1971"/>
                <a:ext cx="92" cy="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8" name="Line 38"/>
              <p:cNvSpPr>
                <a:spLocks noChangeAspect="1" noChangeShapeType="1"/>
              </p:cNvSpPr>
              <p:nvPr/>
            </p:nvSpPr>
            <p:spPr bwMode="auto">
              <a:xfrm flipV="1">
                <a:off x="1234" y="1833"/>
                <a:ext cx="92" cy="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9" name="Line 39"/>
              <p:cNvSpPr>
                <a:spLocks noChangeAspect="1" noChangeShapeType="1"/>
              </p:cNvSpPr>
              <p:nvPr/>
            </p:nvSpPr>
            <p:spPr bwMode="auto">
              <a:xfrm flipV="1">
                <a:off x="1234" y="1694"/>
                <a:ext cx="92" cy="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" name="Line 40"/>
              <p:cNvSpPr>
                <a:spLocks noChangeAspect="1" noChangeShapeType="1"/>
              </p:cNvSpPr>
              <p:nvPr/>
            </p:nvSpPr>
            <p:spPr bwMode="auto">
              <a:xfrm flipV="1">
                <a:off x="1234" y="1548"/>
                <a:ext cx="92" cy="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1" name="Line 41"/>
              <p:cNvSpPr>
                <a:spLocks noChangeAspect="1" noChangeShapeType="1"/>
              </p:cNvSpPr>
              <p:nvPr/>
            </p:nvSpPr>
            <p:spPr bwMode="auto">
              <a:xfrm>
                <a:off x="955" y="291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2" name="Line 42"/>
              <p:cNvSpPr>
                <a:spLocks noChangeAspect="1" noChangeShapeType="1"/>
              </p:cNvSpPr>
              <p:nvPr/>
            </p:nvSpPr>
            <p:spPr bwMode="auto">
              <a:xfrm>
                <a:off x="955" y="306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3" name="Line 43"/>
              <p:cNvSpPr>
                <a:spLocks noChangeAspect="1" noChangeShapeType="1"/>
              </p:cNvSpPr>
              <p:nvPr/>
            </p:nvSpPr>
            <p:spPr bwMode="auto">
              <a:xfrm>
                <a:off x="955" y="320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" name="Line 44"/>
              <p:cNvSpPr>
                <a:spLocks noChangeAspect="1" noChangeShapeType="1"/>
              </p:cNvSpPr>
              <p:nvPr/>
            </p:nvSpPr>
            <p:spPr bwMode="auto">
              <a:xfrm>
                <a:off x="955" y="3342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5" name="Line 45"/>
              <p:cNvSpPr>
                <a:spLocks noChangeAspect="1" noChangeShapeType="1"/>
              </p:cNvSpPr>
              <p:nvPr/>
            </p:nvSpPr>
            <p:spPr bwMode="auto">
              <a:xfrm>
                <a:off x="955" y="348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" name="Line 46"/>
              <p:cNvSpPr>
                <a:spLocks noChangeAspect="1" noChangeShapeType="1"/>
              </p:cNvSpPr>
              <p:nvPr/>
            </p:nvSpPr>
            <p:spPr bwMode="auto">
              <a:xfrm>
                <a:off x="955" y="361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7" name="Line 47"/>
              <p:cNvSpPr>
                <a:spLocks noChangeAspect="1" noChangeShapeType="1"/>
              </p:cNvSpPr>
              <p:nvPr/>
            </p:nvSpPr>
            <p:spPr bwMode="auto">
              <a:xfrm>
                <a:off x="1037" y="294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8" name="Line 48"/>
              <p:cNvSpPr>
                <a:spLocks noChangeAspect="1" noChangeShapeType="1"/>
              </p:cNvSpPr>
              <p:nvPr/>
            </p:nvSpPr>
            <p:spPr bwMode="auto">
              <a:xfrm>
                <a:off x="1037" y="3087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9" name="Line 49"/>
              <p:cNvSpPr>
                <a:spLocks noChangeAspect="1" noChangeShapeType="1"/>
              </p:cNvSpPr>
              <p:nvPr/>
            </p:nvSpPr>
            <p:spPr bwMode="auto">
              <a:xfrm>
                <a:off x="1037" y="3232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" name="Line 50"/>
              <p:cNvSpPr>
                <a:spLocks noChangeAspect="1" noChangeShapeType="1"/>
              </p:cNvSpPr>
              <p:nvPr/>
            </p:nvSpPr>
            <p:spPr bwMode="auto">
              <a:xfrm>
                <a:off x="1037" y="336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1" name="Line 51"/>
              <p:cNvSpPr>
                <a:spLocks noChangeAspect="1" noChangeShapeType="1"/>
              </p:cNvSpPr>
              <p:nvPr/>
            </p:nvSpPr>
            <p:spPr bwMode="auto">
              <a:xfrm>
                <a:off x="1037" y="3506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2" name="Line 52"/>
              <p:cNvSpPr>
                <a:spLocks noChangeAspect="1" noChangeShapeType="1"/>
              </p:cNvSpPr>
              <p:nvPr/>
            </p:nvSpPr>
            <p:spPr bwMode="auto">
              <a:xfrm>
                <a:off x="1037" y="363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" name="Line 53"/>
              <p:cNvSpPr>
                <a:spLocks noChangeAspect="1" noChangeShapeType="1"/>
              </p:cNvSpPr>
              <p:nvPr/>
            </p:nvSpPr>
            <p:spPr bwMode="auto">
              <a:xfrm>
                <a:off x="1119" y="291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" name="Line 54"/>
              <p:cNvSpPr>
                <a:spLocks noChangeAspect="1" noChangeShapeType="1"/>
              </p:cNvSpPr>
              <p:nvPr/>
            </p:nvSpPr>
            <p:spPr bwMode="auto">
              <a:xfrm>
                <a:off x="1119" y="307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" name="Line 55"/>
              <p:cNvSpPr>
                <a:spLocks noChangeAspect="1" noChangeShapeType="1"/>
              </p:cNvSpPr>
              <p:nvPr/>
            </p:nvSpPr>
            <p:spPr bwMode="auto">
              <a:xfrm>
                <a:off x="1119" y="320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6" name="Line 56"/>
              <p:cNvSpPr>
                <a:spLocks noChangeAspect="1" noChangeShapeType="1"/>
              </p:cNvSpPr>
              <p:nvPr/>
            </p:nvSpPr>
            <p:spPr bwMode="auto">
              <a:xfrm>
                <a:off x="1119" y="3342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7" name="Line 57"/>
              <p:cNvSpPr>
                <a:spLocks noChangeAspect="1" noChangeShapeType="1"/>
              </p:cNvSpPr>
              <p:nvPr/>
            </p:nvSpPr>
            <p:spPr bwMode="auto">
              <a:xfrm>
                <a:off x="1119" y="3483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8" name="Line 58"/>
              <p:cNvSpPr>
                <a:spLocks noChangeAspect="1" noChangeShapeType="1"/>
              </p:cNvSpPr>
              <p:nvPr/>
            </p:nvSpPr>
            <p:spPr bwMode="auto">
              <a:xfrm>
                <a:off x="1119" y="361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9" name="Line 59"/>
              <p:cNvSpPr>
                <a:spLocks noChangeAspect="1" noChangeShapeType="1"/>
              </p:cNvSpPr>
              <p:nvPr/>
            </p:nvSpPr>
            <p:spPr bwMode="auto">
              <a:xfrm>
                <a:off x="1303" y="292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0" name="Line 60"/>
              <p:cNvSpPr>
                <a:spLocks noChangeAspect="1" noChangeShapeType="1"/>
              </p:cNvSpPr>
              <p:nvPr/>
            </p:nvSpPr>
            <p:spPr bwMode="auto">
              <a:xfrm>
                <a:off x="1303" y="3082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1" name="Line 61"/>
              <p:cNvSpPr>
                <a:spLocks noChangeAspect="1" noChangeShapeType="1"/>
              </p:cNvSpPr>
              <p:nvPr/>
            </p:nvSpPr>
            <p:spPr bwMode="auto">
              <a:xfrm>
                <a:off x="1303" y="320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2" name="Line 62"/>
              <p:cNvSpPr>
                <a:spLocks noChangeAspect="1" noChangeShapeType="1"/>
              </p:cNvSpPr>
              <p:nvPr/>
            </p:nvSpPr>
            <p:spPr bwMode="auto">
              <a:xfrm>
                <a:off x="1303" y="3340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3" name="Line 63"/>
              <p:cNvSpPr>
                <a:spLocks noChangeAspect="1" noChangeShapeType="1"/>
              </p:cNvSpPr>
              <p:nvPr/>
            </p:nvSpPr>
            <p:spPr bwMode="auto">
              <a:xfrm>
                <a:off x="1303" y="348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" name="Line 64"/>
              <p:cNvSpPr>
                <a:spLocks noChangeAspect="1" noChangeShapeType="1"/>
              </p:cNvSpPr>
              <p:nvPr/>
            </p:nvSpPr>
            <p:spPr bwMode="auto">
              <a:xfrm>
                <a:off x="1303" y="3618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" name="Line 65"/>
              <p:cNvSpPr>
                <a:spLocks noChangeAspect="1" noChangeShapeType="1"/>
              </p:cNvSpPr>
              <p:nvPr/>
            </p:nvSpPr>
            <p:spPr bwMode="auto">
              <a:xfrm>
                <a:off x="1209" y="294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6" name="Line 66"/>
              <p:cNvSpPr>
                <a:spLocks noChangeAspect="1" noChangeShapeType="1"/>
              </p:cNvSpPr>
              <p:nvPr/>
            </p:nvSpPr>
            <p:spPr bwMode="auto">
              <a:xfrm>
                <a:off x="1209" y="309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7" name="Line 67"/>
              <p:cNvSpPr>
                <a:spLocks noChangeAspect="1" noChangeShapeType="1"/>
              </p:cNvSpPr>
              <p:nvPr/>
            </p:nvSpPr>
            <p:spPr bwMode="auto">
              <a:xfrm>
                <a:off x="1209" y="3230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8" name="Line 68"/>
              <p:cNvSpPr>
                <a:spLocks noChangeAspect="1" noChangeShapeType="1"/>
              </p:cNvSpPr>
              <p:nvPr/>
            </p:nvSpPr>
            <p:spPr bwMode="auto">
              <a:xfrm>
                <a:off x="1209" y="3358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9" name="Line 69"/>
              <p:cNvSpPr>
                <a:spLocks noChangeAspect="1" noChangeShapeType="1"/>
              </p:cNvSpPr>
              <p:nvPr/>
            </p:nvSpPr>
            <p:spPr bwMode="auto">
              <a:xfrm>
                <a:off x="1209" y="3499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" name="Line 70"/>
              <p:cNvSpPr>
                <a:spLocks noChangeAspect="1" noChangeShapeType="1"/>
              </p:cNvSpPr>
              <p:nvPr/>
            </p:nvSpPr>
            <p:spPr bwMode="auto">
              <a:xfrm>
                <a:off x="1209" y="363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1" name="Rectangle 71"/>
              <p:cNvSpPr>
                <a:spLocks noChangeArrowheads="1"/>
              </p:cNvSpPr>
              <p:nvPr/>
            </p:nvSpPr>
            <p:spPr bwMode="auto">
              <a:xfrm>
                <a:off x="1470" y="3292"/>
                <a:ext cx="27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1600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1600" i="1">
                    <a:latin typeface="Times New Roman" panose="02020603050405020304" pitchFamily="18" charset="0"/>
                  </a:rPr>
                  <a:t> </a:t>
                </a:r>
                <a:endParaRPr lang="en-US" altLang="zh-CN" sz="16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2" name="Rectangle 72"/>
              <p:cNvSpPr>
                <a:spLocks noChangeArrowheads="1"/>
              </p:cNvSpPr>
              <p:nvPr/>
            </p:nvSpPr>
            <p:spPr bwMode="auto">
              <a:xfrm>
                <a:off x="978" y="3597"/>
                <a:ext cx="19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200" i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1200" baseline="-25000">
                    <a:latin typeface="Times New Roman" panose="02020603050405020304" pitchFamily="18" charset="0"/>
                  </a:rPr>
                  <a:t>1</a:t>
                </a:r>
                <a:endParaRPr lang="en-US" altLang="zh-CN" sz="12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3" name="Rectangle 73"/>
              <p:cNvSpPr>
                <a:spLocks noChangeArrowheads="1"/>
              </p:cNvSpPr>
              <p:nvPr/>
            </p:nvSpPr>
            <p:spPr bwMode="auto">
              <a:xfrm>
                <a:off x="1380" y="3600"/>
                <a:ext cx="36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i="1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1400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1400">
                    <a:latin typeface="Times New Roman" panose="02020603050405020304" pitchFamily="18" charset="0"/>
                  </a:rPr>
                  <a:t> = 0</a:t>
                </a:r>
                <a:endParaRPr lang="en-US" altLang="zh-CN" sz="1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" name="Rectangle 74"/>
              <p:cNvSpPr>
                <a:spLocks noChangeArrowheads="1"/>
              </p:cNvSpPr>
              <p:nvPr/>
            </p:nvSpPr>
            <p:spPr bwMode="auto">
              <a:xfrm>
                <a:off x="1336" y="2724"/>
                <a:ext cx="26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b="1">
                    <a:solidFill>
                      <a:srgbClr val="0B7CFF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400" baseline="-25000">
                    <a:solidFill>
                      <a:srgbClr val="0B7CFF"/>
                    </a:solidFill>
                    <a:latin typeface="Times New Roman" panose="02020603050405020304" pitchFamily="18" charset="0"/>
                  </a:rPr>
                  <a:t>21</a:t>
                </a:r>
                <a:endParaRPr lang="en-US" altLang="zh-CN" sz="1400" b="1">
                  <a:solidFill>
                    <a:srgbClr val="0B7C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" name="Line 75"/>
              <p:cNvSpPr>
                <a:spLocks noChangeAspect="1" noChangeShapeType="1"/>
              </p:cNvSpPr>
              <p:nvPr/>
            </p:nvSpPr>
            <p:spPr bwMode="auto">
              <a:xfrm>
                <a:off x="567" y="299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" name="Line 76"/>
              <p:cNvSpPr>
                <a:spLocks noChangeAspect="1" noChangeShapeType="1"/>
              </p:cNvSpPr>
              <p:nvPr/>
            </p:nvSpPr>
            <p:spPr bwMode="auto">
              <a:xfrm>
                <a:off x="567" y="3696"/>
                <a:ext cx="24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7" name="Rectangle 77"/>
              <p:cNvSpPr>
                <a:spLocks noChangeAspect="1" noChangeArrowheads="1"/>
              </p:cNvSpPr>
              <p:nvPr/>
            </p:nvSpPr>
            <p:spPr bwMode="auto">
              <a:xfrm>
                <a:off x="620" y="3235"/>
                <a:ext cx="20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i="1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1400" baseline="-25000">
                    <a:latin typeface="Times New Roman" panose="02020603050405020304" pitchFamily="18" charset="0"/>
                  </a:rPr>
                  <a:t>1</a:t>
                </a:r>
                <a:endParaRPr lang="en-US" altLang="zh-CN" sz="1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8" name="Line 78"/>
              <p:cNvSpPr>
                <a:spLocks noChangeAspect="1" noChangeShapeType="1"/>
              </p:cNvSpPr>
              <p:nvPr/>
            </p:nvSpPr>
            <p:spPr bwMode="auto">
              <a:xfrm flipV="1">
                <a:off x="713" y="2994"/>
                <a:ext cx="0" cy="2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9" name="Line 79"/>
              <p:cNvSpPr>
                <a:spLocks noChangeAspect="1" noChangeShapeType="1"/>
              </p:cNvSpPr>
              <p:nvPr/>
            </p:nvSpPr>
            <p:spPr bwMode="auto">
              <a:xfrm>
                <a:off x="713" y="3444"/>
                <a:ext cx="0" cy="2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0" name="Line 80"/>
              <p:cNvSpPr>
                <a:spLocks noChangeAspect="1" noChangeShapeType="1"/>
              </p:cNvSpPr>
              <p:nvPr/>
            </p:nvSpPr>
            <p:spPr bwMode="auto">
              <a:xfrm>
                <a:off x="957" y="143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1" name="Line 81"/>
              <p:cNvSpPr>
                <a:spLocks noChangeAspect="1" noChangeShapeType="1"/>
              </p:cNvSpPr>
              <p:nvPr/>
            </p:nvSpPr>
            <p:spPr bwMode="auto">
              <a:xfrm>
                <a:off x="957" y="1579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2" name="Line 82"/>
              <p:cNvSpPr>
                <a:spLocks noChangeAspect="1" noChangeShapeType="1"/>
              </p:cNvSpPr>
              <p:nvPr/>
            </p:nvSpPr>
            <p:spPr bwMode="auto">
              <a:xfrm>
                <a:off x="957" y="1718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3" name="Line 83"/>
              <p:cNvSpPr>
                <a:spLocks noChangeAspect="1" noChangeShapeType="1"/>
              </p:cNvSpPr>
              <p:nvPr/>
            </p:nvSpPr>
            <p:spPr bwMode="auto">
              <a:xfrm>
                <a:off x="957" y="1857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4" name="Line 84"/>
              <p:cNvSpPr>
                <a:spLocks noChangeAspect="1" noChangeShapeType="1"/>
              </p:cNvSpPr>
              <p:nvPr/>
            </p:nvSpPr>
            <p:spPr bwMode="auto">
              <a:xfrm>
                <a:off x="957" y="199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" name="Line 85"/>
              <p:cNvSpPr>
                <a:spLocks noChangeAspect="1" noChangeShapeType="1"/>
              </p:cNvSpPr>
              <p:nvPr/>
            </p:nvSpPr>
            <p:spPr bwMode="auto">
              <a:xfrm>
                <a:off x="957" y="2130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6" name="Line 86"/>
              <p:cNvSpPr>
                <a:spLocks noChangeAspect="1" noChangeShapeType="1"/>
              </p:cNvSpPr>
              <p:nvPr/>
            </p:nvSpPr>
            <p:spPr bwMode="auto">
              <a:xfrm>
                <a:off x="1036" y="145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7" name="Line 87"/>
              <p:cNvSpPr>
                <a:spLocks noChangeAspect="1" noChangeShapeType="1"/>
              </p:cNvSpPr>
              <p:nvPr/>
            </p:nvSpPr>
            <p:spPr bwMode="auto">
              <a:xfrm>
                <a:off x="1036" y="1602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8" name="Line 88"/>
              <p:cNvSpPr>
                <a:spLocks noChangeAspect="1" noChangeShapeType="1"/>
              </p:cNvSpPr>
              <p:nvPr/>
            </p:nvSpPr>
            <p:spPr bwMode="auto">
              <a:xfrm>
                <a:off x="1036" y="1747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9" name="Line 89"/>
              <p:cNvSpPr>
                <a:spLocks noChangeAspect="1" noChangeShapeType="1"/>
              </p:cNvSpPr>
              <p:nvPr/>
            </p:nvSpPr>
            <p:spPr bwMode="auto">
              <a:xfrm>
                <a:off x="1036" y="1879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0" name="Line 90"/>
              <p:cNvSpPr>
                <a:spLocks noChangeAspect="1" noChangeShapeType="1"/>
              </p:cNvSpPr>
              <p:nvPr/>
            </p:nvSpPr>
            <p:spPr bwMode="auto">
              <a:xfrm>
                <a:off x="1036" y="2021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1" name="Line 91"/>
              <p:cNvSpPr>
                <a:spLocks noChangeAspect="1" noChangeShapeType="1"/>
              </p:cNvSpPr>
              <p:nvPr/>
            </p:nvSpPr>
            <p:spPr bwMode="auto">
              <a:xfrm>
                <a:off x="1036" y="2150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2" name="Line 92"/>
              <p:cNvSpPr>
                <a:spLocks noChangeAspect="1" noChangeShapeType="1"/>
              </p:cNvSpPr>
              <p:nvPr/>
            </p:nvSpPr>
            <p:spPr bwMode="auto">
              <a:xfrm>
                <a:off x="1118" y="1429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3" name="Line 93"/>
              <p:cNvSpPr>
                <a:spLocks noChangeAspect="1" noChangeShapeType="1"/>
              </p:cNvSpPr>
              <p:nvPr/>
            </p:nvSpPr>
            <p:spPr bwMode="auto">
              <a:xfrm>
                <a:off x="1118" y="1588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4" name="Line 94"/>
              <p:cNvSpPr>
                <a:spLocks noChangeAspect="1" noChangeShapeType="1"/>
              </p:cNvSpPr>
              <p:nvPr/>
            </p:nvSpPr>
            <p:spPr bwMode="auto">
              <a:xfrm>
                <a:off x="1118" y="1720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" name="Line 95"/>
              <p:cNvSpPr>
                <a:spLocks noChangeAspect="1" noChangeShapeType="1"/>
              </p:cNvSpPr>
              <p:nvPr/>
            </p:nvSpPr>
            <p:spPr bwMode="auto">
              <a:xfrm>
                <a:off x="1118" y="1857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" name="Line 96"/>
              <p:cNvSpPr>
                <a:spLocks noChangeAspect="1" noChangeShapeType="1"/>
              </p:cNvSpPr>
              <p:nvPr/>
            </p:nvSpPr>
            <p:spPr bwMode="auto">
              <a:xfrm>
                <a:off x="1118" y="1998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7" name="Line 97"/>
              <p:cNvSpPr>
                <a:spLocks noChangeAspect="1" noChangeShapeType="1"/>
              </p:cNvSpPr>
              <p:nvPr/>
            </p:nvSpPr>
            <p:spPr bwMode="auto">
              <a:xfrm>
                <a:off x="1118" y="2130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8" name="Line 98"/>
              <p:cNvSpPr>
                <a:spLocks noChangeAspect="1" noChangeShapeType="1"/>
              </p:cNvSpPr>
              <p:nvPr/>
            </p:nvSpPr>
            <p:spPr bwMode="auto">
              <a:xfrm>
                <a:off x="1302" y="143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9" name="Line 99"/>
              <p:cNvSpPr>
                <a:spLocks noChangeAspect="1" noChangeShapeType="1"/>
              </p:cNvSpPr>
              <p:nvPr/>
            </p:nvSpPr>
            <p:spPr bwMode="auto">
              <a:xfrm>
                <a:off x="1302" y="1597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0" name="Line 100"/>
              <p:cNvSpPr>
                <a:spLocks noChangeAspect="1" noChangeShapeType="1"/>
              </p:cNvSpPr>
              <p:nvPr/>
            </p:nvSpPr>
            <p:spPr bwMode="auto">
              <a:xfrm>
                <a:off x="1302" y="171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1" name="Line 101"/>
              <p:cNvSpPr>
                <a:spLocks noChangeAspect="1" noChangeShapeType="1"/>
              </p:cNvSpPr>
              <p:nvPr/>
            </p:nvSpPr>
            <p:spPr bwMode="auto">
              <a:xfrm>
                <a:off x="1302" y="1855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2" name="Line 102"/>
              <p:cNvSpPr>
                <a:spLocks noChangeAspect="1" noChangeShapeType="1"/>
              </p:cNvSpPr>
              <p:nvPr/>
            </p:nvSpPr>
            <p:spPr bwMode="auto">
              <a:xfrm>
                <a:off x="1302" y="199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3" name="Line 103"/>
              <p:cNvSpPr>
                <a:spLocks noChangeAspect="1" noChangeShapeType="1"/>
              </p:cNvSpPr>
              <p:nvPr/>
            </p:nvSpPr>
            <p:spPr bwMode="auto">
              <a:xfrm>
                <a:off x="1302" y="2133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4" name="Line 104"/>
              <p:cNvSpPr>
                <a:spLocks noChangeAspect="1" noChangeShapeType="1"/>
              </p:cNvSpPr>
              <p:nvPr/>
            </p:nvSpPr>
            <p:spPr bwMode="auto">
              <a:xfrm>
                <a:off x="1208" y="145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" name="Line 105"/>
              <p:cNvSpPr>
                <a:spLocks noChangeAspect="1" noChangeShapeType="1"/>
              </p:cNvSpPr>
              <p:nvPr/>
            </p:nvSpPr>
            <p:spPr bwMode="auto">
              <a:xfrm>
                <a:off x="1208" y="160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" name="Line 106"/>
              <p:cNvSpPr>
                <a:spLocks noChangeAspect="1" noChangeShapeType="1"/>
              </p:cNvSpPr>
              <p:nvPr/>
            </p:nvSpPr>
            <p:spPr bwMode="auto">
              <a:xfrm>
                <a:off x="1208" y="174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7" name="Line 107"/>
              <p:cNvSpPr>
                <a:spLocks noChangeAspect="1" noChangeShapeType="1"/>
              </p:cNvSpPr>
              <p:nvPr/>
            </p:nvSpPr>
            <p:spPr bwMode="auto">
              <a:xfrm>
                <a:off x="1208" y="1873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8" name="Line 108"/>
              <p:cNvSpPr>
                <a:spLocks noChangeAspect="1" noChangeShapeType="1"/>
              </p:cNvSpPr>
              <p:nvPr/>
            </p:nvSpPr>
            <p:spPr bwMode="auto">
              <a:xfrm>
                <a:off x="1208" y="2014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9" name="Line 109"/>
              <p:cNvSpPr>
                <a:spLocks noChangeAspect="1" noChangeShapeType="1"/>
              </p:cNvSpPr>
              <p:nvPr/>
            </p:nvSpPr>
            <p:spPr bwMode="auto">
              <a:xfrm>
                <a:off x="1208" y="2146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" name="Rectangle 110"/>
              <p:cNvSpPr>
                <a:spLocks noChangeArrowheads="1"/>
              </p:cNvSpPr>
              <p:nvPr/>
            </p:nvSpPr>
            <p:spPr bwMode="auto">
              <a:xfrm>
                <a:off x="1321" y="1200"/>
                <a:ext cx="26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b="1">
                    <a:solidFill>
                      <a:srgbClr val="0B7CFF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400" baseline="-25000">
                    <a:solidFill>
                      <a:srgbClr val="0B7CFF"/>
                    </a:solidFill>
                    <a:latin typeface="Times New Roman" panose="02020603050405020304" pitchFamily="18" charset="0"/>
                  </a:rPr>
                  <a:t>22</a:t>
                </a:r>
                <a:endParaRPr lang="en-US" altLang="zh-CN" sz="1400" b="1">
                  <a:solidFill>
                    <a:srgbClr val="0B7CFF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26" name="Rectangle 112"/>
            <p:cNvSpPr>
              <a:spLocks noChangeArrowheads="1"/>
            </p:cNvSpPr>
            <p:nvPr/>
          </p:nvSpPr>
          <p:spPr bwMode="auto">
            <a:xfrm>
              <a:off x="1856" y="1168"/>
              <a:ext cx="383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In this case, </a:t>
              </a: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current in Coil 1 is turned off, 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leaving only the flux density</a:t>
              </a:r>
              <a:endParaRPr lang="en-US" altLang="zh-CN" sz="16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generated by Coil 2, 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21 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, existing within Coil 1.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127" name="Rectangle 113"/>
            <p:cNvSpPr>
              <a:spLocks noChangeArrowheads="1"/>
            </p:cNvSpPr>
            <p:nvPr/>
          </p:nvSpPr>
          <p:spPr bwMode="auto">
            <a:xfrm>
              <a:off x="1860" y="1685"/>
              <a:ext cx="323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The </a:t>
              </a:r>
              <a:r>
                <a:rPr lang="en-US" altLang="zh-CN" sz="1600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mutual linkage 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between Coils 2 and 1 is found through: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128" name="Rectangle 115"/>
            <p:cNvSpPr>
              <a:spLocks noChangeArrowheads="1"/>
            </p:cNvSpPr>
            <p:nvPr/>
          </p:nvSpPr>
          <p:spPr bwMode="auto">
            <a:xfrm>
              <a:off x="102" y="3243"/>
              <a:ext cx="39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</a:rPr>
                <a:t>Coil 1</a:t>
              </a:r>
              <a:endParaRPr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29" name="Rectangle 116"/>
            <p:cNvSpPr>
              <a:spLocks noChangeArrowheads="1"/>
            </p:cNvSpPr>
            <p:nvPr/>
          </p:nvSpPr>
          <p:spPr bwMode="auto">
            <a:xfrm>
              <a:off x="105" y="1773"/>
              <a:ext cx="39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</a:rPr>
                <a:t>Coil 2</a:t>
              </a:r>
              <a:endParaRPr lang="en-US" altLang="zh-CN" sz="1400">
                <a:latin typeface="Times New Roman" panose="02020603050405020304" pitchFamily="18" charset="0"/>
              </a:endParaRPr>
            </a:p>
          </p:txBody>
        </p:sp>
        <p:pic>
          <p:nvPicPr>
            <p:cNvPr id="130" name="Picture 11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6" y="1992"/>
              <a:ext cx="2551" cy="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31" name="Rectangle 119"/>
            <p:cNvSpPr>
              <a:spLocks noChangeArrowheads="1"/>
            </p:cNvSpPr>
            <p:nvPr/>
          </p:nvSpPr>
          <p:spPr bwMode="auto">
            <a:xfrm>
              <a:off x="1860" y="2628"/>
              <a:ext cx="354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… and </a:t>
              </a: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the </a:t>
              </a:r>
              <a:r>
                <a:rPr lang="en-US" altLang="zh-CN" sz="1600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mutual inductance </a:t>
              </a: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between Coils 2 and 1 is defined as:</a:t>
              </a:r>
              <a:endPara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2" name="Rectangle 120"/>
            <p:cNvSpPr>
              <a:spLocks noChangeArrowheads="1"/>
            </p:cNvSpPr>
            <p:nvPr/>
          </p:nvSpPr>
          <p:spPr bwMode="auto">
            <a:xfrm>
              <a:off x="2989" y="2997"/>
              <a:ext cx="960" cy="528"/>
            </a:xfrm>
            <a:prstGeom prst="rect">
              <a:avLst/>
            </a:prstGeom>
            <a:noFill/>
            <a:ln w="9525">
              <a:solidFill>
                <a:srgbClr val="0B7C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pic>
          <p:nvPicPr>
            <p:cNvPr id="134" name="Picture 12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9" y="3031"/>
              <a:ext cx="829" cy="4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123" name="Rectangle 113"/>
          <p:cNvSpPr>
            <a:spLocks noChangeArrowheads="1"/>
          </p:cNvSpPr>
          <p:nvPr/>
        </p:nvSpPr>
        <p:spPr bwMode="auto">
          <a:xfrm>
            <a:off x="3200400" y="5856288"/>
            <a:ext cx="48868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Q: What are the key factors affecting mutual inductance?</a:t>
            </a:r>
            <a:endParaRPr lang="en-US" altLang="zh-CN" sz="1600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922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Example: Concentric Solenoids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同轴螺线管</a:t>
            </a:r>
            <a:endParaRPr lang="zh-CN" altLang="en-US" sz="2800" b="1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4098" name="Picture 2" descr="C:\Users\dpcuser\Desktop\About Teaching\工程电磁场\Instructor Notes\Lecture 13\item-0E4CBB60-4A49DC3800000000040100000009BA37.0.200x2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282771"/>
            <a:ext cx="2035105" cy="2035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3" name="Group 192"/>
          <p:cNvGrpSpPr/>
          <p:nvPr/>
        </p:nvGrpSpPr>
        <p:grpSpPr bwMode="auto">
          <a:xfrm>
            <a:off x="275880" y="2122487"/>
            <a:ext cx="8745537" cy="2182813"/>
            <a:chOff x="273" y="1918"/>
            <a:chExt cx="5509" cy="1375"/>
          </a:xfrm>
        </p:grpSpPr>
        <p:grpSp>
          <p:nvGrpSpPr>
            <p:cNvPr id="241" name="Group 189"/>
            <p:cNvGrpSpPr/>
            <p:nvPr/>
          </p:nvGrpSpPr>
          <p:grpSpPr bwMode="auto">
            <a:xfrm>
              <a:off x="273" y="1918"/>
              <a:ext cx="5509" cy="1375"/>
              <a:chOff x="273" y="1918"/>
              <a:chExt cx="5509" cy="1375"/>
            </a:xfrm>
          </p:grpSpPr>
          <p:grpSp>
            <p:nvGrpSpPr>
              <p:cNvPr id="244" name="Group 188"/>
              <p:cNvGrpSpPr/>
              <p:nvPr/>
            </p:nvGrpSpPr>
            <p:grpSpPr bwMode="auto">
              <a:xfrm>
                <a:off x="273" y="2016"/>
                <a:ext cx="1593" cy="1277"/>
                <a:chOff x="273" y="2016"/>
                <a:chExt cx="1593" cy="1277"/>
              </a:xfrm>
            </p:grpSpPr>
            <p:sp>
              <p:nvSpPr>
                <p:cNvPr id="246" name="Rectangle 54"/>
                <p:cNvSpPr>
                  <a:spLocks noChangeArrowheads="1"/>
                </p:cNvSpPr>
                <p:nvPr/>
              </p:nvSpPr>
              <p:spPr bwMode="auto">
                <a:xfrm>
                  <a:off x="273" y="2352"/>
                  <a:ext cx="255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400" i="1">
                      <a:latin typeface="Times New Roman" panose="02020603050405020304" pitchFamily="18" charset="0"/>
                    </a:rPr>
                    <a:t>N</a:t>
                  </a:r>
                  <a:r>
                    <a:rPr lang="en-US" altLang="zh-CN" sz="1400" baseline="-25000">
                      <a:latin typeface="Times New Roman" panose="02020603050405020304" pitchFamily="18" charset="0"/>
                    </a:rPr>
                    <a:t>1</a:t>
                  </a:r>
                  <a:r>
                    <a:rPr lang="en-US" altLang="zh-CN" sz="1400" i="1">
                      <a:latin typeface="Times New Roman" panose="02020603050405020304" pitchFamily="18" charset="0"/>
                    </a:rPr>
                    <a:t> </a:t>
                  </a:r>
                  <a:endParaRPr lang="en-US" altLang="zh-CN" sz="14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7" name="Oval 11"/>
                <p:cNvSpPr>
                  <a:spLocks noChangeArrowheads="1"/>
                </p:cNvSpPr>
                <p:nvPr/>
              </p:nvSpPr>
              <p:spPr bwMode="auto">
                <a:xfrm>
                  <a:off x="675" y="2016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8" name="Oval 12"/>
                <p:cNvSpPr>
                  <a:spLocks noChangeArrowheads="1"/>
                </p:cNvSpPr>
                <p:nvPr/>
              </p:nvSpPr>
              <p:spPr bwMode="auto">
                <a:xfrm>
                  <a:off x="675" y="2208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9" name="Oval 13"/>
                <p:cNvSpPr>
                  <a:spLocks noChangeArrowheads="1"/>
                </p:cNvSpPr>
                <p:nvPr/>
              </p:nvSpPr>
              <p:spPr bwMode="auto">
                <a:xfrm>
                  <a:off x="675" y="2394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0" name="Oval 14"/>
                <p:cNvSpPr>
                  <a:spLocks noChangeArrowheads="1"/>
                </p:cNvSpPr>
                <p:nvPr/>
              </p:nvSpPr>
              <p:spPr bwMode="auto">
                <a:xfrm>
                  <a:off x="675" y="2577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1" name="Oval 15"/>
                <p:cNvSpPr>
                  <a:spLocks noChangeArrowheads="1"/>
                </p:cNvSpPr>
                <p:nvPr/>
              </p:nvSpPr>
              <p:spPr bwMode="auto">
                <a:xfrm>
                  <a:off x="675" y="2763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2" name="Oval 16"/>
                <p:cNvSpPr>
                  <a:spLocks noChangeArrowheads="1"/>
                </p:cNvSpPr>
                <p:nvPr/>
              </p:nvSpPr>
              <p:spPr bwMode="auto">
                <a:xfrm>
                  <a:off x="672" y="2946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3" name="Rectangle 56"/>
                <p:cNvSpPr>
                  <a:spLocks noChangeArrowheads="1"/>
                </p:cNvSpPr>
                <p:nvPr/>
              </p:nvSpPr>
              <p:spPr bwMode="auto">
                <a:xfrm>
                  <a:off x="524" y="3120"/>
                  <a:ext cx="196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200" i="1">
                      <a:latin typeface="Times New Roman" panose="02020603050405020304" pitchFamily="18" charset="0"/>
                    </a:rPr>
                    <a:t>S</a:t>
                  </a:r>
                  <a:r>
                    <a:rPr lang="en-US" altLang="zh-CN" sz="1200" baseline="-25000">
                      <a:latin typeface="Times New Roman" panose="02020603050405020304" pitchFamily="18" charset="0"/>
                    </a:rPr>
                    <a:t>1</a:t>
                  </a:r>
                  <a:endParaRPr lang="en-US" altLang="zh-CN" sz="12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4" name="Line 57"/>
                <p:cNvSpPr>
                  <a:spLocks noChangeShapeType="1"/>
                </p:cNvSpPr>
                <p:nvPr/>
              </p:nvSpPr>
              <p:spPr bwMode="auto">
                <a:xfrm>
                  <a:off x="1536" y="2088"/>
                  <a:ext cx="3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5" name="Line 58"/>
                <p:cNvSpPr>
                  <a:spLocks noChangeShapeType="1"/>
                </p:cNvSpPr>
                <p:nvPr/>
              </p:nvSpPr>
              <p:spPr bwMode="auto">
                <a:xfrm>
                  <a:off x="1536" y="3021"/>
                  <a:ext cx="33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" name="Rectangle 59"/>
                <p:cNvSpPr>
                  <a:spLocks noChangeArrowheads="1"/>
                </p:cNvSpPr>
                <p:nvPr/>
              </p:nvSpPr>
              <p:spPr bwMode="auto">
                <a:xfrm>
                  <a:off x="1632" y="2434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600" i="1">
                      <a:latin typeface="Times New Roman" panose="02020603050405020304" pitchFamily="18" charset="0"/>
                    </a:rPr>
                    <a:t>d</a:t>
                  </a:r>
                  <a:endParaRPr lang="en-US" altLang="zh-CN" sz="16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7" name="Line 60"/>
                <p:cNvSpPr>
                  <a:spLocks noChangeShapeType="1"/>
                </p:cNvSpPr>
                <p:nvPr/>
              </p:nvSpPr>
              <p:spPr bwMode="auto">
                <a:xfrm flipV="1">
                  <a:off x="1731" y="2085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8" name="Line 61"/>
                <p:cNvSpPr>
                  <a:spLocks noChangeShapeType="1"/>
                </p:cNvSpPr>
                <p:nvPr/>
              </p:nvSpPr>
              <p:spPr bwMode="auto">
                <a:xfrm>
                  <a:off x="1731" y="2685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9" name="Oval 70"/>
                <p:cNvSpPr>
                  <a:spLocks noChangeArrowheads="1"/>
                </p:cNvSpPr>
                <p:nvPr/>
              </p:nvSpPr>
              <p:spPr bwMode="auto">
                <a:xfrm>
                  <a:off x="839" y="2046"/>
                  <a:ext cx="459" cy="9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0" name="Oval 71"/>
                <p:cNvSpPr>
                  <a:spLocks noChangeArrowheads="1"/>
                </p:cNvSpPr>
                <p:nvPr/>
              </p:nvSpPr>
              <p:spPr bwMode="auto">
                <a:xfrm>
                  <a:off x="839" y="2238"/>
                  <a:ext cx="459" cy="8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1" name="Oval 72"/>
                <p:cNvSpPr>
                  <a:spLocks noChangeArrowheads="1"/>
                </p:cNvSpPr>
                <p:nvPr/>
              </p:nvSpPr>
              <p:spPr bwMode="auto">
                <a:xfrm>
                  <a:off x="839" y="2424"/>
                  <a:ext cx="459" cy="8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2" name="Oval 73"/>
                <p:cNvSpPr>
                  <a:spLocks noChangeArrowheads="1"/>
                </p:cNvSpPr>
                <p:nvPr/>
              </p:nvSpPr>
              <p:spPr bwMode="auto">
                <a:xfrm>
                  <a:off x="839" y="2607"/>
                  <a:ext cx="459" cy="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3" name="Oval 74"/>
                <p:cNvSpPr>
                  <a:spLocks noChangeArrowheads="1"/>
                </p:cNvSpPr>
                <p:nvPr/>
              </p:nvSpPr>
              <p:spPr bwMode="auto">
                <a:xfrm>
                  <a:off x="839" y="2793"/>
                  <a:ext cx="459" cy="8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4" name="Oval 75"/>
                <p:cNvSpPr>
                  <a:spLocks noChangeArrowheads="1"/>
                </p:cNvSpPr>
                <p:nvPr/>
              </p:nvSpPr>
              <p:spPr bwMode="auto">
                <a:xfrm>
                  <a:off x="837" y="2976"/>
                  <a:ext cx="459" cy="8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5" name="Rectangle 178"/>
                <p:cNvSpPr>
                  <a:spLocks noChangeArrowheads="1"/>
                </p:cNvSpPr>
                <p:nvPr/>
              </p:nvSpPr>
              <p:spPr bwMode="auto">
                <a:xfrm>
                  <a:off x="1392" y="3120"/>
                  <a:ext cx="196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200" i="1">
                      <a:latin typeface="Times New Roman" panose="02020603050405020304" pitchFamily="18" charset="0"/>
                    </a:rPr>
                    <a:t>S</a:t>
                  </a:r>
                  <a:r>
                    <a:rPr lang="en-US" altLang="zh-CN" sz="1200" baseline="-25000">
                      <a:latin typeface="Times New Roman" panose="02020603050405020304" pitchFamily="18" charset="0"/>
                    </a:rPr>
                    <a:t>2</a:t>
                  </a:r>
                  <a:endParaRPr lang="en-US" altLang="zh-CN" sz="12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6" name="Line 179"/>
                <p:cNvSpPr>
                  <a:spLocks noChangeShapeType="1"/>
                </p:cNvSpPr>
                <p:nvPr/>
              </p:nvSpPr>
              <p:spPr bwMode="auto">
                <a:xfrm flipV="1">
                  <a:off x="672" y="3024"/>
                  <a:ext cx="96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7" name="Line 180"/>
                <p:cNvSpPr>
                  <a:spLocks noChangeShapeType="1"/>
                </p:cNvSpPr>
                <p:nvPr/>
              </p:nvSpPr>
              <p:spPr bwMode="auto">
                <a:xfrm flipH="1" flipV="1">
                  <a:off x="1112" y="2999"/>
                  <a:ext cx="280" cy="1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8" name="Rectangle 183"/>
                <p:cNvSpPr>
                  <a:spLocks noChangeArrowheads="1"/>
                </p:cNvSpPr>
                <p:nvPr/>
              </p:nvSpPr>
              <p:spPr bwMode="auto">
                <a:xfrm>
                  <a:off x="273" y="2640"/>
                  <a:ext cx="255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400" i="1">
                      <a:latin typeface="Times New Roman" panose="02020603050405020304" pitchFamily="18" charset="0"/>
                    </a:rPr>
                    <a:t>N</a:t>
                  </a:r>
                  <a:r>
                    <a:rPr lang="en-US" altLang="zh-CN" sz="1400" baseline="-25000">
                      <a:latin typeface="Times New Roman" panose="02020603050405020304" pitchFamily="18" charset="0"/>
                    </a:rPr>
                    <a:t>2</a:t>
                  </a:r>
                  <a:r>
                    <a:rPr lang="en-US" altLang="zh-CN" sz="1400" i="1">
                      <a:latin typeface="Times New Roman" panose="02020603050405020304" pitchFamily="18" charset="0"/>
                    </a:rPr>
                    <a:t> </a:t>
                  </a:r>
                  <a:endParaRPr lang="en-US" altLang="zh-CN" sz="14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9" name="Line 184"/>
                <p:cNvSpPr>
                  <a:spLocks noChangeShapeType="1"/>
                </p:cNvSpPr>
                <p:nvPr/>
              </p:nvSpPr>
              <p:spPr bwMode="auto">
                <a:xfrm>
                  <a:off x="480" y="2754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0" name="Line 185"/>
                <p:cNvSpPr>
                  <a:spLocks noChangeShapeType="1"/>
                </p:cNvSpPr>
                <p:nvPr/>
              </p:nvSpPr>
              <p:spPr bwMode="auto">
                <a:xfrm>
                  <a:off x="494" y="2473"/>
                  <a:ext cx="14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45" name="Rectangle 187"/>
              <p:cNvSpPr>
                <a:spLocks noChangeArrowheads="1"/>
              </p:cNvSpPr>
              <p:nvPr/>
            </p:nvSpPr>
            <p:spPr bwMode="auto">
              <a:xfrm>
                <a:off x="1942" y="1918"/>
                <a:ext cx="3840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In this configuration, two </a:t>
                </a:r>
                <a:r>
                  <a:rPr lang="en-US" altLang="zh-CN" sz="1800" dirty="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concentric solenoids </a:t>
                </a:r>
                <a:r>
                  <a:rPr lang="en-US" altLang="zh-CN" sz="1800" dirty="0">
                    <a:latin typeface="Times New Roman" panose="02020603050405020304" pitchFamily="18" charset="0"/>
                  </a:rPr>
                  <a:t>have different numbers of turns, </a:t>
                </a:r>
                <a:r>
                  <a:rPr lang="en-US" altLang="zh-CN" sz="1800" i="1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1800" baseline="-25000" dirty="0">
                    <a:latin typeface="Times New Roman" panose="02020603050405020304" pitchFamily="18" charset="0"/>
                  </a:rPr>
                  <a:t>1 </a:t>
                </a:r>
                <a:r>
                  <a:rPr lang="en-US" altLang="zh-CN" sz="1800" dirty="0">
                    <a:latin typeface="Times New Roman" panose="02020603050405020304" pitchFamily="18" charset="0"/>
                  </a:rPr>
                  <a:t>and </a:t>
                </a:r>
                <a:r>
                  <a:rPr lang="en-US" altLang="zh-CN" sz="1800" i="1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1800" baseline="-25000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1800" dirty="0">
                    <a:latin typeface="Times New Roman" panose="02020603050405020304" pitchFamily="18" charset="0"/>
                  </a:rPr>
                  <a:t> (even though in the drawing the turn count would appear to be the same).  Both coils have the same length, </a:t>
                </a:r>
                <a:r>
                  <a:rPr lang="en-US" altLang="zh-CN" sz="1800" i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1800" dirty="0">
                    <a:latin typeface="Times New Roman" panose="02020603050405020304" pitchFamily="18" charset="0"/>
                  </a:rPr>
                  <a:t>.   The area of each identical turn in the two coils is </a:t>
                </a:r>
                <a:r>
                  <a:rPr lang="en-US" altLang="zh-CN" sz="1800" i="1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1800" baseline="-25000" dirty="0">
                    <a:latin typeface="Times New Roman" panose="02020603050405020304" pitchFamily="18" charset="0"/>
                  </a:rPr>
                  <a:t>1 </a:t>
                </a:r>
                <a:r>
                  <a:rPr lang="en-US" altLang="zh-CN" sz="1800" dirty="0">
                    <a:latin typeface="Times New Roman" panose="02020603050405020304" pitchFamily="18" charset="0"/>
                  </a:rPr>
                  <a:t>for the outer coil, and </a:t>
                </a:r>
                <a:r>
                  <a:rPr lang="en-US" altLang="zh-CN" sz="1800" i="1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1800" baseline="-25000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1800" dirty="0">
                    <a:latin typeface="Times New Roman" panose="02020603050405020304" pitchFamily="18" charset="0"/>
                  </a:rPr>
                  <a:t> for the interior coil.  The core permeability is       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pic>
          <p:nvPicPr>
            <p:cNvPr id="242" name="Picture 19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8" y="2836"/>
              <a:ext cx="118" cy="1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43" name="Picture 19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1" y="2688"/>
              <a:ext cx="104" cy="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922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Mutual Inductance, </a:t>
            </a:r>
            <a:r>
              <a:rPr lang="en-US" altLang="zh-CN" sz="28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12</a:t>
            </a:r>
            <a:endParaRPr lang="zh-CN" altLang="en-US" sz="2800" b="1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39" name="Group 223"/>
          <p:cNvGrpSpPr/>
          <p:nvPr/>
        </p:nvGrpSpPr>
        <p:grpSpPr bwMode="auto">
          <a:xfrm>
            <a:off x="228600" y="1676400"/>
            <a:ext cx="8237538" cy="4724400"/>
            <a:chOff x="144" y="1056"/>
            <a:chExt cx="5189" cy="2976"/>
          </a:xfrm>
        </p:grpSpPr>
        <p:sp>
          <p:nvSpPr>
            <p:cNvPr id="40" name="Rectangle 208"/>
            <p:cNvSpPr>
              <a:spLocks noChangeArrowheads="1"/>
            </p:cNvSpPr>
            <p:nvPr/>
          </p:nvSpPr>
          <p:spPr bwMode="auto">
            <a:xfrm>
              <a:off x="2160" y="1056"/>
              <a:ext cx="311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With the outer coil current </a:t>
              </a:r>
              <a:r>
                <a:rPr lang="en-US" altLang="zh-CN" sz="1600" i="1" dirty="0">
                  <a:latin typeface="Times New Roman" panose="02020603050405020304" pitchFamily="18" charset="0"/>
                </a:rPr>
                <a:t>I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  turned on,  the interior flux</a:t>
              </a:r>
              <a:endParaRPr lang="en-US" altLang="zh-CN" sz="16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exists throughout the outer coil volume, and consequently</a:t>
              </a:r>
              <a:endParaRPr lang="en-US" altLang="zh-CN" sz="16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throughout the volume of the inner coil as well. 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41" name="Rectangle 209"/>
            <p:cNvSpPr>
              <a:spLocks noChangeArrowheads="1"/>
            </p:cNvSpPr>
            <p:nvPr/>
          </p:nvSpPr>
          <p:spPr bwMode="auto">
            <a:xfrm>
              <a:off x="2160" y="1584"/>
              <a:ext cx="317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Flux density 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12 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resides inside coil 2 (and in coil 1 as well)</a:t>
              </a:r>
              <a:endParaRPr lang="en-US" altLang="zh-CN" sz="1600" baseline="-25000" dirty="0">
                <a:latin typeface="Times New Roman" panose="02020603050405020304" pitchFamily="18" charset="0"/>
              </a:endParaRPr>
            </a:p>
          </p:txBody>
        </p:sp>
        <p:pic>
          <p:nvPicPr>
            <p:cNvPr id="42" name="Picture 21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6" y="1920"/>
              <a:ext cx="1307" cy="4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4" name="Line 194"/>
            <p:cNvSpPr>
              <a:spLocks noChangeShapeType="1"/>
            </p:cNvSpPr>
            <p:nvPr/>
          </p:nvSpPr>
          <p:spPr bwMode="auto">
            <a:xfrm flipV="1">
              <a:off x="1422" y="1692"/>
              <a:ext cx="0" cy="177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187"/>
            <p:cNvSpPr>
              <a:spLocks noChangeShapeType="1"/>
            </p:cNvSpPr>
            <p:nvPr/>
          </p:nvSpPr>
          <p:spPr bwMode="auto">
            <a:xfrm flipV="1">
              <a:off x="714" y="1680"/>
              <a:ext cx="0" cy="177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2"/>
            <p:cNvSpPr>
              <a:spLocks noChangeShapeType="1"/>
            </p:cNvSpPr>
            <p:nvPr/>
          </p:nvSpPr>
          <p:spPr bwMode="auto">
            <a:xfrm flipV="1">
              <a:off x="765" y="1683"/>
              <a:ext cx="0" cy="177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14"/>
            <p:cNvSpPr>
              <a:spLocks noChangeShapeType="1"/>
            </p:cNvSpPr>
            <p:nvPr/>
          </p:nvSpPr>
          <p:spPr bwMode="auto">
            <a:xfrm flipV="1">
              <a:off x="822" y="1674"/>
              <a:ext cx="0" cy="177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Line 3"/>
            <p:cNvSpPr>
              <a:spLocks noChangeShapeType="1"/>
            </p:cNvSpPr>
            <p:nvPr/>
          </p:nvSpPr>
          <p:spPr bwMode="auto">
            <a:xfrm flipV="1">
              <a:off x="876" y="1680"/>
              <a:ext cx="0" cy="177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Line 13"/>
            <p:cNvSpPr>
              <a:spLocks noChangeShapeType="1"/>
            </p:cNvSpPr>
            <p:nvPr/>
          </p:nvSpPr>
          <p:spPr bwMode="auto">
            <a:xfrm flipV="1">
              <a:off x="927" y="1680"/>
              <a:ext cx="0" cy="177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Line 4"/>
            <p:cNvSpPr>
              <a:spLocks noChangeShapeType="1"/>
            </p:cNvSpPr>
            <p:nvPr/>
          </p:nvSpPr>
          <p:spPr bwMode="auto">
            <a:xfrm flipV="1">
              <a:off x="984" y="1686"/>
              <a:ext cx="0" cy="177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Line 12"/>
            <p:cNvSpPr>
              <a:spLocks noChangeShapeType="1"/>
            </p:cNvSpPr>
            <p:nvPr/>
          </p:nvSpPr>
          <p:spPr bwMode="auto">
            <a:xfrm flipV="1">
              <a:off x="1038" y="1686"/>
              <a:ext cx="0" cy="177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Line 5"/>
            <p:cNvSpPr>
              <a:spLocks noChangeShapeType="1"/>
            </p:cNvSpPr>
            <p:nvPr/>
          </p:nvSpPr>
          <p:spPr bwMode="auto">
            <a:xfrm flipV="1">
              <a:off x="1098" y="1692"/>
              <a:ext cx="0" cy="177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Line 10"/>
            <p:cNvSpPr>
              <a:spLocks noChangeShapeType="1"/>
            </p:cNvSpPr>
            <p:nvPr/>
          </p:nvSpPr>
          <p:spPr bwMode="auto">
            <a:xfrm flipV="1">
              <a:off x="1158" y="1686"/>
              <a:ext cx="0" cy="177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6"/>
            <p:cNvSpPr>
              <a:spLocks noChangeShapeType="1"/>
            </p:cNvSpPr>
            <p:nvPr/>
          </p:nvSpPr>
          <p:spPr bwMode="auto">
            <a:xfrm flipV="1">
              <a:off x="1218" y="1692"/>
              <a:ext cx="0" cy="177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Line 11"/>
            <p:cNvSpPr>
              <a:spLocks noChangeShapeType="1"/>
            </p:cNvSpPr>
            <p:nvPr/>
          </p:nvSpPr>
          <p:spPr bwMode="auto">
            <a:xfrm flipV="1">
              <a:off x="1278" y="1686"/>
              <a:ext cx="0" cy="177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Line 7"/>
            <p:cNvSpPr>
              <a:spLocks noChangeShapeType="1"/>
            </p:cNvSpPr>
            <p:nvPr/>
          </p:nvSpPr>
          <p:spPr bwMode="auto">
            <a:xfrm flipV="1">
              <a:off x="1332" y="1689"/>
              <a:ext cx="0" cy="177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Line 8"/>
            <p:cNvSpPr>
              <a:spLocks noChangeShapeType="1"/>
            </p:cNvSpPr>
            <p:nvPr/>
          </p:nvSpPr>
          <p:spPr bwMode="auto">
            <a:xfrm flipV="1">
              <a:off x="1374" y="1686"/>
              <a:ext cx="0" cy="177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Rectangle 58"/>
            <p:cNvSpPr>
              <a:spLocks noChangeArrowheads="1"/>
            </p:cNvSpPr>
            <p:nvPr/>
          </p:nvSpPr>
          <p:spPr bwMode="auto">
            <a:xfrm>
              <a:off x="1425" y="2361"/>
              <a:ext cx="20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Times New Roman" panose="02020603050405020304" pitchFamily="18" charset="0"/>
                </a:rPr>
                <a:t>I</a:t>
              </a:r>
              <a:r>
                <a:rPr lang="en-US" altLang="zh-CN" sz="1600" baseline="-25000">
                  <a:latin typeface="Times New Roman" panose="02020603050405020304" pitchFamily="18" charset="0"/>
                </a:rPr>
                <a:t>1</a:t>
              </a:r>
              <a:endParaRPr lang="en-US" altLang="zh-CN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60"/>
            <p:cNvSpPr>
              <a:spLocks noChangeArrowheads="1"/>
            </p:cNvSpPr>
            <p:nvPr/>
          </p:nvSpPr>
          <p:spPr bwMode="auto">
            <a:xfrm>
              <a:off x="912" y="1180"/>
              <a:ext cx="28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B</a:t>
              </a:r>
              <a:r>
                <a:rPr lang="en-US" altLang="zh-CN" sz="1600" baseline="-25000">
                  <a:latin typeface="Times New Roman" panose="02020603050405020304" pitchFamily="18" charset="0"/>
                </a:rPr>
                <a:t>12</a:t>
              </a:r>
              <a:endParaRPr lang="en-US" altLang="zh-CN" sz="1600" b="1">
                <a:latin typeface="Times New Roman" panose="02020603050405020304" pitchFamily="18" charset="0"/>
              </a:endParaRPr>
            </a:p>
          </p:txBody>
        </p:sp>
        <p:grpSp>
          <p:nvGrpSpPr>
            <p:cNvPr id="60" name="Group 156"/>
            <p:cNvGrpSpPr/>
            <p:nvPr/>
          </p:nvGrpSpPr>
          <p:grpSpPr bwMode="auto">
            <a:xfrm>
              <a:off x="279" y="2016"/>
              <a:ext cx="1593" cy="1277"/>
              <a:chOff x="273" y="2016"/>
              <a:chExt cx="1593" cy="1277"/>
            </a:xfrm>
          </p:grpSpPr>
          <p:sp>
            <p:nvSpPr>
              <p:cNvPr id="164" name="Rectangle 157"/>
              <p:cNvSpPr>
                <a:spLocks noChangeArrowheads="1"/>
              </p:cNvSpPr>
              <p:nvPr/>
            </p:nvSpPr>
            <p:spPr bwMode="auto">
              <a:xfrm>
                <a:off x="273" y="2352"/>
                <a:ext cx="255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1400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1400" i="1">
                    <a:latin typeface="Times New Roman" panose="02020603050405020304" pitchFamily="18" charset="0"/>
                  </a:rPr>
                  <a:t> </a:t>
                </a:r>
                <a:endParaRPr lang="en-US" altLang="zh-CN" sz="1400" i="1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65" name="Group 158"/>
              <p:cNvGrpSpPr/>
              <p:nvPr/>
            </p:nvGrpSpPr>
            <p:grpSpPr bwMode="auto">
              <a:xfrm>
                <a:off x="524" y="2016"/>
                <a:ext cx="1342" cy="1277"/>
                <a:chOff x="524" y="2016"/>
                <a:chExt cx="1342" cy="1277"/>
              </a:xfrm>
            </p:grpSpPr>
            <p:grpSp>
              <p:nvGrpSpPr>
                <p:cNvPr id="169" name="Group 159"/>
                <p:cNvGrpSpPr/>
                <p:nvPr/>
              </p:nvGrpSpPr>
              <p:grpSpPr bwMode="auto">
                <a:xfrm>
                  <a:off x="672" y="2016"/>
                  <a:ext cx="771" cy="1074"/>
                  <a:chOff x="672" y="2016"/>
                  <a:chExt cx="771" cy="1074"/>
                </a:xfrm>
              </p:grpSpPr>
              <p:sp>
                <p:nvSpPr>
                  <p:cNvPr id="186" name="Oval 160"/>
                  <p:cNvSpPr>
                    <a:spLocks noChangeArrowheads="1"/>
                  </p:cNvSpPr>
                  <p:nvPr/>
                </p:nvSpPr>
                <p:spPr bwMode="auto">
                  <a:xfrm>
                    <a:off x="675" y="2016"/>
                    <a:ext cx="768" cy="144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7" name="Oval 161"/>
                  <p:cNvSpPr>
                    <a:spLocks noChangeArrowheads="1"/>
                  </p:cNvSpPr>
                  <p:nvPr/>
                </p:nvSpPr>
                <p:spPr bwMode="auto">
                  <a:xfrm>
                    <a:off x="675" y="2208"/>
                    <a:ext cx="768" cy="144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8" name="Oval 162"/>
                  <p:cNvSpPr>
                    <a:spLocks noChangeArrowheads="1"/>
                  </p:cNvSpPr>
                  <p:nvPr/>
                </p:nvSpPr>
                <p:spPr bwMode="auto">
                  <a:xfrm>
                    <a:off x="675" y="2394"/>
                    <a:ext cx="768" cy="144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9" name="Oval 163"/>
                  <p:cNvSpPr>
                    <a:spLocks noChangeArrowheads="1"/>
                  </p:cNvSpPr>
                  <p:nvPr/>
                </p:nvSpPr>
                <p:spPr bwMode="auto">
                  <a:xfrm>
                    <a:off x="675" y="2577"/>
                    <a:ext cx="768" cy="144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0" name="Oval 164"/>
                  <p:cNvSpPr>
                    <a:spLocks noChangeArrowheads="1"/>
                  </p:cNvSpPr>
                  <p:nvPr/>
                </p:nvSpPr>
                <p:spPr bwMode="auto">
                  <a:xfrm>
                    <a:off x="675" y="2763"/>
                    <a:ext cx="768" cy="144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1" name="Oval 165"/>
                  <p:cNvSpPr>
                    <a:spLocks noChangeArrowheads="1"/>
                  </p:cNvSpPr>
                  <p:nvPr/>
                </p:nvSpPr>
                <p:spPr bwMode="auto">
                  <a:xfrm>
                    <a:off x="672" y="2946"/>
                    <a:ext cx="768" cy="144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70" name="Rectangle 166"/>
                <p:cNvSpPr>
                  <a:spLocks noChangeArrowheads="1"/>
                </p:cNvSpPr>
                <p:nvPr/>
              </p:nvSpPr>
              <p:spPr bwMode="auto">
                <a:xfrm>
                  <a:off x="524" y="3120"/>
                  <a:ext cx="196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200" i="1">
                      <a:latin typeface="Times New Roman" panose="02020603050405020304" pitchFamily="18" charset="0"/>
                    </a:rPr>
                    <a:t>S</a:t>
                  </a:r>
                  <a:r>
                    <a:rPr lang="en-US" altLang="zh-CN" sz="1200" baseline="-25000">
                      <a:latin typeface="Times New Roman" panose="02020603050405020304" pitchFamily="18" charset="0"/>
                    </a:rPr>
                    <a:t>1</a:t>
                  </a:r>
                  <a:endParaRPr lang="en-US" altLang="zh-CN" sz="12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1" name="Line 167"/>
                <p:cNvSpPr>
                  <a:spLocks noChangeShapeType="1"/>
                </p:cNvSpPr>
                <p:nvPr/>
              </p:nvSpPr>
              <p:spPr bwMode="auto">
                <a:xfrm>
                  <a:off x="1536" y="2088"/>
                  <a:ext cx="3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2" name="Line 168"/>
                <p:cNvSpPr>
                  <a:spLocks noChangeShapeType="1"/>
                </p:cNvSpPr>
                <p:nvPr/>
              </p:nvSpPr>
              <p:spPr bwMode="auto">
                <a:xfrm>
                  <a:off x="1536" y="3021"/>
                  <a:ext cx="33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3" name="Rectangle 169"/>
                <p:cNvSpPr>
                  <a:spLocks noChangeArrowheads="1"/>
                </p:cNvSpPr>
                <p:nvPr/>
              </p:nvSpPr>
              <p:spPr bwMode="auto">
                <a:xfrm>
                  <a:off x="1632" y="2434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600" i="1">
                      <a:latin typeface="Times New Roman" panose="02020603050405020304" pitchFamily="18" charset="0"/>
                    </a:rPr>
                    <a:t>d</a:t>
                  </a:r>
                  <a:endParaRPr lang="en-US" altLang="zh-CN" sz="16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4" name="Line 170"/>
                <p:cNvSpPr>
                  <a:spLocks noChangeShapeType="1"/>
                </p:cNvSpPr>
                <p:nvPr/>
              </p:nvSpPr>
              <p:spPr bwMode="auto">
                <a:xfrm flipV="1">
                  <a:off x="1731" y="2085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5" name="Line 171"/>
                <p:cNvSpPr>
                  <a:spLocks noChangeShapeType="1"/>
                </p:cNvSpPr>
                <p:nvPr/>
              </p:nvSpPr>
              <p:spPr bwMode="auto">
                <a:xfrm>
                  <a:off x="1731" y="2685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76" name="Group 172"/>
                <p:cNvGrpSpPr/>
                <p:nvPr/>
              </p:nvGrpSpPr>
              <p:grpSpPr bwMode="auto">
                <a:xfrm>
                  <a:off x="837" y="2046"/>
                  <a:ext cx="461" cy="1010"/>
                  <a:chOff x="837" y="2046"/>
                  <a:chExt cx="461" cy="1010"/>
                </a:xfrm>
              </p:grpSpPr>
              <p:sp>
                <p:nvSpPr>
                  <p:cNvPr id="180" name="Oval 173"/>
                  <p:cNvSpPr>
                    <a:spLocks noChangeArrowheads="1"/>
                  </p:cNvSpPr>
                  <p:nvPr/>
                </p:nvSpPr>
                <p:spPr bwMode="auto">
                  <a:xfrm>
                    <a:off x="839" y="2046"/>
                    <a:ext cx="459" cy="93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1" name="Oval 174"/>
                  <p:cNvSpPr>
                    <a:spLocks noChangeArrowheads="1"/>
                  </p:cNvSpPr>
                  <p:nvPr/>
                </p:nvSpPr>
                <p:spPr bwMode="auto">
                  <a:xfrm>
                    <a:off x="839" y="2238"/>
                    <a:ext cx="459" cy="80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2" name="Oval 175"/>
                  <p:cNvSpPr>
                    <a:spLocks noChangeArrowheads="1"/>
                  </p:cNvSpPr>
                  <p:nvPr/>
                </p:nvSpPr>
                <p:spPr bwMode="auto">
                  <a:xfrm>
                    <a:off x="839" y="2424"/>
                    <a:ext cx="459" cy="83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3" name="Oval 176"/>
                  <p:cNvSpPr>
                    <a:spLocks noChangeArrowheads="1"/>
                  </p:cNvSpPr>
                  <p:nvPr/>
                </p:nvSpPr>
                <p:spPr bwMode="auto">
                  <a:xfrm>
                    <a:off x="839" y="2607"/>
                    <a:ext cx="459" cy="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4" name="Oval 177"/>
                  <p:cNvSpPr>
                    <a:spLocks noChangeArrowheads="1"/>
                  </p:cNvSpPr>
                  <p:nvPr/>
                </p:nvSpPr>
                <p:spPr bwMode="auto">
                  <a:xfrm>
                    <a:off x="839" y="2793"/>
                    <a:ext cx="459" cy="80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5" name="Oval 178"/>
                  <p:cNvSpPr>
                    <a:spLocks noChangeArrowheads="1"/>
                  </p:cNvSpPr>
                  <p:nvPr/>
                </p:nvSpPr>
                <p:spPr bwMode="auto">
                  <a:xfrm>
                    <a:off x="837" y="2976"/>
                    <a:ext cx="459" cy="80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zh-CN" sz="180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77" name="Rectangle 179"/>
                <p:cNvSpPr>
                  <a:spLocks noChangeArrowheads="1"/>
                </p:cNvSpPr>
                <p:nvPr/>
              </p:nvSpPr>
              <p:spPr bwMode="auto">
                <a:xfrm>
                  <a:off x="1392" y="3120"/>
                  <a:ext cx="196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200" i="1">
                      <a:latin typeface="Times New Roman" panose="02020603050405020304" pitchFamily="18" charset="0"/>
                    </a:rPr>
                    <a:t>S</a:t>
                  </a:r>
                  <a:r>
                    <a:rPr lang="en-US" altLang="zh-CN" sz="1200" baseline="-25000">
                      <a:latin typeface="Times New Roman" panose="02020603050405020304" pitchFamily="18" charset="0"/>
                    </a:rPr>
                    <a:t>2</a:t>
                  </a:r>
                  <a:endParaRPr lang="en-US" altLang="zh-CN" sz="12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8" name="Line 180"/>
                <p:cNvSpPr>
                  <a:spLocks noChangeShapeType="1"/>
                </p:cNvSpPr>
                <p:nvPr/>
              </p:nvSpPr>
              <p:spPr bwMode="auto">
                <a:xfrm flipV="1">
                  <a:off x="672" y="3024"/>
                  <a:ext cx="96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9" name="Line 181"/>
                <p:cNvSpPr>
                  <a:spLocks noChangeShapeType="1"/>
                </p:cNvSpPr>
                <p:nvPr/>
              </p:nvSpPr>
              <p:spPr bwMode="auto">
                <a:xfrm flipH="1" flipV="1">
                  <a:off x="1112" y="2999"/>
                  <a:ext cx="280" cy="1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66" name="Rectangle 182"/>
              <p:cNvSpPr>
                <a:spLocks noChangeArrowheads="1"/>
              </p:cNvSpPr>
              <p:nvPr/>
            </p:nvSpPr>
            <p:spPr bwMode="auto">
              <a:xfrm>
                <a:off x="273" y="2640"/>
                <a:ext cx="255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400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1400" baseline="-2500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1400" i="1">
                    <a:latin typeface="Times New Roman" panose="02020603050405020304" pitchFamily="18" charset="0"/>
                  </a:rPr>
                  <a:t> </a:t>
                </a:r>
                <a:endParaRPr lang="en-US" altLang="zh-CN" sz="1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7" name="Line 183"/>
              <p:cNvSpPr>
                <a:spLocks noChangeShapeType="1"/>
              </p:cNvSpPr>
              <p:nvPr/>
            </p:nvSpPr>
            <p:spPr bwMode="auto">
              <a:xfrm>
                <a:off x="480" y="2754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8" name="Line 184"/>
              <p:cNvSpPr>
                <a:spLocks noChangeShapeType="1"/>
              </p:cNvSpPr>
              <p:nvPr/>
            </p:nvSpPr>
            <p:spPr bwMode="auto">
              <a:xfrm>
                <a:off x="494" y="2473"/>
                <a:ext cx="14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1" name="Line 22"/>
            <p:cNvSpPr>
              <a:spLocks noChangeShapeType="1"/>
            </p:cNvSpPr>
            <p:nvPr/>
          </p:nvSpPr>
          <p:spPr bwMode="auto">
            <a:xfrm flipV="1">
              <a:off x="1185" y="3072"/>
              <a:ext cx="123" cy="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Line 23"/>
            <p:cNvSpPr>
              <a:spLocks noChangeShapeType="1"/>
            </p:cNvSpPr>
            <p:nvPr/>
          </p:nvSpPr>
          <p:spPr bwMode="auto">
            <a:xfrm flipV="1">
              <a:off x="1188" y="2892"/>
              <a:ext cx="123" cy="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24"/>
            <p:cNvSpPr>
              <a:spLocks noChangeShapeType="1"/>
            </p:cNvSpPr>
            <p:nvPr/>
          </p:nvSpPr>
          <p:spPr bwMode="auto">
            <a:xfrm flipV="1">
              <a:off x="1185" y="2706"/>
              <a:ext cx="123" cy="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25"/>
            <p:cNvSpPr>
              <a:spLocks noChangeShapeType="1"/>
            </p:cNvSpPr>
            <p:nvPr/>
          </p:nvSpPr>
          <p:spPr bwMode="auto">
            <a:xfrm flipV="1">
              <a:off x="1191" y="2520"/>
              <a:ext cx="123" cy="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Line 26"/>
            <p:cNvSpPr>
              <a:spLocks noChangeShapeType="1"/>
            </p:cNvSpPr>
            <p:nvPr/>
          </p:nvSpPr>
          <p:spPr bwMode="auto">
            <a:xfrm flipV="1">
              <a:off x="1191" y="2334"/>
              <a:ext cx="123" cy="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27"/>
            <p:cNvSpPr>
              <a:spLocks noChangeShapeType="1"/>
            </p:cNvSpPr>
            <p:nvPr/>
          </p:nvSpPr>
          <p:spPr bwMode="auto">
            <a:xfrm flipV="1">
              <a:off x="1191" y="2145"/>
              <a:ext cx="123" cy="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28"/>
            <p:cNvSpPr>
              <a:spLocks noChangeShapeType="1"/>
            </p:cNvSpPr>
            <p:nvPr/>
          </p:nvSpPr>
          <p:spPr bwMode="auto">
            <a:xfrm>
              <a:off x="822" y="1980"/>
              <a:ext cx="0" cy="138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29"/>
            <p:cNvSpPr>
              <a:spLocks noChangeShapeType="1"/>
            </p:cNvSpPr>
            <p:nvPr/>
          </p:nvSpPr>
          <p:spPr bwMode="auto">
            <a:xfrm>
              <a:off x="822" y="2178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30"/>
            <p:cNvSpPr>
              <a:spLocks noChangeShapeType="1"/>
            </p:cNvSpPr>
            <p:nvPr/>
          </p:nvSpPr>
          <p:spPr bwMode="auto">
            <a:xfrm>
              <a:off x="822" y="2364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Line 31"/>
            <p:cNvSpPr>
              <a:spLocks noChangeShapeType="1"/>
            </p:cNvSpPr>
            <p:nvPr/>
          </p:nvSpPr>
          <p:spPr bwMode="auto">
            <a:xfrm>
              <a:off x="822" y="2550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Line 32"/>
            <p:cNvSpPr>
              <a:spLocks noChangeShapeType="1"/>
            </p:cNvSpPr>
            <p:nvPr/>
          </p:nvSpPr>
          <p:spPr bwMode="auto">
            <a:xfrm>
              <a:off x="822" y="2736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Line 33"/>
            <p:cNvSpPr>
              <a:spLocks noChangeShapeType="1"/>
            </p:cNvSpPr>
            <p:nvPr/>
          </p:nvSpPr>
          <p:spPr bwMode="auto">
            <a:xfrm>
              <a:off x="822" y="2916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Line 34"/>
            <p:cNvSpPr>
              <a:spLocks noChangeShapeType="1"/>
            </p:cNvSpPr>
            <p:nvPr/>
          </p:nvSpPr>
          <p:spPr bwMode="auto">
            <a:xfrm>
              <a:off x="927" y="2013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Line 35"/>
            <p:cNvSpPr>
              <a:spLocks noChangeShapeType="1"/>
            </p:cNvSpPr>
            <p:nvPr/>
          </p:nvSpPr>
          <p:spPr bwMode="auto">
            <a:xfrm>
              <a:off x="927" y="2194"/>
              <a:ext cx="0" cy="134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Line 36"/>
            <p:cNvSpPr>
              <a:spLocks noChangeShapeType="1"/>
            </p:cNvSpPr>
            <p:nvPr/>
          </p:nvSpPr>
          <p:spPr bwMode="auto">
            <a:xfrm>
              <a:off x="927" y="2403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Line 37"/>
            <p:cNvSpPr>
              <a:spLocks noChangeShapeType="1"/>
            </p:cNvSpPr>
            <p:nvPr/>
          </p:nvSpPr>
          <p:spPr bwMode="auto">
            <a:xfrm>
              <a:off x="927" y="2580"/>
              <a:ext cx="1" cy="122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Line 38"/>
            <p:cNvSpPr>
              <a:spLocks noChangeShapeType="1"/>
            </p:cNvSpPr>
            <p:nvPr/>
          </p:nvSpPr>
          <p:spPr bwMode="auto">
            <a:xfrm>
              <a:off x="927" y="2769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Line 39"/>
            <p:cNvSpPr>
              <a:spLocks noChangeShapeType="1"/>
            </p:cNvSpPr>
            <p:nvPr/>
          </p:nvSpPr>
          <p:spPr bwMode="auto">
            <a:xfrm>
              <a:off x="927" y="2935"/>
              <a:ext cx="0" cy="131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Line 40"/>
            <p:cNvSpPr>
              <a:spLocks noChangeShapeType="1"/>
            </p:cNvSpPr>
            <p:nvPr/>
          </p:nvSpPr>
          <p:spPr bwMode="auto">
            <a:xfrm>
              <a:off x="1038" y="1977"/>
              <a:ext cx="0" cy="141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Line 41"/>
            <p:cNvSpPr>
              <a:spLocks noChangeShapeType="1"/>
            </p:cNvSpPr>
            <p:nvPr/>
          </p:nvSpPr>
          <p:spPr bwMode="auto">
            <a:xfrm>
              <a:off x="1038" y="2190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Line 42"/>
            <p:cNvSpPr>
              <a:spLocks noChangeShapeType="1"/>
            </p:cNvSpPr>
            <p:nvPr/>
          </p:nvSpPr>
          <p:spPr bwMode="auto">
            <a:xfrm>
              <a:off x="1038" y="2367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Line 43"/>
            <p:cNvSpPr>
              <a:spLocks noChangeShapeType="1"/>
            </p:cNvSpPr>
            <p:nvPr/>
          </p:nvSpPr>
          <p:spPr bwMode="auto">
            <a:xfrm>
              <a:off x="1038" y="2550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Line 44"/>
            <p:cNvSpPr>
              <a:spLocks noChangeShapeType="1"/>
            </p:cNvSpPr>
            <p:nvPr/>
          </p:nvSpPr>
          <p:spPr bwMode="auto">
            <a:xfrm>
              <a:off x="1038" y="2754"/>
              <a:ext cx="0" cy="134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Line 46"/>
            <p:cNvSpPr>
              <a:spLocks noChangeShapeType="1"/>
            </p:cNvSpPr>
            <p:nvPr/>
          </p:nvSpPr>
          <p:spPr bwMode="auto">
            <a:xfrm flipH="1">
              <a:off x="1275" y="1986"/>
              <a:ext cx="3" cy="131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Line 47"/>
            <p:cNvSpPr>
              <a:spLocks noChangeShapeType="1"/>
            </p:cNvSpPr>
            <p:nvPr/>
          </p:nvSpPr>
          <p:spPr bwMode="auto">
            <a:xfrm>
              <a:off x="1278" y="2202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Line 48"/>
            <p:cNvSpPr>
              <a:spLocks noChangeShapeType="1"/>
            </p:cNvSpPr>
            <p:nvPr/>
          </p:nvSpPr>
          <p:spPr bwMode="auto">
            <a:xfrm>
              <a:off x="1278" y="2361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Line 49"/>
            <p:cNvSpPr>
              <a:spLocks noChangeShapeType="1"/>
            </p:cNvSpPr>
            <p:nvPr/>
          </p:nvSpPr>
          <p:spPr bwMode="auto">
            <a:xfrm>
              <a:off x="1278" y="2547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Line 50"/>
            <p:cNvSpPr>
              <a:spLocks noChangeShapeType="1"/>
            </p:cNvSpPr>
            <p:nvPr/>
          </p:nvSpPr>
          <p:spPr bwMode="auto">
            <a:xfrm>
              <a:off x="1278" y="2736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Line 51"/>
            <p:cNvSpPr>
              <a:spLocks noChangeShapeType="1"/>
            </p:cNvSpPr>
            <p:nvPr/>
          </p:nvSpPr>
          <p:spPr bwMode="auto">
            <a:xfrm>
              <a:off x="1278" y="2919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Line 52"/>
            <p:cNvSpPr>
              <a:spLocks noChangeShapeType="1"/>
            </p:cNvSpPr>
            <p:nvPr/>
          </p:nvSpPr>
          <p:spPr bwMode="auto">
            <a:xfrm>
              <a:off x="1158" y="2013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53"/>
            <p:cNvSpPr>
              <a:spLocks noChangeShapeType="1"/>
            </p:cNvSpPr>
            <p:nvPr/>
          </p:nvSpPr>
          <p:spPr bwMode="auto">
            <a:xfrm>
              <a:off x="1158" y="2214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54"/>
            <p:cNvSpPr>
              <a:spLocks noChangeShapeType="1"/>
            </p:cNvSpPr>
            <p:nvPr/>
          </p:nvSpPr>
          <p:spPr bwMode="auto">
            <a:xfrm>
              <a:off x="1158" y="2400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Line 55"/>
            <p:cNvSpPr>
              <a:spLocks noChangeShapeType="1"/>
            </p:cNvSpPr>
            <p:nvPr/>
          </p:nvSpPr>
          <p:spPr bwMode="auto">
            <a:xfrm>
              <a:off x="1158" y="2571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56"/>
            <p:cNvSpPr>
              <a:spLocks noChangeShapeType="1"/>
            </p:cNvSpPr>
            <p:nvPr/>
          </p:nvSpPr>
          <p:spPr bwMode="auto">
            <a:xfrm>
              <a:off x="1158" y="2760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Line 57"/>
            <p:cNvSpPr>
              <a:spLocks noChangeShapeType="1"/>
            </p:cNvSpPr>
            <p:nvPr/>
          </p:nvSpPr>
          <p:spPr bwMode="auto">
            <a:xfrm>
              <a:off x="1158" y="2937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114"/>
            <p:cNvSpPr>
              <a:spLocks noChangeShapeType="1"/>
            </p:cNvSpPr>
            <p:nvPr/>
          </p:nvSpPr>
          <p:spPr bwMode="auto">
            <a:xfrm>
              <a:off x="1374" y="1986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115"/>
            <p:cNvSpPr>
              <a:spLocks noChangeShapeType="1"/>
            </p:cNvSpPr>
            <p:nvPr/>
          </p:nvSpPr>
          <p:spPr bwMode="auto">
            <a:xfrm>
              <a:off x="1374" y="2202"/>
              <a:ext cx="4" cy="83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116"/>
            <p:cNvSpPr>
              <a:spLocks noChangeShapeType="1"/>
            </p:cNvSpPr>
            <p:nvPr/>
          </p:nvSpPr>
          <p:spPr bwMode="auto">
            <a:xfrm>
              <a:off x="1374" y="2361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117"/>
            <p:cNvSpPr>
              <a:spLocks noChangeShapeType="1"/>
            </p:cNvSpPr>
            <p:nvPr/>
          </p:nvSpPr>
          <p:spPr bwMode="auto">
            <a:xfrm>
              <a:off x="1374" y="2571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Line 118"/>
            <p:cNvSpPr>
              <a:spLocks noChangeShapeType="1"/>
            </p:cNvSpPr>
            <p:nvPr/>
          </p:nvSpPr>
          <p:spPr bwMode="auto">
            <a:xfrm>
              <a:off x="1374" y="2757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Line 119"/>
            <p:cNvSpPr>
              <a:spLocks noChangeShapeType="1"/>
            </p:cNvSpPr>
            <p:nvPr/>
          </p:nvSpPr>
          <p:spPr bwMode="auto">
            <a:xfrm>
              <a:off x="1374" y="2934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Line 120"/>
            <p:cNvSpPr>
              <a:spLocks noChangeShapeType="1"/>
            </p:cNvSpPr>
            <p:nvPr/>
          </p:nvSpPr>
          <p:spPr bwMode="auto">
            <a:xfrm>
              <a:off x="1218" y="1992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Line 121"/>
            <p:cNvSpPr>
              <a:spLocks noChangeShapeType="1"/>
            </p:cNvSpPr>
            <p:nvPr/>
          </p:nvSpPr>
          <p:spPr bwMode="auto">
            <a:xfrm>
              <a:off x="1218" y="2208"/>
              <a:ext cx="0" cy="83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" name="Line 122"/>
            <p:cNvSpPr>
              <a:spLocks noChangeShapeType="1"/>
            </p:cNvSpPr>
            <p:nvPr/>
          </p:nvSpPr>
          <p:spPr bwMode="auto">
            <a:xfrm>
              <a:off x="1218" y="2367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Line 123"/>
            <p:cNvSpPr>
              <a:spLocks noChangeShapeType="1"/>
            </p:cNvSpPr>
            <p:nvPr/>
          </p:nvSpPr>
          <p:spPr bwMode="auto">
            <a:xfrm>
              <a:off x="1218" y="2553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" name="Line 124"/>
            <p:cNvSpPr>
              <a:spLocks noChangeShapeType="1"/>
            </p:cNvSpPr>
            <p:nvPr/>
          </p:nvSpPr>
          <p:spPr bwMode="auto">
            <a:xfrm>
              <a:off x="1218" y="2742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" name="Line 125"/>
            <p:cNvSpPr>
              <a:spLocks noChangeShapeType="1"/>
            </p:cNvSpPr>
            <p:nvPr/>
          </p:nvSpPr>
          <p:spPr bwMode="auto">
            <a:xfrm>
              <a:off x="1218" y="2925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" name="Line 126"/>
            <p:cNvSpPr>
              <a:spLocks noChangeShapeType="1"/>
            </p:cNvSpPr>
            <p:nvPr/>
          </p:nvSpPr>
          <p:spPr bwMode="auto">
            <a:xfrm>
              <a:off x="1332" y="1989"/>
              <a:ext cx="0" cy="112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" name="Line 127"/>
            <p:cNvSpPr>
              <a:spLocks noChangeShapeType="1"/>
            </p:cNvSpPr>
            <p:nvPr/>
          </p:nvSpPr>
          <p:spPr bwMode="auto">
            <a:xfrm>
              <a:off x="1332" y="2205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" name="Line 128"/>
            <p:cNvSpPr>
              <a:spLocks noChangeShapeType="1"/>
            </p:cNvSpPr>
            <p:nvPr/>
          </p:nvSpPr>
          <p:spPr bwMode="auto">
            <a:xfrm>
              <a:off x="1332" y="2364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" name="Line 129"/>
            <p:cNvSpPr>
              <a:spLocks noChangeShapeType="1"/>
            </p:cNvSpPr>
            <p:nvPr/>
          </p:nvSpPr>
          <p:spPr bwMode="auto">
            <a:xfrm>
              <a:off x="1332" y="2550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" name="Line 130"/>
            <p:cNvSpPr>
              <a:spLocks noChangeShapeType="1"/>
            </p:cNvSpPr>
            <p:nvPr/>
          </p:nvSpPr>
          <p:spPr bwMode="auto">
            <a:xfrm>
              <a:off x="1332" y="2739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" name="Line 131"/>
            <p:cNvSpPr>
              <a:spLocks noChangeShapeType="1"/>
            </p:cNvSpPr>
            <p:nvPr/>
          </p:nvSpPr>
          <p:spPr bwMode="auto">
            <a:xfrm>
              <a:off x="1332" y="2922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" name="Line 132"/>
            <p:cNvSpPr>
              <a:spLocks noChangeShapeType="1"/>
            </p:cNvSpPr>
            <p:nvPr/>
          </p:nvSpPr>
          <p:spPr bwMode="auto">
            <a:xfrm>
              <a:off x="1098" y="1992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" name="Line 133"/>
            <p:cNvSpPr>
              <a:spLocks noChangeShapeType="1"/>
            </p:cNvSpPr>
            <p:nvPr/>
          </p:nvSpPr>
          <p:spPr bwMode="auto">
            <a:xfrm>
              <a:off x="1098" y="2208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" name="Line 134"/>
            <p:cNvSpPr>
              <a:spLocks noChangeShapeType="1"/>
            </p:cNvSpPr>
            <p:nvPr/>
          </p:nvSpPr>
          <p:spPr bwMode="auto">
            <a:xfrm>
              <a:off x="1098" y="2367"/>
              <a:ext cx="0" cy="118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" name="Line 135"/>
            <p:cNvSpPr>
              <a:spLocks noChangeShapeType="1"/>
            </p:cNvSpPr>
            <p:nvPr/>
          </p:nvSpPr>
          <p:spPr bwMode="auto">
            <a:xfrm>
              <a:off x="1098" y="2553"/>
              <a:ext cx="0" cy="121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" name="Line 136"/>
            <p:cNvSpPr>
              <a:spLocks noChangeShapeType="1"/>
            </p:cNvSpPr>
            <p:nvPr/>
          </p:nvSpPr>
          <p:spPr bwMode="auto">
            <a:xfrm flipH="1">
              <a:off x="1098" y="2747"/>
              <a:ext cx="3" cy="140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Line 137"/>
            <p:cNvSpPr>
              <a:spLocks noChangeShapeType="1"/>
            </p:cNvSpPr>
            <p:nvPr/>
          </p:nvSpPr>
          <p:spPr bwMode="auto">
            <a:xfrm>
              <a:off x="1098" y="2916"/>
              <a:ext cx="0" cy="124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" name="Line 138"/>
            <p:cNvSpPr>
              <a:spLocks noChangeShapeType="1"/>
            </p:cNvSpPr>
            <p:nvPr/>
          </p:nvSpPr>
          <p:spPr bwMode="auto">
            <a:xfrm>
              <a:off x="984" y="1986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1" name="Line 139"/>
            <p:cNvSpPr>
              <a:spLocks noChangeShapeType="1"/>
            </p:cNvSpPr>
            <p:nvPr/>
          </p:nvSpPr>
          <p:spPr bwMode="auto">
            <a:xfrm>
              <a:off x="984" y="2202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" name="Line 140"/>
            <p:cNvSpPr>
              <a:spLocks noChangeShapeType="1"/>
            </p:cNvSpPr>
            <p:nvPr/>
          </p:nvSpPr>
          <p:spPr bwMode="auto">
            <a:xfrm>
              <a:off x="984" y="2361"/>
              <a:ext cx="0" cy="125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" name="Line 141"/>
            <p:cNvSpPr>
              <a:spLocks noChangeShapeType="1"/>
            </p:cNvSpPr>
            <p:nvPr/>
          </p:nvSpPr>
          <p:spPr bwMode="auto">
            <a:xfrm>
              <a:off x="984" y="2547"/>
              <a:ext cx="0" cy="128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" name="Line 142"/>
            <p:cNvSpPr>
              <a:spLocks noChangeShapeType="1"/>
            </p:cNvSpPr>
            <p:nvPr/>
          </p:nvSpPr>
          <p:spPr bwMode="auto">
            <a:xfrm>
              <a:off x="984" y="2736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" name="Line 143"/>
            <p:cNvSpPr>
              <a:spLocks noChangeShapeType="1"/>
            </p:cNvSpPr>
            <p:nvPr/>
          </p:nvSpPr>
          <p:spPr bwMode="auto">
            <a:xfrm>
              <a:off x="984" y="2919"/>
              <a:ext cx="1" cy="138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" name="Line 144"/>
            <p:cNvSpPr>
              <a:spLocks noChangeShapeType="1"/>
            </p:cNvSpPr>
            <p:nvPr/>
          </p:nvSpPr>
          <p:spPr bwMode="auto">
            <a:xfrm>
              <a:off x="876" y="1980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" name="Line 145"/>
            <p:cNvSpPr>
              <a:spLocks noChangeShapeType="1"/>
            </p:cNvSpPr>
            <p:nvPr/>
          </p:nvSpPr>
          <p:spPr bwMode="auto">
            <a:xfrm>
              <a:off x="876" y="2196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" name="Line 146"/>
            <p:cNvSpPr>
              <a:spLocks noChangeShapeType="1"/>
            </p:cNvSpPr>
            <p:nvPr/>
          </p:nvSpPr>
          <p:spPr bwMode="auto">
            <a:xfrm>
              <a:off x="876" y="2355"/>
              <a:ext cx="0" cy="118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" name="Line 147"/>
            <p:cNvSpPr>
              <a:spLocks noChangeShapeType="1"/>
            </p:cNvSpPr>
            <p:nvPr/>
          </p:nvSpPr>
          <p:spPr bwMode="auto">
            <a:xfrm>
              <a:off x="876" y="2541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" name="Line 148"/>
            <p:cNvSpPr>
              <a:spLocks noChangeShapeType="1"/>
            </p:cNvSpPr>
            <p:nvPr/>
          </p:nvSpPr>
          <p:spPr bwMode="auto">
            <a:xfrm>
              <a:off x="876" y="2730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" name="Line 149"/>
            <p:cNvSpPr>
              <a:spLocks noChangeShapeType="1"/>
            </p:cNvSpPr>
            <p:nvPr/>
          </p:nvSpPr>
          <p:spPr bwMode="auto">
            <a:xfrm>
              <a:off x="876" y="2913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" name="Line 150"/>
            <p:cNvSpPr>
              <a:spLocks noChangeShapeType="1"/>
            </p:cNvSpPr>
            <p:nvPr/>
          </p:nvSpPr>
          <p:spPr bwMode="auto">
            <a:xfrm>
              <a:off x="765" y="1983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" name="Line 151"/>
            <p:cNvSpPr>
              <a:spLocks noChangeShapeType="1"/>
            </p:cNvSpPr>
            <p:nvPr/>
          </p:nvSpPr>
          <p:spPr bwMode="auto">
            <a:xfrm>
              <a:off x="765" y="2199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" name="Line 152"/>
            <p:cNvSpPr>
              <a:spLocks noChangeShapeType="1"/>
            </p:cNvSpPr>
            <p:nvPr/>
          </p:nvSpPr>
          <p:spPr bwMode="auto">
            <a:xfrm>
              <a:off x="765" y="2358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" name="Line 153"/>
            <p:cNvSpPr>
              <a:spLocks noChangeShapeType="1"/>
            </p:cNvSpPr>
            <p:nvPr/>
          </p:nvSpPr>
          <p:spPr bwMode="auto">
            <a:xfrm>
              <a:off x="765" y="2562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" name="Line 154"/>
            <p:cNvSpPr>
              <a:spLocks noChangeShapeType="1"/>
            </p:cNvSpPr>
            <p:nvPr/>
          </p:nvSpPr>
          <p:spPr bwMode="auto">
            <a:xfrm>
              <a:off x="765" y="2757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" name="Line 155"/>
            <p:cNvSpPr>
              <a:spLocks noChangeShapeType="1"/>
            </p:cNvSpPr>
            <p:nvPr/>
          </p:nvSpPr>
          <p:spPr bwMode="auto">
            <a:xfrm>
              <a:off x="765" y="2925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" name="Line 186"/>
            <p:cNvSpPr>
              <a:spLocks noChangeShapeType="1"/>
            </p:cNvSpPr>
            <p:nvPr/>
          </p:nvSpPr>
          <p:spPr bwMode="auto">
            <a:xfrm>
              <a:off x="1038" y="2925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" name="Line 188"/>
            <p:cNvSpPr>
              <a:spLocks noChangeShapeType="1"/>
            </p:cNvSpPr>
            <p:nvPr/>
          </p:nvSpPr>
          <p:spPr bwMode="auto">
            <a:xfrm>
              <a:off x="714" y="1980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" name="Line 189"/>
            <p:cNvSpPr>
              <a:spLocks noChangeShapeType="1"/>
            </p:cNvSpPr>
            <p:nvPr/>
          </p:nvSpPr>
          <p:spPr bwMode="auto">
            <a:xfrm>
              <a:off x="714" y="2196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" name="Line 190"/>
            <p:cNvSpPr>
              <a:spLocks noChangeShapeType="1"/>
            </p:cNvSpPr>
            <p:nvPr/>
          </p:nvSpPr>
          <p:spPr bwMode="auto">
            <a:xfrm>
              <a:off x="714" y="2355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" name="Line 191"/>
            <p:cNvSpPr>
              <a:spLocks noChangeShapeType="1"/>
            </p:cNvSpPr>
            <p:nvPr/>
          </p:nvSpPr>
          <p:spPr bwMode="auto">
            <a:xfrm>
              <a:off x="714" y="2541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" name="Line 192"/>
            <p:cNvSpPr>
              <a:spLocks noChangeShapeType="1"/>
            </p:cNvSpPr>
            <p:nvPr/>
          </p:nvSpPr>
          <p:spPr bwMode="auto">
            <a:xfrm>
              <a:off x="714" y="2730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" name="Line 193"/>
            <p:cNvSpPr>
              <a:spLocks noChangeShapeType="1"/>
            </p:cNvSpPr>
            <p:nvPr/>
          </p:nvSpPr>
          <p:spPr bwMode="auto">
            <a:xfrm>
              <a:off x="714" y="2913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" name="Line 195"/>
            <p:cNvSpPr>
              <a:spLocks noChangeShapeType="1"/>
            </p:cNvSpPr>
            <p:nvPr/>
          </p:nvSpPr>
          <p:spPr bwMode="auto">
            <a:xfrm>
              <a:off x="1422" y="1992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Line 196"/>
            <p:cNvSpPr>
              <a:spLocks noChangeShapeType="1"/>
            </p:cNvSpPr>
            <p:nvPr/>
          </p:nvSpPr>
          <p:spPr bwMode="auto">
            <a:xfrm>
              <a:off x="1422" y="2184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Line 197"/>
            <p:cNvSpPr>
              <a:spLocks noChangeShapeType="1"/>
            </p:cNvSpPr>
            <p:nvPr/>
          </p:nvSpPr>
          <p:spPr bwMode="auto">
            <a:xfrm>
              <a:off x="1422" y="2367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" name="Line 198"/>
            <p:cNvSpPr>
              <a:spLocks noChangeShapeType="1"/>
            </p:cNvSpPr>
            <p:nvPr/>
          </p:nvSpPr>
          <p:spPr bwMode="auto">
            <a:xfrm>
              <a:off x="1422" y="2553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" name="Line 199"/>
            <p:cNvSpPr>
              <a:spLocks noChangeShapeType="1"/>
            </p:cNvSpPr>
            <p:nvPr/>
          </p:nvSpPr>
          <p:spPr bwMode="auto">
            <a:xfrm>
              <a:off x="1422" y="2742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" name="Line 200"/>
            <p:cNvSpPr>
              <a:spLocks noChangeShapeType="1"/>
            </p:cNvSpPr>
            <p:nvPr/>
          </p:nvSpPr>
          <p:spPr bwMode="auto">
            <a:xfrm>
              <a:off x="1422" y="2925"/>
              <a:ext cx="0" cy="96"/>
            </a:xfrm>
            <a:prstGeom prst="line">
              <a:avLst/>
            </a:prstGeom>
            <a:noFill/>
            <a:ln w="12700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" name="AutoShape 204"/>
            <p:cNvSpPr/>
            <p:nvPr/>
          </p:nvSpPr>
          <p:spPr bwMode="auto">
            <a:xfrm rot="5376746">
              <a:off x="1012" y="1289"/>
              <a:ext cx="96" cy="434"/>
            </a:xfrm>
            <a:prstGeom prst="leftBrace">
              <a:avLst>
                <a:gd name="adj1" fmla="val 3767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53" name="AutoShape 205"/>
            <p:cNvSpPr/>
            <p:nvPr/>
          </p:nvSpPr>
          <p:spPr bwMode="auto">
            <a:xfrm rot="16223254" flipV="1">
              <a:off x="1030" y="3188"/>
              <a:ext cx="96" cy="725"/>
            </a:xfrm>
            <a:prstGeom prst="leftBrace">
              <a:avLst>
                <a:gd name="adj1" fmla="val 6293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54" name="Rectangle 206"/>
            <p:cNvSpPr>
              <a:spLocks noChangeArrowheads="1"/>
            </p:cNvSpPr>
            <p:nvPr/>
          </p:nvSpPr>
          <p:spPr bwMode="auto">
            <a:xfrm>
              <a:off x="924" y="3643"/>
              <a:ext cx="28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B</a:t>
              </a:r>
              <a:r>
                <a:rPr lang="en-US" altLang="zh-CN" sz="1600" baseline="-25000">
                  <a:latin typeface="Times New Roman" panose="02020603050405020304" pitchFamily="18" charset="0"/>
                </a:rPr>
                <a:t>11</a:t>
              </a:r>
              <a:endParaRPr lang="en-US" altLang="zh-CN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155" name="Oval 210"/>
            <p:cNvSpPr>
              <a:spLocks noChangeArrowheads="1"/>
            </p:cNvSpPr>
            <p:nvPr/>
          </p:nvSpPr>
          <p:spPr bwMode="auto">
            <a:xfrm>
              <a:off x="834" y="1584"/>
              <a:ext cx="459" cy="9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dash"/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56" name="Line 213"/>
            <p:cNvSpPr>
              <a:spLocks noChangeShapeType="1"/>
            </p:cNvSpPr>
            <p:nvPr/>
          </p:nvSpPr>
          <p:spPr bwMode="auto">
            <a:xfrm flipV="1">
              <a:off x="336" y="1296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57" name="Picture 21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" y="1248"/>
              <a:ext cx="173" cy="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58" name="Rectangle 216"/>
            <p:cNvSpPr>
              <a:spLocks noChangeArrowheads="1"/>
            </p:cNvSpPr>
            <p:nvPr/>
          </p:nvSpPr>
          <p:spPr bwMode="auto">
            <a:xfrm>
              <a:off x="2165" y="1968"/>
              <a:ext cx="1253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Assuming a long coil,</a:t>
              </a:r>
              <a:endParaRPr lang="en-US" altLang="zh-CN" sz="16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the flux density is: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pic>
          <p:nvPicPr>
            <p:cNvPr id="159" name="Picture 21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2" y="2736"/>
              <a:ext cx="2361" cy="4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60" name="Rectangle 218"/>
            <p:cNvSpPr>
              <a:spLocks noChangeArrowheads="1"/>
            </p:cNvSpPr>
            <p:nvPr/>
          </p:nvSpPr>
          <p:spPr bwMode="auto">
            <a:xfrm>
              <a:off x="2205" y="2448"/>
              <a:ext cx="268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The mutual linkage between coils 1 and 2 is then: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161" name="Rectangle 219"/>
            <p:cNvSpPr>
              <a:spLocks noChangeArrowheads="1"/>
            </p:cNvSpPr>
            <p:nvPr/>
          </p:nvSpPr>
          <p:spPr bwMode="auto">
            <a:xfrm>
              <a:off x="2211" y="3216"/>
              <a:ext cx="173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.. and the mutual inductance is: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pic>
          <p:nvPicPr>
            <p:cNvPr id="162" name="Picture 22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2" y="3552"/>
              <a:ext cx="2044" cy="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63" name="Rectangle 221"/>
            <p:cNvSpPr>
              <a:spLocks noChangeArrowheads="1"/>
            </p:cNvSpPr>
            <p:nvPr/>
          </p:nvSpPr>
          <p:spPr bwMode="auto">
            <a:xfrm>
              <a:off x="2304" y="3552"/>
              <a:ext cx="2064" cy="480"/>
            </a:xfrm>
            <a:prstGeom prst="rect">
              <a:avLst/>
            </a:prstGeom>
            <a:noFill/>
            <a:ln w="9525">
              <a:solidFill>
                <a:srgbClr val="CC006B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922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Mutual Inductance, </a:t>
            </a:r>
            <a:r>
              <a:rPr lang="en-US" altLang="zh-CN" sz="28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21</a:t>
            </a:r>
            <a:endParaRPr lang="zh-CN" altLang="en-US" sz="2800" b="1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92" name="Group 84"/>
          <p:cNvGrpSpPr/>
          <p:nvPr/>
        </p:nvGrpSpPr>
        <p:grpSpPr bwMode="auto">
          <a:xfrm>
            <a:off x="433388" y="1676400"/>
            <a:ext cx="8575674" cy="4724400"/>
            <a:chOff x="273" y="1056"/>
            <a:chExt cx="5402" cy="2976"/>
          </a:xfrm>
        </p:grpSpPr>
        <p:grpSp>
          <p:nvGrpSpPr>
            <p:cNvPr id="193" name="Group 74"/>
            <p:cNvGrpSpPr/>
            <p:nvPr/>
          </p:nvGrpSpPr>
          <p:grpSpPr bwMode="auto">
            <a:xfrm>
              <a:off x="273" y="1180"/>
              <a:ext cx="1593" cy="2201"/>
              <a:chOff x="273" y="1180"/>
              <a:chExt cx="1593" cy="2201"/>
            </a:xfrm>
          </p:grpSpPr>
          <p:sp>
            <p:nvSpPr>
              <p:cNvPr id="203" name="Line 34"/>
              <p:cNvSpPr>
                <a:spLocks noChangeShapeType="1"/>
              </p:cNvSpPr>
              <p:nvPr/>
            </p:nvSpPr>
            <p:spPr bwMode="auto">
              <a:xfrm flipV="1">
                <a:off x="933" y="1605"/>
                <a:ext cx="0" cy="177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" name="Line 33"/>
              <p:cNvSpPr>
                <a:spLocks noChangeShapeType="1"/>
              </p:cNvSpPr>
              <p:nvPr/>
            </p:nvSpPr>
            <p:spPr bwMode="auto">
              <a:xfrm flipV="1">
                <a:off x="995" y="1605"/>
                <a:ext cx="0" cy="177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" name="Line 32"/>
              <p:cNvSpPr>
                <a:spLocks noChangeShapeType="1"/>
              </p:cNvSpPr>
              <p:nvPr/>
            </p:nvSpPr>
            <p:spPr bwMode="auto">
              <a:xfrm flipV="1">
                <a:off x="1062" y="1602"/>
                <a:ext cx="0" cy="177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" name="Line 30"/>
              <p:cNvSpPr>
                <a:spLocks noChangeShapeType="1"/>
              </p:cNvSpPr>
              <p:nvPr/>
            </p:nvSpPr>
            <p:spPr bwMode="auto">
              <a:xfrm flipV="1">
                <a:off x="1134" y="1599"/>
                <a:ext cx="0" cy="177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7" name="Line 31"/>
              <p:cNvSpPr>
                <a:spLocks noChangeShapeType="1"/>
              </p:cNvSpPr>
              <p:nvPr/>
            </p:nvSpPr>
            <p:spPr bwMode="auto">
              <a:xfrm flipV="1">
                <a:off x="1209" y="1596"/>
                <a:ext cx="0" cy="177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08" name="Group 3"/>
              <p:cNvGrpSpPr/>
              <p:nvPr/>
            </p:nvGrpSpPr>
            <p:grpSpPr bwMode="auto">
              <a:xfrm>
                <a:off x="273" y="2016"/>
                <a:ext cx="1593" cy="1277"/>
                <a:chOff x="273" y="2016"/>
                <a:chExt cx="1593" cy="1277"/>
              </a:xfrm>
            </p:grpSpPr>
            <p:sp>
              <p:nvSpPr>
                <p:cNvPr id="247" name="Rectangle 4"/>
                <p:cNvSpPr>
                  <a:spLocks noChangeArrowheads="1"/>
                </p:cNvSpPr>
                <p:nvPr/>
              </p:nvSpPr>
              <p:spPr bwMode="auto">
                <a:xfrm>
                  <a:off x="273" y="2352"/>
                  <a:ext cx="255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400" i="1">
                      <a:latin typeface="Times New Roman" panose="02020603050405020304" pitchFamily="18" charset="0"/>
                    </a:rPr>
                    <a:t>N</a:t>
                  </a:r>
                  <a:r>
                    <a:rPr lang="en-US" altLang="zh-CN" sz="1400" baseline="-25000">
                      <a:latin typeface="Times New Roman" panose="02020603050405020304" pitchFamily="18" charset="0"/>
                    </a:rPr>
                    <a:t>1</a:t>
                  </a:r>
                  <a:r>
                    <a:rPr lang="en-US" altLang="zh-CN" sz="1400" i="1">
                      <a:latin typeface="Times New Roman" panose="02020603050405020304" pitchFamily="18" charset="0"/>
                    </a:rPr>
                    <a:t> </a:t>
                  </a:r>
                  <a:endParaRPr lang="en-US" altLang="zh-CN" sz="14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8" name="Oval 5"/>
                <p:cNvSpPr>
                  <a:spLocks noChangeArrowheads="1"/>
                </p:cNvSpPr>
                <p:nvPr/>
              </p:nvSpPr>
              <p:spPr bwMode="auto">
                <a:xfrm>
                  <a:off x="675" y="2016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9" name="Oval 6"/>
                <p:cNvSpPr>
                  <a:spLocks noChangeArrowheads="1"/>
                </p:cNvSpPr>
                <p:nvPr/>
              </p:nvSpPr>
              <p:spPr bwMode="auto">
                <a:xfrm>
                  <a:off x="675" y="2208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0" name="Oval 7"/>
                <p:cNvSpPr>
                  <a:spLocks noChangeArrowheads="1"/>
                </p:cNvSpPr>
                <p:nvPr/>
              </p:nvSpPr>
              <p:spPr bwMode="auto">
                <a:xfrm>
                  <a:off x="675" y="2394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1" name="Oval 8"/>
                <p:cNvSpPr>
                  <a:spLocks noChangeArrowheads="1"/>
                </p:cNvSpPr>
                <p:nvPr/>
              </p:nvSpPr>
              <p:spPr bwMode="auto">
                <a:xfrm>
                  <a:off x="675" y="2577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2" name="Oval 9"/>
                <p:cNvSpPr>
                  <a:spLocks noChangeArrowheads="1"/>
                </p:cNvSpPr>
                <p:nvPr/>
              </p:nvSpPr>
              <p:spPr bwMode="auto">
                <a:xfrm>
                  <a:off x="675" y="2763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3" name="Oval 10"/>
                <p:cNvSpPr>
                  <a:spLocks noChangeArrowheads="1"/>
                </p:cNvSpPr>
                <p:nvPr/>
              </p:nvSpPr>
              <p:spPr bwMode="auto">
                <a:xfrm>
                  <a:off x="672" y="2946"/>
                  <a:ext cx="768" cy="14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4" name="Rectangle 11"/>
                <p:cNvSpPr>
                  <a:spLocks noChangeArrowheads="1"/>
                </p:cNvSpPr>
                <p:nvPr/>
              </p:nvSpPr>
              <p:spPr bwMode="auto">
                <a:xfrm>
                  <a:off x="524" y="3120"/>
                  <a:ext cx="196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200" i="1">
                      <a:latin typeface="Times New Roman" panose="02020603050405020304" pitchFamily="18" charset="0"/>
                    </a:rPr>
                    <a:t>S</a:t>
                  </a:r>
                  <a:r>
                    <a:rPr lang="en-US" altLang="zh-CN" sz="1200" baseline="-25000">
                      <a:latin typeface="Times New Roman" panose="02020603050405020304" pitchFamily="18" charset="0"/>
                    </a:rPr>
                    <a:t>1</a:t>
                  </a:r>
                  <a:endParaRPr lang="en-US" altLang="zh-CN" sz="12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5" name="Line 12"/>
                <p:cNvSpPr>
                  <a:spLocks noChangeShapeType="1"/>
                </p:cNvSpPr>
                <p:nvPr/>
              </p:nvSpPr>
              <p:spPr bwMode="auto">
                <a:xfrm>
                  <a:off x="1536" y="2088"/>
                  <a:ext cx="3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" name="Line 13"/>
                <p:cNvSpPr>
                  <a:spLocks noChangeShapeType="1"/>
                </p:cNvSpPr>
                <p:nvPr/>
              </p:nvSpPr>
              <p:spPr bwMode="auto">
                <a:xfrm>
                  <a:off x="1536" y="3021"/>
                  <a:ext cx="33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" name="Rectangle 14"/>
                <p:cNvSpPr>
                  <a:spLocks noChangeArrowheads="1"/>
                </p:cNvSpPr>
                <p:nvPr/>
              </p:nvSpPr>
              <p:spPr bwMode="auto">
                <a:xfrm>
                  <a:off x="1632" y="2434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600" i="1">
                      <a:latin typeface="Times New Roman" panose="02020603050405020304" pitchFamily="18" charset="0"/>
                    </a:rPr>
                    <a:t>d</a:t>
                  </a:r>
                  <a:endParaRPr lang="en-US" altLang="zh-CN" sz="16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8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1731" y="2085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9" name="Line 16"/>
                <p:cNvSpPr>
                  <a:spLocks noChangeShapeType="1"/>
                </p:cNvSpPr>
                <p:nvPr/>
              </p:nvSpPr>
              <p:spPr bwMode="auto">
                <a:xfrm>
                  <a:off x="1731" y="2685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0" name="Oval 17"/>
                <p:cNvSpPr>
                  <a:spLocks noChangeArrowheads="1"/>
                </p:cNvSpPr>
                <p:nvPr/>
              </p:nvSpPr>
              <p:spPr bwMode="auto">
                <a:xfrm>
                  <a:off x="839" y="2046"/>
                  <a:ext cx="459" cy="9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1" name="Oval 18"/>
                <p:cNvSpPr>
                  <a:spLocks noChangeArrowheads="1"/>
                </p:cNvSpPr>
                <p:nvPr/>
              </p:nvSpPr>
              <p:spPr bwMode="auto">
                <a:xfrm>
                  <a:off x="839" y="2238"/>
                  <a:ext cx="459" cy="8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2" name="Oval 19"/>
                <p:cNvSpPr>
                  <a:spLocks noChangeArrowheads="1"/>
                </p:cNvSpPr>
                <p:nvPr/>
              </p:nvSpPr>
              <p:spPr bwMode="auto">
                <a:xfrm>
                  <a:off x="839" y="2424"/>
                  <a:ext cx="459" cy="8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3" name="Oval 20"/>
                <p:cNvSpPr>
                  <a:spLocks noChangeArrowheads="1"/>
                </p:cNvSpPr>
                <p:nvPr/>
              </p:nvSpPr>
              <p:spPr bwMode="auto">
                <a:xfrm>
                  <a:off x="839" y="2607"/>
                  <a:ext cx="459" cy="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4" name="Oval 21"/>
                <p:cNvSpPr>
                  <a:spLocks noChangeArrowheads="1"/>
                </p:cNvSpPr>
                <p:nvPr/>
              </p:nvSpPr>
              <p:spPr bwMode="auto">
                <a:xfrm>
                  <a:off x="839" y="2793"/>
                  <a:ext cx="459" cy="8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5" name="Oval 22"/>
                <p:cNvSpPr>
                  <a:spLocks noChangeArrowheads="1"/>
                </p:cNvSpPr>
                <p:nvPr/>
              </p:nvSpPr>
              <p:spPr bwMode="auto">
                <a:xfrm>
                  <a:off x="837" y="2976"/>
                  <a:ext cx="459" cy="8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6" name="Rectangle 23"/>
                <p:cNvSpPr>
                  <a:spLocks noChangeArrowheads="1"/>
                </p:cNvSpPr>
                <p:nvPr/>
              </p:nvSpPr>
              <p:spPr bwMode="auto">
                <a:xfrm>
                  <a:off x="1392" y="3120"/>
                  <a:ext cx="196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200" i="1">
                      <a:latin typeface="Times New Roman" panose="02020603050405020304" pitchFamily="18" charset="0"/>
                    </a:rPr>
                    <a:t>S</a:t>
                  </a:r>
                  <a:r>
                    <a:rPr lang="en-US" altLang="zh-CN" sz="1200" baseline="-25000">
                      <a:latin typeface="Times New Roman" panose="02020603050405020304" pitchFamily="18" charset="0"/>
                    </a:rPr>
                    <a:t>2</a:t>
                  </a:r>
                  <a:endParaRPr lang="en-US" altLang="zh-CN" sz="12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7" name="Line 24"/>
                <p:cNvSpPr>
                  <a:spLocks noChangeShapeType="1"/>
                </p:cNvSpPr>
                <p:nvPr/>
              </p:nvSpPr>
              <p:spPr bwMode="auto">
                <a:xfrm flipV="1">
                  <a:off x="672" y="3024"/>
                  <a:ext cx="96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8" name="Line 25"/>
                <p:cNvSpPr>
                  <a:spLocks noChangeShapeType="1"/>
                </p:cNvSpPr>
                <p:nvPr/>
              </p:nvSpPr>
              <p:spPr bwMode="auto">
                <a:xfrm flipH="1" flipV="1">
                  <a:off x="1112" y="2999"/>
                  <a:ext cx="280" cy="1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9" name="Rectangle 26"/>
                <p:cNvSpPr>
                  <a:spLocks noChangeArrowheads="1"/>
                </p:cNvSpPr>
                <p:nvPr/>
              </p:nvSpPr>
              <p:spPr bwMode="auto">
                <a:xfrm>
                  <a:off x="273" y="2640"/>
                  <a:ext cx="255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400" i="1">
                      <a:latin typeface="Times New Roman" panose="02020603050405020304" pitchFamily="18" charset="0"/>
                    </a:rPr>
                    <a:t>N</a:t>
                  </a:r>
                  <a:r>
                    <a:rPr lang="en-US" altLang="zh-CN" sz="1400" baseline="-25000">
                      <a:latin typeface="Times New Roman" panose="02020603050405020304" pitchFamily="18" charset="0"/>
                    </a:rPr>
                    <a:t>2</a:t>
                  </a:r>
                  <a:r>
                    <a:rPr lang="en-US" altLang="zh-CN" sz="1400" i="1">
                      <a:latin typeface="Times New Roman" panose="02020603050405020304" pitchFamily="18" charset="0"/>
                    </a:rPr>
                    <a:t> </a:t>
                  </a:r>
                  <a:endParaRPr lang="en-US" altLang="zh-CN" sz="14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0" name="Line 27"/>
                <p:cNvSpPr>
                  <a:spLocks noChangeShapeType="1"/>
                </p:cNvSpPr>
                <p:nvPr/>
              </p:nvSpPr>
              <p:spPr bwMode="auto">
                <a:xfrm>
                  <a:off x="480" y="2754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1" name="Line 28"/>
                <p:cNvSpPr>
                  <a:spLocks noChangeShapeType="1"/>
                </p:cNvSpPr>
                <p:nvPr/>
              </p:nvSpPr>
              <p:spPr bwMode="auto">
                <a:xfrm>
                  <a:off x="494" y="2473"/>
                  <a:ext cx="14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09" name="Line 35"/>
              <p:cNvSpPr>
                <a:spLocks noChangeShapeType="1"/>
              </p:cNvSpPr>
              <p:nvPr/>
            </p:nvSpPr>
            <p:spPr bwMode="auto">
              <a:xfrm flipV="1">
                <a:off x="1138" y="3045"/>
                <a:ext cx="73" cy="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0" name="Line 36"/>
              <p:cNvSpPr>
                <a:spLocks noChangeShapeType="1"/>
              </p:cNvSpPr>
              <p:nvPr/>
            </p:nvSpPr>
            <p:spPr bwMode="auto">
              <a:xfrm flipV="1">
                <a:off x="1143" y="2862"/>
                <a:ext cx="73" cy="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1" name="Line 37"/>
              <p:cNvSpPr>
                <a:spLocks noChangeShapeType="1"/>
              </p:cNvSpPr>
              <p:nvPr/>
            </p:nvSpPr>
            <p:spPr bwMode="auto">
              <a:xfrm flipV="1">
                <a:off x="1129" y="2685"/>
                <a:ext cx="73" cy="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2" name="Line 38"/>
              <p:cNvSpPr>
                <a:spLocks noChangeShapeType="1"/>
              </p:cNvSpPr>
              <p:nvPr/>
            </p:nvSpPr>
            <p:spPr bwMode="auto">
              <a:xfrm flipV="1">
                <a:off x="1141" y="2499"/>
                <a:ext cx="74" cy="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3" name="Line 39"/>
              <p:cNvSpPr>
                <a:spLocks noChangeShapeType="1"/>
              </p:cNvSpPr>
              <p:nvPr/>
            </p:nvSpPr>
            <p:spPr bwMode="auto">
              <a:xfrm flipV="1">
                <a:off x="1135" y="2304"/>
                <a:ext cx="74" cy="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4" name="Line 40"/>
              <p:cNvSpPr>
                <a:spLocks noChangeShapeType="1"/>
              </p:cNvSpPr>
              <p:nvPr/>
            </p:nvSpPr>
            <p:spPr bwMode="auto">
              <a:xfrm flipV="1">
                <a:off x="1135" y="2124"/>
                <a:ext cx="74" cy="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" name="Line 41"/>
              <p:cNvSpPr>
                <a:spLocks noChangeShapeType="1"/>
              </p:cNvSpPr>
              <p:nvPr/>
            </p:nvSpPr>
            <p:spPr bwMode="auto">
              <a:xfrm>
                <a:off x="933" y="1986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6" name="Line 42"/>
              <p:cNvSpPr>
                <a:spLocks noChangeShapeType="1"/>
              </p:cNvSpPr>
              <p:nvPr/>
            </p:nvSpPr>
            <p:spPr bwMode="auto">
              <a:xfrm>
                <a:off x="933" y="2184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7" name="Line 43"/>
              <p:cNvSpPr>
                <a:spLocks noChangeShapeType="1"/>
              </p:cNvSpPr>
              <p:nvPr/>
            </p:nvSpPr>
            <p:spPr bwMode="auto">
              <a:xfrm>
                <a:off x="933" y="2370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8" name="Line 44"/>
              <p:cNvSpPr>
                <a:spLocks noChangeShapeType="1"/>
              </p:cNvSpPr>
              <p:nvPr/>
            </p:nvSpPr>
            <p:spPr bwMode="auto">
              <a:xfrm>
                <a:off x="933" y="2556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9" name="Line 45"/>
              <p:cNvSpPr>
                <a:spLocks noChangeShapeType="1"/>
              </p:cNvSpPr>
              <p:nvPr/>
            </p:nvSpPr>
            <p:spPr bwMode="auto">
              <a:xfrm>
                <a:off x="933" y="2742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0" name="Line 46"/>
              <p:cNvSpPr>
                <a:spLocks noChangeShapeType="1"/>
              </p:cNvSpPr>
              <p:nvPr/>
            </p:nvSpPr>
            <p:spPr bwMode="auto">
              <a:xfrm>
                <a:off x="933" y="2922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1" name="Line 47"/>
              <p:cNvSpPr>
                <a:spLocks noChangeShapeType="1"/>
              </p:cNvSpPr>
              <p:nvPr/>
            </p:nvSpPr>
            <p:spPr bwMode="auto">
              <a:xfrm>
                <a:off x="995" y="2019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2" name="Line 48"/>
              <p:cNvSpPr>
                <a:spLocks noChangeShapeType="1"/>
              </p:cNvSpPr>
              <p:nvPr/>
            </p:nvSpPr>
            <p:spPr bwMode="auto">
              <a:xfrm>
                <a:off x="995" y="2214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3" name="Line 49"/>
              <p:cNvSpPr>
                <a:spLocks noChangeShapeType="1"/>
              </p:cNvSpPr>
              <p:nvPr/>
            </p:nvSpPr>
            <p:spPr bwMode="auto">
              <a:xfrm>
                <a:off x="995" y="2409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4" name="Line 50"/>
              <p:cNvSpPr>
                <a:spLocks noChangeShapeType="1"/>
              </p:cNvSpPr>
              <p:nvPr/>
            </p:nvSpPr>
            <p:spPr bwMode="auto">
              <a:xfrm>
                <a:off x="995" y="2586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" name="Line 51"/>
              <p:cNvSpPr>
                <a:spLocks noChangeShapeType="1"/>
              </p:cNvSpPr>
              <p:nvPr/>
            </p:nvSpPr>
            <p:spPr bwMode="auto">
              <a:xfrm>
                <a:off x="995" y="2775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" name="Line 52"/>
              <p:cNvSpPr>
                <a:spLocks noChangeShapeType="1"/>
              </p:cNvSpPr>
              <p:nvPr/>
            </p:nvSpPr>
            <p:spPr bwMode="auto">
              <a:xfrm>
                <a:off x="995" y="2949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7" name="Line 53"/>
              <p:cNvSpPr>
                <a:spLocks noChangeShapeType="1"/>
              </p:cNvSpPr>
              <p:nvPr/>
            </p:nvSpPr>
            <p:spPr bwMode="auto">
              <a:xfrm>
                <a:off x="1062" y="1983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8" name="Line 54"/>
              <p:cNvSpPr>
                <a:spLocks noChangeShapeType="1"/>
              </p:cNvSpPr>
              <p:nvPr/>
            </p:nvSpPr>
            <p:spPr bwMode="auto">
              <a:xfrm>
                <a:off x="1062" y="2196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9" name="Line 55"/>
              <p:cNvSpPr>
                <a:spLocks noChangeShapeType="1"/>
              </p:cNvSpPr>
              <p:nvPr/>
            </p:nvSpPr>
            <p:spPr bwMode="auto">
              <a:xfrm>
                <a:off x="1062" y="2373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0" name="Line 56"/>
              <p:cNvSpPr>
                <a:spLocks noChangeShapeType="1"/>
              </p:cNvSpPr>
              <p:nvPr/>
            </p:nvSpPr>
            <p:spPr bwMode="auto">
              <a:xfrm>
                <a:off x="1062" y="2556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1" name="Line 57"/>
              <p:cNvSpPr>
                <a:spLocks noChangeShapeType="1"/>
              </p:cNvSpPr>
              <p:nvPr/>
            </p:nvSpPr>
            <p:spPr bwMode="auto">
              <a:xfrm>
                <a:off x="1062" y="2745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2" name="Line 58"/>
              <p:cNvSpPr>
                <a:spLocks noChangeShapeType="1"/>
              </p:cNvSpPr>
              <p:nvPr/>
            </p:nvSpPr>
            <p:spPr bwMode="auto">
              <a:xfrm>
                <a:off x="1062" y="2922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3" name="Line 59"/>
              <p:cNvSpPr>
                <a:spLocks noChangeShapeType="1"/>
              </p:cNvSpPr>
              <p:nvPr/>
            </p:nvSpPr>
            <p:spPr bwMode="auto">
              <a:xfrm>
                <a:off x="1209" y="1992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4" name="Line 60"/>
              <p:cNvSpPr>
                <a:spLocks noChangeShapeType="1"/>
              </p:cNvSpPr>
              <p:nvPr/>
            </p:nvSpPr>
            <p:spPr bwMode="auto">
              <a:xfrm>
                <a:off x="1209" y="2208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" name="Line 61"/>
              <p:cNvSpPr>
                <a:spLocks noChangeShapeType="1"/>
              </p:cNvSpPr>
              <p:nvPr/>
            </p:nvSpPr>
            <p:spPr bwMode="auto">
              <a:xfrm>
                <a:off x="1209" y="2367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" name="Line 62"/>
              <p:cNvSpPr>
                <a:spLocks noChangeShapeType="1"/>
              </p:cNvSpPr>
              <p:nvPr/>
            </p:nvSpPr>
            <p:spPr bwMode="auto">
              <a:xfrm>
                <a:off x="1209" y="2553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7" name="Line 63"/>
              <p:cNvSpPr>
                <a:spLocks noChangeShapeType="1"/>
              </p:cNvSpPr>
              <p:nvPr/>
            </p:nvSpPr>
            <p:spPr bwMode="auto">
              <a:xfrm>
                <a:off x="1209" y="2742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8" name="Line 64"/>
              <p:cNvSpPr>
                <a:spLocks noChangeShapeType="1"/>
              </p:cNvSpPr>
              <p:nvPr/>
            </p:nvSpPr>
            <p:spPr bwMode="auto">
              <a:xfrm>
                <a:off x="1209" y="2925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9" name="Line 65"/>
              <p:cNvSpPr>
                <a:spLocks noChangeShapeType="1"/>
              </p:cNvSpPr>
              <p:nvPr/>
            </p:nvSpPr>
            <p:spPr bwMode="auto">
              <a:xfrm>
                <a:off x="1134" y="2019"/>
                <a:ext cx="0" cy="74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" name="Line 66"/>
              <p:cNvSpPr>
                <a:spLocks noChangeShapeType="1"/>
              </p:cNvSpPr>
              <p:nvPr/>
            </p:nvSpPr>
            <p:spPr bwMode="auto">
              <a:xfrm>
                <a:off x="1134" y="2220"/>
                <a:ext cx="0" cy="77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1" name="Line 67"/>
              <p:cNvSpPr>
                <a:spLocks noChangeShapeType="1"/>
              </p:cNvSpPr>
              <p:nvPr/>
            </p:nvSpPr>
            <p:spPr bwMode="auto">
              <a:xfrm>
                <a:off x="1134" y="2406"/>
                <a:ext cx="3" cy="85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" name="Line 68"/>
              <p:cNvSpPr>
                <a:spLocks noChangeShapeType="1"/>
              </p:cNvSpPr>
              <p:nvPr/>
            </p:nvSpPr>
            <p:spPr bwMode="auto">
              <a:xfrm>
                <a:off x="1134" y="2577"/>
                <a:ext cx="0" cy="83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3" name="Line 69"/>
              <p:cNvSpPr>
                <a:spLocks noChangeShapeType="1"/>
              </p:cNvSpPr>
              <p:nvPr/>
            </p:nvSpPr>
            <p:spPr bwMode="auto">
              <a:xfrm>
                <a:off x="1134" y="2766"/>
                <a:ext cx="0" cy="74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4" name="Line 70"/>
              <p:cNvSpPr>
                <a:spLocks noChangeShapeType="1"/>
              </p:cNvSpPr>
              <p:nvPr/>
            </p:nvSpPr>
            <p:spPr bwMode="auto">
              <a:xfrm>
                <a:off x="1134" y="2943"/>
                <a:ext cx="0" cy="87"/>
              </a:xfrm>
              <a:prstGeom prst="line">
                <a:avLst/>
              </a:prstGeom>
              <a:noFill/>
              <a:ln w="12700">
                <a:solidFill>
                  <a:srgbClr val="0B7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5" name="Rectangle 71"/>
              <p:cNvSpPr>
                <a:spLocks noChangeArrowheads="1"/>
              </p:cNvSpPr>
              <p:nvPr/>
            </p:nvSpPr>
            <p:spPr bwMode="auto">
              <a:xfrm>
                <a:off x="912" y="1180"/>
                <a:ext cx="28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 b="1"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baseline="-25000">
                    <a:latin typeface="Times New Roman" panose="02020603050405020304" pitchFamily="18" charset="0"/>
                  </a:rPr>
                  <a:t>21</a:t>
                </a:r>
                <a:endParaRPr lang="en-US" altLang="zh-CN" sz="16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" name="AutoShape 72"/>
              <p:cNvSpPr/>
              <p:nvPr/>
            </p:nvSpPr>
            <p:spPr bwMode="auto">
              <a:xfrm rot="5376746">
                <a:off x="1020" y="1264"/>
                <a:ext cx="96" cy="403"/>
              </a:xfrm>
              <a:prstGeom prst="leftBrace">
                <a:avLst>
                  <a:gd name="adj1" fmla="val 34983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4" name="Rectangle 75"/>
            <p:cNvSpPr>
              <a:spLocks noChangeArrowheads="1"/>
            </p:cNvSpPr>
            <p:nvPr/>
          </p:nvSpPr>
          <p:spPr bwMode="auto">
            <a:xfrm>
              <a:off x="2016" y="1056"/>
              <a:ext cx="3266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With the inner coil current </a:t>
              </a:r>
              <a:r>
                <a:rPr lang="en-US" altLang="zh-CN" sz="1600" i="1" dirty="0">
                  <a:latin typeface="Times New Roman" panose="02020603050405020304" pitchFamily="18" charset="0"/>
                </a:rPr>
                <a:t>I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  turned on,  the interior flux</a:t>
              </a:r>
              <a:endParaRPr lang="en-US" altLang="zh-CN" sz="16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exists throughout the inner coil volume, which overlaps with</a:t>
              </a:r>
              <a:endParaRPr lang="en-US" altLang="zh-CN" sz="16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the outer coil volume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195" name="Rectangle 76"/>
            <p:cNvSpPr>
              <a:spLocks noChangeArrowheads="1"/>
            </p:cNvSpPr>
            <p:nvPr/>
          </p:nvSpPr>
          <p:spPr bwMode="auto">
            <a:xfrm>
              <a:off x="2016" y="1600"/>
              <a:ext cx="3659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Flux density 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21 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resides inside coil 2 (and in coil 1 as well), but </a:t>
              </a:r>
              <a:endParaRPr lang="en-US" altLang="zh-CN" sz="16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the flux in the coil 1 volume is confined within the volume of coil 2</a:t>
              </a:r>
              <a:r>
                <a:rPr lang="en-US" altLang="zh-CN" sz="1400" dirty="0">
                  <a:latin typeface="Times New Roman" panose="02020603050405020304" pitchFamily="18" charset="0"/>
                </a:rPr>
                <a:t>.</a:t>
              </a:r>
              <a:endParaRPr lang="en-US" altLang="zh-CN" sz="1600" baseline="-25000" dirty="0">
                <a:latin typeface="Times New Roman" panose="02020603050405020304" pitchFamily="18" charset="0"/>
              </a:endParaRPr>
            </a:p>
          </p:txBody>
        </p:sp>
        <p:pic>
          <p:nvPicPr>
            <p:cNvPr id="196" name="Picture 7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4" y="2087"/>
              <a:ext cx="1342" cy="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97" name="Picture 78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4" y="2843"/>
              <a:ext cx="2332" cy="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98" name="Picture 7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3552"/>
              <a:ext cx="2695" cy="4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99" name="Rectangle 80"/>
            <p:cNvSpPr>
              <a:spLocks noChangeArrowheads="1"/>
            </p:cNvSpPr>
            <p:nvPr/>
          </p:nvSpPr>
          <p:spPr bwMode="auto">
            <a:xfrm>
              <a:off x="2071" y="2122"/>
              <a:ext cx="162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The coil 2 flux density</a:t>
              </a:r>
              <a:endParaRPr lang="en-US" altLang="zh-CN" sz="16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(that resides in both coils) is: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200" name="Rectangle 81"/>
            <p:cNvSpPr>
              <a:spLocks noChangeArrowheads="1"/>
            </p:cNvSpPr>
            <p:nvPr/>
          </p:nvSpPr>
          <p:spPr bwMode="auto">
            <a:xfrm>
              <a:off x="2108" y="2604"/>
              <a:ext cx="293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The mutual flux linkage between coils 2 and 1 is then: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201" name="Rectangle 82"/>
            <p:cNvSpPr>
              <a:spLocks noChangeArrowheads="1"/>
            </p:cNvSpPr>
            <p:nvPr/>
          </p:nvSpPr>
          <p:spPr bwMode="auto">
            <a:xfrm>
              <a:off x="2123" y="3280"/>
              <a:ext cx="176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…and the mutual inductance is: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202" name="Rectangle 83"/>
            <p:cNvSpPr>
              <a:spLocks noChangeArrowheads="1"/>
            </p:cNvSpPr>
            <p:nvPr/>
          </p:nvSpPr>
          <p:spPr bwMode="auto">
            <a:xfrm>
              <a:off x="2160" y="3504"/>
              <a:ext cx="2832" cy="528"/>
            </a:xfrm>
            <a:prstGeom prst="rect">
              <a:avLst/>
            </a:prstGeom>
            <a:noFill/>
            <a:ln w="9525">
              <a:solidFill>
                <a:srgbClr val="CC006B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9220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 Property of the Mutual Inductances</a:t>
            </a:r>
            <a:endParaRPr lang="zh-CN" altLang="en-US" sz="2800" b="1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87" name="Group 8"/>
          <p:cNvGrpSpPr/>
          <p:nvPr/>
        </p:nvGrpSpPr>
        <p:grpSpPr bwMode="auto">
          <a:xfrm>
            <a:off x="1905000" y="1905000"/>
            <a:ext cx="5618163" cy="2971800"/>
            <a:chOff x="1200" y="1200"/>
            <a:chExt cx="3539" cy="1872"/>
          </a:xfrm>
        </p:grpSpPr>
        <p:grpSp>
          <p:nvGrpSpPr>
            <p:cNvPr id="88" name="Group 6"/>
            <p:cNvGrpSpPr/>
            <p:nvPr/>
          </p:nvGrpSpPr>
          <p:grpSpPr bwMode="auto">
            <a:xfrm>
              <a:off x="2208" y="1728"/>
              <a:ext cx="1488" cy="1344"/>
              <a:chOff x="2064" y="1440"/>
              <a:chExt cx="1488" cy="1344"/>
            </a:xfrm>
          </p:grpSpPr>
          <p:sp>
            <p:nvSpPr>
              <p:cNvPr id="90" name="Rectangle 3"/>
              <p:cNvSpPr>
                <a:spLocks noChangeArrowheads="1"/>
              </p:cNvSpPr>
              <p:nvPr/>
            </p:nvSpPr>
            <p:spPr bwMode="auto">
              <a:xfrm>
                <a:off x="2160" y="1440"/>
                <a:ext cx="1251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40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They’re equal!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pic>
            <p:nvPicPr>
              <p:cNvPr id="91" name="Picture 4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8" y="2352"/>
                <a:ext cx="1273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92" name="Rectangle 5"/>
              <p:cNvSpPr>
                <a:spLocks noChangeArrowheads="1"/>
              </p:cNvSpPr>
              <p:nvPr/>
            </p:nvSpPr>
            <p:spPr bwMode="auto">
              <a:xfrm>
                <a:off x="2064" y="2304"/>
                <a:ext cx="1488" cy="480"/>
              </a:xfrm>
              <a:prstGeom prst="rect">
                <a:avLst/>
              </a:prstGeom>
              <a:noFill/>
              <a:ln w="12700">
                <a:solidFill>
                  <a:srgbClr val="CC006B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9" name="Rectangle 7"/>
            <p:cNvSpPr>
              <a:spLocks noChangeArrowheads="1"/>
            </p:cNvSpPr>
            <p:nvPr/>
          </p:nvSpPr>
          <p:spPr bwMode="auto">
            <a:xfrm>
              <a:off x="1200" y="1200"/>
              <a:ext cx="3539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The foregoing example illustrates an important property of </a:t>
              </a:r>
              <a:endParaRPr lang="en-US" altLang="zh-CN" sz="180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the mutual inductances between any pair of inductors: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HW-8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/>
              <a:t>68</a:t>
            </a:r>
            <a:endParaRPr lang="zh-CN" altLang="en-US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0" y="1275522"/>
            <a:ext cx="763118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c082b6f6-2a39-4416-bb0b-92c128dbd7d4"/>
  <p:tag name="COMMONDATA" val="eyJoZGlkIjoiODI0ZjJiMmIyODM0NTc5MzEyN2IzOWYzNjgwNDFiNTY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12317</Words>
  <Application>WPS 演示</Application>
  <PresentationFormat>全屏显示(4:3)</PresentationFormat>
  <Paragraphs>1149</Paragraphs>
  <Slides>35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Arial</vt:lpstr>
      <vt:lpstr>宋体</vt:lpstr>
      <vt:lpstr>Wingdings</vt:lpstr>
      <vt:lpstr>Times New Roman</vt:lpstr>
      <vt:lpstr>华文行楷</vt:lpstr>
      <vt:lpstr>MS PGothic</vt:lpstr>
      <vt:lpstr>微软雅黑</vt:lpstr>
      <vt:lpstr>Arial Unicode MS</vt:lpstr>
      <vt:lpstr>Calibri</vt:lpstr>
      <vt:lpstr>默认设计模板</vt:lpstr>
      <vt:lpstr>Engineering Electromagnetics 工程电磁场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HW-8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dpcuser</dc:creator>
  <cp:lastModifiedBy>林碧容</cp:lastModifiedBy>
  <cp:revision>826</cp:revision>
  <cp:lastPrinted>2014-03-03T09:16:00Z</cp:lastPrinted>
  <dcterms:created xsi:type="dcterms:W3CDTF">2113-01-01T00:00:00Z</dcterms:created>
  <dcterms:modified xsi:type="dcterms:W3CDTF">2024-12-24T08:57:07Z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8817CA7D860D48F0ACEE44FA405D1A37</vt:lpwstr>
  </property>
  <property fmtid="{D5CDD505-2E9C-101B-9397-08002B2CF9AE}" pid="4" name="KSOProductBuildVer">
    <vt:lpwstr>2052-11.1.0.12165</vt:lpwstr>
  </property>
</Properties>
</file>