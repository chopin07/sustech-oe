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256" r:id="rId3"/>
    <p:sldId id="280" r:id="rId4"/>
    <p:sldId id="300" r:id="rId6"/>
    <p:sldId id="330" r:id="rId7"/>
    <p:sldId id="348" r:id="rId8"/>
    <p:sldId id="347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9" r:id="rId25"/>
    <p:sldId id="350" r:id="rId26"/>
    <p:sldId id="351" r:id="rId27"/>
    <p:sldId id="353" r:id="rId28"/>
    <p:sldId id="352" r:id="rId29"/>
  </p:sldIdLst>
  <p:sldSz cx="9144000" cy="6858000" type="screen4x3"/>
  <p:notesSz cx="9926320" cy="6797675"/>
  <p:custDataLst>
    <p:tags r:id="rId3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  <a:srgbClr val="990000"/>
    <a:srgbClr val="0066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1" autoAdjust="0"/>
    <p:restoredTop sz="94660"/>
  </p:normalViewPr>
  <p:slideViewPr>
    <p:cSldViewPr>
      <p:cViewPr varScale="1">
        <p:scale>
          <a:sx n="115" d="100"/>
          <a:sy n="115" d="100"/>
        </p:scale>
        <p:origin x="116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gs" Target="tags/tag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0T17:53:39.024" idx="3">
    <p:pos x="3156" y="3539"/>
    <p:text>注意这个分量形式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20T16:53:21.980" idx="2">
    <p:pos x="2205" y="2282"/>
    <p:text>将上面的dE与ap单位矢量做点乘，算出在ap上的分量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57:47.848" idx="4">
    <p:pos x="1886" y="2754"/>
    <p:text>dQ=pL*dz=pS*dz*dy=pV*dx*dy*dz
pS*dy=pL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58:24.809" idx="5">
    <p:pos x="2269" y="2346"/>
    <p:text>确定电场线各点斜率的方程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3.png"/><Relationship Id="rId4" Type="http://schemas.openxmlformats.org/officeDocument/2006/relationships/image" Target="../media/image51.png"/><Relationship Id="rId3" Type="http://schemas.openxmlformats.org/officeDocument/2006/relationships/image" Target="../media/image45.jpeg"/><Relationship Id="rId2" Type="http://schemas.openxmlformats.org/officeDocument/2006/relationships/image" Target="../media/image50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image" Target="../media/image5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6.png"/><Relationship Id="rId1" Type="http://schemas.openxmlformats.org/officeDocument/2006/relationships/image" Target="../media/image5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.png"/><Relationship Id="rId1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6.png"/><Relationship Id="rId1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6.png"/><Relationship Id="rId1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jpeg"/><Relationship Id="rId2" Type="http://schemas.openxmlformats.org/officeDocument/2006/relationships/image" Target="../media/image74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en-US" altLang="zh-CN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5"/>
          <p:cNvGrpSpPr/>
          <p:nvPr/>
        </p:nvGrpSpPr>
        <p:grpSpPr bwMode="auto">
          <a:xfrm>
            <a:off x="1104900" y="5002212"/>
            <a:ext cx="4648200" cy="865188"/>
            <a:chOff x="1200" y="3312"/>
            <a:chExt cx="2928" cy="545"/>
          </a:xfrm>
        </p:grpSpPr>
        <p:pic>
          <p:nvPicPr>
            <p:cNvPr id="20" name="Picture 21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3312"/>
              <a:ext cx="108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2496" y="3446"/>
              <a:ext cx="47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where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Picture 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3340"/>
              <a:ext cx="1008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2: Coulomb’s Law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库伦定律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322521" y="1101725"/>
            <a:ext cx="79248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Coulomb’s</a:t>
            </a:r>
            <a:r>
              <a:rPr lang="en-US" altLang="zh-CN" sz="28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electrostatic force law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库伦静电力定律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1026" name="Picture 2" descr="C:\Users\dpcuser\Desktop\About Teaching\工程电磁场\Instructor Notes\Lecture 2\Coulom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456" y="1676400"/>
            <a:ext cx="135994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22521" y="1600200"/>
            <a:ext cx="7924800" cy="103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Charles Augustin de Coulomb (1736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1806)</a:t>
            </a:r>
            <a:endParaRPr lang="en-US" altLang="zh-CN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French physicist, French Army Engineers</a:t>
            </a:r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36699" y="2514601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Coulomb’s torsion balance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库伦扭秤</a:t>
            </a:r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24"/>
          <p:cNvGrpSpPr/>
          <p:nvPr/>
        </p:nvGrpSpPr>
        <p:grpSpPr bwMode="auto">
          <a:xfrm>
            <a:off x="838200" y="3048000"/>
            <a:ext cx="5295900" cy="914400"/>
            <a:chOff x="1032" y="1488"/>
            <a:chExt cx="3336" cy="576"/>
          </a:xfrm>
        </p:grpSpPr>
        <p:grpSp>
          <p:nvGrpSpPr>
            <p:cNvPr id="23" name="Group 7"/>
            <p:cNvGrpSpPr/>
            <p:nvPr/>
          </p:nvGrpSpPr>
          <p:grpSpPr bwMode="auto">
            <a:xfrm>
              <a:off x="1503" y="1776"/>
              <a:ext cx="225" cy="288"/>
              <a:chOff x="584" y="1852"/>
              <a:chExt cx="225" cy="288"/>
            </a:xfrm>
          </p:grpSpPr>
          <p:sp>
            <p:nvSpPr>
              <p:cNvPr id="35" name="Oval 5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584" y="185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Group 8"/>
            <p:cNvGrpSpPr/>
            <p:nvPr/>
          </p:nvGrpSpPr>
          <p:grpSpPr bwMode="auto">
            <a:xfrm>
              <a:off x="3375" y="1776"/>
              <a:ext cx="225" cy="288"/>
              <a:chOff x="584" y="1852"/>
              <a:chExt cx="225" cy="288"/>
            </a:xfrm>
          </p:grpSpPr>
          <p:sp>
            <p:nvSpPr>
              <p:cNvPr id="33" name="Oval 9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10"/>
              <p:cNvSpPr>
                <a:spLocks noChangeArrowheads="1"/>
              </p:cNvSpPr>
              <p:nvPr/>
            </p:nvSpPr>
            <p:spPr bwMode="auto">
              <a:xfrm>
                <a:off x="584" y="185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1440" y="148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3329" y="148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2448" y="177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>
              <a:off x="2736" y="19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1726" y="1920"/>
              <a:ext cx="6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3648" y="1920"/>
              <a:ext cx="432" cy="0"/>
            </a:xfrm>
            <a:prstGeom prst="line">
              <a:avLst/>
            </a:prstGeom>
            <a:noFill/>
            <a:ln w="19050">
              <a:solidFill>
                <a:srgbClr val="FF2E5E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H="1">
              <a:off x="1032" y="1920"/>
              <a:ext cx="432" cy="0"/>
            </a:xfrm>
            <a:prstGeom prst="line">
              <a:avLst/>
            </a:prstGeom>
            <a:noFill/>
            <a:ln w="19050">
              <a:solidFill>
                <a:srgbClr val="FF2E5E"/>
              </a:solidFill>
              <a:round/>
              <a:tailEnd type="stealth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9"/>
            <p:cNvSpPr>
              <a:spLocks noChangeArrowheads="1"/>
            </p:cNvSpPr>
            <p:nvPr/>
          </p:nvSpPr>
          <p:spPr bwMode="auto">
            <a:xfrm>
              <a:off x="4135" y="177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685800" y="3886200"/>
            <a:ext cx="61531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Force of repulsion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排斥力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occurs when charges have the same sign.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Charges attract each other when of opposite sign.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Rectangle 26"/>
          <p:cNvSpPr>
            <a:spLocks noChangeArrowheads="1"/>
          </p:cNvSpPr>
          <p:nvPr/>
        </p:nvSpPr>
        <p:spPr bwMode="auto">
          <a:xfrm>
            <a:off x="569912" y="3048000"/>
            <a:ext cx="6211888" cy="2776537"/>
          </a:xfrm>
          <a:prstGeom prst="rect">
            <a:avLst/>
          </a:prstGeom>
          <a:noFill/>
          <a:ln w="9525">
            <a:solidFill>
              <a:srgbClr val="3344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dpcuser\Desktop\About Teaching\工程电磁场\Instructor Notes\Lecture 2\P02007_COULOMB_TORSION_BALANC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00200"/>
            <a:ext cx="1961322" cy="412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550652" y="6019800"/>
            <a:ext cx="77551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Please compare the Coulomb’s electrostatic force law with the Newton’s   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law of universal gravitation.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3810" y="41529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823" y="3916362"/>
            <a:ext cx="21844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7" y="2819400"/>
            <a:ext cx="5046663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2: Coulomb’s Law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库伦定律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81000" y="1219200"/>
            <a:ext cx="7924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Free Space Permittivity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自由空间的介电常数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9" name="Group 25"/>
          <p:cNvGrpSpPr/>
          <p:nvPr/>
        </p:nvGrpSpPr>
        <p:grpSpPr bwMode="auto">
          <a:xfrm>
            <a:off x="2286000" y="1912938"/>
            <a:ext cx="4648200" cy="865188"/>
            <a:chOff x="1200" y="3312"/>
            <a:chExt cx="2928" cy="545"/>
          </a:xfrm>
        </p:grpSpPr>
        <p:pic>
          <p:nvPicPr>
            <p:cNvPr id="11" name="Picture 2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3312"/>
              <a:ext cx="108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2496" y="3446"/>
              <a:ext cx="47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where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2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3340"/>
              <a:ext cx="1008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4" name="Rectangle 26"/>
          <p:cNvSpPr>
            <a:spLocks noChangeArrowheads="1"/>
          </p:cNvSpPr>
          <p:nvPr/>
        </p:nvSpPr>
        <p:spPr bwMode="auto">
          <a:xfrm>
            <a:off x="2133600" y="1828800"/>
            <a:ext cx="1905000" cy="990600"/>
          </a:xfrm>
          <a:prstGeom prst="rect">
            <a:avLst/>
          </a:prstGeom>
          <a:noFill/>
          <a:ln w="9525">
            <a:solidFill>
              <a:srgbClr val="3344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838200" y="4191000"/>
            <a:ext cx="53854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which the Coulomb’s force becomes: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33400" y="5181600"/>
            <a:ext cx="8077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Unit of Charge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电荷量单位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: Coulomb, C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库伦，库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Elementary charge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基本电荷量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(Charge of Electron or Proton)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                   =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1.60217657 × 10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-19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Coulombs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12322" y="1709470"/>
            <a:ext cx="16002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191000" y="1733912"/>
            <a:ext cx="16002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064355" y="3352800"/>
            <a:ext cx="2003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F: Farad </a:t>
            </a:r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法拉</a:t>
            </a:r>
            <a:r>
              <a:rPr lang="en-US" altLang="zh-CN" sz="20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法</a:t>
            </a:r>
            <a:endParaRPr lang="zh-CN" altLang="en-US" sz="2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2: Coulomb’s Law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库伦定律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81000" y="1143000"/>
            <a:ext cx="830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Coulomb’s</a:t>
            </a:r>
            <a:r>
              <a:rPr lang="en-US" altLang="zh-CN" sz="28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law in vector form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库伦定律的矢量形式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18" name="Group 7"/>
          <p:cNvGrpSpPr/>
          <p:nvPr/>
        </p:nvGrpSpPr>
        <p:grpSpPr bwMode="auto">
          <a:xfrm>
            <a:off x="3849687" y="1752600"/>
            <a:ext cx="4532313" cy="4787900"/>
            <a:chOff x="1606" y="1152"/>
            <a:chExt cx="2855" cy="3016"/>
          </a:xfrm>
        </p:grpSpPr>
        <p:pic>
          <p:nvPicPr>
            <p:cNvPr id="19" name="Picture 2" descr="Chapter 2 Fig 1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2020"/>
              <a:ext cx="2637" cy="1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9" y="1196"/>
              <a:ext cx="1509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2112" y="1152"/>
              <a:ext cx="1536" cy="672"/>
            </a:xfrm>
            <a:prstGeom prst="rect">
              <a:avLst/>
            </a:prstGeom>
            <a:noFill/>
            <a:ln w="9525">
              <a:solidFill>
                <a:srgbClr val="DF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" y="3696"/>
              <a:ext cx="2125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56" y="1600200"/>
            <a:ext cx="21844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右箭头 1"/>
          <p:cNvSpPr/>
          <p:nvPr/>
        </p:nvSpPr>
        <p:spPr>
          <a:xfrm>
            <a:off x="3739356" y="1951038"/>
            <a:ext cx="527844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613912" y="3657600"/>
            <a:ext cx="2891287" cy="4222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Q1. How to describe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64" y="4351590"/>
            <a:ext cx="3635023" cy="67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2: Coulomb’s Law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库伦定律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81000" y="1143000"/>
            <a:ext cx="830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Example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pic>
        <p:nvPicPr>
          <p:cNvPr id="19" name="Picture 2" descr="Chapter 2 Fig 1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970" y="1143000"/>
            <a:ext cx="2921030" cy="196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1797050"/>
            <a:ext cx="2395538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762000" y="1752600"/>
            <a:ext cx="2438400" cy="990600"/>
          </a:xfrm>
          <a:prstGeom prst="rect">
            <a:avLst/>
          </a:prstGeom>
          <a:noFill/>
          <a:ln w="9525">
            <a:solidFill>
              <a:srgbClr val="DF006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076" y="1999082"/>
            <a:ext cx="2320924" cy="515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24200"/>
            <a:ext cx="727718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7848600" y="3657600"/>
            <a:ext cx="381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66800" y="3962400"/>
            <a:ext cx="762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81000" y="1143000"/>
            <a:ext cx="830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Unit test charge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单位试验电荷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grpSp>
        <p:nvGrpSpPr>
          <p:cNvPr id="18" name="Group 7"/>
          <p:cNvGrpSpPr/>
          <p:nvPr/>
        </p:nvGrpSpPr>
        <p:grpSpPr bwMode="auto">
          <a:xfrm>
            <a:off x="304800" y="1828800"/>
            <a:ext cx="3373438" cy="4559300"/>
            <a:chOff x="1785" y="1152"/>
            <a:chExt cx="2125" cy="2872"/>
          </a:xfrm>
        </p:grpSpPr>
        <p:pic>
          <p:nvPicPr>
            <p:cNvPr id="19" name="Picture 2" descr="Chapter 2 Fig 1"/>
            <p:cNvPicPr>
              <a:picLocks noChangeAspect="1" noChangeArrowheads="1"/>
            </p:cNvPicPr>
            <p:nvPr/>
          </p:nvPicPr>
          <p:blipFill>
            <a:blip r:embed="rId2" cstate="print">
              <a:lum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2020"/>
              <a:ext cx="2086" cy="1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9" y="1196"/>
              <a:ext cx="1509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2112" y="1152"/>
              <a:ext cx="1536" cy="672"/>
            </a:xfrm>
            <a:prstGeom prst="rect">
              <a:avLst/>
            </a:prstGeom>
            <a:noFill/>
            <a:ln w="9525">
              <a:solidFill>
                <a:srgbClr val="DF006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5" y="3552"/>
              <a:ext cx="2125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74" y="2524125"/>
            <a:ext cx="23304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733800" y="1676400"/>
            <a:ext cx="52577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force acting on a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charge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arising from charge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3775462" y="3424535"/>
            <a:ext cx="52161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unit vector directed from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3733800" y="4426803"/>
            <a:ext cx="50925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intensity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the force per unit test charge, or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0"/>
          <p:cNvGrpSpPr/>
          <p:nvPr/>
        </p:nvGrpSpPr>
        <p:grpSpPr bwMode="auto">
          <a:xfrm>
            <a:off x="4191000" y="5410200"/>
            <a:ext cx="4191000" cy="1066800"/>
            <a:chOff x="1632" y="3168"/>
            <a:chExt cx="2640" cy="672"/>
          </a:xfrm>
        </p:grpSpPr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3193"/>
              <a:ext cx="2067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1632" y="3168"/>
              <a:ext cx="2640" cy="672"/>
            </a:xfrm>
            <a:prstGeom prst="rect">
              <a:avLst/>
            </a:prstGeom>
            <a:noFill/>
            <a:ln w="19050">
              <a:solidFill>
                <a:srgbClr val="3344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3792" y="3360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N/C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962650"/>
            <a:ext cx="381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Chapter 2 Fig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490170"/>
            <a:ext cx="3788763" cy="3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44FF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81000" y="1066800"/>
            <a:ext cx="830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intensity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grpSp>
        <p:nvGrpSpPr>
          <p:cNvPr id="17" name="Group 10"/>
          <p:cNvGrpSpPr/>
          <p:nvPr/>
        </p:nvGrpSpPr>
        <p:grpSpPr bwMode="auto">
          <a:xfrm>
            <a:off x="1123156" y="1748136"/>
            <a:ext cx="3998913" cy="914401"/>
            <a:chOff x="1632" y="3168"/>
            <a:chExt cx="2640" cy="672"/>
          </a:xfrm>
        </p:grpSpPr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3193"/>
              <a:ext cx="2067" cy="5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1632" y="3168"/>
              <a:ext cx="2640" cy="672"/>
            </a:xfrm>
            <a:prstGeom prst="rect">
              <a:avLst/>
            </a:prstGeom>
            <a:noFill/>
            <a:ln w="19050">
              <a:solidFill>
                <a:srgbClr val="3344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3792" y="3360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N/C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776492" y="2814935"/>
            <a:ext cx="79687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convenient unit for electric field is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V/m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V: Volt 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伏特</a:t>
            </a:r>
            <a:endParaRPr lang="en-US" altLang="zh-CN" sz="24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522" y="1667173"/>
            <a:ext cx="23241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右箭头 26"/>
          <p:cNvSpPr/>
          <p:nvPr/>
        </p:nvSpPr>
        <p:spPr>
          <a:xfrm>
            <a:off x="5298678" y="1938636"/>
            <a:ext cx="527844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620198"/>
            <a:ext cx="4354015" cy="117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81000" y="3743980"/>
            <a:ext cx="56299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charge off-origin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2438400" y="3279032"/>
            <a:ext cx="1824487" cy="4222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Q2. What is 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95670"/>
            <a:ext cx="381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hapter 2 Fig 3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1" y="1732358"/>
            <a:ext cx="4404973" cy="453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0668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 of fields from two point charges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电场叠加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645" y="1905000"/>
            <a:ext cx="4753681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876800" y="3276600"/>
            <a:ext cx="3276600" cy="1371600"/>
            <a:chOff x="4876800" y="3048000"/>
            <a:chExt cx="3276600" cy="1371600"/>
          </a:xfrm>
        </p:grpSpPr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4953000" y="3119437"/>
              <a:ext cx="1939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charges: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2999" y="3657600"/>
              <a:ext cx="3042257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4876800" y="3048000"/>
              <a:ext cx="3276600" cy="1371600"/>
            </a:xfrm>
            <a:prstGeom prst="rect">
              <a:avLst/>
            </a:prstGeom>
            <a:noFill/>
            <a:ln w="19050">
              <a:solidFill>
                <a:srgbClr val="E7277E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905591" y="5917317"/>
            <a:ext cx="5171609" cy="40011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Note: Static Electric Field in free space is linear!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hapter 2 Fig 4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76" y="1295400"/>
            <a:ext cx="4989623" cy="292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901" y="1676400"/>
            <a:ext cx="2750699" cy="688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25902" y="1701209"/>
            <a:ext cx="2414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67" y="3657600"/>
            <a:ext cx="2652233" cy="365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4" name="Group 16"/>
          <p:cNvGrpSpPr/>
          <p:nvPr/>
        </p:nvGrpSpPr>
        <p:grpSpPr bwMode="auto">
          <a:xfrm>
            <a:off x="4901670" y="4520697"/>
            <a:ext cx="1880129" cy="1751679"/>
            <a:chOff x="400" y="2620"/>
            <a:chExt cx="752" cy="811"/>
          </a:xfrm>
        </p:grpSpPr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" y="2620"/>
              <a:ext cx="62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" y="2820"/>
              <a:ext cx="74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7" name="Picture 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" y="3048"/>
              <a:ext cx="633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8" name="Picture 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" y="3264"/>
              <a:ext cx="737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Group 15"/>
          <p:cNvGrpSpPr/>
          <p:nvPr/>
        </p:nvGrpSpPr>
        <p:grpSpPr bwMode="auto">
          <a:xfrm>
            <a:off x="1066800" y="4151312"/>
            <a:ext cx="1949450" cy="420688"/>
            <a:chOff x="409" y="2400"/>
            <a:chExt cx="743" cy="164"/>
          </a:xfrm>
        </p:grpSpPr>
        <p:pic>
          <p:nvPicPr>
            <p:cNvPr id="31" name="Picture 4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" y="2400"/>
              <a:ext cx="74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552" y="2516"/>
              <a:ext cx="144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3" name="Picture 1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628497"/>
            <a:ext cx="2278358" cy="400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" name="Picture 2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5" y="5204618"/>
            <a:ext cx="2117035" cy="28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" name="Picture 2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611812"/>
            <a:ext cx="1954330" cy="428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" name="Rectangle 22"/>
          <p:cNvSpPr>
            <a:spLocks noChangeArrowheads="1"/>
          </p:cNvSpPr>
          <p:nvPr/>
        </p:nvSpPr>
        <p:spPr bwMode="auto">
          <a:xfrm>
            <a:off x="605047" y="2967335"/>
            <a:ext cx="2900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find the vectors: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3810990" y="5071078"/>
            <a:ext cx="9781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5047" y="2303722"/>
            <a:ext cx="1095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hapter 2 Fig 4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76" y="1371600"/>
            <a:ext cx="4989623" cy="292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.’d)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901" y="1676400"/>
            <a:ext cx="2750699" cy="688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25902" y="1701209"/>
            <a:ext cx="2414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24" y="4247718"/>
            <a:ext cx="6470651" cy="371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127206"/>
            <a:ext cx="7573630" cy="81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9" name="Group 8"/>
          <p:cNvGrpSpPr/>
          <p:nvPr/>
        </p:nvGrpSpPr>
        <p:grpSpPr bwMode="auto">
          <a:xfrm>
            <a:off x="1295400" y="5943600"/>
            <a:ext cx="3625399" cy="573087"/>
            <a:chOff x="720" y="3983"/>
            <a:chExt cx="1965" cy="289"/>
          </a:xfrm>
        </p:grpSpPr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3988"/>
              <a:ext cx="1917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" name="Rectangle 7"/>
            <p:cNvSpPr>
              <a:spLocks noChangeArrowheads="1"/>
            </p:cNvSpPr>
            <p:nvPr/>
          </p:nvSpPr>
          <p:spPr bwMode="auto">
            <a:xfrm>
              <a:off x="720" y="3983"/>
              <a:ext cx="182" cy="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831227" y="4648200"/>
            <a:ext cx="1080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Line 15"/>
          <p:cNvSpPr>
            <a:spLocks noChangeShapeType="1"/>
          </p:cNvSpPr>
          <p:nvPr/>
        </p:nvSpPr>
        <p:spPr bwMode="auto">
          <a:xfrm>
            <a:off x="1828800" y="6477000"/>
            <a:ext cx="3015799" cy="0"/>
          </a:xfrm>
          <a:prstGeom prst="line">
            <a:avLst/>
          </a:prstGeom>
          <a:noFill/>
          <a:ln w="19050">
            <a:solidFill>
              <a:srgbClr val="E7277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1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2" y="2667000"/>
            <a:ext cx="1776660" cy="699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762000" y="2774007"/>
            <a:ext cx="936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arising from a continuous volume charge distribution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连续分布体电荷产生的电场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3300413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2057400"/>
            <a:ext cx="8156575" cy="59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Picture 2" descr="C:\Users\dpcuser\Desktop\About Teaching\工程电磁场\Instructor Notes\Lecture 2\SMT359_2_004i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991" y="2590800"/>
            <a:ext cx="2386126" cy="158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dpcuser\Desktop\About Teaching\工程电磁场\Instructor Notes\Lecture 2\gallery_3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4196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698440" y="3502025"/>
            <a:ext cx="585476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denote </a:t>
            </a:r>
            <a:r>
              <a:rPr lang="en-US" altLang="zh-CN" sz="19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charge density</a:t>
            </a:r>
            <a:r>
              <a:rPr lang="zh-CN" altLang="en-US" sz="19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体电荷密度</a:t>
            </a:r>
            <a:r>
              <a:rPr lang="en-US" altLang="zh-CN" sz="19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zh-CN" sz="19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having the units of </a:t>
            </a:r>
            <a:r>
              <a:rPr lang="en-US" altLang="zh-CN" sz="19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coulombs per cubic meter (C/m</a:t>
            </a:r>
            <a:r>
              <a:rPr lang="en-US" altLang="zh-CN" sz="19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9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zh-CN" altLang="en-US" sz="19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4515168"/>
            <a:ext cx="1410868" cy="382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4324382"/>
            <a:ext cx="1819275" cy="70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1295400" y="5334000"/>
            <a:ext cx="3434901" cy="775626"/>
            <a:chOff x="1295400" y="5334000"/>
            <a:chExt cx="3434901" cy="775626"/>
          </a:xfrm>
        </p:grpSpPr>
        <p:pic>
          <p:nvPicPr>
            <p:cNvPr id="42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5350801"/>
              <a:ext cx="3300413" cy="75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0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3138" y="5334000"/>
              <a:ext cx="2697163" cy="677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arising from a continuous volume charge distribution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连续分布体电荷产生的电场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457200" y="2057400"/>
            <a:ext cx="77724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sum all contributions throughout a volume and take the limit as 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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zero, to obtain the integral: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9"/>
          <p:cNvGrpSpPr/>
          <p:nvPr/>
        </p:nvGrpSpPr>
        <p:grpSpPr bwMode="auto">
          <a:xfrm>
            <a:off x="742950" y="4114800"/>
            <a:ext cx="3790950" cy="990600"/>
            <a:chOff x="1308" y="3372"/>
            <a:chExt cx="2388" cy="624"/>
          </a:xfrm>
        </p:grpSpPr>
        <p:pic>
          <p:nvPicPr>
            <p:cNvPr id="28" name="Picture 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" y="3467"/>
              <a:ext cx="2315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308" y="3372"/>
              <a:ext cx="2304" cy="624"/>
            </a:xfrm>
            <a:prstGeom prst="rect">
              <a:avLst/>
            </a:prstGeom>
            <a:noFill/>
            <a:ln w="19050">
              <a:solidFill>
                <a:srgbClr val="E7277E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0" name="Picture 2" descr="C:\Users\dpcuser\Desktop\About Teaching\工程电磁场\Instructor Notes\Lecture 2\SMT359_2_004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164" y="2438400"/>
            <a:ext cx="2403953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35" y="4114800"/>
            <a:ext cx="2193985" cy="1070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838200" y="5514498"/>
            <a:ext cx="775514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The vector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 from the origin locates the field point where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being determined, whereas the vector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’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 from the origin to the 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source point where 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zh-CN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dν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located.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143000" y="3048000"/>
            <a:ext cx="3434901" cy="775626"/>
            <a:chOff x="1295400" y="5334000"/>
            <a:chExt cx="3434901" cy="775626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5350801"/>
              <a:ext cx="3300413" cy="75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3138" y="5334000"/>
              <a:ext cx="2697163" cy="677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dpcuser\Desktop\About Teaching\工程电磁场\Instructor Notes\Lecture 2\hay80660_02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874" y="2133600"/>
            <a:ext cx="3336526" cy="424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arising from a continuous volume charge distribution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连续分布体电荷产生的电场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533400" y="1981200"/>
            <a:ext cx="541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Find the total charge contained in a 2-cm length of the electron beam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43225"/>
            <a:ext cx="32004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3514725"/>
            <a:ext cx="46672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4293403"/>
            <a:ext cx="3795713" cy="67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94" y="4953000"/>
            <a:ext cx="3766213" cy="14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957682" y="29160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810000" y="2957512"/>
            <a:ext cx="228600" cy="2428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dpcuser\Desktop\About Teaching\工程电磁场\Instructor Notes\Lecture 2\hay80660_02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874" y="2133600"/>
            <a:ext cx="3336526" cy="424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arising from a continuous volume charge distribution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连续分布体电荷产生的电场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533400" y="1981200"/>
            <a:ext cx="6172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(Cont’d): Find the total charge contained in a 2-cm length of the electron beam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94" y="2895600"/>
            <a:ext cx="3766213" cy="14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86055"/>
            <a:ext cx="4893074" cy="138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533400" y="5960723"/>
            <a:ext cx="50454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pico-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couloms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(pc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皮库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-12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hapter 2 Fig 6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2325688"/>
            <a:ext cx="4003675" cy="43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line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线电荷产生的电场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12774" y="1524000"/>
            <a:ext cx="79216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charge of constant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 density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线电荷密度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lies along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axis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(infinite line of charge)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25" y="3124200"/>
            <a:ext cx="2312988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715662" y="2354997"/>
            <a:ext cx="442595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point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electric field arising from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is: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3839683"/>
            <a:ext cx="17272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4293708"/>
            <a:ext cx="1041400" cy="3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4671652"/>
            <a:ext cx="2193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79163" y="3809521"/>
            <a:ext cx="8114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754224" y="4638255"/>
            <a:ext cx="859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5410200"/>
            <a:ext cx="2733676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710442" y="5104921"/>
            <a:ext cx="11945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763588" y="4238145"/>
            <a:ext cx="554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81000" y="6176963"/>
            <a:ext cx="472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Cylindrical coordinate is adopted herein.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hapter 2 Fig 6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2141883"/>
            <a:ext cx="4003675" cy="43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line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线电荷产生的电场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73250"/>
            <a:ext cx="2733675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241300" y="2025650"/>
            <a:ext cx="1138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422274" y="2787650"/>
            <a:ext cx="422592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symmetry, only a radial component is present: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79812"/>
            <a:ext cx="2833688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64050"/>
            <a:ext cx="3208338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78450"/>
            <a:ext cx="3190875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hapter 2 Fig 6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2141883"/>
            <a:ext cx="4003675" cy="43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line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线电荷产生的电场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502818" y="5060605"/>
            <a:ext cx="4191001" cy="149259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Q3. How to describe in Rectangular coordinates?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Q4. How to choose coordinate system?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Q5. How to memorize this result?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3424"/>
            <a:ext cx="3821113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971800"/>
            <a:ext cx="112395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1" y="3746500"/>
            <a:ext cx="2339975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line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线电荷产生的电场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12774" y="1524000"/>
            <a:ext cx="792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Off-Axis Line Charge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2" descr="Chapter 2 Fig 8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38" y="2438400"/>
            <a:ext cx="4132263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2770188"/>
            <a:ext cx="372110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3962400"/>
            <a:ext cx="381158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486400"/>
            <a:ext cx="3592513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304800" y="2168525"/>
            <a:ext cx="5360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 the line displaced to (6,8), the field becomes: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381000" y="3602038"/>
            <a:ext cx="811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392112" y="4781550"/>
            <a:ext cx="979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33400" y="5410200"/>
            <a:ext cx="3810000" cy="990600"/>
          </a:xfrm>
          <a:prstGeom prst="rect">
            <a:avLst/>
          </a:prstGeom>
          <a:noFill/>
          <a:ln w="19050">
            <a:solidFill>
              <a:srgbClr val="E7277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259" y="1685511"/>
            <a:ext cx="1828141" cy="883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hapter 2 Fig 9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743" y="2712805"/>
            <a:ext cx="4739591" cy="368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sheet of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面电荷产生的电场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8" y="4572000"/>
            <a:ext cx="3006725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334000"/>
            <a:ext cx="1865313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609600" y="2029361"/>
            <a:ext cx="78728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electric field produced by the uniform surface charge of density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y-z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plane. (infinite sheet of charge)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612774" y="1524000"/>
            <a:ext cx="792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charge density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面电荷密度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C/m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600" y="2828836"/>
            <a:ext cx="403860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begin by writing down the line charge field on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for a strip of differential width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´,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</a:t>
            </a:r>
            <a:r>
              <a:rPr lang="en-US" altLang="ja-JP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of that field: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459" y="2387304"/>
            <a:ext cx="1828141" cy="883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hapter 2 Fig 9"/>
          <p:cNvPicPr>
            <a:picLocks noChangeAspect="1" noChangeArrowheads="1"/>
          </p:cNvPicPr>
          <p:nvPr/>
        </p:nvPicPr>
        <p:blipFill>
          <a:blip r:embed="rId1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382" y="2814165"/>
            <a:ext cx="4609329" cy="358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 of a sheet of charge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面电荷产生的电场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612774" y="1524000"/>
            <a:ext cx="792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charge density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面电荷密度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" charset="2"/>
              </a:rPr>
              <a:t></a:t>
            </a:r>
            <a:r>
              <a:rPr lang="en-US" altLang="zh-CN" sz="2400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C/m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88482"/>
            <a:ext cx="5822950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648419" y="3050456"/>
            <a:ext cx="32896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field on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axis is: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57600"/>
            <a:ext cx="1873250" cy="104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35457" y="4876800"/>
            <a:ext cx="3764382" cy="16383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Q5. How to memorize this result?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Q6. Comparing P15 &amp; P18, what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do you think? 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698" y="5632036"/>
            <a:ext cx="1828141" cy="883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 and sketches of fields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电力线和电场分布图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0" y="1600200"/>
            <a:ext cx="5257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visualize a electric field?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609600" y="2057400"/>
            <a:ext cx="7086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electric field caused by line charge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68762"/>
            <a:ext cx="1828141" cy="883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4" descr="C:\Users\dpcuser\Desktop\About Teaching\工程电磁场\Instructor Notes\Image Library\Chapter_02\hay80660_020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4343400" cy="393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800600" y="2819400"/>
            <a:ext cx="40637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be content to show only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drawing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lines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everywhere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tangent to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from the charge.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5760" y="4114800"/>
            <a:ext cx="4191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lines are usually called </a:t>
            </a:r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although other terms such as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 lines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通量线</a:t>
            </a:r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lines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方向线</a:t>
            </a:r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used.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4571999" y="5452616"/>
            <a:ext cx="4495801" cy="7620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Q6. Is </a:t>
            </a:r>
            <a:r>
              <a:rPr lang="en-US" altLang="zh-CN" sz="20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it real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that the magnitude of field can not be indicated with streamlines?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 and sketches of fields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电力线和电场分布图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38200" y="1600200"/>
            <a:ext cx="7710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Methodology of Streamline Construction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电力线的构建方法</a:t>
            </a: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6" name="Picture 2" descr="Chapter 2 Fig 11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1" y="2608055"/>
            <a:ext cx="4283353" cy="325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2" y="3897313"/>
            <a:ext cx="1828800" cy="105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1036637" y="2432050"/>
            <a:ext cx="3403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gives the slope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field plot in the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1522412" y="3881438"/>
            <a:ext cx="2057400" cy="1066800"/>
          </a:xfrm>
          <a:prstGeom prst="rect">
            <a:avLst/>
          </a:prstGeom>
          <a:noFill/>
          <a:ln w="19050">
            <a:solidFill>
              <a:srgbClr val="E7277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 and sketches of fields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电力线和电场分布图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38200" y="1600200"/>
            <a:ext cx="7710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Methodology of Streamline Construction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电力线的构建方法</a:t>
            </a: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90800"/>
            <a:ext cx="11430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724275"/>
            <a:ext cx="32448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4394200"/>
            <a:ext cx="3692525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5334000"/>
            <a:ext cx="453390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2" y="5943600"/>
            <a:ext cx="941388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838200" y="2104293"/>
            <a:ext cx="7364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the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charge field in cylindrical coordinates: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939800" y="3333750"/>
            <a:ext cx="3860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rectangular components: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914400" y="4586288"/>
            <a:ext cx="712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971550" y="5283200"/>
            <a:ext cx="196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whose solution is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179762" y="5957888"/>
            <a:ext cx="909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Line 13"/>
          <p:cNvSpPr>
            <a:spLocks noChangeShapeType="1"/>
          </p:cNvSpPr>
          <p:nvPr/>
        </p:nvSpPr>
        <p:spPr bwMode="auto">
          <a:xfrm>
            <a:off x="4392612" y="6400800"/>
            <a:ext cx="838200" cy="0"/>
          </a:xfrm>
          <a:prstGeom prst="line">
            <a:avLst/>
          </a:prstGeom>
          <a:noFill/>
          <a:ln w="19050">
            <a:solidFill>
              <a:srgbClr val="E7277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050" y="2562738"/>
            <a:ext cx="2645918" cy="246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2752406"/>
            <a:ext cx="1314450" cy="295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06" y="2469736"/>
            <a:ext cx="1828141" cy="883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 and sketches of fields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电力线和电场分布图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38200" y="1600200"/>
            <a:ext cx="7710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Methodology of Streamline Construction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电力线的构建方法</a:t>
            </a: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89" y="2209800"/>
            <a:ext cx="7162800" cy="147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3: Electric Field Intensity</a:t>
            </a:r>
            <a:r>
              <a:rPr lang="zh-CN" altLang="en-US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电场强度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52400" y="10668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Streamlines and sketches of fields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电力线和电场分布图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38200" y="1600200"/>
            <a:ext cx="7710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Methodology of Streamline Construction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电力线的构建方法</a:t>
            </a: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89" y="2209800"/>
            <a:ext cx="7162800" cy="147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642086" y="3657600"/>
                <a:ext cx="1177502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086" y="3657600"/>
                <a:ext cx="1177502" cy="695447"/>
              </a:xfrm>
              <a:prstGeom prst="rect">
                <a:avLst/>
              </a:prstGeom>
              <a:blipFill rotWithShape="1">
                <a:blip r:embed="rId3"/>
                <a:stretch>
                  <a:fillRect l="-41" r="5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447800" y="3657600"/>
                <a:ext cx="1230017" cy="660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657600"/>
                <a:ext cx="1230017" cy="660052"/>
              </a:xfrm>
              <a:prstGeom prst="rect">
                <a:avLst/>
              </a:prstGeom>
              <a:blipFill rotWithShape="1">
                <a:blip r:embed="rId4"/>
                <a:stretch>
                  <a:fillRect r="2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009126" y="3657600"/>
                <a:ext cx="3016916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0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126" y="3657600"/>
                <a:ext cx="3016916" cy="695447"/>
              </a:xfrm>
              <a:prstGeom prst="rect">
                <a:avLst/>
              </a:prstGeom>
              <a:blipFill rotWithShape="1">
                <a:blip r:embed="rId5"/>
                <a:stretch>
                  <a:fillRect l="-12" r="1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1478884" y="4495800"/>
                <a:ext cx="1628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𝑦𝑑𝑦</m:t>
                      </m:r>
                      <m:r>
                        <a:rPr lang="en-US" altLang="zh-CN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𝑥𝑑𝑥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84" y="4495800"/>
                <a:ext cx="162871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7" r="33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230837" y="4343400"/>
                <a:ext cx="1837619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37" y="4343400"/>
                <a:ext cx="1837619" cy="610936"/>
              </a:xfrm>
              <a:prstGeom prst="rect">
                <a:avLst/>
              </a:prstGeom>
              <a:blipFill rotWithShape="1">
                <a:blip r:embed="rId7"/>
                <a:stretch>
                  <a:fillRect l="-32" r="2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488948" y="5078083"/>
            <a:ext cx="2449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For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(1,4,-2), </a:t>
            </a:r>
            <a:r>
              <a:rPr lang="en-US" altLang="zh-CN" i="1" dirty="0">
                <a:latin typeface="Times New Roman" panose="02020603050405020304" pitchFamily="18" charset="0"/>
              </a:rPr>
              <a:t>C’</a:t>
            </a:r>
            <a:r>
              <a:rPr lang="en-US" altLang="zh-CN" dirty="0">
                <a:latin typeface="Times New Roman" panose="02020603050405020304" pitchFamily="18" charset="0"/>
              </a:rPr>
              <a:t>=33     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264950" y="446420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or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5867400" y="4479953"/>
                <a:ext cx="1636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 dirty="0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dirty="0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b="0" i="1" dirty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479953"/>
                <a:ext cx="163673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" r="20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066800" y="380296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(a)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HW-2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462681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9aecbd7-7325-4a1b-b871-339c6712447a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5501</Words>
  <Application>WPS 演示</Application>
  <PresentationFormat>On-screen Show (4:3)</PresentationFormat>
  <Paragraphs>356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华文行楷</vt:lpstr>
      <vt:lpstr>微软雅黑</vt:lpstr>
      <vt:lpstr>Arial Unicode MS</vt:lpstr>
      <vt:lpstr>Calibri</vt:lpstr>
      <vt:lpstr>Symbol</vt:lpstr>
      <vt:lpstr>Cambria Math</vt:lpstr>
      <vt:lpstr>Cambria Math</vt:lpstr>
      <vt:lpstr>默认设计模板</vt:lpstr>
      <vt:lpstr>Engineering Electromagnetics 工程电磁场</vt:lpstr>
      <vt:lpstr>2: Coulomb’s Law库伦定律</vt:lpstr>
      <vt:lpstr>2: Coulomb’s Law库伦定律</vt:lpstr>
      <vt:lpstr>2: Coulomb’s Law库伦定律</vt:lpstr>
      <vt:lpstr>2: Coulomb’s Law库伦定律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3: Electric Field Intensity电场强度</vt:lpstr>
      <vt:lpstr>HW-2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256</cp:revision>
  <cp:lastPrinted>2014-03-03T09:16:00Z</cp:lastPrinted>
  <dcterms:created xsi:type="dcterms:W3CDTF">2113-01-01T00:00:00Z</dcterms:created>
  <dcterms:modified xsi:type="dcterms:W3CDTF">2024-10-28T13:58:26Z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DCC545443A434639B81B1A84E2C3EC3A</vt:lpwstr>
  </property>
  <property fmtid="{D5CDD505-2E9C-101B-9397-08002B2CF9AE}" pid="4" name="KSOProductBuildVer">
    <vt:lpwstr>2052-11.1.0.12165</vt:lpwstr>
  </property>
</Properties>
</file>