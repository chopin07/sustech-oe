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80" r:id="rId4"/>
    <p:sldId id="300" r:id="rId5"/>
    <p:sldId id="329" r:id="rId6"/>
    <p:sldId id="301" r:id="rId7"/>
    <p:sldId id="302" r:id="rId8"/>
    <p:sldId id="303" r:id="rId9"/>
    <p:sldId id="304" r:id="rId10"/>
    <p:sldId id="306" r:id="rId11"/>
    <p:sldId id="307" r:id="rId13"/>
    <p:sldId id="308" r:id="rId14"/>
    <p:sldId id="311" r:id="rId15"/>
    <p:sldId id="309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34" r:id="rId33"/>
    <p:sldId id="333" r:id="rId34"/>
    <p:sldId id="331" r:id="rId35"/>
  </p:sldIdLst>
  <p:sldSz cx="9144000" cy="6858000" type="screen4x3"/>
  <p:notesSz cx="7099300" cy="10234295"/>
  <p:custDataLst>
    <p:tags r:id="rId4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  <a:srgbClr val="990000"/>
    <a:srgbClr val="0066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1" autoAdjust="0"/>
    <p:restoredTop sz="94660"/>
  </p:normalViewPr>
  <p:slideViewPr>
    <p:cSldViewPr>
      <p:cViewPr varScale="1">
        <p:scale>
          <a:sx n="125" d="100"/>
          <a:sy n="125" d="100"/>
        </p:scale>
        <p:origin x="60" y="72"/>
      </p:cViewPr>
      <p:guideLst>
        <p:guide orient="horz" pos="2160"/>
        <p:guide pos="290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.xml"/><Relationship Id="rId4" Type="http://schemas.openxmlformats.org/officeDocument/2006/relationships/slide" Target="slides/slide2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02:46.057" idx="1">
    <p:pos x="3864" y="1905"/>
    <p:text>点乘定义式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03:19.561" idx="2">
    <p:pos x="3730" y="3379"/>
    <p:text>直角坐标下点乘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03:33.224" idx="3">
    <p:pos x="2971" y="2550"/>
    <p:text>叉乘定义式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28T21:03:59.177" idx="4">
    <p:pos x="3826" y="3111"/>
    <p:text>直角坐标系下叉乘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94E4AB4-7053-424D-AAE4-9E02D59D6D87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5D663C-AD61-43AC-B802-4D42791C92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5D663C-AD61-43AC-B802-4D42791C92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0" Type="http://schemas.openxmlformats.org/officeDocument/2006/relationships/comments" Target="../comments/commen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7.jpeg"/><Relationship Id="rId15" Type="http://schemas.openxmlformats.org/officeDocument/2006/relationships/image" Target="../media/image57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jpe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4.png"/><Relationship Id="rId1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4.png"/><Relationship Id="rId1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jpeg"/><Relationship Id="rId2" Type="http://schemas.openxmlformats.org/officeDocument/2006/relationships/image" Target="../media/image4.png"/><Relationship Id="rId1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 </a:t>
            </a: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嘉有为</a:t>
            </a:r>
            <a:endParaRPr lang="en-US" altLang="zh-CN" b="1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Background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685800" y="1244600"/>
            <a:ext cx="7924800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这是一门专业（微电子、通信、光电子）必修课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(Compulsory course), So you are suggested to work very hard on it.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685800" y="2590800"/>
            <a:ext cx="792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Total Credits: 3 (Theory: 2, Experiment: 1) </a:t>
            </a:r>
            <a:endParaRPr lang="zh-CN" altLang="en-US" sz="28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9" name="Rectangle 5"/>
          <p:cNvSpPr>
            <a:spLocks noChangeArrowheads="1"/>
          </p:cNvSpPr>
          <p:nvPr/>
        </p:nvSpPr>
        <p:spPr bwMode="auto">
          <a:xfrm>
            <a:off x="698500" y="3124200"/>
            <a:ext cx="8597900" cy="685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Theory Courses</a:t>
            </a:r>
            <a:r>
              <a:rPr lang="en-US" altLang="zh-CN" sz="28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: Tue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04:20-06:10 pm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0" name="Rectangle 5"/>
          <p:cNvSpPr>
            <a:spLocks noChangeArrowheads="1"/>
          </p:cNvSpPr>
          <p:nvPr/>
        </p:nvSpPr>
        <p:spPr bwMode="auto">
          <a:xfrm>
            <a:off x="711200" y="3721105"/>
            <a:ext cx="8280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Experiment Courses: Tue (Start from 5</a:t>
            </a:r>
            <a:r>
              <a:rPr lang="en-US" altLang="zh-CN" sz="2800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week), 07:00pm-8:50 pm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1" name="Rectangle 5"/>
          <p:cNvSpPr>
            <a:spLocks noChangeArrowheads="1"/>
          </p:cNvSpPr>
          <p:nvPr/>
        </p:nvSpPr>
        <p:spPr bwMode="auto">
          <a:xfrm>
            <a:off x="655674" y="4660900"/>
            <a:ext cx="7924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Assessment of your Performance:             Assignment: 15 %   +  Usual Performance 5 %                                    Experiment Reports: 15 %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Final Examination: 65 %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Background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0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685800" y="1219200"/>
            <a:ext cx="7924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Part I: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Vector Analysis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; Static Electric Field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静电场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; Steady Magnetic field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稳恒磁场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; Time-varying fields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时变场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and Maxwell’s Equations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麦克斯韦方程组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Instructor: Dr Youwei Jia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Period: 1</a:t>
            </a:r>
            <a:r>
              <a:rPr lang="en-US" altLang="zh-CN" sz="2800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st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~ 16</a:t>
            </a:r>
            <a:r>
              <a:rPr lang="en-US" altLang="zh-CN" sz="2800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week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03" name="Rectangle 5"/>
          <p:cNvSpPr>
            <a:spLocks noChangeArrowheads="1"/>
          </p:cNvSpPr>
          <p:nvPr/>
        </p:nvSpPr>
        <p:spPr bwMode="auto">
          <a:xfrm>
            <a:off x="685800" y="4191000"/>
            <a:ext cx="7924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Future Course: 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天线与电波传播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dpcuser\Desktop\About Teaching\工程电磁场\Instructor Notes\images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3" y="4191000"/>
            <a:ext cx="2058987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Background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5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228600" y="1219200"/>
            <a:ext cx="8534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References: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buFontTx/>
              <a:buNone/>
              <a:defRPr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William H. </a:t>
            </a:r>
            <a:r>
              <a:rPr lang="en-US" altLang="zh-CN" sz="2000" dirty="0" err="1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Hayt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and John A. Buck, 《Engineering Electromagnetics》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Mc </a:t>
            </a:r>
            <a:r>
              <a:rPr lang="en-US" altLang="zh-CN" sz="2000" dirty="0" err="1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Graw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Hill,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清华大学出版社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buFontTx/>
              <a:buNone/>
              <a:defRPr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William H. </a:t>
            </a:r>
            <a:r>
              <a:rPr lang="en-US" altLang="zh-CN" sz="2000" dirty="0" err="1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Hayt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and John A. Buck,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赵彦珍等译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《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》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西安交通大学出版社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1200"/>
              </a:spcBef>
              <a:buFontTx/>
              <a:buNone/>
              <a:defRPr/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倪光正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,《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工程电磁场原理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》,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高等教育出版社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128" name="Line 19"/>
          <p:cNvSpPr>
            <a:spLocks noChangeShapeType="1"/>
          </p:cNvSpPr>
          <p:nvPr/>
        </p:nvSpPr>
        <p:spPr bwMode="auto">
          <a:xfrm>
            <a:off x="152400" y="2589213"/>
            <a:ext cx="8839200" cy="0"/>
          </a:xfrm>
          <a:prstGeom prst="line">
            <a:avLst/>
          </a:prstGeom>
          <a:noFill/>
          <a:ln w="9525">
            <a:solidFill>
              <a:srgbClr val="009EE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9" name="Line 19"/>
          <p:cNvSpPr>
            <a:spLocks noChangeShapeType="1"/>
          </p:cNvSpPr>
          <p:nvPr/>
        </p:nvSpPr>
        <p:spPr bwMode="auto">
          <a:xfrm>
            <a:off x="152400" y="3352800"/>
            <a:ext cx="8839200" cy="0"/>
          </a:xfrm>
          <a:prstGeom prst="line">
            <a:avLst/>
          </a:prstGeom>
          <a:noFill/>
          <a:ln w="9525">
            <a:solidFill>
              <a:srgbClr val="009EE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Line 19"/>
          <p:cNvSpPr>
            <a:spLocks noChangeShapeType="1"/>
          </p:cNvSpPr>
          <p:nvPr/>
        </p:nvSpPr>
        <p:spPr bwMode="auto">
          <a:xfrm>
            <a:off x="152400" y="3962400"/>
            <a:ext cx="8839200" cy="0"/>
          </a:xfrm>
          <a:prstGeom prst="line">
            <a:avLst/>
          </a:prstGeom>
          <a:noFill/>
          <a:ln w="9525">
            <a:solidFill>
              <a:srgbClr val="009EE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" name="Line 19"/>
          <p:cNvSpPr>
            <a:spLocks noChangeShapeType="1"/>
          </p:cNvSpPr>
          <p:nvPr/>
        </p:nvSpPr>
        <p:spPr bwMode="auto">
          <a:xfrm>
            <a:off x="152400" y="1828800"/>
            <a:ext cx="8839200" cy="0"/>
          </a:xfrm>
          <a:prstGeom prst="line">
            <a:avLst/>
          </a:prstGeom>
          <a:noFill/>
          <a:ln w="9525">
            <a:solidFill>
              <a:srgbClr val="009EE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32" name="Picture 3" descr="C:\Users\dpcuser\Desktop\About Teaching\工程电磁场\Instructor Notes\rBEhWlJWIvIIAAAAAAKhH-o_Mg8AAD91gLlwg0AAqE36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63" y="4206875"/>
            <a:ext cx="2052637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4" descr="C:\Users\dpcuser\Desktop\About Teaching\工程电磁场\Instructor Notes\01200000026524134401188722680_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4206875"/>
            <a:ext cx="2060575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Background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7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48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Some messages for you (Suggestions &amp; expectations):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This course involves a lot of mathematics and physics, If you try to memorize them mechanically, it will be tough and boring. If you try to understand the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natural essence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自然本质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behind the notations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符号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and equations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公式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it will become more interesting. 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04800" y="3962400"/>
            <a:ext cx="8686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My job is try my best to help you understand the most fundamental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concepts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概念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ideas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想法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principles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原理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laws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theories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理论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. Based on that, you are expected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learn how to learn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7200" y="5867400"/>
            <a:ext cx="8686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Keep thinking, keep practice.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勤思考，多练习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1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2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Scalar &amp; Vector (Quantity)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标量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50" name="矩形 1"/>
          <p:cNvSpPr>
            <a:spLocks noChangeArrowheads="1"/>
          </p:cNvSpPr>
          <p:nvPr/>
        </p:nvSpPr>
        <p:spPr bwMode="auto">
          <a:xfrm>
            <a:off x="762000" y="1676400"/>
            <a:ext cx="81534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refers to a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whose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(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值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could be represented by a real number (positive or negative).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Examples: Temperature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温度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 Length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长度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 Weight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重量</a:t>
            </a:r>
            <a:endParaRPr lang="en-US" altLang="zh-CN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51" name="矩形 6"/>
          <p:cNvSpPr>
            <a:spLocks noChangeArrowheads="1"/>
          </p:cNvSpPr>
          <p:nvPr/>
        </p:nvSpPr>
        <p:spPr bwMode="auto">
          <a:xfrm>
            <a:off x="762000" y="3048000"/>
            <a:ext cx="81534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vector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both a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magnitude (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量、大小、模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(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方向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(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空间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Force 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Speed 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速度</a:t>
            </a:r>
            <a:endParaRPr lang="en-US" altLang="zh-CN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52" name="矩形 2"/>
          <p:cNvSpPr>
            <a:spLocks noChangeArrowheads="1"/>
          </p:cNvSpPr>
          <p:nvPr/>
        </p:nvSpPr>
        <p:spPr bwMode="auto">
          <a:xfrm>
            <a:off x="762000" y="5105400"/>
            <a:ext cx="7924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Always give a second thought on the terms in red.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Most physical quantities (scalar or vector) have their own </a:t>
            </a:r>
            <a:r>
              <a:rPr lang="en-US" altLang="zh-CN" sz="2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 (</a:t>
            </a:r>
            <a:r>
              <a:rPr lang="zh-CN" altLang="en-US" sz="20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 Space has </a:t>
            </a:r>
            <a:r>
              <a:rPr lang="en-US" altLang="zh-CN" sz="2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 (</a:t>
            </a:r>
            <a:r>
              <a:rPr lang="zh-CN" altLang="en-US" sz="20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维度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2-D, 3-D, …n-D);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3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62000" y="4533357"/>
            <a:ext cx="8153400" cy="876843"/>
          </a:xfrm>
          <a:prstGeom prst="rect">
            <a:avLst/>
          </a:prstGeom>
          <a:blipFill rotWithShape="1">
            <a:blip r:embed="rId2"/>
            <a:stretch>
              <a:fillRect l="-1121" t="-277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5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6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Field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: Scalar Field &amp; Vector Field 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场、标量场、矢量场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>
            <a:off x="762000" y="1752600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Region, Space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区域、空间</a:t>
            </a:r>
            <a:endParaRPr lang="en-US" altLang="zh-CN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Examples: a bowl of soup, energy cube, earth, universe….</a:t>
            </a:r>
            <a:endParaRPr lang="en-US" altLang="zh-CN" sz="240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5" name="Picture 2" descr="C:\Users\dpcuser\Desktop\About Teaching\工程电磁场\Instructor Notes\soup_in_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47963"/>
            <a:ext cx="175260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4" descr="C:\Users\dpcuser\Desktop\About Teaching\工程电磁场\Instructor Notes\76_2010080214164112gu4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795588"/>
            <a:ext cx="18161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2735263"/>
            <a:ext cx="1468437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7" descr="C:\Users\dpcuser\Desktop\About Teaching\工程电磁场\Instructor Notes\univers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75" y="2773363"/>
            <a:ext cx="20923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9" name="矩形 12"/>
          <p:cNvSpPr>
            <a:spLocks noChangeArrowheads="1"/>
          </p:cNvSpPr>
          <p:nvPr/>
        </p:nvSpPr>
        <p:spPr bwMode="auto">
          <a:xfrm>
            <a:off x="703263" y="4259263"/>
            <a:ext cx="81534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When we associate some physical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quantities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(scalar or vector) with every point in some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region/space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it involves a field (scalar or vector). </a:t>
            </a:r>
            <a:endParaRPr lang="en-US" altLang="zh-CN" sz="240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80" name="矩形 2"/>
          <p:cNvSpPr>
            <a:spLocks noChangeArrowheads="1"/>
          </p:cNvSpPr>
          <p:nvPr/>
        </p:nvSpPr>
        <p:spPr bwMode="auto">
          <a:xfrm>
            <a:off x="762000" y="5486400"/>
            <a:ext cx="807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 a field (scalar or vector) could be defined as some  </a:t>
            </a:r>
            <a:endParaRPr lang="en-US" altLang="zh-CN" sz="200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that connects an arbitrary origin to a general point in space.</a:t>
            </a:r>
            <a:endParaRPr lang="en-US" altLang="zh-CN" sz="200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dpcuser\Desktop\About Teaching\工程电磁场\Instructor Notes\soup_in_bowl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1600200"/>
            <a:ext cx="2779712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20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1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Field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: Scalar Field &amp; Vector Field 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场、标量场、矢量场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5300" y="1879600"/>
            <a:ext cx="5600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Examples: </a:t>
            </a:r>
            <a:endParaRPr lang="en-US" altLang="zh-CN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 temperature throughout the bowl of soup 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温度场 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Scalar field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Temperature——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Scalar quantity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The bowl of soup——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Region/Space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  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2600" y="4179888"/>
            <a:ext cx="5003800" cy="1939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 magnetic field of the earth 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地磁场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Vector field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Magnetic field intensity (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磁场强</a:t>
            </a:r>
            <a:endParaRPr lang="en-US" altLang="zh-CN" sz="2400" dirty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度</a:t>
            </a: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)——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Vector quantity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The earth——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Region/Space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201" name="Picture 3" descr="C:\Users\dpcuser\Desktop\About Teaching\工程电磁场\Instructor Notes\earth-magfiel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905250"/>
            <a:ext cx="31242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43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4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 Rectangular Coordinate System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直角坐标系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——A way we define spaces, vectors </a:t>
            </a:r>
            <a:endParaRPr lang="zh-CN" altLang="en-US" sz="28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222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2400300"/>
            <a:ext cx="41275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矩形 1"/>
          <p:cNvSpPr>
            <a:spLocks noChangeArrowheads="1"/>
          </p:cNvSpPr>
          <p:nvPr/>
        </p:nvSpPr>
        <p:spPr bwMode="auto">
          <a:xfrm>
            <a:off x="331788" y="5634038"/>
            <a:ext cx="4164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Right-handed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system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4" name="Picture 4" descr="C:\Users\dpcuser\Desktop\About Teaching\工程电磁场\Instructor Notes\sae.j1733.1994_003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2673350"/>
            <a:ext cx="297180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5" name="矩形 15"/>
          <p:cNvSpPr>
            <a:spLocks noChangeArrowheads="1"/>
          </p:cNvSpPr>
          <p:nvPr/>
        </p:nvSpPr>
        <p:spPr bwMode="auto">
          <a:xfrm>
            <a:off x="4764088" y="5621338"/>
            <a:ext cx="37655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原点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Point O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轴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</a:rPr>
              <a:t>: </a:t>
            </a:r>
            <a:r>
              <a:rPr lang="en-US" altLang="zh-CN" sz="2400" i="1">
                <a:latin typeface="Times New Roman" panose="02020603050405020304" pitchFamily="18" charset="0"/>
                <a:ea typeface="华文行楷" panose="02010800040101010101" pitchFamily="2" charset="-122"/>
              </a:rPr>
              <a:t>x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</a:rPr>
              <a:t>-axis, </a:t>
            </a:r>
            <a:r>
              <a:rPr lang="en-US" altLang="zh-CN" sz="2400" i="1">
                <a:latin typeface="Times New Roman" panose="02020603050405020304" pitchFamily="18" charset="0"/>
                <a:ea typeface="华文行楷" panose="02010800040101010101" pitchFamily="2" charset="-122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</a:rPr>
              <a:t>-axis, </a:t>
            </a:r>
            <a:r>
              <a:rPr lang="en-US" altLang="zh-CN" sz="2400" i="1">
                <a:latin typeface="Times New Roman" panose="02020603050405020304" pitchFamily="18" charset="0"/>
                <a:ea typeface="华文行楷" panose="02010800040101010101" pitchFamily="2" charset="-122"/>
              </a:rPr>
              <a:t>z</a:t>
            </a:r>
            <a:r>
              <a:rPr lang="en-US" altLang="zh-CN" sz="2400">
                <a:latin typeface="Times New Roman" panose="02020603050405020304" pitchFamily="18" charset="0"/>
                <a:ea typeface="华文行楷" panose="02010800040101010101" pitchFamily="2" charset="-122"/>
              </a:rPr>
              <a:t>-axis</a:t>
            </a:r>
            <a:endParaRPr lang="zh-CN" altLang="en-US" sz="240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1760538"/>
            <a:ext cx="4421188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68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69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 Rectangular Coordinate System</a:t>
            </a:r>
            <a:r>
              <a:rPr lang="en-US" altLang="zh-CN" sz="28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直角坐标系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71" name="矩形 1"/>
          <p:cNvSpPr>
            <a:spLocks noChangeArrowheads="1"/>
          </p:cNvSpPr>
          <p:nvPr/>
        </p:nvSpPr>
        <p:spPr bwMode="auto">
          <a:xfrm>
            <a:off x="787400" y="5646738"/>
            <a:ext cx="76977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Point locations are defined by giving their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</a:rPr>
              <a:t>coordinates(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坐标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(1,2,3),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(2,-2,1)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534400" y="6324600"/>
            <a:ext cx="4572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44767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92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3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The Rectangular Coordinate System</a:t>
            </a:r>
            <a:r>
              <a:rPr lang="en-US" altLang="zh-CN" sz="28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直角坐标系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95" name="矩形 1"/>
          <p:cNvSpPr>
            <a:spLocks noChangeArrowheads="1"/>
          </p:cNvSpPr>
          <p:nvPr/>
        </p:nvSpPr>
        <p:spPr bwMode="auto">
          <a:xfrm>
            <a:off x="5086350" y="2590800"/>
            <a:ext cx="40322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x, y, z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P’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x+</a:t>
            </a: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</a:rPr>
              <a:t>dx</a:t>
            </a:r>
            <a:r>
              <a:rPr lang="en-US" altLang="zh-CN" sz="2400" i="1">
                <a:latin typeface="Times New Roman" panose="02020603050405020304" pitchFamily="18" charset="0"/>
              </a:rPr>
              <a:t>, y+</a:t>
            </a: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</a:rPr>
              <a:t>dy</a:t>
            </a:r>
            <a:r>
              <a:rPr lang="en-US" altLang="zh-CN" sz="2400" i="1">
                <a:latin typeface="Times New Roman" panose="02020603050405020304" pitchFamily="18" charset="0"/>
              </a:rPr>
              <a:t>, z+</a:t>
            </a: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</a:rPr>
              <a:t>dz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</a:rPr>
              <a:t>Differential Volume Element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体微元</a:t>
            </a:r>
            <a:endParaRPr lang="en-US" altLang="zh-CN" sz="240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dv=dxdyd</a:t>
            </a:r>
            <a:r>
              <a:rPr lang="en-US" altLang="zh-CN" sz="2400">
                <a:latin typeface="Times New Roman" panose="02020603050405020304" pitchFamily="18" charset="0"/>
              </a:rPr>
              <a:t>z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</a:rPr>
              <a:t>Differential Area Element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面微元</a:t>
            </a:r>
            <a:endParaRPr lang="en-US" altLang="zh-CN" sz="240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dS=dxdy,</a:t>
            </a:r>
            <a:r>
              <a:rPr lang="zh-CN" altLang="en-US" sz="2400" i="1">
                <a:latin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</a:rPr>
              <a:t>dxdz, dydz</a:t>
            </a:r>
            <a:r>
              <a:rPr lang="zh-CN" altLang="en-US" sz="2400" i="1">
                <a:latin typeface="Times New Roman" panose="02020603050405020304" pitchFamily="18" charset="0"/>
              </a:rPr>
              <a:t>， 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15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6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Vector Addition / Subtraction 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矢量加法</a:t>
            </a:r>
            <a:r>
              <a:rPr lang="en-US" altLang="zh-CN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/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减法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294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73250"/>
            <a:ext cx="7180263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685800" y="1600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29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272088"/>
            <a:ext cx="3821113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7" name="Rectangle 5"/>
          <p:cNvSpPr>
            <a:spLocks noChangeArrowheads="1"/>
          </p:cNvSpPr>
          <p:nvPr/>
        </p:nvSpPr>
        <p:spPr bwMode="auto">
          <a:xfrm>
            <a:off x="914400" y="4962525"/>
            <a:ext cx="3405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Associative Law 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结合律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6173788"/>
            <a:ext cx="502761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9" name="Rectangle 7"/>
          <p:cNvSpPr>
            <a:spLocks noChangeArrowheads="1"/>
          </p:cNvSpPr>
          <p:nvPr/>
        </p:nvSpPr>
        <p:spPr bwMode="auto">
          <a:xfrm>
            <a:off x="914400" y="5757863"/>
            <a:ext cx="3973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Distributive Law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分配率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00" name="矩形 1"/>
          <p:cNvSpPr>
            <a:spLocks noChangeArrowheads="1"/>
          </p:cNvSpPr>
          <p:nvPr/>
        </p:nvSpPr>
        <p:spPr bwMode="auto">
          <a:xfrm>
            <a:off x="914400" y="3276600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addition of vectors follows the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parallelogram law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law 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平行四边形法则</a:t>
            </a:r>
            <a:r>
              <a:rPr lang="en-US" altLang="zh-CN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三角形法则</a:t>
            </a:r>
            <a:endParaRPr lang="zh-CN" altLang="en-US" sz="240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01" name="矩形 2"/>
          <p:cNvSpPr>
            <a:spLocks noChangeArrowheads="1"/>
          </p:cNvSpPr>
          <p:nvPr/>
        </p:nvSpPr>
        <p:spPr bwMode="auto">
          <a:xfrm>
            <a:off x="914400" y="4122738"/>
            <a:ext cx="7620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rule for subtraction of vectors can be easily defined from that for addition: 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A-B=A+(-B)</a:t>
            </a:r>
            <a:endParaRPr lang="zh-CN" altLang="en-US" sz="2400" b="1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058988"/>
            <a:ext cx="281622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6588"/>
            <a:ext cx="4529138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41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2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Rectangle 5"/>
          <p:cNvSpPr>
            <a:spLocks noChangeArrowheads="1"/>
          </p:cNvSpPr>
          <p:nvPr/>
        </p:nvSpPr>
        <p:spPr bwMode="auto">
          <a:xfrm>
            <a:off x="304800" y="1295400"/>
            <a:ext cx="8839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Vector Components &amp; Unit Vectors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矢量分量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单位矢量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20" name="矩形 2"/>
          <p:cNvSpPr>
            <a:spLocks noChangeArrowheads="1"/>
          </p:cNvSpPr>
          <p:nvPr/>
        </p:nvSpPr>
        <p:spPr bwMode="auto">
          <a:xfrm>
            <a:off x="6072188" y="4870450"/>
            <a:ext cx="1339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Unit Vectors</a:t>
            </a:r>
            <a:endParaRPr lang="zh-CN" altLang="en-US" sz="1800"/>
          </a:p>
        </p:txBody>
      </p:sp>
      <p:sp>
        <p:nvSpPr>
          <p:cNvPr id="13321" name="矩形 3"/>
          <p:cNvSpPr>
            <a:spLocks noChangeArrowheads="1"/>
          </p:cNvSpPr>
          <p:nvPr/>
        </p:nvSpPr>
        <p:spPr bwMode="auto">
          <a:xfrm>
            <a:off x="3427413" y="3219450"/>
            <a:ext cx="1104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P </a:t>
            </a:r>
            <a:r>
              <a:rPr lang="en-US" altLang="zh-CN" sz="1800" b="1">
                <a:latin typeface="Times New Roman" panose="02020603050405020304" pitchFamily="18" charset="0"/>
              </a:rPr>
              <a:t>(3</a:t>
            </a:r>
            <a:r>
              <a:rPr lang="en-US" altLang="zh-CN" sz="1800" b="1" i="1">
                <a:latin typeface="Times New Roman" panose="02020603050405020304" pitchFamily="18" charset="0"/>
              </a:rPr>
              <a:t>, </a:t>
            </a:r>
            <a:r>
              <a:rPr lang="en-US" altLang="zh-CN" sz="1800" b="1">
                <a:latin typeface="Times New Roman" panose="02020603050405020304" pitchFamily="18" charset="0"/>
              </a:rPr>
              <a:t>5</a:t>
            </a:r>
            <a:r>
              <a:rPr lang="en-US" altLang="zh-CN" sz="1800" b="1" i="1">
                <a:latin typeface="Times New Roman" panose="02020603050405020304" pitchFamily="18" charset="0"/>
              </a:rPr>
              <a:t>, </a:t>
            </a:r>
            <a:r>
              <a:rPr lang="en-US" altLang="zh-CN" sz="1800" b="1">
                <a:latin typeface="Times New Roman" panose="02020603050405020304" pitchFamily="18" charset="0"/>
              </a:rPr>
              <a:t>4)</a:t>
            </a:r>
            <a:endParaRPr lang="en-US" altLang="zh-CN" sz="1800" b="1">
              <a:latin typeface="Times New Roman" panose="02020603050405020304" pitchFamily="18" charset="0"/>
            </a:endParaRPr>
          </a:p>
        </p:txBody>
      </p:sp>
      <p:sp>
        <p:nvSpPr>
          <p:cNvPr id="13322" name="矩形 11"/>
          <p:cNvSpPr>
            <a:spLocks noChangeArrowheads="1"/>
          </p:cNvSpPr>
          <p:nvPr/>
        </p:nvSpPr>
        <p:spPr bwMode="auto">
          <a:xfrm>
            <a:off x="1639888" y="4040188"/>
            <a:ext cx="1139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O </a:t>
            </a:r>
            <a:r>
              <a:rPr lang="en-US" altLang="zh-CN" sz="1800" b="1">
                <a:latin typeface="Times New Roman" panose="02020603050405020304" pitchFamily="18" charset="0"/>
              </a:rPr>
              <a:t>(0</a:t>
            </a:r>
            <a:r>
              <a:rPr lang="en-US" altLang="zh-CN" sz="1800" b="1" i="1">
                <a:latin typeface="Times New Roman" panose="02020603050405020304" pitchFamily="18" charset="0"/>
              </a:rPr>
              <a:t>, </a:t>
            </a:r>
            <a:r>
              <a:rPr lang="en-US" altLang="zh-CN" sz="1800" b="1">
                <a:latin typeface="Times New Roman" panose="02020603050405020304" pitchFamily="18" charset="0"/>
              </a:rPr>
              <a:t>0</a:t>
            </a:r>
            <a:r>
              <a:rPr lang="en-US" altLang="zh-CN" sz="1800" b="1" i="1">
                <a:latin typeface="Times New Roman" panose="02020603050405020304" pitchFamily="18" charset="0"/>
              </a:rPr>
              <a:t>, </a:t>
            </a:r>
            <a:r>
              <a:rPr lang="en-US" altLang="zh-CN" sz="1800" b="1">
                <a:latin typeface="Times New Roman" panose="02020603050405020304" pitchFamily="18" charset="0"/>
              </a:rPr>
              <a:t>0)</a:t>
            </a:r>
            <a:endParaRPr lang="en-US" altLang="zh-CN" sz="1800" b="1">
              <a:latin typeface="Times New Roman" panose="02020603050405020304" pitchFamily="18" charset="0"/>
            </a:endParaRPr>
          </a:p>
        </p:txBody>
      </p:sp>
      <p:sp>
        <p:nvSpPr>
          <p:cNvPr id="13323" name="矩形 12"/>
          <p:cNvSpPr>
            <a:spLocks noChangeArrowheads="1"/>
          </p:cNvSpPr>
          <p:nvPr/>
        </p:nvSpPr>
        <p:spPr bwMode="auto">
          <a:xfrm>
            <a:off x="815975" y="5486400"/>
            <a:ext cx="2420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r=3a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+5a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+4a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z</a:t>
            </a:r>
            <a:endParaRPr lang="en-US" altLang="zh-CN" sz="2800" b="1" i="1" baseline="-2500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99969" y="1905000"/>
            <a:ext cx="962956" cy="1938992"/>
          </a:xfrm>
          <a:prstGeom prst="rect">
            <a:avLst/>
          </a:prstGeom>
          <a:blipFill rotWithShape="1">
            <a:blip r:embed="rId4"/>
            <a:stretch>
              <a:fillRect l="-1899" r="-11202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7" name="矩形 1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6530" y="6018938"/>
            <a:ext cx="3927870" cy="631583"/>
          </a:xfrm>
          <a:prstGeom prst="rect">
            <a:avLst/>
          </a:prstGeom>
          <a:blipFill rotWithShape="1">
            <a:blip r:embed="rId5"/>
            <a:stretch>
              <a:fillRect b="-2596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8" name="矩形 1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33411" y="5619149"/>
            <a:ext cx="3237489" cy="799578"/>
          </a:xfrm>
          <a:prstGeom prst="rect">
            <a:avLst/>
          </a:prstGeom>
          <a:blipFill rotWithShape="1">
            <a:blip r:embed="rId6"/>
            <a:stretch>
              <a:fillRect l="-56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862138" y="3621088"/>
            <a:ext cx="696912" cy="298450"/>
          </a:xfrm>
          <a:prstGeom prst="straightConnector1">
            <a:avLst/>
          </a:prstGeom>
          <a:ln w="22225" cmpd="sng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98663" y="3405188"/>
            <a:ext cx="423862" cy="3683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447800" y="5105400"/>
            <a:ext cx="685800" cy="51435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1506200" y="58674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2079625" y="5102225"/>
            <a:ext cx="342900" cy="51276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819400" y="5095875"/>
            <a:ext cx="0" cy="51911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4"/>
          <p:cNvGrpSpPr/>
          <p:nvPr/>
        </p:nvGrpSpPr>
        <p:grpSpPr bwMode="auto">
          <a:xfrm>
            <a:off x="1284288" y="1476375"/>
            <a:ext cx="6107112" cy="4391025"/>
            <a:chOff x="1056" y="672"/>
            <a:chExt cx="3823" cy="3024"/>
          </a:xfrm>
        </p:grpSpPr>
        <p:pic>
          <p:nvPicPr>
            <p:cNvPr id="15369" name="Picture 2" descr="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672"/>
              <a:ext cx="3823" cy="2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0" name="Rectangle 3"/>
            <p:cNvSpPr>
              <a:spLocks noChangeArrowheads="1"/>
            </p:cNvSpPr>
            <p:nvPr/>
          </p:nvSpPr>
          <p:spPr bwMode="auto">
            <a:xfrm>
              <a:off x="2592" y="3408"/>
              <a:ext cx="24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5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304800" y="1295400"/>
            <a:ext cx="8839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Vector Components &amp; Unit Vectors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矢量分量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单位矢量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36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5684838"/>
            <a:ext cx="69834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87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88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04800" y="1295400"/>
            <a:ext cx="8839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Summary-Vector expressions in rectangular coordinates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895600"/>
            <a:ext cx="4217987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4572000"/>
            <a:ext cx="5200650" cy="184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536575" y="2293938"/>
            <a:ext cx="2540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General Vector,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514350" y="3495675"/>
            <a:ext cx="2217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Magnitude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501650" y="5056188"/>
            <a:ext cx="24495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Unit Vector in the 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Direction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95" name="Group 12"/>
          <p:cNvGrpSpPr/>
          <p:nvPr/>
        </p:nvGrpSpPr>
        <p:grpSpPr bwMode="auto">
          <a:xfrm>
            <a:off x="3505200" y="2286000"/>
            <a:ext cx="4132263" cy="485775"/>
            <a:chOff x="2334" y="1509"/>
            <a:chExt cx="2832" cy="384"/>
          </a:xfrm>
        </p:grpSpPr>
        <p:sp>
          <p:nvSpPr>
            <p:cNvPr id="16397" name="Rectangle 10"/>
            <p:cNvSpPr>
              <a:spLocks noChangeArrowheads="1"/>
            </p:cNvSpPr>
            <p:nvPr/>
          </p:nvSpPr>
          <p:spPr bwMode="auto">
            <a:xfrm>
              <a:off x="2334" y="1509"/>
              <a:ext cx="2832" cy="384"/>
            </a:xfrm>
            <a:prstGeom prst="rect">
              <a:avLst/>
            </a:prstGeom>
            <a:noFill/>
            <a:ln w="19050">
              <a:solidFill>
                <a:srgbClr val="009EE9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7F5FD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pic>
          <p:nvPicPr>
            <p:cNvPr id="16398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1536"/>
              <a:ext cx="2574" cy="340"/>
            </a:xfrm>
            <a:prstGeom prst="rect">
              <a:avLst/>
            </a:prstGeom>
            <a:solidFill>
              <a:srgbClr val="A4DCF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4" name="圆角矩形 13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412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Dot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矢量点乘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685800" y="1600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7415" name="矩形 1"/>
          <p:cNvSpPr>
            <a:spLocks noChangeArrowheads="1"/>
          </p:cNvSpPr>
          <p:nvPr/>
        </p:nvSpPr>
        <p:spPr bwMode="auto">
          <a:xfrm>
            <a:off x="723900" y="17526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Given two vectors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zh-CN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 product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as the product of the magnitude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magnitude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the cosine of the smaller angle between them,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6" name="Rectangle 4"/>
          <p:cNvSpPr>
            <a:spLocks noChangeArrowheads="1"/>
          </p:cNvSpPr>
          <p:nvPr/>
        </p:nvSpPr>
        <p:spPr bwMode="auto">
          <a:xfrm>
            <a:off x="2681288" y="2562225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1741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3" y="2990850"/>
            <a:ext cx="341947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508500"/>
            <a:ext cx="2293938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19" name="Rectangle 7"/>
          <p:cNvSpPr>
            <a:spLocks noChangeArrowheads="1"/>
          </p:cNvSpPr>
          <p:nvPr/>
        </p:nvSpPr>
        <p:spPr bwMode="auto">
          <a:xfrm>
            <a:off x="838200" y="3962400"/>
            <a:ext cx="3487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Commutative Law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交换律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0" name="矩形 20"/>
          <p:cNvSpPr>
            <a:spLocks noChangeArrowheads="1"/>
          </p:cNvSpPr>
          <p:nvPr/>
        </p:nvSpPr>
        <p:spPr bwMode="auto">
          <a:xfrm>
            <a:off x="876300" y="5410200"/>
            <a:ext cx="784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The dot product of two vectors is a scalar.</a:t>
            </a:r>
            <a:endParaRPr lang="zh-CN" alt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5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6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Dot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矢量点乘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15206" y="2359968"/>
            <a:ext cx="2542394" cy="383232"/>
          </a:xfrm>
          <a:prstGeom prst="rect">
            <a:avLst/>
          </a:prstGeom>
          <a:blipFill rotWithShape="1">
            <a:blip r:embed="rId2"/>
            <a:stretch>
              <a:fillRect t="-22222" b="-52381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8439" name="矩形 1"/>
          <p:cNvSpPr>
            <a:spLocks noChangeArrowheads="1"/>
          </p:cNvSpPr>
          <p:nvPr/>
        </p:nvSpPr>
        <p:spPr bwMode="auto">
          <a:xfrm>
            <a:off x="609600" y="1752600"/>
            <a:ext cx="853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 How to calculate the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(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功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applied on the wood box?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0" name="Rectangle 4"/>
          <p:cNvSpPr>
            <a:spLocks noChangeArrowheads="1"/>
          </p:cNvSpPr>
          <p:nvPr/>
        </p:nvSpPr>
        <p:spPr bwMode="auto">
          <a:xfrm>
            <a:off x="2681288" y="2562225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18441" name="Picture 2" descr="C:\Users\dpcuser\Desktop\About Teaching\工程电磁场\Instructor Notes\preview0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3657600"/>
            <a:ext cx="5421313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19113" y="2897570"/>
            <a:ext cx="4629857" cy="915187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4" name="Rectangl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81400" y="2359968"/>
            <a:ext cx="4114800" cy="383232"/>
          </a:xfrm>
          <a:prstGeom prst="rect">
            <a:avLst/>
          </a:prstGeom>
          <a:blipFill rotWithShape="1">
            <a:blip r:embed="rId5"/>
            <a:stretch>
              <a:fillRect t="-19048" b="-55556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Dot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矢量点乘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54050" y="1524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4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Vector Projections (</a:t>
            </a:r>
            <a:r>
              <a:rPr lang="zh-CN" altLang="en-US" sz="24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矢量投影</a:t>
            </a:r>
            <a:r>
              <a:rPr lang="en-US" altLang="zh-CN" sz="24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400" kern="0" dirty="0">
                <a:latin typeface="Times New Roman" panose="02020603050405020304" pitchFamily="18" charset="0"/>
              </a:rPr>
              <a:t>Using the Dot Product</a:t>
            </a:r>
            <a:endParaRPr lang="en-US" altLang="zh-CN" sz="2400" kern="0" dirty="0">
              <a:latin typeface="Times New Roman" panose="02020603050405020304" pitchFamily="18" charset="0"/>
            </a:endParaRPr>
          </a:p>
        </p:txBody>
      </p:sp>
      <p:grpSp>
        <p:nvGrpSpPr>
          <p:cNvPr id="19463" name="Group 6"/>
          <p:cNvGrpSpPr/>
          <p:nvPr/>
        </p:nvGrpSpPr>
        <p:grpSpPr bwMode="auto">
          <a:xfrm>
            <a:off x="817563" y="2690813"/>
            <a:ext cx="7659687" cy="2286000"/>
            <a:chOff x="528" y="1824"/>
            <a:chExt cx="4825" cy="1440"/>
          </a:xfrm>
        </p:grpSpPr>
        <p:pic>
          <p:nvPicPr>
            <p:cNvPr id="19468" name="Picture 2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824"/>
              <a:ext cx="4825" cy="1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9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70" name="Rectangle 5"/>
            <p:cNvSpPr>
              <a:spLocks noChangeArrowheads="1"/>
            </p:cNvSpPr>
            <p:nvPr/>
          </p:nvSpPr>
          <p:spPr bwMode="auto">
            <a:xfrm>
              <a:off x="3912" y="3024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588963" y="4900613"/>
            <a:ext cx="3525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 • a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gives the </a:t>
            </a:r>
            <a:r>
              <a:rPr lang="en-US" altLang="zh-CN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 component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horizontal direction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auto">
          <a:xfrm>
            <a:off x="4929188" y="4900613"/>
            <a:ext cx="3771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(B • a) a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gives the </a:t>
            </a:r>
            <a:r>
              <a:rPr lang="en-US" altLang="zh-CN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component </a:t>
            </a:r>
            <a:endParaRPr lang="en-US" altLang="zh-CN" sz="18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the horizontal direction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2269" y="2743200"/>
            <a:ext cx="1465466" cy="646331"/>
          </a:xfrm>
          <a:prstGeom prst="rect">
            <a:avLst/>
          </a:prstGeom>
          <a:blipFill rotWithShape="1">
            <a:blip r:embed="rId3"/>
            <a:stretch>
              <a:fillRect l="-3333" t="-4717" b="-1415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70038"/>
            <a:ext cx="281622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5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Dot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矢量点乘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57200" y="1697038"/>
            <a:ext cx="7772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Operational Use of the Dot Product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48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2493963"/>
            <a:ext cx="2944813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48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3048000"/>
            <a:ext cx="285591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6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5475288"/>
            <a:ext cx="3913187" cy="62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491" name="AutoShape 9"/>
          <p:cNvSpPr/>
          <p:nvPr/>
        </p:nvSpPr>
        <p:spPr bwMode="auto">
          <a:xfrm>
            <a:off x="2278063" y="2538413"/>
            <a:ext cx="133350" cy="774700"/>
          </a:xfrm>
          <a:prstGeom prst="leftBrace">
            <a:avLst>
              <a:gd name="adj1" fmla="val 5040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92" name="Rectangle 10"/>
          <p:cNvSpPr>
            <a:spLocks noChangeArrowheads="1"/>
          </p:cNvSpPr>
          <p:nvPr/>
        </p:nvSpPr>
        <p:spPr bwMode="auto">
          <a:xfrm>
            <a:off x="1390650" y="2698750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9" name="Rectangle 11"/>
          <p:cNvSpPr>
            <a:spLocks noChangeArrowheads="1"/>
          </p:cNvSpPr>
          <p:nvPr/>
        </p:nvSpPr>
        <p:spPr bwMode="auto">
          <a:xfrm>
            <a:off x="307975" y="5133975"/>
            <a:ext cx="164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Finally we find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70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5" y="4406900"/>
            <a:ext cx="3638550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71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100" y="3875088"/>
            <a:ext cx="3509963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472" name="AutoShape 12"/>
          <p:cNvSpPr/>
          <p:nvPr/>
        </p:nvSpPr>
        <p:spPr bwMode="auto">
          <a:xfrm>
            <a:off x="2108200" y="3949700"/>
            <a:ext cx="133350" cy="774700"/>
          </a:xfrm>
          <a:prstGeom prst="leftBrace">
            <a:avLst>
              <a:gd name="adj1" fmla="val 5040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3" name="Rectangle 13"/>
          <p:cNvSpPr>
            <a:spLocks noChangeArrowheads="1"/>
          </p:cNvSpPr>
          <p:nvPr/>
        </p:nvSpPr>
        <p:spPr bwMode="auto">
          <a:xfrm>
            <a:off x="303213" y="3471863"/>
            <a:ext cx="1522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Here we use: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1900238"/>
            <a:ext cx="1501775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圆角矩形 18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7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08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Cross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矢量叉乘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685800" y="1600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11" name="矩形 1"/>
          <p:cNvSpPr>
            <a:spLocks noChangeArrowheads="1"/>
          </p:cNvSpPr>
          <p:nvPr/>
        </p:nvSpPr>
        <p:spPr bwMode="auto">
          <a:xfrm>
            <a:off x="723900" y="1676400"/>
            <a:ext cx="80391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The cross product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 the magnitude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equal to the product of the magnitudes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sine of the smaller angle between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 the direction of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perpendicular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plane containing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right-handed law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2681288" y="2562225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21513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119563"/>
            <a:ext cx="3986213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2" descr="C:\Users\dpcuser\Desktop\About Teaching\工程电磁场\Instructor Notes\下载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640138"/>
            <a:ext cx="2819400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圆角矩形 1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1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2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Cross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矢量叉乘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685800" y="1600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535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1570038"/>
            <a:ext cx="281622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225" y="1900238"/>
            <a:ext cx="1501775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7200" y="1697038"/>
            <a:ext cx="7772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Operational Use of the Cross Product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2493963"/>
            <a:ext cx="2944813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53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3048000"/>
            <a:ext cx="285591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40" name="AutoShape 9"/>
          <p:cNvSpPr/>
          <p:nvPr/>
        </p:nvSpPr>
        <p:spPr bwMode="auto">
          <a:xfrm>
            <a:off x="2278063" y="2538413"/>
            <a:ext cx="133350" cy="774700"/>
          </a:xfrm>
          <a:prstGeom prst="leftBrace">
            <a:avLst>
              <a:gd name="adj1" fmla="val 5040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41" name="Rectangle 10"/>
          <p:cNvSpPr>
            <a:spLocks noChangeArrowheads="1"/>
          </p:cNvSpPr>
          <p:nvPr/>
        </p:nvSpPr>
        <p:spPr bwMode="auto">
          <a:xfrm>
            <a:off x="1390650" y="2698750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18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590925"/>
            <a:ext cx="5749925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95400" y="4953000"/>
            <a:ext cx="1195392" cy="369332"/>
          </a:xfrm>
          <a:prstGeom prst="rect">
            <a:avLst/>
          </a:prstGeom>
          <a:blipFill rotWithShape="1">
            <a:blip r:embed="rId7"/>
            <a:stretch>
              <a:fillRect t="-8333" r="-1531" b="-25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6" name="TextBox 2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95400" y="5334000"/>
            <a:ext cx="1193019" cy="391261"/>
          </a:xfrm>
          <a:prstGeom prst="rect">
            <a:avLst/>
          </a:prstGeom>
          <a:blipFill rotWithShape="1">
            <a:blip r:embed="rId8"/>
            <a:stretch>
              <a:fillRect t="-7813" r="-3590" b="-1875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7" name="TextBox 2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7299" y="5715000"/>
            <a:ext cx="1156983" cy="369332"/>
          </a:xfrm>
          <a:prstGeom prst="rect">
            <a:avLst/>
          </a:prstGeom>
          <a:blipFill rotWithShape="1">
            <a:blip r:embed="rId9"/>
            <a:stretch>
              <a:fillRect t="-8333" r="-3158" b="-25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8" name="TextBox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64250" y="4953000"/>
            <a:ext cx="1299651" cy="391261"/>
          </a:xfrm>
          <a:prstGeom prst="rect">
            <a:avLst/>
          </a:prstGeom>
          <a:blipFill rotWithShape="1">
            <a:blip r:embed="rId10"/>
            <a:stretch>
              <a:fillRect t="-7813" b="-171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64250" y="5334000"/>
            <a:ext cx="1299651" cy="391261"/>
          </a:xfrm>
          <a:prstGeom prst="rect">
            <a:avLst/>
          </a:prstGeom>
          <a:blipFill rotWithShape="1">
            <a:blip r:embed="rId11"/>
            <a:stretch>
              <a:fillRect t="-7813" b="-1875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0" name="TextBox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96149" y="5715000"/>
            <a:ext cx="1299651" cy="391261"/>
          </a:xfrm>
          <a:prstGeom prst="rect">
            <a:avLst/>
          </a:prstGeom>
          <a:blipFill rotWithShape="1">
            <a:blip r:embed="rId12"/>
            <a:stretch>
              <a:fillRect t="-7813" b="-171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1" name="TextBox 3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29200" y="4953000"/>
            <a:ext cx="1472775" cy="391261"/>
          </a:xfrm>
          <a:prstGeom prst="rect">
            <a:avLst/>
          </a:prstGeom>
          <a:blipFill rotWithShape="1">
            <a:blip r:embed="rId13"/>
            <a:stretch>
              <a:fillRect t="-7813" b="-171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2" name="TextBox 3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29200" y="5334000"/>
            <a:ext cx="1472775" cy="391261"/>
          </a:xfrm>
          <a:prstGeom prst="rect">
            <a:avLst/>
          </a:prstGeom>
          <a:blipFill rotWithShape="1">
            <a:blip r:embed="rId14"/>
            <a:stretch>
              <a:fillRect t="-7813" b="-1875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3" name="TextBox 3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61099" y="5715000"/>
            <a:ext cx="1472775" cy="391261"/>
          </a:xfrm>
          <a:prstGeom prst="rect">
            <a:avLst/>
          </a:prstGeom>
          <a:blipFill rotWithShape="1">
            <a:blip r:embed="rId15"/>
            <a:stretch>
              <a:fillRect t="-7813" b="-1718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pic>
        <p:nvPicPr>
          <p:cNvPr id="21528" name="Picture 2" descr="C:\Users\dpcuser\Desktop\About Teaching\工程电磁场\Instructor Notes\下载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4567238"/>
            <a:ext cx="1855788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5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6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The Cross Product of Vectors</a:t>
            </a:r>
            <a:r>
              <a:rPr lang="zh-CN" altLang="en-US" sz="2800" kern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矢量叉乘</a:t>
            </a: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685800" y="1600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sz="2800" kern="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559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1570038"/>
            <a:ext cx="281622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225" y="1900238"/>
            <a:ext cx="1501775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7200" y="1697038"/>
            <a:ext cx="7772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Operational Use of the Cross Product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356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2493963"/>
            <a:ext cx="2944813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6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3048000"/>
            <a:ext cx="285591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64" name="AutoShape 9"/>
          <p:cNvSpPr/>
          <p:nvPr/>
        </p:nvSpPr>
        <p:spPr bwMode="auto">
          <a:xfrm>
            <a:off x="2278063" y="2538413"/>
            <a:ext cx="133350" cy="774700"/>
          </a:xfrm>
          <a:prstGeom prst="leftBrace">
            <a:avLst>
              <a:gd name="adj1" fmla="val 5040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65" name="Rectangle 10"/>
          <p:cNvSpPr>
            <a:spLocks noChangeArrowheads="1"/>
          </p:cNvSpPr>
          <p:nvPr/>
        </p:nvSpPr>
        <p:spPr bwMode="auto">
          <a:xfrm>
            <a:off x="1390650" y="2698750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157163" y="3810000"/>
            <a:ext cx="115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67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43400"/>
            <a:ext cx="7691438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568" name="Pict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4800600"/>
            <a:ext cx="318452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69" name="Rectangle 15"/>
          <p:cNvSpPr>
            <a:spLocks noChangeArrowheads="1"/>
          </p:cNvSpPr>
          <p:nvPr/>
        </p:nvSpPr>
        <p:spPr bwMode="auto">
          <a:xfrm>
            <a:off x="2241550" y="5334000"/>
            <a:ext cx="65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Or…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70" name="Line 19"/>
          <p:cNvSpPr>
            <a:spLocks noChangeShapeType="1"/>
          </p:cNvSpPr>
          <p:nvPr/>
        </p:nvSpPr>
        <p:spPr bwMode="auto">
          <a:xfrm>
            <a:off x="157163" y="4724400"/>
            <a:ext cx="8839200" cy="0"/>
          </a:xfrm>
          <a:prstGeom prst="line">
            <a:avLst/>
          </a:prstGeom>
          <a:noFill/>
          <a:ln w="9525">
            <a:solidFill>
              <a:srgbClr val="009EE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1" name="矩形 1"/>
          <p:cNvSpPr>
            <a:spLocks noChangeArrowheads="1"/>
          </p:cNvSpPr>
          <p:nvPr/>
        </p:nvSpPr>
        <p:spPr bwMode="auto">
          <a:xfrm>
            <a:off x="1219200" y="6172200"/>
            <a:ext cx="7191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a more easily remembered form!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79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0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Circular Cylindrical Coordinates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圆柱坐标系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582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1930400"/>
            <a:ext cx="4516437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5386388" y="2514600"/>
            <a:ext cx="35290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has coordinates specified by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</a:t>
            </a:r>
            <a:r>
              <a:rPr lang="en-US" altLang="ja-JP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603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4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Circular Cylindrical Coordinates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圆柱坐标系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5606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85950"/>
            <a:ext cx="32004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矩形 1"/>
          <p:cNvSpPr>
            <a:spLocks noChangeArrowheads="1"/>
          </p:cNvSpPr>
          <p:nvPr/>
        </p:nvSpPr>
        <p:spPr bwMode="auto">
          <a:xfrm>
            <a:off x="838200" y="1885950"/>
            <a:ext cx="502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Orthogonal Unit Vectors in Cylindrical Coordinates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00200" y="2994213"/>
            <a:ext cx="981038" cy="461665"/>
          </a:xfrm>
          <a:prstGeom prst="rect">
            <a:avLst/>
          </a:prstGeom>
          <a:blipFill rotWithShape="1">
            <a:blip r:embed="rId3"/>
            <a:stretch>
              <a:fillRect t="-10526" r="-8750" b="-289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3" name="矩形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29624" y="3608278"/>
            <a:ext cx="995594" cy="461665"/>
          </a:xfrm>
          <a:prstGeom prst="rect">
            <a:avLst/>
          </a:prstGeom>
          <a:blipFill rotWithShape="1">
            <a:blip r:embed="rId4"/>
            <a:stretch>
              <a:fillRect t="-10526" r="-8537" b="-289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4" name="矩形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29624" y="4219095"/>
            <a:ext cx="1004634" cy="461665"/>
          </a:xfrm>
          <a:prstGeom prst="rect">
            <a:avLst/>
          </a:prstGeom>
          <a:blipFill rotWithShape="1">
            <a:blip r:embed="rId5"/>
            <a:stretch>
              <a:fillRect t="-10526" r="-8485" b="-2894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pic>
        <p:nvPicPr>
          <p:cNvPr id="12" name="Picture 12" descr="C:\Users\dpcuser\Desktop\About Teaching\工程电磁场\Instructor Notes\Image Library\Chapter_01\hay80660_t010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163" y="5068888"/>
            <a:ext cx="618807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8"/>
          <p:cNvGrpSpPr/>
          <p:nvPr/>
        </p:nvGrpSpPr>
        <p:grpSpPr bwMode="auto">
          <a:xfrm>
            <a:off x="2260600" y="2133600"/>
            <a:ext cx="6197600" cy="4495800"/>
            <a:chOff x="1056" y="1200"/>
            <a:chExt cx="3904" cy="2832"/>
          </a:xfrm>
        </p:grpSpPr>
        <p:grpSp>
          <p:nvGrpSpPr>
            <p:cNvPr id="26633" name="Group 6"/>
            <p:cNvGrpSpPr/>
            <p:nvPr/>
          </p:nvGrpSpPr>
          <p:grpSpPr bwMode="auto">
            <a:xfrm>
              <a:off x="1056" y="1200"/>
              <a:ext cx="3904" cy="2743"/>
              <a:chOff x="1056" y="1383"/>
              <a:chExt cx="3904" cy="2743"/>
            </a:xfrm>
          </p:grpSpPr>
          <p:pic>
            <p:nvPicPr>
              <p:cNvPr id="26635" name="Picture 2" descr="1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" y="1383"/>
                <a:ext cx="3904" cy="2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8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636" name="Rectangle 5"/>
              <p:cNvSpPr>
                <a:spLocks noChangeArrowheads="1"/>
              </p:cNvSpPr>
              <p:nvPr/>
            </p:nvSpPr>
            <p:spPr bwMode="auto">
              <a:xfrm>
                <a:off x="2160" y="3893"/>
                <a:ext cx="106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 = 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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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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dz</a:t>
                </a:r>
                <a:endPara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634" name="Rectangle 7"/>
            <p:cNvSpPr>
              <a:spLocks noChangeArrowheads="1"/>
            </p:cNvSpPr>
            <p:nvPr/>
          </p:nvSpPr>
          <p:spPr bwMode="auto">
            <a:xfrm>
              <a:off x="1888" y="3648"/>
              <a:ext cx="1584" cy="384"/>
            </a:xfrm>
            <a:prstGeom prst="rect">
              <a:avLst/>
            </a:prstGeom>
            <a:noFill/>
            <a:ln w="9525">
              <a:solidFill>
                <a:srgbClr val="009EE9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29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Circular Cylindrical Coordinates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圆柱坐标系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31" name="矩形 1"/>
          <p:cNvSpPr>
            <a:spLocks noChangeArrowheads="1"/>
          </p:cNvSpPr>
          <p:nvPr/>
        </p:nvSpPr>
        <p:spPr bwMode="auto">
          <a:xfrm>
            <a:off x="838200" y="1828800"/>
            <a:ext cx="502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Differential Volume in Cylindrical Coordinates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598738"/>
            <a:ext cx="4267200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2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3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Circular Cylindrical Coordinates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圆柱坐标系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5" name="矩形 1"/>
          <p:cNvSpPr>
            <a:spLocks noChangeArrowheads="1"/>
          </p:cNvSpPr>
          <p:nvPr/>
        </p:nvSpPr>
        <p:spPr bwMode="auto">
          <a:xfrm>
            <a:off x="838200" y="1828800"/>
            <a:ext cx="7848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Coordinate Transformations between Cylindrical Coordinates and Rectangular Coordinates </a:t>
            </a:r>
            <a:r>
              <a:rPr lang="zh-CN" altLang="en-US" sz="240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坐标变换</a:t>
            </a:r>
            <a:r>
              <a:rPr lang="en-US" altLang="zh-CN" sz="2400">
                <a:latin typeface="Times New Roman" panose="02020603050405020304" pitchFamily="18" charset="0"/>
              </a:rPr>
              <a:t>: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765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200400"/>
            <a:ext cx="1454150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5092700"/>
            <a:ext cx="25781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矩形 2"/>
          <p:cNvSpPr>
            <a:spLocks noChangeArrowheads="1"/>
          </p:cNvSpPr>
          <p:nvPr/>
        </p:nvSpPr>
        <p:spPr bwMode="auto">
          <a:xfrm>
            <a:off x="1754188" y="2824163"/>
            <a:ext cx="1362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</a:t>
            </a:r>
            <a:r>
              <a:rPr lang="en-US" altLang="ja-JP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9" name="矩形 3"/>
          <p:cNvSpPr>
            <a:spLocks noChangeArrowheads="1"/>
          </p:cNvSpPr>
          <p:nvPr/>
        </p:nvSpPr>
        <p:spPr bwMode="auto">
          <a:xfrm>
            <a:off x="1604963" y="4724400"/>
            <a:ext cx="992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P</a:t>
            </a:r>
            <a:r>
              <a:rPr lang="en-US" altLang="zh-CN" sz="1800">
                <a:latin typeface="Times New Roman" panose="02020603050405020304" pitchFamily="18" charset="0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</a:rPr>
              <a:t>x, y, z</a:t>
            </a:r>
            <a:r>
              <a:rPr lang="en-US" altLang="zh-CN" sz="1800">
                <a:latin typeface="Times New Roman" panose="02020603050405020304" pitchFamily="18" charset="0"/>
              </a:rPr>
              <a:t>)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286000"/>
            <a:ext cx="43148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Spherical Coordinates 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球坐标系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67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4024313"/>
            <a:ext cx="205740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2133600"/>
            <a:ext cx="4232275" cy="150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6289675" y="1982788"/>
            <a:ext cx="2574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has coordinates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Specified by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ja-JP" sz="20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</a:t>
            </a:r>
            <a:r>
              <a:rPr lang="en-US" altLang="ja-JP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26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2590800"/>
            <a:ext cx="3557588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00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1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Spherical Coordinates 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球坐标系</a:t>
            </a:r>
            <a:endParaRPr lang="en-US" altLang="zh-CN" sz="28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03" name="矩形 1"/>
          <p:cNvSpPr>
            <a:spLocks noChangeArrowheads="1"/>
          </p:cNvSpPr>
          <p:nvPr/>
        </p:nvSpPr>
        <p:spPr bwMode="auto">
          <a:xfrm>
            <a:off x="838200" y="1790700"/>
            <a:ext cx="662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Orthogonal Unit Vectors in Spherical Coordinates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27</a:t>
            </a:r>
            <a:endParaRPr lang="zh-CN" altLang="en-US" dirty="0"/>
          </a:p>
        </p:txBody>
      </p:sp>
      <p:pic>
        <p:nvPicPr>
          <p:cNvPr id="28683" name="Picture 11" descr="C:\Users\dpcuser\Desktop\About Teaching\工程电磁场\Instructor Notes\Image Library\Chapter_01\hay80660_t01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038600"/>
            <a:ext cx="513873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2889250"/>
            <a:ext cx="9747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7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0" y="2889250"/>
            <a:ext cx="1006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8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25" y="2886075"/>
            <a:ext cx="1006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8" y="2286000"/>
            <a:ext cx="4589462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5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Spherical Coordinates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球坐标系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7" name="矩形 1"/>
          <p:cNvSpPr>
            <a:spLocks noChangeArrowheads="1"/>
          </p:cNvSpPr>
          <p:nvPr/>
        </p:nvSpPr>
        <p:spPr bwMode="auto">
          <a:xfrm>
            <a:off x="838200" y="1790700"/>
            <a:ext cx="662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Differential Volume in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Spherical Coordinates</a:t>
            </a:r>
            <a:endParaRPr lang="en-US" altLang="zh-CN" sz="240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0728" name="Rectangle 4"/>
          <p:cNvSpPr>
            <a:spLocks noChangeArrowheads="1"/>
          </p:cNvSpPr>
          <p:nvPr/>
        </p:nvSpPr>
        <p:spPr bwMode="auto">
          <a:xfrm>
            <a:off x="874713" y="3429000"/>
            <a:ext cx="2747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dV = r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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drd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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5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143000"/>
            <a:ext cx="7477125" cy="52071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1: Vector Analysis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矢量分析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2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3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304800" y="1295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Coordinate Transformation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804563"/>
            <a:ext cx="7391400" cy="12488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HW1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4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5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29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57" y="1174750"/>
            <a:ext cx="752559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cd6572e-03bc-4472-8da1-df1f91657ce7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6151</Words>
  <Application>WPS 演示</Application>
  <PresentationFormat>全屏显示(4:3)</PresentationFormat>
  <Paragraphs>396</Paragraphs>
  <Slides>32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华文行楷</vt:lpstr>
      <vt:lpstr>楷体</vt:lpstr>
      <vt:lpstr>Calibri</vt:lpstr>
      <vt:lpstr>微软雅黑</vt:lpstr>
      <vt:lpstr>Arial Unicode MS</vt:lpstr>
      <vt:lpstr>Symbol</vt:lpstr>
      <vt:lpstr>默认设计模板</vt:lpstr>
      <vt:lpstr>Engineering Electromagnetics 工程电磁场</vt:lpstr>
      <vt:lpstr>Background</vt:lpstr>
      <vt:lpstr>Background</vt:lpstr>
      <vt:lpstr>Background</vt:lpstr>
      <vt:lpstr>Background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1: Vector Analysis 矢量分析</vt:lpstr>
      <vt:lpstr>HW1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206</cp:revision>
  <cp:lastPrinted>2014-02-23T02:32:00Z</cp:lastPrinted>
  <dcterms:created xsi:type="dcterms:W3CDTF">2113-01-01T00:00:00Z</dcterms:created>
  <dcterms:modified xsi:type="dcterms:W3CDTF">2024-10-28T13:04:00Z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4909EE119053492E9C93901D4469FE34</vt:lpwstr>
  </property>
  <property fmtid="{D5CDD505-2E9C-101B-9397-08002B2CF9AE}" pid="4" name="KSOProductBuildVer">
    <vt:lpwstr>2052-11.1.0.12165</vt:lpwstr>
  </property>
</Properties>
</file>