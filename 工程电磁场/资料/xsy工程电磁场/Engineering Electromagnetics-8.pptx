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32"/>
  </p:handoutMasterIdLst>
  <p:sldIdLst>
    <p:sldId id="256" r:id="rId3"/>
    <p:sldId id="391" r:id="rId4"/>
    <p:sldId id="392" r:id="rId6"/>
    <p:sldId id="393" r:id="rId7"/>
    <p:sldId id="394" r:id="rId8"/>
    <p:sldId id="395" r:id="rId9"/>
    <p:sldId id="396" r:id="rId10"/>
    <p:sldId id="397" r:id="rId11"/>
    <p:sldId id="398" r:id="rId12"/>
    <p:sldId id="399" r:id="rId13"/>
    <p:sldId id="400" r:id="rId14"/>
    <p:sldId id="401" r:id="rId15"/>
    <p:sldId id="402" r:id="rId16"/>
    <p:sldId id="403" r:id="rId17"/>
    <p:sldId id="405" r:id="rId18"/>
    <p:sldId id="404" r:id="rId19"/>
    <p:sldId id="406" r:id="rId20"/>
    <p:sldId id="422" r:id="rId21"/>
    <p:sldId id="407" r:id="rId22"/>
    <p:sldId id="408" r:id="rId23"/>
    <p:sldId id="409" r:id="rId24"/>
    <p:sldId id="410" r:id="rId25"/>
    <p:sldId id="411" r:id="rId26"/>
    <p:sldId id="412" r:id="rId27"/>
    <p:sldId id="413" r:id="rId28"/>
    <p:sldId id="423" r:id="rId29"/>
    <p:sldId id="414" r:id="rId30"/>
    <p:sldId id="424" r:id="rId31"/>
  </p:sldIdLst>
  <p:sldSz cx="9144000" cy="6858000" type="screen4x3"/>
  <p:notesSz cx="9926320" cy="6797675"/>
  <p:custDataLst>
    <p:tags r:id="rId37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shengyi" initials="x" lastIdx="1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6600"/>
    <a:srgbClr val="333399"/>
    <a:srgbClr val="990000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26" autoAdjust="0"/>
    <p:restoredTop sz="94660"/>
  </p:normalViewPr>
  <p:slideViewPr>
    <p:cSldViewPr>
      <p:cViewPr varScale="1">
        <p:scale>
          <a:sx n="115" d="100"/>
          <a:sy n="115" d="100"/>
        </p:scale>
        <p:origin x="792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7" Type="http://schemas.openxmlformats.org/officeDocument/2006/relationships/tags" Target="tags/tag1.xml"/><Relationship Id="rId36" Type="http://schemas.openxmlformats.org/officeDocument/2006/relationships/commentAuthors" Target="commentAuthors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12T16:56:27.235" idx="1">
    <p:pos x="5530" y="2540"/>
    <p:text>存储电场能的容器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12T17:01:37.145" idx="2">
    <p:pos x="1590" y="2847"/>
    <p:text>电容是材料自身的秉性，不会因外加电场变化而变化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12T17:04:17.166" idx="3">
    <p:pos x="2598" y="1729"/>
    <p:text>注意这里：不是真空介电常数，是相对介电常数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12T17:17:20.744" idx="4">
    <p:pos x="3960" y="3616"/>
    <p:text>电场强度与电荷密度关系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12T17:22:08.076" idx="5">
    <p:pos x="4204" y="3479"/>
    <p:text>非常重要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12T17:32:24.728" idx="6">
    <p:pos x="4073" y="3329"/>
    <p:text>非常重要，可以好好回想一下这个1/2的由来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12T17:40:59.916" idx="7">
    <p:pos x="2773" y="1304"/>
    <p:text>ρs指的是自由电荷，所以要用D（=epsilonE）</p:text>
  </p:cm>
  <p:cm authorId="1" dt="2024-11-12T17:41:20.008" idx="8">
    <p:pos x="4818" y="3421"/>
    <p:text>重要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12T17:44:54.244" idx="9">
    <p:pos x="3568" y="3496"/>
    <p:text>重要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12T17:48:06.627" idx="10">
    <p:pos x="3467" y="3425"/>
    <p:text>要会求</p:tex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12T17:50:46.797" idx="11">
    <p:pos x="4607" y="1114"/>
    <p:text>重要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12T17:56:20.679" idx="12">
    <p:pos x="4947" y="2846"/>
    <p:text>非常重要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19T16:43:10.203" idx="13">
    <p:pos x="2090" y="2588"/>
    <p:text>非常非常重要：等势面的圆心位置</p:text>
  </p:cm>
  <p:cm authorId="1" dt="2024-11-19T16:43:33.388" idx="14">
    <p:pos x="3730" y="2601"/>
    <p:text>非常非常重要：等势面圆半径</p:tex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19T16:44:51.567" idx="15">
    <p:pos x="4962" y="974"/>
    <p:text>等效的一个线电荷</p:text>
  </p:cm>
  <p:cm authorId="1" dt="2024-11-19T16:46:47.561" idx="16">
    <p:pos x="4796" y="2633"/>
    <p:text/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581" y="0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>
              <a:defRPr sz="1200"/>
            </a:lvl1pPr>
          </a:lstStyle>
          <a:p>
            <a:fld id="{686A4324-7C28-4329-B2F1-5FD4B6C256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6457106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581" y="6457106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r">
              <a:defRPr sz="1200"/>
            </a:lvl1pPr>
          </a:lstStyle>
          <a:p>
            <a:fld id="{FA732558-7D0B-4745-B877-2B020FA1E1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pPr>
              <a:defRPr/>
            </a:pPr>
            <a:fld id="{CFCE66B6-4CF2-4562-A36E-FD57958B22D0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11175"/>
            <a:ext cx="3398838" cy="25479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5562" tIns="47781" rIns="95562" bIns="47781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pPr>
              <a:defRPr/>
            </a:pPr>
            <a:fld id="{BEA14968-9F28-4550-9E62-5AFEB150A69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A915F-EF48-4E12-9322-014AC14B824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6757F-36B6-4B03-A23B-51A791095A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22D1AA-81AF-4136-B6B7-4DF8B2353D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3869A-52EA-439A-85B4-5B99DA02ADD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549B5-7C33-4401-8DCA-0C1C099D07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D6E32-8AFF-48B0-BFAA-79EFD98B79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729E0-9F39-4321-BCC4-0E383C4192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898902-1749-4578-ADD1-C8D6FC14DD7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96899-CE8E-4251-8463-AEEF76D0B8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EBD7C-0FB7-467E-B4C1-280AB41F76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7B3FA2-80A2-486F-B8BD-C573184B8A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67C57CB3-D73C-4ACB-B9FF-2C58343599B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1.xml"/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2.xml"/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comments" Target="../comments/comment3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4.xml"/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5.xml"/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6.xml"/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21.png"/><Relationship Id="rId3" Type="http://schemas.openxmlformats.org/officeDocument/2006/relationships/image" Target="../media/image24.pn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Relationship Id="rId3" Type="http://schemas.openxmlformats.org/officeDocument/2006/relationships/image" Target="../media/image31.GIF"/><Relationship Id="rId2" Type="http://schemas.openxmlformats.org/officeDocument/2006/relationships/image" Target="../media/image30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7.xml"/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4.png"/><Relationship Id="rId1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8.xml"/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4.png"/><Relationship Id="rId7" Type="http://schemas.openxmlformats.org/officeDocument/2006/relationships/image" Target="../media/image53.png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1.png"/><Relationship Id="rId6" Type="http://schemas.openxmlformats.org/officeDocument/2006/relationships/image" Target="../media/image24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56.GIF"/><Relationship Id="rId2" Type="http://schemas.openxmlformats.org/officeDocument/2006/relationships/image" Target="../media/image55.GIF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3.jpeg"/><Relationship Id="rId5" Type="http://schemas.openxmlformats.org/officeDocument/2006/relationships/image" Target="../media/image62.jpeg"/><Relationship Id="rId4" Type="http://schemas.openxmlformats.org/officeDocument/2006/relationships/image" Target="../media/image61.jpeg"/><Relationship Id="rId3" Type="http://schemas.openxmlformats.org/officeDocument/2006/relationships/image" Target="../media/image60.jpeg"/><Relationship Id="rId2" Type="http://schemas.openxmlformats.org/officeDocument/2006/relationships/image" Target="../media/image4.png"/><Relationship Id="rId1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9.xml"/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10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59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59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11.xml"/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12.xml"/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8.png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3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9.png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0" Type="http://schemas.openxmlformats.org/officeDocument/2006/relationships/comments" Target="../comments/comment13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3" Type="http://schemas.openxmlformats.org/officeDocument/2006/relationships/image" Target="../media/image91.png"/><Relationship Id="rId2" Type="http://schemas.openxmlformats.org/officeDocument/2006/relationships/image" Target="../media/image4.png"/><Relationship Id="rId1" Type="http://schemas.openxmlformats.org/officeDocument/2006/relationships/image" Target="../media/image90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828800"/>
            <a:ext cx="8534400" cy="1981200"/>
          </a:xfrm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zh-CN" sz="4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Electromagnetics</a:t>
            </a:r>
            <a:br>
              <a:rPr lang="en-US" altLang="zh-CN" sz="4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400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工程电磁场</a:t>
            </a:r>
            <a:endParaRPr lang="zh-CN" altLang="en-US" sz="400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2133600"/>
          </a:xfrm>
        </p:spPr>
        <p:txBody>
          <a:bodyPr/>
          <a:lstStyle/>
          <a:p>
            <a:pPr eaLnBrk="1" hangingPunct="1"/>
            <a:endParaRPr lang="zh-CN" altLang="en-US" sz="36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Youwei Jia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嘉有为</a:t>
            </a:r>
            <a:endParaRPr lang="en-US" altLang="zh-CN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052" name="Gerade Verbindung 11"/>
          <p:cNvCxnSpPr>
            <a:cxnSpLocks noChangeShapeType="1"/>
          </p:cNvCxnSpPr>
          <p:nvPr/>
        </p:nvCxnSpPr>
        <p:spPr bwMode="auto">
          <a:xfrm>
            <a:off x="85725" y="1371600"/>
            <a:ext cx="7305675" cy="0"/>
          </a:xfrm>
          <a:prstGeom prst="line">
            <a:avLst/>
          </a:prstGeom>
          <a:noFill/>
          <a:ln w="19050" algn="ctr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053" name="Picture 9" descr="13829064795036"/>
          <p:cNvPicPr>
            <a:picLocks noChangeAspect="1" noChangeArrowheads="1"/>
          </p:cNvPicPr>
          <p:nvPr/>
        </p:nvPicPr>
        <p:blipFill>
          <a:blip r:embed="rId1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112713"/>
            <a:ext cx="2609850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10" descr="13829064803086"/>
          <p:cNvPicPr>
            <a:picLocks noChangeAspect="1" noChangeArrowheads="1"/>
          </p:cNvPicPr>
          <p:nvPr/>
        </p:nvPicPr>
        <p:blipFill>
          <a:blip r:embed="rId2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313" y="112713"/>
            <a:ext cx="2754312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11" descr="13829064833397"/>
          <p:cNvPicPr>
            <a:picLocks noChangeAspect="1" noChangeArrowheads="1"/>
          </p:cNvPicPr>
          <p:nvPr/>
        </p:nvPicPr>
        <p:blipFill>
          <a:blip r:embed="rId3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75" y="112713"/>
            <a:ext cx="1839913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56" name="Gerade Verbindung 11"/>
          <p:cNvCxnSpPr>
            <a:cxnSpLocks noChangeShapeType="1"/>
          </p:cNvCxnSpPr>
          <p:nvPr/>
        </p:nvCxnSpPr>
        <p:spPr bwMode="auto">
          <a:xfrm>
            <a:off x="609600" y="3657600"/>
            <a:ext cx="7916863" cy="0"/>
          </a:xfrm>
          <a:prstGeom prst="line">
            <a:avLst/>
          </a:prstGeom>
          <a:noFill/>
          <a:ln w="19050" algn="ctr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Capacitor Vs  Capacitance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电容（器）？电容？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026" name="Picture 2" descr="C:\Users\dpcuser\Desktop\About Teaching\工程电磁场\Instructor Notes\Lecture 8\LMG_Brand_Motor_Run_and_Start_Capacito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364" y="1676400"/>
            <a:ext cx="4696213" cy="244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C:\Users\dpcuser\Desktop\About Teaching\工程电磁场\Instructor Notes\Lecture 8\How-Capacitors-Work-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026" y="1676400"/>
            <a:ext cx="1828800" cy="2783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dpcuser\Desktop\About Teaching\工程电磁场\Instructor Notes\Lecture 8\Photo-SMDcapacitor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325568"/>
            <a:ext cx="2971800" cy="2227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dpcuser\Desktop\About Teaching\工程电磁场\Instructor Notes\Lecture 8\Types_of_capacitor.sv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596379"/>
            <a:ext cx="3810001" cy="1760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Capacitor Vs  Capacitance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电容（器）？电容？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78221" y="1782434"/>
            <a:ext cx="5177088" cy="3124201"/>
            <a:chOff x="533400" y="1904999"/>
            <a:chExt cx="5177088" cy="3124201"/>
          </a:xfrm>
        </p:grpSpPr>
        <p:pic>
          <p:nvPicPr>
            <p:cNvPr id="1030" name="Picture 6" descr="C:\Users\dpcuser\Desktop\About Teaching\工程电磁场\Instructor Notes\Lecture 8\QQ图片20140411142730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" y="1904999"/>
              <a:ext cx="5177088" cy="31242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椭圆 3"/>
            <p:cNvSpPr/>
            <p:nvPr/>
          </p:nvSpPr>
          <p:spPr>
            <a:xfrm>
              <a:off x="1295400" y="2133600"/>
              <a:ext cx="762000" cy="533400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1247955" y="2933698"/>
              <a:ext cx="762000" cy="647701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476875" y="1753679"/>
            <a:ext cx="3438525" cy="3376519"/>
            <a:chOff x="5476875" y="1805796"/>
            <a:chExt cx="3438525" cy="3376519"/>
          </a:xfrm>
        </p:grpSpPr>
        <p:pic>
          <p:nvPicPr>
            <p:cNvPr id="2050" name="Picture 2" descr="C:\Users\dpcuser\Desktop\About Teaching\工程电磁场\Instructor Notes\Lecture 8\610px-ATX_power_supply_interior-1000px_transparent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6875" y="1805796"/>
              <a:ext cx="3438525" cy="3376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椭圆 15"/>
            <p:cNvSpPr/>
            <p:nvPr/>
          </p:nvSpPr>
          <p:spPr>
            <a:xfrm>
              <a:off x="5638800" y="2181649"/>
              <a:ext cx="762000" cy="1247351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7"/>
          <p:cNvSpPr/>
          <p:nvPr/>
        </p:nvSpPr>
        <p:spPr>
          <a:xfrm>
            <a:off x="580764" y="5029200"/>
            <a:ext cx="814413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 capacitor is a electrical component / device </a:t>
            </a:r>
            <a:r>
              <a:rPr lang="zh-CN" altLang="en-US" sz="20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元器件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store electric energy (electric flux, electric field, electric charge). </a:t>
            </a:r>
            <a:endParaRPr lang="en-US" altLang="zh-CN" sz="2000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Most of time, capacitors are purposely designated to perform specific functions, but sometimes, capacitance may exist as an unavoidable by-product of the device structure. Parasitical Capacitance </a:t>
            </a:r>
            <a:r>
              <a:rPr lang="zh-CN" altLang="en-US" sz="20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寄生电容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Capacitor Vs  Capacitance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电容（器）？电容？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14400" y="2252139"/>
            <a:ext cx="42960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Parasitical capacitance in semiconductor devices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1" name="Picture 3" descr="C:\Users\dpcuser\Desktop\About Teaching\工程电磁场\Instructor Notes\Lecture 8\JM3_11_1_013006_f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725830"/>
            <a:ext cx="3655153" cy="2236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685800" y="4016514"/>
            <a:ext cx="80772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>
                <a:solidFill>
                  <a:srgbClr val="000099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Capacitance is </a:t>
            </a:r>
            <a:r>
              <a:rPr lang="en-US" altLang="zh-CN" sz="2000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physical quantity </a:t>
            </a:r>
            <a:r>
              <a:rPr lang="en-US" altLang="zh-CN" sz="2000" dirty="0">
                <a:solidFill>
                  <a:srgbClr val="000099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used to measure the capability of energy storage 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electrical devices (Capacitors).</a:t>
            </a:r>
            <a:endParaRPr lang="en-US" altLang="zh-CN" sz="2000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How to define capacitance, and why?</a:t>
            </a:r>
            <a:endParaRPr lang="en-US" altLang="zh-CN" sz="2000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How to calculate the capacitance of a electrical device?</a:t>
            </a:r>
            <a:endParaRPr lang="en-US" altLang="zh-CN" sz="2000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How to design a capacitor to fulfill specific purpose? </a:t>
            </a:r>
            <a:endParaRPr lang="en-US" altLang="zh-CN" sz="2000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How to eliminate the bad effects aroused by parasitical capacitance?</a:t>
            </a:r>
            <a:endParaRPr lang="en-US" altLang="zh-CN" sz="2000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What are the key factors that can affect the capacitance of capacitors? 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33"/>
          <p:cNvGrpSpPr/>
          <p:nvPr/>
        </p:nvGrpSpPr>
        <p:grpSpPr bwMode="auto">
          <a:xfrm>
            <a:off x="6248401" y="2360612"/>
            <a:ext cx="2743200" cy="2668588"/>
            <a:chOff x="2640" y="2112"/>
            <a:chExt cx="1774" cy="1681"/>
          </a:xfrm>
        </p:grpSpPr>
        <p:grpSp>
          <p:nvGrpSpPr>
            <p:cNvPr id="21" name="Group 21"/>
            <p:cNvGrpSpPr/>
            <p:nvPr/>
          </p:nvGrpSpPr>
          <p:grpSpPr bwMode="auto">
            <a:xfrm>
              <a:off x="2640" y="2112"/>
              <a:ext cx="1774" cy="1681"/>
              <a:chOff x="2640" y="2112"/>
              <a:chExt cx="1774" cy="1681"/>
            </a:xfrm>
          </p:grpSpPr>
          <p:grpSp>
            <p:nvGrpSpPr>
              <p:cNvPr id="29" name="Group 20"/>
              <p:cNvGrpSpPr/>
              <p:nvPr/>
            </p:nvGrpSpPr>
            <p:grpSpPr bwMode="auto">
              <a:xfrm>
                <a:off x="2640" y="2112"/>
                <a:ext cx="1774" cy="1681"/>
                <a:chOff x="2640" y="2112"/>
                <a:chExt cx="1774" cy="1681"/>
              </a:xfrm>
            </p:grpSpPr>
            <p:pic>
              <p:nvPicPr>
                <p:cNvPr id="32" name="Picture 2" descr="Figure 13"/>
                <p:cNvPicPr>
                  <a:picLocks noChangeAspect="1" noChangeArrowheads="1"/>
                </p:cNvPicPr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40" y="2112"/>
                  <a:ext cx="1774" cy="168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3" name="Rectangle 18"/>
                <p:cNvSpPr>
                  <a:spLocks noChangeArrowheads="1"/>
                </p:cNvSpPr>
                <p:nvPr/>
              </p:nvSpPr>
              <p:spPr bwMode="auto">
                <a:xfrm>
                  <a:off x="3168" y="3222"/>
                  <a:ext cx="192" cy="144"/>
                </a:xfrm>
                <a:prstGeom prst="rect">
                  <a:avLst/>
                </a:prstGeom>
                <a:solidFill>
                  <a:srgbClr val="F8E0E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" name="Rectangle 19"/>
                <p:cNvSpPr>
                  <a:spLocks noChangeArrowheads="1"/>
                </p:cNvSpPr>
                <p:nvPr/>
              </p:nvSpPr>
              <p:spPr bwMode="auto">
                <a:xfrm>
                  <a:off x="3816" y="2391"/>
                  <a:ext cx="192" cy="144"/>
                </a:xfrm>
                <a:prstGeom prst="rect">
                  <a:avLst/>
                </a:prstGeom>
                <a:solidFill>
                  <a:srgbClr val="F8E0E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" name="Rectangle 16"/>
              <p:cNvSpPr>
                <a:spLocks noChangeArrowheads="1"/>
              </p:cNvSpPr>
              <p:nvPr/>
            </p:nvSpPr>
            <p:spPr bwMode="auto">
              <a:xfrm>
                <a:off x="3888" y="2448"/>
                <a:ext cx="22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endPara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Rectangle 17"/>
              <p:cNvSpPr>
                <a:spLocks noChangeArrowheads="1"/>
              </p:cNvSpPr>
              <p:nvPr/>
            </p:nvSpPr>
            <p:spPr bwMode="auto">
              <a:xfrm>
                <a:off x="3120" y="3168"/>
                <a:ext cx="27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-Q</a:t>
                </a:r>
                <a:endPara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>
              <a:off x="3564" y="2832"/>
              <a:ext cx="468" cy="416"/>
            </a:xfrm>
            <a:prstGeom prst="line">
              <a:avLst/>
            </a:prstGeom>
            <a:noFill/>
            <a:ln w="12700">
              <a:solidFill>
                <a:srgbClr val="8908FF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3744" y="3024"/>
              <a:ext cx="3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3648" y="2367"/>
              <a:ext cx="1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Rectangle 27"/>
            <p:cNvSpPr>
              <a:spLocks noChangeArrowheads="1"/>
            </p:cNvSpPr>
            <p:nvPr/>
          </p:nvSpPr>
          <p:spPr bwMode="auto">
            <a:xfrm>
              <a:off x="3459" y="3225"/>
              <a:ext cx="1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28"/>
            <p:cNvSpPr>
              <a:spLocks noChangeArrowheads="1"/>
            </p:cNvSpPr>
            <p:nvPr/>
          </p:nvSpPr>
          <p:spPr bwMode="auto">
            <a:xfrm>
              <a:off x="4008" y="2728"/>
              <a:ext cx="18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29"/>
            <p:cNvSpPr>
              <a:spLocks noChangeArrowheads="1"/>
            </p:cNvSpPr>
            <p:nvPr/>
          </p:nvSpPr>
          <p:spPr bwMode="auto">
            <a:xfrm>
              <a:off x="3492" y="3102"/>
              <a:ext cx="1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Rectangle 30"/>
            <p:cNvSpPr>
              <a:spLocks noChangeArrowheads="1"/>
            </p:cNvSpPr>
            <p:nvPr/>
          </p:nvSpPr>
          <p:spPr bwMode="auto">
            <a:xfrm>
              <a:off x="3955" y="2679"/>
              <a:ext cx="1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Capacitance defined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57200" y="1667599"/>
            <a:ext cx="78285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 simple capacitor consists of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oppositely charged conductors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surrounded by a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uniform dielectric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25"/>
          <p:cNvSpPr>
            <a:spLocks noChangeArrowheads="1"/>
          </p:cNvSpPr>
          <p:nvPr/>
        </p:nvSpPr>
        <p:spPr bwMode="auto">
          <a:xfrm>
            <a:off x="488950" y="2313930"/>
            <a:ext cx="677627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An increase in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some factor results in an increase in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(and in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same factor.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26"/>
          <p:cNvSpPr>
            <a:spLocks noChangeArrowheads="1"/>
          </p:cNvSpPr>
          <p:nvPr/>
        </p:nvSpPr>
        <p:spPr bwMode="auto">
          <a:xfrm>
            <a:off x="381000" y="3479801"/>
            <a:ext cx="5942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Consequently, the potential difference between conductors: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3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870326"/>
            <a:ext cx="1828800" cy="66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" name="Picture 3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488" y="2913543"/>
            <a:ext cx="1535113" cy="61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7" name="Rectangle 34"/>
          <p:cNvSpPr>
            <a:spLocks noChangeArrowheads="1"/>
          </p:cNvSpPr>
          <p:nvPr/>
        </p:nvSpPr>
        <p:spPr bwMode="auto">
          <a:xfrm>
            <a:off x="1332243" y="2982912"/>
            <a:ext cx="749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35"/>
          <p:cNvSpPr>
            <a:spLocks noChangeArrowheads="1"/>
          </p:cNvSpPr>
          <p:nvPr/>
        </p:nvSpPr>
        <p:spPr bwMode="auto">
          <a:xfrm>
            <a:off x="1049337" y="4651197"/>
            <a:ext cx="565626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also increase by the same factor --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the ratio of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altLang="zh-CN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We define the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capacitance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structure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the ratio of the stored charge to the applied voltage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3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075" y="5791200"/>
            <a:ext cx="1014413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" name="Rectangle 38"/>
          <p:cNvSpPr>
            <a:spLocks noChangeArrowheads="1"/>
          </p:cNvSpPr>
          <p:nvPr/>
        </p:nvSpPr>
        <p:spPr bwMode="auto">
          <a:xfrm>
            <a:off x="2906712" y="6032500"/>
            <a:ext cx="2732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 are </a:t>
            </a:r>
            <a:r>
              <a:rPr lang="en-US" altLang="zh-CN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Coul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/V or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Farads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C:\Users\dpcuser\Desktop\About Teaching\工程电磁场\Instructor Notes\Lecture 8\images (1)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81" y="4538662"/>
            <a:ext cx="857520" cy="211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Capacitance defined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35" name="Group 33"/>
          <p:cNvGrpSpPr/>
          <p:nvPr/>
        </p:nvGrpSpPr>
        <p:grpSpPr bwMode="auto">
          <a:xfrm>
            <a:off x="6248401" y="2360612"/>
            <a:ext cx="2743200" cy="2668588"/>
            <a:chOff x="2640" y="2112"/>
            <a:chExt cx="1774" cy="1681"/>
          </a:xfrm>
        </p:grpSpPr>
        <p:grpSp>
          <p:nvGrpSpPr>
            <p:cNvPr id="36" name="Group 21"/>
            <p:cNvGrpSpPr/>
            <p:nvPr/>
          </p:nvGrpSpPr>
          <p:grpSpPr bwMode="auto">
            <a:xfrm>
              <a:off x="2640" y="2112"/>
              <a:ext cx="1774" cy="1681"/>
              <a:chOff x="2640" y="2112"/>
              <a:chExt cx="1774" cy="1681"/>
            </a:xfrm>
          </p:grpSpPr>
          <p:grpSp>
            <p:nvGrpSpPr>
              <p:cNvPr id="45" name="Group 20"/>
              <p:cNvGrpSpPr/>
              <p:nvPr/>
            </p:nvGrpSpPr>
            <p:grpSpPr bwMode="auto">
              <a:xfrm>
                <a:off x="2640" y="2112"/>
                <a:ext cx="1774" cy="1681"/>
                <a:chOff x="2640" y="2112"/>
                <a:chExt cx="1774" cy="1681"/>
              </a:xfrm>
            </p:grpSpPr>
            <p:pic>
              <p:nvPicPr>
                <p:cNvPr id="48" name="Picture 2" descr="Figure 13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40" y="2112"/>
                  <a:ext cx="1774" cy="168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9" name="Rectangle 18"/>
                <p:cNvSpPr>
                  <a:spLocks noChangeArrowheads="1"/>
                </p:cNvSpPr>
                <p:nvPr/>
              </p:nvSpPr>
              <p:spPr bwMode="auto">
                <a:xfrm>
                  <a:off x="3168" y="3222"/>
                  <a:ext cx="192" cy="144"/>
                </a:xfrm>
                <a:prstGeom prst="rect">
                  <a:avLst/>
                </a:prstGeom>
                <a:solidFill>
                  <a:srgbClr val="F8E0E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Rectangle 19"/>
                <p:cNvSpPr>
                  <a:spLocks noChangeArrowheads="1"/>
                </p:cNvSpPr>
                <p:nvPr/>
              </p:nvSpPr>
              <p:spPr bwMode="auto">
                <a:xfrm>
                  <a:off x="3816" y="2391"/>
                  <a:ext cx="192" cy="144"/>
                </a:xfrm>
                <a:prstGeom prst="rect">
                  <a:avLst/>
                </a:prstGeom>
                <a:solidFill>
                  <a:srgbClr val="F8E0E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" name="Rectangle 16"/>
              <p:cNvSpPr>
                <a:spLocks noChangeArrowheads="1"/>
              </p:cNvSpPr>
              <p:nvPr/>
            </p:nvSpPr>
            <p:spPr bwMode="auto">
              <a:xfrm>
                <a:off x="3888" y="2448"/>
                <a:ext cx="22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endPara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Rectangle 17"/>
              <p:cNvSpPr>
                <a:spLocks noChangeArrowheads="1"/>
              </p:cNvSpPr>
              <p:nvPr/>
            </p:nvSpPr>
            <p:spPr bwMode="auto">
              <a:xfrm>
                <a:off x="3120" y="3168"/>
                <a:ext cx="27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-Q</a:t>
                </a:r>
                <a:endPara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7" name="Line 22"/>
            <p:cNvSpPr>
              <a:spLocks noChangeShapeType="1"/>
            </p:cNvSpPr>
            <p:nvPr/>
          </p:nvSpPr>
          <p:spPr bwMode="auto">
            <a:xfrm flipH="1">
              <a:off x="3564" y="2832"/>
              <a:ext cx="468" cy="416"/>
            </a:xfrm>
            <a:prstGeom prst="line">
              <a:avLst/>
            </a:prstGeom>
            <a:noFill/>
            <a:ln w="12700">
              <a:solidFill>
                <a:srgbClr val="8908FF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Rectangle 23"/>
            <p:cNvSpPr>
              <a:spLocks noChangeArrowheads="1"/>
            </p:cNvSpPr>
            <p:nvPr/>
          </p:nvSpPr>
          <p:spPr bwMode="auto">
            <a:xfrm>
              <a:off x="3744" y="3024"/>
              <a:ext cx="3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Rectangle 24"/>
            <p:cNvSpPr>
              <a:spLocks noChangeArrowheads="1"/>
            </p:cNvSpPr>
            <p:nvPr/>
          </p:nvSpPr>
          <p:spPr bwMode="auto">
            <a:xfrm>
              <a:off x="3648" y="2367"/>
              <a:ext cx="1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Rectangle 27"/>
            <p:cNvSpPr>
              <a:spLocks noChangeArrowheads="1"/>
            </p:cNvSpPr>
            <p:nvPr/>
          </p:nvSpPr>
          <p:spPr bwMode="auto">
            <a:xfrm>
              <a:off x="3459" y="3225"/>
              <a:ext cx="1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Rectangle 28"/>
            <p:cNvSpPr>
              <a:spLocks noChangeArrowheads="1"/>
            </p:cNvSpPr>
            <p:nvPr/>
          </p:nvSpPr>
          <p:spPr bwMode="auto">
            <a:xfrm>
              <a:off x="4008" y="2728"/>
              <a:ext cx="18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Rectangle 29"/>
            <p:cNvSpPr>
              <a:spLocks noChangeArrowheads="1"/>
            </p:cNvSpPr>
            <p:nvPr/>
          </p:nvSpPr>
          <p:spPr bwMode="auto">
            <a:xfrm>
              <a:off x="3492" y="3102"/>
              <a:ext cx="1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Rectangle 30"/>
            <p:cNvSpPr>
              <a:spLocks noChangeArrowheads="1"/>
            </p:cNvSpPr>
            <p:nvPr/>
          </p:nvSpPr>
          <p:spPr bwMode="auto">
            <a:xfrm>
              <a:off x="3955" y="2679"/>
              <a:ext cx="1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609600" y="1666220"/>
            <a:ext cx="5867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 terms, we determine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 surface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integral over the positive conductors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we find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carrying a unit positive charge from the negative to the positive surface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850" y="2683504"/>
            <a:ext cx="2362200" cy="1011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685800" y="371384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capacitance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independent of the potential and total charge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their ratio is constant.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23900" y="4419600"/>
            <a:ext cx="5257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capacitance is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function only of the physical dimensions of the system of conductors and of the permittivity of the homogeneous dielectric.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15436" y="5410200"/>
            <a:ext cx="74627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Capacitance is measured in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farads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(F), where a farad is defined as one coulomb per volt. Common values of capacitance are apt to be very small fractions of a farad, and consequently more practical units are the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microfarad (</a:t>
            </a:r>
            <a:r>
              <a:rPr lang="en-US" altLang="zh-CN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the </a:t>
            </a:r>
            <a:r>
              <a:rPr lang="en-US" altLang="zh-CN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nanofarad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and the </a:t>
            </a:r>
            <a:r>
              <a:rPr lang="en-US" altLang="zh-CN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picofarad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(pF).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Parallel-Plane Capacitor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8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963" y="5843588"/>
            <a:ext cx="1270000" cy="5667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9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0" y="4648200"/>
            <a:ext cx="415925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5267325"/>
            <a:ext cx="4716463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31" name="Group 11"/>
          <p:cNvGrpSpPr/>
          <p:nvPr/>
        </p:nvGrpSpPr>
        <p:grpSpPr bwMode="auto">
          <a:xfrm>
            <a:off x="3595687" y="2371381"/>
            <a:ext cx="5395913" cy="1747837"/>
            <a:chOff x="1488" y="1296"/>
            <a:chExt cx="3399" cy="1101"/>
          </a:xfrm>
        </p:grpSpPr>
        <p:pic>
          <p:nvPicPr>
            <p:cNvPr id="59" name="Picture 2" descr="Figure 14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1296"/>
              <a:ext cx="1987" cy="1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0" name="Rectangle 8"/>
            <p:cNvSpPr>
              <a:spLocks noChangeArrowheads="1"/>
            </p:cNvSpPr>
            <p:nvPr/>
          </p:nvSpPr>
          <p:spPr bwMode="auto">
            <a:xfrm>
              <a:off x="3974" y="1728"/>
              <a:ext cx="91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Plate area = </a:t>
              </a:r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Line 9"/>
            <p:cNvSpPr>
              <a:spLocks noChangeShapeType="1"/>
            </p:cNvSpPr>
            <p:nvPr/>
          </p:nvSpPr>
          <p:spPr bwMode="auto">
            <a:xfrm flipH="1" flipV="1">
              <a:off x="3504" y="1392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Line 10"/>
            <p:cNvSpPr>
              <a:spLocks noChangeShapeType="1"/>
            </p:cNvSpPr>
            <p:nvPr/>
          </p:nvSpPr>
          <p:spPr bwMode="auto">
            <a:xfrm flipH="1">
              <a:off x="3501" y="1929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Rectangle 12"/>
          <p:cNvSpPr>
            <a:spLocks noChangeArrowheads="1"/>
          </p:cNvSpPr>
          <p:nvPr/>
        </p:nvSpPr>
        <p:spPr bwMode="auto">
          <a:xfrm>
            <a:off x="582612" y="4191000"/>
            <a:ext cx="6026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the boundary for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the surface of a perfect conductor: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13"/>
          <p:cNvSpPr>
            <a:spLocks noChangeArrowheads="1"/>
          </p:cNvSpPr>
          <p:nvPr/>
        </p:nvSpPr>
        <p:spPr bwMode="auto">
          <a:xfrm>
            <a:off x="304800" y="4648200"/>
            <a:ext cx="13573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plate: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296503" y="5257800"/>
            <a:ext cx="1344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Plate: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AutoShape 16"/>
          <p:cNvSpPr/>
          <p:nvPr/>
        </p:nvSpPr>
        <p:spPr bwMode="auto">
          <a:xfrm>
            <a:off x="6285780" y="4714875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17"/>
          <p:cNvSpPr>
            <a:spLocks noChangeArrowheads="1"/>
          </p:cNvSpPr>
          <p:nvPr/>
        </p:nvSpPr>
        <p:spPr bwMode="auto">
          <a:xfrm>
            <a:off x="6463461" y="4987131"/>
            <a:ext cx="2371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result either way!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Line 18"/>
          <p:cNvSpPr>
            <a:spLocks noChangeShapeType="1"/>
          </p:cNvSpPr>
          <p:nvPr/>
        </p:nvSpPr>
        <p:spPr bwMode="auto">
          <a:xfrm>
            <a:off x="4648200" y="5000625"/>
            <a:ext cx="1066800" cy="0"/>
          </a:xfrm>
          <a:prstGeom prst="line">
            <a:avLst/>
          </a:prstGeom>
          <a:noFill/>
          <a:ln w="9525">
            <a:solidFill>
              <a:srgbClr val="CA006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Line 19"/>
          <p:cNvSpPr>
            <a:spLocks noChangeShapeType="1"/>
          </p:cNvSpPr>
          <p:nvPr/>
        </p:nvSpPr>
        <p:spPr bwMode="auto">
          <a:xfrm>
            <a:off x="5334000" y="5629275"/>
            <a:ext cx="1066800" cy="0"/>
          </a:xfrm>
          <a:prstGeom prst="line">
            <a:avLst/>
          </a:prstGeom>
          <a:noFill/>
          <a:ln w="9525">
            <a:solidFill>
              <a:srgbClr val="CA006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Rectangle 20"/>
          <p:cNvSpPr>
            <a:spLocks noChangeArrowheads="1"/>
          </p:cNvSpPr>
          <p:nvPr/>
        </p:nvSpPr>
        <p:spPr bwMode="auto">
          <a:xfrm>
            <a:off x="623887" y="5896546"/>
            <a:ext cx="4352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electric field between plates is therefore: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Rectangle 21"/>
          <p:cNvSpPr>
            <a:spLocks noChangeArrowheads="1"/>
          </p:cNvSpPr>
          <p:nvPr/>
        </p:nvSpPr>
        <p:spPr bwMode="auto">
          <a:xfrm>
            <a:off x="457200" y="1608588"/>
            <a:ext cx="8197849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horizontal dimensions are assumed to be much greater than the plate separation,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electric field can be assumed to lie only in the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direction, and potential varies only with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ectangle 23"/>
          <p:cNvSpPr>
            <a:spLocks noChangeArrowheads="1"/>
          </p:cNvSpPr>
          <p:nvPr/>
        </p:nvSpPr>
        <p:spPr bwMode="auto">
          <a:xfrm>
            <a:off x="4956175" y="5791200"/>
            <a:ext cx="1295400" cy="685800"/>
          </a:xfrm>
          <a:prstGeom prst="rect">
            <a:avLst/>
          </a:prstGeom>
          <a:noFill/>
          <a:ln w="9525">
            <a:solidFill>
              <a:srgbClr val="CA0065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8E0E7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Capacitance of Parallel-Plane Capacitor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25" name="Group 18"/>
          <p:cNvGrpSpPr/>
          <p:nvPr/>
        </p:nvGrpSpPr>
        <p:grpSpPr bwMode="auto">
          <a:xfrm>
            <a:off x="919163" y="1887538"/>
            <a:ext cx="7377111" cy="4513262"/>
            <a:chOff x="339" y="1347"/>
            <a:chExt cx="4647" cy="2843"/>
          </a:xfrm>
        </p:grpSpPr>
        <p:pic>
          <p:nvPicPr>
            <p:cNvPr id="26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4" y="3072"/>
              <a:ext cx="2873" cy="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7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4" y="3852"/>
              <a:ext cx="714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35" name="Picture 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8" y="3648"/>
              <a:ext cx="1146" cy="54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grpSp>
          <p:nvGrpSpPr>
            <p:cNvPr id="36" name="Group 8"/>
            <p:cNvGrpSpPr/>
            <p:nvPr/>
          </p:nvGrpSpPr>
          <p:grpSpPr bwMode="auto">
            <a:xfrm>
              <a:off x="1392" y="1347"/>
              <a:ext cx="3399" cy="1101"/>
              <a:chOff x="1488" y="1296"/>
              <a:chExt cx="3399" cy="1101"/>
            </a:xfrm>
          </p:grpSpPr>
          <p:pic>
            <p:nvPicPr>
              <p:cNvPr id="42" name="Picture 9" descr="Figure 14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88" y="1296"/>
                <a:ext cx="1987" cy="1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4" name="Rectangle 10"/>
              <p:cNvSpPr>
                <a:spLocks noChangeArrowheads="1"/>
              </p:cNvSpPr>
              <p:nvPr/>
            </p:nvSpPr>
            <p:spPr bwMode="auto">
              <a:xfrm>
                <a:off x="3974" y="1728"/>
                <a:ext cx="91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Plate area = </a:t>
                </a:r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Line 11"/>
              <p:cNvSpPr>
                <a:spLocks noChangeShapeType="1"/>
              </p:cNvSpPr>
              <p:nvPr/>
            </p:nvSpPr>
            <p:spPr bwMode="auto">
              <a:xfrm flipH="1" flipV="1">
                <a:off x="3504" y="1392"/>
                <a:ext cx="528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Line 12"/>
              <p:cNvSpPr>
                <a:spLocks noChangeShapeType="1"/>
              </p:cNvSpPr>
              <p:nvPr/>
            </p:nvSpPr>
            <p:spPr bwMode="auto">
              <a:xfrm flipH="1">
                <a:off x="3501" y="1929"/>
                <a:ext cx="528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37" name="Picture 1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" y="2619"/>
              <a:ext cx="80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8" name="Rectangle 14"/>
            <p:cNvSpPr>
              <a:spLocks noChangeArrowheads="1"/>
            </p:cNvSpPr>
            <p:nvPr/>
          </p:nvSpPr>
          <p:spPr bwMode="auto">
            <a:xfrm>
              <a:off x="453" y="2672"/>
              <a:ext cx="6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Now with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Rectangle 15"/>
            <p:cNvSpPr>
              <a:spLocks noChangeArrowheads="1"/>
            </p:cNvSpPr>
            <p:nvPr/>
          </p:nvSpPr>
          <p:spPr bwMode="auto">
            <a:xfrm>
              <a:off x="2022" y="2665"/>
              <a:ext cx="296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voltage between plate can be found through: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Rectangle 16"/>
            <p:cNvSpPr>
              <a:spLocks noChangeArrowheads="1"/>
            </p:cNvSpPr>
            <p:nvPr/>
          </p:nvSpPr>
          <p:spPr bwMode="auto">
            <a:xfrm>
              <a:off x="339" y="3840"/>
              <a:ext cx="71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Then with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Rectangle 17"/>
            <p:cNvSpPr>
              <a:spLocks noChangeArrowheads="1"/>
            </p:cNvSpPr>
            <p:nvPr/>
          </p:nvSpPr>
          <p:spPr bwMode="auto">
            <a:xfrm>
              <a:off x="1641" y="3840"/>
              <a:ext cx="113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we finally obtain 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Energy Stored in Parallel-Plane Capacitor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42" name="Picture 9" descr="Fig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999" y="1789052"/>
            <a:ext cx="3154362" cy="174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337" y="5397050"/>
            <a:ext cx="3565525" cy="931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2" name="Group 16"/>
          <p:cNvGrpSpPr/>
          <p:nvPr/>
        </p:nvGrpSpPr>
        <p:grpSpPr bwMode="auto">
          <a:xfrm>
            <a:off x="804863" y="3803650"/>
            <a:ext cx="6846888" cy="1238250"/>
            <a:chOff x="624" y="2112"/>
            <a:chExt cx="4313" cy="780"/>
          </a:xfrm>
        </p:grpSpPr>
        <p:grpSp>
          <p:nvGrpSpPr>
            <p:cNvPr id="23" name="Group 14"/>
            <p:cNvGrpSpPr/>
            <p:nvPr/>
          </p:nvGrpSpPr>
          <p:grpSpPr bwMode="auto">
            <a:xfrm>
              <a:off x="624" y="2112"/>
              <a:ext cx="4313" cy="780"/>
              <a:chOff x="624" y="2112"/>
              <a:chExt cx="4313" cy="780"/>
            </a:xfrm>
          </p:grpSpPr>
          <p:grpSp>
            <p:nvGrpSpPr>
              <p:cNvPr id="28" name="Group 10"/>
              <p:cNvGrpSpPr/>
              <p:nvPr/>
            </p:nvGrpSpPr>
            <p:grpSpPr bwMode="auto">
              <a:xfrm>
                <a:off x="624" y="2112"/>
                <a:ext cx="4313" cy="780"/>
                <a:chOff x="624" y="2112"/>
                <a:chExt cx="4313" cy="780"/>
              </a:xfrm>
            </p:grpSpPr>
            <p:pic>
              <p:nvPicPr>
                <p:cNvPr id="31" name="Picture 3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24" y="2112"/>
                  <a:ext cx="4313" cy="49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32" name="AutoShape 6"/>
                <p:cNvSpPr/>
                <p:nvPr/>
              </p:nvSpPr>
              <p:spPr bwMode="auto">
                <a:xfrm rot="5376746">
                  <a:off x="4394" y="2524"/>
                  <a:ext cx="96" cy="220"/>
                </a:xfrm>
                <a:prstGeom prst="rightBrace">
                  <a:avLst>
                    <a:gd name="adj1" fmla="val 19097"/>
                    <a:gd name="adj2" fmla="val 50000"/>
                  </a:avLst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3" name="AutoShape 7"/>
                <p:cNvSpPr/>
                <p:nvPr/>
              </p:nvSpPr>
              <p:spPr bwMode="auto">
                <a:xfrm rot="5376746">
                  <a:off x="4709" y="2467"/>
                  <a:ext cx="96" cy="319"/>
                </a:xfrm>
                <a:prstGeom prst="rightBrace">
                  <a:avLst>
                    <a:gd name="adj1" fmla="val 27691"/>
                    <a:gd name="adj2" fmla="val 50000"/>
                  </a:avLst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" name="Rectangle 8"/>
                <p:cNvSpPr>
                  <a:spLocks noChangeArrowheads="1"/>
                </p:cNvSpPr>
                <p:nvPr/>
              </p:nvSpPr>
              <p:spPr bwMode="auto">
                <a:xfrm>
                  <a:off x="4327" y="2661"/>
                  <a:ext cx="212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800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endParaRPr lang="en-US" altLang="zh-CN" sz="1800" i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Rectangle 9"/>
                <p:cNvSpPr>
                  <a:spLocks noChangeArrowheads="1"/>
                </p:cNvSpPr>
                <p:nvPr/>
              </p:nvSpPr>
              <p:spPr bwMode="auto">
                <a:xfrm>
                  <a:off x="4628" y="2655"/>
                  <a:ext cx="30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8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zh-CN" sz="1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r>
                    <a:rPr lang="en-US" altLang="zh-CN" sz="1800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en-US" altLang="zh-CN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9" name="Rectangle 12"/>
              <p:cNvSpPr>
                <a:spLocks noChangeArrowheads="1"/>
              </p:cNvSpPr>
              <p:nvPr/>
            </p:nvSpPr>
            <p:spPr bwMode="auto">
              <a:xfrm>
                <a:off x="2349" y="2469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Rectangle 13"/>
              <p:cNvSpPr>
                <a:spLocks noChangeArrowheads="1"/>
              </p:cNvSpPr>
              <p:nvPr/>
            </p:nvSpPr>
            <p:spPr bwMode="auto">
              <a:xfrm>
                <a:off x="2424" y="211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4" name="Rectangle 15"/>
            <p:cNvSpPr>
              <a:spLocks noChangeArrowheads="1"/>
            </p:cNvSpPr>
            <p:nvPr/>
          </p:nvSpPr>
          <p:spPr bwMode="auto">
            <a:xfrm>
              <a:off x="2267" y="2466"/>
              <a:ext cx="1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Rectangle 17"/>
          <p:cNvSpPr>
            <a:spLocks noChangeArrowheads="1"/>
          </p:cNvSpPr>
          <p:nvPr/>
        </p:nvSpPr>
        <p:spPr bwMode="auto">
          <a:xfrm>
            <a:off x="804863" y="4785797"/>
            <a:ext cx="50101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ways of writing the energy: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9" name="Picture 1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068" y="2133600"/>
            <a:ext cx="2395538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0" name="Rectangle 20"/>
          <p:cNvSpPr>
            <a:spLocks noChangeArrowheads="1"/>
          </p:cNvSpPr>
          <p:nvPr/>
        </p:nvSpPr>
        <p:spPr bwMode="auto">
          <a:xfrm>
            <a:off x="804863" y="2982913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Parallel-Plane Capacitors in practical application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5" name="Picture 3" descr="C:\Users\dpcuser\Desktop\About Teaching\工程电磁场\Instructor Notes\Lecture 8\How-Capacitors-Work-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740" y="3739786"/>
            <a:ext cx="1828800" cy="2783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057400"/>
            <a:ext cx="1819275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7" name="Picture 9" descr="Figure 1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789052"/>
            <a:ext cx="3154362" cy="174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C:\Users\dpcuser\Desktop\About Teaching\工程电磁场\Instructor Notes\Lecture 8\parallel-plate-capacitor-689825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3899614"/>
            <a:ext cx="2743200" cy="1830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dpcuser\Desktop\About Teaching\工程电磁场\Instructor Notes\Lecture 8\Electric_double-layer_capacitor_(Activated_carbon_electrode_-_BOX_type)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9722" y="4082408"/>
            <a:ext cx="3030801" cy="2098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Capacitance in Coaxial Transmission Line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5" name="Group 18"/>
          <p:cNvGrpSpPr/>
          <p:nvPr/>
        </p:nvGrpSpPr>
        <p:grpSpPr bwMode="auto">
          <a:xfrm>
            <a:off x="5051425" y="1779801"/>
            <a:ext cx="2568575" cy="2447925"/>
            <a:chOff x="3518" y="1197"/>
            <a:chExt cx="1618" cy="1542"/>
          </a:xfrm>
        </p:grpSpPr>
        <p:grpSp>
          <p:nvGrpSpPr>
            <p:cNvPr id="30" name="Group 10"/>
            <p:cNvGrpSpPr/>
            <p:nvPr/>
          </p:nvGrpSpPr>
          <p:grpSpPr bwMode="auto">
            <a:xfrm>
              <a:off x="3518" y="1197"/>
              <a:ext cx="1618" cy="1347"/>
              <a:chOff x="3312" y="1101"/>
              <a:chExt cx="1618" cy="1347"/>
            </a:xfrm>
          </p:grpSpPr>
          <p:pic>
            <p:nvPicPr>
              <p:cNvPr id="36" name="Picture 3" descr="Chapter 3 Fig 5"/>
              <p:cNvPicPr>
                <a:picLocks noChangeAspect="1" noChangeArrowheads="1"/>
              </p:cNvPicPr>
              <p:nvPr/>
            </p:nvPicPr>
            <p:blipFill>
              <a:blip r:embed="rId2" cstate="print">
                <a:lum contrast="2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12" y="1101"/>
                <a:ext cx="1618" cy="13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4032" y="1680"/>
                <a:ext cx="245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" charset="2"/>
                  </a:rPr>
                  <a:t></a:t>
                </a:r>
                <a:r>
                  <a:rPr lang="en-US" altLang="zh-CN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" charset="2"/>
                </a:endParaRPr>
              </a:p>
            </p:txBody>
          </p:sp>
          <p:sp>
            <p:nvSpPr>
              <p:cNvPr id="38" name="Line 8"/>
              <p:cNvSpPr>
                <a:spLocks noChangeShapeType="1"/>
              </p:cNvSpPr>
              <p:nvPr/>
            </p:nvSpPr>
            <p:spPr bwMode="auto">
              <a:xfrm>
                <a:off x="4032" y="192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4008" y="1920"/>
                <a:ext cx="21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1" name="Line 12"/>
            <p:cNvSpPr>
              <a:spLocks noChangeShapeType="1"/>
            </p:cNvSpPr>
            <p:nvPr/>
          </p:nvSpPr>
          <p:spPr bwMode="auto">
            <a:xfrm>
              <a:off x="4224" y="2451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Line 13"/>
            <p:cNvSpPr>
              <a:spLocks noChangeShapeType="1"/>
            </p:cNvSpPr>
            <p:nvPr/>
          </p:nvSpPr>
          <p:spPr bwMode="auto">
            <a:xfrm>
              <a:off x="4947" y="214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14"/>
            <p:cNvSpPr>
              <a:spLocks noChangeArrowheads="1"/>
            </p:cNvSpPr>
            <p:nvPr/>
          </p:nvSpPr>
          <p:spPr bwMode="auto">
            <a:xfrm>
              <a:off x="4512" y="2352"/>
              <a:ext cx="1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Line 15"/>
            <p:cNvSpPr>
              <a:spLocks noChangeShapeType="1"/>
            </p:cNvSpPr>
            <p:nvPr/>
          </p:nvSpPr>
          <p:spPr bwMode="auto">
            <a:xfrm flipV="1">
              <a:off x="4671" y="2300"/>
              <a:ext cx="270" cy="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Line 16"/>
            <p:cNvSpPr>
              <a:spLocks noChangeShapeType="1"/>
            </p:cNvSpPr>
            <p:nvPr/>
          </p:nvSpPr>
          <p:spPr bwMode="auto">
            <a:xfrm flipH="1">
              <a:off x="4233" y="2484"/>
              <a:ext cx="270" cy="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Rectangle 30"/>
          <p:cNvSpPr>
            <a:spLocks noChangeArrowheads="1"/>
          </p:cNvSpPr>
          <p:nvPr/>
        </p:nvSpPr>
        <p:spPr bwMode="auto">
          <a:xfrm>
            <a:off x="6324600" y="3989601"/>
            <a:ext cx="2460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assume a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unit length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C:\Users\dpcuser\Desktop\About Teaching\工程电磁场\Instructor Notes\Lecture 8\coax-dwg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7928" y="1904697"/>
            <a:ext cx="3116162" cy="2210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C:\Users\dpcuser\Desktop\About Teaching\工程电磁场\Instructor Notes\Lecture 8\coaxial-cables-250x25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521" y="4499440"/>
            <a:ext cx="2012785" cy="2012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C:\Users\dpcuser\Desktop\About Teaching\工程电磁场\Instructor Notes\Lecture 8\481818_10151326766567321_1814271528_n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709489"/>
            <a:ext cx="2819400" cy="1686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Capacitance in Coaxial Transmission Line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571500" y="2927748"/>
            <a:ext cx="41529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=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elsewhere, assuming a hollow inner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conductor, and equal and opposite charges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inner and outer conductors.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444500" y="1735351"/>
            <a:ext cx="3887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We previously found using Gauss’ Law: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8"/>
          <p:cNvGrpSpPr/>
          <p:nvPr/>
        </p:nvGrpSpPr>
        <p:grpSpPr bwMode="auto">
          <a:xfrm>
            <a:off x="5051425" y="1779801"/>
            <a:ext cx="2568575" cy="2447925"/>
            <a:chOff x="3518" y="1197"/>
            <a:chExt cx="1618" cy="1542"/>
          </a:xfrm>
        </p:grpSpPr>
        <p:grpSp>
          <p:nvGrpSpPr>
            <p:cNvPr id="30" name="Group 10"/>
            <p:cNvGrpSpPr/>
            <p:nvPr/>
          </p:nvGrpSpPr>
          <p:grpSpPr bwMode="auto">
            <a:xfrm>
              <a:off x="3518" y="1197"/>
              <a:ext cx="1618" cy="1347"/>
              <a:chOff x="3312" y="1101"/>
              <a:chExt cx="1618" cy="1347"/>
            </a:xfrm>
          </p:grpSpPr>
          <p:pic>
            <p:nvPicPr>
              <p:cNvPr id="36" name="Picture 3" descr="Chapter 3 Fig 5"/>
              <p:cNvPicPr>
                <a:picLocks noChangeAspect="1" noChangeArrowheads="1"/>
              </p:cNvPicPr>
              <p:nvPr/>
            </p:nvPicPr>
            <p:blipFill>
              <a:blip r:embed="rId2" cstate="print">
                <a:lum contrast="2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12" y="1101"/>
                <a:ext cx="1618" cy="13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4032" y="1680"/>
                <a:ext cx="245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" charset="2"/>
                  </a:rPr>
                  <a:t></a:t>
                </a:r>
                <a:r>
                  <a:rPr lang="en-US" altLang="zh-CN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" charset="2"/>
                </a:endParaRPr>
              </a:p>
            </p:txBody>
          </p:sp>
          <p:sp>
            <p:nvSpPr>
              <p:cNvPr id="38" name="Line 8"/>
              <p:cNvSpPr>
                <a:spLocks noChangeShapeType="1"/>
              </p:cNvSpPr>
              <p:nvPr/>
            </p:nvSpPr>
            <p:spPr bwMode="auto">
              <a:xfrm>
                <a:off x="4032" y="192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4008" y="1920"/>
                <a:ext cx="21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1" name="Line 12"/>
            <p:cNvSpPr>
              <a:spLocks noChangeShapeType="1"/>
            </p:cNvSpPr>
            <p:nvPr/>
          </p:nvSpPr>
          <p:spPr bwMode="auto">
            <a:xfrm>
              <a:off x="4224" y="2451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Line 13"/>
            <p:cNvSpPr>
              <a:spLocks noChangeShapeType="1"/>
            </p:cNvSpPr>
            <p:nvPr/>
          </p:nvSpPr>
          <p:spPr bwMode="auto">
            <a:xfrm>
              <a:off x="4947" y="214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14"/>
            <p:cNvSpPr>
              <a:spLocks noChangeArrowheads="1"/>
            </p:cNvSpPr>
            <p:nvPr/>
          </p:nvSpPr>
          <p:spPr bwMode="auto">
            <a:xfrm>
              <a:off x="4512" y="2352"/>
              <a:ext cx="1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Line 15"/>
            <p:cNvSpPr>
              <a:spLocks noChangeShapeType="1"/>
            </p:cNvSpPr>
            <p:nvPr/>
          </p:nvSpPr>
          <p:spPr bwMode="auto">
            <a:xfrm flipV="1">
              <a:off x="4671" y="2300"/>
              <a:ext cx="270" cy="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Line 16"/>
            <p:cNvSpPr>
              <a:spLocks noChangeShapeType="1"/>
            </p:cNvSpPr>
            <p:nvPr/>
          </p:nvSpPr>
          <p:spPr bwMode="auto">
            <a:xfrm flipH="1">
              <a:off x="4233" y="2484"/>
              <a:ext cx="270" cy="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6" name="Picture 1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2233826"/>
            <a:ext cx="3867150" cy="61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" name="Picture 2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4489664"/>
            <a:ext cx="6334125" cy="79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8" name="Picture 2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5851739"/>
            <a:ext cx="1682750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9" name="Picture 2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818401"/>
            <a:ext cx="281622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" name="Rectangle 23"/>
          <p:cNvSpPr>
            <a:spLocks noChangeArrowheads="1"/>
          </p:cNvSpPr>
          <p:nvPr/>
        </p:nvSpPr>
        <p:spPr bwMode="auto">
          <a:xfrm>
            <a:off x="487363" y="3976901"/>
            <a:ext cx="5027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The potential difference between conductors is now: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auto">
          <a:xfrm>
            <a:off x="457200" y="5285001"/>
            <a:ext cx="5580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…and the charge on the inner conductor per unit length is: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5"/>
          <p:cNvSpPr>
            <a:spLocks noChangeArrowheads="1"/>
          </p:cNvSpPr>
          <p:nvPr/>
        </p:nvSpPr>
        <p:spPr bwMode="auto">
          <a:xfrm>
            <a:off x="3733800" y="5970801"/>
            <a:ext cx="903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Finally: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6"/>
          <p:cNvSpPr>
            <a:spLocks noChangeArrowheads="1"/>
          </p:cNvSpPr>
          <p:nvPr/>
        </p:nvSpPr>
        <p:spPr bwMode="auto">
          <a:xfrm>
            <a:off x="4648200" y="5742201"/>
            <a:ext cx="2819400" cy="838200"/>
          </a:xfrm>
          <a:prstGeom prst="rect">
            <a:avLst/>
          </a:prstGeom>
          <a:noFill/>
          <a:ln w="9525">
            <a:solidFill>
              <a:srgbClr val="CA0065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Line 27"/>
          <p:cNvSpPr>
            <a:spLocks noChangeShapeType="1"/>
          </p:cNvSpPr>
          <p:nvPr/>
        </p:nvSpPr>
        <p:spPr bwMode="auto">
          <a:xfrm>
            <a:off x="1295400" y="6275601"/>
            <a:ext cx="990600" cy="0"/>
          </a:xfrm>
          <a:prstGeom prst="line">
            <a:avLst/>
          </a:prstGeom>
          <a:noFill/>
          <a:ln w="9525">
            <a:solidFill>
              <a:srgbClr val="CA006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Line 28"/>
          <p:cNvSpPr>
            <a:spLocks noChangeShapeType="1"/>
          </p:cNvSpPr>
          <p:nvPr/>
        </p:nvSpPr>
        <p:spPr bwMode="auto">
          <a:xfrm>
            <a:off x="5486400" y="5285001"/>
            <a:ext cx="1295400" cy="0"/>
          </a:xfrm>
          <a:prstGeom prst="line">
            <a:avLst/>
          </a:prstGeom>
          <a:noFill/>
          <a:ln w="9525">
            <a:solidFill>
              <a:srgbClr val="CA006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30"/>
          <p:cNvSpPr>
            <a:spLocks noChangeArrowheads="1"/>
          </p:cNvSpPr>
          <p:nvPr/>
        </p:nvSpPr>
        <p:spPr bwMode="auto">
          <a:xfrm>
            <a:off x="6324600" y="3989601"/>
            <a:ext cx="2460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assume a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unit length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86000" y="324485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ε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6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3262" y="5147920"/>
            <a:ext cx="1507767" cy="1499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Capacitance in Spherical Capacitor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41" name="Rectangle 3"/>
          <p:cNvSpPr>
            <a:spLocks noChangeArrowheads="1"/>
          </p:cNvSpPr>
          <p:nvPr/>
        </p:nvSpPr>
        <p:spPr bwMode="auto">
          <a:xfrm>
            <a:off x="533400" y="1676400"/>
            <a:ext cx="66055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two concentric spherical conductors, having radii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 and opposite charges,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are on the inner and outer conductors.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2" name="Group 18"/>
          <p:cNvGrpSpPr/>
          <p:nvPr/>
        </p:nvGrpSpPr>
        <p:grpSpPr bwMode="auto">
          <a:xfrm>
            <a:off x="6840492" y="2075656"/>
            <a:ext cx="2179638" cy="1676400"/>
            <a:chOff x="3637" y="1587"/>
            <a:chExt cx="1373" cy="1056"/>
          </a:xfrm>
        </p:grpSpPr>
        <p:grpSp>
          <p:nvGrpSpPr>
            <p:cNvPr id="58" name="Group 11"/>
            <p:cNvGrpSpPr/>
            <p:nvPr/>
          </p:nvGrpSpPr>
          <p:grpSpPr bwMode="auto">
            <a:xfrm>
              <a:off x="3645" y="1587"/>
              <a:ext cx="1056" cy="1056"/>
              <a:chOff x="3645" y="1587"/>
              <a:chExt cx="1056" cy="1056"/>
            </a:xfrm>
          </p:grpSpPr>
          <p:sp>
            <p:nvSpPr>
              <p:cNvPr id="65" name="Oval 4"/>
              <p:cNvSpPr>
                <a:spLocks noChangeArrowheads="1"/>
              </p:cNvSpPr>
              <p:nvPr/>
            </p:nvSpPr>
            <p:spPr bwMode="auto">
              <a:xfrm>
                <a:off x="3939" y="1872"/>
                <a:ext cx="480" cy="480"/>
              </a:xfrm>
              <a:prstGeom prst="ellipse">
                <a:avLst/>
              </a:prstGeom>
              <a:solidFill>
                <a:srgbClr val="FEA0C7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Oval 5"/>
              <p:cNvSpPr>
                <a:spLocks noChangeArrowheads="1"/>
              </p:cNvSpPr>
              <p:nvPr/>
            </p:nvSpPr>
            <p:spPr bwMode="auto">
              <a:xfrm>
                <a:off x="3645" y="1587"/>
                <a:ext cx="1056" cy="105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Line 7"/>
              <p:cNvSpPr>
                <a:spLocks noChangeShapeType="1"/>
              </p:cNvSpPr>
              <p:nvPr/>
            </p:nvSpPr>
            <p:spPr bwMode="auto">
              <a:xfrm flipV="1">
                <a:off x="4184" y="2114"/>
                <a:ext cx="228" cy="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Line 8"/>
              <p:cNvSpPr>
                <a:spLocks noChangeShapeType="1"/>
              </p:cNvSpPr>
              <p:nvPr/>
            </p:nvSpPr>
            <p:spPr bwMode="auto">
              <a:xfrm>
                <a:off x="4180" y="2117"/>
                <a:ext cx="314" cy="4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Rectangle 9"/>
              <p:cNvSpPr>
                <a:spLocks noChangeArrowheads="1"/>
              </p:cNvSpPr>
              <p:nvPr/>
            </p:nvSpPr>
            <p:spPr bwMode="auto">
              <a:xfrm>
                <a:off x="4185" y="1929"/>
                <a:ext cx="18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Rectangle 10"/>
              <p:cNvSpPr>
                <a:spLocks noChangeArrowheads="1"/>
              </p:cNvSpPr>
              <p:nvPr/>
            </p:nvSpPr>
            <p:spPr bwMode="auto">
              <a:xfrm>
                <a:off x="4355" y="2241"/>
                <a:ext cx="18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9" name="Rectangle 12"/>
            <p:cNvSpPr>
              <a:spLocks noChangeArrowheads="1"/>
            </p:cNvSpPr>
            <p:nvPr/>
          </p:nvSpPr>
          <p:spPr bwMode="auto">
            <a:xfrm>
              <a:off x="3984" y="2016"/>
              <a:ext cx="22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Line 13"/>
            <p:cNvSpPr>
              <a:spLocks noChangeShapeType="1"/>
            </p:cNvSpPr>
            <p:nvPr/>
          </p:nvSpPr>
          <p:spPr bwMode="auto">
            <a:xfrm flipH="1">
              <a:off x="3637" y="2118"/>
              <a:ext cx="299" cy="0"/>
            </a:xfrm>
            <a:prstGeom prst="line">
              <a:avLst/>
            </a:prstGeom>
            <a:noFill/>
            <a:ln w="19050">
              <a:solidFill>
                <a:srgbClr val="5C3CFE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Rectangle 14"/>
            <p:cNvSpPr>
              <a:spLocks noChangeArrowheads="1"/>
            </p:cNvSpPr>
            <p:nvPr/>
          </p:nvSpPr>
          <p:spPr bwMode="auto">
            <a:xfrm>
              <a:off x="3717" y="1935"/>
              <a:ext cx="21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Rectangle 15"/>
            <p:cNvSpPr>
              <a:spLocks noChangeArrowheads="1"/>
            </p:cNvSpPr>
            <p:nvPr/>
          </p:nvSpPr>
          <p:spPr bwMode="auto">
            <a:xfrm>
              <a:off x="4740" y="2007"/>
              <a:ext cx="27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Line 16"/>
            <p:cNvSpPr>
              <a:spLocks noChangeShapeType="1"/>
            </p:cNvSpPr>
            <p:nvPr/>
          </p:nvSpPr>
          <p:spPr bwMode="auto">
            <a:xfrm flipH="1" flipV="1">
              <a:off x="4695" y="1998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Line 17"/>
            <p:cNvSpPr>
              <a:spLocks noChangeShapeType="1"/>
            </p:cNvSpPr>
            <p:nvPr/>
          </p:nvSpPr>
          <p:spPr bwMode="auto">
            <a:xfrm flipH="1">
              <a:off x="4698" y="2181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4" name="Rectangle 19"/>
          <p:cNvSpPr>
            <a:spLocks noChangeArrowheads="1"/>
          </p:cNvSpPr>
          <p:nvPr/>
        </p:nvSpPr>
        <p:spPr bwMode="auto">
          <a:xfrm>
            <a:off x="568325" y="2325687"/>
            <a:ext cx="56181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Gauss’ Law tells us that electric field will exist only in the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between spheres, and will be given by: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" name="Picture 2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825" y="2971800"/>
            <a:ext cx="2486025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6" name="Picture 2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061" y="4038600"/>
            <a:ext cx="6481763" cy="785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7" name="Picture 2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495925"/>
            <a:ext cx="2824163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8" name="Picture 2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52" y="5562600"/>
            <a:ext cx="1169988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9" name="Rectangle 25"/>
          <p:cNvSpPr>
            <a:spLocks noChangeArrowheads="1"/>
          </p:cNvSpPr>
          <p:nvPr/>
        </p:nvSpPr>
        <p:spPr bwMode="auto">
          <a:xfrm>
            <a:off x="609600" y="3646039"/>
            <a:ext cx="6162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potential difference between inner and outer spheres is then: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Line 26"/>
          <p:cNvSpPr>
            <a:spLocks noChangeShapeType="1"/>
          </p:cNvSpPr>
          <p:nvPr/>
        </p:nvSpPr>
        <p:spPr bwMode="auto">
          <a:xfrm>
            <a:off x="6234861" y="4800600"/>
            <a:ext cx="1524000" cy="0"/>
          </a:xfrm>
          <a:prstGeom prst="line">
            <a:avLst/>
          </a:prstGeom>
          <a:noFill/>
          <a:ln w="9525">
            <a:solidFill>
              <a:srgbClr val="CA006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27"/>
          <p:cNvSpPr>
            <a:spLocks noChangeArrowheads="1"/>
          </p:cNvSpPr>
          <p:nvPr/>
        </p:nvSpPr>
        <p:spPr bwMode="auto">
          <a:xfrm>
            <a:off x="704850" y="4824413"/>
            <a:ext cx="2268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and the capacitance is: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28"/>
          <p:cNvSpPr>
            <a:spLocks noChangeArrowheads="1"/>
          </p:cNvSpPr>
          <p:nvPr/>
        </p:nvSpPr>
        <p:spPr bwMode="auto">
          <a:xfrm>
            <a:off x="762000" y="5334000"/>
            <a:ext cx="2895600" cy="990600"/>
          </a:xfrm>
          <a:prstGeom prst="rect">
            <a:avLst/>
          </a:prstGeom>
          <a:noFill/>
          <a:ln w="9525">
            <a:solidFill>
              <a:srgbClr val="CA0065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3" name="Group 31"/>
          <p:cNvGrpSpPr/>
          <p:nvPr/>
        </p:nvGrpSpPr>
        <p:grpSpPr bwMode="auto">
          <a:xfrm>
            <a:off x="3717102" y="5009357"/>
            <a:ext cx="3676650" cy="393700"/>
            <a:chOff x="2798" y="3537"/>
            <a:chExt cx="2316" cy="248"/>
          </a:xfrm>
        </p:grpSpPr>
        <p:pic>
          <p:nvPicPr>
            <p:cNvPr id="55" name="Picture 23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4" y="3552"/>
              <a:ext cx="489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6" name="Rectangle 29"/>
            <p:cNvSpPr>
              <a:spLocks noChangeArrowheads="1"/>
            </p:cNvSpPr>
            <p:nvPr/>
          </p:nvSpPr>
          <p:spPr bwMode="auto">
            <a:xfrm>
              <a:off x="2798" y="3537"/>
              <a:ext cx="100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Note that as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Rectangle 30"/>
            <p:cNvSpPr>
              <a:spLocks noChangeArrowheads="1"/>
            </p:cNvSpPr>
            <p:nvPr/>
          </p:nvSpPr>
          <p:spPr bwMode="auto">
            <a:xfrm>
              <a:off x="4032" y="3552"/>
              <a:ext cx="108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(isolated sphere)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4" name="Line 32"/>
          <p:cNvSpPr>
            <a:spLocks noChangeShapeType="1"/>
          </p:cNvSpPr>
          <p:nvPr/>
        </p:nvSpPr>
        <p:spPr bwMode="auto">
          <a:xfrm>
            <a:off x="5087952" y="5867400"/>
            <a:ext cx="1143000" cy="0"/>
          </a:xfrm>
          <a:prstGeom prst="line">
            <a:avLst/>
          </a:prstGeom>
          <a:noFill/>
          <a:ln w="9525">
            <a:solidFill>
              <a:srgbClr val="CA006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49680" y="5955268"/>
            <a:ext cx="2922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earth is a huge capacitor!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Capacitance in Isolated Sphere with a Dielectric Coating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39" name="Group 18"/>
          <p:cNvGrpSpPr/>
          <p:nvPr/>
        </p:nvGrpSpPr>
        <p:grpSpPr bwMode="auto">
          <a:xfrm>
            <a:off x="304800" y="1981200"/>
            <a:ext cx="3394075" cy="2133600"/>
            <a:chOff x="579" y="1200"/>
            <a:chExt cx="2138" cy="1344"/>
          </a:xfrm>
        </p:grpSpPr>
        <p:sp>
          <p:nvSpPr>
            <p:cNvPr id="82" name="Oval 5" descr="20%"/>
            <p:cNvSpPr>
              <a:spLocks noChangeArrowheads="1"/>
            </p:cNvSpPr>
            <p:nvPr/>
          </p:nvSpPr>
          <p:spPr bwMode="auto">
            <a:xfrm>
              <a:off x="579" y="1296"/>
              <a:ext cx="1248" cy="1248"/>
            </a:xfrm>
            <a:prstGeom prst="ellipse">
              <a:avLst/>
            </a:prstGeom>
            <a:pattFill prst="pct20">
              <a:fgClr>
                <a:srgbClr val="FEA0C7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Oval 4"/>
            <p:cNvSpPr>
              <a:spLocks noChangeArrowheads="1"/>
            </p:cNvSpPr>
            <p:nvPr/>
          </p:nvSpPr>
          <p:spPr bwMode="auto">
            <a:xfrm>
              <a:off x="771" y="1488"/>
              <a:ext cx="864" cy="864"/>
            </a:xfrm>
            <a:prstGeom prst="ellipse">
              <a:avLst/>
            </a:prstGeom>
            <a:solidFill>
              <a:srgbClr val="FEA0C7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Line 7"/>
            <p:cNvSpPr>
              <a:spLocks noChangeShapeType="1"/>
            </p:cNvSpPr>
            <p:nvPr/>
          </p:nvSpPr>
          <p:spPr bwMode="auto">
            <a:xfrm flipV="1">
              <a:off x="1215" y="1636"/>
              <a:ext cx="309" cy="3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Rectangle 8"/>
            <p:cNvSpPr>
              <a:spLocks noChangeArrowheads="1"/>
            </p:cNvSpPr>
            <p:nvPr/>
          </p:nvSpPr>
          <p:spPr bwMode="auto">
            <a:xfrm>
              <a:off x="1203" y="1632"/>
              <a:ext cx="1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Line 9"/>
            <p:cNvSpPr>
              <a:spLocks noChangeShapeType="1"/>
            </p:cNvSpPr>
            <p:nvPr/>
          </p:nvSpPr>
          <p:spPr bwMode="auto">
            <a:xfrm>
              <a:off x="1215" y="1940"/>
              <a:ext cx="314" cy="5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Rectangle 10"/>
            <p:cNvSpPr>
              <a:spLocks noChangeArrowheads="1"/>
            </p:cNvSpPr>
            <p:nvPr/>
          </p:nvSpPr>
          <p:spPr bwMode="auto">
            <a:xfrm>
              <a:off x="1209" y="2103"/>
              <a:ext cx="22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Line 11"/>
            <p:cNvSpPr>
              <a:spLocks noChangeShapeType="1"/>
            </p:cNvSpPr>
            <p:nvPr/>
          </p:nvSpPr>
          <p:spPr bwMode="auto">
            <a:xfrm>
              <a:off x="1635" y="1929"/>
              <a:ext cx="192" cy="0"/>
            </a:xfrm>
            <a:prstGeom prst="line">
              <a:avLst/>
            </a:prstGeom>
            <a:noFill/>
            <a:ln w="19050">
              <a:solidFill>
                <a:srgbClr val="5C3CFE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Line 12"/>
            <p:cNvSpPr>
              <a:spLocks noChangeShapeType="1"/>
            </p:cNvSpPr>
            <p:nvPr/>
          </p:nvSpPr>
          <p:spPr bwMode="auto">
            <a:xfrm>
              <a:off x="1831" y="1934"/>
              <a:ext cx="886" cy="0"/>
            </a:xfrm>
            <a:prstGeom prst="line">
              <a:avLst/>
            </a:prstGeom>
            <a:noFill/>
            <a:ln w="19050">
              <a:solidFill>
                <a:srgbClr val="8908FF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Rectangle 13"/>
            <p:cNvSpPr>
              <a:spLocks noChangeArrowheads="1"/>
            </p:cNvSpPr>
            <p:nvPr/>
          </p:nvSpPr>
          <p:spPr bwMode="auto">
            <a:xfrm>
              <a:off x="1609" y="1680"/>
              <a:ext cx="26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Rectangle 14"/>
            <p:cNvSpPr>
              <a:spLocks noChangeArrowheads="1"/>
            </p:cNvSpPr>
            <p:nvPr/>
          </p:nvSpPr>
          <p:spPr bwMode="auto">
            <a:xfrm>
              <a:off x="2125" y="1680"/>
              <a:ext cx="26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Rectangle 16"/>
            <p:cNvSpPr>
              <a:spLocks noChangeArrowheads="1"/>
            </p:cNvSpPr>
            <p:nvPr/>
          </p:nvSpPr>
          <p:spPr bwMode="auto">
            <a:xfrm>
              <a:off x="1344" y="1344"/>
              <a:ext cx="22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" charset="2"/>
                </a:rPr>
                <a:t></a:t>
              </a:r>
              <a:r>
                <a:rPr lang="en-US" altLang="zh-CN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" charset="2"/>
                </a:rPr>
                <a:t>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endParaRPr>
            </a:p>
          </p:txBody>
        </p:sp>
        <p:sp>
          <p:nvSpPr>
            <p:cNvPr id="93" name="Rectangle 17"/>
            <p:cNvSpPr>
              <a:spLocks noChangeArrowheads="1"/>
            </p:cNvSpPr>
            <p:nvPr/>
          </p:nvSpPr>
          <p:spPr bwMode="auto">
            <a:xfrm>
              <a:off x="1527" y="1200"/>
              <a:ext cx="22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" charset="2"/>
                </a:rPr>
                <a:t></a:t>
              </a:r>
              <a:r>
                <a:rPr lang="en-US" altLang="zh-CN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" charset="2"/>
                </a:rPr>
                <a:t>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endParaRPr>
            </a:p>
          </p:txBody>
        </p:sp>
      </p:grpSp>
      <p:sp>
        <p:nvSpPr>
          <p:cNvPr id="40" name="Rectangle 19"/>
          <p:cNvSpPr>
            <a:spLocks noChangeArrowheads="1"/>
          </p:cNvSpPr>
          <p:nvPr/>
        </p:nvSpPr>
        <p:spPr bwMode="auto">
          <a:xfrm>
            <a:off x="833438" y="2895600"/>
            <a:ext cx="35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Rectangle 20"/>
          <p:cNvSpPr>
            <a:spLocks noChangeArrowheads="1"/>
          </p:cNvSpPr>
          <p:nvPr/>
        </p:nvSpPr>
        <p:spPr bwMode="auto">
          <a:xfrm>
            <a:off x="3429000" y="1695271"/>
            <a:ext cx="549116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conducting sphere of radius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carries charge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dielectric layer of thickness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of permittivity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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surrounds the conductor.  Electric field in the two regions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found from Gauss’ Law to be: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Picture 2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3838" y="2971800"/>
            <a:ext cx="2979738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4" name="Rectangle 22"/>
          <p:cNvSpPr>
            <a:spLocks noChangeArrowheads="1"/>
          </p:cNvSpPr>
          <p:nvPr/>
        </p:nvSpPr>
        <p:spPr bwMode="auto">
          <a:xfrm>
            <a:off x="441325" y="4343400"/>
            <a:ext cx="65897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The potential at the sphere surface is (with zero reference at infinity):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5" name="Picture 2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0" y="5638800"/>
            <a:ext cx="2660650" cy="91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76" name="Group 27"/>
          <p:cNvGrpSpPr/>
          <p:nvPr/>
        </p:nvGrpSpPr>
        <p:grpSpPr bwMode="auto">
          <a:xfrm>
            <a:off x="969962" y="4800600"/>
            <a:ext cx="7183438" cy="712788"/>
            <a:chOff x="624" y="3120"/>
            <a:chExt cx="4525" cy="449"/>
          </a:xfrm>
        </p:grpSpPr>
        <p:pic>
          <p:nvPicPr>
            <p:cNvPr id="79" name="Picture 2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3120"/>
              <a:ext cx="2332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80" name="Picture 24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0" y="3123"/>
              <a:ext cx="1774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1" name="Rectangle 26"/>
            <p:cNvSpPr>
              <a:spLocks noChangeArrowheads="1"/>
            </p:cNvSpPr>
            <p:nvPr/>
          </p:nvSpPr>
          <p:spPr bwMode="auto">
            <a:xfrm>
              <a:off x="4749" y="3206"/>
              <a:ext cx="4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7" name="Rectangle 28"/>
          <p:cNvSpPr>
            <a:spLocks noChangeArrowheads="1"/>
          </p:cNvSpPr>
          <p:nvPr/>
        </p:nvSpPr>
        <p:spPr bwMode="auto">
          <a:xfrm>
            <a:off x="487363" y="5826125"/>
            <a:ext cx="2268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and the capacitance is: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29"/>
          <p:cNvSpPr>
            <a:spLocks noChangeArrowheads="1"/>
          </p:cNvSpPr>
          <p:nvPr/>
        </p:nvSpPr>
        <p:spPr bwMode="auto">
          <a:xfrm>
            <a:off x="2819400" y="5640387"/>
            <a:ext cx="2667000" cy="989013"/>
          </a:xfrm>
          <a:prstGeom prst="rect">
            <a:avLst/>
          </a:prstGeom>
          <a:noFill/>
          <a:ln w="9525">
            <a:solidFill>
              <a:srgbClr val="CA0065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EA0C7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Capacitor with a Two-Layer Dielectric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32" name="Group 29"/>
          <p:cNvGrpSpPr/>
          <p:nvPr/>
        </p:nvGrpSpPr>
        <p:grpSpPr bwMode="auto">
          <a:xfrm>
            <a:off x="3430465" y="3333709"/>
            <a:ext cx="5294435" cy="1915600"/>
            <a:chOff x="1920" y="2160"/>
            <a:chExt cx="3744" cy="1350"/>
          </a:xfrm>
        </p:grpSpPr>
        <p:grpSp>
          <p:nvGrpSpPr>
            <p:cNvPr id="49" name="Group 11"/>
            <p:cNvGrpSpPr/>
            <p:nvPr/>
          </p:nvGrpSpPr>
          <p:grpSpPr bwMode="auto">
            <a:xfrm>
              <a:off x="1920" y="2160"/>
              <a:ext cx="3744" cy="1349"/>
              <a:chOff x="2688" y="960"/>
              <a:chExt cx="3744" cy="1349"/>
            </a:xfrm>
          </p:grpSpPr>
          <p:pic>
            <p:nvPicPr>
              <p:cNvPr id="59" name="Picture 2" descr="Figure 1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4" y="1000"/>
                <a:ext cx="3648" cy="13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0" name="Rectangle 10"/>
              <p:cNvSpPr>
                <a:spLocks noChangeArrowheads="1"/>
              </p:cNvSpPr>
              <p:nvPr/>
            </p:nvSpPr>
            <p:spPr bwMode="auto">
              <a:xfrm>
                <a:off x="2688" y="960"/>
                <a:ext cx="1008" cy="5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0" name="Line 12"/>
            <p:cNvSpPr>
              <a:spLocks noChangeShapeType="1"/>
            </p:cNvSpPr>
            <p:nvPr/>
          </p:nvSpPr>
          <p:spPr bwMode="auto">
            <a:xfrm flipV="1">
              <a:off x="3936" y="2748"/>
              <a:ext cx="0" cy="432"/>
            </a:xfrm>
            <a:prstGeom prst="line">
              <a:avLst/>
            </a:prstGeom>
            <a:noFill/>
            <a:ln w="19050">
              <a:solidFill>
                <a:srgbClr val="CA0065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Line 13"/>
            <p:cNvSpPr>
              <a:spLocks noChangeShapeType="1"/>
            </p:cNvSpPr>
            <p:nvPr/>
          </p:nvSpPr>
          <p:spPr bwMode="auto">
            <a:xfrm flipH="1" flipV="1">
              <a:off x="3932" y="3168"/>
              <a:ext cx="4" cy="296"/>
            </a:xfrm>
            <a:prstGeom prst="line">
              <a:avLst/>
            </a:prstGeom>
            <a:noFill/>
            <a:ln w="19050">
              <a:solidFill>
                <a:srgbClr val="CA0065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Rectangle 14"/>
            <p:cNvSpPr>
              <a:spLocks noChangeArrowheads="1"/>
            </p:cNvSpPr>
            <p:nvPr/>
          </p:nvSpPr>
          <p:spPr bwMode="auto">
            <a:xfrm>
              <a:off x="3908" y="2880"/>
              <a:ext cx="2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Rectangle 15"/>
            <p:cNvSpPr>
              <a:spLocks noChangeArrowheads="1"/>
            </p:cNvSpPr>
            <p:nvPr/>
          </p:nvSpPr>
          <p:spPr bwMode="auto">
            <a:xfrm>
              <a:off x="3908" y="3216"/>
              <a:ext cx="2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Line 17"/>
            <p:cNvSpPr>
              <a:spLocks noChangeShapeType="1"/>
            </p:cNvSpPr>
            <p:nvPr/>
          </p:nvSpPr>
          <p:spPr bwMode="auto">
            <a:xfrm flipV="1">
              <a:off x="3482" y="2757"/>
              <a:ext cx="0" cy="432"/>
            </a:xfrm>
            <a:prstGeom prst="line">
              <a:avLst/>
            </a:prstGeom>
            <a:noFill/>
            <a:ln w="19050">
              <a:solidFill>
                <a:srgbClr val="863EFF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Line 18"/>
            <p:cNvSpPr>
              <a:spLocks noChangeShapeType="1"/>
            </p:cNvSpPr>
            <p:nvPr/>
          </p:nvSpPr>
          <p:spPr bwMode="auto">
            <a:xfrm flipH="1" flipV="1">
              <a:off x="3478" y="3171"/>
              <a:ext cx="4" cy="296"/>
            </a:xfrm>
            <a:prstGeom prst="line">
              <a:avLst/>
            </a:prstGeom>
            <a:noFill/>
            <a:ln w="19050">
              <a:solidFill>
                <a:srgbClr val="863EFF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Rectangle 19"/>
            <p:cNvSpPr>
              <a:spLocks noChangeArrowheads="1"/>
            </p:cNvSpPr>
            <p:nvPr/>
          </p:nvSpPr>
          <p:spPr bwMode="auto">
            <a:xfrm>
              <a:off x="3051" y="3192"/>
              <a:ext cx="33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Rectangle 20"/>
            <p:cNvSpPr>
              <a:spLocks noChangeArrowheads="1"/>
            </p:cNvSpPr>
            <p:nvPr/>
          </p:nvSpPr>
          <p:spPr bwMode="auto">
            <a:xfrm>
              <a:off x="3040" y="2866"/>
              <a:ext cx="33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Rectangle 28"/>
            <p:cNvSpPr>
              <a:spLocks noChangeArrowheads="1"/>
            </p:cNvSpPr>
            <p:nvPr/>
          </p:nvSpPr>
          <p:spPr bwMode="auto">
            <a:xfrm>
              <a:off x="1968" y="2598"/>
              <a:ext cx="1104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3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656" y="2380396"/>
            <a:ext cx="1106487" cy="28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4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194" y="2380396"/>
            <a:ext cx="1196975" cy="255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5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872" y="2825211"/>
            <a:ext cx="1800225" cy="26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6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920" y="3189006"/>
            <a:ext cx="2084387" cy="61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7" name="Picture 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00" y="4464589"/>
            <a:ext cx="2741612" cy="841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8" name="Picture 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652" y="5636958"/>
            <a:ext cx="4159250" cy="950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1" name="Rectangle 22"/>
          <p:cNvSpPr>
            <a:spLocks noChangeArrowheads="1"/>
          </p:cNvSpPr>
          <p:nvPr/>
        </p:nvSpPr>
        <p:spPr bwMode="auto">
          <a:xfrm>
            <a:off x="291801" y="1640427"/>
            <a:ext cx="8547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case, we use the fact that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to an interface between two dielectrics will be continuous across the boundary, 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assuming no surface charge is present there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23"/>
          <p:cNvSpPr>
            <a:spLocks noChangeArrowheads="1"/>
          </p:cNvSpPr>
          <p:nvPr/>
        </p:nvSpPr>
        <p:spPr bwMode="auto">
          <a:xfrm>
            <a:off x="304800" y="2297113"/>
            <a:ext cx="7032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Thus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24"/>
          <p:cNvSpPr>
            <a:spLocks noChangeArrowheads="1"/>
          </p:cNvSpPr>
          <p:nvPr/>
        </p:nvSpPr>
        <p:spPr bwMode="auto">
          <a:xfrm>
            <a:off x="2036762" y="2297113"/>
            <a:ext cx="1473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and therefore: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25"/>
          <p:cNvSpPr>
            <a:spLocks noChangeArrowheads="1"/>
          </p:cNvSpPr>
          <p:nvPr/>
        </p:nvSpPr>
        <p:spPr bwMode="auto">
          <a:xfrm>
            <a:off x="304800" y="2754313"/>
            <a:ext cx="60340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The potential difference between bottom and top plates will be: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26"/>
          <p:cNvSpPr>
            <a:spLocks noChangeArrowheads="1"/>
          </p:cNvSpPr>
          <p:nvPr/>
        </p:nvSpPr>
        <p:spPr bwMode="auto">
          <a:xfrm>
            <a:off x="361650" y="3287713"/>
            <a:ext cx="1698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..which leads to: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27"/>
          <p:cNvSpPr>
            <a:spLocks noChangeArrowheads="1"/>
          </p:cNvSpPr>
          <p:nvPr/>
        </p:nvSpPr>
        <p:spPr bwMode="auto">
          <a:xfrm>
            <a:off x="201312" y="4010564"/>
            <a:ext cx="4572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The surface charge density on the bottom plate: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30"/>
          <p:cNvSpPr>
            <a:spLocks noChangeArrowheads="1"/>
          </p:cNvSpPr>
          <p:nvPr/>
        </p:nvSpPr>
        <p:spPr bwMode="auto">
          <a:xfrm>
            <a:off x="155275" y="5742527"/>
            <a:ext cx="2409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The capacitance is then: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Capacitors in a Series / Parallel Connection</a:t>
            </a:r>
            <a:endParaRPr lang="zh-CN" altLang="en-US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170" name="Picture 2" descr="C:\Users\dpcuser\Desktop\About Teaching\工程电磁场\Instructor Notes\Lecture 8\cap7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932" y="1961784"/>
            <a:ext cx="3867150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C:\Users\dpcuser\Desktop\About Teaching\工程电磁场\Instructor Notes\Lecture 8\cap8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21" y="2047508"/>
            <a:ext cx="42672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325914" y="3988612"/>
                <a:ext cx="1965603" cy="6144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zh-C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zh-CN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a:rPr lang="en-US" altLang="zh-CN" b="0" i="1" baseline="-25000" smtClean="0">
                              <a:latin typeface="Cambria Math" panose="02040503050406030204"/>
                            </a:rPr>
                            <m:t>1</m:t>
                          </m:r>
                        </m:den>
                      </m:f>
                      <m:r>
                        <a:rPr lang="en-US" altLang="zh-CN" b="0" i="0" smtClean="0">
                          <a:latin typeface="Cambria Math" panose="02040503050406030204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zh-C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a:rPr lang="en-US" altLang="zh-CN" b="0" i="1" baseline="-25000" smtClean="0">
                              <a:latin typeface="Cambria Math" panose="02040503050406030204"/>
                            </a:rPr>
                            <m:t>2</m:t>
                          </m:r>
                        </m:den>
                      </m:f>
                      <m:r>
                        <a:rPr lang="en-US" altLang="zh-CN">
                          <a:latin typeface="Cambria Math" panose="02040503050406030204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zh-C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a:rPr lang="en-US" altLang="zh-CN" b="0" i="1" baseline="-25000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914" y="3988612"/>
                <a:ext cx="1965603" cy="614464"/>
              </a:xfrm>
              <a:prstGeom prst="rect">
                <a:avLst/>
              </a:prstGeom>
              <a:blipFill rotWithShape="1">
                <a:blip r:embed="rId4"/>
                <a:stretch>
                  <a:fillRect l="-2" t="-29" r="16" b="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TextBox 95"/>
              <p:cNvSpPr txBox="1"/>
              <p:nvPr/>
            </p:nvSpPr>
            <p:spPr>
              <a:xfrm>
                <a:off x="6263980" y="4012887"/>
                <a:ext cx="1459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=C</a:t>
                </a:r>
                <a:r>
                  <a:rPr lang="en-US" altLang="zh-CN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+C</a:t>
                </a:r>
                <a:r>
                  <a:rPr lang="en-US" altLang="zh-CN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+C</a:t>
                </a:r>
                <a:r>
                  <a:rPr lang="en-US" altLang="zh-CN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3980" y="4012887"/>
                <a:ext cx="1459054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3" t="-87" r="11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7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5257800"/>
            <a:ext cx="1819275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8" name="Picture 9" descr="Figure 1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027" y="4757199"/>
            <a:ext cx="3154362" cy="174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Figure 16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8237" y="4222153"/>
            <a:ext cx="3893363" cy="2300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Capacitance in Two-Wire Transmission Line</a:t>
            </a:r>
            <a:endParaRPr lang="zh-CN" altLang="en-US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8194" name="Picture 2" descr="C:\Users\dpcuser\Desktop\About Teaching\工程电磁场\Instructor Notes\Lecture 8\image0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81200"/>
            <a:ext cx="3556397" cy="1760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5" name="Picture 3" descr="C:\Users\dpcuser\Desktop\About Teaching\工程电磁场\Instructor Notes\Lecture 8\transmissionlin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049759"/>
            <a:ext cx="2536856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C:\Users\dpcuser\Desktop\About Teaching\工程电磁场\Instructor Notes\Lecture 8\onecore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2258" y="1726288"/>
            <a:ext cx="2016942" cy="2231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7" name="Picture 5" descr="C:\Users\dpcuser\Desktop\About Teaching\工程电磁场\Instructor Notes\Lecture 8\捕获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50294" y="3832551"/>
            <a:ext cx="2865408" cy="287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20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Potential difference in a line charge field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2180119"/>
            <a:ext cx="256857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9" name="Picture 5" descr="Chapter 4 Fig 2"/>
          <p:cNvPicPr>
            <a:picLocks noChangeAspect="1" noChangeArrowheads="1"/>
          </p:cNvPicPr>
          <p:nvPr/>
        </p:nvPicPr>
        <p:blipFill>
          <a:blip r:embed="rId3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071" y="1931988"/>
            <a:ext cx="7294563" cy="326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952500" y="1748407"/>
            <a:ext cx="4191000" cy="403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" name="Group 12"/>
          <p:cNvGrpSpPr/>
          <p:nvPr/>
        </p:nvGrpSpPr>
        <p:grpSpPr bwMode="auto">
          <a:xfrm>
            <a:off x="457200" y="2472219"/>
            <a:ext cx="5302250" cy="1485900"/>
            <a:chOff x="260" y="1872"/>
            <a:chExt cx="3340" cy="936"/>
          </a:xfrm>
        </p:grpSpPr>
        <p:pic>
          <p:nvPicPr>
            <p:cNvPr id="24" name="Picture 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" y="1872"/>
              <a:ext cx="3340" cy="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5" name="Picture 1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3" y="2433"/>
              <a:ext cx="1140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4" name="圆角矩形 3"/>
          <p:cNvSpPr/>
          <p:nvPr/>
        </p:nvSpPr>
        <p:spPr>
          <a:xfrm>
            <a:off x="6248400" y="4724400"/>
            <a:ext cx="609600" cy="4572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738" y="4915619"/>
            <a:ext cx="6120442" cy="1038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Capacitance in Two-Wire Transmission Line</a:t>
            </a:r>
            <a:endParaRPr lang="zh-CN" altLang="en-US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2" name="Picture 2" descr="Fig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3597275"/>
            <a:ext cx="4616450" cy="272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8389" y="1717586"/>
            <a:ext cx="1554163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619125" y="1752600"/>
            <a:ext cx="49895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We begin with the potential field of a single line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charge on the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axis, with a zero reference at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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325" y="3276600"/>
            <a:ext cx="4278313" cy="59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588963" y="2587625"/>
            <a:ext cx="74993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use this result to write the potential at point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two line charges of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opposite sign, positioned as shown: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Capacitance in Two-Wire Transmission Line</a:t>
            </a:r>
            <a:endParaRPr lang="zh-CN" altLang="en-US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8" name="Picture 4" descr="Fig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673475"/>
            <a:ext cx="4616450" cy="272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093" y="1759759"/>
            <a:ext cx="3884613" cy="54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" name="Picture 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13" y="2514600"/>
            <a:ext cx="6846888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1162050" y="1836738"/>
            <a:ext cx="15001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We now have: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1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298825"/>
            <a:ext cx="478155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19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Capacitance in Two-Wire Transmission Line</a:t>
            </a:r>
            <a:endParaRPr lang="zh-CN" altLang="en-US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1162050" y="1836738"/>
            <a:ext cx="14998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We now have: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600200"/>
            <a:ext cx="478155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3" y="2978150"/>
            <a:ext cx="15176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58609" y="2332726"/>
            <a:ext cx="85690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an equipotential surface on which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= V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define the dimensionless parameter: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1865313" y="2983468"/>
            <a:ext cx="24801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which we identify: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9207" y="2847975"/>
            <a:ext cx="2047875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3" name="Picture 1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120333"/>
            <a:ext cx="28797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4" name="Picture 1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50" y="5053013"/>
            <a:ext cx="3775075" cy="766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6" name="Rectangle 17"/>
          <p:cNvSpPr>
            <a:spLocks noChangeArrowheads="1"/>
          </p:cNvSpPr>
          <p:nvPr/>
        </p:nvSpPr>
        <p:spPr bwMode="auto">
          <a:xfrm>
            <a:off x="304800" y="3657600"/>
            <a:ext cx="70519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This is the equation of the equipotential surface on which the voltage is </a:t>
            </a:r>
            <a:r>
              <a:rPr lang="en-US" altLang="zh-CN" i="1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baseline="-25000" dirty="0">
              <a:solidFill>
                <a:srgbClr val="C0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18"/>
          <p:cNvSpPr>
            <a:spLocks noChangeArrowheads="1"/>
          </p:cNvSpPr>
          <p:nvPr/>
        </p:nvSpPr>
        <p:spPr bwMode="auto">
          <a:xfrm>
            <a:off x="362922" y="4267200"/>
            <a:ext cx="64779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better identify the surface, expand the squares, and collect terms: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AutoShape 19"/>
          <p:cNvSpPr>
            <a:spLocks noChangeArrowheads="1"/>
          </p:cNvSpPr>
          <p:nvPr/>
        </p:nvSpPr>
        <p:spPr bwMode="auto">
          <a:xfrm>
            <a:off x="3637965" y="5298133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1"/>
          <p:cNvSpPr>
            <a:spLocks noChangeArrowheads="1"/>
          </p:cNvSpPr>
          <p:nvPr/>
        </p:nvSpPr>
        <p:spPr bwMode="auto">
          <a:xfrm>
            <a:off x="4419600" y="4953000"/>
            <a:ext cx="3886200" cy="990600"/>
          </a:xfrm>
          <a:prstGeom prst="rect">
            <a:avLst/>
          </a:prstGeom>
          <a:noFill/>
          <a:ln w="9525">
            <a:solidFill>
              <a:srgbClr val="CA0065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20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Capacitance in Two-Wire Transmission Line</a:t>
            </a:r>
            <a:endParaRPr lang="zh-CN" altLang="en-US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4" name="Picture 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450" y="2309813"/>
            <a:ext cx="3775075" cy="766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5" name="Rectangle 16"/>
          <p:cNvSpPr>
            <a:spLocks noChangeArrowheads="1"/>
          </p:cNvSpPr>
          <p:nvPr/>
        </p:nvSpPr>
        <p:spPr bwMode="auto">
          <a:xfrm>
            <a:off x="533400" y="3429000"/>
            <a:ext cx="88344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equation of a circle (actually a cylinder),  displaced along the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axis by distance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having radius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6" name="Group 25"/>
          <p:cNvGrpSpPr/>
          <p:nvPr/>
        </p:nvGrpSpPr>
        <p:grpSpPr bwMode="auto">
          <a:xfrm>
            <a:off x="4448175" y="4276725"/>
            <a:ext cx="1495425" cy="762000"/>
            <a:chOff x="2976" y="2736"/>
            <a:chExt cx="942" cy="480"/>
          </a:xfrm>
        </p:grpSpPr>
        <p:pic>
          <p:nvPicPr>
            <p:cNvPr id="44" name="Picture 17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736"/>
              <a:ext cx="881" cy="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5" name="Rectangle 18"/>
            <p:cNvSpPr>
              <a:spLocks noChangeArrowheads="1"/>
            </p:cNvSpPr>
            <p:nvPr/>
          </p:nvSpPr>
          <p:spPr bwMode="auto">
            <a:xfrm>
              <a:off x="2976" y="2758"/>
              <a:ext cx="942" cy="458"/>
            </a:xfrm>
            <a:prstGeom prst="rect">
              <a:avLst/>
            </a:prstGeom>
            <a:noFill/>
            <a:ln w="9525">
              <a:solidFill>
                <a:srgbClr val="CA0065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Rectangle 19"/>
          <p:cNvSpPr>
            <a:spLocks noChangeArrowheads="1"/>
          </p:cNvSpPr>
          <p:nvPr/>
        </p:nvSpPr>
        <p:spPr bwMode="auto">
          <a:xfrm>
            <a:off x="2362200" y="5410200"/>
            <a:ext cx="4454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It is all independent of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, as you might expect!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20"/>
          <p:cNvSpPr>
            <a:spLocks noChangeArrowheads="1"/>
          </p:cNvSpPr>
          <p:nvPr/>
        </p:nvSpPr>
        <p:spPr bwMode="auto">
          <a:xfrm>
            <a:off x="593725" y="1751013"/>
            <a:ext cx="41862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The equation of an equipotential surface is: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Group 24"/>
          <p:cNvGrpSpPr/>
          <p:nvPr/>
        </p:nvGrpSpPr>
        <p:grpSpPr bwMode="auto">
          <a:xfrm>
            <a:off x="1862138" y="4310062"/>
            <a:ext cx="1495425" cy="727075"/>
            <a:chOff x="1173" y="2715"/>
            <a:chExt cx="942" cy="458"/>
          </a:xfrm>
        </p:grpSpPr>
        <p:pic>
          <p:nvPicPr>
            <p:cNvPr id="41" name="Picture 2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2736"/>
              <a:ext cx="898" cy="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Rectangle 23"/>
            <p:cNvSpPr>
              <a:spLocks noChangeArrowheads="1"/>
            </p:cNvSpPr>
            <p:nvPr/>
          </p:nvSpPr>
          <p:spPr bwMode="auto">
            <a:xfrm>
              <a:off x="1173" y="2715"/>
              <a:ext cx="942" cy="458"/>
            </a:xfrm>
            <a:prstGeom prst="rect">
              <a:avLst/>
            </a:prstGeom>
            <a:noFill/>
            <a:ln w="9525">
              <a:solidFill>
                <a:srgbClr val="CA0065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0" name="Rectangle 26"/>
          <p:cNvSpPr>
            <a:spLocks noChangeArrowheads="1"/>
          </p:cNvSpPr>
          <p:nvPr/>
        </p:nvSpPr>
        <p:spPr bwMode="auto">
          <a:xfrm>
            <a:off x="3668713" y="4495800"/>
            <a:ext cx="576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Capacitance in Two-Wire Transmission Line</a:t>
            </a:r>
            <a:endParaRPr lang="zh-CN" altLang="en-US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Rectangle 33"/>
          <p:cNvSpPr>
            <a:spLocks noChangeArrowheads="1"/>
          </p:cNvSpPr>
          <p:nvPr/>
        </p:nvSpPr>
        <p:spPr bwMode="auto">
          <a:xfrm>
            <a:off x="6399276" y="3978063"/>
            <a:ext cx="2159566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Choose positive sign because it </a:t>
            </a:r>
            <a:endParaRPr lang="en-US" altLang="zh-CN" sz="12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leads to a positive value for </a:t>
            </a:r>
            <a:r>
              <a:rPr lang="en-US" altLang="zh-CN" sz="12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1200" i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475" y="2601913"/>
            <a:ext cx="1279525" cy="67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1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0312" y="2667000"/>
            <a:ext cx="1298575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5003800" y="2766218"/>
            <a:ext cx="576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Group 29"/>
          <p:cNvGrpSpPr/>
          <p:nvPr/>
        </p:nvGrpSpPr>
        <p:grpSpPr bwMode="auto">
          <a:xfrm>
            <a:off x="533400" y="2286000"/>
            <a:ext cx="3522663" cy="3886200"/>
            <a:chOff x="602" y="1440"/>
            <a:chExt cx="2219" cy="2448"/>
          </a:xfrm>
        </p:grpSpPr>
        <p:sp>
          <p:nvSpPr>
            <p:cNvPr id="46" name="Line 15"/>
            <p:cNvSpPr>
              <a:spLocks noChangeShapeType="1"/>
            </p:cNvSpPr>
            <p:nvPr/>
          </p:nvSpPr>
          <p:spPr bwMode="auto">
            <a:xfrm flipV="1">
              <a:off x="768" y="1500"/>
              <a:ext cx="3" cy="2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Line 16"/>
            <p:cNvSpPr>
              <a:spLocks noChangeShapeType="1"/>
            </p:cNvSpPr>
            <p:nvPr/>
          </p:nvSpPr>
          <p:spPr bwMode="auto">
            <a:xfrm>
              <a:off x="768" y="2880"/>
              <a:ext cx="20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Rectangle 17" descr="20%"/>
            <p:cNvSpPr>
              <a:spLocks noChangeArrowheads="1"/>
            </p:cNvSpPr>
            <p:nvPr/>
          </p:nvSpPr>
          <p:spPr bwMode="auto">
            <a:xfrm>
              <a:off x="720" y="1736"/>
              <a:ext cx="47" cy="2152"/>
            </a:xfrm>
            <a:prstGeom prst="rect">
              <a:avLst/>
            </a:prstGeom>
            <a:pattFill prst="pct20">
              <a:fgClr>
                <a:srgbClr val="5C3CFE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Oval 18"/>
            <p:cNvSpPr>
              <a:spLocks noChangeArrowheads="1"/>
            </p:cNvSpPr>
            <p:nvPr/>
          </p:nvSpPr>
          <p:spPr bwMode="auto">
            <a:xfrm>
              <a:off x="1584" y="2520"/>
              <a:ext cx="720" cy="72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19"/>
            <p:cNvSpPr>
              <a:spLocks noChangeArrowheads="1"/>
            </p:cNvSpPr>
            <p:nvPr/>
          </p:nvSpPr>
          <p:spPr bwMode="auto">
            <a:xfrm>
              <a:off x="602" y="1440"/>
              <a:ext cx="1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 20"/>
            <p:cNvSpPr>
              <a:spLocks noChangeArrowheads="1"/>
            </p:cNvSpPr>
            <p:nvPr/>
          </p:nvSpPr>
          <p:spPr bwMode="auto">
            <a:xfrm>
              <a:off x="2640" y="2880"/>
              <a:ext cx="1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Line 21"/>
            <p:cNvSpPr>
              <a:spLocks noChangeShapeType="1"/>
            </p:cNvSpPr>
            <p:nvPr/>
          </p:nvSpPr>
          <p:spPr bwMode="auto">
            <a:xfrm>
              <a:off x="1953" y="2835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Line 22"/>
            <p:cNvSpPr>
              <a:spLocks noChangeShapeType="1"/>
            </p:cNvSpPr>
            <p:nvPr/>
          </p:nvSpPr>
          <p:spPr bwMode="auto">
            <a:xfrm flipV="1">
              <a:off x="1953" y="2616"/>
              <a:ext cx="240" cy="2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Rectangle 23"/>
            <p:cNvSpPr>
              <a:spLocks noChangeArrowheads="1"/>
            </p:cNvSpPr>
            <p:nvPr/>
          </p:nvSpPr>
          <p:spPr bwMode="auto">
            <a:xfrm>
              <a:off x="1877" y="2889"/>
              <a:ext cx="1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Rectangle 24"/>
            <p:cNvSpPr>
              <a:spLocks noChangeArrowheads="1"/>
            </p:cNvSpPr>
            <p:nvPr/>
          </p:nvSpPr>
          <p:spPr bwMode="auto">
            <a:xfrm>
              <a:off x="1950" y="2613"/>
              <a:ext cx="1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Rectangle 25"/>
            <p:cNvSpPr>
              <a:spLocks noChangeArrowheads="1"/>
            </p:cNvSpPr>
            <p:nvPr/>
          </p:nvSpPr>
          <p:spPr bwMode="auto">
            <a:xfrm>
              <a:off x="1728" y="2352"/>
              <a:ext cx="51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 = V</a:t>
              </a:r>
              <a:r>
                <a:rPr lang="en-US" altLang="zh-CN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Rectangle 26"/>
            <p:cNvSpPr>
              <a:spLocks noChangeArrowheads="1"/>
            </p:cNvSpPr>
            <p:nvPr/>
          </p:nvSpPr>
          <p:spPr bwMode="auto">
            <a:xfrm>
              <a:off x="912" y="1728"/>
              <a:ext cx="43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 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Line 27"/>
            <p:cNvSpPr>
              <a:spLocks noChangeShapeType="1"/>
            </p:cNvSpPr>
            <p:nvPr/>
          </p:nvSpPr>
          <p:spPr bwMode="auto">
            <a:xfrm flipH="1">
              <a:off x="768" y="1872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Rectangle 28"/>
          <p:cNvSpPr>
            <a:spLocks noChangeArrowheads="1"/>
          </p:cNvSpPr>
          <p:nvPr/>
        </p:nvSpPr>
        <p:spPr bwMode="auto">
          <a:xfrm>
            <a:off x="1180800" y="1735138"/>
            <a:ext cx="77346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grounded conductor in the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y-z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plane, and a conducting cylinder, parallel to the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axis, positioned as shown. The cylinder has radius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center location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axis, where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3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6623" y="4771232"/>
            <a:ext cx="2422525" cy="78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6" name="Picture 3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5943600"/>
            <a:ext cx="1654175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7" name="Line 34"/>
          <p:cNvSpPr>
            <a:spLocks noChangeShapeType="1"/>
          </p:cNvSpPr>
          <p:nvPr/>
        </p:nvSpPr>
        <p:spPr bwMode="auto">
          <a:xfrm flipH="1">
            <a:off x="6537384" y="4439728"/>
            <a:ext cx="233363" cy="423862"/>
          </a:xfrm>
          <a:prstGeom prst="line">
            <a:avLst/>
          </a:prstGeom>
          <a:noFill/>
          <a:ln w="12700">
            <a:solidFill>
              <a:srgbClr val="CA0065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35"/>
          <p:cNvSpPr>
            <a:spLocks noChangeArrowheads="1"/>
          </p:cNvSpPr>
          <p:nvPr/>
        </p:nvSpPr>
        <p:spPr bwMode="auto">
          <a:xfrm>
            <a:off x="3324225" y="3233049"/>
            <a:ext cx="5667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the two equations to get the quadratic: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3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0" y="3623799"/>
            <a:ext cx="2641600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" name="Rectangle 37"/>
          <p:cNvSpPr>
            <a:spLocks noChangeArrowheads="1"/>
          </p:cNvSpPr>
          <p:nvPr/>
        </p:nvSpPr>
        <p:spPr bwMode="auto">
          <a:xfrm>
            <a:off x="4344208" y="4439728"/>
            <a:ext cx="1851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whose solution is: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8"/>
          <p:cNvSpPr>
            <a:spLocks noChangeArrowheads="1"/>
          </p:cNvSpPr>
          <p:nvPr/>
        </p:nvSpPr>
        <p:spPr bwMode="auto">
          <a:xfrm>
            <a:off x="3021013" y="5549900"/>
            <a:ext cx="57562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substitute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into either starting equation to find: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Line 39"/>
          <p:cNvSpPr>
            <a:spLocks noChangeShapeType="1"/>
          </p:cNvSpPr>
          <p:nvPr/>
        </p:nvSpPr>
        <p:spPr bwMode="auto">
          <a:xfrm>
            <a:off x="5236623" y="5535628"/>
            <a:ext cx="2286000" cy="0"/>
          </a:xfrm>
          <a:prstGeom prst="line">
            <a:avLst/>
          </a:prstGeom>
          <a:noFill/>
          <a:ln w="9525">
            <a:solidFill>
              <a:srgbClr val="CA006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Line 40"/>
          <p:cNvSpPr>
            <a:spLocks noChangeShapeType="1"/>
          </p:cNvSpPr>
          <p:nvPr/>
        </p:nvSpPr>
        <p:spPr bwMode="auto">
          <a:xfrm>
            <a:off x="4495800" y="6477000"/>
            <a:ext cx="1524000" cy="0"/>
          </a:xfrm>
          <a:prstGeom prst="line">
            <a:avLst/>
          </a:prstGeom>
          <a:noFill/>
          <a:ln w="9525">
            <a:solidFill>
              <a:srgbClr val="CA006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Capacitance in Two-Wire Transmission Line</a:t>
            </a:r>
            <a:endParaRPr lang="zh-CN" altLang="en-US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6" name="Picture 1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025" y="1828517"/>
            <a:ext cx="1498600" cy="430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7" name="Rectangle 26"/>
          <p:cNvSpPr>
            <a:spLocks noChangeArrowheads="1"/>
          </p:cNvSpPr>
          <p:nvPr/>
        </p:nvSpPr>
        <p:spPr bwMode="auto">
          <a:xfrm>
            <a:off x="914400" y="1871663"/>
            <a:ext cx="15890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The expression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27"/>
          <p:cNvSpPr>
            <a:spLocks noChangeArrowheads="1"/>
          </p:cNvSpPr>
          <p:nvPr/>
        </p:nvSpPr>
        <p:spPr bwMode="auto">
          <a:xfrm>
            <a:off x="4005264" y="1858957"/>
            <a:ext cx="60007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gives the location of </a:t>
            </a:r>
            <a:r>
              <a:rPr lang="en-US" altLang="zh-CN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zh-CN" i="1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equivalent line charge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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Picture 1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650" y="2286000"/>
            <a:ext cx="16367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" name="Picture 1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1187" y="2667000"/>
            <a:ext cx="1371600" cy="658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1" name="Rectangle 29"/>
          <p:cNvSpPr>
            <a:spLocks noChangeArrowheads="1"/>
          </p:cNvSpPr>
          <p:nvPr/>
        </p:nvSpPr>
        <p:spPr bwMode="auto">
          <a:xfrm>
            <a:off x="2209800" y="2359025"/>
            <a:ext cx="4089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From the original definition, we now have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30"/>
          <p:cNvSpPr>
            <a:spLocks noChangeArrowheads="1"/>
          </p:cNvSpPr>
          <p:nvPr/>
        </p:nvSpPr>
        <p:spPr bwMode="auto">
          <a:xfrm>
            <a:off x="4746625" y="2817812"/>
            <a:ext cx="13128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which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32"/>
          <p:cNvSpPr>
            <a:spLocks noChangeArrowheads="1"/>
          </p:cNvSpPr>
          <p:nvPr/>
        </p:nvSpPr>
        <p:spPr bwMode="auto">
          <a:xfrm>
            <a:off x="3200400" y="3287713"/>
            <a:ext cx="57388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given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h, b,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it is possible to find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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33"/>
          <p:cNvSpPr>
            <a:spLocks noChangeArrowheads="1"/>
          </p:cNvSpPr>
          <p:nvPr/>
        </p:nvSpPr>
        <p:spPr bwMode="auto">
          <a:xfrm>
            <a:off x="4652963" y="3733800"/>
            <a:ext cx="320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For a length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direction,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9" name="Picture 3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7413" y="4114800"/>
            <a:ext cx="2998788" cy="795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0" name="Picture 3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988" y="4810126"/>
            <a:ext cx="42227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61" name="Group 39"/>
          <p:cNvGrpSpPr/>
          <p:nvPr/>
        </p:nvGrpSpPr>
        <p:grpSpPr bwMode="auto">
          <a:xfrm>
            <a:off x="533400" y="2286000"/>
            <a:ext cx="4065588" cy="3886200"/>
            <a:chOff x="336" y="1440"/>
            <a:chExt cx="2561" cy="2448"/>
          </a:xfrm>
        </p:grpSpPr>
        <p:grpSp>
          <p:nvGrpSpPr>
            <p:cNvPr id="63" name="Group 3"/>
            <p:cNvGrpSpPr/>
            <p:nvPr/>
          </p:nvGrpSpPr>
          <p:grpSpPr bwMode="auto">
            <a:xfrm>
              <a:off x="336" y="1440"/>
              <a:ext cx="2219" cy="2448"/>
              <a:chOff x="602" y="1440"/>
              <a:chExt cx="2219" cy="2448"/>
            </a:xfrm>
          </p:grpSpPr>
          <p:sp>
            <p:nvSpPr>
              <p:cNvPr id="69" name="Line 4"/>
              <p:cNvSpPr>
                <a:spLocks noChangeShapeType="1"/>
              </p:cNvSpPr>
              <p:nvPr/>
            </p:nvSpPr>
            <p:spPr bwMode="auto">
              <a:xfrm flipV="1">
                <a:off x="768" y="1500"/>
                <a:ext cx="3" cy="23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Line 5"/>
              <p:cNvSpPr>
                <a:spLocks noChangeShapeType="1"/>
              </p:cNvSpPr>
              <p:nvPr/>
            </p:nvSpPr>
            <p:spPr bwMode="auto">
              <a:xfrm>
                <a:off x="768" y="2880"/>
                <a:ext cx="20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Rectangle 6" descr="20%"/>
              <p:cNvSpPr>
                <a:spLocks noChangeArrowheads="1"/>
              </p:cNvSpPr>
              <p:nvPr/>
            </p:nvSpPr>
            <p:spPr bwMode="auto">
              <a:xfrm>
                <a:off x="720" y="1736"/>
                <a:ext cx="47" cy="2152"/>
              </a:xfrm>
              <a:prstGeom prst="rect">
                <a:avLst/>
              </a:prstGeom>
              <a:pattFill prst="pct20">
                <a:fgClr>
                  <a:srgbClr val="5C3CFE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Oval 7"/>
              <p:cNvSpPr>
                <a:spLocks noChangeArrowheads="1"/>
              </p:cNvSpPr>
              <p:nvPr/>
            </p:nvSpPr>
            <p:spPr bwMode="auto">
              <a:xfrm>
                <a:off x="1584" y="2520"/>
                <a:ext cx="720" cy="72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Rectangle 8"/>
              <p:cNvSpPr>
                <a:spLocks noChangeArrowheads="1"/>
              </p:cNvSpPr>
              <p:nvPr/>
            </p:nvSpPr>
            <p:spPr bwMode="auto">
              <a:xfrm>
                <a:off x="602" y="1440"/>
                <a:ext cx="18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Rectangle 9"/>
              <p:cNvSpPr>
                <a:spLocks noChangeArrowheads="1"/>
              </p:cNvSpPr>
              <p:nvPr/>
            </p:nvSpPr>
            <p:spPr bwMode="auto">
              <a:xfrm>
                <a:off x="2640" y="2880"/>
                <a:ext cx="18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Line 10"/>
              <p:cNvSpPr>
                <a:spLocks noChangeShapeType="1"/>
              </p:cNvSpPr>
              <p:nvPr/>
            </p:nvSpPr>
            <p:spPr bwMode="auto">
              <a:xfrm>
                <a:off x="1953" y="2835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Line 11"/>
              <p:cNvSpPr>
                <a:spLocks noChangeShapeType="1"/>
              </p:cNvSpPr>
              <p:nvPr/>
            </p:nvSpPr>
            <p:spPr bwMode="auto">
              <a:xfrm flipV="1">
                <a:off x="1953" y="2616"/>
                <a:ext cx="240" cy="2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Rectangle 12"/>
              <p:cNvSpPr>
                <a:spLocks noChangeArrowheads="1"/>
              </p:cNvSpPr>
              <p:nvPr/>
            </p:nvSpPr>
            <p:spPr bwMode="auto">
              <a:xfrm>
                <a:off x="1877" y="2889"/>
                <a:ext cx="18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endPara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Rectangle 13"/>
              <p:cNvSpPr>
                <a:spLocks noChangeArrowheads="1"/>
              </p:cNvSpPr>
              <p:nvPr/>
            </p:nvSpPr>
            <p:spPr bwMode="auto">
              <a:xfrm>
                <a:off x="1950" y="2613"/>
                <a:ext cx="18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Rectangle 14"/>
              <p:cNvSpPr>
                <a:spLocks noChangeArrowheads="1"/>
              </p:cNvSpPr>
              <p:nvPr/>
            </p:nvSpPr>
            <p:spPr bwMode="auto">
              <a:xfrm>
                <a:off x="1728" y="2352"/>
                <a:ext cx="51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 = V</a:t>
                </a:r>
                <a:r>
                  <a:rPr lang="en-US" altLang="zh-CN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" name="Rectangle 15"/>
              <p:cNvSpPr>
                <a:spLocks noChangeArrowheads="1"/>
              </p:cNvSpPr>
              <p:nvPr/>
            </p:nvSpPr>
            <p:spPr bwMode="auto">
              <a:xfrm>
                <a:off x="912" y="1728"/>
                <a:ext cx="43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 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</a:t>
                </a:r>
                <a:endPara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Line 16"/>
              <p:cNvSpPr>
                <a:spLocks noChangeShapeType="1"/>
              </p:cNvSpPr>
              <p:nvPr/>
            </p:nvSpPr>
            <p:spPr bwMode="auto">
              <a:xfrm flipH="1">
                <a:off x="768" y="1872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4" name="Rectangle 20"/>
            <p:cNvSpPr>
              <a:spLocks noChangeArrowheads="1"/>
            </p:cNvSpPr>
            <p:nvPr/>
          </p:nvSpPr>
          <p:spPr bwMode="auto">
            <a:xfrm>
              <a:off x="1425" y="2511"/>
              <a:ext cx="212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480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altLang="zh-CN" sz="4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Rectangle 21"/>
            <p:cNvSpPr>
              <a:spLocks noChangeArrowheads="1"/>
            </p:cNvSpPr>
            <p:nvPr/>
          </p:nvSpPr>
          <p:spPr bwMode="auto">
            <a:xfrm>
              <a:off x="1434" y="2667"/>
              <a:ext cx="22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" charset="2"/>
                </a:rPr>
                <a:t></a:t>
              </a:r>
              <a:r>
                <a:rPr lang="en-US" altLang="zh-CN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endParaRPr>
            </a:p>
          </p:txBody>
        </p:sp>
        <p:sp>
          <p:nvSpPr>
            <p:cNvPr id="66" name="Line 23"/>
            <p:cNvSpPr>
              <a:spLocks noChangeShapeType="1"/>
            </p:cNvSpPr>
            <p:nvPr/>
          </p:nvSpPr>
          <p:spPr bwMode="auto">
            <a:xfrm>
              <a:off x="1530" y="2925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Rectangle 24"/>
            <p:cNvSpPr>
              <a:spLocks noChangeArrowheads="1"/>
            </p:cNvSpPr>
            <p:nvPr/>
          </p:nvSpPr>
          <p:spPr bwMode="auto">
            <a:xfrm>
              <a:off x="1440" y="2958"/>
              <a:ext cx="1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Rectangle 36"/>
            <p:cNvSpPr>
              <a:spLocks noChangeArrowheads="1"/>
            </p:cNvSpPr>
            <p:nvPr/>
          </p:nvSpPr>
          <p:spPr bwMode="auto">
            <a:xfrm>
              <a:off x="1916" y="3123"/>
              <a:ext cx="9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 that finally: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2" name="Line 37"/>
          <p:cNvSpPr>
            <a:spLocks noChangeShapeType="1"/>
          </p:cNvSpPr>
          <p:nvPr/>
        </p:nvSpPr>
        <p:spPr bwMode="auto">
          <a:xfrm>
            <a:off x="7570788" y="5572126"/>
            <a:ext cx="1295400" cy="0"/>
          </a:xfrm>
          <a:prstGeom prst="line">
            <a:avLst/>
          </a:prstGeom>
          <a:noFill/>
          <a:ln w="9525">
            <a:solidFill>
              <a:srgbClr val="CA006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66800" y="5650468"/>
            <a:ext cx="7543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capacitance between two circular conductors separated by a distance 2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589734" y="6032780"/>
            <a:ext cx="3626644" cy="645996"/>
            <a:chOff x="3977916" y="6059604"/>
            <a:chExt cx="3626644" cy="645996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7916" y="6059604"/>
              <a:ext cx="3626644" cy="645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矩形 3"/>
            <p:cNvSpPr/>
            <p:nvPr/>
          </p:nvSpPr>
          <p:spPr>
            <a:xfrm>
              <a:off x="4689036" y="6059604"/>
              <a:ext cx="223128" cy="2649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矩形 81"/>
            <p:cNvSpPr/>
            <p:nvPr/>
          </p:nvSpPr>
          <p:spPr>
            <a:xfrm>
              <a:off x="6618244" y="6059604"/>
              <a:ext cx="245441" cy="2649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3429000" y="6019800"/>
            <a:ext cx="3962400" cy="76200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Capacitance in Two-Wire Transmission Line</a:t>
            </a:r>
            <a:endParaRPr lang="zh-CN" altLang="en-US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" name="Rectangle 2"/>
          <p:cNvSpPr txBox="1">
            <a:spLocks noChangeArrowheads="1"/>
          </p:cNvSpPr>
          <p:nvPr/>
        </p:nvSpPr>
        <p:spPr bwMode="auto">
          <a:xfrm>
            <a:off x="531753" y="1295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Example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24"/>
          <p:cNvSpPr>
            <a:spLocks noChangeArrowheads="1"/>
          </p:cNvSpPr>
          <p:nvPr/>
        </p:nvSpPr>
        <p:spPr bwMode="auto">
          <a:xfrm>
            <a:off x="1752600" y="2133600"/>
            <a:ext cx="6108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mm,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=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mm, and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100 V.  Find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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30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9812" y="5666582"/>
            <a:ext cx="5411788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3" name="Line 37"/>
          <p:cNvSpPr>
            <a:spLocks noChangeShapeType="1"/>
          </p:cNvSpPr>
          <p:nvPr/>
        </p:nvSpPr>
        <p:spPr bwMode="auto">
          <a:xfrm>
            <a:off x="7839074" y="6157119"/>
            <a:ext cx="1058863" cy="0"/>
          </a:xfrm>
          <a:prstGeom prst="line">
            <a:avLst/>
          </a:prstGeom>
          <a:noFill/>
          <a:ln w="9525">
            <a:solidFill>
              <a:srgbClr val="CA006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Capacitance in Two-Wire Transmission Line</a:t>
            </a:r>
            <a:endParaRPr lang="zh-CN" altLang="en-US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" name="Rectangle 2"/>
          <p:cNvSpPr txBox="1">
            <a:spLocks noChangeArrowheads="1"/>
          </p:cNvSpPr>
          <p:nvPr/>
        </p:nvSpPr>
        <p:spPr bwMode="auto">
          <a:xfrm>
            <a:off x="531753" y="1295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Example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24"/>
          <p:cNvSpPr>
            <a:spLocks noChangeArrowheads="1"/>
          </p:cNvSpPr>
          <p:nvPr/>
        </p:nvSpPr>
        <p:spPr bwMode="auto">
          <a:xfrm>
            <a:off x="1752600" y="2133600"/>
            <a:ext cx="6108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mm,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=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mm, and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100 V.  Find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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2" name="Group 31"/>
          <p:cNvGrpSpPr/>
          <p:nvPr/>
        </p:nvGrpSpPr>
        <p:grpSpPr bwMode="auto">
          <a:xfrm>
            <a:off x="2286000" y="2590800"/>
            <a:ext cx="3554413" cy="420688"/>
            <a:chOff x="1728" y="1680"/>
            <a:chExt cx="2239" cy="265"/>
          </a:xfrm>
        </p:grpSpPr>
        <p:pic>
          <p:nvPicPr>
            <p:cNvPr id="85" name="Picture 2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8" y="1680"/>
              <a:ext cx="1969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6" name="Rectangle 26"/>
            <p:cNvSpPr>
              <a:spLocks noChangeArrowheads="1"/>
            </p:cNvSpPr>
            <p:nvPr/>
          </p:nvSpPr>
          <p:spPr bwMode="auto">
            <a:xfrm>
              <a:off x="3649" y="1710"/>
              <a:ext cx="31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mm</a:t>
              </a:r>
              <a:endPara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53" name="Picture 2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850" y="3308350"/>
            <a:ext cx="33083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4" name="Picture 2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575" y="4648201"/>
            <a:ext cx="4899025" cy="55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6" name="Rectangle 32"/>
          <p:cNvSpPr>
            <a:spLocks noChangeArrowheads="1"/>
          </p:cNvSpPr>
          <p:nvPr/>
        </p:nvSpPr>
        <p:spPr bwMode="auto">
          <a:xfrm>
            <a:off x="3821113" y="342900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 34"/>
          <p:cNvSpPr>
            <a:spLocks noChangeArrowheads="1"/>
          </p:cNvSpPr>
          <p:nvPr/>
        </p:nvSpPr>
        <p:spPr bwMode="auto">
          <a:xfrm>
            <a:off x="3744119" y="4038601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Obtain: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ectangle 35"/>
          <p:cNvSpPr>
            <a:spLocks noChangeArrowheads="1"/>
          </p:cNvSpPr>
          <p:nvPr/>
        </p:nvSpPr>
        <p:spPr bwMode="auto">
          <a:xfrm>
            <a:off x="3711575" y="5334001"/>
            <a:ext cx="576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Line 36"/>
          <p:cNvSpPr>
            <a:spLocks noChangeShapeType="1"/>
          </p:cNvSpPr>
          <p:nvPr/>
        </p:nvSpPr>
        <p:spPr bwMode="auto">
          <a:xfrm>
            <a:off x="7597775" y="5029201"/>
            <a:ext cx="860425" cy="0"/>
          </a:xfrm>
          <a:prstGeom prst="line">
            <a:avLst/>
          </a:prstGeom>
          <a:noFill/>
          <a:ln w="9525">
            <a:solidFill>
              <a:srgbClr val="CA006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5" name="Picture 2" descr="Figure 1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924969"/>
            <a:ext cx="3290888" cy="344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Capacitance in Two-Wire Transmission Line</a:t>
            </a:r>
            <a:endParaRPr lang="zh-CN" altLang="en-US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" name="Rectangle 2"/>
          <p:cNvSpPr txBox="1">
            <a:spLocks noChangeArrowheads="1"/>
          </p:cNvSpPr>
          <p:nvPr/>
        </p:nvSpPr>
        <p:spPr bwMode="auto">
          <a:xfrm>
            <a:off x="531753" y="1295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Example (Cont’d)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2" name="Group 17"/>
          <p:cNvGrpSpPr/>
          <p:nvPr/>
        </p:nvGrpSpPr>
        <p:grpSpPr bwMode="auto">
          <a:xfrm>
            <a:off x="457200" y="2057400"/>
            <a:ext cx="7848600" cy="4419600"/>
            <a:chOff x="288" y="1296"/>
            <a:chExt cx="4944" cy="2784"/>
          </a:xfrm>
        </p:grpSpPr>
        <p:pic>
          <p:nvPicPr>
            <p:cNvPr id="44" name="Picture 2" descr="Figure 1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9" y="1909"/>
              <a:ext cx="2073" cy="2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Rectangle 4"/>
            <p:cNvSpPr>
              <a:spLocks noChangeArrowheads="1"/>
            </p:cNvSpPr>
            <p:nvPr/>
          </p:nvSpPr>
          <p:spPr bwMode="auto">
            <a:xfrm>
              <a:off x="288" y="1296"/>
              <a:ext cx="319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In this step, we find the 50-volt equipotential surface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9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" y="1602"/>
              <a:ext cx="3138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0" name="Rectangle 6"/>
            <p:cNvSpPr>
              <a:spLocks noChangeArrowheads="1"/>
            </p:cNvSpPr>
            <p:nvPr/>
          </p:nvSpPr>
          <p:spPr bwMode="auto">
            <a:xfrm>
              <a:off x="718" y="1656"/>
              <a:ext cx="42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First: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1" name="Group 9"/>
            <p:cNvGrpSpPr/>
            <p:nvPr/>
          </p:nvGrpSpPr>
          <p:grpSpPr bwMode="auto">
            <a:xfrm>
              <a:off x="561" y="2112"/>
              <a:ext cx="2322" cy="432"/>
              <a:chOff x="336" y="1968"/>
              <a:chExt cx="2322" cy="432"/>
            </a:xfrm>
          </p:grpSpPr>
          <p:pic>
            <p:nvPicPr>
              <p:cNvPr id="67" name="Picture 7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6" y="1968"/>
                <a:ext cx="2067" cy="4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68" name="Rectangle 8"/>
              <p:cNvSpPr>
                <a:spLocks noChangeArrowheads="1"/>
              </p:cNvSpPr>
              <p:nvPr/>
            </p:nvSpPr>
            <p:spPr bwMode="auto">
              <a:xfrm>
                <a:off x="2340" y="2092"/>
                <a:ext cx="31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mm</a:t>
                </a:r>
                <a:endPara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2" name="Group 13"/>
            <p:cNvGrpSpPr/>
            <p:nvPr/>
          </p:nvGrpSpPr>
          <p:grpSpPr bwMode="auto">
            <a:xfrm>
              <a:off x="549" y="2685"/>
              <a:ext cx="2094" cy="387"/>
              <a:chOff x="384" y="2448"/>
              <a:chExt cx="2094" cy="387"/>
            </a:xfrm>
          </p:grpSpPr>
          <p:pic>
            <p:nvPicPr>
              <p:cNvPr id="65" name="Picture 11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" y="2448"/>
                <a:ext cx="1843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66" name="Rectangle 12"/>
              <p:cNvSpPr>
                <a:spLocks noChangeArrowheads="1"/>
              </p:cNvSpPr>
              <p:nvPr/>
            </p:nvSpPr>
            <p:spPr bwMode="auto">
              <a:xfrm>
                <a:off x="2160" y="2544"/>
                <a:ext cx="31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mm</a:t>
                </a:r>
                <a:endPara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3" name="Rectangle 14"/>
            <p:cNvSpPr>
              <a:spLocks noChangeArrowheads="1"/>
            </p:cNvSpPr>
            <p:nvPr/>
          </p:nvSpPr>
          <p:spPr bwMode="auto">
            <a:xfrm>
              <a:off x="524" y="3309"/>
              <a:ext cx="271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resulting surface is the dashed red circle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442912" y="2588422"/>
            <a:ext cx="8243887" cy="40409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24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10: Capacitance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Capacitance in Two-Wire Transmission Line</a:t>
            </a:r>
            <a:endParaRPr lang="zh-CN" altLang="en-US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" name="Rectangle 2"/>
          <p:cNvSpPr txBox="1">
            <a:spLocks noChangeArrowheads="1"/>
          </p:cNvSpPr>
          <p:nvPr/>
        </p:nvSpPr>
        <p:spPr bwMode="auto">
          <a:xfrm>
            <a:off x="531753" y="1295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Example (Cont’d)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2" name="Group 17"/>
          <p:cNvGrpSpPr/>
          <p:nvPr/>
        </p:nvGrpSpPr>
        <p:grpSpPr bwMode="auto">
          <a:xfrm>
            <a:off x="457200" y="2057400"/>
            <a:ext cx="7848600" cy="4419600"/>
            <a:chOff x="288" y="1296"/>
            <a:chExt cx="4944" cy="2784"/>
          </a:xfrm>
        </p:grpSpPr>
        <p:pic>
          <p:nvPicPr>
            <p:cNvPr id="44" name="Picture 2" descr="Figure 1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9" y="1909"/>
              <a:ext cx="2073" cy="2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Rectangle 4"/>
            <p:cNvSpPr>
              <a:spLocks noChangeArrowheads="1"/>
            </p:cNvSpPr>
            <p:nvPr/>
          </p:nvSpPr>
          <p:spPr bwMode="auto">
            <a:xfrm>
              <a:off x="288" y="1296"/>
              <a:ext cx="319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In this step, we find the 50-volt equipotential surface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9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" y="1602"/>
              <a:ext cx="3138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0" name="Rectangle 6"/>
            <p:cNvSpPr>
              <a:spLocks noChangeArrowheads="1"/>
            </p:cNvSpPr>
            <p:nvPr/>
          </p:nvSpPr>
          <p:spPr bwMode="auto">
            <a:xfrm>
              <a:off x="718" y="1656"/>
              <a:ext cx="42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First: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1" name="Group 9"/>
            <p:cNvGrpSpPr/>
            <p:nvPr/>
          </p:nvGrpSpPr>
          <p:grpSpPr bwMode="auto">
            <a:xfrm>
              <a:off x="561" y="2112"/>
              <a:ext cx="2322" cy="432"/>
              <a:chOff x="336" y="1968"/>
              <a:chExt cx="2322" cy="432"/>
            </a:xfrm>
          </p:grpSpPr>
          <p:pic>
            <p:nvPicPr>
              <p:cNvPr id="67" name="Picture 7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6" y="1968"/>
                <a:ext cx="2067" cy="4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68" name="Rectangle 8"/>
              <p:cNvSpPr>
                <a:spLocks noChangeArrowheads="1"/>
              </p:cNvSpPr>
              <p:nvPr/>
            </p:nvSpPr>
            <p:spPr bwMode="auto">
              <a:xfrm>
                <a:off x="2340" y="2092"/>
                <a:ext cx="31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mm</a:t>
                </a:r>
                <a:endPara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2" name="Group 13"/>
            <p:cNvGrpSpPr/>
            <p:nvPr/>
          </p:nvGrpSpPr>
          <p:grpSpPr bwMode="auto">
            <a:xfrm>
              <a:off x="549" y="2685"/>
              <a:ext cx="2094" cy="387"/>
              <a:chOff x="384" y="2448"/>
              <a:chExt cx="2094" cy="387"/>
            </a:xfrm>
          </p:grpSpPr>
          <p:pic>
            <p:nvPicPr>
              <p:cNvPr id="65" name="Picture 11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" y="2448"/>
                <a:ext cx="1843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66" name="Rectangle 12"/>
              <p:cNvSpPr>
                <a:spLocks noChangeArrowheads="1"/>
              </p:cNvSpPr>
              <p:nvPr/>
            </p:nvSpPr>
            <p:spPr bwMode="auto">
              <a:xfrm>
                <a:off x="2160" y="2544"/>
                <a:ext cx="31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mm</a:t>
                </a:r>
                <a:endPara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3" name="Rectangle 14"/>
            <p:cNvSpPr>
              <a:spLocks noChangeArrowheads="1"/>
            </p:cNvSpPr>
            <p:nvPr/>
          </p:nvSpPr>
          <p:spPr bwMode="auto">
            <a:xfrm>
              <a:off x="524" y="3309"/>
              <a:ext cx="271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resulting surface is the dashed red circle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d0e0f963-c80f-4687-bc7d-f7f5921b5c52"/>
  <p:tag name="COMMONDATA" val="eyJoZGlkIjoiODI0ZjJiMmIyODM0NTc5MzEyN2IzOWYzNjgwNDFiNTY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7400</Words>
  <Application>WPS 演示</Application>
  <PresentationFormat>On-screen Show (4:3)</PresentationFormat>
  <Paragraphs>502</Paragraphs>
  <Slides>28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0" baseType="lpstr">
      <vt:lpstr>Arial</vt:lpstr>
      <vt:lpstr>宋体</vt:lpstr>
      <vt:lpstr>Wingdings</vt:lpstr>
      <vt:lpstr>Times New Roman</vt:lpstr>
      <vt:lpstr>华文行楷</vt:lpstr>
      <vt:lpstr>微软雅黑</vt:lpstr>
      <vt:lpstr>Arial Unicode MS</vt:lpstr>
      <vt:lpstr>Calibri</vt:lpstr>
      <vt:lpstr>Symbol</vt:lpstr>
      <vt:lpstr>Cambria Math</vt:lpstr>
      <vt:lpstr>Cambria Math</vt:lpstr>
      <vt:lpstr>默认设计模板</vt:lpstr>
      <vt:lpstr>Engineering Electromagnetics 工程电磁场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8: Energy and Potential能量与电位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  <vt:lpstr>10: Capacitance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dpcuser</dc:creator>
  <cp:lastModifiedBy>林碧容</cp:lastModifiedBy>
  <cp:revision>555</cp:revision>
  <cp:lastPrinted>2014-03-03T09:16:00Z</cp:lastPrinted>
  <dcterms:created xsi:type="dcterms:W3CDTF">2113-01-01T00:00:00Z</dcterms:created>
  <dcterms:modified xsi:type="dcterms:W3CDTF">2025-01-08T16:15:12Z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4BF34D0AB2284A0F9587229CDFCB0CE2</vt:lpwstr>
  </property>
  <property fmtid="{D5CDD505-2E9C-101B-9397-08002B2CF9AE}" pid="4" name="KSOProductBuildVer">
    <vt:lpwstr>2052-11.1.0.12165</vt:lpwstr>
  </property>
</Properties>
</file>