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6"/>
  </p:handoutMasterIdLst>
  <p:sldIdLst>
    <p:sldId id="256" r:id="rId3"/>
    <p:sldId id="280" r:id="rId4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</p:sldIdLst>
  <p:sldSz cx="9144000" cy="6858000" type="screen4x3"/>
  <p:notesSz cx="9926320" cy="6797675"/>
  <p:custDataLst>
    <p:tags r:id="rId3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shengyi" initials="x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333399"/>
    <a:srgbClr val="006600"/>
    <a:srgbClr val="990000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8" autoAdjust="0"/>
    <p:restoredTop sz="94660"/>
  </p:normalViewPr>
  <p:slideViewPr>
    <p:cSldViewPr>
      <p:cViewPr varScale="1">
        <p:scale>
          <a:sx n="122" d="100"/>
          <a:sy n="122" d="100"/>
        </p:scale>
        <p:origin x="590" y="77"/>
      </p:cViewPr>
      <p:guideLst>
        <p:guide orient="horz" pos="2160"/>
        <p:guide pos="285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1" Type="http://schemas.openxmlformats.org/officeDocument/2006/relationships/tags" Target="tags/tag1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12T17:06:24.320" idx="1">
    <p:pos x="4368" y="3379"/>
    <p:text>这个形式是一般形式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12T17:12:50.109" idx="2">
    <p:pos x="4975" y="2039"/>
    <p:text>需要记住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24T21:18:45.840" idx="3">
    <p:pos x="3079" y="3340"/>
    <p:text>重要：电势差的定义,可以利用微积分基本定理理解：
-E=dV/dL
 —》∫(b到a)(-E)*dL=V(a)-V(b)
微积分基本定理：
若f=dF/dx,则∫(b到a)f*dx=F(a)-F(b)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581" y="0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>
              <a:defRPr sz="1200"/>
            </a:lvl1pPr>
          </a:lstStyle>
          <a:p>
            <a:fld id="{686A4324-7C28-4329-B2F1-5FD4B6C256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6457106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581" y="6457106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r">
              <a:defRPr sz="1200"/>
            </a:lvl1pPr>
          </a:lstStyle>
          <a:p>
            <a:fld id="{FA732558-7D0B-4745-B877-2B020FA1E1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pPr>
              <a:defRPr/>
            </a:pPr>
            <a:fld id="{CFCE66B6-4CF2-4562-A36E-FD57958B22D0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11175"/>
            <a:ext cx="3398838" cy="2547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5562" tIns="47781" rIns="95562" bIns="47781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pPr>
              <a:defRPr/>
            </a:pPr>
            <a:fld id="{BEA14968-9F28-4550-9E62-5AFEB150A69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A915F-EF48-4E12-9322-014AC14B824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6757F-36B6-4B03-A23B-51A791095A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2D1AA-81AF-4136-B6B7-4DF8B2353D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3869A-52EA-439A-85B4-5B99DA02ADD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549B5-7C33-4401-8DCA-0C1C099D07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D6E32-8AFF-48B0-BFAA-79EFD98B79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729E0-9F39-4321-BCC4-0E383C4192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898902-1749-4578-ADD1-C8D6FC14DD7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96899-CE8E-4251-8463-AEEF76D0B8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EBD7C-0FB7-467E-B4C1-280AB41F76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B3FA2-80A2-486F-B8BD-C573184B8A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67C57CB3-D73C-4ACB-B9FF-2C58343599B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1.xml"/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30.png"/><Relationship Id="rId2" Type="http://schemas.openxmlformats.org/officeDocument/2006/relationships/image" Target="../media/image22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comments" Target="../comments/comment2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7.jpeg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0" Type="http://schemas.openxmlformats.org/officeDocument/2006/relationships/comments" Target="../comments/comment3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.png"/><Relationship Id="rId1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828800"/>
            <a:ext cx="8534400" cy="1981200"/>
          </a:xfrm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Electromagnetics</a:t>
            </a:r>
            <a:b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400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工程电磁场</a:t>
            </a:r>
            <a:endParaRPr lang="zh-CN" altLang="en-US" sz="400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2133600"/>
          </a:xfrm>
        </p:spPr>
        <p:txBody>
          <a:bodyPr/>
          <a:lstStyle/>
          <a:p>
            <a:pPr eaLnBrk="1" hangingPunct="1"/>
            <a:endParaRPr lang="zh-CN" altLang="en-US" sz="36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Youwei Jia</a:t>
            </a:r>
            <a:r>
              <a:rPr lang="en-AU" altLang="zh-CN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嘉有为</a:t>
            </a:r>
            <a:endParaRPr lang="en-US" altLang="zh-CN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052" name="Gerade Verbindung 11"/>
          <p:cNvCxnSpPr>
            <a:cxnSpLocks noChangeShapeType="1"/>
          </p:cNvCxnSpPr>
          <p:nvPr/>
        </p:nvCxnSpPr>
        <p:spPr bwMode="auto">
          <a:xfrm>
            <a:off x="85725" y="1371600"/>
            <a:ext cx="7305675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053" name="Picture 9" descr="13829064795036"/>
          <p:cNvPicPr>
            <a:picLocks noChangeAspect="1" noChangeArrowheads="1"/>
          </p:cNvPicPr>
          <p:nvPr/>
        </p:nvPicPr>
        <p:blipFill>
          <a:blip r:embed="rId1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112713"/>
            <a:ext cx="2609850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10" descr="13829064803086"/>
          <p:cNvPicPr>
            <a:picLocks noChangeAspect="1" noChangeArrowheads="1"/>
          </p:cNvPicPr>
          <p:nvPr/>
        </p:nvPicPr>
        <p:blipFill>
          <a:blip r:embed="rId2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313" y="112713"/>
            <a:ext cx="2754312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11" descr="13829064833397"/>
          <p:cNvPicPr>
            <a:picLocks noChangeAspect="1" noChangeArrowheads="1"/>
          </p:cNvPicPr>
          <p:nvPr/>
        </p:nvPicPr>
        <p:blipFill>
          <a:blip r:embed="rId3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75" y="112713"/>
            <a:ext cx="1839913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56" name="Gerade Verbindung 11"/>
          <p:cNvCxnSpPr>
            <a:cxnSpLocks noChangeShapeType="1"/>
          </p:cNvCxnSpPr>
          <p:nvPr/>
        </p:nvCxnSpPr>
        <p:spPr bwMode="auto">
          <a:xfrm>
            <a:off x="609600" y="3657600"/>
            <a:ext cx="7916863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Point charge in an external field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外场中的点电荷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1066800" y="1806714"/>
            <a:ext cx="800103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To move charge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against </a:t>
            </a:r>
            <a:r>
              <a:rPr lang="zh-CN" altLang="en-US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逆着</a:t>
            </a:r>
            <a:r>
              <a:rPr lang="en-US" altLang="zh-CN" sz="2000" dirty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electric field, a </a:t>
            </a:r>
            <a:r>
              <a:rPr lang="en-US" altLang="zh-CN" sz="2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be applied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altLang="zh-CN" sz="20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counteract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zh-CN" altLang="en-US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克服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zh-CN" sz="2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arises from the field: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Line 4"/>
          <p:cNvSpPr>
            <a:spLocks noChangeShapeType="1"/>
          </p:cNvSpPr>
          <p:nvPr/>
        </p:nvSpPr>
        <p:spPr bwMode="auto">
          <a:xfrm>
            <a:off x="2286000" y="3048000"/>
            <a:ext cx="4446689" cy="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Line 5"/>
          <p:cNvSpPr>
            <a:spLocks noChangeShapeType="1"/>
          </p:cNvSpPr>
          <p:nvPr/>
        </p:nvSpPr>
        <p:spPr bwMode="auto">
          <a:xfrm>
            <a:off x="2286000" y="3619500"/>
            <a:ext cx="4446689" cy="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Line 6"/>
          <p:cNvSpPr>
            <a:spLocks noChangeShapeType="1"/>
          </p:cNvSpPr>
          <p:nvPr/>
        </p:nvSpPr>
        <p:spPr bwMode="auto">
          <a:xfrm>
            <a:off x="2286000" y="4191000"/>
            <a:ext cx="4446689" cy="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Line 7"/>
          <p:cNvSpPr>
            <a:spLocks noChangeShapeType="1"/>
          </p:cNvSpPr>
          <p:nvPr/>
        </p:nvSpPr>
        <p:spPr bwMode="auto">
          <a:xfrm>
            <a:off x="2286000" y="4762500"/>
            <a:ext cx="4446689" cy="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>
            <a:off x="2286000" y="5334000"/>
            <a:ext cx="4446689" cy="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1"/>
          <p:cNvGrpSpPr/>
          <p:nvPr/>
        </p:nvGrpSpPr>
        <p:grpSpPr bwMode="auto">
          <a:xfrm>
            <a:off x="5859232" y="4272643"/>
            <a:ext cx="312658" cy="360589"/>
            <a:chOff x="298" y="2434"/>
            <a:chExt cx="189" cy="212"/>
          </a:xfrm>
        </p:grpSpPr>
        <p:sp>
          <p:nvSpPr>
            <p:cNvPr id="24" name="Oval 9"/>
            <p:cNvSpPr>
              <a:spLocks noChangeArrowheads="1"/>
            </p:cNvSpPr>
            <p:nvPr/>
          </p:nvSpPr>
          <p:spPr bwMode="auto">
            <a:xfrm>
              <a:off x="336" y="2480"/>
              <a:ext cx="112" cy="11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Rectangle 10"/>
            <p:cNvSpPr>
              <a:spLocks noChangeArrowheads="1"/>
            </p:cNvSpPr>
            <p:nvPr/>
          </p:nvSpPr>
          <p:spPr bwMode="auto">
            <a:xfrm>
              <a:off x="298" y="2434"/>
              <a:ext cx="18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6812094" y="3946071"/>
            <a:ext cx="350706" cy="392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Line 13"/>
          <p:cNvSpPr>
            <a:spLocks noChangeShapeType="1"/>
          </p:cNvSpPr>
          <p:nvPr/>
        </p:nvSpPr>
        <p:spPr bwMode="auto">
          <a:xfrm flipH="1">
            <a:off x="5038712" y="4442732"/>
            <a:ext cx="873457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6084213" y="4259036"/>
            <a:ext cx="344089" cy="360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16"/>
          <p:cNvSpPr>
            <a:spLocks noChangeArrowheads="1"/>
          </p:cNvSpPr>
          <p:nvPr/>
        </p:nvSpPr>
        <p:spPr bwMode="auto">
          <a:xfrm>
            <a:off x="5290162" y="4401911"/>
            <a:ext cx="580650" cy="360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3873500" y="5686425"/>
            <a:ext cx="152193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appl</a:t>
            </a:r>
            <a:r>
              <a: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 - </a:t>
            </a:r>
            <a:r>
              <a: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19"/>
          <p:cNvSpPr>
            <a:spLocks noChangeArrowheads="1"/>
          </p:cNvSpPr>
          <p:nvPr/>
        </p:nvSpPr>
        <p:spPr bwMode="auto">
          <a:xfrm>
            <a:off x="3886200" y="5562599"/>
            <a:ext cx="1508698" cy="653143"/>
          </a:xfrm>
          <a:prstGeom prst="rect">
            <a:avLst/>
          </a:prstGeom>
          <a:noFill/>
          <a:ln w="9525">
            <a:solidFill>
              <a:srgbClr val="FF319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Differential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work </a:t>
            </a:r>
            <a:r>
              <a:rPr lang="zh-CN" altLang="en-US" sz="28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功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 done on moving a point charge against an external field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9" name="Line 4"/>
          <p:cNvSpPr>
            <a:spLocks noChangeShapeType="1"/>
          </p:cNvSpPr>
          <p:nvPr/>
        </p:nvSpPr>
        <p:spPr bwMode="auto">
          <a:xfrm>
            <a:off x="2073329" y="2934636"/>
            <a:ext cx="4267201" cy="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Line 5"/>
          <p:cNvSpPr>
            <a:spLocks noChangeShapeType="1"/>
          </p:cNvSpPr>
          <p:nvPr/>
        </p:nvSpPr>
        <p:spPr bwMode="auto">
          <a:xfrm>
            <a:off x="2073329" y="3468036"/>
            <a:ext cx="4267201" cy="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Line 6"/>
          <p:cNvSpPr>
            <a:spLocks noChangeShapeType="1"/>
          </p:cNvSpPr>
          <p:nvPr/>
        </p:nvSpPr>
        <p:spPr bwMode="auto">
          <a:xfrm>
            <a:off x="2073329" y="4001437"/>
            <a:ext cx="4267201" cy="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Line 7"/>
          <p:cNvSpPr>
            <a:spLocks noChangeShapeType="1"/>
          </p:cNvSpPr>
          <p:nvPr/>
        </p:nvSpPr>
        <p:spPr bwMode="auto">
          <a:xfrm>
            <a:off x="2073329" y="4534837"/>
            <a:ext cx="4267201" cy="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Line 8"/>
          <p:cNvSpPr>
            <a:spLocks noChangeShapeType="1"/>
          </p:cNvSpPr>
          <p:nvPr/>
        </p:nvSpPr>
        <p:spPr bwMode="auto">
          <a:xfrm>
            <a:off x="2073329" y="5068237"/>
            <a:ext cx="4267201" cy="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Group 9"/>
          <p:cNvGrpSpPr/>
          <p:nvPr/>
        </p:nvGrpSpPr>
        <p:grpSpPr bwMode="auto">
          <a:xfrm>
            <a:off x="5502330" y="4076056"/>
            <a:ext cx="301625" cy="338138"/>
            <a:chOff x="298" y="2433"/>
            <a:chExt cx="190" cy="213"/>
          </a:xfrm>
        </p:grpSpPr>
        <p:sp>
          <p:nvSpPr>
            <p:cNvPr id="57" name="Oval 10"/>
            <p:cNvSpPr>
              <a:spLocks noChangeArrowheads="1"/>
            </p:cNvSpPr>
            <p:nvPr/>
          </p:nvSpPr>
          <p:spPr bwMode="auto">
            <a:xfrm>
              <a:off x="336" y="2480"/>
              <a:ext cx="112" cy="11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Rectangle 11"/>
            <p:cNvSpPr>
              <a:spLocks noChangeArrowheads="1"/>
            </p:cNvSpPr>
            <p:nvPr/>
          </p:nvSpPr>
          <p:spPr bwMode="auto">
            <a:xfrm>
              <a:off x="298" y="2433"/>
              <a:ext cx="19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Rectangle 12"/>
          <p:cNvSpPr>
            <a:spLocks noChangeArrowheads="1"/>
          </p:cNvSpPr>
          <p:nvPr/>
        </p:nvSpPr>
        <p:spPr bwMode="auto">
          <a:xfrm>
            <a:off x="6416730" y="3772836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Line 13"/>
          <p:cNvSpPr>
            <a:spLocks noChangeShapeType="1"/>
          </p:cNvSpPr>
          <p:nvPr/>
        </p:nvSpPr>
        <p:spPr bwMode="auto">
          <a:xfrm flipH="1">
            <a:off x="3521129" y="4236387"/>
            <a:ext cx="8382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15"/>
          <p:cNvSpPr>
            <a:spLocks noChangeArrowheads="1"/>
          </p:cNvSpPr>
          <p:nvPr/>
        </p:nvSpPr>
        <p:spPr bwMode="auto">
          <a:xfrm>
            <a:off x="3825929" y="4170810"/>
            <a:ext cx="644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" name="Group 16"/>
          <p:cNvGrpSpPr/>
          <p:nvPr/>
        </p:nvGrpSpPr>
        <p:grpSpPr bwMode="auto">
          <a:xfrm>
            <a:off x="4587930" y="4077637"/>
            <a:ext cx="330200" cy="400050"/>
            <a:chOff x="298" y="2434"/>
            <a:chExt cx="208" cy="252"/>
          </a:xfrm>
        </p:grpSpPr>
        <p:sp>
          <p:nvSpPr>
            <p:cNvPr id="55" name="Oval 17"/>
            <p:cNvSpPr>
              <a:spLocks noChangeArrowheads="1"/>
            </p:cNvSpPr>
            <p:nvPr/>
          </p:nvSpPr>
          <p:spPr bwMode="auto">
            <a:xfrm>
              <a:off x="336" y="2480"/>
              <a:ext cx="112" cy="11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Rectangle 18"/>
            <p:cNvSpPr>
              <a:spLocks noChangeArrowheads="1"/>
            </p:cNvSpPr>
            <p:nvPr/>
          </p:nvSpPr>
          <p:spPr bwMode="auto">
            <a:xfrm>
              <a:off x="298" y="2434"/>
              <a:ext cx="20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Line 19"/>
          <p:cNvSpPr>
            <a:spLocks noChangeShapeType="1"/>
          </p:cNvSpPr>
          <p:nvPr/>
        </p:nvSpPr>
        <p:spPr bwMode="auto">
          <a:xfrm>
            <a:off x="5654730" y="384903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Line 20"/>
          <p:cNvSpPr>
            <a:spLocks noChangeShapeType="1"/>
          </p:cNvSpPr>
          <p:nvPr/>
        </p:nvSpPr>
        <p:spPr bwMode="auto">
          <a:xfrm>
            <a:off x="4730805" y="384903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21"/>
          <p:cNvSpPr>
            <a:spLocks noChangeArrowheads="1"/>
          </p:cNvSpPr>
          <p:nvPr/>
        </p:nvSpPr>
        <p:spPr bwMode="auto">
          <a:xfrm>
            <a:off x="5197530" y="3544236"/>
            <a:ext cx="1241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(initital)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22"/>
          <p:cNvSpPr>
            <a:spLocks noChangeArrowheads="1"/>
          </p:cNvSpPr>
          <p:nvPr/>
        </p:nvSpPr>
        <p:spPr bwMode="auto">
          <a:xfrm>
            <a:off x="4206929" y="3544236"/>
            <a:ext cx="10445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(final)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Line 23"/>
          <p:cNvSpPr>
            <a:spLocks noChangeShapeType="1"/>
          </p:cNvSpPr>
          <p:nvPr/>
        </p:nvSpPr>
        <p:spPr bwMode="auto">
          <a:xfrm flipH="1">
            <a:off x="4807005" y="4234799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AutoShape 25"/>
          <p:cNvSpPr/>
          <p:nvPr/>
        </p:nvSpPr>
        <p:spPr bwMode="auto">
          <a:xfrm rot="16234124">
            <a:off x="5135617" y="4188762"/>
            <a:ext cx="152400" cy="944563"/>
          </a:xfrm>
          <a:prstGeom prst="leftBrace">
            <a:avLst>
              <a:gd name="adj1" fmla="val 51649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26"/>
          <p:cNvSpPr>
            <a:spLocks noChangeArrowheads="1"/>
          </p:cNvSpPr>
          <p:nvPr/>
        </p:nvSpPr>
        <p:spPr bwMode="auto">
          <a:xfrm>
            <a:off x="4997505" y="4706287"/>
            <a:ext cx="455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dL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27"/>
          <p:cNvSpPr>
            <a:spLocks noChangeArrowheads="1"/>
          </p:cNvSpPr>
          <p:nvPr/>
        </p:nvSpPr>
        <p:spPr bwMode="auto">
          <a:xfrm>
            <a:off x="1040346" y="2018340"/>
            <a:ext cx="736810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 moving point charge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position </a:t>
            </a:r>
            <a:r>
              <a:rPr lang="en-US" altLang="zh-CN" sz="20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a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position </a:t>
            </a:r>
            <a:r>
              <a:rPr lang="en-US" altLang="zh-CN" sz="20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the work expended is: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29"/>
          <p:cNvSpPr>
            <a:spLocks noChangeArrowheads="1"/>
          </p:cNvSpPr>
          <p:nvPr/>
        </p:nvSpPr>
        <p:spPr bwMode="auto">
          <a:xfrm>
            <a:off x="533400" y="5921514"/>
            <a:ext cx="828964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Herein, the path is along an electric field line (in the opposite direction),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over the differential path length, the field can be assumed constant.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" name="Group 34"/>
          <p:cNvGrpSpPr/>
          <p:nvPr/>
        </p:nvGrpSpPr>
        <p:grpSpPr bwMode="auto">
          <a:xfrm>
            <a:off x="2690017" y="5271867"/>
            <a:ext cx="4068763" cy="458788"/>
            <a:chOff x="2064" y="1499"/>
            <a:chExt cx="2563" cy="289"/>
          </a:xfrm>
        </p:grpSpPr>
        <p:sp>
          <p:nvSpPr>
            <p:cNvPr id="53" name="Rectangle 28"/>
            <p:cNvSpPr>
              <a:spLocks noChangeArrowheads="1"/>
            </p:cNvSpPr>
            <p:nvPr/>
          </p:nvSpPr>
          <p:spPr bwMode="auto">
            <a:xfrm>
              <a:off x="2064" y="1536"/>
              <a:ext cx="25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dW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altLang="zh-CN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0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appl</a:t>
              </a:r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dL</a:t>
              </a:r>
              <a:r>
                <a:rPr lang="en-US" altLang="ja-JP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QE </a:t>
              </a:r>
              <a:r>
                <a:rPr lang="en-US" altLang="ja-JP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dL</a:t>
              </a:r>
              <a:r>
                <a:rPr lang="en-US" altLang="ja-JP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-Q</a:t>
              </a:r>
              <a:r>
                <a:rPr lang="en-US" altLang="ja-JP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 </a:t>
              </a:r>
              <a:r>
                <a:rPr lang="en-US" altLang="ja-JP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ja-JP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ja-JP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[J]</a:t>
              </a:r>
              <a:endPara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Rectangle 33"/>
            <p:cNvSpPr>
              <a:spLocks noChangeArrowheads="1"/>
            </p:cNvSpPr>
            <p:nvPr/>
          </p:nvSpPr>
          <p:spPr bwMode="auto">
            <a:xfrm>
              <a:off x="4050" y="1499"/>
              <a:ext cx="15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Rectangle 35"/>
          <p:cNvSpPr>
            <a:spLocks noChangeArrowheads="1"/>
          </p:cNvSpPr>
          <p:nvPr/>
        </p:nvSpPr>
        <p:spPr bwMode="auto">
          <a:xfrm>
            <a:off x="4983217" y="4201462"/>
            <a:ext cx="484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Line 37"/>
          <p:cNvSpPr>
            <a:spLocks noChangeShapeType="1"/>
          </p:cNvSpPr>
          <p:nvPr/>
        </p:nvSpPr>
        <p:spPr bwMode="auto">
          <a:xfrm>
            <a:off x="5442742" y="5804776"/>
            <a:ext cx="1106863" cy="0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Forcing a charge against the field in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an arbitrary direction </a:t>
            </a:r>
            <a:r>
              <a:rPr lang="zh-CN" altLang="en-US" sz="28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任意方向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9" name="Line 4"/>
          <p:cNvSpPr>
            <a:spLocks noChangeShapeType="1"/>
          </p:cNvSpPr>
          <p:nvPr/>
        </p:nvSpPr>
        <p:spPr bwMode="auto">
          <a:xfrm>
            <a:off x="1551107" y="3174999"/>
            <a:ext cx="4267201" cy="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Line 5"/>
          <p:cNvSpPr>
            <a:spLocks noChangeShapeType="1"/>
          </p:cNvSpPr>
          <p:nvPr/>
        </p:nvSpPr>
        <p:spPr bwMode="auto">
          <a:xfrm>
            <a:off x="1551107" y="3708399"/>
            <a:ext cx="4267201" cy="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Line 6"/>
          <p:cNvSpPr>
            <a:spLocks noChangeShapeType="1"/>
          </p:cNvSpPr>
          <p:nvPr/>
        </p:nvSpPr>
        <p:spPr bwMode="auto">
          <a:xfrm>
            <a:off x="1551107" y="4241799"/>
            <a:ext cx="4267201" cy="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Line 7"/>
          <p:cNvSpPr>
            <a:spLocks noChangeShapeType="1"/>
          </p:cNvSpPr>
          <p:nvPr/>
        </p:nvSpPr>
        <p:spPr bwMode="auto">
          <a:xfrm>
            <a:off x="1551107" y="4775200"/>
            <a:ext cx="4267201" cy="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Line 8"/>
          <p:cNvSpPr>
            <a:spLocks noChangeShapeType="1"/>
          </p:cNvSpPr>
          <p:nvPr/>
        </p:nvSpPr>
        <p:spPr bwMode="auto">
          <a:xfrm>
            <a:off x="1551107" y="5308600"/>
            <a:ext cx="4267201" cy="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4" name="Group 9"/>
          <p:cNvGrpSpPr/>
          <p:nvPr/>
        </p:nvGrpSpPr>
        <p:grpSpPr bwMode="auto">
          <a:xfrm>
            <a:off x="4980107" y="4317999"/>
            <a:ext cx="330200" cy="400050"/>
            <a:chOff x="298" y="2434"/>
            <a:chExt cx="208" cy="252"/>
          </a:xfrm>
        </p:grpSpPr>
        <p:sp>
          <p:nvSpPr>
            <p:cNvPr id="88" name="Oval 10"/>
            <p:cNvSpPr>
              <a:spLocks noChangeArrowheads="1"/>
            </p:cNvSpPr>
            <p:nvPr/>
          </p:nvSpPr>
          <p:spPr bwMode="auto">
            <a:xfrm>
              <a:off x="336" y="2480"/>
              <a:ext cx="112" cy="11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Rectangle 11"/>
            <p:cNvSpPr>
              <a:spLocks noChangeArrowheads="1"/>
            </p:cNvSpPr>
            <p:nvPr/>
          </p:nvSpPr>
          <p:spPr bwMode="auto">
            <a:xfrm>
              <a:off x="298" y="2434"/>
              <a:ext cx="20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5" name="Rectangle 12"/>
          <p:cNvSpPr>
            <a:spLocks noChangeArrowheads="1"/>
          </p:cNvSpPr>
          <p:nvPr/>
        </p:nvSpPr>
        <p:spPr bwMode="auto">
          <a:xfrm>
            <a:off x="5894507" y="4013199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Line 13"/>
          <p:cNvSpPr>
            <a:spLocks noChangeShapeType="1"/>
          </p:cNvSpPr>
          <p:nvPr/>
        </p:nvSpPr>
        <p:spPr bwMode="auto">
          <a:xfrm flipH="1">
            <a:off x="3760907" y="4241799"/>
            <a:ext cx="8382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3556119" y="4286249"/>
            <a:ext cx="1452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appl</a:t>
            </a:r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 = -Q 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8" name="Group 15"/>
          <p:cNvGrpSpPr/>
          <p:nvPr/>
        </p:nvGrpSpPr>
        <p:grpSpPr bwMode="auto">
          <a:xfrm>
            <a:off x="2541707" y="3251199"/>
            <a:ext cx="330200" cy="400050"/>
            <a:chOff x="298" y="2434"/>
            <a:chExt cx="208" cy="252"/>
          </a:xfrm>
        </p:grpSpPr>
        <p:sp>
          <p:nvSpPr>
            <p:cNvPr id="86" name="Oval 16"/>
            <p:cNvSpPr>
              <a:spLocks noChangeArrowheads="1"/>
            </p:cNvSpPr>
            <p:nvPr/>
          </p:nvSpPr>
          <p:spPr bwMode="auto">
            <a:xfrm>
              <a:off x="336" y="2480"/>
              <a:ext cx="112" cy="11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Rectangle 17"/>
            <p:cNvSpPr>
              <a:spLocks noChangeArrowheads="1"/>
            </p:cNvSpPr>
            <p:nvPr/>
          </p:nvSpPr>
          <p:spPr bwMode="auto">
            <a:xfrm>
              <a:off x="298" y="2434"/>
              <a:ext cx="20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9" name="Line 18"/>
          <p:cNvSpPr>
            <a:spLocks noChangeShapeType="1"/>
          </p:cNvSpPr>
          <p:nvPr/>
        </p:nvSpPr>
        <p:spPr bwMode="auto">
          <a:xfrm>
            <a:off x="5132507" y="4089399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Line 19"/>
          <p:cNvSpPr>
            <a:spLocks noChangeShapeType="1"/>
          </p:cNvSpPr>
          <p:nvPr/>
        </p:nvSpPr>
        <p:spPr bwMode="auto">
          <a:xfrm>
            <a:off x="2684582" y="3022599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Rectangle 20"/>
          <p:cNvSpPr>
            <a:spLocks noChangeArrowheads="1"/>
          </p:cNvSpPr>
          <p:nvPr/>
        </p:nvSpPr>
        <p:spPr bwMode="auto">
          <a:xfrm>
            <a:off x="4976932" y="3784599"/>
            <a:ext cx="341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Rectangle 21"/>
          <p:cNvSpPr>
            <a:spLocks noChangeArrowheads="1"/>
          </p:cNvSpPr>
          <p:nvPr/>
        </p:nvSpPr>
        <p:spPr bwMode="auto">
          <a:xfrm>
            <a:off x="2538532" y="2717799"/>
            <a:ext cx="341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Line 22"/>
          <p:cNvSpPr>
            <a:spLocks noChangeShapeType="1"/>
          </p:cNvSpPr>
          <p:nvPr/>
        </p:nvSpPr>
        <p:spPr bwMode="auto">
          <a:xfrm flipH="1" flipV="1">
            <a:off x="2832219" y="3498849"/>
            <a:ext cx="2133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Rectangle 25"/>
          <p:cNvSpPr>
            <a:spLocks noChangeArrowheads="1"/>
          </p:cNvSpPr>
          <p:nvPr/>
        </p:nvSpPr>
        <p:spPr bwMode="auto">
          <a:xfrm>
            <a:off x="941507" y="2076449"/>
            <a:ext cx="7485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matters now is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component of force in the direction of motion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 29"/>
          <p:cNvSpPr>
            <a:spLocks noChangeArrowheads="1"/>
          </p:cNvSpPr>
          <p:nvPr/>
        </p:nvSpPr>
        <p:spPr bwMode="auto">
          <a:xfrm>
            <a:off x="3921244" y="3979862"/>
            <a:ext cx="346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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" charset="2"/>
            </a:endParaRPr>
          </a:p>
        </p:txBody>
      </p:sp>
      <p:sp>
        <p:nvSpPr>
          <p:cNvPr id="76" name="Line 30"/>
          <p:cNvSpPr>
            <a:spLocks noChangeShapeType="1"/>
          </p:cNvSpPr>
          <p:nvPr/>
        </p:nvSpPr>
        <p:spPr bwMode="auto">
          <a:xfrm flipH="1" flipV="1">
            <a:off x="3902194" y="3954462"/>
            <a:ext cx="676275" cy="282575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Line 31"/>
          <p:cNvSpPr>
            <a:spLocks noChangeShapeType="1"/>
          </p:cNvSpPr>
          <p:nvPr/>
        </p:nvSpPr>
        <p:spPr bwMode="auto">
          <a:xfrm flipV="1">
            <a:off x="3789482" y="3968749"/>
            <a:ext cx="120650" cy="2730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32"/>
          <p:cNvSpPr>
            <a:spLocks noChangeArrowheads="1"/>
          </p:cNvSpPr>
          <p:nvPr/>
        </p:nvSpPr>
        <p:spPr bwMode="auto">
          <a:xfrm>
            <a:off x="3303707" y="3200399"/>
            <a:ext cx="34718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 magnitude is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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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Line 33"/>
          <p:cNvSpPr>
            <a:spLocks noChangeShapeType="1"/>
          </p:cNvSpPr>
          <p:nvPr/>
        </p:nvSpPr>
        <p:spPr bwMode="auto">
          <a:xfrm flipH="1">
            <a:off x="4065707" y="3565524"/>
            <a:ext cx="220663" cy="460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Line 34"/>
          <p:cNvSpPr>
            <a:spLocks noChangeShapeType="1"/>
          </p:cNvSpPr>
          <p:nvPr/>
        </p:nvSpPr>
        <p:spPr bwMode="auto">
          <a:xfrm flipH="1" flipV="1">
            <a:off x="4146669" y="4054474"/>
            <a:ext cx="292100" cy="130175"/>
          </a:xfrm>
          <a:prstGeom prst="line">
            <a:avLst/>
          </a:prstGeom>
          <a:noFill/>
          <a:ln w="19050">
            <a:solidFill>
              <a:srgbClr val="FF16AB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Rectangle 35"/>
          <p:cNvSpPr>
            <a:spLocks noChangeArrowheads="1"/>
          </p:cNvSpPr>
          <p:nvPr/>
        </p:nvSpPr>
        <p:spPr bwMode="auto">
          <a:xfrm>
            <a:off x="4222869" y="3860799"/>
            <a:ext cx="484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Rectangle 37"/>
          <p:cNvSpPr>
            <a:spLocks noChangeArrowheads="1"/>
          </p:cNvSpPr>
          <p:nvPr/>
        </p:nvSpPr>
        <p:spPr bwMode="auto">
          <a:xfrm>
            <a:off x="939919" y="5562600"/>
            <a:ext cx="7002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work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moving charge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distance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be: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Rectangle 38"/>
          <p:cNvSpPr>
            <a:spLocks noChangeArrowheads="1"/>
          </p:cNvSpPr>
          <p:nvPr/>
        </p:nvSpPr>
        <p:spPr bwMode="auto">
          <a:xfrm>
            <a:off x="1890832" y="6115050"/>
            <a:ext cx="4074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dW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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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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[J]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Rectangle 39"/>
          <p:cNvSpPr>
            <a:spLocks noChangeArrowheads="1"/>
          </p:cNvSpPr>
          <p:nvPr/>
        </p:nvSpPr>
        <p:spPr bwMode="auto">
          <a:xfrm>
            <a:off x="5037676" y="6078387"/>
            <a:ext cx="249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Rectangle 40"/>
          <p:cNvSpPr>
            <a:spLocks noChangeArrowheads="1"/>
          </p:cNvSpPr>
          <p:nvPr/>
        </p:nvSpPr>
        <p:spPr bwMode="auto">
          <a:xfrm>
            <a:off x="1855907" y="6070600"/>
            <a:ext cx="4038600" cy="558800"/>
          </a:xfrm>
          <a:prstGeom prst="rect">
            <a:avLst/>
          </a:prstGeom>
          <a:noFill/>
          <a:ln w="9525">
            <a:solidFill>
              <a:srgbClr val="FF319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Forcing a charge against the field in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an arbitrary direction </a:t>
            </a:r>
            <a:r>
              <a:rPr lang="zh-CN" altLang="en-US" sz="28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任意方向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9" name="Line 4"/>
          <p:cNvSpPr>
            <a:spLocks noChangeShapeType="1"/>
          </p:cNvSpPr>
          <p:nvPr/>
        </p:nvSpPr>
        <p:spPr bwMode="auto">
          <a:xfrm>
            <a:off x="1676400" y="3657600"/>
            <a:ext cx="4267201" cy="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Line 5"/>
          <p:cNvSpPr>
            <a:spLocks noChangeShapeType="1"/>
          </p:cNvSpPr>
          <p:nvPr/>
        </p:nvSpPr>
        <p:spPr bwMode="auto">
          <a:xfrm>
            <a:off x="1676400" y="4191000"/>
            <a:ext cx="4267201" cy="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Line 6"/>
          <p:cNvSpPr>
            <a:spLocks noChangeShapeType="1"/>
          </p:cNvSpPr>
          <p:nvPr/>
        </p:nvSpPr>
        <p:spPr bwMode="auto">
          <a:xfrm>
            <a:off x="1676400" y="4724400"/>
            <a:ext cx="4267201" cy="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Line 7"/>
          <p:cNvSpPr>
            <a:spLocks noChangeShapeType="1"/>
          </p:cNvSpPr>
          <p:nvPr/>
        </p:nvSpPr>
        <p:spPr bwMode="auto">
          <a:xfrm>
            <a:off x="1676400" y="5257800"/>
            <a:ext cx="4267201" cy="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Line 8"/>
          <p:cNvSpPr>
            <a:spLocks noChangeShapeType="1"/>
          </p:cNvSpPr>
          <p:nvPr/>
        </p:nvSpPr>
        <p:spPr bwMode="auto">
          <a:xfrm>
            <a:off x="1676400" y="5791200"/>
            <a:ext cx="4267201" cy="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5" name="Group 9"/>
          <p:cNvGrpSpPr/>
          <p:nvPr/>
        </p:nvGrpSpPr>
        <p:grpSpPr bwMode="auto">
          <a:xfrm>
            <a:off x="5105401" y="4800600"/>
            <a:ext cx="330200" cy="400050"/>
            <a:chOff x="298" y="2434"/>
            <a:chExt cx="208" cy="252"/>
          </a:xfrm>
        </p:grpSpPr>
        <p:sp>
          <p:nvSpPr>
            <p:cNvPr id="95" name="Oval 10"/>
            <p:cNvSpPr>
              <a:spLocks noChangeArrowheads="1"/>
            </p:cNvSpPr>
            <p:nvPr/>
          </p:nvSpPr>
          <p:spPr bwMode="auto">
            <a:xfrm>
              <a:off x="336" y="2480"/>
              <a:ext cx="112" cy="11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Rectangle 11"/>
            <p:cNvSpPr>
              <a:spLocks noChangeArrowheads="1"/>
            </p:cNvSpPr>
            <p:nvPr/>
          </p:nvSpPr>
          <p:spPr bwMode="auto">
            <a:xfrm>
              <a:off x="298" y="2434"/>
              <a:ext cx="20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6" name="Rectangle 12"/>
          <p:cNvSpPr>
            <a:spLocks noChangeArrowheads="1"/>
          </p:cNvSpPr>
          <p:nvPr/>
        </p:nvSpPr>
        <p:spPr bwMode="auto">
          <a:xfrm>
            <a:off x="6019801" y="4495800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Line 13"/>
          <p:cNvSpPr>
            <a:spLocks noChangeShapeType="1"/>
          </p:cNvSpPr>
          <p:nvPr/>
        </p:nvSpPr>
        <p:spPr bwMode="auto">
          <a:xfrm flipH="1">
            <a:off x="3886200" y="4724400"/>
            <a:ext cx="8382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14"/>
          <p:cNvSpPr>
            <a:spLocks noChangeArrowheads="1"/>
          </p:cNvSpPr>
          <p:nvPr/>
        </p:nvSpPr>
        <p:spPr bwMode="auto">
          <a:xfrm>
            <a:off x="3681413" y="4768850"/>
            <a:ext cx="1452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appl</a:t>
            </a:r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 = -Q 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" name="Group 15"/>
          <p:cNvGrpSpPr/>
          <p:nvPr/>
        </p:nvGrpSpPr>
        <p:grpSpPr bwMode="auto">
          <a:xfrm>
            <a:off x="2667000" y="3733800"/>
            <a:ext cx="330200" cy="400050"/>
            <a:chOff x="298" y="2434"/>
            <a:chExt cx="208" cy="252"/>
          </a:xfrm>
        </p:grpSpPr>
        <p:sp>
          <p:nvSpPr>
            <p:cNvPr id="93" name="Oval 16"/>
            <p:cNvSpPr>
              <a:spLocks noChangeArrowheads="1"/>
            </p:cNvSpPr>
            <p:nvPr/>
          </p:nvSpPr>
          <p:spPr bwMode="auto">
            <a:xfrm>
              <a:off x="336" y="2480"/>
              <a:ext cx="112" cy="11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Rectangle 17"/>
            <p:cNvSpPr>
              <a:spLocks noChangeArrowheads="1"/>
            </p:cNvSpPr>
            <p:nvPr/>
          </p:nvSpPr>
          <p:spPr bwMode="auto">
            <a:xfrm>
              <a:off x="298" y="2434"/>
              <a:ext cx="20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Line 18"/>
          <p:cNvSpPr>
            <a:spLocks noChangeShapeType="1"/>
          </p:cNvSpPr>
          <p:nvPr/>
        </p:nvSpPr>
        <p:spPr bwMode="auto">
          <a:xfrm>
            <a:off x="5257801" y="4572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Line 19"/>
          <p:cNvSpPr>
            <a:spLocks noChangeShapeType="1"/>
          </p:cNvSpPr>
          <p:nvPr/>
        </p:nvSpPr>
        <p:spPr bwMode="auto">
          <a:xfrm>
            <a:off x="2809875" y="3505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20"/>
          <p:cNvSpPr>
            <a:spLocks noChangeArrowheads="1"/>
          </p:cNvSpPr>
          <p:nvPr/>
        </p:nvSpPr>
        <p:spPr bwMode="auto">
          <a:xfrm>
            <a:off x="5102226" y="4267200"/>
            <a:ext cx="11699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(initial)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 21"/>
          <p:cNvSpPr>
            <a:spLocks noChangeArrowheads="1"/>
          </p:cNvSpPr>
          <p:nvPr/>
        </p:nvSpPr>
        <p:spPr bwMode="auto">
          <a:xfrm>
            <a:off x="2663825" y="3200400"/>
            <a:ext cx="10398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(final)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Line 22"/>
          <p:cNvSpPr>
            <a:spLocks noChangeShapeType="1"/>
          </p:cNvSpPr>
          <p:nvPr/>
        </p:nvSpPr>
        <p:spPr bwMode="auto">
          <a:xfrm flipH="1" flipV="1">
            <a:off x="2957513" y="3981450"/>
            <a:ext cx="2133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ectangle 23"/>
          <p:cNvSpPr>
            <a:spLocks noChangeArrowheads="1"/>
          </p:cNvSpPr>
          <p:nvPr/>
        </p:nvSpPr>
        <p:spPr bwMode="auto">
          <a:xfrm>
            <a:off x="808037" y="2097107"/>
            <a:ext cx="71151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work done--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differential work contributions along the path are summed to give: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Rectangle 24"/>
          <p:cNvSpPr>
            <a:spLocks noChangeArrowheads="1"/>
          </p:cNvSpPr>
          <p:nvPr/>
        </p:nvSpPr>
        <p:spPr bwMode="auto">
          <a:xfrm>
            <a:off x="4046538" y="4462463"/>
            <a:ext cx="346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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" charset="2"/>
            </a:endParaRPr>
          </a:p>
        </p:txBody>
      </p:sp>
      <p:sp>
        <p:nvSpPr>
          <p:cNvPr id="57" name="Line 25"/>
          <p:cNvSpPr>
            <a:spLocks noChangeShapeType="1"/>
          </p:cNvSpPr>
          <p:nvPr/>
        </p:nvSpPr>
        <p:spPr bwMode="auto">
          <a:xfrm flipH="1" flipV="1">
            <a:off x="4027488" y="4437063"/>
            <a:ext cx="676275" cy="282575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Line 26"/>
          <p:cNvSpPr>
            <a:spLocks noChangeShapeType="1"/>
          </p:cNvSpPr>
          <p:nvPr/>
        </p:nvSpPr>
        <p:spPr bwMode="auto">
          <a:xfrm flipV="1">
            <a:off x="3914775" y="4451350"/>
            <a:ext cx="120650" cy="2730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Line 29"/>
          <p:cNvSpPr>
            <a:spLocks noChangeShapeType="1"/>
          </p:cNvSpPr>
          <p:nvPr/>
        </p:nvSpPr>
        <p:spPr bwMode="auto">
          <a:xfrm flipH="1" flipV="1">
            <a:off x="4271963" y="4537075"/>
            <a:ext cx="292100" cy="130175"/>
          </a:xfrm>
          <a:prstGeom prst="line">
            <a:avLst/>
          </a:prstGeom>
          <a:noFill/>
          <a:ln w="19050">
            <a:solidFill>
              <a:srgbClr val="FF16AB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Rectangle 30"/>
          <p:cNvSpPr>
            <a:spLocks noChangeArrowheads="1"/>
          </p:cNvSpPr>
          <p:nvPr/>
        </p:nvSpPr>
        <p:spPr bwMode="auto">
          <a:xfrm>
            <a:off x="4348163" y="4343400"/>
            <a:ext cx="484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" name="Picture 3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475" y="2536825"/>
            <a:ext cx="2422525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852486" y="6096000"/>
            <a:ext cx="73009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The path must be specified before the integral can be evaluated.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Total work done over an arbitrary path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35" name="Group 8"/>
          <p:cNvGrpSpPr/>
          <p:nvPr/>
        </p:nvGrpSpPr>
        <p:grpSpPr bwMode="auto">
          <a:xfrm>
            <a:off x="692943" y="1600200"/>
            <a:ext cx="7804151" cy="4724401"/>
            <a:chOff x="882" y="937"/>
            <a:chExt cx="4916" cy="2976"/>
          </a:xfrm>
        </p:grpSpPr>
        <p:pic>
          <p:nvPicPr>
            <p:cNvPr id="37" name="Picture 4" descr="Chapter 4 Fig 1"/>
            <p:cNvPicPr>
              <a:picLocks noChangeAspect="1" noChangeArrowheads="1"/>
            </p:cNvPicPr>
            <p:nvPr/>
          </p:nvPicPr>
          <p:blipFill>
            <a:blip r:embed="rId2" cstate="print">
              <a:lum contras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" y="1536"/>
              <a:ext cx="3628" cy="23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4" y="1645"/>
              <a:ext cx="1526" cy="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" name="Rectangle 7"/>
            <p:cNvSpPr>
              <a:spLocks noChangeArrowheads="1"/>
            </p:cNvSpPr>
            <p:nvPr/>
          </p:nvSpPr>
          <p:spPr bwMode="auto">
            <a:xfrm>
              <a:off x="882" y="937"/>
              <a:ext cx="4916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The integral expression for work is </a:t>
              </a:r>
              <a:r>
                <a:rPr lang="en-US" altLang="zh-CN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completely general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 Any shape path may be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taken, with the component of force evaluated on each differential path segment.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Rectangle 9"/>
          <p:cNvSpPr>
            <a:spLocks noChangeArrowheads="1"/>
          </p:cNvSpPr>
          <p:nvPr/>
        </p:nvSpPr>
        <p:spPr bwMode="auto">
          <a:xfrm>
            <a:off x="2272505" y="5410200"/>
            <a:ext cx="649049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The integral expression involving the scalar product of the field with a differential path vector is called a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integral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a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contour integral.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线积分</a:t>
            </a:r>
            <a:endParaRPr lang="en-US" altLang="zh-CN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924" y="4114800"/>
            <a:ext cx="237517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Total work done over an arbitrary path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7" name="Picture 4" descr="Chapter 4 Fig 1"/>
          <p:cNvPicPr>
            <a:picLocks noChangeAspect="1" noChangeArrowheads="1"/>
          </p:cNvPicPr>
          <p:nvPr/>
        </p:nvPicPr>
        <p:blipFill>
          <a:blip r:embed="rId2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92" y="2275840"/>
            <a:ext cx="5759451" cy="377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92" y="2514600"/>
            <a:ext cx="2422525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Rectangle 7"/>
          <p:cNvSpPr>
            <a:spLocks noChangeArrowheads="1"/>
          </p:cNvSpPr>
          <p:nvPr/>
        </p:nvSpPr>
        <p:spPr bwMode="auto">
          <a:xfrm>
            <a:off x="692943" y="1600200"/>
            <a:ext cx="780415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The integral expression for work is completely general:  Any shape path may be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taken, with the component of force evaluated on each differential path segment.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33901" y="3886200"/>
            <a:ext cx="46101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uniform electric field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均匀电场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selected for simplicity. The path is divided into six segments,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 . .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components of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along each segment are denoted by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 . .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857" y="2646363"/>
            <a:ext cx="237517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900" y="5467529"/>
            <a:ext cx="4953000" cy="426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901" y="5904068"/>
            <a:ext cx="4991099" cy="380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Total work done over an arbitrary path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7" name="Picture 4" descr="Chapter 4 Fig 1"/>
          <p:cNvPicPr>
            <a:picLocks noChangeAspect="1" noChangeArrowheads="1"/>
          </p:cNvPicPr>
          <p:nvPr/>
        </p:nvPicPr>
        <p:blipFill>
          <a:blip r:embed="rId2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92" y="1925661"/>
            <a:ext cx="5075808" cy="332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89" y="1789647"/>
            <a:ext cx="2097612" cy="77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04" y="2611461"/>
            <a:ext cx="2070370" cy="6642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958" y="3754461"/>
            <a:ext cx="4953000" cy="426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959" y="4191000"/>
            <a:ext cx="4991099" cy="380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058" y="4623549"/>
            <a:ext cx="3800475" cy="65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058" y="5340281"/>
            <a:ext cx="3543298" cy="374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7" y="3181701"/>
            <a:ext cx="3402807" cy="422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501924"/>
            <a:ext cx="2136104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599" y="1849461"/>
            <a:ext cx="2085433" cy="696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接连接符 5"/>
          <p:cNvCxnSpPr/>
          <p:nvPr/>
        </p:nvCxnSpPr>
        <p:spPr>
          <a:xfrm>
            <a:off x="3556959" y="5715000"/>
            <a:ext cx="3581397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5094287" y="3679955"/>
            <a:ext cx="3402807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609600" y="2078061"/>
            <a:ext cx="4267200" cy="2805020"/>
          </a:xfrm>
          <a:prstGeom prst="straightConnector1">
            <a:avLst/>
          </a:prstGeom>
          <a:ln w="28575">
            <a:solidFill>
              <a:srgbClr val="0000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533400" y="5860143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In a uniform electric field, the work involved in moving a charge does not 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depend on the particular path we have selected along which to carry the charge.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Line Integral Evaluation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线积分计算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2743200"/>
            <a:ext cx="3327400" cy="38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3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0" y="1676400"/>
            <a:ext cx="1517650" cy="877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4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737" y="3324225"/>
            <a:ext cx="3344863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5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346575"/>
            <a:ext cx="8145463" cy="98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6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5289550"/>
            <a:ext cx="5018088" cy="95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7" name="Rectangle 8"/>
          <p:cNvSpPr>
            <a:spLocks noChangeArrowheads="1"/>
          </p:cNvSpPr>
          <p:nvPr/>
        </p:nvSpPr>
        <p:spPr bwMode="auto">
          <a:xfrm>
            <a:off x="2036763" y="19494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We wish to find: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9"/>
          <p:cNvSpPr>
            <a:spLocks noChangeArrowheads="1"/>
          </p:cNvSpPr>
          <p:nvPr/>
        </p:nvSpPr>
        <p:spPr bwMode="auto">
          <a:xfrm>
            <a:off x="2062163" y="2759075"/>
            <a:ext cx="749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10"/>
          <p:cNvSpPr>
            <a:spLocks noChangeArrowheads="1"/>
          </p:cNvSpPr>
          <p:nvPr/>
        </p:nvSpPr>
        <p:spPr bwMode="auto">
          <a:xfrm>
            <a:off x="2133600" y="3321050"/>
            <a:ext cx="517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11"/>
          <p:cNvSpPr>
            <a:spLocks noChangeArrowheads="1"/>
          </p:cNvSpPr>
          <p:nvPr/>
        </p:nvSpPr>
        <p:spPr bwMode="auto">
          <a:xfrm>
            <a:off x="739775" y="3910013"/>
            <a:ext cx="12811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using these: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12"/>
          <p:cNvSpPr>
            <a:spLocks noChangeArrowheads="1"/>
          </p:cNvSpPr>
          <p:nvPr/>
        </p:nvSpPr>
        <p:spPr bwMode="auto">
          <a:xfrm>
            <a:off x="1676400" y="5257800"/>
            <a:ext cx="5181600" cy="99060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979737" y="3733800"/>
            <a:ext cx="326866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9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392" y="3253505"/>
            <a:ext cx="5085014" cy="2103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337" y="1682095"/>
            <a:ext cx="237648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1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643" y="2286000"/>
            <a:ext cx="2157413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609600" y="1666220"/>
            <a:ext cx="27813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electric field is given as: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8"/>
          <p:cNvSpPr>
            <a:spLocks noChangeArrowheads="1"/>
          </p:cNvSpPr>
          <p:nvPr/>
        </p:nvSpPr>
        <p:spPr bwMode="auto">
          <a:xfrm>
            <a:off x="612775" y="2020669"/>
            <a:ext cx="82264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wish to find the work done in moving a point charge of magnitude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2C over the shorter arc of the circle given by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9"/>
          <p:cNvSpPr>
            <a:spLocks noChangeArrowheads="1"/>
          </p:cNvSpPr>
          <p:nvPr/>
        </p:nvSpPr>
        <p:spPr bwMode="auto">
          <a:xfrm>
            <a:off x="609600" y="2667000"/>
            <a:ext cx="6108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 point is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0, 1) and the final point is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(0.8, 0.6 ,1):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10"/>
          <p:cNvSpPr>
            <a:spLocks noChangeArrowheads="1"/>
          </p:cNvSpPr>
          <p:nvPr/>
        </p:nvSpPr>
        <p:spPr bwMode="auto">
          <a:xfrm>
            <a:off x="612775" y="5722521"/>
            <a:ext cx="6435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basic setup, in which the path has not yet been specified.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6248400" y="2405878"/>
            <a:ext cx="2743200" cy="3080522"/>
            <a:chOff x="6248400" y="2405878"/>
            <a:chExt cx="2743200" cy="3080522"/>
          </a:xfrm>
        </p:grpSpPr>
        <p:cxnSp>
          <p:nvCxnSpPr>
            <p:cNvPr id="8" name="直接箭头连接符 7"/>
            <p:cNvCxnSpPr/>
            <p:nvPr/>
          </p:nvCxnSpPr>
          <p:spPr>
            <a:xfrm>
              <a:off x="7315200" y="4425177"/>
              <a:ext cx="1524000" cy="0"/>
            </a:xfrm>
            <a:prstGeom prst="straightConnector1">
              <a:avLst/>
            </a:prstGeom>
            <a:ln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 flipH="1">
              <a:off x="6477000" y="4425177"/>
              <a:ext cx="838200" cy="990600"/>
            </a:xfrm>
            <a:prstGeom prst="straightConnector1">
              <a:avLst/>
            </a:prstGeom>
            <a:ln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 flipV="1">
              <a:off x="7315200" y="2616221"/>
              <a:ext cx="0" cy="1808956"/>
            </a:xfrm>
            <a:prstGeom prst="straightConnector1">
              <a:avLst/>
            </a:prstGeom>
            <a:ln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6561971" y="3330200"/>
              <a:ext cx="1524000" cy="784600"/>
            </a:xfrm>
            <a:prstGeom prst="ellipse">
              <a:avLst/>
            </a:prstGeom>
            <a:noFill/>
            <a:ln w="12700"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6248400" y="5117068"/>
              <a:ext cx="28725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i="1" dirty="0"/>
            </a:p>
          </p:txBody>
        </p:sp>
        <p:sp>
          <p:nvSpPr>
            <p:cNvPr id="38" name="矩形 37"/>
            <p:cNvSpPr/>
            <p:nvPr/>
          </p:nvSpPr>
          <p:spPr>
            <a:xfrm>
              <a:off x="8704342" y="4387078"/>
              <a:ext cx="28725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 i="1" dirty="0"/>
            </a:p>
          </p:txBody>
        </p:sp>
        <p:sp>
          <p:nvSpPr>
            <p:cNvPr id="39" name="矩形 38"/>
            <p:cNvSpPr/>
            <p:nvPr/>
          </p:nvSpPr>
          <p:spPr>
            <a:xfrm>
              <a:off x="7323971" y="2405878"/>
              <a:ext cx="27443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zh-CN" altLang="en-US" i="1" dirty="0"/>
            </a:p>
          </p:txBody>
        </p:sp>
        <p:sp>
          <p:nvSpPr>
            <p:cNvPr id="40" name="椭圆 39"/>
            <p:cNvSpPr/>
            <p:nvPr/>
          </p:nvSpPr>
          <p:spPr>
            <a:xfrm flipH="1">
              <a:off x="7279459" y="3733800"/>
              <a:ext cx="62054" cy="61914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 flipH="1">
              <a:off x="7024546" y="4052886"/>
              <a:ext cx="62054" cy="61914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6738585" y="4018548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dirty="0"/>
            </a:p>
          </p:txBody>
        </p:sp>
        <p:sp>
          <p:nvSpPr>
            <p:cNvPr id="48" name="椭圆 47"/>
            <p:cNvSpPr/>
            <p:nvPr/>
          </p:nvSpPr>
          <p:spPr>
            <a:xfrm flipH="1">
              <a:off x="7710346" y="4038600"/>
              <a:ext cx="62054" cy="61914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7772400" y="3936769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 (</a:t>
            </a:r>
            <a:r>
              <a:rPr lang="en-US" altLang="zh-CN" sz="28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Cont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.’d)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5" name="Group 5"/>
          <p:cNvGrpSpPr/>
          <p:nvPr/>
        </p:nvGrpSpPr>
        <p:grpSpPr bwMode="auto">
          <a:xfrm>
            <a:off x="1844526" y="1751012"/>
            <a:ext cx="4786313" cy="766763"/>
            <a:chOff x="1488" y="1200"/>
            <a:chExt cx="3015" cy="483"/>
          </a:xfrm>
        </p:grpSpPr>
        <p:pic>
          <p:nvPicPr>
            <p:cNvPr id="27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8" y="1200"/>
              <a:ext cx="2775" cy="4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8" name="Rectangle 4"/>
            <p:cNvSpPr>
              <a:spLocks noChangeArrowheads="1"/>
            </p:cNvSpPr>
            <p:nvPr/>
          </p:nvSpPr>
          <p:spPr bwMode="auto">
            <a:xfrm>
              <a:off x="1488" y="1334"/>
              <a:ext cx="23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374650" y="1949450"/>
            <a:ext cx="1435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We now have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V="1">
            <a:off x="5638800" y="1676400"/>
            <a:ext cx="990600" cy="76200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421931" y="2491584"/>
            <a:ext cx="856966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the third integral vanishes because there is no motion along the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direction, and we need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include the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first integral, and the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dependence on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second integral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315" y="4016375"/>
            <a:ext cx="6654800" cy="238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5" name="Line 13"/>
          <p:cNvSpPr>
            <a:spLocks noChangeShapeType="1"/>
          </p:cNvSpPr>
          <p:nvPr/>
        </p:nvSpPr>
        <p:spPr bwMode="auto">
          <a:xfrm>
            <a:off x="1981200" y="6324600"/>
            <a:ext cx="838200" cy="0"/>
          </a:xfrm>
          <a:prstGeom prst="line">
            <a:avLst/>
          </a:prstGeom>
          <a:noFill/>
          <a:ln w="12700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33433" y="3429000"/>
            <a:ext cx="8244565" cy="646331"/>
            <a:chOff x="433433" y="3496929"/>
            <a:chExt cx="8244565" cy="646331"/>
          </a:xfrm>
        </p:grpSpPr>
        <p:sp>
          <p:nvSpPr>
            <p:cNvPr id="23" name="Rectangle 11"/>
            <p:cNvSpPr>
              <a:spLocks noChangeArrowheads="1"/>
            </p:cNvSpPr>
            <p:nvPr/>
          </p:nvSpPr>
          <p:spPr bwMode="auto">
            <a:xfrm>
              <a:off x="433433" y="3496929"/>
              <a:ext cx="8244565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Using the given equation for the circular path,                                        , we rewrite the 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integrals: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6" name="Picture 1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00" y="3520168"/>
              <a:ext cx="2157413" cy="420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 (</a:t>
            </a:r>
            <a:r>
              <a:rPr lang="en-US" altLang="zh-CN" sz="28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Cont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.’d)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62000" y="1683473"/>
            <a:ext cx="79629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Again find the work required to carry 2C from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same field, but this time use the straight-line path from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248400" y="2405878"/>
            <a:ext cx="2743200" cy="3080522"/>
            <a:chOff x="6248400" y="2405878"/>
            <a:chExt cx="2743200" cy="3080522"/>
          </a:xfrm>
        </p:grpSpPr>
        <p:cxnSp>
          <p:nvCxnSpPr>
            <p:cNvPr id="20" name="直接箭头连接符 19"/>
            <p:cNvCxnSpPr/>
            <p:nvPr/>
          </p:nvCxnSpPr>
          <p:spPr>
            <a:xfrm>
              <a:off x="7315200" y="4425177"/>
              <a:ext cx="1524000" cy="0"/>
            </a:xfrm>
            <a:prstGeom prst="straightConnector1">
              <a:avLst/>
            </a:prstGeom>
            <a:ln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 flipH="1">
              <a:off x="6477000" y="4425177"/>
              <a:ext cx="838200" cy="990600"/>
            </a:xfrm>
            <a:prstGeom prst="straightConnector1">
              <a:avLst/>
            </a:prstGeom>
            <a:ln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 flipV="1">
              <a:off x="7315200" y="2616221"/>
              <a:ext cx="0" cy="1808956"/>
            </a:xfrm>
            <a:prstGeom prst="straightConnector1">
              <a:avLst/>
            </a:prstGeom>
            <a:ln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椭圆 29"/>
            <p:cNvSpPr/>
            <p:nvPr/>
          </p:nvSpPr>
          <p:spPr>
            <a:xfrm>
              <a:off x="6561971" y="3330200"/>
              <a:ext cx="1524000" cy="784600"/>
            </a:xfrm>
            <a:prstGeom prst="ellipse">
              <a:avLst/>
            </a:prstGeom>
            <a:noFill/>
            <a:ln w="12700"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6248400" y="5117068"/>
              <a:ext cx="28725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i="1" dirty="0"/>
            </a:p>
          </p:txBody>
        </p:sp>
        <p:sp>
          <p:nvSpPr>
            <p:cNvPr id="32" name="矩形 31"/>
            <p:cNvSpPr/>
            <p:nvPr/>
          </p:nvSpPr>
          <p:spPr>
            <a:xfrm>
              <a:off x="8704342" y="4387078"/>
              <a:ext cx="28725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 i="1" dirty="0"/>
            </a:p>
          </p:txBody>
        </p:sp>
        <p:sp>
          <p:nvSpPr>
            <p:cNvPr id="33" name="矩形 32"/>
            <p:cNvSpPr/>
            <p:nvPr/>
          </p:nvSpPr>
          <p:spPr>
            <a:xfrm>
              <a:off x="7323971" y="2405878"/>
              <a:ext cx="27443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zh-CN" altLang="en-US" i="1" dirty="0"/>
            </a:p>
          </p:txBody>
        </p:sp>
        <p:sp>
          <p:nvSpPr>
            <p:cNvPr id="34" name="椭圆 33"/>
            <p:cNvSpPr/>
            <p:nvPr/>
          </p:nvSpPr>
          <p:spPr>
            <a:xfrm flipH="1">
              <a:off x="7279459" y="3733800"/>
              <a:ext cx="62054" cy="61914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 flipH="1">
              <a:off x="7024546" y="4052886"/>
              <a:ext cx="62054" cy="61914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6738585" y="4018548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dirty="0"/>
            </a:p>
          </p:txBody>
        </p:sp>
        <p:sp>
          <p:nvSpPr>
            <p:cNvPr id="37" name="椭圆 36"/>
            <p:cNvSpPr/>
            <p:nvPr/>
          </p:nvSpPr>
          <p:spPr>
            <a:xfrm flipH="1">
              <a:off x="7710346" y="4038600"/>
              <a:ext cx="62054" cy="61914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7772400" y="3936769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dirty="0"/>
            </a:p>
          </p:txBody>
        </p:sp>
      </p:grpSp>
      <p:cxnSp>
        <p:nvCxnSpPr>
          <p:cNvPr id="7" name="直接连接符 6"/>
          <p:cNvCxnSpPr>
            <a:endCxn id="37" idx="0"/>
          </p:cNvCxnSpPr>
          <p:nvPr/>
        </p:nvCxnSpPr>
        <p:spPr>
          <a:xfrm flipV="1">
            <a:off x="7055573" y="4038600"/>
            <a:ext cx="685800" cy="3095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62000" y="2429470"/>
            <a:ext cx="5410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start by determining the equations of the straight line. Any two of the following three equations for planes passing through the line are sufficient to define the line: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49" y="3554344"/>
            <a:ext cx="3000375" cy="203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"/>
          <p:cNvGrpSpPr/>
          <p:nvPr/>
        </p:nvGrpSpPr>
        <p:grpSpPr>
          <a:xfrm>
            <a:off x="3810000" y="3681284"/>
            <a:ext cx="2438400" cy="456859"/>
            <a:chOff x="3810000" y="3681284"/>
            <a:chExt cx="2438400" cy="456859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9607" y="3681284"/>
              <a:ext cx="1908793" cy="456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右箭头 2"/>
            <p:cNvSpPr/>
            <p:nvPr/>
          </p:nvSpPr>
          <p:spPr>
            <a:xfrm>
              <a:off x="3810000" y="3795714"/>
              <a:ext cx="529607" cy="22283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810000" y="4675465"/>
            <a:ext cx="1573701" cy="353735"/>
            <a:chOff x="3810000" y="4675465"/>
            <a:chExt cx="1573701" cy="353735"/>
          </a:xfrm>
        </p:grpSpPr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9600" y="4675465"/>
              <a:ext cx="964101" cy="353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右箭头 26"/>
            <p:cNvSpPr/>
            <p:nvPr/>
          </p:nvSpPr>
          <p:spPr>
            <a:xfrm>
              <a:off x="3810000" y="4751332"/>
              <a:ext cx="529607" cy="22283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左大括号 9"/>
          <p:cNvSpPr/>
          <p:nvPr/>
        </p:nvSpPr>
        <p:spPr>
          <a:xfrm>
            <a:off x="533400" y="3818734"/>
            <a:ext cx="228600" cy="150602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 (</a:t>
            </a:r>
            <a:r>
              <a:rPr lang="en-US" altLang="zh-CN" sz="28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Cont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.’d)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62000" y="1683473"/>
            <a:ext cx="79629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Again find the work required to carry 2C from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same field, but this time use the straight-line path from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248400" y="2405878"/>
            <a:ext cx="2743200" cy="3080522"/>
            <a:chOff x="6248400" y="2405878"/>
            <a:chExt cx="2743200" cy="3080522"/>
          </a:xfrm>
        </p:grpSpPr>
        <p:cxnSp>
          <p:nvCxnSpPr>
            <p:cNvPr id="20" name="直接箭头连接符 19"/>
            <p:cNvCxnSpPr/>
            <p:nvPr/>
          </p:nvCxnSpPr>
          <p:spPr>
            <a:xfrm>
              <a:off x="7315200" y="4425177"/>
              <a:ext cx="1524000" cy="0"/>
            </a:xfrm>
            <a:prstGeom prst="straightConnector1">
              <a:avLst/>
            </a:prstGeom>
            <a:ln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 flipH="1">
              <a:off x="6477000" y="4425177"/>
              <a:ext cx="838200" cy="990600"/>
            </a:xfrm>
            <a:prstGeom prst="straightConnector1">
              <a:avLst/>
            </a:prstGeom>
            <a:ln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 flipV="1">
              <a:off x="7315200" y="2616221"/>
              <a:ext cx="0" cy="1808956"/>
            </a:xfrm>
            <a:prstGeom prst="straightConnector1">
              <a:avLst/>
            </a:prstGeom>
            <a:ln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椭圆 29"/>
            <p:cNvSpPr/>
            <p:nvPr/>
          </p:nvSpPr>
          <p:spPr>
            <a:xfrm>
              <a:off x="6561971" y="3330200"/>
              <a:ext cx="1524000" cy="784600"/>
            </a:xfrm>
            <a:prstGeom prst="ellipse">
              <a:avLst/>
            </a:prstGeom>
            <a:noFill/>
            <a:ln w="12700"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6248400" y="5117068"/>
              <a:ext cx="28725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i="1" dirty="0"/>
            </a:p>
          </p:txBody>
        </p:sp>
        <p:sp>
          <p:nvSpPr>
            <p:cNvPr id="32" name="矩形 31"/>
            <p:cNvSpPr/>
            <p:nvPr/>
          </p:nvSpPr>
          <p:spPr>
            <a:xfrm>
              <a:off x="8704342" y="4387078"/>
              <a:ext cx="28725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 i="1" dirty="0"/>
            </a:p>
          </p:txBody>
        </p:sp>
        <p:sp>
          <p:nvSpPr>
            <p:cNvPr id="33" name="矩形 32"/>
            <p:cNvSpPr/>
            <p:nvPr/>
          </p:nvSpPr>
          <p:spPr>
            <a:xfrm>
              <a:off x="7323971" y="2405878"/>
              <a:ext cx="27443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zh-CN" altLang="en-US" i="1" dirty="0"/>
            </a:p>
          </p:txBody>
        </p:sp>
        <p:sp>
          <p:nvSpPr>
            <p:cNvPr id="34" name="椭圆 33"/>
            <p:cNvSpPr/>
            <p:nvPr/>
          </p:nvSpPr>
          <p:spPr>
            <a:xfrm flipH="1">
              <a:off x="7279459" y="3733800"/>
              <a:ext cx="62054" cy="61914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 flipH="1">
              <a:off x="7024546" y="4052886"/>
              <a:ext cx="62054" cy="61914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6738585" y="4018548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dirty="0"/>
            </a:p>
          </p:txBody>
        </p:sp>
        <p:sp>
          <p:nvSpPr>
            <p:cNvPr id="37" name="椭圆 36"/>
            <p:cNvSpPr/>
            <p:nvPr/>
          </p:nvSpPr>
          <p:spPr>
            <a:xfrm flipH="1">
              <a:off x="7710346" y="4038600"/>
              <a:ext cx="62054" cy="61914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7772400" y="3936769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dirty="0"/>
            </a:p>
          </p:txBody>
        </p:sp>
      </p:grpSp>
      <p:cxnSp>
        <p:nvCxnSpPr>
          <p:cNvPr id="7" name="直接连接符 6"/>
          <p:cNvCxnSpPr>
            <a:endCxn id="37" idx="0"/>
          </p:cNvCxnSpPr>
          <p:nvPr/>
        </p:nvCxnSpPr>
        <p:spPr>
          <a:xfrm flipV="1">
            <a:off x="7055573" y="4038600"/>
            <a:ext cx="685800" cy="3095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586" y="2743200"/>
            <a:ext cx="5085014" cy="2103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" name="矩形 10"/>
          <p:cNvSpPr/>
          <p:nvPr/>
        </p:nvSpPr>
        <p:spPr>
          <a:xfrm>
            <a:off x="770626" y="2405878"/>
            <a:ext cx="61308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 point is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0, 1) and the final point is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(0.8, 0.6 ,1):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721226"/>
            <a:ext cx="4008497" cy="103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973" y="4953000"/>
            <a:ext cx="1908793" cy="456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973" y="5334000"/>
            <a:ext cx="964101" cy="353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Line 13"/>
          <p:cNvSpPr>
            <a:spLocks noChangeShapeType="1"/>
          </p:cNvSpPr>
          <p:nvPr/>
        </p:nvSpPr>
        <p:spPr bwMode="auto">
          <a:xfrm>
            <a:off x="1348596" y="5761189"/>
            <a:ext cx="838200" cy="0"/>
          </a:xfrm>
          <a:prstGeom prst="line">
            <a:avLst/>
          </a:prstGeom>
          <a:noFill/>
          <a:ln w="12700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04746" y="5943600"/>
            <a:ext cx="69962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It again demonstrates the statement (unproved) that the work done   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is independent of the path taken in any electrostatic field.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Another Example:  Evaluating work within a line charge field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45" name="Group 13"/>
          <p:cNvGrpSpPr/>
          <p:nvPr/>
        </p:nvGrpSpPr>
        <p:grpSpPr bwMode="auto">
          <a:xfrm>
            <a:off x="533400" y="2133600"/>
            <a:ext cx="7620000" cy="4343400"/>
            <a:chOff x="576" y="1056"/>
            <a:chExt cx="4800" cy="2736"/>
          </a:xfrm>
        </p:grpSpPr>
        <p:pic>
          <p:nvPicPr>
            <p:cNvPr id="51" name="Picture 8" descr="Chapter 4 Fig 2"/>
            <p:cNvPicPr>
              <a:picLocks noChangeAspect="1" noChangeArrowheads="1"/>
            </p:cNvPicPr>
            <p:nvPr/>
          </p:nvPicPr>
          <p:blipFill>
            <a:blip r:embed="rId2" cstate="print">
              <a:lum contras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" y="1584"/>
              <a:ext cx="3939" cy="17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Rectangle 9"/>
            <p:cNvSpPr>
              <a:spLocks noChangeArrowheads="1"/>
            </p:cNvSpPr>
            <p:nvPr/>
          </p:nvSpPr>
          <p:spPr bwMode="auto">
            <a:xfrm>
              <a:off x="2736" y="1056"/>
              <a:ext cx="2640" cy="27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Rectangle 10"/>
            <p:cNvSpPr>
              <a:spLocks noChangeArrowheads="1"/>
            </p:cNvSpPr>
            <p:nvPr/>
          </p:nvSpPr>
          <p:spPr bwMode="auto">
            <a:xfrm>
              <a:off x="1344" y="3120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Rectangle 12"/>
            <p:cNvSpPr>
              <a:spLocks noChangeArrowheads="1"/>
            </p:cNvSpPr>
            <p:nvPr/>
          </p:nvSpPr>
          <p:spPr bwMode="auto">
            <a:xfrm>
              <a:off x="2496" y="1248"/>
              <a:ext cx="576" cy="24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6" name="Picture 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4304" y="3174880"/>
            <a:ext cx="243205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7" name="Picture 1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8563" y="4082571"/>
            <a:ext cx="3994150" cy="153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8" name="Rectangle 15"/>
          <p:cNvSpPr>
            <a:spLocks noChangeArrowheads="1"/>
          </p:cNvSpPr>
          <p:nvPr/>
        </p:nvSpPr>
        <p:spPr bwMode="auto">
          <a:xfrm>
            <a:off x="800100" y="2085095"/>
            <a:ext cx="7848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example, the work in moving charge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circular path around a line charge is found: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16"/>
          <p:cNvSpPr>
            <a:spLocks noChangeArrowheads="1"/>
          </p:cNvSpPr>
          <p:nvPr/>
        </p:nvSpPr>
        <p:spPr bwMode="auto">
          <a:xfrm>
            <a:off x="4429125" y="3305175"/>
            <a:ext cx="749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497348" y="5187472"/>
            <a:ext cx="838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Another Example:  Evaluating work within a line charge field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124200"/>
            <a:ext cx="256857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9" name="Picture 5" descr="Chapter 4 Fig 2"/>
          <p:cNvPicPr>
            <a:picLocks noChangeAspect="1" noChangeArrowheads="1"/>
          </p:cNvPicPr>
          <p:nvPr/>
        </p:nvPicPr>
        <p:blipFill>
          <a:blip r:embed="rId3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537" y="2728431"/>
            <a:ext cx="7294563" cy="326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685800" y="2438400"/>
            <a:ext cx="4191000" cy="403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6324600" y="57150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" name="Group 12"/>
          <p:cNvGrpSpPr/>
          <p:nvPr/>
        </p:nvGrpSpPr>
        <p:grpSpPr bwMode="auto">
          <a:xfrm>
            <a:off x="800789" y="2819400"/>
            <a:ext cx="5310188" cy="1485900"/>
            <a:chOff x="255" y="1872"/>
            <a:chExt cx="3345" cy="936"/>
          </a:xfrm>
        </p:grpSpPr>
        <p:pic>
          <p:nvPicPr>
            <p:cNvPr id="24" name="Picture 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" y="1872"/>
              <a:ext cx="3340" cy="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5" name="Picture 1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3" y="2433"/>
              <a:ext cx="1140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6" name="Rectangle 11"/>
            <p:cNvSpPr>
              <a:spLocks noChangeArrowheads="1"/>
            </p:cNvSpPr>
            <p:nvPr/>
          </p:nvSpPr>
          <p:spPr bwMode="auto">
            <a:xfrm>
              <a:off x="255" y="2515"/>
              <a:ext cx="95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 that finally: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800100" y="44958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carry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still have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dρ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show the different direction by recognizing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initial point and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final point,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181" y="5858294"/>
            <a:ext cx="3790219" cy="6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Rectangle 15"/>
          <p:cNvSpPr>
            <a:spLocks noChangeArrowheads="1"/>
          </p:cNvSpPr>
          <p:nvPr/>
        </p:nvSpPr>
        <p:spPr bwMode="auto">
          <a:xfrm>
            <a:off x="800100" y="2085095"/>
            <a:ext cx="7848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example, the work in moving charge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zh-CN" dirty="0">
                <a:latin typeface="Times New Roman" panose="02020603050405020304" pitchFamily="18" charset="0"/>
              </a:rPr>
              <a:t>radial direction near a Line charge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found: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Differential path lengths in three coordinate systems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3581400"/>
            <a:ext cx="7048500" cy="181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131" y="2057400"/>
            <a:ext cx="289153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02743"/>
            <a:ext cx="8046553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34"/>
          <p:cNvGrpSpPr/>
          <p:nvPr/>
        </p:nvGrpSpPr>
        <p:grpSpPr bwMode="auto">
          <a:xfrm>
            <a:off x="2362200" y="3505200"/>
            <a:ext cx="4068763" cy="458788"/>
            <a:chOff x="2064" y="1499"/>
            <a:chExt cx="2563" cy="289"/>
          </a:xfrm>
        </p:grpSpPr>
        <p:sp>
          <p:nvSpPr>
            <p:cNvPr id="12" name="Rectangle 28"/>
            <p:cNvSpPr>
              <a:spLocks noChangeArrowheads="1"/>
            </p:cNvSpPr>
            <p:nvPr/>
          </p:nvSpPr>
          <p:spPr bwMode="auto">
            <a:xfrm>
              <a:off x="2064" y="1536"/>
              <a:ext cx="25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dW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altLang="zh-CN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0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appl</a:t>
              </a:r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dL</a:t>
              </a:r>
              <a:r>
                <a:rPr lang="en-US" altLang="ja-JP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QE </a:t>
              </a:r>
              <a:r>
                <a:rPr lang="en-US" altLang="ja-JP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dL</a:t>
              </a:r>
              <a:r>
                <a:rPr lang="en-US" altLang="ja-JP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-Q</a:t>
              </a:r>
              <a:r>
                <a:rPr lang="en-US" altLang="ja-JP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 </a:t>
              </a:r>
              <a:r>
                <a:rPr lang="en-US" altLang="ja-JP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ja-JP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ja-JP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[J]</a:t>
              </a:r>
              <a:endPara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33"/>
            <p:cNvSpPr>
              <a:spLocks noChangeArrowheads="1"/>
            </p:cNvSpPr>
            <p:nvPr/>
          </p:nvSpPr>
          <p:spPr bwMode="auto">
            <a:xfrm>
              <a:off x="4050" y="1499"/>
              <a:ext cx="15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" name="直接连接符 3"/>
          <p:cNvCxnSpPr/>
          <p:nvPr/>
        </p:nvCxnSpPr>
        <p:spPr>
          <a:xfrm>
            <a:off x="838200" y="1981200"/>
            <a:ext cx="30480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328658" y="1666220"/>
            <a:ext cx="576734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now have the work done in moving charge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initial to final positions. This is the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</a:t>
            </a:r>
            <a:r>
              <a:rPr lang="zh-CN" altLang="en-US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势能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by the charge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result of this 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 change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344473" y="2989659"/>
            <a:ext cx="6818327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20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difference </a:t>
            </a:r>
            <a:r>
              <a:rPr lang="zh-CN" altLang="en-US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电位差</a:t>
            </a:r>
            <a:r>
              <a:rPr lang="en-US" altLang="zh-CN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defined as the work done (or potential energy gained)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unit positive charge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000" dirty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外源把单位正电荷从电场中一点移到另一点所做的功</a:t>
            </a:r>
            <a:endParaRPr lang="en-US" altLang="zh-CN" sz="2000" dirty="0"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express this quantity in units of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Joules/Coulomb </a:t>
            </a:r>
            <a:r>
              <a:rPr lang="zh-CN" altLang="en-US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焦耳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库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altLang="zh-CN" sz="20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volts </a:t>
            </a:r>
            <a:r>
              <a:rPr lang="zh-CN" altLang="en-US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伏特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870" y="1780245"/>
            <a:ext cx="2833688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" name="Picture 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37" y="4607542"/>
            <a:ext cx="5236263" cy="7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465019" y="5509477"/>
            <a:ext cx="97975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Definition of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Potential Difference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10501" y="6019800"/>
            <a:ext cx="78372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Please compare the height difference in gravitational field with the potential 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difference in electrostatic field.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963" y="5385691"/>
            <a:ext cx="3463205" cy="647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194" name="Picture 2" descr="C:\Users\dpcuser\Desktop\About Teaching\工程电磁场\Instructor Notes\Lecture 4\images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311" y="3064195"/>
            <a:ext cx="1540066" cy="2314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6791240" y="5509477"/>
            <a:ext cx="23527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Alessandro Volta (1745-1827)</a:t>
            </a:r>
            <a:endParaRPr lang="zh-CN" altLang="en-US" sz="1400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5" name="Picture 3" descr="C:\Users\dpcuser\Desktop\About Teaching\工程电磁场\Instructor Notes\Lecture 4\795a4fe9hadd714dd043f&amp;690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3585" y="2656692"/>
            <a:ext cx="1261815" cy="339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C:\Users\dpcuser\Desktop\About Teaching\工程电磁场\Instructor Notes\Lecture 4\04-38698384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399" y="4334285"/>
            <a:ext cx="1758265" cy="1720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42" descr="Chapter 4 Fig 3"/>
          <p:cNvPicPr>
            <a:picLocks noChangeAspect="1" noChangeArrowheads="1"/>
          </p:cNvPicPr>
          <p:nvPr/>
        </p:nvPicPr>
        <p:blipFill>
          <a:blip r:embed="rId1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1883" y="4371361"/>
            <a:ext cx="5322065" cy="233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Potential difference in a point charge field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2" name="Picture 2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268" y="2675930"/>
            <a:ext cx="2486025" cy="63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5" name="Rectangle 26"/>
          <p:cNvSpPr>
            <a:spLocks noChangeArrowheads="1"/>
          </p:cNvSpPr>
          <p:nvPr/>
        </p:nvSpPr>
        <p:spPr bwMode="auto">
          <a:xfrm>
            <a:off x="3657600" y="1752600"/>
            <a:ext cx="54864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exercise, we evaluate the work done in moving a unit positive charge from point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point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within the field associated with point charge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35"/>
          <p:cNvGrpSpPr/>
          <p:nvPr/>
        </p:nvGrpSpPr>
        <p:grpSpPr bwMode="auto">
          <a:xfrm>
            <a:off x="-292865" y="2167730"/>
            <a:ext cx="3509963" cy="2460626"/>
            <a:chOff x="288" y="2256"/>
            <a:chExt cx="2211" cy="1550"/>
          </a:xfrm>
        </p:grpSpPr>
        <p:grpSp>
          <p:nvGrpSpPr>
            <p:cNvPr id="27" name="Group 23"/>
            <p:cNvGrpSpPr/>
            <p:nvPr/>
          </p:nvGrpSpPr>
          <p:grpSpPr bwMode="auto">
            <a:xfrm>
              <a:off x="288" y="2256"/>
              <a:ext cx="2211" cy="1550"/>
              <a:chOff x="288" y="2256"/>
              <a:chExt cx="2211" cy="1550"/>
            </a:xfrm>
          </p:grpSpPr>
          <p:grpSp>
            <p:nvGrpSpPr>
              <p:cNvPr id="30" name="Group 14"/>
              <p:cNvGrpSpPr/>
              <p:nvPr/>
            </p:nvGrpSpPr>
            <p:grpSpPr bwMode="auto">
              <a:xfrm>
                <a:off x="288" y="2256"/>
                <a:ext cx="2211" cy="1418"/>
                <a:chOff x="1725" y="1398"/>
                <a:chExt cx="2211" cy="1418"/>
              </a:xfrm>
            </p:grpSpPr>
            <p:grpSp>
              <p:nvGrpSpPr>
                <p:cNvPr id="38" name="Group 9"/>
                <p:cNvGrpSpPr/>
                <p:nvPr/>
              </p:nvGrpSpPr>
              <p:grpSpPr bwMode="auto">
                <a:xfrm>
                  <a:off x="2250" y="1872"/>
                  <a:ext cx="1686" cy="822"/>
                  <a:chOff x="2250" y="1872"/>
                  <a:chExt cx="1686" cy="822"/>
                </a:xfrm>
              </p:grpSpPr>
              <p:sp>
                <p:nvSpPr>
                  <p:cNvPr id="46" name="Line 6"/>
                  <p:cNvSpPr>
                    <a:spLocks noChangeShapeType="1"/>
                  </p:cNvSpPr>
                  <p:nvPr/>
                </p:nvSpPr>
                <p:spPr bwMode="auto">
                  <a:xfrm>
                    <a:off x="2256" y="2691"/>
                    <a:ext cx="168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3190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7" name="Line 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56" y="2259"/>
                    <a:ext cx="1632" cy="432"/>
                  </a:xfrm>
                  <a:prstGeom prst="line">
                    <a:avLst/>
                  </a:prstGeom>
                  <a:noFill/>
                  <a:ln w="19050">
                    <a:solidFill>
                      <a:srgbClr val="FF3190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8" name="Line 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50" y="1872"/>
                    <a:ext cx="1446" cy="822"/>
                  </a:xfrm>
                  <a:prstGeom prst="line">
                    <a:avLst/>
                  </a:prstGeom>
                  <a:noFill/>
                  <a:ln w="19050">
                    <a:solidFill>
                      <a:srgbClr val="FF3190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9" name="Group 10"/>
                <p:cNvGrpSpPr/>
                <p:nvPr/>
              </p:nvGrpSpPr>
              <p:grpSpPr bwMode="auto">
                <a:xfrm rot="-2650935">
                  <a:off x="1725" y="1398"/>
                  <a:ext cx="1686" cy="822"/>
                  <a:chOff x="2250" y="1872"/>
                  <a:chExt cx="1686" cy="822"/>
                </a:xfrm>
              </p:grpSpPr>
              <p:sp>
                <p:nvSpPr>
                  <p:cNvPr id="42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2256" y="2691"/>
                    <a:ext cx="168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3190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4" name="Line 1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56" y="2259"/>
                    <a:ext cx="1632" cy="432"/>
                  </a:xfrm>
                  <a:prstGeom prst="line">
                    <a:avLst/>
                  </a:prstGeom>
                  <a:noFill/>
                  <a:ln w="19050">
                    <a:solidFill>
                      <a:srgbClr val="FF3190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" name="Line 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50" y="1872"/>
                    <a:ext cx="1446" cy="822"/>
                  </a:xfrm>
                  <a:prstGeom prst="line">
                    <a:avLst/>
                  </a:prstGeom>
                  <a:noFill/>
                  <a:ln w="19050">
                    <a:solidFill>
                      <a:srgbClr val="FF3190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0" name="Oval 4"/>
                <p:cNvSpPr>
                  <a:spLocks noChangeArrowheads="1"/>
                </p:cNvSpPr>
                <p:nvPr/>
              </p:nvSpPr>
              <p:spPr bwMode="auto">
                <a:xfrm>
                  <a:off x="2201" y="2627"/>
                  <a:ext cx="112" cy="115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" name="Rectangle 5"/>
                <p:cNvSpPr>
                  <a:spLocks noChangeArrowheads="1"/>
                </p:cNvSpPr>
                <p:nvPr/>
              </p:nvSpPr>
              <p:spPr bwMode="auto">
                <a:xfrm>
                  <a:off x="2163" y="2583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1" name="Rectangle 15"/>
              <p:cNvSpPr>
                <a:spLocks noChangeArrowheads="1"/>
              </p:cNvSpPr>
              <p:nvPr/>
            </p:nvSpPr>
            <p:spPr bwMode="auto">
              <a:xfrm>
                <a:off x="702" y="3573"/>
                <a:ext cx="22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 flipV="1">
                <a:off x="864" y="3024"/>
                <a:ext cx="1296" cy="48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Rectangle 18"/>
              <p:cNvSpPr>
                <a:spLocks noChangeArrowheads="1"/>
              </p:cNvSpPr>
              <p:nvPr/>
            </p:nvSpPr>
            <p:spPr bwMode="auto">
              <a:xfrm>
                <a:off x="1920" y="3003"/>
                <a:ext cx="23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CN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Rectangle 19"/>
              <p:cNvSpPr>
                <a:spLocks noChangeArrowheads="1"/>
              </p:cNvSpPr>
              <p:nvPr/>
            </p:nvSpPr>
            <p:spPr bwMode="auto">
              <a:xfrm>
                <a:off x="1121" y="2859"/>
                <a:ext cx="31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altLang="zh-CN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CN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Line 20"/>
              <p:cNvSpPr>
                <a:spLocks noChangeShapeType="1"/>
              </p:cNvSpPr>
              <p:nvPr/>
            </p:nvSpPr>
            <p:spPr bwMode="auto">
              <a:xfrm flipV="1">
                <a:off x="855" y="3120"/>
                <a:ext cx="297" cy="3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Rectangle 21"/>
              <p:cNvSpPr>
                <a:spLocks noChangeArrowheads="1"/>
              </p:cNvSpPr>
              <p:nvPr/>
            </p:nvSpPr>
            <p:spPr bwMode="auto">
              <a:xfrm>
                <a:off x="2094" y="2866"/>
                <a:ext cx="15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Rectangle 22"/>
              <p:cNvSpPr>
                <a:spLocks noChangeArrowheads="1"/>
              </p:cNvSpPr>
              <p:nvPr/>
            </p:nvSpPr>
            <p:spPr bwMode="auto">
              <a:xfrm>
                <a:off x="1077" y="2962"/>
                <a:ext cx="15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2187" y="2892"/>
              <a:ext cx="2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1144" y="3058"/>
              <a:ext cx="2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9" name="Picture 3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8745" y="3730125"/>
            <a:ext cx="3949700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0" name="Rectangle 36"/>
          <p:cNvSpPr>
            <a:spLocks noChangeArrowheads="1"/>
          </p:cNvSpPr>
          <p:nvPr/>
        </p:nvSpPr>
        <p:spPr bwMode="auto">
          <a:xfrm>
            <a:off x="3704175" y="2757402"/>
            <a:ext cx="74892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37"/>
          <p:cNvSpPr>
            <a:spLocks noChangeArrowheads="1"/>
          </p:cNvSpPr>
          <p:nvPr/>
        </p:nvSpPr>
        <p:spPr bwMode="auto">
          <a:xfrm>
            <a:off x="3674883" y="3279275"/>
            <a:ext cx="21788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and where in general: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19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Potential difference in a point charge field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2" name="Picture 2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268" y="2675930"/>
            <a:ext cx="2486025" cy="63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5" name="Rectangle 26"/>
          <p:cNvSpPr>
            <a:spLocks noChangeArrowheads="1"/>
          </p:cNvSpPr>
          <p:nvPr/>
        </p:nvSpPr>
        <p:spPr bwMode="auto">
          <a:xfrm>
            <a:off x="3657600" y="1752600"/>
            <a:ext cx="54864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exercise, we evaluate the work done in moving a unit positive charge from point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point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within the field associated with point charge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35"/>
          <p:cNvGrpSpPr/>
          <p:nvPr/>
        </p:nvGrpSpPr>
        <p:grpSpPr bwMode="auto">
          <a:xfrm>
            <a:off x="-292865" y="2167730"/>
            <a:ext cx="3509963" cy="2460626"/>
            <a:chOff x="288" y="2256"/>
            <a:chExt cx="2211" cy="1550"/>
          </a:xfrm>
        </p:grpSpPr>
        <p:grpSp>
          <p:nvGrpSpPr>
            <p:cNvPr id="27" name="Group 23"/>
            <p:cNvGrpSpPr/>
            <p:nvPr/>
          </p:nvGrpSpPr>
          <p:grpSpPr bwMode="auto">
            <a:xfrm>
              <a:off x="288" y="2256"/>
              <a:ext cx="2211" cy="1550"/>
              <a:chOff x="288" y="2256"/>
              <a:chExt cx="2211" cy="1550"/>
            </a:xfrm>
          </p:grpSpPr>
          <p:grpSp>
            <p:nvGrpSpPr>
              <p:cNvPr id="30" name="Group 14"/>
              <p:cNvGrpSpPr/>
              <p:nvPr/>
            </p:nvGrpSpPr>
            <p:grpSpPr bwMode="auto">
              <a:xfrm>
                <a:off x="288" y="2256"/>
                <a:ext cx="2211" cy="1418"/>
                <a:chOff x="1725" y="1398"/>
                <a:chExt cx="2211" cy="1418"/>
              </a:xfrm>
            </p:grpSpPr>
            <p:grpSp>
              <p:nvGrpSpPr>
                <p:cNvPr id="38" name="Group 9"/>
                <p:cNvGrpSpPr/>
                <p:nvPr/>
              </p:nvGrpSpPr>
              <p:grpSpPr bwMode="auto">
                <a:xfrm>
                  <a:off x="2250" y="1872"/>
                  <a:ext cx="1686" cy="822"/>
                  <a:chOff x="2250" y="1872"/>
                  <a:chExt cx="1686" cy="822"/>
                </a:xfrm>
              </p:grpSpPr>
              <p:sp>
                <p:nvSpPr>
                  <p:cNvPr id="46" name="Line 6"/>
                  <p:cNvSpPr>
                    <a:spLocks noChangeShapeType="1"/>
                  </p:cNvSpPr>
                  <p:nvPr/>
                </p:nvSpPr>
                <p:spPr bwMode="auto">
                  <a:xfrm>
                    <a:off x="2256" y="2691"/>
                    <a:ext cx="168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3190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7" name="Line 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56" y="2259"/>
                    <a:ext cx="1632" cy="432"/>
                  </a:xfrm>
                  <a:prstGeom prst="line">
                    <a:avLst/>
                  </a:prstGeom>
                  <a:noFill/>
                  <a:ln w="19050">
                    <a:solidFill>
                      <a:srgbClr val="FF3190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8" name="Line 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50" y="1872"/>
                    <a:ext cx="1446" cy="822"/>
                  </a:xfrm>
                  <a:prstGeom prst="line">
                    <a:avLst/>
                  </a:prstGeom>
                  <a:noFill/>
                  <a:ln w="19050">
                    <a:solidFill>
                      <a:srgbClr val="FF3190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9" name="Group 10"/>
                <p:cNvGrpSpPr/>
                <p:nvPr/>
              </p:nvGrpSpPr>
              <p:grpSpPr bwMode="auto">
                <a:xfrm rot="-2650935">
                  <a:off x="1725" y="1398"/>
                  <a:ext cx="1686" cy="822"/>
                  <a:chOff x="2250" y="1872"/>
                  <a:chExt cx="1686" cy="822"/>
                </a:xfrm>
              </p:grpSpPr>
              <p:sp>
                <p:nvSpPr>
                  <p:cNvPr id="42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2256" y="2691"/>
                    <a:ext cx="168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3190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4" name="Line 1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56" y="2259"/>
                    <a:ext cx="1632" cy="432"/>
                  </a:xfrm>
                  <a:prstGeom prst="line">
                    <a:avLst/>
                  </a:prstGeom>
                  <a:noFill/>
                  <a:ln w="19050">
                    <a:solidFill>
                      <a:srgbClr val="FF3190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" name="Line 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50" y="1872"/>
                    <a:ext cx="1446" cy="822"/>
                  </a:xfrm>
                  <a:prstGeom prst="line">
                    <a:avLst/>
                  </a:prstGeom>
                  <a:noFill/>
                  <a:ln w="19050">
                    <a:solidFill>
                      <a:srgbClr val="FF3190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0" name="Oval 4"/>
                <p:cNvSpPr>
                  <a:spLocks noChangeArrowheads="1"/>
                </p:cNvSpPr>
                <p:nvPr/>
              </p:nvSpPr>
              <p:spPr bwMode="auto">
                <a:xfrm>
                  <a:off x="2201" y="2627"/>
                  <a:ext cx="112" cy="115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" name="Rectangle 5"/>
                <p:cNvSpPr>
                  <a:spLocks noChangeArrowheads="1"/>
                </p:cNvSpPr>
                <p:nvPr/>
              </p:nvSpPr>
              <p:spPr bwMode="auto">
                <a:xfrm>
                  <a:off x="2163" y="2583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1" name="Rectangle 15"/>
              <p:cNvSpPr>
                <a:spLocks noChangeArrowheads="1"/>
              </p:cNvSpPr>
              <p:nvPr/>
            </p:nvSpPr>
            <p:spPr bwMode="auto">
              <a:xfrm>
                <a:off x="702" y="3573"/>
                <a:ext cx="22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 flipV="1">
                <a:off x="864" y="3024"/>
                <a:ext cx="1296" cy="48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Rectangle 18"/>
              <p:cNvSpPr>
                <a:spLocks noChangeArrowheads="1"/>
              </p:cNvSpPr>
              <p:nvPr/>
            </p:nvSpPr>
            <p:spPr bwMode="auto">
              <a:xfrm>
                <a:off x="1920" y="3003"/>
                <a:ext cx="23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CN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Rectangle 19"/>
              <p:cNvSpPr>
                <a:spLocks noChangeArrowheads="1"/>
              </p:cNvSpPr>
              <p:nvPr/>
            </p:nvSpPr>
            <p:spPr bwMode="auto">
              <a:xfrm>
                <a:off x="1121" y="2859"/>
                <a:ext cx="31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altLang="zh-CN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CN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Line 20"/>
              <p:cNvSpPr>
                <a:spLocks noChangeShapeType="1"/>
              </p:cNvSpPr>
              <p:nvPr/>
            </p:nvSpPr>
            <p:spPr bwMode="auto">
              <a:xfrm flipV="1">
                <a:off x="855" y="3120"/>
                <a:ext cx="297" cy="3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Rectangle 21"/>
              <p:cNvSpPr>
                <a:spLocks noChangeArrowheads="1"/>
              </p:cNvSpPr>
              <p:nvPr/>
            </p:nvSpPr>
            <p:spPr bwMode="auto">
              <a:xfrm>
                <a:off x="2094" y="2866"/>
                <a:ext cx="15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Rectangle 22"/>
              <p:cNvSpPr>
                <a:spLocks noChangeArrowheads="1"/>
              </p:cNvSpPr>
              <p:nvPr/>
            </p:nvSpPr>
            <p:spPr bwMode="auto">
              <a:xfrm>
                <a:off x="1077" y="2962"/>
                <a:ext cx="15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2187" y="2892"/>
              <a:ext cx="2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1144" y="3058"/>
              <a:ext cx="2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9" name="Picture 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8745" y="3730125"/>
            <a:ext cx="3949700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0" name="Rectangle 36"/>
          <p:cNvSpPr>
            <a:spLocks noChangeArrowheads="1"/>
          </p:cNvSpPr>
          <p:nvPr/>
        </p:nvSpPr>
        <p:spPr bwMode="auto">
          <a:xfrm>
            <a:off x="3704175" y="2757402"/>
            <a:ext cx="74892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37"/>
          <p:cNvSpPr>
            <a:spLocks noChangeArrowheads="1"/>
          </p:cNvSpPr>
          <p:nvPr/>
        </p:nvSpPr>
        <p:spPr bwMode="auto">
          <a:xfrm>
            <a:off x="3674883" y="3279275"/>
            <a:ext cx="21788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and where in general: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3" name="Picture 42" descr="Chapter 4 Fig 3"/>
          <p:cNvPicPr>
            <a:picLocks noChangeAspect="1" noChangeArrowheads="1"/>
          </p:cNvPicPr>
          <p:nvPr/>
        </p:nvPicPr>
        <p:blipFill>
          <a:blip r:embed="rId4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05" y="4800600"/>
            <a:ext cx="4229660" cy="1855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3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4343400"/>
            <a:ext cx="594908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20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Potential difference in a line charge field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2180119"/>
            <a:ext cx="256857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9" name="Picture 5" descr="Chapter 4 Fig 2"/>
          <p:cNvPicPr>
            <a:picLocks noChangeAspect="1" noChangeArrowheads="1"/>
          </p:cNvPicPr>
          <p:nvPr/>
        </p:nvPicPr>
        <p:blipFill>
          <a:blip r:embed="rId3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071" y="1931988"/>
            <a:ext cx="7294563" cy="326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952500" y="1748407"/>
            <a:ext cx="4191000" cy="403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" name="Group 12"/>
          <p:cNvGrpSpPr/>
          <p:nvPr/>
        </p:nvGrpSpPr>
        <p:grpSpPr bwMode="auto">
          <a:xfrm>
            <a:off x="457200" y="2472219"/>
            <a:ext cx="5302250" cy="1485900"/>
            <a:chOff x="260" y="1872"/>
            <a:chExt cx="3340" cy="936"/>
          </a:xfrm>
        </p:grpSpPr>
        <p:pic>
          <p:nvPicPr>
            <p:cNvPr id="24" name="Picture 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" y="1872"/>
              <a:ext cx="3340" cy="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5" name="Picture 1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3" y="2433"/>
              <a:ext cx="1140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4" name="圆角矩形 3"/>
          <p:cNvSpPr/>
          <p:nvPr/>
        </p:nvSpPr>
        <p:spPr>
          <a:xfrm>
            <a:off x="6248400" y="4724400"/>
            <a:ext cx="609600" cy="4572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738" y="4915619"/>
            <a:ext cx="6120442" cy="1038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Potential, or Absolute Potential </a:t>
            </a:r>
            <a:r>
              <a:rPr lang="zh-CN" altLang="en-US" sz="28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电位，绝对电位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3400" y="1600200"/>
            <a:ext cx="80772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It is often convenient to speak of the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absolute potential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 a point, rather than the potential difference between two points, but this means only that we agree to measure every potential difference with respect to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specified reference point that we consider to have zero potential. </a:t>
            </a:r>
            <a:r>
              <a:rPr lang="zh-CN" altLang="en-US" sz="2000" dirty="0">
                <a:solidFill>
                  <a:srgbClr val="C00000"/>
                </a:solidFill>
                <a:highlight>
                  <a:srgbClr val="FFFF0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要求我们定义一个参考零电位点</a:t>
            </a:r>
            <a:r>
              <a:rPr lang="en-US" altLang="zh-CN" sz="2000" dirty="0">
                <a:solidFill>
                  <a:srgbClr val="C00000"/>
                </a:solidFill>
                <a:highlight>
                  <a:srgbClr val="FFFF0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rgbClr val="C00000"/>
                </a:solidFill>
                <a:highlight>
                  <a:srgbClr val="FFFF0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面，如同重力场中的海平面（海拔高度</a:t>
            </a:r>
            <a:r>
              <a:rPr lang="en-US" altLang="zh-CN" sz="2000" dirty="0">
                <a:solidFill>
                  <a:srgbClr val="C00000"/>
                </a:solidFill>
                <a:highlight>
                  <a:srgbClr val="FFFF0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=0</a:t>
            </a:r>
            <a:r>
              <a:rPr lang="zh-CN" altLang="en-US" sz="2000" dirty="0">
                <a:solidFill>
                  <a:srgbClr val="C00000"/>
                </a:solidFill>
                <a:highlight>
                  <a:srgbClr val="FFFF0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000" dirty="0">
              <a:solidFill>
                <a:srgbClr val="C00000"/>
              </a:solidFill>
              <a:highlight>
                <a:srgbClr val="FFFF00"/>
              </a:highlight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3400" y="3124200"/>
            <a:ext cx="81915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Perhaps the most universal zero reference point in experimental or physical potential measurements is </a:t>
            </a:r>
            <a:r>
              <a:rPr lang="en-US" altLang="zh-CN" sz="2000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“ground,” </a:t>
            </a:r>
            <a:r>
              <a:rPr lang="zh-CN" altLang="en-US" sz="2000" dirty="0">
                <a:solidFill>
                  <a:srgbClr val="C00000"/>
                </a:solidFill>
                <a:highlight>
                  <a:srgbClr val="FFFF0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大地</a:t>
            </a:r>
            <a:r>
              <a:rPr lang="en-US" altLang="zh-CN" sz="2000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which we mean the potential of the surface region of the earth itself.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90900" y="4186149"/>
            <a:ext cx="533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Another widely used reference “point” is a point which is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infinitely far away (infinity). </a:t>
            </a:r>
            <a:r>
              <a:rPr lang="zh-CN" altLang="en-US" sz="2000" dirty="0">
                <a:solidFill>
                  <a:srgbClr val="C00000"/>
                </a:solidFill>
                <a:highlight>
                  <a:srgbClr val="FFFF0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无穷远处的点</a:t>
            </a:r>
            <a:endParaRPr lang="zh-CN" altLang="en-US" sz="2000" dirty="0">
              <a:solidFill>
                <a:srgbClr val="C00000"/>
              </a:solidFill>
              <a:highlight>
                <a:srgbClr val="FFFF00"/>
              </a:highlight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1" name="Group 35"/>
          <p:cNvGrpSpPr/>
          <p:nvPr/>
        </p:nvGrpSpPr>
        <p:grpSpPr bwMode="auto">
          <a:xfrm>
            <a:off x="-411728" y="4711129"/>
            <a:ext cx="3497735" cy="2056466"/>
            <a:chOff x="288" y="2256"/>
            <a:chExt cx="2211" cy="1418"/>
          </a:xfrm>
        </p:grpSpPr>
        <p:grpSp>
          <p:nvGrpSpPr>
            <p:cNvPr id="23" name="Group 23"/>
            <p:cNvGrpSpPr/>
            <p:nvPr/>
          </p:nvGrpSpPr>
          <p:grpSpPr bwMode="auto">
            <a:xfrm>
              <a:off x="288" y="2256"/>
              <a:ext cx="2211" cy="1418"/>
              <a:chOff x="288" y="2256"/>
              <a:chExt cx="2211" cy="1418"/>
            </a:xfrm>
          </p:grpSpPr>
          <p:grpSp>
            <p:nvGrpSpPr>
              <p:cNvPr id="28" name="Group 14"/>
              <p:cNvGrpSpPr/>
              <p:nvPr/>
            </p:nvGrpSpPr>
            <p:grpSpPr bwMode="auto">
              <a:xfrm>
                <a:off x="288" y="2256"/>
                <a:ext cx="2211" cy="1418"/>
                <a:chOff x="1725" y="1398"/>
                <a:chExt cx="2211" cy="1418"/>
              </a:xfrm>
            </p:grpSpPr>
            <p:grpSp>
              <p:nvGrpSpPr>
                <p:cNvPr id="36" name="Group 9"/>
                <p:cNvGrpSpPr/>
                <p:nvPr/>
              </p:nvGrpSpPr>
              <p:grpSpPr bwMode="auto">
                <a:xfrm>
                  <a:off x="2250" y="1872"/>
                  <a:ext cx="1686" cy="822"/>
                  <a:chOff x="2250" y="1872"/>
                  <a:chExt cx="1686" cy="822"/>
                </a:xfrm>
              </p:grpSpPr>
              <p:sp>
                <p:nvSpPr>
                  <p:cNvPr id="44" name="Line 6"/>
                  <p:cNvSpPr>
                    <a:spLocks noChangeShapeType="1"/>
                  </p:cNvSpPr>
                  <p:nvPr/>
                </p:nvSpPr>
                <p:spPr bwMode="auto">
                  <a:xfrm>
                    <a:off x="2256" y="2691"/>
                    <a:ext cx="168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3190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" name="Line 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56" y="2259"/>
                    <a:ext cx="1632" cy="432"/>
                  </a:xfrm>
                  <a:prstGeom prst="line">
                    <a:avLst/>
                  </a:prstGeom>
                  <a:noFill/>
                  <a:ln w="19050">
                    <a:solidFill>
                      <a:srgbClr val="FF3190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6" name="Line 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50" y="1872"/>
                    <a:ext cx="1446" cy="822"/>
                  </a:xfrm>
                  <a:prstGeom prst="line">
                    <a:avLst/>
                  </a:prstGeom>
                  <a:noFill/>
                  <a:ln w="19050">
                    <a:solidFill>
                      <a:srgbClr val="FF3190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7" name="Group 10"/>
                <p:cNvGrpSpPr/>
                <p:nvPr/>
              </p:nvGrpSpPr>
              <p:grpSpPr bwMode="auto">
                <a:xfrm rot="-2650935">
                  <a:off x="1725" y="1398"/>
                  <a:ext cx="1686" cy="822"/>
                  <a:chOff x="2250" y="1872"/>
                  <a:chExt cx="1686" cy="822"/>
                </a:xfrm>
              </p:grpSpPr>
              <p:sp>
                <p:nvSpPr>
                  <p:cNvPr id="40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2256" y="2691"/>
                    <a:ext cx="168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3190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1" name="Line 1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56" y="2259"/>
                    <a:ext cx="1632" cy="432"/>
                  </a:xfrm>
                  <a:prstGeom prst="line">
                    <a:avLst/>
                  </a:prstGeom>
                  <a:noFill/>
                  <a:ln w="19050">
                    <a:solidFill>
                      <a:srgbClr val="FF3190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2" name="Line 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50" y="1872"/>
                    <a:ext cx="1446" cy="822"/>
                  </a:xfrm>
                  <a:prstGeom prst="line">
                    <a:avLst/>
                  </a:prstGeom>
                  <a:noFill/>
                  <a:ln w="19050">
                    <a:solidFill>
                      <a:srgbClr val="FF3190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8" name="Oval 4"/>
                <p:cNvSpPr>
                  <a:spLocks noChangeArrowheads="1"/>
                </p:cNvSpPr>
                <p:nvPr/>
              </p:nvSpPr>
              <p:spPr bwMode="auto">
                <a:xfrm>
                  <a:off x="2201" y="2627"/>
                  <a:ext cx="112" cy="115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Rectangle 5"/>
                <p:cNvSpPr>
                  <a:spLocks noChangeArrowheads="1"/>
                </p:cNvSpPr>
                <p:nvPr/>
              </p:nvSpPr>
              <p:spPr bwMode="auto">
                <a:xfrm>
                  <a:off x="2163" y="2583"/>
                  <a:ext cx="199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9" name="Rectangle 15"/>
              <p:cNvSpPr>
                <a:spLocks noChangeArrowheads="1"/>
              </p:cNvSpPr>
              <p:nvPr/>
            </p:nvSpPr>
            <p:spPr bwMode="auto">
              <a:xfrm>
                <a:off x="615" y="3216"/>
                <a:ext cx="22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Line 16"/>
              <p:cNvSpPr>
                <a:spLocks noChangeShapeType="1"/>
              </p:cNvSpPr>
              <p:nvPr/>
            </p:nvSpPr>
            <p:spPr bwMode="auto">
              <a:xfrm flipV="1">
                <a:off x="864" y="3024"/>
                <a:ext cx="1296" cy="48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Rectangle 18"/>
              <p:cNvSpPr>
                <a:spLocks noChangeArrowheads="1"/>
              </p:cNvSpPr>
              <p:nvPr/>
            </p:nvSpPr>
            <p:spPr bwMode="auto">
              <a:xfrm>
                <a:off x="1920" y="3003"/>
                <a:ext cx="23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CN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Rectangle 19"/>
              <p:cNvSpPr>
                <a:spLocks noChangeArrowheads="1"/>
              </p:cNvSpPr>
              <p:nvPr/>
            </p:nvSpPr>
            <p:spPr bwMode="auto">
              <a:xfrm>
                <a:off x="1121" y="2859"/>
                <a:ext cx="31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altLang="zh-CN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CN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Line 20"/>
              <p:cNvSpPr>
                <a:spLocks noChangeShapeType="1"/>
              </p:cNvSpPr>
              <p:nvPr/>
            </p:nvSpPr>
            <p:spPr bwMode="auto">
              <a:xfrm flipV="1">
                <a:off x="855" y="3120"/>
                <a:ext cx="297" cy="3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Rectangle 21"/>
              <p:cNvSpPr>
                <a:spLocks noChangeArrowheads="1"/>
              </p:cNvSpPr>
              <p:nvPr/>
            </p:nvSpPr>
            <p:spPr bwMode="auto">
              <a:xfrm>
                <a:off x="2094" y="2866"/>
                <a:ext cx="15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Rectangle 22"/>
              <p:cNvSpPr>
                <a:spLocks noChangeArrowheads="1"/>
              </p:cNvSpPr>
              <p:nvPr/>
            </p:nvSpPr>
            <p:spPr bwMode="auto">
              <a:xfrm>
                <a:off x="1077" y="2962"/>
                <a:ext cx="15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6" name="Rectangle 27"/>
            <p:cNvSpPr>
              <a:spLocks noChangeArrowheads="1"/>
            </p:cNvSpPr>
            <p:nvPr/>
          </p:nvSpPr>
          <p:spPr bwMode="auto">
            <a:xfrm>
              <a:off x="2187" y="2892"/>
              <a:ext cx="2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28"/>
            <p:cNvSpPr>
              <a:spLocks noChangeArrowheads="1"/>
            </p:cNvSpPr>
            <p:nvPr/>
          </p:nvSpPr>
          <p:spPr bwMode="auto">
            <a:xfrm>
              <a:off x="1144" y="3058"/>
              <a:ext cx="2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7" name="Picture 3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698" y="5516468"/>
            <a:ext cx="5586323" cy="7155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55a05c4e-6876-4216-8f00-5f28924a4a7b"/>
  <p:tag name="COMMONDATA" val="eyJoZGlkIjoiODI0ZjJiMmIyODM0NTc5MzEyN2IzOWYzNjgwNDFiNTY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6534</Words>
  <Application>WPS 演示</Application>
  <PresentationFormat>On-screen Show (4:3)</PresentationFormat>
  <Paragraphs>389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宋体</vt:lpstr>
      <vt:lpstr>Wingdings</vt:lpstr>
      <vt:lpstr>Times New Roman</vt:lpstr>
      <vt:lpstr>华文行楷</vt:lpstr>
      <vt:lpstr>Symbol</vt:lpstr>
      <vt:lpstr>微软雅黑</vt:lpstr>
      <vt:lpstr>Arial Unicode MS</vt:lpstr>
      <vt:lpstr>Calibri</vt:lpstr>
      <vt:lpstr>默认设计模板</vt:lpstr>
      <vt:lpstr>Engineering Electromagnetics 工程电磁场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dpcuser</dc:creator>
  <cp:lastModifiedBy>林碧容</cp:lastModifiedBy>
  <cp:revision>349</cp:revision>
  <cp:lastPrinted>2014-03-03T09:16:00Z</cp:lastPrinted>
  <dcterms:created xsi:type="dcterms:W3CDTF">2113-01-01T00:00:00Z</dcterms:created>
  <dcterms:modified xsi:type="dcterms:W3CDTF">2024-12-24T13:18:47Z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C7166119AAF5486890F771FB1E2A8671</vt:lpwstr>
  </property>
  <property fmtid="{D5CDD505-2E9C-101B-9397-08002B2CF9AE}" pid="4" name="KSOProductBuildVer">
    <vt:lpwstr>2052-11.1.0.12165</vt:lpwstr>
  </property>
</Properties>
</file>