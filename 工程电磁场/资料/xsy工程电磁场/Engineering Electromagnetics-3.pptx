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36"/>
  </p:handoutMasterIdLst>
  <p:sldIdLst>
    <p:sldId id="256" r:id="rId3"/>
    <p:sldId id="280" r:id="rId4"/>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74" r:id="rId28"/>
    <p:sldId id="375" r:id="rId29"/>
    <p:sldId id="376" r:id="rId30"/>
    <p:sldId id="377" r:id="rId31"/>
    <p:sldId id="378" r:id="rId32"/>
    <p:sldId id="379" r:id="rId33"/>
    <p:sldId id="380" r:id="rId34"/>
    <p:sldId id="381" r:id="rId35"/>
  </p:sldIdLst>
  <p:sldSz cx="9144000" cy="6858000" type="screen4x3"/>
  <p:notesSz cx="9926320" cy="6797675"/>
  <p:custDataLst>
    <p:tags r:id="rId4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shengyi" initials="x"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6600"/>
    <a:srgbClr val="990000"/>
    <a:srgbClr val="0066CC"/>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1" autoAdjust="0"/>
    <p:restoredTop sz="94660"/>
  </p:normalViewPr>
  <p:slideViewPr>
    <p:cSldViewPr>
      <p:cViewPr varScale="1">
        <p:scale>
          <a:sx n="115" d="100"/>
          <a:sy n="115" d="100"/>
        </p:scale>
        <p:origin x="1166" y="9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1" Type="http://schemas.openxmlformats.org/officeDocument/2006/relationships/tags" Target="tags/tag1.xml"/><Relationship Id="rId40" Type="http://schemas.openxmlformats.org/officeDocument/2006/relationships/commentAuthors" Target="commentAuthors.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0-28T21:58:58.103" idx="2">
    <p:pos x="1982" y="2875"/>
    <p:text>注意此处对电通量的定义</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4-10-28T21:59:34.909" idx="3">
    <p:pos x="1396" y="2364"/>
    <p:text>D是电通量密度，不是电场强度</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4-10-12T16:42:12.883" idx="1">
    <p:pos x="3838" y="3430"/>
    <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4-10-28T22:02:43.846" idx="4">
    <p:pos x="2952" y="3303"/>
    <p:text>麦克斯韦方程组第一个式子</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839" cy="339515"/>
          </a:xfrm>
          <a:prstGeom prst="rect">
            <a:avLst/>
          </a:prstGeom>
        </p:spPr>
        <p:txBody>
          <a:bodyPr vert="horz" lIns="88221" tIns="44111" rIns="88221" bIns="44111" rtlCol="0"/>
          <a:lstStyle>
            <a:lvl1pPr algn="l">
              <a:defRPr sz="1200"/>
            </a:lvl1pPr>
          </a:lstStyle>
          <a:p>
            <a:endParaRPr lang="zh-CN" altLang="en-US"/>
          </a:p>
        </p:txBody>
      </p:sp>
      <p:sp>
        <p:nvSpPr>
          <p:cNvPr id="3" name="日期占位符 2"/>
          <p:cNvSpPr>
            <a:spLocks noGrp="1"/>
          </p:cNvSpPr>
          <p:nvPr>
            <p:ph type="dt" sz="quarter" idx="1"/>
          </p:nvPr>
        </p:nvSpPr>
        <p:spPr>
          <a:xfrm>
            <a:off x="5622581" y="0"/>
            <a:ext cx="4301839" cy="339515"/>
          </a:xfrm>
          <a:prstGeom prst="rect">
            <a:avLst/>
          </a:prstGeom>
        </p:spPr>
        <p:txBody>
          <a:bodyPr vert="horz" lIns="88221" tIns="44111" rIns="88221" bIns="44111" rtlCol="0"/>
          <a:lstStyle>
            <a:lvl1pPr algn="r">
              <a:defRPr sz="1200"/>
            </a:lvl1pPr>
          </a:lstStyle>
          <a:p>
            <a:fld id="{686A4324-7C28-4329-B2F1-5FD4B6C25641}" type="datetimeFigureOut">
              <a:rPr lang="zh-CN" altLang="en-US" smtClean="0"/>
            </a:fld>
            <a:endParaRPr lang="zh-CN" altLang="en-US"/>
          </a:p>
        </p:txBody>
      </p:sp>
      <p:sp>
        <p:nvSpPr>
          <p:cNvPr id="4" name="页脚占位符 3"/>
          <p:cNvSpPr>
            <a:spLocks noGrp="1"/>
          </p:cNvSpPr>
          <p:nvPr>
            <p:ph type="ftr" sz="quarter" idx="2"/>
          </p:nvPr>
        </p:nvSpPr>
        <p:spPr>
          <a:xfrm>
            <a:off x="1" y="6457106"/>
            <a:ext cx="4301839" cy="339515"/>
          </a:xfrm>
          <a:prstGeom prst="rect">
            <a:avLst/>
          </a:prstGeom>
        </p:spPr>
        <p:txBody>
          <a:bodyPr vert="horz" lIns="88221" tIns="44111" rIns="88221" bIns="4411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81" y="6457106"/>
            <a:ext cx="4301839" cy="339515"/>
          </a:xfrm>
          <a:prstGeom prst="rect">
            <a:avLst/>
          </a:prstGeom>
        </p:spPr>
        <p:txBody>
          <a:bodyPr vert="horz" lIns="88221" tIns="44111" rIns="88221" bIns="44111" rtlCol="0" anchor="b"/>
          <a:lstStyle>
            <a:lvl1pPr algn="r">
              <a:defRPr sz="1200"/>
            </a:lvl1pPr>
          </a:lstStyle>
          <a:p>
            <a:fld id="{FA732558-7D0B-4745-B877-2B020FA1E1A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1542" cy="339884"/>
          </a:xfrm>
          <a:prstGeom prst="rect">
            <a:avLst/>
          </a:prstGeom>
        </p:spPr>
        <p:txBody>
          <a:bodyPr vert="horz" lIns="95562" tIns="47781" rIns="95562" bIns="47781" rtlCol="0"/>
          <a:lstStyle>
            <a:lvl1pPr algn="l">
              <a:defRPr sz="1300"/>
            </a:lvl1pPr>
          </a:lstStyle>
          <a:p>
            <a:pPr>
              <a:defRPr/>
            </a:pPr>
            <a:endParaRPr lang="zh-CN" altLang="en-US"/>
          </a:p>
        </p:txBody>
      </p:sp>
      <p:sp>
        <p:nvSpPr>
          <p:cNvPr id="3" name="日期占位符 2"/>
          <p:cNvSpPr>
            <a:spLocks noGrp="1"/>
          </p:cNvSpPr>
          <p:nvPr>
            <p:ph type="dt" idx="1"/>
          </p:nvPr>
        </p:nvSpPr>
        <p:spPr>
          <a:xfrm>
            <a:off x="5622799" y="0"/>
            <a:ext cx="4301542" cy="339884"/>
          </a:xfrm>
          <a:prstGeom prst="rect">
            <a:avLst/>
          </a:prstGeom>
        </p:spPr>
        <p:txBody>
          <a:bodyPr vert="horz" lIns="95562" tIns="47781" rIns="95562" bIns="47781" rtlCol="0"/>
          <a:lstStyle>
            <a:lvl1pPr algn="r">
              <a:defRPr sz="1300"/>
            </a:lvl1pPr>
          </a:lstStyle>
          <a:p>
            <a:pPr>
              <a:defRPr/>
            </a:pPr>
            <a:fld id="{CFCE66B6-4CF2-4562-A36E-FD57958B22D0}" type="datetimeFigureOut">
              <a:rPr lang="zh-CN" altLang="en-US"/>
            </a:fld>
            <a:endParaRPr lang="zh-CN" altLang="en-US"/>
          </a:p>
        </p:txBody>
      </p:sp>
      <p:sp>
        <p:nvSpPr>
          <p:cNvPr id="4" name="幻灯片图像占位符 3"/>
          <p:cNvSpPr>
            <a:spLocks noGrp="1" noRot="1" noChangeAspect="1"/>
          </p:cNvSpPr>
          <p:nvPr>
            <p:ph type="sldImg" idx="2"/>
          </p:nvPr>
        </p:nvSpPr>
        <p:spPr>
          <a:xfrm>
            <a:off x="3263900" y="511175"/>
            <a:ext cx="3398838" cy="2547938"/>
          </a:xfrm>
          <a:prstGeom prst="rect">
            <a:avLst/>
          </a:prstGeom>
          <a:noFill/>
          <a:ln w="12700">
            <a:solidFill>
              <a:prstClr val="black"/>
            </a:solidFill>
          </a:ln>
        </p:spPr>
        <p:txBody>
          <a:bodyPr vert="horz" lIns="95562" tIns="47781" rIns="95562" bIns="47781" rtlCol="0" anchor="ctr"/>
          <a:lstStyle/>
          <a:p>
            <a:pPr lvl="0"/>
            <a:endParaRPr lang="zh-CN" altLang="en-US" noProof="0"/>
          </a:p>
        </p:txBody>
      </p:sp>
      <p:sp>
        <p:nvSpPr>
          <p:cNvPr id="5" name="备注占位符 4"/>
          <p:cNvSpPr>
            <a:spLocks noGrp="1"/>
          </p:cNvSpPr>
          <p:nvPr>
            <p:ph type="body" sz="quarter" idx="3"/>
          </p:nvPr>
        </p:nvSpPr>
        <p:spPr>
          <a:xfrm>
            <a:off x="992664" y="3228896"/>
            <a:ext cx="7941310" cy="3058954"/>
          </a:xfrm>
          <a:prstGeom prst="rect">
            <a:avLst/>
          </a:prstGeom>
        </p:spPr>
        <p:txBody>
          <a:bodyPr vert="horz" lIns="95562" tIns="47781" rIns="95562" bIns="47781"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1" y="6456612"/>
            <a:ext cx="4301542" cy="339884"/>
          </a:xfrm>
          <a:prstGeom prst="rect">
            <a:avLst/>
          </a:prstGeom>
        </p:spPr>
        <p:txBody>
          <a:bodyPr vert="horz" lIns="95562" tIns="47781" rIns="95562" bIns="47781" rtlCol="0" anchor="b"/>
          <a:lstStyle>
            <a:lvl1pPr algn="l">
              <a:defRPr sz="1300"/>
            </a:lvl1pPr>
          </a:lstStyle>
          <a:p>
            <a:pPr>
              <a:defRPr/>
            </a:pPr>
            <a:endParaRPr lang="zh-CN" altLang="en-US"/>
          </a:p>
        </p:txBody>
      </p:sp>
      <p:sp>
        <p:nvSpPr>
          <p:cNvPr id="7" name="灯片编号占位符 6"/>
          <p:cNvSpPr>
            <a:spLocks noGrp="1"/>
          </p:cNvSpPr>
          <p:nvPr>
            <p:ph type="sldNum" sz="quarter" idx="5"/>
          </p:nvPr>
        </p:nvSpPr>
        <p:spPr>
          <a:xfrm>
            <a:off x="5622799" y="6456612"/>
            <a:ext cx="4301542" cy="339884"/>
          </a:xfrm>
          <a:prstGeom prst="rect">
            <a:avLst/>
          </a:prstGeom>
        </p:spPr>
        <p:txBody>
          <a:bodyPr vert="horz" lIns="95562" tIns="47781" rIns="95562" bIns="47781" rtlCol="0" anchor="b"/>
          <a:lstStyle>
            <a:lvl1pPr algn="r">
              <a:defRPr sz="1300"/>
            </a:lvl1pPr>
          </a:lstStyle>
          <a:p>
            <a:pPr>
              <a:defRPr/>
            </a:pPr>
            <a:fld id="{BEA14968-9F28-4550-9E62-5AFEB150A692}"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EA14968-9F28-4550-9E62-5AFEB150A69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98A915F-EF48-4E12-9322-014AC14B8245}"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246757F-36B6-4B03-A23B-51A791095AB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522D1AA-81AF-4136-B6B7-4DF8B2353D30}"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113869A-52EA-439A-85B4-5B99DA02ADD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FD9549B5-7C33-4401-8DCA-0C1C099D0711}"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B53D6E32-8AFF-48B0-BFAA-79EFD98B79A8}"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69729E0-9F39-4321-BCC4-0E383C41923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B898902-1749-4578-ADD1-C8D6FC14DD70}"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2596899-CE8E-4251-8463-AEEF76D0B85B}"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8FEBD7C-0FB7-467E-B4C1-280AB41F763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47B3FA2-80A2-486F-B8BD-C573184B8A0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a:defRPr/>
            </a:pPr>
            <a:fld id="{67C57CB3-D73C-4ACB-B9FF-2C58343599B0}"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comments" Target="../comments/comment2.xml"/><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7" Type="http://schemas.openxmlformats.org/officeDocument/2006/relationships/comments" Target="../comments/comment3.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4.png"/><Relationship Id="rId10" Type="http://schemas.openxmlformats.org/officeDocument/2006/relationships/notesSlide" Target="../notesSlides/notesSlide13.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2.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png"/><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image" Target="../media/image48.png"/></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image" Target="../media/image56.png"/><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4.png"/><Relationship Id="rId1"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2.xml"/><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57.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4.png"/><Relationship Id="rId1" Type="http://schemas.openxmlformats.org/officeDocument/2006/relationships/image" Target="../media/image57.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9" Type="http://schemas.openxmlformats.org/officeDocument/2006/relationships/comments" Target="../comments/comment4.xml"/><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image" Target="../media/image73.jpe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8.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0.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6.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xml"/><Relationship Id="rId4" Type="http://schemas.openxmlformats.org/officeDocument/2006/relationships/image" Target="../media/image91.png"/><Relationship Id="rId3" Type="http://schemas.openxmlformats.org/officeDocument/2006/relationships/image" Target="../media/image86.png"/><Relationship Id="rId2" Type="http://schemas.openxmlformats.org/officeDocument/2006/relationships/image" Target="../media/image4.png"/><Relationship Id="rId1" Type="http://schemas.openxmlformats.org/officeDocument/2006/relationships/image" Target="../media/image90.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92.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81000" y="1828800"/>
            <a:ext cx="8534400" cy="1981200"/>
          </a:xfrm>
        </p:spPr>
        <p:txBody>
          <a:bodyPr/>
          <a:lstStyle/>
          <a:p>
            <a:pPr eaLnBrk="1" hangingPunct="1">
              <a:spcBef>
                <a:spcPct val="20000"/>
              </a:spcBef>
            </a:pPr>
            <a:r>
              <a:rPr lang="en-US" altLang="zh-CN" sz="4800">
                <a:solidFill>
                  <a:srgbClr val="000099"/>
                </a:solidFill>
                <a:latin typeface="Times New Roman" panose="02020603050405020304" pitchFamily="18" charset="0"/>
                <a:cs typeface="Times New Roman" panose="02020603050405020304" pitchFamily="18" charset="0"/>
              </a:rPr>
              <a:t>Engineering Electromagnetics</a:t>
            </a:r>
            <a:br>
              <a:rPr lang="en-US" altLang="zh-CN" sz="4800">
                <a:solidFill>
                  <a:srgbClr val="000099"/>
                </a:solidFill>
                <a:latin typeface="Times New Roman" panose="02020603050405020304" pitchFamily="18" charset="0"/>
                <a:cs typeface="Times New Roman" panose="02020603050405020304" pitchFamily="18" charset="0"/>
              </a:rPr>
            </a:br>
            <a:r>
              <a:rPr lang="zh-CN" altLang="en-US" sz="400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工程电磁场</a:t>
            </a:r>
            <a:endParaRPr lang="zh-CN" altLang="en-US" sz="400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2051" name="Rectangle 3"/>
          <p:cNvSpPr>
            <a:spLocks noGrp="1" noChangeArrowheads="1"/>
          </p:cNvSpPr>
          <p:nvPr>
            <p:ph type="subTitle" idx="1"/>
          </p:nvPr>
        </p:nvSpPr>
        <p:spPr>
          <a:xfrm>
            <a:off x="1371600" y="4114800"/>
            <a:ext cx="6400800" cy="2133600"/>
          </a:xfrm>
        </p:spPr>
        <p:txBody>
          <a:bodyPr/>
          <a:lstStyle/>
          <a:p>
            <a:pPr eaLnBrk="1" hangingPunct="1"/>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a:p>
            <a:pPr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Youwei Jia </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嘉有为</a:t>
            </a:r>
            <a:endPar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a:p>
            <a:pPr eaLnBrk="1" hangingPunct="1"/>
            <a:endPar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cxnSp>
        <p:nvCxnSpPr>
          <p:cNvPr id="2052" name="Gerade Verbindung 11"/>
          <p:cNvCxnSpPr>
            <a:cxnSpLocks noChangeShapeType="1"/>
          </p:cNvCxnSpPr>
          <p:nvPr/>
        </p:nvCxnSpPr>
        <p:spPr bwMode="auto">
          <a:xfrm>
            <a:off x="85725" y="1371600"/>
            <a:ext cx="7305675" cy="0"/>
          </a:xfrm>
          <a:prstGeom prst="line">
            <a:avLst/>
          </a:prstGeom>
          <a:noFill/>
          <a:ln w="19050" algn="ctr">
            <a:solidFill>
              <a:srgbClr val="000099"/>
            </a:solidFill>
            <a:round/>
          </a:ln>
          <a:extLst>
            <a:ext uri="{909E8E84-426E-40DD-AFC4-6F175D3DCCD1}">
              <a14:hiddenFill xmlns:a14="http://schemas.microsoft.com/office/drawing/2010/main">
                <a:noFill/>
              </a14:hiddenFill>
            </a:ext>
          </a:extLst>
        </p:spPr>
      </p:cxnSp>
      <p:pic>
        <p:nvPicPr>
          <p:cNvPr id="2053" name="Picture 9" descr="13829064795036"/>
          <p:cNvPicPr>
            <a:picLocks noChangeAspect="1" noChangeArrowheads="1"/>
          </p:cNvPicPr>
          <p:nvPr/>
        </p:nvPicPr>
        <p:blipFill>
          <a:blip r:embed="rId1">
            <a:lum bright="10000"/>
            <a:extLst>
              <a:ext uri="{28A0092B-C50C-407E-A947-70E740481C1C}">
                <a14:useLocalDpi xmlns:a14="http://schemas.microsoft.com/office/drawing/2010/main" val="0"/>
              </a:ext>
            </a:extLst>
          </a:blip>
          <a:srcRect/>
          <a:stretch>
            <a:fillRect/>
          </a:stretch>
        </p:blipFill>
        <p:spPr bwMode="auto">
          <a:xfrm>
            <a:off x="109538" y="112713"/>
            <a:ext cx="260985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10" descr="13829064803086"/>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2754313" y="112713"/>
            <a:ext cx="2754312"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Picture 11" descr="13829064833397"/>
          <p:cNvPicPr>
            <a:picLocks noChangeAspect="1" noChangeArrowheads="1"/>
          </p:cNvPicPr>
          <p:nvPr/>
        </p:nvPicPr>
        <p:blipFill>
          <a:blip r:embed="rId3">
            <a:lum bright="10000"/>
            <a:extLst>
              <a:ext uri="{28A0092B-C50C-407E-A947-70E740481C1C}">
                <a14:useLocalDpi xmlns:a14="http://schemas.microsoft.com/office/drawing/2010/main" val="0"/>
              </a:ext>
            </a:extLst>
          </a:blip>
          <a:srcRect/>
          <a:stretch>
            <a:fillRect/>
          </a:stretch>
        </p:blipFill>
        <p:spPr bwMode="auto">
          <a:xfrm>
            <a:off x="5540375" y="112713"/>
            <a:ext cx="1839913"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56" name="Gerade Verbindung 11"/>
          <p:cNvCxnSpPr>
            <a:cxnSpLocks noChangeShapeType="1"/>
          </p:cNvCxnSpPr>
          <p:nvPr/>
        </p:nvCxnSpPr>
        <p:spPr bwMode="auto">
          <a:xfrm>
            <a:off x="609600" y="3657600"/>
            <a:ext cx="7916863" cy="0"/>
          </a:xfrm>
          <a:prstGeom prst="line">
            <a:avLst/>
          </a:prstGeom>
          <a:noFill/>
          <a:ln w="19050" algn="ctr">
            <a:solidFill>
              <a:srgbClr val="000099"/>
            </a:solidFill>
            <a:round/>
          </a:ln>
          <a:extLst>
            <a:ext uri="{909E8E84-426E-40DD-AFC4-6F175D3DCCD1}">
              <a14:hiddenFill xmlns:a14="http://schemas.microsoft.com/office/drawing/2010/main">
                <a:noFill/>
              </a14:hiddenFill>
            </a:ext>
          </a:ex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4: Concept of ‘Flux’ </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通量</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954107"/>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The word ‘ flux ’ comes from Latin: </a:t>
            </a:r>
            <a:r>
              <a:rPr lang="en-US" altLang="zh-CN" sz="2800" dirty="0" err="1">
                <a:solidFill>
                  <a:srgbClr val="000099"/>
                </a:solidFill>
                <a:latin typeface="Times New Roman" panose="02020603050405020304" pitchFamily="18" charset="0"/>
              </a:rPr>
              <a:t>fluxus</a:t>
            </a:r>
            <a:r>
              <a:rPr lang="en-US" altLang="zh-CN" sz="2800" dirty="0">
                <a:solidFill>
                  <a:srgbClr val="000099"/>
                </a:solidFill>
                <a:latin typeface="Times New Roman" panose="02020603050405020304" pitchFamily="18" charset="0"/>
              </a:rPr>
              <a:t> means “flow”, and </a:t>
            </a:r>
            <a:r>
              <a:rPr lang="en-US" altLang="zh-CN" sz="2800" dirty="0" err="1">
                <a:solidFill>
                  <a:srgbClr val="000099"/>
                </a:solidFill>
                <a:latin typeface="Times New Roman" panose="02020603050405020304" pitchFamily="18" charset="0"/>
              </a:rPr>
              <a:t>fluere</a:t>
            </a:r>
            <a:r>
              <a:rPr lang="en-US" altLang="zh-CN" sz="2800" dirty="0">
                <a:solidFill>
                  <a:srgbClr val="000099"/>
                </a:solidFill>
                <a:latin typeface="Times New Roman" panose="02020603050405020304" pitchFamily="18" charset="0"/>
              </a:rPr>
              <a:t> is “to flow” . </a:t>
            </a:r>
            <a:r>
              <a:rPr lang="zh-CN" altLang="en-US" sz="2800" dirty="0">
                <a:solidFill>
                  <a:srgbClr val="000099"/>
                </a:solidFill>
                <a:latin typeface="华文行楷" panose="02010800040101010101" pitchFamily="2" charset="-122"/>
                <a:ea typeface="华文行楷" panose="02010800040101010101" pitchFamily="2" charset="-122"/>
              </a:rPr>
              <a:t>一个表征“流动”的量</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44" name="矩形 43"/>
          <p:cNvSpPr/>
          <p:nvPr/>
        </p:nvSpPr>
        <p:spPr>
          <a:xfrm>
            <a:off x="342181" y="2044005"/>
            <a:ext cx="8686800" cy="1384995"/>
          </a:xfrm>
          <a:prstGeom prst="rect">
            <a:avLst/>
          </a:prstGeom>
        </p:spPr>
        <p:txBody>
          <a:bodyPr wrap="square">
            <a:spAutoFit/>
          </a:bodyPr>
          <a:lstStyle/>
          <a:p>
            <a:pPr marL="342900" indent="-342900">
              <a:spcBef>
                <a:spcPct val="20000"/>
              </a:spcBef>
              <a:buFontTx/>
              <a:buChar char="•"/>
              <a:defRPr/>
            </a:pPr>
            <a:r>
              <a:rPr lang="en-US" altLang="zh-CN" sz="2800" dirty="0">
                <a:solidFill>
                  <a:srgbClr val="000099"/>
                </a:solidFill>
                <a:latin typeface="Times New Roman" panose="02020603050405020304" pitchFamily="18" charset="0"/>
              </a:rPr>
              <a:t>Flux is defined as the rate of flow of a </a:t>
            </a:r>
            <a:r>
              <a:rPr lang="en-US" altLang="zh-CN" sz="2800" dirty="0">
                <a:solidFill>
                  <a:srgbClr val="C00000"/>
                </a:solidFill>
                <a:latin typeface="Times New Roman" panose="02020603050405020304" pitchFamily="18" charset="0"/>
              </a:rPr>
              <a:t>property</a:t>
            </a:r>
            <a:r>
              <a:rPr lang="en-US" altLang="zh-CN" sz="2800" dirty="0">
                <a:solidFill>
                  <a:srgbClr val="000099"/>
                </a:solidFill>
                <a:latin typeface="Times New Roman" panose="02020603050405020304" pitchFamily="18" charset="0"/>
              </a:rPr>
              <a:t> through certain area. </a:t>
            </a:r>
            <a:r>
              <a:rPr lang="zh-CN" altLang="en-US" sz="2800" dirty="0">
                <a:solidFill>
                  <a:srgbClr val="000099"/>
                </a:solidFill>
                <a:latin typeface="华文行楷" panose="02010800040101010101" pitchFamily="2" charset="-122"/>
                <a:ea typeface="华文行楷" panose="02010800040101010101" pitchFamily="2" charset="-122"/>
              </a:rPr>
              <a:t>“通量”用来表示单位时间内流过特定面的</a:t>
            </a:r>
            <a:r>
              <a:rPr lang="zh-CN" altLang="en-US" sz="2800" dirty="0">
                <a:solidFill>
                  <a:srgbClr val="C00000"/>
                </a:solidFill>
                <a:latin typeface="华文行楷" panose="02010800040101010101" pitchFamily="2" charset="-122"/>
                <a:ea typeface="华文行楷" panose="02010800040101010101" pitchFamily="2" charset="-122"/>
              </a:rPr>
              <a:t>某个量</a:t>
            </a:r>
            <a:r>
              <a:rPr lang="zh-CN" altLang="en-US" sz="2800" dirty="0">
                <a:solidFill>
                  <a:srgbClr val="000099"/>
                </a:solidFill>
                <a:latin typeface="华文行楷" panose="02010800040101010101" pitchFamily="2" charset="-122"/>
                <a:ea typeface="华文行楷" panose="02010800040101010101" pitchFamily="2" charset="-122"/>
              </a:rPr>
              <a:t>的多少</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7" name="Picture 2" descr="C:\Users\dpcuser\Desktop\About Teaching\工程电磁场\Instructor Notes\Lecture 3\384px-General_flux_diagram.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0121" y="3429001"/>
            <a:ext cx="400528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dpcuser\Desktop\About Teaching\工程电磁场\Instructor Notes\Lecture 3\236-004-D4AA985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6999" y="3505200"/>
            <a:ext cx="2065575" cy="14068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pcuser\Desktop\About Teaching\工程电磁场\Instructor Notes\Lecture 3\forest_stream-t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1" y="3518595"/>
            <a:ext cx="1676400" cy="1388342"/>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dpcuser\Desktop\About Teaching\工程电磁场\Instructor Notes\Lecture 3\img02.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226" y="5029200"/>
            <a:ext cx="3818174" cy="17113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Streamlines, Electric flux lines </a:t>
            </a:r>
            <a:r>
              <a:rPr lang="zh-CN" altLang="en-US" sz="2800" dirty="0">
                <a:solidFill>
                  <a:srgbClr val="000099"/>
                </a:solidFill>
                <a:latin typeface="华文行楷" panose="02010800040101010101" pitchFamily="2" charset="-122"/>
                <a:ea typeface="华文行楷" panose="02010800040101010101" pitchFamily="2" charset="-122"/>
              </a:rPr>
              <a:t>电力线、电通量线</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1905000"/>
            <a:ext cx="3048000" cy="2837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p:nvPr/>
        </p:nvSpPr>
        <p:spPr>
          <a:xfrm>
            <a:off x="523336" y="1676400"/>
            <a:ext cx="5267864" cy="1015663"/>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Let us be content to show only the </a:t>
            </a:r>
            <a:r>
              <a:rPr lang="en-US" altLang="zh-CN" sz="2000" i="1" dirty="0">
                <a:latin typeface="Times New Roman" panose="02020603050405020304" pitchFamily="18" charset="0"/>
                <a:cs typeface="Times New Roman" panose="02020603050405020304" pitchFamily="18" charset="0"/>
              </a:rPr>
              <a:t>direction </a:t>
            </a:r>
            <a:r>
              <a:rPr lang="en-US" altLang="zh-CN" sz="2000" dirty="0">
                <a:latin typeface="Times New Roman" panose="02020603050405020304" pitchFamily="18" charset="0"/>
                <a:cs typeface="Times New Roman" panose="02020603050405020304" pitchFamily="18" charset="0"/>
              </a:rPr>
              <a:t>of </a:t>
            </a:r>
            <a:r>
              <a:rPr lang="en-US" altLang="zh-CN" sz="2000" b="1" dirty="0">
                <a:latin typeface="Times New Roman" panose="02020603050405020304" pitchFamily="18" charset="0"/>
                <a:cs typeface="Times New Roman" panose="02020603050405020304" pitchFamily="18" charset="0"/>
              </a:rPr>
              <a:t>E </a:t>
            </a:r>
            <a:r>
              <a:rPr lang="en-US" altLang="zh-CN" sz="2000" dirty="0">
                <a:latin typeface="Times New Roman" panose="02020603050405020304" pitchFamily="18" charset="0"/>
                <a:cs typeface="Times New Roman" panose="02020603050405020304" pitchFamily="18" charset="0"/>
              </a:rPr>
              <a:t>by drawing </a:t>
            </a:r>
            <a:r>
              <a:rPr lang="en-US" altLang="zh-CN" sz="2000" dirty="0">
                <a:solidFill>
                  <a:srgbClr val="C00000"/>
                </a:solidFill>
                <a:latin typeface="Times New Roman" panose="02020603050405020304" pitchFamily="18" charset="0"/>
                <a:cs typeface="Times New Roman" panose="02020603050405020304" pitchFamily="18" charset="0"/>
              </a:rPr>
              <a:t>continuous lines</a:t>
            </a:r>
            <a:r>
              <a:rPr lang="en-US" altLang="zh-CN" sz="2000" dirty="0">
                <a:latin typeface="Times New Roman" panose="02020603050405020304" pitchFamily="18" charset="0"/>
                <a:cs typeface="Times New Roman" panose="02020603050405020304" pitchFamily="18" charset="0"/>
              </a:rPr>
              <a:t>, which are everywhere </a:t>
            </a:r>
            <a:r>
              <a:rPr lang="en-US" altLang="zh-CN" sz="2000" dirty="0">
                <a:solidFill>
                  <a:srgbClr val="C00000"/>
                </a:solidFill>
                <a:latin typeface="Times New Roman" panose="02020603050405020304" pitchFamily="18" charset="0"/>
                <a:cs typeface="Times New Roman" panose="02020603050405020304" pitchFamily="18" charset="0"/>
              </a:rPr>
              <a:t>tangent to </a:t>
            </a:r>
            <a:r>
              <a:rPr lang="en-US" altLang="zh-CN" sz="2000" b="1" dirty="0">
                <a:solidFill>
                  <a:srgbClr val="C00000"/>
                </a:solidFill>
                <a:latin typeface="Times New Roman" panose="02020603050405020304" pitchFamily="18" charset="0"/>
                <a:cs typeface="Times New Roman" panose="02020603050405020304" pitchFamily="18" charset="0"/>
              </a:rPr>
              <a:t>E</a:t>
            </a:r>
            <a:r>
              <a:rPr lang="en-US" altLang="zh-CN" sz="2000" dirty="0">
                <a:latin typeface="Times New Roman" panose="02020603050405020304" pitchFamily="18" charset="0"/>
                <a:cs typeface="Times New Roman" panose="02020603050405020304" pitchFamily="18" charset="0"/>
              </a:rPr>
              <a:t>, from the charge.</a:t>
            </a:r>
            <a:endParaRPr lang="zh-CN" altLang="en-US" sz="2000" dirty="0">
              <a:latin typeface="Times New Roman" panose="02020603050405020304" pitchFamily="18" charset="0"/>
              <a:cs typeface="Times New Roman" panose="02020603050405020304" pitchFamily="18" charset="0"/>
            </a:endParaRPr>
          </a:p>
        </p:txBody>
      </p:sp>
      <p:sp>
        <p:nvSpPr>
          <p:cNvPr id="14" name="矩形 13"/>
          <p:cNvSpPr/>
          <p:nvPr/>
        </p:nvSpPr>
        <p:spPr>
          <a:xfrm>
            <a:off x="533400" y="2743200"/>
            <a:ext cx="5239828" cy="1015663"/>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These lines are usually called </a:t>
            </a:r>
            <a:r>
              <a:rPr lang="en-US" altLang="zh-CN" sz="2000" i="1" dirty="0">
                <a:solidFill>
                  <a:srgbClr val="C00000"/>
                </a:solidFill>
                <a:latin typeface="Times New Roman" panose="02020603050405020304" pitchFamily="18" charset="0"/>
                <a:cs typeface="Times New Roman" panose="02020603050405020304" pitchFamily="18" charset="0"/>
              </a:rPr>
              <a:t>streamlines</a:t>
            </a:r>
            <a:r>
              <a:rPr lang="en-US" altLang="zh-CN" sz="2000" dirty="0">
                <a:latin typeface="Times New Roman" panose="02020603050405020304" pitchFamily="18" charset="0"/>
                <a:cs typeface="Times New Roman" panose="02020603050405020304" pitchFamily="18" charset="0"/>
              </a:rPr>
              <a:t>, although other terms such as </a:t>
            </a:r>
            <a:r>
              <a:rPr lang="en-US" altLang="zh-CN" sz="2000" dirty="0">
                <a:solidFill>
                  <a:srgbClr val="C00000"/>
                </a:solidFill>
                <a:latin typeface="Times New Roman" panose="02020603050405020304" pitchFamily="18" charset="0"/>
                <a:cs typeface="Times New Roman" panose="02020603050405020304" pitchFamily="18" charset="0"/>
              </a:rPr>
              <a:t>flux lines</a:t>
            </a:r>
            <a:r>
              <a:rPr lang="zh-CN" altLang="en-US"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通量线</a:t>
            </a:r>
            <a:r>
              <a:rPr lang="en-US" altLang="zh-CN"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and </a:t>
            </a:r>
            <a:r>
              <a:rPr lang="en-US" altLang="zh-CN" sz="2000" dirty="0">
                <a:solidFill>
                  <a:srgbClr val="C00000"/>
                </a:solidFill>
                <a:latin typeface="Times New Roman" panose="02020603050405020304" pitchFamily="18" charset="0"/>
                <a:cs typeface="Times New Roman" panose="02020603050405020304" pitchFamily="18" charset="0"/>
              </a:rPr>
              <a:t>direction lines</a:t>
            </a:r>
            <a:r>
              <a:rPr lang="zh-CN" altLang="en-US"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方向线</a:t>
            </a:r>
            <a:r>
              <a:rPr lang="en-US" altLang="zh-CN"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are also used.</a:t>
            </a:r>
            <a:endParaRPr lang="zh-CN" altLang="en-US" sz="2000" dirty="0">
              <a:latin typeface="Times New Roman" panose="02020603050405020304" pitchFamily="18" charset="0"/>
              <a:cs typeface="Times New Roman" panose="02020603050405020304" pitchFamily="18" charset="0"/>
            </a:endParaRPr>
          </a:p>
        </p:txBody>
      </p:sp>
      <p:sp>
        <p:nvSpPr>
          <p:cNvPr id="15" name="Rectangle 5"/>
          <p:cNvSpPr>
            <a:spLocks noChangeArrowheads="1"/>
          </p:cNvSpPr>
          <p:nvPr/>
        </p:nvSpPr>
        <p:spPr bwMode="auto">
          <a:xfrm>
            <a:off x="533400" y="3886200"/>
            <a:ext cx="4495801" cy="762000"/>
          </a:xfrm>
          <a:prstGeom prst="rect">
            <a:avLst/>
          </a:prstGeom>
          <a:noFill/>
          <a:ln w="9525">
            <a:solidFill>
              <a:srgbClr val="00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buNone/>
              <a:defRPr/>
            </a:pPr>
            <a:r>
              <a:rPr lang="en-US" altLang="zh-CN" sz="2000" dirty="0">
                <a:solidFill>
                  <a:srgbClr val="006600"/>
                </a:solidFill>
                <a:latin typeface="Times New Roman" panose="02020603050405020304" pitchFamily="18" charset="0"/>
                <a:ea typeface="华文行楷" panose="02010800040101010101" pitchFamily="2" charset="-122"/>
                <a:cs typeface="Times New Roman" panose="02020603050405020304" pitchFamily="18" charset="0"/>
              </a:rPr>
              <a:t>Q6. Is it really that the magnitude of field can not be indicated with streamlines?</a:t>
            </a:r>
            <a:endParaRPr lang="en-US" altLang="zh-CN" sz="2000" dirty="0">
              <a:solidFill>
                <a:srgbClr val="006600"/>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16" name="Rectangle 5"/>
          <p:cNvSpPr>
            <a:spLocks noChangeArrowheads="1"/>
          </p:cNvSpPr>
          <p:nvPr/>
        </p:nvSpPr>
        <p:spPr bwMode="auto">
          <a:xfrm>
            <a:off x="533400" y="4876800"/>
            <a:ext cx="6934200" cy="762000"/>
          </a:xfrm>
          <a:prstGeom prst="rect">
            <a:avLst/>
          </a:prstGeom>
          <a:noFill/>
          <a:ln w="9525">
            <a:solidFill>
              <a:srgbClr val="C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indent="0" eaLnBrk="1" hangingPunct="1">
              <a:buNone/>
              <a:defRPr/>
            </a:pPr>
            <a:r>
              <a:rPr lang="en-US" altLang="zh-CN" sz="2000"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Q1. How can we define ‘flux’ when there is nothing projected outward from the point charge?  </a:t>
            </a:r>
            <a:endParaRPr lang="en-US" altLang="zh-CN" sz="2000"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3" name="矩形 2"/>
          <p:cNvSpPr/>
          <p:nvPr/>
        </p:nvSpPr>
        <p:spPr>
          <a:xfrm>
            <a:off x="571500" y="5791200"/>
            <a:ext cx="75057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There should be ‘something’ to indicate the ‘influence’ of this point charge on the space surrounding it. That is why we define ‘electric flux density’</a:t>
            </a:r>
            <a:endParaRPr lang="zh-CN" altLang="en-US"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9"/>
          <p:cNvGrpSpPr/>
          <p:nvPr/>
        </p:nvGrpSpPr>
        <p:grpSpPr bwMode="auto">
          <a:xfrm>
            <a:off x="4914900" y="3276600"/>
            <a:ext cx="4152900" cy="3172993"/>
            <a:chOff x="2136" y="1296"/>
            <a:chExt cx="3288" cy="2352"/>
          </a:xfrm>
        </p:grpSpPr>
        <p:pic>
          <p:nvPicPr>
            <p:cNvPr id="18" name="Picture 4"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753"/>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7"/>
            <p:cNvSpPr>
              <a:spLocks noChangeArrowheads="1"/>
            </p:cNvSpPr>
            <p:nvPr/>
          </p:nvSpPr>
          <p:spPr bwMode="auto">
            <a:xfrm>
              <a:off x="3011" y="1617"/>
              <a:ext cx="381" cy="2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Q</a:t>
              </a:r>
              <a:endParaRPr lang="en-US" altLang="zh-CN" sz="1800" dirty="0">
                <a:latin typeface="Times New Roman" panose="02020603050405020304" pitchFamily="18" charset="0"/>
                <a:cs typeface="Times New Roman" panose="02020603050405020304" pitchFamily="18" charset="0"/>
              </a:endParaRPr>
            </a:p>
          </p:txBody>
        </p:sp>
        <p:sp>
          <p:nvSpPr>
            <p:cNvPr id="20" name="Rectangle 8"/>
            <p:cNvSpPr>
              <a:spLocks noChangeArrowheads="1"/>
            </p:cNvSpPr>
            <p:nvPr/>
          </p:nvSpPr>
          <p:spPr bwMode="auto">
            <a:xfrm>
              <a:off x="3312" y="1296"/>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Faraday Experiment</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2050" name="Picture 2" descr="C:\Users\dpcuser\Desktop\About Teaching\工程电磁场\Instructor Notes\Lecture 3\463px-M_Faraday_Th_Phillips_oil_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600" y="1143000"/>
            <a:ext cx="1581603" cy="204617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043255" y="3200400"/>
            <a:ext cx="2948345" cy="338554"/>
          </a:xfrm>
          <a:prstGeom prst="rect">
            <a:avLst/>
          </a:prstGeom>
        </p:spPr>
        <p:txBody>
          <a:bodyPr wrap="square">
            <a:spAutoFit/>
          </a:bodyPr>
          <a:lstStyle/>
          <a:p>
            <a:r>
              <a:rPr lang="en-US" altLang="zh-CN" sz="1600" dirty="0">
                <a:solidFill>
                  <a:srgbClr val="000099"/>
                </a:solidFill>
                <a:latin typeface="Times New Roman" panose="02020603050405020304" pitchFamily="18" charset="0"/>
              </a:rPr>
              <a:t>Michael Faraday,  (1791 – 1867 )</a:t>
            </a:r>
            <a:endParaRPr lang="zh-CN" altLang="en-US" sz="1600" dirty="0">
              <a:solidFill>
                <a:srgbClr val="000099"/>
              </a:solidFill>
              <a:latin typeface="Times New Roman" panose="02020603050405020304" pitchFamily="18" charset="0"/>
            </a:endParaRPr>
          </a:p>
        </p:txBody>
      </p:sp>
      <p:sp>
        <p:nvSpPr>
          <p:cNvPr id="6" name="矩形 5"/>
          <p:cNvSpPr/>
          <p:nvPr/>
        </p:nvSpPr>
        <p:spPr>
          <a:xfrm>
            <a:off x="761999" y="1752600"/>
            <a:ext cx="5204827" cy="1323439"/>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He started with a pair of metal spheres of different sizes; the larger one consisted of two hemispheres that could be assembled around the smaller sphere.</a:t>
            </a:r>
            <a:endParaRPr lang="en-US" altLang="zh-CN" sz="2000" dirty="0">
              <a:latin typeface="Times New Roman" panose="02020603050405020304" pitchFamily="18" charset="0"/>
              <a:cs typeface="Times New Roman" panose="02020603050405020304" pitchFamily="18" charset="0"/>
            </a:endParaRPr>
          </a:p>
        </p:txBody>
      </p:sp>
      <p:sp>
        <p:nvSpPr>
          <p:cNvPr id="22" name="Rectangle 6"/>
          <p:cNvSpPr>
            <a:spLocks noChangeArrowheads="1"/>
          </p:cNvSpPr>
          <p:nvPr/>
        </p:nvSpPr>
        <p:spPr bwMode="auto">
          <a:xfrm>
            <a:off x="782293" y="3124200"/>
            <a:ext cx="4704107" cy="1631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sz="2000" dirty="0">
                <a:latin typeface="Times New Roman" panose="02020603050405020304" pitchFamily="18" charset="0"/>
                <a:cs typeface="Times New Roman" panose="02020603050405020304" pitchFamily="18" charset="0"/>
              </a:rPr>
              <a:t>The inner charge, </a:t>
            </a:r>
            <a:r>
              <a:rPr lang="en-US" altLang="zh-CN" sz="2000" i="1" dirty="0">
                <a:latin typeface="Times New Roman" panose="02020603050405020304" pitchFamily="18" charset="0"/>
                <a:cs typeface="Times New Roman" panose="02020603050405020304" pitchFamily="18" charset="0"/>
              </a:rPr>
              <a:t>Q, </a:t>
            </a:r>
            <a:r>
              <a:rPr lang="en-US" altLang="zh-CN" sz="2000" dirty="0">
                <a:solidFill>
                  <a:srgbClr val="C00000"/>
                </a:solidFill>
                <a:latin typeface="Times New Roman" panose="02020603050405020304" pitchFamily="18" charset="0"/>
                <a:cs typeface="Times New Roman" panose="02020603050405020304" pitchFamily="18" charset="0"/>
              </a:rPr>
              <a:t>induce</a:t>
            </a:r>
            <a:r>
              <a:rPr lang="en-US" altLang="zh-CN" sz="2000" dirty="0">
                <a:latin typeface="Times New Roman" panose="02020603050405020304" pitchFamily="18" charset="0"/>
                <a:cs typeface="Times New Roman" panose="02020603050405020304" pitchFamily="18" charset="0"/>
              </a:rPr>
              <a:t>s an equal and opposite charge, </a:t>
            </a:r>
            <a:r>
              <a:rPr lang="en-US" altLang="zh-CN" sz="2000" i="1" dirty="0">
                <a:latin typeface="Times New Roman" panose="02020603050405020304" pitchFamily="18" charset="0"/>
                <a:cs typeface="Times New Roman" panose="02020603050405020304" pitchFamily="18" charset="0"/>
              </a:rPr>
              <a:t>-Q,</a:t>
            </a:r>
            <a:r>
              <a:rPr lang="en-US" altLang="zh-CN" sz="2000" dirty="0">
                <a:latin typeface="Times New Roman" panose="02020603050405020304" pitchFamily="18" charset="0"/>
                <a:cs typeface="Times New Roman" panose="02020603050405020304" pitchFamily="18" charset="0"/>
              </a:rPr>
              <a:t> on the inside surface of the outer sphere, by attracting free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electrons in the outer material toward</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 positive charge.   </a:t>
            </a:r>
            <a:endParaRPr lang="en-US" altLang="zh-CN" sz="2000" dirty="0">
              <a:latin typeface="Times New Roman" panose="02020603050405020304" pitchFamily="18" charset="0"/>
              <a:cs typeface="Times New Roman" panose="02020603050405020304" pitchFamily="18" charset="0"/>
            </a:endParaRPr>
          </a:p>
        </p:txBody>
      </p:sp>
      <p:sp>
        <p:nvSpPr>
          <p:cNvPr id="23" name="矩形 22"/>
          <p:cNvSpPr/>
          <p:nvPr/>
        </p:nvSpPr>
        <p:spPr>
          <a:xfrm>
            <a:off x="457200" y="5943600"/>
            <a:ext cx="54102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Herein, ‘induce’ is the ‘influence’ of this point charge on the  outer metal sphere.</a:t>
            </a:r>
            <a:endParaRPr lang="zh-CN" altLang="en-US" dirty="0">
              <a:solidFill>
                <a:srgbClr val="C00000"/>
              </a:solidFill>
              <a:latin typeface="Times New Roman" panose="02020603050405020304" pitchFamily="18" charset="0"/>
              <a:cs typeface="Times New Roman" panose="02020603050405020304" pitchFamily="18" charset="0"/>
            </a:endParaRPr>
          </a:p>
        </p:txBody>
      </p:sp>
      <p:sp>
        <p:nvSpPr>
          <p:cNvPr id="7" name="矩形 6"/>
          <p:cNvSpPr/>
          <p:nvPr/>
        </p:nvSpPr>
        <p:spPr>
          <a:xfrm>
            <a:off x="762000" y="4800600"/>
            <a:ext cx="4572000" cy="1015663"/>
          </a:xfrm>
          <a:prstGeom prst="rect">
            <a:avLst/>
          </a:prstGeom>
        </p:spPr>
        <p:txBody>
          <a:bodyPr>
            <a:spAutoFit/>
          </a:bodyPr>
          <a:lstStyle/>
          <a:p>
            <a:r>
              <a:rPr lang="en-US" altLang="zh-CN" sz="2000" dirty="0">
                <a:latin typeface="Times New Roman" panose="02020603050405020304" pitchFamily="18" charset="0"/>
                <a:cs typeface="Times New Roman" panose="02020603050405020304" pitchFamily="18" charset="0"/>
              </a:rPr>
              <a:t>This means that before  the outer sphere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is grounded, charge +</a:t>
            </a:r>
            <a:r>
              <a:rPr lang="en-US" altLang="zh-CN" sz="2000" i="1" dirty="0">
                <a:latin typeface="Times New Roman" panose="02020603050405020304" pitchFamily="18" charset="0"/>
                <a:cs typeface="Times New Roman" panose="02020603050405020304" pitchFamily="18" charset="0"/>
              </a:rPr>
              <a:t>Q </a:t>
            </a:r>
            <a:r>
              <a:rPr lang="en-US" altLang="zh-CN" sz="2000" dirty="0">
                <a:latin typeface="Times New Roman" panose="02020603050405020304" pitchFamily="18" charset="0"/>
                <a:cs typeface="Times New Roman" panose="02020603050405020304" pitchFamily="18" charset="0"/>
              </a:rPr>
              <a:t>resides on the </a:t>
            </a:r>
            <a:endParaRPr lang="en-US" altLang="zh-CN" sz="2000" dirty="0">
              <a:latin typeface="Times New Roman" panose="02020603050405020304" pitchFamily="18" charset="0"/>
              <a:cs typeface="Times New Roman" panose="02020603050405020304" pitchFamily="18" charset="0"/>
            </a:endParaRPr>
          </a:p>
          <a:p>
            <a:r>
              <a:rPr lang="en-US" altLang="zh-CN" sz="2000" i="1" dirty="0">
                <a:latin typeface="Times New Roman" panose="02020603050405020304" pitchFamily="18" charset="0"/>
                <a:cs typeface="Times New Roman" panose="02020603050405020304" pitchFamily="18" charset="0"/>
              </a:rPr>
              <a:t>outside </a:t>
            </a:r>
            <a:r>
              <a:rPr lang="en-US" altLang="zh-CN" sz="2000" dirty="0">
                <a:latin typeface="Times New Roman" panose="02020603050405020304" pitchFamily="18" charset="0"/>
                <a:cs typeface="Times New Roman" panose="02020603050405020304" pitchFamily="18" charset="0"/>
              </a:rPr>
              <a:t>surface of the outer conductor.  </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6"/>
          <p:cNvGrpSpPr/>
          <p:nvPr/>
        </p:nvGrpSpPr>
        <p:grpSpPr bwMode="auto">
          <a:xfrm>
            <a:off x="4610100" y="3352800"/>
            <a:ext cx="4305300" cy="3162300"/>
            <a:chOff x="2119" y="1104"/>
            <a:chExt cx="3305" cy="2352"/>
          </a:xfrm>
        </p:grpSpPr>
        <p:pic>
          <p:nvPicPr>
            <p:cNvPr id="24" name="Picture 4"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561"/>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5"/>
            <p:cNvSpPr>
              <a:spLocks noChangeArrowheads="1"/>
            </p:cNvSpPr>
            <p:nvPr/>
          </p:nvSpPr>
          <p:spPr bwMode="auto">
            <a:xfrm>
              <a:off x="3093" y="1290"/>
              <a:ext cx="569" cy="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dirty="0">
                  <a:solidFill>
                    <a:srgbClr val="FF069E"/>
                  </a:solidFill>
                  <a:latin typeface="Times New Roman" panose="02020603050405020304" pitchFamily="18" charset="0"/>
                  <a:cs typeface="Times New Roman" panose="02020603050405020304" pitchFamily="18" charset="0"/>
                </a:rPr>
                <a:t>Q </a:t>
              </a:r>
              <a:r>
                <a:rPr lang="en-US" altLang="zh-CN" sz="1800" dirty="0">
                  <a:solidFill>
                    <a:srgbClr val="FF069E"/>
                  </a:solidFill>
                  <a:latin typeface="Times New Roman" panose="02020603050405020304" pitchFamily="18" charset="0"/>
                  <a:cs typeface="Times New Roman" panose="02020603050405020304" pitchFamily="18" charset="0"/>
                </a:rPr>
                <a:t>= 0</a:t>
              </a:r>
              <a:endParaRPr lang="en-US" altLang="zh-CN" sz="1800" dirty="0">
                <a:solidFill>
                  <a:srgbClr val="FF069E"/>
                </a:solidFill>
                <a:latin typeface="Times New Roman" panose="02020603050405020304" pitchFamily="18" charset="0"/>
                <a:cs typeface="Times New Roman" panose="02020603050405020304" pitchFamily="18" charset="0"/>
              </a:endParaRPr>
            </a:p>
          </p:txBody>
        </p:sp>
        <p:sp>
          <p:nvSpPr>
            <p:cNvPr id="26" name="Rectangle 6"/>
            <p:cNvSpPr>
              <a:spLocks noChangeArrowheads="1"/>
            </p:cNvSpPr>
            <p:nvPr/>
          </p:nvSpPr>
          <p:spPr bwMode="auto">
            <a:xfrm>
              <a:off x="3312" y="1104"/>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nvGrpSpPr>
            <p:cNvPr id="27" name="Group 12"/>
            <p:cNvGrpSpPr/>
            <p:nvPr/>
          </p:nvGrpSpPr>
          <p:grpSpPr bwMode="auto">
            <a:xfrm>
              <a:off x="2540" y="2512"/>
              <a:ext cx="192" cy="160"/>
              <a:chOff x="956" y="2544"/>
              <a:chExt cx="192" cy="160"/>
            </a:xfrm>
          </p:grpSpPr>
          <p:sp>
            <p:nvSpPr>
              <p:cNvPr id="30" name="Line 7"/>
              <p:cNvSpPr>
                <a:spLocks noChangeShapeType="1"/>
              </p:cNvSpPr>
              <p:nvPr/>
            </p:nvSpPr>
            <p:spPr bwMode="auto">
              <a:xfrm>
                <a:off x="1056" y="254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8"/>
              <p:cNvSpPr>
                <a:spLocks noChangeShapeType="1"/>
              </p:cNvSpPr>
              <p:nvPr/>
            </p:nvSpPr>
            <p:spPr bwMode="auto">
              <a:xfrm>
                <a:off x="956" y="264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9"/>
              <p:cNvSpPr>
                <a:spLocks noChangeShapeType="1"/>
              </p:cNvSpPr>
              <p:nvPr/>
            </p:nvSpPr>
            <p:spPr bwMode="auto">
              <a:xfrm>
                <a:off x="1008" y="2672"/>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1"/>
              <p:cNvSpPr>
                <a:spLocks noChangeShapeType="1"/>
              </p:cNvSpPr>
              <p:nvPr/>
            </p:nvSpPr>
            <p:spPr bwMode="auto">
              <a:xfrm>
                <a:off x="1032" y="2704"/>
                <a:ext cx="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Line 13"/>
            <p:cNvSpPr>
              <a:spLocks noChangeShapeType="1"/>
            </p:cNvSpPr>
            <p:nvPr/>
          </p:nvSpPr>
          <p:spPr bwMode="auto">
            <a:xfrm flipH="1">
              <a:off x="2640" y="251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Rectangle 14"/>
            <p:cNvSpPr>
              <a:spLocks noChangeArrowheads="1"/>
            </p:cNvSpPr>
            <p:nvPr/>
          </p:nvSpPr>
          <p:spPr bwMode="auto">
            <a:xfrm>
              <a:off x="2119" y="2688"/>
              <a:ext cx="627" cy="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400" dirty="0">
                  <a:latin typeface="Times New Roman" panose="02020603050405020304" pitchFamily="18" charset="0"/>
                  <a:cs typeface="Times New Roman" panose="02020603050405020304" pitchFamily="18" charset="0"/>
                </a:rPr>
                <a:t>Ground </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attached</a:t>
              </a:r>
              <a:endParaRPr lang="en-US" altLang="zh-CN" sz="1400" dirty="0">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4</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Faraday Experiment</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2050" name="Picture 2" descr="C:\Users\dpcuser\Desktop\About Teaching\工程电磁场\Instructor Notes\Lecture 3\463px-M_Faraday_Th_Phillips_oil_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600" y="1143000"/>
            <a:ext cx="1581603" cy="204617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043255" y="3200400"/>
            <a:ext cx="2948345" cy="338554"/>
          </a:xfrm>
          <a:prstGeom prst="rect">
            <a:avLst/>
          </a:prstGeom>
        </p:spPr>
        <p:txBody>
          <a:bodyPr wrap="square">
            <a:spAutoFit/>
          </a:bodyPr>
          <a:lstStyle/>
          <a:p>
            <a:r>
              <a:rPr lang="en-US" altLang="zh-CN" sz="1600" dirty="0">
                <a:solidFill>
                  <a:srgbClr val="000099"/>
                </a:solidFill>
                <a:latin typeface="Times New Roman" panose="02020603050405020304" pitchFamily="18" charset="0"/>
              </a:rPr>
              <a:t>Michael Faraday,  (1791 – 1867 )</a:t>
            </a:r>
            <a:endParaRPr lang="zh-CN" altLang="en-US" sz="1600" dirty="0">
              <a:solidFill>
                <a:srgbClr val="000099"/>
              </a:solidFill>
              <a:latin typeface="Times New Roman" panose="02020603050405020304" pitchFamily="18" charset="0"/>
            </a:endParaRPr>
          </a:p>
        </p:txBody>
      </p:sp>
      <p:sp>
        <p:nvSpPr>
          <p:cNvPr id="34" name="Rectangle 15"/>
          <p:cNvSpPr>
            <a:spLocks noChangeArrowheads="1"/>
          </p:cNvSpPr>
          <p:nvPr/>
        </p:nvSpPr>
        <p:spPr bwMode="auto">
          <a:xfrm>
            <a:off x="724927" y="1718608"/>
            <a:ext cx="4756430" cy="1938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Attaching the ground connects the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outer surface to an unlimited supply</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of free electrons, which then </a:t>
            </a:r>
            <a:r>
              <a:rPr lang="en-US" altLang="zh-CN" sz="2000" dirty="0">
                <a:solidFill>
                  <a:srgbClr val="C00000"/>
                </a:solidFill>
                <a:latin typeface="Times New Roman" panose="02020603050405020304" pitchFamily="18" charset="0"/>
                <a:cs typeface="Times New Roman" panose="02020603050405020304" pitchFamily="18" charset="0"/>
              </a:rPr>
              <a:t>neutralize</a:t>
            </a:r>
            <a:r>
              <a:rPr lang="zh-CN" altLang="en-US"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中和</a:t>
            </a:r>
            <a:r>
              <a:rPr lang="en-US" altLang="zh-CN"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 positive charge layer.  The net charge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on the outer sphere is then the charge on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 inner layer, or -</a:t>
            </a:r>
            <a:r>
              <a:rPr lang="en-US" altLang="zh-CN" sz="2000" i="1" dirty="0">
                <a:latin typeface="Times New Roman" panose="02020603050405020304" pitchFamily="18" charset="0"/>
                <a:cs typeface="Times New Roman" panose="02020603050405020304" pitchFamily="18" charset="0"/>
              </a:rPr>
              <a:t>Q.</a:t>
            </a:r>
            <a:endParaRPr lang="en-US" altLang="zh-CN" sz="2000" dirty="0">
              <a:latin typeface="Times New Roman" panose="02020603050405020304" pitchFamily="18" charset="0"/>
              <a:cs typeface="Times New Roman" panose="02020603050405020304" pitchFamily="18" charset="0"/>
            </a:endParaRPr>
          </a:p>
        </p:txBody>
      </p:sp>
      <p:sp>
        <p:nvSpPr>
          <p:cNvPr id="3" name="矩形 2"/>
          <p:cNvSpPr/>
          <p:nvPr/>
        </p:nvSpPr>
        <p:spPr>
          <a:xfrm>
            <a:off x="723900" y="3810000"/>
            <a:ext cx="3771900" cy="2554545"/>
          </a:xfrm>
          <a:prstGeom prst="rect">
            <a:avLst/>
          </a:prstGeom>
        </p:spPr>
        <p:txBody>
          <a:bodyPr wrap="squar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Faraday found that the total charge on the outer sphere was equal in </a:t>
            </a:r>
            <a:r>
              <a:rPr lang="en-US" altLang="zh-CN" sz="2000" i="1" dirty="0">
                <a:solidFill>
                  <a:srgbClr val="C00000"/>
                </a:solidFill>
                <a:latin typeface="Times New Roman" panose="02020603050405020304" pitchFamily="18" charset="0"/>
                <a:cs typeface="Times New Roman" panose="02020603050405020304" pitchFamily="18" charset="0"/>
              </a:rPr>
              <a:t>magnitude </a:t>
            </a:r>
            <a:r>
              <a:rPr lang="en-US" altLang="zh-CN" sz="2000" dirty="0">
                <a:solidFill>
                  <a:srgbClr val="C00000"/>
                </a:solidFill>
                <a:latin typeface="Times New Roman" panose="02020603050405020304" pitchFamily="18" charset="0"/>
                <a:cs typeface="Times New Roman" panose="02020603050405020304" pitchFamily="18" charset="0"/>
              </a:rPr>
              <a:t>to the original charge placed on the inner sphere and that this was true regardless of the dielectric material separating the two spheres and the radius of the outer metal sphere.</a:t>
            </a:r>
            <a:endParaRPr lang="zh-CN" altLang="en-US" sz="20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6"/>
          <p:cNvGrpSpPr/>
          <p:nvPr/>
        </p:nvGrpSpPr>
        <p:grpSpPr bwMode="auto">
          <a:xfrm>
            <a:off x="4610100" y="3352800"/>
            <a:ext cx="4305300" cy="3162300"/>
            <a:chOff x="2119" y="1104"/>
            <a:chExt cx="3305" cy="2352"/>
          </a:xfrm>
        </p:grpSpPr>
        <p:pic>
          <p:nvPicPr>
            <p:cNvPr id="24" name="Picture 4"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561"/>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5"/>
            <p:cNvSpPr>
              <a:spLocks noChangeArrowheads="1"/>
            </p:cNvSpPr>
            <p:nvPr/>
          </p:nvSpPr>
          <p:spPr bwMode="auto">
            <a:xfrm>
              <a:off x="3093" y="1290"/>
              <a:ext cx="569" cy="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dirty="0">
                  <a:solidFill>
                    <a:srgbClr val="FF069E"/>
                  </a:solidFill>
                  <a:latin typeface="Times New Roman" panose="02020603050405020304" pitchFamily="18" charset="0"/>
                  <a:cs typeface="Times New Roman" panose="02020603050405020304" pitchFamily="18" charset="0"/>
                </a:rPr>
                <a:t>Q </a:t>
              </a:r>
              <a:r>
                <a:rPr lang="en-US" altLang="zh-CN" sz="1800" dirty="0">
                  <a:solidFill>
                    <a:srgbClr val="FF069E"/>
                  </a:solidFill>
                  <a:latin typeface="Times New Roman" panose="02020603050405020304" pitchFamily="18" charset="0"/>
                  <a:cs typeface="Times New Roman" panose="02020603050405020304" pitchFamily="18" charset="0"/>
                </a:rPr>
                <a:t>= 0</a:t>
              </a:r>
              <a:endParaRPr lang="en-US" altLang="zh-CN" sz="1800" dirty="0">
                <a:solidFill>
                  <a:srgbClr val="FF069E"/>
                </a:solidFill>
                <a:latin typeface="Times New Roman" panose="02020603050405020304" pitchFamily="18" charset="0"/>
                <a:cs typeface="Times New Roman" panose="02020603050405020304" pitchFamily="18" charset="0"/>
              </a:endParaRPr>
            </a:p>
          </p:txBody>
        </p:sp>
        <p:sp>
          <p:nvSpPr>
            <p:cNvPr id="26" name="Rectangle 6"/>
            <p:cNvSpPr>
              <a:spLocks noChangeArrowheads="1"/>
            </p:cNvSpPr>
            <p:nvPr/>
          </p:nvSpPr>
          <p:spPr bwMode="auto">
            <a:xfrm>
              <a:off x="3312" y="1104"/>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nvGrpSpPr>
            <p:cNvPr id="27" name="Group 12"/>
            <p:cNvGrpSpPr/>
            <p:nvPr/>
          </p:nvGrpSpPr>
          <p:grpSpPr bwMode="auto">
            <a:xfrm>
              <a:off x="2540" y="2512"/>
              <a:ext cx="192" cy="160"/>
              <a:chOff x="956" y="2544"/>
              <a:chExt cx="192" cy="160"/>
            </a:xfrm>
          </p:grpSpPr>
          <p:sp>
            <p:nvSpPr>
              <p:cNvPr id="30" name="Line 7"/>
              <p:cNvSpPr>
                <a:spLocks noChangeShapeType="1"/>
              </p:cNvSpPr>
              <p:nvPr/>
            </p:nvSpPr>
            <p:spPr bwMode="auto">
              <a:xfrm>
                <a:off x="1056" y="254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8"/>
              <p:cNvSpPr>
                <a:spLocks noChangeShapeType="1"/>
              </p:cNvSpPr>
              <p:nvPr/>
            </p:nvSpPr>
            <p:spPr bwMode="auto">
              <a:xfrm>
                <a:off x="956" y="264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9"/>
              <p:cNvSpPr>
                <a:spLocks noChangeShapeType="1"/>
              </p:cNvSpPr>
              <p:nvPr/>
            </p:nvSpPr>
            <p:spPr bwMode="auto">
              <a:xfrm>
                <a:off x="1008" y="2672"/>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1"/>
              <p:cNvSpPr>
                <a:spLocks noChangeShapeType="1"/>
              </p:cNvSpPr>
              <p:nvPr/>
            </p:nvSpPr>
            <p:spPr bwMode="auto">
              <a:xfrm>
                <a:off x="1032" y="2704"/>
                <a:ext cx="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Line 13"/>
            <p:cNvSpPr>
              <a:spLocks noChangeShapeType="1"/>
            </p:cNvSpPr>
            <p:nvPr/>
          </p:nvSpPr>
          <p:spPr bwMode="auto">
            <a:xfrm flipH="1">
              <a:off x="2640" y="251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Rectangle 14"/>
            <p:cNvSpPr>
              <a:spLocks noChangeArrowheads="1"/>
            </p:cNvSpPr>
            <p:nvPr/>
          </p:nvSpPr>
          <p:spPr bwMode="auto">
            <a:xfrm>
              <a:off x="2119" y="2688"/>
              <a:ext cx="627" cy="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400" dirty="0">
                  <a:latin typeface="Times New Roman" panose="02020603050405020304" pitchFamily="18" charset="0"/>
                  <a:cs typeface="Times New Roman" panose="02020603050405020304" pitchFamily="18" charset="0"/>
                </a:rPr>
                <a:t>Ground </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attached</a:t>
              </a:r>
              <a:endParaRPr lang="en-US" altLang="zh-CN" sz="1400" dirty="0">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5</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Faraday Experiment- Electric Flux</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2050" name="Picture 2" descr="C:\Users\dpcuser\Desktop\About Teaching\工程电磁场\Instructor Notes\Lecture 3\463px-M_Faraday_Th_Phillips_oil_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5600" y="1143000"/>
            <a:ext cx="1581603" cy="204617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043255" y="3200400"/>
            <a:ext cx="2948345" cy="338554"/>
          </a:xfrm>
          <a:prstGeom prst="rect">
            <a:avLst/>
          </a:prstGeom>
        </p:spPr>
        <p:txBody>
          <a:bodyPr wrap="square">
            <a:spAutoFit/>
          </a:bodyPr>
          <a:lstStyle/>
          <a:p>
            <a:r>
              <a:rPr lang="en-US" altLang="zh-CN" sz="1600" dirty="0">
                <a:solidFill>
                  <a:srgbClr val="000099"/>
                </a:solidFill>
                <a:latin typeface="Times New Roman" panose="02020603050405020304" pitchFamily="18" charset="0"/>
              </a:rPr>
              <a:t>Michael Faraday,  (1791 – 1867 )</a:t>
            </a:r>
            <a:endParaRPr lang="zh-CN" altLang="en-US" sz="1600" dirty="0">
              <a:solidFill>
                <a:srgbClr val="000099"/>
              </a:solidFill>
              <a:latin typeface="Times New Roman" panose="02020603050405020304" pitchFamily="18" charset="0"/>
            </a:endParaRPr>
          </a:p>
        </p:txBody>
      </p:sp>
      <p:sp>
        <p:nvSpPr>
          <p:cNvPr id="23" name="Rectangle 15"/>
          <p:cNvSpPr>
            <a:spLocks noChangeArrowheads="1"/>
          </p:cNvSpPr>
          <p:nvPr/>
        </p:nvSpPr>
        <p:spPr bwMode="auto">
          <a:xfrm>
            <a:off x="591641" y="1658089"/>
            <a:ext cx="4273315"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Faraday concluded that there occurred</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a charge “</a:t>
            </a:r>
            <a:r>
              <a:rPr lang="en-US" altLang="zh-CN" sz="2000" dirty="0">
                <a:solidFill>
                  <a:srgbClr val="C00000"/>
                </a:solidFill>
                <a:latin typeface="Times New Roman" panose="02020603050405020304" pitchFamily="18" charset="0"/>
                <a:cs typeface="Times New Roman" panose="02020603050405020304" pitchFamily="18" charset="0"/>
              </a:rPr>
              <a:t>displacement</a:t>
            </a:r>
            <a:r>
              <a:rPr lang="en-US" altLang="zh-CN" sz="2000" dirty="0">
                <a:latin typeface="Times New Roman" panose="02020603050405020304" pitchFamily="18" charset="0"/>
                <a:cs typeface="Times New Roman" panose="02020603050405020304" pitchFamily="18" charset="0"/>
              </a:rPr>
              <a:t>” from the inner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sphere to the outer sphere.</a:t>
            </a:r>
            <a:endParaRPr lang="en-US" altLang="zh-CN" sz="2000" dirty="0">
              <a:latin typeface="Times New Roman" panose="02020603050405020304" pitchFamily="18" charset="0"/>
              <a:cs typeface="Times New Roman" panose="02020603050405020304" pitchFamily="18" charset="0"/>
            </a:endParaRPr>
          </a:p>
        </p:txBody>
      </p:sp>
      <p:sp>
        <p:nvSpPr>
          <p:cNvPr id="35" name="Rectangle 16"/>
          <p:cNvSpPr>
            <a:spLocks noChangeArrowheads="1"/>
          </p:cNvSpPr>
          <p:nvPr/>
        </p:nvSpPr>
        <p:spPr bwMode="auto">
          <a:xfrm>
            <a:off x="568637" y="2774090"/>
            <a:ext cx="5298763"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Displacement involves a </a:t>
            </a:r>
            <a:r>
              <a:rPr lang="en-US" altLang="zh-CN" sz="2000" i="1" dirty="0">
                <a:solidFill>
                  <a:srgbClr val="C00000"/>
                </a:solidFill>
                <a:latin typeface="Times New Roman" panose="02020603050405020304" pitchFamily="18" charset="0"/>
                <a:cs typeface="Times New Roman" panose="02020603050405020304" pitchFamily="18" charset="0"/>
              </a:rPr>
              <a:t>flow</a:t>
            </a:r>
            <a:r>
              <a:rPr lang="en-US" altLang="zh-CN" sz="2000" dirty="0">
                <a:solidFill>
                  <a:srgbClr val="C00000"/>
                </a:solidFill>
                <a:latin typeface="Times New Roman" panose="02020603050405020304" pitchFamily="18" charset="0"/>
                <a:cs typeface="Times New Roman" panose="02020603050405020304" pitchFamily="18" charset="0"/>
              </a:rPr>
              <a:t> or </a:t>
            </a:r>
            <a:r>
              <a:rPr lang="en-US" altLang="zh-CN" sz="2000" i="1" dirty="0">
                <a:solidFill>
                  <a:srgbClr val="C00000"/>
                </a:solidFill>
                <a:latin typeface="Times New Roman" panose="02020603050405020304" pitchFamily="18" charset="0"/>
                <a:cs typeface="Times New Roman" panose="02020603050405020304" pitchFamily="18" charset="0"/>
              </a:rPr>
              <a:t>flux, </a:t>
            </a:r>
            <a:r>
              <a:rPr lang="en-US" altLang="zh-CN" sz="2000"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sz="2000" i="1"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sz="2000" i="1" dirty="0">
                <a:solidFill>
                  <a:srgbClr val="C0000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 existing</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within the dielectric, and whose magnitude</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is equivalent to the amount of “displaced” charge.</a:t>
            </a:r>
            <a:endParaRPr lang="en-US" altLang="zh-CN" sz="2000" dirty="0">
              <a:solidFill>
                <a:srgbClr val="C00000"/>
              </a:solidFill>
              <a:latin typeface="Times New Roman" panose="02020603050405020304" pitchFamily="18" charset="0"/>
              <a:cs typeface="Times New Roman" panose="02020603050405020304" pitchFamily="18" charset="0"/>
            </a:endParaRPr>
          </a:p>
        </p:txBody>
      </p:sp>
      <p:sp>
        <p:nvSpPr>
          <p:cNvPr id="36" name="Rectangle 17"/>
          <p:cNvSpPr>
            <a:spLocks noChangeArrowheads="1"/>
          </p:cNvSpPr>
          <p:nvPr/>
        </p:nvSpPr>
        <p:spPr bwMode="auto">
          <a:xfrm>
            <a:off x="605232" y="3886200"/>
            <a:ext cx="1604568"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Specifically:  </a:t>
            </a:r>
            <a:endParaRPr lang="en-US" altLang="zh-CN" sz="2000" dirty="0">
              <a:latin typeface="Times New Roman" panose="02020603050405020304" pitchFamily="18" charset="0"/>
              <a:cs typeface="Times New Roman" panose="02020603050405020304" pitchFamily="18" charset="0"/>
            </a:endParaRPr>
          </a:p>
        </p:txBody>
      </p:sp>
      <p:pic>
        <p:nvPicPr>
          <p:cNvPr id="37"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298" y="4722812"/>
            <a:ext cx="1593502"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6"/>
          <p:cNvGrpSpPr/>
          <p:nvPr/>
        </p:nvGrpSpPr>
        <p:grpSpPr bwMode="auto">
          <a:xfrm>
            <a:off x="4610100" y="3352800"/>
            <a:ext cx="4305300" cy="3162300"/>
            <a:chOff x="2119" y="1104"/>
            <a:chExt cx="3305" cy="2352"/>
          </a:xfrm>
        </p:grpSpPr>
        <p:pic>
          <p:nvPicPr>
            <p:cNvPr id="24" name="Picture 4"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561"/>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5"/>
            <p:cNvSpPr>
              <a:spLocks noChangeArrowheads="1"/>
            </p:cNvSpPr>
            <p:nvPr/>
          </p:nvSpPr>
          <p:spPr bwMode="auto">
            <a:xfrm>
              <a:off x="3093" y="1290"/>
              <a:ext cx="569" cy="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dirty="0">
                  <a:solidFill>
                    <a:srgbClr val="FF069E"/>
                  </a:solidFill>
                  <a:latin typeface="Times New Roman" panose="02020603050405020304" pitchFamily="18" charset="0"/>
                  <a:cs typeface="Times New Roman" panose="02020603050405020304" pitchFamily="18" charset="0"/>
                </a:rPr>
                <a:t>Q </a:t>
              </a:r>
              <a:r>
                <a:rPr lang="en-US" altLang="zh-CN" sz="1800" dirty="0">
                  <a:solidFill>
                    <a:srgbClr val="FF069E"/>
                  </a:solidFill>
                  <a:latin typeface="Times New Roman" panose="02020603050405020304" pitchFamily="18" charset="0"/>
                  <a:cs typeface="Times New Roman" panose="02020603050405020304" pitchFamily="18" charset="0"/>
                </a:rPr>
                <a:t>= 0</a:t>
              </a:r>
              <a:endParaRPr lang="en-US" altLang="zh-CN" sz="1800" dirty="0">
                <a:solidFill>
                  <a:srgbClr val="FF069E"/>
                </a:solidFill>
                <a:latin typeface="Times New Roman" panose="02020603050405020304" pitchFamily="18" charset="0"/>
                <a:cs typeface="Times New Roman" panose="02020603050405020304" pitchFamily="18" charset="0"/>
              </a:endParaRPr>
            </a:p>
          </p:txBody>
        </p:sp>
        <p:sp>
          <p:nvSpPr>
            <p:cNvPr id="26" name="Rectangle 6"/>
            <p:cNvSpPr>
              <a:spLocks noChangeArrowheads="1"/>
            </p:cNvSpPr>
            <p:nvPr/>
          </p:nvSpPr>
          <p:spPr bwMode="auto">
            <a:xfrm>
              <a:off x="3312" y="1104"/>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nvGrpSpPr>
            <p:cNvPr id="27" name="Group 12"/>
            <p:cNvGrpSpPr/>
            <p:nvPr/>
          </p:nvGrpSpPr>
          <p:grpSpPr bwMode="auto">
            <a:xfrm>
              <a:off x="2540" y="2512"/>
              <a:ext cx="192" cy="160"/>
              <a:chOff x="956" y="2544"/>
              <a:chExt cx="192" cy="160"/>
            </a:xfrm>
          </p:grpSpPr>
          <p:sp>
            <p:nvSpPr>
              <p:cNvPr id="30" name="Line 7"/>
              <p:cNvSpPr>
                <a:spLocks noChangeShapeType="1"/>
              </p:cNvSpPr>
              <p:nvPr/>
            </p:nvSpPr>
            <p:spPr bwMode="auto">
              <a:xfrm>
                <a:off x="1056" y="254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8"/>
              <p:cNvSpPr>
                <a:spLocks noChangeShapeType="1"/>
              </p:cNvSpPr>
              <p:nvPr/>
            </p:nvSpPr>
            <p:spPr bwMode="auto">
              <a:xfrm>
                <a:off x="956" y="264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9"/>
              <p:cNvSpPr>
                <a:spLocks noChangeShapeType="1"/>
              </p:cNvSpPr>
              <p:nvPr/>
            </p:nvSpPr>
            <p:spPr bwMode="auto">
              <a:xfrm>
                <a:off x="1008" y="2672"/>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1"/>
              <p:cNvSpPr>
                <a:spLocks noChangeShapeType="1"/>
              </p:cNvSpPr>
              <p:nvPr/>
            </p:nvSpPr>
            <p:spPr bwMode="auto">
              <a:xfrm>
                <a:off x="1032" y="2704"/>
                <a:ext cx="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Line 13"/>
            <p:cNvSpPr>
              <a:spLocks noChangeShapeType="1"/>
            </p:cNvSpPr>
            <p:nvPr/>
          </p:nvSpPr>
          <p:spPr bwMode="auto">
            <a:xfrm flipH="1">
              <a:off x="2640" y="251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Rectangle 14"/>
            <p:cNvSpPr>
              <a:spLocks noChangeArrowheads="1"/>
            </p:cNvSpPr>
            <p:nvPr/>
          </p:nvSpPr>
          <p:spPr bwMode="auto">
            <a:xfrm>
              <a:off x="2119" y="2688"/>
              <a:ext cx="627" cy="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400" dirty="0">
                  <a:latin typeface="Times New Roman" panose="02020603050405020304" pitchFamily="18" charset="0"/>
                  <a:cs typeface="Times New Roman" panose="02020603050405020304" pitchFamily="18" charset="0"/>
                </a:rPr>
                <a:t>Ground </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attached</a:t>
              </a:r>
              <a:endParaRPr lang="en-US" altLang="zh-CN" sz="1400" dirty="0">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6</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Faraday Experiment-Electric Flux Density</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2050" name="Picture 2" descr="C:\Users\dpcuser\Desktop\About Teaching\工程电磁场\Instructor Notes\Lecture 3\463px-M_Faraday_Th_Phillips_oil_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2797" y="1143000"/>
            <a:ext cx="1581603" cy="204617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195655" y="3200400"/>
            <a:ext cx="2948345" cy="338554"/>
          </a:xfrm>
          <a:prstGeom prst="rect">
            <a:avLst/>
          </a:prstGeom>
        </p:spPr>
        <p:txBody>
          <a:bodyPr wrap="square">
            <a:spAutoFit/>
          </a:bodyPr>
          <a:lstStyle/>
          <a:p>
            <a:r>
              <a:rPr lang="en-US" altLang="zh-CN" sz="1600" dirty="0">
                <a:solidFill>
                  <a:srgbClr val="000099"/>
                </a:solidFill>
                <a:latin typeface="Times New Roman" panose="02020603050405020304" pitchFamily="18" charset="0"/>
              </a:rPr>
              <a:t>Michael Faraday,  (1791 – 1867 )</a:t>
            </a:r>
            <a:endParaRPr lang="zh-CN" altLang="en-US" sz="1600" dirty="0">
              <a:solidFill>
                <a:srgbClr val="000099"/>
              </a:solidFill>
              <a:latin typeface="Times New Roman" panose="02020603050405020304" pitchFamily="18" charset="0"/>
            </a:endParaRPr>
          </a:p>
        </p:txBody>
      </p:sp>
      <p:sp>
        <p:nvSpPr>
          <p:cNvPr id="35" name="Rectangle 16"/>
          <p:cNvSpPr>
            <a:spLocks noChangeArrowheads="1"/>
          </p:cNvSpPr>
          <p:nvPr/>
        </p:nvSpPr>
        <p:spPr bwMode="auto">
          <a:xfrm>
            <a:off x="568637" y="1676400"/>
            <a:ext cx="5298763"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Displacement involves a </a:t>
            </a:r>
            <a:r>
              <a:rPr lang="en-US" altLang="zh-CN" sz="2000" i="1" dirty="0">
                <a:solidFill>
                  <a:srgbClr val="C00000"/>
                </a:solidFill>
                <a:latin typeface="Times New Roman" panose="02020603050405020304" pitchFamily="18" charset="0"/>
                <a:cs typeface="Times New Roman" panose="02020603050405020304" pitchFamily="18" charset="0"/>
              </a:rPr>
              <a:t>flow</a:t>
            </a:r>
            <a:r>
              <a:rPr lang="en-US" altLang="zh-CN" sz="2000" dirty="0">
                <a:solidFill>
                  <a:srgbClr val="C00000"/>
                </a:solidFill>
                <a:latin typeface="Times New Roman" panose="02020603050405020304" pitchFamily="18" charset="0"/>
                <a:cs typeface="Times New Roman" panose="02020603050405020304" pitchFamily="18" charset="0"/>
              </a:rPr>
              <a:t> or </a:t>
            </a:r>
            <a:r>
              <a:rPr lang="en-US" altLang="zh-CN" sz="2000" i="1" dirty="0">
                <a:solidFill>
                  <a:srgbClr val="C00000"/>
                </a:solidFill>
                <a:latin typeface="Times New Roman" panose="02020603050405020304" pitchFamily="18" charset="0"/>
                <a:cs typeface="Times New Roman" panose="02020603050405020304" pitchFamily="18" charset="0"/>
              </a:rPr>
              <a:t>flux, </a:t>
            </a:r>
            <a:r>
              <a:rPr lang="en-US" altLang="zh-CN" sz="2000"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sz="2000" i="1"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sz="2000" i="1" dirty="0">
                <a:solidFill>
                  <a:srgbClr val="C0000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 existing</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within the dielectric, and whose magnitude</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is equivalent to the amount of “displaced” charge.</a:t>
            </a:r>
            <a:endParaRPr lang="en-US" altLang="zh-CN" sz="2000" dirty="0">
              <a:solidFill>
                <a:srgbClr val="C00000"/>
              </a:solidFill>
              <a:latin typeface="Times New Roman" panose="02020603050405020304" pitchFamily="18" charset="0"/>
              <a:cs typeface="Times New Roman" panose="02020603050405020304" pitchFamily="18" charset="0"/>
            </a:endParaRPr>
          </a:p>
        </p:txBody>
      </p:sp>
      <p:sp>
        <p:nvSpPr>
          <p:cNvPr id="36" name="Rectangle 17"/>
          <p:cNvSpPr>
            <a:spLocks noChangeArrowheads="1"/>
          </p:cNvSpPr>
          <p:nvPr/>
        </p:nvSpPr>
        <p:spPr bwMode="auto">
          <a:xfrm>
            <a:off x="605232" y="2743200"/>
            <a:ext cx="1604568"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Specifically:  </a:t>
            </a:r>
            <a:endParaRPr lang="en-US" altLang="zh-CN" sz="2000" dirty="0">
              <a:latin typeface="Times New Roman" panose="02020603050405020304" pitchFamily="18" charset="0"/>
              <a:cs typeface="Times New Roman" panose="02020603050405020304" pitchFamily="18" charset="0"/>
            </a:endParaRPr>
          </a:p>
        </p:txBody>
      </p:sp>
      <p:pic>
        <p:nvPicPr>
          <p:cNvPr id="37"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298" y="3200400"/>
            <a:ext cx="1593502"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8008" y="5313994"/>
            <a:ext cx="32448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 name="Rectangle 19"/>
          <p:cNvSpPr>
            <a:spLocks noChangeArrowheads="1"/>
          </p:cNvSpPr>
          <p:nvPr/>
        </p:nvSpPr>
        <p:spPr bwMode="auto">
          <a:xfrm>
            <a:off x="350808" y="4038600"/>
            <a:ext cx="4281437" cy="1015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sz="2000" dirty="0">
                <a:latin typeface="Times New Roman" panose="02020603050405020304" pitchFamily="18" charset="0"/>
                <a:cs typeface="Times New Roman" panose="02020603050405020304" pitchFamily="18" charset="0"/>
              </a:rPr>
              <a:t>The</a:t>
            </a:r>
            <a:r>
              <a:rPr lang="en-US" altLang="zh-CN" sz="2000" dirty="0">
                <a:highlight>
                  <a:srgbClr val="FFFF00"/>
                </a:highlight>
                <a:latin typeface="Times New Roman" panose="02020603050405020304" pitchFamily="18" charset="0"/>
                <a:cs typeface="Times New Roman" panose="02020603050405020304" pitchFamily="18" charset="0"/>
              </a:rPr>
              <a:t> </a:t>
            </a:r>
            <a:r>
              <a:rPr lang="en-US" altLang="zh-CN" sz="2000" dirty="0">
                <a:solidFill>
                  <a:srgbClr val="C00000"/>
                </a:solidFill>
                <a:highlight>
                  <a:srgbClr val="FFFF00"/>
                </a:highlight>
                <a:latin typeface="Times New Roman" panose="02020603050405020304" pitchFamily="18" charset="0"/>
                <a:cs typeface="Times New Roman" panose="02020603050405020304" pitchFamily="18" charset="0"/>
              </a:rPr>
              <a:t>density of flux</a:t>
            </a:r>
            <a:r>
              <a:rPr lang="en-US" altLang="zh-CN" sz="2000" dirty="0">
                <a:solidFill>
                  <a:srgbClr val="C00000"/>
                </a:solidFill>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the inner sphere surface is equivalent to the density of charge there (in </a:t>
            </a:r>
            <a:r>
              <a:rPr lang="en-US" altLang="zh-CN" sz="2000" dirty="0" err="1">
                <a:latin typeface="Times New Roman" panose="02020603050405020304" pitchFamily="18" charset="0"/>
                <a:cs typeface="Times New Roman" panose="02020603050405020304" pitchFamily="18" charset="0"/>
              </a:rPr>
              <a:t>Coul</a:t>
            </a:r>
            <a:r>
              <a:rPr lang="en-US" altLang="zh-CN" sz="2000" dirty="0">
                <a:latin typeface="Times New Roman" panose="02020603050405020304" pitchFamily="18" charset="0"/>
                <a:cs typeface="Times New Roman" panose="02020603050405020304" pitchFamily="18" charset="0"/>
              </a:rPr>
              <a:t>/m</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
        <p:nvSpPr>
          <p:cNvPr id="40" name="Rectangle 20"/>
          <p:cNvSpPr>
            <a:spLocks noChangeArrowheads="1"/>
          </p:cNvSpPr>
          <p:nvPr/>
        </p:nvSpPr>
        <p:spPr bwMode="auto">
          <a:xfrm>
            <a:off x="685800" y="5257800"/>
            <a:ext cx="3581400" cy="838200"/>
          </a:xfrm>
          <a:prstGeom prst="rect">
            <a:avLst/>
          </a:prstGeom>
          <a:noFill/>
          <a:ln w="9525">
            <a:solidFill>
              <a:srgbClr val="FF069E"/>
            </a:solidFill>
            <a:miter lim="800000"/>
          </a:ln>
          <a:extLst>
            <a:ext uri="{909E8E84-426E-40DD-AFC4-6F175D3DCCD1}">
              <a14:hiddenFill xmlns:a14="http://schemas.microsoft.com/office/drawing/2010/main">
                <a:solidFill>
                  <a:schemeClr val="bg1"/>
                </a:solidFill>
              </a14:hiddenFill>
            </a:ext>
          </a:extLst>
        </p:spPr>
        <p:txBody>
          <a:bodyPr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16"/>
          <p:cNvGrpSpPr/>
          <p:nvPr/>
        </p:nvGrpSpPr>
        <p:grpSpPr bwMode="auto">
          <a:xfrm>
            <a:off x="4610100" y="3352800"/>
            <a:ext cx="4305300" cy="3162300"/>
            <a:chOff x="2119" y="1104"/>
            <a:chExt cx="3305" cy="2352"/>
          </a:xfrm>
        </p:grpSpPr>
        <p:pic>
          <p:nvPicPr>
            <p:cNvPr id="24" name="Picture 4"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561"/>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5"/>
            <p:cNvSpPr>
              <a:spLocks noChangeArrowheads="1"/>
            </p:cNvSpPr>
            <p:nvPr/>
          </p:nvSpPr>
          <p:spPr bwMode="auto">
            <a:xfrm>
              <a:off x="3093" y="1290"/>
              <a:ext cx="569" cy="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dirty="0">
                  <a:solidFill>
                    <a:srgbClr val="FF069E"/>
                  </a:solidFill>
                  <a:latin typeface="Times New Roman" panose="02020603050405020304" pitchFamily="18" charset="0"/>
                  <a:cs typeface="Times New Roman" panose="02020603050405020304" pitchFamily="18" charset="0"/>
                </a:rPr>
                <a:t>Q </a:t>
              </a:r>
              <a:r>
                <a:rPr lang="en-US" altLang="zh-CN" sz="1800" dirty="0">
                  <a:solidFill>
                    <a:srgbClr val="FF069E"/>
                  </a:solidFill>
                  <a:latin typeface="Times New Roman" panose="02020603050405020304" pitchFamily="18" charset="0"/>
                  <a:cs typeface="Times New Roman" panose="02020603050405020304" pitchFamily="18" charset="0"/>
                </a:rPr>
                <a:t>= 0</a:t>
              </a:r>
              <a:endParaRPr lang="en-US" altLang="zh-CN" sz="1800" dirty="0">
                <a:solidFill>
                  <a:srgbClr val="FF069E"/>
                </a:solidFill>
                <a:latin typeface="Times New Roman" panose="02020603050405020304" pitchFamily="18" charset="0"/>
                <a:cs typeface="Times New Roman" panose="02020603050405020304" pitchFamily="18" charset="0"/>
              </a:endParaRPr>
            </a:p>
          </p:txBody>
        </p:sp>
        <p:sp>
          <p:nvSpPr>
            <p:cNvPr id="26" name="Rectangle 6"/>
            <p:cNvSpPr>
              <a:spLocks noChangeArrowheads="1"/>
            </p:cNvSpPr>
            <p:nvPr/>
          </p:nvSpPr>
          <p:spPr bwMode="auto">
            <a:xfrm>
              <a:off x="3312" y="1104"/>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nvGrpSpPr>
            <p:cNvPr id="27" name="Group 12"/>
            <p:cNvGrpSpPr/>
            <p:nvPr/>
          </p:nvGrpSpPr>
          <p:grpSpPr bwMode="auto">
            <a:xfrm>
              <a:off x="2540" y="2512"/>
              <a:ext cx="192" cy="160"/>
              <a:chOff x="956" y="2544"/>
              <a:chExt cx="192" cy="160"/>
            </a:xfrm>
          </p:grpSpPr>
          <p:sp>
            <p:nvSpPr>
              <p:cNvPr id="30" name="Line 7"/>
              <p:cNvSpPr>
                <a:spLocks noChangeShapeType="1"/>
              </p:cNvSpPr>
              <p:nvPr/>
            </p:nvSpPr>
            <p:spPr bwMode="auto">
              <a:xfrm>
                <a:off x="1056" y="254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8"/>
              <p:cNvSpPr>
                <a:spLocks noChangeShapeType="1"/>
              </p:cNvSpPr>
              <p:nvPr/>
            </p:nvSpPr>
            <p:spPr bwMode="auto">
              <a:xfrm>
                <a:off x="956" y="264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9"/>
              <p:cNvSpPr>
                <a:spLocks noChangeShapeType="1"/>
              </p:cNvSpPr>
              <p:nvPr/>
            </p:nvSpPr>
            <p:spPr bwMode="auto">
              <a:xfrm>
                <a:off x="1008" y="2672"/>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1"/>
              <p:cNvSpPr>
                <a:spLocks noChangeShapeType="1"/>
              </p:cNvSpPr>
              <p:nvPr/>
            </p:nvSpPr>
            <p:spPr bwMode="auto">
              <a:xfrm>
                <a:off x="1032" y="2704"/>
                <a:ext cx="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 name="Line 13"/>
            <p:cNvSpPr>
              <a:spLocks noChangeShapeType="1"/>
            </p:cNvSpPr>
            <p:nvPr/>
          </p:nvSpPr>
          <p:spPr bwMode="auto">
            <a:xfrm flipH="1">
              <a:off x="2640" y="251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Rectangle 14"/>
            <p:cNvSpPr>
              <a:spLocks noChangeArrowheads="1"/>
            </p:cNvSpPr>
            <p:nvPr/>
          </p:nvSpPr>
          <p:spPr bwMode="auto">
            <a:xfrm>
              <a:off x="2119" y="2688"/>
              <a:ext cx="627" cy="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400" dirty="0">
                  <a:latin typeface="Times New Roman" panose="02020603050405020304" pitchFamily="18" charset="0"/>
                  <a:cs typeface="Times New Roman" panose="02020603050405020304" pitchFamily="18" charset="0"/>
                </a:rPr>
                <a:t>Ground </a:t>
              </a:r>
              <a:endParaRPr lang="en-US" altLang="zh-CN" sz="1400" dirty="0">
                <a:latin typeface="Times New Roman" panose="02020603050405020304" pitchFamily="18" charset="0"/>
                <a:cs typeface="Times New Roman" panose="02020603050405020304" pitchFamily="18" charset="0"/>
              </a:endParaRPr>
            </a:p>
            <a:p>
              <a:r>
                <a:rPr lang="en-US" altLang="zh-CN" sz="1400" dirty="0">
                  <a:latin typeface="Times New Roman" panose="02020603050405020304" pitchFamily="18" charset="0"/>
                  <a:cs typeface="Times New Roman" panose="02020603050405020304" pitchFamily="18" charset="0"/>
                </a:rPr>
                <a:t>attached</a:t>
              </a:r>
              <a:endParaRPr lang="en-US" altLang="zh-CN" sz="1400" dirty="0">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7</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Vector Field Description of Flux Density</a:t>
            </a:r>
            <a:endParaRPr lang="zh-CN" altLang="en-US" sz="2800" dirty="0">
              <a:solidFill>
                <a:srgbClr val="000099"/>
              </a:solidFill>
              <a:latin typeface="华文行楷" panose="02010800040101010101" pitchFamily="2" charset="-122"/>
              <a:ea typeface="华文行楷" panose="02010800040101010101" pitchFamily="2" charset="-122"/>
            </a:endParaRPr>
          </a:p>
        </p:txBody>
      </p:sp>
      <p:pic>
        <p:nvPicPr>
          <p:cNvPr id="2050" name="Picture 2" descr="C:\Users\dpcuser\Desktop\About Teaching\工程电磁场\Instructor Notes\Lecture 3\463px-M_Faraday_Th_Phillips_oil_184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2797" y="1143000"/>
            <a:ext cx="1581603" cy="204617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195655" y="3200400"/>
            <a:ext cx="2948345" cy="338554"/>
          </a:xfrm>
          <a:prstGeom prst="rect">
            <a:avLst/>
          </a:prstGeom>
        </p:spPr>
        <p:txBody>
          <a:bodyPr wrap="square">
            <a:spAutoFit/>
          </a:bodyPr>
          <a:lstStyle/>
          <a:p>
            <a:r>
              <a:rPr lang="en-US" altLang="zh-CN" sz="1600" dirty="0">
                <a:solidFill>
                  <a:srgbClr val="000099"/>
                </a:solidFill>
                <a:latin typeface="Times New Roman" panose="02020603050405020304" pitchFamily="18" charset="0"/>
              </a:rPr>
              <a:t>Michael Faraday,  (1791 – 1867 )</a:t>
            </a:r>
            <a:endParaRPr lang="zh-CN" altLang="en-US" sz="1600" dirty="0">
              <a:solidFill>
                <a:srgbClr val="000099"/>
              </a:solidFill>
              <a:latin typeface="Times New Roman" panose="02020603050405020304" pitchFamily="18" charset="0"/>
            </a:endParaRPr>
          </a:p>
        </p:txBody>
      </p:sp>
      <p:pic>
        <p:nvPicPr>
          <p:cNvPr id="41"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 y="4114800"/>
            <a:ext cx="3884613" cy="153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 name="Rectangle 24"/>
          <p:cNvSpPr>
            <a:spLocks noChangeArrowheads="1"/>
          </p:cNvSpPr>
          <p:nvPr/>
        </p:nvSpPr>
        <p:spPr bwMode="auto">
          <a:xfrm>
            <a:off x="533400" y="1850737"/>
            <a:ext cx="4875232" cy="1938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sz="2000" dirty="0">
                <a:solidFill>
                  <a:srgbClr val="C00000"/>
                </a:solidFill>
                <a:latin typeface="Times New Roman" panose="02020603050405020304" pitchFamily="18" charset="0"/>
                <a:cs typeface="Times New Roman" panose="02020603050405020304" pitchFamily="18" charset="0"/>
              </a:rPr>
              <a:t>A vector field is established which </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points in the direction of the “flow”</a:t>
            </a:r>
            <a:endParaRPr lang="en-US" altLang="zh-CN" sz="2000" dirty="0">
              <a:solidFill>
                <a:srgbClr val="C00000"/>
              </a:solidFill>
              <a:latin typeface="Times New Roman" panose="02020603050405020304" pitchFamily="18" charset="0"/>
              <a:cs typeface="Times New Roman" panose="02020603050405020304" pitchFamily="18" charset="0"/>
            </a:endParaRPr>
          </a:p>
          <a:p>
            <a:r>
              <a:rPr lang="en-US" altLang="zh-CN" sz="2000" dirty="0">
                <a:solidFill>
                  <a:srgbClr val="C00000"/>
                </a:solidFill>
                <a:latin typeface="Times New Roman" panose="02020603050405020304" pitchFamily="18" charset="0"/>
                <a:cs typeface="Times New Roman" panose="02020603050405020304" pitchFamily="18" charset="0"/>
              </a:rPr>
              <a:t>or displacement. </a:t>
            </a:r>
            <a:r>
              <a:rPr lang="en-US" altLang="zh-CN" sz="2000" dirty="0">
                <a:latin typeface="Times New Roman" panose="02020603050405020304" pitchFamily="18" charset="0"/>
                <a:cs typeface="Times New Roman" panose="02020603050405020304" pitchFamily="18" charset="0"/>
              </a:rPr>
              <a:t>In this case, the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direction is the outward radial direction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in spherical coordinates.  At each surface,</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we would have:</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5880" y="1752600"/>
            <a:ext cx="6385720" cy="3733800"/>
            <a:chOff x="2605880" y="1752600"/>
            <a:chExt cx="6385720" cy="3733800"/>
          </a:xfrm>
        </p:grpSpPr>
        <p:grpSp>
          <p:nvGrpSpPr>
            <p:cNvPr id="22" name="Group 3"/>
            <p:cNvGrpSpPr/>
            <p:nvPr/>
          </p:nvGrpSpPr>
          <p:grpSpPr bwMode="auto">
            <a:xfrm>
              <a:off x="3771900" y="1752600"/>
              <a:ext cx="5219700" cy="3733800"/>
              <a:chOff x="2136" y="1104"/>
              <a:chExt cx="3288" cy="2352"/>
            </a:xfrm>
          </p:grpSpPr>
          <p:grpSp>
            <p:nvGrpSpPr>
              <p:cNvPr id="23" name="Group 4"/>
              <p:cNvGrpSpPr/>
              <p:nvPr/>
            </p:nvGrpSpPr>
            <p:grpSpPr bwMode="auto">
              <a:xfrm>
                <a:off x="2136" y="1104"/>
                <a:ext cx="3288" cy="2352"/>
                <a:chOff x="2136" y="1104"/>
                <a:chExt cx="3288" cy="2352"/>
              </a:xfrm>
            </p:grpSpPr>
            <p:pic>
              <p:nvPicPr>
                <p:cNvPr id="36" name="Picture 5" descr="Chapter 3 Fig 1"/>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2136" y="1561"/>
                  <a:ext cx="3288" cy="1895"/>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6"/>
                <p:cNvSpPr>
                  <a:spLocks noChangeArrowheads="1"/>
                </p:cNvSpPr>
                <p:nvPr/>
              </p:nvSpPr>
              <p:spPr bwMode="auto">
                <a:xfrm>
                  <a:off x="3120" y="1401"/>
                  <a:ext cx="44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dirty="0">
                      <a:solidFill>
                        <a:srgbClr val="FF069E"/>
                      </a:solidFill>
                      <a:latin typeface="Times New Roman" panose="02020603050405020304" pitchFamily="18" charset="0"/>
                      <a:cs typeface="Times New Roman" panose="02020603050405020304" pitchFamily="18" charset="0"/>
                    </a:rPr>
                    <a:t>Q </a:t>
                  </a:r>
                  <a:r>
                    <a:rPr lang="en-US" altLang="zh-CN" sz="1800" dirty="0">
                      <a:solidFill>
                        <a:srgbClr val="FF069E"/>
                      </a:solidFill>
                      <a:latin typeface="Times New Roman" panose="02020603050405020304" pitchFamily="18" charset="0"/>
                      <a:cs typeface="Times New Roman" panose="02020603050405020304" pitchFamily="18" charset="0"/>
                    </a:rPr>
                    <a:t>= 0</a:t>
                  </a:r>
                  <a:endParaRPr lang="en-US" altLang="zh-CN" sz="1800" dirty="0">
                    <a:solidFill>
                      <a:srgbClr val="FF069E"/>
                    </a:solidFill>
                    <a:latin typeface="Times New Roman" panose="02020603050405020304" pitchFamily="18" charset="0"/>
                    <a:cs typeface="Times New Roman" panose="02020603050405020304" pitchFamily="18" charset="0"/>
                  </a:endParaRPr>
                </a:p>
              </p:txBody>
            </p:sp>
            <p:sp>
              <p:nvSpPr>
                <p:cNvPr id="38" name="Rectangle 7"/>
                <p:cNvSpPr>
                  <a:spLocks noChangeArrowheads="1"/>
                </p:cNvSpPr>
                <p:nvPr/>
              </p:nvSpPr>
              <p:spPr bwMode="auto">
                <a:xfrm>
                  <a:off x="3312" y="1104"/>
                  <a:ext cx="288"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nvGrpSpPr>
                <p:cNvPr id="39" name="Group 8"/>
                <p:cNvGrpSpPr/>
                <p:nvPr/>
              </p:nvGrpSpPr>
              <p:grpSpPr bwMode="auto">
                <a:xfrm>
                  <a:off x="2540" y="2512"/>
                  <a:ext cx="192" cy="160"/>
                  <a:chOff x="956" y="2544"/>
                  <a:chExt cx="192" cy="160"/>
                </a:xfrm>
              </p:grpSpPr>
              <p:sp>
                <p:nvSpPr>
                  <p:cNvPr id="44" name="Line 9"/>
                  <p:cNvSpPr>
                    <a:spLocks noChangeShapeType="1"/>
                  </p:cNvSpPr>
                  <p:nvPr/>
                </p:nvSpPr>
                <p:spPr bwMode="auto">
                  <a:xfrm>
                    <a:off x="1056" y="2544"/>
                    <a:ext cx="0"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10"/>
                  <p:cNvSpPr>
                    <a:spLocks noChangeShapeType="1"/>
                  </p:cNvSpPr>
                  <p:nvPr/>
                </p:nvSpPr>
                <p:spPr bwMode="auto">
                  <a:xfrm>
                    <a:off x="956" y="2640"/>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11"/>
                  <p:cNvSpPr>
                    <a:spLocks noChangeShapeType="1"/>
                  </p:cNvSpPr>
                  <p:nvPr/>
                </p:nvSpPr>
                <p:spPr bwMode="auto">
                  <a:xfrm>
                    <a:off x="1008" y="2672"/>
                    <a:ext cx="96"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12"/>
                  <p:cNvSpPr>
                    <a:spLocks noChangeShapeType="1"/>
                  </p:cNvSpPr>
                  <p:nvPr/>
                </p:nvSpPr>
                <p:spPr bwMode="auto">
                  <a:xfrm>
                    <a:off x="1032" y="2704"/>
                    <a:ext cx="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0" name="Line 13"/>
                <p:cNvSpPr>
                  <a:spLocks noChangeShapeType="1"/>
                </p:cNvSpPr>
                <p:nvPr/>
              </p:nvSpPr>
              <p:spPr bwMode="auto">
                <a:xfrm flipH="1">
                  <a:off x="2640" y="2512"/>
                  <a:ext cx="19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4" name="Oval 14"/>
              <p:cNvSpPr>
                <a:spLocks noChangeArrowheads="1"/>
              </p:cNvSpPr>
              <p:nvPr/>
            </p:nvSpPr>
            <p:spPr bwMode="auto">
              <a:xfrm>
                <a:off x="3180" y="1908"/>
                <a:ext cx="1200" cy="1200"/>
              </a:xfrm>
              <a:prstGeom prst="ellipse">
                <a:avLst/>
              </a:prstGeom>
              <a:noFill/>
              <a:ln w="19050">
                <a:solidFill>
                  <a:srgbClr val="FF069E"/>
                </a:solidFill>
                <a:prstDash val="dash"/>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5" name="Line 15"/>
              <p:cNvSpPr>
                <a:spLocks noChangeShapeType="1"/>
              </p:cNvSpPr>
              <p:nvPr/>
            </p:nvSpPr>
            <p:spPr bwMode="auto">
              <a:xfrm flipH="1">
                <a:off x="3807" y="1536"/>
                <a:ext cx="705" cy="348"/>
              </a:xfrm>
              <a:prstGeom prst="line">
                <a:avLst/>
              </a:prstGeom>
              <a:noFill/>
              <a:ln w="19050">
                <a:solidFill>
                  <a:srgbClr val="FF069E"/>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8" name="Line 16"/>
            <p:cNvSpPr>
              <a:spLocks noChangeShapeType="1"/>
            </p:cNvSpPr>
            <p:nvPr/>
          </p:nvSpPr>
          <p:spPr bwMode="auto">
            <a:xfrm flipV="1">
              <a:off x="6381750" y="3820978"/>
              <a:ext cx="909638" cy="147637"/>
            </a:xfrm>
            <a:prstGeom prst="line">
              <a:avLst/>
            </a:prstGeom>
            <a:noFill/>
            <a:ln w="28575">
              <a:solidFill>
                <a:srgbClr val="DF0065"/>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Rectangle 17"/>
            <p:cNvSpPr>
              <a:spLocks noChangeArrowheads="1"/>
            </p:cNvSpPr>
            <p:nvPr/>
          </p:nvSpPr>
          <p:spPr bwMode="auto">
            <a:xfrm>
              <a:off x="7264400" y="3589203"/>
              <a:ext cx="273050"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i="1"/>
                <a:t>r</a:t>
              </a:r>
              <a:endParaRPr lang="en-US" altLang="zh-CN" sz="1800" i="1"/>
            </a:p>
          </p:txBody>
        </p:sp>
        <p:sp>
          <p:nvSpPr>
            <p:cNvPr id="54" name="Line 21"/>
            <p:cNvSpPr>
              <a:spLocks noChangeShapeType="1"/>
            </p:cNvSpPr>
            <p:nvPr/>
          </p:nvSpPr>
          <p:spPr bwMode="auto">
            <a:xfrm>
              <a:off x="2605880" y="4776849"/>
              <a:ext cx="1432719" cy="0"/>
            </a:xfrm>
            <a:prstGeom prst="line">
              <a:avLst/>
            </a:prstGeom>
            <a:noFill/>
            <a:ln w="19050">
              <a:solidFill>
                <a:srgbClr val="DF0065"/>
              </a:solidFill>
              <a:round/>
            </a:ln>
            <a:extLst>
              <a:ext uri="{909E8E84-426E-40DD-AFC4-6F175D3DCCD1}">
                <a14:hiddenFill xmlns:a14="http://schemas.microsoft.com/office/drawing/2010/main">
                  <a:noFill/>
                </a14:hiddenFill>
              </a:ext>
            </a:extLst>
          </p:spPr>
          <p:txBody>
            <a:bodyPr wrap="none" anchor="ctr"/>
            <a:lstStyle/>
            <a:p>
              <a:endParaRPr lang="zh-CN" altLang="en-US" sz="2000">
                <a:latin typeface="Times New Roman" panose="02020603050405020304" pitchFamily="18" charset="0"/>
                <a:cs typeface="Times New Roman" panose="02020603050405020304" pitchFamily="18" charset="0"/>
              </a:endParaRPr>
            </a:p>
          </p:txBody>
        </p:sp>
        <p:sp>
          <p:nvSpPr>
            <p:cNvPr id="55" name="Rectangle 24"/>
            <p:cNvSpPr>
              <a:spLocks noChangeArrowheads="1"/>
            </p:cNvSpPr>
            <p:nvPr/>
          </p:nvSpPr>
          <p:spPr bwMode="auto">
            <a:xfrm>
              <a:off x="7391400" y="2133600"/>
              <a:ext cx="595035"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b="1" dirty="0">
                  <a:latin typeface="Times New Roman" panose="02020603050405020304" pitchFamily="18" charset="0"/>
                  <a:cs typeface="Times New Roman" panose="02020603050405020304" pitchFamily="18" charset="0"/>
                </a:rPr>
                <a:t>D</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p:txBody>
        </p:sp>
      </p:grpSp>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8</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Vector Field Description of Flux Density</a:t>
            </a:r>
            <a:endParaRPr lang="zh-CN" altLang="en-US" sz="2800" dirty="0">
              <a:solidFill>
                <a:srgbClr val="000099"/>
              </a:solidFill>
              <a:latin typeface="华文行楷" panose="02010800040101010101" pitchFamily="2" charset="-122"/>
              <a:ea typeface="华文行楷" panose="02010800040101010101" pitchFamily="2" charset="-122"/>
            </a:endParaRPr>
          </a:p>
        </p:txBody>
      </p:sp>
      <p:sp>
        <p:nvSpPr>
          <p:cNvPr id="51" name="Rectangle 18"/>
          <p:cNvSpPr>
            <a:spLocks noChangeArrowheads="1"/>
          </p:cNvSpPr>
          <p:nvPr/>
        </p:nvSpPr>
        <p:spPr bwMode="auto">
          <a:xfrm>
            <a:off x="381000" y="2203451"/>
            <a:ext cx="3208337" cy="70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At a general radius </a:t>
            </a:r>
            <a:r>
              <a:rPr lang="en-US" altLang="zh-CN" sz="2000" i="1" dirty="0">
                <a:latin typeface="Times New Roman" panose="02020603050405020304" pitchFamily="18" charset="0"/>
                <a:cs typeface="Times New Roman" panose="02020603050405020304" pitchFamily="18" charset="0"/>
              </a:rPr>
              <a:t>r </a:t>
            </a:r>
            <a:r>
              <a:rPr lang="en-US" altLang="zh-CN" sz="2000" dirty="0">
                <a:latin typeface="Times New Roman" panose="02020603050405020304" pitchFamily="18" charset="0"/>
                <a:cs typeface="Times New Roman" panose="02020603050405020304" pitchFamily="18" charset="0"/>
              </a:rPr>
              <a:t>between</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spheres, we would have:</a:t>
            </a:r>
            <a:endParaRPr lang="en-US" altLang="zh-CN" sz="2000" dirty="0">
              <a:latin typeface="Times New Roman" panose="02020603050405020304" pitchFamily="18" charset="0"/>
              <a:cs typeface="Times New Roman" panose="02020603050405020304" pitchFamily="18" charset="0"/>
            </a:endParaRPr>
          </a:p>
        </p:txBody>
      </p:sp>
      <p:pic>
        <p:nvPicPr>
          <p:cNvPr id="52" name="Picture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700" y="3059112"/>
            <a:ext cx="2120900" cy="113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 name="Rectangle 20"/>
          <p:cNvSpPr>
            <a:spLocks noChangeArrowheads="1"/>
          </p:cNvSpPr>
          <p:nvPr/>
        </p:nvSpPr>
        <p:spPr bwMode="auto">
          <a:xfrm>
            <a:off x="419100" y="4397375"/>
            <a:ext cx="4373562" cy="708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Expressed in units of Coulombs/m</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 and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defined over the range (</a:t>
            </a:r>
            <a:r>
              <a:rPr lang="en-US" altLang="zh-CN" sz="2000" i="1" dirty="0">
                <a:latin typeface="Times New Roman" panose="02020603050405020304" pitchFamily="18" charset="0"/>
                <a:cs typeface="Times New Roman" panose="02020603050405020304" pitchFamily="18" charset="0"/>
              </a:rPr>
              <a:t>a ≤ r ≤ b</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4572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9</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Point Charge Fields – Relationship between </a:t>
            </a:r>
            <a:r>
              <a:rPr lang="en-US" altLang="zh-CN" sz="2800" b="1" dirty="0">
                <a:solidFill>
                  <a:srgbClr val="000099"/>
                </a:solidFill>
                <a:latin typeface="Times New Roman" panose="02020603050405020304" pitchFamily="18" charset="0"/>
              </a:rPr>
              <a:t>E</a:t>
            </a:r>
            <a:r>
              <a:rPr lang="en-US" altLang="zh-CN" sz="2800" dirty="0">
                <a:solidFill>
                  <a:srgbClr val="000099"/>
                </a:solidFill>
                <a:latin typeface="Times New Roman" panose="02020603050405020304" pitchFamily="18" charset="0"/>
              </a:rPr>
              <a:t> and </a:t>
            </a:r>
            <a:r>
              <a:rPr lang="en-US" altLang="zh-CN" sz="2800" b="1" dirty="0">
                <a:solidFill>
                  <a:srgbClr val="000099"/>
                </a:solidFill>
                <a:latin typeface="Times New Roman" panose="02020603050405020304" pitchFamily="18" charset="0"/>
              </a:rPr>
              <a:t>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sp>
        <p:nvSpPr>
          <p:cNvPr id="28" name="Rectangle 3"/>
          <p:cNvSpPr>
            <a:spLocks noChangeArrowheads="1"/>
          </p:cNvSpPr>
          <p:nvPr/>
        </p:nvSpPr>
        <p:spPr bwMode="auto">
          <a:xfrm>
            <a:off x="769878" y="1660469"/>
            <a:ext cx="8008937"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If we now let the inner sphere radius reduce to a point, while maintaining the same charge, and let the outer sphere radius approach infinity, we have a point charge.  The electric flux density is unchanged, but is defined over all space:  </a:t>
            </a:r>
            <a:endParaRPr lang="en-US" altLang="zh-CN" dirty="0">
              <a:latin typeface="Times New Roman" panose="02020603050405020304" pitchFamily="18" charset="0"/>
              <a:cs typeface="Times New Roman" panose="02020603050405020304" pitchFamily="18" charset="0"/>
            </a:endParaRPr>
          </a:p>
        </p:txBody>
      </p:sp>
      <p:pic>
        <p:nvPicPr>
          <p:cNvPr id="29"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7663" y="2667000"/>
            <a:ext cx="1763712"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 name="Rectangle 5"/>
          <p:cNvSpPr>
            <a:spLocks noChangeArrowheads="1"/>
          </p:cNvSpPr>
          <p:nvPr/>
        </p:nvSpPr>
        <p:spPr bwMode="auto">
          <a:xfrm>
            <a:off x="4572000" y="2995613"/>
            <a:ext cx="1990725"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dirty="0">
                <a:latin typeface="Times New Roman" panose="02020603050405020304" pitchFamily="18" charset="0"/>
                <a:cs typeface="Times New Roman" panose="02020603050405020304" pitchFamily="18" charset="0"/>
              </a:rPr>
              <a:t>C/m</a:t>
            </a:r>
            <a:r>
              <a:rPr lang="en-US" altLang="zh-CN" sz="1800" baseline="30000" dirty="0">
                <a:latin typeface="Times New Roman" panose="02020603050405020304" pitchFamily="18" charset="0"/>
                <a:cs typeface="Times New Roman" panose="02020603050405020304" pitchFamily="18" charset="0"/>
              </a:rPr>
              <a:t>2</a:t>
            </a:r>
            <a:r>
              <a:rPr lang="en-US" altLang="zh-CN" sz="1800" dirty="0">
                <a:latin typeface="Times New Roman" panose="02020603050405020304" pitchFamily="18" charset="0"/>
                <a:cs typeface="Times New Roman" panose="02020603050405020304" pitchFamily="18" charset="0"/>
              </a:rPr>
              <a:t>    (0 &lt; </a:t>
            </a:r>
            <a:r>
              <a:rPr lang="en-US" altLang="zh-CN" sz="1800" i="1" dirty="0">
                <a:latin typeface="Times New Roman" panose="02020603050405020304" pitchFamily="18" charset="0"/>
                <a:cs typeface="Times New Roman" panose="02020603050405020304" pitchFamily="18" charset="0"/>
              </a:rPr>
              <a:t>r &lt;∞ </a:t>
            </a: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p:sp>
        <p:nvSpPr>
          <p:cNvPr id="31" name="Rectangle 6"/>
          <p:cNvSpPr>
            <a:spLocks noChangeArrowheads="1"/>
          </p:cNvSpPr>
          <p:nvPr/>
        </p:nvSpPr>
        <p:spPr bwMode="auto">
          <a:xfrm>
            <a:off x="769878" y="3694113"/>
            <a:ext cx="5707122"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We compare this to the electric field intensity in free space:</a:t>
            </a:r>
            <a:endParaRPr lang="en-US" altLang="zh-CN" dirty="0">
              <a:latin typeface="Times New Roman" panose="02020603050405020304" pitchFamily="18" charset="0"/>
              <a:cs typeface="Times New Roman" panose="02020603050405020304" pitchFamily="18" charset="0"/>
            </a:endParaRPr>
          </a:p>
        </p:txBody>
      </p:sp>
      <p:pic>
        <p:nvPicPr>
          <p:cNvPr id="32"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4191000"/>
            <a:ext cx="1938338"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 name="Rectangle 8"/>
          <p:cNvSpPr>
            <a:spLocks noChangeArrowheads="1"/>
          </p:cNvSpPr>
          <p:nvPr/>
        </p:nvSpPr>
        <p:spPr bwMode="auto">
          <a:xfrm>
            <a:off x="4800600" y="4510088"/>
            <a:ext cx="1870075" cy="366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800" dirty="0">
                <a:latin typeface="Times New Roman" panose="02020603050405020304" pitchFamily="18" charset="0"/>
                <a:cs typeface="Times New Roman" panose="02020603050405020304" pitchFamily="18" charset="0"/>
              </a:rPr>
              <a:t>V/m   (0 &lt; </a:t>
            </a:r>
            <a:r>
              <a:rPr lang="en-US" altLang="zh-CN" sz="1800" i="1" dirty="0">
                <a:latin typeface="Times New Roman" panose="02020603050405020304" pitchFamily="18" charset="0"/>
                <a:cs typeface="Times New Roman" panose="02020603050405020304" pitchFamily="18" charset="0"/>
              </a:rPr>
              <a:t>r &lt;∞ </a:t>
            </a: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p:pic>
        <p:nvPicPr>
          <p:cNvPr id="41"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7663" y="5410200"/>
            <a:ext cx="32639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2" name="Rectangle 10"/>
          <p:cNvSpPr>
            <a:spLocks noChangeArrowheads="1"/>
          </p:cNvSpPr>
          <p:nvPr/>
        </p:nvSpPr>
        <p:spPr bwMode="auto">
          <a:xfrm>
            <a:off x="961943" y="5541447"/>
            <a:ext cx="1781257"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..and we see that:</a:t>
            </a:r>
            <a:endParaRPr lang="en-US" altLang="zh-CN">
              <a:latin typeface="Times New Roman" panose="02020603050405020304" pitchFamily="18" charset="0"/>
              <a:cs typeface="Times New Roman" panose="02020603050405020304" pitchFamily="18" charset="0"/>
            </a:endParaRPr>
          </a:p>
        </p:txBody>
      </p:sp>
      <p:cxnSp>
        <p:nvCxnSpPr>
          <p:cNvPr id="6" name="直接连接符 5"/>
          <p:cNvCxnSpPr/>
          <p:nvPr/>
        </p:nvCxnSpPr>
        <p:spPr>
          <a:xfrm>
            <a:off x="4419600" y="5910779"/>
            <a:ext cx="167640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4986338" y="4053628"/>
            <a:ext cx="141446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10</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5: Electric Flux Density</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电通密度</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Volume Charge Fields – Relationship between </a:t>
            </a:r>
            <a:r>
              <a:rPr lang="en-US" altLang="zh-CN" sz="2800" b="1" dirty="0">
                <a:solidFill>
                  <a:srgbClr val="000099"/>
                </a:solidFill>
                <a:latin typeface="Times New Roman" panose="02020603050405020304" pitchFamily="18" charset="0"/>
              </a:rPr>
              <a:t>E</a:t>
            </a:r>
            <a:r>
              <a:rPr lang="en-US" altLang="zh-CN" sz="2800" dirty="0">
                <a:solidFill>
                  <a:srgbClr val="000099"/>
                </a:solidFill>
                <a:latin typeface="Times New Roman" panose="02020603050405020304" pitchFamily="18" charset="0"/>
              </a:rPr>
              <a:t> and </a:t>
            </a:r>
            <a:r>
              <a:rPr lang="en-US" altLang="zh-CN" sz="2800" b="1" dirty="0">
                <a:solidFill>
                  <a:srgbClr val="000099"/>
                </a:solidFill>
                <a:latin typeface="Times New Roman" panose="02020603050405020304" pitchFamily="18" charset="0"/>
              </a:rPr>
              <a:t>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18"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2362200"/>
            <a:ext cx="4470400" cy="9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95612" y="3962400"/>
            <a:ext cx="2211388"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Rectangle 5"/>
          <p:cNvSpPr>
            <a:spLocks noChangeArrowheads="1"/>
          </p:cNvSpPr>
          <p:nvPr/>
        </p:nvSpPr>
        <p:spPr bwMode="auto">
          <a:xfrm>
            <a:off x="914400" y="1752600"/>
            <a:ext cx="289083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learned in Chapter 2 that:</a:t>
            </a:r>
            <a:endParaRPr lang="en-US" altLang="zh-CN" dirty="0">
              <a:latin typeface="Times New Roman" panose="02020603050405020304" pitchFamily="18" charset="0"/>
              <a:cs typeface="Times New Roman" panose="02020603050405020304" pitchFamily="18" charset="0"/>
            </a:endParaRPr>
          </a:p>
        </p:txBody>
      </p:sp>
      <p:sp>
        <p:nvSpPr>
          <p:cNvPr id="21" name="Rectangle 6"/>
          <p:cNvSpPr>
            <a:spLocks noChangeArrowheads="1"/>
          </p:cNvSpPr>
          <p:nvPr/>
        </p:nvSpPr>
        <p:spPr bwMode="auto">
          <a:xfrm>
            <a:off x="973137" y="3505200"/>
            <a:ext cx="199866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It now follows that:</a:t>
            </a:r>
            <a:endParaRPr lang="en-US" altLang="zh-CN" dirty="0">
              <a:latin typeface="Times New Roman" panose="02020603050405020304" pitchFamily="18" charset="0"/>
              <a:cs typeface="Times New Roman" panose="02020603050405020304" pitchFamily="18" charset="0"/>
            </a:endParaRPr>
          </a:p>
        </p:txBody>
      </p:sp>
      <p:pic>
        <p:nvPicPr>
          <p:cNvPr id="22"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84500" y="5616575"/>
            <a:ext cx="32639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Rectangle 10"/>
          <p:cNvSpPr>
            <a:spLocks noChangeArrowheads="1"/>
          </p:cNvSpPr>
          <p:nvPr/>
        </p:nvSpPr>
        <p:spPr bwMode="auto">
          <a:xfrm>
            <a:off x="1058780" y="5247243"/>
            <a:ext cx="2210862"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we also see that:</a:t>
            </a:r>
            <a:endParaRPr lang="en-US" altLang="zh-CN" dirty="0">
              <a:latin typeface="Times New Roman" panose="02020603050405020304" pitchFamily="18" charset="0"/>
              <a:cs typeface="Times New Roman" panose="02020603050405020304" pitchFamily="18" charset="0"/>
            </a:endParaRPr>
          </a:p>
        </p:txBody>
      </p:sp>
      <p:cxnSp>
        <p:nvCxnSpPr>
          <p:cNvPr id="24" name="直接连接符 23"/>
          <p:cNvCxnSpPr/>
          <p:nvPr/>
        </p:nvCxnSpPr>
        <p:spPr>
          <a:xfrm>
            <a:off x="4516437" y="6117154"/>
            <a:ext cx="167640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638800" y="3048000"/>
            <a:ext cx="167640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11</a:t>
            </a:r>
            <a:endParaRPr lang="zh-CN" altLang="en-US" dirty="0"/>
          </a:p>
        </p:txBody>
      </p:sp>
      <p:sp>
        <p:nvSpPr>
          <p:cNvPr id="43"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Gauss’ Law</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sp>
        <p:nvSpPr>
          <p:cNvPr id="15" name="Rectangle 3"/>
          <p:cNvSpPr>
            <a:spLocks noChangeArrowheads="1"/>
          </p:cNvSpPr>
          <p:nvPr/>
        </p:nvSpPr>
        <p:spPr bwMode="auto">
          <a:xfrm>
            <a:off x="1185356" y="1752600"/>
            <a:ext cx="6891844" cy="1015663"/>
          </a:xfrm>
          <a:prstGeom prst="rect">
            <a:avLst/>
          </a:prstGeom>
          <a:noFill/>
          <a:ln w="9525">
            <a:solidFill>
              <a:srgbClr val="C00000"/>
            </a:solidFill>
            <a:miter lim="800000"/>
          </a:ln>
          <a:extLst>
            <a:ext uri="{909E8E84-426E-40DD-AFC4-6F175D3DCCD1}">
              <a14:hiddenFill xmlns:a14="http://schemas.microsoft.com/office/drawing/2010/main">
                <a:solidFill>
                  <a:schemeClr val="accent1"/>
                </a:solidFill>
              </a14:hiddenFill>
            </a:ext>
          </a:extLst>
        </p:spPr>
        <p:txBody>
          <a:bodyPr wrap="square">
            <a:spAutoFit/>
          </a:bodyPr>
          <a:lstStyle/>
          <a:p>
            <a:pPr algn="ctr"/>
            <a:r>
              <a:rPr lang="en-US" altLang="zh-CN" sz="2000" i="1" dirty="0">
                <a:solidFill>
                  <a:srgbClr val="C00000"/>
                </a:solidFill>
                <a:latin typeface="Times New Roman" panose="02020603050405020304" pitchFamily="18" charset="0"/>
                <a:cs typeface="Times New Roman" panose="02020603050405020304" pitchFamily="18" charset="0"/>
              </a:rPr>
              <a:t>The electric flux passing through any closed surface is equal </a:t>
            </a:r>
            <a:endParaRPr lang="en-US" altLang="zh-CN" sz="2000" i="1" dirty="0">
              <a:solidFill>
                <a:srgbClr val="C00000"/>
              </a:solidFill>
              <a:latin typeface="Times New Roman" panose="02020603050405020304" pitchFamily="18" charset="0"/>
              <a:cs typeface="Times New Roman" panose="02020603050405020304" pitchFamily="18" charset="0"/>
            </a:endParaRPr>
          </a:p>
          <a:p>
            <a:pPr algn="ctr"/>
            <a:r>
              <a:rPr lang="en-US" altLang="zh-CN" sz="2000" i="1" dirty="0">
                <a:solidFill>
                  <a:srgbClr val="C00000"/>
                </a:solidFill>
                <a:latin typeface="Times New Roman" panose="02020603050405020304" pitchFamily="18" charset="0"/>
                <a:cs typeface="Times New Roman" panose="02020603050405020304" pitchFamily="18" charset="0"/>
              </a:rPr>
              <a:t>to the total charge enclosed by that surface</a:t>
            </a:r>
            <a:endParaRPr lang="en-US" altLang="zh-CN" sz="2000" i="1" dirty="0">
              <a:solidFill>
                <a:srgbClr val="C00000"/>
              </a:solidFill>
              <a:latin typeface="Times New Roman" panose="02020603050405020304" pitchFamily="18" charset="0"/>
              <a:cs typeface="Times New Roman" panose="02020603050405020304" pitchFamily="18" charset="0"/>
            </a:endParaRPr>
          </a:p>
          <a:p>
            <a:pPr algn="ctr"/>
            <a:r>
              <a:rPr lang="zh-CN" altLang="en-US"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穿过任意闭合面的电通量等于该曲面所包含的总电荷</a:t>
            </a:r>
            <a:endParaRPr lang="en-US" altLang="zh-CN"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pic>
        <p:nvPicPr>
          <p:cNvPr id="16" name="Picture 4" descr="Chapter 3 Fig 2"/>
          <p:cNvPicPr>
            <a:picLocks noChangeAspect="1" noChangeArrowheads="1"/>
          </p:cNvPicPr>
          <p:nvPr/>
        </p:nvPicPr>
        <p:blipFill>
          <a:blip r:embed="rId2" cstate="print">
            <a:lum contrast="20000"/>
            <a:extLst>
              <a:ext uri="{28A0092B-C50C-407E-A947-70E740481C1C}">
                <a14:useLocalDpi xmlns:a14="http://schemas.microsoft.com/office/drawing/2010/main" val="0"/>
              </a:ext>
            </a:extLst>
          </a:blip>
          <a:srcRect/>
          <a:stretch>
            <a:fillRect/>
          </a:stretch>
        </p:blipFill>
        <p:spPr bwMode="auto">
          <a:xfrm>
            <a:off x="1212673" y="3352800"/>
            <a:ext cx="393065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dpcuser\Desktop\About Teaching\工程电磁场\Instructor Notes\Lecture 3\Carl_Friedrich_Gaus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4016" y="3014246"/>
            <a:ext cx="1902177" cy="24384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5867400" y="5528846"/>
            <a:ext cx="3028393" cy="338554"/>
          </a:xfrm>
          <a:prstGeom prst="rect">
            <a:avLst/>
          </a:prstGeom>
        </p:spPr>
        <p:txBody>
          <a:bodyPr wrap="none">
            <a:spAutoFit/>
          </a:bodyPr>
          <a:lstStyle/>
          <a:p>
            <a:r>
              <a:rPr lang="zh-CN" altLang="zh-CN" sz="1600" dirty="0">
                <a:solidFill>
                  <a:srgbClr val="000099"/>
                </a:solidFill>
                <a:latin typeface="Times New Roman" panose="02020603050405020304" pitchFamily="18" charset="0"/>
                <a:cs typeface="Times New Roman" panose="02020603050405020304" pitchFamily="18" charset="0"/>
              </a:rPr>
              <a:t>Carl Friedrich Gauss</a:t>
            </a:r>
            <a:r>
              <a:rPr lang="en-US" altLang="zh-CN" sz="1600" dirty="0">
                <a:solidFill>
                  <a:srgbClr val="000099"/>
                </a:solidFill>
                <a:latin typeface="Times New Roman" panose="02020603050405020304" pitchFamily="18" charset="0"/>
                <a:cs typeface="Times New Roman" panose="02020603050405020304" pitchFamily="18" charset="0"/>
              </a:rPr>
              <a:t> </a:t>
            </a:r>
            <a:r>
              <a:rPr lang="en-US" altLang="zh-CN" sz="1600" dirty="0">
                <a:solidFill>
                  <a:srgbClr val="000099"/>
                </a:solidFill>
                <a:latin typeface="Times New Roman" panose="02020603050405020304" pitchFamily="18" charset="0"/>
              </a:rPr>
              <a:t>(1777 -1855)</a:t>
            </a:r>
            <a:endParaRPr lang="zh-CN" altLang="zh-CN" sz="1600" dirty="0">
              <a:solidFill>
                <a:srgbClr val="000099"/>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12</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Gauss’ Law- Its mathematical statement </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sp>
        <p:nvSpPr>
          <p:cNvPr id="15" name="Rectangle 3"/>
          <p:cNvSpPr>
            <a:spLocks noChangeArrowheads="1"/>
          </p:cNvSpPr>
          <p:nvPr/>
        </p:nvSpPr>
        <p:spPr bwMode="auto">
          <a:xfrm>
            <a:off x="1185355" y="1666220"/>
            <a:ext cx="6891844" cy="1015663"/>
          </a:xfrm>
          <a:prstGeom prst="rect">
            <a:avLst/>
          </a:prstGeom>
          <a:noFill/>
          <a:ln w="9525">
            <a:solidFill>
              <a:srgbClr val="C00000"/>
            </a:solidFill>
            <a:miter lim="800000"/>
          </a:ln>
          <a:extLst>
            <a:ext uri="{909E8E84-426E-40DD-AFC4-6F175D3DCCD1}">
              <a14:hiddenFill xmlns:a14="http://schemas.microsoft.com/office/drawing/2010/main">
                <a:solidFill>
                  <a:schemeClr val="accent1"/>
                </a:solidFill>
              </a14:hiddenFill>
            </a:ext>
          </a:extLst>
        </p:spPr>
        <p:txBody>
          <a:bodyPr wrap="square">
            <a:spAutoFit/>
          </a:bodyPr>
          <a:lstStyle/>
          <a:p>
            <a:pPr algn="ctr"/>
            <a:r>
              <a:rPr lang="en-US" altLang="zh-CN" sz="2000" i="1" dirty="0">
                <a:solidFill>
                  <a:srgbClr val="C00000"/>
                </a:solidFill>
                <a:latin typeface="Times New Roman" panose="02020603050405020304" pitchFamily="18" charset="0"/>
                <a:cs typeface="Times New Roman" panose="02020603050405020304" pitchFamily="18" charset="0"/>
              </a:rPr>
              <a:t>The electric flux passing through any closed surface is equal </a:t>
            </a:r>
            <a:endParaRPr lang="en-US" altLang="zh-CN" sz="2000" i="1" dirty="0">
              <a:solidFill>
                <a:srgbClr val="C00000"/>
              </a:solidFill>
              <a:latin typeface="Times New Roman" panose="02020603050405020304" pitchFamily="18" charset="0"/>
              <a:cs typeface="Times New Roman" panose="02020603050405020304" pitchFamily="18" charset="0"/>
            </a:endParaRPr>
          </a:p>
          <a:p>
            <a:pPr algn="ctr"/>
            <a:r>
              <a:rPr lang="en-US" altLang="zh-CN" sz="2000" i="1" dirty="0">
                <a:solidFill>
                  <a:srgbClr val="C00000"/>
                </a:solidFill>
                <a:latin typeface="Times New Roman" panose="02020603050405020304" pitchFamily="18" charset="0"/>
                <a:cs typeface="Times New Roman" panose="02020603050405020304" pitchFamily="18" charset="0"/>
              </a:rPr>
              <a:t>to the total charge enclosed by that surface</a:t>
            </a:r>
            <a:endParaRPr lang="en-US" altLang="zh-CN" sz="2000" i="1" dirty="0">
              <a:solidFill>
                <a:srgbClr val="C00000"/>
              </a:solidFill>
              <a:latin typeface="Times New Roman" panose="02020603050405020304" pitchFamily="18" charset="0"/>
              <a:cs typeface="Times New Roman" panose="02020603050405020304" pitchFamily="18" charset="0"/>
            </a:endParaRPr>
          </a:p>
          <a:p>
            <a:pPr algn="ctr"/>
            <a:r>
              <a:rPr lang="zh-CN" altLang="en-US"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穿过任意闭合面的电通量等于该曲面所包含的总电荷</a:t>
            </a:r>
            <a:endParaRPr lang="en-US" altLang="zh-CN" sz="20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pic>
        <p:nvPicPr>
          <p:cNvPr id="16" name="Picture 4" descr="Chapter 3 Fig 2"/>
          <p:cNvPicPr>
            <a:picLocks noChangeAspect="1" noChangeArrowheads="1"/>
          </p:cNvPicPr>
          <p:nvPr/>
        </p:nvPicPr>
        <p:blipFill>
          <a:blip r:embed="rId2" cstate="print">
            <a:lum contrast="20000"/>
            <a:extLst>
              <a:ext uri="{28A0092B-C50C-407E-A947-70E740481C1C}">
                <a14:useLocalDpi xmlns:a14="http://schemas.microsoft.com/office/drawing/2010/main" val="0"/>
              </a:ext>
            </a:extLst>
          </a:blip>
          <a:srcRect/>
          <a:stretch>
            <a:fillRect/>
          </a:stretch>
        </p:blipFill>
        <p:spPr bwMode="auto">
          <a:xfrm>
            <a:off x="4555901" y="3657600"/>
            <a:ext cx="393065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5355" y="2768263"/>
            <a:ext cx="6700837"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8444" y="4030748"/>
            <a:ext cx="135255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 name="Rectangle 8"/>
          <p:cNvSpPr>
            <a:spLocks noChangeArrowheads="1"/>
          </p:cNvSpPr>
          <p:nvPr/>
        </p:nvSpPr>
        <p:spPr bwMode="auto">
          <a:xfrm>
            <a:off x="434975" y="3384417"/>
            <a:ext cx="2598596"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define the </a:t>
            </a:r>
            <a:r>
              <a:rPr lang="en-US" altLang="zh-CN" dirty="0">
                <a:solidFill>
                  <a:srgbClr val="C00000"/>
                </a:solidFill>
                <a:latin typeface="Times New Roman" panose="02020603050405020304" pitchFamily="18" charset="0"/>
                <a:cs typeface="Times New Roman" panose="02020603050405020304" pitchFamily="18" charset="0"/>
              </a:rPr>
              <a:t>differential </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surface area </a:t>
            </a:r>
            <a:r>
              <a:rPr lang="en-US" altLang="zh-CN" dirty="0">
                <a:latin typeface="Times New Roman" panose="02020603050405020304" pitchFamily="18" charset="0"/>
                <a:cs typeface="Times New Roman" panose="02020603050405020304" pitchFamily="18" charset="0"/>
              </a:rPr>
              <a:t>(a vector) as</a:t>
            </a:r>
            <a:endParaRPr lang="en-US" altLang="zh-CN" dirty="0">
              <a:latin typeface="Times New Roman" panose="02020603050405020304" pitchFamily="18" charset="0"/>
              <a:cs typeface="Times New Roman" panose="02020603050405020304" pitchFamily="18" charset="0"/>
            </a:endParaRPr>
          </a:p>
        </p:txBody>
      </p:sp>
      <p:sp>
        <p:nvSpPr>
          <p:cNvPr id="14" name="Rectangle 9"/>
          <p:cNvSpPr>
            <a:spLocks noChangeArrowheads="1"/>
          </p:cNvSpPr>
          <p:nvPr/>
        </p:nvSpPr>
        <p:spPr bwMode="auto">
          <a:xfrm>
            <a:off x="434975" y="4438471"/>
            <a:ext cx="3059492" cy="1200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where </a:t>
            </a:r>
            <a:r>
              <a:rPr lang="en-US" altLang="zh-CN" b="1" dirty="0">
                <a:solidFill>
                  <a:srgbClr val="C00000"/>
                </a:solidFill>
                <a:latin typeface="Times New Roman" panose="02020603050405020304" pitchFamily="18" charset="0"/>
                <a:cs typeface="Times New Roman" panose="02020603050405020304" pitchFamily="18" charset="0"/>
              </a:rPr>
              <a:t>n </a:t>
            </a:r>
            <a:r>
              <a:rPr lang="en-US" altLang="zh-CN" dirty="0">
                <a:solidFill>
                  <a:srgbClr val="C00000"/>
                </a:solidFill>
                <a:latin typeface="Times New Roman" panose="02020603050405020304" pitchFamily="18" charset="0"/>
                <a:cs typeface="Times New Roman" panose="02020603050405020304" pitchFamily="18" charset="0"/>
              </a:rPr>
              <a:t>is the unit </a:t>
            </a:r>
            <a:r>
              <a:rPr lang="en-US" altLang="zh-CN" i="1" dirty="0">
                <a:solidFill>
                  <a:srgbClr val="C00000"/>
                </a:solidFill>
                <a:latin typeface="Times New Roman" panose="02020603050405020304" pitchFamily="18" charset="0"/>
                <a:cs typeface="Times New Roman" panose="02020603050405020304" pitchFamily="18" charset="0"/>
              </a:rPr>
              <a:t>outward</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cs typeface="Times New Roman" panose="02020603050405020304" pitchFamily="18" charset="0"/>
              </a:rPr>
              <a:t>normal vector to the surface</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and where </a:t>
            </a:r>
            <a:r>
              <a:rPr lang="en-US" altLang="zh-CN" i="1" dirty="0" err="1">
                <a:latin typeface="Times New Roman" panose="02020603050405020304" pitchFamily="18" charset="0"/>
                <a:cs typeface="Times New Roman" panose="02020603050405020304" pitchFamily="18" charset="0"/>
              </a:rPr>
              <a:t>dS</a:t>
            </a:r>
            <a:r>
              <a:rPr lang="en-US" altLang="zh-CN" dirty="0">
                <a:latin typeface="Times New Roman" panose="02020603050405020304" pitchFamily="18" charset="0"/>
                <a:cs typeface="Times New Roman" panose="02020603050405020304" pitchFamily="18" charset="0"/>
              </a:rPr>
              <a:t> is the area of the</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differential spot on the surface </a:t>
            </a:r>
            <a:endParaRPr lang="en-US" altLang="zh-CN" dirty="0">
              <a:latin typeface="Times New Roman" panose="02020603050405020304" pitchFamily="18" charset="0"/>
              <a:cs typeface="Times New Roman" panose="02020603050405020304" pitchFamily="18" charset="0"/>
            </a:endParaRPr>
          </a:p>
        </p:txBody>
      </p:sp>
      <p:pic>
        <p:nvPicPr>
          <p:cNvPr id="17"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7339" y="5792638"/>
            <a:ext cx="3738563" cy="91440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 descr="Chapter 3 Fig 2"/>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4860386" y="3276600"/>
            <a:ext cx="3930650" cy="2228850"/>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13</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Gauss’ Law- Its mathematical statement </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4688" y="1676400"/>
            <a:ext cx="4945063" cy="1106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47862" y="3632200"/>
            <a:ext cx="1252538"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8850" y="4718649"/>
            <a:ext cx="42227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89946" y="5209036"/>
            <a:ext cx="14351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Rectangle 8"/>
          <p:cNvSpPr>
            <a:spLocks noChangeArrowheads="1"/>
          </p:cNvSpPr>
          <p:nvPr/>
        </p:nvSpPr>
        <p:spPr bwMode="auto">
          <a:xfrm>
            <a:off x="717550" y="3724633"/>
            <a:ext cx="134143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Line charge:</a:t>
            </a:r>
            <a:endParaRPr lang="en-US" altLang="zh-CN">
              <a:latin typeface="Times New Roman" panose="02020603050405020304" pitchFamily="18" charset="0"/>
              <a:cs typeface="Times New Roman" panose="02020603050405020304" pitchFamily="18" charset="0"/>
            </a:endParaRPr>
          </a:p>
        </p:txBody>
      </p:sp>
      <p:sp>
        <p:nvSpPr>
          <p:cNvPr id="24" name="Rectangle 9"/>
          <p:cNvSpPr>
            <a:spLocks noChangeArrowheads="1"/>
          </p:cNvSpPr>
          <p:nvPr/>
        </p:nvSpPr>
        <p:spPr bwMode="auto">
          <a:xfrm>
            <a:off x="685800" y="4256686"/>
            <a:ext cx="16224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Surface charge:</a:t>
            </a:r>
            <a:endParaRPr lang="en-US" altLang="zh-CN" dirty="0">
              <a:latin typeface="Times New Roman" panose="02020603050405020304" pitchFamily="18" charset="0"/>
              <a:cs typeface="Times New Roman" panose="02020603050405020304" pitchFamily="18" charset="0"/>
            </a:endParaRPr>
          </a:p>
        </p:txBody>
      </p:sp>
      <p:sp>
        <p:nvSpPr>
          <p:cNvPr id="25" name="Rectangle 10"/>
          <p:cNvSpPr>
            <a:spLocks noChangeArrowheads="1"/>
          </p:cNvSpPr>
          <p:nvPr/>
        </p:nvSpPr>
        <p:spPr bwMode="auto">
          <a:xfrm>
            <a:off x="685800" y="5345112"/>
            <a:ext cx="163195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Volume charge:</a:t>
            </a:r>
            <a:endParaRPr lang="en-US" altLang="zh-CN" dirty="0">
              <a:latin typeface="Times New Roman" panose="02020603050405020304" pitchFamily="18" charset="0"/>
              <a:cs typeface="Times New Roman" panose="02020603050405020304" pitchFamily="18" charset="0"/>
            </a:endParaRPr>
          </a:p>
        </p:txBody>
      </p:sp>
      <p:sp>
        <p:nvSpPr>
          <p:cNvPr id="26" name="Rectangle 11"/>
          <p:cNvSpPr>
            <a:spLocks noChangeArrowheads="1"/>
          </p:cNvSpPr>
          <p:nvPr/>
        </p:nvSpPr>
        <p:spPr bwMode="auto">
          <a:xfrm>
            <a:off x="706438" y="2729152"/>
            <a:ext cx="555625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in which the charge can exist in the form of point charges:</a:t>
            </a:r>
            <a:endParaRPr lang="en-US" altLang="zh-CN" dirty="0">
              <a:latin typeface="Times New Roman" panose="02020603050405020304" pitchFamily="18" charset="0"/>
              <a:cs typeface="Times New Roman" panose="02020603050405020304" pitchFamily="18" charset="0"/>
            </a:endParaRPr>
          </a:p>
        </p:txBody>
      </p:sp>
      <p:sp>
        <p:nvSpPr>
          <p:cNvPr id="27" name="Rectangle 12"/>
          <p:cNvSpPr>
            <a:spLocks noChangeArrowheads="1"/>
          </p:cNvSpPr>
          <p:nvPr/>
        </p:nvSpPr>
        <p:spPr bwMode="auto">
          <a:xfrm>
            <a:off x="685800" y="5936021"/>
            <a:ext cx="371951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For a volume charge, we would have: </a:t>
            </a:r>
            <a:endParaRPr lang="en-US" altLang="zh-CN" dirty="0">
              <a:latin typeface="Times New Roman" panose="02020603050405020304" pitchFamily="18" charset="0"/>
              <a:cs typeface="Times New Roman" panose="02020603050405020304" pitchFamily="18" charset="0"/>
            </a:endParaRPr>
          </a:p>
        </p:txBody>
      </p:sp>
      <p:pic>
        <p:nvPicPr>
          <p:cNvPr id="28" name="Picture 1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19600" y="5638800"/>
            <a:ext cx="3025775" cy="106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 name="Picture 1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33843" y="2729152"/>
            <a:ext cx="128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 name="Rectangle 16"/>
          <p:cNvSpPr>
            <a:spLocks noChangeArrowheads="1"/>
          </p:cNvSpPr>
          <p:nvPr/>
        </p:nvSpPr>
        <p:spPr bwMode="auto">
          <a:xfrm>
            <a:off x="746125" y="3186352"/>
            <a:ext cx="352107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or a continuous charge distribution: </a:t>
            </a:r>
            <a:endParaRPr lang="en-US" altLang="zh-CN" dirty="0">
              <a:latin typeface="Times New Roman" panose="02020603050405020304" pitchFamily="18" charset="0"/>
              <a:cs typeface="Times New Roman" panose="02020603050405020304" pitchFamily="18" charset="0"/>
            </a:endParaRPr>
          </a:p>
        </p:txBody>
      </p:sp>
      <p:sp>
        <p:nvSpPr>
          <p:cNvPr id="32"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14</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Using Gauss’ Law to solve for </a:t>
            </a:r>
            <a:r>
              <a:rPr lang="en-US" altLang="zh-CN" sz="2800" b="1" dirty="0">
                <a:solidFill>
                  <a:srgbClr val="000099"/>
                </a:solidFill>
                <a:latin typeface="Times New Roman" panose="02020603050405020304" pitchFamily="18" charset="0"/>
              </a:rPr>
              <a:t>D</a:t>
            </a:r>
            <a:r>
              <a:rPr lang="en-US" altLang="zh-CN" sz="2800" dirty="0">
                <a:solidFill>
                  <a:srgbClr val="000099"/>
                </a:solidFill>
                <a:latin typeface="Times New Roman" panose="02020603050405020304" pitchFamily="18" charset="0"/>
              </a:rPr>
              <a:t> evaluated at a surface</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3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1855788"/>
            <a:ext cx="1965325" cy="88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 name="Rectangle 6"/>
          <p:cNvSpPr>
            <a:spLocks noChangeArrowheads="1"/>
          </p:cNvSpPr>
          <p:nvPr/>
        </p:nvSpPr>
        <p:spPr bwMode="auto">
          <a:xfrm>
            <a:off x="275266" y="3001782"/>
            <a:ext cx="5820734" cy="923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The solution is easy if we can choose a surface, </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over which to integrate (Gaussian surface) that satisfies the following two conditions:</a:t>
            </a:r>
            <a:endParaRPr lang="en-US" altLang="zh-CN" dirty="0">
              <a:latin typeface="Times New Roman" panose="02020603050405020304" pitchFamily="18" charset="0"/>
              <a:cs typeface="Times New Roman" panose="02020603050405020304" pitchFamily="18" charset="0"/>
            </a:endParaRPr>
          </a:p>
        </p:txBody>
      </p:sp>
      <p:pic>
        <p:nvPicPr>
          <p:cNvPr id="38"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254" y="3986370"/>
            <a:ext cx="6949146" cy="1119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 name="Rectangle 11"/>
          <p:cNvSpPr>
            <a:spLocks noChangeArrowheads="1"/>
          </p:cNvSpPr>
          <p:nvPr/>
        </p:nvSpPr>
        <p:spPr bwMode="auto">
          <a:xfrm>
            <a:off x="243636" y="5095664"/>
            <a:ext cx="2794355"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integral now simplifies:</a:t>
            </a:r>
            <a:endParaRPr lang="en-US" altLang="zh-CN" dirty="0">
              <a:latin typeface="Times New Roman" panose="02020603050405020304" pitchFamily="18" charset="0"/>
              <a:cs typeface="Times New Roman" panose="02020603050405020304" pitchFamily="18" charset="0"/>
            </a:endParaRPr>
          </a:p>
        </p:txBody>
      </p:sp>
      <p:pic>
        <p:nvPicPr>
          <p:cNvPr id="40"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99699" y="4898020"/>
            <a:ext cx="4022725" cy="113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 name="Rectangle 13"/>
          <p:cNvSpPr>
            <a:spLocks noChangeArrowheads="1"/>
          </p:cNvSpPr>
          <p:nvPr/>
        </p:nvSpPr>
        <p:spPr bwMode="auto">
          <a:xfrm>
            <a:off x="306896" y="5823234"/>
            <a:ext cx="89693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So that:</a:t>
            </a:r>
            <a:endParaRPr lang="en-US" altLang="zh-CN" dirty="0">
              <a:latin typeface="Times New Roman" panose="02020603050405020304" pitchFamily="18" charset="0"/>
              <a:cs typeface="Times New Roman" panose="02020603050405020304" pitchFamily="18" charset="0"/>
            </a:endParaRPr>
          </a:p>
        </p:txBody>
      </p:sp>
      <p:pic>
        <p:nvPicPr>
          <p:cNvPr id="42" name="Picture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5378" y="5820853"/>
            <a:ext cx="1554163" cy="74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 name="Rectangle 15"/>
          <p:cNvSpPr>
            <a:spLocks noChangeArrowheads="1"/>
          </p:cNvSpPr>
          <p:nvPr/>
        </p:nvSpPr>
        <p:spPr bwMode="auto">
          <a:xfrm>
            <a:off x="1525378" y="5727190"/>
            <a:ext cx="1600200" cy="914400"/>
          </a:xfrm>
          <a:prstGeom prst="rect">
            <a:avLst/>
          </a:prstGeom>
          <a:noFill/>
          <a:ln w="19050">
            <a:solidFill>
              <a:srgbClr val="0099E8"/>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33" name="Picture 1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55344" y="2114550"/>
            <a:ext cx="11969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 name="Rectangle 18"/>
          <p:cNvSpPr>
            <a:spLocks noChangeArrowheads="1"/>
          </p:cNvSpPr>
          <p:nvPr/>
        </p:nvSpPr>
        <p:spPr bwMode="auto">
          <a:xfrm>
            <a:off x="3306044" y="2114550"/>
            <a:ext cx="74930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where</a:t>
            </a:r>
            <a:endParaRPr lang="en-US" altLang="zh-CN">
              <a:latin typeface="Times New Roman" panose="02020603050405020304" pitchFamily="18" charset="0"/>
              <a:cs typeface="Times New Roman" panose="02020603050405020304" pitchFamily="18" charset="0"/>
            </a:endParaRPr>
          </a:p>
        </p:txBody>
      </p:sp>
      <p:pic>
        <p:nvPicPr>
          <p:cNvPr id="45" name="Picture 4" descr="Chapter 3 Fig 2"/>
          <p:cNvPicPr>
            <a:picLocks noChangeAspect="1" noChangeArrowheads="1"/>
          </p:cNvPicPr>
          <p:nvPr/>
        </p:nvPicPr>
        <p:blipFill>
          <a:blip r:embed="rId7" cstate="print">
            <a:lum contrast="20000"/>
            <a:extLst>
              <a:ext uri="{28A0092B-C50C-407E-A947-70E740481C1C}">
                <a14:useLocalDpi xmlns:a14="http://schemas.microsoft.com/office/drawing/2010/main" val="0"/>
              </a:ext>
            </a:extLst>
          </a:blip>
          <a:srcRect/>
          <a:stretch>
            <a:fillRect/>
          </a:stretch>
        </p:blipFill>
        <p:spPr bwMode="auto">
          <a:xfrm>
            <a:off x="5405587" y="1751334"/>
            <a:ext cx="3544319" cy="2009783"/>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hapter 3 Fig 3"/>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5693553" y="2855274"/>
            <a:ext cx="3053032" cy="3638687"/>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15</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Point Charge Field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19"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28244" y="1666220"/>
            <a:ext cx="15351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3200" y="3008312"/>
            <a:ext cx="1544638"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30388" y="4343400"/>
            <a:ext cx="388461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30388" y="5588000"/>
            <a:ext cx="2449512"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Rectangle 12"/>
          <p:cNvSpPr>
            <a:spLocks noChangeArrowheads="1"/>
          </p:cNvSpPr>
          <p:nvPr/>
        </p:nvSpPr>
        <p:spPr bwMode="auto">
          <a:xfrm>
            <a:off x="382456" y="1764268"/>
            <a:ext cx="3345788"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Begin with the radial flux density:</a:t>
            </a:r>
            <a:endParaRPr lang="en-US" altLang="zh-CN" dirty="0">
              <a:latin typeface="Times New Roman" panose="02020603050405020304" pitchFamily="18" charset="0"/>
              <a:cs typeface="Times New Roman" panose="02020603050405020304" pitchFamily="18" charset="0"/>
            </a:endParaRPr>
          </a:p>
        </p:txBody>
      </p:sp>
      <p:sp>
        <p:nvSpPr>
          <p:cNvPr id="24" name="Rectangle 13"/>
          <p:cNvSpPr>
            <a:spLocks noChangeArrowheads="1"/>
          </p:cNvSpPr>
          <p:nvPr/>
        </p:nvSpPr>
        <p:spPr bwMode="auto">
          <a:xfrm>
            <a:off x="382456" y="2438400"/>
            <a:ext cx="7592784"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consider a spherical surface of radius </a:t>
            </a:r>
            <a:r>
              <a:rPr lang="en-US" altLang="zh-CN" i="1" dirty="0">
                <a:latin typeface="Times New Roman" panose="02020603050405020304" pitchFamily="18" charset="0"/>
                <a:cs typeface="Times New Roman" panose="02020603050405020304" pitchFamily="18" charset="0"/>
              </a:rPr>
              <a:t>a </a:t>
            </a:r>
            <a:r>
              <a:rPr lang="en-US" altLang="zh-CN" dirty="0">
                <a:latin typeface="Times New Roman" panose="02020603050405020304" pitchFamily="18" charset="0"/>
                <a:cs typeface="Times New Roman" panose="02020603050405020304" pitchFamily="18" charset="0"/>
              </a:rPr>
              <a:t>that surrounds the charge, on which:</a:t>
            </a:r>
            <a:endParaRPr lang="en-US" altLang="zh-CN" dirty="0">
              <a:latin typeface="Times New Roman" panose="02020603050405020304" pitchFamily="18" charset="0"/>
              <a:cs typeface="Times New Roman" panose="02020603050405020304" pitchFamily="18" charset="0"/>
            </a:endParaRPr>
          </a:p>
        </p:txBody>
      </p:sp>
      <p:sp>
        <p:nvSpPr>
          <p:cNvPr id="25" name="Rectangle 14"/>
          <p:cNvSpPr>
            <a:spLocks noChangeArrowheads="1"/>
          </p:cNvSpPr>
          <p:nvPr/>
        </p:nvSpPr>
        <p:spPr bwMode="auto">
          <a:xfrm>
            <a:off x="358775" y="3810000"/>
            <a:ext cx="3726341"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On the surface, the differential area is:</a:t>
            </a:r>
            <a:endParaRPr lang="en-US" altLang="zh-CN">
              <a:latin typeface="Times New Roman" panose="02020603050405020304" pitchFamily="18" charset="0"/>
              <a:cs typeface="Times New Roman" panose="02020603050405020304" pitchFamily="18" charset="0"/>
            </a:endParaRPr>
          </a:p>
        </p:txBody>
      </p:sp>
      <p:sp>
        <p:nvSpPr>
          <p:cNvPr id="26" name="Rectangle 15"/>
          <p:cNvSpPr>
            <a:spLocks noChangeArrowheads="1"/>
          </p:cNvSpPr>
          <p:nvPr/>
        </p:nvSpPr>
        <p:spPr bwMode="auto">
          <a:xfrm>
            <a:off x="382456" y="4935538"/>
            <a:ext cx="5596404"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this, combined with the outward unit normal vector is:</a:t>
            </a:r>
            <a:endParaRPr lang="en-US" altLang="zh-CN" dirty="0">
              <a:latin typeface="Times New Roman" panose="02020603050405020304" pitchFamily="18" charset="0"/>
              <a:cs typeface="Times New Roman" panose="02020603050405020304" pitchFamily="18" charset="0"/>
            </a:endParaRPr>
          </a:p>
        </p:txBody>
      </p:sp>
      <p:cxnSp>
        <p:nvCxnSpPr>
          <p:cNvPr id="4" name="直接连接符 3"/>
          <p:cNvCxnSpPr/>
          <p:nvPr/>
        </p:nvCxnSpPr>
        <p:spPr>
          <a:xfrm>
            <a:off x="1830388" y="4800600"/>
            <a:ext cx="386316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0"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descr="Chapter 3 Fig 3"/>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5693553" y="2855274"/>
            <a:ext cx="3053032" cy="3638687"/>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16</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Point Charge Field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2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2232241"/>
            <a:ext cx="5722938"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8" name="Rectangle 6"/>
          <p:cNvSpPr>
            <a:spLocks noChangeArrowheads="1"/>
          </p:cNvSpPr>
          <p:nvPr/>
        </p:nvSpPr>
        <p:spPr bwMode="auto">
          <a:xfrm>
            <a:off x="323820" y="1666220"/>
            <a:ext cx="287496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Now, the integrand becomes:</a:t>
            </a:r>
            <a:endParaRPr lang="en-US" altLang="zh-CN" dirty="0">
              <a:latin typeface="Times New Roman" panose="02020603050405020304" pitchFamily="18" charset="0"/>
              <a:cs typeface="Times New Roman" panose="02020603050405020304" pitchFamily="18" charset="0"/>
            </a:endParaRPr>
          </a:p>
        </p:txBody>
      </p:sp>
      <p:sp>
        <p:nvSpPr>
          <p:cNvPr id="29" name="Rectangle 7"/>
          <p:cNvSpPr>
            <a:spLocks noChangeArrowheads="1"/>
          </p:cNvSpPr>
          <p:nvPr/>
        </p:nvSpPr>
        <p:spPr bwMode="auto">
          <a:xfrm>
            <a:off x="296503" y="2971800"/>
            <a:ext cx="2749550"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the integral is set up as:</a:t>
            </a:r>
            <a:endParaRPr lang="en-US" altLang="zh-CN" dirty="0">
              <a:latin typeface="Times New Roman" panose="02020603050405020304" pitchFamily="18" charset="0"/>
              <a:cs typeface="Times New Roman" panose="02020603050405020304" pitchFamily="18" charset="0"/>
            </a:endParaRPr>
          </a:p>
        </p:txBody>
      </p:sp>
      <p:grpSp>
        <p:nvGrpSpPr>
          <p:cNvPr id="30" name="Group 10"/>
          <p:cNvGrpSpPr/>
          <p:nvPr/>
        </p:nvGrpSpPr>
        <p:grpSpPr bwMode="auto">
          <a:xfrm>
            <a:off x="688975" y="3635769"/>
            <a:ext cx="4800600" cy="887413"/>
            <a:chOff x="1488" y="2544"/>
            <a:chExt cx="3024" cy="559"/>
          </a:xfrm>
        </p:grpSpPr>
        <p:pic>
          <p:nvPicPr>
            <p:cNvPr id="3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45" y="2544"/>
              <a:ext cx="2067" cy="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88" y="2592"/>
              <a:ext cx="714" cy="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7" name="Rectangle 9"/>
            <p:cNvSpPr>
              <a:spLocks noChangeArrowheads="1"/>
            </p:cNvSpPr>
            <p:nvPr/>
          </p:nvSpPr>
          <p:spPr bwMode="auto">
            <a:xfrm>
              <a:off x="2238" y="2652"/>
              <a:ext cx="201"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grpSp>
      <p:grpSp>
        <p:nvGrpSpPr>
          <p:cNvPr id="31" name="Group 12"/>
          <p:cNvGrpSpPr/>
          <p:nvPr/>
        </p:nvGrpSpPr>
        <p:grpSpPr bwMode="auto">
          <a:xfrm>
            <a:off x="533400" y="4731081"/>
            <a:ext cx="4764088" cy="750888"/>
            <a:chOff x="976" y="3552"/>
            <a:chExt cx="3001" cy="473"/>
          </a:xfrm>
        </p:grpSpPr>
        <p:pic>
          <p:nvPicPr>
            <p:cNvPr id="33"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48" y="3552"/>
              <a:ext cx="2729" cy="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 name="Rectangle 11"/>
            <p:cNvSpPr>
              <a:spLocks noChangeArrowheads="1"/>
            </p:cNvSpPr>
            <p:nvPr/>
          </p:nvSpPr>
          <p:spPr bwMode="auto">
            <a:xfrm>
              <a:off x="976" y="3648"/>
              <a:ext cx="201"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grpSp>
      <p:sp>
        <p:nvSpPr>
          <p:cNvPr id="32" name="Line 13"/>
          <p:cNvSpPr>
            <a:spLocks noChangeShapeType="1"/>
          </p:cNvSpPr>
          <p:nvPr/>
        </p:nvSpPr>
        <p:spPr bwMode="auto">
          <a:xfrm>
            <a:off x="5026024" y="5334000"/>
            <a:ext cx="384176" cy="0"/>
          </a:xfrm>
          <a:prstGeom prst="line">
            <a:avLst/>
          </a:prstGeom>
          <a:noFill/>
          <a:ln w="19050">
            <a:solidFill>
              <a:srgbClr val="FF069E"/>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8"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Chapter 3 Fig 4"/>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6244237" y="3262313"/>
            <a:ext cx="2575850" cy="3148805"/>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17</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Line Charge Field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sp>
        <p:nvSpPr>
          <p:cNvPr id="21" name="Rectangle 4"/>
          <p:cNvSpPr>
            <a:spLocks noChangeArrowheads="1"/>
          </p:cNvSpPr>
          <p:nvPr/>
        </p:nvSpPr>
        <p:spPr bwMode="auto">
          <a:xfrm>
            <a:off x="457200" y="1639669"/>
            <a:ext cx="80772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Consider a line charge of uniform charge density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i="1" baseline="-25000" dirty="0">
                <a:latin typeface="Times New Roman" panose="02020603050405020304" pitchFamily="18" charset="0"/>
                <a:cs typeface="Times New Roman" panose="02020603050405020304" pitchFamily="18" charset="0"/>
              </a:rPr>
              <a:t>L</a:t>
            </a:r>
            <a:r>
              <a:rPr lang="en-US" altLang="zh-CN" dirty="0">
                <a:latin typeface="Times New Roman" panose="02020603050405020304" pitchFamily="18" charset="0"/>
                <a:cs typeface="Times New Roman" panose="02020603050405020304" pitchFamily="18" charset="0"/>
              </a:rPr>
              <a:t> on the </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axis that extends over the range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i="1" dirty="0">
                <a:latin typeface="Times New Roman" panose="02020603050405020304" pitchFamily="18" charset="0"/>
                <a:cs typeface="Times New Roman" panose="02020603050405020304" pitchFamily="18" charset="0"/>
              </a:rPr>
              <a:t> z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endParaRPr lang="en-US" altLang="zh-CN" dirty="0">
              <a:latin typeface="Times New Roman" panose="02020603050405020304" pitchFamily="18" charset="0"/>
              <a:cs typeface="Times New Roman" panose="02020603050405020304" pitchFamily="18" charset="0"/>
            </a:endParaRPr>
          </a:p>
        </p:txBody>
      </p:sp>
      <p:pic>
        <p:nvPicPr>
          <p:cNvPr id="22"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2819400"/>
            <a:ext cx="7543800" cy="65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 name="Rectangle 6"/>
          <p:cNvSpPr>
            <a:spLocks noChangeArrowheads="1"/>
          </p:cNvSpPr>
          <p:nvPr/>
        </p:nvSpPr>
        <p:spPr bwMode="auto">
          <a:xfrm>
            <a:off x="477838" y="2338388"/>
            <a:ext cx="8585200"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need to choose </a:t>
            </a:r>
            <a:r>
              <a:rPr lang="en-US" altLang="zh-CN" dirty="0">
                <a:solidFill>
                  <a:srgbClr val="C00000"/>
                </a:solidFill>
                <a:latin typeface="Times New Roman" panose="02020603050405020304" pitchFamily="18" charset="0"/>
                <a:cs typeface="Times New Roman" panose="02020603050405020304" pitchFamily="18" charset="0"/>
              </a:rPr>
              <a:t>an appropriate Gaussian surface</a:t>
            </a:r>
            <a:r>
              <a:rPr lang="en-US" altLang="zh-CN" dirty="0">
                <a:latin typeface="Times New Roman" panose="02020603050405020304" pitchFamily="18" charset="0"/>
                <a:cs typeface="Times New Roman" panose="02020603050405020304" pitchFamily="18" charset="0"/>
              </a:rPr>
              <a:t>, being mindful of these considerations:</a:t>
            </a:r>
            <a:endParaRPr lang="en-US" altLang="zh-CN" dirty="0">
              <a:latin typeface="Times New Roman" panose="02020603050405020304" pitchFamily="18" charset="0"/>
              <a:cs typeface="Times New Roman" panose="02020603050405020304" pitchFamily="18" charset="0"/>
            </a:endParaRPr>
          </a:p>
        </p:txBody>
      </p:sp>
      <p:sp>
        <p:nvSpPr>
          <p:cNvPr id="24" name="Rectangle 7"/>
          <p:cNvSpPr>
            <a:spLocks noChangeArrowheads="1"/>
          </p:cNvSpPr>
          <p:nvPr/>
        </p:nvSpPr>
        <p:spPr bwMode="auto">
          <a:xfrm>
            <a:off x="505155" y="3581400"/>
            <a:ext cx="6075362"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We know from symmetry that the field will be radially-directed (normal to the </a:t>
            </a:r>
            <a:r>
              <a:rPr lang="en-US" altLang="zh-CN" i="1" dirty="0">
                <a:latin typeface="Times New Roman" panose="02020603050405020304" pitchFamily="18" charset="0"/>
                <a:cs typeface="Times New Roman" panose="02020603050405020304" pitchFamily="18" charset="0"/>
              </a:rPr>
              <a:t>z</a:t>
            </a:r>
            <a:r>
              <a:rPr lang="en-US" altLang="zh-CN" dirty="0">
                <a:latin typeface="Times New Roman" panose="02020603050405020304" pitchFamily="18" charset="0"/>
                <a:cs typeface="Times New Roman" panose="02020603050405020304" pitchFamily="18" charset="0"/>
              </a:rPr>
              <a:t> axis) in cylindrical coordinates:</a:t>
            </a:r>
            <a:endParaRPr lang="en-US" altLang="zh-CN" dirty="0">
              <a:latin typeface="Times New Roman" panose="02020603050405020304" pitchFamily="18" charset="0"/>
              <a:cs typeface="Times New Roman" panose="02020603050405020304" pitchFamily="18" charset="0"/>
            </a:endParaRPr>
          </a:p>
        </p:txBody>
      </p:sp>
      <p:pic>
        <p:nvPicPr>
          <p:cNvPr id="25"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63712" y="4492925"/>
            <a:ext cx="11969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76429" y="5437187"/>
            <a:ext cx="1279525"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 name="Rectangle 10"/>
          <p:cNvSpPr>
            <a:spLocks noChangeArrowheads="1"/>
          </p:cNvSpPr>
          <p:nvPr/>
        </p:nvSpPr>
        <p:spPr bwMode="auto">
          <a:xfrm>
            <a:off x="457200" y="4852882"/>
            <a:ext cx="424973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that the field will vary with radius only:</a:t>
            </a:r>
            <a:endParaRPr lang="en-US" altLang="zh-CN" dirty="0">
              <a:latin typeface="Times New Roman" panose="02020603050405020304" pitchFamily="18" charset="0"/>
              <a:cs typeface="Times New Roman" panose="02020603050405020304" pitchFamily="18" charset="0"/>
            </a:endParaRPr>
          </a:p>
        </p:txBody>
      </p:sp>
      <p:sp>
        <p:nvSpPr>
          <p:cNvPr id="39" name="Rectangle 11"/>
          <p:cNvSpPr>
            <a:spLocks noChangeArrowheads="1"/>
          </p:cNvSpPr>
          <p:nvPr/>
        </p:nvSpPr>
        <p:spPr bwMode="auto">
          <a:xfrm>
            <a:off x="462023" y="5856288"/>
            <a:ext cx="5252977"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r>
              <a:rPr lang="en-US" altLang="zh-CN" dirty="0">
                <a:latin typeface="Times New Roman" panose="02020603050405020304" pitchFamily="18" charset="0"/>
                <a:cs typeface="Times New Roman" panose="02020603050405020304" pitchFamily="18" charset="0"/>
              </a:rPr>
              <a:t>So we choose a cylindrical surface of radius </a:t>
            </a:r>
            <a:r>
              <a:rPr lang="en-US" altLang="zh-CN" i="1" dirty="0">
                <a:latin typeface="Times New Roman" panose="02020603050405020304" pitchFamily="18" charset="0"/>
                <a:cs typeface="Times New Roman" panose="02020603050405020304" pitchFamily="18" charset="0"/>
                <a:sym typeface="Symbol" panose="05050102010706020507" pitchFamily="1" charset="2"/>
              </a:rPr>
              <a:t></a:t>
            </a:r>
            <a:r>
              <a:rPr lang="en-US" altLang="zh-CN" dirty="0">
                <a:latin typeface="Times New Roman" panose="02020603050405020304" pitchFamily="18" charset="0"/>
                <a:cs typeface="Times New Roman" panose="02020603050405020304" pitchFamily="18" charset="0"/>
              </a:rPr>
              <a:t>, and of length </a:t>
            </a:r>
            <a:r>
              <a:rPr lang="en-US" altLang="zh-CN" i="1" dirty="0">
                <a:latin typeface="Times New Roman" panose="02020603050405020304" pitchFamily="18" charset="0"/>
                <a:cs typeface="Times New Roman" panose="02020603050405020304" pitchFamily="18" charset="0"/>
              </a:rPr>
              <a:t>L.</a:t>
            </a:r>
            <a:endParaRPr lang="en-US" altLang="zh-CN" dirty="0">
              <a:latin typeface="Times New Roman" panose="02020603050405020304" pitchFamily="18" charset="0"/>
              <a:cs typeface="Times New Roman" panose="02020603050405020304" pitchFamily="18" charset="0"/>
            </a:endParaRPr>
          </a:p>
        </p:txBody>
      </p:sp>
      <p:sp>
        <p:nvSpPr>
          <p:cNvPr id="40"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Chapter 3 Fig 4"/>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6244237" y="2895600"/>
            <a:ext cx="2575850" cy="3148805"/>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18</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 Line Charge Field</a:t>
            </a:r>
            <a:endParaRPr lang="zh-CN" altLang="en-US" sz="2800" b="1" dirty="0">
              <a:solidFill>
                <a:srgbClr val="000099"/>
              </a:solidFill>
              <a:latin typeface="华文行楷" panose="02010800040101010101" pitchFamily="2" charset="-122"/>
              <a:ea typeface="华文行楷" panose="02010800040101010101" pitchFamily="2" charset="-122"/>
            </a:endParaRPr>
          </a:p>
        </p:txBody>
      </p:sp>
      <p:pic>
        <p:nvPicPr>
          <p:cNvPr id="1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832" y="1746250"/>
            <a:ext cx="6334125"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181" y="3505200"/>
            <a:ext cx="3062288" cy="95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2900" y="4495800"/>
            <a:ext cx="5886450"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19200" y="5377701"/>
            <a:ext cx="12255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42618" y="5388814"/>
            <a:ext cx="1316038"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 name="Rectangle 10"/>
          <p:cNvSpPr>
            <a:spLocks noChangeArrowheads="1"/>
          </p:cNvSpPr>
          <p:nvPr/>
        </p:nvSpPr>
        <p:spPr bwMode="auto">
          <a:xfrm>
            <a:off x="353026" y="5422429"/>
            <a:ext cx="889987"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Giving:</a:t>
            </a:r>
            <a:endParaRPr lang="en-US" altLang="zh-CN" dirty="0">
              <a:latin typeface="Times New Roman" panose="02020603050405020304" pitchFamily="18" charset="0"/>
              <a:cs typeface="Times New Roman" panose="02020603050405020304" pitchFamily="18" charset="0"/>
            </a:endParaRPr>
          </a:p>
        </p:txBody>
      </p:sp>
      <p:sp>
        <p:nvSpPr>
          <p:cNvPr id="31" name="Rectangle 11"/>
          <p:cNvSpPr>
            <a:spLocks noChangeArrowheads="1"/>
          </p:cNvSpPr>
          <p:nvPr/>
        </p:nvSpPr>
        <p:spPr bwMode="auto">
          <a:xfrm>
            <a:off x="2805538" y="5445918"/>
            <a:ext cx="1556836"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So that finally:</a:t>
            </a:r>
            <a:endParaRPr lang="en-US" altLang="zh-CN" dirty="0">
              <a:latin typeface="Times New Roman" panose="02020603050405020304" pitchFamily="18" charset="0"/>
              <a:cs typeface="Times New Roman" panose="02020603050405020304" pitchFamily="18" charset="0"/>
            </a:endParaRPr>
          </a:p>
        </p:txBody>
      </p:sp>
      <p:sp>
        <p:nvSpPr>
          <p:cNvPr id="32" name="Rectangle 12"/>
          <p:cNvSpPr>
            <a:spLocks noChangeArrowheads="1"/>
          </p:cNvSpPr>
          <p:nvPr/>
        </p:nvSpPr>
        <p:spPr bwMode="auto">
          <a:xfrm>
            <a:off x="4399755" y="5334000"/>
            <a:ext cx="1447800" cy="647700"/>
          </a:xfrm>
          <a:prstGeom prst="rect">
            <a:avLst/>
          </a:prstGeom>
          <a:noFill/>
          <a:ln w="9525">
            <a:solidFill>
              <a:srgbClr val="FF069E"/>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33" name="矩形 32"/>
          <p:cNvSpPr/>
          <p:nvPr/>
        </p:nvSpPr>
        <p:spPr>
          <a:xfrm>
            <a:off x="304800" y="6096000"/>
            <a:ext cx="77724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Please compare the two methods of solving line charge field intensity E, one by using Gauss’s law and the other by using Coulomb's law. </a:t>
            </a:r>
            <a:endParaRPr lang="zh-CN" altLang="en-US" dirty="0">
              <a:solidFill>
                <a:srgbClr val="C00000"/>
              </a:solidFill>
              <a:latin typeface="Times New Roman" panose="02020603050405020304" pitchFamily="18" charset="0"/>
              <a:cs typeface="Times New Roman" panose="02020603050405020304" pitchFamily="18" charset="0"/>
            </a:endParaRPr>
          </a:p>
        </p:txBody>
      </p:sp>
      <p:sp>
        <p:nvSpPr>
          <p:cNvPr id="34" name="Rectangle 2"/>
          <p:cNvSpPr>
            <a:spLocks noGrp="1" noChangeArrowheads="1"/>
          </p:cNvSpPr>
          <p:nvPr>
            <p:ph type="title"/>
          </p:nvPr>
        </p:nvSpPr>
        <p:spPr>
          <a:xfrm>
            <a:off x="457200" y="63500"/>
            <a:ext cx="8229600" cy="1143000"/>
          </a:xfrm>
        </p:spPr>
        <p:txBody>
          <a:bodyPr/>
          <a:lstStyle/>
          <a:p>
            <a:pPr algn="l" eaLnBrk="1" hangingPunct="1"/>
            <a:r>
              <a:rPr lang="en-US" altLang="zh-CN"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6: Gauss’ Law</a:t>
            </a:r>
            <a:r>
              <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高斯定律</a:t>
            </a:r>
            <a:endParaRPr lang="zh-CN" altLang="en-US"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19</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Electric Flux Within a Differential Volume Element</a:t>
            </a:r>
            <a:endParaRPr lang="zh-CN" altLang="en-US" sz="2800" b="1" dirty="0">
              <a:solidFill>
                <a:srgbClr val="C00000"/>
              </a:solidFill>
              <a:latin typeface="华文行楷" panose="02010800040101010101" pitchFamily="2" charset="-122"/>
              <a:ea typeface="华文行楷" panose="02010800040101010101" pitchFamily="2" charset="-122"/>
            </a:endParaRPr>
          </a:p>
        </p:txBody>
      </p:sp>
      <p:pic>
        <p:nvPicPr>
          <p:cNvPr id="21" name="Picture 2" descr="Chapter 3 Fig 6"/>
          <p:cNvPicPr>
            <a:picLocks noChangeAspect="1" noChangeArrowheads="1"/>
          </p:cNvPicPr>
          <p:nvPr/>
        </p:nvPicPr>
        <p:blipFill>
          <a:blip r:embed="rId2" cstate="print">
            <a:lum contrast="20000"/>
            <a:extLst>
              <a:ext uri="{28A0092B-C50C-407E-A947-70E740481C1C}">
                <a14:useLocalDpi xmlns:a14="http://schemas.microsoft.com/office/drawing/2010/main" val="0"/>
              </a:ext>
            </a:extLst>
          </a:blip>
          <a:srcRect/>
          <a:stretch>
            <a:fillRect/>
          </a:stretch>
        </p:blipFill>
        <p:spPr bwMode="auto">
          <a:xfrm>
            <a:off x="4800600" y="2824956"/>
            <a:ext cx="3903663" cy="30210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9950" y="2020101"/>
            <a:ext cx="6956425" cy="75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9950" y="1755775"/>
            <a:ext cx="5378449" cy="26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400" y="3124200"/>
            <a:ext cx="4552950"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 name="Rectangle 10"/>
          <p:cNvSpPr>
            <a:spLocks noChangeArrowheads="1"/>
          </p:cNvSpPr>
          <p:nvPr/>
        </p:nvSpPr>
        <p:spPr bwMode="auto">
          <a:xfrm>
            <a:off x="733118" y="3962400"/>
            <a:ext cx="4083297" cy="5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Taking the front surface, for example, we have:</a:t>
            </a:r>
            <a:endParaRPr lang="en-US" altLang="zh-CN" sz="1600" dirty="0">
              <a:latin typeface="Times New Roman" panose="02020603050405020304" pitchFamily="18" charset="0"/>
              <a:cs typeface="Times New Roman" panose="02020603050405020304" pitchFamily="18" charset="0"/>
            </a:endParaRPr>
          </a:p>
        </p:txBody>
      </p:sp>
      <p:pic>
        <p:nvPicPr>
          <p:cNvPr id="26"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18249" y="4800600"/>
            <a:ext cx="2174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20</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Electric Flux Within a Differential Volume Element</a:t>
            </a:r>
            <a:endParaRPr lang="zh-CN" altLang="en-US" sz="2800" b="1" dirty="0">
              <a:solidFill>
                <a:srgbClr val="C00000"/>
              </a:solidFill>
              <a:latin typeface="华文行楷" panose="02010800040101010101" pitchFamily="2" charset="-122"/>
              <a:ea typeface="华文行楷" panose="02010800040101010101" pitchFamily="2" charset="-122"/>
            </a:endParaRPr>
          </a:p>
        </p:txBody>
      </p:sp>
      <p:pic>
        <p:nvPicPr>
          <p:cNvPr id="21" name="Picture 2" descr="Chapter 3 Fig 6"/>
          <p:cNvPicPr>
            <a:picLocks noChangeAspect="1" noChangeArrowheads="1"/>
          </p:cNvPicPr>
          <p:nvPr/>
        </p:nvPicPr>
        <p:blipFill>
          <a:blip r:embed="rId2" cstate="print">
            <a:lum contrast="20000"/>
            <a:extLst>
              <a:ext uri="{28A0092B-C50C-407E-A947-70E740481C1C}">
                <a14:useLocalDpi xmlns:a14="http://schemas.microsoft.com/office/drawing/2010/main" val="0"/>
              </a:ext>
            </a:extLst>
          </a:blip>
          <a:srcRect/>
          <a:stretch>
            <a:fillRect/>
          </a:stretch>
        </p:blipFill>
        <p:spPr bwMode="auto">
          <a:xfrm>
            <a:off x="5011737" y="1905000"/>
            <a:ext cx="3903663" cy="3021013"/>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p:cNvSpPr>
            <a:spLocks noChangeArrowheads="1"/>
          </p:cNvSpPr>
          <p:nvPr/>
        </p:nvSpPr>
        <p:spPr bwMode="auto">
          <a:xfrm>
            <a:off x="622412" y="1600200"/>
            <a:ext cx="4083297" cy="3385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600" dirty="0">
                <a:latin typeface="Times New Roman" panose="02020603050405020304" pitchFamily="18" charset="0"/>
                <a:cs typeface="Times New Roman" panose="02020603050405020304" pitchFamily="18" charset="0"/>
              </a:rPr>
              <a:t>Taking the front surface, for example, we have:</a:t>
            </a:r>
            <a:endParaRPr lang="en-US" altLang="zh-CN" sz="1600" dirty="0">
              <a:latin typeface="Times New Roman" panose="02020603050405020304" pitchFamily="18" charset="0"/>
              <a:cs typeface="Times New Roman" panose="02020603050405020304" pitchFamily="18" charset="0"/>
            </a:endParaRPr>
          </a:p>
        </p:txBody>
      </p:sp>
      <p:pic>
        <p:nvPicPr>
          <p:cNvPr id="26"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2725" y="1997251"/>
            <a:ext cx="2174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 y="3176778"/>
            <a:ext cx="4268788"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60562" y="4192763"/>
            <a:ext cx="2916238"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 name="Rectangle 7"/>
          <p:cNvSpPr>
            <a:spLocks noChangeArrowheads="1"/>
          </p:cNvSpPr>
          <p:nvPr/>
        </p:nvSpPr>
        <p:spPr bwMode="auto">
          <a:xfrm>
            <a:off x="541337" y="4345163"/>
            <a:ext cx="1499898"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now have:</a:t>
            </a:r>
            <a:endParaRPr lang="en-US" altLang="zh-CN" dirty="0">
              <a:latin typeface="Times New Roman" panose="02020603050405020304" pitchFamily="18" charset="0"/>
              <a:cs typeface="Times New Roman" panose="02020603050405020304" pitchFamily="18" charset="0"/>
            </a:endParaRPr>
          </a:p>
        </p:txBody>
      </p:sp>
      <p:sp>
        <p:nvSpPr>
          <p:cNvPr id="18" name="Rectangle 8"/>
          <p:cNvSpPr>
            <a:spLocks noChangeArrowheads="1"/>
          </p:cNvSpPr>
          <p:nvPr/>
        </p:nvSpPr>
        <p:spPr bwMode="auto">
          <a:xfrm>
            <a:off x="541337" y="4784901"/>
            <a:ext cx="2428870"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in a similar manner:</a:t>
            </a:r>
            <a:endParaRPr lang="en-US" altLang="zh-CN" dirty="0">
              <a:latin typeface="Times New Roman" panose="02020603050405020304" pitchFamily="18" charset="0"/>
              <a:cs typeface="Times New Roman" panose="02020603050405020304" pitchFamily="18" charset="0"/>
            </a:endParaRPr>
          </a:p>
        </p:txBody>
      </p:sp>
      <p:pic>
        <p:nvPicPr>
          <p:cNvPr id="19"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91286" y="5154233"/>
            <a:ext cx="3125788"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50962" y="6115050"/>
            <a:ext cx="2687638"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7" name="Rectangle 11"/>
          <p:cNvSpPr>
            <a:spLocks noChangeArrowheads="1"/>
          </p:cNvSpPr>
          <p:nvPr/>
        </p:nvSpPr>
        <p:spPr bwMode="auto">
          <a:xfrm>
            <a:off x="553438" y="5849558"/>
            <a:ext cx="1159292"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Therefore:</a:t>
            </a:r>
            <a:endParaRPr lang="en-US" altLang="zh-CN" dirty="0">
              <a:latin typeface="Times New Roman" panose="02020603050405020304" pitchFamily="18" charset="0"/>
              <a:cs typeface="Times New Roman" panose="02020603050405020304" pitchFamily="18" charset="0"/>
            </a:endParaRPr>
          </a:p>
        </p:txBody>
      </p:sp>
      <p:sp>
        <p:nvSpPr>
          <p:cNvPr id="29" name="Line 13"/>
          <p:cNvSpPr>
            <a:spLocks noChangeShapeType="1"/>
          </p:cNvSpPr>
          <p:nvPr/>
        </p:nvSpPr>
        <p:spPr bwMode="auto">
          <a:xfrm flipV="1">
            <a:off x="2354234" y="5558162"/>
            <a:ext cx="0" cy="381000"/>
          </a:xfrm>
          <a:prstGeom prst="line">
            <a:avLst/>
          </a:prstGeom>
          <a:noFill/>
          <a:ln w="9525">
            <a:solidFill>
              <a:srgbClr val="C00000"/>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0" name="Line 14"/>
          <p:cNvSpPr>
            <a:spLocks noChangeShapeType="1"/>
          </p:cNvSpPr>
          <p:nvPr/>
        </p:nvSpPr>
        <p:spPr bwMode="auto">
          <a:xfrm>
            <a:off x="2354234" y="5939162"/>
            <a:ext cx="838200" cy="0"/>
          </a:xfrm>
          <a:prstGeom prst="line">
            <a:avLst/>
          </a:prstGeom>
          <a:noFill/>
          <a:ln w="9525">
            <a:solidFill>
              <a:srgbClr val="C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31" name="Rectangle 15"/>
          <p:cNvSpPr>
            <a:spLocks noChangeArrowheads="1"/>
          </p:cNvSpPr>
          <p:nvPr/>
        </p:nvSpPr>
        <p:spPr bwMode="auto">
          <a:xfrm>
            <a:off x="3124200" y="5788223"/>
            <a:ext cx="4809073" cy="307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1400" dirty="0">
                <a:solidFill>
                  <a:srgbClr val="C00000"/>
                </a:solidFill>
                <a:latin typeface="Times New Roman" panose="02020603050405020304" pitchFamily="18" charset="0"/>
                <a:cs typeface="Times New Roman" panose="02020603050405020304" pitchFamily="18" charset="0"/>
              </a:rPr>
              <a:t>minus sign because </a:t>
            </a:r>
            <a:r>
              <a:rPr lang="en-US" altLang="zh-CN" sz="1400" i="1" dirty="0">
                <a:solidFill>
                  <a:srgbClr val="C00000"/>
                </a:solidFill>
                <a:latin typeface="Times New Roman" panose="02020603050405020304" pitchFamily="18" charset="0"/>
                <a:cs typeface="Times New Roman" panose="02020603050405020304" pitchFamily="18" charset="0"/>
              </a:rPr>
              <a:t>D</a:t>
            </a:r>
            <a:r>
              <a:rPr lang="en-US" altLang="zh-CN" sz="1400" i="1" baseline="-25000" dirty="0">
                <a:solidFill>
                  <a:srgbClr val="C00000"/>
                </a:solidFill>
                <a:latin typeface="Times New Roman" panose="02020603050405020304" pitchFamily="18" charset="0"/>
                <a:cs typeface="Times New Roman" panose="02020603050405020304" pitchFamily="18" charset="0"/>
              </a:rPr>
              <a:t>x</a:t>
            </a:r>
            <a:r>
              <a:rPr lang="en-US" altLang="zh-CN" sz="1400" baseline="-25000" dirty="0">
                <a:solidFill>
                  <a:srgbClr val="C00000"/>
                </a:solidFill>
                <a:latin typeface="Times New Roman" panose="02020603050405020304" pitchFamily="18" charset="0"/>
                <a:cs typeface="Times New Roman" panose="02020603050405020304" pitchFamily="18" charset="0"/>
              </a:rPr>
              <a:t>0 </a:t>
            </a:r>
            <a:r>
              <a:rPr lang="en-US" altLang="zh-CN" sz="1400" dirty="0">
                <a:solidFill>
                  <a:srgbClr val="C00000"/>
                </a:solidFill>
                <a:latin typeface="Times New Roman" panose="02020603050405020304" pitchFamily="18" charset="0"/>
                <a:cs typeface="Times New Roman" panose="02020603050405020304" pitchFamily="18" charset="0"/>
              </a:rPr>
              <a:t> is </a:t>
            </a:r>
            <a:r>
              <a:rPr lang="en-US" altLang="zh-CN" sz="1400" i="1" dirty="0">
                <a:solidFill>
                  <a:srgbClr val="C00000"/>
                </a:solidFill>
                <a:latin typeface="Times New Roman" panose="02020603050405020304" pitchFamily="18" charset="0"/>
                <a:cs typeface="Times New Roman" panose="02020603050405020304" pitchFamily="18" charset="0"/>
              </a:rPr>
              <a:t>inward </a:t>
            </a:r>
            <a:r>
              <a:rPr lang="en-US" altLang="zh-CN" sz="1400" dirty="0">
                <a:solidFill>
                  <a:srgbClr val="C00000"/>
                </a:solidFill>
                <a:latin typeface="Times New Roman" panose="02020603050405020304" pitchFamily="18" charset="0"/>
                <a:cs typeface="Times New Roman" panose="02020603050405020304" pitchFamily="18" charset="0"/>
              </a:rPr>
              <a:t>flux through the back surface.</a:t>
            </a:r>
            <a:endParaRPr lang="en-US" altLang="zh-CN" sz="1400" dirty="0">
              <a:solidFill>
                <a:srgbClr val="C00000"/>
              </a:solidFill>
              <a:latin typeface="Times New Roman" panose="02020603050405020304" pitchFamily="18" charset="0"/>
              <a:cs typeface="Times New Roman" panose="02020603050405020304" pitchFamily="18" charset="0"/>
            </a:endParaRPr>
          </a:p>
        </p:txBody>
      </p:sp>
      <p:sp>
        <p:nvSpPr>
          <p:cNvPr id="32"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Chapter 3 Fig 6"/>
          <p:cNvPicPr>
            <a:picLocks noChangeAspect="1" noChangeArrowheads="1"/>
          </p:cNvPicPr>
          <p:nvPr/>
        </p:nvPicPr>
        <p:blipFill>
          <a:blip r:embed="rId1" cstate="print">
            <a:lum contrast="20000"/>
            <a:extLst>
              <a:ext uri="{28A0092B-C50C-407E-A947-70E740481C1C}">
                <a14:useLocalDpi xmlns:a14="http://schemas.microsoft.com/office/drawing/2010/main" val="0"/>
              </a:ext>
            </a:extLst>
          </a:blip>
          <a:srcRect/>
          <a:stretch>
            <a:fillRect/>
          </a:stretch>
        </p:blipFill>
        <p:spPr bwMode="auto">
          <a:xfrm>
            <a:off x="5028990" y="1666220"/>
            <a:ext cx="3903663" cy="3021013"/>
          </a:xfrm>
          <a:prstGeom prst="rect">
            <a:avLst/>
          </a:prstGeom>
          <a:noFill/>
          <a:extLst>
            <a:ext uri="{909E8E84-426E-40DD-AFC4-6F175D3DCCD1}">
              <a14:hiddenFill xmlns:a14="http://schemas.microsoft.com/office/drawing/2010/main">
                <a:solidFill>
                  <a:srgbClr val="FFFFFF"/>
                </a:solidFill>
              </a14:hiddenFill>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21</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Electric Flux Within a Differential Volume Element</a:t>
            </a:r>
            <a:endParaRPr lang="zh-CN" altLang="en-US" sz="2800" b="1" dirty="0">
              <a:solidFill>
                <a:srgbClr val="C00000"/>
              </a:solidFill>
              <a:latin typeface="华文行楷" panose="02010800040101010101" pitchFamily="2" charset="-122"/>
              <a:ea typeface="华文行楷" panose="02010800040101010101" pitchFamily="2" charset="-122"/>
            </a:endParaRPr>
          </a:p>
        </p:txBody>
      </p:sp>
      <p:sp>
        <p:nvSpPr>
          <p:cNvPr id="23" name="Rectangle 16"/>
          <p:cNvSpPr>
            <a:spLocks noChangeArrowheads="1"/>
          </p:cNvSpPr>
          <p:nvPr/>
        </p:nvSpPr>
        <p:spPr bwMode="auto">
          <a:xfrm>
            <a:off x="559594" y="1828800"/>
            <a:ext cx="3856038"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Now, by a similar process, we find that:</a:t>
            </a:r>
            <a:endParaRPr lang="en-US" altLang="zh-CN" dirty="0">
              <a:latin typeface="Times New Roman" panose="02020603050405020304" pitchFamily="18" charset="0"/>
              <a:cs typeface="Times New Roman" panose="02020603050405020304" pitchFamily="18" charset="0"/>
            </a:endParaRPr>
          </a:p>
        </p:txBody>
      </p:sp>
      <p:pic>
        <p:nvPicPr>
          <p:cNvPr id="24" name="Picture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2519" y="2352675"/>
            <a:ext cx="2541588"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tangle 18"/>
          <p:cNvSpPr>
            <a:spLocks noChangeArrowheads="1"/>
          </p:cNvSpPr>
          <p:nvPr/>
        </p:nvSpPr>
        <p:spPr bwMode="auto">
          <a:xfrm>
            <a:off x="1094582" y="3233738"/>
            <a:ext cx="5175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and</a:t>
            </a:r>
            <a:endParaRPr lang="en-US" altLang="zh-CN">
              <a:latin typeface="Times New Roman" panose="02020603050405020304" pitchFamily="18" charset="0"/>
              <a:cs typeface="Times New Roman" panose="02020603050405020304" pitchFamily="18" charset="0"/>
            </a:endParaRPr>
          </a:p>
        </p:txBody>
      </p:sp>
      <p:pic>
        <p:nvPicPr>
          <p:cNvPr id="33"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67744" y="3114675"/>
            <a:ext cx="2687638"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Rectangle 21"/>
          <p:cNvSpPr>
            <a:spLocks noChangeArrowheads="1"/>
          </p:cNvSpPr>
          <p:nvPr/>
        </p:nvSpPr>
        <p:spPr bwMode="auto">
          <a:xfrm>
            <a:off x="642144" y="4125912"/>
            <a:ext cx="3319463"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All results are assembled to yield:</a:t>
            </a:r>
            <a:endParaRPr lang="en-US" altLang="zh-CN" dirty="0">
              <a:latin typeface="Times New Roman" panose="02020603050405020304" pitchFamily="18" charset="0"/>
              <a:cs typeface="Times New Roman" panose="02020603050405020304" pitchFamily="18" charset="0"/>
            </a:endParaRPr>
          </a:p>
        </p:txBody>
      </p:sp>
      <p:grpSp>
        <p:nvGrpSpPr>
          <p:cNvPr id="35" name="Group 27"/>
          <p:cNvGrpSpPr/>
          <p:nvPr/>
        </p:nvGrpSpPr>
        <p:grpSpPr bwMode="auto">
          <a:xfrm>
            <a:off x="1229519" y="4800600"/>
            <a:ext cx="6391275" cy="979488"/>
            <a:chOff x="1392" y="2928"/>
            <a:chExt cx="4026" cy="617"/>
          </a:xfrm>
        </p:grpSpPr>
        <p:grpSp>
          <p:nvGrpSpPr>
            <p:cNvPr id="38" name="Group 25"/>
            <p:cNvGrpSpPr/>
            <p:nvPr/>
          </p:nvGrpSpPr>
          <p:grpSpPr bwMode="auto">
            <a:xfrm>
              <a:off x="1392" y="2928"/>
              <a:ext cx="2935" cy="617"/>
              <a:chOff x="1392" y="2928"/>
              <a:chExt cx="2935" cy="617"/>
            </a:xfrm>
          </p:grpSpPr>
          <p:pic>
            <p:nvPicPr>
              <p:cNvPr id="40" name="Picture 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92" y="2928"/>
                <a:ext cx="2585" cy="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AutoShape 22"/>
              <p:cNvSpPr/>
              <p:nvPr/>
            </p:nvSpPr>
            <p:spPr bwMode="auto">
              <a:xfrm rot="16188391">
                <a:off x="3582" y="2976"/>
                <a:ext cx="96" cy="576"/>
              </a:xfrm>
              <a:prstGeom prst="lef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 name="Rectangle 23"/>
              <p:cNvSpPr>
                <a:spLocks noChangeArrowheads="1"/>
              </p:cNvSpPr>
              <p:nvPr/>
            </p:nvSpPr>
            <p:spPr bwMode="auto">
              <a:xfrm>
                <a:off x="3510" y="3312"/>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sym typeface="Symbol" panose="05050102010706020507" pitchFamily="1" charset="2"/>
                  </a:rPr>
                  <a:t></a:t>
                </a:r>
                <a:r>
                  <a:rPr lang="en-US" altLang="zh-CN" i="1">
                    <a:latin typeface="Times New Roman" panose="02020603050405020304" pitchFamily="18" charset="0"/>
                    <a:cs typeface="Times New Roman" panose="02020603050405020304" pitchFamily="18" charset="0"/>
                  </a:rPr>
                  <a:t>v</a:t>
                </a:r>
                <a:endParaRPr lang="en-US" altLang="zh-CN">
                  <a:latin typeface="Times New Roman" panose="02020603050405020304" pitchFamily="18" charset="0"/>
                  <a:cs typeface="Times New Roman" panose="02020603050405020304" pitchFamily="18" charset="0"/>
                  <a:sym typeface="Symbol" panose="05050102010706020507" pitchFamily="1" charset="2"/>
                </a:endParaRPr>
              </a:p>
            </p:txBody>
          </p:sp>
          <p:sp>
            <p:nvSpPr>
              <p:cNvPr id="44" name="Rectangle 24"/>
              <p:cNvSpPr>
                <a:spLocks noChangeArrowheads="1"/>
              </p:cNvSpPr>
              <p:nvPr/>
            </p:nvSpPr>
            <p:spPr bwMode="auto">
              <a:xfrm>
                <a:off x="3951" y="3024"/>
                <a:ext cx="37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Q</a:t>
                </a:r>
                <a:endParaRPr lang="en-US" altLang="zh-CN">
                  <a:latin typeface="Times New Roman" panose="02020603050405020304" pitchFamily="18" charset="0"/>
                  <a:cs typeface="Times New Roman" panose="02020603050405020304" pitchFamily="18" charset="0"/>
                </a:endParaRPr>
              </a:p>
            </p:txBody>
          </p:sp>
        </p:grpSp>
        <p:sp>
          <p:nvSpPr>
            <p:cNvPr id="39" name="Rectangle 26"/>
            <p:cNvSpPr>
              <a:spLocks noChangeArrowheads="1"/>
            </p:cNvSpPr>
            <p:nvPr/>
          </p:nvSpPr>
          <p:spPr bwMode="auto">
            <a:xfrm>
              <a:off x="4335" y="3036"/>
              <a:ext cx="1083"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(by Gauss’ Law)</a:t>
              </a:r>
              <a:endParaRPr lang="en-US" altLang="zh-CN" dirty="0">
                <a:latin typeface="Times New Roman" panose="02020603050405020304" pitchFamily="18" charset="0"/>
                <a:cs typeface="Times New Roman" panose="02020603050405020304" pitchFamily="18" charset="0"/>
              </a:endParaRPr>
            </a:p>
          </p:txBody>
        </p:sp>
      </p:grpSp>
      <p:sp>
        <p:nvSpPr>
          <p:cNvPr id="36" name="Rectangle 28"/>
          <p:cNvSpPr>
            <a:spLocks noChangeArrowheads="1"/>
          </p:cNvSpPr>
          <p:nvPr/>
        </p:nvSpPr>
        <p:spPr bwMode="auto">
          <a:xfrm>
            <a:off x="726282" y="5954712"/>
            <a:ext cx="47593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where </a:t>
            </a:r>
            <a:r>
              <a:rPr lang="en-US" altLang="zh-CN" i="1" dirty="0">
                <a:solidFill>
                  <a:srgbClr val="C00000"/>
                </a:solidFill>
                <a:latin typeface="Times New Roman" panose="02020603050405020304" pitchFamily="18" charset="0"/>
                <a:cs typeface="Times New Roman" panose="02020603050405020304" pitchFamily="18" charset="0"/>
              </a:rPr>
              <a:t>Q </a:t>
            </a:r>
            <a:r>
              <a:rPr lang="en-US" altLang="zh-CN" dirty="0">
                <a:solidFill>
                  <a:srgbClr val="C00000"/>
                </a:solidFill>
                <a:latin typeface="Times New Roman" panose="02020603050405020304" pitchFamily="18" charset="0"/>
                <a:cs typeface="Times New Roman" panose="02020603050405020304" pitchFamily="18" charset="0"/>
              </a:rPr>
              <a:t>is the charge enclosed within volume </a:t>
            </a:r>
            <a:r>
              <a:rPr lang="en-US" altLang="zh-CN"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i="1" dirty="0">
                <a:solidFill>
                  <a:srgbClr val="C00000"/>
                </a:solidFill>
                <a:latin typeface="Times New Roman" panose="02020603050405020304" pitchFamily="18" charset="0"/>
                <a:cs typeface="Times New Roman" panose="02020603050405020304" pitchFamily="18" charset="0"/>
              </a:rPr>
              <a:t>v</a:t>
            </a:r>
            <a:endParaRPr lang="en-US" altLang="zh-CN" dirty="0">
              <a:solidFill>
                <a:srgbClr val="C00000"/>
              </a:solidFill>
              <a:latin typeface="Times New Roman" panose="02020603050405020304" pitchFamily="18" charset="0"/>
              <a:cs typeface="Times New Roman" panose="02020603050405020304" pitchFamily="18" charset="0"/>
            </a:endParaRPr>
          </a:p>
        </p:txBody>
      </p:sp>
      <p:sp>
        <p:nvSpPr>
          <p:cNvPr id="37" name="Rectangle 29"/>
          <p:cNvSpPr>
            <a:spLocks noChangeArrowheads="1"/>
          </p:cNvSpPr>
          <p:nvPr/>
        </p:nvSpPr>
        <p:spPr bwMode="auto">
          <a:xfrm>
            <a:off x="1153319" y="4724400"/>
            <a:ext cx="6400800" cy="1055688"/>
          </a:xfrm>
          <a:prstGeom prst="rect">
            <a:avLst/>
          </a:prstGeom>
          <a:noFill/>
          <a:ln w="9525">
            <a:solidFill>
              <a:srgbClr val="FF069E"/>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5"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22</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Divergence </a:t>
            </a:r>
            <a:r>
              <a:rPr lang="zh-CN" altLang="en-US" sz="2800"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散度</a:t>
            </a:r>
            <a:endParaRPr lang="zh-CN" altLang="en-US" sz="2800" b="1"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grpSp>
        <p:nvGrpSpPr>
          <p:cNvPr id="35" name="Group 27"/>
          <p:cNvGrpSpPr/>
          <p:nvPr/>
        </p:nvGrpSpPr>
        <p:grpSpPr bwMode="auto">
          <a:xfrm>
            <a:off x="1409700" y="1708304"/>
            <a:ext cx="6391275" cy="979488"/>
            <a:chOff x="1392" y="2928"/>
            <a:chExt cx="4026" cy="617"/>
          </a:xfrm>
        </p:grpSpPr>
        <p:grpSp>
          <p:nvGrpSpPr>
            <p:cNvPr id="38" name="Group 25"/>
            <p:cNvGrpSpPr/>
            <p:nvPr/>
          </p:nvGrpSpPr>
          <p:grpSpPr bwMode="auto">
            <a:xfrm>
              <a:off x="1392" y="2928"/>
              <a:ext cx="2935" cy="617"/>
              <a:chOff x="1392" y="2928"/>
              <a:chExt cx="2935" cy="617"/>
            </a:xfrm>
          </p:grpSpPr>
          <p:pic>
            <p:nvPicPr>
              <p:cNvPr id="40"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2" y="2928"/>
                <a:ext cx="2585" cy="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AutoShape 22"/>
              <p:cNvSpPr/>
              <p:nvPr/>
            </p:nvSpPr>
            <p:spPr bwMode="auto">
              <a:xfrm rot="16188391">
                <a:off x="3582" y="2976"/>
                <a:ext cx="96" cy="576"/>
              </a:xfrm>
              <a:prstGeom prst="lef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 name="Rectangle 23"/>
              <p:cNvSpPr>
                <a:spLocks noChangeArrowheads="1"/>
              </p:cNvSpPr>
              <p:nvPr/>
            </p:nvSpPr>
            <p:spPr bwMode="auto">
              <a:xfrm>
                <a:off x="3510" y="3312"/>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sym typeface="Symbol" panose="05050102010706020507" pitchFamily="1" charset="2"/>
                  </a:rPr>
                  <a:t></a:t>
                </a:r>
                <a:r>
                  <a:rPr lang="en-US" altLang="zh-CN" i="1">
                    <a:latin typeface="Times New Roman" panose="02020603050405020304" pitchFamily="18" charset="0"/>
                    <a:cs typeface="Times New Roman" panose="02020603050405020304" pitchFamily="18" charset="0"/>
                  </a:rPr>
                  <a:t>v</a:t>
                </a:r>
                <a:endParaRPr lang="en-US" altLang="zh-CN">
                  <a:latin typeface="Times New Roman" panose="02020603050405020304" pitchFamily="18" charset="0"/>
                  <a:cs typeface="Times New Roman" panose="02020603050405020304" pitchFamily="18" charset="0"/>
                  <a:sym typeface="Symbol" panose="05050102010706020507" pitchFamily="1" charset="2"/>
                </a:endParaRPr>
              </a:p>
            </p:txBody>
          </p:sp>
          <p:sp>
            <p:nvSpPr>
              <p:cNvPr id="44" name="Rectangle 24"/>
              <p:cNvSpPr>
                <a:spLocks noChangeArrowheads="1"/>
              </p:cNvSpPr>
              <p:nvPr/>
            </p:nvSpPr>
            <p:spPr bwMode="auto">
              <a:xfrm>
                <a:off x="3951" y="3024"/>
                <a:ext cx="37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Q</a:t>
                </a:r>
                <a:endParaRPr lang="en-US" altLang="zh-CN">
                  <a:latin typeface="Times New Roman" panose="02020603050405020304" pitchFamily="18" charset="0"/>
                  <a:cs typeface="Times New Roman" panose="02020603050405020304" pitchFamily="18" charset="0"/>
                </a:endParaRPr>
              </a:p>
            </p:txBody>
          </p:sp>
        </p:grpSp>
        <p:sp>
          <p:nvSpPr>
            <p:cNvPr id="39" name="Rectangle 26"/>
            <p:cNvSpPr>
              <a:spLocks noChangeArrowheads="1"/>
            </p:cNvSpPr>
            <p:nvPr/>
          </p:nvSpPr>
          <p:spPr bwMode="auto">
            <a:xfrm>
              <a:off x="4335" y="3036"/>
              <a:ext cx="1083"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(by Gauss’ Law)</a:t>
              </a:r>
              <a:endParaRPr lang="en-US" altLang="zh-CN" dirty="0">
                <a:latin typeface="Times New Roman" panose="02020603050405020304" pitchFamily="18" charset="0"/>
                <a:cs typeface="Times New Roman" panose="02020603050405020304" pitchFamily="18" charset="0"/>
              </a:endParaRPr>
            </a:p>
          </p:txBody>
        </p:sp>
      </p:grpSp>
      <p:sp>
        <p:nvSpPr>
          <p:cNvPr id="36" name="Rectangle 28"/>
          <p:cNvSpPr>
            <a:spLocks noChangeArrowheads="1"/>
          </p:cNvSpPr>
          <p:nvPr/>
        </p:nvSpPr>
        <p:spPr bwMode="auto">
          <a:xfrm>
            <a:off x="906463" y="2743200"/>
            <a:ext cx="4759325" cy="369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where </a:t>
            </a:r>
            <a:r>
              <a:rPr lang="en-US" altLang="zh-CN" i="1" dirty="0">
                <a:solidFill>
                  <a:srgbClr val="C00000"/>
                </a:solidFill>
                <a:latin typeface="Times New Roman" panose="02020603050405020304" pitchFamily="18" charset="0"/>
                <a:cs typeface="Times New Roman" panose="02020603050405020304" pitchFamily="18" charset="0"/>
              </a:rPr>
              <a:t>Q </a:t>
            </a:r>
            <a:r>
              <a:rPr lang="en-US" altLang="zh-CN" dirty="0">
                <a:solidFill>
                  <a:srgbClr val="C00000"/>
                </a:solidFill>
                <a:latin typeface="Times New Roman" panose="02020603050405020304" pitchFamily="18" charset="0"/>
                <a:cs typeface="Times New Roman" panose="02020603050405020304" pitchFamily="18" charset="0"/>
              </a:rPr>
              <a:t>is the charge enclosed within volume </a:t>
            </a:r>
            <a:r>
              <a:rPr lang="en-US" altLang="zh-CN" dirty="0">
                <a:solidFill>
                  <a:srgbClr val="C00000"/>
                </a:solidFill>
                <a:latin typeface="Times New Roman" panose="02020603050405020304" pitchFamily="18" charset="0"/>
                <a:cs typeface="Times New Roman" panose="02020603050405020304" pitchFamily="18" charset="0"/>
                <a:sym typeface="Symbol" panose="05050102010706020507" pitchFamily="1" charset="2"/>
              </a:rPr>
              <a:t></a:t>
            </a:r>
            <a:r>
              <a:rPr lang="en-US" altLang="zh-CN" i="1" dirty="0">
                <a:solidFill>
                  <a:srgbClr val="C00000"/>
                </a:solidFill>
                <a:latin typeface="Times New Roman" panose="02020603050405020304" pitchFamily="18" charset="0"/>
                <a:cs typeface="Times New Roman" panose="02020603050405020304" pitchFamily="18" charset="0"/>
              </a:rPr>
              <a:t>v</a:t>
            </a:r>
            <a:endParaRPr lang="en-US" altLang="zh-CN" dirty="0">
              <a:solidFill>
                <a:srgbClr val="C00000"/>
              </a:solidFill>
              <a:latin typeface="Times New Roman" panose="02020603050405020304" pitchFamily="18" charset="0"/>
              <a:cs typeface="Times New Roman" panose="02020603050405020304" pitchFamily="18" charset="0"/>
            </a:endParaRPr>
          </a:p>
        </p:txBody>
      </p:sp>
      <p:sp>
        <p:nvSpPr>
          <p:cNvPr id="37" name="Rectangle 29"/>
          <p:cNvSpPr>
            <a:spLocks noChangeArrowheads="1"/>
          </p:cNvSpPr>
          <p:nvPr/>
        </p:nvSpPr>
        <p:spPr bwMode="auto">
          <a:xfrm>
            <a:off x="1333500" y="1632104"/>
            <a:ext cx="6400800" cy="1055688"/>
          </a:xfrm>
          <a:prstGeom prst="rect">
            <a:avLst/>
          </a:prstGeom>
          <a:noFill/>
          <a:ln w="9525">
            <a:solidFill>
              <a:srgbClr val="FF069E"/>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pic>
        <p:nvPicPr>
          <p:cNvPr id="2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3240950"/>
            <a:ext cx="7907722" cy="6159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4" name="矩形 3"/>
          <p:cNvSpPr/>
          <p:nvPr/>
        </p:nvSpPr>
        <p:spPr>
          <a:xfrm>
            <a:off x="696104" y="4038600"/>
            <a:ext cx="7685896" cy="646331"/>
          </a:xfrm>
          <a:prstGeom prst="rect">
            <a:avLst/>
          </a:prstGeom>
        </p:spPr>
        <p:txBody>
          <a:bodyPr wrap="square">
            <a:spAutoFit/>
          </a:bodyPr>
          <a:lstStyle/>
          <a:p>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当闭合曲面所包围的体积趋近于</a:t>
            </a:r>
            <a:r>
              <a:rPr lang="en-US" altLang="zh-CN"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0</a:t>
            </a:r>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时，通量密度</a:t>
            </a:r>
            <a:r>
              <a:rPr lang="en-US" altLang="zh-CN" b="1"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A</a:t>
            </a:r>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的散度则表示从单位体积的表面穿出的通量。</a:t>
            </a:r>
            <a:endParaRPr lang="en-US" altLang="zh-CN"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pic>
        <p:nvPicPr>
          <p:cNvPr id="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3087" y="5181600"/>
            <a:ext cx="4927600" cy="101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Rectangle 4"/>
          <p:cNvSpPr>
            <a:spLocks noChangeArrowheads="1"/>
          </p:cNvSpPr>
          <p:nvPr/>
        </p:nvSpPr>
        <p:spPr bwMode="auto">
          <a:xfrm>
            <a:off x="696104" y="4724400"/>
            <a:ext cx="2343334"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Mathematically, this is:</a:t>
            </a: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23</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Maxwell’s first equation </a:t>
            </a:r>
            <a:r>
              <a:rPr lang="zh-CN" altLang="en-US" sz="2800" dirty="0">
                <a:solidFill>
                  <a:srgbClr val="C00000"/>
                </a:solidFill>
                <a:latin typeface="华文行楷" panose="02010800040101010101" pitchFamily="2" charset="-122"/>
                <a:ea typeface="华文行楷" panose="02010800040101010101" pitchFamily="2" charset="-122"/>
              </a:rPr>
              <a:t>麦克斯韦第一方程</a:t>
            </a:r>
            <a:endParaRPr lang="zh-CN" altLang="en-US" sz="2800" b="1"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grpSp>
        <p:nvGrpSpPr>
          <p:cNvPr id="35" name="Group 27"/>
          <p:cNvGrpSpPr/>
          <p:nvPr/>
        </p:nvGrpSpPr>
        <p:grpSpPr bwMode="auto">
          <a:xfrm>
            <a:off x="762000" y="1708304"/>
            <a:ext cx="6391275" cy="979488"/>
            <a:chOff x="1392" y="2928"/>
            <a:chExt cx="4026" cy="617"/>
          </a:xfrm>
        </p:grpSpPr>
        <p:grpSp>
          <p:nvGrpSpPr>
            <p:cNvPr id="38" name="Group 25"/>
            <p:cNvGrpSpPr/>
            <p:nvPr/>
          </p:nvGrpSpPr>
          <p:grpSpPr bwMode="auto">
            <a:xfrm>
              <a:off x="1392" y="2928"/>
              <a:ext cx="2935" cy="617"/>
              <a:chOff x="1392" y="2928"/>
              <a:chExt cx="2935" cy="617"/>
            </a:xfrm>
          </p:grpSpPr>
          <p:pic>
            <p:nvPicPr>
              <p:cNvPr id="40" name="Picture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2" y="2928"/>
                <a:ext cx="2585" cy="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AutoShape 22"/>
              <p:cNvSpPr/>
              <p:nvPr/>
            </p:nvSpPr>
            <p:spPr bwMode="auto">
              <a:xfrm rot="16188391">
                <a:off x="3582" y="2976"/>
                <a:ext cx="96" cy="576"/>
              </a:xfrm>
              <a:prstGeom prst="leftBrace">
                <a:avLst>
                  <a:gd name="adj1" fmla="val 50000"/>
                  <a:gd name="adj2" fmla="val 50000"/>
                </a:avLst>
              </a:prstGeom>
              <a:noFill/>
              <a:ln w="9525">
                <a:solidFill>
                  <a:schemeClr val="tx1"/>
                </a:solidFill>
                <a:roun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42" name="Rectangle 23"/>
              <p:cNvSpPr>
                <a:spLocks noChangeArrowheads="1"/>
              </p:cNvSpPr>
              <p:nvPr/>
            </p:nvSpPr>
            <p:spPr bwMode="auto">
              <a:xfrm>
                <a:off x="3510" y="3312"/>
                <a:ext cx="27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sym typeface="Symbol" panose="05050102010706020507" pitchFamily="1" charset="2"/>
                  </a:rPr>
                  <a:t></a:t>
                </a:r>
                <a:r>
                  <a:rPr lang="en-US" altLang="zh-CN" i="1">
                    <a:latin typeface="Times New Roman" panose="02020603050405020304" pitchFamily="18" charset="0"/>
                    <a:cs typeface="Times New Roman" panose="02020603050405020304" pitchFamily="18" charset="0"/>
                  </a:rPr>
                  <a:t>v</a:t>
                </a:r>
                <a:endParaRPr lang="en-US" altLang="zh-CN">
                  <a:latin typeface="Times New Roman" panose="02020603050405020304" pitchFamily="18" charset="0"/>
                  <a:cs typeface="Times New Roman" panose="02020603050405020304" pitchFamily="18" charset="0"/>
                  <a:sym typeface="Symbol" panose="05050102010706020507" pitchFamily="1" charset="2"/>
                </a:endParaRPr>
              </a:p>
            </p:txBody>
          </p:sp>
          <p:sp>
            <p:nvSpPr>
              <p:cNvPr id="44" name="Rectangle 24"/>
              <p:cNvSpPr>
                <a:spLocks noChangeArrowheads="1"/>
              </p:cNvSpPr>
              <p:nvPr/>
            </p:nvSpPr>
            <p:spPr bwMode="auto">
              <a:xfrm>
                <a:off x="3951" y="3024"/>
                <a:ext cx="37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Q</a:t>
                </a:r>
                <a:endParaRPr lang="en-US" altLang="zh-CN">
                  <a:latin typeface="Times New Roman" panose="02020603050405020304" pitchFamily="18" charset="0"/>
                  <a:cs typeface="Times New Roman" panose="02020603050405020304" pitchFamily="18" charset="0"/>
                </a:endParaRPr>
              </a:p>
            </p:txBody>
          </p:sp>
        </p:grpSp>
        <p:sp>
          <p:nvSpPr>
            <p:cNvPr id="39" name="Rectangle 26"/>
            <p:cNvSpPr>
              <a:spLocks noChangeArrowheads="1"/>
            </p:cNvSpPr>
            <p:nvPr/>
          </p:nvSpPr>
          <p:spPr bwMode="auto">
            <a:xfrm>
              <a:off x="4335" y="3036"/>
              <a:ext cx="1083"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(by Gauss’ Law)</a:t>
              </a:r>
              <a:endParaRPr lang="en-US" altLang="zh-CN" dirty="0">
                <a:latin typeface="Times New Roman" panose="02020603050405020304" pitchFamily="18" charset="0"/>
                <a:cs typeface="Times New Roman" panose="02020603050405020304" pitchFamily="18" charset="0"/>
              </a:endParaRPr>
            </a:p>
          </p:txBody>
        </p:sp>
      </p:grpSp>
      <p:sp>
        <p:nvSpPr>
          <p:cNvPr id="37" name="Rectangle 29"/>
          <p:cNvSpPr>
            <a:spLocks noChangeArrowheads="1"/>
          </p:cNvSpPr>
          <p:nvPr/>
        </p:nvSpPr>
        <p:spPr bwMode="auto">
          <a:xfrm>
            <a:off x="685800" y="1632104"/>
            <a:ext cx="6400800" cy="1055688"/>
          </a:xfrm>
          <a:prstGeom prst="rect">
            <a:avLst/>
          </a:prstGeom>
          <a:noFill/>
          <a:ln w="9525">
            <a:solidFill>
              <a:srgbClr val="FF069E"/>
            </a:solidFill>
            <a:miter lim="800000"/>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1205" y="2719388"/>
            <a:ext cx="4927600" cy="101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Rectangle 12"/>
          <p:cNvSpPr>
            <a:spLocks noChangeArrowheads="1"/>
          </p:cNvSpPr>
          <p:nvPr/>
        </p:nvSpPr>
        <p:spPr bwMode="auto">
          <a:xfrm>
            <a:off x="942264" y="3898504"/>
            <a:ext cx="5038559"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and when the vector field is the electric flux density:</a:t>
            </a:r>
            <a:endParaRPr lang="en-US" altLang="zh-CN" dirty="0">
              <a:latin typeface="Times New Roman" panose="02020603050405020304" pitchFamily="18" charset="0"/>
              <a:cs typeface="Times New Roman" panose="02020603050405020304" pitchFamily="18" charset="0"/>
            </a:endParaRPr>
          </a:p>
        </p:txBody>
      </p:sp>
      <p:grpSp>
        <p:nvGrpSpPr>
          <p:cNvPr id="21" name="Group 18"/>
          <p:cNvGrpSpPr/>
          <p:nvPr/>
        </p:nvGrpSpPr>
        <p:grpSpPr bwMode="auto">
          <a:xfrm>
            <a:off x="1634031" y="4530306"/>
            <a:ext cx="6861175" cy="1238250"/>
            <a:chOff x="960" y="3552"/>
            <a:chExt cx="4322" cy="780"/>
          </a:xfrm>
        </p:grpSpPr>
        <p:grpSp>
          <p:nvGrpSpPr>
            <p:cNvPr id="22" name="Group 15"/>
            <p:cNvGrpSpPr/>
            <p:nvPr/>
          </p:nvGrpSpPr>
          <p:grpSpPr bwMode="auto">
            <a:xfrm>
              <a:off x="960" y="3552"/>
              <a:ext cx="3713" cy="444"/>
              <a:chOff x="960" y="3552"/>
              <a:chExt cx="3713" cy="444"/>
            </a:xfrm>
          </p:grpSpPr>
          <p:pic>
            <p:nvPicPr>
              <p:cNvPr id="28" name="Picture 1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0" y="3552"/>
                <a:ext cx="3230" cy="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ectangle 13"/>
              <p:cNvSpPr>
                <a:spLocks noChangeArrowheads="1"/>
              </p:cNvSpPr>
              <p:nvPr/>
            </p:nvSpPr>
            <p:spPr bwMode="auto">
              <a:xfrm>
                <a:off x="4100" y="3676"/>
                <a:ext cx="573"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 div </a:t>
                </a:r>
                <a:r>
                  <a:rPr lang="en-US" altLang="zh-CN" b="1">
                    <a:latin typeface="Times New Roman" panose="02020603050405020304" pitchFamily="18" charset="0"/>
                    <a:cs typeface="Times New Roman" panose="02020603050405020304" pitchFamily="18" charset="0"/>
                  </a:rPr>
                  <a:t>D</a:t>
                </a:r>
                <a:endParaRPr lang="en-US" altLang="zh-CN">
                  <a:latin typeface="Times New Roman" panose="02020603050405020304" pitchFamily="18" charset="0"/>
                  <a:cs typeface="Times New Roman" panose="02020603050405020304" pitchFamily="18" charset="0"/>
                </a:endParaRPr>
              </a:p>
            </p:txBody>
          </p:sp>
          <p:sp>
            <p:nvSpPr>
              <p:cNvPr id="31" name="Line 14"/>
              <p:cNvSpPr>
                <a:spLocks noChangeShapeType="1"/>
              </p:cNvSpPr>
              <p:nvPr/>
            </p:nvSpPr>
            <p:spPr bwMode="auto">
              <a:xfrm>
                <a:off x="3984" y="3888"/>
                <a:ext cx="576" cy="0"/>
              </a:xfrm>
              <a:prstGeom prst="line">
                <a:avLst/>
              </a:prstGeom>
              <a:noFill/>
              <a:ln w="19050">
                <a:solidFill>
                  <a:srgbClr val="FF069E"/>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23" name="Rectangle 16"/>
            <p:cNvSpPr>
              <a:spLocks noChangeArrowheads="1"/>
            </p:cNvSpPr>
            <p:nvPr/>
          </p:nvSpPr>
          <p:spPr bwMode="auto">
            <a:xfrm>
              <a:off x="3744" y="4099"/>
              <a:ext cx="1538"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solidFill>
                    <a:srgbClr val="C00000"/>
                  </a:solidFill>
                  <a:latin typeface="Times New Roman" panose="02020603050405020304" pitchFamily="18" charset="0"/>
                  <a:cs typeface="Times New Roman" panose="02020603050405020304" pitchFamily="18" charset="0"/>
                </a:rPr>
                <a:t>Maxwell’s first equation</a:t>
              </a:r>
              <a:endParaRPr lang="en-US" altLang="zh-CN" dirty="0">
                <a:solidFill>
                  <a:srgbClr val="C00000"/>
                </a:solidFill>
                <a:latin typeface="Times New Roman" panose="02020603050405020304" pitchFamily="18" charset="0"/>
                <a:cs typeface="Times New Roman" panose="02020603050405020304" pitchFamily="18" charset="0"/>
              </a:endParaRPr>
            </a:p>
          </p:txBody>
        </p:sp>
        <p:sp>
          <p:nvSpPr>
            <p:cNvPr id="24" name="Line 17"/>
            <p:cNvSpPr>
              <a:spLocks noChangeShapeType="1"/>
            </p:cNvSpPr>
            <p:nvPr/>
          </p:nvSpPr>
          <p:spPr bwMode="auto">
            <a:xfrm flipV="1">
              <a:off x="4272" y="3915"/>
              <a:ext cx="0" cy="192"/>
            </a:xfrm>
            <a:prstGeom prst="line">
              <a:avLst/>
            </a:prstGeom>
            <a:noFill/>
            <a:ln w="9525">
              <a:solidFill>
                <a:schemeClr val="tx1"/>
              </a:solidFill>
              <a:round/>
              <a:tailEnd type="stealth" w="sm" len="lg"/>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32" name="矩形 31"/>
          <p:cNvSpPr/>
          <p:nvPr/>
        </p:nvSpPr>
        <p:spPr>
          <a:xfrm>
            <a:off x="311643" y="5906869"/>
            <a:ext cx="77724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Essentially, Maxwell’s first equation is the differential form of Gauss’s Law.</a:t>
            </a:r>
            <a:endParaRPr lang="en-US" altLang="zh-CN" dirty="0">
              <a:solidFill>
                <a:srgbClr val="C00000"/>
              </a:solidFill>
              <a:latin typeface="Times New Roman" panose="02020603050405020304" pitchFamily="18" charset="0"/>
              <a:cs typeface="Times New Roman" panose="02020603050405020304" pitchFamily="18" charset="0"/>
            </a:endParaRPr>
          </a:p>
          <a:p>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          本质上，麦克斯韦第一方程是高斯定律的一种微分表达形式。</a:t>
            </a:r>
            <a:endPar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5256056"/>
            <a:ext cx="1952624" cy="687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descr="C:\Users\dpcuser\Desktop\About Teaching\工程电磁场\Instructor Notes\Lecture 3\perfectmaxwell.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85084" y="1506096"/>
            <a:ext cx="1597918" cy="199350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890378" y="3505200"/>
            <a:ext cx="2286000" cy="646331"/>
          </a:xfrm>
          <a:prstGeom prst="rect">
            <a:avLst/>
          </a:prstGeom>
        </p:spPr>
        <p:txBody>
          <a:bodyPr wrap="square">
            <a:spAutoFit/>
          </a:bodyPr>
          <a:lstStyle/>
          <a:p>
            <a:pPr algn="ctr"/>
            <a:r>
              <a:rPr lang="en-US" altLang="zh-CN" dirty="0">
                <a:solidFill>
                  <a:srgbClr val="000099"/>
                </a:solidFill>
                <a:latin typeface="Times New Roman" panose="02020603050405020304" pitchFamily="18" charset="0"/>
                <a:cs typeface="Times New Roman" panose="02020603050405020304" pitchFamily="18" charset="0"/>
              </a:rPr>
              <a:t>James Clerk Maxwell</a:t>
            </a:r>
            <a:endParaRPr lang="en-US" altLang="zh-CN" dirty="0">
              <a:solidFill>
                <a:srgbClr val="000099"/>
              </a:solidFill>
              <a:latin typeface="Times New Roman" panose="02020603050405020304" pitchFamily="18" charset="0"/>
              <a:cs typeface="Times New Roman" panose="02020603050405020304" pitchFamily="18" charset="0"/>
            </a:endParaRPr>
          </a:p>
          <a:p>
            <a:pPr algn="ctr"/>
            <a:r>
              <a:rPr lang="en-US" altLang="zh-CN" dirty="0">
                <a:solidFill>
                  <a:srgbClr val="000099"/>
                </a:solidFill>
                <a:latin typeface="Times New Roman" panose="02020603050405020304" pitchFamily="18" charset="0"/>
                <a:cs typeface="Times New Roman" panose="02020603050405020304" pitchFamily="18" charset="0"/>
              </a:rPr>
              <a:t>(1831</a:t>
            </a:r>
            <a:r>
              <a:rPr lang="zh-CN" altLang="en-US" dirty="0">
                <a:solidFill>
                  <a:srgbClr val="000099"/>
                </a:solidFill>
                <a:latin typeface="Times New Roman" panose="02020603050405020304" pitchFamily="18" charset="0"/>
                <a:cs typeface="Times New Roman" panose="02020603050405020304" pitchFamily="18" charset="0"/>
              </a:rPr>
              <a:t>－</a:t>
            </a:r>
            <a:r>
              <a:rPr lang="en-US" altLang="zh-CN" dirty="0">
                <a:solidFill>
                  <a:srgbClr val="000099"/>
                </a:solidFill>
                <a:latin typeface="Times New Roman" panose="02020603050405020304" pitchFamily="18" charset="0"/>
                <a:cs typeface="Times New Roman" panose="02020603050405020304" pitchFamily="18" charset="0"/>
              </a:rPr>
              <a:t>1879)</a:t>
            </a:r>
            <a:endParaRPr lang="zh-CN" altLang="en-US" dirty="0">
              <a:solidFill>
                <a:srgbClr val="000099"/>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24</a:t>
            </a:r>
            <a:endParaRPr lang="zh-CN" altLang="en-US" dirty="0"/>
          </a:p>
        </p:txBody>
      </p:sp>
      <p:sp>
        <p:nvSpPr>
          <p:cNvPr id="5" name="矩形 4"/>
          <p:cNvSpPr/>
          <p:nvPr/>
        </p:nvSpPr>
        <p:spPr>
          <a:xfrm>
            <a:off x="381000" y="1143000"/>
            <a:ext cx="8686800" cy="954107"/>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Divergence Expressions in the Three Coordinate Systems </a:t>
            </a:r>
            <a:r>
              <a:rPr lang="zh-CN" altLang="en-US" sz="2800" dirty="0">
                <a:solidFill>
                  <a:srgbClr val="C00000"/>
                </a:solidFill>
                <a:latin typeface="华文行楷" panose="02010800040101010101" pitchFamily="2" charset="-122"/>
                <a:ea typeface="华文行楷" panose="02010800040101010101" pitchFamily="2" charset="-122"/>
              </a:rPr>
              <a:t>散度如何计算？在三种不同坐标系中的表达</a:t>
            </a:r>
            <a:endParaRPr lang="zh-CN" altLang="en-US" sz="2800" b="1"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2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0" y="2087616"/>
            <a:ext cx="4927600" cy="101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82762" y="3048000"/>
            <a:ext cx="55022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1143" y="4038600"/>
            <a:ext cx="6005513"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5800" y="5029200"/>
            <a:ext cx="7961313"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0026" y="2473961"/>
            <a:ext cx="24765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6646" y="2473960"/>
            <a:ext cx="24765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2279778"/>
            <a:ext cx="247650" cy="27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矩形 42"/>
          <p:cNvSpPr/>
          <p:nvPr/>
        </p:nvSpPr>
        <p:spPr>
          <a:xfrm>
            <a:off x="311643" y="6019800"/>
            <a:ext cx="77724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1) </a:t>
            </a:r>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只有通量密度才能定义散度，而通量密度一定是矢量</a:t>
            </a:r>
            <a:r>
              <a:rPr lang="zh-CN" altLang="en-US" dirty="0">
                <a:solidFill>
                  <a:srgbClr val="C00000"/>
                </a:solidFill>
                <a:latin typeface="Times New Roman" panose="02020603050405020304" pitchFamily="18" charset="0"/>
                <a:cs typeface="Times New Roman" panose="02020603050405020304" pitchFamily="18" charset="0"/>
              </a:rPr>
              <a:t>；</a:t>
            </a:r>
            <a:endParaRPr lang="en-US" altLang="zh-CN" dirty="0">
              <a:solidFill>
                <a:srgbClr val="C00000"/>
              </a:solidFill>
              <a:latin typeface="Times New Roman" panose="02020603050405020304" pitchFamily="18" charset="0"/>
              <a:cs typeface="Times New Roman" panose="02020603050405020304" pitchFamily="18" charset="0"/>
            </a:endParaRPr>
          </a:p>
          <a:p>
            <a:r>
              <a:rPr lang="en-US" altLang="zh-CN"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          2) </a:t>
            </a:r>
            <a:r>
              <a:rPr lang="zh-CN" altLang="en-US"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矢量的散度是标量。</a:t>
            </a:r>
            <a:endPar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25</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The Del Operator </a:t>
            </a:r>
            <a:r>
              <a:rPr lang="zh-CN" altLang="en-US" sz="2800" dirty="0">
                <a:solidFill>
                  <a:srgbClr val="C00000"/>
                </a:solidFill>
                <a:latin typeface="华文行楷" panose="02010800040101010101" pitchFamily="2" charset="-122"/>
                <a:ea typeface="华文行楷" panose="02010800040101010101" pitchFamily="2" charset="-122"/>
              </a:rPr>
              <a:t>矢量</a:t>
            </a:r>
            <a:r>
              <a:rPr lang="en-US" altLang="zh-CN" sz="2800"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Del</a:t>
            </a:r>
            <a:r>
              <a:rPr lang="zh-CN" altLang="en-US" sz="2800" dirty="0">
                <a:solidFill>
                  <a:srgbClr val="C00000"/>
                </a:solidFill>
                <a:latin typeface="华文行楷" panose="02010800040101010101" pitchFamily="2" charset="-122"/>
                <a:ea typeface="华文行楷" panose="02010800040101010101" pitchFamily="2" charset="-122"/>
              </a:rPr>
              <a:t>算子</a:t>
            </a:r>
            <a:endParaRPr lang="zh-CN" altLang="en-US" sz="2800" b="1"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1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3579813"/>
            <a:ext cx="6380163" cy="795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0" y="4527550"/>
            <a:ext cx="225742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 name="Rectangle 6"/>
          <p:cNvSpPr>
            <a:spLocks noChangeArrowheads="1"/>
          </p:cNvSpPr>
          <p:nvPr/>
        </p:nvSpPr>
        <p:spPr bwMode="auto">
          <a:xfrm>
            <a:off x="4551363" y="4683125"/>
            <a:ext cx="10255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dirty="0">
                <a:latin typeface="Times New Roman" panose="02020603050405020304" pitchFamily="18" charset="0"/>
                <a:cs typeface="Times New Roman" panose="02020603050405020304" pitchFamily="18" charset="0"/>
              </a:rPr>
              <a:t>=  div </a:t>
            </a:r>
            <a:r>
              <a:rPr lang="en-US" altLang="zh-CN" sz="2000" b="1" dirty="0">
                <a:latin typeface="Times New Roman" panose="02020603050405020304" pitchFamily="18" charset="0"/>
                <a:cs typeface="Times New Roman" panose="02020603050405020304" pitchFamily="18" charset="0"/>
              </a:rPr>
              <a:t>D</a:t>
            </a:r>
            <a:endParaRPr lang="en-US" altLang="zh-CN" sz="2000" dirty="0">
              <a:latin typeface="Times New Roman" panose="02020603050405020304" pitchFamily="18" charset="0"/>
              <a:cs typeface="Times New Roman" panose="02020603050405020304" pitchFamily="18" charset="0"/>
            </a:endParaRPr>
          </a:p>
        </p:txBody>
      </p:sp>
      <p:sp>
        <p:nvSpPr>
          <p:cNvPr id="19" name="Rectangle 7"/>
          <p:cNvSpPr>
            <a:spLocks noChangeArrowheads="1"/>
          </p:cNvSpPr>
          <p:nvPr/>
        </p:nvSpPr>
        <p:spPr bwMode="auto">
          <a:xfrm>
            <a:off x="2025650" y="4678363"/>
            <a:ext cx="327025"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sz="2000"/>
              <a:t>=</a:t>
            </a:r>
            <a:endParaRPr lang="en-US" altLang="zh-CN" sz="2000"/>
          </a:p>
        </p:txBody>
      </p:sp>
      <p:sp>
        <p:nvSpPr>
          <p:cNvPr id="20" name="Rectangle 8"/>
          <p:cNvSpPr>
            <a:spLocks noChangeArrowheads="1"/>
          </p:cNvSpPr>
          <p:nvPr/>
        </p:nvSpPr>
        <p:spPr bwMode="auto">
          <a:xfrm>
            <a:off x="773502" y="1816520"/>
            <a:ext cx="6383338" cy="369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The del operator is a </a:t>
            </a:r>
            <a:r>
              <a:rPr lang="en-US" altLang="zh-CN" i="1" dirty="0">
                <a:solidFill>
                  <a:srgbClr val="C00000"/>
                </a:solidFill>
                <a:latin typeface="Times New Roman" panose="02020603050405020304" pitchFamily="18" charset="0"/>
                <a:cs typeface="Times New Roman" panose="02020603050405020304" pitchFamily="18" charset="0"/>
              </a:rPr>
              <a:t>vector differential operator</a:t>
            </a:r>
            <a:r>
              <a:rPr lang="en-US" altLang="zh-CN" dirty="0">
                <a:latin typeface="Times New Roman" panose="02020603050405020304" pitchFamily="18" charset="0"/>
                <a:cs typeface="Times New Roman" panose="02020603050405020304" pitchFamily="18" charset="0"/>
              </a:rPr>
              <a:t>, and is defined as:</a:t>
            </a:r>
            <a:endParaRPr lang="en-US" altLang="zh-CN" dirty="0">
              <a:latin typeface="Times New Roman" panose="02020603050405020304" pitchFamily="18" charset="0"/>
              <a:cs typeface="Times New Roman" panose="02020603050405020304" pitchFamily="18" charset="0"/>
            </a:endParaRPr>
          </a:p>
        </p:txBody>
      </p:sp>
      <p:grpSp>
        <p:nvGrpSpPr>
          <p:cNvPr id="21" name="Group 10"/>
          <p:cNvGrpSpPr/>
          <p:nvPr/>
        </p:nvGrpSpPr>
        <p:grpSpPr bwMode="auto">
          <a:xfrm>
            <a:off x="2934493" y="2309813"/>
            <a:ext cx="3198813" cy="958850"/>
            <a:chOff x="1921" y="1455"/>
            <a:chExt cx="2015" cy="604"/>
          </a:xfrm>
        </p:grpSpPr>
        <p:pic>
          <p:nvPicPr>
            <p:cNvPr id="2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1" y="1488"/>
              <a:ext cx="2015" cy="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 name="Rectangle 9"/>
            <p:cNvSpPr>
              <a:spLocks noChangeArrowheads="1"/>
            </p:cNvSpPr>
            <p:nvPr/>
          </p:nvSpPr>
          <p:spPr bwMode="auto">
            <a:xfrm>
              <a:off x="2544" y="1455"/>
              <a:ext cx="192" cy="48"/>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a:p>
          </p:txBody>
        </p:sp>
      </p:grpSp>
      <p:sp>
        <p:nvSpPr>
          <p:cNvPr id="22" name="Rectangle 11"/>
          <p:cNvSpPr>
            <a:spLocks noChangeArrowheads="1"/>
          </p:cNvSpPr>
          <p:nvPr/>
        </p:nvSpPr>
        <p:spPr bwMode="auto">
          <a:xfrm>
            <a:off x="762000" y="3124200"/>
            <a:ext cx="1101584"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Note that:</a:t>
            </a:r>
            <a:endParaRPr lang="en-US" altLang="zh-CN" dirty="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891" y="5410201"/>
            <a:ext cx="4842015" cy="993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26</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Divergence Theorem </a:t>
            </a:r>
            <a:r>
              <a:rPr lang="zh-CN" altLang="en-US" sz="2800" dirty="0">
                <a:solidFill>
                  <a:srgbClr val="C00000"/>
                </a:solidFill>
                <a:latin typeface="华文行楷" panose="02010800040101010101" pitchFamily="2" charset="-122"/>
                <a:ea typeface="华文行楷" panose="02010800040101010101" pitchFamily="2" charset="-122"/>
              </a:rPr>
              <a:t>散度定理</a:t>
            </a:r>
            <a:endParaRPr lang="zh-CN" altLang="en-US" sz="2800" b="1"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grpSp>
        <p:nvGrpSpPr>
          <p:cNvPr id="25" name="Group 10"/>
          <p:cNvGrpSpPr/>
          <p:nvPr/>
        </p:nvGrpSpPr>
        <p:grpSpPr bwMode="auto">
          <a:xfrm>
            <a:off x="579557" y="1905000"/>
            <a:ext cx="8189913" cy="4343400"/>
            <a:chOff x="624" y="1432"/>
            <a:chExt cx="5159" cy="2736"/>
          </a:xfrm>
        </p:grpSpPr>
        <p:sp>
          <p:nvSpPr>
            <p:cNvPr id="27" name="Rectangle 3"/>
            <p:cNvSpPr>
              <a:spLocks noChangeArrowheads="1"/>
            </p:cNvSpPr>
            <p:nvPr/>
          </p:nvSpPr>
          <p:spPr bwMode="auto">
            <a:xfrm>
              <a:off x="624" y="1432"/>
              <a:ext cx="5159"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dirty="0">
                  <a:latin typeface="Times New Roman" panose="02020603050405020304" pitchFamily="18" charset="0"/>
                  <a:cs typeface="Times New Roman" panose="02020603050405020304" pitchFamily="18" charset="0"/>
                </a:rPr>
                <a:t>We now have Maxwell’s first equation (or the point form of Gauss’ Law) which states:</a:t>
              </a:r>
              <a:endParaRPr lang="en-US" altLang="zh-CN" dirty="0">
                <a:latin typeface="Times New Roman" panose="02020603050405020304" pitchFamily="18" charset="0"/>
                <a:cs typeface="Times New Roman" panose="02020603050405020304" pitchFamily="18" charset="0"/>
              </a:endParaRPr>
            </a:p>
          </p:txBody>
        </p:sp>
        <p:pic>
          <p:nvPicPr>
            <p:cNvPr id="2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8" y="1776"/>
              <a:ext cx="1532"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 name="Rectangle 5"/>
            <p:cNvSpPr>
              <a:spLocks noChangeArrowheads="1"/>
            </p:cNvSpPr>
            <p:nvPr/>
          </p:nvSpPr>
          <p:spPr bwMode="auto">
            <a:xfrm>
              <a:off x="624" y="2208"/>
              <a:ext cx="2626"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and Gauss’s Law in large-scale form reads:</a:t>
              </a:r>
              <a:endParaRPr lang="en-US" altLang="zh-CN">
                <a:latin typeface="Times New Roman" panose="02020603050405020304" pitchFamily="18" charset="0"/>
                <a:cs typeface="Times New Roman" panose="02020603050405020304" pitchFamily="18" charset="0"/>
              </a:endParaRPr>
            </a:p>
          </p:txBody>
        </p:sp>
        <p:pic>
          <p:nvPicPr>
            <p:cNvPr id="30"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4" y="2640"/>
              <a:ext cx="2862" cy="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1" name="Rectangle 7"/>
            <p:cNvSpPr>
              <a:spLocks noChangeArrowheads="1"/>
            </p:cNvSpPr>
            <p:nvPr/>
          </p:nvSpPr>
          <p:spPr bwMode="auto">
            <a:xfrm>
              <a:off x="724" y="3196"/>
              <a:ext cx="2211" cy="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altLang="zh-CN">
                  <a:latin typeface="Times New Roman" panose="02020603050405020304" pitchFamily="18" charset="0"/>
                  <a:cs typeface="Times New Roman" panose="02020603050405020304" pitchFamily="18" charset="0"/>
                </a:rPr>
                <a:t>leading to the Divergence Theorem:</a:t>
              </a:r>
              <a:endParaRPr lang="en-US" altLang="zh-CN">
                <a:latin typeface="Times New Roman" panose="02020603050405020304" pitchFamily="18" charset="0"/>
                <a:cs typeface="Times New Roman" panose="02020603050405020304" pitchFamily="18" charset="0"/>
              </a:endParaRPr>
            </a:p>
          </p:txBody>
        </p:sp>
        <p:pic>
          <p:nvPicPr>
            <p:cNvPr id="3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49" y="3546"/>
              <a:ext cx="1883" cy="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 name="Line 9"/>
            <p:cNvSpPr>
              <a:spLocks noChangeShapeType="1"/>
            </p:cNvSpPr>
            <p:nvPr/>
          </p:nvSpPr>
          <p:spPr bwMode="auto">
            <a:xfrm>
              <a:off x="1651" y="3448"/>
              <a:ext cx="1152" cy="0"/>
            </a:xfrm>
            <a:prstGeom prst="line">
              <a:avLst/>
            </a:prstGeom>
            <a:noFill/>
            <a:ln w="19050">
              <a:solidFill>
                <a:srgbClr val="C00000"/>
              </a:solidFill>
              <a:rou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27</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C00000"/>
                </a:solidFill>
                <a:latin typeface="Times New Roman" panose="02020603050405020304" pitchFamily="18" charset="0"/>
              </a:rPr>
              <a:t>Divergence Theorem </a:t>
            </a:r>
            <a:r>
              <a:rPr lang="zh-CN" altLang="en-US" sz="2800" dirty="0">
                <a:solidFill>
                  <a:srgbClr val="C00000"/>
                </a:solidFill>
                <a:latin typeface="华文行楷" panose="02010800040101010101" pitchFamily="2" charset="-122"/>
                <a:ea typeface="华文行楷" panose="02010800040101010101" pitchFamily="2" charset="-122"/>
              </a:rPr>
              <a:t>散度定理</a:t>
            </a:r>
            <a:endParaRPr lang="zh-CN" altLang="en-US" sz="2800" b="1"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3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4637" y="3662535"/>
            <a:ext cx="2989263"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矩形 2"/>
          <p:cNvSpPr/>
          <p:nvPr/>
        </p:nvSpPr>
        <p:spPr>
          <a:xfrm>
            <a:off x="609600" y="1666220"/>
            <a:ext cx="7848599" cy="1477328"/>
          </a:xfrm>
          <a:prstGeom prst="rect">
            <a:avLst/>
          </a:prstGeom>
          <a:ln>
            <a:solidFill>
              <a:srgbClr val="C00000"/>
            </a:solidFill>
          </a:ln>
        </p:spPr>
        <p:txBody>
          <a:bodyPr wrap="square">
            <a:spAutoFit/>
          </a:bodyPr>
          <a:lstStyle/>
          <a:p>
            <a:r>
              <a:rPr lang="en-US" altLang="zh-CN" i="1" dirty="0">
                <a:solidFill>
                  <a:srgbClr val="C00000"/>
                </a:solidFill>
                <a:latin typeface="Times New Roman" panose="02020603050405020304" pitchFamily="18" charset="0"/>
                <a:cs typeface="Times New Roman" panose="02020603050405020304" pitchFamily="18" charset="0"/>
              </a:rPr>
              <a:t>The integral of the normal component of any vector field over a closed surface is equal to the integral of the divergence of this vector field throughout the volume enclosed by the closed surface.</a:t>
            </a:r>
            <a:endParaRPr lang="en-US" altLang="zh-CN" i="1" dirty="0">
              <a:solidFill>
                <a:srgbClr val="C00000"/>
              </a:solidFill>
              <a:latin typeface="Times New Roman" panose="02020603050405020304" pitchFamily="18" charset="0"/>
              <a:cs typeface="Times New Roman" panose="02020603050405020304" pitchFamily="18" charset="0"/>
            </a:endParaRPr>
          </a:p>
          <a:p>
            <a:r>
              <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rPr>
              <a:t>任意矢量场的法向分量在闭合面上的面积分等于它的散度在闭合面所包围的体积内的体积分。</a:t>
            </a:r>
            <a:endPar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16" name="矩形 15"/>
          <p:cNvSpPr/>
          <p:nvPr/>
        </p:nvSpPr>
        <p:spPr>
          <a:xfrm>
            <a:off x="762000" y="5257800"/>
            <a:ext cx="6477000" cy="646331"/>
          </a:xfrm>
          <a:prstGeom prst="rect">
            <a:avLst/>
          </a:prstGeom>
        </p:spPr>
        <p:txBody>
          <a:bodyPr wrap="square">
            <a:spAutoFit/>
          </a:bodyPr>
          <a:lstStyle/>
          <a:p>
            <a:r>
              <a:rPr lang="en-US" altLang="zh-CN" dirty="0">
                <a:solidFill>
                  <a:srgbClr val="C00000"/>
                </a:solidFill>
                <a:latin typeface="Times New Roman" panose="02020603050405020304" pitchFamily="18" charset="0"/>
                <a:cs typeface="Times New Roman" panose="02020603050405020304" pitchFamily="18" charset="0"/>
              </a:rPr>
              <a:t>Note: Divergence Theorem is applicable to any vector field.</a:t>
            </a:r>
            <a:endParaRPr lang="en-US" altLang="zh-CN"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a:p>
            <a:r>
              <a:rPr lang="en-US" altLang="zh-CN"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          </a:t>
            </a:r>
            <a:r>
              <a:rPr lang="zh-CN" altLang="en-US" dirty="0">
                <a:solidFill>
                  <a:srgbClr val="C00000"/>
                </a:solidFill>
                <a:latin typeface="Times New Roman" panose="02020603050405020304" pitchFamily="18" charset="0"/>
                <a:ea typeface="华文行楷" panose="02010800040101010101" pitchFamily="2" charset="-122"/>
                <a:cs typeface="Times New Roman" panose="02020603050405020304" pitchFamily="18" charset="0"/>
              </a:rPr>
              <a:t>散度定理适用于任意矢量场。</a:t>
            </a:r>
            <a:endParaRPr lang="zh-CN" altLang="en-US" dirty="0">
              <a:solidFill>
                <a:srgbClr val="C00000"/>
              </a:solidFill>
              <a:latin typeface="华文行楷" panose="02010800040101010101" pitchFamily="2" charset="-122"/>
              <a:ea typeface="华文行楷" panose="02010800040101010101" pitchFamily="2" charset="-122"/>
              <a:cs typeface="Times New Roman" panose="02020603050405020304" pitchFamily="18" charset="0"/>
            </a:endParaRPr>
          </a:p>
        </p:txBody>
      </p:sp>
      <p:pic>
        <p:nvPicPr>
          <p:cNvPr id="17" name="Picture 11" descr="Chapter 3 Fig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9174" y="3267480"/>
            <a:ext cx="3456984" cy="17775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28</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zh-CN" altLang="en-US" sz="2800" b="1" dirty="0">
              <a:solidFill>
                <a:srgbClr val="000099"/>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3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522643"/>
            <a:ext cx="2989263"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1666220"/>
            <a:ext cx="8001000" cy="85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4" name="组合 33"/>
          <p:cNvGrpSpPr/>
          <p:nvPr/>
        </p:nvGrpSpPr>
        <p:grpSpPr>
          <a:xfrm>
            <a:off x="6815239" y="2209801"/>
            <a:ext cx="2342540" cy="2590799"/>
            <a:chOff x="6815239" y="2209801"/>
            <a:chExt cx="2342540" cy="2590799"/>
          </a:xfrm>
        </p:grpSpPr>
        <p:sp>
          <p:nvSpPr>
            <p:cNvPr id="9" name="矩形 8"/>
            <p:cNvSpPr/>
            <p:nvPr/>
          </p:nvSpPr>
          <p:spPr>
            <a:xfrm>
              <a:off x="6875542" y="4492823"/>
              <a:ext cx="264816" cy="307777"/>
            </a:xfrm>
            <a:prstGeom prst="rect">
              <a:avLst/>
            </a:prstGeom>
          </p:spPr>
          <p:txBody>
            <a:bodyPr wrap="none">
              <a:spAutoFit/>
            </a:bodyPr>
            <a:lstStyle/>
            <a:p>
              <a:r>
                <a:rPr lang="en-US" altLang="zh-CN" sz="1400" i="1" dirty="0">
                  <a:solidFill>
                    <a:srgbClr val="000099"/>
                  </a:solidFill>
                  <a:latin typeface="Times New Roman" panose="02020603050405020304" pitchFamily="18" charset="0"/>
                </a:rPr>
                <a:t>x</a:t>
              </a:r>
              <a:endParaRPr lang="zh-CN" altLang="en-US" sz="1400" i="1" dirty="0">
                <a:solidFill>
                  <a:srgbClr val="000099"/>
                </a:solidFill>
              </a:endParaRPr>
            </a:p>
          </p:txBody>
        </p:sp>
        <p:grpSp>
          <p:nvGrpSpPr>
            <p:cNvPr id="31" name="组合 30"/>
            <p:cNvGrpSpPr/>
            <p:nvPr/>
          </p:nvGrpSpPr>
          <p:grpSpPr>
            <a:xfrm>
              <a:off x="6815239" y="2209801"/>
              <a:ext cx="2342540" cy="2514600"/>
              <a:chOff x="5334000" y="2575774"/>
              <a:chExt cx="3694047" cy="3444026"/>
            </a:xfrm>
          </p:grpSpPr>
          <p:cxnSp>
            <p:nvCxnSpPr>
              <p:cNvPr id="6" name="直接箭头连接符 5"/>
              <p:cNvCxnSpPr/>
              <p:nvPr/>
            </p:nvCxnSpPr>
            <p:spPr>
              <a:xfrm>
                <a:off x="6248400" y="4971691"/>
                <a:ext cx="2362200" cy="0"/>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6248400" y="2634734"/>
                <a:ext cx="0" cy="2336957"/>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5334000" y="4971691"/>
                <a:ext cx="914400" cy="1048109"/>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628141" y="4787025"/>
                <a:ext cx="399906"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y</a:t>
                </a:r>
                <a:endParaRPr lang="zh-CN" altLang="en-US" sz="1200" i="1" dirty="0">
                  <a:solidFill>
                    <a:srgbClr val="000099"/>
                  </a:solidFill>
                </a:endParaRPr>
              </a:p>
            </p:txBody>
          </p:sp>
          <p:sp>
            <p:nvSpPr>
              <p:cNvPr id="20" name="矩形 19"/>
              <p:cNvSpPr/>
              <p:nvPr/>
            </p:nvSpPr>
            <p:spPr>
              <a:xfrm>
                <a:off x="5882083" y="2575774"/>
                <a:ext cx="384739"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z</a:t>
                </a:r>
                <a:endParaRPr lang="zh-CN" altLang="en-US" sz="1200" i="1" dirty="0">
                  <a:solidFill>
                    <a:srgbClr val="000099"/>
                  </a:solidFill>
                </a:endParaRPr>
              </a:p>
            </p:txBody>
          </p:sp>
          <p:cxnSp>
            <p:nvCxnSpPr>
              <p:cNvPr id="11" name="直接连接符 10"/>
              <p:cNvCxnSpPr/>
              <p:nvPr/>
            </p:nvCxnSpPr>
            <p:spPr>
              <a:xfrm>
                <a:off x="5943600" y="53340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521594" y="510628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1</a:t>
                </a:r>
                <a:endParaRPr lang="zh-CN" altLang="en-US" sz="1200" dirty="0">
                  <a:solidFill>
                    <a:srgbClr val="C00000"/>
                  </a:solidFill>
                </a:endParaRPr>
              </a:p>
            </p:txBody>
          </p:sp>
          <p:sp>
            <p:nvSpPr>
              <p:cNvPr id="24" name="矩形 23"/>
              <p:cNvSpPr/>
              <p:nvPr/>
            </p:nvSpPr>
            <p:spPr>
              <a:xfrm>
                <a:off x="5882083" y="4724400"/>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0</a:t>
                </a:r>
                <a:endParaRPr lang="zh-CN" altLang="en-US" sz="1200" dirty="0">
                  <a:solidFill>
                    <a:srgbClr val="C00000"/>
                  </a:solidFill>
                </a:endParaRPr>
              </a:p>
            </p:txBody>
          </p:sp>
          <p:cxnSp>
            <p:nvCxnSpPr>
              <p:cNvPr id="25" name="直接连接符 24"/>
              <p:cNvCxnSpPr/>
              <p:nvPr/>
            </p:nvCxnSpPr>
            <p:spPr>
              <a:xfrm flipH="1">
                <a:off x="7315200" y="4989704"/>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7595674" y="4620372"/>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2</a:t>
                </a:r>
                <a:endParaRPr lang="zh-CN" altLang="en-US" sz="1200" dirty="0">
                  <a:solidFill>
                    <a:srgbClr val="C00000"/>
                  </a:solidFill>
                </a:endParaRPr>
              </a:p>
            </p:txBody>
          </p:sp>
          <p:cxnSp>
            <p:nvCxnSpPr>
              <p:cNvPr id="30" name="直接连接符 29"/>
              <p:cNvCxnSpPr/>
              <p:nvPr/>
            </p:nvCxnSpPr>
            <p:spPr>
              <a:xfrm flipH="1" flipV="1">
                <a:off x="7595672" y="3124200"/>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218034" y="31242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6276238" y="281587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3</a:t>
                </a:r>
                <a:endParaRPr lang="zh-CN" altLang="en-US" sz="1200" dirty="0">
                  <a:solidFill>
                    <a:srgbClr val="C00000"/>
                  </a:solidFill>
                </a:endParaRPr>
              </a:p>
            </p:txBody>
          </p:sp>
          <p:cxnSp>
            <p:nvCxnSpPr>
              <p:cNvPr id="37" name="直接连接符 36"/>
              <p:cNvCxnSpPr/>
              <p:nvPr/>
            </p:nvCxnSpPr>
            <p:spPr>
              <a:xfrm flipH="1">
                <a:off x="5930776" y="3124200"/>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5943598" y="348650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930776" y="3484189"/>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7309449" y="3142213"/>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7317268" y="348418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449" y="3923203"/>
            <a:ext cx="6290351" cy="2314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29</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zh-CN" altLang="en-US" sz="2800" b="1" dirty="0">
              <a:solidFill>
                <a:srgbClr val="000099"/>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666220"/>
            <a:ext cx="8001000" cy="85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4" name="组合 33"/>
          <p:cNvGrpSpPr/>
          <p:nvPr/>
        </p:nvGrpSpPr>
        <p:grpSpPr>
          <a:xfrm>
            <a:off x="6815239" y="2209801"/>
            <a:ext cx="2342540" cy="2590799"/>
            <a:chOff x="6815239" y="2209801"/>
            <a:chExt cx="2342540" cy="2590799"/>
          </a:xfrm>
        </p:grpSpPr>
        <p:sp>
          <p:nvSpPr>
            <p:cNvPr id="9" name="矩形 8"/>
            <p:cNvSpPr/>
            <p:nvPr/>
          </p:nvSpPr>
          <p:spPr>
            <a:xfrm>
              <a:off x="6875542" y="4492823"/>
              <a:ext cx="264816" cy="307777"/>
            </a:xfrm>
            <a:prstGeom prst="rect">
              <a:avLst/>
            </a:prstGeom>
          </p:spPr>
          <p:txBody>
            <a:bodyPr wrap="none">
              <a:spAutoFit/>
            </a:bodyPr>
            <a:lstStyle/>
            <a:p>
              <a:r>
                <a:rPr lang="en-US" altLang="zh-CN" sz="1400" i="1" dirty="0">
                  <a:solidFill>
                    <a:srgbClr val="000099"/>
                  </a:solidFill>
                  <a:latin typeface="Times New Roman" panose="02020603050405020304" pitchFamily="18" charset="0"/>
                </a:rPr>
                <a:t>x</a:t>
              </a:r>
              <a:endParaRPr lang="zh-CN" altLang="en-US" sz="1400" i="1" dirty="0">
                <a:solidFill>
                  <a:srgbClr val="000099"/>
                </a:solidFill>
              </a:endParaRPr>
            </a:p>
          </p:txBody>
        </p:sp>
        <p:grpSp>
          <p:nvGrpSpPr>
            <p:cNvPr id="31" name="组合 30"/>
            <p:cNvGrpSpPr/>
            <p:nvPr/>
          </p:nvGrpSpPr>
          <p:grpSpPr>
            <a:xfrm>
              <a:off x="6815239" y="2209801"/>
              <a:ext cx="2342540" cy="2514600"/>
              <a:chOff x="5334000" y="2575774"/>
              <a:chExt cx="3694047" cy="3444026"/>
            </a:xfrm>
          </p:grpSpPr>
          <p:cxnSp>
            <p:nvCxnSpPr>
              <p:cNvPr id="6" name="直接箭头连接符 5"/>
              <p:cNvCxnSpPr/>
              <p:nvPr/>
            </p:nvCxnSpPr>
            <p:spPr>
              <a:xfrm>
                <a:off x="6248400" y="4971691"/>
                <a:ext cx="2362200" cy="0"/>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6248400" y="2634734"/>
                <a:ext cx="0" cy="2336957"/>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5334000" y="4971691"/>
                <a:ext cx="914400" cy="1048109"/>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628141" y="4787025"/>
                <a:ext cx="399906"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y</a:t>
                </a:r>
                <a:endParaRPr lang="zh-CN" altLang="en-US" sz="1200" i="1" dirty="0">
                  <a:solidFill>
                    <a:srgbClr val="000099"/>
                  </a:solidFill>
                </a:endParaRPr>
              </a:p>
            </p:txBody>
          </p:sp>
          <p:sp>
            <p:nvSpPr>
              <p:cNvPr id="20" name="矩形 19"/>
              <p:cNvSpPr/>
              <p:nvPr/>
            </p:nvSpPr>
            <p:spPr>
              <a:xfrm>
                <a:off x="5882083" y="2575774"/>
                <a:ext cx="384739"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z</a:t>
                </a:r>
                <a:endParaRPr lang="zh-CN" altLang="en-US" sz="1200" i="1" dirty="0">
                  <a:solidFill>
                    <a:srgbClr val="000099"/>
                  </a:solidFill>
                </a:endParaRPr>
              </a:p>
            </p:txBody>
          </p:sp>
          <p:cxnSp>
            <p:nvCxnSpPr>
              <p:cNvPr id="11" name="直接连接符 10"/>
              <p:cNvCxnSpPr/>
              <p:nvPr/>
            </p:nvCxnSpPr>
            <p:spPr>
              <a:xfrm>
                <a:off x="5943600" y="53340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521594" y="510628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1</a:t>
                </a:r>
                <a:endParaRPr lang="zh-CN" altLang="en-US" sz="1200" dirty="0">
                  <a:solidFill>
                    <a:srgbClr val="C00000"/>
                  </a:solidFill>
                </a:endParaRPr>
              </a:p>
            </p:txBody>
          </p:sp>
          <p:sp>
            <p:nvSpPr>
              <p:cNvPr id="24" name="矩形 23"/>
              <p:cNvSpPr/>
              <p:nvPr/>
            </p:nvSpPr>
            <p:spPr>
              <a:xfrm>
                <a:off x="5882083" y="4724400"/>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0</a:t>
                </a:r>
                <a:endParaRPr lang="zh-CN" altLang="en-US" sz="1200" dirty="0">
                  <a:solidFill>
                    <a:srgbClr val="C00000"/>
                  </a:solidFill>
                </a:endParaRPr>
              </a:p>
            </p:txBody>
          </p:sp>
          <p:cxnSp>
            <p:nvCxnSpPr>
              <p:cNvPr id="25" name="直接连接符 24"/>
              <p:cNvCxnSpPr/>
              <p:nvPr/>
            </p:nvCxnSpPr>
            <p:spPr>
              <a:xfrm flipH="1">
                <a:off x="7315200" y="4989704"/>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7595674" y="4620372"/>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2</a:t>
                </a:r>
                <a:endParaRPr lang="zh-CN" altLang="en-US" sz="1200" dirty="0">
                  <a:solidFill>
                    <a:srgbClr val="C00000"/>
                  </a:solidFill>
                </a:endParaRPr>
              </a:p>
            </p:txBody>
          </p:sp>
          <p:cxnSp>
            <p:nvCxnSpPr>
              <p:cNvPr id="30" name="直接连接符 29"/>
              <p:cNvCxnSpPr/>
              <p:nvPr/>
            </p:nvCxnSpPr>
            <p:spPr>
              <a:xfrm flipH="1" flipV="1">
                <a:off x="7595672" y="3124200"/>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218034" y="31242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6276238" y="281587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3</a:t>
                </a:r>
                <a:endParaRPr lang="zh-CN" altLang="en-US" sz="1200" dirty="0">
                  <a:solidFill>
                    <a:srgbClr val="C00000"/>
                  </a:solidFill>
                </a:endParaRPr>
              </a:p>
            </p:txBody>
          </p:sp>
          <p:cxnSp>
            <p:nvCxnSpPr>
              <p:cNvPr id="37" name="直接连接符 36"/>
              <p:cNvCxnSpPr/>
              <p:nvPr/>
            </p:nvCxnSpPr>
            <p:spPr>
              <a:xfrm flipH="1">
                <a:off x="5930776" y="3124200"/>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5943598" y="348650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930776" y="3484189"/>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7309449" y="3142213"/>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7317268" y="348418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664" y="3856945"/>
            <a:ext cx="5624824" cy="2752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217" y="2523606"/>
            <a:ext cx="5820013" cy="1272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4488" y="4953000"/>
            <a:ext cx="2768192"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8228" y="2743200"/>
            <a:ext cx="6553200" cy="279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30</a:t>
            </a:r>
            <a:endParaRPr lang="zh-CN" altLang="en-US" dirty="0"/>
          </a:p>
        </p:txBody>
      </p:sp>
      <p:sp>
        <p:nvSpPr>
          <p:cNvPr id="5" name="矩形 4"/>
          <p:cNvSpPr/>
          <p:nvPr/>
        </p:nvSpPr>
        <p:spPr>
          <a:xfrm>
            <a:off x="381000" y="1143000"/>
            <a:ext cx="8686800" cy="523220"/>
          </a:xfrm>
          <a:prstGeom prst="rect">
            <a:avLst/>
          </a:prstGeom>
        </p:spPr>
        <p:txBody>
          <a:bodyPr wrap="square">
            <a:spAutoFit/>
          </a:bodyPr>
          <a:lstStyle/>
          <a:p>
            <a:pPr marL="342900" indent="-342900">
              <a:spcBef>
                <a:spcPct val="20000"/>
              </a:spcBef>
              <a:buChar char="•"/>
              <a:defRPr/>
            </a:pPr>
            <a:r>
              <a:rPr lang="en-US" altLang="zh-CN" sz="2800" dirty="0">
                <a:solidFill>
                  <a:srgbClr val="000099"/>
                </a:solidFill>
                <a:latin typeface="Times New Roman" panose="02020603050405020304" pitchFamily="18" charset="0"/>
              </a:rPr>
              <a:t>Example:</a:t>
            </a:r>
            <a:endParaRPr lang="zh-CN" altLang="en-US" sz="2800" b="1" dirty="0">
              <a:solidFill>
                <a:srgbClr val="000099"/>
              </a:solidFill>
              <a:latin typeface="华文行楷" panose="02010800040101010101" pitchFamily="2" charset="-122"/>
              <a:ea typeface="华文行楷" panose="02010800040101010101" pitchFamily="2" charset="-122"/>
              <a:cs typeface="Times New Roman" panose="02020603050405020304" pitchFamily="18" charset="0"/>
            </a:endParaRPr>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7: Divergence, Maxwell’s First Equation</a:t>
            </a:r>
            <a:b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br>
            <a:r>
              <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散度、麦克斯韦第一方程</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 y="1666220"/>
            <a:ext cx="8001000" cy="8564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4" name="组合 33"/>
          <p:cNvGrpSpPr/>
          <p:nvPr/>
        </p:nvGrpSpPr>
        <p:grpSpPr>
          <a:xfrm>
            <a:off x="6815239" y="2209801"/>
            <a:ext cx="2342540" cy="2590799"/>
            <a:chOff x="6815239" y="2209801"/>
            <a:chExt cx="2342540" cy="2590799"/>
          </a:xfrm>
        </p:grpSpPr>
        <p:sp>
          <p:nvSpPr>
            <p:cNvPr id="9" name="矩形 8"/>
            <p:cNvSpPr/>
            <p:nvPr/>
          </p:nvSpPr>
          <p:spPr>
            <a:xfrm>
              <a:off x="6875542" y="4492823"/>
              <a:ext cx="264816" cy="307777"/>
            </a:xfrm>
            <a:prstGeom prst="rect">
              <a:avLst/>
            </a:prstGeom>
          </p:spPr>
          <p:txBody>
            <a:bodyPr wrap="none">
              <a:spAutoFit/>
            </a:bodyPr>
            <a:lstStyle/>
            <a:p>
              <a:r>
                <a:rPr lang="en-US" altLang="zh-CN" sz="1400" i="1" dirty="0">
                  <a:solidFill>
                    <a:srgbClr val="000099"/>
                  </a:solidFill>
                  <a:latin typeface="Times New Roman" panose="02020603050405020304" pitchFamily="18" charset="0"/>
                </a:rPr>
                <a:t>x</a:t>
              </a:r>
              <a:endParaRPr lang="zh-CN" altLang="en-US" sz="1400" i="1" dirty="0">
                <a:solidFill>
                  <a:srgbClr val="000099"/>
                </a:solidFill>
              </a:endParaRPr>
            </a:p>
          </p:txBody>
        </p:sp>
        <p:grpSp>
          <p:nvGrpSpPr>
            <p:cNvPr id="31" name="组合 30"/>
            <p:cNvGrpSpPr/>
            <p:nvPr/>
          </p:nvGrpSpPr>
          <p:grpSpPr>
            <a:xfrm>
              <a:off x="6815239" y="2209801"/>
              <a:ext cx="2342540" cy="2514600"/>
              <a:chOff x="5334000" y="2575774"/>
              <a:chExt cx="3694047" cy="3444026"/>
            </a:xfrm>
          </p:grpSpPr>
          <p:cxnSp>
            <p:nvCxnSpPr>
              <p:cNvPr id="6" name="直接箭头连接符 5"/>
              <p:cNvCxnSpPr/>
              <p:nvPr/>
            </p:nvCxnSpPr>
            <p:spPr>
              <a:xfrm>
                <a:off x="6248400" y="4971691"/>
                <a:ext cx="2362200" cy="0"/>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6248400" y="2634734"/>
                <a:ext cx="0" cy="2336957"/>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5334000" y="4971691"/>
                <a:ext cx="914400" cy="1048109"/>
              </a:xfrm>
              <a:prstGeom prst="straightConnector1">
                <a:avLst/>
              </a:prstGeom>
              <a:ln w="19050">
                <a:solidFill>
                  <a:srgbClr val="000099"/>
                </a:solidFill>
                <a:tailEnd type="arrow"/>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628141" y="4787025"/>
                <a:ext cx="399906"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y</a:t>
                </a:r>
                <a:endParaRPr lang="zh-CN" altLang="en-US" sz="1200" i="1" dirty="0">
                  <a:solidFill>
                    <a:srgbClr val="000099"/>
                  </a:solidFill>
                </a:endParaRPr>
              </a:p>
            </p:txBody>
          </p:sp>
          <p:sp>
            <p:nvSpPr>
              <p:cNvPr id="20" name="矩形 19"/>
              <p:cNvSpPr/>
              <p:nvPr/>
            </p:nvSpPr>
            <p:spPr>
              <a:xfrm>
                <a:off x="5882083" y="2575774"/>
                <a:ext cx="384739" cy="379381"/>
              </a:xfrm>
              <a:prstGeom prst="rect">
                <a:avLst/>
              </a:prstGeom>
            </p:spPr>
            <p:txBody>
              <a:bodyPr wrap="none">
                <a:spAutoFit/>
              </a:bodyPr>
              <a:lstStyle/>
              <a:p>
                <a:r>
                  <a:rPr lang="en-US" altLang="zh-CN" sz="1200" i="1" dirty="0">
                    <a:solidFill>
                      <a:srgbClr val="000099"/>
                    </a:solidFill>
                    <a:latin typeface="Times New Roman" panose="02020603050405020304" pitchFamily="18" charset="0"/>
                  </a:rPr>
                  <a:t>z</a:t>
                </a:r>
                <a:endParaRPr lang="zh-CN" altLang="en-US" sz="1200" i="1" dirty="0">
                  <a:solidFill>
                    <a:srgbClr val="000099"/>
                  </a:solidFill>
                </a:endParaRPr>
              </a:p>
            </p:txBody>
          </p:sp>
          <p:cxnSp>
            <p:nvCxnSpPr>
              <p:cNvPr id="11" name="直接连接符 10"/>
              <p:cNvCxnSpPr/>
              <p:nvPr/>
            </p:nvCxnSpPr>
            <p:spPr>
              <a:xfrm>
                <a:off x="5943600" y="53340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5521594" y="510628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1</a:t>
                </a:r>
                <a:endParaRPr lang="zh-CN" altLang="en-US" sz="1200" dirty="0">
                  <a:solidFill>
                    <a:srgbClr val="C00000"/>
                  </a:solidFill>
                </a:endParaRPr>
              </a:p>
            </p:txBody>
          </p:sp>
          <p:sp>
            <p:nvSpPr>
              <p:cNvPr id="24" name="矩形 23"/>
              <p:cNvSpPr/>
              <p:nvPr/>
            </p:nvSpPr>
            <p:spPr>
              <a:xfrm>
                <a:off x="5882083" y="4724400"/>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0</a:t>
                </a:r>
                <a:endParaRPr lang="zh-CN" altLang="en-US" sz="1200" dirty="0">
                  <a:solidFill>
                    <a:srgbClr val="C00000"/>
                  </a:solidFill>
                </a:endParaRPr>
              </a:p>
            </p:txBody>
          </p:sp>
          <p:cxnSp>
            <p:nvCxnSpPr>
              <p:cNvPr id="25" name="直接连接符 24"/>
              <p:cNvCxnSpPr/>
              <p:nvPr/>
            </p:nvCxnSpPr>
            <p:spPr>
              <a:xfrm flipH="1">
                <a:off x="7315200" y="4989704"/>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7595674" y="4620372"/>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2</a:t>
                </a:r>
                <a:endParaRPr lang="zh-CN" altLang="en-US" sz="1200" dirty="0">
                  <a:solidFill>
                    <a:srgbClr val="C00000"/>
                  </a:solidFill>
                </a:endParaRPr>
              </a:p>
            </p:txBody>
          </p:sp>
          <p:cxnSp>
            <p:nvCxnSpPr>
              <p:cNvPr id="30" name="直接连接符 29"/>
              <p:cNvCxnSpPr/>
              <p:nvPr/>
            </p:nvCxnSpPr>
            <p:spPr>
              <a:xfrm flipH="1" flipV="1">
                <a:off x="7595672" y="3124200"/>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218034" y="3124200"/>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a:xfrm>
                <a:off x="6276238" y="2815875"/>
                <a:ext cx="412543" cy="379381"/>
              </a:xfrm>
              <a:prstGeom prst="rect">
                <a:avLst/>
              </a:prstGeom>
            </p:spPr>
            <p:txBody>
              <a:bodyPr wrap="none">
                <a:spAutoFit/>
              </a:bodyPr>
              <a:lstStyle/>
              <a:p>
                <a:r>
                  <a:rPr lang="en-US" altLang="zh-CN" sz="1200" dirty="0">
                    <a:solidFill>
                      <a:srgbClr val="C00000"/>
                    </a:solidFill>
                    <a:latin typeface="Times New Roman" panose="02020603050405020304" pitchFamily="18" charset="0"/>
                  </a:rPr>
                  <a:t>3</a:t>
                </a:r>
                <a:endParaRPr lang="zh-CN" altLang="en-US" sz="1200" dirty="0">
                  <a:solidFill>
                    <a:srgbClr val="C00000"/>
                  </a:solidFill>
                </a:endParaRPr>
              </a:p>
            </p:txBody>
          </p:sp>
          <p:cxnSp>
            <p:nvCxnSpPr>
              <p:cNvPr id="37" name="直接连接符 36"/>
              <p:cNvCxnSpPr/>
              <p:nvPr/>
            </p:nvCxnSpPr>
            <p:spPr>
              <a:xfrm flipH="1">
                <a:off x="5930776" y="3124200"/>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5943598" y="348650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930776" y="3484189"/>
                <a:ext cx="13716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7309449" y="3142213"/>
                <a:ext cx="289906" cy="34429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7317268" y="3484189"/>
                <a:ext cx="2" cy="184749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pic>
        <p:nvPicPr>
          <p:cNvPr id="3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5600" y="5660617"/>
            <a:ext cx="2586804" cy="854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Line 18"/>
          <p:cNvSpPr>
            <a:spLocks noChangeShapeType="1"/>
          </p:cNvSpPr>
          <p:nvPr/>
        </p:nvSpPr>
        <p:spPr bwMode="auto">
          <a:xfrm>
            <a:off x="152400" y="1041400"/>
            <a:ext cx="8763000" cy="0"/>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3077" name="Picture 20" descr="sustc logo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77200" y="228600"/>
            <a:ext cx="7620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圆角矩形 1"/>
          <p:cNvSpPr/>
          <p:nvPr/>
        </p:nvSpPr>
        <p:spPr>
          <a:xfrm>
            <a:off x="8534400" y="6324600"/>
            <a:ext cx="533400" cy="381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altLang="zh-CN" dirty="0"/>
              <a:t>31</a:t>
            </a:r>
            <a:endParaRPr lang="zh-CN" altLang="en-US" dirty="0"/>
          </a:p>
        </p:txBody>
      </p:sp>
      <p:sp>
        <p:nvSpPr>
          <p:cNvPr id="26" name="Rectangle 2"/>
          <p:cNvSpPr>
            <a:spLocks noGrp="1" noChangeArrowheads="1"/>
          </p:cNvSpPr>
          <p:nvPr>
            <p:ph type="title"/>
          </p:nvPr>
        </p:nvSpPr>
        <p:spPr>
          <a:xfrm>
            <a:off x="457200" y="0"/>
            <a:ext cx="8458200" cy="1143000"/>
          </a:xfrm>
        </p:spPr>
        <p:txBody>
          <a:bodyPr/>
          <a:lstStyle/>
          <a:p>
            <a:pPr algn="l" eaLnBrk="1" hangingPunct="1"/>
            <a:r>
              <a:rPr lang="en-US" altLang="zh-CN"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rPr>
              <a:t>HW-3</a:t>
            </a:r>
            <a:endParaRPr lang="zh-CN" altLang="en-US" sz="3600" dirty="0">
              <a:solidFill>
                <a:srgbClr val="000099"/>
              </a:solidFill>
              <a:latin typeface="Times New Roman" panose="02020603050405020304" pitchFamily="18" charset="0"/>
              <a:ea typeface="华文行楷" panose="02010800040101010101" pitchFamily="2"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689" y="1502432"/>
            <a:ext cx="8292422" cy="3679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tags/tag1.xml><?xml version="1.0" encoding="utf-8"?>
<p:tagLst xmlns:p="http://schemas.openxmlformats.org/presentationml/2006/main">
  <p:tag name="KSO_WPP_MARK_KEY" val="9f593c99-7a5f-4256-a037-6c0c69a27551"/>
  <p:tag name="COMMONDATA" val="eyJoZGlkIjoiODI0ZjJiMmIyODM0NTc5MzEyN2IzOWYzNjgwNDFiNTY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8475</Words>
  <Application>WPS 演示</Application>
  <PresentationFormat>On-screen Show (4:3)</PresentationFormat>
  <Paragraphs>498</Paragraphs>
  <Slides>32</Slides>
  <Notes>31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Arial</vt:lpstr>
      <vt:lpstr>宋体</vt:lpstr>
      <vt:lpstr>Wingdings</vt:lpstr>
      <vt:lpstr>Times New Roman</vt:lpstr>
      <vt:lpstr>华文行楷</vt:lpstr>
      <vt:lpstr>Symbol</vt:lpstr>
      <vt:lpstr>微软雅黑</vt:lpstr>
      <vt:lpstr>Arial Unicode MS</vt:lpstr>
      <vt:lpstr>Calibri</vt:lpstr>
      <vt:lpstr>默认设计模板</vt:lpstr>
      <vt:lpstr>Engineering Electromagnetics 工程电磁场</vt:lpstr>
      <vt:lpstr>4: Concept of ‘Flux’ 通量</vt:lpstr>
      <vt:lpstr>5: Electric Flux Density电通密度</vt:lpstr>
      <vt:lpstr>5: Electric Flux Density电通密度</vt:lpstr>
      <vt:lpstr>5: Electric Flux Density电通密度</vt:lpstr>
      <vt:lpstr>5: Electric Flux Density电通密度</vt:lpstr>
      <vt:lpstr>5: Electric Flux Density电通密度</vt:lpstr>
      <vt:lpstr>5: Electric Flux Density电通密度</vt:lpstr>
      <vt:lpstr>5: Electric Flux Density电通密度</vt:lpstr>
      <vt:lpstr>5: Electric Flux Density电通密度</vt:lpstr>
      <vt:lpstr>5: Electric Flux Density电通密度</vt:lpstr>
      <vt:lpstr>6: Gauss’ Law高斯定律</vt:lpstr>
      <vt:lpstr>6: Gauss’ Law高斯定律</vt:lpstr>
      <vt:lpstr>6: Gauss’ Law高斯定律</vt:lpstr>
      <vt:lpstr>6: Gauss’ Law高斯定律</vt:lpstr>
      <vt:lpstr>6: Gauss’ Law高斯定律</vt:lpstr>
      <vt:lpstr>6: Gauss’ Law高斯定律</vt:lpstr>
      <vt:lpstr>6: Gauss’ Law高斯定律</vt:lpstr>
      <vt:lpstr>6: Gauss’ Law高斯定律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7: Divergence, Maxwell’s First Equation 散度、麦克斯韦第一方程</vt:lpstr>
      <vt:lpstr>HW-3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dpcuser</dc:creator>
  <cp:lastModifiedBy>林碧容</cp:lastModifiedBy>
  <cp:revision>302</cp:revision>
  <cp:lastPrinted>2014-03-03T09:16:00Z</cp:lastPrinted>
  <dcterms:created xsi:type="dcterms:W3CDTF">2113-01-01T00:00:00Z</dcterms:created>
  <dcterms:modified xsi:type="dcterms:W3CDTF">2024-10-28T14:02:46Z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B5C396B665E94ADDBEE0A9C343996311</vt:lpwstr>
  </property>
  <property fmtid="{D5CDD505-2E9C-101B-9397-08002B2CF9AE}" pid="4" name="KSOProductBuildVer">
    <vt:lpwstr>2052-11.1.0.12165</vt:lpwstr>
  </property>
</Properties>
</file>