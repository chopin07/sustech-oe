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43"/>
  </p:handoutMasterIdLst>
  <p:sldIdLst>
    <p:sldId id="256" r:id="rId3"/>
    <p:sldId id="391" r:id="rId4"/>
    <p:sldId id="444" r:id="rId6"/>
    <p:sldId id="445" r:id="rId7"/>
    <p:sldId id="446" r:id="rId8"/>
    <p:sldId id="447" r:id="rId9"/>
    <p:sldId id="448" r:id="rId10"/>
    <p:sldId id="449" r:id="rId11"/>
    <p:sldId id="450" r:id="rId12"/>
    <p:sldId id="451" r:id="rId13"/>
    <p:sldId id="452" r:id="rId14"/>
    <p:sldId id="453" r:id="rId15"/>
    <p:sldId id="454" r:id="rId16"/>
    <p:sldId id="455" r:id="rId17"/>
    <p:sldId id="456" r:id="rId18"/>
    <p:sldId id="457" r:id="rId19"/>
    <p:sldId id="458" r:id="rId20"/>
    <p:sldId id="459" r:id="rId21"/>
    <p:sldId id="460" r:id="rId22"/>
    <p:sldId id="461" r:id="rId23"/>
    <p:sldId id="462" r:id="rId24"/>
    <p:sldId id="463" r:id="rId25"/>
    <p:sldId id="464" r:id="rId26"/>
    <p:sldId id="465" r:id="rId27"/>
    <p:sldId id="466" r:id="rId28"/>
    <p:sldId id="467" r:id="rId29"/>
    <p:sldId id="468" r:id="rId30"/>
    <p:sldId id="469" r:id="rId31"/>
    <p:sldId id="470" r:id="rId32"/>
    <p:sldId id="471" r:id="rId33"/>
    <p:sldId id="472" r:id="rId34"/>
    <p:sldId id="474" r:id="rId35"/>
    <p:sldId id="475" r:id="rId36"/>
    <p:sldId id="476" r:id="rId37"/>
    <p:sldId id="477" r:id="rId38"/>
    <p:sldId id="478" r:id="rId39"/>
    <p:sldId id="479" r:id="rId40"/>
    <p:sldId id="480" r:id="rId41"/>
    <p:sldId id="481" r:id="rId42"/>
  </p:sldIdLst>
  <p:sldSz cx="9144000" cy="6858000" type="screen4x3"/>
  <p:notesSz cx="9926320" cy="6797675"/>
  <p:custDataLst>
    <p:tags r:id="rId4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shengyi" initials="x" lastIdx="1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6600"/>
    <a:srgbClr val="333399"/>
    <a:srgbClr val="990000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26" autoAdjust="0"/>
    <p:restoredTop sz="94660"/>
  </p:normalViewPr>
  <p:slideViewPr>
    <p:cSldViewPr>
      <p:cViewPr varScale="1">
        <p:scale>
          <a:sx n="115" d="100"/>
          <a:sy n="115" d="100"/>
        </p:scale>
        <p:origin x="1670" y="82"/>
      </p:cViewPr>
      <p:guideLst>
        <p:guide orient="horz" pos="2190"/>
        <p:guide pos="285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8" Type="http://schemas.openxmlformats.org/officeDocument/2006/relationships/tags" Target="tags/tag2.xml"/><Relationship Id="rId47" Type="http://schemas.openxmlformats.org/officeDocument/2006/relationships/commentAuthors" Target="commentAuthors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handoutMaster" Target="handoutMasters/handoutMaster1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26T17:01:01.478" idx="1">
    <p:pos x="4629" y="1946"/>
    <p:text>非常重要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26T17:01:11.000" idx="2">
    <p:pos x="4579" y="2716"/>
    <p:text>非常重要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26T17:24:00.935" idx="4">
    <p:pos x="2697" y="1439"/>
    <p:text>线电流</p:text>
  </p:cm>
  <p:cm authorId="1" dt="2024-12-06T01:03:46.887" idx="17">
    <p:pos x="2084" y="1937"/>
    <p:text>注意这个怎么得来的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26T17:24:19.656" idx="3">
    <p:pos x="2447" y="2888"/>
    <p:text>无限长线电流的磁场强度</p:text>
  </p:cm>
  <p:cm authorId="1" dt="2024-12-06T01:09:55.390" idx="18">
    <p:pos x="3303" y="1905"/>
    <p:text>这个极限的取法要注意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26T17:29:30.768" idx="5">
    <p:pos x="2085" y="2972"/>
    <p:text>类比电偶极矩</p:text>
  </p:cm>
  <p:cm authorId="1" dt="2024-11-26T17:32:39.765" idx="6">
    <p:pos x="2449" y="1628"/>
    <p:text>非常重要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26T17:35:25.962" idx="7">
    <p:pos x="2167" y="1956"/>
    <p:text>非常重要：H是磁场强度，B是磁感应强度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26T17:38:50.551" idx="8">
    <p:pos x="2856" y="3220"/>
    <p:text>重要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26T17:48:49.090" idx="9">
    <p:pos x="4802" y="2127"/>
    <p:text/>
  </p:cm>
  <p:cm authorId="1" dt="2024-12-09T20:56:51.929" idx="19">
    <p:pos x="5227" y="2690"/>
    <p:text>非常重要的一个方向定义，同时注意环路绕向和电流流向要符合右手定则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26T18:06:14.944" idx="11">
    <p:pos x="5249" y="2492"/>
    <p:text>重要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26T18:03:06.269" idx="10">
    <p:pos x="1816" y="2103"/>
    <p:text/>
  </p:cm>
  <p:cm authorId="1" dt="2024-11-26T18:14:24.731" idx="12">
    <p:pos x="2514" y="3473"/>
    <p:text>注意之前单个圆环的结论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26T18:20:18.486" idx="13">
    <p:pos x="4942" y="2601"/>
    <p:text>内部是匀强磁场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26T18:23:09.676" idx="15">
    <p:pos x="3200" y="3028"/>
    <p:text>重要</p:tex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26T18:22:57.860" idx="14">
    <p:pos x="3264" y="2709"/>
    <p:text>重要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581" y="0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>
              <a:defRPr sz="1200"/>
            </a:lvl1pPr>
          </a:lstStyle>
          <a:p>
            <a:fld id="{686A4324-7C28-4329-B2F1-5FD4B6C256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6457106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581" y="6457106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r">
              <a:defRPr sz="1200"/>
            </a:lvl1pPr>
          </a:lstStyle>
          <a:p>
            <a:fld id="{FA732558-7D0B-4745-B877-2B020FA1E1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pPr>
              <a:defRPr/>
            </a:pPr>
            <a:fld id="{CFCE66B6-4CF2-4562-A36E-FD57958B22D0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11175"/>
            <a:ext cx="3398838" cy="2547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5562" tIns="47781" rIns="95562" bIns="47781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pPr>
              <a:defRPr/>
            </a:pPr>
            <a:fld id="{BEA14968-9F28-4550-9E62-5AFEB150A69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A915F-EF48-4E12-9322-014AC14B824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6757F-36B6-4B03-A23B-51A791095A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2D1AA-81AF-4136-B6B7-4DF8B2353D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3869A-52EA-439A-85B4-5B99DA02ADD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549B5-7C33-4401-8DCA-0C1C099D07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D6E32-8AFF-48B0-BFAA-79EFD98B79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729E0-9F39-4321-BCC4-0E383C4192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898902-1749-4578-ADD1-C8D6FC14DD7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96899-CE8E-4251-8463-AEEF76D0B8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EBD7C-0FB7-467E-B4C1-280AB41F76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B3FA2-80A2-486F-B8BD-C573184B8A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67C57CB3-D73C-4ACB-B9FF-2C58343599B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tags" Target="../tags/tag1.xml"/><Relationship Id="rId4" Type="http://schemas.openxmlformats.org/officeDocument/2006/relationships/image" Target="../media/image9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0" Type="http://schemas.openxmlformats.org/officeDocument/2006/relationships/comments" Target="../comments/commen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2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3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2" Type="http://schemas.openxmlformats.org/officeDocument/2006/relationships/comments" Target="../comments/comment3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4.xml"/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24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png"/><Relationship Id="rId7" Type="http://schemas.openxmlformats.org/officeDocument/2006/relationships/image" Target="../media/image3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5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48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comments" Target="../comments/comment6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7.png"/><Relationship Id="rId3" Type="http://schemas.openxmlformats.org/officeDocument/2006/relationships/image" Target="../media/image54.png"/><Relationship Id="rId2" Type="http://schemas.openxmlformats.org/officeDocument/2006/relationships/image" Target="../media/image56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comments" Target="../comments/comment7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59.png"/><Relationship Id="rId1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8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5.png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8.png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3" Type="http://schemas.openxmlformats.org/officeDocument/2006/relationships/image" Target="../media/image75.png"/><Relationship Id="rId2" Type="http://schemas.openxmlformats.org/officeDocument/2006/relationships/image" Target="../media/image4.png"/><Relationship Id="rId1" Type="http://schemas.openxmlformats.org/officeDocument/2006/relationships/image" Target="../media/image74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85.png"/><Relationship Id="rId7" Type="http://schemas.openxmlformats.org/officeDocument/2006/relationships/image" Target="../media/image84.png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23.xml"/><Relationship Id="rId1" Type="http://schemas.openxmlformats.org/officeDocument/2006/relationships/image" Target="../media/image79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comments" Target="../comments/comment8.xml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7.png"/><Relationship Id="rId2" Type="http://schemas.openxmlformats.org/officeDocument/2006/relationships/image" Target="../media/image4.png"/><Relationship Id="rId1" Type="http://schemas.openxmlformats.org/officeDocument/2006/relationships/image" Target="../media/image86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9.xml"/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2.jpeg"/><Relationship Id="rId5" Type="http://schemas.openxmlformats.org/officeDocument/2006/relationships/image" Target="../media/image91.jpeg"/><Relationship Id="rId4" Type="http://schemas.openxmlformats.org/officeDocument/2006/relationships/image" Target="../media/image90.jpeg"/><Relationship Id="rId3" Type="http://schemas.openxmlformats.org/officeDocument/2006/relationships/image" Target="../media/image52.png"/><Relationship Id="rId2" Type="http://schemas.openxmlformats.org/officeDocument/2006/relationships/image" Target="../media/image4.png"/><Relationship Id="rId1" Type="http://schemas.openxmlformats.org/officeDocument/2006/relationships/image" Target="../media/image8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0.xml"/><Relationship Id="rId7" Type="http://schemas.openxmlformats.org/officeDocument/2006/relationships/notesSlide" Target="../notesSlides/notesSlide2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3" Type="http://schemas.openxmlformats.org/officeDocument/2006/relationships/image" Target="../media/image94.png"/><Relationship Id="rId2" Type="http://schemas.openxmlformats.org/officeDocument/2006/relationships/image" Target="../media/image4.png"/><Relationship Id="rId1" Type="http://schemas.openxmlformats.org/officeDocument/2006/relationships/image" Target="../media/image93.pn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Relationship Id="rId3" Type="http://schemas.openxmlformats.org/officeDocument/2006/relationships/image" Target="../media/image97.png"/><Relationship Id="rId2" Type="http://schemas.openxmlformats.org/officeDocument/2006/relationships/image" Target="../media/image4.png"/><Relationship Id="rId1" Type="http://schemas.openxmlformats.org/officeDocument/2006/relationships/image" Target="../media/image9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Relationship Id="rId3" Type="http://schemas.openxmlformats.org/officeDocument/2006/relationships/image" Target="../media/image100.png"/><Relationship Id="rId2" Type="http://schemas.openxmlformats.org/officeDocument/2006/relationships/image" Target="../media/image4.png"/><Relationship Id="rId1" Type="http://schemas.openxmlformats.org/officeDocument/2006/relationships/image" Target="../media/image93.png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0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Relationship Id="rId3" Type="http://schemas.openxmlformats.org/officeDocument/2006/relationships/image" Target="../media/image104.png"/><Relationship Id="rId2" Type="http://schemas.openxmlformats.org/officeDocument/2006/relationships/image" Target="../media/image4.png"/><Relationship Id="rId1" Type="http://schemas.openxmlformats.org/officeDocument/2006/relationships/image" Target="../media/image93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11.xml"/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7.png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9.png"/><Relationship Id="rId3" Type="http://schemas.openxmlformats.org/officeDocument/2006/relationships/image" Target="../media/image110.png"/><Relationship Id="rId2" Type="http://schemas.openxmlformats.org/officeDocument/2006/relationships/image" Target="../media/image108.png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9.png"/><Relationship Id="rId2" Type="http://schemas.openxmlformats.org/officeDocument/2006/relationships/image" Target="../media/image111.png"/><Relationship Id="rId1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7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20.png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0" Type="http://schemas.openxmlformats.org/officeDocument/2006/relationships/comments" Target="../comments/comment12.xml"/><Relationship Id="rId1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3.xml"/><Relationship Id="rId7" Type="http://schemas.openxmlformats.org/officeDocument/2006/relationships/notesSlide" Target="../notesSlides/notesSlide3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828800"/>
            <a:ext cx="8534400" cy="1981200"/>
          </a:xfrm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Electromagnetics</a:t>
            </a:r>
            <a:b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400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工程电磁场</a:t>
            </a:r>
            <a:endParaRPr lang="zh-CN" altLang="en-US" sz="400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2133600"/>
          </a:xfrm>
        </p:spPr>
        <p:txBody>
          <a:bodyPr/>
          <a:lstStyle/>
          <a:p>
            <a:pPr eaLnBrk="1" hangingPunct="1"/>
            <a:endParaRPr lang="zh-CN" altLang="en-US" sz="36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Youwei Jia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嘉有为</a:t>
            </a:r>
            <a:endParaRPr lang="en-US" altLang="zh-CN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052" name="Gerade Verbindung 11"/>
          <p:cNvCxnSpPr>
            <a:cxnSpLocks noChangeShapeType="1"/>
          </p:cNvCxnSpPr>
          <p:nvPr/>
        </p:nvCxnSpPr>
        <p:spPr bwMode="auto">
          <a:xfrm>
            <a:off x="85725" y="1371600"/>
            <a:ext cx="7305675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053" name="Picture 9" descr="13829064795036"/>
          <p:cNvPicPr>
            <a:picLocks noChangeAspect="1" noChangeArrowheads="1"/>
          </p:cNvPicPr>
          <p:nvPr/>
        </p:nvPicPr>
        <p:blipFill>
          <a:blip r:embed="rId1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112713"/>
            <a:ext cx="2609850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10" descr="13829064803086"/>
          <p:cNvPicPr>
            <a:picLocks noChangeAspect="1" noChangeArrowheads="1"/>
          </p:cNvPicPr>
          <p:nvPr/>
        </p:nvPicPr>
        <p:blipFill>
          <a:blip r:embed="rId2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313" y="112713"/>
            <a:ext cx="2754312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11" descr="13829064833397"/>
          <p:cNvPicPr>
            <a:picLocks noChangeAspect="1" noChangeArrowheads="1"/>
          </p:cNvPicPr>
          <p:nvPr/>
        </p:nvPicPr>
        <p:blipFill>
          <a:blip r:embed="rId3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75" y="112713"/>
            <a:ext cx="1839913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56" name="Gerade Verbindung 11"/>
          <p:cNvCxnSpPr>
            <a:cxnSpLocks noChangeShapeType="1"/>
          </p:cNvCxnSpPr>
          <p:nvPr/>
        </p:nvCxnSpPr>
        <p:spPr bwMode="auto">
          <a:xfrm>
            <a:off x="609600" y="3657600"/>
            <a:ext cx="7916863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Motivating the Magnetic Field Concept: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Forces Between Currents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9" name="Picture 53" descr="Demo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9" y="1981200"/>
            <a:ext cx="6096001" cy="242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766762" y="4343400"/>
            <a:ext cx="701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Magnetic forces arise whenever we have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charges in motion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运动的电荷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66762" y="4724400"/>
            <a:ext cx="76152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source of the steady magnetic field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be a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permanent magnet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永磁体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 field changing linearly with time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随时间线性变化的电场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a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current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直流电流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We will largely ignore the permanent magnet and save the time-varying electric field for a later discussion.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present study will concern the magnetic field produced by a differential dc element in free space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62000" y="6248400"/>
            <a:ext cx="57912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What is the source of electrostatic field?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Motivating the Magnetic Field Concept: Forces Between Currents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0" name="Picture 62" descr="Wire Field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285" y="2100263"/>
            <a:ext cx="7794115" cy="2579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85800" y="4944070"/>
            <a:ext cx="7543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magnetic field intensity, </a:t>
            </a:r>
            <a:r>
              <a:rPr lang="en-US" altLang="zh-CN" b="1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circulates around its source,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a direction most easily determined by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right-hand rule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Right thumb in the direction of the current, fingers curl in the direction of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Biot-Savart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 Law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221858" y="1143000"/>
            <a:ext cx="3693542" cy="1981200"/>
            <a:chOff x="5221858" y="1143000"/>
            <a:chExt cx="3693542" cy="1981200"/>
          </a:xfrm>
        </p:grpSpPr>
        <p:pic>
          <p:nvPicPr>
            <p:cNvPr id="1026" name="Picture 2" descr="C:\Users\dpcuser\Desktop\About Teaching\工程电磁场\Instructor Notes\Lecture 10\lei de biot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5275" y="1151626"/>
              <a:ext cx="2270125" cy="1479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矩形 2"/>
            <p:cNvSpPr/>
            <p:nvPr/>
          </p:nvSpPr>
          <p:spPr>
            <a:xfrm>
              <a:off x="6691656" y="2600980"/>
              <a:ext cx="108074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Bef>
                  <a:spcPts val="0"/>
                </a:spcBef>
                <a:defRPr/>
              </a:pPr>
              <a:r>
                <a:rPr lang="en-US" altLang="zh-CN" sz="14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J. B. </a:t>
              </a:r>
              <a:r>
                <a:rPr lang="en-US" altLang="zh-CN" sz="1400" dirty="0" err="1">
                  <a:solidFill>
                    <a:srgbClr val="000099"/>
                  </a:solidFill>
                  <a:latin typeface="Times New Roman" panose="02020603050405020304" pitchFamily="18" charset="0"/>
                </a:rPr>
                <a:t>Biot</a:t>
              </a:r>
              <a:endParaRPr lang="en-US" altLang="zh-CN" sz="1400" dirty="0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ts val="0"/>
                </a:spcBef>
                <a:defRPr/>
              </a:pPr>
              <a:r>
                <a:rPr lang="en-US" altLang="zh-CN" sz="1400" dirty="0">
                  <a:solidFill>
                    <a:srgbClr val="0000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(1774-1862)</a:t>
              </a:r>
              <a:endParaRPr lang="zh-CN" altLang="en-US" sz="14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7834655" y="2600980"/>
              <a:ext cx="108074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Bef>
                  <a:spcPts val="0"/>
                </a:spcBef>
                <a:defRPr/>
              </a:pPr>
              <a:r>
                <a:rPr lang="en-US" altLang="zh-CN" sz="14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F. </a:t>
              </a:r>
              <a:r>
                <a:rPr lang="en-US" altLang="zh-CN" sz="1400" dirty="0" err="1">
                  <a:solidFill>
                    <a:srgbClr val="000099"/>
                  </a:solidFill>
                  <a:latin typeface="Times New Roman" panose="02020603050405020304" pitchFamily="18" charset="0"/>
                </a:rPr>
                <a:t>Savart</a:t>
              </a:r>
              <a:endParaRPr lang="en-US" altLang="zh-CN" sz="1400" dirty="0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ts val="0"/>
                </a:spcBef>
                <a:defRPr/>
              </a:pPr>
              <a:r>
                <a:rPr lang="en-US" altLang="zh-CN" sz="1400" dirty="0">
                  <a:solidFill>
                    <a:srgbClr val="0000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(1791-1841)</a:t>
              </a:r>
              <a:endParaRPr lang="zh-CN" altLang="en-US" sz="14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  <p:pic>
          <p:nvPicPr>
            <p:cNvPr id="13" name="Picture 2" descr="C:\Users\dpcuser\Desktop\About Teaching\225px-Ampere_Andre_1825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2185" y="1143000"/>
              <a:ext cx="1076372" cy="14544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矩形 13"/>
            <p:cNvSpPr/>
            <p:nvPr/>
          </p:nvSpPr>
          <p:spPr>
            <a:xfrm>
              <a:off x="5221858" y="2583728"/>
              <a:ext cx="1752599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FR" altLang="zh-CN" sz="1400" dirty="0">
                  <a:solidFill>
                    <a:srgbClr val="00009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A. M. Ampère </a:t>
              </a:r>
              <a:endParaRPr lang="fr-FR" altLang="zh-CN" sz="14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fr-FR" altLang="zh-CN" sz="1400" dirty="0">
                  <a:solidFill>
                    <a:srgbClr val="00009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(1775</a:t>
              </a:r>
              <a:r>
                <a:rPr lang="en-US" altLang="zh-CN" sz="1400" dirty="0">
                  <a:solidFill>
                    <a:srgbClr val="00009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altLang="zh-CN" sz="1400" dirty="0">
                  <a:solidFill>
                    <a:srgbClr val="00009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1836</a:t>
              </a:r>
              <a:r>
                <a:rPr lang="en-US" altLang="zh-CN" sz="1400" dirty="0">
                  <a:solidFill>
                    <a:srgbClr val="00009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14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427037" y="1600200"/>
            <a:ext cx="498316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</a:t>
            </a:r>
            <a:r>
              <a:rPr lang="en-US" altLang="zh-CN" sz="1800" i="0" dirty="0" err="1"/>
              <a:t>Biot-Savart</a:t>
            </a:r>
            <a:r>
              <a:rPr lang="en-US" altLang="zh-CN" sz="1800" i="0" dirty="0"/>
              <a:t> Law specifies the magnetic field intensity, </a:t>
            </a:r>
            <a:r>
              <a:rPr lang="en-US" altLang="zh-CN" sz="1800" b="1" i="0" dirty="0"/>
              <a:t>H</a:t>
            </a:r>
            <a:r>
              <a:rPr lang="en-US" altLang="zh-CN" sz="1800" i="0" dirty="0"/>
              <a:t>, arising from a </a:t>
            </a:r>
            <a:r>
              <a:rPr lang="ja-JP" altLang="en-US" sz="1800" i="0" dirty="0">
                <a:solidFill>
                  <a:srgbClr val="C00000"/>
                </a:solidFill>
              </a:rPr>
              <a:t>“</a:t>
            </a:r>
            <a:r>
              <a:rPr lang="en-US" altLang="ja-JP" sz="1800" i="0" dirty="0">
                <a:solidFill>
                  <a:srgbClr val="C00000"/>
                </a:solidFill>
              </a:rPr>
              <a:t>point source</a:t>
            </a:r>
            <a:r>
              <a:rPr lang="ja-JP" altLang="en-US" sz="1800" i="0" dirty="0">
                <a:solidFill>
                  <a:srgbClr val="C00000"/>
                </a:solidFill>
              </a:rPr>
              <a:t>”</a:t>
            </a:r>
            <a:r>
              <a:rPr lang="en-US" altLang="ja-JP" sz="1800" i="0" dirty="0">
                <a:solidFill>
                  <a:srgbClr val="C00000"/>
                </a:solidFill>
              </a:rPr>
              <a:t> current element </a:t>
            </a:r>
            <a:r>
              <a:rPr lang="en-US" altLang="zh-CN" sz="1800" i="0" dirty="0">
                <a:solidFill>
                  <a:srgbClr val="C00000"/>
                </a:solidFill>
              </a:rPr>
              <a:t>of differential length </a:t>
            </a:r>
            <a:r>
              <a:rPr lang="en-US" altLang="zh-CN" sz="1800" dirty="0" err="1">
                <a:solidFill>
                  <a:srgbClr val="C00000"/>
                </a:solidFill>
              </a:rPr>
              <a:t>d</a:t>
            </a:r>
            <a:r>
              <a:rPr lang="en-US" altLang="zh-CN" sz="1800" b="1" i="0" dirty="0" err="1">
                <a:solidFill>
                  <a:srgbClr val="C00000"/>
                </a:solidFill>
              </a:rPr>
              <a:t>L</a:t>
            </a:r>
            <a:r>
              <a:rPr lang="en-US" altLang="zh-CN" sz="1800" b="1" i="0" dirty="0"/>
              <a:t>.</a:t>
            </a:r>
            <a:endParaRPr lang="en-US" altLang="zh-CN" sz="1800" i="0" dirty="0"/>
          </a:p>
        </p:txBody>
      </p:sp>
      <p:sp>
        <p:nvSpPr>
          <p:cNvPr id="20" name="Rectangle 9"/>
          <p:cNvSpPr>
            <a:spLocks noChangeArrowheads="1"/>
          </p:cNvSpPr>
          <p:nvPr/>
        </p:nvSpPr>
        <p:spPr bwMode="auto">
          <a:xfrm>
            <a:off x="381000" y="5355324"/>
            <a:ext cx="3662669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600" i="0" dirty="0"/>
              <a:t>Note in particular the </a:t>
            </a:r>
            <a:r>
              <a:rPr lang="en-US" altLang="zh-CN" sz="1600" i="0" dirty="0">
                <a:solidFill>
                  <a:srgbClr val="C00000"/>
                </a:solidFill>
              </a:rPr>
              <a:t>inverse-square </a:t>
            </a:r>
            <a:endParaRPr lang="en-US" altLang="zh-CN" sz="1600" i="0" dirty="0">
              <a:solidFill>
                <a:srgbClr val="C00000"/>
              </a:solidFill>
            </a:endParaRPr>
          </a:p>
          <a:p>
            <a:r>
              <a:rPr lang="en-US" altLang="zh-CN" sz="1600" i="0" dirty="0">
                <a:solidFill>
                  <a:srgbClr val="C00000"/>
                </a:solidFill>
              </a:rPr>
              <a:t>distance dependence</a:t>
            </a:r>
            <a:r>
              <a:rPr lang="en-US" altLang="zh-CN" sz="1600" i="0" dirty="0"/>
              <a:t>, and the fact that </a:t>
            </a:r>
            <a:endParaRPr lang="en-US" altLang="zh-CN" sz="1600" i="0" dirty="0"/>
          </a:p>
          <a:p>
            <a:r>
              <a:rPr lang="en-US" altLang="zh-CN" sz="1600" i="0" dirty="0"/>
              <a:t>the cross product will yield a field vector </a:t>
            </a:r>
            <a:endParaRPr lang="en-US" altLang="zh-CN" sz="1600" i="0" dirty="0"/>
          </a:p>
          <a:p>
            <a:r>
              <a:rPr lang="en-US" altLang="zh-CN" sz="1600" i="0" dirty="0"/>
              <a:t>that points into the page.  This is a formal </a:t>
            </a:r>
            <a:endParaRPr lang="en-US" altLang="zh-CN" sz="1600" i="0" dirty="0"/>
          </a:p>
          <a:p>
            <a:r>
              <a:rPr lang="en-US" altLang="zh-CN" sz="1600" i="0" dirty="0"/>
              <a:t>statement of the right-hand rule.</a:t>
            </a:r>
            <a:endParaRPr lang="en-US" altLang="zh-CN" sz="1600" i="0" dirty="0"/>
          </a:p>
        </p:txBody>
      </p:sp>
      <p:grpSp>
        <p:nvGrpSpPr>
          <p:cNvPr id="21" name="Group 14"/>
          <p:cNvGrpSpPr/>
          <p:nvPr/>
        </p:nvGrpSpPr>
        <p:grpSpPr bwMode="auto">
          <a:xfrm>
            <a:off x="524576" y="2692455"/>
            <a:ext cx="3349341" cy="2560125"/>
            <a:chOff x="2400" y="1440"/>
            <a:chExt cx="2407" cy="1818"/>
          </a:xfrm>
        </p:grpSpPr>
        <p:grpSp>
          <p:nvGrpSpPr>
            <p:cNvPr id="27" name="Group 11"/>
            <p:cNvGrpSpPr/>
            <p:nvPr/>
          </p:nvGrpSpPr>
          <p:grpSpPr bwMode="auto">
            <a:xfrm>
              <a:off x="2400" y="1440"/>
              <a:ext cx="2407" cy="1818"/>
              <a:chOff x="2400" y="1440"/>
              <a:chExt cx="2407" cy="1818"/>
            </a:xfrm>
          </p:grpSpPr>
          <p:pic>
            <p:nvPicPr>
              <p:cNvPr id="29" name="Picture 4" descr="Figure 1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0" y="1488"/>
                <a:ext cx="2407" cy="17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" name="Rectangle 10"/>
              <p:cNvSpPr>
                <a:spLocks noChangeArrowheads="1"/>
              </p:cNvSpPr>
              <p:nvPr/>
            </p:nvSpPr>
            <p:spPr bwMode="auto">
              <a:xfrm>
                <a:off x="2448" y="1440"/>
                <a:ext cx="624" cy="2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i="0"/>
              </a:p>
            </p:txBody>
          </p:sp>
        </p:grpSp>
        <p:sp>
          <p:nvSpPr>
            <p:cNvPr id="28" name="Rectangle 13"/>
            <p:cNvSpPr>
              <a:spLocks noChangeArrowheads="1"/>
            </p:cNvSpPr>
            <p:nvPr/>
          </p:nvSpPr>
          <p:spPr bwMode="auto">
            <a:xfrm>
              <a:off x="3120" y="2784"/>
              <a:ext cx="1296" cy="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i="0"/>
            </a:p>
          </p:txBody>
        </p:sp>
      </p:grpSp>
      <p:pic>
        <p:nvPicPr>
          <p:cNvPr id="22" name="Picture 12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1841" y="3276599"/>
            <a:ext cx="2770187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16"/>
          <p:cNvSpPr>
            <a:spLocks noChangeArrowheads="1"/>
          </p:cNvSpPr>
          <p:nvPr/>
        </p:nvSpPr>
        <p:spPr bwMode="auto">
          <a:xfrm>
            <a:off x="4108628" y="4889262"/>
            <a:ext cx="43925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600" b="1" i="0" dirty="0"/>
              <a:t>Note the similarity to Coulomb</a:t>
            </a:r>
            <a:r>
              <a:rPr lang="ja-JP" altLang="en-US" sz="1600" b="1" i="0" dirty="0"/>
              <a:t>’</a:t>
            </a:r>
            <a:r>
              <a:rPr lang="en-US" altLang="ja-JP" sz="1600" b="1" i="0" dirty="0"/>
              <a:t>s Law</a:t>
            </a:r>
            <a:r>
              <a:rPr lang="en-US" altLang="ja-JP" sz="1600" i="0" dirty="0"/>
              <a:t>, in which </a:t>
            </a:r>
            <a:endParaRPr lang="en-US" altLang="ja-JP" sz="1600" i="0" dirty="0"/>
          </a:p>
          <a:p>
            <a:r>
              <a:rPr lang="en-US" altLang="zh-CN" sz="1600" i="0" dirty="0"/>
              <a:t>a point charge of magnitude </a:t>
            </a:r>
            <a:r>
              <a:rPr lang="en-US" altLang="zh-CN" sz="1600" dirty="0"/>
              <a:t>d</a:t>
            </a:r>
            <a:r>
              <a:rPr lang="en-US" altLang="zh-CN" sz="1600" i="1" dirty="0"/>
              <a:t>Q</a:t>
            </a:r>
            <a:r>
              <a:rPr lang="en-US" altLang="zh-CN" sz="1600" i="0" baseline="-25000" dirty="0"/>
              <a:t>1</a:t>
            </a:r>
            <a:r>
              <a:rPr lang="en-US" altLang="zh-CN" sz="1600" i="0" dirty="0"/>
              <a:t> at Point 1 would </a:t>
            </a:r>
            <a:endParaRPr lang="en-US" altLang="zh-CN" sz="1600" i="0" dirty="0"/>
          </a:p>
          <a:p>
            <a:r>
              <a:rPr lang="en-US" altLang="zh-CN" sz="1600" i="0" dirty="0"/>
              <a:t>generate electric field at Point 2 given by:</a:t>
            </a:r>
            <a:endParaRPr lang="en-US" altLang="zh-CN" sz="1600" i="0" dirty="0"/>
          </a:p>
        </p:txBody>
      </p:sp>
      <p:grpSp>
        <p:nvGrpSpPr>
          <p:cNvPr id="12" name="组合 11"/>
          <p:cNvGrpSpPr/>
          <p:nvPr/>
        </p:nvGrpSpPr>
        <p:grpSpPr>
          <a:xfrm>
            <a:off x="5174628" y="5791200"/>
            <a:ext cx="2057400" cy="914400"/>
            <a:chOff x="5486400" y="5410200"/>
            <a:chExt cx="2057400" cy="914400"/>
          </a:xfrm>
        </p:grpSpPr>
        <p:pic>
          <p:nvPicPr>
            <p:cNvPr id="23" name="Picture 15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5300" y="5486400"/>
              <a:ext cx="1892300" cy="768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Rectangle 17"/>
            <p:cNvSpPr>
              <a:spLocks noChangeArrowheads="1"/>
            </p:cNvSpPr>
            <p:nvPr/>
          </p:nvSpPr>
          <p:spPr bwMode="auto">
            <a:xfrm>
              <a:off x="5486400" y="5410200"/>
              <a:ext cx="2057400" cy="914400"/>
            </a:xfrm>
            <a:prstGeom prst="rect">
              <a:avLst/>
            </a:prstGeom>
            <a:noFill/>
            <a:ln w="19050">
              <a:solidFill>
                <a:srgbClr val="3BB4EE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i="0"/>
            </a:p>
          </p:txBody>
        </p:sp>
      </p:grpSp>
      <p:sp>
        <p:nvSpPr>
          <p:cNvPr id="26" name="Rectangle 19"/>
          <p:cNvSpPr>
            <a:spLocks noChangeArrowheads="1"/>
          </p:cNvSpPr>
          <p:nvPr/>
        </p:nvSpPr>
        <p:spPr bwMode="auto">
          <a:xfrm>
            <a:off x="4495126" y="4302124"/>
            <a:ext cx="24994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units of </a:t>
            </a:r>
            <a:r>
              <a:rPr lang="en-US" altLang="zh-CN" sz="1800" b="1" i="0" dirty="0"/>
              <a:t>H </a:t>
            </a:r>
            <a:r>
              <a:rPr lang="en-US" altLang="zh-CN" sz="1800" i="0" dirty="0"/>
              <a:t>are [A/m]</a:t>
            </a:r>
            <a:endParaRPr lang="en-US" altLang="zh-CN" sz="1800" i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26"/>
          <p:cNvGrpSpPr/>
          <p:nvPr/>
        </p:nvGrpSpPr>
        <p:grpSpPr bwMode="auto">
          <a:xfrm>
            <a:off x="279400" y="2487853"/>
            <a:ext cx="4368800" cy="2703513"/>
            <a:chOff x="176" y="1680"/>
            <a:chExt cx="2752" cy="1703"/>
          </a:xfrm>
        </p:grpSpPr>
        <p:pic>
          <p:nvPicPr>
            <p:cNvPr id="38" name="Picture 24" descr="Circulation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" y="1680"/>
              <a:ext cx="2704" cy="17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Rectangle 25"/>
            <p:cNvSpPr>
              <a:spLocks noChangeArrowheads="1"/>
            </p:cNvSpPr>
            <p:nvPr/>
          </p:nvSpPr>
          <p:spPr bwMode="auto">
            <a:xfrm>
              <a:off x="2208" y="2352"/>
              <a:ext cx="720" cy="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 i="0"/>
            </a:p>
          </p:txBody>
        </p:sp>
      </p:grpSp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Magnetic Field Arising From a Circulating Current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2" name="Picture 1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325" y="1835150"/>
            <a:ext cx="1846263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3" name="Rectangle 17"/>
          <p:cNvSpPr>
            <a:spLocks noChangeArrowheads="1"/>
          </p:cNvSpPr>
          <p:nvPr/>
        </p:nvSpPr>
        <p:spPr bwMode="auto">
          <a:xfrm>
            <a:off x="533400" y="1828800"/>
            <a:ext cx="44227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At point </a:t>
            </a:r>
            <a:r>
              <a:rPr lang="en-US" altLang="zh-CN" sz="1800" dirty="0"/>
              <a:t>P, </a:t>
            </a:r>
            <a:r>
              <a:rPr lang="en-US" altLang="zh-CN" sz="1800" i="0" dirty="0"/>
              <a:t>the magnetic field associated with </a:t>
            </a:r>
            <a:endParaRPr lang="en-US" altLang="zh-CN" sz="1800" i="0" dirty="0"/>
          </a:p>
          <a:p>
            <a:r>
              <a:rPr lang="en-US" altLang="zh-CN" sz="1800" i="0" dirty="0"/>
              <a:t>the differential current element </a:t>
            </a:r>
            <a:r>
              <a:rPr lang="en-US" altLang="zh-CN" sz="1800" i="1" dirty="0" err="1"/>
              <a:t>I</a:t>
            </a:r>
            <a:r>
              <a:rPr lang="en-US" altLang="zh-CN" sz="1800" dirty="0" err="1"/>
              <a:t>d</a:t>
            </a:r>
            <a:r>
              <a:rPr lang="en-US" altLang="zh-CN" sz="1800" b="1" i="0" dirty="0" err="1"/>
              <a:t>L</a:t>
            </a:r>
            <a:r>
              <a:rPr lang="en-US" altLang="zh-CN" sz="1800" b="1" i="0" dirty="0"/>
              <a:t> </a:t>
            </a:r>
            <a:r>
              <a:rPr lang="en-US" altLang="zh-CN" sz="1800" i="0" dirty="0"/>
              <a:t>is </a:t>
            </a:r>
            <a:endParaRPr lang="en-US" altLang="zh-CN" sz="1800" i="0" dirty="0"/>
          </a:p>
        </p:txBody>
      </p:sp>
      <p:pic>
        <p:nvPicPr>
          <p:cNvPr id="34" name="Picture 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4343400"/>
            <a:ext cx="2276475" cy="95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5" name="Rectangle 20"/>
          <p:cNvSpPr>
            <a:spLocks noChangeArrowheads="1"/>
          </p:cNvSpPr>
          <p:nvPr/>
        </p:nvSpPr>
        <p:spPr bwMode="auto">
          <a:xfrm>
            <a:off x="700462" y="5583351"/>
            <a:ext cx="805894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contribution to the field at </a:t>
            </a:r>
            <a:r>
              <a:rPr lang="en-US" altLang="zh-CN" sz="1800" i="1" dirty="0"/>
              <a:t>P</a:t>
            </a:r>
            <a:r>
              <a:rPr lang="en-US" altLang="zh-CN" sz="1800" dirty="0"/>
              <a:t> </a:t>
            </a:r>
            <a:r>
              <a:rPr lang="en-US" altLang="zh-CN" sz="1800" i="0" dirty="0"/>
              <a:t>from </a:t>
            </a:r>
            <a:r>
              <a:rPr lang="en-US" altLang="zh-CN" sz="1800" i="0" dirty="0">
                <a:solidFill>
                  <a:srgbClr val="C00000"/>
                </a:solidFill>
              </a:rPr>
              <a:t>any portion of the current </a:t>
            </a:r>
            <a:r>
              <a:rPr lang="en-US" altLang="zh-CN" sz="1800" i="0" dirty="0"/>
              <a:t>will be just the above integral </a:t>
            </a:r>
            <a:r>
              <a:rPr lang="en-US" altLang="zh-CN" sz="1800" i="0" dirty="0">
                <a:solidFill>
                  <a:srgbClr val="C00000"/>
                </a:solidFill>
              </a:rPr>
              <a:t>evaluated</a:t>
            </a: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i="0" dirty="0">
                <a:solidFill>
                  <a:srgbClr val="C00000"/>
                </a:solidFill>
              </a:rPr>
              <a:t>over just that portion</a:t>
            </a:r>
            <a:r>
              <a:rPr lang="en-US" altLang="zh-CN" sz="1800" i="0" dirty="0"/>
              <a:t>.</a:t>
            </a:r>
            <a:endParaRPr lang="en-US" altLang="zh-CN" sz="1800" i="0" dirty="0"/>
          </a:p>
        </p:txBody>
      </p:sp>
      <p:sp>
        <p:nvSpPr>
          <p:cNvPr id="37" name="Rectangle 18"/>
          <p:cNvSpPr>
            <a:spLocks noChangeArrowheads="1"/>
          </p:cNvSpPr>
          <p:nvPr/>
        </p:nvSpPr>
        <p:spPr bwMode="auto">
          <a:xfrm>
            <a:off x="3788763" y="3311289"/>
            <a:ext cx="47456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To determine the total field arising from the closed circuit path, we sum the contributions from the current elements that make up the entire loop, or</a:t>
            </a:r>
            <a:endParaRPr lang="en-US" altLang="zh-CN" sz="1800" i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Two- and Three-Dimensional Currents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6" name="Picture 2" descr="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364" y="1934128"/>
            <a:ext cx="2889250" cy="158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367" y="2546109"/>
            <a:ext cx="10239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625476" y="1828800"/>
            <a:ext cx="4667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On a surface that carries </a:t>
            </a:r>
            <a:r>
              <a:rPr lang="en-US" altLang="zh-CN" sz="1800" i="0" dirty="0">
                <a:solidFill>
                  <a:srgbClr val="C00000"/>
                </a:solidFill>
              </a:rPr>
              <a:t>uniform surface current</a:t>
            </a:r>
            <a:endParaRPr lang="en-US" altLang="zh-CN" sz="1800" i="0" dirty="0">
              <a:solidFill>
                <a:srgbClr val="C00000"/>
              </a:solidFill>
            </a:endParaRPr>
          </a:p>
          <a:p>
            <a:r>
              <a:rPr lang="en-US" altLang="zh-CN" sz="1800" i="0" dirty="0">
                <a:solidFill>
                  <a:srgbClr val="C00000"/>
                </a:solidFill>
              </a:rPr>
              <a:t>density</a:t>
            </a:r>
            <a:r>
              <a:rPr lang="en-US" altLang="zh-CN" sz="1800" i="0" dirty="0"/>
              <a:t> </a:t>
            </a:r>
            <a:r>
              <a:rPr lang="en-US" altLang="zh-CN" sz="1800" b="1" i="0" dirty="0"/>
              <a:t>K </a:t>
            </a:r>
            <a:r>
              <a:rPr lang="en-US" altLang="zh-CN" sz="1800" i="0" dirty="0"/>
              <a:t>[A/m], the current within width </a:t>
            </a:r>
            <a:r>
              <a:rPr lang="en-US" altLang="zh-CN" sz="1800" i="1" dirty="0"/>
              <a:t>b</a:t>
            </a:r>
            <a:r>
              <a:rPr lang="en-US" altLang="zh-CN" sz="1800" dirty="0"/>
              <a:t> </a:t>
            </a:r>
            <a:r>
              <a:rPr lang="en-US" altLang="zh-CN" sz="1800" i="0" dirty="0"/>
              <a:t>is</a:t>
            </a:r>
            <a:endParaRPr lang="en-US" altLang="zh-CN" sz="1800" i="0" dirty="0"/>
          </a:p>
        </p:txBody>
      </p:sp>
      <p:pic>
        <p:nvPicPr>
          <p:cNvPr id="19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38" y="3733800"/>
            <a:ext cx="1490663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639853" y="2971800"/>
            <a:ext cx="42449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..and so the </a:t>
            </a:r>
            <a:r>
              <a:rPr lang="en-US" altLang="zh-CN" sz="1800" i="0" dirty="0">
                <a:solidFill>
                  <a:srgbClr val="C00000"/>
                </a:solidFill>
              </a:rPr>
              <a:t>differential current quantity </a:t>
            </a:r>
            <a:r>
              <a:rPr lang="en-US" altLang="zh-CN" sz="1800" i="0" dirty="0"/>
              <a:t>that</a:t>
            </a:r>
            <a:endParaRPr lang="en-US" altLang="zh-CN" sz="1800" i="0" dirty="0"/>
          </a:p>
          <a:p>
            <a:r>
              <a:rPr lang="en-US" altLang="zh-CN" sz="1800" i="0" dirty="0"/>
              <a:t>appears in the </a:t>
            </a:r>
            <a:r>
              <a:rPr lang="en-US" altLang="zh-CN" sz="1800" i="0" dirty="0" err="1"/>
              <a:t>Biot-Savart</a:t>
            </a:r>
            <a:r>
              <a:rPr lang="en-US" altLang="zh-CN" sz="1800" i="0" dirty="0"/>
              <a:t> law becomes:</a:t>
            </a:r>
            <a:endParaRPr lang="en-US" altLang="zh-CN" sz="1800" i="0" dirty="0"/>
          </a:p>
        </p:txBody>
      </p:sp>
      <p:pic>
        <p:nvPicPr>
          <p:cNvPr id="21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343" y="4114800"/>
            <a:ext cx="2422525" cy="106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636978" y="4200524"/>
            <a:ext cx="44227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magnetic field arising from a current </a:t>
            </a:r>
            <a:endParaRPr lang="en-US" altLang="zh-CN" sz="1800" i="0" dirty="0"/>
          </a:p>
          <a:p>
            <a:r>
              <a:rPr lang="en-US" altLang="zh-CN" sz="1800" i="0" dirty="0"/>
              <a:t>sheet is thus found from the two-dimensional </a:t>
            </a:r>
            <a:endParaRPr lang="en-US" altLang="zh-CN" sz="1800" i="0" dirty="0"/>
          </a:p>
          <a:p>
            <a:r>
              <a:rPr lang="en-US" altLang="zh-CN" sz="1800" i="0" dirty="0"/>
              <a:t>form of the </a:t>
            </a:r>
            <a:r>
              <a:rPr lang="en-US" altLang="zh-CN" sz="1800" i="0" dirty="0" err="1"/>
              <a:t>Biot-Savart</a:t>
            </a:r>
            <a:r>
              <a:rPr lang="en-US" altLang="zh-CN" sz="1800" i="0" dirty="0"/>
              <a:t> law:</a:t>
            </a:r>
            <a:endParaRPr lang="en-US" altLang="zh-CN" sz="1800" i="0" dirty="0"/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609601" y="5334000"/>
            <a:ext cx="54102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In a similar way, a </a:t>
            </a:r>
            <a:r>
              <a:rPr lang="en-US" altLang="zh-CN" sz="1800" b="1" i="0" dirty="0"/>
              <a:t>volume current</a:t>
            </a:r>
            <a:r>
              <a:rPr lang="en-US" altLang="zh-CN" sz="1800" i="0" dirty="0"/>
              <a:t> will be made up</a:t>
            </a:r>
            <a:endParaRPr lang="en-US" altLang="zh-CN" sz="1800" i="0" dirty="0"/>
          </a:p>
          <a:p>
            <a:r>
              <a:rPr lang="en-US" altLang="zh-CN" sz="1800" i="0" dirty="0"/>
              <a:t>of three-dimensional current elements, and so the </a:t>
            </a:r>
            <a:r>
              <a:rPr lang="en-US" altLang="zh-CN" sz="1800" i="0" dirty="0" err="1"/>
              <a:t>Biot-Savart</a:t>
            </a:r>
            <a:r>
              <a:rPr lang="en-US" altLang="zh-CN" sz="1800" dirty="0"/>
              <a:t> </a:t>
            </a:r>
            <a:r>
              <a:rPr lang="en-US" altLang="zh-CN" sz="1800" i="0" dirty="0"/>
              <a:t>law for this case becomes:</a:t>
            </a:r>
            <a:endParaRPr lang="en-US" altLang="zh-CN" sz="1800" i="0" dirty="0"/>
          </a:p>
        </p:txBody>
      </p:sp>
      <p:pic>
        <p:nvPicPr>
          <p:cNvPr id="24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1" y="5368506"/>
            <a:ext cx="2293938" cy="849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26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0917" y="1189037"/>
            <a:ext cx="1846263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 of the </a:t>
            </a:r>
            <a:r>
              <a:rPr lang="en-US" altLang="zh-CN" sz="28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Biot-Savart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 Law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381000" y="1634590"/>
            <a:ext cx="801278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In this example, we evaluate the magnetic field intensity on the </a:t>
            </a:r>
            <a:r>
              <a:rPr lang="en-US" altLang="zh-CN" sz="1800" i="1" dirty="0"/>
              <a:t>y</a:t>
            </a:r>
            <a:r>
              <a:rPr lang="en-US" altLang="zh-CN" sz="1800" dirty="0"/>
              <a:t> </a:t>
            </a:r>
            <a:r>
              <a:rPr lang="en-US" altLang="zh-CN" sz="1800" i="0" dirty="0"/>
              <a:t>axis (equivalently in the </a:t>
            </a:r>
            <a:r>
              <a:rPr lang="en-US" altLang="zh-CN" sz="1800" i="1" dirty="0" err="1"/>
              <a:t>xy</a:t>
            </a:r>
            <a:r>
              <a:rPr lang="en-US" altLang="zh-CN" sz="1800" dirty="0"/>
              <a:t> </a:t>
            </a:r>
            <a:r>
              <a:rPr lang="en-US" altLang="zh-CN" sz="1800" i="0" dirty="0"/>
              <a:t>plane) arising from a </a:t>
            </a:r>
            <a:r>
              <a:rPr lang="en-US" altLang="zh-CN" sz="1800" i="0" dirty="0">
                <a:highlight>
                  <a:srgbClr val="FFFF00"/>
                </a:highlight>
              </a:rPr>
              <a:t>filament current</a:t>
            </a:r>
            <a:r>
              <a:rPr lang="en-US" altLang="zh-CN" sz="1800" i="0" dirty="0"/>
              <a:t> of infinite </a:t>
            </a:r>
            <a:r>
              <a:rPr lang="en-US" altLang="zh-CN" sz="1800" i="0"/>
              <a:t>length on </a:t>
            </a:r>
            <a:r>
              <a:rPr lang="en-US" altLang="zh-CN" sz="1800" i="0" dirty="0"/>
              <a:t>the </a:t>
            </a:r>
            <a:r>
              <a:rPr lang="en-US" altLang="zh-CN" sz="1800" i="1" dirty="0"/>
              <a:t>z</a:t>
            </a:r>
            <a:r>
              <a:rPr lang="en-US" altLang="zh-CN" sz="1800" dirty="0"/>
              <a:t> </a:t>
            </a:r>
            <a:r>
              <a:rPr lang="en-US" altLang="zh-CN" sz="1800" i="0" dirty="0"/>
              <a:t>axis.</a:t>
            </a:r>
            <a:endParaRPr lang="en-US" altLang="zh-CN" sz="1800" i="0" dirty="0"/>
          </a:p>
        </p:txBody>
      </p:sp>
      <p:grpSp>
        <p:nvGrpSpPr>
          <p:cNvPr id="26" name="Group 14"/>
          <p:cNvGrpSpPr/>
          <p:nvPr/>
        </p:nvGrpSpPr>
        <p:grpSpPr bwMode="auto">
          <a:xfrm>
            <a:off x="477468" y="3183508"/>
            <a:ext cx="2951532" cy="407658"/>
            <a:chOff x="354" y="1680"/>
            <a:chExt cx="2258" cy="323"/>
          </a:xfrm>
        </p:grpSpPr>
        <p:grpSp>
          <p:nvGrpSpPr>
            <p:cNvPr id="27" name="Group 13"/>
            <p:cNvGrpSpPr/>
            <p:nvPr/>
          </p:nvGrpSpPr>
          <p:grpSpPr bwMode="auto">
            <a:xfrm>
              <a:off x="354" y="1680"/>
              <a:ext cx="2258" cy="323"/>
              <a:chOff x="354" y="1680"/>
              <a:chExt cx="2258" cy="323"/>
            </a:xfrm>
          </p:grpSpPr>
          <p:pic>
            <p:nvPicPr>
              <p:cNvPr id="29" name="Picture 5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" y="1680"/>
                <a:ext cx="2228" cy="3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</p:pic>
          <p:sp>
            <p:nvSpPr>
              <p:cNvPr id="30" name="Rectangle 12"/>
              <p:cNvSpPr>
                <a:spLocks noChangeArrowheads="1"/>
              </p:cNvSpPr>
              <p:nvPr/>
            </p:nvSpPr>
            <p:spPr bwMode="auto">
              <a:xfrm>
                <a:off x="354" y="1716"/>
                <a:ext cx="392" cy="2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 i="0"/>
              </a:p>
            </p:txBody>
          </p:sp>
        </p:grpSp>
        <p:pic>
          <p:nvPicPr>
            <p:cNvPr id="28" name="Picture 1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2" y="1728"/>
              <a:ext cx="167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</p:grpSp>
      <p:grpSp>
        <p:nvGrpSpPr>
          <p:cNvPr id="31" name="Group 21"/>
          <p:cNvGrpSpPr/>
          <p:nvPr/>
        </p:nvGrpSpPr>
        <p:grpSpPr bwMode="auto">
          <a:xfrm>
            <a:off x="1600200" y="3675527"/>
            <a:ext cx="1918898" cy="744073"/>
            <a:chOff x="1059" y="2160"/>
            <a:chExt cx="1377" cy="558"/>
          </a:xfrm>
        </p:grpSpPr>
        <p:pic>
          <p:nvPicPr>
            <p:cNvPr id="32" name="Picture 1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6" y="2160"/>
              <a:ext cx="1140" cy="5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pic>
          <p:nvPicPr>
            <p:cNvPr id="33" name="Picture 2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9" y="2325"/>
              <a:ext cx="230" cy="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</p:grpSp>
      <p:sp>
        <p:nvSpPr>
          <p:cNvPr id="37" name="Rectangle 27"/>
          <p:cNvSpPr>
            <a:spLocks noChangeArrowheads="1"/>
          </p:cNvSpPr>
          <p:nvPr/>
        </p:nvSpPr>
        <p:spPr bwMode="auto">
          <a:xfrm>
            <a:off x="381000" y="2514600"/>
            <a:ext cx="31149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Using the drawing, we identify:</a:t>
            </a:r>
            <a:endParaRPr lang="en-US" altLang="zh-CN" sz="1800" i="0" dirty="0"/>
          </a:p>
        </p:txBody>
      </p:sp>
      <p:sp>
        <p:nvSpPr>
          <p:cNvPr id="38" name="Rectangle 28"/>
          <p:cNvSpPr>
            <a:spLocks noChangeArrowheads="1"/>
          </p:cNvSpPr>
          <p:nvPr/>
        </p:nvSpPr>
        <p:spPr bwMode="auto">
          <a:xfrm>
            <a:off x="381000" y="3821668"/>
            <a:ext cx="9541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and so.. </a:t>
            </a:r>
            <a:endParaRPr lang="en-US" altLang="zh-CN" sz="1800" i="0" dirty="0"/>
          </a:p>
        </p:txBody>
      </p:sp>
      <p:sp>
        <p:nvSpPr>
          <p:cNvPr id="39" name="Rectangle 29"/>
          <p:cNvSpPr>
            <a:spLocks noChangeArrowheads="1"/>
          </p:cNvSpPr>
          <p:nvPr/>
        </p:nvSpPr>
        <p:spPr bwMode="auto">
          <a:xfrm>
            <a:off x="381000" y="4648200"/>
            <a:ext cx="8579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so that:</a:t>
            </a:r>
            <a:endParaRPr lang="en-US" altLang="zh-CN" sz="1800" i="0" dirty="0"/>
          </a:p>
        </p:txBody>
      </p:sp>
      <p:pic>
        <p:nvPicPr>
          <p:cNvPr id="40" name="Picture 31" descr="BiotSavart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549" y="2494756"/>
            <a:ext cx="3925246" cy="3677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1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257" y="2368127"/>
            <a:ext cx="2202538" cy="815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4" name="Group 26"/>
          <p:cNvGrpSpPr/>
          <p:nvPr/>
        </p:nvGrpSpPr>
        <p:grpSpPr bwMode="auto">
          <a:xfrm>
            <a:off x="530668" y="5327830"/>
            <a:ext cx="4388229" cy="661580"/>
            <a:chOff x="650" y="3636"/>
            <a:chExt cx="3441" cy="501"/>
          </a:xfrm>
        </p:grpSpPr>
        <p:pic>
          <p:nvPicPr>
            <p:cNvPr id="35" name="Picture 2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4" y="3648"/>
              <a:ext cx="2027" cy="4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pic>
          <p:nvPicPr>
            <p:cNvPr id="36" name="Picture 25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" y="3636"/>
              <a:ext cx="1417" cy="5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38" descr="BiotSavart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971800"/>
            <a:ext cx="3925888" cy="3678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 of the </a:t>
            </a:r>
            <a:r>
              <a:rPr lang="en-US" altLang="zh-CN" sz="28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Biot-Savart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 Law (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Cont’d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)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4" name="Picture 2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63726"/>
            <a:ext cx="2992892" cy="70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42" name="Picture 2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675" y="1844675"/>
            <a:ext cx="2054225" cy="72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44" name="Rectangle 27"/>
          <p:cNvSpPr>
            <a:spLocks noChangeArrowheads="1"/>
          </p:cNvSpPr>
          <p:nvPr/>
        </p:nvSpPr>
        <p:spPr bwMode="auto">
          <a:xfrm>
            <a:off x="381000" y="2057678"/>
            <a:ext cx="14998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We now have:</a:t>
            </a:r>
            <a:endParaRPr lang="en-US" altLang="zh-CN" sz="1800" i="0" dirty="0"/>
          </a:p>
        </p:txBody>
      </p:sp>
      <p:sp>
        <p:nvSpPr>
          <p:cNvPr id="48" name="Rectangle 33"/>
          <p:cNvSpPr>
            <a:spLocks noChangeArrowheads="1"/>
          </p:cNvSpPr>
          <p:nvPr/>
        </p:nvSpPr>
        <p:spPr bwMode="auto">
          <a:xfrm>
            <a:off x="413660" y="2790309"/>
            <a:ext cx="33201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Integrate this over the entire wire:</a:t>
            </a:r>
            <a:endParaRPr lang="en-US" altLang="zh-CN" sz="1800" i="0" dirty="0"/>
          </a:p>
        </p:txBody>
      </p:sp>
      <p:sp>
        <p:nvSpPr>
          <p:cNvPr id="49" name="Rectangle 35"/>
          <p:cNvSpPr>
            <a:spLocks noChangeArrowheads="1"/>
          </p:cNvSpPr>
          <p:nvPr/>
        </p:nvSpPr>
        <p:spPr bwMode="auto">
          <a:xfrm>
            <a:off x="461274" y="5685490"/>
            <a:ext cx="35381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..after carrying out the cross product</a:t>
            </a:r>
            <a:endParaRPr lang="en-US" altLang="zh-CN" sz="1800" i="0" dirty="0"/>
          </a:p>
        </p:txBody>
      </p:sp>
      <p:grpSp>
        <p:nvGrpSpPr>
          <p:cNvPr id="3" name="组合 2"/>
          <p:cNvGrpSpPr/>
          <p:nvPr/>
        </p:nvGrpSpPr>
        <p:grpSpPr>
          <a:xfrm>
            <a:off x="381000" y="3505200"/>
            <a:ext cx="4460875" cy="1965325"/>
            <a:chOff x="457200" y="3597275"/>
            <a:chExt cx="4460875" cy="1965325"/>
          </a:xfrm>
        </p:grpSpPr>
        <p:sp>
          <p:nvSpPr>
            <p:cNvPr id="46" name="Rectangle 29"/>
            <p:cNvSpPr>
              <a:spLocks noChangeArrowheads="1"/>
            </p:cNvSpPr>
            <p:nvPr/>
          </p:nvSpPr>
          <p:spPr bwMode="auto">
            <a:xfrm>
              <a:off x="550863" y="3867150"/>
              <a:ext cx="469900" cy="4365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 i="0"/>
            </a:p>
          </p:txBody>
        </p:sp>
        <p:pic>
          <p:nvPicPr>
            <p:cNvPr id="52" name="Picture 2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" y="3597275"/>
              <a:ext cx="4460875" cy="1965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" name="Rectangle 29"/>
            <p:cNvSpPr>
              <a:spLocks noChangeArrowheads="1"/>
            </p:cNvSpPr>
            <p:nvPr/>
          </p:nvSpPr>
          <p:spPr bwMode="auto">
            <a:xfrm>
              <a:off x="550863" y="3867150"/>
              <a:ext cx="469900" cy="4365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i="0"/>
            </a:p>
          </p:txBody>
        </p:sp>
        <p:pic>
          <p:nvPicPr>
            <p:cNvPr id="54" name="Picture 31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3930650"/>
              <a:ext cx="274638" cy="347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 of the </a:t>
            </a:r>
            <a:r>
              <a:rPr lang="en-US" altLang="zh-CN" sz="28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Biot-Savart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 Law (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Cont’d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)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8" name="Group 39"/>
          <p:cNvGrpSpPr/>
          <p:nvPr/>
        </p:nvGrpSpPr>
        <p:grpSpPr bwMode="auto">
          <a:xfrm>
            <a:off x="356139" y="1990726"/>
            <a:ext cx="8728075" cy="3978275"/>
            <a:chOff x="218" y="1478"/>
            <a:chExt cx="5498" cy="2506"/>
          </a:xfrm>
        </p:grpSpPr>
        <p:grpSp>
          <p:nvGrpSpPr>
            <p:cNvPr id="19" name="Group 27"/>
            <p:cNvGrpSpPr/>
            <p:nvPr/>
          </p:nvGrpSpPr>
          <p:grpSpPr bwMode="auto">
            <a:xfrm>
              <a:off x="1008" y="1478"/>
              <a:ext cx="2188" cy="634"/>
              <a:chOff x="1008" y="1296"/>
              <a:chExt cx="2188" cy="634"/>
            </a:xfrm>
          </p:grpSpPr>
          <p:pic>
            <p:nvPicPr>
              <p:cNvPr id="30" name="Picture 25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2" y="1296"/>
                <a:ext cx="2044" cy="6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" name="Picture 26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" y="1518"/>
                <a:ext cx="167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0" name="Rectangle 28"/>
            <p:cNvSpPr>
              <a:spLocks noChangeArrowheads="1"/>
            </p:cNvSpPr>
            <p:nvPr/>
          </p:nvSpPr>
          <p:spPr bwMode="auto">
            <a:xfrm>
              <a:off x="218" y="1695"/>
              <a:ext cx="63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800" i="0" dirty="0"/>
                <a:t>we have:</a:t>
              </a:r>
              <a:endParaRPr lang="en-US" altLang="zh-CN" sz="1800" i="0" dirty="0"/>
            </a:p>
          </p:txBody>
        </p:sp>
        <p:pic>
          <p:nvPicPr>
            <p:cNvPr id="21" name="Picture 2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2" y="2349"/>
              <a:ext cx="2113" cy="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2" name="Group 32"/>
            <p:cNvGrpSpPr/>
            <p:nvPr/>
          </p:nvGrpSpPr>
          <p:grpSpPr bwMode="auto">
            <a:xfrm>
              <a:off x="1175" y="3202"/>
              <a:ext cx="1417" cy="782"/>
              <a:chOff x="912" y="2928"/>
              <a:chExt cx="1417" cy="782"/>
            </a:xfrm>
          </p:grpSpPr>
          <p:pic>
            <p:nvPicPr>
              <p:cNvPr id="28" name="Picture 30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2" y="2928"/>
                <a:ext cx="1417" cy="7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" name="Rectangle 31"/>
              <p:cNvSpPr>
                <a:spLocks noChangeArrowheads="1"/>
              </p:cNvSpPr>
              <p:nvPr/>
            </p:nvSpPr>
            <p:spPr bwMode="auto">
              <a:xfrm>
                <a:off x="1199" y="3319"/>
                <a:ext cx="109" cy="167"/>
              </a:xfrm>
              <a:prstGeom prst="rect">
                <a:avLst/>
              </a:prstGeom>
              <a:solidFill>
                <a:srgbClr val="E7F5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 i="0"/>
              </a:p>
            </p:txBody>
          </p:sp>
        </p:grpSp>
        <p:sp>
          <p:nvSpPr>
            <p:cNvPr id="23" name="Rectangle 33"/>
            <p:cNvSpPr>
              <a:spLocks noChangeArrowheads="1"/>
            </p:cNvSpPr>
            <p:nvPr/>
          </p:nvSpPr>
          <p:spPr bwMode="auto">
            <a:xfrm>
              <a:off x="537" y="3513"/>
              <a:ext cx="53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800" i="0"/>
                <a:t>finally:</a:t>
              </a:r>
              <a:endParaRPr lang="en-US" altLang="zh-CN" sz="1800" i="0"/>
            </a:p>
          </p:txBody>
        </p:sp>
        <p:pic>
          <p:nvPicPr>
            <p:cNvPr id="25" name="Picture 35" descr="7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0" y="1537"/>
              <a:ext cx="1624" cy="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Rectangle 36"/>
            <p:cNvSpPr>
              <a:spLocks noChangeArrowheads="1"/>
            </p:cNvSpPr>
            <p:nvPr/>
          </p:nvSpPr>
          <p:spPr bwMode="auto">
            <a:xfrm>
              <a:off x="3151" y="3264"/>
              <a:ext cx="2565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zh-CN" sz="1600" i="0" dirty="0">
                  <a:solidFill>
                    <a:srgbClr val="C00000"/>
                  </a:solidFill>
                </a:rPr>
                <a:t>Current is into the page</a:t>
              </a:r>
              <a:r>
                <a:rPr lang="en-US" altLang="zh-CN" sz="1600" i="0" dirty="0"/>
                <a:t>. </a:t>
              </a:r>
              <a:endParaRPr lang="en-US" altLang="zh-CN" sz="1600" i="0" dirty="0"/>
            </a:p>
            <a:p>
              <a:pPr algn="ctr"/>
              <a:r>
                <a:rPr lang="en-US" altLang="zh-CN" sz="1600" i="0" dirty="0"/>
                <a:t>Magnetic field streamlines </a:t>
              </a:r>
              <a:endParaRPr lang="en-US" altLang="zh-CN" sz="1600" i="0" dirty="0"/>
            </a:p>
            <a:p>
              <a:pPr algn="ctr"/>
              <a:r>
                <a:rPr lang="en-US" altLang="zh-CN" sz="1600" i="0" dirty="0"/>
                <a:t>are concentric circles, </a:t>
              </a:r>
              <a:r>
                <a:rPr lang="en-US" altLang="zh-CN" sz="1600" i="0" dirty="0">
                  <a:solidFill>
                    <a:srgbClr val="C00000"/>
                  </a:solidFill>
                </a:rPr>
                <a:t>whose magnitudes</a:t>
              </a:r>
              <a:endParaRPr lang="en-US" altLang="zh-CN" sz="1600" i="0" dirty="0">
                <a:solidFill>
                  <a:srgbClr val="C00000"/>
                </a:solidFill>
              </a:endParaRPr>
            </a:p>
            <a:p>
              <a:pPr algn="ctr"/>
              <a:r>
                <a:rPr lang="en-US" altLang="zh-CN" sz="1600" i="0" dirty="0">
                  <a:solidFill>
                    <a:srgbClr val="C00000"/>
                  </a:solidFill>
                </a:rPr>
                <a:t>decrease as the inverse distance from the </a:t>
              </a:r>
              <a:r>
                <a:rPr lang="en-US" altLang="zh-CN" sz="1600" i="1" dirty="0">
                  <a:solidFill>
                    <a:srgbClr val="C00000"/>
                  </a:solidFill>
                </a:rPr>
                <a:t>z</a:t>
              </a:r>
              <a:r>
                <a:rPr lang="en-US" altLang="zh-CN" sz="1600" dirty="0">
                  <a:solidFill>
                    <a:srgbClr val="C00000"/>
                  </a:solidFill>
                </a:rPr>
                <a:t> </a:t>
              </a:r>
              <a:r>
                <a:rPr lang="en-US" altLang="zh-CN" sz="1600" i="0" dirty="0">
                  <a:solidFill>
                    <a:srgbClr val="C00000"/>
                  </a:solidFill>
                </a:rPr>
                <a:t>axis</a:t>
              </a:r>
              <a:endParaRPr lang="en-US" altLang="zh-CN" sz="1600" i="0" dirty="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Comparison: Electric field of a line charge Vs Magnetic field of a line current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4" name="Picture 2" descr="Chapter 2 Fig 6"/>
          <p:cNvPicPr>
            <a:picLocks noChangeAspect="1" noChangeArrowheads="1"/>
          </p:cNvPicPr>
          <p:nvPr/>
        </p:nvPicPr>
        <p:blipFill>
          <a:blip r:embed="rId2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44906"/>
            <a:ext cx="34290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465582"/>
            <a:ext cx="2339975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5" name="Picture 38" descr="BiotSavar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2426" y="2209800"/>
            <a:ext cx="3925888" cy="3678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3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660" y="5410019"/>
            <a:ext cx="2249488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 Field Arising from a Finite Current Segment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38400"/>
            <a:ext cx="2468562" cy="839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050" y="3276600"/>
            <a:ext cx="399415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609600" y="1654718"/>
            <a:ext cx="7315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In this case, the field is to be found in the </a:t>
            </a:r>
            <a:r>
              <a:rPr lang="en-US" altLang="zh-CN" sz="1800" i="1" dirty="0" err="1"/>
              <a:t>xy</a:t>
            </a:r>
            <a:r>
              <a:rPr lang="en-US" altLang="zh-CN" sz="1800" dirty="0"/>
              <a:t> </a:t>
            </a:r>
            <a:r>
              <a:rPr lang="en-US" altLang="zh-CN" sz="1800" i="0" dirty="0"/>
              <a:t>plane at Point 2. The </a:t>
            </a:r>
            <a:r>
              <a:rPr lang="en-US" altLang="zh-CN" sz="1800" i="0" dirty="0" err="1"/>
              <a:t>Biot-Savart</a:t>
            </a:r>
            <a:r>
              <a:rPr lang="en-US" altLang="zh-CN" sz="1800" i="0" dirty="0"/>
              <a:t> integral is taken over the wire length:</a:t>
            </a:r>
            <a:endParaRPr lang="en-US" altLang="zh-CN" sz="1800" i="0" dirty="0"/>
          </a:p>
        </p:txBody>
      </p: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658520" y="5334000"/>
            <a:ext cx="36086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..after a few additional steps we find:</a:t>
            </a:r>
            <a:endParaRPr lang="en-US" altLang="zh-CN" sz="1800" i="0" dirty="0"/>
          </a:p>
        </p:txBody>
      </p:sp>
      <p:grpSp>
        <p:nvGrpSpPr>
          <p:cNvPr id="3" name="组合 2"/>
          <p:cNvGrpSpPr/>
          <p:nvPr/>
        </p:nvGrpSpPr>
        <p:grpSpPr>
          <a:xfrm>
            <a:off x="867343" y="5867400"/>
            <a:ext cx="3886200" cy="804863"/>
            <a:chOff x="867343" y="5867400"/>
            <a:chExt cx="3886200" cy="804863"/>
          </a:xfrm>
        </p:grpSpPr>
        <p:grpSp>
          <p:nvGrpSpPr>
            <p:cNvPr id="15" name="Group 17"/>
            <p:cNvGrpSpPr/>
            <p:nvPr/>
          </p:nvGrpSpPr>
          <p:grpSpPr bwMode="auto">
            <a:xfrm>
              <a:off x="1080068" y="5867400"/>
              <a:ext cx="3521075" cy="804863"/>
              <a:chOff x="450" y="3408"/>
              <a:chExt cx="2218" cy="507"/>
            </a:xfrm>
          </p:grpSpPr>
          <p:pic>
            <p:nvPicPr>
              <p:cNvPr id="16" name="Picture 6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4" y="3408"/>
                <a:ext cx="2044" cy="5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</p:pic>
          <p:pic>
            <p:nvPicPr>
              <p:cNvPr id="17" name="Picture 16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" y="3570"/>
                <a:ext cx="225" cy="1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867343" y="5883075"/>
              <a:ext cx="3886200" cy="714560"/>
            </a:xfrm>
            <a:prstGeom prst="rect">
              <a:avLst/>
            </a:prstGeom>
            <a:noFill/>
            <a:ln w="9525">
              <a:solidFill>
                <a:srgbClr val="CC006B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7F5FD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 i="0"/>
            </a:p>
          </p:txBody>
        </p:sp>
      </p:grpSp>
      <p:pic>
        <p:nvPicPr>
          <p:cNvPr id="19" name="Picture 21" descr="Short Wir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642" y="2333412"/>
            <a:ext cx="3452558" cy="3753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1341556" y="4191000"/>
            <a:ext cx="3521075" cy="929022"/>
            <a:chOff x="1341556" y="4419600"/>
            <a:chExt cx="3521075" cy="929022"/>
          </a:xfrm>
        </p:grpSpPr>
        <p:grpSp>
          <p:nvGrpSpPr>
            <p:cNvPr id="4" name="组合 3"/>
            <p:cNvGrpSpPr/>
            <p:nvPr/>
          </p:nvGrpSpPr>
          <p:grpSpPr>
            <a:xfrm>
              <a:off x="1341556" y="4419600"/>
              <a:ext cx="3521075" cy="929022"/>
              <a:chOff x="1341556" y="4584721"/>
              <a:chExt cx="3521075" cy="929022"/>
            </a:xfrm>
          </p:grpSpPr>
          <p:pic>
            <p:nvPicPr>
              <p:cNvPr id="20" name="Picture 29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41556" y="4606287"/>
                <a:ext cx="3087688" cy="9074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50" name="Picture 2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95856" y="4584721"/>
                <a:ext cx="866775" cy="276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51" name="Picture 3"/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95856" y="5323243"/>
                <a:ext cx="838200" cy="190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" name="矩形 5"/>
            <p:cNvSpPr/>
            <p:nvPr/>
          </p:nvSpPr>
          <p:spPr>
            <a:xfrm>
              <a:off x="3174522" y="4475851"/>
              <a:ext cx="152400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3657600" y="5029200"/>
              <a:ext cx="76200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 Example: Magnetic Field from a Current Loop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Rectangle 28"/>
          <p:cNvSpPr>
            <a:spLocks noChangeArrowheads="1"/>
          </p:cNvSpPr>
          <p:nvPr/>
        </p:nvSpPr>
        <p:spPr bwMode="auto">
          <a:xfrm>
            <a:off x="446882" y="1666220"/>
            <a:ext cx="6451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Consider a </a:t>
            </a:r>
            <a:r>
              <a:rPr lang="en-US" altLang="zh-CN" sz="1800" i="0" dirty="0">
                <a:solidFill>
                  <a:srgbClr val="C00000"/>
                </a:solidFill>
              </a:rPr>
              <a:t>circular current loop </a:t>
            </a:r>
            <a:r>
              <a:rPr lang="en-US" altLang="zh-CN" sz="1800" i="0" dirty="0"/>
              <a:t>of radius </a:t>
            </a:r>
            <a:r>
              <a:rPr lang="en-US" altLang="zh-CN" sz="1800" i="1" dirty="0"/>
              <a:t>a</a:t>
            </a:r>
            <a:r>
              <a:rPr lang="en-US" altLang="zh-CN" sz="1800" dirty="0"/>
              <a:t> </a:t>
            </a:r>
            <a:r>
              <a:rPr lang="en-US" altLang="zh-CN" sz="1800" i="0" dirty="0"/>
              <a:t>in the </a:t>
            </a:r>
            <a:r>
              <a:rPr lang="en-US" altLang="zh-CN" sz="1800" i="1" dirty="0"/>
              <a:t>x-y</a:t>
            </a:r>
            <a:r>
              <a:rPr lang="en-US" altLang="zh-CN" sz="1800" dirty="0"/>
              <a:t> </a:t>
            </a:r>
            <a:r>
              <a:rPr lang="en-US" altLang="zh-CN" sz="1800" i="0" dirty="0"/>
              <a:t>plane, which </a:t>
            </a:r>
            <a:endParaRPr lang="en-US" altLang="zh-CN" sz="1800" i="0" dirty="0"/>
          </a:p>
          <a:p>
            <a:r>
              <a:rPr lang="en-US" altLang="zh-CN" sz="1800" i="0" dirty="0"/>
              <a:t>carries </a:t>
            </a:r>
            <a:r>
              <a:rPr lang="en-US" altLang="zh-CN" sz="1800" i="0" dirty="0">
                <a:solidFill>
                  <a:srgbClr val="C00000"/>
                </a:solidFill>
              </a:rPr>
              <a:t>steady current </a:t>
            </a:r>
            <a:r>
              <a:rPr lang="en-US" altLang="zh-CN" sz="1800" i="1" dirty="0"/>
              <a:t>I</a:t>
            </a:r>
            <a:r>
              <a:rPr lang="en-US" altLang="zh-CN" sz="1800" dirty="0"/>
              <a:t>.  </a:t>
            </a:r>
            <a:r>
              <a:rPr lang="en-US" altLang="zh-CN" sz="1800" i="0" dirty="0"/>
              <a:t>We wish to find the magnetic field strength</a:t>
            </a:r>
            <a:endParaRPr lang="en-US" altLang="zh-CN" sz="1800" i="0" dirty="0"/>
          </a:p>
          <a:p>
            <a:r>
              <a:rPr lang="en-US" altLang="zh-CN" sz="1800" i="0" dirty="0"/>
              <a:t>anywhere on the </a:t>
            </a:r>
            <a:r>
              <a:rPr lang="en-US" altLang="zh-CN" sz="1800" i="1" dirty="0"/>
              <a:t>z</a:t>
            </a:r>
            <a:r>
              <a:rPr lang="en-US" altLang="zh-CN" sz="1800" i="0" dirty="0"/>
              <a:t> axis.</a:t>
            </a:r>
            <a:endParaRPr lang="en-US" altLang="zh-CN" sz="1800" i="0" dirty="0"/>
          </a:p>
        </p:txBody>
      </p:sp>
      <p:sp>
        <p:nvSpPr>
          <p:cNvPr id="27" name="Rectangle 29"/>
          <p:cNvSpPr>
            <a:spLocks noChangeArrowheads="1"/>
          </p:cNvSpPr>
          <p:nvPr/>
        </p:nvSpPr>
        <p:spPr bwMode="auto">
          <a:xfrm>
            <a:off x="453338" y="2628120"/>
            <a:ext cx="326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We will use the </a:t>
            </a:r>
            <a:r>
              <a:rPr lang="en-US" altLang="zh-CN" sz="1800" i="0" dirty="0" err="1"/>
              <a:t>Biot-Savart</a:t>
            </a:r>
            <a:r>
              <a:rPr lang="en-US" altLang="zh-CN" sz="1800" i="0" dirty="0"/>
              <a:t> Law:</a:t>
            </a:r>
            <a:endParaRPr lang="en-US" altLang="zh-CN" sz="1800" i="0" dirty="0"/>
          </a:p>
        </p:txBody>
      </p:sp>
      <p:pic>
        <p:nvPicPr>
          <p:cNvPr id="28" name="Picture 3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313" y="3148342"/>
            <a:ext cx="2125272" cy="674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29" name="Picture 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200" y="4078257"/>
            <a:ext cx="1892300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0" name="Picture 3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185" y="4758935"/>
            <a:ext cx="1955800" cy="73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1" name="Picture 3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313" y="5581769"/>
            <a:ext cx="2339975" cy="8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2" name="Rectangle 37"/>
          <p:cNvSpPr>
            <a:spLocks noChangeArrowheads="1"/>
          </p:cNvSpPr>
          <p:nvPr/>
        </p:nvSpPr>
        <p:spPr bwMode="auto">
          <a:xfrm>
            <a:off x="533400" y="4040981"/>
            <a:ext cx="812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where:</a:t>
            </a:r>
            <a:endParaRPr lang="en-US" altLang="zh-CN" sz="1800" i="0" dirty="0"/>
          </a:p>
        </p:txBody>
      </p:sp>
      <p:pic>
        <p:nvPicPr>
          <p:cNvPr id="33" name="Picture 40" descr="Loop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312" y="2514600"/>
            <a:ext cx="3795713" cy="360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 Example: Magnetic Field from a Current Loop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6" name="Rectangle 36"/>
          <p:cNvSpPr>
            <a:spLocks noChangeArrowheads="1"/>
          </p:cNvSpPr>
          <p:nvPr/>
        </p:nvSpPr>
        <p:spPr bwMode="auto">
          <a:xfrm>
            <a:off x="381000" y="1676400"/>
            <a:ext cx="6545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Substituting the previous expressions, the Biot-Savart Law becomes:</a:t>
            </a:r>
            <a:endParaRPr lang="en-US" altLang="zh-CN" sz="1800" i="0"/>
          </a:p>
        </p:txBody>
      </p:sp>
      <p:pic>
        <p:nvPicPr>
          <p:cNvPr id="17" name="Picture 3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20" y="2177721"/>
            <a:ext cx="4268788" cy="93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8" y="3475832"/>
            <a:ext cx="3656013" cy="92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3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81" y="5205323"/>
            <a:ext cx="295275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41"/>
          <p:cNvSpPr>
            <a:spLocks noChangeArrowheads="1"/>
          </p:cNvSpPr>
          <p:nvPr/>
        </p:nvSpPr>
        <p:spPr bwMode="auto">
          <a:xfrm>
            <a:off x="419100" y="3105944"/>
            <a:ext cx="3467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carry out the cross products to find:</a:t>
            </a:r>
            <a:endParaRPr lang="en-US" altLang="zh-CN" sz="1800" i="0" dirty="0"/>
          </a:p>
        </p:txBody>
      </p:sp>
      <p:sp>
        <p:nvSpPr>
          <p:cNvPr id="21" name="Rectangle 42"/>
          <p:cNvSpPr>
            <a:spLocks noChangeArrowheads="1"/>
          </p:cNvSpPr>
          <p:nvPr/>
        </p:nvSpPr>
        <p:spPr bwMode="auto">
          <a:xfrm>
            <a:off x="486763" y="4419600"/>
            <a:ext cx="45424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but we must include the angle dependence in the radial unit vector:</a:t>
            </a:r>
            <a:endParaRPr lang="en-US" altLang="zh-CN" sz="1800" i="0" dirty="0"/>
          </a:p>
        </p:txBody>
      </p:sp>
      <p:sp>
        <p:nvSpPr>
          <p:cNvPr id="22" name="Rectangle 43"/>
          <p:cNvSpPr>
            <a:spLocks noChangeArrowheads="1"/>
          </p:cNvSpPr>
          <p:nvPr/>
        </p:nvSpPr>
        <p:spPr bwMode="auto">
          <a:xfrm>
            <a:off x="457200" y="5715000"/>
            <a:ext cx="8077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>
                <a:solidFill>
                  <a:srgbClr val="C00000"/>
                </a:solidFill>
              </a:rPr>
              <a:t>with this substitution, the radial component will integrate to zero, meaning that all radial components will cancel on the </a:t>
            </a:r>
            <a:r>
              <a:rPr lang="en-US" altLang="zh-CN" sz="1800" i="1" dirty="0">
                <a:solidFill>
                  <a:srgbClr val="C00000"/>
                </a:solidFill>
              </a:rPr>
              <a:t>z</a:t>
            </a: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i="0" dirty="0">
                <a:solidFill>
                  <a:srgbClr val="C00000"/>
                </a:solidFill>
              </a:rPr>
              <a:t>axis.</a:t>
            </a:r>
            <a:r>
              <a:rPr lang="en-US" altLang="zh-CN" sz="1800" i="0" dirty="0"/>
              <a:t>  </a:t>
            </a:r>
            <a:endParaRPr lang="en-US" altLang="zh-CN" sz="1800" i="0" dirty="0"/>
          </a:p>
        </p:txBody>
      </p:sp>
      <p:pic>
        <p:nvPicPr>
          <p:cNvPr id="23" name="Picture 46" descr="Loop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687" y="2046288"/>
            <a:ext cx="3795713" cy="360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 Example: Magnetic Field from a Current Loop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3" name="Picture 46" descr="Loo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687" y="2046288"/>
            <a:ext cx="3795713" cy="360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36"/>
          <p:cNvSpPr>
            <a:spLocks noChangeArrowheads="1"/>
          </p:cNvSpPr>
          <p:nvPr/>
        </p:nvSpPr>
        <p:spPr bwMode="auto">
          <a:xfrm>
            <a:off x="512762" y="1905000"/>
            <a:ext cx="51260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Now, only the </a:t>
            </a:r>
            <a:r>
              <a:rPr lang="en-US" altLang="zh-CN" sz="1800" i="1" dirty="0"/>
              <a:t>z</a:t>
            </a:r>
            <a:r>
              <a:rPr lang="en-US" altLang="zh-CN" sz="1800" dirty="0"/>
              <a:t> </a:t>
            </a:r>
            <a:r>
              <a:rPr lang="en-US" altLang="zh-CN" sz="1800" i="0" dirty="0"/>
              <a:t>component remains, and the integral </a:t>
            </a:r>
            <a:endParaRPr lang="en-US" altLang="zh-CN" sz="1800" i="0" dirty="0"/>
          </a:p>
          <a:p>
            <a:r>
              <a:rPr lang="en-US" altLang="zh-CN" sz="1800" i="0" dirty="0"/>
              <a:t>evaluates easily:</a:t>
            </a:r>
            <a:endParaRPr lang="en-US" altLang="zh-CN" sz="1800" i="0" dirty="0"/>
          </a:p>
        </p:txBody>
      </p:sp>
      <p:pic>
        <p:nvPicPr>
          <p:cNvPr id="25" name="Picture 3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734" y="2770188"/>
            <a:ext cx="2678113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39"/>
          <p:cNvSpPr>
            <a:spLocks noChangeArrowheads="1"/>
          </p:cNvSpPr>
          <p:nvPr/>
        </p:nvSpPr>
        <p:spPr bwMode="auto">
          <a:xfrm>
            <a:off x="533400" y="3948186"/>
            <a:ext cx="46243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Note the form of the numerator:  the product of</a:t>
            </a:r>
            <a:endParaRPr lang="en-US" altLang="zh-CN" sz="1800" i="0" dirty="0"/>
          </a:p>
          <a:p>
            <a:r>
              <a:rPr lang="en-US" altLang="zh-CN" sz="1800" i="0" dirty="0"/>
              <a:t>the current and the loop area.  We define this as </a:t>
            </a:r>
            <a:endParaRPr lang="en-US" altLang="zh-CN" sz="1800" i="0" dirty="0"/>
          </a:p>
          <a:p>
            <a:r>
              <a:rPr lang="en-US" altLang="zh-CN" sz="1800" i="0" dirty="0"/>
              <a:t>the </a:t>
            </a:r>
            <a:r>
              <a:rPr lang="en-US" altLang="zh-CN" sz="1800" dirty="0">
                <a:solidFill>
                  <a:srgbClr val="C00000"/>
                </a:solidFill>
                <a:highlight>
                  <a:srgbClr val="FFFF00"/>
                </a:highlight>
              </a:rPr>
              <a:t>magnetic moment </a:t>
            </a:r>
            <a:r>
              <a:rPr lang="zh-CN" altLang="en-US" sz="1800" dirty="0">
                <a:solidFill>
                  <a:srgbClr val="C00000"/>
                </a:solidFill>
                <a:highlight>
                  <a:srgbClr val="FFFF00"/>
                </a:highlight>
                <a:latin typeface="华文行楷" panose="02010800040101010101" pitchFamily="2" charset="-122"/>
                <a:ea typeface="华文行楷" panose="02010800040101010101" pitchFamily="2" charset="-122"/>
              </a:rPr>
              <a:t>磁矩</a:t>
            </a:r>
            <a:r>
              <a:rPr lang="en-US" altLang="zh-CN" sz="1800" i="0" dirty="0">
                <a:highlight>
                  <a:srgbClr val="FFFF00"/>
                </a:highlight>
              </a:rPr>
              <a:t>:</a:t>
            </a:r>
            <a:endParaRPr lang="en-US" altLang="zh-CN" sz="1800" i="0" dirty="0">
              <a:highlight>
                <a:srgbClr val="FFFF00"/>
              </a:highlight>
            </a:endParaRPr>
          </a:p>
        </p:txBody>
      </p:sp>
      <p:pic>
        <p:nvPicPr>
          <p:cNvPr id="27" name="Picture 4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5056187"/>
            <a:ext cx="190182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Rectangle 41"/>
          <p:cNvSpPr>
            <a:spLocks noChangeArrowheads="1"/>
          </p:cNvSpPr>
          <p:nvPr/>
        </p:nvSpPr>
        <p:spPr bwMode="auto">
          <a:xfrm>
            <a:off x="1051734" y="2743200"/>
            <a:ext cx="2743200" cy="914400"/>
          </a:xfrm>
          <a:prstGeom prst="rect">
            <a:avLst/>
          </a:prstGeom>
          <a:noFill/>
          <a:ln w="9525">
            <a:solidFill>
              <a:srgbClr val="D43C8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 sz="1800" i="0"/>
          </a:p>
        </p:txBody>
      </p:sp>
      <p:sp>
        <p:nvSpPr>
          <p:cNvPr id="30" name="Rectangle 39"/>
          <p:cNvSpPr>
            <a:spLocks noChangeArrowheads="1"/>
          </p:cNvSpPr>
          <p:nvPr/>
        </p:nvSpPr>
        <p:spPr bwMode="auto">
          <a:xfrm>
            <a:off x="533401" y="5781675"/>
            <a:ext cx="7848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>
                <a:solidFill>
                  <a:srgbClr val="C00000"/>
                </a:solidFill>
              </a:rPr>
              <a:t>Note: Please compare the magnetic moment with the electric dipole moment which </a:t>
            </a:r>
            <a:r>
              <a:rPr lang="en-US" altLang="zh-CN" sz="1800" dirty="0">
                <a:solidFill>
                  <a:srgbClr val="C00000"/>
                </a:solidFill>
              </a:rPr>
              <a:t>b</a:t>
            </a:r>
            <a:r>
              <a:rPr lang="en-US" altLang="zh-CN" sz="1800" i="0" dirty="0">
                <a:solidFill>
                  <a:srgbClr val="C00000"/>
                </a:solidFill>
              </a:rPr>
              <a:t>oth are vectors.</a:t>
            </a:r>
            <a:endParaRPr lang="en-US" altLang="zh-CN" sz="1800" i="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Ampere’s Circuital Law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安培环路定律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5" name="Picture 2" descr="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895600"/>
            <a:ext cx="3409950" cy="195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552601" y="1905000"/>
            <a:ext cx="805799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2000" i="0" dirty="0"/>
              <a:t>Ampere</a:t>
            </a:r>
            <a:r>
              <a:rPr lang="ja-JP" altLang="en-US" sz="2000" i="0" dirty="0"/>
              <a:t>’</a:t>
            </a:r>
            <a:r>
              <a:rPr lang="en-US" altLang="ja-JP" sz="2000" i="0" dirty="0"/>
              <a:t>s Circuital Law states that the </a:t>
            </a:r>
            <a:r>
              <a:rPr lang="en-US" altLang="ja-JP" sz="2000" i="0" dirty="0">
                <a:solidFill>
                  <a:srgbClr val="C00000"/>
                </a:solidFill>
              </a:rPr>
              <a:t>line integral of </a:t>
            </a:r>
            <a:r>
              <a:rPr lang="en-US" altLang="ja-JP" sz="2000" b="1" i="0" dirty="0">
                <a:solidFill>
                  <a:srgbClr val="C00000"/>
                </a:solidFill>
              </a:rPr>
              <a:t>H </a:t>
            </a:r>
            <a:r>
              <a:rPr lang="en-US" altLang="ja-JP" sz="2000" i="0" dirty="0">
                <a:solidFill>
                  <a:srgbClr val="C00000"/>
                </a:solidFill>
              </a:rPr>
              <a:t>about </a:t>
            </a:r>
            <a:r>
              <a:rPr lang="en-US" altLang="ja-JP" sz="2000" dirty="0">
                <a:solidFill>
                  <a:srgbClr val="C00000"/>
                </a:solidFill>
              </a:rPr>
              <a:t>any closed path</a:t>
            </a:r>
            <a:r>
              <a:rPr lang="en-US" altLang="ja-JP" sz="2000" i="0" dirty="0">
                <a:solidFill>
                  <a:srgbClr val="C00000"/>
                </a:solidFill>
              </a:rPr>
              <a:t> </a:t>
            </a:r>
            <a:r>
              <a:rPr lang="en-US" altLang="zh-CN" sz="2000" i="0" dirty="0">
                <a:solidFill>
                  <a:srgbClr val="C00000"/>
                </a:solidFill>
              </a:rPr>
              <a:t>is exactly equal to the direct current enclosed by that path.</a:t>
            </a:r>
            <a:endParaRPr lang="en-US" altLang="zh-CN" sz="2000" i="0" dirty="0">
              <a:solidFill>
                <a:srgbClr val="C00000"/>
              </a:solidFill>
            </a:endParaRPr>
          </a:p>
        </p:txBody>
      </p:sp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1" y="3200400"/>
            <a:ext cx="2220912" cy="1071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685800" y="5265738"/>
            <a:ext cx="7620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In the figure at right, the integral of </a:t>
            </a:r>
            <a:r>
              <a:rPr lang="en-US" altLang="zh-CN" sz="1800" b="1" i="0" dirty="0"/>
              <a:t>H </a:t>
            </a:r>
            <a:r>
              <a:rPr lang="en-US" altLang="zh-CN" sz="1800" i="0" dirty="0"/>
              <a:t>about </a:t>
            </a:r>
            <a:r>
              <a:rPr lang="en-US" altLang="zh-CN" sz="1800" i="0" dirty="0">
                <a:solidFill>
                  <a:srgbClr val="C00000"/>
                </a:solidFill>
              </a:rPr>
              <a:t>closed paths </a:t>
            </a:r>
            <a:r>
              <a:rPr lang="en-US" altLang="zh-CN" sz="1800" i="1" dirty="0">
                <a:solidFill>
                  <a:srgbClr val="C00000"/>
                </a:solidFill>
              </a:rPr>
              <a:t>a</a:t>
            </a: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i="0" dirty="0">
                <a:solidFill>
                  <a:srgbClr val="C00000"/>
                </a:solidFill>
              </a:rPr>
              <a:t>and </a:t>
            </a:r>
            <a:r>
              <a:rPr lang="en-US" altLang="zh-CN" sz="1800" i="1" dirty="0">
                <a:solidFill>
                  <a:srgbClr val="C00000"/>
                </a:solidFill>
              </a:rPr>
              <a:t>b</a:t>
            </a: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i="0" dirty="0"/>
              <a:t>gives </a:t>
            </a:r>
            <a:r>
              <a:rPr lang="en-US" altLang="zh-CN" sz="1800" i="0" dirty="0">
                <a:solidFill>
                  <a:srgbClr val="C00000"/>
                </a:solidFill>
              </a:rPr>
              <a:t>the total current</a:t>
            </a:r>
            <a:r>
              <a:rPr lang="en-US" altLang="zh-CN" sz="1800" i="1" dirty="0">
                <a:solidFill>
                  <a:srgbClr val="C00000"/>
                </a:solidFill>
              </a:rPr>
              <a:t> I</a:t>
            </a:r>
            <a:r>
              <a:rPr lang="en-US" altLang="zh-CN" sz="1800" dirty="0"/>
              <a:t>, </a:t>
            </a:r>
            <a:r>
              <a:rPr lang="en-US" altLang="zh-CN" sz="1800" i="0" dirty="0"/>
              <a:t> while the </a:t>
            </a:r>
            <a:r>
              <a:rPr lang="en-US" altLang="zh-CN" sz="1800" i="0" dirty="0">
                <a:solidFill>
                  <a:srgbClr val="C00000"/>
                </a:solidFill>
              </a:rPr>
              <a:t>integral over path </a:t>
            </a:r>
            <a:r>
              <a:rPr lang="en-US" altLang="zh-CN" sz="1800" i="1" dirty="0">
                <a:solidFill>
                  <a:srgbClr val="C00000"/>
                </a:solidFill>
              </a:rPr>
              <a:t>c</a:t>
            </a: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i="0" dirty="0">
                <a:solidFill>
                  <a:srgbClr val="C00000"/>
                </a:solidFill>
              </a:rPr>
              <a:t> </a:t>
            </a:r>
            <a:r>
              <a:rPr lang="en-US" altLang="zh-CN" sz="1800" i="0" dirty="0"/>
              <a:t>gives only that </a:t>
            </a:r>
            <a:r>
              <a:rPr lang="en-US" altLang="zh-CN" sz="1800" i="0" dirty="0">
                <a:solidFill>
                  <a:srgbClr val="C00000"/>
                </a:solidFill>
              </a:rPr>
              <a:t>portion of the current that lies within </a:t>
            </a:r>
            <a:r>
              <a:rPr lang="en-US" altLang="zh-CN" sz="1800" i="1" dirty="0">
                <a:solidFill>
                  <a:srgbClr val="C00000"/>
                </a:solidFill>
              </a:rPr>
              <a:t>c</a:t>
            </a:r>
            <a:r>
              <a:rPr lang="en-US" altLang="zh-CN" sz="1800" i="1" dirty="0"/>
              <a:t>.</a:t>
            </a:r>
            <a:endParaRPr lang="en-US" altLang="zh-CN" sz="1800" i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Ampere’s Law Applied to a Long Wire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4267200"/>
            <a:ext cx="7277100" cy="1042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grpSp>
        <p:nvGrpSpPr>
          <p:cNvPr id="12" name="Group 8"/>
          <p:cNvGrpSpPr/>
          <p:nvPr/>
        </p:nvGrpSpPr>
        <p:grpSpPr bwMode="auto">
          <a:xfrm>
            <a:off x="457200" y="1905000"/>
            <a:ext cx="3409950" cy="1958975"/>
            <a:chOff x="720" y="1344"/>
            <a:chExt cx="2148" cy="1234"/>
          </a:xfrm>
        </p:grpSpPr>
        <p:pic>
          <p:nvPicPr>
            <p:cNvPr id="13" name="Picture 5" descr="7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" y="1344"/>
              <a:ext cx="2148" cy="1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Line 6"/>
            <p:cNvSpPr>
              <a:spLocks noChangeShapeType="1"/>
            </p:cNvSpPr>
            <p:nvPr/>
          </p:nvSpPr>
          <p:spPr bwMode="auto">
            <a:xfrm>
              <a:off x="1485" y="2169"/>
              <a:ext cx="164" cy="168"/>
            </a:xfrm>
            <a:prstGeom prst="line">
              <a:avLst/>
            </a:prstGeom>
            <a:noFill/>
            <a:ln w="9525">
              <a:solidFill>
                <a:srgbClr val="CC006B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Rectangle 7"/>
            <p:cNvSpPr>
              <a:spLocks noChangeArrowheads="1"/>
            </p:cNvSpPr>
            <p:nvPr/>
          </p:nvSpPr>
          <p:spPr bwMode="auto">
            <a:xfrm>
              <a:off x="1584" y="2265"/>
              <a:ext cx="1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800" i="1" dirty="0">
                  <a:latin typeface="Symbol Tiger" charset="2"/>
                  <a:sym typeface="Symbol" panose="05050102010706020507" pitchFamily="18" charset="2"/>
                </a:rPr>
                <a:t></a:t>
              </a:r>
              <a:endParaRPr lang="en-US" altLang="zh-CN" sz="1800" i="1" dirty="0">
                <a:latin typeface="Symbol Tiger" charset="2"/>
                <a:sym typeface="Symbol" panose="05050102010706020507" pitchFamily="18" charset="2"/>
              </a:endParaRPr>
            </a:p>
          </p:txBody>
        </p:sp>
      </p:grpSp>
      <p:sp>
        <p:nvSpPr>
          <p:cNvPr id="20" name="Rectangle 9"/>
          <p:cNvSpPr>
            <a:spLocks noChangeArrowheads="1"/>
          </p:cNvSpPr>
          <p:nvPr/>
        </p:nvSpPr>
        <p:spPr bwMode="auto">
          <a:xfrm>
            <a:off x="4047733" y="3118753"/>
            <a:ext cx="509626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Choosing path </a:t>
            </a:r>
            <a:r>
              <a:rPr lang="en-US" altLang="zh-CN" sz="1800" i="1" dirty="0"/>
              <a:t>a</a:t>
            </a:r>
            <a:r>
              <a:rPr lang="en-US" altLang="zh-CN" sz="1800" dirty="0"/>
              <a:t>, </a:t>
            </a:r>
            <a:r>
              <a:rPr lang="en-US" altLang="zh-CN" sz="1800" i="0" dirty="0"/>
              <a:t>and integrating </a:t>
            </a:r>
            <a:r>
              <a:rPr lang="en-US" altLang="zh-CN" sz="1800" b="1" i="0" dirty="0"/>
              <a:t>H </a:t>
            </a:r>
            <a:r>
              <a:rPr lang="en-US" altLang="zh-CN" sz="1800" i="0" dirty="0"/>
              <a:t>around the circle </a:t>
            </a:r>
            <a:endParaRPr lang="en-US" altLang="zh-CN" sz="1800" i="0" dirty="0"/>
          </a:p>
          <a:p>
            <a:r>
              <a:rPr lang="en-US" altLang="zh-CN" sz="1800" i="0" dirty="0"/>
              <a:t>of radius </a:t>
            </a:r>
            <a:r>
              <a:rPr lang="en-US" altLang="zh-CN" sz="1800" i="1" dirty="0">
                <a:latin typeface="Symbol Tiger" charset="2"/>
                <a:sym typeface="Symbol" panose="05050102010706020507" pitchFamily="18" charset="2"/>
              </a:rPr>
              <a:t></a:t>
            </a:r>
            <a:r>
              <a:rPr lang="en-US" altLang="zh-CN" sz="1800" dirty="0">
                <a:latin typeface="Symbol Tiger" charset="2"/>
                <a:sym typeface="Symbol" panose="05050102010706020507" pitchFamily="18" charset="2"/>
              </a:rPr>
              <a:t> </a:t>
            </a:r>
            <a:r>
              <a:rPr lang="en-US" altLang="zh-CN" sz="1800" i="0" dirty="0"/>
              <a:t>gives the enclosed current, </a:t>
            </a:r>
            <a:r>
              <a:rPr lang="en-US" altLang="zh-CN" sz="1800" i="1" dirty="0"/>
              <a:t>I</a:t>
            </a:r>
            <a:r>
              <a:rPr lang="en-US" altLang="zh-CN" sz="1800" i="0" dirty="0"/>
              <a:t>:</a:t>
            </a:r>
            <a:endParaRPr lang="en-US" altLang="zh-CN" sz="1800" i="0" dirty="0"/>
          </a:p>
        </p:txBody>
      </p:sp>
      <p:pic>
        <p:nvPicPr>
          <p:cNvPr id="21" name="Picture 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75" y="5546725"/>
            <a:ext cx="16732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2" name="Rectangle 11"/>
          <p:cNvSpPr>
            <a:spLocks noChangeArrowheads="1"/>
          </p:cNvSpPr>
          <p:nvPr/>
        </p:nvSpPr>
        <p:spPr bwMode="auto">
          <a:xfrm>
            <a:off x="2514600" y="5843588"/>
            <a:ext cx="8579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so that:</a:t>
            </a:r>
            <a:endParaRPr lang="en-US" altLang="zh-CN" sz="1800" i="0" dirty="0"/>
          </a:p>
        </p:txBody>
      </p:sp>
      <p:sp>
        <p:nvSpPr>
          <p:cNvPr id="23" name="Rectangle 12"/>
          <p:cNvSpPr>
            <a:spLocks noChangeArrowheads="1"/>
          </p:cNvSpPr>
          <p:nvPr/>
        </p:nvSpPr>
        <p:spPr bwMode="auto">
          <a:xfrm>
            <a:off x="5426075" y="5843588"/>
            <a:ext cx="10823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as before.</a:t>
            </a:r>
            <a:endParaRPr lang="en-US" altLang="zh-CN" sz="1800" i="0"/>
          </a:p>
        </p:txBody>
      </p:sp>
      <p:sp>
        <p:nvSpPr>
          <p:cNvPr id="24" name="Rectangle 13"/>
          <p:cNvSpPr>
            <a:spLocks noChangeArrowheads="1"/>
          </p:cNvSpPr>
          <p:nvPr/>
        </p:nvSpPr>
        <p:spPr bwMode="auto">
          <a:xfrm>
            <a:off x="3521075" y="5562600"/>
            <a:ext cx="1752600" cy="914400"/>
          </a:xfrm>
          <a:prstGeom prst="rect">
            <a:avLst/>
          </a:prstGeom>
          <a:noFill/>
          <a:ln w="9525">
            <a:solidFill>
              <a:srgbClr val="CC006B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 sz="1800" i="0"/>
          </a:p>
        </p:txBody>
      </p:sp>
      <p:sp>
        <p:nvSpPr>
          <p:cNvPr id="25" name="Rectangle 15"/>
          <p:cNvSpPr>
            <a:spLocks noChangeArrowheads="1"/>
          </p:cNvSpPr>
          <p:nvPr/>
        </p:nvSpPr>
        <p:spPr bwMode="auto">
          <a:xfrm>
            <a:off x="4038601" y="1905000"/>
            <a:ext cx="4876799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>
                <a:solidFill>
                  <a:srgbClr val="C00000"/>
                </a:solidFill>
              </a:rPr>
              <a:t>Symmetry</a:t>
            </a:r>
            <a:r>
              <a:rPr lang="en-US" altLang="zh-CN" sz="1800" i="0" dirty="0"/>
              <a:t> suggests that </a:t>
            </a:r>
            <a:r>
              <a:rPr lang="en-US" altLang="zh-CN" sz="1800" b="1" i="0" dirty="0"/>
              <a:t>H </a:t>
            </a:r>
            <a:r>
              <a:rPr lang="en-US" altLang="zh-CN" sz="1800" i="0" dirty="0"/>
              <a:t>will be circular, constant-valued at constant radius, and centered on the current (</a:t>
            </a:r>
            <a:r>
              <a:rPr lang="en-US" altLang="zh-CN" sz="1800" i="1" dirty="0"/>
              <a:t>z</a:t>
            </a:r>
            <a:r>
              <a:rPr lang="en-US" altLang="zh-CN" sz="1800" i="0" dirty="0"/>
              <a:t>) axis.</a:t>
            </a:r>
            <a:endParaRPr lang="en-US" altLang="zh-CN" sz="1800" i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Ampere’s Law Applied to Coaxial Transmission Line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6" name="Group 6"/>
          <p:cNvGrpSpPr/>
          <p:nvPr/>
        </p:nvGrpSpPr>
        <p:grpSpPr bwMode="auto">
          <a:xfrm>
            <a:off x="682150" y="2364825"/>
            <a:ext cx="6019801" cy="2649538"/>
            <a:chOff x="1008" y="1643"/>
            <a:chExt cx="3792" cy="1669"/>
          </a:xfrm>
        </p:grpSpPr>
        <p:pic>
          <p:nvPicPr>
            <p:cNvPr id="29" name="Picture 2" descr="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1643"/>
              <a:ext cx="3489" cy="1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Rectangle 4"/>
            <p:cNvSpPr>
              <a:spLocks noChangeArrowheads="1"/>
            </p:cNvSpPr>
            <p:nvPr/>
          </p:nvSpPr>
          <p:spPr bwMode="auto">
            <a:xfrm>
              <a:off x="3024" y="1824"/>
              <a:ext cx="1776" cy="14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 i="0"/>
            </a:p>
          </p:txBody>
        </p:sp>
        <p:sp>
          <p:nvSpPr>
            <p:cNvPr id="31" name="Rectangle 5"/>
            <p:cNvSpPr>
              <a:spLocks noChangeArrowheads="1"/>
            </p:cNvSpPr>
            <p:nvPr/>
          </p:nvSpPr>
          <p:spPr bwMode="auto">
            <a:xfrm>
              <a:off x="1872" y="3024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 i="0"/>
            </a:p>
          </p:txBody>
        </p:sp>
      </p:grp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3920650" y="2057400"/>
            <a:ext cx="4429126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In the coax line, we have two concentric </a:t>
            </a:r>
            <a:endParaRPr lang="en-US" altLang="zh-CN" sz="1800" i="0" dirty="0"/>
          </a:p>
          <a:p>
            <a:r>
              <a:rPr lang="en-US" altLang="zh-CN" sz="1800" dirty="0"/>
              <a:t>solid</a:t>
            </a:r>
            <a:r>
              <a:rPr lang="en-US" altLang="zh-CN" sz="1800" i="0" dirty="0"/>
              <a:t> conductors that carry equal and opposite</a:t>
            </a:r>
            <a:endParaRPr lang="en-US" altLang="zh-CN" sz="1800" i="0" dirty="0"/>
          </a:p>
          <a:p>
            <a:r>
              <a:rPr lang="en-US" altLang="zh-CN" sz="1800" i="0" dirty="0"/>
              <a:t>currents, </a:t>
            </a:r>
            <a:r>
              <a:rPr lang="en-US" altLang="zh-CN" sz="1800" i="1" dirty="0"/>
              <a:t>I</a:t>
            </a:r>
            <a:r>
              <a:rPr lang="en-US" altLang="zh-CN" sz="1800" dirty="0"/>
              <a:t>.</a:t>
            </a:r>
            <a:r>
              <a:rPr lang="en-US" altLang="zh-CN" sz="1800" i="0" dirty="0"/>
              <a:t>  </a:t>
            </a:r>
            <a:endParaRPr lang="en-US" altLang="zh-CN" sz="1800" i="0" dirty="0"/>
          </a:p>
        </p:txBody>
      </p:sp>
      <p:sp>
        <p:nvSpPr>
          <p:cNvPr id="28" name="Rectangle 8"/>
          <p:cNvSpPr>
            <a:spLocks noChangeArrowheads="1"/>
          </p:cNvSpPr>
          <p:nvPr/>
        </p:nvSpPr>
        <p:spPr bwMode="auto">
          <a:xfrm>
            <a:off x="3914299" y="3142654"/>
            <a:ext cx="4807726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line is assumed to be </a:t>
            </a:r>
            <a:r>
              <a:rPr lang="en-US" altLang="zh-CN" sz="1800" i="0" dirty="0">
                <a:solidFill>
                  <a:srgbClr val="C00000"/>
                </a:solidFill>
              </a:rPr>
              <a:t>infinitely long</a:t>
            </a:r>
            <a:r>
              <a:rPr lang="en-US" altLang="zh-CN" sz="1800" i="0" dirty="0"/>
              <a:t>, and the</a:t>
            </a:r>
            <a:endParaRPr lang="en-US" altLang="zh-CN" sz="1800" i="0" dirty="0"/>
          </a:p>
          <a:p>
            <a:r>
              <a:rPr lang="en-US" altLang="zh-CN" sz="1800" i="0" dirty="0">
                <a:solidFill>
                  <a:srgbClr val="C00000"/>
                </a:solidFill>
              </a:rPr>
              <a:t>circular symmetry </a:t>
            </a:r>
            <a:r>
              <a:rPr lang="en-US" altLang="zh-CN" sz="1800" i="0" dirty="0"/>
              <a:t>suggests that </a:t>
            </a:r>
            <a:r>
              <a:rPr lang="en-US" altLang="zh-CN" sz="1800" b="1" i="0" dirty="0"/>
              <a:t>H </a:t>
            </a:r>
            <a:r>
              <a:rPr lang="en-US" altLang="zh-CN" sz="1800" i="0" dirty="0"/>
              <a:t>will be entirely</a:t>
            </a:r>
            <a:endParaRPr lang="en-US" altLang="zh-CN" sz="1800" i="0" dirty="0"/>
          </a:p>
          <a:p>
            <a:r>
              <a:rPr lang="en-US" altLang="zh-CN" sz="1800" i="1" dirty="0">
                <a:latin typeface="Symbol Tiger" charset="2"/>
                <a:sym typeface="Symbol" panose="05050102010706020507" pitchFamily="18" charset="2"/>
              </a:rPr>
              <a:t></a:t>
            </a:r>
            <a:r>
              <a:rPr lang="en-US" altLang="zh-CN" sz="1800" i="1" dirty="0"/>
              <a:t> </a:t>
            </a:r>
            <a:r>
              <a:rPr lang="en-US" altLang="zh-CN" sz="1800" i="0" dirty="0"/>
              <a:t>- directed, and will vary only with radius </a:t>
            </a:r>
            <a:r>
              <a:rPr lang="en-US" altLang="zh-CN" sz="1800" i="1" dirty="0">
                <a:latin typeface="Symbol Tiger" charset="2"/>
                <a:sym typeface="Symbol" panose="05050102010706020507" pitchFamily="18" charset="2"/>
              </a:rPr>
              <a:t></a:t>
            </a:r>
            <a:r>
              <a:rPr lang="en-US" altLang="zh-CN" sz="1800" i="0" dirty="0"/>
              <a:t>.</a:t>
            </a:r>
            <a:endParaRPr lang="en-US" altLang="zh-CN" sz="1800" i="0" dirty="0"/>
          </a:p>
          <a:p>
            <a:endParaRPr lang="en-US" altLang="zh-CN" sz="1800" i="0" dirty="0"/>
          </a:p>
          <a:p>
            <a:r>
              <a:rPr lang="en-US" altLang="zh-CN" sz="1800" i="0" dirty="0"/>
              <a:t>Our objective is to find the magnetic field </a:t>
            </a:r>
            <a:endParaRPr lang="en-US" altLang="zh-CN" sz="1800" i="0" dirty="0"/>
          </a:p>
          <a:p>
            <a:r>
              <a:rPr lang="en-US" altLang="zh-CN" sz="1800" i="0" dirty="0"/>
              <a:t>for all values of </a:t>
            </a:r>
            <a:r>
              <a:rPr lang="en-US" altLang="zh-CN" sz="1800" i="1" dirty="0">
                <a:latin typeface="Symbol Tiger" charset="2"/>
                <a:sym typeface="Symbol" panose="05050102010706020507" pitchFamily="18" charset="2"/>
              </a:rPr>
              <a:t></a:t>
            </a:r>
            <a:r>
              <a:rPr lang="en-US" altLang="zh-CN" sz="1800" dirty="0"/>
              <a:t> .</a:t>
            </a:r>
            <a:endParaRPr lang="en-US" altLang="zh-CN" sz="1800" i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838200" y="2209800"/>
            <a:ext cx="506253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inner conductor can be thought of as made up of a bundle of filament currents, each of which produces the field of a long wire.  </a:t>
            </a:r>
            <a:endParaRPr lang="en-US" altLang="zh-CN" sz="1800" i="0" dirty="0"/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838200" y="3124200"/>
            <a:ext cx="472007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</a:rPr>
              <a:t>Symmetry</a:t>
            </a:r>
            <a:r>
              <a:rPr lang="en-US" altLang="zh-CN" sz="1800" dirty="0"/>
              <a:t> suggests that </a:t>
            </a:r>
            <a:r>
              <a:rPr lang="en-US" altLang="zh-CN" sz="1800" b="1" dirty="0"/>
              <a:t>H </a:t>
            </a:r>
            <a:r>
              <a:rPr lang="en-US" altLang="zh-CN" sz="1800" dirty="0"/>
              <a:t>will be circular, constant-valued at constant radius, and centered on the current (</a:t>
            </a:r>
            <a:r>
              <a:rPr lang="en-US" altLang="zh-CN" sz="1800" i="1" dirty="0"/>
              <a:t>z</a:t>
            </a:r>
            <a:r>
              <a:rPr lang="en-US" altLang="zh-CN" sz="1800" dirty="0"/>
              <a:t>) axis.</a:t>
            </a:r>
            <a:endParaRPr lang="en-US" altLang="zh-CN" sz="1800" dirty="0"/>
          </a:p>
        </p:txBody>
      </p:sp>
      <p:pic>
        <p:nvPicPr>
          <p:cNvPr id="19" name="Picture 1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715" y="5334000"/>
            <a:ext cx="16732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3216515" y="5629275"/>
            <a:ext cx="10198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dirty="0"/>
              <a:t>a &lt; </a:t>
            </a:r>
            <a:r>
              <a:rPr lang="en-US" altLang="zh-CN" sz="1800" i="1" dirty="0">
                <a:latin typeface="Symbol Tiger" charset="2"/>
                <a:sym typeface="Symbol" panose="05050102010706020507" pitchFamily="18" charset="2"/>
              </a:rPr>
              <a:t></a:t>
            </a:r>
            <a:r>
              <a:rPr lang="en-US" altLang="zh-CN" sz="1800" dirty="0">
                <a:latin typeface="Symbol Tiger" charset="2"/>
                <a:sym typeface="Symbol" panose="05050102010706020507" pitchFamily="18" charset="2"/>
              </a:rPr>
              <a:t></a:t>
            </a:r>
            <a:r>
              <a:rPr lang="en-US" altLang="zh-CN" sz="1800" dirty="0"/>
              <a:t>&lt; b</a:t>
            </a:r>
            <a:endParaRPr lang="en-US" altLang="zh-CN" sz="1800" dirty="0"/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1270240" y="5334000"/>
            <a:ext cx="3276600" cy="914400"/>
          </a:xfrm>
          <a:prstGeom prst="rect">
            <a:avLst/>
          </a:prstGeom>
          <a:noFill/>
          <a:ln w="9525">
            <a:solidFill>
              <a:srgbClr val="CC006B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 i="0"/>
          </a:p>
        </p:txBody>
      </p:sp>
      <p:pic>
        <p:nvPicPr>
          <p:cNvPr id="23" name="Picture 47" descr="Coax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737" y="1683473"/>
            <a:ext cx="2786063" cy="504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Ampere’s Law Applied to Coaxial Transmission Line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801695" y="1683473"/>
            <a:ext cx="34644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Field Between Conductors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838200" y="408616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closed circle in blue with radius as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integrating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around this circle gives the enclosed current,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Ampere’s Law Applied to Coaxial Transmission Line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83557" y="1666220"/>
            <a:ext cx="42816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Field Within the Inner Conductor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22" name="Rectangle 17"/>
          <p:cNvSpPr>
            <a:spLocks noChangeArrowheads="1"/>
          </p:cNvSpPr>
          <p:nvPr/>
        </p:nvSpPr>
        <p:spPr bwMode="auto">
          <a:xfrm>
            <a:off x="801688" y="2133600"/>
            <a:ext cx="5572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Inside the inner conductor, and at radius </a:t>
            </a:r>
            <a:r>
              <a:rPr lang="en-US" altLang="zh-CN" sz="1800" dirty="0">
                <a:latin typeface="Symbol Tiger" charset="2"/>
                <a:sym typeface="Symbol" panose="05050102010706020507" pitchFamily="18" charset="2"/>
              </a:rPr>
              <a:t></a:t>
            </a:r>
            <a:r>
              <a:rPr lang="en-US" altLang="zh-CN" sz="1800" i="0" dirty="0"/>
              <a:t>we again have:</a:t>
            </a:r>
            <a:endParaRPr lang="en-US" altLang="zh-CN" sz="1800" i="0" dirty="0"/>
          </a:p>
        </p:txBody>
      </p:sp>
      <p:grpSp>
        <p:nvGrpSpPr>
          <p:cNvPr id="24" name="Group 20"/>
          <p:cNvGrpSpPr/>
          <p:nvPr/>
        </p:nvGrpSpPr>
        <p:grpSpPr bwMode="auto">
          <a:xfrm>
            <a:off x="893763" y="2743200"/>
            <a:ext cx="3830637" cy="923925"/>
            <a:chOff x="240" y="2112"/>
            <a:chExt cx="2413" cy="582"/>
          </a:xfrm>
        </p:grpSpPr>
        <p:pic>
          <p:nvPicPr>
            <p:cNvPr id="33" name="Picture 1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2112"/>
              <a:ext cx="1699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pic>
          <p:nvPicPr>
            <p:cNvPr id="34" name="Picture 1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2" y="2301"/>
              <a:ext cx="691" cy="2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</p:grpSp>
      <p:pic>
        <p:nvPicPr>
          <p:cNvPr id="25" name="Picture 2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131" y="4354722"/>
            <a:ext cx="1371600" cy="79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842513" y="3835400"/>
            <a:ext cx="31448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But now, the current enclosed is</a:t>
            </a:r>
            <a:endParaRPr lang="en-US" altLang="zh-CN" sz="1800" i="0" dirty="0"/>
          </a:p>
        </p:txBody>
      </p:sp>
      <p:pic>
        <p:nvPicPr>
          <p:cNvPr id="27" name="Picture 2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668" y="5520427"/>
            <a:ext cx="1673225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28" name="Picture 2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5486400"/>
            <a:ext cx="2439987" cy="74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9" name="Rectangle 25"/>
          <p:cNvSpPr>
            <a:spLocks noChangeArrowheads="1"/>
          </p:cNvSpPr>
          <p:nvPr/>
        </p:nvSpPr>
        <p:spPr bwMode="auto">
          <a:xfrm>
            <a:off x="838200" y="5665788"/>
            <a:ext cx="793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so that</a:t>
            </a:r>
            <a:endParaRPr lang="en-US" altLang="zh-CN" sz="1800" i="0"/>
          </a:p>
        </p:txBody>
      </p:sp>
      <p:sp>
        <p:nvSpPr>
          <p:cNvPr id="30" name="Rectangle 26"/>
          <p:cNvSpPr>
            <a:spLocks noChangeArrowheads="1"/>
          </p:cNvSpPr>
          <p:nvPr/>
        </p:nvSpPr>
        <p:spPr bwMode="auto">
          <a:xfrm>
            <a:off x="3368675" y="5675313"/>
            <a:ext cx="1101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or finally:</a:t>
            </a:r>
            <a:endParaRPr lang="en-US" altLang="zh-CN" sz="1800" i="0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4495800" y="5486400"/>
            <a:ext cx="2590800" cy="762000"/>
          </a:xfrm>
          <a:prstGeom prst="rect">
            <a:avLst/>
          </a:prstGeom>
          <a:noFill/>
          <a:ln w="9525">
            <a:solidFill>
              <a:srgbClr val="CC006B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 sz="1800" i="0"/>
          </a:p>
        </p:txBody>
      </p:sp>
      <p:pic>
        <p:nvPicPr>
          <p:cNvPr id="32" name="Picture 36" descr="Coax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366" y="2503488"/>
            <a:ext cx="2892425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19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Ampere’s Law Applied to Coaxial Transmission Line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83557" y="1666220"/>
            <a:ext cx="4020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Field Outside Both Conductors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21" name="Rectangle 29"/>
          <p:cNvSpPr>
            <a:spLocks noChangeArrowheads="1"/>
          </p:cNvSpPr>
          <p:nvPr/>
        </p:nvSpPr>
        <p:spPr bwMode="auto">
          <a:xfrm>
            <a:off x="549275" y="2257276"/>
            <a:ext cx="46323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Outside the transmission line, where </a:t>
            </a:r>
            <a:r>
              <a:rPr lang="en-US" altLang="zh-CN" sz="1800" i="1" dirty="0">
                <a:latin typeface="Symbol Tiger" charset="2"/>
                <a:sym typeface="Symbol" panose="05050102010706020507" pitchFamily="18" charset="2"/>
              </a:rPr>
              <a:t></a:t>
            </a:r>
            <a:r>
              <a:rPr lang="en-US" altLang="zh-CN" sz="1800" i="0" dirty="0"/>
              <a:t>&gt; </a:t>
            </a:r>
            <a:r>
              <a:rPr lang="en-US" altLang="zh-CN" sz="1800" i="1" dirty="0"/>
              <a:t>c</a:t>
            </a:r>
            <a:r>
              <a:rPr lang="en-US" altLang="zh-CN" sz="1800" i="0" dirty="0"/>
              <a:t>, </a:t>
            </a:r>
            <a:endParaRPr lang="en-US" altLang="zh-CN" sz="1800" i="0" dirty="0"/>
          </a:p>
          <a:p>
            <a:r>
              <a:rPr lang="en-US" altLang="zh-CN" sz="1800" i="0" dirty="0">
                <a:solidFill>
                  <a:srgbClr val="C00000"/>
                </a:solidFill>
              </a:rPr>
              <a:t>no current is enclosed </a:t>
            </a:r>
            <a:r>
              <a:rPr lang="en-US" altLang="zh-CN" sz="1800" i="0" dirty="0"/>
              <a:t>by the integration path,</a:t>
            </a:r>
            <a:endParaRPr lang="en-US" altLang="zh-CN" sz="1800" i="0" dirty="0"/>
          </a:p>
          <a:p>
            <a:r>
              <a:rPr lang="en-US" altLang="zh-CN" sz="1800" i="0" dirty="0"/>
              <a:t>and so </a:t>
            </a:r>
            <a:endParaRPr lang="en-US" altLang="zh-CN" sz="1800" i="0" dirty="0"/>
          </a:p>
        </p:txBody>
      </p:sp>
      <p:grpSp>
        <p:nvGrpSpPr>
          <p:cNvPr id="23" name="Group 32"/>
          <p:cNvGrpSpPr/>
          <p:nvPr/>
        </p:nvGrpSpPr>
        <p:grpSpPr bwMode="auto">
          <a:xfrm>
            <a:off x="1735138" y="3186113"/>
            <a:ext cx="1581150" cy="752475"/>
            <a:chOff x="864" y="2400"/>
            <a:chExt cx="996" cy="474"/>
          </a:xfrm>
        </p:grpSpPr>
        <p:pic>
          <p:nvPicPr>
            <p:cNvPr id="39" name="Picture 3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4" y="2400"/>
              <a:ext cx="841" cy="4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sp>
          <p:nvSpPr>
            <p:cNvPr id="40" name="Rectangle 31"/>
            <p:cNvSpPr>
              <a:spLocks noChangeArrowheads="1"/>
            </p:cNvSpPr>
            <p:nvPr/>
          </p:nvSpPr>
          <p:spPr bwMode="auto">
            <a:xfrm>
              <a:off x="1671" y="2490"/>
              <a:ext cx="1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800" i="0"/>
                <a:t>0</a:t>
              </a:r>
              <a:endParaRPr lang="en-US" altLang="zh-CN" sz="1800" i="0"/>
            </a:p>
          </p:txBody>
        </p:sp>
      </p:grpSp>
      <p:sp>
        <p:nvSpPr>
          <p:cNvPr id="35" name="Rectangle 33"/>
          <p:cNvSpPr>
            <a:spLocks noChangeArrowheads="1"/>
          </p:cNvSpPr>
          <p:nvPr/>
        </p:nvSpPr>
        <p:spPr bwMode="auto">
          <a:xfrm>
            <a:off x="579437" y="3886200"/>
            <a:ext cx="52117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As </a:t>
            </a:r>
            <a:r>
              <a:rPr lang="en-US" altLang="zh-CN" sz="1800" i="0" dirty="0">
                <a:solidFill>
                  <a:srgbClr val="C00000"/>
                </a:solidFill>
              </a:rPr>
              <a:t>the current is uniformly distributed</a:t>
            </a:r>
            <a:r>
              <a:rPr lang="en-US" altLang="zh-CN" sz="1800" i="0" dirty="0"/>
              <a:t>, and since we</a:t>
            </a:r>
            <a:endParaRPr lang="en-US" altLang="zh-CN" sz="1800" i="0" dirty="0"/>
          </a:p>
          <a:p>
            <a:r>
              <a:rPr lang="en-US" altLang="zh-CN" sz="1800" i="0" dirty="0"/>
              <a:t>have circular symmetry, the field would have to </a:t>
            </a:r>
            <a:endParaRPr lang="en-US" altLang="zh-CN" sz="1800" i="0" dirty="0"/>
          </a:p>
          <a:p>
            <a:r>
              <a:rPr lang="en-US" altLang="zh-CN" sz="1800" i="0" dirty="0"/>
              <a:t>be constant over the circular integration path, and so it</a:t>
            </a:r>
            <a:endParaRPr lang="en-US" altLang="zh-CN" sz="1800" i="0" dirty="0"/>
          </a:p>
          <a:p>
            <a:r>
              <a:rPr lang="en-US" altLang="zh-CN" sz="1800" i="0" dirty="0"/>
              <a:t>must be true that:</a:t>
            </a:r>
            <a:endParaRPr lang="en-US" altLang="zh-CN" sz="1800" i="0" dirty="0"/>
          </a:p>
        </p:txBody>
      </p:sp>
      <p:pic>
        <p:nvPicPr>
          <p:cNvPr id="36" name="Picture 3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588" y="5214938"/>
            <a:ext cx="2614613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7" name="Rectangle 35"/>
          <p:cNvSpPr>
            <a:spLocks noChangeArrowheads="1"/>
          </p:cNvSpPr>
          <p:nvPr/>
        </p:nvSpPr>
        <p:spPr bwMode="auto">
          <a:xfrm>
            <a:off x="1600200" y="5233988"/>
            <a:ext cx="2514600" cy="685800"/>
          </a:xfrm>
          <a:prstGeom prst="rect">
            <a:avLst/>
          </a:prstGeom>
          <a:noFill/>
          <a:ln w="9525">
            <a:solidFill>
              <a:srgbClr val="D43C8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 sz="1800" i="0"/>
          </a:p>
        </p:txBody>
      </p:sp>
      <p:pic>
        <p:nvPicPr>
          <p:cNvPr id="38" name="Picture 38" descr="Coax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355850"/>
            <a:ext cx="3375025" cy="343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20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Ampere’s Law Applied to Coaxial Transmission Line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83557" y="1666220"/>
            <a:ext cx="42498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Field Inside the Outer Conductor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7" name="Rectangle 32"/>
          <p:cNvSpPr>
            <a:spLocks noChangeArrowheads="1"/>
          </p:cNvSpPr>
          <p:nvPr/>
        </p:nvSpPr>
        <p:spPr bwMode="auto">
          <a:xfrm>
            <a:off x="685800" y="2134834"/>
            <a:ext cx="55006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Inside the outer conductor, </a:t>
            </a:r>
            <a:r>
              <a:rPr lang="en-US" altLang="zh-CN" sz="1800" i="0" dirty="0">
                <a:solidFill>
                  <a:srgbClr val="C00000"/>
                </a:solidFill>
              </a:rPr>
              <a:t>the enclosed current consists</a:t>
            </a:r>
            <a:endParaRPr lang="en-US" altLang="zh-CN" sz="1800" i="0" dirty="0">
              <a:solidFill>
                <a:srgbClr val="C00000"/>
              </a:solidFill>
            </a:endParaRPr>
          </a:p>
          <a:p>
            <a:r>
              <a:rPr lang="en-US" altLang="zh-CN" sz="1800" i="0" dirty="0">
                <a:solidFill>
                  <a:srgbClr val="C00000"/>
                </a:solidFill>
              </a:rPr>
              <a:t>of that within the inner conductor plus that portion of the </a:t>
            </a:r>
            <a:endParaRPr lang="en-US" altLang="zh-CN" sz="1800" i="0" dirty="0">
              <a:solidFill>
                <a:srgbClr val="C00000"/>
              </a:solidFill>
            </a:endParaRPr>
          </a:p>
          <a:p>
            <a:r>
              <a:rPr lang="en-US" altLang="zh-CN" sz="1800" i="0" dirty="0">
                <a:solidFill>
                  <a:srgbClr val="C00000"/>
                </a:solidFill>
              </a:rPr>
              <a:t>outer conductor current existing at radii less than </a:t>
            </a:r>
            <a:r>
              <a:rPr lang="en-US" altLang="zh-CN" sz="1800" i="1" dirty="0">
                <a:solidFill>
                  <a:srgbClr val="C00000"/>
                </a:solidFill>
                <a:latin typeface="Symbol Tiger" charset="2"/>
                <a:sym typeface="Symbol" panose="05050102010706020507" pitchFamily="18" charset="2"/>
              </a:rPr>
              <a:t></a:t>
            </a:r>
            <a:endParaRPr lang="en-US" altLang="zh-CN" sz="1800" i="1" dirty="0">
              <a:solidFill>
                <a:srgbClr val="C00000"/>
              </a:solidFill>
            </a:endParaRPr>
          </a:p>
        </p:txBody>
      </p:sp>
      <p:pic>
        <p:nvPicPr>
          <p:cNvPr id="18" name="Picture 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31432"/>
            <a:ext cx="3327400" cy="78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9" name="Picture 3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259388"/>
            <a:ext cx="3967163" cy="760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704850" y="3232814"/>
            <a:ext cx="3333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Ampere</a:t>
            </a:r>
            <a:r>
              <a:rPr lang="ja-JP" altLang="en-US" sz="1800" i="0" dirty="0"/>
              <a:t>’</a:t>
            </a:r>
            <a:r>
              <a:rPr lang="en-US" altLang="ja-JP" sz="1800" i="0" dirty="0"/>
              <a:t>s Circuital Law becomes</a:t>
            </a:r>
            <a:endParaRPr lang="en-US" altLang="zh-CN" sz="1800" i="0" dirty="0"/>
          </a:p>
        </p:txBody>
      </p:sp>
      <p:sp>
        <p:nvSpPr>
          <p:cNvPr id="22" name="Rectangle 36"/>
          <p:cNvSpPr>
            <a:spLocks noChangeArrowheads="1"/>
          </p:cNvSpPr>
          <p:nvPr/>
        </p:nvSpPr>
        <p:spPr bwMode="auto">
          <a:xfrm>
            <a:off x="717551" y="4632325"/>
            <a:ext cx="162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..and so finally:</a:t>
            </a:r>
            <a:endParaRPr lang="en-US" altLang="zh-CN" sz="1800" i="0" dirty="0"/>
          </a:p>
        </p:txBody>
      </p:sp>
      <p:sp>
        <p:nvSpPr>
          <p:cNvPr id="24" name="Rectangle 37"/>
          <p:cNvSpPr>
            <a:spLocks noChangeArrowheads="1"/>
          </p:cNvSpPr>
          <p:nvPr/>
        </p:nvSpPr>
        <p:spPr bwMode="auto">
          <a:xfrm>
            <a:off x="1066800" y="5181600"/>
            <a:ext cx="3962400" cy="914400"/>
          </a:xfrm>
          <a:prstGeom prst="rect">
            <a:avLst/>
          </a:prstGeom>
          <a:noFill/>
          <a:ln w="9525">
            <a:solidFill>
              <a:srgbClr val="D43C8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 sz="1800" i="0"/>
          </a:p>
        </p:txBody>
      </p:sp>
      <p:pic>
        <p:nvPicPr>
          <p:cNvPr id="25" name="Picture 39" descr="Coax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971800"/>
            <a:ext cx="2719388" cy="280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Ampere’s Law Applied to Coaxial Transmission Line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71600" y="1752600"/>
            <a:ext cx="6400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Magnetic Field Strength as a Function of Radius in the Coaxial Transmission Line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41808" y="2743200"/>
            <a:ext cx="6959192" cy="3581400"/>
            <a:chOff x="840525" y="2514600"/>
            <a:chExt cx="6959192" cy="3581400"/>
          </a:xfrm>
        </p:grpSpPr>
        <p:pic>
          <p:nvPicPr>
            <p:cNvPr id="16" name="Picture 2" descr="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0525" y="2514600"/>
              <a:ext cx="6959192" cy="3581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7025" y="5886450"/>
              <a:ext cx="18097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400" y="4233862"/>
            <a:ext cx="4140200" cy="209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Magnetic Field Arising from a Current Sheet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775" y="2762250"/>
            <a:ext cx="2816225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4" name="Rectangle 63"/>
          <p:cNvSpPr>
            <a:spLocks noChangeArrowheads="1"/>
          </p:cNvSpPr>
          <p:nvPr/>
        </p:nvSpPr>
        <p:spPr bwMode="auto">
          <a:xfrm>
            <a:off x="533400" y="1643856"/>
            <a:ext cx="8305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For a uniform plane current in the</a:t>
            </a:r>
            <a:r>
              <a:rPr lang="en-US" altLang="zh-CN" sz="1800" i="1" dirty="0"/>
              <a:t> y </a:t>
            </a:r>
            <a:r>
              <a:rPr lang="en-US" altLang="zh-CN" sz="1800" i="0" dirty="0"/>
              <a:t>direction, we expect an </a:t>
            </a:r>
            <a:r>
              <a:rPr lang="en-US" altLang="zh-CN" sz="1800" i="1" dirty="0"/>
              <a:t>x</a:t>
            </a:r>
            <a:r>
              <a:rPr lang="en-US" altLang="zh-CN" sz="1800" i="0" dirty="0"/>
              <a:t>-directed </a:t>
            </a:r>
            <a:r>
              <a:rPr lang="en-US" altLang="zh-CN" sz="1800" b="1" i="0" dirty="0"/>
              <a:t>H </a:t>
            </a:r>
            <a:r>
              <a:rPr lang="en-US" altLang="zh-CN" sz="1800" i="0" dirty="0"/>
              <a:t>field from symmetry.</a:t>
            </a:r>
            <a:endParaRPr lang="en-US" altLang="zh-CN" sz="1800" i="0" dirty="0"/>
          </a:p>
        </p:txBody>
      </p:sp>
      <p:pic>
        <p:nvPicPr>
          <p:cNvPr id="22" name="Picture 6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347" y="2384902"/>
            <a:ext cx="9048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3" name="Rectangle 65"/>
          <p:cNvSpPr>
            <a:spLocks noChangeArrowheads="1"/>
          </p:cNvSpPr>
          <p:nvPr/>
        </p:nvSpPr>
        <p:spPr bwMode="auto">
          <a:xfrm>
            <a:off x="540589" y="2286000"/>
            <a:ext cx="4346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>
                <a:cs typeface="Times New Roman" panose="02020603050405020304" pitchFamily="18" charset="0"/>
              </a:rPr>
              <a:t>Applying Ampere</a:t>
            </a:r>
            <a:r>
              <a:rPr lang="ja-JP" altLang="en-US" sz="1800" i="0" dirty="0">
                <a:cs typeface="Times New Roman" panose="02020603050405020304" pitchFamily="18" charset="0"/>
              </a:rPr>
              <a:t>’</a:t>
            </a:r>
            <a:r>
              <a:rPr lang="en-US" altLang="ja-JP" sz="1800" i="0" dirty="0">
                <a:cs typeface="Times New Roman" panose="02020603050405020304" pitchFamily="18" charset="0"/>
              </a:rPr>
              <a:t>s circuital law to the path </a:t>
            </a:r>
            <a:endParaRPr lang="en-US" altLang="zh-CN" sz="1800" i="0" dirty="0">
              <a:cs typeface="Times New Roman" panose="02020603050405020304" pitchFamily="18" charset="0"/>
            </a:endParaRPr>
          </a:p>
        </p:txBody>
      </p:sp>
      <p:sp>
        <p:nvSpPr>
          <p:cNvPr id="24" name="Rectangle 66"/>
          <p:cNvSpPr>
            <a:spLocks noChangeArrowheads="1"/>
          </p:cNvSpPr>
          <p:nvPr/>
        </p:nvSpPr>
        <p:spPr bwMode="auto">
          <a:xfrm>
            <a:off x="5732222" y="2286000"/>
            <a:ext cx="947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we find:</a:t>
            </a:r>
            <a:endParaRPr lang="en-US" altLang="zh-CN" sz="1800" i="0" dirty="0"/>
          </a:p>
        </p:txBody>
      </p:sp>
      <p:pic>
        <p:nvPicPr>
          <p:cNvPr id="17" name="Picture 6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743200"/>
            <a:ext cx="191928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8" name="Rectangle 69"/>
          <p:cNvSpPr>
            <a:spLocks noChangeArrowheads="1"/>
          </p:cNvSpPr>
          <p:nvPr/>
        </p:nvSpPr>
        <p:spPr bwMode="auto">
          <a:xfrm>
            <a:off x="3903663" y="2762250"/>
            <a:ext cx="376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or</a:t>
            </a:r>
            <a:endParaRPr lang="en-US" altLang="zh-CN" sz="1800" i="0"/>
          </a:p>
        </p:txBody>
      </p:sp>
      <p:sp>
        <p:nvSpPr>
          <p:cNvPr id="19" name="Line 70"/>
          <p:cNvSpPr>
            <a:spLocks noChangeShapeType="1"/>
          </p:cNvSpPr>
          <p:nvPr/>
        </p:nvSpPr>
        <p:spPr bwMode="auto">
          <a:xfrm>
            <a:off x="4495800" y="3124200"/>
            <a:ext cx="1752600" cy="0"/>
          </a:xfrm>
          <a:prstGeom prst="line">
            <a:avLst/>
          </a:prstGeom>
          <a:noFill/>
          <a:ln w="9525">
            <a:solidFill>
              <a:srgbClr val="D43C8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Rectangle 71"/>
          <p:cNvSpPr>
            <a:spLocks noChangeArrowheads="1"/>
          </p:cNvSpPr>
          <p:nvPr/>
        </p:nvSpPr>
        <p:spPr bwMode="auto">
          <a:xfrm>
            <a:off x="609600" y="3200400"/>
            <a:ext cx="815555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In other words, the magnetic field </a:t>
            </a:r>
            <a:r>
              <a:rPr lang="en-US" altLang="zh-CN" sz="1800" i="0" dirty="0">
                <a:solidFill>
                  <a:srgbClr val="C00000"/>
                </a:solidFill>
              </a:rPr>
              <a:t>is discontinuous </a:t>
            </a:r>
            <a:r>
              <a:rPr lang="en-US" altLang="zh-CN" sz="1800" i="0" dirty="0"/>
              <a:t>across the current sheet by the magnitude of the surface current density.</a:t>
            </a:r>
            <a:endParaRPr lang="en-US" altLang="zh-CN" sz="1800" i="0" dirty="0"/>
          </a:p>
        </p:txBody>
      </p:sp>
      <p:pic>
        <p:nvPicPr>
          <p:cNvPr id="21" name="Picture 74" descr="Sheet Current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962400"/>
            <a:ext cx="3987800" cy="253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73" descr="Current Sheet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3581400"/>
            <a:ext cx="3806825" cy="293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Magnetic Field Arising from a Current Sheet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8" name="Rectangle 56"/>
          <p:cNvSpPr>
            <a:spLocks noChangeArrowheads="1"/>
          </p:cNvSpPr>
          <p:nvPr/>
        </p:nvSpPr>
        <p:spPr bwMode="auto">
          <a:xfrm>
            <a:off x="580365" y="1772824"/>
            <a:ext cx="82880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If instead, the upper path is elevated to the line between    and     , the same current is enclosed and we would have</a:t>
            </a:r>
            <a:endParaRPr lang="en-US" altLang="zh-CN" sz="1800" i="0" dirty="0"/>
          </a:p>
        </p:txBody>
      </p:sp>
      <p:pic>
        <p:nvPicPr>
          <p:cNvPr id="39" name="Picture 5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537" y="1878012"/>
            <a:ext cx="119063" cy="17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40" name="Picture 5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870075"/>
            <a:ext cx="14605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27" name="Picture 5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1" y="2463800"/>
            <a:ext cx="1800225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28" name="Picture 6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465028"/>
            <a:ext cx="1262063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9" name="Rectangle 61"/>
          <p:cNvSpPr>
            <a:spLocks noChangeArrowheads="1"/>
          </p:cNvSpPr>
          <p:nvPr/>
        </p:nvSpPr>
        <p:spPr bwMode="auto">
          <a:xfrm>
            <a:off x="3509244" y="2444300"/>
            <a:ext cx="2935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from which we conclude that </a:t>
            </a:r>
            <a:endParaRPr lang="en-US" altLang="zh-CN" sz="1800" i="0" dirty="0"/>
          </a:p>
        </p:txBody>
      </p:sp>
      <p:sp>
        <p:nvSpPr>
          <p:cNvPr id="30" name="Line 63"/>
          <p:cNvSpPr>
            <a:spLocks noChangeShapeType="1"/>
          </p:cNvSpPr>
          <p:nvPr/>
        </p:nvSpPr>
        <p:spPr bwMode="auto">
          <a:xfrm>
            <a:off x="6499705" y="2819400"/>
            <a:ext cx="1143000" cy="0"/>
          </a:xfrm>
          <a:prstGeom prst="line">
            <a:avLst/>
          </a:prstGeom>
          <a:noFill/>
          <a:ln w="9525">
            <a:solidFill>
              <a:srgbClr val="D43C8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Rectangle 64"/>
          <p:cNvSpPr>
            <a:spLocks noChangeArrowheads="1"/>
          </p:cNvSpPr>
          <p:nvPr/>
        </p:nvSpPr>
        <p:spPr bwMode="auto">
          <a:xfrm>
            <a:off x="4250037" y="3574211"/>
            <a:ext cx="474156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>
                <a:solidFill>
                  <a:srgbClr val="C00000"/>
                </a:solidFill>
              </a:rPr>
              <a:t>By symmetry</a:t>
            </a:r>
            <a:r>
              <a:rPr lang="en-US" altLang="zh-CN" sz="1800" i="0" dirty="0"/>
              <a:t>, the field above the sheet must be</a:t>
            </a:r>
            <a:endParaRPr lang="en-US" altLang="zh-CN" sz="1800" i="0" dirty="0"/>
          </a:p>
          <a:p>
            <a:r>
              <a:rPr lang="en-US" altLang="zh-CN" sz="1800" i="0" dirty="0"/>
              <a:t>the same in magnitude as the field below the sheet. Therefore, we may state that</a:t>
            </a:r>
            <a:endParaRPr lang="en-US" altLang="zh-CN" sz="1800" i="0" dirty="0"/>
          </a:p>
        </p:txBody>
      </p:sp>
      <p:pic>
        <p:nvPicPr>
          <p:cNvPr id="32" name="Picture 6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649" y="5189537"/>
            <a:ext cx="2249488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3" name="Picture 66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138" y="5715000"/>
            <a:ext cx="2432050" cy="439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4" name="Rectangle 67"/>
          <p:cNvSpPr>
            <a:spLocks noChangeArrowheads="1"/>
          </p:cNvSpPr>
          <p:nvPr/>
        </p:nvSpPr>
        <p:spPr bwMode="auto">
          <a:xfrm>
            <a:off x="5164138" y="5710238"/>
            <a:ext cx="517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and</a:t>
            </a:r>
            <a:endParaRPr lang="en-US" altLang="zh-CN" sz="1800" i="0"/>
          </a:p>
        </p:txBody>
      </p:sp>
      <p:sp>
        <p:nvSpPr>
          <p:cNvPr id="35" name="Rectangle 68"/>
          <p:cNvSpPr>
            <a:spLocks noChangeArrowheads="1"/>
          </p:cNvSpPr>
          <p:nvPr/>
        </p:nvSpPr>
        <p:spPr bwMode="auto">
          <a:xfrm>
            <a:off x="5138738" y="5047456"/>
            <a:ext cx="3014662" cy="1124744"/>
          </a:xfrm>
          <a:prstGeom prst="rect">
            <a:avLst/>
          </a:prstGeom>
          <a:noFill/>
          <a:ln w="19050">
            <a:solidFill>
              <a:srgbClr val="D43C8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 sz="1800" i="0"/>
          </a:p>
        </p:txBody>
      </p:sp>
      <p:sp>
        <p:nvSpPr>
          <p:cNvPr id="36" name="Rectangle 71"/>
          <p:cNvSpPr>
            <a:spLocks noChangeArrowheads="1"/>
          </p:cNvSpPr>
          <p:nvPr/>
        </p:nvSpPr>
        <p:spPr bwMode="auto">
          <a:xfrm>
            <a:off x="542925" y="2990850"/>
            <a:ext cx="70008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>
                <a:solidFill>
                  <a:srgbClr val="C00000"/>
                </a:solidFill>
              </a:rPr>
              <a:t>so the field is </a:t>
            </a:r>
            <a:r>
              <a:rPr lang="en-US" altLang="zh-CN" sz="1800" dirty="0">
                <a:solidFill>
                  <a:srgbClr val="C00000"/>
                </a:solidFill>
              </a:rPr>
              <a:t>constant in each region</a:t>
            </a:r>
            <a:r>
              <a:rPr lang="en-US" altLang="zh-CN" sz="1800" i="0" dirty="0">
                <a:solidFill>
                  <a:srgbClr val="C00000"/>
                </a:solidFill>
              </a:rPr>
              <a:t> (above and below the current plane)</a:t>
            </a:r>
            <a:endParaRPr lang="en-US" altLang="zh-CN" sz="1800" i="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69" descr="Current Sheet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75" y="3048000"/>
            <a:ext cx="4035425" cy="243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Magnetic Field Arising from a Current Sheet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2" name="Rectangle 56"/>
          <p:cNvSpPr>
            <a:spLocks noChangeArrowheads="1"/>
          </p:cNvSpPr>
          <p:nvPr/>
        </p:nvSpPr>
        <p:spPr bwMode="auto">
          <a:xfrm>
            <a:off x="640092" y="1752600"/>
            <a:ext cx="79248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actual field configuration is shown below, in which </a:t>
            </a:r>
            <a:r>
              <a:rPr lang="en-US" altLang="zh-CN" sz="1800" i="0" dirty="0">
                <a:solidFill>
                  <a:srgbClr val="C00000"/>
                </a:solidFill>
              </a:rPr>
              <a:t>magnetic field above the current sheet is equal in magnitude</a:t>
            </a:r>
            <a:r>
              <a:rPr lang="en-US" altLang="zh-CN" sz="1800" i="0" dirty="0"/>
              <a:t>, </a:t>
            </a:r>
            <a:r>
              <a:rPr lang="en-US" altLang="zh-CN" sz="1800" i="0" dirty="0">
                <a:solidFill>
                  <a:srgbClr val="C00000"/>
                </a:solidFill>
              </a:rPr>
              <a:t>but in the direction opposite to the field below the sheet.</a:t>
            </a:r>
            <a:endParaRPr lang="en-US" altLang="zh-CN" sz="1800" i="0" dirty="0">
              <a:solidFill>
                <a:srgbClr val="C00000"/>
              </a:solidFill>
            </a:endParaRPr>
          </a:p>
        </p:txBody>
      </p:sp>
      <p:sp>
        <p:nvSpPr>
          <p:cNvPr id="23" name="Rectangle 62"/>
          <p:cNvSpPr>
            <a:spLocks noChangeArrowheads="1"/>
          </p:cNvSpPr>
          <p:nvPr/>
        </p:nvSpPr>
        <p:spPr bwMode="auto">
          <a:xfrm>
            <a:off x="3551237" y="2661373"/>
            <a:ext cx="52879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field in either region is found by the cross product:</a:t>
            </a:r>
            <a:endParaRPr lang="en-US" altLang="zh-CN" sz="1800" i="0" dirty="0"/>
          </a:p>
        </p:txBody>
      </p:sp>
      <p:pic>
        <p:nvPicPr>
          <p:cNvPr id="24" name="Picture 6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360737"/>
            <a:ext cx="2120900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5" name="Rectangle 64"/>
          <p:cNvSpPr>
            <a:spLocks noChangeArrowheads="1"/>
          </p:cNvSpPr>
          <p:nvPr/>
        </p:nvSpPr>
        <p:spPr bwMode="auto">
          <a:xfrm>
            <a:off x="4316203" y="4724400"/>
            <a:ext cx="45783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>
                <a:highlight>
                  <a:srgbClr val="FFFF00"/>
                </a:highlight>
              </a:rPr>
              <a:t>where </a:t>
            </a:r>
            <a:r>
              <a:rPr lang="en-US" altLang="zh-CN" sz="1800" b="1" i="0" dirty="0" err="1">
                <a:highlight>
                  <a:srgbClr val="FFFF00"/>
                </a:highlight>
              </a:rPr>
              <a:t>a</a:t>
            </a:r>
            <a:r>
              <a:rPr lang="en-US" altLang="zh-CN" sz="1800" i="1" baseline="-25000" dirty="0" err="1">
                <a:highlight>
                  <a:srgbClr val="FFFF00"/>
                </a:highlight>
              </a:rPr>
              <a:t>N</a:t>
            </a:r>
            <a:r>
              <a:rPr lang="en-US" altLang="zh-CN" sz="1800" baseline="-25000" dirty="0">
                <a:highlight>
                  <a:srgbClr val="FFFF00"/>
                </a:highlight>
              </a:rPr>
              <a:t> </a:t>
            </a:r>
            <a:r>
              <a:rPr lang="en-US" altLang="zh-CN" sz="1800" i="0" dirty="0">
                <a:highlight>
                  <a:srgbClr val="FFFF00"/>
                </a:highlight>
              </a:rPr>
              <a:t>is the unit vector that is normal to the </a:t>
            </a:r>
            <a:endParaRPr lang="en-US" altLang="zh-CN" sz="1800" i="0" dirty="0">
              <a:highlight>
                <a:srgbClr val="FFFF00"/>
              </a:highlight>
            </a:endParaRPr>
          </a:p>
          <a:p>
            <a:r>
              <a:rPr lang="en-US" altLang="zh-CN" sz="1800" i="0" dirty="0">
                <a:highlight>
                  <a:srgbClr val="FFFF00"/>
                </a:highlight>
              </a:rPr>
              <a:t>current sheet, and that points into the region in </a:t>
            </a:r>
            <a:endParaRPr lang="en-US" altLang="zh-CN" sz="1800" i="0" dirty="0">
              <a:highlight>
                <a:srgbClr val="FFFF00"/>
              </a:highlight>
            </a:endParaRPr>
          </a:p>
          <a:p>
            <a:r>
              <a:rPr lang="en-US" altLang="zh-CN" sz="1800" i="0" dirty="0">
                <a:highlight>
                  <a:srgbClr val="FFFF00"/>
                </a:highlight>
              </a:rPr>
              <a:t>which the magnetic field is to be evaluated.</a:t>
            </a:r>
            <a:endParaRPr lang="en-US" altLang="zh-CN" sz="1800" i="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Magnetic Field Arising from Two Current Sheets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3" name="Rectangle 105"/>
          <p:cNvSpPr>
            <a:spLocks noChangeArrowheads="1"/>
          </p:cNvSpPr>
          <p:nvPr/>
        </p:nvSpPr>
        <p:spPr bwMode="auto">
          <a:xfrm>
            <a:off x="486568" y="1600200"/>
            <a:ext cx="84756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Here are two parallel currents, equal and opposite, as you would find in a </a:t>
            </a:r>
            <a:r>
              <a:rPr lang="en-US" altLang="zh-CN" sz="1800" i="0" dirty="0">
                <a:solidFill>
                  <a:srgbClr val="C00000"/>
                </a:solidFill>
              </a:rPr>
              <a:t>parallel-plate </a:t>
            </a:r>
            <a:endParaRPr lang="en-US" altLang="zh-CN" sz="1800" i="0" dirty="0">
              <a:solidFill>
                <a:srgbClr val="C00000"/>
              </a:solidFill>
            </a:endParaRPr>
          </a:p>
          <a:p>
            <a:r>
              <a:rPr lang="en-US" altLang="zh-CN" sz="1800" i="0" dirty="0">
                <a:solidFill>
                  <a:srgbClr val="C00000"/>
                </a:solidFill>
              </a:rPr>
              <a:t>transmission line</a:t>
            </a:r>
            <a:r>
              <a:rPr lang="en-US" altLang="zh-CN" sz="1800" i="0" dirty="0"/>
              <a:t>.  If the sheets are much wider than their spacing, then the magnetic field</a:t>
            </a:r>
            <a:endParaRPr lang="en-US" altLang="zh-CN" sz="1800" i="0" dirty="0"/>
          </a:p>
          <a:p>
            <a:r>
              <a:rPr lang="en-US" altLang="zh-CN" sz="1800" i="0" dirty="0"/>
              <a:t>will be contained in the region between plates, and will be nearly zero outside.</a:t>
            </a:r>
            <a:endParaRPr lang="en-US" altLang="zh-CN" sz="1800" i="0" dirty="0"/>
          </a:p>
        </p:txBody>
      </p:sp>
      <p:sp>
        <p:nvSpPr>
          <p:cNvPr id="14" name="Rectangle 83"/>
          <p:cNvSpPr>
            <a:spLocks noChangeArrowheads="1"/>
          </p:cNvSpPr>
          <p:nvPr/>
        </p:nvSpPr>
        <p:spPr bwMode="auto">
          <a:xfrm>
            <a:off x="3633788" y="3584575"/>
            <a:ext cx="1238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b="1" i="0" dirty="0"/>
              <a:t>K</a:t>
            </a:r>
            <a:r>
              <a:rPr lang="en-US" altLang="zh-CN" sz="1800" i="0" baseline="-25000" dirty="0"/>
              <a:t>1</a:t>
            </a:r>
            <a:r>
              <a:rPr lang="en-US" altLang="zh-CN" sz="1800" b="1" i="0" dirty="0"/>
              <a:t> </a:t>
            </a:r>
            <a:r>
              <a:rPr lang="en-US" altLang="zh-CN" sz="1800" i="0" dirty="0"/>
              <a:t>= -</a:t>
            </a:r>
            <a:r>
              <a:rPr lang="en-US" altLang="zh-CN" sz="1800" dirty="0" err="1"/>
              <a:t>K</a:t>
            </a:r>
            <a:r>
              <a:rPr lang="en-US" altLang="zh-CN" sz="1800" i="1" baseline="-25000" dirty="0" err="1"/>
              <a:t>y</a:t>
            </a:r>
            <a:r>
              <a:rPr lang="en-US" altLang="zh-CN" sz="1800" baseline="-25000" dirty="0"/>
              <a:t> </a:t>
            </a:r>
            <a:r>
              <a:rPr lang="en-US" altLang="zh-CN" sz="1800" b="1" i="0" dirty="0"/>
              <a:t>a</a:t>
            </a:r>
            <a:r>
              <a:rPr lang="en-US" altLang="zh-CN" sz="1800" i="1" baseline="-25000" dirty="0"/>
              <a:t>y</a:t>
            </a:r>
            <a:endParaRPr lang="en-US" altLang="zh-CN" sz="1800" b="1" i="1" dirty="0"/>
          </a:p>
        </p:txBody>
      </p:sp>
      <p:sp>
        <p:nvSpPr>
          <p:cNvPr id="15" name="Rectangle 88"/>
          <p:cNvSpPr>
            <a:spLocks noChangeArrowheads="1"/>
          </p:cNvSpPr>
          <p:nvPr/>
        </p:nvSpPr>
        <p:spPr bwMode="auto">
          <a:xfrm>
            <a:off x="3643313" y="4746625"/>
            <a:ext cx="1238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b="1" i="0" dirty="0"/>
              <a:t>K</a:t>
            </a:r>
            <a:r>
              <a:rPr lang="en-US" altLang="zh-CN" sz="1800" i="0" baseline="-25000" dirty="0"/>
              <a:t>2</a:t>
            </a:r>
            <a:r>
              <a:rPr lang="en-US" altLang="zh-CN" sz="1800" b="1" i="0" dirty="0"/>
              <a:t> </a:t>
            </a:r>
            <a:r>
              <a:rPr lang="en-US" altLang="zh-CN" sz="1800" i="0" dirty="0"/>
              <a:t>= -</a:t>
            </a:r>
            <a:r>
              <a:rPr lang="en-US" altLang="zh-CN" sz="1800" dirty="0" err="1"/>
              <a:t>K</a:t>
            </a:r>
            <a:r>
              <a:rPr lang="en-US" altLang="zh-CN" sz="1800" i="1" baseline="-25000" dirty="0" err="1"/>
              <a:t>y</a:t>
            </a:r>
            <a:r>
              <a:rPr lang="en-US" altLang="zh-CN" sz="1800" baseline="-25000" dirty="0"/>
              <a:t> </a:t>
            </a:r>
            <a:r>
              <a:rPr lang="en-US" altLang="zh-CN" sz="1800" b="1" i="0" dirty="0"/>
              <a:t>a</a:t>
            </a:r>
            <a:r>
              <a:rPr lang="en-US" altLang="zh-CN" sz="1800" i="1" baseline="-25000" dirty="0"/>
              <a:t>y</a:t>
            </a:r>
            <a:endParaRPr lang="en-US" altLang="zh-CN" sz="1800" b="1" i="1" dirty="0"/>
          </a:p>
        </p:txBody>
      </p:sp>
      <p:sp>
        <p:nvSpPr>
          <p:cNvPr id="16" name="Rectangle 90"/>
          <p:cNvSpPr>
            <a:spLocks noChangeArrowheads="1"/>
          </p:cNvSpPr>
          <p:nvPr/>
        </p:nvSpPr>
        <p:spPr bwMode="auto">
          <a:xfrm>
            <a:off x="3657600" y="5294312"/>
            <a:ext cx="1474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1" dirty="0"/>
              <a:t>H</a:t>
            </a:r>
            <a:r>
              <a:rPr lang="en-US" altLang="zh-CN" sz="1800" i="1" baseline="-25000" dirty="0"/>
              <a:t>x</a:t>
            </a:r>
            <a:r>
              <a:rPr lang="en-US" altLang="zh-CN" sz="1800" i="0" baseline="-25000" dirty="0"/>
              <a:t>1 </a:t>
            </a:r>
            <a:r>
              <a:rPr lang="en-US" altLang="zh-CN" sz="1800" i="0" dirty="0"/>
              <a:t>(</a:t>
            </a:r>
            <a:r>
              <a:rPr lang="en-US" altLang="zh-CN" sz="1800" i="1" dirty="0"/>
              <a:t>z</a:t>
            </a:r>
            <a:r>
              <a:rPr lang="en-US" altLang="zh-CN" sz="1800" dirty="0"/>
              <a:t> </a:t>
            </a:r>
            <a:r>
              <a:rPr lang="en-US" altLang="zh-CN" sz="1800" i="0" dirty="0"/>
              <a:t>&lt; -</a:t>
            </a:r>
            <a:r>
              <a:rPr lang="en-US" altLang="zh-CN" sz="1800" i="1" dirty="0"/>
              <a:t>d</a:t>
            </a:r>
            <a:r>
              <a:rPr lang="en-US" altLang="zh-CN" sz="1800" i="0" dirty="0"/>
              <a:t>/2 )</a:t>
            </a:r>
            <a:endParaRPr lang="en-US" altLang="zh-CN" sz="1800" dirty="0"/>
          </a:p>
        </p:txBody>
      </p:sp>
      <p:sp>
        <p:nvSpPr>
          <p:cNvPr id="17" name="Rectangle 91"/>
          <p:cNvSpPr>
            <a:spLocks noChangeArrowheads="1"/>
          </p:cNvSpPr>
          <p:nvPr/>
        </p:nvSpPr>
        <p:spPr bwMode="auto">
          <a:xfrm>
            <a:off x="3636963" y="3998912"/>
            <a:ext cx="2073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1" dirty="0"/>
              <a:t>H</a:t>
            </a:r>
            <a:r>
              <a:rPr lang="en-US" altLang="zh-CN" sz="1800" i="1" baseline="-25000" dirty="0"/>
              <a:t>x</a:t>
            </a:r>
            <a:r>
              <a:rPr lang="en-US" altLang="zh-CN" sz="1800" i="0" baseline="-25000" dirty="0"/>
              <a:t>1 </a:t>
            </a:r>
            <a:r>
              <a:rPr lang="en-US" altLang="zh-CN" sz="1800" i="0" dirty="0"/>
              <a:t>(</a:t>
            </a:r>
            <a:r>
              <a:rPr lang="en-US" altLang="zh-CN" sz="1800" dirty="0"/>
              <a:t>-</a:t>
            </a:r>
            <a:r>
              <a:rPr lang="en-US" altLang="zh-CN" sz="1800" i="1" dirty="0"/>
              <a:t>d</a:t>
            </a:r>
            <a:r>
              <a:rPr lang="en-US" altLang="zh-CN" sz="1800" i="0" dirty="0"/>
              <a:t>/2 &lt; </a:t>
            </a:r>
            <a:r>
              <a:rPr lang="en-US" altLang="zh-CN" sz="1800" i="1" dirty="0"/>
              <a:t>z</a:t>
            </a:r>
            <a:r>
              <a:rPr lang="en-US" altLang="zh-CN" sz="1800" dirty="0"/>
              <a:t> </a:t>
            </a:r>
            <a:r>
              <a:rPr lang="en-US" altLang="zh-CN" sz="1800" i="0" dirty="0"/>
              <a:t>&lt; </a:t>
            </a:r>
            <a:r>
              <a:rPr lang="en-US" altLang="zh-CN" sz="1800" i="1" dirty="0"/>
              <a:t>d</a:t>
            </a:r>
            <a:r>
              <a:rPr lang="en-US" altLang="zh-CN" sz="1800" i="0" dirty="0"/>
              <a:t>/2 )</a:t>
            </a:r>
            <a:endParaRPr lang="en-US" altLang="zh-CN" sz="1800" dirty="0"/>
          </a:p>
        </p:txBody>
      </p:sp>
      <p:sp>
        <p:nvSpPr>
          <p:cNvPr id="18" name="Rectangle 92"/>
          <p:cNvSpPr>
            <a:spLocks noChangeArrowheads="1"/>
          </p:cNvSpPr>
          <p:nvPr/>
        </p:nvSpPr>
        <p:spPr bwMode="auto">
          <a:xfrm>
            <a:off x="3638550" y="4308475"/>
            <a:ext cx="2073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1" dirty="0"/>
              <a:t>H</a:t>
            </a:r>
            <a:r>
              <a:rPr lang="en-US" altLang="zh-CN" sz="1800" i="1" baseline="-25000" dirty="0"/>
              <a:t>x</a:t>
            </a:r>
            <a:r>
              <a:rPr lang="en-US" altLang="zh-CN" sz="1800" i="0" baseline="-25000" dirty="0"/>
              <a:t>2 </a:t>
            </a:r>
            <a:r>
              <a:rPr lang="en-US" altLang="zh-CN" sz="1800" i="0" dirty="0"/>
              <a:t>(</a:t>
            </a:r>
            <a:r>
              <a:rPr lang="en-US" altLang="zh-CN" sz="1800" dirty="0"/>
              <a:t>-</a:t>
            </a:r>
            <a:r>
              <a:rPr lang="en-US" altLang="zh-CN" sz="1800" i="1" dirty="0"/>
              <a:t>d</a:t>
            </a:r>
            <a:r>
              <a:rPr lang="en-US" altLang="zh-CN" sz="1800" i="0" dirty="0"/>
              <a:t>/2 &lt; </a:t>
            </a:r>
            <a:r>
              <a:rPr lang="en-US" altLang="zh-CN" sz="1800" i="1" dirty="0"/>
              <a:t>z</a:t>
            </a:r>
            <a:r>
              <a:rPr lang="en-US" altLang="zh-CN" sz="1800" dirty="0"/>
              <a:t> </a:t>
            </a:r>
            <a:r>
              <a:rPr lang="en-US" altLang="zh-CN" sz="1800" i="0" dirty="0"/>
              <a:t>&lt; </a:t>
            </a:r>
            <a:r>
              <a:rPr lang="en-US" altLang="zh-CN" sz="1800" i="1" dirty="0"/>
              <a:t>d</a:t>
            </a:r>
            <a:r>
              <a:rPr lang="en-US" altLang="zh-CN" sz="1800" i="0" dirty="0"/>
              <a:t>/2 )</a:t>
            </a:r>
            <a:endParaRPr lang="en-US" altLang="zh-CN" sz="1800" dirty="0"/>
          </a:p>
        </p:txBody>
      </p:sp>
      <p:sp>
        <p:nvSpPr>
          <p:cNvPr id="19" name="Rectangle 93"/>
          <p:cNvSpPr>
            <a:spLocks noChangeArrowheads="1"/>
          </p:cNvSpPr>
          <p:nvPr/>
        </p:nvSpPr>
        <p:spPr bwMode="auto">
          <a:xfrm>
            <a:off x="3657600" y="5603875"/>
            <a:ext cx="1474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1" dirty="0"/>
              <a:t>H</a:t>
            </a:r>
            <a:r>
              <a:rPr lang="en-US" altLang="zh-CN" sz="1800" i="1" baseline="-25000" dirty="0"/>
              <a:t>x</a:t>
            </a:r>
            <a:r>
              <a:rPr lang="en-US" altLang="zh-CN" sz="1800" i="0" baseline="-25000" dirty="0"/>
              <a:t>2 </a:t>
            </a:r>
            <a:r>
              <a:rPr lang="en-US" altLang="zh-CN" sz="1800" i="0" dirty="0"/>
              <a:t>(</a:t>
            </a:r>
            <a:r>
              <a:rPr lang="en-US" altLang="zh-CN" sz="1800" i="1" dirty="0"/>
              <a:t>z</a:t>
            </a:r>
            <a:r>
              <a:rPr lang="en-US" altLang="zh-CN" sz="1800" dirty="0"/>
              <a:t> </a:t>
            </a:r>
            <a:r>
              <a:rPr lang="en-US" altLang="zh-CN" sz="1800" i="0" dirty="0"/>
              <a:t>&lt; -</a:t>
            </a:r>
            <a:r>
              <a:rPr lang="en-US" altLang="zh-CN" sz="1800" i="1" dirty="0"/>
              <a:t>d</a:t>
            </a:r>
            <a:r>
              <a:rPr lang="en-US" altLang="zh-CN" sz="1800" i="0" dirty="0"/>
              <a:t>/2 )</a:t>
            </a:r>
            <a:endParaRPr lang="en-US" altLang="zh-CN" sz="1800" dirty="0"/>
          </a:p>
        </p:txBody>
      </p:sp>
      <p:sp>
        <p:nvSpPr>
          <p:cNvPr id="20" name="Rectangle 94"/>
          <p:cNvSpPr>
            <a:spLocks noChangeArrowheads="1"/>
          </p:cNvSpPr>
          <p:nvPr/>
        </p:nvSpPr>
        <p:spPr bwMode="auto">
          <a:xfrm>
            <a:off x="3652838" y="3055937"/>
            <a:ext cx="13985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1" dirty="0"/>
              <a:t>H</a:t>
            </a:r>
            <a:r>
              <a:rPr lang="en-US" altLang="zh-CN" sz="1800" i="1" baseline="-25000" dirty="0"/>
              <a:t>x</a:t>
            </a:r>
            <a:r>
              <a:rPr lang="en-US" altLang="zh-CN" sz="1800" i="0" baseline="-25000" dirty="0"/>
              <a:t>1 </a:t>
            </a:r>
            <a:r>
              <a:rPr lang="en-US" altLang="zh-CN" sz="1800" i="0" dirty="0"/>
              <a:t>(</a:t>
            </a:r>
            <a:r>
              <a:rPr lang="en-US" altLang="zh-CN" sz="1800" i="1" dirty="0"/>
              <a:t>z</a:t>
            </a:r>
            <a:r>
              <a:rPr lang="en-US" altLang="zh-CN" sz="1800" dirty="0"/>
              <a:t> </a:t>
            </a:r>
            <a:r>
              <a:rPr lang="en-US" altLang="zh-CN" sz="1800" i="0" dirty="0"/>
              <a:t>&gt; </a:t>
            </a:r>
            <a:r>
              <a:rPr lang="en-US" altLang="zh-CN" sz="1800" i="1" dirty="0"/>
              <a:t>d</a:t>
            </a:r>
            <a:r>
              <a:rPr lang="en-US" altLang="zh-CN" sz="1800" i="0" dirty="0"/>
              <a:t>/2 )</a:t>
            </a:r>
            <a:endParaRPr lang="en-US" altLang="zh-CN" sz="1800" dirty="0"/>
          </a:p>
        </p:txBody>
      </p:sp>
      <p:sp>
        <p:nvSpPr>
          <p:cNvPr id="21" name="Rectangle 95"/>
          <p:cNvSpPr>
            <a:spLocks noChangeArrowheads="1"/>
          </p:cNvSpPr>
          <p:nvPr/>
        </p:nvSpPr>
        <p:spPr bwMode="auto">
          <a:xfrm>
            <a:off x="3662363" y="2751137"/>
            <a:ext cx="13985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1" dirty="0"/>
              <a:t>H</a:t>
            </a:r>
            <a:r>
              <a:rPr lang="en-US" altLang="zh-CN" sz="1800" i="1" baseline="-25000" dirty="0"/>
              <a:t>x</a:t>
            </a:r>
            <a:r>
              <a:rPr lang="en-US" altLang="zh-CN" sz="1800" i="0" baseline="-25000" dirty="0"/>
              <a:t>2 </a:t>
            </a:r>
            <a:r>
              <a:rPr lang="en-US" altLang="zh-CN" sz="1800" i="0" dirty="0"/>
              <a:t>(</a:t>
            </a:r>
            <a:r>
              <a:rPr lang="en-US" altLang="zh-CN" sz="1800" i="1" dirty="0"/>
              <a:t>z</a:t>
            </a:r>
            <a:r>
              <a:rPr lang="en-US" altLang="zh-CN" sz="1800" dirty="0"/>
              <a:t> </a:t>
            </a:r>
            <a:r>
              <a:rPr lang="en-US" altLang="zh-CN" sz="1800" i="0" dirty="0"/>
              <a:t>&gt; </a:t>
            </a:r>
            <a:r>
              <a:rPr lang="en-US" altLang="zh-CN" sz="1800" i="1" dirty="0"/>
              <a:t>d</a:t>
            </a:r>
            <a:r>
              <a:rPr lang="en-US" altLang="zh-CN" sz="1800" i="0" dirty="0"/>
              <a:t>/2 )</a:t>
            </a:r>
            <a:endParaRPr lang="en-US" altLang="zh-CN" sz="1800" dirty="0"/>
          </a:p>
        </p:txBody>
      </p:sp>
      <p:sp>
        <p:nvSpPr>
          <p:cNvPr id="27" name="AutoShape 100"/>
          <p:cNvSpPr/>
          <p:nvPr/>
        </p:nvSpPr>
        <p:spPr bwMode="auto">
          <a:xfrm>
            <a:off x="5029200" y="2836652"/>
            <a:ext cx="152400" cy="492919"/>
          </a:xfrm>
          <a:prstGeom prst="rightBrace">
            <a:avLst>
              <a:gd name="adj1" fmla="val 33333"/>
              <a:gd name="adj2" fmla="val 50000"/>
            </a:avLst>
          </a:prstGeom>
          <a:noFill/>
          <a:ln w="19050">
            <a:solidFill>
              <a:srgbClr val="D43C8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 sz="1800" i="0"/>
          </a:p>
        </p:txBody>
      </p:sp>
      <p:sp>
        <p:nvSpPr>
          <p:cNvPr id="28" name="Rectangle 102"/>
          <p:cNvSpPr>
            <a:spLocks noChangeArrowheads="1"/>
          </p:cNvSpPr>
          <p:nvPr/>
        </p:nvSpPr>
        <p:spPr bwMode="auto">
          <a:xfrm>
            <a:off x="5221288" y="2743200"/>
            <a:ext cx="374094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These fields cancel for current sheets of infinite width.</a:t>
            </a:r>
            <a:endParaRPr lang="en-US" altLang="zh-CN" sz="1800" i="0" dirty="0"/>
          </a:p>
        </p:txBody>
      </p:sp>
      <p:sp>
        <p:nvSpPr>
          <p:cNvPr id="29" name="Rectangle 103"/>
          <p:cNvSpPr>
            <a:spLocks noChangeArrowheads="1"/>
          </p:cNvSpPr>
          <p:nvPr/>
        </p:nvSpPr>
        <p:spPr bwMode="auto">
          <a:xfrm>
            <a:off x="5257800" y="5334000"/>
            <a:ext cx="3581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These fields cancel for current sheets of infinite width.</a:t>
            </a:r>
            <a:endParaRPr lang="en-US" altLang="zh-CN" sz="1800" i="0" dirty="0"/>
          </a:p>
        </p:txBody>
      </p:sp>
      <p:sp>
        <p:nvSpPr>
          <p:cNvPr id="30" name="AutoShape 104"/>
          <p:cNvSpPr/>
          <p:nvPr/>
        </p:nvSpPr>
        <p:spPr bwMode="auto">
          <a:xfrm>
            <a:off x="5105400" y="5410200"/>
            <a:ext cx="152400" cy="462755"/>
          </a:xfrm>
          <a:prstGeom prst="rightBrace">
            <a:avLst>
              <a:gd name="adj1" fmla="val 33333"/>
              <a:gd name="adj2" fmla="val 50000"/>
            </a:avLst>
          </a:prstGeom>
          <a:noFill/>
          <a:ln w="19050">
            <a:solidFill>
              <a:srgbClr val="D43C8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 sz="1800" i="0"/>
          </a:p>
        </p:txBody>
      </p:sp>
      <p:sp>
        <p:nvSpPr>
          <p:cNvPr id="31" name="AutoShape 106"/>
          <p:cNvSpPr/>
          <p:nvPr/>
        </p:nvSpPr>
        <p:spPr bwMode="auto">
          <a:xfrm>
            <a:off x="5613489" y="3732212"/>
            <a:ext cx="177711" cy="1290256"/>
          </a:xfrm>
          <a:prstGeom prst="rightBrace">
            <a:avLst>
              <a:gd name="adj1" fmla="val 33333"/>
              <a:gd name="adj2" fmla="val 50000"/>
            </a:avLst>
          </a:prstGeom>
          <a:noFill/>
          <a:ln w="19050">
            <a:solidFill>
              <a:srgbClr val="D43C8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 sz="1800" i="0"/>
          </a:p>
        </p:txBody>
      </p:sp>
      <p:sp>
        <p:nvSpPr>
          <p:cNvPr id="32" name="Rectangle 107"/>
          <p:cNvSpPr>
            <a:spLocks noChangeArrowheads="1"/>
          </p:cNvSpPr>
          <p:nvPr/>
        </p:nvSpPr>
        <p:spPr bwMode="auto">
          <a:xfrm>
            <a:off x="5867401" y="3579812"/>
            <a:ext cx="312419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These fields are equal and add to give</a:t>
            </a:r>
            <a:endParaRPr lang="en-US" altLang="zh-CN" sz="1800" i="0" dirty="0"/>
          </a:p>
        </p:txBody>
      </p:sp>
      <p:sp>
        <p:nvSpPr>
          <p:cNvPr id="33" name="Rectangle 108"/>
          <p:cNvSpPr>
            <a:spLocks noChangeArrowheads="1"/>
          </p:cNvSpPr>
          <p:nvPr/>
        </p:nvSpPr>
        <p:spPr bwMode="auto">
          <a:xfrm>
            <a:off x="5909064" y="4335463"/>
            <a:ext cx="2941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b="1" i="0" dirty="0"/>
              <a:t>H </a:t>
            </a:r>
            <a:r>
              <a:rPr lang="en-US" altLang="zh-CN" sz="1800" i="0" dirty="0"/>
              <a:t>= </a:t>
            </a:r>
            <a:r>
              <a:rPr lang="en-US" altLang="zh-CN" sz="1800" b="1" i="0" dirty="0"/>
              <a:t>K </a:t>
            </a:r>
            <a:r>
              <a:rPr lang="en-US" altLang="zh-CN" sz="1800" i="0" dirty="0">
                <a:latin typeface="Arial" panose="020B0604020202020204" pitchFamily="34" charset="0"/>
              </a:rPr>
              <a:t>x </a:t>
            </a:r>
            <a:r>
              <a:rPr lang="en-US" altLang="zh-CN" sz="1800" b="1" i="0" dirty="0" err="1"/>
              <a:t>a</a:t>
            </a:r>
            <a:r>
              <a:rPr lang="en-US" altLang="zh-CN" sz="1800" baseline="-25000" dirty="0" err="1"/>
              <a:t>N</a:t>
            </a:r>
            <a:r>
              <a:rPr lang="en-US" altLang="zh-CN" sz="1800" baseline="-25000" dirty="0"/>
              <a:t>    </a:t>
            </a:r>
            <a:r>
              <a:rPr lang="en-US" altLang="zh-CN" sz="1800" i="0" dirty="0"/>
              <a:t>(-</a:t>
            </a:r>
            <a:r>
              <a:rPr lang="en-US" altLang="zh-CN" sz="1800" i="1" dirty="0"/>
              <a:t>d</a:t>
            </a:r>
            <a:r>
              <a:rPr lang="en-US" altLang="zh-CN" sz="1800" i="0" dirty="0"/>
              <a:t>/2 &lt; </a:t>
            </a:r>
            <a:r>
              <a:rPr lang="en-US" altLang="zh-CN" sz="1800" i="1" dirty="0"/>
              <a:t>z</a:t>
            </a:r>
            <a:r>
              <a:rPr lang="en-US" altLang="zh-CN" sz="1800" dirty="0"/>
              <a:t> </a:t>
            </a:r>
            <a:r>
              <a:rPr lang="en-US" altLang="zh-CN" sz="1800" i="0" dirty="0"/>
              <a:t>&lt; </a:t>
            </a:r>
            <a:r>
              <a:rPr lang="en-US" altLang="zh-CN" sz="1800" i="1" dirty="0"/>
              <a:t>d</a:t>
            </a:r>
            <a:r>
              <a:rPr lang="en-US" altLang="zh-CN" sz="1800" i="0" dirty="0"/>
              <a:t>/2 )</a:t>
            </a:r>
            <a:r>
              <a:rPr lang="en-US" altLang="zh-CN" sz="1800" i="0" dirty="0">
                <a:latin typeface="Arial" panose="020B0604020202020204" pitchFamily="34" charset="0"/>
              </a:rPr>
              <a:t> </a:t>
            </a:r>
            <a:endParaRPr lang="en-US" altLang="zh-CN" sz="1800" b="1" i="0" dirty="0"/>
          </a:p>
        </p:txBody>
      </p:sp>
      <p:sp>
        <p:nvSpPr>
          <p:cNvPr id="34" name="Rectangle 109"/>
          <p:cNvSpPr>
            <a:spLocks noChangeArrowheads="1"/>
          </p:cNvSpPr>
          <p:nvPr/>
        </p:nvSpPr>
        <p:spPr bwMode="auto">
          <a:xfrm>
            <a:off x="5907087" y="4251325"/>
            <a:ext cx="2932113" cy="533400"/>
          </a:xfrm>
          <a:prstGeom prst="rect">
            <a:avLst/>
          </a:prstGeom>
          <a:noFill/>
          <a:ln w="19050">
            <a:solidFill>
              <a:srgbClr val="D43C8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 sz="1800" i="0"/>
          </a:p>
        </p:txBody>
      </p:sp>
      <p:sp>
        <p:nvSpPr>
          <p:cNvPr id="35" name="Rectangle 111"/>
          <p:cNvSpPr>
            <a:spLocks noChangeArrowheads="1"/>
          </p:cNvSpPr>
          <p:nvPr/>
        </p:nvSpPr>
        <p:spPr bwMode="auto">
          <a:xfrm>
            <a:off x="5965196" y="4741699"/>
            <a:ext cx="2640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where </a:t>
            </a:r>
            <a:r>
              <a:rPr lang="en-US" altLang="zh-CN" sz="1800" b="1" i="0" dirty="0"/>
              <a:t>K </a:t>
            </a:r>
            <a:r>
              <a:rPr lang="en-US" altLang="zh-CN" sz="1800" i="0" dirty="0"/>
              <a:t>is either </a:t>
            </a:r>
            <a:r>
              <a:rPr lang="en-US" altLang="zh-CN" sz="1800" b="1" i="0" dirty="0"/>
              <a:t>K</a:t>
            </a:r>
            <a:r>
              <a:rPr lang="en-US" altLang="zh-CN" sz="1800" i="0" baseline="-25000" dirty="0"/>
              <a:t>1 </a:t>
            </a:r>
            <a:r>
              <a:rPr lang="en-US" altLang="zh-CN" sz="1800" i="0" dirty="0"/>
              <a:t>or </a:t>
            </a:r>
            <a:r>
              <a:rPr lang="en-US" altLang="zh-CN" sz="1800" b="1" i="0" dirty="0"/>
              <a:t>K</a:t>
            </a:r>
            <a:r>
              <a:rPr lang="en-US" altLang="zh-CN" sz="1800" i="0" baseline="-25000" dirty="0"/>
              <a:t>2</a:t>
            </a:r>
            <a:endParaRPr lang="en-US" altLang="zh-CN" sz="1800" i="0" dirty="0"/>
          </a:p>
        </p:txBody>
      </p:sp>
      <p:pic>
        <p:nvPicPr>
          <p:cNvPr id="36" name="Picture 114" descr="Current Sheet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2703512"/>
            <a:ext cx="3176588" cy="331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Loop Field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5557" y="1585912"/>
            <a:ext cx="3856038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Magnetic Field Arising from Current Loop Field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7" name="Picture 3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514600"/>
            <a:ext cx="2678113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Rectangle 35"/>
          <p:cNvSpPr>
            <a:spLocks noChangeArrowheads="1"/>
          </p:cNvSpPr>
          <p:nvPr/>
        </p:nvSpPr>
        <p:spPr bwMode="auto">
          <a:xfrm>
            <a:off x="592676" y="1716087"/>
            <a:ext cx="59086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Using the </a:t>
            </a:r>
            <a:r>
              <a:rPr lang="en-US" altLang="zh-CN" sz="1800" i="0" dirty="0" err="1"/>
              <a:t>Biot-Savart</a:t>
            </a:r>
            <a:r>
              <a:rPr lang="en-US" altLang="zh-CN" sz="1800" i="0" dirty="0"/>
              <a:t> Law, we previously found the magnetic</a:t>
            </a:r>
            <a:endParaRPr lang="en-US" altLang="zh-CN" sz="1800" i="0" dirty="0"/>
          </a:p>
          <a:p>
            <a:r>
              <a:rPr lang="en-US" altLang="zh-CN" sz="1800" i="0" dirty="0"/>
              <a:t>field on the </a:t>
            </a:r>
            <a:r>
              <a:rPr lang="en-US" altLang="zh-CN" sz="1800" i="1" dirty="0"/>
              <a:t>z</a:t>
            </a:r>
            <a:r>
              <a:rPr lang="en-US" altLang="zh-CN" sz="1800" dirty="0"/>
              <a:t> </a:t>
            </a:r>
            <a:r>
              <a:rPr lang="en-US" altLang="zh-CN" sz="1800" i="0" dirty="0"/>
              <a:t>axis from a circular current loop:</a:t>
            </a:r>
            <a:endParaRPr lang="en-US" altLang="zh-CN" sz="1800" i="0" dirty="0"/>
          </a:p>
        </p:txBody>
      </p:sp>
      <p:sp>
        <p:nvSpPr>
          <p:cNvPr id="39" name="Rectangle 36"/>
          <p:cNvSpPr>
            <a:spLocks noChangeArrowheads="1"/>
          </p:cNvSpPr>
          <p:nvPr/>
        </p:nvSpPr>
        <p:spPr bwMode="auto">
          <a:xfrm>
            <a:off x="592676" y="3429000"/>
            <a:ext cx="466512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We will now use this result as a </a:t>
            </a:r>
            <a:r>
              <a:rPr lang="en-US" altLang="zh-CN" sz="1800" i="0" dirty="0">
                <a:solidFill>
                  <a:srgbClr val="C00000"/>
                </a:solidFill>
              </a:rPr>
              <a:t>building block</a:t>
            </a:r>
            <a:endParaRPr lang="en-US" altLang="zh-CN" sz="1800" i="0" dirty="0">
              <a:solidFill>
                <a:srgbClr val="C00000"/>
              </a:solidFill>
            </a:endParaRPr>
          </a:p>
          <a:p>
            <a:r>
              <a:rPr lang="en-US" altLang="zh-CN" sz="1800" i="0" dirty="0"/>
              <a:t>to construct the magnetic field on the axis of </a:t>
            </a:r>
            <a:endParaRPr lang="en-US" altLang="zh-CN" sz="1800" i="0" dirty="0"/>
          </a:p>
          <a:p>
            <a:r>
              <a:rPr lang="en-US" altLang="zh-CN" sz="1800" i="0" dirty="0"/>
              <a:t>a </a:t>
            </a:r>
            <a:r>
              <a:rPr lang="en-US" altLang="zh-CN" sz="1800" i="0" dirty="0">
                <a:solidFill>
                  <a:srgbClr val="C00000"/>
                </a:solidFill>
              </a:rPr>
              <a:t>solenoid </a:t>
            </a:r>
            <a:r>
              <a:rPr lang="zh-CN" altLang="en-US" sz="1800" i="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螺线管</a:t>
            </a:r>
            <a:r>
              <a:rPr lang="en-US" altLang="zh-CN" sz="1800" i="0" dirty="0">
                <a:solidFill>
                  <a:srgbClr val="C00000"/>
                </a:solidFill>
              </a:rPr>
              <a:t> </a:t>
            </a:r>
            <a:r>
              <a:rPr lang="en-US" altLang="zh-CN" sz="1800" i="0" dirty="0"/>
              <a:t>-- formed by </a:t>
            </a:r>
            <a:r>
              <a:rPr lang="en-US" altLang="zh-CN" sz="1800" i="0" dirty="0">
                <a:solidFill>
                  <a:srgbClr val="C00000"/>
                </a:solidFill>
              </a:rPr>
              <a:t>a stack of identical current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r>
              <a:rPr lang="en-US" altLang="zh-CN" sz="1800" i="0" dirty="0">
                <a:solidFill>
                  <a:srgbClr val="C00000"/>
                </a:solidFill>
              </a:rPr>
              <a:t>loops, centered on the </a:t>
            </a:r>
            <a:r>
              <a:rPr lang="en-US" altLang="zh-CN" sz="1800" i="1" dirty="0">
                <a:solidFill>
                  <a:srgbClr val="C00000"/>
                </a:solidFill>
              </a:rPr>
              <a:t>z</a:t>
            </a: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i="0" dirty="0">
                <a:solidFill>
                  <a:srgbClr val="C00000"/>
                </a:solidFill>
              </a:rPr>
              <a:t>axis.</a:t>
            </a:r>
            <a:endParaRPr lang="en-US" altLang="zh-CN" sz="1800" i="0" dirty="0">
              <a:solidFill>
                <a:srgbClr val="C00000"/>
              </a:solidFill>
            </a:endParaRPr>
          </a:p>
        </p:txBody>
      </p:sp>
      <p:pic>
        <p:nvPicPr>
          <p:cNvPr id="4099" name="Picture 3" descr="C:\Users\dpcuser\Desktop\About Teaching\工程电磁场\Instructor Notes\Lecture 10\solenoid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175106"/>
            <a:ext cx="1981200" cy="1306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dpcuser\Desktop\About Teaching\工程电磁场\Instructor Notes\Lecture 10\IMG_4014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2942" y="5175106"/>
            <a:ext cx="2404858" cy="1416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:\Users\dpcuser\Desktop\About Teaching\工程电磁场\Instructor Notes\Lecture 10\s_l26_71214668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8466" y="4876800"/>
            <a:ext cx="2622021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464262" y="2151048"/>
            <a:ext cx="6374608" cy="4123996"/>
            <a:chOff x="2235993" y="2362200"/>
            <a:chExt cx="6374608" cy="4123996"/>
          </a:xfrm>
        </p:grpSpPr>
        <p:grpSp>
          <p:nvGrpSpPr>
            <p:cNvPr id="14" name="Group 33"/>
            <p:cNvGrpSpPr/>
            <p:nvPr/>
          </p:nvGrpSpPr>
          <p:grpSpPr bwMode="auto">
            <a:xfrm>
              <a:off x="2235993" y="2371396"/>
              <a:ext cx="6362700" cy="4114800"/>
              <a:chOff x="576" y="960"/>
              <a:chExt cx="4008" cy="2592"/>
            </a:xfrm>
          </p:grpSpPr>
          <p:pic>
            <p:nvPicPr>
              <p:cNvPr id="29" name="Picture 34" descr="7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4" y="1104"/>
                <a:ext cx="3720" cy="2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" name="Rectangle 35"/>
              <p:cNvSpPr>
                <a:spLocks noChangeArrowheads="1"/>
              </p:cNvSpPr>
              <p:nvPr/>
            </p:nvSpPr>
            <p:spPr bwMode="auto">
              <a:xfrm>
                <a:off x="576" y="960"/>
                <a:ext cx="2160" cy="25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 i="0"/>
              </a:p>
            </p:txBody>
          </p:sp>
          <p:sp>
            <p:nvSpPr>
              <p:cNvPr id="31" name="Rectangle 36"/>
              <p:cNvSpPr>
                <a:spLocks noChangeArrowheads="1"/>
              </p:cNvSpPr>
              <p:nvPr/>
            </p:nvSpPr>
            <p:spPr bwMode="auto">
              <a:xfrm>
                <a:off x="3120" y="2880"/>
                <a:ext cx="864" cy="6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 i="0"/>
              </a:p>
            </p:txBody>
          </p:sp>
        </p:grpSp>
        <p:grpSp>
          <p:nvGrpSpPr>
            <p:cNvPr id="18" name="Group 51"/>
            <p:cNvGrpSpPr/>
            <p:nvPr/>
          </p:nvGrpSpPr>
          <p:grpSpPr bwMode="auto">
            <a:xfrm>
              <a:off x="5486400" y="2362200"/>
              <a:ext cx="3124201" cy="2362201"/>
              <a:chOff x="3229" y="1367"/>
              <a:chExt cx="1968" cy="1488"/>
            </a:xfrm>
          </p:grpSpPr>
          <p:sp>
            <p:nvSpPr>
              <p:cNvPr id="26" name="Rectangle 38"/>
              <p:cNvSpPr>
                <a:spLocks noChangeArrowheads="1"/>
              </p:cNvSpPr>
              <p:nvPr/>
            </p:nvSpPr>
            <p:spPr bwMode="auto">
              <a:xfrm>
                <a:off x="5024" y="1367"/>
                <a:ext cx="17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800" i="1" dirty="0"/>
                  <a:t>z</a:t>
                </a:r>
                <a:endParaRPr lang="en-US" altLang="zh-CN" sz="1800" i="1" dirty="0"/>
              </a:p>
            </p:txBody>
          </p:sp>
          <p:sp>
            <p:nvSpPr>
              <p:cNvPr id="27" name="Rectangle 40"/>
              <p:cNvSpPr>
                <a:spLocks noChangeArrowheads="1"/>
              </p:cNvSpPr>
              <p:nvPr/>
            </p:nvSpPr>
            <p:spPr bwMode="auto">
              <a:xfrm>
                <a:off x="3229" y="2622"/>
                <a:ext cx="35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800" i="1" dirty="0"/>
                  <a:t>-d/2</a:t>
                </a:r>
                <a:endParaRPr lang="en-US" altLang="zh-CN" sz="1800" i="1" dirty="0"/>
              </a:p>
            </p:txBody>
          </p:sp>
          <p:sp>
            <p:nvSpPr>
              <p:cNvPr id="28" name="Rectangle 41"/>
              <p:cNvSpPr>
                <a:spLocks noChangeArrowheads="1"/>
              </p:cNvSpPr>
              <p:nvPr/>
            </p:nvSpPr>
            <p:spPr bwMode="auto">
              <a:xfrm>
                <a:off x="4319" y="1511"/>
                <a:ext cx="30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800" i="1" dirty="0"/>
                  <a:t>d/2</a:t>
                </a:r>
                <a:endParaRPr lang="en-US" altLang="zh-CN" sz="1800" i="1" dirty="0"/>
              </a:p>
            </p:txBody>
          </p:sp>
        </p:grpSp>
      </p:grpSp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On-Axis Field Within a Solenoid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5" name="Picture 2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270" y="4646330"/>
            <a:ext cx="213836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32"/>
          <p:cNvSpPr>
            <a:spLocks noChangeArrowheads="1"/>
          </p:cNvSpPr>
          <p:nvPr/>
        </p:nvSpPr>
        <p:spPr bwMode="auto">
          <a:xfrm>
            <a:off x="380999" y="1600200"/>
            <a:ext cx="682326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We consider the single current loop field as a differential contribution to the total field from a stack of </a:t>
            </a:r>
            <a:r>
              <a:rPr lang="en-US" altLang="zh-CN" sz="1800" i="1" dirty="0"/>
              <a:t>N</a:t>
            </a:r>
            <a:r>
              <a:rPr lang="en-US" altLang="zh-CN" sz="1800" dirty="0"/>
              <a:t> </a:t>
            </a:r>
            <a:r>
              <a:rPr lang="en-US" altLang="zh-CN" sz="1800" i="0" dirty="0"/>
              <a:t>closely-spaced loops, each of which carries current </a:t>
            </a:r>
            <a:r>
              <a:rPr lang="en-US" altLang="zh-CN" sz="1800" i="1" dirty="0"/>
              <a:t>I</a:t>
            </a:r>
            <a:r>
              <a:rPr lang="en-US" altLang="zh-CN" sz="1800" i="0" dirty="0"/>
              <a:t>.  The length of the stack (solenoid) is </a:t>
            </a:r>
            <a:r>
              <a:rPr lang="en-US" altLang="zh-CN" sz="1800" i="1" dirty="0"/>
              <a:t>d</a:t>
            </a:r>
            <a:r>
              <a:rPr lang="en-US" altLang="zh-CN" sz="1800" dirty="0"/>
              <a:t>, </a:t>
            </a:r>
            <a:r>
              <a:rPr lang="en-US" altLang="zh-CN" sz="1800" i="0" dirty="0"/>
              <a:t>so therefore </a:t>
            </a:r>
            <a:r>
              <a:rPr lang="en-US" altLang="zh-CN" sz="1800" i="0" dirty="0">
                <a:solidFill>
                  <a:srgbClr val="C00000"/>
                </a:solidFill>
              </a:rPr>
              <a:t>the </a:t>
            </a:r>
            <a:r>
              <a:rPr lang="en-US" altLang="zh-CN" sz="1800" dirty="0">
                <a:solidFill>
                  <a:srgbClr val="C00000"/>
                </a:solidFill>
              </a:rPr>
              <a:t>density of turns</a:t>
            </a:r>
            <a:r>
              <a:rPr lang="zh-CN" altLang="en-US" sz="18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匝数</a:t>
            </a:r>
            <a:r>
              <a:rPr lang="en-US" altLang="zh-CN" sz="1800" i="0" dirty="0"/>
              <a:t>will be </a:t>
            </a:r>
            <a:r>
              <a:rPr lang="en-US" altLang="zh-CN" sz="1800" i="1" dirty="0"/>
              <a:t>N</a:t>
            </a:r>
            <a:r>
              <a:rPr lang="en-US" altLang="zh-CN" sz="1800" dirty="0"/>
              <a:t>/</a:t>
            </a:r>
            <a:r>
              <a:rPr lang="en-US" altLang="zh-CN" sz="1800" i="1" dirty="0"/>
              <a:t>d</a:t>
            </a:r>
            <a:r>
              <a:rPr lang="en-US" altLang="zh-CN" sz="1800" dirty="0"/>
              <a:t>.</a:t>
            </a:r>
            <a:endParaRPr lang="en-US" altLang="zh-CN" sz="1800" i="0" dirty="0"/>
          </a:p>
        </p:txBody>
      </p:sp>
      <p:sp>
        <p:nvSpPr>
          <p:cNvPr id="17" name="Rectangle 39"/>
          <p:cNvSpPr>
            <a:spLocks noChangeArrowheads="1"/>
          </p:cNvSpPr>
          <p:nvPr/>
        </p:nvSpPr>
        <p:spPr bwMode="auto">
          <a:xfrm>
            <a:off x="418110" y="2819400"/>
            <a:ext cx="65160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Now the current in the turns within a differential length, </a:t>
            </a:r>
            <a:r>
              <a:rPr lang="en-US" altLang="zh-CN" sz="1800" i="1" dirty="0" err="1"/>
              <a:t>dz</a:t>
            </a:r>
            <a:r>
              <a:rPr lang="en-US" altLang="zh-CN" sz="1800" i="0" dirty="0"/>
              <a:t>, will be</a:t>
            </a:r>
            <a:endParaRPr lang="en-US" altLang="zh-CN" sz="1800" i="0" dirty="0"/>
          </a:p>
        </p:txBody>
      </p:sp>
      <p:pic>
        <p:nvPicPr>
          <p:cNvPr id="19" name="Picture 4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353" y="3276600"/>
            <a:ext cx="1343025" cy="620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20" name="Picture 4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85" y="5779758"/>
            <a:ext cx="2614613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1" name="Rectangle 44"/>
          <p:cNvSpPr>
            <a:spLocks noChangeArrowheads="1"/>
          </p:cNvSpPr>
          <p:nvPr/>
        </p:nvSpPr>
        <p:spPr bwMode="auto">
          <a:xfrm>
            <a:off x="462321" y="4311816"/>
            <a:ext cx="4929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so that the previous result for </a:t>
            </a:r>
            <a:r>
              <a:rPr lang="en-US" altLang="zh-CN" sz="1800" b="1" i="0" dirty="0"/>
              <a:t>H </a:t>
            </a:r>
            <a:r>
              <a:rPr lang="en-US" altLang="zh-CN" sz="1800" i="0" dirty="0"/>
              <a:t>from a single loop:</a:t>
            </a:r>
            <a:endParaRPr lang="en-US" altLang="zh-CN" sz="1800" i="0" dirty="0"/>
          </a:p>
        </p:txBody>
      </p:sp>
      <p:sp>
        <p:nvSpPr>
          <p:cNvPr id="22" name="Rectangle 45"/>
          <p:cNvSpPr>
            <a:spLocks noChangeArrowheads="1"/>
          </p:cNvSpPr>
          <p:nvPr/>
        </p:nvSpPr>
        <p:spPr bwMode="auto">
          <a:xfrm>
            <a:off x="609600" y="5240008"/>
            <a:ext cx="1511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now becomes:</a:t>
            </a:r>
            <a:endParaRPr lang="en-US" altLang="zh-CN" sz="1800" i="0" dirty="0"/>
          </a:p>
        </p:txBody>
      </p:sp>
      <p:sp>
        <p:nvSpPr>
          <p:cNvPr id="23" name="Rectangle 46"/>
          <p:cNvSpPr>
            <a:spLocks noChangeArrowheads="1"/>
          </p:cNvSpPr>
          <p:nvPr/>
        </p:nvSpPr>
        <p:spPr bwMode="auto">
          <a:xfrm>
            <a:off x="4285170" y="5782138"/>
            <a:ext cx="48212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>
                <a:solidFill>
                  <a:srgbClr val="C00000"/>
                </a:solidFill>
              </a:rPr>
              <a:t>in which </a:t>
            </a:r>
            <a:r>
              <a:rPr lang="en-US" altLang="zh-CN" sz="1800" i="1" dirty="0">
                <a:solidFill>
                  <a:srgbClr val="C00000"/>
                </a:solidFill>
              </a:rPr>
              <a:t>z</a:t>
            </a: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i="0" dirty="0">
                <a:solidFill>
                  <a:srgbClr val="C00000"/>
                </a:solidFill>
              </a:rPr>
              <a:t>is measured from the center of the coil,</a:t>
            </a:r>
            <a:endParaRPr lang="en-US" altLang="zh-CN" sz="1800" i="0" dirty="0">
              <a:solidFill>
                <a:srgbClr val="C00000"/>
              </a:solidFill>
            </a:endParaRPr>
          </a:p>
          <a:p>
            <a:r>
              <a:rPr lang="en-US" altLang="zh-CN" sz="1800" i="0" dirty="0">
                <a:solidFill>
                  <a:srgbClr val="C00000"/>
                </a:solidFill>
              </a:rPr>
              <a:t>where we wish to evaluate the field.</a:t>
            </a:r>
            <a:endParaRPr lang="en-US" altLang="zh-CN" sz="1800" i="0" dirty="0">
              <a:solidFill>
                <a:srgbClr val="C00000"/>
              </a:solidFill>
            </a:endParaRPr>
          </a:p>
        </p:txBody>
      </p:sp>
      <p:sp>
        <p:nvSpPr>
          <p:cNvPr id="24" name="Rectangle 48"/>
          <p:cNvSpPr>
            <a:spLocks noChangeArrowheads="1"/>
          </p:cNvSpPr>
          <p:nvPr/>
        </p:nvSpPr>
        <p:spPr bwMode="auto">
          <a:xfrm>
            <a:off x="434975" y="3939052"/>
            <a:ext cx="4822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>
                <a:cs typeface="Times New Roman" panose="02020603050405020304" pitchFamily="18" charset="0"/>
              </a:rPr>
              <a:t>We consider this as our </a:t>
            </a:r>
            <a:r>
              <a:rPr lang="en-US" altLang="zh-CN" sz="1800" i="0" dirty="0">
                <a:solidFill>
                  <a:srgbClr val="C00000"/>
                </a:solidFill>
                <a:cs typeface="Times New Roman" panose="02020603050405020304" pitchFamily="18" charset="0"/>
              </a:rPr>
              <a:t>differential </a:t>
            </a:r>
            <a:r>
              <a:rPr lang="en-US" altLang="zh-CN" sz="1800" dirty="0">
                <a:solidFill>
                  <a:srgbClr val="C00000"/>
                </a:solidFill>
                <a:cs typeface="Times New Roman" panose="02020603050405020304" pitchFamily="18" charset="0"/>
              </a:rPr>
              <a:t>“</a:t>
            </a:r>
            <a:r>
              <a:rPr lang="en-US" altLang="ja-JP" sz="1800" i="0" dirty="0">
                <a:solidFill>
                  <a:srgbClr val="C00000"/>
                </a:solidFill>
                <a:cs typeface="Times New Roman" panose="02020603050405020304" pitchFamily="18" charset="0"/>
              </a:rPr>
              <a:t>loop current</a:t>
            </a:r>
            <a:r>
              <a:rPr lang="en-US" altLang="ja-JP" sz="1800" dirty="0">
                <a:solidFill>
                  <a:srgbClr val="C00000"/>
                </a:solidFill>
                <a:cs typeface="Times New Roman" panose="02020603050405020304" pitchFamily="18" charset="0"/>
              </a:rPr>
              <a:t>”</a:t>
            </a:r>
            <a:endParaRPr lang="en-US" altLang="zh-CN" sz="1800" i="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5" name="Rectangle 49"/>
          <p:cNvSpPr>
            <a:spLocks noChangeArrowheads="1"/>
          </p:cNvSpPr>
          <p:nvPr/>
        </p:nvSpPr>
        <p:spPr bwMode="auto">
          <a:xfrm>
            <a:off x="1575353" y="3273425"/>
            <a:ext cx="1247775" cy="612775"/>
          </a:xfrm>
          <a:prstGeom prst="rect">
            <a:avLst/>
          </a:prstGeom>
          <a:noFill/>
          <a:ln w="9525">
            <a:solidFill>
              <a:srgbClr val="D43C8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 sz="1800" i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2350292" y="2074848"/>
            <a:ext cx="6374608" cy="4123996"/>
            <a:chOff x="2235993" y="2362200"/>
            <a:chExt cx="6374608" cy="4123996"/>
          </a:xfrm>
        </p:grpSpPr>
        <p:grpSp>
          <p:nvGrpSpPr>
            <p:cNvPr id="46" name="Group 33"/>
            <p:cNvGrpSpPr/>
            <p:nvPr/>
          </p:nvGrpSpPr>
          <p:grpSpPr bwMode="auto">
            <a:xfrm>
              <a:off x="2235993" y="2371396"/>
              <a:ext cx="6362700" cy="4114800"/>
              <a:chOff x="576" y="960"/>
              <a:chExt cx="4008" cy="2592"/>
            </a:xfrm>
          </p:grpSpPr>
          <p:pic>
            <p:nvPicPr>
              <p:cNvPr id="51" name="Picture 34" descr="7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4" y="1104"/>
                <a:ext cx="3720" cy="2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2" name="Rectangle 35"/>
              <p:cNvSpPr>
                <a:spLocks noChangeArrowheads="1"/>
              </p:cNvSpPr>
              <p:nvPr/>
            </p:nvSpPr>
            <p:spPr bwMode="auto">
              <a:xfrm>
                <a:off x="576" y="960"/>
                <a:ext cx="2160" cy="25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 i="0"/>
              </a:p>
            </p:txBody>
          </p:sp>
          <p:sp>
            <p:nvSpPr>
              <p:cNvPr id="53" name="Rectangle 36"/>
              <p:cNvSpPr>
                <a:spLocks noChangeArrowheads="1"/>
              </p:cNvSpPr>
              <p:nvPr/>
            </p:nvSpPr>
            <p:spPr bwMode="auto">
              <a:xfrm>
                <a:off x="3120" y="2880"/>
                <a:ext cx="864" cy="6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 i="0"/>
              </a:p>
            </p:txBody>
          </p:sp>
        </p:grpSp>
        <p:grpSp>
          <p:nvGrpSpPr>
            <p:cNvPr id="47" name="Group 51"/>
            <p:cNvGrpSpPr/>
            <p:nvPr/>
          </p:nvGrpSpPr>
          <p:grpSpPr bwMode="auto">
            <a:xfrm>
              <a:off x="5486400" y="2362200"/>
              <a:ext cx="3124201" cy="2362201"/>
              <a:chOff x="3229" y="1367"/>
              <a:chExt cx="1968" cy="1488"/>
            </a:xfrm>
          </p:grpSpPr>
          <p:sp>
            <p:nvSpPr>
              <p:cNvPr id="48" name="Rectangle 38"/>
              <p:cNvSpPr>
                <a:spLocks noChangeArrowheads="1"/>
              </p:cNvSpPr>
              <p:nvPr/>
            </p:nvSpPr>
            <p:spPr bwMode="auto">
              <a:xfrm>
                <a:off x="5024" y="1367"/>
                <a:ext cx="17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800" i="1" dirty="0"/>
                  <a:t>z</a:t>
                </a:r>
                <a:endParaRPr lang="en-US" altLang="zh-CN" sz="1800" i="1" dirty="0"/>
              </a:p>
            </p:txBody>
          </p:sp>
          <p:sp>
            <p:nvSpPr>
              <p:cNvPr id="49" name="Rectangle 40"/>
              <p:cNvSpPr>
                <a:spLocks noChangeArrowheads="1"/>
              </p:cNvSpPr>
              <p:nvPr/>
            </p:nvSpPr>
            <p:spPr bwMode="auto">
              <a:xfrm>
                <a:off x="3229" y="2622"/>
                <a:ext cx="35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800" i="1" dirty="0"/>
                  <a:t>-d/2</a:t>
                </a:r>
                <a:endParaRPr lang="en-US" altLang="zh-CN" sz="1800" i="1" dirty="0"/>
              </a:p>
            </p:txBody>
          </p:sp>
          <p:sp>
            <p:nvSpPr>
              <p:cNvPr id="50" name="Rectangle 41"/>
              <p:cNvSpPr>
                <a:spLocks noChangeArrowheads="1"/>
              </p:cNvSpPr>
              <p:nvPr/>
            </p:nvSpPr>
            <p:spPr bwMode="auto">
              <a:xfrm>
                <a:off x="4319" y="1511"/>
                <a:ext cx="30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800" i="1" dirty="0"/>
                  <a:t>d/2</a:t>
                </a:r>
                <a:endParaRPr lang="en-US" altLang="zh-CN" sz="1800" i="1" dirty="0"/>
              </a:p>
            </p:txBody>
          </p:sp>
        </p:grpSp>
      </p:grpSp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On-Axis Field Within a Solenoid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7" name="Rectangle 20"/>
          <p:cNvSpPr>
            <a:spLocks noChangeArrowheads="1"/>
          </p:cNvSpPr>
          <p:nvPr/>
        </p:nvSpPr>
        <p:spPr bwMode="auto">
          <a:xfrm>
            <a:off x="390525" y="1658938"/>
            <a:ext cx="62388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>
                <a:cs typeface="Times New Roman" panose="02020603050405020304" pitchFamily="18" charset="0"/>
              </a:rPr>
              <a:t>The total field on the </a:t>
            </a:r>
            <a:r>
              <a:rPr lang="en-US" altLang="zh-CN" sz="1800" i="1" dirty="0">
                <a:cs typeface="Times New Roman" panose="02020603050405020304" pitchFamily="18" charset="0"/>
              </a:rPr>
              <a:t>z</a:t>
            </a:r>
            <a:r>
              <a:rPr lang="en-US" altLang="zh-CN" sz="1800" dirty="0">
                <a:cs typeface="Times New Roman" panose="02020603050405020304" pitchFamily="18" charset="0"/>
              </a:rPr>
              <a:t> </a:t>
            </a:r>
            <a:r>
              <a:rPr lang="en-US" altLang="zh-CN" sz="1800" i="0" dirty="0">
                <a:cs typeface="Times New Roman" panose="02020603050405020304" pitchFamily="18" charset="0"/>
              </a:rPr>
              <a:t>axis at </a:t>
            </a:r>
            <a:r>
              <a:rPr lang="en-US" altLang="zh-CN" sz="1800" i="1" dirty="0">
                <a:cs typeface="Times New Roman" panose="02020603050405020304" pitchFamily="18" charset="0"/>
              </a:rPr>
              <a:t>z</a:t>
            </a:r>
            <a:r>
              <a:rPr lang="en-US" altLang="zh-CN" sz="1800" dirty="0">
                <a:cs typeface="Times New Roman" panose="02020603050405020304" pitchFamily="18" charset="0"/>
              </a:rPr>
              <a:t> = </a:t>
            </a:r>
            <a:r>
              <a:rPr lang="en-US" altLang="zh-CN" sz="1800" i="0" dirty="0">
                <a:cs typeface="Times New Roman" panose="02020603050405020304" pitchFamily="18" charset="0"/>
              </a:rPr>
              <a:t>0 will be the sum of the field contributions from all turns in the coil -- or the integral</a:t>
            </a:r>
            <a:endParaRPr lang="en-US" altLang="zh-CN" sz="1800" i="0" dirty="0">
              <a:cs typeface="Times New Roman" panose="02020603050405020304" pitchFamily="18" charset="0"/>
            </a:endParaRPr>
          </a:p>
          <a:p>
            <a:r>
              <a:rPr lang="en-US" altLang="zh-CN" sz="1800" i="0" dirty="0">
                <a:cs typeface="Times New Roman" panose="02020603050405020304" pitchFamily="18" charset="0"/>
              </a:rPr>
              <a:t>of </a:t>
            </a:r>
            <a:r>
              <a:rPr lang="en-US" altLang="zh-CN" sz="1800" i="1" dirty="0" err="1">
                <a:cs typeface="Times New Roman" panose="02020603050405020304" pitchFamily="18" charset="0"/>
              </a:rPr>
              <a:t>d</a:t>
            </a:r>
            <a:r>
              <a:rPr lang="en-US" altLang="zh-CN" sz="1800" b="1" i="0" dirty="0" err="1">
                <a:cs typeface="Times New Roman" panose="02020603050405020304" pitchFamily="18" charset="0"/>
              </a:rPr>
              <a:t>H</a:t>
            </a:r>
            <a:r>
              <a:rPr lang="en-US" altLang="zh-CN" sz="1800" b="1" i="0" dirty="0">
                <a:cs typeface="Times New Roman" panose="02020603050405020304" pitchFamily="18" charset="0"/>
              </a:rPr>
              <a:t> </a:t>
            </a:r>
            <a:r>
              <a:rPr lang="en-US" altLang="zh-CN" sz="1800" i="0" dirty="0">
                <a:cs typeface="Times New Roman" panose="02020603050405020304" pitchFamily="18" charset="0"/>
              </a:rPr>
              <a:t>over the length of the solenoid.</a:t>
            </a:r>
            <a:endParaRPr lang="en-US" altLang="zh-CN" sz="1800" i="0" dirty="0">
              <a:cs typeface="Times New Roman" panose="02020603050405020304" pitchFamily="18" charset="0"/>
            </a:endParaRPr>
          </a:p>
        </p:txBody>
      </p:sp>
      <p:pic>
        <p:nvPicPr>
          <p:cNvPr id="38" name="Picture 2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749536"/>
            <a:ext cx="4378325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2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40162"/>
            <a:ext cx="353695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2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942308"/>
            <a:ext cx="5237163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2413395" y="2207316"/>
            <a:ext cx="6374608" cy="4123996"/>
            <a:chOff x="2235993" y="2362200"/>
            <a:chExt cx="6374608" cy="4123996"/>
          </a:xfrm>
        </p:grpSpPr>
        <p:grpSp>
          <p:nvGrpSpPr>
            <p:cNvPr id="46" name="Group 33"/>
            <p:cNvGrpSpPr/>
            <p:nvPr/>
          </p:nvGrpSpPr>
          <p:grpSpPr bwMode="auto">
            <a:xfrm>
              <a:off x="2235993" y="2371396"/>
              <a:ext cx="6362700" cy="4114800"/>
              <a:chOff x="576" y="960"/>
              <a:chExt cx="4008" cy="2592"/>
            </a:xfrm>
          </p:grpSpPr>
          <p:pic>
            <p:nvPicPr>
              <p:cNvPr id="51" name="Picture 34" descr="7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4" y="1104"/>
                <a:ext cx="3720" cy="2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2" name="Rectangle 35"/>
              <p:cNvSpPr>
                <a:spLocks noChangeArrowheads="1"/>
              </p:cNvSpPr>
              <p:nvPr/>
            </p:nvSpPr>
            <p:spPr bwMode="auto">
              <a:xfrm>
                <a:off x="576" y="960"/>
                <a:ext cx="2160" cy="25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 i="0"/>
              </a:p>
            </p:txBody>
          </p:sp>
          <p:sp>
            <p:nvSpPr>
              <p:cNvPr id="53" name="Rectangle 36"/>
              <p:cNvSpPr>
                <a:spLocks noChangeArrowheads="1"/>
              </p:cNvSpPr>
              <p:nvPr/>
            </p:nvSpPr>
            <p:spPr bwMode="auto">
              <a:xfrm>
                <a:off x="3120" y="2880"/>
                <a:ext cx="864" cy="6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 i="0"/>
              </a:p>
            </p:txBody>
          </p:sp>
        </p:grpSp>
        <p:grpSp>
          <p:nvGrpSpPr>
            <p:cNvPr id="47" name="Group 51"/>
            <p:cNvGrpSpPr/>
            <p:nvPr/>
          </p:nvGrpSpPr>
          <p:grpSpPr bwMode="auto">
            <a:xfrm>
              <a:off x="5486400" y="2362200"/>
              <a:ext cx="3124201" cy="2362201"/>
              <a:chOff x="3229" y="1367"/>
              <a:chExt cx="1968" cy="1488"/>
            </a:xfrm>
          </p:grpSpPr>
          <p:sp>
            <p:nvSpPr>
              <p:cNvPr id="48" name="Rectangle 38"/>
              <p:cNvSpPr>
                <a:spLocks noChangeArrowheads="1"/>
              </p:cNvSpPr>
              <p:nvPr/>
            </p:nvSpPr>
            <p:spPr bwMode="auto">
              <a:xfrm>
                <a:off x="5024" y="1367"/>
                <a:ext cx="17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800" i="1" dirty="0"/>
                  <a:t>z</a:t>
                </a:r>
                <a:endParaRPr lang="en-US" altLang="zh-CN" sz="1800" i="1" dirty="0"/>
              </a:p>
            </p:txBody>
          </p:sp>
          <p:sp>
            <p:nvSpPr>
              <p:cNvPr id="49" name="Rectangle 40"/>
              <p:cNvSpPr>
                <a:spLocks noChangeArrowheads="1"/>
              </p:cNvSpPr>
              <p:nvPr/>
            </p:nvSpPr>
            <p:spPr bwMode="auto">
              <a:xfrm>
                <a:off x="3229" y="2622"/>
                <a:ext cx="35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800" i="1" dirty="0"/>
                  <a:t>-d/</a:t>
                </a:r>
                <a:r>
                  <a:rPr lang="en-US" altLang="zh-CN" sz="1800" dirty="0"/>
                  <a:t>2</a:t>
                </a:r>
                <a:endParaRPr lang="en-US" altLang="zh-CN" sz="1800" dirty="0"/>
              </a:p>
            </p:txBody>
          </p:sp>
          <p:sp>
            <p:nvSpPr>
              <p:cNvPr id="50" name="Rectangle 41"/>
              <p:cNvSpPr>
                <a:spLocks noChangeArrowheads="1"/>
              </p:cNvSpPr>
              <p:nvPr/>
            </p:nvSpPr>
            <p:spPr bwMode="auto">
              <a:xfrm>
                <a:off x="4319" y="1511"/>
                <a:ext cx="30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800" i="1" dirty="0"/>
                  <a:t>d/</a:t>
                </a:r>
                <a:r>
                  <a:rPr lang="en-US" altLang="zh-CN" sz="1800" dirty="0"/>
                  <a:t>2</a:t>
                </a:r>
                <a:endParaRPr lang="en-US" altLang="zh-CN" sz="1800" dirty="0"/>
              </a:p>
            </p:txBody>
          </p:sp>
        </p:grpSp>
      </p:grpSp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29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On-Axis Field Within a Solenoid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609600" y="1901825"/>
            <a:ext cx="60283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We now have the on-axis field at the solenoid midpoint (</a:t>
            </a:r>
            <a:r>
              <a:rPr lang="en-US" altLang="zh-CN" sz="1800" i="1" dirty="0"/>
              <a:t>z</a:t>
            </a:r>
            <a:r>
              <a:rPr lang="en-US" altLang="zh-CN" sz="1800" dirty="0"/>
              <a:t> </a:t>
            </a:r>
            <a:r>
              <a:rPr lang="en-US" altLang="zh-CN" sz="1800" i="0" dirty="0"/>
              <a:t>= 0):</a:t>
            </a:r>
            <a:endParaRPr lang="en-US" altLang="zh-CN" sz="1800" i="0" dirty="0"/>
          </a:p>
        </p:txBody>
      </p:sp>
      <p:grpSp>
        <p:nvGrpSpPr>
          <p:cNvPr id="21" name="Group 17"/>
          <p:cNvGrpSpPr/>
          <p:nvPr/>
        </p:nvGrpSpPr>
        <p:grpSpPr bwMode="auto">
          <a:xfrm>
            <a:off x="1333500" y="2480679"/>
            <a:ext cx="2720975" cy="822325"/>
            <a:chOff x="1104" y="1632"/>
            <a:chExt cx="1714" cy="518"/>
          </a:xfrm>
        </p:grpSpPr>
        <p:pic>
          <p:nvPicPr>
            <p:cNvPr id="22" name="Picture 1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4" y="1632"/>
              <a:ext cx="1474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1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" y="1776"/>
              <a:ext cx="19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5" name="Picture 2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355" y="4569517"/>
            <a:ext cx="1527175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691343" y="5562600"/>
            <a:ext cx="761445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>
                <a:solidFill>
                  <a:srgbClr val="C00000"/>
                </a:solidFill>
              </a:rPr>
              <a:t>This result is valid at all on-axis positions deep within long coils -- at distances from each end of several radii.  </a:t>
            </a:r>
            <a:endParaRPr lang="en-US" altLang="zh-CN" sz="1800" i="0" dirty="0">
              <a:solidFill>
                <a:srgbClr val="C00000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68338" y="3733800"/>
            <a:ext cx="5089855" cy="646331"/>
            <a:chOff x="858838" y="3733800"/>
            <a:chExt cx="5089855" cy="646331"/>
          </a:xfrm>
        </p:grpSpPr>
        <p:sp>
          <p:nvSpPr>
            <p:cNvPr id="24" name="Rectangle 18"/>
            <p:cNvSpPr>
              <a:spLocks noChangeArrowheads="1"/>
            </p:cNvSpPr>
            <p:nvPr/>
          </p:nvSpPr>
          <p:spPr bwMode="auto">
            <a:xfrm>
              <a:off x="858838" y="3733800"/>
              <a:ext cx="5089855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800" i="0" dirty="0"/>
                <a:t>Note that for long solenoids, for which               , the</a:t>
              </a:r>
              <a:endParaRPr lang="en-US" altLang="zh-CN" sz="1800" i="0" dirty="0"/>
            </a:p>
            <a:p>
              <a:r>
                <a:rPr lang="en-US" altLang="zh-CN" sz="1800" i="0" dirty="0"/>
                <a:t>result simplifies to: </a:t>
              </a:r>
              <a:endParaRPr lang="en-US" altLang="zh-CN" sz="1800" i="0" dirty="0"/>
            </a:p>
          </p:txBody>
        </p:sp>
        <p:pic>
          <p:nvPicPr>
            <p:cNvPr id="27" name="Picture 19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33900" y="3773473"/>
              <a:ext cx="795338" cy="293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42900" y="2362200"/>
            <a:ext cx="7200900" cy="3886200"/>
            <a:chOff x="266700" y="2819400"/>
            <a:chExt cx="7200900" cy="3886200"/>
          </a:xfrm>
        </p:grpSpPr>
        <p:grpSp>
          <p:nvGrpSpPr>
            <p:cNvPr id="36" name="Group 6"/>
            <p:cNvGrpSpPr/>
            <p:nvPr/>
          </p:nvGrpSpPr>
          <p:grpSpPr bwMode="auto">
            <a:xfrm>
              <a:off x="990600" y="2819400"/>
              <a:ext cx="6477000" cy="3886200"/>
              <a:chOff x="864" y="960"/>
              <a:chExt cx="4080" cy="2448"/>
            </a:xfrm>
          </p:grpSpPr>
          <p:pic>
            <p:nvPicPr>
              <p:cNvPr id="54" name="Picture 2" descr="7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4" y="1104"/>
                <a:ext cx="3720" cy="2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" name="Rectangle 4"/>
              <p:cNvSpPr>
                <a:spLocks noChangeArrowheads="1"/>
              </p:cNvSpPr>
              <p:nvPr/>
            </p:nvSpPr>
            <p:spPr bwMode="auto">
              <a:xfrm>
                <a:off x="2688" y="960"/>
                <a:ext cx="2256" cy="24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i="0"/>
              </a:p>
            </p:txBody>
          </p:sp>
          <p:sp>
            <p:nvSpPr>
              <p:cNvPr id="56" name="Rectangle 5"/>
              <p:cNvSpPr>
                <a:spLocks noChangeArrowheads="1"/>
              </p:cNvSpPr>
              <p:nvPr/>
            </p:nvSpPr>
            <p:spPr bwMode="auto">
              <a:xfrm>
                <a:off x="1104" y="2928"/>
                <a:ext cx="1056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i="0"/>
              </a:p>
            </p:txBody>
          </p:sp>
        </p:grpSp>
        <p:sp>
          <p:nvSpPr>
            <p:cNvPr id="32" name="Line 16"/>
            <p:cNvSpPr>
              <a:spLocks noChangeShapeType="1"/>
            </p:cNvSpPr>
            <p:nvPr/>
          </p:nvSpPr>
          <p:spPr bwMode="auto">
            <a:xfrm flipH="1">
              <a:off x="685800" y="5257800"/>
              <a:ext cx="30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17"/>
            <p:cNvSpPr>
              <a:spLocks noChangeShapeType="1"/>
            </p:cNvSpPr>
            <p:nvPr/>
          </p:nvSpPr>
          <p:spPr bwMode="auto">
            <a:xfrm flipH="1">
              <a:off x="2476500" y="3409950"/>
              <a:ext cx="30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Rectangle 18"/>
            <p:cNvSpPr>
              <a:spLocks noChangeArrowheads="1"/>
            </p:cNvSpPr>
            <p:nvPr/>
          </p:nvSpPr>
          <p:spPr bwMode="auto">
            <a:xfrm>
              <a:off x="2095500" y="3248025"/>
              <a:ext cx="41116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i="1" dirty="0"/>
                <a:t>d</a:t>
              </a:r>
              <a:r>
                <a:rPr lang="en-US" altLang="zh-CN" dirty="0"/>
                <a:t>/</a:t>
              </a:r>
              <a:r>
                <a:rPr lang="en-US" altLang="zh-CN" i="0" dirty="0"/>
                <a:t>2</a:t>
              </a:r>
              <a:endParaRPr lang="en-US" altLang="zh-CN" dirty="0"/>
            </a:p>
          </p:txBody>
        </p:sp>
        <p:sp>
          <p:nvSpPr>
            <p:cNvPr id="35" name="Rectangle 19"/>
            <p:cNvSpPr>
              <a:spLocks noChangeArrowheads="1"/>
            </p:cNvSpPr>
            <p:nvPr/>
          </p:nvSpPr>
          <p:spPr bwMode="auto">
            <a:xfrm>
              <a:off x="266700" y="5095875"/>
              <a:ext cx="4699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dirty="0"/>
                <a:t>-</a:t>
              </a:r>
              <a:r>
                <a:rPr lang="en-US" altLang="zh-CN" i="1" dirty="0"/>
                <a:t>d</a:t>
              </a:r>
              <a:r>
                <a:rPr lang="en-US" altLang="zh-CN" dirty="0"/>
                <a:t>/</a:t>
              </a:r>
              <a:r>
                <a:rPr lang="en-US" altLang="zh-CN" i="0" dirty="0"/>
                <a:t>2</a:t>
              </a:r>
              <a:endParaRPr lang="en-US" altLang="zh-CN" dirty="0"/>
            </a:p>
          </p:txBody>
        </p:sp>
      </p:grpSp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30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On-Axis Field Within a Solenoid: Continuous Surface Current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8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611" y="2436812"/>
            <a:ext cx="3154363" cy="65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9" name="Picture 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125896"/>
            <a:ext cx="37211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40" name="Picture 1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7406" y="4919662"/>
            <a:ext cx="2824163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41" name="Rectangle 12"/>
          <p:cNvSpPr>
            <a:spLocks noChangeArrowheads="1"/>
          </p:cNvSpPr>
          <p:nvPr/>
        </p:nvSpPr>
        <p:spPr bwMode="auto">
          <a:xfrm>
            <a:off x="4556664" y="3352800"/>
            <a:ext cx="11592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Therefore:</a:t>
            </a:r>
            <a:endParaRPr lang="en-US" altLang="zh-CN" sz="1800" i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Solenoid Field -- Off-Axis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533400" y="1689894"/>
            <a:ext cx="8001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To find the field within a solenoid, but off the </a:t>
            </a:r>
            <a:r>
              <a:rPr lang="en-US" altLang="zh-CN" sz="1800" i="1" dirty="0"/>
              <a:t>z</a:t>
            </a:r>
            <a:r>
              <a:rPr lang="en-US" altLang="zh-CN" sz="1800" dirty="0"/>
              <a:t> </a:t>
            </a:r>
            <a:r>
              <a:rPr lang="en-US" altLang="zh-CN" sz="1800" i="0" dirty="0"/>
              <a:t>axis, we apply Ampere</a:t>
            </a:r>
            <a:r>
              <a:rPr lang="ja-JP" altLang="en-US" sz="1800" i="0" dirty="0"/>
              <a:t>’</a:t>
            </a:r>
            <a:r>
              <a:rPr lang="en-US" altLang="ja-JP" sz="1800" i="0" dirty="0"/>
              <a:t>s Circuital Law in the following way:</a:t>
            </a:r>
            <a:endParaRPr lang="en-US" altLang="zh-CN" sz="1800" i="0" dirty="0"/>
          </a:p>
        </p:txBody>
      </p:sp>
      <p:sp>
        <p:nvSpPr>
          <p:cNvPr id="22" name="Rectangle 66"/>
          <p:cNvSpPr>
            <a:spLocks noChangeArrowheads="1"/>
          </p:cNvSpPr>
          <p:nvPr/>
        </p:nvSpPr>
        <p:spPr bwMode="auto">
          <a:xfrm>
            <a:off x="533400" y="2387600"/>
            <a:ext cx="8077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illustration below shows the solenoid cross-section, from a lengthwise cut through the </a:t>
            </a:r>
            <a:r>
              <a:rPr lang="en-US" altLang="zh-CN" sz="1800" dirty="0"/>
              <a:t>z </a:t>
            </a:r>
            <a:r>
              <a:rPr lang="en-US" altLang="zh-CN" sz="1800" i="0" dirty="0"/>
              <a:t>axis.  Current in the windings flows in and out of the screen in the circular current path.  Each turn carries current </a:t>
            </a:r>
            <a:r>
              <a:rPr lang="en-US" altLang="zh-CN" sz="1800" i="1" dirty="0"/>
              <a:t>I</a:t>
            </a:r>
            <a:r>
              <a:rPr lang="en-US" altLang="zh-CN" sz="1800" dirty="0"/>
              <a:t>.</a:t>
            </a:r>
            <a:r>
              <a:rPr lang="en-US" altLang="zh-CN" sz="1800" i="0" dirty="0"/>
              <a:t> The magnetic field along the </a:t>
            </a:r>
            <a:r>
              <a:rPr lang="en-US" altLang="zh-CN" sz="1800" i="1" dirty="0"/>
              <a:t>z</a:t>
            </a:r>
            <a:r>
              <a:rPr lang="en-US" altLang="zh-CN" sz="1800" dirty="0"/>
              <a:t> </a:t>
            </a:r>
            <a:r>
              <a:rPr lang="en-US" altLang="zh-CN" sz="1800" i="0" dirty="0"/>
              <a:t>axis is </a:t>
            </a:r>
            <a:r>
              <a:rPr lang="en-US" altLang="zh-CN" sz="1800" i="1" dirty="0"/>
              <a:t>NI</a:t>
            </a:r>
            <a:r>
              <a:rPr lang="en-US" altLang="zh-CN" sz="1800" dirty="0"/>
              <a:t>/</a:t>
            </a:r>
            <a:r>
              <a:rPr lang="en-US" altLang="zh-CN" sz="1800" i="1" dirty="0"/>
              <a:t>d</a:t>
            </a:r>
            <a:r>
              <a:rPr lang="en-US" altLang="zh-CN" sz="1800" i="0" dirty="0"/>
              <a:t> as we found earlier.  </a:t>
            </a:r>
            <a:endParaRPr lang="en-US" altLang="zh-CN" sz="1800" i="0" dirty="0"/>
          </a:p>
        </p:txBody>
      </p:sp>
      <p:pic>
        <p:nvPicPr>
          <p:cNvPr id="23" name="Picture 76" descr="Solenoid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963" y="3752850"/>
            <a:ext cx="6777038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Solenoid Field -- Off-Axis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1" name="Picture 7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32" y="2209800"/>
            <a:ext cx="8564562" cy="87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2" name="Rectangle 79"/>
          <p:cNvSpPr>
            <a:spLocks noChangeArrowheads="1"/>
          </p:cNvSpPr>
          <p:nvPr/>
        </p:nvSpPr>
        <p:spPr bwMode="auto">
          <a:xfrm>
            <a:off x="609600" y="1742237"/>
            <a:ext cx="8058149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Applying Ampere</a:t>
            </a:r>
            <a:r>
              <a:rPr lang="ja-JP" altLang="en-US" sz="1800" i="0" dirty="0"/>
              <a:t>’</a:t>
            </a:r>
            <a:r>
              <a:rPr lang="en-US" altLang="ja-JP" sz="1800" i="0" dirty="0"/>
              <a:t>s Law to the rectangular path shown below leads to the following:</a:t>
            </a:r>
            <a:endParaRPr lang="en-US" altLang="zh-CN" sz="1800" i="0" dirty="0"/>
          </a:p>
        </p:txBody>
      </p:sp>
      <p:pic>
        <p:nvPicPr>
          <p:cNvPr id="15" name="Picture 89" descr="Solenoid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908" y="3505200"/>
            <a:ext cx="6911974" cy="263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Solenoid Field -- Off-Axis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7" name="Picture 7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517" y="2514600"/>
            <a:ext cx="8564562" cy="87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8" name="Rectangle 83"/>
          <p:cNvSpPr>
            <a:spLocks noChangeArrowheads="1"/>
          </p:cNvSpPr>
          <p:nvPr/>
        </p:nvSpPr>
        <p:spPr bwMode="auto">
          <a:xfrm>
            <a:off x="381000" y="1676400"/>
            <a:ext cx="8610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radial integrals will now cancel, because they are oppositely-directed, and because in the long coil,      is not expected to differ between the two radial path segments.</a:t>
            </a:r>
            <a:endParaRPr lang="en-US" altLang="zh-CN" sz="1800" i="0" dirty="0"/>
          </a:p>
        </p:txBody>
      </p:sp>
      <p:pic>
        <p:nvPicPr>
          <p:cNvPr id="19" name="Picture 8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011846"/>
            <a:ext cx="28416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0" name="Line 85"/>
          <p:cNvSpPr>
            <a:spLocks noChangeShapeType="1"/>
          </p:cNvSpPr>
          <p:nvPr/>
        </p:nvSpPr>
        <p:spPr bwMode="auto">
          <a:xfrm flipV="1">
            <a:off x="2743200" y="2550543"/>
            <a:ext cx="1066800" cy="914400"/>
          </a:xfrm>
          <a:prstGeom prst="line">
            <a:avLst/>
          </a:prstGeom>
          <a:noFill/>
          <a:ln w="19050">
            <a:solidFill>
              <a:srgbClr val="D43C82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86"/>
          <p:cNvSpPr>
            <a:spLocks noChangeShapeType="1"/>
          </p:cNvSpPr>
          <p:nvPr/>
        </p:nvSpPr>
        <p:spPr bwMode="auto">
          <a:xfrm flipV="1">
            <a:off x="5486400" y="2514600"/>
            <a:ext cx="1066800" cy="914400"/>
          </a:xfrm>
          <a:prstGeom prst="line">
            <a:avLst/>
          </a:prstGeom>
          <a:noFill/>
          <a:ln w="19050">
            <a:solidFill>
              <a:srgbClr val="D43C82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2" name="Picture 92" descr="Solenoid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38" y="3541713"/>
            <a:ext cx="6911974" cy="263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Solenoid Field -- Off-Axis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4" name="Rectangle 78"/>
          <p:cNvSpPr>
            <a:spLocks noChangeArrowheads="1"/>
          </p:cNvSpPr>
          <p:nvPr/>
        </p:nvSpPr>
        <p:spPr bwMode="auto">
          <a:xfrm>
            <a:off x="685800" y="1631950"/>
            <a:ext cx="81534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What is left now are the two </a:t>
            </a:r>
            <a:r>
              <a:rPr lang="en-US" altLang="zh-CN" sz="1800" i="1" dirty="0"/>
              <a:t>z</a:t>
            </a:r>
            <a:r>
              <a:rPr lang="en-US" altLang="zh-CN" sz="1800" dirty="0"/>
              <a:t> </a:t>
            </a:r>
            <a:r>
              <a:rPr lang="en-US" altLang="zh-CN" sz="1800" i="0" dirty="0"/>
              <a:t>integrations, the first of which we can evaluate as shown. Since this first integral result is equal to the enclosed current, it must follow that the second integral -- and the outside magnetic field -- are zero. </a:t>
            </a:r>
            <a:endParaRPr lang="en-US" altLang="zh-CN" sz="1800" i="0" dirty="0"/>
          </a:p>
        </p:txBody>
      </p:sp>
      <p:pic>
        <p:nvPicPr>
          <p:cNvPr id="15" name="Picture 8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743200"/>
            <a:ext cx="5969000" cy="95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Line 86"/>
          <p:cNvSpPr>
            <a:spLocks noChangeShapeType="1"/>
          </p:cNvSpPr>
          <p:nvPr/>
        </p:nvSpPr>
        <p:spPr bwMode="auto">
          <a:xfrm flipV="1">
            <a:off x="4038600" y="2667000"/>
            <a:ext cx="1066800" cy="914400"/>
          </a:xfrm>
          <a:prstGeom prst="line">
            <a:avLst/>
          </a:prstGeom>
          <a:noFill/>
          <a:ln w="19050">
            <a:solidFill>
              <a:srgbClr val="D43C82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3" name="Picture 88" descr="Solenoid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3770312"/>
            <a:ext cx="6911975" cy="263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Solenoid Field -- Off-Axis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2" name="Rectangle 79"/>
          <p:cNvSpPr>
            <a:spLocks noChangeArrowheads="1"/>
          </p:cNvSpPr>
          <p:nvPr/>
        </p:nvSpPr>
        <p:spPr bwMode="auto">
          <a:xfrm>
            <a:off x="685800" y="1631950"/>
            <a:ext cx="80772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>
                <a:cs typeface="Times New Roman" panose="02020603050405020304" pitchFamily="18" charset="0"/>
              </a:rPr>
              <a:t>The situation does not change if the lower </a:t>
            </a:r>
            <a:r>
              <a:rPr lang="en-US" altLang="zh-CN" sz="1800" i="1" dirty="0">
                <a:cs typeface="Times New Roman" panose="02020603050405020304" pitchFamily="18" charset="0"/>
              </a:rPr>
              <a:t>z</a:t>
            </a:r>
            <a:r>
              <a:rPr lang="en-US" altLang="zh-CN" sz="1800" dirty="0">
                <a:cs typeface="Times New Roman" panose="02020603050405020304" pitchFamily="18" charset="0"/>
              </a:rPr>
              <a:t>-</a:t>
            </a:r>
            <a:r>
              <a:rPr lang="en-US" altLang="zh-CN" sz="1800" i="0" dirty="0">
                <a:cs typeface="Times New Roman" panose="02020603050405020304" pitchFamily="18" charset="0"/>
              </a:rPr>
              <a:t>directed path is raised above the </a:t>
            </a:r>
            <a:r>
              <a:rPr lang="en-US" altLang="zh-CN" sz="1800" i="1" dirty="0">
                <a:cs typeface="Times New Roman" panose="02020603050405020304" pitchFamily="18" charset="0"/>
              </a:rPr>
              <a:t>z</a:t>
            </a:r>
            <a:r>
              <a:rPr lang="en-US" altLang="zh-CN" sz="1800" dirty="0">
                <a:cs typeface="Times New Roman" panose="02020603050405020304" pitchFamily="18" charset="0"/>
              </a:rPr>
              <a:t> </a:t>
            </a:r>
            <a:r>
              <a:rPr lang="en-US" altLang="zh-CN" sz="1800" i="0" dirty="0">
                <a:cs typeface="Times New Roman" panose="02020603050405020304" pitchFamily="18" charset="0"/>
              </a:rPr>
              <a:t>axis.  The vertical paths still cancel, and the outside field is still zero. The field along the path </a:t>
            </a:r>
            <a:r>
              <a:rPr lang="en-US" altLang="zh-CN" sz="1800" dirty="0">
                <a:cs typeface="Times New Roman" panose="02020603050405020304" pitchFamily="18" charset="0"/>
              </a:rPr>
              <a:t>A </a:t>
            </a:r>
            <a:r>
              <a:rPr lang="en-US" altLang="zh-CN" sz="1800" i="0" dirty="0">
                <a:cs typeface="Times New Roman" panose="02020603050405020304" pitchFamily="18" charset="0"/>
              </a:rPr>
              <a:t>to </a:t>
            </a:r>
            <a:r>
              <a:rPr lang="en-US" altLang="zh-CN" sz="1800" dirty="0">
                <a:cs typeface="Times New Roman" panose="02020603050405020304" pitchFamily="18" charset="0"/>
              </a:rPr>
              <a:t>B </a:t>
            </a:r>
            <a:r>
              <a:rPr lang="en-US" altLang="zh-CN" sz="1800" i="0" dirty="0">
                <a:cs typeface="Times New Roman" panose="02020603050405020304" pitchFamily="18" charset="0"/>
              </a:rPr>
              <a:t>is therefore </a:t>
            </a:r>
            <a:r>
              <a:rPr lang="en-US" altLang="zh-CN" sz="1800" i="1" dirty="0">
                <a:cs typeface="Times New Roman" panose="02020603050405020304" pitchFamily="18" charset="0"/>
              </a:rPr>
              <a:t>NI/d</a:t>
            </a:r>
            <a:r>
              <a:rPr lang="en-US" altLang="zh-CN" sz="1800" dirty="0">
                <a:cs typeface="Times New Roman" panose="02020603050405020304" pitchFamily="18" charset="0"/>
              </a:rPr>
              <a:t> </a:t>
            </a:r>
            <a:r>
              <a:rPr lang="en-US" altLang="zh-CN" sz="1800" i="0" dirty="0">
                <a:cs typeface="Times New Roman" panose="02020603050405020304" pitchFamily="18" charset="0"/>
              </a:rPr>
              <a:t>as before. </a:t>
            </a:r>
            <a:endParaRPr lang="en-US" altLang="zh-CN" sz="1800" i="0" dirty="0">
              <a:cs typeface="Times New Roman" panose="02020603050405020304" pitchFamily="18" charset="0"/>
            </a:endParaRPr>
          </a:p>
        </p:txBody>
      </p:sp>
      <p:pic>
        <p:nvPicPr>
          <p:cNvPr id="13" name="Picture 8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667000"/>
            <a:ext cx="5968999" cy="95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Line 81"/>
          <p:cNvSpPr>
            <a:spLocks noChangeShapeType="1"/>
          </p:cNvSpPr>
          <p:nvPr/>
        </p:nvSpPr>
        <p:spPr bwMode="auto">
          <a:xfrm flipV="1">
            <a:off x="4038600" y="2590800"/>
            <a:ext cx="1066800" cy="914400"/>
          </a:xfrm>
          <a:prstGeom prst="line">
            <a:avLst/>
          </a:prstGeom>
          <a:noFill/>
          <a:ln w="19050">
            <a:solidFill>
              <a:srgbClr val="D43C82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84"/>
          <p:cNvSpPr>
            <a:spLocks noChangeArrowheads="1"/>
          </p:cNvSpPr>
          <p:nvPr/>
        </p:nvSpPr>
        <p:spPr bwMode="auto">
          <a:xfrm>
            <a:off x="735013" y="6019800"/>
            <a:ext cx="772318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>
                <a:solidFill>
                  <a:srgbClr val="C00000"/>
                </a:solidFill>
                <a:cs typeface="Times New Roman" panose="02020603050405020304" pitchFamily="18" charset="0"/>
              </a:rPr>
              <a:t>Conclusion:  The magnetic field within a long solenoid is approximately constant throughout the coil cross-section, and is </a:t>
            </a:r>
            <a:r>
              <a:rPr lang="en-US" altLang="zh-CN" sz="1800" dirty="0">
                <a:solidFill>
                  <a:srgbClr val="C00000"/>
                </a:solidFill>
                <a:cs typeface="Times New Roman" panose="02020603050405020304" pitchFamily="18" charset="0"/>
              </a:rPr>
              <a:t>H</a:t>
            </a:r>
            <a:r>
              <a:rPr lang="en-US" altLang="zh-CN" sz="1800" i="1" baseline="-25000" dirty="0">
                <a:solidFill>
                  <a:srgbClr val="C00000"/>
                </a:solidFill>
                <a:cs typeface="Times New Roman" panose="02020603050405020304" pitchFamily="18" charset="0"/>
              </a:rPr>
              <a:t>z</a:t>
            </a:r>
            <a:r>
              <a:rPr lang="en-US" altLang="zh-CN" sz="1800" baseline="-25000" dirty="0">
                <a:solidFill>
                  <a:srgbClr val="C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800" i="0" dirty="0">
                <a:solidFill>
                  <a:srgbClr val="C00000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C00000"/>
                </a:solidFill>
                <a:cs typeface="Times New Roman" panose="02020603050405020304" pitchFamily="18" charset="0"/>
              </a:rPr>
              <a:t>NI</a:t>
            </a:r>
            <a:r>
              <a:rPr lang="en-US" altLang="zh-CN" sz="1800" dirty="0">
                <a:solidFill>
                  <a:srgbClr val="C00000"/>
                </a:solidFill>
                <a:cs typeface="Times New Roman" panose="02020603050405020304" pitchFamily="18" charset="0"/>
              </a:rPr>
              <a:t>/</a:t>
            </a:r>
            <a:r>
              <a:rPr lang="en-US" altLang="zh-CN" sz="1800" i="1" dirty="0">
                <a:solidFill>
                  <a:srgbClr val="C00000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sz="1800" i="0" dirty="0">
                <a:solidFill>
                  <a:srgbClr val="C00000"/>
                </a:solidFill>
                <a:cs typeface="Times New Roman" panose="02020603050405020304" pitchFamily="18" charset="0"/>
              </a:rPr>
              <a:t>.</a:t>
            </a:r>
            <a:endParaRPr lang="en-US" altLang="zh-CN" sz="1800" i="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9" name="Line 86"/>
          <p:cNvSpPr>
            <a:spLocks noChangeShapeType="1"/>
          </p:cNvSpPr>
          <p:nvPr/>
        </p:nvSpPr>
        <p:spPr bwMode="auto">
          <a:xfrm>
            <a:off x="4495800" y="6629400"/>
            <a:ext cx="990600" cy="0"/>
          </a:xfrm>
          <a:prstGeom prst="line">
            <a:avLst/>
          </a:prstGeom>
          <a:noFill/>
          <a:ln w="19050">
            <a:solidFill>
              <a:srgbClr val="D43C8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88" descr="Solenoid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163" y="3657601"/>
            <a:ext cx="6218237" cy="234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Toroid Magnetic Field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5" name="Picture 133" descr="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59" y="3930650"/>
            <a:ext cx="3463925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34"/>
          <p:cNvSpPr>
            <a:spLocks noChangeArrowheads="1"/>
          </p:cNvSpPr>
          <p:nvPr/>
        </p:nvSpPr>
        <p:spPr bwMode="auto">
          <a:xfrm>
            <a:off x="579259" y="1698928"/>
            <a:ext cx="818014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    A toroid is a </a:t>
            </a:r>
            <a:r>
              <a:rPr lang="en-US" altLang="zh-CN" sz="1800" i="0" dirty="0">
                <a:solidFill>
                  <a:srgbClr val="C00000"/>
                </a:solidFill>
              </a:rPr>
              <a:t>doughnut-shaped</a:t>
            </a:r>
            <a:r>
              <a:rPr lang="en-US" altLang="zh-CN" sz="1800" i="0" dirty="0"/>
              <a:t> set of windings around a </a:t>
            </a:r>
            <a:r>
              <a:rPr lang="en-US" altLang="zh-CN" sz="1800" i="0" dirty="0">
                <a:solidFill>
                  <a:srgbClr val="C00000"/>
                </a:solidFill>
              </a:rPr>
              <a:t>core material</a:t>
            </a:r>
            <a:r>
              <a:rPr lang="en-US" altLang="zh-CN" sz="1800" i="0" dirty="0"/>
              <a:t>.  The cross-section could be circular (as shown here, with radius </a:t>
            </a:r>
            <a:r>
              <a:rPr lang="en-US" altLang="zh-CN" sz="1800" dirty="0"/>
              <a:t>a</a:t>
            </a:r>
            <a:r>
              <a:rPr lang="en-US" altLang="zh-CN" sz="1800" i="0" dirty="0"/>
              <a:t>) or any other shape.    </a:t>
            </a:r>
            <a:endParaRPr lang="en-US" altLang="zh-CN" sz="1800" i="0" dirty="0"/>
          </a:p>
        </p:txBody>
      </p:sp>
      <p:sp>
        <p:nvSpPr>
          <p:cNvPr id="21" name="Rectangle 135"/>
          <p:cNvSpPr>
            <a:spLocks noChangeArrowheads="1"/>
          </p:cNvSpPr>
          <p:nvPr/>
        </p:nvSpPr>
        <p:spPr bwMode="auto">
          <a:xfrm>
            <a:off x="616640" y="2369389"/>
            <a:ext cx="784156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   Below, a slice of the toroid is shown, with current emerging from the screen around the inner periphery (in the positive </a:t>
            </a:r>
            <a:r>
              <a:rPr lang="en-US" altLang="zh-CN" sz="1800" i="1" dirty="0"/>
              <a:t>z</a:t>
            </a:r>
            <a:r>
              <a:rPr lang="en-US" altLang="zh-CN" sz="1800" dirty="0"/>
              <a:t> </a:t>
            </a:r>
            <a:r>
              <a:rPr lang="en-US" altLang="zh-CN" sz="1800" i="0" dirty="0"/>
              <a:t>direction). The windings are modeled as </a:t>
            </a:r>
            <a:r>
              <a:rPr lang="en-US" altLang="zh-CN" sz="1800" i="1" dirty="0"/>
              <a:t>N</a:t>
            </a:r>
            <a:r>
              <a:rPr lang="en-US" altLang="zh-CN" sz="1800" dirty="0"/>
              <a:t> </a:t>
            </a:r>
            <a:r>
              <a:rPr lang="en-US" altLang="zh-CN" sz="1800" i="0" dirty="0"/>
              <a:t>individual current loops, each of which carries current </a:t>
            </a:r>
            <a:r>
              <a:rPr lang="en-US" altLang="zh-CN" sz="1800" i="1" dirty="0"/>
              <a:t>I</a:t>
            </a:r>
            <a:r>
              <a:rPr lang="en-US" altLang="zh-CN" sz="1800" dirty="0"/>
              <a:t>.</a:t>
            </a:r>
            <a:endParaRPr lang="en-US" altLang="zh-CN" sz="1800" i="0" dirty="0"/>
          </a:p>
        </p:txBody>
      </p:sp>
      <p:pic>
        <p:nvPicPr>
          <p:cNvPr id="22" name="Picture 320" descr="Toroid Setup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352800"/>
            <a:ext cx="3575050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Ampere’s Law as Applied to a Toroid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2" name="Rectangle 122"/>
          <p:cNvSpPr>
            <a:spLocks noChangeArrowheads="1"/>
          </p:cNvSpPr>
          <p:nvPr/>
        </p:nvSpPr>
        <p:spPr bwMode="auto">
          <a:xfrm>
            <a:off x="609600" y="1578634"/>
            <a:ext cx="7848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Ampere</a:t>
            </a:r>
            <a:r>
              <a:rPr lang="ja-JP" altLang="en-US" sz="1800" i="0" dirty="0"/>
              <a:t>’</a:t>
            </a:r>
            <a:r>
              <a:rPr lang="en-US" altLang="ja-JP" sz="1800" i="0" dirty="0"/>
              <a:t>s Circuital Law can be applied to a toroid by taking a closed loop integral </a:t>
            </a:r>
            <a:r>
              <a:rPr lang="en-US" altLang="zh-CN" sz="1800" i="0" dirty="0"/>
              <a:t>around the circular contour </a:t>
            </a:r>
            <a:r>
              <a:rPr lang="en-US" altLang="zh-CN" sz="1800" i="1" dirty="0">
                <a:solidFill>
                  <a:srgbClr val="CC006B"/>
                </a:solidFill>
              </a:rPr>
              <a:t>C</a:t>
            </a:r>
            <a:r>
              <a:rPr lang="en-US" altLang="zh-CN" sz="1800" dirty="0"/>
              <a:t> </a:t>
            </a:r>
            <a:r>
              <a:rPr lang="en-US" altLang="zh-CN" sz="1800" i="0" dirty="0"/>
              <a:t>at radius </a:t>
            </a:r>
            <a:r>
              <a:rPr lang="en-US" altLang="zh-CN" sz="1800" i="1" dirty="0">
                <a:latin typeface="Symbol Tiger" charset="2"/>
                <a:sym typeface="Symbol" panose="05050102010706020507" pitchFamily="18" charset="2"/>
              </a:rPr>
              <a:t></a:t>
            </a:r>
            <a:r>
              <a:rPr lang="en-US" altLang="zh-CN" sz="1800" i="0" dirty="0">
                <a:latin typeface="Symbol Tiger" charset="2"/>
                <a:sym typeface="Symbol" panose="05050102010706020507" pitchFamily="18" charset="2"/>
              </a:rPr>
              <a:t></a:t>
            </a:r>
            <a:r>
              <a:rPr lang="en-US" altLang="zh-CN" sz="1800" i="0" dirty="0"/>
              <a:t>Magnetic field </a:t>
            </a:r>
            <a:r>
              <a:rPr lang="en-US" altLang="zh-CN" sz="1800" b="1" i="0" dirty="0">
                <a:solidFill>
                  <a:srgbClr val="2453E8"/>
                </a:solidFill>
              </a:rPr>
              <a:t>H</a:t>
            </a:r>
            <a:r>
              <a:rPr lang="en-US" altLang="zh-CN" sz="1800" b="1" i="0" dirty="0"/>
              <a:t> </a:t>
            </a:r>
            <a:r>
              <a:rPr lang="en-US" altLang="zh-CN" sz="1800" i="0" dirty="0">
                <a:solidFill>
                  <a:srgbClr val="C00000"/>
                </a:solidFill>
              </a:rPr>
              <a:t>is presumed to be circular</a:t>
            </a:r>
            <a:r>
              <a:rPr lang="en-US" altLang="zh-CN" sz="1800" i="0" dirty="0"/>
              <a:t>, and a function of radius only </a:t>
            </a:r>
            <a:r>
              <a:rPr lang="en-US" altLang="zh-CN" sz="1800" i="0" dirty="0">
                <a:solidFill>
                  <a:srgbClr val="C00000"/>
                </a:solidFill>
              </a:rPr>
              <a:t>at locations within the toroid that are not too close to the individual windings</a:t>
            </a:r>
            <a:r>
              <a:rPr lang="en-US" altLang="zh-CN" sz="1800" i="0" dirty="0"/>
              <a:t>.  Under this condition, we would assume:</a:t>
            </a:r>
            <a:endParaRPr lang="en-US" altLang="zh-CN" sz="1800" i="0" dirty="0"/>
          </a:p>
        </p:txBody>
      </p:sp>
      <p:pic>
        <p:nvPicPr>
          <p:cNvPr id="13" name="Picture 274" descr="Toroid Fiel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762" y="2826663"/>
            <a:ext cx="3703638" cy="331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7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990" y="2737287"/>
            <a:ext cx="1316038" cy="31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7" name="Picture 27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3886200"/>
            <a:ext cx="4049713" cy="75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8" name="Rectangle 278"/>
          <p:cNvSpPr>
            <a:spLocks noChangeArrowheads="1"/>
          </p:cNvSpPr>
          <p:nvPr/>
        </p:nvSpPr>
        <p:spPr bwMode="auto">
          <a:xfrm>
            <a:off x="691324" y="3581400"/>
            <a:ext cx="34996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Ampere</a:t>
            </a:r>
            <a:r>
              <a:rPr lang="ja-JP" altLang="en-US" sz="1800" i="0" dirty="0"/>
              <a:t>’</a:t>
            </a:r>
            <a:r>
              <a:rPr lang="en-US" altLang="ja-JP" sz="1800" i="0" dirty="0"/>
              <a:t>s Law now takes the form:</a:t>
            </a:r>
            <a:endParaRPr lang="en-US" altLang="zh-CN" sz="1800" i="0" dirty="0"/>
          </a:p>
        </p:txBody>
      </p:sp>
      <p:sp>
        <p:nvSpPr>
          <p:cNvPr id="19" name="Rectangle 279"/>
          <p:cNvSpPr>
            <a:spLocks noChangeArrowheads="1"/>
          </p:cNvSpPr>
          <p:nvPr/>
        </p:nvSpPr>
        <p:spPr bwMode="auto">
          <a:xfrm>
            <a:off x="762000" y="4572000"/>
            <a:ext cx="10823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so that….</a:t>
            </a:r>
            <a:endParaRPr lang="en-US" altLang="zh-CN" sz="1800" i="0" dirty="0"/>
          </a:p>
        </p:txBody>
      </p:sp>
      <p:grpSp>
        <p:nvGrpSpPr>
          <p:cNvPr id="20" name="Group 283"/>
          <p:cNvGrpSpPr/>
          <p:nvPr/>
        </p:nvGrpSpPr>
        <p:grpSpPr bwMode="auto">
          <a:xfrm>
            <a:off x="762000" y="4953003"/>
            <a:ext cx="4114800" cy="722313"/>
            <a:chOff x="384" y="3168"/>
            <a:chExt cx="2592" cy="455"/>
          </a:xfrm>
        </p:grpSpPr>
        <p:pic>
          <p:nvPicPr>
            <p:cNvPr id="29" name="Picture 28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3168"/>
              <a:ext cx="2395" cy="4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sp>
          <p:nvSpPr>
            <p:cNvPr id="28" name="Rectangle 280"/>
            <p:cNvSpPr>
              <a:spLocks noChangeArrowheads="1"/>
            </p:cNvSpPr>
            <p:nvPr/>
          </p:nvSpPr>
          <p:spPr bwMode="auto">
            <a:xfrm>
              <a:off x="384" y="3168"/>
              <a:ext cx="2592" cy="432"/>
            </a:xfrm>
            <a:prstGeom prst="rect">
              <a:avLst/>
            </a:prstGeom>
            <a:noFill/>
            <a:ln w="9525">
              <a:solidFill>
                <a:srgbClr val="CC006B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600" i="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33400" y="5715000"/>
            <a:ext cx="6273800" cy="923330"/>
            <a:chOff x="533400" y="5715000"/>
            <a:chExt cx="6273800" cy="923330"/>
          </a:xfrm>
        </p:grpSpPr>
        <p:pic>
          <p:nvPicPr>
            <p:cNvPr id="25" name="Picture 285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3174" y="6118030"/>
              <a:ext cx="1191491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pic>
          <p:nvPicPr>
            <p:cNvPr id="26" name="Picture 286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7022" y="6111125"/>
              <a:ext cx="1233978" cy="2841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sp>
          <p:nvSpPr>
            <p:cNvPr id="27" name="Rectangle 284"/>
            <p:cNvSpPr>
              <a:spLocks noChangeArrowheads="1"/>
            </p:cNvSpPr>
            <p:nvPr/>
          </p:nvSpPr>
          <p:spPr bwMode="auto">
            <a:xfrm>
              <a:off x="533400" y="5715000"/>
              <a:ext cx="6273800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800" i="0" dirty="0"/>
                <a:t>Performing the same integrals over contours drawn in the </a:t>
              </a:r>
              <a:endParaRPr lang="en-US" altLang="zh-CN" sz="1800" i="0" dirty="0"/>
            </a:p>
            <a:p>
              <a:r>
                <a:rPr lang="en-US" altLang="zh-CN" sz="1800" i="0" dirty="0"/>
                <a:t>regions                        or                         will lead to </a:t>
              </a:r>
              <a:r>
                <a:rPr lang="en-US" altLang="zh-CN" sz="1800" dirty="0"/>
                <a:t>zero </a:t>
              </a:r>
              <a:r>
                <a:rPr lang="en-US" altLang="zh-CN" sz="1800" i="0" dirty="0"/>
                <a:t>magnetic field there, because no current is enclosed in either case.</a:t>
              </a:r>
              <a:endParaRPr lang="en-US" altLang="zh-CN" sz="1800" i="0" dirty="0"/>
            </a:p>
          </p:txBody>
        </p:sp>
      </p:grpSp>
      <p:sp>
        <p:nvSpPr>
          <p:cNvPr id="24" name="Rectangle 288"/>
          <p:cNvSpPr>
            <a:spLocks noChangeArrowheads="1"/>
          </p:cNvSpPr>
          <p:nvPr/>
        </p:nvSpPr>
        <p:spPr bwMode="auto">
          <a:xfrm>
            <a:off x="609600" y="3037478"/>
            <a:ext cx="54371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600" i="0" dirty="0">
                <a:solidFill>
                  <a:srgbClr val="C00000"/>
                </a:solidFill>
              </a:rPr>
              <a:t>This approximation improves as the density of turns gets higher</a:t>
            </a:r>
            <a:endParaRPr lang="en-US" altLang="zh-CN" sz="1600" i="0" dirty="0">
              <a:solidFill>
                <a:srgbClr val="C00000"/>
              </a:solidFill>
            </a:endParaRPr>
          </a:p>
          <a:p>
            <a:r>
              <a:rPr lang="en-US" altLang="zh-CN" sz="1600" i="0" dirty="0">
                <a:solidFill>
                  <a:srgbClr val="C00000"/>
                </a:solidFill>
              </a:rPr>
              <a:t>(using more turns with finer wire).</a:t>
            </a:r>
            <a:endParaRPr lang="en-US" altLang="zh-CN" sz="1600" i="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39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Surface Current Model of a Toroid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2" name="Picture 4" descr="Sheet Toroi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062" y="2743200"/>
            <a:ext cx="2478087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837406" y="1701655"/>
            <a:ext cx="77739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Consider a sheet current molded into a doughnut shape, as shown. The current density at radius             crosses the </a:t>
            </a:r>
            <a:r>
              <a:rPr lang="en-US" altLang="zh-CN" sz="1800" i="1" dirty="0" err="1"/>
              <a:t>xy</a:t>
            </a:r>
            <a:r>
              <a:rPr lang="en-US" altLang="zh-CN" sz="1800" dirty="0"/>
              <a:t> </a:t>
            </a:r>
            <a:r>
              <a:rPr lang="en-US" altLang="zh-CN" sz="1800" i="0" dirty="0"/>
              <a:t>plane in the </a:t>
            </a:r>
            <a:r>
              <a:rPr lang="en-US" altLang="zh-CN" sz="1800" i="1" dirty="0"/>
              <a:t>z</a:t>
            </a:r>
            <a:r>
              <a:rPr lang="en-US" altLang="zh-CN" sz="1800" dirty="0"/>
              <a:t> </a:t>
            </a:r>
            <a:r>
              <a:rPr lang="en-US" altLang="zh-CN" sz="1800" i="0" dirty="0"/>
              <a:t>direction and is given in magnitude by </a:t>
            </a:r>
            <a:r>
              <a:rPr lang="en-US" altLang="zh-CN" sz="1800" i="1" dirty="0" err="1"/>
              <a:t>K</a:t>
            </a:r>
            <a:r>
              <a:rPr lang="en-US" altLang="zh-CN" sz="1800" i="1" baseline="-25000" dirty="0" err="1"/>
              <a:t>a</a:t>
            </a:r>
            <a:r>
              <a:rPr lang="en-US" altLang="zh-CN" sz="1800" i="1" dirty="0"/>
              <a:t> </a:t>
            </a:r>
            <a:endParaRPr lang="en-US" altLang="zh-CN" sz="1800" i="1" dirty="0"/>
          </a:p>
        </p:txBody>
      </p:sp>
      <p:pic>
        <p:nvPicPr>
          <p:cNvPr id="3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95" y="3611591"/>
            <a:ext cx="5192712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1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012" y="2027092"/>
            <a:ext cx="576262" cy="293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2" name="Rectangle 9"/>
          <p:cNvSpPr>
            <a:spLocks noChangeArrowheads="1"/>
          </p:cNvSpPr>
          <p:nvPr/>
        </p:nvSpPr>
        <p:spPr bwMode="auto">
          <a:xfrm>
            <a:off x="825904" y="2819400"/>
            <a:ext cx="5422899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Ampere</a:t>
            </a:r>
            <a:r>
              <a:rPr lang="ja-JP" altLang="en-US" sz="1800" i="0" dirty="0"/>
              <a:t>’</a:t>
            </a:r>
            <a:r>
              <a:rPr lang="en-US" altLang="ja-JP" sz="1800" i="0" dirty="0"/>
              <a:t>s Law applied to a circular contour </a:t>
            </a:r>
            <a:r>
              <a:rPr lang="en-US" altLang="ja-JP" sz="1800" i="1" dirty="0"/>
              <a:t>C</a:t>
            </a:r>
            <a:r>
              <a:rPr lang="en-US" altLang="ja-JP" sz="1800" dirty="0"/>
              <a:t> </a:t>
            </a:r>
            <a:r>
              <a:rPr lang="en-US" altLang="ja-JP" sz="1800" i="0" dirty="0"/>
              <a:t>inside the</a:t>
            </a:r>
            <a:endParaRPr lang="en-US" altLang="ja-JP" sz="1800" i="0" dirty="0"/>
          </a:p>
          <a:p>
            <a:r>
              <a:rPr lang="en-US" altLang="zh-CN" sz="1800" i="0" dirty="0"/>
              <a:t>toroid (as in the previous example) will take the form:</a:t>
            </a:r>
            <a:endParaRPr lang="en-US" altLang="zh-CN" sz="1800" i="0" dirty="0"/>
          </a:p>
        </p:txBody>
      </p:sp>
      <p:sp>
        <p:nvSpPr>
          <p:cNvPr id="33" name="Rectangle 10"/>
          <p:cNvSpPr>
            <a:spLocks noChangeArrowheads="1"/>
          </p:cNvSpPr>
          <p:nvPr/>
        </p:nvSpPr>
        <p:spPr bwMode="auto">
          <a:xfrm>
            <a:off x="867599" y="4584700"/>
            <a:ext cx="1331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leading to…</a:t>
            </a:r>
            <a:endParaRPr lang="en-US" altLang="zh-CN" sz="1800" i="0" dirty="0"/>
          </a:p>
        </p:txBody>
      </p:sp>
      <p:pic>
        <p:nvPicPr>
          <p:cNvPr id="34" name="Picture 1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856" y="4620853"/>
            <a:ext cx="2249487" cy="79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5" name="Rectangle 12"/>
          <p:cNvSpPr>
            <a:spLocks noChangeArrowheads="1"/>
          </p:cNvSpPr>
          <p:nvPr/>
        </p:nvSpPr>
        <p:spPr bwMode="auto">
          <a:xfrm>
            <a:off x="900667" y="5609207"/>
            <a:ext cx="5532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inside the toroid…. and the field is zero outside as before.</a:t>
            </a:r>
            <a:endParaRPr lang="en-US" altLang="zh-CN" sz="1800" i="0"/>
          </a:p>
        </p:txBody>
      </p:sp>
      <p:sp>
        <p:nvSpPr>
          <p:cNvPr id="36" name="Rectangle 13"/>
          <p:cNvSpPr>
            <a:spLocks noChangeArrowheads="1"/>
          </p:cNvSpPr>
          <p:nvPr/>
        </p:nvSpPr>
        <p:spPr bwMode="auto">
          <a:xfrm>
            <a:off x="2913856" y="4544653"/>
            <a:ext cx="2133600" cy="914400"/>
          </a:xfrm>
          <a:prstGeom prst="rect">
            <a:avLst/>
          </a:prstGeom>
          <a:noFill/>
          <a:ln w="9525">
            <a:solidFill>
              <a:srgbClr val="CC006B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 sz="1800" i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615,&quot;width&quot;:4362.499212598425}"/>
</p:tagLst>
</file>

<file path=ppt/tags/tag2.xml><?xml version="1.0" encoding="utf-8"?>
<p:tagLst xmlns:p="http://schemas.openxmlformats.org/presentationml/2006/main">
  <p:tag name="KSO_WPP_MARK_KEY" val="eb392d7d-2715-4da8-8b5c-3c96502cfdaa"/>
  <p:tag name="COMMONDATA" val="eyJoZGlkIjoiODI0ZjJiMmIyODM0NTc5MzEyN2IzOWYzNjgwNDFiNTY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13820</Words>
  <Application>WPS 演示</Application>
  <PresentationFormat>On-screen Show (4:3)</PresentationFormat>
  <Paragraphs>558</Paragraphs>
  <Slides>39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2" baseType="lpstr">
      <vt:lpstr>Arial</vt:lpstr>
      <vt:lpstr>宋体</vt:lpstr>
      <vt:lpstr>Wingdings</vt:lpstr>
      <vt:lpstr>Times New Roman</vt:lpstr>
      <vt:lpstr>华文行楷</vt:lpstr>
      <vt:lpstr>MS PGothic</vt:lpstr>
      <vt:lpstr>微软雅黑</vt:lpstr>
      <vt:lpstr>Arial Unicode MS</vt:lpstr>
      <vt:lpstr>Calibri</vt:lpstr>
      <vt:lpstr>Symbol Tiger</vt:lpstr>
      <vt:lpstr>Symbol</vt:lpstr>
      <vt:lpstr>Symbol</vt:lpstr>
      <vt:lpstr>默认设计模板</vt:lpstr>
      <vt:lpstr>Engineering Electromagnetics 工程电磁场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dpcuser</dc:creator>
  <cp:lastModifiedBy>林碧容</cp:lastModifiedBy>
  <cp:revision>634</cp:revision>
  <cp:lastPrinted>2014-03-03T09:16:00Z</cp:lastPrinted>
  <dcterms:created xsi:type="dcterms:W3CDTF">2113-01-01T00:00:00Z</dcterms:created>
  <dcterms:modified xsi:type="dcterms:W3CDTF">2024-12-09T12:56:53Z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CC28E07AA3054E5F9D06747307059C12</vt:lpwstr>
  </property>
  <property fmtid="{D5CDD505-2E9C-101B-9397-08002B2CF9AE}" pid="4" name="KSOProductBuildVer">
    <vt:lpwstr>2052-11.1.0.12165</vt:lpwstr>
  </property>
</Properties>
</file>