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7"/>
  </p:handoutMasterIdLst>
  <p:sldIdLst>
    <p:sldId id="256" r:id="rId3"/>
    <p:sldId id="391" r:id="rId4"/>
    <p:sldId id="422" r:id="rId6"/>
    <p:sldId id="423" r:id="rId7"/>
    <p:sldId id="424" r:id="rId8"/>
    <p:sldId id="425" r:id="rId9"/>
    <p:sldId id="426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39" r:id="rId20"/>
    <p:sldId id="437" r:id="rId21"/>
    <p:sldId id="438" r:id="rId22"/>
    <p:sldId id="443" r:id="rId23"/>
    <p:sldId id="440" r:id="rId24"/>
    <p:sldId id="441" r:id="rId25"/>
    <p:sldId id="442" r:id="rId26"/>
  </p:sldIdLst>
  <p:sldSz cx="9144000" cy="6858000" type="screen4x3"/>
  <p:notesSz cx="9926320" cy="6797675"/>
  <p:custDataLst>
    <p:tags r:id="rId3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333399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6" autoAdjust="0"/>
    <p:restoredTop sz="94660"/>
  </p:normalViewPr>
  <p:slideViewPr>
    <p:cSldViewPr>
      <p:cViewPr varScale="1">
        <p:scale>
          <a:sx n="59" d="100"/>
          <a:sy n="59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9T16:52:50.168" idx="1">
    <p:pos x="1950" y="2652"/>
    <p:text>通量角度</p:text>
  </p:cm>
  <p:cm authorId="1" dt="2024-11-19T16:53:00.017" idx="2">
    <p:pos x="1778" y="3717"/>
    <p:text>电势差角度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9T16:58:58.282" idx="3">
    <p:pos x="2735" y="2492"/>
    <p:text>两边之比为定值，当格子取得够小，即为正方形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9T17:00:22.274" idx="4">
    <p:pos x="2843" y="3462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5T23:04:54.421" idx="6">
    <p:pos x="4018" y="1733"/>
    <p:text>对于标量，直角坐标下拉普拉斯算符的算法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5T23:05:28.067" idx="9">
    <p:pos x="4579" y="2097"/>
    <p:text>不同坐标下拉普拉斯算符对标量的算法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9T17:29:36.420" idx="5">
    <p:pos x="1873" y="1446"/>
    <p:text>ab之间无电荷，也就无电荷密度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comments" Target="../comments/comment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4" Type="http://schemas.openxmlformats.org/officeDocument/2006/relationships/comments" Target="../comments/comment3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6.jpe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5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6.xml"/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0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Using Field Sketches to Estimate Capacitance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58" y="2667000"/>
            <a:ext cx="7182934" cy="22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93081" y="1952445"/>
            <a:ext cx="66816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employs these properties of conductors and fields: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Using Field Sketches to Estimate Capacitance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0" name="Group 7"/>
          <p:cNvGrpSpPr/>
          <p:nvPr/>
        </p:nvGrpSpPr>
        <p:grpSpPr bwMode="auto">
          <a:xfrm>
            <a:off x="1187900" y="2500791"/>
            <a:ext cx="7518398" cy="3154365"/>
            <a:chOff x="672" y="1008"/>
            <a:chExt cx="4320" cy="1728"/>
          </a:xfrm>
        </p:grpSpPr>
        <p:pic>
          <p:nvPicPr>
            <p:cNvPr id="13" name="Picture 4" descr="Figure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1152"/>
              <a:ext cx="4128" cy="1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3120" y="1008"/>
              <a:ext cx="1872" cy="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824" y="2400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01650" y="1752600"/>
            <a:ext cx="8337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conductor boundaries,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sketched in.  An attempt is made to establish approximately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potential differences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them.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28626" y="5781196"/>
            <a:ext cx="81819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of electric flux density,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then started (at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then drawn such that it crosses equipotential lines at right-angles.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Using Field Sketches to Estimate Capacitance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5" name="Group 5"/>
          <p:cNvGrpSpPr/>
          <p:nvPr/>
        </p:nvGrpSpPr>
        <p:grpSpPr bwMode="auto">
          <a:xfrm>
            <a:off x="1295400" y="3198812"/>
            <a:ext cx="7162800" cy="3201988"/>
            <a:chOff x="384" y="2160"/>
            <a:chExt cx="4176" cy="1824"/>
          </a:xfrm>
        </p:grpSpPr>
        <p:pic>
          <p:nvPicPr>
            <p:cNvPr id="24" name="Picture 2" descr="Figure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283"/>
              <a:ext cx="4128" cy="1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384" y="2160"/>
              <a:ext cx="2496" cy="18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3552" y="3552"/>
              <a:ext cx="240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641965" y="1676400"/>
            <a:ext cx="79686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Lines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shown (sketched in red). All field lines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90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640377" y="2438400"/>
            <a:ext cx="781782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volume between the two red field lines (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unit depth into the screen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forms a “tube” of flux, of amount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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same as the charge on the conductor that is bounded by the tube. 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02" y="4064000"/>
            <a:ext cx="136207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640377" y="3592512"/>
            <a:ext cx="3897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 field can now be written as: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554653" y="4876800"/>
            <a:ext cx="500794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assuming potential difference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adjacent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may also write the electric field as: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02" y="5800130"/>
            <a:ext cx="122555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Using Field Sketches to Estimate Capacitance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7" name="Group 2"/>
          <p:cNvGrpSpPr/>
          <p:nvPr/>
        </p:nvGrpSpPr>
        <p:grpSpPr bwMode="auto">
          <a:xfrm>
            <a:off x="823941" y="2028661"/>
            <a:ext cx="7677151" cy="3457739"/>
            <a:chOff x="384" y="2160"/>
            <a:chExt cx="4176" cy="1824"/>
          </a:xfrm>
        </p:grpSpPr>
        <p:pic>
          <p:nvPicPr>
            <p:cNvPr id="41" name="Picture 3" descr="Figure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283"/>
              <a:ext cx="4128" cy="1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"/>
            <p:cNvSpPr>
              <a:spLocks noChangeArrowheads="1"/>
            </p:cNvSpPr>
            <p:nvPr/>
          </p:nvSpPr>
          <p:spPr bwMode="auto">
            <a:xfrm>
              <a:off x="384" y="2160"/>
              <a:ext cx="2496" cy="18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5"/>
            <p:cNvSpPr>
              <a:spLocks noChangeArrowheads="1"/>
            </p:cNvSpPr>
            <p:nvPr/>
          </p:nvSpPr>
          <p:spPr bwMode="auto">
            <a:xfrm>
              <a:off x="3552" y="3552"/>
              <a:ext cx="240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79" y="2081212"/>
            <a:ext cx="136207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29" y="2055812"/>
            <a:ext cx="122555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552479" y="1691317"/>
            <a:ext cx="8393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have two expressions for electric field, based on the line spacing in the sketch: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547717" y="2767642"/>
            <a:ext cx="417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the two expressions equal results in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180054"/>
            <a:ext cx="176371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16"/>
          <p:cNvSpPr>
            <a:spLocks noChangeArrowheads="1"/>
          </p:cNvSpPr>
          <p:nvPr/>
        </p:nvSpPr>
        <p:spPr bwMode="auto">
          <a:xfrm>
            <a:off x="603279" y="4191000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1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42" y="3962400"/>
            <a:ext cx="3144838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609600" y="48768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the sketch is done such that the ratio         </a:t>
            </a:r>
            <a:r>
              <a:rPr lang="en-US" altLang="zh-CN" dirty="0"/>
              <a:t>/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fixed.  The easiest way to do this is to make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79" y="5638800"/>
            <a:ext cx="1306513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762" y="4986689"/>
            <a:ext cx="3937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92" y="4986689"/>
            <a:ext cx="4476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2279679" y="5922962"/>
            <a:ext cx="12954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23"/>
          <p:cNvSpPr>
            <a:spLocks noChangeArrowheads="1"/>
          </p:cNvSpPr>
          <p:nvPr/>
        </p:nvSpPr>
        <p:spPr bwMode="auto">
          <a:xfrm>
            <a:off x="685800" y="6019800"/>
            <a:ext cx="6900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draw the sketch such that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grid segment is approximately square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Using Field Sketches to Estimate Capacitance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5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762" y="4809439"/>
            <a:ext cx="1417638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107" y="5636454"/>
            <a:ext cx="2797175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" name="Group 39"/>
          <p:cNvGrpSpPr/>
          <p:nvPr/>
        </p:nvGrpSpPr>
        <p:grpSpPr bwMode="auto">
          <a:xfrm>
            <a:off x="5162790" y="3506788"/>
            <a:ext cx="3841750" cy="2862263"/>
            <a:chOff x="2888" y="1932"/>
            <a:chExt cx="2420" cy="1803"/>
          </a:xfrm>
        </p:grpSpPr>
        <p:grpSp>
          <p:nvGrpSpPr>
            <p:cNvPr id="57" name="Group 30"/>
            <p:cNvGrpSpPr/>
            <p:nvPr/>
          </p:nvGrpSpPr>
          <p:grpSpPr bwMode="auto">
            <a:xfrm>
              <a:off x="2888" y="1932"/>
              <a:ext cx="2420" cy="1797"/>
              <a:chOff x="2885" y="1929"/>
              <a:chExt cx="2420" cy="1797"/>
            </a:xfrm>
          </p:grpSpPr>
          <p:pic>
            <p:nvPicPr>
              <p:cNvPr id="66" name="Picture 2" descr="Fig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24" y="1968"/>
                <a:ext cx="2240" cy="13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5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5" y="2545"/>
                <a:ext cx="202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" name="AutoShape 9"/>
              <p:cNvSpPr/>
              <p:nvPr/>
            </p:nvSpPr>
            <p:spPr bwMode="auto">
              <a:xfrm rot="-1796223">
                <a:off x="3078" y="2419"/>
                <a:ext cx="96" cy="272"/>
              </a:xfrm>
              <a:prstGeom prst="leftBrace">
                <a:avLst>
                  <a:gd name="adj1" fmla="val 23611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9" name="Picture 10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4" y="2748"/>
                <a:ext cx="202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" name="AutoShape 11"/>
              <p:cNvSpPr/>
              <p:nvPr/>
            </p:nvSpPr>
            <p:spPr bwMode="auto">
              <a:xfrm rot="-1411294">
                <a:off x="3205" y="2654"/>
                <a:ext cx="96" cy="236"/>
              </a:xfrm>
              <a:prstGeom prst="leftBrace">
                <a:avLst>
                  <a:gd name="adj1" fmla="val 20486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1" name="Picture 1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1" y="2940"/>
                <a:ext cx="202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" name="AutoShape 13"/>
              <p:cNvSpPr/>
              <p:nvPr/>
            </p:nvSpPr>
            <p:spPr bwMode="auto">
              <a:xfrm rot="-1186831">
                <a:off x="3294" y="2882"/>
                <a:ext cx="96" cy="191"/>
              </a:xfrm>
              <a:prstGeom prst="leftBrace">
                <a:avLst>
                  <a:gd name="adj1" fmla="val 1658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Rectangle 14"/>
              <p:cNvSpPr>
                <a:spLocks noChangeArrowheads="1"/>
              </p:cNvSpPr>
              <p:nvPr/>
            </p:nvSpPr>
            <p:spPr bwMode="auto">
              <a:xfrm>
                <a:off x="2970" y="2202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Rectangle 15"/>
              <p:cNvSpPr>
                <a:spLocks noChangeArrowheads="1"/>
              </p:cNvSpPr>
              <p:nvPr/>
            </p:nvSpPr>
            <p:spPr bwMode="auto">
              <a:xfrm>
                <a:off x="3291" y="2052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Rectangle 16"/>
              <p:cNvSpPr>
                <a:spLocks noChangeArrowheads="1"/>
              </p:cNvSpPr>
              <p:nvPr/>
            </p:nvSpPr>
            <p:spPr bwMode="auto">
              <a:xfrm>
                <a:off x="3603" y="1977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17"/>
              <p:cNvSpPr>
                <a:spLocks noChangeArrowheads="1"/>
              </p:cNvSpPr>
              <p:nvPr/>
            </p:nvSpPr>
            <p:spPr bwMode="auto">
              <a:xfrm>
                <a:off x="4143" y="1965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Rectangle 18"/>
              <p:cNvSpPr>
                <a:spLocks noChangeArrowheads="1"/>
              </p:cNvSpPr>
              <p:nvPr/>
            </p:nvSpPr>
            <p:spPr bwMode="auto">
              <a:xfrm>
                <a:off x="4536" y="1929"/>
                <a:ext cx="210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Rectangle 20"/>
              <p:cNvSpPr>
                <a:spLocks noChangeArrowheads="1"/>
              </p:cNvSpPr>
              <p:nvPr/>
            </p:nvSpPr>
            <p:spPr bwMode="auto">
              <a:xfrm>
                <a:off x="4878" y="2166"/>
                <a:ext cx="427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Rectangle 21"/>
              <p:cNvSpPr>
                <a:spLocks noChangeArrowheads="1"/>
              </p:cNvSpPr>
              <p:nvPr/>
            </p:nvSpPr>
            <p:spPr bwMode="auto">
              <a:xfrm>
                <a:off x="5094" y="2604"/>
                <a:ext cx="210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Rectangle 22"/>
              <p:cNvSpPr>
                <a:spLocks noChangeArrowheads="1"/>
              </p:cNvSpPr>
              <p:nvPr/>
            </p:nvSpPr>
            <p:spPr bwMode="auto">
              <a:xfrm>
                <a:off x="3807" y="3198"/>
                <a:ext cx="169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23"/>
              <p:cNvSpPr>
                <a:spLocks noChangeArrowheads="1"/>
              </p:cNvSpPr>
              <p:nvPr/>
            </p:nvSpPr>
            <p:spPr bwMode="auto">
              <a:xfrm rot="718455">
                <a:off x="4073" y="3225"/>
                <a:ext cx="169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24"/>
              <p:cNvSpPr>
                <a:spLocks noChangeArrowheads="1"/>
              </p:cNvSpPr>
              <p:nvPr/>
            </p:nvSpPr>
            <p:spPr bwMode="auto">
              <a:xfrm rot="718455">
                <a:off x="4271" y="3288"/>
                <a:ext cx="169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Rectangle 25"/>
              <p:cNvSpPr>
                <a:spLocks noChangeArrowheads="1"/>
              </p:cNvSpPr>
              <p:nvPr/>
            </p:nvSpPr>
            <p:spPr bwMode="auto">
              <a:xfrm rot="718455">
                <a:off x="3168" y="3396"/>
                <a:ext cx="169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Rectangle 26"/>
              <p:cNvSpPr>
                <a:spLocks noChangeArrowheads="1"/>
              </p:cNvSpPr>
              <p:nvPr/>
            </p:nvSpPr>
            <p:spPr bwMode="auto">
              <a:xfrm rot="-719817">
                <a:off x="3494" y="3219"/>
                <a:ext cx="19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85" name="Picture 28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62" y="3127"/>
                <a:ext cx="202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" name="AutoShape 29"/>
              <p:cNvSpPr/>
              <p:nvPr/>
            </p:nvSpPr>
            <p:spPr bwMode="auto">
              <a:xfrm rot="-1175566">
                <a:off x="3352" y="3069"/>
                <a:ext cx="96" cy="180"/>
              </a:xfrm>
              <a:prstGeom prst="leftBrace">
                <a:avLst>
                  <a:gd name="adj1" fmla="val 1562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58" name="Picture 3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8" y="2066"/>
              <a:ext cx="21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9" name="AutoShape 33"/>
            <p:cNvSpPr/>
            <p:nvPr/>
          </p:nvSpPr>
          <p:spPr bwMode="auto">
            <a:xfrm rot="3915023">
              <a:off x="3203" y="2099"/>
              <a:ext cx="83" cy="323"/>
            </a:xfrm>
            <a:prstGeom prst="leftBrace">
              <a:avLst>
                <a:gd name="adj1" fmla="val 324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0" name="Picture 3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" y="1968"/>
              <a:ext cx="21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" name="AutoShape 35"/>
            <p:cNvSpPr/>
            <p:nvPr/>
          </p:nvSpPr>
          <p:spPr bwMode="auto">
            <a:xfrm rot="4600214">
              <a:off x="3539" y="1998"/>
              <a:ext cx="69" cy="312"/>
            </a:xfrm>
            <a:prstGeom prst="leftBrace">
              <a:avLst>
                <a:gd name="adj1" fmla="val 3768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utoShape 36"/>
            <p:cNvSpPr/>
            <p:nvPr/>
          </p:nvSpPr>
          <p:spPr bwMode="auto">
            <a:xfrm rot="16207461" flipV="1">
              <a:off x="3837" y="2972"/>
              <a:ext cx="190" cy="909"/>
            </a:xfrm>
            <a:prstGeom prst="leftBrace">
              <a:avLst>
                <a:gd name="adj1" fmla="val 39868"/>
                <a:gd name="adj2" fmla="val 50000"/>
              </a:avLst>
            </a:prstGeom>
            <a:noFill/>
            <a:ln w="190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utoShape 37"/>
            <p:cNvSpPr/>
            <p:nvPr/>
          </p:nvSpPr>
          <p:spPr bwMode="auto">
            <a:xfrm rot="13997350" flipV="1">
              <a:off x="4725" y="2694"/>
              <a:ext cx="190" cy="860"/>
            </a:xfrm>
            <a:prstGeom prst="leftBrace">
              <a:avLst>
                <a:gd name="adj1" fmla="val 37719"/>
                <a:gd name="adj2" fmla="val 50000"/>
              </a:avLst>
            </a:prstGeom>
            <a:noFill/>
            <a:ln w="190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4" name="Picture 3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3552"/>
              <a:ext cx="478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5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3216"/>
              <a:ext cx="501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405140" y="1592897"/>
            <a:ext cx="836744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see the completed sketch, drawn such that the region is divided into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curvilinear squares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曲边正方形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segment along the conductor walls (again of unit depth)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flux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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(or charge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distance increment between conductors represents a change in potential of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1"/>
          <p:cNvSpPr>
            <a:spLocks noChangeArrowheads="1"/>
          </p:cNvSpPr>
          <p:nvPr/>
        </p:nvSpPr>
        <p:spPr bwMode="auto">
          <a:xfrm>
            <a:off x="396485" y="2759868"/>
            <a:ext cx="832841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segments along the conductor wall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total charge on either conductor is therefore: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Group 44"/>
          <p:cNvGrpSpPr/>
          <p:nvPr/>
        </p:nvGrpSpPr>
        <p:grpSpPr bwMode="auto">
          <a:xfrm>
            <a:off x="940069" y="3412272"/>
            <a:ext cx="2446338" cy="336550"/>
            <a:chOff x="619" y="2208"/>
            <a:chExt cx="1541" cy="212"/>
          </a:xfrm>
        </p:grpSpPr>
        <p:pic>
          <p:nvPicPr>
            <p:cNvPr id="55" name="Picture 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8" y="2208"/>
              <a:ext cx="1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43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" y="2228"/>
              <a:ext cx="35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50" name="Rectangle 45"/>
          <p:cNvSpPr>
            <a:spLocks noChangeArrowheads="1"/>
          </p:cNvSpPr>
          <p:nvPr/>
        </p:nvSpPr>
        <p:spPr bwMode="auto">
          <a:xfrm>
            <a:off x="366983" y="3743326"/>
            <a:ext cx="450981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segments between conductors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potential difference between conductor is therefore: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47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26" y="4642879"/>
            <a:ext cx="12525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Rectangle 48"/>
          <p:cNvSpPr>
            <a:spLocks noChangeArrowheads="1"/>
          </p:cNvSpPr>
          <p:nvPr/>
        </p:nvSpPr>
        <p:spPr bwMode="auto">
          <a:xfrm>
            <a:off x="347932" y="5029200"/>
            <a:ext cx="3038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the capacitance is now: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49"/>
          <p:cNvSpPr>
            <a:spLocks noChangeArrowheads="1"/>
          </p:cNvSpPr>
          <p:nvPr/>
        </p:nvSpPr>
        <p:spPr bwMode="auto">
          <a:xfrm>
            <a:off x="418261" y="5813519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finally: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81" y="1714500"/>
            <a:ext cx="3824919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Rectangle 4"/>
          <p:cNvSpPr>
            <a:spLocks noChangeArrowheads="1"/>
          </p:cNvSpPr>
          <p:nvPr/>
        </p:nvSpPr>
        <p:spPr bwMode="auto">
          <a:xfrm>
            <a:off x="457200" y="2133600"/>
            <a:ext cx="44354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transmission line, we wish to estimate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capacitance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unit length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field and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 lines in one quadrant are shown.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541962"/>
            <a:ext cx="52197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0" name="Rectangle 6"/>
          <p:cNvSpPr>
            <a:spLocks noChangeArrowheads="1"/>
          </p:cNvSpPr>
          <p:nvPr/>
        </p:nvSpPr>
        <p:spPr bwMode="auto">
          <a:xfrm>
            <a:off x="454325" y="3219450"/>
            <a:ext cx="495587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division of the range parallel to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conductors into an integral number of squares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not achieved.  Instead, over one-eighth of the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around the perimeter, we have 3.25 divisions.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7"/>
          <p:cNvSpPr>
            <a:spLocks noChangeArrowheads="1"/>
          </p:cNvSpPr>
          <p:nvPr/>
        </p:nvSpPr>
        <p:spPr bwMode="auto">
          <a:xfrm>
            <a:off x="436562" y="4756944"/>
            <a:ext cx="489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conductors there are exactly four squares.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8"/>
          <p:cNvSpPr>
            <a:spLocks noChangeArrowheads="1"/>
          </p:cNvSpPr>
          <p:nvPr/>
        </p:nvSpPr>
        <p:spPr bwMode="auto">
          <a:xfrm>
            <a:off x="381000" y="5192712"/>
            <a:ext cx="115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Line 9"/>
          <p:cNvSpPr>
            <a:spLocks noChangeShapeType="1"/>
          </p:cNvSpPr>
          <p:nvPr/>
        </p:nvSpPr>
        <p:spPr bwMode="auto">
          <a:xfrm>
            <a:off x="4572000" y="6122779"/>
            <a:ext cx="1219200" cy="0"/>
          </a:xfrm>
          <a:prstGeom prst="line">
            <a:avLst/>
          </a:prstGeom>
          <a:noFill/>
          <a:ln w="19050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Using Field Sketches to Estimate Capacitance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7200" y="1676400"/>
            <a:ext cx="1353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Example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Poisson’s and Laplace’s Equations </a:t>
            </a:r>
            <a:r>
              <a:rPr lang="zh-CN" altLang="en-US" sz="24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泊松、拉普拉斯方程</a:t>
            </a:r>
            <a:endParaRPr lang="zh-CN" altLang="en-US" sz="24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571500" y="1685540"/>
            <a:ext cx="83439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one to find the potential field in a region, in which values of potential or electric field are known at its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88" y="2845279"/>
            <a:ext cx="120650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2" y="3432610"/>
            <a:ext cx="941388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88" y="4014788"/>
            <a:ext cx="1169988" cy="29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643" y="4876800"/>
            <a:ext cx="401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5588000"/>
            <a:ext cx="1690688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587240" y="2425235"/>
            <a:ext cx="346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Maxwell’s first equation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2293937" y="3352800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2320790" y="3938588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762000" y="4413280"/>
            <a:ext cx="79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762000" y="5456748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finally: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>
            <a:off x="3454400" y="6248400"/>
            <a:ext cx="16002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Poisson’s and Laplace’s Equations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381" y="2286000"/>
            <a:ext cx="295275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377" y="2996346"/>
            <a:ext cx="3154363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33401" y="1847056"/>
            <a:ext cx="75437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the divergence as expressed in rectangular coordinates: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786262" y="3121759"/>
            <a:ext cx="196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…and the gradient: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3861593"/>
            <a:ext cx="4935538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" name="Rectangle 8"/>
          <p:cNvSpPr>
            <a:spLocks noChangeArrowheads="1"/>
          </p:cNvSpPr>
          <p:nvPr/>
        </p:nvSpPr>
        <p:spPr bwMode="auto">
          <a:xfrm>
            <a:off x="816365" y="4010818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856" y="4660840"/>
            <a:ext cx="2605088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65" y="5553974"/>
            <a:ext cx="4593835" cy="262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5383212" y="5486400"/>
            <a:ext cx="3653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known as the </a:t>
            </a:r>
            <a:r>
              <a:rPr lang="en-US" altLang="zh-CN" dirty="0" err="1">
                <a:solidFill>
                  <a:srgbClr val="CA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Laplacian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dpcuser\Desktop\About Teaching\工程电磁场\Instructor Notes\Lecture 9\Pierre-Simon_Laplace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849" y="1347833"/>
            <a:ext cx="1371600" cy="18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754438" y="3124200"/>
            <a:ext cx="20847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Pierre-Simon Laplace</a:t>
            </a:r>
            <a:r>
              <a:rPr lang="zh-CN" altLang="en-US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4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1749-1827)</a:t>
            </a:r>
            <a:endParaRPr lang="zh-CN" altLang="en-US" sz="14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Poisson’s and Laplace’s Equations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3048000"/>
            <a:ext cx="4186238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410200"/>
            <a:ext cx="1462088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74" y="1828800"/>
            <a:ext cx="16541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914400" y="1901031"/>
            <a:ext cx="174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already have: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24509" y="2639264"/>
            <a:ext cx="1677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becomes: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923925" y="4114800"/>
            <a:ext cx="600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altLang="zh-CN" dirty="0">
                <a:solidFill>
                  <a:srgbClr val="CA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Poisson’s equation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stated in rectangular coordinates.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966789" y="4630738"/>
            <a:ext cx="79486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event that there is </a:t>
            </a:r>
            <a:r>
              <a:rPr lang="en-US" altLang="zh-CN" dirty="0">
                <a:solidFill>
                  <a:srgbClr val="CA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charge density, the right-hand-side becomes zero, and we obtain </a:t>
            </a:r>
            <a:r>
              <a:rPr lang="en-US" altLang="zh-CN" sz="1800" dirty="0">
                <a:solidFill>
                  <a:srgbClr val="CA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Laplace’s equation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dpcuser\Desktop\About Teaching\工程电磁场\Instructor Notes\Lecture 9\511px-Simeon_Poisson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322" y="1371600"/>
            <a:ext cx="1718578" cy="201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7006322" y="3335832"/>
            <a:ext cx="18020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Siméon</a:t>
            </a:r>
            <a:r>
              <a:rPr lang="en-US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Denis Poisson</a:t>
            </a:r>
            <a:endParaRPr lang="en-US" altLang="zh-CN" sz="14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(1781-1840)</a:t>
            </a:r>
            <a:endParaRPr lang="zh-CN" altLang="en-US" sz="14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The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Laplacian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Operator in the Three Coordinate Systems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952500" y="164729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800" kern="0" dirty="0">
              <a:latin typeface="Times New Roman" panose="02020603050405020304" pitchFamily="18" charset="0"/>
            </a:endParaRPr>
          </a:p>
        </p:txBody>
      </p:sp>
      <p:grpSp>
        <p:nvGrpSpPr>
          <p:cNvPr id="24" name="Group 8"/>
          <p:cNvGrpSpPr/>
          <p:nvPr/>
        </p:nvGrpSpPr>
        <p:grpSpPr bwMode="auto">
          <a:xfrm>
            <a:off x="431081" y="2057400"/>
            <a:ext cx="8534400" cy="3738563"/>
            <a:chOff x="240" y="1520"/>
            <a:chExt cx="5376" cy="2355"/>
          </a:xfrm>
        </p:grpSpPr>
        <p:pic>
          <p:nvPicPr>
            <p:cNvPr id="25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400"/>
              <a:ext cx="4146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" y="1520"/>
              <a:ext cx="3472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7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" y="3264"/>
              <a:ext cx="5344" cy="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3888" y="1725"/>
              <a:ext cx="117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(Laplace’s equation)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Parallel Plate Capacitor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952500" y="164729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800" kern="0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13"/>
          <p:cNvGrpSpPr/>
          <p:nvPr/>
        </p:nvGrpSpPr>
        <p:grpSpPr bwMode="auto">
          <a:xfrm>
            <a:off x="5532438" y="1927225"/>
            <a:ext cx="3168650" cy="1974850"/>
            <a:chOff x="2948" y="1440"/>
            <a:chExt cx="1996" cy="1244"/>
          </a:xfrm>
        </p:grpSpPr>
        <p:sp>
          <p:nvSpPr>
            <p:cNvPr id="36" name="Rectangle 3"/>
            <p:cNvSpPr>
              <a:spLocks noChangeArrowheads="1"/>
            </p:cNvSpPr>
            <p:nvPr/>
          </p:nvSpPr>
          <p:spPr bwMode="auto">
            <a:xfrm>
              <a:off x="3264" y="1824"/>
              <a:ext cx="1680" cy="48"/>
            </a:xfrm>
            <a:prstGeom prst="rect">
              <a:avLst/>
            </a:prstGeom>
            <a:solidFill>
              <a:srgbClr val="FEA0C7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3264" y="2400"/>
              <a:ext cx="1680" cy="48"/>
            </a:xfrm>
            <a:prstGeom prst="rect">
              <a:avLst/>
            </a:prstGeom>
            <a:solidFill>
              <a:srgbClr val="FEA0C7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5"/>
            <p:cNvSpPr>
              <a:spLocks noChangeShapeType="1"/>
            </p:cNvSpPr>
            <p:nvPr/>
          </p:nvSpPr>
          <p:spPr bwMode="auto">
            <a:xfrm flipV="1">
              <a:off x="3168" y="153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6"/>
            <p:cNvSpPr>
              <a:spLocks noChangeShapeType="1"/>
            </p:cNvSpPr>
            <p:nvPr/>
          </p:nvSpPr>
          <p:spPr bwMode="auto">
            <a:xfrm>
              <a:off x="3111" y="187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7"/>
            <p:cNvSpPr>
              <a:spLocks noChangeShapeType="1"/>
            </p:cNvSpPr>
            <p:nvPr/>
          </p:nvSpPr>
          <p:spPr bwMode="auto">
            <a:xfrm>
              <a:off x="3108" y="240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8"/>
            <p:cNvSpPr>
              <a:spLocks noChangeArrowheads="1"/>
            </p:cNvSpPr>
            <p:nvPr/>
          </p:nvSpPr>
          <p:spPr bwMode="auto">
            <a:xfrm>
              <a:off x="2948" y="1776"/>
              <a:ext cx="1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2967" y="2319"/>
              <a:ext cx="1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auto">
            <a:xfrm>
              <a:off x="2976" y="1440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11"/>
            <p:cNvSpPr>
              <a:spLocks noChangeArrowheads="1"/>
            </p:cNvSpPr>
            <p:nvPr/>
          </p:nvSpPr>
          <p:spPr bwMode="auto">
            <a:xfrm>
              <a:off x="3840" y="1570"/>
              <a:ext cx="51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V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3843" y="2451"/>
              <a:ext cx="44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63562" y="1819275"/>
            <a:ext cx="46561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the plate separation,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assumed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less than the smallest plate dimension.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assumed to vary only with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050" y="3290842"/>
            <a:ext cx="1123950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584993" y="2817220"/>
            <a:ext cx="2986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Laplace’s equation reduces to: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600075" y="3973512"/>
            <a:ext cx="244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once, obtain: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548" y="4328872"/>
            <a:ext cx="1050925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" name="Picture 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7" y="5181600"/>
            <a:ext cx="1471613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09600" y="5181600"/>
            <a:ext cx="2973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second time to get: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5"/>
          <p:cNvGrpSpPr/>
          <p:nvPr/>
        </p:nvGrpSpPr>
        <p:grpSpPr bwMode="auto">
          <a:xfrm>
            <a:off x="6332478" y="4243942"/>
            <a:ext cx="2360613" cy="1122164"/>
            <a:chOff x="3408" y="2943"/>
            <a:chExt cx="1487" cy="780"/>
          </a:xfrm>
        </p:grpSpPr>
        <p:sp>
          <p:nvSpPr>
            <p:cNvPr id="32" name="Rectangle 21"/>
            <p:cNvSpPr>
              <a:spLocks noChangeArrowheads="1"/>
            </p:cNvSpPr>
            <p:nvPr/>
          </p:nvSpPr>
          <p:spPr bwMode="auto">
            <a:xfrm>
              <a:off x="3523" y="2961"/>
              <a:ext cx="137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Boundary conditions: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3595" y="3210"/>
              <a:ext cx="11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1. 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0 at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23"/>
            <p:cNvSpPr>
              <a:spLocks noChangeArrowheads="1"/>
            </p:cNvSpPr>
            <p:nvPr/>
          </p:nvSpPr>
          <p:spPr bwMode="auto">
            <a:xfrm>
              <a:off x="3605" y="3414"/>
              <a:ext cx="1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V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at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d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24"/>
            <p:cNvSpPr>
              <a:spLocks noChangeArrowheads="1"/>
            </p:cNvSpPr>
            <p:nvPr/>
          </p:nvSpPr>
          <p:spPr bwMode="auto">
            <a:xfrm>
              <a:off x="3408" y="2943"/>
              <a:ext cx="1487" cy="780"/>
            </a:xfrm>
            <a:prstGeom prst="rect">
              <a:avLst/>
            </a:prstGeom>
            <a:noFill/>
            <a:ln w="9525">
              <a:solidFill>
                <a:srgbClr val="CA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647700" y="5791200"/>
            <a:ext cx="80453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constants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to be evaluated subject to the boundary conditions.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3557587" y="5562600"/>
            <a:ext cx="13716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Finding Interior Potential Field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8" name="Picture 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531" y="1846712"/>
            <a:ext cx="1471613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" name="Rectangle 22"/>
          <p:cNvSpPr>
            <a:spLocks noChangeArrowheads="1"/>
          </p:cNvSpPr>
          <p:nvPr/>
        </p:nvSpPr>
        <p:spPr bwMode="auto">
          <a:xfrm>
            <a:off x="815692" y="1851025"/>
            <a:ext cx="1500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have: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796132" y="2429668"/>
            <a:ext cx="285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boundary condition 1: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25"/>
          <p:cNvSpPr>
            <a:spLocks noChangeArrowheads="1"/>
          </p:cNvSpPr>
          <p:nvPr/>
        </p:nvSpPr>
        <p:spPr bwMode="auto">
          <a:xfrm>
            <a:off x="1168400" y="2976503"/>
            <a:ext cx="1387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 = </a:t>
            </a:r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(0) + </a:t>
            </a:r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AutoShape 26"/>
          <p:cNvSpPr>
            <a:spLocks noChangeArrowheads="1"/>
          </p:cNvSpPr>
          <p:nvPr/>
        </p:nvSpPr>
        <p:spPr bwMode="auto">
          <a:xfrm>
            <a:off x="2692400" y="3124140"/>
            <a:ext cx="533400" cy="762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CA0065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28"/>
          <p:cNvSpPr>
            <a:spLocks noChangeArrowheads="1"/>
          </p:cNvSpPr>
          <p:nvPr/>
        </p:nvSpPr>
        <p:spPr bwMode="auto">
          <a:xfrm>
            <a:off x="798512" y="3516312"/>
            <a:ext cx="285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boundary condition 2: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29"/>
          <p:cNvSpPr>
            <a:spLocks noChangeArrowheads="1"/>
          </p:cNvSpPr>
          <p:nvPr/>
        </p:nvSpPr>
        <p:spPr bwMode="auto">
          <a:xfrm>
            <a:off x="1211352" y="4113393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Ad 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AutoShape 30"/>
          <p:cNvSpPr>
            <a:spLocks noChangeArrowheads="1"/>
          </p:cNvSpPr>
          <p:nvPr/>
        </p:nvSpPr>
        <p:spPr bwMode="auto">
          <a:xfrm>
            <a:off x="2222590" y="4275318"/>
            <a:ext cx="533400" cy="762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CA0065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3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7" y="4872441"/>
            <a:ext cx="1379538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7" name="Rectangle 33"/>
          <p:cNvSpPr>
            <a:spLocks noChangeArrowheads="1"/>
          </p:cNvSpPr>
          <p:nvPr/>
        </p:nvSpPr>
        <p:spPr bwMode="auto">
          <a:xfrm>
            <a:off x="925513" y="4892315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3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90" y="3978455"/>
            <a:ext cx="1050925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" name="Picture 3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2971740"/>
            <a:ext cx="81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0" name="Line 36"/>
          <p:cNvSpPr>
            <a:spLocks noChangeShapeType="1"/>
          </p:cNvSpPr>
          <p:nvPr/>
        </p:nvSpPr>
        <p:spPr bwMode="auto">
          <a:xfrm>
            <a:off x="3378200" y="3352740"/>
            <a:ext cx="762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Line 37"/>
          <p:cNvSpPr>
            <a:spLocks noChangeShapeType="1"/>
          </p:cNvSpPr>
          <p:nvPr/>
        </p:nvSpPr>
        <p:spPr bwMode="auto">
          <a:xfrm>
            <a:off x="2941727" y="4627743"/>
            <a:ext cx="762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49"/>
          <p:cNvSpPr>
            <a:spLocks noChangeArrowheads="1"/>
          </p:cNvSpPr>
          <p:nvPr/>
        </p:nvSpPr>
        <p:spPr bwMode="auto">
          <a:xfrm>
            <a:off x="3257332" y="5486400"/>
            <a:ext cx="255313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is pictured by the 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 surfaces shown in 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capacitor, in which there is a 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voltage difference 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adjacent surfaces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6" name="Group 44"/>
          <p:cNvGrpSpPr/>
          <p:nvPr/>
        </p:nvGrpSpPr>
        <p:grpSpPr bwMode="auto">
          <a:xfrm>
            <a:off x="4572000" y="2019300"/>
            <a:ext cx="3168650" cy="3184525"/>
            <a:chOff x="2948" y="1440"/>
            <a:chExt cx="1996" cy="2006"/>
          </a:xfrm>
        </p:grpSpPr>
        <p:grpSp>
          <p:nvGrpSpPr>
            <p:cNvPr id="109" name="Group 19"/>
            <p:cNvGrpSpPr/>
            <p:nvPr/>
          </p:nvGrpSpPr>
          <p:grpSpPr bwMode="auto">
            <a:xfrm>
              <a:off x="2948" y="1440"/>
              <a:ext cx="1996" cy="2006"/>
              <a:chOff x="2948" y="1440"/>
              <a:chExt cx="1996" cy="2006"/>
            </a:xfrm>
          </p:grpSpPr>
          <p:grpSp>
            <p:nvGrpSpPr>
              <p:cNvPr id="114" name="Group 3"/>
              <p:cNvGrpSpPr/>
              <p:nvPr/>
            </p:nvGrpSpPr>
            <p:grpSpPr bwMode="auto">
              <a:xfrm>
                <a:off x="2948" y="1440"/>
                <a:ext cx="1996" cy="1244"/>
                <a:chOff x="2948" y="1440"/>
                <a:chExt cx="1996" cy="1244"/>
              </a:xfrm>
            </p:grpSpPr>
            <p:sp>
              <p:nvSpPr>
                <p:cNvPr id="120" name="Rectangle 4"/>
                <p:cNvSpPr>
                  <a:spLocks noChangeArrowheads="1"/>
                </p:cNvSpPr>
                <p:nvPr/>
              </p:nvSpPr>
              <p:spPr bwMode="auto">
                <a:xfrm>
                  <a:off x="3264" y="1824"/>
                  <a:ext cx="1680" cy="48"/>
                </a:xfrm>
                <a:prstGeom prst="rect">
                  <a:avLst/>
                </a:prstGeom>
                <a:solidFill>
                  <a:srgbClr val="FEA0C7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" name="Rectangle 5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1680" cy="48"/>
                </a:xfrm>
                <a:prstGeom prst="rect">
                  <a:avLst/>
                </a:prstGeom>
                <a:solidFill>
                  <a:srgbClr val="FEA0C7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3168" y="1536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" name="Line 7"/>
                <p:cNvSpPr>
                  <a:spLocks noChangeShapeType="1"/>
                </p:cNvSpPr>
                <p:nvPr/>
              </p:nvSpPr>
              <p:spPr bwMode="auto">
                <a:xfrm>
                  <a:off x="3111" y="18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" name="Line 8"/>
                <p:cNvSpPr>
                  <a:spLocks noChangeShapeType="1"/>
                </p:cNvSpPr>
                <p:nvPr/>
              </p:nvSpPr>
              <p:spPr bwMode="auto">
                <a:xfrm>
                  <a:off x="3108" y="2400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" name="Rectangle 9"/>
                <p:cNvSpPr>
                  <a:spLocks noChangeArrowheads="1"/>
                </p:cNvSpPr>
                <p:nvPr/>
              </p:nvSpPr>
              <p:spPr bwMode="auto">
                <a:xfrm>
                  <a:off x="2948" y="1776"/>
                  <a:ext cx="173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" name="Rectangle 10"/>
                <p:cNvSpPr>
                  <a:spLocks noChangeArrowheads="1"/>
                </p:cNvSpPr>
                <p:nvPr/>
              </p:nvSpPr>
              <p:spPr bwMode="auto">
                <a:xfrm>
                  <a:off x="2967" y="2319"/>
                  <a:ext cx="173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" name="Rectangle 11"/>
                <p:cNvSpPr>
                  <a:spLocks noChangeArrowheads="1"/>
                </p:cNvSpPr>
                <p:nvPr/>
              </p:nvSpPr>
              <p:spPr bwMode="auto">
                <a:xfrm>
                  <a:off x="2976" y="1440"/>
                  <a:ext cx="181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endPara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" name="Rectangle 12"/>
                <p:cNvSpPr>
                  <a:spLocks noChangeArrowheads="1"/>
                </p:cNvSpPr>
                <p:nvPr/>
              </p:nvSpPr>
              <p:spPr bwMode="auto">
                <a:xfrm>
                  <a:off x="3840" y="1632"/>
                  <a:ext cx="511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 = V</a:t>
                  </a:r>
                  <a:r>
                    <a:rPr lang="en-US" altLang="zh-CN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Rectangle 13"/>
                <p:cNvSpPr>
                  <a:spLocks noChangeArrowheads="1"/>
                </p:cNvSpPr>
                <p:nvPr/>
              </p:nvSpPr>
              <p:spPr bwMode="auto">
                <a:xfrm>
                  <a:off x="3843" y="2451"/>
                  <a:ext cx="44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 = </a:t>
                  </a: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5" name="Group 14"/>
              <p:cNvGrpSpPr/>
              <p:nvPr/>
            </p:nvGrpSpPr>
            <p:grpSpPr bwMode="auto">
              <a:xfrm>
                <a:off x="3408" y="2760"/>
                <a:ext cx="1525" cy="686"/>
                <a:chOff x="3408" y="2760"/>
                <a:chExt cx="1525" cy="686"/>
              </a:xfrm>
            </p:grpSpPr>
            <p:sp>
              <p:nvSpPr>
                <p:cNvPr id="116" name="Rectangle 15"/>
                <p:cNvSpPr>
                  <a:spLocks noChangeArrowheads="1"/>
                </p:cNvSpPr>
                <p:nvPr/>
              </p:nvSpPr>
              <p:spPr bwMode="auto">
                <a:xfrm>
                  <a:off x="3523" y="2760"/>
                  <a:ext cx="1372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Boundary conditions:</a:t>
                  </a:r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Rectangle 16"/>
                <p:cNvSpPr>
                  <a:spLocks noChangeArrowheads="1"/>
                </p:cNvSpPr>
                <p:nvPr/>
              </p:nvSpPr>
              <p:spPr bwMode="auto">
                <a:xfrm>
                  <a:off x="3595" y="3009"/>
                  <a:ext cx="111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  </a:t>
                  </a:r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 = </a:t>
                  </a: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 at </a:t>
                  </a:r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 = </a:t>
                  </a: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Rectangle 17"/>
                <p:cNvSpPr>
                  <a:spLocks noChangeArrowheads="1"/>
                </p:cNvSpPr>
                <p:nvPr/>
              </p:nvSpPr>
              <p:spPr bwMode="auto">
                <a:xfrm>
                  <a:off x="3605" y="3213"/>
                  <a:ext cx="1190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 </a:t>
                  </a:r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 = V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 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at </a:t>
                  </a:r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 = d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Rectangle 18"/>
                <p:cNvSpPr>
                  <a:spLocks noChangeArrowheads="1"/>
                </p:cNvSpPr>
                <p:nvPr/>
              </p:nvSpPr>
              <p:spPr bwMode="auto">
                <a:xfrm>
                  <a:off x="3408" y="2760"/>
                  <a:ext cx="1525" cy="686"/>
                </a:xfrm>
                <a:prstGeom prst="rect">
                  <a:avLst/>
                </a:prstGeom>
                <a:noFill/>
                <a:ln w="9525">
                  <a:solidFill>
                    <a:srgbClr val="CA0065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10" name="Line 39"/>
            <p:cNvSpPr>
              <a:spLocks noChangeShapeType="1"/>
            </p:cNvSpPr>
            <p:nvPr/>
          </p:nvSpPr>
          <p:spPr bwMode="auto">
            <a:xfrm>
              <a:off x="3267" y="2304"/>
              <a:ext cx="167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Line 40"/>
            <p:cNvSpPr>
              <a:spLocks noChangeShapeType="1"/>
            </p:cNvSpPr>
            <p:nvPr/>
          </p:nvSpPr>
          <p:spPr bwMode="auto">
            <a:xfrm>
              <a:off x="3264" y="2193"/>
              <a:ext cx="1673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ine 41"/>
            <p:cNvSpPr>
              <a:spLocks noChangeShapeType="1"/>
            </p:cNvSpPr>
            <p:nvPr/>
          </p:nvSpPr>
          <p:spPr bwMode="auto">
            <a:xfrm>
              <a:off x="3267" y="2085"/>
              <a:ext cx="1670" cy="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Line 42"/>
            <p:cNvSpPr>
              <a:spLocks noChangeShapeType="1"/>
            </p:cNvSpPr>
            <p:nvPr/>
          </p:nvSpPr>
          <p:spPr bwMode="auto">
            <a:xfrm>
              <a:off x="3267" y="1980"/>
              <a:ext cx="166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Rectangle 45"/>
          <p:cNvSpPr>
            <a:spLocks noChangeArrowheads="1"/>
          </p:cNvSpPr>
          <p:nvPr/>
        </p:nvSpPr>
        <p:spPr bwMode="auto">
          <a:xfrm>
            <a:off x="7893050" y="2857500"/>
            <a:ext cx="11512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AutoShape 46"/>
          <p:cNvSpPr/>
          <p:nvPr/>
        </p:nvSpPr>
        <p:spPr bwMode="auto">
          <a:xfrm>
            <a:off x="7812088" y="2706688"/>
            <a:ext cx="152400" cy="842963"/>
          </a:xfrm>
          <a:prstGeom prst="rightBrace">
            <a:avLst>
              <a:gd name="adj1" fmla="val 46094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Finding the Electric Field, Charge, and Capacitance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9" name="Picture 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6" y="1676400"/>
            <a:ext cx="1114425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0" name="Group 32"/>
          <p:cNvGrpSpPr/>
          <p:nvPr/>
        </p:nvGrpSpPr>
        <p:grpSpPr bwMode="auto">
          <a:xfrm>
            <a:off x="1646237" y="2286000"/>
            <a:ext cx="2316163" cy="625475"/>
            <a:chOff x="864" y="1680"/>
            <a:chExt cx="1459" cy="394"/>
          </a:xfrm>
        </p:grpSpPr>
        <p:pic>
          <p:nvPicPr>
            <p:cNvPr id="160" name="Picture 2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1776"/>
              <a:ext cx="726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1" name="Picture 3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1680"/>
              <a:ext cx="691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901701" y="1754188"/>
            <a:ext cx="115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Start with: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34"/>
          <p:cNvSpPr>
            <a:spLocks noChangeArrowheads="1"/>
          </p:cNvSpPr>
          <p:nvPr/>
        </p:nvSpPr>
        <p:spPr bwMode="auto">
          <a:xfrm>
            <a:off x="914401" y="2420938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9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048000"/>
            <a:ext cx="1600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" name="Rectangle 95"/>
          <p:cNvSpPr>
            <a:spLocks noChangeArrowheads="1"/>
          </p:cNvSpPr>
          <p:nvPr/>
        </p:nvSpPr>
        <p:spPr bwMode="auto">
          <a:xfrm>
            <a:off x="966788" y="3221038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From which: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112"/>
          <p:cNvGrpSpPr/>
          <p:nvPr/>
        </p:nvGrpSpPr>
        <p:grpSpPr bwMode="auto">
          <a:xfrm>
            <a:off x="4786312" y="1828800"/>
            <a:ext cx="4281488" cy="2127250"/>
            <a:chOff x="2948" y="1341"/>
            <a:chExt cx="2697" cy="1340"/>
          </a:xfrm>
        </p:grpSpPr>
        <p:grpSp>
          <p:nvGrpSpPr>
            <p:cNvPr id="74" name="Group 94"/>
            <p:cNvGrpSpPr/>
            <p:nvPr/>
          </p:nvGrpSpPr>
          <p:grpSpPr bwMode="auto">
            <a:xfrm>
              <a:off x="2948" y="1341"/>
              <a:ext cx="2697" cy="1340"/>
              <a:chOff x="2948" y="1344"/>
              <a:chExt cx="2697" cy="1340"/>
            </a:xfrm>
          </p:grpSpPr>
          <p:grpSp>
            <p:nvGrpSpPr>
              <p:cNvPr id="77" name="Group 53"/>
              <p:cNvGrpSpPr/>
              <p:nvPr/>
            </p:nvGrpSpPr>
            <p:grpSpPr bwMode="auto">
              <a:xfrm>
                <a:off x="2948" y="1440"/>
                <a:ext cx="2697" cy="1244"/>
                <a:chOff x="2948" y="1440"/>
                <a:chExt cx="2697" cy="1244"/>
              </a:xfrm>
            </p:grpSpPr>
            <p:grpSp>
              <p:nvGrpSpPr>
                <p:cNvPr id="126" name="Group 51"/>
                <p:cNvGrpSpPr/>
                <p:nvPr/>
              </p:nvGrpSpPr>
              <p:grpSpPr bwMode="auto">
                <a:xfrm>
                  <a:off x="2948" y="1440"/>
                  <a:ext cx="2697" cy="1244"/>
                  <a:chOff x="2948" y="1440"/>
                  <a:chExt cx="2697" cy="1244"/>
                </a:xfrm>
              </p:grpSpPr>
              <p:sp>
                <p:nvSpPr>
                  <p:cNvPr id="128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821"/>
                    <a:ext cx="1604" cy="51"/>
                  </a:xfrm>
                  <a:prstGeom prst="rect">
                    <a:avLst/>
                  </a:prstGeom>
                  <a:solidFill>
                    <a:srgbClr val="FEA0C7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396"/>
                    <a:ext cx="1615" cy="52"/>
                  </a:xfrm>
                  <a:prstGeom prst="rect">
                    <a:avLst/>
                  </a:prstGeom>
                  <a:solidFill>
                    <a:srgbClr val="FEA0C7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0" name="Line 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8" y="1536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1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111" y="1872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2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108" y="2400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948" y="1776"/>
                    <a:ext cx="173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en-US" altLang="zh-CN" sz="14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967" y="2319"/>
                    <a:ext cx="173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5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1440"/>
                    <a:ext cx="181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6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840" y="1632"/>
                    <a:ext cx="511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 = V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7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843" y="2451"/>
                    <a:ext cx="446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 = </a:t>
                    </a: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8" name="Line 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67" y="2295"/>
                    <a:ext cx="1598" cy="3"/>
                  </a:xfrm>
                  <a:prstGeom prst="line">
                    <a:avLst/>
                  </a:prstGeom>
                  <a:noFill/>
                  <a:ln w="9525">
                    <a:solidFill>
                      <a:schemeClr val="hlink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9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96"/>
                    <a:ext cx="160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hlink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0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3267" y="2088"/>
                    <a:ext cx="160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hlink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1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267" y="1980"/>
                    <a:ext cx="160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hlink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5004" y="1968"/>
                    <a:ext cx="64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Equipotential</a:t>
                    </a:r>
                    <a:endParaRPr lang="en-US" altLang="zh-CN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altLang="zh-CN" sz="1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Surfaces</a:t>
                    </a:r>
                    <a:endParaRPr lang="en-US" altLang="zh-CN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" name="AutoShape 27"/>
                  <p:cNvSpPr/>
                  <p:nvPr/>
                </p:nvSpPr>
                <p:spPr bwMode="auto">
                  <a:xfrm>
                    <a:off x="4944" y="1873"/>
                    <a:ext cx="96" cy="531"/>
                  </a:xfrm>
                  <a:prstGeom prst="rightBrace">
                    <a:avLst>
                      <a:gd name="adj1" fmla="val 46094"/>
                      <a:gd name="adj2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4" name="Line 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91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5" name="Line 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67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6" name="Line 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8" y="1875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7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26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8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3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9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60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0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74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1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88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2" name="Line 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08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3" name="Line 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80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21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" name="Line 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38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6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49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7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57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8" name="Line 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866" y="1872"/>
                    <a:ext cx="1" cy="518"/>
                  </a:xfrm>
                  <a:prstGeom prst="line">
                    <a:avLst/>
                  </a:prstGeom>
                  <a:noFill/>
                  <a:ln w="9525">
                    <a:solidFill>
                      <a:srgbClr val="CA0065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9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3925" y="1938"/>
                    <a:ext cx="213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A0065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b="1">
                        <a:solidFill>
                          <a:srgbClr val="CA006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</a:t>
                    </a:r>
                    <a:endParaRPr lang="en-US" altLang="zh-CN" b="1">
                      <a:solidFill>
                        <a:srgbClr val="CA0065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" name="Line 52"/>
                <p:cNvSpPr>
                  <a:spLocks noChangeShapeType="1"/>
                </p:cNvSpPr>
                <p:nvPr/>
              </p:nvSpPr>
              <p:spPr bwMode="auto">
                <a:xfrm>
                  <a:off x="5136" y="225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8" name="Rectangle 54"/>
              <p:cNvSpPr>
                <a:spLocks noChangeArrowheads="1"/>
              </p:cNvSpPr>
              <p:nvPr/>
            </p:nvSpPr>
            <p:spPr bwMode="auto">
              <a:xfrm>
                <a:off x="3240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Rectangle 55"/>
              <p:cNvSpPr>
                <a:spLocks noChangeArrowheads="1"/>
              </p:cNvSpPr>
              <p:nvPr/>
            </p:nvSpPr>
            <p:spPr bwMode="auto">
              <a:xfrm>
                <a:off x="3345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Rectangle 56"/>
              <p:cNvSpPr>
                <a:spLocks noChangeArrowheads="1"/>
              </p:cNvSpPr>
              <p:nvPr/>
            </p:nvSpPr>
            <p:spPr bwMode="auto">
              <a:xfrm>
                <a:off x="3462" y="1823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57"/>
              <p:cNvSpPr>
                <a:spLocks noChangeArrowheads="1"/>
              </p:cNvSpPr>
              <p:nvPr/>
            </p:nvSpPr>
            <p:spPr bwMode="auto">
              <a:xfrm>
                <a:off x="3585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58"/>
              <p:cNvSpPr>
                <a:spLocks noChangeArrowheads="1"/>
              </p:cNvSpPr>
              <p:nvPr/>
            </p:nvSpPr>
            <p:spPr bwMode="auto">
              <a:xfrm>
                <a:off x="3705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Rectangle 59"/>
              <p:cNvSpPr>
                <a:spLocks noChangeArrowheads="1"/>
              </p:cNvSpPr>
              <p:nvPr/>
            </p:nvSpPr>
            <p:spPr bwMode="auto">
              <a:xfrm>
                <a:off x="3822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Rectangle 60"/>
              <p:cNvSpPr>
                <a:spLocks noChangeArrowheads="1"/>
              </p:cNvSpPr>
              <p:nvPr/>
            </p:nvSpPr>
            <p:spPr bwMode="auto">
              <a:xfrm>
                <a:off x="3942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Rectangle 61"/>
              <p:cNvSpPr>
                <a:spLocks noChangeArrowheads="1"/>
              </p:cNvSpPr>
              <p:nvPr/>
            </p:nvSpPr>
            <p:spPr bwMode="auto">
              <a:xfrm>
                <a:off x="4047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Rectangle 62"/>
              <p:cNvSpPr>
                <a:spLocks noChangeArrowheads="1"/>
              </p:cNvSpPr>
              <p:nvPr/>
            </p:nvSpPr>
            <p:spPr bwMode="auto">
              <a:xfrm>
                <a:off x="4167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ectangle 63"/>
              <p:cNvSpPr>
                <a:spLocks noChangeArrowheads="1"/>
              </p:cNvSpPr>
              <p:nvPr/>
            </p:nvSpPr>
            <p:spPr bwMode="auto">
              <a:xfrm>
                <a:off x="4287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Rectangle 64"/>
              <p:cNvSpPr>
                <a:spLocks noChangeArrowheads="1"/>
              </p:cNvSpPr>
              <p:nvPr/>
            </p:nvSpPr>
            <p:spPr bwMode="auto">
              <a:xfrm>
                <a:off x="4401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Rectangle 65"/>
              <p:cNvSpPr>
                <a:spLocks noChangeArrowheads="1"/>
              </p:cNvSpPr>
              <p:nvPr/>
            </p:nvSpPr>
            <p:spPr bwMode="auto">
              <a:xfrm>
                <a:off x="4512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Rectangle 66"/>
              <p:cNvSpPr>
                <a:spLocks noChangeArrowheads="1"/>
              </p:cNvSpPr>
              <p:nvPr/>
            </p:nvSpPr>
            <p:spPr bwMode="auto">
              <a:xfrm>
                <a:off x="4623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Rectangle 67"/>
              <p:cNvSpPr>
                <a:spLocks noChangeArrowheads="1"/>
              </p:cNvSpPr>
              <p:nvPr/>
            </p:nvSpPr>
            <p:spPr bwMode="auto">
              <a:xfrm>
                <a:off x="4728" y="1824"/>
                <a:ext cx="16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0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0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Rectangle 71"/>
              <p:cNvSpPr>
                <a:spLocks noChangeArrowheads="1"/>
              </p:cNvSpPr>
              <p:nvPr/>
            </p:nvSpPr>
            <p:spPr bwMode="auto">
              <a:xfrm>
                <a:off x="3254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Rectangle 72"/>
              <p:cNvSpPr>
                <a:spLocks noChangeArrowheads="1"/>
              </p:cNvSpPr>
              <p:nvPr/>
            </p:nvSpPr>
            <p:spPr bwMode="auto">
              <a:xfrm>
                <a:off x="3362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Rectangle 73"/>
              <p:cNvSpPr>
                <a:spLocks noChangeArrowheads="1"/>
              </p:cNvSpPr>
              <p:nvPr/>
            </p:nvSpPr>
            <p:spPr bwMode="auto">
              <a:xfrm>
                <a:off x="3474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Rectangle 74"/>
              <p:cNvSpPr>
                <a:spLocks noChangeArrowheads="1"/>
              </p:cNvSpPr>
              <p:nvPr/>
            </p:nvSpPr>
            <p:spPr bwMode="auto">
              <a:xfrm>
                <a:off x="3599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Rectangle 75"/>
              <p:cNvSpPr>
                <a:spLocks noChangeArrowheads="1"/>
              </p:cNvSpPr>
              <p:nvPr/>
            </p:nvSpPr>
            <p:spPr bwMode="auto">
              <a:xfrm>
                <a:off x="3836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Rectangle 76"/>
              <p:cNvSpPr>
                <a:spLocks noChangeArrowheads="1"/>
              </p:cNvSpPr>
              <p:nvPr/>
            </p:nvSpPr>
            <p:spPr bwMode="auto">
              <a:xfrm>
                <a:off x="3716" y="2272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Rectangle 77"/>
              <p:cNvSpPr>
                <a:spLocks noChangeArrowheads="1"/>
              </p:cNvSpPr>
              <p:nvPr/>
            </p:nvSpPr>
            <p:spPr bwMode="auto">
              <a:xfrm>
                <a:off x="3947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Rectangle 78"/>
              <p:cNvSpPr>
                <a:spLocks noChangeArrowheads="1"/>
              </p:cNvSpPr>
              <p:nvPr/>
            </p:nvSpPr>
            <p:spPr bwMode="auto">
              <a:xfrm>
                <a:off x="4058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Rectangle 79"/>
              <p:cNvSpPr>
                <a:spLocks noChangeArrowheads="1"/>
              </p:cNvSpPr>
              <p:nvPr/>
            </p:nvSpPr>
            <p:spPr bwMode="auto">
              <a:xfrm>
                <a:off x="4175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Rectangle 80"/>
              <p:cNvSpPr>
                <a:spLocks noChangeArrowheads="1"/>
              </p:cNvSpPr>
              <p:nvPr/>
            </p:nvSpPr>
            <p:spPr bwMode="auto">
              <a:xfrm>
                <a:off x="4295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Rectangle 81"/>
              <p:cNvSpPr>
                <a:spLocks noChangeArrowheads="1"/>
              </p:cNvSpPr>
              <p:nvPr/>
            </p:nvSpPr>
            <p:spPr bwMode="auto">
              <a:xfrm>
                <a:off x="4412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Rectangle 82"/>
              <p:cNvSpPr>
                <a:spLocks noChangeArrowheads="1"/>
              </p:cNvSpPr>
              <p:nvPr/>
            </p:nvSpPr>
            <p:spPr bwMode="auto">
              <a:xfrm>
                <a:off x="4526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Rectangle 83"/>
              <p:cNvSpPr>
                <a:spLocks noChangeArrowheads="1"/>
              </p:cNvSpPr>
              <p:nvPr/>
            </p:nvSpPr>
            <p:spPr bwMode="auto">
              <a:xfrm>
                <a:off x="4634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Rectangle 84"/>
              <p:cNvSpPr>
                <a:spLocks noChangeArrowheads="1"/>
              </p:cNvSpPr>
              <p:nvPr/>
            </p:nvSpPr>
            <p:spPr bwMode="auto">
              <a:xfrm>
                <a:off x="4748" y="2271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solidFill>
                      <a:srgbClr val="CA006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altLang="zh-CN" sz="1200" b="1">
                  <a:solidFill>
                    <a:srgbClr val="CA006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2" name="Picture 85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69" y="2479"/>
                <a:ext cx="173" cy="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23" name="Line 88"/>
              <p:cNvSpPr>
                <a:spLocks noChangeShapeType="1"/>
              </p:cNvSpPr>
              <p:nvPr/>
            </p:nvSpPr>
            <p:spPr bwMode="auto">
              <a:xfrm flipH="1" flipV="1">
                <a:off x="4368" y="2352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Rectangle 90"/>
              <p:cNvSpPr>
                <a:spLocks noChangeArrowheads="1"/>
              </p:cNvSpPr>
              <p:nvPr/>
            </p:nvSpPr>
            <p:spPr bwMode="auto">
              <a:xfrm>
                <a:off x="3201" y="1344"/>
                <a:ext cx="109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 Area = 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91"/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5" name="Line 96"/>
            <p:cNvSpPr>
              <a:spLocks noChangeShapeType="1"/>
            </p:cNvSpPr>
            <p:nvPr/>
          </p:nvSpPr>
          <p:spPr bwMode="auto">
            <a:xfrm flipV="1">
              <a:off x="3792" y="215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97"/>
            <p:cNvSpPr>
              <a:spLocks noChangeArrowheads="1"/>
            </p:cNvSpPr>
            <p:nvPr/>
          </p:nvSpPr>
          <p:spPr bwMode="auto">
            <a:xfrm>
              <a:off x="3707" y="197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Rectangle 98"/>
          <p:cNvSpPr>
            <a:spLocks noChangeArrowheads="1"/>
          </p:cNvSpPr>
          <p:nvPr/>
        </p:nvSpPr>
        <p:spPr bwMode="auto">
          <a:xfrm>
            <a:off x="963613" y="3810000"/>
            <a:ext cx="3295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lower plate surface 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0):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9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7" y="4191000"/>
            <a:ext cx="261461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3" name="Rectangle 102"/>
          <p:cNvSpPr>
            <a:spLocks noChangeArrowheads="1"/>
          </p:cNvSpPr>
          <p:nvPr/>
        </p:nvSpPr>
        <p:spPr bwMode="auto">
          <a:xfrm>
            <a:off x="4961731" y="4392612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Picture 10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4886251"/>
            <a:ext cx="16271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6" name="Rectangle 104"/>
          <p:cNvSpPr>
            <a:spLocks noChangeArrowheads="1"/>
          </p:cNvSpPr>
          <p:nvPr/>
        </p:nvSpPr>
        <p:spPr bwMode="auto">
          <a:xfrm>
            <a:off x="5492196" y="4403066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105"/>
          <p:cNvSpPr>
            <a:spLocks noChangeArrowheads="1"/>
          </p:cNvSpPr>
          <p:nvPr/>
        </p:nvSpPr>
        <p:spPr bwMode="auto">
          <a:xfrm>
            <a:off x="990601" y="4924425"/>
            <a:ext cx="108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Then use: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" name="Picture 10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1" y="4800600"/>
            <a:ext cx="1984375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9" name="Rectangle 107"/>
          <p:cNvSpPr>
            <a:spLocks noChangeArrowheads="1"/>
          </p:cNvSpPr>
          <p:nvPr/>
        </p:nvSpPr>
        <p:spPr bwMode="auto">
          <a:xfrm>
            <a:off x="3656013" y="4976813"/>
            <a:ext cx="79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to find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" name="Picture 10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056" y="5892800"/>
            <a:ext cx="2979738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" name="Picture 10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769551"/>
            <a:ext cx="1984375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2" name="Rectangle 110"/>
          <p:cNvSpPr>
            <a:spLocks noChangeArrowheads="1"/>
          </p:cNvSpPr>
          <p:nvPr/>
        </p:nvSpPr>
        <p:spPr bwMode="auto">
          <a:xfrm>
            <a:off x="1022828" y="5486400"/>
            <a:ext cx="3763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charge on the lower plate is now: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111"/>
          <p:cNvSpPr>
            <a:spLocks noChangeArrowheads="1"/>
          </p:cNvSpPr>
          <p:nvPr/>
        </p:nvSpPr>
        <p:spPr bwMode="auto">
          <a:xfrm>
            <a:off x="5029200" y="5894964"/>
            <a:ext cx="1531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capacitance is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Coaxial Transmission Line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74893" y="2043350"/>
            <a:ext cx="2568575" cy="2447925"/>
            <a:chOff x="6374893" y="2043350"/>
            <a:chExt cx="2568575" cy="2447925"/>
          </a:xfrm>
        </p:grpSpPr>
        <p:pic>
          <p:nvPicPr>
            <p:cNvPr id="98" name="Picture 5" descr="Chapter 3 Fig 5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4893" y="2043350"/>
              <a:ext cx="2568575" cy="2138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Rectangle 6"/>
            <p:cNvSpPr>
              <a:spLocks noChangeArrowheads="1"/>
            </p:cNvSpPr>
            <p:nvPr/>
          </p:nvSpPr>
          <p:spPr bwMode="auto">
            <a:xfrm>
              <a:off x="7476618" y="2973625"/>
              <a:ext cx="3778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endParaRPr>
            </a:p>
          </p:txBody>
        </p:sp>
        <p:sp>
          <p:nvSpPr>
            <p:cNvPr id="100" name="Line 7"/>
            <p:cNvSpPr>
              <a:spLocks noChangeShapeType="1"/>
            </p:cNvSpPr>
            <p:nvPr/>
          </p:nvSpPr>
          <p:spPr bwMode="auto">
            <a:xfrm>
              <a:off x="7517893" y="3343513"/>
              <a:ext cx="3810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Rectangle 8"/>
            <p:cNvSpPr>
              <a:spLocks noChangeArrowheads="1"/>
            </p:cNvSpPr>
            <p:nvPr/>
          </p:nvSpPr>
          <p:spPr bwMode="auto">
            <a:xfrm>
              <a:off x="7479793" y="3343513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Line 9"/>
            <p:cNvSpPr>
              <a:spLocks noChangeShapeType="1"/>
            </p:cNvSpPr>
            <p:nvPr/>
          </p:nvSpPr>
          <p:spPr bwMode="auto">
            <a:xfrm>
              <a:off x="7495668" y="4034075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Line 10"/>
            <p:cNvSpPr>
              <a:spLocks noChangeShapeType="1"/>
            </p:cNvSpPr>
            <p:nvPr/>
          </p:nvSpPr>
          <p:spPr bwMode="auto">
            <a:xfrm>
              <a:off x="8643431" y="3553063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11"/>
            <p:cNvSpPr>
              <a:spLocks noChangeArrowheads="1"/>
            </p:cNvSpPr>
            <p:nvPr/>
          </p:nvSpPr>
          <p:spPr bwMode="auto">
            <a:xfrm>
              <a:off x="7952868" y="3876913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Line 12"/>
            <p:cNvSpPr>
              <a:spLocks noChangeShapeType="1"/>
            </p:cNvSpPr>
            <p:nvPr/>
          </p:nvSpPr>
          <p:spPr bwMode="auto">
            <a:xfrm flipV="1">
              <a:off x="8205281" y="3794363"/>
              <a:ext cx="428625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Line 13"/>
            <p:cNvSpPr>
              <a:spLocks noChangeShapeType="1"/>
            </p:cNvSpPr>
            <p:nvPr/>
          </p:nvSpPr>
          <p:spPr bwMode="auto">
            <a:xfrm flipH="1">
              <a:off x="7509956" y="4086463"/>
              <a:ext cx="428625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Rectangle 14"/>
            <p:cNvSpPr>
              <a:spLocks noChangeArrowheads="1"/>
            </p:cNvSpPr>
            <p:nvPr/>
          </p:nvSpPr>
          <p:spPr bwMode="auto">
            <a:xfrm>
              <a:off x="8029068" y="3033950"/>
              <a:ext cx="6822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5" name="Rectangle 15"/>
          <p:cNvSpPr>
            <a:spLocks noChangeArrowheads="1"/>
          </p:cNvSpPr>
          <p:nvPr/>
        </p:nvSpPr>
        <p:spPr bwMode="auto">
          <a:xfrm>
            <a:off x="6685468" y="4512781"/>
            <a:ext cx="1782796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conditions: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at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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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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Rectangle 16"/>
          <p:cNvSpPr>
            <a:spLocks noChangeArrowheads="1"/>
          </p:cNvSpPr>
          <p:nvPr/>
        </p:nvSpPr>
        <p:spPr bwMode="auto">
          <a:xfrm>
            <a:off x="296821" y="1916668"/>
            <a:ext cx="67314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assumed to vary with radius only, Laplace’s equation becomes: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7" name="Picture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2291278"/>
            <a:ext cx="2074863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8" name="Rectangle 18"/>
          <p:cNvSpPr>
            <a:spLocks noChangeArrowheads="1"/>
          </p:cNvSpPr>
          <p:nvPr/>
        </p:nvSpPr>
        <p:spPr bwMode="auto">
          <a:xfrm>
            <a:off x="3121025" y="2578616"/>
            <a:ext cx="20345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valid at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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9"/>
          <p:cNvSpPr>
            <a:spLocks noChangeArrowheads="1"/>
          </p:cNvSpPr>
          <p:nvPr/>
        </p:nvSpPr>
        <p:spPr bwMode="auto">
          <a:xfrm>
            <a:off x="324201" y="3316069"/>
            <a:ext cx="57098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evaluate the potential function in the region 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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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20"/>
          <p:cNvSpPr>
            <a:spLocks noChangeArrowheads="1"/>
          </p:cNvSpPr>
          <p:nvPr/>
        </p:nvSpPr>
        <p:spPr bwMode="auto">
          <a:xfrm>
            <a:off x="439383" y="4217966"/>
            <a:ext cx="15632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once: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1" name="Picture 2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182" y="4011789"/>
            <a:ext cx="12255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2" name="Rectangle 22"/>
          <p:cNvSpPr>
            <a:spLocks noChangeArrowheads="1"/>
          </p:cNvSpPr>
          <p:nvPr/>
        </p:nvSpPr>
        <p:spPr bwMode="auto">
          <a:xfrm>
            <a:off x="453760" y="5002871"/>
            <a:ext cx="20826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 and a second time: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3" name="Picture 2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957" y="5024437"/>
            <a:ext cx="17272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Coaxial Transmission Line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" name="Group 35"/>
          <p:cNvGrpSpPr/>
          <p:nvPr/>
        </p:nvGrpSpPr>
        <p:grpSpPr bwMode="auto">
          <a:xfrm>
            <a:off x="152400" y="1752600"/>
            <a:ext cx="8305800" cy="4648200"/>
            <a:chOff x="96" y="1104"/>
            <a:chExt cx="5232" cy="2928"/>
          </a:xfrm>
        </p:grpSpPr>
        <p:pic>
          <p:nvPicPr>
            <p:cNvPr id="28" name="Picture 3" descr="Chapter 3 Fig 5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2" y="1104"/>
              <a:ext cx="1618" cy="1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4356" y="1690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endParaRPr>
            </a:p>
          </p:txBody>
        </p:sp>
        <p:sp>
          <p:nvSpPr>
            <p:cNvPr id="30" name="Line 5"/>
            <p:cNvSpPr>
              <a:spLocks noChangeShapeType="1"/>
            </p:cNvSpPr>
            <p:nvPr/>
          </p:nvSpPr>
          <p:spPr bwMode="auto">
            <a:xfrm>
              <a:off x="4382" y="1923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4358" y="1923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7"/>
            <p:cNvSpPr>
              <a:spLocks noChangeShapeType="1"/>
            </p:cNvSpPr>
            <p:nvPr/>
          </p:nvSpPr>
          <p:spPr bwMode="auto">
            <a:xfrm>
              <a:off x="4368" y="235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8"/>
            <p:cNvSpPr>
              <a:spLocks noChangeShapeType="1"/>
            </p:cNvSpPr>
            <p:nvPr/>
          </p:nvSpPr>
          <p:spPr bwMode="auto">
            <a:xfrm>
              <a:off x="5091" y="205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4656" y="225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 flipV="1">
              <a:off x="4815" y="2207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11"/>
            <p:cNvSpPr>
              <a:spLocks noChangeShapeType="1"/>
            </p:cNvSpPr>
            <p:nvPr/>
          </p:nvSpPr>
          <p:spPr bwMode="auto">
            <a:xfrm flipH="1">
              <a:off x="4377" y="2391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12"/>
            <p:cNvSpPr>
              <a:spLocks noChangeArrowheads="1"/>
            </p:cNvSpPr>
            <p:nvPr/>
          </p:nvSpPr>
          <p:spPr bwMode="auto">
            <a:xfrm>
              <a:off x="4704" y="1728"/>
              <a:ext cx="4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13"/>
            <p:cNvSpPr>
              <a:spLocks noChangeArrowheads="1"/>
            </p:cNvSpPr>
            <p:nvPr/>
          </p:nvSpPr>
          <p:spPr bwMode="auto">
            <a:xfrm>
              <a:off x="4080" y="2721"/>
              <a:ext cx="1235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9pPr>
            </a:lstStyle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Boundary conditions: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AutoNum type="arabicPeriod"/>
              </a:pP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</a:t>
              </a:r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at </a:t>
              </a: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</a:t>
              </a:r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</a:t>
              </a: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AutoNum type="arabicPeriod"/>
              </a:pP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</a:t>
              </a:r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at </a:t>
              </a: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</a:t>
              </a:r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9" name="Picture 2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6" y="1200"/>
              <a:ext cx="1088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0" name="Rectangle 23"/>
            <p:cNvSpPr>
              <a:spLocks noChangeArrowheads="1"/>
            </p:cNvSpPr>
            <p:nvPr/>
          </p:nvSpPr>
          <p:spPr bwMode="auto">
            <a:xfrm>
              <a:off x="932" y="1200"/>
              <a:ext cx="7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Now have: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24"/>
            <p:cNvSpPr>
              <a:spLocks noChangeArrowheads="1"/>
            </p:cNvSpPr>
            <p:nvPr/>
          </p:nvSpPr>
          <p:spPr bwMode="auto">
            <a:xfrm>
              <a:off x="442" y="1668"/>
              <a:ext cx="18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boundary condition 1: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25"/>
            <p:cNvSpPr>
              <a:spLocks noChangeArrowheads="1"/>
            </p:cNvSpPr>
            <p:nvPr/>
          </p:nvSpPr>
          <p:spPr bwMode="auto">
            <a:xfrm>
              <a:off x="497" y="2420"/>
              <a:ext cx="18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boundary condition 2: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4" name="Picture 2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968"/>
              <a:ext cx="244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2784"/>
              <a:ext cx="3777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2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" y="3552"/>
              <a:ext cx="2914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Rectangle 30"/>
            <p:cNvSpPr>
              <a:spLocks noChangeArrowheads="1"/>
            </p:cNvSpPr>
            <p:nvPr/>
          </p:nvSpPr>
          <p:spPr bwMode="auto">
            <a:xfrm>
              <a:off x="576" y="3264"/>
              <a:ext cx="1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Putting it all together: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31"/>
            <p:cNvSpPr>
              <a:spLocks noChangeArrowheads="1"/>
            </p:cNvSpPr>
            <p:nvPr/>
          </p:nvSpPr>
          <p:spPr bwMode="auto">
            <a:xfrm>
              <a:off x="2856" y="3544"/>
              <a:ext cx="768" cy="488"/>
            </a:xfrm>
            <a:prstGeom prst="rect">
              <a:avLst/>
            </a:prstGeom>
            <a:noFill/>
            <a:ln w="9525">
              <a:solidFill>
                <a:srgbClr val="CA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2064" y="2208"/>
              <a:ext cx="864" cy="0"/>
            </a:xfrm>
            <a:prstGeom prst="line">
              <a:avLst/>
            </a:prstGeom>
            <a:noFill/>
            <a:ln w="9525">
              <a:solidFill>
                <a:srgbClr val="CA006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Line 33"/>
            <p:cNvSpPr>
              <a:spLocks noChangeShapeType="1"/>
            </p:cNvSpPr>
            <p:nvPr/>
          </p:nvSpPr>
          <p:spPr bwMode="auto">
            <a:xfrm>
              <a:off x="2880" y="3216"/>
              <a:ext cx="912" cy="0"/>
            </a:xfrm>
            <a:prstGeom prst="line">
              <a:avLst/>
            </a:prstGeom>
            <a:noFill/>
            <a:ln w="9525">
              <a:solidFill>
                <a:srgbClr val="CA006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34"/>
            <p:cNvSpPr>
              <a:spLocks noChangeArrowheads="1"/>
            </p:cNvSpPr>
            <p:nvPr/>
          </p:nvSpPr>
          <p:spPr bwMode="auto">
            <a:xfrm>
              <a:off x="4032" y="2688"/>
              <a:ext cx="1296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Coaxial Transmission Line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" name="Group 27"/>
          <p:cNvGrpSpPr/>
          <p:nvPr/>
        </p:nvGrpSpPr>
        <p:grpSpPr bwMode="auto">
          <a:xfrm>
            <a:off x="5791200" y="1971675"/>
            <a:ext cx="2568575" cy="2447925"/>
            <a:chOff x="3662" y="1104"/>
            <a:chExt cx="1618" cy="1542"/>
          </a:xfrm>
        </p:grpSpPr>
        <p:pic>
          <p:nvPicPr>
            <p:cNvPr id="65" name="Picture 4" descr="Chapter 3 Fig 5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2" y="1104"/>
              <a:ext cx="1618" cy="1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Rectangle 5"/>
            <p:cNvSpPr>
              <a:spLocks noChangeArrowheads="1"/>
            </p:cNvSpPr>
            <p:nvPr/>
          </p:nvSpPr>
          <p:spPr bwMode="auto">
            <a:xfrm>
              <a:off x="4356" y="1690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endParaRPr>
            </a:p>
          </p:txBody>
        </p:sp>
        <p:sp>
          <p:nvSpPr>
            <p:cNvPr id="67" name="Line 6"/>
            <p:cNvSpPr>
              <a:spLocks noChangeShapeType="1"/>
            </p:cNvSpPr>
            <p:nvPr/>
          </p:nvSpPr>
          <p:spPr bwMode="auto">
            <a:xfrm>
              <a:off x="4382" y="1923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7"/>
            <p:cNvSpPr>
              <a:spLocks noChangeArrowheads="1"/>
            </p:cNvSpPr>
            <p:nvPr/>
          </p:nvSpPr>
          <p:spPr bwMode="auto">
            <a:xfrm>
              <a:off x="4358" y="1923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Line 8"/>
            <p:cNvSpPr>
              <a:spLocks noChangeShapeType="1"/>
            </p:cNvSpPr>
            <p:nvPr/>
          </p:nvSpPr>
          <p:spPr bwMode="auto">
            <a:xfrm>
              <a:off x="4368" y="235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>
              <a:off x="5091" y="205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10"/>
            <p:cNvSpPr>
              <a:spLocks noChangeArrowheads="1"/>
            </p:cNvSpPr>
            <p:nvPr/>
          </p:nvSpPr>
          <p:spPr bwMode="auto">
            <a:xfrm>
              <a:off x="4656" y="225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Line 11"/>
            <p:cNvSpPr>
              <a:spLocks noChangeShapeType="1"/>
            </p:cNvSpPr>
            <p:nvPr/>
          </p:nvSpPr>
          <p:spPr bwMode="auto">
            <a:xfrm flipV="1">
              <a:off x="4815" y="2207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flipH="1">
              <a:off x="4377" y="2391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13"/>
            <p:cNvSpPr>
              <a:spLocks noChangeArrowheads="1"/>
            </p:cNvSpPr>
            <p:nvPr/>
          </p:nvSpPr>
          <p:spPr bwMode="auto">
            <a:xfrm>
              <a:off x="4704" y="1728"/>
              <a:ext cx="4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381000" y="1809750"/>
            <a:ext cx="2840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have found the potential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field between conductors: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532" y="1724998"/>
            <a:ext cx="1919288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2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743200"/>
            <a:ext cx="43053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3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7" y="4103688"/>
            <a:ext cx="4086225" cy="83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06" y="5518509"/>
            <a:ext cx="4132263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518150"/>
            <a:ext cx="2413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Rectangle 33"/>
          <p:cNvSpPr>
            <a:spLocks noChangeArrowheads="1"/>
          </p:cNvSpPr>
          <p:nvPr/>
        </p:nvSpPr>
        <p:spPr bwMode="auto">
          <a:xfrm>
            <a:off x="381000" y="2667000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34"/>
          <p:cNvSpPr>
            <a:spLocks noChangeArrowheads="1"/>
          </p:cNvSpPr>
          <p:nvPr/>
        </p:nvSpPr>
        <p:spPr bwMode="auto">
          <a:xfrm>
            <a:off x="398463" y="3733800"/>
            <a:ext cx="4354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charge density on the inner conductor is: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35"/>
          <p:cNvSpPr>
            <a:spLocks noChangeArrowheads="1"/>
          </p:cNvSpPr>
          <p:nvPr/>
        </p:nvSpPr>
        <p:spPr bwMode="auto">
          <a:xfrm>
            <a:off x="381000" y="5019675"/>
            <a:ext cx="4098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total charge on the inner conductor is: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36"/>
          <p:cNvSpPr>
            <a:spLocks noChangeArrowheads="1"/>
          </p:cNvSpPr>
          <p:nvPr/>
        </p:nvSpPr>
        <p:spPr bwMode="auto">
          <a:xfrm>
            <a:off x="5334000" y="4964113"/>
            <a:ext cx="3159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…and the capacitance is finally: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37"/>
          <p:cNvSpPr>
            <a:spLocks noChangeArrowheads="1"/>
          </p:cNvSpPr>
          <p:nvPr/>
        </p:nvSpPr>
        <p:spPr bwMode="auto">
          <a:xfrm>
            <a:off x="5715000" y="5486400"/>
            <a:ext cx="2362200" cy="8382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Angled Plate Geometry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" name="Picture 2" descr="Fig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52600"/>
            <a:ext cx="3924061" cy="258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57200" y="1676400"/>
            <a:ext cx="5721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Cylindrical coordinates are used,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assumption that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varies only with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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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auto">
          <a:xfrm>
            <a:off x="5334000" y="3952875"/>
            <a:ext cx="2971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8139113" y="3919538"/>
            <a:ext cx="287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i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6178550" y="4418013"/>
            <a:ext cx="17764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Conditions: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at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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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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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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6096000" y="4343400"/>
            <a:ext cx="2133600" cy="844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457200" y="2297112"/>
            <a:ext cx="285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Laplace’s equation becomes: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743200"/>
            <a:ext cx="31718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425" y="3506787"/>
            <a:ext cx="968375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837" y="4114800"/>
            <a:ext cx="1782763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1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37" y="4648200"/>
            <a:ext cx="29257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5030787"/>
            <a:ext cx="2632075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1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5929313"/>
            <a:ext cx="14255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3" y="5870575"/>
            <a:ext cx="3684588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Rectangle 18"/>
          <p:cNvSpPr>
            <a:spLocks noChangeArrowheads="1"/>
          </p:cNvSpPr>
          <p:nvPr/>
        </p:nvSpPr>
        <p:spPr bwMode="auto">
          <a:xfrm>
            <a:off x="454025" y="3614738"/>
            <a:ext cx="1563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Integrate once: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19"/>
          <p:cNvSpPr>
            <a:spLocks noChangeArrowheads="1"/>
          </p:cNvSpPr>
          <p:nvPr/>
        </p:nvSpPr>
        <p:spPr bwMode="auto">
          <a:xfrm>
            <a:off x="465138" y="4132263"/>
            <a:ext cx="223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…and integrate again: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485775" y="4722813"/>
            <a:ext cx="2532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First boundary condition: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21"/>
          <p:cNvSpPr>
            <a:spLocks noChangeArrowheads="1"/>
          </p:cNvSpPr>
          <p:nvPr/>
        </p:nvSpPr>
        <p:spPr bwMode="auto">
          <a:xfrm>
            <a:off x="512763" y="5187950"/>
            <a:ext cx="2787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Second boundary condition: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22"/>
          <p:cNvSpPr>
            <a:spLocks noChangeArrowheads="1"/>
          </p:cNvSpPr>
          <p:nvPr/>
        </p:nvSpPr>
        <p:spPr bwMode="auto">
          <a:xfrm>
            <a:off x="533400" y="5954712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3429000" y="601980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Line 24"/>
          <p:cNvSpPr>
            <a:spLocks noChangeShapeType="1"/>
          </p:cNvSpPr>
          <p:nvPr/>
        </p:nvSpPr>
        <p:spPr bwMode="auto">
          <a:xfrm>
            <a:off x="533400" y="4648200"/>
            <a:ext cx="4965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Line 25"/>
          <p:cNvSpPr>
            <a:spLocks noChangeShapeType="1"/>
          </p:cNvSpPr>
          <p:nvPr/>
        </p:nvSpPr>
        <p:spPr bwMode="auto">
          <a:xfrm>
            <a:off x="533400" y="5715000"/>
            <a:ext cx="4981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26"/>
          <p:cNvSpPr>
            <a:spLocks noChangeArrowheads="1"/>
          </p:cNvSpPr>
          <p:nvPr/>
        </p:nvSpPr>
        <p:spPr bwMode="auto">
          <a:xfrm>
            <a:off x="1447800" y="5867400"/>
            <a:ext cx="1524000" cy="6477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Line 28"/>
          <p:cNvSpPr>
            <a:spLocks noChangeShapeType="1"/>
          </p:cNvSpPr>
          <p:nvPr/>
        </p:nvSpPr>
        <p:spPr bwMode="auto">
          <a:xfrm>
            <a:off x="6934200" y="6553200"/>
            <a:ext cx="6858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Concentric Sphere Geometry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8" name="Group 8"/>
          <p:cNvGrpSpPr/>
          <p:nvPr/>
        </p:nvGrpSpPr>
        <p:grpSpPr bwMode="auto">
          <a:xfrm>
            <a:off x="266700" y="2438400"/>
            <a:ext cx="8534400" cy="3738563"/>
            <a:chOff x="240" y="1520"/>
            <a:chExt cx="5376" cy="2355"/>
          </a:xfrm>
        </p:grpSpPr>
        <p:pic>
          <p:nvPicPr>
            <p:cNvPr id="39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400"/>
              <a:ext cx="4146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0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" y="1520"/>
              <a:ext cx="3472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1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" y="3264"/>
              <a:ext cx="5344" cy="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3888" y="1725"/>
              <a:ext cx="117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(Laplace’s equation)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0" y="1981200"/>
            <a:ext cx="9144000" cy="3078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543300" y="2075656"/>
            <a:ext cx="2362200" cy="2706688"/>
            <a:chOff x="3348830" y="2017247"/>
            <a:chExt cx="2362200" cy="2706688"/>
          </a:xfrm>
        </p:grpSpPr>
        <p:grpSp>
          <p:nvGrpSpPr>
            <p:cNvPr id="3" name="组合 2"/>
            <p:cNvGrpSpPr/>
            <p:nvPr/>
          </p:nvGrpSpPr>
          <p:grpSpPr>
            <a:xfrm>
              <a:off x="3432969" y="2017247"/>
              <a:ext cx="2278061" cy="1676400"/>
              <a:chOff x="6713539" y="2133600"/>
              <a:chExt cx="2278061" cy="1676400"/>
            </a:xfrm>
          </p:grpSpPr>
          <p:grpSp>
            <p:nvGrpSpPr>
              <p:cNvPr id="55" name="Group 4"/>
              <p:cNvGrpSpPr/>
              <p:nvPr/>
            </p:nvGrpSpPr>
            <p:grpSpPr bwMode="auto">
              <a:xfrm>
                <a:off x="6726239" y="2133600"/>
                <a:ext cx="1676400" cy="1676400"/>
                <a:chOff x="3645" y="1587"/>
                <a:chExt cx="1056" cy="1056"/>
              </a:xfrm>
            </p:grpSpPr>
            <p:sp>
              <p:nvSpPr>
                <p:cNvPr id="81" name="Oval 5"/>
                <p:cNvSpPr>
                  <a:spLocks noChangeArrowheads="1"/>
                </p:cNvSpPr>
                <p:nvPr/>
              </p:nvSpPr>
              <p:spPr bwMode="auto">
                <a:xfrm>
                  <a:off x="3939" y="1872"/>
                  <a:ext cx="480" cy="480"/>
                </a:xfrm>
                <a:prstGeom prst="ellipse">
                  <a:avLst/>
                </a:prstGeom>
                <a:solidFill>
                  <a:srgbClr val="FEA0C7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Oval 6"/>
                <p:cNvSpPr>
                  <a:spLocks noChangeArrowheads="1"/>
                </p:cNvSpPr>
                <p:nvPr/>
              </p:nvSpPr>
              <p:spPr bwMode="auto">
                <a:xfrm>
                  <a:off x="3645" y="1587"/>
                  <a:ext cx="1056" cy="105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4184" y="2114"/>
                  <a:ext cx="228" cy="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Line 8"/>
                <p:cNvSpPr>
                  <a:spLocks noChangeShapeType="1"/>
                </p:cNvSpPr>
                <p:nvPr/>
              </p:nvSpPr>
              <p:spPr bwMode="auto">
                <a:xfrm>
                  <a:off x="4180" y="2117"/>
                  <a:ext cx="314" cy="4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Rectangle 9"/>
                <p:cNvSpPr>
                  <a:spLocks noChangeArrowheads="1"/>
                </p:cNvSpPr>
                <p:nvPr/>
              </p:nvSpPr>
              <p:spPr bwMode="auto">
                <a:xfrm>
                  <a:off x="4185" y="1923"/>
                  <a:ext cx="18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Rectangle 10"/>
                <p:cNvSpPr>
                  <a:spLocks noChangeArrowheads="1"/>
                </p:cNvSpPr>
                <p:nvPr/>
              </p:nvSpPr>
              <p:spPr bwMode="auto">
                <a:xfrm>
                  <a:off x="4355" y="2241"/>
                  <a:ext cx="18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6" name="Rectangle 11"/>
              <p:cNvSpPr>
                <a:spLocks noChangeArrowheads="1"/>
              </p:cNvSpPr>
              <p:nvPr/>
            </p:nvSpPr>
            <p:spPr bwMode="auto">
              <a:xfrm>
                <a:off x="7159626" y="2814638"/>
                <a:ext cx="40322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Line 12"/>
              <p:cNvSpPr>
                <a:spLocks noChangeShapeType="1"/>
              </p:cNvSpPr>
              <p:nvPr/>
            </p:nvSpPr>
            <p:spPr bwMode="auto">
              <a:xfrm flipH="1">
                <a:off x="6713539" y="2976563"/>
                <a:ext cx="474662" cy="0"/>
              </a:xfrm>
              <a:prstGeom prst="line">
                <a:avLst/>
              </a:prstGeom>
              <a:noFill/>
              <a:ln w="19050">
                <a:solidFill>
                  <a:srgbClr val="5C3CFE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13"/>
              <p:cNvSpPr>
                <a:spLocks noChangeArrowheads="1"/>
              </p:cNvSpPr>
              <p:nvPr/>
            </p:nvSpPr>
            <p:spPr bwMode="auto">
              <a:xfrm>
                <a:off x="6840539" y="2667000"/>
                <a:ext cx="338137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Rectangle 17"/>
              <p:cNvSpPr>
                <a:spLocks noChangeArrowheads="1"/>
              </p:cNvSpPr>
              <p:nvPr/>
            </p:nvSpPr>
            <p:spPr bwMode="auto">
              <a:xfrm>
                <a:off x="8308975" y="2385219"/>
                <a:ext cx="68262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" name="Rectangle 18"/>
            <p:cNvSpPr>
              <a:spLocks noChangeArrowheads="1"/>
            </p:cNvSpPr>
            <p:nvPr/>
          </p:nvSpPr>
          <p:spPr bwMode="auto">
            <a:xfrm>
              <a:off x="3444080" y="3769847"/>
              <a:ext cx="1776412" cy="954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1" charset="-128"/>
                </a:defRPr>
              </a:lvl9pPr>
            </a:lstStyle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Boundary Conditions: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AutoNum type="arabicPeriod"/>
              </a:pPr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 at </a:t>
              </a:r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 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AutoNum type="arabicPeriod"/>
              </a:pPr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 </a:t>
              </a:r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 = a</a:t>
              </a:r>
              <a:endPara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19"/>
            <p:cNvSpPr>
              <a:spLocks noChangeArrowheads="1"/>
            </p:cNvSpPr>
            <p:nvPr/>
          </p:nvSpPr>
          <p:spPr bwMode="auto">
            <a:xfrm>
              <a:off x="3348830" y="3769847"/>
              <a:ext cx="1981200" cy="954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Concentric Sphere Geometry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713539" y="2133600"/>
            <a:ext cx="2278061" cy="1676400"/>
            <a:chOff x="6713539" y="2133600"/>
            <a:chExt cx="2278061" cy="1676400"/>
          </a:xfrm>
        </p:grpSpPr>
        <p:grpSp>
          <p:nvGrpSpPr>
            <p:cNvPr id="55" name="Group 4"/>
            <p:cNvGrpSpPr/>
            <p:nvPr/>
          </p:nvGrpSpPr>
          <p:grpSpPr bwMode="auto">
            <a:xfrm>
              <a:off x="6726239" y="2133600"/>
              <a:ext cx="1676400" cy="1676400"/>
              <a:chOff x="3645" y="1587"/>
              <a:chExt cx="1056" cy="1056"/>
            </a:xfrm>
          </p:grpSpPr>
          <p:sp>
            <p:nvSpPr>
              <p:cNvPr id="81" name="Oval 5"/>
              <p:cNvSpPr>
                <a:spLocks noChangeArrowheads="1"/>
              </p:cNvSpPr>
              <p:nvPr/>
            </p:nvSpPr>
            <p:spPr bwMode="auto">
              <a:xfrm>
                <a:off x="3939" y="1872"/>
                <a:ext cx="480" cy="480"/>
              </a:xfrm>
              <a:prstGeom prst="ellipse">
                <a:avLst/>
              </a:prstGeom>
              <a:solidFill>
                <a:srgbClr val="FEA0C7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Oval 6"/>
              <p:cNvSpPr>
                <a:spLocks noChangeArrowheads="1"/>
              </p:cNvSpPr>
              <p:nvPr/>
            </p:nvSpPr>
            <p:spPr bwMode="auto">
              <a:xfrm>
                <a:off x="3645" y="1587"/>
                <a:ext cx="1056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Line 7"/>
              <p:cNvSpPr>
                <a:spLocks noChangeShapeType="1"/>
              </p:cNvSpPr>
              <p:nvPr/>
            </p:nvSpPr>
            <p:spPr bwMode="auto">
              <a:xfrm flipV="1">
                <a:off x="4184" y="2114"/>
                <a:ext cx="22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Line 8"/>
              <p:cNvSpPr>
                <a:spLocks noChangeShapeType="1"/>
              </p:cNvSpPr>
              <p:nvPr/>
            </p:nvSpPr>
            <p:spPr bwMode="auto">
              <a:xfrm>
                <a:off x="4180" y="2117"/>
                <a:ext cx="314" cy="4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4185" y="1923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4355" y="2241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7159626" y="2814638"/>
              <a:ext cx="4032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12"/>
            <p:cNvSpPr>
              <a:spLocks noChangeShapeType="1"/>
            </p:cNvSpPr>
            <p:nvPr/>
          </p:nvSpPr>
          <p:spPr bwMode="auto">
            <a:xfrm flipH="1">
              <a:off x="6713539" y="2976563"/>
              <a:ext cx="474662" cy="0"/>
            </a:xfrm>
            <a:prstGeom prst="line">
              <a:avLst/>
            </a:prstGeom>
            <a:noFill/>
            <a:ln w="19050">
              <a:solidFill>
                <a:srgbClr val="5C3CFE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6840539" y="2667000"/>
              <a:ext cx="3381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17"/>
            <p:cNvSpPr>
              <a:spLocks noChangeArrowheads="1"/>
            </p:cNvSpPr>
            <p:nvPr/>
          </p:nvSpPr>
          <p:spPr bwMode="auto">
            <a:xfrm>
              <a:off x="8308975" y="2385219"/>
              <a:ext cx="6826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Rectangle 18"/>
          <p:cNvSpPr>
            <a:spLocks noChangeArrowheads="1"/>
          </p:cNvSpPr>
          <p:nvPr/>
        </p:nvSpPr>
        <p:spPr bwMode="auto">
          <a:xfrm>
            <a:off x="6724650" y="3886200"/>
            <a:ext cx="17764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Conditions: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at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a</a:t>
            </a:r>
            <a:endParaRPr lang="en-US" altLang="zh-C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19"/>
          <p:cNvSpPr>
            <a:spLocks noChangeArrowheads="1"/>
          </p:cNvSpPr>
          <p:nvPr/>
        </p:nvSpPr>
        <p:spPr bwMode="auto">
          <a:xfrm>
            <a:off x="6629400" y="3886200"/>
            <a:ext cx="1981200" cy="954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09825"/>
            <a:ext cx="288925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3" name="Rectangle 21"/>
          <p:cNvSpPr>
            <a:spLocks noChangeArrowheads="1"/>
          </p:cNvSpPr>
          <p:nvPr/>
        </p:nvSpPr>
        <p:spPr bwMode="auto">
          <a:xfrm>
            <a:off x="616100" y="1676400"/>
            <a:ext cx="682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assumed to vary only with radius.  Laplace’s equation the becomes: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2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2360612"/>
            <a:ext cx="1736725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5" name="Picture 2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0" y="3332162"/>
            <a:ext cx="1060450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6" name="Picture 2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3384549"/>
            <a:ext cx="1719262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7" name="Picture 2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114800"/>
            <a:ext cx="305276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8" name="Picture 2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172" y="4992688"/>
            <a:ext cx="4287837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9" name="Picture 2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852723"/>
            <a:ext cx="2605087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0" name="Rectangle 28"/>
          <p:cNvSpPr>
            <a:spLocks noChangeArrowheads="1"/>
          </p:cNvSpPr>
          <p:nvPr/>
        </p:nvSpPr>
        <p:spPr bwMode="auto">
          <a:xfrm>
            <a:off x="3767138" y="2520950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or: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29"/>
          <p:cNvSpPr>
            <a:spLocks noChangeArrowheads="1"/>
          </p:cNvSpPr>
          <p:nvPr/>
        </p:nvSpPr>
        <p:spPr bwMode="auto">
          <a:xfrm>
            <a:off x="677863" y="3479800"/>
            <a:ext cx="1563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Integrate once: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30"/>
          <p:cNvSpPr>
            <a:spLocks noChangeArrowheads="1"/>
          </p:cNvSpPr>
          <p:nvPr/>
        </p:nvSpPr>
        <p:spPr bwMode="auto">
          <a:xfrm>
            <a:off x="3238500" y="3484562"/>
            <a:ext cx="1255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..and again: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31"/>
          <p:cNvSpPr>
            <a:spLocks noChangeArrowheads="1"/>
          </p:cNvSpPr>
          <p:nvPr/>
        </p:nvSpPr>
        <p:spPr bwMode="auto">
          <a:xfrm>
            <a:off x="685800" y="4265613"/>
            <a:ext cx="2262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1: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32"/>
          <p:cNvSpPr>
            <a:spLocks noChangeArrowheads="1"/>
          </p:cNvSpPr>
          <p:nvPr/>
        </p:nvSpPr>
        <p:spPr bwMode="auto">
          <a:xfrm>
            <a:off x="667109" y="4992688"/>
            <a:ext cx="2262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2: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Line 33"/>
          <p:cNvSpPr>
            <a:spLocks noChangeShapeType="1"/>
          </p:cNvSpPr>
          <p:nvPr/>
        </p:nvSpPr>
        <p:spPr bwMode="auto">
          <a:xfrm>
            <a:off x="5029200" y="4724400"/>
            <a:ext cx="762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Line 34"/>
          <p:cNvSpPr>
            <a:spLocks noChangeShapeType="1"/>
          </p:cNvSpPr>
          <p:nvPr/>
        </p:nvSpPr>
        <p:spPr bwMode="auto">
          <a:xfrm>
            <a:off x="5327172" y="5680075"/>
            <a:ext cx="1905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35"/>
          <p:cNvSpPr>
            <a:spLocks noChangeArrowheads="1"/>
          </p:cNvSpPr>
          <p:nvPr/>
        </p:nvSpPr>
        <p:spPr bwMode="auto">
          <a:xfrm>
            <a:off x="685800" y="5793985"/>
            <a:ext cx="903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36"/>
          <p:cNvSpPr>
            <a:spLocks noChangeArrowheads="1"/>
          </p:cNvSpPr>
          <p:nvPr/>
        </p:nvSpPr>
        <p:spPr bwMode="auto">
          <a:xfrm>
            <a:off x="1981200" y="5782874"/>
            <a:ext cx="2667000" cy="8001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Concentric Sphere Geometry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8" name="Group 26"/>
          <p:cNvGrpSpPr/>
          <p:nvPr/>
        </p:nvGrpSpPr>
        <p:grpSpPr bwMode="auto">
          <a:xfrm>
            <a:off x="696913" y="1752600"/>
            <a:ext cx="7327900" cy="5029200"/>
            <a:chOff x="439" y="1104"/>
            <a:chExt cx="4616" cy="3168"/>
          </a:xfrm>
        </p:grpSpPr>
        <p:pic>
          <p:nvPicPr>
            <p:cNvPr id="39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3" y="1104"/>
              <a:ext cx="1641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40" name="Group 4"/>
            <p:cNvGrpSpPr/>
            <p:nvPr/>
          </p:nvGrpSpPr>
          <p:grpSpPr bwMode="auto">
            <a:xfrm>
              <a:off x="3999" y="1344"/>
              <a:ext cx="1056" cy="1056"/>
              <a:chOff x="3645" y="1587"/>
              <a:chExt cx="1056" cy="1056"/>
            </a:xfrm>
          </p:grpSpPr>
          <p:sp>
            <p:nvSpPr>
              <p:cNvPr id="87" name="Oval 5"/>
              <p:cNvSpPr>
                <a:spLocks noChangeArrowheads="1"/>
              </p:cNvSpPr>
              <p:nvPr/>
            </p:nvSpPr>
            <p:spPr bwMode="auto">
              <a:xfrm>
                <a:off x="3939" y="1872"/>
                <a:ext cx="480" cy="480"/>
              </a:xfrm>
              <a:prstGeom prst="ellipse">
                <a:avLst/>
              </a:prstGeom>
              <a:solidFill>
                <a:srgbClr val="FEA0C7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Oval 6"/>
              <p:cNvSpPr>
                <a:spLocks noChangeArrowheads="1"/>
              </p:cNvSpPr>
              <p:nvPr/>
            </p:nvSpPr>
            <p:spPr bwMode="auto">
              <a:xfrm>
                <a:off x="3645" y="1587"/>
                <a:ext cx="1056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Line 7"/>
              <p:cNvSpPr>
                <a:spLocks noChangeShapeType="1"/>
              </p:cNvSpPr>
              <p:nvPr/>
            </p:nvSpPr>
            <p:spPr bwMode="auto">
              <a:xfrm flipV="1">
                <a:off x="4184" y="2114"/>
                <a:ext cx="22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Line 8"/>
              <p:cNvSpPr>
                <a:spLocks noChangeShapeType="1"/>
              </p:cNvSpPr>
              <p:nvPr/>
            </p:nvSpPr>
            <p:spPr bwMode="auto">
              <a:xfrm>
                <a:off x="4180" y="2117"/>
                <a:ext cx="314" cy="4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Rectangle 9"/>
              <p:cNvSpPr>
                <a:spLocks noChangeArrowheads="1"/>
              </p:cNvSpPr>
              <p:nvPr/>
            </p:nvSpPr>
            <p:spPr bwMode="auto">
              <a:xfrm>
                <a:off x="4185" y="1959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Rectangle 10"/>
              <p:cNvSpPr>
                <a:spLocks noChangeArrowheads="1"/>
              </p:cNvSpPr>
              <p:nvPr/>
            </p:nvSpPr>
            <p:spPr bwMode="auto">
              <a:xfrm>
                <a:off x="4344" y="2241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4272" y="1773"/>
              <a:ext cx="2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Line 12"/>
            <p:cNvSpPr>
              <a:spLocks noChangeShapeType="1"/>
            </p:cNvSpPr>
            <p:nvPr/>
          </p:nvSpPr>
          <p:spPr bwMode="auto">
            <a:xfrm flipH="1">
              <a:off x="3991" y="1875"/>
              <a:ext cx="299" cy="0"/>
            </a:xfrm>
            <a:prstGeom prst="line">
              <a:avLst/>
            </a:prstGeom>
            <a:noFill/>
            <a:ln w="19050">
              <a:solidFill>
                <a:srgbClr val="5C3CFE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13"/>
            <p:cNvSpPr>
              <a:spLocks noChangeArrowheads="1"/>
            </p:cNvSpPr>
            <p:nvPr/>
          </p:nvSpPr>
          <p:spPr bwMode="auto">
            <a:xfrm>
              <a:off x="4071" y="1692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14"/>
            <p:cNvSpPr>
              <a:spLocks noChangeArrowheads="1"/>
            </p:cNvSpPr>
            <p:nvPr/>
          </p:nvSpPr>
          <p:spPr bwMode="auto">
            <a:xfrm>
              <a:off x="4344" y="1152"/>
              <a:ext cx="4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15"/>
            <p:cNvSpPr>
              <a:spLocks noChangeArrowheads="1"/>
            </p:cNvSpPr>
            <p:nvPr/>
          </p:nvSpPr>
          <p:spPr bwMode="auto">
            <a:xfrm>
              <a:off x="443" y="1206"/>
              <a:ext cx="9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We now have: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16"/>
            <p:cNvSpPr>
              <a:spLocks noChangeArrowheads="1"/>
            </p:cNvSpPr>
            <p:nvPr/>
          </p:nvSpPr>
          <p:spPr bwMode="auto">
            <a:xfrm>
              <a:off x="3047" y="1222"/>
              <a:ext cx="7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8" name="Picture 1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" y="1824"/>
              <a:ext cx="3317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9" name="Picture 1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5" y="2544"/>
              <a:ext cx="2931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0" name="Picture 1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3241"/>
              <a:ext cx="3023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1" name="Picture 2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" y="3763"/>
              <a:ext cx="2004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2" name="Rectangle 21"/>
            <p:cNvSpPr>
              <a:spLocks noChangeArrowheads="1"/>
            </p:cNvSpPr>
            <p:nvPr/>
          </p:nvSpPr>
          <p:spPr bwMode="auto">
            <a:xfrm>
              <a:off x="463" y="1584"/>
              <a:ext cx="21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Electric field between conductors: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22"/>
            <p:cNvSpPr>
              <a:spLocks noChangeArrowheads="1"/>
            </p:cNvSpPr>
            <p:nvPr/>
          </p:nvSpPr>
          <p:spPr bwMode="auto">
            <a:xfrm>
              <a:off x="470" y="2304"/>
              <a:ext cx="2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Charge density on inner conductor: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23"/>
            <p:cNvSpPr>
              <a:spLocks noChangeArrowheads="1"/>
            </p:cNvSpPr>
            <p:nvPr/>
          </p:nvSpPr>
          <p:spPr bwMode="auto">
            <a:xfrm>
              <a:off x="477" y="3024"/>
              <a:ext cx="20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charge on inner conductor: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24"/>
            <p:cNvSpPr>
              <a:spLocks noChangeArrowheads="1"/>
            </p:cNvSpPr>
            <p:nvPr/>
          </p:nvSpPr>
          <p:spPr bwMode="auto">
            <a:xfrm>
              <a:off x="623" y="3876"/>
              <a:ext cx="8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Capacitance: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25"/>
            <p:cNvSpPr>
              <a:spLocks noChangeArrowheads="1"/>
            </p:cNvSpPr>
            <p:nvPr/>
          </p:nvSpPr>
          <p:spPr bwMode="auto">
            <a:xfrm>
              <a:off x="1440" y="3744"/>
              <a:ext cx="2112" cy="528"/>
            </a:xfrm>
            <a:prstGeom prst="rect">
              <a:avLst/>
            </a:prstGeom>
            <a:noFill/>
            <a:ln w="9525">
              <a:solidFill>
                <a:srgbClr val="CA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HW-6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44</a:t>
            </a:r>
            <a:endParaRPr lang="zh-CN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1"/>
            <a:ext cx="7415214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50904"/>
            <a:ext cx="7467600" cy="195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979" y="4664441"/>
            <a:ext cx="7398821" cy="188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HW-6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45</a:t>
            </a:r>
            <a:endParaRPr lang="zh-CN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53" y="1295400"/>
            <a:ext cx="8136147" cy="124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53" y="2743200"/>
            <a:ext cx="8001000" cy="1762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afd8721-d5d4-413b-992d-966f6aa5b9e5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6198</Words>
  <Application>WPS 演示</Application>
  <PresentationFormat>On-screen Show (4:3)</PresentationFormat>
  <Paragraphs>535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华文行楷</vt:lpstr>
      <vt:lpstr>Symbol</vt:lpstr>
      <vt:lpstr>微软雅黑</vt:lpstr>
      <vt:lpstr>Arial Unicode MS</vt:lpstr>
      <vt:lpstr>Calibri</vt:lpstr>
      <vt:lpstr>MS PGothic</vt:lpstr>
      <vt:lpstr>默认设计模板</vt:lpstr>
      <vt:lpstr>Engineering Electromagnetics 工程电磁场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HW-6</vt:lpstr>
      <vt:lpstr>HW-6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579</cp:revision>
  <cp:lastPrinted>2014-03-03T09:16:00Z</cp:lastPrinted>
  <dcterms:created xsi:type="dcterms:W3CDTF">2113-01-01T00:00:00Z</dcterms:created>
  <dcterms:modified xsi:type="dcterms:W3CDTF">2024-12-05T15:05:45Z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AC56128A62B349AA9656C9D50534451F</vt:lpwstr>
  </property>
  <property fmtid="{D5CDD505-2E9C-101B-9397-08002B2CF9AE}" pid="4" name="KSOProductBuildVer">
    <vt:lpwstr>2052-11.1.0.12165</vt:lpwstr>
  </property>
</Properties>
</file>