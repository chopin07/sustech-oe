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15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43"/>
  </p:handoutMasterIdLst>
  <p:sldIdLst>
    <p:sldId id="256" r:id="rId3"/>
    <p:sldId id="391" r:id="rId4"/>
    <p:sldId id="482" r:id="rId6"/>
    <p:sldId id="483" r:id="rId7"/>
    <p:sldId id="484" r:id="rId8"/>
    <p:sldId id="485" r:id="rId9"/>
    <p:sldId id="486" r:id="rId10"/>
    <p:sldId id="487" r:id="rId11"/>
    <p:sldId id="489" r:id="rId12"/>
    <p:sldId id="490" r:id="rId13"/>
    <p:sldId id="491" r:id="rId14"/>
    <p:sldId id="492" r:id="rId15"/>
    <p:sldId id="493" r:id="rId16"/>
    <p:sldId id="494" r:id="rId17"/>
    <p:sldId id="495" r:id="rId18"/>
    <p:sldId id="496" r:id="rId19"/>
    <p:sldId id="497" r:id="rId20"/>
    <p:sldId id="498" r:id="rId21"/>
    <p:sldId id="499" r:id="rId22"/>
    <p:sldId id="503" r:id="rId23"/>
    <p:sldId id="500" r:id="rId24"/>
    <p:sldId id="502" r:id="rId25"/>
    <p:sldId id="504" r:id="rId26"/>
    <p:sldId id="505" r:id="rId27"/>
    <p:sldId id="506" r:id="rId28"/>
    <p:sldId id="507" r:id="rId29"/>
    <p:sldId id="508" r:id="rId30"/>
    <p:sldId id="509" r:id="rId31"/>
    <p:sldId id="510" r:id="rId32"/>
    <p:sldId id="511" r:id="rId33"/>
    <p:sldId id="512" r:id="rId34"/>
    <p:sldId id="513" r:id="rId35"/>
    <p:sldId id="514" r:id="rId36"/>
    <p:sldId id="517" r:id="rId37"/>
    <p:sldId id="518" r:id="rId38"/>
    <p:sldId id="519" r:id="rId39"/>
    <p:sldId id="515" r:id="rId40"/>
    <p:sldId id="516" r:id="rId41"/>
    <p:sldId id="521" r:id="rId42"/>
  </p:sldIdLst>
  <p:sldSz cx="9144000" cy="6858000" type="screen4x3"/>
  <p:notesSz cx="9926320" cy="6797675"/>
  <p:custDataLst>
    <p:tags r:id="rId4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shengyi" initials="x" lastIdx="2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6600"/>
    <a:srgbClr val="333399"/>
    <a:srgbClr val="9900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16" autoAdjust="0"/>
    <p:restoredTop sz="94660"/>
  </p:normalViewPr>
  <p:slideViewPr>
    <p:cSldViewPr>
      <p:cViewPr varScale="1">
        <p:scale>
          <a:sx n="105" d="100"/>
          <a:sy n="105" d="100"/>
        </p:scale>
        <p:origin x="1962" y="96"/>
      </p:cViewPr>
      <p:guideLst>
        <p:guide orient="horz" pos="2208"/>
        <p:guide pos="295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8" Type="http://schemas.openxmlformats.org/officeDocument/2006/relationships/tags" Target="tags/tag3.xml"/><Relationship Id="rId47" Type="http://schemas.openxmlformats.org/officeDocument/2006/relationships/commentAuthors" Target="commentAuthors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3T16:54:17.654" idx="1">
    <p:pos x="4987" y="3443"/>
    <p:text>安培环路定律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3T17:22:53.011" idx="2">
    <p:pos x="3232" y="2269"/>
    <p:text>非常重要：旋度的定义和计算方式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3T17:29:55.894" idx="3">
    <p:pos x="5020" y="2518"/>
    <p:text>标量的散度的旋度始终=0</p:text>
  </p:cm>
  <p:cm authorId="1" dt="2024-12-03T17:29:46.823" idx="4">
    <p:pos x="5019" y="3022"/>
    <p:text>矢量的旋度的散度始终=0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3T17:40:58.562" idx="5">
    <p:pos x="3392" y="3060"/>
    <p:text>非常重要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3T17:58:37.329" idx="9">
    <p:pos x="3673" y="3737"/>
    <p:text>数学上的固有定律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3T17:53:59.601" idx="6">
    <p:pos x="2894" y="2530"/>
    <p:text>磁感应强度的定义，又叫磁通量</p:text>
  </p:cm>
  <p:cm authorId="1" dt="2024-12-03T17:47:41.282" idx="7">
    <p:pos x="5073" y="2712"/>
    <p:text>非常重要的前提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3T18:01:46.321" idx="8">
    <p:pos x="3054" y="2518"/>
    <p:text>重要：旋度的散度一定为0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3T18:03:04.406" idx="10">
    <p:pos x="2575" y="3130"/>
    <p:text>重要总结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3T18:03:56.908" idx="12">
    <p:pos x="3449" y="2447"/>
    <p:text>此处是我们尝试建立一个标量磁位</p:text>
  </p:cm>
  <p:cm authorId="1" dt="2024-12-03T18:13:18.580" idx="14">
    <p:pos x="5071" y="2711"/>
    <p:text>为了不与麦克斯韦方程冲突，我们发现只有在电流（密度）=0的区域，标量磁位才是合理的</p:text>
  </p:cm>
  <p:cm authorId="1" dt="2024-12-03T18:13:40.817" idx="15">
    <p:pos x="2554" y="3767"/>
    <p:text>标量磁位得出磁场强度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3T18:17:53.084" idx="16">
    <p:pos x="2352" y="3207"/>
    <p:text>可以得出标量磁位，但前提是这个区域没有电流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3T18:06:58.717" idx="13">
    <p:pos x="3143" y="2626"/>
    <p:text>根据数学上严格的定义反推出来的矢量磁位A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5T22:52:55.088" idx="17">
    <p:pos x="4956" y="3577"/>
    <p:text>非常非常重要，可以探究一下怎么来的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5T22:54:17.587" idx="18">
    <p:pos x="2741" y="2869"/>
    <p:text>这两个也是环路，一个是二维环路，一个是三维环路</p:text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5T22:57:38.605" idx="19">
    <p:pos x="3881" y="2282"/>
    <p:text>拉普拉斯对于矢量算符的运算形式</p:text>
  </p:cm>
</p:cmLst>
</file>

<file path=ppt/comments/comment1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5T23:02:04.253" idx="20">
    <p:pos x="4681" y="3743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58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>
              <a:defRPr sz="1200"/>
            </a:lvl1pPr>
          </a:lstStyle>
          <a:p>
            <a:fld id="{686A4324-7C28-4329-B2F1-5FD4B6C256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58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r">
              <a:defRPr sz="1200"/>
            </a:lvl1pPr>
          </a:lstStyle>
          <a:p>
            <a:fld id="{FA732558-7D0B-4745-B877-2B020FA1E1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pPr>
              <a:defRPr/>
            </a:pPr>
            <a:fld id="{CFCE66B6-4CF2-4562-A36E-FD57958B22D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11175"/>
            <a:ext cx="3398838" cy="2547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pPr>
              <a:defRPr/>
            </a:pPr>
            <a:fld id="{BEA14968-9F28-4550-9E62-5AFEB150A69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A915F-EF48-4E12-9322-014AC14B82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6757F-36B6-4B03-A23B-51A791095A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2D1AA-81AF-4136-B6B7-4DF8B2353D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3869A-52EA-439A-85B4-5B99DA02ADD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549B5-7C33-4401-8DCA-0C1C099D07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D6E32-8AFF-48B0-BFAA-79EFD98B79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729E0-9F39-4321-BCC4-0E383C4192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98902-1749-4578-ADD1-C8D6FC14DD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96899-CE8E-4251-8463-AEEF76D0B8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EBD7C-0FB7-467E-B4C1-280AB41F76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B3FA2-80A2-486F-B8BD-C573184B8A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67C57CB3-D73C-4ACB-B9FF-2C58343599B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comments" Target="../comments/comment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2.xml"/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0.jpeg"/><Relationship Id="rId4" Type="http://schemas.openxmlformats.org/officeDocument/2006/relationships/image" Target="../media/image39.jpeg"/><Relationship Id="rId3" Type="http://schemas.openxmlformats.org/officeDocument/2006/relationships/image" Target="../media/image38.jpeg"/><Relationship Id="rId2" Type="http://schemas.openxmlformats.org/officeDocument/2006/relationships/image" Target="../media/image37.GIF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3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png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.png"/><Relationship Id="rId2" Type="http://schemas.openxmlformats.org/officeDocument/2006/relationships/image" Target="../media/image47.png"/><Relationship Id="rId16" Type="http://schemas.openxmlformats.org/officeDocument/2006/relationships/notesSlide" Target="../notesSlides/notesSlide15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42.png"/><Relationship Id="rId13" Type="http://schemas.openxmlformats.org/officeDocument/2006/relationships/image" Target="../media/image32.png"/><Relationship Id="rId12" Type="http://schemas.openxmlformats.org/officeDocument/2006/relationships/image" Target="../media/image56.png"/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57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4.xml"/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1.png"/><Relationship Id="rId2" Type="http://schemas.openxmlformats.org/officeDocument/2006/relationships/image" Target="../media/image57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png"/><Relationship Id="rId7" Type="http://schemas.openxmlformats.org/officeDocument/2006/relationships/image" Target="../media/image73.png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65.png"/><Relationship Id="rId3" Type="http://schemas.openxmlformats.org/officeDocument/2006/relationships/image" Target="../media/image70.png"/><Relationship Id="rId2" Type="http://schemas.openxmlformats.org/officeDocument/2006/relationships/image" Target="../media/image57.png"/><Relationship Id="rId12" Type="http://schemas.openxmlformats.org/officeDocument/2006/relationships/comments" Target="../comments/comment5.xml"/><Relationship Id="rId11" Type="http://schemas.openxmlformats.org/officeDocument/2006/relationships/notesSlide" Target="../notesSlides/notesSlide20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png"/><Relationship Id="rId8" Type="http://schemas.openxmlformats.org/officeDocument/2006/relationships/image" Target="../media/image82.png"/><Relationship Id="rId7" Type="http://schemas.openxmlformats.org/officeDocument/2006/relationships/image" Target="../media/image81.png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2" Type="http://schemas.openxmlformats.org/officeDocument/2006/relationships/comments" Target="../comments/comment6.xml"/><Relationship Id="rId11" Type="http://schemas.openxmlformats.org/officeDocument/2006/relationships/notesSlide" Target="../notesSlides/notesSlide2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7.jpeg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7.xml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8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3.jpeg"/><Relationship Id="rId6" Type="http://schemas.openxmlformats.org/officeDocument/2006/relationships/image" Target="../media/image102.png"/><Relationship Id="rId5" Type="http://schemas.openxmlformats.org/officeDocument/2006/relationships/tags" Target="../tags/tag1.xml"/><Relationship Id="rId4" Type="http://schemas.openxmlformats.org/officeDocument/2006/relationships/image" Target="../media/image101.png"/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0" Type="http://schemas.openxmlformats.org/officeDocument/2006/relationships/comments" Target="../comments/comment9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10.xml"/><Relationship Id="rId8" Type="http://schemas.openxmlformats.org/officeDocument/2006/relationships/notesSlide" Target="../notesSlides/notesSlide2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8.png"/><Relationship Id="rId8" Type="http://schemas.openxmlformats.org/officeDocument/2006/relationships/image" Target="../media/image117.png"/><Relationship Id="rId7" Type="http://schemas.openxmlformats.org/officeDocument/2006/relationships/image" Target="../media/image116.png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3" Type="http://schemas.openxmlformats.org/officeDocument/2006/relationships/image" Target="../media/image112.png"/><Relationship Id="rId2" Type="http://schemas.openxmlformats.org/officeDocument/2006/relationships/image" Target="../media/image4.png"/><Relationship Id="rId15" Type="http://schemas.openxmlformats.org/officeDocument/2006/relationships/notesSlide" Target="../notesSlides/notesSlide30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22.png"/><Relationship Id="rId12" Type="http://schemas.openxmlformats.org/officeDocument/2006/relationships/image" Target="../media/image121.png"/><Relationship Id="rId11" Type="http://schemas.openxmlformats.org/officeDocument/2006/relationships/image" Target="../media/image120.png"/><Relationship Id="rId10" Type="http://schemas.openxmlformats.org/officeDocument/2006/relationships/image" Target="../media/image119.png"/><Relationship Id="rId1" Type="http://schemas.openxmlformats.org/officeDocument/2006/relationships/image" Target="../media/image108.pn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Relationship Id="rId3" Type="http://schemas.openxmlformats.org/officeDocument/2006/relationships/image" Target="../media/image123.png"/><Relationship Id="rId2" Type="http://schemas.openxmlformats.org/officeDocument/2006/relationships/image" Target="../media/image108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11.xml"/><Relationship Id="rId8" Type="http://schemas.openxmlformats.org/officeDocument/2006/relationships/notesSlide" Target="../notesSlides/notesSlide3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12.xml"/><Relationship Id="rId8" Type="http://schemas.openxmlformats.org/officeDocument/2006/relationships/notesSlide" Target="../notesSlides/notesSlide3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13.xml"/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8.png"/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Relationship Id="rId3" Type="http://schemas.openxmlformats.org/officeDocument/2006/relationships/image" Target="../media/image139.png"/><Relationship Id="rId2" Type="http://schemas.openxmlformats.org/officeDocument/2006/relationships/image" Target="../media/image131.png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14.xml"/><Relationship Id="rId8" Type="http://schemas.openxmlformats.org/officeDocument/2006/relationships/notesSlide" Target="../notesSlides/notesSlide3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Relationship Id="rId3" Type="http://schemas.openxmlformats.org/officeDocument/2006/relationships/image" Target="../media/image143.png"/><Relationship Id="rId2" Type="http://schemas.openxmlformats.org/officeDocument/2006/relationships/image" Target="../media/image130.png"/><Relationship Id="rId1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15.xml"/><Relationship Id="rId8" Type="http://schemas.openxmlformats.org/officeDocument/2006/relationships/notesSlide" Target="../notesSlides/notesSlide3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Relationship Id="rId3" Type="http://schemas.openxmlformats.org/officeDocument/2006/relationships/image" Target="../media/image147.png"/><Relationship Id="rId2" Type="http://schemas.openxmlformats.org/officeDocument/2006/relationships/image" Target="../media/image144.png"/><Relationship Id="rId1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2.png"/><Relationship Id="rId3" Type="http://schemas.openxmlformats.org/officeDocument/2006/relationships/image" Target="../media/image151.png"/><Relationship Id="rId2" Type="http://schemas.openxmlformats.org/officeDocument/2006/relationships/tags" Target="../tags/tag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828800"/>
            <a:ext cx="8534400" cy="1981200"/>
          </a:xfrm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Electromagnetics</a:t>
            </a:r>
            <a:b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00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工程电磁场</a:t>
            </a:r>
            <a:endParaRPr lang="zh-CN" altLang="en-US" sz="400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133600"/>
          </a:xfrm>
        </p:spPr>
        <p:txBody>
          <a:bodyPr/>
          <a:lstStyle/>
          <a:p>
            <a:pPr eaLnBrk="1" hangingPunct="1"/>
            <a:endParaRPr lang="zh-CN" altLang="en-US" sz="36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Youwei Jia 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嘉有为</a:t>
            </a:r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52" name="Gerade Verbindung 11"/>
          <p:cNvCxnSpPr>
            <a:cxnSpLocks noChangeShapeType="1"/>
          </p:cNvCxnSpPr>
          <p:nvPr/>
        </p:nvCxnSpPr>
        <p:spPr bwMode="auto">
          <a:xfrm>
            <a:off x="85725" y="1371600"/>
            <a:ext cx="7305675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53" name="Picture 9" descr="13829064795036"/>
          <p:cNvPicPr>
            <a:picLocks noChangeAspect="1" noChangeArrowheads="1"/>
          </p:cNvPicPr>
          <p:nvPr/>
        </p:nvPicPr>
        <p:blipFill>
          <a:blip r:embed="rId1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12713"/>
            <a:ext cx="2609850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0" descr="13829064803086"/>
          <p:cNvPicPr>
            <a:picLocks noChangeAspect="1" noChangeArrowheads="1"/>
          </p:cNvPicPr>
          <p:nvPr/>
        </p:nvPicPr>
        <p:blipFill>
          <a:blip r:embed="rId2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112713"/>
            <a:ext cx="275431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11" descr="13829064833397"/>
          <p:cNvPicPr>
            <a:picLocks noChangeAspect="1" noChangeArrowheads="1"/>
          </p:cNvPicPr>
          <p:nvPr/>
        </p:nvPicPr>
        <p:blipFill>
          <a:blip r:embed="rId3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112713"/>
            <a:ext cx="1839913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56" name="Gerade Verbindung 11"/>
          <p:cNvCxnSpPr>
            <a:cxnSpLocks noChangeShapeType="1"/>
          </p:cNvCxnSpPr>
          <p:nvPr/>
        </p:nvCxnSpPr>
        <p:spPr bwMode="auto">
          <a:xfrm>
            <a:off x="609600" y="3657600"/>
            <a:ext cx="7916863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Review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3" name="Group 14"/>
          <p:cNvGrpSpPr/>
          <p:nvPr/>
        </p:nvGrpSpPr>
        <p:grpSpPr bwMode="auto">
          <a:xfrm>
            <a:off x="411295" y="2024964"/>
            <a:ext cx="3349341" cy="2560125"/>
            <a:chOff x="2400" y="1440"/>
            <a:chExt cx="2407" cy="1818"/>
          </a:xfrm>
        </p:grpSpPr>
        <p:grpSp>
          <p:nvGrpSpPr>
            <p:cNvPr id="14" name="Group 11"/>
            <p:cNvGrpSpPr/>
            <p:nvPr/>
          </p:nvGrpSpPr>
          <p:grpSpPr bwMode="auto">
            <a:xfrm>
              <a:off x="2400" y="1440"/>
              <a:ext cx="2407" cy="1818"/>
              <a:chOff x="2400" y="1440"/>
              <a:chExt cx="2407" cy="1818"/>
            </a:xfrm>
          </p:grpSpPr>
          <p:pic>
            <p:nvPicPr>
              <p:cNvPr id="16" name="Picture 4" descr="Figure 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0" y="1488"/>
                <a:ext cx="2407" cy="17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" name="Rectangle 10"/>
              <p:cNvSpPr>
                <a:spLocks noChangeArrowheads="1"/>
              </p:cNvSpPr>
              <p:nvPr/>
            </p:nvSpPr>
            <p:spPr bwMode="auto">
              <a:xfrm>
                <a:off x="2448" y="1440"/>
                <a:ext cx="624" cy="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i="0"/>
              </a:p>
            </p:txBody>
          </p:sp>
        </p:grp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3120" y="2784"/>
              <a:ext cx="1296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i="0"/>
            </a:p>
          </p:txBody>
        </p:sp>
      </p:grpSp>
      <p:pic>
        <p:nvPicPr>
          <p:cNvPr id="18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71" y="4800600"/>
            <a:ext cx="2770187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31" descr="BiotSavar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173192"/>
            <a:ext cx="3092801" cy="289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3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806" y="1491973"/>
            <a:ext cx="2249488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5169666" y="3876013"/>
            <a:ext cx="2473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Ampere’s Circuital Law 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22172" y="1928019"/>
            <a:ext cx="1717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Biot-Savart</a:t>
            </a:r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 Law</a:t>
            </a:r>
            <a:endParaRPr lang="zh-CN" altLang="en-US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2" name="Picture 2" descr="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00" y="4255181"/>
            <a:ext cx="3409950" cy="19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678375"/>
            <a:ext cx="1905000" cy="919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Ampere’s Law as Applied to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a Small Closed Loop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1" name="Picture 2" descr="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591" y="2895600"/>
            <a:ext cx="4320618" cy="287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533400" y="1705039"/>
            <a:ext cx="81915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    Consider </a:t>
            </a:r>
            <a:r>
              <a:rPr lang="en-US" altLang="zh-CN" sz="1800" i="0" dirty="0">
                <a:solidFill>
                  <a:srgbClr val="C00000"/>
                </a:solidFill>
              </a:rPr>
              <a:t>magnetic field </a:t>
            </a:r>
            <a:r>
              <a:rPr lang="en-US" altLang="zh-CN" sz="1800" b="1" i="0" dirty="0">
                <a:solidFill>
                  <a:srgbClr val="C00000"/>
                </a:solidFill>
              </a:rPr>
              <a:t>H</a:t>
            </a:r>
            <a:r>
              <a:rPr lang="en-US" altLang="zh-CN" sz="1800" i="0" dirty="0">
                <a:solidFill>
                  <a:srgbClr val="C00000"/>
                </a:solidFill>
              </a:rPr>
              <a:t> </a:t>
            </a:r>
            <a:r>
              <a:rPr lang="en-US" altLang="zh-CN" sz="1800" i="0" dirty="0"/>
              <a:t>evaluated at the point shown in the figure. We can approximate the field over the closed path 1234 by making appropriate adjustments in the value of </a:t>
            </a:r>
            <a:r>
              <a:rPr lang="en-US" altLang="zh-CN" sz="1800" b="1" i="0" dirty="0"/>
              <a:t>H</a:t>
            </a:r>
            <a:r>
              <a:rPr lang="en-US" altLang="zh-CN" sz="1800" i="0" dirty="0"/>
              <a:t> along each segment.</a:t>
            </a:r>
            <a:endParaRPr lang="en-US" altLang="zh-CN" sz="1800" i="0" dirty="0"/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571500" y="5791200"/>
            <a:ext cx="81153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    The objective is to take the closed path integral and ultimately </a:t>
            </a:r>
            <a:r>
              <a:rPr lang="en-US" altLang="zh-CN" sz="1800" i="0" dirty="0">
                <a:solidFill>
                  <a:srgbClr val="C00000"/>
                </a:solidFill>
              </a:rPr>
              <a:t>obtain the point form of Ampere</a:t>
            </a:r>
            <a:r>
              <a:rPr lang="ja-JP" altLang="en-US" sz="1800" i="0" dirty="0">
                <a:solidFill>
                  <a:srgbClr val="C00000"/>
                </a:solidFill>
              </a:rPr>
              <a:t>’</a:t>
            </a:r>
            <a:r>
              <a:rPr lang="en-US" altLang="ja-JP" sz="1800" i="0" dirty="0">
                <a:solidFill>
                  <a:srgbClr val="C00000"/>
                </a:solidFill>
              </a:rPr>
              <a:t>s Law </a:t>
            </a:r>
            <a:r>
              <a:rPr lang="zh-CN" altLang="en-US" sz="1800" i="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安培定律的微分形式</a:t>
            </a:r>
            <a:r>
              <a:rPr lang="en-US" altLang="ja-JP" sz="1800" i="0" dirty="0"/>
              <a:t>. 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Ampere’s Law as Applied to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a Small Closed Loop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81057"/>
            <a:ext cx="266065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566738" y="2286000"/>
            <a:ext cx="3018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Along path 1-2, we may write:</a:t>
            </a:r>
            <a:endParaRPr lang="en-US" altLang="zh-CN" sz="1800" i="0" dirty="0"/>
          </a:p>
        </p:txBody>
      </p:sp>
      <p:pic>
        <p:nvPicPr>
          <p:cNvPr id="12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18" y="3850089"/>
            <a:ext cx="3281363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595493" y="3417332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where:</a:t>
            </a:r>
            <a:endParaRPr lang="en-US" altLang="zh-CN" sz="1800" i="0" dirty="0"/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609600" y="5113854"/>
            <a:ext cx="1537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And therefore:</a:t>
            </a:r>
            <a:endParaRPr lang="en-US" altLang="zh-CN" sz="1800" i="0" dirty="0"/>
          </a:p>
        </p:txBody>
      </p:sp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014" y="5608082"/>
            <a:ext cx="4176713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oup 13"/>
          <p:cNvGrpSpPr/>
          <p:nvPr/>
        </p:nvGrpSpPr>
        <p:grpSpPr bwMode="auto">
          <a:xfrm>
            <a:off x="4481512" y="2655332"/>
            <a:ext cx="3976688" cy="2643188"/>
            <a:chOff x="2640" y="1680"/>
            <a:chExt cx="2505" cy="1665"/>
          </a:xfrm>
        </p:grpSpPr>
        <p:pic>
          <p:nvPicPr>
            <p:cNvPr id="17" name="Picture 2" descr="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0" y="1680"/>
              <a:ext cx="2505" cy="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Line 12"/>
            <p:cNvSpPr>
              <a:spLocks noChangeShapeType="1"/>
            </p:cNvSpPr>
            <p:nvPr/>
          </p:nvSpPr>
          <p:spPr bwMode="auto">
            <a:xfrm>
              <a:off x="3462" y="2655"/>
              <a:ext cx="912" cy="0"/>
            </a:xfrm>
            <a:prstGeom prst="line">
              <a:avLst/>
            </a:prstGeom>
            <a:noFill/>
            <a:ln w="28575">
              <a:solidFill>
                <a:srgbClr val="2453E8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2514600" y="1752600"/>
            <a:ext cx="44328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Approximation of </a:t>
            </a:r>
            <a:r>
              <a:rPr lang="en-US" altLang="zh-CN" sz="2000" b="1" dirty="0"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</a:rPr>
              <a:t> Along One Segment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609600" y="4608914"/>
            <a:ext cx="38583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Note: Please refer to Taylor series expansion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Ampere’s Law as Applied to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a Small Closed Loop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14600" y="1752600"/>
            <a:ext cx="45929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Contributions of </a:t>
            </a:r>
            <a:r>
              <a:rPr lang="en-US" altLang="zh-CN" sz="2000" i="1" dirty="0">
                <a:latin typeface="Times New Roman" panose="02020603050405020304" pitchFamily="18" charset="0"/>
              </a:rPr>
              <a:t>y</a:t>
            </a:r>
            <a:r>
              <a:rPr lang="en-US" altLang="zh-CN" sz="2000" dirty="0">
                <a:latin typeface="Times New Roman" panose="02020603050405020304" pitchFamily="18" charset="0"/>
              </a:rPr>
              <a:t>-Directed Path Segments</a:t>
            </a:r>
            <a:endParaRPr lang="zh-CN" altLang="en-US" sz="2000" dirty="0"/>
          </a:p>
        </p:txBody>
      </p:sp>
      <p:grpSp>
        <p:nvGrpSpPr>
          <p:cNvPr id="19" name="Group 17"/>
          <p:cNvGrpSpPr/>
          <p:nvPr/>
        </p:nvGrpSpPr>
        <p:grpSpPr bwMode="auto">
          <a:xfrm>
            <a:off x="4771216" y="2919412"/>
            <a:ext cx="3976688" cy="2643188"/>
            <a:chOff x="2640" y="1680"/>
            <a:chExt cx="2505" cy="1665"/>
          </a:xfrm>
        </p:grpSpPr>
        <p:pic>
          <p:nvPicPr>
            <p:cNvPr id="20" name="Picture 2" descr="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0" y="1680"/>
              <a:ext cx="2505" cy="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Line 15"/>
            <p:cNvSpPr>
              <a:spLocks noChangeShapeType="1"/>
            </p:cNvSpPr>
            <p:nvPr/>
          </p:nvSpPr>
          <p:spPr bwMode="auto">
            <a:xfrm>
              <a:off x="3462" y="2652"/>
              <a:ext cx="912" cy="0"/>
            </a:xfrm>
            <a:prstGeom prst="line">
              <a:avLst/>
            </a:prstGeom>
            <a:noFill/>
            <a:ln w="28575">
              <a:solidFill>
                <a:srgbClr val="2453E8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16"/>
            <p:cNvSpPr>
              <a:spLocks noChangeShapeType="1"/>
            </p:cNvSpPr>
            <p:nvPr/>
          </p:nvSpPr>
          <p:spPr bwMode="auto">
            <a:xfrm>
              <a:off x="3966" y="2031"/>
              <a:ext cx="912" cy="0"/>
            </a:xfrm>
            <a:prstGeom prst="line">
              <a:avLst/>
            </a:prstGeom>
            <a:noFill/>
            <a:ln w="28575">
              <a:solidFill>
                <a:srgbClr val="2453E8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309563" y="2268747"/>
            <a:ext cx="53335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contributions from the front and back sides will be:</a:t>
            </a:r>
            <a:endParaRPr lang="en-US" altLang="zh-CN" sz="1800" i="0" dirty="0"/>
          </a:p>
        </p:txBody>
      </p:sp>
      <p:pic>
        <p:nvPicPr>
          <p:cNvPr id="2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08" y="2804438"/>
            <a:ext cx="407670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246563"/>
            <a:ext cx="41497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304800" y="3640347"/>
            <a:ext cx="41216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contribution from the opposite side is:</a:t>
            </a:r>
            <a:endParaRPr lang="en-US" altLang="zh-CN" sz="1800" i="0" dirty="0"/>
          </a:p>
        </p:txBody>
      </p:sp>
      <p:sp>
        <p:nvSpPr>
          <p:cNvPr id="27" name="Rectangle 18"/>
          <p:cNvSpPr>
            <a:spLocks noChangeArrowheads="1"/>
          </p:cNvSpPr>
          <p:nvPr/>
        </p:nvSpPr>
        <p:spPr bwMode="auto">
          <a:xfrm>
            <a:off x="381000" y="5802868"/>
            <a:ext cx="36856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This leaves the left and right sides…..</a:t>
            </a:r>
            <a:endParaRPr lang="en-US" altLang="zh-CN" sz="1800" i="0" dirty="0"/>
          </a:p>
        </p:txBody>
      </p:sp>
      <p:sp>
        <p:nvSpPr>
          <p:cNvPr id="28" name="Rectangle 19"/>
          <p:cNvSpPr>
            <a:spLocks noChangeArrowheads="1"/>
          </p:cNvSpPr>
          <p:nvPr/>
        </p:nvSpPr>
        <p:spPr bwMode="auto">
          <a:xfrm>
            <a:off x="374160" y="5054025"/>
            <a:ext cx="427404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600" i="0" dirty="0"/>
              <a:t>Note the </a:t>
            </a:r>
            <a:r>
              <a:rPr lang="en-US" altLang="zh-CN" sz="1600" i="0" dirty="0">
                <a:solidFill>
                  <a:srgbClr val="C00000"/>
                </a:solidFill>
              </a:rPr>
              <a:t>path directions </a:t>
            </a:r>
            <a:r>
              <a:rPr lang="en-US" altLang="zh-CN" sz="1600" i="0" dirty="0"/>
              <a:t>as specified in the figure, and how these determine the </a:t>
            </a:r>
            <a:r>
              <a:rPr lang="en-US" altLang="zh-CN" sz="1600" i="0" dirty="0">
                <a:solidFill>
                  <a:srgbClr val="C00000"/>
                </a:solidFill>
              </a:rPr>
              <a:t>signs</a:t>
            </a:r>
            <a:r>
              <a:rPr lang="en-US" altLang="zh-CN" sz="1600" i="0" dirty="0"/>
              <a:t> used .</a:t>
            </a:r>
            <a:endParaRPr lang="en-US" altLang="zh-CN" sz="1600" i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Ampere’s Law as Applied to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a Small Closed Loop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14600" y="1752600"/>
            <a:ext cx="45929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Contributions of </a:t>
            </a:r>
            <a:r>
              <a:rPr lang="en-US" altLang="zh-CN" sz="2000" i="1" dirty="0">
                <a:latin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</a:rPr>
              <a:t>-Directed Path Segments</a:t>
            </a:r>
            <a:endParaRPr lang="zh-CN" altLang="en-US" sz="2000" dirty="0"/>
          </a:p>
        </p:txBody>
      </p:sp>
      <p:grpSp>
        <p:nvGrpSpPr>
          <p:cNvPr id="18" name="Group 13"/>
          <p:cNvGrpSpPr/>
          <p:nvPr/>
        </p:nvGrpSpPr>
        <p:grpSpPr bwMode="auto">
          <a:xfrm>
            <a:off x="4786312" y="2480896"/>
            <a:ext cx="3976688" cy="2643188"/>
            <a:chOff x="2640" y="1680"/>
            <a:chExt cx="2505" cy="1665"/>
          </a:xfrm>
        </p:grpSpPr>
        <p:pic>
          <p:nvPicPr>
            <p:cNvPr id="29" name="Picture 3" descr="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0" y="1680"/>
              <a:ext cx="2505" cy="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Line 4"/>
            <p:cNvSpPr>
              <a:spLocks noChangeShapeType="1"/>
            </p:cNvSpPr>
            <p:nvPr/>
          </p:nvSpPr>
          <p:spPr bwMode="auto">
            <a:xfrm flipV="1">
              <a:off x="3462" y="2044"/>
              <a:ext cx="490" cy="608"/>
            </a:xfrm>
            <a:prstGeom prst="line">
              <a:avLst/>
            </a:prstGeom>
            <a:noFill/>
            <a:ln w="28575">
              <a:solidFill>
                <a:srgbClr val="2453E8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5"/>
            <p:cNvSpPr>
              <a:spLocks noChangeShapeType="1"/>
            </p:cNvSpPr>
            <p:nvPr/>
          </p:nvSpPr>
          <p:spPr bwMode="auto">
            <a:xfrm flipV="1">
              <a:off x="4390" y="2034"/>
              <a:ext cx="491" cy="619"/>
            </a:xfrm>
            <a:prstGeom prst="line">
              <a:avLst/>
            </a:prstGeom>
            <a:noFill/>
            <a:ln w="28575">
              <a:solidFill>
                <a:srgbClr val="2453E8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401128" y="2296230"/>
            <a:ext cx="30636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Along the right side (path 2-3):</a:t>
            </a:r>
            <a:endParaRPr lang="en-US" altLang="zh-CN" sz="1800" i="0"/>
          </a:p>
        </p:txBody>
      </p:sp>
      <p:sp>
        <p:nvSpPr>
          <p:cNvPr id="33" name="Rectangle 10"/>
          <p:cNvSpPr>
            <a:spLocks noChangeArrowheads="1"/>
          </p:cNvSpPr>
          <p:nvPr/>
        </p:nvSpPr>
        <p:spPr bwMode="auto">
          <a:xfrm>
            <a:off x="381000" y="3733800"/>
            <a:ext cx="430512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…and the contribution from the left side (path 4-1) is:</a:t>
            </a:r>
            <a:endParaRPr lang="en-US" altLang="zh-CN" sz="1800" i="0" dirty="0"/>
          </a:p>
        </p:txBody>
      </p:sp>
      <p:pic>
        <p:nvPicPr>
          <p:cNvPr id="34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97" y="2971800"/>
            <a:ext cx="420528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1" y="4572000"/>
            <a:ext cx="4013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Rectangle 15"/>
          <p:cNvSpPr>
            <a:spLocks noChangeArrowheads="1"/>
          </p:cNvSpPr>
          <p:nvPr/>
        </p:nvSpPr>
        <p:spPr bwMode="auto">
          <a:xfrm>
            <a:off x="442913" y="5486400"/>
            <a:ext cx="83215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next step is to add the contributions of all four sides to find the closed path integral: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Ampere’s Law as Applied to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a Small Closed Loop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7" name="Group 14"/>
          <p:cNvGrpSpPr/>
          <p:nvPr/>
        </p:nvGrpSpPr>
        <p:grpSpPr bwMode="auto">
          <a:xfrm>
            <a:off x="4862513" y="3667036"/>
            <a:ext cx="3976687" cy="2643187"/>
            <a:chOff x="2640" y="1680"/>
            <a:chExt cx="2505" cy="1665"/>
          </a:xfrm>
        </p:grpSpPr>
        <p:pic>
          <p:nvPicPr>
            <p:cNvPr id="19" name="Picture 3" descr="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0" y="1680"/>
              <a:ext cx="2505" cy="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Line 4"/>
            <p:cNvSpPr>
              <a:spLocks noChangeShapeType="1"/>
            </p:cNvSpPr>
            <p:nvPr/>
          </p:nvSpPr>
          <p:spPr bwMode="auto">
            <a:xfrm flipV="1">
              <a:off x="3462" y="2044"/>
              <a:ext cx="490" cy="608"/>
            </a:xfrm>
            <a:prstGeom prst="line">
              <a:avLst/>
            </a:prstGeom>
            <a:noFill/>
            <a:ln w="28575">
              <a:solidFill>
                <a:srgbClr val="2453E8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5"/>
            <p:cNvSpPr>
              <a:spLocks noChangeShapeType="1"/>
            </p:cNvSpPr>
            <p:nvPr/>
          </p:nvSpPr>
          <p:spPr bwMode="auto">
            <a:xfrm flipV="1">
              <a:off x="4390" y="2034"/>
              <a:ext cx="491" cy="619"/>
            </a:xfrm>
            <a:prstGeom prst="line">
              <a:avLst/>
            </a:prstGeom>
            <a:noFill/>
            <a:ln w="28575">
              <a:solidFill>
                <a:srgbClr val="2453E8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12"/>
            <p:cNvSpPr>
              <a:spLocks noChangeShapeType="1"/>
            </p:cNvSpPr>
            <p:nvPr/>
          </p:nvSpPr>
          <p:spPr bwMode="auto">
            <a:xfrm flipV="1">
              <a:off x="3453" y="2656"/>
              <a:ext cx="935" cy="2"/>
            </a:xfrm>
            <a:prstGeom prst="line">
              <a:avLst/>
            </a:prstGeom>
            <a:noFill/>
            <a:ln w="28575">
              <a:solidFill>
                <a:srgbClr val="2453E8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13"/>
            <p:cNvSpPr>
              <a:spLocks noChangeShapeType="1"/>
            </p:cNvSpPr>
            <p:nvPr/>
          </p:nvSpPr>
          <p:spPr bwMode="auto">
            <a:xfrm flipV="1">
              <a:off x="3952" y="2034"/>
              <a:ext cx="935" cy="2"/>
            </a:xfrm>
            <a:prstGeom prst="line">
              <a:avLst/>
            </a:prstGeom>
            <a:noFill/>
            <a:ln w="28575">
              <a:solidFill>
                <a:srgbClr val="2453E8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4" name="Picture 1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038600"/>
            <a:ext cx="3455988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5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06" y="2251074"/>
            <a:ext cx="7596188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6" name="Rectangle 17"/>
          <p:cNvSpPr>
            <a:spLocks noChangeArrowheads="1"/>
          </p:cNvSpPr>
          <p:nvPr/>
        </p:nvSpPr>
        <p:spPr bwMode="auto">
          <a:xfrm>
            <a:off x="631825" y="1751013"/>
            <a:ext cx="37689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total integral will now be the sum:</a:t>
            </a:r>
            <a:endParaRPr lang="en-US" altLang="zh-CN" sz="1800" i="0" dirty="0"/>
          </a:p>
        </p:txBody>
      </p:sp>
      <p:sp>
        <p:nvSpPr>
          <p:cNvPr id="27" name="Rectangle 18"/>
          <p:cNvSpPr>
            <a:spLocks noChangeArrowheads="1"/>
          </p:cNvSpPr>
          <p:nvPr/>
        </p:nvSpPr>
        <p:spPr bwMode="auto">
          <a:xfrm>
            <a:off x="642938" y="3176588"/>
            <a:ext cx="42819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and using our previous results, the becomes:</a:t>
            </a:r>
            <a:endParaRPr lang="en-US" altLang="zh-CN" sz="1800" i="0" dirty="0"/>
          </a:p>
        </p:txBody>
      </p:sp>
      <p:sp>
        <p:nvSpPr>
          <p:cNvPr id="28" name="Line 19"/>
          <p:cNvSpPr>
            <a:spLocks noChangeShapeType="1"/>
          </p:cNvSpPr>
          <p:nvPr/>
        </p:nvSpPr>
        <p:spPr bwMode="auto">
          <a:xfrm>
            <a:off x="762000" y="4800600"/>
            <a:ext cx="3429000" cy="0"/>
          </a:xfrm>
          <a:prstGeom prst="line">
            <a:avLst/>
          </a:prstGeom>
          <a:noFill/>
          <a:ln w="19050">
            <a:solidFill>
              <a:srgbClr val="CC006B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Ampere’s Law as Applied to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a Small Closed Loop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533650"/>
            <a:ext cx="470693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" name="Group 18"/>
          <p:cNvGrpSpPr/>
          <p:nvPr/>
        </p:nvGrpSpPr>
        <p:grpSpPr bwMode="auto">
          <a:xfrm>
            <a:off x="4879181" y="3428206"/>
            <a:ext cx="3976687" cy="2643187"/>
            <a:chOff x="2679" y="2079"/>
            <a:chExt cx="2505" cy="1665"/>
          </a:xfrm>
        </p:grpSpPr>
        <p:pic>
          <p:nvPicPr>
            <p:cNvPr id="30" name="Picture 4" descr="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9" y="2079"/>
              <a:ext cx="2505" cy="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" name="Line 15"/>
            <p:cNvSpPr>
              <a:spLocks noChangeShapeType="1"/>
            </p:cNvSpPr>
            <p:nvPr/>
          </p:nvSpPr>
          <p:spPr bwMode="auto">
            <a:xfrm flipV="1">
              <a:off x="4278" y="2256"/>
              <a:ext cx="0" cy="480"/>
            </a:xfrm>
            <a:prstGeom prst="line">
              <a:avLst/>
            </a:prstGeom>
            <a:noFill/>
            <a:ln w="28575">
              <a:solidFill>
                <a:srgbClr val="2453E8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16"/>
            <p:cNvSpPr>
              <a:spLocks noChangeShapeType="1"/>
            </p:cNvSpPr>
            <p:nvPr/>
          </p:nvSpPr>
          <p:spPr bwMode="auto">
            <a:xfrm flipV="1">
              <a:off x="4137" y="2262"/>
              <a:ext cx="0" cy="480"/>
            </a:xfrm>
            <a:prstGeom prst="line">
              <a:avLst/>
            </a:prstGeom>
            <a:noFill/>
            <a:ln w="28575">
              <a:solidFill>
                <a:srgbClr val="2453E8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33" name="Picture 1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0" y="2496"/>
              <a:ext cx="150" cy="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sp>
        <p:nvSpPr>
          <p:cNvPr id="34" name="Rectangle 19"/>
          <p:cNvSpPr>
            <a:spLocks noChangeArrowheads="1"/>
          </p:cNvSpPr>
          <p:nvPr/>
        </p:nvSpPr>
        <p:spPr bwMode="auto">
          <a:xfrm>
            <a:off x="627063" y="187483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sp>
        <p:nvSpPr>
          <p:cNvPr id="35" name="Rectangle 20"/>
          <p:cNvSpPr>
            <a:spLocks noChangeArrowheads="1"/>
          </p:cNvSpPr>
          <p:nvPr/>
        </p:nvSpPr>
        <p:spPr bwMode="auto">
          <a:xfrm>
            <a:off x="364301" y="1663699"/>
            <a:ext cx="809389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  By Ampere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s Law, the closed path integral of </a:t>
            </a:r>
            <a:r>
              <a:rPr lang="en-US" altLang="ja-JP" sz="1800" b="1" i="0" dirty="0"/>
              <a:t>H </a:t>
            </a:r>
            <a:r>
              <a:rPr lang="en-US" altLang="ja-JP" sz="1800" i="0" dirty="0"/>
              <a:t>is equal to the enclosed current, approximated in </a:t>
            </a:r>
            <a:r>
              <a:rPr lang="en-US" altLang="zh-CN" sz="1800" i="0" dirty="0"/>
              <a:t>this case by the current density at the center, multiplied by the loop area:</a:t>
            </a:r>
            <a:endParaRPr lang="en-US" altLang="zh-CN" sz="1800" i="0" dirty="0"/>
          </a:p>
        </p:txBody>
      </p:sp>
      <p:pic>
        <p:nvPicPr>
          <p:cNvPr id="36" name="Picture 2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72" y="3878263"/>
            <a:ext cx="3473450" cy="69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7" name="Rectangle 22"/>
          <p:cNvSpPr>
            <a:spLocks noChangeArrowheads="1"/>
          </p:cNvSpPr>
          <p:nvPr/>
        </p:nvSpPr>
        <p:spPr bwMode="auto">
          <a:xfrm>
            <a:off x="469145" y="3243540"/>
            <a:ext cx="3942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Dividing by the loop area, we now have:</a:t>
            </a:r>
            <a:endParaRPr lang="en-US" altLang="zh-CN" sz="1800" i="0" dirty="0"/>
          </a:p>
        </p:txBody>
      </p:sp>
      <p:sp>
        <p:nvSpPr>
          <p:cNvPr id="38" name="Rectangle 24"/>
          <p:cNvSpPr>
            <a:spLocks noChangeArrowheads="1"/>
          </p:cNvSpPr>
          <p:nvPr/>
        </p:nvSpPr>
        <p:spPr bwMode="auto">
          <a:xfrm>
            <a:off x="492125" y="4749799"/>
            <a:ext cx="44999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expression becomes exact as the loop area</a:t>
            </a:r>
            <a:endParaRPr lang="en-US" altLang="zh-CN" sz="1800" i="0" dirty="0"/>
          </a:p>
          <a:p>
            <a:r>
              <a:rPr lang="en-US" altLang="zh-CN" sz="1800" i="0" dirty="0"/>
              <a:t>approaches zero:</a:t>
            </a:r>
            <a:endParaRPr lang="en-US" altLang="zh-CN" sz="1800" i="0" dirty="0"/>
          </a:p>
        </p:txBody>
      </p:sp>
      <p:sp>
        <p:nvSpPr>
          <p:cNvPr id="39" name="Line 25"/>
          <p:cNvSpPr>
            <a:spLocks noChangeShapeType="1"/>
          </p:cNvSpPr>
          <p:nvPr/>
        </p:nvSpPr>
        <p:spPr bwMode="auto">
          <a:xfrm>
            <a:off x="609600" y="6400800"/>
            <a:ext cx="4269581" cy="0"/>
          </a:xfrm>
          <a:prstGeom prst="line">
            <a:avLst/>
          </a:prstGeom>
          <a:noFill/>
          <a:ln w="28575">
            <a:solidFill>
              <a:srgbClr val="CC006B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0" name="Picture 2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5638800"/>
            <a:ext cx="4076700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18"/>
          <p:cNvGrpSpPr/>
          <p:nvPr/>
        </p:nvGrpSpPr>
        <p:grpSpPr bwMode="auto">
          <a:xfrm>
            <a:off x="6324601" y="3001478"/>
            <a:ext cx="2743200" cy="1940409"/>
            <a:chOff x="2679" y="2079"/>
            <a:chExt cx="2505" cy="1665"/>
          </a:xfrm>
        </p:grpSpPr>
        <p:pic>
          <p:nvPicPr>
            <p:cNvPr id="48" name="Picture 4" descr="7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9" y="2079"/>
              <a:ext cx="2505" cy="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Line 15"/>
            <p:cNvSpPr>
              <a:spLocks noChangeShapeType="1"/>
            </p:cNvSpPr>
            <p:nvPr/>
          </p:nvSpPr>
          <p:spPr bwMode="auto">
            <a:xfrm flipV="1">
              <a:off x="4278" y="2256"/>
              <a:ext cx="0" cy="480"/>
            </a:xfrm>
            <a:prstGeom prst="line">
              <a:avLst/>
            </a:prstGeom>
            <a:noFill/>
            <a:ln w="28575">
              <a:solidFill>
                <a:srgbClr val="2453E8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16"/>
            <p:cNvSpPr>
              <a:spLocks noChangeShapeType="1"/>
            </p:cNvSpPr>
            <p:nvPr/>
          </p:nvSpPr>
          <p:spPr bwMode="auto">
            <a:xfrm flipV="1">
              <a:off x="4137" y="2262"/>
              <a:ext cx="0" cy="480"/>
            </a:xfrm>
            <a:prstGeom prst="line">
              <a:avLst/>
            </a:prstGeom>
            <a:noFill/>
            <a:ln w="28575">
              <a:solidFill>
                <a:srgbClr val="2453E8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51" name="Picture 1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0" y="2496"/>
              <a:ext cx="150" cy="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Ampere’s Law as Applied to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a Small Closed Loop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82408" y="1600200"/>
            <a:ext cx="27029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Other Loop Orientations</a:t>
            </a:r>
            <a:endParaRPr lang="zh-CN" altLang="en-US" sz="2000" dirty="0"/>
          </a:p>
        </p:txBody>
      </p:sp>
      <p:sp>
        <p:nvSpPr>
          <p:cNvPr id="22" name="Rectangle 6"/>
          <p:cNvSpPr>
            <a:spLocks noChangeArrowheads="1"/>
          </p:cNvSpPr>
          <p:nvPr/>
        </p:nvSpPr>
        <p:spPr bwMode="auto">
          <a:xfrm>
            <a:off x="600075" y="2020669"/>
            <a:ext cx="82391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   The same exercise can be carried with the rectangular loop in the other two orthogonal orientations. The results are:</a:t>
            </a:r>
            <a:endParaRPr lang="en-US" altLang="zh-CN" sz="1800" i="0" dirty="0"/>
          </a:p>
        </p:txBody>
      </p:sp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336" y="4941887"/>
            <a:ext cx="4259263" cy="620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41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286" y="2871787"/>
            <a:ext cx="423227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42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048" y="3919537"/>
            <a:ext cx="4214813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44" name="Rectangle 7"/>
          <p:cNvSpPr>
            <a:spLocks noChangeArrowheads="1"/>
          </p:cNvSpPr>
          <p:nvPr/>
        </p:nvSpPr>
        <p:spPr bwMode="auto">
          <a:xfrm>
            <a:off x="533400" y="3028950"/>
            <a:ext cx="1806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Loop in </a:t>
            </a:r>
            <a:r>
              <a:rPr lang="en-US" altLang="zh-CN" sz="1800" i="1" dirty="0" err="1"/>
              <a:t>yz</a:t>
            </a:r>
            <a:r>
              <a:rPr lang="en-US" altLang="zh-CN" sz="1800" dirty="0"/>
              <a:t> </a:t>
            </a:r>
            <a:r>
              <a:rPr lang="en-US" altLang="zh-CN" sz="1800" i="0" dirty="0"/>
              <a:t>plane:</a:t>
            </a:r>
            <a:endParaRPr lang="en-US" altLang="zh-CN" sz="1800" i="0" dirty="0"/>
          </a:p>
        </p:txBody>
      </p:sp>
      <p:sp>
        <p:nvSpPr>
          <p:cNvPr id="45" name="Rectangle 8"/>
          <p:cNvSpPr>
            <a:spLocks noChangeArrowheads="1"/>
          </p:cNvSpPr>
          <p:nvPr/>
        </p:nvSpPr>
        <p:spPr bwMode="auto">
          <a:xfrm>
            <a:off x="534988" y="4095750"/>
            <a:ext cx="1806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Loop in </a:t>
            </a:r>
            <a:r>
              <a:rPr lang="en-US" altLang="zh-CN" sz="1800" i="1" dirty="0" err="1"/>
              <a:t>xz</a:t>
            </a:r>
            <a:r>
              <a:rPr lang="en-US" altLang="zh-CN" sz="1800" dirty="0"/>
              <a:t> </a:t>
            </a:r>
            <a:r>
              <a:rPr lang="en-US" altLang="zh-CN" sz="1800" i="0" dirty="0"/>
              <a:t>plane:</a:t>
            </a:r>
            <a:endParaRPr lang="en-US" altLang="zh-CN" sz="1800" i="0" dirty="0"/>
          </a:p>
        </p:txBody>
      </p:sp>
      <p:sp>
        <p:nvSpPr>
          <p:cNvPr id="46" name="Rectangle 9"/>
          <p:cNvSpPr>
            <a:spLocks noChangeArrowheads="1"/>
          </p:cNvSpPr>
          <p:nvPr/>
        </p:nvSpPr>
        <p:spPr bwMode="auto">
          <a:xfrm>
            <a:off x="536575" y="5086350"/>
            <a:ext cx="1819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Loop in </a:t>
            </a:r>
            <a:r>
              <a:rPr lang="en-US" altLang="zh-CN" sz="1800" i="1" dirty="0" err="1"/>
              <a:t>xy</a:t>
            </a:r>
            <a:r>
              <a:rPr lang="en-US" altLang="zh-CN" sz="1800" dirty="0"/>
              <a:t> </a:t>
            </a:r>
            <a:r>
              <a:rPr lang="en-US" altLang="zh-CN" sz="1800" i="0" dirty="0"/>
              <a:t>plane:</a:t>
            </a:r>
            <a:endParaRPr lang="en-US" altLang="zh-CN" sz="1800" i="0" dirty="0"/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866775" y="5867400"/>
            <a:ext cx="5686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This gives all three components of the current density field.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Curl of a Vector Field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矢量场的旋度，旋度场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2" name="Rectangle 3"/>
          <p:cNvSpPr>
            <a:spLocks noChangeArrowheads="1"/>
          </p:cNvSpPr>
          <p:nvPr/>
        </p:nvSpPr>
        <p:spPr bwMode="auto">
          <a:xfrm>
            <a:off x="692115" y="1676400"/>
            <a:ext cx="791848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    The previous exercise resulted in </a:t>
            </a:r>
            <a:r>
              <a:rPr lang="en-US" altLang="zh-CN" sz="1800" i="0" dirty="0">
                <a:solidFill>
                  <a:srgbClr val="C00000"/>
                </a:solidFill>
              </a:rPr>
              <a:t>the rectangular coordinate representation of the </a:t>
            </a:r>
            <a:r>
              <a:rPr lang="en-US" altLang="zh-CN" sz="1800" dirty="0">
                <a:solidFill>
                  <a:srgbClr val="C00000"/>
                </a:solidFill>
              </a:rPr>
              <a:t>Curl </a:t>
            </a:r>
            <a:r>
              <a:rPr lang="en-US" altLang="zh-CN" sz="1800" i="0" dirty="0">
                <a:solidFill>
                  <a:srgbClr val="C00000"/>
                </a:solidFill>
              </a:rPr>
              <a:t>of </a:t>
            </a:r>
            <a:r>
              <a:rPr lang="en-US" altLang="zh-CN" sz="1800" b="1" i="0" dirty="0">
                <a:solidFill>
                  <a:srgbClr val="C00000"/>
                </a:solidFill>
              </a:rPr>
              <a:t>H</a:t>
            </a:r>
            <a:r>
              <a:rPr lang="en-US" altLang="zh-CN" sz="1800" i="0" dirty="0"/>
              <a:t>.</a:t>
            </a:r>
            <a:endParaRPr lang="en-US" altLang="zh-CN" sz="1800" i="0" dirty="0"/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auto">
          <a:xfrm>
            <a:off x="684776" y="2304871"/>
            <a:ext cx="807822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solidFill>
                  <a:srgbClr val="C00000"/>
                </a:solidFill>
              </a:rPr>
              <a:t>     In general, the curl of a vector field is another field that is normal to the original field. </a:t>
            </a:r>
            <a:r>
              <a:rPr lang="en-US" altLang="zh-CN" sz="1800" dirty="0"/>
              <a:t>The curl component in the direction </a:t>
            </a:r>
            <a:r>
              <a:rPr lang="en-US" altLang="zh-CN" sz="1800" i="1" dirty="0"/>
              <a:t>N</a:t>
            </a:r>
            <a:r>
              <a:rPr lang="en-US" altLang="zh-CN" sz="1800" dirty="0"/>
              <a:t>, normal to the plane of the integration loop is: </a:t>
            </a:r>
            <a:endParaRPr lang="en-US" altLang="zh-CN" sz="1800" dirty="0"/>
          </a:p>
          <a:p>
            <a:endParaRPr lang="en-US" altLang="zh-CN" sz="1800" i="0" dirty="0">
              <a:solidFill>
                <a:srgbClr val="C00000"/>
              </a:solidFill>
            </a:endParaRPr>
          </a:p>
        </p:txBody>
      </p:sp>
      <p:pic>
        <p:nvPicPr>
          <p:cNvPr id="55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276600"/>
            <a:ext cx="3153416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56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343400"/>
            <a:ext cx="5751547" cy="290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7" name="Rectangle 8"/>
          <p:cNvSpPr>
            <a:spLocks noChangeArrowheads="1"/>
          </p:cNvSpPr>
          <p:nvPr/>
        </p:nvSpPr>
        <p:spPr bwMode="auto">
          <a:xfrm>
            <a:off x="696428" y="4953000"/>
            <a:ext cx="814277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    The direction of </a:t>
            </a:r>
            <a:r>
              <a:rPr lang="en-US" altLang="zh-CN" sz="1800" i="1" dirty="0"/>
              <a:t>N</a:t>
            </a:r>
            <a:r>
              <a:rPr lang="en-US" altLang="zh-CN" sz="1800" i="0" dirty="0"/>
              <a:t> is taken using the </a:t>
            </a:r>
            <a:r>
              <a:rPr lang="en-US" altLang="zh-CN" sz="1800" i="0" dirty="0">
                <a:solidFill>
                  <a:srgbClr val="C00000"/>
                </a:solidFill>
              </a:rPr>
              <a:t>right-hand convention</a:t>
            </a:r>
            <a:r>
              <a:rPr lang="en-US" altLang="zh-CN" sz="1800" i="0" dirty="0"/>
              <a:t>:  With fingers of the right hand oriented in the direction of the path integral, the thumb points in the direction of the normal (or curl).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Curl in Rectangular Coordinates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85" y="2347057"/>
            <a:ext cx="6668815" cy="744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432199" y="1666220"/>
            <a:ext cx="868705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   Assembling the results of the rectangular loop integration exercise, we find the vector field</a:t>
            </a:r>
            <a:endParaRPr lang="en-US" altLang="zh-CN" sz="1800" i="0" dirty="0"/>
          </a:p>
          <a:p>
            <a:r>
              <a:rPr lang="en-US" altLang="zh-CN" sz="1800" i="0" dirty="0"/>
              <a:t>that comprises curl </a:t>
            </a:r>
            <a:r>
              <a:rPr lang="en-US" altLang="zh-CN" sz="1800" b="1" i="0" dirty="0"/>
              <a:t>H</a:t>
            </a:r>
            <a:r>
              <a:rPr lang="en-US" altLang="zh-CN" sz="1800" i="0" dirty="0"/>
              <a:t>:</a:t>
            </a:r>
            <a:endParaRPr lang="en-US" altLang="zh-CN" sz="1800" i="0" dirty="0"/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495699" y="3268007"/>
            <a:ext cx="66800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An easy way to calculate this is to evaluate the following determinant:</a:t>
            </a:r>
            <a:endParaRPr lang="en-US" altLang="zh-CN" sz="1800" i="0"/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234" y="3810000"/>
            <a:ext cx="2366963" cy="13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522881" y="5344671"/>
            <a:ext cx="76418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which we see is equivalent to the cross product of the </a:t>
            </a:r>
            <a:r>
              <a:rPr lang="en-US" altLang="zh-CN" sz="1800" i="0" dirty="0">
                <a:solidFill>
                  <a:srgbClr val="C00000"/>
                </a:solidFill>
              </a:rPr>
              <a:t>del operator </a:t>
            </a:r>
            <a:r>
              <a:rPr lang="en-US" altLang="zh-CN" sz="1800" i="0" dirty="0"/>
              <a:t>with the field:</a:t>
            </a:r>
            <a:endParaRPr lang="en-US" altLang="zh-CN" sz="1800" i="0" dirty="0"/>
          </a:p>
        </p:txBody>
      </p:sp>
      <p:pic>
        <p:nvPicPr>
          <p:cNvPr id="17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490" y="5915025"/>
            <a:ext cx="1773238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063242"/>
            <a:ext cx="2754517" cy="793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Curl in Other Coordinate Systems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73" y="2438400"/>
            <a:ext cx="4497388" cy="135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215" y="4191000"/>
            <a:ext cx="6088063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929340" y="1770827"/>
            <a:ext cx="27943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…a little more complicated!</a:t>
            </a:r>
            <a:endParaRPr lang="en-US" altLang="zh-CN" sz="1800" i="0"/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888064" y="5753349"/>
            <a:ext cx="27430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Look these up as needed….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Visualization of Curl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050" name="Picture 2" descr="C:\Users\dpcuser\Desktop\About Teaching\工程电磁场\Instructor Notes\Lecture 11\magcur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625" y="1752600"/>
            <a:ext cx="2761812" cy="216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dpcuser\Desktop\About Teaching\工程电磁场\Instructor Notes\Lecture 11\eye-of-tornado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02" y="4151197"/>
            <a:ext cx="3126998" cy="2446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dpcuser\Desktop\About Teaching\工程电磁场\Instructor Notes\Lecture 11\jet_engine_5662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8559" y="1143000"/>
            <a:ext cx="2075813" cy="277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dpcuser\Desktop\About Teaching\工程电磁场\Instructor Notes\Lecture 11\Whirlpool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845" y="4151198"/>
            <a:ext cx="3668523" cy="244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Another Maxwell Equation: Point form of Ampere’s Law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151" y="2362200"/>
            <a:ext cx="49815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938557" y="1861389"/>
            <a:ext cx="3346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It has just been demonstrated that:</a:t>
            </a:r>
            <a:endParaRPr lang="en-US" altLang="zh-CN" sz="1800" i="0" dirty="0"/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1362075" y="3949701"/>
            <a:ext cx="6121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…..which is in fact one of </a:t>
            </a:r>
            <a:r>
              <a:rPr lang="en-US" altLang="zh-CN" sz="1800" i="0" dirty="0">
                <a:solidFill>
                  <a:srgbClr val="C00000"/>
                </a:solidFill>
              </a:rPr>
              <a:t>Maxwell</a:t>
            </a:r>
            <a:r>
              <a:rPr lang="ja-JP" altLang="en-US" sz="1800" i="0" dirty="0">
                <a:solidFill>
                  <a:srgbClr val="C00000"/>
                </a:solidFill>
              </a:rPr>
              <a:t>’</a:t>
            </a:r>
            <a:r>
              <a:rPr lang="en-US" altLang="ja-JP" sz="1800" i="0" dirty="0">
                <a:solidFill>
                  <a:srgbClr val="C00000"/>
                </a:solidFill>
              </a:rPr>
              <a:t>s equations for static fields</a:t>
            </a:r>
            <a:r>
              <a:rPr lang="en-US" altLang="ja-JP" sz="1800" i="0" dirty="0"/>
              <a:t>:</a:t>
            </a:r>
            <a:endParaRPr lang="en-US" altLang="zh-CN" sz="1800" i="0" dirty="0"/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648201"/>
            <a:ext cx="139858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1443038" y="5354638"/>
            <a:ext cx="4467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solidFill>
                  <a:srgbClr val="C00000"/>
                </a:solidFill>
              </a:rPr>
              <a:t>This is Ampere</a:t>
            </a:r>
            <a:r>
              <a:rPr lang="ja-JP" altLang="en-US" sz="1800" i="0" dirty="0">
                <a:solidFill>
                  <a:srgbClr val="C00000"/>
                </a:solidFill>
              </a:rPr>
              <a:t>’</a:t>
            </a:r>
            <a:r>
              <a:rPr lang="en-US" altLang="ja-JP" sz="1800" i="0" dirty="0">
                <a:solidFill>
                  <a:srgbClr val="C00000"/>
                </a:solidFill>
              </a:rPr>
              <a:t>s Circuital Law in point form</a:t>
            </a:r>
            <a:r>
              <a:rPr lang="en-US" altLang="ja-JP" sz="1800" i="0" dirty="0"/>
              <a:t>.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Curl of Conservative Field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533400" y="1910393"/>
            <a:ext cx="4513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already know that for a </a:t>
            </a:r>
            <a:r>
              <a:rPr lang="en-US" altLang="zh-CN" sz="1800" dirty="0"/>
              <a:t>static</a:t>
            </a:r>
            <a:r>
              <a:rPr lang="en-US" altLang="zh-CN" sz="1800" i="0" dirty="0"/>
              <a:t> electric field:</a:t>
            </a:r>
            <a:endParaRPr lang="en-US" altLang="zh-CN" sz="1800" i="0" dirty="0"/>
          </a:p>
        </p:txBody>
      </p: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212" y="2778754"/>
            <a:ext cx="1603757" cy="421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609600" y="3433599"/>
            <a:ext cx="171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This means that:</a:t>
            </a:r>
            <a:endParaRPr lang="en-US" altLang="zh-CN" sz="1800" i="0"/>
          </a:p>
        </p:txBody>
      </p:sp>
      <p:pic>
        <p:nvPicPr>
          <p:cNvPr id="21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368512"/>
            <a:ext cx="1362075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609600" y="4267200"/>
            <a:ext cx="78327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Recall the condition for a conservative field:  that is, its closed path integral is zero everywhere.</a:t>
            </a:r>
            <a:endParaRPr lang="en-US" altLang="zh-CN" sz="1800" i="0" dirty="0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557213" y="5140955"/>
            <a:ext cx="80533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solidFill>
                  <a:srgbClr val="C00000"/>
                </a:solidFill>
              </a:rPr>
              <a:t>Therefore, a field is conservative if it has  </a:t>
            </a:r>
            <a:r>
              <a:rPr lang="en-US" altLang="zh-CN" sz="1800" dirty="0">
                <a:solidFill>
                  <a:srgbClr val="C00000"/>
                </a:solidFill>
              </a:rPr>
              <a:t>zero curl </a:t>
            </a:r>
            <a:r>
              <a:rPr lang="en-US" altLang="zh-CN" sz="1800" i="0" dirty="0">
                <a:solidFill>
                  <a:srgbClr val="C00000"/>
                </a:solidFill>
              </a:rPr>
              <a:t>at all points over which the field is defined.</a:t>
            </a:r>
            <a:endParaRPr lang="en-US" altLang="zh-CN" sz="1800" i="0" dirty="0">
              <a:solidFill>
                <a:srgbClr val="C00000"/>
              </a:solidFill>
            </a:endParaRPr>
          </a:p>
        </p:txBody>
      </p:sp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3849687" y="3443124"/>
            <a:ext cx="3152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(applies to a static electric field)</a:t>
            </a:r>
            <a:endParaRPr lang="en-US" altLang="zh-CN" sz="1800" i="0" dirty="0"/>
          </a:p>
        </p:txBody>
      </p:sp>
      <p:pic>
        <p:nvPicPr>
          <p:cNvPr id="26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429" y="1365880"/>
            <a:ext cx="2915471" cy="845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 descr="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605" y="2398898"/>
            <a:ext cx="2237653" cy="1487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2" descr="Chapter 3 Fig 6"/>
          <p:cNvPicPr>
            <a:picLocks noChangeAspect="1" noChangeArrowheads="1"/>
          </p:cNvPicPr>
          <p:nvPr/>
        </p:nvPicPr>
        <p:blipFill>
          <a:blip r:embed="rId2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383456"/>
            <a:ext cx="2088616" cy="161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Divergence vs. Curl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散度，旋度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80788" y="1817854"/>
            <a:ext cx="1276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Gauss’ Law</a:t>
            </a:r>
            <a:endParaRPr lang="zh-CN" altLang="en-US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029200" y="1775438"/>
            <a:ext cx="1608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Ampere’s Law </a:t>
            </a:r>
            <a:endParaRPr lang="zh-CN" altLang="en-US" dirty="0"/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687071"/>
            <a:ext cx="1495188" cy="675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5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644655"/>
            <a:ext cx="1487179" cy="717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7" name="Picture 4" descr="Chapter 3 Fig 2"/>
          <p:cNvPicPr>
            <a:picLocks noChangeAspect="1" noChangeArrowheads="1"/>
          </p:cNvPicPr>
          <p:nvPr/>
        </p:nvPicPr>
        <p:blipFill>
          <a:blip r:embed="rId6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08" y="2482044"/>
            <a:ext cx="2140127" cy="1213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331" y="2511185"/>
            <a:ext cx="2061669" cy="1184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89" y="3999818"/>
            <a:ext cx="3989289" cy="821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27" y="4918388"/>
            <a:ext cx="151485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34" y="5713123"/>
            <a:ext cx="3484682" cy="715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850" y="4989031"/>
            <a:ext cx="2432050" cy="39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5" name="Picture 6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212" y="4024051"/>
            <a:ext cx="2770188" cy="80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7" name="Picture 6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637" y="5382761"/>
            <a:ext cx="2366963" cy="13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8" name="Picture 6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012" y="4861238"/>
            <a:ext cx="139858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/>
          <p:cNvCxnSpPr/>
          <p:nvPr/>
        </p:nvCxnSpPr>
        <p:spPr>
          <a:xfrm>
            <a:off x="4648200" y="1775438"/>
            <a:ext cx="0" cy="49301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Curl Applied to Partitions of a Large Surface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4" name="Picture 2" descr="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696" y="2071688"/>
            <a:ext cx="3802062" cy="333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20269"/>
            <a:ext cx="29162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Rectangle 5"/>
          <p:cNvSpPr>
            <a:spLocks noChangeArrowheads="1"/>
          </p:cNvSpPr>
          <p:nvPr/>
        </p:nvSpPr>
        <p:spPr bwMode="auto">
          <a:xfrm>
            <a:off x="595731" y="1785774"/>
            <a:ext cx="5737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Surface </a:t>
            </a:r>
            <a:r>
              <a:rPr lang="en-US" altLang="zh-CN" sz="1800" i="1" dirty="0"/>
              <a:t>S</a:t>
            </a:r>
            <a:r>
              <a:rPr lang="en-US" altLang="zh-CN" sz="1800" i="0" dirty="0"/>
              <a:t> is </a:t>
            </a:r>
            <a:r>
              <a:rPr lang="en-US" altLang="zh-CN" sz="1800" i="0" dirty="0" err="1"/>
              <a:t>paritioned</a:t>
            </a:r>
            <a:r>
              <a:rPr lang="en-US" altLang="zh-CN" sz="1800" i="0" dirty="0"/>
              <a:t> into sub-regions, each of small area  </a:t>
            </a:r>
            <a:endParaRPr lang="en-US" altLang="zh-CN" sz="1800" i="0" dirty="0"/>
          </a:p>
        </p:txBody>
      </p:sp>
      <p:pic>
        <p:nvPicPr>
          <p:cNvPr id="45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979" y="1892929"/>
            <a:ext cx="2841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Rectangle 9"/>
          <p:cNvSpPr>
            <a:spLocks noChangeArrowheads="1"/>
          </p:cNvSpPr>
          <p:nvPr/>
        </p:nvSpPr>
        <p:spPr bwMode="auto">
          <a:xfrm>
            <a:off x="633830" y="2438400"/>
            <a:ext cx="56610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curl component that is normal to a surface element can</a:t>
            </a:r>
            <a:endParaRPr lang="en-US" altLang="zh-CN" sz="1800" i="0" dirty="0"/>
          </a:p>
          <a:p>
            <a:r>
              <a:rPr lang="en-US" altLang="zh-CN" sz="1800" i="0" dirty="0"/>
              <a:t>be written using the definition of curl:</a:t>
            </a:r>
            <a:endParaRPr lang="en-US" altLang="zh-CN" sz="1800" i="0" dirty="0"/>
          </a:p>
        </p:txBody>
      </p:sp>
      <p:pic>
        <p:nvPicPr>
          <p:cNvPr id="40" name="Picture 1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38" y="4648200"/>
            <a:ext cx="4735512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Rectangle 11"/>
          <p:cNvSpPr>
            <a:spLocks noChangeArrowheads="1"/>
          </p:cNvSpPr>
          <p:nvPr/>
        </p:nvSpPr>
        <p:spPr bwMode="auto">
          <a:xfrm>
            <a:off x="696553" y="4158457"/>
            <a:ext cx="44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or:</a:t>
            </a:r>
            <a:endParaRPr lang="en-US" altLang="zh-CN" sz="1800" i="0" dirty="0"/>
          </a:p>
        </p:txBody>
      </p:sp>
      <p:sp>
        <p:nvSpPr>
          <p:cNvPr id="42" name="Rectangle 12"/>
          <p:cNvSpPr>
            <a:spLocks noChangeArrowheads="1"/>
          </p:cNvSpPr>
          <p:nvPr/>
        </p:nvSpPr>
        <p:spPr bwMode="auto">
          <a:xfrm>
            <a:off x="696553" y="5684838"/>
            <a:ext cx="70342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now apply this to every partition on the surface, and add the results….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Curl Applied to Partitions of a Large Surface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1" name="Rectangle 33"/>
          <p:cNvSpPr>
            <a:spLocks noChangeArrowheads="1"/>
          </p:cNvSpPr>
          <p:nvPr/>
        </p:nvSpPr>
        <p:spPr bwMode="auto">
          <a:xfrm>
            <a:off x="312393" y="1981200"/>
            <a:ext cx="3024188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now evaluate and add the curl contributions from all surface elements, and note that </a:t>
            </a:r>
            <a:endParaRPr lang="en-US" altLang="zh-CN" sz="1800" i="0" dirty="0"/>
          </a:p>
          <a:p>
            <a:r>
              <a:rPr lang="en-US" altLang="zh-CN" sz="1800" i="0" dirty="0"/>
              <a:t>adjacent path integrals will all cancel!</a:t>
            </a:r>
            <a:endParaRPr lang="en-US" altLang="zh-CN" sz="1800" i="0" dirty="0"/>
          </a:p>
        </p:txBody>
      </p:sp>
      <p:sp>
        <p:nvSpPr>
          <p:cNvPr id="22" name="Rectangle 34"/>
          <p:cNvSpPr>
            <a:spLocks noChangeArrowheads="1"/>
          </p:cNvSpPr>
          <p:nvPr/>
        </p:nvSpPr>
        <p:spPr bwMode="auto">
          <a:xfrm>
            <a:off x="344487" y="3494552"/>
            <a:ext cx="308451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This means that </a:t>
            </a:r>
            <a:r>
              <a:rPr lang="en-US" altLang="zh-CN" sz="1800" i="0" dirty="0">
                <a:solidFill>
                  <a:srgbClr val="C00000"/>
                </a:solidFill>
              </a:rPr>
              <a:t>the only contribution to the overall path integral will be around the outer periphery of surface </a:t>
            </a:r>
            <a:r>
              <a:rPr lang="en-US" altLang="zh-CN" sz="1800" i="1" dirty="0">
                <a:solidFill>
                  <a:srgbClr val="C00000"/>
                </a:solidFill>
              </a:rPr>
              <a:t>S</a:t>
            </a:r>
            <a:r>
              <a:rPr lang="en-US" altLang="zh-CN" sz="1800" dirty="0"/>
              <a:t>.</a:t>
            </a:r>
            <a:endParaRPr lang="en-US" altLang="zh-CN" sz="1800" i="0" dirty="0"/>
          </a:p>
        </p:txBody>
      </p:sp>
      <p:grpSp>
        <p:nvGrpSpPr>
          <p:cNvPr id="3" name="组合 2"/>
          <p:cNvGrpSpPr/>
          <p:nvPr/>
        </p:nvGrpSpPr>
        <p:grpSpPr>
          <a:xfrm>
            <a:off x="3505200" y="1600200"/>
            <a:ext cx="5522913" cy="3338513"/>
            <a:chOff x="2859088" y="1905000"/>
            <a:chExt cx="5522913" cy="3338513"/>
          </a:xfrm>
        </p:grpSpPr>
        <p:grpSp>
          <p:nvGrpSpPr>
            <p:cNvPr id="16" name="Group 28"/>
            <p:cNvGrpSpPr/>
            <p:nvPr/>
          </p:nvGrpSpPr>
          <p:grpSpPr bwMode="auto">
            <a:xfrm>
              <a:off x="4579938" y="1905000"/>
              <a:ext cx="3802063" cy="3338513"/>
              <a:chOff x="2885" y="1200"/>
              <a:chExt cx="2395" cy="2103"/>
            </a:xfrm>
          </p:grpSpPr>
          <p:grpSp>
            <p:nvGrpSpPr>
              <p:cNvPr id="29" name="Group 24"/>
              <p:cNvGrpSpPr/>
              <p:nvPr/>
            </p:nvGrpSpPr>
            <p:grpSpPr bwMode="auto">
              <a:xfrm>
                <a:off x="2885" y="1200"/>
                <a:ext cx="2395" cy="2103"/>
                <a:chOff x="2885" y="1200"/>
                <a:chExt cx="2395" cy="2103"/>
              </a:xfrm>
            </p:grpSpPr>
            <p:pic>
              <p:nvPicPr>
                <p:cNvPr id="33" name="Picture 2" descr="7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5" y="1200"/>
                  <a:ext cx="2395" cy="21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4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3309" y="2540"/>
                  <a:ext cx="323" cy="146"/>
                </a:xfrm>
                <a:prstGeom prst="line">
                  <a:avLst/>
                </a:prstGeom>
                <a:noFill/>
                <a:ln w="28575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Line 14"/>
                <p:cNvSpPr>
                  <a:spLocks noChangeShapeType="1"/>
                </p:cNvSpPr>
                <p:nvPr/>
              </p:nvSpPr>
              <p:spPr bwMode="auto">
                <a:xfrm>
                  <a:off x="3209" y="2490"/>
                  <a:ext cx="71" cy="134"/>
                </a:xfrm>
                <a:prstGeom prst="line">
                  <a:avLst/>
                </a:prstGeom>
                <a:noFill/>
                <a:ln w="19050">
                  <a:solidFill>
                    <a:srgbClr val="CC006B"/>
                  </a:solidFill>
                  <a:round/>
                  <a:tailEnd type="stealth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3428" y="2587"/>
                  <a:ext cx="96" cy="48"/>
                </a:xfrm>
                <a:prstGeom prst="line">
                  <a:avLst/>
                </a:prstGeom>
                <a:noFill/>
                <a:ln w="28575">
                  <a:solidFill>
                    <a:srgbClr val="CC006B"/>
                  </a:solidFill>
                  <a:round/>
                  <a:tailEnd type="stealth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Line 17"/>
                <p:cNvSpPr>
                  <a:spLocks noChangeShapeType="1"/>
                </p:cNvSpPr>
                <p:nvPr/>
              </p:nvSpPr>
              <p:spPr bwMode="auto">
                <a:xfrm flipH="1" flipV="1">
                  <a:off x="3567" y="2397"/>
                  <a:ext cx="48" cy="96"/>
                </a:xfrm>
                <a:prstGeom prst="line">
                  <a:avLst/>
                </a:prstGeom>
                <a:noFill/>
                <a:ln w="28575">
                  <a:solidFill>
                    <a:srgbClr val="CC006B"/>
                  </a:solidFill>
                  <a:round/>
                  <a:tailEnd type="stealth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38" name="Group 20"/>
                <p:cNvGrpSpPr/>
                <p:nvPr/>
              </p:nvGrpSpPr>
              <p:grpSpPr bwMode="auto">
                <a:xfrm flipH="1" flipV="1">
                  <a:off x="3144" y="2272"/>
                  <a:ext cx="330" cy="157"/>
                  <a:chOff x="3405" y="2636"/>
                  <a:chExt cx="323" cy="146"/>
                </a:xfrm>
              </p:grpSpPr>
              <p:sp>
                <p:nvSpPr>
                  <p:cNvPr id="49" name="Line 1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405" y="2636"/>
                    <a:ext cx="323" cy="146"/>
                  </a:xfrm>
                  <a:prstGeom prst="line">
                    <a:avLst/>
                  </a:prstGeom>
                  <a:noFill/>
                  <a:ln w="28575">
                    <a:solidFill>
                      <a:srgbClr val="CC006B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" name="Line 1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524" y="2683"/>
                    <a:ext cx="96" cy="48"/>
                  </a:xfrm>
                  <a:prstGeom prst="line">
                    <a:avLst/>
                  </a:prstGeom>
                  <a:noFill/>
                  <a:ln w="28575">
                    <a:solidFill>
                      <a:srgbClr val="CC006B"/>
                    </a:solidFill>
                    <a:round/>
                    <a:tailEnd type="stealth" w="sm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6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3174" y="2370"/>
                  <a:ext cx="96" cy="48"/>
                </a:xfrm>
                <a:prstGeom prst="line">
                  <a:avLst/>
                </a:prstGeom>
                <a:noFill/>
                <a:ln w="28575">
                  <a:solidFill>
                    <a:srgbClr val="CC006B"/>
                  </a:solidFill>
                  <a:round/>
                  <a:tailEnd type="stealth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3504" y="2554"/>
                  <a:ext cx="100" cy="41"/>
                </a:xfrm>
                <a:prstGeom prst="line">
                  <a:avLst/>
                </a:prstGeom>
                <a:noFill/>
                <a:ln w="28575">
                  <a:solidFill>
                    <a:srgbClr val="CC006B"/>
                  </a:solidFill>
                  <a:round/>
                  <a:tailEnd type="stealth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Arc 23"/>
                <p:cNvSpPr/>
                <p:nvPr/>
              </p:nvSpPr>
              <p:spPr bwMode="auto">
                <a:xfrm rot="-988284">
                  <a:off x="3167" y="2412"/>
                  <a:ext cx="111" cy="391"/>
                </a:xfrm>
                <a:custGeom>
                  <a:avLst/>
                  <a:gdLst>
                    <a:gd name="T0" fmla="*/ 33 w 21086"/>
                    <a:gd name="T1" fmla="*/ 0 h 20645"/>
                    <a:gd name="T2" fmla="*/ 111 w 21086"/>
                    <a:gd name="T3" fmla="*/ 302 h 20645"/>
                    <a:gd name="T4" fmla="*/ 0 w 21086"/>
                    <a:gd name="T5" fmla="*/ 391 h 2064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086" h="20645" fill="none" extrusionOk="0">
                      <a:moveTo>
                        <a:pt x="6351" y="-1"/>
                      </a:moveTo>
                      <a:cubicBezTo>
                        <a:pt x="13776" y="2284"/>
                        <a:pt x="19403" y="8380"/>
                        <a:pt x="21086" y="15964"/>
                      </a:cubicBezTo>
                    </a:path>
                    <a:path w="21086" h="20645" stroke="0" extrusionOk="0">
                      <a:moveTo>
                        <a:pt x="6351" y="-1"/>
                      </a:moveTo>
                      <a:cubicBezTo>
                        <a:pt x="13776" y="2284"/>
                        <a:pt x="19403" y="8380"/>
                        <a:pt x="21086" y="15964"/>
                      </a:cubicBezTo>
                      <a:lnTo>
                        <a:pt x="0" y="20645"/>
                      </a:lnTo>
                      <a:lnTo>
                        <a:pt x="6351" y="-1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Line 25"/>
              <p:cNvSpPr>
                <a:spLocks noChangeShapeType="1"/>
              </p:cNvSpPr>
              <p:nvPr/>
            </p:nvSpPr>
            <p:spPr bwMode="auto">
              <a:xfrm flipV="1">
                <a:off x="3408" y="1584"/>
                <a:ext cx="48" cy="8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Rectangle 26"/>
              <p:cNvSpPr>
                <a:spLocks noChangeArrowheads="1"/>
              </p:cNvSpPr>
              <p:nvPr/>
            </p:nvSpPr>
            <p:spPr bwMode="auto">
              <a:xfrm>
                <a:off x="3309" y="2133"/>
                <a:ext cx="15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800" i="0"/>
                  <a:t>.</a:t>
                </a:r>
                <a:endParaRPr lang="en-US" altLang="zh-CN" sz="1800" i="0"/>
              </a:p>
            </p:txBody>
          </p:sp>
          <p:pic>
            <p:nvPicPr>
              <p:cNvPr id="32" name="Picture 27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8" y="1488"/>
                <a:ext cx="132" cy="1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17" name="Rectangle 29"/>
            <p:cNvSpPr>
              <a:spLocks noChangeArrowheads="1"/>
            </p:cNvSpPr>
            <p:nvPr/>
          </p:nvSpPr>
          <p:spPr bwMode="auto">
            <a:xfrm>
              <a:off x="2859088" y="2209800"/>
              <a:ext cx="18716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0" dirty="0"/>
                <a:t>Cancellation here:</a:t>
              </a:r>
              <a:endParaRPr lang="en-US" altLang="zh-CN" sz="1800" i="0" dirty="0"/>
            </a:p>
          </p:txBody>
        </p:sp>
        <p:sp>
          <p:nvSpPr>
            <p:cNvPr id="18" name="Line 30"/>
            <p:cNvSpPr>
              <a:spLocks noChangeShapeType="1"/>
            </p:cNvSpPr>
            <p:nvPr/>
          </p:nvSpPr>
          <p:spPr bwMode="auto">
            <a:xfrm>
              <a:off x="4038600" y="2514600"/>
              <a:ext cx="10668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31"/>
            <p:cNvSpPr>
              <a:spLocks noChangeShapeType="1"/>
            </p:cNvSpPr>
            <p:nvPr/>
          </p:nvSpPr>
          <p:spPr bwMode="auto">
            <a:xfrm>
              <a:off x="4038600" y="2514600"/>
              <a:ext cx="1295400" cy="1676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32"/>
            <p:cNvSpPr>
              <a:spLocks noChangeShapeType="1"/>
            </p:cNvSpPr>
            <p:nvPr/>
          </p:nvSpPr>
          <p:spPr bwMode="auto">
            <a:xfrm>
              <a:off x="4038600" y="2514600"/>
              <a:ext cx="15240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Rectangle 35"/>
            <p:cNvSpPr>
              <a:spLocks noChangeArrowheads="1"/>
            </p:cNvSpPr>
            <p:nvPr/>
          </p:nvSpPr>
          <p:spPr bwMode="auto">
            <a:xfrm>
              <a:off x="2906713" y="4271169"/>
              <a:ext cx="2159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dirty="0"/>
                <a:t>No </a:t>
              </a:r>
              <a:r>
                <a:rPr lang="en-US" altLang="zh-CN" sz="1800" i="0" dirty="0"/>
                <a:t>cancellation here:</a:t>
              </a:r>
              <a:endParaRPr lang="en-US" altLang="zh-CN" sz="1800" dirty="0"/>
            </a:p>
          </p:txBody>
        </p:sp>
        <p:sp>
          <p:nvSpPr>
            <p:cNvPr id="25" name="Line 36"/>
            <p:cNvSpPr>
              <a:spLocks noChangeShapeType="1"/>
            </p:cNvSpPr>
            <p:nvPr/>
          </p:nvSpPr>
          <p:spPr bwMode="auto">
            <a:xfrm flipV="1">
              <a:off x="4648200" y="4038600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7" name="Picture 3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923" y="5410200"/>
            <a:ext cx="6020077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8" name="Rectangle 38"/>
          <p:cNvSpPr>
            <a:spLocks noChangeArrowheads="1"/>
          </p:cNvSpPr>
          <p:nvPr/>
        </p:nvSpPr>
        <p:spPr bwMode="auto">
          <a:xfrm>
            <a:off x="381000" y="4800600"/>
            <a:ext cx="3960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Using our previous result, we now write: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Stokes’ Theorem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40" name="Group 4"/>
          <p:cNvGrpSpPr/>
          <p:nvPr/>
        </p:nvGrpSpPr>
        <p:grpSpPr bwMode="auto">
          <a:xfrm>
            <a:off x="5113337" y="1593055"/>
            <a:ext cx="3802063" cy="3338513"/>
            <a:chOff x="2885" y="1200"/>
            <a:chExt cx="2395" cy="2103"/>
          </a:xfrm>
        </p:grpSpPr>
        <p:grpSp>
          <p:nvGrpSpPr>
            <p:cNvPr id="58" name="Group 5"/>
            <p:cNvGrpSpPr/>
            <p:nvPr/>
          </p:nvGrpSpPr>
          <p:grpSpPr bwMode="auto">
            <a:xfrm>
              <a:off x="2885" y="1200"/>
              <a:ext cx="2395" cy="2103"/>
              <a:chOff x="2885" y="1200"/>
              <a:chExt cx="2395" cy="2103"/>
            </a:xfrm>
          </p:grpSpPr>
          <p:pic>
            <p:nvPicPr>
              <p:cNvPr id="62" name="Picture 6" descr="7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5" y="1200"/>
                <a:ext cx="2395" cy="21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" name="Line 7"/>
              <p:cNvSpPr>
                <a:spLocks noChangeShapeType="1"/>
              </p:cNvSpPr>
              <p:nvPr/>
            </p:nvSpPr>
            <p:spPr bwMode="auto">
              <a:xfrm flipV="1">
                <a:off x="3309" y="2540"/>
                <a:ext cx="323" cy="146"/>
              </a:xfrm>
              <a:prstGeom prst="line">
                <a:avLst/>
              </a:prstGeom>
              <a:noFill/>
              <a:ln w="28575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Line 8"/>
              <p:cNvSpPr>
                <a:spLocks noChangeShapeType="1"/>
              </p:cNvSpPr>
              <p:nvPr/>
            </p:nvSpPr>
            <p:spPr bwMode="auto">
              <a:xfrm>
                <a:off x="3209" y="2490"/>
                <a:ext cx="71" cy="134"/>
              </a:xfrm>
              <a:prstGeom prst="line">
                <a:avLst/>
              </a:prstGeom>
              <a:noFill/>
              <a:ln w="19050">
                <a:solidFill>
                  <a:srgbClr val="CC006B"/>
                </a:solidFill>
                <a:rou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Line 9"/>
              <p:cNvSpPr>
                <a:spLocks noChangeShapeType="1"/>
              </p:cNvSpPr>
              <p:nvPr/>
            </p:nvSpPr>
            <p:spPr bwMode="auto">
              <a:xfrm flipV="1">
                <a:off x="3428" y="2587"/>
                <a:ext cx="96" cy="48"/>
              </a:xfrm>
              <a:prstGeom prst="line">
                <a:avLst/>
              </a:prstGeom>
              <a:noFill/>
              <a:ln w="28575">
                <a:solidFill>
                  <a:srgbClr val="CC006B"/>
                </a:solidFill>
                <a:rou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Line 10"/>
              <p:cNvSpPr>
                <a:spLocks noChangeShapeType="1"/>
              </p:cNvSpPr>
              <p:nvPr/>
            </p:nvSpPr>
            <p:spPr bwMode="auto">
              <a:xfrm flipH="1" flipV="1">
                <a:off x="3567" y="2397"/>
                <a:ext cx="48" cy="96"/>
              </a:xfrm>
              <a:prstGeom prst="line">
                <a:avLst/>
              </a:prstGeom>
              <a:noFill/>
              <a:ln w="28575">
                <a:solidFill>
                  <a:srgbClr val="CC006B"/>
                </a:solidFill>
                <a:rou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67" name="Group 11"/>
              <p:cNvGrpSpPr/>
              <p:nvPr/>
            </p:nvGrpSpPr>
            <p:grpSpPr bwMode="auto">
              <a:xfrm flipH="1" flipV="1">
                <a:off x="3144" y="2272"/>
                <a:ext cx="330" cy="157"/>
                <a:chOff x="3405" y="2636"/>
                <a:chExt cx="323" cy="146"/>
              </a:xfrm>
            </p:grpSpPr>
            <p:sp>
              <p:nvSpPr>
                <p:cNvPr id="71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3405" y="2636"/>
                  <a:ext cx="323" cy="146"/>
                </a:xfrm>
                <a:prstGeom prst="line">
                  <a:avLst/>
                </a:prstGeom>
                <a:noFill/>
                <a:ln w="28575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3524" y="2683"/>
                  <a:ext cx="96" cy="48"/>
                </a:xfrm>
                <a:prstGeom prst="line">
                  <a:avLst/>
                </a:prstGeom>
                <a:noFill/>
                <a:ln w="28575">
                  <a:solidFill>
                    <a:srgbClr val="CC006B"/>
                  </a:solidFill>
                  <a:round/>
                  <a:tailEnd type="stealth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8" name="Line 14"/>
              <p:cNvSpPr>
                <a:spLocks noChangeShapeType="1"/>
              </p:cNvSpPr>
              <p:nvPr/>
            </p:nvSpPr>
            <p:spPr bwMode="auto">
              <a:xfrm flipV="1">
                <a:off x="3174" y="2370"/>
                <a:ext cx="96" cy="48"/>
              </a:xfrm>
              <a:prstGeom prst="line">
                <a:avLst/>
              </a:prstGeom>
              <a:noFill/>
              <a:ln w="28575">
                <a:solidFill>
                  <a:srgbClr val="CC006B"/>
                </a:solidFill>
                <a:rou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Line 15"/>
              <p:cNvSpPr>
                <a:spLocks noChangeShapeType="1"/>
              </p:cNvSpPr>
              <p:nvPr/>
            </p:nvSpPr>
            <p:spPr bwMode="auto">
              <a:xfrm flipH="1">
                <a:off x="3504" y="2554"/>
                <a:ext cx="100" cy="41"/>
              </a:xfrm>
              <a:prstGeom prst="line">
                <a:avLst/>
              </a:prstGeom>
              <a:noFill/>
              <a:ln w="28575">
                <a:solidFill>
                  <a:srgbClr val="CC006B"/>
                </a:solidFill>
                <a:rou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Arc 16"/>
              <p:cNvSpPr/>
              <p:nvPr/>
            </p:nvSpPr>
            <p:spPr bwMode="auto">
              <a:xfrm rot="-988284">
                <a:off x="3167" y="2412"/>
                <a:ext cx="111" cy="391"/>
              </a:xfrm>
              <a:custGeom>
                <a:avLst/>
                <a:gdLst>
                  <a:gd name="T0" fmla="*/ 33 w 21086"/>
                  <a:gd name="T1" fmla="*/ 0 h 20645"/>
                  <a:gd name="T2" fmla="*/ 111 w 21086"/>
                  <a:gd name="T3" fmla="*/ 302 h 20645"/>
                  <a:gd name="T4" fmla="*/ 0 w 21086"/>
                  <a:gd name="T5" fmla="*/ 391 h 206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086" h="20645" fill="none" extrusionOk="0">
                    <a:moveTo>
                      <a:pt x="6351" y="-1"/>
                    </a:moveTo>
                    <a:cubicBezTo>
                      <a:pt x="13776" y="2284"/>
                      <a:pt x="19403" y="8380"/>
                      <a:pt x="21086" y="15964"/>
                    </a:cubicBezTo>
                  </a:path>
                  <a:path w="21086" h="20645" stroke="0" extrusionOk="0">
                    <a:moveTo>
                      <a:pt x="6351" y="-1"/>
                    </a:moveTo>
                    <a:cubicBezTo>
                      <a:pt x="13776" y="2284"/>
                      <a:pt x="19403" y="8380"/>
                      <a:pt x="21086" y="15964"/>
                    </a:cubicBezTo>
                    <a:lnTo>
                      <a:pt x="0" y="20645"/>
                    </a:lnTo>
                    <a:lnTo>
                      <a:pt x="6351" y="-1"/>
                    </a:lnTo>
                    <a:close/>
                  </a:path>
                </a:pathLst>
              </a:custGeom>
              <a:noFill/>
              <a:ln w="28575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9" name="Line 17"/>
            <p:cNvSpPr>
              <a:spLocks noChangeShapeType="1"/>
            </p:cNvSpPr>
            <p:nvPr/>
          </p:nvSpPr>
          <p:spPr bwMode="auto">
            <a:xfrm flipV="1">
              <a:off x="3408" y="1584"/>
              <a:ext cx="48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Rectangle 18"/>
            <p:cNvSpPr>
              <a:spLocks noChangeArrowheads="1"/>
            </p:cNvSpPr>
            <p:nvPr/>
          </p:nvSpPr>
          <p:spPr bwMode="auto">
            <a:xfrm>
              <a:off x="3309" y="2133"/>
              <a:ext cx="15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0"/>
                <a:t>.</a:t>
              </a:r>
              <a:endParaRPr lang="en-US" altLang="zh-CN" sz="1800" i="0"/>
            </a:p>
          </p:txBody>
        </p:sp>
        <p:pic>
          <p:nvPicPr>
            <p:cNvPr id="61" name="Picture 1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1488"/>
              <a:ext cx="132" cy="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pic>
        <p:nvPicPr>
          <p:cNvPr id="41" name="Picture 2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45" y="2286000"/>
            <a:ext cx="4222750" cy="747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grpSp>
        <p:nvGrpSpPr>
          <p:cNvPr id="42" name="Group 32"/>
          <p:cNvGrpSpPr/>
          <p:nvPr/>
        </p:nvGrpSpPr>
        <p:grpSpPr bwMode="auto">
          <a:xfrm>
            <a:off x="433387" y="1752600"/>
            <a:ext cx="5205413" cy="369888"/>
            <a:chOff x="231" y="1150"/>
            <a:chExt cx="3279" cy="233"/>
          </a:xfrm>
        </p:grpSpPr>
        <p:sp>
          <p:nvSpPr>
            <p:cNvPr id="56" name="Rectangle 30"/>
            <p:cNvSpPr>
              <a:spLocks noChangeArrowheads="1"/>
            </p:cNvSpPr>
            <p:nvPr/>
          </p:nvSpPr>
          <p:spPr bwMode="auto">
            <a:xfrm>
              <a:off x="231" y="1150"/>
              <a:ext cx="327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0" dirty="0"/>
                <a:t>We now take our previous result, and take the limit as </a:t>
              </a:r>
              <a:endParaRPr lang="en-US" altLang="zh-CN" sz="1800" i="0" dirty="0"/>
            </a:p>
          </p:txBody>
        </p:sp>
        <p:pic>
          <p:nvPicPr>
            <p:cNvPr id="57" name="Picture 3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7" y="1198"/>
              <a:ext cx="495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4" name="AutoShape 33"/>
          <p:cNvSpPr/>
          <p:nvPr/>
        </p:nvSpPr>
        <p:spPr bwMode="auto">
          <a:xfrm rot="16200000">
            <a:off x="1447770" y="2347912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sp>
        <p:nvSpPr>
          <p:cNvPr id="45" name="Rectangle 34"/>
          <p:cNvSpPr>
            <a:spLocks noChangeArrowheads="1"/>
          </p:cNvSpPr>
          <p:nvPr/>
        </p:nvSpPr>
        <p:spPr bwMode="auto">
          <a:xfrm>
            <a:off x="380970" y="3338512"/>
            <a:ext cx="260359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600" i="0" dirty="0"/>
              <a:t>In the limit, this side </a:t>
            </a:r>
            <a:endParaRPr lang="en-US" altLang="zh-CN" sz="1600" i="0" dirty="0"/>
          </a:p>
          <a:p>
            <a:r>
              <a:rPr lang="en-US" altLang="zh-CN" sz="1600" i="0" dirty="0"/>
              <a:t>becomes the path integral </a:t>
            </a:r>
            <a:endParaRPr lang="en-US" altLang="zh-CN" sz="1600" i="0" dirty="0"/>
          </a:p>
          <a:p>
            <a:r>
              <a:rPr lang="en-US" altLang="zh-CN" sz="1600" i="0" dirty="0"/>
              <a:t>of </a:t>
            </a:r>
            <a:r>
              <a:rPr lang="en-US" altLang="zh-CN" sz="1600" b="1" i="0" dirty="0"/>
              <a:t>H </a:t>
            </a:r>
            <a:r>
              <a:rPr lang="en-US" altLang="zh-CN" sz="1600" i="0" dirty="0"/>
              <a:t>over the outer perimeter</a:t>
            </a:r>
            <a:endParaRPr lang="en-US" altLang="zh-CN" sz="1600" i="0" dirty="0"/>
          </a:p>
          <a:p>
            <a:r>
              <a:rPr lang="en-US" altLang="zh-CN" sz="1600" i="0" dirty="0"/>
              <a:t>because all interior paths </a:t>
            </a:r>
            <a:endParaRPr lang="en-US" altLang="zh-CN" sz="1600" i="0" dirty="0"/>
          </a:p>
          <a:p>
            <a:r>
              <a:rPr lang="en-US" altLang="zh-CN" sz="1600" i="0" dirty="0"/>
              <a:t>cancel</a:t>
            </a:r>
            <a:endParaRPr lang="en-US" altLang="zh-CN" sz="1600" i="0" dirty="0"/>
          </a:p>
        </p:txBody>
      </p:sp>
      <p:sp>
        <p:nvSpPr>
          <p:cNvPr id="51" name="AutoShape 35"/>
          <p:cNvSpPr/>
          <p:nvPr/>
        </p:nvSpPr>
        <p:spPr bwMode="auto">
          <a:xfrm rot="16200000">
            <a:off x="3695670" y="2233612"/>
            <a:ext cx="152400" cy="1905000"/>
          </a:xfrm>
          <a:prstGeom prst="leftBrace">
            <a:avLst>
              <a:gd name="adj1" fmla="val 1041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sp>
        <p:nvSpPr>
          <p:cNvPr id="52" name="Rectangle 36"/>
          <p:cNvSpPr>
            <a:spLocks noChangeArrowheads="1"/>
          </p:cNvSpPr>
          <p:nvPr/>
        </p:nvSpPr>
        <p:spPr bwMode="auto">
          <a:xfrm>
            <a:off x="3013045" y="3338512"/>
            <a:ext cx="193995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600" i="0" dirty="0"/>
              <a:t>In the limit, this side</a:t>
            </a:r>
            <a:endParaRPr lang="en-US" altLang="zh-CN" sz="1600" i="0" dirty="0"/>
          </a:p>
          <a:p>
            <a:r>
              <a:rPr lang="en-US" altLang="zh-CN" sz="1600" i="0" dirty="0"/>
              <a:t>becomes the integral </a:t>
            </a:r>
            <a:endParaRPr lang="en-US" altLang="zh-CN" sz="1600" i="0" dirty="0"/>
          </a:p>
          <a:p>
            <a:r>
              <a:rPr lang="en-US" altLang="zh-CN" sz="1600" i="0" dirty="0"/>
              <a:t>of the curl of </a:t>
            </a:r>
            <a:r>
              <a:rPr lang="en-US" altLang="zh-CN" sz="1600" b="1" i="0" dirty="0"/>
              <a:t>H </a:t>
            </a:r>
            <a:r>
              <a:rPr lang="en-US" altLang="zh-CN" sz="1600" i="0" dirty="0"/>
              <a:t>over</a:t>
            </a:r>
            <a:endParaRPr lang="en-US" altLang="zh-CN" sz="1600" i="0" dirty="0"/>
          </a:p>
          <a:p>
            <a:r>
              <a:rPr lang="en-US" altLang="zh-CN" sz="1600" i="0" dirty="0"/>
              <a:t>surface </a:t>
            </a:r>
            <a:r>
              <a:rPr lang="en-US" altLang="zh-CN" sz="1600" dirty="0"/>
              <a:t>S</a:t>
            </a:r>
            <a:endParaRPr lang="en-US" altLang="zh-CN" sz="1600" i="0" dirty="0"/>
          </a:p>
        </p:txBody>
      </p:sp>
      <p:sp>
        <p:nvSpPr>
          <p:cNvPr id="53" name="Rectangle 37"/>
          <p:cNvSpPr>
            <a:spLocks noChangeArrowheads="1"/>
          </p:cNvSpPr>
          <p:nvPr/>
        </p:nvSpPr>
        <p:spPr bwMode="auto">
          <a:xfrm>
            <a:off x="928956" y="4732637"/>
            <a:ext cx="3001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result is </a:t>
            </a:r>
            <a:r>
              <a:rPr lang="en-US" altLang="zh-CN" sz="1800" i="0" dirty="0">
                <a:solidFill>
                  <a:srgbClr val="C00000"/>
                </a:solidFill>
              </a:rPr>
              <a:t>Stokes</a:t>
            </a:r>
            <a:r>
              <a:rPr lang="ja-JP" altLang="en-US" sz="1800" i="0" dirty="0">
                <a:solidFill>
                  <a:srgbClr val="C00000"/>
                </a:solidFill>
              </a:rPr>
              <a:t>’</a:t>
            </a:r>
            <a:r>
              <a:rPr lang="en-US" altLang="ja-JP" sz="1800" i="0" dirty="0">
                <a:solidFill>
                  <a:srgbClr val="C00000"/>
                </a:solidFill>
              </a:rPr>
              <a:t> Theorem</a:t>
            </a:r>
            <a:endParaRPr lang="en-US" altLang="zh-CN" sz="1800" i="0" dirty="0">
              <a:solidFill>
                <a:srgbClr val="C00000"/>
              </a:solidFill>
            </a:endParaRPr>
          </a:p>
        </p:txBody>
      </p:sp>
      <p:pic>
        <p:nvPicPr>
          <p:cNvPr id="54" name="Picture 3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06" y="5101087"/>
            <a:ext cx="3006725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5" name="Rectangle 39"/>
          <p:cNvSpPr>
            <a:spLocks noChangeArrowheads="1"/>
          </p:cNvSpPr>
          <p:nvPr/>
        </p:nvSpPr>
        <p:spPr bwMode="auto">
          <a:xfrm>
            <a:off x="341313" y="5987256"/>
            <a:ext cx="80406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This is a valuable tool to have at our disposal, because it gives us two ways to evaluate the same thing!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Obtaining Ampere’s Circuital Law in Integral Form, using Stokes’ Theorem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227387"/>
            <a:ext cx="3894137" cy="65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590800"/>
            <a:ext cx="116046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609600" y="2133600"/>
            <a:ext cx="58023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Begin with the point form of Ampere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s Law for static fields:</a:t>
            </a:r>
            <a:endParaRPr lang="en-US" altLang="zh-CN" sz="1800" i="0" dirty="0"/>
          </a:p>
        </p:txBody>
      </p:sp>
      <p:sp>
        <p:nvSpPr>
          <p:cNvPr id="31" name="Rectangle 6"/>
          <p:cNvSpPr>
            <a:spLocks noChangeArrowheads="1"/>
          </p:cNvSpPr>
          <p:nvPr/>
        </p:nvSpPr>
        <p:spPr bwMode="auto">
          <a:xfrm>
            <a:off x="679450" y="2895600"/>
            <a:ext cx="3435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Integrate both sides over surface </a:t>
            </a:r>
            <a:r>
              <a:rPr lang="en-US" altLang="zh-CN" sz="1800" i="1" dirty="0"/>
              <a:t>S</a:t>
            </a:r>
            <a:r>
              <a:rPr lang="en-US" altLang="zh-CN" sz="1800" i="0" dirty="0"/>
              <a:t>:</a:t>
            </a:r>
            <a:endParaRPr lang="en-US" altLang="zh-CN" sz="1800" i="0" dirty="0"/>
          </a:p>
        </p:txBody>
      </p:sp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631854" y="3886200"/>
            <a:ext cx="576894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..in which the far right hand side is found from the left hand side using Stokes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 Theorem.  The closed path integral is taken around the </a:t>
            </a:r>
            <a:r>
              <a:rPr lang="en-US" altLang="zh-CN" sz="1800" i="0" dirty="0"/>
              <a:t>perimeter of </a:t>
            </a:r>
            <a:r>
              <a:rPr lang="en-US" altLang="zh-CN" sz="1800" i="1" dirty="0"/>
              <a:t>S</a:t>
            </a:r>
            <a:r>
              <a:rPr lang="en-US" altLang="zh-CN" sz="1800" i="0" dirty="0"/>
              <a:t>.  Again, note that we use the right-hand convention in choosing the direction of the path integral.</a:t>
            </a:r>
            <a:endParaRPr lang="en-US" altLang="zh-CN" sz="1800" i="0" dirty="0"/>
          </a:p>
        </p:txBody>
      </p:sp>
      <p:sp>
        <p:nvSpPr>
          <p:cNvPr id="33" name="Rectangle 8"/>
          <p:cNvSpPr>
            <a:spLocks noChangeArrowheads="1"/>
          </p:cNvSpPr>
          <p:nvPr/>
        </p:nvSpPr>
        <p:spPr bwMode="auto">
          <a:xfrm>
            <a:off x="656446" y="5334000"/>
            <a:ext cx="60071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center expression is just the net current through surface </a:t>
            </a:r>
            <a:r>
              <a:rPr lang="en-US" altLang="zh-CN" sz="1800" dirty="0"/>
              <a:t>S</a:t>
            </a:r>
            <a:r>
              <a:rPr lang="en-US" altLang="zh-CN" sz="1800" i="0" dirty="0"/>
              <a:t>, </a:t>
            </a:r>
            <a:endParaRPr lang="en-US" altLang="zh-CN" sz="1800" i="0" dirty="0"/>
          </a:p>
          <a:p>
            <a:r>
              <a:rPr lang="en-US" altLang="zh-CN" sz="1800" i="0" dirty="0"/>
              <a:t>so we are left with the integral form of Ampere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s Law:</a:t>
            </a:r>
            <a:endParaRPr lang="en-US" altLang="zh-CN" sz="1800" i="0" dirty="0"/>
          </a:p>
        </p:txBody>
      </p:sp>
      <p:pic>
        <p:nvPicPr>
          <p:cNvPr id="37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943600"/>
            <a:ext cx="1600200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8" name="Picture 12" descr="Amp Law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675" y="1752600"/>
            <a:ext cx="2651125" cy="428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Stokes’ Theorem vs. Divergence Theorem 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40" name="Group 4"/>
          <p:cNvGrpSpPr/>
          <p:nvPr/>
        </p:nvGrpSpPr>
        <p:grpSpPr bwMode="auto">
          <a:xfrm>
            <a:off x="685800" y="1882026"/>
            <a:ext cx="3505199" cy="2925763"/>
            <a:chOff x="2885" y="1200"/>
            <a:chExt cx="2395" cy="2103"/>
          </a:xfrm>
        </p:grpSpPr>
        <p:grpSp>
          <p:nvGrpSpPr>
            <p:cNvPr id="58" name="Group 5"/>
            <p:cNvGrpSpPr/>
            <p:nvPr/>
          </p:nvGrpSpPr>
          <p:grpSpPr bwMode="auto">
            <a:xfrm>
              <a:off x="2885" y="1200"/>
              <a:ext cx="2395" cy="2103"/>
              <a:chOff x="2885" y="1200"/>
              <a:chExt cx="2395" cy="2103"/>
            </a:xfrm>
          </p:grpSpPr>
          <p:pic>
            <p:nvPicPr>
              <p:cNvPr id="62" name="Picture 6" descr="7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5" y="1200"/>
                <a:ext cx="2395" cy="21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" name="Line 7"/>
              <p:cNvSpPr>
                <a:spLocks noChangeShapeType="1"/>
              </p:cNvSpPr>
              <p:nvPr/>
            </p:nvSpPr>
            <p:spPr bwMode="auto">
              <a:xfrm flipV="1">
                <a:off x="3309" y="2540"/>
                <a:ext cx="323" cy="146"/>
              </a:xfrm>
              <a:prstGeom prst="line">
                <a:avLst/>
              </a:prstGeom>
              <a:noFill/>
              <a:ln w="28575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Line 8"/>
              <p:cNvSpPr>
                <a:spLocks noChangeShapeType="1"/>
              </p:cNvSpPr>
              <p:nvPr/>
            </p:nvSpPr>
            <p:spPr bwMode="auto">
              <a:xfrm>
                <a:off x="3209" y="2490"/>
                <a:ext cx="71" cy="134"/>
              </a:xfrm>
              <a:prstGeom prst="line">
                <a:avLst/>
              </a:prstGeom>
              <a:noFill/>
              <a:ln w="19050">
                <a:solidFill>
                  <a:srgbClr val="CC006B"/>
                </a:solidFill>
                <a:rou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Line 9"/>
              <p:cNvSpPr>
                <a:spLocks noChangeShapeType="1"/>
              </p:cNvSpPr>
              <p:nvPr/>
            </p:nvSpPr>
            <p:spPr bwMode="auto">
              <a:xfrm flipV="1">
                <a:off x="3428" y="2587"/>
                <a:ext cx="96" cy="48"/>
              </a:xfrm>
              <a:prstGeom prst="line">
                <a:avLst/>
              </a:prstGeom>
              <a:noFill/>
              <a:ln w="28575">
                <a:solidFill>
                  <a:srgbClr val="CC006B"/>
                </a:solidFill>
                <a:rou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Line 10"/>
              <p:cNvSpPr>
                <a:spLocks noChangeShapeType="1"/>
              </p:cNvSpPr>
              <p:nvPr/>
            </p:nvSpPr>
            <p:spPr bwMode="auto">
              <a:xfrm flipH="1" flipV="1">
                <a:off x="3567" y="2397"/>
                <a:ext cx="48" cy="96"/>
              </a:xfrm>
              <a:prstGeom prst="line">
                <a:avLst/>
              </a:prstGeom>
              <a:noFill/>
              <a:ln w="28575">
                <a:solidFill>
                  <a:srgbClr val="CC006B"/>
                </a:solidFill>
                <a:rou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67" name="Group 11"/>
              <p:cNvGrpSpPr/>
              <p:nvPr/>
            </p:nvGrpSpPr>
            <p:grpSpPr bwMode="auto">
              <a:xfrm flipH="1" flipV="1">
                <a:off x="3144" y="2272"/>
                <a:ext cx="330" cy="157"/>
                <a:chOff x="3405" y="2636"/>
                <a:chExt cx="323" cy="146"/>
              </a:xfrm>
            </p:grpSpPr>
            <p:sp>
              <p:nvSpPr>
                <p:cNvPr id="71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3405" y="2636"/>
                  <a:ext cx="323" cy="146"/>
                </a:xfrm>
                <a:prstGeom prst="line">
                  <a:avLst/>
                </a:prstGeom>
                <a:noFill/>
                <a:ln w="28575">
                  <a:solidFill>
                    <a:srgbClr val="CC006B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3524" y="2683"/>
                  <a:ext cx="96" cy="48"/>
                </a:xfrm>
                <a:prstGeom prst="line">
                  <a:avLst/>
                </a:prstGeom>
                <a:noFill/>
                <a:ln w="28575">
                  <a:solidFill>
                    <a:srgbClr val="CC006B"/>
                  </a:solidFill>
                  <a:round/>
                  <a:tailEnd type="stealth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8" name="Line 14"/>
              <p:cNvSpPr>
                <a:spLocks noChangeShapeType="1"/>
              </p:cNvSpPr>
              <p:nvPr/>
            </p:nvSpPr>
            <p:spPr bwMode="auto">
              <a:xfrm flipV="1">
                <a:off x="3174" y="2370"/>
                <a:ext cx="96" cy="48"/>
              </a:xfrm>
              <a:prstGeom prst="line">
                <a:avLst/>
              </a:prstGeom>
              <a:noFill/>
              <a:ln w="28575">
                <a:solidFill>
                  <a:srgbClr val="CC006B"/>
                </a:solidFill>
                <a:rou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Line 15"/>
              <p:cNvSpPr>
                <a:spLocks noChangeShapeType="1"/>
              </p:cNvSpPr>
              <p:nvPr/>
            </p:nvSpPr>
            <p:spPr bwMode="auto">
              <a:xfrm flipH="1">
                <a:off x="3504" y="2554"/>
                <a:ext cx="100" cy="41"/>
              </a:xfrm>
              <a:prstGeom prst="line">
                <a:avLst/>
              </a:prstGeom>
              <a:noFill/>
              <a:ln w="28575">
                <a:solidFill>
                  <a:srgbClr val="CC006B"/>
                </a:solidFill>
                <a:rou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Arc 16"/>
              <p:cNvSpPr/>
              <p:nvPr/>
            </p:nvSpPr>
            <p:spPr bwMode="auto">
              <a:xfrm rot="-988284">
                <a:off x="3167" y="2412"/>
                <a:ext cx="111" cy="391"/>
              </a:xfrm>
              <a:custGeom>
                <a:avLst/>
                <a:gdLst>
                  <a:gd name="T0" fmla="*/ 33 w 21086"/>
                  <a:gd name="T1" fmla="*/ 0 h 20645"/>
                  <a:gd name="T2" fmla="*/ 111 w 21086"/>
                  <a:gd name="T3" fmla="*/ 302 h 20645"/>
                  <a:gd name="T4" fmla="*/ 0 w 21086"/>
                  <a:gd name="T5" fmla="*/ 391 h 206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086" h="20645" fill="none" extrusionOk="0">
                    <a:moveTo>
                      <a:pt x="6351" y="-1"/>
                    </a:moveTo>
                    <a:cubicBezTo>
                      <a:pt x="13776" y="2284"/>
                      <a:pt x="19403" y="8380"/>
                      <a:pt x="21086" y="15964"/>
                    </a:cubicBezTo>
                  </a:path>
                  <a:path w="21086" h="20645" stroke="0" extrusionOk="0">
                    <a:moveTo>
                      <a:pt x="6351" y="-1"/>
                    </a:moveTo>
                    <a:cubicBezTo>
                      <a:pt x="13776" y="2284"/>
                      <a:pt x="19403" y="8380"/>
                      <a:pt x="21086" y="15964"/>
                    </a:cubicBezTo>
                    <a:lnTo>
                      <a:pt x="0" y="20645"/>
                    </a:lnTo>
                    <a:lnTo>
                      <a:pt x="6351" y="-1"/>
                    </a:lnTo>
                    <a:close/>
                  </a:path>
                </a:pathLst>
              </a:custGeom>
              <a:noFill/>
              <a:ln w="28575">
                <a:solidFill>
                  <a:srgbClr val="CC006B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9" name="Line 17"/>
            <p:cNvSpPr>
              <a:spLocks noChangeShapeType="1"/>
            </p:cNvSpPr>
            <p:nvPr/>
          </p:nvSpPr>
          <p:spPr bwMode="auto">
            <a:xfrm flipV="1">
              <a:off x="3408" y="1584"/>
              <a:ext cx="48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Rectangle 18"/>
            <p:cNvSpPr>
              <a:spLocks noChangeArrowheads="1"/>
            </p:cNvSpPr>
            <p:nvPr/>
          </p:nvSpPr>
          <p:spPr bwMode="auto">
            <a:xfrm>
              <a:off x="3309" y="2133"/>
              <a:ext cx="15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0"/>
                <a:t>.</a:t>
              </a:r>
              <a:endParaRPr lang="en-US" altLang="zh-CN" sz="1800" i="0"/>
            </a:p>
          </p:txBody>
        </p:sp>
        <p:pic>
          <p:nvPicPr>
            <p:cNvPr id="61" name="Picture 1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1488"/>
              <a:ext cx="132" cy="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pic>
        <p:nvPicPr>
          <p:cNvPr id="54" name="Picture 3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353" y="5054601"/>
            <a:ext cx="3006725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4" name="Picture 11" descr="Chapter 3 Fig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391" y="2282701"/>
            <a:ext cx="3722441" cy="1914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337" y="4953000"/>
            <a:ext cx="2989263" cy="98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cxnSp>
        <p:nvCxnSpPr>
          <p:cNvPr id="36" name="直接连接符 35"/>
          <p:cNvCxnSpPr/>
          <p:nvPr/>
        </p:nvCxnSpPr>
        <p:spPr>
          <a:xfrm>
            <a:off x="4648200" y="1775438"/>
            <a:ext cx="0" cy="49301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8"/>
          <p:cNvSpPr>
            <a:spLocks noChangeArrowheads="1"/>
          </p:cNvSpPr>
          <p:nvPr/>
        </p:nvSpPr>
        <p:spPr bwMode="auto">
          <a:xfrm>
            <a:off x="462363" y="6169338"/>
            <a:ext cx="6976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solidFill>
                  <a:srgbClr val="C00000"/>
                </a:solidFill>
              </a:rPr>
              <a:t>Note:</a:t>
            </a:r>
            <a:endParaRPr lang="en-US" altLang="zh-CN" sz="1800" i="0" dirty="0">
              <a:solidFill>
                <a:srgbClr val="C00000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82200" y="6037466"/>
            <a:ext cx="1919984" cy="633076"/>
            <a:chOff x="1813816" y="5990892"/>
            <a:chExt cx="1919984" cy="633076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3816" y="5990892"/>
              <a:ext cx="1439797" cy="633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9813" y="6231008"/>
              <a:ext cx="403987" cy="245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6064198"/>
            <a:ext cx="2362200" cy="68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Flux and Magnetic Flux Density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381" y="2644775"/>
            <a:ext cx="10604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767" y="5310187"/>
            <a:ext cx="1169988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763" y="2057400"/>
            <a:ext cx="1644650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9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455" y="4115594"/>
            <a:ext cx="1617663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0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707" y="3052030"/>
            <a:ext cx="2551113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1" name="Picture 1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3" y="5705596"/>
            <a:ext cx="2422525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457200" y="1714500"/>
            <a:ext cx="541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are already familiar with the concept of </a:t>
            </a:r>
            <a:r>
              <a:rPr lang="en-US" altLang="zh-CN" sz="1800" i="0" dirty="0">
                <a:solidFill>
                  <a:srgbClr val="C00000"/>
                </a:solidFill>
              </a:rPr>
              <a:t>electric flux</a:t>
            </a:r>
            <a:r>
              <a:rPr lang="en-US" altLang="zh-CN" sz="1800" i="0" dirty="0"/>
              <a:t>:</a:t>
            </a:r>
            <a:endParaRPr lang="en-US" altLang="zh-CN" sz="1800" i="0" dirty="0"/>
          </a:p>
        </p:txBody>
      </p:sp>
      <p:sp>
        <p:nvSpPr>
          <p:cNvPr id="23" name="Rectangle 13"/>
          <p:cNvSpPr>
            <a:spLocks noChangeArrowheads="1"/>
          </p:cNvSpPr>
          <p:nvPr/>
        </p:nvSpPr>
        <p:spPr bwMode="auto">
          <a:xfrm>
            <a:off x="3840163" y="2224088"/>
            <a:ext cx="1133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Coulombs</a:t>
            </a:r>
            <a:endParaRPr lang="en-US" altLang="zh-CN" sz="1800" i="0" dirty="0"/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517525" y="2644775"/>
            <a:ext cx="4718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in which the electric flux density </a:t>
            </a:r>
            <a:r>
              <a:rPr lang="en-US" altLang="zh-CN" sz="1800" i="0" dirty="0">
                <a:solidFill>
                  <a:srgbClr val="C00000"/>
                </a:solidFill>
              </a:rPr>
              <a:t>in free space </a:t>
            </a:r>
            <a:r>
              <a:rPr lang="en-US" altLang="zh-CN" sz="1800" i="0" dirty="0"/>
              <a:t>is:</a:t>
            </a:r>
            <a:endParaRPr lang="en-US" altLang="zh-CN" sz="1800" i="0" dirty="0"/>
          </a:p>
        </p:txBody>
      </p:sp>
      <p:pic>
        <p:nvPicPr>
          <p:cNvPr id="25" name="Picture 17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7136" y="2667000"/>
            <a:ext cx="585788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6" name="Picture 19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380" y="5310187"/>
            <a:ext cx="776288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7" name="Rectangle 20"/>
          <p:cNvSpPr>
            <a:spLocks noChangeArrowheads="1"/>
          </p:cNvSpPr>
          <p:nvPr/>
        </p:nvSpPr>
        <p:spPr bwMode="auto">
          <a:xfrm>
            <a:off x="511445" y="3581400"/>
            <a:ext cx="7013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u="sng" dirty="0"/>
              <a:t>In a similar way, we can define the </a:t>
            </a:r>
            <a:r>
              <a:rPr lang="en-US" altLang="zh-CN" sz="1800" u="sng" dirty="0">
                <a:solidFill>
                  <a:srgbClr val="C00000"/>
                </a:solidFill>
              </a:rPr>
              <a:t>magnetic flux </a:t>
            </a:r>
            <a:r>
              <a:rPr lang="en-US" altLang="zh-CN" sz="1800" i="0" u="sng" dirty="0">
                <a:solidFill>
                  <a:srgbClr val="C00000"/>
                </a:solidFill>
              </a:rPr>
              <a:t>in units of </a:t>
            </a:r>
            <a:r>
              <a:rPr lang="en-US" altLang="zh-CN" sz="1800" i="0" u="sng" dirty="0" err="1">
                <a:solidFill>
                  <a:srgbClr val="C00000"/>
                </a:solidFill>
              </a:rPr>
              <a:t>Webers</a:t>
            </a:r>
            <a:r>
              <a:rPr lang="en-US" altLang="zh-CN" sz="1800" i="0" u="sng" dirty="0">
                <a:solidFill>
                  <a:srgbClr val="C00000"/>
                </a:solidFill>
              </a:rPr>
              <a:t> (</a:t>
            </a:r>
            <a:r>
              <a:rPr lang="en-US" altLang="zh-CN" sz="1800" i="0" u="sng" dirty="0" err="1">
                <a:solidFill>
                  <a:srgbClr val="C00000"/>
                </a:solidFill>
              </a:rPr>
              <a:t>Wb</a:t>
            </a:r>
            <a:r>
              <a:rPr lang="en-US" altLang="zh-CN" sz="1800" i="0" u="sng" dirty="0">
                <a:solidFill>
                  <a:srgbClr val="C00000"/>
                </a:solidFill>
              </a:rPr>
              <a:t>):</a:t>
            </a:r>
            <a:endParaRPr lang="en-US" altLang="zh-CN" sz="1800" i="0" u="sng" dirty="0">
              <a:solidFill>
                <a:srgbClr val="C00000"/>
              </a:solidFill>
            </a:endParaRPr>
          </a:p>
        </p:txBody>
      </p:sp>
      <p:sp>
        <p:nvSpPr>
          <p:cNvPr id="34" name="Rectangle 21"/>
          <p:cNvSpPr>
            <a:spLocks noChangeArrowheads="1"/>
          </p:cNvSpPr>
          <p:nvPr/>
        </p:nvSpPr>
        <p:spPr bwMode="auto">
          <a:xfrm>
            <a:off x="3744118" y="4241800"/>
            <a:ext cx="871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 err="1"/>
              <a:t>Webers</a:t>
            </a:r>
            <a:endParaRPr lang="en-US" altLang="zh-CN" sz="1800" i="0" dirty="0"/>
          </a:p>
        </p:txBody>
      </p:sp>
      <p:sp>
        <p:nvSpPr>
          <p:cNvPr id="35" name="Rectangle 22"/>
          <p:cNvSpPr>
            <a:spLocks noChangeArrowheads="1"/>
          </p:cNvSpPr>
          <p:nvPr/>
        </p:nvSpPr>
        <p:spPr bwMode="auto">
          <a:xfrm>
            <a:off x="511445" y="4735512"/>
            <a:ext cx="8276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in which the </a:t>
            </a:r>
            <a:r>
              <a:rPr lang="en-US" altLang="zh-CN" sz="1800" dirty="0">
                <a:solidFill>
                  <a:srgbClr val="C00000"/>
                </a:solidFill>
              </a:rPr>
              <a:t>magnetic flux density</a:t>
            </a:r>
            <a:r>
              <a:rPr lang="en-US" altLang="zh-CN" sz="1800" i="0" dirty="0">
                <a:solidFill>
                  <a:srgbClr val="C00000"/>
                </a:solidFill>
              </a:rPr>
              <a:t> </a:t>
            </a:r>
            <a:r>
              <a:rPr lang="en-US" altLang="zh-CN" sz="1800" i="0" dirty="0"/>
              <a:t>(or </a:t>
            </a:r>
            <a:r>
              <a:rPr lang="en-US" altLang="zh-CN" sz="1800" dirty="0">
                <a:solidFill>
                  <a:srgbClr val="C00000"/>
                </a:solidFill>
              </a:rPr>
              <a:t>magnetic </a:t>
            </a:r>
            <a:r>
              <a:rPr lang="en-US" altLang="zh-CN" sz="1800" i="0" dirty="0">
                <a:solidFill>
                  <a:srgbClr val="C00000"/>
                </a:solidFill>
              </a:rPr>
              <a:t>induction</a:t>
            </a:r>
            <a:r>
              <a:rPr lang="zh-CN" altLang="en-US" sz="1800" i="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磁感应强度</a:t>
            </a:r>
            <a:r>
              <a:rPr lang="en-US" altLang="zh-CN" sz="1800" i="0" dirty="0"/>
              <a:t>) in </a:t>
            </a:r>
            <a:r>
              <a:rPr lang="en-US" altLang="zh-CN" sz="1800" i="0" dirty="0">
                <a:highlight>
                  <a:srgbClr val="FFFF00"/>
                </a:highlight>
              </a:rPr>
              <a:t>free space </a:t>
            </a:r>
            <a:r>
              <a:rPr lang="en-US" altLang="zh-CN" sz="1800" i="0" dirty="0"/>
              <a:t>is:</a:t>
            </a:r>
            <a:endParaRPr lang="en-US" altLang="zh-CN" sz="1800" i="0" dirty="0"/>
          </a:p>
        </p:txBody>
      </p:sp>
      <p:sp>
        <p:nvSpPr>
          <p:cNvPr id="36" name="Rectangle 23"/>
          <p:cNvSpPr>
            <a:spLocks noChangeArrowheads="1"/>
          </p:cNvSpPr>
          <p:nvPr/>
        </p:nvSpPr>
        <p:spPr bwMode="auto">
          <a:xfrm>
            <a:off x="488950" y="3059112"/>
            <a:ext cx="3884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and where the free space permittivity is </a:t>
            </a:r>
            <a:endParaRPr lang="en-US" altLang="zh-CN" sz="1800" i="0" dirty="0"/>
          </a:p>
        </p:txBody>
      </p:sp>
      <p:sp>
        <p:nvSpPr>
          <p:cNvPr id="39" name="Rectangle 24"/>
          <p:cNvSpPr>
            <a:spLocks noChangeArrowheads="1"/>
          </p:cNvSpPr>
          <p:nvPr/>
        </p:nvSpPr>
        <p:spPr bwMode="auto">
          <a:xfrm>
            <a:off x="517525" y="5726668"/>
            <a:ext cx="46538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and where </a:t>
            </a:r>
            <a:r>
              <a:rPr lang="en-US" altLang="zh-CN" sz="1800" i="0" dirty="0">
                <a:solidFill>
                  <a:srgbClr val="C00000"/>
                </a:solidFill>
              </a:rPr>
              <a:t>the free space </a:t>
            </a:r>
            <a:r>
              <a:rPr lang="en-US" altLang="zh-CN" sz="1800" dirty="0">
                <a:solidFill>
                  <a:srgbClr val="C00000"/>
                </a:solidFill>
              </a:rPr>
              <a:t>permeability </a:t>
            </a:r>
            <a:r>
              <a:rPr lang="zh-CN" altLang="en-US" sz="18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磁导率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i="0" dirty="0"/>
              <a:t>is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 Key Property of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B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599" y="2514600"/>
            <a:ext cx="2843213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594" y="4207429"/>
            <a:ext cx="2366963" cy="63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573883" y="1752600"/>
            <a:ext cx="815101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If the flux is evaluated </a:t>
            </a:r>
            <a:r>
              <a:rPr lang="en-US" altLang="zh-CN" sz="1800" i="0" dirty="0">
                <a:solidFill>
                  <a:srgbClr val="C00000"/>
                </a:solidFill>
              </a:rPr>
              <a:t>through a closed surface</a:t>
            </a:r>
            <a:r>
              <a:rPr lang="en-US" altLang="zh-CN" sz="1800" i="0" dirty="0"/>
              <a:t>, we have in the case of electric flux, Gauss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 Law:</a:t>
            </a:r>
            <a:endParaRPr lang="en-US" altLang="zh-CN" sz="1800" i="0" dirty="0"/>
          </a:p>
        </p:txBody>
      </p:sp>
      <p:sp>
        <p:nvSpPr>
          <p:cNvPr id="32" name="Rectangle 6"/>
          <p:cNvSpPr>
            <a:spLocks noChangeArrowheads="1"/>
          </p:cNvSpPr>
          <p:nvPr/>
        </p:nvSpPr>
        <p:spPr bwMode="auto">
          <a:xfrm>
            <a:off x="586823" y="3429000"/>
            <a:ext cx="604257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If the same were to be done with magnetic flux density, we would find:</a:t>
            </a:r>
            <a:endParaRPr lang="en-US" altLang="zh-CN" sz="1800" i="0" dirty="0"/>
          </a:p>
        </p:txBody>
      </p:sp>
      <p:sp>
        <p:nvSpPr>
          <p:cNvPr id="33" name="Rectangle 7"/>
          <p:cNvSpPr>
            <a:spLocks noChangeArrowheads="1"/>
          </p:cNvSpPr>
          <p:nvPr/>
        </p:nvSpPr>
        <p:spPr bwMode="auto">
          <a:xfrm>
            <a:off x="719933" y="4861719"/>
            <a:ext cx="5223667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implication is that (for our purposes) </a:t>
            </a:r>
            <a:r>
              <a:rPr lang="en-US" altLang="zh-CN" sz="1800" i="0" dirty="0">
                <a:solidFill>
                  <a:srgbClr val="C00000"/>
                </a:solidFill>
              </a:rPr>
              <a:t>there are no magnetic charges </a:t>
            </a:r>
            <a:r>
              <a:rPr lang="en-US" altLang="zh-CN" sz="1800" i="0" dirty="0"/>
              <a:t>-- specifically, </a:t>
            </a:r>
            <a:r>
              <a:rPr lang="en-US" altLang="zh-CN" sz="1800" dirty="0">
                <a:solidFill>
                  <a:srgbClr val="C00000"/>
                </a:solidFill>
              </a:rPr>
              <a:t>no point sources of magnetic field exist</a:t>
            </a:r>
            <a:r>
              <a:rPr lang="en-US" altLang="zh-CN" sz="1800" i="0" dirty="0"/>
              <a:t>.  A hint of this has already</a:t>
            </a:r>
            <a:endParaRPr lang="en-US" altLang="zh-CN" sz="1800" i="0" dirty="0"/>
          </a:p>
          <a:p>
            <a:r>
              <a:rPr lang="en-US" altLang="zh-CN" sz="1800" i="0" dirty="0"/>
              <a:t>been observed, in that </a:t>
            </a:r>
            <a:r>
              <a:rPr lang="en-US" altLang="zh-CN" sz="1800" i="0" dirty="0">
                <a:solidFill>
                  <a:srgbClr val="C00000"/>
                </a:solidFill>
              </a:rPr>
              <a:t>magnetic field lines always close on themselves</a:t>
            </a:r>
            <a:r>
              <a:rPr lang="en-US" altLang="zh-CN" sz="1800" i="0" dirty="0"/>
              <a:t>.</a:t>
            </a:r>
            <a:endParaRPr lang="en-US" altLang="zh-CN" sz="1800" i="0" dirty="0"/>
          </a:p>
        </p:txBody>
      </p:sp>
      <p:pic>
        <p:nvPicPr>
          <p:cNvPr id="4098" name="Picture 2" descr="C:\Users\dpcuser\Desktop\About Teaching\工程电磁场\Instructor Notes\Lecture 11\250px-VFPt_cylindrical_magnet_thumb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027" y="4339477"/>
            <a:ext cx="238125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dpcuser\Desktop\About Teaching\工程电磁场\Instructor Notes\Lecture 11\images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901" y="2209800"/>
            <a:ext cx="2286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椭圆 2"/>
          <p:cNvSpPr/>
          <p:nvPr/>
        </p:nvSpPr>
        <p:spPr>
          <a:xfrm>
            <a:off x="6781800" y="2438400"/>
            <a:ext cx="800101" cy="1237565"/>
          </a:xfrm>
          <a:prstGeom prst="ellipse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6704701" y="4616044"/>
            <a:ext cx="800101" cy="1237565"/>
          </a:xfrm>
          <a:prstGeom prst="ellipse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Another Maxwell Equation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2" y="2711873"/>
            <a:ext cx="3235325" cy="722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278313"/>
            <a:ext cx="1298575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464689" y="1752600"/>
            <a:ext cx="806971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may rewrite the closed surface integral of </a:t>
            </a:r>
            <a:r>
              <a:rPr lang="en-US" altLang="zh-CN" sz="1800" b="1" i="0" dirty="0"/>
              <a:t>B</a:t>
            </a:r>
            <a:r>
              <a:rPr lang="en-US" altLang="zh-CN" sz="1800" i="0" dirty="0"/>
              <a:t> </a:t>
            </a:r>
            <a:r>
              <a:rPr lang="en-US" altLang="zh-CN" sz="1800" i="0" dirty="0">
                <a:solidFill>
                  <a:srgbClr val="C00000"/>
                </a:solidFill>
              </a:rPr>
              <a:t>using the divergence theorem</a:t>
            </a:r>
            <a:r>
              <a:rPr lang="en-US" altLang="zh-CN" sz="1800" i="0" dirty="0"/>
              <a:t>, in which the right hand integral is taken over the volume surrounded by the closed surface:</a:t>
            </a:r>
            <a:endParaRPr lang="en-US" altLang="zh-CN" sz="1800" i="0" dirty="0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687388" y="3629026"/>
            <a:ext cx="3929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Because the result is zero, it follows that</a:t>
            </a:r>
            <a:endParaRPr lang="en-US" altLang="zh-CN" sz="1800" i="0"/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612775" y="5040313"/>
            <a:ext cx="6904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This result is known as </a:t>
            </a:r>
            <a:r>
              <a:rPr lang="en-US" altLang="zh-CN" sz="1800" i="0" dirty="0">
                <a:solidFill>
                  <a:srgbClr val="C00000"/>
                </a:solidFill>
              </a:rPr>
              <a:t>Gauss</a:t>
            </a:r>
            <a:r>
              <a:rPr lang="ja-JP" altLang="en-US" sz="1800" i="0" dirty="0">
                <a:solidFill>
                  <a:srgbClr val="C00000"/>
                </a:solidFill>
              </a:rPr>
              <a:t>’</a:t>
            </a:r>
            <a:r>
              <a:rPr lang="en-US" altLang="ja-JP" sz="1800" i="0" dirty="0">
                <a:solidFill>
                  <a:srgbClr val="C00000"/>
                </a:solidFill>
              </a:rPr>
              <a:t> Law for the magnetic field in point form</a:t>
            </a:r>
            <a:r>
              <a:rPr lang="en-US" altLang="ja-JP" sz="1800" i="0" dirty="0"/>
              <a:t>.</a:t>
            </a:r>
            <a:endParaRPr lang="en-US" altLang="zh-CN" sz="1800" i="0" dirty="0"/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3127375" y="4202113"/>
            <a:ext cx="1600200" cy="533400"/>
          </a:xfrm>
          <a:prstGeom prst="rect">
            <a:avLst/>
          </a:prstGeom>
          <a:noFill/>
          <a:ln w="9525">
            <a:solidFill>
              <a:srgbClr val="CC006B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Maxwell’s Equations for Static Fields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668668" y="1666220"/>
            <a:ext cx="80562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have now completed the derivation of Maxwell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s equations </a:t>
            </a:r>
            <a:r>
              <a:rPr lang="en-US" altLang="ja-JP" sz="1800" i="0" dirty="0">
                <a:solidFill>
                  <a:srgbClr val="C00000"/>
                </a:solidFill>
              </a:rPr>
              <a:t>for no time variation</a:t>
            </a:r>
            <a:r>
              <a:rPr lang="en-US" altLang="ja-JP" sz="1800" i="0" dirty="0"/>
              <a:t>. In point form, these are:</a:t>
            </a:r>
            <a:endParaRPr lang="en-US" altLang="zh-CN" sz="1800" i="0" dirty="0"/>
          </a:p>
        </p:txBody>
      </p:sp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89258"/>
            <a:ext cx="1792288" cy="208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2924968" y="2590800"/>
            <a:ext cx="3217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Gauss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 Law for the electric field</a:t>
            </a:r>
            <a:endParaRPr lang="en-US" altLang="zh-CN" sz="1800" i="0" dirty="0"/>
          </a:p>
        </p:txBody>
      </p:sp>
      <p:sp>
        <p:nvSpPr>
          <p:cNvPr id="25" name="Rectangle 6"/>
          <p:cNvSpPr>
            <a:spLocks noChangeArrowheads="1"/>
          </p:cNvSpPr>
          <p:nvPr/>
        </p:nvSpPr>
        <p:spPr bwMode="auto">
          <a:xfrm>
            <a:off x="2921793" y="3086100"/>
            <a:ext cx="45958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Conservative property of the static electric field</a:t>
            </a:r>
            <a:endParaRPr lang="en-US" altLang="zh-CN" sz="1800" i="0"/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2947193" y="3619500"/>
            <a:ext cx="2466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Ampere</a:t>
            </a:r>
            <a:r>
              <a:rPr lang="ja-JP" altLang="en-US" sz="1800" i="0"/>
              <a:t>’</a:t>
            </a:r>
            <a:r>
              <a:rPr lang="en-US" altLang="ja-JP" sz="1800" i="0"/>
              <a:t>s Circuital Law</a:t>
            </a:r>
            <a:endParaRPr lang="en-US" altLang="zh-CN" sz="1800" i="0"/>
          </a:p>
        </p:txBody>
      </p:sp>
      <p:sp>
        <p:nvSpPr>
          <p:cNvPr id="27" name="Rectangle 8"/>
          <p:cNvSpPr>
            <a:spLocks noChangeArrowheads="1"/>
          </p:cNvSpPr>
          <p:nvPr/>
        </p:nvSpPr>
        <p:spPr bwMode="auto">
          <a:xfrm>
            <a:off x="2929730" y="4121150"/>
            <a:ext cx="34607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Gauss</a:t>
            </a:r>
            <a:r>
              <a:rPr lang="ja-JP" altLang="en-US" sz="1800" i="0"/>
              <a:t>’</a:t>
            </a:r>
            <a:r>
              <a:rPr lang="en-US" altLang="ja-JP" sz="1800" i="0"/>
              <a:t> Law for the Magnetic Field</a:t>
            </a:r>
            <a:endParaRPr lang="en-US" altLang="zh-CN" sz="1800" i="0"/>
          </a:p>
        </p:txBody>
      </p:sp>
      <p:pic>
        <p:nvPicPr>
          <p:cNvPr id="28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271005"/>
            <a:ext cx="1160463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9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688" y="5285741"/>
            <a:ext cx="1233488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0" name="Rectangle 11"/>
          <p:cNvSpPr>
            <a:spLocks noChangeArrowheads="1"/>
          </p:cNvSpPr>
          <p:nvPr/>
        </p:nvSpPr>
        <p:spPr bwMode="auto">
          <a:xfrm>
            <a:off x="829468" y="4762978"/>
            <a:ext cx="20955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where, in free space:</a:t>
            </a:r>
            <a:endParaRPr lang="en-US" altLang="zh-CN" sz="1800" i="0"/>
          </a:p>
        </p:txBody>
      </p:sp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914400" y="5930325"/>
            <a:ext cx="7162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600" i="0" dirty="0">
                <a:solidFill>
                  <a:srgbClr val="C00000"/>
                </a:solidFill>
              </a:rPr>
              <a:t>Note: Significant changes in the above four equations will occur when the fields are allowed to vary with time, as we</a:t>
            </a:r>
            <a:r>
              <a:rPr lang="ja-JP" altLang="en-US" sz="1600" dirty="0">
                <a:solidFill>
                  <a:srgbClr val="C00000"/>
                </a:solidFill>
              </a:rPr>
              <a:t> </a:t>
            </a:r>
            <a:r>
              <a:rPr lang="en-US" altLang="ja-JP" sz="1600" dirty="0">
                <a:solidFill>
                  <a:srgbClr val="C00000"/>
                </a:solidFill>
              </a:rPr>
              <a:t>wi</a:t>
            </a:r>
            <a:r>
              <a:rPr lang="en-US" altLang="ja-JP" sz="1600" i="0" dirty="0">
                <a:solidFill>
                  <a:srgbClr val="C00000"/>
                </a:solidFill>
              </a:rPr>
              <a:t>ll see later.</a:t>
            </a:r>
            <a:endParaRPr lang="en-US" altLang="zh-CN" sz="1600" i="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Maxwell’s Equations for Static Fields in Large Scale Form</a:t>
            </a:r>
            <a:endParaRPr lang="zh-CN" altLang="en-US" sz="2800" b="1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938523"/>
            <a:ext cx="3609975" cy="337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533400" y="2096869"/>
            <a:ext cx="817712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</a:t>
            </a:r>
            <a:r>
              <a:rPr lang="en-US" altLang="zh-CN" sz="1800" i="0" dirty="0">
                <a:solidFill>
                  <a:srgbClr val="C00000"/>
                </a:solidFill>
              </a:rPr>
              <a:t>divergence theorem and Stokes</a:t>
            </a:r>
            <a:r>
              <a:rPr lang="ja-JP" altLang="en-US" sz="1800" i="0" dirty="0">
                <a:solidFill>
                  <a:srgbClr val="C00000"/>
                </a:solidFill>
              </a:rPr>
              <a:t>’</a:t>
            </a:r>
            <a:r>
              <a:rPr lang="en-US" altLang="ja-JP" sz="1800" i="0" dirty="0">
                <a:solidFill>
                  <a:srgbClr val="C00000"/>
                </a:solidFill>
              </a:rPr>
              <a:t> theorem </a:t>
            </a:r>
            <a:r>
              <a:rPr lang="en-US" altLang="ja-JP" sz="1800" i="0" dirty="0"/>
              <a:t>can be applied to the previous four point form equations </a:t>
            </a:r>
            <a:r>
              <a:rPr lang="en-US" altLang="zh-CN" sz="1800" i="0" dirty="0"/>
              <a:t>to yield the integral form of Maxwell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s equations for static fields:</a:t>
            </a:r>
            <a:endParaRPr lang="en-US" altLang="zh-CN" sz="1800" i="0" dirty="0"/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4411274" y="3124200"/>
            <a:ext cx="32178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Gauss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 Law for the electric field</a:t>
            </a:r>
            <a:endParaRPr lang="en-US" altLang="zh-CN" sz="1800" i="0" dirty="0"/>
          </a:p>
        </p:txBody>
      </p:sp>
      <p:sp>
        <p:nvSpPr>
          <p:cNvPr id="31" name="Rectangle 6"/>
          <p:cNvSpPr>
            <a:spLocks noChangeArrowheads="1"/>
          </p:cNvSpPr>
          <p:nvPr/>
        </p:nvSpPr>
        <p:spPr bwMode="auto">
          <a:xfrm>
            <a:off x="4352536" y="4070410"/>
            <a:ext cx="45958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Conservative property of the static electric field</a:t>
            </a:r>
            <a:endParaRPr lang="en-US" altLang="zh-CN" sz="1800" i="0" dirty="0"/>
          </a:p>
        </p:txBody>
      </p:sp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4391025" y="4875273"/>
            <a:ext cx="2466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Ampere</a:t>
            </a:r>
            <a:r>
              <a:rPr lang="ja-JP" altLang="en-US" sz="1800" i="0"/>
              <a:t>’</a:t>
            </a:r>
            <a:r>
              <a:rPr lang="en-US" altLang="ja-JP" sz="1800" i="0"/>
              <a:t>s Circuital Law</a:t>
            </a:r>
            <a:endParaRPr lang="en-US" altLang="zh-CN" sz="1800" i="0"/>
          </a:p>
        </p:txBody>
      </p:sp>
      <p:sp>
        <p:nvSpPr>
          <p:cNvPr id="33" name="Rectangle 8"/>
          <p:cNvSpPr>
            <a:spLocks noChangeArrowheads="1"/>
          </p:cNvSpPr>
          <p:nvPr/>
        </p:nvSpPr>
        <p:spPr bwMode="auto">
          <a:xfrm>
            <a:off x="4414838" y="5721410"/>
            <a:ext cx="3384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Gauss</a:t>
            </a:r>
            <a:r>
              <a:rPr lang="ja-JP" altLang="en-US" sz="1800" i="0"/>
              <a:t>’</a:t>
            </a:r>
            <a:r>
              <a:rPr lang="en-US" altLang="ja-JP" sz="1800" i="0"/>
              <a:t> Law for the magnetic field</a:t>
            </a:r>
            <a:endParaRPr lang="en-US" altLang="zh-CN" sz="1800" i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Example:  Magnetic Flux Within a Coaxial Line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4" name="Group 22"/>
          <p:cNvGrpSpPr/>
          <p:nvPr/>
        </p:nvGrpSpPr>
        <p:grpSpPr bwMode="auto">
          <a:xfrm>
            <a:off x="685800" y="2514600"/>
            <a:ext cx="6019801" cy="2649538"/>
            <a:chOff x="432" y="1968"/>
            <a:chExt cx="3792" cy="1669"/>
          </a:xfrm>
        </p:grpSpPr>
        <p:grpSp>
          <p:nvGrpSpPr>
            <p:cNvPr id="28" name="Group 13"/>
            <p:cNvGrpSpPr/>
            <p:nvPr/>
          </p:nvGrpSpPr>
          <p:grpSpPr bwMode="auto">
            <a:xfrm>
              <a:off x="432" y="1968"/>
              <a:ext cx="3792" cy="1669"/>
              <a:chOff x="432" y="1968"/>
              <a:chExt cx="3792" cy="1669"/>
            </a:xfrm>
          </p:grpSpPr>
          <p:grpSp>
            <p:nvGrpSpPr>
              <p:cNvPr id="40" name="Group 3"/>
              <p:cNvGrpSpPr/>
              <p:nvPr/>
            </p:nvGrpSpPr>
            <p:grpSpPr bwMode="auto">
              <a:xfrm>
                <a:off x="432" y="1968"/>
                <a:ext cx="3792" cy="1669"/>
                <a:chOff x="1008" y="1643"/>
                <a:chExt cx="3792" cy="1669"/>
              </a:xfrm>
            </p:grpSpPr>
            <p:pic>
              <p:nvPicPr>
                <p:cNvPr id="47" name="Picture 4" descr="7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08" y="1643"/>
                  <a:ext cx="3489" cy="15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8" name="Rectangle 5"/>
                <p:cNvSpPr>
                  <a:spLocks noChangeArrowheads="1"/>
                </p:cNvSpPr>
                <p:nvPr/>
              </p:nvSpPr>
              <p:spPr bwMode="auto">
                <a:xfrm>
                  <a:off x="3024" y="1824"/>
                  <a:ext cx="1776" cy="14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 i="0"/>
                </a:p>
              </p:txBody>
            </p:sp>
            <p:sp>
              <p:nvSpPr>
                <p:cNvPr id="49" name="Rectangle 6"/>
                <p:cNvSpPr>
                  <a:spLocks noChangeArrowheads="1"/>
                </p:cNvSpPr>
                <p:nvPr/>
              </p:nvSpPr>
              <p:spPr bwMode="auto">
                <a:xfrm>
                  <a:off x="1872" y="3024"/>
                  <a:ext cx="192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 i="0"/>
                </a:p>
              </p:txBody>
            </p:sp>
          </p:grpSp>
          <p:sp>
            <p:nvSpPr>
              <p:cNvPr id="41" name="Line 7"/>
              <p:cNvSpPr>
                <a:spLocks noChangeShapeType="1"/>
              </p:cNvSpPr>
              <p:nvPr/>
            </p:nvSpPr>
            <p:spPr bwMode="auto">
              <a:xfrm>
                <a:off x="1143" y="2850"/>
                <a:ext cx="2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" name="Line 8"/>
              <p:cNvSpPr>
                <a:spLocks noChangeShapeType="1"/>
              </p:cNvSpPr>
              <p:nvPr/>
            </p:nvSpPr>
            <p:spPr bwMode="auto">
              <a:xfrm flipV="1">
                <a:off x="1140" y="2717"/>
                <a:ext cx="229" cy="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" name="Line 10"/>
              <p:cNvSpPr>
                <a:spLocks noChangeShapeType="1"/>
              </p:cNvSpPr>
              <p:nvPr/>
            </p:nvSpPr>
            <p:spPr bwMode="auto">
              <a:xfrm flipV="1">
                <a:off x="1440" y="2475"/>
                <a:ext cx="370" cy="2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Line 11"/>
              <p:cNvSpPr>
                <a:spLocks noChangeShapeType="1"/>
              </p:cNvSpPr>
              <p:nvPr/>
            </p:nvSpPr>
            <p:spPr bwMode="auto">
              <a:xfrm>
                <a:off x="1812" y="2475"/>
                <a:ext cx="2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" name="Line 12"/>
              <p:cNvSpPr>
                <a:spLocks noChangeShapeType="1"/>
              </p:cNvSpPr>
              <p:nvPr/>
            </p:nvSpPr>
            <p:spPr bwMode="auto">
              <a:xfrm flipV="1">
                <a:off x="1413" y="2476"/>
                <a:ext cx="669" cy="3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1620" y="3021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/>
                <a:t>d</a:t>
              </a:r>
              <a:endParaRPr lang="en-US" altLang="zh-CN" sz="1800"/>
            </a:p>
          </p:txBody>
        </p:sp>
        <p:sp>
          <p:nvSpPr>
            <p:cNvPr id="30" name="Line 15"/>
            <p:cNvSpPr>
              <a:spLocks noChangeShapeType="1"/>
            </p:cNvSpPr>
            <p:nvPr/>
          </p:nvSpPr>
          <p:spPr bwMode="auto">
            <a:xfrm>
              <a:off x="2108" y="2784"/>
              <a:ext cx="4" cy="2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16"/>
            <p:cNvSpPr>
              <a:spLocks noChangeShapeType="1"/>
            </p:cNvSpPr>
            <p:nvPr/>
          </p:nvSpPr>
          <p:spPr bwMode="auto">
            <a:xfrm>
              <a:off x="1296" y="3288"/>
              <a:ext cx="4" cy="2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17"/>
            <p:cNvSpPr>
              <a:spLocks noChangeShapeType="1"/>
            </p:cNvSpPr>
            <p:nvPr/>
          </p:nvSpPr>
          <p:spPr bwMode="auto">
            <a:xfrm flipV="1">
              <a:off x="1776" y="2860"/>
              <a:ext cx="324" cy="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18"/>
            <p:cNvSpPr>
              <a:spLocks noChangeShapeType="1"/>
            </p:cNvSpPr>
            <p:nvPr/>
          </p:nvSpPr>
          <p:spPr bwMode="auto">
            <a:xfrm flipH="1">
              <a:off x="1296" y="3165"/>
              <a:ext cx="324" cy="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Arc 19"/>
            <p:cNvSpPr/>
            <p:nvPr/>
          </p:nvSpPr>
          <p:spPr bwMode="auto">
            <a:xfrm>
              <a:off x="1152" y="2688"/>
              <a:ext cx="144" cy="269"/>
            </a:xfrm>
            <a:custGeom>
              <a:avLst/>
              <a:gdLst>
                <a:gd name="T0" fmla="*/ 86 w 21600"/>
                <a:gd name="T1" fmla="*/ 0 h 20392"/>
                <a:gd name="T2" fmla="*/ 143 w 21600"/>
                <a:gd name="T3" fmla="*/ 269 h 20392"/>
                <a:gd name="T4" fmla="*/ 0 w 21600"/>
                <a:gd name="T5" fmla="*/ 229 h 203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0392" fill="none" extrusionOk="0">
                  <a:moveTo>
                    <a:pt x="12835" y="-1"/>
                  </a:moveTo>
                  <a:cubicBezTo>
                    <a:pt x="18347" y="4071"/>
                    <a:pt x="21600" y="10518"/>
                    <a:pt x="21600" y="17372"/>
                  </a:cubicBezTo>
                  <a:cubicBezTo>
                    <a:pt x="21600" y="18382"/>
                    <a:pt x="21529" y="19391"/>
                    <a:pt x="21387" y="20392"/>
                  </a:cubicBezTo>
                </a:path>
                <a:path w="21600" h="20392" stroke="0" extrusionOk="0">
                  <a:moveTo>
                    <a:pt x="12835" y="-1"/>
                  </a:moveTo>
                  <a:cubicBezTo>
                    <a:pt x="18347" y="4071"/>
                    <a:pt x="21600" y="10518"/>
                    <a:pt x="21600" y="17372"/>
                  </a:cubicBezTo>
                  <a:cubicBezTo>
                    <a:pt x="21600" y="18382"/>
                    <a:pt x="21529" y="19391"/>
                    <a:pt x="21387" y="20392"/>
                  </a:cubicBezTo>
                  <a:lnTo>
                    <a:pt x="0" y="17372"/>
                  </a:lnTo>
                  <a:lnTo>
                    <a:pt x="12835" y="-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20"/>
            <p:cNvSpPr>
              <a:spLocks noChangeShapeType="1"/>
            </p:cNvSpPr>
            <p:nvPr/>
          </p:nvSpPr>
          <p:spPr bwMode="auto">
            <a:xfrm>
              <a:off x="1293" y="29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Rectangle 21"/>
            <p:cNvSpPr>
              <a:spLocks noChangeArrowheads="1"/>
            </p:cNvSpPr>
            <p:nvPr/>
          </p:nvSpPr>
          <p:spPr bwMode="auto">
            <a:xfrm>
              <a:off x="1153" y="2970"/>
              <a:ext cx="2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b="1" i="0"/>
                <a:t>B</a:t>
              </a:r>
              <a:endParaRPr lang="en-US" altLang="zh-CN" sz="1800" b="1" i="0"/>
            </a:p>
          </p:txBody>
        </p:sp>
      </p:grpSp>
      <p:pic>
        <p:nvPicPr>
          <p:cNvPr id="15" name="Picture 2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322614"/>
            <a:ext cx="2468563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6" name="Picture 2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3106663"/>
            <a:ext cx="1909763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7" name="Picture 2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320" y="4619764"/>
            <a:ext cx="3867150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1" name="Picture 2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244446"/>
            <a:ext cx="1554163" cy="56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2" name="Rectangle 27"/>
          <p:cNvSpPr>
            <a:spLocks noChangeArrowheads="1"/>
          </p:cNvSpPr>
          <p:nvPr/>
        </p:nvSpPr>
        <p:spPr bwMode="auto">
          <a:xfrm>
            <a:off x="611097" y="1676284"/>
            <a:ext cx="837900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Consider a length </a:t>
            </a:r>
            <a:r>
              <a:rPr lang="en-US" altLang="zh-CN" sz="1800" i="1" dirty="0"/>
              <a:t>d</a:t>
            </a:r>
            <a:r>
              <a:rPr lang="en-US" altLang="zh-CN" sz="1800" dirty="0"/>
              <a:t> </a:t>
            </a:r>
            <a:r>
              <a:rPr lang="en-US" altLang="zh-CN" sz="1800" i="0" dirty="0"/>
              <a:t>of coax, as shown here.  The magnetic field strength between conductors is:</a:t>
            </a:r>
            <a:endParaRPr lang="en-US" altLang="zh-CN" sz="1800" i="0" dirty="0"/>
          </a:p>
        </p:txBody>
      </p:sp>
      <p:sp>
        <p:nvSpPr>
          <p:cNvPr id="23" name="Rectangle 28"/>
          <p:cNvSpPr>
            <a:spLocks noChangeArrowheads="1"/>
          </p:cNvSpPr>
          <p:nvPr/>
        </p:nvSpPr>
        <p:spPr bwMode="auto">
          <a:xfrm>
            <a:off x="3997325" y="3155950"/>
            <a:ext cx="844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and so:</a:t>
            </a:r>
            <a:endParaRPr lang="en-US" altLang="zh-CN" sz="1800" i="0" dirty="0"/>
          </a:p>
        </p:txBody>
      </p:sp>
      <p:sp>
        <p:nvSpPr>
          <p:cNvPr id="24" name="Rectangle 29"/>
          <p:cNvSpPr>
            <a:spLocks noChangeArrowheads="1"/>
          </p:cNvSpPr>
          <p:nvPr/>
        </p:nvSpPr>
        <p:spPr bwMode="auto">
          <a:xfrm>
            <a:off x="4191000" y="38100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sp>
        <p:nvSpPr>
          <p:cNvPr id="25" name="Rectangle 30"/>
          <p:cNvSpPr>
            <a:spLocks noChangeArrowheads="1"/>
          </p:cNvSpPr>
          <p:nvPr/>
        </p:nvSpPr>
        <p:spPr bwMode="auto">
          <a:xfrm>
            <a:off x="3657600" y="3728499"/>
            <a:ext cx="5181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magnetic flux is now the integral of </a:t>
            </a:r>
            <a:r>
              <a:rPr lang="en-US" altLang="zh-CN" sz="1800" b="1" i="0" dirty="0"/>
              <a:t>B </a:t>
            </a:r>
            <a:r>
              <a:rPr lang="en-US" altLang="zh-CN" sz="1800" i="0" dirty="0"/>
              <a:t>over the </a:t>
            </a:r>
            <a:endParaRPr lang="en-US" altLang="zh-CN" sz="1800" i="0" dirty="0"/>
          </a:p>
          <a:p>
            <a:r>
              <a:rPr lang="en-US" altLang="zh-CN" sz="1800" i="0" dirty="0"/>
              <a:t>flat surface between radii </a:t>
            </a:r>
            <a:r>
              <a:rPr lang="en-US" altLang="zh-CN" sz="1800" i="1" dirty="0"/>
              <a:t>a</a:t>
            </a:r>
            <a:r>
              <a:rPr lang="en-US" altLang="zh-CN" sz="1800" dirty="0"/>
              <a:t> </a:t>
            </a:r>
            <a:r>
              <a:rPr lang="en-US" altLang="zh-CN" sz="1800" i="0" dirty="0"/>
              <a:t>and </a:t>
            </a:r>
            <a:r>
              <a:rPr lang="en-US" altLang="zh-CN" sz="1800" i="1" dirty="0"/>
              <a:t>b</a:t>
            </a:r>
            <a:r>
              <a:rPr lang="en-US" altLang="zh-CN" sz="1800" i="0" dirty="0"/>
              <a:t>, and of length </a:t>
            </a:r>
            <a:r>
              <a:rPr lang="en-US" altLang="zh-CN" sz="1800" i="1" dirty="0"/>
              <a:t>d</a:t>
            </a:r>
            <a:r>
              <a:rPr lang="en-US" altLang="zh-CN" sz="1800" dirty="0"/>
              <a:t> </a:t>
            </a:r>
            <a:r>
              <a:rPr lang="en-US" altLang="zh-CN" sz="1800" i="0" dirty="0"/>
              <a:t>along </a:t>
            </a:r>
            <a:r>
              <a:rPr lang="en-US" altLang="zh-CN" sz="1800" i="1" dirty="0"/>
              <a:t>z</a:t>
            </a:r>
            <a:r>
              <a:rPr lang="en-US" altLang="zh-CN" sz="1800" i="0" dirty="0"/>
              <a:t>: </a:t>
            </a:r>
            <a:endParaRPr lang="en-US" altLang="zh-CN" sz="1800" i="0" dirty="0"/>
          </a:p>
        </p:txBody>
      </p:sp>
      <p:sp>
        <p:nvSpPr>
          <p:cNvPr id="26" name="Rectangle 31"/>
          <p:cNvSpPr>
            <a:spLocks noChangeArrowheads="1"/>
          </p:cNvSpPr>
          <p:nvPr/>
        </p:nvSpPr>
        <p:spPr bwMode="auto">
          <a:xfrm>
            <a:off x="895350" y="5342077"/>
            <a:ext cx="1390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result is:</a:t>
            </a:r>
            <a:endParaRPr lang="en-US" altLang="zh-CN" sz="1800" i="0" dirty="0"/>
          </a:p>
        </p:txBody>
      </p:sp>
      <p:sp>
        <p:nvSpPr>
          <p:cNvPr id="27" name="Rectangle 32"/>
          <p:cNvSpPr>
            <a:spLocks noChangeArrowheads="1"/>
          </p:cNvSpPr>
          <p:nvPr/>
        </p:nvSpPr>
        <p:spPr bwMode="auto">
          <a:xfrm>
            <a:off x="800099" y="5787551"/>
            <a:ext cx="750570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coax line thus </a:t>
            </a:r>
            <a:r>
              <a:rPr lang="ja-JP" altLang="en-US" sz="1800" i="0" dirty="0">
                <a:solidFill>
                  <a:srgbClr val="C00000"/>
                </a:solidFill>
              </a:rPr>
              <a:t>“</a:t>
            </a:r>
            <a:r>
              <a:rPr lang="en-US" altLang="ja-JP" sz="1800" i="0" dirty="0">
                <a:solidFill>
                  <a:srgbClr val="C00000"/>
                </a:solidFill>
              </a:rPr>
              <a:t>stores</a:t>
            </a:r>
            <a:r>
              <a:rPr lang="ja-JP" altLang="en-US" sz="1800" i="0" dirty="0">
                <a:solidFill>
                  <a:srgbClr val="C00000"/>
                </a:solidFill>
              </a:rPr>
              <a:t>”</a:t>
            </a:r>
            <a:r>
              <a:rPr lang="en-US" altLang="ja-JP" sz="1800" i="0" dirty="0">
                <a:solidFill>
                  <a:srgbClr val="C00000"/>
                </a:solidFill>
              </a:rPr>
              <a:t> this amount of magnetic flux</a:t>
            </a:r>
            <a:r>
              <a:rPr lang="en-US" altLang="ja-JP" sz="1800" i="0" dirty="0"/>
              <a:t> in the region between conductors. </a:t>
            </a:r>
            <a:r>
              <a:rPr lang="en-US" altLang="zh-CN" sz="1800" i="0" dirty="0"/>
              <a:t>This will have importance when we discuss </a:t>
            </a:r>
            <a:r>
              <a:rPr lang="en-US" altLang="zh-CN" sz="1800" i="0" dirty="0">
                <a:solidFill>
                  <a:srgbClr val="C00000"/>
                </a:solidFill>
              </a:rPr>
              <a:t>inductance</a:t>
            </a:r>
            <a:r>
              <a:rPr lang="en-US" altLang="zh-CN" sz="1800" i="0" dirty="0"/>
              <a:t> in a later lecture.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Scalar Magnetic Potential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标量磁位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1" name="Rectangle 3"/>
          <p:cNvSpPr>
            <a:spLocks noChangeArrowheads="1"/>
          </p:cNvSpPr>
          <p:nvPr/>
        </p:nvSpPr>
        <p:spPr bwMode="auto">
          <a:xfrm>
            <a:off x="609601" y="1672181"/>
            <a:ext cx="8001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are already familiar with the relation between the scalar </a:t>
            </a:r>
            <a:r>
              <a:rPr lang="en-US" altLang="zh-CN" sz="1800" i="0" dirty="0">
                <a:solidFill>
                  <a:srgbClr val="C00000"/>
                </a:solidFill>
              </a:rPr>
              <a:t>electric potential </a:t>
            </a:r>
            <a:r>
              <a:rPr lang="en-US" altLang="zh-CN" sz="1800" i="0" dirty="0"/>
              <a:t>and electric field: </a:t>
            </a:r>
            <a:endParaRPr lang="en-US" altLang="zh-CN" sz="1800" i="0" dirty="0"/>
          </a:p>
        </p:txBody>
      </p:sp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7" y="2291556"/>
            <a:ext cx="1216025" cy="29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3" name="Rectangle 5"/>
          <p:cNvSpPr>
            <a:spLocks noChangeArrowheads="1"/>
          </p:cNvSpPr>
          <p:nvPr/>
        </p:nvSpPr>
        <p:spPr bwMode="auto">
          <a:xfrm>
            <a:off x="685800" y="2710656"/>
            <a:ext cx="6051551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So it is tempting to </a:t>
            </a:r>
            <a:r>
              <a:rPr lang="en-US" altLang="zh-CN" sz="1800" i="0" dirty="0">
                <a:solidFill>
                  <a:srgbClr val="C00000"/>
                </a:solidFill>
              </a:rPr>
              <a:t>define a scalar magnetic potential such that</a:t>
            </a:r>
            <a:r>
              <a:rPr lang="en-US" altLang="zh-CN" sz="1800" i="0" dirty="0"/>
              <a:t>:</a:t>
            </a:r>
            <a:endParaRPr lang="en-US" altLang="zh-CN" sz="1800" i="0" dirty="0"/>
          </a:p>
        </p:txBody>
      </p:sp>
      <p:pic>
        <p:nvPicPr>
          <p:cNvPr id="54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194050"/>
            <a:ext cx="1243013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55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196" y="4038600"/>
            <a:ext cx="2697163" cy="30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6" name="Rectangle 8"/>
          <p:cNvSpPr>
            <a:spLocks noChangeArrowheads="1"/>
          </p:cNvSpPr>
          <p:nvPr/>
        </p:nvSpPr>
        <p:spPr bwMode="auto">
          <a:xfrm>
            <a:off x="784675" y="3505200"/>
            <a:ext cx="6545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This rule must be consistent with Maxwell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s equations, so therefore:</a:t>
            </a:r>
            <a:endParaRPr lang="en-US" altLang="zh-CN" sz="1800" i="0" dirty="0"/>
          </a:p>
        </p:txBody>
      </p:sp>
      <p:sp>
        <p:nvSpPr>
          <p:cNvPr id="57" name="Rectangle 9"/>
          <p:cNvSpPr>
            <a:spLocks noChangeArrowheads="1"/>
          </p:cNvSpPr>
          <p:nvPr/>
        </p:nvSpPr>
        <p:spPr bwMode="auto">
          <a:xfrm>
            <a:off x="784676" y="4348162"/>
            <a:ext cx="782592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But </a:t>
            </a:r>
            <a:r>
              <a:rPr lang="en-US" altLang="zh-CN" sz="1800" i="0" dirty="0">
                <a:solidFill>
                  <a:srgbClr val="C00000"/>
                </a:solidFill>
              </a:rPr>
              <a:t>the curl of the gradient of any function is identically zero</a:t>
            </a:r>
            <a:r>
              <a:rPr lang="en-US" altLang="zh-CN" sz="1800" i="0" dirty="0"/>
              <a:t>!  Therefore, </a:t>
            </a:r>
            <a:r>
              <a:rPr lang="en-US" altLang="zh-CN" sz="1800" i="0" dirty="0">
                <a:highlight>
                  <a:srgbClr val="FFFF00"/>
                </a:highlight>
              </a:rPr>
              <a:t>the scalar magnetic potential is valid only in regions where the current density is zero </a:t>
            </a:r>
            <a:r>
              <a:rPr lang="en-US" altLang="zh-CN" sz="1800" i="0" dirty="0"/>
              <a:t>(such as in free space).</a:t>
            </a:r>
            <a:endParaRPr lang="en-US" altLang="zh-CN" sz="1800" i="0" dirty="0"/>
          </a:p>
        </p:txBody>
      </p:sp>
      <p:pic>
        <p:nvPicPr>
          <p:cNvPr id="58" name="Picture 10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6070870"/>
            <a:ext cx="22860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9" name="Rectangle 11"/>
          <p:cNvSpPr>
            <a:spLocks noChangeArrowheads="1"/>
          </p:cNvSpPr>
          <p:nvPr/>
        </p:nvSpPr>
        <p:spPr bwMode="auto">
          <a:xfrm>
            <a:off x="882620" y="5399567"/>
            <a:ext cx="460378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>
                <a:solidFill>
                  <a:srgbClr val="C00000"/>
                </a:solidFill>
              </a:rPr>
              <a:t>So we define scalar magnetic potential with a condition:</a:t>
            </a:r>
            <a:endParaRPr lang="en-US" altLang="zh-CN" sz="1800" i="0" dirty="0">
              <a:solidFill>
                <a:srgbClr val="C00000"/>
              </a:solidFill>
            </a:endParaRPr>
          </a:p>
        </p:txBody>
      </p:sp>
      <p:pic>
        <p:nvPicPr>
          <p:cNvPr id="60" name="Picture 3" descr="C:\Users\dpcuser\Desktop\About Teaching\工程电磁场\Instructor Notes\Lecture 10\solenoid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5271492"/>
            <a:ext cx="1981200" cy="130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Further Requirements on the Scalar Magnetic Potential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050" y="2649328"/>
            <a:ext cx="2266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585788" y="1928603"/>
            <a:ext cx="79710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other Maxwell equation involving magnetic field must also be satisfied. This is:</a:t>
            </a:r>
            <a:endParaRPr lang="en-US" altLang="zh-CN" sz="1800" i="0" dirty="0"/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5105401" y="2649328"/>
            <a:ext cx="1350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in free space</a:t>
            </a:r>
            <a:endParaRPr lang="en-US" altLang="zh-CN" sz="1800" i="0"/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585788" y="3027813"/>
            <a:ext cx="1158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Therefore:</a:t>
            </a:r>
            <a:endParaRPr lang="en-US" altLang="zh-CN" sz="1800" i="0" dirty="0"/>
          </a:p>
        </p:txBody>
      </p:sp>
      <p:pic>
        <p:nvPicPr>
          <p:cNvPr id="22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050" y="3389104"/>
            <a:ext cx="2468563" cy="39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3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887703"/>
            <a:ext cx="280670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723234" y="3962400"/>
            <a:ext cx="7696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..and so the scalar magnetic potential satisfies Laplace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s equation (again with the restriction </a:t>
            </a:r>
            <a:r>
              <a:rPr lang="en-US" altLang="zh-CN" sz="1800" i="0" dirty="0"/>
              <a:t>that current density must be zero):</a:t>
            </a:r>
            <a:endParaRPr lang="en-US" altLang="zh-CN" sz="1800" i="0" dirty="0"/>
          </a:p>
        </p:txBody>
      </p:sp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597" y="5638800"/>
            <a:ext cx="3123534" cy="785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" name="Rectangle 9"/>
          <p:cNvSpPr>
            <a:spLocks noChangeArrowheads="1"/>
          </p:cNvSpPr>
          <p:nvPr/>
        </p:nvSpPr>
        <p:spPr bwMode="auto">
          <a:xfrm>
            <a:off x="795068" y="5759387"/>
            <a:ext cx="7696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600" i="0" dirty="0">
                <a:solidFill>
                  <a:srgbClr val="C00000"/>
                </a:solidFill>
              </a:rPr>
              <a:t>Note: </a:t>
            </a:r>
            <a:r>
              <a:rPr lang="en-US" altLang="zh-CN" sz="1600" i="0" dirty="0" err="1">
                <a:solidFill>
                  <a:srgbClr val="C00000"/>
                </a:solidFill>
              </a:rPr>
              <a:t>Poission’s</a:t>
            </a:r>
            <a:r>
              <a:rPr lang="en-US" altLang="zh-CN" sz="1600" i="0" dirty="0">
                <a:solidFill>
                  <a:srgbClr val="C00000"/>
                </a:solidFill>
              </a:rPr>
              <a:t> equation for electrostatic field:</a:t>
            </a:r>
            <a:endParaRPr lang="en-US" altLang="zh-CN" sz="1600" i="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Example: Coaxial Transmission Line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7" name="Picture 2" descr="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788" y="2471737"/>
            <a:ext cx="3071813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ectangle 6"/>
          <p:cNvSpPr>
            <a:spLocks noChangeArrowheads="1"/>
          </p:cNvSpPr>
          <p:nvPr/>
        </p:nvSpPr>
        <p:spPr bwMode="auto">
          <a:xfrm>
            <a:off x="685800" y="1858962"/>
            <a:ext cx="6535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With the center conductor current flowing out of the screen, we have</a:t>
            </a:r>
            <a:endParaRPr lang="en-US" altLang="zh-CN" sz="1800" i="0"/>
          </a:p>
        </p:txBody>
      </p:sp>
      <p:pic>
        <p:nvPicPr>
          <p:cNvPr id="3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076" y="2325687"/>
            <a:ext cx="1418983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2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0" y="3163887"/>
            <a:ext cx="2906713" cy="70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3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299" y="4229100"/>
            <a:ext cx="1343025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4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5" y="5257800"/>
            <a:ext cx="14081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5" name="Rectangle 10"/>
          <p:cNvSpPr>
            <a:spLocks noChangeArrowheads="1"/>
          </p:cNvSpPr>
          <p:nvPr/>
        </p:nvSpPr>
        <p:spPr bwMode="auto">
          <a:xfrm>
            <a:off x="762000" y="3316287"/>
            <a:ext cx="71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Thus:</a:t>
            </a:r>
            <a:endParaRPr lang="en-US" altLang="zh-CN" sz="1800" i="0"/>
          </a:p>
        </p:txBody>
      </p:sp>
      <p:sp>
        <p:nvSpPr>
          <p:cNvPr id="36" name="Rectangle 11"/>
          <p:cNvSpPr>
            <a:spLocks noChangeArrowheads="1"/>
          </p:cNvSpPr>
          <p:nvPr/>
        </p:nvSpPr>
        <p:spPr bwMode="auto">
          <a:xfrm>
            <a:off x="817562" y="4354512"/>
            <a:ext cx="1365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So we solve:</a:t>
            </a:r>
            <a:endParaRPr lang="en-US" altLang="zh-CN" sz="1800" i="0"/>
          </a:p>
        </p:txBody>
      </p: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893762" y="5384800"/>
            <a:ext cx="1390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.. and obtain:</a:t>
            </a:r>
            <a:endParaRPr lang="en-US" altLang="zh-CN" sz="1800" i="0"/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838200" y="6096000"/>
            <a:ext cx="4840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where the integration constant has been set to zero</a:t>
            </a:r>
            <a:endParaRPr lang="en-US" altLang="zh-CN" sz="1800" i="0" dirty="0"/>
          </a:p>
        </p:txBody>
      </p:sp>
      <p:sp>
        <p:nvSpPr>
          <p:cNvPr id="30" name="Line 15"/>
          <p:cNvSpPr>
            <a:spLocks noChangeShapeType="1"/>
          </p:cNvSpPr>
          <p:nvPr/>
        </p:nvSpPr>
        <p:spPr bwMode="auto">
          <a:xfrm>
            <a:off x="2219324" y="5867400"/>
            <a:ext cx="1447800" cy="0"/>
          </a:xfrm>
          <a:prstGeom prst="line">
            <a:avLst/>
          </a:prstGeom>
          <a:noFill/>
          <a:ln w="9525">
            <a:solidFill>
              <a:srgbClr val="CC006B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00" y="1524000"/>
            <a:ext cx="3071812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Ambiguities in the Scalar Magnetic Potential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0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159000"/>
            <a:ext cx="14081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719138" y="1712913"/>
            <a:ext cx="2736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The scalar potential is now:</a:t>
            </a:r>
            <a:endParaRPr lang="en-US" altLang="zh-CN" sz="1800" i="0"/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767272" y="2780506"/>
            <a:ext cx="29035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where the potential is zero at </a:t>
            </a:r>
            <a:endParaRPr lang="en-US" altLang="zh-CN" sz="1800" i="0" dirty="0"/>
          </a:p>
        </p:txBody>
      </p:sp>
      <p:pic>
        <p:nvPicPr>
          <p:cNvPr id="23" name="Picture 1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3741" y="2874195"/>
            <a:ext cx="5857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Rectangle 26"/>
          <p:cNvSpPr>
            <a:spLocks noChangeArrowheads="1"/>
          </p:cNvSpPr>
          <p:nvPr/>
        </p:nvSpPr>
        <p:spPr bwMode="auto">
          <a:xfrm>
            <a:off x="785813" y="4495800"/>
            <a:ext cx="50196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have returned to the same physical location, and </a:t>
            </a:r>
            <a:endParaRPr lang="en-US" altLang="zh-CN" sz="1800" i="0" dirty="0"/>
          </a:p>
          <a:p>
            <a:r>
              <a:rPr lang="en-US" altLang="zh-CN" sz="1800" i="0" dirty="0"/>
              <a:t>the potential has a new value of -</a:t>
            </a:r>
            <a:r>
              <a:rPr lang="en-US" altLang="zh-CN" sz="1800" i="1" dirty="0"/>
              <a:t>I</a:t>
            </a:r>
            <a:r>
              <a:rPr lang="en-US" altLang="zh-CN" sz="1800" dirty="0"/>
              <a:t>.</a:t>
            </a:r>
            <a:endParaRPr lang="en-US" altLang="zh-CN" sz="1800" i="0" dirty="0"/>
          </a:p>
        </p:txBody>
      </p:sp>
      <p:sp>
        <p:nvSpPr>
          <p:cNvPr id="42" name="Rectangle 28"/>
          <p:cNvSpPr>
            <a:spLocks noChangeArrowheads="1"/>
          </p:cNvSpPr>
          <p:nvPr/>
        </p:nvSpPr>
        <p:spPr bwMode="auto">
          <a:xfrm>
            <a:off x="762000" y="5106988"/>
            <a:ext cx="56276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In general, the potential at </a:t>
            </a:r>
            <a:r>
              <a:rPr lang="en-US" altLang="zh-CN" sz="1800" i="1" dirty="0"/>
              <a:t>P</a:t>
            </a:r>
            <a:r>
              <a:rPr lang="en-US" altLang="zh-CN" sz="1800" dirty="0"/>
              <a:t> </a:t>
            </a:r>
            <a:r>
              <a:rPr lang="en-US" altLang="zh-CN" sz="1800" i="0" dirty="0"/>
              <a:t>will be </a:t>
            </a:r>
            <a:r>
              <a:rPr lang="en-US" altLang="zh-CN" sz="1800" i="0" dirty="0">
                <a:solidFill>
                  <a:srgbClr val="C00000"/>
                </a:solidFill>
              </a:rPr>
              <a:t>multivalued</a:t>
            </a:r>
            <a:r>
              <a:rPr lang="en-US" altLang="zh-CN" sz="1800" i="0" dirty="0"/>
              <a:t>, and will</a:t>
            </a:r>
            <a:endParaRPr lang="en-US" altLang="zh-CN" sz="1800" i="0" dirty="0"/>
          </a:p>
          <a:p>
            <a:r>
              <a:rPr lang="en-US" altLang="zh-CN" sz="1800" i="0" dirty="0"/>
              <a:t>acquire a new value after each full rotation in the </a:t>
            </a:r>
            <a:r>
              <a:rPr lang="en-US" altLang="zh-CN" sz="1800" i="1" dirty="0" err="1"/>
              <a:t>xy</a:t>
            </a:r>
            <a:r>
              <a:rPr lang="en-US" altLang="zh-CN" sz="1800" dirty="0"/>
              <a:t> </a:t>
            </a:r>
            <a:r>
              <a:rPr lang="en-US" altLang="zh-CN" sz="1800" i="0" dirty="0"/>
              <a:t>plane:</a:t>
            </a:r>
            <a:endParaRPr lang="en-US" altLang="zh-CN" sz="1800" i="0" dirty="0"/>
          </a:p>
        </p:txBody>
      </p:sp>
      <p:pic>
        <p:nvPicPr>
          <p:cNvPr id="44" name="Picture 2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524" y="5780088"/>
            <a:ext cx="4168775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787400" y="4191000"/>
            <a:ext cx="3601243" cy="369887"/>
            <a:chOff x="787400" y="4125913"/>
            <a:chExt cx="3601243" cy="369887"/>
          </a:xfrm>
        </p:grpSpPr>
        <p:sp>
          <p:nvSpPr>
            <p:cNvPr id="38" name="Rectangle 22"/>
            <p:cNvSpPr>
              <a:spLocks noChangeArrowheads="1"/>
            </p:cNvSpPr>
            <p:nvPr/>
          </p:nvSpPr>
          <p:spPr bwMode="auto">
            <a:xfrm>
              <a:off x="787400" y="4125913"/>
              <a:ext cx="2954337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0"/>
                <a:t>But wait!  As      increases to  </a:t>
              </a:r>
              <a:endParaRPr lang="en-US" altLang="zh-CN" sz="1800" i="0"/>
            </a:p>
          </p:txBody>
        </p:sp>
        <p:pic>
          <p:nvPicPr>
            <p:cNvPr id="40" name="Picture 25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24" y="4192587"/>
              <a:ext cx="201612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" name="Picture 23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5843" y="4169282"/>
              <a:ext cx="812800" cy="303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组合 3"/>
          <p:cNvGrpSpPr/>
          <p:nvPr/>
        </p:nvGrpSpPr>
        <p:grpSpPr>
          <a:xfrm>
            <a:off x="762000" y="3276600"/>
            <a:ext cx="3505200" cy="842962"/>
            <a:chOff x="762000" y="3276600"/>
            <a:chExt cx="3505200" cy="842962"/>
          </a:xfrm>
        </p:grpSpPr>
        <p:pic>
          <p:nvPicPr>
            <p:cNvPr id="28" name="Picture 24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932" y="3810000"/>
              <a:ext cx="2157412" cy="309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" name="组合 2"/>
            <p:cNvGrpSpPr/>
            <p:nvPr/>
          </p:nvGrpSpPr>
          <p:grpSpPr>
            <a:xfrm>
              <a:off x="762000" y="3276600"/>
              <a:ext cx="3505200" cy="646112"/>
              <a:chOff x="762000" y="3295650"/>
              <a:chExt cx="3505200" cy="646112"/>
            </a:xfrm>
          </p:grpSpPr>
          <p:sp>
            <p:nvSpPr>
              <p:cNvPr id="24" name="Rectangle 17"/>
              <p:cNvSpPr>
                <a:spLocks noChangeArrowheads="1"/>
              </p:cNvSpPr>
              <p:nvPr/>
            </p:nvSpPr>
            <p:spPr bwMode="auto">
              <a:xfrm>
                <a:off x="762000" y="3306763"/>
                <a:ext cx="2171700" cy="369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800" i="0" dirty="0"/>
                  <a:t>At point </a:t>
                </a:r>
                <a:r>
                  <a:rPr lang="en-US" altLang="zh-CN" sz="1800" dirty="0"/>
                  <a:t>P </a:t>
                </a:r>
                <a:r>
                  <a:rPr lang="en-US" altLang="zh-CN" sz="1800" i="0" dirty="0"/>
                  <a:t>( </a:t>
                </a:r>
                <a:endParaRPr lang="en-US" altLang="zh-CN" sz="1800" i="0" dirty="0"/>
              </a:p>
            </p:txBody>
          </p:sp>
          <p:sp>
            <p:nvSpPr>
              <p:cNvPr id="26" name="Rectangle 19"/>
              <p:cNvSpPr>
                <a:spLocks noChangeArrowheads="1"/>
              </p:cNvSpPr>
              <p:nvPr/>
            </p:nvSpPr>
            <p:spPr bwMode="auto">
              <a:xfrm>
                <a:off x="2589213" y="3295650"/>
                <a:ext cx="1677987" cy="646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800" i="0" dirty="0"/>
                  <a:t>) the potential is</a:t>
                </a:r>
                <a:endParaRPr lang="en-US" altLang="zh-CN" sz="1800" i="0" dirty="0"/>
              </a:p>
              <a:p>
                <a:endParaRPr lang="en-US" altLang="zh-CN" sz="1800" i="0" dirty="0"/>
              </a:p>
            </p:txBody>
          </p:sp>
        </p:grpSp>
        <p:pic>
          <p:nvPicPr>
            <p:cNvPr id="46" name="Picture 18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5701" y="3361426"/>
              <a:ext cx="804862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013" y="2183160"/>
            <a:ext cx="1652587" cy="967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263" y="3276600"/>
            <a:ext cx="2090737" cy="74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270" y="4443287"/>
            <a:ext cx="2705100" cy="374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890" y="4817980"/>
            <a:ext cx="1414020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直接连接符 8"/>
          <p:cNvCxnSpPr/>
          <p:nvPr/>
        </p:nvCxnSpPr>
        <p:spPr>
          <a:xfrm>
            <a:off x="6934200" y="4191000"/>
            <a:ext cx="2057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Overcoming the Ambiguity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7" name="Group 32"/>
          <p:cNvGrpSpPr/>
          <p:nvPr/>
        </p:nvGrpSpPr>
        <p:grpSpPr bwMode="auto">
          <a:xfrm>
            <a:off x="5397440" y="2770188"/>
            <a:ext cx="3209925" cy="3717926"/>
            <a:chOff x="3162" y="1676"/>
            <a:chExt cx="2022" cy="2342"/>
          </a:xfrm>
        </p:grpSpPr>
        <p:pic>
          <p:nvPicPr>
            <p:cNvPr id="34" name="Picture 4" descr="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9" y="1676"/>
              <a:ext cx="1935" cy="1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Line 22"/>
            <p:cNvSpPr>
              <a:spLocks noChangeShapeType="1"/>
            </p:cNvSpPr>
            <p:nvPr/>
          </p:nvSpPr>
          <p:spPr bwMode="auto">
            <a:xfrm flipH="1">
              <a:off x="3174" y="2760"/>
              <a:ext cx="864" cy="0"/>
            </a:xfrm>
            <a:prstGeom prst="line">
              <a:avLst/>
            </a:prstGeom>
            <a:noFill/>
            <a:ln w="28575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23"/>
            <p:cNvSpPr>
              <a:spLocks noChangeShapeType="1"/>
            </p:cNvSpPr>
            <p:nvPr/>
          </p:nvSpPr>
          <p:spPr bwMode="auto">
            <a:xfrm flipV="1">
              <a:off x="3552" y="2769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Rectangle 24"/>
            <p:cNvSpPr>
              <a:spLocks noChangeArrowheads="1"/>
            </p:cNvSpPr>
            <p:nvPr/>
          </p:nvSpPr>
          <p:spPr bwMode="auto">
            <a:xfrm>
              <a:off x="3162" y="3785"/>
              <a:ext cx="70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0" dirty="0"/>
                <a:t>Barrier at </a:t>
              </a:r>
              <a:endParaRPr lang="en-US" altLang="zh-CN" sz="1800" i="0" dirty="0"/>
            </a:p>
          </p:txBody>
        </p:sp>
        <p:pic>
          <p:nvPicPr>
            <p:cNvPr id="39" name="Picture 2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9" y="3810"/>
              <a:ext cx="415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组合 6"/>
          <p:cNvGrpSpPr/>
          <p:nvPr/>
        </p:nvGrpSpPr>
        <p:grpSpPr>
          <a:xfrm>
            <a:off x="655637" y="1666220"/>
            <a:ext cx="7878763" cy="1200329"/>
            <a:chOff x="427037" y="1666220"/>
            <a:chExt cx="7878763" cy="1200329"/>
          </a:xfrm>
        </p:grpSpPr>
        <p:sp>
          <p:nvSpPr>
            <p:cNvPr id="29" name="Rectangle 26"/>
            <p:cNvSpPr>
              <a:spLocks noChangeArrowheads="1"/>
            </p:cNvSpPr>
            <p:nvPr/>
          </p:nvSpPr>
          <p:spPr bwMode="auto">
            <a:xfrm>
              <a:off x="427037" y="1666220"/>
              <a:ext cx="7878763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0" dirty="0"/>
                <a:t>To remove the ambiguity, we </a:t>
              </a:r>
              <a:r>
                <a:rPr lang="en-US" altLang="zh-CN" sz="1800" i="0" dirty="0">
                  <a:solidFill>
                    <a:srgbClr val="C00000"/>
                  </a:solidFill>
                  <a:highlight>
                    <a:srgbClr val="FFFF00"/>
                  </a:highlight>
                </a:rPr>
                <a:t>construct a mathematical barrier at any value of phi</a:t>
              </a:r>
              <a:r>
                <a:rPr lang="en-US" altLang="zh-CN" sz="1800" i="0" dirty="0">
                  <a:highlight>
                    <a:srgbClr val="FFFF00"/>
                  </a:highlight>
                </a:rPr>
                <a:t>. </a:t>
              </a:r>
              <a:r>
                <a:rPr lang="en-US" altLang="zh-CN" sz="1800" i="0" dirty="0"/>
                <a:t> The angle domain cannot cross this barrier in either direction, and so the potential function is restricted to angles on either side.</a:t>
              </a:r>
              <a:r>
                <a:rPr lang="en-US" altLang="zh-CN" sz="1800" i="0" dirty="0">
                  <a:highlight>
                    <a:srgbClr val="FFFF00"/>
                  </a:highlight>
                </a:rPr>
                <a:t> </a:t>
              </a:r>
              <a:r>
                <a:rPr lang="en-US" altLang="zh-CN" sz="1800" i="0" dirty="0">
                  <a:solidFill>
                    <a:srgbClr val="C00000"/>
                  </a:solidFill>
                  <a:highlight>
                    <a:srgbClr val="FFFF00"/>
                  </a:highlight>
                </a:rPr>
                <a:t>In the present case we choose the barrier to lie at               so that  </a:t>
              </a:r>
              <a:r>
                <a:rPr lang="en-US" altLang="zh-CN" sz="1800" i="0" dirty="0">
                  <a:solidFill>
                    <a:srgbClr val="C00000"/>
                  </a:solidFill>
                </a:rPr>
                <a:t> </a:t>
              </a:r>
              <a:endParaRPr lang="en-US" altLang="zh-CN" sz="1800" i="0" dirty="0">
                <a:solidFill>
                  <a:srgbClr val="C00000"/>
                </a:solidFill>
              </a:endParaRPr>
            </a:p>
          </p:txBody>
        </p:sp>
        <p:pic>
          <p:nvPicPr>
            <p:cNvPr id="30" name="Picture 2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1623" y="2514600"/>
              <a:ext cx="658813" cy="255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1" name="Picture 2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216" y="4491038"/>
            <a:ext cx="2220913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2" name="Picture 2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2976704"/>
            <a:ext cx="3016250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3" name="Rectangle 31"/>
          <p:cNvSpPr>
            <a:spLocks noChangeArrowheads="1"/>
          </p:cNvSpPr>
          <p:nvPr/>
        </p:nvSpPr>
        <p:spPr bwMode="auto">
          <a:xfrm>
            <a:off x="691461" y="3768864"/>
            <a:ext cx="4375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 potential at point </a:t>
            </a:r>
            <a:r>
              <a:rPr lang="en-US" altLang="zh-CN" sz="1800" i="1" dirty="0"/>
              <a:t>P</a:t>
            </a:r>
            <a:r>
              <a:rPr lang="en-US" altLang="zh-CN" sz="1800" dirty="0"/>
              <a:t> </a:t>
            </a:r>
            <a:r>
              <a:rPr lang="en-US" altLang="zh-CN" sz="1800" i="0" dirty="0"/>
              <a:t>is now single-valued: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70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Vector Magnetic Potential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矢量磁位，磁矢位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481" y="3091765"/>
            <a:ext cx="18462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689" y="4303821"/>
            <a:ext cx="1527175" cy="31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828800"/>
            <a:ext cx="1096963" cy="31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473868" y="1786840"/>
            <a:ext cx="3795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We make use of the Maxwell equation:</a:t>
            </a:r>
            <a:endParaRPr lang="en-US" altLang="zh-CN" sz="1800" i="0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438943" y="2407553"/>
            <a:ext cx="801925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.. and the fact that </a:t>
            </a:r>
            <a:r>
              <a:rPr lang="en-US" altLang="zh-CN" sz="1800" i="0" dirty="0">
                <a:solidFill>
                  <a:srgbClr val="C00000"/>
                </a:solidFill>
              </a:rPr>
              <a:t>the divergence of the curl of any vector field is identically zero </a:t>
            </a:r>
            <a:r>
              <a:rPr lang="en-US" altLang="zh-CN" sz="1800" i="0" dirty="0"/>
              <a:t>(show this!)</a:t>
            </a:r>
            <a:endParaRPr lang="en-US" altLang="zh-CN" sz="1800" i="0" dirty="0"/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532606" y="3581400"/>
            <a:ext cx="6000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This leads to the </a:t>
            </a:r>
            <a:r>
              <a:rPr lang="en-US" altLang="zh-CN" sz="1800" i="0" dirty="0">
                <a:solidFill>
                  <a:srgbClr val="C00000"/>
                </a:solidFill>
              </a:rPr>
              <a:t>definition of the </a:t>
            </a:r>
            <a:r>
              <a:rPr lang="en-US" altLang="zh-CN" sz="1800" dirty="0">
                <a:solidFill>
                  <a:srgbClr val="C00000"/>
                </a:solidFill>
              </a:rPr>
              <a:t>magnetic vector potential, </a:t>
            </a:r>
            <a:r>
              <a:rPr lang="en-US" altLang="zh-CN" sz="1800" b="1" i="0" dirty="0">
                <a:solidFill>
                  <a:srgbClr val="C00000"/>
                </a:solidFill>
              </a:rPr>
              <a:t>A</a:t>
            </a:r>
            <a:r>
              <a:rPr lang="en-US" altLang="zh-CN" sz="1800" i="0" dirty="0">
                <a:solidFill>
                  <a:srgbClr val="C00000"/>
                </a:solidFill>
              </a:rPr>
              <a:t>:</a:t>
            </a:r>
            <a:endParaRPr lang="en-US" altLang="zh-CN" sz="1800" i="0" dirty="0">
              <a:solidFill>
                <a:srgbClr val="C00000"/>
              </a:solidFill>
            </a:endParaRPr>
          </a:p>
        </p:txBody>
      </p:sp>
      <p:sp>
        <p:nvSpPr>
          <p:cNvPr id="26" name="Line 9"/>
          <p:cNvSpPr>
            <a:spLocks noChangeShapeType="1"/>
          </p:cNvSpPr>
          <p:nvPr/>
        </p:nvSpPr>
        <p:spPr bwMode="auto">
          <a:xfrm>
            <a:off x="3200864" y="4608621"/>
            <a:ext cx="1524000" cy="0"/>
          </a:xfrm>
          <a:prstGeom prst="line">
            <a:avLst/>
          </a:prstGeom>
          <a:noFill/>
          <a:ln w="9525">
            <a:solidFill>
              <a:srgbClr val="CC006B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8" name="Picture 1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695141"/>
            <a:ext cx="1700213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8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5390466"/>
            <a:ext cx="3117850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40" name="Rectangle 12"/>
          <p:cNvSpPr>
            <a:spLocks noChangeArrowheads="1"/>
          </p:cNvSpPr>
          <p:nvPr/>
        </p:nvSpPr>
        <p:spPr bwMode="auto">
          <a:xfrm>
            <a:off x="636018" y="4857860"/>
            <a:ext cx="71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Thus:</a:t>
            </a:r>
            <a:endParaRPr lang="en-US" altLang="zh-CN" sz="1800" i="0"/>
          </a:p>
        </p:txBody>
      </p:sp>
      <p:sp>
        <p:nvSpPr>
          <p:cNvPr id="41" name="Rectangle 13"/>
          <p:cNvSpPr>
            <a:spLocks noChangeArrowheads="1"/>
          </p:cNvSpPr>
          <p:nvPr/>
        </p:nvSpPr>
        <p:spPr bwMode="auto">
          <a:xfrm>
            <a:off x="693737" y="5497621"/>
            <a:ext cx="2903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and Ampere</a:t>
            </a:r>
            <a:r>
              <a:rPr lang="ja-JP" altLang="en-US" sz="1800" i="0" dirty="0"/>
              <a:t>’</a:t>
            </a:r>
            <a:r>
              <a:rPr lang="en-US" altLang="ja-JP" sz="1800" i="0" dirty="0"/>
              <a:t>s Law becomes 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71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Expressions for Potential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0" name="Rectangle 6"/>
          <p:cNvSpPr>
            <a:spLocks noChangeArrowheads="1"/>
          </p:cNvSpPr>
          <p:nvPr/>
        </p:nvSpPr>
        <p:spPr bwMode="auto">
          <a:xfrm>
            <a:off x="292100" y="1666220"/>
            <a:ext cx="88519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Consider a differential elements, shown here.  On the left is a point charge represented</a:t>
            </a:r>
            <a:endParaRPr lang="en-US" altLang="zh-CN" sz="1800" i="0" dirty="0"/>
          </a:p>
          <a:p>
            <a:r>
              <a:rPr lang="en-US" altLang="zh-CN" sz="1800" i="0" dirty="0"/>
              <a:t>by a differential length of line charge.  On the right is a differential current element.  The setups for obtaining potential are identical between the two cases.  </a:t>
            </a:r>
            <a:endParaRPr lang="en-US" altLang="zh-CN" sz="1800" i="0" dirty="0"/>
          </a:p>
        </p:txBody>
      </p:sp>
      <p:grpSp>
        <p:nvGrpSpPr>
          <p:cNvPr id="31" name="Group 16"/>
          <p:cNvGrpSpPr/>
          <p:nvPr/>
        </p:nvGrpSpPr>
        <p:grpSpPr bwMode="auto">
          <a:xfrm>
            <a:off x="990600" y="3073400"/>
            <a:ext cx="3398838" cy="2371725"/>
            <a:chOff x="2899" y="2250"/>
            <a:chExt cx="2141" cy="1494"/>
          </a:xfrm>
        </p:grpSpPr>
        <p:pic>
          <p:nvPicPr>
            <p:cNvPr id="49" name="Picture 8" descr="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5" y="2250"/>
              <a:ext cx="2125" cy="1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Rectangle 9"/>
            <p:cNvSpPr>
              <a:spLocks noChangeArrowheads="1"/>
            </p:cNvSpPr>
            <p:nvPr/>
          </p:nvSpPr>
          <p:spPr bwMode="auto">
            <a:xfrm>
              <a:off x="2928" y="2832"/>
              <a:ext cx="576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 i="0"/>
            </a:p>
          </p:txBody>
        </p:sp>
        <p:pic>
          <p:nvPicPr>
            <p:cNvPr id="51" name="Picture 1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9" y="2821"/>
              <a:ext cx="605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pic>
        <p:nvPicPr>
          <p:cNvPr id="32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943600"/>
            <a:ext cx="2486025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3" name="Picture 1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5943600"/>
            <a:ext cx="2733675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grpSp>
        <p:nvGrpSpPr>
          <p:cNvPr id="34" name="Group 17"/>
          <p:cNvGrpSpPr/>
          <p:nvPr/>
        </p:nvGrpSpPr>
        <p:grpSpPr bwMode="auto">
          <a:xfrm>
            <a:off x="4551363" y="3073400"/>
            <a:ext cx="3525838" cy="2371725"/>
            <a:chOff x="384" y="1968"/>
            <a:chExt cx="2221" cy="1494"/>
          </a:xfrm>
        </p:grpSpPr>
        <p:grpSp>
          <p:nvGrpSpPr>
            <p:cNvPr id="45" name="Group 15"/>
            <p:cNvGrpSpPr/>
            <p:nvPr/>
          </p:nvGrpSpPr>
          <p:grpSpPr bwMode="auto">
            <a:xfrm>
              <a:off x="480" y="1968"/>
              <a:ext cx="2125" cy="1494"/>
              <a:chOff x="480" y="1968"/>
              <a:chExt cx="2125" cy="1494"/>
            </a:xfrm>
          </p:grpSpPr>
          <p:pic>
            <p:nvPicPr>
              <p:cNvPr id="47" name="Picture 5" descr="7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" y="1968"/>
                <a:ext cx="2125" cy="14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" name="Rectangle 14"/>
              <p:cNvSpPr>
                <a:spLocks noChangeArrowheads="1"/>
              </p:cNvSpPr>
              <p:nvPr/>
            </p:nvSpPr>
            <p:spPr bwMode="auto">
              <a:xfrm>
                <a:off x="480" y="2592"/>
                <a:ext cx="576" cy="1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 i="0"/>
              </a:p>
            </p:txBody>
          </p:sp>
        </p:grpSp>
        <p:pic>
          <p:nvPicPr>
            <p:cNvPr id="46" name="Picture 11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556"/>
              <a:ext cx="714" cy="1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sp>
        <p:nvSpPr>
          <p:cNvPr id="35" name="Rectangle 18"/>
          <p:cNvSpPr>
            <a:spLocks noChangeArrowheads="1"/>
          </p:cNvSpPr>
          <p:nvPr/>
        </p:nvSpPr>
        <p:spPr bwMode="auto">
          <a:xfrm>
            <a:off x="1600200" y="2600325"/>
            <a:ext cx="142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b="1" i="0"/>
              <a:t>Line Charge</a:t>
            </a:r>
            <a:endParaRPr lang="en-US" altLang="zh-CN" sz="1800" b="1" i="0"/>
          </a:p>
        </p:txBody>
      </p:sp>
      <p:sp>
        <p:nvSpPr>
          <p:cNvPr id="36" name="Rectangle 19"/>
          <p:cNvSpPr>
            <a:spLocks noChangeArrowheads="1"/>
          </p:cNvSpPr>
          <p:nvPr/>
        </p:nvSpPr>
        <p:spPr bwMode="auto">
          <a:xfrm>
            <a:off x="5257800" y="2590800"/>
            <a:ext cx="1495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b="1" i="0"/>
              <a:t>Line Current</a:t>
            </a:r>
            <a:endParaRPr lang="en-US" altLang="zh-CN" sz="1800" b="1" i="0"/>
          </a:p>
        </p:txBody>
      </p:sp>
      <p:sp>
        <p:nvSpPr>
          <p:cNvPr id="40" name="Rectangle 20"/>
          <p:cNvSpPr>
            <a:spLocks noChangeArrowheads="1"/>
          </p:cNvSpPr>
          <p:nvPr/>
        </p:nvSpPr>
        <p:spPr bwMode="auto">
          <a:xfrm>
            <a:off x="1062037" y="5486400"/>
            <a:ext cx="285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Scalar Electrostatic Potential</a:t>
            </a:r>
            <a:endParaRPr lang="en-US" altLang="zh-CN" sz="1800" i="0" dirty="0"/>
          </a:p>
        </p:txBody>
      </p:sp>
      <p:sp>
        <p:nvSpPr>
          <p:cNvPr id="41" name="Rectangle 21"/>
          <p:cNvSpPr>
            <a:spLocks noChangeArrowheads="1"/>
          </p:cNvSpPr>
          <p:nvPr/>
        </p:nvSpPr>
        <p:spPr bwMode="auto">
          <a:xfrm>
            <a:off x="5176837" y="5500688"/>
            <a:ext cx="2595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Vector Magnetic Potential</a:t>
            </a:r>
            <a:endParaRPr lang="en-US" altLang="zh-CN" sz="1800" i="0"/>
          </a:p>
        </p:txBody>
      </p:sp>
      <p:sp>
        <p:nvSpPr>
          <p:cNvPr id="42" name="Rectangle 22"/>
          <p:cNvSpPr>
            <a:spLocks noChangeArrowheads="1"/>
          </p:cNvSpPr>
          <p:nvPr/>
        </p:nvSpPr>
        <p:spPr bwMode="auto">
          <a:xfrm>
            <a:off x="1066800" y="5867400"/>
            <a:ext cx="2819400" cy="762000"/>
          </a:xfrm>
          <a:prstGeom prst="rect">
            <a:avLst/>
          </a:prstGeom>
          <a:noFill/>
          <a:ln w="9525">
            <a:solidFill>
              <a:srgbClr val="CC006B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sp>
        <p:nvSpPr>
          <p:cNvPr id="44" name="Rectangle 23"/>
          <p:cNvSpPr>
            <a:spLocks noChangeArrowheads="1"/>
          </p:cNvSpPr>
          <p:nvPr/>
        </p:nvSpPr>
        <p:spPr bwMode="auto">
          <a:xfrm>
            <a:off x="5029200" y="5867400"/>
            <a:ext cx="2819400" cy="762000"/>
          </a:xfrm>
          <a:prstGeom prst="rect">
            <a:avLst/>
          </a:prstGeom>
          <a:noFill/>
          <a:ln w="9525">
            <a:solidFill>
              <a:srgbClr val="CC006B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 flipV="1">
            <a:off x="2133600" y="4225925"/>
            <a:ext cx="0" cy="419100"/>
          </a:xfrm>
          <a:prstGeom prst="line">
            <a:avLst/>
          </a:prstGeom>
          <a:noFill/>
          <a:ln w="57150">
            <a:solidFill>
              <a:srgbClr val="2453E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26"/>
          <p:cNvSpPr>
            <a:spLocks noChangeShapeType="1"/>
          </p:cNvSpPr>
          <p:nvPr/>
        </p:nvSpPr>
        <p:spPr bwMode="auto">
          <a:xfrm flipV="1">
            <a:off x="5824538" y="4221163"/>
            <a:ext cx="0" cy="419100"/>
          </a:xfrm>
          <a:prstGeom prst="line">
            <a:avLst/>
          </a:prstGeom>
          <a:noFill/>
          <a:ln w="38100">
            <a:solidFill>
              <a:srgbClr val="FF409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72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General Expressions for Vector Potential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8" name="Group 14"/>
          <p:cNvGrpSpPr/>
          <p:nvPr/>
        </p:nvGrpSpPr>
        <p:grpSpPr bwMode="auto">
          <a:xfrm>
            <a:off x="914400" y="1752600"/>
            <a:ext cx="7321550" cy="4638676"/>
            <a:chOff x="803" y="1212"/>
            <a:chExt cx="4612" cy="2922"/>
          </a:xfrm>
        </p:grpSpPr>
        <p:pic>
          <p:nvPicPr>
            <p:cNvPr id="38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5" y="1901"/>
              <a:ext cx="1186" cy="5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39" name="Rectangle 5"/>
            <p:cNvSpPr>
              <a:spLocks noChangeArrowheads="1"/>
            </p:cNvSpPr>
            <p:nvPr/>
          </p:nvSpPr>
          <p:spPr bwMode="auto">
            <a:xfrm>
              <a:off x="803" y="1212"/>
              <a:ext cx="461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0" dirty="0"/>
                <a:t>For large scale charge or current distributions, we would sum the differential </a:t>
              </a:r>
              <a:endParaRPr lang="en-US" altLang="zh-CN" sz="1800" i="0" dirty="0"/>
            </a:p>
            <a:p>
              <a:r>
                <a:rPr lang="en-US" altLang="zh-CN" sz="1800" i="0" dirty="0"/>
                <a:t>contributions by integrating over the charge or current, thus:</a:t>
              </a:r>
              <a:endParaRPr lang="en-US" altLang="zh-CN" sz="1800" i="0" dirty="0"/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auto">
            <a:xfrm>
              <a:off x="2435" y="1993"/>
              <a:ext cx="270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i="0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The closed path integral is taken because the current must</a:t>
              </a:r>
              <a:endParaRPr lang="en-US" altLang="zh-CN" i="0" dirty="0">
                <a:solidFill>
                  <a:srgbClr val="FF0000"/>
                </a:solidFill>
                <a:highlight>
                  <a:srgbClr val="FFFF00"/>
                </a:highlight>
              </a:endParaRPr>
            </a:p>
            <a:p>
              <a:r>
                <a:rPr lang="en-US" altLang="zh-CN" i="0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close on itself to form a complete circuit.</a:t>
              </a:r>
              <a:endParaRPr lang="en-US" altLang="zh-CN" i="0" dirty="0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54" name="Picture 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" y="3239"/>
              <a:ext cx="1186" cy="5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55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7" y="3239"/>
              <a:ext cx="1238" cy="5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56" name="Rectangle 10"/>
            <p:cNvSpPr>
              <a:spLocks noChangeArrowheads="1"/>
            </p:cNvSpPr>
            <p:nvPr/>
          </p:nvSpPr>
          <p:spPr bwMode="auto">
            <a:xfrm>
              <a:off x="890" y="2717"/>
              <a:ext cx="43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0" dirty="0"/>
                <a:t>For surface or volume current distributions, we would have, respectively:</a:t>
              </a:r>
              <a:endParaRPr lang="en-US" altLang="zh-CN" sz="1800" i="0" dirty="0"/>
            </a:p>
          </p:txBody>
        </p:sp>
        <p:sp>
          <p:nvSpPr>
            <p:cNvPr id="57" name="Rectangle 11"/>
            <p:cNvSpPr>
              <a:spLocks noChangeArrowheads="1"/>
            </p:cNvSpPr>
            <p:nvPr/>
          </p:nvSpPr>
          <p:spPr bwMode="auto">
            <a:xfrm>
              <a:off x="2788" y="3378"/>
              <a:ext cx="23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0" dirty="0"/>
                <a:t>or</a:t>
              </a:r>
              <a:endParaRPr lang="en-US" altLang="zh-CN" sz="1800" i="0" dirty="0"/>
            </a:p>
          </p:txBody>
        </p:sp>
        <p:sp>
          <p:nvSpPr>
            <p:cNvPr id="58" name="Rectangle 12"/>
            <p:cNvSpPr>
              <a:spLocks noChangeArrowheads="1"/>
            </p:cNvSpPr>
            <p:nvPr/>
          </p:nvSpPr>
          <p:spPr bwMode="auto">
            <a:xfrm>
              <a:off x="941" y="3901"/>
              <a:ext cx="36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800" i="0" dirty="0"/>
                <a:t>in the same manner that we used for scalar electric potential.</a:t>
              </a:r>
              <a:endParaRPr lang="en-US" altLang="zh-CN" sz="1800" i="0" dirty="0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73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9" name="Picture 2" descr="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209800"/>
            <a:ext cx="3373437" cy="237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973138" y="1688068"/>
            <a:ext cx="61572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continue with the differential current element as shown here:</a:t>
            </a:r>
            <a:endParaRPr lang="en-US" altLang="zh-CN" sz="1800" i="0" dirty="0"/>
          </a:p>
        </p:txBody>
      </p:sp>
      <p:pic>
        <p:nvPicPr>
          <p:cNvPr id="21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227" y="2515963"/>
            <a:ext cx="1636712" cy="684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974860" y="2136552"/>
            <a:ext cx="12234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In this case</a:t>
            </a:r>
            <a:endParaRPr lang="en-US" altLang="zh-CN" sz="1800" i="0" dirty="0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990600" y="3276600"/>
            <a:ext cx="19992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becomes at point </a:t>
            </a:r>
            <a:r>
              <a:rPr lang="en-US" altLang="zh-CN" sz="1800" dirty="0"/>
              <a:t>P</a:t>
            </a:r>
            <a:r>
              <a:rPr lang="en-US" altLang="zh-CN" sz="1800" i="0" dirty="0"/>
              <a:t>:</a:t>
            </a:r>
            <a:endParaRPr lang="en-US" altLang="zh-CN" sz="1800" i="0" dirty="0"/>
          </a:p>
        </p:txBody>
      </p:sp>
      <p:pic>
        <p:nvPicPr>
          <p:cNvPr id="24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690668"/>
            <a:ext cx="2057400" cy="73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grpSp>
        <p:nvGrpSpPr>
          <p:cNvPr id="25" name="Group 15"/>
          <p:cNvGrpSpPr/>
          <p:nvPr/>
        </p:nvGrpSpPr>
        <p:grpSpPr bwMode="auto">
          <a:xfrm>
            <a:off x="1608227" y="5172075"/>
            <a:ext cx="6451600" cy="695325"/>
            <a:chOff x="768" y="3552"/>
            <a:chExt cx="4064" cy="438"/>
          </a:xfrm>
        </p:grpSpPr>
        <p:pic>
          <p:nvPicPr>
            <p:cNvPr id="30" name="Picture 1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3552"/>
              <a:ext cx="2534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31" name="Picture 14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3561"/>
              <a:ext cx="1520" cy="4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sp>
        <p:nvSpPr>
          <p:cNvPr id="26" name="Rectangle 16"/>
          <p:cNvSpPr>
            <a:spLocks noChangeArrowheads="1"/>
          </p:cNvSpPr>
          <p:nvPr/>
        </p:nvSpPr>
        <p:spPr bwMode="auto">
          <a:xfrm>
            <a:off x="973138" y="4649120"/>
            <a:ext cx="46708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Now, the curl is taken in cylindrical coordinates:</a:t>
            </a:r>
            <a:endParaRPr lang="en-US" altLang="zh-CN" sz="1800" i="0" dirty="0"/>
          </a:p>
        </p:txBody>
      </p:sp>
      <p:sp>
        <p:nvSpPr>
          <p:cNvPr id="27" name="Line 17"/>
          <p:cNvSpPr>
            <a:spLocks noChangeShapeType="1"/>
          </p:cNvSpPr>
          <p:nvPr/>
        </p:nvSpPr>
        <p:spPr bwMode="auto">
          <a:xfrm>
            <a:off x="5791200" y="5943600"/>
            <a:ext cx="2057400" cy="0"/>
          </a:xfrm>
          <a:prstGeom prst="line">
            <a:avLst/>
          </a:prstGeom>
          <a:noFill/>
          <a:ln w="9525">
            <a:solidFill>
              <a:srgbClr val="CC006B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1023683" y="6019800"/>
            <a:ext cx="71224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This is the same result as found using the </a:t>
            </a:r>
            <a:r>
              <a:rPr lang="en-US" altLang="zh-CN" sz="1800" i="0" dirty="0" err="1"/>
              <a:t>Biot-Savart</a:t>
            </a:r>
            <a:r>
              <a:rPr lang="en-US" altLang="zh-CN" sz="1800" i="0" dirty="0"/>
              <a:t> Law (as it should be)</a:t>
            </a:r>
            <a:endParaRPr lang="en-US" altLang="zh-CN" sz="1800" i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74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Equation for the Vector Potential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865013"/>
            <a:ext cx="3117850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685800" y="2019001"/>
            <a:ext cx="1474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We start with:</a:t>
            </a:r>
            <a:endParaRPr lang="en-US" altLang="zh-CN" sz="1800" i="0"/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685800" y="2707781"/>
            <a:ext cx="6340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Then, introduce a vector identity that defines </a:t>
            </a:r>
            <a:r>
              <a:rPr lang="en-US" altLang="zh-CN" sz="1800" i="0" dirty="0">
                <a:solidFill>
                  <a:srgbClr val="C00000"/>
                </a:solidFill>
              </a:rPr>
              <a:t>the </a:t>
            </a:r>
            <a:r>
              <a:rPr lang="en-US" altLang="zh-CN" sz="1800" dirty="0">
                <a:solidFill>
                  <a:srgbClr val="C00000"/>
                </a:solidFill>
              </a:rPr>
              <a:t>vector </a:t>
            </a:r>
            <a:r>
              <a:rPr lang="en-US" altLang="zh-CN" sz="1800" dirty="0" err="1">
                <a:solidFill>
                  <a:srgbClr val="C00000"/>
                </a:solidFill>
              </a:rPr>
              <a:t>Laplacian</a:t>
            </a:r>
            <a:r>
              <a:rPr lang="en-US" altLang="zh-CN" sz="1800" i="0" dirty="0"/>
              <a:t>:</a:t>
            </a:r>
            <a:endParaRPr lang="en-US" altLang="zh-CN" sz="1800" i="0" dirty="0"/>
          </a:p>
        </p:txBody>
      </p:sp>
      <p:pic>
        <p:nvPicPr>
          <p:cNvPr id="30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671" y="3810000"/>
            <a:ext cx="36099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1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141" y="5715000"/>
            <a:ext cx="166370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3" name="Rectangle 11"/>
          <p:cNvSpPr>
            <a:spLocks noChangeArrowheads="1"/>
          </p:cNvSpPr>
          <p:nvPr/>
        </p:nvSpPr>
        <p:spPr bwMode="auto">
          <a:xfrm>
            <a:off x="674866" y="4325757"/>
            <a:ext cx="6026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Using a (lengthy) procedure (see Sec. 7.7) it can be proven that</a:t>
            </a:r>
            <a:endParaRPr lang="en-US" altLang="zh-CN" sz="1800" i="0" dirty="0"/>
          </a:p>
        </p:txBody>
      </p:sp>
      <p:grpSp>
        <p:nvGrpSpPr>
          <p:cNvPr id="3" name="组合 2"/>
          <p:cNvGrpSpPr/>
          <p:nvPr/>
        </p:nvGrpSpPr>
        <p:grpSpPr>
          <a:xfrm>
            <a:off x="2504535" y="4770540"/>
            <a:ext cx="1189038" cy="365816"/>
            <a:chOff x="2590800" y="4681133"/>
            <a:chExt cx="1189038" cy="365816"/>
          </a:xfrm>
        </p:grpSpPr>
        <p:pic>
          <p:nvPicPr>
            <p:cNvPr id="32" name="Picture 1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800" y="4681133"/>
              <a:ext cx="1189038" cy="347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34" name="Line 12"/>
            <p:cNvSpPr>
              <a:spLocks noChangeShapeType="1"/>
            </p:cNvSpPr>
            <p:nvPr/>
          </p:nvSpPr>
          <p:spPr bwMode="auto">
            <a:xfrm>
              <a:off x="2621141" y="5046949"/>
              <a:ext cx="1066800" cy="0"/>
            </a:xfrm>
            <a:prstGeom prst="line">
              <a:avLst/>
            </a:prstGeom>
            <a:noFill/>
            <a:ln w="9525">
              <a:solidFill>
                <a:srgbClr val="CC006B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" name="Rectangle 13"/>
          <p:cNvSpPr>
            <a:spLocks noChangeArrowheads="1"/>
          </p:cNvSpPr>
          <p:nvPr/>
        </p:nvSpPr>
        <p:spPr bwMode="auto">
          <a:xfrm>
            <a:off x="694994" y="5238737"/>
            <a:ext cx="2551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are therefore left with</a:t>
            </a:r>
            <a:endParaRPr lang="en-US" altLang="zh-CN" sz="1800" i="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343" y="3077669"/>
            <a:ext cx="4467225" cy="54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75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76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Equation for the Vector Potential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800" y="1704555"/>
            <a:ext cx="166370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819150" y="1738686"/>
            <a:ext cx="1435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We now have</a:t>
            </a:r>
            <a:endParaRPr lang="en-US" altLang="zh-CN" sz="1800" i="0" dirty="0"/>
          </a:p>
        </p:txBody>
      </p:sp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794404"/>
            <a:ext cx="36925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849342" y="2323021"/>
            <a:ext cx="2659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In rectangular coordinates:</a:t>
            </a:r>
            <a:endParaRPr lang="en-US" altLang="zh-CN" sz="1800" i="0" dirty="0"/>
          </a:p>
        </p:txBody>
      </p:sp>
      <p:grpSp>
        <p:nvGrpSpPr>
          <p:cNvPr id="24" name="Group 10"/>
          <p:cNvGrpSpPr/>
          <p:nvPr/>
        </p:nvGrpSpPr>
        <p:grpSpPr bwMode="auto">
          <a:xfrm>
            <a:off x="2295525" y="3738902"/>
            <a:ext cx="1600200" cy="1443038"/>
            <a:chOff x="1776" y="2673"/>
            <a:chExt cx="1008" cy="909"/>
          </a:xfrm>
        </p:grpSpPr>
        <p:pic>
          <p:nvPicPr>
            <p:cNvPr id="37" name="Picture 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6" y="2673"/>
              <a:ext cx="1008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38" name="Picture 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1" y="3024"/>
              <a:ext cx="990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39" name="Picture 9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9" y="3381"/>
              <a:ext cx="962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sp>
        <p:nvSpPr>
          <p:cNvPr id="25" name="Rectangle 11"/>
          <p:cNvSpPr>
            <a:spLocks noChangeArrowheads="1"/>
          </p:cNvSpPr>
          <p:nvPr/>
        </p:nvSpPr>
        <p:spPr bwMode="auto">
          <a:xfrm>
            <a:off x="838200" y="3276600"/>
            <a:ext cx="3057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/>
              <a:t>The equation separates to give:</a:t>
            </a:r>
            <a:endParaRPr lang="en-US" altLang="zh-CN" sz="1800" i="0"/>
          </a:p>
        </p:txBody>
      </p: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914400" y="5449669"/>
            <a:ext cx="7696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i="0" dirty="0"/>
              <a:t>This indicates that </a:t>
            </a:r>
            <a:r>
              <a:rPr lang="en-US" altLang="zh-CN" sz="1800" i="0" dirty="0">
                <a:solidFill>
                  <a:srgbClr val="C00000"/>
                </a:solidFill>
              </a:rPr>
              <a:t>the direction of </a:t>
            </a:r>
            <a:r>
              <a:rPr lang="en-US" altLang="zh-CN" sz="1800" b="1" i="0" dirty="0">
                <a:solidFill>
                  <a:srgbClr val="C00000"/>
                </a:solidFill>
              </a:rPr>
              <a:t>A </a:t>
            </a:r>
            <a:r>
              <a:rPr lang="en-US" altLang="zh-CN" sz="1800" i="0" dirty="0">
                <a:solidFill>
                  <a:srgbClr val="C00000"/>
                </a:solidFill>
              </a:rPr>
              <a:t>will be the same as that of the current to which it is associated. Also,</a:t>
            </a:r>
            <a:r>
              <a:rPr lang="en-US" altLang="zh-CN" sz="1800" i="0" dirty="0">
                <a:solidFill>
                  <a:srgbClr val="FF0000"/>
                </a:solidFill>
              </a:rPr>
              <a:t> </a:t>
            </a:r>
            <a:r>
              <a:rPr lang="en-US" altLang="zh-CN" sz="1800" i="0" dirty="0">
                <a:solidFill>
                  <a:srgbClr val="FF0000"/>
                </a:solidFill>
                <a:highlight>
                  <a:srgbClr val="FFFF00"/>
                </a:highlight>
              </a:rPr>
              <a:t>we get three 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</a:rPr>
              <a:t>scalar </a:t>
            </a:r>
            <a:r>
              <a:rPr lang="en-US" altLang="zh-CN" sz="1800" dirty="0" err="1">
                <a:solidFill>
                  <a:srgbClr val="FF0000"/>
                </a:solidFill>
                <a:highlight>
                  <a:srgbClr val="FFFF00"/>
                </a:highlight>
              </a:rPr>
              <a:t>Poission’s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</a:rPr>
              <a:t> equations</a:t>
            </a:r>
            <a:r>
              <a:rPr lang="en-US" altLang="zh-CN" sz="1800" dirty="0">
                <a:solidFill>
                  <a:srgbClr val="C00000"/>
                </a:solidFill>
                <a:highlight>
                  <a:srgbClr val="FFFF00"/>
                </a:highlight>
              </a:rPr>
              <a:t>.</a:t>
            </a:r>
            <a:endParaRPr lang="en-US" altLang="zh-CN" sz="1800" i="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6172200" y="2794404"/>
            <a:ext cx="23006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600" i="0" dirty="0">
                <a:solidFill>
                  <a:srgbClr val="FF0000"/>
                </a:solidFill>
                <a:highlight>
                  <a:srgbClr val="FFFF00"/>
                </a:highlight>
              </a:rPr>
              <a:t>(not so simple in the </a:t>
            </a:r>
            <a:endParaRPr lang="en-US" altLang="zh-CN" sz="1600" i="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US" altLang="zh-CN" sz="1600" i="0" dirty="0">
                <a:solidFill>
                  <a:srgbClr val="FF0000"/>
                </a:solidFill>
                <a:highlight>
                  <a:srgbClr val="FFFF00"/>
                </a:highlight>
              </a:rPr>
              <a:t>other coordinate systems</a:t>
            </a:r>
            <a:r>
              <a:rPr lang="en-US" altLang="zh-CN" sz="1600" i="0" dirty="0"/>
              <a:t>)</a:t>
            </a:r>
            <a:endParaRPr lang="en-US" altLang="zh-CN" sz="1600" i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HW-7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76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1193536"/>
            <a:ext cx="7543801" cy="1859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3352800"/>
            <a:ext cx="7227554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47.4992125984252,&quot;width&quot;:3600}"/>
</p:tagLst>
</file>

<file path=ppt/tags/tag2.xml><?xml version="1.0" encoding="utf-8"?>
<p:tagLst xmlns:p="http://schemas.openxmlformats.org/presentationml/2006/main">
  <p:tag name="KSO_WM_UNIT_PLACING_PICTURE_USER_VIEWPORT" val="{&quot;height&quot;:2928.7496062992127,&quot;width&quot;:11880.00157480315}"/>
</p:tagLst>
</file>

<file path=ppt/tags/tag3.xml><?xml version="1.0" encoding="utf-8"?>
<p:tagLst xmlns:p="http://schemas.openxmlformats.org/presentationml/2006/main">
  <p:tag name="KSO_WPP_MARK_KEY" val="461d41cc-e8c0-4bad-90b3-3315d156ebc6"/>
  <p:tag name="COMMONDATA" val="eyJoZGlkIjoiODI0ZjJiMmIyODM0NTc5MzEyN2IzOWYzNjgwNDFiNT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12177</Words>
  <Application>WPS 演示</Application>
  <PresentationFormat>On-screen Show (4:3)</PresentationFormat>
  <Paragraphs>565</Paragraphs>
  <Slides>39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9" baseType="lpstr">
      <vt:lpstr>Arial</vt:lpstr>
      <vt:lpstr>宋体</vt:lpstr>
      <vt:lpstr>Wingdings</vt:lpstr>
      <vt:lpstr>Times New Roman</vt:lpstr>
      <vt:lpstr>华文行楷</vt:lpstr>
      <vt:lpstr>MS PGothic</vt:lpstr>
      <vt:lpstr>微软雅黑</vt:lpstr>
      <vt:lpstr>Arial Unicode MS</vt:lpstr>
      <vt:lpstr>Calibri</vt:lpstr>
      <vt:lpstr>默认设计模板</vt:lpstr>
      <vt:lpstr>Engineering Electromagnetics 工程电磁场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HW-7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dpcuser</dc:creator>
  <cp:lastModifiedBy>林碧容</cp:lastModifiedBy>
  <cp:revision>699</cp:revision>
  <cp:lastPrinted>2014-03-03T09:16:00Z</cp:lastPrinted>
  <dcterms:created xsi:type="dcterms:W3CDTF">2113-01-01T00:00:00Z</dcterms:created>
  <dcterms:modified xsi:type="dcterms:W3CDTF">2024-12-05T16:32:14Z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DC3BB2503B8D435F9B41E10F9E49C9DB</vt:lpwstr>
  </property>
  <property fmtid="{D5CDD505-2E9C-101B-9397-08002B2CF9AE}" pid="4" name="KSOProductBuildVer">
    <vt:lpwstr>2052-11.1.0.12165</vt:lpwstr>
  </property>
</Properties>
</file>