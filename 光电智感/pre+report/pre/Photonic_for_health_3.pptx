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2.xml" ContentType="application/vnd.openxmlformats-officedocument.drawingml.chart+xml"/>
  <Override PartName="/ppt/drawings/drawing1.xml" ContentType="application/vnd.openxmlformats-officedocument.drawingml.chartshape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97" r:id="rId2"/>
    <p:sldId id="298" r:id="rId3"/>
    <p:sldId id="299" r:id="rId4"/>
    <p:sldId id="301" r:id="rId5"/>
    <p:sldId id="302" r:id="rId6"/>
    <p:sldId id="304" r:id="rId7"/>
    <p:sldId id="261" r:id="rId8"/>
    <p:sldId id="275" r:id="rId9"/>
    <p:sldId id="276" r:id="rId10"/>
    <p:sldId id="277" r:id="rId11"/>
    <p:sldId id="278" r:id="rId12"/>
    <p:sldId id="293" r:id="rId13"/>
    <p:sldId id="273" r:id="rId14"/>
    <p:sldId id="295" r:id="rId15"/>
    <p:sldId id="294" r:id="rId16"/>
    <p:sldId id="296" r:id="rId17"/>
    <p:sldId id="256" r:id="rId18"/>
    <p:sldId id="257" r:id="rId19"/>
    <p:sldId id="258" r:id="rId20"/>
    <p:sldId id="263" r:id="rId21"/>
    <p:sldId id="264" r:id="rId22"/>
    <p:sldId id="265" r:id="rId23"/>
    <p:sldId id="266" r:id="rId24"/>
    <p:sldId id="259" r:id="rId25"/>
    <p:sldId id="267" r:id="rId26"/>
    <p:sldId id="268" r:id="rId27"/>
    <p:sldId id="269" r:id="rId28"/>
    <p:sldId id="270" r:id="rId29"/>
    <p:sldId id="260" r:id="rId30"/>
    <p:sldId id="271" r:id="rId31"/>
    <p:sldId id="272" r:id="rId32"/>
    <p:sldId id="274" r:id="rId33"/>
    <p:sldId id="262" r:id="rId34"/>
    <p:sldId id="280" r:id="rId35"/>
  </p:sldIdLst>
  <p:sldSz cx="12192000" cy="6858000"/>
  <p:notesSz cx="6858000" cy="9144000"/>
  <p:embeddedFontLst>
    <p:embeddedFont>
      <p:font typeface="方正黑体简体" panose="02010600030101010101" charset="-122"/>
      <p:regular r:id="rId37"/>
    </p:embeddedFont>
    <p:embeddedFont>
      <p:font typeface="Bahnschrift Condensed" panose="020B0502040204020203" pitchFamily="34" charset="0"/>
      <p:regular r:id="rId38"/>
      <p:bold r:id="rId39"/>
    </p:embeddedFont>
    <p:embeddedFont>
      <p:font typeface="Lato" panose="020F0502020204030203" pitchFamily="34" charset="0"/>
      <p:regular r:id="rId40"/>
      <p:bold r:id="rId41"/>
      <p:italic r:id="rId42"/>
      <p:boldItalic r:id="rId43"/>
    </p:embeddedFont>
    <p:embeddedFont>
      <p:font typeface="等线" panose="02010600030101010101" pitchFamily="2" charset="-122"/>
      <p:regular r:id="rId44"/>
      <p:bold r:id="rId45"/>
    </p:embeddedFont>
    <p:embeddedFont>
      <p:font typeface="微软雅黑" panose="020B0503020204020204" pitchFamily="34" charset="-122"/>
      <p:regular r:id="rId46"/>
      <p:bold r:id="rId4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78B"/>
    <a:srgbClr val="A9C4B5"/>
    <a:srgbClr val="CB31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34"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Microsoft%20PowerPoint%20&#20013;&#30340;&#22270;&#34920;"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embeddings/oleObject5.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'[Microsoft PowerPoint 中的图表]Sheet1'!$B$1</c:f>
              <c:strCache>
                <c:ptCount val="1"/>
                <c:pt idx="0">
                  <c:v>系列 2</c:v>
                </c:pt>
              </c:strCache>
            </c:strRef>
          </c:tx>
          <c:spPr>
            <a:solidFill>
              <a:srgbClr val="2E578B"/>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中的图表]Sheet1'!$B$2</c:f>
              <c:numCache>
                <c:formatCode>General</c:formatCode>
                <c:ptCount val="1"/>
                <c:pt idx="0">
                  <c:v>3</c:v>
                </c:pt>
              </c:numCache>
            </c:numRef>
          </c:val>
          <c:extLst>
            <c:ext xmlns:c16="http://schemas.microsoft.com/office/drawing/2014/chart" uri="{C3380CC4-5D6E-409C-BE32-E72D297353CC}">
              <c16:uniqueId val="{00000000-2181-4D45-A456-131C2E0975B5}"/>
            </c:ext>
          </c:extLst>
        </c:ser>
        <c:ser>
          <c:idx val="1"/>
          <c:order val="1"/>
          <c:tx>
            <c:strRef>
              <c:f>'[Microsoft PowerPoint 中的图表]Sheet1'!$C$1</c:f>
              <c:strCache>
                <c:ptCount val="1"/>
                <c:pt idx="0">
                  <c:v>系列 3</c:v>
                </c:pt>
              </c:strCache>
            </c:strRef>
          </c:tx>
          <c:spPr>
            <a:solidFill>
              <a:srgbClr val="CB312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中的图表]Sheet1'!$C$2</c:f>
              <c:numCache>
                <c:formatCode>General</c:formatCode>
                <c:ptCount val="1"/>
                <c:pt idx="0">
                  <c:v>6</c:v>
                </c:pt>
              </c:numCache>
            </c:numRef>
          </c:val>
          <c:extLst>
            <c:ext xmlns:c16="http://schemas.microsoft.com/office/drawing/2014/chart" uri="{C3380CC4-5D6E-409C-BE32-E72D297353CC}">
              <c16:uniqueId val="{00000001-2181-4D45-A456-131C2E0975B5}"/>
            </c:ext>
          </c:extLst>
        </c:ser>
        <c:ser>
          <c:idx val="2"/>
          <c:order val="2"/>
          <c:tx>
            <c:strRef>
              <c:f>'[Microsoft PowerPoint 中的图表]Sheet1'!$D$1</c:f>
              <c:strCache>
                <c:ptCount val="1"/>
                <c:pt idx="0">
                  <c:v>系列 4</c:v>
                </c:pt>
              </c:strCache>
            </c:strRef>
          </c:tx>
          <c:spPr>
            <a:solidFill>
              <a:srgbClr val="2E578B"/>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中的图表]Sheet1'!$D$2</c:f>
              <c:numCache>
                <c:formatCode>General</c:formatCode>
                <c:ptCount val="1"/>
                <c:pt idx="0">
                  <c:v>5</c:v>
                </c:pt>
              </c:numCache>
            </c:numRef>
          </c:val>
          <c:extLst>
            <c:ext xmlns:c16="http://schemas.microsoft.com/office/drawing/2014/chart" uri="{C3380CC4-5D6E-409C-BE32-E72D297353CC}">
              <c16:uniqueId val="{00000002-2181-4D45-A456-131C2E0975B5}"/>
            </c:ext>
          </c:extLst>
        </c:ser>
        <c:ser>
          <c:idx val="3"/>
          <c:order val="3"/>
          <c:tx>
            <c:strRef>
              <c:f>'[Microsoft PowerPoint 中的图表]Sheet1'!$E$1</c:f>
              <c:strCache>
                <c:ptCount val="1"/>
                <c:pt idx="0">
                  <c:v>系列 5</c:v>
                </c:pt>
              </c:strCache>
            </c:strRef>
          </c:tx>
          <c:spPr>
            <a:solidFill>
              <a:srgbClr val="CB312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中的图表]Sheet1'!$E$2</c:f>
              <c:numCache>
                <c:formatCode>General</c:formatCode>
                <c:ptCount val="1"/>
                <c:pt idx="0">
                  <c:v>2</c:v>
                </c:pt>
              </c:numCache>
            </c:numRef>
          </c:val>
          <c:extLst>
            <c:ext xmlns:c16="http://schemas.microsoft.com/office/drawing/2014/chart" uri="{C3380CC4-5D6E-409C-BE32-E72D297353CC}">
              <c16:uniqueId val="{00000003-2181-4D45-A456-131C2E0975B5}"/>
            </c:ext>
          </c:extLst>
        </c:ser>
        <c:ser>
          <c:idx val="4"/>
          <c:order val="4"/>
          <c:tx>
            <c:strRef>
              <c:f>'[Microsoft PowerPoint 中的图表]Sheet1'!$F$1</c:f>
              <c:strCache>
                <c:ptCount val="1"/>
                <c:pt idx="0">
                  <c:v>系列 6</c:v>
                </c:pt>
              </c:strCache>
            </c:strRef>
          </c:tx>
          <c:spPr>
            <a:solidFill>
              <a:srgbClr val="2E578B"/>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2000" b="0" i="0" u="none" strike="noStrike" kern="1200" baseline="0">
                    <a:solidFill>
                      <a:srgbClr val="CB3125"/>
                    </a:solidFill>
                    <a:latin typeface="Azonix" pitchFamily="50" charset="0"/>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中的图表]Sheet1'!$F$2</c:f>
              <c:numCache>
                <c:formatCode>General</c:formatCode>
                <c:ptCount val="1"/>
                <c:pt idx="0">
                  <c:v>9</c:v>
                </c:pt>
              </c:numCache>
            </c:numRef>
          </c:val>
          <c:extLst>
            <c:ext xmlns:c16="http://schemas.microsoft.com/office/drawing/2014/chart" uri="{C3380CC4-5D6E-409C-BE32-E72D297353CC}">
              <c16:uniqueId val="{00000004-2181-4D45-A456-131C2E0975B5}"/>
            </c:ext>
          </c:extLst>
        </c:ser>
        <c:ser>
          <c:idx val="5"/>
          <c:order val="5"/>
          <c:tx>
            <c:strRef>
              <c:f>'[Microsoft PowerPoint 中的图表]Sheet1'!$G$1</c:f>
              <c:strCache>
                <c:ptCount val="1"/>
                <c:pt idx="0">
                  <c:v>系列 7</c:v>
                </c:pt>
              </c:strCache>
            </c:strRef>
          </c:tx>
          <c:spPr>
            <a:solidFill>
              <a:srgbClr val="CB312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中的图表]Sheet1'!$G$2</c:f>
              <c:numCache>
                <c:formatCode>General</c:formatCode>
                <c:ptCount val="1"/>
                <c:pt idx="0">
                  <c:v>2</c:v>
                </c:pt>
              </c:numCache>
            </c:numRef>
          </c:val>
          <c:extLst>
            <c:ext xmlns:c16="http://schemas.microsoft.com/office/drawing/2014/chart" uri="{C3380CC4-5D6E-409C-BE32-E72D297353CC}">
              <c16:uniqueId val="{00000005-2181-4D45-A456-131C2E0975B5}"/>
            </c:ext>
          </c:extLst>
        </c:ser>
        <c:dLbls>
          <c:showLegendKey val="0"/>
          <c:showVal val="1"/>
          <c:showCatName val="0"/>
          <c:showSerName val="0"/>
          <c:showPercent val="0"/>
          <c:showBubbleSize val="0"/>
        </c:dLbls>
        <c:gapWidth val="219"/>
        <c:overlap val="-27"/>
        <c:axId val="-1464688000"/>
        <c:axId val="-1464687456"/>
      </c:barChart>
      <c:catAx>
        <c:axId val="-1464688000"/>
        <c:scaling>
          <c:orientation val="minMax"/>
        </c:scaling>
        <c:delete val="1"/>
        <c:axPos val="b"/>
        <c:numFmt formatCode="General" sourceLinked="1"/>
        <c:majorTickMark val="none"/>
        <c:minorTickMark val="none"/>
        <c:tickLblPos val="nextTo"/>
        <c:crossAx val="-1464687456"/>
        <c:crosses val="autoZero"/>
        <c:auto val="1"/>
        <c:lblAlgn val="ctr"/>
        <c:lblOffset val="100"/>
        <c:noMultiLvlLbl val="0"/>
      </c:catAx>
      <c:valAx>
        <c:axId val="-1464687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j-lt"/>
                <a:ea typeface="+mn-ea"/>
                <a:cs typeface="+mn-cs"/>
              </a:defRPr>
            </a:pPr>
            <a:endParaRPr lang="zh-CN"/>
          </a:p>
        </c:txPr>
        <c:crossAx val="-1464688000"/>
        <c:crosses val="autoZero"/>
        <c:crossBetween val="between"/>
      </c:valAx>
      <c:spPr>
        <a:noFill/>
        <a:ln>
          <a:noFill/>
        </a:ln>
        <a:effectLst/>
      </c:spPr>
    </c:plotArea>
    <c:plotVisOnly val="1"/>
    <c:dispBlanksAs val="gap"/>
    <c:showDLblsOverMax val="0"/>
  </c:chart>
  <c:spPr>
    <a:noFill/>
    <a:ln>
      <a:noFill/>
    </a:ln>
    <a:effectLst/>
  </c:spPr>
  <c:txPr>
    <a:bodyPr/>
    <a:lstStyle/>
    <a:p>
      <a:pPr>
        <a:defRPr lang="zh-CN" sz="1200">
          <a:latin typeface="+mj-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2E578B"/>
            </a:solidFill>
            <a:ln>
              <a:noFill/>
            </a:ln>
            <a:effectLst/>
          </c:spPr>
          <c:invertIfNegative val="0"/>
          <c:dPt>
            <c:idx val="0"/>
            <c:invertIfNegative val="0"/>
            <c:bubble3D val="0"/>
            <c:extLst>
              <c:ext xmlns:c16="http://schemas.microsoft.com/office/drawing/2014/chart" uri="{C3380CC4-5D6E-409C-BE32-E72D297353CC}">
                <c16:uniqueId val="{00000000-9283-4B18-85EF-C635FB2D8ACC}"/>
              </c:ext>
            </c:extLst>
          </c:dPt>
          <c:dPt>
            <c:idx val="1"/>
            <c:invertIfNegative val="0"/>
            <c:bubble3D val="0"/>
            <c:extLst>
              <c:ext xmlns:c16="http://schemas.microsoft.com/office/drawing/2014/chart" uri="{C3380CC4-5D6E-409C-BE32-E72D297353CC}">
                <c16:uniqueId val="{00000001-9283-4B18-85EF-C635FB2D8ACC}"/>
              </c:ext>
            </c:extLst>
          </c:dPt>
          <c:dPt>
            <c:idx val="2"/>
            <c:invertIfNegative val="0"/>
            <c:bubble3D val="0"/>
            <c:extLst>
              <c:ext xmlns:c16="http://schemas.microsoft.com/office/drawing/2014/chart" uri="{C3380CC4-5D6E-409C-BE32-E72D297353CC}">
                <c16:uniqueId val="{00000002-9283-4B18-85EF-C635FB2D8ACC}"/>
              </c:ext>
            </c:extLst>
          </c:dPt>
          <c:dPt>
            <c:idx val="3"/>
            <c:invertIfNegative val="0"/>
            <c:bubble3D val="0"/>
            <c:extLst>
              <c:ext xmlns:c16="http://schemas.microsoft.com/office/drawing/2014/chart" uri="{C3380CC4-5D6E-409C-BE32-E72D297353CC}">
                <c16:uniqueId val="{00000003-9283-4B18-85EF-C635FB2D8ACC}"/>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bg2">
                        <a:lumMod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Sheet1!$B$2:$B$11</c:f>
              <c:numCache>
                <c:formatCode>General</c:formatCode>
                <c:ptCount val="10"/>
                <c:pt idx="0">
                  <c:v>20</c:v>
                </c:pt>
                <c:pt idx="1">
                  <c:v>30</c:v>
                </c:pt>
                <c:pt idx="2">
                  <c:v>50</c:v>
                </c:pt>
                <c:pt idx="3">
                  <c:v>30</c:v>
                </c:pt>
                <c:pt idx="4">
                  <c:v>20</c:v>
                </c:pt>
                <c:pt idx="5">
                  <c:v>-20</c:v>
                </c:pt>
                <c:pt idx="6">
                  <c:v>-30</c:v>
                </c:pt>
                <c:pt idx="7">
                  <c:v>-50</c:v>
                </c:pt>
                <c:pt idx="8">
                  <c:v>-40</c:v>
                </c:pt>
                <c:pt idx="9">
                  <c:v>-10</c:v>
                </c:pt>
              </c:numCache>
            </c:numRef>
          </c:val>
          <c:extLst>
            <c:ext xmlns:c16="http://schemas.microsoft.com/office/drawing/2014/chart" uri="{C3380CC4-5D6E-409C-BE32-E72D297353CC}">
              <c16:uniqueId val="{00000004-9283-4B18-85EF-C635FB2D8ACC}"/>
            </c:ext>
          </c:extLst>
        </c:ser>
        <c:ser>
          <c:idx val="1"/>
          <c:order val="1"/>
          <c:tx>
            <c:strRef>
              <c:f>Sheet1!$C$1</c:f>
              <c:strCache>
                <c:ptCount val="1"/>
                <c:pt idx="0">
                  <c:v>열1</c:v>
                </c:pt>
              </c:strCache>
            </c:strRef>
          </c:tx>
          <c:spPr>
            <a:solidFill>
              <a:srgbClr val="CB312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bg2">
                        <a:lumMod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Sheet1!$C$2:$C$11</c:f>
              <c:numCache>
                <c:formatCode>General</c:formatCode>
                <c:ptCount val="10"/>
                <c:pt idx="0">
                  <c:v>10</c:v>
                </c:pt>
                <c:pt idx="1">
                  <c:v>20</c:v>
                </c:pt>
                <c:pt idx="2">
                  <c:v>25</c:v>
                </c:pt>
                <c:pt idx="3">
                  <c:v>10</c:v>
                </c:pt>
                <c:pt idx="4">
                  <c:v>-10</c:v>
                </c:pt>
                <c:pt idx="5">
                  <c:v>-40</c:v>
                </c:pt>
                <c:pt idx="6">
                  <c:v>-50</c:v>
                </c:pt>
                <c:pt idx="7">
                  <c:v>-30</c:v>
                </c:pt>
                <c:pt idx="8">
                  <c:v>10</c:v>
                </c:pt>
                <c:pt idx="9">
                  <c:v>20</c:v>
                </c:pt>
              </c:numCache>
            </c:numRef>
          </c:val>
          <c:extLst>
            <c:ext xmlns:c16="http://schemas.microsoft.com/office/drawing/2014/chart" uri="{C3380CC4-5D6E-409C-BE32-E72D297353CC}">
              <c16:uniqueId val="{00000005-9283-4B18-85EF-C635FB2D8ACC}"/>
            </c:ext>
          </c:extLst>
        </c:ser>
        <c:dLbls>
          <c:showLegendKey val="0"/>
          <c:showVal val="0"/>
          <c:showCatName val="0"/>
          <c:showSerName val="0"/>
          <c:showPercent val="0"/>
          <c:showBubbleSize val="0"/>
        </c:dLbls>
        <c:gapWidth val="110"/>
        <c:axId val="439394504"/>
        <c:axId val="439394112"/>
      </c:barChart>
      <c:catAx>
        <c:axId val="439394504"/>
        <c:scaling>
          <c:orientation val="minMax"/>
        </c:scaling>
        <c:delete val="1"/>
        <c:axPos val="b"/>
        <c:numFmt formatCode="General" sourceLinked="1"/>
        <c:majorTickMark val="none"/>
        <c:minorTickMark val="none"/>
        <c:tickLblPos val="nextTo"/>
        <c:crossAx val="439394112"/>
        <c:crossesAt val="0"/>
        <c:auto val="1"/>
        <c:lblAlgn val="ctr"/>
        <c:lblOffset val="100"/>
        <c:noMultiLvlLbl val="0"/>
      </c:catAx>
      <c:valAx>
        <c:axId val="439394112"/>
        <c:scaling>
          <c:orientation val="minMax"/>
        </c:scaling>
        <c:delete val="0"/>
        <c:axPos val="l"/>
        <c:numFmt formatCode="General" sourceLinked="1"/>
        <c:majorTickMark val="out"/>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zh-CN" sz="1000" b="0" i="0" u="none" strike="noStrike" kern="1200" baseline="0">
                <a:solidFill>
                  <a:schemeClr val="bg2">
                    <a:lumMod val="25000"/>
                  </a:schemeClr>
                </a:solidFill>
                <a:latin typeface="+mj-lt"/>
                <a:ea typeface="+mn-ea"/>
                <a:cs typeface="+mn-cs"/>
              </a:defRPr>
            </a:pPr>
            <a:endParaRPr lang="zh-CN"/>
          </a:p>
        </c:txPr>
        <c:crossAx val="439394504"/>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2">
              <a:lumMod val="25000"/>
            </a:schemeClr>
          </a:solidFill>
          <a:latin typeface="+mj-lt"/>
        </a:defRPr>
      </a:pPr>
      <a:endParaRPr lang="zh-CN"/>
    </a:p>
  </c:txPr>
  <c:externalData r:id="rId1">
    <c:autoUpdate val="0"/>
  </c:externalData>
  <c:userShapes r:id="rId2"/>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0.033</cdr:x>
      <cdr:y>0.5</cdr:y>
    </cdr:from>
    <cdr:to>
      <cdr:x>0.98534</cdr:x>
      <cdr:y>0.5</cdr:y>
    </cdr:to>
    <cdr:cxnSp macro="">
      <cdr:nvCxnSpPr>
        <cdr:cNvPr id="2" name="直接连接符 1">
          <a:extLst xmlns:a="http://schemas.openxmlformats.org/drawingml/2006/main">
            <a:ext uri="{FF2B5EF4-FFF2-40B4-BE49-F238E27FC236}">
              <a16:creationId xmlns:a16="http://schemas.microsoft.com/office/drawing/2014/main" id="{41F8E3AD-31CB-E5DA-1B90-A8AE9501E491}"/>
            </a:ext>
          </a:extLst>
        </cdr:cNvPr>
        <cdr:cNvCxnSpPr/>
      </cdr:nvCxnSpPr>
      <cdr:spPr>
        <a:xfrm xmlns:a="http://schemas.openxmlformats.org/drawingml/2006/main">
          <a:off x="308873" y="1485339"/>
          <a:ext cx="8913090" cy="0"/>
        </a:xfrm>
        <a:prstGeom xmlns:a="http://schemas.openxmlformats.org/drawingml/2006/main" prst="line">
          <a:avLst/>
        </a:prstGeom>
        <a:ln xmlns:a="http://schemas.openxmlformats.org/drawingml/2006/main" w="12700">
          <a:solidFill>
            <a:srgbClr val="EDEBE8"/>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4A9FA-8C94-42E0-A904-61BBD0E1E2C2}" type="datetimeFigureOut">
              <a:rPr lang="zh-CN" altLang="en-US" smtClean="0"/>
              <a:t>2025/5/28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C5D187-1CCC-40FD-A28C-346FAAB014D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5368C7-7441-428E-8FCB-11770E62266E}" type="slidenum">
              <a:rPr lang="zh-CN" altLang="en-US" smtClean="0"/>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657C96-A9AC-425A-98DA-7746444C33B8}" type="datetimeFigureOut">
              <a:rPr lang="zh-CN" altLang="en-US" smtClean="0"/>
              <a:t>2025/5/28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88D501-6C84-47B2-BF39-3252282B452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doi.org/10.3390/math12233705"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hyperlink" Target="https://doi.org/10.3390/math1215231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doi.org/10.1038/s41587-022-01450-8" TargetMode="External"/><Relationship Id="rId4" Type="http://schemas.openxmlformats.org/officeDocument/2006/relationships/hyperlink" Target="https://doi.org/10.1109/tmi.2023.3342809"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2.bin"/><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20.png"/><Relationship Id="rId7" Type="http://schemas.openxmlformats.org/officeDocument/2006/relationships/oleObject" Target="../embeddings/oleObject4.bin"/><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wmf"/><Relationship Id="rId4" Type="http://schemas.openxmlformats.org/officeDocument/2006/relationships/oleObject" Target="../embeddings/oleObject3.bin"/><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1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9.jpeg"/></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40.jpe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3AD18-70CA-CEEF-4A8B-5F328D88EBF0}"/>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C484172-B550-3873-37F0-6F9BA8CC9301}"/>
              </a:ext>
            </a:extLst>
          </p:cNvPr>
          <p:cNvPicPr>
            <a:picLocks noChangeAspect="1"/>
          </p:cNvPicPr>
          <p:nvPr/>
        </p:nvPicPr>
        <p:blipFill rotWithShape="1">
          <a:blip r:embed="rId2"/>
          <a:srcRect l="3853" r="3853"/>
          <a:stretch>
            <a:fillRect/>
          </a:stretch>
        </p:blipFill>
        <p:spPr>
          <a:xfrm>
            <a:off x="508673" y="808127"/>
            <a:ext cx="12192000" cy="6858000"/>
          </a:xfrm>
          <a:prstGeom prst="rect">
            <a:avLst/>
          </a:prstGeom>
        </p:spPr>
      </p:pic>
      <p:sp>
        <p:nvSpPr>
          <p:cNvPr id="10" name="文本框 9">
            <a:extLst>
              <a:ext uri="{FF2B5EF4-FFF2-40B4-BE49-F238E27FC236}">
                <a16:creationId xmlns:a16="http://schemas.microsoft.com/office/drawing/2014/main" id="{0CA214D4-47D6-BF27-7E85-EBBF494A50A3}"/>
              </a:ext>
            </a:extLst>
          </p:cNvPr>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2</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a:extLst>
              <a:ext uri="{FF2B5EF4-FFF2-40B4-BE49-F238E27FC236}">
                <a16:creationId xmlns:a16="http://schemas.microsoft.com/office/drawing/2014/main" id="{762E8F21-78AA-36D9-54EC-849DBFE8D7B2}"/>
              </a:ext>
            </a:extLst>
          </p:cNvPr>
          <p:cNvSpPr txBox="1"/>
          <p:nvPr/>
        </p:nvSpPr>
        <p:spPr>
          <a:xfrm>
            <a:off x="5739942" y="3017113"/>
            <a:ext cx="3334479" cy="1220014"/>
          </a:xfrm>
          <a:prstGeom prst="rect">
            <a:avLst/>
          </a:prstGeom>
          <a:noFill/>
        </p:spPr>
        <p:txBody>
          <a:bodyPr wrap="square" rtlCol="0">
            <a:spAutoFit/>
          </a:bodyPr>
          <a:lstStyle/>
          <a:p>
            <a:pPr>
              <a:lnSpc>
                <a:spcPct val="120000"/>
              </a:lnSpc>
            </a:pPr>
            <a:r>
              <a:rPr lang="en-US" altLang="zh-CN" sz="2400" dirty="0">
                <a:solidFill>
                  <a:srgbClr val="2E578B"/>
                </a:solidFill>
                <a:latin typeface="Azonix" pitchFamily="50" charset="0"/>
                <a:ea typeface="Roboto Thin" panose="02000000000000000000" pitchFamily="2" charset="0"/>
                <a:sym typeface="微软雅黑 Light" panose="020B0502040204020203" pitchFamily="34" charset="-122"/>
              </a:rPr>
              <a:t>AI Denoising</a:t>
            </a:r>
          </a:p>
          <a:p>
            <a:pPr>
              <a:lnSpc>
                <a:spcPct val="120000"/>
              </a:lnSpc>
            </a:pPr>
            <a:r>
              <a:rPr lang="en-US" sz="2400" dirty="0">
                <a:solidFill>
                  <a:srgbClr val="2E578B"/>
                </a:solidFill>
                <a:latin typeface="Azonix" pitchFamily="50" charset="0"/>
                <a:ea typeface="Roboto Thin" panose="02000000000000000000" pitchFamily="2" charset="0"/>
                <a:cs typeface="文泉驿微米黑" panose="020B0606030804020204" pitchFamily="34" charset="-122"/>
                <a:sym typeface="微软雅黑 Light" panose="020B0502040204020203" pitchFamily="34" charset="-122"/>
              </a:rPr>
              <a:t>In Medical Imaging</a:t>
            </a:r>
          </a:p>
          <a:p>
            <a:pPr>
              <a:lnSpc>
                <a:spcPct val="120000"/>
              </a:lnSpc>
            </a:pPr>
            <a:r>
              <a:rPr lang="zh-CN" alt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何衍宁 </a:t>
            </a:r>
            <a:r>
              <a:rPr lang="en-US" altLang="zh-CN"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12311512</a:t>
            </a:r>
            <a:endPar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12" name="双括号 11">
            <a:extLst>
              <a:ext uri="{FF2B5EF4-FFF2-40B4-BE49-F238E27FC236}">
                <a16:creationId xmlns:a16="http://schemas.microsoft.com/office/drawing/2014/main" id="{F20DB668-E0BD-95D1-8ABC-B818D39072EC}"/>
              </a:ext>
            </a:extLst>
          </p:cNvPr>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35769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D818-046E-3032-1DFE-E5D2B32CED90}"/>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1635E11A-C05F-C4AC-4828-57F3EBD40D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9960" y="432899"/>
            <a:ext cx="8332080" cy="6619588"/>
          </a:xfrm>
          <a:prstGeom prst="rect">
            <a:avLst/>
          </a:prstGeom>
        </p:spPr>
      </p:pic>
      <p:sp>
        <p:nvSpPr>
          <p:cNvPr id="4" name="文本框 3">
            <a:extLst>
              <a:ext uri="{FF2B5EF4-FFF2-40B4-BE49-F238E27FC236}">
                <a16:creationId xmlns:a16="http://schemas.microsoft.com/office/drawing/2014/main" id="{F1AD6E54-1A65-2705-FF42-B0F3322C861D}"/>
              </a:ext>
            </a:extLst>
          </p:cNvPr>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a:extLst>
              <a:ext uri="{FF2B5EF4-FFF2-40B4-BE49-F238E27FC236}">
                <a16:creationId xmlns:a16="http://schemas.microsoft.com/office/drawing/2014/main" id="{9534BC27-B18B-D46F-DF3A-72713986BDA4}"/>
              </a:ext>
            </a:extLst>
          </p:cNvPr>
          <p:cNvSpPr txBox="1"/>
          <p:nvPr/>
        </p:nvSpPr>
        <p:spPr>
          <a:xfrm>
            <a:off x="660400" y="625011"/>
            <a:ext cx="5628640" cy="337185"/>
          </a:xfrm>
          <a:prstGeom prst="rect">
            <a:avLst/>
          </a:prstGeom>
          <a:noFill/>
        </p:spPr>
        <p:txBody>
          <a:bodyPr wrap="square" rtlCol="0">
            <a:spAutoFit/>
          </a:bodyPr>
          <a:lstStyle/>
          <a:p>
            <a:r>
              <a:rPr lang="en-US" altLang="zh-CN"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STRUCTURE</a:t>
            </a:r>
            <a:endPar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6" name="图片 5">
            <a:extLst>
              <a:ext uri="{FF2B5EF4-FFF2-40B4-BE49-F238E27FC236}">
                <a16:creationId xmlns:a16="http://schemas.microsoft.com/office/drawing/2014/main" id="{74DC6BF8-E1DD-9CA1-6748-690885C833E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Tree>
    <p:extLst>
      <p:ext uri="{BB962C8B-B14F-4D97-AF65-F5344CB8AC3E}">
        <p14:creationId xmlns:p14="http://schemas.microsoft.com/office/powerpoint/2010/main" val="958640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7C08-6E32-79B1-D974-ACAD72AC9CBA}"/>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29369B7-4F86-32FD-5E66-EAEFEA8846E5}"/>
              </a:ext>
            </a:extLst>
          </p:cNvPr>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a:extLst>
              <a:ext uri="{FF2B5EF4-FFF2-40B4-BE49-F238E27FC236}">
                <a16:creationId xmlns:a16="http://schemas.microsoft.com/office/drawing/2014/main" id="{C879FA7D-D4C8-4AFE-80FC-38801C9791CF}"/>
              </a:ext>
            </a:extLst>
          </p:cNvPr>
          <p:cNvSpPr txBox="1"/>
          <p:nvPr/>
        </p:nvSpPr>
        <p:spPr>
          <a:xfrm>
            <a:off x="660400" y="625011"/>
            <a:ext cx="5628640" cy="337185"/>
          </a:xfrm>
          <a:prstGeom prst="rect">
            <a:avLst/>
          </a:prstGeom>
          <a:noFill/>
        </p:spPr>
        <p:txBody>
          <a:bodyPr wrap="square" rtlCol="0">
            <a:spAutoFit/>
          </a:bodyPr>
          <a:lstStyle/>
          <a:p>
            <a:r>
              <a:rPr lang="en-US" altLang="zh-CN"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INTRO</a:t>
            </a:r>
            <a:endPar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6" name="图片 5">
            <a:extLst>
              <a:ext uri="{FF2B5EF4-FFF2-40B4-BE49-F238E27FC236}">
                <a16:creationId xmlns:a16="http://schemas.microsoft.com/office/drawing/2014/main" id="{FE7638B1-6C0E-0BD9-9D8C-8EDFBE9EAE0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2" name="文本框 1">
            <a:extLst>
              <a:ext uri="{FF2B5EF4-FFF2-40B4-BE49-F238E27FC236}">
                <a16:creationId xmlns:a16="http://schemas.microsoft.com/office/drawing/2014/main" id="{86941E35-0522-7AD1-E070-0D0FF5D4D5F3}"/>
              </a:ext>
            </a:extLst>
          </p:cNvPr>
          <p:cNvSpPr txBox="1"/>
          <p:nvPr/>
        </p:nvSpPr>
        <p:spPr>
          <a:xfrm>
            <a:off x="660399" y="1307001"/>
            <a:ext cx="7606022" cy="646331"/>
          </a:xfrm>
          <a:prstGeom prst="rect">
            <a:avLst/>
          </a:prstGeom>
          <a:noFill/>
        </p:spPr>
        <p:txBody>
          <a:bodyPr wrap="square" rtlCol="0">
            <a:spAutoFit/>
          </a:bodyPr>
          <a:lstStyle/>
          <a:p>
            <a:r>
              <a:rPr lang="en-US" altLang="zh-CN" kern="1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N</a:t>
            </a:r>
            <a:r>
              <a:rPr lang="en-US" altLang="zh-CN" sz="1800" kern="100" dirty="0">
                <a:solidFill>
                  <a:schemeClr val="accent1">
                    <a:lumMod val="75000"/>
                  </a:schemeClr>
                </a:solidFill>
                <a:effectLst/>
                <a:latin typeface="Calibri" panose="020F0502020204030204" pitchFamily="34" charset="0"/>
                <a:ea typeface="Calibri" panose="020F0502020204030204" pitchFamily="34" charset="0"/>
                <a:cs typeface="Calibri" panose="020F0502020204030204" pitchFamily="34" charset="0"/>
              </a:rPr>
              <a:t>oise reduction impacts diagnostic precision and patient outcomes.</a:t>
            </a:r>
          </a:p>
          <a:p>
            <a:endParaRPr lang="zh-CN" altLang="en-US" dirty="0"/>
          </a:p>
        </p:txBody>
      </p:sp>
      <p:sp>
        <p:nvSpPr>
          <p:cNvPr id="3" name="文本框 2">
            <a:extLst>
              <a:ext uri="{FF2B5EF4-FFF2-40B4-BE49-F238E27FC236}">
                <a16:creationId xmlns:a16="http://schemas.microsoft.com/office/drawing/2014/main" id="{92429526-AA3A-3E91-7369-65E631CEEF09}"/>
              </a:ext>
            </a:extLst>
          </p:cNvPr>
          <p:cNvSpPr txBox="1"/>
          <p:nvPr/>
        </p:nvSpPr>
        <p:spPr>
          <a:xfrm>
            <a:off x="1777284" y="2113471"/>
            <a:ext cx="2043592" cy="369332"/>
          </a:xfrm>
          <a:prstGeom prst="rect">
            <a:avLst/>
          </a:prstGeom>
          <a:noFill/>
        </p:spPr>
        <p:txBody>
          <a:bodyPr wrap="square" rtlCol="0">
            <a:spAutoFit/>
          </a:bodyPr>
          <a:lstStyle/>
          <a:p>
            <a:r>
              <a:rPr lang="en-US" altLang="zh-CN" dirty="0" err="1">
                <a:latin typeface="Calibri" panose="020F0502020204030204" pitchFamily="34" charset="0"/>
                <a:ea typeface="Calibri" panose="020F0502020204030204" pitchFamily="34" charset="0"/>
                <a:cs typeface="Calibri" panose="020F0502020204030204" pitchFamily="34" charset="0"/>
              </a:rPr>
              <a:t>Guassian</a:t>
            </a:r>
            <a:r>
              <a:rPr lang="en-US" altLang="zh-CN" b="1" dirty="0">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Filtering</a:t>
            </a:r>
            <a:endParaRPr lang="zh-CN" altLang="en-US" dirty="0">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F8C00F15-A5B9-F14E-398E-E155946CF26B}"/>
              </a:ext>
            </a:extLst>
          </p:cNvPr>
          <p:cNvSpPr txBox="1"/>
          <p:nvPr/>
        </p:nvSpPr>
        <p:spPr>
          <a:xfrm>
            <a:off x="8386091" y="1592377"/>
            <a:ext cx="2043592" cy="369332"/>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Wavelet Transform</a:t>
            </a:r>
            <a:endParaRPr lang="zh-CN" altLang="en-US" dirty="0">
              <a:latin typeface="Calibri" panose="020F0502020204030204" pitchFamily="34" charset="0"/>
              <a:cs typeface="Calibri" panose="020F0502020204030204" pitchFamily="34" charset="0"/>
            </a:endParaRPr>
          </a:p>
        </p:txBody>
      </p:sp>
      <p:cxnSp>
        <p:nvCxnSpPr>
          <p:cNvPr id="10" name="直接连接符 9">
            <a:extLst>
              <a:ext uri="{FF2B5EF4-FFF2-40B4-BE49-F238E27FC236}">
                <a16:creationId xmlns:a16="http://schemas.microsoft.com/office/drawing/2014/main" id="{A24D29C1-0A8A-952C-E897-ECC787CEB779}"/>
              </a:ext>
            </a:extLst>
          </p:cNvPr>
          <p:cNvCxnSpPr>
            <a:cxnSpLocks/>
          </p:cNvCxnSpPr>
          <p:nvPr/>
        </p:nvCxnSpPr>
        <p:spPr>
          <a:xfrm>
            <a:off x="6096000" y="2538133"/>
            <a:ext cx="0" cy="2893035"/>
          </a:xfrm>
          <a:prstGeom prst="line">
            <a:avLst/>
          </a:prstGeom>
        </p:spPr>
        <p:style>
          <a:lnRef idx="1">
            <a:schemeClr val="dk1"/>
          </a:lnRef>
          <a:fillRef idx="0">
            <a:schemeClr val="dk1"/>
          </a:fillRef>
          <a:effectRef idx="0">
            <a:schemeClr val="dk1"/>
          </a:effectRef>
          <a:fontRef idx="minor">
            <a:schemeClr val="tx1"/>
          </a:fontRef>
        </p:style>
      </p:cxnSp>
      <p:pic>
        <p:nvPicPr>
          <p:cNvPr id="21" name="图片 20">
            <a:extLst>
              <a:ext uri="{FF2B5EF4-FFF2-40B4-BE49-F238E27FC236}">
                <a16:creationId xmlns:a16="http://schemas.microsoft.com/office/drawing/2014/main" id="{625475C6-1A26-CE61-B94C-9186EC16AB22}"/>
              </a:ext>
            </a:extLst>
          </p:cNvPr>
          <p:cNvPicPr>
            <a:picLocks noChangeAspect="1"/>
          </p:cNvPicPr>
          <p:nvPr/>
        </p:nvPicPr>
        <p:blipFill>
          <a:blip r:embed="rId3"/>
          <a:stretch>
            <a:fillRect/>
          </a:stretch>
        </p:blipFill>
        <p:spPr>
          <a:xfrm>
            <a:off x="477154" y="2642942"/>
            <a:ext cx="4643851" cy="1958527"/>
          </a:xfrm>
          <a:prstGeom prst="rect">
            <a:avLst/>
          </a:prstGeom>
        </p:spPr>
      </p:pic>
      <p:sp>
        <p:nvSpPr>
          <p:cNvPr id="23" name="文本框 22">
            <a:extLst>
              <a:ext uri="{FF2B5EF4-FFF2-40B4-BE49-F238E27FC236}">
                <a16:creationId xmlns:a16="http://schemas.microsoft.com/office/drawing/2014/main" id="{FB88F89D-F8FC-617D-AAE7-2E9CCCB11AFC}"/>
              </a:ext>
            </a:extLst>
          </p:cNvPr>
          <p:cNvSpPr txBox="1"/>
          <p:nvPr/>
        </p:nvSpPr>
        <p:spPr>
          <a:xfrm>
            <a:off x="262354" y="4904669"/>
            <a:ext cx="6097022" cy="369332"/>
          </a:xfrm>
          <a:prstGeom prst="rect">
            <a:avLst/>
          </a:prstGeom>
          <a:noFill/>
        </p:spPr>
        <p:txBody>
          <a:bodyPr wrap="square">
            <a:spAutoFit/>
          </a:bodyPr>
          <a:lstStyle/>
          <a:p>
            <a:r>
              <a:rPr lang="en-US" altLang="zh-CN" b="0" i="0" dirty="0">
                <a:effectLst/>
                <a:latin typeface="Calibri" panose="020F0502020204030204" pitchFamily="34" charset="0"/>
                <a:ea typeface="Calibri" panose="020F0502020204030204" pitchFamily="34" charset="0"/>
                <a:cs typeface="Calibri" panose="020F0502020204030204" pitchFamily="34" charset="0"/>
              </a:rPr>
              <a:t>Gaussian filtering removes noise, but it also blur the image.</a:t>
            </a:r>
            <a:endParaRPr lang="zh-CN" altLang="en-US" dirty="0">
              <a:latin typeface="Calibri" panose="020F0502020204030204" pitchFamily="34" charset="0"/>
              <a:cs typeface="Calibri" panose="020F0502020204030204" pitchFamily="34" charset="0"/>
            </a:endParaRPr>
          </a:p>
        </p:txBody>
      </p:sp>
      <p:pic>
        <p:nvPicPr>
          <p:cNvPr id="25" name="图片 24">
            <a:extLst>
              <a:ext uri="{FF2B5EF4-FFF2-40B4-BE49-F238E27FC236}">
                <a16:creationId xmlns:a16="http://schemas.microsoft.com/office/drawing/2014/main" id="{2C7CB696-EC29-8502-006F-D0787B8752CA}"/>
              </a:ext>
            </a:extLst>
          </p:cNvPr>
          <p:cNvPicPr>
            <a:picLocks noChangeAspect="1"/>
          </p:cNvPicPr>
          <p:nvPr/>
        </p:nvPicPr>
        <p:blipFill>
          <a:blip r:embed="rId4"/>
          <a:stretch>
            <a:fillRect/>
          </a:stretch>
        </p:blipFill>
        <p:spPr>
          <a:xfrm>
            <a:off x="7359800" y="1961709"/>
            <a:ext cx="4253909" cy="1520527"/>
          </a:xfrm>
          <a:prstGeom prst="rect">
            <a:avLst/>
          </a:prstGeom>
        </p:spPr>
      </p:pic>
      <p:pic>
        <p:nvPicPr>
          <p:cNvPr id="27" name="图片 26">
            <a:extLst>
              <a:ext uri="{FF2B5EF4-FFF2-40B4-BE49-F238E27FC236}">
                <a16:creationId xmlns:a16="http://schemas.microsoft.com/office/drawing/2014/main" id="{733BAFC9-36C0-10F5-FEC6-E4A199C0426D}"/>
              </a:ext>
            </a:extLst>
          </p:cNvPr>
          <p:cNvPicPr>
            <a:picLocks noChangeAspect="1"/>
          </p:cNvPicPr>
          <p:nvPr/>
        </p:nvPicPr>
        <p:blipFill>
          <a:blip r:embed="rId5"/>
          <a:stretch>
            <a:fillRect/>
          </a:stretch>
        </p:blipFill>
        <p:spPr>
          <a:xfrm>
            <a:off x="7530700" y="3347477"/>
            <a:ext cx="3754374" cy="1368240"/>
          </a:xfrm>
          <a:prstGeom prst="rect">
            <a:avLst/>
          </a:prstGeom>
        </p:spPr>
      </p:pic>
      <p:sp>
        <p:nvSpPr>
          <p:cNvPr id="30" name="文本框 29">
            <a:extLst>
              <a:ext uri="{FF2B5EF4-FFF2-40B4-BE49-F238E27FC236}">
                <a16:creationId xmlns:a16="http://schemas.microsoft.com/office/drawing/2014/main" id="{9F5CDCB7-AB84-0237-E2C8-A783A98A7CBA}"/>
              </a:ext>
            </a:extLst>
          </p:cNvPr>
          <p:cNvSpPr txBox="1"/>
          <p:nvPr/>
        </p:nvSpPr>
        <p:spPr>
          <a:xfrm>
            <a:off x="6177749" y="4905398"/>
            <a:ext cx="6097022" cy="369332"/>
          </a:xfrm>
          <a:prstGeom prst="rect">
            <a:avLst/>
          </a:prstGeom>
          <a:noFill/>
        </p:spPr>
        <p:txBody>
          <a:bodyPr wrap="square">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D</a:t>
            </a:r>
            <a:r>
              <a:rPr lang="en-US" altLang="zh-CN" b="0" i="0" dirty="0">
                <a:effectLst/>
                <a:latin typeface="Calibri" panose="020F0502020204030204" pitchFamily="34" charset="0"/>
                <a:ea typeface="Calibri" panose="020F0502020204030204" pitchFamily="34" charset="0"/>
                <a:cs typeface="Calibri" panose="020F0502020204030204" pitchFamily="34" charset="0"/>
              </a:rPr>
              <a:t>ifficult to accurately estimate noise level in wavelet domain.</a:t>
            </a:r>
            <a:endParaRPr lang="zh-CN" altLang="en-US" dirty="0">
              <a:latin typeface="Calibri" panose="020F0502020204030204" pitchFamily="34" charset="0"/>
              <a:cs typeface="Calibri" panose="020F0502020204030204" pitchFamily="34" charset="0"/>
            </a:endParaRPr>
          </a:p>
        </p:txBody>
      </p:sp>
      <p:pic>
        <p:nvPicPr>
          <p:cNvPr id="32" name="图片 31">
            <a:extLst>
              <a:ext uri="{FF2B5EF4-FFF2-40B4-BE49-F238E27FC236}">
                <a16:creationId xmlns:a16="http://schemas.microsoft.com/office/drawing/2014/main" id="{2D95B7E7-0C47-4B4E-F1AD-3BD9AC57C880}"/>
              </a:ext>
            </a:extLst>
          </p:cNvPr>
          <p:cNvPicPr>
            <a:picLocks noChangeAspect="1"/>
          </p:cNvPicPr>
          <p:nvPr/>
        </p:nvPicPr>
        <p:blipFill>
          <a:blip r:embed="rId6"/>
          <a:stretch>
            <a:fillRect/>
          </a:stretch>
        </p:blipFill>
        <p:spPr>
          <a:xfrm>
            <a:off x="7359800" y="3402020"/>
            <a:ext cx="4109860" cy="1286835"/>
          </a:xfrm>
          <a:prstGeom prst="rect">
            <a:avLst/>
          </a:prstGeom>
        </p:spPr>
      </p:pic>
      <p:sp>
        <p:nvSpPr>
          <p:cNvPr id="11" name="文本框 10">
            <a:extLst>
              <a:ext uri="{FF2B5EF4-FFF2-40B4-BE49-F238E27FC236}">
                <a16:creationId xmlns:a16="http://schemas.microsoft.com/office/drawing/2014/main" id="{5723C1E2-B915-8F5E-62CF-F2087C8BC8E7}"/>
              </a:ext>
            </a:extLst>
          </p:cNvPr>
          <p:cNvSpPr txBox="1"/>
          <p:nvPr/>
        </p:nvSpPr>
        <p:spPr>
          <a:xfrm>
            <a:off x="542123" y="5620849"/>
            <a:ext cx="11271251" cy="734945"/>
          </a:xfrm>
          <a:prstGeom prst="rect">
            <a:avLst/>
          </a:prstGeom>
          <a:noFill/>
        </p:spPr>
        <p:txBody>
          <a:bodyPr wrap="square">
            <a:spAutoFit/>
            <a:scene3d>
              <a:camera prst="orthographicFront"/>
              <a:lightRig rig="threePt" dir="t"/>
            </a:scene3d>
            <a:sp3d contourW="12700"/>
          </a:bodyPr>
          <a:lstStyle>
            <a:defPPr>
              <a:defRPr lang="zh-CN"/>
            </a:defPPr>
            <a:lvl1pPr fontAlgn="auto">
              <a:lnSpc>
                <a:spcPct val="120000"/>
              </a:lnSpc>
              <a:spcBef>
                <a:spcPts val="0"/>
              </a:spcBef>
              <a:spcAft>
                <a:spcPts val="0"/>
              </a:spcAft>
              <a:defRPr sz="3200" b="1" spc="300">
                <a:solidFill>
                  <a:srgbClr val="CB3125"/>
                </a:solidFill>
                <a:latin typeface="Azonix" pitchFamily="50" charset="0"/>
                <a:ea typeface="Roboto Thin" panose="02000000000000000000" pitchFamily="2" charset="0"/>
              </a:defRPr>
            </a:lvl1pPr>
          </a:lstStyle>
          <a:p>
            <a:pPr marL="0" marR="0"/>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Traditional denoising methods often fail to effectively remove complex noise patterns while preserving critical diagnostic details.</a:t>
            </a:r>
          </a:p>
        </p:txBody>
      </p:sp>
    </p:spTree>
    <p:extLst>
      <p:ext uri="{BB962C8B-B14F-4D97-AF65-F5344CB8AC3E}">
        <p14:creationId xmlns:p14="http://schemas.microsoft.com/office/powerpoint/2010/main" val="1483981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0200-5FB0-9858-A5E7-F33B62C0F24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695AFDF-CA0C-8B05-948B-594E375B96E2}"/>
              </a:ext>
            </a:extLst>
          </p:cNvPr>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a:extLst>
              <a:ext uri="{FF2B5EF4-FFF2-40B4-BE49-F238E27FC236}">
                <a16:creationId xmlns:a16="http://schemas.microsoft.com/office/drawing/2014/main" id="{3989DC44-D860-F985-3D6E-A1B7299403C1}"/>
              </a:ext>
            </a:extLst>
          </p:cNvPr>
          <p:cNvSpPr txBox="1"/>
          <p:nvPr/>
        </p:nvSpPr>
        <p:spPr>
          <a:xfrm>
            <a:off x="660400" y="625011"/>
            <a:ext cx="5628640" cy="337185"/>
          </a:xfrm>
          <a:prstGeom prst="rect">
            <a:avLst/>
          </a:prstGeom>
          <a:noFill/>
        </p:spPr>
        <p:txBody>
          <a:bodyPr wrap="square" rtlCol="0">
            <a:spAutoFit/>
          </a:bodyPr>
          <a:lstStyle/>
          <a:p>
            <a:r>
              <a:rPr lang="en-US" altLang="zh-CN"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APPLICATIONs: GAN-LND</a:t>
            </a:r>
            <a:endPar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6" name="图片 5">
            <a:extLst>
              <a:ext uri="{FF2B5EF4-FFF2-40B4-BE49-F238E27FC236}">
                <a16:creationId xmlns:a16="http://schemas.microsoft.com/office/drawing/2014/main" id="{FECB06CE-8007-F25C-E503-F776B6AB74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2" name="文本框 1">
            <a:extLst>
              <a:ext uri="{FF2B5EF4-FFF2-40B4-BE49-F238E27FC236}">
                <a16:creationId xmlns:a16="http://schemas.microsoft.com/office/drawing/2014/main" id="{8D94E588-8B5E-526C-1890-A238328DA091}"/>
              </a:ext>
            </a:extLst>
          </p:cNvPr>
          <p:cNvSpPr txBox="1"/>
          <p:nvPr/>
        </p:nvSpPr>
        <p:spPr>
          <a:xfrm>
            <a:off x="443558" y="5231273"/>
            <a:ext cx="11488196" cy="734945"/>
          </a:xfrm>
          <a:prstGeom prst="rect">
            <a:avLst/>
          </a:prstGeom>
          <a:noFill/>
        </p:spPr>
        <p:txBody>
          <a:bodyPr wrap="square">
            <a:spAutoFit/>
            <a:scene3d>
              <a:camera prst="orthographicFront"/>
              <a:lightRig rig="threePt" dir="t"/>
            </a:scene3d>
            <a:sp3d contourW="12700"/>
          </a:bodyPr>
          <a:lstStyle>
            <a:defPPr>
              <a:defRPr lang="zh-CN"/>
            </a:defPPr>
            <a:lvl1pPr fontAlgn="auto">
              <a:lnSpc>
                <a:spcPct val="120000"/>
              </a:lnSpc>
              <a:spcBef>
                <a:spcPts val="0"/>
              </a:spcBef>
              <a:spcAft>
                <a:spcPts val="0"/>
              </a:spcAft>
              <a:defRPr sz="3200" b="1" spc="300">
                <a:solidFill>
                  <a:srgbClr val="CB3125"/>
                </a:solidFill>
                <a:latin typeface="Azonix" pitchFamily="50" charset="0"/>
                <a:ea typeface="Roboto Thin" panose="02000000000000000000" pitchFamily="2" charset="0"/>
              </a:defRPr>
            </a:lvl1pPr>
          </a:lstStyle>
          <a:p>
            <a:pPr marL="0" marR="0"/>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GAN-aided low-noise discriminator (GAN-LND) effectively distinguishes between linear and sparse pixel distributions, resulting in high-precision image reconstruction.</a:t>
            </a:r>
          </a:p>
        </p:txBody>
      </p:sp>
      <p:pic>
        <p:nvPicPr>
          <p:cNvPr id="1026" name="Picture 2" descr="Mathematics 12 03705 g001">
            <a:extLst>
              <a:ext uri="{FF2B5EF4-FFF2-40B4-BE49-F238E27FC236}">
                <a16:creationId xmlns:a16="http://schemas.microsoft.com/office/drawing/2014/main" id="{7A84191D-F991-EF75-9A87-490DD718DA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399" y="1110912"/>
            <a:ext cx="4333157" cy="208646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52B54F90-A08A-EE90-E271-CED1AA92FC46}"/>
              </a:ext>
            </a:extLst>
          </p:cNvPr>
          <p:cNvPicPr>
            <a:picLocks noChangeAspect="1"/>
          </p:cNvPicPr>
          <p:nvPr/>
        </p:nvPicPr>
        <p:blipFill>
          <a:blip r:embed="rId4"/>
          <a:stretch>
            <a:fillRect/>
          </a:stretch>
        </p:blipFill>
        <p:spPr>
          <a:xfrm>
            <a:off x="5190665" y="2042080"/>
            <a:ext cx="1810669" cy="2310584"/>
          </a:xfrm>
          <a:prstGeom prst="rect">
            <a:avLst/>
          </a:prstGeom>
        </p:spPr>
      </p:pic>
      <p:sp>
        <p:nvSpPr>
          <p:cNvPr id="7" name="文本框 6">
            <a:extLst>
              <a:ext uri="{FF2B5EF4-FFF2-40B4-BE49-F238E27FC236}">
                <a16:creationId xmlns:a16="http://schemas.microsoft.com/office/drawing/2014/main" id="{CB69DA6B-2E20-FE77-21FC-A1E9EAAFEE9F}"/>
              </a:ext>
            </a:extLst>
          </p:cNvPr>
          <p:cNvSpPr txBox="1"/>
          <p:nvPr/>
        </p:nvSpPr>
        <p:spPr>
          <a:xfrm>
            <a:off x="7706192" y="1435049"/>
            <a:ext cx="4085070" cy="923330"/>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GAN-LND</a:t>
            </a:r>
            <a:r>
              <a:rPr lang="en-US" altLang="zh-CN" b="1" dirty="0">
                <a:latin typeface="Calibri" panose="020F0502020204030204" pitchFamily="34" charset="0"/>
                <a:ea typeface="Calibri" panose="020F0502020204030204" pitchFamily="34" charset="0"/>
                <a:cs typeface="Calibri" panose="020F0502020204030204" pitchFamily="34" charset="0"/>
              </a:rPr>
              <a:t> </a:t>
            </a:r>
            <a:r>
              <a:rPr lang="en-US" altLang="zh-CN" b="0" i="0" dirty="0">
                <a:effectLst/>
                <a:latin typeface="Calibri" panose="020F0502020204030204" pitchFamily="34" charset="0"/>
                <a:ea typeface="Calibri" panose="020F0502020204030204" pitchFamily="34" charset="0"/>
                <a:cs typeface="Calibri" panose="020F0502020204030204" pitchFamily="34" charset="0"/>
              </a:rPr>
              <a:t>is proposed to reduce the noise of pixels using a low-discrimination function to maximize the PSNR.</a:t>
            </a:r>
            <a:endParaRPr lang="zh-CN" altLang="en-US" b="1" dirty="0">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9FF72A84-C2AD-2657-300E-635DBD8648FC}"/>
              </a:ext>
            </a:extLst>
          </p:cNvPr>
          <p:cNvSpPr txBox="1"/>
          <p:nvPr/>
        </p:nvSpPr>
        <p:spPr>
          <a:xfrm>
            <a:off x="969356" y="4145637"/>
            <a:ext cx="3516451" cy="646331"/>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Sparse distribution is converted into a linear distribution.</a:t>
            </a:r>
            <a:endParaRPr lang="zh-CN" altLang="en-US" dirty="0">
              <a:latin typeface="Calibri" panose="020F0502020204030204" pitchFamily="34" charset="0"/>
              <a:cs typeface="Calibri" panose="020F0502020204030204" pitchFamily="34" charset="0"/>
            </a:endParaRPr>
          </a:p>
        </p:txBody>
      </p:sp>
      <p:pic>
        <p:nvPicPr>
          <p:cNvPr id="1028" name="Picture 4" descr="Mathematics 12 03705 g006">
            <a:extLst>
              <a:ext uri="{FF2B5EF4-FFF2-40B4-BE49-F238E27FC236}">
                <a16:creationId xmlns:a16="http://schemas.microsoft.com/office/drawing/2014/main" id="{D24C8813-E63A-85D3-022F-72F2E09E5EF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27706" y="3000295"/>
            <a:ext cx="4331062" cy="169915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4E71FEE1-943E-52B5-977C-939F05805F8B}"/>
              </a:ext>
            </a:extLst>
          </p:cNvPr>
          <p:cNvSpPr/>
          <p:nvPr/>
        </p:nvSpPr>
        <p:spPr>
          <a:xfrm>
            <a:off x="1823551" y="6165648"/>
            <a:ext cx="8728210" cy="830997"/>
          </a:xfrm>
          <a:prstGeom prst="rect">
            <a:avLst/>
          </a:prstGeom>
        </p:spPr>
        <p:txBody>
          <a:bodyPr wrap="square">
            <a:spAutoFit/>
          </a:bodyPr>
          <a:lstStyle/>
          <a:p>
            <a:pPr marL="457200" indent="-457200" algn="l">
              <a:buNone/>
            </a:pPr>
            <a:r>
              <a:rPr lang="en-US" altLang="zh-CN" sz="1200" b="0" i="0" dirty="0">
                <a:solidFill>
                  <a:srgbClr val="000000"/>
                </a:solidFill>
                <a:effectLst/>
                <a:latin typeface="Times New Roman" panose="02020603050405020304" pitchFamily="18" charset="0"/>
                <a:cs typeface="Times New Roman" panose="02020603050405020304" pitchFamily="18" charset="0"/>
              </a:rPr>
              <a:t>Alanazi, T. M., &amp; </a:t>
            </a:r>
            <a:r>
              <a:rPr lang="en-US" altLang="zh-CN" sz="1200" b="0" i="0" dirty="0" err="1">
                <a:solidFill>
                  <a:srgbClr val="000000"/>
                </a:solidFill>
                <a:effectLst/>
                <a:latin typeface="Times New Roman" panose="02020603050405020304" pitchFamily="18" charset="0"/>
                <a:cs typeface="Times New Roman" panose="02020603050405020304" pitchFamily="18" charset="0"/>
              </a:rPr>
              <a:t>Mercorelli</a:t>
            </a:r>
            <a:r>
              <a:rPr lang="en-US" altLang="zh-CN" sz="1200" b="0" i="0" dirty="0">
                <a:solidFill>
                  <a:srgbClr val="000000"/>
                </a:solidFill>
                <a:effectLst/>
                <a:latin typeface="Times New Roman" panose="02020603050405020304" pitchFamily="18" charset="0"/>
                <a:cs typeface="Times New Roman" panose="02020603050405020304" pitchFamily="18" charset="0"/>
              </a:rPr>
              <a:t>, P. (2024). Precision Denoising in Medical Imaging via Generative Adversarial Network-Aided Low-Noise Discriminator Technique. </a:t>
            </a:r>
            <a:r>
              <a:rPr lang="en-US" altLang="zh-CN" sz="1200" b="0" i="1" dirty="0">
                <a:solidFill>
                  <a:srgbClr val="000000"/>
                </a:solidFill>
                <a:effectLst/>
                <a:latin typeface="Times New Roman" panose="02020603050405020304" pitchFamily="18" charset="0"/>
                <a:cs typeface="Times New Roman" panose="02020603050405020304" pitchFamily="18" charset="0"/>
              </a:rPr>
              <a:t>Mathematics</a:t>
            </a:r>
            <a:r>
              <a:rPr lang="en-US" altLang="zh-CN" sz="1200" b="0" i="0" dirty="0">
                <a:solidFill>
                  <a:srgbClr val="000000"/>
                </a:solidFill>
                <a:effectLst/>
                <a:latin typeface="Times New Roman" panose="02020603050405020304" pitchFamily="18" charset="0"/>
                <a:cs typeface="Times New Roman" panose="02020603050405020304" pitchFamily="18" charset="0"/>
              </a:rPr>
              <a:t>, </a:t>
            </a:r>
            <a:r>
              <a:rPr lang="en-US" altLang="zh-CN" sz="1200" b="0" i="1" dirty="0">
                <a:solidFill>
                  <a:srgbClr val="000000"/>
                </a:solidFill>
                <a:effectLst/>
                <a:latin typeface="Times New Roman" panose="02020603050405020304" pitchFamily="18" charset="0"/>
                <a:cs typeface="Times New Roman" panose="02020603050405020304" pitchFamily="18" charset="0"/>
              </a:rPr>
              <a:t>12</a:t>
            </a:r>
            <a:r>
              <a:rPr lang="en-US" altLang="zh-CN" sz="1200" b="0" i="0" dirty="0">
                <a:solidFill>
                  <a:srgbClr val="000000"/>
                </a:solidFill>
                <a:effectLst/>
                <a:latin typeface="Times New Roman" panose="02020603050405020304" pitchFamily="18" charset="0"/>
                <a:cs typeface="Times New Roman" panose="02020603050405020304" pitchFamily="18" charset="0"/>
              </a:rPr>
              <a:t>(23), 3705. </a:t>
            </a:r>
            <a:r>
              <a:rPr lang="en-US" altLang="zh-CN" sz="1200" b="0" i="0" dirty="0">
                <a:solidFill>
                  <a:srgbClr val="000000"/>
                </a:solidFill>
                <a:effectLst/>
                <a:latin typeface="Times New Roman" panose="02020603050405020304" pitchFamily="18" charset="0"/>
                <a:cs typeface="Times New Roman" panose="02020603050405020304" pitchFamily="18" charset="0"/>
                <a:hlinkClick r:id="rId6"/>
              </a:rPr>
              <a:t>https://doi.org/10.3390/math12233705</a:t>
            </a:r>
            <a:endParaRPr lang="en-US" altLang="zh-CN" sz="1200" b="0" i="0" dirty="0">
              <a:solidFill>
                <a:srgbClr val="000000"/>
              </a:solidFill>
              <a:effectLst/>
              <a:latin typeface="Times New Roman" panose="02020603050405020304" pitchFamily="18" charset="0"/>
              <a:cs typeface="Times New Roman" panose="02020603050405020304" pitchFamily="18" charset="0"/>
            </a:endParaRPr>
          </a:p>
          <a:p>
            <a:pPr marL="457200" indent="-457200" algn="l">
              <a:buNone/>
            </a:pPr>
            <a:endParaRPr lang="en-US" altLang="zh-CN" sz="1200" b="0" i="0" dirty="0">
              <a:solidFill>
                <a:srgbClr val="000000"/>
              </a:solidFill>
              <a:effectLst/>
              <a:latin typeface="Times New Roman" panose="02020603050405020304" pitchFamily="18" charset="0"/>
              <a:cs typeface="Times New Roman" panose="02020603050405020304" pitchFamily="18" charset="0"/>
            </a:endParaRPr>
          </a:p>
          <a:p>
            <a:pPr algn="l"/>
            <a:r>
              <a:rPr lang="en-US" altLang="zh-CN" sz="1200" b="0" i="0" dirty="0">
                <a:solidFill>
                  <a:srgbClr val="000000"/>
                </a:solidFill>
                <a:effectLst/>
                <a:latin typeface="Calibri" panose="020F0502020204030204" pitchFamily="34" charset="0"/>
              </a:rPr>
              <a:t>‌</a:t>
            </a:r>
          </a:p>
        </p:txBody>
      </p:sp>
      <p:sp>
        <p:nvSpPr>
          <p:cNvPr id="12" name="文本框 11">
            <a:extLst>
              <a:ext uri="{FF2B5EF4-FFF2-40B4-BE49-F238E27FC236}">
                <a16:creationId xmlns:a16="http://schemas.microsoft.com/office/drawing/2014/main" id="{BBDFAB1B-AB10-A2EB-0804-6BDA528C3B14}"/>
              </a:ext>
            </a:extLst>
          </p:cNvPr>
          <p:cNvSpPr txBox="1"/>
          <p:nvPr/>
        </p:nvSpPr>
        <p:spPr>
          <a:xfrm>
            <a:off x="4344934" y="300709"/>
            <a:ext cx="7186665" cy="646331"/>
          </a:xfrm>
          <a:prstGeom prst="rect">
            <a:avLst/>
          </a:prstGeom>
          <a:noFill/>
        </p:spPr>
        <p:txBody>
          <a:bodyPr wrap="square" rtlCol="0">
            <a:spAutoFit/>
          </a:bodyPr>
          <a:lstStyle/>
          <a:p>
            <a:r>
              <a:rPr lang="en-US" altLang="zh-CN" b="0" i="0" dirty="0">
                <a:solidFill>
                  <a:schemeClr val="accent1">
                    <a:lumMod val="75000"/>
                  </a:schemeClr>
                </a:solidFill>
                <a:effectLst/>
                <a:latin typeface="Calibri" panose="020F0502020204030204" pitchFamily="34" charset="0"/>
                <a:ea typeface="Calibri" panose="020F0502020204030204" pitchFamily="34" charset="0"/>
                <a:cs typeface="Calibri" panose="020F0502020204030204" pitchFamily="34" charset="0"/>
              </a:rPr>
              <a:t>A GAN learning model is incorporated to distinguish linear and sparse distribution of pixels.</a:t>
            </a:r>
            <a:endParaRPr lang="zh-CN" altLang="en-US" dirty="0">
              <a:solidFill>
                <a:schemeClr val="accent1">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6626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AE5D-1779-E77F-AF13-E90368A83E2B}"/>
            </a:ext>
          </a:extLst>
        </p:cNvPr>
        <p:cNvGrpSpPr/>
        <p:nvPr/>
      </p:nvGrpSpPr>
      <p:grpSpPr>
        <a:xfrm>
          <a:off x="0" y="0"/>
          <a:ext cx="0" cy="0"/>
          <a:chOff x="0" y="0"/>
          <a:chExt cx="0" cy="0"/>
        </a:xfrm>
      </p:grpSpPr>
      <p:pic>
        <p:nvPicPr>
          <p:cNvPr id="2058" name="Picture 10" descr="Mathematics 12 02313 g006">
            <a:extLst>
              <a:ext uri="{FF2B5EF4-FFF2-40B4-BE49-F238E27FC236}">
                <a16:creationId xmlns:a16="http://schemas.microsoft.com/office/drawing/2014/main" id="{21C824AD-7E8A-77C3-BDC7-CB4ADF74B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0982" y="964945"/>
            <a:ext cx="2651635" cy="214059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6DCF0832-1B2B-8433-E82C-2A2244C9CBEC}"/>
              </a:ext>
            </a:extLst>
          </p:cNvPr>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a:extLst>
              <a:ext uri="{FF2B5EF4-FFF2-40B4-BE49-F238E27FC236}">
                <a16:creationId xmlns:a16="http://schemas.microsoft.com/office/drawing/2014/main" id="{D25FB64C-FDA9-6695-B5DE-C4CCE8C0FD32}"/>
              </a:ext>
            </a:extLst>
          </p:cNvPr>
          <p:cNvSpPr txBox="1"/>
          <p:nvPr/>
        </p:nvSpPr>
        <p:spPr>
          <a:xfrm>
            <a:off x="660400" y="625011"/>
            <a:ext cx="5628640" cy="337185"/>
          </a:xfrm>
          <a:prstGeom prst="rect">
            <a:avLst/>
          </a:prstGeom>
          <a:noFill/>
        </p:spPr>
        <p:txBody>
          <a:bodyPr wrap="square" rtlCol="0">
            <a:spAutoFit/>
          </a:bodyPr>
          <a:lstStyle/>
          <a:p>
            <a:r>
              <a:rPr lang="en-US" altLang="zh-CN"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APPLICATIONs: Transformer</a:t>
            </a:r>
          </a:p>
        </p:txBody>
      </p:sp>
      <p:pic>
        <p:nvPicPr>
          <p:cNvPr id="6" name="图片 5">
            <a:extLst>
              <a:ext uri="{FF2B5EF4-FFF2-40B4-BE49-F238E27FC236}">
                <a16:creationId xmlns:a16="http://schemas.microsoft.com/office/drawing/2014/main" id="{0BBE95BF-EC18-3332-B5B9-D7F24B6DD64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2" name="矩形 1">
            <a:extLst>
              <a:ext uri="{FF2B5EF4-FFF2-40B4-BE49-F238E27FC236}">
                <a16:creationId xmlns:a16="http://schemas.microsoft.com/office/drawing/2014/main" id="{2B9CEA29-AAD6-CA75-D1A1-D9B67ED7494F}"/>
              </a:ext>
            </a:extLst>
          </p:cNvPr>
          <p:cNvSpPr/>
          <p:nvPr/>
        </p:nvSpPr>
        <p:spPr>
          <a:xfrm>
            <a:off x="1823551" y="6165648"/>
            <a:ext cx="8728210" cy="830997"/>
          </a:xfrm>
          <a:prstGeom prst="rect">
            <a:avLst/>
          </a:prstGeom>
        </p:spPr>
        <p:txBody>
          <a:bodyPr wrap="square">
            <a:spAutoFit/>
          </a:bodyPr>
          <a:lstStyle/>
          <a:p>
            <a:pPr marL="457200" indent="-457200" algn="l">
              <a:buNone/>
            </a:pPr>
            <a:r>
              <a:rPr lang="en-US" altLang="zh-CN" sz="1200" b="0" i="0" dirty="0">
                <a:solidFill>
                  <a:srgbClr val="000000"/>
                </a:solidFill>
                <a:effectLst/>
                <a:latin typeface="Times New Roman" panose="02020603050405020304" pitchFamily="18" charset="0"/>
                <a:cs typeface="Times New Roman" panose="02020603050405020304" pitchFamily="18" charset="0"/>
              </a:rPr>
              <a:t>Naqvi, R. A., Haider, A., Kim, H. S., Jeong, D., &amp; Lee, S.-W. (2024). Transformative Noise Reduction: Leveraging a Transformer-Based Deep Network for Medical Image Denoising. </a:t>
            </a:r>
            <a:r>
              <a:rPr lang="en-US" altLang="zh-CN" sz="1200" b="0" i="1" dirty="0">
                <a:solidFill>
                  <a:srgbClr val="000000"/>
                </a:solidFill>
                <a:effectLst/>
                <a:latin typeface="Times New Roman" panose="02020603050405020304" pitchFamily="18" charset="0"/>
                <a:cs typeface="Times New Roman" panose="02020603050405020304" pitchFamily="18" charset="0"/>
              </a:rPr>
              <a:t>Mathematics</a:t>
            </a:r>
            <a:r>
              <a:rPr lang="en-US" altLang="zh-CN" sz="1200" b="0" i="0" dirty="0">
                <a:solidFill>
                  <a:srgbClr val="000000"/>
                </a:solidFill>
                <a:effectLst/>
                <a:latin typeface="Times New Roman" panose="02020603050405020304" pitchFamily="18" charset="0"/>
                <a:cs typeface="Times New Roman" panose="02020603050405020304" pitchFamily="18" charset="0"/>
              </a:rPr>
              <a:t>, </a:t>
            </a:r>
            <a:r>
              <a:rPr lang="en-US" altLang="zh-CN" sz="1200" b="0" i="1" dirty="0">
                <a:solidFill>
                  <a:srgbClr val="000000"/>
                </a:solidFill>
                <a:effectLst/>
                <a:latin typeface="Times New Roman" panose="02020603050405020304" pitchFamily="18" charset="0"/>
                <a:cs typeface="Times New Roman" panose="02020603050405020304" pitchFamily="18" charset="0"/>
              </a:rPr>
              <a:t>12</a:t>
            </a:r>
            <a:r>
              <a:rPr lang="en-US" altLang="zh-CN" sz="1200" b="0" i="0" dirty="0">
                <a:solidFill>
                  <a:srgbClr val="000000"/>
                </a:solidFill>
                <a:effectLst/>
                <a:latin typeface="Times New Roman" panose="02020603050405020304" pitchFamily="18" charset="0"/>
                <a:cs typeface="Times New Roman" panose="02020603050405020304" pitchFamily="18" charset="0"/>
              </a:rPr>
              <a:t>(15), 2313–2313. </a:t>
            </a:r>
            <a:r>
              <a:rPr lang="en-US" altLang="zh-CN" sz="1200" b="0" i="0" dirty="0">
                <a:solidFill>
                  <a:srgbClr val="000000"/>
                </a:solidFill>
                <a:effectLst/>
                <a:latin typeface="Times New Roman" panose="02020603050405020304" pitchFamily="18" charset="0"/>
                <a:cs typeface="Times New Roman" panose="02020603050405020304" pitchFamily="18" charset="0"/>
                <a:hlinkClick r:id="rId4"/>
              </a:rPr>
              <a:t>https://doi.org/10.3390/math12152313</a:t>
            </a:r>
            <a:endParaRPr lang="en-US" altLang="zh-CN" sz="1200" b="0" i="0" dirty="0">
              <a:solidFill>
                <a:srgbClr val="000000"/>
              </a:solidFill>
              <a:effectLst/>
              <a:latin typeface="Times New Roman" panose="02020603050405020304" pitchFamily="18" charset="0"/>
              <a:cs typeface="Times New Roman" panose="02020603050405020304" pitchFamily="18" charset="0"/>
            </a:endParaRPr>
          </a:p>
          <a:p>
            <a:pPr marL="457200" indent="-457200" algn="l">
              <a:buNone/>
            </a:pPr>
            <a:endParaRPr lang="en-US" altLang="zh-CN" sz="1200" b="0" i="0" dirty="0">
              <a:solidFill>
                <a:srgbClr val="000000"/>
              </a:solidFill>
              <a:effectLst/>
              <a:latin typeface="Times New Roman" panose="02020603050405020304" pitchFamily="18" charset="0"/>
              <a:cs typeface="Times New Roman" panose="02020603050405020304" pitchFamily="18" charset="0"/>
            </a:endParaRPr>
          </a:p>
          <a:p>
            <a:pPr algn="l"/>
            <a:r>
              <a:rPr lang="en-US" altLang="zh-CN" sz="1200" b="0" i="0" dirty="0">
                <a:solidFill>
                  <a:srgbClr val="000000"/>
                </a:solidFill>
                <a:effectLst/>
                <a:latin typeface="Calibri" panose="020F0502020204030204" pitchFamily="34" charset="0"/>
              </a:rPr>
              <a:t>‌</a:t>
            </a:r>
          </a:p>
        </p:txBody>
      </p:sp>
      <p:sp>
        <p:nvSpPr>
          <p:cNvPr id="3" name="文本框 2">
            <a:extLst>
              <a:ext uri="{FF2B5EF4-FFF2-40B4-BE49-F238E27FC236}">
                <a16:creationId xmlns:a16="http://schemas.microsoft.com/office/drawing/2014/main" id="{F5CC2F96-1293-1B01-F95F-2B630585E57D}"/>
              </a:ext>
            </a:extLst>
          </p:cNvPr>
          <p:cNvSpPr txBox="1"/>
          <p:nvPr/>
        </p:nvSpPr>
        <p:spPr>
          <a:xfrm>
            <a:off x="4553587" y="211600"/>
            <a:ext cx="7026765" cy="923330"/>
          </a:xfrm>
          <a:prstGeom prst="rect">
            <a:avLst/>
          </a:prstGeom>
          <a:noFill/>
        </p:spPr>
        <p:txBody>
          <a:bodyPr wrap="square" rtlCol="0">
            <a:spAutoFit/>
          </a:bodyPr>
          <a:lstStyle/>
          <a:p>
            <a:r>
              <a:rPr lang="en-US" altLang="zh-CN" b="0" i="0" dirty="0">
                <a:solidFill>
                  <a:schemeClr val="accent1">
                    <a:lumMod val="75000"/>
                  </a:schemeClr>
                </a:solidFill>
                <a:effectLst/>
                <a:latin typeface="Calibri" panose="020F0502020204030204" pitchFamily="34" charset="0"/>
                <a:ea typeface="Calibri" panose="020F0502020204030204" pitchFamily="34" charset="0"/>
                <a:cs typeface="Calibri" panose="020F0502020204030204" pitchFamily="34" charset="0"/>
              </a:rPr>
              <a:t>A novel transformer-attention-based deep architecture is proposed that can address the limitations of existing MID methods.</a:t>
            </a:r>
          </a:p>
          <a:p>
            <a:endParaRPr lang="zh-CN" altLang="en-US" dirty="0"/>
          </a:p>
        </p:txBody>
      </p:sp>
      <p:sp>
        <p:nvSpPr>
          <p:cNvPr id="7" name="文本框 6">
            <a:extLst>
              <a:ext uri="{FF2B5EF4-FFF2-40B4-BE49-F238E27FC236}">
                <a16:creationId xmlns:a16="http://schemas.microsoft.com/office/drawing/2014/main" id="{875407FB-9717-F039-2AAD-078EFC0D4925}"/>
              </a:ext>
            </a:extLst>
          </p:cNvPr>
          <p:cNvSpPr txBox="1"/>
          <p:nvPr/>
        </p:nvSpPr>
        <p:spPr>
          <a:xfrm>
            <a:off x="460374" y="5298935"/>
            <a:ext cx="11271251" cy="734945"/>
          </a:xfrm>
          <a:prstGeom prst="rect">
            <a:avLst/>
          </a:prstGeom>
          <a:noFill/>
        </p:spPr>
        <p:txBody>
          <a:bodyPr wrap="square">
            <a:spAutoFit/>
            <a:scene3d>
              <a:camera prst="orthographicFront"/>
              <a:lightRig rig="threePt" dir="t"/>
            </a:scene3d>
            <a:sp3d contourW="12700"/>
          </a:bodyPr>
          <a:lstStyle>
            <a:defPPr>
              <a:defRPr lang="zh-CN"/>
            </a:defPPr>
            <a:lvl1pPr fontAlgn="auto">
              <a:lnSpc>
                <a:spcPct val="120000"/>
              </a:lnSpc>
              <a:spcBef>
                <a:spcPts val="0"/>
              </a:spcBef>
              <a:spcAft>
                <a:spcPts val="0"/>
              </a:spcAft>
              <a:defRPr sz="3200" b="1" spc="300">
                <a:solidFill>
                  <a:srgbClr val="CB3125"/>
                </a:solidFill>
                <a:latin typeface="Azonix" pitchFamily="50" charset="0"/>
                <a:ea typeface="Roboto Thin" panose="02000000000000000000" pitchFamily="2" charset="0"/>
              </a:defRPr>
            </a:lvl1pPr>
          </a:lstStyle>
          <a:p>
            <a:pPr marL="0" marR="0" algn="just"/>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Transformer-based deep networks have shown remarkable capabilities in denoising tasks, leveraging their ability to model long-range dependencies in image data. </a:t>
            </a:r>
          </a:p>
        </p:txBody>
      </p:sp>
      <p:pic>
        <p:nvPicPr>
          <p:cNvPr id="2052" name="Picture 4" descr="Mathematics 12 02313 g010">
            <a:extLst>
              <a:ext uri="{FF2B5EF4-FFF2-40B4-BE49-F238E27FC236}">
                <a16:creationId xmlns:a16="http://schemas.microsoft.com/office/drawing/2014/main" id="{968F47ED-53C0-EE07-2272-5A3802CBD07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90201" y="3498313"/>
            <a:ext cx="4243402" cy="191726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thematics 12 02313 g004">
            <a:extLst>
              <a:ext uri="{FF2B5EF4-FFF2-40B4-BE49-F238E27FC236}">
                <a16:creationId xmlns:a16="http://schemas.microsoft.com/office/drawing/2014/main" id="{6329907F-ECEB-1068-648A-65E983F12A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548" y="1069628"/>
            <a:ext cx="3751938" cy="232620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athematics 12 02313 g005">
            <a:extLst>
              <a:ext uri="{FF2B5EF4-FFF2-40B4-BE49-F238E27FC236}">
                <a16:creationId xmlns:a16="http://schemas.microsoft.com/office/drawing/2014/main" id="{28BB9253-B376-7FC6-B0B9-5C02510199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5201" y="962196"/>
            <a:ext cx="2532056" cy="2071683"/>
          </a:xfrm>
          <a:prstGeom prst="rect">
            <a:avLst/>
          </a:prstGeom>
          <a:noFill/>
          <a:extLst>
            <a:ext uri="{909E8E84-426E-40DD-AFC4-6F175D3DCCD1}">
              <a14:hiddenFill xmlns:a14="http://schemas.microsoft.com/office/drawing/2010/main">
                <a:solidFill>
                  <a:srgbClr val="FFFFFF"/>
                </a:solidFill>
              </a14:hiddenFill>
            </a:ext>
          </a:extLst>
        </p:spPr>
      </p:pic>
      <p:sp>
        <p:nvSpPr>
          <p:cNvPr id="9" name="箭头: 右 8">
            <a:extLst>
              <a:ext uri="{FF2B5EF4-FFF2-40B4-BE49-F238E27FC236}">
                <a16:creationId xmlns:a16="http://schemas.microsoft.com/office/drawing/2014/main" id="{46069BEF-C1A0-5E06-2113-A0F9BE7667C7}"/>
              </a:ext>
            </a:extLst>
          </p:cNvPr>
          <p:cNvSpPr/>
          <p:nvPr/>
        </p:nvSpPr>
        <p:spPr>
          <a:xfrm>
            <a:off x="3921486" y="2035241"/>
            <a:ext cx="632101" cy="39497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DF413036-B43D-9915-C6BB-E49F82DF1C38}"/>
              </a:ext>
            </a:extLst>
          </p:cNvPr>
          <p:cNvSpPr/>
          <p:nvPr/>
        </p:nvSpPr>
        <p:spPr>
          <a:xfrm>
            <a:off x="7613415" y="1956018"/>
            <a:ext cx="632101" cy="39497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 name="箭头: 圆角右 10">
            <a:extLst>
              <a:ext uri="{FF2B5EF4-FFF2-40B4-BE49-F238E27FC236}">
                <a16:creationId xmlns:a16="http://schemas.microsoft.com/office/drawing/2014/main" id="{6D04AA8F-04AA-7C4F-F2EC-A9744ADA6056}"/>
              </a:ext>
            </a:extLst>
          </p:cNvPr>
          <p:cNvSpPr/>
          <p:nvPr/>
        </p:nvSpPr>
        <p:spPr>
          <a:xfrm rot="10800000">
            <a:off x="9233662" y="3429000"/>
            <a:ext cx="1033392" cy="1185814"/>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DC20C1B6-504D-B7EE-23CA-8EC62245BFAE}"/>
              </a:ext>
            </a:extLst>
          </p:cNvPr>
          <p:cNvSpPr txBox="1"/>
          <p:nvPr/>
        </p:nvSpPr>
        <p:spPr>
          <a:xfrm>
            <a:off x="5694475" y="2997213"/>
            <a:ext cx="697118" cy="369332"/>
          </a:xfrm>
          <a:prstGeom prst="rect">
            <a:avLst/>
          </a:prstGeom>
          <a:noFill/>
        </p:spPr>
        <p:txBody>
          <a:bodyPr wrap="square" rtlCol="0">
            <a:spAutoFit/>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DWR</a:t>
            </a:r>
            <a:endParaRPr lang="zh-CN" altLang="en-US" b="1" dirty="0">
              <a:latin typeface="Calibri" panose="020F0502020204030204" pitchFamily="34" charset="0"/>
              <a:cs typeface="Calibri" panose="020F0502020204030204" pitchFamily="34" charset="0"/>
            </a:endParaRPr>
          </a:p>
        </p:txBody>
      </p:sp>
      <p:sp>
        <p:nvSpPr>
          <p:cNvPr id="13" name="文本框 12">
            <a:extLst>
              <a:ext uri="{FF2B5EF4-FFF2-40B4-BE49-F238E27FC236}">
                <a16:creationId xmlns:a16="http://schemas.microsoft.com/office/drawing/2014/main" id="{D20DADAF-D872-0652-318D-CDBD70BA526A}"/>
              </a:ext>
            </a:extLst>
          </p:cNvPr>
          <p:cNvSpPr txBox="1"/>
          <p:nvPr/>
        </p:nvSpPr>
        <p:spPr>
          <a:xfrm>
            <a:off x="9478240" y="3088988"/>
            <a:ext cx="697118" cy="369332"/>
          </a:xfrm>
          <a:prstGeom prst="rect">
            <a:avLst/>
          </a:prstGeom>
          <a:noFill/>
        </p:spPr>
        <p:txBody>
          <a:bodyPr wrap="square" rtlCol="0">
            <a:spAutoFit/>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MHA</a:t>
            </a:r>
            <a:endParaRPr lang="zh-CN" altLang="en-US" b="1" dirty="0">
              <a:latin typeface="Calibri" panose="020F0502020204030204" pitchFamily="34" charset="0"/>
              <a:cs typeface="Calibri" panose="020F0502020204030204" pitchFamily="34" charset="0"/>
            </a:endParaRPr>
          </a:p>
        </p:txBody>
      </p:sp>
      <p:sp>
        <p:nvSpPr>
          <p:cNvPr id="14" name="文本框 13">
            <a:extLst>
              <a:ext uri="{FF2B5EF4-FFF2-40B4-BE49-F238E27FC236}">
                <a16:creationId xmlns:a16="http://schemas.microsoft.com/office/drawing/2014/main" id="{1A9C17AF-A900-77B5-C68B-817EAB5C434C}"/>
              </a:ext>
            </a:extLst>
          </p:cNvPr>
          <p:cNvSpPr txBox="1"/>
          <p:nvPr/>
        </p:nvSpPr>
        <p:spPr>
          <a:xfrm>
            <a:off x="540048" y="4098606"/>
            <a:ext cx="3590094" cy="1200329"/>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DWR: </a:t>
            </a:r>
            <a:r>
              <a:rPr lang="en-US" altLang="zh-CN"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deep–wider residual</a:t>
            </a:r>
          </a:p>
          <a:p>
            <a:endParaRPr lang="en-US" altLang="zh-CN" dirty="0">
              <a:solidFill>
                <a:srgbClr val="222222"/>
              </a:solidFill>
              <a:latin typeface="Calibri" panose="020F0502020204030204" pitchFamily="34" charset="0"/>
              <a:ea typeface="Calibri" panose="020F0502020204030204" pitchFamily="34" charset="0"/>
              <a:cs typeface="Calibri" panose="020F0502020204030204" pitchFamily="34" charset="0"/>
            </a:endParaRPr>
          </a:p>
          <a:p>
            <a:r>
              <a:rPr lang="en-US" altLang="zh-CN" dirty="0">
                <a:solidFill>
                  <a:srgbClr val="222222"/>
                </a:solidFill>
                <a:latin typeface="Calibri" panose="020F0502020204030204" pitchFamily="34" charset="0"/>
                <a:ea typeface="Calibri" panose="020F0502020204030204" pitchFamily="34" charset="0"/>
                <a:cs typeface="Calibri" panose="020F0502020204030204" pitchFamily="34" charset="0"/>
              </a:rPr>
              <a:t>MHA: </a:t>
            </a:r>
            <a:r>
              <a:rPr lang="en-US" altLang="zh-CN" i="0" dirty="0">
                <a:solidFill>
                  <a:srgbClr val="191B1F"/>
                </a:solidFill>
                <a:effectLst/>
                <a:latin typeface="Calibri" panose="020F0502020204030204" pitchFamily="34" charset="0"/>
                <a:ea typeface="Calibri" panose="020F0502020204030204" pitchFamily="34" charset="0"/>
                <a:cs typeface="Calibri" panose="020F0502020204030204" pitchFamily="34" charset="0"/>
              </a:rPr>
              <a:t>Multi-head Attention</a:t>
            </a:r>
          </a:p>
          <a:p>
            <a:endParaRPr lang="en-US" altLang="zh-CN" dirty="0">
              <a:solidFill>
                <a:srgbClr val="22222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1244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1321-EDD4-9FAB-99E5-BAA5A88BF34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F258A31-03BB-D27C-8578-7292A30A9ACF}"/>
              </a:ext>
            </a:extLst>
          </p:cNvPr>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a:extLst>
              <a:ext uri="{FF2B5EF4-FFF2-40B4-BE49-F238E27FC236}">
                <a16:creationId xmlns:a16="http://schemas.microsoft.com/office/drawing/2014/main" id="{F9299DB3-08D7-D0B3-DE1A-73CAE8EFE8AA}"/>
              </a:ext>
            </a:extLst>
          </p:cNvPr>
          <p:cNvSpPr txBox="1"/>
          <p:nvPr/>
        </p:nvSpPr>
        <p:spPr>
          <a:xfrm>
            <a:off x="660400" y="625011"/>
            <a:ext cx="5628640" cy="337185"/>
          </a:xfrm>
          <a:prstGeom prst="rect">
            <a:avLst/>
          </a:prstGeom>
          <a:noFill/>
        </p:spPr>
        <p:txBody>
          <a:bodyPr wrap="square" rtlCol="0">
            <a:spAutoFit/>
          </a:bodyPr>
          <a:lstStyle/>
          <a:p>
            <a:r>
              <a:rPr lang="en-US" altLang="zh-CN"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FUTURE</a:t>
            </a:r>
            <a:endPar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6" name="图片 5">
            <a:extLst>
              <a:ext uri="{FF2B5EF4-FFF2-40B4-BE49-F238E27FC236}">
                <a16:creationId xmlns:a16="http://schemas.microsoft.com/office/drawing/2014/main" id="{3E55660C-22C1-E372-E405-4D37CC23DA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2" name="文本框 1">
            <a:extLst>
              <a:ext uri="{FF2B5EF4-FFF2-40B4-BE49-F238E27FC236}">
                <a16:creationId xmlns:a16="http://schemas.microsoft.com/office/drawing/2014/main" id="{4C6D40EE-B7D1-7C25-73E0-ACF4CADF3D52}"/>
              </a:ext>
            </a:extLst>
          </p:cNvPr>
          <p:cNvSpPr txBox="1"/>
          <p:nvPr/>
        </p:nvSpPr>
        <p:spPr>
          <a:xfrm>
            <a:off x="660399" y="1034017"/>
            <a:ext cx="2546819" cy="369332"/>
          </a:xfrm>
          <a:prstGeom prst="rect">
            <a:avLst/>
          </a:prstGeom>
          <a:noFill/>
        </p:spPr>
        <p:txBody>
          <a:bodyPr wrap="square" rtlCol="0">
            <a:spAutoFit/>
          </a:bodyPr>
          <a:lstStyle/>
          <a:p>
            <a:r>
              <a:rPr lang="en-US" altLang="zh-CN"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Cross-model Denoising</a:t>
            </a:r>
            <a:endParaRPr lang="zh-CN" altLang="en-US" dirty="0">
              <a:solidFill>
                <a:schemeClr val="accent1">
                  <a:lumMod val="75000"/>
                </a:schemeClr>
              </a:solidFill>
              <a:latin typeface="Calibri" panose="020F0502020204030204" pitchFamily="34" charset="0"/>
              <a:cs typeface="Calibri" panose="020F0502020204030204" pitchFamily="34" charset="0"/>
            </a:endParaRPr>
          </a:p>
        </p:txBody>
      </p:sp>
      <p:sp>
        <p:nvSpPr>
          <p:cNvPr id="3" name="箭头: 右 2">
            <a:extLst>
              <a:ext uri="{FF2B5EF4-FFF2-40B4-BE49-F238E27FC236}">
                <a16:creationId xmlns:a16="http://schemas.microsoft.com/office/drawing/2014/main" id="{051EEC2C-6FF0-360C-BC2E-BB6B0F573FE4}"/>
              </a:ext>
            </a:extLst>
          </p:cNvPr>
          <p:cNvSpPr/>
          <p:nvPr/>
        </p:nvSpPr>
        <p:spPr>
          <a:xfrm>
            <a:off x="806069" y="1577826"/>
            <a:ext cx="36207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4D3AFF1-A231-70A9-1690-519B0A68E432}"/>
              </a:ext>
            </a:extLst>
          </p:cNvPr>
          <p:cNvSpPr txBox="1"/>
          <p:nvPr/>
        </p:nvSpPr>
        <p:spPr>
          <a:xfrm>
            <a:off x="1168147" y="1407988"/>
            <a:ext cx="6097022" cy="646331"/>
          </a:xfrm>
          <a:prstGeom prst="rect">
            <a:avLst/>
          </a:prstGeom>
          <a:noFill/>
        </p:spPr>
        <p:txBody>
          <a:bodyPr wrap="square">
            <a:spAutoFit/>
          </a:bodyPr>
          <a:lstStyle/>
          <a:p>
            <a:r>
              <a:rPr lang="en-US" altLang="zh-CN" b="0" i="0" dirty="0">
                <a:solidFill>
                  <a:srgbClr val="191919"/>
                </a:solidFill>
                <a:effectLst/>
                <a:latin typeface="Calibri" panose="020F0502020204030204" pitchFamily="34" charset="0"/>
                <a:ea typeface="Calibri" panose="020F0502020204030204" pitchFamily="34" charset="0"/>
                <a:cs typeface="Calibri" panose="020F0502020204030204" pitchFamily="34" charset="0"/>
              </a:rPr>
              <a:t>Low-Count Brain PET Image Denoising</a:t>
            </a:r>
          </a:p>
          <a:p>
            <a:r>
              <a:rPr lang="en-US" altLang="zh-CN" b="0" i="0" dirty="0">
                <a:solidFill>
                  <a:srgbClr val="191919"/>
                </a:solidFill>
                <a:effectLst/>
                <a:latin typeface="Calibri" panose="020F0502020204030204" pitchFamily="34" charset="0"/>
                <a:ea typeface="Calibri" panose="020F0502020204030204" pitchFamily="34" charset="0"/>
                <a:cs typeface="Calibri" panose="020F0502020204030204" pitchFamily="34" charset="0"/>
              </a:rPr>
              <a:t>PET</a:t>
            </a:r>
            <a:r>
              <a:rPr lang="en-US" altLang="zh-CN" dirty="0">
                <a:solidFill>
                  <a:srgbClr val="222222"/>
                </a:solidFill>
                <a:latin typeface="Calibri" panose="020F0502020204030204" pitchFamily="34" charset="0"/>
                <a:ea typeface="Calibri" panose="020F0502020204030204" pitchFamily="34" charset="0"/>
                <a:cs typeface="Calibri" panose="020F0502020204030204" pitchFamily="34" charset="0"/>
              </a:rPr>
              <a:t> + MR: </a:t>
            </a:r>
            <a:r>
              <a:rPr lang="en-US" altLang="zh-CN" b="0" i="0" dirty="0">
                <a:solidFill>
                  <a:srgbClr val="191919"/>
                </a:solidFill>
                <a:effectLst/>
                <a:latin typeface="Calibri" panose="020F0502020204030204" pitchFamily="34" charset="0"/>
                <a:ea typeface="Calibri" panose="020F0502020204030204" pitchFamily="34" charset="0"/>
                <a:cs typeface="Calibri" panose="020F0502020204030204" pitchFamily="34" charset="0"/>
              </a:rPr>
              <a:t>OIF-Net </a:t>
            </a:r>
            <a:r>
              <a:rPr lang="en-US" altLang="zh-CN" dirty="0">
                <a:solidFill>
                  <a:srgbClr val="222222"/>
                </a:solidFill>
                <a:latin typeface="Calibri" panose="020F0502020204030204" pitchFamily="34" charset="0"/>
                <a:ea typeface="Calibri" panose="020F0502020204030204" pitchFamily="34" charset="0"/>
                <a:cs typeface="Calibri" panose="020F0502020204030204" pitchFamily="34" charset="0"/>
              </a:rPr>
              <a:t>+ </a:t>
            </a:r>
            <a:r>
              <a:rPr lang="en-US" altLang="zh-CN" b="0" i="0" dirty="0">
                <a:solidFill>
                  <a:srgbClr val="191919"/>
                </a:solidFill>
                <a:effectLst/>
                <a:latin typeface="Calibri" panose="020F0502020204030204" pitchFamily="34" charset="0"/>
                <a:ea typeface="Calibri" panose="020F0502020204030204" pitchFamily="34" charset="0"/>
                <a:cs typeface="Calibri" panose="020F0502020204030204" pitchFamily="34" charset="0"/>
              </a:rPr>
              <a:t>SC-FEM + </a:t>
            </a:r>
            <a:r>
              <a:rPr lang="en-US" altLang="zh-CN" b="0" i="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CM-FFM</a:t>
            </a:r>
            <a:endParaRPr lang="zh-CN" altLang="en-US" dirty="0">
              <a:solidFill>
                <a:srgbClr val="C00000"/>
              </a:solidFill>
              <a:latin typeface="Calibri" panose="020F0502020204030204" pitchFamily="34" charset="0"/>
              <a:cs typeface="Calibri" panose="020F0502020204030204" pitchFamily="34" charset="0"/>
            </a:endParaRPr>
          </a:p>
        </p:txBody>
      </p:sp>
      <p:pic>
        <p:nvPicPr>
          <p:cNvPr id="4098" name="Picture 2">
            <a:extLst>
              <a:ext uri="{FF2B5EF4-FFF2-40B4-BE49-F238E27FC236}">
                <a16:creationId xmlns:a16="http://schemas.microsoft.com/office/drawing/2014/main" id="{E809F6C5-BC4D-032C-D80E-778C3FE2B4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8147" y="1973177"/>
            <a:ext cx="3856611" cy="301821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F6281B07-EFED-2573-BBFE-533479BB1124}"/>
              </a:ext>
            </a:extLst>
          </p:cNvPr>
          <p:cNvSpPr/>
          <p:nvPr/>
        </p:nvSpPr>
        <p:spPr>
          <a:xfrm>
            <a:off x="1992652" y="5627029"/>
            <a:ext cx="8728210" cy="2123658"/>
          </a:xfrm>
          <a:prstGeom prst="rect">
            <a:avLst/>
          </a:prstGeom>
        </p:spPr>
        <p:txBody>
          <a:bodyPr wrap="square">
            <a:spAutoFit/>
          </a:bodyPr>
          <a:lstStyle/>
          <a:p>
            <a:pPr marL="457200" indent="-457200" algn="l">
              <a:buNone/>
            </a:pPr>
            <a:r>
              <a:rPr lang="en-US" altLang="zh-CN" sz="1200" b="0" i="0" dirty="0">
                <a:solidFill>
                  <a:srgbClr val="000000"/>
                </a:solidFill>
                <a:effectLst/>
                <a:latin typeface="Times New Roman" panose="02020603050405020304" pitchFamily="18" charset="0"/>
                <a:cs typeface="Times New Roman" panose="02020603050405020304" pitchFamily="18" charset="0"/>
              </a:rPr>
              <a:t>Fu, M., Zhang, N., Huang, Z., Zhou, C., Zhang, X., Yuan, J., He, Q., Yang, Y., Zheng, H., Liang, D., Wu, F.-X., Fan, W., &amp; Hu, Z. (2023). OIF-Net: An Optical Flow Registration-Based PET/MR Cross-Modal Interactive Fusion Network for Low-Count Brain PET Image Denoising. </a:t>
            </a:r>
            <a:r>
              <a:rPr lang="en-US" altLang="zh-CN" sz="1200" b="0" i="1" dirty="0">
                <a:solidFill>
                  <a:srgbClr val="000000"/>
                </a:solidFill>
                <a:effectLst/>
                <a:latin typeface="Times New Roman" panose="02020603050405020304" pitchFamily="18" charset="0"/>
                <a:cs typeface="Times New Roman" panose="02020603050405020304" pitchFamily="18" charset="0"/>
              </a:rPr>
              <a:t>IEEE Transactions on Medical Imaging</a:t>
            </a:r>
            <a:r>
              <a:rPr lang="en-US" altLang="zh-CN" sz="1200" b="0" i="0" dirty="0">
                <a:solidFill>
                  <a:srgbClr val="000000"/>
                </a:solidFill>
                <a:effectLst/>
                <a:latin typeface="Times New Roman" panose="02020603050405020304" pitchFamily="18" charset="0"/>
                <a:cs typeface="Times New Roman" panose="02020603050405020304" pitchFamily="18" charset="0"/>
              </a:rPr>
              <a:t>, </a:t>
            </a:r>
            <a:r>
              <a:rPr lang="en-US" altLang="zh-CN" sz="1200" b="0" i="1" dirty="0">
                <a:solidFill>
                  <a:srgbClr val="000000"/>
                </a:solidFill>
                <a:effectLst/>
                <a:latin typeface="Times New Roman" panose="02020603050405020304" pitchFamily="18" charset="0"/>
                <a:cs typeface="Times New Roman" panose="02020603050405020304" pitchFamily="18" charset="0"/>
              </a:rPr>
              <a:t>43</a:t>
            </a:r>
            <a:r>
              <a:rPr lang="en-US" altLang="zh-CN" sz="1200" b="0" i="0" dirty="0">
                <a:solidFill>
                  <a:srgbClr val="000000"/>
                </a:solidFill>
                <a:effectLst/>
                <a:latin typeface="Times New Roman" panose="02020603050405020304" pitchFamily="18" charset="0"/>
                <a:cs typeface="Times New Roman" panose="02020603050405020304" pitchFamily="18" charset="0"/>
              </a:rPr>
              <a:t>(4), 1554–1567. </a:t>
            </a:r>
            <a:r>
              <a:rPr lang="en-US" altLang="zh-CN" sz="1200" b="0" i="0" dirty="0">
                <a:solidFill>
                  <a:srgbClr val="000000"/>
                </a:solidFill>
                <a:effectLst/>
                <a:latin typeface="Times New Roman" panose="02020603050405020304" pitchFamily="18" charset="0"/>
                <a:cs typeface="Times New Roman" panose="02020603050405020304" pitchFamily="18" charset="0"/>
                <a:hlinkClick r:id="rId4"/>
              </a:rPr>
              <a:t>https://doi.org/10.1109/tmi.2023.3342809</a:t>
            </a:r>
            <a:endParaRPr lang="en-US" altLang="zh-CN" sz="1200" b="0" i="0" dirty="0">
              <a:solidFill>
                <a:srgbClr val="000000"/>
              </a:solidFill>
              <a:effectLst/>
              <a:latin typeface="Times New Roman" panose="02020603050405020304" pitchFamily="18" charset="0"/>
              <a:cs typeface="Times New Roman" panose="02020603050405020304" pitchFamily="18" charset="0"/>
            </a:endParaRPr>
          </a:p>
          <a:p>
            <a:pPr marL="457200" indent="-457200" algn="l">
              <a:buNone/>
            </a:pPr>
            <a:r>
              <a:rPr lang="en-US" altLang="zh-CN" sz="1200" b="0" i="0" dirty="0">
                <a:solidFill>
                  <a:srgbClr val="000000"/>
                </a:solidFill>
                <a:effectLst/>
                <a:latin typeface="Times New Roman" panose="02020603050405020304" pitchFamily="18" charset="0"/>
                <a:cs typeface="Times New Roman" panose="02020603050405020304" pitchFamily="18" charset="0"/>
              </a:rPr>
              <a:t>Li, X., Li, Y., Zhou, Y., Wu, J., Zhao, Z., Fan, J., Deng, F., Wu Z, Xiao, G., He, J., Zhang, Y., Zhang, G., Hu, X., Chen, X., Zhang, Y., Qiao, H., Xie, H., Li, Y., Wang, H., &amp; Fang, L. (2022). Real-time denoising enables high-sensitivity fluorescence time-lapse imaging beyond the shot-noise limit. </a:t>
            </a:r>
            <a:r>
              <a:rPr lang="en-US" altLang="zh-CN" sz="1200" b="0" i="1" dirty="0">
                <a:solidFill>
                  <a:srgbClr val="000000"/>
                </a:solidFill>
                <a:effectLst/>
                <a:latin typeface="Times New Roman" panose="02020603050405020304" pitchFamily="18" charset="0"/>
                <a:cs typeface="Times New Roman" panose="02020603050405020304" pitchFamily="18" charset="0"/>
              </a:rPr>
              <a:t>Nature Biotechnology</a:t>
            </a:r>
            <a:r>
              <a:rPr lang="en-US" altLang="zh-CN" sz="1200" b="0" i="0" dirty="0">
                <a:solidFill>
                  <a:srgbClr val="000000"/>
                </a:solidFill>
                <a:effectLst/>
                <a:latin typeface="Times New Roman" panose="02020603050405020304" pitchFamily="18" charset="0"/>
                <a:cs typeface="Times New Roman" panose="02020603050405020304" pitchFamily="18" charset="0"/>
              </a:rPr>
              <a:t>, </a:t>
            </a:r>
            <a:r>
              <a:rPr lang="en-US" altLang="zh-CN" sz="1200" b="0" i="1" dirty="0">
                <a:solidFill>
                  <a:srgbClr val="000000"/>
                </a:solidFill>
                <a:effectLst/>
                <a:latin typeface="Times New Roman" panose="02020603050405020304" pitchFamily="18" charset="0"/>
                <a:cs typeface="Times New Roman" panose="02020603050405020304" pitchFamily="18" charset="0"/>
              </a:rPr>
              <a:t>41</a:t>
            </a:r>
            <a:r>
              <a:rPr lang="en-US" altLang="zh-CN" sz="1200" b="0" i="0" dirty="0">
                <a:solidFill>
                  <a:srgbClr val="000000"/>
                </a:solidFill>
                <a:effectLst/>
                <a:latin typeface="Times New Roman" panose="02020603050405020304" pitchFamily="18" charset="0"/>
                <a:cs typeface="Times New Roman" panose="02020603050405020304" pitchFamily="18" charset="0"/>
              </a:rPr>
              <a:t>(2), 282–292. </a:t>
            </a:r>
            <a:r>
              <a:rPr lang="en-US" altLang="zh-CN" sz="1200" b="0" i="0" dirty="0">
                <a:solidFill>
                  <a:srgbClr val="000000"/>
                </a:solidFill>
                <a:effectLst/>
                <a:latin typeface="Times New Roman" panose="02020603050405020304" pitchFamily="18" charset="0"/>
                <a:cs typeface="Times New Roman" panose="02020603050405020304" pitchFamily="18" charset="0"/>
                <a:hlinkClick r:id="rId5"/>
              </a:rPr>
              <a:t>https://doi.org/10.1038/s41587-022-01450-8</a:t>
            </a:r>
            <a:endParaRPr lang="en-US" altLang="zh-CN" sz="1200" b="0" i="0" dirty="0">
              <a:solidFill>
                <a:srgbClr val="000000"/>
              </a:solidFill>
              <a:effectLst/>
              <a:latin typeface="Times New Roman" panose="02020603050405020304" pitchFamily="18" charset="0"/>
              <a:cs typeface="Times New Roman" panose="02020603050405020304" pitchFamily="18" charset="0"/>
            </a:endParaRPr>
          </a:p>
          <a:p>
            <a:pPr marL="457200" indent="-457200" algn="l">
              <a:buNone/>
            </a:pPr>
            <a:endParaRPr lang="en-US" altLang="zh-CN" sz="1200" b="0" i="0" dirty="0">
              <a:solidFill>
                <a:srgbClr val="000000"/>
              </a:solidFill>
              <a:effectLst/>
              <a:latin typeface="Calibri" panose="020F0502020204030204" pitchFamily="34" charset="0"/>
            </a:endParaRPr>
          </a:p>
          <a:p>
            <a:pPr algn="l"/>
            <a:r>
              <a:rPr lang="en-US" altLang="zh-CN" sz="1200" b="0" i="0" dirty="0">
                <a:solidFill>
                  <a:srgbClr val="000000"/>
                </a:solidFill>
                <a:effectLst/>
                <a:latin typeface="Calibri" panose="020F0502020204030204" pitchFamily="34" charset="0"/>
              </a:rPr>
              <a:t>‌</a:t>
            </a:r>
          </a:p>
          <a:p>
            <a:pPr marL="457200" indent="-457200" algn="l">
              <a:buNone/>
            </a:pPr>
            <a:endParaRPr lang="en-US" altLang="zh-CN" sz="1200" b="0" i="0" dirty="0">
              <a:solidFill>
                <a:srgbClr val="000000"/>
              </a:solidFill>
              <a:effectLst/>
              <a:latin typeface="Calibri" panose="020F0502020204030204" pitchFamily="34" charset="0"/>
            </a:endParaRPr>
          </a:p>
          <a:p>
            <a:pPr algn="l"/>
            <a:r>
              <a:rPr lang="en-US" altLang="zh-CN" sz="1200" b="0" i="0" dirty="0">
                <a:solidFill>
                  <a:srgbClr val="000000"/>
                </a:solidFill>
                <a:effectLst/>
                <a:latin typeface="Calibri" panose="020F0502020204030204" pitchFamily="34" charset="0"/>
              </a:rPr>
              <a:t>‌</a:t>
            </a:r>
          </a:p>
          <a:p>
            <a:pPr algn="l"/>
            <a:r>
              <a:rPr lang="en-US" altLang="zh-CN" sz="1200" b="0" i="0" dirty="0">
                <a:solidFill>
                  <a:srgbClr val="000000"/>
                </a:solidFill>
                <a:effectLst/>
                <a:latin typeface="Calibri" panose="020F0502020204030204" pitchFamily="34" charset="0"/>
              </a:rPr>
              <a:t>‌</a:t>
            </a:r>
          </a:p>
        </p:txBody>
      </p:sp>
      <p:sp>
        <p:nvSpPr>
          <p:cNvPr id="10" name="文本框 9">
            <a:extLst>
              <a:ext uri="{FF2B5EF4-FFF2-40B4-BE49-F238E27FC236}">
                <a16:creationId xmlns:a16="http://schemas.microsoft.com/office/drawing/2014/main" id="{CCBC3BD0-AD17-70C0-BE39-F53C58C7752E}"/>
              </a:ext>
            </a:extLst>
          </p:cNvPr>
          <p:cNvSpPr txBox="1"/>
          <p:nvPr/>
        </p:nvSpPr>
        <p:spPr>
          <a:xfrm>
            <a:off x="6818110" y="1065717"/>
            <a:ext cx="2546819" cy="369332"/>
          </a:xfrm>
          <a:prstGeom prst="rect">
            <a:avLst/>
          </a:prstGeom>
          <a:noFill/>
        </p:spPr>
        <p:txBody>
          <a:bodyPr wrap="square" rtlCol="0">
            <a:spAutoFit/>
          </a:bodyPr>
          <a:lstStyle/>
          <a:p>
            <a:r>
              <a:rPr lang="en-US" altLang="zh-CN"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Real-time Denoising</a:t>
            </a:r>
            <a:endParaRPr lang="zh-CN" altLang="en-US" dirty="0">
              <a:solidFill>
                <a:schemeClr val="accent1">
                  <a:lumMod val="75000"/>
                </a:schemeClr>
              </a:solidFill>
              <a:latin typeface="Calibri" panose="020F0502020204030204" pitchFamily="34" charset="0"/>
              <a:cs typeface="Calibri" panose="020F0502020204030204" pitchFamily="34" charset="0"/>
            </a:endParaRPr>
          </a:p>
        </p:txBody>
      </p:sp>
      <p:sp>
        <p:nvSpPr>
          <p:cNvPr id="11" name="箭头: 右 10">
            <a:extLst>
              <a:ext uri="{FF2B5EF4-FFF2-40B4-BE49-F238E27FC236}">
                <a16:creationId xmlns:a16="http://schemas.microsoft.com/office/drawing/2014/main" id="{14D1AD74-1AF7-24F7-F789-026A78953C4C}"/>
              </a:ext>
            </a:extLst>
          </p:cNvPr>
          <p:cNvSpPr/>
          <p:nvPr/>
        </p:nvSpPr>
        <p:spPr>
          <a:xfrm>
            <a:off x="6949634" y="1530091"/>
            <a:ext cx="36207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37CAC66E-2864-5E2E-981C-2BD92BA4034A}"/>
              </a:ext>
            </a:extLst>
          </p:cNvPr>
          <p:cNvSpPr txBox="1"/>
          <p:nvPr/>
        </p:nvSpPr>
        <p:spPr>
          <a:xfrm>
            <a:off x="7311712" y="1362914"/>
            <a:ext cx="6097022" cy="369332"/>
          </a:xfrm>
          <a:prstGeom prst="rect">
            <a:avLst/>
          </a:prstGeom>
          <a:noFill/>
        </p:spPr>
        <p:txBody>
          <a:bodyPr wrap="square">
            <a:spAutoFit/>
          </a:bodyPr>
          <a:lstStyle/>
          <a:p>
            <a:r>
              <a:rPr lang="en-US" altLang="zh-CN" b="0" i="0" dirty="0" err="1">
                <a:solidFill>
                  <a:srgbClr val="191919"/>
                </a:solidFill>
                <a:effectLst/>
                <a:latin typeface="Calibri" panose="020F0502020204030204" pitchFamily="34" charset="0"/>
                <a:ea typeface="Calibri" panose="020F0502020204030204" pitchFamily="34" charset="0"/>
                <a:cs typeface="Calibri" panose="020F0502020204030204" pitchFamily="34" charset="0"/>
              </a:rPr>
              <a:t>DeepCAD</a:t>
            </a:r>
            <a:r>
              <a:rPr lang="en-US" altLang="zh-CN" b="0" i="0" dirty="0">
                <a:solidFill>
                  <a:srgbClr val="191919"/>
                </a:solidFill>
                <a:effectLst/>
                <a:latin typeface="Calibri" panose="020F0502020204030204" pitchFamily="34" charset="0"/>
                <a:ea typeface="Calibri" panose="020F0502020204030204" pitchFamily="34" charset="0"/>
                <a:cs typeface="Calibri" panose="020F0502020204030204" pitchFamily="34" charset="0"/>
              </a:rPr>
              <a:t>-RT</a:t>
            </a:r>
            <a:endParaRPr lang="zh-CN" altLang="en-US" dirty="0">
              <a:solidFill>
                <a:srgbClr val="C00000"/>
              </a:solidFill>
              <a:latin typeface="Calibri" panose="020F0502020204030204" pitchFamily="34" charset="0"/>
              <a:cs typeface="Calibri" panose="020F0502020204030204" pitchFamily="34" charset="0"/>
            </a:endParaRPr>
          </a:p>
        </p:txBody>
      </p:sp>
      <p:pic>
        <p:nvPicPr>
          <p:cNvPr id="4100" name="Picture 4" descr="图 1">
            <a:extLst>
              <a:ext uri="{FF2B5EF4-FFF2-40B4-BE49-F238E27FC236}">
                <a16:creationId xmlns:a16="http://schemas.microsoft.com/office/drawing/2014/main" id="{BA3CCA67-28D5-97DF-B0F6-54AD52E319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9040" y="1715206"/>
            <a:ext cx="3523769" cy="332828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D5467AE9-5712-AD3E-F6A5-D3D5F055B317}"/>
              </a:ext>
            </a:extLst>
          </p:cNvPr>
          <p:cNvSpPr txBox="1"/>
          <p:nvPr/>
        </p:nvSpPr>
        <p:spPr>
          <a:xfrm>
            <a:off x="4132564" y="5130491"/>
            <a:ext cx="4312952" cy="402546"/>
          </a:xfrm>
          <a:prstGeom prst="rect">
            <a:avLst/>
          </a:prstGeom>
          <a:noFill/>
        </p:spPr>
        <p:txBody>
          <a:bodyPr wrap="square">
            <a:spAutoFit/>
            <a:scene3d>
              <a:camera prst="orthographicFront"/>
              <a:lightRig rig="threePt" dir="t"/>
            </a:scene3d>
            <a:sp3d contourW="12700"/>
          </a:bodyPr>
          <a:lstStyle>
            <a:defPPr>
              <a:defRPr lang="zh-CN"/>
            </a:defPPr>
            <a:lvl1pPr fontAlgn="auto">
              <a:lnSpc>
                <a:spcPct val="120000"/>
              </a:lnSpc>
              <a:spcBef>
                <a:spcPts val="0"/>
              </a:spcBef>
              <a:spcAft>
                <a:spcPts val="0"/>
              </a:spcAft>
              <a:defRPr sz="3200" b="1" spc="300">
                <a:solidFill>
                  <a:srgbClr val="CB3125"/>
                </a:solidFill>
                <a:latin typeface="Azonix" pitchFamily="50" charset="0"/>
                <a:ea typeface="Roboto Thin" panose="02000000000000000000" pitchFamily="2" charset="0"/>
              </a:defRPr>
            </a:lvl1pPr>
          </a:lstStyle>
          <a:p>
            <a:pPr marL="0" marR="0" algn="just"/>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AI will revolutionize the field</a:t>
            </a:r>
          </a:p>
        </p:txBody>
      </p:sp>
    </p:spTree>
    <p:extLst>
      <p:ext uri="{BB962C8B-B14F-4D97-AF65-F5344CB8AC3E}">
        <p14:creationId xmlns:p14="http://schemas.microsoft.com/office/powerpoint/2010/main" val="3207158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4</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75196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Refractive index measurement of whole blood and components over a continuous spectrum</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Catalogue</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Oval 6"/>
          <p:cNvSpPr>
            <a:spLocks noChangeArrowheads="1"/>
          </p:cNvSpPr>
          <p:nvPr/>
        </p:nvSpPr>
        <p:spPr bwMode="auto">
          <a:xfrm>
            <a:off x="1418382" y="2090225"/>
            <a:ext cx="1412767" cy="1413963"/>
          </a:xfrm>
          <a:prstGeom prst="ellipse">
            <a:avLst/>
          </a:prstGeom>
          <a:solidFill>
            <a:srgbClr val="CB312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8" name="Oval 7"/>
          <p:cNvSpPr>
            <a:spLocks noChangeArrowheads="1"/>
          </p:cNvSpPr>
          <p:nvPr/>
        </p:nvSpPr>
        <p:spPr bwMode="auto">
          <a:xfrm>
            <a:off x="3756565" y="2443339"/>
            <a:ext cx="707137" cy="706731"/>
          </a:xfrm>
          <a:prstGeom prst="ellipse">
            <a:avLst/>
          </a:prstGeom>
          <a:solidFill>
            <a:srgbClr val="2E578B"/>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9" name="Oval 8"/>
          <p:cNvSpPr>
            <a:spLocks noChangeArrowheads="1"/>
          </p:cNvSpPr>
          <p:nvPr/>
        </p:nvSpPr>
        <p:spPr bwMode="auto">
          <a:xfrm>
            <a:off x="5389113" y="2090225"/>
            <a:ext cx="1412264" cy="1413963"/>
          </a:xfrm>
          <a:prstGeom prst="ellipse">
            <a:avLst/>
          </a:prstGeom>
          <a:solidFill>
            <a:srgbClr val="CB312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0" name="Oval 9"/>
          <p:cNvSpPr>
            <a:spLocks noChangeArrowheads="1"/>
          </p:cNvSpPr>
          <p:nvPr/>
        </p:nvSpPr>
        <p:spPr bwMode="auto">
          <a:xfrm>
            <a:off x="7728302" y="2443339"/>
            <a:ext cx="705629" cy="706731"/>
          </a:xfrm>
          <a:prstGeom prst="ellipse">
            <a:avLst/>
          </a:prstGeom>
          <a:solidFill>
            <a:srgbClr val="2E578B"/>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1" name="Oval 10"/>
          <p:cNvSpPr>
            <a:spLocks noChangeArrowheads="1"/>
          </p:cNvSpPr>
          <p:nvPr/>
        </p:nvSpPr>
        <p:spPr bwMode="auto">
          <a:xfrm>
            <a:off x="9360854" y="2090225"/>
            <a:ext cx="1412767" cy="1413963"/>
          </a:xfrm>
          <a:prstGeom prst="ellipse">
            <a:avLst/>
          </a:prstGeom>
          <a:solidFill>
            <a:srgbClr val="CB312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2" name="Oval 11"/>
          <p:cNvSpPr>
            <a:spLocks noChangeArrowheads="1"/>
          </p:cNvSpPr>
          <p:nvPr/>
        </p:nvSpPr>
        <p:spPr bwMode="auto">
          <a:xfrm>
            <a:off x="3225455" y="2728046"/>
            <a:ext cx="136800"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3" name="Oval 12"/>
          <p:cNvSpPr>
            <a:spLocks noChangeArrowheads="1"/>
          </p:cNvSpPr>
          <p:nvPr/>
        </p:nvSpPr>
        <p:spPr bwMode="auto">
          <a:xfrm>
            <a:off x="4858008" y="2728046"/>
            <a:ext cx="136297"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4" name="Oval 13"/>
          <p:cNvSpPr>
            <a:spLocks noChangeArrowheads="1"/>
          </p:cNvSpPr>
          <p:nvPr/>
        </p:nvSpPr>
        <p:spPr bwMode="auto">
          <a:xfrm>
            <a:off x="7196190" y="2728046"/>
            <a:ext cx="137807"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5" name="Oval 14"/>
          <p:cNvSpPr>
            <a:spLocks noChangeArrowheads="1"/>
          </p:cNvSpPr>
          <p:nvPr/>
        </p:nvSpPr>
        <p:spPr bwMode="auto">
          <a:xfrm>
            <a:off x="8828239" y="2728046"/>
            <a:ext cx="138309"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6" name="Line 16"/>
          <p:cNvSpPr>
            <a:spLocks noChangeShapeType="1"/>
          </p:cNvSpPr>
          <p:nvPr/>
        </p:nvSpPr>
        <p:spPr bwMode="auto">
          <a:xfrm>
            <a:off x="4110633" y="3229546"/>
            <a:ext cx="0" cy="305327"/>
          </a:xfrm>
          <a:prstGeom prst="line">
            <a:avLst/>
          </a:prstGeom>
          <a:noFill/>
          <a:ln w="4" cap="flat">
            <a:noFill/>
            <a:prstDash val="solid"/>
            <a:miter lim="800000"/>
          </a:ln>
          <a:extLst>
            <a:ext uri="{909E8E84-426E-40DD-AFC4-6F175D3DCCD1}">
              <a14:hiddenFill xmlns:a14="http://schemas.microsoft.com/office/drawing/2010/main">
                <a:noFill/>
              </a14:hiddenFill>
            </a:ext>
          </a:extLst>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7" name="Line 18"/>
          <p:cNvSpPr>
            <a:spLocks noChangeShapeType="1"/>
          </p:cNvSpPr>
          <p:nvPr/>
        </p:nvSpPr>
        <p:spPr bwMode="auto">
          <a:xfrm>
            <a:off x="8081367" y="3229546"/>
            <a:ext cx="0" cy="305327"/>
          </a:xfrm>
          <a:prstGeom prst="line">
            <a:avLst/>
          </a:prstGeom>
          <a:noFill/>
          <a:ln w="4" cap="flat">
            <a:noFill/>
            <a:prstDash val="solid"/>
            <a:miter lim="800000"/>
          </a:ln>
          <a:extLst>
            <a:ext uri="{909E8E84-426E-40DD-AFC4-6F175D3DCCD1}">
              <a14:hiddenFill xmlns:a14="http://schemas.microsoft.com/office/drawing/2010/main">
                <a:noFill/>
              </a14:hiddenFill>
            </a:ext>
          </a:extLst>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8" name="Freeform 24"/>
          <p:cNvSpPr>
            <a:spLocks noEditPoints="1"/>
          </p:cNvSpPr>
          <p:nvPr/>
        </p:nvSpPr>
        <p:spPr bwMode="auto">
          <a:xfrm>
            <a:off x="3916005" y="2602555"/>
            <a:ext cx="388251" cy="388303"/>
          </a:xfrm>
          <a:custGeom>
            <a:avLst/>
            <a:gdLst>
              <a:gd name="T0" fmla="*/ 919 w 1838"/>
              <a:gd name="T1" fmla="*/ 0 h 1838"/>
              <a:gd name="T2" fmla="*/ 0 w 1838"/>
              <a:gd name="T3" fmla="*/ 919 h 1838"/>
              <a:gd name="T4" fmla="*/ 919 w 1838"/>
              <a:gd name="T5" fmla="*/ 1838 h 1838"/>
              <a:gd name="T6" fmla="*/ 1838 w 1838"/>
              <a:gd name="T7" fmla="*/ 919 h 1838"/>
              <a:gd name="T8" fmla="*/ 919 w 1838"/>
              <a:gd name="T9" fmla="*/ 0 h 1838"/>
              <a:gd name="T10" fmla="*/ 919 w 1838"/>
              <a:gd name="T11" fmla="*/ 1608 h 1838"/>
              <a:gd name="T12" fmla="*/ 919 w 1838"/>
              <a:gd name="T13" fmla="*/ 1608 h 1838"/>
              <a:gd name="T14" fmla="*/ 230 w 1838"/>
              <a:gd name="T15" fmla="*/ 919 h 1838"/>
              <a:gd name="T16" fmla="*/ 919 w 1838"/>
              <a:gd name="T17" fmla="*/ 230 h 1838"/>
              <a:gd name="T18" fmla="*/ 1608 w 1838"/>
              <a:gd name="T19" fmla="*/ 919 h 1838"/>
              <a:gd name="T20" fmla="*/ 919 w 1838"/>
              <a:gd name="T21" fmla="*/ 1608 h 1838"/>
              <a:gd name="T22" fmla="*/ 1493 w 1838"/>
              <a:gd name="T23" fmla="*/ 919 h 1838"/>
              <a:gd name="T24" fmla="*/ 1493 w 1838"/>
              <a:gd name="T25" fmla="*/ 919 h 1838"/>
              <a:gd name="T26" fmla="*/ 1378 w 1838"/>
              <a:gd name="T27" fmla="*/ 1034 h 1838"/>
              <a:gd name="T28" fmla="*/ 919 w 1838"/>
              <a:gd name="T29" fmla="*/ 1034 h 1838"/>
              <a:gd name="T30" fmla="*/ 804 w 1838"/>
              <a:gd name="T31" fmla="*/ 919 h 1838"/>
              <a:gd name="T32" fmla="*/ 804 w 1838"/>
              <a:gd name="T33" fmla="*/ 460 h 1838"/>
              <a:gd name="T34" fmla="*/ 919 w 1838"/>
              <a:gd name="T35" fmla="*/ 345 h 1838"/>
              <a:gd name="T36" fmla="*/ 1034 w 1838"/>
              <a:gd name="T37" fmla="*/ 460 h 1838"/>
              <a:gd name="T38" fmla="*/ 1034 w 1838"/>
              <a:gd name="T39" fmla="*/ 804 h 1838"/>
              <a:gd name="T40" fmla="*/ 1378 w 1838"/>
              <a:gd name="T41" fmla="*/ 804 h 1838"/>
              <a:gd name="T42" fmla="*/ 1493 w 1838"/>
              <a:gd name="T43" fmla="*/ 919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38" h="1838">
                <a:moveTo>
                  <a:pt x="919" y="0"/>
                </a:moveTo>
                <a:cubicBezTo>
                  <a:pt x="411" y="0"/>
                  <a:pt x="0" y="412"/>
                  <a:pt x="0" y="919"/>
                </a:cubicBezTo>
                <a:cubicBezTo>
                  <a:pt x="0" y="1427"/>
                  <a:pt x="411" y="1838"/>
                  <a:pt x="919" y="1838"/>
                </a:cubicBezTo>
                <a:cubicBezTo>
                  <a:pt x="1426" y="1838"/>
                  <a:pt x="1838" y="1427"/>
                  <a:pt x="1838" y="919"/>
                </a:cubicBezTo>
                <a:cubicBezTo>
                  <a:pt x="1838" y="412"/>
                  <a:pt x="1426" y="0"/>
                  <a:pt x="919" y="0"/>
                </a:cubicBezTo>
                <a:close/>
                <a:moveTo>
                  <a:pt x="919" y="1608"/>
                </a:moveTo>
                <a:cubicBezTo>
                  <a:pt x="919" y="1608"/>
                  <a:pt x="919" y="1608"/>
                  <a:pt x="919" y="1608"/>
                </a:cubicBezTo>
                <a:cubicBezTo>
                  <a:pt x="539" y="1608"/>
                  <a:pt x="230" y="1299"/>
                  <a:pt x="230" y="919"/>
                </a:cubicBezTo>
                <a:cubicBezTo>
                  <a:pt x="230" y="539"/>
                  <a:pt x="539" y="230"/>
                  <a:pt x="919" y="230"/>
                </a:cubicBezTo>
                <a:cubicBezTo>
                  <a:pt x="1299" y="230"/>
                  <a:pt x="1608" y="539"/>
                  <a:pt x="1608" y="919"/>
                </a:cubicBezTo>
                <a:cubicBezTo>
                  <a:pt x="1608" y="1299"/>
                  <a:pt x="1299" y="1608"/>
                  <a:pt x="919" y="1608"/>
                </a:cubicBezTo>
                <a:close/>
                <a:moveTo>
                  <a:pt x="1493" y="919"/>
                </a:moveTo>
                <a:cubicBezTo>
                  <a:pt x="1493" y="919"/>
                  <a:pt x="1493" y="919"/>
                  <a:pt x="1493" y="919"/>
                </a:cubicBezTo>
                <a:cubicBezTo>
                  <a:pt x="1493" y="983"/>
                  <a:pt x="1442" y="1034"/>
                  <a:pt x="1378" y="1034"/>
                </a:cubicBezTo>
                <a:cubicBezTo>
                  <a:pt x="919" y="1034"/>
                  <a:pt x="919" y="1034"/>
                  <a:pt x="919" y="1034"/>
                </a:cubicBezTo>
                <a:cubicBezTo>
                  <a:pt x="856" y="1034"/>
                  <a:pt x="804" y="983"/>
                  <a:pt x="804" y="919"/>
                </a:cubicBezTo>
                <a:cubicBezTo>
                  <a:pt x="804" y="460"/>
                  <a:pt x="804" y="460"/>
                  <a:pt x="804" y="460"/>
                </a:cubicBezTo>
                <a:cubicBezTo>
                  <a:pt x="804" y="396"/>
                  <a:pt x="856" y="345"/>
                  <a:pt x="919" y="345"/>
                </a:cubicBezTo>
                <a:cubicBezTo>
                  <a:pt x="982" y="345"/>
                  <a:pt x="1034" y="396"/>
                  <a:pt x="1034" y="460"/>
                </a:cubicBezTo>
                <a:cubicBezTo>
                  <a:pt x="1034" y="804"/>
                  <a:pt x="1034" y="804"/>
                  <a:pt x="1034" y="804"/>
                </a:cubicBezTo>
                <a:cubicBezTo>
                  <a:pt x="1378" y="804"/>
                  <a:pt x="1378" y="804"/>
                  <a:pt x="1378" y="804"/>
                </a:cubicBezTo>
                <a:cubicBezTo>
                  <a:pt x="1442" y="804"/>
                  <a:pt x="1493" y="856"/>
                  <a:pt x="1493" y="919"/>
                </a:cubicBez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9" name="Freeform 25"/>
          <p:cNvSpPr/>
          <p:nvPr/>
        </p:nvSpPr>
        <p:spPr bwMode="auto">
          <a:xfrm>
            <a:off x="1898116" y="2388435"/>
            <a:ext cx="453296" cy="817548"/>
          </a:xfrm>
          <a:custGeom>
            <a:avLst/>
            <a:gdLst>
              <a:gd name="T0" fmla="*/ 604 w 637"/>
              <a:gd name="T1" fmla="*/ 610 h 1149"/>
              <a:gd name="T2" fmla="*/ 604 w 637"/>
              <a:gd name="T3" fmla="*/ 610 h 1149"/>
              <a:gd name="T4" fmla="*/ 637 w 637"/>
              <a:gd name="T5" fmla="*/ 739 h 1149"/>
              <a:gd name="T6" fmla="*/ 569 w 637"/>
              <a:gd name="T7" fmla="*/ 929 h 1149"/>
              <a:gd name="T8" fmla="*/ 373 w 637"/>
              <a:gd name="T9" fmla="*/ 1019 h 1149"/>
              <a:gd name="T10" fmla="*/ 373 w 637"/>
              <a:gd name="T11" fmla="*/ 1149 h 1149"/>
              <a:gd name="T12" fmla="*/ 264 w 637"/>
              <a:gd name="T13" fmla="*/ 1149 h 1149"/>
              <a:gd name="T14" fmla="*/ 264 w 637"/>
              <a:gd name="T15" fmla="*/ 1019 h 1149"/>
              <a:gd name="T16" fmla="*/ 0 w 637"/>
              <a:gd name="T17" fmla="*/ 771 h 1149"/>
              <a:gd name="T18" fmla="*/ 168 w 637"/>
              <a:gd name="T19" fmla="*/ 728 h 1149"/>
              <a:gd name="T20" fmla="*/ 323 w 637"/>
              <a:gd name="T21" fmla="*/ 870 h 1149"/>
              <a:gd name="T22" fmla="*/ 413 w 637"/>
              <a:gd name="T23" fmla="*/ 839 h 1149"/>
              <a:gd name="T24" fmla="*/ 442 w 637"/>
              <a:gd name="T25" fmla="*/ 766 h 1149"/>
              <a:gd name="T26" fmla="*/ 413 w 637"/>
              <a:gd name="T27" fmla="*/ 698 h 1149"/>
              <a:gd name="T28" fmla="*/ 284 w 637"/>
              <a:gd name="T29" fmla="*/ 640 h 1149"/>
              <a:gd name="T30" fmla="*/ 144 w 637"/>
              <a:gd name="T31" fmla="*/ 578 h 1149"/>
              <a:gd name="T32" fmla="*/ 62 w 637"/>
              <a:gd name="T33" fmla="*/ 493 h 1149"/>
              <a:gd name="T34" fmla="*/ 31 w 637"/>
              <a:gd name="T35" fmla="*/ 366 h 1149"/>
              <a:gd name="T36" fmla="*/ 87 w 637"/>
              <a:gd name="T37" fmla="*/ 194 h 1149"/>
              <a:gd name="T38" fmla="*/ 264 w 637"/>
              <a:gd name="T39" fmla="*/ 101 h 1149"/>
              <a:gd name="T40" fmla="*/ 264 w 637"/>
              <a:gd name="T41" fmla="*/ 0 h 1149"/>
              <a:gd name="T42" fmla="*/ 373 w 637"/>
              <a:gd name="T43" fmla="*/ 0 h 1149"/>
              <a:gd name="T44" fmla="*/ 373 w 637"/>
              <a:gd name="T45" fmla="*/ 101 h 1149"/>
              <a:gd name="T46" fmla="*/ 609 w 637"/>
              <a:gd name="T47" fmla="*/ 307 h 1149"/>
              <a:gd name="T48" fmla="*/ 459 w 637"/>
              <a:gd name="T49" fmla="*/ 369 h 1149"/>
              <a:gd name="T50" fmla="*/ 323 w 637"/>
              <a:gd name="T51" fmla="*/ 242 h 1149"/>
              <a:gd name="T52" fmla="*/ 250 w 637"/>
              <a:gd name="T53" fmla="*/ 270 h 1149"/>
              <a:gd name="T54" fmla="*/ 222 w 637"/>
              <a:gd name="T55" fmla="*/ 339 h 1149"/>
              <a:gd name="T56" fmla="*/ 249 w 637"/>
              <a:gd name="T57" fmla="*/ 402 h 1149"/>
              <a:gd name="T58" fmla="*/ 364 w 637"/>
              <a:gd name="T59" fmla="*/ 456 h 1149"/>
              <a:gd name="T60" fmla="*/ 516 w 637"/>
              <a:gd name="T61" fmla="*/ 523 h 1149"/>
              <a:gd name="T62" fmla="*/ 604 w 637"/>
              <a:gd name="T63" fmla="*/ 61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7" h="1149">
                <a:moveTo>
                  <a:pt x="604" y="610"/>
                </a:moveTo>
                <a:cubicBezTo>
                  <a:pt x="604" y="610"/>
                  <a:pt x="604" y="610"/>
                  <a:pt x="604" y="610"/>
                </a:cubicBezTo>
                <a:cubicBezTo>
                  <a:pt x="626" y="647"/>
                  <a:pt x="637" y="690"/>
                  <a:pt x="637" y="739"/>
                </a:cubicBezTo>
                <a:cubicBezTo>
                  <a:pt x="637" y="815"/>
                  <a:pt x="614" y="879"/>
                  <a:pt x="569" y="929"/>
                </a:cubicBezTo>
                <a:cubicBezTo>
                  <a:pt x="523" y="980"/>
                  <a:pt x="458" y="1010"/>
                  <a:pt x="373" y="1019"/>
                </a:cubicBezTo>
                <a:cubicBezTo>
                  <a:pt x="373" y="1149"/>
                  <a:pt x="373" y="1149"/>
                  <a:pt x="373" y="1149"/>
                </a:cubicBezTo>
                <a:cubicBezTo>
                  <a:pt x="264" y="1149"/>
                  <a:pt x="264" y="1149"/>
                  <a:pt x="264" y="1149"/>
                </a:cubicBezTo>
                <a:cubicBezTo>
                  <a:pt x="264" y="1019"/>
                  <a:pt x="264" y="1019"/>
                  <a:pt x="264" y="1019"/>
                </a:cubicBezTo>
                <a:cubicBezTo>
                  <a:pt x="122" y="1005"/>
                  <a:pt x="34" y="922"/>
                  <a:pt x="0" y="771"/>
                </a:cubicBezTo>
                <a:cubicBezTo>
                  <a:pt x="168" y="728"/>
                  <a:pt x="168" y="728"/>
                  <a:pt x="168" y="728"/>
                </a:cubicBezTo>
                <a:cubicBezTo>
                  <a:pt x="184" y="822"/>
                  <a:pt x="235" y="870"/>
                  <a:pt x="323" y="870"/>
                </a:cubicBezTo>
                <a:cubicBezTo>
                  <a:pt x="364" y="870"/>
                  <a:pt x="394" y="860"/>
                  <a:pt x="413" y="839"/>
                </a:cubicBezTo>
                <a:cubicBezTo>
                  <a:pt x="432" y="819"/>
                  <a:pt x="442" y="795"/>
                  <a:pt x="442" y="766"/>
                </a:cubicBezTo>
                <a:cubicBezTo>
                  <a:pt x="442" y="736"/>
                  <a:pt x="432" y="714"/>
                  <a:pt x="413" y="698"/>
                </a:cubicBezTo>
                <a:cubicBezTo>
                  <a:pt x="394" y="683"/>
                  <a:pt x="351" y="664"/>
                  <a:pt x="284" y="640"/>
                </a:cubicBezTo>
                <a:cubicBezTo>
                  <a:pt x="225" y="619"/>
                  <a:pt x="178" y="599"/>
                  <a:pt x="144" y="578"/>
                </a:cubicBezTo>
                <a:cubicBezTo>
                  <a:pt x="111" y="558"/>
                  <a:pt x="83" y="530"/>
                  <a:pt x="62" y="493"/>
                </a:cubicBezTo>
                <a:cubicBezTo>
                  <a:pt x="41" y="457"/>
                  <a:pt x="31" y="414"/>
                  <a:pt x="31" y="366"/>
                </a:cubicBezTo>
                <a:cubicBezTo>
                  <a:pt x="31" y="302"/>
                  <a:pt x="50" y="245"/>
                  <a:pt x="87" y="194"/>
                </a:cubicBezTo>
                <a:cubicBezTo>
                  <a:pt x="125" y="143"/>
                  <a:pt x="184" y="112"/>
                  <a:pt x="264" y="101"/>
                </a:cubicBezTo>
                <a:cubicBezTo>
                  <a:pt x="264" y="0"/>
                  <a:pt x="264" y="0"/>
                  <a:pt x="264" y="0"/>
                </a:cubicBezTo>
                <a:cubicBezTo>
                  <a:pt x="373" y="0"/>
                  <a:pt x="373" y="0"/>
                  <a:pt x="373" y="0"/>
                </a:cubicBezTo>
                <a:cubicBezTo>
                  <a:pt x="373" y="101"/>
                  <a:pt x="373" y="101"/>
                  <a:pt x="373" y="101"/>
                </a:cubicBezTo>
                <a:cubicBezTo>
                  <a:pt x="494" y="115"/>
                  <a:pt x="573" y="184"/>
                  <a:pt x="609" y="307"/>
                </a:cubicBezTo>
                <a:cubicBezTo>
                  <a:pt x="459" y="369"/>
                  <a:pt x="459" y="369"/>
                  <a:pt x="459" y="369"/>
                </a:cubicBezTo>
                <a:cubicBezTo>
                  <a:pt x="430" y="284"/>
                  <a:pt x="385" y="242"/>
                  <a:pt x="323" y="242"/>
                </a:cubicBezTo>
                <a:cubicBezTo>
                  <a:pt x="293" y="242"/>
                  <a:pt x="268" y="252"/>
                  <a:pt x="250" y="270"/>
                </a:cubicBezTo>
                <a:cubicBezTo>
                  <a:pt x="231" y="289"/>
                  <a:pt x="222" y="312"/>
                  <a:pt x="222" y="339"/>
                </a:cubicBezTo>
                <a:cubicBezTo>
                  <a:pt x="222" y="366"/>
                  <a:pt x="231" y="387"/>
                  <a:pt x="249" y="402"/>
                </a:cubicBezTo>
                <a:cubicBezTo>
                  <a:pt x="267" y="416"/>
                  <a:pt x="305" y="435"/>
                  <a:pt x="364" y="456"/>
                </a:cubicBezTo>
                <a:cubicBezTo>
                  <a:pt x="428" y="480"/>
                  <a:pt x="479" y="502"/>
                  <a:pt x="516" y="523"/>
                </a:cubicBezTo>
                <a:cubicBezTo>
                  <a:pt x="552" y="544"/>
                  <a:pt x="582" y="573"/>
                  <a:pt x="604" y="610"/>
                </a:cubicBez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0" name="Freeform 26"/>
          <p:cNvSpPr>
            <a:spLocks noEditPoints="1"/>
          </p:cNvSpPr>
          <p:nvPr/>
        </p:nvSpPr>
        <p:spPr bwMode="auto">
          <a:xfrm>
            <a:off x="5716879" y="2430087"/>
            <a:ext cx="756733" cy="734240"/>
          </a:xfrm>
          <a:custGeom>
            <a:avLst/>
            <a:gdLst>
              <a:gd name="T0" fmla="*/ 1687 w 1687"/>
              <a:gd name="T1" fmla="*/ 89 h 1637"/>
              <a:gd name="T2" fmla="*/ 1598 w 1687"/>
              <a:gd name="T3" fmla="*/ 0 h 1637"/>
              <a:gd name="T4" fmla="*/ 959 w 1687"/>
              <a:gd name="T5" fmla="*/ 0 h 1637"/>
              <a:gd name="T6" fmla="*/ 869 w 1687"/>
              <a:gd name="T7" fmla="*/ 89 h 1637"/>
              <a:gd name="T8" fmla="*/ 869 w 1687"/>
              <a:gd name="T9" fmla="*/ 755 h 1637"/>
              <a:gd name="T10" fmla="*/ 920 w 1687"/>
              <a:gd name="T11" fmla="*/ 755 h 1637"/>
              <a:gd name="T12" fmla="*/ 920 w 1687"/>
              <a:gd name="T13" fmla="*/ 190 h 1637"/>
              <a:gd name="T14" fmla="*/ 1636 w 1687"/>
              <a:gd name="T15" fmla="*/ 190 h 1637"/>
              <a:gd name="T16" fmla="*/ 1636 w 1687"/>
              <a:gd name="T17" fmla="*/ 1214 h 1637"/>
              <a:gd name="T18" fmla="*/ 1535 w 1687"/>
              <a:gd name="T19" fmla="*/ 1214 h 1637"/>
              <a:gd name="T20" fmla="*/ 1535 w 1687"/>
              <a:gd name="T21" fmla="*/ 1469 h 1637"/>
              <a:gd name="T22" fmla="*/ 1598 w 1687"/>
              <a:gd name="T23" fmla="*/ 1469 h 1637"/>
              <a:gd name="T24" fmla="*/ 1687 w 1687"/>
              <a:gd name="T25" fmla="*/ 1380 h 1637"/>
              <a:gd name="T26" fmla="*/ 1687 w 1687"/>
              <a:gd name="T27" fmla="*/ 89 h 1637"/>
              <a:gd name="T28" fmla="*/ 1687 w 1687"/>
              <a:gd name="T29" fmla="*/ 89 h 1637"/>
              <a:gd name="T30" fmla="*/ 1548 w 1687"/>
              <a:gd name="T31" fmla="*/ 108 h 1637"/>
              <a:gd name="T32" fmla="*/ 1548 w 1687"/>
              <a:gd name="T33" fmla="*/ 108 h 1637"/>
              <a:gd name="T34" fmla="*/ 1008 w 1687"/>
              <a:gd name="T35" fmla="*/ 108 h 1637"/>
              <a:gd name="T36" fmla="*/ 990 w 1687"/>
              <a:gd name="T37" fmla="*/ 89 h 1637"/>
              <a:gd name="T38" fmla="*/ 1008 w 1687"/>
              <a:gd name="T39" fmla="*/ 71 h 1637"/>
              <a:gd name="T40" fmla="*/ 1548 w 1687"/>
              <a:gd name="T41" fmla="*/ 71 h 1637"/>
              <a:gd name="T42" fmla="*/ 1567 w 1687"/>
              <a:gd name="T43" fmla="*/ 89 h 1637"/>
              <a:gd name="T44" fmla="*/ 1548 w 1687"/>
              <a:gd name="T45" fmla="*/ 108 h 1637"/>
              <a:gd name="T46" fmla="*/ 1470 w 1687"/>
              <a:gd name="T47" fmla="*/ 1548 h 1637"/>
              <a:gd name="T48" fmla="*/ 1381 w 1687"/>
              <a:gd name="T49" fmla="*/ 1637 h 1637"/>
              <a:gd name="T50" fmla="*/ 89 w 1687"/>
              <a:gd name="T51" fmla="*/ 1637 h 1637"/>
              <a:gd name="T52" fmla="*/ 0 w 1687"/>
              <a:gd name="T53" fmla="*/ 1548 h 1637"/>
              <a:gd name="T54" fmla="*/ 0 w 1687"/>
              <a:gd name="T55" fmla="*/ 908 h 1637"/>
              <a:gd name="T56" fmla="*/ 89 w 1687"/>
              <a:gd name="T57" fmla="*/ 819 h 1637"/>
              <a:gd name="T58" fmla="*/ 1381 w 1687"/>
              <a:gd name="T59" fmla="*/ 819 h 1637"/>
              <a:gd name="T60" fmla="*/ 1470 w 1687"/>
              <a:gd name="T61" fmla="*/ 908 h 1637"/>
              <a:gd name="T62" fmla="*/ 1470 w 1687"/>
              <a:gd name="T63" fmla="*/ 1548 h 1637"/>
              <a:gd name="T64" fmla="*/ 1399 w 1687"/>
              <a:gd name="T65" fmla="*/ 958 h 1637"/>
              <a:gd name="T66" fmla="*/ 1399 w 1687"/>
              <a:gd name="T67" fmla="*/ 958 h 1637"/>
              <a:gd name="T68" fmla="*/ 1399 w 1687"/>
              <a:gd name="T69" fmla="*/ 1498 h 1637"/>
              <a:gd name="T70" fmla="*/ 1380 w 1687"/>
              <a:gd name="T71" fmla="*/ 1517 h 1637"/>
              <a:gd name="T72" fmla="*/ 1362 w 1687"/>
              <a:gd name="T73" fmla="*/ 1498 h 1637"/>
              <a:gd name="T74" fmla="*/ 1362 w 1687"/>
              <a:gd name="T75" fmla="*/ 958 h 1637"/>
              <a:gd name="T76" fmla="*/ 1380 w 1687"/>
              <a:gd name="T77" fmla="*/ 939 h 1637"/>
              <a:gd name="T78" fmla="*/ 1399 w 1687"/>
              <a:gd name="T79" fmla="*/ 958 h 1637"/>
              <a:gd name="T80" fmla="*/ 65 w 1687"/>
              <a:gd name="T81" fmla="*/ 1228 h 1637"/>
              <a:gd name="T82" fmla="*/ 118 w 1687"/>
              <a:gd name="T83" fmla="*/ 1282 h 1637"/>
              <a:gd name="T84" fmla="*/ 172 w 1687"/>
              <a:gd name="T85" fmla="*/ 1228 h 1637"/>
              <a:gd name="T86" fmla="*/ 118 w 1687"/>
              <a:gd name="T87" fmla="*/ 1174 h 1637"/>
              <a:gd name="T88" fmla="*/ 65 w 1687"/>
              <a:gd name="T89" fmla="*/ 1228 h 1637"/>
              <a:gd name="T90" fmla="*/ 65 w 1687"/>
              <a:gd name="T91" fmla="*/ 1228 h 1637"/>
              <a:gd name="T92" fmla="*/ 255 w 1687"/>
              <a:gd name="T93" fmla="*/ 870 h 1637"/>
              <a:gd name="T94" fmla="*/ 255 w 1687"/>
              <a:gd name="T95" fmla="*/ 870 h 1637"/>
              <a:gd name="T96" fmla="*/ 1280 w 1687"/>
              <a:gd name="T97" fmla="*/ 870 h 1637"/>
              <a:gd name="T98" fmla="*/ 1280 w 1687"/>
              <a:gd name="T99" fmla="*/ 1586 h 1637"/>
              <a:gd name="T100" fmla="*/ 255 w 1687"/>
              <a:gd name="T101" fmla="*/ 1586 h 1637"/>
              <a:gd name="T102" fmla="*/ 255 w 1687"/>
              <a:gd name="T103" fmla="*/ 870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87" h="1637">
                <a:moveTo>
                  <a:pt x="1687" y="89"/>
                </a:moveTo>
                <a:cubicBezTo>
                  <a:pt x="1687" y="40"/>
                  <a:pt x="1647" y="0"/>
                  <a:pt x="1598" y="0"/>
                </a:cubicBezTo>
                <a:cubicBezTo>
                  <a:pt x="959" y="0"/>
                  <a:pt x="959" y="0"/>
                  <a:pt x="959" y="0"/>
                </a:cubicBezTo>
                <a:cubicBezTo>
                  <a:pt x="909" y="0"/>
                  <a:pt x="869" y="40"/>
                  <a:pt x="869" y="89"/>
                </a:cubicBezTo>
                <a:cubicBezTo>
                  <a:pt x="869" y="755"/>
                  <a:pt x="869" y="755"/>
                  <a:pt x="869" y="755"/>
                </a:cubicBezTo>
                <a:cubicBezTo>
                  <a:pt x="920" y="755"/>
                  <a:pt x="920" y="755"/>
                  <a:pt x="920" y="755"/>
                </a:cubicBezTo>
                <a:cubicBezTo>
                  <a:pt x="920" y="190"/>
                  <a:pt x="920" y="190"/>
                  <a:pt x="920" y="190"/>
                </a:cubicBezTo>
                <a:cubicBezTo>
                  <a:pt x="1636" y="190"/>
                  <a:pt x="1636" y="190"/>
                  <a:pt x="1636" y="190"/>
                </a:cubicBezTo>
                <a:cubicBezTo>
                  <a:pt x="1636" y="1214"/>
                  <a:pt x="1636" y="1214"/>
                  <a:pt x="1636" y="1214"/>
                </a:cubicBezTo>
                <a:cubicBezTo>
                  <a:pt x="1535" y="1214"/>
                  <a:pt x="1535" y="1214"/>
                  <a:pt x="1535" y="1214"/>
                </a:cubicBezTo>
                <a:cubicBezTo>
                  <a:pt x="1535" y="1469"/>
                  <a:pt x="1535" y="1469"/>
                  <a:pt x="1535" y="1469"/>
                </a:cubicBezTo>
                <a:cubicBezTo>
                  <a:pt x="1598" y="1469"/>
                  <a:pt x="1598" y="1469"/>
                  <a:pt x="1598" y="1469"/>
                </a:cubicBezTo>
                <a:cubicBezTo>
                  <a:pt x="1647" y="1469"/>
                  <a:pt x="1687" y="1430"/>
                  <a:pt x="1687" y="1380"/>
                </a:cubicBezTo>
                <a:cubicBezTo>
                  <a:pt x="1687" y="89"/>
                  <a:pt x="1687" y="89"/>
                  <a:pt x="1687" y="89"/>
                </a:cubicBezTo>
                <a:cubicBezTo>
                  <a:pt x="1687" y="89"/>
                  <a:pt x="1687" y="89"/>
                  <a:pt x="1687" y="89"/>
                </a:cubicBezTo>
                <a:close/>
                <a:moveTo>
                  <a:pt x="1548" y="108"/>
                </a:moveTo>
                <a:cubicBezTo>
                  <a:pt x="1548" y="108"/>
                  <a:pt x="1548" y="108"/>
                  <a:pt x="1548" y="108"/>
                </a:cubicBezTo>
                <a:cubicBezTo>
                  <a:pt x="1008" y="108"/>
                  <a:pt x="1008" y="108"/>
                  <a:pt x="1008" y="108"/>
                </a:cubicBezTo>
                <a:cubicBezTo>
                  <a:pt x="998" y="108"/>
                  <a:pt x="990" y="100"/>
                  <a:pt x="990" y="89"/>
                </a:cubicBezTo>
                <a:cubicBezTo>
                  <a:pt x="990" y="79"/>
                  <a:pt x="998" y="71"/>
                  <a:pt x="1008" y="71"/>
                </a:cubicBezTo>
                <a:cubicBezTo>
                  <a:pt x="1548" y="71"/>
                  <a:pt x="1548" y="71"/>
                  <a:pt x="1548" y="71"/>
                </a:cubicBezTo>
                <a:cubicBezTo>
                  <a:pt x="1558" y="71"/>
                  <a:pt x="1567" y="79"/>
                  <a:pt x="1567" y="89"/>
                </a:cubicBezTo>
                <a:cubicBezTo>
                  <a:pt x="1567" y="100"/>
                  <a:pt x="1558" y="108"/>
                  <a:pt x="1548" y="108"/>
                </a:cubicBezTo>
                <a:close/>
                <a:moveTo>
                  <a:pt x="1470" y="1548"/>
                </a:moveTo>
                <a:cubicBezTo>
                  <a:pt x="1470" y="1597"/>
                  <a:pt x="1430" y="1637"/>
                  <a:pt x="1381" y="1637"/>
                </a:cubicBezTo>
                <a:cubicBezTo>
                  <a:pt x="89" y="1637"/>
                  <a:pt x="89" y="1637"/>
                  <a:pt x="89" y="1637"/>
                </a:cubicBezTo>
                <a:cubicBezTo>
                  <a:pt x="40" y="1637"/>
                  <a:pt x="0" y="1597"/>
                  <a:pt x="0" y="1548"/>
                </a:cubicBezTo>
                <a:cubicBezTo>
                  <a:pt x="0" y="908"/>
                  <a:pt x="0" y="908"/>
                  <a:pt x="0" y="908"/>
                </a:cubicBezTo>
                <a:cubicBezTo>
                  <a:pt x="0" y="859"/>
                  <a:pt x="40" y="819"/>
                  <a:pt x="89" y="819"/>
                </a:cubicBezTo>
                <a:cubicBezTo>
                  <a:pt x="1381" y="819"/>
                  <a:pt x="1381" y="819"/>
                  <a:pt x="1381" y="819"/>
                </a:cubicBezTo>
                <a:cubicBezTo>
                  <a:pt x="1430" y="819"/>
                  <a:pt x="1470" y="859"/>
                  <a:pt x="1470" y="908"/>
                </a:cubicBezTo>
                <a:cubicBezTo>
                  <a:pt x="1470" y="1548"/>
                  <a:pt x="1470" y="1548"/>
                  <a:pt x="1470" y="1548"/>
                </a:cubicBezTo>
                <a:close/>
                <a:moveTo>
                  <a:pt x="1399" y="958"/>
                </a:moveTo>
                <a:cubicBezTo>
                  <a:pt x="1399" y="958"/>
                  <a:pt x="1399" y="958"/>
                  <a:pt x="1399" y="958"/>
                </a:cubicBezTo>
                <a:cubicBezTo>
                  <a:pt x="1399" y="1498"/>
                  <a:pt x="1399" y="1498"/>
                  <a:pt x="1399" y="1498"/>
                </a:cubicBezTo>
                <a:cubicBezTo>
                  <a:pt x="1399" y="1508"/>
                  <a:pt x="1391" y="1517"/>
                  <a:pt x="1380" y="1517"/>
                </a:cubicBezTo>
                <a:cubicBezTo>
                  <a:pt x="1370" y="1517"/>
                  <a:pt x="1362" y="1508"/>
                  <a:pt x="1362" y="1498"/>
                </a:cubicBezTo>
                <a:cubicBezTo>
                  <a:pt x="1362" y="958"/>
                  <a:pt x="1362" y="958"/>
                  <a:pt x="1362" y="958"/>
                </a:cubicBezTo>
                <a:cubicBezTo>
                  <a:pt x="1362" y="948"/>
                  <a:pt x="1370" y="939"/>
                  <a:pt x="1380" y="939"/>
                </a:cubicBezTo>
                <a:cubicBezTo>
                  <a:pt x="1391" y="939"/>
                  <a:pt x="1399" y="948"/>
                  <a:pt x="1399" y="958"/>
                </a:cubicBezTo>
                <a:close/>
                <a:moveTo>
                  <a:pt x="65" y="1228"/>
                </a:moveTo>
                <a:cubicBezTo>
                  <a:pt x="65" y="1258"/>
                  <a:pt x="88" y="1282"/>
                  <a:pt x="118" y="1282"/>
                </a:cubicBezTo>
                <a:cubicBezTo>
                  <a:pt x="148" y="1282"/>
                  <a:pt x="172" y="1258"/>
                  <a:pt x="172" y="1228"/>
                </a:cubicBezTo>
                <a:cubicBezTo>
                  <a:pt x="172" y="1198"/>
                  <a:pt x="148" y="1174"/>
                  <a:pt x="118" y="1174"/>
                </a:cubicBezTo>
                <a:cubicBezTo>
                  <a:pt x="88" y="1174"/>
                  <a:pt x="65" y="1198"/>
                  <a:pt x="65" y="1228"/>
                </a:cubicBezTo>
                <a:cubicBezTo>
                  <a:pt x="65" y="1228"/>
                  <a:pt x="65" y="1228"/>
                  <a:pt x="65" y="1228"/>
                </a:cubicBezTo>
                <a:close/>
                <a:moveTo>
                  <a:pt x="255" y="870"/>
                </a:moveTo>
                <a:cubicBezTo>
                  <a:pt x="255" y="870"/>
                  <a:pt x="255" y="870"/>
                  <a:pt x="255" y="870"/>
                </a:cubicBezTo>
                <a:cubicBezTo>
                  <a:pt x="1280" y="870"/>
                  <a:pt x="1280" y="870"/>
                  <a:pt x="1280" y="870"/>
                </a:cubicBezTo>
                <a:cubicBezTo>
                  <a:pt x="1280" y="1586"/>
                  <a:pt x="1280" y="1586"/>
                  <a:pt x="1280" y="1586"/>
                </a:cubicBezTo>
                <a:cubicBezTo>
                  <a:pt x="255" y="1586"/>
                  <a:pt x="255" y="1586"/>
                  <a:pt x="255" y="1586"/>
                </a:cubicBezTo>
                <a:lnTo>
                  <a:pt x="255" y="870"/>
                </a:ln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1" name="Freeform 27"/>
          <p:cNvSpPr>
            <a:spLocks noEditPoints="1"/>
          </p:cNvSpPr>
          <p:nvPr/>
        </p:nvSpPr>
        <p:spPr bwMode="auto">
          <a:xfrm>
            <a:off x="7892763" y="2608326"/>
            <a:ext cx="376711" cy="376761"/>
          </a:xfrm>
          <a:custGeom>
            <a:avLst/>
            <a:gdLst>
              <a:gd name="T0" fmla="*/ 1723 w 1838"/>
              <a:gd name="T1" fmla="*/ 0 h 1838"/>
              <a:gd name="T2" fmla="*/ 115 w 1838"/>
              <a:gd name="T3" fmla="*/ 0 h 1838"/>
              <a:gd name="T4" fmla="*/ 0 w 1838"/>
              <a:gd name="T5" fmla="*/ 115 h 1838"/>
              <a:gd name="T6" fmla="*/ 0 w 1838"/>
              <a:gd name="T7" fmla="*/ 1321 h 1838"/>
              <a:gd name="T8" fmla="*/ 115 w 1838"/>
              <a:gd name="T9" fmla="*/ 1436 h 1838"/>
              <a:gd name="T10" fmla="*/ 1723 w 1838"/>
              <a:gd name="T11" fmla="*/ 1436 h 1838"/>
              <a:gd name="T12" fmla="*/ 1838 w 1838"/>
              <a:gd name="T13" fmla="*/ 1321 h 1838"/>
              <a:gd name="T14" fmla="*/ 1838 w 1838"/>
              <a:gd name="T15" fmla="*/ 115 h 1838"/>
              <a:gd name="T16" fmla="*/ 1723 w 1838"/>
              <a:gd name="T17" fmla="*/ 0 h 1838"/>
              <a:gd name="T18" fmla="*/ 1723 w 1838"/>
              <a:gd name="T19" fmla="*/ 1034 h 1838"/>
              <a:gd name="T20" fmla="*/ 1723 w 1838"/>
              <a:gd name="T21" fmla="*/ 1034 h 1838"/>
              <a:gd name="T22" fmla="*/ 1608 w 1838"/>
              <a:gd name="T23" fmla="*/ 1149 h 1838"/>
              <a:gd name="T24" fmla="*/ 230 w 1838"/>
              <a:gd name="T25" fmla="*/ 1149 h 1838"/>
              <a:gd name="T26" fmla="*/ 115 w 1838"/>
              <a:gd name="T27" fmla="*/ 1034 h 1838"/>
              <a:gd name="T28" fmla="*/ 115 w 1838"/>
              <a:gd name="T29" fmla="*/ 230 h 1838"/>
              <a:gd name="T30" fmla="*/ 230 w 1838"/>
              <a:gd name="T31" fmla="*/ 115 h 1838"/>
              <a:gd name="T32" fmla="*/ 1608 w 1838"/>
              <a:gd name="T33" fmla="*/ 115 h 1838"/>
              <a:gd name="T34" fmla="*/ 1723 w 1838"/>
              <a:gd name="T35" fmla="*/ 230 h 1838"/>
              <a:gd name="T36" fmla="*/ 1723 w 1838"/>
              <a:gd name="T37" fmla="*/ 1034 h 1838"/>
              <a:gd name="T38" fmla="*/ 1034 w 1838"/>
              <a:gd name="T39" fmla="*/ 1493 h 1838"/>
              <a:gd name="T40" fmla="*/ 1034 w 1838"/>
              <a:gd name="T41" fmla="*/ 1493 h 1838"/>
              <a:gd name="T42" fmla="*/ 1091 w 1838"/>
              <a:gd name="T43" fmla="*/ 1551 h 1838"/>
              <a:gd name="T44" fmla="*/ 1091 w 1838"/>
              <a:gd name="T45" fmla="*/ 1608 h 1838"/>
              <a:gd name="T46" fmla="*/ 1137 w 1838"/>
              <a:gd name="T47" fmla="*/ 1700 h 1838"/>
              <a:gd name="T48" fmla="*/ 1275 w 1838"/>
              <a:gd name="T49" fmla="*/ 1804 h 1838"/>
              <a:gd name="T50" fmla="*/ 1264 w 1838"/>
              <a:gd name="T51" fmla="*/ 1838 h 1838"/>
              <a:gd name="T52" fmla="*/ 574 w 1838"/>
              <a:gd name="T53" fmla="*/ 1838 h 1838"/>
              <a:gd name="T54" fmla="*/ 563 w 1838"/>
              <a:gd name="T55" fmla="*/ 1804 h 1838"/>
              <a:gd name="T56" fmla="*/ 701 w 1838"/>
              <a:gd name="T57" fmla="*/ 1700 h 1838"/>
              <a:gd name="T58" fmla="*/ 747 w 1838"/>
              <a:gd name="T59" fmla="*/ 1608 h 1838"/>
              <a:gd name="T60" fmla="*/ 747 w 1838"/>
              <a:gd name="T61" fmla="*/ 1551 h 1838"/>
              <a:gd name="T62" fmla="*/ 804 w 1838"/>
              <a:gd name="T63" fmla="*/ 1493 h 1838"/>
              <a:gd name="T64" fmla="*/ 1034 w 1838"/>
              <a:gd name="T65" fmla="*/ 1493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8" h="1838">
                <a:moveTo>
                  <a:pt x="1723" y="0"/>
                </a:moveTo>
                <a:cubicBezTo>
                  <a:pt x="115" y="0"/>
                  <a:pt x="115" y="0"/>
                  <a:pt x="115" y="0"/>
                </a:cubicBezTo>
                <a:cubicBezTo>
                  <a:pt x="52" y="0"/>
                  <a:pt x="0" y="52"/>
                  <a:pt x="0" y="115"/>
                </a:cubicBezTo>
                <a:cubicBezTo>
                  <a:pt x="0" y="1321"/>
                  <a:pt x="0" y="1321"/>
                  <a:pt x="0" y="1321"/>
                </a:cubicBezTo>
                <a:cubicBezTo>
                  <a:pt x="0" y="1385"/>
                  <a:pt x="52" y="1436"/>
                  <a:pt x="115" y="1436"/>
                </a:cubicBezTo>
                <a:cubicBezTo>
                  <a:pt x="1723" y="1436"/>
                  <a:pt x="1723" y="1436"/>
                  <a:pt x="1723" y="1436"/>
                </a:cubicBezTo>
                <a:cubicBezTo>
                  <a:pt x="1786" y="1436"/>
                  <a:pt x="1838" y="1385"/>
                  <a:pt x="1838" y="1321"/>
                </a:cubicBezTo>
                <a:cubicBezTo>
                  <a:pt x="1838" y="115"/>
                  <a:pt x="1838" y="115"/>
                  <a:pt x="1838" y="115"/>
                </a:cubicBezTo>
                <a:cubicBezTo>
                  <a:pt x="1838" y="52"/>
                  <a:pt x="1786" y="0"/>
                  <a:pt x="1723" y="0"/>
                </a:cubicBezTo>
                <a:close/>
                <a:moveTo>
                  <a:pt x="1723" y="1034"/>
                </a:moveTo>
                <a:cubicBezTo>
                  <a:pt x="1723" y="1034"/>
                  <a:pt x="1723" y="1034"/>
                  <a:pt x="1723" y="1034"/>
                </a:cubicBezTo>
                <a:cubicBezTo>
                  <a:pt x="1723" y="1098"/>
                  <a:pt x="1671" y="1149"/>
                  <a:pt x="1608" y="1149"/>
                </a:cubicBezTo>
                <a:cubicBezTo>
                  <a:pt x="230" y="1149"/>
                  <a:pt x="230" y="1149"/>
                  <a:pt x="230" y="1149"/>
                </a:cubicBezTo>
                <a:cubicBezTo>
                  <a:pt x="166" y="1149"/>
                  <a:pt x="115" y="1098"/>
                  <a:pt x="115" y="1034"/>
                </a:cubicBezTo>
                <a:cubicBezTo>
                  <a:pt x="115" y="230"/>
                  <a:pt x="115" y="230"/>
                  <a:pt x="115" y="230"/>
                </a:cubicBezTo>
                <a:cubicBezTo>
                  <a:pt x="115" y="167"/>
                  <a:pt x="167" y="115"/>
                  <a:pt x="230" y="115"/>
                </a:cubicBezTo>
                <a:cubicBezTo>
                  <a:pt x="1608" y="115"/>
                  <a:pt x="1608" y="115"/>
                  <a:pt x="1608" y="115"/>
                </a:cubicBezTo>
                <a:cubicBezTo>
                  <a:pt x="1671" y="115"/>
                  <a:pt x="1723" y="167"/>
                  <a:pt x="1723" y="230"/>
                </a:cubicBezTo>
                <a:cubicBezTo>
                  <a:pt x="1723" y="1034"/>
                  <a:pt x="1723" y="1034"/>
                  <a:pt x="1723" y="1034"/>
                </a:cubicBezTo>
                <a:close/>
                <a:moveTo>
                  <a:pt x="1034" y="1493"/>
                </a:moveTo>
                <a:cubicBezTo>
                  <a:pt x="1034" y="1493"/>
                  <a:pt x="1034" y="1493"/>
                  <a:pt x="1034" y="1493"/>
                </a:cubicBezTo>
                <a:cubicBezTo>
                  <a:pt x="1065" y="1493"/>
                  <a:pt x="1091" y="1519"/>
                  <a:pt x="1091" y="1551"/>
                </a:cubicBezTo>
                <a:cubicBezTo>
                  <a:pt x="1091" y="1608"/>
                  <a:pt x="1091" y="1608"/>
                  <a:pt x="1091" y="1608"/>
                </a:cubicBezTo>
                <a:cubicBezTo>
                  <a:pt x="1091" y="1640"/>
                  <a:pt x="1112" y="1681"/>
                  <a:pt x="1137" y="1700"/>
                </a:cubicBezTo>
                <a:cubicBezTo>
                  <a:pt x="1275" y="1804"/>
                  <a:pt x="1275" y="1804"/>
                  <a:pt x="1275" y="1804"/>
                </a:cubicBezTo>
                <a:cubicBezTo>
                  <a:pt x="1300" y="1823"/>
                  <a:pt x="1295" y="1838"/>
                  <a:pt x="1264" y="1838"/>
                </a:cubicBezTo>
                <a:cubicBezTo>
                  <a:pt x="574" y="1838"/>
                  <a:pt x="574" y="1838"/>
                  <a:pt x="574" y="1838"/>
                </a:cubicBezTo>
                <a:cubicBezTo>
                  <a:pt x="543" y="1838"/>
                  <a:pt x="538" y="1823"/>
                  <a:pt x="563" y="1804"/>
                </a:cubicBezTo>
                <a:cubicBezTo>
                  <a:pt x="701" y="1700"/>
                  <a:pt x="701" y="1700"/>
                  <a:pt x="701" y="1700"/>
                </a:cubicBezTo>
                <a:cubicBezTo>
                  <a:pt x="726" y="1681"/>
                  <a:pt x="747" y="1640"/>
                  <a:pt x="747" y="1608"/>
                </a:cubicBezTo>
                <a:cubicBezTo>
                  <a:pt x="747" y="1551"/>
                  <a:pt x="747" y="1551"/>
                  <a:pt x="747" y="1551"/>
                </a:cubicBezTo>
                <a:cubicBezTo>
                  <a:pt x="747" y="1519"/>
                  <a:pt x="773" y="1493"/>
                  <a:pt x="804" y="1493"/>
                </a:cubicBezTo>
                <a:lnTo>
                  <a:pt x="1034" y="1493"/>
                </a:ln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2" name="Freeform 28"/>
          <p:cNvSpPr>
            <a:spLocks noEditPoints="1"/>
          </p:cNvSpPr>
          <p:nvPr/>
        </p:nvSpPr>
        <p:spPr bwMode="auto">
          <a:xfrm>
            <a:off x="9803413" y="2374603"/>
            <a:ext cx="527649" cy="845208"/>
          </a:xfrm>
          <a:custGeom>
            <a:avLst/>
            <a:gdLst>
              <a:gd name="T0" fmla="*/ 804 w 1148"/>
              <a:gd name="T1" fmla="*/ 1493 h 1838"/>
              <a:gd name="T2" fmla="*/ 746 w 1148"/>
              <a:gd name="T3" fmla="*/ 1551 h 1838"/>
              <a:gd name="T4" fmla="*/ 402 w 1148"/>
              <a:gd name="T5" fmla="*/ 1551 h 1838"/>
              <a:gd name="T6" fmla="*/ 344 w 1148"/>
              <a:gd name="T7" fmla="*/ 1493 h 1838"/>
              <a:gd name="T8" fmla="*/ 402 w 1148"/>
              <a:gd name="T9" fmla="*/ 1436 h 1838"/>
              <a:gd name="T10" fmla="*/ 746 w 1148"/>
              <a:gd name="T11" fmla="*/ 1436 h 1838"/>
              <a:gd name="T12" fmla="*/ 804 w 1148"/>
              <a:gd name="T13" fmla="*/ 1493 h 1838"/>
              <a:gd name="T14" fmla="*/ 746 w 1148"/>
              <a:gd name="T15" fmla="*/ 1608 h 1838"/>
              <a:gd name="T16" fmla="*/ 746 w 1148"/>
              <a:gd name="T17" fmla="*/ 1608 h 1838"/>
              <a:gd name="T18" fmla="*/ 402 w 1148"/>
              <a:gd name="T19" fmla="*/ 1608 h 1838"/>
              <a:gd name="T20" fmla="*/ 344 w 1148"/>
              <a:gd name="T21" fmla="*/ 1666 h 1838"/>
              <a:gd name="T22" fmla="*/ 402 w 1148"/>
              <a:gd name="T23" fmla="*/ 1723 h 1838"/>
              <a:gd name="T24" fmla="*/ 516 w 1148"/>
              <a:gd name="T25" fmla="*/ 1838 h 1838"/>
              <a:gd name="T26" fmla="*/ 631 w 1148"/>
              <a:gd name="T27" fmla="*/ 1838 h 1838"/>
              <a:gd name="T28" fmla="*/ 746 w 1148"/>
              <a:gd name="T29" fmla="*/ 1723 h 1838"/>
              <a:gd name="T30" fmla="*/ 804 w 1148"/>
              <a:gd name="T31" fmla="*/ 1666 h 1838"/>
              <a:gd name="T32" fmla="*/ 746 w 1148"/>
              <a:gd name="T33" fmla="*/ 1608 h 1838"/>
              <a:gd name="T34" fmla="*/ 574 w 1148"/>
              <a:gd name="T35" fmla="*/ 115 h 1838"/>
              <a:gd name="T36" fmla="*/ 574 w 1148"/>
              <a:gd name="T37" fmla="*/ 115 h 1838"/>
              <a:gd name="T38" fmla="*/ 1033 w 1148"/>
              <a:gd name="T39" fmla="*/ 575 h 1838"/>
              <a:gd name="T40" fmla="*/ 803 w 1148"/>
              <a:gd name="T41" fmla="*/ 970 h 1838"/>
              <a:gd name="T42" fmla="*/ 746 w 1148"/>
              <a:gd name="T43" fmla="*/ 1003 h 1838"/>
              <a:gd name="T44" fmla="*/ 746 w 1148"/>
              <a:gd name="T45" fmla="*/ 1264 h 1838"/>
              <a:gd name="T46" fmla="*/ 402 w 1148"/>
              <a:gd name="T47" fmla="*/ 1264 h 1838"/>
              <a:gd name="T48" fmla="*/ 402 w 1148"/>
              <a:gd name="T49" fmla="*/ 1003 h 1838"/>
              <a:gd name="T50" fmla="*/ 345 w 1148"/>
              <a:gd name="T51" fmla="*/ 970 h 1838"/>
              <a:gd name="T52" fmla="*/ 115 w 1148"/>
              <a:gd name="T53" fmla="*/ 575 h 1838"/>
              <a:gd name="T54" fmla="*/ 574 w 1148"/>
              <a:gd name="T55" fmla="*/ 115 h 1838"/>
              <a:gd name="T56" fmla="*/ 574 w 1148"/>
              <a:gd name="T57" fmla="*/ 0 h 1838"/>
              <a:gd name="T58" fmla="*/ 574 w 1148"/>
              <a:gd name="T59" fmla="*/ 0 h 1838"/>
              <a:gd name="T60" fmla="*/ 0 w 1148"/>
              <a:gd name="T61" fmla="*/ 575 h 1838"/>
              <a:gd name="T62" fmla="*/ 287 w 1148"/>
              <a:gd name="T63" fmla="*/ 1069 h 1838"/>
              <a:gd name="T64" fmla="*/ 287 w 1148"/>
              <a:gd name="T65" fmla="*/ 1264 h 1838"/>
              <a:gd name="T66" fmla="*/ 402 w 1148"/>
              <a:gd name="T67" fmla="*/ 1379 h 1838"/>
              <a:gd name="T68" fmla="*/ 746 w 1148"/>
              <a:gd name="T69" fmla="*/ 1379 h 1838"/>
              <a:gd name="T70" fmla="*/ 861 w 1148"/>
              <a:gd name="T71" fmla="*/ 1264 h 1838"/>
              <a:gd name="T72" fmla="*/ 861 w 1148"/>
              <a:gd name="T73" fmla="*/ 1069 h 1838"/>
              <a:gd name="T74" fmla="*/ 1148 w 1148"/>
              <a:gd name="T75" fmla="*/ 575 h 1838"/>
              <a:gd name="T76" fmla="*/ 574 w 1148"/>
              <a:gd name="T77" fmla="*/ 0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48" h="1838">
                <a:moveTo>
                  <a:pt x="804" y="1493"/>
                </a:moveTo>
                <a:cubicBezTo>
                  <a:pt x="804" y="1525"/>
                  <a:pt x="778" y="1551"/>
                  <a:pt x="746" y="1551"/>
                </a:cubicBezTo>
                <a:cubicBezTo>
                  <a:pt x="402" y="1551"/>
                  <a:pt x="402" y="1551"/>
                  <a:pt x="402" y="1551"/>
                </a:cubicBezTo>
                <a:cubicBezTo>
                  <a:pt x="370" y="1551"/>
                  <a:pt x="344" y="1525"/>
                  <a:pt x="344" y="1493"/>
                </a:cubicBezTo>
                <a:cubicBezTo>
                  <a:pt x="344" y="1462"/>
                  <a:pt x="370" y="1436"/>
                  <a:pt x="402" y="1436"/>
                </a:cubicBezTo>
                <a:cubicBezTo>
                  <a:pt x="746" y="1436"/>
                  <a:pt x="746" y="1436"/>
                  <a:pt x="746" y="1436"/>
                </a:cubicBezTo>
                <a:cubicBezTo>
                  <a:pt x="778" y="1436"/>
                  <a:pt x="804" y="1462"/>
                  <a:pt x="804" y="1493"/>
                </a:cubicBezTo>
                <a:close/>
                <a:moveTo>
                  <a:pt x="746" y="1608"/>
                </a:moveTo>
                <a:cubicBezTo>
                  <a:pt x="746" y="1608"/>
                  <a:pt x="746" y="1608"/>
                  <a:pt x="746" y="1608"/>
                </a:cubicBezTo>
                <a:cubicBezTo>
                  <a:pt x="402" y="1608"/>
                  <a:pt x="402" y="1608"/>
                  <a:pt x="402" y="1608"/>
                </a:cubicBezTo>
                <a:cubicBezTo>
                  <a:pt x="370" y="1608"/>
                  <a:pt x="344" y="1634"/>
                  <a:pt x="344" y="1666"/>
                </a:cubicBezTo>
                <a:cubicBezTo>
                  <a:pt x="344" y="1697"/>
                  <a:pt x="370" y="1723"/>
                  <a:pt x="402" y="1723"/>
                </a:cubicBezTo>
                <a:cubicBezTo>
                  <a:pt x="402" y="1787"/>
                  <a:pt x="453" y="1838"/>
                  <a:pt x="516" y="1838"/>
                </a:cubicBezTo>
                <a:cubicBezTo>
                  <a:pt x="631" y="1838"/>
                  <a:pt x="631" y="1838"/>
                  <a:pt x="631" y="1838"/>
                </a:cubicBezTo>
                <a:cubicBezTo>
                  <a:pt x="695" y="1838"/>
                  <a:pt x="746" y="1787"/>
                  <a:pt x="746" y="1723"/>
                </a:cubicBezTo>
                <a:cubicBezTo>
                  <a:pt x="778" y="1723"/>
                  <a:pt x="804" y="1697"/>
                  <a:pt x="804" y="1666"/>
                </a:cubicBezTo>
                <a:cubicBezTo>
                  <a:pt x="804" y="1634"/>
                  <a:pt x="778" y="1608"/>
                  <a:pt x="746" y="1608"/>
                </a:cubicBezTo>
                <a:close/>
                <a:moveTo>
                  <a:pt x="574" y="115"/>
                </a:moveTo>
                <a:cubicBezTo>
                  <a:pt x="574" y="115"/>
                  <a:pt x="574" y="115"/>
                  <a:pt x="574" y="115"/>
                </a:cubicBezTo>
                <a:cubicBezTo>
                  <a:pt x="827" y="115"/>
                  <a:pt x="1033" y="321"/>
                  <a:pt x="1033" y="575"/>
                </a:cubicBezTo>
                <a:cubicBezTo>
                  <a:pt x="1033" y="738"/>
                  <a:pt x="947" y="886"/>
                  <a:pt x="803" y="970"/>
                </a:cubicBezTo>
                <a:cubicBezTo>
                  <a:pt x="746" y="1003"/>
                  <a:pt x="746" y="1003"/>
                  <a:pt x="746" y="1003"/>
                </a:cubicBezTo>
                <a:cubicBezTo>
                  <a:pt x="746" y="1264"/>
                  <a:pt x="746" y="1264"/>
                  <a:pt x="746" y="1264"/>
                </a:cubicBezTo>
                <a:cubicBezTo>
                  <a:pt x="402" y="1264"/>
                  <a:pt x="402" y="1264"/>
                  <a:pt x="402" y="1264"/>
                </a:cubicBezTo>
                <a:cubicBezTo>
                  <a:pt x="402" y="1003"/>
                  <a:pt x="402" y="1003"/>
                  <a:pt x="402" y="1003"/>
                </a:cubicBezTo>
                <a:cubicBezTo>
                  <a:pt x="345" y="970"/>
                  <a:pt x="345" y="970"/>
                  <a:pt x="345" y="970"/>
                </a:cubicBezTo>
                <a:cubicBezTo>
                  <a:pt x="200" y="886"/>
                  <a:pt x="115" y="738"/>
                  <a:pt x="115" y="575"/>
                </a:cubicBezTo>
                <a:cubicBezTo>
                  <a:pt x="115" y="321"/>
                  <a:pt x="321" y="115"/>
                  <a:pt x="574" y="115"/>
                </a:cubicBezTo>
                <a:close/>
                <a:moveTo>
                  <a:pt x="574" y="0"/>
                </a:moveTo>
                <a:cubicBezTo>
                  <a:pt x="574" y="0"/>
                  <a:pt x="574" y="0"/>
                  <a:pt x="574" y="0"/>
                </a:cubicBezTo>
                <a:cubicBezTo>
                  <a:pt x="257" y="0"/>
                  <a:pt x="0" y="258"/>
                  <a:pt x="0" y="575"/>
                </a:cubicBezTo>
                <a:cubicBezTo>
                  <a:pt x="0" y="787"/>
                  <a:pt x="116" y="970"/>
                  <a:pt x="287" y="1069"/>
                </a:cubicBezTo>
                <a:cubicBezTo>
                  <a:pt x="287" y="1264"/>
                  <a:pt x="287" y="1264"/>
                  <a:pt x="287" y="1264"/>
                </a:cubicBezTo>
                <a:cubicBezTo>
                  <a:pt x="287" y="1327"/>
                  <a:pt x="338" y="1379"/>
                  <a:pt x="402" y="1379"/>
                </a:cubicBezTo>
                <a:cubicBezTo>
                  <a:pt x="746" y="1379"/>
                  <a:pt x="746" y="1379"/>
                  <a:pt x="746" y="1379"/>
                </a:cubicBezTo>
                <a:cubicBezTo>
                  <a:pt x="810" y="1379"/>
                  <a:pt x="861" y="1327"/>
                  <a:pt x="861" y="1264"/>
                </a:cubicBezTo>
                <a:cubicBezTo>
                  <a:pt x="861" y="1069"/>
                  <a:pt x="861" y="1069"/>
                  <a:pt x="861" y="1069"/>
                </a:cubicBezTo>
                <a:cubicBezTo>
                  <a:pt x="1032" y="970"/>
                  <a:pt x="1148" y="787"/>
                  <a:pt x="1148" y="575"/>
                </a:cubicBezTo>
                <a:cubicBezTo>
                  <a:pt x="1148" y="258"/>
                  <a:pt x="891" y="0"/>
                  <a:pt x="574" y="0"/>
                </a:cubicBez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3" name="TextBox 30"/>
          <p:cNvSpPr txBox="1"/>
          <p:nvPr/>
        </p:nvSpPr>
        <p:spPr>
          <a:xfrm>
            <a:off x="1306097" y="4010684"/>
            <a:ext cx="1637334" cy="423545"/>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background</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4" name="TextBox 30"/>
          <p:cNvSpPr txBox="1"/>
          <p:nvPr/>
        </p:nvSpPr>
        <p:spPr>
          <a:xfrm>
            <a:off x="3300426" y="3707931"/>
            <a:ext cx="1637334" cy="939800"/>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mn-ea"/>
              </a:rPr>
              <a:t>Material and Method</a:t>
            </a:r>
            <a:endParaRPr lang="en-US" altLang="zh-CN" sz="1000"/>
          </a:p>
          <a:p>
            <a:pPr algn="ctr">
              <a:lnSpc>
                <a:spcPct val="120000"/>
              </a:lnSpc>
            </a:pPr>
            <a:endParaRPr lang="en-US" altLang="zh-CN" sz="10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5" name="TextBox 30"/>
          <p:cNvSpPr txBox="1"/>
          <p:nvPr/>
        </p:nvSpPr>
        <p:spPr>
          <a:xfrm>
            <a:off x="5294755" y="4010684"/>
            <a:ext cx="1637334" cy="423545"/>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Results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6" name="TextBox 30"/>
          <p:cNvSpPr txBox="1"/>
          <p:nvPr/>
        </p:nvSpPr>
        <p:spPr>
          <a:xfrm>
            <a:off x="7329724" y="4010826"/>
            <a:ext cx="1637334" cy="423545"/>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 conclusion</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7" name="TextBox 30"/>
          <p:cNvSpPr txBox="1"/>
          <p:nvPr/>
        </p:nvSpPr>
        <p:spPr>
          <a:xfrm>
            <a:off x="9248570" y="3707789"/>
            <a:ext cx="1637334" cy="755650"/>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Future expectation</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ppt_x</p:attrName>
                                        </p:attrNameLst>
                                      </p:cBhvr>
                                      <p:tavLst>
                                        <p:tav tm="0">
                                          <p:val>
                                            <p:fltVal val="0.5"/>
                                          </p:val>
                                        </p:tav>
                                        <p:tav tm="100000">
                                          <p:val>
                                            <p:strVal val="#ppt_x"/>
                                          </p:val>
                                        </p:tav>
                                      </p:tavLst>
                                    </p:anim>
                                    <p:anim calcmode="lin" valueType="num">
                                      <p:cBhvr>
                                        <p:cTn id="10" dur="500" fill="hold"/>
                                        <p:tgtEl>
                                          <p:spTgt spid="9"/>
                                        </p:tgtEl>
                                        <p:attrNameLst>
                                          <p:attrName>ppt_y</p:attrName>
                                        </p:attrNameLst>
                                      </p:cBhvr>
                                      <p:tavLst>
                                        <p:tav tm="0">
                                          <p:val>
                                            <p:fltVal val="0.5"/>
                                          </p:val>
                                        </p:tav>
                                        <p:tav tm="100000">
                                          <p:val>
                                            <p:strVal val="#ppt_y"/>
                                          </p:val>
                                        </p:tav>
                                      </p:tavLst>
                                    </p:anim>
                                  </p:childTnLst>
                                </p:cTn>
                              </p:par>
                              <p:par>
                                <p:cTn id="11" presetID="23" presetClass="entr" presetSubtype="52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 calcmode="lin" valueType="num">
                                      <p:cBhvr>
                                        <p:cTn id="15" dur="500" fill="hold"/>
                                        <p:tgtEl>
                                          <p:spTgt spid="8"/>
                                        </p:tgtEl>
                                        <p:attrNameLst>
                                          <p:attrName>ppt_x</p:attrName>
                                        </p:attrNameLst>
                                      </p:cBhvr>
                                      <p:tavLst>
                                        <p:tav tm="0">
                                          <p:val>
                                            <p:fltVal val="0.5"/>
                                          </p:val>
                                        </p:tav>
                                        <p:tav tm="100000">
                                          <p:val>
                                            <p:strVal val="#ppt_x"/>
                                          </p:val>
                                        </p:tav>
                                      </p:tavLst>
                                    </p:anim>
                                    <p:anim calcmode="lin" valueType="num">
                                      <p:cBhvr>
                                        <p:cTn id="16" dur="500" fill="hold"/>
                                        <p:tgtEl>
                                          <p:spTgt spid="8"/>
                                        </p:tgtEl>
                                        <p:attrNameLst>
                                          <p:attrName>ppt_y</p:attrName>
                                        </p:attrNameLst>
                                      </p:cBhvr>
                                      <p:tavLst>
                                        <p:tav tm="0">
                                          <p:val>
                                            <p:fltVal val="0.5"/>
                                          </p:val>
                                        </p:tav>
                                        <p:tav tm="100000">
                                          <p:val>
                                            <p:strVal val="#ppt_y"/>
                                          </p:val>
                                        </p:tav>
                                      </p:tavLst>
                                    </p:anim>
                                  </p:childTnLst>
                                </p:cTn>
                              </p:par>
                              <p:par>
                                <p:cTn id="17" presetID="23" presetClass="entr" presetSubtype="52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 calcmode="lin" valueType="num">
                                      <p:cBhvr>
                                        <p:cTn id="21" dur="500" fill="hold"/>
                                        <p:tgtEl>
                                          <p:spTgt spid="10"/>
                                        </p:tgtEl>
                                        <p:attrNameLst>
                                          <p:attrName>ppt_x</p:attrName>
                                        </p:attrNameLst>
                                      </p:cBhvr>
                                      <p:tavLst>
                                        <p:tav tm="0">
                                          <p:val>
                                            <p:fltVal val="0.5"/>
                                          </p:val>
                                        </p:tav>
                                        <p:tav tm="100000">
                                          <p:val>
                                            <p:strVal val="#ppt_x"/>
                                          </p:val>
                                        </p:tav>
                                      </p:tavLst>
                                    </p:anim>
                                    <p:anim calcmode="lin" valueType="num">
                                      <p:cBhvr>
                                        <p:cTn id="22" dur="500" fill="hold"/>
                                        <p:tgtEl>
                                          <p:spTgt spid="10"/>
                                        </p:tgtEl>
                                        <p:attrNameLst>
                                          <p:attrName>ppt_y</p:attrName>
                                        </p:attrNameLst>
                                      </p:cBhvr>
                                      <p:tavLst>
                                        <p:tav tm="0">
                                          <p:val>
                                            <p:fltVal val="0.5"/>
                                          </p:val>
                                        </p:tav>
                                        <p:tav tm="100000">
                                          <p:val>
                                            <p:strVal val="#ppt_y"/>
                                          </p:val>
                                        </p:tav>
                                      </p:tavLst>
                                    </p:anim>
                                  </p:childTnLst>
                                </p:cTn>
                              </p:par>
                              <p:par>
                                <p:cTn id="23" presetID="23" presetClass="entr" presetSubtype="528"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 calcmode="lin" valueType="num">
                                      <p:cBhvr>
                                        <p:cTn id="27" dur="500" fill="hold"/>
                                        <p:tgtEl>
                                          <p:spTgt spid="7"/>
                                        </p:tgtEl>
                                        <p:attrNameLst>
                                          <p:attrName>ppt_x</p:attrName>
                                        </p:attrNameLst>
                                      </p:cBhvr>
                                      <p:tavLst>
                                        <p:tav tm="0">
                                          <p:val>
                                            <p:fltVal val="0.5"/>
                                          </p:val>
                                        </p:tav>
                                        <p:tav tm="100000">
                                          <p:val>
                                            <p:strVal val="#ppt_x"/>
                                          </p:val>
                                        </p:tav>
                                      </p:tavLst>
                                    </p:anim>
                                    <p:anim calcmode="lin" valueType="num">
                                      <p:cBhvr>
                                        <p:cTn id="28" dur="500" fill="hold"/>
                                        <p:tgtEl>
                                          <p:spTgt spid="7"/>
                                        </p:tgtEl>
                                        <p:attrNameLst>
                                          <p:attrName>ppt_y</p:attrName>
                                        </p:attrNameLst>
                                      </p:cBhvr>
                                      <p:tavLst>
                                        <p:tav tm="0">
                                          <p:val>
                                            <p:fltVal val="0.5"/>
                                          </p:val>
                                        </p:tav>
                                        <p:tav tm="100000">
                                          <p:val>
                                            <p:strVal val="#ppt_y"/>
                                          </p:val>
                                        </p:tav>
                                      </p:tavLst>
                                    </p:anim>
                                  </p:childTnLst>
                                </p:cTn>
                              </p:par>
                              <p:par>
                                <p:cTn id="29" presetID="23" presetClass="entr" presetSubtype="52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 calcmode="lin" valueType="num">
                                      <p:cBhvr>
                                        <p:cTn id="33" dur="500" fill="hold"/>
                                        <p:tgtEl>
                                          <p:spTgt spid="11"/>
                                        </p:tgtEl>
                                        <p:attrNameLst>
                                          <p:attrName>ppt_x</p:attrName>
                                        </p:attrNameLst>
                                      </p:cBhvr>
                                      <p:tavLst>
                                        <p:tav tm="0">
                                          <p:val>
                                            <p:fltVal val="0.5"/>
                                          </p:val>
                                        </p:tav>
                                        <p:tav tm="100000">
                                          <p:val>
                                            <p:strVal val="#ppt_x"/>
                                          </p:val>
                                        </p:tav>
                                      </p:tavLst>
                                    </p:anim>
                                    <p:anim calcmode="lin" valueType="num">
                                      <p:cBhvr>
                                        <p:cTn id="34" dur="500" fill="hold"/>
                                        <p:tgtEl>
                                          <p:spTgt spid="11"/>
                                        </p:tgtEl>
                                        <p:attrNameLst>
                                          <p:attrName>ppt_y</p:attrName>
                                        </p:attrNameLst>
                                      </p:cBhvr>
                                      <p:tavLst>
                                        <p:tav tm="0">
                                          <p:val>
                                            <p:fltVal val="0.5"/>
                                          </p:val>
                                        </p:tav>
                                        <p:tav tm="100000">
                                          <p:val>
                                            <p:strVal val="#ppt_y"/>
                                          </p:val>
                                        </p:tav>
                                      </p:tavLst>
                                    </p:anim>
                                  </p:childTnLst>
                                </p:cTn>
                              </p:par>
                              <p:par>
                                <p:cTn id="35" presetID="23" presetClass="entr" presetSubtype="52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00" fill="hold"/>
                                        <p:tgtEl>
                                          <p:spTgt spid="13"/>
                                        </p:tgtEl>
                                        <p:attrNameLst>
                                          <p:attrName>ppt_w</p:attrName>
                                        </p:attrNameLst>
                                      </p:cBhvr>
                                      <p:tavLst>
                                        <p:tav tm="0">
                                          <p:val>
                                            <p:fltVal val="0"/>
                                          </p:val>
                                        </p:tav>
                                        <p:tav tm="100000">
                                          <p:val>
                                            <p:strVal val="#ppt_w"/>
                                          </p:val>
                                        </p:tav>
                                      </p:tavLst>
                                    </p:anim>
                                    <p:anim calcmode="lin" valueType="num">
                                      <p:cBhvr>
                                        <p:cTn id="38" dur="500" fill="hold"/>
                                        <p:tgtEl>
                                          <p:spTgt spid="13"/>
                                        </p:tgtEl>
                                        <p:attrNameLst>
                                          <p:attrName>ppt_h</p:attrName>
                                        </p:attrNameLst>
                                      </p:cBhvr>
                                      <p:tavLst>
                                        <p:tav tm="0">
                                          <p:val>
                                            <p:fltVal val="0"/>
                                          </p:val>
                                        </p:tav>
                                        <p:tav tm="100000">
                                          <p:val>
                                            <p:strVal val="#ppt_h"/>
                                          </p:val>
                                        </p:tav>
                                      </p:tavLst>
                                    </p:anim>
                                    <p:anim calcmode="lin" valueType="num">
                                      <p:cBhvr>
                                        <p:cTn id="39" dur="500" fill="hold"/>
                                        <p:tgtEl>
                                          <p:spTgt spid="13"/>
                                        </p:tgtEl>
                                        <p:attrNameLst>
                                          <p:attrName>ppt_x</p:attrName>
                                        </p:attrNameLst>
                                      </p:cBhvr>
                                      <p:tavLst>
                                        <p:tav tm="0">
                                          <p:val>
                                            <p:fltVal val="0.5"/>
                                          </p:val>
                                        </p:tav>
                                        <p:tav tm="100000">
                                          <p:val>
                                            <p:strVal val="#ppt_x"/>
                                          </p:val>
                                        </p:tav>
                                      </p:tavLst>
                                    </p:anim>
                                    <p:anim calcmode="lin" valueType="num">
                                      <p:cBhvr>
                                        <p:cTn id="40" dur="500" fill="hold"/>
                                        <p:tgtEl>
                                          <p:spTgt spid="13"/>
                                        </p:tgtEl>
                                        <p:attrNameLst>
                                          <p:attrName>ppt_y</p:attrName>
                                        </p:attrNameLst>
                                      </p:cBhvr>
                                      <p:tavLst>
                                        <p:tav tm="0">
                                          <p:val>
                                            <p:fltVal val="0.5"/>
                                          </p:val>
                                        </p:tav>
                                        <p:tav tm="100000">
                                          <p:val>
                                            <p:strVal val="#ppt_y"/>
                                          </p:val>
                                        </p:tav>
                                      </p:tavLst>
                                    </p:anim>
                                  </p:childTnLst>
                                </p:cTn>
                              </p:par>
                              <p:par>
                                <p:cTn id="41" presetID="23" presetClass="entr" presetSubtype="528"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fltVal val="0"/>
                                          </p:val>
                                        </p:tav>
                                        <p:tav tm="100000">
                                          <p:val>
                                            <p:strVal val="#ppt_w"/>
                                          </p:val>
                                        </p:tav>
                                      </p:tavLst>
                                    </p:anim>
                                    <p:anim calcmode="lin" valueType="num">
                                      <p:cBhvr>
                                        <p:cTn id="44" dur="500" fill="hold"/>
                                        <p:tgtEl>
                                          <p:spTgt spid="14"/>
                                        </p:tgtEl>
                                        <p:attrNameLst>
                                          <p:attrName>ppt_h</p:attrName>
                                        </p:attrNameLst>
                                      </p:cBhvr>
                                      <p:tavLst>
                                        <p:tav tm="0">
                                          <p:val>
                                            <p:fltVal val="0"/>
                                          </p:val>
                                        </p:tav>
                                        <p:tav tm="100000">
                                          <p:val>
                                            <p:strVal val="#ppt_h"/>
                                          </p:val>
                                        </p:tav>
                                      </p:tavLst>
                                    </p:anim>
                                    <p:anim calcmode="lin" valueType="num">
                                      <p:cBhvr>
                                        <p:cTn id="45" dur="500" fill="hold"/>
                                        <p:tgtEl>
                                          <p:spTgt spid="14"/>
                                        </p:tgtEl>
                                        <p:attrNameLst>
                                          <p:attrName>ppt_x</p:attrName>
                                        </p:attrNameLst>
                                      </p:cBhvr>
                                      <p:tavLst>
                                        <p:tav tm="0">
                                          <p:val>
                                            <p:fltVal val="0.5"/>
                                          </p:val>
                                        </p:tav>
                                        <p:tav tm="100000">
                                          <p:val>
                                            <p:strVal val="#ppt_x"/>
                                          </p:val>
                                        </p:tav>
                                      </p:tavLst>
                                    </p:anim>
                                    <p:anim calcmode="lin" valueType="num">
                                      <p:cBhvr>
                                        <p:cTn id="46" dur="500" fill="hold"/>
                                        <p:tgtEl>
                                          <p:spTgt spid="14"/>
                                        </p:tgtEl>
                                        <p:attrNameLst>
                                          <p:attrName>ppt_y</p:attrName>
                                        </p:attrNameLst>
                                      </p:cBhvr>
                                      <p:tavLst>
                                        <p:tav tm="0">
                                          <p:val>
                                            <p:fltVal val="0.5"/>
                                          </p:val>
                                        </p:tav>
                                        <p:tav tm="100000">
                                          <p:val>
                                            <p:strVal val="#ppt_y"/>
                                          </p:val>
                                        </p:tav>
                                      </p:tavLst>
                                    </p:anim>
                                  </p:childTnLst>
                                </p:cTn>
                              </p:par>
                              <p:par>
                                <p:cTn id="47" presetID="23" presetClass="entr" presetSubtype="528"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 calcmode="lin" valueType="num">
                                      <p:cBhvr>
                                        <p:cTn id="51" dur="500" fill="hold"/>
                                        <p:tgtEl>
                                          <p:spTgt spid="12"/>
                                        </p:tgtEl>
                                        <p:attrNameLst>
                                          <p:attrName>ppt_x</p:attrName>
                                        </p:attrNameLst>
                                      </p:cBhvr>
                                      <p:tavLst>
                                        <p:tav tm="0">
                                          <p:val>
                                            <p:fltVal val="0.5"/>
                                          </p:val>
                                        </p:tav>
                                        <p:tav tm="100000">
                                          <p:val>
                                            <p:strVal val="#ppt_x"/>
                                          </p:val>
                                        </p:tav>
                                      </p:tavLst>
                                    </p:anim>
                                    <p:anim calcmode="lin" valueType="num">
                                      <p:cBhvr>
                                        <p:cTn id="52" dur="500" fill="hold"/>
                                        <p:tgtEl>
                                          <p:spTgt spid="12"/>
                                        </p:tgtEl>
                                        <p:attrNameLst>
                                          <p:attrName>ppt_y</p:attrName>
                                        </p:attrNameLst>
                                      </p:cBhvr>
                                      <p:tavLst>
                                        <p:tav tm="0">
                                          <p:val>
                                            <p:fltVal val="0.5"/>
                                          </p:val>
                                        </p:tav>
                                        <p:tav tm="100000">
                                          <p:val>
                                            <p:strVal val="#ppt_y"/>
                                          </p:val>
                                        </p:tav>
                                      </p:tavLst>
                                    </p:anim>
                                  </p:childTnLst>
                                </p:cTn>
                              </p:par>
                              <p:par>
                                <p:cTn id="53" presetID="23" presetClass="entr" presetSubtype="528"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500" fill="hold"/>
                                        <p:tgtEl>
                                          <p:spTgt spid="15"/>
                                        </p:tgtEl>
                                        <p:attrNameLst>
                                          <p:attrName>ppt_w</p:attrName>
                                        </p:attrNameLst>
                                      </p:cBhvr>
                                      <p:tavLst>
                                        <p:tav tm="0">
                                          <p:val>
                                            <p:fltVal val="0"/>
                                          </p:val>
                                        </p:tav>
                                        <p:tav tm="100000">
                                          <p:val>
                                            <p:strVal val="#ppt_w"/>
                                          </p:val>
                                        </p:tav>
                                      </p:tavLst>
                                    </p:anim>
                                    <p:anim calcmode="lin" valueType="num">
                                      <p:cBhvr>
                                        <p:cTn id="56" dur="500" fill="hold"/>
                                        <p:tgtEl>
                                          <p:spTgt spid="15"/>
                                        </p:tgtEl>
                                        <p:attrNameLst>
                                          <p:attrName>ppt_h</p:attrName>
                                        </p:attrNameLst>
                                      </p:cBhvr>
                                      <p:tavLst>
                                        <p:tav tm="0">
                                          <p:val>
                                            <p:fltVal val="0"/>
                                          </p:val>
                                        </p:tav>
                                        <p:tav tm="100000">
                                          <p:val>
                                            <p:strVal val="#ppt_h"/>
                                          </p:val>
                                        </p:tav>
                                      </p:tavLst>
                                    </p:anim>
                                    <p:anim calcmode="lin" valueType="num">
                                      <p:cBhvr>
                                        <p:cTn id="57" dur="500" fill="hold"/>
                                        <p:tgtEl>
                                          <p:spTgt spid="15"/>
                                        </p:tgtEl>
                                        <p:attrNameLst>
                                          <p:attrName>ppt_x</p:attrName>
                                        </p:attrNameLst>
                                      </p:cBhvr>
                                      <p:tavLst>
                                        <p:tav tm="0">
                                          <p:val>
                                            <p:fltVal val="0.5"/>
                                          </p:val>
                                        </p:tav>
                                        <p:tav tm="100000">
                                          <p:val>
                                            <p:strVal val="#ppt_x"/>
                                          </p:val>
                                        </p:tav>
                                      </p:tavLst>
                                    </p:anim>
                                    <p:anim calcmode="lin" valueType="num">
                                      <p:cBhvr>
                                        <p:cTn id="58" dur="500" fill="hold"/>
                                        <p:tgtEl>
                                          <p:spTgt spid="15"/>
                                        </p:tgtEl>
                                        <p:attrNameLst>
                                          <p:attrName>ppt_y</p:attrName>
                                        </p:attrNameLst>
                                      </p:cBhvr>
                                      <p:tavLst>
                                        <p:tav tm="0">
                                          <p:val>
                                            <p:fltVal val="0.5"/>
                                          </p:val>
                                        </p:tav>
                                        <p:tav tm="100000">
                                          <p:val>
                                            <p:strVal val="#ppt_y"/>
                                          </p:val>
                                        </p:tav>
                                      </p:tavLst>
                                    </p:anim>
                                  </p:childTnLst>
                                </p:cTn>
                              </p:par>
                              <p:par>
                                <p:cTn id="59" presetID="55"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p:cTn id="61" dur="500" fill="hold"/>
                                        <p:tgtEl>
                                          <p:spTgt spid="20"/>
                                        </p:tgtEl>
                                        <p:attrNameLst>
                                          <p:attrName>ppt_w</p:attrName>
                                        </p:attrNameLst>
                                      </p:cBhvr>
                                      <p:tavLst>
                                        <p:tav tm="0">
                                          <p:val>
                                            <p:strVal val="#ppt_w*0.70"/>
                                          </p:val>
                                        </p:tav>
                                        <p:tav tm="100000">
                                          <p:val>
                                            <p:strVal val="#ppt_w"/>
                                          </p:val>
                                        </p:tav>
                                      </p:tavLst>
                                    </p:anim>
                                    <p:anim calcmode="lin" valueType="num">
                                      <p:cBhvr>
                                        <p:cTn id="62" dur="500" fill="hold"/>
                                        <p:tgtEl>
                                          <p:spTgt spid="20"/>
                                        </p:tgtEl>
                                        <p:attrNameLst>
                                          <p:attrName>ppt_h</p:attrName>
                                        </p:attrNameLst>
                                      </p:cBhvr>
                                      <p:tavLst>
                                        <p:tav tm="0">
                                          <p:val>
                                            <p:strVal val="#ppt_h"/>
                                          </p:val>
                                        </p:tav>
                                        <p:tav tm="100000">
                                          <p:val>
                                            <p:strVal val="#ppt_h"/>
                                          </p:val>
                                        </p:tav>
                                      </p:tavLst>
                                    </p:anim>
                                    <p:animEffect transition="in" filter="fade">
                                      <p:cBhvr>
                                        <p:cTn id="63" dur="500"/>
                                        <p:tgtEl>
                                          <p:spTgt spid="20"/>
                                        </p:tgtEl>
                                      </p:cBhvr>
                                    </p:animEffect>
                                  </p:childTnLst>
                                </p:cTn>
                              </p:par>
                              <p:par>
                                <p:cTn id="64" presetID="55"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strVal val="#ppt_w*0.70"/>
                                          </p:val>
                                        </p:tav>
                                        <p:tav tm="100000">
                                          <p:val>
                                            <p:strVal val="#ppt_w"/>
                                          </p:val>
                                        </p:tav>
                                      </p:tavLst>
                                    </p:anim>
                                    <p:anim calcmode="lin" valueType="num">
                                      <p:cBhvr>
                                        <p:cTn id="67" dur="500" fill="hold"/>
                                        <p:tgtEl>
                                          <p:spTgt spid="18"/>
                                        </p:tgtEl>
                                        <p:attrNameLst>
                                          <p:attrName>ppt_h</p:attrName>
                                        </p:attrNameLst>
                                      </p:cBhvr>
                                      <p:tavLst>
                                        <p:tav tm="0">
                                          <p:val>
                                            <p:strVal val="#ppt_h"/>
                                          </p:val>
                                        </p:tav>
                                        <p:tav tm="100000">
                                          <p:val>
                                            <p:strVal val="#ppt_h"/>
                                          </p:val>
                                        </p:tav>
                                      </p:tavLst>
                                    </p:anim>
                                    <p:animEffect transition="in" filter="fade">
                                      <p:cBhvr>
                                        <p:cTn id="68" dur="500"/>
                                        <p:tgtEl>
                                          <p:spTgt spid="18"/>
                                        </p:tgtEl>
                                      </p:cBhvr>
                                    </p:animEffect>
                                  </p:childTnLst>
                                </p:cTn>
                              </p:par>
                              <p:par>
                                <p:cTn id="69" presetID="55"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p:cTn id="71" dur="500" fill="hold"/>
                                        <p:tgtEl>
                                          <p:spTgt spid="21"/>
                                        </p:tgtEl>
                                        <p:attrNameLst>
                                          <p:attrName>ppt_w</p:attrName>
                                        </p:attrNameLst>
                                      </p:cBhvr>
                                      <p:tavLst>
                                        <p:tav tm="0">
                                          <p:val>
                                            <p:strVal val="#ppt_w*0.70"/>
                                          </p:val>
                                        </p:tav>
                                        <p:tav tm="100000">
                                          <p:val>
                                            <p:strVal val="#ppt_w"/>
                                          </p:val>
                                        </p:tav>
                                      </p:tavLst>
                                    </p:anim>
                                    <p:anim calcmode="lin" valueType="num">
                                      <p:cBhvr>
                                        <p:cTn id="72" dur="500" fill="hold"/>
                                        <p:tgtEl>
                                          <p:spTgt spid="21"/>
                                        </p:tgtEl>
                                        <p:attrNameLst>
                                          <p:attrName>ppt_h</p:attrName>
                                        </p:attrNameLst>
                                      </p:cBhvr>
                                      <p:tavLst>
                                        <p:tav tm="0">
                                          <p:val>
                                            <p:strVal val="#ppt_h"/>
                                          </p:val>
                                        </p:tav>
                                        <p:tav tm="100000">
                                          <p:val>
                                            <p:strVal val="#ppt_h"/>
                                          </p:val>
                                        </p:tav>
                                      </p:tavLst>
                                    </p:anim>
                                    <p:animEffect transition="in" filter="fade">
                                      <p:cBhvr>
                                        <p:cTn id="73" dur="500"/>
                                        <p:tgtEl>
                                          <p:spTgt spid="21"/>
                                        </p:tgtEl>
                                      </p:cBhvr>
                                    </p:animEffect>
                                  </p:childTnLst>
                                </p:cTn>
                              </p:par>
                              <p:par>
                                <p:cTn id="74" presetID="55"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strVal val="#ppt_w*0.70"/>
                                          </p:val>
                                        </p:tav>
                                        <p:tav tm="100000">
                                          <p:val>
                                            <p:strVal val="#ppt_w"/>
                                          </p:val>
                                        </p:tav>
                                      </p:tavLst>
                                    </p:anim>
                                    <p:anim calcmode="lin" valueType="num">
                                      <p:cBhvr>
                                        <p:cTn id="77" dur="500" fill="hold"/>
                                        <p:tgtEl>
                                          <p:spTgt spid="19"/>
                                        </p:tgtEl>
                                        <p:attrNameLst>
                                          <p:attrName>ppt_h</p:attrName>
                                        </p:attrNameLst>
                                      </p:cBhvr>
                                      <p:tavLst>
                                        <p:tav tm="0">
                                          <p:val>
                                            <p:strVal val="#ppt_h"/>
                                          </p:val>
                                        </p:tav>
                                        <p:tav tm="100000">
                                          <p:val>
                                            <p:strVal val="#ppt_h"/>
                                          </p:val>
                                        </p:tav>
                                      </p:tavLst>
                                    </p:anim>
                                    <p:animEffect transition="in" filter="fade">
                                      <p:cBhvr>
                                        <p:cTn id="78" dur="500"/>
                                        <p:tgtEl>
                                          <p:spTgt spid="19"/>
                                        </p:tgtEl>
                                      </p:cBhvr>
                                    </p:animEffect>
                                  </p:childTnLst>
                                </p:cTn>
                              </p:par>
                              <p:par>
                                <p:cTn id="79" presetID="55"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p:cTn id="81" dur="500" fill="hold"/>
                                        <p:tgtEl>
                                          <p:spTgt spid="22"/>
                                        </p:tgtEl>
                                        <p:attrNameLst>
                                          <p:attrName>ppt_w</p:attrName>
                                        </p:attrNameLst>
                                      </p:cBhvr>
                                      <p:tavLst>
                                        <p:tav tm="0">
                                          <p:val>
                                            <p:strVal val="#ppt_w*0.70"/>
                                          </p:val>
                                        </p:tav>
                                        <p:tav tm="100000">
                                          <p:val>
                                            <p:strVal val="#ppt_w"/>
                                          </p:val>
                                        </p:tav>
                                      </p:tavLst>
                                    </p:anim>
                                    <p:anim calcmode="lin" valueType="num">
                                      <p:cBhvr>
                                        <p:cTn id="82" dur="500" fill="hold"/>
                                        <p:tgtEl>
                                          <p:spTgt spid="22"/>
                                        </p:tgtEl>
                                        <p:attrNameLst>
                                          <p:attrName>ppt_h</p:attrName>
                                        </p:attrNameLst>
                                      </p:cBhvr>
                                      <p:tavLst>
                                        <p:tav tm="0">
                                          <p:val>
                                            <p:strVal val="#ppt_h"/>
                                          </p:val>
                                        </p:tav>
                                        <p:tav tm="100000">
                                          <p:val>
                                            <p:strVal val="#ppt_h"/>
                                          </p:val>
                                        </p:tav>
                                      </p:tavLst>
                                    </p:anim>
                                    <p:animEffect transition="in" filter="fade">
                                      <p:cBhvr>
                                        <p:cTn id="83" dur="500"/>
                                        <p:tgtEl>
                                          <p:spTgt spid="22"/>
                                        </p:tgtEl>
                                      </p:cBhvr>
                                    </p:animEffect>
                                  </p:childTnLst>
                                </p:cTn>
                              </p:par>
                              <p:par>
                                <p:cTn id="84" presetID="22" presetClass="entr" presetSubtype="1" fill="hold" grpId="0" nodeType="withEffect" nodePh="1">
                                  <p:stCondLst>
                                    <p:cond delay="0"/>
                                  </p:stCondLst>
                                  <p:endCondLst>
                                    <p:cond evt="begin" delay="0">
                                      <p:tn val="84"/>
                                    </p:cond>
                                  </p:endCondLst>
                                  <p:childTnLst>
                                    <p:set>
                                      <p:cBhvr>
                                        <p:cTn id="85" dur="1" fill="hold">
                                          <p:stCondLst>
                                            <p:cond delay="0"/>
                                          </p:stCondLst>
                                        </p:cTn>
                                        <p:tgtEl>
                                          <p:spTgt spid="16"/>
                                        </p:tgtEl>
                                        <p:attrNameLst>
                                          <p:attrName>style.visibility</p:attrName>
                                        </p:attrNameLst>
                                      </p:cBhvr>
                                      <p:to>
                                        <p:strVal val="visible"/>
                                      </p:to>
                                    </p:set>
                                    <p:animEffect transition="in" filter="wipe(up)">
                                      <p:cBhvr>
                                        <p:cTn id="86" dur="500"/>
                                        <p:tgtEl>
                                          <p:spTgt spid="16"/>
                                        </p:tgtEl>
                                      </p:cBhvr>
                                    </p:animEffect>
                                  </p:childTnLst>
                                </p:cTn>
                              </p:par>
                              <p:par>
                                <p:cTn id="87" presetID="22" presetClass="entr" presetSubtype="1" fill="hold" grpId="0" nodeType="withEffect" nodePh="1">
                                  <p:stCondLst>
                                    <p:cond delay="0"/>
                                  </p:stCondLst>
                                  <p:endCondLst>
                                    <p:cond evt="begin" delay="0">
                                      <p:tn val="87"/>
                                    </p:cond>
                                  </p:endCondLst>
                                  <p:childTnLst>
                                    <p:set>
                                      <p:cBhvr>
                                        <p:cTn id="88" dur="1" fill="hold">
                                          <p:stCondLst>
                                            <p:cond delay="0"/>
                                          </p:stCondLst>
                                        </p:cTn>
                                        <p:tgtEl>
                                          <p:spTgt spid="17"/>
                                        </p:tgtEl>
                                        <p:attrNameLst>
                                          <p:attrName>style.visibility</p:attrName>
                                        </p:attrNameLst>
                                      </p:cBhvr>
                                      <p:to>
                                        <p:strVal val="visible"/>
                                      </p:to>
                                    </p:set>
                                    <p:animEffect transition="in" filter="wipe(up)">
                                      <p:cBhvr>
                                        <p:cTn id="89" dur="500"/>
                                        <p:tgtEl>
                                          <p:spTgt spid="17"/>
                                        </p:tgtEl>
                                      </p:cBhvr>
                                    </p:animEffect>
                                  </p:childTnLst>
                                </p:cTn>
                              </p:par>
                              <p:par>
                                <p:cTn id="90" presetID="0" presetClass="entr" presetSubtype="0" fill="hold" grpId="0" nodeType="withEffect">
                                  <p:stCondLst>
                                    <p:cond delay="1200"/>
                                  </p:stCondLst>
                                  <p:iterate type="lt">
                                    <p:tmPct val="10000"/>
                                  </p:iterate>
                                  <p:childTnLst>
                                    <p:set>
                                      <p:cBhvr>
                                        <p:cTn id="91" dur="700" fill="hold">
                                          <p:stCondLst>
                                            <p:cond delay="0"/>
                                          </p:stCondLst>
                                        </p:cTn>
                                        <p:tgtEl>
                                          <p:spTgt spid="23"/>
                                        </p:tgtEl>
                                        <p:attrNameLst>
                                          <p:attrName>style.visibility</p:attrName>
                                        </p:attrNameLst>
                                      </p:cBhvr>
                                      <p:to>
                                        <p:strVal val="visible"/>
                                      </p:to>
                                    </p:set>
                                    <p:animEffect filter="fade">
                                      <p:cBhvr>
                                        <p:cTn id="92" dur="700">
                                          <p:stCondLst>
                                            <p:cond delay="0"/>
                                          </p:stCondLst>
                                        </p:cTn>
                                        <p:tgtEl>
                                          <p:spTgt spid="23"/>
                                        </p:tgtEl>
                                      </p:cBhvr>
                                    </p:animEffect>
                                    <p:anim to="" calcmode="lin" valueType="num">
                                      <p:cBhvr>
                                        <p:cTn id="93" dur="700" fill="hold">
                                          <p:stCondLst>
                                            <p:cond delay="0"/>
                                          </p:stCondLst>
                                        </p:cTn>
                                        <p:tgtEl>
                                          <p:spTgt spid="23"/>
                                        </p:tgtEl>
                                        <p:attrNameLst>
                                          <p:attrName>ppt_y</p:attrName>
                                        </p:attrNameLst>
                                      </p:cBhvr>
                                      <p:tavLst>
                                        <p:tav tm="0" fmla="#ppt_y-#ppt_h*((1.5-1.5*$)^2-(1.5-1.5*$)^3)">
                                          <p:val>
                                            <p:fltVal val="0"/>
                                          </p:val>
                                        </p:tav>
                                        <p:tav tm="100000">
                                          <p:val>
                                            <p:fltVal val="1"/>
                                          </p:val>
                                        </p:tav>
                                      </p:tavLst>
                                    </p:anim>
                                  </p:childTnLst>
                                </p:cTn>
                              </p:par>
                              <p:par>
                                <p:cTn id="94" presetID="0" presetClass="entr" presetSubtype="0" fill="hold" grpId="0" nodeType="withEffect">
                                  <p:stCondLst>
                                    <p:cond delay="1200"/>
                                  </p:stCondLst>
                                  <p:iterate type="lt">
                                    <p:tmPct val="10000"/>
                                  </p:iterate>
                                  <p:childTnLst>
                                    <p:set>
                                      <p:cBhvr>
                                        <p:cTn id="95" dur="700" fill="hold">
                                          <p:stCondLst>
                                            <p:cond delay="0"/>
                                          </p:stCondLst>
                                        </p:cTn>
                                        <p:tgtEl>
                                          <p:spTgt spid="24"/>
                                        </p:tgtEl>
                                        <p:attrNameLst>
                                          <p:attrName>style.visibility</p:attrName>
                                        </p:attrNameLst>
                                      </p:cBhvr>
                                      <p:to>
                                        <p:strVal val="visible"/>
                                      </p:to>
                                    </p:set>
                                    <p:animEffect filter="fade">
                                      <p:cBhvr>
                                        <p:cTn id="96" dur="700">
                                          <p:stCondLst>
                                            <p:cond delay="0"/>
                                          </p:stCondLst>
                                        </p:cTn>
                                        <p:tgtEl>
                                          <p:spTgt spid="24"/>
                                        </p:tgtEl>
                                      </p:cBhvr>
                                    </p:animEffect>
                                    <p:anim to="" calcmode="lin" valueType="num">
                                      <p:cBhvr>
                                        <p:cTn id="97" dur="700" fill="hold">
                                          <p:stCondLst>
                                            <p:cond delay="0"/>
                                          </p:stCondLst>
                                        </p:cTn>
                                        <p:tgtEl>
                                          <p:spTgt spid="24"/>
                                        </p:tgtEl>
                                        <p:attrNameLst>
                                          <p:attrName>ppt_y</p:attrName>
                                        </p:attrNameLst>
                                      </p:cBhvr>
                                      <p:tavLst>
                                        <p:tav tm="0" fmla="#ppt_y-#ppt_h*((1.5-1.5*$)^2-(1.5-1.5*$)^3)">
                                          <p:val>
                                            <p:fltVal val="0"/>
                                          </p:val>
                                        </p:tav>
                                        <p:tav tm="100000">
                                          <p:val>
                                            <p:fltVal val="1"/>
                                          </p:val>
                                        </p:tav>
                                      </p:tavLst>
                                    </p:anim>
                                  </p:childTnLst>
                                </p:cTn>
                              </p:par>
                              <p:par>
                                <p:cTn id="98" presetID="0" presetClass="entr" presetSubtype="0" fill="hold" grpId="0" nodeType="withEffect">
                                  <p:stCondLst>
                                    <p:cond delay="1200"/>
                                  </p:stCondLst>
                                  <p:iterate type="lt">
                                    <p:tmPct val="10000"/>
                                  </p:iterate>
                                  <p:childTnLst>
                                    <p:set>
                                      <p:cBhvr>
                                        <p:cTn id="99" dur="700" fill="hold">
                                          <p:stCondLst>
                                            <p:cond delay="0"/>
                                          </p:stCondLst>
                                        </p:cTn>
                                        <p:tgtEl>
                                          <p:spTgt spid="25"/>
                                        </p:tgtEl>
                                        <p:attrNameLst>
                                          <p:attrName>style.visibility</p:attrName>
                                        </p:attrNameLst>
                                      </p:cBhvr>
                                      <p:to>
                                        <p:strVal val="visible"/>
                                      </p:to>
                                    </p:set>
                                    <p:animEffect filter="fade">
                                      <p:cBhvr>
                                        <p:cTn id="100" dur="700">
                                          <p:stCondLst>
                                            <p:cond delay="0"/>
                                          </p:stCondLst>
                                        </p:cTn>
                                        <p:tgtEl>
                                          <p:spTgt spid="25"/>
                                        </p:tgtEl>
                                      </p:cBhvr>
                                    </p:animEffect>
                                    <p:anim to="" calcmode="lin" valueType="num">
                                      <p:cBhvr>
                                        <p:cTn id="101" dur="700" fill="hold">
                                          <p:stCondLst>
                                            <p:cond delay="0"/>
                                          </p:stCondLst>
                                        </p:cTn>
                                        <p:tgtEl>
                                          <p:spTgt spid="25"/>
                                        </p:tgtEl>
                                        <p:attrNameLst>
                                          <p:attrName>ppt_y</p:attrName>
                                        </p:attrNameLst>
                                      </p:cBhvr>
                                      <p:tavLst>
                                        <p:tav tm="0" fmla="#ppt_y-#ppt_h*((1.5-1.5*$)^2-(1.5-1.5*$)^3)">
                                          <p:val>
                                            <p:fltVal val="0"/>
                                          </p:val>
                                        </p:tav>
                                        <p:tav tm="100000">
                                          <p:val>
                                            <p:fltVal val="1"/>
                                          </p:val>
                                        </p:tav>
                                      </p:tavLst>
                                    </p:anim>
                                  </p:childTnLst>
                                </p:cTn>
                              </p:par>
                              <p:par>
                                <p:cTn id="102" presetID="0" presetClass="entr" presetSubtype="0" fill="hold" grpId="0" nodeType="withEffect">
                                  <p:stCondLst>
                                    <p:cond delay="1200"/>
                                  </p:stCondLst>
                                  <p:iterate type="lt">
                                    <p:tmPct val="10000"/>
                                  </p:iterate>
                                  <p:childTnLst>
                                    <p:set>
                                      <p:cBhvr>
                                        <p:cTn id="103" dur="700" fill="hold">
                                          <p:stCondLst>
                                            <p:cond delay="0"/>
                                          </p:stCondLst>
                                        </p:cTn>
                                        <p:tgtEl>
                                          <p:spTgt spid="26"/>
                                        </p:tgtEl>
                                        <p:attrNameLst>
                                          <p:attrName>style.visibility</p:attrName>
                                        </p:attrNameLst>
                                      </p:cBhvr>
                                      <p:to>
                                        <p:strVal val="visible"/>
                                      </p:to>
                                    </p:set>
                                    <p:animEffect filter="fade">
                                      <p:cBhvr>
                                        <p:cTn id="104" dur="700">
                                          <p:stCondLst>
                                            <p:cond delay="0"/>
                                          </p:stCondLst>
                                        </p:cTn>
                                        <p:tgtEl>
                                          <p:spTgt spid="26"/>
                                        </p:tgtEl>
                                      </p:cBhvr>
                                    </p:animEffect>
                                    <p:anim to="" calcmode="lin" valueType="num">
                                      <p:cBhvr>
                                        <p:cTn id="105"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106" presetID="0" presetClass="entr" presetSubtype="0" fill="hold" grpId="0" nodeType="withEffect">
                                  <p:stCondLst>
                                    <p:cond delay="1200"/>
                                  </p:stCondLst>
                                  <p:iterate type="lt">
                                    <p:tmPct val="10000"/>
                                  </p:iterate>
                                  <p:childTnLst>
                                    <p:set>
                                      <p:cBhvr>
                                        <p:cTn id="107" dur="700" fill="hold">
                                          <p:stCondLst>
                                            <p:cond delay="0"/>
                                          </p:stCondLst>
                                        </p:cTn>
                                        <p:tgtEl>
                                          <p:spTgt spid="27"/>
                                        </p:tgtEl>
                                        <p:attrNameLst>
                                          <p:attrName>style.visibility</p:attrName>
                                        </p:attrNameLst>
                                      </p:cBhvr>
                                      <p:to>
                                        <p:strVal val="visible"/>
                                      </p:to>
                                    </p:set>
                                    <p:animEffect filter="fade">
                                      <p:cBhvr>
                                        <p:cTn id="108" dur="700">
                                          <p:stCondLst>
                                            <p:cond delay="0"/>
                                          </p:stCondLst>
                                        </p:cTn>
                                        <p:tgtEl>
                                          <p:spTgt spid="27"/>
                                        </p:tgtEl>
                                      </p:cBhvr>
                                    </p:animEffect>
                                    <p:anim to="" calcmode="lin" valueType="num">
                                      <p:cBhvr>
                                        <p:cTn id="109"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p:bldP spid="18" grpId="0" animBg="1"/>
      <p:bldP spid="19" grpId="0" animBg="1"/>
      <p:bldP spid="20" grpId="0" animBg="1"/>
      <p:bldP spid="21" grpId="0" animBg="1"/>
      <p:bldP spid="22" grpId="0" animBg="1"/>
      <p:bldP spid="23" grpId="0"/>
      <p:bldP spid="24" grpId="0"/>
      <p:bldP spid="25"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Background</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3" name="文本框 2"/>
          <p:cNvSpPr txBox="1"/>
          <p:nvPr/>
        </p:nvSpPr>
        <p:spPr>
          <a:xfrm>
            <a:off x="660400" y="1305560"/>
            <a:ext cx="9967595" cy="4338320"/>
          </a:xfrm>
          <a:prstGeom prst="rect">
            <a:avLst/>
          </a:prstGeom>
          <a:noFill/>
        </p:spPr>
        <p:txBody>
          <a:bodyPr wrap="square" rtlCol="0">
            <a:spAutoFit/>
          </a:bodyPr>
          <a:lstStyle/>
          <a:p>
            <a:r>
              <a:rPr lang="en-US" altLang="zh-CN" sz="2000" b="1" spc="300" dirty="0">
                <a:solidFill>
                  <a:srgbClr val="CB3125"/>
                </a:solidFill>
                <a:latin typeface="Azonix" pitchFamily="50" charset="0"/>
                <a:ea typeface="Roboto Thin" panose="02000000000000000000" pitchFamily="2" charset="0"/>
                <a:sym typeface="+mn-ea"/>
              </a:rPr>
              <a:t>Importance of Optical Properties of Biological Tissues</a:t>
            </a:r>
            <a:endParaRPr lang="en-US" dirty="0">
              <a:solidFill>
                <a:srgbClr val="2E578B"/>
              </a:solidFill>
              <a:latin typeface="Azonix" pitchFamily="50" charset="0"/>
              <a:ea typeface="Roboto Thin" panose="02000000000000000000" pitchFamily="2" charset="0"/>
            </a:endParaRPr>
          </a:p>
          <a:p>
            <a:pPr lvl="1"/>
            <a:r>
              <a:rPr lang="en-US" dirty="0">
                <a:solidFill>
                  <a:srgbClr val="2E578B"/>
                </a:solidFill>
                <a:latin typeface="Azonix" pitchFamily="50" charset="0"/>
                <a:ea typeface="Roboto Thin" panose="02000000000000000000" pitchFamily="2" charset="0"/>
                <a:sym typeface="+mn-ea"/>
              </a:rPr>
              <a:t>The study of optical properties of biological tissues is of great significance in medical diagnosis and treatment. The optical properties of blood are necessary for various detection methods to calculate the distribution of samples.</a:t>
            </a:r>
            <a:endParaRPr lang="en-US" dirty="0">
              <a:solidFill>
                <a:srgbClr val="2E578B"/>
              </a:solidFill>
              <a:latin typeface="Azonix" pitchFamily="50" charset="0"/>
              <a:ea typeface="Roboto Thin" panose="02000000000000000000" pitchFamily="2" charset="0"/>
            </a:endParaRPr>
          </a:p>
          <a:p>
            <a:r>
              <a:rPr lang="en-US" altLang="zh-CN" sz="2000" b="1" spc="300" dirty="0">
                <a:solidFill>
                  <a:srgbClr val="CB3125"/>
                </a:solidFill>
                <a:latin typeface="Azonix" pitchFamily="50" charset="0"/>
                <a:ea typeface="Roboto Thin" panose="02000000000000000000" pitchFamily="2" charset="0"/>
                <a:sym typeface="+mn-ea"/>
              </a:rPr>
              <a:t>Key Role of Blood Refractive Index</a:t>
            </a:r>
            <a:endParaRPr lang="en-US" dirty="0">
              <a:solidFill>
                <a:srgbClr val="2E578B"/>
              </a:solidFill>
              <a:latin typeface="Azonix" pitchFamily="50" charset="0"/>
              <a:ea typeface="Roboto Thin" panose="02000000000000000000" pitchFamily="2" charset="0"/>
            </a:endParaRPr>
          </a:p>
          <a:p>
            <a:pPr lvl="1"/>
            <a:r>
              <a:rPr lang="en-US" dirty="0">
                <a:solidFill>
                  <a:srgbClr val="2E578B"/>
                </a:solidFill>
                <a:latin typeface="Azonix" pitchFamily="50" charset="0"/>
                <a:ea typeface="Roboto Thin" panose="02000000000000000000" pitchFamily="2" charset="0"/>
                <a:sym typeface="+mn-ea"/>
              </a:rPr>
              <a:t>The refractive index of blood, as a key optical parameter, can reflect the physiological state. Blood analysis based on this measurement is widely used in clinical diagnosis.</a:t>
            </a:r>
            <a:endParaRPr lang="en-US" dirty="0">
              <a:solidFill>
                <a:srgbClr val="2E578B"/>
              </a:solidFill>
              <a:latin typeface="Azonix" pitchFamily="50" charset="0"/>
              <a:ea typeface="Roboto Thin" panose="02000000000000000000" pitchFamily="2" charset="0"/>
            </a:endParaRPr>
          </a:p>
          <a:p>
            <a:r>
              <a:rPr lang="en-US" altLang="zh-CN" sz="2000" b="1" spc="300" dirty="0">
                <a:solidFill>
                  <a:srgbClr val="CB3125"/>
                </a:solidFill>
                <a:latin typeface="Azonix" pitchFamily="50" charset="0"/>
                <a:ea typeface="Roboto Thin" panose="02000000000000000000" pitchFamily="2" charset="0"/>
                <a:sym typeface="+mn-ea"/>
              </a:rPr>
              <a:t>Limitations of Existing Research</a:t>
            </a:r>
            <a:endParaRPr lang="en-US" dirty="0">
              <a:solidFill>
                <a:srgbClr val="2E578B"/>
              </a:solidFill>
              <a:latin typeface="Azonix" pitchFamily="50" charset="0"/>
              <a:ea typeface="Roboto Thin" panose="02000000000000000000" pitchFamily="2" charset="0"/>
            </a:endParaRPr>
          </a:p>
          <a:p>
            <a:pPr lvl="1"/>
            <a:r>
              <a:rPr lang="en-US" dirty="0">
                <a:solidFill>
                  <a:srgbClr val="2E578B"/>
                </a:solidFill>
                <a:latin typeface="Azonix" pitchFamily="50" charset="0"/>
                <a:ea typeface="Roboto Thin" panose="02000000000000000000" pitchFamily="2" charset="0"/>
                <a:sym typeface="+mn-ea"/>
              </a:rPr>
              <a:t>Previous studies on the optical properties of blood components mainly focused on absorption, scattering, anisotropy factors and refractive index at specific wavelengths. Commonly, whole blood was used as a substitute, and the measurement wavelength range was limited, resulting in the loss of optical information of blood samples.</a:t>
            </a:r>
            <a:endParaRPr lang="zh-CN" altLang="en-US"/>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0" y="92075"/>
            <a:ext cx="5338445"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Method and Matieral</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grpSp>
        <p:nvGrpSpPr>
          <p:cNvPr id="114" name="Group 37"/>
          <p:cNvGrpSpPr/>
          <p:nvPr/>
        </p:nvGrpSpPr>
        <p:grpSpPr>
          <a:xfrm>
            <a:off x="4572027" y="2082800"/>
            <a:ext cx="3047946" cy="3487646"/>
            <a:chOff x="6326188" y="3460750"/>
            <a:chExt cx="484188" cy="554038"/>
          </a:xfrm>
          <a:solidFill>
            <a:srgbClr val="CB3125"/>
          </a:solidFill>
        </p:grpSpPr>
        <p:sp>
          <p:nvSpPr>
            <p:cNvPr id="115" name="Freeform 227"/>
            <p:cNvSpPr/>
            <p:nvPr/>
          </p:nvSpPr>
          <p:spPr bwMode="auto">
            <a:xfrm>
              <a:off x="6326188" y="3460750"/>
              <a:ext cx="276225" cy="288925"/>
            </a:xfrm>
            <a:custGeom>
              <a:avLst/>
              <a:gdLst>
                <a:gd name="T0" fmla="*/ 1475 w 1743"/>
                <a:gd name="T1" fmla="*/ 2 h 1815"/>
                <a:gd name="T2" fmla="*/ 1507 w 1743"/>
                <a:gd name="T3" fmla="*/ 21 h 1815"/>
                <a:gd name="T4" fmla="*/ 1733 w 1743"/>
                <a:gd name="T5" fmla="*/ 252 h 1815"/>
                <a:gd name="T6" fmla="*/ 1743 w 1743"/>
                <a:gd name="T7" fmla="*/ 287 h 1815"/>
                <a:gd name="T8" fmla="*/ 1733 w 1743"/>
                <a:gd name="T9" fmla="*/ 320 h 1815"/>
                <a:gd name="T10" fmla="*/ 1507 w 1743"/>
                <a:gd name="T11" fmla="*/ 552 h 1815"/>
                <a:gd name="T12" fmla="*/ 1475 w 1743"/>
                <a:gd name="T13" fmla="*/ 570 h 1815"/>
                <a:gd name="T14" fmla="*/ 1440 w 1743"/>
                <a:gd name="T15" fmla="*/ 570 h 1815"/>
                <a:gd name="T16" fmla="*/ 1408 w 1743"/>
                <a:gd name="T17" fmla="*/ 552 h 1815"/>
                <a:gd name="T18" fmla="*/ 1389 w 1743"/>
                <a:gd name="T19" fmla="*/ 520 h 1815"/>
                <a:gd name="T20" fmla="*/ 1389 w 1743"/>
                <a:gd name="T21" fmla="*/ 484 h 1815"/>
                <a:gd name="T22" fmla="*/ 1408 w 1743"/>
                <a:gd name="T23" fmla="*/ 452 h 1815"/>
                <a:gd name="T24" fmla="*/ 1410 w 1743"/>
                <a:gd name="T25" fmla="*/ 361 h 1815"/>
                <a:gd name="T26" fmla="*/ 1228 w 1743"/>
                <a:gd name="T27" fmla="*/ 388 h 1815"/>
                <a:gd name="T28" fmla="*/ 1056 w 1743"/>
                <a:gd name="T29" fmla="*/ 438 h 1815"/>
                <a:gd name="T30" fmla="*/ 893 w 1743"/>
                <a:gd name="T31" fmla="*/ 510 h 1815"/>
                <a:gd name="T32" fmla="*/ 741 w 1743"/>
                <a:gd name="T33" fmla="*/ 602 h 1815"/>
                <a:gd name="T34" fmla="*/ 602 w 1743"/>
                <a:gd name="T35" fmla="*/ 710 h 1815"/>
                <a:gd name="T36" fmla="*/ 480 w 1743"/>
                <a:gd name="T37" fmla="*/ 835 h 1815"/>
                <a:gd name="T38" fmla="*/ 373 w 1743"/>
                <a:gd name="T39" fmla="*/ 975 h 1815"/>
                <a:gd name="T40" fmla="*/ 284 w 1743"/>
                <a:gd name="T41" fmla="*/ 1129 h 1815"/>
                <a:gd name="T42" fmla="*/ 215 w 1743"/>
                <a:gd name="T43" fmla="*/ 1293 h 1815"/>
                <a:gd name="T44" fmla="*/ 167 w 1743"/>
                <a:gd name="T45" fmla="*/ 1468 h 1815"/>
                <a:gd name="T46" fmla="*/ 143 w 1743"/>
                <a:gd name="T47" fmla="*/ 1650 h 1815"/>
                <a:gd name="T48" fmla="*/ 138 w 1743"/>
                <a:gd name="T49" fmla="*/ 1763 h 1815"/>
                <a:gd name="T50" fmla="*/ 120 w 1743"/>
                <a:gd name="T51" fmla="*/ 1794 h 1815"/>
                <a:gd name="T52" fmla="*/ 89 w 1743"/>
                <a:gd name="T53" fmla="*/ 1812 h 1815"/>
                <a:gd name="T54" fmla="*/ 51 w 1743"/>
                <a:gd name="T55" fmla="*/ 1812 h 1815"/>
                <a:gd name="T56" fmla="*/ 20 w 1743"/>
                <a:gd name="T57" fmla="*/ 1794 h 1815"/>
                <a:gd name="T58" fmla="*/ 2 w 1743"/>
                <a:gd name="T59" fmla="*/ 1763 h 1815"/>
                <a:gd name="T60" fmla="*/ 3 w 1743"/>
                <a:gd name="T61" fmla="*/ 1645 h 1815"/>
                <a:gd name="T62" fmla="*/ 28 w 1743"/>
                <a:gd name="T63" fmla="*/ 1451 h 1815"/>
                <a:gd name="T64" fmla="*/ 76 w 1743"/>
                <a:gd name="T65" fmla="*/ 1265 h 1815"/>
                <a:gd name="T66" fmla="*/ 147 w 1743"/>
                <a:gd name="T67" fmla="*/ 1090 h 1815"/>
                <a:gd name="T68" fmla="*/ 237 w 1743"/>
                <a:gd name="T69" fmla="*/ 926 h 1815"/>
                <a:gd name="T70" fmla="*/ 346 w 1743"/>
                <a:gd name="T71" fmla="*/ 774 h 1815"/>
                <a:gd name="T72" fmla="*/ 473 w 1743"/>
                <a:gd name="T73" fmla="*/ 639 h 1815"/>
                <a:gd name="T74" fmla="*/ 615 w 1743"/>
                <a:gd name="T75" fmla="*/ 519 h 1815"/>
                <a:gd name="T76" fmla="*/ 772 w 1743"/>
                <a:gd name="T77" fmla="*/ 416 h 1815"/>
                <a:gd name="T78" fmla="*/ 940 w 1743"/>
                <a:gd name="T79" fmla="*/ 333 h 1815"/>
                <a:gd name="T80" fmla="*/ 1119 w 1743"/>
                <a:gd name="T81" fmla="*/ 272 h 1815"/>
                <a:gd name="T82" fmla="*/ 1308 w 1743"/>
                <a:gd name="T83" fmla="*/ 232 h 1815"/>
                <a:gd name="T84" fmla="*/ 1505 w 1743"/>
                <a:gd name="T85" fmla="*/ 217 h 1815"/>
                <a:gd name="T86" fmla="*/ 1397 w 1743"/>
                <a:gd name="T87" fmla="*/ 105 h 1815"/>
                <a:gd name="T88" fmla="*/ 1387 w 1743"/>
                <a:gd name="T89" fmla="*/ 71 h 1815"/>
                <a:gd name="T90" fmla="*/ 1397 w 1743"/>
                <a:gd name="T91" fmla="*/ 36 h 1815"/>
                <a:gd name="T92" fmla="*/ 1423 w 1743"/>
                <a:gd name="T93" fmla="*/ 10 h 1815"/>
                <a:gd name="T94" fmla="*/ 1457 w 1743"/>
                <a:gd name="T95" fmla="*/ 0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3" h="1815">
                  <a:moveTo>
                    <a:pt x="1457" y="0"/>
                  </a:moveTo>
                  <a:lnTo>
                    <a:pt x="1475" y="2"/>
                  </a:lnTo>
                  <a:lnTo>
                    <a:pt x="1492" y="10"/>
                  </a:lnTo>
                  <a:lnTo>
                    <a:pt x="1507" y="21"/>
                  </a:lnTo>
                  <a:lnTo>
                    <a:pt x="1722" y="237"/>
                  </a:lnTo>
                  <a:lnTo>
                    <a:pt x="1733" y="252"/>
                  </a:lnTo>
                  <a:lnTo>
                    <a:pt x="1741" y="269"/>
                  </a:lnTo>
                  <a:lnTo>
                    <a:pt x="1743" y="287"/>
                  </a:lnTo>
                  <a:lnTo>
                    <a:pt x="1741" y="304"/>
                  </a:lnTo>
                  <a:lnTo>
                    <a:pt x="1733" y="320"/>
                  </a:lnTo>
                  <a:lnTo>
                    <a:pt x="1722" y="335"/>
                  </a:lnTo>
                  <a:lnTo>
                    <a:pt x="1507" y="552"/>
                  </a:lnTo>
                  <a:lnTo>
                    <a:pt x="1492" y="562"/>
                  </a:lnTo>
                  <a:lnTo>
                    <a:pt x="1475" y="570"/>
                  </a:lnTo>
                  <a:lnTo>
                    <a:pt x="1458" y="572"/>
                  </a:lnTo>
                  <a:lnTo>
                    <a:pt x="1440" y="570"/>
                  </a:lnTo>
                  <a:lnTo>
                    <a:pt x="1423" y="562"/>
                  </a:lnTo>
                  <a:lnTo>
                    <a:pt x="1408" y="552"/>
                  </a:lnTo>
                  <a:lnTo>
                    <a:pt x="1397" y="536"/>
                  </a:lnTo>
                  <a:lnTo>
                    <a:pt x="1389" y="520"/>
                  </a:lnTo>
                  <a:lnTo>
                    <a:pt x="1387" y="502"/>
                  </a:lnTo>
                  <a:lnTo>
                    <a:pt x="1389" y="484"/>
                  </a:lnTo>
                  <a:lnTo>
                    <a:pt x="1397" y="467"/>
                  </a:lnTo>
                  <a:lnTo>
                    <a:pt x="1408" y="452"/>
                  </a:lnTo>
                  <a:lnTo>
                    <a:pt x="1504" y="357"/>
                  </a:lnTo>
                  <a:lnTo>
                    <a:pt x="1410" y="361"/>
                  </a:lnTo>
                  <a:lnTo>
                    <a:pt x="1318" y="371"/>
                  </a:lnTo>
                  <a:lnTo>
                    <a:pt x="1228" y="388"/>
                  </a:lnTo>
                  <a:lnTo>
                    <a:pt x="1140" y="411"/>
                  </a:lnTo>
                  <a:lnTo>
                    <a:pt x="1056" y="438"/>
                  </a:lnTo>
                  <a:lnTo>
                    <a:pt x="972" y="472"/>
                  </a:lnTo>
                  <a:lnTo>
                    <a:pt x="893" y="510"/>
                  </a:lnTo>
                  <a:lnTo>
                    <a:pt x="815" y="553"/>
                  </a:lnTo>
                  <a:lnTo>
                    <a:pt x="741" y="602"/>
                  </a:lnTo>
                  <a:lnTo>
                    <a:pt x="670" y="654"/>
                  </a:lnTo>
                  <a:lnTo>
                    <a:pt x="602" y="710"/>
                  </a:lnTo>
                  <a:lnTo>
                    <a:pt x="539" y="771"/>
                  </a:lnTo>
                  <a:lnTo>
                    <a:pt x="480" y="835"/>
                  </a:lnTo>
                  <a:lnTo>
                    <a:pt x="424" y="904"/>
                  </a:lnTo>
                  <a:lnTo>
                    <a:pt x="373" y="975"/>
                  </a:lnTo>
                  <a:lnTo>
                    <a:pt x="326" y="1050"/>
                  </a:lnTo>
                  <a:lnTo>
                    <a:pt x="284" y="1129"/>
                  </a:lnTo>
                  <a:lnTo>
                    <a:pt x="247" y="1209"/>
                  </a:lnTo>
                  <a:lnTo>
                    <a:pt x="215" y="1293"/>
                  </a:lnTo>
                  <a:lnTo>
                    <a:pt x="188" y="1379"/>
                  </a:lnTo>
                  <a:lnTo>
                    <a:pt x="167" y="1468"/>
                  </a:lnTo>
                  <a:lnTo>
                    <a:pt x="152" y="1558"/>
                  </a:lnTo>
                  <a:lnTo>
                    <a:pt x="143" y="1650"/>
                  </a:lnTo>
                  <a:lnTo>
                    <a:pt x="140" y="1744"/>
                  </a:lnTo>
                  <a:lnTo>
                    <a:pt x="138" y="1763"/>
                  </a:lnTo>
                  <a:lnTo>
                    <a:pt x="130" y="1780"/>
                  </a:lnTo>
                  <a:lnTo>
                    <a:pt x="120" y="1794"/>
                  </a:lnTo>
                  <a:lnTo>
                    <a:pt x="105" y="1805"/>
                  </a:lnTo>
                  <a:lnTo>
                    <a:pt x="89" y="1812"/>
                  </a:lnTo>
                  <a:lnTo>
                    <a:pt x="70" y="1815"/>
                  </a:lnTo>
                  <a:lnTo>
                    <a:pt x="51" y="1812"/>
                  </a:lnTo>
                  <a:lnTo>
                    <a:pt x="34" y="1805"/>
                  </a:lnTo>
                  <a:lnTo>
                    <a:pt x="20" y="1794"/>
                  </a:lnTo>
                  <a:lnTo>
                    <a:pt x="10" y="1780"/>
                  </a:lnTo>
                  <a:lnTo>
                    <a:pt x="2" y="1763"/>
                  </a:lnTo>
                  <a:lnTo>
                    <a:pt x="0" y="1744"/>
                  </a:lnTo>
                  <a:lnTo>
                    <a:pt x="3" y="1645"/>
                  </a:lnTo>
                  <a:lnTo>
                    <a:pt x="13" y="1547"/>
                  </a:lnTo>
                  <a:lnTo>
                    <a:pt x="28" y="1451"/>
                  </a:lnTo>
                  <a:lnTo>
                    <a:pt x="50" y="1357"/>
                  </a:lnTo>
                  <a:lnTo>
                    <a:pt x="76" y="1265"/>
                  </a:lnTo>
                  <a:lnTo>
                    <a:pt x="109" y="1176"/>
                  </a:lnTo>
                  <a:lnTo>
                    <a:pt x="147" y="1090"/>
                  </a:lnTo>
                  <a:lnTo>
                    <a:pt x="190" y="1007"/>
                  </a:lnTo>
                  <a:lnTo>
                    <a:pt x="237" y="926"/>
                  </a:lnTo>
                  <a:lnTo>
                    <a:pt x="290" y="849"/>
                  </a:lnTo>
                  <a:lnTo>
                    <a:pt x="346" y="774"/>
                  </a:lnTo>
                  <a:lnTo>
                    <a:pt x="408" y="704"/>
                  </a:lnTo>
                  <a:lnTo>
                    <a:pt x="473" y="639"/>
                  </a:lnTo>
                  <a:lnTo>
                    <a:pt x="542" y="576"/>
                  </a:lnTo>
                  <a:lnTo>
                    <a:pt x="615" y="519"/>
                  </a:lnTo>
                  <a:lnTo>
                    <a:pt x="691" y="465"/>
                  </a:lnTo>
                  <a:lnTo>
                    <a:pt x="772" y="416"/>
                  </a:lnTo>
                  <a:lnTo>
                    <a:pt x="854" y="372"/>
                  </a:lnTo>
                  <a:lnTo>
                    <a:pt x="940" y="333"/>
                  </a:lnTo>
                  <a:lnTo>
                    <a:pt x="1028" y="299"/>
                  </a:lnTo>
                  <a:lnTo>
                    <a:pt x="1119" y="272"/>
                  </a:lnTo>
                  <a:lnTo>
                    <a:pt x="1212" y="248"/>
                  </a:lnTo>
                  <a:lnTo>
                    <a:pt x="1308" y="232"/>
                  </a:lnTo>
                  <a:lnTo>
                    <a:pt x="1405" y="221"/>
                  </a:lnTo>
                  <a:lnTo>
                    <a:pt x="1505" y="217"/>
                  </a:lnTo>
                  <a:lnTo>
                    <a:pt x="1408" y="120"/>
                  </a:lnTo>
                  <a:lnTo>
                    <a:pt x="1397" y="105"/>
                  </a:lnTo>
                  <a:lnTo>
                    <a:pt x="1389" y="88"/>
                  </a:lnTo>
                  <a:lnTo>
                    <a:pt x="1387" y="71"/>
                  </a:lnTo>
                  <a:lnTo>
                    <a:pt x="1389" y="53"/>
                  </a:lnTo>
                  <a:lnTo>
                    <a:pt x="1397" y="36"/>
                  </a:lnTo>
                  <a:lnTo>
                    <a:pt x="1408" y="21"/>
                  </a:lnTo>
                  <a:lnTo>
                    <a:pt x="1423" y="10"/>
                  </a:lnTo>
                  <a:lnTo>
                    <a:pt x="1440" y="2"/>
                  </a:lnTo>
                  <a:lnTo>
                    <a:pt x="1457" y="0"/>
                  </a:lnTo>
                  <a:close/>
                </a:path>
              </a:pathLst>
            </a:custGeom>
            <a:solidFill>
              <a:srgbClr val="2E578B"/>
            </a:solid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16" name="Freeform 228"/>
            <p:cNvSpPr/>
            <p:nvPr/>
          </p:nvSpPr>
          <p:spPr bwMode="auto">
            <a:xfrm>
              <a:off x="6534151" y="3727450"/>
              <a:ext cx="276225" cy="287338"/>
            </a:xfrm>
            <a:custGeom>
              <a:avLst/>
              <a:gdLst>
                <a:gd name="T0" fmla="*/ 1691 w 1743"/>
                <a:gd name="T1" fmla="*/ 3 h 1815"/>
                <a:gd name="T2" fmla="*/ 1722 w 1743"/>
                <a:gd name="T3" fmla="*/ 21 h 1815"/>
                <a:gd name="T4" fmla="*/ 1740 w 1743"/>
                <a:gd name="T5" fmla="*/ 52 h 1815"/>
                <a:gd name="T6" fmla="*/ 1739 w 1743"/>
                <a:gd name="T7" fmla="*/ 170 h 1815"/>
                <a:gd name="T8" fmla="*/ 1714 w 1743"/>
                <a:gd name="T9" fmla="*/ 364 h 1815"/>
                <a:gd name="T10" fmla="*/ 1666 w 1743"/>
                <a:gd name="T11" fmla="*/ 549 h 1815"/>
                <a:gd name="T12" fmla="*/ 1595 w 1743"/>
                <a:gd name="T13" fmla="*/ 724 h 1815"/>
                <a:gd name="T14" fmla="*/ 1505 w 1743"/>
                <a:gd name="T15" fmla="*/ 889 h 1815"/>
                <a:gd name="T16" fmla="*/ 1395 w 1743"/>
                <a:gd name="T17" fmla="*/ 1040 h 1815"/>
                <a:gd name="T18" fmla="*/ 1269 w 1743"/>
                <a:gd name="T19" fmla="*/ 1176 h 1815"/>
                <a:gd name="T20" fmla="*/ 1126 w 1743"/>
                <a:gd name="T21" fmla="*/ 1296 h 1815"/>
                <a:gd name="T22" fmla="*/ 971 w 1743"/>
                <a:gd name="T23" fmla="*/ 1399 h 1815"/>
                <a:gd name="T24" fmla="*/ 802 w 1743"/>
                <a:gd name="T25" fmla="*/ 1481 h 1815"/>
                <a:gd name="T26" fmla="*/ 622 w 1743"/>
                <a:gd name="T27" fmla="*/ 1543 h 1815"/>
                <a:gd name="T28" fmla="*/ 434 w 1743"/>
                <a:gd name="T29" fmla="*/ 1582 h 1815"/>
                <a:gd name="T30" fmla="*/ 238 w 1743"/>
                <a:gd name="T31" fmla="*/ 1598 h 1815"/>
                <a:gd name="T32" fmla="*/ 346 w 1743"/>
                <a:gd name="T33" fmla="*/ 1710 h 1815"/>
                <a:gd name="T34" fmla="*/ 354 w 1743"/>
                <a:gd name="T35" fmla="*/ 1743 h 1815"/>
                <a:gd name="T36" fmla="*/ 346 w 1743"/>
                <a:gd name="T37" fmla="*/ 1778 h 1815"/>
                <a:gd name="T38" fmla="*/ 320 w 1743"/>
                <a:gd name="T39" fmla="*/ 1805 h 1815"/>
                <a:gd name="T40" fmla="*/ 285 w 1743"/>
                <a:gd name="T41" fmla="*/ 1815 h 1815"/>
                <a:gd name="T42" fmla="*/ 250 w 1743"/>
                <a:gd name="T43" fmla="*/ 1805 h 1815"/>
                <a:gd name="T44" fmla="*/ 20 w 1743"/>
                <a:gd name="T45" fmla="*/ 1578 h 1815"/>
                <a:gd name="T46" fmla="*/ 2 w 1743"/>
                <a:gd name="T47" fmla="*/ 1546 h 1815"/>
                <a:gd name="T48" fmla="*/ 2 w 1743"/>
                <a:gd name="T49" fmla="*/ 1510 h 1815"/>
                <a:gd name="T50" fmla="*/ 20 w 1743"/>
                <a:gd name="T51" fmla="*/ 1479 h 1815"/>
                <a:gd name="T52" fmla="*/ 251 w 1743"/>
                <a:gd name="T53" fmla="*/ 1251 h 1815"/>
                <a:gd name="T54" fmla="*/ 285 w 1743"/>
                <a:gd name="T55" fmla="*/ 1243 h 1815"/>
                <a:gd name="T56" fmla="*/ 320 w 1743"/>
                <a:gd name="T57" fmla="*/ 1251 h 1815"/>
                <a:gd name="T58" fmla="*/ 346 w 1743"/>
                <a:gd name="T59" fmla="*/ 1279 h 1815"/>
                <a:gd name="T60" fmla="*/ 354 w 1743"/>
                <a:gd name="T61" fmla="*/ 1313 h 1815"/>
                <a:gd name="T62" fmla="*/ 346 w 1743"/>
                <a:gd name="T63" fmla="*/ 1348 h 1815"/>
                <a:gd name="T64" fmla="*/ 239 w 1743"/>
                <a:gd name="T65" fmla="*/ 1458 h 1815"/>
                <a:gd name="T66" fmla="*/ 424 w 1743"/>
                <a:gd name="T67" fmla="*/ 1443 h 1815"/>
                <a:gd name="T68" fmla="*/ 601 w 1743"/>
                <a:gd name="T69" fmla="*/ 1404 h 1815"/>
                <a:gd name="T70" fmla="*/ 770 w 1743"/>
                <a:gd name="T71" fmla="*/ 1343 h 1815"/>
                <a:gd name="T72" fmla="*/ 927 w 1743"/>
                <a:gd name="T73" fmla="*/ 1262 h 1815"/>
                <a:gd name="T74" fmla="*/ 1072 w 1743"/>
                <a:gd name="T75" fmla="*/ 1161 h 1815"/>
                <a:gd name="T76" fmla="*/ 1204 w 1743"/>
                <a:gd name="T77" fmla="*/ 1043 h 1815"/>
                <a:gd name="T78" fmla="*/ 1318 w 1743"/>
                <a:gd name="T79" fmla="*/ 911 h 1815"/>
                <a:gd name="T80" fmla="*/ 1416 w 1743"/>
                <a:gd name="T81" fmla="*/ 765 h 1815"/>
                <a:gd name="T82" fmla="*/ 1495 w 1743"/>
                <a:gd name="T83" fmla="*/ 605 h 1815"/>
                <a:gd name="T84" fmla="*/ 1554 w 1743"/>
                <a:gd name="T85" fmla="*/ 436 h 1815"/>
                <a:gd name="T86" fmla="*/ 1590 w 1743"/>
                <a:gd name="T87" fmla="*/ 256 h 1815"/>
                <a:gd name="T88" fmla="*/ 1603 w 1743"/>
                <a:gd name="T89" fmla="*/ 70 h 1815"/>
                <a:gd name="T90" fmla="*/ 1612 w 1743"/>
                <a:gd name="T91" fmla="*/ 35 h 1815"/>
                <a:gd name="T92" fmla="*/ 1637 w 1743"/>
                <a:gd name="T93" fmla="*/ 9 h 1815"/>
                <a:gd name="T94" fmla="*/ 1673 w 1743"/>
                <a:gd name="T95" fmla="*/ 0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3" h="1815">
                  <a:moveTo>
                    <a:pt x="1673" y="0"/>
                  </a:moveTo>
                  <a:lnTo>
                    <a:pt x="1691" y="3"/>
                  </a:lnTo>
                  <a:lnTo>
                    <a:pt x="1708" y="9"/>
                  </a:lnTo>
                  <a:lnTo>
                    <a:pt x="1722" y="21"/>
                  </a:lnTo>
                  <a:lnTo>
                    <a:pt x="1733" y="35"/>
                  </a:lnTo>
                  <a:lnTo>
                    <a:pt x="1740" y="52"/>
                  </a:lnTo>
                  <a:lnTo>
                    <a:pt x="1743" y="70"/>
                  </a:lnTo>
                  <a:lnTo>
                    <a:pt x="1739" y="170"/>
                  </a:lnTo>
                  <a:lnTo>
                    <a:pt x="1730" y="268"/>
                  </a:lnTo>
                  <a:lnTo>
                    <a:pt x="1714" y="364"/>
                  </a:lnTo>
                  <a:lnTo>
                    <a:pt x="1693" y="458"/>
                  </a:lnTo>
                  <a:lnTo>
                    <a:pt x="1666" y="549"/>
                  </a:lnTo>
                  <a:lnTo>
                    <a:pt x="1634" y="638"/>
                  </a:lnTo>
                  <a:lnTo>
                    <a:pt x="1595" y="724"/>
                  </a:lnTo>
                  <a:lnTo>
                    <a:pt x="1553" y="808"/>
                  </a:lnTo>
                  <a:lnTo>
                    <a:pt x="1505" y="889"/>
                  </a:lnTo>
                  <a:lnTo>
                    <a:pt x="1452" y="966"/>
                  </a:lnTo>
                  <a:lnTo>
                    <a:pt x="1395" y="1040"/>
                  </a:lnTo>
                  <a:lnTo>
                    <a:pt x="1334" y="1110"/>
                  </a:lnTo>
                  <a:lnTo>
                    <a:pt x="1269" y="1176"/>
                  </a:lnTo>
                  <a:lnTo>
                    <a:pt x="1199" y="1239"/>
                  </a:lnTo>
                  <a:lnTo>
                    <a:pt x="1126" y="1296"/>
                  </a:lnTo>
                  <a:lnTo>
                    <a:pt x="1050" y="1350"/>
                  </a:lnTo>
                  <a:lnTo>
                    <a:pt x="971" y="1399"/>
                  </a:lnTo>
                  <a:lnTo>
                    <a:pt x="888" y="1442"/>
                  </a:lnTo>
                  <a:lnTo>
                    <a:pt x="802" y="1481"/>
                  </a:lnTo>
                  <a:lnTo>
                    <a:pt x="713" y="1515"/>
                  </a:lnTo>
                  <a:lnTo>
                    <a:pt x="622" y="1543"/>
                  </a:lnTo>
                  <a:lnTo>
                    <a:pt x="529" y="1566"/>
                  </a:lnTo>
                  <a:lnTo>
                    <a:pt x="434" y="1582"/>
                  </a:lnTo>
                  <a:lnTo>
                    <a:pt x="338" y="1594"/>
                  </a:lnTo>
                  <a:lnTo>
                    <a:pt x="238" y="1598"/>
                  </a:lnTo>
                  <a:lnTo>
                    <a:pt x="334" y="1695"/>
                  </a:lnTo>
                  <a:lnTo>
                    <a:pt x="346" y="1710"/>
                  </a:lnTo>
                  <a:lnTo>
                    <a:pt x="352" y="1726"/>
                  </a:lnTo>
                  <a:lnTo>
                    <a:pt x="354" y="1743"/>
                  </a:lnTo>
                  <a:lnTo>
                    <a:pt x="352" y="1761"/>
                  </a:lnTo>
                  <a:lnTo>
                    <a:pt x="346" y="1778"/>
                  </a:lnTo>
                  <a:lnTo>
                    <a:pt x="334" y="1793"/>
                  </a:lnTo>
                  <a:lnTo>
                    <a:pt x="320" y="1805"/>
                  </a:lnTo>
                  <a:lnTo>
                    <a:pt x="303" y="1811"/>
                  </a:lnTo>
                  <a:lnTo>
                    <a:pt x="285" y="1815"/>
                  </a:lnTo>
                  <a:lnTo>
                    <a:pt x="267" y="1811"/>
                  </a:lnTo>
                  <a:lnTo>
                    <a:pt x="250" y="1805"/>
                  </a:lnTo>
                  <a:lnTo>
                    <a:pt x="235" y="1793"/>
                  </a:lnTo>
                  <a:lnTo>
                    <a:pt x="20" y="1578"/>
                  </a:lnTo>
                  <a:lnTo>
                    <a:pt x="9" y="1563"/>
                  </a:lnTo>
                  <a:lnTo>
                    <a:pt x="2" y="1546"/>
                  </a:lnTo>
                  <a:lnTo>
                    <a:pt x="0" y="1528"/>
                  </a:lnTo>
                  <a:lnTo>
                    <a:pt x="2" y="1510"/>
                  </a:lnTo>
                  <a:lnTo>
                    <a:pt x="9" y="1493"/>
                  </a:lnTo>
                  <a:lnTo>
                    <a:pt x="20" y="1479"/>
                  </a:lnTo>
                  <a:lnTo>
                    <a:pt x="235" y="1263"/>
                  </a:lnTo>
                  <a:lnTo>
                    <a:pt x="251" y="1251"/>
                  </a:lnTo>
                  <a:lnTo>
                    <a:pt x="267" y="1245"/>
                  </a:lnTo>
                  <a:lnTo>
                    <a:pt x="285" y="1243"/>
                  </a:lnTo>
                  <a:lnTo>
                    <a:pt x="303" y="1245"/>
                  </a:lnTo>
                  <a:lnTo>
                    <a:pt x="320" y="1251"/>
                  </a:lnTo>
                  <a:lnTo>
                    <a:pt x="334" y="1263"/>
                  </a:lnTo>
                  <a:lnTo>
                    <a:pt x="346" y="1279"/>
                  </a:lnTo>
                  <a:lnTo>
                    <a:pt x="352" y="1295"/>
                  </a:lnTo>
                  <a:lnTo>
                    <a:pt x="354" y="1313"/>
                  </a:lnTo>
                  <a:lnTo>
                    <a:pt x="352" y="1331"/>
                  </a:lnTo>
                  <a:lnTo>
                    <a:pt x="346" y="1348"/>
                  </a:lnTo>
                  <a:lnTo>
                    <a:pt x="334" y="1363"/>
                  </a:lnTo>
                  <a:lnTo>
                    <a:pt x="239" y="1458"/>
                  </a:lnTo>
                  <a:lnTo>
                    <a:pt x="332" y="1454"/>
                  </a:lnTo>
                  <a:lnTo>
                    <a:pt x="424" y="1443"/>
                  </a:lnTo>
                  <a:lnTo>
                    <a:pt x="513" y="1426"/>
                  </a:lnTo>
                  <a:lnTo>
                    <a:pt x="601" y="1404"/>
                  </a:lnTo>
                  <a:lnTo>
                    <a:pt x="687" y="1376"/>
                  </a:lnTo>
                  <a:lnTo>
                    <a:pt x="770" y="1343"/>
                  </a:lnTo>
                  <a:lnTo>
                    <a:pt x="850" y="1304"/>
                  </a:lnTo>
                  <a:lnTo>
                    <a:pt x="927" y="1262"/>
                  </a:lnTo>
                  <a:lnTo>
                    <a:pt x="1001" y="1213"/>
                  </a:lnTo>
                  <a:lnTo>
                    <a:pt x="1072" y="1161"/>
                  </a:lnTo>
                  <a:lnTo>
                    <a:pt x="1140" y="1105"/>
                  </a:lnTo>
                  <a:lnTo>
                    <a:pt x="1204" y="1043"/>
                  </a:lnTo>
                  <a:lnTo>
                    <a:pt x="1263" y="980"/>
                  </a:lnTo>
                  <a:lnTo>
                    <a:pt x="1318" y="911"/>
                  </a:lnTo>
                  <a:lnTo>
                    <a:pt x="1370" y="840"/>
                  </a:lnTo>
                  <a:lnTo>
                    <a:pt x="1416" y="765"/>
                  </a:lnTo>
                  <a:lnTo>
                    <a:pt x="1459" y="686"/>
                  </a:lnTo>
                  <a:lnTo>
                    <a:pt x="1495" y="605"/>
                  </a:lnTo>
                  <a:lnTo>
                    <a:pt x="1528" y="522"/>
                  </a:lnTo>
                  <a:lnTo>
                    <a:pt x="1554" y="436"/>
                  </a:lnTo>
                  <a:lnTo>
                    <a:pt x="1574" y="347"/>
                  </a:lnTo>
                  <a:lnTo>
                    <a:pt x="1590" y="256"/>
                  </a:lnTo>
                  <a:lnTo>
                    <a:pt x="1600" y="164"/>
                  </a:lnTo>
                  <a:lnTo>
                    <a:pt x="1603" y="70"/>
                  </a:lnTo>
                  <a:lnTo>
                    <a:pt x="1605" y="52"/>
                  </a:lnTo>
                  <a:lnTo>
                    <a:pt x="1612" y="35"/>
                  </a:lnTo>
                  <a:lnTo>
                    <a:pt x="1623" y="21"/>
                  </a:lnTo>
                  <a:lnTo>
                    <a:pt x="1637" y="9"/>
                  </a:lnTo>
                  <a:lnTo>
                    <a:pt x="1654" y="3"/>
                  </a:lnTo>
                  <a:lnTo>
                    <a:pt x="1673" y="0"/>
                  </a:lnTo>
                  <a:close/>
                </a:path>
              </a:pathLst>
            </a:custGeom>
            <a:solidFill>
              <a:srgbClr val="2E578B"/>
            </a:solid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17" name="Freeform 229"/>
            <p:cNvSpPr>
              <a:spLocks noEditPoints="1"/>
            </p:cNvSpPr>
            <p:nvPr/>
          </p:nvSpPr>
          <p:spPr bwMode="auto">
            <a:xfrm>
              <a:off x="6497638" y="3667125"/>
              <a:ext cx="142875" cy="142875"/>
            </a:xfrm>
            <a:custGeom>
              <a:avLst/>
              <a:gdLst>
                <a:gd name="T0" fmla="*/ 410 w 901"/>
                <a:gd name="T1" fmla="*/ 143 h 905"/>
                <a:gd name="T2" fmla="*/ 331 w 901"/>
                <a:gd name="T3" fmla="*/ 164 h 905"/>
                <a:gd name="T4" fmla="*/ 260 w 901"/>
                <a:gd name="T5" fmla="*/ 206 h 905"/>
                <a:gd name="T6" fmla="*/ 203 w 901"/>
                <a:gd name="T7" fmla="*/ 262 h 905"/>
                <a:gd name="T8" fmla="*/ 163 w 901"/>
                <a:gd name="T9" fmla="*/ 333 h 905"/>
                <a:gd name="T10" fmla="*/ 142 w 901"/>
                <a:gd name="T11" fmla="*/ 413 h 905"/>
                <a:gd name="T12" fmla="*/ 142 w 901"/>
                <a:gd name="T13" fmla="*/ 493 h 905"/>
                <a:gd name="T14" fmla="*/ 163 w 901"/>
                <a:gd name="T15" fmla="*/ 572 h 905"/>
                <a:gd name="T16" fmla="*/ 204 w 901"/>
                <a:gd name="T17" fmla="*/ 644 h 905"/>
                <a:gd name="T18" fmla="*/ 260 w 901"/>
                <a:gd name="T19" fmla="*/ 701 h 905"/>
                <a:gd name="T20" fmla="*/ 330 w 901"/>
                <a:gd name="T21" fmla="*/ 741 h 905"/>
                <a:gd name="T22" fmla="*/ 408 w 901"/>
                <a:gd name="T23" fmla="*/ 763 h 905"/>
                <a:gd name="T24" fmla="*/ 491 w 901"/>
                <a:gd name="T25" fmla="*/ 763 h 905"/>
                <a:gd name="T26" fmla="*/ 569 w 901"/>
                <a:gd name="T27" fmla="*/ 741 h 905"/>
                <a:gd name="T28" fmla="*/ 640 w 901"/>
                <a:gd name="T29" fmla="*/ 700 h 905"/>
                <a:gd name="T30" fmla="*/ 696 w 901"/>
                <a:gd name="T31" fmla="*/ 643 h 905"/>
                <a:gd name="T32" fmla="*/ 738 w 901"/>
                <a:gd name="T33" fmla="*/ 572 h 905"/>
                <a:gd name="T34" fmla="*/ 759 w 901"/>
                <a:gd name="T35" fmla="*/ 493 h 905"/>
                <a:gd name="T36" fmla="*/ 759 w 901"/>
                <a:gd name="T37" fmla="*/ 413 h 905"/>
                <a:gd name="T38" fmla="*/ 738 w 901"/>
                <a:gd name="T39" fmla="*/ 333 h 905"/>
                <a:gd name="T40" fmla="*/ 696 w 901"/>
                <a:gd name="T41" fmla="*/ 262 h 905"/>
                <a:gd name="T42" fmla="*/ 639 w 901"/>
                <a:gd name="T43" fmla="*/ 205 h 905"/>
                <a:gd name="T44" fmla="*/ 569 w 901"/>
                <a:gd name="T45" fmla="*/ 164 h 905"/>
                <a:gd name="T46" fmla="*/ 491 w 901"/>
                <a:gd name="T47" fmla="*/ 143 h 905"/>
                <a:gd name="T48" fmla="*/ 450 w 901"/>
                <a:gd name="T49" fmla="*/ 0 h 905"/>
                <a:gd name="T50" fmla="*/ 547 w 901"/>
                <a:gd name="T51" fmla="*/ 11 h 905"/>
                <a:gd name="T52" fmla="*/ 638 w 901"/>
                <a:gd name="T53" fmla="*/ 41 h 905"/>
                <a:gd name="T54" fmla="*/ 721 w 901"/>
                <a:gd name="T55" fmla="*/ 90 h 905"/>
                <a:gd name="T56" fmla="*/ 791 w 901"/>
                <a:gd name="T57" fmla="*/ 155 h 905"/>
                <a:gd name="T58" fmla="*/ 846 w 901"/>
                <a:gd name="T59" fmla="*/ 234 h 905"/>
                <a:gd name="T60" fmla="*/ 884 w 901"/>
                <a:gd name="T61" fmla="*/ 328 h 905"/>
                <a:gd name="T62" fmla="*/ 901 w 901"/>
                <a:gd name="T63" fmla="*/ 427 h 905"/>
                <a:gd name="T64" fmla="*/ 896 w 901"/>
                <a:gd name="T65" fmla="*/ 527 h 905"/>
                <a:gd name="T66" fmla="*/ 867 w 901"/>
                <a:gd name="T67" fmla="*/ 626 h 905"/>
                <a:gd name="T68" fmla="*/ 818 w 901"/>
                <a:gd name="T69" fmla="*/ 715 h 905"/>
                <a:gd name="T70" fmla="*/ 752 w 901"/>
                <a:gd name="T71" fmla="*/ 789 h 905"/>
                <a:gd name="T72" fmla="*/ 669 w 901"/>
                <a:gd name="T73" fmla="*/ 847 h 905"/>
                <a:gd name="T74" fmla="*/ 581 w 901"/>
                <a:gd name="T75" fmla="*/ 886 h 905"/>
                <a:gd name="T76" fmla="*/ 494 w 901"/>
                <a:gd name="T77" fmla="*/ 903 h 905"/>
                <a:gd name="T78" fmla="*/ 401 w 901"/>
                <a:gd name="T79" fmla="*/ 902 h 905"/>
                <a:gd name="T80" fmla="*/ 306 w 901"/>
                <a:gd name="T81" fmla="*/ 881 h 905"/>
                <a:gd name="T82" fmla="*/ 219 w 901"/>
                <a:gd name="T83" fmla="*/ 841 h 905"/>
                <a:gd name="T84" fmla="*/ 143 w 901"/>
                <a:gd name="T85" fmla="*/ 784 h 905"/>
                <a:gd name="T86" fmla="*/ 80 w 901"/>
                <a:gd name="T87" fmla="*/ 712 h 905"/>
                <a:gd name="T88" fmla="*/ 34 w 901"/>
                <a:gd name="T89" fmla="*/ 626 h 905"/>
                <a:gd name="T90" fmla="*/ 5 w 901"/>
                <a:gd name="T91" fmla="*/ 527 h 905"/>
                <a:gd name="T92" fmla="*/ 0 w 901"/>
                <a:gd name="T93" fmla="*/ 427 h 905"/>
                <a:gd name="T94" fmla="*/ 17 w 901"/>
                <a:gd name="T95" fmla="*/ 328 h 905"/>
                <a:gd name="T96" fmla="*/ 56 w 901"/>
                <a:gd name="T97" fmla="*/ 233 h 905"/>
                <a:gd name="T98" fmla="*/ 114 w 901"/>
                <a:gd name="T99" fmla="*/ 151 h 905"/>
                <a:gd name="T100" fmla="*/ 188 w 901"/>
                <a:gd name="T101" fmla="*/ 84 h 905"/>
                <a:gd name="T102" fmla="*/ 277 w 901"/>
                <a:gd name="T103" fmla="*/ 35 h 905"/>
                <a:gd name="T104" fmla="*/ 362 w 901"/>
                <a:gd name="T105" fmla="*/ 8 h 905"/>
                <a:gd name="T106" fmla="*/ 450 w 901"/>
                <a:gd name="T107"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1" h="905">
                  <a:moveTo>
                    <a:pt x="450" y="140"/>
                  </a:moveTo>
                  <a:lnTo>
                    <a:pt x="410" y="143"/>
                  </a:lnTo>
                  <a:lnTo>
                    <a:pt x="370" y="152"/>
                  </a:lnTo>
                  <a:lnTo>
                    <a:pt x="331" y="164"/>
                  </a:lnTo>
                  <a:lnTo>
                    <a:pt x="294" y="182"/>
                  </a:lnTo>
                  <a:lnTo>
                    <a:pt x="260" y="206"/>
                  </a:lnTo>
                  <a:lnTo>
                    <a:pt x="230" y="232"/>
                  </a:lnTo>
                  <a:lnTo>
                    <a:pt x="203" y="262"/>
                  </a:lnTo>
                  <a:lnTo>
                    <a:pt x="181" y="296"/>
                  </a:lnTo>
                  <a:lnTo>
                    <a:pt x="163" y="333"/>
                  </a:lnTo>
                  <a:lnTo>
                    <a:pt x="149" y="372"/>
                  </a:lnTo>
                  <a:lnTo>
                    <a:pt x="142" y="413"/>
                  </a:lnTo>
                  <a:lnTo>
                    <a:pt x="138" y="453"/>
                  </a:lnTo>
                  <a:lnTo>
                    <a:pt x="142" y="493"/>
                  </a:lnTo>
                  <a:lnTo>
                    <a:pt x="149" y="533"/>
                  </a:lnTo>
                  <a:lnTo>
                    <a:pt x="163" y="572"/>
                  </a:lnTo>
                  <a:lnTo>
                    <a:pt x="181" y="610"/>
                  </a:lnTo>
                  <a:lnTo>
                    <a:pt x="204" y="644"/>
                  </a:lnTo>
                  <a:lnTo>
                    <a:pt x="231" y="675"/>
                  </a:lnTo>
                  <a:lnTo>
                    <a:pt x="260" y="701"/>
                  </a:lnTo>
                  <a:lnTo>
                    <a:pt x="294" y="723"/>
                  </a:lnTo>
                  <a:lnTo>
                    <a:pt x="330" y="741"/>
                  </a:lnTo>
                  <a:lnTo>
                    <a:pt x="368" y="754"/>
                  </a:lnTo>
                  <a:lnTo>
                    <a:pt x="408" y="763"/>
                  </a:lnTo>
                  <a:lnTo>
                    <a:pt x="450" y="765"/>
                  </a:lnTo>
                  <a:lnTo>
                    <a:pt x="491" y="763"/>
                  </a:lnTo>
                  <a:lnTo>
                    <a:pt x="530" y="754"/>
                  </a:lnTo>
                  <a:lnTo>
                    <a:pt x="569" y="741"/>
                  </a:lnTo>
                  <a:lnTo>
                    <a:pt x="606" y="722"/>
                  </a:lnTo>
                  <a:lnTo>
                    <a:pt x="640" y="700"/>
                  </a:lnTo>
                  <a:lnTo>
                    <a:pt x="670" y="673"/>
                  </a:lnTo>
                  <a:lnTo>
                    <a:pt x="696" y="643"/>
                  </a:lnTo>
                  <a:lnTo>
                    <a:pt x="720" y="609"/>
                  </a:lnTo>
                  <a:lnTo>
                    <a:pt x="738" y="572"/>
                  </a:lnTo>
                  <a:lnTo>
                    <a:pt x="750" y="533"/>
                  </a:lnTo>
                  <a:lnTo>
                    <a:pt x="759" y="493"/>
                  </a:lnTo>
                  <a:lnTo>
                    <a:pt x="761" y="453"/>
                  </a:lnTo>
                  <a:lnTo>
                    <a:pt x="759" y="413"/>
                  </a:lnTo>
                  <a:lnTo>
                    <a:pt x="750" y="372"/>
                  </a:lnTo>
                  <a:lnTo>
                    <a:pt x="738" y="333"/>
                  </a:lnTo>
                  <a:lnTo>
                    <a:pt x="719" y="296"/>
                  </a:lnTo>
                  <a:lnTo>
                    <a:pt x="696" y="262"/>
                  </a:lnTo>
                  <a:lnTo>
                    <a:pt x="670" y="231"/>
                  </a:lnTo>
                  <a:lnTo>
                    <a:pt x="639" y="205"/>
                  </a:lnTo>
                  <a:lnTo>
                    <a:pt x="605" y="182"/>
                  </a:lnTo>
                  <a:lnTo>
                    <a:pt x="569" y="164"/>
                  </a:lnTo>
                  <a:lnTo>
                    <a:pt x="531" y="152"/>
                  </a:lnTo>
                  <a:lnTo>
                    <a:pt x="491" y="143"/>
                  </a:lnTo>
                  <a:lnTo>
                    <a:pt x="450" y="140"/>
                  </a:lnTo>
                  <a:close/>
                  <a:moveTo>
                    <a:pt x="450" y="0"/>
                  </a:moveTo>
                  <a:lnTo>
                    <a:pt x="500" y="3"/>
                  </a:lnTo>
                  <a:lnTo>
                    <a:pt x="547" y="11"/>
                  </a:lnTo>
                  <a:lnTo>
                    <a:pt x="594" y="23"/>
                  </a:lnTo>
                  <a:lnTo>
                    <a:pt x="638" y="41"/>
                  </a:lnTo>
                  <a:lnTo>
                    <a:pt x="681" y="64"/>
                  </a:lnTo>
                  <a:lnTo>
                    <a:pt x="721" y="90"/>
                  </a:lnTo>
                  <a:lnTo>
                    <a:pt x="757" y="121"/>
                  </a:lnTo>
                  <a:lnTo>
                    <a:pt x="791" y="155"/>
                  </a:lnTo>
                  <a:lnTo>
                    <a:pt x="820" y="193"/>
                  </a:lnTo>
                  <a:lnTo>
                    <a:pt x="846" y="234"/>
                  </a:lnTo>
                  <a:lnTo>
                    <a:pt x="867" y="279"/>
                  </a:lnTo>
                  <a:lnTo>
                    <a:pt x="884" y="328"/>
                  </a:lnTo>
                  <a:lnTo>
                    <a:pt x="896" y="378"/>
                  </a:lnTo>
                  <a:lnTo>
                    <a:pt x="901" y="427"/>
                  </a:lnTo>
                  <a:lnTo>
                    <a:pt x="901" y="477"/>
                  </a:lnTo>
                  <a:lnTo>
                    <a:pt x="896" y="527"/>
                  </a:lnTo>
                  <a:lnTo>
                    <a:pt x="884" y="577"/>
                  </a:lnTo>
                  <a:lnTo>
                    <a:pt x="867" y="626"/>
                  </a:lnTo>
                  <a:lnTo>
                    <a:pt x="845" y="671"/>
                  </a:lnTo>
                  <a:lnTo>
                    <a:pt x="818" y="715"/>
                  </a:lnTo>
                  <a:lnTo>
                    <a:pt x="786" y="754"/>
                  </a:lnTo>
                  <a:lnTo>
                    <a:pt x="752" y="789"/>
                  </a:lnTo>
                  <a:lnTo>
                    <a:pt x="711" y="821"/>
                  </a:lnTo>
                  <a:lnTo>
                    <a:pt x="669" y="847"/>
                  </a:lnTo>
                  <a:lnTo>
                    <a:pt x="622" y="870"/>
                  </a:lnTo>
                  <a:lnTo>
                    <a:pt x="581" y="886"/>
                  </a:lnTo>
                  <a:lnTo>
                    <a:pt x="538" y="896"/>
                  </a:lnTo>
                  <a:lnTo>
                    <a:pt x="494" y="903"/>
                  </a:lnTo>
                  <a:lnTo>
                    <a:pt x="450" y="905"/>
                  </a:lnTo>
                  <a:lnTo>
                    <a:pt x="401" y="902"/>
                  </a:lnTo>
                  <a:lnTo>
                    <a:pt x="352" y="894"/>
                  </a:lnTo>
                  <a:lnTo>
                    <a:pt x="306" y="881"/>
                  </a:lnTo>
                  <a:lnTo>
                    <a:pt x="261" y="863"/>
                  </a:lnTo>
                  <a:lnTo>
                    <a:pt x="219" y="841"/>
                  </a:lnTo>
                  <a:lnTo>
                    <a:pt x="180" y="815"/>
                  </a:lnTo>
                  <a:lnTo>
                    <a:pt x="143" y="784"/>
                  </a:lnTo>
                  <a:lnTo>
                    <a:pt x="110" y="750"/>
                  </a:lnTo>
                  <a:lnTo>
                    <a:pt x="80" y="712"/>
                  </a:lnTo>
                  <a:lnTo>
                    <a:pt x="55" y="670"/>
                  </a:lnTo>
                  <a:lnTo>
                    <a:pt x="34" y="626"/>
                  </a:lnTo>
                  <a:lnTo>
                    <a:pt x="17" y="577"/>
                  </a:lnTo>
                  <a:lnTo>
                    <a:pt x="5" y="527"/>
                  </a:lnTo>
                  <a:lnTo>
                    <a:pt x="0" y="477"/>
                  </a:lnTo>
                  <a:lnTo>
                    <a:pt x="0" y="427"/>
                  </a:lnTo>
                  <a:lnTo>
                    <a:pt x="5" y="378"/>
                  </a:lnTo>
                  <a:lnTo>
                    <a:pt x="17" y="328"/>
                  </a:lnTo>
                  <a:lnTo>
                    <a:pt x="34" y="279"/>
                  </a:lnTo>
                  <a:lnTo>
                    <a:pt x="56" y="233"/>
                  </a:lnTo>
                  <a:lnTo>
                    <a:pt x="82" y="190"/>
                  </a:lnTo>
                  <a:lnTo>
                    <a:pt x="114" y="151"/>
                  </a:lnTo>
                  <a:lnTo>
                    <a:pt x="149" y="116"/>
                  </a:lnTo>
                  <a:lnTo>
                    <a:pt x="188" y="84"/>
                  </a:lnTo>
                  <a:lnTo>
                    <a:pt x="232" y="57"/>
                  </a:lnTo>
                  <a:lnTo>
                    <a:pt x="277" y="35"/>
                  </a:lnTo>
                  <a:lnTo>
                    <a:pt x="320" y="20"/>
                  </a:lnTo>
                  <a:lnTo>
                    <a:pt x="362" y="8"/>
                  </a:lnTo>
                  <a:lnTo>
                    <a:pt x="405" y="2"/>
                  </a:lnTo>
                  <a:lnTo>
                    <a:pt x="450" y="0"/>
                  </a:lnTo>
                  <a:close/>
                </a:path>
              </a:pathLst>
            </a:custGeom>
            <a:grp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18" name="Freeform 230"/>
            <p:cNvSpPr>
              <a:spLocks noEditPoints="1"/>
            </p:cNvSpPr>
            <p:nvPr/>
          </p:nvSpPr>
          <p:spPr bwMode="auto">
            <a:xfrm>
              <a:off x="6405563" y="3575050"/>
              <a:ext cx="327025" cy="327025"/>
            </a:xfrm>
            <a:custGeom>
              <a:avLst/>
              <a:gdLst>
                <a:gd name="T0" fmla="*/ 599 w 2059"/>
                <a:gd name="T1" fmla="*/ 201 h 2062"/>
                <a:gd name="T2" fmla="*/ 653 w 2059"/>
                <a:gd name="T3" fmla="*/ 375 h 2062"/>
                <a:gd name="T4" fmla="*/ 421 w 2059"/>
                <a:gd name="T5" fmla="*/ 624 h 2062"/>
                <a:gd name="T6" fmla="*/ 211 w 2059"/>
                <a:gd name="T7" fmla="*/ 598 h 2062"/>
                <a:gd name="T8" fmla="*/ 139 w 2059"/>
                <a:gd name="T9" fmla="*/ 743 h 2062"/>
                <a:gd name="T10" fmla="*/ 287 w 2059"/>
                <a:gd name="T11" fmla="*/ 819 h 2062"/>
                <a:gd name="T12" fmla="*/ 312 w 2059"/>
                <a:gd name="T13" fmla="*/ 1172 h 2062"/>
                <a:gd name="T14" fmla="*/ 144 w 2059"/>
                <a:gd name="T15" fmla="*/ 1304 h 2062"/>
                <a:gd name="T16" fmla="*/ 197 w 2059"/>
                <a:gd name="T17" fmla="*/ 1457 h 2062"/>
                <a:gd name="T18" fmla="*/ 336 w 2059"/>
                <a:gd name="T19" fmla="*/ 1411 h 2062"/>
                <a:gd name="T20" fmla="*/ 532 w 2059"/>
                <a:gd name="T21" fmla="*/ 1567 h 2062"/>
                <a:gd name="T22" fmla="*/ 598 w 2059"/>
                <a:gd name="T23" fmla="*/ 1845 h 2062"/>
                <a:gd name="T24" fmla="*/ 749 w 2059"/>
                <a:gd name="T25" fmla="*/ 1920 h 2062"/>
                <a:gd name="T26" fmla="*/ 867 w 2059"/>
                <a:gd name="T27" fmla="*/ 1747 h 2062"/>
                <a:gd name="T28" fmla="*/ 1184 w 2059"/>
                <a:gd name="T29" fmla="*/ 1747 h 2062"/>
                <a:gd name="T30" fmla="*/ 1303 w 2059"/>
                <a:gd name="T31" fmla="*/ 1919 h 2062"/>
                <a:gd name="T32" fmla="*/ 1457 w 2059"/>
                <a:gd name="T33" fmla="*/ 1861 h 2062"/>
                <a:gd name="T34" fmla="*/ 1405 w 2059"/>
                <a:gd name="T35" fmla="*/ 1705 h 2062"/>
                <a:gd name="T36" fmla="*/ 1603 w 2059"/>
                <a:gd name="T37" fmla="*/ 1484 h 2062"/>
                <a:gd name="T38" fmla="*/ 1845 w 2059"/>
                <a:gd name="T39" fmla="*/ 1462 h 2062"/>
                <a:gd name="T40" fmla="*/ 1917 w 2059"/>
                <a:gd name="T41" fmla="*/ 1322 h 2062"/>
                <a:gd name="T42" fmla="*/ 1788 w 2059"/>
                <a:gd name="T43" fmla="*/ 1252 h 2062"/>
                <a:gd name="T44" fmla="*/ 1756 w 2059"/>
                <a:gd name="T45" fmla="*/ 960 h 2062"/>
                <a:gd name="T46" fmla="*/ 1915 w 2059"/>
                <a:gd name="T47" fmla="*/ 755 h 2062"/>
                <a:gd name="T48" fmla="*/ 1848 w 2059"/>
                <a:gd name="T49" fmla="*/ 598 h 2062"/>
                <a:gd name="T50" fmla="*/ 1637 w 2059"/>
                <a:gd name="T51" fmla="*/ 624 h 2062"/>
                <a:gd name="T52" fmla="*/ 1406 w 2059"/>
                <a:gd name="T53" fmla="*/ 375 h 2062"/>
                <a:gd name="T54" fmla="*/ 1458 w 2059"/>
                <a:gd name="T55" fmla="*/ 200 h 2062"/>
                <a:gd name="T56" fmla="*/ 1305 w 2059"/>
                <a:gd name="T57" fmla="*/ 143 h 2062"/>
                <a:gd name="T58" fmla="*/ 1172 w 2059"/>
                <a:gd name="T59" fmla="*/ 313 h 2062"/>
                <a:gd name="T60" fmla="*/ 819 w 2059"/>
                <a:gd name="T61" fmla="*/ 287 h 2062"/>
                <a:gd name="T62" fmla="*/ 1315 w 2059"/>
                <a:gd name="T63" fmla="*/ 0 h 2062"/>
                <a:gd name="T64" fmla="*/ 1590 w 2059"/>
                <a:gd name="T65" fmla="*/ 151 h 2062"/>
                <a:gd name="T66" fmla="*/ 1684 w 2059"/>
                <a:gd name="T67" fmla="*/ 455 h 2062"/>
                <a:gd name="T68" fmla="*/ 1946 w 2059"/>
                <a:gd name="T69" fmla="*/ 492 h 2062"/>
                <a:gd name="T70" fmla="*/ 2047 w 2059"/>
                <a:gd name="T71" fmla="*/ 805 h 2062"/>
                <a:gd name="T72" fmla="*/ 1900 w 2059"/>
                <a:gd name="T73" fmla="*/ 1068 h 2062"/>
                <a:gd name="T74" fmla="*/ 2056 w 2059"/>
                <a:gd name="T75" fmla="*/ 1286 h 2062"/>
                <a:gd name="T76" fmla="*/ 1925 w 2059"/>
                <a:gd name="T77" fmla="*/ 1584 h 2062"/>
                <a:gd name="T78" fmla="*/ 1646 w 2059"/>
                <a:gd name="T79" fmla="*/ 1647 h 2062"/>
                <a:gd name="T80" fmla="*/ 1579 w 2059"/>
                <a:gd name="T81" fmla="*/ 1933 h 2062"/>
                <a:gd name="T82" fmla="*/ 1288 w 2059"/>
                <a:gd name="T83" fmla="*/ 2060 h 2062"/>
                <a:gd name="T84" fmla="*/ 1067 w 2059"/>
                <a:gd name="T85" fmla="*/ 1903 h 2062"/>
                <a:gd name="T86" fmla="*/ 797 w 2059"/>
                <a:gd name="T87" fmla="*/ 2053 h 2062"/>
                <a:gd name="T88" fmla="*/ 489 w 2059"/>
                <a:gd name="T89" fmla="*/ 1946 h 2062"/>
                <a:gd name="T90" fmla="*/ 454 w 2059"/>
                <a:gd name="T91" fmla="*/ 1687 h 2062"/>
                <a:gd name="T92" fmla="*/ 157 w 2059"/>
                <a:gd name="T93" fmla="*/ 1596 h 2062"/>
                <a:gd name="T94" fmla="*/ 0 w 2059"/>
                <a:gd name="T95" fmla="*/ 1317 h 2062"/>
                <a:gd name="T96" fmla="*/ 166 w 2059"/>
                <a:gd name="T97" fmla="*/ 1144 h 2062"/>
                <a:gd name="T98" fmla="*/ 23 w 2059"/>
                <a:gd name="T99" fmla="*/ 828 h 2062"/>
                <a:gd name="T100" fmla="*/ 94 w 2059"/>
                <a:gd name="T101" fmla="*/ 510 h 2062"/>
                <a:gd name="T102" fmla="*/ 339 w 2059"/>
                <a:gd name="T103" fmla="*/ 499 h 2062"/>
                <a:gd name="T104" fmla="*/ 460 w 2059"/>
                <a:gd name="T105" fmla="*/ 181 h 2062"/>
                <a:gd name="T106" fmla="*/ 714 w 2059"/>
                <a:gd name="T107" fmla="*/ 4 h 2062"/>
                <a:gd name="T108" fmla="*/ 888 w 2059"/>
                <a:gd name="T109" fmla="*/ 96 h 2062"/>
                <a:gd name="T110" fmla="*/ 1217 w 2059"/>
                <a:gd name="T111" fmla="*/ 34 h 2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9" h="2062">
                  <a:moveTo>
                    <a:pt x="745" y="140"/>
                  </a:moveTo>
                  <a:lnTo>
                    <a:pt x="743" y="140"/>
                  </a:lnTo>
                  <a:lnTo>
                    <a:pt x="741" y="140"/>
                  </a:lnTo>
                  <a:lnTo>
                    <a:pt x="739" y="141"/>
                  </a:lnTo>
                  <a:lnTo>
                    <a:pt x="606" y="196"/>
                  </a:lnTo>
                  <a:lnTo>
                    <a:pt x="603" y="197"/>
                  </a:lnTo>
                  <a:lnTo>
                    <a:pt x="601" y="199"/>
                  </a:lnTo>
                  <a:lnTo>
                    <a:pt x="599" y="201"/>
                  </a:lnTo>
                  <a:lnTo>
                    <a:pt x="598" y="205"/>
                  </a:lnTo>
                  <a:lnTo>
                    <a:pt x="597" y="206"/>
                  </a:lnTo>
                  <a:lnTo>
                    <a:pt x="597" y="209"/>
                  </a:lnTo>
                  <a:lnTo>
                    <a:pt x="597" y="212"/>
                  </a:lnTo>
                  <a:lnTo>
                    <a:pt x="598" y="215"/>
                  </a:lnTo>
                  <a:lnTo>
                    <a:pt x="649" y="337"/>
                  </a:lnTo>
                  <a:lnTo>
                    <a:pt x="653" y="356"/>
                  </a:lnTo>
                  <a:lnTo>
                    <a:pt x="653" y="375"/>
                  </a:lnTo>
                  <a:lnTo>
                    <a:pt x="647" y="393"/>
                  </a:lnTo>
                  <a:lnTo>
                    <a:pt x="637" y="409"/>
                  </a:lnTo>
                  <a:lnTo>
                    <a:pt x="622" y="422"/>
                  </a:lnTo>
                  <a:lnTo>
                    <a:pt x="576" y="456"/>
                  </a:lnTo>
                  <a:lnTo>
                    <a:pt x="532" y="493"/>
                  </a:lnTo>
                  <a:lnTo>
                    <a:pt x="492" y="533"/>
                  </a:lnTo>
                  <a:lnTo>
                    <a:pt x="455" y="577"/>
                  </a:lnTo>
                  <a:lnTo>
                    <a:pt x="421" y="624"/>
                  </a:lnTo>
                  <a:lnTo>
                    <a:pt x="408" y="638"/>
                  </a:lnTo>
                  <a:lnTo>
                    <a:pt x="392" y="648"/>
                  </a:lnTo>
                  <a:lnTo>
                    <a:pt x="374" y="653"/>
                  </a:lnTo>
                  <a:lnTo>
                    <a:pt x="355" y="654"/>
                  </a:lnTo>
                  <a:lnTo>
                    <a:pt x="336" y="649"/>
                  </a:lnTo>
                  <a:lnTo>
                    <a:pt x="215" y="599"/>
                  </a:lnTo>
                  <a:lnTo>
                    <a:pt x="212" y="598"/>
                  </a:lnTo>
                  <a:lnTo>
                    <a:pt x="211" y="598"/>
                  </a:lnTo>
                  <a:lnTo>
                    <a:pt x="209" y="597"/>
                  </a:lnTo>
                  <a:lnTo>
                    <a:pt x="206" y="598"/>
                  </a:lnTo>
                  <a:lnTo>
                    <a:pt x="203" y="599"/>
                  </a:lnTo>
                  <a:lnTo>
                    <a:pt x="200" y="600"/>
                  </a:lnTo>
                  <a:lnTo>
                    <a:pt x="197" y="603"/>
                  </a:lnTo>
                  <a:lnTo>
                    <a:pt x="194" y="607"/>
                  </a:lnTo>
                  <a:lnTo>
                    <a:pt x="140" y="739"/>
                  </a:lnTo>
                  <a:lnTo>
                    <a:pt x="139" y="743"/>
                  </a:lnTo>
                  <a:lnTo>
                    <a:pt x="139" y="748"/>
                  </a:lnTo>
                  <a:lnTo>
                    <a:pt x="140" y="751"/>
                  </a:lnTo>
                  <a:lnTo>
                    <a:pt x="141" y="753"/>
                  </a:lnTo>
                  <a:lnTo>
                    <a:pt x="143" y="755"/>
                  </a:lnTo>
                  <a:lnTo>
                    <a:pt x="145" y="756"/>
                  </a:lnTo>
                  <a:lnTo>
                    <a:pt x="148" y="758"/>
                  </a:lnTo>
                  <a:lnTo>
                    <a:pt x="270" y="809"/>
                  </a:lnTo>
                  <a:lnTo>
                    <a:pt x="287" y="819"/>
                  </a:lnTo>
                  <a:lnTo>
                    <a:pt x="299" y="832"/>
                  </a:lnTo>
                  <a:lnTo>
                    <a:pt x="309" y="849"/>
                  </a:lnTo>
                  <a:lnTo>
                    <a:pt x="313" y="867"/>
                  </a:lnTo>
                  <a:lnTo>
                    <a:pt x="312" y="888"/>
                  </a:lnTo>
                  <a:lnTo>
                    <a:pt x="301" y="959"/>
                  </a:lnTo>
                  <a:lnTo>
                    <a:pt x="297" y="1030"/>
                  </a:lnTo>
                  <a:lnTo>
                    <a:pt x="301" y="1102"/>
                  </a:lnTo>
                  <a:lnTo>
                    <a:pt x="312" y="1172"/>
                  </a:lnTo>
                  <a:lnTo>
                    <a:pt x="313" y="1192"/>
                  </a:lnTo>
                  <a:lnTo>
                    <a:pt x="309" y="1211"/>
                  </a:lnTo>
                  <a:lnTo>
                    <a:pt x="299" y="1227"/>
                  </a:lnTo>
                  <a:lnTo>
                    <a:pt x="287" y="1241"/>
                  </a:lnTo>
                  <a:lnTo>
                    <a:pt x="270" y="1251"/>
                  </a:lnTo>
                  <a:lnTo>
                    <a:pt x="148" y="1301"/>
                  </a:lnTo>
                  <a:lnTo>
                    <a:pt x="146" y="1302"/>
                  </a:lnTo>
                  <a:lnTo>
                    <a:pt x="144" y="1304"/>
                  </a:lnTo>
                  <a:lnTo>
                    <a:pt x="141" y="1307"/>
                  </a:lnTo>
                  <a:lnTo>
                    <a:pt x="140" y="1309"/>
                  </a:lnTo>
                  <a:lnTo>
                    <a:pt x="139" y="1311"/>
                  </a:lnTo>
                  <a:lnTo>
                    <a:pt x="139" y="1314"/>
                  </a:lnTo>
                  <a:lnTo>
                    <a:pt x="139" y="1317"/>
                  </a:lnTo>
                  <a:lnTo>
                    <a:pt x="140" y="1320"/>
                  </a:lnTo>
                  <a:lnTo>
                    <a:pt x="194" y="1453"/>
                  </a:lnTo>
                  <a:lnTo>
                    <a:pt x="197" y="1457"/>
                  </a:lnTo>
                  <a:lnTo>
                    <a:pt x="200" y="1459"/>
                  </a:lnTo>
                  <a:lnTo>
                    <a:pt x="203" y="1461"/>
                  </a:lnTo>
                  <a:lnTo>
                    <a:pt x="206" y="1462"/>
                  </a:lnTo>
                  <a:lnTo>
                    <a:pt x="209" y="1462"/>
                  </a:lnTo>
                  <a:lnTo>
                    <a:pt x="211" y="1462"/>
                  </a:lnTo>
                  <a:lnTo>
                    <a:pt x="212" y="1461"/>
                  </a:lnTo>
                  <a:lnTo>
                    <a:pt x="215" y="1461"/>
                  </a:lnTo>
                  <a:lnTo>
                    <a:pt x="336" y="1411"/>
                  </a:lnTo>
                  <a:lnTo>
                    <a:pt x="355" y="1406"/>
                  </a:lnTo>
                  <a:lnTo>
                    <a:pt x="374" y="1406"/>
                  </a:lnTo>
                  <a:lnTo>
                    <a:pt x="392" y="1412"/>
                  </a:lnTo>
                  <a:lnTo>
                    <a:pt x="408" y="1422"/>
                  </a:lnTo>
                  <a:lnTo>
                    <a:pt x="421" y="1437"/>
                  </a:lnTo>
                  <a:lnTo>
                    <a:pt x="455" y="1484"/>
                  </a:lnTo>
                  <a:lnTo>
                    <a:pt x="492" y="1527"/>
                  </a:lnTo>
                  <a:lnTo>
                    <a:pt x="532" y="1567"/>
                  </a:lnTo>
                  <a:lnTo>
                    <a:pt x="576" y="1605"/>
                  </a:lnTo>
                  <a:lnTo>
                    <a:pt x="622" y="1639"/>
                  </a:lnTo>
                  <a:lnTo>
                    <a:pt x="637" y="1651"/>
                  </a:lnTo>
                  <a:lnTo>
                    <a:pt x="647" y="1667"/>
                  </a:lnTo>
                  <a:lnTo>
                    <a:pt x="652" y="1685"/>
                  </a:lnTo>
                  <a:lnTo>
                    <a:pt x="653" y="1704"/>
                  </a:lnTo>
                  <a:lnTo>
                    <a:pt x="648" y="1723"/>
                  </a:lnTo>
                  <a:lnTo>
                    <a:pt x="598" y="1845"/>
                  </a:lnTo>
                  <a:lnTo>
                    <a:pt x="596" y="1853"/>
                  </a:lnTo>
                  <a:lnTo>
                    <a:pt x="599" y="1860"/>
                  </a:lnTo>
                  <a:lnTo>
                    <a:pt x="605" y="1864"/>
                  </a:lnTo>
                  <a:lnTo>
                    <a:pt x="738" y="1920"/>
                  </a:lnTo>
                  <a:lnTo>
                    <a:pt x="741" y="1921"/>
                  </a:lnTo>
                  <a:lnTo>
                    <a:pt x="743" y="1921"/>
                  </a:lnTo>
                  <a:lnTo>
                    <a:pt x="746" y="1921"/>
                  </a:lnTo>
                  <a:lnTo>
                    <a:pt x="749" y="1920"/>
                  </a:lnTo>
                  <a:lnTo>
                    <a:pt x="752" y="1919"/>
                  </a:lnTo>
                  <a:lnTo>
                    <a:pt x="756" y="1915"/>
                  </a:lnTo>
                  <a:lnTo>
                    <a:pt x="758" y="1912"/>
                  </a:lnTo>
                  <a:lnTo>
                    <a:pt x="807" y="1790"/>
                  </a:lnTo>
                  <a:lnTo>
                    <a:pt x="818" y="1773"/>
                  </a:lnTo>
                  <a:lnTo>
                    <a:pt x="832" y="1761"/>
                  </a:lnTo>
                  <a:lnTo>
                    <a:pt x="848" y="1751"/>
                  </a:lnTo>
                  <a:lnTo>
                    <a:pt x="867" y="1747"/>
                  </a:lnTo>
                  <a:lnTo>
                    <a:pt x="886" y="1748"/>
                  </a:lnTo>
                  <a:lnTo>
                    <a:pt x="957" y="1758"/>
                  </a:lnTo>
                  <a:lnTo>
                    <a:pt x="1029" y="1762"/>
                  </a:lnTo>
                  <a:lnTo>
                    <a:pt x="1100" y="1758"/>
                  </a:lnTo>
                  <a:lnTo>
                    <a:pt x="1171" y="1748"/>
                  </a:lnTo>
                  <a:lnTo>
                    <a:pt x="1175" y="1748"/>
                  </a:lnTo>
                  <a:lnTo>
                    <a:pt x="1180" y="1747"/>
                  </a:lnTo>
                  <a:lnTo>
                    <a:pt x="1184" y="1747"/>
                  </a:lnTo>
                  <a:lnTo>
                    <a:pt x="1200" y="1749"/>
                  </a:lnTo>
                  <a:lnTo>
                    <a:pt x="1215" y="1754"/>
                  </a:lnTo>
                  <a:lnTo>
                    <a:pt x="1229" y="1763"/>
                  </a:lnTo>
                  <a:lnTo>
                    <a:pt x="1241" y="1775"/>
                  </a:lnTo>
                  <a:lnTo>
                    <a:pt x="1249" y="1790"/>
                  </a:lnTo>
                  <a:lnTo>
                    <a:pt x="1299" y="1912"/>
                  </a:lnTo>
                  <a:lnTo>
                    <a:pt x="1301" y="1915"/>
                  </a:lnTo>
                  <a:lnTo>
                    <a:pt x="1303" y="1919"/>
                  </a:lnTo>
                  <a:lnTo>
                    <a:pt x="1306" y="1920"/>
                  </a:lnTo>
                  <a:lnTo>
                    <a:pt x="1309" y="1921"/>
                  </a:lnTo>
                  <a:lnTo>
                    <a:pt x="1313" y="1921"/>
                  </a:lnTo>
                  <a:lnTo>
                    <a:pt x="1316" y="1921"/>
                  </a:lnTo>
                  <a:lnTo>
                    <a:pt x="1319" y="1920"/>
                  </a:lnTo>
                  <a:lnTo>
                    <a:pt x="1451" y="1864"/>
                  </a:lnTo>
                  <a:lnTo>
                    <a:pt x="1454" y="1863"/>
                  </a:lnTo>
                  <a:lnTo>
                    <a:pt x="1457" y="1861"/>
                  </a:lnTo>
                  <a:lnTo>
                    <a:pt x="1459" y="1859"/>
                  </a:lnTo>
                  <a:lnTo>
                    <a:pt x="1460" y="1857"/>
                  </a:lnTo>
                  <a:lnTo>
                    <a:pt x="1461" y="1855"/>
                  </a:lnTo>
                  <a:lnTo>
                    <a:pt x="1461" y="1853"/>
                  </a:lnTo>
                  <a:lnTo>
                    <a:pt x="1461" y="1850"/>
                  </a:lnTo>
                  <a:lnTo>
                    <a:pt x="1460" y="1845"/>
                  </a:lnTo>
                  <a:lnTo>
                    <a:pt x="1409" y="1723"/>
                  </a:lnTo>
                  <a:lnTo>
                    <a:pt x="1405" y="1705"/>
                  </a:lnTo>
                  <a:lnTo>
                    <a:pt x="1405" y="1686"/>
                  </a:lnTo>
                  <a:lnTo>
                    <a:pt x="1411" y="1668"/>
                  </a:lnTo>
                  <a:lnTo>
                    <a:pt x="1421" y="1652"/>
                  </a:lnTo>
                  <a:lnTo>
                    <a:pt x="1435" y="1639"/>
                  </a:lnTo>
                  <a:lnTo>
                    <a:pt x="1482" y="1606"/>
                  </a:lnTo>
                  <a:lnTo>
                    <a:pt x="1525" y="1569"/>
                  </a:lnTo>
                  <a:lnTo>
                    <a:pt x="1566" y="1527"/>
                  </a:lnTo>
                  <a:lnTo>
                    <a:pt x="1603" y="1484"/>
                  </a:lnTo>
                  <a:lnTo>
                    <a:pt x="1637" y="1437"/>
                  </a:lnTo>
                  <a:lnTo>
                    <a:pt x="1649" y="1423"/>
                  </a:lnTo>
                  <a:lnTo>
                    <a:pt x="1665" y="1413"/>
                  </a:lnTo>
                  <a:lnTo>
                    <a:pt x="1683" y="1407"/>
                  </a:lnTo>
                  <a:lnTo>
                    <a:pt x="1702" y="1407"/>
                  </a:lnTo>
                  <a:lnTo>
                    <a:pt x="1721" y="1412"/>
                  </a:lnTo>
                  <a:lnTo>
                    <a:pt x="1843" y="1462"/>
                  </a:lnTo>
                  <a:lnTo>
                    <a:pt x="1845" y="1462"/>
                  </a:lnTo>
                  <a:lnTo>
                    <a:pt x="1846" y="1464"/>
                  </a:lnTo>
                  <a:lnTo>
                    <a:pt x="1848" y="1464"/>
                  </a:lnTo>
                  <a:lnTo>
                    <a:pt x="1851" y="1464"/>
                  </a:lnTo>
                  <a:lnTo>
                    <a:pt x="1855" y="1462"/>
                  </a:lnTo>
                  <a:lnTo>
                    <a:pt x="1858" y="1460"/>
                  </a:lnTo>
                  <a:lnTo>
                    <a:pt x="1861" y="1458"/>
                  </a:lnTo>
                  <a:lnTo>
                    <a:pt x="1863" y="1454"/>
                  </a:lnTo>
                  <a:lnTo>
                    <a:pt x="1917" y="1322"/>
                  </a:lnTo>
                  <a:lnTo>
                    <a:pt x="1918" y="1318"/>
                  </a:lnTo>
                  <a:lnTo>
                    <a:pt x="1918" y="1314"/>
                  </a:lnTo>
                  <a:lnTo>
                    <a:pt x="1917" y="1311"/>
                  </a:lnTo>
                  <a:lnTo>
                    <a:pt x="1916" y="1309"/>
                  </a:lnTo>
                  <a:lnTo>
                    <a:pt x="1915" y="1307"/>
                  </a:lnTo>
                  <a:lnTo>
                    <a:pt x="1913" y="1304"/>
                  </a:lnTo>
                  <a:lnTo>
                    <a:pt x="1910" y="1302"/>
                  </a:lnTo>
                  <a:lnTo>
                    <a:pt x="1788" y="1252"/>
                  </a:lnTo>
                  <a:lnTo>
                    <a:pt x="1771" y="1243"/>
                  </a:lnTo>
                  <a:lnTo>
                    <a:pt x="1758" y="1229"/>
                  </a:lnTo>
                  <a:lnTo>
                    <a:pt x="1749" y="1212"/>
                  </a:lnTo>
                  <a:lnTo>
                    <a:pt x="1745" y="1193"/>
                  </a:lnTo>
                  <a:lnTo>
                    <a:pt x="1746" y="1174"/>
                  </a:lnTo>
                  <a:lnTo>
                    <a:pt x="1756" y="1103"/>
                  </a:lnTo>
                  <a:lnTo>
                    <a:pt x="1760" y="1031"/>
                  </a:lnTo>
                  <a:lnTo>
                    <a:pt x="1756" y="960"/>
                  </a:lnTo>
                  <a:lnTo>
                    <a:pt x="1746" y="889"/>
                  </a:lnTo>
                  <a:lnTo>
                    <a:pt x="1745" y="870"/>
                  </a:lnTo>
                  <a:lnTo>
                    <a:pt x="1749" y="851"/>
                  </a:lnTo>
                  <a:lnTo>
                    <a:pt x="1757" y="834"/>
                  </a:lnTo>
                  <a:lnTo>
                    <a:pt x="1771" y="820"/>
                  </a:lnTo>
                  <a:lnTo>
                    <a:pt x="1788" y="810"/>
                  </a:lnTo>
                  <a:lnTo>
                    <a:pt x="1910" y="760"/>
                  </a:lnTo>
                  <a:lnTo>
                    <a:pt x="1915" y="755"/>
                  </a:lnTo>
                  <a:lnTo>
                    <a:pt x="1918" y="748"/>
                  </a:lnTo>
                  <a:lnTo>
                    <a:pt x="1917" y="740"/>
                  </a:lnTo>
                  <a:lnTo>
                    <a:pt x="1863" y="608"/>
                  </a:lnTo>
                  <a:lnTo>
                    <a:pt x="1861" y="603"/>
                  </a:lnTo>
                  <a:lnTo>
                    <a:pt x="1858" y="601"/>
                  </a:lnTo>
                  <a:lnTo>
                    <a:pt x="1855" y="599"/>
                  </a:lnTo>
                  <a:lnTo>
                    <a:pt x="1851" y="598"/>
                  </a:lnTo>
                  <a:lnTo>
                    <a:pt x="1848" y="598"/>
                  </a:lnTo>
                  <a:lnTo>
                    <a:pt x="1846" y="599"/>
                  </a:lnTo>
                  <a:lnTo>
                    <a:pt x="1843" y="599"/>
                  </a:lnTo>
                  <a:lnTo>
                    <a:pt x="1721" y="650"/>
                  </a:lnTo>
                  <a:lnTo>
                    <a:pt x="1702" y="654"/>
                  </a:lnTo>
                  <a:lnTo>
                    <a:pt x="1683" y="654"/>
                  </a:lnTo>
                  <a:lnTo>
                    <a:pt x="1665" y="649"/>
                  </a:lnTo>
                  <a:lnTo>
                    <a:pt x="1649" y="638"/>
                  </a:lnTo>
                  <a:lnTo>
                    <a:pt x="1637" y="624"/>
                  </a:lnTo>
                  <a:lnTo>
                    <a:pt x="1603" y="577"/>
                  </a:lnTo>
                  <a:lnTo>
                    <a:pt x="1566" y="533"/>
                  </a:lnTo>
                  <a:lnTo>
                    <a:pt x="1525" y="493"/>
                  </a:lnTo>
                  <a:lnTo>
                    <a:pt x="1482" y="456"/>
                  </a:lnTo>
                  <a:lnTo>
                    <a:pt x="1435" y="422"/>
                  </a:lnTo>
                  <a:lnTo>
                    <a:pt x="1421" y="409"/>
                  </a:lnTo>
                  <a:lnTo>
                    <a:pt x="1411" y="393"/>
                  </a:lnTo>
                  <a:lnTo>
                    <a:pt x="1406" y="375"/>
                  </a:lnTo>
                  <a:lnTo>
                    <a:pt x="1405" y="356"/>
                  </a:lnTo>
                  <a:lnTo>
                    <a:pt x="1410" y="337"/>
                  </a:lnTo>
                  <a:lnTo>
                    <a:pt x="1460" y="215"/>
                  </a:lnTo>
                  <a:lnTo>
                    <a:pt x="1462" y="211"/>
                  </a:lnTo>
                  <a:lnTo>
                    <a:pt x="1461" y="208"/>
                  </a:lnTo>
                  <a:lnTo>
                    <a:pt x="1460" y="205"/>
                  </a:lnTo>
                  <a:lnTo>
                    <a:pt x="1460" y="202"/>
                  </a:lnTo>
                  <a:lnTo>
                    <a:pt x="1458" y="200"/>
                  </a:lnTo>
                  <a:lnTo>
                    <a:pt x="1455" y="198"/>
                  </a:lnTo>
                  <a:lnTo>
                    <a:pt x="1452" y="196"/>
                  </a:lnTo>
                  <a:lnTo>
                    <a:pt x="1320" y="142"/>
                  </a:lnTo>
                  <a:lnTo>
                    <a:pt x="1317" y="141"/>
                  </a:lnTo>
                  <a:lnTo>
                    <a:pt x="1315" y="140"/>
                  </a:lnTo>
                  <a:lnTo>
                    <a:pt x="1311" y="141"/>
                  </a:lnTo>
                  <a:lnTo>
                    <a:pt x="1308" y="142"/>
                  </a:lnTo>
                  <a:lnTo>
                    <a:pt x="1305" y="143"/>
                  </a:lnTo>
                  <a:lnTo>
                    <a:pt x="1302" y="146"/>
                  </a:lnTo>
                  <a:lnTo>
                    <a:pt x="1300" y="149"/>
                  </a:lnTo>
                  <a:lnTo>
                    <a:pt x="1250" y="271"/>
                  </a:lnTo>
                  <a:lnTo>
                    <a:pt x="1239" y="288"/>
                  </a:lnTo>
                  <a:lnTo>
                    <a:pt x="1226" y="301"/>
                  </a:lnTo>
                  <a:lnTo>
                    <a:pt x="1210" y="310"/>
                  </a:lnTo>
                  <a:lnTo>
                    <a:pt x="1191" y="314"/>
                  </a:lnTo>
                  <a:lnTo>
                    <a:pt x="1172" y="313"/>
                  </a:lnTo>
                  <a:lnTo>
                    <a:pt x="1101" y="302"/>
                  </a:lnTo>
                  <a:lnTo>
                    <a:pt x="1030" y="299"/>
                  </a:lnTo>
                  <a:lnTo>
                    <a:pt x="958" y="302"/>
                  </a:lnTo>
                  <a:lnTo>
                    <a:pt x="888" y="313"/>
                  </a:lnTo>
                  <a:lnTo>
                    <a:pt x="868" y="314"/>
                  </a:lnTo>
                  <a:lnTo>
                    <a:pt x="850" y="310"/>
                  </a:lnTo>
                  <a:lnTo>
                    <a:pt x="833" y="301"/>
                  </a:lnTo>
                  <a:lnTo>
                    <a:pt x="819" y="287"/>
                  </a:lnTo>
                  <a:lnTo>
                    <a:pt x="809" y="270"/>
                  </a:lnTo>
                  <a:lnTo>
                    <a:pt x="759" y="148"/>
                  </a:lnTo>
                  <a:lnTo>
                    <a:pt x="757" y="145"/>
                  </a:lnTo>
                  <a:lnTo>
                    <a:pt x="755" y="142"/>
                  </a:lnTo>
                  <a:lnTo>
                    <a:pt x="751" y="141"/>
                  </a:lnTo>
                  <a:lnTo>
                    <a:pt x="748" y="140"/>
                  </a:lnTo>
                  <a:lnTo>
                    <a:pt x="745" y="140"/>
                  </a:lnTo>
                  <a:close/>
                  <a:moveTo>
                    <a:pt x="1315" y="0"/>
                  </a:moveTo>
                  <a:lnTo>
                    <a:pt x="1344" y="3"/>
                  </a:lnTo>
                  <a:lnTo>
                    <a:pt x="1374" y="12"/>
                  </a:lnTo>
                  <a:lnTo>
                    <a:pt x="1506" y="67"/>
                  </a:lnTo>
                  <a:lnTo>
                    <a:pt x="1529" y="78"/>
                  </a:lnTo>
                  <a:lnTo>
                    <a:pt x="1548" y="92"/>
                  </a:lnTo>
                  <a:lnTo>
                    <a:pt x="1565" y="109"/>
                  </a:lnTo>
                  <a:lnTo>
                    <a:pt x="1579" y="129"/>
                  </a:lnTo>
                  <a:lnTo>
                    <a:pt x="1590" y="151"/>
                  </a:lnTo>
                  <a:lnTo>
                    <a:pt x="1599" y="180"/>
                  </a:lnTo>
                  <a:lnTo>
                    <a:pt x="1602" y="211"/>
                  </a:lnTo>
                  <a:lnTo>
                    <a:pt x="1599" y="241"/>
                  </a:lnTo>
                  <a:lnTo>
                    <a:pt x="1590" y="270"/>
                  </a:lnTo>
                  <a:lnTo>
                    <a:pt x="1561" y="340"/>
                  </a:lnTo>
                  <a:lnTo>
                    <a:pt x="1605" y="375"/>
                  </a:lnTo>
                  <a:lnTo>
                    <a:pt x="1646" y="415"/>
                  </a:lnTo>
                  <a:lnTo>
                    <a:pt x="1684" y="455"/>
                  </a:lnTo>
                  <a:lnTo>
                    <a:pt x="1720" y="499"/>
                  </a:lnTo>
                  <a:lnTo>
                    <a:pt x="1790" y="470"/>
                  </a:lnTo>
                  <a:lnTo>
                    <a:pt x="1819" y="461"/>
                  </a:lnTo>
                  <a:lnTo>
                    <a:pt x="1849" y="458"/>
                  </a:lnTo>
                  <a:lnTo>
                    <a:pt x="1876" y="460"/>
                  </a:lnTo>
                  <a:lnTo>
                    <a:pt x="1901" y="467"/>
                  </a:lnTo>
                  <a:lnTo>
                    <a:pt x="1925" y="477"/>
                  </a:lnTo>
                  <a:lnTo>
                    <a:pt x="1946" y="492"/>
                  </a:lnTo>
                  <a:lnTo>
                    <a:pt x="1965" y="509"/>
                  </a:lnTo>
                  <a:lnTo>
                    <a:pt x="1981" y="530"/>
                  </a:lnTo>
                  <a:lnTo>
                    <a:pt x="1993" y="554"/>
                  </a:lnTo>
                  <a:lnTo>
                    <a:pt x="2047" y="686"/>
                  </a:lnTo>
                  <a:lnTo>
                    <a:pt x="2056" y="716"/>
                  </a:lnTo>
                  <a:lnTo>
                    <a:pt x="2059" y="746"/>
                  </a:lnTo>
                  <a:lnTo>
                    <a:pt x="2056" y="776"/>
                  </a:lnTo>
                  <a:lnTo>
                    <a:pt x="2047" y="805"/>
                  </a:lnTo>
                  <a:lnTo>
                    <a:pt x="2036" y="827"/>
                  </a:lnTo>
                  <a:lnTo>
                    <a:pt x="2022" y="847"/>
                  </a:lnTo>
                  <a:lnTo>
                    <a:pt x="2005" y="864"/>
                  </a:lnTo>
                  <a:lnTo>
                    <a:pt x="1985" y="878"/>
                  </a:lnTo>
                  <a:lnTo>
                    <a:pt x="1964" y="890"/>
                  </a:lnTo>
                  <a:lnTo>
                    <a:pt x="1893" y="918"/>
                  </a:lnTo>
                  <a:lnTo>
                    <a:pt x="1900" y="994"/>
                  </a:lnTo>
                  <a:lnTo>
                    <a:pt x="1900" y="1068"/>
                  </a:lnTo>
                  <a:lnTo>
                    <a:pt x="1893" y="1143"/>
                  </a:lnTo>
                  <a:lnTo>
                    <a:pt x="1964" y="1172"/>
                  </a:lnTo>
                  <a:lnTo>
                    <a:pt x="1985" y="1184"/>
                  </a:lnTo>
                  <a:lnTo>
                    <a:pt x="2005" y="1198"/>
                  </a:lnTo>
                  <a:lnTo>
                    <a:pt x="2022" y="1215"/>
                  </a:lnTo>
                  <a:lnTo>
                    <a:pt x="2037" y="1234"/>
                  </a:lnTo>
                  <a:lnTo>
                    <a:pt x="2047" y="1257"/>
                  </a:lnTo>
                  <a:lnTo>
                    <a:pt x="2056" y="1286"/>
                  </a:lnTo>
                  <a:lnTo>
                    <a:pt x="2059" y="1316"/>
                  </a:lnTo>
                  <a:lnTo>
                    <a:pt x="2056" y="1347"/>
                  </a:lnTo>
                  <a:lnTo>
                    <a:pt x="2047" y="1376"/>
                  </a:lnTo>
                  <a:lnTo>
                    <a:pt x="1993" y="1508"/>
                  </a:lnTo>
                  <a:lnTo>
                    <a:pt x="1981" y="1532"/>
                  </a:lnTo>
                  <a:lnTo>
                    <a:pt x="1965" y="1553"/>
                  </a:lnTo>
                  <a:lnTo>
                    <a:pt x="1946" y="1571"/>
                  </a:lnTo>
                  <a:lnTo>
                    <a:pt x="1925" y="1584"/>
                  </a:lnTo>
                  <a:lnTo>
                    <a:pt x="1901" y="1595"/>
                  </a:lnTo>
                  <a:lnTo>
                    <a:pt x="1876" y="1601"/>
                  </a:lnTo>
                  <a:lnTo>
                    <a:pt x="1849" y="1605"/>
                  </a:lnTo>
                  <a:lnTo>
                    <a:pt x="1819" y="1601"/>
                  </a:lnTo>
                  <a:lnTo>
                    <a:pt x="1790" y="1592"/>
                  </a:lnTo>
                  <a:lnTo>
                    <a:pt x="1720" y="1563"/>
                  </a:lnTo>
                  <a:lnTo>
                    <a:pt x="1684" y="1607"/>
                  </a:lnTo>
                  <a:lnTo>
                    <a:pt x="1646" y="1647"/>
                  </a:lnTo>
                  <a:lnTo>
                    <a:pt x="1605" y="1686"/>
                  </a:lnTo>
                  <a:lnTo>
                    <a:pt x="1561" y="1721"/>
                  </a:lnTo>
                  <a:lnTo>
                    <a:pt x="1590" y="1792"/>
                  </a:lnTo>
                  <a:lnTo>
                    <a:pt x="1599" y="1821"/>
                  </a:lnTo>
                  <a:lnTo>
                    <a:pt x="1602" y="1852"/>
                  </a:lnTo>
                  <a:lnTo>
                    <a:pt x="1599" y="1881"/>
                  </a:lnTo>
                  <a:lnTo>
                    <a:pt x="1590" y="1911"/>
                  </a:lnTo>
                  <a:lnTo>
                    <a:pt x="1579" y="1933"/>
                  </a:lnTo>
                  <a:lnTo>
                    <a:pt x="1565" y="1952"/>
                  </a:lnTo>
                  <a:lnTo>
                    <a:pt x="1548" y="1971"/>
                  </a:lnTo>
                  <a:lnTo>
                    <a:pt x="1527" y="1984"/>
                  </a:lnTo>
                  <a:lnTo>
                    <a:pt x="1506" y="1995"/>
                  </a:lnTo>
                  <a:lnTo>
                    <a:pt x="1374" y="2050"/>
                  </a:lnTo>
                  <a:lnTo>
                    <a:pt x="1344" y="2059"/>
                  </a:lnTo>
                  <a:lnTo>
                    <a:pt x="1315" y="2062"/>
                  </a:lnTo>
                  <a:lnTo>
                    <a:pt x="1288" y="2060"/>
                  </a:lnTo>
                  <a:lnTo>
                    <a:pt x="1263" y="2053"/>
                  </a:lnTo>
                  <a:lnTo>
                    <a:pt x="1238" y="2043"/>
                  </a:lnTo>
                  <a:lnTo>
                    <a:pt x="1217" y="2029"/>
                  </a:lnTo>
                  <a:lnTo>
                    <a:pt x="1198" y="2011"/>
                  </a:lnTo>
                  <a:lnTo>
                    <a:pt x="1183" y="1990"/>
                  </a:lnTo>
                  <a:lnTo>
                    <a:pt x="1171" y="1966"/>
                  </a:lnTo>
                  <a:lnTo>
                    <a:pt x="1142" y="1896"/>
                  </a:lnTo>
                  <a:lnTo>
                    <a:pt x="1067" y="1903"/>
                  </a:lnTo>
                  <a:lnTo>
                    <a:pt x="992" y="1903"/>
                  </a:lnTo>
                  <a:lnTo>
                    <a:pt x="918" y="1896"/>
                  </a:lnTo>
                  <a:lnTo>
                    <a:pt x="888" y="1966"/>
                  </a:lnTo>
                  <a:lnTo>
                    <a:pt x="876" y="1990"/>
                  </a:lnTo>
                  <a:lnTo>
                    <a:pt x="860" y="2011"/>
                  </a:lnTo>
                  <a:lnTo>
                    <a:pt x="841" y="2029"/>
                  </a:lnTo>
                  <a:lnTo>
                    <a:pt x="820" y="2043"/>
                  </a:lnTo>
                  <a:lnTo>
                    <a:pt x="797" y="2053"/>
                  </a:lnTo>
                  <a:lnTo>
                    <a:pt x="771" y="2060"/>
                  </a:lnTo>
                  <a:lnTo>
                    <a:pt x="745" y="2062"/>
                  </a:lnTo>
                  <a:lnTo>
                    <a:pt x="714" y="2059"/>
                  </a:lnTo>
                  <a:lnTo>
                    <a:pt x="686" y="2050"/>
                  </a:lnTo>
                  <a:lnTo>
                    <a:pt x="553" y="1995"/>
                  </a:lnTo>
                  <a:lnTo>
                    <a:pt x="528" y="1982"/>
                  </a:lnTo>
                  <a:lnTo>
                    <a:pt x="507" y="1966"/>
                  </a:lnTo>
                  <a:lnTo>
                    <a:pt x="489" y="1946"/>
                  </a:lnTo>
                  <a:lnTo>
                    <a:pt x="474" y="1924"/>
                  </a:lnTo>
                  <a:lnTo>
                    <a:pt x="464" y="1899"/>
                  </a:lnTo>
                  <a:lnTo>
                    <a:pt x="458" y="1873"/>
                  </a:lnTo>
                  <a:lnTo>
                    <a:pt x="457" y="1846"/>
                  </a:lnTo>
                  <a:lnTo>
                    <a:pt x="460" y="1820"/>
                  </a:lnTo>
                  <a:lnTo>
                    <a:pt x="469" y="1792"/>
                  </a:lnTo>
                  <a:lnTo>
                    <a:pt x="497" y="1722"/>
                  </a:lnTo>
                  <a:lnTo>
                    <a:pt x="454" y="1687"/>
                  </a:lnTo>
                  <a:lnTo>
                    <a:pt x="414" y="1648"/>
                  </a:lnTo>
                  <a:lnTo>
                    <a:pt x="375" y="1607"/>
                  </a:lnTo>
                  <a:lnTo>
                    <a:pt x="339" y="1563"/>
                  </a:lnTo>
                  <a:lnTo>
                    <a:pt x="270" y="1593"/>
                  </a:lnTo>
                  <a:lnTo>
                    <a:pt x="240" y="1601"/>
                  </a:lnTo>
                  <a:lnTo>
                    <a:pt x="209" y="1605"/>
                  </a:lnTo>
                  <a:lnTo>
                    <a:pt x="183" y="1602"/>
                  </a:lnTo>
                  <a:lnTo>
                    <a:pt x="157" y="1596"/>
                  </a:lnTo>
                  <a:lnTo>
                    <a:pt x="134" y="1586"/>
                  </a:lnTo>
                  <a:lnTo>
                    <a:pt x="113" y="1571"/>
                  </a:lnTo>
                  <a:lnTo>
                    <a:pt x="94" y="1554"/>
                  </a:lnTo>
                  <a:lnTo>
                    <a:pt x="78" y="1532"/>
                  </a:lnTo>
                  <a:lnTo>
                    <a:pt x="66" y="1509"/>
                  </a:lnTo>
                  <a:lnTo>
                    <a:pt x="11" y="1377"/>
                  </a:lnTo>
                  <a:lnTo>
                    <a:pt x="3" y="1347"/>
                  </a:lnTo>
                  <a:lnTo>
                    <a:pt x="0" y="1317"/>
                  </a:lnTo>
                  <a:lnTo>
                    <a:pt x="3" y="1286"/>
                  </a:lnTo>
                  <a:lnTo>
                    <a:pt x="11" y="1258"/>
                  </a:lnTo>
                  <a:lnTo>
                    <a:pt x="23" y="1236"/>
                  </a:lnTo>
                  <a:lnTo>
                    <a:pt x="37" y="1215"/>
                  </a:lnTo>
                  <a:lnTo>
                    <a:pt x="55" y="1198"/>
                  </a:lnTo>
                  <a:lnTo>
                    <a:pt x="74" y="1185"/>
                  </a:lnTo>
                  <a:lnTo>
                    <a:pt x="96" y="1173"/>
                  </a:lnTo>
                  <a:lnTo>
                    <a:pt x="166" y="1144"/>
                  </a:lnTo>
                  <a:lnTo>
                    <a:pt x="159" y="1069"/>
                  </a:lnTo>
                  <a:lnTo>
                    <a:pt x="159" y="995"/>
                  </a:lnTo>
                  <a:lnTo>
                    <a:pt x="166" y="919"/>
                  </a:lnTo>
                  <a:lnTo>
                    <a:pt x="96" y="890"/>
                  </a:lnTo>
                  <a:lnTo>
                    <a:pt x="74" y="879"/>
                  </a:lnTo>
                  <a:lnTo>
                    <a:pt x="54" y="864"/>
                  </a:lnTo>
                  <a:lnTo>
                    <a:pt x="37" y="847"/>
                  </a:lnTo>
                  <a:lnTo>
                    <a:pt x="23" y="828"/>
                  </a:lnTo>
                  <a:lnTo>
                    <a:pt x="11" y="806"/>
                  </a:lnTo>
                  <a:lnTo>
                    <a:pt x="3" y="776"/>
                  </a:lnTo>
                  <a:lnTo>
                    <a:pt x="0" y="747"/>
                  </a:lnTo>
                  <a:lnTo>
                    <a:pt x="3" y="716"/>
                  </a:lnTo>
                  <a:lnTo>
                    <a:pt x="11" y="687"/>
                  </a:lnTo>
                  <a:lnTo>
                    <a:pt x="66" y="555"/>
                  </a:lnTo>
                  <a:lnTo>
                    <a:pt x="78" y="530"/>
                  </a:lnTo>
                  <a:lnTo>
                    <a:pt x="94" y="510"/>
                  </a:lnTo>
                  <a:lnTo>
                    <a:pt x="113" y="492"/>
                  </a:lnTo>
                  <a:lnTo>
                    <a:pt x="134" y="478"/>
                  </a:lnTo>
                  <a:lnTo>
                    <a:pt x="157" y="468"/>
                  </a:lnTo>
                  <a:lnTo>
                    <a:pt x="183" y="461"/>
                  </a:lnTo>
                  <a:lnTo>
                    <a:pt x="209" y="458"/>
                  </a:lnTo>
                  <a:lnTo>
                    <a:pt x="240" y="461"/>
                  </a:lnTo>
                  <a:lnTo>
                    <a:pt x="270" y="471"/>
                  </a:lnTo>
                  <a:lnTo>
                    <a:pt x="339" y="499"/>
                  </a:lnTo>
                  <a:lnTo>
                    <a:pt x="374" y="456"/>
                  </a:lnTo>
                  <a:lnTo>
                    <a:pt x="414" y="416"/>
                  </a:lnTo>
                  <a:lnTo>
                    <a:pt x="454" y="376"/>
                  </a:lnTo>
                  <a:lnTo>
                    <a:pt x="497" y="340"/>
                  </a:lnTo>
                  <a:lnTo>
                    <a:pt x="469" y="270"/>
                  </a:lnTo>
                  <a:lnTo>
                    <a:pt x="460" y="242"/>
                  </a:lnTo>
                  <a:lnTo>
                    <a:pt x="457" y="211"/>
                  </a:lnTo>
                  <a:lnTo>
                    <a:pt x="460" y="181"/>
                  </a:lnTo>
                  <a:lnTo>
                    <a:pt x="469" y="152"/>
                  </a:lnTo>
                  <a:lnTo>
                    <a:pt x="480" y="129"/>
                  </a:lnTo>
                  <a:lnTo>
                    <a:pt x="494" y="110"/>
                  </a:lnTo>
                  <a:lnTo>
                    <a:pt x="511" y="92"/>
                  </a:lnTo>
                  <a:lnTo>
                    <a:pt x="531" y="78"/>
                  </a:lnTo>
                  <a:lnTo>
                    <a:pt x="553" y="68"/>
                  </a:lnTo>
                  <a:lnTo>
                    <a:pt x="686" y="13"/>
                  </a:lnTo>
                  <a:lnTo>
                    <a:pt x="714" y="4"/>
                  </a:lnTo>
                  <a:lnTo>
                    <a:pt x="745" y="1"/>
                  </a:lnTo>
                  <a:lnTo>
                    <a:pt x="771" y="3"/>
                  </a:lnTo>
                  <a:lnTo>
                    <a:pt x="797" y="9"/>
                  </a:lnTo>
                  <a:lnTo>
                    <a:pt x="820" y="20"/>
                  </a:lnTo>
                  <a:lnTo>
                    <a:pt x="841" y="34"/>
                  </a:lnTo>
                  <a:lnTo>
                    <a:pt x="860" y="52"/>
                  </a:lnTo>
                  <a:lnTo>
                    <a:pt x="876" y="73"/>
                  </a:lnTo>
                  <a:lnTo>
                    <a:pt x="888" y="96"/>
                  </a:lnTo>
                  <a:lnTo>
                    <a:pt x="918" y="166"/>
                  </a:lnTo>
                  <a:lnTo>
                    <a:pt x="992" y="160"/>
                  </a:lnTo>
                  <a:lnTo>
                    <a:pt x="1067" y="160"/>
                  </a:lnTo>
                  <a:lnTo>
                    <a:pt x="1142" y="166"/>
                  </a:lnTo>
                  <a:lnTo>
                    <a:pt x="1171" y="96"/>
                  </a:lnTo>
                  <a:lnTo>
                    <a:pt x="1183" y="72"/>
                  </a:lnTo>
                  <a:lnTo>
                    <a:pt x="1198" y="52"/>
                  </a:lnTo>
                  <a:lnTo>
                    <a:pt x="1217" y="34"/>
                  </a:lnTo>
                  <a:lnTo>
                    <a:pt x="1238" y="19"/>
                  </a:lnTo>
                  <a:lnTo>
                    <a:pt x="1263" y="8"/>
                  </a:lnTo>
                  <a:lnTo>
                    <a:pt x="1288" y="2"/>
                  </a:lnTo>
                  <a:lnTo>
                    <a:pt x="1315" y="0"/>
                  </a:lnTo>
                  <a:close/>
                </a:path>
              </a:pathLst>
            </a:custGeom>
            <a:grp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sp>
        <p:nvSpPr>
          <p:cNvPr id="119" name="TextBox 30"/>
          <p:cNvSpPr txBox="1"/>
          <p:nvPr/>
        </p:nvSpPr>
        <p:spPr>
          <a:xfrm>
            <a:off x="8053211" y="3681566"/>
            <a:ext cx="2580721" cy="295084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mn-ea"/>
              </a:rPr>
              <a:t>3.Based on the symmetry of the device, the incident angle θ can be measured using the following formula:</a:t>
            </a:r>
          </a:p>
          <a:p>
            <a:pPr>
              <a:lnSpc>
                <a:spcPct val="120000"/>
              </a:lnSpc>
            </a:pPr>
            <a:endParaRPr lang="zh-CN" altLang="en-US"/>
          </a:p>
          <a:p>
            <a:pPr>
              <a:lnSpc>
                <a:spcPct val="120000"/>
              </a:lnSpc>
            </a:pPr>
            <a:endParaRPr lang="en-US" dirty="0">
              <a:solidFill>
                <a:srgbClr val="2E578B"/>
              </a:solidFill>
              <a:latin typeface="Azonix" pitchFamily="50" charset="0"/>
              <a:ea typeface="Roboto Thin" panose="02000000000000000000" pitchFamily="2" charset="0"/>
              <a:sym typeface="微软雅黑 Light" panose="020B0502040204020203" pitchFamily="34" charset="-122"/>
            </a:endParaRPr>
          </a:p>
          <a:p>
            <a:pPr>
              <a:lnSpc>
                <a:spcPct val="120000"/>
              </a:lnSpc>
            </a:pP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120" name="TextBox 30"/>
          <p:cNvSpPr txBox="1"/>
          <p:nvPr/>
        </p:nvSpPr>
        <p:spPr>
          <a:xfrm>
            <a:off x="547370" y="3522980"/>
            <a:ext cx="4024630" cy="22866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mn-ea"/>
              </a:rPr>
              <a:t>2.Based on the Fresnel equation, the reflectivity of the sample can be calculated, and then the refractive index can be obtained. The correlation coefficient of the fitting program is defined as:</a:t>
            </a:r>
            <a:endParaRPr lang="en-US" dirty="0">
              <a:solidFill>
                <a:srgbClr val="2E578B"/>
              </a:solidFill>
              <a:latin typeface="Azonix" pitchFamily="50" charset="0"/>
              <a:ea typeface="Roboto Thin" panose="02000000000000000000" pitchFamily="2" charset="0"/>
              <a:sym typeface="微软雅黑 Light" panose="020B0502040204020203" pitchFamily="34" charset="-122"/>
            </a:endParaRP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t>
            </a:r>
          </a:p>
        </p:txBody>
      </p:sp>
      <p:sp>
        <p:nvSpPr>
          <p:cNvPr id="122" name="TextBox 30"/>
          <p:cNvSpPr txBox="1"/>
          <p:nvPr/>
        </p:nvSpPr>
        <p:spPr>
          <a:xfrm>
            <a:off x="862097" y="1142462"/>
            <a:ext cx="4091164" cy="1954530"/>
          </a:xfrm>
          <a:prstGeom prst="rect">
            <a:avLst/>
          </a:prstGeom>
          <a:noFill/>
        </p:spPr>
        <p:txBody>
          <a:bodyPr wrap="square" rtlCol="0">
            <a:spAutoFit/>
          </a:bodyPr>
          <a:lstStyle/>
          <a:p>
            <a:pPr algn="r">
              <a:lnSpc>
                <a:spcPct val="120000"/>
              </a:lnSpc>
            </a:pPr>
            <a:r>
              <a:rPr lang="en-US" dirty="0">
                <a:solidFill>
                  <a:srgbClr val="CB3125"/>
                </a:solidFill>
                <a:latin typeface="Azonix" pitchFamily="50" charset="0"/>
                <a:ea typeface="Roboto Thin" panose="02000000000000000000" pitchFamily="2" charset="0"/>
                <a:sym typeface="+mn-ea"/>
              </a:rPr>
              <a:t>1.Collect fresh blood samples from male rabbits and separate them through centrifugation to obtain different substances.</a:t>
            </a:r>
            <a:endParaRPr lang="en-US" dirty="0">
              <a:solidFill>
                <a:srgbClr val="CB3125"/>
              </a:solidFill>
              <a:latin typeface="Azonix" pitchFamily="50" charset="0"/>
              <a:ea typeface="Roboto Thin" panose="02000000000000000000" pitchFamily="2" charset="0"/>
            </a:endParaRPr>
          </a:p>
          <a:p>
            <a:pPr algn="r">
              <a:lnSpc>
                <a:spcPct val="120000"/>
              </a:lnSpc>
            </a:pPr>
            <a:endParaRPr lang="en-US" dirty="0">
              <a:solidFill>
                <a:srgbClr val="CB3125"/>
              </a:solidFill>
              <a:latin typeface="Azonix" pitchFamily="50" charset="0"/>
              <a:ea typeface="Roboto Thin" panose="02000000000000000000" pitchFamily="2" charset="0"/>
              <a:sym typeface="微软雅黑 Light" panose="020B0502040204020203" pitchFamily="34" charset="-122"/>
            </a:endParaRPr>
          </a:p>
          <a:p>
            <a:pPr algn="r">
              <a:lnSpc>
                <a:spcPct val="120000"/>
              </a:lnSpc>
            </a:pP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graphicFrame>
        <p:nvGraphicFramePr>
          <p:cNvPr id="2" name="对象 -2147482623"/>
          <p:cNvGraphicFramePr>
            <a:graphicFrameLocks noChangeAspect="1"/>
          </p:cNvGraphicFramePr>
          <p:nvPr/>
        </p:nvGraphicFramePr>
        <p:xfrm>
          <a:off x="8053070" y="5809615"/>
          <a:ext cx="2461895" cy="688340"/>
        </p:xfrm>
        <a:graphic>
          <a:graphicData uri="http://schemas.openxmlformats.org/presentationml/2006/ole">
            <mc:AlternateContent xmlns:mc="http://schemas.openxmlformats.org/markup-compatibility/2006">
              <mc:Choice xmlns:v="urn:schemas-microsoft-com:vml" Requires="v">
                <p:oleObj r:id="rId3" imgW="1498600" imgH="419100" progId="Equation.KSEE3">
                  <p:embed/>
                </p:oleObj>
              </mc:Choice>
              <mc:Fallback>
                <p:oleObj r:id="rId3" imgW="1498600" imgH="419100" progId="Equation.KSEE3">
                  <p:embed/>
                  <p:pic>
                    <p:nvPicPr>
                      <p:cNvPr id="0" name="图片 3075"/>
                      <p:cNvPicPr/>
                      <p:nvPr/>
                    </p:nvPicPr>
                    <p:blipFill>
                      <a:blip r:embed="rId4"/>
                      <a:stretch>
                        <a:fillRect/>
                      </a:stretch>
                    </p:blipFill>
                    <p:spPr>
                      <a:xfrm>
                        <a:off x="8053070" y="5809615"/>
                        <a:ext cx="2461895" cy="688340"/>
                      </a:xfrm>
                      <a:prstGeom prst="rect">
                        <a:avLst/>
                      </a:prstGeom>
                      <a:noFill/>
                      <a:ln w="38100">
                        <a:noFill/>
                        <a:miter/>
                      </a:ln>
                    </p:spPr>
                  </p:pic>
                </p:oleObj>
              </mc:Fallback>
            </mc:AlternateContent>
          </a:graphicData>
        </a:graphic>
      </p:graphicFrame>
      <p:graphicFrame>
        <p:nvGraphicFramePr>
          <p:cNvPr id="3" name="对象 -2147482622"/>
          <p:cNvGraphicFramePr>
            <a:graphicFrameLocks noChangeAspect="1"/>
          </p:cNvGraphicFramePr>
          <p:nvPr/>
        </p:nvGraphicFramePr>
        <p:xfrm>
          <a:off x="1850390" y="5628005"/>
          <a:ext cx="2027555" cy="1184275"/>
        </p:xfrm>
        <a:graphic>
          <a:graphicData uri="http://schemas.openxmlformats.org/presentationml/2006/ole">
            <mc:AlternateContent xmlns:mc="http://schemas.openxmlformats.org/markup-compatibility/2006">
              <mc:Choice xmlns:v="urn:schemas-microsoft-com:vml" Requires="v">
                <p:oleObj r:id="rId5" imgW="1435100" imgH="838200" progId="Equation.KSEE3">
                  <p:embed/>
                </p:oleObj>
              </mc:Choice>
              <mc:Fallback>
                <p:oleObj r:id="rId5" imgW="1435100" imgH="838200" progId="Equation.KSEE3">
                  <p:embed/>
                  <p:pic>
                    <p:nvPicPr>
                      <p:cNvPr id="0" name="图片 4"/>
                      <p:cNvPicPr/>
                      <p:nvPr/>
                    </p:nvPicPr>
                    <p:blipFill>
                      <a:blip r:embed="rId6"/>
                      <a:stretch>
                        <a:fillRect/>
                      </a:stretch>
                    </p:blipFill>
                    <p:spPr>
                      <a:xfrm>
                        <a:off x="1850390" y="5628005"/>
                        <a:ext cx="2027555" cy="1184275"/>
                      </a:xfrm>
                      <a:prstGeom prst="rect">
                        <a:avLst/>
                      </a:prstGeom>
                      <a:noFill/>
                      <a:ln w="38100">
                        <a:noFill/>
                        <a:miter/>
                      </a:ln>
                    </p:spPr>
                  </p:pic>
                </p:oleObj>
              </mc:Fallback>
            </mc:AlternateContent>
          </a:graphicData>
        </a:graphic>
      </p:graphicFrame>
      <p:pic>
        <p:nvPicPr>
          <p:cNvPr id="8" name="图片 7"/>
          <p:cNvPicPr>
            <a:picLocks noChangeAspect="1"/>
          </p:cNvPicPr>
          <p:nvPr/>
        </p:nvPicPr>
        <p:blipFill>
          <a:blip r:embed="rId7"/>
          <a:stretch>
            <a:fillRect/>
          </a:stretch>
        </p:blipFill>
        <p:spPr>
          <a:xfrm>
            <a:off x="7327900" y="381000"/>
            <a:ext cx="4316095" cy="29013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14"/>
                                        </p:tgtEl>
                                        <p:attrNameLst>
                                          <p:attrName>style.visibility</p:attrName>
                                        </p:attrNameLst>
                                      </p:cBhvr>
                                      <p:to>
                                        <p:strVal val="visible"/>
                                      </p:to>
                                    </p:set>
                                    <p:anim calcmode="lin" valueType="num">
                                      <p:cBhvr>
                                        <p:cTn id="7" dur="500" fill="hold"/>
                                        <p:tgtEl>
                                          <p:spTgt spid="114"/>
                                        </p:tgtEl>
                                        <p:attrNameLst>
                                          <p:attrName>ppt_w</p:attrName>
                                        </p:attrNameLst>
                                      </p:cBhvr>
                                      <p:tavLst>
                                        <p:tav tm="0">
                                          <p:val>
                                            <p:fltVal val="0"/>
                                          </p:val>
                                        </p:tav>
                                        <p:tav tm="100000">
                                          <p:val>
                                            <p:strVal val="#ppt_w"/>
                                          </p:val>
                                        </p:tav>
                                      </p:tavLst>
                                    </p:anim>
                                    <p:anim calcmode="lin" valueType="num">
                                      <p:cBhvr>
                                        <p:cTn id="8" dur="500" fill="hold"/>
                                        <p:tgtEl>
                                          <p:spTgt spid="114"/>
                                        </p:tgtEl>
                                        <p:attrNameLst>
                                          <p:attrName>ppt_h</p:attrName>
                                        </p:attrNameLst>
                                      </p:cBhvr>
                                      <p:tavLst>
                                        <p:tav tm="0">
                                          <p:val>
                                            <p:fltVal val="0"/>
                                          </p:val>
                                        </p:tav>
                                        <p:tav tm="100000">
                                          <p:val>
                                            <p:strVal val="#ppt_h"/>
                                          </p:val>
                                        </p:tav>
                                      </p:tavLst>
                                    </p:anim>
                                    <p:anim calcmode="lin" valueType="num">
                                      <p:cBhvr>
                                        <p:cTn id="9" dur="500" fill="hold"/>
                                        <p:tgtEl>
                                          <p:spTgt spid="114"/>
                                        </p:tgtEl>
                                        <p:attrNameLst>
                                          <p:attrName>style.rotation</p:attrName>
                                        </p:attrNameLst>
                                      </p:cBhvr>
                                      <p:tavLst>
                                        <p:tav tm="0">
                                          <p:val>
                                            <p:fltVal val="360"/>
                                          </p:val>
                                        </p:tav>
                                        <p:tav tm="100000">
                                          <p:val>
                                            <p:fltVal val="0"/>
                                          </p:val>
                                        </p:tav>
                                      </p:tavLst>
                                    </p:anim>
                                    <p:animEffect transition="in" filter="fade">
                                      <p:cBhvr>
                                        <p:cTn id="10" dur="500"/>
                                        <p:tgtEl>
                                          <p:spTgt spid="114"/>
                                        </p:tgtEl>
                                      </p:cBhvr>
                                    </p:animEffect>
                                  </p:childTnLst>
                                </p:cTn>
                              </p:par>
                              <p:par>
                                <p:cTn id="11" presetID="0" presetClass="entr" presetSubtype="0" fill="hold" grpId="0" nodeType="withEffect">
                                  <p:stCondLst>
                                    <p:cond delay="1200"/>
                                  </p:stCondLst>
                                  <p:iterate type="lt">
                                    <p:tmPct val="10000"/>
                                  </p:iterate>
                                  <p:childTnLst>
                                    <p:set>
                                      <p:cBhvr>
                                        <p:cTn id="12" dur="700" fill="hold">
                                          <p:stCondLst>
                                            <p:cond delay="0"/>
                                          </p:stCondLst>
                                        </p:cTn>
                                        <p:tgtEl>
                                          <p:spTgt spid="119"/>
                                        </p:tgtEl>
                                        <p:attrNameLst>
                                          <p:attrName>style.visibility</p:attrName>
                                        </p:attrNameLst>
                                      </p:cBhvr>
                                      <p:to>
                                        <p:strVal val="visible"/>
                                      </p:to>
                                    </p:set>
                                    <p:animEffect filter="fade">
                                      <p:cBhvr>
                                        <p:cTn id="13" dur="700">
                                          <p:stCondLst>
                                            <p:cond delay="0"/>
                                          </p:stCondLst>
                                        </p:cTn>
                                        <p:tgtEl>
                                          <p:spTgt spid="119"/>
                                        </p:tgtEl>
                                      </p:cBhvr>
                                    </p:animEffect>
                                    <p:anim to="" calcmode="lin" valueType="num">
                                      <p:cBhvr>
                                        <p:cTn id="14" dur="700" fill="hold">
                                          <p:stCondLst>
                                            <p:cond delay="0"/>
                                          </p:stCondLst>
                                        </p:cTn>
                                        <p:tgtEl>
                                          <p:spTgt spid="119"/>
                                        </p:tgtEl>
                                        <p:attrNameLst>
                                          <p:attrName>ppt_y</p:attrName>
                                        </p:attrNameLst>
                                      </p:cBhvr>
                                      <p:tavLst>
                                        <p:tav tm="0" fmla="#ppt_y-#ppt_h*((1.5-1.5*$)^2-(1.5-1.5*$)^3)">
                                          <p:val>
                                            <p:fltVal val="0"/>
                                          </p:val>
                                        </p:tav>
                                        <p:tav tm="100000">
                                          <p:val>
                                            <p:fltVal val="1"/>
                                          </p:val>
                                        </p:tav>
                                      </p:tavLst>
                                    </p:anim>
                                  </p:childTnLst>
                                </p:cTn>
                              </p:par>
                              <p:par>
                                <p:cTn id="15" presetID="0" presetClass="entr" presetSubtype="0" fill="hold" grpId="0" nodeType="withEffect">
                                  <p:stCondLst>
                                    <p:cond delay="1200"/>
                                  </p:stCondLst>
                                  <p:iterate type="lt">
                                    <p:tmPct val="10000"/>
                                  </p:iterate>
                                  <p:childTnLst>
                                    <p:set>
                                      <p:cBhvr>
                                        <p:cTn id="16" dur="700" fill="hold">
                                          <p:stCondLst>
                                            <p:cond delay="0"/>
                                          </p:stCondLst>
                                        </p:cTn>
                                        <p:tgtEl>
                                          <p:spTgt spid="120"/>
                                        </p:tgtEl>
                                        <p:attrNameLst>
                                          <p:attrName>style.visibility</p:attrName>
                                        </p:attrNameLst>
                                      </p:cBhvr>
                                      <p:to>
                                        <p:strVal val="visible"/>
                                      </p:to>
                                    </p:set>
                                    <p:animEffect filter="fade">
                                      <p:cBhvr>
                                        <p:cTn id="17" dur="700">
                                          <p:stCondLst>
                                            <p:cond delay="0"/>
                                          </p:stCondLst>
                                        </p:cTn>
                                        <p:tgtEl>
                                          <p:spTgt spid="120"/>
                                        </p:tgtEl>
                                      </p:cBhvr>
                                    </p:animEffect>
                                    <p:anim to="" calcmode="lin" valueType="num">
                                      <p:cBhvr>
                                        <p:cTn id="18" dur="700" fill="hold">
                                          <p:stCondLst>
                                            <p:cond delay="0"/>
                                          </p:stCondLst>
                                        </p:cTn>
                                        <p:tgtEl>
                                          <p:spTgt spid="120"/>
                                        </p:tgtEl>
                                        <p:attrNameLst>
                                          <p:attrName>ppt_y</p:attrName>
                                        </p:attrNameLst>
                                      </p:cBhvr>
                                      <p:tavLst>
                                        <p:tav tm="0" fmla="#ppt_y-#ppt_h*((1.5-1.5*$)^2-(1.5-1.5*$)^3)">
                                          <p:val>
                                            <p:fltVal val="0"/>
                                          </p:val>
                                        </p:tav>
                                        <p:tav tm="100000">
                                          <p:val>
                                            <p:fltVal val="1"/>
                                          </p:val>
                                        </p:tav>
                                      </p:tavLst>
                                    </p:anim>
                                  </p:childTnLst>
                                </p:cTn>
                              </p:par>
                              <p:par>
                                <p:cTn id="19" presetID="0" presetClass="entr" presetSubtype="0" fill="hold" grpId="0" nodeType="withEffect">
                                  <p:stCondLst>
                                    <p:cond delay="1200"/>
                                  </p:stCondLst>
                                  <p:iterate type="lt">
                                    <p:tmPct val="10000"/>
                                  </p:iterate>
                                  <p:childTnLst>
                                    <p:set>
                                      <p:cBhvr>
                                        <p:cTn id="20" dur="700" fill="hold">
                                          <p:stCondLst>
                                            <p:cond delay="0"/>
                                          </p:stCondLst>
                                        </p:cTn>
                                        <p:tgtEl>
                                          <p:spTgt spid="122"/>
                                        </p:tgtEl>
                                        <p:attrNameLst>
                                          <p:attrName>style.visibility</p:attrName>
                                        </p:attrNameLst>
                                      </p:cBhvr>
                                      <p:to>
                                        <p:strVal val="visible"/>
                                      </p:to>
                                    </p:set>
                                    <p:animEffect filter="fade">
                                      <p:cBhvr>
                                        <p:cTn id="21" dur="700">
                                          <p:stCondLst>
                                            <p:cond delay="0"/>
                                          </p:stCondLst>
                                        </p:cTn>
                                        <p:tgtEl>
                                          <p:spTgt spid="122"/>
                                        </p:tgtEl>
                                      </p:cBhvr>
                                    </p:animEffect>
                                    <p:anim to="" calcmode="lin" valueType="num">
                                      <p:cBhvr>
                                        <p:cTn id="22" dur="700" fill="hold">
                                          <p:stCondLst>
                                            <p:cond delay="0"/>
                                          </p:stCondLst>
                                        </p:cTn>
                                        <p:tgtEl>
                                          <p:spTgt spid="122"/>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0" grpId="0"/>
      <p:bldP spid="1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Results</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Freeform 2"/>
          <p:cNvSpPr/>
          <p:nvPr/>
        </p:nvSpPr>
        <p:spPr>
          <a:xfrm>
            <a:off x="124332" y="3047553"/>
            <a:ext cx="1594587" cy="1586440"/>
          </a:xfrm>
          <a:custGeom>
            <a:avLst/>
            <a:gdLst>
              <a:gd name="connsiteX0" fmla="*/ 0 w 1346941"/>
              <a:gd name="connsiteY0" fmla="*/ 670031 h 1340062"/>
              <a:gd name="connsiteX1" fmla="*/ 673471 w 1346941"/>
              <a:gd name="connsiteY1" fmla="*/ 0 h 1340062"/>
              <a:gd name="connsiteX2" fmla="*/ 1346942 w 1346941"/>
              <a:gd name="connsiteY2" fmla="*/ 670031 h 1340062"/>
              <a:gd name="connsiteX3" fmla="*/ 673471 w 1346941"/>
              <a:gd name="connsiteY3" fmla="*/ 1340062 h 1340062"/>
              <a:gd name="connsiteX4" fmla="*/ 0 w 1346941"/>
              <a:gd name="connsiteY4" fmla="*/ 670031 h 1340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941" h="1340062">
                <a:moveTo>
                  <a:pt x="0" y="670031"/>
                </a:moveTo>
                <a:cubicBezTo>
                  <a:pt x="0" y="299983"/>
                  <a:pt x="301523" y="0"/>
                  <a:pt x="673471" y="0"/>
                </a:cubicBezTo>
                <a:cubicBezTo>
                  <a:pt x="1045419" y="0"/>
                  <a:pt x="1346942" y="299983"/>
                  <a:pt x="1346942" y="670031"/>
                </a:cubicBezTo>
                <a:cubicBezTo>
                  <a:pt x="1346942" y="1040079"/>
                  <a:pt x="1045419" y="1340062"/>
                  <a:pt x="673471" y="1340062"/>
                </a:cubicBezTo>
                <a:cubicBezTo>
                  <a:pt x="301523" y="1340062"/>
                  <a:pt x="0" y="1040079"/>
                  <a:pt x="0" y="670031"/>
                </a:cubicBezTo>
                <a:close/>
              </a:path>
            </a:pathLst>
          </a:custGeom>
          <a:solidFill>
            <a:srgbClr val="CB3125"/>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76553" tIns="275211" rIns="276553" bIns="275211" numCol="1" spcCol="1270" anchor="ctr" anchorCtr="0">
            <a:noAutofit/>
          </a:bodyPr>
          <a:lstStyle/>
          <a:p>
            <a:pPr algn="ctr" defTabSz="948055">
              <a:lnSpc>
                <a:spcPct val="90000"/>
              </a:lnSpc>
              <a:spcBef>
                <a:spcPct val="0"/>
              </a:spcBef>
              <a:spcAft>
                <a:spcPct val="35000"/>
              </a:spcAft>
            </a:pPr>
            <a:endParaRPr lang="en-US" sz="1865" dirty="0">
              <a:solidFill>
                <a:srgbClr val="FFFFFF"/>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8" name="Rounded Rectangle 3"/>
          <p:cNvSpPr/>
          <p:nvPr/>
        </p:nvSpPr>
        <p:spPr>
          <a:xfrm>
            <a:off x="2133862" y="1365154"/>
            <a:ext cx="2055316" cy="515784"/>
          </a:xfrm>
          <a:prstGeom prst="roundRect">
            <a:avLst>
              <a:gd name="adj" fmla="val 50000"/>
            </a:avLst>
          </a:prstGeom>
          <a:solidFill>
            <a:srgbClr val="2E578B"/>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8201" tIns="48201" rIns="48201" bIns="48201" numCol="1" spcCol="1270" anchor="ctr" anchorCtr="0">
            <a:noAutofit/>
          </a:bodyPr>
          <a:lstStyle/>
          <a:p>
            <a:pPr algn="ctr" defTabSz="948055">
              <a:lnSpc>
                <a:spcPct val="90000"/>
              </a:lnSpc>
              <a:spcBef>
                <a:spcPct val="0"/>
              </a:spcBef>
              <a:spcAft>
                <a:spcPct val="35000"/>
              </a:spcAft>
            </a:pPr>
            <a:r>
              <a:rPr lang="en-US" sz="1865" dirty="0">
                <a:solidFill>
                  <a:srgbClr val="FFFFFF"/>
                </a:solidFill>
                <a:latin typeface="+mj-lt"/>
                <a:ea typeface="方正黑体简体" panose="02000000000000000000" pitchFamily="2" charset="-122"/>
                <a:sym typeface="方正黑体简体" panose="02000000000000000000" pitchFamily="2" charset="-122"/>
              </a:rPr>
              <a:t>Option 01</a:t>
            </a:r>
          </a:p>
        </p:txBody>
      </p:sp>
      <p:sp>
        <p:nvSpPr>
          <p:cNvPr id="9" name="Rounded Rectangle 4"/>
          <p:cNvSpPr/>
          <p:nvPr/>
        </p:nvSpPr>
        <p:spPr>
          <a:xfrm>
            <a:off x="2133771" y="3582847"/>
            <a:ext cx="2055316" cy="515784"/>
          </a:xfrm>
          <a:prstGeom prst="roundRect">
            <a:avLst>
              <a:gd name="adj" fmla="val 50000"/>
            </a:avLst>
          </a:prstGeom>
          <a:solidFill>
            <a:srgbClr val="2E578B"/>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8201" tIns="48201" rIns="48201" bIns="48201" numCol="1" spcCol="1270" anchor="ctr" anchorCtr="0">
            <a:noAutofit/>
          </a:bodyPr>
          <a:lstStyle/>
          <a:p>
            <a:pPr algn="ctr" defTabSz="948055">
              <a:lnSpc>
                <a:spcPct val="90000"/>
              </a:lnSpc>
              <a:spcBef>
                <a:spcPct val="0"/>
              </a:spcBef>
              <a:spcAft>
                <a:spcPct val="35000"/>
              </a:spcAft>
            </a:pPr>
            <a:r>
              <a:rPr lang="en-US" sz="1865" dirty="0">
                <a:solidFill>
                  <a:srgbClr val="FFFFFF"/>
                </a:solidFill>
                <a:latin typeface="+mj-lt"/>
                <a:ea typeface="方正黑体简体" panose="02000000000000000000" pitchFamily="2" charset="-122"/>
                <a:sym typeface="方正黑体简体" panose="02000000000000000000" pitchFamily="2" charset="-122"/>
              </a:rPr>
              <a:t>Option 02</a:t>
            </a:r>
          </a:p>
        </p:txBody>
      </p:sp>
      <p:sp>
        <p:nvSpPr>
          <p:cNvPr id="10" name="Rounded Rectangle 5"/>
          <p:cNvSpPr/>
          <p:nvPr/>
        </p:nvSpPr>
        <p:spPr>
          <a:xfrm>
            <a:off x="2126786" y="5732779"/>
            <a:ext cx="2055316" cy="515784"/>
          </a:xfrm>
          <a:prstGeom prst="roundRect">
            <a:avLst>
              <a:gd name="adj" fmla="val 50000"/>
            </a:avLst>
          </a:prstGeom>
          <a:solidFill>
            <a:srgbClr val="2E578B"/>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8201" tIns="48201" rIns="48201" bIns="48201" numCol="1" spcCol="1270" anchor="ctr" anchorCtr="0">
            <a:noAutofit/>
          </a:bodyPr>
          <a:lstStyle/>
          <a:p>
            <a:pPr algn="ctr" defTabSz="948055">
              <a:lnSpc>
                <a:spcPct val="90000"/>
              </a:lnSpc>
              <a:spcBef>
                <a:spcPct val="0"/>
              </a:spcBef>
              <a:spcAft>
                <a:spcPct val="35000"/>
              </a:spcAft>
            </a:pPr>
            <a:r>
              <a:rPr lang="en-US" sz="1865" dirty="0">
                <a:solidFill>
                  <a:srgbClr val="FFFFFF"/>
                </a:solidFill>
                <a:latin typeface="+mj-lt"/>
                <a:ea typeface="方正黑体简体" panose="02000000000000000000" pitchFamily="2" charset="-122"/>
                <a:sym typeface="方正黑体简体" panose="02000000000000000000" pitchFamily="2" charset="-122"/>
              </a:rPr>
              <a:t>Option 03</a:t>
            </a:r>
          </a:p>
        </p:txBody>
      </p:sp>
      <p:cxnSp>
        <p:nvCxnSpPr>
          <p:cNvPr id="12" name="Elbow Connector 7"/>
          <p:cNvCxnSpPr/>
          <p:nvPr/>
        </p:nvCxnSpPr>
        <p:spPr>
          <a:xfrm rot="16200000">
            <a:off x="724535" y="2670175"/>
            <a:ext cx="2477770" cy="304165"/>
          </a:xfrm>
          <a:prstGeom prst="bentConnector3">
            <a:avLst>
              <a:gd name="adj1" fmla="val 99500"/>
            </a:avLst>
          </a:prstGeom>
          <a:ln w="3175" cmpd="sng">
            <a:solidFill>
              <a:srgbClr val="A9C4B5"/>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3" name="Elbow Connector 8"/>
          <p:cNvCxnSpPr/>
          <p:nvPr/>
        </p:nvCxnSpPr>
        <p:spPr>
          <a:xfrm>
            <a:off x="1494790" y="3840480"/>
            <a:ext cx="631825" cy="3175"/>
          </a:xfrm>
          <a:prstGeom prst="bentConnector2">
            <a:avLst/>
          </a:prstGeom>
          <a:ln w="3175" cmpd="sng">
            <a:solidFill>
              <a:srgbClr val="A9C4B5"/>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4" name="Elbow Connector 9"/>
          <p:cNvCxnSpPr/>
          <p:nvPr/>
        </p:nvCxnSpPr>
        <p:spPr>
          <a:xfrm rot="5400000" flipV="1">
            <a:off x="848360" y="4760595"/>
            <a:ext cx="2245995" cy="310515"/>
          </a:xfrm>
          <a:prstGeom prst="bentConnector3">
            <a:avLst>
              <a:gd name="adj1" fmla="val 98586"/>
            </a:avLst>
          </a:prstGeom>
          <a:ln w="3175" cmpd="sng">
            <a:solidFill>
              <a:srgbClr val="A9C4B5"/>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6" name="TextBox 43"/>
          <p:cNvSpPr txBox="1"/>
          <p:nvPr/>
        </p:nvSpPr>
        <p:spPr>
          <a:xfrm>
            <a:off x="296558" y="3987228"/>
            <a:ext cx="801823" cy="338554"/>
          </a:xfrm>
          <a:prstGeom prst="rect">
            <a:avLst/>
          </a:prstGeom>
          <a:noFill/>
        </p:spPr>
        <p:txBody>
          <a:bodyPr wrap="none" rtlCol="0">
            <a:spAutoFit/>
          </a:bodyPr>
          <a:lstStyle/>
          <a:p>
            <a:pPr algn="ctr"/>
            <a:r>
              <a:rPr lang="en-US" sz="1600" b="1" dirty="0" err="1">
                <a:solidFill>
                  <a:schemeClr val="bg1"/>
                </a:solidFill>
                <a:latin typeface="+mj-lt"/>
                <a:ea typeface="方正黑体简体" panose="02000000000000000000" pitchFamily="2" charset="-122"/>
                <a:sym typeface="方正黑体简体" panose="02000000000000000000" pitchFamily="2" charset="-122"/>
              </a:rPr>
              <a:t>Mindmap</a:t>
            </a:r>
            <a:endParaRPr lang="id-ID" sz="1600" b="1" dirty="0">
              <a:solidFill>
                <a:schemeClr val="bg1"/>
              </a:solidFill>
              <a:latin typeface="+mj-lt"/>
              <a:ea typeface="方正黑体简体" panose="02000000000000000000" pitchFamily="2" charset="-122"/>
              <a:sym typeface="方正黑体简体" panose="02000000000000000000" pitchFamily="2" charset="-122"/>
            </a:endParaRPr>
          </a:p>
        </p:txBody>
      </p:sp>
      <p:sp>
        <p:nvSpPr>
          <p:cNvPr id="17" name="Freeform 221"/>
          <p:cNvSpPr>
            <a:spLocks noEditPoints="1"/>
          </p:cNvSpPr>
          <p:nvPr/>
        </p:nvSpPr>
        <p:spPr bwMode="auto">
          <a:xfrm>
            <a:off x="497110" y="3327451"/>
            <a:ext cx="400718" cy="602680"/>
          </a:xfrm>
          <a:custGeom>
            <a:avLst/>
            <a:gdLst>
              <a:gd name="T0" fmla="*/ 26 w 53"/>
              <a:gd name="T1" fmla="*/ 50 h 77"/>
              <a:gd name="T2" fmla="*/ 26 w 53"/>
              <a:gd name="T3" fmla="*/ 31 h 77"/>
              <a:gd name="T4" fmla="*/ 26 w 53"/>
              <a:gd name="T5" fmla="*/ 17 h 77"/>
              <a:gd name="T6" fmla="*/ 25 w 53"/>
              <a:gd name="T7" fmla="*/ 2 h 77"/>
              <a:gd name="T8" fmla="*/ 8 w 53"/>
              <a:gd name="T9" fmla="*/ 6 h 77"/>
              <a:gd name="T10" fmla="*/ 0 w 53"/>
              <a:gd name="T11" fmla="*/ 24 h 77"/>
              <a:gd name="T12" fmla="*/ 4 w 53"/>
              <a:gd name="T13" fmla="*/ 38 h 77"/>
              <a:gd name="T14" fmla="*/ 14 w 53"/>
              <a:gd name="T15" fmla="*/ 56 h 77"/>
              <a:gd name="T16" fmla="*/ 33 w 53"/>
              <a:gd name="T17" fmla="*/ 77 h 77"/>
              <a:gd name="T18" fmla="*/ 46 w 53"/>
              <a:gd name="T19" fmla="*/ 42 h 77"/>
              <a:gd name="T20" fmla="*/ 17 w 53"/>
              <a:gd name="T21" fmla="*/ 52 h 77"/>
              <a:gd name="T22" fmla="*/ 18 w 53"/>
              <a:gd name="T23" fmla="*/ 51 h 77"/>
              <a:gd name="T24" fmla="*/ 19 w 53"/>
              <a:gd name="T25" fmla="*/ 44 h 77"/>
              <a:gd name="T26" fmla="*/ 17 w 53"/>
              <a:gd name="T27" fmla="*/ 34 h 77"/>
              <a:gd name="T28" fmla="*/ 23 w 53"/>
              <a:gd name="T29" fmla="*/ 37 h 77"/>
              <a:gd name="T30" fmla="*/ 21 w 53"/>
              <a:gd name="T31" fmla="*/ 40 h 77"/>
              <a:gd name="T32" fmla="*/ 24 w 53"/>
              <a:gd name="T33" fmla="*/ 44 h 77"/>
              <a:gd name="T34" fmla="*/ 24 w 53"/>
              <a:gd name="T35" fmla="*/ 46 h 77"/>
              <a:gd name="T36" fmla="*/ 24 w 53"/>
              <a:gd name="T37" fmla="*/ 52 h 77"/>
              <a:gd name="T38" fmla="*/ 6 w 53"/>
              <a:gd name="T39" fmla="*/ 14 h 77"/>
              <a:gd name="T40" fmla="*/ 6 w 53"/>
              <a:gd name="T41" fmla="*/ 12 h 77"/>
              <a:gd name="T42" fmla="*/ 21 w 53"/>
              <a:gd name="T43" fmla="*/ 3 h 77"/>
              <a:gd name="T44" fmla="*/ 10 w 53"/>
              <a:gd name="T45" fmla="*/ 9 h 77"/>
              <a:gd name="T46" fmla="*/ 7 w 53"/>
              <a:gd name="T47" fmla="*/ 15 h 77"/>
              <a:gd name="T48" fmla="*/ 18 w 53"/>
              <a:gd name="T49" fmla="*/ 15 h 77"/>
              <a:gd name="T50" fmla="*/ 22 w 53"/>
              <a:gd name="T51" fmla="*/ 10 h 77"/>
              <a:gd name="T52" fmla="*/ 14 w 53"/>
              <a:gd name="T53" fmla="*/ 12 h 77"/>
              <a:gd name="T54" fmla="*/ 23 w 53"/>
              <a:gd name="T55" fmla="*/ 4 h 77"/>
              <a:gd name="T56" fmla="*/ 19 w 53"/>
              <a:gd name="T57" fmla="*/ 8 h 77"/>
              <a:gd name="T58" fmla="*/ 22 w 53"/>
              <a:gd name="T59" fmla="*/ 15 h 77"/>
              <a:gd name="T60" fmla="*/ 6 w 53"/>
              <a:gd name="T61" fmla="*/ 23 h 77"/>
              <a:gd name="T62" fmla="*/ 5 w 53"/>
              <a:gd name="T63" fmla="*/ 21 h 77"/>
              <a:gd name="T64" fmla="*/ 4 w 53"/>
              <a:gd name="T65" fmla="*/ 34 h 77"/>
              <a:gd name="T66" fmla="*/ 4 w 53"/>
              <a:gd name="T67" fmla="*/ 33 h 77"/>
              <a:gd name="T68" fmla="*/ 6 w 53"/>
              <a:gd name="T69" fmla="*/ 28 h 77"/>
              <a:gd name="T70" fmla="*/ 9 w 53"/>
              <a:gd name="T71" fmla="*/ 21 h 77"/>
              <a:gd name="T72" fmla="*/ 19 w 53"/>
              <a:gd name="T73" fmla="*/ 18 h 77"/>
              <a:gd name="T74" fmla="*/ 23 w 53"/>
              <a:gd name="T75" fmla="*/ 20 h 77"/>
              <a:gd name="T76" fmla="*/ 16 w 53"/>
              <a:gd name="T77" fmla="*/ 25 h 77"/>
              <a:gd name="T78" fmla="*/ 21 w 53"/>
              <a:gd name="T79" fmla="*/ 24 h 77"/>
              <a:gd name="T80" fmla="*/ 24 w 53"/>
              <a:gd name="T81" fmla="*/ 22 h 77"/>
              <a:gd name="T82" fmla="*/ 15 w 53"/>
              <a:gd name="T83" fmla="*/ 30 h 77"/>
              <a:gd name="T84" fmla="*/ 15 w 53"/>
              <a:gd name="T85" fmla="*/ 28 h 77"/>
              <a:gd name="T86" fmla="*/ 11 w 53"/>
              <a:gd name="T87" fmla="*/ 23 h 77"/>
              <a:gd name="T88" fmla="*/ 11 w 53"/>
              <a:gd name="T89" fmla="*/ 29 h 77"/>
              <a:gd name="T90" fmla="*/ 13 w 53"/>
              <a:gd name="T91" fmla="*/ 34 h 77"/>
              <a:gd name="T92" fmla="*/ 13 w 53"/>
              <a:gd name="T93" fmla="*/ 51 h 77"/>
              <a:gd name="T94" fmla="*/ 15 w 53"/>
              <a:gd name="T95" fmla="*/ 48 h 77"/>
              <a:gd name="T96" fmla="*/ 12 w 53"/>
              <a:gd name="T97" fmla="*/ 41 h 77"/>
              <a:gd name="T98" fmla="*/ 9 w 53"/>
              <a:gd name="T99" fmla="*/ 44 h 77"/>
              <a:gd name="T100" fmla="*/ 7 w 53"/>
              <a:gd name="T101" fmla="*/ 38 h 77"/>
              <a:gd name="T102" fmla="*/ 16 w 53"/>
              <a:gd name="T103" fmla="*/ 40 h 77"/>
              <a:gd name="T104" fmla="*/ 14 w 53"/>
              <a:gd name="T105" fmla="*/ 52 h 77"/>
              <a:gd name="T106" fmla="*/ 20 w 53"/>
              <a:gd name="T107" fmla="*/ 74 h 77"/>
              <a:gd name="T108" fmla="*/ 20 w 53"/>
              <a:gd name="T109" fmla="*/ 67 h 77"/>
              <a:gd name="T110" fmla="*/ 17 w 53"/>
              <a:gd name="T111" fmla="*/ 68 h 77"/>
              <a:gd name="T112" fmla="*/ 37 w 53"/>
              <a:gd name="T113" fmla="*/ 5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 h="77">
                <a:moveTo>
                  <a:pt x="43" y="3"/>
                </a:moveTo>
                <a:cubicBezTo>
                  <a:pt x="36" y="0"/>
                  <a:pt x="28" y="0"/>
                  <a:pt x="28" y="0"/>
                </a:cubicBezTo>
                <a:cubicBezTo>
                  <a:pt x="28" y="0"/>
                  <a:pt x="27" y="1"/>
                  <a:pt x="27" y="2"/>
                </a:cubicBezTo>
                <a:cubicBezTo>
                  <a:pt x="27" y="55"/>
                  <a:pt x="27" y="55"/>
                  <a:pt x="27" y="55"/>
                </a:cubicBezTo>
                <a:cubicBezTo>
                  <a:pt x="26" y="55"/>
                  <a:pt x="26" y="55"/>
                  <a:pt x="26" y="55"/>
                </a:cubicBezTo>
                <a:cubicBezTo>
                  <a:pt x="26" y="54"/>
                  <a:pt x="26" y="53"/>
                  <a:pt x="26" y="51"/>
                </a:cubicBezTo>
                <a:cubicBezTo>
                  <a:pt x="26" y="51"/>
                  <a:pt x="26" y="50"/>
                  <a:pt x="26" y="50"/>
                </a:cubicBezTo>
                <a:cubicBezTo>
                  <a:pt x="26" y="46"/>
                  <a:pt x="26" y="46"/>
                  <a:pt x="26" y="46"/>
                </a:cubicBezTo>
                <a:cubicBezTo>
                  <a:pt x="26" y="45"/>
                  <a:pt x="26" y="45"/>
                  <a:pt x="26" y="45"/>
                </a:cubicBezTo>
                <a:cubicBezTo>
                  <a:pt x="26" y="44"/>
                  <a:pt x="26" y="43"/>
                  <a:pt x="26" y="43"/>
                </a:cubicBezTo>
                <a:cubicBezTo>
                  <a:pt x="26" y="39"/>
                  <a:pt x="26" y="39"/>
                  <a:pt x="26" y="39"/>
                </a:cubicBezTo>
                <a:cubicBezTo>
                  <a:pt x="26" y="39"/>
                  <a:pt x="26" y="38"/>
                  <a:pt x="26" y="38"/>
                </a:cubicBezTo>
                <a:cubicBezTo>
                  <a:pt x="26" y="38"/>
                  <a:pt x="26" y="37"/>
                  <a:pt x="26" y="37"/>
                </a:cubicBezTo>
                <a:cubicBezTo>
                  <a:pt x="26" y="31"/>
                  <a:pt x="26" y="31"/>
                  <a:pt x="26" y="31"/>
                </a:cubicBezTo>
                <a:cubicBezTo>
                  <a:pt x="26" y="31"/>
                  <a:pt x="26" y="30"/>
                  <a:pt x="26" y="30"/>
                </a:cubicBezTo>
                <a:cubicBezTo>
                  <a:pt x="26" y="30"/>
                  <a:pt x="26" y="30"/>
                  <a:pt x="26" y="29"/>
                </a:cubicBezTo>
                <a:cubicBezTo>
                  <a:pt x="26" y="29"/>
                  <a:pt x="26" y="28"/>
                  <a:pt x="26" y="28"/>
                </a:cubicBezTo>
                <a:cubicBezTo>
                  <a:pt x="26" y="22"/>
                  <a:pt x="26" y="22"/>
                  <a:pt x="26" y="22"/>
                </a:cubicBezTo>
                <a:cubicBezTo>
                  <a:pt x="26" y="22"/>
                  <a:pt x="26" y="21"/>
                  <a:pt x="26" y="21"/>
                </a:cubicBezTo>
                <a:cubicBezTo>
                  <a:pt x="26" y="21"/>
                  <a:pt x="26" y="20"/>
                  <a:pt x="26" y="20"/>
                </a:cubicBezTo>
                <a:cubicBezTo>
                  <a:pt x="26" y="17"/>
                  <a:pt x="26" y="17"/>
                  <a:pt x="26" y="17"/>
                </a:cubicBezTo>
                <a:cubicBezTo>
                  <a:pt x="26" y="16"/>
                  <a:pt x="26" y="16"/>
                  <a:pt x="26" y="15"/>
                </a:cubicBezTo>
                <a:cubicBezTo>
                  <a:pt x="26" y="15"/>
                  <a:pt x="26" y="14"/>
                  <a:pt x="26" y="13"/>
                </a:cubicBezTo>
                <a:cubicBezTo>
                  <a:pt x="26" y="9"/>
                  <a:pt x="26" y="9"/>
                  <a:pt x="26" y="9"/>
                </a:cubicBezTo>
                <a:cubicBezTo>
                  <a:pt x="26" y="8"/>
                  <a:pt x="26" y="7"/>
                  <a:pt x="26" y="7"/>
                </a:cubicBezTo>
                <a:cubicBezTo>
                  <a:pt x="26" y="6"/>
                  <a:pt x="26" y="6"/>
                  <a:pt x="26" y="5"/>
                </a:cubicBezTo>
                <a:cubicBezTo>
                  <a:pt x="26" y="5"/>
                  <a:pt x="26" y="3"/>
                  <a:pt x="25" y="2"/>
                </a:cubicBezTo>
                <a:cubicBezTo>
                  <a:pt x="25" y="2"/>
                  <a:pt x="25" y="2"/>
                  <a:pt x="25" y="2"/>
                </a:cubicBezTo>
                <a:cubicBezTo>
                  <a:pt x="25" y="2"/>
                  <a:pt x="24" y="0"/>
                  <a:pt x="21" y="0"/>
                </a:cubicBezTo>
                <a:cubicBezTo>
                  <a:pt x="21" y="0"/>
                  <a:pt x="21" y="0"/>
                  <a:pt x="21" y="0"/>
                </a:cubicBezTo>
                <a:cubicBezTo>
                  <a:pt x="20" y="0"/>
                  <a:pt x="20" y="0"/>
                  <a:pt x="19" y="0"/>
                </a:cubicBezTo>
                <a:cubicBezTo>
                  <a:pt x="17" y="0"/>
                  <a:pt x="15" y="1"/>
                  <a:pt x="14" y="1"/>
                </a:cubicBezTo>
                <a:cubicBezTo>
                  <a:pt x="12" y="2"/>
                  <a:pt x="11" y="3"/>
                  <a:pt x="9" y="5"/>
                </a:cubicBezTo>
                <a:cubicBezTo>
                  <a:pt x="9" y="5"/>
                  <a:pt x="9" y="5"/>
                  <a:pt x="9" y="5"/>
                </a:cubicBezTo>
                <a:cubicBezTo>
                  <a:pt x="9" y="5"/>
                  <a:pt x="9" y="6"/>
                  <a:pt x="8" y="6"/>
                </a:cubicBezTo>
                <a:cubicBezTo>
                  <a:pt x="7" y="7"/>
                  <a:pt x="6" y="9"/>
                  <a:pt x="4" y="10"/>
                </a:cubicBezTo>
                <a:cubicBezTo>
                  <a:pt x="3" y="12"/>
                  <a:pt x="3" y="13"/>
                  <a:pt x="3" y="14"/>
                </a:cubicBezTo>
                <a:cubicBezTo>
                  <a:pt x="2" y="15"/>
                  <a:pt x="2" y="15"/>
                  <a:pt x="2" y="16"/>
                </a:cubicBezTo>
                <a:cubicBezTo>
                  <a:pt x="2" y="16"/>
                  <a:pt x="1" y="17"/>
                  <a:pt x="1" y="18"/>
                </a:cubicBezTo>
                <a:cubicBezTo>
                  <a:pt x="1" y="18"/>
                  <a:pt x="1" y="18"/>
                  <a:pt x="1" y="18"/>
                </a:cubicBezTo>
                <a:cubicBezTo>
                  <a:pt x="1" y="19"/>
                  <a:pt x="0" y="19"/>
                  <a:pt x="0" y="20"/>
                </a:cubicBezTo>
                <a:cubicBezTo>
                  <a:pt x="0" y="22"/>
                  <a:pt x="0" y="23"/>
                  <a:pt x="0" y="24"/>
                </a:cubicBezTo>
                <a:cubicBezTo>
                  <a:pt x="0" y="24"/>
                  <a:pt x="0" y="24"/>
                  <a:pt x="0" y="25"/>
                </a:cubicBezTo>
                <a:cubicBezTo>
                  <a:pt x="0" y="26"/>
                  <a:pt x="0" y="27"/>
                  <a:pt x="1" y="28"/>
                </a:cubicBezTo>
                <a:cubicBezTo>
                  <a:pt x="0" y="29"/>
                  <a:pt x="0" y="29"/>
                  <a:pt x="0" y="30"/>
                </a:cubicBezTo>
                <a:cubicBezTo>
                  <a:pt x="0" y="31"/>
                  <a:pt x="0" y="32"/>
                  <a:pt x="0" y="33"/>
                </a:cubicBezTo>
                <a:cubicBezTo>
                  <a:pt x="1" y="34"/>
                  <a:pt x="1" y="34"/>
                  <a:pt x="2" y="34"/>
                </a:cubicBezTo>
                <a:cubicBezTo>
                  <a:pt x="2" y="35"/>
                  <a:pt x="2" y="36"/>
                  <a:pt x="3" y="36"/>
                </a:cubicBezTo>
                <a:cubicBezTo>
                  <a:pt x="3" y="37"/>
                  <a:pt x="3" y="37"/>
                  <a:pt x="4" y="38"/>
                </a:cubicBezTo>
                <a:cubicBezTo>
                  <a:pt x="4" y="39"/>
                  <a:pt x="4" y="40"/>
                  <a:pt x="5" y="42"/>
                </a:cubicBezTo>
                <a:cubicBezTo>
                  <a:pt x="6" y="43"/>
                  <a:pt x="6" y="44"/>
                  <a:pt x="7" y="44"/>
                </a:cubicBezTo>
                <a:cubicBezTo>
                  <a:pt x="7" y="45"/>
                  <a:pt x="8" y="46"/>
                  <a:pt x="9" y="47"/>
                </a:cubicBezTo>
                <a:cubicBezTo>
                  <a:pt x="9" y="48"/>
                  <a:pt x="10" y="49"/>
                  <a:pt x="10" y="49"/>
                </a:cubicBezTo>
                <a:cubicBezTo>
                  <a:pt x="10" y="50"/>
                  <a:pt x="11" y="52"/>
                  <a:pt x="12" y="52"/>
                </a:cubicBezTo>
                <a:cubicBezTo>
                  <a:pt x="12" y="53"/>
                  <a:pt x="12" y="53"/>
                  <a:pt x="12" y="53"/>
                </a:cubicBezTo>
                <a:cubicBezTo>
                  <a:pt x="13" y="54"/>
                  <a:pt x="13" y="55"/>
                  <a:pt x="14" y="56"/>
                </a:cubicBezTo>
                <a:cubicBezTo>
                  <a:pt x="14" y="56"/>
                  <a:pt x="14" y="56"/>
                  <a:pt x="14" y="56"/>
                </a:cubicBezTo>
                <a:cubicBezTo>
                  <a:pt x="14" y="56"/>
                  <a:pt x="14" y="56"/>
                  <a:pt x="14" y="56"/>
                </a:cubicBezTo>
                <a:cubicBezTo>
                  <a:pt x="14" y="68"/>
                  <a:pt x="14" y="68"/>
                  <a:pt x="14" y="68"/>
                </a:cubicBezTo>
                <a:cubicBezTo>
                  <a:pt x="14" y="71"/>
                  <a:pt x="16" y="74"/>
                  <a:pt x="18" y="74"/>
                </a:cubicBezTo>
                <a:cubicBezTo>
                  <a:pt x="18" y="75"/>
                  <a:pt x="18" y="75"/>
                  <a:pt x="18" y="75"/>
                </a:cubicBezTo>
                <a:cubicBezTo>
                  <a:pt x="18" y="76"/>
                  <a:pt x="19" y="77"/>
                  <a:pt x="21" y="77"/>
                </a:cubicBezTo>
                <a:cubicBezTo>
                  <a:pt x="33" y="77"/>
                  <a:pt x="33" y="77"/>
                  <a:pt x="33" y="77"/>
                </a:cubicBezTo>
                <a:cubicBezTo>
                  <a:pt x="34" y="77"/>
                  <a:pt x="35" y="76"/>
                  <a:pt x="35" y="75"/>
                </a:cubicBezTo>
                <a:cubicBezTo>
                  <a:pt x="35" y="74"/>
                  <a:pt x="35" y="74"/>
                  <a:pt x="35" y="74"/>
                </a:cubicBezTo>
                <a:cubicBezTo>
                  <a:pt x="38" y="74"/>
                  <a:pt x="40" y="71"/>
                  <a:pt x="40" y="68"/>
                </a:cubicBezTo>
                <a:cubicBezTo>
                  <a:pt x="40" y="56"/>
                  <a:pt x="40" y="56"/>
                  <a:pt x="40" y="56"/>
                </a:cubicBezTo>
                <a:cubicBezTo>
                  <a:pt x="40" y="56"/>
                  <a:pt x="40" y="56"/>
                  <a:pt x="40" y="56"/>
                </a:cubicBezTo>
                <a:cubicBezTo>
                  <a:pt x="40" y="55"/>
                  <a:pt x="42" y="48"/>
                  <a:pt x="44" y="45"/>
                </a:cubicBezTo>
                <a:cubicBezTo>
                  <a:pt x="44" y="44"/>
                  <a:pt x="45" y="43"/>
                  <a:pt x="46" y="42"/>
                </a:cubicBezTo>
                <a:cubicBezTo>
                  <a:pt x="49" y="38"/>
                  <a:pt x="53" y="32"/>
                  <a:pt x="53" y="22"/>
                </a:cubicBezTo>
                <a:cubicBezTo>
                  <a:pt x="53" y="13"/>
                  <a:pt x="50" y="7"/>
                  <a:pt x="43" y="3"/>
                </a:cubicBezTo>
                <a:close/>
                <a:moveTo>
                  <a:pt x="16" y="55"/>
                </a:moveTo>
                <a:cubicBezTo>
                  <a:pt x="15" y="55"/>
                  <a:pt x="15" y="55"/>
                  <a:pt x="15" y="55"/>
                </a:cubicBezTo>
                <a:cubicBezTo>
                  <a:pt x="15" y="54"/>
                  <a:pt x="15" y="54"/>
                  <a:pt x="15" y="53"/>
                </a:cubicBezTo>
                <a:cubicBezTo>
                  <a:pt x="15" y="53"/>
                  <a:pt x="16" y="53"/>
                  <a:pt x="17" y="53"/>
                </a:cubicBezTo>
                <a:cubicBezTo>
                  <a:pt x="17" y="52"/>
                  <a:pt x="17" y="52"/>
                  <a:pt x="17" y="52"/>
                </a:cubicBezTo>
                <a:cubicBezTo>
                  <a:pt x="17" y="53"/>
                  <a:pt x="18" y="53"/>
                  <a:pt x="18" y="53"/>
                </a:cubicBezTo>
                <a:cubicBezTo>
                  <a:pt x="18" y="53"/>
                  <a:pt x="18" y="53"/>
                  <a:pt x="18" y="53"/>
                </a:cubicBezTo>
                <a:cubicBezTo>
                  <a:pt x="19" y="54"/>
                  <a:pt x="19" y="54"/>
                  <a:pt x="19" y="54"/>
                </a:cubicBezTo>
                <a:cubicBezTo>
                  <a:pt x="19" y="54"/>
                  <a:pt x="19" y="54"/>
                  <a:pt x="19" y="53"/>
                </a:cubicBezTo>
                <a:cubicBezTo>
                  <a:pt x="20" y="53"/>
                  <a:pt x="20" y="53"/>
                  <a:pt x="19" y="52"/>
                </a:cubicBezTo>
                <a:cubicBezTo>
                  <a:pt x="19" y="52"/>
                  <a:pt x="19" y="52"/>
                  <a:pt x="19" y="52"/>
                </a:cubicBezTo>
                <a:cubicBezTo>
                  <a:pt x="18" y="52"/>
                  <a:pt x="18" y="52"/>
                  <a:pt x="18" y="51"/>
                </a:cubicBezTo>
                <a:cubicBezTo>
                  <a:pt x="19" y="50"/>
                  <a:pt x="19" y="48"/>
                  <a:pt x="19" y="47"/>
                </a:cubicBezTo>
                <a:cubicBezTo>
                  <a:pt x="19" y="47"/>
                  <a:pt x="19" y="46"/>
                  <a:pt x="19" y="46"/>
                </a:cubicBezTo>
                <a:cubicBezTo>
                  <a:pt x="19" y="46"/>
                  <a:pt x="19" y="46"/>
                  <a:pt x="19" y="46"/>
                </a:cubicBezTo>
                <a:cubicBezTo>
                  <a:pt x="18" y="46"/>
                  <a:pt x="17" y="45"/>
                  <a:pt x="16" y="44"/>
                </a:cubicBezTo>
                <a:cubicBezTo>
                  <a:pt x="16" y="43"/>
                  <a:pt x="17" y="42"/>
                  <a:pt x="17" y="42"/>
                </a:cubicBezTo>
                <a:cubicBezTo>
                  <a:pt x="18" y="42"/>
                  <a:pt x="18" y="43"/>
                  <a:pt x="18" y="43"/>
                </a:cubicBezTo>
                <a:cubicBezTo>
                  <a:pt x="19" y="44"/>
                  <a:pt x="19" y="44"/>
                  <a:pt x="19" y="44"/>
                </a:cubicBezTo>
                <a:cubicBezTo>
                  <a:pt x="19" y="44"/>
                  <a:pt x="19" y="43"/>
                  <a:pt x="19" y="43"/>
                </a:cubicBezTo>
                <a:cubicBezTo>
                  <a:pt x="20" y="43"/>
                  <a:pt x="20" y="43"/>
                  <a:pt x="20" y="43"/>
                </a:cubicBezTo>
                <a:cubicBezTo>
                  <a:pt x="20" y="43"/>
                  <a:pt x="20" y="43"/>
                  <a:pt x="19" y="42"/>
                </a:cubicBezTo>
                <a:cubicBezTo>
                  <a:pt x="19" y="42"/>
                  <a:pt x="19" y="42"/>
                  <a:pt x="19" y="42"/>
                </a:cubicBezTo>
                <a:cubicBezTo>
                  <a:pt x="19" y="42"/>
                  <a:pt x="19" y="42"/>
                  <a:pt x="19" y="42"/>
                </a:cubicBezTo>
                <a:cubicBezTo>
                  <a:pt x="19" y="42"/>
                  <a:pt x="18" y="41"/>
                  <a:pt x="17" y="38"/>
                </a:cubicBezTo>
                <a:cubicBezTo>
                  <a:pt x="15" y="36"/>
                  <a:pt x="16" y="35"/>
                  <a:pt x="17" y="34"/>
                </a:cubicBezTo>
                <a:cubicBezTo>
                  <a:pt x="18" y="34"/>
                  <a:pt x="19" y="34"/>
                  <a:pt x="20" y="33"/>
                </a:cubicBezTo>
                <a:cubicBezTo>
                  <a:pt x="20" y="33"/>
                  <a:pt x="20" y="33"/>
                  <a:pt x="20" y="33"/>
                </a:cubicBezTo>
                <a:cubicBezTo>
                  <a:pt x="21" y="32"/>
                  <a:pt x="23" y="31"/>
                  <a:pt x="23" y="31"/>
                </a:cubicBezTo>
                <a:cubicBezTo>
                  <a:pt x="23" y="31"/>
                  <a:pt x="24" y="31"/>
                  <a:pt x="24" y="31"/>
                </a:cubicBezTo>
                <a:cubicBezTo>
                  <a:pt x="24" y="31"/>
                  <a:pt x="24" y="31"/>
                  <a:pt x="24" y="31"/>
                </a:cubicBezTo>
                <a:cubicBezTo>
                  <a:pt x="24" y="37"/>
                  <a:pt x="24" y="37"/>
                  <a:pt x="24" y="37"/>
                </a:cubicBezTo>
                <a:cubicBezTo>
                  <a:pt x="23" y="37"/>
                  <a:pt x="23" y="37"/>
                  <a:pt x="23" y="37"/>
                </a:cubicBezTo>
                <a:cubicBezTo>
                  <a:pt x="22" y="37"/>
                  <a:pt x="21" y="37"/>
                  <a:pt x="20" y="37"/>
                </a:cubicBezTo>
                <a:cubicBezTo>
                  <a:pt x="21" y="37"/>
                  <a:pt x="21" y="37"/>
                  <a:pt x="21" y="36"/>
                </a:cubicBezTo>
                <a:cubicBezTo>
                  <a:pt x="21" y="36"/>
                  <a:pt x="21" y="36"/>
                  <a:pt x="21" y="35"/>
                </a:cubicBezTo>
                <a:cubicBezTo>
                  <a:pt x="20" y="35"/>
                  <a:pt x="20" y="35"/>
                  <a:pt x="20" y="36"/>
                </a:cubicBezTo>
                <a:cubicBezTo>
                  <a:pt x="20" y="36"/>
                  <a:pt x="20" y="36"/>
                  <a:pt x="20" y="36"/>
                </a:cubicBezTo>
                <a:cubicBezTo>
                  <a:pt x="19" y="36"/>
                  <a:pt x="19" y="37"/>
                  <a:pt x="19" y="38"/>
                </a:cubicBezTo>
                <a:cubicBezTo>
                  <a:pt x="20" y="39"/>
                  <a:pt x="21" y="40"/>
                  <a:pt x="21" y="40"/>
                </a:cubicBezTo>
                <a:cubicBezTo>
                  <a:pt x="21" y="40"/>
                  <a:pt x="22" y="40"/>
                  <a:pt x="22" y="39"/>
                </a:cubicBezTo>
                <a:cubicBezTo>
                  <a:pt x="22" y="39"/>
                  <a:pt x="22" y="39"/>
                  <a:pt x="22" y="39"/>
                </a:cubicBezTo>
                <a:cubicBezTo>
                  <a:pt x="22" y="39"/>
                  <a:pt x="22" y="39"/>
                  <a:pt x="21" y="38"/>
                </a:cubicBezTo>
                <a:cubicBezTo>
                  <a:pt x="22" y="38"/>
                  <a:pt x="22" y="38"/>
                  <a:pt x="23" y="38"/>
                </a:cubicBezTo>
                <a:cubicBezTo>
                  <a:pt x="24" y="38"/>
                  <a:pt x="24" y="38"/>
                  <a:pt x="24" y="39"/>
                </a:cubicBezTo>
                <a:cubicBezTo>
                  <a:pt x="24" y="43"/>
                  <a:pt x="24" y="43"/>
                  <a:pt x="24" y="43"/>
                </a:cubicBezTo>
                <a:cubicBezTo>
                  <a:pt x="24" y="43"/>
                  <a:pt x="24" y="43"/>
                  <a:pt x="24" y="44"/>
                </a:cubicBezTo>
                <a:cubicBezTo>
                  <a:pt x="23" y="44"/>
                  <a:pt x="23" y="44"/>
                  <a:pt x="22" y="44"/>
                </a:cubicBezTo>
                <a:cubicBezTo>
                  <a:pt x="22" y="44"/>
                  <a:pt x="22" y="44"/>
                  <a:pt x="22" y="44"/>
                </a:cubicBezTo>
                <a:cubicBezTo>
                  <a:pt x="22" y="44"/>
                  <a:pt x="21" y="44"/>
                  <a:pt x="21" y="44"/>
                </a:cubicBezTo>
                <a:cubicBezTo>
                  <a:pt x="22" y="45"/>
                  <a:pt x="22" y="45"/>
                  <a:pt x="22" y="45"/>
                </a:cubicBezTo>
                <a:cubicBezTo>
                  <a:pt x="22" y="45"/>
                  <a:pt x="22" y="45"/>
                  <a:pt x="22" y="45"/>
                </a:cubicBezTo>
                <a:cubicBezTo>
                  <a:pt x="23" y="45"/>
                  <a:pt x="23" y="45"/>
                  <a:pt x="23" y="45"/>
                </a:cubicBezTo>
                <a:cubicBezTo>
                  <a:pt x="24" y="45"/>
                  <a:pt x="24" y="45"/>
                  <a:pt x="24" y="46"/>
                </a:cubicBezTo>
                <a:cubicBezTo>
                  <a:pt x="24" y="50"/>
                  <a:pt x="24" y="50"/>
                  <a:pt x="24" y="50"/>
                </a:cubicBezTo>
                <a:cubicBezTo>
                  <a:pt x="24" y="51"/>
                  <a:pt x="23" y="51"/>
                  <a:pt x="23" y="51"/>
                </a:cubicBezTo>
                <a:cubicBezTo>
                  <a:pt x="23" y="51"/>
                  <a:pt x="23" y="51"/>
                  <a:pt x="23" y="51"/>
                </a:cubicBezTo>
                <a:cubicBezTo>
                  <a:pt x="23" y="52"/>
                  <a:pt x="22" y="52"/>
                  <a:pt x="23" y="52"/>
                </a:cubicBezTo>
                <a:cubicBezTo>
                  <a:pt x="23" y="53"/>
                  <a:pt x="23" y="53"/>
                  <a:pt x="23" y="53"/>
                </a:cubicBezTo>
                <a:cubicBezTo>
                  <a:pt x="23" y="53"/>
                  <a:pt x="23" y="53"/>
                  <a:pt x="24" y="53"/>
                </a:cubicBezTo>
                <a:cubicBezTo>
                  <a:pt x="24" y="53"/>
                  <a:pt x="24" y="53"/>
                  <a:pt x="24" y="52"/>
                </a:cubicBezTo>
                <a:cubicBezTo>
                  <a:pt x="24" y="53"/>
                  <a:pt x="24" y="54"/>
                  <a:pt x="23" y="54"/>
                </a:cubicBezTo>
                <a:cubicBezTo>
                  <a:pt x="23" y="55"/>
                  <a:pt x="23" y="55"/>
                  <a:pt x="23" y="55"/>
                </a:cubicBezTo>
                <a:lnTo>
                  <a:pt x="16" y="55"/>
                </a:lnTo>
                <a:close/>
                <a:moveTo>
                  <a:pt x="2" y="21"/>
                </a:moveTo>
                <a:cubicBezTo>
                  <a:pt x="2" y="20"/>
                  <a:pt x="3" y="19"/>
                  <a:pt x="3" y="19"/>
                </a:cubicBezTo>
                <a:cubicBezTo>
                  <a:pt x="3" y="18"/>
                  <a:pt x="4" y="17"/>
                  <a:pt x="4" y="16"/>
                </a:cubicBezTo>
                <a:cubicBezTo>
                  <a:pt x="4" y="15"/>
                  <a:pt x="5" y="15"/>
                  <a:pt x="6" y="14"/>
                </a:cubicBezTo>
                <a:cubicBezTo>
                  <a:pt x="6" y="14"/>
                  <a:pt x="6" y="14"/>
                  <a:pt x="6" y="14"/>
                </a:cubicBezTo>
                <a:cubicBezTo>
                  <a:pt x="6" y="14"/>
                  <a:pt x="6" y="14"/>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2"/>
                  <a:pt x="6" y="12"/>
                </a:cubicBezTo>
                <a:cubicBezTo>
                  <a:pt x="7" y="10"/>
                  <a:pt x="9" y="8"/>
                  <a:pt x="10" y="8"/>
                </a:cubicBezTo>
                <a:cubicBezTo>
                  <a:pt x="10" y="8"/>
                  <a:pt x="10" y="7"/>
                  <a:pt x="11" y="6"/>
                </a:cubicBezTo>
                <a:cubicBezTo>
                  <a:pt x="11" y="6"/>
                  <a:pt x="11" y="6"/>
                  <a:pt x="11" y="6"/>
                </a:cubicBezTo>
                <a:cubicBezTo>
                  <a:pt x="12" y="5"/>
                  <a:pt x="13" y="4"/>
                  <a:pt x="15" y="3"/>
                </a:cubicBezTo>
                <a:cubicBezTo>
                  <a:pt x="16" y="3"/>
                  <a:pt x="17" y="2"/>
                  <a:pt x="19" y="2"/>
                </a:cubicBezTo>
                <a:cubicBezTo>
                  <a:pt x="19" y="2"/>
                  <a:pt x="20" y="3"/>
                  <a:pt x="21" y="3"/>
                </a:cubicBezTo>
                <a:cubicBezTo>
                  <a:pt x="21" y="3"/>
                  <a:pt x="21" y="3"/>
                  <a:pt x="21" y="3"/>
                </a:cubicBezTo>
                <a:cubicBezTo>
                  <a:pt x="22" y="3"/>
                  <a:pt x="22" y="3"/>
                  <a:pt x="22" y="3"/>
                </a:cubicBezTo>
                <a:cubicBezTo>
                  <a:pt x="20" y="3"/>
                  <a:pt x="18" y="5"/>
                  <a:pt x="17" y="6"/>
                </a:cubicBezTo>
                <a:cubicBezTo>
                  <a:pt x="16" y="7"/>
                  <a:pt x="13" y="9"/>
                  <a:pt x="12" y="9"/>
                </a:cubicBezTo>
                <a:cubicBezTo>
                  <a:pt x="12" y="9"/>
                  <a:pt x="12" y="9"/>
                  <a:pt x="12" y="9"/>
                </a:cubicBezTo>
                <a:cubicBezTo>
                  <a:pt x="12" y="9"/>
                  <a:pt x="12" y="9"/>
                  <a:pt x="11" y="9"/>
                </a:cubicBezTo>
                <a:cubicBezTo>
                  <a:pt x="11" y="8"/>
                  <a:pt x="11" y="9"/>
                  <a:pt x="10" y="9"/>
                </a:cubicBezTo>
                <a:cubicBezTo>
                  <a:pt x="10" y="9"/>
                  <a:pt x="10" y="9"/>
                  <a:pt x="10" y="9"/>
                </a:cubicBezTo>
                <a:cubicBezTo>
                  <a:pt x="10" y="9"/>
                  <a:pt x="10" y="10"/>
                  <a:pt x="11" y="10"/>
                </a:cubicBezTo>
                <a:cubicBezTo>
                  <a:pt x="11" y="10"/>
                  <a:pt x="11" y="10"/>
                  <a:pt x="12" y="11"/>
                </a:cubicBezTo>
                <a:cubicBezTo>
                  <a:pt x="12" y="11"/>
                  <a:pt x="12" y="12"/>
                  <a:pt x="12" y="12"/>
                </a:cubicBezTo>
                <a:cubicBezTo>
                  <a:pt x="12" y="12"/>
                  <a:pt x="12" y="12"/>
                  <a:pt x="12" y="12"/>
                </a:cubicBezTo>
                <a:cubicBezTo>
                  <a:pt x="11" y="14"/>
                  <a:pt x="8" y="15"/>
                  <a:pt x="8" y="15"/>
                </a:cubicBezTo>
                <a:cubicBezTo>
                  <a:pt x="8" y="15"/>
                  <a:pt x="8" y="15"/>
                  <a:pt x="8" y="15"/>
                </a:cubicBezTo>
                <a:cubicBezTo>
                  <a:pt x="7" y="15"/>
                  <a:pt x="7" y="15"/>
                  <a:pt x="7" y="15"/>
                </a:cubicBezTo>
                <a:cubicBezTo>
                  <a:pt x="8" y="16"/>
                  <a:pt x="8" y="16"/>
                  <a:pt x="8" y="16"/>
                </a:cubicBezTo>
                <a:cubicBezTo>
                  <a:pt x="9" y="16"/>
                  <a:pt x="11" y="15"/>
                  <a:pt x="12" y="13"/>
                </a:cubicBezTo>
                <a:cubicBezTo>
                  <a:pt x="13" y="14"/>
                  <a:pt x="13" y="14"/>
                  <a:pt x="14" y="14"/>
                </a:cubicBezTo>
                <a:cubicBezTo>
                  <a:pt x="15" y="14"/>
                  <a:pt x="17" y="14"/>
                  <a:pt x="18" y="13"/>
                </a:cubicBezTo>
                <a:cubicBezTo>
                  <a:pt x="17" y="14"/>
                  <a:pt x="18" y="14"/>
                  <a:pt x="18" y="14"/>
                </a:cubicBezTo>
                <a:cubicBezTo>
                  <a:pt x="18" y="14"/>
                  <a:pt x="18" y="15"/>
                  <a:pt x="18" y="15"/>
                </a:cubicBezTo>
                <a:cubicBezTo>
                  <a:pt x="18" y="15"/>
                  <a:pt x="18" y="15"/>
                  <a:pt x="18" y="15"/>
                </a:cubicBezTo>
                <a:cubicBezTo>
                  <a:pt x="19" y="15"/>
                  <a:pt x="19" y="14"/>
                  <a:pt x="19" y="14"/>
                </a:cubicBezTo>
                <a:cubicBezTo>
                  <a:pt x="19" y="14"/>
                  <a:pt x="19" y="14"/>
                  <a:pt x="19" y="14"/>
                </a:cubicBezTo>
                <a:cubicBezTo>
                  <a:pt x="19" y="14"/>
                  <a:pt x="19" y="13"/>
                  <a:pt x="19" y="13"/>
                </a:cubicBezTo>
                <a:cubicBezTo>
                  <a:pt x="19" y="12"/>
                  <a:pt x="19" y="12"/>
                  <a:pt x="19" y="12"/>
                </a:cubicBezTo>
                <a:cubicBezTo>
                  <a:pt x="19" y="12"/>
                  <a:pt x="19" y="12"/>
                  <a:pt x="19" y="11"/>
                </a:cubicBezTo>
                <a:cubicBezTo>
                  <a:pt x="20" y="10"/>
                  <a:pt x="20" y="10"/>
                  <a:pt x="21" y="10"/>
                </a:cubicBezTo>
                <a:cubicBezTo>
                  <a:pt x="22" y="10"/>
                  <a:pt x="22" y="10"/>
                  <a:pt x="22" y="10"/>
                </a:cubicBezTo>
                <a:cubicBezTo>
                  <a:pt x="22" y="10"/>
                  <a:pt x="22" y="10"/>
                  <a:pt x="22" y="10"/>
                </a:cubicBezTo>
                <a:cubicBezTo>
                  <a:pt x="23" y="10"/>
                  <a:pt x="23" y="10"/>
                  <a:pt x="23" y="10"/>
                </a:cubicBezTo>
                <a:cubicBezTo>
                  <a:pt x="23" y="9"/>
                  <a:pt x="23" y="9"/>
                  <a:pt x="23" y="9"/>
                </a:cubicBezTo>
                <a:cubicBezTo>
                  <a:pt x="23" y="9"/>
                  <a:pt x="22" y="8"/>
                  <a:pt x="21" y="8"/>
                </a:cubicBezTo>
                <a:cubicBezTo>
                  <a:pt x="20" y="8"/>
                  <a:pt x="19" y="9"/>
                  <a:pt x="18" y="11"/>
                </a:cubicBezTo>
                <a:cubicBezTo>
                  <a:pt x="18" y="11"/>
                  <a:pt x="18" y="11"/>
                  <a:pt x="18" y="12"/>
                </a:cubicBezTo>
                <a:cubicBezTo>
                  <a:pt x="17" y="12"/>
                  <a:pt x="15" y="12"/>
                  <a:pt x="14" y="12"/>
                </a:cubicBezTo>
                <a:cubicBezTo>
                  <a:pt x="14" y="12"/>
                  <a:pt x="13" y="12"/>
                  <a:pt x="13" y="12"/>
                </a:cubicBezTo>
                <a:cubicBezTo>
                  <a:pt x="13" y="12"/>
                  <a:pt x="13" y="12"/>
                  <a:pt x="13" y="12"/>
                </a:cubicBezTo>
                <a:cubicBezTo>
                  <a:pt x="13" y="12"/>
                  <a:pt x="13" y="11"/>
                  <a:pt x="13" y="11"/>
                </a:cubicBezTo>
                <a:cubicBezTo>
                  <a:pt x="13" y="11"/>
                  <a:pt x="13" y="10"/>
                  <a:pt x="13" y="10"/>
                </a:cubicBezTo>
                <a:cubicBezTo>
                  <a:pt x="14" y="10"/>
                  <a:pt x="17" y="8"/>
                  <a:pt x="18" y="7"/>
                </a:cubicBezTo>
                <a:cubicBezTo>
                  <a:pt x="19" y="6"/>
                  <a:pt x="21" y="4"/>
                  <a:pt x="23" y="4"/>
                </a:cubicBezTo>
                <a:cubicBezTo>
                  <a:pt x="23" y="4"/>
                  <a:pt x="23" y="4"/>
                  <a:pt x="23" y="4"/>
                </a:cubicBezTo>
                <a:cubicBezTo>
                  <a:pt x="23" y="4"/>
                  <a:pt x="24" y="4"/>
                  <a:pt x="24" y="4"/>
                </a:cubicBezTo>
                <a:cubicBezTo>
                  <a:pt x="24" y="4"/>
                  <a:pt x="24" y="5"/>
                  <a:pt x="24" y="5"/>
                </a:cubicBezTo>
                <a:cubicBezTo>
                  <a:pt x="24" y="6"/>
                  <a:pt x="24" y="6"/>
                  <a:pt x="24" y="6"/>
                </a:cubicBezTo>
                <a:cubicBezTo>
                  <a:pt x="23" y="5"/>
                  <a:pt x="22" y="5"/>
                  <a:pt x="22" y="5"/>
                </a:cubicBezTo>
                <a:cubicBezTo>
                  <a:pt x="21" y="5"/>
                  <a:pt x="20" y="6"/>
                  <a:pt x="19" y="7"/>
                </a:cubicBezTo>
                <a:cubicBezTo>
                  <a:pt x="19" y="7"/>
                  <a:pt x="19" y="8"/>
                  <a:pt x="19" y="8"/>
                </a:cubicBezTo>
                <a:cubicBezTo>
                  <a:pt x="19" y="8"/>
                  <a:pt x="19" y="8"/>
                  <a:pt x="19" y="8"/>
                </a:cubicBezTo>
                <a:cubicBezTo>
                  <a:pt x="19" y="8"/>
                  <a:pt x="20" y="8"/>
                  <a:pt x="20" y="8"/>
                </a:cubicBezTo>
                <a:cubicBezTo>
                  <a:pt x="20" y="8"/>
                  <a:pt x="21" y="7"/>
                  <a:pt x="22" y="7"/>
                </a:cubicBezTo>
                <a:cubicBezTo>
                  <a:pt x="23" y="7"/>
                  <a:pt x="24" y="7"/>
                  <a:pt x="24" y="9"/>
                </a:cubicBezTo>
                <a:cubicBezTo>
                  <a:pt x="24" y="13"/>
                  <a:pt x="24" y="13"/>
                  <a:pt x="24" y="13"/>
                </a:cubicBezTo>
                <a:cubicBezTo>
                  <a:pt x="24" y="14"/>
                  <a:pt x="24" y="15"/>
                  <a:pt x="23" y="15"/>
                </a:cubicBezTo>
                <a:cubicBezTo>
                  <a:pt x="23" y="15"/>
                  <a:pt x="23" y="15"/>
                  <a:pt x="22" y="15"/>
                </a:cubicBezTo>
                <a:cubicBezTo>
                  <a:pt x="22" y="15"/>
                  <a:pt x="22" y="15"/>
                  <a:pt x="22" y="15"/>
                </a:cubicBezTo>
                <a:cubicBezTo>
                  <a:pt x="21" y="15"/>
                  <a:pt x="18" y="16"/>
                  <a:pt x="18" y="17"/>
                </a:cubicBezTo>
                <a:cubicBezTo>
                  <a:pt x="17" y="18"/>
                  <a:pt x="17" y="18"/>
                  <a:pt x="16" y="18"/>
                </a:cubicBezTo>
                <a:cubicBezTo>
                  <a:pt x="16" y="18"/>
                  <a:pt x="14" y="17"/>
                  <a:pt x="13" y="17"/>
                </a:cubicBezTo>
                <a:cubicBezTo>
                  <a:pt x="12" y="17"/>
                  <a:pt x="12" y="17"/>
                  <a:pt x="12" y="17"/>
                </a:cubicBezTo>
                <a:cubicBezTo>
                  <a:pt x="10" y="18"/>
                  <a:pt x="9" y="19"/>
                  <a:pt x="8" y="20"/>
                </a:cubicBezTo>
                <a:cubicBezTo>
                  <a:pt x="8" y="21"/>
                  <a:pt x="7" y="21"/>
                  <a:pt x="6" y="22"/>
                </a:cubicBezTo>
                <a:cubicBezTo>
                  <a:pt x="6" y="23"/>
                  <a:pt x="6" y="23"/>
                  <a:pt x="6" y="23"/>
                </a:cubicBezTo>
                <a:cubicBezTo>
                  <a:pt x="5" y="24"/>
                  <a:pt x="5" y="25"/>
                  <a:pt x="5" y="26"/>
                </a:cubicBezTo>
                <a:cubicBezTo>
                  <a:pt x="5" y="26"/>
                  <a:pt x="5" y="26"/>
                  <a:pt x="4" y="26"/>
                </a:cubicBezTo>
                <a:cubicBezTo>
                  <a:pt x="4" y="26"/>
                  <a:pt x="3" y="26"/>
                  <a:pt x="3" y="27"/>
                </a:cubicBezTo>
                <a:cubicBezTo>
                  <a:pt x="2" y="27"/>
                  <a:pt x="2" y="26"/>
                  <a:pt x="2" y="25"/>
                </a:cubicBezTo>
                <a:cubicBezTo>
                  <a:pt x="2" y="25"/>
                  <a:pt x="2" y="24"/>
                  <a:pt x="3" y="24"/>
                </a:cubicBezTo>
                <a:cubicBezTo>
                  <a:pt x="3" y="24"/>
                  <a:pt x="3" y="24"/>
                  <a:pt x="3" y="24"/>
                </a:cubicBezTo>
                <a:cubicBezTo>
                  <a:pt x="3" y="22"/>
                  <a:pt x="5" y="21"/>
                  <a:pt x="5" y="21"/>
                </a:cubicBezTo>
                <a:cubicBezTo>
                  <a:pt x="5" y="21"/>
                  <a:pt x="5" y="20"/>
                  <a:pt x="5" y="20"/>
                </a:cubicBezTo>
                <a:cubicBezTo>
                  <a:pt x="5" y="20"/>
                  <a:pt x="4" y="20"/>
                  <a:pt x="4" y="20"/>
                </a:cubicBezTo>
                <a:cubicBezTo>
                  <a:pt x="4" y="20"/>
                  <a:pt x="4" y="20"/>
                  <a:pt x="4" y="20"/>
                </a:cubicBezTo>
                <a:cubicBezTo>
                  <a:pt x="4" y="20"/>
                  <a:pt x="3" y="21"/>
                  <a:pt x="2" y="22"/>
                </a:cubicBezTo>
                <a:cubicBezTo>
                  <a:pt x="2" y="21"/>
                  <a:pt x="2" y="21"/>
                  <a:pt x="2" y="21"/>
                </a:cubicBezTo>
                <a:close/>
                <a:moveTo>
                  <a:pt x="5" y="35"/>
                </a:moveTo>
                <a:cubicBezTo>
                  <a:pt x="4" y="35"/>
                  <a:pt x="4" y="34"/>
                  <a:pt x="4" y="34"/>
                </a:cubicBezTo>
                <a:cubicBezTo>
                  <a:pt x="4" y="34"/>
                  <a:pt x="4" y="34"/>
                  <a:pt x="4" y="34"/>
                </a:cubicBezTo>
                <a:cubicBezTo>
                  <a:pt x="4" y="34"/>
                  <a:pt x="5" y="34"/>
                  <a:pt x="5" y="34"/>
                </a:cubicBezTo>
                <a:cubicBezTo>
                  <a:pt x="6" y="34"/>
                  <a:pt x="6" y="34"/>
                  <a:pt x="6" y="34"/>
                </a:cubicBezTo>
                <a:cubicBezTo>
                  <a:pt x="6" y="33"/>
                  <a:pt x="6" y="33"/>
                  <a:pt x="6" y="33"/>
                </a:cubicBezTo>
                <a:cubicBezTo>
                  <a:pt x="6" y="33"/>
                  <a:pt x="6" y="32"/>
                  <a:pt x="5" y="32"/>
                </a:cubicBezTo>
                <a:cubicBezTo>
                  <a:pt x="5" y="32"/>
                  <a:pt x="5" y="32"/>
                  <a:pt x="5" y="32"/>
                </a:cubicBezTo>
                <a:cubicBezTo>
                  <a:pt x="5" y="32"/>
                  <a:pt x="5" y="33"/>
                  <a:pt x="4" y="33"/>
                </a:cubicBezTo>
                <a:cubicBezTo>
                  <a:pt x="3" y="33"/>
                  <a:pt x="3" y="32"/>
                  <a:pt x="2" y="32"/>
                </a:cubicBezTo>
                <a:cubicBezTo>
                  <a:pt x="2" y="32"/>
                  <a:pt x="2" y="31"/>
                  <a:pt x="2" y="30"/>
                </a:cubicBezTo>
                <a:cubicBezTo>
                  <a:pt x="2" y="29"/>
                  <a:pt x="3" y="29"/>
                  <a:pt x="3" y="28"/>
                </a:cubicBezTo>
                <a:cubicBezTo>
                  <a:pt x="4" y="28"/>
                  <a:pt x="4" y="27"/>
                  <a:pt x="5" y="27"/>
                </a:cubicBezTo>
                <a:cubicBezTo>
                  <a:pt x="5" y="28"/>
                  <a:pt x="5" y="28"/>
                  <a:pt x="5" y="28"/>
                </a:cubicBezTo>
                <a:cubicBezTo>
                  <a:pt x="5" y="28"/>
                  <a:pt x="5" y="28"/>
                  <a:pt x="5" y="28"/>
                </a:cubicBezTo>
                <a:cubicBezTo>
                  <a:pt x="6" y="28"/>
                  <a:pt x="6" y="28"/>
                  <a:pt x="6" y="28"/>
                </a:cubicBezTo>
                <a:cubicBezTo>
                  <a:pt x="6" y="28"/>
                  <a:pt x="6" y="28"/>
                  <a:pt x="6" y="28"/>
                </a:cubicBezTo>
                <a:cubicBezTo>
                  <a:pt x="6" y="28"/>
                  <a:pt x="6" y="28"/>
                  <a:pt x="6" y="28"/>
                </a:cubicBezTo>
                <a:cubicBezTo>
                  <a:pt x="6" y="28"/>
                  <a:pt x="6" y="28"/>
                  <a:pt x="6" y="28"/>
                </a:cubicBezTo>
                <a:cubicBezTo>
                  <a:pt x="6" y="27"/>
                  <a:pt x="6" y="25"/>
                  <a:pt x="7" y="24"/>
                </a:cubicBezTo>
                <a:cubicBezTo>
                  <a:pt x="7" y="24"/>
                  <a:pt x="7" y="23"/>
                  <a:pt x="7" y="23"/>
                </a:cubicBezTo>
                <a:cubicBezTo>
                  <a:pt x="8" y="23"/>
                  <a:pt x="8" y="23"/>
                  <a:pt x="8" y="23"/>
                </a:cubicBezTo>
                <a:cubicBezTo>
                  <a:pt x="8" y="22"/>
                  <a:pt x="9" y="22"/>
                  <a:pt x="9" y="21"/>
                </a:cubicBezTo>
                <a:cubicBezTo>
                  <a:pt x="10" y="20"/>
                  <a:pt x="10" y="19"/>
                  <a:pt x="12" y="19"/>
                </a:cubicBezTo>
                <a:cubicBezTo>
                  <a:pt x="13" y="19"/>
                  <a:pt x="14" y="19"/>
                  <a:pt x="14" y="19"/>
                </a:cubicBezTo>
                <a:cubicBezTo>
                  <a:pt x="14" y="19"/>
                  <a:pt x="14" y="19"/>
                  <a:pt x="14" y="19"/>
                </a:cubicBezTo>
                <a:cubicBezTo>
                  <a:pt x="14" y="19"/>
                  <a:pt x="14" y="19"/>
                  <a:pt x="14" y="20"/>
                </a:cubicBezTo>
                <a:cubicBezTo>
                  <a:pt x="14" y="20"/>
                  <a:pt x="15" y="20"/>
                  <a:pt x="15" y="20"/>
                </a:cubicBezTo>
                <a:cubicBezTo>
                  <a:pt x="15" y="20"/>
                  <a:pt x="15" y="20"/>
                  <a:pt x="15" y="20"/>
                </a:cubicBezTo>
                <a:cubicBezTo>
                  <a:pt x="17" y="19"/>
                  <a:pt x="18" y="19"/>
                  <a:pt x="19" y="18"/>
                </a:cubicBezTo>
                <a:cubicBezTo>
                  <a:pt x="19" y="17"/>
                  <a:pt x="21" y="16"/>
                  <a:pt x="22" y="16"/>
                </a:cubicBezTo>
                <a:cubicBezTo>
                  <a:pt x="22" y="16"/>
                  <a:pt x="22" y="16"/>
                  <a:pt x="23" y="16"/>
                </a:cubicBezTo>
                <a:cubicBezTo>
                  <a:pt x="23" y="16"/>
                  <a:pt x="24" y="16"/>
                  <a:pt x="24" y="16"/>
                </a:cubicBezTo>
                <a:cubicBezTo>
                  <a:pt x="24" y="16"/>
                  <a:pt x="24" y="16"/>
                  <a:pt x="24" y="17"/>
                </a:cubicBezTo>
                <a:cubicBezTo>
                  <a:pt x="24" y="20"/>
                  <a:pt x="24" y="20"/>
                  <a:pt x="24" y="20"/>
                </a:cubicBezTo>
                <a:cubicBezTo>
                  <a:pt x="24" y="20"/>
                  <a:pt x="24" y="20"/>
                  <a:pt x="24" y="20"/>
                </a:cubicBezTo>
                <a:cubicBezTo>
                  <a:pt x="24" y="20"/>
                  <a:pt x="24" y="20"/>
                  <a:pt x="23" y="20"/>
                </a:cubicBezTo>
                <a:cubicBezTo>
                  <a:pt x="23" y="20"/>
                  <a:pt x="23" y="20"/>
                  <a:pt x="23" y="20"/>
                </a:cubicBezTo>
                <a:cubicBezTo>
                  <a:pt x="22" y="20"/>
                  <a:pt x="21" y="21"/>
                  <a:pt x="20" y="22"/>
                </a:cubicBezTo>
                <a:cubicBezTo>
                  <a:pt x="20" y="22"/>
                  <a:pt x="19" y="21"/>
                  <a:pt x="18" y="22"/>
                </a:cubicBezTo>
                <a:cubicBezTo>
                  <a:pt x="17" y="22"/>
                  <a:pt x="16" y="23"/>
                  <a:pt x="15" y="24"/>
                </a:cubicBezTo>
                <a:cubicBezTo>
                  <a:pt x="15" y="24"/>
                  <a:pt x="15" y="24"/>
                  <a:pt x="15" y="24"/>
                </a:cubicBezTo>
                <a:cubicBezTo>
                  <a:pt x="15" y="24"/>
                  <a:pt x="15" y="25"/>
                  <a:pt x="16" y="25"/>
                </a:cubicBezTo>
                <a:cubicBezTo>
                  <a:pt x="16" y="25"/>
                  <a:pt x="16" y="25"/>
                  <a:pt x="16" y="25"/>
                </a:cubicBezTo>
                <a:cubicBezTo>
                  <a:pt x="16" y="25"/>
                  <a:pt x="17" y="25"/>
                  <a:pt x="17" y="24"/>
                </a:cubicBezTo>
                <a:cubicBezTo>
                  <a:pt x="17" y="24"/>
                  <a:pt x="17" y="24"/>
                  <a:pt x="17" y="24"/>
                </a:cubicBezTo>
                <a:cubicBezTo>
                  <a:pt x="17" y="24"/>
                  <a:pt x="17" y="23"/>
                  <a:pt x="18" y="23"/>
                </a:cubicBezTo>
                <a:cubicBezTo>
                  <a:pt x="19" y="23"/>
                  <a:pt x="19" y="23"/>
                  <a:pt x="20" y="23"/>
                </a:cubicBezTo>
                <a:cubicBezTo>
                  <a:pt x="20" y="23"/>
                  <a:pt x="20" y="23"/>
                  <a:pt x="20" y="23"/>
                </a:cubicBezTo>
                <a:cubicBezTo>
                  <a:pt x="19" y="23"/>
                  <a:pt x="20" y="24"/>
                  <a:pt x="20" y="24"/>
                </a:cubicBezTo>
                <a:cubicBezTo>
                  <a:pt x="20" y="24"/>
                  <a:pt x="21" y="24"/>
                  <a:pt x="21" y="24"/>
                </a:cubicBezTo>
                <a:cubicBezTo>
                  <a:pt x="21" y="24"/>
                  <a:pt x="21" y="23"/>
                  <a:pt x="21" y="23"/>
                </a:cubicBezTo>
                <a:cubicBezTo>
                  <a:pt x="21" y="23"/>
                  <a:pt x="21" y="23"/>
                  <a:pt x="21" y="23"/>
                </a:cubicBezTo>
                <a:cubicBezTo>
                  <a:pt x="21" y="23"/>
                  <a:pt x="21" y="23"/>
                  <a:pt x="21" y="23"/>
                </a:cubicBezTo>
                <a:cubicBezTo>
                  <a:pt x="21" y="23"/>
                  <a:pt x="21" y="23"/>
                  <a:pt x="21" y="23"/>
                </a:cubicBezTo>
                <a:cubicBezTo>
                  <a:pt x="22" y="22"/>
                  <a:pt x="23" y="22"/>
                  <a:pt x="23" y="22"/>
                </a:cubicBezTo>
                <a:cubicBezTo>
                  <a:pt x="23" y="22"/>
                  <a:pt x="23" y="22"/>
                  <a:pt x="23" y="22"/>
                </a:cubicBezTo>
                <a:cubicBezTo>
                  <a:pt x="24" y="22"/>
                  <a:pt x="24" y="22"/>
                  <a:pt x="24" y="22"/>
                </a:cubicBezTo>
                <a:cubicBezTo>
                  <a:pt x="24" y="22"/>
                  <a:pt x="24" y="22"/>
                  <a:pt x="24" y="22"/>
                </a:cubicBezTo>
                <a:cubicBezTo>
                  <a:pt x="24" y="28"/>
                  <a:pt x="24" y="28"/>
                  <a:pt x="24" y="28"/>
                </a:cubicBezTo>
                <a:cubicBezTo>
                  <a:pt x="24" y="28"/>
                  <a:pt x="24" y="29"/>
                  <a:pt x="24" y="29"/>
                </a:cubicBezTo>
                <a:cubicBezTo>
                  <a:pt x="24" y="30"/>
                  <a:pt x="23" y="30"/>
                  <a:pt x="23" y="30"/>
                </a:cubicBezTo>
                <a:cubicBezTo>
                  <a:pt x="22" y="30"/>
                  <a:pt x="21" y="31"/>
                  <a:pt x="19" y="32"/>
                </a:cubicBezTo>
                <a:cubicBezTo>
                  <a:pt x="18" y="33"/>
                  <a:pt x="16" y="33"/>
                  <a:pt x="15" y="32"/>
                </a:cubicBezTo>
                <a:cubicBezTo>
                  <a:pt x="15" y="31"/>
                  <a:pt x="15" y="30"/>
                  <a:pt x="15" y="30"/>
                </a:cubicBezTo>
                <a:cubicBezTo>
                  <a:pt x="15" y="30"/>
                  <a:pt x="15" y="30"/>
                  <a:pt x="15" y="30"/>
                </a:cubicBezTo>
                <a:cubicBezTo>
                  <a:pt x="15" y="30"/>
                  <a:pt x="16" y="30"/>
                  <a:pt x="17" y="29"/>
                </a:cubicBezTo>
                <a:cubicBezTo>
                  <a:pt x="17" y="29"/>
                  <a:pt x="17" y="29"/>
                  <a:pt x="17" y="29"/>
                </a:cubicBezTo>
                <a:cubicBezTo>
                  <a:pt x="17" y="29"/>
                  <a:pt x="17" y="28"/>
                  <a:pt x="17" y="28"/>
                </a:cubicBezTo>
                <a:cubicBezTo>
                  <a:pt x="17" y="28"/>
                  <a:pt x="16" y="28"/>
                  <a:pt x="16" y="28"/>
                </a:cubicBezTo>
                <a:cubicBezTo>
                  <a:pt x="16" y="28"/>
                  <a:pt x="16" y="28"/>
                  <a:pt x="16" y="28"/>
                </a:cubicBezTo>
                <a:cubicBezTo>
                  <a:pt x="16" y="28"/>
                  <a:pt x="16" y="28"/>
                  <a:pt x="15" y="28"/>
                </a:cubicBezTo>
                <a:cubicBezTo>
                  <a:pt x="15" y="28"/>
                  <a:pt x="14" y="28"/>
                  <a:pt x="13" y="27"/>
                </a:cubicBezTo>
                <a:cubicBezTo>
                  <a:pt x="13" y="27"/>
                  <a:pt x="13" y="27"/>
                  <a:pt x="13" y="27"/>
                </a:cubicBezTo>
                <a:cubicBezTo>
                  <a:pt x="13" y="27"/>
                  <a:pt x="13" y="27"/>
                  <a:pt x="13" y="27"/>
                </a:cubicBezTo>
                <a:cubicBezTo>
                  <a:pt x="12" y="25"/>
                  <a:pt x="12" y="23"/>
                  <a:pt x="12" y="23"/>
                </a:cubicBezTo>
                <a:cubicBezTo>
                  <a:pt x="12" y="23"/>
                  <a:pt x="12" y="23"/>
                  <a:pt x="12" y="23"/>
                </a:cubicBezTo>
                <a:cubicBezTo>
                  <a:pt x="12" y="23"/>
                  <a:pt x="12" y="22"/>
                  <a:pt x="11" y="22"/>
                </a:cubicBezTo>
                <a:cubicBezTo>
                  <a:pt x="11" y="22"/>
                  <a:pt x="11" y="23"/>
                  <a:pt x="11" y="23"/>
                </a:cubicBezTo>
                <a:cubicBezTo>
                  <a:pt x="11" y="23"/>
                  <a:pt x="11" y="25"/>
                  <a:pt x="11" y="27"/>
                </a:cubicBezTo>
                <a:cubicBezTo>
                  <a:pt x="11" y="27"/>
                  <a:pt x="10" y="27"/>
                  <a:pt x="9" y="28"/>
                </a:cubicBezTo>
                <a:cubicBezTo>
                  <a:pt x="9" y="29"/>
                  <a:pt x="9" y="31"/>
                  <a:pt x="9" y="31"/>
                </a:cubicBezTo>
                <a:cubicBezTo>
                  <a:pt x="8" y="31"/>
                  <a:pt x="9" y="31"/>
                  <a:pt x="9" y="31"/>
                </a:cubicBezTo>
                <a:cubicBezTo>
                  <a:pt x="9" y="31"/>
                  <a:pt x="9" y="32"/>
                  <a:pt x="9" y="32"/>
                </a:cubicBezTo>
                <a:cubicBezTo>
                  <a:pt x="10" y="32"/>
                  <a:pt x="10" y="31"/>
                  <a:pt x="10" y="31"/>
                </a:cubicBezTo>
                <a:cubicBezTo>
                  <a:pt x="10" y="30"/>
                  <a:pt x="10" y="29"/>
                  <a:pt x="11" y="29"/>
                </a:cubicBezTo>
                <a:cubicBezTo>
                  <a:pt x="11" y="28"/>
                  <a:pt x="12" y="28"/>
                  <a:pt x="12" y="28"/>
                </a:cubicBezTo>
                <a:cubicBezTo>
                  <a:pt x="12" y="28"/>
                  <a:pt x="12" y="28"/>
                  <a:pt x="12" y="28"/>
                </a:cubicBezTo>
                <a:cubicBezTo>
                  <a:pt x="13" y="29"/>
                  <a:pt x="13" y="29"/>
                  <a:pt x="14" y="29"/>
                </a:cubicBezTo>
                <a:cubicBezTo>
                  <a:pt x="13" y="30"/>
                  <a:pt x="13" y="31"/>
                  <a:pt x="14" y="32"/>
                </a:cubicBezTo>
                <a:cubicBezTo>
                  <a:pt x="14" y="33"/>
                  <a:pt x="15" y="33"/>
                  <a:pt x="15" y="33"/>
                </a:cubicBezTo>
                <a:cubicBezTo>
                  <a:pt x="14" y="34"/>
                  <a:pt x="14" y="34"/>
                  <a:pt x="13" y="34"/>
                </a:cubicBezTo>
                <a:cubicBezTo>
                  <a:pt x="13" y="34"/>
                  <a:pt x="13" y="34"/>
                  <a:pt x="13" y="34"/>
                </a:cubicBezTo>
                <a:cubicBezTo>
                  <a:pt x="13" y="34"/>
                  <a:pt x="13" y="34"/>
                  <a:pt x="13" y="34"/>
                </a:cubicBezTo>
                <a:cubicBezTo>
                  <a:pt x="13" y="34"/>
                  <a:pt x="14" y="33"/>
                  <a:pt x="13" y="33"/>
                </a:cubicBezTo>
                <a:cubicBezTo>
                  <a:pt x="13" y="33"/>
                  <a:pt x="13" y="33"/>
                  <a:pt x="12" y="33"/>
                </a:cubicBezTo>
                <a:cubicBezTo>
                  <a:pt x="12" y="33"/>
                  <a:pt x="11" y="35"/>
                  <a:pt x="10" y="36"/>
                </a:cubicBezTo>
                <a:cubicBezTo>
                  <a:pt x="10" y="36"/>
                  <a:pt x="9" y="37"/>
                  <a:pt x="8" y="37"/>
                </a:cubicBezTo>
                <a:cubicBezTo>
                  <a:pt x="6" y="37"/>
                  <a:pt x="5" y="36"/>
                  <a:pt x="5" y="35"/>
                </a:cubicBezTo>
                <a:close/>
                <a:moveTo>
                  <a:pt x="13" y="51"/>
                </a:moveTo>
                <a:cubicBezTo>
                  <a:pt x="13" y="51"/>
                  <a:pt x="12" y="49"/>
                  <a:pt x="13" y="48"/>
                </a:cubicBezTo>
                <a:cubicBezTo>
                  <a:pt x="13" y="48"/>
                  <a:pt x="13" y="48"/>
                  <a:pt x="14" y="48"/>
                </a:cubicBezTo>
                <a:cubicBezTo>
                  <a:pt x="14" y="48"/>
                  <a:pt x="14" y="48"/>
                  <a:pt x="14" y="48"/>
                </a:cubicBezTo>
                <a:cubicBezTo>
                  <a:pt x="14" y="48"/>
                  <a:pt x="14" y="48"/>
                  <a:pt x="14" y="48"/>
                </a:cubicBezTo>
                <a:cubicBezTo>
                  <a:pt x="14" y="49"/>
                  <a:pt x="14" y="49"/>
                  <a:pt x="14" y="49"/>
                </a:cubicBezTo>
                <a:cubicBezTo>
                  <a:pt x="14" y="49"/>
                  <a:pt x="14" y="49"/>
                  <a:pt x="14" y="49"/>
                </a:cubicBezTo>
                <a:cubicBezTo>
                  <a:pt x="15" y="49"/>
                  <a:pt x="15" y="48"/>
                  <a:pt x="15" y="48"/>
                </a:cubicBezTo>
                <a:cubicBezTo>
                  <a:pt x="15" y="48"/>
                  <a:pt x="15" y="47"/>
                  <a:pt x="15" y="47"/>
                </a:cubicBezTo>
                <a:cubicBezTo>
                  <a:pt x="15" y="47"/>
                  <a:pt x="15" y="47"/>
                  <a:pt x="15" y="47"/>
                </a:cubicBezTo>
                <a:cubicBezTo>
                  <a:pt x="15" y="46"/>
                  <a:pt x="15" y="46"/>
                  <a:pt x="14" y="46"/>
                </a:cubicBezTo>
                <a:cubicBezTo>
                  <a:pt x="14" y="45"/>
                  <a:pt x="13" y="44"/>
                  <a:pt x="13" y="44"/>
                </a:cubicBezTo>
                <a:cubicBezTo>
                  <a:pt x="13" y="42"/>
                  <a:pt x="13" y="41"/>
                  <a:pt x="13" y="41"/>
                </a:cubicBezTo>
                <a:cubicBezTo>
                  <a:pt x="14" y="41"/>
                  <a:pt x="14" y="41"/>
                  <a:pt x="13" y="40"/>
                </a:cubicBezTo>
                <a:cubicBezTo>
                  <a:pt x="13" y="40"/>
                  <a:pt x="12" y="40"/>
                  <a:pt x="12" y="41"/>
                </a:cubicBezTo>
                <a:cubicBezTo>
                  <a:pt x="12" y="41"/>
                  <a:pt x="12" y="41"/>
                  <a:pt x="12" y="41"/>
                </a:cubicBezTo>
                <a:cubicBezTo>
                  <a:pt x="12" y="41"/>
                  <a:pt x="12" y="41"/>
                  <a:pt x="12" y="41"/>
                </a:cubicBezTo>
                <a:cubicBezTo>
                  <a:pt x="12" y="42"/>
                  <a:pt x="12" y="43"/>
                  <a:pt x="12" y="44"/>
                </a:cubicBezTo>
                <a:cubicBezTo>
                  <a:pt x="12" y="45"/>
                  <a:pt x="13" y="46"/>
                  <a:pt x="13" y="46"/>
                </a:cubicBezTo>
                <a:cubicBezTo>
                  <a:pt x="13" y="46"/>
                  <a:pt x="12" y="47"/>
                  <a:pt x="12" y="47"/>
                </a:cubicBezTo>
                <a:cubicBezTo>
                  <a:pt x="11" y="47"/>
                  <a:pt x="11" y="46"/>
                  <a:pt x="10" y="46"/>
                </a:cubicBezTo>
                <a:cubicBezTo>
                  <a:pt x="10" y="45"/>
                  <a:pt x="10" y="45"/>
                  <a:pt x="9" y="44"/>
                </a:cubicBezTo>
                <a:cubicBezTo>
                  <a:pt x="10" y="44"/>
                  <a:pt x="10" y="44"/>
                  <a:pt x="10" y="44"/>
                </a:cubicBezTo>
                <a:cubicBezTo>
                  <a:pt x="10" y="44"/>
                  <a:pt x="10" y="44"/>
                  <a:pt x="10" y="44"/>
                </a:cubicBezTo>
                <a:cubicBezTo>
                  <a:pt x="10" y="44"/>
                  <a:pt x="10" y="44"/>
                  <a:pt x="10" y="44"/>
                </a:cubicBezTo>
                <a:cubicBezTo>
                  <a:pt x="10" y="43"/>
                  <a:pt x="10" y="43"/>
                  <a:pt x="10" y="43"/>
                </a:cubicBezTo>
                <a:cubicBezTo>
                  <a:pt x="10" y="43"/>
                  <a:pt x="8" y="43"/>
                  <a:pt x="7" y="41"/>
                </a:cubicBezTo>
                <a:cubicBezTo>
                  <a:pt x="6" y="40"/>
                  <a:pt x="6" y="39"/>
                  <a:pt x="6" y="38"/>
                </a:cubicBezTo>
                <a:cubicBezTo>
                  <a:pt x="6" y="38"/>
                  <a:pt x="7" y="38"/>
                  <a:pt x="7" y="38"/>
                </a:cubicBezTo>
                <a:cubicBezTo>
                  <a:pt x="8" y="38"/>
                  <a:pt x="8" y="38"/>
                  <a:pt x="8" y="38"/>
                </a:cubicBezTo>
                <a:cubicBezTo>
                  <a:pt x="10" y="38"/>
                  <a:pt x="11" y="37"/>
                  <a:pt x="11" y="37"/>
                </a:cubicBezTo>
                <a:cubicBezTo>
                  <a:pt x="11" y="37"/>
                  <a:pt x="11" y="37"/>
                  <a:pt x="11" y="37"/>
                </a:cubicBezTo>
                <a:cubicBezTo>
                  <a:pt x="12" y="36"/>
                  <a:pt x="12" y="36"/>
                  <a:pt x="13" y="36"/>
                </a:cubicBezTo>
                <a:cubicBezTo>
                  <a:pt x="14" y="36"/>
                  <a:pt x="14" y="36"/>
                  <a:pt x="15" y="35"/>
                </a:cubicBezTo>
                <a:cubicBezTo>
                  <a:pt x="14" y="36"/>
                  <a:pt x="14" y="38"/>
                  <a:pt x="15" y="39"/>
                </a:cubicBezTo>
                <a:cubicBezTo>
                  <a:pt x="16" y="40"/>
                  <a:pt x="16" y="40"/>
                  <a:pt x="16" y="40"/>
                </a:cubicBezTo>
                <a:cubicBezTo>
                  <a:pt x="16" y="40"/>
                  <a:pt x="16" y="40"/>
                  <a:pt x="16" y="40"/>
                </a:cubicBezTo>
                <a:cubicBezTo>
                  <a:pt x="16" y="41"/>
                  <a:pt x="15" y="43"/>
                  <a:pt x="15" y="44"/>
                </a:cubicBezTo>
                <a:cubicBezTo>
                  <a:pt x="15" y="46"/>
                  <a:pt x="17" y="47"/>
                  <a:pt x="18" y="47"/>
                </a:cubicBezTo>
                <a:cubicBezTo>
                  <a:pt x="18" y="48"/>
                  <a:pt x="18" y="50"/>
                  <a:pt x="17" y="51"/>
                </a:cubicBezTo>
                <a:cubicBezTo>
                  <a:pt x="17" y="51"/>
                  <a:pt x="17" y="51"/>
                  <a:pt x="17" y="51"/>
                </a:cubicBezTo>
                <a:cubicBezTo>
                  <a:pt x="17" y="51"/>
                  <a:pt x="16" y="51"/>
                  <a:pt x="16" y="51"/>
                </a:cubicBezTo>
                <a:cubicBezTo>
                  <a:pt x="15" y="52"/>
                  <a:pt x="15" y="52"/>
                  <a:pt x="14" y="52"/>
                </a:cubicBezTo>
                <a:cubicBezTo>
                  <a:pt x="14" y="52"/>
                  <a:pt x="14" y="52"/>
                  <a:pt x="14" y="52"/>
                </a:cubicBezTo>
                <a:cubicBezTo>
                  <a:pt x="14" y="52"/>
                  <a:pt x="14" y="52"/>
                  <a:pt x="14" y="52"/>
                </a:cubicBezTo>
                <a:cubicBezTo>
                  <a:pt x="14" y="52"/>
                  <a:pt x="14" y="51"/>
                  <a:pt x="13" y="51"/>
                </a:cubicBezTo>
                <a:close/>
                <a:moveTo>
                  <a:pt x="33" y="75"/>
                </a:moveTo>
                <a:cubicBezTo>
                  <a:pt x="21" y="75"/>
                  <a:pt x="21" y="75"/>
                  <a:pt x="21" y="75"/>
                </a:cubicBezTo>
                <a:cubicBezTo>
                  <a:pt x="20" y="75"/>
                  <a:pt x="20" y="75"/>
                  <a:pt x="20" y="75"/>
                </a:cubicBezTo>
                <a:cubicBezTo>
                  <a:pt x="20" y="74"/>
                  <a:pt x="20" y="74"/>
                  <a:pt x="20" y="74"/>
                </a:cubicBezTo>
                <a:cubicBezTo>
                  <a:pt x="33" y="74"/>
                  <a:pt x="33" y="74"/>
                  <a:pt x="33" y="74"/>
                </a:cubicBezTo>
                <a:cubicBezTo>
                  <a:pt x="33" y="75"/>
                  <a:pt x="33" y="75"/>
                  <a:pt x="33" y="75"/>
                </a:cubicBezTo>
                <a:cubicBezTo>
                  <a:pt x="33" y="75"/>
                  <a:pt x="33" y="75"/>
                  <a:pt x="33" y="75"/>
                </a:cubicBezTo>
                <a:close/>
                <a:moveTo>
                  <a:pt x="37" y="68"/>
                </a:moveTo>
                <a:cubicBezTo>
                  <a:pt x="37" y="70"/>
                  <a:pt x="36" y="71"/>
                  <a:pt x="35" y="71"/>
                </a:cubicBezTo>
                <a:cubicBezTo>
                  <a:pt x="22" y="71"/>
                  <a:pt x="22" y="71"/>
                  <a:pt x="22" y="71"/>
                </a:cubicBezTo>
                <a:cubicBezTo>
                  <a:pt x="21" y="70"/>
                  <a:pt x="20" y="69"/>
                  <a:pt x="20" y="67"/>
                </a:cubicBezTo>
                <a:cubicBezTo>
                  <a:pt x="20" y="60"/>
                  <a:pt x="20" y="60"/>
                  <a:pt x="20" y="60"/>
                </a:cubicBezTo>
                <a:cubicBezTo>
                  <a:pt x="20" y="59"/>
                  <a:pt x="20" y="59"/>
                  <a:pt x="19" y="59"/>
                </a:cubicBezTo>
                <a:cubicBezTo>
                  <a:pt x="19" y="59"/>
                  <a:pt x="18" y="59"/>
                  <a:pt x="18" y="60"/>
                </a:cubicBezTo>
                <a:cubicBezTo>
                  <a:pt x="18" y="67"/>
                  <a:pt x="18" y="67"/>
                  <a:pt x="18" y="67"/>
                </a:cubicBezTo>
                <a:cubicBezTo>
                  <a:pt x="18" y="69"/>
                  <a:pt x="19" y="70"/>
                  <a:pt x="19" y="71"/>
                </a:cubicBezTo>
                <a:cubicBezTo>
                  <a:pt x="19" y="71"/>
                  <a:pt x="19" y="71"/>
                  <a:pt x="19" y="71"/>
                </a:cubicBezTo>
                <a:cubicBezTo>
                  <a:pt x="18" y="71"/>
                  <a:pt x="17" y="70"/>
                  <a:pt x="17" y="68"/>
                </a:cubicBezTo>
                <a:cubicBezTo>
                  <a:pt x="17" y="58"/>
                  <a:pt x="17" y="58"/>
                  <a:pt x="17" y="58"/>
                </a:cubicBezTo>
                <a:cubicBezTo>
                  <a:pt x="28" y="58"/>
                  <a:pt x="28" y="58"/>
                  <a:pt x="28" y="58"/>
                </a:cubicBezTo>
                <a:cubicBezTo>
                  <a:pt x="37" y="58"/>
                  <a:pt x="37" y="58"/>
                  <a:pt x="37" y="58"/>
                </a:cubicBezTo>
                <a:lnTo>
                  <a:pt x="37" y="68"/>
                </a:lnTo>
                <a:close/>
                <a:moveTo>
                  <a:pt x="43" y="40"/>
                </a:moveTo>
                <a:cubicBezTo>
                  <a:pt x="43" y="42"/>
                  <a:pt x="42" y="42"/>
                  <a:pt x="41" y="43"/>
                </a:cubicBezTo>
                <a:cubicBezTo>
                  <a:pt x="39" y="47"/>
                  <a:pt x="38" y="52"/>
                  <a:pt x="37" y="55"/>
                </a:cubicBezTo>
                <a:cubicBezTo>
                  <a:pt x="30" y="55"/>
                  <a:pt x="30" y="55"/>
                  <a:pt x="30" y="55"/>
                </a:cubicBezTo>
                <a:cubicBezTo>
                  <a:pt x="30" y="3"/>
                  <a:pt x="30" y="3"/>
                  <a:pt x="30" y="3"/>
                </a:cubicBezTo>
                <a:cubicBezTo>
                  <a:pt x="35" y="3"/>
                  <a:pt x="50" y="5"/>
                  <a:pt x="50" y="22"/>
                </a:cubicBezTo>
                <a:cubicBezTo>
                  <a:pt x="50" y="31"/>
                  <a:pt x="46" y="37"/>
                  <a:pt x="43" y="40"/>
                </a:cubicBezTo>
                <a:close/>
              </a:path>
            </a:pathLst>
          </a:custGeom>
          <a:solidFill>
            <a:schemeClr val="bg2"/>
          </a:solidFill>
          <a:ln>
            <a:noFill/>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8" name="TextBox 30"/>
          <p:cNvSpPr txBox="1"/>
          <p:nvPr/>
        </p:nvSpPr>
        <p:spPr>
          <a:xfrm>
            <a:off x="4335780" y="1365250"/>
            <a:ext cx="3520440" cy="2417445"/>
          </a:xfrm>
          <a:prstGeom prst="rect">
            <a:avLst/>
          </a:prstGeom>
          <a:noFill/>
        </p:spPr>
        <p:txBody>
          <a:bodyPr wrap="square" rtlCol="0">
            <a:spAutoFit/>
          </a:bodyPr>
          <a:lstStyle/>
          <a:p>
            <a:pPr>
              <a:lnSpc>
                <a:spcPct val="120000"/>
              </a:lnSpc>
            </a:pPr>
            <a:r>
              <a:rPr lang="en-US" dirty="0">
                <a:solidFill>
                  <a:srgbClr val="CB3125"/>
                </a:solidFill>
                <a:latin typeface="Azonix" pitchFamily="50" charset="0"/>
                <a:ea typeface="Roboto Thin" panose="02000000000000000000" pitchFamily="2" charset="0"/>
                <a:sym typeface="+mn-ea"/>
              </a:rPr>
              <a:t>Blood Serum and Plasma</a:t>
            </a:r>
            <a:r>
              <a:rPr lang="en-US" sz="1800" dirty="0">
                <a:solidFill>
                  <a:srgbClr val="CB3125"/>
                </a:solidFill>
                <a:latin typeface="Azonix" pitchFamily="50" charset="0"/>
                <a:ea typeface="Roboto Thin" panose="02000000000000000000" pitchFamily="2" charset="0"/>
                <a:sym typeface="微软雅黑 Light" panose="020B0502040204020203" pitchFamily="34" charset="-122"/>
              </a:rPr>
              <a:t>.</a:t>
            </a:r>
          </a:p>
          <a:p>
            <a:pPr marL="0" indent="0">
              <a:buNone/>
            </a:pPr>
            <a:r>
              <a:rPr lang="en-US" dirty="0">
                <a:solidFill>
                  <a:srgbClr val="A29C93"/>
                </a:solidFill>
                <a:ea typeface="微软雅黑" panose="020B0503020204020204" pitchFamily="34" charset="-122"/>
                <a:cs typeface="文泉驿微米黑" panose="020B0606030804020204" pitchFamily="34" charset="-122"/>
                <a:sym typeface="+mn-ea"/>
              </a:rPr>
              <a:t>According for this two pictures, the refractive index of serum and plasma decreases while the wavelength increases.</a:t>
            </a:r>
            <a:endParaRPr lang="en-US" dirty="0">
              <a:solidFill>
                <a:srgbClr val="A29C93"/>
              </a:solidFill>
              <a:ea typeface="微软雅黑" panose="020B0503020204020204" pitchFamily="34" charset="-122"/>
              <a:cs typeface="文泉驿微米黑" panose="020B0606030804020204" pitchFamily="34" charset="-122"/>
            </a:endParaRPr>
          </a:p>
          <a:p>
            <a:pPr marL="0" indent="0">
              <a:buNone/>
            </a:pPr>
            <a:r>
              <a:rPr lang="en-US" dirty="0">
                <a:solidFill>
                  <a:srgbClr val="A29C93"/>
                </a:solidFill>
                <a:ea typeface="微软雅黑" panose="020B0503020204020204" pitchFamily="34" charset="-122"/>
                <a:cs typeface="文泉驿微米黑" panose="020B0606030804020204" pitchFamily="34" charset="-122"/>
                <a:sym typeface="+mn-ea"/>
              </a:rPr>
              <a:t>fitting function: Cauchy equation</a:t>
            </a:r>
            <a:endParaRPr lang="en-US" altLang="zh-CN"/>
          </a:p>
          <a:p>
            <a:pPr marL="0" indent="0">
              <a:buNone/>
            </a:pPr>
            <a:endParaRPr lang="en-US" altLang="zh-CN"/>
          </a:p>
          <a:p>
            <a:pPr>
              <a:lnSpc>
                <a:spcPct val="120000"/>
              </a:lnSpc>
            </a:pPr>
            <a:endParaRPr lang="en-US" sz="1800" dirty="0">
              <a:solidFill>
                <a:srgbClr val="CB3125"/>
              </a:solidFill>
              <a:latin typeface="Azonix" pitchFamily="50" charset="0"/>
              <a:ea typeface="Roboto Thin" panose="02000000000000000000" pitchFamily="2" charset="0"/>
              <a:sym typeface="微软雅黑 Light" panose="020B0502040204020203" pitchFamily="34" charset="-122"/>
            </a:endParaRPr>
          </a:p>
        </p:txBody>
      </p:sp>
      <p:sp>
        <p:nvSpPr>
          <p:cNvPr id="20" name="TextBox 30"/>
          <p:cNvSpPr txBox="1"/>
          <p:nvPr/>
        </p:nvSpPr>
        <p:spPr>
          <a:xfrm>
            <a:off x="4375785" y="3327400"/>
            <a:ext cx="3441065" cy="1531620"/>
          </a:xfrm>
          <a:prstGeom prst="rect">
            <a:avLst/>
          </a:prstGeom>
          <a:noFill/>
        </p:spPr>
        <p:txBody>
          <a:bodyPr wrap="square" rtlCol="0">
            <a:spAutoFit/>
          </a:bodyPr>
          <a:lstStyle/>
          <a:p>
            <a:pPr>
              <a:lnSpc>
                <a:spcPct val="120000"/>
              </a:lnSpc>
            </a:pPr>
            <a:r>
              <a:rPr lang="en-US" dirty="0">
                <a:solidFill>
                  <a:srgbClr val="CB3125"/>
                </a:solidFill>
                <a:latin typeface="Azonix" pitchFamily="50" charset="0"/>
                <a:ea typeface="Roboto Thin" panose="02000000000000000000" pitchFamily="2" charset="0"/>
                <a:sym typeface="+mn-ea"/>
              </a:rPr>
              <a:t>Whole Blood</a:t>
            </a:r>
            <a:endParaRPr lang="en-US" dirty="0">
              <a:solidFill>
                <a:srgbClr val="CB3125"/>
              </a:solidFill>
              <a:latin typeface="Azonix" pitchFamily="50" charset="0"/>
              <a:ea typeface="Roboto Thin" panose="02000000000000000000" pitchFamily="2" charset="0"/>
              <a:sym typeface="微软雅黑 Light" panose="020B0502040204020203" pitchFamily="34" charset="-122"/>
            </a:endParaRPr>
          </a:p>
          <a:p>
            <a:pPr marL="0" indent="0">
              <a:buNone/>
            </a:pPr>
            <a:r>
              <a:rPr lang="en-US" sz="1800" dirty="0">
                <a:solidFill>
                  <a:srgbClr val="A29C93"/>
                </a:solidFill>
                <a:ea typeface="微软雅黑" panose="020B0503020204020204" pitchFamily="34" charset="-122"/>
                <a:cs typeface="文泉驿微米黑" panose="020B0606030804020204" pitchFamily="34" charset="-122"/>
                <a:sym typeface="+mn-ea"/>
              </a:rPr>
              <a:t>The curve of refractive index of whole blood is decreasing monotonically.</a:t>
            </a:r>
            <a:endParaRPr lang="en-US" sz="1800" dirty="0">
              <a:solidFill>
                <a:srgbClr val="A29C93"/>
              </a:solidFill>
              <a:ea typeface="微软雅黑" panose="020B0503020204020204" pitchFamily="34" charset="-122"/>
              <a:cs typeface="文泉驿微米黑" panose="020B0606030804020204" pitchFamily="34" charset="-122"/>
            </a:endParaRPr>
          </a:p>
          <a:p>
            <a:pPr marL="0" indent="0">
              <a:buNone/>
            </a:pPr>
            <a:r>
              <a:rPr lang="en-US" sz="1800" dirty="0">
                <a:solidFill>
                  <a:srgbClr val="A29C93"/>
                </a:solidFill>
                <a:ea typeface="微软雅黑" panose="020B0503020204020204" pitchFamily="34" charset="-122"/>
                <a:cs typeface="文泉驿微米黑" panose="020B0606030804020204" pitchFamily="34" charset="-122"/>
                <a:sym typeface="+mn-ea"/>
              </a:rPr>
              <a:t>fitting function: Sellmeier equation</a:t>
            </a:r>
            <a:endParaRPr lang="en-US" sz="18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1" name="TextBox 30"/>
          <p:cNvSpPr txBox="1"/>
          <p:nvPr/>
        </p:nvSpPr>
        <p:spPr>
          <a:xfrm>
            <a:off x="4157345" y="5029200"/>
            <a:ext cx="4393565" cy="1808480"/>
          </a:xfrm>
          <a:prstGeom prst="rect">
            <a:avLst/>
          </a:prstGeom>
          <a:noFill/>
        </p:spPr>
        <p:txBody>
          <a:bodyPr wrap="square" rtlCol="0">
            <a:spAutoFit/>
          </a:bodyPr>
          <a:lstStyle/>
          <a:p>
            <a:pPr>
              <a:lnSpc>
                <a:spcPct val="120000"/>
              </a:lnSpc>
            </a:pPr>
            <a:r>
              <a:rPr lang="en-US" dirty="0">
                <a:solidFill>
                  <a:srgbClr val="CB3125"/>
                </a:solidFill>
                <a:latin typeface="Azonix" pitchFamily="50" charset="0"/>
                <a:ea typeface="Roboto Thin" panose="02000000000000000000" pitchFamily="2" charset="0"/>
                <a:sym typeface="+mn-ea"/>
              </a:rPr>
              <a:t>Hemoglobin</a:t>
            </a:r>
            <a:endParaRPr lang="en-US" dirty="0">
              <a:solidFill>
                <a:srgbClr val="CB3125"/>
              </a:solidFill>
              <a:latin typeface="Azonix" pitchFamily="50" charset="0"/>
              <a:ea typeface="Roboto Thin" panose="02000000000000000000" pitchFamily="2" charset="0"/>
              <a:sym typeface="微软雅黑 Light" panose="020B0502040204020203" pitchFamily="34" charset="-122"/>
            </a:endParaRPr>
          </a:p>
          <a:p>
            <a:pPr marL="0" indent="0">
              <a:buNone/>
            </a:pPr>
            <a:r>
              <a:rPr lang="en-US" sz="1800" dirty="0">
                <a:solidFill>
                  <a:srgbClr val="A29C93"/>
                </a:solidFill>
                <a:ea typeface="微软雅黑" panose="020B0503020204020204" pitchFamily="34" charset="-122"/>
                <a:cs typeface="文泉驿微米黑" panose="020B0606030804020204" pitchFamily="34" charset="-122"/>
                <a:sym typeface="+mn-ea"/>
              </a:rPr>
              <a:t>Anomalous dispersion at 420 nm. Femoral artery samples (oxy/deoxyhemoglobin) exhibit a ~420 nm hemoglobin peak with Soret band shift, plus two Q bands (500-600 nm).</a:t>
            </a:r>
          </a:p>
        </p:txBody>
      </p:sp>
      <p:pic>
        <p:nvPicPr>
          <p:cNvPr id="2" name="图片 5"/>
          <p:cNvPicPr>
            <a:picLocks noChangeAspect="1"/>
          </p:cNvPicPr>
          <p:nvPr/>
        </p:nvPicPr>
        <p:blipFill>
          <a:blip r:embed="rId3"/>
          <a:stretch>
            <a:fillRect/>
          </a:stretch>
        </p:blipFill>
        <p:spPr>
          <a:xfrm>
            <a:off x="8044180" y="774065"/>
            <a:ext cx="3783965" cy="1447800"/>
          </a:xfrm>
          <a:prstGeom prst="rect">
            <a:avLst/>
          </a:prstGeom>
          <a:noFill/>
          <a:ln>
            <a:noFill/>
          </a:ln>
        </p:spPr>
      </p:pic>
      <p:graphicFrame>
        <p:nvGraphicFramePr>
          <p:cNvPr id="3" name="对象 -2147482621"/>
          <p:cNvGraphicFramePr>
            <a:graphicFrameLocks noChangeAspect="1"/>
          </p:cNvGraphicFramePr>
          <p:nvPr/>
        </p:nvGraphicFramePr>
        <p:xfrm>
          <a:off x="9077960" y="2529205"/>
          <a:ext cx="1550035" cy="586105"/>
        </p:xfrm>
        <a:graphic>
          <a:graphicData uri="http://schemas.openxmlformats.org/presentationml/2006/ole">
            <mc:AlternateContent xmlns:mc="http://schemas.openxmlformats.org/markup-compatibility/2006">
              <mc:Choice xmlns:v="urn:schemas-microsoft-com:vml" Requires="v">
                <p:oleObj r:id="rId4" imgW="1041400" imgH="393700" progId="Equation.KSEE3">
                  <p:embed/>
                </p:oleObj>
              </mc:Choice>
              <mc:Fallback>
                <p:oleObj r:id="rId4" imgW="1041400" imgH="393700" progId="Equation.KSEE3">
                  <p:embed/>
                  <p:pic>
                    <p:nvPicPr>
                      <p:cNvPr id="0" name="图片 3075"/>
                      <p:cNvPicPr/>
                      <p:nvPr/>
                    </p:nvPicPr>
                    <p:blipFill>
                      <a:blip r:embed="rId5"/>
                      <a:stretch>
                        <a:fillRect/>
                      </a:stretch>
                    </p:blipFill>
                    <p:spPr>
                      <a:xfrm>
                        <a:off x="9077960" y="2529205"/>
                        <a:ext cx="1550035" cy="586105"/>
                      </a:xfrm>
                      <a:prstGeom prst="rect">
                        <a:avLst/>
                      </a:prstGeom>
                      <a:noFill/>
                      <a:ln w="38100">
                        <a:noFill/>
                        <a:miter/>
                      </a:ln>
                    </p:spPr>
                  </p:pic>
                </p:oleObj>
              </mc:Fallback>
            </mc:AlternateContent>
          </a:graphicData>
        </a:graphic>
      </p:graphicFrame>
      <p:pic>
        <p:nvPicPr>
          <p:cNvPr id="19" name="图片 8"/>
          <p:cNvPicPr>
            <a:picLocks noChangeAspect="1"/>
          </p:cNvPicPr>
          <p:nvPr/>
        </p:nvPicPr>
        <p:blipFill>
          <a:blip r:embed="rId6"/>
          <a:stretch>
            <a:fillRect/>
          </a:stretch>
        </p:blipFill>
        <p:spPr>
          <a:xfrm>
            <a:off x="8096568" y="3186430"/>
            <a:ext cx="3780000" cy="1484185"/>
          </a:xfrm>
          <a:prstGeom prst="rect">
            <a:avLst/>
          </a:prstGeom>
          <a:noFill/>
          <a:ln>
            <a:noFill/>
          </a:ln>
        </p:spPr>
      </p:pic>
      <p:graphicFrame>
        <p:nvGraphicFramePr>
          <p:cNvPr id="23" name="对象 -2147482620"/>
          <p:cNvGraphicFramePr>
            <a:graphicFrameLocks noChangeAspect="1"/>
          </p:cNvGraphicFramePr>
          <p:nvPr/>
        </p:nvGraphicFramePr>
        <p:xfrm>
          <a:off x="8738235" y="4670425"/>
          <a:ext cx="2496820" cy="579755"/>
        </p:xfrm>
        <a:graphic>
          <a:graphicData uri="http://schemas.openxmlformats.org/presentationml/2006/ole">
            <mc:AlternateContent xmlns:mc="http://schemas.openxmlformats.org/markup-compatibility/2006">
              <mc:Choice xmlns:v="urn:schemas-microsoft-com:vml" Requires="v">
                <p:oleObj r:id="rId7" imgW="1803400" imgH="419100" progId="Equation.KSEE3">
                  <p:embed/>
                </p:oleObj>
              </mc:Choice>
              <mc:Fallback>
                <p:oleObj r:id="rId7" imgW="1803400" imgH="419100" progId="Equation.KSEE3">
                  <p:embed/>
                  <p:pic>
                    <p:nvPicPr>
                      <p:cNvPr id="0" name="图片 3075"/>
                      <p:cNvPicPr/>
                      <p:nvPr/>
                    </p:nvPicPr>
                    <p:blipFill>
                      <a:blip r:embed="rId8"/>
                      <a:stretch>
                        <a:fillRect/>
                      </a:stretch>
                    </p:blipFill>
                    <p:spPr>
                      <a:xfrm>
                        <a:off x="8738235" y="4670425"/>
                        <a:ext cx="2496820" cy="579755"/>
                      </a:xfrm>
                      <a:prstGeom prst="rect">
                        <a:avLst/>
                      </a:prstGeom>
                      <a:noFill/>
                      <a:ln w="38100">
                        <a:noFill/>
                        <a:miter/>
                      </a:ln>
                    </p:spPr>
                  </p:pic>
                </p:oleObj>
              </mc:Fallback>
            </mc:AlternateContent>
          </a:graphicData>
        </a:graphic>
      </p:graphicFrame>
      <p:pic>
        <p:nvPicPr>
          <p:cNvPr id="25" name="图片 11"/>
          <p:cNvPicPr>
            <a:picLocks noChangeAspect="1"/>
          </p:cNvPicPr>
          <p:nvPr/>
        </p:nvPicPr>
        <p:blipFill>
          <a:blip r:embed="rId9"/>
          <a:stretch>
            <a:fillRect/>
          </a:stretch>
        </p:blipFill>
        <p:spPr>
          <a:xfrm>
            <a:off x="8248015" y="5249863"/>
            <a:ext cx="3780000" cy="14847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fltVal val="0"/>
                                          </p:val>
                                        </p:tav>
                                        <p:tav tm="100000">
                                          <p:val>
                                            <p:strVal val="#ppt_h"/>
                                          </p:val>
                                        </p:tav>
                                      </p:tavLst>
                                    </p:anim>
                                    <p:animEffect transition="in" filter="fade">
                                      <p:cBhvr>
                                        <p:cTn id="15" dur="500"/>
                                        <p:tgtEl>
                                          <p:spTgt spid="17"/>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Effect transition="in" filter="fade">
                                      <p:cBhvr>
                                        <p:cTn id="21" dur="500"/>
                                        <p:tgtEl>
                                          <p:spTgt spid="16"/>
                                        </p:tgtEl>
                                      </p:cBhvr>
                                    </p:animEffect>
                                  </p:childTnLst>
                                </p:cTn>
                              </p:par>
                              <p:par>
                                <p:cTn id="22" presetID="22" presetClass="entr" presetSubtype="8"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22" presetClass="entr" presetSubtype="8"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2" presetClass="entr" presetSubtype="8"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par>
                          <p:cTn id="31" fill="hold">
                            <p:stCondLst>
                              <p:cond delay="1500"/>
                            </p:stCondLst>
                            <p:childTnLst>
                              <p:par>
                                <p:cTn id="32" presetID="53" presetClass="entr" presetSubtype="16"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0" presetClass="entr" presetSubtype="0" fill="hold" grpId="0" nodeType="withEffect">
                                  <p:stCondLst>
                                    <p:cond delay="1200"/>
                                  </p:stCondLst>
                                  <p:iterate type="lt">
                                    <p:tmPct val="10000"/>
                                  </p:iterate>
                                  <p:childTnLst>
                                    <p:set>
                                      <p:cBhvr>
                                        <p:cTn id="48" dur="700" fill="hold">
                                          <p:stCondLst>
                                            <p:cond delay="0"/>
                                          </p:stCondLst>
                                        </p:cTn>
                                        <p:tgtEl>
                                          <p:spTgt spid="18"/>
                                        </p:tgtEl>
                                        <p:attrNameLst>
                                          <p:attrName>style.visibility</p:attrName>
                                        </p:attrNameLst>
                                      </p:cBhvr>
                                      <p:to>
                                        <p:strVal val="visible"/>
                                      </p:to>
                                    </p:set>
                                    <p:animEffect filter="fade">
                                      <p:cBhvr>
                                        <p:cTn id="49" dur="700">
                                          <p:stCondLst>
                                            <p:cond delay="0"/>
                                          </p:stCondLst>
                                        </p:cTn>
                                        <p:tgtEl>
                                          <p:spTgt spid="18"/>
                                        </p:tgtEl>
                                      </p:cBhvr>
                                    </p:animEffect>
                                    <p:anim to="" calcmode="lin" valueType="num">
                                      <p:cBhvr>
                                        <p:cTn id="50"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par>
                                <p:cTn id="51" presetID="0" presetClass="entr" presetSubtype="0" fill="hold" grpId="0" nodeType="withEffect">
                                  <p:stCondLst>
                                    <p:cond delay="1200"/>
                                  </p:stCondLst>
                                  <p:iterate type="lt">
                                    <p:tmPct val="10000"/>
                                  </p:iterate>
                                  <p:childTnLst>
                                    <p:set>
                                      <p:cBhvr>
                                        <p:cTn id="52" dur="700" fill="hold">
                                          <p:stCondLst>
                                            <p:cond delay="0"/>
                                          </p:stCondLst>
                                        </p:cTn>
                                        <p:tgtEl>
                                          <p:spTgt spid="20"/>
                                        </p:tgtEl>
                                        <p:attrNameLst>
                                          <p:attrName>style.visibility</p:attrName>
                                        </p:attrNameLst>
                                      </p:cBhvr>
                                      <p:to>
                                        <p:strVal val="visible"/>
                                      </p:to>
                                    </p:set>
                                    <p:animEffect filter="fade">
                                      <p:cBhvr>
                                        <p:cTn id="53" dur="700">
                                          <p:stCondLst>
                                            <p:cond delay="0"/>
                                          </p:stCondLst>
                                        </p:cTn>
                                        <p:tgtEl>
                                          <p:spTgt spid="20"/>
                                        </p:tgtEl>
                                      </p:cBhvr>
                                    </p:animEffect>
                                    <p:anim to="" calcmode="lin" valueType="num">
                                      <p:cBhvr>
                                        <p:cTn id="54" dur="700" fill="hold">
                                          <p:stCondLst>
                                            <p:cond delay="0"/>
                                          </p:stCondLst>
                                        </p:cTn>
                                        <p:tgtEl>
                                          <p:spTgt spid="20"/>
                                        </p:tgtEl>
                                        <p:attrNameLst>
                                          <p:attrName>ppt_y</p:attrName>
                                        </p:attrNameLst>
                                      </p:cBhvr>
                                      <p:tavLst>
                                        <p:tav tm="0" fmla="#ppt_y-#ppt_h*((1.5-1.5*$)^2-(1.5-1.5*$)^3)">
                                          <p:val>
                                            <p:fltVal val="0"/>
                                          </p:val>
                                        </p:tav>
                                        <p:tav tm="100000">
                                          <p:val>
                                            <p:fltVal val="1"/>
                                          </p:val>
                                        </p:tav>
                                      </p:tavLst>
                                    </p:anim>
                                  </p:childTnLst>
                                </p:cTn>
                              </p:par>
                              <p:par>
                                <p:cTn id="55" presetID="0" presetClass="entr" presetSubtype="0" fill="hold" grpId="0" nodeType="withEffect">
                                  <p:stCondLst>
                                    <p:cond delay="1200"/>
                                  </p:stCondLst>
                                  <p:iterate type="lt">
                                    <p:tmPct val="10000"/>
                                  </p:iterate>
                                  <p:childTnLst>
                                    <p:set>
                                      <p:cBhvr>
                                        <p:cTn id="56" dur="700" fill="hold">
                                          <p:stCondLst>
                                            <p:cond delay="0"/>
                                          </p:stCondLst>
                                        </p:cTn>
                                        <p:tgtEl>
                                          <p:spTgt spid="21"/>
                                        </p:tgtEl>
                                        <p:attrNameLst>
                                          <p:attrName>style.visibility</p:attrName>
                                        </p:attrNameLst>
                                      </p:cBhvr>
                                      <p:to>
                                        <p:strVal val="visible"/>
                                      </p:to>
                                    </p:set>
                                    <p:animEffect filter="fade">
                                      <p:cBhvr>
                                        <p:cTn id="57" dur="700">
                                          <p:stCondLst>
                                            <p:cond delay="0"/>
                                          </p:stCondLst>
                                        </p:cTn>
                                        <p:tgtEl>
                                          <p:spTgt spid="21"/>
                                        </p:tgtEl>
                                      </p:cBhvr>
                                    </p:animEffect>
                                    <p:anim to="" calcmode="lin" valueType="num">
                                      <p:cBhvr>
                                        <p:cTn id="58" dur="700" fill="hold">
                                          <p:stCondLst>
                                            <p:cond delay="0"/>
                                          </p:stCondLst>
                                        </p:cTn>
                                        <p:tgtEl>
                                          <p:spTgt spid="21"/>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6" grpId="0"/>
      <p:bldP spid="17" grpId="0" bldLvl="0" animBg="1"/>
      <p:bldP spid="18" grpId="0"/>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34E54-2929-EAEC-B7C8-828D94AE874F}"/>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280735F8-1D4B-17DE-CBF4-FD4D32004259}"/>
              </a:ext>
            </a:extLst>
          </p:cNvPr>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a:extLst>
              <a:ext uri="{FF2B5EF4-FFF2-40B4-BE49-F238E27FC236}">
                <a16:creationId xmlns:a16="http://schemas.microsoft.com/office/drawing/2014/main" id="{7AC2FF40-77F6-7172-9441-FF62DEBA5C22}"/>
              </a:ext>
            </a:extLst>
          </p:cNvPr>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5</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a:extLst>
              <a:ext uri="{FF2B5EF4-FFF2-40B4-BE49-F238E27FC236}">
                <a16:creationId xmlns:a16="http://schemas.microsoft.com/office/drawing/2014/main" id="{DB128882-E9F3-45BA-449E-BD0D9C24E4A3}"/>
              </a:ext>
            </a:extLst>
          </p:cNvPr>
          <p:cNvSpPr txBox="1"/>
          <p:nvPr/>
        </p:nvSpPr>
        <p:spPr>
          <a:xfrm>
            <a:off x="5325543" y="3079255"/>
            <a:ext cx="3720268" cy="699487"/>
          </a:xfrm>
          <a:prstGeom prst="rect">
            <a:avLst/>
          </a:prstGeom>
          <a:noFill/>
        </p:spPr>
        <p:txBody>
          <a:bodyPr wrap="square" rtlCol="0">
            <a:spAutoFit/>
          </a:bodyPr>
          <a:lstStyle/>
          <a:p>
            <a:pPr>
              <a:lnSpc>
                <a:spcPct val="120000"/>
              </a:lnSpc>
            </a:pPr>
            <a:r>
              <a:rPr lang="en-US" altLang="zh-CN" sz="2000" dirty="0">
                <a:solidFill>
                  <a:srgbClr val="2E578B"/>
                </a:solidFill>
                <a:latin typeface="Azonix" pitchFamily="50" charset="0"/>
                <a:ea typeface="Roboto Thin" panose="02000000000000000000" pitchFamily="2" charset="0"/>
                <a:sym typeface="微软雅黑 Light" panose="020B0502040204020203" pitchFamily="34" charset="-122"/>
              </a:rPr>
              <a:t>Wearable Optical Devices</a:t>
            </a:r>
          </a:p>
          <a:p>
            <a:pPr algn="r">
              <a:lnSpc>
                <a:spcPct val="120000"/>
              </a:lnSpc>
            </a:pPr>
            <a:r>
              <a:rPr lang="zh-CN" altLang="en-US" sz="1400" dirty="0">
                <a:solidFill>
                  <a:srgbClr val="2E578B"/>
                </a:solidFill>
                <a:latin typeface="Azonix" pitchFamily="50" charset="0"/>
                <a:ea typeface="Roboto Thin" panose="02000000000000000000" pitchFamily="2" charset="0"/>
                <a:sym typeface="微软雅黑 Light" panose="020B0502040204020203" pitchFamily="34" charset="-122"/>
              </a:rPr>
              <a:t>陈信均</a:t>
            </a:r>
            <a:endParaRPr lang="en-US" sz="1400" dirty="0">
              <a:solidFill>
                <a:srgbClr val="2E578B"/>
              </a:solidFill>
              <a:latin typeface="Azonix" pitchFamily="50" charset="0"/>
              <a:ea typeface="Roboto Thin" panose="02000000000000000000" pitchFamily="2" charset="0"/>
              <a:sym typeface="微软雅黑 Light" panose="020B0502040204020203" pitchFamily="34" charset="-122"/>
            </a:endParaRPr>
          </a:p>
        </p:txBody>
      </p:sp>
      <p:sp>
        <p:nvSpPr>
          <p:cNvPr id="12" name="双括号 11">
            <a:extLst>
              <a:ext uri="{FF2B5EF4-FFF2-40B4-BE49-F238E27FC236}">
                <a16:creationId xmlns:a16="http://schemas.microsoft.com/office/drawing/2014/main" id="{CAC92206-9FCF-1702-E5B7-6F162F3FC7FC}"/>
              </a:ext>
            </a:extLst>
          </p:cNvPr>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9624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399" y="108511"/>
            <a:ext cx="11271251" cy="643894"/>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‘Impossible’</a:t>
            </a:r>
            <a:r>
              <a:rPr lang="zh-CN" altLang="en-US" sz="3200" dirty="0">
                <a:solidFill>
                  <a:srgbClr val="CB3125"/>
                </a:solidFill>
                <a:latin typeface="Azonix" pitchFamily="50" charset="0"/>
                <a:ea typeface="Roboto Thin" panose="02000000000000000000" pitchFamily="2" charset="0"/>
                <a:cs typeface="+mn-cs"/>
              </a:rPr>
              <a:t> </a:t>
            </a:r>
            <a:r>
              <a:rPr lang="en-US" altLang="zh-CN" sz="3200" dirty="0">
                <a:solidFill>
                  <a:srgbClr val="CB3125"/>
                </a:solidFill>
                <a:latin typeface="Azonix" pitchFamily="50" charset="0"/>
                <a:ea typeface="Roboto Thin" panose="02000000000000000000" pitchFamily="2" charset="0"/>
                <a:cs typeface="+mn-cs"/>
              </a:rPr>
              <a:t>Triangle for wearable optical devices </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Oval 21"/>
          <p:cNvSpPr/>
          <p:nvPr/>
        </p:nvSpPr>
        <p:spPr>
          <a:xfrm>
            <a:off x="2999735" y="3220316"/>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9" name="Oval 47"/>
          <p:cNvSpPr/>
          <p:nvPr/>
        </p:nvSpPr>
        <p:spPr>
          <a:xfrm>
            <a:off x="6819287" y="3220316"/>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15" name="TextBox 30"/>
          <p:cNvSpPr txBox="1"/>
          <p:nvPr/>
        </p:nvSpPr>
        <p:spPr>
          <a:xfrm>
            <a:off x="5233015" y="2483823"/>
            <a:ext cx="1586271" cy="400751"/>
          </a:xfrm>
          <a:prstGeom prst="rect">
            <a:avLst/>
          </a:prstGeom>
          <a:noFill/>
        </p:spPr>
        <p:txBody>
          <a:bodyPr wrap="square" rtlCol="0">
            <a:spAutoFit/>
          </a:bodyPr>
          <a:lstStyle/>
          <a:p>
            <a:pPr algn="ctr">
              <a:lnSpc>
                <a:spcPct val="120000"/>
              </a:lnSpc>
            </a:pPr>
            <a:r>
              <a:rPr lang="en-US" altLang="zh-CN" dirty="0"/>
              <a:t>Portability</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16" name="TextBox 30"/>
          <p:cNvSpPr txBox="1"/>
          <p:nvPr/>
        </p:nvSpPr>
        <p:spPr>
          <a:xfrm>
            <a:off x="7142791" y="3965592"/>
            <a:ext cx="1586271" cy="733149"/>
          </a:xfrm>
          <a:prstGeom prst="rect">
            <a:avLst/>
          </a:prstGeom>
          <a:noFill/>
        </p:spPr>
        <p:txBody>
          <a:bodyPr wrap="square" rtlCol="0">
            <a:spAutoFit/>
          </a:bodyPr>
          <a:lstStyle/>
          <a:p>
            <a:pPr algn="ctr">
              <a:lnSpc>
                <a:spcPct val="120000"/>
              </a:lnSpc>
            </a:pPr>
            <a:r>
              <a:rPr lang="en-US" altLang="zh-CN" dirty="0"/>
              <a:t>Energy consumption</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 name="Oval 21">
            <a:extLst>
              <a:ext uri="{FF2B5EF4-FFF2-40B4-BE49-F238E27FC236}">
                <a16:creationId xmlns:a16="http://schemas.microsoft.com/office/drawing/2014/main" id="{A641F091-FA89-0023-A94D-66947576FEEB}"/>
              </a:ext>
            </a:extLst>
          </p:cNvPr>
          <p:cNvSpPr/>
          <p:nvPr/>
        </p:nvSpPr>
        <p:spPr>
          <a:xfrm>
            <a:off x="4909511" y="1567559"/>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3" name="TextBox 30">
            <a:extLst>
              <a:ext uri="{FF2B5EF4-FFF2-40B4-BE49-F238E27FC236}">
                <a16:creationId xmlns:a16="http://schemas.microsoft.com/office/drawing/2014/main" id="{3A405408-57F2-BB41-C0F2-1C8F94A29776}"/>
              </a:ext>
            </a:extLst>
          </p:cNvPr>
          <p:cNvSpPr txBox="1"/>
          <p:nvPr/>
        </p:nvSpPr>
        <p:spPr>
          <a:xfrm>
            <a:off x="3323240" y="3970381"/>
            <a:ext cx="1586271" cy="734945"/>
          </a:xfrm>
          <a:prstGeom prst="rect">
            <a:avLst/>
          </a:prstGeom>
          <a:noFill/>
        </p:spPr>
        <p:txBody>
          <a:bodyPr wrap="square" rtlCol="0">
            <a:spAutoFit/>
          </a:bodyPr>
          <a:lstStyle/>
          <a:p>
            <a:pPr algn="ctr">
              <a:lnSpc>
                <a:spcPct val="120000"/>
              </a:lnSpc>
            </a:pPr>
            <a:r>
              <a:rPr lang="en-US" altLang="zh-CN" dirty="0"/>
              <a:t>Signal reliability</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21" name="图片 20">
            <a:extLst>
              <a:ext uri="{FF2B5EF4-FFF2-40B4-BE49-F238E27FC236}">
                <a16:creationId xmlns:a16="http://schemas.microsoft.com/office/drawing/2014/main" id="{D5CEB8B6-A86B-5FFD-DCD2-6DFBD242C171}"/>
              </a:ext>
            </a:extLst>
          </p:cNvPr>
          <p:cNvPicPr>
            <a:picLocks noChangeAspect="1"/>
          </p:cNvPicPr>
          <p:nvPr/>
        </p:nvPicPr>
        <p:blipFill>
          <a:blip r:embed="rId3"/>
          <a:stretch>
            <a:fillRect/>
          </a:stretch>
        </p:blipFill>
        <p:spPr>
          <a:xfrm>
            <a:off x="8912521" y="1048151"/>
            <a:ext cx="2606418" cy="2171337"/>
          </a:xfrm>
          <a:prstGeom prst="rect">
            <a:avLst/>
          </a:prstGeom>
        </p:spPr>
      </p:pic>
      <p:sp>
        <p:nvSpPr>
          <p:cNvPr id="5" name="文本框 4">
            <a:extLst>
              <a:ext uri="{FF2B5EF4-FFF2-40B4-BE49-F238E27FC236}">
                <a16:creationId xmlns:a16="http://schemas.microsoft.com/office/drawing/2014/main" id="{3C3F9B1C-1644-83E2-76E3-DEBB7265618B}"/>
              </a:ext>
            </a:extLst>
          </p:cNvPr>
          <p:cNvSpPr txBox="1"/>
          <p:nvPr/>
        </p:nvSpPr>
        <p:spPr>
          <a:xfrm>
            <a:off x="393699" y="1366922"/>
            <a:ext cx="5156201" cy="369332"/>
          </a:xfrm>
          <a:prstGeom prst="rect">
            <a:avLst/>
          </a:prstGeom>
          <a:noFill/>
        </p:spPr>
        <p:txBody>
          <a:bodyPr wrap="square" rtlCol="0">
            <a:spAutoFit/>
          </a:bodyPr>
          <a:lstStyle/>
          <a:p>
            <a:r>
              <a:rPr lang="en-US" altLang="zh-CN" dirty="0">
                <a:solidFill>
                  <a:srgbClr val="00B0F0"/>
                </a:solidFill>
                <a:latin typeface="Times New Roman" panose="02020603050405020304" pitchFamily="18" charset="0"/>
                <a:cs typeface="Times New Roman" panose="02020603050405020304" pitchFamily="18" charset="0"/>
              </a:rPr>
              <a:t>What is your conception of optical instruments?</a:t>
            </a:r>
            <a:endParaRPr lang="zh-CN" altLang="en-US"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0-#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5"/>
                                        </p:tgtEl>
                                        <p:attrNameLst>
                                          <p:attrName>style.visibility</p:attrName>
                                        </p:attrNameLst>
                                      </p:cBhvr>
                                      <p:to>
                                        <p:strVal val="visible"/>
                                      </p:to>
                                    </p:set>
                                    <p:animEffect filter="fade">
                                      <p:cBhvr>
                                        <p:cTn id="15" dur="700">
                                          <p:stCondLst>
                                            <p:cond delay="0"/>
                                          </p:stCondLst>
                                        </p:cTn>
                                        <p:tgtEl>
                                          <p:spTgt spid="15"/>
                                        </p:tgtEl>
                                      </p:cBhvr>
                                    </p:animEffect>
                                    <p:anim to="" calcmode="lin" valueType="num">
                                      <p:cBhvr>
                                        <p:cTn id="16" dur="700" fill="hold">
                                          <p:stCondLst>
                                            <p:cond delay="0"/>
                                          </p:stCondLst>
                                        </p:cTn>
                                        <p:tgtEl>
                                          <p:spTgt spid="15"/>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16"/>
                                        </p:tgtEl>
                                        <p:attrNameLst>
                                          <p:attrName>style.visibility</p:attrName>
                                        </p:attrNameLst>
                                      </p:cBhvr>
                                      <p:to>
                                        <p:strVal val="visible"/>
                                      </p:to>
                                    </p:set>
                                    <p:animEffect filter="fade">
                                      <p:cBhvr>
                                        <p:cTn id="19" dur="700">
                                          <p:stCondLst>
                                            <p:cond delay="0"/>
                                          </p:stCondLst>
                                        </p:cTn>
                                        <p:tgtEl>
                                          <p:spTgt spid="16"/>
                                        </p:tgtEl>
                                      </p:cBhvr>
                                    </p:animEffect>
                                    <p:anim to="" calcmode="lin" valueType="num">
                                      <p:cBhvr>
                                        <p:cTn id="20"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childTnLst>
                          </p:cTn>
                        </p:par>
                        <p:par>
                          <p:cTn id="21" fill="hold">
                            <p:stCondLst>
                              <p:cond delay="3020"/>
                            </p:stCondLst>
                            <p:childTnLst>
                              <p:par>
                                <p:cTn id="22" presetID="2" presetClass="entr" presetSubtype="2" decel="10000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1000" fill="hold"/>
                                        <p:tgtEl>
                                          <p:spTgt spid="2"/>
                                        </p:tgtEl>
                                        <p:attrNameLst>
                                          <p:attrName>ppt_x</p:attrName>
                                        </p:attrNameLst>
                                      </p:cBhvr>
                                      <p:tavLst>
                                        <p:tav tm="0">
                                          <p:val>
                                            <p:strVal val="1+#ppt_w/2"/>
                                          </p:val>
                                        </p:tav>
                                        <p:tav tm="100000">
                                          <p:val>
                                            <p:strVal val="#ppt_x"/>
                                          </p:val>
                                        </p:tav>
                                      </p:tavLst>
                                    </p:anim>
                                    <p:anim calcmode="lin" valueType="num">
                                      <p:cBhvr additive="base">
                                        <p:cTn id="25" dur="1000" fill="hold"/>
                                        <p:tgtEl>
                                          <p:spTgt spid="2"/>
                                        </p:tgtEl>
                                        <p:attrNameLst>
                                          <p:attrName>ppt_y</p:attrName>
                                        </p:attrNameLst>
                                      </p:cBhvr>
                                      <p:tavLst>
                                        <p:tav tm="0">
                                          <p:val>
                                            <p:strVal val="#ppt_y"/>
                                          </p:val>
                                        </p:tav>
                                        <p:tav tm="100000">
                                          <p:val>
                                            <p:strVal val="#ppt_y"/>
                                          </p:val>
                                        </p:tav>
                                      </p:tavLst>
                                    </p:anim>
                                  </p:childTnLst>
                                </p:cTn>
                              </p:par>
                              <p:par>
                                <p:cTn id="26" presetID="0" presetClass="entr" presetSubtype="0" fill="hold" grpId="0" nodeType="withEffect">
                                  <p:stCondLst>
                                    <p:cond delay="1200"/>
                                  </p:stCondLst>
                                  <p:iterate type="lt">
                                    <p:tmPct val="10000"/>
                                  </p:iterate>
                                  <p:childTnLst>
                                    <p:set>
                                      <p:cBhvr>
                                        <p:cTn id="27" dur="700" fill="hold">
                                          <p:stCondLst>
                                            <p:cond delay="0"/>
                                          </p:stCondLst>
                                        </p:cTn>
                                        <p:tgtEl>
                                          <p:spTgt spid="3"/>
                                        </p:tgtEl>
                                        <p:attrNameLst>
                                          <p:attrName>style.visibility</p:attrName>
                                        </p:attrNameLst>
                                      </p:cBhvr>
                                      <p:to>
                                        <p:strVal val="visible"/>
                                      </p:to>
                                    </p:set>
                                    <p:animEffect filter="fade">
                                      <p:cBhvr>
                                        <p:cTn id="28" dur="700">
                                          <p:stCondLst>
                                            <p:cond delay="0"/>
                                          </p:stCondLst>
                                        </p:cTn>
                                        <p:tgtEl>
                                          <p:spTgt spid="3"/>
                                        </p:tgtEl>
                                      </p:cBhvr>
                                    </p:animEffect>
                                    <p:anim to="" calcmode="lin" valueType="num">
                                      <p:cBhvr>
                                        <p:cTn id="29" dur="700" fill="hold">
                                          <p:stCondLst>
                                            <p:cond delay="0"/>
                                          </p:stCondLst>
                                        </p:cTn>
                                        <p:tgtEl>
                                          <p:spTgt spid="3"/>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5" grpId="0"/>
      <p:bldP spid="16" grpId="0"/>
      <p:bldP spid="2" grpId="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B66D7-7E05-39E4-A8C4-6BDD49C7EA8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168D23E-C7B2-B46F-251C-6F69583C1E79}"/>
              </a:ext>
            </a:extLst>
          </p:cNvPr>
          <p:cNvSpPr txBox="1"/>
          <p:nvPr/>
        </p:nvSpPr>
        <p:spPr>
          <a:xfrm>
            <a:off x="920748" y="395577"/>
            <a:ext cx="11271251" cy="643894"/>
          </a:xfrm>
          <a:prstGeom prst="rect">
            <a:avLst/>
          </a:prstGeom>
          <a:noFill/>
        </p:spPr>
        <p:txBody>
          <a:bodyPr wrap="square">
            <a:spAutoFit/>
            <a:scene3d>
              <a:camera prst="orthographicFront"/>
              <a:lightRig rig="threePt" dir="t"/>
            </a:scene3d>
            <a:sp3d contourW="12700"/>
          </a:bodyPr>
          <a:lstStyle>
            <a:defPPr>
              <a:defRPr lang="zh-CN"/>
            </a:defPPr>
            <a:lvl1pPr fontAlgn="auto">
              <a:lnSpc>
                <a:spcPct val="120000"/>
              </a:lnSpc>
              <a:spcBef>
                <a:spcPts val="0"/>
              </a:spcBef>
              <a:spcAft>
                <a:spcPts val="0"/>
              </a:spcAft>
              <a:defRPr sz="3200" b="1" spc="300">
                <a:solidFill>
                  <a:srgbClr val="CB3125"/>
                </a:solidFill>
                <a:latin typeface="Azonix" pitchFamily="50" charset="0"/>
                <a:ea typeface="Roboto Thin" panose="02000000000000000000" pitchFamily="2" charset="0"/>
              </a:defRPr>
            </a:lvl1pPr>
          </a:lstStyle>
          <a:p>
            <a:r>
              <a:rPr lang="en-US" altLang="zh-CN" dirty="0"/>
              <a:t>Signal reliability issues-Remote Signal Processing</a:t>
            </a:r>
          </a:p>
        </p:txBody>
      </p:sp>
      <p:sp>
        <p:nvSpPr>
          <p:cNvPr id="5" name="TextBox 30">
            <a:extLst>
              <a:ext uri="{FF2B5EF4-FFF2-40B4-BE49-F238E27FC236}">
                <a16:creationId xmlns:a16="http://schemas.microsoft.com/office/drawing/2014/main" id="{D7B5CBC8-0039-0FB3-4305-54E384F607C9}"/>
              </a:ext>
            </a:extLst>
          </p:cNvPr>
          <p:cNvSpPr txBox="1"/>
          <p:nvPr/>
        </p:nvSpPr>
        <p:spPr>
          <a:xfrm>
            <a:off x="5202846" y="5585826"/>
            <a:ext cx="6802002" cy="338554"/>
          </a:xfrm>
          <a:prstGeom prst="rect">
            <a:avLst/>
          </a:prstGeom>
          <a:noFill/>
        </p:spPr>
        <p:txBody>
          <a:bodyPr wrap="square" rtlCol="0">
            <a:spAutoFit/>
          </a:bodyPr>
          <a:lstStyle/>
          <a:p>
            <a:r>
              <a:rPr lang="en-US" altLang="zh-CN" sz="1600" b="0" i="0" dirty="0">
                <a:solidFill>
                  <a:srgbClr val="111111"/>
                </a:solidFill>
                <a:effectLst/>
                <a:latin typeface="Arial" panose="020B0604020202020204" pitchFamily="34" charset="0"/>
              </a:rPr>
              <a:t>Deploy powerful algorithmic tools at signal processing terminals</a:t>
            </a:r>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t>
            </a:r>
          </a:p>
        </p:txBody>
      </p:sp>
      <p:pic>
        <p:nvPicPr>
          <p:cNvPr id="6" name="图片 5">
            <a:extLst>
              <a:ext uri="{FF2B5EF4-FFF2-40B4-BE49-F238E27FC236}">
                <a16:creationId xmlns:a16="http://schemas.microsoft.com/office/drawing/2014/main" id="{30DD7F07-FB64-4CB5-E444-944FE67C0F8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17" name="矩形 16">
            <a:extLst>
              <a:ext uri="{FF2B5EF4-FFF2-40B4-BE49-F238E27FC236}">
                <a16:creationId xmlns:a16="http://schemas.microsoft.com/office/drawing/2014/main" id="{CDAC53F5-260D-0D86-D0A5-ABC22242936F}"/>
              </a:ext>
            </a:extLst>
          </p:cNvPr>
          <p:cNvSpPr/>
          <p:nvPr/>
        </p:nvSpPr>
        <p:spPr>
          <a:xfrm>
            <a:off x="173981" y="5169956"/>
            <a:ext cx="4778446" cy="1310230"/>
          </a:xfrm>
          <a:prstGeom prst="rect">
            <a:avLst/>
          </a:prstGeom>
        </p:spPr>
        <p:txBody>
          <a:bodyPr wrap="square">
            <a:spAutoFit/>
          </a:bodyPr>
          <a:lstStyle/>
          <a:p>
            <a:pPr algn="ctr">
              <a:lnSpc>
                <a:spcPct val="150000"/>
              </a:lnSpc>
            </a:pPr>
            <a:r>
              <a:rPr lang="en-US" altLang="zh-CN" sz="1050" dirty="0">
                <a:latin typeface="Times New Roman" panose="02020603050405020304" pitchFamily="18" charset="0"/>
                <a:cs typeface="Times New Roman" panose="02020603050405020304" pitchFamily="18" charset="0"/>
              </a:rPr>
              <a:t>PD1-4:light signal collector for different parts</a:t>
            </a:r>
          </a:p>
          <a:p>
            <a:pPr algn="ctr">
              <a:lnSpc>
                <a:spcPct val="150000"/>
              </a:lnSpc>
            </a:pPr>
            <a:r>
              <a:rPr lang="en-US" altLang="zh-CN" sz="1050" dirty="0" err="1">
                <a:latin typeface="Times New Roman" panose="02020603050405020304" pitchFamily="18" charset="0"/>
                <a:cs typeface="Times New Roman" panose="02020603050405020304" pitchFamily="18" charset="0"/>
              </a:rPr>
              <a:t>TranZ</a:t>
            </a:r>
            <a:r>
              <a:rPr lang="en-US" altLang="zh-CN" sz="1050" dirty="0">
                <a:latin typeface="Times New Roman" panose="02020603050405020304" pitchFamily="18" charset="0"/>
                <a:cs typeface="Times New Roman" panose="02020603050405020304" pitchFamily="18" charset="0"/>
              </a:rPr>
              <a:t> Amp: </a:t>
            </a:r>
            <a:r>
              <a:rPr lang="en-US" altLang="zh-CN" sz="1050" i="1" dirty="0">
                <a:effectLst/>
                <a:latin typeface="Times New Roman" panose="02020603050405020304" pitchFamily="18" charset="0"/>
                <a:cs typeface="Times New Roman" panose="02020603050405020304" pitchFamily="18" charset="0"/>
              </a:rPr>
              <a:t>transimpedance amplifier circuits</a:t>
            </a:r>
          </a:p>
          <a:p>
            <a:pPr algn="ctr">
              <a:lnSpc>
                <a:spcPct val="150000"/>
              </a:lnSpc>
            </a:pPr>
            <a:r>
              <a:rPr lang="en-US" altLang="zh-CN" sz="1050" i="1" dirty="0">
                <a:effectLst/>
                <a:latin typeface="Times New Roman" panose="02020603050405020304" pitchFamily="18" charset="0"/>
                <a:cs typeface="Times New Roman" panose="02020603050405020304" pitchFamily="18" charset="0"/>
              </a:rPr>
              <a:t> </a:t>
            </a:r>
            <a:r>
              <a:rPr lang="en-US" altLang="zh-CN" sz="1050" dirty="0">
                <a:latin typeface="Times New Roman" panose="02020603050405020304" pitchFamily="18" charset="0"/>
                <a:cs typeface="Times New Roman" panose="02020603050405020304" pitchFamily="18" charset="0"/>
              </a:rPr>
              <a:t>ADC:</a:t>
            </a:r>
            <a:r>
              <a:rPr lang="en-US" altLang="zh-CN" sz="1050" i="0" dirty="0">
                <a:effectLst/>
                <a:latin typeface="Times New Roman" panose="02020603050405020304" pitchFamily="18" charset="0"/>
                <a:cs typeface="Times New Roman" panose="02020603050405020304" pitchFamily="18" charset="0"/>
              </a:rPr>
              <a:t> Analog to Digital Converter </a:t>
            </a:r>
          </a:p>
          <a:p>
            <a:pPr algn="ctr">
              <a:lnSpc>
                <a:spcPct val="150000"/>
              </a:lnSpc>
            </a:pPr>
            <a:r>
              <a:rPr lang="en-US" altLang="zh-CN" sz="1050" dirty="0">
                <a:latin typeface="Times New Roman" panose="02020603050405020304" pitchFamily="18" charset="0"/>
                <a:cs typeface="Times New Roman" panose="02020603050405020304" pitchFamily="18" charset="0"/>
              </a:rPr>
              <a:t>BLE SoC:</a:t>
            </a:r>
            <a:r>
              <a:rPr lang="en-US" altLang="zh-CN" sz="1050" i="0" dirty="0">
                <a:effectLst/>
                <a:latin typeface="Times New Roman" panose="02020603050405020304" pitchFamily="18" charset="0"/>
                <a:cs typeface="Times New Roman" panose="02020603050405020304" pitchFamily="18" charset="0"/>
              </a:rPr>
              <a:t> System on a Chip Bluetooth Low Energy</a:t>
            </a:r>
            <a:endParaRPr lang="zh-CN" altLang="en-US" sz="1050" dirty="0">
              <a:effectLst/>
              <a:latin typeface="Times New Roman" panose="02020603050405020304" pitchFamily="18" charset="0"/>
              <a:cs typeface="Times New Roman" panose="02020603050405020304" pitchFamily="18" charset="0"/>
            </a:endParaRPr>
          </a:p>
          <a:p>
            <a:pPr algn="ctr">
              <a:lnSpc>
                <a:spcPct val="150000"/>
              </a:lnSpc>
            </a:pPr>
            <a:endParaRPr lang="en-US" altLang="zh-CN" sz="1200" dirty="0">
              <a:solidFill>
                <a:schemeClr val="bg2">
                  <a:lumMod val="50000"/>
                </a:schemeClr>
              </a:solidFill>
            </a:endParaRPr>
          </a:p>
        </p:txBody>
      </p:sp>
      <p:sp>
        <p:nvSpPr>
          <p:cNvPr id="18" name="矩形 17">
            <a:extLst>
              <a:ext uri="{FF2B5EF4-FFF2-40B4-BE49-F238E27FC236}">
                <a16:creationId xmlns:a16="http://schemas.microsoft.com/office/drawing/2014/main" id="{AB807E84-E053-3583-0D57-B93ED6FE1E37}"/>
              </a:ext>
            </a:extLst>
          </p:cNvPr>
          <p:cNvSpPr/>
          <p:nvPr/>
        </p:nvSpPr>
        <p:spPr>
          <a:xfrm>
            <a:off x="3014952" y="1343916"/>
            <a:ext cx="5463686" cy="1290803"/>
          </a:xfrm>
          <a:prstGeom prst="rect">
            <a:avLst/>
          </a:prstGeom>
        </p:spPr>
        <p:txBody>
          <a:bodyPr wrap="square">
            <a:spAutoFit/>
          </a:bodyPr>
          <a:lstStyle/>
          <a:p>
            <a:pPr algn="ctr">
              <a:lnSpc>
                <a:spcPct val="110000"/>
              </a:lnSpc>
            </a:pPr>
            <a:r>
              <a:rPr kumimoji="1" lang="en-US" altLang="zh-CN" sz="2400" dirty="0">
                <a:solidFill>
                  <a:srgbClr val="2E578B"/>
                </a:solidFill>
                <a:latin typeface="Azonix" pitchFamily="50" charset="0"/>
              </a:rPr>
              <a:t>Sensor is running by  changeable </a:t>
            </a:r>
            <a:r>
              <a:rPr lang="en-US" altLang="zh-CN" sz="2400" b="0" i="0" dirty="0">
                <a:solidFill>
                  <a:srgbClr val="111111"/>
                </a:solidFill>
                <a:effectLst/>
                <a:latin typeface="Arial" panose="020B0604020202020204" pitchFamily="34" charset="0"/>
              </a:rPr>
              <a:t>battery</a:t>
            </a:r>
            <a:r>
              <a:rPr kumimoji="1" lang="en-US" altLang="zh-CN" sz="2400" dirty="0">
                <a:solidFill>
                  <a:srgbClr val="2E578B"/>
                </a:solidFill>
                <a:latin typeface="Azonix" pitchFamily="50" charset="0"/>
              </a:rPr>
              <a:t>  </a:t>
            </a:r>
          </a:p>
          <a:p>
            <a:pPr algn="ctr">
              <a:lnSpc>
                <a:spcPct val="110000"/>
              </a:lnSpc>
            </a:pPr>
            <a:r>
              <a:rPr kumimoji="1" lang="en-US" altLang="zh-CN" sz="2400" dirty="0">
                <a:solidFill>
                  <a:srgbClr val="2E578B"/>
                </a:solidFill>
                <a:latin typeface="Azonix" pitchFamily="50" charset="0"/>
              </a:rPr>
              <a:t>Signal is processed remotely</a:t>
            </a:r>
          </a:p>
          <a:p>
            <a:pPr algn="ctr">
              <a:lnSpc>
                <a:spcPct val="110000"/>
              </a:lnSpc>
            </a:pPr>
            <a:r>
              <a:rPr kumimoji="1" lang="en-US" altLang="zh-CN" sz="2400" dirty="0">
                <a:solidFill>
                  <a:srgbClr val="2E578B"/>
                </a:solidFill>
                <a:latin typeface="Azonix" pitchFamily="50" charset="0"/>
              </a:rPr>
              <a:t> </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pic>
        <p:nvPicPr>
          <p:cNvPr id="2" name="图片 1">
            <a:extLst>
              <a:ext uri="{FF2B5EF4-FFF2-40B4-BE49-F238E27FC236}">
                <a16:creationId xmlns:a16="http://schemas.microsoft.com/office/drawing/2014/main" id="{8980E974-7FD8-E351-8BB4-06186060AD70}"/>
              </a:ext>
            </a:extLst>
          </p:cNvPr>
          <p:cNvPicPr>
            <a:picLocks noChangeAspect="1"/>
          </p:cNvPicPr>
          <p:nvPr/>
        </p:nvPicPr>
        <p:blipFill>
          <a:blip r:embed="rId3"/>
          <a:stretch>
            <a:fillRect/>
          </a:stretch>
        </p:blipFill>
        <p:spPr>
          <a:xfrm>
            <a:off x="3457578" y="2312293"/>
            <a:ext cx="4895850" cy="2951910"/>
          </a:xfrm>
          <a:prstGeom prst="rect">
            <a:avLst/>
          </a:prstGeom>
        </p:spPr>
      </p:pic>
      <p:pic>
        <p:nvPicPr>
          <p:cNvPr id="3" name="图片 2">
            <a:extLst>
              <a:ext uri="{FF2B5EF4-FFF2-40B4-BE49-F238E27FC236}">
                <a16:creationId xmlns:a16="http://schemas.microsoft.com/office/drawing/2014/main" id="{750B6FF3-FA45-E0C2-EC8B-EEA5D06EF6A3}"/>
              </a:ext>
            </a:extLst>
          </p:cNvPr>
          <p:cNvPicPr>
            <a:picLocks noChangeAspect="1"/>
          </p:cNvPicPr>
          <p:nvPr/>
        </p:nvPicPr>
        <p:blipFill>
          <a:blip r:embed="rId4"/>
          <a:stretch>
            <a:fillRect/>
          </a:stretch>
        </p:blipFill>
        <p:spPr>
          <a:xfrm>
            <a:off x="196937" y="1989318"/>
            <a:ext cx="2943225" cy="2936626"/>
          </a:xfrm>
          <a:prstGeom prst="rect">
            <a:avLst/>
          </a:prstGeom>
        </p:spPr>
      </p:pic>
      <p:pic>
        <p:nvPicPr>
          <p:cNvPr id="7" name="图片 6">
            <a:extLst>
              <a:ext uri="{FF2B5EF4-FFF2-40B4-BE49-F238E27FC236}">
                <a16:creationId xmlns:a16="http://schemas.microsoft.com/office/drawing/2014/main" id="{93B3D46B-44E0-52EF-AAC3-1379250E64DF}"/>
              </a:ext>
            </a:extLst>
          </p:cNvPr>
          <p:cNvPicPr>
            <a:picLocks noChangeAspect="1"/>
          </p:cNvPicPr>
          <p:nvPr/>
        </p:nvPicPr>
        <p:blipFill>
          <a:blip r:embed="rId5"/>
          <a:stretch>
            <a:fillRect/>
          </a:stretch>
        </p:blipFill>
        <p:spPr>
          <a:xfrm>
            <a:off x="8603847" y="1670880"/>
            <a:ext cx="3243042" cy="3649964"/>
          </a:xfrm>
          <a:prstGeom prst="rect">
            <a:avLst/>
          </a:prstGeom>
        </p:spPr>
      </p:pic>
      <p:sp>
        <p:nvSpPr>
          <p:cNvPr id="8" name="矩形 7">
            <a:extLst>
              <a:ext uri="{FF2B5EF4-FFF2-40B4-BE49-F238E27FC236}">
                <a16:creationId xmlns:a16="http://schemas.microsoft.com/office/drawing/2014/main" id="{77F9DE6A-450C-CFC0-7251-AB7BD64E337B}"/>
              </a:ext>
            </a:extLst>
          </p:cNvPr>
          <p:cNvSpPr/>
          <p:nvPr/>
        </p:nvSpPr>
        <p:spPr>
          <a:xfrm>
            <a:off x="1817414" y="6351096"/>
            <a:ext cx="8728210" cy="340734"/>
          </a:xfrm>
          <a:prstGeom prst="rect">
            <a:avLst/>
          </a:prstGeom>
        </p:spPr>
        <p:txBody>
          <a:bodyPr wrap="square">
            <a:spAutoFit/>
          </a:bodyPr>
          <a:lstStyle/>
          <a:p>
            <a:pPr algn="ctr">
              <a:lnSpc>
                <a:spcPct val="150000"/>
              </a:lnSpc>
            </a:pPr>
            <a:r>
              <a:rPr lang="en-US" altLang="zh-CN" sz="1200" i="1" dirty="0">
                <a:latin typeface="Times New Roman" panose="02020603050405020304" pitchFamily="18" charset="0"/>
                <a:cs typeface="Times New Roman" panose="02020603050405020304" pitchFamily="18" charset="0"/>
              </a:rPr>
              <a:t>Proceedings of the National Academy of Sciences</a:t>
            </a:r>
            <a:r>
              <a:rPr lang="en-US" altLang="zh-CN" sz="1200" dirty="0">
                <a:latin typeface="Times New Roman" panose="02020603050405020304" pitchFamily="18" charset="0"/>
                <a:cs typeface="Times New Roman" panose="02020603050405020304" pitchFamily="18" charset="0"/>
              </a:rPr>
              <a:t>, 117(50), 31674–31684. https://doi.org/10.1073/pnas.2019786117 </a:t>
            </a:r>
            <a:endParaRPr lang="en-US" altLang="zh-CN" sz="1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3683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B19-4C05-D68D-72F2-3E94DC421EB0}"/>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37607F6-7E0B-BF05-60C4-8A62C6B45831}"/>
              </a:ext>
            </a:extLst>
          </p:cNvPr>
          <p:cNvSpPr txBox="1"/>
          <p:nvPr/>
        </p:nvSpPr>
        <p:spPr>
          <a:xfrm>
            <a:off x="660399" y="168978"/>
            <a:ext cx="11271251" cy="643894"/>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Energy consumption issues-:Organic</a:t>
            </a:r>
            <a:r>
              <a:rPr lang="en-US" altLang="zh-CN" sz="2400" dirty="0"/>
              <a:t> </a:t>
            </a:r>
            <a:r>
              <a:rPr lang="en-US" altLang="zh-CN" sz="3200" dirty="0">
                <a:solidFill>
                  <a:srgbClr val="CB3125"/>
                </a:solidFill>
                <a:latin typeface="Azonix" pitchFamily="50" charset="0"/>
                <a:ea typeface="Roboto Thin" panose="02000000000000000000" pitchFamily="2" charset="0"/>
                <a:cs typeface="+mn-cs"/>
              </a:rPr>
              <a:t>Photovoltaics</a:t>
            </a:r>
          </a:p>
        </p:txBody>
      </p:sp>
      <p:sp>
        <p:nvSpPr>
          <p:cNvPr id="5" name="TextBox 30">
            <a:extLst>
              <a:ext uri="{FF2B5EF4-FFF2-40B4-BE49-F238E27FC236}">
                <a16:creationId xmlns:a16="http://schemas.microsoft.com/office/drawing/2014/main" id="{F53F96F3-1505-6ECE-7014-6D830E31F7DC}"/>
              </a:ext>
            </a:extLst>
          </p:cNvPr>
          <p:cNvSpPr txBox="1"/>
          <p:nvPr/>
        </p:nvSpPr>
        <p:spPr>
          <a:xfrm>
            <a:off x="203932" y="3827388"/>
            <a:ext cx="8221816" cy="2000548"/>
          </a:xfrm>
          <a:prstGeom prst="rect">
            <a:avLst/>
          </a:prstGeom>
          <a:noFill/>
        </p:spPr>
        <p:txBody>
          <a:bodyPr wrap="square" rtlCol="0">
            <a:spAutoFit/>
          </a:bodyPr>
          <a:lstStyle/>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Sustainable energy applications: converts daylight into usable energy</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Comfortable wearing experience: flexible and soft shape</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adaptability: water-proof, bending resistant</a:t>
            </a:r>
          </a:p>
          <a:p>
            <a:endPar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6" name="图片 5">
            <a:extLst>
              <a:ext uri="{FF2B5EF4-FFF2-40B4-BE49-F238E27FC236}">
                <a16:creationId xmlns:a16="http://schemas.microsoft.com/office/drawing/2014/main" id="{59E000D6-B163-0EC8-989F-24C5F9F4864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17" name="矩形 16">
            <a:extLst>
              <a:ext uri="{FF2B5EF4-FFF2-40B4-BE49-F238E27FC236}">
                <a16:creationId xmlns:a16="http://schemas.microsoft.com/office/drawing/2014/main" id="{CADF8FEC-C947-8940-AEB2-209C65E9F5D2}"/>
              </a:ext>
            </a:extLst>
          </p:cNvPr>
          <p:cNvSpPr/>
          <p:nvPr/>
        </p:nvSpPr>
        <p:spPr>
          <a:xfrm>
            <a:off x="203932" y="6255881"/>
            <a:ext cx="11343383" cy="340734"/>
          </a:xfrm>
          <a:prstGeom prst="rect">
            <a:avLst/>
          </a:prstGeom>
        </p:spPr>
        <p:txBody>
          <a:bodyPr wrap="square">
            <a:spAutoFit/>
          </a:bodyPr>
          <a:lstStyle/>
          <a:p>
            <a:pPr algn="ctr">
              <a:lnSpc>
                <a:spcPct val="150000"/>
              </a:lnSpc>
            </a:pPr>
            <a:r>
              <a:rPr lang="en-US" altLang="zh-CN" sz="1200" i="1" dirty="0">
                <a:latin typeface="Times New Roman" panose="02020603050405020304" pitchFamily="18" charset="0"/>
                <a:cs typeface="Times New Roman" panose="02020603050405020304" pitchFamily="18" charset="0"/>
              </a:rPr>
              <a:t>Proceedings of the IEEE</a:t>
            </a:r>
            <a:r>
              <a:rPr lang="en-US" altLang="zh-CN" sz="1200" dirty="0">
                <a:latin typeface="Times New Roman" panose="02020603050405020304" pitchFamily="18" charset="0"/>
                <a:cs typeface="Times New Roman" panose="02020603050405020304" pitchFamily="18" charset="0"/>
              </a:rPr>
              <a:t>, 107(10), 2137–2154. https://doi.org/10.1109/jproc.2019.2929797 </a:t>
            </a:r>
            <a:endParaRPr lang="en-US" altLang="zh-CN" sz="1200"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9A387E63-AE04-FD85-40E3-9C39C582B375}"/>
              </a:ext>
            </a:extLst>
          </p:cNvPr>
          <p:cNvPicPr>
            <a:picLocks noChangeAspect="1"/>
          </p:cNvPicPr>
          <p:nvPr/>
        </p:nvPicPr>
        <p:blipFill>
          <a:blip r:embed="rId3"/>
          <a:stretch>
            <a:fillRect/>
          </a:stretch>
        </p:blipFill>
        <p:spPr>
          <a:xfrm>
            <a:off x="5892799" y="4375189"/>
            <a:ext cx="5797505" cy="1880692"/>
          </a:xfrm>
          <a:prstGeom prst="rect">
            <a:avLst/>
          </a:prstGeom>
        </p:spPr>
      </p:pic>
      <p:sp>
        <p:nvSpPr>
          <p:cNvPr id="2" name="矩形 1">
            <a:extLst>
              <a:ext uri="{FF2B5EF4-FFF2-40B4-BE49-F238E27FC236}">
                <a16:creationId xmlns:a16="http://schemas.microsoft.com/office/drawing/2014/main" id="{9F6A40D5-288F-033D-4E5C-1C99E4CE599F}"/>
              </a:ext>
            </a:extLst>
          </p:cNvPr>
          <p:cNvSpPr/>
          <p:nvPr/>
        </p:nvSpPr>
        <p:spPr>
          <a:xfrm>
            <a:off x="545966" y="827227"/>
            <a:ext cx="8245585" cy="478272"/>
          </a:xfrm>
          <a:prstGeom prst="rect">
            <a:avLst/>
          </a:prstGeom>
        </p:spPr>
        <p:txBody>
          <a:bodyPr wrap="square">
            <a:spAutoFit/>
          </a:bodyPr>
          <a:lstStyle/>
          <a:p>
            <a:pPr algn="ctr">
              <a:lnSpc>
                <a:spcPct val="110000"/>
              </a:lnSpc>
            </a:pPr>
            <a:r>
              <a:rPr kumimoji="1" lang="en-US" altLang="zh-CN" sz="2400" dirty="0">
                <a:solidFill>
                  <a:srgbClr val="2E578B"/>
                </a:solidFill>
                <a:latin typeface="Azonix" pitchFamily="50" charset="0"/>
              </a:rPr>
              <a:t>What is photovoltaics?</a:t>
            </a:r>
          </a:p>
        </p:txBody>
      </p:sp>
      <p:pic>
        <p:nvPicPr>
          <p:cNvPr id="3" name="图片 2">
            <a:extLst>
              <a:ext uri="{FF2B5EF4-FFF2-40B4-BE49-F238E27FC236}">
                <a16:creationId xmlns:a16="http://schemas.microsoft.com/office/drawing/2014/main" id="{168B4F0E-7D68-E1E6-57D4-731BC1D7FE1E}"/>
              </a:ext>
            </a:extLst>
          </p:cNvPr>
          <p:cNvPicPr>
            <a:picLocks noChangeAspect="1"/>
          </p:cNvPicPr>
          <p:nvPr/>
        </p:nvPicPr>
        <p:blipFill>
          <a:blip r:embed="rId4"/>
          <a:stretch>
            <a:fillRect/>
          </a:stretch>
        </p:blipFill>
        <p:spPr>
          <a:xfrm>
            <a:off x="1563608" y="1503108"/>
            <a:ext cx="3105150" cy="1794488"/>
          </a:xfrm>
          <a:prstGeom prst="rect">
            <a:avLst/>
          </a:prstGeom>
        </p:spPr>
      </p:pic>
      <p:sp>
        <p:nvSpPr>
          <p:cNvPr id="7" name="TextBox 30">
            <a:extLst>
              <a:ext uri="{FF2B5EF4-FFF2-40B4-BE49-F238E27FC236}">
                <a16:creationId xmlns:a16="http://schemas.microsoft.com/office/drawing/2014/main" id="{1CCD1307-9F3F-EA19-3BD4-5242B69DD554}"/>
              </a:ext>
            </a:extLst>
          </p:cNvPr>
          <p:cNvSpPr txBox="1"/>
          <p:nvPr/>
        </p:nvSpPr>
        <p:spPr>
          <a:xfrm>
            <a:off x="5391149" y="1402542"/>
            <a:ext cx="6399365" cy="1569660"/>
          </a:xfrm>
          <a:prstGeom prst="rect">
            <a:avLst/>
          </a:prstGeom>
          <a:noFill/>
        </p:spPr>
        <p:txBody>
          <a:bodyPr wrap="square" rtlCol="0">
            <a:spAutoFit/>
          </a:bodyPr>
          <a:lstStyle/>
          <a:p>
            <a:r>
              <a:rPr lang="en-US" altLang="zh-CN" sz="2400" dirty="0">
                <a:solidFill>
                  <a:srgbClr val="00B050"/>
                </a:solidFill>
                <a:ea typeface="微软雅黑" panose="020B0503020204020204" pitchFamily="34" charset="-122"/>
                <a:cs typeface="文泉驿微米黑" panose="020B0606030804020204" pitchFamily="34" charset="-122"/>
                <a:sym typeface="微软雅黑 Light" panose="020B0502040204020203" pitchFamily="34" charset="-122"/>
              </a:rPr>
              <a:t>Green Power</a:t>
            </a:r>
            <a:r>
              <a:rPr lang="zh-CN" altLang="en-US" sz="2400" dirty="0">
                <a:solidFill>
                  <a:srgbClr val="00B050"/>
                </a:solidFill>
                <a:ea typeface="微软雅黑" panose="020B0503020204020204" pitchFamily="34" charset="-122"/>
                <a:cs typeface="文泉驿微米黑" panose="020B0606030804020204" pitchFamily="34" charset="-122"/>
                <a:sym typeface="微软雅黑 Light" panose="020B0502040204020203" pitchFamily="34" charset="-122"/>
              </a:rPr>
              <a:t>！</a:t>
            </a:r>
            <a:endParaRPr lang="en-US" sz="2400" dirty="0">
              <a:solidFill>
                <a:srgbClr val="00B050"/>
              </a:solidFill>
              <a:ea typeface="微软雅黑" panose="020B0503020204020204" pitchFamily="34" charset="-122"/>
              <a:cs typeface="文泉驿微米黑" panose="020B0606030804020204" pitchFamily="34" charset="-122"/>
              <a:sym typeface="微软雅黑 Light" panose="020B0502040204020203" pitchFamily="34" charset="-122"/>
            </a:endParaRPr>
          </a:p>
          <a:p>
            <a:r>
              <a:rPr lang="en-US" sz="2400" dirty="0">
                <a:solidFill>
                  <a:srgbClr val="00B050"/>
                </a:solidFill>
                <a:ea typeface="微软雅黑" panose="020B0503020204020204" pitchFamily="34" charset="-122"/>
                <a:cs typeface="文泉驿微米黑" panose="020B0606030804020204" pitchFamily="34" charset="-122"/>
                <a:sym typeface="微软雅黑 Light" panose="020B0502040204020203" pitchFamily="34" charset="-122"/>
              </a:rPr>
              <a:t>Light energy </a:t>
            </a:r>
            <a:r>
              <a:rPr lang="en-US" altLang="zh-CN" sz="2400" dirty="0">
                <a:solidFill>
                  <a:srgbClr val="00B050"/>
                </a:solidFill>
                <a:ea typeface="微软雅黑" panose="020B0503020204020204" pitchFamily="34" charset="-122"/>
                <a:cs typeface="文泉驿微米黑" panose="020B0606030804020204" pitchFamily="34" charset="-122"/>
                <a:sym typeface="Wingdings" panose="05000000000000000000" pitchFamily="2" charset="2"/>
              </a:rPr>
              <a:t> electrical energy</a:t>
            </a:r>
          </a:p>
          <a:p>
            <a:endParaRPr lang="en-US" sz="2400" dirty="0">
              <a:solidFill>
                <a:srgbClr val="00B050"/>
              </a:solidFill>
              <a:ea typeface="微软雅黑" panose="020B0503020204020204" pitchFamily="34" charset="-122"/>
              <a:cs typeface="文泉驿微米黑" panose="020B0606030804020204" pitchFamily="34" charset="-122"/>
              <a:sym typeface="Wingdings" panose="05000000000000000000" pitchFamily="2" charset="2"/>
            </a:endParaRPr>
          </a:p>
          <a:p>
            <a:r>
              <a:rPr lang="en-US" sz="2400" dirty="0">
                <a:ea typeface="微软雅黑" panose="020B0503020204020204" pitchFamily="34" charset="-122"/>
                <a:cs typeface="文泉驿微米黑" panose="020B0606030804020204" pitchFamily="34" charset="-122"/>
                <a:sym typeface="Wingdings" panose="05000000000000000000" pitchFamily="2" charset="2"/>
              </a:rPr>
              <a:t>Hard and</a:t>
            </a:r>
            <a:r>
              <a:rPr lang="en-US" sz="2400" dirty="0">
                <a:ea typeface="微软雅黑" panose="020B0503020204020204" pitchFamily="34" charset="-122"/>
                <a:cs typeface="文泉驿微米黑" panose="020B0606030804020204" pitchFamily="34" charset="-122"/>
                <a:sym typeface="微软雅黑 Light" panose="020B0502040204020203" pitchFamily="34" charset="-122"/>
              </a:rPr>
              <a:t> Heavy</a:t>
            </a:r>
            <a:endParaRPr lang="en-US" sz="2400" dirty="0">
              <a:ea typeface="微软雅黑" panose="020B0503020204020204" pitchFamily="34" charset="-122"/>
              <a:cs typeface="文泉驿微米黑" panose="020B0606030804020204" pitchFamily="34" charset="-122"/>
              <a:sym typeface="Wingdings" panose="05000000000000000000" pitchFamily="2" charset="2"/>
            </a:endParaRPr>
          </a:p>
        </p:txBody>
      </p:sp>
      <p:cxnSp>
        <p:nvCxnSpPr>
          <p:cNvPr id="10" name="直接连接符 9">
            <a:extLst>
              <a:ext uri="{FF2B5EF4-FFF2-40B4-BE49-F238E27FC236}">
                <a16:creationId xmlns:a16="http://schemas.microsoft.com/office/drawing/2014/main" id="{08A11100-D0A1-058D-169C-12C750115305}"/>
              </a:ext>
            </a:extLst>
          </p:cNvPr>
          <p:cNvCxnSpPr/>
          <p:nvPr/>
        </p:nvCxnSpPr>
        <p:spPr>
          <a:xfrm>
            <a:off x="330200" y="3530600"/>
            <a:ext cx="11404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572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829E-12AA-CB05-65E5-056BD2C1A450}"/>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AE05429A-A43C-2C77-5C52-C538DA84BFFD}"/>
              </a:ext>
            </a:extLst>
          </p:cNvPr>
          <p:cNvSpPr txBox="1"/>
          <p:nvPr/>
        </p:nvSpPr>
        <p:spPr>
          <a:xfrm>
            <a:off x="660399" y="108511"/>
            <a:ext cx="11271251" cy="643894"/>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Future</a:t>
            </a:r>
            <a:r>
              <a:rPr lang="zh-CN" altLang="en-US" sz="3200" dirty="0">
                <a:solidFill>
                  <a:srgbClr val="CB3125"/>
                </a:solidFill>
                <a:latin typeface="Azonix" pitchFamily="50" charset="0"/>
                <a:ea typeface="Roboto Thin" panose="02000000000000000000" pitchFamily="2" charset="0"/>
                <a:cs typeface="+mn-cs"/>
              </a:rPr>
              <a:t>：</a:t>
            </a:r>
            <a:r>
              <a:rPr lang="en-US" altLang="zh-CN" sz="3200" dirty="0">
                <a:solidFill>
                  <a:srgbClr val="CB3125"/>
                </a:solidFill>
                <a:latin typeface="Azonix" pitchFamily="50" charset="0"/>
                <a:ea typeface="Roboto Thin" panose="02000000000000000000" pitchFamily="2" charset="0"/>
                <a:cs typeface="+mn-cs"/>
              </a:rPr>
              <a:t>Multimodal medical monitoring system </a:t>
            </a:r>
          </a:p>
        </p:txBody>
      </p:sp>
      <p:pic>
        <p:nvPicPr>
          <p:cNvPr id="6" name="图片 5">
            <a:extLst>
              <a:ext uri="{FF2B5EF4-FFF2-40B4-BE49-F238E27FC236}">
                <a16:creationId xmlns:a16="http://schemas.microsoft.com/office/drawing/2014/main" id="{D74E166E-4F0C-2B1D-A4CB-AF9AD19593B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Oval 21">
            <a:extLst>
              <a:ext uri="{FF2B5EF4-FFF2-40B4-BE49-F238E27FC236}">
                <a16:creationId xmlns:a16="http://schemas.microsoft.com/office/drawing/2014/main" id="{4F268497-0E62-3112-8C04-D7D12951C835}"/>
              </a:ext>
            </a:extLst>
          </p:cNvPr>
          <p:cNvSpPr/>
          <p:nvPr/>
        </p:nvSpPr>
        <p:spPr>
          <a:xfrm>
            <a:off x="8107007" y="3088227"/>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9" name="Oval 47">
            <a:extLst>
              <a:ext uri="{FF2B5EF4-FFF2-40B4-BE49-F238E27FC236}">
                <a16:creationId xmlns:a16="http://schemas.microsoft.com/office/drawing/2014/main" id="{E49E8C9F-A22F-7846-6F9F-1FEC782E1BDC}"/>
              </a:ext>
            </a:extLst>
          </p:cNvPr>
          <p:cNvSpPr/>
          <p:nvPr/>
        </p:nvSpPr>
        <p:spPr>
          <a:xfrm>
            <a:off x="7153595" y="1578721"/>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15" name="TextBox 30">
            <a:extLst>
              <a:ext uri="{FF2B5EF4-FFF2-40B4-BE49-F238E27FC236}">
                <a16:creationId xmlns:a16="http://schemas.microsoft.com/office/drawing/2014/main" id="{E3872C1B-A68E-3FF3-290B-C9D6BAD2D240}"/>
              </a:ext>
            </a:extLst>
          </p:cNvPr>
          <p:cNvSpPr txBox="1"/>
          <p:nvPr/>
        </p:nvSpPr>
        <p:spPr>
          <a:xfrm>
            <a:off x="4396096" y="2038172"/>
            <a:ext cx="3182304" cy="402546"/>
          </a:xfrm>
          <a:prstGeom prst="rect">
            <a:avLst/>
          </a:prstGeom>
          <a:noFill/>
        </p:spPr>
        <p:txBody>
          <a:bodyPr wrap="square" rtlCol="0">
            <a:spAutoFit/>
          </a:bodyPr>
          <a:lstStyle/>
          <a:p>
            <a:pPr algn="ctr">
              <a:lnSpc>
                <a:spcPct val="120000"/>
              </a:lnSpc>
            </a:pPr>
            <a:r>
              <a:rPr lang="en-US" altLang="zh-CN" dirty="0"/>
              <a:t>Unprocessed signals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16" name="TextBox 30">
            <a:extLst>
              <a:ext uri="{FF2B5EF4-FFF2-40B4-BE49-F238E27FC236}">
                <a16:creationId xmlns:a16="http://schemas.microsoft.com/office/drawing/2014/main" id="{7B504D58-0FD0-B054-4565-0A8FC4561F8B}"/>
              </a:ext>
            </a:extLst>
          </p:cNvPr>
          <p:cNvSpPr txBox="1"/>
          <p:nvPr/>
        </p:nvSpPr>
        <p:spPr>
          <a:xfrm>
            <a:off x="6909734" y="2303515"/>
            <a:ext cx="2721001" cy="734945"/>
          </a:xfrm>
          <a:prstGeom prst="rect">
            <a:avLst/>
          </a:prstGeom>
          <a:noFill/>
        </p:spPr>
        <p:txBody>
          <a:bodyPr wrap="square" rtlCol="0">
            <a:spAutoFit/>
          </a:bodyPr>
          <a:lstStyle/>
          <a:p>
            <a:pPr algn="ctr">
              <a:lnSpc>
                <a:spcPct val="120000"/>
              </a:lnSpc>
            </a:pPr>
            <a:r>
              <a:rPr lang="en-US" altLang="zh-CN" dirty="0"/>
              <a:t>Multimodal data processing</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 name="Oval 21">
            <a:extLst>
              <a:ext uri="{FF2B5EF4-FFF2-40B4-BE49-F238E27FC236}">
                <a16:creationId xmlns:a16="http://schemas.microsoft.com/office/drawing/2014/main" id="{2847E292-CD8B-6C0B-E1BB-B5B18576FE48}"/>
              </a:ext>
            </a:extLst>
          </p:cNvPr>
          <p:cNvSpPr/>
          <p:nvPr/>
        </p:nvSpPr>
        <p:spPr>
          <a:xfrm>
            <a:off x="9078163" y="1730605"/>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3" name="TextBox 30">
            <a:extLst>
              <a:ext uri="{FF2B5EF4-FFF2-40B4-BE49-F238E27FC236}">
                <a16:creationId xmlns:a16="http://schemas.microsoft.com/office/drawing/2014/main" id="{C4536FA0-0F24-15E4-9E05-B594A42DBC94}"/>
              </a:ext>
            </a:extLst>
          </p:cNvPr>
          <p:cNvSpPr txBox="1"/>
          <p:nvPr/>
        </p:nvSpPr>
        <p:spPr>
          <a:xfrm>
            <a:off x="9502968" y="2416347"/>
            <a:ext cx="1586271" cy="734945"/>
          </a:xfrm>
          <a:prstGeom prst="rect">
            <a:avLst/>
          </a:prstGeom>
          <a:noFill/>
        </p:spPr>
        <p:txBody>
          <a:bodyPr wrap="square" rtlCol="0">
            <a:spAutoFit/>
          </a:bodyPr>
          <a:lstStyle/>
          <a:p>
            <a:pPr algn="ctr">
              <a:lnSpc>
                <a:spcPct val="120000"/>
              </a:lnSpc>
            </a:pPr>
            <a:r>
              <a:rPr lang="en-US" altLang="zh-CN" dirty="0"/>
              <a:t>AI Health Advisors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graphicFrame>
        <p:nvGraphicFramePr>
          <p:cNvPr id="8" name="表格 7">
            <a:extLst>
              <a:ext uri="{FF2B5EF4-FFF2-40B4-BE49-F238E27FC236}">
                <a16:creationId xmlns:a16="http://schemas.microsoft.com/office/drawing/2014/main" id="{5AD1DD15-5FB6-3355-DAD0-4C629BE57CCE}"/>
              </a:ext>
            </a:extLst>
          </p:cNvPr>
          <p:cNvGraphicFramePr>
            <a:graphicFrameLocks noGrp="1"/>
          </p:cNvGraphicFramePr>
          <p:nvPr>
            <p:extLst>
              <p:ext uri="{D42A27DB-BD31-4B8C-83A1-F6EECF244321}">
                <p14:modId xmlns:p14="http://schemas.microsoft.com/office/powerpoint/2010/main" val="3845765185"/>
              </p:ext>
            </p:extLst>
          </p:nvPr>
        </p:nvGraphicFramePr>
        <p:xfrm>
          <a:off x="1281507" y="2085447"/>
          <a:ext cx="3603553" cy="1854200"/>
        </p:xfrm>
        <a:graphic>
          <a:graphicData uri="http://schemas.openxmlformats.org/drawingml/2006/table">
            <a:tbl>
              <a:tblPr firstRow="1" bandRow="1">
                <a:tableStyleId>{5C22544A-7EE6-4342-B048-85BDC9FD1C3A}</a:tableStyleId>
              </a:tblPr>
              <a:tblGrid>
                <a:gridCol w="3603553">
                  <a:extLst>
                    <a:ext uri="{9D8B030D-6E8A-4147-A177-3AD203B41FA5}">
                      <a16:colId xmlns:a16="http://schemas.microsoft.com/office/drawing/2014/main" val="2887155197"/>
                    </a:ext>
                  </a:extLst>
                </a:gridCol>
              </a:tblGrid>
              <a:tr h="370840">
                <a:tc>
                  <a:txBody>
                    <a:bodyPr/>
                    <a:lstStyle/>
                    <a:p>
                      <a:pPr algn="ctr"/>
                      <a:r>
                        <a:rPr lang="en-US" altLang="zh-CN" dirty="0"/>
                        <a:t>Different wearable optical devices</a:t>
                      </a:r>
                      <a:endParaRPr lang="zh-CN" altLang="en-US" dirty="0"/>
                    </a:p>
                  </a:txBody>
                  <a:tcPr/>
                </a:tc>
                <a:extLst>
                  <a:ext uri="{0D108BD9-81ED-4DB2-BD59-A6C34878D82A}">
                    <a16:rowId xmlns:a16="http://schemas.microsoft.com/office/drawing/2014/main" val="8248804"/>
                  </a:ext>
                </a:extLst>
              </a:tr>
              <a:tr h="370840">
                <a:tc>
                  <a:txBody>
                    <a:bodyPr/>
                    <a:lstStyle/>
                    <a:p>
                      <a:pPr algn="ctr"/>
                      <a:r>
                        <a:rPr lang="en-US" altLang="zh-CN" dirty="0"/>
                        <a:t>watch</a:t>
                      </a:r>
                      <a:endParaRPr lang="zh-CN" altLang="en-US" dirty="0"/>
                    </a:p>
                  </a:txBody>
                  <a:tcPr/>
                </a:tc>
                <a:extLst>
                  <a:ext uri="{0D108BD9-81ED-4DB2-BD59-A6C34878D82A}">
                    <a16:rowId xmlns:a16="http://schemas.microsoft.com/office/drawing/2014/main" val="2002790112"/>
                  </a:ext>
                </a:extLst>
              </a:tr>
              <a:tr h="370840">
                <a:tc>
                  <a:txBody>
                    <a:bodyPr/>
                    <a:lstStyle/>
                    <a:p>
                      <a:pPr algn="ctr"/>
                      <a:r>
                        <a:rPr lang="en-US" altLang="zh-CN" dirty="0"/>
                        <a:t>clothing</a:t>
                      </a:r>
                      <a:endParaRPr lang="zh-CN" altLang="en-US" dirty="0"/>
                    </a:p>
                  </a:txBody>
                  <a:tcPr/>
                </a:tc>
                <a:extLst>
                  <a:ext uri="{0D108BD9-81ED-4DB2-BD59-A6C34878D82A}">
                    <a16:rowId xmlns:a16="http://schemas.microsoft.com/office/drawing/2014/main" val="3235718369"/>
                  </a:ext>
                </a:extLst>
              </a:tr>
              <a:tr h="370840">
                <a:tc>
                  <a:txBody>
                    <a:bodyPr/>
                    <a:lstStyle/>
                    <a:p>
                      <a:pPr algn="ctr"/>
                      <a:r>
                        <a:rPr lang="en-US" altLang="zh-CN" dirty="0"/>
                        <a:t>glasses</a:t>
                      </a:r>
                      <a:endParaRPr lang="zh-CN" altLang="en-US" dirty="0"/>
                    </a:p>
                  </a:txBody>
                  <a:tcPr/>
                </a:tc>
                <a:extLst>
                  <a:ext uri="{0D108BD9-81ED-4DB2-BD59-A6C34878D82A}">
                    <a16:rowId xmlns:a16="http://schemas.microsoft.com/office/drawing/2014/main" val="3900106023"/>
                  </a:ext>
                </a:extLst>
              </a:tr>
              <a:tr h="370840">
                <a:tc>
                  <a:txBody>
                    <a:bodyPr/>
                    <a:lstStyle/>
                    <a:p>
                      <a:pPr algn="ctr"/>
                      <a:r>
                        <a:rPr lang="en-US" altLang="zh-CN" dirty="0"/>
                        <a:t>……</a:t>
                      </a:r>
                      <a:endParaRPr lang="zh-CN" altLang="en-US" dirty="0"/>
                    </a:p>
                  </a:txBody>
                  <a:tcPr/>
                </a:tc>
                <a:extLst>
                  <a:ext uri="{0D108BD9-81ED-4DB2-BD59-A6C34878D82A}">
                    <a16:rowId xmlns:a16="http://schemas.microsoft.com/office/drawing/2014/main" val="2447609501"/>
                  </a:ext>
                </a:extLst>
              </a:tr>
            </a:tbl>
          </a:graphicData>
        </a:graphic>
      </p:graphicFrame>
      <p:grpSp>
        <p:nvGrpSpPr>
          <p:cNvPr id="10" name="Group 37">
            <a:extLst>
              <a:ext uri="{FF2B5EF4-FFF2-40B4-BE49-F238E27FC236}">
                <a16:creationId xmlns:a16="http://schemas.microsoft.com/office/drawing/2014/main" id="{6CD0F7D1-357A-DE30-F6EC-357C9C007671}"/>
              </a:ext>
            </a:extLst>
          </p:cNvPr>
          <p:cNvGrpSpPr/>
          <p:nvPr/>
        </p:nvGrpSpPr>
        <p:grpSpPr>
          <a:xfrm rot="2779401">
            <a:off x="4852007" y="2424357"/>
            <a:ext cx="2369292" cy="2549876"/>
            <a:chOff x="6326188" y="3460750"/>
            <a:chExt cx="484188" cy="554038"/>
          </a:xfrm>
          <a:solidFill>
            <a:srgbClr val="CB3125"/>
          </a:solidFill>
        </p:grpSpPr>
        <p:sp>
          <p:nvSpPr>
            <p:cNvPr id="11" name="Freeform 227">
              <a:extLst>
                <a:ext uri="{FF2B5EF4-FFF2-40B4-BE49-F238E27FC236}">
                  <a16:creationId xmlns:a16="http://schemas.microsoft.com/office/drawing/2014/main" id="{8BFD45B3-64F4-C653-DBCD-6B9C53373778}"/>
                </a:ext>
              </a:extLst>
            </p:cNvPr>
            <p:cNvSpPr/>
            <p:nvPr/>
          </p:nvSpPr>
          <p:spPr bwMode="auto">
            <a:xfrm>
              <a:off x="6326188" y="3460750"/>
              <a:ext cx="276225" cy="288925"/>
            </a:xfrm>
            <a:custGeom>
              <a:avLst/>
              <a:gdLst>
                <a:gd name="T0" fmla="*/ 1475 w 1743"/>
                <a:gd name="T1" fmla="*/ 2 h 1815"/>
                <a:gd name="T2" fmla="*/ 1507 w 1743"/>
                <a:gd name="T3" fmla="*/ 21 h 1815"/>
                <a:gd name="T4" fmla="*/ 1733 w 1743"/>
                <a:gd name="T5" fmla="*/ 252 h 1815"/>
                <a:gd name="T6" fmla="*/ 1743 w 1743"/>
                <a:gd name="T7" fmla="*/ 287 h 1815"/>
                <a:gd name="T8" fmla="*/ 1733 w 1743"/>
                <a:gd name="T9" fmla="*/ 320 h 1815"/>
                <a:gd name="T10" fmla="*/ 1507 w 1743"/>
                <a:gd name="T11" fmla="*/ 552 h 1815"/>
                <a:gd name="T12" fmla="*/ 1475 w 1743"/>
                <a:gd name="T13" fmla="*/ 570 h 1815"/>
                <a:gd name="T14" fmla="*/ 1440 w 1743"/>
                <a:gd name="T15" fmla="*/ 570 h 1815"/>
                <a:gd name="T16" fmla="*/ 1408 w 1743"/>
                <a:gd name="T17" fmla="*/ 552 h 1815"/>
                <a:gd name="T18" fmla="*/ 1389 w 1743"/>
                <a:gd name="T19" fmla="*/ 520 h 1815"/>
                <a:gd name="T20" fmla="*/ 1389 w 1743"/>
                <a:gd name="T21" fmla="*/ 484 h 1815"/>
                <a:gd name="T22" fmla="*/ 1408 w 1743"/>
                <a:gd name="T23" fmla="*/ 452 h 1815"/>
                <a:gd name="T24" fmla="*/ 1410 w 1743"/>
                <a:gd name="T25" fmla="*/ 361 h 1815"/>
                <a:gd name="T26" fmla="*/ 1228 w 1743"/>
                <a:gd name="T27" fmla="*/ 388 h 1815"/>
                <a:gd name="T28" fmla="*/ 1056 w 1743"/>
                <a:gd name="T29" fmla="*/ 438 h 1815"/>
                <a:gd name="T30" fmla="*/ 893 w 1743"/>
                <a:gd name="T31" fmla="*/ 510 h 1815"/>
                <a:gd name="T32" fmla="*/ 741 w 1743"/>
                <a:gd name="T33" fmla="*/ 602 h 1815"/>
                <a:gd name="T34" fmla="*/ 602 w 1743"/>
                <a:gd name="T35" fmla="*/ 710 h 1815"/>
                <a:gd name="T36" fmla="*/ 480 w 1743"/>
                <a:gd name="T37" fmla="*/ 835 h 1815"/>
                <a:gd name="T38" fmla="*/ 373 w 1743"/>
                <a:gd name="T39" fmla="*/ 975 h 1815"/>
                <a:gd name="T40" fmla="*/ 284 w 1743"/>
                <a:gd name="T41" fmla="*/ 1129 h 1815"/>
                <a:gd name="T42" fmla="*/ 215 w 1743"/>
                <a:gd name="T43" fmla="*/ 1293 h 1815"/>
                <a:gd name="T44" fmla="*/ 167 w 1743"/>
                <a:gd name="T45" fmla="*/ 1468 h 1815"/>
                <a:gd name="T46" fmla="*/ 143 w 1743"/>
                <a:gd name="T47" fmla="*/ 1650 h 1815"/>
                <a:gd name="T48" fmla="*/ 138 w 1743"/>
                <a:gd name="T49" fmla="*/ 1763 h 1815"/>
                <a:gd name="T50" fmla="*/ 120 w 1743"/>
                <a:gd name="T51" fmla="*/ 1794 h 1815"/>
                <a:gd name="T52" fmla="*/ 89 w 1743"/>
                <a:gd name="T53" fmla="*/ 1812 h 1815"/>
                <a:gd name="T54" fmla="*/ 51 w 1743"/>
                <a:gd name="T55" fmla="*/ 1812 h 1815"/>
                <a:gd name="T56" fmla="*/ 20 w 1743"/>
                <a:gd name="T57" fmla="*/ 1794 h 1815"/>
                <a:gd name="T58" fmla="*/ 2 w 1743"/>
                <a:gd name="T59" fmla="*/ 1763 h 1815"/>
                <a:gd name="T60" fmla="*/ 3 w 1743"/>
                <a:gd name="T61" fmla="*/ 1645 h 1815"/>
                <a:gd name="T62" fmla="*/ 28 w 1743"/>
                <a:gd name="T63" fmla="*/ 1451 h 1815"/>
                <a:gd name="T64" fmla="*/ 76 w 1743"/>
                <a:gd name="T65" fmla="*/ 1265 h 1815"/>
                <a:gd name="T66" fmla="*/ 147 w 1743"/>
                <a:gd name="T67" fmla="*/ 1090 h 1815"/>
                <a:gd name="T68" fmla="*/ 237 w 1743"/>
                <a:gd name="T69" fmla="*/ 926 h 1815"/>
                <a:gd name="T70" fmla="*/ 346 w 1743"/>
                <a:gd name="T71" fmla="*/ 774 h 1815"/>
                <a:gd name="T72" fmla="*/ 473 w 1743"/>
                <a:gd name="T73" fmla="*/ 639 h 1815"/>
                <a:gd name="T74" fmla="*/ 615 w 1743"/>
                <a:gd name="T75" fmla="*/ 519 h 1815"/>
                <a:gd name="T76" fmla="*/ 772 w 1743"/>
                <a:gd name="T77" fmla="*/ 416 h 1815"/>
                <a:gd name="T78" fmla="*/ 940 w 1743"/>
                <a:gd name="T79" fmla="*/ 333 h 1815"/>
                <a:gd name="T80" fmla="*/ 1119 w 1743"/>
                <a:gd name="T81" fmla="*/ 272 h 1815"/>
                <a:gd name="T82" fmla="*/ 1308 w 1743"/>
                <a:gd name="T83" fmla="*/ 232 h 1815"/>
                <a:gd name="T84" fmla="*/ 1505 w 1743"/>
                <a:gd name="T85" fmla="*/ 217 h 1815"/>
                <a:gd name="T86" fmla="*/ 1397 w 1743"/>
                <a:gd name="T87" fmla="*/ 105 h 1815"/>
                <a:gd name="T88" fmla="*/ 1387 w 1743"/>
                <a:gd name="T89" fmla="*/ 71 h 1815"/>
                <a:gd name="T90" fmla="*/ 1397 w 1743"/>
                <a:gd name="T91" fmla="*/ 36 h 1815"/>
                <a:gd name="T92" fmla="*/ 1423 w 1743"/>
                <a:gd name="T93" fmla="*/ 10 h 1815"/>
                <a:gd name="T94" fmla="*/ 1457 w 1743"/>
                <a:gd name="T95" fmla="*/ 0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3" h="1815">
                  <a:moveTo>
                    <a:pt x="1457" y="0"/>
                  </a:moveTo>
                  <a:lnTo>
                    <a:pt x="1475" y="2"/>
                  </a:lnTo>
                  <a:lnTo>
                    <a:pt x="1492" y="10"/>
                  </a:lnTo>
                  <a:lnTo>
                    <a:pt x="1507" y="21"/>
                  </a:lnTo>
                  <a:lnTo>
                    <a:pt x="1722" y="237"/>
                  </a:lnTo>
                  <a:lnTo>
                    <a:pt x="1733" y="252"/>
                  </a:lnTo>
                  <a:lnTo>
                    <a:pt x="1741" y="269"/>
                  </a:lnTo>
                  <a:lnTo>
                    <a:pt x="1743" y="287"/>
                  </a:lnTo>
                  <a:lnTo>
                    <a:pt x="1741" y="304"/>
                  </a:lnTo>
                  <a:lnTo>
                    <a:pt x="1733" y="320"/>
                  </a:lnTo>
                  <a:lnTo>
                    <a:pt x="1722" y="335"/>
                  </a:lnTo>
                  <a:lnTo>
                    <a:pt x="1507" y="552"/>
                  </a:lnTo>
                  <a:lnTo>
                    <a:pt x="1492" y="562"/>
                  </a:lnTo>
                  <a:lnTo>
                    <a:pt x="1475" y="570"/>
                  </a:lnTo>
                  <a:lnTo>
                    <a:pt x="1458" y="572"/>
                  </a:lnTo>
                  <a:lnTo>
                    <a:pt x="1440" y="570"/>
                  </a:lnTo>
                  <a:lnTo>
                    <a:pt x="1423" y="562"/>
                  </a:lnTo>
                  <a:lnTo>
                    <a:pt x="1408" y="552"/>
                  </a:lnTo>
                  <a:lnTo>
                    <a:pt x="1397" y="536"/>
                  </a:lnTo>
                  <a:lnTo>
                    <a:pt x="1389" y="520"/>
                  </a:lnTo>
                  <a:lnTo>
                    <a:pt x="1387" y="502"/>
                  </a:lnTo>
                  <a:lnTo>
                    <a:pt x="1389" y="484"/>
                  </a:lnTo>
                  <a:lnTo>
                    <a:pt x="1397" y="467"/>
                  </a:lnTo>
                  <a:lnTo>
                    <a:pt x="1408" y="452"/>
                  </a:lnTo>
                  <a:lnTo>
                    <a:pt x="1504" y="357"/>
                  </a:lnTo>
                  <a:lnTo>
                    <a:pt x="1410" y="361"/>
                  </a:lnTo>
                  <a:lnTo>
                    <a:pt x="1318" y="371"/>
                  </a:lnTo>
                  <a:lnTo>
                    <a:pt x="1228" y="388"/>
                  </a:lnTo>
                  <a:lnTo>
                    <a:pt x="1140" y="411"/>
                  </a:lnTo>
                  <a:lnTo>
                    <a:pt x="1056" y="438"/>
                  </a:lnTo>
                  <a:lnTo>
                    <a:pt x="972" y="472"/>
                  </a:lnTo>
                  <a:lnTo>
                    <a:pt x="893" y="510"/>
                  </a:lnTo>
                  <a:lnTo>
                    <a:pt x="815" y="553"/>
                  </a:lnTo>
                  <a:lnTo>
                    <a:pt x="741" y="602"/>
                  </a:lnTo>
                  <a:lnTo>
                    <a:pt x="670" y="654"/>
                  </a:lnTo>
                  <a:lnTo>
                    <a:pt x="602" y="710"/>
                  </a:lnTo>
                  <a:lnTo>
                    <a:pt x="539" y="771"/>
                  </a:lnTo>
                  <a:lnTo>
                    <a:pt x="480" y="835"/>
                  </a:lnTo>
                  <a:lnTo>
                    <a:pt x="424" y="904"/>
                  </a:lnTo>
                  <a:lnTo>
                    <a:pt x="373" y="975"/>
                  </a:lnTo>
                  <a:lnTo>
                    <a:pt x="326" y="1050"/>
                  </a:lnTo>
                  <a:lnTo>
                    <a:pt x="284" y="1129"/>
                  </a:lnTo>
                  <a:lnTo>
                    <a:pt x="247" y="1209"/>
                  </a:lnTo>
                  <a:lnTo>
                    <a:pt x="215" y="1293"/>
                  </a:lnTo>
                  <a:lnTo>
                    <a:pt x="188" y="1379"/>
                  </a:lnTo>
                  <a:lnTo>
                    <a:pt x="167" y="1468"/>
                  </a:lnTo>
                  <a:lnTo>
                    <a:pt x="152" y="1558"/>
                  </a:lnTo>
                  <a:lnTo>
                    <a:pt x="143" y="1650"/>
                  </a:lnTo>
                  <a:lnTo>
                    <a:pt x="140" y="1744"/>
                  </a:lnTo>
                  <a:lnTo>
                    <a:pt x="138" y="1763"/>
                  </a:lnTo>
                  <a:lnTo>
                    <a:pt x="130" y="1780"/>
                  </a:lnTo>
                  <a:lnTo>
                    <a:pt x="120" y="1794"/>
                  </a:lnTo>
                  <a:lnTo>
                    <a:pt x="105" y="1805"/>
                  </a:lnTo>
                  <a:lnTo>
                    <a:pt x="89" y="1812"/>
                  </a:lnTo>
                  <a:lnTo>
                    <a:pt x="70" y="1815"/>
                  </a:lnTo>
                  <a:lnTo>
                    <a:pt x="51" y="1812"/>
                  </a:lnTo>
                  <a:lnTo>
                    <a:pt x="34" y="1805"/>
                  </a:lnTo>
                  <a:lnTo>
                    <a:pt x="20" y="1794"/>
                  </a:lnTo>
                  <a:lnTo>
                    <a:pt x="10" y="1780"/>
                  </a:lnTo>
                  <a:lnTo>
                    <a:pt x="2" y="1763"/>
                  </a:lnTo>
                  <a:lnTo>
                    <a:pt x="0" y="1744"/>
                  </a:lnTo>
                  <a:lnTo>
                    <a:pt x="3" y="1645"/>
                  </a:lnTo>
                  <a:lnTo>
                    <a:pt x="13" y="1547"/>
                  </a:lnTo>
                  <a:lnTo>
                    <a:pt x="28" y="1451"/>
                  </a:lnTo>
                  <a:lnTo>
                    <a:pt x="50" y="1357"/>
                  </a:lnTo>
                  <a:lnTo>
                    <a:pt x="76" y="1265"/>
                  </a:lnTo>
                  <a:lnTo>
                    <a:pt x="109" y="1176"/>
                  </a:lnTo>
                  <a:lnTo>
                    <a:pt x="147" y="1090"/>
                  </a:lnTo>
                  <a:lnTo>
                    <a:pt x="190" y="1007"/>
                  </a:lnTo>
                  <a:lnTo>
                    <a:pt x="237" y="926"/>
                  </a:lnTo>
                  <a:lnTo>
                    <a:pt x="290" y="849"/>
                  </a:lnTo>
                  <a:lnTo>
                    <a:pt x="346" y="774"/>
                  </a:lnTo>
                  <a:lnTo>
                    <a:pt x="408" y="704"/>
                  </a:lnTo>
                  <a:lnTo>
                    <a:pt x="473" y="639"/>
                  </a:lnTo>
                  <a:lnTo>
                    <a:pt x="542" y="576"/>
                  </a:lnTo>
                  <a:lnTo>
                    <a:pt x="615" y="519"/>
                  </a:lnTo>
                  <a:lnTo>
                    <a:pt x="691" y="465"/>
                  </a:lnTo>
                  <a:lnTo>
                    <a:pt x="772" y="416"/>
                  </a:lnTo>
                  <a:lnTo>
                    <a:pt x="854" y="372"/>
                  </a:lnTo>
                  <a:lnTo>
                    <a:pt x="940" y="333"/>
                  </a:lnTo>
                  <a:lnTo>
                    <a:pt x="1028" y="299"/>
                  </a:lnTo>
                  <a:lnTo>
                    <a:pt x="1119" y="272"/>
                  </a:lnTo>
                  <a:lnTo>
                    <a:pt x="1212" y="248"/>
                  </a:lnTo>
                  <a:lnTo>
                    <a:pt x="1308" y="232"/>
                  </a:lnTo>
                  <a:lnTo>
                    <a:pt x="1405" y="221"/>
                  </a:lnTo>
                  <a:lnTo>
                    <a:pt x="1505" y="217"/>
                  </a:lnTo>
                  <a:lnTo>
                    <a:pt x="1408" y="120"/>
                  </a:lnTo>
                  <a:lnTo>
                    <a:pt x="1397" y="105"/>
                  </a:lnTo>
                  <a:lnTo>
                    <a:pt x="1389" y="88"/>
                  </a:lnTo>
                  <a:lnTo>
                    <a:pt x="1387" y="71"/>
                  </a:lnTo>
                  <a:lnTo>
                    <a:pt x="1389" y="53"/>
                  </a:lnTo>
                  <a:lnTo>
                    <a:pt x="1397" y="36"/>
                  </a:lnTo>
                  <a:lnTo>
                    <a:pt x="1408" y="21"/>
                  </a:lnTo>
                  <a:lnTo>
                    <a:pt x="1423" y="10"/>
                  </a:lnTo>
                  <a:lnTo>
                    <a:pt x="1440" y="2"/>
                  </a:lnTo>
                  <a:lnTo>
                    <a:pt x="1457" y="0"/>
                  </a:lnTo>
                  <a:close/>
                </a:path>
              </a:pathLst>
            </a:custGeom>
            <a:solidFill>
              <a:srgbClr val="2E578B"/>
            </a:solid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2" name="Freeform 228">
              <a:extLst>
                <a:ext uri="{FF2B5EF4-FFF2-40B4-BE49-F238E27FC236}">
                  <a16:creationId xmlns:a16="http://schemas.microsoft.com/office/drawing/2014/main" id="{4037281B-BC81-B3D8-921C-4CD2CBEB2FEF}"/>
                </a:ext>
              </a:extLst>
            </p:cNvPr>
            <p:cNvSpPr/>
            <p:nvPr/>
          </p:nvSpPr>
          <p:spPr bwMode="auto">
            <a:xfrm>
              <a:off x="6534151" y="3727450"/>
              <a:ext cx="276225" cy="287338"/>
            </a:xfrm>
            <a:custGeom>
              <a:avLst/>
              <a:gdLst>
                <a:gd name="T0" fmla="*/ 1691 w 1743"/>
                <a:gd name="T1" fmla="*/ 3 h 1815"/>
                <a:gd name="T2" fmla="*/ 1722 w 1743"/>
                <a:gd name="T3" fmla="*/ 21 h 1815"/>
                <a:gd name="T4" fmla="*/ 1740 w 1743"/>
                <a:gd name="T5" fmla="*/ 52 h 1815"/>
                <a:gd name="T6" fmla="*/ 1739 w 1743"/>
                <a:gd name="T7" fmla="*/ 170 h 1815"/>
                <a:gd name="T8" fmla="*/ 1714 w 1743"/>
                <a:gd name="T9" fmla="*/ 364 h 1815"/>
                <a:gd name="T10" fmla="*/ 1666 w 1743"/>
                <a:gd name="T11" fmla="*/ 549 h 1815"/>
                <a:gd name="T12" fmla="*/ 1595 w 1743"/>
                <a:gd name="T13" fmla="*/ 724 h 1815"/>
                <a:gd name="T14" fmla="*/ 1505 w 1743"/>
                <a:gd name="T15" fmla="*/ 889 h 1815"/>
                <a:gd name="T16" fmla="*/ 1395 w 1743"/>
                <a:gd name="T17" fmla="*/ 1040 h 1815"/>
                <a:gd name="T18" fmla="*/ 1269 w 1743"/>
                <a:gd name="T19" fmla="*/ 1176 h 1815"/>
                <a:gd name="T20" fmla="*/ 1126 w 1743"/>
                <a:gd name="T21" fmla="*/ 1296 h 1815"/>
                <a:gd name="T22" fmla="*/ 971 w 1743"/>
                <a:gd name="T23" fmla="*/ 1399 h 1815"/>
                <a:gd name="T24" fmla="*/ 802 w 1743"/>
                <a:gd name="T25" fmla="*/ 1481 h 1815"/>
                <a:gd name="T26" fmla="*/ 622 w 1743"/>
                <a:gd name="T27" fmla="*/ 1543 h 1815"/>
                <a:gd name="T28" fmla="*/ 434 w 1743"/>
                <a:gd name="T29" fmla="*/ 1582 h 1815"/>
                <a:gd name="T30" fmla="*/ 238 w 1743"/>
                <a:gd name="T31" fmla="*/ 1598 h 1815"/>
                <a:gd name="T32" fmla="*/ 346 w 1743"/>
                <a:gd name="T33" fmla="*/ 1710 h 1815"/>
                <a:gd name="T34" fmla="*/ 354 w 1743"/>
                <a:gd name="T35" fmla="*/ 1743 h 1815"/>
                <a:gd name="T36" fmla="*/ 346 w 1743"/>
                <a:gd name="T37" fmla="*/ 1778 h 1815"/>
                <a:gd name="T38" fmla="*/ 320 w 1743"/>
                <a:gd name="T39" fmla="*/ 1805 h 1815"/>
                <a:gd name="T40" fmla="*/ 285 w 1743"/>
                <a:gd name="T41" fmla="*/ 1815 h 1815"/>
                <a:gd name="T42" fmla="*/ 250 w 1743"/>
                <a:gd name="T43" fmla="*/ 1805 h 1815"/>
                <a:gd name="T44" fmla="*/ 20 w 1743"/>
                <a:gd name="T45" fmla="*/ 1578 h 1815"/>
                <a:gd name="T46" fmla="*/ 2 w 1743"/>
                <a:gd name="T47" fmla="*/ 1546 h 1815"/>
                <a:gd name="T48" fmla="*/ 2 w 1743"/>
                <a:gd name="T49" fmla="*/ 1510 h 1815"/>
                <a:gd name="T50" fmla="*/ 20 w 1743"/>
                <a:gd name="T51" fmla="*/ 1479 h 1815"/>
                <a:gd name="T52" fmla="*/ 251 w 1743"/>
                <a:gd name="T53" fmla="*/ 1251 h 1815"/>
                <a:gd name="T54" fmla="*/ 285 w 1743"/>
                <a:gd name="T55" fmla="*/ 1243 h 1815"/>
                <a:gd name="T56" fmla="*/ 320 w 1743"/>
                <a:gd name="T57" fmla="*/ 1251 h 1815"/>
                <a:gd name="T58" fmla="*/ 346 w 1743"/>
                <a:gd name="T59" fmla="*/ 1279 h 1815"/>
                <a:gd name="T60" fmla="*/ 354 w 1743"/>
                <a:gd name="T61" fmla="*/ 1313 h 1815"/>
                <a:gd name="T62" fmla="*/ 346 w 1743"/>
                <a:gd name="T63" fmla="*/ 1348 h 1815"/>
                <a:gd name="T64" fmla="*/ 239 w 1743"/>
                <a:gd name="T65" fmla="*/ 1458 h 1815"/>
                <a:gd name="T66" fmla="*/ 424 w 1743"/>
                <a:gd name="T67" fmla="*/ 1443 h 1815"/>
                <a:gd name="T68" fmla="*/ 601 w 1743"/>
                <a:gd name="T69" fmla="*/ 1404 h 1815"/>
                <a:gd name="T70" fmla="*/ 770 w 1743"/>
                <a:gd name="T71" fmla="*/ 1343 h 1815"/>
                <a:gd name="T72" fmla="*/ 927 w 1743"/>
                <a:gd name="T73" fmla="*/ 1262 h 1815"/>
                <a:gd name="T74" fmla="*/ 1072 w 1743"/>
                <a:gd name="T75" fmla="*/ 1161 h 1815"/>
                <a:gd name="T76" fmla="*/ 1204 w 1743"/>
                <a:gd name="T77" fmla="*/ 1043 h 1815"/>
                <a:gd name="T78" fmla="*/ 1318 w 1743"/>
                <a:gd name="T79" fmla="*/ 911 h 1815"/>
                <a:gd name="T80" fmla="*/ 1416 w 1743"/>
                <a:gd name="T81" fmla="*/ 765 h 1815"/>
                <a:gd name="T82" fmla="*/ 1495 w 1743"/>
                <a:gd name="T83" fmla="*/ 605 h 1815"/>
                <a:gd name="T84" fmla="*/ 1554 w 1743"/>
                <a:gd name="T85" fmla="*/ 436 h 1815"/>
                <a:gd name="T86" fmla="*/ 1590 w 1743"/>
                <a:gd name="T87" fmla="*/ 256 h 1815"/>
                <a:gd name="T88" fmla="*/ 1603 w 1743"/>
                <a:gd name="T89" fmla="*/ 70 h 1815"/>
                <a:gd name="T90" fmla="*/ 1612 w 1743"/>
                <a:gd name="T91" fmla="*/ 35 h 1815"/>
                <a:gd name="T92" fmla="*/ 1637 w 1743"/>
                <a:gd name="T93" fmla="*/ 9 h 1815"/>
                <a:gd name="T94" fmla="*/ 1673 w 1743"/>
                <a:gd name="T95" fmla="*/ 0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3" h="1815">
                  <a:moveTo>
                    <a:pt x="1673" y="0"/>
                  </a:moveTo>
                  <a:lnTo>
                    <a:pt x="1691" y="3"/>
                  </a:lnTo>
                  <a:lnTo>
                    <a:pt x="1708" y="9"/>
                  </a:lnTo>
                  <a:lnTo>
                    <a:pt x="1722" y="21"/>
                  </a:lnTo>
                  <a:lnTo>
                    <a:pt x="1733" y="35"/>
                  </a:lnTo>
                  <a:lnTo>
                    <a:pt x="1740" y="52"/>
                  </a:lnTo>
                  <a:lnTo>
                    <a:pt x="1743" y="70"/>
                  </a:lnTo>
                  <a:lnTo>
                    <a:pt x="1739" y="170"/>
                  </a:lnTo>
                  <a:lnTo>
                    <a:pt x="1730" y="268"/>
                  </a:lnTo>
                  <a:lnTo>
                    <a:pt x="1714" y="364"/>
                  </a:lnTo>
                  <a:lnTo>
                    <a:pt x="1693" y="458"/>
                  </a:lnTo>
                  <a:lnTo>
                    <a:pt x="1666" y="549"/>
                  </a:lnTo>
                  <a:lnTo>
                    <a:pt x="1634" y="638"/>
                  </a:lnTo>
                  <a:lnTo>
                    <a:pt x="1595" y="724"/>
                  </a:lnTo>
                  <a:lnTo>
                    <a:pt x="1553" y="808"/>
                  </a:lnTo>
                  <a:lnTo>
                    <a:pt x="1505" y="889"/>
                  </a:lnTo>
                  <a:lnTo>
                    <a:pt x="1452" y="966"/>
                  </a:lnTo>
                  <a:lnTo>
                    <a:pt x="1395" y="1040"/>
                  </a:lnTo>
                  <a:lnTo>
                    <a:pt x="1334" y="1110"/>
                  </a:lnTo>
                  <a:lnTo>
                    <a:pt x="1269" y="1176"/>
                  </a:lnTo>
                  <a:lnTo>
                    <a:pt x="1199" y="1239"/>
                  </a:lnTo>
                  <a:lnTo>
                    <a:pt x="1126" y="1296"/>
                  </a:lnTo>
                  <a:lnTo>
                    <a:pt x="1050" y="1350"/>
                  </a:lnTo>
                  <a:lnTo>
                    <a:pt x="971" y="1399"/>
                  </a:lnTo>
                  <a:lnTo>
                    <a:pt x="888" y="1442"/>
                  </a:lnTo>
                  <a:lnTo>
                    <a:pt x="802" y="1481"/>
                  </a:lnTo>
                  <a:lnTo>
                    <a:pt x="713" y="1515"/>
                  </a:lnTo>
                  <a:lnTo>
                    <a:pt x="622" y="1543"/>
                  </a:lnTo>
                  <a:lnTo>
                    <a:pt x="529" y="1566"/>
                  </a:lnTo>
                  <a:lnTo>
                    <a:pt x="434" y="1582"/>
                  </a:lnTo>
                  <a:lnTo>
                    <a:pt x="338" y="1594"/>
                  </a:lnTo>
                  <a:lnTo>
                    <a:pt x="238" y="1598"/>
                  </a:lnTo>
                  <a:lnTo>
                    <a:pt x="334" y="1695"/>
                  </a:lnTo>
                  <a:lnTo>
                    <a:pt x="346" y="1710"/>
                  </a:lnTo>
                  <a:lnTo>
                    <a:pt x="352" y="1726"/>
                  </a:lnTo>
                  <a:lnTo>
                    <a:pt x="354" y="1743"/>
                  </a:lnTo>
                  <a:lnTo>
                    <a:pt x="352" y="1761"/>
                  </a:lnTo>
                  <a:lnTo>
                    <a:pt x="346" y="1778"/>
                  </a:lnTo>
                  <a:lnTo>
                    <a:pt x="334" y="1793"/>
                  </a:lnTo>
                  <a:lnTo>
                    <a:pt x="320" y="1805"/>
                  </a:lnTo>
                  <a:lnTo>
                    <a:pt x="303" y="1811"/>
                  </a:lnTo>
                  <a:lnTo>
                    <a:pt x="285" y="1815"/>
                  </a:lnTo>
                  <a:lnTo>
                    <a:pt x="267" y="1811"/>
                  </a:lnTo>
                  <a:lnTo>
                    <a:pt x="250" y="1805"/>
                  </a:lnTo>
                  <a:lnTo>
                    <a:pt x="235" y="1793"/>
                  </a:lnTo>
                  <a:lnTo>
                    <a:pt x="20" y="1578"/>
                  </a:lnTo>
                  <a:lnTo>
                    <a:pt x="9" y="1563"/>
                  </a:lnTo>
                  <a:lnTo>
                    <a:pt x="2" y="1546"/>
                  </a:lnTo>
                  <a:lnTo>
                    <a:pt x="0" y="1528"/>
                  </a:lnTo>
                  <a:lnTo>
                    <a:pt x="2" y="1510"/>
                  </a:lnTo>
                  <a:lnTo>
                    <a:pt x="9" y="1493"/>
                  </a:lnTo>
                  <a:lnTo>
                    <a:pt x="20" y="1479"/>
                  </a:lnTo>
                  <a:lnTo>
                    <a:pt x="235" y="1263"/>
                  </a:lnTo>
                  <a:lnTo>
                    <a:pt x="251" y="1251"/>
                  </a:lnTo>
                  <a:lnTo>
                    <a:pt x="267" y="1245"/>
                  </a:lnTo>
                  <a:lnTo>
                    <a:pt x="285" y="1243"/>
                  </a:lnTo>
                  <a:lnTo>
                    <a:pt x="303" y="1245"/>
                  </a:lnTo>
                  <a:lnTo>
                    <a:pt x="320" y="1251"/>
                  </a:lnTo>
                  <a:lnTo>
                    <a:pt x="334" y="1263"/>
                  </a:lnTo>
                  <a:lnTo>
                    <a:pt x="346" y="1279"/>
                  </a:lnTo>
                  <a:lnTo>
                    <a:pt x="352" y="1295"/>
                  </a:lnTo>
                  <a:lnTo>
                    <a:pt x="354" y="1313"/>
                  </a:lnTo>
                  <a:lnTo>
                    <a:pt x="352" y="1331"/>
                  </a:lnTo>
                  <a:lnTo>
                    <a:pt x="346" y="1348"/>
                  </a:lnTo>
                  <a:lnTo>
                    <a:pt x="334" y="1363"/>
                  </a:lnTo>
                  <a:lnTo>
                    <a:pt x="239" y="1458"/>
                  </a:lnTo>
                  <a:lnTo>
                    <a:pt x="332" y="1454"/>
                  </a:lnTo>
                  <a:lnTo>
                    <a:pt x="424" y="1443"/>
                  </a:lnTo>
                  <a:lnTo>
                    <a:pt x="513" y="1426"/>
                  </a:lnTo>
                  <a:lnTo>
                    <a:pt x="601" y="1404"/>
                  </a:lnTo>
                  <a:lnTo>
                    <a:pt x="687" y="1376"/>
                  </a:lnTo>
                  <a:lnTo>
                    <a:pt x="770" y="1343"/>
                  </a:lnTo>
                  <a:lnTo>
                    <a:pt x="850" y="1304"/>
                  </a:lnTo>
                  <a:lnTo>
                    <a:pt x="927" y="1262"/>
                  </a:lnTo>
                  <a:lnTo>
                    <a:pt x="1001" y="1213"/>
                  </a:lnTo>
                  <a:lnTo>
                    <a:pt x="1072" y="1161"/>
                  </a:lnTo>
                  <a:lnTo>
                    <a:pt x="1140" y="1105"/>
                  </a:lnTo>
                  <a:lnTo>
                    <a:pt x="1204" y="1043"/>
                  </a:lnTo>
                  <a:lnTo>
                    <a:pt x="1263" y="980"/>
                  </a:lnTo>
                  <a:lnTo>
                    <a:pt x="1318" y="911"/>
                  </a:lnTo>
                  <a:lnTo>
                    <a:pt x="1370" y="840"/>
                  </a:lnTo>
                  <a:lnTo>
                    <a:pt x="1416" y="765"/>
                  </a:lnTo>
                  <a:lnTo>
                    <a:pt x="1459" y="686"/>
                  </a:lnTo>
                  <a:lnTo>
                    <a:pt x="1495" y="605"/>
                  </a:lnTo>
                  <a:lnTo>
                    <a:pt x="1528" y="522"/>
                  </a:lnTo>
                  <a:lnTo>
                    <a:pt x="1554" y="436"/>
                  </a:lnTo>
                  <a:lnTo>
                    <a:pt x="1574" y="347"/>
                  </a:lnTo>
                  <a:lnTo>
                    <a:pt x="1590" y="256"/>
                  </a:lnTo>
                  <a:lnTo>
                    <a:pt x="1600" y="164"/>
                  </a:lnTo>
                  <a:lnTo>
                    <a:pt x="1603" y="70"/>
                  </a:lnTo>
                  <a:lnTo>
                    <a:pt x="1605" y="52"/>
                  </a:lnTo>
                  <a:lnTo>
                    <a:pt x="1612" y="35"/>
                  </a:lnTo>
                  <a:lnTo>
                    <a:pt x="1623" y="21"/>
                  </a:lnTo>
                  <a:lnTo>
                    <a:pt x="1637" y="9"/>
                  </a:lnTo>
                  <a:lnTo>
                    <a:pt x="1654" y="3"/>
                  </a:lnTo>
                  <a:lnTo>
                    <a:pt x="1673" y="0"/>
                  </a:lnTo>
                  <a:close/>
                </a:path>
              </a:pathLst>
            </a:custGeom>
            <a:solidFill>
              <a:srgbClr val="2E578B"/>
            </a:solid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sp>
        <p:nvSpPr>
          <p:cNvPr id="20" name="TextBox 30">
            <a:extLst>
              <a:ext uri="{FF2B5EF4-FFF2-40B4-BE49-F238E27FC236}">
                <a16:creationId xmlns:a16="http://schemas.microsoft.com/office/drawing/2014/main" id="{FEDE8DCA-77E9-7CC9-2AA5-5813736C322A}"/>
              </a:ext>
            </a:extLst>
          </p:cNvPr>
          <p:cNvSpPr txBox="1"/>
          <p:nvPr/>
        </p:nvSpPr>
        <p:spPr>
          <a:xfrm>
            <a:off x="4351166" y="4998736"/>
            <a:ext cx="3182304" cy="733149"/>
          </a:xfrm>
          <a:prstGeom prst="rect">
            <a:avLst/>
          </a:prstGeom>
          <a:noFill/>
        </p:spPr>
        <p:txBody>
          <a:bodyPr wrap="square" rtlCol="0">
            <a:spAutoFit/>
          </a:bodyPr>
          <a:lstStyle/>
          <a:p>
            <a:pPr algn="ctr">
              <a:lnSpc>
                <a:spcPct val="120000"/>
              </a:lnSpc>
            </a:pPr>
            <a:r>
              <a:rPr lang="en-US" altLang="zh-CN" dirty="0"/>
              <a:t>Processed signals and</a:t>
            </a:r>
          </a:p>
          <a:p>
            <a:pPr algn="ctr">
              <a:lnSpc>
                <a:spcPct val="120000"/>
              </a:lnSpc>
            </a:pPr>
            <a:r>
              <a:rPr lang="en-US" altLang="zh-CN" dirty="0"/>
              <a:t>health management advice</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1" name="TextBox 30">
            <a:extLst>
              <a:ext uri="{FF2B5EF4-FFF2-40B4-BE49-F238E27FC236}">
                <a16:creationId xmlns:a16="http://schemas.microsoft.com/office/drawing/2014/main" id="{280D58C0-9B73-154C-42E5-D28983B0363F}"/>
              </a:ext>
            </a:extLst>
          </p:cNvPr>
          <p:cNvSpPr txBox="1"/>
          <p:nvPr/>
        </p:nvSpPr>
        <p:spPr>
          <a:xfrm>
            <a:off x="7886903" y="3858946"/>
            <a:ext cx="2721001" cy="1065548"/>
          </a:xfrm>
          <a:prstGeom prst="rect">
            <a:avLst/>
          </a:prstGeom>
          <a:noFill/>
        </p:spPr>
        <p:txBody>
          <a:bodyPr wrap="square" rtlCol="0">
            <a:spAutoFit/>
          </a:bodyPr>
          <a:lstStyle/>
          <a:p>
            <a:pPr algn="ctr">
              <a:lnSpc>
                <a:spcPct val="120000"/>
              </a:lnSpc>
            </a:pPr>
            <a:r>
              <a:rPr lang="en-US" altLang="zh-CN" dirty="0"/>
              <a:t>Share data with professional medical institutions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23" name="图形 22" descr="智能手机 纯色填充">
            <a:extLst>
              <a:ext uri="{FF2B5EF4-FFF2-40B4-BE49-F238E27FC236}">
                <a16:creationId xmlns:a16="http://schemas.microsoft.com/office/drawing/2014/main" id="{DCA22966-4B67-7F7E-A200-8DB2DEDB3B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85674" y="4098963"/>
            <a:ext cx="914400" cy="914400"/>
          </a:xfrm>
          <a:prstGeom prst="rect">
            <a:avLst/>
          </a:prstGeom>
        </p:spPr>
      </p:pic>
      <p:sp>
        <p:nvSpPr>
          <p:cNvPr id="24" name="TextBox 30">
            <a:extLst>
              <a:ext uri="{FF2B5EF4-FFF2-40B4-BE49-F238E27FC236}">
                <a16:creationId xmlns:a16="http://schemas.microsoft.com/office/drawing/2014/main" id="{DC92E3FB-C076-AA05-BBEA-EB165B201D15}"/>
              </a:ext>
            </a:extLst>
          </p:cNvPr>
          <p:cNvSpPr txBox="1"/>
          <p:nvPr/>
        </p:nvSpPr>
        <p:spPr>
          <a:xfrm>
            <a:off x="1111784" y="4610266"/>
            <a:ext cx="3182304" cy="400751"/>
          </a:xfrm>
          <a:prstGeom prst="rect">
            <a:avLst/>
          </a:prstGeom>
          <a:noFill/>
        </p:spPr>
        <p:txBody>
          <a:bodyPr wrap="square" rtlCol="0">
            <a:spAutoFit/>
          </a:bodyPr>
          <a:lstStyle/>
          <a:p>
            <a:pPr algn="ctr">
              <a:lnSpc>
                <a:spcPct val="120000"/>
              </a:lnSpc>
            </a:pPr>
            <a:r>
              <a:rPr lang="en-US" altLang="zh-CN" dirty="0"/>
              <a:t>Smartphone terminals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5" name="矩形 24"/>
          <p:cNvSpPr/>
          <p:nvPr/>
        </p:nvSpPr>
        <p:spPr>
          <a:xfrm>
            <a:off x="1864455" y="5995864"/>
            <a:ext cx="8245585" cy="478272"/>
          </a:xfrm>
          <a:prstGeom prst="rect">
            <a:avLst/>
          </a:prstGeom>
        </p:spPr>
        <p:txBody>
          <a:bodyPr wrap="square">
            <a:spAutoFit/>
          </a:bodyPr>
          <a:lstStyle/>
          <a:p>
            <a:pPr algn="ctr">
              <a:lnSpc>
                <a:spcPct val="110000"/>
              </a:lnSpc>
            </a:pPr>
            <a:r>
              <a:rPr kumimoji="1" lang="en-US" altLang="zh-CN" sz="2400" dirty="0">
                <a:solidFill>
                  <a:srgbClr val="2E578B"/>
                </a:solidFill>
                <a:latin typeface="Azonix" pitchFamily="50" charset="0"/>
              </a:rPr>
              <a:t>Real-time and stable health detection!</a:t>
            </a:r>
          </a:p>
        </p:txBody>
      </p:sp>
      <p:pic>
        <p:nvPicPr>
          <p:cNvPr id="27" name="图形 26" descr="周日 纯色填充">
            <a:extLst>
              <a:ext uri="{FF2B5EF4-FFF2-40B4-BE49-F238E27FC236}">
                <a16:creationId xmlns:a16="http://schemas.microsoft.com/office/drawing/2014/main" id="{0903BB82-0B21-3423-18D0-8A3C8B5967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399" y="826908"/>
            <a:ext cx="914400" cy="914400"/>
          </a:xfrm>
          <a:prstGeom prst="rect">
            <a:avLst/>
          </a:prstGeom>
        </p:spPr>
      </p:pic>
      <p:sp>
        <p:nvSpPr>
          <p:cNvPr id="28" name="TextBox 30">
            <a:extLst>
              <a:ext uri="{FF2B5EF4-FFF2-40B4-BE49-F238E27FC236}">
                <a16:creationId xmlns:a16="http://schemas.microsoft.com/office/drawing/2014/main" id="{5825D37E-C808-4DDD-6B42-F45F8F07512B}"/>
              </a:ext>
            </a:extLst>
          </p:cNvPr>
          <p:cNvSpPr txBox="1"/>
          <p:nvPr/>
        </p:nvSpPr>
        <p:spPr>
          <a:xfrm>
            <a:off x="1574799" y="901673"/>
            <a:ext cx="3182304" cy="402546"/>
          </a:xfrm>
          <a:prstGeom prst="rect">
            <a:avLst/>
          </a:prstGeom>
          <a:noFill/>
        </p:spPr>
        <p:txBody>
          <a:bodyPr wrap="square" rtlCol="0">
            <a:spAutoFit/>
          </a:bodyPr>
          <a:lstStyle/>
          <a:p>
            <a:pPr algn="ctr">
              <a:lnSpc>
                <a:spcPct val="120000"/>
              </a:lnSpc>
            </a:pPr>
            <a:r>
              <a:rPr lang="en-US" altLang="zh-CN" dirty="0"/>
              <a:t>Sustainable energy applications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pic>
        <p:nvPicPr>
          <p:cNvPr id="30" name="图形 29" descr="医学 纯色填充">
            <a:extLst>
              <a:ext uri="{FF2B5EF4-FFF2-40B4-BE49-F238E27FC236}">
                <a16:creationId xmlns:a16="http://schemas.microsoft.com/office/drawing/2014/main" id="{FA3F048B-1C20-0166-74DF-27ABF288F51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75550" y="3194936"/>
            <a:ext cx="914400" cy="914400"/>
          </a:xfrm>
          <a:prstGeom prst="rect">
            <a:avLst/>
          </a:prstGeom>
        </p:spPr>
      </p:pic>
    </p:spTree>
    <p:extLst>
      <p:ext uri="{BB962C8B-B14F-4D97-AF65-F5344CB8AC3E}">
        <p14:creationId xmlns:p14="http://schemas.microsoft.com/office/powerpoint/2010/main" val="401331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0-#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5"/>
                                        </p:tgtEl>
                                        <p:attrNameLst>
                                          <p:attrName>style.visibility</p:attrName>
                                        </p:attrNameLst>
                                      </p:cBhvr>
                                      <p:to>
                                        <p:strVal val="visible"/>
                                      </p:to>
                                    </p:set>
                                    <p:animEffect filter="fade">
                                      <p:cBhvr>
                                        <p:cTn id="15" dur="700">
                                          <p:stCondLst>
                                            <p:cond delay="0"/>
                                          </p:stCondLst>
                                        </p:cTn>
                                        <p:tgtEl>
                                          <p:spTgt spid="15"/>
                                        </p:tgtEl>
                                      </p:cBhvr>
                                    </p:animEffect>
                                    <p:anim to="" calcmode="lin" valueType="num">
                                      <p:cBhvr>
                                        <p:cTn id="16" dur="700" fill="hold">
                                          <p:stCondLst>
                                            <p:cond delay="0"/>
                                          </p:stCondLst>
                                        </p:cTn>
                                        <p:tgtEl>
                                          <p:spTgt spid="15"/>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16"/>
                                        </p:tgtEl>
                                        <p:attrNameLst>
                                          <p:attrName>style.visibility</p:attrName>
                                        </p:attrNameLst>
                                      </p:cBhvr>
                                      <p:to>
                                        <p:strVal val="visible"/>
                                      </p:to>
                                    </p:set>
                                    <p:animEffect filter="fade">
                                      <p:cBhvr>
                                        <p:cTn id="19" dur="700">
                                          <p:stCondLst>
                                            <p:cond delay="0"/>
                                          </p:stCondLst>
                                        </p:cTn>
                                        <p:tgtEl>
                                          <p:spTgt spid="16"/>
                                        </p:tgtEl>
                                      </p:cBhvr>
                                    </p:animEffect>
                                    <p:anim to="" calcmode="lin" valueType="num">
                                      <p:cBhvr>
                                        <p:cTn id="20"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childTnLst>
                          </p:cTn>
                        </p:par>
                        <p:par>
                          <p:cTn id="21" fill="hold">
                            <p:stCondLst>
                              <p:cond delay="3510"/>
                            </p:stCondLst>
                            <p:childTnLst>
                              <p:par>
                                <p:cTn id="22" presetID="2" presetClass="entr" presetSubtype="2" decel="10000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1000" fill="hold"/>
                                        <p:tgtEl>
                                          <p:spTgt spid="2"/>
                                        </p:tgtEl>
                                        <p:attrNameLst>
                                          <p:attrName>ppt_x</p:attrName>
                                        </p:attrNameLst>
                                      </p:cBhvr>
                                      <p:tavLst>
                                        <p:tav tm="0">
                                          <p:val>
                                            <p:strVal val="1+#ppt_w/2"/>
                                          </p:val>
                                        </p:tav>
                                        <p:tav tm="100000">
                                          <p:val>
                                            <p:strVal val="#ppt_x"/>
                                          </p:val>
                                        </p:tav>
                                      </p:tavLst>
                                    </p:anim>
                                    <p:anim calcmode="lin" valueType="num">
                                      <p:cBhvr additive="base">
                                        <p:cTn id="25" dur="1000" fill="hold"/>
                                        <p:tgtEl>
                                          <p:spTgt spid="2"/>
                                        </p:tgtEl>
                                        <p:attrNameLst>
                                          <p:attrName>ppt_y</p:attrName>
                                        </p:attrNameLst>
                                      </p:cBhvr>
                                      <p:tavLst>
                                        <p:tav tm="0">
                                          <p:val>
                                            <p:strVal val="#ppt_y"/>
                                          </p:val>
                                        </p:tav>
                                        <p:tav tm="100000">
                                          <p:val>
                                            <p:strVal val="#ppt_y"/>
                                          </p:val>
                                        </p:tav>
                                      </p:tavLst>
                                    </p:anim>
                                  </p:childTnLst>
                                </p:cTn>
                              </p:par>
                              <p:par>
                                <p:cTn id="26" presetID="0" presetClass="entr" presetSubtype="0" fill="hold" grpId="0" nodeType="withEffect">
                                  <p:stCondLst>
                                    <p:cond delay="1200"/>
                                  </p:stCondLst>
                                  <p:iterate type="lt">
                                    <p:tmPct val="10000"/>
                                  </p:iterate>
                                  <p:childTnLst>
                                    <p:set>
                                      <p:cBhvr>
                                        <p:cTn id="27" dur="700" fill="hold">
                                          <p:stCondLst>
                                            <p:cond delay="0"/>
                                          </p:stCondLst>
                                        </p:cTn>
                                        <p:tgtEl>
                                          <p:spTgt spid="3"/>
                                        </p:tgtEl>
                                        <p:attrNameLst>
                                          <p:attrName>style.visibility</p:attrName>
                                        </p:attrNameLst>
                                      </p:cBhvr>
                                      <p:to>
                                        <p:strVal val="visible"/>
                                      </p:to>
                                    </p:set>
                                    <p:animEffect filter="fade">
                                      <p:cBhvr>
                                        <p:cTn id="28" dur="700">
                                          <p:stCondLst>
                                            <p:cond delay="0"/>
                                          </p:stCondLst>
                                        </p:cTn>
                                        <p:tgtEl>
                                          <p:spTgt spid="3"/>
                                        </p:tgtEl>
                                      </p:cBhvr>
                                    </p:animEffect>
                                    <p:anim to="" calcmode="lin" valueType="num">
                                      <p:cBhvr>
                                        <p:cTn id="29" dur="700" fill="hold">
                                          <p:stCondLst>
                                            <p:cond delay="0"/>
                                          </p:stCondLst>
                                        </p:cTn>
                                        <p:tgtEl>
                                          <p:spTgt spid="3"/>
                                        </p:tgtEl>
                                        <p:attrNameLst>
                                          <p:attrName>ppt_y</p:attrName>
                                        </p:attrNameLst>
                                      </p:cBhvr>
                                      <p:tavLst>
                                        <p:tav tm="0" fmla="#ppt_y-#ppt_h*((1.5-1.5*$)^2-(1.5-1.5*$)^3)">
                                          <p:val>
                                            <p:fltVal val="0"/>
                                          </p:val>
                                        </p:tav>
                                        <p:tav tm="100000">
                                          <p:val>
                                            <p:fltVal val="1"/>
                                          </p:val>
                                        </p:tav>
                                      </p:tavLst>
                                    </p:anim>
                                  </p:childTnLst>
                                </p:cTn>
                              </p:par>
                            </p:childTnLst>
                          </p:cTn>
                        </p:par>
                        <p:par>
                          <p:cTn id="30" fill="hold">
                            <p:stCondLst>
                              <p:cond delay="6460"/>
                            </p:stCondLst>
                            <p:childTnLst>
                              <p:par>
                                <p:cTn id="31" presetID="49" presetClass="entr" presetSubtype="0" decel="10000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 calcmode="lin" valueType="num">
                                      <p:cBhvr>
                                        <p:cTn id="35" dur="500" fill="hold"/>
                                        <p:tgtEl>
                                          <p:spTgt spid="10"/>
                                        </p:tgtEl>
                                        <p:attrNameLst>
                                          <p:attrName>style.rotation</p:attrName>
                                        </p:attrNameLst>
                                      </p:cBhvr>
                                      <p:tavLst>
                                        <p:tav tm="0">
                                          <p:val>
                                            <p:fltVal val="360"/>
                                          </p:val>
                                        </p:tav>
                                        <p:tav tm="100000">
                                          <p:val>
                                            <p:fltVal val="0"/>
                                          </p:val>
                                        </p:tav>
                                      </p:tavLst>
                                    </p:anim>
                                    <p:animEffect transition="in" filter="fade">
                                      <p:cBhvr>
                                        <p:cTn id="36" dur="500"/>
                                        <p:tgtEl>
                                          <p:spTgt spid="10"/>
                                        </p:tgtEl>
                                      </p:cBhvr>
                                    </p:animEffect>
                                  </p:childTnLst>
                                </p:cTn>
                              </p:par>
                              <p:par>
                                <p:cTn id="37" presetID="0" presetClass="entr" presetSubtype="0" fill="hold" grpId="0" nodeType="withEffect">
                                  <p:stCondLst>
                                    <p:cond delay="1200"/>
                                  </p:stCondLst>
                                  <p:iterate type="lt">
                                    <p:tmPct val="10000"/>
                                  </p:iterate>
                                  <p:childTnLst>
                                    <p:set>
                                      <p:cBhvr>
                                        <p:cTn id="38" dur="700" fill="hold">
                                          <p:stCondLst>
                                            <p:cond delay="0"/>
                                          </p:stCondLst>
                                        </p:cTn>
                                        <p:tgtEl>
                                          <p:spTgt spid="20"/>
                                        </p:tgtEl>
                                        <p:attrNameLst>
                                          <p:attrName>style.visibility</p:attrName>
                                        </p:attrNameLst>
                                      </p:cBhvr>
                                      <p:to>
                                        <p:strVal val="visible"/>
                                      </p:to>
                                    </p:set>
                                    <p:animEffect filter="fade">
                                      <p:cBhvr>
                                        <p:cTn id="39" dur="700">
                                          <p:stCondLst>
                                            <p:cond delay="0"/>
                                          </p:stCondLst>
                                        </p:cTn>
                                        <p:tgtEl>
                                          <p:spTgt spid="20"/>
                                        </p:tgtEl>
                                      </p:cBhvr>
                                    </p:animEffect>
                                    <p:anim to="" calcmode="lin" valueType="num">
                                      <p:cBhvr>
                                        <p:cTn id="40" dur="700" fill="hold">
                                          <p:stCondLst>
                                            <p:cond delay="0"/>
                                          </p:stCondLst>
                                        </p:cTn>
                                        <p:tgtEl>
                                          <p:spTgt spid="20"/>
                                        </p:tgtEl>
                                        <p:attrNameLst>
                                          <p:attrName>ppt_y</p:attrName>
                                        </p:attrNameLst>
                                      </p:cBhvr>
                                      <p:tavLst>
                                        <p:tav tm="0" fmla="#ppt_y-#ppt_h*((1.5-1.5*$)^2-(1.5-1.5*$)^3)">
                                          <p:val>
                                            <p:fltVal val="0"/>
                                          </p:val>
                                        </p:tav>
                                        <p:tav tm="100000">
                                          <p:val>
                                            <p:fltVal val="1"/>
                                          </p:val>
                                        </p:tav>
                                      </p:tavLst>
                                    </p:anim>
                                  </p:childTnLst>
                                </p:cTn>
                              </p:par>
                              <p:par>
                                <p:cTn id="41" presetID="0" presetClass="entr" presetSubtype="0" fill="hold" grpId="0" nodeType="withEffect">
                                  <p:stCondLst>
                                    <p:cond delay="1200"/>
                                  </p:stCondLst>
                                  <p:iterate type="lt">
                                    <p:tmPct val="10000"/>
                                  </p:iterate>
                                  <p:childTnLst>
                                    <p:set>
                                      <p:cBhvr>
                                        <p:cTn id="42" dur="700" fill="hold">
                                          <p:stCondLst>
                                            <p:cond delay="0"/>
                                          </p:stCondLst>
                                        </p:cTn>
                                        <p:tgtEl>
                                          <p:spTgt spid="21"/>
                                        </p:tgtEl>
                                        <p:attrNameLst>
                                          <p:attrName>style.visibility</p:attrName>
                                        </p:attrNameLst>
                                      </p:cBhvr>
                                      <p:to>
                                        <p:strVal val="visible"/>
                                      </p:to>
                                    </p:set>
                                    <p:animEffect filter="fade">
                                      <p:cBhvr>
                                        <p:cTn id="43" dur="700">
                                          <p:stCondLst>
                                            <p:cond delay="0"/>
                                          </p:stCondLst>
                                        </p:cTn>
                                        <p:tgtEl>
                                          <p:spTgt spid="21"/>
                                        </p:tgtEl>
                                      </p:cBhvr>
                                    </p:animEffect>
                                    <p:anim to="" calcmode="lin" valueType="num">
                                      <p:cBhvr>
                                        <p:cTn id="44" dur="700" fill="hold">
                                          <p:stCondLst>
                                            <p:cond delay="0"/>
                                          </p:stCondLst>
                                        </p:cTn>
                                        <p:tgtEl>
                                          <p:spTgt spid="21"/>
                                        </p:tgtEl>
                                        <p:attrNameLst>
                                          <p:attrName>ppt_y</p:attrName>
                                        </p:attrNameLst>
                                      </p:cBhvr>
                                      <p:tavLst>
                                        <p:tav tm="0" fmla="#ppt_y-#ppt_h*((1.5-1.5*$)^2-(1.5-1.5*$)^3)">
                                          <p:val>
                                            <p:fltVal val="0"/>
                                          </p:val>
                                        </p:tav>
                                        <p:tav tm="100000">
                                          <p:val>
                                            <p:fltVal val="1"/>
                                          </p:val>
                                        </p:tav>
                                      </p:tavLst>
                                    </p:anim>
                                  </p:childTnLst>
                                </p:cTn>
                              </p:par>
                              <p:par>
                                <p:cTn id="45" presetID="0" presetClass="entr" presetSubtype="0" fill="hold" grpId="0" nodeType="withEffect">
                                  <p:stCondLst>
                                    <p:cond delay="1200"/>
                                  </p:stCondLst>
                                  <p:iterate type="lt">
                                    <p:tmPct val="10000"/>
                                  </p:iterate>
                                  <p:childTnLst>
                                    <p:set>
                                      <p:cBhvr>
                                        <p:cTn id="46" dur="700" fill="hold">
                                          <p:stCondLst>
                                            <p:cond delay="0"/>
                                          </p:stCondLst>
                                        </p:cTn>
                                        <p:tgtEl>
                                          <p:spTgt spid="24"/>
                                        </p:tgtEl>
                                        <p:attrNameLst>
                                          <p:attrName>style.visibility</p:attrName>
                                        </p:attrNameLst>
                                      </p:cBhvr>
                                      <p:to>
                                        <p:strVal val="visible"/>
                                      </p:to>
                                    </p:set>
                                    <p:animEffect filter="fade">
                                      <p:cBhvr>
                                        <p:cTn id="47" dur="700">
                                          <p:stCondLst>
                                            <p:cond delay="0"/>
                                          </p:stCondLst>
                                        </p:cTn>
                                        <p:tgtEl>
                                          <p:spTgt spid="24"/>
                                        </p:tgtEl>
                                      </p:cBhvr>
                                    </p:animEffect>
                                    <p:anim to="" calcmode="lin" valueType="num">
                                      <p:cBhvr>
                                        <p:cTn id="48" dur="700" fill="hold">
                                          <p:stCondLst>
                                            <p:cond delay="0"/>
                                          </p:stCondLst>
                                        </p:cTn>
                                        <p:tgtEl>
                                          <p:spTgt spid="24"/>
                                        </p:tgtEl>
                                        <p:attrNameLst>
                                          <p:attrName>ppt_y</p:attrName>
                                        </p:attrNameLst>
                                      </p:cBhvr>
                                      <p:tavLst>
                                        <p:tav tm="0" fmla="#ppt_y-#ppt_h*((1.5-1.5*$)^2-(1.5-1.5*$)^3)">
                                          <p:val>
                                            <p:fltVal val="0"/>
                                          </p:val>
                                        </p:tav>
                                        <p:tav tm="100000">
                                          <p:val>
                                            <p:fltVal val="1"/>
                                          </p:val>
                                        </p:tav>
                                      </p:tavLst>
                                    </p:anim>
                                  </p:childTnLst>
                                </p:cTn>
                              </p:par>
                              <p:par>
                                <p:cTn id="49" presetID="0" presetClass="entr" presetSubtype="0" fill="hold" grpId="0" nodeType="withEffect">
                                  <p:stCondLst>
                                    <p:cond delay="1200"/>
                                  </p:stCondLst>
                                  <p:iterate type="lt">
                                    <p:tmPct val="10000"/>
                                  </p:iterate>
                                  <p:childTnLst>
                                    <p:set>
                                      <p:cBhvr>
                                        <p:cTn id="50" dur="700" fill="hold">
                                          <p:stCondLst>
                                            <p:cond delay="0"/>
                                          </p:stCondLst>
                                        </p:cTn>
                                        <p:tgtEl>
                                          <p:spTgt spid="28"/>
                                        </p:tgtEl>
                                        <p:attrNameLst>
                                          <p:attrName>style.visibility</p:attrName>
                                        </p:attrNameLst>
                                      </p:cBhvr>
                                      <p:to>
                                        <p:strVal val="visible"/>
                                      </p:to>
                                    </p:set>
                                    <p:animEffect filter="fade">
                                      <p:cBhvr>
                                        <p:cTn id="51" dur="700">
                                          <p:stCondLst>
                                            <p:cond delay="0"/>
                                          </p:stCondLst>
                                        </p:cTn>
                                        <p:tgtEl>
                                          <p:spTgt spid="28"/>
                                        </p:tgtEl>
                                      </p:cBhvr>
                                    </p:animEffect>
                                    <p:anim to="" calcmode="lin" valueType="num">
                                      <p:cBhvr>
                                        <p:cTn id="52" dur="700" fill="hold">
                                          <p:stCondLst>
                                            <p:cond delay="0"/>
                                          </p:stCondLst>
                                        </p:cTn>
                                        <p:tgtEl>
                                          <p:spTgt spid="2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5" grpId="0"/>
      <p:bldP spid="16" grpId="0"/>
      <p:bldP spid="2" grpId="0" animBg="1"/>
      <p:bldP spid="3" grpId="0"/>
      <p:bldP spid="20" grpId="0"/>
      <p:bldP spid="21" grpId="0"/>
      <p:bldP spid="24"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3155992" cy="6857996"/>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H="1">
            <a:off x="9036007" y="1"/>
            <a:ext cx="3155992" cy="6857996"/>
          </a:xfrm>
          <a:prstGeom prst="rect">
            <a:avLst/>
          </a:prstGeom>
        </p:spPr>
      </p:pic>
      <p:sp>
        <p:nvSpPr>
          <p:cNvPr id="10" name="矩形 9"/>
          <p:cNvSpPr/>
          <p:nvPr/>
        </p:nvSpPr>
        <p:spPr>
          <a:xfrm>
            <a:off x="3789921" y="2088188"/>
            <a:ext cx="4612160" cy="1015663"/>
          </a:xfrm>
          <a:prstGeom prst="rect">
            <a:avLst/>
          </a:prstGeom>
        </p:spPr>
        <p:txBody>
          <a:bodyPr wrap="none">
            <a:spAutoFit/>
          </a:bodyPr>
          <a:lstStyle/>
          <a:p>
            <a:pPr algn="ctr"/>
            <a:r>
              <a:rPr lang="en-US" altLang="zh-CN" sz="6000" dirty="0">
                <a:solidFill>
                  <a:srgbClr val="CB3125"/>
                </a:solidFill>
                <a:latin typeface="Azonix" pitchFamily="50" charset="0"/>
              </a:rPr>
              <a:t>INTERNET</a:t>
            </a:r>
            <a:endParaRPr lang="zh-CN" altLang="en-US" sz="6000" dirty="0">
              <a:solidFill>
                <a:srgbClr val="CB3125"/>
              </a:solidFill>
              <a:latin typeface="Azonix" pitchFamily="50" charset="0"/>
            </a:endParaRPr>
          </a:p>
        </p:txBody>
      </p:sp>
      <p:sp>
        <p:nvSpPr>
          <p:cNvPr id="11" name="矩形 10"/>
          <p:cNvSpPr/>
          <p:nvPr/>
        </p:nvSpPr>
        <p:spPr>
          <a:xfrm>
            <a:off x="3038475" y="2904580"/>
            <a:ext cx="6116320" cy="922020"/>
          </a:xfrm>
          <a:prstGeom prst="rect">
            <a:avLst/>
          </a:prstGeom>
        </p:spPr>
        <p:txBody>
          <a:bodyPr wrap="none">
            <a:spAutoFit/>
          </a:bodyPr>
          <a:lstStyle/>
          <a:p>
            <a:pPr algn="ctr"/>
            <a:r>
              <a:rPr lang="en-US" sz="5400" dirty="0">
                <a:solidFill>
                  <a:srgbClr val="2E578B"/>
                </a:solidFill>
                <a:latin typeface="+mj-lt"/>
              </a:rPr>
              <a:t>Photonic for Health</a:t>
            </a:r>
          </a:p>
        </p:txBody>
      </p:sp>
      <p:sp>
        <p:nvSpPr>
          <p:cNvPr id="12" name="矩形 11"/>
          <p:cNvSpPr/>
          <p:nvPr/>
        </p:nvSpPr>
        <p:spPr>
          <a:xfrm>
            <a:off x="3251557" y="4077326"/>
            <a:ext cx="5688886" cy="523220"/>
          </a:xfrm>
          <a:prstGeom prst="rect">
            <a:avLst/>
          </a:prstGeom>
        </p:spPr>
        <p:txBody>
          <a:bodyPr wrap="square">
            <a:spAutoFit/>
          </a:bodyPr>
          <a:lstStyle/>
          <a:p>
            <a:pPr algn="ctr"/>
            <a:r>
              <a:rPr lang="en-US" altLang="zh-CN" sz="1400" dirty="0">
                <a:solidFill>
                  <a:srgbClr val="A9C4B5"/>
                </a:solidFill>
                <a:latin typeface="Calibri" panose="020F0502020204030204" pitchFamily="34" charset="0"/>
                <a:ea typeface="+mj-ea"/>
                <a:cs typeface="Calibri" panose="020F0502020204030204" pitchFamily="34" charset="0"/>
              </a:rPr>
              <a:t>There are many variations of passages available the majority There are many variations of passages available the majority.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61996" y="4859476"/>
            <a:ext cx="13715992" cy="3155992"/>
            <a:chOff x="-1064871" y="3529330"/>
            <a:chExt cx="13715992" cy="3155992"/>
          </a:xfrm>
        </p:grpSpPr>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5400000" flipV="1">
              <a:off x="786131" y="1678328"/>
              <a:ext cx="3155992" cy="6857996"/>
            </a:xfrm>
            <a:prstGeom prst="rect">
              <a:avLst/>
            </a:prstGeom>
          </p:spPr>
        </p:pic>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16200000" flipH="1" flipV="1">
              <a:off x="7644127" y="1678328"/>
              <a:ext cx="3155992" cy="6857996"/>
            </a:xfrm>
            <a:prstGeom prst="rect">
              <a:avLst/>
            </a:prstGeom>
          </p:spPr>
        </p:pic>
      </p:grpSp>
      <p:grpSp>
        <p:nvGrpSpPr>
          <p:cNvPr id="7" name="组合 6"/>
          <p:cNvGrpSpPr/>
          <p:nvPr/>
        </p:nvGrpSpPr>
        <p:grpSpPr>
          <a:xfrm flipV="1">
            <a:off x="-761996" y="-1495025"/>
            <a:ext cx="13715992" cy="3155992"/>
            <a:chOff x="-1064871" y="3529330"/>
            <a:chExt cx="13715992" cy="3155992"/>
          </a:xfrm>
        </p:grpSpPr>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5400000" flipV="1">
              <a:off x="786131" y="1678328"/>
              <a:ext cx="3155992" cy="6857996"/>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16200000" flipH="1" flipV="1">
              <a:off x="7644127" y="1678328"/>
              <a:ext cx="3155992" cy="6857996"/>
            </a:xfrm>
            <a:prstGeom prst="rect">
              <a:avLst/>
            </a:prstGeom>
          </p:spPr>
        </p:pic>
      </p:grpSp>
      <p:sp>
        <p:nvSpPr>
          <p:cNvPr id="10" name="矩形 9"/>
          <p:cNvSpPr/>
          <p:nvPr/>
        </p:nvSpPr>
        <p:spPr>
          <a:xfrm>
            <a:off x="3596054" y="762942"/>
            <a:ext cx="4999895" cy="1015663"/>
          </a:xfrm>
          <a:prstGeom prst="rect">
            <a:avLst/>
          </a:prstGeom>
        </p:spPr>
        <p:txBody>
          <a:bodyPr wrap="none">
            <a:spAutoFit/>
          </a:bodyPr>
          <a:lstStyle/>
          <a:p>
            <a:pPr algn="ctr"/>
            <a:r>
              <a:rPr lang="en-US" altLang="zh-CN" sz="6000">
                <a:solidFill>
                  <a:srgbClr val="CB3125"/>
                </a:solidFill>
                <a:latin typeface="Azonix" pitchFamily="50" charset="0"/>
              </a:rPr>
              <a:t>CONTENTS</a:t>
            </a:r>
            <a:endParaRPr lang="en-US" altLang="zh-CN" sz="6000" dirty="0">
              <a:solidFill>
                <a:srgbClr val="CB3125"/>
              </a:solidFill>
              <a:latin typeface="Azonix" pitchFamily="50" charset="0"/>
            </a:endParaRPr>
          </a:p>
        </p:txBody>
      </p:sp>
      <p:sp>
        <p:nvSpPr>
          <p:cNvPr id="11" name="TextBox 30"/>
          <p:cNvSpPr txBox="1"/>
          <p:nvPr/>
        </p:nvSpPr>
        <p:spPr>
          <a:xfrm>
            <a:off x="942881" y="3686204"/>
            <a:ext cx="2624092" cy="1478546"/>
          </a:xfrm>
          <a:prstGeom prst="rect">
            <a:avLst/>
          </a:prstGeom>
          <a:noFill/>
        </p:spPr>
        <p:txBody>
          <a:bodyPr wrap="square" rtlCol="0">
            <a:spAutoFit/>
          </a:bodyPr>
          <a:lstStyle/>
          <a:p>
            <a:pPr algn="ct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TextBox 30"/>
          <p:cNvSpPr txBox="1"/>
          <p:nvPr/>
        </p:nvSpPr>
        <p:spPr>
          <a:xfrm>
            <a:off x="3503596" y="3686204"/>
            <a:ext cx="2624092" cy="1478546"/>
          </a:xfrm>
          <a:prstGeom prst="rect">
            <a:avLst/>
          </a:prstGeom>
          <a:noFill/>
        </p:spPr>
        <p:txBody>
          <a:bodyPr wrap="square" rtlCol="0">
            <a:spAutoFit/>
          </a:bodyPr>
          <a:lstStyle/>
          <a:p>
            <a:pPr algn="ct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3" name="TextBox 30"/>
          <p:cNvSpPr txBox="1"/>
          <p:nvPr/>
        </p:nvSpPr>
        <p:spPr>
          <a:xfrm>
            <a:off x="6064311" y="3686204"/>
            <a:ext cx="2624092" cy="1478546"/>
          </a:xfrm>
          <a:prstGeom prst="rect">
            <a:avLst/>
          </a:prstGeom>
          <a:noFill/>
        </p:spPr>
        <p:txBody>
          <a:bodyPr wrap="square" rtlCol="0">
            <a:spAutoFit/>
          </a:bodyPr>
          <a:lstStyle/>
          <a:p>
            <a:pPr algn="ct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4" name="TextBox 30"/>
          <p:cNvSpPr txBox="1"/>
          <p:nvPr/>
        </p:nvSpPr>
        <p:spPr>
          <a:xfrm>
            <a:off x="8625027" y="3686204"/>
            <a:ext cx="2624092" cy="1565910"/>
          </a:xfrm>
          <a:prstGeom prst="rect">
            <a:avLst/>
          </a:prstGeom>
          <a:noFill/>
        </p:spPr>
        <p:txBody>
          <a:bodyPr wrap="square" rtlCol="0">
            <a:spAutoFit/>
          </a:bodyPr>
          <a:lstStyle/>
          <a:p>
            <a:pPr algn="ctr">
              <a:lnSpc>
                <a:spcPct val="120000"/>
              </a:lnSpc>
            </a:pPr>
            <a:r>
              <a:rPr lang="en-US" sz="1600" dirty="0">
                <a:solidFill>
                  <a:srgbClr val="2E578B"/>
                </a:solidFill>
                <a:latin typeface="Azonix" pitchFamily="50" charset="0"/>
                <a:ea typeface="Roboto Thin" panose="02000000000000000000" pitchFamily="2" charset="0"/>
                <a:sym typeface="微软雅黑 Light" panose="020B0502040204020203" pitchFamily="34" charset="-122"/>
              </a:rPr>
              <a:t>Refractive index measurement of whole blood and components over a continuous spectrum</a:t>
            </a:r>
          </a:p>
        </p:txBody>
      </p:sp>
      <p:sp>
        <p:nvSpPr>
          <p:cNvPr id="15" name="11"/>
          <p:cNvSpPr/>
          <p:nvPr/>
        </p:nvSpPr>
        <p:spPr bwMode="auto">
          <a:xfrm>
            <a:off x="2043565"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ea typeface="+mn-ea"/>
              </a:rPr>
              <a:t>1</a:t>
            </a:r>
            <a:endParaRPr lang="ru-RU" altLang="ru-RU" sz="1600" dirty="0">
              <a:solidFill>
                <a:schemeClr val="bg1"/>
              </a:solidFill>
              <a:latin typeface="+mj-lt"/>
              <a:ea typeface="+mn-ea"/>
            </a:endParaRPr>
          </a:p>
        </p:txBody>
      </p:sp>
      <p:sp>
        <p:nvSpPr>
          <p:cNvPr id="17" name="11"/>
          <p:cNvSpPr/>
          <p:nvPr/>
        </p:nvSpPr>
        <p:spPr bwMode="auto">
          <a:xfrm>
            <a:off x="4604280"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ea typeface="+mn-ea"/>
              </a:rPr>
              <a:t>2</a:t>
            </a:r>
            <a:endParaRPr lang="ru-RU" altLang="ru-RU" sz="1600" dirty="0">
              <a:solidFill>
                <a:schemeClr val="bg1"/>
              </a:solidFill>
              <a:latin typeface="+mj-lt"/>
              <a:ea typeface="+mn-ea"/>
            </a:endParaRPr>
          </a:p>
        </p:txBody>
      </p:sp>
      <p:sp>
        <p:nvSpPr>
          <p:cNvPr id="18" name="11"/>
          <p:cNvSpPr/>
          <p:nvPr/>
        </p:nvSpPr>
        <p:spPr bwMode="auto">
          <a:xfrm>
            <a:off x="7164995"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ea typeface="+mn-ea"/>
              </a:rPr>
              <a:t>3</a:t>
            </a:r>
            <a:endParaRPr lang="ru-RU" altLang="ru-RU" sz="1600" dirty="0">
              <a:solidFill>
                <a:schemeClr val="bg1"/>
              </a:solidFill>
              <a:latin typeface="+mj-lt"/>
              <a:ea typeface="+mn-ea"/>
            </a:endParaRPr>
          </a:p>
        </p:txBody>
      </p:sp>
      <p:sp>
        <p:nvSpPr>
          <p:cNvPr id="19" name="11"/>
          <p:cNvSpPr/>
          <p:nvPr/>
        </p:nvSpPr>
        <p:spPr bwMode="auto">
          <a:xfrm>
            <a:off x="9725711"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rPr>
              <a:t>4</a:t>
            </a:r>
            <a:endParaRPr lang="ru-RU" altLang="ru-RU" sz="1600" dirty="0">
              <a:solidFill>
                <a:schemeClr val="bg1"/>
              </a:solidFill>
              <a:latin typeface="+mj-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1"/>
                                        </p:tgtEl>
                                        <p:attrNameLst>
                                          <p:attrName>style.visibility</p:attrName>
                                        </p:attrNameLst>
                                      </p:cBhvr>
                                      <p:to>
                                        <p:strVal val="visible"/>
                                      </p:to>
                                    </p:set>
                                    <p:animEffect filter="fade">
                                      <p:cBhvr>
                                        <p:cTn id="7" dur="700">
                                          <p:stCondLst>
                                            <p:cond delay="0"/>
                                          </p:stCondLst>
                                        </p:cTn>
                                        <p:tgtEl>
                                          <p:spTgt spid="11"/>
                                        </p:tgtEl>
                                      </p:cBhvr>
                                    </p:animEffect>
                                    <p:anim to="" calcmode="lin" valueType="num">
                                      <p:cBhvr>
                                        <p:cTn id="8" dur="700" fill="hold">
                                          <p:stCondLst>
                                            <p:cond delay="0"/>
                                          </p:stCondLst>
                                        </p:cTn>
                                        <p:tgtEl>
                                          <p:spTgt spid="11"/>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2"/>
                                        </p:tgtEl>
                                        <p:attrNameLst>
                                          <p:attrName>style.visibility</p:attrName>
                                        </p:attrNameLst>
                                      </p:cBhvr>
                                      <p:to>
                                        <p:strVal val="visible"/>
                                      </p:to>
                                    </p:set>
                                    <p:animEffect filter="fade">
                                      <p:cBhvr>
                                        <p:cTn id="11" dur="700">
                                          <p:stCondLst>
                                            <p:cond delay="0"/>
                                          </p:stCondLst>
                                        </p:cTn>
                                        <p:tgtEl>
                                          <p:spTgt spid="12"/>
                                        </p:tgtEl>
                                      </p:cBhvr>
                                    </p:animEffect>
                                    <p:anim to="" calcmode="lin" valueType="num">
                                      <p:cBhvr>
                                        <p:cTn id="12" dur="700" fill="hold">
                                          <p:stCondLst>
                                            <p:cond delay="0"/>
                                          </p:stCondLst>
                                        </p:cTn>
                                        <p:tgtEl>
                                          <p:spTgt spid="12"/>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3"/>
                                        </p:tgtEl>
                                        <p:attrNameLst>
                                          <p:attrName>style.visibility</p:attrName>
                                        </p:attrNameLst>
                                      </p:cBhvr>
                                      <p:to>
                                        <p:strVal val="visible"/>
                                      </p:to>
                                    </p:set>
                                    <p:animEffect filter="fade">
                                      <p:cBhvr>
                                        <p:cTn id="15" dur="700">
                                          <p:stCondLst>
                                            <p:cond delay="0"/>
                                          </p:stCondLst>
                                        </p:cTn>
                                        <p:tgtEl>
                                          <p:spTgt spid="13"/>
                                        </p:tgtEl>
                                      </p:cBhvr>
                                    </p:animEffect>
                                    <p:anim to="" calcmode="lin" valueType="num">
                                      <p:cBhvr>
                                        <p:cTn id="16" dur="700" fill="hold">
                                          <p:stCondLst>
                                            <p:cond delay="0"/>
                                          </p:stCondLst>
                                        </p:cTn>
                                        <p:tgtEl>
                                          <p:spTgt spid="13"/>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14"/>
                                        </p:tgtEl>
                                        <p:attrNameLst>
                                          <p:attrName>style.visibility</p:attrName>
                                        </p:attrNameLst>
                                      </p:cBhvr>
                                      <p:to>
                                        <p:strVal val="visible"/>
                                      </p:to>
                                    </p:set>
                                    <p:animEffect filter="fade">
                                      <p:cBhvr>
                                        <p:cTn id="19" dur="700">
                                          <p:stCondLst>
                                            <p:cond delay="0"/>
                                          </p:stCondLst>
                                        </p:cTn>
                                        <p:tgtEl>
                                          <p:spTgt spid="14"/>
                                        </p:tgtEl>
                                      </p:cBhvr>
                                    </p:animEffect>
                                    <p:anim to="" calcmode="lin" valueType="num">
                                      <p:cBhvr>
                                        <p:cTn id="20" dur="700" fill="hold">
                                          <p:stCondLst>
                                            <p:cond delay="0"/>
                                          </p:stCondLst>
                                        </p:cTn>
                                        <p:tgtEl>
                                          <p:spTgt spid="14"/>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1</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035348"/>
          </a:xfrm>
          <a:prstGeom prst="rect">
            <a:avLst/>
          </a:prstGeom>
          <a:noFill/>
        </p:spPr>
        <p:txBody>
          <a:bodyPr wrap="square" rtlCol="0">
            <a:spAutoFit/>
          </a:bodyPr>
          <a:lstStyle/>
          <a:p>
            <a:pP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8" name="直接连接符 7"/>
          <p:cNvCxnSpPr/>
          <p:nvPr/>
        </p:nvCxnSpPr>
        <p:spPr>
          <a:xfrm>
            <a:off x="1356081" y="4313199"/>
            <a:ext cx="693336" cy="0"/>
          </a:xfrm>
          <a:prstGeom prst="line">
            <a:avLst/>
          </a:prstGeom>
          <a:ln w="12700">
            <a:solidFill>
              <a:srgbClr val="2E578B"/>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244543" y="4692134"/>
            <a:ext cx="3246177" cy="894732"/>
          </a:xfrm>
          <a:prstGeom prst="rect">
            <a:avLst/>
          </a:prstGeom>
        </p:spPr>
        <p:txBody>
          <a:bodyPr wrap="square">
            <a:spAutoFit/>
          </a:bodyPr>
          <a:lstStyle/>
          <a:p>
            <a:pP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11" name="矩形 10"/>
          <p:cNvSpPr/>
          <p:nvPr/>
        </p:nvSpPr>
        <p:spPr>
          <a:xfrm>
            <a:off x="1244543" y="2800174"/>
            <a:ext cx="2067618" cy="1277144"/>
          </a:xfrm>
          <a:prstGeom prst="rect">
            <a:avLst/>
          </a:prstGeom>
        </p:spPr>
        <p:txBody>
          <a:bodyPr wrap="square">
            <a:spAutoFit/>
          </a:bodyPr>
          <a:lstStyle/>
          <a:p>
            <a:pP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
        <p:nvSpPr>
          <p:cNvPr id="12" name="矩形 11"/>
          <p:cNvSpPr/>
          <p:nvPr/>
        </p:nvSpPr>
        <p:spPr>
          <a:xfrm>
            <a:off x="7747279" y="2682910"/>
            <a:ext cx="3788229" cy="1758461"/>
          </a:xfrm>
          <a:prstGeom prst="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7908052" y="1477108"/>
            <a:ext cx="385042" cy="984885"/>
          </a:xfrm>
          <a:prstGeom prst="rect">
            <a:avLst/>
          </a:prstGeom>
          <a:noFill/>
        </p:spPr>
        <p:txBody>
          <a:bodyPr wrap="none" rtlCol="0">
            <a:spAutoFit/>
          </a:bodyPr>
          <a:lstStyle/>
          <a:p>
            <a:r>
              <a:rPr lang="en-US" altLang="zh-CN" sz="5800" dirty="0">
                <a:solidFill>
                  <a:srgbClr val="2E578B"/>
                </a:solidFill>
                <a:latin typeface="+mj-lt"/>
              </a:rPr>
              <a:t>1</a:t>
            </a:r>
            <a:endParaRPr lang="zh-CN" altLang="en-US" sz="5800" dirty="0">
              <a:solidFill>
                <a:srgbClr val="2E578B"/>
              </a:solidFill>
              <a:latin typeface="+mj-lt"/>
            </a:endParaRPr>
          </a:p>
        </p:txBody>
      </p:sp>
      <p:sp>
        <p:nvSpPr>
          <p:cNvPr id="14" name="文本框 13"/>
          <p:cNvSpPr txBox="1"/>
          <p:nvPr/>
        </p:nvSpPr>
        <p:spPr>
          <a:xfrm>
            <a:off x="7908052" y="3106616"/>
            <a:ext cx="482824" cy="984885"/>
          </a:xfrm>
          <a:prstGeom prst="rect">
            <a:avLst/>
          </a:prstGeom>
          <a:noFill/>
        </p:spPr>
        <p:txBody>
          <a:bodyPr wrap="none" rtlCol="0">
            <a:spAutoFit/>
          </a:bodyPr>
          <a:lstStyle/>
          <a:p>
            <a:r>
              <a:rPr lang="en-US" altLang="zh-CN" sz="5800" dirty="0">
                <a:solidFill>
                  <a:schemeClr val="bg1"/>
                </a:solidFill>
                <a:latin typeface="+mj-lt"/>
              </a:rPr>
              <a:t>2</a:t>
            </a:r>
            <a:endParaRPr lang="zh-CN" altLang="en-US" sz="5800" dirty="0">
              <a:solidFill>
                <a:schemeClr val="bg1"/>
              </a:solidFill>
              <a:latin typeface="+mj-lt"/>
            </a:endParaRPr>
          </a:p>
        </p:txBody>
      </p:sp>
      <p:sp>
        <p:nvSpPr>
          <p:cNvPr id="15" name="文本框 14"/>
          <p:cNvSpPr txBox="1"/>
          <p:nvPr/>
        </p:nvSpPr>
        <p:spPr>
          <a:xfrm>
            <a:off x="7908052" y="4736124"/>
            <a:ext cx="479618" cy="984885"/>
          </a:xfrm>
          <a:prstGeom prst="rect">
            <a:avLst/>
          </a:prstGeom>
          <a:noFill/>
        </p:spPr>
        <p:txBody>
          <a:bodyPr wrap="none" rtlCol="0">
            <a:spAutoFit/>
          </a:bodyPr>
          <a:lstStyle/>
          <a:p>
            <a:r>
              <a:rPr lang="en-US" altLang="zh-CN" sz="5800" dirty="0">
                <a:solidFill>
                  <a:srgbClr val="2E578B"/>
                </a:solidFill>
                <a:latin typeface="+mj-lt"/>
              </a:rPr>
              <a:t>3</a:t>
            </a:r>
            <a:endParaRPr lang="zh-CN" altLang="en-US" sz="5800" dirty="0">
              <a:solidFill>
                <a:srgbClr val="2E578B"/>
              </a:solidFill>
              <a:latin typeface="+mj-lt"/>
            </a:endParaRPr>
          </a:p>
        </p:txBody>
      </p:sp>
      <p:sp>
        <p:nvSpPr>
          <p:cNvPr id="16" name="TextBox 30"/>
          <p:cNvSpPr txBox="1"/>
          <p:nvPr/>
        </p:nvSpPr>
        <p:spPr>
          <a:xfrm>
            <a:off x="8493469" y="1515572"/>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7" name="TextBox 30"/>
          <p:cNvSpPr txBox="1"/>
          <p:nvPr/>
        </p:nvSpPr>
        <p:spPr>
          <a:xfrm>
            <a:off x="8493469" y="3223466"/>
            <a:ext cx="2641891" cy="817468"/>
          </a:xfrm>
          <a:prstGeom prst="rect">
            <a:avLst/>
          </a:prstGeom>
          <a:noFill/>
        </p:spPr>
        <p:txBody>
          <a:bodyPr wrap="square" rtlCol="0">
            <a:spAutoFit/>
          </a:bodyPr>
          <a:lstStyle/>
          <a:p>
            <a:pPr>
              <a:lnSpc>
                <a:spcPct val="120000"/>
              </a:lnSpc>
            </a:pPr>
            <a:r>
              <a:rPr lang="en-US" dirty="0">
                <a:solidFill>
                  <a:schemeClr val="bg1"/>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chemeClr val="bg1"/>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8" name="TextBox 30"/>
          <p:cNvSpPr txBox="1"/>
          <p:nvPr/>
        </p:nvSpPr>
        <p:spPr>
          <a:xfrm>
            <a:off x="8493469" y="4778400"/>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grpSp>
        <p:nvGrpSpPr>
          <p:cNvPr id="21" name="组合 20"/>
          <p:cNvGrpSpPr/>
          <p:nvPr/>
        </p:nvGrpSpPr>
        <p:grpSpPr>
          <a:xfrm>
            <a:off x="3548328" y="1700788"/>
            <a:ext cx="2547672" cy="3315979"/>
            <a:chOff x="3661332" y="948702"/>
            <a:chExt cx="3161407" cy="4114799"/>
          </a:xfrm>
        </p:grpSpPr>
        <p:sp>
          <p:nvSpPr>
            <p:cNvPr id="19" name="矩形 18"/>
            <p:cNvSpPr/>
            <p:nvPr/>
          </p:nvSpPr>
          <p:spPr>
            <a:xfrm>
              <a:off x="5114946" y="3086372"/>
              <a:ext cx="1707793" cy="1977129"/>
            </a:xfrm>
            <a:prstGeom prst="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pic>
          <p:nvPicPr>
            <p:cNvPr id="20" name="图片 19"/>
            <p:cNvPicPr>
              <a:picLocks noChangeAspect="1"/>
            </p:cNvPicPr>
            <p:nvPr/>
          </p:nvPicPr>
          <p:blipFill rotWithShape="1">
            <a:blip r:embed="rId3">
              <a:extLst>
                <a:ext uri="{28A0092B-C50C-407E-A947-70E740481C1C}">
                  <a14:useLocalDpi xmlns:a14="http://schemas.microsoft.com/office/drawing/2010/main" val="0"/>
                </a:ext>
              </a:extLst>
            </a:blip>
            <a:srcRect l="50705"/>
            <a:stretch>
              <a:fillRect/>
            </a:stretch>
          </p:blipFill>
          <p:spPr>
            <a:xfrm>
              <a:off x="3661332" y="948702"/>
              <a:ext cx="2738014" cy="370294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6"/>
                                        </p:tgtEl>
                                        <p:attrNameLst>
                                          <p:attrName>style.visibility</p:attrName>
                                        </p:attrNameLst>
                                      </p:cBhvr>
                                      <p:to>
                                        <p:strVal val="visible"/>
                                      </p:to>
                                    </p:set>
                                    <p:animEffect filter="fade">
                                      <p:cBhvr>
                                        <p:cTn id="7" dur="700">
                                          <p:stCondLst>
                                            <p:cond delay="0"/>
                                          </p:stCondLst>
                                        </p:cTn>
                                        <p:tgtEl>
                                          <p:spTgt spid="16"/>
                                        </p:tgtEl>
                                      </p:cBhvr>
                                    </p:animEffect>
                                    <p:anim to="" calcmode="lin" valueType="num">
                                      <p:cBhvr>
                                        <p:cTn id="8"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7"/>
                                        </p:tgtEl>
                                        <p:attrNameLst>
                                          <p:attrName>style.visibility</p:attrName>
                                        </p:attrNameLst>
                                      </p:cBhvr>
                                      <p:to>
                                        <p:strVal val="visible"/>
                                      </p:to>
                                    </p:set>
                                    <p:animEffect filter="fade">
                                      <p:cBhvr>
                                        <p:cTn id="11" dur="700">
                                          <p:stCondLst>
                                            <p:cond delay="0"/>
                                          </p:stCondLst>
                                        </p:cTn>
                                        <p:tgtEl>
                                          <p:spTgt spid="17"/>
                                        </p:tgtEl>
                                      </p:cBhvr>
                                    </p:animEffect>
                                    <p:anim to="" calcmode="lin" valueType="num">
                                      <p:cBhvr>
                                        <p:cTn id="12"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8"/>
                                        </p:tgtEl>
                                        <p:attrNameLst>
                                          <p:attrName>style.visibility</p:attrName>
                                        </p:attrNameLst>
                                      </p:cBhvr>
                                      <p:to>
                                        <p:strVal val="visible"/>
                                      </p:to>
                                    </p:set>
                                    <p:animEffect filter="fade">
                                      <p:cBhvr>
                                        <p:cTn id="15" dur="700">
                                          <p:stCondLst>
                                            <p:cond delay="0"/>
                                          </p:stCondLst>
                                        </p:cTn>
                                        <p:tgtEl>
                                          <p:spTgt spid="18"/>
                                        </p:tgtEl>
                                      </p:cBhvr>
                                    </p:animEffect>
                                    <p:anim to="" calcmode="lin" valueType="num">
                                      <p:cBhvr>
                                        <p:cTn id="16"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任意多边形: 形状 6"/>
          <p:cNvSpPr/>
          <p:nvPr/>
        </p:nvSpPr>
        <p:spPr>
          <a:xfrm>
            <a:off x="4713633" y="2254627"/>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nvSpPr>
        <p:spPr>
          <a:xfrm>
            <a:off x="6182367" y="3733409"/>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flipV="1">
            <a:off x="6182367" y="2249484"/>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flipV="1">
            <a:off x="4713633" y="3733409"/>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588955" y="2405041"/>
            <a:ext cx="482824" cy="984885"/>
          </a:xfrm>
          <a:prstGeom prst="rect">
            <a:avLst/>
          </a:prstGeom>
          <a:noFill/>
        </p:spPr>
        <p:txBody>
          <a:bodyPr wrap="none" rtlCol="0">
            <a:spAutoFit/>
          </a:bodyPr>
          <a:lstStyle/>
          <a:p>
            <a:pPr algn="ctr"/>
            <a:r>
              <a:rPr lang="en-US" altLang="zh-CN" sz="5800" dirty="0">
                <a:solidFill>
                  <a:schemeClr val="bg1"/>
                </a:solidFill>
                <a:latin typeface="+mj-lt"/>
              </a:rPr>
              <a:t>2</a:t>
            </a:r>
            <a:endParaRPr lang="zh-CN" altLang="en-US" sz="5800" dirty="0">
              <a:solidFill>
                <a:schemeClr val="bg1"/>
              </a:solidFill>
              <a:latin typeface="+mj-lt"/>
            </a:endParaRPr>
          </a:p>
        </p:txBody>
      </p:sp>
      <p:sp>
        <p:nvSpPr>
          <p:cNvPr id="12" name="文本框 11"/>
          <p:cNvSpPr txBox="1"/>
          <p:nvPr/>
        </p:nvSpPr>
        <p:spPr>
          <a:xfrm>
            <a:off x="6588955" y="3888966"/>
            <a:ext cx="482824" cy="984885"/>
          </a:xfrm>
          <a:prstGeom prst="rect">
            <a:avLst/>
          </a:prstGeom>
          <a:noFill/>
        </p:spPr>
        <p:txBody>
          <a:bodyPr wrap="none" rtlCol="0">
            <a:spAutoFit/>
          </a:bodyPr>
          <a:lstStyle/>
          <a:p>
            <a:pPr algn="ctr"/>
            <a:r>
              <a:rPr lang="en-US" altLang="zh-CN" sz="5800" dirty="0">
                <a:solidFill>
                  <a:schemeClr val="bg1"/>
                </a:solidFill>
                <a:latin typeface="+mj-lt"/>
              </a:rPr>
              <a:t>3</a:t>
            </a:r>
            <a:endParaRPr lang="zh-CN" altLang="en-US" sz="5800" dirty="0">
              <a:solidFill>
                <a:schemeClr val="bg1"/>
              </a:solidFill>
              <a:latin typeface="+mj-lt"/>
            </a:endParaRPr>
          </a:p>
        </p:txBody>
      </p:sp>
      <p:sp>
        <p:nvSpPr>
          <p:cNvPr id="13" name="文本框 12"/>
          <p:cNvSpPr txBox="1"/>
          <p:nvPr/>
        </p:nvSpPr>
        <p:spPr>
          <a:xfrm>
            <a:off x="5120221" y="3888966"/>
            <a:ext cx="506870" cy="984885"/>
          </a:xfrm>
          <a:prstGeom prst="rect">
            <a:avLst/>
          </a:prstGeom>
          <a:noFill/>
        </p:spPr>
        <p:txBody>
          <a:bodyPr wrap="none" rtlCol="0">
            <a:spAutoFit/>
          </a:bodyPr>
          <a:lstStyle/>
          <a:p>
            <a:pPr algn="ctr"/>
            <a:r>
              <a:rPr lang="en-US" altLang="zh-CN" sz="5800" dirty="0">
                <a:solidFill>
                  <a:schemeClr val="bg1"/>
                </a:solidFill>
                <a:latin typeface="+mj-lt"/>
              </a:rPr>
              <a:t>4</a:t>
            </a:r>
            <a:endParaRPr lang="zh-CN" altLang="en-US" sz="5800" dirty="0">
              <a:solidFill>
                <a:schemeClr val="bg1"/>
              </a:solidFill>
              <a:latin typeface="+mj-lt"/>
            </a:endParaRPr>
          </a:p>
        </p:txBody>
      </p:sp>
      <p:sp>
        <p:nvSpPr>
          <p:cNvPr id="14" name="文本框 13"/>
          <p:cNvSpPr txBox="1"/>
          <p:nvPr/>
        </p:nvSpPr>
        <p:spPr>
          <a:xfrm>
            <a:off x="5120221" y="2444115"/>
            <a:ext cx="385042" cy="984885"/>
          </a:xfrm>
          <a:prstGeom prst="rect">
            <a:avLst/>
          </a:prstGeom>
          <a:noFill/>
        </p:spPr>
        <p:txBody>
          <a:bodyPr wrap="none" rtlCol="0">
            <a:spAutoFit/>
          </a:bodyPr>
          <a:lstStyle/>
          <a:p>
            <a:pPr algn="ctr"/>
            <a:r>
              <a:rPr lang="en-US" altLang="zh-CN" sz="5800" dirty="0">
                <a:solidFill>
                  <a:schemeClr val="bg1"/>
                </a:solidFill>
                <a:latin typeface="+mj-lt"/>
              </a:rPr>
              <a:t>1</a:t>
            </a:r>
            <a:endParaRPr lang="zh-CN" altLang="en-US" sz="5800" dirty="0">
              <a:solidFill>
                <a:schemeClr val="bg1"/>
              </a:solidFill>
              <a:latin typeface="+mj-lt"/>
            </a:endParaRPr>
          </a:p>
        </p:txBody>
      </p:sp>
      <p:sp>
        <p:nvSpPr>
          <p:cNvPr id="15" name="TextBox 30"/>
          <p:cNvSpPr txBox="1"/>
          <p:nvPr/>
        </p:nvSpPr>
        <p:spPr>
          <a:xfrm>
            <a:off x="8493469" y="2287245"/>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6" name="TextBox 30"/>
          <p:cNvSpPr txBox="1"/>
          <p:nvPr/>
        </p:nvSpPr>
        <p:spPr>
          <a:xfrm>
            <a:off x="8493469" y="4211941"/>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7" name="TextBox 30"/>
          <p:cNvSpPr txBox="1"/>
          <p:nvPr/>
        </p:nvSpPr>
        <p:spPr>
          <a:xfrm>
            <a:off x="1056640" y="2287245"/>
            <a:ext cx="2641891" cy="817468"/>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8" name="TextBox 30"/>
          <p:cNvSpPr txBox="1"/>
          <p:nvPr/>
        </p:nvSpPr>
        <p:spPr>
          <a:xfrm>
            <a:off x="1056640" y="4211941"/>
            <a:ext cx="2641891" cy="817468"/>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5"/>
                                        </p:tgtEl>
                                        <p:attrNameLst>
                                          <p:attrName>style.visibility</p:attrName>
                                        </p:attrNameLst>
                                      </p:cBhvr>
                                      <p:to>
                                        <p:strVal val="visible"/>
                                      </p:to>
                                    </p:set>
                                    <p:animEffect filter="fade">
                                      <p:cBhvr>
                                        <p:cTn id="7" dur="700">
                                          <p:stCondLst>
                                            <p:cond delay="0"/>
                                          </p:stCondLst>
                                        </p:cTn>
                                        <p:tgtEl>
                                          <p:spTgt spid="15"/>
                                        </p:tgtEl>
                                      </p:cBhvr>
                                    </p:animEffect>
                                    <p:anim to="" calcmode="lin" valueType="num">
                                      <p:cBhvr>
                                        <p:cTn id="8" dur="700" fill="hold">
                                          <p:stCondLst>
                                            <p:cond delay="0"/>
                                          </p:stCondLst>
                                        </p:cTn>
                                        <p:tgtEl>
                                          <p:spTgt spid="15"/>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6"/>
                                        </p:tgtEl>
                                        <p:attrNameLst>
                                          <p:attrName>style.visibility</p:attrName>
                                        </p:attrNameLst>
                                      </p:cBhvr>
                                      <p:to>
                                        <p:strVal val="visible"/>
                                      </p:to>
                                    </p:set>
                                    <p:animEffect filter="fade">
                                      <p:cBhvr>
                                        <p:cTn id="11" dur="700">
                                          <p:stCondLst>
                                            <p:cond delay="0"/>
                                          </p:stCondLst>
                                        </p:cTn>
                                        <p:tgtEl>
                                          <p:spTgt spid="16"/>
                                        </p:tgtEl>
                                      </p:cBhvr>
                                    </p:animEffect>
                                    <p:anim to="" calcmode="lin" valueType="num">
                                      <p:cBhvr>
                                        <p:cTn id="12"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7"/>
                                        </p:tgtEl>
                                        <p:attrNameLst>
                                          <p:attrName>style.visibility</p:attrName>
                                        </p:attrNameLst>
                                      </p:cBhvr>
                                      <p:to>
                                        <p:strVal val="visible"/>
                                      </p:to>
                                    </p:set>
                                    <p:animEffect filter="fade">
                                      <p:cBhvr>
                                        <p:cTn id="15" dur="700">
                                          <p:stCondLst>
                                            <p:cond delay="0"/>
                                          </p:stCondLst>
                                        </p:cTn>
                                        <p:tgtEl>
                                          <p:spTgt spid="17"/>
                                        </p:tgtEl>
                                      </p:cBhvr>
                                    </p:animEffect>
                                    <p:anim to="" calcmode="lin" valueType="num">
                                      <p:cBhvr>
                                        <p:cTn id="16"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18"/>
                                        </p:tgtEl>
                                        <p:attrNameLst>
                                          <p:attrName>style.visibility</p:attrName>
                                        </p:attrNameLst>
                                      </p:cBhvr>
                                      <p:to>
                                        <p:strVal val="visible"/>
                                      </p:to>
                                    </p:set>
                                    <p:animEffect filter="fade">
                                      <p:cBhvr>
                                        <p:cTn id="19" dur="700">
                                          <p:stCondLst>
                                            <p:cond delay="0"/>
                                          </p:stCondLst>
                                        </p:cTn>
                                        <p:tgtEl>
                                          <p:spTgt spid="18"/>
                                        </p:tgtEl>
                                      </p:cBhvr>
                                    </p:animEffect>
                                    <p:anim to="" calcmode="lin" valueType="num">
                                      <p:cBhvr>
                                        <p:cTn id="20"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Freeform: Shape 22"/>
          <p:cNvSpPr/>
          <p:nvPr/>
        </p:nvSpPr>
        <p:spPr>
          <a:xfrm>
            <a:off x="6870298" y="4374774"/>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4</a:t>
            </a:r>
          </a:p>
        </p:txBody>
      </p:sp>
      <p:sp>
        <p:nvSpPr>
          <p:cNvPr id="8" name="Freeform: Shape 21"/>
          <p:cNvSpPr/>
          <p:nvPr/>
        </p:nvSpPr>
        <p:spPr>
          <a:xfrm>
            <a:off x="7345620" y="3329707"/>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3</a:t>
            </a:r>
          </a:p>
        </p:txBody>
      </p:sp>
      <p:sp>
        <p:nvSpPr>
          <p:cNvPr id="9" name="Freeform: Shape 20"/>
          <p:cNvSpPr/>
          <p:nvPr/>
        </p:nvSpPr>
        <p:spPr>
          <a:xfrm>
            <a:off x="6870298" y="2284639"/>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2</a:t>
            </a:r>
          </a:p>
        </p:txBody>
      </p:sp>
      <p:sp>
        <p:nvSpPr>
          <p:cNvPr id="10" name="Freeform: Shape 19"/>
          <p:cNvSpPr/>
          <p:nvPr/>
        </p:nvSpPr>
        <p:spPr>
          <a:xfrm>
            <a:off x="6235404" y="1533635"/>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1</a:t>
            </a:r>
          </a:p>
        </p:txBody>
      </p:sp>
      <p:sp>
        <p:nvSpPr>
          <p:cNvPr id="11" name="Freeform: Shape 23"/>
          <p:cNvSpPr/>
          <p:nvPr/>
        </p:nvSpPr>
        <p:spPr>
          <a:xfrm>
            <a:off x="6235404" y="5103724"/>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5</a:t>
            </a:r>
          </a:p>
        </p:txBody>
      </p:sp>
      <p:grpSp>
        <p:nvGrpSpPr>
          <p:cNvPr id="12" name="千图PPT彼岸天：ID 8661124库_组合 1"/>
          <p:cNvGrpSpPr/>
          <p:nvPr>
            <p:custDataLst>
              <p:tags r:id="rId1"/>
            </p:custDataLst>
          </p:nvPr>
        </p:nvGrpSpPr>
        <p:grpSpPr>
          <a:xfrm>
            <a:off x="660399" y="1968156"/>
            <a:ext cx="6374901" cy="3335897"/>
            <a:chOff x="537145" y="1962568"/>
            <a:chExt cx="6374901" cy="3335897"/>
          </a:xfrm>
        </p:grpSpPr>
        <p:grpSp>
          <p:nvGrpSpPr>
            <p:cNvPr id="13" name="Group 4"/>
            <p:cNvGrpSpPr/>
            <p:nvPr/>
          </p:nvGrpSpPr>
          <p:grpSpPr>
            <a:xfrm>
              <a:off x="537145" y="2661057"/>
              <a:ext cx="2834157" cy="1939088"/>
              <a:chOff x="723909" y="2661057"/>
              <a:chExt cx="3201692" cy="1939088"/>
            </a:xfrm>
          </p:grpSpPr>
          <p:sp>
            <p:nvSpPr>
              <p:cNvPr id="29" name="Rectangle: Rounded Corners 5"/>
              <p:cNvSpPr/>
              <p:nvPr/>
            </p:nvSpPr>
            <p:spPr>
              <a:xfrm>
                <a:off x="1443251" y="4111193"/>
                <a:ext cx="2104692" cy="488952"/>
              </a:xfrm>
              <a:prstGeom prst="roundRect">
                <a:avLst>
                  <a:gd name="adj" fmla="val 50000"/>
                </a:avLst>
              </a:prstGeom>
              <a:solidFill>
                <a:srgbClr val="2E578B"/>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44%</a:t>
                </a:r>
              </a:p>
            </p:txBody>
          </p:sp>
          <p:sp>
            <p:nvSpPr>
              <p:cNvPr id="30" name="Rectangle: Rounded Corners 6"/>
              <p:cNvSpPr/>
              <p:nvPr/>
            </p:nvSpPr>
            <p:spPr>
              <a:xfrm>
                <a:off x="723909" y="3636600"/>
                <a:ext cx="2853370" cy="488951"/>
              </a:xfrm>
              <a:prstGeom prst="roundRect">
                <a:avLst>
                  <a:gd name="adj" fmla="val 50000"/>
                </a:avLst>
              </a:prstGeom>
              <a:solidFill>
                <a:srgbClr val="CB3125"/>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56%</a:t>
                </a:r>
              </a:p>
            </p:txBody>
          </p:sp>
          <p:sp>
            <p:nvSpPr>
              <p:cNvPr id="31" name="Rectangle: Rounded Corners 7"/>
              <p:cNvSpPr/>
              <p:nvPr/>
            </p:nvSpPr>
            <p:spPr>
              <a:xfrm>
                <a:off x="1545463" y="3144679"/>
                <a:ext cx="2158444" cy="488951"/>
              </a:xfrm>
              <a:prstGeom prst="roundRect">
                <a:avLst>
                  <a:gd name="adj" fmla="val 50000"/>
                </a:avLst>
              </a:prstGeom>
              <a:solidFill>
                <a:srgbClr val="2E578B"/>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35%</a:t>
                </a:r>
              </a:p>
            </p:txBody>
          </p:sp>
          <p:sp>
            <p:nvSpPr>
              <p:cNvPr id="32" name="Rectangle: Rounded Corners 8"/>
              <p:cNvSpPr/>
              <p:nvPr/>
            </p:nvSpPr>
            <p:spPr>
              <a:xfrm>
                <a:off x="2135113" y="2661057"/>
                <a:ext cx="1790488" cy="488951"/>
              </a:xfrm>
              <a:prstGeom prst="roundRect">
                <a:avLst>
                  <a:gd name="adj" fmla="val 50000"/>
                </a:avLst>
              </a:prstGeom>
              <a:solidFill>
                <a:srgbClr val="CB3125"/>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dirty="0">
                    <a:solidFill>
                      <a:schemeClr val="bg1"/>
                    </a:solidFill>
                    <a:latin typeface="+mj-lt"/>
                    <a:ea typeface="方正黑体简体" panose="02000000000000000000" pitchFamily="2" charset="-122"/>
                    <a:sym typeface="方正黑体简体" panose="02000000000000000000" pitchFamily="2" charset="-122"/>
                  </a:rPr>
                  <a:t>23%</a:t>
                </a:r>
              </a:p>
            </p:txBody>
          </p:sp>
        </p:grpSp>
        <p:sp useBgFill="1">
          <p:nvSpPr>
            <p:cNvPr id="14" name="Freeform: Shape 9"/>
            <p:cNvSpPr/>
            <p:nvPr/>
          </p:nvSpPr>
          <p:spPr>
            <a:xfrm>
              <a:off x="2478354" y="1962568"/>
              <a:ext cx="3335896" cy="333589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2700" cap="flat">
              <a:solidFill>
                <a:srgbClr val="CB3125"/>
              </a:solidFill>
              <a:miter lim="400000"/>
            </a:ln>
            <a:effectLst/>
          </p:spPr>
          <p:txBody>
            <a:bodyPr anchor="ctr"/>
            <a:lstStyle/>
            <a:p>
              <a:pPr algn="ctr"/>
              <a:endParaRPr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5" name="Freeform: Shape 10"/>
            <p:cNvSpPr/>
            <p:nvPr/>
          </p:nvSpPr>
          <p:spPr>
            <a:xfrm>
              <a:off x="2676982" y="2161197"/>
              <a:ext cx="2938660" cy="293866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blipFill>
              <a:blip r:embed="rId4"/>
              <a:stretch>
                <a:fillRect l="-16648" t="-1" r="-16504" b="-1"/>
              </a:stretch>
            </a:blipFill>
            <a:ln w="12700" cap="flat">
              <a:noFill/>
              <a:miter lim="400000"/>
            </a:ln>
            <a:effectLst/>
          </p:spPr>
          <p:txBody>
            <a:bodyPr anchor="ctr"/>
            <a:lstStyle/>
            <a:p>
              <a:pPr algn="ctr"/>
              <a:endParaRPr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6" name="Freeform: Shape 16"/>
            <p:cNvSpPr/>
            <p:nvPr/>
          </p:nvSpPr>
          <p:spPr>
            <a:xfrm>
              <a:off x="4881090" y="2197949"/>
              <a:ext cx="122913" cy="12291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Freeform: Shape 17"/>
            <p:cNvSpPr/>
            <p:nvPr/>
          </p:nvSpPr>
          <p:spPr>
            <a:xfrm>
              <a:off x="5000424" y="2006209"/>
              <a:ext cx="894812" cy="2415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5931" y="21600"/>
                  </a:lnTo>
                  <a:lnTo>
                    <a:pt x="21600" y="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8" name="Freeform: Shape 18"/>
            <p:cNvSpPr/>
            <p:nvPr/>
          </p:nvSpPr>
          <p:spPr>
            <a:xfrm>
              <a:off x="5653310" y="2711604"/>
              <a:ext cx="1044920" cy="20578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4617" y="21600"/>
                  </a:lnTo>
                  <a:lnTo>
                    <a:pt x="21600" y="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9" name="Straight Connector 24"/>
            <p:cNvSpPr/>
            <p:nvPr/>
          </p:nvSpPr>
          <p:spPr>
            <a:xfrm>
              <a:off x="5839564" y="3641627"/>
              <a:ext cx="1072482" cy="1"/>
            </a:xfrm>
            <a:prstGeom prst="line">
              <a:avLst/>
            </a:pr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0" name="Freeform: Shape 25"/>
            <p:cNvSpPr/>
            <p:nvPr/>
          </p:nvSpPr>
          <p:spPr>
            <a:xfrm>
              <a:off x="5653310" y="4362051"/>
              <a:ext cx="1043100" cy="2291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988" y="0"/>
                  </a:lnTo>
                  <a:lnTo>
                    <a:pt x="21600" y="2160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Freeform: Shape 26"/>
            <p:cNvSpPr/>
            <p:nvPr/>
          </p:nvSpPr>
          <p:spPr>
            <a:xfrm>
              <a:off x="5028455" y="4973940"/>
              <a:ext cx="1042006" cy="179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33" y="0"/>
                  </a:lnTo>
                  <a:lnTo>
                    <a:pt x="21600" y="2160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2" name="Freeform: Shape 27"/>
            <p:cNvSpPr/>
            <p:nvPr/>
          </p:nvSpPr>
          <p:spPr>
            <a:xfrm>
              <a:off x="5492041" y="2844073"/>
              <a:ext cx="122914" cy="12291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Shape 28"/>
            <p:cNvSpPr/>
            <p:nvPr/>
          </p:nvSpPr>
          <p:spPr>
            <a:xfrm>
              <a:off x="5666199" y="3580167"/>
              <a:ext cx="122914"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4" name="Freeform: Shape 29"/>
            <p:cNvSpPr/>
            <p:nvPr/>
          </p:nvSpPr>
          <p:spPr>
            <a:xfrm>
              <a:off x="5492041" y="4296857"/>
              <a:ext cx="122914"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5" name="Freeform: Shape 30"/>
            <p:cNvSpPr/>
            <p:nvPr/>
          </p:nvSpPr>
          <p:spPr>
            <a:xfrm>
              <a:off x="4881090" y="4924884"/>
              <a:ext cx="122913"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nvGrpSpPr>
            <p:cNvPr id="26" name="Group 2"/>
            <p:cNvGrpSpPr>
              <a:grpSpLocks noChangeAspect="1"/>
            </p:cNvGrpSpPr>
            <p:nvPr/>
          </p:nvGrpSpPr>
          <p:grpSpPr bwMode="auto">
            <a:xfrm>
              <a:off x="3068636" y="3826334"/>
              <a:ext cx="148834" cy="97764"/>
              <a:chOff x="3104" y="2299"/>
              <a:chExt cx="102" cy="67"/>
            </a:xfrm>
            <a:solidFill>
              <a:schemeClr val="bg1">
                <a:lumMod val="75000"/>
              </a:schemeClr>
            </a:solidFill>
          </p:grpSpPr>
          <p:sp>
            <p:nvSpPr>
              <p:cNvPr id="27" name="Freeform: Shape 41"/>
              <p:cNvSpPr/>
              <p:nvPr/>
            </p:nvSpPr>
            <p:spPr bwMode="auto">
              <a:xfrm>
                <a:off x="3104" y="2299"/>
                <a:ext cx="44" cy="36"/>
              </a:xfrm>
              <a:custGeom>
                <a:avLst/>
                <a:gdLst>
                  <a:gd name="T0" fmla="*/ 21 w 21"/>
                  <a:gd name="T1" fmla="*/ 16 h 17"/>
                  <a:gd name="T2" fmla="*/ 0 w 21"/>
                  <a:gd name="T3" fmla="*/ 1 h 17"/>
                  <a:gd name="T4" fmla="*/ 21 w 21"/>
                  <a:gd name="T5" fmla="*/ 16 h 17"/>
                </a:gdLst>
                <a:ahLst/>
                <a:cxnLst>
                  <a:cxn ang="0">
                    <a:pos x="T0" y="T1"/>
                  </a:cxn>
                  <a:cxn ang="0">
                    <a:pos x="T2" y="T3"/>
                  </a:cxn>
                  <a:cxn ang="0">
                    <a:pos x="T4" y="T5"/>
                  </a:cxn>
                </a:cxnLst>
                <a:rect l="0" t="0" r="r" b="b"/>
                <a:pathLst>
                  <a:path w="21" h="17">
                    <a:moveTo>
                      <a:pt x="21" y="16"/>
                    </a:moveTo>
                    <a:cubicBezTo>
                      <a:pt x="9" y="17"/>
                      <a:pt x="6" y="7"/>
                      <a:pt x="0" y="1"/>
                    </a:cubicBezTo>
                    <a:cubicBezTo>
                      <a:pt x="11" y="0"/>
                      <a:pt x="12" y="13"/>
                      <a:pt x="21" y="16"/>
                    </a:cubicBezTo>
                    <a:close/>
                  </a:path>
                </a:pathLst>
              </a:custGeom>
              <a:grpFill/>
              <a:ln w="9525">
                <a:noFill/>
                <a:round/>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8" name="Freeform: Shape 42"/>
              <p:cNvSpPr/>
              <p:nvPr/>
            </p:nvSpPr>
            <p:spPr bwMode="auto">
              <a:xfrm>
                <a:off x="3177" y="2349"/>
                <a:ext cx="29" cy="17"/>
              </a:xfrm>
              <a:custGeom>
                <a:avLst/>
                <a:gdLst>
                  <a:gd name="T0" fmla="*/ 0 w 14"/>
                  <a:gd name="T1" fmla="*/ 2 h 8"/>
                  <a:gd name="T2" fmla="*/ 12 w 14"/>
                  <a:gd name="T3" fmla="*/ 0 h 8"/>
                  <a:gd name="T4" fmla="*/ 14 w 14"/>
                  <a:gd name="T5" fmla="*/ 5 h 8"/>
                  <a:gd name="T6" fmla="*/ 2 w 14"/>
                  <a:gd name="T7" fmla="*/ 8 h 8"/>
                  <a:gd name="T8" fmla="*/ 0 w 14"/>
                  <a:gd name="T9" fmla="*/ 2 h 8"/>
                </a:gdLst>
                <a:ahLst/>
                <a:cxnLst>
                  <a:cxn ang="0">
                    <a:pos x="T0" y="T1"/>
                  </a:cxn>
                  <a:cxn ang="0">
                    <a:pos x="T2" y="T3"/>
                  </a:cxn>
                  <a:cxn ang="0">
                    <a:pos x="T4" y="T5"/>
                  </a:cxn>
                  <a:cxn ang="0">
                    <a:pos x="T6" y="T7"/>
                  </a:cxn>
                  <a:cxn ang="0">
                    <a:pos x="T8" y="T9"/>
                  </a:cxn>
                </a:cxnLst>
                <a:rect l="0" t="0" r="r" b="b"/>
                <a:pathLst>
                  <a:path w="14" h="8">
                    <a:moveTo>
                      <a:pt x="0" y="2"/>
                    </a:moveTo>
                    <a:cubicBezTo>
                      <a:pt x="4" y="1"/>
                      <a:pt x="8" y="0"/>
                      <a:pt x="12" y="0"/>
                    </a:cubicBezTo>
                    <a:cubicBezTo>
                      <a:pt x="13" y="0"/>
                      <a:pt x="13" y="3"/>
                      <a:pt x="14" y="5"/>
                    </a:cubicBezTo>
                    <a:cubicBezTo>
                      <a:pt x="10" y="6"/>
                      <a:pt x="6" y="7"/>
                      <a:pt x="2" y="8"/>
                    </a:cubicBezTo>
                    <a:cubicBezTo>
                      <a:pt x="1" y="6"/>
                      <a:pt x="1" y="4"/>
                      <a:pt x="0" y="2"/>
                    </a:cubicBezTo>
                    <a:close/>
                  </a:path>
                </a:pathLst>
              </a:custGeom>
              <a:grpFill/>
              <a:ln w="9525">
                <a:noFill/>
                <a:round/>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sp>
        <p:nvSpPr>
          <p:cNvPr id="34" name="TextBox 30"/>
          <p:cNvSpPr txBox="1"/>
          <p:nvPr/>
        </p:nvSpPr>
        <p:spPr>
          <a:xfrm>
            <a:off x="6968104" y="1465262"/>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5" name="TextBox 30"/>
          <p:cNvSpPr txBox="1"/>
          <p:nvPr/>
        </p:nvSpPr>
        <p:spPr>
          <a:xfrm>
            <a:off x="6968104" y="5157824"/>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6" name="TextBox 30"/>
          <p:cNvSpPr txBox="1"/>
          <p:nvPr/>
        </p:nvSpPr>
        <p:spPr>
          <a:xfrm>
            <a:off x="7555917" y="4374774"/>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7" name="TextBox 30"/>
          <p:cNvSpPr txBox="1"/>
          <p:nvPr/>
        </p:nvSpPr>
        <p:spPr>
          <a:xfrm>
            <a:off x="7555917" y="2294963"/>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8" name="TextBox 30"/>
          <p:cNvSpPr txBox="1"/>
          <p:nvPr/>
        </p:nvSpPr>
        <p:spPr>
          <a:xfrm>
            <a:off x="8053757" y="3315351"/>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0" presetClass="entr" presetSubtype="0" fill="hold" grpId="0" nodeType="withEffect">
                                  <p:stCondLst>
                                    <p:cond delay="1200"/>
                                  </p:stCondLst>
                                  <p:iterate type="lt">
                                    <p:tmPct val="10000"/>
                                  </p:iterate>
                                  <p:childTnLst>
                                    <p:set>
                                      <p:cBhvr>
                                        <p:cTn id="9" dur="700" fill="hold">
                                          <p:stCondLst>
                                            <p:cond delay="0"/>
                                          </p:stCondLst>
                                        </p:cTn>
                                        <p:tgtEl>
                                          <p:spTgt spid="34"/>
                                        </p:tgtEl>
                                        <p:attrNameLst>
                                          <p:attrName>style.visibility</p:attrName>
                                        </p:attrNameLst>
                                      </p:cBhvr>
                                      <p:to>
                                        <p:strVal val="visible"/>
                                      </p:to>
                                    </p:set>
                                    <p:animEffect filter="fade">
                                      <p:cBhvr>
                                        <p:cTn id="10" dur="700">
                                          <p:stCondLst>
                                            <p:cond delay="0"/>
                                          </p:stCondLst>
                                        </p:cTn>
                                        <p:tgtEl>
                                          <p:spTgt spid="34"/>
                                        </p:tgtEl>
                                      </p:cBhvr>
                                    </p:animEffect>
                                    <p:anim to="" calcmode="lin" valueType="num">
                                      <p:cBhvr>
                                        <p:cTn id="11" dur="700" fill="hold">
                                          <p:stCondLst>
                                            <p:cond delay="0"/>
                                          </p:stCondLst>
                                        </p:cTn>
                                        <p:tgtEl>
                                          <p:spTgt spid="34"/>
                                        </p:tgtEl>
                                        <p:attrNameLst>
                                          <p:attrName>ppt_y</p:attrName>
                                        </p:attrNameLst>
                                      </p:cBhvr>
                                      <p:tavLst>
                                        <p:tav tm="0" fmla="#ppt_y-#ppt_h*((1.5-1.5*$)^2-(1.5-1.5*$)^3)">
                                          <p:val>
                                            <p:fltVal val="0"/>
                                          </p:val>
                                        </p:tav>
                                        <p:tav tm="100000">
                                          <p:val>
                                            <p:fltVal val="1"/>
                                          </p:val>
                                        </p:tav>
                                      </p:tavLst>
                                    </p:anim>
                                  </p:childTnLst>
                                </p:cTn>
                              </p:par>
                              <p:par>
                                <p:cTn id="12" presetID="0" presetClass="entr" presetSubtype="0" fill="hold" grpId="0" nodeType="withEffect">
                                  <p:stCondLst>
                                    <p:cond delay="1200"/>
                                  </p:stCondLst>
                                  <p:iterate type="lt">
                                    <p:tmPct val="10000"/>
                                  </p:iterate>
                                  <p:childTnLst>
                                    <p:set>
                                      <p:cBhvr>
                                        <p:cTn id="13" dur="700" fill="hold">
                                          <p:stCondLst>
                                            <p:cond delay="0"/>
                                          </p:stCondLst>
                                        </p:cTn>
                                        <p:tgtEl>
                                          <p:spTgt spid="35"/>
                                        </p:tgtEl>
                                        <p:attrNameLst>
                                          <p:attrName>style.visibility</p:attrName>
                                        </p:attrNameLst>
                                      </p:cBhvr>
                                      <p:to>
                                        <p:strVal val="visible"/>
                                      </p:to>
                                    </p:set>
                                    <p:animEffect filter="fade">
                                      <p:cBhvr>
                                        <p:cTn id="14" dur="700">
                                          <p:stCondLst>
                                            <p:cond delay="0"/>
                                          </p:stCondLst>
                                        </p:cTn>
                                        <p:tgtEl>
                                          <p:spTgt spid="35"/>
                                        </p:tgtEl>
                                      </p:cBhvr>
                                    </p:animEffect>
                                    <p:anim to="" calcmode="lin" valueType="num">
                                      <p:cBhvr>
                                        <p:cTn id="15" dur="700" fill="hold">
                                          <p:stCondLst>
                                            <p:cond delay="0"/>
                                          </p:stCondLst>
                                        </p:cTn>
                                        <p:tgtEl>
                                          <p:spTgt spid="35"/>
                                        </p:tgtEl>
                                        <p:attrNameLst>
                                          <p:attrName>ppt_y</p:attrName>
                                        </p:attrNameLst>
                                      </p:cBhvr>
                                      <p:tavLst>
                                        <p:tav tm="0" fmla="#ppt_y-#ppt_h*((1.5-1.5*$)^2-(1.5-1.5*$)^3)">
                                          <p:val>
                                            <p:fltVal val="0"/>
                                          </p:val>
                                        </p:tav>
                                        <p:tav tm="100000">
                                          <p:val>
                                            <p:fltVal val="1"/>
                                          </p:val>
                                        </p:tav>
                                      </p:tavLst>
                                    </p:anim>
                                  </p:childTnLst>
                                </p:cTn>
                              </p:par>
                              <p:par>
                                <p:cTn id="16" presetID="0" presetClass="entr" presetSubtype="0" fill="hold" grpId="0" nodeType="withEffect">
                                  <p:stCondLst>
                                    <p:cond delay="1200"/>
                                  </p:stCondLst>
                                  <p:iterate type="lt">
                                    <p:tmPct val="10000"/>
                                  </p:iterate>
                                  <p:childTnLst>
                                    <p:set>
                                      <p:cBhvr>
                                        <p:cTn id="17" dur="700" fill="hold">
                                          <p:stCondLst>
                                            <p:cond delay="0"/>
                                          </p:stCondLst>
                                        </p:cTn>
                                        <p:tgtEl>
                                          <p:spTgt spid="36"/>
                                        </p:tgtEl>
                                        <p:attrNameLst>
                                          <p:attrName>style.visibility</p:attrName>
                                        </p:attrNameLst>
                                      </p:cBhvr>
                                      <p:to>
                                        <p:strVal val="visible"/>
                                      </p:to>
                                    </p:set>
                                    <p:animEffect filter="fade">
                                      <p:cBhvr>
                                        <p:cTn id="18" dur="700">
                                          <p:stCondLst>
                                            <p:cond delay="0"/>
                                          </p:stCondLst>
                                        </p:cTn>
                                        <p:tgtEl>
                                          <p:spTgt spid="36"/>
                                        </p:tgtEl>
                                      </p:cBhvr>
                                    </p:animEffect>
                                    <p:anim to="" calcmode="lin" valueType="num">
                                      <p:cBhvr>
                                        <p:cTn id="19" dur="700" fill="hold">
                                          <p:stCondLst>
                                            <p:cond delay="0"/>
                                          </p:stCondLst>
                                        </p:cTn>
                                        <p:tgtEl>
                                          <p:spTgt spid="36"/>
                                        </p:tgtEl>
                                        <p:attrNameLst>
                                          <p:attrName>ppt_y</p:attrName>
                                        </p:attrNameLst>
                                      </p:cBhvr>
                                      <p:tavLst>
                                        <p:tav tm="0" fmla="#ppt_y-#ppt_h*((1.5-1.5*$)^2-(1.5-1.5*$)^3)">
                                          <p:val>
                                            <p:fltVal val="0"/>
                                          </p:val>
                                        </p:tav>
                                        <p:tav tm="100000">
                                          <p:val>
                                            <p:fltVal val="1"/>
                                          </p:val>
                                        </p:tav>
                                      </p:tavLst>
                                    </p:anim>
                                  </p:childTnLst>
                                </p:cTn>
                              </p:par>
                              <p:par>
                                <p:cTn id="20" presetID="0" presetClass="entr" presetSubtype="0" fill="hold" grpId="0" nodeType="withEffect">
                                  <p:stCondLst>
                                    <p:cond delay="1200"/>
                                  </p:stCondLst>
                                  <p:iterate type="lt">
                                    <p:tmPct val="10000"/>
                                  </p:iterate>
                                  <p:childTnLst>
                                    <p:set>
                                      <p:cBhvr>
                                        <p:cTn id="21" dur="700" fill="hold">
                                          <p:stCondLst>
                                            <p:cond delay="0"/>
                                          </p:stCondLst>
                                        </p:cTn>
                                        <p:tgtEl>
                                          <p:spTgt spid="37"/>
                                        </p:tgtEl>
                                        <p:attrNameLst>
                                          <p:attrName>style.visibility</p:attrName>
                                        </p:attrNameLst>
                                      </p:cBhvr>
                                      <p:to>
                                        <p:strVal val="visible"/>
                                      </p:to>
                                    </p:set>
                                    <p:animEffect filter="fade">
                                      <p:cBhvr>
                                        <p:cTn id="22" dur="700">
                                          <p:stCondLst>
                                            <p:cond delay="0"/>
                                          </p:stCondLst>
                                        </p:cTn>
                                        <p:tgtEl>
                                          <p:spTgt spid="37"/>
                                        </p:tgtEl>
                                      </p:cBhvr>
                                    </p:animEffect>
                                    <p:anim to="" calcmode="lin" valueType="num">
                                      <p:cBhvr>
                                        <p:cTn id="23" dur="700" fill="hold">
                                          <p:stCondLst>
                                            <p:cond delay="0"/>
                                          </p:stCondLst>
                                        </p:cTn>
                                        <p:tgtEl>
                                          <p:spTgt spid="37"/>
                                        </p:tgtEl>
                                        <p:attrNameLst>
                                          <p:attrName>ppt_y</p:attrName>
                                        </p:attrNameLst>
                                      </p:cBhvr>
                                      <p:tavLst>
                                        <p:tav tm="0" fmla="#ppt_y-#ppt_h*((1.5-1.5*$)^2-(1.5-1.5*$)^3)">
                                          <p:val>
                                            <p:fltVal val="0"/>
                                          </p:val>
                                        </p:tav>
                                        <p:tav tm="100000">
                                          <p:val>
                                            <p:fltVal val="1"/>
                                          </p:val>
                                        </p:tav>
                                      </p:tavLst>
                                    </p:anim>
                                  </p:childTnLst>
                                </p:cTn>
                              </p:par>
                              <p:par>
                                <p:cTn id="24" presetID="0" presetClass="entr" presetSubtype="0" fill="hold" grpId="0" nodeType="withEffect">
                                  <p:stCondLst>
                                    <p:cond delay="1200"/>
                                  </p:stCondLst>
                                  <p:iterate type="lt">
                                    <p:tmPct val="10000"/>
                                  </p:iterate>
                                  <p:childTnLst>
                                    <p:set>
                                      <p:cBhvr>
                                        <p:cTn id="25" dur="700" fill="hold">
                                          <p:stCondLst>
                                            <p:cond delay="0"/>
                                          </p:stCondLst>
                                        </p:cTn>
                                        <p:tgtEl>
                                          <p:spTgt spid="38"/>
                                        </p:tgtEl>
                                        <p:attrNameLst>
                                          <p:attrName>style.visibility</p:attrName>
                                        </p:attrNameLst>
                                      </p:cBhvr>
                                      <p:to>
                                        <p:strVal val="visible"/>
                                      </p:to>
                                    </p:set>
                                    <p:animEffect filter="fade">
                                      <p:cBhvr>
                                        <p:cTn id="26" dur="700">
                                          <p:stCondLst>
                                            <p:cond delay="0"/>
                                          </p:stCondLst>
                                        </p:cTn>
                                        <p:tgtEl>
                                          <p:spTgt spid="38"/>
                                        </p:tgtEl>
                                      </p:cBhvr>
                                    </p:animEffect>
                                    <p:anim to="" calcmode="lin" valueType="num">
                                      <p:cBhvr>
                                        <p:cTn id="27" dur="700" fill="hold">
                                          <p:stCondLst>
                                            <p:cond delay="0"/>
                                          </p:stCondLst>
                                        </p:cTn>
                                        <p:tgtEl>
                                          <p:spTgt spid="3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8" name="矩形: 圆角 7"/>
          <p:cNvSpPr/>
          <p:nvPr/>
        </p:nvSpPr>
        <p:spPr>
          <a:xfrm>
            <a:off x="5832303" y="2177425"/>
            <a:ext cx="425380" cy="331596"/>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9" name="文本框 8"/>
          <p:cNvSpPr txBox="1"/>
          <p:nvPr/>
        </p:nvSpPr>
        <p:spPr>
          <a:xfrm>
            <a:off x="5928615" y="2189335"/>
            <a:ext cx="232756" cy="307777"/>
          </a:xfrm>
          <a:prstGeom prst="rect">
            <a:avLst/>
          </a:prstGeom>
          <a:noFill/>
        </p:spPr>
        <p:txBody>
          <a:bodyPr wrap="none" rtlCol="0">
            <a:spAutoFit/>
          </a:bodyPr>
          <a:lstStyle/>
          <a:p>
            <a:pPr algn="ctr"/>
            <a:r>
              <a:rPr lang="en-US" altLang="zh-CN" sz="1400" dirty="0">
                <a:solidFill>
                  <a:schemeClr val="bg1"/>
                </a:solidFill>
                <a:latin typeface="+mj-lt"/>
              </a:rPr>
              <a:t>1</a:t>
            </a:r>
            <a:endParaRPr lang="zh-CN" altLang="en-US" sz="1400" dirty="0">
              <a:solidFill>
                <a:schemeClr val="bg1"/>
              </a:solidFill>
              <a:latin typeface="+mj-lt"/>
            </a:endParaRPr>
          </a:p>
        </p:txBody>
      </p:sp>
      <p:sp>
        <p:nvSpPr>
          <p:cNvPr id="11" name="矩形: 圆角 10"/>
          <p:cNvSpPr/>
          <p:nvPr/>
        </p:nvSpPr>
        <p:spPr>
          <a:xfrm>
            <a:off x="5832303" y="3480560"/>
            <a:ext cx="425380" cy="331596"/>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12" name="文本框 11"/>
          <p:cNvSpPr txBox="1"/>
          <p:nvPr/>
        </p:nvSpPr>
        <p:spPr>
          <a:xfrm>
            <a:off x="5916592" y="3492470"/>
            <a:ext cx="256802" cy="307777"/>
          </a:xfrm>
          <a:prstGeom prst="rect">
            <a:avLst/>
          </a:prstGeom>
          <a:noFill/>
        </p:spPr>
        <p:txBody>
          <a:bodyPr wrap="none" rtlCol="0">
            <a:spAutoFit/>
          </a:bodyPr>
          <a:lstStyle/>
          <a:p>
            <a:pPr algn="ctr"/>
            <a:r>
              <a:rPr lang="en-US" altLang="zh-CN" sz="1400" dirty="0">
                <a:solidFill>
                  <a:schemeClr val="bg1"/>
                </a:solidFill>
                <a:latin typeface="+mj-lt"/>
              </a:rPr>
              <a:t>2</a:t>
            </a:r>
            <a:endParaRPr lang="zh-CN" altLang="en-US" sz="1400" dirty="0">
              <a:solidFill>
                <a:schemeClr val="bg1"/>
              </a:solidFill>
              <a:latin typeface="+mj-lt"/>
            </a:endParaRPr>
          </a:p>
        </p:txBody>
      </p:sp>
      <p:sp>
        <p:nvSpPr>
          <p:cNvPr id="14" name="矩形: 圆角 13"/>
          <p:cNvSpPr/>
          <p:nvPr/>
        </p:nvSpPr>
        <p:spPr>
          <a:xfrm>
            <a:off x="5832303" y="4783695"/>
            <a:ext cx="425380" cy="331596"/>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15" name="文本框 14"/>
          <p:cNvSpPr txBox="1"/>
          <p:nvPr/>
        </p:nvSpPr>
        <p:spPr>
          <a:xfrm>
            <a:off x="5917394" y="4795605"/>
            <a:ext cx="255198" cy="307777"/>
          </a:xfrm>
          <a:prstGeom prst="rect">
            <a:avLst/>
          </a:prstGeom>
          <a:solidFill>
            <a:srgbClr val="CB3125"/>
          </a:solidFill>
        </p:spPr>
        <p:txBody>
          <a:bodyPr wrap="none" rtlCol="0">
            <a:spAutoFit/>
          </a:bodyPr>
          <a:lstStyle/>
          <a:p>
            <a:pPr algn="ctr"/>
            <a:r>
              <a:rPr lang="en-US" altLang="zh-CN" sz="1400" dirty="0">
                <a:solidFill>
                  <a:schemeClr val="bg1"/>
                </a:solidFill>
                <a:latin typeface="+mj-lt"/>
              </a:rPr>
              <a:t>3</a:t>
            </a:r>
            <a:endParaRPr lang="zh-CN" altLang="en-US" sz="1400" dirty="0">
              <a:solidFill>
                <a:schemeClr val="bg1"/>
              </a:solidFill>
              <a:latin typeface="+mj-lt"/>
            </a:endParaRPr>
          </a:p>
        </p:txBody>
      </p:sp>
      <p:sp>
        <p:nvSpPr>
          <p:cNvPr id="17" name="矩形: 圆角 16"/>
          <p:cNvSpPr/>
          <p:nvPr/>
        </p:nvSpPr>
        <p:spPr>
          <a:xfrm>
            <a:off x="8824105" y="2177425"/>
            <a:ext cx="425380" cy="331596"/>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18" name="文本框 17"/>
          <p:cNvSpPr txBox="1"/>
          <p:nvPr/>
        </p:nvSpPr>
        <p:spPr>
          <a:xfrm>
            <a:off x="8905990" y="2189335"/>
            <a:ext cx="261610" cy="307777"/>
          </a:xfrm>
          <a:prstGeom prst="rect">
            <a:avLst/>
          </a:prstGeom>
          <a:solidFill>
            <a:srgbClr val="2E578B"/>
          </a:solidFill>
        </p:spPr>
        <p:txBody>
          <a:bodyPr wrap="none" rtlCol="0">
            <a:spAutoFit/>
          </a:bodyPr>
          <a:lstStyle/>
          <a:p>
            <a:pPr algn="ctr"/>
            <a:r>
              <a:rPr lang="en-US" altLang="zh-CN" sz="1400" dirty="0">
                <a:solidFill>
                  <a:schemeClr val="bg1"/>
                </a:solidFill>
                <a:latin typeface="+mj-lt"/>
              </a:rPr>
              <a:t>4</a:t>
            </a:r>
            <a:endParaRPr lang="zh-CN" altLang="en-US" sz="1400" dirty="0">
              <a:solidFill>
                <a:schemeClr val="bg1"/>
              </a:solidFill>
              <a:latin typeface="+mj-lt"/>
            </a:endParaRPr>
          </a:p>
        </p:txBody>
      </p:sp>
      <p:sp>
        <p:nvSpPr>
          <p:cNvPr id="20" name="矩形: 圆角 19"/>
          <p:cNvSpPr/>
          <p:nvPr/>
        </p:nvSpPr>
        <p:spPr>
          <a:xfrm>
            <a:off x="8824105" y="3480560"/>
            <a:ext cx="425380" cy="331596"/>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21" name="文本框 20"/>
          <p:cNvSpPr txBox="1"/>
          <p:nvPr/>
        </p:nvSpPr>
        <p:spPr>
          <a:xfrm>
            <a:off x="8907593" y="3492470"/>
            <a:ext cx="258404" cy="307777"/>
          </a:xfrm>
          <a:prstGeom prst="rect">
            <a:avLst/>
          </a:prstGeom>
          <a:noFill/>
        </p:spPr>
        <p:txBody>
          <a:bodyPr wrap="none" rtlCol="0">
            <a:spAutoFit/>
          </a:bodyPr>
          <a:lstStyle/>
          <a:p>
            <a:pPr algn="ctr"/>
            <a:r>
              <a:rPr lang="en-US" altLang="zh-CN" sz="1400" dirty="0">
                <a:solidFill>
                  <a:schemeClr val="bg1"/>
                </a:solidFill>
                <a:latin typeface="+mj-lt"/>
              </a:rPr>
              <a:t>5</a:t>
            </a:r>
            <a:endParaRPr lang="zh-CN" altLang="en-US" sz="1400" dirty="0">
              <a:solidFill>
                <a:schemeClr val="bg1"/>
              </a:solidFill>
              <a:latin typeface="+mj-lt"/>
            </a:endParaRPr>
          </a:p>
        </p:txBody>
      </p:sp>
      <p:sp>
        <p:nvSpPr>
          <p:cNvPr id="23" name="矩形: 圆角 22"/>
          <p:cNvSpPr/>
          <p:nvPr/>
        </p:nvSpPr>
        <p:spPr>
          <a:xfrm>
            <a:off x="8824105" y="4783695"/>
            <a:ext cx="425380" cy="331596"/>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24" name="文本框 23"/>
          <p:cNvSpPr txBox="1"/>
          <p:nvPr/>
        </p:nvSpPr>
        <p:spPr>
          <a:xfrm>
            <a:off x="8909997" y="4795605"/>
            <a:ext cx="253595" cy="307777"/>
          </a:xfrm>
          <a:prstGeom prst="rect">
            <a:avLst/>
          </a:prstGeom>
          <a:solidFill>
            <a:srgbClr val="2E578B"/>
          </a:solidFill>
        </p:spPr>
        <p:txBody>
          <a:bodyPr wrap="none" rtlCol="0">
            <a:spAutoFit/>
          </a:bodyPr>
          <a:lstStyle/>
          <a:p>
            <a:pPr algn="ctr"/>
            <a:r>
              <a:rPr lang="en-US" altLang="zh-CN" sz="1400" dirty="0">
                <a:solidFill>
                  <a:schemeClr val="bg1"/>
                </a:solidFill>
                <a:latin typeface="+mj-lt"/>
              </a:rPr>
              <a:t>6</a:t>
            </a:r>
            <a:endParaRPr lang="zh-CN" altLang="en-US" sz="1400" dirty="0">
              <a:solidFill>
                <a:schemeClr val="bg1"/>
              </a:solidFill>
              <a:latin typeface="+mj-lt"/>
            </a:endParaRPr>
          </a:p>
        </p:txBody>
      </p:sp>
      <p:graphicFrame>
        <p:nvGraphicFramePr>
          <p:cNvPr id="25" name="图表 24"/>
          <p:cNvGraphicFramePr/>
          <p:nvPr/>
        </p:nvGraphicFramePr>
        <p:xfrm>
          <a:off x="613952" y="1863635"/>
          <a:ext cx="4985659" cy="384184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30"/>
          <p:cNvSpPr txBox="1"/>
          <p:nvPr/>
        </p:nvSpPr>
        <p:spPr>
          <a:xfrm>
            <a:off x="6257683" y="2100287"/>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7" name="TextBox 30"/>
          <p:cNvSpPr txBox="1"/>
          <p:nvPr/>
        </p:nvSpPr>
        <p:spPr>
          <a:xfrm>
            <a:off x="9249485" y="2100287"/>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8" name="TextBox 30"/>
          <p:cNvSpPr txBox="1"/>
          <p:nvPr/>
        </p:nvSpPr>
        <p:spPr>
          <a:xfrm>
            <a:off x="6257683" y="3468651"/>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9" name="TextBox 30"/>
          <p:cNvSpPr txBox="1"/>
          <p:nvPr/>
        </p:nvSpPr>
        <p:spPr>
          <a:xfrm>
            <a:off x="9249485" y="3468651"/>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0" name="TextBox 30"/>
          <p:cNvSpPr txBox="1"/>
          <p:nvPr/>
        </p:nvSpPr>
        <p:spPr>
          <a:xfrm>
            <a:off x="6257683" y="4772134"/>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1" name="TextBox 30"/>
          <p:cNvSpPr txBox="1"/>
          <p:nvPr/>
        </p:nvSpPr>
        <p:spPr>
          <a:xfrm>
            <a:off x="9249485" y="4772134"/>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26"/>
                                        </p:tgtEl>
                                        <p:attrNameLst>
                                          <p:attrName>style.visibility</p:attrName>
                                        </p:attrNameLst>
                                      </p:cBhvr>
                                      <p:to>
                                        <p:strVal val="visible"/>
                                      </p:to>
                                    </p:set>
                                    <p:animEffect filter="fade">
                                      <p:cBhvr>
                                        <p:cTn id="7" dur="700">
                                          <p:stCondLst>
                                            <p:cond delay="0"/>
                                          </p:stCondLst>
                                        </p:cTn>
                                        <p:tgtEl>
                                          <p:spTgt spid="26"/>
                                        </p:tgtEl>
                                      </p:cBhvr>
                                    </p:animEffect>
                                    <p:anim to="" calcmode="lin" valueType="num">
                                      <p:cBhvr>
                                        <p:cTn id="8"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27"/>
                                        </p:tgtEl>
                                        <p:attrNameLst>
                                          <p:attrName>style.visibility</p:attrName>
                                        </p:attrNameLst>
                                      </p:cBhvr>
                                      <p:to>
                                        <p:strVal val="visible"/>
                                      </p:to>
                                    </p:set>
                                    <p:animEffect filter="fade">
                                      <p:cBhvr>
                                        <p:cTn id="11" dur="700">
                                          <p:stCondLst>
                                            <p:cond delay="0"/>
                                          </p:stCondLst>
                                        </p:cTn>
                                        <p:tgtEl>
                                          <p:spTgt spid="27"/>
                                        </p:tgtEl>
                                      </p:cBhvr>
                                    </p:animEffect>
                                    <p:anim to="" calcmode="lin" valueType="num">
                                      <p:cBhvr>
                                        <p:cTn id="12"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28"/>
                                        </p:tgtEl>
                                        <p:attrNameLst>
                                          <p:attrName>style.visibility</p:attrName>
                                        </p:attrNameLst>
                                      </p:cBhvr>
                                      <p:to>
                                        <p:strVal val="visible"/>
                                      </p:to>
                                    </p:set>
                                    <p:animEffect filter="fade">
                                      <p:cBhvr>
                                        <p:cTn id="15" dur="700">
                                          <p:stCondLst>
                                            <p:cond delay="0"/>
                                          </p:stCondLst>
                                        </p:cTn>
                                        <p:tgtEl>
                                          <p:spTgt spid="28"/>
                                        </p:tgtEl>
                                      </p:cBhvr>
                                    </p:animEffect>
                                    <p:anim to="" calcmode="lin" valueType="num">
                                      <p:cBhvr>
                                        <p:cTn id="16" dur="700" fill="hold">
                                          <p:stCondLst>
                                            <p:cond delay="0"/>
                                          </p:stCondLst>
                                        </p:cTn>
                                        <p:tgtEl>
                                          <p:spTgt spid="28"/>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29"/>
                                        </p:tgtEl>
                                        <p:attrNameLst>
                                          <p:attrName>style.visibility</p:attrName>
                                        </p:attrNameLst>
                                      </p:cBhvr>
                                      <p:to>
                                        <p:strVal val="visible"/>
                                      </p:to>
                                    </p:set>
                                    <p:animEffect filter="fade">
                                      <p:cBhvr>
                                        <p:cTn id="19" dur="700">
                                          <p:stCondLst>
                                            <p:cond delay="0"/>
                                          </p:stCondLst>
                                        </p:cTn>
                                        <p:tgtEl>
                                          <p:spTgt spid="29"/>
                                        </p:tgtEl>
                                      </p:cBhvr>
                                    </p:animEffect>
                                    <p:anim to="" calcmode="lin" valueType="num">
                                      <p:cBhvr>
                                        <p:cTn id="20" dur="700" fill="hold">
                                          <p:stCondLst>
                                            <p:cond delay="0"/>
                                          </p:stCondLst>
                                        </p:cTn>
                                        <p:tgtEl>
                                          <p:spTgt spid="29"/>
                                        </p:tgtEl>
                                        <p:attrNameLst>
                                          <p:attrName>ppt_y</p:attrName>
                                        </p:attrNameLst>
                                      </p:cBhvr>
                                      <p:tavLst>
                                        <p:tav tm="0" fmla="#ppt_y-#ppt_h*((1.5-1.5*$)^2-(1.5-1.5*$)^3)">
                                          <p:val>
                                            <p:fltVal val="0"/>
                                          </p:val>
                                        </p:tav>
                                        <p:tav tm="100000">
                                          <p:val>
                                            <p:fltVal val="1"/>
                                          </p:val>
                                        </p:tav>
                                      </p:tavLst>
                                    </p:anim>
                                  </p:childTnLst>
                                </p:cTn>
                              </p:par>
                              <p:par>
                                <p:cTn id="21" presetID="0" presetClass="entr" presetSubtype="0" fill="hold" grpId="0" nodeType="withEffect">
                                  <p:stCondLst>
                                    <p:cond delay="1200"/>
                                  </p:stCondLst>
                                  <p:iterate type="lt">
                                    <p:tmPct val="10000"/>
                                  </p:iterate>
                                  <p:childTnLst>
                                    <p:set>
                                      <p:cBhvr>
                                        <p:cTn id="22" dur="700" fill="hold">
                                          <p:stCondLst>
                                            <p:cond delay="0"/>
                                          </p:stCondLst>
                                        </p:cTn>
                                        <p:tgtEl>
                                          <p:spTgt spid="30"/>
                                        </p:tgtEl>
                                        <p:attrNameLst>
                                          <p:attrName>style.visibility</p:attrName>
                                        </p:attrNameLst>
                                      </p:cBhvr>
                                      <p:to>
                                        <p:strVal val="visible"/>
                                      </p:to>
                                    </p:set>
                                    <p:animEffect filter="fade">
                                      <p:cBhvr>
                                        <p:cTn id="23" dur="700">
                                          <p:stCondLst>
                                            <p:cond delay="0"/>
                                          </p:stCondLst>
                                        </p:cTn>
                                        <p:tgtEl>
                                          <p:spTgt spid="30"/>
                                        </p:tgtEl>
                                      </p:cBhvr>
                                    </p:animEffect>
                                    <p:anim to="" calcmode="lin" valueType="num">
                                      <p:cBhvr>
                                        <p:cTn id="24" dur="700" fill="hold">
                                          <p:stCondLst>
                                            <p:cond delay="0"/>
                                          </p:stCondLst>
                                        </p:cTn>
                                        <p:tgtEl>
                                          <p:spTgt spid="30"/>
                                        </p:tgtEl>
                                        <p:attrNameLst>
                                          <p:attrName>ppt_y</p:attrName>
                                        </p:attrNameLst>
                                      </p:cBhvr>
                                      <p:tavLst>
                                        <p:tav tm="0" fmla="#ppt_y-#ppt_h*((1.5-1.5*$)^2-(1.5-1.5*$)^3)">
                                          <p:val>
                                            <p:fltVal val="0"/>
                                          </p:val>
                                        </p:tav>
                                        <p:tav tm="100000">
                                          <p:val>
                                            <p:fltVal val="1"/>
                                          </p:val>
                                        </p:tav>
                                      </p:tavLst>
                                    </p:anim>
                                  </p:childTnLst>
                                </p:cTn>
                              </p:par>
                              <p:par>
                                <p:cTn id="25" presetID="0" presetClass="entr" presetSubtype="0" fill="hold" grpId="0" nodeType="withEffect">
                                  <p:stCondLst>
                                    <p:cond delay="1200"/>
                                  </p:stCondLst>
                                  <p:iterate type="lt">
                                    <p:tmPct val="10000"/>
                                  </p:iterate>
                                  <p:childTnLst>
                                    <p:set>
                                      <p:cBhvr>
                                        <p:cTn id="26" dur="700" fill="hold">
                                          <p:stCondLst>
                                            <p:cond delay="0"/>
                                          </p:stCondLst>
                                        </p:cTn>
                                        <p:tgtEl>
                                          <p:spTgt spid="31"/>
                                        </p:tgtEl>
                                        <p:attrNameLst>
                                          <p:attrName>style.visibility</p:attrName>
                                        </p:attrNameLst>
                                      </p:cBhvr>
                                      <p:to>
                                        <p:strVal val="visible"/>
                                      </p:to>
                                    </p:set>
                                    <p:animEffect filter="fade">
                                      <p:cBhvr>
                                        <p:cTn id="27" dur="700">
                                          <p:stCondLst>
                                            <p:cond delay="0"/>
                                          </p:stCondLst>
                                        </p:cTn>
                                        <p:tgtEl>
                                          <p:spTgt spid="31"/>
                                        </p:tgtEl>
                                      </p:cBhvr>
                                    </p:animEffect>
                                    <p:anim to="" calcmode="lin" valueType="num">
                                      <p:cBhvr>
                                        <p:cTn id="28" dur="700" fill="hold">
                                          <p:stCondLst>
                                            <p:cond delay="0"/>
                                          </p:stCondLst>
                                        </p:cTn>
                                        <p:tgtEl>
                                          <p:spTgt spid="31"/>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2</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035348"/>
          </a:xfrm>
          <a:prstGeom prst="rect">
            <a:avLst/>
          </a:prstGeom>
          <a:noFill/>
        </p:spPr>
        <p:txBody>
          <a:bodyPr wrap="square" rtlCol="0">
            <a:spAutoFit/>
          </a:bodyPr>
          <a:lstStyle/>
          <a:p>
            <a:pP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14"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矩形 6"/>
          <p:cNvSpPr/>
          <p:nvPr/>
        </p:nvSpPr>
        <p:spPr>
          <a:xfrm>
            <a:off x="642000" y="2013435"/>
            <a:ext cx="10908000" cy="2444261"/>
          </a:xfrm>
          <a:prstGeom prst="rect">
            <a:avLst/>
          </a:prstGeom>
          <a:blipFill>
            <a:blip r:embed="rId15"/>
            <a:stretch>
              <a:fillRect t="-98919" b="-978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1790700" y="2517414"/>
            <a:ext cx="2057400" cy="1438275"/>
          </a:xfrm>
          <a:prstGeom prst="rect">
            <a:avLst/>
          </a:prstGeom>
          <a:solidFill>
            <a:srgbClr val="CB312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2"/>
            </p:custDataLst>
          </p:nvPr>
        </p:nvSpPr>
        <p:spPr>
          <a:xfrm>
            <a:off x="5067300" y="2517414"/>
            <a:ext cx="2057400" cy="1438275"/>
          </a:xfrm>
          <a:prstGeom prst="rect">
            <a:avLst/>
          </a:prstGeom>
          <a:solidFill>
            <a:srgbClr val="2E578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8343900" y="2517413"/>
            <a:ext cx="2057400" cy="1438275"/>
          </a:xfrm>
          <a:prstGeom prst="rect">
            <a:avLst/>
          </a:prstGeom>
          <a:solidFill>
            <a:srgbClr val="CB312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4"/>
            </p:custDataLst>
          </p:nvPr>
        </p:nvSpPr>
        <p:spPr>
          <a:xfrm>
            <a:off x="2012201" y="2654857"/>
            <a:ext cx="1656224" cy="769441"/>
          </a:xfrm>
          <a:prstGeom prst="rect">
            <a:avLst/>
          </a:prstGeom>
          <a:noFill/>
        </p:spPr>
        <p:txBody>
          <a:bodyPr wrap="none" rtlCol="0">
            <a:spAutoFit/>
          </a:bodyPr>
          <a:lstStyle/>
          <a:p>
            <a:pPr algn="ctr"/>
            <a:r>
              <a:rPr lang="en-US" altLang="zh-CN" sz="4400" b="1" dirty="0">
                <a:solidFill>
                  <a:schemeClr val="bg1"/>
                </a:solidFill>
                <a:latin typeface="Azonix" pitchFamily="50" charset="0"/>
                <a:ea typeface="Open Sans" panose="020B0606030504020204" pitchFamily="34" charset="0"/>
                <a:cs typeface="Open Sans" panose="020B0606030504020204" pitchFamily="34" charset="0"/>
              </a:rPr>
              <a:t>45%</a:t>
            </a:r>
            <a:endParaRPr lang="zh-CN" altLang="en-US" sz="4400" b="1" dirty="0">
              <a:solidFill>
                <a:schemeClr val="bg1"/>
              </a:solidFill>
              <a:latin typeface="Azonix" pitchFamily="50" charset="0"/>
              <a:cs typeface="Open Sans" panose="020B0606030504020204" pitchFamily="34" charset="0"/>
            </a:endParaRPr>
          </a:p>
        </p:txBody>
      </p:sp>
      <p:sp>
        <p:nvSpPr>
          <p:cNvPr id="12" name="文本框 11"/>
          <p:cNvSpPr txBox="1"/>
          <p:nvPr>
            <p:custDataLst>
              <p:tags r:id="rId5"/>
            </p:custDataLst>
          </p:nvPr>
        </p:nvSpPr>
        <p:spPr>
          <a:xfrm>
            <a:off x="5267888" y="2654857"/>
            <a:ext cx="1656224" cy="769441"/>
          </a:xfrm>
          <a:prstGeom prst="rect">
            <a:avLst/>
          </a:prstGeom>
          <a:noFill/>
        </p:spPr>
        <p:txBody>
          <a:bodyPr wrap="none" rtlCol="0">
            <a:spAutoFit/>
          </a:bodyPr>
          <a:lstStyle/>
          <a:p>
            <a:pPr algn="ctr"/>
            <a:r>
              <a:rPr lang="en-US" altLang="zh-CN" sz="4400" b="1" dirty="0">
                <a:solidFill>
                  <a:schemeClr val="bg1"/>
                </a:solidFill>
                <a:latin typeface="Azonix" pitchFamily="50" charset="0"/>
                <a:ea typeface="Open Sans" panose="020B0606030504020204" pitchFamily="34" charset="0"/>
                <a:cs typeface="Open Sans" panose="020B0606030504020204" pitchFamily="34" charset="0"/>
              </a:rPr>
              <a:t>95%</a:t>
            </a:r>
            <a:endParaRPr lang="zh-CN" altLang="en-US" sz="4400" b="1" dirty="0">
              <a:solidFill>
                <a:schemeClr val="bg1"/>
              </a:solidFill>
              <a:latin typeface="Azonix" pitchFamily="50" charset="0"/>
              <a:cs typeface="Open Sans" panose="020B0606030504020204" pitchFamily="34" charset="0"/>
            </a:endParaRPr>
          </a:p>
        </p:txBody>
      </p:sp>
      <p:sp>
        <p:nvSpPr>
          <p:cNvPr id="13" name="文本框 12"/>
          <p:cNvSpPr txBox="1"/>
          <p:nvPr>
            <p:custDataLst>
              <p:tags r:id="rId6"/>
            </p:custDataLst>
          </p:nvPr>
        </p:nvSpPr>
        <p:spPr>
          <a:xfrm>
            <a:off x="8544488" y="2652881"/>
            <a:ext cx="1656224" cy="769441"/>
          </a:xfrm>
          <a:prstGeom prst="rect">
            <a:avLst/>
          </a:prstGeom>
          <a:noFill/>
        </p:spPr>
        <p:txBody>
          <a:bodyPr wrap="none" rtlCol="0">
            <a:spAutoFit/>
          </a:bodyPr>
          <a:lstStyle/>
          <a:p>
            <a:pPr algn="ctr"/>
            <a:r>
              <a:rPr lang="en-US" altLang="zh-CN" sz="4400" b="1" dirty="0">
                <a:solidFill>
                  <a:schemeClr val="bg1"/>
                </a:solidFill>
                <a:latin typeface="Azonix" pitchFamily="50" charset="0"/>
                <a:ea typeface="Open Sans" panose="020B0606030504020204" pitchFamily="34" charset="0"/>
                <a:cs typeface="Open Sans" panose="020B0606030504020204" pitchFamily="34" charset="0"/>
              </a:rPr>
              <a:t>25%</a:t>
            </a:r>
            <a:endParaRPr lang="zh-CN" altLang="en-US" sz="4400" b="1" dirty="0">
              <a:solidFill>
                <a:schemeClr val="bg1"/>
              </a:solidFill>
              <a:latin typeface="Azonix" pitchFamily="50" charset="0"/>
              <a:cs typeface="Open Sans" panose="020B0606030504020204" pitchFamily="34" charset="0"/>
            </a:endParaRPr>
          </a:p>
        </p:txBody>
      </p:sp>
      <p:sp>
        <p:nvSpPr>
          <p:cNvPr id="14" name="矩形 13"/>
          <p:cNvSpPr/>
          <p:nvPr>
            <p:custDataLst>
              <p:tags r:id="rId7"/>
            </p:custDataLst>
          </p:nvPr>
        </p:nvSpPr>
        <p:spPr>
          <a:xfrm>
            <a:off x="1869394" y="3429000"/>
            <a:ext cx="1938113" cy="400110"/>
          </a:xfrm>
          <a:prstGeom prst="rect">
            <a:avLst/>
          </a:prstGeom>
        </p:spPr>
        <p:txBody>
          <a:bodyPr wrap="square">
            <a:spAutoFit/>
          </a:bodyPr>
          <a:lstStyle/>
          <a:p>
            <a:pPr algn="ctr"/>
            <a:r>
              <a:rPr lang="en-US" altLang="zh-CN" sz="1000" dirty="0">
                <a:solidFill>
                  <a:schemeClr val="bg1"/>
                </a:solidFill>
                <a:latin typeface="Lato" panose="020F0502020204030203" pitchFamily="34" charset="0"/>
              </a:rPr>
              <a:t>Lorem ipsum dolor sit </a:t>
            </a:r>
            <a:r>
              <a:rPr lang="en-US" altLang="zh-CN" sz="1000" dirty="0" err="1">
                <a:solidFill>
                  <a:schemeClr val="bg1"/>
                </a:solidFill>
                <a:latin typeface="Lato" panose="020F0502020204030203" pitchFamily="34" charset="0"/>
              </a:rPr>
              <a:t>amet</a:t>
            </a:r>
            <a:r>
              <a:rPr lang="en-US" altLang="zh-CN" sz="1000" dirty="0">
                <a:solidFill>
                  <a:schemeClr val="bg1"/>
                </a:solidFill>
                <a:latin typeface="Lato" panose="020F0502020204030203" pitchFamily="34" charset="0"/>
              </a:rPr>
              <a:t>, </a:t>
            </a:r>
            <a:r>
              <a:rPr lang="en-US" altLang="zh-CN" sz="1000" dirty="0" err="1">
                <a:solidFill>
                  <a:schemeClr val="bg1"/>
                </a:solidFill>
                <a:latin typeface="Lato" panose="020F0502020204030203" pitchFamily="34" charset="0"/>
              </a:rPr>
              <a:t>consectetur</a:t>
            </a:r>
            <a:r>
              <a:rPr lang="en-US" altLang="zh-CN" sz="1000" dirty="0">
                <a:solidFill>
                  <a:schemeClr val="bg1"/>
                </a:solidFill>
                <a:latin typeface="Lato" panose="020F0502020204030203" pitchFamily="34" charset="0"/>
              </a:rPr>
              <a:t> </a:t>
            </a:r>
            <a:endParaRPr lang="zh-CN" altLang="en-US" sz="1000" dirty="0">
              <a:solidFill>
                <a:schemeClr val="bg1"/>
              </a:solidFill>
              <a:latin typeface="Lato" panose="020F0502020204030203" pitchFamily="34" charset="0"/>
            </a:endParaRPr>
          </a:p>
        </p:txBody>
      </p:sp>
      <p:sp>
        <p:nvSpPr>
          <p:cNvPr id="15" name="矩形 14"/>
          <p:cNvSpPr/>
          <p:nvPr>
            <p:custDataLst>
              <p:tags r:id="rId8"/>
            </p:custDataLst>
          </p:nvPr>
        </p:nvSpPr>
        <p:spPr>
          <a:xfrm>
            <a:off x="5117062" y="3429000"/>
            <a:ext cx="1938113" cy="400110"/>
          </a:xfrm>
          <a:prstGeom prst="rect">
            <a:avLst/>
          </a:prstGeom>
        </p:spPr>
        <p:txBody>
          <a:bodyPr wrap="square">
            <a:spAutoFit/>
          </a:bodyPr>
          <a:lstStyle/>
          <a:p>
            <a:pPr algn="ctr"/>
            <a:r>
              <a:rPr lang="en-US" altLang="zh-CN" sz="1000" dirty="0">
                <a:solidFill>
                  <a:schemeClr val="bg1"/>
                </a:solidFill>
                <a:latin typeface="Lato" panose="020F0502020204030203" pitchFamily="34" charset="0"/>
              </a:rPr>
              <a:t>Lorem ipsum dolor sit </a:t>
            </a:r>
            <a:r>
              <a:rPr lang="en-US" altLang="zh-CN" sz="1000" dirty="0" err="1">
                <a:solidFill>
                  <a:schemeClr val="bg1"/>
                </a:solidFill>
                <a:latin typeface="Lato" panose="020F0502020204030203" pitchFamily="34" charset="0"/>
              </a:rPr>
              <a:t>amet</a:t>
            </a:r>
            <a:r>
              <a:rPr lang="en-US" altLang="zh-CN" sz="1000" dirty="0">
                <a:solidFill>
                  <a:schemeClr val="bg1"/>
                </a:solidFill>
                <a:latin typeface="Lato" panose="020F0502020204030203" pitchFamily="34" charset="0"/>
              </a:rPr>
              <a:t>, </a:t>
            </a:r>
            <a:r>
              <a:rPr lang="en-US" altLang="zh-CN" sz="1000" dirty="0" err="1">
                <a:solidFill>
                  <a:schemeClr val="bg1"/>
                </a:solidFill>
                <a:latin typeface="Lato" panose="020F0502020204030203" pitchFamily="34" charset="0"/>
              </a:rPr>
              <a:t>consectetur</a:t>
            </a:r>
            <a:r>
              <a:rPr lang="en-US" altLang="zh-CN" sz="1000" dirty="0">
                <a:solidFill>
                  <a:schemeClr val="bg1"/>
                </a:solidFill>
                <a:latin typeface="Lato" panose="020F0502020204030203" pitchFamily="34" charset="0"/>
              </a:rPr>
              <a:t> </a:t>
            </a:r>
            <a:endParaRPr lang="zh-CN" altLang="en-US" sz="1000" dirty="0">
              <a:solidFill>
                <a:schemeClr val="bg1"/>
              </a:solidFill>
              <a:latin typeface="Lato" panose="020F0502020204030203" pitchFamily="34" charset="0"/>
            </a:endParaRPr>
          </a:p>
        </p:txBody>
      </p:sp>
      <p:sp>
        <p:nvSpPr>
          <p:cNvPr id="16" name="矩形 15"/>
          <p:cNvSpPr/>
          <p:nvPr>
            <p:custDataLst>
              <p:tags r:id="rId9"/>
            </p:custDataLst>
          </p:nvPr>
        </p:nvSpPr>
        <p:spPr>
          <a:xfrm>
            <a:off x="8411737" y="3429000"/>
            <a:ext cx="1938113" cy="400110"/>
          </a:xfrm>
          <a:prstGeom prst="rect">
            <a:avLst/>
          </a:prstGeom>
        </p:spPr>
        <p:txBody>
          <a:bodyPr wrap="square">
            <a:spAutoFit/>
          </a:bodyPr>
          <a:lstStyle/>
          <a:p>
            <a:pPr algn="ctr"/>
            <a:r>
              <a:rPr lang="en-US" altLang="zh-CN" sz="1000" dirty="0">
                <a:solidFill>
                  <a:schemeClr val="bg1"/>
                </a:solidFill>
                <a:latin typeface="Lato" panose="020F0502020204030203" pitchFamily="34" charset="0"/>
              </a:rPr>
              <a:t>Lorem ipsum dolor sit </a:t>
            </a:r>
            <a:r>
              <a:rPr lang="en-US" altLang="zh-CN" sz="1000" dirty="0" err="1">
                <a:solidFill>
                  <a:schemeClr val="bg1"/>
                </a:solidFill>
                <a:latin typeface="Lato" panose="020F0502020204030203" pitchFamily="34" charset="0"/>
              </a:rPr>
              <a:t>amet</a:t>
            </a:r>
            <a:r>
              <a:rPr lang="en-US" altLang="zh-CN" sz="1000" dirty="0">
                <a:solidFill>
                  <a:schemeClr val="bg1"/>
                </a:solidFill>
                <a:latin typeface="Lato" panose="020F0502020204030203" pitchFamily="34" charset="0"/>
              </a:rPr>
              <a:t>, </a:t>
            </a:r>
            <a:r>
              <a:rPr lang="en-US" altLang="zh-CN" sz="1000" dirty="0" err="1">
                <a:solidFill>
                  <a:schemeClr val="bg1"/>
                </a:solidFill>
                <a:latin typeface="Lato" panose="020F0502020204030203" pitchFamily="34" charset="0"/>
              </a:rPr>
              <a:t>consectetur</a:t>
            </a:r>
            <a:r>
              <a:rPr lang="en-US" altLang="zh-CN" sz="1000" dirty="0">
                <a:solidFill>
                  <a:schemeClr val="bg1"/>
                </a:solidFill>
                <a:latin typeface="Lato" panose="020F0502020204030203" pitchFamily="34" charset="0"/>
              </a:rPr>
              <a:t> </a:t>
            </a:r>
            <a:endParaRPr lang="zh-CN" altLang="en-US" sz="1000" dirty="0">
              <a:solidFill>
                <a:schemeClr val="bg1"/>
              </a:solidFill>
              <a:latin typeface="Lato" panose="020F0502020204030203" pitchFamily="34" charset="0"/>
            </a:endParaRPr>
          </a:p>
        </p:txBody>
      </p:sp>
      <p:sp>
        <p:nvSpPr>
          <p:cNvPr id="17" name="TextBox 30"/>
          <p:cNvSpPr txBox="1"/>
          <p:nvPr>
            <p:custDataLst>
              <p:tags r:id="rId10"/>
            </p:custDataLst>
          </p:nvPr>
        </p:nvSpPr>
        <p:spPr>
          <a:xfrm>
            <a:off x="1684692" y="4595139"/>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8" name="TextBox 30"/>
          <p:cNvSpPr txBox="1"/>
          <p:nvPr>
            <p:custDataLst>
              <p:tags r:id="rId11"/>
            </p:custDataLst>
          </p:nvPr>
        </p:nvSpPr>
        <p:spPr>
          <a:xfrm>
            <a:off x="4961292" y="4595139"/>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9" name="TextBox 30"/>
          <p:cNvSpPr txBox="1"/>
          <p:nvPr>
            <p:custDataLst>
              <p:tags r:id="rId12"/>
            </p:custDataLst>
          </p:nvPr>
        </p:nvSpPr>
        <p:spPr>
          <a:xfrm>
            <a:off x="8246085" y="4595139"/>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7"/>
                                        </p:tgtEl>
                                        <p:attrNameLst>
                                          <p:attrName>style.visibility</p:attrName>
                                        </p:attrNameLst>
                                      </p:cBhvr>
                                      <p:to>
                                        <p:strVal val="visible"/>
                                      </p:to>
                                    </p:set>
                                    <p:animEffect filter="fade">
                                      <p:cBhvr>
                                        <p:cTn id="7" dur="700">
                                          <p:stCondLst>
                                            <p:cond delay="0"/>
                                          </p:stCondLst>
                                        </p:cTn>
                                        <p:tgtEl>
                                          <p:spTgt spid="17"/>
                                        </p:tgtEl>
                                      </p:cBhvr>
                                    </p:animEffect>
                                    <p:anim to="" calcmode="lin" valueType="num">
                                      <p:cBhvr>
                                        <p:cTn id="8"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8"/>
                                        </p:tgtEl>
                                        <p:attrNameLst>
                                          <p:attrName>style.visibility</p:attrName>
                                        </p:attrNameLst>
                                      </p:cBhvr>
                                      <p:to>
                                        <p:strVal val="visible"/>
                                      </p:to>
                                    </p:set>
                                    <p:animEffect filter="fade">
                                      <p:cBhvr>
                                        <p:cTn id="11" dur="700">
                                          <p:stCondLst>
                                            <p:cond delay="0"/>
                                          </p:stCondLst>
                                        </p:cTn>
                                        <p:tgtEl>
                                          <p:spTgt spid="18"/>
                                        </p:tgtEl>
                                      </p:cBhvr>
                                    </p:animEffect>
                                    <p:anim to="" calcmode="lin" valueType="num">
                                      <p:cBhvr>
                                        <p:cTn id="12"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9"/>
                                        </p:tgtEl>
                                        <p:attrNameLst>
                                          <p:attrName>style.visibility</p:attrName>
                                        </p:attrNameLst>
                                      </p:cBhvr>
                                      <p:to>
                                        <p:strVal val="visible"/>
                                      </p:to>
                                    </p:set>
                                    <p:animEffect filter="fade">
                                      <p:cBhvr>
                                        <p:cTn id="15" dur="700">
                                          <p:stCondLst>
                                            <p:cond delay="0"/>
                                          </p:stCondLst>
                                        </p:cTn>
                                        <p:tgtEl>
                                          <p:spTgt spid="19"/>
                                        </p:tgtEl>
                                      </p:cBhvr>
                                    </p:animEffect>
                                    <p:anim to="" calcmode="lin" valueType="num">
                                      <p:cBhvr>
                                        <p:cTn id="16" dur="700" fill="hold">
                                          <p:stCondLst>
                                            <p:cond delay="0"/>
                                          </p:stCondLst>
                                        </p:cTn>
                                        <p:tgtEl>
                                          <p:spTgt spid="19"/>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graphicFrame>
        <p:nvGraphicFramePr>
          <p:cNvPr id="7" name="차트 5"/>
          <p:cNvGraphicFramePr/>
          <p:nvPr/>
        </p:nvGraphicFramePr>
        <p:xfrm>
          <a:off x="1423715" y="1695687"/>
          <a:ext cx="9359123" cy="2970678"/>
        </p:xfrm>
        <a:graphic>
          <a:graphicData uri="http://schemas.openxmlformats.org/drawingml/2006/chart">
            <c:chart xmlns:c="http://schemas.openxmlformats.org/drawingml/2006/chart" xmlns:r="http://schemas.openxmlformats.org/officeDocument/2006/relationships" r:id="rId3"/>
          </a:graphicData>
        </a:graphic>
      </p:graphicFrame>
      <p:sp>
        <p:nvSpPr>
          <p:cNvPr id="8" name="矩形 7"/>
          <p:cNvSpPr/>
          <p:nvPr/>
        </p:nvSpPr>
        <p:spPr>
          <a:xfrm>
            <a:off x="2698684" y="5410304"/>
            <a:ext cx="6794632" cy="617733"/>
          </a:xfrm>
          <a:prstGeom prst="rect">
            <a:avLst/>
          </a:prstGeom>
        </p:spPr>
        <p:txBody>
          <a:bodyPr wrap="square">
            <a:spAutoFit/>
          </a:bodyPr>
          <a:lstStyle/>
          <a:p>
            <a:pPr algn="ct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9" name="矩形 8"/>
          <p:cNvSpPr/>
          <p:nvPr/>
        </p:nvSpPr>
        <p:spPr>
          <a:xfrm>
            <a:off x="3879975" y="4945690"/>
            <a:ext cx="4432051" cy="464614"/>
          </a:xfrm>
          <a:prstGeom prst="rect">
            <a:avLst/>
          </a:prstGeom>
        </p:spPr>
        <p:txBody>
          <a:bodyPr wrap="square">
            <a:spAutoFit/>
          </a:bodyPr>
          <a:lstStyle/>
          <a:p>
            <a:pPr algn="ct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7" dur="500"/>
                                        <p:tgtEl>
                                          <p:spTgt spid="7">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down)">
                                      <p:cBhvr>
                                        <p:cTn id="11" dur="500"/>
                                        <p:tgtEl>
                                          <p:spTgt spid="7">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down)">
                                      <p:cBhvr>
                                        <p:cTn id="15" dur="500"/>
                                        <p:tgtEl>
                                          <p:spTgt spid="7">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series"/>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7" name="Straight Connector 8"/>
          <p:cNvCxnSpPr/>
          <p:nvPr/>
        </p:nvCxnSpPr>
        <p:spPr>
          <a:xfrm>
            <a:off x="916698" y="4982067"/>
            <a:ext cx="10358605" cy="0"/>
          </a:xfrm>
          <a:prstGeom prst="line">
            <a:avLst/>
          </a:prstGeom>
          <a:ln w="3175">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Oval 10"/>
          <p:cNvSpPr/>
          <p:nvPr/>
        </p:nvSpPr>
        <p:spPr>
          <a:xfrm>
            <a:off x="4758934" y="4897035"/>
            <a:ext cx="170047" cy="170069"/>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1" name="Oval 12"/>
          <p:cNvSpPr/>
          <p:nvPr/>
        </p:nvSpPr>
        <p:spPr>
          <a:xfrm>
            <a:off x="9779549" y="4897035"/>
            <a:ext cx="170047" cy="170069"/>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2" name="TextBox 14"/>
          <p:cNvSpPr txBox="1"/>
          <p:nvPr/>
        </p:nvSpPr>
        <p:spPr>
          <a:xfrm>
            <a:off x="1922562" y="5153469"/>
            <a:ext cx="809749"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2015</a:t>
            </a:r>
          </a:p>
        </p:txBody>
      </p:sp>
      <p:sp>
        <p:nvSpPr>
          <p:cNvPr id="13" name="TextBox 15"/>
          <p:cNvSpPr txBox="1"/>
          <p:nvPr/>
        </p:nvSpPr>
        <p:spPr>
          <a:xfrm>
            <a:off x="4439084" y="5153469"/>
            <a:ext cx="809749"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2018</a:t>
            </a:r>
          </a:p>
        </p:txBody>
      </p:sp>
      <p:sp>
        <p:nvSpPr>
          <p:cNvPr id="14" name="TextBox 16"/>
          <p:cNvSpPr txBox="1"/>
          <p:nvPr/>
        </p:nvSpPr>
        <p:spPr>
          <a:xfrm>
            <a:off x="6949391" y="5153469"/>
            <a:ext cx="809749"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2019</a:t>
            </a:r>
          </a:p>
        </p:txBody>
      </p:sp>
      <p:sp>
        <p:nvSpPr>
          <p:cNvPr id="15" name="TextBox 17"/>
          <p:cNvSpPr txBox="1"/>
          <p:nvPr/>
        </p:nvSpPr>
        <p:spPr>
          <a:xfrm>
            <a:off x="9410001" y="5153469"/>
            <a:ext cx="909135"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2020</a:t>
            </a:r>
          </a:p>
        </p:txBody>
      </p:sp>
      <p:sp>
        <p:nvSpPr>
          <p:cNvPr id="16" name="Rounded Rectangle 18"/>
          <p:cNvSpPr/>
          <p:nvPr/>
        </p:nvSpPr>
        <p:spPr>
          <a:xfrm>
            <a:off x="916696" y="4224740"/>
            <a:ext cx="5531951" cy="50138"/>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17" name="Rounded Rectangle 19"/>
          <p:cNvSpPr/>
          <p:nvPr/>
        </p:nvSpPr>
        <p:spPr>
          <a:xfrm>
            <a:off x="3416375" y="3897590"/>
            <a:ext cx="5531951" cy="50138"/>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8" name="Rounded Rectangle 20"/>
          <p:cNvSpPr/>
          <p:nvPr/>
        </p:nvSpPr>
        <p:spPr>
          <a:xfrm>
            <a:off x="5937310" y="3570438"/>
            <a:ext cx="5531951" cy="50138"/>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19" name="Rounded Rectangle 21"/>
          <p:cNvSpPr/>
          <p:nvPr/>
        </p:nvSpPr>
        <p:spPr>
          <a:xfrm>
            <a:off x="8262042" y="3243288"/>
            <a:ext cx="5531951" cy="50138"/>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20" name="Rectangle 26"/>
          <p:cNvSpPr/>
          <p:nvPr/>
        </p:nvSpPr>
        <p:spPr>
          <a:xfrm>
            <a:off x="907220" y="2783617"/>
            <a:ext cx="429837" cy="522729"/>
          </a:xfrm>
          <a:prstGeom prst="rect">
            <a:avLst/>
          </a:prstGeom>
        </p:spPr>
        <p:txBody>
          <a:bodyPr wrap="none" lIns="91396" tIns="45699" rIns="91396" bIns="45699">
            <a:spAutoFit/>
          </a:bodyPr>
          <a:lstStyle/>
          <a:p>
            <a:r>
              <a:rPr lang="en-US" sz="2795" dirty="0">
                <a:solidFill>
                  <a:srgbClr val="CB3125"/>
                </a:solidFill>
                <a:latin typeface="+mj-lt"/>
                <a:cs typeface="+mn-ea"/>
                <a:sym typeface="+mn-lt"/>
              </a:rPr>
              <a:t>01</a:t>
            </a:r>
          </a:p>
        </p:txBody>
      </p:sp>
      <p:sp>
        <p:nvSpPr>
          <p:cNvPr id="21" name="Rectangle 27"/>
          <p:cNvSpPr/>
          <p:nvPr/>
        </p:nvSpPr>
        <p:spPr>
          <a:xfrm>
            <a:off x="3319626" y="2437265"/>
            <a:ext cx="477927" cy="522729"/>
          </a:xfrm>
          <a:prstGeom prst="rect">
            <a:avLst/>
          </a:prstGeom>
        </p:spPr>
        <p:txBody>
          <a:bodyPr wrap="none" lIns="91396" tIns="45699" rIns="91396" bIns="45699">
            <a:spAutoFit/>
          </a:bodyPr>
          <a:lstStyle/>
          <a:p>
            <a:r>
              <a:rPr lang="en-US" sz="2795" dirty="0">
                <a:solidFill>
                  <a:srgbClr val="2E578B"/>
                </a:solidFill>
                <a:latin typeface="+mj-lt"/>
                <a:cs typeface="+mn-ea"/>
                <a:sym typeface="+mn-lt"/>
              </a:rPr>
              <a:t>02</a:t>
            </a:r>
          </a:p>
        </p:txBody>
      </p:sp>
      <p:sp>
        <p:nvSpPr>
          <p:cNvPr id="22" name="Rectangle 28"/>
          <p:cNvSpPr/>
          <p:nvPr/>
        </p:nvSpPr>
        <p:spPr>
          <a:xfrm>
            <a:off x="5937314" y="2122375"/>
            <a:ext cx="476324" cy="522729"/>
          </a:xfrm>
          <a:prstGeom prst="rect">
            <a:avLst/>
          </a:prstGeom>
        </p:spPr>
        <p:txBody>
          <a:bodyPr wrap="none" lIns="91396" tIns="45699" rIns="91396" bIns="45699">
            <a:spAutoFit/>
          </a:bodyPr>
          <a:lstStyle/>
          <a:p>
            <a:r>
              <a:rPr lang="en-US" sz="2795" dirty="0">
                <a:solidFill>
                  <a:srgbClr val="CB3125"/>
                </a:solidFill>
                <a:latin typeface="+mj-lt"/>
                <a:cs typeface="+mn-ea"/>
                <a:sym typeface="+mn-lt"/>
              </a:rPr>
              <a:t>03</a:t>
            </a:r>
          </a:p>
        </p:txBody>
      </p:sp>
      <p:sp>
        <p:nvSpPr>
          <p:cNvPr id="23" name="Rectangle 29"/>
          <p:cNvSpPr/>
          <p:nvPr/>
        </p:nvSpPr>
        <p:spPr>
          <a:xfrm>
            <a:off x="8259131" y="1761563"/>
            <a:ext cx="489148" cy="522729"/>
          </a:xfrm>
          <a:prstGeom prst="rect">
            <a:avLst/>
          </a:prstGeom>
        </p:spPr>
        <p:txBody>
          <a:bodyPr wrap="none" lIns="91396" tIns="45699" rIns="91396" bIns="45699">
            <a:spAutoFit/>
          </a:bodyPr>
          <a:lstStyle/>
          <a:p>
            <a:r>
              <a:rPr lang="en-US" sz="2795" dirty="0">
                <a:solidFill>
                  <a:srgbClr val="2E578B"/>
                </a:solidFill>
                <a:latin typeface="+mj-lt"/>
                <a:cs typeface="+mn-ea"/>
                <a:sym typeface="+mn-lt"/>
              </a:rPr>
              <a:t>04</a:t>
            </a:r>
          </a:p>
        </p:txBody>
      </p:sp>
      <p:sp>
        <p:nvSpPr>
          <p:cNvPr id="24" name="Oval 10"/>
          <p:cNvSpPr/>
          <p:nvPr/>
        </p:nvSpPr>
        <p:spPr>
          <a:xfrm>
            <a:off x="2242404" y="4897035"/>
            <a:ext cx="170047" cy="170069"/>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25" name="Oval 12"/>
          <p:cNvSpPr/>
          <p:nvPr/>
        </p:nvSpPr>
        <p:spPr>
          <a:xfrm>
            <a:off x="7263019" y="4897035"/>
            <a:ext cx="170047" cy="170069"/>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26" name="TextBox 30"/>
          <p:cNvSpPr txBox="1"/>
          <p:nvPr/>
        </p:nvSpPr>
        <p:spPr>
          <a:xfrm>
            <a:off x="907220" y="3293426"/>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7" name="TextBox 30"/>
          <p:cNvSpPr txBox="1"/>
          <p:nvPr/>
        </p:nvSpPr>
        <p:spPr>
          <a:xfrm>
            <a:off x="3319626" y="2908721"/>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8" name="TextBox 30"/>
          <p:cNvSpPr txBox="1"/>
          <p:nvPr/>
        </p:nvSpPr>
        <p:spPr>
          <a:xfrm>
            <a:off x="5937310" y="2633502"/>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9" name="TextBox 30"/>
          <p:cNvSpPr txBox="1"/>
          <p:nvPr/>
        </p:nvSpPr>
        <p:spPr>
          <a:xfrm>
            <a:off x="8206725" y="2293979"/>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fltVal val="0"/>
                                          </p:val>
                                        </p:tav>
                                        <p:tav tm="100000">
                                          <p:val>
                                            <p:strVal val="#ppt_w"/>
                                          </p:val>
                                        </p:tav>
                                      </p:tavLst>
                                    </p:anim>
                                    <p:anim calcmode="lin" valueType="num">
                                      <p:cBhvr>
                                        <p:cTn id="24" dur="500" fill="hold"/>
                                        <p:tgtEl>
                                          <p:spTgt spid="20"/>
                                        </p:tgtEl>
                                        <p:attrNameLst>
                                          <p:attrName>ppt_h</p:attrName>
                                        </p:attrNameLst>
                                      </p:cBhvr>
                                      <p:tavLst>
                                        <p:tav tm="0">
                                          <p:val>
                                            <p:fltVal val="0"/>
                                          </p:val>
                                        </p:tav>
                                        <p:tav tm="100000">
                                          <p:val>
                                            <p:strVal val="#ppt_h"/>
                                          </p:val>
                                        </p:tav>
                                      </p:tavLst>
                                    </p:anim>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fltVal val="0.5"/>
                                          </p:val>
                                        </p:tav>
                                        <p:tav tm="100000">
                                          <p:val>
                                            <p:strVal val="#ppt_x"/>
                                          </p:val>
                                        </p:tav>
                                      </p:tavLst>
                                    </p:anim>
                                    <p:anim calcmode="lin" valueType="num">
                                      <p:cBhvr>
                                        <p:cTn id="27" dur="500" fill="hold"/>
                                        <p:tgtEl>
                                          <p:spTgt spid="20"/>
                                        </p:tgtEl>
                                        <p:attrNameLst>
                                          <p:attrName>ppt_y</p:attrName>
                                        </p:attrNameLst>
                                      </p:cBhvr>
                                      <p:tavLst>
                                        <p:tav tm="0">
                                          <p:val>
                                            <p:fltVal val="0.5"/>
                                          </p:val>
                                        </p:tav>
                                        <p:tav tm="100000">
                                          <p:val>
                                            <p:strVal val="#ppt_y"/>
                                          </p:val>
                                        </p:tav>
                                      </p:tavLst>
                                    </p:anim>
                                  </p:childTnLst>
                                </p:cTn>
                              </p:par>
                              <p:par>
                                <p:cTn id="28" presetID="53" presetClass="entr" presetSubtype="528"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500" fill="hold"/>
                                        <p:tgtEl>
                                          <p:spTgt spid="21"/>
                                        </p:tgtEl>
                                        <p:attrNameLst>
                                          <p:attrName>ppt_w</p:attrName>
                                        </p:attrNameLst>
                                      </p:cBhvr>
                                      <p:tavLst>
                                        <p:tav tm="0">
                                          <p:val>
                                            <p:fltVal val="0"/>
                                          </p:val>
                                        </p:tav>
                                        <p:tav tm="100000">
                                          <p:val>
                                            <p:strVal val="#ppt_w"/>
                                          </p:val>
                                        </p:tav>
                                      </p:tavLst>
                                    </p:anim>
                                    <p:anim calcmode="lin" valueType="num">
                                      <p:cBhvr>
                                        <p:cTn id="31" dur="500" fill="hold"/>
                                        <p:tgtEl>
                                          <p:spTgt spid="21"/>
                                        </p:tgtEl>
                                        <p:attrNameLst>
                                          <p:attrName>ppt_h</p:attrName>
                                        </p:attrNameLst>
                                      </p:cBhvr>
                                      <p:tavLst>
                                        <p:tav tm="0">
                                          <p:val>
                                            <p:fltVal val="0"/>
                                          </p:val>
                                        </p:tav>
                                        <p:tav tm="100000">
                                          <p:val>
                                            <p:strVal val="#ppt_h"/>
                                          </p:val>
                                        </p:tav>
                                      </p:tavLst>
                                    </p:anim>
                                    <p:animEffect transition="in" filter="fade">
                                      <p:cBhvr>
                                        <p:cTn id="32" dur="500"/>
                                        <p:tgtEl>
                                          <p:spTgt spid="21"/>
                                        </p:tgtEl>
                                      </p:cBhvr>
                                    </p:animEffect>
                                    <p:anim calcmode="lin" valueType="num">
                                      <p:cBhvr>
                                        <p:cTn id="33" dur="500" fill="hold"/>
                                        <p:tgtEl>
                                          <p:spTgt spid="21"/>
                                        </p:tgtEl>
                                        <p:attrNameLst>
                                          <p:attrName>ppt_x</p:attrName>
                                        </p:attrNameLst>
                                      </p:cBhvr>
                                      <p:tavLst>
                                        <p:tav tm="0">
                                          <p:val>
                                            <p:fltVal val="0.5"/>
                                          </p:val>
                                        </p:tav>
                                        <p:tav tm="100000">
                                          <p:val>
                                            <p:strVal val="#ppt_x"/>
                                          </p:val>
                                        </p:tav>
                                      </p:tavLst>
                                    </p:anim>
                                    <p:anim calcmode="lin" valueType="num">
                                      <p:cBhvr>
                                        <p:cTn id="34" dur="500" fill="hold"/>
                                        <p:tgtEl>
                                          <p:spTgt spid="21"/>
                                        </p:tgtEl>
                                        <p:attrNameLst>
                                          <p:attrName>ppt_y</p:attrName>
                                        </p:attrNameLst>
                                      </p:cBhvr>
                                      <p:tavLst>
                                        <p:tav tm="0">
                                          <p:val>
                                            <p:fltVal val="0.5"/>
                                          </p:val>
                                        </p:tav>
                                        <p:tav tm="100000">
                                          <p:val>
                                            <p:strVal val="#ppt_y"/>
                                          </p:val>
                                        </p:tav>
                                      </p:tavLst>
                                    </p:anim>
                                  </p:childTnLst>
                                </p:cTn>
                              </p:par>
                              <p:par>
                                <p:cTn id="35" presetID="53" presetClass="entr" presetSubtype="528"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anim calcmode="lin" valueType="num">
                                      <p:cBhvr>
                                        <p:cTn id="40" dur="500" fill="hold"/>
                                        <p:tgtEl>
                                          <p:spTgt spid="22"/>
                                        </p:tgtEl>
                                        <p:attrNameLst>
                                          <p:attrName>ppt_x</p:attrName>
                                        </p:attrNameLst>
                                      </p:cBhvr>
                                      <p:tavLst>
                                        <p:tav tm="0">
                                          <p:val>
                                            <p:fltVal val="0.5"/>
                                          </p:val>
                                        </p:tav>
                                        <p:tav tm="100000">
                                          <p:val>
                                            <p:strVal val="#ppt_x"/>
                                          </p:val>
                                        </p:tav>
                                      </p:tavLst>
                                    </p:anim>
                                    <p:anim calcmode="lin" valueType="num">
                                      <p:cBhvr>
                                        <p:cTn id="41" dur="500" fill="hold"/>
                                        <p:tgtEl>
                                          <p:spTgt spid="22"/>
                                        </p:tgtEl>
                                        <p:attrNameLst>
                                          <p:attrName>ppt_y</p:attrName>
                                        </p:attrNameLst>
                                      </p:cBhvr>
                                      <p:tavLst>
                                        <p:tav tm="0">
                                          <p:val>
                                            <p:fltVal val="0.5"/>
                                          </p:val>
                                        </p:tav>
                                        <p:tav tm="100000">
                                          <p:val>
                                            <p:strVal val="#ppt_y"/>
                                          </p:val>
                                        </p:tav>
                                      </p:tavLst>
                                    </p:anim>
                                  </p:childTnLst>
                                </p:cTn>
                              </p:par>
                              <p:par>
                                <p:cTn id="42" presetID="53" presetClass="entr" presetSubtype="528"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 calcmode="lin" valueType="num">
                                      <p:cBhvr>
                                        <p:cTn id="44" dur="500" fill="hold"/>
                                        <p:tgtEl>
                                          <p:spTgt spid="23"/>
                                        </p:tgtEl>
                                        <p:attrNameLst>
                                          <p:attrName>ppt_w</p:attrName>
                                        </p:attrNameLst>
                                      </p:cBhvr>
                                      <p:tavLst>
                                        <p:tav tm="0">
                                          <p:val>
                                            <p:fltVal val="0"/>
                                          </p:val>
                                        </p:tav>
                                        <p:tav tm="100000">
                                          <p:val>
                                            <p:strVal val="#ppt_w"/>
                                          </p:val>
                                        </p:tav>
                                      </p:tavLst>
                                    </p:anim>
                                    <p:anim calcmode="lin" valueType="num">
                                      <p:cBhvr>
                                        <p:cTn id="45" dur="500" fill="hold"/>
                                        <p:tgtEl>
                                          <p:spTgt spid="23"/>
                                        </p:tgtEl>
                                        <p:attrNameLst>
                                          <p:attrName>ppt_h</p:attrName>
                                        </p:attrNameLst>
                                      </p:cBhvr>
                                      <p:tavLst>
                                        <p:tav tm="0">
                                          <p:val>
                                            <p:fltVal val="0"/>
                                          </p:val>
                                        </p:tav>
                                        <p:tav tm="100000">
                                          <p:val>
                                            <p:strVal val="#ppt_h"/>
                                          </p:val>
                                        </p:tav>
                                      </p:tavLst>
                                    </p:anim>
                                    <p:animEffect transition="in" filter="fade">
                                      <p:cBhvr>
                                        <p:cTn id="46" dur="500"/>
                                        <p:tgtEl>
                                          <p:spTgt spid="23"/>
                                        </p:tgtEl>
                                      </p:cBhvr>
                                    </p:animEffect>
                                    <p:anim calcmode="lin" valueType="num">
                                      <p:cBhvr>
                                        <p:cTn id="47" dur="500" fill="hold"/>
                                        <p:tgtEl>
                                          <p:spTgt spid="23"/>
                                        </p:tgtEl>
                                        <p:attrNameLst>
                                          <p:attrName>ppt_x</p:attrName>
                                        </p:attrNameLst>
                                      </p:cBhvr>
                                      <p:tavLst>
                                        <p:tav tm="0">
                                          <p:val>
                                            <p:fltVal val="0.5"/>
                                          </p:val>
                                        </p:tav>
                                        <p:tav tm="100000">
                                          <p:val>
                                            <p:strVal val="#ppt_x"/>
                                          </p:val>
                                        </p:tav>
                                      </p:tavLst>
                                    </p:anim>
                                    <p:anim calcmode="lin" valueType="num">
                                      <p:cBhvr>
                                        <p:cTn id="48" dur="500" fill="hold"/>
                                        <p:tgtEl>
                                          <p:spTgt spid="23"/>
                                        </p:tgtEl>
                                        <p:attrNameLst>
                                          <p:attrName>ppt_y</p:attrName>
                                        </p:attrNameLst>
                                      </p:cBhvr>
                                      <p:tavLst>
                                        <p:tav tm="0">
                                          <p:val>
                                            <p:fltVal val="0.5"/>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right)">
                                      <p:cBhvr>
                                        <p:cTn id="53" dur="500"/>
                                        <p:tgtEl>
                                          <p:spTgt spid="7"/>
                                        </p:tgtEl>
                                      </p:cBhvr>
                                    </p:animEffect>
                                  </p:childTnLst>
                                </p:cTn>
                              </p:par>
                            </p:childTnLst>
                          </p:cTn>
                        </p:par>
                        <p:par>
                          <p:cTn id="54" fill="hold">
                            <p:stCondLst>
                              <p:cond delay="500"/>
                            </p:stCondLst>
                            <p:childTnLst>
                              <p:par>
                                <p:cTn id="55" presetID="23" presetClass="entr" presetSubtype="32" fill="hold" grpId="0" nodeType="after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250" fill="hold"/>
                                        <p:tgtEl>
                                          <p:spTgt spid="11"/>
                                        </p:tgtEl>
                                        <p:attrNameLst>
                                          <p:attrName>ppt_w</p:attrName>
                                        </p:attrNameLst>
                                      </p:cBhvr>
                                      <p:tavLst>
                                        <p:tav tm="0">
                                          <p:val>
                                            <p:strVal val="4*#ppt_w"/>
                                          </p:val>
                                        </p:tav>
                                        <p:tav tm="100000">
                                          <p:val>
                                            <p:strVal val="#ppt_w"/>
                                          </p:val>
                                        </p:tav>
                                      </p:tavLst>
                                    </p:anim>
                                    <p:anim calcmode="lin" valueType="num">
                                      <p:cBhvr>
                                        <p:cTn id="58" dur="250" fill="hold"/>
                                        <p:tgtEl>
                                          <p:spTgt spid="11"/>
                                        </p:tgtEl>
                                        <p:attrNameLst>
                                          <p:attrName>ppt_h</p:attrName>
                                        </p:attrNameLst>
                                      </p:cBhvr>
                                      <p:tavLst>
                                        <p:tav tm="0">
                                          <p:val>
                                            <p:strVal val="4*#ppt_h"/>
                                          </p:val>
                                        </p:tav>
                                        <p:tav tm="100000">
                                          <p:val>
                                            <p:strVal val="#ppt_h"/>
                                          </p:val>
                                        </p:tav>
                                      </p:tavLst>
                                    </p:anim>
                                  </p:childTnLst>
                                </p:cTn>
                              </p:par>
                            </p:childTnLst>
                          </p:cTn>
                        </p:par>
                        <p:par>
                          <p:cTn id="59" fill="hold">
                            <p:stCondLst>
                              <p:cond delay="1000"/>
                            </p:stCondLst>
                            <p:childTnLst>
                              <p:par>
                                <p:cTn id="60" presetID="23" presetClass="entr" presetSubtype="32" fill="hold" grpId="0" nodeType="after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p:cTn id="62" dur="250" fill="hold"/>
                                        <p:tgtEl>
                                          <p:spTgt spid="9"/>
                                        </p:tgtEl>
                                        <p:attrNameLst>
                                          <p:attrName>ppt_w</p:attrName>
                                        </p:attrNameLst>
                                      </p:cBhvr>
                                      <p:tavLst>
                                        <p:tav tm="0">
                                          <p:val>
                                            <p:strVal val="4*#ppt_w"/>
                                          </p:val>
                                        </p:tav>
                                        <p:tav tm="100000">
                                          <p:val>
                                            <p:strVal val="#ppt_w"/>
                                          </p:val>
                                        </p:tav>
                                      </p:tavLst>
                                    </p:anim>
                                    <p:anim calcmode="lin" valueType="num">
                                      <p:cBhvr>
                                        <p:cTn id="63" dur="250" fill="hold"/>
                                        <p:tgtEl>
                                          <p:spTgt spid="9"/>
                                        </p:tgtEl>
                                        <p:attrNameLst>
                                          <p:attrName>ppt_h</p:attrName>
                                        </p:attrNameLst>
                                      </p:cBhvr>
                                      <p:tavLst>
                                        <p:tav tm="0">
                                          <p:val>
                                            <p:strVal val="4*#ppt_h"/>
                                          </p:val>
                                        </p:tav>
                                        <p:tav tm="100000">
                                          <p:val>
                                            <p:strVal val="#ppt_h"/>
                                          </p:val>
                                        </p:tav>
                                      </p:tavLst>
                                    </p:anim>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250"/>
                                        <p:tgtEl>
                                          <p:spTgt spid="12"/>
                                        </p:tgtEl>
                                      </p:cBhvr>
                                    </p:animEffect>
                                  </p:childTnLst>
                                </p:cTn>
                              </p:par>
                            </p:childTnLst>
                          </p:cTn>
                        </p:par>
                        <p:par>
                          <p:cTn id="68" fill="hold">
                            <p:stCondLst>
                              <p:cond delay="2000"/>
                            </p:stCondLst>
                            <p:childTnLst>
                              <p:par>
                                <p:cTn id="69" presetID="10" presetClass="entr" presetSubtype="0" fill="hold" grpId="0" nodeType="after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250"/>
                                        <p:tgtEl>
                                          <p:spTgt spid="13"/>
                                        </p:tgtEl>
                                      </p:cBhvr>
                                    </p:animEffect>
                                  </p:childTnLst>
                                </p:cTn>
                              </p:par>
                            </p:childTnLst>
                          </p:cTn>
                        </p:par>
                        <p:par>
                          <p:cTn id="72" fill="hold">
                            <p:stCondLst>
                              <p:cond delay="2500"/>
                            </p:stCondLst>
                            <p:childTnLst>
                              <p:par>
                                <p:cTn id="73" presetID="10" presetClass="entr" presetSubtype="0" fill="hold" grpId="0" nodeType="after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250"/>
                                        <p:tgtEl>
                                          <p:spTgt spid="14"/>
                                        </p:tgtEl>
                                      </p:cBhvr>
                                    </p:animEffect>
                                  </p:childTnLst>
                                </p:cTn>
                              </p:par>
                            </p:childTnLst>
                          </p:cTn>
                        </p:par>
                        <p:par>
                          <p:cTn id="76" fill="hold">
                            <p:stCondLst>
                              <p:cond delay="3000"/>
                            </p:stCondLst>
                            <p:childTnLst>
                              <p:par>
                                <p:cTn id="77" presetID="10" presetClass="entr" presetSubtype="0" fill="hold" grpId="0" nodeType="after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250"/>
                                        <p:tgtEl>
                                          <p:spTgt spid="15"/>
                                        </p:tgtEl>
                                      </p:cBhvr>
                                    </p:animEffect>
                                  </p:childTnLst>
                                </p:cTn>
                              </p:par>
                            </p:childTnLst>
                          </p:cTn>
                        </p:par>
                        <p:par>
                          <p:cTn id="80" fill="hold">
                            <p:stCondLst>
                              <p:cond delay="3500"/>
                            </p:stCondLst>
                            <p:childTnLst>
                              <p:par>
                                <p:cTn id="81" presetID="23" presetClass="entr" presetSubtype="32"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250" fill="hold"/>
                                        <p:tgtEl>
                                          <p:spTgt spid="25"/>
                                        </p:tgtEl>
                                        <p:attrNameLst>
                                          <p:attrName>ppt_w</p:attrName>
                                        </p:attrNameLst>
                                      </p:cBhvr>
                                      <p:tavLst>
                                        <p:tav tm="0">
                                          <p:val>
                                            <p:strVal val="4*#ppt_w"/>
                                          </p:val>
                                        </p:tav>
                                        <p:tav tm="100000">
                                          <p:val>
                                            <p:strVal val="#ppt_w"/>
                                          </p:val>
                                        </p:tav>
                                      </p:tavLst>
                                    </p:anim>
                                    <p:anim calcmode="lin" valueType="num">
                                      <p:cBhvr>
                                        <p:cTn id="84" dur="250" fill="hold"/>
                                        <p:tgtEl>
                                          <p:spTgt spid="25"/>
                                        </p:tgtEl>
                                        <p:attrNameLst>
                                          <p:attrName>ppt_h</p:attrName>
                                        </p:attrNameLst>
                                      </p:cBhvr>
                                      <p:tavLst>
                                        <p:tav tm="0">
                                          <p:val>
                                            <p:strVal val="4*#ppt_h"/>
                                          </p:val>
                                        </p:tav>
                                        <p:tav tm="100000">
                                          <p:val>
                                            <p:strVal val="#ppt_h"/>
                                          </p:val>
                                        </p:tav>
                                      </p:tavLst>
                                    </p:anim>
                                  </p:childTnLst>
                                </p:cTn>
                              </p:par>
                            </p:childTnLst>
                          </p:cTn>
                        </p:par>
                        <p:par>
                          <p:cTn id="85" fill="hold">
                            <p:stCondLst>
                              <p:cond delay="4000"/>
                            </p:stCondLst>
                            <p:childTnLst>
                              <p:par>
                                <p:cTn id="86" presetID="23" presetClass="entr" presetSubtype="32"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p:cTn id="88" dur="250" fill="hold"/>
                                        <p:tgtEl>
                                          <p:spTgt spid="24"/>
                                        </p:tgtEl>
                                        <p:attrNameLst>
                                          <p:attrName>ppt_w</p:attrName>
                                        </p:attrNameLst>
                                      </p:cBhvr>
                                      <p:tavLst>
                                        <p:tav tm="0">
                                          <p:val>
                                            <p:strVal val="4*#ppt_w"/>
                                          </p:val>
                                        </p:tav>
                                        <p:tav tm="100000">
                                          <p:val>
                                            <p:strVal val="#ppt_w"/>
                                          </p:val>
                                        </p:tav>
                                      </p:tavLst>
                                    </p:anim>
                                    <p:anim calcmode="lin" valueType="num">
                                      <p:cBhvr>
                                        <p:cTn id="89" dur="250" fill="hold"/>
                                        <p:tgtEl>
                                          <p:spTgt spid="24"/>
                                        </p:tgtEl>
                                        <p:attrNameLst>
                                          <p:attrName>ppt_h</p:attrName>
                                        </p:attrNameLst>
                                      </p:cBhvr>
                                      <p:tavLst>
                                        <p:tav tm="0">
                                          <p:val>
                                            <p:strVal val="4*#ppt_h"/>
                                          </p:val>
                                        </p:tav>
                                        <p:tav tm="100000">
                                          <p:val>
                                            <p:strVal val="#ppt_h"/>
                                          </p:val>
                                        </p:tav>
                                      </p:tavLst>
                                    </p:anim>
                                  </p:childTnLst>
                                </p:cTn>
                              </p:par>
                              <p:par>
                                <p:cTn id="90" presetID="0" presetClass="entr" presetSubtype="0" fill="hold" grpId="0" nodeType="withEffect">
                                  <p:stCondLst>
                                    <p:cond delay="1200"/>
                                  </p:stCondLst>
                                  <p:iterate type="lt">
                                    <p:tmPct val="10000"/>
                                  </p:iterate>
                                  <p:childTnLst>
                                    <p:set>
                                      <p:cBhvr>
                                        <p:cTn id="91" dur="700" fill="hold">
                                          <p:stCondLst>
                                            <p:cond delay="0"/>
                                          </p:stCondLst>
                                        </p:cTn>
                                        <p:tgtEl>
                                          <p:spTgt spid="26"/>
                                        </p:tgtEl>
                                        <p:attrNameLst>
                                          <p:attrName>style.visibility</p:attrName>
                                        </p:attrNameLst>
                                      </p:cBhvr>
                                      <p:to>
                                        <p:strVal val="visible"/>
                                      </p:to>
                                    </p:set>
                                    <p:animEffect filter="fade">
                                      <p:cBhvr>
                                        <p:cTn id="92" dur="700">
                                          <p:stCondLst>
                                            <p:cond delay="0"/>
                                          </p:stCondLst>
                                        </p:cTn>
                                        <p:tgtEl>
                                          <p:spTgt spid="26"/>
                                        </p:tgtEl>
                                      </p:cBhvr>
                                    </p:animEffect>
                                    <p:anim to="" calcmode="lin" valueType="num">
                                      <p:cBhvr>
                                        <p:cTn id="93"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94" presetID="0" presetClass="entr" presetSubtype="0" fill="hold" grpId="0" nodeType="withEffect">
                                  <p:stCondLst>
                                    <p:cond delay="1200"/>
                                  </p:stCondLst>
                                  <p:iterate type="lt">
                                    <p:tmPct val="10000"/>
                                  </p:iterate>
                                  <p:childTnLst>
                                    <p:set>
                                      <p:cBhvr>
                                        <p:cTn id="95" dur="700" fill="hold">
                                          <p:stCondLst>
                                            <p:cond delay="0"/>
                                          </p:stCondLst>
                                        </p:cTn>
                                        <p:tgtEl>
                                          <p:spTgt spid="27"/>
                                        </p:tgtEl>
                                        <p:attrNameLst>
                                          <p:attrName>style.visibility</p:attrName>
                                        </p:attrNameLst>
                                      </p:cBhvr>
                                      <p:to>
                                        <p:strVal val="visible"/>
                                      </p:to>
                                    </p:set>
                                    <p:animEffect filter="fade">
                                      <p:cBhvr>
                                        <p:cTn id="96" dur="700">
                                          <p:stCondLst>
                                            <p:cond delay="0"/>
                                          </p:stCondLst>
                                        </p:cTn>
                                        <p:tgtEl>
                                          <p:spTgt spid="27"/>
                                        </p:tgtEl>
                                      </p:cBhvr>
                                    </p:animEffect>
                                    <p:anim to="" calcmode="lin" valueType="num">
                                      <p:cBhvr>
                                        <p:cTn id="97"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par>
                                <p:cTn id="98" presetID="0" presetClass="entr" presetSubtype="0" fill="hold" grpId="0" nodeType="withEffect">
                                  <p:stCondLst>
                                    <p:cond delay="1200"/>
                                  </p:stCondLst>
                                  <p:iterate type="lt">
                                    <p:tmPct val="10000"/>
                                  </p:iterate>
                                  <p:childTnLst>
                                    <p:set>
                                      <p:cBhvr>
                                        <p:cTn id="99" dur="700" fill="hold">
                                          <p:stCondLst>
                                            <p:cond delay="0"/>
                                          </p:stCondLst>
                                        </p:cTn>
                                        <p:tgtEl>
                                          <p:spTgt spid="28"/>
                                        </p:tgtEl>
                                        <p:attrNameLst>
                                          <p:attrName>style.visibility</p:attrName>
                                        </p:attrNameLst>
                                      </p:cBhvr>
                                      <p:to>
                                        <p:strVal val="visible"/>
                                      </p:to>
                                    </p:set>
                                    <p:animEffect filter="fade">
                                      <p:cBhvr>
                                        <p:cTn id="100" dur="700">
                                          <p:stCondLst>
                                            <p:cond delay="0"/>
                                          </p:stCondLst>
                                        </p:cTn>
                                        <p:tgtEl>
                                          <p:spTgt spid="28"/>
                                        </p:tgtEl>
                                      </p:cBhvr>
                                    </p:animEffect>
                                    <p:anim to="" calcmode="lin" valueType="num">
                                      <p:cBhvr>
                                        <p:cTn id="101" dur="700" fill="hold">
                                          <p:stCondLst>
                                            <p:cond delay="0"/>
                                          </p:stCondLst>
                                        </p:cTn>
                                        <p:tgtEl>
                                          <p:spTgt spid="28"/>
                                        </p:tgtEl>
                                        <p:attrNameLst>
                                          <p:attrName>ppt_y</p:attrName>
                                        </p:attrNameLst>
                                      </p:cBhvr>
                                      <p:tavLst>
                                        <p:tav tm="0" fmla="#ppt_y-#ppt_h*((1.5-1.5*$)^2-(1.5-1.5*$)^3)">
                                          <p:val>
                                            <p:fltVal val="0"/>
                                          </p:val>
                                        </p:tav>
                                        <p:tav tm="100000">
                                          <p:val>
                                            <p:fltVal val="1"/>
                                          </p:val>
                                        </p:tav>
                                      </p:tavLst>
                                    </p:anim>
                                  </p:childTnLst>
                                </p:cTn>
                              </p:par>
                              <p:par>
                                <p:cTn id="102" presetID="0" presetClass="entr" presetSubtype="0" fill="hold" grpId="0" nodeType="withEffect">
                                  <p:stCondLst>
                                    <p:cond delay="1200"/>
                                  </p:stCondLst>
                                  <p:iterate type="lt">
                                    <p:tmPct val="10000"/>
                                  </p:iterate>
                                  <p:childTnLst>
                                    <p:set>
                                      <p:cBhvr>
                                        <p:cTn id="103" dur="700" fill="hold">
                                          <p:stCondLst>
                                            <p:cond delay="0"/>
                                          </p:stCondLst>
                                        </p:cTn>
                                        <p:tgtEl>
                                          <p:spTgt spid="29"/>
                                        </p:tgtEl>
                                        <p:attrNameLst>
                                          <p:attrName>style.visibility</p:attrName>
                                        </p:attrNameLst>
                                      </p:cBhvr>
                                      <p:to>
                                        <p:strVal val="visible"/>
                                      </p:to>
                                    </p:set>
                                    <p:animEffect filter="fade">
                                      <p:cBhvr>
                                        <p:cTn id="104" dur="700">
                                          <p:stCondLst>
                                            <p:cond delay="0"/>
                                          </p:stCondLst>
                                        </p:cTn>
                                        <p:tgtEl>
                                          <p:spTgt spid="29"/>
                                        </p:tgtEl>
                                      </p:cBhvr>
                                    </p:animEffect>
                                    <p:anim to="" calcmode="lin" valueType="num">
                                      <p:cBhvr>
                                        <p:cTn id="105" dur="700" fill="hold">
                                          <p:stCondLst>
                                            <p:cond delay="0"/>
                                          </p:stCondLst>
                                        </p:cTn>
                                        <p:tgtEl>
                                          <p:spTgt spid="29"/>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3" grpId="0"/>
      <p:bldP spid="14" grpId="0"/>
      <p:bldP spid="15" grpId="0"/>
      <p:bldP spid="16" grpId="0" animBg="1"/>
      <p:bldP spid="17" grpId="0" animBg="1"/>
      <p:bldP spid="18" grpId="0" animBg="1"/>
      <p:bldP spid="19" grpId="0" animBg="1"/>
      <p:bldP spid="20" grpId="0"/>
      <p:bldP spid="21" grpId="0"/>
      <p:bldP spid="22" grpId="0"/>
      <p:bldP spid="23" grpId="0"/>
      <p:bldP spid="24" grpId="0" animBg="1"/>
      <p:bldP spid="25" grpId="0" animBg="1"/>
      <p:bldP spid="26" grpId="0"/>
      <p:bldP spid="27" grpId="0"/>
      <p:bldP spid="28" grpId="0"/>
      <p:bldP spid="2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grpSp>
        <p:nvGrpSpPr>
          <p:cNvPr id="7" name="Group 15"/>
          <p:cNvGrpSpPr/>
          <p:nvPr/>
        </p:nvGrpSpPr>
        <p:grpSpPr>
          <a:xfrm flipV="1">
            <a:off x="1854201" y="1868241"/>
            <a:ext cx="1182688" cy="2146300"/>
            <a:chOff x="1854201" y="2590800"/>
            <a:chExt cx="1182688" cy="2146300"/>
          </a:xfrm>
          <a:solidFill>
            <a:srgbClr val="CB3125"/>
          </a:solidFill>
        </p:grpSpPr>
        <p:sp>
          <p:nvSpPr>
            <p:cNvPr id="8"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9"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0"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1"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2"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3"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14" name="Group 16"/>
          <p:cNvGrpSpPr/>
          <p:nvPr/>
        </p:nvGrpSpPr>
        <p:grpSpPr>
          <a:xfrm flipV="1">
            <a:off x="4304507" y="1868241"/>
            <a:ext cx="1182688" cy="2146300"/>
            <a:chOff x="1854201" y="2590800"/>
            <a:chExt cx="1182688" cy="2146300"/>
          </a:xfrm>
          <a:solidFill>
            <a:srgbClr val="2E578B"/>
          </a:solidFill>
        </p:grpSpPr>
        <p:sp>
          <p:nvSpPr>
            <p:cNvPr id="15"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6"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7"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8"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9"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0"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21" name="Group 23"/>
          <p:cNvGrpSpPr/>
          <p:nvPr/>
        </p:nvGrpSpPr>
        <p:grpSpPr>
          <a:xfrm flipV="1">
            <a:off x="6678613" y="1868241"/>
            <a:ext cx="1182688" cy="2146300"/>
            <a:chOff x="1854201" y="2590800"/>
            <a:chExt cx="1182688" cy="2146300"/>
          </a:xfrm>
          <a:solidFill>
            <a:srgbClr val="CB3125"/>
          </a:solidFill>
        </p:grpSpPr>
        <p:sp>
          <p:nvSpPr>
            <p:cNvPr id="22"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3"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4"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5"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6"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7"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28" name="Group 30"/>
          <p:cNvGrpSpPr/>
          <p:nvPr/>
        </p:nvGrpSpPr>
        <p:grpSpPr>
          <a:xfrm flipV="1">
            <a:off x="9132889" y="1868241"/>
            <a:ext cx="1182688" cy="2146300"/>
            <a:chOff x="1854201" y="2590800"/>
            <a:chExt cx="1182688" cy="2146300"/>
          </a:xfrm>
          <a:solidFill>
            <a:srgbClr val="2E578B"/>
          </a:solidFill>
        </p:grpSpPr>
        <p:sp>
          <p:nvSpPr>
            <p:cNvPr id="29"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0"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1"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2"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3"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4"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35" name="Group 46"/>
          <p:cNvGrpSpPr/>
          <p:nvPr/>
        </p:nvGrpSpPr>
        <p:grpSpPr>
          <a:xfrm>
            <a:off x="2120407" y="2076553"/>
            <a:ext cx="647100" cy="650656"/>
            <a:chOff x="5402263" y="3448050"/>
            <a:chExt cx="577849" cy="581025"/>
          </a:xfrm>
          <a:solidFill>
            <a:srgbClr val="FEFEFE"/>
          </a:solidFill>
        </p:grpSpPr>
        <p:sp>
          <p:nvSpPr>
            <p:cNvPr id="36" name="Freeform 217"/>
            <p:cNvSpPr/>
            <p:nvPr/>
          </p:nvSpPr>
          <p:spPr bwMode="auto">
            <a:xfrm>
              <a:off x="5402263" y="3636963"/>
              <a:ext cx="77787" cy="28575"/>
            </a:xfrm>
            <a:custGeom>
              <a:avLst/>
              <a:gdLst>
                <a:gd name="T0" fmla="*/ 88 w 494"/>
                <a:gd name="T1" fmla="*/ 0 h 177"/>
                <a:gd name="T2" fmla="*/ 406 w 494"/>
                <a:gd name="T3" fmla="*/ 0 h 177"/>
                <a:gd name="T4" fmla="*/ 429 w 494"/>
                <a:gd name="T5" fmla="*/ 3 h 177"/>
                <a:gd name="T6" fmla="*/ 450 w 494"/>
                <a:gd name="T7" fmla="*/ 12 h 177"/>
                <a:gd name="T8" fmla="*/ 469 w 494"/>
                <a:gd name="T9" fmla="*/ 25 h 177"/>
                <a:gd name="T10" fmla="*/ 482 w 494"/>
                <a:gd name="T11" fmla="*/ 43 h 177"/>
                <a:gd name="T12" fmla="*/ 491 w 494"/>
                <a:gd name="T13" fmla="*/ 65 h 177"/>
                <a:gd name="T14" fmla="*/ 494 w 494"/>
                <a:gd name="T15" fmla="*/ 89 h 177"/>
                <a:gd name="T16" fmla="*/ 491 w 494"/>
                <a:gd name="T17" fmla="*/ 112 h 177"/>
                <a:gd name="T18" fmla="*/ 482 w 494"/>
                <a:gd name="T19" fmla="*/ 133 h 177"/>
                <a:gd name="T20" fmla="*/ 469 w 494"/>
                <a:gd name="T21" fmla="*/ 151 h 177"/>
                <a:gd name="T22" fmla="*/ 450 w 494"/>
                <a:gd name="T23" fmla="*/ 165 h 177"/>
                <a:gd name="T24" fmla="*/ 429 w 494"/>
                <a:gd name="T25" fmla="*/ 174 h 177"/>
                <a:gd name="T26" fmla="*/ 406 w 494"/>
                <a:gd name="T27" fmla="*/ 177 h 177"/>
                <a:gd name="T28" fmla="*/ 88 w 494"/>
                <a:gd name="T29" fmla="*/ 177 h 177"/>
                <a:gd name="T30" fmla="*/ 65 w 494"/>
                <a:gd name="T31" fmla="*/ 174 h 177"/>
                <a:gd name="T32" fmla="*/ 44 w 494"/>
                <a:gd name="T33" fmla="*/ 165 h 177"/>
                <a:gd name="T34" fmla="*/ 25 w 494"/>
                <a:gd name="T35" fmla="*/ 151 h 177"/>
                <a:gd name="T36" fmla="*/ 12 w 494"/>
                <a:gd name="T37" fmla="*/ 133 h 177"/>
                <a:gd name="T38" fmla="*/ 3 w 494"/>
                <a:gd name="T39" fmla="*/ 112 h 177"/>
                <a:gd name="T40" fmla="*/ 0 w 494"/>
                <a:gd name="T41" fmla="*/ 89 h 177"/>
                <a:gd name="T42" fmla="*/ 3 w 494"/>
                <a:gd name="T43" fmla="*/ 65 h 177"/>
                <a:gd name="T44" fmla="*/ 12 w 494"/>
                <a:gd name="T45" fmla="*/ 43 h 177"/>
                <a:gd name="T46" fmla="*/ 25 w 494"/>
                <a:gd name="T47" fmla="*/ 25 h 177"/>
                <a:gd name="T48" fmla="*/ 44 w 494"/>
                <a:gd name="T49" fmla="*/ 12 h 177"/>
                <a:gd name="T50" fmla="*/ 65 w 494"/>
                <a:gd name="T51" fmla="*/ 3 h 177"/>
                <a:gd name="T52" fmla="*/ 88 w 494"/>
                <a:gd name="T5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4" h="177">
                  <a:moveTo>
                    <a:pt x="88" y="0"/>
                  </a:moveTo>
                  <a:lnTo>
                    <a:pt x="406" y="0"/>
                  </a:lnTo>
                  <a:lnTo>
                    <a:pt x="429" y="3"/>
                  </a:lnTo>
                  <a:lnTo>
                    <a:pt x="450" y="12"/>
                  </a:lnTo>
                  <a:lnTo>
                    <a:pt x="469" y="25"/>
                  </a:lnTo>
                  <a:lnTo>
                    <a:pt x="482" y="43"/>
                  </a:lnTo>
                  <a:lnTo>
                    <a:pt x="491" y="65"/>
                  </a:lnTo>
                  <a:lnTo>
                    <a:pt x="494" y="89"/>
                  </a:lnTo>
                  <a:lnTo>
                    <a:pt x="491" y="112"/>
                  </a:lnTo>
                  <a:lnTo>
                    <a:pt x="482" y="133"/>
                  </a:lnTo>
                  <a:lnTo>
                    <a:pt x="469" y="151"/>
                  </a:lnTo>
                  <a:lnTo>
                    <a:pt x="450" y="165"/>
                  </a:lnTo>
                  <a:lnTo>
                    <a:pt x="429" y="174"/>
                  </a:lnTo>
                  <a:lnTo>
                    <a:pt x="406" y="177"/>
                  </a:lnTo>
                  <a:lnTo>
                    <a:pt x="88" y="177"/>
                  </a:lnTo>
                  <a:lnTo>
                    <a:pt x="65" y="174"/>
                  </a:lnTo>
                  <a:lnTo>
                    <a:pt x="44" y="165"/>
                  </a:lnTo>
                  <a:lnTo>
                    <a:pt x="25" y="151"/>
                  </a:lnTo>
                  <a:lnTo>
                    <a:pt x="12" y="133"/>
                  </a:lnTo>
                  <a:lnTo>
                    <a:pt x="3" y="112"/>
                  </a:lnTo>
                  <a:lnTo>
                    <a:pt x="0" y="89"/>
                  </a:lnTo>
                  <a:lnTo>
                    <a:pt x="3" y="65"/>
                  </a:lnTo>
                  <a:lnTo>
                    <a:pt x="12" y="43"/>
                  </a:lnTo>
                  <a:lnTo>
                    <a:pt x="25" y="25"/>
                  </a:lnTo>
                  <a:lnTo>
                    <a:pt x="44" y="12"/>
                  </a:lnTo>
                  <a:lnTo>
                    <a:pt x="65" y="3"/>
                  </a:lnTo>
                  <a:lnTo>
                    <a:pt x="88"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7" name="Freeform 218"/>
            <p:cNvSpPr/>
            <p:nvPr/>
          </p:nvSpPr>
          <p:spPr bwMode="auto">
            <a:xfrm>
              <a:off x="5902325" y="3636963"/>
              <a:ext cx="77787" cy="28575"/>
            </a:xfrm>
            <a:custGeom>
              <a:avLst/>
              <a:gdLst>
                <a:gd name="T0" fmla="*/ 89 w 494"/>
                <a:gd name="T1" fmla="*/ 0 h 177"/>
                <a:gd name="T2" fmla="*/ 407 w 494"/>
                <a:gd name="T3" fmla="*/ 0 h 177"/>
                <a:gd name="T4" fmla="*/ 430 w 494"/>
                <a:gd name="T5" fmla="*/ 3 h 177"/>
                <a:gd name="T6" fmla="*/ 451 w 494"/>
                <a:gd name="T7" fmla="*/ 12 h 177"/>
                <a:gd name="T8" fmla="*/ 469 w 494"/>
                <a:gd name="T9" fmla="*/ 25 h 177"/>
                <a:gd name="T10" fmla="*/ 482 w 494"/>
                <a:gd name="T11" fmla="*/ 43 h 177"/>
                <a:gd name="T12" fmla="*/ 491 w 494"/>
                <a:gd name="T13" fmla="*/ 65 h 177"/>
                <a:gd name="T14" fmla="*/ 494 w 494"/>
                <a:gd name="T15" fmla="*/ 89 h 177"/>
                <a:gd name="T16" fmla="*/ 491 w 494"/>
                <a:gd name="T17" fmla="*/ 112 h 177"/>
                <a:gd name="T18" fmla="*/ 482 w 494"/>
                <a:gd name="T19" fmla="*/ 133 h 177"/>
                <a:gd name="T20" fmla="*/ 469 w 494"/>
                <a:gd name="T21" fmla="*/ 151 h 177"/>
                <a:gd name="T22" fmla="*/ 451 w 494"/>
                <a:gd name="T23" fmla="*/ 165 h 177"/>
                <a:gd name="T24" fmla="*/ 430 w 494"/>
                <a:gd name="T25" fmla="*/ 174 h 177"/>
                <a:gd name="T26" fmla="*/ 407 w 494"/>
                <a:gd name="T27" fmla="*/ 177 h 177"/>
                <a:gd name="T28" fmla="*/ 89 w 494"/>
                <a:gd name="T29" fmla="*/ 177 h 177"/>
                <a:gd name="T30" fmla="*/ 65 w 494"/>
                <a:gd name="T31" fmla="*/ 174 h 177"/>
                <a:gd name="T32" fmla="*/ 44 w 494"/>
                <a:gd name="T33" fmla="*/ 165 h 177"/>
                <a:gd name="T34" fmla="*/ 27 w 494"/>
                <a:gd name="T35" fmla="*/ 151 h 177"/>
                <a:gd name="T36" fmla="*/ 12 w 494"/>
                <a:gd name="T37" fmla="*/ 133 h 177"/>
                <a:gd name="T38" fmla="*/ 3 w 494"/>
                <a:gd name="T39" fmla="*/ 112 h 177"/>
                <a:gd name="T40" fmla="*/ 0 w 494"/>
                <a:gd name="T41" fmla="*/ 89 h 177"/>
                <a:gd name="T42" fmla="*/ 3 w 494"/>
                <a:gd name="T43" fmla="*/ 65 h 177"/>
                <a:gd name="T44" fmla="*/ 12 w 494"/>
                <a:gd name="T45" fmla="*/ 43 h 177"/>
                <a:gd name="T46" fmla="*/ 27 w 494"/>
                <a:gd name="T47" fmla="*/ 25 h 177"/>
                <a:gd name="T48" fmla="*/ 44 w 494"/>
                <a:gd name="T49" fmla="*/ 12 h 177"/>
                <a:gd name="T50" fmla="*/ 65 w 494"/>
                <a:gd name="T51" fmla="*/ 3 h 177"/>
                <a:gd name="T52" fmla="*/ 89 w 494"/>
                <a:gd name="T5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4" h="177">
                  <a:moveTo>
                    <a:pt x="89" y="0"/>
                  </a:moveTo>
                  <a:lnTo>
                    <a:pt x="407" y="0"/>
                  </a:lnTo>
                  <a:lnTo>
                    <a:pt x="430" y="3"/>
                  </a:lnTo>
                  <a:lnTo>
                    <a:pt x="451" y="12"/>
                  </a:lnTo>
                  <a:lnTo>
                    <a:pt x="469" y="25"/>
                  </a:lnTo>
                  <a:lnTo>
                    <a:pt x="482" y="43"/>
                  </a:lnTo>
                  <a:lnTo>
                    <a:pt x="491" y="65"/>
                  </a:lnTo>
                  <a:lnTo>
                    <a:pt x="494" y="89"/>
                  </a:lnTo>
                  <a:lnTo>
                    <a:pt x="491" y="112"/>
                  </a:lnTo>
                  <a:lnTo>
                    <a:pt x="482" y="133"/>
                  </a:lnTo>
                  <a:lnTo>
                    <a:pt x="469" y="151"/>
                  </a:lnTo>
                  <a:lnTo>
                    <a:pt x="451" y="165"/>
                  </a:lnTo>
                  <a:lnTo>
                    <a:pt x="430" y="174"/>
                  </a:lnTo>
                  <a:lnTo>
                    <a:pt x="407" y="177"/>
                  </a:lnTo>
                  <a:lnTo>
                    <a:pt x="89" y="177"/>
                  </a:lnTo>
                  <a:lnTo>
                    <a:pt x="65" y="174"/>
                  </a:lnTo>
                  <a:lnTo>
                    <a:pt x="44" y="165"/>
                  </a:lnTo>
                  <a:lnTo>
                    <a:pt x="27" y="151"/>
                  </a:lnTo>
                  <a:lnTo>
                    <a:pt x="12" y="133"/>
                  </a:lnTo>
                  <a:lnTo>
                    <a:pt x="3" y="112"/>
                  </a:lnTo>
                  <a:lnTo>
                    <a:pt x="0" y="89"/>
                  </a:lnTo>
                  <a:lnTo>
                    <a:pt x="3" y="65"/>
                  </a:lnTo>
                  <a:lnTo>
                    <a:pt x="12" y="43"/>
                  </a:lnTo>
                  <a:lnTo>
                    <a:pt x="27" y="25"/>
                  </a:lnTo>
                  <a:lnTo>
                    <a:pt x="44" y="12"/>
                  </a:lnTo>
                  <a:lnTo>
                    <a:pt x="65" y="3"/>
                  </a:lnTo>
                  <a:lnTo>
                    <a:pt x="89"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8" name="Freeform 219"/>
            <p:cNvSpPr/>
            <p:nvPr/>
          </p:nvSpPr>
          <p:spPr bwMode="auto">
            <a:xfrm>
              <a:off x="5464175" y="3814763"/>
              <a:ext cx="65087" cy="65088"/>
            </a:xfrm>
            <a:custGeom>
              <a:avLst/>
              <a:gdLst>
                <a:gd name="T0" fmla="*/ 310 w 407"/>
                <a:gd name="T1" fmla="*/ 0 h 408"/>
                <a:gd name="T2" fmla="*/ 329 w 407"/>
                <a:gd name="T3" fmla="*/ 0 h 408"/>
                <a:gd name="T4" fmla="*/ 348 w 407"/>
                <a:gd name="T5" fmla="*/ 3 h 408"/>
                <a:gd name="T6" fmla="*/ 366 w 407"/>
                <a:gd name="T7" fmla="*/ 12 h 408"/>
                <a:gd name="T8" fmla="*/ 382 w 407"/>
                <a:gd name="T9" fmla="*/ 24 h 408"/>
                <a:gd name="T10" fmla="*/ 394 w 407"/>
                <a:gd name="T11" fmla="*/ 41 h 408"/>
                <a:gd name="T12" fmla="*/ 403 w 407"/>
                <a:gd name="T13" fmla="*/ 59 h 408"/>
                <a:gd name="T14" fmla="*/ 407 w 407"/>
                <a:gd name="T15" fmla="*/ 78 h 408"/>
                <a:gd name="T16" fmla="*/ 407 w 407"/>
                <a:gd name="T17" fmla="*/ 98 h 408"/>
                <a:gd name="T18" fmla="*/ 403 w 407"/>
                <a:gd name="T19" fmla="*/ 116 h 408"/>
                <a:gd name="T20" fmla="*/ 394 w 407"/>
                <a:gd name="T21" fmla="*/ 134 h 408"/>
                <a:gd name="T22" fmla="*/ 382 w 407"/>
                <a:gd name="T23" fmla="*/ 150 h 408"/>
                <a:gd name="T24" fmla="*/ 151 w 407"/>
                <a:gd name="T25" fmla="*/ 381 h 408"/>
                <a:gd name="T26" fmla="*/ 137 w 407"/>
                <a:gd name="T27" fmla="*/ 394 h 408"/>
                <a:gd name="T28" fmla="*/ 122 w 407"/>
                <a:gd name="T29" fmla="*/ 401 h 408"/>
                <a:gd name="T30" fmla="*/ 105 w 407"/>
                <a:gd name="T31" fmla="*/ 406 h 408"/>
                <a:gd name="T32" fmla="*/ 89 w 407"/>
                <a:gd name="T33" fmla="*/ 408 h 408"/>
                <a:gd name="T34" fmla="*/ 71 w 407"/>
                <a:gd name="T35" fmla="*/ 406 h 408"/>
                <a:gd name="T36" fmla="*/ 56 w 407"/>
                <a:gd name="T37" fmla="*/ 401 h 408"/>
                <a:gd name="T38" fmla="*/ 40 w 407"/>
                <a:gd name="T39" fmla="*/ 394 h 408"/>
                <a:gd name="T40" fmla="*/ 26 w 407"/>
                <a:gd name="T41" fmla="*/ 381 h 408"/>
                <a:gd name="T42" fmla="*/ 14 w 407"/>
                <a:gd name="T43" fmla="*/ 366 h 408"/>
                <a:gd name="T44" fmla="*/ 5 w 407"/>
                <a:gd name="T45" fmla="*/ 348 h 408"/>
                <a:gd name="T46" fmla="*/ 0 w 407"/>
                <a:gd name="T47" fmla="*/ 329 h 408"/>
                <a:gd name="T48" fmla="*/ 0 w 407"/>
                <a:gd name="T49" fmla="*/ 309 h 408"/>
                <a:gd name="T50" fmla="*/ 5 w 407"/>
                <a:gd name="T51" fmla="*/ 290 h 408"/>
                <a:gd name="T52" fmla="*/ 14 w 407"/>
                <a:gd name="T53" fmla="*/ 273 h 408"/>
                <a:gd name="T54" fmla="*/ 26 w 407"/>
                <a:gd name="T55" fmla="*/ 256 h 408"/>
                <a:gd name="T56" fmla="*/ 257 w 407"/>
                <a:gd name="T57" fmla="*/ 24 h 408"/>
                <a:gd name="T58" fmla="*/ 273 w 407"/>
                <a:gd name="T59" fmla="*/ 12 h 408"/>
                <a:gd name="T60" fmla="*/ 291 w 407"/>
                <a:gd name="T61" fmla="*/ 3 h 408"/>
                <a:gd name="T62" fmla="*/ 310 w 407"/>
                <a:gd name="T63"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7" h="408">
                  <a:moveTo>
                    <a:pt x="310" y="0"/>
                  </a:moveTo>
                  <a:lnTo>
                    <a:pt x="329" y="0"/>
                  </a:lnTo>
                  <a:lnTo>
                    <a:pt x="348" y="3"/>
                  </a:lnTo>
                  <a:lnTo>
                    <a:pt x="366" y="12"/>
                  </a:lnTo>
                  <a:lnTo>
                    <a:pt x="382" y="24"/>
                  </a:lnTo>
                  <a:lnTo>
                    <a:pt x="394" y="41"/>
                  </a:lnTo>
                  <a:lnTo>
                    <a:pt x="403" y="59"/>
                  </a:lnTo>
                  <a:lnTo>
                    <a:pt x="407" y="78"/>
                  </a:lnTo>
                  <a:lnTo>
                    <a:pt x="407" y="98"/>
                  </a:lnTo>
                  <a:lnTo>
                    <a:pt x="403" y="116"/>
                  </a:lnTo>
                  <a:lnTo>
                    <a:pt x="394" y="134"/>
                  </a:lnTo>
                  <a:lnTo>
                    <a:pt x="382" y="150"/>
                  </a:lnTo>
                  <a:lnTo>
                    <a:pt x="151" y="381"/>
                  </a:lnTo>
                  <a:lnTo>
                    <a:pt x="137" y="394"/>
                  </a:lnTo>
                  <a:lnTo>
                    <a:pt x="122" y="401"/>
                  </a:lnTo>
                  <a:lnTo>
                    <a:pt x="105" y="406"/>
                  </a:lnTo>
                  <a:lnTo>
                    <a:pt x="89" y="408"/>
                  </a:lnTo>
                  <a:lnTo>
                    <a:pt x="71" y="406"/>
                  </a:lnTo>
                  <a:lnTo>
                    <a:pt x="56" y="401"/>
                  </a:lnTo>
                  <a:lnTo>
                    <a:pt x="40" y="394"/>
                  </a:lnTo>
                  <a:lnTo>
                    <a:pt x="26" y="381"/>
                  </a:lnTo>
                  <a:lnTo>
                    <a:pt x="14" y="366"/>
                  </a:lnTo>
                  <a:lnTo>
                    <a:pt x="5" y="348"/>
                  </a:lnTo>
                  <a:lnTo>
                    <a:pt x="0" y="329"/>
                  </a:lnTo>
                  <a:lnTo>
                    <a:pt x="0" y="309"/>
                  </a:lnTo>
                  <a:lnTo>
                    <a:pt x="5" y="290"/>
                  </a:lnTo>
                  <a:lnTo>
                    <a:pt x="14" y="273"/>
                  </a:lnTo>
                  <a:lnTo>
                    <a:pt x="26" y="256"/>
                  </a:lnTo>
                  <a:lnTo>
                    <a:pt x="257" y="24"/>
                  </a:lnTo>
                  <a:lnTo>
                    <a:pt x="273" y="12"/>
                  </a:lnTo>
                  <a:lnTo>
                    <a:pt x="291" y="3"/>
                  </a:lnTo>
                  <a:lnTo>
                    <a:pt x="310"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9" name="Freeform 220"/>
            <p:cNvSpPr/>
            <p:nvPr/>
          </p:nvSpPr>
          <p:spPr bwMode="auto">
            <a:xfrm>
              <a:off x="5829300" y="3448050"/>
              <a:ext cx="63500" cy="63500"/>
            </a:xfrm>
            <a:custGeom>
              <a:avLst/>
              <a:gdLst>
                <a:gd name="T0" fmla="*/ 303 w 401"/>
                <a:gd name="T1" fmla="*/ 0 h 403"/>
                <a:gd name="T2" fmla="*/ 322 w 401"/>
                <a:gd name="T3" fmla="*/ 0 h 403"/>
                <a:gd name="T4" fmla="*/ 341 w 401"/>
                <a:gd name="T5" fmla="*/ 4 h 403"/>
                <a:gd name="T6" fmla="*/ 360 w 401"/>
                <a:gd name="T7" fmla="*/ 13 h 403"/>
                <a:gd name="T8" fmla="*/ 375 w 401"/>
                <a:gd name="T9" fmla="*/ 26 h 403"/>
                <a:gd name="T10" fmla="*/ 387 w 401"/>
                <a:gd name="T11" fmla="*/ 42 h 403"/>
                <a:gd name="T12" fmla="*/ 396 w 401"/>
                <a:gd name="T13" fmla="*/ 60 h 403"/>
                <a:gd name="T14" fmla="*/ 401 w 401"/>
                <a:gd name="T15" fmla="*/ 79 h 403"/>
                <a:gd name="T16" fmla="*/ 401 w 401"/>
                <a:gd name="T17" fmla="*/ 99 h 403"/>
                <a:gd name="T18" fmla="*/ 396 w 401"/>
                <a:gd name="T19" fmla="*/ 118 h 403"/>
                <a:gd name="T20" fmla="*/ 387 w 401"/>
                <a:gd name="T21" fmla="*/ 135 h 403"/>
                <a:gd name="T22" fmla="*/ 375 w 401"/>
                <a:gd name="T23" fmla="*/ 151 h 403"/>
                <a:gd name="T24" fmla="*/ 151 w 401"/>
                <a:gd name="T25" fmla="*/ 377 h 403"/>
                <a:gd name="T26" fmla="*/ 136 w 401"/>
                <a:gd name="T27" fmla="*/ 388 h 403"/>
                <a:gd name="T28" fmla="*/ 121 w 401"/>
                <a:gd name="T29" fmla="*/ 396 h 403"/>
                <a:gd name="T30" fmla="*/ 105 w 401"/>
                <a:gd name="T31" fmla="*/ 400 h 403"/>
                <a:gd name="T32" fmla="*/ 88 w 401"/>
                <a:gd name="T33" fmla="*/ 403 h 403"/>
                <a:gd name="T34" fmla="*/ 71 w 401"/>
                <a:gd name="T35" fmla="*/ 400 h 403"/>
                <a:gd name="T36" fmla="*/ 55 w 401"/>
                <a:gd name="T37" fmla="*/ 396 h 403"/>
                <a:gd name="T38" fmla="*/ 39 w 401"/>
                <a:gd name="T39" fmla="*/ 388 h 403"/>
                <a:gd name="T40" fmla="*/ 26 w 401"/>
                <a:gd name="T41" fmla="*/ 377 h 403"/>
                <a:gd name="T42" fmla="*/ 13 w 401"/>
                <a:gd name="T43" fmla="*/ 360 h 403"/>
                <a:gd name="T44" fmla="*/ 5 w 401"/>
                <a:gd name="T45" fmla="*/ 343 h 403"/>
                <a:gd name="T46" fmla="*/ 0 w 401"/>
                <a:gd name="T47" fmla="*/ 324 h 403"/>
                <a:gd name="T48" fmla="*/ 0 w 401"/>
                <a:gd name="T49" fmla="*/ 304 h 403"/>
                <a:gd name="T50" fmla="*/ 5 w 401"/>
                <a:gd name="T51" fmla="*/ 285 h 403"/>
                <a:gd name="T52" fmla="*/ 13 w 401"/>
                <a:gd name="T53" fmla="*/ 267 h 403"/>
                <a:gd name="T54" fmla="*/ 26 w 401"/>
                <a:gd name="T55" fmla="*/ 252 h 403"/>
                <a:gd name="T56" fmla="*/ 250 w 401"/>
                <a:gd name="T57" fmla="*/ 26 h 403"/>
                <a:gd name="T58" fmla="*/ 267 w 401"/>
                <a:gd name="T59" fmla="*/ 13 h 403"/>
                <a:gd name="T60" fmla="*/ 285 w 401"/>
                <a:gd name="T61" fmla="*/ 4 h 403"/>
                <a:gd name="T62" fmla="*/ 303 w 401"/>
                <a:gd name="T63" fmla="*/ 0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1" h="403">
                  <a:moveTo>
                    <a:pt x="303" y="0"/>
                  </a:moveTo>
                  <a:lnTo>
                    <a:pt x="322" y="0"/>
                  </a:lnTo>
                  <a:lnTo>
                    <a:pt x="341" y="4"/>
                  </a:lnTo>
                  <a:lnTo>
                    <a:pt x="360" y="13"/>
                  </a:lnTo>
                  <a:lnTo>
                    <a:pt x="375" y="26"/>
                  </a:lnTo>
                  <a:lnTo>
                    <a:pt x="387" y="42"/>
                  </a:lnTo>
                  <a:lnTo>
                    <a:pt x="396" y="60"/>
                  </a:lnTo>
                  <a:lnTo>
                    <a:pt x="401" y="79"/>
                  </a:lnTo>
                  <a:lnTo>
                    <a:pt x="401" y="99"/>
                  </a:lnTo>
                  <a:lnTo>
                    <a:pt x="396" y="118"/>
                  </a:lnTo>
                  <a:lnTo>
                    <a:pt x="387" y="135"/>
                  </a:lnTo>
                  <a:lnTo>
                    <a:pt x="375" y="151"/>
                  </a:lnTo>
                  <a:lnTo>
                    <a:pt x="151" y="377"/>
                  </a:lnTo>
                  <a:lnTo>
                    <a:pt x="136" y="388"/>
                  </a:lnTo>
                  <a:lnTo>
                    <a:pt x="121" y="396"/>
                  </a:lnTo>
                  <a:lnTo>
                    <a:pt x="105" y="400"/>
                  </a:lnTo>
                  <a:lnTo>
                    <a:pt x="88" y="403"/>
                  </a:lnTo>
                  <a:lnTo>
                    <a:pt x="71" y="400"/>
                  </a:lnTo>
                  <a:lnTo>
                    <a:pt x="55" y="396"/>
                  </a:lnTo>
                  <a:lnTo>
                    <a:pt x="39" y="388"/>
                  </a:lnTo>
                  <a:lnTo>
                    <a:pt x="26" y="377"/>
                  </a:lnTo>
                  <a:lnTo>
                    <a:pt x="13" y="360"/>
                  </a:lnTo>
                  <a:lnTo>
                    <a:pt x="5" y="343"/>
                  </a:lnTo>
                  <a:lnTo>
                    <a:pt x="0" y="324"/>
                  </a:lnTo>
                  <a:lnTo>
                    <a:pt x="0" y="304"/>
                  </a:lnTo>
                  <a:lnTo>
                    <a:pt x="5" y="285"/>
                  </a:lnTo>
                  <a:lnTo>
                    <a:pt x="13" y="267"/>
                  </a:lnTo>
                  <a:lnTo>
                    <a:pt x="26" y="252"/>
                  </a:lnTo>
                  <a:lnTo>
                    <a:pt x="250" y="26"/>
                  </a:lnTo>
                  <a:lnTo>
                    <a:pt x="267" y="13"/>
                  </a:lnTo>
                  <a:lnTo>
                    <a:pt x="285" y="4"/>
                  </a:lnTo>
                  <a:lnTo>
                    <a:pt x="303"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0" name="Freeform 221"/>
            <p:cNvSpPr/>
            <p:nvPr/>
          </p:nvSpPr>
          <p:spPr bwMode="auto">
            <a:xfrm>
              <a:off x="5489575" y="3448050"/>
              <a:ext cx="63500" cy="63500"/>
            </a:xfrm>
            <a:custGeom>
              <a:avLst/>
              <a:gdLst>
                <a:gd name="T0" fmla="*/ 97 w 400"/>
                <a:gd name="T1" fmla="*/ 0 h 402"/>
                <a:gd name="T2" fmla="*/ 117 w 400"/>
                <a:gd name="T3" fmla="*/ 3 h 402"/>
                <a:gd name="T4" fmla="*/ 135 w 400"/>
                <a:gd name="T5" fmla="*/ 12 h 402"/>
                <a:gd name="T6" fmla="*/ 150 w 400"/>
                <a:gd name="T7" fmla="*/ 25 h 402"/>
                <a:gd name="T8" fmla="*/ 375 w 400"/>
                <a:gd name="T9" fmla="*/ 251 h 402"/>
                <a:gd name="T10" fmla="*/ 388 w 400"/>
                <a:gd name="T11" fmla="*/ 266 h 402"/>
                <a:gd name="T12" fmla="*/ 396 w 400"/>
                <a:gd name="T13" fmla="*/ 284 h 402"/>
                <a:gd name="T14" fmla="*/ 400 w 400"/>
                <a:gd name="T15" fmla="*/ 303 h 402"/>
                <a:gd name="T16" fmla="*/ 400 w 400"/>
                <a:gd name="T17" fmla="*/ 323 h 402"/>
                <a:gd name="T18" fmla="*/ 396 w 400"/>
                <a:gd name="T19" fmla="*/ 342 h 402"/>
                <a:gd name="T20" fmla="*/ 388 w 400"/>
                <a:gd name="T21" fmla="*/ 359 h 402"/>
                <a:gd name="T22" fmla="*/ 375 w 400"/>
                <a:gd name="T23" fmla="*/ 375 h 402"/>
                <a:gd name="T24" fmla="*/ 361 w 400"/>
                <a:gd name="T25" fmla="*/ 387 h 402"/>
                <a:gd name="T26" fmla="*/ 346 w 400"/>
                <a:gd name="T27" fmla="*/ 395 h 402"/>
                <a:gd name="T28" fmla="*/ 329 w 400"/>
                <a:gd name="T29" fmla="*/ 399 h 402"/>
                <a:gd name="T30" fmla="*/ 313 w 400"/>
                <a:gd name="T31" fmla="*/ 402 h 402"/>
                <a:gd name="T32" fmla="*/ 296 w 400"/>
                <a:gd name="T33" fmla="*/ 399 h 402"/>
                <a:gd name="T34" fmla="*/ 280 w 400"/>
                <a:gd name="T35" fmla="*/ 395 h 402"/>
                <a:gd name="T36" fmla="*/ 264 w 400"/>
                <a:gd name="T37" fmla="*/ 387 h 402"/>
                <a:gd name="T38" fmla="*/ 250 w 400"/>
                <a:gd name="T39" fmla="*/ 375 h 402"/>
                <a:gd name="T40" fmla="*/ 25 w 400"/>
                <a:gd name="T41" fmla="*/ 150 h 402"/>
                <a:gd name="T42" fmla="*/ 13 w 400"/>
                <a:gd name="T43" fmla="*/ 134 h 402"/>
                <a:gd name="T44" fmla="*/ 4 w 400"/>
                <a:gd name="T45" fmla="*/ 117 h 402"/>
                <a:gd name="T46" fmla="*/ 0 w 400"/>
                <a:gd name="T47" fmla="*/ 98 h 402"/>
                <a:gd name="T48" fmla="*/ 0 w 400"/>
                <a:gd name="T49" fmla="*/ 78 h 402"/>
                <a:gd name="T50" fmla="*/ 4 w 400"/>
                <a:gd name="T51" fmla="*/ 59 h 402"/>
                <a:gd name="T52" fmla="*/ 13 w 400"/>
                <a:gd name="T53" fmla="*/ 41 h 402"/>
                <a:gd name="T54" fmla="*/ 25 w 400"/>
                <a:gd name="T55" fmla="*/ 25 h 402"/>
                <a:gd name="T56" fmla="*/ 42 w 400"/>
                <a:gd name="T57" fmla="*/ 12 h 402"/>
                <a:gd name="T58" fmla="*/ 59 w 400"/>
                <a:gd name="T59" fmla="*/ 3 h 402"/>
                <a:gd name="T60" fmla="*/ 78 w 400"/>
                <a:gd name="T61" fmla="*/ 0 h 402"/>
                <a:gd name="T62" fmla="*/ 97 w 400"/>
                <a:gd name="T63"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402">
                  <a:moveTo>
                    <a:pt x="97" y="0"/>
                  </a:moveTo>
                  <a:lnTo>
                    <a:pt x="117" y="3"/>
                  </a:lnTo>
                  <a:lnTo>
                    <a:pt x="135" y="12"/>
                  </a:lnTo>
                  <a:lnTo>
                    <a:pt x="150" y="25"/>
                  </a:lnTo>
                  <a:lnTo>
                    <a:pt x="375" y="251"/>
                  </a:lnTo>
                  <a:lnTo>
                    <a:pt x="388" y="266"/>
                  </a:lnTo>
                  <a:lnTo>
                    <a:pt x="396" y="284"/>
                  </a:lnTo>
                  <a:lnTo>
                    <a:pt x="400" y="303"/>
                  </a:lnTo>
                  <a:lnTo>
                    <a:pt x="400" y="323"/>
                  </a:lnTo>
                  <a:lnTo>
                    <a:pt x="396" y="342"/>
                  </a:lnTo>
                  <a:lnTo>
                    <a:pt x="388" y="359"/>
                  </a:lnTo>
                  <a:lnTo>
                    <a:pt x="375" y="375"/>
                  </a:lnTo>
                  <a:lnTo>
                    <a:pt x="361" y="387"/>
                  </a:lnTo>
                  <a:lnTo>
                    <a:pt x="346" y="395"/>
                  </a:lnTo>
                  <a:lnTo>
                    <a:pt x="329" y="399"/>
                  </a:lnTo>
                  <a:lnTo>
                    <a:pt x="313" y="402"/>
                  </a:lnTo>
                  <a:lnTo>
                    <a:pt x="296" y="399"/>
                  </a:lnTo>
                  <a:lnTo>
                    <a:pt x="280" y="395"/>
                  </a:lnTo>
                  <a:lnTo>
                    <a:pt x="264" y="387"/>
                  </a:lnTo>
                  <a:lnTo>
                    <a:pt x="250" y="375"/>
                  </a:lnTo>
                  <a:lnTo>
                    <a:pt x="25" y="150"/>
                  </a:lnTo>
                  <a:lnTo>
                    <a:pt x="13" y="134"/>
                  </a:lnTo>
                  <a:lnTo>
                    <a:pt x="4" y="117"/>
                  </a:lnTo>
                  <a:lnTo>
                    <a:pt x="0" y="98"/>
                  </a:lnTo>
                  <a:lnTo>
                    <a:pt x="0" y="78"/>
                  </a:lnTo>
                  <a:lnTo>
                    <a:pt x="4" y="59"/>
                  </a:lnTo>
                  <a:lnTo>
                    <a:pt x="13" y="41"/>
                  </a:lnTo>
                  <a:lnTo>
                    <a:pt x="25" y="25"/>
                  </a:lnTo>
                  <a:lnTo>
                    <a:pt x="42" y="12"/>
                  </a:lnTo>
                  <a:lnTo>
                    <a:pt x="59" y="3"/>
                  </a:lnTo>
                  <a:lnTo>
                    <a:pt x="78" y="0"/>
                  </a:lnTo>
                  <a:lnTo>
                    <a:pt x="97"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1" name="Freeform 222"/>
            <p:cNvSpPr/>
            <p:nvPr/>
          </p:nvSpPr>
          <p:spPr bwMode="auto">
            <a:xfrm>
              <a:off x="5854700" y="3814763"/>
              <a:ext cx="65087" cy="65088"/>
            </a:xfrm>
            <a:custGeom>
              <a:avLst/>
              <a:gdLst>
                <a:gd name="T0" fmla="*/ 98 w 406"/>
                <a:gd name="T1" fmla="*/ 0 h 408"/>
                <a:gd name="T2" fmla="*/ 116 w 406"/>
                <a:gd name="T3" fmla="*/ 4 h 408"/>
                <a:gd name="T4" fmla="*/ 135 w 406"/>
                <a:gd name="T5" fmla="*/ 13 h 408"/>
                <a:gd name="T6" fmla="*/ 151 w 406"/>
                <a:gd name="T7" fmla="*/ 25 h 408"/>
                <a:gd name="T8" fmla="*/ 381 w 406"/>
                <a:gd name="T9" fmla="*/ 256 h 408"/>
                <a:gd name="T10" fmla="*/ 394 w 406"/>
                <a:gd name="T11" fmla="*/ 273 h 408"/>
                <a:gd name="T12" fmla="*/ 402 w 406"/>
                <a:gd name="T13" fmla="*/ 290 h 408"/>
                <a:gd name="T14" fmla="*/ 406 w 406"/>
                <a:gd name="T15" fmla="*/ 309 h 408"/>
                <a:gd name="T16" fmla="*/ 406 w 406"/>
                <a:gd name="T17" fmla="*/ 329 h 408"/>
                <a:gd name="T18" fmla="*/ 402 w 406"/>
                <a:gd name="T19" fmla="*/ 348 h 408"/>
                <a:gd name="T20" fmla="*/ 394 w 406"/>
                <a:gd name="T21" fmla="*/ 366 h 408"/>
                <a:gd name="T22" fmla="*/ 381 w 406"/>
                <a:gd name="T23" fmla="*/ 381 h 408"/>
                <a:gd name="T24" fmla="*/ 368 w 406"/>
                <a:gd name="T25" fmla="*/ 394 h 408"/>
                <a:gd name="T26" fmla="*/ 352 w 406"/>
                <a:gd name="T27" fmla="*/ 401 h 408"/>
                <a:gd name="T28" fmla="*/ 335 w 406"/>
                <a:gd name="T29" fmla="*/ 406 h 408"/>
                <a:gd name="T30" fmla="*/ 319 w 406"/>
                <a:gd name="T31" fmla="*/ 408 h 408"/>
                <a:gd name="T32" fmla="*/ 301 w 406"/>
                <a:gd name="T33" fmla="*/ 406 h 408"/>
                <a:gd name="T34" fmla="*/ 286 w 406"/>
                <a:gd name="T35" fmla="*/ 401 h 408"/>
                <a:gd name="T36" fmla="*/ 270 w 406"/>
                <a:gd name="T37" fmla="*/ 394 h 408"/>
                <a:gd name="T38" fmla="*/ 256 w 406"/>
                <a:gd name="T39" fmla="*/ 381 h 408"/>
                <a:gd name="T40" fmla="*/ 26 w 406"/>
                <a:gd name="T41" fmla="*/ 151 h 408"/>
                <a:gd name="T42" fmla="*/ 14 w 406"/>
                <a:gd name="T43" fmla="*/ 135 h 408"/>
                <a:gd name="T44" fmla="*/ 5 w 406"/>
                <a:gd name="T45" fmla="*/ 117 h 408"/>
                <a:gd name="T46" fmla="*/ 0 w 406"/>
                <a:gd name="T47" fmla="*/ 98 h 408"/>
                <a:gd name="T48" fmla="*/ 0 w 406"/>
                <a:gd name="T49" fmla="*/ 79 h 408"/>
                <a:gd name="T50" fmla="*/ 5 w 406"/>
                <a:gd name="T51" fmla="*/ 60 h 408"/>
                <a:gd name="T52" fmla="*/ 14 w 406"/>
                <a:gd name="T53" fmla="*/ 42 h 408"/>
                <a:gd name="T54" fmla="*/ 26 w 406"/>
                <a:gd name="T55" fmla="*/ 25 h 408"/>
                <a:gd name="T56" fmla="*/ 42 w 406"/>
                <a:gd name="T57" fmla="*/ 13 h 408"/>
                <a:gd name="T58" fmla="*/ 60 w 406"/>
                <a:gd name="T59" fmla="*/ 4 h 408"/>
                <a:gd name="T60" fmla="*/ 79 w 406"/>
                <a:gd name="T61" fmla="*/ 0 h 408"/>
                <a:gd name="T62" fmla="*/ 98 w 406"/>
                <a:gd name="T63"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6" h="408">
                  <a:moveTo>
                    <a:pt x="98" y="0"/>
                  </a:moveTo>
                  <a:lnTo>
                    <a:pt x="116" y="4"/>
                  </a:lnTo>
                  <a:lnTo>
                    <a:pt x="135" y="13"/>
                  </a:lnTo>
                  <a:lnTo>
                    <a:pt x="151" y="25"/>
                  </a:lnTo>
                  <a:lnTo>
                    <a:pt x="381" y="256"/>
                  </a:lnTo>
                  <a:lnTo>
                    <a:pt x="394" y="273"/>
                  </a:lnTo>
                  <a:lnTo>
                    <a:pt x="402" y="290"/>
                  </a:lnTo>
                  <a:lnTo>
                    <a:pt x="406" y="309"/>
                  </a:lnTo>
                  <a:lnTo>
                    <a:pt x="406" y="329"/>
                  </a:lnTo>
                  <a:lnTo>
                    <a:pt x="402" y="348"/>
                  </a:lnTo>
                  <a:lnTo>
                    <a:pt x="394" y="366"/>
                  </a:lnTo>
                  <a:lnTo>
                    <a:pt x="381" y="381"/>
                  </a:lnTo>
                  <a:lnTo>
                    <a:pt x="368" y="394"/>
                  </a:lnTo>
                  <a:lnTo>
                    <a:pt x="352" y="401"/>
                  </a:lnTo>
                  <a:lnTo>
                    <a:pt x="335" y="406"/>
                  </a:lnTo>
                  <a:lnTo>
                    <a:pt x="319" y="408"/>
                  </a:lnTo>
                  <a:lnTo>
                    <a:pt x="301" y="406"/>
                  </a:lnTo>
                  <a:lnTo>
                    <a:pt x="286" y="401"/>
                  </a:lnTo>
                  <a:lnTo>
                    <a:pt x="270" y="394"/>
                  </a:lnTo>
                  <a:lnTo>
                    <a:pt x="256" y="381"/>
                  </a:lnTo>
                  <a:lnTo>
                    <a:pt x="26" y="151"/>
                  </a:lnTo>
                  <a:lnTo>
                    <a:pt x="14" y="135"/>
                  </a:lnTo>
                  <a:lnTo>
                    <a:pt x="5" y="117"/>
                  </a:lnTo>
                  <a:lnTo>
                    <a:pt x="0" y="98"/>
                  </a:lnTo>
                  <a:lnTo>
                    <a:pt x="0" y="79"/>
                  </a:lnTo>
                  <a:lnTo>
                    <a:pt x="5" y="60"/>
                  </a:lnTo>
                  <a:lnTo>
                    <a:pt x="14" y="42"/>
                  </a:lnTo>
                  <a:lnTo>
                    <a:pt x="26" y="25"/>
                  </a:lnTo>
                  <a:lnTo>
                    <a:pt x="42" y="13"/>
                  </a:lnTo>
                  <a:lnTo>
                    <a:pt x="60" y="4"/>
                  </a:lnTo>
                  <a:lnTo>
                    <a:pt x="79" y="0"/>
                  </a:lnTo>
                  <a:lnTo>
                    <a:pt x="98"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2" name="Freeform 223"/>
            <p:cNvSpPr>
              <a:spLocks noEditPoints="1"/>
            </p:cNvSpPr>
            <p:nvPr/>
          </p:nvSpPr>
          <p:spPr bwMode="auto">
            <a:xfrm>
              <a:off x="5516563" y="3486150"/>
              <a:ext cx="350837" cy="542925"/>
            </a:xfrm>
            <a:custGeom>
              <a:avLst/>
              <a:gdLst>
                <a:gd name="T0" fmla="*/ 1130 w 2214"/>
                <a:gd name="T1" fmla="*/ 2952 h 3419"/>
                <a:gd name="T2" fmla="*/ 1192 w 2214"/>
                <a:gd name="T3" fmla="*/ 3014 h 3419"/>
                <a:gd name="T4" fmla="*/ 1169 w 2214"/>
                <a:gd name="T5" fmla="*/ 3101 h 3419"/>
                <a:gd name="T6" fmla="*/ 685 w 2214"/>
                <a:gd name="T7" fmla="*/ 3126 h 3419"/>
                <a:gd name="T8" fmla="*/ 1527 w 2214"/>
                <a:gd name="T9" fmla="*/ 2833 h 3419"/>
                <a:gd name="T10" fmla="*/ 988 w 2214"/>
                <a:gd name="T11" fmla="*/ 1606 h 3419"/>
                <a:gd name="T12" fmla="*/ 1222 w 2214"/>
                <a:gd name="T13" fmla="*/ 1621 h 3419"/>
                <a:gd name="T14" fmla="*/ 865 w 2214"/>
                <a:gd name="T15" fmla="*/ 1337 h 3419"/>
                <a:gd name="T16" fmla="*/ 883 w 2214"/>
                <a:gd name="T17" fmla="*/ 205 h 3419"/>
                <a:gd name="T18" fmla="*/ 617 w 2214"/>
                <a:gd name="T19" fmla="*/ 325 h 3419"/>
                <a:gd name="T20" fmla="*/ 400 w 2214"/>
                <a:gd name="T21" fmla="*/ 521 h 3419"/>
                <a:gd name="T22" fmla="*/ 248 w 2214"/>
                <a:gd name="T23" fmla="*/ 778 h 3419"/>
                <a:gd name="T24" fmla="*/ 179 w 2214"/>
                <a:gd name="T25" fmla="*/ 1080 h 3419"/>
                <a:gd name="T26" fmla="*/ 201 w 2214"/>
                <a:gd name="T27" fmla="*/ 1399 h 3419"/>
                <a:gd name="T28" fmla="*/ 307 w 2214"/>
                <a:gd name="T29" fmla="*/ 1718 h 3419"/>
                <a:gd name="T30" fmla="*/ 485 w 2214"/>
                <a:gd name="T31" fmla="*/ 2013 h 3419"/>
                <a:gd name="T32" fmla="*/ 630 w 2214"/>
                <a:gd name="T33" fmla="*/ 2328 h 3419"/>
                <a:gd name="T34" fmla="*/ 685 w 2214"/>
                <a:gd name="T35" fmla="*/ 2656 h 3419"/>
                <a:gd name="T36" fmla="*/ 639 w 2214"/>
                <a:gd name="T37" fmla="*/ 1265 h 3419"/>
                <a:gd name="T38" fmla="*/ 665 w 2214"/>
                <a:gd name="T39" fmla="*/ 1184 h 3419"/>
                <a:gd name="T40" fmla="*/ 1487 w 2214"/>
                <a:gd name="T41" fmla="*/ 1160 h 3419"/>
                <a:gd name="T42" fmla="*/ 1561 w 2214"/>
                <a:gd name="T43" fmla="*/ 1201 h 3419"/>
                <a:gd name="T44" fmla="*/ 1567 w 2214"/>
                <a:gd name="T45" fmla="*/ 1286 h 3419"/>
                <a:gd name="T46" fmla="*/ 1533 w 2214"/>
                <a:gd name="T47" fmla="*/ 2573 h 3419"/>
                <a:gd name="T48" fmla="*/ 1611 w 2214"/>
                <a:gd name="T49" fmla="*/ 2247 h 3419"/>
                <a:gd name="T50" fmla="*/ 1778 w 2214"/>
                <a:gd name="T51" fmla="*/ 1937 h 3419"/>
                <a:gd name="T52" fmla="*/ 1940 w 2214"/>
                <a:gd name="T53" fmla="*/ 1640 h 3419"/>
                <a:gd name="T54" fmla="*/ 2026 w 2214"/>
                <a:gd name="T55" fmla="*/ 1318 h 3419"/>
                <a:gd name="T56" fmla="*/ 2025 w 2214"/>
                <a:gd name="T57" fmla="*/ 1001 h 3419"/>
                <a:gd name="T58" fmla="*/ 1933 w 2214"/>
                <a:gd name="T59" fmla="*/ 708 h 3419"/>
                <a:gd name="T60" fmla="*/ 1764 w 2214"/>
                <a:gd name="T61" fmla="*/ 465 h 3419"/>
                <a:gd name="T62" fmla="*/ 1534 w 2214"/>
                <a:gd name="T63" fmla="*/ 287 h 3419"/>
                <a:gd name="T64" fmla="*/ 1257 w 2214"/>
                <a:gd name="T65" fmla="*/ 189 h 3419"/>
                <a:gd name="T66" fmla="*/ 1193 w 2214"/>
                <a:gd name="T67" fmla="*/ 3 h 3419"/>
                <a:gd name="T68" fmla="*/ 1518 w 2214"/>
                <a:gd name="T69" fmla="*/ 83 h 3419"/>
                <a:gd name="T70" fmla="*/ 1798 w 2214"/>
                <a:gd name="T71" fmla="*/ 255 h 3419"/>
                <a:gd name="T72" fmla="*/ 2018 w 2214"/>
                <a:gd name="T73" fmla="*/ 503 h 3419"/>
                <a:gd name="T74" fmla="*/ 2162 w 2214"/>
                <a:gd name="T75" fmla="*/ 810 h 3419"/>
                <a:gd name="T76" fmla="*/ 2214 w 2214"/>
                <a:gd name="T77" fmla="*/ 1161 h 3419"/>
                <a:gd name="T78" fmla="*/ 2164 w 2214"/>
                <a:gd name="T79" fmla="*/ 1524 h 3419"/>
                <a:gd name="T80" fmla="*/ 2024 w 2214"/>
                <a:gd name="T81" fmla="*/ 1877 h 3419"/>
                <a:gd name="T82" fmla="*/ 1828 w 2214"/>
                <a:gd name="T83" fmla="*/ 2195 h 3419"/>
                <a:gd name="T84" fmla="*/ 1718 w 2214"/>
                <a:gd name="T85" fmla="*/ 2520 h 3419"/>
                <a:gd name="T86" fmla="*/ 1702 w 2214"/>
                <a:gd name="T87" fmla="*/ 3274 h 3419"/>
                <a:gd name="T88" fmla="*/ 1641 w 2214"/>
                <a:gd name="T89" fmla="*/ 3377 h 3419"/>
                <a:gd name="T90" fmla="*/ 1527 w 2214"/>
                <a:gd name="T91" fmla="*/ 3419 h 3419"/>
                <a:gd name="T92" fmla="*/ 596 w 2214"/>
                <a:gd name="T93" fmla="*/ 3395 h 3419"/>
                <a:gd name="T94" fmla="*/ 519 w 2214"/>
                <a:gd name="T95" fmla="*/ 3304 h 3419"/>
                <a:gd name="T96" fmla="*/ 505 w 2214"/>
                <a:gd name="T97" fmla="*/ 2602 h 3419"/>
                <a:gd name="T98" fmla="*/ 422 w 2214"/>
                <a:gd name="T99" fmla="*/ 2274 h 3419"/>
                <a:gd name="T100" fmla="*/ 237 w 2214"/>
                <a:gd name="T101" fmla="*/ 1961 h 3419"/>
                <a:gd name="T102" fmla="*/ 76 w 2214"/>
                <a:gd name="T103" fmla="*/ 1615 h 3419"/>
                <a:gd name="T104" fmla="*/ 2 w 2214"/>
                <a:gd name="T105" fmla="*/ 1251 h 3419"/>
                <a:gd name="T106" fmla="*/ 28 w 2214"/>
                <a:gd name="T107" fmla="*/ 895 h 3419"/>
                <a:gd name="T108" fmla="*/ 150 w 2214"/>
                <a:gd name="T109" fmla="*/ 575 h 3419"/>
                <a:gd name="T110" fmla="*/ 352 w 2214"/>
                <a:gd name="T111" fmla="*/ 310 h 3419"/>
                <a:gd name="T112" fmla="*/ 620 w 2214"/>
                <a:gd name="T113" fmla="*/ 117 h 3419"/>
                <a:gd name="T114" fmla="*/ 935 w 2214"/>
                <a:gd name="T115" fmla="*/ 13 h 3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14" h="3419">
                  <a:moveTo>
                    <a:pt x="685" y="2833"/>
                  </a:moveTo>
                  <a:lnTo>
                    <a:pt x="685" y="2949"/>
                  </a:lnTo>
                  <a:lnTo>
                    <a:pt x="1107" y="2949"/>
                  </a:lnTo>
                  <a:lnTo>
                    <a:pt x="1130" y="2952"/>
                  </a:lnTo>
                  <a:lnTo>
                    <a:pt x="1151" y="2961"/>
                  </a:lnTo>
                  <a:lnTo>
                    <a:pt x="1169" y="2975"/>
                  </a:lnTo>
                  <a:lnTo>
                    <a:pt x="1183" y="2993"/>
                  </a:lnTo>
                  <a:lnTo>
                    <a:pt x="1192" y="3014"/>
                  </a:lnTo>
                  <a:lnTo>
                    <a:pt x="1194" y="3037"/>
                  </a:lnTo>
                  <a:lnTo>
                    <a:pt x="1192" y="3061"/>
                  </a:lnTo>
                  <a:lnTo>
                    <a:pt x="1183" y="3082"/>
                  </a:lnTo>
                  <a:lnTo>
                    <a:pt x="1169" y="3101"/>
                  </a:lnTo>
                  <a:lnTo>
                    <a:pt x="1151" y="3114"/>
                  </a:lnTo>
                  <a:lnTo>
                    <a:pt x="1130" y="3123"/>
                  </a:lnTo>
                  <a:lnTo>
                    <a:pt x="1107" y="3126"/>
                  </a:lnTo>
                  <a:lnTo>
                    <a:pt x="685" y="3126"/>
                  </a:lnTo>
                  <a:lnTo>
                    <a:pt x="685" y="3242"/>
                  </a:lnTo>
                  <a:lnTo>
                    <a:pt x="1527" y="3242"/>
                  </a:lnTo>
                  <a:lnTo>
                    <a:pt x="1528" y="3242"/>
                  </a:lnTo>
                  <a:lnTo>
                    <a:pt x="1527" y="2833"/>
                  </a:lnTo>
                  <a:lnTo>
                    <a:pt x="685" y="2833"/>
                  </a:lnTo>
                  <a:close/>
                  <a:moveTo>
                    <a:pt x="865" y="1337"/>
                  </a:moveTo>
                  <a:lnTo>
                    <a:pt x="983" y="1590"/>
                  </a:lnTo>
                  <a:lnTo>
                    <a:pt x="988" y="1606"/>
                  </a:lnTo>
                  <a:lnTo>
                    <a:pt x="991" y="1621"/>
                  </a:lnTo>
                  <a:lnTo>
                    <a:pt x="1059" y="2656"/>
                  </a:lnTo>
                  <a:lnTo>
                    <a:pt x="1153" y="2656"/>
                  </a:lnTo>
                  <a:lnTo>
                    <a:pt x="1222" y="1621"/>
                  </a:lnTo>
                  <a:lnTo>
                    <a:pt x="1225" y="1606"/>
                  </a:lnTo>
                  <a:lnTo>
                    <a:pt x="1231" y="1590"/>
                  </a:lnTo>
                  <a:lnTo>
                    <a:pt x="1348" y="1337"/>
                  </a:lnTo>
                  <a:lnTo>
                    <a:pt x="865" y="1337"/>
                  </a:lnTo>
                  <a:close/>
                  <a:moveTo>
                    <a:pt x="1107" y="176"/>
                  </a:moveTo>
                  <a:lnTo>
                    <a:pt x="1030" y="179"/>
                  </a:lnTo>
                  <a:lnTo>
                    <a:pt x="955" y="189"/>
                  </a:lnTo>
                  <a:lnTo>
                    <a:pt x="883" y="205"/>
                  </a:lnTo>
                  <a:lnTo>
                    <a:pt x="813" y="227"/>
                  </a:lnTo>
                  <a:lnTo>
                    <a:pt x="744" y="254"/>
                  </a:lnTo>
                  <a:lnTo>
                    <a:pt x="679" y="287"/>
                  </a:lnTo>
                  <a:lnTo>
                    <a:pt x="617" y="325"/>
                  </a:lnTo>
                  <a:lnTo>
                    <a:pt x="557" y="367"/>
                  </a:lnTo>
                  <a:lnTo>
                    <a:pt x="501" y="413"/>
                  </a:lnTo>
                  <a:lnTo>
                    <a:pt x="449" y="465"/>
                  </a:lnTo>
                  <a:lnTo>
                    <a:pt x="400" y="521"/>
                  </a:lnTo>
                  <a:lnTo>
                    <a:pt x="356" y="580"/>
                  </a:lnTo>
                  <a:lnTo>
                    <a:pt x="315" y="643"/>
                  </a:lnTo>
                  <a:lnTo>
                    <a:pt x="279" y="708"/>
                  </a:lnTo>
                  <a:lnTo>
                    <a:pt x="248" y="778"/>
                  </a:lnTo>
                  <a:lnTo>
                    <a:pt x="223" y="850"/>
                  </a:lnTo>
                  <a:lnTo>
                    <a:pt x="203" y="925"/>
                  </a:lnTo>
                  <a:lnTo>
                    <a:pt x="188" y="1001"/>
                  </a:lnTo>
                  <a:lnTo>
                    <a:pt x="179" y="1080"/>
                  </a:lnTo>
                  <a:lnTo>
                    <a:pt x="175" y="1161"/>
                  </a:lnTo>
                  <a:lnTo>
                    <a:pt x="179" y="1240"/>
                  </a:lnTo>
                  <a:lnTo>
                    <a:pt x="187" y="1318"/>
                  </a:lnTo>
                  <a:lnTo>
                    <a:pt x="201" y="1399"/>
                  </a:lnTo>
                  <a:lnTo>
                    <a:pt x="220" y="1480"/>
                  </a:lnTo>
                  <a:lnTo>
                    <a:pt x="244" y="1560"/>
                  </a:lnTo>
                  <a:lnTo>
                    <a:pt x="274" y="1640"/>
                  </a:lnTo>
                  <a:lnTo>
                    <a:pt x="307" y="1718"/>
                  </a:lnTo>
                  <a:lnTo>
                    <a:pt x="346" y="1794"/>
                  </a:lnTo>
                  <a:lnTo>
                    <a:pt x="388" y="1867"/>
                  </a:lnTo>
                  <a:lnTo>
                    <a:pt x="434" y="1937"/>
                  </a:lnTo>
                  <a:lnTo>
                    <a:pt x="485" y="2013"/>
                  </a:lnTo>
                  <a:lnTo>
                    <a:pt x="529" y="2089"/>
                  </a:lnTo>
                  <a:lnTo>
                    <a:pt x="568" y="2167"/>
                  </a:lnTo>
                  <a:lnTo>
                    <a:pt x="602" y="2247"/>
                  </a:lnTo>
                  <a:lnTo>
                    <a:pt x="630" y="2328"/>
                  </a:lnTo>
                  <a:lnTo>
                    <a:pt x="652" y="2409"/>
                  </a:lnTo>
                  <a:lnTo>
                    <a:pt x="669" y="2491"/>
                  </a:lnTo>
                  <a:lnTo>
                    <a:pt x="680" y="2573"/>
                  </a:lnTo>
                  <a:lnTo>
                    <a:pt x="685" y="2656"/>
                  </a:lnTo>
                  <a:lnTo>
                    <a:pt x="882" y="2656"/>
                  </a:lnTo>
                  <a:lnTo>
                    <a:pt x="816" y="1650"/>
                  </a:lnTo>
                  <a:lnTo>
                    <a:pt x="646" y="1286"/>
                  </a:lnTo>
                  <a:lnTo>
                    <a:pt x="639" y="1265"/>
                  </a:lnTo>
                  <a:lnTo>
                    <a:pt x="638" y="1243"/>
                  </a:lnTo>
                  <a:lnTo>
                    <a:pt x="642" y="1221"/>
                  </a:lnTo>
                  <a:lnTo>
                    <a:pt x="651" y="1201"/>
                  </a:lnTo>
                  <a:lnTo>
                    <a:pt x="665" y="1184"/>
                  </a:lnTo>
                  <a:lnTo>
                    <a:pt x="683" y="1171"/>
                  </a:lnTo>
                  <a:lnTo>
                    <a:pt x="703" y="1163"/>
                  </a:lnTo>
                  <a:lnTo>
                    <a:pt x="725" y="1160"/>
                  </a:lnTo>
                  <a:lnTo>
                    <a:pt x="1487" y="1160"/>
                  </a:lnTo>
                  <a:lnTo>
                    <a:pt x="1509" y="1163"/>
                  </a:lnTo>
                  <a:lnTo>
                    <a:pt x="1529" y="1171"/>
                  </a:lnTo>
                  <a:lnTo>
                    <a:pt x="1547" y="1184"/>
                  </a:lnTo>
                  <a:lnTo>
                    <a:pt x="1561" y="1201"/>
                  </a:lnTo>
                  <a:lnTo>
                    <a:pt x="1571" y="1221"/>
                  </a:lnTo>
                  <a:lnTo>
                    <a:pt x="1576" y="1243"/>
                  </a:lnTo>
                  <a:lnTo>
                    <a:pt x="1574" y="1265"/>
                  </a:lnTo>
                  <a:lnTo>
                    <a:pt x="1567" y="1286"/>
                  </a:lnTo>
                  <a:lnTo>
                    <a:pt x="1398" y="1650"/>
                  </a:lnTo>
                  <a:lnTo>
                    <a:pt x="1330" y="2656"/>
                  </a:lnTo>
                  <a:lnTo>
                    <a:pt x="1528" y="2656"/>
                  </a:lnTo>
                  <a:lnTo>
                    <a:pt x="1533" y="2573"/>
                  </a:lnTo>
                  <a:lnTo>
                    <a:pt x="1544" y="2491"/>
                  </a:lnTo>
                  <a:lnTo>
                    <a:pt x="1560" y="2409"/>
                  </a:lnTo>
                  <a:lnTo>
                    <a:pt x="1582" y="2328"/>
                  </a:lnTo>
                  <a:lnTo>
                    <a:pt x="1611" y="2247"/>
                  </a:lnTo>
                  <a:lnTo>
                    <a:pt x="1644" y="2167"/>
                  </a:lnTo>
                  <a:lnTo>
                    <a:pt x="1684" y="2089"/>
                  </a:lnTo>
                  <a:lnTo>
                    <a:pt x="1728" y="2013"/>
                  </a:lnTo>
                  <a:lnTo>
                    <a:pt x="1778" y="1937"/>
                  </a:lnTo>
                  <a:lnTo>
                    <a:pt x="1825" y="1867"/>
                  </a:lnTo>
                  <a:lnTo>
                    <a:pt x="1868" y="1794"/>
                  </a:lnTo>
                  <a:lnTo>
                    <a:pt x="1905" y="1718"/>
                  </a:lnTo>
                  <a:lnTo>
                    <a:pt x="1940" y="1640"/>
                  </a:lnTo>
                  <a:lnTo>
                    <a:pt x="1968" y="1560"/>
                  </a:lnTo>
                  <a:lnTo>
                    <a:pt x="1993" y="1480"/>
                  </a:lnTo>
                  <a:lnTo>
                    <a:pt x="2012" y="1399"/>
                  </a:lnTo>
                  <a:lnTo>
                    <a:pt x="2026" y="1318"/>
                  </a:lnTo>
                  <a:lnTo>
                    <a:pt x="2035" y="1240"/>
                  </a:lnTo>
                  <a:lnTo>
                    <a:pt x="2037" y="1161"/>
                  </a:lnTo>
                  <a:lnTo>
                    <a:pt x="2034" y="1080"/>
                  </a:lnTo>
                  <a:lnTo>
                    <a:pt x="2025" y="1001"/>
                  </a:lnTo>
                  <a:lnTo>
                    <a:pt x="2010" y="925"/>
                  </a:lnTo>
                  <a:lnTo>
                    <a:pt x="1989" y="850"/>
                  </a:lnTo>
                  <a:lnTo>
                    <a:pt x="1964" y="778"/>
                  </a:lnTo>
                  <a:lnTo>
                    <a:pt x="1933" y="708"/>
                  </a:lnTo>
                  <a:lnTo>
                    <a:pt x="1898" y="643"/>
                  </a:lnTo>
                  <a:lnTo>
                    <a:pt x="1858" y="580"/>
                  </a:lnTo>
                  <a:lnTo>
                    <a:pt x="1812" y="521"/>
                  </a:lnTo>
                  <a:lnTo>
                    <a:pt x="1764" y="465"/>
                  </a:lnTo>
                  <a:lnTo>
                    <a:pt x="1712" y="413"/>
                  </a:lnTo>
                  <a:lnTo>
                    <a:pt x="1655" y="367"/>
                  </a:lnTo>
                  <a:lnTo>
                    <a:pt x="1597" y="325"/>
                  </a:lnTo>
                  <a:lnTo>
                    <a:pt x="1534" y="287"/>
                  </a:lnTo>
                  <a:lnTo>
                    <a:pt x="1468" y="254"/>
                  </a:lnTo>
                  <a:lnTo>
                    <a:pt x="1400" y="227"/>
                  </a:lnTo>
                  <a:lnTo>
                    <a:pt x="1330" y="205"/>
                  </a:lnTo>
                  <a:lnTo>
                    <a:pt x="1257" y="189"/>
                  </a:lnTo>
                  <a:lnTo>
                    <a:pt x="1183" y="179"/>
                  </a:lnTo>
                  <a:lnTo>
                    <a:pt x="1107" y="176"/>
                  </a:lnTo>
                  <a:close/>
                  <a:moveTo>
                    <a:pt x="1107" y="0"/>
                  </a:moveTo>
                  <a:lnTo>
                    <a:pt x="1193" y="3"/>
                  </a:lnTo>
                  <a:lnTo>
                    <a:pt x="1277" y="13"/>
                  </a:lnTo>
                  <a:lnTo>
                    <a:pt x="1360" y="31"/>
                  </a:lnTo>
                  <a:lnTo>
                    <a:pt x="1441" y="53"/>
                  </a:lnTo>
                  <a:lnTo>
                    <a:pt x="1518" y="83"/>
                  </a:lnTo>
                  <a:lnTo>
                    <a:pt x="1593" y="117"/>
                  </a:lnTo>
                  <a:lnTo>
                    <a:pt x="1665" y="158"/>
                  </a:lnTo>
                  <a:lnTo>
                    <a:pt x="1734" y="204"/>
                  </a:lnTo>
                  <a:lnTo>
                    <a:pt x="1798" y="255"/>
                  </a:lnTo>
                  <a:lnTo>
                    <a:pt x="1860" y="310"/>
                  </a:lnTo>
                  <a:lnTo>
                    <a:pt x="1918" y="370"/>
                  </a:lnTo>
                  <a:lnTo>
                    <a:pt x="1971" y="434"/>
                  </a:lnTo>
                  <a:lnTo>
                    <a:pt x="2018" y="503"/>
                  </a:lnTo>
                  <a:lnTo>
                    <a:pt x="2062" y="575"/>
                  </a:lnTo>
                  <a:lnTo>
                    <a:pt x="2101" y="651"/>
                  </a:lnTo>
                  <a:lnTo>
                    <a:pt x="2134" y="729"/>
                  </a:lnTo>
                  <a:lnTo>
                    <a:pt x="2162" y="810"/>
                  </a:lnTo>
                  <a:lnTo>
                    <a:pt x="2184" y="895"/>
                  </a:lnTo>
                  <a:lnTo>
                    <a:pt x="2201" y="981"/>
                  </a:lnTo>
                  <a:lnTo>
                    <a:pt x="2211" y="1070"/>
                  </a:lnTo>
                  <a:lnTo>
                    <a:pt x="2214" y="1161"/>
                  </a:lnTo>
                  <a:lnTo>
                    <a:pt x="2211" y="1251"/>
                  </a:lnTo>
                  <a:lnTo>
                    <a:pt x="2201" y="1342"/>
                  </a:lnTo>
                  <a:lnTo>
                    <a:pt x="2185" y="1433"/>
                  </a:lnTo>
                  <a:lnTo>
                    <a:pt x="2164" y="1524"/>
                  </a:lnTo>
                  <a:lnTo>
                    <a:pt x="2138" y="1615"/>
                  </a:lnTo>
                  <a:lnTo>
                    <a:pt x="2104" y="1703"/>
                  </a:lnTo>
                  <a:lnTo>
                    <a:pt x="2067" y="1791"/>
                  </a:lnTo>
                  <a:lnTo>
                    <a:pt x="2024" y="1877"/>
                  </a:lnTo>
                  <a:lnTo>
                    <a:pt x="1975" y="1961"/>
                  </a:lnTo>
                  <a:lnTo>
                    <a:pt x="1922" y="2040"/>
                  </a:lnTo>
                  <a:lnTo>
                    <a:pt x="1872" y="2116"/>
                  </a:lnTo>
                  <a:lnTo>
                    <a:pt x="1828" y="2195"/>
                  </a:lnTo>
                  <a:lnTo>
                    <a:pt x="1790" y="2274"/>
                  </a:lnTo>
                  <a:lnTo>
                    <a:pt x="1759" y="2354"/>
                  </a:lnTo>
                  <a:lnTo>
                    <a:pt x="1735" y="2436"/>
                  </a:lnTo>
                  <a:lnTo>
                    <a:pt x="1718" y="2520"/>
                  </a:lnTo>
                  <a:lnTo>
                    <a:pt x="1707" y="2602"/>
                  </a:lnTo>
                  <a:lnTo>
                    <a:pt x="1704" y="2685"/>
                  </a:lnTo>
                  <a:lnTo>
                    <a:pt x="1704" y="3242"/>
                  </a:lnTo>
                  <a:lnTo>
                    <a:pt x="1702" y="3274"/>
                  </a:lnTo>
                  <a:lnTo>
                    <a:pt x="1693" y="3304"/>
                  </a:lnTo>
                  <a:lnTo>
                    <a:pt x="1680" y="3331"/>
                  </a:lnTo>
                  <a:lnTo>
                    <a:pt x="1663" y="3356"/>
                  </a:lnTo>
                  <a:lnTo>
                    <a:pt x="1641" y="3377"/>
                  </a:lnTo>
                  <a:lnTo>
                    <a:pt x="1617" y="3395"/>
                  </a:lnTo>
                  <a:lnTo>
                    <a:pt x="1589" y="3408"/>
                  </a:lnTo>
                  <a:lnTo>
                    <a:pt x="1559" y="3416"/>
                  </a:lnTo>
                  <a:lnTo>
                    <a:pt x="1527" y="3419"/>
                  </a:lnTo>
                  <a:lnTo>
                    <a:pt x="685" y="3419"/>
                  </a:lnTo>
                  <a:lnTo>
                    <a:pt x="653" y="3416"/>
                  </a:lnTo>
                  <a:lnTo>
                    <a:pt x="623" y="3408"/>
                  </a:lnTo>
                  <a:lnTo>
                    <a:pt x="596" y="3395"/>
                  </a:lnTo>
                  <a:lnTo>
                    <a:pt x="571" y="3377"/>
                  </a:lnTo>
                  <a:lnTo>
                    <a:pt x="550" y="3356"/>
                  </a:lnTo>
                  <a:lnTo>
                    <a:pt x="533" y="3331"/>
                  </a:lnTo>
                  <a:lnTo>
                    <a:pt x="519" y="3304"/>
                  </a:lnTo>
                  <a:lnTo>
                    <a:pt x="512" y="3274"/>
                  </a:lnTo>
                  <a:lnTo>
                    <a:pt x="508" y="3242"/>
                  </a:lnTo>
                  <a:lnTo>
                    <a:pt x="508" y="2685"/>
                  </a:lnTo>
                  <a:lnTo>
                    <a:pt x="505" y="2602"/>
                  </a:lnTo>
                  <a:lnTo>
                    <a:pt x="495" y="2520"/>
                  </a:lnTo>
                  <a:lnTo>
                    <a:pt x="477" y="2436"/>
                  </a:lnTo>
                  <a:lnTo>
                    <a:pt x="453" y="2354"/>
                  </a:lnTo>
                  <a:lnTo>
                    <a:pt x="422" y="2274"/>
                  </a:lnTo>
                  <a:lnTo>
                    <a:pt x="385" y="2195"/>
                  </a:lnTo>
                  <a:lnTo>
                    <a:pt x="341" y="2116"/>
                  </a:lnTo>
                  <a:lnTo>
                    <a:pt x="291" y="2040"/>
                  </a:lnTo>
                  <a:lnTo>
                    <a:pt x="237" y="1961"/>
                  </a:lnTo>
                  <a:lnTo>
                    <a:pt x="190" y="1877"/>
                  </a:lnTo>
                  <a:lnTo>
                    <a:pt x="146" y="1791"/>
                  </a:lnTo>
                  <a:lnTo>
                    <a:pt x="108" y="1703"/>
                  </a:lnTo>
                  <a:lnTo>
                    <a:pt x="76" y="1615"/>
                  </a:lnTo>
                  <a:lnTo>
                    <a:pt x="48" y="1524"/>
                  </a:lnTo>
                  <a:lnTo>
                    <a:pt x="27" y="1433"/>
                  </a:lnTo>
                  <a:lnTo>
                    <a:pt x="12" y="1342"/>
                  </a:lnTo>
                  <a:lnTo>
                    <a:pt x="2" y="1251"/>
                  </a:lnTo>
                  <a:lnTo>
                    <a:pt x="0" y="1161"/>
                  </a:lnTo>
                  <a:lnTo>
                    <a:pt x="3" y="1070"/>
                  </a:lnTo>
                  <a:lnTo>
                    <a:pt x="12" y="981"/>
                  </a:lnTo>
                  <a:lnTo>
                    <a:pt x="28" y="895"/>
                  </a:lnTo>
                  <a:lnTo>
                    <a:pt x="51" y="810"/>
                  </a:lnTo>
                  <a:lnTo>
                    <a:pt x="78" y="729"/>
                  </a:lnTo>
                  <a:lnTo>
                    <a:pt x="111" y="651"/>
                  </a:lnTo>
                  <a:lnTo>
                    <a:pt x="150" y="575"/>
                  </a:lnTo>
                  <a:lnTo>
                    <a:pt x="194" y="503"/>
                  </a:lnTo>
                  <a:lnTo>
                    <a:pt x="243" y="434"/>
                  </a:lnTo>
                  <a:lnTo>
                    <a:pt x="296" y="370"/>
                  </a:lnTo>
                  <a:lnTo>
                    <a:pt x="352" y="310"/>
                  </a:lnTo>
                  <a:lnTo>
                    <a:pt x="414" y="255"/>
                  </a:lnTo>
                  <a:lnTo>
                    <a:pt x="480" y="204"/>
                  </a:lnTo>
                  <a:lnTo>
                    <a:pt x="548" y="158"/>
                  </a:lnTo>
                  <a:lnTo>
                    <a:pt x="620" y="117"/>
                  </a:lnTo>
                  <a:lnTo>
                    <a:pt x="695" y="83"/>
                  </a:lnTo>
                  <a:lnTo>
                    <a:pt x="773" y="53"/>
                  </a:lnTo>
                  <a:lnTo>
                    <a:pt x="852" y="31"/>
                  </a:lnTo>
                  <a:lnTo>
                    <a:pt x="935" y="13"/>
                  </a:lnTo>
                  <a:lnTo>
                    <a:pt x="1021" y="3"/>
                  </a:lnTo>
                  <a:lnTo>
                    <a:pt x="1107"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sp>
        <p:nvSpPr>
          <p:cNvPr id="43" name="Freeform 124"/>
          <p:cNvSpPr>
            <a:spLocks noEditPoints="1"/>
          </p:cNvSpPr>
          <p:nvPr/>
        </p:nvSpPr>
        <p:spPr bwMode="auto">
          <a:xfrm>
            <a:off x="4557068" y="2097273"/>
            <a:ext cx="671930" cy="592770"/>
          </a:xfrm>
          <a:custGeom>
            <a:avLst/>
            <a:gdLst>
              <a:gd name="T0" fmla="*/ 1495 w 3650"/>
              <a:gd name="T1" fmla="*/ 3047 h 3224"/>
              <a:gd name="T2" fmla="*/ 1498 w 3650"/>
              <a:gd name="T3" fmla="*/ 3044 h 3224"/>
              <a:gd name="T4" fmla="*/ 198 w 3650"/>
              <a:gd name="T5" fmla="*/ 981 h 3224"/>
              <a:gd name="T6" fmla="*/ 179 w 3650"/>
              <a:gd name="T7" fmla="*/ 1543 h 3224"/>
              <a:gd name="T8" fmla="*/ 342 w 3650"/>
              <a:gd name="T9" fmla="*/ 1579 h 3224"/>
              <a:gd name="T10" fmla="*/ 3250 w 3650"/>
              <a:gd name="T11" fmla="*/ 1591 h 3224"/>
              <a:gd name="T12" fmla="*/ 3423 w 3650"/>
              <a:gd name="T13" fmla="*/ 1451 h 3224"/>
              <a:gd name="T14" fmla="*/ 3470 w 3650"/>
              <a:gd name="T15" fmla="*/ 1227 h 3224"/>
              <a:gd name="T16" fmla="*/ 3366 w 3650"/>
              <a:gd name="T17" fmla="*/ 1029 h 3224"/>
              <a:gd name="T18" fmla="*/ 617 w 3650"/>
              <a:gd name="T19" fmla="*/ 728 h 3224"/>
              <a:gd name="T20" fmla="*/ 529 w 3650"/>
              <a:gd name="T21" fmla="*/ 784 h 3224"/>
              <a:gd name="T22" fmla="*/ 521 w 3650"/>
              <a:gd name="T23" fmla="*/ 1746 h 3224"/>
              <a:gd name="T24" fmla="*/ 585 w 3650"/>
              <a:gd name="T25" fmla="*/ 1816 h 3224"/>
              <a:gd name="T26" fmla="*/ 627 w 3650"/>
              <a:gd name="T27" fmla="*/ 1821 h 3224"/>
              <a:gd name="T28" fmla="*/ 761 w 3650"/>
              <a:gd name="T29" fmla="*/ 1822 h 3224"/>
              <a:gd name="T30" fmla="*/ 949 w 3650"/>
              <a:gd name="T31" fmla="*/ 1822 h 3224"/>
              <a:gd name="T32" fmla="*/ 1083 w 3650"/>
              <a:gd name="T33" fmla="*/ 1822 h 3224"/>
              <a:gd name="T34" fmla="*/ 3024 w 3650"/>
              <a:gd name="T35" fmla="*/ 175 h 3224"/>
              <a:gd name="T36" fmla="*/ 2568 w 3650"/>
              <a:gd name="T37" fmla="*/ 398 h 3224"/>
              <a:gd name="T38" fmla="*/ 1772 w 3650"/>
              <a:gd name="T39" fmla="*/ 645 h 3224"/>
              <a:gd name="T40" fmla="*/ 1441 w 3650"/>
              <a:gd name="T41" fmla="*/ 1850 h 3224"/>
              <a:gd name="T42" fmla="*/ 2255 w 3650"/>
              <a:gd name="T43" fmla="*/ 2034 h 3224"/>
              <a:gd name="T44" fmla="*/ 3022 w 3650"/>
              <a:gd name="T45" fmla="*/ 2373 h 3224"/>
              <a:gd name="T46" fmla="*/ 3028 w 3650"/>
              <a:gd name="T47" fmla="*/ 2371 h 3224"/>
              <a:gd name="T48" fmla="*/ 3026 w 3650"/>
              <a:gd name="T49" fmla="*/ 177 h 3224"/>
              <a:gd name="T50" fmla="*/ 3116 w 3650"/>
              <a:gd name="T51" fmla="*/ 24 h 3224"/>
              <a:gd name="T52" fmla="*/ 3202 w 3650"/>
              <a:gd name="T53" fmla="*/ 148 h 3224"/>
              <a:gd name="T54" fmla="*/ 3368 w 3650"/>
              <a:gd name="T55" fmla="*/ 817 h 3224"/>
              <a:gd name="T56" fmla="*/ 3571 w 3650"/>
              <a:gd name="T57" fmla="*/ 1003 h 3224"/>
              <a:gd name="T58" fmla="*/ 3650 w 3650"/>
              <a:gd name="T59" fmla="*/ 1274 h 3224"/>
              <a:gd name="T60" fmla="*/ 3571 w 3650"/>
              <a:gd name="T61" fmla="*/ 1546 h 3224"/>
              <a:gd name="T62" fmla="*/ 3368 w 3650"/>
              <a:gd name="T63" fmla="*/ 1732 h 3224"/>
              <a:gd name="T64" fmla="*/ 3202 w 3650"/>
              <a:gd name="T65" fmla="*/ 2402 h 3224"/>
              <a:gd name="T66" fmla="*/ 3116 w 3650"/>
              <a:gd name="T67" fmla="*/ 2525 h 3224"/>
              <a:gd name="T68" fmla="*/ 2964 w 3650"/>
              <a:gd name="T69" fmla="*/ 2540 h 3224"/>
              <a:gd name="T70" fmla="*/ 2369 w 3650"/>
              <a:gd name="T71" fmla="*/ 2262 h 3224"/>
              <a:gd name="T72" fmla="*/ 1621 w 3650"/>
              <a:gd name="T73" fmla="*/ 2055 h 3224"/>
              <a:gd name="T74" fmla="*/ 1675 w 3650"/>
              <a:gd name="T75" fmla="*/ 3040 h 3224"/>
              <a:gd name="T76" fmla="*/ 1624 w 3650"/>
              <a:gd name="T77" fmla="*/ 3170 h 3224"/>
              <a:gd name="T78" fmla="*/ 1495 w 3650"/>
              <a:gd name="T79" fmla="*/ 3224 h 3224"/>
              <a:gd name="T80" fmla="*/ 969 w 3650"/>
              <a:gd name="T81" fmla="*/ 3182 h 3224"/>
              <a:gd name="T82" fmla="*/ 470 w 3650"/>
              <a:gd name="T83" fmla="*/ 1956 h 3224"/>
              <a:gd name="T84" fmla="*/ 352 w 3650"/>
              <a:gd name="T85" fmla="*/ 1797 h 3224"/>
              <a:gd name="T86" fmla="*/ 124 w 3650"/>
              <a:gd name="T87" fmla="*/ 1729 h 3224"/>
              <a:gd name="T88" fmla="*/ 12 w 3650"/>
              <a:gd name="T89" fmla="*/ 1598 h 3224"/>
              <a:gd name="T90" fmla="*/ 12 w 3650"/>
              <a:gd name="T91" fmla="*/ 951 h 3224"/>
              <a:gd name="T92" fmla="*/ 124 w 3650"/>
              <a:gd name="T93" fmla="*/ 821 h 3224"/>
              <a:gd name="T94" fmla="*/ 352 w 3650"/>
              <a:gd name="T95" fmla="*/ 755 h 3224"/>
              <a:gd name="T96" fmla="*/ 465 w 3650"/>
              <a:gd name="T97" fmla="*/ 598 h 3224"/>
              <a:gd name="T98" fmla="*/ 622 w 3650"/>
              <a:gd name="T99" fmla="*/ 552 h 3224"/>
              <a:gd name="T100" fmla="*/ 739 w 3650"/>
              <a:gd name="T101" fmla="*/ 552 h 3224"/>
              <a:gd name="T102" fmla="*/ 940 w 3650"/>
              <a:gd name="T103" fmla="*/ 551 h 3224"/>
              <a:gd name="T104" fmla="*/ 1123 w 3650"/>
              <a:gd name="T105" fmla="*/ 549 h 3224"/>
              <a:gd name="T106" fmla="*/ 1352 w 3650"/>
              <a:gd name="T107" fmla="*/ 533 h 3224"/>
              <a:gd name="T108" fmla="*/ 2169 w 3650"/>
              <a:gd name="T109" fmla="*/ 357 h 3224"/>
              <a:gd name="T110" fmla="*/ 2935 w 3650"/>
              <a:gd name="T111" fmla="*/ 23 h 3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50" h="3224">
                <a:moveTo>
                  <a:pt x="702" y="1998"/>
                </a:moveTo>
                <a:lnTo>
                  <a:pt x="1082" y="3046"/>
                </a:lnTo>
                <a:lnTo>
                  <a:pt x="1083" y="3047"/>
                </a:lnTo>
                <a:lnTo>
                  <a:pt x="1084" y="3047"/>
                </a:lnTo>
                <a:lnTo>
                  <a:pt x="1495" y="3047"/>
                </a:lnTo>
                <a:lnTo>
                  <a:pt x="1497" y="3047"/>
                </a:lnTo>
                <a:lnTo>
                  <a:pt x="1498" y="3046"/>
                </a:lnTo>
                <a:lnTo>
                  <a:pt x="1498" y="3046"/>
                </a:lnTo>
                <a:lnTo>
                  <a:pt x="1498" y="3045"/>
                </a:lnTo>
                <a:lnTo>
                  <a:pt x="1498" y="3044"/>
                </a:lnTo>
                <a:lnTo>
                  <a:pt x="1118" y="1998"/>
                </a:lnTo>
                <a:lnTo>
                  <a:pt x="702" y="1998"/>
                </a:lnTo>
                <a:close/>
                <a:moveTo>
                  <a:pt x="229" y="971"/>
                </a:moveTo>
                <a:lnTo>
                  <a:pt x="212" y="974"/>
                </a:lnTo>
                <a:lnTo>
                  <a:pt x="198" y="981"/>
                </a:lnTo>
                <a:lnTo>
                  <a:pt x="187" y="993"/>
                </a:lnTo>
                <a:lnTo>
                  <a:pt x="179" y="1008"/>
                </a:lnTo>
                <a:lnTo>
                  <a:pt x="176" y="1023"/>
                </a:lnTo>
                <a:lnTo>
                  <a:pt x="176" y="1527"/>
                </a:lnTo>
                <a:lnTo>
                  <a:pt x="179" y="1543"/>
                </a:lnTo>
                <a:lnTo>
                  <a:pt x="187" y="1558"/>
                </a:lnTo>
                <a:lnTo>
                  <a:pt x="198" y="1569"/>
                </a:lnTo>
                <a:lnTo>
                  <a:pt x="212" y="1576"/>
                </a:lnTo>
                <a:lnTo>
                  <a:pt x="229" y="1579"/>
                </a:lnTo>
                <a:lnTo>
                  <a:pt x="342" y="1579"/>
                </a:lnTo>
                <a:lnTo>
                  <a:pt x="342" y="971"/>
                </a:lnTo>
                <a:lnTo>
                  <a:pt x="229" y="971"/>
                </a:lnTo>
                <a:close/>
                <a:moveTo>
                  <a:pt x="3204" y="946"/>
                </a:moveTo>
                <a:lnTo>
                  <a:pt x="3204" y="1604"/>
                </a:lnTo>
                <a:lnTo>
                  <a:pt x="3250" y="1591"/>
                </a:lnTo>
                <a:lnTo>
                  <a:pt x="3292" y="1573"/>
                </a:lnTo>
                <a:lnTo>
                  <a:pt x="3330" y="1550"/>
                </a:lnTo>
                <a:lnTo>
                  <a:pt x="3366" y="1521"/>
                </a:lnTo>
                <a:lnTo>
                  <a:pt x="3397" y="1489"/>
                </a:lnTo>
                <a:lnTo>
                  <a:pt x="3423" y="1451"/>
                </a:lnTo>
                <a:lnTo>
                  <a:pt x="3444" y="1411"/>
                </a:lnTo>
                <a:lnTo>
                  <a:pt x="3461" y="1368"/>
                </a:lnTo>
                <a:lnTo>
                  <a:pt x="3470" y="1323"/>
                </a:lnTo>
                <a:lnTo>
                  <a:pt x="3474" y="1274"/>
                </a:lnTo>
                <a:lnTo>
                  <a:pt x="3470" y="1227"/>
                </a:lnTo>
                <a:lnTo>
                  <a:pt x="3461" y="1181"/>
                </a:lnTo>
                <a:lnTo>
                  <a:pt x="3444" y="1138"/>
                </a:lnTo>
                <a:lnTo>
                  <a:pt x="3423" y="1098"/>
                </a:lnTo>
                <a:lnTo>
                  <a:pt x="3397" y="1061"/>
                </a:lnTo>
                <a:lnTo>
                  <a:pt x="3366" y="1029"/>
                </a:lnTo>
                <a:lnTo>
                  <a:pt x="3330" y="1000"/>
                </a:lnTo>
                <a:lnTo>
                  <a:pt x="3292" y="977"/>
                </a:lnTo>
                <a:lnTo>
                  <a:pt x="3250" y="958"/>
                </a:lnTo>
                <a:lnTo>
                  <a:pt x="3204" y="946"/>
                </a:lnTo>
                <a:close/>
                <a:moveTo>
                  <a:pt x="617" y="728"/>
                </a:moveTo>
                <a:lnTo>
                  <a:pt x="595" y="731"/>
                </a:lnTo>
                <a:lnTo>
                  <a:pt x="574" y="739"/>
                </a:lnTo>
                <a:lnTo>
                  <a:pt x="555" y="750"/>
                </a:lnTo>
                <a:lnTo>
                  <a:pt x="540" y="765"/>
                </a:lnTo>
                <a:lnTo>
                  <a:pt x="529" y="784"/>
                </a:lnTo>
                <a:lnTo>
                  <a:pt x="521" y="805"/>
                </a:lnTo>
                <a:lnTo>
                  <a:pt x="518" y="827"/>
                </a:lnTo>
                <a:lnTo>
                  <a:pt x="518" y="827"/>
                </a:lnTo>
                <a:lnTo>
                  <a:pt x="518" y="1722"/>
                </a:lnTo>
                <a:lnTo>
                  <a:pt x="521" y="1746"/>
                </a:lnTo>
                <a:lnTo>
                  <a:pt x="529" y="1768"/>
                </a:lnTo>
                <a:lnTo>
                  <a:pt x="541" y="1785"/>
                </a:lnTo>
                <a:lnTo>
                  <a:pt x="557" y="1801"/>
                </a:lnTo>
                <a:lnTo>
                  <a:pt x="577" y="1813"/>
                </a:lnTo>
                <a:lnTo>
                  <a:pt x="585" y="1816"/>
                </a:lnTo>
                <a:lnTo>
                  <a:pt x="592" y="1819"/>
                </a:lnTo>
                <a:lnTo>
                  <a:pt x="601" y="1820"/>
                </a:lnTo>
                <a:lnTo>
                  <a:pt x="611" y="1821"/>
                </a:lnTo>
                <a:lnTo>
                  <a:pt x="615" y="1821"/>
                </a:lnTo>
                <a:lnTo>
                  <a:pt x="627" y="1821"/>
                </a:lnTo>
                <a:lnTo>
                  <a:pt x="645" y="1821"/>
                </a:lnTo>
                <a:lnTo>
                  <a:pt x="667" y="1821"/>
                </a:lnTo>
                <a:lnTo>
                  <a:pt x="696" y="1822"/>
                </a:lnTo>
                <a:lnTo>
                  <a:pt x="727" y="1822"/>
                </a:lnTo>
                <a:lnTo>
                  <a:pt x="761" y="1822"/>
                </a:lnTo>
                <a:lnTo>
                  <a:pt x="797" y="1822"/>
                </a:lnTo>
                <a:lnTo>
                  <a:pt x="836" y="1822"/>
                </a:lnTo>
                <a:lnTo>
                  <a:pt x="874" y="1822"/>
                </a:lnTo>
                <a:lnTo>
                  <a:pt x="911" y="1822"/>
                </a:lnTo>
                <a:lnTo>
                  <a:pt x="949" y="1822"/>
                </a:lnTo>
                <a:lnTo>
                  <a:pt x="983" y="1822"/>
                </a:lnTo>
                <a:lnTo>
                  <a:pt x="1014" y="1822"/>
                </a:lnTo>
                <a:lnTo>
                  <a:pt x="1042" y="1822"/>
                </a:lnTo>
                <a:lnTo>
                  <a:pt x="1065" y="1822"/>
                </a:lnTo>
                <a:lnTo>
                  <a:pt x="1083" y="1822"/>
                </a:lnTo>
                <a:lnTo>
                  <a:pt x="1094" y="1822"/>
                </a:lnTo>
                <a:lnTo>
                  <a:pt x="1097" y="1822"/>
                </a:lnTo>
                <a:lnTo>
                  <a:pt x="1097" y="728"/>
                </a:lnTo>
                <a:lnTo>
                  <a:pt x="617" y="728"/>
                </a:lnTo>
                <a:close/>
                <a:moveTo>
                  <a:pt x="3024" y="175"/>
                </a:moveTo>
                <a:lnTo>
                  <a:pt x="3023" y="175"/>
                </a:lnTo>
                <a:lnTo>
                  <a:pt x="3022" y="177"/>
                </a:lnTo>
                <a:lnTo>
                  <a:pt x="2872" y="256"/>
                </a:lnTo>
                <a:lnTo>
                  <a:pt x="2722" y="330"/>
                </a:lnTo>
                <a:lnTo>
                  <a:pt x="2568" y="398"/>
                </a:lnTo>
                <a:lnTo>
                  <a:pt x="2413" y="459"/>
                </a:lnTo>
                <a:lnTo>
                  <a:pt x="2255" y="514"/>
                </a:lnTo>
                <a:lnTo>
                  <a:pt x="2096" y="564"/>
                </a:lnTo>
                <a:lnTo>
                  <a:pt x="1936" y="607"/>
                </a:lnTo>
                <a:lnTo>
                  <a:pt x="1772" y="645"/>
                </a:lnTo>
                <a:lnTo>
                  <a:pt x="1608" y="676"/>
                </a:lnTo>
                <a:lnTo>
                  <a:pt x="1441" y="700"/>
                </a:lnTo>
                <a:lnTo>
                  <a:pt x="1274" y="719"/>
                </a:lnTo>
                <a:lnTo>
                  <a:pt x="1274" y="1831"/>
                </a:lnTo>
                <a:lnTo>
                  <a:pt x="1441" y="1850"/>
                </a:lnTo>
                <a:lnTo>
                  <a:pt x="1608" y="1874"/>
                </a:lnTo>
                <a:lnTo>
                  <a:pt x="1772" y="1905"/>
                </a:lnTo>
                <a:lnTo>
                  <a:pt x="1936" y="1943"/>
                </a:lnTo>
                <a:lnTo>
                  <a:pt x="2096" y="1986"/>
                </a:lnTo>
                <a:lnTo>
                  <a:pt x="2255" y="2034"/>
                </a:lnTo>
                <a:lnTo>
                  <a:pt x="2412" y="2091"/>
                </a:lnTo>
                <a:lnTo>
                  <a:pt x="2568" y="2152"/>
                </a:lnTo>
                <a:lnTo>
                  <a:pt x="2722" y="2219"/>
                </a:lnTo>
                <a:lnTo>
                  <a:pt x="2872" y="2293"/>
                </a:lnTo>
                <a:lnTo>
                  <a:pt x="3022" y="2373"/>
                </a:lnTo>
                <a:lnTo>
                  <a:pt x="3023" y="2373"/>
                </a:lnTo>
                <a:lnTo>
                  <a:pt x="3024" y="2374"/>
                </a:lnTo>
                <a:lnTo>
                  <a:pt x="3026" y="2373"/>
                </a:lnTo>
                <a:lnTo>
                  <a:pt x="3027" y="2372"/>
                </a:lnTo>
                <a:lnTo>
                  <a:pt x="3028" y="2371"/>
                </a:lnTo>
                <a:lnTo>
                  <a:pt x="3028" y="2370"/>
                </a:lnTo>
                <a:lnTo>
                  <a:pt x="3028" y="180"/>
                </a:lnTo>
                <a:lnTo>
                  <a:pt x="3028" y="179"/>
                </a:lnTo>
                <a:lnTo>
                  <a:pt x="3027" y="178"/>
                </a:lnTo>
                <a:lnTo>
                  <a:pt x="3026" y="177"/>
                </a:lnTo>
                <a:lnTo>
                  <a:pt x="3024" y="175"/>
                </a:lnTo>
                <a:close/>
                <a:moveTo>
                  <a:pt x="3026" y="0"/>
                </a:moveTo>
                <a:lnTo>
                  <a:pt x="3056" y="2"/>
                </a:lnTo>
                <a:lnTo>
                  <a:pt x="3087" y="11"/>
                </a:lnTo>
                <a:lnTo>
                  <a:pt x="3116" y="24"/>
                </a:lnTo>
                <a:lnTo>
                  <a:pt x="3141" y="43"/>
                </a:lnTo>
                <a:lnTo>
                  <a:pt x="3163" y="65"/>
                </a:lnTo>
                <a:lnTo>
                  <a:pt x="3181" y="90"/>
                </a:lnTo>
                <a:lnTo>
                  <a:pt x="3194" y="118"/>
                </a:lnTo>
                <a:lnTo>
                  <a:pt x="3202" y="148"/>
                </a:lnTo>
                <a:lnTo>
                  <a:pt x="3204" y="180"/>
                </a:lnTo>
                <a:lnTo>
                  <a:pt x="3204" y="767"/>
                </a:lnTo>
                <a:lnTo>
                  <a:pt x="3262" y="779"/>
                </a:lnTo>
                <a:lnTo>
                  <a:pt x="3316" y="795"/>
                </a:lnTo>
                <a:lnTo>
                  <a:pt x="3368" y="817"/>
                </a:lnTo>
                <a:lnTo>
                  <a:pt x="3417" y="845"/>
                </a:lnTo>
                <a:lnTo>
                  <a:pt x="3461" y="878"/>
                </a:lnTo>
                <a:lnTo>
                  <a:pt x="3503" y="916"/>
                </a:lnTo>
                <a:lnTo>
                  <a:pt x="3539" y="957"/>
                </a:lnTo>
                <a:lnTo>
                  <a:pt x="3571" y="1003"/>
                </a:lnTo>
                <a:lnTo>
                  <a:pt x="3599" y="1052"/>
                </a:lnTo>
                <a:lnTo>
                  <a:pt x="3620" y="1104"/>
                </a:lnTo>
                <a:lnTo>
                  <a:pt x="3637" y="1158"/>
                </a:lnTo>
                <a:lnTo>
                  <a:pt x="3647" y="1216"/>
                </a:lnTo>
                <a:lnTo>
                  <a:pt x="3650" y="1274"/>
                </a:lnTo>
                <a:lnTo>
                  <a:pt x="3647" y="1334"/>
                </a:lnTo>
                <a:lnTo>
                  <a:pt x="3637" y="1390"/>
                </a:lnTo>
                <a:lnTo>
                  <a:pt x="3620" y="1446"/>
                </a:lnTo>
                <a:lnTo>
                  <a:pt x="3599" y="1498"/>
                </a:lnTo>
                <a:lnTo>
                  <a:pt x="3571" y="1546"/>
                </a:lnTo>
                <a:lnTo>
                  <a:pt x="3539" y="1592"/>
                </a:lnTo>
                <a:lnTo>
                  <a:pt x="3503" y="1634"/>
                </a:lnTo>
                <a:lnTo>
                  <a:pt x="3461" y="1672"/>
                </a:lnTo>
                <a:lnTo>
                  <a:pt x="3417" y="1705"/>
                </a:lnTo>
                <a:lnTo>
                  <a:pt x="3368" y="1732"/>
                </a:lnTo>
                <a:lnTo>
                  <a:pt x="3316" y="1755"/>
                </a:lnTo>
                <a:lnTo>
                  <a:pt x="3262" y="1771"/>
                </a:lnTo>
                <a:lnTo>
                  <a:pt x="3204" y="1782"/>
                </a:lnTo>
                <a:lnTo>
                  <a:pt x="3204" y="2370"/>
                </a:lnTo>
                <a:lnTo>
                  <a:pt x="3202" y="2402"/>
                </a:lnTo>
                <a:lnTo>
                  <a:pt x="3194" y="2432"/>
                </a:lnTo>
                <a:lnTo>
                  <a:pt x="3181" y="2459"/>
                </a:lnTo>
                <a:lnTo>
                  <a:pt x="3163" y="2485"/>
                </a:lnTo>
                <a:lnTo>
                  <a:pt x="3141" y="2507"/>
                </a:lnTo>
                <a:lnTo>
                  <a:pt x="3116" y="2525"/>
                </a:lnTo>
                <a:lnTo>
                  <a:pt x="3086" y="2539"/>
                </a:lnTo>
                <a:lnTo>
                  <a:pt x="3055" y="2548"/>
                </a:lnTo>
                <a:lnTo>
                  <a:pt x="3024" y="2550"/>
                </a:lnTo>
                <a:lnTo>
                  <a:pt x="2994" y="2548"/>
                </a:lnTo>
                <a:lnTo>
                  <a:pt x="2964" y="2540"/>
                </a:lnTo>
                <a:lnTo>
                  <a:pt x="2935" y="2527"/>
                </a:lnTo>
                <a:lnTo>
                  <a:pt x="2797" y="2453"/>
                </a:lnTo>
                <a:lnTo>
                  <a:pt x="2657" y="2384"/>
                </a:lnTo>
                <a:lnTo>
                  <a:pt x="2514" y="2320"/>
                </a:lnTo>
                <a:lnTo>
                  <a:pt x="2369" y="2262"/>
                </a:lnTo>
                <a:lnTo>
                  <a:pt x="2223" y="2210"/>
                </a:lnTo>
                <a:lnTo>
                  <a:pt x="2075" y="2163"/>
                </a:lnTo>
                <a:lnTo>
                  <a:pt x="1926" y="2122"/>
                </a:lnTo>
                <a:lnTo>
                  <a:pt x="1774" y="2086"/>
                </a:lnTo>
                <a:lnTo>
                  <a:pt x="1621" y="2055"/>
                </a:lnTo>
                <a:lnTo>
                  <a:pt x="1467" y="2031"/>
                </a:lnTo>
                <a:lnTo>
                  <a:pt x="1312" y="2012"/>
                </a:lnTo>
                <a:lnTo>
                  <a:pt x="1664" y="2984"/>
                </a:lnTo>
                <a:lnTo>
                  <a:pt x="1671" y="3012"/>
                </a:lnTo>
                <a:lnTo>
                  <a:pt x="1675" y="3040"/>
                </a:lnTo>
                <a:lnTo>
                  <a:pt x="1672" y="3068"/>
                </a:lnTo>
                <a:lnTo>
                  <a:pt x="1667" y="3096"/>
                </a:lnTo>
                <a:lnTo>
                  <a:pt x="1657" y="3122"/>
                </a:lnTo>
                <a:lnTo>
                  <a:pt x="1641" y="3148"/>
                </a:lnTo>
                <a:lnTo>
                  <a:pt x="1624" y="3170"/>
                </a:lnTo>
                <a:lnTo>
                  <a:pt x="1602" y="3189"/>
                </a:lnTo>
                <a:lnTo>
                  <a:pt x="1578" y="3204"/>
                </a:lnTo>
                <a:lnTo>
                  <a:pt x="1552" y="3215"/>
                </a:lnTo>
                <a:lnTo>
                  <a:pt x="1524" y="3222"/>
                </a:lnTo>
                <a:lnTo>
                  <a:pt x="1495" y="3224"/>
                </a:lnTo>
                <a:lnTo>
                  <a:pt x="1084" y="3224"/>
                </a:lnTo>
                <a:lnTo>
                  <a:pt x="1053" y="3221"/>
                </a:lnTo>
                <a:lnTo>
                  <a:pt x="1022" y="3213"/>
                </a:lnTo>
                <a:lnTo>
                  <a:pt x="994" y="3200"/>
                </a:lnTo>
                <a:lnTo>
                  <a:pt x="969" y="3182"/>
                </a:lnTo>
                <a:lnTo>
                  <a:pt x="948" y="3160"/>
                </a:lnTo>
                <a:lnTo>
                  <a:pt x="929" y="3134"/>
                </a:lnTo>
                <a:lnTo>
                  <a:pt x="916" y="3106"/>
                </a:lnTo>
                <a:lnTo>
                  <a:pt x="507" y="1975"/>
                </a:lnTo>
                <a:lnTo>
                  <a:pt x="470" y="1956"/>
                </a:lnTo>
                <a:lnTo>
                  <a:pt x="438" y="1932"/>
                </a:lnTo>
                <a:lnTo>
                  <a:pt x="409" y="1903"/>
                </a:lnTo>
                <a:lnTo>
                  <a:pt x="385" y="1871"/>
                </a:lnTo>
                <a:lnTo>
                  <a:pt x="366" y="1835"/>
                </a:lnTo>
                <a:lnTo>
                  <a:pt x="352" y="1797"/>
                </a:lnTo>
                <a:lnTo>
                  <a:pt x="344" y="1755"/>
                </a:lnTo>
                <a:lnTo>
                  <a:pt x="229" y="1755"/>
                </a:lnTo>
                <a:lnTo>
                  <a:pt x="191" y="1752"/>
                </a:lnTo>
                <a:lnTo>
                  <a:pt x="156" y="1743"/>
                </a:lnTo>
                <a:lnTo>
                  <a:pt x="124" y="1729"/>
                </a:lnTo>
                <a:lnTo>
                  <a:pt x="94" y="1710"/>
                </a:lnTo>
                <a:lnTo>
                  <a:pt x="67" y="1688"/>
                </a:lnTo>
                <a:lnTo>
                  <a:pt x="44" y="1662"/>
                </a:lnTo>
                <a:lnTo>
                  <a:pt x="25" y="1632"/>
                </a:lnTo>
                <a:lnTo>
                  <a:pt x="12" y="1598"/>
                </a:lnTo>
                <a:lnTo>
                  <a:pt x="3" y="1563"/>
                </a:lnTo>
                <a:lnTo>
                  <a:pt x="0" y="1527"/>
                </a:lnTo>
                <a:lnTo>
                  <a:pt x="0" y="1023"/>
                </a:lnTo>
                <a:lnTo>
                  <a:pt x="3" y="987"/>
                </a:lnTo>
                <a:lnTo>
                  <a:pt x="12" y="951"/>
                </a:lnTo>
                <a:lnTo>
                  <a:pt x="25" y="919"/>
                </a:lnTo>
                <a:lnTo>
                  <a:pt x="44" y="888"/>
                </a:lnTo>
                <a:lnTo>
                  <a:pt x="67" y="862"/>
                </a:lnTo>
                <a:lnTo>
                  <a:pt x="94" y="839"/>
                </a:lnTo>
                <a:lnTo>
                  <a:pt x="124" y="821"/>
                </a:lnTo>
                <a:lnTo>
                  <a:pt x="156" y="806"/>
                </a:lnTo>
                <a:lnTo>
                  <a:pt x="191" y="797"/>
                </a:lnTo>
                <a:lnTo>
                  <a:pt x="229" y="795"/>
                </a:lnTo>
                <a:lnTo>
                  <a:pt x="344" y="795"/>
                </a:lnTo>
                <a:lnTo>
                  <a:pt x="352" y="755"/>
                </a:lnTo>
                <a:lnTo>
                  <a:pt x="365" y="717"/>
                </a:lnTo>
                <a:lnTo>
                  <a:pt x="384" y="682"/>
                </a:lnTo>
                <a:lnTo>
                  <a:pt x="406" y="650"/>
                </a:lnTo>
                <a:lnTo>
                  <a:pt x="434" y="623"/>
                </a:lnTo>
                <a:lnTo>
                  <a:pt x="465" y="598"/>
                </a:lnTo>
                <a:lnTo>
                  <a:pt x="499" y="578"/>
                </a:lnTo>
                <a:lnTo>
                  <a:pt x="536" y="564"/>
                </a:lnTo>
                <a:lnTo>
                  <a:pt x="576" y="555"/>
                </a:lnTo>
                <a:lnTo>
                  <a:pt x="617" y="552"/>
                </a:lnTo>
                <a:lnTo>
                  <a:pt x="622" y="552"/>
                </a:lnTo>
                <a:lnTo>
                  <a:pt x="633" y="552"/>
                </a:lnTo>
                <a:lnTo>
                  <a:pt x="651" y="552"/>
                </a:lnTo>
                <a:lnTo>
                  <a:pt x="676" y="552"/>
                </a:lnTo>
                <a:lnTo>
                  <a:pt x="705" y="552"/>
                </a:lnTo>
                <a:lnTo>
                  <a:pt x="739" y="552"/>
                </a:lnTo>
                <a:lnTo>
                  <a:pt x="775" y="551"/>
                </a:lnTo>
                <a:lnTo>
                  <a:pt x="815" y="551"/>
                </a:lnTo>
                <a:lnTo>
                  <a:pt x="856" y="551"/>
                </a:lnTo>
                <a:lnTo>
                  <a:pt x="898" y="551"/>
                </a:lnTo>
                <a:lnTo>
                  <a:pt x="940" y="551"/>
                </a:lnTo>
                <a:lnTo>
                  <a:pt x="982" y="551"/>
                </a:lnTo>
                <a:lnTo>
                  <a:pt x="1022" y="549"/>
                </a:lnTo>
                <a:lnTo>
                  <a:pt x="1059" y="549"/>
                </a:lnTo>
                <a:lnTo>
                  <a:pt x="1093" y="549"/>
                </a:lnTo>
                <a:lnTo>
                  <a:pt x="1123" y="549"/>
                </a:lnTo>
                <a:lnTo>
                  <a:pt x="1147" y="549"/>
                </a:lnTo>
                <a:lnTo>
                  <a:pt x="1166" y="549"/>
                </a:lnTo>
                <a:lnTo>
                  <a:pt x="1178" y="549"/>
                </a:lnTo>
                <a:lnTo>
                  <a:pt x="1183" y="548"/>
                </a:lnTo>
                <a:lnTo>
                  <a:pt x="1352" y="533"/>
                </a:lnTo>
                <a:lnTo>
                  <a:pt x="1519" y="511"/>
                </a:lnTo>
                <a:lnTo>
                  <a:pt x="1683" y="482"/>
                </a:lnTo>
                <a:lnTo>
                  <a:pt x="1847" y="447"/>
                </a:lnTo>
                <a:lnTo>
                  <a:pt x="2009" y="406"/>
                </a:lnTo>
                <a:lnTo>
                  <a:pt x="2169" y="357"/>
                </a:lnTo>
                <a:lnTo>
                  <a:pt x="2326" y="303"/>
                </a:lnTo>
                <a:lnTo>
                  <a:pt x="2482" y="242"/>
                </a:lnTo>
                <a:lnTo>
                  <a:pt x="2636" y="175"/>
                </a:lnTo>
                <a:lnTo>
                  <a:pt x="2786" y="102"/>
                </a:lnTo>
                <a:lnTo>
                  <a:pt x="2935" y="23"/>
                </a:lnTo>
                <a:lnTo>
                  <a:pt x="2964" y="9"/>
                </a:lnTo>
                <a:lnTo>
                  <a:pt x="2995" y="2"/>
                </a:lnTo>
                <a:lnTo>
                  <a:pt x="3026" y="0"/>
                </a:lnTo>
                <a:close/>
              </a:path>
            </a:pathLst>
          </a:custGeom>
          <a:solidFill>
            <a:srgbClr val="FEFEFE"/>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nvGrpSpPr>
          <p:cNvPr id="44" name="Group 55"/>
          <p:cNvGrpSpPr/>
          <p:nvPr/>
        </p:nvGrpSpPr>
        <p:grpSpPr>
          <a:xfrm>
            <a:off x="6929521" y="2198204"/>
            <a:ext cx="677696" cy="453648"/>
            <a:chOff x="666750" y="3544888"/>
            <a:chExt cx="581025" cy="388938"/>
          </a:xfrm>
          <a:solidFill>
            <a:srgbClr val="FEFEFE"/>
          </a:solidFill>
        </p:grpSpPr>
        <p:sp>
          <p:nvSpPr>
            <p:cNvPr id="45" name="Freeform 256"/>
            <p:cNvSpPr/>
            <p:nvPr/>
          </p:nvSpPr>
          <p:spPr bwMode="auto">
            <a:xfrm>
              <a:off x="755650" y="3598863"/>
              <a:ext cx="403225" cy="214313"/>
            </a:xfrm>
            <a:custGeom>
              <a:avLst/>
              <a:gdLst>
                <a:gd name="T0" fmla="*/ 79 w 2542"/>
                <a:gd name="T1" fmla="*/ 0 h 1347"/>
                <a:gd name="T2" fmla="*/ 2463 w 2542"/>
                <a:gd name="T3" fmla="*/ 0 h 1347"/>
                <a:gd name="T4" fmla="*/ 2484 w 2542"/>
                <a:gd name="T5" fmla="*/ 2 h 1347"/>
                <a:gd name="T6" fmla="*/ 2503 w 2542"/>
                <a:gd name="T7" fmla="*/ 10 h 1347"/>
                <a:gd name="T8" fmla="*/ 2520 w 2542"/>
                <a:gd name="T9" fmla="*/ 22 h 1347"/>
                <a:gd name="T10" fmla="*/ 2532 w 2542"/>
                <a:gd name="T11" fmla="*/ 38 h 1347"/>
                <a:gd name="T12" fmla="*/ 2540 w 2542"/>
                <a:gd name="T13" fmla="*/ 57 h 1347"/>
                <a:gd name="T14" fmla="*/ 2542 w 2542"/>
                <a:gd name="T15" fmla="*/ 78 h 1347"/>
                <a:gd name="T16" fmla="*/ 2542 w 2542"/>
                <a:gd name="T17" fmla="*/ 1268 h 1347"/>
                <a:gd name="T18" fmla="*/ 2540 w 2542"/>
                <a:gd name="T19" fmla="*/ 1289 h 1347"/>
                <a:gd name="T20" fmla="*/ 2532 w 2542"/>
                <a:gd name="T21" fmla="*/ 1308 h 1347"/>
                <a:gd name="T22" fmla="*/ 2520 w 2542"/>
                <a:gd name="T23" fmla="*/ 1323 h 1347"/>
                <a:gd name="T24" fmla="*/ 2503 w 2542"/>
                <a:gd name="T25" fmla="*/ 1337 h 1347"/>
                <a:gd name="T26" fmla="*/ 2484 w 2542"/>
                <a:gd name="T27" fmla="*/ 1344 h 1347"/>
                <a:gd name="T28" fmla="*/ 2463 w 2542"/>
                <a:gd name="T29" fmla="*/ 1347 h 1347"/>
                <a:gd name="T30" fmla="*/ 2442 w 2542"/>
                <a:gd name="T31" fmla="*/ 1344 h 1347"/>
                <a:gd name="T32" fmla="*/ 2424 w 2542"/>
                <a:gd name="T33" fmla="*/ 1337 h 1347"/>
                <a:gd name="T34" fmla="*/ 2408 w 2542"/>
                <a:gd name="T35" fmla="*/ 1323 h 1347"/>
                <a:gd name="T36" fmla="*/ 2396 w 2542"/>
                <a:gd name="T37" fmla="*/ 1308 h 1347"/>
                <a:gd name="T38" fmla="*/ 2388 w 2542"/>
                <a:gd name="T39" fmla="*/ 1289 h 1347"/>
                <a:gd name="T40" fmla="*/ 2385 w 2542"/>
                <a:gd name="T41" fmla="*/ 1268 h 1347"/>
                <a:gd name="T42" fmla="*/ 2385 w 2542"/>
                <a:gd name="T43" fmla="*/ 157 h 1347"/>
                <a:gd name="T44" fmla="*/ 157 w 2542"/>
                <a:gd name="T45" fmla="*/ 157 h 1347"/>
                <a:gd name="T46" fmla="*/ 157 w 2542"/>
                <a:gd name="T47" fmla="*/ 1268 h 1347"/>
                <a:gd name="T48" fmla="*/ 154 w 2542"/>
                <a:gd name="T49" fmla="*/ 1289 h 1347"/>
                <a:gd name="T50" fmla="*/ 146 w 2542"/>
                <a:gd name="T51" fmla="*/ 1308 h 1347"/>
                <a:gd name="T52" fmla="*/ 134 w 2542"/>
                <a:gd name="T53" fmla="*/ 1323 h 1347"/>
                <a:gd name="T54" fmla="*/ 118 w 2542"/>
                <a:gd name="T55" fmla="*/ 1337 h 1347"/>
                <a:gd name="T56" fmla="*/ 100 w 2542"/>
                <a:gd name="T57" fmla="*/ 1344 h 1347"/>
                <a:gd name="T58" fmla="*/ 79 w 2542"/>
                <a:gd name="T59" fmla="*/ 1347 h 1347"/>
                <a:gd name="T60" fmla="*/ 58 w 2542"/>
                <a:gd name="T61" fmla="*/ 1344 h 1347"/>
                <a:gd name="T62" fmla="*/ 39 w 2542"/>
                <a:gd name="T63" fmla="*/ 1337 h 1347"/>
                <a:gd name="T64" fmla="*/ 22 w 2542"/>
                <a:gd name="T65" fmla="*/ 1323 h 1347"/>
                <a:gd name="T66" fmla="*/ 10 w 2542"/>
                <a:gd name="T67" fmla="*/ 1308 h 1347"/>
                <a:gd name="T68" fmla="*/ 2 w 2542"/>
                <a:gd name="T69" fmla="*/ 1289 h 1347"/>
                <a:gd name="T70" fmla="*/ 0 w 2542"/>
                <a:gd name="T71" fmla="*/ 1268 h 1347"/>
                <a:gd name="T72" fmla="*/ 0 w 2542"/>
                <a:gd name="T73" fmla="*/ 78 h 1347"/>
                <a:gd name="T74" fmla="*/ 2 w 2542"/>
                <a:gd name="T75" fmla="*/ 57 h 1347"/>
                <a:gd name="T76" fmla="*/ 10 w 2542"/>
                <a:gd name="T77" fmla="*/ 38 h 1347"/>
                <a:gd name="T78" fmla="*/ 22 w 2542"/>
                <a:gd name="T79" fmla="*/ 22 h 1347"/>
                <a:gd name="T80" fmla="*/ 39 w 2542"/>
                <a:gd name="T81" fmla="*/ 10 h 1347"/>
                <a:gd name="T82" fmla="*/ 58 w 2542"/>
                <a:gd name="T83" fmla="*/ 2 h 1347"/>
                <a:gd name="T84" fmla="*/ 79 w 2542"/>
                <a:gd name="T85"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42" h="1347">
                  <a:moveTo>
                    <a:pt x="79" y="0"/>
                  </a:moveTo>
                  <a:lnTo>
                    <a:pt x="2463" y="0"/>
                  </a:lnTo>
                  <a:lnTo>
                    <a:pt x="2484" y="2"/>
                  </a:lnTo>
                  <a:lnTo>
                    <a:pt x="2503" y="10"/>
                  </a:lnTo>
                  <a:lnTo>
                    <a:pt x="2520" y="22"/>
                  </a:lnTo>
                  <a:lnTo>
                    <a:pt x="2532" y="38"/>
                  </a:lnTo>
                  <a:lnTo>
                    <a:pt x="2540" y="57"/>
                  </a:lnTo>
                  <a:lnTo>
                    <a:pt x="2542" y="78"/>
                  </a:lnTo>
                  <a:lnTo>
                    <a:pt x="2542" y="1268"/>
                  </a:lnTo>
                  <a:lnTo>
                    <a:pt x="2540" y="1289"/>
                  </a:lnTo>
                  <a:lnTo>
                    <a:pt x="2532" y="1308"/>
                  </a:lnTo>
                  <a:lnTo>
                    <a:pt x="2520" y="1323"/>
                  </a:lnTo>
                  <a:lnTo>
                    <a:pt x="2503" y="1337"/>
                  </a:lnTo>
                  <a:lnTo>
                    <a:pt x="2484" y="1344"/>
                  </a:lnTo>
                  <a:lnTo>
                    <a:pt x="2463" y="1347"/>
                  </a:lnTo>
                  <a:lnTo>
                    <a:pt x="2442" y="1344"/>
                  </a:lnTo>
                  <a:lnTo>
                    <a:pt x="2424" y="1337"/>
                  </a:lnTo>
                  <a:lnTo>
                    <a:pt x="2408" y="1323"/>
                  </a:lnTo>
                  <a:lnTo>
                    <a:pt x="2396" y="1308"/>
                  </a:lnTo>
                  <a:lnTo>
                    <a:pt x="2388" y="1289"/>
                  </a:lnTo>
                  <a:lnTo>
                    <a:pt x="2385" y="1268"/>
                  </a:lnTo>
                  <a:lnTo>
                    <a:pt x="2385" y="157"/>
                  </a:lnTo>
                  <a:lnTo>
                    <a:pt x="157" y="157"/>
                  </a:lnTo>
                  <a:lnTo>
                    <a:pt x="157" y="1268"/>
                  </a:lnTo>
                  <a:lnTo>
                    <a:pt x="154" y="1289"/>
                  </a:lnTo>
                  <a:lnTo>
                    <a:pt x="146" y="1308"/>
                  </a:lnTo>
                  <a:lnTo>
                    <a:pt x="134" y="1323"/>
                  </a:lnTo>
                  <a:lnTo>
                    <a:pt x="118" y="1337"/>
                  </a:lnTo>
                  <a:lnTo>
                    <a:pt x="100" y="1344"/>
                  </a:lnTo>
                  <a:lnTo>
                    <a:pt x="79" y="1347"/>
                  </a:lnTo>
                  <a:lnTo>
                    <a:pt x="58" y="1344"/>
                  </a:lnTo>
                  <a:lnTo>
                    <a:pt x="39" y="1337"/>
                  </a:lnTo>
                  <a:lnTo>
                    <a:pt x="22" y="1323"/>
                  </a:lnTo>
                  <a:lnTo>
                    <a:pt x="10" y="1308"/>
                  </a:lnTo>
                  <a:lnTo>
                    <a:pt x="2" y="1289"/>
                  </a:lnTo>
                  <a:lnTo>
                    <a:pt x="0" y="1268"/>
                  </a:lnTo>
                  <a:lnTo>
                    <a:pt x="0" y="78"/>
                  </a:lnTo>
                  <a:lnTo>
                    <a:pt x="2" y="57"/>
                  </a:lnTo>
                  <a:lnTo>
                    <a:pt x="10" y="38"/>
                  </a:lnTo>
                  <a:lnTo>
                    <a:pt x="22" y="22"/>
                  </a:lnTo>
                  <a:lnTo>
                    <a:pt x="39" y="10"/>
                  </a:lnTo>
                  <a:lnTo>
                    <a:pt x="58" y="2"/>
                  </a:lnTo>
                  <a:lnTo>
                    <a:pt x="79"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6" name="Freeform 257"/>
            <p:cNvSpPr>
              <a:spLocks noEditPoints="1"/>
            </p:cNvSpPr>
            <p:nvPr/>
          </p:nvSpPr>
          <p:spPr bwMode="auto">
            <a:xfrm>
              <a:off x="666750" y="3544888"/>
              <a:ext cx="581025" cy="388938"/>
            </a:xfrm>
            <a:custGeom>
              <a:avLst/>
              <a:gdLst>
                <a:gd name="T0" fmla="*/ 145 w 3660"/>
                <a:gd name="T1" fmla="*/ 2140 h 2453"/>
                <a:gd name="T2" fmla="*/ 191 w 3660"/>
                <a:gd name="T3" fmla="*/ 2237 h 2453"/>
                <a:gd name="T4" fmla="*/ 277 w 3660"/>
                <a:gd name="T5" fmla="*/ 2298 h 2453"/>
                <a:gd name="T6" fmla="*/ 3311 w 3660"/>
                <a:gd name="T7" fmla="*/ 2311 h 2453"/>
                <a:gd name="T8" fmla="*/ 3415 w 3660"/>
                <a:gd name="T9" fmla="*/ 2282 h 2453"/>
                <a:gd name="T10" fmla="*/ 3490 w 3660"/>
                <a:gd name="T11" fmla="*/ 2208 h 2453"/>
                <a:gd name="T12" fmla="*/ 3518 w 3660"/>
                <a:gd name="T13" fmla="*/ 2102 h 2453"/>
                <a:gd name="T14" fmla="*/ 2264 w 3660"/>
                <a:gd name="T15" fmla="*/ 2071 h 2453"/>
                <a:gd name="T16" fmla="*/ 2189 w 3660"/>
                <a:gd name="T17" fmla="*/ 2163 h 2453"/>
                <a:gd name="T18" fmla="*/ 2081 w 3660"/>
                <a:gd name="T19" fmla="*/ 2210 h 2453"/>
                <a:gd name="T20" fmla="*/ 1579 w 3660"/>
                <a:gd name="T21" fmla="*/ 2210 h 2453"/>
                <a:gd name="T22" fmla="*/ 1471 w 3660"/>
                <a:gd name="T23" fmla="*/ 2163 h 2453"/>
                <a:gd name="T24" fmla="*/ 1396 w 3660"/>
                <a:gd name="T25" fmla="*/ 2071 h 2453"/>
                <a:gd name="T26" fmla="*/ 454 w 3660"/>
                <a:gd name="T27" fmla="*/ 157 h 2453"/>
                <a:gd name="T28" fmla="*/ 397 w 3660"/>
                <a:gd name="T29" fmla="*/ 181 h 2453"/>
                <a:gd name="T30" fmla="*/ 374 w 3660"/>
                <a:gd name="T31" fmla="*/ 237 h 2453"/>
                <a:gd name="T32" fmla="*/ 1460 w 3660"/>
                <a:gd name="T33" fmla="*/ 1895 h 2453"/>
                <a:gd name="T34" fmla="*/ 1503 w 3660"/>
                <a:gd name="T35" fmla="*/ 1927 h 2453"/>
                <a:gd name="T36" fmla="*/ 1516 w 3660"/>
                <a:gd name="T37" fmla="*/ 1988 h 2453"/>
                <a:gd name="T38" fmla="*/ 1554 w 3660"/>
                <a:gd name="T39" fmla="*/ 2048 h 2453"/>
                <a:gd name="T40" fmla="*/ 1621 w 3660"/>
                <a:gd name="T41" fmla="*/ 2072 h 2453"/>
                <a:gd name="T42" fmla="*/ 2086 w 3660"/>
                <a:gd name="T43" fmla="*/ 2061 h 2453"/>
                <a:gd name="T44" fmla="*/ 2136 w 3660"/>
                <a:gd name="T45" fmla="*/ 2011 h 2453"/>
                <a:gd name="T46" fmla="*/ 2149 w 3660"/>
                <a:gd name="T47" fmla="*/ 1944 h 2453"/>
                <a:gd name="T48" fmla="*/ 2186 w 3660"/>
                <a:gd name="T49" fmla="*/ 1900 h 2453"/>
                <a:gd name="T50" fmla="*/ 2220 w 3660"/>
                <a:gd name="T51" fmla="*/ 1893 h 2453"/>
                <a:gd name="T52" fmla="*/ 3284 w 3660"/>
                <a:gd name="T53" fmla="*/ 216 h 2453"/>
                <a:gd name="T54" fmla="*/ 3246 w 3660"/>
                <a:gd name="T55" fmla="*/ 168 h 2453"/>
                <a:gd name="T56" fmla="*/ 454 w 3660"/>
                <a:gd name="T57" fmla="*/ 157 h 2453"/>
                <a:gd name="T58" fmla="*/ 3244 w 3660"/>
                <a:gd name="T59" fmla="*/ 3 h 2453"/>
                <a:gd name="T60" fmla="*/ 3346 w 3660"/>
                <a:gd name="T61" fmla="*/ 45 h 2453"/>
                <a:gd name="T62" fmla="*/ 3417 w 3660"/>
                <a:gd name="T63" fmla="*/ 128 h 2453"/>
                <a:gd name="T64" fmla="*/ 3444 w 3660"/>
                <a:gd name="T65" fmla="*/ 237 h 2453"/>
                <a:gd name="T66" fmla="*/ 3608 w 3660"/>
                <a:gd name="T67" fmla="*/ 1895 h 2453"/>
                <a:gd name="T68" fmla="*/ 3650 w 3660"/>
                <a:gd name="T69" fmla="*/ 1928 h 2453"/>
                <a:gd name="T70" fmla="*/ 3660 w 3660"/>
                <a:gd name="T71" fmla="*/ 2102 h 2453"/>
                <a:gd name="T72" fmla="*/ 3632 w 3660"/>
                <a:gd name="T73" fmla="*/ 2239 h 2453"/>
                <a:gd name="T74" fmla="*/ 3558 w 3660"/>
                <a:gd name="T75" fmla="*/ 2350 h 2453"/>
                <a:gd name="T76" fmla="*/ 3446 w 3660"/>
                <a:gd name="T77" fmla="*/ 2425 h 2453"/>
                <a:gd name="T78" fmla="*/ 3311 w 3660"/>
                <a:gd name="T79" fmla="*/ 2453 h 2453"/>
                <a:gd name="T80" fmla="*/ 257 w 3660"/>
                <a:gd name="T81" fmla="*/ 2440 h 2453"/>
                <a:gd name="T82" fmla="*/ 136 w 3660"/>
                <a:gd name="T83" fmla="*/ 2380 h 2453"/>
                <a:gd name="T84" fmla="*/ 48 w 3660"/>
                <a:gd name="T85" fmla="*/ 2279 h 2453"/>
                <a:gd name="T86" fmla="*/ 3 w 3660"/>
                <a:gd name="T87" fmla="*/ 2150 h 2453"/>
                <a:gd name="T88" fmla="*/ 2 w 3660"/>
                <a:gd name="T89" fmla="*/ 1945 h 2453"/>
                <a:gd name="T90" fmla="*/ 35 w 3660"/>
                <a:gd name="T91" fmla="*/ 1903 h 2453"/>
                <a:gd name="T92" fmla="*/ 216 w 3660"/>
                <a:gd name="T93" fmla="*/ 1893 h 2453"/>
                <a:gd name="T94" fmla="*/ 228 w 3660"/>
                <a:gd name="T95" fmla="*/ 163 h 2453"/>
                <a:gd name="T96" fmla="*/ 286 w 3660"/>
                <a:gd name="T97" fmla="*/ 70 h 2453"/>
                <a:gd name="T98" fmla="*/ 379 w 3660"/>
                <a:gd name="T99" fmla="*/ 12 h 2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60" h="2453">
                  <a:moveTo>
                    <a:pt x="142" y="2035"/>
                  </a:moveTo>
                  <a:lnTo>
                    <a:pt x="142" y="2102"/>
                  </a:lnTo>
                  <a:lnTo>
                    <a:pt x="145" y="2140"/>
                  </a:lnTo>
                  <a:lnTo>
                    <a:pt x="155" y="2176"/>
                  </a:lnTo>
                  <a:lnTo>
                    <a:pt x="170" y="2208"/>
                  </a:lnTo>
                  <a:lnTo>
                    <a:pt x="191" y="2237"/>
                  </a:lnTo>
                  <a:lnTo>
                    <a:pt x="216" y="2262"/>
                  </a:lnTo>
                  <a:lnTo>
                    <a:pt x="245" y="2282"/>
                  </a:lnTo>
                  <a:lnTo>
                    <a:pt x="277" y="2298"/>
                  </a:lnTo>
                  <a:lnTo>
                    <a:pt x="313" y="2308"/>
                  </a:lnTo>
                  <a:lnTo>
                    <a:pt x="349" y="2311"/>
                  </a:lnTo>
                  <a:lnTo>
                    <a:pt x="3311" y="2311"/>
                  </a:lnTo>
                  <a:lnTo>
                    <a:pt x="3347" y="2308"/>
                  </a:lnTo>
                  <a:lnTo>
                    <a:pt x="3383" y="2298"/>
                  </a:lnTo>
                  <a:lnTo>
                    <a:pt x="3415" y="2282"/>
                  </a:lnTo>
                  <a:lnTo>
                    <a:pt x="3444" y="2262"/>
                  </a:lnTo>
                  <a:lnTo>
                    <a:pt x="3469" y="2237"/>
                  </a:lnTo>
                  <a:lnTo>
                    <a:pt x="3490" y="2208"/>
                  </a:lnTo>
                  <a:lnTo>
                    <a:pt x="3505" y="2176"/>
                  </a:lnTo>
                  <a:lnTo>
                    <a:pt x="3515" y="2140"/>
                  </a:lnTo>
                  <a:lnTo>
                    <a:pt x="3518" y="2102"/>
                  </a:lnTo>
                  <a:lnTo>
                    <a:pt x="3518" y="2035"/>
                  </a:lnTo>
                  <a:lnTo>
                    <a:pt x="2279" y="2035"/>
                  </a:lnTo>
                  <a:lnTo>
                    <a:pt x="2264" y="2071"/>
                  </a:lnTo>
                  <a:lnTo>
                    <a:pt x="2244" y="2106"/>
                  </a:lnTo>
                  <a:lnTo>
                    <a:pt x="2219" y="2137"/>
                  </a:lnTo>
                  <a:lnTo>
                    <a:pt x="2189" y="2163"/>
                  </a:lnTo>
                  <a:lnTo>
                    <a:pt x="2156" y="2184"/>
                  </a:lnTo>
                  <a:lnTo>
                    <a:pt x="2119" y="2200"/>
                  </a:lnTo>
                  <a:lnTo>
                    <a:pt x="2081" y="2210"/>
                  </a:lnTo>
                  <a:lnTo>
                    <a:pt x="2039" y="2213"/>
                  </a:lnTo>
                  <a:lnTo>
                    <a:pt x="1621" y="2213"/>
                  </a:lnTo>
                  <a:lnTo>
                    <a:pt x="1579" y="2210"/>
                  </a:lnTo>
                  <a:lnTo>
                    <a:pt x="1541" y="2200"/>
                  </a:lnTo>
                  <a:lnTo>
                    <a:pt x="1504" y="2184"/>
                  </a:lnTo>
                  <a:lnTo>
                    <a:pt x="1471" y="2163"/>
                  </a:lnTo>
                  <a:lnTo>
                    <a:pt x="1441" y="2137"/>
                  </a:lnTo>
                  <a:lnTo>
                    <a:pt x="1416" y="2106"/>
                  </a:lnTo>
                  <a:lnTo>
                    <a:pt x="1396" y="2071"/>
                  </a:lnTo>
                  <a:lnTo>
                    <a:pt x="1381" y="2035"/>
                  </a:lnTo>
                  <a:lnTo>
                    <a:pt x="142" y="2035"/>
                  </a:lnTo>
                  <a:close/>
                  <a:moveTo>
                    <a:pt x="454" y="157"/>
                  </a:moveTo>
                  <a:lnTo>
                    <a:pt x="433" y="159"/>
                  </a:lnTo>
                  <a:lnTo>
                    <a:pt x="414" y="168"/>
                  </a:lnTo>
                  <a:lnTo>
                    <a:pt x="397" y="181"/>
                  </a:lnTo>
                  <a:lnTo>
                    <a:pt x="385" y="197"/>
                  </a:lnTo>
                  <a:lnTo>
                    <a:pt x="376" y="216"/>
                  </a:lnTo>
                  <a:lnTo>
                    <a:pt x="374" y="237"/>
                  </a:lnTo>
                  <a:lnTo>
                    <a:pt x="374" y="1893"/>
                  </a:lnTo>
                  <a:lnTo>
                    <a:pt x="1441" y="1893"/>
                  </a:lnTo>
                  <a:lnTo>
                    <a:pt x="1460" y="1895"/>
                  </a:lnTo>
                  <a:lnTo>
                    <a:pt x="1477" y="1902"/>
                  </a:lnTo>
                  <a:lnTo>
                    <a:pt x="1492" y="1913"/>
                  </a:lnTo>
                  <a:lnTo>
                    <a:pt x="1503" y="1927"/>
                  </a:lnTo>
                  <a:lnTo>
                    <a:pt x="1511" y="1945"/>
                  </a:lnTo>
                  <a:lnTo>
                    <a:pt x="1513" y="1964"/>
                  </a:lnTo>
                  <a:lnTo>
                    <a:pt x="1516" y="1988"/>
                  </a:lnTo>
                  <a:lnTo>
                    <a:pt x="1524" y="2011"/>
                  </a:lnTo>
                  <a:lnTo>
                    <a:pt x="1537" y="2031"/>
                  </a:lnTo>
                  <a:lnTo>
                    <a:pt x="1554" y="2048"/>
                  </a:lnTo>
                  <a:lnTo>
                    <a:pt x="1574" y="2061"/>
                  </a:lnTo>
                  <a:lnTo>
                    <a:pt x="1597" y="2069"/>
                  </a:lnTo>
                  <a:lnTo>
                    <a:pt x="1621" y="2072"/>
                  </a:lnTo>
                  <a:lnTo>
                    <a:pt x="2039" y="2072"/>
                  </a:lnTo>
                  <a:lnTo>
                    <a:pt x="2063" y="2069"/>
                  </a:lnTo>
                  <a:lnTo>
                    <a:pt x="2086" y="2061"/>
                  </a:lnTo>
                  <a:lnTo>
                    <a:pt x="2106" y="2048"/>
                  </a:lnTo>
                  <a:lnTo>
                    <a:pt x="2123" y="2031"/>
                  </a:lnTo>
                  <a:lnTo>
                    <a:pt x="2136" y="2011"/>
                  </a:lnTo>
                  <a:lnTo>
                    <a:pt x="2144" y="1988"/>
                  </a:lnTo>
                  <a:lnTo>
                    <a:pt x="2147" y="1964"/>
                  </a:lnTo>
                  <a:lnTo>
                    <a:pt x="2149" y="1944"/>
                  </a:lnTo>
                  <a:lnTo>
                    <a:pt x="2157" y="1926"/>
                  </a:lnTo>
                  <a:lnTo>
                    <a:pt x="2170" y="1912"/>
                  </a:lnTo>
                  <a:lnTo>
                    <a:pt x="2186" y="1900"/>
                  </a:lnTo>
                  <a:lnTo>
                    <a:pt x="2205" y="1894"/>
                  </a:lnTo>
                  <a:lnTo>
                    <a:pt x="2213" y="1893"/>
                  </a:lnTo>
                  <a:lnTo>
                    <a:pt x="2220" y="1893"/>
                  </a:lnTo>
                  <a:lnTo>
                    <a:pt x="3286" y="1893"/>
                  </a:lnTo>
                  <a:lnTo>
                    <a:pt x="3286" y="237"/>
                  </a:lnTo>
                  <a:lnTo>
                    <a:pt x="3284" y="216"/>
                  </a:lnTo>
                  <a:lnTo>
                    <a:pt x="3275" y="197"/>
                  </a:lnTo>
                  <a:lnTo>
                    <a:pt x="3263" y="181"/>
                  </a:lnTo>
                  <a:lnTo>
                    <a:pt x="3246" y="168"/>
                  </a:lnTo>
                  <a:lnTo>
                    <a:pt x="3227" y="159"/>
                  </a:lnTo>
                  <a:lnTo>
                    <a:pt x="3206" y="157"/>
                  </a:lnTo>
                  <a:lnTo>
                    <a:pt x="454" y="157"/>
                  </a:lnTo>
                  <a:close/>
                  <a:moveTo>
                    <a:pt x="454" y="0"/>
                  </a:moveTo>
                  <a:lnTo>
                    <a:pt x="3206" y="0"/>
                  </a:lnTo>
                  <a:lnTo>
                    <a:pt x="3244" y="3"/>
                  </a:lnTo>
                  <a:lnTo>
                    <a:pt x="3281" y="12"/>
                  </a:lnTo>
                  <a:lnTo>
                    <a:pt x="3315" y="26"/>
                  </a:lnTo>
                  <a:lnTo>
                    <a:pt x="3346" y="45"/>
                  </a:lnTo>
                  <a:lnTo>
                    <a:pt x="3374" y="70"/>
                  </a:lnTo>
                  <a:lnTo>
                    <a:pt x="3398" y="97"/>
                  </a:lnTo>
                  <a:lnTo>
                    <a:pt x="3417" y="128"/>
                  </a:lnTo>
                  <a:lnTo>
                    <a:pt x="3432" y="163"/>
                  </a:lnTo>
                  <a:lnTo>
                    <a:pt x="3440" y="199"/>
                  </a:lnTo>
                  <a:lnTo>
                    <a:pt x="3444" y="237"/>
                  </a:lnTo>
                  <a:lnTo>
                    <a:pt x="3444" y="1893"/>
                  </a:lnTo>
                  <a:lnTo>
                    <a:pt x="3589" y="1893"/>
                  </a:lnTo>
                  <a:lnTo>
                    <a:pt x="3608" y="1895"/>
                  </a:lnTo>
                  <a:lnTo>
                    <a:pt x="3625" y="1903"/>
                  </a:lnTo>
                  <a:lnTo>
                    <a:pt x="3639" y="1914"/>
                  </a:lnTo>
                  <a:lnTo>
                    <a:pt x="3650" y="1928"/>
                  </a:lnTo>
                  <a:lnTo>
                    <a:pt x="3658" y="1945"/>
                  </a:lnTo>
                  <a:lnTo>
                    <a:pt x="3660" y="1964"/>
                  </a:lnTo>
                  <a:lnTo>
                    <a:pt x="3660" y="2102"/>
                  </a:lnTo>
                  <a:lnTo>
                    <a:pt x="3657" y="2150"/>
                  </a:lnTo>
                  <a:lnTo>
                    <a:pt x="3648" y="2196"/>
                  </a:lnTo>
                  <a:lnTo>
                    <a:pt x="3632" y="2239"/>
                  </a:lnTo>
                  <a:lnTo>
                    <a:pt x="3612" y="2279"/>
                  </a:lnTo>
                  <a:lnTo>
                    <a:pt x="3587" y="2317"/>
                  </a:lnTo>
                  <a:lnTo>
                    <a:pt x="3558" y="2350"/>
                  </a:lnTo>
                  <a:lnTo>
                    <a:pt x="3524" y="2380"/>
                  </a:lnTo>
                  <a:lnTo>
                    <a:pt x="3487" y="2404"/>
                  </a:lnTo>
                  <a:lnTo>
                    <a:pt x="3446" y="2425"/>
                  </a:lnTo>
                  <a:lnTo>
                    <a:pt x="3403" y="2440"/>
                  </a:lnTo>
                  <a:lnTo>
                    <a:pt x="3357" y="2450"/>
                  </a:lnTo>
                  <a:lnTo>
                    <a:pt x="3311" y="2453"/>
                  </a:lnTo>
                  <a:lnTo>
                    <a:pt x="349" y="2453"/>
                  </a:lnTo>
                  <a:lnTo>
                    <a:pt x="303" y="2450"/>
                  </a:lnTo>
                  <a:lnTo>
                    <a:pt x="257" y="2440"/>
                  </a:lnTo>
                  <a:lnTo>
                    <a:pt x="214" y="2425"/>
                  </a:lnTo>
                  <a:lnTo>
                    <a:pt x="173" y="2404"/>
                  </a:lnTo>
                  <a:lnTo>
                    <a:pt x="136" y="2380"/>
                  </a:lnTo>
                  <a:lnTo>
                    <a:pt x="102" y="2350"/>
                  </a:lnTo>
                  <a:lnTo>
                    <a:pt x="73" y="2317"/>
                  </a:lnTo>
                  <a:lnTo>
                    <a:pt x="48" y="2279"/>
                  </a:lnTo>
                  <a:lnTo>
                    <a:pt x="28" y="2239"/>
                  </a:lnTo>
                  <a:lnTo>
                    <a:pt x="12" y="2196"/>
                  </a:lnTo>
                  <a:lnTo>
                    <a:pt x="3" y="2150"/>
                  </a:lnTo>
                  <a:lnTo>
                    <a:pt x="0" y="2102"/>
                  </a:lnTo>
                  <a:lnTo>
                    <a:pt x="0" y="1964"/>
                  </a:lnTo>
                  <a:lnTo>
                    <a:pt x="2" y="1945"/>
                  </a:lnTo>
                  <a:lnTo>
                    <a:pt x="10" y="1928"/>
                  </a:lnTo>
                  <a:lnTo>
                    <a:pt x="21" y="1914"/>
                  </a:lnTo>
                  <a:lnTo>
                    <a:pt x="35" y="1903"/>
                  </a:lnTo>
                  <a:lnTo>
                    <a:pt x="52" y="1895"/>
                  </a:lnTo>
                  <a:lnTo>
                    <a:pt x="71" y="1893"/>
                  </a:lnTo>
                  <a:lnTo>
                    <a:pt x="216" y="1893"/>
                  </a:lnTo>
                  <a:lnTo>
                    <a:pt x="216" y="237"/>
                  </a:lnTo>
                  <a:lnTo>
                    <a:pt x="220" y="199"/>
                  </a:lnTo>
                  <a:lnTo>
                    <a:pt x="228" y="163"/>
                  </a:lnTo>
                  <a:lnTo>
                    <a:pt x="243" y="128"/>
                  </a:lnTo>
                  <a:lnTo>
                    <a:pt x="262" y="97"/>
                  </a:lnTo>
                  <a:lnTo>
                    <a:pt x="286" y="70"/>
                  </a:lnTo>
                  <a:lnTo>
                    <a:pt x="314" y="45"/>
                  </a:lnTo>
                  <a:lnTo>
                    <a:pt x="345" y="26"/>
                  </a:lnTo>
                  <a:lnTo>
                    <a:pt x="379" y="12"/>
                  </a:lnTo>
                  <a:lnTo>
                    <a:pt x="416" y="3"/>
                  </a:lnTo>
                  <a:lnTo>
                    <a:pt x="454"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7" name="Freeform 258"/>
            <p:cNvSpPr/>
            <p:nvPr/>
          </p:nvSpPr>
          <p:spPr bwMode="auto">
            <a:xfrm>
              <a:off x="876300" y="3667125"/>
              <a:ext cx="103188" cy="104775"/>
            </a:xfrm>
            <a:custGeom>
              <a:avLst/>
              <a:gdLst>
                <a:gd name="T0" fmla="*/ 575 w 654"/>
                <a:gd name="T1" fmla="*/ 0 h 653"/>
                <a:gd name="T2" fmla="*/ 595 w 654"/>
                <a:gd name="T3" fmla="*/ 3 h 653"/>
                <a:gd name="T4" fmla="*/ 614 w 654"/>
                <a:gd name="T5" fmla="*/ 10 h 653"/>
                <a:gd name="T6" fmla="*/ 630 w 654"/>
                <a:gd name="T7" fmla="*/ 23 h 653"/>
                <a:gd name="T8" fmla="*/ 644 w 654"/>
                <a:gd name="T9" fmla="*/ 40 h 653"/>
                <a:gd name="T10" fmla="*/ 652 w 654"/>
                <a:gd name="T11" fmla="*/ 59 h 653"/>
                <a:gd name="T12" fmla="*/ 654 w 654"/>
                <a:gd name="T13" fmla="*/ 79 h 653"/>
                <a:gd name="T14" fmla="*/ 652 w 654"/>
                <a:gd name="T15" fmla="*/ 99 h 653"/>
                <a:gd name="T16" fmla="*/ 644 w 654"/>
                <a:gd name="T17" fmla="*/ 118 h 653"/>
                <a:gd name="T18" fmla="*/ 630 w 654"/>
                <a:gd name="T19" fmla="*/ 135 h 653"/>
                <a:gd name="T20" fmla="*/ 136 w 654"/>
                <a:gd name="T21" fmla="*/ 630 h 653"/>
                <a:gd name="T22" fmla="*/ 118 w 654"/>
                <a:gd name="T23" fmla="*/ 643 h 653"/>
                <a:gd name="T24" fmla="*/ 99 w 654"/>
                <a:gd name="T25" fmla="*/ 651 h 653"/>
                <a:gd name="T26" fmla="*/ 79 w 654"/>
                <a:gd name="T27" fmla="*/ 653 h 653"/>
                <a:gd name="T28" fmla="*/ 59 w 654"/>
                <a:gd name="T29" fmla="*/ 651 h 653"/>
                <a:gd name="T30" fmla="*/ 40 w 654"/>
                <a:gd name="T31" fmla="*/ 643 h 653"/>
                <a:gd name="T32" fmla="*/ 24 w 654"/>
                <a:gd name="T33" fmla="*/ 630 h 653"/>
                <a:gd name="T34" fmla="*/ 12 w 654"/>
                <a:gd name="T35" fmla="*/ 613 h 653"/>
                <a:gd name="T36" fmla="*/ 4 w 654"/>
                <a:gd name="T37" fmla="*/ 594 h 653"/>
                <a:gd name="T38" fmla="*/ 0 w 654"/>
                <a:gd name="T39" fmla="*/ 574 h 653"/>
                <a:gd name="T40" fmla="*/ 4 w 654"/>
                <a:gd name="T41" fmla="*/ 554 h 653"/>
                <a:gd name="T42" fmla="*/ 12 w 654"/>
                <a:gd name="T43" fmla="*/ 535 h 653"/>
                <a:gd name="T44" fmla="*/ 24 w 654"/>
                <a:gd name="T45" fmla="*/ 519 h 653"/>
                <a:gd name="T46" fmla="*/ 520 w 654"/>
                <a:gd name="T47" fmla="*/ 23 h 653"/>
                <a:gd name="T48" fmla="*/ 536 w 654"/>
                <a:gd name="T49" fmla="*/ 10 h 653"/>
                <a:gd name="T50" fmla="*/ 555 w 654"/>
                <a:gd name="T51" fmla="*/ 3 h 653"/>
                <a:gd name="T52" fmla="*/ 575 w 654"/>
                <a:gd name="T53" fmla="*/ 0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4" h="653">
                  <a:moveTo>
                    <a:pt x="575" y="0"/>
                  </a:moveTo>
                  <a:lnTo>
                    <a:pt x="595" y="3"/>
                  </a:lnTo>
                  <a:lnTo>
                    <a:pt x="614" y="10"/>
                  </a:lnTo>
                  <a:lnTo>
                    <a:pt x="630" y="23"/>
                  </a:lnTo>
                  <a:lnTo>
                    <a:pt x="644" y="40"/>
                  </a:lnTo>
                  <a:lnTo>
                    <a:pt x="652" y="59"/>
                  </a:lnTo>
                  <a:lnTo>
                    <a:pt x="654" y="79"/>
                  </a:lnTo>
                  <a:lnTo>
                    <a:pt x="652" y="99"/>
                  </a:lnTo>
                  <a:lnTo>
                    <a:pt x="644" y="118"/>
                  </a:lnTo>
                  <a:lnTo>
                    <a:pt x="630" y="135"/>
                  </a:lnTo>
                  <a:lnTo>
                    <a:pt x="136" y="630"/>
                  </a:lnTo>
                  <a:lnTo>
                    <a:pt x="118" y="643"/>
                  </a:lnTo>
                  <a:lnTo>
                    <a:pt x="99" y="651"/>
                  </a:lnTo>
                  <a:lnTo>
                    <a:pt x="79" y="653"/>
                  </a:lnTo>
                  <a:lnTo>
                    <a:pt x="59" y="651"/>
                  </a:lnTo>
                  <a:lnTo>
                    <a:pt x="40" y="643"/>
                  </a:lnTo>
                  <a:lnTo>
                    <a:pt x="24" y="630"/>
                  </a:lnTo>
                  <a:lnTo>
                    <a:pt x="12" y="613"/>
                  </a:lnTo>
                  <a:lnTo>
                    <a:pt x="4" y="594"/>
                  </a:lnTo>
                  <a:lnTo>
                    <a:pt x="0" y="574"/>
                  </a:lnTo>
                  <a:lnTo>
                    <a:pt x="4" y="554"/>
                  </a:lnTo>
                  <a:lnTo>
                    <a:pt x="12" y="535"/>
                  </a:lnTo>
                  <a:lnTo>
                    <a:pt x="24" y="519"/>
                  </a:lnTo>
                  <a:lnTo>
                    <a:pt x="520" y="23"/>
                  </a:lnTo>
                  <a:lnTo>
                    <a:pt x="536" y="10"/>
                  </a:lnTo>
                  <a:lnTo>
                    <a:pt x="555" y="3"/>
                  </a:lnTo>
                  <a:lnTo>
                    <a:pt x="575"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8" name="Freeform 259"/>
            <p:cNvSpPr/>
            <p:nvPr/>
          </p:nvSpPr>
          <p:spPr bwMode="auto">
            <a:xfrm>
              <a:off x="969963" y="3713163"/>
              <a:ext cx="55563" cy="57150"/>
            </a:xfrm>
            <a:custGeom>
              <a:avLst/>
              <a:gdLst>
                <a:gd name="T0" fmla="*/ 276 w 355"/>
                <a:gd name="T1" fmla="*/ 0 h 355"/>
                <a:gd name="T2" fmla="*/ 296 w 355"/>
                <a:gd name="T3" fmla="*/ 3 h 355"/>
                <a:gd name="T4" fmla="*/ 315 w 355"/>
                <a:gd name="T5" fmla="*/ 11 h 355"/>
                <a:gd name="T6" fmla="*/ 331 w 355"/>
                <a:gd name="T7" fmla="*/ 23 h 355"/>
                <a:gd name="T8" fmla="*/ 345 w 355"/>
                <a:gd name="T9" fmla="*/ 40 h 355"/>
                <a:gd name="T10" fmla="*/ 351 w 355"/>
                <a:gd name="T11" fmla="*/ 59 h 355"/>
                <a:gd name="T12" fmla="*/ 355 w 355"/>
                <a:gd name="T13" fmla="*/ 79 h 355"/>
                <a:gd name="T14" fmla="*/ 351 w 355"/>
                <a:gd name="T15" fmla="*/ 99 h 355"/>
                <a:gd name="T16" fmla="*/ 345 w 355"/>
                <a:gd name="T17" fmla="*/ 118 h 355"/>
                <a:gd name="T18" fmla="*/ 331 w 355"/>
                <a:gd name="T19" fmla="*/ 135 h 355"/>
                <a:gd name="T20" fmla="*/ 134 w 355"/>
                <a:gd name="T21" fmla="*/ 333 h 355"/>
                <a:gd name="T22" fmla="*/ 117 w 355"/>
                <a:gd name="T23" fmla="*/ 345 h 355"/>
                <a:gd name="T24" fmla="*/ 98 w 355"/>
                <a:gd name="T25" fmla="*/ 353 h 355"/>
                <a:gd name="T26" fmla="*/ 78 w 355"/>
                <a:gd name="T27" fmla="*/ 355 h 355"/>
                <a:gd name="T28" fmla="*/ 59 w 355"/>
                <a:gd name="T29" fmla="*/ 353 h 355"/>
                <a:gd name="T30" fmla="*/ 40 w 355"/>
                <a:gd name="T31" fmla="*/ 345 h 355"/>
                <a:gd name="T32" fmla="*/ 23 w 355"/>
                <a:gd name="T33" fmla="*/ 333 h 355"/>
                <a:gd name="T34" fmla="*/ 10 w 355"/>
                <a:gd name="T35" fmla="*/ 315 h 355"/>
                <a:gd name="T36" fmla="*/ 2 w 355"/>
                <a:gd name="T37" fmla="*/ 296 h 355"/>
                <a:gd name="T38" fmla="*/ 0 w 355"/>
                <a:gd name="T39" fmla="*/ 276 h 355"/>
                <a:gd name="T40" fmla="*/ 2 w 355"/>
                <a:gd name="T41" fmla="*/ 256 h 355"/>
                <a:gd name="T42" fmla="*/ 10 w 355"/>
                <a:gd name="T43" fmla="*/ 237 h 355"/>
                <a:gd name="T44" fmla="*/ 23 w 355"/>
                <a:gd name="T45" fmla="*/ 221 h 355"/>
                <a:gd name="T46" fmla="*/ 220 w 355"/>
                <a:gd name="T47" fmla="*/ 23 h 355"/>
                <a:gd name="T48" fmla="*/ 237 w 355"/>
                <a:gd name="T49" fmla="*/ 11 h 355"/>
                <a:gd name="T50" fmla="*/ 256 w 355"/>
                <a:gd name="T51" fmla="*/ 3 h 355"/>
                <a:gd name="T52" fmla="*/ 276 w 355"/>
                <a:gd name="T53" fmla="*/ 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5" h="355">
                  <a:moveTo>
                    <a:pt x="276" y="0"/>
                  </a:moveTo>
                  <a:lnTo>
                    <a:pt x="296" y="3"/>
                  </a:lnTo>
                  <a:lnTo>
                    <a:pt x="315" y="11"/>
                  </a:lnTo>
                  <a:lnTo>
                    <a:pt x="331" y="23"/>
                  </a:lnTo>
                  <a:lnTo>
                    <a:pt x="345" y="40"/>
                  </a:lnTo>
                  <a:lnTo>
                    <a:pt x="351" y="59"/>
                  </a:lnTo>
                  <a:lnTo>
                    <a:pt x="355" y="79"/>
                  </a:lnTo>
                  <a:lnTo>
                    <a:pt x="351" y="99"/>
                  </a:lnTo>
                  <a:lnTo>
                    <a:pt x="345" y="118"/>
                  </a:lnTo>
                  <a:lnTo>
                    <a:pt x="331" y="135"/>
                  </a:lnTo>
                  <a:lnTo>
                    <a:pt x="134" y="333"/>
                  </a:lnTo>
                  <a:lnTo>
                    <a:pt x="117" y="345"/>
                  </a:lnTo>
                  <a:lnTo>
                    <a:pt x="98" y="353"/>
                  </a:lnTo>
                  <a:lnTo>
                    <a:pt x="78" y="355"/>
                  </a:lnTo>
                  <a:lnTo>
                    <a:pt x="59" y="353"/>
                  </a:lnTo>
                  <a:lnTo>
                    <a:pt x="40" y="345"/>
                  </a:lnTo>
                  <a:lnTo>
                    <a:pt x="23" y="333"/>
                  </a:lnTo>
                  <a:lnTo>
                    <a:pt x="10" y="315"/>
                  </a:lnTo>
                  <a:lnTo>
                    <a:pt x="2" y="296"/>
                  </a:lnTo>
                  <a:lnTo>
                    <a:pt x="0" y="276"/>
                  </a:lnTo>
                  <a:lnTo>
                    <a:pt x="2" y="256"/>
                  </a:lnTo>
                  <a:lnTo>
                    <a:pt x="10" y="237"/>
                  </a:lnTo>
                  <a:lnTo>
                    <a:pt x="23" y="221"/>
                  </a:lnTo>
                  <a:lnTo>
                    <a:pt x="220" y="23"/>
                  </a:lnTo>
                  <a:lnTo>
                    <a:pt x="237" y="11"/>
                  </a:lnTo>
                  <a:lnTo>
                    <a:pt x="256" y="3"/>
                  </a:lnTo>
                  <a:lnTo>
                    <a:pt x="276"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sp>
        <p:nvSpPr>
          <p:cNvPr id="49" name="Freeform 29"/>
          <p:cNvSpPr>
            <a:spLocks noEditPoints="1"/>
          </p:cNvSpPr>
          <p:nvPr/>
        </p:nvSpPr>
        <p:spPr bwMode="auto">
          <a:xfrm>
            <a:off x="9467489" y="2129300"/>
            <a:ext cx="510312" cy="547106"/>
          </a:xfrm>
          <a:custGeom>
            <a:avLst/>
            <a:gdLst>
              <a:gd name="T0" fmla="*/ 2558 w 3187"/>
              <a:gd name="T1" fmla="*/ 2917 h 3426"/>
              <a:gd name="T2" fmla="*/ 2525 w 3187"/>
              <a:gd name="T3" fmla="*/ 3108 h 3426"/>
              <a:gd name="T4" fmla="*/ 2672 w 3187"/>
              <a:gd name="T5" fmla="*/ 3232 h 3426"/>
              <a:gd name="T6" fmla="*/ 2855 w 3187"/>
              <a:gd name="T7" fmla="*/ 3166 h 3426"/>
              <a:gd name="T8" fmla="*/ 2888 w 3187"/>
              <a:gd name="T9" fmla="*/ 2973 h 3426"/>
              <a:gd name="T10" fmla="*/ 2741 w 3187"/>
              <a:gd name="T11" fmla="*/ 2850 h 3426"/>
              <a:gd name="T12" fmla="*/ 1063 w 3187"/>
              <a:gd name="T13" fmla="*/ 2893 h 3426"/>
              <a:gd name="T14" fmla="*/ 997 w 3187"/>
              <a:gd name="T15" fmla="*/ 3075 h 3426"/>
              <a:gd name="T16" fmla="*/ 1120 w 3187"/>
              <a:gd name="T17" fmla="*/ 3222 h 3426"/>
              <a:gd name="T18" fmla="*/ 1313 w 3187"/>
              <a:gd name="T19" fmla="*/ 3189 h 3426"/>
              <a:gd name="T20" fmla="*/ 1378 w 3187"/>
              <a:gd name="T21" fmla="*/ 3006 h 3426"/>
              <a:gd name="T22" fmla="*/ 1255 w 3187"/>
              <a:gd name="T23" fmla="*/ 2860 h 3426"/>
              <a:gd name="T24" fmla="*/ 722 w 3187"/>
              <a:gd name="T25" fmla="*/ 1936 h 3426"/>
              <a:gd name="T26" fmla="*/ 872 w 3187"/>
              <a:gd name="T27" fmla="*/ 2062 h 3426"/>
              <a:gd name="T28" fmla="*/ 2926 w 3187"/>
              <a:gd name="T29" fmla="*/ 2018 h 3426"/>
              <a:gd name="T30" fmla="*/ 2997 w 3187"/>
              <a:gd name="T31" fmla="*/ 1154 h 3426"/>
              <a:gd name="T32" fmla="*/ 656 w 3187"/>
              <a:gd name="T33" fmla="*/ 229 h 3426"/>
              <a:gd name="T34" fmla="*/ 668 w 3187"/>
              <a:gd name="T35" fmla="*/ 236 h 3426"/>
              <a:gd name="T36" fmla="*/ 680 w 3187"/>
              <a:gd name="T37" fmla="*/ 245 h 3426"/>
              <a:gd name="T38" fmla="*/ 694 w 3187"/>
              <a:gd name="T39" fmla="*/ 263 h 3426"/>
              <a:gd name="T40" fmla="*/ 700 w 3187"/>
              <a:gd name="T41" fmla="*/ 272 h 3426"/>
              <a:gd name="T42" fmla="*/ 704 w 3187"/>
              <a:gd name="T43" fmla="*/ 281 h 3426"/>
              <a:gd name="T44" fmla="*/ 707 w 3187"/>
              <a:gd name="T45" fmla="*/ 294 h 3426"/>
              <a:gd name="T46" fmla="*/ 710 w 3187"/>
              <a:gd name="T47" fmla="*/ 308 h 3426"/>
              <a:gd name="T48" fmla="*/ 3109 w 3187"/>
              <a:gd name="T49" fmla="*/ 979 h 3426"/>
              <a:gd name="T50" fmla="*/ 3119 w 3187"/>
              <a:gd name="T51" fmla="*/ 981 h 3426"/>
              <a:gd name="T52" fmla="*/ 3139 w 3187"/>
              <a:gd name="T53" fmla="*/ 990 h 3426"/>
              <a:gd name="T54" fmla="*/ 3151 w 3187"/>
              <a:gd name="T55" fmla="*/ 998 h 3426"/>
              <a:gd name="T56" fmla="*/ 3161 w 3187"/>
              <a:gd name="T57" fmla="*/ 1005 h 3426"/>
              <a:gd name="T58" fmla="*/ 3166 w 3187"/>
              <a:gd name="T59" fmla="*/ 1012 h 3426"/>
              <a:gd name="T60" fmla="*/ 3172 w 3187"/>
              <a:gd name="T61" fmla="*/ 1022 h 3426"/>
              <a:gd name="T62" fmla="*/ 3180 w 3187"/>
              <a:gd name="T63" fmla="*/ 1035 h 3426"/>
              <a:gd name="T64" fmla="*/ 3185 w 3187"/>
              <a:gd name="T65" fmla="*/ 1049 h 3426"/>
              <a:gd name="T66" fmla="*/ 3187 w 3187"/>
              <a:gd name="T67" fmla="*/ 1060 h 3426"/>
              <a:gd name="T68" fmla="*/ 3161 w 3187"/>
              <a:gd name="T69" fmla="*/ 2007 h 3426"/>
              <a:gd name="T70" fmla="*/ 2981 w 3187"/>
              <a:gd name="T71" fmla="*/ 2210 h 3426"/>
              <a:gd name="T72" fmla="*/ 865 w 3187"/>
              <a:gd name="T73" fmla="*/ 2253 h 3426"/>
              <a:gd name="T74" fmla="*/ 712 w 3187"/>
              <a:gd name="T75" fmla="*/ 2495 h 3426"/>
              <a:gd name="T76" fmla="*/ 838 w 3187"/>
              <a:gd name="T77" fmla="*/ 2646 h 3426"/>
              <a:gd name="T78" fmla="*/ 2844 w 3187"/>
              <a:gd name="T79" fmla="*/ 2683 h 3426"/>
              <a:gd name="T80" fmla="*/ 3045 w 3187"/>
              <a:gd name="T81" fmla="*/ 2862 h 3426"/>
              <a:gd name="T82" fmla="*/ 3078 w 3187"/>
              <a:gd name="T83" fmla="*/ 3136 h 3426"/>
              <a:gd name="T84" fmla="*/ 2925 w 3187"/>
              <a:gd name="T85" fmla="*/ 3356 h 3426"/>
              <a:gd name="T86" fmla="*/ 2657 w 3187"/>
              <a:gd name="T87" fmla="*/ 3423 h 3426"/>
              <a:gd name="T88" fmla="*/ 2418 w 3187"/>
              <a:gd name="T89" fmla="*/ 3296 h 3426"/>
              <a:gd name="T90" fmla="*/ 2321 w 3187"/>
              <a:gd name="T91" fmla="*/ 3042 h 3426"/>
              <a:gd name="T92" fmla="*/ 1518 w 3187"/>
              <a:gd name="T93" fmla="*/ 2848 h 3426"/>
              <a:gd name="T94" fmla="*/ 1568 w 3187"/>
              <a:gd name="T95" fmla="*/ 3090 h 3426"/>
              <a:gd name="T96" fmla="*/ 1442 w 3187"/>
              <a:gd name="T97" fmla="*/ 3328 h 3426"/>
              <a:gd name="T98" fmla="*/ 1187 w 3187"/>
              <a:gd name="T99" fmla="*/ 3426 h 3426"/>
              <a:gd name="T100" fmla="*/ 932 w 3187"/>
              <a:gd name="T101" fmla="*/ 3329 h 3426"/>
              <a:gd name="T102" fmla="*/ 806 w 3187"/>
              <a:gd name="T103" fmla="*/ 3090 h 3426"/>
              <a:gd name="T104" fmla="*/ 858 w 3187"/>
              <a:gd name="T105" fmla="*/ 2845 h 3426"/>
              <a:gd name="T106" fmla="*/ 617 w 3187"/>
              <a:gd name="T107" fmla="*/ 2717 h 3426"/>
              <a:gd name="T108" fmla="*/ 519 w 3187"/>
              <a:gd name="T109" fmla="*/ 2459 h 3426"/>
              <a:gd name="T110" fmla="*/ 3 w 3187"/>
              <a:gd name="T111" fmla="*/ 122 h 3426"/>
              <a:gd name="T112" fmla="*/ 49 w 3187"/>
              <a:gd name="T113" fmla="*/ 12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187" h="3426">
                <a:moveTo>
                  <a:pt x="2707" y="2847"/>
                </a:moveTo>
                <a:lnTo>
                  <a:pt x="2672" y="2850"/>
                </a:lnTo>
                <a:lnTo>
                  <a:pt x="2639" y="2860"/>
                </a:lnTo>
                <a:lnTo>
                  <a:pt x="2608" y="2874"/>
                </a:lnTo>
                <a:lnTo>
                  <a:pt x="2582" y="2893"/>
                </a:lnTo>
                <a:lnTo>
                  <a:pt x="2558" y="2917"/>
                </a:lnTo>
                <a:lnTo>
                  <a:pt x="2539" y="2943"/>
                </a:lnTo>
                <a:lnTo>
                  <a:pt x="2525" y="2973"/>
                </a:lnTo>
                <a:lnTo>
                  <a:pt x="2515" y="3007"/>
                </a:lnTo>
                <a:lnTo>
                  <a:pt x="2512" y="3041"/>
                </a:lnTo>
                <a:lnTo>
                  <a:pt x="2515" y="3075"/>
                </a:lnTo>
                <a:lnTo>
                  <a:pt x="2525" y="3108"/>
                </a:lnTo>
                <a:lnTo>
                  <a:pt x="2539" y="3138"/>
                </a:lnTo>
                <a:lnTo>
                  <a:pt x="2558" y="3165"/>
                </a:lnTo>
                <a:lnTo>
                  <a:pt x="2582" y="3189"/>
                </a:lnTo>
                <a:lnTo>
                  <a:pt x="2608" y="3208"/>
                </a:lnTo>
                <a:lnTo>
                  <a:pt x="2639" y="3222"/>
                </a:lnTo>
                <a:lnTo>
                  <a:pt x="2672" y="3232"/>
                </a:lnTo>
                <a:lnTo>
                  <a:pt x="2707" y="3235"/>
                </a:lnTo>
                <a:lnTo>
                  <a:pt x="2741" y="3232"/>
                </a:lnTo>
                <a:lnTo>
                  <a:pt x="2773" y="3222"/>
                </a:lnTo>
                <a:lnTo>
                  <a:pt x="2804" y="3208"/>
                </a:lnTo>
                <a:lnTo>
                  <a:pt x="2831" y="3189"/>
                </a:lnTo>
                <a:lnTo>
                  <a:pt x="2855" y="3166"/>
                </a:lnTo>
                <a:lnTo>
                  <a:pt x="2874" y="3139"/>
                </a:lnTo>
                <a:lnTo>
                  <a:pt x="2888" y="3109"/>
                </a:lnTo>
                <a:lnTo>
                  <a:pt x="2898" y="3075"/>
                </a:lnTo>
                <a:lnTo>
                  <a:pt x="2901" y="3041"/>
                </a:lnTo>
                <a:lnTo>
                  <a:pt x="2898" y="3006"/>
                </a:lnTo>
                <a:lnTo>
                  <a:pt x="2888" y="2973"/>
                </a:lnTo>
                <a:lnTo>
                  <a:pt x="2874" y="2943"/>
                </a:lnTo>
                <a:lnTo>
                  <a:pt x="2855" y="2916"/>
                </a:lnTo>
                <a:lnTo>
                  <a:pt x="2831" y="2893"/>
                </a:lnTo>
                <a:lnTo>
                  <a:pt x="2804" y="2874"/>
                </a:lnTo>
                <a:lnTo>
                  <a:pt x="2773" y="2860"/>
                </a:lnTo>
                <a:lnTo>
                  <a:pt x="2741" y="2850"/>
                </a:lnTo>
                <a:lnTo>
                  <a:pt x="2707" y="2847"/>
                </a:lnTo>
                <a:close/>
                <a:moveTo>
                  <a:pt x="1188" y="2847"/>
                </a:moveTo>
                <a:lnTo>
                  <a:pt x="1153" y="2850"/>
                </a:lnTo>
                <a:lnTo>
                  <a:pt x="1120" y="2860"/>
                </a:lnTo>
                <a:lnTo>
                  <a:pt x="1090" y="2874"/>
                </a:lnTo>
                <a:lnTo>
                  <a:pt x="1063" y="2893"/>
                </a:lnTo>
                <a:lnTo>
                  <a:pt x="1040" y="2917"/>
                </a:lnTo>
                <a:lnTo>
                  <a:pt x="1020" y="2943"/>
                </a:lnTo>
                <a:lnTo>
                  <a:pt x="1007" y="2973"/>
                </a:lnTo>
                <a:lnTo>
                  <a:pt x="997" y="3007"/>
                </a:lnTo>
                <a:lnTo>
                  <a:pt x="994" y="3041"/>
                </a:lnTo>
                <a:lnTo>
                  <a:pt x="997" y="3075"/>
                </a:lnTo>
                <a:lnTo>
                  <a:pt x="1007" y="3108"/>
                </a:lnTo>
                <a:lnTo>
                  <a:pt x="1020" y="3138"/>
                </a:lnTo>
                <a:lnTo>
                  <a:pt x="1040" y="3165"/>
                </a:lnTo>
                <a:lnTo>
                  <a:pt x="1063" y="3189"/>
                </a:lnTo>
                <a:lnTo>
                  <a:pt x="1090" y="3208"/>
                </a:lnTo>
                <a:lnTo>
                  <a:pt x="1120" y="3222"/>
                </a:lnTo>
                <a:lnTo>
                  <a:pt x="1153" y="3232"/>
                </a:lnTo>
                <a:lnTo>
                  <a:pt x="1188" y="3235"/>
                </a:lnTo>
                <a:lnTo>
                  <a:pt x="1223" y="3232"/>
                </a:lnTo>
                <a:lnTo>
                  <a:pt x="1255" y="3222"/>
                </a:lnTo>
                <a:lnTo>
                  <a:pt x="1285" y="3208"/>
                </a:lnTo>
                <a:lnTo>
                  <a:pt x="1313" y="3189"/>
                </a:lnTo>
                <a:lnTo>
                  <a:pt x="1336" y="3166"/>
                </a:lnTo>
                <a:lnTo>
                  <a:pt x="1355" y="3139"/>
                </a:lnTo>
                <a:lnTo>
                  <a:pt x="1370" y="3109"/>
                </a:lnTo>
                <a:lnTo>
                  <a:pt x="1378" y="3075"/>
                </a:lnTo>
                <a:lnTo>
                  <a:pt x="1381" y="3041"/>
                </a:lnTo>
                <a:lnTo>
                  <a:pt x="1378" y="3006"/>
                </a:lnTo>
                <a:lnTo>
                  <a:pt x="1370" y="2973"/>
                </a:lnTo>
                <a:lnTo>
                  <a:pt x="1355" y="2943"/>
                </a:lnTo>
                <a:lnTo>
                  <a:pt x="1336" y="2916"/>
                </a:lnTo>
                <a:lnTo>
                  <a:pt x="1313" y="2893"/>
                </a:lnTo>
                <a:lnTo>
                  <a:pt x="1285" y="2874"/>
                </a:lnTo>
                <a:lnTo>
                  <a:pt x="1255" y="2860"/>
                </a:lnTo>
                <a:lnTo>
                  <a:pt x="1223" y="2850"/>
                </a:lnTo>
                <a:lnTo>
                  <a:pt x="1188" y="2847"/>
                </a:lnTo>
                <a:close/>
                <a:moveTo>
                  <a:pt x="709" y="840"/>
                </a:moveTo>
                <a:lnTo>
                  <a:pt x="709" y="1867"/>
                </a:lnTo>
                <a:lnTo>
                  <a:pt x="712" y="1903"/>
                </a:lnTo>
                <a:lnTo>
                  <a:pt x="722" y="1936"/>
                </a:lnTo>
                <a:lnTo>
                  <a:pt x="736" y="1967"/>
                </a:lnTo>
                <a:lnTo>
                  <a:pt x="756" y="1994"/>
                </a:lnTo>
                <a:lnTo>
                  <a:pt x="780" y="2018"/>
                </a:lnTo>
                <a:lnTo>
                  <a:pt x="807" y="2038"/>
                </a:lnTo>
                <a:lnTo>
                  <a:pt x="838" y="2053"/>
                </a:lnTo>
                <a:lnTo>
                  <a:pt x="872" y="2062"/>
                </a:lnTo>
                <a:lnTo>
                  <a:pt x="907" y="2065"/>
                </a:lnTo>
                <a:lnTo>
                  <a:pt x="2798" y="2065"/>
                </a:lnTo>
                <a:lnTo>
                  <a:pt x="2834" y="2062"/>
                </a:lnTo>
                <a:lnTo>
                  <a:pt x="2867" y="2053"/>
                </a:lnTo>
                <a:lnTo>
                  <a:pt x="2899" y="2038"/>
                </a:lnTo>
                <a:lnTo>
                  <a:pt x="2926" y="2018"/>
                </a:lnTo>
                <a:lnTo>
                  <a:pt x="2950" y="1994"/>
                </a:lnTo>
                <a:lnTo>
                  <a:pt x="2970" y="1967"/>
                </a:lnTo>
                <a:lnTo>
                  <a:pt x="2984" y="1936"/>
                </a:lnTo>
                <a:lnTo>
                  <a:pt x="2994" y="1902"/>
                </a:lnTo>
                <a:lnTo>
                  <a:pt x="2997" y="1866"/>
                </a:lnTo>
                <a:lnTo>
                  <a:pt x="2997" y="1154"/>
                </a:lnTo>
                <a:lnTo>
                  <a:pt x="709" y="840"/>
                </a:lnTo>
                <a:close/>
                <a:moveTo>
                  <a:pt x="89" y="0"/>
                </a:moveTo>
                <a:lnTo>
                  <a:pt x="111" y="2"/>
                </a:lnTo>
                <a:lnTo>
                  <a:pt x="132" y="9"/>
                </a:lnTo>
                <a:lnTo>
                  <a:pt x="652" y="226"/>
                </a:lnTo>
                <a:lnTo>
                  <a:pt x="656" y="229"/>
                </a:lnTo>
                <a:lnTo>
                  <a:pt x="661" y="231"/>
                </a:lnTo>
                <a:lnTo>
                  <a:pt x="662" y="232"/>
                </a:lnTo>
                <a:lnTo>
                  <a:pt x="663" y="232"/>
                </a:lnTo>
                <a:lnTo>
                  <a:pt x="664" y="233"/>
                </a:lnTo>
                <a:lnTo>
                  <a:pt x="666" y="234"/>
                </a:lnTo>
                <a:lnTo>
                  <a:pt x="668" y="236"/>
                </a:lnTo>
                <a:lnTo>
                  <a:pt x="670" y="237"/>
                </a:lnTo>
                <a:lnTo>
                  <a:pt x="672" y="239"/>
                </a:lnTo>
                <a:lnTo>
                  <a:pt x="674" y="240"/>
                </a:lnTo>
                <a:lnTo>
                  <a:pt x="676" y="241"/>
                </a:lnTo>
                <a:lnTo>
                  <a:pt x="678" y="243"/>
                </a:lnTo>
                <a:lnTo>
                  <a:pt x="680" y="245"/>
                </a:lnTo>
                <a:lnTo>
                  <a:pt x="682" y="247"/>
                </a:lnTo>
                <a:lnTo>
                  <a:pt x="689" y="254"/>
                </a:lnTo>
                <a:lnTo>
                  <a:pt x="690" y="256"/>
                </a:lnTo>
                <a:lnTo>
                  <a:pt x="691" y="258"/>
                </a:lnTo>
                <a:lnTo>
                  <a:pt x="693" y="262"/>
                </a:lnTo>
                <a:lnTo>
                  <a:pt x="694" y="263"/>
                </a:lnTo>
                <a:lnTo>
                  <a:pt x="695" y="265"/>
                </a:lnTo>
                <a:lnTo>
                  <a:pt x="698" y="267"/>
                </a:lnTo>
                <a:lnTo>
                  <a:pt x="699" y="269"/>
                </a:lnTo>
                <a:lnTo>
                  <a:pt x="699" y="270"/>
                </a:lnTo>
                <a:lnTo>
                  <a:pt x="700" y="271"/>
                </a:lnTo>
                <a:lnTo>
                  <a:pt x="700" y="272"/>
                </a:lnTo>
                <a:lnTo>
                  <a:pt x="701" y="274"/>
                </a:lnTo>
                <a:lnTo>
                  <a:pt x="702" y="275"/>
                </a:lnTo>
                <a:lnTo>
                  <a:pt x="703" y="278"/>
                </a:lnTo>
                <a:lnTo>
                  <a:pt x="703" y="279"/>
                </a:lnTo>
                <a:lnTo>
                  <a:pt x="704" y="280"/>
                </a:lnTo>
                <a:lnTo>
                  <a:pt x="704" y="281"/>
                </a:lnTo>
                <a:lnTo>
                  <a:pt x="706" y="287"/>
                </a:lnTo>
                <a:lnTo>
                  <a:pt x="706" y="288"/>
                </a:lnTo>
                <a:lnTo>
                  <a:pt x="706" y="289"/>
                </a:lnTo>
                <a:lnTo>
                  <a:pt x="706" y="290"/>
                </a:lnTo>
                <a:lnTo>
                  <a:pt x="707" y="292"/>
                </a:lnTo>
                <a:lnTo>
                  <a:pt x="707" y="294"/>
                </a:lnTo>
                <a:lnTo>
                  <a:pt x="708" y="296"/>
                </a:lnTo>
                <a:lnTo>
                  <a:pt x="708" y="299"/>
                </a:lnTo>
                <a:lnTo>
                  <a:pt x="708" y="303"/>
                </a:lnTo>
                <a:lnTo>
                  <a:pt x="709" y="304"/>
                </a:lnTo>
                <a:lnTo>
                  <a:pt x="709" y="305"/>
                </a:lnTo>
                <a:lnTo>
                  <a:pt x="710" y="308"/>
                </a:lnTo>
                <a:lnTo>
                  <a:pt x="710" y="312"/>
                </a:lnTo>
                <a:lnTo>
                  <a:pt x="710" y="315"/>
                </a:lnTo>
                <a:lnTo>
                  <a:pt x="710" y="649"/>
                </a:lnTo>
                <a:lnTo>
                  <a:pt x="3105" y="979"/>
                </a:lnTo>
                <a:lnTo>
                  <a:pt x="3108" y="979"/>
                </a:lnTo>
                <a:lnTo>
                  <a:pt x="3109" y="979"/>
                </a:lnTo>
                <a:lnTo>
                  <a:pt x="3111" y="979"/>
                </a:lnTo>
                <a:lnTo>
                  <a:pt x="3112" y="979"/>
                </a:lnTo>
                <a:lnTo>
                  <a:pt x="3114" y="980"/>
                </a:lnTo>
                <a:lnTo>
                  <a:pt x="3116" y="980"/>
                </a:lnTo>
                <a:lnTo>
                  <a:pt x="3118" y="981"/>
                </a:lnTo>
                <a:lnTo>
                  <a:pt x="3119" y="981"/>
                </a:lnTo>
                <a:lnTo>
                  <a:pt x="3121" y="981"/>
                </a:lnTo>
                <a:lnTo>
                  <a:pt x="3122" y="982"/>
                </a:lnTo>
                <a:lnTo>
                  <a:pt x="3124" y="983"/>
                </a:lnTo>
                <a:lnTo>
                  <a:pt x="3126" y="983"/>
                </a:lnTo>
                <a:lnTo>
                  <a:pt x="3130" y="985"/>
                </a:lnTo>
                <a:lnTo>
                  <a:pt x="3139" y="990"/>
                </a:lnTo>
                <a:lnTo>
                  <a:pt x="3141" y="992"/>
                </a:lnTo>
                <a:lnTo>
                  <a:pt x="3144" y="993"/>
                </a:lnTo>
                <a:lnTo>
                  <a:pt x="3145" y="994"/>
                </a:lnTo>
                <a:lnTo>
                  <a:pt x="3147" y="995"/>
                </a:lnTo>
                <a:lnTo>
                  <a:pt x="3149" y="996"/>
                </a:lnTo>
                <a:lnTo>
                  <a:pt x="3151" y="998"/>
                </a:lnTo>
                <a:lnTo>
                  <a:pt x="3152" y="999"/>
                </a:lnTo>
                <a:lnTo>
                  <a:pt x="3153" y="1000"/>
                </a:lnTo>
                <a:lnTo>
                  <a:pt x="3154" y="1001"/>
                </a:lnTo>
                <a:lnTo>
                  <a:pt x="3159" y="1004"/>
                </a:lnTo>
                <a:lnTo>
                  <a:pt x="3160" y="1005"/>
                </a:lnTo>
                <a:lnTo>
                  <a:pt x="3161" y="1005"/>
                </a:lnTo>
                <a:lnTo>
                  <a:pt x="3161" y="1007"/>
                </a:lnTo>
                <a:lnTo>
                  <a:pt x="3162" y="1008"/>
                </a:lnTo>
                <a:lnTo>
                  <a:pt x="3163" y="1009"/>
                </a:lnTo>
                <a:lnTo>
                  <a:pt x="3164" y="1010"/>
                </a:lnTo>
                <a:lnTo>
                  <a:pt x="3165" y="1011"/>
                </a:lnTo>
                <a:lnTo>
                  <a:pt x="3166" y="1012"/>
                </a:lnTo>
                <a:lnTo>
                  <a:pt x="3167" y="1013"/>
                </a:lnTo>
                <a:lnTo>
                  <a:pt x="3168" y="1016"/>
                </a:lnTo>
                <a:lnTo>
                  <a:pt x="3169" y="1017"/>
                </a:lnTo>
                <a:lnTo>
                  <a:pt x="3169" y="1018"/>
                </a:lnTo>
                <a:lnTo>
                  <a:pt x="3171" y="1020"/>
                </a:lnTo>
                <a:lnTo>
                  <a:pt x="3172" y="1022"/>
                </a:lnTo>
                <a:lnTo>
                  <a:pt x="3173" y="1023"/>
                </a:lnTo>
                <a:lnTo>
                  <a:pt x="3174" y="1025"/>
                </a:lnTo>
                <a:lnTo>
                  <a:pt x="3176" y="1029"/>
                </a:lnTo>
                <a:lnTo>
                  <a:pt x="3177" y="1031"/>
                </a:lnTo>
                <a:lnTo>
                  <a:pt x="3179" y="1033"/>
                </a:lnTo>
                <a:lnTo>
                  <a:pt x="3180" y="1035"/>
                </a:lnTo>
                <a:lnTo>
                  <a:pt x="3181" y="1037"/>
                </a:lnTo>
                <a:lnTo>
                  <a:pt x="3182" y="1040"/>
                </a:lnTo>
                <a:lnTo>
                  <a:pt x="3183" y="1042"/>
                </a:lnTo>
                <a:lnTo>
                  <a:pt x="3183" y="1044"/>
                </a:lnTo>
                <a:lnTo>
                  <a:pt x="3184" y="1046"/>
                </a:lnTo>
                <a:lnTo>
                  <a:pt x="3185" y="1049"/>
                </a:lnTo>
                <a:lnTo>
                  <a:pt x="3185" y="1051"/>
                </a:lnTo>
                <a:lnTo>
                  <a:pt x="3186" y="1053"/>
                </a:lnTo>
                <a:lnTo>
                  <a:pt x="3186" y="1055"/>
                </a:lnTo>
                <a:lnTo>
                  <a:pt x="3186" y="1057"/>
                </a:lnTo>
                <a:lnTo>
                  <a:pt x="3187" y="1058"/>
                </a:lnTo>
                <a:lnTo>
                  <a:pt x="3187" y="1060"/>
                </a:lnTo>
                <a:lnTo>
                  <a:pt x="3187" y="1062"/>
                </a:lnTo>
                <a:lnTo>
                  <a:pt x="3187" y="1065"/>
                </a:lnTo>
                <a:lnTo>
                  <a:pt x="3187" y="1867"/>
                </a:lnTo>
                <a:lnTo>
                  <a:pt x="3184" y="1915"/>
                </a:lnTo>
                <a:lnTo>
                  <a:pt x="3175" y="1962"/>
                </a:lnTo>
                <a:lnTo>
                  <a:pt x="3161" y="2007"/>
                </a:lnTo>
                <a:lnTo>
                  <a:pt x="3142" y="2050"/>
                </a:lnTo>
                <a:lnTo>
                  <a:pt x="3117" y="2088"/>
                </a:lnTo>
                <a:lnTo>
                  <a:pt x="3089" y="2125"/>
                </a:lnTo>
                <a:lnTo>
                  <a:pt x="3056" y="2157"/>
                </a:lnTo>
                <a:lnTo>
                  <a:pt x="3020" y="2185"/>
                </a:lnTo>
                <a:lnTo>
                  <a:pt x="2981" y="2210"/>
                </a:lnTo>
                <a:lnTo>
                  <a:pt x="2938" y="2229"/>
                </a:lnTo>
                <a:lnTo>
                  <a:pt x="2893" y="2244"/>
                </a:lnTo>
                <a:lnTo>
                  <a:pt x="2846" y="2252"/>
                </a:lnTo>
                <a:lnTo>
                  <a:pt x="2798" y="2255"/>
                </a:lnTo>
                <a:lnTo>
                  <a:pt x="907" y="2255"/>
                </a:lnTo>
                <a:lnTo>
                  <a:pt x="865" y="2253"/>
                </a:lnTo>
                <a:lnTo>
                  <a:pt x="823" y="2247"/>
                </a:lnTo>
                <a:lnTo>
                  <a:pt x="783" y="2235"/>
                </a:lnTo>
                <a:lnTo>
                  <a:pt x="745" y="2221"/>
                </a:lnTo>
                <a:lnTo>
                  <a:pt x="709" y="2202"/>
                </a:lnTo>
                <a:lnTo>
                  <a:pt x="709" y="2459"/>
                </a:lnTo>
                <a:lnTo>
                  <a:pt x="712" y="2495"/>
                </a:lnTo>
                <a:lnTo>
                  <a:pt x="722" y="2528"/>
                </a:lnTo>
                <a:lnTo>
                  <a:pt x="736" y="2559"/>
                </a:lnTo>
                <a:lnTo>
                  <a:pt x="756" y="2588"/>
                </a:lnTo>
                <a:lnTo>
                  <a:pt x="780" y="2612"/>
                </a:lnTo>
                <a:lnTo>
                  <a:pt x="807" y="2630"/>
                </a:lnTo>
                <a:lnTo>
                  <a:pt x="838" y="2646"/>
                </a:lnTo>
                <a:lnTo>
                  <a:pt x="872" y="2655"/>
                </a:lnTo>
                <a:lnTo>
                  <a:pt x="907" y="2658"/>
                </a:lnTo>
                <a:lnTo>
                  <a:pt x="2705" y="2658"/>
                </a:lnTo>
                <a:lnTo>
                  <a:pt x="2754" y="2661"/>
                </a:lnTo>
                <a:lnTo>
                  <a:pt x="2801" y="2670"/>
                </a:lnTo>
                <a:lnTo>
                  <a:pt x="2844" y="2683"/>
                </a:lnTo>
                <a:lnTo>
                  <a:pt x="2886" y="2703"/>
                </a:lnTo>
                <a:lnTo>
                  <a:pt x="2925" y="2727"/>
                </a:lnTo>
                <a:lnTo>
                  <a:pt x="2960" y="2755"/>
                </a:lnTo>
                <a:lnTo>
                  <a:pt x="2993" y="2787"/>
                </a:lnTo>
                <a:lnTo>
                  <a:pt x="3021" y="2823"/>
                </a:lnTo>
                <a:lnTo>
                  <a:pt x="3045" y="2862"/>
                </a:lnTo>
                <a:lnTo>
                  <a:pt x="3064" y="2903"/>
                </a:lnTo>
                <a:lnTo>
                  <a:pt x="3078" y="2947"/>
                </a:lnTo>
                <a:lnTo>
                  <a:pt x="3087" y="2994"/>
                </a:lnTo>
                <a:lnTo>
                  <a:pt x="3090" y="3042"/>
                </a:lnTo>
                <a:lnTo>
                  <a:pt x="3087" y="3090"/>
                </a:lnTo>
                <a:lnTo>
                  <a:pt x="3078" y="3136"/>
                </a:lnTo>
                <a:lnTo>
                  <a:pt x="3064" y="3180"/>
                </a:lnTo>
                <a:lnTo>
                  <a:pt x="3045" y="3221"/>
                </a:lnTo>
                <a:lnTo>
                  <a:pt x="3021" y="3261"/>
                </a:lnTo>
                <a:lnTo>
                  <a:pt x="2993" y="3296"/>
                </a:lnTo>
                <a:lnTo>
                  <a:pt x="2960" y="3328"/>
                </a:lnTo>
                <a:lnTo>
                  <a:pt x="2925" y="3356"/>
                </a:lnTo>
                <a:lnTo>
                  <a:pt x="2886" y="3380"/>
                </a:lnTo>
                <a:lnTo>
                  <a:pt x="2844" y="3400"/>
                </a:lnTo>
                <a:lnTo>
                  <a:pt x="2801" y="3413"/>
                </a:lnTo>
                <a:lnTo>
                  <a:pt x="2754" y="3423"/>
                </a:lnTo>
                <a:lnTo>
                  <a:pt x="2705" y="3426"/>
                </a:lnTo>
                <a:lnTo>
                  <a:pt x="2657" y="3423"/>
                </a:lnTo>
                <a:lnTo>
                  <a:pt x="2612" y="3413"/>
                </a:lnTo>
                <a:lnTo>
                  <a:pt x="2568" y="3400"/>
                </a:lnTo>
                <a:lnTo>
                  <a:pt x="2526" y="3380"/>
                </a:lnTo>
                <a:lnTo>
                  <a:pt x="2486" y="3357"/>
                </a:lnTo>
                <a:lnTo>
                  <a:pt x="2451" y="3329"/>
                </a:lnTo>
                <a:lnTo>
                  <a:pt x="2418" y="3296"/>
                </a:lnTo>
                <a:lnTo>
                  <a:pt x="2390" y="3261"/>
                </a:lnTo>
                <a:lnTo>
                  <a:pt x="2367" y="3222"/>
                </a:lnTo>
                <a:lnTo>
                  <a:pt x="2347" y="3181"/>
                </a:lnTo>
                <a:lnTo>
                  <a:pt x="2334" y="3136"/>
                </a:lnTo>
                <a:lnTo>
                  <a:pt x="2324" y="3090"/>
                </a:lnTo>
                <a:lnTo>
                  <a:pt x="2321" y="3042"/>
                </a:lnTo>
                <a:lnTo>
                  <a:pt x="2323" y="3000"/>
                </a:lnTo>
                <a:lnTo>
                  <a:pt x="2331" y="2960"/>
                </a:lnTo>
                <a:lnTo>
                  <a:pt x="2341" y="2920"/>
                </a:lnTo>
                <a:lnTo>
                  <a:pt x="2356" y="2884"/>
                </a:lnTo>
                <a:lnTo>
                  <a:pt x="2374" y="2848"/>
                </a:lnTo>
                <a:lnTo>
                  <a:pt x="1518" y="2848"/>
                </a:lnTo>
                <a:lnTo>
                  <a:pt x="1537" y="2883"/>
                </a:lnTo>
                <a:lnTo>
                  <a:pt x="1552" y="2920"/>
                </a:lnTo>
                <a:lnTo>
                  <a:pt x="1562" y="2960"/>
                </a:lnTo>
                <a:lnTo>
                  <a:pt x="1569" y="3000"/>
                </a:lnTo>
                <a:lnTo>
                  <a:pt x="1572" y="3042"/>
                </a:lnTo>
                <a:lnTo>
                  <a:pt x="1568" y="3090"/>
                </a:lnTo>
                <a:lnTo>
                  <a:pt x="1560" y="3136"/>
                </a:lnTo>
                <a:lnTo>
                  <a:pt x="1545" y="3180"/>
                </a:lnTo>
                <a:lnTo>
                  <a:pt x="1527" y="3221"/>
                </a:lnTo>
                <a:lnTo>
                  <a:pt x="1503" y="3261"/>
                </a:lnTo>
                <a:lnTo>
                  <a:pt x="1474" y="3296"/>
                </a:lnTo>
                <a:lnTo>
                  <a:pt x="1442" y="3328"/>
                </a:lnTo>
                <a:lnTo>
                  <a:pt x="1407" y="3356"/>
                </a:lnTo>
                <a:lnTo>
                  <a:pt x="1368" y="3380"/>
                </a:lnTo>
                <a:lnTo>
                  <a:pt x="1326" y="3400"/>
                </a:lnTo>
                <a:lnTo>
                  <a:pt x="1281" y="3413"/>
                </a:lnTo>
                <a:lnTo>
                  <a:pt x="1235" y="3423"/>
                </a:lnTo>
                <a:lnTo>
                  <a:pt x="1187" y="3426"/>
                </a:lnTo>
                <a:lnTo>
                  <a:pt x="1139" y="3423"/>
                </a:lnTo>
                <a:lnTo>
                  <a:pt x="1092" y="3413"/>
                </a:lnTo>
                <a:lnTo>
                  <a:pt x="1048" y="3400"/>
                </a:lnTo>
                <a:lnTo>
                  <a:pt x="1007" y="3380"/>
                </a:lnTo>
                <a:lnTo>
                  <a:pt x="968" y="3357"/>
                </a:lnTo>
                <a:lnTo>
                  <a:pt x="932" y="3329"/>
                </a:lnTo>
                <a:lnTo>
                  <a:pt x="900" y="3296"/>
                </a:lnTo>
                <a:lnTo>
                  <a:pt x="872" y="3261"/>
                </a:lnTo>
                <a:lnTo>
                  <a:pt x="848" y="3222"/>
                </a:lnTo>
                <a:lnTo>
                  <a:pt x="829" y="3181"/>
                </a:lnTo>
                <a:lnTo>
                  <a:pt x="814" y="3136"/>
                </a:lnTo>
                <a:lnTo>
                  <a:pt x="806" y="3090"/>
                </a:lnTo>
                <a:lnTo>
                  <a:pt x="803" y="3042"/>
                </a:lnTo>
                <a:lnTo>
                  <a:pt x="805" y="2999"/>
                </a:lnTo>
                <a:lnTo>
                  <a:pt x="812" y="2958"/>
                </a:lnTo>
                <a:lnTo>
                  <a:pt x="824" y="2918"/>
                </a:lnTo>
                <a:lnTo>
                  <a:pt x="838" y="2880"/>
                </a:lnTo>
                <a:lnTo>
                  <a:pt x="858" y="2845"/>
                </a:lnTo>
                <a:lnTo>
                  <a:pt x="811" y="2836"/>
                </a:lnTo>
                <a:lnTo>
                  <a:pt x="766" y="2821"/>
                </a:lnTo>
                <a:lnTo>
                  <a:pt x="725" y="2801"/>
                </a:lnTo>
                <a:lnTo>
                  <a:pt x="685" y="2777"/>
                </a:lnTo>
                <a:lnTo>
                  <a:pt x="649" y="2749"/>
                </a:lnTo>
                <a:lnTo>
                  <a:pt x="617" y="2717"/>
                </a:lnTo>
                <a:lnTo>
                  <a:pt x="588" y="2680"/>
                </a:lnTo>
                <a:lnTo>
                  <a:pt x="564" y="2642"/>
                </a:lnTo>
                <a:lnTo>
                  <a:pt x="545" y="2599"/>
                </a:lnTo>
                <a:lnTo>
                  <a:pt x="530" y="2555"/>
                </a:lnTo>
                <a:lnTo>
                  <a:pt x="522" y="2508"/>
                </a:lnTo>
                <a:lnTo>
                  <a:pt x="519" y="2459"/>
                </a:lnTo>
                <a:lnTo>
                  <a:pt x="519" y="378"/>
                </a:lnTo>
                <a:lnTo>
                  <a:pt x="57" y="184"/>
                </a:lnTo>
                <a:lnTo>
                  <a:pt x="39" y="172"/>
                </a:lnTo>
                <a:lnTo>
                  <a:pt x="23" y="159"/>
                </a:lnTo>
                <a:lnTo>
                  <a:pt x="10" y="141"/>
                </a:lnTo>
                <a:lnTo>
                  <a:pt x="3" y="122"/>
                </a:lnTo>
                <a:lnTo>
                  <a:pt x="0" y="101"/>
                </a:lnTo>
                <a:lnTo>
                  <a:pt x="1" y="79"/>
                </a:lnTo>
                <a:lnTo>
                  <a:pt x="7" y="59"/>
                </a:lnTo>
                <a:lnTo>
                  <a:pt x="18" y="40"/>
                </a:lnTo>
                <a:lnTo>
                  <a:pt x="32" y="24"/>
                </a:lnTo>
                <a:lnTo>
                  <a:pt x="49" y="12"/>
                </a:lnTo>
                <a:lnTo>
                  <a:pt x="69" y="4"/>
                </a:lnTo>
                <a:lnTo>
                  <a:pt x="89" y="0"/>
                </a:lnTo>
                <a:close/>
              </a:path>
            </a:pathLst>
          </a:custGeom>
          <a:solidFill>
            <a:srgbClr val="FEFEFE"/>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50" name="TextBox 30"/>
          <p:cNvSpPr txBox="1"/>
          <p:nvPr/>
        </p:nvSpPr>
        <p:spPr>
          <a:xfrm>
            <a:off x="1309249"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51" name="TextBox 30"/>
          <p:cNvSpPr txBox="1"/>
          <p:nvPr/>
        </p:nvSpPr>
        <p:spPr>
          <a:xfrm>
            <a:off x="3733361"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52" name="TextBox 30"/>
          <p:cNvSpPr txBox="1"/>
          <p:nvPr/>
        </p:nvSpPr>
        <p:spPr>
          <a:xfrm>
            <a:off x="6133661"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53" name="TextBox 30"/>
          <p:cNvSpPr txBox="1"/>
          <p:nvPr/>
        </p:nvSpPr>
        <p:spPr>
          <a:xfrm>
            <a:off x="8587937"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p:cTn id="12" dur="500" fill="hold"/>
                                        <p:tgtEl>
                                          <p:spTgt spid="35"/>
                                        </p:tgtEl>
                                        <p:attrNameLst>
                                          <p:attrName>ppt_w</p:attrName>
                                        </p:attrNameLst>
                                      </p:cBhvr>
                                      <p:tavLst>
                                        <p:tav tm="0">
                                          <p:val>
                                            <p:fltVal val="0"/>
                                          </p:val>
                                        </p:tav>
                                        <p:tav tm="100000">
                                          <p:val>
                                            <p:strVal val="#ppt_w"/>
                                          </p:val>
                                        </p:tav>
                                      </p:tavLst>
                                    </p:anim>
                                    <p:anim calcmode="lin" valueType="num">
                                      <p:cBhvr>
                                        <p:cTn id="13" dur="500" fill="hold"/>
                                        <p:tgtEl>
                                          <p:spTgt spid="35"/>
                                        </p:tgtEl>
                                        <p:attrNameLst>
                                          <p:attrName>ppt_h</p:attrName>
                                        </p:attrNameLst>
                                      </p:cBhvr>
                                      <p:tavLst>
                                        <p:tav tm="0">
                                          <p:val>
                                            <p:fltVal val="0"/>
                                          </p:val>
                                        </p:tav>
                                        <p:tav tm="100000">
                                          <p:val>
                                            <p:strVal val="#ppt_h"/>
                                          </p:val>
                                        </p:tav>
                                      </p:tavLst>
                                    </p:anim>
                                    <p:animEffect transition="in" filter="fade">
                                      <p:cBhvr>
                                        <p:cTn id="14" dur="500"/>
                                        <p:tgtEl>
                                          <p:spTgt spid="35"/>
                                        </p:tgtEl>
                                      </p:cBhvr>
                                    </p:animEffect>
                                  </p:childTnLst>
                                </p:cTn>
                              </p:par>
                              <p:par>
                                <p:cTn id="15" presetID="2" presetClass="entr" presetSubtype="4" accel="20000" decel="8000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p:cTn id="22" dur="500" fill="hold"/>
                                        <p:tgtEl>
                                          <p:spTgt spid="43"/>
                                        </p:tgtEl>
                                        <p:attrNameLst>
                                          <p:attrName>ppt_w</p:attrName>
                                        </p:attrNameLst>
                                      </p:cBhvr>
                                      <p:tavLst>
                                        <p:tav tm="0">
                                          <p:val>
                                            <p:fltVal val="0"/>
                                          </p:val>
                                        </p:tav>
                                        <p:tav tm="100000">
                                          <p:val>
                                            <p:strVal val="#ppt_w"/>
                                          </p:val>
                                        </p:tav>
                                      </p:tavLst>
                                    </p:anim>
                                    <p:anim calcmode="lin" valueType="num">
                                      <p:cBhvr>
                                        <p:cTn id="23" dur="500" fill="hold"/>
                                        <p:tgtEl>
                                          <p:spTgt spid="43"/>
                                        </p:tgtEl>
                                        <p:attrNameLst>
                                          <p:attrName>ppt_h</p:attrName>
                                        </p:attrNameLst>
                                      </p:cBhvr>
                                      <p:tavLst>
                                        <p:tav tm="0">
                                          <p:val>
                                            <p:fltVal val="0"/>
                                          </p:val>
                                        </p:tav>
                                        <p:tav tm="100000">
                                          <p:val>
                                            <p:strVal val="#ppt_h"/>
                                          </p:val>
                                        </p:tav>
                                      </p:tavLst>
                                    </p:anim>
                                    <p:animEffect transition="in" filter="fade">
                                      <p:cBhvr>
                                        <p:cTn id="24" dur="500"/>
                                        <p:tgtEl>
                                          <p:spTgt spid="43"/>
                                        </p:tgtEl>
                                      </p:cBhvr>
                                    </p:animEffect>
                                  </p:childTnLst>
                                </p:cTn>
                              </p:par>
                              <p:par>
                                <p:cTn id="25" presetID="2" presetClass="entr" presetSubtype="4" accel="20000" decel="8000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53" presetClass="entr" presetSubtype="16"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 calcmode="lin" valueType="num">
                                      <p:cBhvr>
                                        <p:cTn id="32" dur="500" fill="hold"/>
                                        <p:tgtEl>
                                          <p:spTgt spid="44"/>
                                        </p:tgtEl>
                                        <p:attrNameLst>
                                          <p:attrName>ppt_w</p:attrName>
                                        </p:attrNameLst>
                                      </p:cBhvr>
                                      <p:tavLst>
                                        <p:tav tm="0">
                                          <p:val>
                                            <p:fltVal val="0"/>
                                          </p:val>
                                        </p:tav>
                                        <p:tav tm="100000">
                                          <p:val>
                                            <p:strVal val="#ppt_w"/>
                                          </p:val>
                                        </p:tav>
                                      </p:tavLst>
                                    </p:anim>
                                    <p:anim calcmode="lin" valueType="num">
                                      <p:cBhvr>
                                        <p:cTn id="33" dur="500" fill="hold"/>
                                        <p:tgtEl>
                                          <p:spTgt spid="44"/>
                                        </p:tgtEl>
                                        <p:attrNameLst>
                                          <p:attrName>ppt_h</p:attrName>
                                        </p:attrNameLst>
                                      </p:cBhvr>
                                      <p:tavLst>
                                        <p:tav tm="0">
                                          <p:val>
                                            <p:fltVal val="0"/>
                                          </p:val>
                                        </p:tav>
                                        <p:tav tm="100000">
                                          <p:val>
                                            <p:strVal val="#ppt_h"/>
                                          </p:val>
                                        </p:tav>
                                      </p:tavLst>
                                    </p:anim>
                                    <p:animEffect transition="in" filter="fade">
                                      <p:cBhvr>
                                        <p:cTn id="34" dur="500"/>
                                        <p:tgtEl>
                                          <p:spTgt spid="44"/>
                                        </p:tgtEl>
                                      </p:cBhvr>
                                    </p:animEffect>
                                  </p:childTnLst>
                                </p:cTn>
                              </p:par>
                              <p:par>
                                <p:cTn id="35" presetID="2" presetClass="entr" presetSubtype="4" accel="20000" decel="8000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53" presetClass="entr" presetSubtype="16"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 calcmode="lin" valueType="num">
                                      <p:cBhvr>
                                        <p:cTn id="42" dur="500" fill="hold"/>
                                        <p:tgtEl>
                                          <p:spTgt spid="49"/>
                                        </p:tgtEl>
                                        <p:attrNameLst>
                                          <p:attrName>ppt_w</p:attrName>
                                        </p:attrNameLst>
                                      </p:cBhvr>
                                      <p:tavLst>
                                        <p:tav tm="0">
                                          <p:val>
                                            <p:fltVal val="0"/>
                                          </p:val>
                                        </p:tav>
                                        <p:tav tm="100000">
                                          <p:val>
                                            <p:strVal val="#ppt_w"/>
                                          </p:val>
                                        </p:tav>
                                      </p:tavLst>
                                    </p:anim>
                                    <p:anim calcmode="lin" valueType="num">
                                      <p:cBhvr>
                                        <p:cTn id="43" dur="500" fill="hold"/>
                                        <p:tgtEl>
                                          <p:spTgt spid="49"/>
                                        </p:tgtEl>
                                        <p:attrNameLst>
                                          <p:attrName>ppt_h</p:attrName>
                                        </p:attrNameLst>
                                      </p:cBhvr>
                                      <p:tavLst>
                                        <p:tav tm="0">
                                          <p:val>
                                            <p:fltVal val="0"/>
                                          </p:val>
                                        </p:tav>
                                        <p:tav tm="100000">
                                          <p:val>
                                            <p:strVal val="#ppt_h"/>
                                          </p:val>
                                        </p:tav>
                                      </p:tavLst>
                                    </p:anim>
                                    <p:animEffect transition="in" filter="fade">
                                      <p:cBhvr>
                                        <p:cTn id="44" dur="500"/>
                                        <p:tgtEl>
                                          <p:spTgt spid="49"/>
                                        </p:tgtEl>
                                      </p:cBhvr>
                                    </p:animEffect>
                                  </p:childTnLst>
                                </p:cTn>
                              </p:par>
                              <p:par>
                                <p:cTn id="45" presetID="0" presetClass="entr" presetSubtype="0" fill="hold" grpId="0" nodeType="withEffect">
                                  <p:stCondLst>
                                    <p:cond delay="1200"/>
                                  </p:stCondLst>
                                  <p:iterate type="lt">
                                    <p:tmPct val="10000"/>
                                  </p:iterate>
                                  <p:childTnLst>
                                    <p:set>
                                      <p:cBhvr>
                                        <p:cTn id="46" dur="700" fill="hold">
                                          <p:stCondLst>
                                            <p:cond delay="0"/>
                                          </p:stCondLst>
                                        </p:cTn>
                                        <p:tgtEl>
                                          <p:spTgt spid="50"/>
                                        </p:tgtEl>
                                        <p:attrNameLst>
                                          <p:attrName>style.visibility</p:attrName>
                                        </p:attrNameLst>
                                      </p:cBhvr>
                                      <p:to>
                                        <p:strVal val="visible"/>
                                      </p:to>
                                    </p:set>
                                    <p:animEffect filter="fade">
                                      <p:cBhvr>
                                        <p:cTn id="47" dur="700">
                                          <p:stCondLst>
                                            <p:cond delay="0"/>
                                          </p:stCondLst>
                                        </p:cTn>
                                        <p:tgtEl>
                                          <p:spTgt spid="50"/>
                                        </p:tgtEl>
                                      </p:cBhvr>
                                    </p:animEffect>
                                    <p:anim to="" calcmode="lin" valueType="num">
                                      <p:cBhvr>
                                        <p:cTn id="48" dur="700" fill="hold">
                                          <p:stCondLst>
                                            <p:cond delay="0"/>
                                          </p:stCondLst>
                                        </p:cTn>
                                        <p:tgtEl>
                                          <p:spTgt spid="50"/>
                                        </p:tgtEl>
                                        <p:attrNameLst>
                                          <p:attrName>ppt_y</p:attrName>
                                        </p:attrNameLst>
                                      </p:cBhvr>
                                      <p:tavLst>
                                        <p:tav tm="0" fmla="#ppt_y-#ppt_h*((1.5-1.5*$)^2-(1.5-1.5*$)^3)">
                                          <p:val>
                                            <p:fltVal val="0"/>
                                          </p:val>
                                        </p:tav>
                                        <p:tav tm="100000">
                                          <p:val>
                                            <p:fltVal val="1"/>
                                          </p:val>
                                        </p:tav>
                                      </p:tavLst>
                                    </p:anim>
                                  </p:childTnLst>
                                </p:cTn>
                              </p:par>
                              <p:par>
                                <p:cTn id="49" presetID="0" presetClass="entr" presetSubtype="0" fill="hold" grpId="0" nodeType="withEffect">
                                  <p:stCondLst>
                                    <p:cond delay="1200"/>
                                  </p:stCondLst>
                                  <p:iterate type="lt">
                                    <p:tmPct val="10000"/>
                                  </p:iterate>
                                  <p:childTnLst>
                                    <p:set>
                                      <p:cBhvr>
                                        <p:cTn id="50" dur="700" fill="hold">
                                          <p:stCondLst>
                                            <p:cond delay="0"/>
                                          </p:stCondLst>
                                        </p:cTn>
                                        <p:tgtEl>
                                          <p:spTgt spid="51"/>
                                        </p:tgtEl>
                                        <p:attrNameLst>
                                          <p:attrName>style.visibility</p:attrName>
                                        </p:attrNameLst>
                                      </p:cBhvr>
                                      <p:to>
                                        <p:strVal val="visible"/>
                                      </p:to>
                                    </p:set>
                                    <p:animEffect filter="fade">
                                      <p:cBhvr>
                                        <p:cTn id="51" dur="700">
                                          <p:stCondLst>
                                            <p:cond delay="0"/>
                                          </p:stCondLst>
                                        </p:cTn>
                                        <p:tgtEl>
                                          <p:spTgt spid="51"/>
                                        </p:tgtEl>
                                      </p:cBhvr>
                                    </p:animEffect>
                                    <p:anim to="" calcmode="lin" valueType="num">
                                      <p:cBhvr>
                                        <p:cTn id="52" dur="700" fill="hold">
                                          <p:stCondLst>
                                            <p:cond delay="0"/>
                                          </p:stCondLst>
                                        </p:cTn>
                                        <p:tgtEl>
                                          <p:spTgt spid="51"/>
                                        </p:tgtEl>
                                        <p:attrNameLst>
                                          <p:attrName>ppt_y</p:attrName>
                                        </p:attrNameLst>
                                      </p:cBhvr>
                                      <p:tavLst>
                                        <p:tav tm="0" fmla="#ppt_y-#ppt_h*((1.5-1.5*$)^2-(1.5-1.5*$)^3)">
                                          <p:val>
                                            <p:fltVal val="0"/>
                                          </p:val>
                                        </p:tav>
                                        <p:tav tm="100000">
                                          <p:val>
                                            <p:fltVal val="1"/>
                                          </p:val>
                                        </p:tav>
                                      </p:tavLst>
                                    </p:anim>
                                  </p:childTnLst>
                                </p:cTn>
                              </p:par>
                              <p:par>
                                <p:cTn id="53" presetID="0" presetClass="entr" presetSubtype="0" fill="hold" grpId="0" nodeType="withEffect">
                                  <p:stCondLst>
                                    <p:cond delay="1200"/>
                                  </p:stCondLst>
                                  <p:iterate type="lt">
                                    <p:tmPct val="10000"/>
                                  </p:iterate>
                                  <p:childTnLst>
                                    <p:set>
                                      <p:cBhvr>
                                        <p:cTn id="54" dur="700" fill="hold">
                                          <p:stCondLst>
                                            <p:cond delay="0"/>
                                          </p:stCondLst>
                                        </p:cTn>
                                        <p:tgtEl>
                                          <p:spTgt spid="52"/>
                                        </p:tgtEl>
                                        <p:attrNameLst>
                                          <p:attrName>style.visibility</p:attrName>
                                        </p:attrNameLst>
                                      </p:cBhvr>
                                      <p:to>
                                        <p:strVal val="visible"/>
                                      </p:to>
                                    </p:set>
                                    <p:animEffect filter="fade">
                                      <p:cBhvr>
                                        <p:cTn id="55" dur="700">
                                          <p:stCondLst>
                                            <p:cond delay="0"/>
                                          </p:stCondLst>
                                        </p:cTn>
                                        <p:tgtEl>
                                          <p:spTgt spid="52"/>
                                        </p:tgtEl>
                                      </p:cBhvr>
                                    </p:animEffect>
                                    <p:anim to="" calcmode="lin" valueType="num">
                                      <p:cBhvr>
                                        <p:cTn id="56" dur="700" fill="hold">
                                          <p:stCondLst>
                                            <p:cond delay="0"/>
                                          </p:stCondLst>
                                        </p:cTn>
                                        <p:tgtEl>
                                          <p:spTgt spid="52"/>
                                        </p:tgtEl>
                                        <p:attrNameLst>
                                          <p:attrName>ppt_y</p:attrName>
                                        </p:attrNameLst>
                                      </p:cBhvr>
                                      <p:tavLst>
                                        <p:tav tm="0" fmla="#ppt_y-#ppt_h*((1.5-1.5*$)^2-(1.5-1.5*$)^3)">
                                          <p:val>
                                            <p:fltVal val="0"/>
                                          </p:val>
                                        </p:tav>
                                        <p:tav tm="100000">
                                          <p:val>
                                            <p:fltVal val="1"/>
                                          </p:val>
                                        </p:tav>
                                      </p:tavLst>
                                    </p:anim>
                                  </p:childTnLst>
                                </p:cTn>
                              </p:par>
                              <p:par>
                                <p:cTn id="57" presetID="0" presetClass="entr" presetSubtype="0" fill="hold" grpId="0" nodeType="withEffect">
                                  <p:stCondLst>
                                    <p:cond delay="1200"/>
                                  </p:stCondLst>
                                  <p:iterate type="lt">
                                    <p:tmPct val="10000"/>
                                  </p:iterate>
                                  <p:childTnLst>
                                    <p:set>
                                      <p:cBhvr>
                                        <p:cTn id="58" dur="700" fill="hold">
                                          <p:stCondLst>
                                            <p:cond delay="0"/>
                                          </p:stCondLst>
                                        </p:cTn>
                                        <p:tgtEl>
                                          <p:spTgt spid="53"/>
                                        </p:tgtEl>
                                        <p:attrNameLst>
                                          <p:attrName>style.visibility</p:attrName>
                                        </p:attrNameLst>
                                      </p:cBhvr>
                                      <p:to>
                                        <p:strVal val="visible"/>
                                      </p:to>
                                    </p:set>
                                    <p:animEffect filter="fade">
                                      <p:cBhvr>
                                        <p:cTn id="59" dur="700">
                                          <p:stCondLst>
                                            <p:cond delay="0"/>
                                          </p:stCondLst>
                                        </p:cTn>
                                        <p:tgtEl>
                                          <p:spTgt spid="53"/>
                                        </p:tgtEl>
                                      </p:cBhvr>
                                    </p:animEffect>
                                    <p:anim to="" calcmode="lin" valueType="num">
                                      <p:cBhvr>
                                        <p:cTn id="60" dur="700" fill="hold">
                                          <p:stCondLst>
                                            <p:cond delay="0"/>
                                          </p:stCondLst>
                                        </p:cTn>
                                        <p:tgtEl>
                                          <p:spTgt spid="53"/>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9" grpId="0" animBg="1"/>
      <p:bldP spid="50" grpId="0"/>
      <p:bldP spid="51" grpId="0"/>
      <p:bldP spid="52" grpId="0"/>
      <p:bldP spid="5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3</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035348"/>
          </a:xfrm>
          <a:prstGeom prst="rect">
            <a:avLst/>
          </a:prstGeom>
          <a:noFill/>
        </p:spPr>
        <p:txBody>
          <a:bodyPr wrap="square" rtlCol="0">
            <a:spAutoFit/>
          </a:bodyPr>
          <a:lstStyle/>
          <a:p>
            <a:pP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7" name="Straight Connector 71"/>
          <p:cNvCxnSpPr>
            <a:endCxn id="18" idx="3"/>
          </p:cNvCxnSpPr>
          <p:nvPr/>
        </p:nvCxnSpPr>
        <p:spPr>
          <a:xfrm flipV="1">
            <a:off x="5495233" y="2558468"/>
            <a:ext cx="539518" cy="4991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3"/>
          <p:cNvCxnSpPr/>
          <p:nvPr/>
        </p:nvCxnSpPr>
        <p:spPr>
          <a:xfrm flipV="1">
            <a:off x="5766413" y="3355322"/>
            <a:ext cx="763991" cy="192149"/>
          </a:xfrm>
          <a:prstGeom prst="line">
            <a:avLst/>
          </a:prstGeom>
          <a:ln w="19050">
            <a:solidFill>
              <a:srgbClr val="CB3125"/>
            </a:solidFill>
          </a:ln>
        </p:spPr>
        <p:style>
          <a:lnRef idx="1">
            <a:schemeClr val="accent1"/>
          </a:lnRef>
          <a:fillRef idx="0">
            <a:schemeClr val="accent1"/>
          </a:fillRef>
          <a:effectRef idx="0">
            <a:schemeClr val="accent1"/>
          </a:effectRef>
          <a:fontRef idx="minor">
            <a:schemeClr val="tx1"/>
          </a:fontRef>
        </p:style>
      </p:cxnSp>
      <p:cxnSp>
        <p:nvCxnSpPr>
          <p:cNvPr id="9" name="Straight Connector 76"/>
          <p:cNvCxnSpPr>
            <a:endCxn id="21" idx="1"/>
          </p:cNvCxnSpPr>
          <p:nvPr/>
        </p:nvCxnSpPr>
        <p:spPr>
          <a:xfrm>
            <a:off x="5503409" y="4607953"/>
            <a:ext cx="485138" cy="476993"/>
          </a:xfrm>
          <a:prstGeom prst="line">
            <a:avLst/>
          </a:prstGeom>
          <a:ln w="19050">
            <a:solidFill>
              <a:srgbClr val="CB3125"/>
            </a:solidFill>
          </a:ln>
        </p:spPr>
        <p:style>
          <a:lnRef idx="1">
            <a:schemeClr val="accent1"/>
          </a:lnRef>
          <a:fillRef idx="0">
            <a:schemeClr val="accent1"/>
          </a:fillRef>
          <a:effectRef idx="0">
            <a:schemeClr val="accent1"/>
          </a:effectRef>
          <a:fontRef idx="minor">
            <a:schemeClr val="tx1"/>
          </a:fontRef>
        </p:style>
      </p:cxnSp>
      <p:cxnSp>
        <p:nvCxnSpPr>
          <p:cNvPr id="10" name="Straight Connector 77"/>
          <p:cNvCxnSpPr>
            <a:endCxn id="20" idx="2"/>
          </p:cNvCxnSpPr>
          <p:nvPr/>
        </p:nvCxnSpPr>
        <p:spPr>
          <a:xfrm>
            <a:off x="5766413" y="4116582"/>
            <a:ext cx="658344" cy="24707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Arc 53"/>
          <p:cNvSpPr/>
          <p:nvPr/>
        </p:nvSpPr>
        <p:spPr>
          <a:xfrm>
            <a:off x="2573964" y="1625599"/>
            <a:ext cx="4333650" cy="4333650"/>
          </a:xfrm>
          <a:prstGeom prst="arc">
            <a:avLst>
              <a:gd name="adj1" fmla="val 16200000"/>
              <a:gd name="adj2" fmla="val 5507395"/>
            </a:avLst>
          </a:prstGeom>
          <a:ln w="57150">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2" name="Arc 52"/>
          <p:cNvSpPr/>
          <p:nvPr/>
        </p:nvSpPr>
        <p:spPr>
          <a:xfrm>
            <a:off x="3669984" y="2728343"/>
            <a:ext cx="2128162" cy="2128161"/>
          </a:xfrm>
          <a:prstGeom prst="arc">
            <a:avLst>
              <a:gd name="adj1" fmla="val 16200000"/>
              <a:gd name="adj2" fmla="val 5507395"/>
            </a:avLst>
          </a:prstGeom>
          <a:ln w="47625">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3" name="Oval 54"/>
          <p:cNvSpPr/>
          <p:nvPr/>
        </p:nvSpPr>
        <p:spPr>
          <a:xfrm>
            <a:off x="5357161" y="2923341"/>
            <a:ext cx="292496" cy="292496"/>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方正黑体简体" panose="02000000000000000000" pitchFamily="2" charset="-122"/>
            </a:endParaRPr>
          </a:p>
        </p:txBody>
      </p:sp>
      <p:sp>
        <p:nvSpPr>
          <p:cNvPr id="14" name="Oval 55"/>
          <p:cNvSpPr/>
          <p:nvPr/>
        </p:nvSpPr>
        <p:spPr>
          <a:xfrm>
            <a:off x="5627968" y="3393959"/>
            <a:ext cx="292496" cy="292496"/>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5" name="Oval 56"/>
          <p:cNvSpPr/>
          <p:nvPr/>
        </p:nvSpPr>
        <p:spPr>
          <a:xfrm>
            <a:off x="5613300" y="3964317"/>
            <a:ext cx="292496" cy="292496"/>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方正黑体简体" panose="02000000000000000000" pitchFamily="2" charset="-122"/>
            </a:endParaRPr>
          </a:p>
        </p:txBody>
      </p:sp>
      <p:sp>
        <p:nvSpPr>
          <p:cNvPr id="16" name="Oval 57"/>
          <p:cNvSpPr/>
          <p:nvPr/>
        </p:nvSpPr>
        <p:spPr>
          <a:xfrm>
            <a:off x="5333693" y="4437868"/>
            <a:ext cx="292496" cy="292496"/>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Oval 69"/>
          <p:cNvSpPr/>
          <p:nvPr/>
        </p:nvSpPr>
        <p:spPr>
          <a:xfrm>
            <a:off x="4099128" y="3194983"/>
            <a:ext cx="1283322" cy="1283312"/>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8" name="Oval 78"/>
          <p:cNvSpPr/>
          <p:nvPr/>
        </p:nvSpPr>
        <p:spPr>
          <a:xfrm>
            <a:off x="5911990" y="1842967"/>
            <a:ext cx="838266" cy="838262"/>
          </a:xfrm>
          <a:prstGeom prst="ellipse">
            <a:avLst/>
          </a:prstGeom>
          <a:solidFill>
            <a:srgbClr val="2E578B"/>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9" name="Oval 79"/>
          <p:cNvSpPr/>
          <p:nvPr/>
        </p:nvSpPr>
        <p:spPr>
          <a:xfrm>
            <a:off x="6466067" y="2799532"/>
            <a:ext cx="838266" cy="838262"/>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0" name="Oval 80"/>
          <p:cNvSpPr/>
          <p:nvPr/>
        </p:nvSpPr>
        <p:spPr>
          <a:xfrm>
            <a:off x="6424757" y="3944521"/>
            <a:ext cx="838266" cy="838262"/>
          </a:xfrm>
          <a:prstGeom prst="ellipse">
            <a:avLst/>
          </a:prstGeom>
          <a:solidFill>
            <a:srgbClr val="2E578B"/>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Oval 81"/>
          <p:cNvSpPr/>
          <p:nvPr/>
        </p:nvSpPr>
        <p:spPr>
          <a:xfrm>
            <a:off x="5865786" y="4962185"/>
            <a:ext cx="838266" cy="838262"/>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2" name="Freeform 25"/>
          <p:cNvSpPr>
            <a:spLocks noEditPoints="1"/>
          </p:cNvSpPr>
          <p:nvPr/>
        </p:nvSpPr>
        <p:spPr bwMode="auto">
          <a:xfrm>
            <a:off x="4383865" y="3483788"/>
            <a:ext cx="698500" cy="698500"/>
          </a:xfrm>
          <a:custGeom>
            <a:avLst/>
            <a:gdLst/>
            <a:ahLst/>
            <a:cxnLst>
              <a:cxn ang="0">
                <a:pos x="114" y="98"/>
              </a:cxn>
              <a:cxn ang="0">
                <a:pos x="94" y="78"/>
              </a:cxn>
              <a:cxn ang="0">
                <a:pos x="102" y="50"/>
              </a:cxn>
              <a:cxn ang="0">
                <a:pos x="51" y="0"/>
              </a:cxn>
              <a:cxn ang="0">
                <a:pos x="0" y="50"/>
              </a:cxn>
              <a:cxn ang="0">
                <a:pos x="51" y="101"/>
              </a:cxn>
              <a:cxn ang="0">
                <a:pos x="78" y="93"/>
              </a:cxn>
              <a:cxn ang="0">
                <a:pos x="98" y="113"/>
              </a:cxn>
              <a:cxn ang="0">
                <a:pos x="104" y="113"/>
              </a:cxn>
              <a:cxn ang="0">
                <a:pos x="114" y="103"/>
              </a:cxn>
              <a:cxn ang="0">
                <a:pos x="114" y="98"/>
              </a:cxn>
              <a:cxn ang="0">
                <a:pos x="51" y="87"/>
              </a:cxn>
              <a:cxn ang="0">
                <a:pos x="15" y="50"/>
              </a:cxn>
              <a:cxn ang="0">
                <a:pos x="51" y="14"/>
              </a:cxn>
              <a:cxn ang="0">
                <a:pos x="87" y="50"/>
              </a:cxn>
              <a:cxn ang="0">
                <a:pos x="51" y="87"/>
              </a:cxn>
            </a:cxnLst>
            <a:rect l="0" t="0" r="r" b="b"/>
            <a:pathLst>
              <a:path w="115" h="115">
                <a:moveTo>
                  <a:pt x="114" y="98"/>
                </a:moveTo>
                <a:cubicBezTo>
                  <a:pt x="94" y="78"/>
                  <a:pt x="94" y="78"/>
                  <a:pt x="94" y="78"/>
                </a:cubicBezTo>
                <a:cubicBezTo>
                  <a:pt x="99" y="70"/>
                  <a:pt x="102" y="60"/>
                  <a:pt x="102" y="50"/>
                </a:cubicBezTo>
                <a:cubicBezTo>
                  <a:pt x="102" y="22"/>
                  <a:pt x="79" y="0"/>
                  <a:pt x="51" y="0"/>
                </a:cubicBezTo>
                <a:cubicBezTo>
                  <a:pt x="23" y="0"/>
                  <a:pt x="0" y="22"/>
                  <a:pt x="0" y="50"/>
                </a:cubicBezTo>
                <a:cubicBezTo>
                  <a:pt x="0" y="78"/>
                  <a:pt x="23" y="101"/>
                  <a:pt x="51" y="101"/>
                </a:cubicBezTo>
                <a:cubicBezTo>
                  <a:pt x="61" y="101"/>
                  <a:pt x="71" y="98"/>
                  <a:pt x="78" y="93"/>
                </a:cubicBezTo>
                <a:cubicBezTo>
                  <a:pt x="98" y="113"/>
                  <a:pt x="98" y="113"/>
                  <a:pt x="98" y="113"/>
                </a:cubicBezTo>
                <a:cubicBezTo>
                  <a:pt x="100" y="115"/>
                  <a:pt x="102" y="115"/>
                  <a:pt x="104" y="113"/>
                </a:cubicBezTo>
                <a:cubicBezTo>
                  <a:pt x="114" y="103"/>
                  <a:pt x="114" y="103"/>
                  <a:pt x="114" y="103"/>
                </a:cubicBezTo>
                <a:cubicBezTo>
                  <a:pt x="115" y="101"/>
                  <a:pt x="115" y="99"/>
                  <a:pt x="114" y="98"/>
                </a:cubicBezTo>
                <a:close/>
                <a:moveTo>
                  <a:pt x="51" y="87"/>
                </a:moveTo>
                <a:cubicBezTo>
                  <a:pt x="31" y="87"/>
                  <a:pt x="15" y="70"/>
                  <a:pt x="15" y="50"/>
                </a:cubicBezTo>
                <a:cubicBezTo>
                  <a:pt x="15" y="30"/>
                  <a:pt x="31" y="14"/>
                  <a:pt x="51" y="14"/>
                </a:cubicBezTo>
                <a:cubicBezTo>
                  <a:pt x="71" y="14"/>
                  <a:pt x="87" y="30"/>
                  <a:pt x="87" y="50"/>
                </a:cubicBezTo>
                <a:cubicBezTo>
                  <a:pt x="87" y="70"/>
                  <a:pt x="71" y="87"/>
                  <a:pt x="51" y="87"/>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158"/>
          <p:cNvSpPr>
            <a:spLocks noEditPoints="1"/>
          </p:cNvSpPr>
          <p:nvPr/>
        </p:nvSpPr>
        <p:spPr bwMode="auto">
          <a:xfrm>
            <a:off x="6096000" y="5156068"/>
            <a:ext cx="377838" cy="450496"/>
          </a:xfrm>
          <a:custGeom>
            <a:avLst/>
            <a:gdLst/>
            <a:ahLst/>
            <a:cxnLst>
              <a:cxn ang="0">
                <a:pos x="172" y="184"/>
              </a:cxn>
              <a:cxn ang="0">
                <a:pos x="12" y="184"/>
              </a:cxn>
              <a:cxn ang="0">
                <a:pos x="0" y="172"/>
              </a:cxn>
              <a:cxn ang="0">
                <a:pos x="12" y="160"/>
              </a:cxn>
              <a:cxn ang="0">
                <a:pos x="24" y="148"/>
              </a:cxn>
              <a:cxn ang="0">
                <a:pos x="24" y="68"/>
              </a:cxn>
              <a:cxn ang="0">
                <a:pos x="80" y="12"/>
              </a:cxn>
              <a:cxn ang="0">
                <a:pos x="92" y="0"/>
              </a:cxn>
              <a:cxn ang="0">
                <a:pos x="104" y="12"/>
              </a:cxn>
              <a:cxn ang="0">
                <a:pos x="160" y="68"/>
              </a:cxn>
              <a:cxn ang="0">
                <a:pos x="160" y="148"/>
              </a:cxn>
              <a:cxn ang="0">
                <a:pos x="172" y="160"/>
              </a:cxn>
              <a:cxn ang="0">
                <a:pos x="184" y="172"/>
              </a:cxn>
              <a:cxn ang="0">
                <a:pos x="172" y="184"/>
              </a:cxn>
              <a:cxn ang="0">
                <a:pos x="92" y="220"/>
              </a:cxn>
              <a:cxn ang="0">
                <a:pos x="68" y="196"/>
              </a:cxn>
              <a:cxn ang="0">
                <a:pos x="116" y="196"/>
              </a:cxn>
              <a:cxn ang="0">
                <a:pos x="92" y="220"/>
              </a:cxn>
            </a:cxnLst>
            <a:rect l="0" t="0" r="r" b="b"/>
            <a:pathLst>
              <a:path w="184" h="220">
                <a:moveTo>
                  <a:pt x="172" y="184"/>
                </a:moveTo>
                <a:cubicBezTo>
                  <a:pt x="12" y="184"/>
                  <a:pt x="12" y="184"/>
                  <a:pt x="12" y="184"/>
                </a:cubicBezTo>
                <a:cubicBezTo>
                  <a:pt x="5" y="184"/>
                  <a:pt x="0" y="179"/>
                  <a:pt x="0" y="172"/>
                </a:cubicBezTo>
                <a:cubicBezTo>
                  <a:pt x="0" y="165"/>
                  <a:pt x="5" y="160"/>
                  <a:pt x="12" y="160"/>
                </a:cubicBezTo>
                <a:cubicBezTo>
                  <a:pt x="19" y="160"/>
                  <a:pt x="24" y="155"/>
                  <a:pt x="24" y="148"/>
                </a:cubicBezTo>
                <a:cubicBezTo>
                  <a:pt x="24" y="68"/>
                  <a:pt x="24" y="68"/>
                  <a:pt x="24" y="68"/>
                </a:cubicBezTo>
                <a:cubicBezTo>
                  <a:pt x="24" y="37"/>
                  <a:pt x="49" y="12"/>
                  <a:pt x="80" y="12"/>
                </a:cubicBezTo>
                <a:cubicBezTo>
                  <a:pt x="80" y="5"/>
                  <a:pt x="85" y="0"/>
                  <a:pt x="92" y="0"/>
                </a:cubicBezTo>
                <a:cubicBezTo>
                  <a:pt x="99" y="0"/>
                  <a:pt x="104" y="5"/>
                  <a:pt x="104" y="12"/>
                </a:cubicBezTo>
                <a:cubicBezTo>
                  <a:pt x="135" y="12"/>
                  <a:pt x="160" y="37"/>
                  <a:pt x="160" y="68"/>
                </a:cubicBezTo>
                <a:cubicBezTo>
                  <a:pt x="160" y="148"/>
                  <a:pt x="160" y="148"/>
                  <a:pt x="160" y="148"/>
                </a:cubicBezTo>
                <a:cubicBezTo>
                  <a:pt x="160" y="155"/>
                  <a:pt x="165" y="160"/>
                  <a:pt x="172" y="160"/>
                </a:cubicBezTo>
                <a:cubicBezTo>
                  <a:pt x="179" y="160"/>
                  <a:pt x="184" y="165"/>
                  <a:pt x="184" y="172"/>
                </a:cubicBezTo>
                <a:cubicBezTo>
                  <a:pt x="184" y="179"/>
                  <a:pt x="179" y="184"/>
                  <a:pt x="172" y="184"/>
                </a:cubicBezTo>
                <a:moveTo>
                  <a:pt x="92" y="220"/>
                </a:moveTo>
                <a:cubicBezTo>
                  <a:pt x="79" y="220"/>
                  <a:pt x="68" y="209"/>
                  <a:pt x="68" y="196"/>
                </a:cubicBezTo>
                <a:cubicBezTo>
                  <a:pt x="116" y="196"/>
                  <a:pt x="116" y="196"/>
                  <a:pt x="116" y="196"/>
                </a:cubicBezTo>
                <a:cubicBezTo>
                  <a:pt x="116" y="209"/>
                  <a:pt x="105" y="220"/>
                  <a:pt x="92" y="220"/>
                </a:cubicBezTo>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4" name="Freeform 179"/>
          <p:cNvSpPr>
            <a:spLocks noEditPoints="1"/>
          </p:cNvSpPr>
          <p:nvPr/>
        </p:nvSpPr>
        <p:spPr bwMode="auto">
          <a:xfrm>
            <a:off x="6101940" y="2032006"/>
            <a:ext cx="458366" cy="460184"/>
          </a:xfrm>
          <a:custGeom>
            <a:avLst/>
            <a:gdLst/>
            <a:ahLst/>
            <a:cxnLst>
              <a:cxn ang="0">
                <a:pos x="140" y="116"/>
              </a:cxn>
              <a:cxn ang="0">
                <a:pos x="140" y="0"/>
              </a:cxn>
              <a:cxn ang="0">
                <a:pos x="256" y="116"/>
              </a:cxn>
              <a:cxn ang="0">
                <a:pos x="140" y="116"/>
              </a:cxn>
              <a:cxn ang="0">
                <a:pos x="116" y="256"/>
              </a:cxn>
              <a:cxn ang="0">
                <a:pos x="0" y="140"/>
              </a:cxn>
              <a:cxn ang="0">
                <a:pos x="116" y="24"/>
              </a:cxn>
              <a:cxn ang="0">
                <a:pos x="116" y="140"/>
              </a:cxn>
              <a:cxn ang="0">
                <a:pos x="232" y="140"/>
              </a:cxn>
              <a:cxn ang="0">
                <a:pos x="116" y="256"/>
              </a:cxn>
            </a:cxnLst>
            <a:rect l="0" t="0" r="r" b="b"/>
            <a:pathLst>
              <a:path w="256" h="256">
                <a:moveTo>
                  <a:pt x="140" y="116"/>
                </a:moveTo>
                <a:cubicBezTo>
                  <a:pt x="140" y="0"/>
                  <a:pt x="140" y="0"/>
                  <a:pt x="140" y="0"/>
                </a:cubicBezTo>
                <a:cubicBezTo>
                  <a:pt x="204" y="0"/>
                  <a:pt x="256" y="52"/>
                  <a:pt x="256" y="116"/>
                </a:cubicBezTo>
                <a:lnTo>
                  <a:pt x="140" y="116"/>
                </a:lnTo>
                <a:close/>
                <a:moveTo>
                  <a:pt x="116" y="256"/>
                </a:moveTo>
                <a:cubicBezTo>
                  <a:pt x="52" y="256"/>
                  <a:pt x="0" y="204"/>
                  <a:pt x="0" y="140"/>
                </a:cubicBezTo>
                <a:cubicBezTo>
                  <a:pt x="0" y="76"/>
                  <a:pt x="52" y="24"/>
                  <a:pt x="116" y="24"/>
                </a:cubicBezTo>
                <a:cubicBezTo>
                  <a:pt x="116" y="140"/>
                  <a:pt x="116" y="140"/>
                  <a:pt x="116" y="140"/>
                </a:cubicBezTo>
                <a:cubicBezTo>
                  <a:pt x="232" y="140"/>
                  <a:pt x="232" y="140"/>
                  <a:pt x="232" y="140"/>
                </a:cubicBezTo>
                <a:cubicBezTo>
                  <a:pt x="232" y="204"/>
                  <a:pt x="180" y="256"/>
                  <a:pt x="116" y="256"/>
                </a:cubicBezTo>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5" name="Freeform 197"/>
          <p:cNvSpPr>
            <a:spLocks noEditPoints="1"/>
          </p:cNvSpPr>
          <p:nvPr/>
        </p:nvSpPr>
        <p:spPr bwMode="auto">
          <a:xfrm>
            <a:off x="6697081" y="3036895"/>
            <a:ext cx="376238" cy="363537"/>
          </a:xfrm>
          <a:custGeom>
            <a:avLst/>
            <a:gdLst/>
            <a:ahLst/>
            <a:cxnLst>
              <a:cxn ang="0">
                <a:pos x="240" y="220"/>
              </a:cxn>
              <a:cxn ang="0">
                <a:pos x="228" y="232"/>
              </a:cxn>
              <a:cxn ang="0">
                <a:pos x="221" y="230"/>
              </a:cxn>
              <a:cxn ang="0">
                <a:pos x="221" y="230"/>
              </a:cxn>
              <a:cxn ang="0">
                <a:pos x="163" y="186"/>
              </a:cxn>
              <a:cxn ang="0">
                <a:pos x="82" y="230"/>
              </a:cxn>
              <a:cxn ang="0">
                <a:pos x="82" y="230"/>
              </a:cxn>
              <a:cxn ang="0">
                <a:pos x="76" y="232"/>
              </a:cxn>
              <a:cxn ang="0">
                <a:pos x="69" y="230"/>
              </a:cxn>
              <a:cxn ang="0">
                <a:pos x="5" y="182"/>
              </a:cxn>
              <a:cxn ang="0">
                <a:pos x="0" y="172"/>
              </a:cxn>
              <a:cxn ang="0">
                <a:pos x="0" y="12"/>
              </a:cxn>
              <a:cxn ang="0">
                <a:pos x="12" y="0"/>
              </a:cxn>
              <a:cxn ang="0">
                <a:pos x="19" y="3"/>
              </a:cxn>
              <a:cxn ang="0">
                <a:pos x="19" y="3"/>
              </a:cxn>
              <a:cxn ang="0">
                <a:pos x="77" y="46"/>
              </a:cxn>
              <a:cxn ang="0">
                <a:pos x="159" y="1"/>
              </a:cxn>
              <a:cxn ang="0">
                <a:pos x="159" y="1"/>
              </a:cxn>
              <a:cxn ang="0">
                <a:pos x="164" y="0"/>
              </a:cxn>
              <a:cxn ang="0">
                <a:pos x="171" y="3"/>
              </a:cxn>
              <a:cxn ang="0">
                <a:pos x="171" y="3"/>
              </a:cxn>
              <a:cxn ang="0">
                <a:pos x="234" y="50"/>
              </a:cxn>
              <a:cxn ang="0">
                <a:pos x="235" y="51"/>
              </a:cxn>
              <a:cxn ang="0">
                <a:pos x="235" y="51"/>
              </a:cxn>
              <a:cxn ang="0">
                <a:pos x="235" y="51"/>
              </a:cxn>
              <a:cxn ang="0">
                <a:pos x="240" y="60"/>
              </a:cxn>
              <a:cxn ang="0">
                <a:pos x="240" y="220"/>
              </a:cxn>
              <a:cxn ang="0">
                <a:pos x="64" y="196"/>
              </a:cxn>
              <a:cxn ang="0">
                <a:pos x="64" y="66"/>
              </a:cxn>
              <a:cxn ang="0">
                <a:pos x="24" y="36"/>
              </a:cxn>
              <a:cxn ang="0">
                <a:pos x="24" y="166"/>
              </a:cxn>
              <a:cxn ang="0">
                <a:pos x="64" y="196"/>
              </a:cxn>
              <a:cxn ang="0">
                <a:pos x="152" y="32"/>
              </a:cxn>
              <a:cxn ang="0">
                <a:pos x="88" y="67"/>
              </a:cxn>
              <a:cxn ang="0">
                <a:pos x="88" y="200"/>
              </a:cxn>
              <a:cxn ang="0">
                <a:pos x="152" y="165"/>
              </a:cxn>
              <a:cxn ang="0">
                <a:pos x="152" y="32"/>
              </a:cxn>
              <a:cxn ang="0">
                <a:pos x="216" y="66"/>
              </a:cxn>
              <a:cxn ang="0">
                <a:pos x="176" y="36"/>
              </a:cxn>
              <a:cxn ang="0">
                <a:pos x="176" y="166"/>
              </a:cxn>
              <a:cxn ang="0">
                <a:pos x="216" y="196"/>
              </a:cxn>
              <a:cxn ang="0">
                <a:pos x="216" y="66"/>
              </a:cxn>
            </a:cxnLst>
            <a:rect l="0" t="0" r="r" b="b"/>
            <a:pathLst>
              <a:path w="240" h="232">
                <a:moveTo>
                  <a:pt x="240" y="220"/>
                </a:moveTo>
                <a:cubicBezTo>
                  <a:pt x="240" y="227"/>
                  <a:pt x="235" y="232"/>
                  <a:pt x="228" y="232"/>
                </a:cubicBezTo>
                <a:cubicBezTo>
                  <a:pt x="225" y="232"/>
                  <a:pt x="223" y="231"/>
                  <a:pt x="221" y="230"/>
                </a:cubicBezTo>
                <a:cubicBezTo>
                  <a:pt x="221" y="230"/>
                  <a:pt x="221" y="230"/>
                  <a:pt x="221" y="230"/>
                </a:cubicBezTo>
                <a:cubicBezTo>
                  <a:pt x="163" y="186"/>
                  <a:pt x="163" y="186"/>
                  <a:pt x="163" y="186"/>
                </a:cubicBezTo>
                <a:cubicBezTo>
                  <a:pt x="82" y="230"/>
                  <a:pt x="82" y="230"/>
                  <a:pt x="82" y="230"/>
                </a:cubicBezTo>
                <a:cubicBezTo>
                  <a:pt x="82" y="230"/>
                  <a:pt x="82" y="230"/>
                  <a:pt x="82" y="230"/>
                </a:cubicBezTo>
                <a:cubicBezTo>
                  <a:pt x="80" y="231"/>
                  <a:pt x="78" y="232"/>
                  <a:pt x="76" y="232"/>
                </a:cubicBezTo>
                <a:cubicBezTo>
                  <a:pt x="73" y="232"/>
                  <a:pt x="71" y="231"/>
                  <a:pt x="69" y="230"/>
                </a:cubicBezTo>
                <a:cubicBezTo>
                  <a:pt x="5" y="182"/>
                  <a:pt x="5" y="182"/>
                  <a:pt x="5" y="182"/>
                </a:cubicBezTo>
                <a:cubicBezTo>
                  <a:pt x="2" y="180"/>
                  <a:pt x="0" y="176"/>
                  <a:pt x="0" y="172"/>
                </a:cubicBezTo>
                <a:cubicBezTo>
                  <a:pt x="0" y="12"/>
                  <a:pt x="0" y="12"/>
                  <a:pt x="0" y="12"/>
                </a:cubicBezTo>
                <a:cubicBezTo>
                  <a:pt x="0" y="5"/>
                  <a:pt x="5" y="0"/>
                  <a:pt x="12" y="0"/>
                </a:cubicBezTo>
                <a:cubicBezTo>
                  <a:pt x="15" y="0"/>
                  <a:pt x="17" y="1"/>
                  <a:pt x="19" y="3"/>
                </a:cubicBezTo>
                <a:cubicBezTo>
                  <a:pt x="19" y="3"/>
                  <a:pt x="19" y="3"/>
                  <a:pt x="19" y="3"/>
                </a:cubicBezTo>
                <a:cubicBezTo>
                  <a:pt x="77" y="46"/>
                  <a:pt x="77" y="46"/>
                  <a:pt x="77" y="46"/>
                </a:cubicBezTo>
                <a:cubicBezTo>
                  <a:pt x="159" y="1"/>
                  <a:pt x="159" y="1"/>
                  <a:pt x="159" y="1"/>
                </a:cubicBezTo>
                <a:cubicBezTo>
                  <a:pt x="159" y="1"/>
                  <a:pt x="159" y="1"/>
                  <a:pt x="159" y="1"/>
                </a:cubicBezTo>
                <a:cubicBezTo>
                  <a:pt x="160" y="1"/>
                  <a:pt x="162" y="0"/>
                  <a:pt x="164" y="0"/>
                </a:cubicBezTo>
                <a:cubicBezTo>
                  <a:pt x="167" y="0"/>
                  <a:pt x="169" y="1"/>
                  <a:pt x="171" y="3"/>
                </a:cubicBezTo>
                <a:cubicBezTo>
                  <a:pt x="171" y="3"/>
                  <a:pt x="171" y="3"/>
                  <a:pt x="171" y="3"/>
                </a:cubicBezTo>
                <a:cubicBezTo>
                  <a:pt x="234" y="50"/>
                  <a:pt x="234" y="50"/>
                  <a:pt x="234" y="50"/>
                </a:cubicBezTo>
                <a:cubicBezTo>
                  <a:pt x="235" y="50"/>
                  <a:pt x="235" y="50"/>
                  <a:pt x="235" y="51"/>
                </a:cubicBezTo>
                <a:cubicBezTo>
                  <a:pt x="235" y="51"/>
                  <a:pt x="235" y="51"/>
                  <a:pt x="235" y="51"/>
                </a:cubicBezTo>
                <a:cubicBezTo>
                  <a:pt x="235" y="51"/>
                  <a:pt x="235" y="51"/>
                  <a:pt x="235" y="51"/>
                </a:cubicBezTo>
                <a:cubicBezTo>
                  <a:pt x="238" y="53"/>
                  <a:pt x="240" y="56"/>
                  <a:pt x="240" y="60"/>
                </a:cubicBezTo>
                <a:lnTo>
                  <a:pt x="240" y="220"/>
                </a:lnTo>
                <a:close/>
                <a:moveTo>
                  <a:pt x="64" y="196"/>
                </a:moveTo>
                <a:cubicBezTo>
                  <a:pt x="64" y="66"/>
                  <a:pt x="64" y="66"/>
                  <a:pt x="64" y="66"/>
                </a:cubicBezTo>
                <a:cubicBezTo>
                  <a:pt x="24" y="36"/>
                  <a:pt x="24" y="36"/>
                  <a:pt x="24" y="36"/>
                </a:cubicBezTo>
                <a:cubicBezTo>
                  <a:pt x="24" y="166"/>
                  <a:pt x="24" y="166"/>
                  <a:pt x="24" y="166"/>
                </a:cubicBezTo>
                <a:lnTo>
                  <a:pt x="64" y="196"/>
                </a:lnTo>
                <a:close/>
                <a:moveTo>
                  <a:pt x="152" y="32"/>
                </a:moveTo>
                <a:cubicBezTo>
                  <a:pt x="88" y="67"/>
                  <a:pt x="88" y="67"/>
                  <a:pt x="88" y="67"/>
                </a:cubicBezTo>
                <a:cubicBezTo>
                  <a:pt x="88" y="200"/>
                  <a:pt x="88" y="200"/>
                  <a:pt x="88" y="200"/>
                </a:cubicBezTo>
                <a:cubicBezTo>
                  <a:pt x="152" y="165"/>
                  <a:pt x="152" y="165"/>
                  <a:pt x="152" y="165"/>
                </a:cubicBezTo>
                <a:lnTo>
                  <a:pt x="152" y="32"/>
                </a:lnTo>
                <a:close/>
                <a:moveTo>
                  <a:pt x="216" y="66"/>
                </a:moveTo>
                <a:cubicBezTo>
                  <a:pt x="176" y="36"/>
                  <a:pt x="176" y="36"/>
                  <a:pt x="176" y="36"/>
                </a:cubicBezTo>
                <a:cubicBezTo>
                  <a:pt x="176" y="166"/>
                  <a:pt x="176" y="166"/>
                  <a:pt x="176" y="166"/>
                </a:cubicBezTo>
                <a:cubicBezTo>
                  <a:pt x="216" y="196"/>
                  <a:pt x="216" y="196"/>
                  <a:pt x="216" y="196"/>
                </a:cubicBezTo>
                <a:lnTo>
                  <a:pt x="216" y="66"/>
                </a:lnTo>
                <a:close/>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6" name="Freeform 216"/>
          <p:cNvSpPr>
            <a:spLocks noEditPoints="1"/>
          </p:cNvSpPr>
          <p:nvPr/>
        </p:nvSpPr>
        <p:spPr bwMode="auto">
          <a:xfrm>
            <a:off x="6608327" y="4128089"/>
            <a:ext cx="471126" cy="471126"/>
          </a:xfrm>
          <a:custGeom>
            <a:avLst/>
            <a:gdLst/>
            <a:ahLst/>
            <a:cxnLst>
              <a:cxn ang="0">
                <a:pos x="229" y="140"/>
              </a:cxn>
              <a:cxn ang="0">
                <a:pos x="59" y="53"/>
              </a:cxn>
              <a:cxn ang="0">
                <a:pos x="84" y="39"/>
              </a:cxn>
              <a:cxn ang="0">
                <a:pos x="86" y="43"/>
              </a:cxn>
              <a:cxn ang="0">
                <a:pos x="85" y="47"/>
              </a:cxn>
              <a:cxn ang="0">
                <a:pos x="88" y="51"/>
              </a:cxn>
              <a:cxn ang="0">
                <a:pos x="77" y="59"/>
              </a:cxn>
              <a:cxn ang="0">
                <a:pos x="73" y="67"/>
              </a:cxn>
              <a:cxn ang="0">
                <a:pos x="69" y="74"/>
              </a:cxn>
              <a:cxn ang="0">
                <a:pos x="61" y="71"/>
              </a:cxn>
              <a:cxn ang="0">
                <a:pos x="58" y="67"/>
              </a:cxn>
              <a:cxn ang="0">
                <a:pos x="58" y="60"/>
              </a:cxn>
              <a:cxn ang="0">
                <a:pos x="58" y="56"/>
              </a:cxn>
              <a:cxn ang="0">
                <a:pos x="47" y="66"/>
              </a:cxn>
              <a:cxn ang="0">
                <a:pos x="40" y="74"/>
              </a:cxn>
              <a:cxn ang="0">
                <a:pos x="53" y="94"/>
              </a:cxn>
              <a:cxn ang="0">
                <a:pos x="48" y="103"/>
              </a:cxn>
              <a:cxn ang="0">
                <a:pos x="42" y="103"/>
              </a:cxn>
              <a:cxn ang="0">
                <a:pos x="34" y="113"/>
              </a:cxn>
              <a:cxn ang="0">
                <a:pos x="32" y="113"/>
              </a:cxn>
              <a:cxn ang="0">
                <a:pos x="32" y="116"/>
              </a:cxn>
              <a:cxn ang="0">
                <a:pos x="29" y="134"/>
              </a:cxn>
              <a:cxn ang="0">
                <a:pos x="44" y="154"/>
              </a:cxn>
              <a:cxn ang="0">
                <a:pos x="69" y="187"/>
              </a:cxn>
              <a:cxn ang="0">
                <a:pos x="222" y="132"/>
              </a:cxn>
              <a:cxn ang="0">
                <a:pos x="204" y="140"/>
              </a:cxn>
              <a:cxn ang="0">
                <a:pos x="168" y="115"/>
              </a:cxn>
              <a:cxn ang="0">
                <a:pos x="166" y="135"/>
              </a:cxn>
              <a:cxn ang="0">
                <a:pos x="143" y="104"/>
              </a:cxn>
              <a:cxn ang="0">
                <a:pos x="156" y="93"/>
              </a:cxn>
              <a:cxn ang="0">
                <a:pos x="143" y="101"/>
              </a:cxn>
              <a:cxn ang="0">
                <a:pos x="139" y="105"/>
              </a:cxn>
              <a:cxn ang="0">
                <a:pos x="129" y="98"/>
              </a:cxn>
              <a:cxn ang="0">
                <a:pos x="111" y="105"/>
              </a:cxn>
              <a:cxn ang="0">
                <a:pos x="110" y="91"/>
              </a:cxn>
              <a:cxn ang="0">
                <a:pos x="120" y="81"/>
              </a:cxn>
              <a:cxn ang="0">
                <a:pos x="132" y="79"/>
              </a:cxn>
              <a:cxn ang="0">
                <a:pos x="141" y="70"/>
              </a:cxn>
              <a:cxn ang="0">
                <a:pos x="134" y="71"/>
              </a:cxn>
              <a:cxn ang="0">
                <a:pos x="124" y="72"/>
              </a:cxn>
              <a:cxn ang="0">
                <a:pos x="119" y="67"/>
              </a:cxn>
              <a:cxn ang="0">
                <a:pos x="136" y="53"/>
              </a:cxn>
              <a:cxn ang="0">
                <a:pos x="161" y="59"/>
              </a:cxn>
              <a:cxn ang="0">
                <a:pos x="181" y="41"/>
              </a:cxn>
              <a:cxn ang="0">
                <a:pos x="173" y="91"/>
              </a:cxn>
              <a:cxn ang="0">
                <a:pos x="175" y="100"/>
              </a:cxn>
              <a:cxn ang="0">
                <a:pos x="138" y="28"/>
              </a:cxn>
              <a:cxn ang="0">
                <a:pos x="133" y="30"/>
              </a:cxn>
              <a:cxn ang="0">
                <a:pos x="106" y="76"/>
              </a:cxn>
              <a:cxn ang="0">
                <a:pos x="100" y="84"/>
              </a:cxn>
              <a:cxn ang="0">
                <a:pos x="121" y="106"/>
              </a:cxn>
              <a:cxn ang="0">
                <a:pos x="159" y="133"/>
              </a:cxn>
              <a:cxn ang="0">
                <a:pos x="156" y="171"/>
              </a:cxn>
              <a:cxn ang="0">
                <a:pos x="127" y="166"/>
              </a:cxn>
              <a:cxn ang="0">
                <a:pos x="100" y="143"/>
              </a:cxn>
              <a:cxn ang="0">
                <a:pos x="84" y="62"/>
              </a:cxn>
              <a:cxn ang="0">
                <a:pos x="165" y="169"/>
              </a:cxn>
              <a:cxn ang="0">
                <a:pos x="140" y="107"/>
              </a:cxn>
              <a:cxn ang="0">
                <a:pos x="123" y="99"/>
              </a:cxn>
              <a:cxn ang="0">
                <a:pos x="85" y="48"/>
              </a:cxn>
              <a:cxn ang="0">
                <a:pos x="57" y="96"/>
              </a:cxn>
              <a:cxn ang="0">
                <a:pos x="41" y="137"/>
              </a:cxn>
              <a:cxn ang="0">
                <a:pos x="206" y="140"/>
              </a:cxn>
            </a:cxnLst>
            <a:rect l="0" t="0" r="r" b="b"/>
            <a:pathLst>
              <a:path w="256" h="256">
                <a:moveTo>
                  <a:pt x="128" y="256"/>
                </a:moveTo>
                <a:cubicBezTo>
                  <a:pt x="57" y="256"/>
                  <a:pt x="0" y="199"/>
                  <a:pt x="0" y="128"/>
                </a:cubicBezTo>
                <a:cubicBezTo>
                  <a:pt x="0" y="57"/>
                  <a:pt x="57" y="0"/>
                  <a:pt x="128" y="0"/>
                </a:cubicBezTo>
                <a:cubicBezTo>
                  <a:pt x="199" y="0"/>
                  <a:pt x="256" y="57"/>
                  <a:pt x="256" y="128"/>
                </a:cubicBezTo>
                <a:cubicBezTo>
                  <a:pt x="256" y="199"/>
                  <a:pt x="199" y="256"/>
                  <a:pt x="128" y="256"/>
                </a:cubicBezTo>
                <a:moveTo>
                  <a:pt x="200" y="53"/>
                </a:moveTo>
                <a:cubicBezTo>
                  <a:pt x="199" y="53"/>
                  <a:pt x="199" y="53"/>
                  <a:pt x="198" y="53"/>
                </a:cubicBezTo>
                <a:cubicBezTo>
                  <a:pt x="198" y="53"/>
                  <a:pt x="198" y="52"/>
                  <a:pt x="198" y="52"/>
                </a:cubicBezTo>
                <a:cubicBezTo>
                  <a:pt x="198" y="52"/>
                  <a:pt x="198" y="52"/>
                  <a:pt x="198" y="51"/>
                </a:cubicBezTo>
                <a:cubicBezTo>
                  <a:pt x="198" y="51"/>
                  <a:pt x="197" y="51"/>
                  <a:pt x="197" y="50"/>
                </a:cubicBezTo>
                <a:cubicBezTo>
                  <a:pt x="197" y="50"/>
                  <a:pt x="197" y="50"/>
                  <a:pt x="197" y="50"/>
                </a:cubicBezTo>
                <a:cubicBezTo>
                  <a:pt x="197" y="51"/>
                  <a:pt x="197" y="51"/>
                  <a:pt x="197" y="51"/>
                </a:cubicBezTo>
                <a:cubicBezTo>
                  <a:pt x="197" y="51"/>
                  <a:pt x="197" y="51"/>
                  <a:pt x="197" y="52"/>
                </a:cubicBezTo>
                <a:cubicBezTo>
                  <a:pt x="197" y="52"/>
                  <a:pt x="197" y="53"/>
                  <a:pt x="197" y="53"/>
                </a:cubicBezTo>
                <a:cubicBezTo>
                  <a:pt x="197" y="54"/>
                  <a:pt x="197" y="54"/>
                  <a:pt x="198" y="54"/>
                </a:cubicBezTo>
                <a:cubicBezTo>
                  <a:pt x="198" y="55"/>
                  <a:pt x="198" y="55"/>
                  <a:pt x="197" y="55"/>
                </a:cubicBezTo>
                <a:cubicBezTo>
                  <a:pt x="197" y="55"/>
                  <a:pt x="197" y="56"/>
                  <a:pt x="197" y="56"/>
                </a:cubicBezTo>
                <a:cubicBezTo>
                  <a:pt x="197" y="56"/>
                  <a:pt x="197" y="57"/>
                  <a:pt x="196" y="57"/>
                </a:cubicBezTo>
                <a:cubicBezTo>
                  <a:pt x="196" y="57"/>
                  <a:pt x="196" y="57"/>
                  <a:pt x="195" y="57"/>
                </a:cubicBezTo>
                <a:cubicBezTo>
                  <a:pt x="196" y="58"/>
                  <a:pt x="196" y="58"/>
                  <a:pt x="196" y="58"/>
                </a:cubicBezTo>
                <a:cubicBezTo>
                  <a:pt x="195" y="58"/>
                  <a:pt x="195" y="58"/>
                  <a:pt x="195" y="58"/>
                </a:cubicBezTo>
                <a:cubicBezTo>
                  <a:pt x="195" y="58"/>
                  <a:pt x="194" y="58"/>
                  <a:pt x="194" y="58"/>
                </a:cubicBezTo>
                <a:cubicBezTo>
                  <a:pt x="194" y="58"/>
                  <a:pt x="193" y="58"/>
                  <a:pt x="193" y="58"/>
                </a:cubicBezTo>
                <a:cubicBezTo>
                  <a:pt x="193" y="59"/>
                  <a:pt x="194" y="59"/>
                  <a:pt x="195" y="59"/>
                </a:cubicBezTo>
                <a:cubicBezTo>
                  <a:pt x="195" y="59"/>
                  <a:pt x="195" y="59"/>
                  <a:pt x="195" y="59"/>
                </a:cubicBezTo>
                <a:cubicBezTo>
                  <a:pt x="196" y="59"/>
                  <a:pt x="196" y="59"/>
                  <a:pt x="196" y="59"/>
                </a:cubicBezTo>
                <a:cubicBezTo>
                  <a:pt x="197" y="58"/>
                  <a:pt x="197" y="58"/>
                  <a:pt x="198" y="58"/>
                </a:cubicBezTo>
                <a:cubicBezTo>
                  <a:pt x="198" y="57"/>
                  <a:pt x="198" y="57"/>
                  <a:pt x="198" y="57"/>
                </a:cubicBezTo>
                <a:cubicBezTo>
                  <a:pt x="199" y="57"/>
                  <a:pt x="199" y="57"/>
                  <a:pt x="199" y="57"/>
                </a:cubicBezTo>
                <a:cubicBezTo>
                  <a:pt x="199" y="56"/>
                  <a:pt x="199" y="56"/>
                  <a:pt x="199" y="56"/>
                </a:cubicBezTo>
                <a:cubicBezTo>
                  <a:pt x="199" y="55"/>
                  <a:pt x="199" y="55"/>
                  <a:pt x="199" y="55"/>
                </a:cubicBezTo>
                <a:cubicBezTo>
                  <a:pt x="199" y="54"/>
                  <a:pt x="200" y="54"/>
                  <a:pt x="201" y="54"/>
                </a:cubicBezTo>
                <a:cubicBezTo>
                  <a:pt x="201" y="54"/>
                  <a:pt x="200" y="53"/>
                  <a:pt x="200" y="53"/>
                </a:cubicBezTo>
                <a:cubicBezTo>
                  <a:pt x="200" y="53"/>
                  <a:pt x="200" y="53"/>
                  <a:pt x="200" y="53"/>
                </a:cubicBezTo>
                <a:moveTo>
                  <a:pt x="203" y="56"/>
                </a:moveTo>
                <a:cubicBezTo>
                  <a:pt x="203" y="56"/>
                  <a:pt x="203" y="56"/>
                  <a:pt x="202" y="56"/>
                </a:cubicBezTo>
                <a:cubicBezTo>
                  <a:pt x="202" y="56"/>
                  <a:pt x="202" y="56"/>
                  <a:pt x="202" y="56"/>
                </a:cubicBezTo>
                <a:cubicBezTo>
                  <a:pt x="202" y="56"/>
                  <a:pt x="203" y="56"/>
                  <a:pt x="203" y="56"/>
                </a:cubicBezTo>
                <a:cubicBezTo>
                  <a:pt x="202" y="55"/>
                  <a:pt x="202" y="55"/>
                  <a:pt x="202" y="55"/>
                </a:cubicBezTo>
                <a:cubicBezTo>
                  <a:pt x="202" y="55"/>
                  <a:pt x="202" y="56"/>
                  <a:pt x="202" y="56"/>
                </a:cubicBezTo>
                <a:cubicBezTo>
                  <a:pt x="202" y="57"/>
                  <a:pt x="203" y="57"/>
                  <a:pt x="203" y="56"/>
                </a:cubicBezTo>
                <a:cubicBezTo>
                  <a:pt x="203" y="56"/>
                  <a:pt x="203" y="56"/>
                  <a:pt x="203" y="56"/>
                </a:cubicBezTo>
                <a:moveTo>
                  <a:pt x="231" y="143"/>
                </a:moveTo>
                <a:cubicBezTo>
                  <a:pt x="231" y="141"/>
                  <a:pt x="231" y="138"/>
                  <a:pt x="232" y="136"/>
                </a:cubicBezTo>
                <a:cubicBezTo>
                  <a:pt x="232" y="136"/>
                  <a:pt x="232" y="136"/>
                  <a:pt x="232" y="136"/>
                </a:cubicBezTo>
                <a:cubicBezTo>
                  <a:pt x="231" y="136"/>
                  <a:pt x="231" y="136"/>
                  <a:pt x="231" y="136"/>
                </a:cubicBezTo>
                <a:cubicBezTo>
                  <a:pt x="231" y="135"/>
                  <a:pt x="231" y="136"/>
                  <a:pt x="230" y="136"/>
                </a:cubicBezTo>
                <a:cubicBezTo>
                  <a:pt x="230" y="136"/>
                  <a:pt x="230" y="136"/>
                  <a:pt x="230" y="136"/>
                </a:cubicBezTo>
                <a:cubicBezTo>
                  <a:pt x="230" y="135"/>
                  <a:pt x="230" y="135"/>
                  <a:pt x="230" y="135"/>
                </a:cubicBezTo>
                <a:cubicBezTo>
                  <a:pt x="229" y="135"/>
                  <a:pt x="229" y="135"/>
                  <a:pt x="229" y="135"/>
                </a:cubicBezTo>
                <a:cubicBezTo>
                  <a:pt x="229" y="135"/>
                  <a:pt x="229" y="135"/>
                  <a:pt x="229" y="136"/>
                </a:cubicBezTo>
                <a:cubicBezTo>
                  <a:pt x="229" y="136"/>
                  <a:pt x="229" y="136"/>
                  <a:pt x="229" y="136"/>
                </a:cubicBezTo>
                <a:cubicBezTo>
                  <a:pt x="228" y="137"/>
                  <a:pt x="227" y="139"/>
                  <a:pt x="228" y="140"/>
                </a:cubicBezTo>
                <a:cubicBezTo>
                  <a:pt x="228" y="140"/>
                  <a:pt x="228" y="140"/>
                  <a:pt x="229" y="140"/>
                </a:cubicBezTo>
                <a:cubicBezTo>
                  <a:pt x="229" y="140"/>
                  <a:pt x="229" y="140"/>
                  <a:pt x="229" y="141"/>
                </a:cubicBezTo>
                <a:cubicBezTo>
                  <a:pt x="229" y="140"/>
                  <a:pt x="229" y="140"/>
                  <a:pt x="229" y="140"/>
                </a:cubicBezTo>
                <a:cubicBezTo>
                  <a:pt x="229" y="142"/>
                  <a:pt x="229" y="143"/>
                  <a:pt x="231" y="142"/>
                </a:cubicBezTo>
                <a:cubicBezTo>
                  <a:pt x="231" y="143"/>
                  <a:pt x="231" y="143"/>
                  <a:pt x="231" y="143"/>
                </a:cubicBezTo>
                <a:moveTo>
                  <a:pt x="28" y="153"/>
                </a:moveTo>
                <a:cubicBezTo>
                  <a:pt x="28" y="152"/>
                  <a:pt x="27" y="152"/>
                  <a:pt x="28" y="151"/>
                </a:cubicBezTo>
                <a:cubicBezTo>
                  <a:pt x="28" y="151"/>
                  <a:pt x="29" y="151"/>
                  <a:pt x="29" y="151"/>
                </a:cubicBezTo>
                <a:cubicBezTo>
                  <a:pt x="29" y="151"/>
                  <a:pt x="29" y="151"/>
                  <a:pt x="29" y="152"/>
                </a:cubicBezTo>
                <a:cubicBezTo>
                  <a:pt x="29" y="152"/>
                  <a:pt x="29" y="151"/>
                  <a:pt x="29" y="151"/>
                </a:cubicBezTo>
                <a:cubicBezTo>
                  <a:pt x="29" y="151"/>
                  <a:pt x="29" y="151"/>
                  <a:pt x="29" y="151"/>
                </a:cubicBezTo>
                <a:cubicBezTo>
                  <a:pt x="30" y="151"/>
                  <a:pt x="31" y="151"/>
                  <a:pt x="31" y="151"/>
                </a:cubicBezTo>
                <a:cubicBezTo>
                  <a:pt x="31" y="150"/>
                  <a:pt x="30" y="150"/>
                  <a:pt x="30" y="150"/>
                </a:cubicBezTo>
                <a:cubicBezTo>
                  <a:pt x="30" y="149"/>
                  <a:pt x="31" y="150"/>
                  <a:pt x="31" y="150"/>
                </a:cubicBezTo>
                <a:cubicBezTo>
                  <a:pt x="31" y="150"/>
                  <a:pt x="31" y="150"/>
                  <a:pt x="31" y="150"/>
                </a:cubicBezTo>
                <a:cubicBezTo>
                  <a:pt x="31" y="149"/>
                  <a:pt x="31" y="149"/>
                  <a:pt x="31" y="149"/>
                </a:cubicBezTo>
                <a:cubicBezTo>
                  <a:pt x="31" y="149"/>
                  <a:pt x="30" y="149"/>
                  <a:pt x="30" y="149"/>
                </a:cubicBezTo>
                <a:cubicBezTo>
                  <a:pt x="30" y="149"/>
                  <a:pt x="30" y="149"/>
                  <a:pt x="29" y="149"/>
                </a:cubicBezTo>
                <a:cubicBezTo>
                  <a:pt x="29" y="149"/>
                  <a:pt x="29" y="149"/>
                  <a:pt x="29" y="149"/>
                </a:cubicBezTo>
                <a:cubicBezTo>
                  <a:pt x="28" y="149"/>
                  <a:pt x="28" y="149"/>
                  <a:pt x="28" y="150"/>
                </a:cubicBezTo>
                <a:cubicBezTo>
                  <a:pt x="28" y="150"/>
                  <a:pt x="28" y="150"/>
                  <a:pt x="28" y="150"/>
                </a:cubicBezTo>
                <a:cubicBezTo>
                  <a:pt x="28" y="150"/>
                  <a:pt x="28" y="151"/>
                  <a:pt x="27" y="151"/>
                </a:cubicBezTo>
                <a:cubicBezTo>
                  <a:pt x="27" y="151"/>
                  <a:pt x="27" y="151"/>
                  <a:pt x="27" y="151"/>
                </a:cubicBezTo>
                <a:cubicBezTo>
                  <a:pt x="27" y="150"/>
                  <a:pt x="27" y="150"/>
                  <a:pt x="27" y="150"/>
                </a:cubicBezTo>
                <a:cubicBezTo>
                  <a:pt x="27" y="150"/>
                  <a:pt x="27" y="150"/>
                  <a:pt x="27" y="150"/>
                </a:cubicBezTo>
                <a:cubicBezTo>
                  <a:pt x="27" y="150"/>
                  <a:pt x="27" y="150"/>
                  <a:pt x="27" y="150"/>
                </a:cubicBezTo>
                <a:cubicBezTo>
                  <a:pt x="27" y="150"/>
                  <a:pt x="27" y="150"/>
                  <a:pt x="26" y="150"/>
                </a:cubicBezTo>
                <a:cubicBezTo>
                  <a:pt x="26" y="150"/>
                  <a:pt x="26" y="150"/>
                  <a:pt x="26" y="150"/>
                </a:cubicBezTo>
                <a:cubicBezTo>
                  <a:pt x="27" y="151"/>
                  <a:pt x="27" y="152"/>
                  <a:pt x="27" y="153"/>
                </a:cubicBezTo>
                <a:cubicBezTo>
                  <a:pt x="27" y="153"/>
                  <a:pt x="27" y="153"/>
                  <a:pt x="28" y="153"/>
                </a:cubicBezTo>
                <a:moveTo>
                  <a:pt x="32" y="112"/>
                </a:moveTo>
                <a:cubicBezTo>
                  <a:pt x="32" y="112"/>
                  <a:pt x="32" y="112"/>
                  <a:pt x="32" y="112"/>
                </a:cubicBezTo>
                <a:cubicBezTo>
                  <a:pt x="32" y="112"/>
                  <a:pt x="32" y="112"/>
                  <a:pt x="32" y="112"/>
                </a:cubicBezTo>
                <a:cubicBezTo>
                  <a:pt x="32" y="112"/>
                  <a:pt x="32" y="112"/>
                  <a:pt x="32" y="112"/>
                </a:cubicBezTo>
                <a:moveTo>
                  <a:pt x="30" y="94"/>
                </a:moveTo>
                <a:cubicBezTo>
                  <a:pt x="30" y="94"/>
                  <a:pt x="30" y="94"/>
                  <a:pt x="30" y="94"/>
                </a:cubicBezTo>
                <a:cubicBezTo>
                  <a:pt x="30" y="94"/>
                  <a:pt x="30" y="93"/>
                  <a:pt x="30" y="93"/>
                </a:cubicBezTo>
                <a:cubicBezTo>
                  <a:pt x="30" y="93"/>
                  <a:pt x="30" y="94"/>
                  <a:pt x="30" y="94"/>
                </a:cubicBezTo>
                <a:moveTo>
                  <a:pt x="59" y="53"/>
                </a:moveTo>
                <a:cubicBezTo>
                  <a:pt x="59" y="53"/>
                  <a:pt x="59" y="53"/>
                  <a:pt x="59" y="53"/>
                </a:cubicBezTo>
                <a:cubicBezTo>
                  <a:pt x="58" y="53"/>
                  <a:pt x="58" y="53"/>
                  <a:pt x="58" y="53"/>
                </a:cubicBezTo>
                <a:cubicBezTo>
                  <a:pt x="58" y="53"/>
                  <a:pt x="58" y="53"/>
                  <a:pt x="58" y="53"/>
                </a:cubicBezTo>
                <a:cubicBezTo>
                  <a:pt x="58" y="53"/>
                  <a:pt x="58" y="53"/>
                  <a:pt x="58" y="53"/>
                </a:cubicBezTo>
                <a:cubicBezTo>
                  <a:pt x="58" y="53"/>
                  <a:pt x="58" y="53"/>
                  <a:pt x="59" y="53"/>
                </a:cubicBezTo>
                <a:cubicBezTo>
                  <a:pt x="59" y="53"/>
                  <a:pt x="59" y="53"/>
                  <a:pt x="59" y="53"/>
                </a:cubicBezTo>
                <a:cubicBezTo>
                  <a:pt x="59" y="53"/>
                  <a:pt x="58" y="53"/>
                  <a:pt x="58" y="53"/>
                </a:cubicBezTo>
                <a:cubicBezTo>
                  <a:pt x="58" y="53"/>
                  <a:pt x="58" y="53"/>
                  <a:pt x="59" y="52"/>
                </a:cubicBezTo>
                <a:cubicBezTo>
                  <a:pt x="58" y="52"/>
                  <a:pt x="57" y="52"/>
                  <a:pt x="57" y="52"/>
                </a:cubicBezTo>
                <a:cubicBezTo>
                  <a:pt x="57" y="52"/>
                  <a:pt x="57" y="52"/>
                  <a:pt x="57" y="52"/>
                </a:cubicBezTo>
                <a:cubicBezTo>
                  <a:pt x="57" y="52"/>
                  <a:pt x="57" y="52"/>
                  <a:pt x="57" y="52"/>
                </a:cubicBezTo>
                <a:cubicBezTo>
                  <a:pt x="58" y="52"/>
                  <a:pt x="58" y="52"/>
                  <a:pt x="58" y="52"/>
                </a:cubicBezTo>
                <a:cubicBezTo>
                  <a:pt x="58" y="52"/>
                  <a:pt x="58" y="52"/>
                  <a:pt x="58" y="52"/>
                </a:cubicBezTo>
                <a:cubicBezTo>
                  <a:pt x="58" y="52"/>
                  <a:pt x="58" y="52"/>
                  <a:pt x="58" y="52"/>
                </a:cubicBezTo>
                <a:cubicBezTo>
                  <a:pt x="58" y="52"/>
                  <a:pt x="58" y="52"/>
                  <a:pt x="58" y="52"/>
                </a:cubicBezTo>
                <a:cubicBezTo>
                  <a:pt x="57" y="52"/>
                  <a:pt x="57" y="52"/>
                  <a:pt x="56" y="53"/>
                </a:cubicBezTo>
                <a:cubicBezTo>
                  <a:pt x="57" y="53"/>
                  <a:pt x="57" y="53"/>
                  <a:pt x="57" y="53"/>
                </a:cubicBezTo>
                <a:cubicBezTo>
                  <a:pt x="57" y="53"/>
                  <a:pt x="58" y="53"/>
                  <a:pt x="58" y="53"/>
                </a:cubicBezTo>
                <a:cubicBezTo>
                  <a:pt x="58" y="53"/>
                  <a:pt x="59" y="53"/>
                  <a:pt x="59" y="53"/>
                </a:cubicBezTo>
                <a:cubicBezTo>
                  <a:pt x="59" y="53"/>
                  <a:pt x="59" y="53"/>
                  <a:pt x="59" y="53"/>
                </a:cubicBezTo>
                <a:cubicBezTo>
                  <a:pt x="59" y="53"/>
                  <a:pt x="59" y="53"/>
                  <a:pt x="59" y="53"/>
                </a:cubicBezTo>
                <a:moveTo>
                  <a:pt x="54" y="55"/>
                </a:moveTo>
                <a:cubicBezTo>
                  <a:pt x="54" y="55"/>
                  <a:pt x="54" y="55"/>
                  <a:pt x="54" y="55"/>
                </a:cubicBezTo>
                <a:cubicBezTo>
                  <a:pt x="54" y="55"/>
                  <a:pt x="54" y="55"/>
                  <a:pt x="54" y="55"/>
                </a:cubicBezTo>
                <a:cubicBezTo>
                  <a:pt x="54" y="55"/>
                  <a:pt x="54" y="55"/>
                  <a:pt x="54" y="55"/>
                </a:cubicBezTo>
                <a:moveTo>
                  <a:pt x="83" y="34"/>
                </a:moveTo>
                <a:cubicBezTo>
                  <a:pt x="83" y="34"/>
                  <a:pt x="83" y="34"/>
                  <a:pt x="83" y="34"/>
                </a:cubicBezTo>
                <a:cubicBezTo>
                  <a:pt x="83" y="35"/>
                  <a:pt x="84" y="35"/>
                  <a:pt x="84" y="35"/>
                </a:cubicBezTo>
                <a:cubicBezTo>
                  <a:pt x="84" y="35"/>
                  <a:pt x="83" y="35"/>
                  <a:pt x="83" y="35"/>
                </a:cubicBezTo>
                <a:cubicBezTo>
                  <a:pt x="83" y="35"/>
                  <a:pt x="83" y="35"/>
                  <a:pt x="83" y="35"/>
                </a:cubicBezTo>
                <a:cubicBezTo>
                  <a:pt x="83" y="35"/>
                  <a:pt x="83" y="35"/>
                  <a:pt x="83" y="35"/>
                </a:cubicBezTo>
                <a:cubicBezTo>
                  <a:pt x="83" y="35"/>
                  <a:pt x="83" y="34"/>
                  <a:pt x="83" y="34"/>
                </a:cubicBezTo>
                <a:cubicBezTo>
                  <a:pt x="83" y="35"/>
                  <a:pt x="82" y="35"/>
                  <a:pt x="82" y="35"/>
                </a:cubicBezTo>
                <a:cubicBezTo>
                  <a:pt x="82" y="35"/>
                  <a:pt x="82" y="35"/>
                  <a:pt x="82" y="35"/>
                </a:cubicBezTo>
                <a:cubicBezTo>
                  <a:pt x="82" y="35"/>
                  <a:pt x="82" y="35"/>
                  <a:pt x="82" y="35"/>
                </a:cubicBezTo>
                <a:cubicBezTo>
                  <a:pt x="82" y="35"/>
                  <a:pt x="82" y="35"/>
                  <a:pt x="82" y="35"/>
                </a:cubicBezTo>
                <a:cubicBezTo>
                  <a:pt x="82" y="35"/>
                  <a:pt x="82" y="36"/>
                  <a:pt x="81" y="36"/>
                </a:cubicBezTo>
                <a:cubicBezTo>
                  <a:pt x="81" y="36"/>
                  <a:pt x="81" y="36"/>
                  <a:pt x="81" y="36"/>
                </a:cubicBezTo>
                <a:cubicBezTo>
                  <a:pt x="81" y="36"/>
                  <a:pt x="82" y="36"/>
                  <a:pt x="82" y="36"/>
                </a:cubicBezTo>
                <a:cubicBezTo>
                  <a:pt x="82" y="36"/>
                  <a:pt x="82" y="35"/>
                  <a:pt x="82" y="35"/>
                </a:cubicBezTo>
                <a:cubicBezTo>
                  <a:pt x="82" y="35"/>
                  <a:pt x="82" y="35"/>
                  <a:pt x="82" y="35"/>
                </a:cubicBezTo>
                <a:cubicBezTo>
                  <a:pt x="83" y="35"/>
                  <a:pt x="83" y="35"/>
                  <a:pt x="83" y="35"/>
                </a:cubicBezTo>
                <a:cubicBezTo>
                  <a:pt x="83" y="35"/>
                  <a:pt x="83" y="36"/>
                  <a:pt x="83" y="36"/>
                </a:cubicBezTo>
                <a:cubicBezTo>
                  <a:pt x="84" y="36"/>
                  <a:pt x="84" y="36"/>
                  <a:pt x="84" y="36"/>
                </a:cubicBezTo>
                <a:cubicBezTo>
                  <a:pt x="84" y="36"/>
                  <a:pt x="84" y="37"/>
                  <a:pt x="84" y="37"/>
                </a:cubicBezTo>
                <a:cubicBezTo>
                  <a:pt x="84" y="37"/>
                  <a:pt x="84" y="36"/>
                  <a:pt x="84" y="36"/>
                </a:cubicBezTo>
                <a:cubicBezTo>
                  <a:pt x="83" y="36"/>
                  <a:pt x="83" y="37"/>
                  <a:pt x="83" y="37"/>
                </a:cubicBezTo>
                <a:cubicBezTo>
                  <a:pt x="83" y="37"/>
                  <a:pt x="83" y="37"/>
                  <a:pt x="82" y="36"/>
                </a:cubicBezTo>
                <a:cubicBezTo>
                  <a:pt x="82" y="36"/>
                  <a:pt x="82" y="36"/>
                  <a:pt x="82" y="36"/>
                </a:cubicBezTo>
                <a:cubicBezTo>
                  <a:pt x="82" y="36"/>
                  <a:pt x="82" y="36"/>
                  <a:pt x="82" y="36"/>
                </a:cubicBezTo>
                <a:cubicBezTo>
                  <a:pt x="82" y="37"/>
                  <a:pt x="82" y="37"/>
                  <a:pt x="82" y="37"/>
                </a:cubicBezTo>
                <a:cubicBezTo>
                  <a:pt x="82" y="37"/>
                  <a:pt x="82" y="37"/>
                  <a:pt x="82" y="37"/>
                </a:cubicBezTo>
                <a:cubicBezTo>
                  <a:pt x="82" y="37"/>
                  <a:pt x="82"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2" y="37"/>
                  <a:pt x="82" y="37"/>
                </a:cubicBezTo>
                <a:cubicBezTo>
                  <a:pt x="82" y="37"/>
                  <a:pt x="83" y="38"/>
                  <a:pt x="83" y="38"/>
                </a:cubicBezTo>
                <a:cubicBezTo>
                  <a:pt x="83" y="37"/>
                  <a:pt x="83" y="37"/>
                  <a:pt x="84" y="37"/>
                </a:cubicBezTo>
                <a:cubicBezTo>
                  <a:pt x="84" y="37"/>
                  <a:pt x="84" y="37"/>
                  <a:pt x="84" y="37"/>
                </a:cubicBezTo>
                <a:cubicBezTo>
                  <a:pt x="84" y="38"/>
                  <a:pt x="84" y="38"/>
                  <a:pt x="84" y="38"/>
                </a:cubicBezTo>
                <a:cubicBezTo>
                  <a:pt x="84" y="38"/>
                  <a:pt x="84" y="38"/>
                  <a:pt x="84" y="38"/>
                </a:cubicBezTo>
                <a:cubicBezTo>
                  <a:pt x="85" y="38"/>
                  <a:pt x="85" y="37"/>
                  <a:pt x="85" y="37"/>
                </a:cubicBezTo>
                <a:cubicBezTo>
                  <a:pt x="85" y="37"/>
                  <a:pt x="86" y="37"/>
                  <a:pt x="86" y="38"/>
                </a:cubicBezTo>
                <a:cubicBezTo>
                  <a:pt x="86" y="38"/>
                  <a:pt x="86" y="38"/>
                  <a:pt x="85" y="38"/>
                </a:cubicBezTo>
                <a:cubicBezTo>
                  <a:pt x="85" y="38"/>
                  <a:pt x="85" y="38"/>
                  <a:pt x="85" y="38"/>
                </a:cubicBezTo>
                <a:cubicBezTo>
                  <a:pt x="85" y="38"/>
                  <a:pt x="85" y="38"/>
                  <a:pt x="85" y="38"/>
                </a:cubicBezTo>
                <a:cubicBezTo>
                  <a:pt x="84" y="38"/>
                  <a:pt x="84" y="38"/>
                  <a:pt x="84" y="38"/>
                </a:cubicBezTo>
                <a:cubicBezTo>
                  <a:pt x="84" y="38"/>
                  <a:pt x="83" y="38"/>
                  <a:pt x="83" y="38"/>
                </a:cubicBezTo>
                <a:cubicBezTo>
                  <a:pt x="83" y="38"/>
                  <a:pt x="83" y="38"/>
                  <a:pt x="83" y="38"/>
                </a:cubicBezTo>
                <a:cubicBezTo>
                  <a:pt x="83" y="38"/>
                  <a:pt x="84" y="39"/>
                  <a:pt x="84" y="39"/>
                </a:cubicBezTo>
                <a:cubicBezTo>
                  <a:pt x="84" y="39"/>
                  <a:pt x="83" y="39"/>
                  <a:pt x="83"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5" y="39"/>
                  <a:pt x="85" y="39"/>
                </a:cubicBezTo>
                <a:cubicBezTo>
                  <a:pt x="86" y="39"/>
                  <a:pt x="86" y="39"/>
                  <a:pt x="86" y="39"/>
                </a:cubicBezTo>
                <a:cubicBezTo>
                  <a:pt x="86" y="39"/>
                  <a:pt x="87" y="40"/>
                  <a:pt x="86" y="40"/>
                </a:cubicBezTo>
                <a:cubicBezTo>
                  <a:pt x="86" y="40"/>
                  <a:pt x="86" y="40"/>
                  <a:pt x="86" y="40"/>
                </a:cubicBezTo>
                <a:cubicBezTo>
                  <a:pt x="86" y="40"/>
                  <a:pt x="86" y="40"/>
                  <a:pt x="86" y="40"/>
                </a:cubicBezTo>
                <a:cubicBezTo>
                  <a:pt x="85" y="40"/>
                  <a:pt x="85" y="41"/>
                  <a:pt x="85" y="41"/>
                </a:cubicBezTo>
                <a:cubicBezTo>
                  <a:pt x="85" y="41"/>
                  <a:pt x="85" y="41"/>
                  <a:pt x="85" y="41"/>
                </a:cubicBezTo>
                <a:cubicBezTo>
                  <a:pt x="84" y="41"/>
                  <a:pt x="84" y="41"/>
                  <a:pt x="84" y="41"/>
                </a:cubicBezTo>
                <a:cubicBezTo>
                  <a:pt x="84" y="41"/>
                  <a:pt x="83" y="41"/>
                  <a:pt x="83" y="41"/>
                </a:cubicBezTo>
                <a:cubicBezTo>
                  <a:pt x="83" y="41"/>
                  <a:pt x="83" y="41"/>
                  <a:pt x="83" y="41"/>
                </a:cubicBezTo>
                <a:cubicBezTo>
                  <a:pt x="83" y="41"/>
                  <a:pt x="84" y="41"/>
                  <a:pt x="84" y="41"/>
                </a:cubicBezTo>
                <a:cubicBezTo>
                  <a:pt x="84" y="40"/>
                  <a:pt x="84" y="40"/>
                  <a:pt x="84" y="40"/>
                </a:cubicBezTo>
                <a:cubicBezTo>
                  <a:pt x="84" y="40"/>
                  <a:pt x="84" y="40"/>
                  <a:pt x="84" y="40"/>
                </a:cubicBezTo>
                <a:cubicBezTo>
                  <a:pt x="84" y="40"/>
                  <a:pt x="84" y="40"/>
                  <a:pt x="84" y="40"/>
                </a:cubicBezTo>
                <a:cubicBezTo>
                  <a:pt x="84" y="40"/>
                  <a:pt x="84" y="40"/>
                  <a:pt x="84" y="40"/>
                </a:cubicBezTo>
                <a:cubicBezTo>
                  <a:pt x="83" y="40"/>
                  <a:pt x="83" y="41"/>
                  <a:pt x="83" y="41"/>
                </a:cubicBezTo>
                <a:cubicBezTo>
                  <a:pt x="83" y="41"/>
                  <a:pt x="83" y="41"/>
                  <a:pt x="83" y="41"/>
                </a:cubicBezTo>
                <a:cubicBezTo>
                  <a:pt x="83" y="41"/>
                  <a:pt x="82" y="41"/>
                  <a:pt x="82" y="41"/>
                </a:cubicBezTo>
                <a:cubicBezTo>
                  <a:pt x="82" y="41"/>
                  <a:pt x="83" y="41"/>
                  <a:pt x="83" y="41"/>
                </a:cubicBezTo>
                <a:cubicBezTo>
                  <a:pt x="83" y="41"/>
                  <a:pt x="83" y="41"/>
                  <a:pt x="83" y="41"/>
                </a:cubicBezTo>
                <a:cubicBezTo>
                  <a:pt x="83" y="41"/>
                  <a:pt x="82" y="41"/>
                  <a:pt x="82" y="42"/>
                </a:cubicBezTo>
                <a:cubicBezTo>
                  <a:pt x="82" y="42"/>
                  <a:pt x="82" y="42"/>
                  <a:pt x="82" y="42"/>
                </a:cubicBezTo>
                <a:cubicBezTo>
                  <a:pt x="82" y="42"/>
                  <a:pt x="82" y="42"/>
                  <a:pt x="82" y="42"/>
                </a:cubicBezTo>
                <a:cubicBezTo>
                  <a:pt x="82" y="42"/>
                  <a:pt x="81" y="42"/>
                  <a:pt x="81" y="42"/>
                </a:cubicBezTo>
                <a:cubicBezTo>
                  <a:pt x="81" y="42"/>
                  <a:pt x="81" y="42"/>
                  <a:pt x="81" y="42"/>
                </a:cubicBezTo>
                <a:cubicBezTo>
                  <a:pt x="81" y="42"/>
                  <a:pt x="81" y="42"/>
                  <a:pt x="81" y="42"/>
                </a:cubicBezTo>
                <a:cubicBezTo>
                  <a:pt x="81" y="42"/>
                  <a:pt x="81" y="42"/>
                  <a:pt x="81" y="42"/>
                </a:cubicBezTo>
                <a:cubicBezTo>
                  <a:pt x="81" y="43"/>
                  <a:pt x="80" y="43"/>
                  <a:pt x="81" y="43"/>
                </a:cubicBezTo>
                <a:cubicBezTo>
                  <a:pt x="81" y="43"/>
                  <a:pt x="81" y="43"/>
                  <a:pt x="81" y="43"/>
                </a:cubicBezTo>
                <a:cubicBezTo>
                  <a:pt x="81" y="43"/>
                  <a:pt x="81" y="43"/>
                  <a:pt x="82" y="43"/>
                </a:cubicBezTo>
                <a:cubicBezTo>
                  <a:pt x="82" y="42"/>
                  <a:pt x="82" y="42"/>
                  <a:pt x="82" y="42"/>
                </a:cubicBezTo>
                <a:cubicBezTo>
                  <a:pt x="82" y="42"/>
                  <a:pt x="82" y="42"/>
                  <a:pt x="82" y="42"/>
                </a:cubicBezTo>
                <a:cubicBezTo>
                  <a:pt x="82" y="42"/>
                  <a:pt x="83" y="42"/>
                  <a:pt x="83" y="42"/>
                </a:cubicBezTo>
                <a:cubicBezTo>
                  <a:pt x="83" y="42"/>
                  <a:pt x="83" y="42"/>
                  <a:pt x="83" y="42"/>
                </a:cubicBezTo>
                <a:cubicBezTo>
                  <a:pt x="83" y="43"/>
                  <a:pt x="83" y="43"/>
                  <a:pt x="82" y="43"/>
                </a:cubicBezTo>
                <a:cubicBezTo>
                  <a:pt x="82" y="43"/>
                  <a:pt x="82" y="43"/>
                  <a:pt x="82" y="43"/>
                </a:cubicBezTo>
                <a:cubicBezTo>
                  <a:pt x="82" y="43"/>
                  <a:pt x="82" y="43"/>
                  <a:pt x="82" y="43"/>
                </a:cubicBezTo>
                <a:cubicBezTo>
                  <a:pt x="82" y="43"/>
                  <a:pt x="82" y="43"/>
                  <a:pt x="83" y="43"/>
                </a:cubicBezTo>
                <a:cubicBezTo>
                  <a:pt x="83" y="43"/>
                  <a:pt x="83" y="43"/>
                  <a:pt x="83" y="43"/>
                </a:cubicBezTo>
                <a:cubicBezTo>
                  <a:pt x="83" y="43"/>
                  <a:pt x="83" y="43"/>
                  <a:pt x="83" y="43"/>
                </a:cubicBezTo>
                <a:cubicBezTo>
                  <a:pt x="83" y="43"/>
                  <a:pt x="83" y="43"/>
                  <a:pt x="83" y="43"/>
                </a:cubicBezTo>
                <a:cubicBezTo>
                  <a:pt x="83" y="43"/>
                  <a:pt x="83" y="43"/>
                  <a:pt x="83" y="43"/>
                </a:cubicBezTo>
                <a:cubicBezTo>
                  <a:pt x="83" y="43"/>
                  <a:pt x="84" y="43"/>
                  <a:pt x="84" y="43"/>
                </a:cubicBezTo>
                <a:cubicBezTo>
                  <a:pt x="84" y="43"/>
                  <a:pt x="84" y="43"/>
                  <a:pt x="84" y="43"/>
                </a:cubicBezTo>
                <a:cubicBezTo>
                  <a:pt x="84" y="43"/>
                  <a:pt x="84" y="43"/>
                  <a:pt x="84" y="43"/>
                </a:cubicBezTo>
                <a:cubicBezTo>
                  <a:pt x="84" y="44"/>
                  <a:pt x="84" y="44"/>
                  <a:pt x="84" y="44"/>
                </a:cubicBezTo>
                <a:cubicBezTo>
                  <a:pt x="84" y="44"/>
                  <a:pt x="84" y="44"/>
                  <a:pt x="84" y="44"/>
                </a:cubicBezTo>
                <a:cubicBezTo>
                  <a:pt x="84" y="44"/>
                  <a:pt x="84" y="44"/>
                  <a:pt x="84" y="44"/>
                </a:cubicBezTo>
                <a:cubicBezTo>
                  <a:pt x="84" y="44"/>
                  <a:pt x="84" y="44"/>
                  <a:pt x="84" y="44"/>
                </a:cubicBezTo>
                <a:cubicBezTo>
                  <a:pt x="84" y="44"/>
                  <a:pt x="84" y="43"/>
                  <a:pt x="85" y="43"/>
                </a:cubicBezTo>
                <a:cubicBezTo>
                  <a:pt x="85" y="43"/>
                  <a:pt x="85" y="43"/>
                  <a:pt x="86" y="43"/>
                </a:cubicBezTo>
                <a:cubicBezTo>
                  <a:pt x="86" y="44"/>
                  <a:pt x="86" y="43"/>
                  <a:pt x="87" y="43"/>
                </a:cubicBezTo>
                <a:cubicBezTo>
                  <a:pt x="87" y="43"/>
                  <a:pt x="87" y="44"/>
                  <a:pt x="87" y="43"/>
                </a:cubicBezTo>
                <a:cubicBezTo>
                  <a:pt x="87" y="43"/>
                  <a:pt x="87" y="43"/>
                  <a:pt x="87" y="43"/>
                </a:cubicBezTo>
                <a:cubicBezTo>
                  <a:pt x="87" y="43"/>
                  <a:pt x="87" y="43"/>
                  <a:pt x="87" y="43"/>
                </a:cubicBezTo>
                <a:cubicBezTo>
                  <a:pt x="87" y="43"/>
                  <a:pt x="87" y="43"/>
                  <a:pt x="87" y="43"/>
                </a:cubicBezTo>
                <a:cubicBezTo>
                  <a:pt x="87" y="44"/>
                  <a:pt x="87" y="44"/>
                  <a:pt x="87"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5"/>
                </a:cubicBezTo>
                <a:cubicBezTo>
                  <a:pt x="88" y="45"/>
                  <a:pt x="88" y="44"/>
                  <a:pt x="88" y="44"/>
                </a:cubicBezTo>
                <a:cubicBezTo>
                  <a:pt x="88" y="44"/>
                  <a:pt x="88" y="44"/>
                  <a:pt x="89" y="44"/>
                </a:cubicBezTo>
                <a:cubicBezTo>
                  <a:pt x="89" y="44"/>
                  <a:pt x="89" y="44"/>
                  <a:pt x="89" y="44"/>
                </a:cubicBezTo>
                <a:cubicBezTo>
                  <a:pt x="89" y="44"/>
                  <a:pt x="89" y="44"/>
                  <a:pt x="89" y="45"/>
                </a:cubicBezTo>
                <a:cubicBezTo>
                  <a:pt x="89" y="45"/>
                  <a:pt x="89" y="45"/>
                  <a:pt x="89" y="45"/>
                </a:cubicBezTo>
                <a:cubicBezTo>
                  <a:pt x="89" y="45"/>
                  <a:pt x="89" y="45"/>
                  <a:pt x="89" y="45"/>
                </a:cubicBezTo>
                <a:cubicBezTo>
                  <a:pt x="89" y="45"/>
                  <a:pt x="89" y="45"/>
                  <a:pt x="89" y="45"/>
                </a:cubicBezTo>
                <a:cubicBezTo>
                  <a:pt x="90" y="45"/>
                  <a:pt x="90" y="45"/>
                  <a:pt x="90" y="45"/>
                </a:cubicBezTo>
                <a:cubicBezTo>
                  <a:pt x="90" y="45"/>
                  <a:pt x="90" y="45"/>
                  <a:pt x="90" y="45"/>
                </a:cubicBezTo>
                <a:cubicBezTo>
                  <a:pt x="90" y="45"/>
                  <a:pt x="90" y="45"/>
                  <a:pt x="90" y="45"/>
                </a:cubicBezTo>
                <a:cubicBezTo>
                  <a:pt x="90" y="45"/>
                  <a:pt x="90" y="45"/>
                  <a:pt x="90" y="45"/>
                </a:cubicBezTo>
                <a:cubicBezTo>
                  <a:pt x="90" y="46"/>
                  <a:pt x="91" y="46"/>
                  <a:pt x="90" y="46"/>
                </a:cubicBezTo>
                <a:cubicBezTo>
                  <a:pt x="90" y="46"/>
                  <a:pt x="90" y="46"/>
                  <a:pt x="90" y="46"/>
                </a:cubicBezTo>
                <a:cubicBezTo>
                  <a:pt x="90" y="46"/>
                  <a:pt x="90" y="46"/>
                  <a:pt x="90" y="46"/>
                </a:cubicBezTo>
                <a:cubicBezTo>
                  <a:pt x="90" y="46"/>
                  <a:pt x="89" y="46"/>
                  <a:pt x="89" y="45"/>
                </a:cubicBezTo>
                <a:cubicBezTo>
                  <a:pt x="89" y="45"/>
                  <a:pt x="89" y="45"/>
                  <a:pt x="89" y="45"/>
                </a:cubicBezTo>
                <a:cubicBezTo>
                  <a:pt x="89" y="46"/>
                  <a:pt x="90" y="46"/>
                  <a:pt x="89" y="46"/>
                </a:cubicBezTo>
                <a:cubicBezTo>
                  <a:pt x="89" y="46"/>
                  <a:pt x="89" y="46"/>
                  <a:pt x="89" y="46"/>
                </a:cubicBezTo>
                <a:cubicBezTo>
                  <a:pt x="89" y="46"/>
                  <a:pt x="89" y="47"/>
                  <a:pt x="88" y="46"/>
                </a:cubicBezTo>
                <a:cubicBezTo>
                  <a:pt x="88" y="46"/>
                  <a:pt x="88" y="46"/>
                  <a:pt x="87" y="46"/>
                </a:cubicBezTo>
                <a:cubicBezTo>
                  <a:pt x="87" y="46"/>
                  <a:pt x="87" y="46"/>
                  <a:pt x="87" y="46"/>
                </a:cubicBezTo>
                <a:cubicBezTo>
                  <a:pt x="87" y="46"/>
                  <a:pt x="87" y="46"/>
                  <a:pt x="87" y="46"/>
                </a:cubicBezTo>
                <a:cubicBezTo>
                  <a:pt x="87" y="46"/>
                  <a:pt x="87" y="46"/>
                  <a:pt x="87" y="46"/>
                </a:cubicBezTo>
                <a:cubicBezTo>
                  <a:pt x="87" y="46"/>
                  <a:pt x="87" y="46"/>
                  <a:pt x="87" y="46"/>
                </a:cubicBezTo>
                <a:cubicBezTo>
                  <a:pt x="86" y="45"/>
                  <a:pt x="86" y="45"/>
                  <a:pt x="86" y="45"/>
                </a:cubicBezTo>
                <a:cubicBezTo>
                  <a:pt x="86" y="45"/>
                  <a:pt x="86" y="45"/>
                  <a:pt x="86" y="45"/>
                </a:cubicBezTo>
                <a:cubicBezTo>
                  <a:pt x="85" y="45"/>
                  <a:pt x="85" y="45"/>
                  <a:pt x="85" y="45"/>
                </a:cubicBezTo>
                <a:cubicBezTo>
                  <a:pt x="84" y="45"/>
                  <a:pt x="84" y="46"/>
                  <a:pt x="84" y="46"/>
                </a:cubicBezTo>
                <a:cubicBezTo>
                  <a:pt x="83" y="45"/>
                  <a:pt x="83" y="45"/>
                  <a:pt x="82" y="45"/>
                </a:cubicBezTo>
                <a:cubicBezTo>
                  <a:pt x="82" y="45"/>
                  <a:pt x="82" y="45"/>
                  <a:pt x="81" y="45"/>
                </a:cubicBezTo>
                <a:cubicBezTo>
                  <a:pt x="81" y="45"/>
                  <a:pt x="81" y="45"/>
                  <a:pt x="81" y="45"/>
                </a:cubicBezTo>
                <a:cubicBezTo>
                  <a:pt x="81" y="45"/>
                  <a:pt x="81" y="45"/>
                  <a:pt x="82" y="45"/>
                </a:cubicBezTo>
                <a:cubicBezTo>
                  <a:pt x="82" y="45"/>
                  <a:pt x="82" y="45"/>
                  <a:pt x="82" y="45"/>
                </a:cubicBezTo>
                <a:cubicBezTo>
                  <a:pt x="82" y="45"/>
                  <a:pt x="83" y="45"/>
                  <a:pt x="83" y="46"/>
                </a:cubicBezTo>
                <a:cubicBezTo>
                  <a:pt x="83" y="46"/>
                  <a:pt x="83" y="46"/>
                  <a:pt x="82" y="46"/>
                </a:cubicBezTo>
                <a:cubicBezTo>
                  <a:pt x="82" y="46"/>
                  <a:pt x="82" y="46"/>
                  <a:pt x="82" y="46"/>
                </a:cubicBezTo>
                <a:cubicBezTo>
                  <a:pt x="82" y="46"/>
                  <a:pt x="82" y="46"/>
                  <a:pt x="82" y="46"/>
                </a:cubicBezTo>
                <a:cubicBezTo>
                  <a:pt x="83" y="46"/>
                  <a:pt x="83" y="46"/>
                  <a:pt x="83" y="46"/>
                </a:cubicBezTo>
                <a:cubicBezTo>
                  <a:pt x="83" y="46"/>
                  <a:pt x="83" y="46"/>
                  <a:pt x="83" y="46"/>
                </a:cubicBezTo>
                <a:cubicBezTo>
                  <a:pt x="84" y="46"/>
                  <a:pt x="84" y="46"/>
                  <a:pt x="84" y="46"/>
                </a:cubicBezTo>
                <a:cubicBezTo>
                  <a:pt x="85" y="46"/>
                  <a:pt x="85" y="45"/>
                  <a:pt x="85" y="45"/>
                </a:cubicBezTo>
                <a:cubicBezTo>
                  <a:pt x="85" y="45"/>
                  <a:pt x="85" y="46"/>
                  <a:pt x="85" y="46"/>
                </a:cubicBezTo>
                <a:cubicBezTo>
                  <a:pt x="85" y="46"/>
                  <a:pt x="85" y="46"/>
                  <a:pt x="85" y="46"/>
                </a:cubicBezTo>
                <a:cubicBezTo>
                  <a:pt x="85" y="46"/>
                  <a:pt x="85" y="47"/>
                  <a:pt x="85" y="47"/>
                </a:cubicBezTo>
                <a:cubicBezTo>
                  <a:pt x="85" y="47"/>
                  <a:pt x="84" y="47"/>
                  <a:pt x="84" y="47"/>
                </a:cubicBezTo>
                <a:cubicBezTo>
                  <a:pt x="84" y="47"/>
                  <a:pt x="84" y="47"/>
                  <a:pt x="84" y="47"/>
                </a:cubicBezTo>
                <a:cubicBezTo>
                  <a:pt x="84" y="47"/>
                  <a:pt x="83" y="47"/>
                  <a:pt x="83" y="47"/>
                </a:cubicBezTo>
                <a:cubicBezTo>
                  <a:pt x="83" y="47"/>
                  <a:pt x="83" y="47"/>
                  <a:pt x="83" y="47"/>
                </a:cubicBezTo>
                <a:cubicBezTo>
                  <a:pt x="84" y="48"/>
                  <a:pt x="83" y="48"/>
                  <a:pt x="83" y="49"/>
                </a:cubicBezTo>
                <a:cubicBezTo>
                  <a:pt x="83" y="49"/>
                  <a:pt x="83" y="49"/>
                  <a:pt x="83" y="49"/>
                </a:cubicBezTo>
                <a:cubicBezTo>
                  <a:pt x="83" y="49"/>
                  <a:pt x="83" y="49"/>
                  <a:pt x="83" y="49"/>
                </a:cubicBezTo>
                <a:cubicBezTo>
                  <a:pt x="83" y="49"/>
                  <a:pt x="83" y="48"/>
                  <a:pt x="84" y="48"/>
                </a:cubicBezTo>
                <a:cubicBezTo>
                  <a:pt x="84" y="48"/>
                  <a:pt x="84" y="48"/>
                  <a:pt x="84" y="48"/>
                </a:cubicBezTo>
                <a:cubicBezTo>
                  <a:pt x="84" y="48"/>
                  <a:pt x="85" y="48"/>
                  <a:pt x="85" y="48"/>
                </a:cubicBezTo>
                <a:cubicBezTo>
                  <a:pt x="85" y="48"/>
                  <a:pt x="85" y="48"/>
                  <a:pt x="85" y="48"/>
                </a:cubicBezTo>
                <a:cubicBezTo>
                  <a:pt x="85" y="48"/>
                  <a:pt x="85" y="48"/>
                  <a:pt x="86" y="48"/>
                </a:cubicBezTo>
                <a:cubicBezTo>
                  <a:pt x="86" y="48"/>
                  <a:pt x="86" y="48"/>
                  <a:pt x="86" y="48"/>
                </a:cubicBezTo>
                <a:cubicBezTo>
                  <a:pt x="86" y="48"/>
                  <a:pt x="85" y="48"/>
                  <a:pt x="85" y="48"/>
                </a:cubicBezTo>
                <a:cubicBezTo>
                  <a:pt x="85" y="48"/>
                  <a:pt x="85" y="49"/>
                  <a:pt x="85" y="49"/>
                </a:cubicBezTo>
                <a:cubicBezTo>
                  <a:pt x="85" y="49"/>
                  <a:pt x="84" y="49"/>
                  <a:pt x="84" y="49"/>
                </a:cubicBezTo>
                <a:cubicBezTo>
                  <a:pt x="84" y="49"/>
                  <a:pt x="84" y="49"/>
                  <a:pt x="84" y="49"/>
                </a:cubicBezTo>
                <a:cubicBezTo>
                  <a:pt x="84" y="49"/>
                  <a:pt x="84" y="49"/>
                  <a:pt x="84" y="49"/>
                </a:cubicBezTo>
                <a:cubicBezTo>
                  <a:pt x="84" y="49"/>
                  <a:pt x="84" y="49"/>
                  <a:pt x="85" y="49"/>
                </a:cubicBezTo>
                <a:cubicBezTo>
                  <a:pt x="85" y="49"/>
                  <a:pt x="85" y="49"/>
                  <a:pt x="85" y="49"/>
                </a:cubicBezTo>
                <a:cubicBezTo>
                  <a:pt x="85" y="49"/>
                  <a:pt x="85" y="49"/>
                  <a:pt x="85" y="49"/>
                </a:cubicBezTo>
                <a:cubicBezTo>
                  <a:pt x="85" y="49"/>
                  <a:pt x="86" y="49"/>
                  <a:pt x="86" y="48"/>
                </a:cubicBezTo>
                <a:cubicBezTo>
                  <a:pt x="86" y="48"/>
                  <a:pt x="86" y="48"/>
                  <a:pt x="86" y="48"/>
                </a:cubicBezTo>
                <a:cubicBezTo>
                  <a:pt x="86" y="48"/>
                  <a:pt x="87" y="48"/>
                  <a:pt x="87" y="47"/>
                </a:cubicBezTo>
                <a:cubicBezTo>
                  <a:pt x="87" y="47"/>
                  <a:pt x="87" y="47"/>
                  <a:pt x="87" y="47"/>
                </a:cubicBezTo>
                <a:cubicBezTo>
                  <a:pt x="87" y="47"/>
                  <a:pt x="87" y="47"/>
                  <a:pt x="87" y="48"/>
                </a:cubicBezTo>
                <a:cubicBezTo>
                  <a:pt x="87" y="48"/>
                  <a:pt x="88" y="47"/>
                  <a:pt x="88" y="47"/>
                </a:cubicBezTo>
                <a:cubicBezTo>
                  <a:pt x="88" y="47"/>
                  <a:pt x="89" y="47"/>
                  <a:pt x="89" y="47"/>
                </a:cubicBezTo>
                <a:cubicBezTo>
                  <a:pt x="89" y="47"/>
                  <a:pt x="89" y="47"/>
                  <a:pt x="90" y="47"/>
                </a:cubicBezTo>
                <a:cubicBezTo>
                  <a:pt x="90" y="47"/>
                  <a:pt x="90" y="47"/>
                  <a:pt x="90" y="47"/>
                </a:cubicBezTo>
                <a:cubicBezTo>
                  <a:pt x="90" y="47"/>
                  <a:pt x="90" y="47"/>
                  <a:pt x="90" y="46"/>
                </a:cubicBezTo>
                <a:cubicBezTo>
                  <a:pt x="91" y="47"/>
                  <a:pt x="91" y="47"/>
                  <a:pt x="91" y="47"/>
                </a:cubicBezTo>
                <a:cubicBezTo>
                  <a:pt x="91" y="47"/>
                  <a:pt x="90" y="47"/>
                  <a:pt x="90" y="47"/>
                </a:cubicBezTo>
                <a:cubicBezTo>
                  <a:pt x="90" y="47"/>
                  <a:pt x="90" y="47"/>
                  <a:pt x="90" y="47"/>
                </a:cubicBezTo>
                <a:cubicBezTo>
                  <a:pt x="90" y="47"/>
                  <a:pt x="90" y="47"/>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89" y="48"/>
                  <a:pt x="89" y="48"/>
                </a:cubicBezTo>
                <a:cubicBezTo>
                  <a:pt x="89" y="49"/>
                  <a:pt x="89" y="49"/>
                  <a:pt x="90" y="49"/>
                </a:cubicBezTo>
                <a:cubicBezTo>
                  <a:pt x="90" y="49"/>
                  <a:pt x="90" y="49"/>
                  <a:pt x="90" y="49"/>
                </a:cubicBezTo>
                <a:cubicBezTo>
                  <a:pt x="89" y="49"/>
                  <a:pt x="89" y="49"/>
                  <a:pt x="89" y="49"/>
                </a:cubicBezTo>
                <a:cubicBezTo>
                  <a:pt x="89" y="49"/>
                  <a:pt x="89" y="49"/>
                  <a:pt x="89" y="49"/>
                </a:cubicBezTo>
                <a:cubicBezTo>
                  <a:pt x="89" y="49"/>
                  <a:pt x="89" y="49"/>
                  <a:pt x="89" y="49"/>
                </a:cubicBezTo>
                <a:cubicBezTo>
                  <a:pt x="89" y="49"/>
                  <a:pt x="89" y="50"/>
                  <a:pt x="89" y="50"/>
                </a:cubicBezTo>
                <a:cubicBezTo>
                  <a:pt x="89" y="50"/>
                  <a:pt x="89" y="50"/>
                  <a:pt x="88" y="50"/>
                </a:cubicBezTo>
                <a:cubicBezTo>
                  <a:pt x="89" y="50"/>
                  <a:pt x="89" y="50"/>
                  <a:pt x="89" y="50"/>
                </a:cubicBezTo>
                <a:cubicBezTo>
                  <a:pt x="89" y="50"/>
                  <a:pt x="89" y="50"/>
                  <a:pt x="89" y="50"/>
                </a:cubicBezTo>
                <a:cubicBezTo>
                  <a:pt x="89" y="50"/>
                  <a:pt x="89" y="51"/>
                  <a:pt x="89"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7" y="52"/>
                  <a:pt x="87" y="52"/>
                </a:cubicBezTo>
                <a:cubicBezTo>
                  <a:pt x="87" y="52"/>
                  <a:pt x="87" y="52"/>
                  <a:pt x="87" y="52"/>
                </a:cubicBezTo>
                <a:cubicBezTo>
                  <a:pt x="87" y="52"/>
                  <a:pt x="87" y="52"/>
                  <a:pt x="87" y="52"/>
                </a:cubicBezTo>
                <a:cubicBezTo>
                  <a:pt x="86" y="52"/>
                  <a:pt x="86" y="52"/>
                  <a:pt x="86" y="52"/>
                </a:cubicBezTo>
                <a:cubicBezTo>
                  <a:pt x="86" y="53"/>
                  <a:pt x="86" y="53"/>
                  <a:pt x="85" y="53"/>
                </a:cubicBezTo>
                <a:cubicBezTo>
                  <a:pt x="85" y="53"/>
                  <a:pt x="85" y="53"/>
                  <a:pt x="85" y="53"/>
                </a:cubicBezTo>
                <a:cubicBezTo>
                  <a:pt x="85" y="53"/>
                  <a:pt x="85" y="53"/>
                  <a:pt x="85" y="53"/>
                </a:cubicBezTo>
                <a:cubicBezTo>
                  <a:pt x="85" y="53"/>
                  <a:pt x="84" y="53"/>
                  <a:pt x="84" y="53"/>
                </a:cubicBezTo>
                <a:cubicBezTo>
                  <a:pt x="84" y="53"/>
                  <a:pt x="85" y="53"/>
                  <a:pt x="85" y="53"/>
                </a:cubicBezTo>
                <a:cubicBezTo>
                  <a:pt x="85" y="54"/>
                  <a:pt x="84" y="54"/>
                  <a:pt x="84" y="54"/>
                </a:cubicBezTo>
                <a:cubicBezTo>
                  <a:pt x="84" y="53"/>
                  <a:pt x="84" y="54"/>
                  <a:pt x="84" y="53"/>
                </a:cubicBezTo>
                <a:cubicBezTo>
                  <a:pt x="84" y="54"/>
                  <a:pt x="84" y="54"/>
                  <a:pt x="84" y="54"/>
                </a:cubicBezTo>
                <a:cubicBezTo>
                  <a:pt x="84" y="54"/>
                  <a:pt x="84" y="54"/>
                  <a:pt x="83" y="54"/>
                </a:cubicBezTo>
                <a:cubicBezTo>
                  <a:pt x="83" y="54"/>
                  <a:pt x="83" y="54"/>
                  <a:pt x="83" y="54"/>
                </a:cubicBezTo>
                <a:cubicBezTo>
                  <a:pt x="83" y="54"/>
                  <a:pt x="83" y="54"/>
                  <a:pt x="82" y="54"/>
                </a:cubicBezTo>
                <a:cubicBezTo>
                  <a:pt x="82" y="54"/>
                  <a:pt x="82" y="54"/>
                  <a:pt x="81" y="53"/>
                </a:cubicBezTo>
                <a:cubicBezTo>
                  <a:pt x="81" y="53"/>
                  <a:pt x="81" y="53"/>
                  <a:pt x="81" y="53"/>
                </a:cubicBezTo>
                <a:cubicBezTo>
                  <a:pt x="81" y="54"/>
                  <a:pt x="81" y="54"/>
                  <a:pt x="81" y="54"/>
                </a:cubicBezTo>
                <a:cubicBezTo>
                  <a:pt x="81" y="54"/>
                  <a:pt x="82" y="54"/>
                  <a:pt x="82" y="54"/>
                </a:cubicBezTo>
                <a:cubicBezTo>
                  <a:pt x="82" y="54"/>
                  <a:pt x="82" y="54"/>
                  <a:pt x="82" y="54"/>
                </a:cubicBezTo>
                <a:cubicBezTo>
                  <a:pt x="82" y="54"/>
                  <a:pt x="82" y="54"/>
                  <a:pt x="82" y="54"/>
                </a:cubicBezTo>
                <a:cubicBezTo>
                  <a:pt x="82" y="54"/>
                  <a:pt x="82" y="54"/>
                  <a:pt x="82" y="54"/>
                </a:cubicBezTo>
                <a:cubicBezTo>
                  <a:pt x="83" y="54"/>
                  <a:pt x="82" y="55"/>
                  <a:pt x="82" y="55"/>
                </a:cubicBezTo>
                <a:cubicBezTo>
                  <a:pt x="82" y="55"/>
                  <a:pt x="82" y="55"/>
                  <a:pt x="82" y="55"/>
                </a:cubicBezTo>
                <a:cubicBezTo>
                  <a:pt x="82" y="55"/>
                  <a:pt x="82" y="55"/>
                  <a:pt x="81" y="55"/>
                </a:cubicBezTo>
                <a:cubicBezTo>
                  <a:pt x="81" y="56"/>
                  <a:pt x="82" y="56"/>
                  <a:pt x="81" y="56"/>
                </a:cubicBezTo>
                <a:cubicBezTo>
                  <a:pt x="81" y="56"/>
                  <a:pt x="81" y="56"/>
                  <a:pt x="81" y="56"/>
                </a:cubicBezTo>
                <a:cubicBezTo>
                  <a:pt x="81" y="56"/>
                  <a:pt x="81" y="57"/>
                  <a:pt x="81" y="57"/>
                </a:cubicBezTo>
                <a:cubicBezTo>
                  <a:pt x="81" y="57"/>
                  <a:pt x="81" y="57"/>
                  <a:pt x="81" y="57"/>
                </a:cubicBezTo>
                <a:cubicBezTo>
                  <a:pt x="81" y="57"/>
                  <a:pt x="81" y="57"/>
                  <a:pt x="81" y="57"/>
                </a:cubicBezTo>
                <a:cubicBezTo>
                  <a:pt x="81" y="57"/>
                  <a:pt x="81" y="57"/>
                  <a:pt x="81" y="57"/>
                </a:cubicBezTo>
                <a:cubicBezTo>
                  <a:pt x="81" y="57"/>
                  <a:pt x="81" y="57"/>
                  <a:pt x="81" y="58"/>
                </a:cubicBezTo>
                <a:cubicBezTo>
                  <a:pt x="81" y="58"/>
                  <a:pt x="81" y="58"/>
                  <a:pt x="81" y="58"/>
                </a:cubicBezTo>
                <a:cubicBezTo>
                  <a:pt x="81" y="58"/>
                  <a:pt x="81" y="58"/>
                  <a:pt x="81" y="59"/>
                </a:cubicBezTo>
                <a:cubicBezTo>
                  <a:pt x="81" y="59"/>
                  <a:pt x="81" y="59"/>
                  <a:pt x="80" y="59"/>
                </a:cubicBezTo>
                <a:cubicBezTo>
                  <a:pt x="80" y="59"/>
                  <a:pt x="80" y="59"/>
                  <a:pt x="80" y="59"/>
                </a:cubicBezTo>
                <a:cubicBezTo>
                  <a:pt x="80" y="59"/>
                  <a:pt x="79" y="59"/>
                  <a:pt x="79" y="59"/>
                </a:cubicBezTo>
                <a:cubicBezTo>
                  <a:pt x="79" y="59"/>
                  <a:pt x="80" y="59"/>
                  <a:pt x="80" y="59"/>
                </a:cubicBezTo>
                <a:cubicBezTo>
                  <a:pt x="80" y="59"/>
                  <a:pt x="79" y="59"/>
                  <a:pt x="79" y="59"/>
                </a:cubicBezTo>
                <a:cubicBezTo>
                  <a:pt x="79" y="60"/>
                  <a:pt x="79" y="60"/>
                  <a:pt x="79" y="60"/>
                </a:cubicBezTo>
                <a:cubicBezTo>
                  <a:pt x="79" y="60"/>
                  <a:pt x="79" y="60"/>
                  <a:pt x="79" y="60"/>
                </a:cubicBezTo>
                <a:cubicBezTo>
                  <a:pt x="79" y="60"/>
                  <a:pt x="79" y="60"/>
                  <a:pt x="79" y="60"/>
                </a:cubicBezTo>
                <a:cubicBezTo>
                  <a:pt x="79" y="60"/>
                  <a:pt x="79" y="60"/>
                  <a:pt x="79" y="60"/>
                </a:cubicBezTo>
                <a:cubicBezTo>
                  <a:pt x="79" y="60"/>
                  <a:pt x="78" y="60"/>
                  <a:pt x="78" y="60"/>
                </a:cubicBezTo>
                <a:cubicBezTo>
                  <a:pt x="78" y="60"/>
                  <a:pt x="78" y="60"/>
                  <a:pt x="78" y="60"/>
                </a:cubicBezTo>
                <a:cubicBezTo>
                  <a:pt x="78" y="60"/>
                  <a:pt x="78" y="60"/>
                  <a:pt x="78" y="60"/>
                </a:cubicBezTo>
                <a:cubicBezTo>
                  <a:pt x="78" y="60"/>
                  <a:pt x="78" y="60"/>
                  <a:pt x="78" y="60"/>
                </a:cubicBezTo>
                <a:cubicBezTo>
                  <a:pt x="78" y="60"/>
                  <a:pt x="78" y="61"/>
                  <a:pt x="77" y="61"/>
                </a:cubicBezTo>
                <a:cubicBezTo>
                  <a:pt x="77" y="61"/>
                  <a:pt x="77" y="61"/>
                  <a:pt x="77" y="61"/>
                </a:cubicBezTo>
                <a:cubicBezTo>
                  <a:pt x="77" y="61"/>
                  <a:pt x="77" y="61"/>
                  <a:pt x="77" y="61"/>
                </a:cubicBezTo>
                <a:cubicBezTo>
                  <a:pt x="77" y="61"/>
                  <a:pt x="77" y="61"/>
                  <a:pt x="77" y="61"/>
                </a:cubicBezTo>
                <a:cubicBezTo>
                  <a:pt x="77" y="61"/>
                  <a:pt x="77" y="61"/>
                  <a:pt x="77" y="61"/>
                </a:cubicBezTo>
                <a:cubicBezTo>
                  <a:pt x="77" y="61"/>
                  <a:pt x="77" y="61"/>
                  <a:pt x="77" y="60"/>
                </a:cubicBezTo>
                <a:cubicBezTo>
                  <a:pt x="77" y="60"/>
                  <a:pt x="77" y="60"/>
                  <a:pt x="77" y="60"/>
                </a:cubicBezTo>
                <a:cubicBezTo>
                  <a:pt x="77" y="60"/>
                  <a:pt x="77" y="60"/>
                  <a:pt x="77" y="59"/>
                </a:cubicBezTo>
                <a:cubicBezTo>
                  <a:pt x="77" y="60"/>
                  <a:pt x="77" y="60"/>
                  <a:pt x="77" y="59"/>
                </a:cubicBezTo>
                <a:cubicBezTo>
                  <a:pt x="77" y="60"/>
                  <a:pt x="77" y="60"/>
                  <a:pt x="77" y="60"/>
                </a:cubicBezTo>
                <a:cubicBezTo>
                  <a:pt x="77" y="60"/>
                  <a:pt x="77" y="60"/>
                  <a:pt x="77" y="60"/>
                </a:cubicBezTo>
                <a:cubicBezTo>
                  <a:pt x="77" y="60"/>
                  <a:pt x="77" y="60"/>
                  <a:pt x="77" y="60"/>
                </a:cubicBezTo>
                <a:cubicBezTo>
                  <a:pt x="77" y="60"/>
                  <a:pt x="76" y="60"/>
                  <a:pt x="76" y="60"/>
                </a:cubicBezTo>
                <a:cubicBezTo>
                  <a:pt x="76" y="60"/>
                  <a:pt x="76" y="60"/>
                  <a:pt x="76" y="61"/>
                </a:cubicBezTo>
                <a:cubicBezTo>
                  <a:pt x="76" y="61"/>
                  <a:pt x="77" y="61"/>
                  <a:pt x="76" y="61"/>
                </a:cubicBezTo>
                <a:cubicBezTo>
                  <a:pt x="76" y="61"/>
                  <a:pt x="76" y="61"/>
                  <a:pt x="76" y="61"/>
                </a:cubicBezTo>
                <a:cubicBezTo>
                  <a:pt x="76" y="61"/>
                  <a:pt x="76" y="61"/>
                  <a:pt x="76" y="62"/>
                </a:cubicBezTo>
                <a:cubicBezTo>
                  <a:pt x="76" y="62"/>
                  <a:pt x="76" y="62"/>
                  <a:pt x="75" y="62"/>
                </a:cubicBezTo>
                <a:cubicBezTo>
                  <a:pt x="75" y="62"/>
                  <a:pt x="75" y="62"/>
                  <a:pt x="75" y="62"/>
                </a:cubicBezTo>
                <a:cubicBezTo>
                  <a:pt x="75" y="62"/>
                  <a:pt x="75" y="62"/>
                  <a:pt x="75" y="61"/>
                </a:cubicBezTo>
                <a:cubicBezTo>
                  <a:pt x="75" y="61"/>
                  <a:pt x="75" y="61"/>
                  <a:pt x="75" y="61"/>
                </a:cubicBezTo>
                <a:cubicBezTo>
                  <a:pt x="75" y="61"/>
                  <a:pt x="75" y="61"/>
                  <a:pt x="75" y="61"/>
                </a:cubicBezTo>
                <a:cubicBezTo>
                  <a:pt x="75" y="61"/>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4" y="62"/>
                  <a:pt x="75" y="62"/>
                  <a:pt x="74" y="62"/>
                </a:cubicBezTo>
                <a:cubicBezTo>
                  <a:pt x="74" y="62"/>
                  <a:pt x="74" y="62"/>
                  <a:pt x="74" y="62"/>
                </a:cubicBezTo>
                <a:cubicBezTo>
                  <a:pt x="74" y="62"/>
                  <a:pt x="74" y="62"/>
                  <a:pt x="74" y="62"/>
                </a:cubicBezTo>
                <a:cubicBezTo>
                  <a:pt x="74" y="62"/>
                  <a:pt x="74" y="62"/>
                  <a:pt x="75" y="62"/>
                </a:cubicBezTo>
                <a:cubicBezTo>
                  <a:pt x="75" y="62"/>
                  <a:pt x="75" y="63"/>
                  <a:pt x="75" y="63"/>
                </a:cubicBezTo>
                <a:cubicBezTo>
                  <a:pt x="74" y="63"/>
                  <a:pt x="74" y="63"/>
                  <a:pt x="74" y="63"/>
                </a:cubicBezTo>
                <a:cubicBezTo>
                  <a:pt x="74" y="63"/>
                  <a:pt x="74" y="63"/>
                  <a:pt x="73" y="63"/>
                </a:cubicBezTo>
                <a:cubicBezTo>
                  <a:pt x="73" y="63"/>
                  <a:pt x="73" y="63"/>
                  <a:pt x="73" y="63"/>
                </a:cubicBezTo>
                <a:cubicBezTo>
                  <a:pt x="73" y="64"/>
                  <a:pt x="74" y="63"/>
                  <a:pt x="74" y="64"/>
                </a:cubicBezTo>
                <a:cubicBezTo>
                  <a:pt x="74" y="64"/>
                  <a:pt x="74" y="64"/>
                  <a:pt x="74" y="64"/>
                </a:cubicBezTo>
                <a:cubicBezTo>
                  <a:pt x="74" y="64"/>
                  <a:pt x="74" y="64"/>
                  <a:pt x="74" y="64"/>
                </a:cubicBezTo>
                <a:cubicBezTo>
                  <a:pt x="74" y="64"/>
                  <a:pt x="74" y="64"/>
                  <a:pt x="74" y="64"/>
                </a:cubicBezTo>
                <a:cubicBezTo>
                  <a:pt x="74" y="64"/>
                  <a:pt x="74" y="64"/>
                  <a:pt x="74" y="64"/>
                </a:cubicBezTo>
                <a:cubicBezTo>
                  <a:pt x="74" y="64"/>
                  <a:pt x="74" y="64"/>
                  <a:pt x="74" y="65"/>
                </a:cubicBezTo>
                <a:cubicBezTo>
                  <a:pt x="74" y="65"/>
                  <a:pt x="74" y="65"/>
                  <a:pt x="74" y="65"/>
                </a:cubicBezTo>
                <a:cubicBezTo>
                  <a:pt x="74" y="65"/>
                  <a:pt x="74" y="65"/>
                  <a:pt x="73" y="65"/>
                </a:cubicBezTo>
                <a:cubicBezTo>
                  <a:pt x="73" y="65"/>
                  <a:pt x="73" y="65"/>
                  <a:pt x="73" y="65"/>
                </a:cubicBezTo>
                <a:cubicBezTo>
                  <a:pt x="73" y="65"/>
                  <a:pt x="73" y="65"/>
                  <a:pt x="74" y="65"/>
                </a:cubicBezTo>
                <a:cubicBezTo>
                  <a:pt x="74" y="65"/>
                  <a:pt x="74" y="65"/>
                  <a:pt x="74" y="65"/>
                </a:cubicBezTo>
                <a:cubicBezTo>
                  <a:pt x="74" y="65"/>
                  <a:pt x="74" y="65"/>
                  <a:pt x="74" y="65"/>
                </a:cubicBezTo>
                <a:cubicBezTo>
                  <a:pt x="74" y="65"/>
                  <a:pt x="74" y="66"/>
                  <a:pt x="74" y="66"/>
                </a:cubicBezTo>
                <a:cubicBezTo>
                  <a:pt x="74" y="66"/>
                  <a:pt x="75" y="66"/>
                  <a:pt x="75" y="66"/>
                </a:cubicBezTo>
                <a:cubicBezTo>
                  <a:pt x="74" y="66"/>
                  <a:pt x="74" y="66"/>
                  <a:pt x="74" y="66"/>
                </a:cubicBezTo>
                <a:cubicBezTo>
                  <a:pt x="74" y="66"/>
                  <a:pt x="74" y="66"/>
                  <a:pt x="74" y="66"/>
                </a:cubicBezTo>
                <a:cubicBezTo>
                  <a:pt x="73" y="66"/>
                  <a:pt x="73" y="66"/>
                  <a:pt x="73" y="66"/>
                </a:cubicBezTo>
                <a:cubicBezTo>
                  <a:pt x="73" y="66"/>
                  <a:pt x="73" y="66"/>
                  <a:pt x="73" y="66"/>
                </a:cubicBezTo>
                <a:cubicBezTo>
                  <a:pt x="73" y="66"/>
                  <a:pt x="73" y="66"/>
                  <a:pt x="73" y="66"/>
                </a:cubicBezTo>
                <a:cubicBezTo>
                  <a:pt x="73" y="66"/>
                  <a:pt x="73" y="66"/>
                  <a:pt x="74" y="66"/>
                </a:cubicBezTo>
                <a:cubicBezTo>
                  <a:pt x="74" y="66"/>
                  <a:pt x="74" y="66"/>
                  <a:pt x="74" y="66"/>
                </a:cubicBezTo>
                <a:cubicBezTo>
                  <a:pt x="74" y="66"/>
                  <a:pt x="74" y="66"/>
                  <a:pt x="74" y="66"/>
                </a:cubicBezTo>
                <a:cubicBezTo>
                  <a:pt x="74" y="66"/>
                  <a:pt x="74" y="66"/>
                  <a:pt x="74" y="67"/>
                </a:cubicBezTo>
                <a:cubicBezTo>
                  <a:pt x="74" y="67"/>
                  <a:pt x="74" y="67"/>
                  <a:pt x="74" y="67"/>
                </a:cubicBezTo>
                <a:cubicBezTo>
                  <a:pt x="74" y="67"/>
                  <a:pt x="74" y="67"/>
                  <a:pt x="73" y="67"/>
                </a:cubicBezTo>
                <a:cubicBezTo>
                  <a:pt x="73" y="67"/>
                  <a:pt x="73" y="67"/>
                  <a:pt x="73" y="67"/>
                </a:cubicBezTo>
                <a:cubicBezTo>
                  <a:pt x="73" y="67"/>
                  <a:pt x="74" y="67"/>
                  <a:pt x="74" y="67"/>
                </a:cubicBezTo>
                <a:cubicBezTo>
                  <a:pt x="74" y="67"/>
                  <a:pt x="74" y="67"/>
                  <a:pt x="74" y="67"/>
                </a:cubicBezTo>
                <a:cubicBezTo>
                  <a:pt x="73" y="67"/>
                  <a:pt x="73" y="67"/>
                  <a:pt x="73" y="67"/>
                </a:cubicBezTo>
                <a:cubicBezTo>
                  <a:pt x="73" y="67"/>
                  <a:pt x="73" y="67"/>
                  <a:pt x="73" y="67"/>
                </a:cubicBezTo>
                <a:cubicBezTo>
                  <a:pt x="73" y="67"/>
                  <a:pt x="73" y="67"/>
                  <a:pt x="74" y="67"/>
                </a:cubicBezTo>
                <a:cubicBezTo>
                  <a:pt x="74" y="67"/>
                  <a:pt x="74" y="67"/>
                  <a:pt x="74" y="67"/>
                </a:cubicBezTo>
                <a:cubicBezTo>
                  <a:pt x="74" y="68"/>
                  <a:pt x="74" y="68"/>
                  <a:pt x="74" y="68"/>
                </a:cubicBezTo>
                <a:cubicBezTo>
                  <a:pt x="73" y="68"/>
                  <a:pt x="73" y="67"/>
                  <a:pt x="73" y="67"/>
                </a:cubicBezTo>
                <a:cubicBezTo>
                  <a:pt x="73" y="67"/>
                  <a:pt x="73" y="67"/>
                  <a:pt x="73" y="67"/>
                </a:cubicBezTo>
                <a:cubicBezTo>
                  <a:pt x="73" y="68"/>
                  <a:pt x="73" y="68"/>
                  <a:pt x="73" y="68"/>
                </a:cubicBezTo>
                <a:cubicBezTo>
                  <a:pt x="73" y="68"/>
                  <a:pt x="73" y="68"/>
                  <a:pt x="73" y="68"/>
                </a:cubicBezTo>
                <a:cubicBezTo>
                  <a:pt x="73" y="68"/>
                  <a:pt x="73" y="68"/>
                  <a:pt x="73" y="68"/>
                </a:cubicBezTo>
                <a:cubicBezTo>
                  <a:pt x="73" y="68"/>
                  <a:pt x="73" y="68"/>
                  <a:pt x="73" y="68"/>
                </a:cubicBezTo>
                <a:cubicBezTo>
                  <a:pt x="72" y="68"/>
                  <a:pt x="72" y="69"/>
                  <a:pt x="72" y="69"/>
                </a:cubicBezTo>
                <a:cubicBezTo>
                  <a:pt x="72" y="69"/>
                  <a:pt x="72" y="69"/>
                  <a:pt x="72" y="69"/>
                </a:cubicBezTo>
                <a:cubicBezTo>
                  <a:pt x="72" y="69"/>
                  <a:pt x="73" y="69"/>
                  <a:pt x="73" y="69"/>
                </a:cubicBezTo>
                <a:cubicBezTo>
                  <a:pt x="73" y="69"/>
                  <a:pt x="73" y="69"/>
                  <a:pt x="73" y="69"/>
                </a:cubicBezTo>
                <a:cubicBezTo>
                  <a:pt x="73" y="69"/>
                  <a:pt x="73" y="69"/>
                  <a:pt x="73" y="69"/>
                </a:cubicBezTo>
                <a:cubicBezTo>
                  <a:pt x="73" y="69"/>
                  <a:pt x="72" y="69"/>
                  <a:pt x="72" y="69"/>
                </a:cubicBezTo>
                <a:cubicBezTo>
                  <a:pt x="72" y="69"/>
                  <a:pt x="72" y="69"/>
                  <a:pt x="73" y="70"/>
                </a:cubicBezTo>
                <a:cubicBezTo>
                  <a:pt x="73" y="70"/>
                  <a:pt x="73" y="70"/>
                  <a:pt x="73" y="70"/>
                </a:cubicBezTo>
                <a:cubicBezTo>
                  <a:pt x="73" y="70"/>
                  <a:pt x="73" y="71"/>
                  <a:pt x="73" y="71"/>
                </a:cubicBezTo>
                <a:cubicBezTo>
                  <a:pt x="73" y="71"/>
                  <a:pt x="73" y="71"/>
                  <a:pt x="73" y="71"/>
                </a:cubicBezTo>
                <a:cubicBezTo>
                  <a:pt x="73" y="71"/>
                  <a:pt x="73" y="71"/>
                  <a:pt x="73" y="71"/>
                </a:cubicBezTo>
                <a:cubicBezTo>
                  <a:pt x="73" y="71"/>
                  <a:pt x="73" y="71"/>
                  <a:pt x="73" y="71"/>
                </a:cubicBezTo>
                <a:cubicBezTo>
                  <a:pt x="73" y="71"/>
                  <a:pt x="73" y="71"/>
                  <a:pt x="73" y="71"/>
                </a:cubicBezTo>
                <a:cubicBezTo>
                  <a:pt x="73" y="71"/>
                  <a:pt x="73" y="72"/>
                  <a:pt x="73" y="72"/>
                </a:cubicBezTo>
                <a:cubicBezTo>
                  <a:pt x="73" y="72"/>
                  <a:pt x="73" y="72"/>
                  <a:pt x="73" y="72"/>
                </a:cubicBezTo>
                <a:cubicBezTo>
                  <a:pt x="72" y="72"/>
                  <a:pt x="72" y="72"/>
                  <a:pt x="72" y="72"/>
                </a:cubicBezTo>
                <a:cubicBezTo>
                  <a:pt x="72" y="72"/>
                  <a:pt x="72" y="72"/>
                  <a:pt x="72" y="72"/>
                </a:cubicBezTo>
                <a:cubicBezTo>
                  <a:pt x="72" y="72"/>
                  <a:pt x="72" y="72"/>
                  <a:pt x="73" y="72"/>
                </a:cubicBezTo>
                <a:cubicBezTo>
                  <a:pt x="73" y="72"/>
                  <a:pt x="73" y="72"/>
                  <a:pt x="73" y="72"/>
                </a:cubicBezTo>
                <a:cubicBezTo>
                  <a:pt x="72" y="72"/>
                  <a:pt x="73" y="72"/>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3" y="73"/>
                </a:cubicBezTo>
                <a:cubicBezTo>
                  <a:pt x="73" y="73"/>
                  <a:pt x="73" y="73"/>
                  <a:pt x="73" y="73"/>
                </a:cubicBezTo>
                <a:cubicBezTo>
                  <a:pt x="73" y="73"/>
                  <a:pt x="72" y="74"/>
                  <a:pt x="71" y="74"/>
                </a:cubicBezTo>
                <a:cubicBezTo>
                  <a:pt x="71" y="74"/>
                  <a:pt x="72" y="74"/>
                  <a:pt x="72" y="74"/>
                </a:cubicBezTo>
                <a:cubicBezTo>
                  <a:pt x="72" y="74"/>
                  <a:pt x="72" y="74"/>
                  <a:pt x="72" y="74"/>
                </a:cubicBezTo>
                <a:cubicBezTo>
                  <a:pt x="72" y="74"/>
                  <a:pt x="73" y="74"/>
                  <a:pt x="72" y="74"/>
                </a:cubicBezTo>
                <a:cubicBezTo>
                  <a:pt x="72" y="74"/>
                  <a:pt x="72" y="74"/>
                  <a:pt x="72" y="74"/>
                </a:cubicBezTo>
                <a:cubicBezTo>
                  <a:pt x="72" y="74"/>
                  <a:pt x="72" y="74"/>
                  <a:pt x="72" y="74"/>
                </a:cubicBezTo>
                <a:cubicBezTo>
                  <a:pt x="72" y="74"/>
                  <a:pt x="72" y="74"/>
                  <a:pt x="71" y="74"/>
                </a:cubicBezTo>
                <a:cubicBezTo>
                  <a:pt x="71" y="74"/>
                  <a:pt x="71" y="74"/>
                  <a:pt x="71" y="74"/>
                </a:cubicBezTo>
                <a:cubicBezTo>
                  <a:pt x="70" y="74"/>
                  <a:pt x="70" y="75"/>
                  <a:pt x="70" y="75"/>
                </a:cubicBezTo>
                <a:cubicBezTo>
                  <a:pt x="70" y="75"/>
                  <a:pt x="70" y="75"/>
                  <a:pt x="70" y="75"/>
                </a:cubicBezTo>
                <a:cubicBezTo>
                  <a:pt x="70" y="75"/>
                  <a:pt x="70" y="75"/>
                  <a:pt x="70" y="75"/>
                </a:cubicBezTo>
                <a:cubicBezTo>
                  <a:pt x="69" y="75"/>
                  <a:pt x="69" y="75"/>
                  <a:pt x="69" y="75"/>
                </a:cubicBezTo>
                <a:cubicBezTo>
                  <a:pt x="69" y="75"/>
                  <a:pt x="70" y="74"/>
                  <a:pt x="69" y="74"/>
                </a:cubicBezTo>
                <a:cubicBezTo>
                  <a:pt x="69" y="74"/>
                  <a:pt x="69" y="74"/>
                  <a:pt x="69" y="74"/>
                </a:cubicBezTo>
                <a:cubicBezTo>
                  <a:pt x="69" y="74"/>
                  <a:pt x="69" y="74"/>
                  <a:pt x="70" y="74"/>
                </a:cubicBezTo>
                <a:cubicBezTo>
                  <a:pt x="69" y="74"/>
                  <a:pt x="69" y="74"/>
                  <a:pt x="69" y="74"/>
                </a:cubicBezTo>
                <a:cubicBezTo>
                  <a:pt x="69" y="74"/>
                  <a:pt x="69" y="74"/>
                  <a:pt x="69" y="74"/>
                </a:cubicBezTo>
                <a:cubicBezTo>
                  <a:pt x="69" y="74"/>
                  <a:pt x="69" y="74"/>
                  <a:pt x="69" y="74"/>
                </a:cubicBezTo>
                <a:cubicBezTo>
                  <a:pt x="69" y="74"/>
                  <a:pt x="69" y="74"/>
                  <a:pt x="69" y="74"/>
                </a:cubicBezTo>
                <a:cubicBezTo>
                  <a:pt x="68" y="74"/>
                  <a:pt x="69"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3"/>
                  <a:pt x="68" y="73"/>
                </a:cubicBezTo>
                <a:cubicBezTo>
                  <a:pt x="68" y="73"/>
                  <a:pt x="69" y="73"/>
                  <a:pt x="69" y="73"/>
                </a:cubicBezTo>
                <a:cubicBezTo>
                  <a:pt x="69" y="73"/>
                  <a:pt x="68" y="73"/>
                  <a:pt x="68" y="73"/>
                </a:cubicBezTo>
                <a:cubicBezTo>
                  <a:pt x="68" y="73"/>
                  <a:pt x="68" y="73"/>
                  <a:pt x="68" y="73"/>
                </a:cubicBezTo>
                <a:cubicBezTo>
                  <a:pt x="68" y="73"/>
                  <a:pt x="68" y="73"/>
                  <a:pt x="68" y="73"/>
                </a:cubicBezTo>
                <a:cubicBezTo>
                  <a:pt x="68" y="73"/>
                  <a:pt x="68" y="73"/>
                  <a:pt x="68" y="73"/>
                </a:cubicBezTo>
                <a:cubicBezTo>
                  <a:pt x="68" y="73"/>
                  <a:pt x="67" y="73"/>
                  <a:pt x="67" y="73"/>
                </a:cubicBezTo>
                <a:cubicBezTo>
                  <a:pt x="67" y="73"/>
                  <a:pt x="68" y="73"/>
                  <a:pt x="68" y="73"/>
                </a:cubicBezTo>
                <a:cubicBezTo>
                  <a:pt x="68" y="73"/>
                  <a:pt x="68" y="73"/>
                  <a:pt x="68" y="73"/>
                </a:cubicBezTo>
                <a:cubicBezTo>
                  <a:pt x="68" y="73"/>
                  <a:pt x="68" y="72"/>
                  <a:pt x="67" y="72"/>
                </a:cubicBezTo>
                <a:cubicBezTo>
                  <a:pt x="67" y="72"/>
                  <a:pt x="67" y="73"/>
                  <a:pt x="67" y="73"/>
                </a:cubicBezTo>
                <a:cubicBezTo>
                  <a:pt x="67" y="73"/>
                  <a:pt x="67" y="73"/>
                  <a:pt x="67" y="73"/>
                </a:cubicBezTo>
                <a:cubicBezTo>
                  <a:pt x="67" y="73"/>
                  <a:pt x="67"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5" y="73"/>
                </a:cubicBezTo>
                <a:cubicBezTo>
                  <a:pt x="65" y="73"/>
                  <a:pt x="65" y="74"/>
                  <a:pt x="65" y="74"/>
                </a:cubicBezTo>
                <a:cubicBezTo>
                  <a:pt x="65" y="74"/>
                  <a:pt x="65" y="74"/>
                  <a:pt x="65" y="74"/>
                </a:cubicBezTo>
                <a:cubicBezTo>
                  <a:pt x="65" y="74"/>
                  <a:pt x="65" y="74"/>
                  <a:pt x="65" y="74"/>
                </a:cubicBezTo>
                <a:cubicBezTo>
                  <a:pt x="65" y="74"/>
                  <a:pt x="64" y="74"/>
                  <a:pt x="64" y="74"/>
                </a:cubicBezTo>
                <a:cubicBezTo>
                  <a:pt x="64" y="74"/>
                  <a:pt x="65" y="74"/>
                  <a:pt x="65" y="73"/>
                </a:cubicBezTo>
                <a:cubicBezTo>
                  <a:pt x="65" y="73"/>
                  <a:pt x="64" y="73"/>
                  <a:pt x="64" y="73"/>
                </a:cubicBezTo>
                <a:cubicBezTo>
                  <a:pt x="64" y="73"/>
                  <a:pt x="64" y="73"/>
                  <a:pt x="64" y="73"/>
                </a:cubicBezTo>
                <a:cubicBezTo>
                  <a:pt x="64" y="73"/>
                  <a:pt x="64" y="73"/>
                  <a:pt x="64" y="73"/>
                </a:cubicBezTo>
                <a:cubicBezTo>
                  <a:pt x="64" y="73"/>
                  <a:pt x="64" y="73"/>
                  <a:pt x="64" y="73"/>
                </a:cubicBezTo>
                <a:cubicBezTo>
                  <a:pt x="64" y="73"/>
                  <a:pt x="64" y="73"/>
                  <a:pt x="64" y="73"/>
                </a:cubicBezTo>
                <a:cubicBezTo>
                  <a:pt x="64" y="73"/>
                  <a:pt x="63" y="73"/>
                  <a:pt x="63" y="73"/>
                </a:cubicBezTo>
                <a:cubicBezTo>
                  <a:pt x="63" y="73"/>
                  <a:pt x="63" y="72"/>
                  <a:pt x="63" y="72"/>
                </a:cubicBezTo>
                <a:cubicBezTo>
                  <a:pt x="63" y="72"/>
                  <a:pt x="63" y="72"/>
                  <a:pt x="63" y="72"/>
                </a:cubicBezTo>
                <a:cubicBezTo>
                  <a:pt x="63" y="72"/>
                  <a:pt x="63" y="72"/>
                  <a:pt x="63" y="72"/>
                </a:cubicBezTo>
                <a:cubicBezTo>
                  <a:pt x="63" y="73"/>
                  <a:pt x="63" y="72"/>
                  <a:pt x="63" y="72"/>
                </a:cubicBezTo>
                <a:cubicBezTo>
                  <a:pt x="63" y="72"/>
                  <a:pt x="63" y="73"/>
                  <a:pt x="63" y="73"/>
                </a:cubicBezTo>
                <a:cubicBezTo>
                  <a:pt x="62" y="73"/>
                  <a:pt x="62" y="73"/>
                  <a:pt x="62" y="72"/>
                </a:cubicBezTo>
                <a:cubicBezTo>
                  <a:pt x="62" y="72"/>
                  <a:pt x="62" y="72"/>
                  <a:pt x="62" y="72"/>
                </a:cubicBezTo>
                <a:cubicBezTo>
                  <a:pt x="62" y="72"/>
                  <a:pt x="62" y="72"/>
                  <a:pt x="62" y="72"/>
                </a:cubicBezTo>
                <a:cubicBezTo>
                  <a:pt x="62" y="72"/>
                  <a:pt x="63" y="72"/>
                  <a:pt x="62" y="71"/>
                </a:cubicBezTo>
                <a:cubicBezTo>
                  <a:pt x="62" y="72"/>
                  <a:pt x="62" y="72"/>
                  <a:pt x="61" y="72"/>
                </a:cubicBezTo>
                <a:cubicBezTo>
                  <a:pt x="62" y="72"/>
                  <a:pt x="62" y="72"/>
                  <a:pt x="62" y="71"/>
                </a:cubicBezTo>
                <a:cubicBezTo>
                  <a:pt x="62" y="71"/>
                  <a:pt x="62" y="71"/>
                  <a:pt x="62" y="71"/>
                </a:cubicBezTo>
                <a:cubicBezTo>
                  <a:pt x="62" y="71"/>
                  <a:pt x="62" y="71"/>
                  <a:pt x="62" y="71"/>
                </a:cubicBezTo>
                <a:cubicBezTo>
                  <a:pt x="62" y="71"/>
                  <a:pt x="62" y="71"/>
                  <a:pt x="62" y="72"/>
                </a:cubicBezTo>
                <a:cubicBezTo>
                  <a:pt x="61" y="71"/>
                  <a:pt x="61" y="71"/>
                  <a:pt x="61" y="71"/>
                </a:cubicBezTo>
                <a:cubicBezTo>
                  <a:pt x="61" y="71"/>
                  <a:pt x="61" y="71"/>
                  <a:pt x="61" y="71"/>
                </a:cubicBezTo>
                <a:cubicBezTo>
                  <a:pt x="62" y="71"/>
                  <a:pt x="62" y="71"/>
                  <a:pt x="62" y="71"/>
                </a:cubicBezTo>
                <a:cubicBezTo>
                  <a:pt x="62" y="71"/>
                  <a:pt x="62" y="71"/>
                  <a:pt x="62" y="71"/>
                </a:cubicBezTo>
                <a:cubicBezTo>
                  <a:pt x="61" y="71"/>
                  <a:pt x="61" y="71"/>
                  <a:pt x="61" y="71"/>
                </a:cubicBezTo>
                <a:cubicBezTo>
                  <a:pt x="61" y="71"/>
                  <a:pt x="61" y="71"/>
                  <a:pt x="60" y="71"/>
                </a:cubicBezTo>
                <a:cubicBezTo>
                  <a:pt x="60" y="71"/>
                  <a:pt x="60" y="71"/>
                  <a:pt x="60" y="70"/>
                </a:cubicBezTo>
                <a:cubicBezTo>
                  <a:pt x="60" y="70"/>
                  <a:pt x="60" y="70"/>
                  <a:pt x="61" y="70"/>
                </a:cubicBezTo>
                <a:cubicBezTo>
                  <a:pt x="61" y="69"/>
                  <a:pt x="61" y="69"/>
                  <a:pt x="61" y="69"/>
                </a:cubicBezTo>
                <a:cubicBezTo>
                  <a:pt x="61" y="69"/>
                  <a:pt x="61" y="69"/>
                  <a:pt x="61" y="69"/>
                </a:cubicBezTo>
                <a:cubicBezTo>
                  <a:pt x="60" y="69"/>
                  <a:pt x="60" y="70"/>
                  <a:pt x="60" y="70"/>
                </a:cubicBezTo>
                <a:cubicBezTo>
                  <a:pt x="60" y="70"/>
                  <a:pt x="60" y="70"/>
                  <a:pt x="60" y="70"/>
                </a:cubicBezTo>
                <a:cubicBezTo>
                  <a:pt x="60" y="70"/>
                  <a:pt x="60" y="70"/>
                  <a:pt x="60" y="69"/>
                </a:cubicBezTo>
                <a:cubicBezTo>
                  <a:pt x="60" y="69"/>
                  <a:pt x="60" y="69"/>
                  <a:pt x="60" y="69"/>
                </a:cubicBezTo>
                <a:cubicBezTo>
                  <a:pt x="60" y="69"/>
                  <a:pt x="60" y="70"/>
                  <a:pt x="60" y="70"/>
                </a:cubicBezTo>
                <a:cubicBezTo>
                  <a:pt x="59" y="69"/>
                  <a:pt x="60" y="69"/>
                  <a:pt x="60" y="69"/>
                </a:cubicBezTo>
                <a:cubicBezTo>
                  <a:pt x="60" y="69"/>
                  <a:pt x="60" y="69"/>
                  <a:pt x="59" y="69"/>
                </a:cubicBezTo>
                <a:cubicBezTo>
                  <a:pt x="59" y="69"/>
                  <a:pt x="59" y="69"/>
                  <a:pt x="59" y="69"/>
                </a:cubicBezTo>
                <a:cubicBezTo>
                  <a:pt x="59" y="69"/>
                  <a:pt x="59" y="69"/>
                  <a:pt x="59" y="69"/>
                </a:cubicBezTo>
                <a:cubicBezTo>
                  <a:pt x="59" y="68"/>
                  <a:pt x="59" y="68"/>
                  <a:pt x="60" y="68"/>
                </a:cubicBezTo>
                <a:cubicBezTo>
                  <a:pt x="59" y="68"/>
                  <a:pt x="59" y="68"/>
                  <a:pt x="59" y="68"/>
                </a:cubicBezTo>
                <a:cubicBezTo>
                  <a:pt x="59" y="68"/>
                  <a:pt x="59"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7"/>
                  <a:pt x="58" y="67"/>
                </a:cubicBezTo>
                <a:cubicBezTo>
                  <a:pt x="58" y="67"/>
                  <a:pt x="58" y="67"/>
                  <a:pt x="59" y="67"/>
                </a:cubicBezTo>
                <a:cubicBezTo>
                  <a:pt x="59" y="67"/>
                  <a:pt x="59" y="67"/>
                  <a:pt x="60" y="67"/>
                </a:cubicBezTo>
                <a:cubicBezTo>
                  <a:pt x="60" y="67"/>
                  <a:pt x="60" y="67"/>
                  <a:pt x="60" y="67"/>
                </a:cubicBezTo>
                <a:cubicBezTo>
                  <a:pt x="60" y="67"/>
                  <a:pt x="60" y="67"/>
                  <a:pt x="60" y="66"/>
                </a:cubicBezTo>
                <a:cubicBezTo>
                  <a:pt x="60" y="67"/>
                  <a:pt x="60" y="67"/>
                  <a:pt x="60" y="67"/>
                </a:cubicBezTo>
                <a:cubicBezTo>
                  <a:pt x="59" y="67"/>
                  <a:pt x="59" y="67"/>
                  <a:pt x="59" y="67"/>
                </a:cubicBezTo>
                <a:cubicBezTo>
                  <a:pt x="58" y="67"/>
                  <a:pt x="58" y="67"/>
                  <a:pt x="58" y="67"/>
                </a:cubicBezTo>
                <a:cubicBezTo>
                  <a:pt x="58" y="67"/>
                  <a:pt x="58" y="67"/>
                  <a:pt x="58" y="67"/>
                </a:cubicBezTo>
                <a:cubicBezTo>
                  <a:pt x="58" y="67"/>
                  <a:pt x="59" y="67"/>
                  <a:pt x="59" y="66"/>
                </a:cubicBezTo>
                <a:cubicBezTo>
                  <a:pt x="59" y="66"/>
                  <a:pt x="59" y="66"/>
                  <a:pt x="59" y="66"/>
                </a:cubicBezTo>
                <a:cubicBezTo>
                  <a:pt x="59" y="66"/>
                  <a:pt x="59" y="66"/>
                  <a:pt x="59" y="66"/>
                </a:cubicBezTo>
                <a:cubicBezTo>
                  <a:pt x="59" y="66"/>
                  <a:pt x="59" y="66"/>
                  <a:pt x="59" y="66"/>
                </a:cubicBezTo>
                <a:cubicBezTo>
                  <a:pt x="59" y="66"/>
                  <a:pt x="59" y="66"/>
                  <a:pt x="60" y="66"/>
                </a:cubicBezTo>
                <a:cubicBezTo>
                  <a:pt x="60" y="66"/>
                  <a:pt x="60" y="66"/>
                  <a:pt x="60" y="66"/>
                </a:cubicBezTo>
                <a:cubicBezTo>
                  <a:pt x="60" y="66"/>
                  <a:pt x="61" y="66"/>
                  <a:pt x="61" y="66"/>
                </a:cubicBezTo>
                <a:cubicBezTo>
                  <a:pt x="61" y="66"/>
                  <a:pt x="61" y="66"/>
                  <a:pt x="61" y="66"/>
                </a:cubicBezTo>
                <a:cubicBezTo>
                  <a:pt x="61" y="66"/>
                  <a:pt x="61" y="66"/>
                  <a:pt x="61" y="66"/>
                </a:cubicBezTo>
                <a:cubicBezTo>
                  <a:pt x="61" y="66"/>
                  <a:pt x="60" y="66"/>
                  <a:pt x="60" y="66"/>
                </a:cubicBezTo>
                <a:cubicBezTo>
                  <a:pt x="60" y="66"/>
                  <a:pt x="60" y="66"/>
                  <a:pt x="60" y="65"/>
                </a:cubicBezTo>
                <a:cubicBezTo>
                  <a:pt x="60" y="65"/>
                  <a:pt x="60" y="66"/>
                  <a:pt x="59" y="66"/>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6"/>
                  <a:pt x="59" y="66"/>
                </a:cubicBezTo>
                <a:cubicBezTo>
                  <a:pt x="59" y="66"/>
                  <a:pt x="59" y="66"/>
                  <a:pt x="59" y="66"/>
                </a:cubicBezTo>
                <a:cubicBezTo>
                  <a:pt x="59" y="66"/>
                  <a:pt x="59" y="66"/>
                  <a:pt x="59" y="66"/>
                </a:cubicBezTo>
                <a:cubicBezTo>
                  <a:pt x="59" y="66"/>
                  <a:pt x="59" y="66"/>
                  <a:pt x="58" y="66"/>
                </a:cubicBezTo>
                <a:cubicBezTo>
                  <a:pt x="58" y="66"/>
                  <a:pt x="58" y="66"/>
                  <a:pt x="58" y="66"/>
                </a:cubicBezTo>
                <a:cubicBezTo>
                  <a:pt x="58" y="66"/>
                  <a:pt x="58" y="66"/>
                  <a:pt x="58" y="66"/>
                </a:cubicBezTo>
                <a:cubicBezTo>
                  <a:pt x="58" y="66"/>
                  <a:pt x="58" y="66"/>
                  <a:pt x="58" y="66"/>
                </a:cubicBezTo>
                <a:cubicBezTo>
                  <a:pt x="58" y="66"/>
                  <a:pt x="58" y="67"/>
                  <a:pt x="58" y="67"/>
                </a:cubicBezTo>
                <a:cubicBezTo>
                  <a:pt x="58" y="67"/>
                  <a:pt x="57" y="67"/>
                  <a:pt x="57" y="67"/>
                </a:cubicBezTo>
                <a:cubicBezTo>
                  <a:pt x="57" y="67"/>
                  <a:pt x="57" y="67"/>
                  <a:pt x="57" y="67"/>
                </a:cubicBezTo>
                <a:cubicBezTo>
                  <a:pt x="57" y="67"/>
                  <a:pt x="57" y="67"/>
                  <a:pt x="57" y="66"/>
                </a:cubicBezTo>
                <a:cubicBezTo>
                  <a:pt x="57" y="66"/>
                  <a:pt x="57" y="66"/>
                  <a:pt x="58" y="65"/>
                </a:cubicBezTo>
                <a:cubicBezTo>
                  <a:pt x="58" y="65"/>
                  <a:pt x="58" y="65"/>
                  <a:pt x="58"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6" y="64"/>
                </a:cubicBezTo>
                <a:cubicBezTo>
                  <a:pt x="56" y="64"/>
                  <a:pt x="56" y="64"/>
                  <a:pt x="56" y="64"/>
                </a:cubicBezTo>
                <a:cubicBezTo>
                  <a:pt x="56" y="64"/>
                  <a:pt x="56" y="64"/>
                  <a:pt x="56" y="64"/>
                </a:cubicBezTo>
                <a:cubicBezTo>
                  <a:pt x="56" y="64"/>
                  <a:pt x="56" y="63"/>
                  <a:pt x="56" y="63"/>
                </a:cubicBezTo>
                <a:cubicBezTo>
                  <a:pt x="56" y="63"/>
                  <a:pt x="56" y="63"/>
                  <a:pt x="55" y="63"/>
                </a:cubicBezTo>
                <a:cubicBezTo>
                  <a:pt x="55" y="63"/>
                  <a:pt x="55" y="63"/>
                  <a:pt x="55" y="63"/>
                </a:cubicBezTo>
                <a:cubicBezTo>
                  <a:pt x="55" y="63"/>
                  <a:pt x="56" y="63"/>
                  <a:pt x="56" y="63"/>
                </a:cubicBezTo>
                <a:cubicBezTo>
                  <a:pt x="56" y="63"/>
                  <a:pt x="57" y="62"/>
                  <a:pt x="57" y="62"/>
                </a:cubicBezTo>
                <a:cubicBezTo>
                  <a:pt x="57" y="62"/>
                  <a:pt x="57" y="62"/>
                  <a:pt x="57" y="62"/>
                </a:cubicBezTo>
                <a:cubicBezTo>
                  <a:pt x="57" y="62"/>
                  <a:pt x="58" y="62"/>
                  <a:pt x="58" y="62"/>
                </a:cubicBezTo>
                <a:cubicBezTo>
                  <a:pt x="58" y="62"/>
                  <a:pt x="58" y="62"/>
                  <a:pt x="58" y="62"/>
                </a:cubicBezTo>
                <a:cubicBezTo>
                  <a:pt x="58" y="61"/>
                  <a:pt x="58" y="61"/>
                  <a:pt x="58" y="61"/>
                </a:cubicBezTo>
                <a:cubicBezTo>
                  <a:pt x="59" y="61"/>
                  <a:pt x="59" y="61"/>
                  <a:pt x="60" y="61"/>
                </a:cubicBezTo>
                <a:cubicBezTo>
                  <a:pt x="60" y="61"/>
                  <a:pt x="60" y="61"/>
                  <a:pt x="60" y="61"/>
                </a:cubicBezTo>
                <a:cubicBezTo>
                  <a:pt x="60" y="61"/>
                  <a:pt x="60" y="61"/>
                  <a:pt x="60" y="61"/>
                </a:cubicBezTo>
                <a:cubicBezTo>
                  <a:pt x="59" y="61"/>
                  <a:pt x="59" y="61"/>
                  <a:pt x="59" y="61"/>
                </a:cubicBezTo>
                <a:cubicBezTo>
                  <a:pt x="59" y="61"/>
                  <a:pt x="59" y="61"/>
                  <a:pt x="59" y="61"/>
                </a:cubicBezTo>
                <a:cubicBezTo>
                  <a:pt x="59" y="61"/>
                  <a:pt x="58" y="61"/>
                  <a:pt x="58" y="61"/>
                </a:cubicBezTo>
                <a:cubicBezTo>
                  <a:pt x="58" y="61"/>
                  <a:pt x="58" y="61"/>
                  <a:pt x="58" y="61"/>
                </a:cubicBezTo>
                <a:cubicBezTo>
                  <a:pt x="58" y="61"/>
                  <a:pt x="57" y="62"/>
                  <a:pt x="57" y="62"/>
                </a:cubicBezTo>
                <a:cubicBezTo>
                  <a:pt x="57" y="62"/>
                  <a:pt x="57" y="62"/>
                  <a:pt x="57" y="62"/>
                </a:cubicBezTo>
                <a:cubicBezTo>
                  <a:pt x="57" y="62"/>
                  <a:pt x="56" y="62"/>
                  <a:pt x="56" y="63"/>
                </a:cubicBezTo>
                <a:cubicBezTo>
                  <a:pt x="56" y="63"/>
                  <a:pt x="56" y="63"/>
                  <a:pt x="55" y="63"/>
                </a:cubicBezTo>
                <a:cubicBezTo>
                  <a:pt x="55" y="63"/>
                  <a:pt x="55" y="63"/>
                  <a:pt x="55" y="63"/>
                </a:cubicBezTo>
                <a:cubicBezTo>
                  <a:pt x="55" y="63"/>
                  <a:pt x="55" y="63"/>
                  <a:pt x="55" y="63"/>
                </a:cubicBezTo>
                <a:cubicBezTo>
                  <a:pt x="55" y="63"/>
                  <a:pt x="55" y="63"/>
                  <a:pt x="55" y="62"/>
                </a:cubicBezTo>
                <a:cubicBezTo>
                  <a:pt x="55" y="62"/>
                  <a:pt x="55" y="62"/>
                  <a:pt x="55" y="62"/>
                </a:cubicBezTo>
                <a:cubicBezTo>
                  <a:pt x="55" y="62"/>
                  <a:pt x="56" y="62"/>
                  <a:pt x="56" y="62"/>
                </a:cubicBezTo>
                <a:cubicBezTo>
                  <a:pt x="56" y="62"/>
                  <a:pt x="56" y="62"/>
                  <a:pt x="56" y="62"/>
                </a:cubicBezTo>
                <a:cubicBezTo>
                  <a:pt x="56" y="62"/>
                  <a:pt x="56" y="62"/>
                  <a:pt x="55" y="62"/>
                </a:cubicBezTo>
                <a:cubicBezTo>
                  <a:pt x="55" y="62"/>
                  <a:pt x="55" y="62"/>
                  <a:pt x="55" y="62"/>
                </a:cubicBezTo>
                <a:cubicBezTo>
                  <a:pt x="56" y="61"/>
                  <a:pt x="57" y="62"/>
                  <a:pt x="57" y="61"/>
                </a:cubicBezTo>
                <a:cubicBezTo>
                  <a:pt x="57" y="61"/>
                  <a:pt x="57" y="61"/>
                  <a:pt x="57" y="61"/>
                </a:cubicBezTo>
                <a:cubicBezTo>
                  <a:pt x="57" y="61"/>
                  <a:pt x="56" y="61"/>
                  <a:pt x="56" y="61"/>
                </a:cubicBezTo>
                <a:cubicBezTo>
                  <a:pt x="56" y="61"/>
                  <a:pt x="56" y="61"/>
                  <a:pt x="56" y="61"/>
                </a:cubicBezTo>
                <a:cubicBezTo>
                  <a:pt x="55" y="61"/>
                  <a:pt x="55" y="61"/>
                  <a:pt x="55" y="61"/>
                </a:cubicBezTo>
                <a:cubicBezTo>
                  <a:pt x="55" y="61"/>
                  <a:pt x="55" y="61"/>
                  <a:pt x="55" y="61"/>
                </a:cubicBezTo>
                <a:cubicBezTo>
                  <a:pt x="55" y="61"/>
                  <a:pt x="55" y="61"/>
                  <a:pt x="55" y="61"/>
                </a:cubicBezTo>
                <a:cubicBezTo>
                  <a:pt x="56" y="60"/>
                  <a:pt x="57" y="60"/>
                  <a:pt x="58" y="60"/>
                </a:cubicBezTo>
                <a:cubicBezTo>
                  <a:pt x="58" y="60"/>
                  <a:pt x="58" y="60"/>
                  <a:pt x="58" y="60"/>
                </a:cubicBezTo>
                <a:cubicBezTo>
                  <a:pt x="58" y="60"/>
                  <a:pt x="58" y="60"/>
                  <a:pt x="58" y="60"/>
                </a:cubicBezTo>
                <a:cubicBezTo>
                  <a:pt x="58" y="60"/>
                  <a:pt x="58" y="60"/>
                  <a:pt x="57" y="60"/>
                </a:cubicBezTo>
                <a:cubicBezTo>
                  <a:pt x="57" y="60"/>
                  <a:pt x="57" y="60"/>
                  <a:pt x="57" y="60"/>
                </a:cubicBezTo>
                <a:cubicBezTo>
                  <a:pt x="57" y="60"/>
                  <a:pt x="57" y="60"/>
                  <a:pt x="57" y="60"/>
                </a:cubicBezTo>
                <a:cubicBezTo>
                  <a:pt x="56" y="60"/>
                  <a:pt x="55" y="60"/>
                  <a:pt x="55" y="60"/>
                </a:cubicBezTo>
                <a:cubicBezTo>
                  <a:pt x="55" y="60"/>
                  <a:pt x="55" y="60"/>
                  <a:pt x="55" y="60"/>
                </a:cubicBezTo>
                <a:cubicBezTo>
                  <a:pt x="55" y="60"/>
                  <a:pt x="55" y="60"/>
                  <a:pt x="55" y="60"/>
                </a:cubicBezTo>
                <a:cubicBezTo>
                  <a:pt x="56" y="60"/>
                  <a:pt x="56" y="60"/>
                  <a:pt x="56" y="59"/>
                </a:cubicBezTo>
                <a:cubicBezTo>
                  <a:pt x="56" y="59"/>
                  <a:pt x="56" y="59"/>
                  <a:pt x="57" y="59"/>
                </a:cubicBezTo>
                <a:cubicBezTo>
                  <a:pt x="57" y="59"/>
                  <a:pt x="57" y="59"/>
                  <a:pt x="57" y="59"/>
                </a:cubicBezTo>
                <a:cubicBezTo>
                  <a:pt x="58" y="59"/>
                  <a:pt x="58" y="59"/>
                  <a:pt x="58" y="59"/>
                </a:cubicBezTo>
                <a:cubicBezTo>
                  <a:pt x="58" y="59"/>
                  <a:pt x="58" y="59"/>
                  <a:pt x="58" y="59"/>
                </a:cubicBezTo>
                <a:cubicBezTo>
                  <a:pt x="58" y="59"/>
                  <a:pt x="58" y="59"/>
                  <a:pt x="59" y="59"/>
                </a:cubicBezTo>
                <a:cubicBezTo>
                  <a:pt x="59" y="59"/>
                  <a:pt x="59" y="59"/>
                  <a:pt x="59" y="59"/>
                </a:cubicBezTo>
                <a:cubicBezTo>
                  <a:pt x="58" y="59"/>
                  <a:pt x="58" y="59"/>
                  <a:pt x="58" y="59"/>
                </a:cubicBezTo>
                <a:cubicBezTo>
                  <a:pt x="58" y="59"/>
                  <a:pt x="58" y="59"/>
                  <a:pt x="58" y="59"/>
                </a:cubicBezTo>
                <a:cubicBezTo>
                  <a:pt x="58" y="59"/>
                  <a:pt x="58" y="59"/>
                  <a:pt x="58" y="59"/>
                </a:cubicBezTo>
                <a:cubicBezTo>
                  <a:pt x="58" y="59"/>
                  <a:pt x="58" y="59"/>
                  <a:pt x="57" y="59"/>
                </a:cubicBezTo>
                <a:cubicBezTo>
                  <a:pt x="57" y="59"/>
                  <a:pt x="57" y="59"/>
                  <a:pt x="57" y="59"/>
                </a:cubicBezTo>
                <a:cubicBezTo>
                  <a:pt x="57" y="59"/>
                  <a:pt x="57" y="59"/>
                  <a:pt x="57" y="59"/>
                </a:cubicBezTo>
                <a:cubicBezTo>
                  <a:pt x="57" y="59"/>
                  <a:pt x="56" y="59"/>
                  <a:pt x="56" y="59"/>
                </a:cubicBezTo>
                <a:cubicBezTo>
                  <a:pt x="56" y="59"/>
                  <a:pt x="56" y="59"/>
                  <a:pt x="56" y="59"/>
                </a:cubicBezTo>
                <a:cubicBezTo>
                  <a:pt x="56" y="59"/>
                  <a:pt x="55" y="60"/>
                  <a:pt x="55" y="60"/>
                </a:cubicBezTo>
                <a:cubicBezTo>
                  <a:pt x="55" y="60"/>
                  <a:pt x="55" y="60"/>
                  <a:pt x="55" y="60"/>
                </a:cubicBezTo>
                <a:cubicBezTo>
                  <a:pt x="55" y="60"/>
                  <a:pt x="55" y="59"/>
                  <a:pt x="55" y="59"/>
                </a:cubicBezTo>
                <a:cubicBezTo>
                  <a:pt x="55" y="59"/>
                  <a:pt x="55" y="59"/>
                  <a:pt x="56" y="59"/>
                </a:cubicBezTo>
                <a:cubicBezTo>
                  <a:pt x="56" y="59"/>
                  <a:pt x="57" y="59"/>
                  <a:pt x="57" y="59"/>
                </a:cubicBezTo>
                <a:cubicBezTo>
                  <a:pt x="57" y="59"/>
                  <a:pt x="57" y="59"/>
                  <a:pt x="57" y="59"/>
                </a:cubicBezTo>
                <a:cubicBezTo>
                  <a:pt x="56" y="59"/>
                  <a:pt x="56" y="59"/>
                  <a:pt x="56" y="58"/>
                </a:cubicBezTo>
                <a:cubicBezTo>
                  <a:pt x="56" y="58"/>
                  <a:pt x="56" y="58"/>
                  <a:pt x="56" y="58"/>
                </a:cubicBezTo>
                <a:cubicBezTo>
                  <a:pt x="56" y="58"/>
                  <a:pt x="56" y="58"/>
                  <a:pt x="56" y="58"/>
                </a:cubicBezTo>
                <a:cubicBezTo>
                  <a:pt x="56" y="58"/>
                  <a:pt x="56" y="58"/>
                  <a:pt x="57" y="58"/>
                </a:cubicBezTo>
                <a:cubicBezTo>
                  <a:pt x="57" y="59"/>
                  <a:pt x="57" y="59"/>
                  <a:pt x="57" y="59"/>
                </a:cubicBezTo>
                <a:cubicBezTo>
                  <a:pt x="58" y="59"/>
                  <a:pt x="58" y="59"/>
                  <a:pt x="58" y="58"/>
                </a:cubicBezTo>
                <a:cubicBezTo>
                  <a:pt x="58" y="58"/>
                  <a:pt x="59" y="59"/>
                  <a:pt x="59" y="59"/>
                </a:cubicBezTo>
                <a:cubicBezTo>
                  <a:pt x="59" y="59"/>
                  <a:pt x="59" y="59"/>
                  <a:pt x="59" y="59"/>
                </a:cubicBezTo>
                <a:cubicBezTo>
                  <a:pt x="59"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7" y="58"/>
                  <a:pt x="57" y="58"/>
                  <a:pt x="57" y="58"/>
                </a:cubicBezTo>
                <a:cubicBezTo>
                  <a:pt x="57" y="58"/>
                  <a:pt x="57" y="58"/>
                  <a:pt x="57" y="58"/>
                </a:cubicBezTo>
                <a:cubicBezTo>
                  <a:pt x="56" y="58"/>
                  <a:pt x="56" y="58"/>
                  <a:pt x="56" y="58"/>
                </a:cubicBezTo>
                <a:cubicBezTo>
                  <a:pt x="56" y="58"/>
                  <a:pt x="56" y="58"/>
                  <a:pt x="56" y="58"/>
                </a:cubicBezTo>
                <a:cubicBezTo>
                  <a:pt x="56" y="58"/>
                  <a:pt x="56" y="58"/>
                  <a:pt x="57" y="57"/>
                </a:cubicBezTo>
                <a:cubicBezTo>
                  <a:pt x="57" y="57"/>
                  <a:pt x="57" y="57"/>
                  <a:pt x="57" y="57"/>
                </a:cubicBezTo>
                <a:cubicBezTo>
                  <a:pt x="58" y="57"/>
                  <a:pt x="58" y="57"/>
                  <a:pt x="58" y="57"/>
                </a:cubicBezTo>
                <a:cubicBezTo>
                  <a:pt x="58" y="57"/>
                  <a:pt x="58" y="57"/>
                  <a:pt x="59" y="57"/>
                </a:cubicBezTo>
                <a:cubicBezTo>
                  <a:pt x="59" y="57"/>
                  <a:pt x="59" y="57"/>
                  <a:pt x="59" y="57"/>
                </a:cubicBezTo>
                <a:cubicBezTo>
                  <a:pt x="58" y="57"/>
                  <a:pt x="58" y="57"/>
                  <a:pt x="58" y="57"/>
                </a:cubicBezTo>
                <a:cubicBezTo>
                  <a:pt x="58" y="57"/>
                  <a:pt x="58" y="57"/>
                  <a:pt x="58" y="57"/>
                </a:cubicBezTo>
                <a:cubicBezTo>
                  <a:pt x="58" y="57"/>
                  <a:pt x="58" y="57"/>
                  <a:pt x="58" y="56"/>
                </a:cubicBezTo>
                <a:cubicBezTo>
                  <a:pt x="58" y="56"/>
                  <a:pt x="58" y="56"/>
                  <a:pt x="58" y="56"/>
                </a:cubicBezTo>
                <a:cubicBezTo>
                  <a:pt x="58"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8" y="56"/>
                </a:cubicBezTo>
                <a:cubicBezTo>
                  <a:pt x="58" y="56"/>
                  <a:pt x="58" y="56"/>
                  <a:pt x="58" y="56"/>
                </a:cubicBezTo>
                <a:cubicBezTo>
                  <a:pt x="59" y="56"/>
                  <a:pt x="59" y="56"/>
                  <a:pt x="59" y="56"/>
                </a:cubicBezTo>
                <a:cubicBezTo>
                  <a:pt x="59" y="56"/>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4"/>
                  <a:pt x="59" y="54"/>
                  <a:pt x="59" y="54"/>
                </a:cubicBezTo>
                <a:cubicBezTo>
                  <a:pt x="59" y="54"/>
                  <a:pt x="59" y="54"/>
                  <a:pt x="59" y="54"/>
                </a:cubicBezTo>
                <a:cubicBezTo>
                  <a:pt x="59" y="54"/>
                  <a:pt x="59" y="54"/>
                  <a:pt x="59" y="54"/>
                </a:cubicBezTo>
                <a:cubicBezTo>
                  <a:pt x="59" y="54"/>
                  <a:pt x="59"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7" y="54"/>
                  <a:pt x="57" y="54"/>
                  <a:pt x="57" y="54"/>
                </a:cubicBezTo>
                <a:cubicBezTo>
                  <a:pt x="57" y="54"/>
                  <a:pt x="56" y="54"/>
                  <a:pt x="56" y="54"/>
                </a:cubicBezTo>
                <a:cubicBezTo>
                  <a:pt x="56" y="54"/>
                  <a:pt x="56" y="54"/>
                  <a:pt x="56" y="54"/>
                </a:cubicBezTo>
                <a:cubicBezTo>
                  <a:pt x="56" y="54"/>
                  <a:pt x="56" y="54"/>
                  <a:pt x="56" y="54"/>
                </a:cubicBezTo>
                <a:cubicBezTo>
                  <a:pt x="56" y="54"/>
                  <a:pt x="55" y="54"/>
                  <a:pt x="55" y="54"/>
                </a:cubicBezTo>
                <a:cubicBezTo>
                  <a:pt x="55" y="54"/>
                  <a:pt x="55" y="54"/>
                  <a:pt x="55" y="54"/>
                </a:cubicBezTo>
                <a:cubicBezTo>
                  <a:pt x="56" y="54"/>
                  <a:pt x="56" y="54"/>
                  <a:pt x="56" y="54"/>
                </a:cubicBezTo>
                <a:cubicBezTo>
                  <a:pt x="56" y="54"/>
                  <a:pt x="56" y="54"/>
                  <a:pt x="57" y="55"/>
                </a:cubicBezTo>
                <a:cubicBezTo>
                  <a:pt x="57" y="55"/>
                  <a:pt x="58" y="55"/>
                  <a:pt x="57" y="55"/>
                </a:cubicBezTo>
                <a:cubicBezTo>
                  <a:pt x="57" y="55"/>
                  <a:pt x="57" y="56"/>
                  <a:pt x="56" y="56"/>
                </a:cubicBezTo>
                <a:cubicBezTo>
                  <a:pt x="56" y="56"/>
                  <a:pt x="56" y="56"/>
                  <a:pt x="56" y="56"/>
                </a:cubicBezTo>
                <a:cubicBezTo>
                  <a:pt x="56" y="56"/>
                  <a:pt x="55" y="56"/>
                  <a:pt x="55" y="56"/>
                </a:cubicBezTo>
                <a:cubicBezTo>
                  <a:pt x="55" y="56"/>
                  <a:pt x="55" y="56"/>
                  <a:pt x="55" y="56"/>
                </a:cubicBezTo>
                <a:cubicBezTo>
                  <a:pt x="55" y="56"/>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4" y="55"/>
                  <a:pt x="54" y="55"/>
                  <a:pt x="54" y="55"/>
                </a:cubicBezTo>
                <a:cubicBezTo>
                  <a:pt x="54" y="55"/>
                  <a:pt x="54" y="55"/>
                  <a:pt x="54" y="55"/>
                </a:cubicBezTo>
                <a:cubicBezTo>
                  <a:pt x="51" y="58"/>
                  <a:pt x="48" y="61"/>
                  <a:pt x="46" y="64"/>
                </a:cubicBezTo>
                <a:cubicBezTo>
                  <a:pt x="46" y="64"/>
                  <a:pt x="46" y="64"/>
                  <a:pt x="46" y="64"/>
                </a:cubicBezTo>
                <a:cubicBezTo>
                  <a:pt x="47" y="64"/>
                  <a:pt x="47" y="65"/>
                  <a:pt x="47" y="65"/>
                </a:cubicBezTo>
                <a:cubicBezTo>
                  <a:pt x="47" y="65"/>
                  <a:pt x="47" y="65"/>
                  <a:pt x="47" y="65"/>
                </a:cubicBezTo>
                <a:cubicBezTo>
                  <a:pt x="47" y="65"/>
                  <a:pt x="47" y="65"/>
                  <a:pt x="47" y="66"/>
                </a:cubicBezTo>
                <a:cubicBezTo>
                  <a:pt x="47" y="66"/>
                  <a:pt x="47" y="66"/>
                  <a:pt x="47" y="66"/>
                </a:cubicBezTo>
                <a:cubicBezTo>
                  <a:pt x="47" y="66"/>
                  <a:pt x="48" y="66"/>
                  <a:pt x="48" y="66"/>
                </a:cubicBezTo>
                <a:cubicBezTo>
                  <a:pt x="48" y="66"/>
                  <a:pt x="48" y="66"/>
                  <a:pt x="48" y="66"/>
                </a:cubicBezTo>
                <a:cubicBezTo>
                  <a:pt x="49" y="66"/>
                  <a:pt x="49" y="66"/>
                  <a:pt x="49" y="66"/>
                </a:cubicBezTo>
                <a:cubicBezTo>
                  <a:pt x="50" y="66"/>
                  <a:pt x="50" y="67"/>
                  <a:pt x="51" y="67"/>
                </a:cubicBezTo>
                <a:cubicBezTo>
                  <a:pt x="51" y="67"/>
                  <a:pt x="51" y="67"/>
                  <a:pt x="51" y="67"/>
                </a:cubicBezTo>
                <a:cubicBezTo>
                  <a:pt x="50" y="67"/>
                  <a:pt x="50" y="67"/>
                  <a:pt x="50" y="67"/>
                </a:cubicBezTo>
                <a:cubicBezTo>
                  <a:pt x="50" y="68"/>
                  <a:pt x="49" y="67"/>
                  <a:pt x="49" y="67"/>
                </a:cubicBezTo>
                <a:cubicBezTo>
                  <a:pt x="49" y="67"/>
                  <a:pt x="49" y="67"/>
                  <a:pt x="49" y="67"/>
                </a:cubicBezTo>
                <a:cubicBezTo>
                  <a:pt x="49" y="68"/>
                  <a:pt x="50" y="68"/>
                  <a:pt x="50" y="68"/>
                </a:cubicBezTo>
                <a:cubicBezTo>
                  <a:pt x="49" y="68"/>
                  <a:pt x="49" y="68"/>
                  <a:pt x="49" y="69"/>
                </a:cubicBezTo>
                <a:cubicBezTo>
                  <a:pt x="48" y="69"/>
                  <a:pt x="48" y="68"/>
                  <a:pt x="48" y="68"/>
                </a:cubicBezTo>
                <a:cubicBezTo>
                  <a:pt x="48" y="68"/>
                  <a:pt x="48" y="68"/>
                  <a:pt x="48" y="68"/>
                </a:cubicBezTo>
                <a:cubicBezTo>
                  <a:pt x="48" y="69"/>
                  <a:pt x="48" y="69"/>
                  <a:pt x="48" y="69"/>
                </a:cubicBezTo>
                <a:cubicBezTo>
                  <a:pt x="48" y="69"/>
                  <a:pt x="48" y="70"/>
                  <a:pt x="48" y="70"/>
                </a:cubicBezTo>
                <a:cubicBezTo>
                  <a:pt x="48" y="70"/>
                  <a:pt x="48" y="70"/>
                  <a:pt x="48" y="70"/>
                </a:cubicBezTo>
                <a:cubicBezTo>
                  <a:pt x="48" y="70"/>
                  <a:pt x="47" y="70"/>
                  <a:pt x="47" y="70"/>
                </a:cubicBezTo>
                <a:cubicBezTo>
                  <a:pt x="47" y="69"/>
                  <a:pt x="47" y="69"/>
                  <a:pt x="47" y="69"/>
                </a:cubicBezTo>
                <a:cubicBezTo>
                  <a:pt x="47" y="69"/>
                  <a:pt x="46" y="69"/>
                  <a:pt x="46" y="69"/>
                </a:cubicBezTo>
                <a:cubicBezTo>
                  <a:pt x="46" y="69"/>
                  <a:pt x="46" y="69"/>
                  <a:pt x="46" y="69"/>
                </a:cubicBezTo>
                <a:cubicBezTo>
                  <a:pt x="46" y="68"/>
                  <a:pt x="46" y="68"/>
                  <a:pt x="46" y="68"/>
                </a:cubicBezTo>
                <a:cubicBezTo>
                  <a:pt x="46" y="68"/>
                  <a:pt x="46" y="68"/>
                  <a:pt x="45" y="68"/>
                </a:cubicBezTo>
                <a:cubicBezTo>
                  <a:pt x="45" y="68"/>
                  <a:pt x="44" y="67"/>
                  <a:pt x="44" y="67"/>
                </a:cubicBezTo>
                <a:cubicBezTo>
                  <a:pt x="44" y="67"/>
                  <a:pt x="43" y="68"/>
                  <a:pt x="43" y="68"/>
                </a:cubicBezTo>
                <a:cubicBezTo>
                  <a:pt x="43" y="68"/>
                  <a:pt x="43" y="68"/>
                  <a:pt x="44" y="68"/>
                </a:cubicBezTo>
                <a:cubicBezTo>
                  <a:pt x="44" y="68"/>
                  <a:pt x="44" y="68"/>
                  <a:pt x="43" y="68"/>
                </a:cubicBezTo>
                <a:cubicBezTo>
                  <a:pt x="43" y="68"/>
                  <a:pt x="43" y="68"/>
                  <a:pt x="43" y="68"/>
                </a:cubicBezTo>
                <a:cubicBezTo>
                  <a:pt x="43" y="68"/>
                  <a:pt x="43" y="68"/>
                  <a:pt x="43" y="68"/>
                </a:cubicBezTo>
                <a:cubicBezTo>
                  <a:pt x="43" y="68"/>
                  <a:pt x="43" y="68"/>
                  <a:pt x="43" y="69"/>
                </a:cubicBezTo>
                <a:cubicBezTo>
                  <a:pt x="43" y="69"/>
                  <a:pt x="43" y="69"/>
                  <a:pt x="43" y="69"/>
                </a:cubicBezTo>
                <a:cubicBezTo>
                  <a:pt x="43" y="69"/>
                  <a:pt x="43" y="69"/>
                  <a:pt x="43" y="69"/>
                </a:cubicBezTo>
                <a:cubicBezTo>
                  <a:pt x="44" y="69"/>
                  <a:pt x="44" y="70"/>
                  <a:pt x="44" y="70"/>
                </a:cubicBezTo>
                <a:cubicBezTo>
                  <a:pt x="44" y="70"/>
                  <a:pt x="44" y="70"/>
                  <a:pt x="44" y="70"/>
                </a:cubicBezTo>
                <a:cubicBezTo>
                  <a:pt x="44" y="70"/>
                  <a:pt x="44" y="70"/>
                  <a:pt x="45" y="70"/>
                </a:cubicBezTo>
                <a:cubicBezTo>
                  <a:pt x="45" y="70"/>
                  <a:pt x="45" y="71"/>
                  <a:pt x="45" y="71"/>
                </a:cubicBezTo>
                <a:cubicBezTo>
                  <a:pt x="46" y="71"/>
                  <a:pt x="46" y="71"/>
                  <a:pt x="46" y="71"/>
                </a:cubicBezTo>
                <a:cubicBezTo>
                  <a:pt x="46" y="71"/>
                  <a:pt x="46" y="71"/>
                  <a:pt x="46" y="71"/>
                </a:cubicBezTo>
                <a:cubicBezTo>
                  <a:pt x="46" y="71"/>
                  <a:pt x="46" y="71"/>
                  <a:pt x="46" y="71"/>
                </a:cubicBezTo>
                <a:cubicBezTo>
                  <a:pt x="46" y="71"/>
                  <a:pt x="46" y="71"/>
                  <a:pt x="46" y="71"/>
                </a:cubicBezTo>
                <a:cubicBezTo>
                  <a:pt x="46" y="72"/>
                  <a:pt x="47" y="72"/>
                  <a:pt x="47" y="73"/>
                </a:cubicBezTo>
                <a:cubicBezTo>
                  <a:pt x="47" y="73"/>
                  <a:pt x="47" y="73"/>
                  <a:pt x="47" y="73"/>
                </a:cubicBezTo>
                <a:cubicBezTo>
                  <a:pt x="47" y="73"/>
                  <a:pt x="46" y="72"/>
                  <a:pt x="46" y="72"/>
                </a:cubicBezTo>
                <a:cubicBezTo>
                  <a:pt x="46" y="73"/>
                  <a:pt x="46" y="73"/>
                  <a:pt x="46" y="74"/>
                </a:cubicBezTo>
                <a:cubicBezTo>
                  <a:pt x="46" y="74"/>
                  <a:pt x="46" y="74"/>
                  <a:pt x="46" y="74"/>
                </a:cubicBezTo>
                <a:cubicBezTo>
                  <a:pt x="46" y="74"/>
                  <a:pt x="46" y="74"/>
                  <a:pt x="46" y="74"/>
                </a:cubicBezTo>
                <a:cubicBezTo>
                  <a:pt x="46" y="74"/>
                  <a:pt x="46" y="74"/>
                  <a:pt x="46" y="75"/>
                </a:cubicBezTo>
                <a:cubicBezTo>
                  <a:pt x="46" y="74"/>
                  <a:pt x="46" y="74"/>
                  <a:pt x="45" y="74"/>
                </a:cubicBezTo>
                <a:cubicBezTo>
                  <a:pt x="44" y="74"/>
                  <a:pt x="44" y="73"/>
                  <a:pt x="43" y="72"/>
                </a:cubicBezTo>
                <a:cubicBezTo>
                  <a:pt x="43" y="72"/>
                  <a:pt x="43" y="73"/>
                  <a:pt x="43" y="73"/>
                </a:cubicBezTo>
                <a:cubicBezTo>
                  <a:pt x="42" y="73"/>
                  <a:pt x="42" y="72"/>
                  <a:pt x="42" y="72"/>
                </a:cubicBezTo>
                <a:cubicBezTo>
                  <a:pt x="42" y="73"/>
                  <a:pt x="43" y="74"/>
                  <a:pt x="43" y="74"/>
                </a:cubicBezTo>
                <a:cubicBezTo>
                  <a:pt x="44" y="74"/>
                  <a:pt x="45" y="75"/>
                  <a:pt x="45" y="76"/>
                </a:cubicBezTo>
                <a:cubicBezTo>
                  <a:pt x="44" y="76"/>
                  <a:pt x="43" y="75"/>
                  <a:pt x="43" y="75"/>
                </a:cubicBezTo>
                <a:cubicBezTo>
                  <a:pt x="42" y="75"/>
                  <a:pt x="42" y="75"/>
                  <a:pt x="41" y="75"/>
                </a:cubicBezTo>
                <a:cubicBezTo>
                  <a:pt x="41" y="75"/>
                  <a:pt x="41" y="74"/>
                  <a:pt x="41" y="74"/>
                </a:cubicBezTo>
                <a:cubicBezTo>
                  <a:pt x="41" y="74"/>
                  <a:pt x="40" y="74"/>
                  <a:pt x="40" y="74"/>
                </a:cubicBezTo>
                <a:cubicBezTo>
                  <a:pt x="40" y="74"/>
                  <a:pt x="40" y="74"/>
                  <a:pt x="40" y="74"/>
                </a:cubicBezTo>
                <a:cubicBezTo>
                  <a:pt x="40" y="74"/>
                  <a:pt x="39" y="74"/>
                  <a:pt x="39" y="74"/>
                </a:cubicBezTo>
                <a:cubicBezTo>
                  <a:pt x="39" y="74"/>
                  <a:pt x="39" y="74"/>
                  <a:pt x="39" y="74"/>
                </a:cubicBezTo>
                <a:cubicBezTo>
                  <a:pt x="39" y="75"/>
                  <a:pt x="38" y="75"/>
                  <a:pt x="38" y="76"/>
                </a:cubicBezTo>
                <a:cubicBezTo>
                  <a:pt x="38" y="76"/>
                  <a:pt x="38" y="76"/>
                  <a:pt x="38" y="76"/>
                </a:cubicBezTo>
                <a:cubicBezTo>
                  <a:pt x="38" y="77"/>
                  <a:pt x="38" y="77"/>
                  <a:pt x="38" y="77"/>
                </a:cubicBezTo>
                <a:cubicBezTo>
                  <a:pt x="39" y="77"/>
                  <a:pt x="40" y="77"/>
                  <a:pt x="40" y="78"/>
                </a:cubicBezTo>
                <a:cubicBezTo>
                  <a:pt x="41" y="78"/>
                  <a:pt x="41" y="77"/>
                  <a:pt x="41" y="77"/>
                </a:cubicBezTo>
                <a:cubicBezTo>
                  <a:pt x="41" y="77"/>
                  <a:pt x="41" y="78"/>
                  <a:pt x="41" y="78"/>
                </a:cubicBezTo>
                <a:cubicBezTo>
                  <a:pt x="41" y="78"/>
                  <a:pt x="41" y="78"/>
                  <a:pt x="41" y="78"/>
                </a:cubicBezTo>
                <a:cubicBezTo>
                  <a:pt x="40" y="78"/>
                  <a:pt x="41" y="80"/>
                  <a:pt x="41" y="81"/>
                </a:cubicBezTo>
                <a:cubicBezTo>
                  <a:pt x="41" y="81"/>
                  <a:pt x="41" y="81"/>
                  <a:pt x="40" y="81"/>
                </a:cubicBezTo>
                <a:cubicBezTo>
                  <a:pt x="40" y="81"/>
                  <a:pt x="40" y="81"/>
                  <a:pt x="41" y="82"/>
                </a:cubicBezTo>
                <a:cubicBezTo>
                  <a:pt x="41" y="82"/>
                  <a:pt x="41" y="82"/>
                  <a:pt x="41" y="82"/>
                </a:cubicBezTo>
                <a:cubicBezTo>
                  <a:pt x="41" y="81"/>
                  <a:pt x="42" y="81"/>
                  <a:pt x="43" y="82"/>
                </a:cubicBezTo>
                <a:cubicBezTo>
                  <a:pt x="43" y="82"/>
                  <a:pt x="43" y="82"/>
                  <a:pt x="42" y="82"/>
                </a:cubicBezTo>
                <a:cubicBezTo>
                  <a:pt x="43" y="82"/>
                  <a:pt x="43" y="82"/>
                  <a:pt x="43" y="82"/>
                </a:cubicBezTo>
                <a:cubicBezTo>
                  <a:pt x="43" y="82"/>
                  <a:pt x="44" y="82"/>
                  <a:pt x="44" y="82"/>
                </a:cubicBezTo>
                <a:cubicBezTo>
                  <a:pt x="44" y="82"/>
                  <a:pt x="44" y="81"/>
                  <a:pt x="44" y="81"/>
                </a:cubicBezTo>
                <a:cubicBezTo>
                  <a:pt x="45" y="81"/>
                  <a:pt x="45" y="82"/>
                  <a:pt x="45" y="82"/>
                </a:cubicBezTo>
                <a:cubicBezTo>
                  <a:pt x="45" y="82"/>
                  <a:pt x="45" y="82"/>
                  <a:pt x="45" y="82"/>
                </a:cubicBezTo>
                <a:cubicBezTo>
                  <a:pt x="45" y="81"/>
                  <a:pt x="45" y="81"/>
                  <a:pt x="46" y="80"/>
                </a:cubicBezTo>
                <a:cubicBezTo>
                  <a:pt x="45" y="79"/>
                  <a:pt x="46" y="80"/>
                  <a:pt x="46" y="79"/>
                </a:cubicBezTo>
                <a:cubicBezTo>
                  <a:pt x="46" y="79"/>
                  <a:pt x="46" y="79"/>
                  <a:pt x="46" y="79"/>
                </a:cubicBezTo>
                <a:cubicBezTo>
                  <a:pt x="47" y="79"/>
                  <a:pt x="47" y="79"/>
                  <a:pt x="47" y="79"/>
                </a:cubicBezTo>
                <a:cubicBezTo>
                  <a:pt x="47" y="79"/>
                  <a:pt x="48" y="81"/>
                  <a:pt x="49" y="81"/>
                </a:cubicBezTo>
                <a:cubicBezTo>
                  <a:pt x="49" y="82"/>
                  <a:pt x="48" y="82"/>
                  <a:pt x="48" y="82"/>
                </a:cubicBezTo>
                <a:cubicBezTo>
                  <a:pt x="49" y="82"/>
                  <a:pt x="49" y="82"/>
                  <a:pt x="49" y="82"/>
                </a:cubicBezTo>
                <a:cubicBezTo>
                  <a:pt x="49" y="83"/>
                  <a:pt x="50" y="82"/>
                  <a:pt x="50" y="83"/>
                </a:cubicBezTo>
                <a:cubicBezTo>
                  <a:pt x="50" y="83"/>
                  <a:pt x="50" y="83"/>
                  <a:pt x="49" y="83"/>
                </a:cubicBezTo>
                <a:cubicBezTo>
                  <a:pt x="50" y="84"/>
                  <a:pt x="50" y="84"/>
                  <a:pt x="50" y="84"/>
                </a:cubicBezTo>
                <a:cubicBezTo>
                  <a:pt x="50" y="84"/>
                  <a:pt x="50" y="84"/>
                  <a:pt x="50" y="85"/>
                </a:cubicBezTo>
                <a:cubicBezTo>
                  <a:pt x="50" y="85"/>
                  <a:pt x="50" y="84"/>
                  <a:pt x="49" y="85"/>
                </a:cubicBezTo>
                <a:cubicBezTo>
                  <a:pt x="49" y="85"/>
                  <a:pt x="49" y="85"/>
                  <a:pt x="49" y="85"/>
                </a:cubicBezTo>
                <a:cubicBezTo>
                  <a:pt x="49" y="85"/>
                  <a:pt x="50" y="85"/>
                  <a:pt x="50" y="86"/>
                </a:cubicBezTo>
                <a:cubicBezTo>
                  <a:pt x="50" y="86"/>
                  <a:pt x="50" y="86"/>
                  <a:pt x="50" y="86"/>
                </a:cubicBezTo>
                <a:cubicBezTo>
                  <a:pt x="51" y="86"/>
                  <a:pt x="52" y="86"/>
                  <a:pt x="52" y="87"/>
                </a:cubicBezTo>
                <a:cubicBezTo>
                  <a:pt x="51" y="87"/>
                  <a:pt x="51" y="87"/>
                  <a:pt x="51" y="87"/>
                </a:cubicBezTo>
                <a:cubicBezTo>
                  <a:pt x="52" y="87"/>
                  <a:pt x="52" y="87"/>
                  <a:pt x="52" y="87"/>
                </a:cubicBezTo>
                <a:cubicBezTo>
                  <a:pt x="53" y="87"/>
                  <a:pt x="53" y="88"/>
                  <a:pt x="54" y="88"/>
                </a:cubicBezTo>
                <a:cubicBezTo>
                  <a:pt x="54" y="88"/>
                  <a:pt x="54" y="88"/>
                  <a:pt x="55" y="88"/>
                </a:cubicBezTo>
                <a:cubicBezTo>
                  <a:pt x="55" y="89"/>
                  <a:pt x="54" y="89"/>
                  <a:pt x="54" y="89"/>
                </a:cubicBezTo>
                <a:cubicBezTo>
                  <a:pt x="53" y="89"/>
                  <a:pt x="53" y="89"/>
                  <a:pt x="53" y="89"/>
                </a:cubicBezTo>
                <a:cubicBezTo>
                  <a:pt x="52" y="89"/>
                  <a:pt x="52" y="89"/>
                  <a:pt x="52" y="89"/>
                </a:cubicBezTo>
                <a:cubicBezTo>
                  <a:pt x="52" y="90"/>
                  <a:pt x="52" y="90"/>
                  <a:pt x="52" y="90"/>
                </a:cubicBezTo>
                <a:cubicBezTo>
                  <a:pt x="52" y="90"/>
                  <a:pt x="53" y="90"/>
                  <a:pt x="53" y="90"/>
                </a:cubicBezTo>
                <a:cubicBezTo>
                  <a:pt x="54" y="89"/>
                  <a:pt x="54" y="88"/>
                  <a:pt x="55" y="89"/>
                </a:cubicBezTo>
                <a:cubicBezTo>
                  <a:pt x="55" y="89"/>
                  <a:pt x="55" y="90"/>
                  <a:pt x="55" y="90"/>
                </a:cubicBezTo>
                <a:cubicBezTo>
                  <a:pt x="55" y="90"/>
                  <a:pt x="55" y="90"/>
                  <a:pt x="55" y="90"/>
                </a:cubicBezTo>
                <a:cubicBezTo>
                  <a:pt x="55" y="90"/>
                  <a:pt x="56" y="90"/>
                  <a:pt x="56" y="90"/>
                </a:cubicBezTo>
                <a:cubicBezTo>
                  <a:pt x="56" y="90"/>
                  <a:pt x="57" y="90"/>
                  <a:pt x="57" y="90"/>
                </a:cubicBezTo>
                <a:cubicBezTo>
                  <a:pt x="57" y="91"/>
                  <a:pt x="57" y="91"/>
                  <a:pt x="57" y="91"/>
                </a:cubicBezTo>
                <a:cubicBezTo>
                  <a:pt x="57" y="92"/>
                  <a:pt x="57" y="92"/>
                  <a:pt x="57" y="92"/>
                </a:cubicBezTo>
                <a:cubicBezTo>
                  <a:pt x="57" y="92"/>
                  <a:pt x="57" y="92"/>
                  <a:pt x="57" y="92"/>
                </a:cubicBezTo>
                <a:cubicBezTo>
                  <a:pt x="57" y="92"/>
                  <a:pt x="56" y="93"/>
                  <a:pt x="56" y="93"/>
                </a:cubicBezTo>
                <a:cubicBezTo>
                  <a:pt x="55" y="93"/>
                  <a:pt x="54" y="93"/>
                  <a:pt x="54" y="93"/>
                </a:cubicBezTo>
                <a:cubicBezTo>
                  <a:pt x="53" y="94"/>
                  <a:pt x="53" y="94"/>
                  <a:pt x="53" y="94"/>
                </a:cubicBezTo>
                <a:cubicBezTo>
                  <a:pt x="52" y="95"/>
                  <a:pt x="51" y="95"/>
                  <a:pt x="50" y="95"/>
                </a:cubicBezTo>
                <a:cubicBezTo>
                  <a:pt x="50" y="95"/>
                  <a:pt x="49" y="95"/>
                  <a:pt x="48" y="95"/>
                </a:cubicBezTo>
                <a:cubicBezTo>
                  <a:pt x="48" y="95"/>
                  <a:pt x="47" y="95"/>
                  <a:pt x="46" y="95"/>
                </a:cubicBezTo>
                <a:cubicBezTo>
                  <a:pt x="46" y="95"/>
                  <a:pt x="45" y="95"/>
                  <a:pt x="44" y="95"/>
                </a:cubicBezTo>
                <a:cubicBezTo>
                  <a:pt x="44" y="95"/>
                  <a:pt x="44" y="96"/>
                  <a:pt x="43" y="96"/>
                </a:cubicBezTo>
                <a:cubicBezTo>
                  <a:pt x="43" y="96"/>
                  <a:pt x="43" y="96"/>
                  <a:pt x="42" y="97"/>
                </a:cubicBezTo>
                <a:cubicBezTo>
                  <a:pt x="41" y="97"/>
                  <a:pt x="40" y="99"/>
                  <a:pt x="39" y="100"/>
                </a:cubicBezTo>
                <a:cubicBezTo>
                  <a:pt x="40" y="100"/>
                  <a:pt x="40" y="99"/>
                  <a:pt x="41" y="98"/>
                </a:cubicBezTo>
                <a:cubicBezTo>
                  <a:pt x="42" y="98"/>
                  <a:pt x="43" y="97"/>
                  <a:pt x="44" y="97"/>
                </a:cubicBezTo>
                <a:cubicBezTo>
                  <a:pt x="45" y="96"/>
                  <a:pt x="47" y="96"/>
                  <a:pt x="47" y="97"/>
                </a:cubicBezTo>
                <a:cubicBezTo>
                  <a:pt x="47" y="98"/>
                  <a:pt x="46" y="98"/>
                  <a:pt x="46" y="98"/>
                </a:cubicBezTo>
                <a:cubicBezTo>
                  <a:pt x="45" y="98"/>
                  <a:pt x="45" y="98"/>
                  <a:pt x="45" y="98"/>
                </a:cubicBezTo>
                <a:cubicBezTo>
                  <a:pt x="45" y="98"/>
                  <a:pt x="45" y="98"/>
                  <a:pt x="44" y="98"/>
                </a:cubicBezTo>
                <a:cubicBezTo>
                  <a:pt x="44" y="98"/>
                  <a:pt x="44" y="98"/>
                  <a:pt x="44" y="98"/>
                </a:cubicBezTo>
                <a:cubicBezTo>
                  <a:pt x="45" y="98"/>
                  <a:pt x="45" y="98"/>
                  <a:pt x="45"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100"/>
                </a:cubicBezTo>
                <a:cubicBezTo>
                  <a:pt x="46" y="100"/>
                  <a:pt x="46" y="100"/>
                  <a:pt x="46" y="100"/>
                </a:cubicBezTo>
                <a:cubicBezTo>
                  <a:pt x="46" y="100"/>
                  <a:pt x="46" y="100"/>
                  <a:pt x="46" y="100"/>
                </a:cubicBezTo>
                <a:cubicBezTo>
                  <a:pt x="46" y="100"/>
                  <a:pt x="46" y="100"/>
                  <a:pt x="46" y="100"/>
                </a:cubicBezTo>
                <a:cubicBezTo>
                  <a:pt x="46" y="101"/>
                  <a:pt x="47" y="101"/>
                  <a:pt x="48" y="101"/>
                </a:cubicBezTo>
                <a:cubicBezTo>
                  <a:pt x="48" y="101"/>
                  <a:pt x="48" y="101"/>
                  <a:pt x="47" y="101"/>
                </a:cubicBezTo>
                <a:cubicBezTo>
                  <a:pt x="47" y="101"/>
                  <a:pt x="47" y="101"/>
                  <a:pt x="47" y="101"/>
                </a:cubicBezTo>
                <a:cubicBezTo>
                  <a:pt x="47" y="101"/>
                  <a:pt x="47" y="101"/>
                  <a:pt x="47" y="101"/>
                </a:cubicBezTo>
                <a:cubicBezTo>
                  <a:pt x="47" y="101"/>
                  <a:pt x="47" y="101"/>
                  <a:pt x="47" y="101"/>
                </a:cubicBezTo>
                <a:cubicBezTo>
                  <a:pt x="47" y="101"/>
                  <a:pt x="47" y="101"/>
                  <a:pt x="47" y="101"/>
                </a:cubicBezTo>
                <a:cubicBezTo>
                  <a:pt x="47" y="101"/>
                  <a:pt x="47" y="101"/>
                  <a:pt x="48" y="101"/>
                </a:cubicBezTo>
                <a:cubicBezTo>
                  <a:pt x="48" y="101"/>
                  <a:pt x="48" y="101"/>
                  <a:pt x="48" y="101"/>
                </a:cubicBezTo>
                <a:cubicBezTo>
                  <a:pt x="48" y="101"/>
                  <a:pt x="48" y="102"/>
                  <a:pt x="48" y="102"/>
                </a:cubicBezTo>
                <a:cubicBezTo>
                  <a:pt x="48" y="102"/>
                  <a:pt x="49" y="101"/>
                  <a:pt x="49" y="102"/>
                </a:cubicBezTo>
                <a:cubicBezTo>
                  <a:pt x="49" y="102"/>
                  <a:pt x="49" y="102"/>
                  <a:pt x="49" y="102"/>
                </a:cubicBezTo>
                <a:cubicBezTo>
                  <a:pt x="49" y="102"/>
                  <a:pt x="49" y="102"/>
                  <a:pt x="49" y="102"/>
                </a:cubicBezTo>
                <a:cubicBezTo>
                  <a:pt x="49" y="102"/>
                  <a:pt x="49" y="102"/>
                  <a:pt x="49" y="102"/>
                </a:cubicBezTo>
                <a:cubicBezTo>
                  <a:pt x="49" y="102"/>
                  <a:pt x="49" y="102"/>
                  <a:pt x="49" y="102"/>
                </a:cubicBezTo>
                <a:cubicBezTo>
                  <a:pt x="49" y="102"/>
                  <a:pt x="49" y="101"/>
                  <a:pt x="50" y="101"/>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1" y="102"/>
                  <a:pt x="51" y="102"/>
                  <a:pt x="51" y="102"/>
                </a:cubicBezTo>
                <a:cubicBezTo>
                  <a:pt x="51" y="102"/>
                  <a:pt x="51" y="102"/>
                  <a:pt x="51" y="102"/>
                </a:cubicBezTo>
                <a:cubicBezTo>
                  <a:pt x="50" y="102"/>
                  <a:pt x="51" y="102"/>
                  <a:pt x="50" y="102"/>
                </a:cubicBezTo>
                <a:cubicBezTo>
                  <a:pt x="50" y="102"/>
                  <a:pt x="50" y="102"/>
                  <a:pt x="50" y="102"/>
                </a:cubicBezTo>
                <a:cubicBezTo>
                  <a:pt x="50" y="102"/>
                  <a:pt x="50" y="102"/>
                  <a:pt x="50" y="103"/>
                </a:cubicBezTo>
                <a:cubicBezTo>
                  <a:pt x="50" y="103"/>
                  <a:pt x="50" y="102"/>
                  <a:pt x="50" y="102"/>
                </a:cubicBezTo>
                <a:cubicBezTo>
                  <a:pt x="50" y="103"/>
                  <a:pt x="50" y="103"/>
                  <a:pt x="50" y="103"/>
                </a:cubicBezTo>
                <a:cubicBezTo>
                  <a:pt x="49" y="103"/>
                  <a:pt x="49"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4"/>
                  <a:pt x="47" y="104"/>
                  <a:pt x="47" y="104"/>
                </a:cubicBezTo>
                <a:cubicBezTo>
                  <a:pt x="47" y="104"/>
                  <a:pt x="46" y="104"/>
                  <a:pt x="46" y="104"/>
                </a:cubicBezTo>
                <a:cubicBezTo>
                  <a:pt x="46" y="104"/>
                  <a:pt x="46" y="104"/>
                  <a:pt x="46" y="104"/>
                </a:cubicBezTo>
                <a:cubicBezTo>
                  <a:pt x="46" y="105"/>
                  <a:pt x="46" y="105"/>
                  <a:pt x="46" y="105"/>
                </a:cubicBezTo>
                <a:cubicBezTo>
                  <a:pt x="46" y="105"/>
                  <a:pt x="46" y="105"/>
                  <a:pt x="46" y="105"/>
                </a:cubicBezTo>
                <a:cubicBezTo>
                  <a:pt x="46" y="105"/>
                  <a:pt x="46" y="105"/>
                  <a:pt x="46" y="105"/>
                </a:cubicBezTo>
                <a:cubicBezTo>
                  <a:pt x="45" y="105"/>
                  <a:pt x="45" y="105"/>
                  <a:pt x="45" y="105"/>
                </a:cubicBezTo>
                <a:cubicBezTo>
                  <a:pt x="45" y="104"/>
                  <a:pt x="45" y="104"/>
                  <a:pt x="45" y="104"/>
                </a:cubicBezTo>
                <a:cubicBezTo>
                  <a:pt x="45" y="105"/>
                  <a:pt x="45" y="105"/>
                  <a:pt x="45" y="105"/>
                </a:cubicBezTo>
                <a:cubicBezTo>
                  <a:pt x="45" y="104"/>
                  <a:pt x="45" y="104"/>
                  <a:pt x="45" y="103"/>
                </a:cubicBezTo>
                <a:cubicBezTo>
                  <a:pt x="45" y="103"/>
                  <a:pt x="45" y="103"/>
                  <a:pt x="45" y="103"/>
                </a:cubicBezTo>
                <a:cubicBezTo>
                  <a:pt x="45" y="103"/>
                  <a:pt x="45" y="103"/>
                  <a:pt x="45" y="104"/>
                </a:cubicBezTo>
                <a:cubicBezTo>
                  <a:pt x="45" y="104"/>
                  <a:pt x="45" y="104"/>
                  <a:pt x="45" y="104"/>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7" y="102"/>
                  <a:pt x="47" y="102"/>
                </a:cubicBezTo>
                <a:cubicBezTo>
                  <a:pt x="47" y="102"/>
                  <a:pt x="47" y="102"/>
                  <a:pt x="47" y="103"/>
                </a:cubicBezTo>
                <a:cubicBezTo>
                  <a:pt x="47" y="103"/>
                  <a:pt x="47" y="103"/>
                  <a:pt x="47" y="103"/>
                </a:cubicBezTo>
                <a:cubicBezTo>
                  <a:pt x="47" y="102"/>
                  <a:pt x="47" y="102"/>
                  <a:pt x="47" y="102"/>
                </a:cubicBezTo>
                <a:cubicBezTo>
                  <a:pt x="47" y="102"/>
                  <a:pt x="48" y="102"/>
                  <a:pt x="48" y="102"/>
                </a:cubicBezTo>
                <a:cubicBezTo>
                  <a:pt x="48" y="102"/>
                  <a:pt x="48" y="102"/>
                  <a:pt x="48" y="102"/>
                </a:cubicBezTo>
                <a:cubicBezTo>
                  <a:pt x="47" y="102"/>
                  <a:pt x="47" y="102"/>
                  <a:pt x="46" y="102"/>
                </a:cubicBezTo>
                <a:cubicBezTo>
                  <a:pt x="46" y="102"/>
                  <a:pt x="46" y="102"/>
                  <a:pt x="46" y="102"/>
                </a:cubicBezTo>
                <a:cubicBezTo>
                  <a:pt x="47" y="102"/>
                  <a:pt x="47" y="102"/>
                  <a:pt x="47" y="101"/>
                </a:cubicBezTo>
                <a:cubicBezTo>
                  <a:pt x="47" y="101"/>
                  <a:pt x="47" y="101"/>
                  <a:pt x="47" y="101"/>
                </a:cubicBezTo>
                <a:cubicBezTo>
                  <a:pt x="47" y="102"/>
                  <a:pt x="47" y="102"/>
                  <a:pt x="47" y="102"/>
                </a:cubicBezTo>
                <a:cubicBezTo>
                  <a:pt x="47" y="101"/>
                  <a:pt x="47" y="101"/>
                  <a:pt x="47" y="101"/>
                </a:cubicBezTo>
                <a:cubicBezTo>
                  <a:pt x="47" y="101"/>
                  <a:pt x="47" y="101"/>
                  <a:pt x="47" y="102"/>
                </a:cubicBezTo>
                <a:cubicBezTo>
                  <a:pt x="47" y="102"/>
                  <a:pt x="46" y="102"/>
                  <a:pt x="46" y="102"/>
                </a:cubicBezTo>
                <a:cubicBezTo>
                  <a:pt x="46" y="102"/>
                  <a:pt x="46" y="102"/>
                  <a:pt x="45" y="102"/>
                </a:cubicBezTo>
                <a:cubicBezTo>
                  <a:pt x="45" y="102"/>
                  <a:pt x="45" y="102"/>
                  <a:pt x="45" y="102"/>
                </a:cubicBezTo>
                <a:cubicBezTo>
                  <a:pt x="45" y="102"/>
                  <a:pt x="45" y="102"/>
                  <a:pt x="45" y="102"/>
                </a:cubicBezTo>
                <a:cubicBezTo>
                  <a:pt x="45" y="102"/>
                  <a:pt x="45" y="103"/>
                  <a:pt x="44" y="103"/>
                </a:cubicBezTo>
                <a:cubicBezTo>
                  <a:pt x="44" y="102"/>
                  <a:pt x="44" y="102"/>
                  <a:pt x="44" y="103"/>
                </a:cubicBezTo>
                <a:cubicBezTo>
                  <a:pt x="44" y="103"/>
                  <a:pt x="44" y="102"/>
                  <a:pt x="44" y="102"/>
                </a:cubicBezTo>
                <a:cubicBezTo>
                  <a:pt x="44" y="103"/>
                  <a:pt x="44" y="103"/>
                  <a:pt x="44" y="103"/>
                </a:cubicBezTo>
                <a:cubicBezTo>
                  <a:pt x="44" y="103"/>
                  <a:pt x="44" y="103"/>
                  <a:pt x="44" y="103"/>
                </a:cubicBezTo>
                <a:cubicBezTo>
                  <a:pt x="44" y="103"/>
                  <a:pt x="44" y="103"/>
                  <a:pt x="44" y="103"/>
                </a:cubicBezTo>
                <a:cubicBezTo>
                  <a:pt x="44" y="103"/>
                  <a:pt x="44" y="103"/>
                  <a:pt x="44" y="103"/>
                </a:cubicBezTo>
                <a:cubicBezTo>
                  <a:pt x="44" y="103"/>
                  <a:pt x="43" y="103"/>
                  <a:pt x="43" y="103"/>
                </a:cubicBezTo>
                <a:cubicBezTo>
                  <a:pt x="43" y="103"/>
                  <a:pt x="43" y="103"/>
                  <a:pt x="43" y="103"/>
                </a:cubicBezTo>
                <a:cubicBezTo>
                  <a:pt x="43" y="103"/>
                  <a:pt x="43" y="103"/>
                  <a:pt x="43" y="103"/>
                </a:cubicBezTo>
                <a:cubicBezTo>
                  <a:pt x="43" y="103"/>
                  <a:pt x="43" y="104"/>
                  <a:pt x="43" y="104"/>
                </a:cubicBezTo>
                <a:cubicBezTo>
                  <a:pt x="43" y="104"/>
                  <a:pt x="42" y="103"/>
                  <a:pt x="42" y="103"/>
                </a:cubicBezTo>
                <a:cubicBezTo>
                  <a:pt x="42" y="103"/>
                  <a:pt x="42" y="104"/>
                  <a:pt x="42" y="104"/>
                </a:cubicBezTo>
                <a:cubicBezTo>
                  <a:pt x="42" y="104"/>
                  <a:pt x="42" y="104"/>
                  <a:pt x="42" y="104"/>
                </a:cubicBezTo>
                <a:cubicBezTo>
                  <a:pt x="42" y="104"/>
                  <a:pt x="42" y="104"/>
                  <a:pt x="42" y="104"/>
                </a:cubicBezTo>
                <a:cubicBezTo>
                  <a:pt x="42" y="104"/>
                  <a:pt x="42" y="104"/>
                  <a:pt x="42" y="104"/>
                </a:cubicBezTo>
                <a:cubicBezTo>
                  <a:pt x="42" y="104"/>
                  <a:pt x="42" y="103"/>
                  <a:pt x="42" y="103"/>
                </a:cubicBezTo>
                <a:cubicBezTo>
                  <a:pt x="42" y="103"/>
                  <a:pt x="42" y="103"/>
                  <a:pt x="42" y="103"/>
                </a:cubicBezTo>
                <a:cubicBezTo>
                  <a:pt x="42" y="103"/>
                  <a:pt x="42" y="103"/>
                  <a:pt x="42" y="103"/>
                </a:cubicBezTo>
                <a:cubicBezTo>
                  <a:pt x="42"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0" y="105"/>
                </a:cubicBezTo>
                <a:cubicBezTo>
                  <a:pt x="40" y="105"/>
                  <a:pt x="40" y="105"/>
                  <a:pt x="40" y="105"/>
                </a:cubicBezTo>
                <a:cubicBezTo>
                  <a:pt x="40" y="105"/>
                  <a:pt x="40" y="104"/>
                  <a:pt x="40" y="104"/>
                </a:cubicBezTo>
                <a:cubicBezTo>
                  <a:pt x="40" y="104"/>
                  <a:pt x="40" y="104"/>
                  <a:pt x="40" y="104"/>
                </a:cubicBezTo>
                <a:cubicBezTo>
                  <a:pt x="40" y="104"/>
                  <a:pt x="40" y="104"/>
                  <a:pt x="40" y="104"/>
                </a:cubicBezTo>
                <a:cubicBezTo>
                  <a:pt x="40" y="105"/>
                  <a:pt x="40" y="105"/>
                  <a:pt x="40" y="105"/>
                </a:cubicBezTo>
                <a:cubicBezTo>
                  <a:pt x="40" y="105"/>
                  <a:pt x="39" y="106"/>
                  <a:pt x="39" y="106"/>
                </a:cubicBezTo>
                <a:cubicBezTo>
                  <a:pt x="39" y="106"/>
                  <a:pt x="39" y="106"/>
                  <a:pt x="40" y="106"/>
                </a:cubicBezTo>
                <a:cubicBezTo>
                  <a:pt x="40" y="106"/>
                  <a:pt x="40" y="106"/>
                  <a:pt x="40" y="106"/>
                </a:cubicBezTo>
                <a:cubicBezTo>
                  <a:pt x="39" y="106"/>
                  <a:pt x="39" y="106"/>
                  <a:pt x="39" y="107"/>
                </a:cubicBezTo>
                <a:cubicBezTo>
                  <a:pt x="39"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8"/>
                  <a:pt x="40" y="108"/>
                </a:cubicBezTo>
                <a:cubicBezTo>
                  <a:pt x="40" y="107"/>
                  <a:pt x="40" y="107"/>
                  <a:pt x="39" y="107"/>
                </a:cubicBezTo>
                <a:cubicBezTo>
                  <a:pt x="39" y="107"/>
                  <a:pt x="39" y="107"/>
                  <a:pt x="39" y="107"/>
                </a:cubicBezTo>
                <a:cubicBezTo>
                  <a:pt x="39" y="108"/>
                  <a:pt x="39" y="108"/>
                  <a:pt x="39" y="108"/>
                </a:cubicBezTo>
                <a:cubicBezTo>
                  <a:pt x="39" y="108"/>
                  <a:pt x="39" y="108"/>
                  <a:pt x="39" y="108"/>
                </a:cubicBezTo>
                <a:cubicBezTo>
                  <a:pt x="39" y="108"/>
                  <a:pt x="39" y="107"/>
                  <a:pt x="39" y="107"/>
                </a:cubicBezTo>
                <a:cubicBezTo>
                  <a:pt x="39" y="107"/>
                  <a:pt x="39" y="107"/>
                  <a:pt x="39" y="107"/>
                </a:cubicBezTo>
                <a:cubicBezTo>
                  <a:pt x="39" y="108"/>
                  <a:pt x="39" y="108"/>
                  <a:pt x="39" y="108"/>
                </a:cubicBezTo>
                <a:cubicBezTo>
                  <a:pt x="37" y="108"/>
                  <a:pt x="36" y="108"/>
                  <a:pt x="36" y="109"/>
                </a:cubicBezTo>
                <a:cubicBezTo>
                  <a:pt x="36" y="109"/>
                  <a:pt x="36" y="108"/>
                  <a:pt x="36" y="108"/>
                </a:cubicBezTo>
                <a:cubicBezTo>
                  <a:pt x="36" y="108"/>
                  <a:pt x="36" y="109"/>
                  <a:pt x="36" y="109"/>
                </a:cubicBezTo>
                <a:cubicBezTo>
                  <a:pt x="35" y="109"/>
                  <a:pt x="35" y="109"/>
                  <a:pt x="35" y="109"/>
                </a:cubicBezTo>
                <a:cubicBezTo>
                  <a:pt x="35" y="109"/>
                  <a:pt x="35" y="109"/>
                  <a:pt x="35" y="109"/>
                </a:cubicBezTo>
                <a:cubicBezTo>
                  <a:pt x="35" y="109"/>
                  <a:pt x="35" y="109"/>
                  <a:pt x="36" y="109"/>
                </a:cubicBezTo>
                <a:cubicBezTo>
                  <a:pt x="36" y="110"/>
                  <a:pt x="35" y="110"/>
                  <a:pt x="35" y="110"/>
                </a:cubicBezTo>
                <a:cubicBezTo>
                  <a:pt x="35" y="110"/>
                  <a:pt x="35" y="110"/>
                  <a:pt x="35" y="110"/>
                </a:cubicBezTo>
                <a:cubicBezTo>
                  <a:pt x="35" y="111"/>
                  <a:pt x="35" y="111"/>
                  <a:pt x="35" y="111"/>
                </a:cubicBezTo>
                <a:cubicBezTo>
                  <a:pt x="35" y="111"/>
                  <a:pt x="34" y="111"/>
                  <a:pt x="34" y="111"/>
                </a:cubicBezTo>
                <a:cubicBezTo>
                  <a:pt x="34" y="111"/>
                  <a:pt x="34" y="111"/>
                  <a:pt x="34" y="111"/>
                </a:cubicBezTo>
                <a:cubicBezTo>
                  <a:pt x="35" y="111"/>
                  <a:pt x="35" y="111"/>
                  <a:pt x="35" y="111"/>
                </a:cubicBezTo>
                <a:cubicBezTo>
                  <a:pt x="34" y="111"/>
                  <a:pt x="34" y="111"/>
                  <a:pt x="34" y="110"/>
                </a:cubicBezTo>
                <a:cubicBezTo>
                  <a:pt x="34" y="110"/>
                  <a:pt x="34" y="110"/>
                  <a:pt x="34" y="110"/>
                </a:cubicBezTo>
                <a:cubicBezTo>
                  <a:pt x="34" y="110"/>
                  <a:pt x="34" y="110"/>
                  <a:pt x="34" y="110"/>
                </a:cubicBezTo>
                <a:cubicBezTo>
                  <a:pt x="34" y="110"/>
                  <a:pt x="34" y="110"/>
                  <a:pt x="34" y="110"/>
                </a:cubicBezTo>
                <a:cubicBezTo>
                  <a:pt x="34" y="111"/>
                  <a:pt x="34" y="111"/>
                  <a:pt x="34" y="111"/>
                </a:cubicBezTo>
                <a:cubicBezTo>
                  <a:pt x="34" y="112"/>
                  <a:pt x="34" y="112"/>
                  <a:pt x="34" y="112"/>
                </a:cubicBezTo>
                <a:cubicBezTo>
                  <a:pt x="34" y="112"/>
                  <a:pt x="34" y="112"/>
                  <a:pt x="34" y="112"/>
                </a:cubicBezTo>
                <a:cubicBezTo>
                  <a:pt x="34" y="113"/>
                  <a:pt x="34" y="113"/>
                  <a:pt x="34" y="113"/>
                </a:cubicBezTo>
                <a:cubicBezTo>
                  <a:pt x="34" y="113"/>
                  <a:pt x="34" y="113"/>
                  <a:pt x="34" y="113"/>
                </a:cubicBezTo>
                <a:cubicBezTo>
                  <a:pt x="34" y="113"/>
                  <a:pt x="33" y="113"/>
                  <a:pt x="33" y="114"/>
                </a:cubicBezTo>
                <a:cubicBezTo>
                  <a:pt x="33" y="114"/>
                  <a:pt x="33" y="114"/>
                  <a:pt x="33" y="114"/>
                </a:cubicBezTo>
                <a:cubicBezTo>
                  <a:pt x="33" y="114"/>
                  <a:pt x="33" y="114"/>
                  <a:pt x="33" y="113"/>
                </a:cubicBezTo>
                <a:cubicBezTo>
                  <a:pt x="33" y="113"/>
                  <a:pt x="34" y="113"/>
                  <a:pt x="34" y="113"/>
                </a:cubicBezTo>
                <a:cubicBezTo>
                  <a:pt x="34" y="112"/>
                  <a:pt x="34" y="113"/>
                  <a:pt x="33" y="113"/>
                </a:cubicBezTo>
                <a:cubicBezTo>
                  <a:pt x="33" y="113"/>
                  <a:pt x="33" y="113"/>
                  <a:pt x="33" y="113"/>
                </a:cubicBezTo>
                <a:cubicBezTo>
                  <a:pt x="33" y="113"/>
                  <a:pt x="33" y="113"/>
                  <a:pt x="33" y="113"/>
                </a:cubicBezTo>
                <a:cubicBezTo>
                  <a:pt x="33" y="112"/>
                  <a:pt x="34" y="112"/>
                  <a:pt x="34"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1"/>
                  <a:pt x="33" y="111"/>
                  <a:pt x="33" y="112"/>
                </a:cubicBezTo>
                <a:cubicBezTo>
                  <a:pt x="33" y="112"/>
                  <a:pt x="33" y="112"/>
                  <a:pt x="33" y="112"/>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0"/>
                  <a:pt x="33" y="110"/>
                  <a:pt x="33" y="110"/>
                </a:cubicBezTo>
                <a:cubicBezTo>
                  <a:pt x="33" y="110"/>
                  <a:pt x="33" y="110"/>
                  <a:pt x="33" y="110"/>
                </a:cubicBezTo>
                <a:cubicBezTo>
                  <a:pt x="33" y="111"/>
                  <a:pt x="33" y="111"/>
                  <a:pt x="33" y="111"/>
                </a:cubicBezTo>
                <a:cubicBezTo>
                  <a:pt x="33" y="111"/>
                  <a:pt x="33" y="111"/>
                  <a:pt x="33" y="110"/>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2" y="112"/>
                  <a:pt x="32" y="112"/>
                  <a:pt x="32" y="112"/>
                </a:cubicBezTo>
                <a:cubicBezTo>
                  <a:pt x="33" y="112"/>
                  <a:pt x="33" y="112"/>
                  <a:pt x="33" y="112"/>
                </a:cubicBezTo>
                <a:cubicBezTo>
                  <a:pt x="33" y="112"/>
                  <a:pt x="32" y="112"/>
                  <a:pt x="32" y="112"/>
                </a:cubicBezTo>
                <a:cubicBezTo>
                  <a:pt x="32" y="112"/>
                  <a:pt x="32" y="112"/>
                  <a:pt x="32" y="112"/>
                </a:cubicBezTo>
                <a:cubicBezTo>
                  <a:pt x="32" y="112"/>
                  <a:pt x="32" y="112"/>
                  <a:pt x="32" y="112"/>
                </a:cubicBezTo>
                <a:cubicBezTo>
                  <a:pt x="32" y="112"/>
                  <a:pt x="32" y="112"/>
                  <a:pt x="32" y="112"/>
                </a:cubicBezTo>
                <a:cubicBezTo>
                  <a:pt x="32" y="112"/>
                  <a:pt x="33" y="112"/>
                  <a:pt x="33" y="113"/>
                </a:cubicBezTo>
                <a:cubicBezTo>
                  <a:pt x="33" y="113"/>
                  <a:pt x="33" y="113"/>
                  <a:pt x="33" y="113"/>
                </a:cubicBezTo>
                <a:cubicBezTo>
                  <a:pt x="33" y="113"/>
                  <a:pt x="33" y="113"/>
                  <a:pt x="33" y="113"/>
                </a:cubicBezTo>
                <a:cubicBezTo>
                  <a:pt x="33" y="113"/>
                  <a:pt x="32" y="113"/>
                  <a:pt x="32" y="113"/>
                </a:cubicBezTo>
                <a:cubicBezTo>
                  <a:pt x="32"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2" y="113"/>
                </a:cubicBezTo>
                <a:cubicBezTo>
                  <a:pt x="33" y="113"/>
                  <a:pt x="33" y="113"/>
                  <a:pt x="33" y="113"/>
                </a:cubicBezTo>
                <a:cubicBezTo>
                  <a:pt x="33" y="113"/>
                  <a:pt x="33" y="113"/>
                  <a:pt x="33" y="113"/>
                </a:cubicBezTo>
                <a:cubicBezTo>
                  <a:pt x="33" y="113"/>
                  <a:pt x="33" y="114"/>
                  <a:pt x="33" y="114"/>
                </a:cubicBezTo>
                <a:cubicBezTo>
                  <a:pt x="33" y="114"/>
                  <a:pt x="33" y="114"/>
                  <a:pt x="33" y="114"/>
                </a:cubicBezTo>
                <a:cubicBezTo>
                  <a:pt x="33" y="114"/>
                  <a:pt x="33" y="114"/>
                  <a:pt x="33" y="114"/>
                </a:cubicBezTo>
                <a:cubicBezTo>
                  <a:pt x="33" y="114"/>
                  <a:pt x="32" y="114"/>
                  <a:pt x="32" y="113"/>
                </a:cubicBezTo>
                <a:cubicBezTo>
                  <a:pt x="32" y="113"/>
                  <a:pt x="32" y="113"/>
                  <a:pt x="32" y="113"/>
                </a:cubicBezTo>
                <a:cubicBezTo>
                  <a:pt x="32" y="114"/>
                  <a:pt x="32" y="114"/>
                  <a:pt x="32" y="114"/>
                </a:cubicBezTo>
                <a:cubicBezTo>
                  <a:pt x="32" y="114"/>
                  <a:pt x="33" y="114"/>
                  <a:pt x="33" y="114"/>
                </a:cubicBezTo>
                <a:cubicBezTo>
                  <a:pt x="33" y="114"/>
                  <a:pt x="33" y="114"/>
                  <a:pt x="33" y="114"/>
                </a:cubicBezTo>
                <a:cubicBezTo>
                  <a:pt x="33" y="114"/>
                  <a:pt x="33" y="114"/>
                  <a:pt x="33" y="114"/>
                </a:cubicBezTo>
                <a:cubicBezTo>
                  <a:pt x="33" y="114"/>
                  <a:pt x="33" y="114"/>
                  <a:pt x="33" y="115"/>
                </a:cubicBezTo>
                <a:cubicBezTo>
                  <a:pt x="33" y="115"/>
                  <a:pt x="33" y="115"/>
                  <a:pt x="33" y="115"/>
                </a:cubicBezTo>
                <a:cubicBezTo>
                  <a:pt x="33" y="115"/>
                  <a:pt x="33" y="115"/>
                  <a:pt x="34"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2" y="115"/>
                  <a:pt x="32" y="115"/>
                </a:cubicBezTo>
                <a:cubicBezTo>
                  <a:pt x="32" y="115"/>
                  <a:pt x="32" y="115"/>
                  <a:pt x="32" y="115"/>
                </a:cubicBezTo>
                <a:cubicBezTo>
                  <a:pt x="32" y="115"/>
                  <a:pt x="32" y="115"/>
                  <a:pt x="32" y="115"/>
                </a:cubicBezTo>
                <a:cubicBezTo>
                  <a:pt x="32" y="115"/>
                  <a:pt x="32" y="115"/>
                  <a:pt x="32" y="115"/>
                </a:cubicBezTo>
                <a:cubicBezTo>
                  <a:pt x="33" y="115"/>
                  <a:pt x="33" y="115"/>
                  <a:pt x="33" y="115"/>
                </a:cubicBezTo>
                <a:cubicBezTo>
                  <a:pt x="33" y="115"/>
                  <a:pt x="33" y="115"/>
                  <a:pt x="33" y="115"/>
                </a:cubicBezTo>
                <a:cubicBezTo>
                  <a:pt x="33" y="115"/>
                  <a:pt x="33" y="115"/>
                  <a:pt x="33" y="116"/>
                </a:cubicBezTo>
                <a:cubicBezTo>
                  <a:pt x="33" y="116"/>
                  <a:pt x="33" y="116"/>
                  <a:pt x="33" y="116"/>
                </a:cubicBezTo>
                <a:cubicBezTo>
                  <a:pt x="33" y="116"/>
                  <a:pt x="33" y="116"/>
                  <a:pt x="33" y="116"/>
                </a:cubicBezTo>
                <a:cubicBezTo>
                  <a:pt x="33" y="116"/>
                  <a:pt x="33" y="116"/>
                  <a:pt x="33" y="116"/>
                </a:cubicBezTo>
                <a:cubicBezTo>
                  <a:pt x="33" y="115"/>
                  <a:pt x="33" y="115"/>
                  <a:pt x="33" y="115"/>
                </a:cubicBezTo>
                <a:cubicBezTo>
                  <a:pt x="33" y="115"/>
                  <a:pt x="33" y="115"/>
                  <a:pt x="33" y="115"/>
                </a:cubicBezTo>
                <a:cubicBezTo>
                  <a:pt x="34" y="115"/>
                  <a:pt x="34" y="115"/>
                  <a:pt x="34" y="116"/>
                </a:cubicBezTo>
                <a:cubicBezTo>
                  <a:pt x="34" y="116"/>
                  <a:pt x="34" y="116"/>
                  <a:pt x="34"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2" y="116"/>
                  <a:pt x="32" y="116"/>
                  <a:pt x="32" y="116"/>
                </a:cubicBezTo>
                <a:cubicBezTo>
                  <a:pt x="32" y="116"/>
                  <a:pt x="32" y="116"/>
                  <a:pt x="32" y="116"/>
                </a:cubicBezTo>
                <a:cubicBezTo>
                  <a:pt x="32" y="116"/>
                  <a:pt x="33" y="116"/>
                  <a:pt x="33" y="116"/>
                </a:cubicBezTo>
                <a:cubicBezTo>
                  <a:pt x="33" y="116"/>
                  <a:pt x="33" y="116"/>
                  <a:pt x="33" y="116"/>
                </a:cubicBezTo>
                <a:cubicBezTo>
                  <a:pt x="33" y="116"/>
                  <a:pt x="33" y="116"/>
                  <a:pt x="32" y="117"/>
                </a:cubicBezTo>
                <a:cubicBezTo>
                  <a:pt x="32" y="116"/>
                  <a:pt x="32" y="116"/>
                  <a:pt x="32" y="116"/>
                </a:cubicBezTo>
                <a:cubicBezTo>
                  <a:pt x="32" y="116"/>
                  <a:pt x="32" y="116"/>
                  <a:pt x="32" y="117"/>
                </a:cubicBezTo>
                <a:cubicBezTo>
                  <a:pt x="32" y="117"/>
                  <a:pt x="32" y="117"/>
                  <a:pt x="32" y="117"/>
                </a:cubicBezTo>
                <a:cubicBezTo>
                  <a:pt x="32" y="117"/>
                  <a:pt x="33" y="116"/>
                  <a:pt x="33" y="116"/>
                </a:cubicBezTo>
                <a:cubicBezTo>
                  <a:pt x="33" y="117"/>
                  <a:pt x="33" y="117"/>
                  <a:pt x="33" y="117"/>
                </a:cubicBezTo>
                <a:cubicBezTo>
                  <a:pt x="33" y="117"/>
                  <a:pt x="33" y="117"/>
                  <a:pt x="33" y="117"/>
                </a:cubicBezTo>
                <a:cubicBezTo>
                  <a:pt x="33" y="117"/>
                  <a:pt x="33" y="117"/>
                  <a:pt x="33" y="117"/>
                </a:cubicBezTo>
                <a:cubicBezTo>
                  <a:pt x="32" y="117"/>
                  <a:pt x="32" y="117"/>
                  <a:pt x="32" y="117"/>
                </a:cubicBezTo>
                <a:cubicBezTo>
                  <a:pt x="31" y="117"/>
                  <a:pt x="31" y="118"/>
                  <a:pt x="31" y="118"/>
                </a:cubicBezTo>
                <a:cubicBezTo>
                  <a:pt x="31" y="118"/>
                  <a:pt x="30" y="118"/>
                  <a:pt x="30" y="118"/>
                </a:cubicBezTo>
                <a:cubicBezTo>
                  <a:pt x="30" y="118"/>
                  <a:pt x="30" y="119"/>
                  <a:pt x="29" y="119"/>
                </a:cubicBezTo>
                <a:cubicBezTo>
                  <a:pt x="29" y="120"/>
                  <a:pt x="28" y="120"/>
                  <a:pt x="28" y="120"/>
                </a:cubicBezTo>
                <a:cubicBezTo>
                  <a:pt x="28" y="120"/>
                  <a:pt x="27" y="121"/>
                  <a:pt x="27" y="121"/>
                </a:cubicBezTo>
                <a:cubicBezTo>
                  <a:pt x="27" y="121"/>
                  <a:pt x="27" y="122"/>
                  <a:pt x="27" y="122"/>
                </a:cubicBezTo>
                <a:cubicBezTo>
                  <a:pt x="27" y="123"/>
                  <a:pt x="28" y="124"/>
                  <a:pt x="28" y="125"/>
                </a:cubicBezTo>
                <a:cubicBezTo>
                  <a:pt x="28" y="125"/>
                  <a:pt x="28" y="126"/>
                  <a:pt x="28" y="126"/>
                </a:cubicBezTo>
                <a:cubicBezTo>
                  <a:pt x="28" y="126"/>
                  <a:pt x="28" y="127"/>
                  <a:pt x="28" y="127"/>
                </a:cubicBezTo>
                <a:cubicBezTo>
                  <a:pt x="29" y="128"/>
                  <a:pt x="28" y="129"/>
                  <a:pt x="28" y="129"/>
                </a:cubicBezTo>
                <a:cubicBezTo>
                  <a:pt x="28" y="129"/>
                  <a:pt x="28" y="129"/>
                  <a:pt x="28" y="129"/>
                </a:cubicBezTo>
                <a:cubicBezTo>
                  <a:pt x="28" y="129"/>
                  <a:pt x="28" y="129"/>
                  <a:pt x="28" y="129"/>
                </a:cubicBezTo>
                <a:cubicBezTo>
                  <a:pt x="28" y="129"/>
                  <a:pt x="28" y="129"/>
                  <a:pt x="27" y="129"/>
                </a:cubicBezTo>
                <a:cubicBezTo>
                  <a:pt x="27" y="129"/>
                  <a:pt x="27" y="128"/>
                  <a:pt x="27" y="128"/>
                </a:cubicBezTo>
                <a:cubicBezTo>
                  <a:pt x="26" y="128"/>
                  <a:pt x="27" y="128"/>
                  <a:pt x="26" y="128"/>
                </a:cubicBezTo>
                <a:cubicBezTo>
                  <a:pt x="26" y="128"/>
                  <a:pt x="26" y="127"/>
                  <a:pt x="26" y="127"/>
                </a:cubicBezTo>
                <a:cubicBezTo>
                  <a:pt x="26" y="127"/>
                  <a:pt x="26" y="127"/>
                  <a:pt x="26" y="127"/>
                </a:cubicBezTo>
                <a:cubicBezTo>
                  <a:pt x="26" y="127"/>
                  <a:pt x="26" y="127"/>
                  <a:pt x="26" y="127"/>
                </a:cubicBezTo>
                <a:cubicBezTo>
                  <a:pt x="26" y="127"/>
                  <a:pt x="26" y="126"/>
                  <a:pt x="25" y="126"/>
                </a:cubicBezTo>
                <a:cubicBezTo>
                  <a:pt x="26" y="126"/>
                  <a:pt x="26" y="126"/>
                  <a:pt x="26" y="126"/>
                </a:cubicBezTo>
                <a:cubicBezTo>
                  <a:pt x="26" y="126"/>
                  <a:pt x="26" y="126"/>
                  <a:pt x="26" y="126"/>
                </a:cubicBezTo>
                <a:cubicBezTo>
                  <a:pt x="26" y="126"/>
                  <a:pt x="25" y="126"/>
                  <a:pt x="25" y="126"/>
                </a:cubicBezTo>
                <a:cubicBezTo>
                  <a:pt x="25" y="126"/>
                  <a:pt x="25" y="126"/>
                  <a:pt x="25" y="126"/>
                </a:cubicBezTo>
                <a:cubicBezTo>
                  <a:pt x="25" y="125"/>
                  <a:pt x="25" y="125"/>
                  <a:pt x="25" y="124"/>
                </a:cubicBezTo>
                <a:cubicBezTo>
                  <a:pt x="25" y="124"/>
                  <a:pt x="25" y="124"/>
                  <a:pt x="25" y="124"/>
                </a:cubicBezTo>
                <a:cubicBezTo>
                  <a:pt x="25" y="124"/>
                  <a:pt x="25" y="123"/>
                  <a:pt x="24" y="123"/>
                </a:cubicBezTo>
                <a:cubicBezTo>
                  <a:pt x="24" y="125"/>
                  <a:pt x="24" y="126"/>
                  <a:pt x="24" y="128"/>
                </a:cubicBezTo>
                <a:cubicBezTo>
                  <a:pt x="24" y="129"/>
                  <a:pt x="24" y="131"/>
                  <a:pt x="24" y="132"/>
                </a:cubicBezTo>
                <a:cubicBezTo>
                  <a:pt x="24" y="132"/>
                  <a:pt x="25" y="132"/>
                  <a:pt x="25" y="132"/>
                </a:cubicBezTo>
                <a:cubicBezTo>
                  <a:pt x="25" y="132"/>
                  <a:pt x="26" y="132"/>
                  <a:pt x="26" y="132"/>
                </a:cubicBezTo>
                <a:cubicBezTo>
                  <a:pt x="27" y="132"/>
                  <a:pt x="27" y="132"/>
                  <a:pt x="28" y="132"/>
                </a:cubicBezTo>
                <a:cubicBezTo>
                  <a:pt x="28" y="132"/>
                  <a:pt x="28" y="132"/>
                  <a:pt x="28" y="132"/>
                </a:cubicBezTo>
                <a:cubicBezTo>
                  <a:pt x="29" y="132"/>
                  <a:pt x="29" y="132"/>
                  <a:pt x="29" y="133"/>
                </a:cubicBezTo>
                <a:cubicBezTo>
                  <a:pt x="30" y="133"/>
                  <a:pt x="31" y="133"/>
                  <a:pt x="31" y="133"/>
                </a:cubicBezTo>
                <a:cubicBezTo>
                  <a:pt x="31" y="133"/>
                  <a:pt x="31" y="134"/>
                  <a:pt x="32" y="134"/>
                </a:cubicBezTo>
                <a:cubicBezTo>
                  <a:pt x="32" y="134"/>
                  <a:pt x="33" y="134"/>
                  <a:pt x="34" y="134"/>
                </a:cubicBezTo>
                <a:cubicBezTo>
                  <a:pt x="33" y="134"/>
                  <a:pt x="33" y="135"/>
                  <a:pt x="33" y="135"/>
                </a:cubicBezTo>
                <a:cubicBezTo>
                  <a:pt x="33" y="135"/>
                  <a:pt x="33" y="135"/>
                  <a:pt x="33" y="135"/>
                </a:cubicBezTo>
                <a:cubicBezTo>
                  <a:pt x="34" y="135"/>
                  <a:pt x="35" y="135"/>
                  <a:pt x="35" y="135"/>
                </a:cubicBezTo>
                <a:cubicBezTo>
                  <a:pt x="35" y="135"/>
                  <a:pt x="35" y="135"/>
                  <a:pt x="35" y="135"/>
                </a:cubicBezTo>
                <a:cubicBezTo>
                  <a:pt x="35" y="135"/>
                  <a:pt x="34" y="136"/>
                  <a:pt x="34" y="136"/>
                </a:cubicBezTo>
                <a:cubicBezTo>
                  <a:pt x="33" y="136"/>
                  <a:pt x="33" y="136"/>
                  <a:pt x="33" y="135"/>
                </a:cubicBezTo>
                <a:cubicBezTo>
                  <a:pt x="32" y="135"/>
                  <a:pt x="32" y="136"/>
                  <a:pt x="31" y="136"/>
                </a:cubicBezTo>
                <a:cubicBezTo>
                  <a:pt x="31" y="136"/>
                  <a:pt x="31" y="136"/>
                  <a:pt x="31" y="136"/>
                </a:cubicBezTo>
                <a:cubicBezTo>
                  <a:pt x="31" y="136"/>
                  <a:pt x="31" y="135"/>
                  <a:pt x="31" y="135"/>
                </a:cubicBezTo>
                <a:cubicBezTo>
                  <a:pt x="32" y="135"/>
                  <a:pt x="32" y="135"/>
                  <a:pt x="32" y="135"/>
                </a:cubicBezTo>
                <a:cubicBezTo>
                  <a:pt x="31" y="135"/>
                  <a:pt x="31" y="135"/>
                  <a:pt x="30" y="134"/>
                </a:cubicBezTo>
                <a:cubicBezTo>
                  <a:pt x="30" y="134"/>
                  <a:pt x="30" y="134"/>
                  <a:pt x="30" y="134"/>
                </a:cubicBezTo>
                <a:cubicBezTo>
                  <a:pt x="30" y="133"/>
                  <a:pt x="29" y="134"/>
                  <a:pt x="29" y="134"/>
                </a:cubicBezTo>
                <a:cubicBezTo>
                  <a:pt x="28" y="133"/>
                  <a:pt x="28" y="133"/>
                  <a:pt x="28" y="133"/>
                </a:cubicBezTo>
                <a:cubicBezTo>
                  <a:pt x="27" y="133"/>
                  <a:pt x="26" y="133"/>
                  <a:pt x="26" y="133"/>
                </a:cubicBezTo>
                <a:cubicBezTo>
                  <a:pt x="26" y="133"/>
                  <a:pt x="26" y="133"/>
                  <a:pt x="26" y="132"/>
                </a:cubicBezTo>
                <a:cubicBezTo>
                  <a:pt x="26" y="132"/>
                  <a:pt x="26" y="132"/>
                  <a:pt x="26" y="132"/>
                </a:cubicBezTo>
                <a:cubicBezTo>
                  <a:pt x="26" y="132"/>
                  <a:pt x="26" y="132"/>
                  <a:pt x="26" y="132"/>
                </a:cubicBezTo>
                <a:cubicBezTo>
                  <a:pt x="25" y="132"/>
                  <a:pt x="25" y="132"/>
                  <a:pt x="24" y="133"/>
                </a:cubicBezTo>
                <a:cubicBezTo>
                  <a:pt x="24" y="133"/>
                  <a:pt x="24" y="133"/>
                  <a:pt x="24" y="133"/>
                </a:cubicBezTo>
                <a:cubicBezTo>
                  <a:pt x="24" y="138"/>
                  <a:pt x="25" y="144"/>
                  <a:pt x="26" y="149"/>
                </a:cubicBezTo>
                <a:cubicBezTo>
                  <a:pt x="26" y="149"/>
                  <a:pt x="26" y="149"/>
                  <a:pt x="27" y="149"/>
                </a:cubicBezTo>
                <a:cubicBezTo>
                  <a:pt x="27" y="149"/>
                  <a:pt x="27" y="149"/>
                  <a:pt x="28" y="148"/>
                </a:cubicBezTo>
                <a:cubicBezTo>
                  <a:pt x="28" y="148"/>
                  <a:pt x="28" y="148"/>
                  <a:pt x="28" y="148"/>
                </a:cubicBezTo>
                <a:cubicBezTo>
                  <a:pt x="29" y="148"/>
                  <a:pt x="29" y="148"/>
                  <a:pt x="29" y="148"/>
                </a:cubicBezTo>
                <a:cubicBezTo>
                  <a:pt x="29" y="148"/>
                  <a:pt x="29" y="148"/>
                  <a:pt x="30" y="148"/>
                </a:cubicBezTo>
                <a:cubicBezTo>
                  <a:pt x="30" y="148"/>
                  <a:pt x="30" y="148"/>
                  <a:pt x="30" y="148"/>
                </a:cubicBezTo>
                <a:cubicBezTo>
                  <a:pt x="31" y="148"/>
                  <a:pt x="31" y="149"/>
                  <a:pt x="32" y="150"/>
                </a:cubicBezTo>
                <a:cubicBezTo>
                  <a:pt x="32" y="150"/>
                  <a:pt x="31" y="150"/>
                  <a:pt x="31" y="150"/>
                </a:cubicBezTo>
                <a:cubicBezTo>
                  <a:pt x="31" y="150"/>
                  <a:pt x="31" y="150"/>
                  <a:pt x="31" y="150"/>
                </a:cubicBezTo>
                <a:cubicBezTo>
                  <a:pt x="31" y="150"/>
                  <a:pt x="31" y="150"/>
                  <a:pt x="31" y="150"/>
                </a:cubicBezTo>
                <a:cubicBezTo>
                  <a:pt x="31" y="150"/>
                  <a:pt x="31" y="150"/>
                  <a:pt x="31" y="151"/>
                </a:cubicBezTo>
                <a:cubicBezTo>
                  <a:pt x="31" y="150"/>
                  <a:pt x="31" y="150"/>
                  <a:pt x="31" y="150"/>
                </a:cubicBezTo>
                <a:cubicBezTo>
                  <a:pt x="32" y="150"/>
                  <a:pt x="32" y="149"/>
                  <a:pt x="32" y="150"/>
                </a:cubicBezTo>
                <a:cubicBezTo>
                  <a:pt x="33" y="150"/>
                  <a:pt x="33" y="150"/>
                  <a:pt x="33" y="150"/>
                </a:cubicBezTo>
                <a:cubicBezTo>
                  <a:pt x="33" y="150"/>
                  <a:pt x="33" y="150"/>
                  <a:pt x="33" y="150"/>
                </a:cubicBezTo>
                <a:cubicBezTo>
                  <a:pt x="32" y="150"/>
                  <a:pt x="32" y="150"/>
                  <a:pt x="32" y="151"/>
                </a:cubicBezTo>
                <a:cubicBezTo>
                  <a:pt x="32" y="151"/>
                  <a:pt x="32" y="151"/>
                  <a:pt x="32" y="152"/>
                </a:cubicBezTo>
                <a:cubicBezTo>
                  <a:pt x="32" y="152"/>
                  <a:pt x="32" y="152"/>
                  <a:pt x="32" y="153"/>
                </a:cubicBezTo>
                <a:cubicBezTo>
                  <a:pt x="32" y="153"/>
                  <a:pt x="32" y="153"/>
                  <a:pt x="32" y="154"/>
                </a:cubicBezTo>
                <a:cubicBezTo>
                  <a:pt x="33" y="154"/>
                  <a:pt x="33" y="153"/>
                  <a:pt x="33" y="153"/>
                </a:cubicBezTo>
                <a:cubicBezTo>
                  <a:pt x="33" y="153"/>
                  <a:pt x="33" y="152"/>
                  <a:pt x="32" y="152"/>
                </a:cubicBezTo>
                <a:cubicBezTo>
                  <a:pt x="32" y="152"/>
                  <a:pt x="32" y="152"/>
                  <a:pt x="32" y="151"/>
                </a:cubicBezTo>
                <a:cubicBezTo>
                  <a:pt x="32" y="151"/>
                  <a:pt x="32" y="151"/>
                  <a:pt x="32" y="151"/>
                </a:cubicBezTo>
                <a:cubicBezTo>
                  <a:pt x="33" y="151"/>
                  <a:pt x="34" y="151"/>
                  <a:pt x="34" y="151"/>
                </a:cubicBezTo>
                <a:cubicBezTo>
                  <a:pt x="34" y="151"/>
                  <a:pt x="34" y="150"/>
                  <a:pt x="34" y="150"/>
                </a:cubicBezTo>
                <a:cubicBezTo>
                  <a:pt x="34" y="150"/>
                  <a:pt x="34" y="150"/>
                  <a:pt x="34" y="150"/>
                </a:cubicBezTo>
                <a:cubicBezTo>
                  <a:pt x="34" y="150"/>
                  <a:pt x="34" y="150"/>
                  <a:pt x="34" y="150"/>
                </a:cubicBezTo>
                <a:cubicBezTo>
                  <a:pt x="34" y="150"/>
                  <a:pt x="34" y="150"/>
                  <a:pt x="34" y="150"/>
                </a:cubicBezTo>
                <a:cubicBezTo>
                  <a:pt x="34" y="150"/>
                  <a:pt x="34" y="150"/>
                  <a:pt x="35" y="151"/>
                </a:cubicBezTo>
                <a:cubicBezTo>
                  <a:pt x="35" y="151"/>
                  <a:pt x="36" y="151"/>
                  <a:pt x="36" y="151"/>
                </a:cubicBezTo>
                <a:cubicBezTo>
                  <a:pt x="36" y="152"/>
                  <a:pt x="36" y="152"/>
                  <a:pt x="36" y="152"/>
                </a:cubicBezTo>
                <a:cubicBezTo>
                  <a:pt x="37" y="152"/>
                  <a:pt x="38" y="152"/>
                  <a:pt x="38" y="152"/>
                </a:cubicBezTo>
                <a:cubicBezTo>
                  <a:pt x="39" y="152"/>
                  <a:pt x="39" y="153"/>
                  <a:pt x="40" y="152"/>
                </a:cubicBezTo>
                <a:cubicBezTo>
                  <a:pt x="41" y="152"/>
                  <a:pt x="41" y="152"/>
                  <a:pt x="41" y="152"/>
                </a:cubicBezTo>
                <a:cubicBezTo>
                  <a:pt x="42" y="152"/>
                  <a:pt x="43" y="152"/>
                  <a:pt x="43" y="152"/>
                </a:cubicBezTo>
                <a:cubicBezTo>
                  <a:pt x="43" y="152"/>
                  <a:pt x="43" y="152"/>
                  <a:pt x="43" y="152"/>
                </a:cubicBezTo>
                <a:cubicBezTo>
                  <a:pt x="43" y="152"/>
                  <a:pt x="43" y="152"/>
                  <a:pt x="43" y="152"/>
                </a:cubicBezTo>
                <a:cubicBezTo>
                  <a:pt x="43" y="152"/>
                  <a:pt x="43" y="152"/>
                  <a:pt x="43" y="152"/>
                </a:cubicBezTo>
                <a:cubicBezTo>
                  <a:pt x="43" y="152"/>
                  <a:pt x="43" y="152"/>
                  <a:pt x="42" y="152"/>
                </a:cubicBezTo>
                <a:cubicBezTo>
                  <a:pt x="42" y="152"/>
                  <a:pt x="42" y="152"/>
                  <a:pt x="42" y="152"/>
                </a:cubicBezTo>
                <a:cubicBezTo>
                  <a:pt x="43" y="152"/>
                  <a:pt x="43" y="152"/>
                  <a:pt x="43" y="153"/>
                </a:cubicBezTo>
                <a:cubicBezTo>
                  <a:pt x="43" y="153"/>
                  <a:pt x="43" y="153"/>
                  <a:pt x="43" y="153"/>
                </a:cubicBezTo>
                <a:cubicBezTo>
                  <a:pt x="43" y="153"/>
                  <a:pt x="43" y="153"/>
                  <a:pt x="43" y="152"/>
                </a:cubicBezTo>
                <a:cubicBezTo>
                  <a:pt x="44" y="153"/>
                  <a:pt x="44" y="153"/>
                  <a:pt x="44" y="153"/>
                </a:cubicBezTo>
                <a:cubicBezTo>
                  <a:pt x="44" y="153"/>
                  <a:pt x="44" y="153"/>
                  <a:pt x="44" y="153"/>
                </a:cubicBezTo>
                <a:cubicBezTo>
                  <a:pt x="44" y="153"/>
                  <a:pt x="45" y="153"/>
                  <a:pt x="45" y="153"/>
                </a:cubicBezTo>
                <a:cubicBezTo>
                  <a:pt x="45" y="153"/>
                  <a:pt x="45" y="153"/>
                  <a:pt x="45" y="153"/>
                </a:cubicBezTo>
                <a:cubicBezTo>
                  <a:pt x="44" y="153"/>
                  <a:pt x="45" y="154"/>
                  <a:pt x="44" y="154"/>
                </a:cubicBezTo>
                <a:cubicBezTo>
                  <a:pt x="44" y="154"/>
                  <a:pt x="44" y="154"/>
                  <a:pt x="44" y="154"/>
                </a:cubicBezTo>
                <a:cubicBezTo>
                  <a:pt x="44" y="154"/>
                  <a:pt x="44" y="154"/>
                  <a:pt x="45" y="154"/>
                </a:cubicBezTo>
                <a:cubicBezTo>
                  <a:pt x="45" y="154"/>
                  <a:pt x="45" y="154"/>
                  <a:pt x="46" y="154"/>
                </a:cubicBezTo>
                <a:cubicBezTo>
                  <a:pt x="46" y="154"/>
                  <a:pt x="47" y="155"/>
                  <a:pt x="47" y="155"/>
                </a:cubicBezTo>
                <a:cubicBezTo>
                  <a:pt x="48" y="156"/>
                  <a:pt x="48" y="156"/>
                  <a:pt x="48" y="157"/>
                </a:cubicBezTo>
                <a:cubicBezTo>
                  <a:pt x="48" y="156"/>
                  <a:pt x="48" y="156"/>
                  <a:pt x="48" y="156"/>
                </a:cubicBezTo>
                <a:cubicBezTo>
                  <a:pt x="48" y="156"/>
                  <a:pt x="48" y="156"/>
                  <a:pt x="48" y="156"/>
                </a:cubicBezTo>
                <a:cubicBezTo>
                  <a:pt x="48" y="156"/>
                  <a:pt x="49" y="157"/>
                  <a:pt x="49" y="157"/>
                </a:cubicBezTo>
                <a:cubicBezTo>
                  <a:pt x="49" y="157"/>
                  <a:pt x="49" y="157"/>
                  <a:pt x="49" y="157"/>
                </a:cubicBezTo>
                <a:cubicBezTo>
                  <a:pt x="49" y="157"/>
                  <a:pt x="49" y="157"/>
                  <a:pt x="49" y="157"/>
                </a:cubicBezTo>
                <a:cubicBezTo>
                  <a:pt x="50" y="157"/>
                  <a:pt x="50" y="157"/>
                  <a:pt x="51" y="157"/>
                </a:cubicBezTo>
                <a:cubicBezTo>
                  <a:pt x="51" y="157"/>
                  <a:pt x="51" y="157"/>
                  <a:pt x="51" y="157"/>
                </a:cubicBezTo>
                <a:cubicBezTo>
                  <a:pt x="51" y="157"/>
                  <a:pt x="52" y="157"/>
                  <a:pt x="53" y="157"/>
                </a:cubicBezTo>
                <a:cubicBezTo>
                  <a:pt x="53" y="158"/>
                  <a:pt x="54" y="158"/>
                  <a:pt x="54" y="158"/>
                </a:cubicBezTo>
                <a:cubicBezTo>
                  <a:pt x="54" y="158"/>
                  <a:pt x="56" y="159"/>
                  <a:pt x="56" y="159"/>
                </a:cubicBezTo>
                <a:cubicBezTo>
                  <a:pt x="56" y="159"/>
                  <a:pt x="56" y="159"/>
                  <a:pt x="56" y="159"/>
                </a:cubicBezTo>
                <a:cubicBezTo>
                  <a:pt x="56" y="159"/>
                  <a:pt x="56" y="160"/>
                  <a:pt x="56" y="160"/>
                </a:cubicBezTo>
                <a:cubicBezTo>
                  <a:pt x="56" y="161"/>
                  <a:pt x="57" y="162"/>
                  <a:pt x="58" y="162"/>
                </a:cubicBezTo>
                <a:cubicBezTo>
                  <a:pt x="58" y="162"/>
                  <a:pt x="58" y="163"/>
                  <a:pt x="58" y="163"/>
                </a:cubicBezTo>
                <a:cubicBezTo>
                  <a:pt x="57" y="163"/>
                  <a:pt x="57" y="164"/>
                  <a:pt x="57" y="164"/>
                </a:cubicBezTo>
                <a:cubicBezTo>
                  <a:pt x="57" y="164"/>
                  <a:pt x="56" y="164"/>
                  <a:pt x="56" y="165"/>
                </a:cubicBezTo>
                <a:cubicBezTo>
                  <a:pt x="55" y="165"/>
                  <a:pt x="55" y="166"/>
                  <a:pt x="55" y="166"/>
                </a:cubicBezTo>
                <a:cubicBezTo>
                  <a:pt x="55" y="166"/>
                  <a:pt x="55" y="166"/>
                  <a:pt x="55" y="166"/>
                </a:cubicBezTo>
                <a:cubicBezTo>
                  <a:pt x="56" y="166"/>
                  <a:pt x="56" y="166"/>
                  <a:pt x="56" y="166"/>
                </a:cubicBezTo>
                <a:cubicBezTo>
                  <a:pt x="57" y="166"/>
                  <a:pt x="57" y="166"/>
                  <a:pt x="57" y="166"/>
                </a:cubicBezTo>
                <a:cubicBezTo>
                  <a:pt x="57" y="167"/>
                  <a:pt x="58" y="166"/>
                  <a:pt x="58" y="166"/>
                </a:cubicBezTo>
                <a:cubicBezTo>
                  <a:pt x="58" y="167"/>
                  <a:pt x="58" y="167"/>
                  <a:pt x="58" y="167"/>
                </a:cubicBezTo>
                <a:cubicBezTo>
                  <a:pt x="58" y="167"/>
                  <a:pt x="58" y="167"/>
                  <a:pt x="58" y="167"/>
                </a:cubicBezTo>
                <a:cubicBezTo>
                  <a:pt x="59" y="166"/>
                  <a:pt x="59" y="166"/>
                  <a:pt x="59" y="166"/>
                </a:cubicBezTo>
                <a:cubicBezTo>
                  <a:pt x="60" y="166"/>
                  <a:pt x="60" y="165"/>
                  <a:pt x="60" y="165"/>
                </a:cubicBezTo>
                <a:cubicBezTo>
                  <a:pt x="60" y="165"/>
                  <a:pt x="61" y="165"/>
                  <a:pt x="61" y="165"/>
                </a:cubicBezTo>
                <a:cubicBezTo>
                  <a:pt x="61" y="165"/>
                  <a:pt x="61" y="165"/>
                  <a:pt x="61" y="165"/>
                </a:cubicBezTo>
                <a:cubicBezTo>
                  <a:pt x="62" y="166"/>
                  <a:pt x="63" y="166"/>
                  <a:pt x="63" y="166"/>
                </a:cubicBezTo>
                <a:cubicBezTo>
                  <a:pt x="63" y="166"/>
                  <a:pt x="63" y="166"/>
                  <a:pt x="63" y="166"/>
                </a:cubicBezTo>
                <a:cubicBezTo>
                  <a:pt x="63" y="166"/>
                  <a:pt x="63" y="166"/>
                  <a:pt x="63" y="166"/>
                </a:cubicBezTo>
                <a:cubicBezTo>
                  <a:pt x="64" y="166"/>
                  <a:pt x="64" y="167"/>
                  <a:pt x="64" y="167"/>
                </a:cubicBezTo>
                <a:cubicBezTo>
                  <a:pt x="64" y="167"/>
                  <a:pt x="64" y="167"/>
                  <a:pt x="64" y="168"/>
                </a:cubicBezTo>
                <a:cubicBezTo>
                  <a:pt x="64" y="168"/>
                  <a:pt x="65" y="167"/>
                  <a:pt x="65" y="167"/>
                </a:cubicBezTo>
                <a:cubicBezTo>
                  <a:pt x="66" y="167"/>
                  <a:pt x="66" y="167"/>
                  <a:pt x="67" y="168"/>
                </a:cubicBezTo>
                <a:cubicBezTo>
                  <a:pt x="67" y="168"/>
                  <a:pt x="67" y="168"/>
                  <a:pt x="68" y="168"/>
                </a:cubicBezTo>
                <a:cubicBezTo>
                  <a:pt x="68" y="168"/>
                  <a:pt x="69" y="167"/>
                  <a:pt x="70" y="168"/>
                </a:cubicBezTo>
                <a:cubicBezTo>
                  <a:pt x="71" y="168"/>
                  <a:pt x="71" y="169"/>
                  <a:pt x="72" y="170"/>
                </a:cubicBezTo>
                <a:cubicBezTo>
                  <a:pt x="73" y="170"/>
                  <a:pt x="74" y="170"/>
                  <a:pt x="74" y="170"/>
                </a:cubicBezTo>
                <a:cubicBezTo>
                  <a:pt x="75" y="170"/>
                  <a:pt x="75" y="173"/>
                  <a:pt x="75" y="173"/>
                </a:cubicBezTo>
                <a:cubicBezTo>
                  <a:pt x="75" y="175"/>
                  <a:pt x="74" y="176"/>
                  <a:pt x="73" y="177"/>
                </a:cubicBezTo>
                <a:cubicBezTo>
                  <a:pt x="73" y="177"/>
                  <a:pt x="73" y="177"/>
                  <a:pt x="72" y="177"/>
                </a:cubicBezTo>
                <a:cubicBezTo>
                  <a:pt x="72" y="177"/>
                  <a:pt x="72" y="177"/>
                  <a:pt x="72" y="178"/>
                </a:cubicBezTo>
                <a:cubicBezTo>
                  <a:pt x="72" y="178"/>
                  <a:pt x="72" y="179"/>
                  <a:pt x="71" y="179"/>
                </a:cubicBezTo>
                <a:cubicBezTo>
                  <a:pt x="71" y="179"/>
                  <a:pt x="71" y="179"/>
                  <a:pt x="71" y="179"/>
                </a:cubicBezTo>
                <a:cubicBezTo>
                  <a:pt x="71" y="179"/>
                  <a:pt x="71" y="179"/>
                  <a:pt x="71" y="179"/>
                </a:cubicBezTo>
                <a:cubicBezTo>
                  <a:pt x="71" y="179"/>
                  <a:pt x="71" y="179"/>
                  <a:pt x="71" y="179"/>
                </a:cubicBezTo>
                <a:cubicBezTo>
                  <a:pt x="71" y="180"/>
                  <a:pt x="70" y="180"/>
                  <a:pt x="70" y="181"/>
                </a:cubicBezTo>
                <a:cubicBezTo>
                  <a:pt x="70" y="182"/>
                  <a:pt x="70" y="182"/>
                  <a:pt x="70" y="183"/>
                </a:cubicBezTo>
                <a:cubicBezTo>
                  <a:pt x="71" y="183"/>
                  <a:pt x="70" y="184"/>
                  <a:pt x="70" y="184"/>
                </a:cubicBezTo>
                <a:cubicBezTo>
                  <a:pt x="70" y="185"/>
                  <a:pt x="70" y="185"/>
                  <a:pt x="70" y="185"/>
                </a:cubicBezTo>
                <a:cubicBezTo>
                  <a:pt x="70" y="185"/>
                  <a:pt x="69" y="186"/>
                  <a:pt x="69" y="187"/>
                </a:cubicBezTo>
                <a:cubicBezTo>
                  <a:pt x="70" y="187"/>
                  <a:pt x="70" y="187"/>
                  <a:pt x="70" y="187"/>
                </a:cubicBezTo>
                <a:cubicBezTo>
                  <a:pt x="69" y="188"/>
                  <a:pt x="69" y="188"/>
                  <a:pt x="69" y="188"/>
                </a:cubicBezTo>
                <a:cubicBezTo>
                  <a:pt x="69" y="188"/>
                  <a:pt x="69" y="188"/>
                  <a:pt x="69" y="189"/>
                </a:cubicBezTo>
                <a:cubicBezTo>
                  <a:pt x="68" y="189"/>
                  <a:pt x="68" y="189"/>
                  <a:pt x="68" y="190"/>
                </a:cubicBezTo>
                <a:cubicBezTo>
                  <a:pt x="68" y="190"/>
                  <a:pt x="68" y="190"/>
                  <a:pt x="68" y="190"/>
                </a:cubicBezTo>
                <a:cubicBezTo>
                  <a:pt x="67" y="191"/>
                  <a:pt x="67" y="191"/>
                  <a:pt x="67" y="191"/>
                </a:cubicBezTo>
                <a:cubicBezTo>
                  <a:pt x="66" y="192"/>
                  <a:pt x="66" y="192"/>
                  <a:pt x="65" y="192"/>
                </a:cubicBezTo>
                <a:cubicBezTo>
                  <a:pt x="65" y="192"/>
                  <a:pt x="64" y="192"/>
                  <a:pt x="64" y="192"/>
                </a:cubicBezTo>
                <a:cubicBezTo>
                  <a:pt x="64" y="192"/>
                  <a:pt x="64" y="192"/>
                  <a:pt x="63" y="192"/>
                </a:cubicBezTo>
                <a:cubicBezTo>
                  <a:pt x="63" y="192"/>
                  <a:pt x="63" y="192"/>
                  <a:pt x="63" y="193"/>
                </a:cubicBezTo>
                <a:cubicBezTo>
                  <a:pt x="63" y="193"/>
                  <a:pt x="63" y="192"/>
                  <a:pt x="62" y="192"/>
                </a:cubicBezTo>
                <a:cubicBezTo>
                  <a:pt x="62" y="193"/>
                  <a:pt x="60" y="194"/>
                  <a:pt x="60" y="194"/>
                </a:cubicBezTo>
                <a:cubicBezTo>
                  <a:pt x="60" y="194"/>
                  <a:pt x="60" y="195"/>
                  <a:pt x="59" y="195"/>
                </a:cubicBezTo>
                <a:cubicBezTo>
                  <a:pt x="59" y="195"/>
                  <a:pt x="59" y="195"/>
                  <a:pt x="59" y="195"/>
                </a:cubicBezTo>
                <a:cubicBezTo>
                  <a:pt x="60" y="195"/>
                  <a:pt x="59" y="196"/>
                  <a:pt x="59" y="196"/>
                </a:cubicBezTo>
                <a:cubicBezTo>
                  <a:pt x="59" y="196"/>
                  <a:pt x="59" y="196"/>
                  <a:pt x="59" y="196"/>
                </a:cubicBezTo>
                <a:cubicBezTo>
                  <a:pt x="60" y="199"/>
                  <a:pt x="58" y="199"/>
                  <a:pt x="58" y="200"/>
                </a:cubicBezTo>
                <a:cubicBezTo>
                  <a:pt x="57" y="200"/>
                  <a:pt x="57" y="201"/>
                  <a:pt x="57" y="201"/>
                </a:cubicBezTo>
                <a:cubicBezTo>
                  <a:pt x="57" y="202"/>
                  <a:pt x="56" y="202"/>
                  <a:pt x="56" y="203"/>
                </a:cubicBezTo>
                <a:cubicBezTo>
                  <a:pt x="56" y="202"/>
                  <a:pt x="57" y="201"/>
                  <a:pt x="57" y="201"/>
                </a:cubicBezTo>
                <a:cubicBezTo>
                  <a:pt x="57" y="201"/>
                  <a:pt x="57" y="201"/>
                  <a:pt x="57" y="201"/>
                </a:cubicBezTo>
                <a:cubicBezTo>
                  <a:pt x="57" y="201"/>
                  <a:pt x="56" y="201"/>
                  <a:pt x="56" y="201"/>
                </a:cubicBezTo>
                <a:cubicBezTo>
                  <a:pt x="56" y="201"/>
                  <a:pt x="56" y="201"/>
                  <a:pt x="56" y="201"/>
                </a:cubicBezTo>
                <a:cubicBezTo>
                  <a:pt x="56" y="201"/>
                  <a:pt x="56" y="201"/>
                  <a:pt x="56" y="202"/>
                </a:cubicBezTo>
                <a:cubicBezTo>
                  <a:pt x="56" y="202"/>
                  <a:pt x="55" y="202"/>
                  <a:pt x="55" y="202"/>
                </a:cubicBezTo>
                <a:cubicBezTo>
                  <a:pt x="74" y="221"/>
                  <a:pt x="100" y="232"/>
                  <a:pt x="128" y="232"/>
                </a:cubicBezTo>
                <a:cubicBezTo>
                  <a:pt x="179" y="232"/>
                  <a:pt x="221" y="195"/>
                  <a:pt x="230" y="147"/>
                </a:cubicBezTo>
                <a:cubicBezTo>
                  <a:pt x="230" y="147"/>
                  <a:pt x="230" y="146"/>
                  <a:pt x="230" y="146"/>
                </a:cubicBezTo>
                <a:cubicBezTo>
                  <a:pt x="230" y="146"/>
                  <a:pt x="230" y="146"/>
                  <a:pt x="230" y="146"/>
                </a:cubicBezTo>
                <a:cubicBezTo>
                  <a:pt x="229" y="146"/>
                  <a:pt x="230" y="145"/>
                  <a:pt x="230" y="145"/>
                </a:cubicBezTo>
                <a:cubicBezTo>
                  <a:pt x="229" y="145"/>
                  <a:pt x="229" y="145"/>
                  <a:pt x="229" y="145"/>
                </a:cubicBezTo>
                <a:cubicBezTo>
                  <a:pt x="229" y="144"/>
                  <a:pt x="229" y="143"/>
                  <a:pt x="229" y="143"/>
                </a:cubicBezTo>
                <a:cubicBezTo>
                  <a:pt x="229" y="143"/>
                  <a:pt x="229" y="143"/>
                  <a:pt x="229" y="143"/>
                </a:cubicBezTo>
                <a:cubicBezTo>
                  <a:pt x="229" y="143"/>
                  <a:pt x="229" y="143"/>
                  <a:pt x="229" y="143"/>
                </a:cubicBezTo>
                <a:cubicBezTo>
                  <a:pt x="229" y="143"/>
                  <a:pt x="228" y="143"/>
                  <a:pt x="228" y="143"/>
                </a:cubicBezTo>
                <a:cubicBezTo>
                  <a:pt x="228" y="142"/>
                  <a:pt x="228" y="142"/>
                  <a:pt x="228" y="142"/>
                </a:cubicBezTo>
                <a:cubicBezTo>
                  <a:pt x="228" y="142"/>
                  <a:pt x="228" y="142"/>
                  <a:pt x="228" y="142"/>
                </a:cubicBezTo>
                <a:cubicBezTo>
                  <a:pt x="228" y="141"/>
                  <a:pt x="227" y="141"/>
                  <a:pt x="227" y="141"/>
                </a:cubicBezTo>
                <a:cubicBezTo>
                  <a:pt x="227" y="141"/>
                  <a:pt x="227" y="141"/>
                  <a:pt x="227" y="141"/>
                </a:cubicBezTo>
                <a:cubicBezTo>
                  <a:pt x="227" y="140"/>
                  <a:pt x="227" y="139"/>
                  <a:pt x="227" y="139"/>
                </a:cubicBezTo>
                <a:cubicBezTo>
                  <a:pt x="227" y="139"/>
                  <a:pt x="227" y="139"/>
                  <a:pt x="227" y="138"/>
                </a:cubicBezTo>
                <a:cubicBezTo>
                  <a:pt x="227" y="138"/>
                  <a:pt x="227" y="137"/>
                  <a:pt x="228" y="137"/>
                </a:cubicBezTo>
                <a:cubicBezTo>
                  <a:pt x="227" y="137"/>
                  <a:pt x="227" y="137"/>
                  <a:pt x="227" y="137"/>
                </a:cubicBezTo>
                <a:cubicBezTo>
                  <a:pt x="227" y="136"/>
                  <a:pt x="227" y="136"/>
                  <a:pt x="227" y="135"/>
                </a:cubicBezTo>
                <a:cubicBezTo>
                  <a:pt x="227" y="134"/>
                  <a:pt x="226" y="134"/>
                  <a:pt x="226" y="133"/>
                </a:cubicBezTo>
                <a:cubicBezTo>
                  <a:pt x="226" y="133"/>
                  <a:pt x="226" y="132"/>
                  <a:pt x="226" y="131"/>
                </a:cubicBezTo>
                <a:cubicBezTo>
                  <a:pt x="226" y="131"/>
                  <a:pt x="226" y="130"/>
                  <a:pt x="225" y="130"/>
                </a:cubicBezTo>
                <a:cubicBezTo>
                  <a:pt x="225" y="130"/>
                  <a:pt x="225" y="130"/>
                  <a:pt x="225" y="130"/>
                </a:cubicBezTo>
                <a:cubicBezTo>
                  <a:pt x="225" y="131"/>
                  <a:pt x="225" y="131"/>
                  <a:pt x="224" y="131"/>
                </a:cubicBezTo>
                <a:cubicBezTo>
                  <a:pt x="224" y="132"/>
                  <a:pt x="224" y="132"/>
                  <a:pt x="223" y="132"/>
                </a:cubicBezTo>
                <a:cubicBezTo>
                  <a:pt x="223" y="132"/>
                  <a:pt x="223" y="132"/>
                  <a:pt x="223" y="132"/>
                </a:cubicBezTo>
                <a:cubicBezTo>
                  <a:pt x="223" y="132"/>
                  <a:pt x="223" y="132"/>
                  <a:pt x="223" y="132"/>
                </a:cubicBezTo>
                <a:cubicBezTo>
                  <a:pt x="223" y="132"/>
                  <a:pt x="223" y="132"/>
                  <a:pt x="223" y="132"/>
                </a:cubicBezTo>
                <a:cubicBezTo>
                  <a:pt x="223" y="132"/>
                  <a:pt x="223" y="132"/>
                  <a:pt x="223" y="132"/>
                </a:cubicBezTo>
                <a:cubicBezTo>
                  <a:pt x="223" y="132"/>
                  <a:pt x="223" y="131"/>
                  <a:pt x="223" y="131"/>
                </a:cubicBezTo>
                <a:cubicBezTo>
                  <a:pt x="222" y="131"/>
                  <a:pt x="222" y="132"/>
                  <a:pt x="222" y="132"/>
                </a:cubicBezTo>
                <a:cubicBezTo>
                  <a:pt x="222" y="132"/>
                  <a:pt x="222" y="132"/>
                  <a:pt x="222" y="132"/>
                </a:cubicBezTo>
                <a:cubicBezTo>
                  <a:pt x="222" y="131"/>
                  <a:pt x="222" y="131"/>
                  <a:pt x="222" y="130"/>
                </a:cubicBezTo>
                <a:cubicBezTo>
                  <a:pt x="223" y="129"/>
                  <a:pt x="222" y="128"/>
                  <a:pt x="222" y="128"/>
                </a:cubicBezTo>
                <a:cubicBezTo>
                  <a:pt x="222" y="128"/>
                  <a:pt x="222" y="128"/>
                  <a:pt x="222" y="128"/>
                </a:cubicBezTo>
                <a:cubicBezTo>
                  <a:pt x="222" y="128"/>
                  <a:pt x="222" y="128"/>
                  <a:pt x="222" y="128"/>
                </a:cubicBezTo>
                <a:cubicBezTo>
                  <a:pt x="221" y="128"/>
                  <a:pt x="221" y="128"/>
                  <a:pt x="221" y="128"/>
                </a:cubicBezTo>
                <a:cubicBezTo>
                  <a:pt x="221" y="128"/>
                  <a:pt x="221" y="128"/>
                  <a:pt x="222" y="128"/>
                </a:cubicBezTo>
                <a:cubicBezTo>
                  <a:pt x="222" y="128"/>
                  <a:pt x="222" y="128"/>
                  <a:pt x="222" y="128"/>
                </a:cubicBezTo>
                <a:cubicBezTo>
                  <a:pt x="222" y="127"/>
                  <a:pt x="221" y="127"/>
                  <a:pt x="221" y="127"/>
                </a:cubicBezTo>
                <a:cubicBezTo>
                  <a:pt x="221" y="127"/>
                  <a:pt x="221" y="127"/>
                  <a:pt x="221" y="127"/>
                </a:cubicBezTo>
                <a:cubicBezTo>
                  <a:pt x="221" y="126"/>
                  <a:pt x="221" y="126"/>
                  <a:pt x="221" y="126"/>
                </a:cubicBezTo>
                <a:cubicBezTo>
                  <a:pt x="220" y="126"/>
                  <a:pt x="220" y="126"/>
                  <a:pt x="220" y="126"/>
                </a:cubicBezTo>
                <a:cubicBezTo>
                  <a:pt x="219" y="126"/>
                  <a:pt x="220" y="124"/>
                  <a:pt x="219" y="123"/>
                </a:cubicBezTo>
                <a:cubicBezTo>
                  <a:pt x="219" y="124"/>
                  <a:pt x="219" y="124"/>
                  <a:pt x="218" y="124"/>
                </a:cubicBezTo>
                <a:cubicBezTo>
                  <a:pt x="218" y="123"/>
                  <a:pt x="218" y="123"/>
                  <a:pt x="218" y="123"/>
                </a:cubicBezTo>
                <a:cubicBezTo>
                  <a:pt x="218" y="123"/>
                  <a:pt x="218" y="123"/>
                  <a:pt x="218" y="123"/>
                </a:cubicBezTo>
                <a:cubicBezTo>
                  <a:pt x="218" y="123"/>
                  <a:pt x="218" y="123"/>
                  <a:pt x="218" y="124"/>
                </a:cubicBezTo>
                <a:cubicBezTo>
                  <a:pt x="218" y="124"/>
                  <a:pt x="218" y="124"/>
                  <a:pt x="218" y="124"/>
                </a:cubicBezTo>
                <a:cubicBezTo>
                  <a:pt x="218" y="124"/>
                  <a:pt x="218" y="124"/>
                  <a:pt x="218" y="125"/>
                </a:cubicBezTo>
                <a:cubicBezTo>
                  <a:pt x="217" y="125"/>
                  <a:pt x="217" y="125"/>
                  <a:pt x="217" y="125"/>
                </a:cubicBezTo>
                <a:cubicBezTo>
                  <a:pt x="217" y="125"/>
                  <a:pt x="217" y="124"/>
                  <a:pt x="217" y="124"/>
                </a:cubicBezTo>
                <a:cubicBezTo>
                  <a:pt x="217" y="124"/>
                  <a:pt x="217" y="124"/>
                  <a:pt x="217" y="124"/>
                </a:cubicBezTo>
                <a:cubicBezTo>
                  <a:pt x="217" y="124"/>
                  <a:pt x="217" y="125"/>
                  <a:pt x="217" y="125"/>
                </a:cubicBezTo>
                <a:cubicBezTo>
                  <a:pt x="217" y="125"/>
                  <a:pt x="217" y="125"/>
                  <a:pt x="217" y="125"/>
                </a:cubicBezTo>
                <a:cubicBezTo>
                  <a:pt x="217" y="125"/>
                  <a:pt x="217" y="125"/>
                  <a:pt x="217" y="124"/>
                </a:cubicBezTo>
                <a:cubicBezTo>
                  <a:pt x="217" y="124"/>
                  <a:pt x="217"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5" y="125"/>
                  <a:pt x="215" y="125"/>
                  <a:pt x="215" y="125"/>
                </a:cubicBezTo>
                <a:cubicBezTo>
                  <a:pt x="215" y="125"/>
                  <a:pt x="215" y="125"/>
                  <a:pt x="215" y="125"/>
                </a:cubicBezTo>
                <a:cubicBezTo>
                  <a:pt x="215" y="125"/>
                  <a:pt x="215" y="125"/>
                  <a:pt x="215" y="125"/>
                </a:cubicBezTo>
                <a:cubicBezTo>
                  <a:pt x="215" y="125"/>
                  <a:pt x="215" y="125"/>
                  <a:pt x="215" y="124"/>
                </a:cubicBezTo>
                <a:cubicBezTo>
                  <a:pt x="215" y="125"/>
                  <a:pt x="215" y="125"/>
                  <a:pt x="215" y="125"/>
                </a:cubicBezTo>
                <a:cubicBezTo>
                  <a:pt x="214" y="125"/>
                  <a:pt x="214" y="125"/>
                  <a:pt x="213" y="125"/>
                </a:cubicBezTo>
                <a:cubicBezTo>
                  <a:pt x="213" y="126"/>
                  <a:pt x="214" y="126"/>
                  <a:pt x="214" y="126"/>
                </a:cubicBezTo>
                <a:cubicBezTo>
                  <a:pt x="213" y="126"/>
                  <a:pt x="213" y="127"/>
                  <a:pt x="213" y="127"/>
                </a:cubicBezTo>
                <a:cubicBezTo>
                  <a:pt x="212" y="127"/>
                  <a:pt x="212" y="127"/>
                  <a:pt x="212" y="127"/>
                </a:cubicBezTo>
                <a:cubicBezTo>
                  <a:pt x="211" y="128"/>
                  <a:pt x="211" y="128"/>
                  <a:pt x="210" y="129"/>
                </a:cubicBezTo>
                <a:cubicBezTo>
                  <a:pt x="210" y="129"/>
                  <a:pt x="210" y="129"/>
                  <a:pt x="210" y="129"/>
                </a:cubicBezTo>
                <a:cubicBezTo>
                  <a:pt x="210" y="129"/>
                  <a:pt x="209" y="130"/>
                  <a:pt x="209" y="130"/>
                </a:cubicBezTo>
                <a:cubicBezTo>
                  <a:pt x="209" y="130"/>
                  <a:pt x="209" y="130"/>
                  <a:pt x="208" y="130"/>
                </a:cubicBezTo>
                <a:cubicBezTo>
                  <a:pt x="208" y="130"/>
                  <a:pt x="208" y="131"/>
                  <a:pt x="208" y="131"/>
                </a:cubicBezTo>
                <a:cubicBezTo>
                  <a:pt x="208" y="131"/>
                  <a:pt x="207" y="131"/>
                  <a:pt x="207" y="131"/>
                </a:cubicBezTo>
                <a:cubicBezTo>
                  <a:pt x="207" y="132"/>
                  <a:pt x="207" y="132"/>
                  <a:pt x="207" y="132"/>
                </a:cubicBezTo>
                <a:cubicBezTo>
                  <a:pt x="206" y="132"/>
                  <a:pt x="206" y="132"/>
                  <a:pt x="206" y="132"/>
                </a:cubicBezTo>
                <a:cubicBezTo>
                  <a:pt x="206" y="132"/>
                  <a:pt x="206" y="132"/>
                  <a:pt x="206" y="133"/>
                </a:cubicBezTo>
                <a:cubicBezTo>
                  <a:pt x="205" y="133"/>
                  <a:pt x="206" y="134"/>
                  <a:pt x="206" y="134"/>
                </a:cubicBezTo>
                <a:cubicBezTo>
                  <a:pt x="206" y="135"/>
                  <a:pt x="205" y="136"/>
                  <a:pt x="205" y="137"/>
                </a:cubicBezTo>
                <a:cubicBezTo>
                  <a:pt x="205" y="137"/>
                  <a:pt x="205" y="138"/>
                  <a:pt x="205" y="138"/>
                </a:cubicBezTo>
                <a:cubicBezTo>
                  <a:pt x="205" y="138"/>
                  <a:pt x="205" y="138"/>
                  <a:pt x="205" y="139"/>
                </a:cubicBezTo>
                <a:cubicBezTo>
                  <a:pt x="204" y="139"/>
                  <a:pt x="204" y="139"/>
                  <a:pt x="204" y="139"/>
                </a:cubicBezTo>
                <a:cubicBezTo>
                  <a:pt x="204" y="139"/>
                  <a:pt x="204" y="140"/>
                  <a:pt x="204" y="140"/>
                </a:cubicBezTo>
                <a:cubicBezTo>
                  <a:pt x="204" y="140"/>
                  <a:pt x="204" y="140"/>
                  <a:pt x="204" y="140"/>
                </a:cubicBezTo>
                <a:cubicBezTo>
                  <a:pt x="203" y="140"/>
                  <a:pt x="203" y="140"/>
                  <a:pt x="203" y="141"/>
                </a:cubicBezTo>
                <a:cubicBezTo>
                  <a:pt x="203" y="141"/>
                  <a:pt x="203" y="141"/>
                  <a:pt x="202" y="141"/>
                </a:cubicBezTo>
                <a:cubicBezTo>
                  <a:pt x="202" y="141"/>
                  <a:pt x="202" y="141"/>
                  <a:pt x="202" y="140"/>
                </a:cubicBezTo>
                <a:cubicBezTo>
                  <a:pt x="202" y="140"/>
                  <a:pt x="201" y="139"/>
                  <a:pt x="201" y="139"/>
                </a:cubicBezTo>
                <a:cubicBezTo>
                  <a:pt x="200" y="137"/>
                  <a:pt x="200" y="137"/>
                  <a:pt x="200" y="137"/>
                </a:cubicBezTo>
                <a:cubicBezTo>
                  <a:pt x="200" y="137"/>
                  <a:pt x="200" y="137"/>
                  <a:pt x="200" y="136"/>
                </a:cubicBezTo>
                <a:cubicBezTo>
                  <a:pt x="200" y="136"/>
                  <a:pt x="200" y="136"/>
                  <a:pt x="200" y="135"/>
                </a:cubicBezTo>
                <a:cubicBezTo>
                  <a:pt x="199" y="135"/>
                  <a:pt x="199" y="134"/>
                  <a:pt x="199" y="134"/>
                </a:cubicBezTo>
                <a:cubicBezTo>
                  <a:pt x="199" y="133"/>
                  <a:pt x="198" y="132"/>
                  <a:pt x="198" y="131"/>
                </a:cubicBezTo>
                <a:cubicBezTo>
                  <a:pt x="198" y="130"/>
                  <a:pt x="198" y="129"/>
                  <a:pt x="197" y="128"/>
                </a:cubicBezTo>
                <a:cubicBezTo>
                  <a:pt x="197" y="128"/>
                  <a:pt x="197" y="127"/>
                  <a:pt x="197" y="127"/>
                </a:cubicBezTo>
                <a:cubicBezTo>
                  <a:pt x="197" y="126"/>
                  <a:pt x="197" y="126"/>
                  <a:pt x="197" y="126"/>
                </a:cubicBezTo>
                <a:cubicBezTo>
                  <a:pt x="198" y="126"/>
                  <a:pt x="197" y="126"/>
                  <a:pt x="197" y="125"/>
                </a:cubicBezTo>
                <a:cubicBezTo>
                  <a:pt x="197" y="125"/>
                  <a:pt x="197" y="125"/>
                  <a:pt x="197" y="124"/>
                </a:cubicBezTo>
                <a:cubicBezTo>
                  <a:pt x="197" y="124"/>
                  <a:pt x="197" y="124"/>
                  <a:pt x="196" y="124"/>
                </a:cubicBezTo>
                <a:cubicBezTo>
                  <a:pt x="196" y="124"/>
                  <a:pt x="196" y="125"/>
                  <a:pt x="196" y="125"/>
                </a:cubicBezTo>
                <a:cubicBezTo>
                  <a:pt x="197" y="125"/>
                  <a:pt x="196" y="126"/>
                  <a:pt x="195" y="126"/>
                </a:cubicBezTo>
                <a:cubicBezTo>
                  <a:pt x="195" y="126"/>
                  <a:pt x="195" y="126"/>
                  <a:pt x="195" y="126"/>
                </a:cubicBezTo>
                <a:cubicBezTo>
                  <a:pt x="194" y="126"/>
                  <a:pt x="193" y="124"/>
                  <a:pt x="193" y="124"/>
                </a:cubicBezTo>
                <a:cubicBezTo>
                  <a:pt x="193" y="124"/>
                  <a:pt x="193" y="124"/>
                  <a:pt x="193" y="124"/>
                </a:cubicBezTo>
                <a:cubicBezTo>
                  <a:pt x="193" y="124"/>
                  <a:pt x="194" y="124"/>
                  <a:pt x="194" y="124"/>
                </a:cubicBezTo>
                <a:cubicBezTo>
                  <a:pt x="194" y="124"/>
                  <a:pt x="194" y="124"/>
                  <a:pt x="194" y="123"/>
                </a:cubicBezTo>
                <a:cubicBezTo>
                  <a:pt x="193" y="124"/>
                  <a:pt x="192" y="123"/>
                  <a:pt x="192" y="123"/>
                </a:cubicBezTo>
                <a:cubicBezTo>
                  <a:pt x="192" y="123"/>
                  <a:pt x="192" y="122"/>
                  <a:pt x="192" y="122"/>
                </a:cubicBezTo>
                <a:cubicBezTo>
                  <a:pt x="191" y="122"/>
                  <a:pt x="191" y="122"/>
                  <a:pt x="191" y="122"/>
                </a:cubicBezTo>
                <a:cubicBezTo>
                  <a:pt x="191" y="122"/>
                  <a:pt x="191" y="121"/>
                  <a:pt x="190" y="121"/>
                </a:cubicBezTo>
                <a:cubicBezTo>
                  <a:pt x="190" y="121"/>
                  <a:pt x="190" y="121"/>
                  <a:pt x="190" y="121"/>
                </a:cubicBezTo>
                <a:cubicBezTo>
                  <a:pt x="190" y="120"/>
                  <a:pt x="190" y="120"/>
                  <a:pt x="190" y="120"/>
                </a:cubicBezTo>
                <a:cubicBezTo>
                  <a:pt x="189" y="120"/>
                  <a:pt x="187" y="121"/>
                  <a:pt x="187" y="120"/>
                </a:cubicBezTo>
                <a:cubicBezTo>
                  <a:pt x="187" y="120"/>
                  <a:pt x="186" y="120"/>
                  <a:pt x="186" y="120"/>
                </a:cubicBezTo>
                <a:cubicBezTo>
                  <a:pt x="185" y="120"/>
                  <a:pt x="185" y="120"/>
                  <a:pt x="185" y="120"/>
                </a:cubicBezTo>
                <a:cubicBezTo>
                  <a:pt x="185" y="121"/>
                  <a:pt x="184" y="121"/>
                  <a:pt x="184" y="121"/>
                </a:cubicBezTo>
                <a:cubicBezTo>
                  <a:pt x="183" y="121"/>
                  <a:pt x="183" y="120"/>
                  <a:pt x="183" y="120"/>
                </a:cubicBezTo>
                <a:cubicBezTo>
                  <a:pt x="182" y="120"/>
                  <a:pt x="182" y="120"/>
                  <a:pt x="181" y="120"/>
                </a:cubicBezTo>
                <a:cubicBezTo>
                  <a:pt x="181" y="120"/>
                  <a:pt x="181" y="120"/>
                  <a:pt x="181" y="120"/>
                </a:cubicBezTo>
                <a:cubicBezTo>
                  <a:pt x="180" y="120"/>
                  <a:pt x="180" y="120"/>
                  <a:pt x="180" y="120"/>
                </a:cubicBezTo>
                <a:cubicBezTo>
                  <a:pt x="179" y="120"/>
                  <a:pt x="179" y="120"/>
                  <a:pt x="179" y="120"/>
                </a:cubicBezTo>
                <a:cubicBezTo>
                  <a:pt x="179" y="119"/>
                  <a:pt x="179" y="119"/>
                  <a:pt x="179" y="119"/>
                </a:cubicBezTo>
                <a:cubicBezTo>
                  <a:pt x="178" y="119"/>
                  <a:pt x="178" y="118"/>
                  <a:pt x="178" y="118"/>
                </a:cubicBezTo>
                <a:cubicBezTo>
                  <a:pt x="178" y="118"/>
                  <a:pt x="178" y="118"/>
                  <a:pt x="178" y="118"/>
                </a:cubicBezTo>
                <a:cubicBezTo>
                  <a:pt x="178" y="118"/>
                  <a:pt x="177" y="118"/>
                  <a:pt x="177" y="118"/>
                </a:cubicBezTo>
                <a:cubicBezTo>
                  <a:pt x="177" y="118"/>
                  <a:pt x="176" y="119"/>
                  <a:pt x="176" y="119"/>
                </a:cubicBezTo>
                <a:cubicBezTo>
                  <a:pt x="176" y="119"/>
                  <a:pt x="175" y="119"/>
                  <a:pt x="175" y="119"/>
                </a:cubicBezTo>
                <a:cubicBezTo>
                  <a:pt x="175" y="118"/>
                  <a:pt x="174" y="118"/>
                  <a:pt x="174" y="118"/>
                </a:cubicBezTo>
                <a:cubicBezTo>
                  <a:pt x="174" y="118"/>
                  <a:pt x="173" y="118"/>
                  <a:pt x="173" y="117"/>
                </a:cubicBezTo>
                <a:cubicBezTo>
                  <a:pt x="173" y="117"/>
                  <a:pt x="172" y="117"/>
                  <a:pt x="172" y="117"/>
                </a:cubicBezTo>
                <a:cubicBezTo>
                  <a:pt x="172" y="117"/>
                  <a:pt x="171" y="116"/>
                  <a:pt x="171" y="116"/>
                </a:cubicBezTo>
                <a:cubicBezTo>
                  <a:pt x="171" y="115"/>
                  <a:pt x="171" y="115"/>
                  <a:pt x="171" y="115"/>
                </a:cubicBezTo>
                <a:cubicBezTo>
                  <a:pt x="171" y="115"/>
                  <a:pt x="171" y="115"/>
                  <a:pt x="171" y="114"/>
                </a:cubicBezTo>
                <a:cubicBezTo>
                  <a:pt x="170" y="114"/>
                  <a:pt x="170" y="114"/>
                  <a:pt x="170" y="114"/>
                </a:cubicBezTo>
                <a:cubicBezTo>
                  <a:pt x="170" y="114"/>
                  <a:pt x="170" y="114"/>
                  <a:pt x="170" y="114"/>
                </a:cubicBezTo>
                <a:cubicBezTo>
                  <a:pt x="169" y="114"/>
                  <a:pt x="169" y="114"/>
                  <a:pt x="169" y="114"/>
                </a:cubicBezTo>
                <a:cubicBezTo>
                  <a:pt x="169" y="114"/>
                  <a:pt x="169" y="114"/>
                  <a:pt x="169" y="114"/>
                </a:cubicBezTo>
                <a:cubicBezTo>
                  <a:pt x="169" y="114"/>
                  <a:pt x="168" y="114"/>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6"/>
                  <a:pt x="169" y="117"/>
                  <a:pt x="169" y="117"/>
                </a:cubicBezTo>
                <a:cubicBezTo>
                  <a:pt x="169" y="117"/>
                  <a:pt x="169" y="117"/>
                  <a:pt x="170" y="118"/>
                </a:cubicBezTo>
                <a:cubicBezTo>
                  <a:pt x="170" y="118"/>
                  <a:pt x="169" y="118"/>
                  <a:pt x="170" y="118"/>
                </a:cubicBezTo>
                <a:cubicBezTo>
                  <a:pt x="170" y="118"/>
                  <a:pt x="170" y="118"/>
                  <a:pt x="171" y="118"/>
                </a:cubicBezTo>
                <a:cubicBezTo>
                  <a:pt x="171" y="119"/>
                  <a:pt x="171" y="119"/>
                  <a:pt x="170" y="119"/>
                </a:cubicBezTo>
                <a:cubicBezTo>
                  <a:pt x="170" y="119"/>
                  <a:pt x="171" y="119"/>
                  <a:pt x="171" y="119"/>
                </a:cubicBezTo>
                <a:cubicBezTo>
                  <a:pt x="170" y="119"/>
                  <a:pt x="171" y="120"/>
                  <a:pt x="171" y="120"/>
                </a:cubicBezTo>
                <a:cubicBezTo>
                  <a:pt x="171" y="120"/>
                  <a:pt x="171" y="120"/>
                  <a:pt x="171" y="120"/>
                </a:cubicBezTo>
                <a:cubicBezTo>
                  <a:pt x="171" y="120"/>
                  <a:pt x="171" y="121"/>
                  <a:pt x="171" y="121"/>
                </a:cubicBezTo>
                <a:cubicBezTo>
                  <a:pt x="172" y="121"/>
                  <a:pt x="172" y="121"/>
                  <a:pt x="172" y="121"/>
                </a:cubicBezTo>
                <a:cubicBezTo>
                  <a:pt x="171" y="120"/>
                  <a:pt x="172" y="120"/>
                  <a:pt x="172" y="119"/>
                </a:cubicBezTo>
                <a:cubicBezTo>
                  <a:pt x="172" y="119"/>
                  <a:pt x="172" y="119"/>
                  <a:pt x="172" y="119"/>
                </a:cubicBezTo>
                <a:cubicBezTo>
                  <a:pt x="172" y="120"/>
                  <a:pt x="172" y="119"/>
                  <a:pt x="172" y="120"/>
                </a:cubicBezTo>
                <a:cubicBezTo>
                  <a:pt x="172" y="120"/>
                  <a:pt x="172" y="121"/>
                  <a:pt x="172" y="121"/>
                </a:cubicBezTo>
                <a:cubicBezTo>
                  <a:pt x="172" y="121"/>
                  <a:pt x="172" y="121"/>
                  <a:pt x="172" y="122"/>
                </a:cubicBezTo>
                <a:cubicBezTo>
                  <a:pt x="172" y="122"/>
                  <a:pt x="172" y="122"/>
                  <a:pt x="172" y="122"/>
                </a:cubicBezTo>
                <a:cubicBezTo>
                  <a:pt x="173" y="122"/>
                  <a:pt x="173" y="122"/>
                  <a:pt x="173" y="122"/>
                </a:cubicBezTo>
                <a:cubicBezTo>
                  <a:pt x="173" y="122"/>
                  <a:pt x="173" y="122"/>
                  <a:pt x="173" y="122"/>
                </a:cubicBezTo>
                <a:cubicBezTo>
                  <a:pt x="174" y="122"/>
                  <a:pt x="175" y="122"/>
                  <a:pt x="175" y="122"/>
                </a:cubicBezTo>
                <a:cubicBezTo>
                  <a:pt x="175" y="122"/>
                  <a:pt x="175" y="122"/>
                  <a:pt x="175" y="122"/>
                </a:cubicBezTo>
                <a:cubicBezTo>
                  <a:pt x="175" y="122"/>
                  <a:pt x="175" y="122"/>
                  <a:pt x="176" y="122"/>
                </a:cubicBezTo>
                <a:cubicBezTo>
                  <a:pt x="176" y="122"/>
                  <a:pt x="176" y="122"/>
                  <a:pt x="176" y="121"/>
                </a:cubicBezTo>
                <a:cubicBezTo>
                  <a:pt x="176" y="121"/>
                  <a:pt x="176" y="121"/>
                  <a:pt x="176" y="121"/>
                </a:cubicBezTo>
                <a:cubicBezTo>
                  <a:pt x="177" y="120"/>
                  <a:pt x="177" y="120"/>
                  <a:pt x="177" y="120"/>
                </a:cubicBezTo>
                <a:cubicBezTo>
                  <a:pt x="178" y="120"/>
                  <a:pt x="178" y="119"/>
                  <a:pt x="178" y="119"/>
                </a:cubicBezTo>
                <a:cubicBezTo>
                  <a:pt x="178" y="119"/>
                  <a:pt x="178" y="119"/>
                  <a:pt x="178" y="119"/>
                </a:cubicBezTo>
                <a:cubicBezTo>
                  <a:pt x="178" y="120"/>
                  <a:pt x="178" y="120"/>
                  <a:pt x="178" y="120"/>
                </a:cubicBezTo>
                <a:cubicBezTo>
                  <a:pt x="178" y="120"/>
                  <a:pt x="178" y="120"/>
                  <a:pt x="178" y="120"/>
                </a:cubicBezTo>
                <a:cubicBezTo>
                  <a:pt x="178" y="120"/>
                  <a:pt x="178" y="121"/>
                  <a:pt x="178" y="121"/>
                </a:cubicBezTo>
                <a:cubicBezTo>
                  <a:pt x="178" y="121"/>
                  <a:pt x="179" y="122"/>
                  <a:pt x="179" y="122"/>
                </a:cubicBezTo>
                <a:cubicBezTo>
                  <a:pt x="179" y="122"/>
                  <a:pt x="180" y="122"/>
                  <a:pt x="180" y="123"/>
                </a:cubicBezTo>
                <a:cubicBezTo>
                  <a:pt x="180" y="123"/>
                  <a:pt x="180" y="122"/>
                  <a:pt x="181" y="123"/>
                </a:cubicBezTo>
                <a:cubicBezTo>
                  <a:pt x="181" y="123"/>
                  <a:pt x="181" y="123"/>
                  <a:pt x="181" y="124"/>
                </a:cubicBezTo>
                <a:cubicBezTo>
                  <a:pt x="181" y="124"/>
                  <a:pt x="182" y="124"/>
                  <a:pt x="182" y="124"/>
                </a:cubicBezTo>
                <a:cubicBezTo>
                  <a:pt x="182" y="124"/>
                  <a:pt x="182" y="125"/>
                  <a:pt x="181" y="125"/>
                </a:cubicBezTo>
                <a:cubicBezTo>
                  <a:pt x="181" y="125"/>
                  <a:pt x="181" y="125"/>
                  <a:pt x="181" y="125"/>
                </a:cubicBezTo>
                <a:cubicBezTo>
                  <a:pt x="181" y="126"/>
                  <a:pt x="181" y="126"/>
                  <a:pt x="180" y="126"/>
                </a:cubicBezTo>
                <a:cubicBezTo>
                  <a:pt x="180" y="126"/>
                  <a:pt x="180" y="126"/>
                  <a:pt x="180" y="126"/>
                </a:cubicBezTo>
                <a:cubicBezTo>
                  <a:pt x="180" y="127"/>
                  <a:pt x="180" y="128"/>
                  <a:pt x="180" y="128"/>
                </a:cubicBezTo>
                <a:cubicBezTo>
                  <a:pt x="179" y="128"/>
                  <a:pt x="178" y="128"/>
                  <a:pt x="178" y="129"/>
                </a:cubicBezTo>
                <a:cubicBezTo>
                  <a:pt x="178" y="129"/>
                  <a:pt x="178" y="129"/>
                  <a:pt x="178" y="129"/>
                </a:cubicBezTo>
                <a:cubicBezTo>
                  <a:pt x="178" y="129"/>
                  <a:pt x="177" y="129"/>
                  <a:pt x="177" y="129"/>
                </a:cubicBezTo>
                <a:cubicBezTo>
                  <a:pt x="177" y="129"/>
                  <a:pt x="177" y="130"/>
                  <a:pt x="177" y="130"/>
                </a:cubicBezTo>
                <a:cubicBezTo>
                  <a:pt x="176" y="130"/>
                  <a:pt x="176" y="130"/>
                  <a:pt x="176" y="130"/>
                </a:cubicBezTo>
                <a:cubicBezTo>
                  <a:pt x="176" y="130"/>
                  <a:pt x="176" y="130"/>
                  <a:pt x="175" y="130"/>
                </a:cubicBezTo>
                <a:cubicBezTo>
                  <a:pt x="175" y="131"/>
                  <a:pt x="174" y="131"/>
                  <a:pt x="174" y="131"/>
                </a:cubicBezTo>
                <a:cubicBezTo>
                  <a:pt x="174" y="131"/>
                  <a:pt x="173" y="131"/>
                  <a:pt x="173" y="132"/>
                </a:cubicBezTo>
                <a:cubicBezTo>
                  <a:pt x="173" y="132"/>
                  <a:pt x="173" y="132"/>
                  <a:pt x="173" y="132"/>
                </a:cubicBezTo>
                <a:cubicBezTo>
                  <a:pt x="172" y="133"/>
                  <a:pt x="171" y="133"/>
                  <a:pt x="170" y="133"/>
                </a:cubicBezTo>
                <a:cubicBezTo>
                  <a:pt x="169" y="133"/>
                  <a:pt x="169" y="134"/>
                  <a:pt x="169" y="134"/>
                </a:cubicBezTo>
                <a:cubicBezTo>
                  <a:pt x="169" y="134"/>
                  <a:pt x="168" y="134"/>
                  <a:pt x="168" y="134"/>
                </a:cubicBezTo>
                <a:cubicBezTo>
                  <a:pt x="168" y="134"/>
                  <a:pt x="167" y="134"/>
                  <a:pt x="167" y="135"/>
                </a:cubicBezTo>
                <a:cubicBezTo>
                  <a:pt x="166" y="135"/>
                  <a:pt x="166" y="135"/>
                  <a:pt x="166" y="135"/>
                </a:cubicBezTo>
                <a:cubicBezTo>
                  <a:pt x="165" y="135"/>
                  <a:pt x="165" y="135"/>
                  <a:pt x="165" y="135"/>
                </a:cubicBezTo>
                <a:cubicBezTo>
                  <a:pt x="164" y="136"/>
                  <a:pt x="163" y="136"/>
                  <a:pt x="163" y="135"/>
                </a:cubicBezTo>
                <a:cubicBezTo>
                  <a:pt x="163" y="134"/>
                  <a:pt x="163" y="134"/>
                  <a:pt x="163" y="134"/>
                </a:cubicBezTo>
                <a:cubicBezTo>
                  <a:pt x="162" y="134"/>
                  <a:pt x="162" y="133"/>
                  <a:pt x="162" y="132"/>
                </a:cubicBezTo>
                <a:cubicBezTo>
                  <a:pt x="162" y="132"/>
                  <a:pt x="162" y="132"/>
                  <a:pt x="162" y="132"/>
                </a:cubicBezTo>
                <a:cubicBezTo>
                  <a:pt x="162" y="131"/>
                  <a:pt x="162" y="131"/>
                  <a:pt x="162" y="131"/>
                </a:cubicBezTo>
                <a:cubicBezTo>
                  <a:pt x="162" y="130"/>
                  <a:pt x="161" y="130"/>
                  <a:pt x="161" y="129"/>
                </a:cubicBezTo>
                <a:cubicBezTo>
                  <a:pt x="161" y="129"/>
                  <a:pt x="161" y="129"/>
                  <a:pt x="161" y="129"/>
                </a:cubicBezTo>
                <a:cubicBezTo>
                  <a:pt x="160" y="128"/>
                  <a:pt x="160" y="128"/>
                  <a:pt x="160" y="127"/>
                </a:cubicBezTo>
                <a:cubicBezTo>
                  <a:pt x="159" y="127"/>
                  <a:pt x="159" y="127"/>
                  <a:pt x="158" y="126"/>
                </a:cubicBezTo>
                <a:cubicBezTo>
                  <a:pt x="158" y="126"/>
                  <a:pt x="158" y="126"/>
                  <a:pt x="158" y="125"/>
                </a:cubicBezTo>
                <a:cubicBezTo>
                  <a:pt x="158" y="125"/>
                  <a:pt x="158" y="124"/>
                  <a:pt x="158" y="123"/>
                </a:cubicBezTo>
                <a:cubicBezTo>
                  <a:pt x="157" y="123"/>
                  <a:pt x="157" y="123"/>
                  <a:pt x="157" y="122"/>
                </a:cubicBezTo>
                <a:cubicBezTo>
                  <a:pt x="156" y="122"/>
                  <a:pt x="156" y="122"/>
                  <a:pt x="156" y="121"/>
                </a:cubicBezTo>
                <a:cubicBezTo>
                  <a:pt x="156" y="120"/>
                  <a:pt x="155" y="120"/>
                  <a:pt x="155" y="119"/>
                </a:cubicBezTo>
                <a:cubicBezTo>
                  <a:pt x="154" y="119"/>
                  <a:pt x="154" y="118"/>
                  <a:pt x="154" y="118"/>
                </a:cubicBezTo>
                <a:cubicBezTo>
                  <a:pt x="153" y="117"/>
                  <a:pt x="153" y="117"/>
                  <a:pt x="153" y="117"/>
                </a:cubicBezTo>
                <a:cubicBezTo>
                  <a:pt x="153" y="117"/>
                  <a:pt x="153" y="117"/>
                  <a:pt x="153" y="117"/>
                </a:cubicBezTo>
                <a:cubicBezTo>
                  <a:pt x="153" y="116"/>
                  <a:pt x="153" y="116"/>
                  <a:pt x="153" y="115"/>
                </a:cubicBezTo>
                <a:cubicBezTo>
                  <a:pt x="153" y="115"/>
                  <a:pt x="153" y="115"/>
                  <a:pt x="153" y="115"/>
                </a:cubicBezTo>
                <a:cubicBezTo>
                  <a:pt x="153" y="114"/>
                  <a:pt x="152" y="114"/>
                  <a:pt x="152" y="113"/>
                </a:cubicBezTo>
                <a:cubicBezTo>
                  <a:pt x="152" y="112"/>
                  <a:pt x="152" y="112"/>
                  <a:pt x="153" y="111"/>
                </a:cubicBezTo>
                <a:cubicBezTo>
                  <a:pt x="153" y="111"/>
                  <a:pt x="153" y="111"/>
                  <a:pt x="153" y="111"/>
                </a:cubicBezTo>
                <a:cubicBezTo>
                  <a:pt x="153" y="110"/>
                  <a:pt x="153" y="109"/>
                  <a:pt x="154" y="109"/>
                </a:cubicBezTo>
                <a:cubicBezTo>
                  <a:pt x="154" y="108"/>
                  <a:pt x="154" y="108"/>
                  <a:pt x="154" y="107"/>
                </a:cubicBezTo>
                <a:cubicBezTo>
                  <a:pt x="154" y="107"/>
                  <a:pt x="154" y="107"/>
                  <a:pt x="154" y="107"/>
                </a:cubicBezTo>
                <a:cubicBezTo>
                  <a:pt x="154" y="107"/>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3" y="106"/>
                </a:cubicBezTo>
                <a:cubicBezTo>
                  <a:pt x="153" y="106"/>
                  <a:pt x="153" y="106"/>
                  <a:pt x="152" y="106"/>
                </a:cubicBezTo>
                <a:cubicBezTo>
                  <a:pt x="152" y="106"/>
                  <a:pt x="152" y="106"/>
                  <a:pt x="152" y="106"/>
                </a:cubicBezTo>
                <a:cubicBezTo>
                  <a:pt x="151" y="106"/>
                  <a:pt x="151" y="107"/>
                  <a:pt x="150" y="107"/>
                </a:cubicBezTo>
                <a:cubicBezTo>
                  <a:pt x="150" y="106"/>
                  <a:pt x="150" y="106"/>
                  <a:pt x="149" y="106"/>
                </a:cubicBezTo>
                <a:cubicBezTo>
                  <a:pt x="149" y="106"/>
                  <a:pt x="148" y="105"/>
                  <a:pt x="148" y="106"/>
                </a:cubicBezTo>
                <a:cubicBezTo>
                  <a:pt x="148" y="106"/>
                  <a:pt x="148" y="106"/>
                  <a:pt x="148" y="106"/>
                </a:cubicBezTo>
                <a:cubicBezTo>
                  <a:pt x="148" y="106"/>
                  <a:pt x="148" y="106"/>
                  <a:pt x="147" y="106"/>
                </a:cubicBezTo>
                <a:cubicBezTo>
                  <a:pt x="147" y="106"/>
                  <a:pt x="147" y="106"/>
                  <a:pt x="146" y="106"/>
                </a:cubicBezTo>
                <a:cubicBezTo>
                  <a:pt x="146" y="106"/>
                  <a:pt x="146" y="106"/>
                  <a:pt x="146" y="106"/>
                </a:cubicBezTo>
                <a:cubicBezTo>
                  <a:pt x="146" y="106"/>
                  <a:pt x="146" y="106"/>
                  <a:pt x="146" y="106"/>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5" y="105"/>
                  <a:pt x="145" y="105"/>
                  <a:pt x="145" y="105"/>
                </a:cubicBezTo>
                <a:cubicBezTo>
                  <a:pt x="145" y="105"/>
                  <a:pt x="145" y="105"/>
                  <a:pt x="145" y="105"/>
                </a:cubicBezTo>
                <a:cubicBezTo>
                  <a:pt x="145" y="105"/>
                  <a:pt x="144" y="105"/>
                  <a:pt x="144" y="105"/>
                </a:cubicBezTo>
                <a:cubicBezTo>
                  <a:pt x="144" y="105"/>
                  <a:pt x="144" y="105"/>
                  <a:pt x="144" y="105"/>
                </a:cubicBezTo>
                <a:cubicBezTo>
                  <a:pt x="144" y="105"/>
                  <a:pt x="144" y="105"/>
                  <a:pt x="144" y="105"/>
                </a:cubicBezTo>
                <a:cubicBezTo>
                  <a:pt x="144" y="105"/>
                  <a:pt x="144" y="105"/>
                  <a:pt x="144" y="105"/>
                </a:cubicBezTo>
                <a:cubicBezTo>
                  <a:pt x="144" y="105"/>
                  <a:pt x="144" y="105"/>
                  <a:pt x="144" y="105"/>
                </a:cubicBezTo>
                <a:cubicBezTo>
                  <a:pt x="144" y="104"/>
                  <a:pt x="144" y="104"/>
                  <a:pt x="144" y="104"/>
                </a:cubicBezTo>
                <a:cubicBezTo>
                  <a:pt x="143" y="104"/>
                  <a:pt x="143" y="104"/>
                  <a:pt x="143" y="104"/>
                </a:cubicBezTo>
                <a:cubicBezTo>
                  <a:pt x="143" y="104"/>
                  <a:pt x="143" y="104"/>
                  <a:pt x="143" y="104"/>
                </a:cubicBezTo>
                <a:cubicBezTo>
                  <a:pt x="143" y="103"/>
                  <a:pt x="143" y="103"/>
                  <a:pt x="143" y="103"/>
                </a:cubicBezTo>
                <a:cubicBezTo>
                  <a:pt x="143" y="103"/>
                  <a:pt x="143" y="103"/>
                  <a:pt x="143" y="103"/>
                </a:cubicBezTo>
                <a:cubicBezTo>
                  <a:pt x="144" y="103"/>
                  <a:pt x="144" y="103"/>
                  <a:pt x="143" y="103"/>
                </a:cubicBezTo>
                <a:cubicBezTo>
                  <a:pt x="143" y="103"/>
                  <a:pt x="143" y="103"/>
                  <a:pt x="143" y="103"/>
                </a:cubicBezTo>
                <a:cubicBezTo>
                  <a:pt x="143" y="103"/>
                  <a:pt x="144" y="103"/>
                  <a:pt x="144" y="103"/>
                </a:cubicBezTo>
                <a:cubicBezTo>
                  <a:pt x="144" y="103"/>
                  <a:pt x="144" y="103"/>
                  <a:pt x="144" y="103"/>
                </a:cubicBezTo>
                <a:cubicBezTo>
                  <a:pt x="143" y="103"/>
                  <a:pt x="143" y="103"/>
                  <a:pt x="143" y="103"/>
                </a:cubicBezTo>
                <a:cubicBezTo>
                  <a:pt x="143" y="102"/>
                  <a:pt x="143" y="102"/>
                  <a:pt x="143" y="102"/>
                </a:cubicBezTo>
                <a:cubicBezTo>
                  <a:pt x="143" y="102"/>
                  <a:pt x="143" y="102"/>
                  <a:pt x="143" y="102"/>
                </a:cubicBezTo>
                <a:cubicBezTo>
                  <a:pt x="143" y="102"/>
                  <a:pt x="143" y="102"/>
                  <a:pt x="143" y="102"/>
                </a:cubicBezTo>
                <a:cubicBezTo>
                  <a:pt x="143" y="102"/>
                  <a:pt x="143" y="102"/>
                  <a:pt x="144" y="102"/>
                </a:cubicBezTo>
                <a:cubicBezTo>
                  <a:pt x="144" y="102"/>
                  <a:pt x="144" y="102"/>
                  <a:pt x="144" y="102"/>
                </a:cubicBezTo>
                <a:cubicBezTo>
                  <a:pt x="143" y="102"/>
                  <a:pt x="143" y="102"/>
                  <a:pt x="143" y="102"/>
                </a:cubicBezTo>
                <a:cubicBezTo>
                  <a:pt x="143" y="102"/>
                  <a:pt x="143" y="101"/>
                  <a:pt x="143" y="101"/>
                </a:cubicBezTo>
                <a:cubicBezTo>
                  <a:pt x="143" y="101"/>
                  <a:pt x="143" y="101"/>
                  <a:pt x="143" y="101"/>
                </a:cubicBezTo>
                <a:cubicBezTo>
                  <a:pt x="143" y="101"/>
                  <a:pt x="144" y="101"/>
                  <a:pt x="144" y="100"/>
                </a:cubicBezTo>
                <a:cubicBezTo>
                  <a:pt x="144" y="101"/>
                  <a:pt x="144" y="101"/>
                  <a:pt x="145" y="101"/>
                </a:cubicBezTo>
                <a:cubicBezTo>
                  <a:pt x="145" y="101"/>
                  <a:pt x="145" y="101"/>
                  <a:pt x="145" y="101"/>
                </a:cubicBezTo>
                <a:cubicBezTo>
                  <a:pt x="145" y="101"/>
                  <a:pt x="144" y="101"/>
                  <a:pt x="144" y="101"/>
                </a:cubicBezTo>
                <a:cubicBezTo>
                  <a:pt x="144" y="100"/>
                  <a:pt x="144" y="100"/>
                  <a:pt x="144" y="100"/>
                </a:cubicBezTo>
                <a:cubicBezTo>
                  <a:pt x="145" y="100"/>
                  <a:pt x="145" y="100"/>
                  <a:pt x="145" y="100"/>
                </a:cubicBezTo>
                <a:cubicBezTo>
                  <a:pt x="145" y="101"/>
                  <a:pt x="145" y="101"/>
                  <a:pt x="145" y="101"/>
                </a:cubicBezTo>
                <a:cubicBezTo>
                  <a:pt x="145" y="101"/>
                  <a:pt x="146" y="101"/>
                  <a:pt x="146" y="101"/>
                </a:cubicBezTo>
                <a:cubicBezTo>
                  <a:pt x="146" y="101"/>
                  <a:pt x="146" y="101"/>
                  <a:pt x="146" y="101"/>
                </a:cubicBezTo>
                <a:cubicBezTo>
                  <a:pt x="146" y="101"/>
                  <a:pt x="146" y="101"/>
                  <a:pt x="146" y="101"/>
                </a:cubicBezTo>
                <a:cubicBezTo>
                  <a:pt x="146" y="100"/>
                  <a:pt x="146" y="100"/>
                  <a:pt x="146" y="100"/>
                </a:cubicBezTo>
                <a:cubicBezTo>
                  <a:pt x="146" y="100"/>
                  <a:pt x="146" y="100"/>
                  <a:pt x="146" y="100"/>
                </a:cubicBezTo>
                <a:cubicBezTo>
                  <a:pt x="146" y="100"/>
                  <a:pt x="147" y="100"/>
                  <a:pt x="147" y="100"/>
                </a:cubicBezTo>
                <a:cubicBezTo>
                  <a:pt x="147" y="100"/>
                  <a:pt x="147" y="100"/>
                  <a:pt x="147" y="100"/>
                </a:cubicBezTo>
                <a:cubicBezTo>
                  <a:pt x="147" y="100"/>
                  <a:pt x="147" y="100"/>
                  <a:pt x="146" y="100"/>
                </a:cubicBezTo>
                <a:cubicBezTo>
                  <a:pt x="146" y="100"/>
                  <a:pt x="146" y="100"/>
                  <a:pt x="146" y="100"/>
                </a:cubicBezTo>
                <a:cubicBezTo>
                  <a:pt x="146" y="100"/>
                  <a:pt x="146" y="100"/>
                  <a:pt x="146" y="99"/>
                </a:cubicBezTo>
                <a:cubicBezTo>
                  <a:pt x="146" y="99"/>
                  <a:pt x="147" y="100"/>
                  <a:pt x="147" y="100"/>
                </a:cubicBezTo>
                <a:cubicBezTo>
                  <a:pt x="147" y="100"/>
                  <a:pt x="147" y="99"/>
                  <a:pt x="147" y="99"/>
                </a:cubicBezTo>
                <a:cubicBezTo>
                  <a:pt x="148" y="100"/>
                  <a:pt x="148" y="100"/>
                  <a:pt x="149" y="100"/>
                </a:cubicBezTo>
                <a:cubicBezTo>
                  <a:pt x="149" y="99"/>
                  <a:pt x="149" y="99"/>
                  <a:pt x="149" y="99"/>
                </a:cubicBezTo>
                <a:cubicBezTo>
                  <a:pt x="149" y="99"/>
                  <a:pt x="150" y="99"/>
                  <a:pt x="151" y="98"/>
                </a:cubicBezTo>
                <a:cubicBezTo>
                  <a:pt x="152" y="98"/>
                  <a:pt x="152" y="99"/>
                  <a:pt x="153" y="98"/>
                </a:cubicBezTo>
                <a:cubicBezTo>
                  <a:pt x="153" y="98"/>
                  <a:pt x="153" y="99"/>
                  <a:pt x="153" y="99"/>
                </a:cubicBezTo>
                <a:cubicBezTo>
                  <a:pt x="154" y="99"/>
                  <a:pt x="154" y="99"/>
                  <a:pt x="154" y="99"/>
                </a:cubicBezTo>
                <a:cubicBezTo>
                  <a:pt x="154" y="99"/>
                  <a:pt x="154" y="99"/>
                  <a:pt x="155" y="99"/>
                </a:cubicBezTo>
                <a:cubicBezTo>
                  <a:pt x="155" y="99"/>
                  <a:pt x="155" y="100"/>
                  <a:pt x="156" y="100"/>
                </a:cubicBezTo>
                <a:cubicBezTo>
                  <a:pt x="156" y="100"/>
                  <a:pt x="157" y="100"/>
                  <a:pt x="157" y="100"/>
                </a:cubicBezTo>
                <a:cubicBezTo>
                  <a:pt x="157" y="100"/>
                  <a:pt x="158" y="100"/>
                  <a:pt x="158" y="100"/>
                </a:cubicBezTo>
                <a:cubicBezTo>
                  <a:pt x="158" y="100"/>
                  <a:pt x="159" y="100"/>
                  <a:pt x="159" y="100"/>
                </a:cubicBezTo>
                <a:cubicBezTo>
                  <a:pt x="160" y="100"/>
                  <a:pt x="161" y="99"/>
                  <a:pt x="161" y="98"/>
                </a:cubicBezTo>
                <a:cubicBezTo>
                  <a:pt x="161" y="98"/>
                  <a:pt x="160" y="98"/>
                  <a:pt x="160" y="97"/>
                </a:cubicBezTo>
                <a:cubicBezTo>
                  <a:pt x="160" y="97"/>
                  <a:pt x="159" y="97"/>
                  <a:pt x="159" y="97"/>
                </a:cubicBezTo>
                <a:cubicBezTo>
                  <a:pt x="159" y="96"/>
                  <a:pt x="159" y="96"/>
                  <a:pt x="159" y="96"/>
                </a:cubicBezTo>
                <a:cubicBezTo>
                  <a:pt x="159" y="96"/>
                  <a:pt x="158" y="96"/>
                  <a:pt x="158" y="96"/>
                </a:cubicBezTo>
                <a:cubicBezTo>
                  <a:pt x="158" y="95"/>
                  <a:pt x="158" y="95"/>
                  <a:pt x="157" y="95"/>
                </a:cubicBezTo>
                <a:cubicBezTo>
                  <a:pt x="157" y="95"/>
                  <a:pt x="157" y="95"/>
                  <a:pt x="157" y="95"/>
                </a:cubicBezTo>
                <a:cubicBezTo>
                  <a:pt x="156" y="95"/>
                  <a:pt x="156" y="94"/>
                  <a:pt x="156" y="94"/>
                </a:cubicBezTo>
                <a:cubicBezTo>
                  <a:pt x="156" y="94"/>
                  <a:pt x="156" y="94"/>
                  <a:pt x="156" y="94"/>
                </a:cubicBezTo>
                <a:cubicBezTo>
                  <a:pt x="156" y="94"/>
                  <a:pt x="155" y="94"/>
                  <a:pt x="155" y="94"/>
                </a:cubicBezTo>
                <a:cubicBezTo>
                  <a:pt x="155" y="94"/>
                  <a:pt x="156" y="94"/>
                  <a:pt x="156" y="93"/>
                </a:cubicBezTo>
                <a:cubicBezTo>
                  <a:pt x="156" y="93"/>
                  <a:pt x="156" y="93"/>
                  <a:pt x="156" y="93"/>
                </a:cubicBezTo>
                <a:cubicBezTo>
                  <a:pt x="157" y="93"/>
                  <a:pt x="157" y="93"/>
                  <a:pt x="157" y="92"/>
                </a:cubicBezTo>
                <a:cubicBezTo>
                  <a:pt x="157" y="92"/>
                  <a:pt x="156" y="92"/>
                  <a:pt x="156" y="92"/>
                </a:cubicBezTo>
                <a:cubicBezTo>
                  <a:pt x="156" y="92"/>
                  <a:pt x="156" y="92"/>
                  <a:pt x="156" y="92"/>
                </a:cubicBezTo>
                <a:cubicBezTo>
                  <a:pt x="157" y="92"/>
                  <a:pt x="157" y="91"/>
                  <a:pt x="158" y="91"/>
                </a:cubicBezTo>
                <a:cubicBezTo>
                  <a:pt x="158" y="91"/>
                  <a:pt x="158" y="91"/>
                  <a:pt x="158" y="91"/>
                </a:cubicBezTo>
                <a:cubicBezTo>
                  <a:pt x="157" y="91"/>
                  <a:pt x="157" y="91"/>
                  <a:pt x="157" y="91"/>
                </a:cubicBezTo>
                <a:cubicBezTo>
                  <a:pt x="157" y="91"/>
                  <a:pt x="157" y="91"/>
                  <a:pt x="157" y="91"/>
                </a:cubicBezTo>
                <a:cubicBezTo>
                  <a:pt x="156" y="91"/>
                  <a:pt x="156" y="91"/>
                  <a:pt x="156" y="91"/>
                </a:cubicBezTo>
                <a:cubicBezTo>
                  <a:pt x="156" y="91"/>
                  <a:pt x="156" y="91"/>
                  <a:pt x="155" y="91"/>
                </a:cubicBezTo>
                <a:cubicBezTo>
                  <a:pt x="155" y="92"/>
                  <a:pt x="154" y="92"/>
                  <a:pt x="154" y="92"/>
                </a:cubicBezTo>
                <a:cubicBezTo>
                  <a:pt x="154" y="92"/>
                  <a:pt x="154" y="92"/>
                  <a:pt x="154" y="92"/>
                </a:cubicBezTo>
                <a:cubicBezTo>
                  <a:pt x="153" y="92"/>
                  <a:pt x="153" y="92"/>
                  <a:pt x="153" y="92"/>
                </a:cubicBezTo>
                <a:cubicBezTo>
                  <a:pt x="153" y="92"/>
                  <a:pt x="153" y="92"/>
                  <a:pt x="153" y="92"/>
                </a:cubicBezTo>
                <a:cubicBezTo>
                  <a:pt x="153" y="92"/>
                  <a:pt x="153" y="92"/>
                  <a:pt x="153" y="92"/>
                </a:cubicBezTo>
                <a:cubicBezTo>
                  <a:pt x="153" y="92"/>
                  <a:pt x="153" y="92"/>
                  <a:pt x="153" y="92"/>
                </a:cubicBezTo>
                <a:cubicBezTo>
                  <a:pt x="152" y="92"/>
                  <a:pt x="152" y="92"/>
                  <a:pt x="152" y="92"/>
                </a:cubicBezTo>
                <a:cubicBezTo>
                  <a:pt x="152" y="92"/>
                  <a:pt x="152" y="92"/>
                  <a:pt x="152" y="92"/>
                </a:cubicBezTo>
                <a:cubicBezTo>
                  <a:pt x="152" y="93"/>
                  <a:pt x="153" y="93"/>
                  <a:pt x="153" y="94"/>
                </a:cubicBezTo>
                <a:cubicBezTo>
                  <a:pt x="153" y="94"/>
                  <a:pt x="154" y="94"/>
                  <a:pt x="154" y="94"/>
                </a:cubicBezTo>
                <a:cubicBezTo>
                  <a:pt x="154" y="94"/>
                  <a:pt x="154" y="94"/>
                  <a:pt x="155" y="94"/>
                </a:cubicBezTo>
                <a:cubicBezTo>
                  <a:pt x="155" y="94"/>
                  <a:pt x="154" y="94"/>
                  <a:pt x="154" y="94"/>
                </a:cubicBezTo>
                <a:cubicBezTo>
                  <a:pt x="154" y="94"/>
                  <a:pt x="154" y="94"/>
                  <a:pt x="154" y="94"/>
                </a:cubicBezTo>
                <a:cubicBezTo>
                  <a:pt x="154" y="94"/>
                  <a:pt x="154" y="94"/>
                  <a:pt x="153" y="94"/>
                </a:cubicBezTo>
                <a:cubicBezTo>
                  <a:pt x="153" y="94"/>
                  <a:pt x="153" y="94"/>
                  <a:pt x="153" y="94"/>
                </a:cubicBezTo>
                <a:cubicBezTo>
                  <a:pt x="153" y="94"/>
                  <a:pt x="153" y="94"/>
                  <a:pt x="152" y="94"/>
                </a:cubicBezTo>
                <a:cubicBezTo>
                  <a:pt x="152" y="95"/>
                  <a:pt x="152" y="95"/>
                  <a:pt x="151" y="95"/>
                </a:cubicBezTo>
                <a:cubicBezTo>
                  <a:pt x="151" y="95"/>
                  <a:pt x="151" y="95"/>
                  <a:pt x="151" y="95"/>
                </a:cubicBezTo>
                <a:cubicBezTo>
                  <a:pt x="151" y="94"/>
                  <a:pt x="151" y="94"/>
                  <a:pt x="150" y="94"/>
                </a:cubicBezTo>
                <a:cubicBezTo>
                  <a:pt x="150" y="94"/>
                  <a:pt x="150" y="94"/>
                  <a:pt x="150" y="94"/>
                </a:cubicBezTo>
                <a:cubicBezTo>
                  <a:pt x="150" y="93"/>
                  <a:pt x="151" y="93"/>
                  <a:pt x="151" y="93"/>
                </a:cubicBezTo>
                <a:cubicBezTo>
                  <a:pt x="151" y="93"/>
                  <a:pt x="151" y="93"/>
                  <a:pt x="151" y="92"/>
                </a:cubicBezTo>
                <a:cubicBezTo>
                  <a:pt x="150" y="92"/>
                  <a:pt x="150" y="93"/>
                  <a:pt x="149" y="92"/>
                </a:cubicBezTo>
                <a:cubicBezTo>
                  <a:pt x="149" y="92"/>
                  <a:pt x="149" y="92"/>
                  <a:pt x="149" y="92"/>
                </a:cubicBezTo>
                <a:cubicBezTo>
                  <a:pt x="149" y="92"/>
                  <a:pt x="149" y="92"/>
                  <a:pt x="150" y="92"/>
                </a:cubicBezTo>
                <a:cubicBezTo>
                  <a:pt x="150" y="92"/>
                  <a:pt x="150" y="92"/>
                  <a:pt x="150" y="92"/>
                </a:cubicBezTo>
                <a:cubicBezTo>
                  <a:pt x="149" y="92"/>
                  <a:pt x="149" y="92"/>
                  <a:pt x="149" y="91"/>
                </a:cubicBezTo>
                <a:cubicBezTo>
                  <a:pt x="149" y="91"/>
                  <a:pt x="149" y="92"/>
                  <a:pt x="149" y="92"/>
                </a:cubicBezTo>
                <a:cubicBezTo>
                  <a:pt x="149" y="92"/>
                  <a:pt x="149" y="92"/>
                  <a:pt x="149" y="92"/>
                </a:cubicBezTo>
                <a:cubicBezTo>
                  <a:pt x="148" y="92"/>
                  <a:pt x="148" y="92"/>
                  <a:pt x="147" y="93"/>
                </a:cubicBezTo>
                <a:cubicBezTo>
                  <a:pt x="147" y="93"/>
                  <a:pt x="146" y="93"/>
                  <a:pt x="147" y="93"/>
                </a:cubicBezTo>
                <a:cubicBezTo>
                  <a:pt x="147" y="94"/>
                  <a:pt x="147" y="94"/>
                  <a:pt x="147" y="94"/>
                </a:cubicBezTo>
                <a:cubicBezTo>
                  <a:pt x="147" y="94"/>
                  <a:pt x="147" y="94"/>
                  <a:pt x="146" y="94"/>
                </a:cubicBezTo>
                <a:cubicBezTo>
                  <a:pt x="146" y="94"/>
                  <a:pt x="145" y="95"/>
                  <a:pt x="145" y="96"/>
                </a:cubicBezTo>
                <a:cubicBezTo>
                  <a:pt x="145" y="96"/>
                  <a:pt x="145" y="96"/>
                  <a:pt x="145" y="96"/>
                </a:cubicBezTo>
                <a:cubicBezTo>
                  <a:pt x="145" y="96"/>
                  <a:pt x="145" y="96"/>
                  <a:pt x="145" y="97"/>
                </a:cubicBezTo>
                <a:cubicBezTo>
                  <a:pt x="145" y="97"/>
                  <a:pt x="145" y="97"/>
                  <a:pt x="145" y="97"/>
                </a:cubicBezTo>
                <a:cubicBezTo>
                  <a:pt x="144" y="97"/>
                  <a:pt x="144" y="98"/>
                  <a:pt x="144" y="98"/>
                </a:cubicBezTo>
                <a:cubicBezTo>
                  <a:pt x="144" y="98"/>
                  <a:pt x="144" y="98"/>
                  <a:pt x="144" y="98"/>
                </a:cubicBezTo>
                <a:cubicBezTo>
                  <a:pt x="144" y="98"/>
                  <a:pt x="145" y="99"/>
                  <a:pt x="145" y="99"/>
                </a:cubicBezTo>
                <a:cubicBezTo>
                  <a:pt x="145" y="99"/>
                  <a:pt x="146" y="99"/>
                  <a:pt x="146" y="99"/>
                </a:cubicBezTo>
                <a:cubicBezTo>
                  <a:pt x="146" y="100"/>
                  <a:pt x="146" y="100"/>
                  <a:pt x="146" y="100"/>
                </a:cubicBezTo>
                <a:cubicBezTo>
                  <a:pt x="145" y="100"/>
                  <a:pt x="145" y="100"/>
                  <a:pt x="145" y="100"/>
                </a:cubicBezTo>
                <a:cubicBezTo>
                  <a:pt x="144" y="100"/>
                  <a:pt x="144" y="100"/>
                  <a:pt x="144" y="100"/>
                </a:cubicBezTo>
                <a:cubicBezTo>
                  <a:pt x="144" y="100"/>
                  <a:pt x="144" y="100"/>
                  <a:pt x="144" y="100"/>
                </a:cubicBezTo>
                <a:cubicBezTo>
                  <a:pt x="144" y="100"/>
                  <a:pt x="143" y="100"/>
                  <a:pt x="143" y="101"/>
                </a:cubicBezTo>
                <a:cubicBezTo>
                  <a:pt x="143" y="101"/>
                  <a:pt x="143" y="101"/>
                  <a:pt x="143" y="101"/>
                </a:cubicBezTo>
                <a:cubicBezTo>
                  <a:pt x="143" y="101"/>
                  <a:pt x="143" y="101"/>
                  <a:pt x="143" y="101"/>
                </a:cubicBezTo>
                <a:cubicBezTo>
                  <a:pt x="143" y="101"/>
                  <a:pt x="143" y="101"/>
                  <a:pt x="143" y="100"/>
                </a:cubicBezTo>
                <a:cubicBezTo>
                  <a:pt x="143" y="100"/>
                  <a:pt x="143" y="100"/>
                  <a:pt x="143" y="100"/>
                </a:cubicBezTo>
                <a:cubicBezTo>
                  <a:pt x="143" y="100"/>
                  <a:pt x="143" y="100"/>
                  <a:pt x="142" y="100"/>
                </a:cubicBezTo>
                <a:cubicBezTo>
                  <a:pt x="142" y="100"/>
                  <a:pt x="142" y="100"/>
                  <a:pt x="142" y="100"/>
                </a:cubicBezTo>
                <a:cubicBezTo>
                  <a:pt x="142" y="100"/>
                  <a:pt x="141" y="100"/>
                  <a:pt x="141" y="100"/>
                </a:cubicBezTo>
                <a:cubicBezTo>
                  <a:pt x="141" y="100"/>
                  <a:pt x="141" y="100"/>
                  <a:pt x="141" y="100"/>
                </a:cubicBezTo>
                <a:cubicBezTo>
                  <a:pt x="141" y="100"/>
                  <a:pt x="141" y="100"/>
                  <a:pt x="140" y="100"/>
                </a:cubicBezTo>
                <a:cubicBezTo>
                  <a:pt x="140" y="100"/>
                  <a:pt x="140" y="100"/>
                  <a:pt x="140" y="100"/>
                </a:cubicBezTo>
                <a:cubicBezTo>
                  <a:pt x="140" y="100"/>
                  <a:pt x="140" y="100"/>
                  <a:pt x="140" y="100"/>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39" y="101"/>
                  <a:pt x="139" y="101"/>
                </a:cubicBezTo>
                <a:cubicBezTo>
                  <a:pt x="139" y="101"/>
                  <a:pt x="139" y="101"/>
                  <a:pt x="139" y="101"/>
                </a:cubicBezTo>
                <a:cubicBezTo>
                  <a:pt x="139" y="101"/>
                  <a:pt x="139" y="101"/>
                  <a:pt x="140" y="101"/>
                </a:cubicBezTo>
                <a:cubicBezTo>
                  <a:pt x="140" y="101"/>
                  <a:pt x="140" y="101"/>
                  <a:pt x="140" y="101"/>
                </a:cubicBezTo>
                <a:cubicBezTo>
                  <a:pt x="139" y="101"/>
                  <a:pt x="139" y="101"/>
                  <a:pt x="139" y="101"/>
                </a:cubicBezTo>
                <a:cubicBezTo>
                  <a:pt x="139" y="101"/>
                  <a:pt x="139" y="101"/>
                  <a:pt x="139" y="101"/>
                </a:cubicBezTo>
                <a:cubicBezTo>
                  <a:pt x="139" y="101"/>
                  <a:pt x="139" y="100"/>
                  <a:pt x="139" y="100"/>
                </a:cubicBezTo>
                <a:cubicBezTo>
                  <a:pt x="139" y="100"/>
                  <a:pt x="139" y="100"/>
                  <a:pt x="139" y="100"/>
                </a:cubicBezTo>
                <a:cubicBezTo>
                  <a:pt x="139" y="100"/>
                  <a:pt x="139" y="100"/>
                  <a:pt x="139" y="100"/>
                </a:cubicBezTo>
                <a:cubicBezTo>
                  <a:pt x="139" y="100"/>
                  <a:pt x="138" y="100"/>
                  <a:pt x="138" y="101"/>
                </a:cubicBezTo>
                <a:cubicBezTo>
                  <a:pt x="138" y="101"/>
                  <a:pt x="138" y="101"/>
                  <a:pt x="138" y="101"/>
                </a:cubicBezTo>
                <a:cubicBezTo>
                  <a:pt x="138" y="101"/>
                  <a:pt x="138" y="101"/>
                  <a:pt x="138" y="101"/>
                </a:cubicBezTo>
                <a:cubicBezTo>
                  <a:pt x="138"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3"/>
                </a:cubicBezTo>
                <a:cubicBezTo>
                  <a:pt x="139" y="103"/>
                  <a:pt x="138" y="103"/>
                  <a:pt x="138" y="103"/>
                </a:cubicBezTo>
                <a:cubicBezTo>
                  <a:pt x="138" y="103"/>
                  <a:pt x="138" y="103"/>
                  <a:pt x="138" y="103"/>
                </a:cubicBezTo>
                <a:cubicBezTo>
                  <a:pt x="139" y="103"/>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39" y="104"/>
                </a:cubicBezTo>
                <a:cubicBezTo>
                  <a:pt x="139" y="104"/>
                  <a:pt x="139" y="104"/>
                  <a:pt x="139" y="104"/>
                </a:cubicBezTo>
                <a:cubicBezTo>
                  <a:pt x="139" y="104"/>
                  <a:pt x="139" y="104"/>
                  <a:pt x="139" y="104"/>
                </a:cubicBezTo>
                <a:cubicBezTo>
                  <a:pt x="139" y="104"/>
                  <a:pt x="139" y="104"/>
                  <a:pt x="139" y="104"/>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8" y="105"/>
                </a:cubicBezTo>
                <a:cubicBezTo>
                  <a:pt x="138" y="105"/>
                  <a:pt x="138" y="105"/>
                  <a:pt x="138" y="105"/>
                </a:cubicBezTo>
                <a:cubicBezTo>
                  <a:pt x="139" y="105"/>
                  <a:pt x="139" y="105"/>
                  <a:pt x="139" y="106"/>
                </a:cubicBezTo>
                <a:cubicBezTo>
                  <a:pt x="139" y="106"/>
                  <a:pt x="138" y="106"/>
                  <a:pt x="138" y="106"/>
                </a:cubicBezTo>
                <a:cubicBezTo>
                  <a:pt x="138" y="106"/>
                  <a:pt x="138" y="106"/>
                  <a:pt x="138" y="106"/>
                </a:cubicBezTo>
                <a:cubicBezTo>
                  <a:pt x="138" y="106"/>
                  <a:pt x="138" y="106"/>
                  <a:pt x="138" y="106"/>
                </a:cubicBezTo>
                <a:cubicBezTo>
                  <a:pt x="138" y="106"/>
                  <a:pt x="138" y="105"/>
                  <a:pt x="138" y="105"/>
                </a:cubicBezTo>
                <a:cubicBezTo>
                  <a:pt x="138" y="105"/>
                  <a:pt x="138" y="105"/>
                  <a:pt x="137" y="106"/>
                </a:cubicBezTo>
                <a:cubicBezTo>
                  <a:pt x="137" y="105"/>
                  <a:pt x="137" y="105"/>
                  <a:pt x="137" y="105"/>
                </a:cubicBezTo>
                <a:cubicBezTo>
                  <a:pt x="137" y="105"/>
                  <a:pt x="137" y="105"/>
                  <a:pt x="137" y="105"/>
                </a:cubicBezTo>
                <a:cubicBezTo>
                  <a:pt x="137" y="105"/>
                  <a:pt x="137" y="104"/>
                  <a:pt x="137" y="104"/>
                </a:cubicBezTo>
                <a:cubicBezTo>
                  <a:pt x="137" y="104"/>
                  <a:pt x="137" y="104"/>
                  <a:pt x="137" y="104"/>
                </a:cubicBezTo>
                <a:cubicBezTo>
                  <a:pt x="137" y="104"/>
                  <a:pt x="138" y="104"/>
                  <a:pt x="138" y="104"/>
                </a:cubicBezTo>
                <a:cubicBezTo>
                  <a:pt x="138" y="104"/>
                  <a:pt x="139" y="104"/>
                  <a:pt x="139" y="104"/>
                </a:cubicBezTo>
                <a:cubicBezTo>
                  <a:pt x="139" y="104"/>
                  <a:pt x="139" y="104"/>
                  <a:pt x="139" y="104"/>
                </a:cubicBezTo>
                <a:cubicBezTo>
                  <a:pt x="139" y="104"/>
                  <a:pt x="138" y="103"/>
                  <a:pt x="138" y="103"/>
                </a:cubicBezTo>
                <a:cubicBezTo>
                  <a:pt x="138" y="103"/>
                  <a:pt x="137" y="103"/>
                  <a:pt x="137" y="103"/>
                </a:cubicBezTo>
                <a:cubicBezTo>
                  <a:pt x="137" y="103"/>
                  <a:pt x="136" y="103"/>
                  <a:pt x="136" y="103"/>
                </a:cubicBezTo>
                <a:cubicBezTo>
                  <a:pt x="136" y="103"/>
                  <a:pt x="136" y="103"/>
                  <a:pt x="136" y="103"/>
                </a:cubicBezTo>
                <a:cubicBezTo>
                  <a:pt x="136" y="103"/>
                  <a:pt x="137" y="103"/>
                  <a:pt x="137" y="103"/>
                </a:cubicBezTo>
                <a:cubicBezTo>
                  <a:pt x="137" y="103"/>
                  <a:pt x="137" y="103"/>
                  <a:pt x="137" y="103"/>
                </a:cubicBezTo>
                <a:cubicBezTo>
                  <a:pt x="137" y="103"/>
                  <a:pt x="137" y="103"/>
                  <a:pt x="137" y="102"/>
                </a:cubicBezTo>
                <a:cubicBezTo>
                  <a:pt x="136" y="103"/>
                  <a:pt x="136" y="102"/>
                  <a:pt x="135" y="102"/>
                </a:cubicBezTo>
                <a:cubicBezTo>
                  <a:pt x="135" y="102"/>
                  <a:pt x="135" y="102"/>
                  <a:pt x="135" y="101"/>
                </a:cubicBezTo>
                <a:cubicBezTo>
                  <a:pt x="135" y="101"/>
                  <a:pt x="135" y="101"/>
                  <a:pt x="135" y="101"/>
                </a:cubicBezTo>
                <a:cubicBezTo>
                  <a:pt x="135" y="101"/>
                  <a:pt x="135" y="101"/>
                  <a:pt x="135" y="101"/>
                </a:cubicBezTo>
                <a:cubicBezTo>
                  <a:pt x="135" y="101"/>
                  <a:pt x="135" y="101"/>
                  <a:pt x="135" y="100"/>
                </a:cubicBezTo>
                <a:cubicBezTo>
                  <a:pt x="135" y="100"/>
                  <a:pt x="135" y="100"/>
                  <a:pt x="135" y="100"/>
                </a:cubicBezTo>
                <a:cubicBezTo>
                  <a:pt x="135" y="100"/>
                  <a:pt x="135" y="99"/>
                  <a:pt x="135" y="99"/>
                </a:cubicBezTo>
                <a:cubicBezTo>
                  <a:pt x="135" y="99"/>
                  <a:pt x="135" y="99"/>
                  <a:pt x="135" y="99"/>
                </a:cubicBezTo>
                <a:cubicBezTo>
                  <a:pt x="135" y="99"/>
                  <a:pt x="135" y="99"/>
                  <a:pt x="134" y="99"/>
                </a:cubicBezTo>
                <a:cubicBezTo>
                  <a:pt x="134" y="98"/>
                  <a:pt x="134" y="98"/>
                  <a:pt x="134" y="98"/>
                </a:cubicBezTo>
                <a:cubicBezTo>
                  <a:pt x="134" y="98"/>
                  <a:pt x="133" y="98"/>
                  <a:pt x="132" y="97"/>
                </a:cubicBezTo>
                <a:cubicBezTo>
                  <a:pt x="132" y="97"/>
                  <a:pt x="132" y="97"/>
                  <a:pt x="132" y="97"/>
                </a:cubicBezTo>
                <a:cubicBezTo>
                  <a:pt x="132" y="97"/>
                  <a:pt x="131" y="96"/>
                  <a:pt x="131" y="96"/>
                </a:cubicBezTo>
                <a:cubicBezTo>
                  <a:pt x="131" y="96"/>
                  <a:pt x="131" y="96"/>
                  <a:pt x="131" y="96"/>
                </a:cubicBezTo>
                <a:cubicBezTo>
                  <a:pt x="130" y="96"/>
                  <a:pt x="130" y="96"/>
                  <a:pt x="130" y="95"/>
                </a:cubicBezTo>
                <a:cubicBezTo>
                  <a:pt x="130" y="95"/>
                  <a:pt x="130" y="95"/>
                  <a:pt x="130" y="95"/>
                </a:cubicBezTo>
                <a:cubicBezTo>
                  <a:pt x="130" y="95"/>
                  <a:pt x="130" y="95"/>
                  <a:pt x="130" y="95"/>
                </a:cubicBezTo>
                <a:cubicBezTo>
                  <a:pt x="129" y="95"/>
                  <a:pt x="130" y="94"/>
                  <a:pt x="129" y="94"/>
                </a:cubicBezTo>
                <a:cubicBezTo>
                  <a:pt x="129" y="94"/>
                  <a:pt x="129" y="94"/>
                  <a:pt x="129" y="94"/>
                </a:cubicBezTo>
                <a:cubicBezTo>
                  <a:pt x="128" y="94"/>
                  <a:pt x="128" y="94"/>
                  <a:pt x="128" y="95"/>
                </a:cubicBezTo>
                <a:cubicBezTo>
                  <a:pt x="128" y="94"/>
                  <a:pt x="128" y="94"/>
                  <a:pt x="128" y="94"/>
                </a:cubicBezTo>
                <a:cubicBezTo>
                  <a:pt x="128" y="94"/>
                  <a:pt x="128" y="93"/>
                  <a:pt x="128" y="93"/>
                </a:cubicBezTo>
                <a:cubicBezTo>
                  <a:pt x="128" y="93"/>
                  <a:pt x="128" y="93"/>
                  <a:pt x="128" y="93"/>
                </a:cubicBezTo>
                <a:cubicBezTo>
                  <a:pt x="128" y="93"/>
                  <a:pt x="128" y="93"/>
                  <a:pt x="127" y="93"/>
                </a:cubicBezTo>
                <a:cubicBezTo>
                  <a:pt x="127" y="93"/>
                  <a:pt x="127" y="93"/>
                  <a:pt x="127" y="93"/>
                </a:cubicBezTo>
                <a:cubicBezTo>
                  <a:pt x="127" y="93"/>
                  <a:pt x="127" y="94"/>
                  <a:pt x="126" y="94"/>
                </a:cubicBezTo>
                <a:cubicBezTo>
                  <a:pt x="126" y="94"/>
                  <a:pt x="126" y="94"/>
                  <a:pt x="126" y="94"/>
                </a:cubicBezTo>
                <a:cubicBezTo>
                  <a:pt x="126" y="94"/>
                  <a:pt x="126" y="94"/>
                  <a:pt x="126" y="94"/>
                </a:cubicBezTo>
                <a:cubicBezTo>
                  <a:pt x="126" y="94"/>
                  <a:pt x="127" y="94"/>
                  <a:pt x="127" y="94"/>
                </a:cubicBezTo>
                <a:cubicBezTo>
                  <a:pt x="127" y="95"/>
                  <a:pt x="126" y="95"/>
                  <a:pt x="126" y="95"/>
                </a:cubicBezTo>
                <a:cubicBezTo>
                  <a:pt x="127" y="95"/>
                  <a:pt x="127" y="96"/>
                  <a:pt x="127" y="96"/>
                </a:cubicBezTo>
                <a:cubicBezTo>
                  <a:pt x="128" y="96"/>
                  <a:pt x="128" y="96"/>
                  <a:pt x="128" y="96"/>
                </a:cubicBezTo>
                <a:cubicBezTo>
                  <a:pt x="128" y="97"/>
                  <a:pt x="128" y="97"/>
                  <a:pt x="128" y="97"/>
                </a:cubicBezTo>
                <a:cubicBezTo>
                  <a:pt x="128" y="98"/>
                  <a:pt x="129" y="98"/>
                  <a:pt x="129" y="98"/>
                </a:cubicBezTo>
                <a:cubicBezTo>
                  <a:pt x="130" y="99"/>
                  <a:pt x="131" y="98"/>
                  <a:pt x="131" y="99"/>
                </a:cubicBezTo>
                <a:cubicBezTo>
                  <a:pt x="131" y="99"/>
                  <a:pt x="131" y="99"/>
                  <a:pt x="131" y="99"/>
                </a:cubicBezTo>
                <a:cubicBezTo>
                  <a:pt x="131" y="99"/>
                  <a:pt x="131" y="99"/>
                  <a:pt x="131" y="99"/>
                </a:cubicBezTo>
                <a:cubicBezTo>
                  <a:pt x="131" y="99"/>
                  <a:pt x="131" y="99"/>
                  <a:pt x="131" y="99"/>
                </a:cubicBezTo>
                <a:cubicBezTo>
                  <a:pt x="132" y="100"/>
                  <a:pt x="133" y="100"/>
                  <a:pt x="134" y="101"/>
                </a:cubicBezTo>
                <a:cubicBezTo>
                  <a:pt x="134" y="101"/>
                  <a:pt x="134" y="101"/>
                  <a:pt x="133" y="102"/>
                </a:cubicBezTo>
                <a:cubicBezTo>
                  <a:pt x="133" y="101"/>
                  <a:pt x="133" y="101"/>
                  <a:pt x="133" y="101"/>
                </a:cubicBezTo>
                <a:cubicBezTo>
                  <a:pt x="133" y="101"/>
                  <a:pt x="133" y="101"/>
                  <a:pt x="133" y="101"/>
                </a:cubicBezTo>
                <a:cubicBezTo>
                  <a:pt x="133" y="101"/>
                  <a:pt x="132" y="101"/>
                  <a:pt x="132" y="101"/>
                </a:cubicBezTo>
                <a:cubicBezTo>
                  <a:pt x="132" y="100"/>
                  <a:pt x="131" y="101"/>
                  <a:pt x="131" y="102"/>
                </a:cubicBezTo>
                <a:cubicBezTo>
                  <a:pt x="132" y="102"/>
                  <a:pt x="132" y="102"/>
                  <a:pt x="132" y="102"/>
                </a:cubicBezTo>
                <a:cubicBezTo>
                  <a:pt x="132" y="102"/>
                  <a:pt x="132" y="102"/>
                  <a:pt x="132" y="103"/>
                </a:cubicBezTo>
                <a:cubicBezTo>
                  <a:pt x="132" y="103"/>
                  <a:pt x="132" y="103"/>
                  <a:pt x="132" y="103"/>
                </a:cubicBezTo>
                <a:cubicBezTo>
                  <a:pt x="132" y="103"/>
                  <a:pt x="132" y="103"/>
                  <a:pt x="131" y="103"/>
                </a:cubicBezTo>
                <a:cubicBezTo>
                  <a:pt x="131" y="103"/>
                  <a:pt x="131" y="103"/>
                  <a:pt x="131" y="103"/>
                </a:cubicBezTo>
                <a:cubicBezTo>
                  <a:pt x="131" y="104"/>
                  <a:pt x="131" y="104"/>
                  <a:pt x="131" y="104"/>
                </a:cubicBezTo>
                <a:cubicBezTo>
                  <a:pt x="130" y="104"/>
                  <a:pt x="130" y="104"/>
                  <a:pt x="130" y="104"/>
                </a:cubicBezTo>
                <a:cubicBezTo>
                  <a:pt x="130" y="104"/>
                  <a:pt x="130" y="104"/>
                  <a:pt x="130" y="104"/>
                </a:cubicBezTo>
                <a:cubicBezTo>
                  <a:pt x="130" y="104"/>
                  <a:pt x="130" y="104"/>
                  <a:pt x="130" y="104"/>
                </a:cubicBezTo>
                <a:cubicBezTo>
                  <a:pt x="131" y="104"/>
                  <a:pt x="131" y="103"/>
                  <a:pt x="131" y="103"/>
                </a:cubicBezTo>
                <a:cubicBezTo>
                  <a:pt x="131" y="103"/>
                  <a:pt x="131" y="103"/>
                  <a:pt x="131" y="103"/>
                </a:cubicBezTo>
                <a:cubicBezTo>
                  <a:pt x="131" y="103"/>
                  <a:pt x="131" y="103"/>
                  <a:pt x="131" y="103"/>
                </a:cubicBezTo>
                <a:cubicBezTo>
                  <a:pt x="131" y="103"/>
                  <a:pt x="131" y="103"/>
                  <a:pt x="131" y="103"/>
                </a:cubicBezTo>
                <a:cubicBezTo>
                  <a:pt x="131" y="103"/>
                  <a:pt x="130" y="101"/>
                  <a:pt x="130" y="101"/>
                </a:cubicBezTo>
                <a:cubicBezTo>
                  <a:pt x="130" y="101"/>
                  <a:pt x="130" y="101"/>
                  <a:pt x="130" y="101"/>
                </a:cubicBezTo>
                <a:cubicBezTo>
                  <a:pt x="130" y="101"/>
                  <a:pt x="130" y="101"/>
                  <a:pt x="129" y="101"/>
                </a:cubicBezTo>
                <a:cubicBezTo>
                  <a:pt x="129" y="101"/>
                  <a:pt x="130" y="101"/>
                  <a:pt x="129" y="101"/>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8" y="100"/>
                </a:cubicBezTo>
                <a:cubicBezTo>
                  <a:pt x="128" y="99"/>
                  <a:pt x="128" y="100"/>
                  <a:pt x="127" y="99"/>
                </a:cubicBezTo>
                <a:cubicBezTo>
                  <a:pt x="126" y="99"/>
                  <a:pt x="126" y="98"/>
                  <a:pt x="125" y="98"/>
                </a:cubicBezTo>
                <a:cubicBezTo>
                  <a:pt x="124" y="97"/>
                  <a:pt x="124" y="96"/>
                  <a:pt x="123" y="95"/>
                </a:cubicBezTo>
                <a:cubicBezTo>
                  <a:pt x="123" y="95"/>
                  <a:pt x="122" y="95"/>
                  <a:pt x="122" y="95"/>
                </a:cubicBezTo>
                <a:cubicBezTo>
                  <a:pt x="122" y="95"/>
                  <a:pt x="121" y="96"/>
                  <a:pt x="121" y="96"/>
                </a:cubicBezTo>
                <a:cubicBezTo>
                  <a:pt x="121" y="96"/>
                  <a:pt x="121" y="96"/>
                  <a:pt x="121" y="96"/>
                </a:cubicBezTo>
                <a:cubicBezTo>
                  <a:pt x="120" y="96"/>
                  <a:pt x="120" y="97"/>
                  <a:pt x="119" y="97"/>
                </a:cubicBezTo>
                <a:cubicBezTo>
                  <a:pt x="118" y="97"/>
                  <a:pt x="118" y="97"/>
                  <a:pt x="118" y="97"/>
                </a:cubicBezTo>
                <a:cubicBezTo>
                  <a:pt x="118" y="96"/>
                  <a:pt x="118" y="97"/>
                  <a:pt x="117" y="97"/>
                </a:cubicBezTo>
                <a:cubicBezTo>
                  <a:pt x="117" y="97"/>
                  <a:pt x="117" y="96"/>
                  <a:pt x="116" y="97"/>
                </a:cubicBezTo>
                <a:cubicBezTo>
                  <a:pt x="115" y="97"/>
                  <a:pt x="116" y="98"/>
                  <a:pt x="116" y="99"/>
                </a:cubicBezTo>
                <a:cubicBezTo>
                  <a:pt x="115" y="99"/>
                  <a:pt x="115" y="99"/>
                  <a:pt x="115" y="99"/>
                </a:cubicBezTo>
                <a:cubicBezTo>
                  <a:pt x="115" y="99"/>
                  <a:pt x="114" y="99"/>
                  <a:pt x="114" y="99"/>
                </a:cubicBezTo>
                <a:cubicBezTo>
                  <a:pt x="114" y="100"/>
                  <a:pt x="113" y="99"/>
                  <a:pt x="113" y="100"/>
                </a:cubicBezTo>
                <a:cubicBezTo>
                  <a:pt x="113" y="100"/>
                  <a:pt x="113" y="100"/>
                  <a:pt x="113" y="100"/>
                </a:cubicBezTo>
                <a:cubicBezTo>
                  <a:pt x="113" y="100"/>
                  <a:pt x="113" y="100"/>
                  <a:pt x="113" y="100"/>
                </a:cubicBezTo>
                <a:cubicBezTo>
                  <a:pt x="112" y="100"/>
                  <a:pt x="112" y="101"/>
                  <a:pt x="112" y="102"/>
                </a:cubicBezTo>
                <a:cubicBezTo>
                  <a:pt x="112" y="102"/>
                  <a:pt x="112" y="102"/>
                  <a:pt x="112" y="103"/>
                </a:cubicBezTo>
                <a:cubicBezTo>
                  <a:pt x="112" y="103"/>
                  <a:pt x="112" y="103"/>
                  <a:pt x="112" y="103"/>
                </a:cubicBezTo>
                <a:cubicBezTo>
                  <a:pt x="112" y="103"/>
                  <a:pt x="112" y="103"/>
                  <a:pt x="112" y="103"/>
                </a:cubicBezTo>
                <a:cubicBezTo>
                  <a:pt x="112" y="103"/>
                  <a:pt x="111" y="104"/>
                  <a:pt x="111" y="104"/>
                </a:cubicBezTo>
                <a:cubicBezTo>
                  <a:pt x="111" y="104"/>
                  <a:pt x="111" y="104"/>
                  <a:pt x="111" y="105"/>
                </a:cubicBezTo>
                <a:cubicBezTo>
                  <a:pt x="111" y="105"/>
                  <a:pt x="110" y="105"/>
                  <a:pt x="110" y="105"/>
                </a:cubicBezTo>
                <a:cubicBezTo>
                  <a:pt x="110" y="105"/>
                  <a:pt x="110" y="105"/>
                  <a:pt x="109" y="106"/>
                </a:cubicBezTo>
                <a:cubicBezTo>
                  <a:pt x="109" y="106"/>
                  <a:pt x="109" y="106"/>
                  <a:pt x="109" y="106"/>
                </a:cubicBezTo>
                <a:cubicBezTo>
                  <a:pt x="109" y="106"/>
                  <a:pt x="109" y="106"/>
                  <a:pt x="109" y="106"/>
                </a:cubicBezTo>
                <a:cubicBezTo>
                  <a:pt x="108" y="106"/>
                  <a:pt x="107" y="106"/>
                  <a:pt x="107" y="106"/>
                </a:cubicBezTo>
                <a:cubicBezTo>
                  <a:pt x="107" y="106"/>
                  <a:pt x="107" y="106"/>
                  <a:pt x="106" y="106"/>
                </a:cubicBezTo>
                <a:cubicBezTo>
                  <a:pt x="106" y="106"/>
                  <a:pt x="106" y="106"/>
                  <a:pt x="106" y="107"/>
                </a:cubicBezTo>
                <a:cubicBezTo>
                  <a:pt x="106" y="107"/>
                  <a:pt x="106" y="107"/>
                  <a:pt x="106" y="107"/>
                </a:cubicBezTo>
                <a:cubicBezTo>
                  <a:pt x="106" y="107"/>
                  <a:pt x="106" y="106"/>
                  <a:pt x="106" y="106"/>
                </a:cubicBezTo>
                <a:cubicBezTo>
                  <a:pt x="106" y="106"/>
                  <a:pt x="106" y="106"/>
                  <a:pt x="106" y="106"/>
                </a:cubicBezTo>
                <a:cubicBezTo>
                  <a:pt x="106" y="107"/>
                  <a:pt x="106" y="107"/>
                  <a:pt x="106" y="107"/>
                </a:cubicBezTo>
                <a:cubicBezTo>
                  <a:pt x="105" y="107"/>
                  <a:pt x="105" y="106"/>
                  <a:pt x="105" y="106"/>
                </a:cubicBezTo>
                <a:cubicBezTo>
                  <a:pt x="105" y="106"/>
                  <a:pt x="105" y="106"/>
                  <a:pt x="104" y="106"/>
                </a:cubicBezTo>
                <a:cubicBezTo>
                  <a:pt x="104" y="105"/>
                  <a:pt x="104" y="105"/>
                  <a:pt x="103" y="105"/>
                </a:cubicBezTo>
                <a:cubicBezTo>
                  <a:pt x="103" y="105"/>
                  <a:pt x="103" y="105"/>
                  <a:pt x="103" y="105"/>
                </a:cubicBezTo>
                <a:cubicBezTo>
                  <a:pt x="103" y="105"/>
                  <a:pt x="102" y="105"/>
                  <a:pt x="102" y="105"/>
                </a:cubicBezTo>
                <a:cubicBezTo>
                  <a:pt x="102" y="105"/>
                  <a:pt x="102" y="105"/>
                  <a:pt x="102" y="105"/>
                </a:cubicBezTo>
                <a:cubicBezTo>
                  <a:pt x="102" y="105"/>
                  <a:pt x="102" y="105"/>
                  <a:pt x="102" y="105"/>
                </a:cubicBezTo>
                <a:cubicBezTo>
                  <a:pt x="101" y="105"/>
                  <a:pt x="102" y="105"/>
                  <a:pt x="102" y="105"/>
                </a:cubicBezTo>
                <a:cubicBezTo>
                  <a:pt x="102" y="104"/>
                  <a:pt x="102" y="104"/>
                  <a:pt x="102" y="104"/>
                </a:cubicBezTo>
                <a:cubicBezTo>
                  <a:pt x="102" y="104"/>
                  <a:pt x="102" y="104"/>
                  <a:pt x="102" y="104"/>
                </a:cubicBezTo>
                <a:cubicBezTo>
                  <a:pt x="102" y="104"/>
                  <a:pt x="102" y="104"/>
                  <a:pt x="102" y="103"/>
                </a:cubicBezTo>
                <a:cubicBezTo>
                  <a:pt x="102" y="103"/>
                  <a:pt x="102" y="103"/>
                  <a:pt x="102" y="103"/>
                </a:cubicBezTo>
                <a:cubicBezTo>
                  <a:pt x="102" y="103"/>
                  <a:pt x="101" y="103"/>
                  <a:pt x="101" y="103"/>
                </a:cubicBezTo>
                <a:cubicBezTo>
                  <a:pt x="101" y="103"/>
                  <a:pt x="101" y="103"/>
                  <a:pt x="101" y="103"/>
                </a:cubicBezTo>
                <a:cubicBezTo>
                  <a:pt x="101" y="103"/>
                  <a:pt x="101" y="103"/>
                  <a:pt x="101" y="103"/>
                </a:cubicBezTo>
                <a:cubicBezTo>
                  <a:pt x="101" y="103"/>
                  <a:pt x="101" y="103"/>
                  <a:pt x="102" y="103"/>
                </a:cubicBezTo>
                <a:cubicBezTo>
                  <a:pt x="102" y="103"/>
                  <a:pt x="102" y="103"/>
                  <a:pt x="101" y="103"/>
                </a:cubicBezTo>
                <a:cubicBezTo>
                  <a:pt x="101" y="103"/>
                  <a:pt x="101" y="103"/>
                  <a:pt x="101" y="103"/>
                </a:cubicBezTo>
                <a:cubicBezTo>
                  <a:pt x="101" y="103"/>
                  <a:pt x="101" y="103"/>
                  <a:pt x="101" y="103"/>
                </a:cubicBezTo>
                <a:cubicBezTo>
                  <a:pt x="101" y="103"/>
                  <a:pt x="101" y="103"/>
                  <a:pt x="101" y="103"/>
                </a:cubicBezTo>
                <a:cubicBezTo>
                  <a:pt x="101" y="103"/>
                  <a:pt x="101" y="102"/>
                  <a:pt x="101" y="102"/>
                </a:cubicBezTo>
                <a:cubicBezTo>
                  <a:pt x="102" y="102"/>
                  <a:pt x="102" y="100"/>
                  <a:pt x="102" y="99"/>
                </a:cubicBezTo>
                <a:cubicBezTo>
                  <a:pt x="102" y="99"/>
                  <a:pt x="102" y="98"/>
                  <a:pt x="102" y="98"/>
                </a:cubicBezTo>
                <a:cubicBezTo>
                  <a:pt x="102" y="98"/>
                  <a:pt x="102" y="97"/>
                  <a:pt x="101" y="97"/>
                </a:cubicBezTo>
                <a:cubicBezTo>
                  <a:pt x="101" y="97"/>
                  <a:pt x="101" y="97"/>
                  <a:pt x="101" y="97"/>
                </a:cubicBezTo>
                <a:cubicBezTo>
                  <a:pt x="101" y="97"/>
                  <a:pt x="102" y="97"/>
                  <a:pt x="102" y="97"/>
                </a:cubicBezTo>
                <a:cubicBezTo>
                  <a:pt x="102" y="97"/>
                  <a:pt x="102" y="97"/>
                  <a:pt x="102" y="97"/>
                </a:cubicBezTo>
                <a:cubicBezTo>
                  <a:pt x="102" y="96"/>
                  <a:pt x="102" y="96"/>
                  <a:pt x="102" y="96"/>
                </a:cubicBezTo>
                <a:cubicBezTo>
                  <a:pt x="103" y="96"/>
                  <a:pt x="103" y="96"/>
                  <a:pt x="104" y="96"/>
                </a:cubicBezTo>
                <a:cubicBezTo>
                  <a:pt x="104" y="96"/>
                  <a:pt x="105" y="96"/>
                  <a:pt x="105" y="96"/>
                </a:cubicBezTo>
                <a:cubicBezTo>
                  <a:pt x="105" y="96"/>
                  <a:pt x="106" y="96"/>
                  <a:pt x="106" y="96"/>
                </a:cubicBezTo>
                <a:cubicBezTo>
                  <a:pt x="107" y="96"/>
                  <a:pt x="108" y="97"/>
                  <a:pt x="109" y="96"/>
                </a:cubicBezTo>
                <a:cubicBezTo>
                  <a:pt x="109" y="96"/>
                  <a:pt x="109" y="97"/>
                  <a:pt x="110" y="97"/>
                </a:cubicBezTo>
                <a:cubicBezTo>
                  <a:pt x="110" y="96"/>
                  <a:pt x="110" y="95"/>
                  <a:pt x="110" y="95"/>
                </a:cubicBezTo>
                <a:cubicBezTo>
                  <a:pt x="111" y="95"/>
                  <a:pt x="111" y="95"/>
                  <a:pt x="111" y="95"/>
                </a:cubicBezTo>
                <a:cubicBezTo>
                  <a:pt x="111" y="95"/>
                  <a:pt x="111" y="95"/>
                  <a:pt x="111" y="95"/>
                </a:cubicBezTo>
                <a:cubicBezTo>
                  <a:pt x="111" y="95"/>
                  <a:pt x="111" y="95"/>
                  <a:pt x="110" y="95"/>
                </a:cubicBezTo>
                <a:cubicBezTo>
                  <a:pt x="110" y="94"/>
                  <a:pt x="111" y="94"/>
                  <a:pt x="111" y="93"/>
                </a:cubicBezTo>
                <a:cubicBezTo>
                  <a:pt x="111" y="93"/>
                  <a:pt x="111" y="93"/>
                  <a:pt x="111" y="93"/>
                </a:cubicBezTo>
                <a:cubicBezTo>
                  <a:pt x="111" y="94"/>
                  <a:pt x="111" y="94"/>
                  <a:pt x="111" y="94"/>
                </a:cubicBezTo>
                <a:cubicBezTo>
                  <a:pt x="111" y="94"/>
                  <a:pt x="111" y="93"/>
                  <a:pt x="111" y="93"/>
                </a:cubicBezTo>
                <a:cubicBezTo>
                  <a:pt x="111" y="93"/>
                  <a:pt x="111" y="93"/>
                  <a:pt x="111" y="93"/>
                </a:cubicBezTo>
                <a:cubicBezTo>
                  <a:pt x="110" y="92"/>
                  <a:pt x="111" y="92"/>
                  <a:pt x="110" y="92"/>
                </a:cubicBezTo>
                <a:cubicBezTo>
                  <a:pt x="110" y="92"/>
                  <a:pt x="110" y="92"/>
                  <a:pt x="110" y="91"/>
                </a:cubicBezTo>
                <a:cubicBezTo>
                  <a:pt x="110" y="91"/>
                  <a:pt x="110" y="91"/>
                  <a:pt x="110" y="91"/>
                </a:cubicBezTo>
                <a:cubicBezTo>
                  <a:pt x="109" y="91"/>
                  <a:pt x="109" y="91"/>
                  <a:pt x="109" y="91"/>
                </a:cubicBezTo>
                <a:cubicBezTo>
                  <a:pt x="109" y="91"/>
                  <a:pt x="109" y="91"/>
                  <a:pt x="109" y="91"/>
                </a:cubicBezTo>
                <a:cubicBezTo>
                  <a:pt x="109" y="90"/>
                  <a:pt x="109" y="90"/>
                  <a:pt x="109" y="90"/>
                </a:cubicBezTo>
                <a:cubicBezTo>
                  <a:pt x="109" y="90"/>
                  <a:pt x="109" y="91"/>
                  <a:pt x="109" y="91"/>
                </a:cubicBezTo>
                <a:cubicBezTo>
                  <a:pt x="108" y="90"/>
                  <a:pt x="108" y="90"/>
                  <a:pt x="107" y="90"/>
                </a:cubicBezTo>
                <a:cubicBezTo>
                  <a:pt x="107" y="90"/>
                  <a:pt x="107" y="90"/>
                  <a:pt x="107" y="90"/>
                </a:cubicBezTo>
                <a:cubicBezTo>
                  <a:pt x="107" y="90"/>
                  <a:pt x="107" y="90"/>
                  <a:pt x="107" y="90"/>
                </a:cubicBezTo>
                <a:cubicBezTo>
                  <a:pt x="107" y="90"/>
                  <a:pt x="107" y="90"/>
                  <a:pt x="107" y="90"/>
                </a:cubicBezTo>
                <a:cubicBezTo>
                  <a:pt x="107" y="90"/>
                  <a:pt x="107" y="90"/>
                  <a:pt x="107" y="90"/>
                </a:cubicBezTo>
                <a:cubicBezTo>
                  <a:pt x="107" y="90"/>
                  <a:pt x="107" y="90"/>
                  <a:pt x="107" y="89"/>
                </a:cubicBezTo>
                <a:cubicBezTo>
                  <a:pt x="107" y="89"/>
                  <a:pt x="107" y="89"/>
                  <a:pt x="107" y="89"/>
                </a:cubicBezTo>
                <a:cubicBezTo>
                  <a:pt x="107" y="89"/>
                  <a:pt x="107" y="89"/>
                  <a:pt x="107" y="89"/>
                </a:cubicBezTo>
                <a:cubicBezTo>
                  <a:pt x="107" y="89"/>
                  <a:pt x="107" y="89"/>
                  <a:pt x="106" y="89"/>
                </a:cubicBezTo>
                <a:cubicBezTo>
                  <a:pt x="106" y="89"/>
                  <a:pt x="106" y="89"/>
                  <a:pt x="106" y="89"/>
                </a:cubicBezTo>
                <a:cubicBezTo>
                  <a:pt x="107" y="89"/>
                  <a:pt x="107" y="89"/>
                  <a:pt x="107" y="89"/>
                </a:cubicBezTo>
                <a:cubicBezTo>
                  <a:pt x="107" y="89"/>
                  <a:pt x="107" y="89"/>
                  <a:pt x="107" y="89"/>
                </a:cubicBezTo>
                <a:cubicBezTo>
                  <a:pt x="107" y="89"/>
                  <a:pt x="108" y="89"/>
                  <a:pt x="108" y="89"/>
                </a:cubicBezTo>
                <a:cubicBezTo>
                  <a:pt x="108" y="89"/>
                  <a:pt x="108" y="89"/>
                  <a:pt x="108" y="89"/>
                </a:cubicBezTo>
                <a:cubicBezTo>
                  <a:pt x="108" y="89"/>
                  <a:pt x="108" y="88"/>
                  <a:pt x="108" y="88"/>
                </a:cubicBezTo>
                <a:cubicBezTo>
                  <a:pt x="109" y="89"/>
                  <a:pt x="109" y="89"/>
                  <a:pt x="109" y="89"/>
                </a:cubicBezTo>
                <a:cubicBezTo>
                  <a:pt x="109" y="89"/>
                  <a:pt x="110" y="89"/>
                  <a:pt x="110" y="89"/>
                </a:cubicBezTo>
                <a:cubicBezTo>
                  <a:pt x="110" y="89"/>
                  <a:pt x="110" y="89"/>
                  <a:pt x="110" y="89"/>
                </a:cubicBezTo>
                <a:cubicBezTo>
                  <a:pt x="110" y="89"/>
                  <a:pt x="110" y="89"/>
                  <a:pt x="110" y="89"/>
                </a:cubicBezTo>
                <a:cubicBezTo>
                  <a:pt x="110" y="89"/>
                  <a:pt x="110" y="88"/>
                  <a:pt x="110" y="88"/>
                </a:cubicBezTo>
                <a:cubicBezTo>
                  <a:pt x="110" y="88"/>
                  <a:pt x="110" y="88"/>
                  <a:pt x="110" y="87"/>
                </a:cubicBezTo>
                <a:cubicBezTo>
                  <a:pt x="110" y="87"/>
                  <a:pt x="110" y="87"/>
                  <a:pt x="111" y="87"/>
                </a:cubicBezTo>
                <a:cubicBezTo>
                  <a:pt x="111" y="87"/>
                  <a:pt x="111" y="88"/>
                  <a:pt x="111" y="88"/>
                </a:cubicBezTo>
                <a:cubicBezTo>
                  <a:pt x="111" y="87"/>
                  <a:pt x="112" y="88"/>
                  <a:pt x="112" y="88"/>
                </a:cubicBezTo>
                <a:cubicBezTo>
                  <a:pt x="112" y="88"/>
                  <a:pt x="112" y="88"/>
                  <a:pt x="112" y="88"/>
                </a:cubicBezTo>
                <a:cubicBezTo>
                  <a:pt x="112" y="87"/>
                  <a:pt x="112" y="87"/>
                  <a:pt x="112" y="87"/>
                </a:cubicBezTo>
                <a:cubicBezTo>
                  <a:pt x="112" y="87"/>
                  <a:pt x="113" y="87"/>
                  <a:pt x="114" y="87"/>
                </a:cubicBezTo>
                <a:cubicBezTo>
                  <a:pt x="114" y="86"/>
                  <a:pt x="114" y="86"/>
                  <a:pt x="114" y="85"/>
                </a:cubicBezTo>
                <a:cubicBezTo>
                  <a:pt x="114" y="85"/>
                  <a:pt x="114" y="85"/>
                  <a:pt x="114" y="85"/>
                </a:cubicBezTo>
                <a:cubicBezTo>
                  <a:pt x="115" y="85"/>
                  <a:pt x="115" y="85"/>
                  <a:pt x="115" y="85"/>
                </a:cubicBezTo>
                <a:cubicBezTo>
                  <a:pt x="115" y="85"/>
                  <a:pt x="115" y="85"/>
                  <a:pt x="116" y="85"/>
                </a:cubicBezTo>
                <a:cubicBezTo>
                  <a:pt x="116" y="85"/>
                  <a:pt x="116" y="85"/>
                  <a:pt x="116" y="85"/>
                </a:cubicBezTo>
                <a:cubicBezTo>
                  <a:pt x="116" y="84"/>
                  <a:pt x="116" y="84"/>
                  <a:pt x="116" y="84"/>
                </a:cubicBezTo>
                <a:cubicBezTo>
                  <a:pt x="116" y="84"/>
                  <a:pt x="117" y="84"/>
                  <a:pt x="117" y="84"/>
                </a:cubicBezTo>
                <a:cubicBezTo>
                  <a:pt x="117" y="83"/>
                  <a:pt x="117" y="83"/>
                  <a:pt x="117" y="82"/>
                </a:cubicBezTo>
                <a:cubicBezTo>
                  <a:pt x="118" y="82"/>
                  <a:pt x="118" y="82"/>
                  <a:pt x="118" y="82"/>
                </a:cubicBezTo>
                <a:cubicBezTo>
                  <a:pt x="118" y="82"/>
                  <a:pt x="118" y="82"/>
                  <a:pt x="118" y="83"/>
                </a:cubicBezTo>
                <a:cubicBezTo>
                  <a:pt x="118" y="83"/>
                  <a:pt x="118" y="83"/>
                  <a:pt x="118" y="83"/>
                </a:cubicBezTo>
                <a:cubicBezTo>
                  <a:pt x="118" y="83"/>
                  <a:pt x="118" y="83"/>
                  <a:pt x="118" y="83"/>
                </a:cubicBezTo>
                <a:cubicBezTo>
                  <a:pt x="118" y="83"/>
                  <a:pt x="118" y="83"/>
                  <a:pt x="118" y="83"/>
                </a:cubicBezTo>
                <a:cubicBezTo>
                  <a:pt x="118" y="83"/>
                  <a:pt x="118" y="83"/>
                  <a:pt x="118" y="83"/>
                </a:cubicBezTo>
                <a:cubicBezTo>
                  <a:pt x="119" y="83"/>
                  <a:pt x="119" y="83"/>
                  <a:pt x="119" y="83"/>
                </a:cubicBezTo>
                <a:cubicBezTo>
                  <a:pt x="119" y="83"/>
                  <a:pt x="119" y="83"/>
                  <a:pt x="118" y="83"/>
                </a:cubicBezTo>
                <a:cubicBezTo>
                  <a:pt x="118" y="83"/>
                  <a:pt x="119" y="83"/>
                  <a:pt x="119" y="82"/>
                </a:cubicBezTo>
                <a:cubicBezTo>
                  <a:pt x="118" y="82"/>
                  <a:pt x="118" y="82"/>
                  <a:pt x="118" y="82"/>
                </a:cubicBezTo>
                <a:cubicBezTo>
                  <a:pt x="118" y="82"/>
                  <a:pt x="118" y="82"/>
                  <a:pt x="118" y="82"/>
                </a:cubicBezTo>
                <a:cubicBezTo>
                  <a:pt x="119" y="82"/>
                  <a:pt x="119" y="81"/>
                  <a:pt x="120" y="82"/>
                </a:cubicBezTo>
                <a:cubicBezTo>
                  <a:pt x="120" y="82"/>
                  <a:pt x="120" y="82"/>
                  <a:pt x="120" y="82"/>
                </a:cubicBezTo>
                <a:cubicBezTo>
                  <a:pt x="120" y="82"/>
                  <a:pt x="120" y="82"/>
                  <a:pt x="120" y="82"/>
                </a:cubicBezTo>
                <a:cubicBezTo>
                  <a:pt x="120" y="82"/>
                  <a:pt x="120" y="82"/>
                  <a:pt x="120" y="82"/>
                </a:cubicBezTo>
                <a:cubicBezTo>
                  <a:pt x="120" y="82"/>
                  <a:pt x="120" y="82"/>
                  <a:pt x="120" y="81"/>
                </a:cubicBezTo>
                <a:cubicBezTo>
                  <a:pt x="120" y="81"/>
                  <a:pt x="120" y="81"/>
                  <a:pt x="120" y="81"/>
                </a:cubicBezTo>
                <a:cubicBezTo>
                  <a:pt x="121" y="81"/>
                  <a:pt x="121" y="81"/>
                  <a:pt x="121" y="81"/>
                </a:cubicBezTo>
                <a:cubicBezTo>
                  <a:pt x="121" y="81"/>
                  <a:pt x="121" y="81"/>
                  <a:pt x="121" y="82"/>
                </a:cubicBezTo>
                <a:cubicBezTo>
                  <a:pt x="121" y="82"/>
                  <a:pt x="121" y="82"/>
                  <a:pt x="122" y="82"/>
                </a:cubicBezTo>
                <a:cubicBezTo>
                  <a:pt x="122" y="82"/>
                  <a:pt x="122" y="82"/>
                  <a:pt x="122" y="82"/>
                </a:cubicBezTo>
                <a:cubicBezTo>
                  <a:pt x="122" y="82"/>
                  <a:pt x="122" y="82"/>
                  <a:pt x="122" y="81"/>
                </a:cubicBezTo>
                <a:cubicBezTo>
                  <a:pt x="122" y="81"/>
                  <a:pt x="122" y="81"/>
                  <a:pt x="122" y="81"/>
                </a:cubicBezTo>
                <a:cubicBezTo>
                  <a:pt x="122" y="81"/>
                  <a:pt x="122" y="81"/>
                  <a:pt x="122" y="81"/>
                </a:cubicBezTo>
                <a:cubicBezTo>
                  <a:pt x="122" y="81"/>
                  <a:pt x="122" y="81"/>
                  <a:pt x="122" y="81"/>
                </a:cubicBezTo>
                <a:cubicBezTo>
                  <a:pt x="122" y="81"/>
                  <a:pt x="122" y="81"/>
                  <a:pt x="123" y="81"/>
                </a:cubicBezTo>
                <a:cubicBezTo>
                  <a:pt x="123" y="81"/>
                  <a:pt x="122" y="81"/>
                  <a:pt x="122" y="81"/>
                </a:cubicBezTo>
                <a:cubicBezTo>
                  <a:pt x="122" y="81"/>
                  <a:pt x="122" y="81"/>
                  <a:pt x="122" y="81"/>
                </a:cubicBezTo>
                <a:cubicBezTo>
                  <a:pt x="122" y="81"/>
                  <a:pt x="122" y="81"/>
                  <a:pt x="122" y="80"/>
                </a:cubicBezTo>
                <a:cubicBezTo>
                  <a:pt x="122" y="80"/>
                  <a:pt x="122" y="80"/>
                  <a:pt x="122" y="80"/>
                </a:cubicBezTo>
                <a:cubicBezTo>
                  <a:pt x="122" y="80"/>
                  <a:pt x="122" y="80"/>
                  <a:pt x="122" y="80"/>
                </a:cubicBezTo>
                <a:cubicBezTo>
                  <a:pt x="122" y="80"/>
                  <a:pt x="122" y="80"/>
                  <a:pt x="122" y="80"/>
                </a:cubicBezTo>
                <a:cubicBezTo>
                  <a:pt x="122" y="80"/>
                  <a:pt x="122" y="80"/>
                  <a:pt x="122" y="80"/>
                </a:cubicBezTo>
                <a:cubicBezTo>
                  <a:pt x="122" y="80"/>
                  <a:pt x="122" y="79"/>
                  <a:pt x="122" y="79"/>
                </a:cubicBezTo>
                <a:cubicBezTo>
                  <a:pt x="122" y="79"/>
                  <a:pt x="122" y="79"/>
                  <a:pt x="122" y="78"/>
                </a:cubicBezTo>
                <a:cubicBezTo>
                  <a:pt x="122" y="78"/>
                  <a:pt x="122" y="78"/>
                  <a:pt x="122" y="78"/>
                </a:cubicBezTo>
                <a:cubicBezTo>
                  <a:pt x="122" y="78"/>
                  <a:pt x="122" y="78"/>
                  <a:pt x="122" y="78"/>
                </a:cubicBezTo>
                <a:cubicBezTo>
                  <a:pt x="122" y="78"/>
                  <a:pt x="121" y="78"/>
                  <a:pt x="121" y="78"/>
                </a:cubicBezTo>
                <a:cubicBezTo>
                  <a:pt x="121" y="78"/>
                  <a:pt x="122" y="78"/>
                  <a:pt x="122" y="78"/>
                </a:cubicBezTo>
                <a:cubicBezTo>
                  <a:pt x="122" y="77"/>
                  <a:pt x="121" y="77"/>
                  <a:pt x="122" y="77"/>
                </a:cubicBezTo>
                <a:cubicBezTo>
                  <a:pt x="122" y="77"/>
                  <a:pt x="122" y="77"/>
                  <a:pt x="122" y="77"/>
                </a:cubicBezTo>
                <a:cubicBezTo>
                  <a:pt x="122" y="77"/>
                  <a:pt x="122" y="76"/>
                  <a:pt x="123" y="76"/>
                </a:cubicBezTo>
                <a:cubicBezTo>
                  <a:pt x="123" y="76"/>
                  <a:pt x="123" y="76"/>
                  <a:pt x="123" y="77"/>
                </a:cubicBezTo>
                <a:cubicBezTo>
                  <a:pt x="123" y="76"/>
                  <a:pt x="123" y="76"/>
                  <a:pt x="123" y="76"/>
                </a:cubicBezTo>
                <a:cubicBezTo>
                  <a:pt x="123" y="76"/>
                  <a:pt x="123" y="76"/>
                  <a:pt x="123" y="76"/>
                </a:cubicBezTo>
                <a:cubicBezTo>
                  <a:pt x="123" y="76"/>
                  <a:pt x="124" y="76"/>
                  <a:pt x="124" y="76"/>
                </a:cubicBezTo>
                <a:cubicBezTo>
                  <a:pt x="124" y="76"/>
                  <a:pt x="124" y="76"/>
                  <a:pt x="124" y="76"/>
                </a:cubicBezTo>
                <a:cubicBezTo>
                  <a:pt x="124" y="76"/>
                  <a:pt x="124" y="77"/>
                  <a:pt x="125" y="77"/>
                </a:cubicBezTo>
                <a:cubicBezTo>
                  <a:pt x="125" y="77"/>
                  <a:pt x="125" y="77"/>
                  <a:pt x="125" y="77"/>
                </a:cubicBezTo>
                <a:cubicBezTo>
                  <a:pt x="124" y="77"/>
                  <a:pt x="124" y="77"/>
                  <a:pt x="124" y="77"/>
                </a:cubicBezTo>
                <a:cubicBezTo>
                  <a:pt x="124" y="77"/>
                  <a:pt x="124" y="77"/>
                  <a:pt x="124" y="77"/>
                </a:cubicBezTo>
                <a:cubicBezTo>
                  <a:pt x="124" y="77"/>
                  <a:pt x="124" y="77"/>
                  <a:pt x="124" y="77"/>
                </a:cubicBezTo>
                <a:cubicBezTo>
                  <a:pt x="124" y="78"/>
                  <a:pt x="124" y="78"/>
                  <a:pt x="124" y="78"/>
                </a:cubicBezTo>
                <a:cubicBezTo>
                  <a:pt x="124" y="78"/>
                  <a:pt x="123" y="78"/>
                  <a:pt x="123" y="78"/>
                </a:cubicBezTo>
                <a:cubicBezTo>
                  <a:pt x="123" y="78"/>
                  <a:pt x="123" y="78"/>
                  <a:pt x="123" y="78"/>
                </a:cubicBezTo>
                <a:cubicBezTo>
                  <a:pt x="123" y="78"/>
                  <a:pt x="123" y="79"/>
                  <a:pt x="123" y="79"/>
                </a:cubicBezTo>
                <a:cubicBezTo>
                  <a:pt x="123" y="79"/>
                  <a:pt x="124" y="79"/>
                  <a:pt x="124" y="80"/>
                </a:cubicBezTo>
                <a:cubicBezTo>
                  <a:pt x="124" y="80"/>
                  <a:pt x="124" y="80"/>
                  <a:pt x="124" y="80"/>
                </a:cubicBezTo>
                <a:cubicBezTo>
                  <a:pt x="124" y="80"/>
                  <a:pt x="124" y="80"/>
                  <a:pt x="124" y="80"/>
                </a:cubicBezTo>
                <a:cubicBezTo>
                  <a:pt x="125" y="80"/>
                  <a:pt x="125" y="80"/>
                  <a:pt x="125" y="80"/>
                </a:cubicBezTo>
                <a:cubicBezTo>
                  <a:pt x="125" y="80"/>
                  <a:pt x="125" y="80"/>
                  <a:pt x="125" y="80"/>
                </a:cubicBezTo>
                <a:cubicBezTo>
                  <a:pt x="125" y="80"/>
                  <a:pt x="125" y="80"/>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0"/>
                  <a:pt x="127" y="80"/>
                  <a:pt x="127" y="80"/>
                </a:cubicBezTo>
                <a:cubicBezTo>
                  <a:pt x="127" y="81"/>
                  <a:pt x="128" y="80"/>
                  <a:pt x="128" y="80"/>
                </a:cubicBezTo>
                <a:cubicBezTo>
                  <a:pt x="128" y="81"/>
                  <a:pt x="128" y="81"/>
                  <a:pt x="128" y="81"/>
                </a:cubicBezTo>
                <a:cubicBezTo>
                  <a:pt x="128" y="81"/>
                  <a:pt x="129" y="81"/>
                  <a:pt x="129" y="81"/>
                </a:cubicBezTo>
                <a:cubicBezTo>
                  <a:pt x="129" y="81"/>
                  <a:pt x="129" y="81"/>
                  <a:pt x="129" y="81"/>
                </a:cubicBezTo>
                <a:cubicBezTo>
                  <a:pt x="130" y="81"/>
                  <a:pt x="131" y="80"/>
                  <a:pt x="132" y="79"/>
                </a:cubicBezTo>
                <a:cubicBezTo>
                  <a:pt x="133" y="79"/>
                  <a:pt x="133" y="79"/>
                  <a:pt x="133" y="80"/>
                </a:cubicBezTo>
                <a:cubicBezTo>
                  <a:pt x="134" y="80"/>
                  <a:pt x="134" y="80"/>
                  <a:pt x="134" y="80"/>
                </a:cubicBezTo>
                <a:cubicBezTo>
                  <a:pt x="134" y="80"/>
                  <a:pt x="135" y="80"/>
                  <a:pt x="135" y="80"/>
                </a:cubicBezTo>
                <a:cubicBezTo>
                  <a:pt x="135" y="79"/>
                  <a:pt x="135" y="79"/>
                  <a:pt x="135" y="79"/>
                </a:cubicBezTo>
                <a:cubicBezTo>
                  <a:pt x="136" y="79"/>
                  <a:pt x="136" y="79"/>
                  <a:pt x="137" y="79"/>
                </a:cubicBezTo>
                <a:cubicBezTo>
                  <a:pt x="137" y="79"/>
                  <a:pt x="137" y="79"/>
                  <a:pt x="137" y="79"/>
                </a:cubicBezTo>
                <a:cubicBezTo>
                  <a:pt x="137" y="79"/>
                  <a:pt x="137" y="79"/>
                  <a:pt x="137" y="79"/>
                </a:cubicBezTo>
                <a:cubicBezTo>
                  <a:pt x="137" y="78"/>
                  <a:pt x="137" y="79"/>
                  <a:pt x="137" y="78"/>
                </a:cubicBezTo>
                <a:cubicBezTo>
                  <a:pt x="137" y="78"/>
                  <a:pt x="136" y="77"/>
                  <a:pt x="137" y="76"/>
                </a:cubicBezTo>
                <a:cubicBezTo>
                  <a:pt x="137" y="76"/>
                  <a:pt x="137" y="76"/>
                  <a:pt x="137" y="76"/>
                </a:cubicBezTo>
                <a:cubicBezTo>
                  <a:pt x="137" y="76"/>
                  <a:pt x="137" y="75"/>
                  <a:pt x="137" y="75"/>
                </a:cubicBezTo>
                <a:cubicBezTo>
                  <a:pt x="137" y="75"/>
                  <a:pt x="137" y="75"/>
                  <a:pt x="137" y="75"/>
                </a:cubicBezTo>
                <a:cubicBezTo>
                  <a:pt x="138" y="75"/>
                  <a:pt x="138" y="75"/>
                  <a:pt x="138" y="75"/>
                </a:cubicBezTo>
                <a:cubicBezTo>
                  <a:pt x="138" y="75"/>
                  <a:pt x="138" y="75"/>
                  <a:pt x="138" y="75"/>
                </a:cubicBezTo>
                <a:cubicBezTo>
                  <a:pt x="139" y="75"/>
                  <a:pt x="139" y="75"/>
                  <a:pt x="139" y="75"/>
                </a:cubicBezTo>
                <a:cubicBezTo>
                  <a:pt x="139" y="75"/>
                  <a:pt x="139" y="75"/>
                  <a:pt x="139" y="76"/>
                </a:cubicBezTo>
                <a:cubicBezTo>
                  <a:pt x="140" y="76"/>
                  <a:pt x="140" y="76"/>
                  <a:pt x="140" y="75"/>
                </a:cubicBezTo>
                <a:cubicBezTo>
                  <a:pt x="140" y="75"/>
                  <a:pt x="140" y="74"/>
                  <a:pt x="141" y="74"/>
                </a:cubicBezTo>
                <a:cubicBezTo>
                  <a:pt x="141" y="74"/>
                  <a:pt x="140" y="73"/>
                  <a:pt x="140" y="73"/>
                </a:cubicBezTo>
                <a:cubicBezTo>
                  <a:pt x="140" y="74"/>
                  <a:pt x="140" y="74"/>
                  <a:pt x="140" y="74"/>
                </a:cubicBezTo>
                <a:cubicBezTo>
                  <a:pt x="140" y="74"/>
                  <a:pt x="140" y="74"/>
                  <a:pt x="140" y="74"/>
                </a:cubicBezTo>
                <a:cubicBezTo>
                  <a:pt x="140" y="73"/>
                  <a:pt x="140" y="73"/>
                  <a:pt x="140" y="73"/>
                </a:cubicBezTo>
                <a:cubicBezTo>
                  <a:pt x="140" y="73"/>
                  <a:pt x="140" y="73"/>
                  <a:pt x="139" y="73"/>
                </a:cubicBezTo>
                <a:cubicBezTo>
                  <a:pt x="139" y="73"/>
                  <a:pt x="139" y="73"/>
                  <a:pt x="139" y="72"/>
                </a:cubicBezTo>
                <a:cubicBezTo>
                  <a:pt x="139" y="72"/>
                  <a:pt x="139" y="72"/>
                  <a:pt x="139" y="72"/>
                </a:cubicBezTo>
                <a:cubicBezTo>
                  <a:pt x="140" y="72"/>
                  <a:pt x="140" y="72"/>
                  <a:pt x="140" y="72"/>
                </a:cubicBezTo>
                <a:cubicBezTo>
                  <a:pt x="141" y="72"/>
                  <a:pt x="141" y="72"/>
                  <a:pt x="141" y="72"/>
                </a:cubicBezTo>
                <a:cubicBezTo>
                  <a:pt x="141" y="72"/>
                  <a:pt x="141" y="71"/>
                  <a:pt x="141" y="71"/>
                </a:cubicBezTo>
                <a:cubicBezTo>
                  <a:pt x="141" y="71"/>
                  <a:pt x="141" y="72"/>
                  <a:pt x="142" y="72"/>
                </a:cubicBezTo>
                <a:cubicBezTo>
                  <a:pt x="142" y="71"/>
                  <a:pt x="142" y="71"/>
                  <a:pt x="142" y="71"/>
                </a:cubicBezTo>
                <a:cubicBezTo>
                  <a:pt x="142" y="71"/>
                  <a:pt x="142" y="71"/>
                  <a:pt x="143" y="71"/>
                </a:cubicBezTo>
                <a:cubicBezTo>
                  <a:pt x="143" y="72"/>
                  <a:pt x="144" y="72"/>
                  <a:pt x="144" y="72"/>
                </a:cubicBezTo>
                <a:cubicBezTo>
                  <a:pt x="145" y="72"/>
                  <a:pt x="145" y="71"/>
                  <a:pt x="145" y="71"/>
                </a:cubicBezTo>
                <a:cubicBezTo>
                  <a:pt x="145" y="71"/>
                  <a:pt x="145" y="71"/>
                  <a:pt x="145" y="72"/>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6" y="71"/>
                </a:cubicBezTo>
                <a:cubicBezTo>
                  <a:pt x="146" y="71"/>
                  <a:pt x="146" y="71"/>
                  <a:pt x="146" y="70"/>
                </a:cubicBezTo>
                <a:cubicBezTo>
                  <a:pt x="146" y="71"/>
                  <a:pt x="147" y="71"/>
                  <a:pt x="147" y="71"/>
                </a:cubicBezTo>
                <a:cubicBezTo>
                  <a:pt x="147" y="71"/>
                  <a:pt x="147" y="71"/>
                  <a:pt x="147" y="71"/>
                </a:cubicBezTo>
                <a:cubicBezTo>
                  <a:pt x="147" y="70"/>
                  <a:pt x="146" y="71"/>
                  <a:pt x="145" y="70"/>
                </a:cubicBezTo>
                <a:cubicBezTo>
                  <a:pt x="145" y="70"/>
                  <a:pt x="145" y="69"/>
                  <a:pt x="145" y="69"/>
                </a:cubicBezTo>
                <a:cubicBezTo>
                  <a:pt x="145" y="69"/>
                  <a:pt x="145" y="69"/>
                  <a:pt x="145" y="69"/>
                </a:cubicBezTo>
                <a:cubicBezTo>
                  <a:pt x="145" y="69"/>
                  <a:pt x="144" y="70"/>
                  <a:pt x="144" y="70"/>
                </a:cubicBezTo>
                <a:cubicBezTo>
                  <a:pt x="144" y="70"/>
                  <a:pt x="144" y="70"/>
                  <a:pt x="144" y="70"/>
                </a:cubicBezTo>
                <a:cubicBezTo>
                  <a:pt x="144" y="70"/>
                  <a:pt x="144" y="70"/>
                  <a:pt x="143" y="70"/>
                </a:cubicBezTo>
                <a:cubicBezTo>
                  <a:pt x="143" y="70"/>
                  <a:pt x="143" y="70"/>
                  <a:pt x="143" y="70"/>
                </a:cubicBezTo>
                <a:cubicBezTo>
                  <a:pt x="143" y="70"/>
                  <a:pt x="143" y="70"/>
                  <a:pt x="143" y="70"/>
                </a:cubicBezTo>
                <a:cubicBezTo>
                  <a:pt x="143" y="70"/>
                  <a:pt x="143" y="70"/>
                  <a:pt x="143" y="70"/>
                </a:cubicBezTo>
                <a:cubicBezTo>
                  <a:pt x="143" y="70"/>
                  <a:pt x="142" y="70"/>
                  <a:pt x="142" y="70"/>
                </a:cubicBezTo>
                <a:cubicBezTo>
                  <a:pt x="142" y="70"/>
                  <a:pt x="142" y="70"/>
                  <a:pt x="142" y="70"/>
                </a:cubicBezTo>
                <a:cubicBezTo>
                  <a:pt x="142" y="70"/>
                  <a:pt x="142" y="70"/>
                  <a:pt x="142" y="70"/>
                </a:cubicBezTo>
                <a:cubicBezTo>
                  <a:pt x="142" y="70"/>
                  <a:pt x="141" y="70"/>
                  <a:pt x="141" y="70"/>
                </a:cubicBezTo>
                <a:cubicBezTo>
                  <a:pt x="141" y="70"/>
                  <a:pt x="141" y="70"/>
                  <a:pt x="141" y="70"/>
                </a:cubicBezTo>
                <a:cubicBezTo>
                  <a:pt x="141" y="70"/>
                  <a:pt x="141" y="70"/>
                  <a:pt x="141" y="71"/>
                </a:cubicBezTo>
                <a:cubicBezTo>
                  <a:pt x="140" y="71"/>
                  <a:pt x="140" y="71"/>
                  <a:pt x="140" y="71"/>
                </a:cubicBezTo>
                <a:cubicBezTo>
                  <a:pt x="140" y="71"/>
                  <a:pt x="140" y="71"/>
                  <a:pt x="140" y="71"/>
                </a:cubicBezTo>
                <a:cubicBezTo>
                  <a:pt x="140" y="71"/>
                  <a:pt x="139" y="71"/>
                  <a:pt x="139" y="71"/>
                </a:cubicBezTo>
                <a:cubicBezTo>
                  <a:pt x="139" y="71"/>
                  <a:pt x="139" y="71"/>
                  <a:pt x="139" y="70"/>
                </a:cubicBezTo>
                <a:cubicBezTo>
                  <a:pt x="139" y="70"/>
                  <a:pt x="139" y="70"/>
                  <a:pt x="139" y="70"/>
                </a:cubicBezTo>
                <a:cubicBezTo>
                  <a:pt x="139" y="70"/>
                  <a:pt x="138" y="70"/>
                  <a:pt x="138" y="70"/>
                </a:cubicBezTo>
                <a:cubicBezTo>
                  <a:pt x="138" y="70"/>
                  <a:pt x="138" y="70"/>
                  <a:pt x="138" y="70"/>
                </a:cubicBezTo>
                <a:cubicBezTo>
                  <a:pt x="138" y="70"/>
                  <a:pt x="138" y="70"/>
                  <a:pt x="138" y="70"/>
                </a:cubicBezTo>
                <a:cubicBezTo>
                  <a:pt x="137" y="70"/>
                  <a:pt x="137" y="69"/>
                  <a:pt x="137" y="68"/>
                </a:cubicBezTo>
                <a:cubicBezTo>
                  <a:pt x="137" y="68"/>
                  <a:pt x="137" y="68"/>
                  <a:pt x="137" y="68"/>
                </a:cubicBezTo>
                <a:cubicBezTo>
                  <a:pt x="137" y="68"/>
                  <a:pt x="137" y="67"/>
                  <a:pt x="137" y="67"/>
                </a:cubicBezTo>
                <a:cubicBezTo>
                  <a:pt x="137" y="67"/>
                  <a:pt x="137" y="67"/>
                  <a:pt x="137" y="66"/>
                </a:cubicBezTo>
                <a:cubicBezTo>
                  <a:pt x="137" y="66"/>
                  <a:pt x="137" y="66"/>
                  <a:pt x="137" y="66"/>
                </a:cubicBezTo>
                <a:cubicBezTo>
                  <a:pt x="137" y="66"/>
                  <a:pt x="137" y="65"/>
                  <a:pt x="137" y="65"/>
                </a:cubicBezTo>
                <a:cubicBezTo>
                  <a:pt x="137" y="65"/>
                  <a:pt x="137" y="65"/>
                  <a:pt x="137" y="65"/>
                </a:cubicBezTo>
                <a:cubicBezTo>
                  <a:pt x="137" y="65"/>
                  <a:pt x="138" y="65"/>
                  <a:pt x="138" y="65"/>
                </a:cubicBezTo>
                <a:cubicBezTo>
                  <a:pt x="138" y="65"/>
                  <a:pt x="138" y="64"/>
                  <a:pt x="138" y="64"/>
                </a:cubicBezTo>
                <a:cubicBezTo>
                  <a:pt x="138" y="64"/>
                  <a:pt x="138" y="64"/>
                  <a:pt x="138" y="64"/>
                </a:cubicBezTo>
                <a:cubicBezTo>
                  <a:pt x="139" y="64"/>
                  <a:pt x="139" y="64"/>
                  <a:pt x="139" y="64"/>
                </a:cubicBezTo>
                <a:cubicBezTo>
                  <a:pt x="139" y="64"/>
                  <a:pt x="139" y="64"/>
                  <a:pt x="139" y="64"/>
                </a:cubicBezTo>
                <a:cubicBezTo>
                  <a:pt x="139" y="64"/>
                  <a:pt x="141" y="62"/>
                  <a:pt x="141" y="62"/>
                </a:cubicBezTo>
                <a:cubicBezTo>
                  <a:pt x="141" y="62"/>
                  <a:pt x="141" y="62"/>
                  <a:pt x="142" y="62"/>
                </a:cubicBezTo>
                <a:cubicBezTo>
                  <a:pt x="142" y="62"/>
                  <a:pt x="142" y="62"/>
                  <a:pt x="142" y="61"/>
                </a:cubicBezTo>
                <a:cubicBezTo>
                  <a:pt x="142" y="61"/>
                  <a:pt x="141" y="61"/>
                  <a:pt x="141" y="61"/>
                </a:cubicBezTo>
                <a:cubicBezTo>
                  <a:pt x="141" y="61"/>
                  <a:pt x="142" y="61"/>
                  <a:pt x="141" y="61"/>
                </a:cubicBezTo>
                <a:cubicBezTo>
                  <a:pt x="141" y="60"/>
                  <a:pt x="141" y="60"/>
                  <a:pt x="141" y="60"/>
                </a:cubicBezTo>
                <a:cubicBezTo>
                  <a:pt x="141" y="60"/>
                  <a:pt x="141" y="60"/>
                  <a:pt x="140" y="60"/>
                </a:cubicBezTo>
                <a:cubicBezTo>
                  <a:pt x="140" y="60"/>
                  <a:pt x="139" y="60"/>
                  <a:pt x="139" y="60"/>
                </a:cubicBezTo>
                <a:cubicBezTo>
                  <a:pt x="139" y="60"/>
                  <a:pt x="139" y="60"/>
                  <a:pt x="138" y="60"/>
                </a:cubicBezTo>
                <a:cubicBezTo>
                  <a:pt x="138" y="60"/>
                  <a:pt x="138" y="60"/>
                  <a:pt x="138" y="61"/>
                </a:cubicBezTo>
                <a:cubicBezTo>
                  <a:pt x="137" y="61"/>
                  <a:pt x="137" y="61"/>
                  <a:pt x="137" y="61"/>
                </a:cubicBezTo>
                <a:cubicBezTo>
                  <a:pt x="137" y="61"/>
                  <a:pt x="137" y="61"/>
                  <a:pt x="137" y="61"/>
                </a:cubicBezTo>
                <a:cubicBezTo>
                  <a:pt x="137" y="62"/>
                  <a:pt x="137" y="62"/>
                  <a:pt x="136" y="62"/>
                </a:cubicBezTo>
                <a:cubicBezTo>
                  <a:pt x="136" y="62"/>
                  <a:pt x="136" y="62"/>
                  <a:pt x="137" y="62"/>
                </a:cubicBezTo>
                <a:cubicBezTo>
                  <a:pt x="137" y="62"/>
                  <a:pt x="137" y="62"/>
                  <a:pt x="137" y="63"/>
                </a:cubicBezTo>
                <a:cubicBezTo>
                  <a:pt x="137" y="63"/>
                  <a:pt x="137" y="63"/>
                  <a:pt x="137" y="63"/>
                </a:cubicBezTo>
                <a:cubicBezTo>
                  <a:pt x="137" y="63"/>
                  <a:pt x="136" y="63"/>
                  <a:pt x="136" y="64"/>
                </a:cubicBezTo>
                <a:cubicBezTo>
                  <a:pt x="136" y="64"/>
                  <a:pt x="135" y="64"/>
                  <a:pt x="135" y="64"/>
                </a:cubicBezTo>
                <a:cubicBezTo>
                  <a:pt x="135" y="64"/>
                  <a:pt x="135" y="64"/>
                  <a:pt x="135" y="64"/>
                </a:cubicBezTo>
                <a:cubicBezTo>
                  <a:pt x="134" y="64"/>
                  <a:pt x="134" y="65"/>
                  <a:pt x="134" y="65"/>
                </a:cubicBezTo>
                <a:cubicBezTo>
                  <a:pt x="134" y="65"/>
                  <a:pt x="134" y="65"/>
                  <a:pt x="133" y="66"/>
                </a:cubicBezTo>
                <a:cubicBezTo>
                  <a:pt x="133" y="66"/>
                  <a:pt x="133" y="66"/>
                  <a:pt x="133" y="66"/>
                </a:cubicBezTo>
                <a:cubicBezTo>
                  <a:pt x="133" y="66"/>
                  <a:pt x="133" y="66"/>
                  <a:pt x="133" y="66"/>
                </a:cubicBezTo>
                <a:cubicBezTo>
                  <a:pt x="133" y="66"/>
                  <a:pt x="133" y="66"/>
                  <a:pt x="133" y="66"/>
                </a:cubicBezTo>
                <a:cubicBezTo>
                  <a:pt x="133" y="66"/>
                  <a:pt x="132" y="66"/>
                  <a:pt x="132" y="66"/>
                </a:cubicBezTo>
                <a:cubicBezTo>
                  <a:pt x="132" y="67"/>
                  <a:pt x="133" y="67"/>
                  <a:pt x="132" y="68"/>
                </a:cubicBezTo>
                <a:cubicBezTo>
                  <a:pt x="132" y="68"/>
                  <a:pt x="132" y="68"/>
                  <a:pt x="132" y="68"/>
                </a:cubicBezTo>
                <a:cubicBezTo>
                  <a:pt x="132" y="68"/>
                  <a:pt x="132" y="69"/>
                  <a:pt x="132" y="69"/>
                </a:cubicBezTo>
                <a:cubicBezTo>
                  <a:pt x="132" y="69"/>
                  <a:pt x="132" y="69"/>
                  <a:pt x="132" y="69"/>
                </a:cubicBezTo>
                <a:cubicBezTo>
                  <a:pt x="132" y="69"/>
                  <a:pt x="133" y="69"/>
                  <a:pt x="133" y="69"/>
                </a:cubicBezTo>
                <a:cubicBezTo>
                  <a:pt x="133" y="69"/>
                  <a:pt x="133" y="69"/>
                  <a:pt x="133" y="69"/>
                </a:cubicBezTo>
                <a:cubicBezTo>
                  <a:pt x="133" y="70"/>
                  <a:pt x="133" y="70"/>
                  <a:pt x="134" y="70"/>
                </a:cubicBezTo>
                <a:cubicBezTo>
                  <a:pt x="134" y="71"/>
                  <a:pt x="134" y="71"/>
                  <a:pt x="134" y="71"/>
                </a:cubicBezTo>
                <a:cubicBezTo>
                  <a:pt x="134" y="71"/>
                  <a:pt x="134" y="71"/>
                  <a:pt x="134" y="71"/>
                </a:cubicBezTo>
                <a:cubicBezTo>
                  <a:pt x="134" y="71"/>
                  <a:pt x="133" y="72"/>
                  <a:pt x="133" y="72"/>
                </a:cubicBezTo>
                <a:cubicBezTo>
                  <a:pt x="133" y="71"/>
                  <a:pt x="131" y="71"/>
                  <a:pt x="131" y="71"/>
                </a:cubicBezTo>
                <a:cubicBezTo>
                  <a:pt x="131" y="71"/>
                  <a:pt x="131" y="71"/>
                  <a:pt x="131" y="71"/>
                </a:cubicBezTo>
                <a:cubicBezTo>
                  <a:pt x="131" y="71"/>
                  <a:pt x="131" y="71"/>
                  <a:pt x="131" y="71"/>
                </a:cubicBezTo>
                <a:cubicBezTo>
                  <a:pt x="132" y="71"/>
                  <a:pt x="132" y="72"/>
                  <a:pt x="132" y="72"/>
                </a:cubicBezTo>
                <a:cubicBezTo>
                  <a:pt x="133" y="72"/>
                  <a:pt x="133" y="71"/>
                  <a:pt x="134" y="72"/>
                </a:cubicBezTo>
                <a:cubicBezTo>
                  <a:pt x="134" y="72"/>
                  <a:pt x="134" y="72"/>
                  <a:pt x="134" y="72"/>
                </a:cubicBezTo>
                <a:cubicBezTo>
                  <a:pt x="134" y="72"/>
                  <a:pt x="134" y="72"/>
                  <a:pt x="134" y="72"/>
                </a:cubicBezTo>
                <a:cubicBezTo>
                  <a:pt x="134" y="72"/>
                  <a:pt x="134" y="72"/>
                  <a:pt x="134" y="72"/>
                </a:cubicBezTo>
                <a:cubicBezTo>
                  <a:pt x="134" y="72"/>
                  <a:pt x="134" y="72"/>
                  <a:pt x="134" y="72"/>
                </a:cubicBezTo>
                <a:cubicBezTo>
                  <a:pt x="134"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2" y="72"/>
                  <a:pt x="133" y="73"/>
                  <a:pt x="132" y="73"/>
                </a:cubicBezTo>
                <a:cubicBezTo>
                  <a:pt x="132" y="73"/>
                  <a:pt x="132" y="73"/>
                  <a:pt x="132" y="73"/>
                </a:cubicBezTo>
                <a:cubicBezTo>
                  <a:pt x="132" y="73"/>
                  <a:pt x="131" y="73"/>
                  <a:pt x="131" y="73"/>
                </a:cubicBezTo>
                <a:cubicBezTo>
                  <a:pt x="131" y="73"/>
                  <a:pt x="132" y="74"/>
                  <a:pt x="132" y="74"/>
                </a:cubicBezTo>
                <a:cubicBezTo>
                  <a:pt x="131" y="74"/>
                  <a:pt x="131" y="74"/>
                  <a:pt x="131" y="74"/>
                </a:cubicBezTo>
                <a:cubicBezTo>
                  <a:pt x="131" y="74"/>
                  <a:pt x="131" y="74"/>
                  <a:pt x="131" y="74"/>
                </a:cubicBezTo>
                <a:cubicBezTo>
                  <a:pt x="131" y="74"/>
                  <a:pt x="131" y="74"/>
                  <a:pt x="131" y="75"/>
                </a:cubicBezTo>
                <a:cubicBezTo>
                  <a:pt x="131" y="75"/>
                  <a:pt x="131" y="75"/>
                  <a:pt x="131" y="75"/>
                </a:cubicBezTo>
                <a:cubicBezTo>
                  <a:pt x="131" y="75"/>
                  <a:pt x="131" y="75"/>
                  <a:pt x="131" y="75"/>
                </a:cubicBezTo>
                <a:cubicBezTo>
                  <a:pt x="131" y="76"/>
                  <a:pt x="131" y="76"/>
                  <a:pt x="131" y="76"/>
                </a:cubicBezTo>
                <a:cubicBezTo>
                  <a:pt x="131" y="76"/>
                  <a:pt x="131" y="77"/>
                  <a:pt x="130" y="77"/>
                </a:cubicBezTo>
                <a:cubicBezTo>
                  <a:pt x="130" y="77"/>
                  <a:pt x="130" y="77"/>
                  <a:pt x="130" y="77"/>
                </a:cubicBezTo>
                <a:cubicBezTo>
                  <a:pt x="130" y="77"/>
                  <a:pt x="130" y="77"/>
                  <a:pt x="130" y="77"/>
                </a:cubicBezTo>
                <a:cubicBezTo>
                  <a:pt x="130" y="77"/>
                  <a:pt x="130" y="77"/>
                  <a:pt x="129" y="77"/>
                </a:cubicBezTo>
                <a:cubicBezTo>
                  <a:pt x="129" y="77"/>
                  <a:pt x="129" y="77"/>
                  <a:pt x="129" y="77"/>
                </a:cubicBezTo>
                <a:cubicBezTo>
                  <a:pt x="129" y="77"/>
                  <a:pt x="129" y="77"/>
                  <a:pt x="129" y="77"/>
                </a:cubicBezTo>
                <a:cubicBezTo>
                  <a:pt x="129" y="77"/>
                  <a:pt x="129" y="78"/>
                  <a:pt x="129" y="78"/>
                </a:cubicBezTo>
                <a:cubicBezTo>
                  <a:pt x="129" y="78"/>
                  <a:pt x="129" y="78"/>
                  <a:pt x="129" y="78"/>
                </a:cubicBezTo>
                <a:cubicBezTo>
                  <a:pt x="129" y="78"/>
                  <a:pt x="129" y="78"/>
                  <a:pt x="128" y="78"/>
                </a:cubicBezTo>
                <a:cubicBezTo>
                  <a:pt x="128" y="78"/>
                  <a:pt x="128" y="78"/>
                  <a:pt x="127" y="78"/>
                </a:cubicBezTo>
                <a:cubicBezTo>
                  <a:pt x="127" y="78"/>
                  <a:pt x="127" y="78"/>
                  <a:pt x="127" y="78"/>
                </a:cubicBezTo>
                <a:cubicBezTo>
                  <a:pt x="127" y="78"/>
                  <a:pt x="127" y="77"/>
                  <a:pt x="127" y="77"/>
                </a:cubicBezTo>
                <a:cubicBezTo>
                  <a:pt x="127" y="77"/>
                  <a:pt x="127" y="77"/>
                  <a:pt x="127" y="77"/>
                </a:cubicBezTo>
                <a:cubicBezTo>
                  <a:pt x="127" y="77"/>
                  <a:pt x="127" y="77"/>
                  <a:pt x="127" y="77"/>
                </a:cubicBezTo>
                <a:cubicBezTo>
                  <a:pt x="127" y="77"/>
                  <a:pt x="127" y="77"/>
                  <a:pt x="127" y="77"/>
                </a:cubicBezTo>
                <a:cubicBezTo>
                  <a:pt x="127" y="77"/>
                  <a:pt x="127" y="76"/>
                  <a:pt x="127" y="76"/>
                </a:cubicBezTo>
                <a:cubicBezTo>
                  <a:pt x="127" y="76"/>
                  <a:pt x="126" y="76"/>
                  <a:pt x="126" y="75"/>
                </a:cubicBezTo>
                <a:cubicBezTo>
                  <a:pt x="126" y="75"/>
                  <a:pt x="126" y="75"/>
                  <a:pt x="126" y="75"/>
                </a:cubicBezTo>
                <a:cubicBezTo>
                  <a:pt x="126" y="75"/>
                  <a:pt x="126" y="74"/>
                  <a:pt x="126" y="74"/>
                </a:cubicBezTo>
                <a:cubicBezTo>
                  <a:pt x="126" y="74"/>
                  <a:pt x="126" y="74"/>
                  <a:pt x="126" y="74"/>
                </a:cubicBezTo>
                <a:cubicBezTo>
                  <a:pt x="126" y="74"/>
                  <a:pt x="126" y="74"/>
                  <a:pt x="125" y="74"/>
                </a:cubicBezTo>
                <a:cubicBezTo>
                  <a:pt x="125" y="74"/>
                  <a:pt x="125" y="73"/>
                  <a:pt x="125" y="73"/>
                </a:cubicBezTo>
                <a:cubicBezTo>
                  <a:pt x="125" y="73"/>
                  <a:pt x="125" y="73"/>
                  <a:pt x="125" y="73"/>
                </a:cubicBezTo>
                <a:cubicBezTo>
                  <a:pt x="125" y="73"/>
                  <a:pt x="125" y="73"/>
                  <a:pt x="125" y="72"/>
                </a:cubicBezTo>
                <a:cubicBezTo>
                  <a:pt x="125" y="72"/>
                  <a:pt x="125" y="72"/>
                  <a:pt x="125" y="72"/>
                </a:cubicBezTo>
                <a:cubicBezTo>
                  <a:pt x="125" y="72"/>
                  <a:pt x="125" y="72"/>
                  <a:pt x="125" y="72"/>
                </a:cubicBezTo>
                <a:cubicBezTo>
                  <a:pt x="125" y="72"/>
                  <a:pt x="125" y="72"/>
                  <a:pt x="124" y="72"/>
                </a:cubicBezTo>
                <a:cubicBezTo>
                  <a:pt x="124" y="71"/>
                  <a:pt x="124" y="71"/>
                  <a:pt x="124" y="71"/>
                </a:cubicBezTo>
                <a:cubicBezTo>
                  <a:pt x="124" y="71"/>
                  <a:pt x="124" y="71"/>
                  <a:pt x="124" y="71"/>
                </a:cubicBezTo>
                <a:cubicBezTo>
                  <a:pt x="124" y="72"/>
                  <a:pt x="124" y="72"/>
                  <a:pt x="124" y="72"/>
                </a:cubicBezTo>
                <a:cubicBezTo>
                  <a:pt x="124" y="72"/>
                  <a:pt x="123" y="72"/>
                  <a:pt x="123" y="72"/>
                </a:cubicBezTo>
                <a:cubicBezTo>
                  <a:pt x="123" y="72"/>
                  <a:pt x="123" y="73"/>
                  <a:pt x="123" y="73"/>
                </a:cubicBezTo>
                <a:cubicBezTo>
                  <a:pt x="122" y="73"/>
                  <a:pt x="122" y="73"/>
                  <a:pt x="121" y="74"/>
                </a:cubicBezTo>
                <a:cubicBezTo>
                  <a:pt x="121" y="74"/>
                  <a:pt x="120" y="74"/>
                  <a:pt x="120" y="74"/>
                </a:cubicBezTo>
                <a:cubicBezTo>
                  <a:pt x="120" y="74"/>
                  <a:pt x="120" y="74"/>
                  <a:pt x="120" y="74"/>
                </a:cubicBezTo>
                <a:cubicBezTo>
                  <a:pt x="120" y="74"/>
                  <a:pt x="120" y="74"/>
                  <a:pt x="120" y="74"/>
                </a:cubicBezTo>
                <a:cubicBezTo>
                  <a:pt x="120" y="74"/>
                  <a:pt x="120" y="74"/>
                  <a:pt x="120" y="74"/>
                </a:cubicBezTo>
                <a:cubicBezTo>
                  <a:pt x="120" y="74"/>
                  <a:pt x="120" y="74"/>
                  <a:pt x="120" y="74"/>
                </a:cubicBezTo>
                <a:cubicBezTo>
                  <a:pt x="119" y="73"/>
                  <a:pt x="119" y="73"/>
                  <a:pt x="119" y="73"/>
                </a:cubicBezTo>
                <a:cubicBezTo>
                  <a:pt x="118" y="73"/>
                  <a:pt x="118" y="73"/>
                  <a:pt x="118" y="73"/>
                </a:cubicBezTo>
                <a:cubicBezTo>
                  <a:pt x="118" y="73"/>
                  <a:pt x="118" y="72"/>
                  <a:pt x="118" y="72"/>
                </a:cubicBezTo>
                <a:cubicBezTo>
                  <a:pt x="118" y="72"/>
                  <a:pt x="119" y="72"/>
                  <a:pt x="119" y="72"/>
                </a:cubicBezTo>
                <a:cubicBezTo>
                  <a:pt x="119" y="72"/>
                  <a:pt x="119" y="72"/>
                  <a:pt x="119" y="72"/>
                </a:cubicBezTo>
                <a:cubicBezTo>
                  <a:pt x="119" y="72"/>
                  <a:pt x="119" y="72"/>
                  <a:pt x="119" y="72"/>
                </a:cubicBezTo>
                <a:cubicBezTo>
                  <a:pt x="119" y="72"/>
                  <a:pt x="119" y="72"/>
                  <a:pt x="119" y="73"/>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1"/>
                  <a:pt x="119" y="71"/>
                </a:cubicBezTo>
                <a:cubicBezTo>
                  <a:pt x="119" y="71"/>
                  <a:pt x="119" y="72"/>
                  <a:pt x="119" y="72"/>
                </a:cubicBezTo>
                <a:cubicBezTo>
                  <a:pt x="119" y="72"/>
                  <a:pt x="119" y="72"/>
                  <a:pt x="119" y="72"/>
                </a:cubicBezTo>
                <a:cubicBezTo>
                  <a:pt x="119" y="71"/>
                  <a:pt x="119" y="71"/>
                  <a:pt x="119" y="71"/>
                </a:cubicBezTo>
                <a:cubicBezTo>
                  <a:pt x="119" y="71"/>
                  <a:pt x="119" y="72"/>
                  <a:pt x="119" y="72"/>
                </a:cubicBezTo>
                <a:cubicBezTo>
                  <a:pt x="119" y="72"/>
                  <a:pt x="118" y="72"/>
                  <a:pt x="118" y="72"/>
                </a:cubicBezTo>
                <a:cubicBezTo>
                  <a:pt x="118" y="72"/>
                  <a:pt x="118" y="72"/>
                  <a:pt x="118" y="72"/>
                </a:cubicBezTo>
                <a:cubicBezTo>
                  <a:pt x="118" y="72"/>
                  <a:pt x="118" y="72"/>
                  <a:pt x="118" y="72"/>
                </a:cubicBezTo>
                <a:cubicBezTo>
                  <a:pt x="118" y="72"/>
                  <a:pt x="118" y="72"/>
                  <a:pt x="118" y="72"/>
                </a:cubicBezTo>
                <a:cubicBezTo>
                  <a:pt x="118" y="72"/>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9" y="71"/>
                  <a:pt x="119" y="71"/>
                </a:cubicBezTo>
                <a:cubicBezTo>
                  <a:pt x="119" y="71"/>
                  <a:pt x="119" y="71"/>
                  <a:pt x="119" y="71"/>
                </a:cubicBezTo>
                <a:cubicBezTo>
                  <a:pt x="119" y="71"/>
                  <a:pt x="119" y="71"/>
                  <a:pt x="119" y="71"/>
                </a:cubicBezTo>
                <a:cubicBezTo>
                  <a:pt x="119" y="71"/>
                  <a:pt x="119" y="71"/>
                  <a:pt x="119" y="71"/>
                </a:cubicBezTo>
                <a:cubicBezTo>
                  <a:pt x="119" y="71"/>
                  <a:pt x="119" y="71"/>
                  <a:pt x="118" y="71"/>
                </a:cubicBezTo>
                <a:cubicBezTo>
                  <a:pt x="119" y="71"/>
                  <a:pt x="119" y="71"/>
                  <a:pt x="119" y="71"/>
                </a:cubicBezTo>
                <a:cubicBezTo>
                  <a:pt x="119" y="71"/>
                  <a:pt x="119" y="70"/>
                  <a:pt x="119" y="70"/>
                </a:cubicBezTo>
                <a:cubicBezTo>
                  <a:pt x="118" y="70"/>
                  <a:pt x="118" y="70"/>
                  <a:pt x="118" y="70"/>
                </a:cubicBezTo>
                <a:cubicBezTo>
                  <a:pt x="118" y="70"/>
                  <a:pt x="118" y="70"/>
                  <a:pt x="118" y="70"/>
                </a:cubicBezTo>
                <a:cubicBezTo>
                  <a:pt x="118" y="70"/>
                  <a:pt x="118" y="69"/>
                  <a:pt x="118" y="69"/>
                </a:cubicBezTo>
                <a:cubicBezTo>
                  <a:pt x="118" y="70"/>
                  <a:pt x="118" y="69"/>
                  <a:pt x="118" y="69"/>
                </a:cubicBezTo>
                <a:cubicBezTo>
                  <a:pt x="118" y="69"/>
                  <a:pt x="118" y="69"/>
                  <a:pt x="118" y="69"/>
                </a:cubicBezTo>
                <a:cubicBezTo>
                  <a:pt x="118" y="69"/>
                  <a:pt x="118" y="69"/>
                  <a:pt x="118" y="69"/>
                </a:cubicBezTo>
                <a:cubicBezTo>
                  <a:pt x="118" y="69"/>
                  <a:pt x="118" y="69"/>
                  <a:pt x="118" y="69"/>
                </a:cubicBezTo>
                <a:cubicBezTo>
                  <a:pt x="118" y="69"/>
                  <a:pt x="118" y="68"/>
                  <a:pt x="118" y="68"/>
                </a:cubicBezTo>
                <a:cubicBezTo>
                  <a:pt x="118" y="68"/>
                  <a:pt x="118" y="68"/>
                  <a:pt x="118" y="67"/>
                </a:cubicBezTo>
                <a:cubicBezTo>
                  <a:pt x="118" y="67"/>
                  <a:pt x="119" y="67"/>
                  <a:pt x="119" y="67"/>
                </a:cubicBezTo>
                <a:cubicBezTo>
                  <a:pt x="119" y="67"/>
                  <a:pt x="119" y="67"/>
                  <a:pt x="119" y="67"/>
                </a:cubicBezTo>
                <a:cubicBezTo>
                  <a:pt x="119" y="67"/>
                  <a:pt x="118" y="67"/>
                  <a:pt x="118" y="67"/>
                </a:cubicBezTo>
                <a:cubicBezTo>
                  <a:pt x="118" y="67"/>
                  <a:pt x="118" y="67"/>
                  <a:pt x="118" y="67"/>
                </a:cubicBezTo>
                <a:cubicBezTo>
                  <a:pt x="119" y="67"/>
                  <a:pt x="119" y="66"/>
                  <a:pt x="119" y="66"/>
                </a:cubicBezTo>
                <a:cubicBezTo>
                  <a:pt x="120" y="66"/>
                  <a:pt x="120" y="66"/>
                  <a:pt x="120" y="66"/>
                </a:cubicBezTo>
                <a:cubicBezTo>
                  <a:pt x="120" y="66"/>
                  <a:pt x="121" y="66"/>
                  <a:pt x="121" y="66"/>
                </a:cubicBezTo>
                <a:cubicBezTo>
                  <a:pt x="121" y="66"/>
                  <a:pt x="120" y="66"/>
                  <a:pt x="120" y="65"/>
                </a:cubicBezTo>
                <a:cubicBezTo>
                  <a:pt x="120" y="65"/>
                  <a:pt x="120" y="65"/>
                  <a:pt x="120" y="65"/>
                </a:cubicBezTo>
                <a:cubicBezTo>
                  <a:pt x="121" y="65"/>
                  <a:pt x="121" y="65"/>
                  <a:pt x="122" y="65"/>
                </a:cubicBezTo>
                <a:cubicBezTo>
                  <a:pt x="122" y="65"/>
                  <a:pt x="122" y="64"/>
                  <a:pt x="123" y="64"/>
                </a:cubicBezTo>
                <a:cubicBezTo>
                  <a:pt x="123" y="64"/>
                  <a:pt x="123" y="65"/>
                  <a:pt x="123" y="65"/>
                </a:cubicBezTo>
                <a:cubicBezTo>
                  <a:pt x="123" y="65"/>
                  <a:pt x="123" y="65"/>
                  <a:pt x="123" y="65"/>
                </a:cubicBezTo>
                <a:cubicBezTo>
                  <a:pt x="123" y="64"/>
                  <a:pt x="123" y="64"/>
                  <a:pt x="123" y="64"/>
                </a:cubicBezTo>
                <a:cubicBezTo>
                  <a:pt x="123" y="64"/>
                  <a:pt x="124" y="64"/>
                  <a:pt x="124" y="63"/>
                </a:cubicBezTo>
                <a:cubicBezTo>
                  <a:pt x="124" y="63"/>
                  <a:pt x="124" y="63"/>
                  <a:pt x="125" y="62"/>
                </a:cubicBezTo>
                <a:cubicBezTo>
                  <a:pt x="125" y="62"/>
                  <a:pt x="125" y="63"/>
                  <a:pt x="125" y="62"/>
                </a:cubicBezTo>
                <a:cubicBezTo>
                  <a:pt x="125" y="62"/>
                  <a:pt x="125" y="62"/>
                  <a:pt x="125" y="62"/>
                </a:cubicBezTo>
                <a:cubicBezTo>
                  <a:pt x="125" y="62"/>
                  <a:pt x="125" y="62"/>
                  <a:pt x="125" y="62"/>
                </a:cubicBezTo>
                <a:cubicBezTo>
                  <a:pt x="126" y="62"/>
                  <a:pt x="126" y="61"/>
                  <a:pt x="126" y="61"/>
                </a:cubicBezTo>
                <a:cubicBezTo>
                  <a:pt x="126" y="61"/>
                  <a:pt x="126" y="61"/>
                  <a:pt x="127" y="61"/>
                </a:cubicBezTo>
                <a:cubicBezTo>
                  <a:pt x="127" y="61"/>
                  <a:pt x="127" y="61"/>
                  <a:pt x="127" y="61"/>
                </a:cubicBezTo>
                <a:cubicBezTo>
                  <a:pt x="127" y="61"/>
                  <a:pt x="126" y="61"/>
                  <a:pt x="126" y="61"/>
                </a:cubicBezTo>
                <a:cubicBezTo>
                  <a:pt x="127" y="60"/>
                  <a:pt x="127" y="60"/>
                  <a:pt x="127" y="60"/>
                </a:cubicBezTo>
                <a:cubicBezTo>
                  <a:pt x="127" y="60"/>
                  <a:pt x="127" y="59"/>
                  <a:pt x="127" y="59"/>
                </a:cubicBezTo>
                <a:cubicBezTo>
                  <a:pt x="128" y="59"/>
                  <a:pt x="128" y="59"/>
                  <a:pt x="128" y="59"/>
                </a:cubicBezTo>
                <a:cubicBezTo>
                  <a:pt x="128" y="59"/>
                  <a:pt x="128" y="59"/>
                  <a:pt x="128" y="59"/>
                </a:cubicBezTo>
                <a:cubicBezTo>
                  <a:pt x="128" y="59"/>
                  <a:pt x="128" y="59"/>
                  <a:pt x="127" y="59"/>
                </a:cubicBezTo>
                <a:cubicBezTo>
                  <a:pt x="127" y="58"/>
                  <a:pt x="128" y="58"/>
                  <a:pt x="128" y="58"/>
                </a:cubicBezTo>
                <a:cubicBezTo>
                  <a:pt x="128" y="58"/>
                  <a:pt x="128" y="58"/>
                  <a:pt x="128" y="58"/>
                </a:cubicBezTo>
                <a:cubicBezTo>
                  <a:pt x="128" y="58"/>
                  <a:pt x="128" y="58"/>
                  <a:pt x="128" y="58"/>
                </a:cubicBezTo>
                <a:cubicBezTo>
                  <a:pt x="128" y="58"/>
                  <a:pt x="128" y="58"/>
                  <a:pt x="128" y="58"/>
                </a:cubicBezTo>
                <a:cubicBezTo>
                  <a:pt x="128" y="58"/>
                  <a:pt x="128" y="58"/>
                  <a:pt x="128" y="58"/>
                </a:cubicBezTo>
                <a:cubicBezTo>
                  <a:pt x="128" y="57"/>
                  <a:pt x="129" y="57"/>
                  <a:pt x="129" y="57"/>
                </a:cubicBezTo>
                <a:cubicBezTo>
                  <a:pt x="129" y="57"/>
                  <a:pt x="129" y="57"/>
                  <a:pt x="129" y="57"/>
                </a:cubicBezTo>
                <a:cubicBezTo>
                  <a:pt x="129" y="57"/>
                  <a:pt x="129" y="57"/>
                  <a:pt x="129" y="56"/>
                </a:cubicBezTo>
                <a:cubicBezTo>
                  <a:pt x="130" y="56"/>
                  <a:pt x="130" y="57"/>
                  <a:pt x="130" y="57"/>
                </a:cubicBezTo>
                <a:cubicBezTo>
                  <a:pt x="130" y="56"/>
                  <a:pt x="130" y="56"/>
                  <a:pt x="130" y="56"/>
                </a:cubicBezTo>
                <a:cubicBezTo>
                  <a:pt x="130" y="56"/>
                  <a:pt x="130" y="56"/>
                  <a:pt x="130" y="56"/>
                </a:cubicBezTo>
                <a:cubicBezTo>
                  <a:pt x="130" y="56"/>
                  <a:pt x="130" y="56"/>
                  <a:pt x="130" y="56"/>
                </a:cubicBezTo>
                <a:cubicBezTo>
                  <a:pt x="130" y="56"/>
                  <a:pt x="131" y="55"/>
                  <a:pt x="131" y="55"/>
                </a:cubicBezTo>
                <a:cubicBezTo>
                  <a:pt x="131" y="55"/>
                  <a:pt x="131" y="55"/>
                  <a:pt x="131" y="55"/>
                </a:cubicBezTo>
                <a:cubicBezTo>
                  <a:pt x="131" y="56"/>
                  <a:pt x="131" y="56"/>
                  <a:pt x="131" y="56"/>
                </a:cubicBezTo>
                <a:cubicBezTo>
                  <a:pt x="131" y="56"/>
                  <a:pt x="131" y="56"/>
                  <a:pt x="131" y="56"/>
                </a:cubicBezTo>
                <a:cubicBezTo>
                  <a:pt x="131" y="56"/>
                  <a:pt x="131" y="56"/>
                  <a:pt x="131" y="55"/>
                </a:cubicBezTo>
                <a:cubicBezTo>
                  <a:pt x="131" y="55"/>
                  <a:pt x="131" y="55"/>
                  <a:pt x="131" y="55"/>
                </a:cubicBezTo>
                <a:cubicBezTo>
                  <a:pt x="132" y="55"/>
                  <a:pt x="132" y="55"/>
                  <a:pt x="132" y="55"/>
                </a:cubicBezTo>
                <a:cubicBezTo>
                  <a:pt x="132" y="55"/>
                  <a:pt x="132" y="55"/>
                  <a:pt x="132" y="55"/>
                </a:cubicBezTo>
                <a:cubicBezTo>
                  <a:pt x="132" y="55"/>
                  <a:pt x="132" y="55"/>
                  <a:pt x="132" y="54"/>
                </a:cubicBezTo>
                <a:cubicBezTo>
                  <a:pt x="132" y="54"/>
                  <a:pt x="132" y="54"/>
                  <a:pt x="132" y="54"/>
                </a:cubicBezTo>
                <a:cubicBezTo>
                  <a:pt x="132" y="54"/>
                  <a:pt x="132" y="54"/>
                  <a:pt x="133" y="54"/>
                </a:cubicBezTo>
                <a:cubicBezTo>
                  <a:pt x="133" y="53"/>
                  <a:pt x="133" y="54"/>
                  <a:pt x="133" y="53"/>
                </a:cubicBezTo>
                <a:cubicBezTo>
                  <a:pt x="133" y="53"/>
                  <a:pt x="134" y="53"/>
                  <a:pt x="134" y="53"/>
                </a:cubicBezTo>
                <a:cubicBezTo>
                  <a:pt x="134" y="53"/>
                  <a:pt x="134" y="53"/>
                  <a:pt x="135" y="53"/>
                </a:cubicBezTo>
                <a:cubicBezTo>
                  <a:pt x="135" y="53"/>
                  <a:pt x="135" y="52"/>
                  <a:pt x="136" y="52"/>
                </a:cubicBezTo>
                <a:cubicBezTo>
                  <a:pt x="136" y="52"/>
                  <a:pt x="136" y="52"/>
                  <a:pt x="136" y="52"/>
                </a:cubicBezTo>
                <a:cubicBezTo>
                  <a:pt x="136" y="52"/>
                  <a:pt x="136" y="52"/>
                  <a:pt x="136" y="52"/>
                </a:cubicBezTo>
                <a:cubicBezTo>
                  <a:pt x="136" y="52"/>
                  <a:pt x="136" y="53"/>
                  <a:pt x="136" y="53"/>
                </a:cubicBezTo>
                <a:cubicBezTo>
                  <a:pt x="136" y="53"/>
                  <a:pt x="136" y="52"/>
                  <a:pt x="136" y="52"/>
                </a:cubicBezTo>
                <a:cubicBezTo>
                  <a:pt x="137" y="52"/>
                  <a:pt x="137" y="52"/>
                  <a:pt x="137" y="51"/>
                </a:cubicBezTo>
                <a:cubicBezTo>
                  <a:pt x="137" y="51"/>
                  <a:pt x="137" y="51"/>
                  <a:pt x="137" y="51"/>
                </a:cubicBezTo>
                <a:cubicBezTo>
                  <a:pt x="137" y="52"/>
                  <a:pt x="137" y="52"/>
                  <a:pt x="138" y="52"/>
                </a:cubicBezTo>
                <a:cubicBezTo>
                  <a:pt x="138" y="50"/>
                  <a:pt x="138" y="51"/>
                  <a:pt x="139" y="51"/>
                </a:cubicBezTo>
                <a:cubicBezTo>
                  <a:pt x="139" y="51"/>
                  <a:pt x="140" y="51"/>
                  <a:pt x="140" y="50"/>
                </a:cubicBezTo>
                <a:cubicBezTo>
                  <a:pt x="140" y="50"/>
                  <a:pt x="140" y="50"/>
                  <a:pt x="140" y="50"/>
                </a:cubicBezTo>
                <a:cubicBezTo>
                  <a:pt x="141" y="50"/>
                  <a:pt x="141" y="49"/>
                  <a:pt x="142" y="50"/>
                </a:cubicBezTo>
                <a:cubicBezTo>
                  <a:pt x="142" y="50"/>
                  <a:pt x="141" y="50"/>
                  <a:pt x="141" y="51"/>
                </a:cubicBezTo>
                <a:cubicBezTo>
                  <a:pt x="141" y="51"/>
                  <a:pt x="141" y="51"/>
                  <a:pt x="142" y="51"/>
                </a:cubicBezTo>
                <a:cubicBezTo>
                  <a:pt x="142" y="51"/>
                  <a:pt x="143" y="50"/>
                  <a:pt x="143" y="49"/>
                </a:cubicBezTo>
                <a:cubicBezTo>
                  <a:pt x="143" y="50"/>
                  <a:pt x="143" y="50"/>
                  <a:pt x="143" y="51"/>
                </a:cubicBezTo>
                <a:cubicBezTo>
                  <a:pt x="144" y="50"/>
                  <a:pt x="144" y="50"/>
                  <a:pt x="144" y="49"/>
                </a:cubicBezTo>
                <a:cubicBezTo>
                  <a:pt x="144" y="49"/>
                  <a:pt x="145" y="49"/>
                  <a:pt x="145" y="49"/>
                </a:cubicBezTo>
                <a:cubicBezTo>
                  <a:pt x="145" y="50"/>
                  <a:pt x="145" y="50"/>
                  <a:pt x="145" y="51"/>
                </a:cubicBezTo>
                <a:cubicBezTo>
                  <a:pt x="145" y="51"/>
                  <a:pt x="145" y="51"/>
                  <a:pt x="145" y="51"/>
                </a:cubicBezTo>
                <a:cubicBezTo>
                  <a:pt x="145" y="50"/>
                  <a:pt x="145" y="50"/>
                  <a:pt x="146" y="50"/>
                </a:cubicBezTo>
                <a:cubicBezTo>
                  <a:pt x="146" y="50"/>
                  <a:pt x="146" y="50"/>
                  <a:pt x="147" y="50"/>
                </a:cubicBezTo>
                <a:cubicBezTo>
                  <a:pt x="147" y="50"/>
                  <a:pt x="147" y="50"/>
                  <a:pt x="148" y="50"/>
                </a:cubicBezTo>
                <a:cubicBezTo>
                  <a:pt x="148" y="50"/>
                  <a:pt x="148" y="50"/>
                  <a:pt x="148" y="50"/>
                </a:cubicBezTo>
                <a:cubicBezTo>
                  <a:pt x="148" y="51"/>
                  <a:pt x="148" y="51"/>
                  <a:pt x="148" y="51"/>
                </a:cubicBezTo>
                <a:cubicBezTo>
                  <a:pt x="147" y="51"/>
                  <a:pt x="147" y="51"/>
                  <a:pt x="146" y="51"/>
                </a:cubicBezTo>
                <a:cubicBezTo>
                  <a:pt x="146" y="52"/>
                  <a:pt x="146" y="52"/>
                  <a:pt x="147" y="52"/>
                </a:cubicBezTo>
                <a:cubicBezTo>
                  <a:pt x="147" y="52"/>
                  <a:pt x="148" y="52"/>
                  <a:pt x="148" y="52"/>
                </a:cubicBezTo>
                <a:cubicBezTo>
                  <a:pt x="148" y="52"/>
                  <a:pt x="149" y="52"/>
                  <a:pt x="149" y="52"/>
                </a:cubicBezTo>
                <a:cubicBezTo>
                  <a:pt x="149" y="52"/>
                  <a:pt x="149" y="52"/>
                  <a:pt x="150" y="52"/>
                </a:cubicBezTo>
                <a:cubicBezTo>
                  <a:pt x="150" y="52"/>
                  <a:pt x="150" y="53"/>
                  <a:pt x="151" y="53"/>
                </a:cubicBezTo>
                <a:cubicBezTo>
                  <a:pt x="151" y="53"/>
                  <a:pt x="151" y="53"/>
                  <a:pt x="151" y="53"/>
                </a:cubicBezTo>
                <a:cubicBezTo>
                  <a:pt x="151" y="53"/>
                  <a:pt x="151" y="53"/>
                  <a:pt x="151" y="53"/>
                </a:cubicBezTo>
                <a:cubicBezTo>
                  <a:pt x="152" y="53"/>
                  <a:pt x="153" y="53"/>
                  <a:pt x="153" y="53"/>
                </a:cubicBezTo>
                <a:cubicBezTo>
                  <a:pt x="154" y="53"/>
                  <a:pt x="154" y="53"/>
                  <a:pt x="155" y="54"/>
                </a:cubicBezTo>
                <a:cubicBezTo>
                  <a:pt x="155" y="54"/>
                  <a:pt x="155" y="54"/>
                  <a:pt x="156" y="54"/>
                </a:cubicBezTo>
                <a:cubicBezTo>
                  <a:pt x="156" y="54"/>
                  <a:pt x="157" y="55"/>
                  <a:pt x="157" y="55"/>
                </a:cubicBezTo>
                <a:cubicBezTo>
                  <a:pt x="158" y="55"/>
                  <a:pt x="158" y="55"/>
                  <a:pt x="159" y="55"/>
                </a:cubicBezTo>
                <a:cubicBezTo>
                  <a:pt x="159" y="56"/>
                  <a:pt x="160" y="56"/>
                  <a:pt x="160" y="56"/>
                </a:cubicBezTo>
                <a:cubicBezTo>
                  <a:pt x="160" y="57"/>
                  <a:pt x="160" y="57"/>
                  <a:pt x="160" y="57"/>
                </a:cubicBezTo>
                <a:cubicBezTo>
                  <a:pt x="160" y="58"/>
                  <a:pt x="160" y="58"/>
                  <a:pt x="159" y="59"/>
                </a:cubicBezTo>
                <a:cubicBezTo>
                  <a:pt x="157" y="60"/>
                  <a:pt x="154" y="59"/>
                  <a:pt x="152" y="58"/>
                </a:cubicBezTo>
                <a:cubicBezTo>
                  <a:pt x="152" y="58"/>
                  <a:pt x="151" y="58"/>
                  <a:pt x="151" y="58"/>
                </a:cubicBezTo>
                <a:cubicBezTo>
                  <a:pt x="151" y="58"/>
                  <a:pt x="151" y="57"/>
                  <a:pt x="150" y="57"/>
                </a:cubicBezTo>
                <a:cubicBezTo>
                  <a:pt x="150" y="58"/>
                  <a:pt x="151" y="58"/>
                  <a:pt x="151" y="59"/>
                </a:cubicBezTo>
                <a:cubicBezTo>
                  <a:pt x="151" y="59"/>
                  <a:pt x="152" y="59"/>
                  <a:pt x="152" y="59"/>
                </a:cubicBezTo>
                <a:cubicBezTo>
                  <a:pt x="153" y="60"/>
                  <a:pt x="153" y="60"/>
                  <a:pt x="152" y="60"/>
                </a:cubicBezTo>
                <a:cubicBezTo>
                  <a:pt x="152" y="61"/>
                  <a:pt x="153" y="62"/>
                  <a:pt x="153" y="63"/>
                </a:cubicBezTo>
                <a:cubicBezTo>
                  <a:pt x="153" y="63"/>
                  <a:pt x="154" y="63"/>
                  <a:pt x="154" y="63"/>
                </a:cubicBezTo>
                <a:cubicBezTo>
                  <a:pt x="154" y="63"/>
                  <a:pt x="154" y="63"/>
                  <a:pt x="154" y="63"/>
                </a:cubicBezTo>
                <a:cubicBezTo>
                  <a:pt x="155" y="63"/>
                  <a:pt x="155" y="63"/>
                  <a:pt x="155" y="63"/>
                </a:cubicBezTo>
                <a:cubicBezTo>
                  <a:pt x="156" y="64"/>
                  <a:pt x="157" y="64"/>
                  <a:pt x="156" y="63"/>
                </a:cubicBezTo>
                <a:cubicBezTo>
                  <a:pt x="156" y="63"/>
                  <a:pt x="156" y="63"/>
                  <a:pt x="156" y="63"/>
                </a:cubicBezTo>
                <a:cubicBezTo>
                  <a:pt x="155" y="62"/>
                  <a:pt x="155" y="62"/>
                  <a:pt x="155" y="62"/>
                </a:cubicBezTo>
                <a:cubicBezTo>
                  <a:pt x="155" y="61"/>
                  <a:pt x="155" y="61"/>
                  <a:pt x="155" y="61"/>
                </a:cubicBezTo>
                <a:cubicBezTo>
                  <a:pt x="156" y="62"/>
                  <a:pt x="157" y="62"/>
                  <a:pt x="158" y="62"/>
                </a:cubicBezTo>
                <a:cubicBezTo>
                  <a:pt x="158" y="62"/>
                  <a:pt x="158" y="62"/>
                  <a:pt x="159" y="62"/>
                </a:cubicBezTo>
                <a:cubicBezTo>
                  <a:pt x="159" y="62"/>
                  <a:pt x="159" y="62"/>
                  <a:pt x="159" y="62"/>
                </a:cubicBezTo>
                <a:cubicBezTo>
                  <a:pt x="160" y="61"/>
                  <a:pt x="159" y="61"/>
                  <a:pt x="159" y="60"/>
                </a:cubicBezTo>
                <a:cubicBezTo>
                  <a:pt x="159" y="59"/>
                  <a:pt x="161" y="60"/>
                  <a:pt x="161" y="59"/>
                </a:cubicBezTo>
                <a:cubicBezTo>
                  <a:pt x="162" y="58"/>
                  <a:pt x="163" y="59"/>
                  <a:pt x="163" y="59"/>
                </a:cubicBezTo>
                <a:cubicBezTo>
                  <a:pt x="163" y="59"/>
                  <a:pt x="163" y="59"/>
                  <a:pt x="163" y="59"/>
                </a:cubicBezTo>
                <a:cubicBezTo>
                  <a:pt x="163" y="59"/>
                  <a:pt x="164" y="59"/>
                  <a:pt x="164" y="59"/>
                </a:cubicBezTo>
                <a:cubicBezTo>
                  <a:pt x="164" y="58"/>
                  <a:pt x="164" y="58"/>
                  <a:pt x="164" y="57"/>
                </a:cubicBezTo>
                <a:cubicBezTo>
                  <a:pt x="163" y="57"/>
                  <a:pt x="163" y="57"/>
                  <a:pt x="163" y="57"/>
                </a:cubicBezTo>
                <a:cubicBezTo>
                  <a:pt x="163" y="57"/>
                  <a:pt x="163" y="57"/>
                  <a:pt x="163" y="57"/>
                </a:cubicBezTo>
                <a:cubicBezTo>
                  <a:pt x="163" y="56"/>
                  <a:pt x="164" y="56"/>
                  <a:pt x="164" y="56"/>
                </a:cubicBezTo>
                <a:cubicBezTo>
                  <a:pt x="164" y="55"/>
                  <a:pt x="163" y="55"/>
                  <a:pt x="163" y="54"/>
                </a:cubicBezTo>
                <a:cubicBezTo>
                  <a:pt x="164" y="54"/>
                  <a:pt x="164" y="55"/>
                  <a:pt x="164" y="55"/>
                </a:cubicBezTo>
                <a:cubicBezTo>
                  <a:pt x="164" y="55"/>
                  <a:pt x="165" y="55"/>
                  <a:pt x="165" y="54"/>
                </a:cubicBezTo>
                <a:cubicBezTo>
                  <a:pt x="166" y="55"/>
                  <a:pt x="166" y="56"/>
                  <a:pt x="166" y="56"/>
                </a:cubicBezTo>
                <a:cubicBezTo>
                  <a:pt x="166" y="56"/>
                  <a:pt x="165" y="56"/>
                  <a:pt x="164" y="57"/>
                </a:cubicBezTo>
                <a:cubicBezTo>
                  <a:pt x="165" y="57"/>
                  <a:pt x="166" y="58"/>
                  <a:pt x="167" y="58"/>
                </a:cubicBezTo>
                <a:cubicBezTo>
                  <a:pt x="167" y="58"/>
                  <a:pt x="167" y="58"/>
                  <a:pt x="168" y="58"/>
                </a:cubicBezTo>
                <a:cubicBezTo>
                  <a:pt x="168" y="57"/>
                  <a:pt x="168" y="57"/>
                  <a:pt x="168" y="56"/>
                </a:cubicBezTo>
                <a:cubicBezTo>
                  <a:pt x="168" y="56"/>
                  <a:pt x="169" y="56"/>
                  <a:pt x="169" y="56"/>
                </a:cubicBezTo>
                <a:cubicBezTo>
                  <a:pt x="170" y="56"/>
                  <a:pt x="171" y="55"/>
                  <a:pt x="171" y="55"/>
                </a:cubicBezTo>
                <a:cubicBezTo>
                  <a:pt x="172" y="55"/>
                  <a:pt x="173" y="55"/>
                  <a:pt x="173" y="54"/>
                </a:cubicBezTo>
                <a:cubicBezTo>
                  <a:pt x="173" y="54"/>
                  <a:pt x="173" y="55"/>
                  <a:pt x="173" y="55"/>
                </a:cubicBezTo>
                <a:cubicBezTo>
                  <a:pt x="173" y="55"/>
                  <a:pt x="173" y="55"/>
                  <a:pt x="173" y="55"/>
                </a:cubicBezTo>
                <a:cubicBezTo>
                  <a:pt x="174" y="55"/>
                  <a:pt x="173" y="54"/>
                  <a:pt x="175" y="54"/>
                </a:cubicBezTo>
                <a:cubicBezTo>
                  <a:pt x="175" y="54"/>
                  <a:pt x="175" y="54"/>
                  <a:pt x="175" y="55"/>
                </a:cubicBezTo>
                <a:cubicBezTo>
                  <a:pt x="175" y="55"/>
                  <a:pt x="175" y="55"/>
                  <a:pt x="174" y="55"/>
                </a:cubicBezTo>
                <a:cubicBezTo>
                  <a:pt x="174" y="55"/>
                  <a:pt x="174" y="55"/>
                  <a:pt x="174" y="55"/>
                </a:cubicBezTo>
                <a:cubicBezTo>
                  <a:pt x="175" y="55"/>
                  <a:pt x="175" y="55"/>
                  <a:pt x="176" y="55"/>
                </a:cubicBezTo>
                <a:cubicBezTo>
                  <a:pt x="176" y="55"/>
                  <a:pt x="176" y="55"/>
                  <a:pt x="176" y="55"/>
                </a:cubicBezTo>
                <a:cubicBezTo>
                  <a:pt x="176" y="55"/>
                  <a:pt x="176" y="55"/>
                  <a:pt x="177" y="54"/>
                </a:cubicBezTo>
                <a:cubicBezTo>
                  <a:pt x="177" y="54"/>
                  <a:pt x="178" y="54"/>
                  <a:pt x="178" y="54"/>
                </a:cubicBezTo>
                <a:cubicBezTo>
                  <a:pt x="178" y="54"/>
                  <a:pt x="179" y="55"/>
                  <a:pt x="179" y="54"/>
                </a:cubicBezTo>
                <a:cubicBezTo>
                  <a:pt x="179" y="54"/>
                  <a:pt x="179" y="54"/>
                  <a:pt x="180" y="54"/>
                </a:cubicBezTo>
                <a:cubicBezTo>
                  <a:pt x="180" y="54"/>
                  <a:pt x="181" y="54"/>
                  <a:pt x="181" y="54"/>
                </a:cubicBezTo>
                <a:cubicBezTo>
                  <a:pt x="181" y="54"/>
                  <a:pt x="181" y="54"/>
                  <a:pt x="181" y="54"/>
                </a:cubicBezTo>
                <a:cubicBezTo>
                  <a:pt x="181" y="55"/>
                  <a:pt x="181" y="55"/>
                  <a:pt x="182" y="55"/>
                </a:cubicBezTo>
                <a:cubicBezTo>
                  <a:pt x="182" y="55"/>
                  <a:pt x="182" y="54"/>
                  <a:pt x="182" y="54"/>
                </a:cubicBezTo>
                <a:cubicBezTo>
                  <a:pt x="183" y="54"/>
                  <a:pt x="183" y="54"/>
                  <a:pt x="183" y="53"/>
                </a:cubicBezTo>
                <a:cubicBezTo>
                  <a:pt x="183" y="53"/>
                  <a:pt x="183" y="53"/>
                  <a:pt x="183" y="52"/>
                </a:cubicBezTo>
                <a:cubicBezTo>
                  <a:pt x="183" y="52"/>
                  <a:pt x="183" y="52"/>
                  <a:pt x="183" y="52"/>
                </a:cubicBezTo>
                <a:cubicBezTo>
                  <a:pt x="183" y="52"/>
                  <a:pt x="183" y="52"/>
                  <a:pt x="183" y="52"/>
                </a:cubicBezTo>
                <a:cubicBezTo>
                  <a:pt x="184" y="52"/>
                  <a:pt x="185" y="52"/>
                  <a:pt x="186" y="52"/>
                </a:cubicBezTo>
                <a:cubicBezTo>
                  <a:pt x="188" y="53"/>
                  <a:pt x="190" y="54"/>
                  <a:pt x="192" y="55"/>
                </a:cubicBezTo>
                <a:cubicBezTo>
                  <a:pt x="192" y="55"/>
                  <a:pt x="192" y="55"/>
                  <a:pt x="192" y="55"/>
                </a:cubicBezTo>
                <a:cubicBezTo>
                  <a:pt x="192" y="55"/>
                  <a:pt x="193" y="54"/>
                  <a:pt x="193" y="54"/>
                </a:cubicBezTo>
                <a:cubicBezTo>
                  <a:pt x="192" y="54"/>
                  <a:pt x="192" y="54"/>
                  <a:pt x="192" y="53"/>
                </a:cubicBezTo>
                <a:cubicBezTo>
                  <a:pt x="191" y="53"/>
                  <a:pt x="192" y="53"/>
                  <a:pt x="192" y="52"/>
                </a:cubicBezTo>
                <a:cubicBezTo>
                  <a:pt x="191" y="52"/>
                  <a:pt x="190" y="52"/>
                  <a:pt x="190" y="52"/>
                </a:cubicBezTo>
                <a:cubicBezTo>
                  <a:pt x="190" y="51"/>
                  <a:pt x="191" y="51"/>
                  <a:pt x="191" y="50"/>
                </a:cubicBezTo>
                <a:cubicBezTo>
                  <a:pt x="190" y="50"/>
                  <a:pt x="190" y="50"/>
                  <a:pt x="190" y="50"/>
                </a:cubicBezTo>
                <a:cubicBezTo>
                  <a:pt x="190" y="49"/>
                  <a:pt x="191" y="48"/>
                  <a:pt x="192" y="48"/>
                </a:cubicBezTo>
                <a:cubicBezTo>
                  <a:pt x="192" y="47"/>
                  <a:pt x="192" y="47"/>
                  <a:pt x="192" y="47"/>
                </a:cubicBezTo>
                <a:cubicBezTo>
                  <a:pt x="192" y="47"/>
                  <a:pt x="192" y="47"/>
                  <a:pt x="192" y="46"/>
                </a:cubicBezTo>
                <a:cubicBezTo>
                  <a:pt x="189" y="44"/>
                  <a:pt x="186" y="42"/>
                  <a:pt x="183" y="40"/>
                </a:cubicBezTo>
                <a:cubicBezTo>
                  <a:pt x="183" y="40"/>
                  <a:pt x="183" y="40"/>
                  <a:pt x="183" y="40"/>
                </a:cubicBezTo>
                <a:cubicBezTo>
                  <a:pt x="183" y="40"/>
                  <a:pt x="183" y="40"/>
                  <a:pt x="183" y="40"/>
                </a:cubicBezTo>
                <a:cubicBezTo>
                  <a:pt x="183" y="40"/>
                  <a:pt x="183" y="41"/>
                  <a:pt x="183" y="41"/>
                </a:cubicBezTo>
                <a:cubicBezTo>
                  <a:pt x="182" y="41"/>
                  <a:pt x="182" y="41"/>
                  <a:pt x="182" y="41"/>
                </a:cubicBezTo>
                <a:cubicBezTo>
                  <a:pt x="182" y="41"/>
                  <a:pt x="181" y="41"/>
                  <a:pt x="181" y="41"/>
                </a:cubicBezTo>
                <a:cubicBezTo>
                  <a:pt x="181" y="41"/>
                  <a:pt x="181" y="41"/>
                  <a:pt x="181" y="41"/>
                </a:cubicBezTo>
                <a:cubicBezTo>
                  <a:pt x="181" y="41"/>
                  <a:pt x="180" y="41"/>
                  <a:pt x="181" y="41"/>
                </a:cubicBezTo>
                <a:cubicBezTo>
                  <a:pt x="181" y="41"/>
                  <a:pt x="181" y="42"/>
                  <a:pt x="181" y="42"/>
                </a:cubicBezTo>
                <a:cubicBezTo>
                  <a:pt x="181" y="42"/>
                  <a:pt x="181" y="42"/>
                  <a:pt x="181" y="42"/>
                </a:cubicBezTo>
                <a:cubicBezTo>
                  <a:pt x="181" y="42"/>
                  <a:pt x="180" y="42"/>
                  <a:pt x="180" y="42"/>
                </a:cubicBezTo>
                <a:cubicBezTo>
                  <a:pt x="180" y="42"/>
                  <a:pt x="180" y="42"/>
                  <a:pt x="179" y="42"/>
                </a:cubicBezTo>
                <a:cubicBezTo>
                  <a:pt x="179" y="42"/>
                  <a:pt x="179" y="42"/>
                  <a:pt x="179" y="42"/>
                </a:cubicBezTo>
                <a:cubicBezTo>
                  <a:pt x="179" y="42"/>
                  <a:pt x="179" y="42"/>
                  <a:pt x="179" y="43"/>
                </a:cubicBezTo>
                <a:cubicBezTo>
                  <a:pt x="179" y="43"/>
                  <a:pt x="179" y="43"/>
                  <a:pt x="180" y="43"/>
                </a:cubicBezTo>
                <a:cubicBezTo>
                  <a:pt x="180" y="43"/>
                  <a:pt x="180" y="43"/>
                  <a:pt x="180" y="43"/>
                </a:cubicBezTo>
                <a:cubicBezTo>
                  <a:pt x="179" y="43"/>
                  <a:pt x="179" y="44"/>
                  <a:pt x="179" y="44"/>
                </a:cubicBezTo>
                <a:cubicBezTo>
                  <a:pt x="178" y="44"/>
                  <a:pt x="178" y="44"/>
                  <a:pt x="177" y="44"/>
                </a:cubicBezTo>
                <a:cubicBezTo>
                  <a:pt x="176" y="43"/>
                  <a:pt x="176" y="44"/>
                  <a:pt x="175" y="43"/>
                </a:cubicBezTo>
                <a:cubicBezTo>
                  <a:pt x="175" y="43"/>
                  <a:pt x="175" y="43"/>
                  <a:pt x="175" y="43"/>
                </a:cubicBezTo>
                <a:cubicBezTo>
                  <a:pt x="176" y="43"/>
                  <a:pt x="176" y="42"/>
                  <a:pt x="177" y="42"/>
                </a:cubicBezTo>
                <a:cubicBezTo>
                  <a:pt x="177" y="42"/>
                  <a:pt x="177" y="42"/>
                  <a:pt x="177" y="42"/>
                </a:cubicBezTo>
                <a:cubicBezTo>
                  <a:pt x="177" y="42"/>
                  <a:pt x="177" y="42"/>
                  <a:pt x="177" y="42"/>
                </a:cubicBezTo>
                <a:cubicBezTo>
                  <a:pt x="177" y="42"/>
                  <a:pt x="177" y="42"/>
                  <a:pt x="177" y="42"/>
                </a:cubicBezTo>
                <a:cubicBezTo>
                  <a:pt x="177" y="41"/>
                  <a:pt x="178" y="41"/>
                  <a:pt x="178" y="41"/>
                </a:cubicBezTo>
                <a:cubicBezTo>
                  <a:pt x="178" y="41"/>
                  <a:pt x="178" y="41"/>
                  <a:pt x="178" y="41"/>
                </a:cubicBezTo>
                <a:cubicBezTo>
                  <a:pt x="178" y="40"/>
                  <a:pt x="178" y="40"/>
                  <a:pt x="178" y="40"/>
                </a:cubicBezTo>
                <a:cubicBezTo>
                  <a:pt x="178" y="40"/>
                  <a:pt x="179" y="40"/>
                  <a:pt x="179" y="39"/>
                </a:cubicBezTo>
                <a:cubicBezTo>
                  <a:pt x="179" y="39"/>
                  <a:pt x="179" y="40"/>
                  <a:pt x="179" y="40"/>
                </a:cubicBezTo>
                <a:cubicBezTo>
                  <a:pt x="180" y="39"/>
                  <a:pt x="180" y="39"/>
                  <a:pt x="181" y="38"/>
                </a:cubicBezTo>
                <a:cubicBezTo>
                  <a:pt x="165" y="29"/>
                  <a:pt x="147" y="24"/>
                  <a:pt x="128" y="24"/>
                </a:cubicBezTo>
                <a:cubicBezTo>
                  <a:pt x="112" y="24"/>
                  <a:pt x="97" y="28"/>
                  <a:pt x="83" y="34"/>
                </a:cubicBezTo>
                <a:moveTo>
                  <a:pt x="84" y="39"/>
                </a:moveTo>
                <a:cubicBezTo>
                  <a:pt x="84" y="39"/>
                  <a:pt x="84" y="39"/>
                  <a:pt x="84" y="39"/>
                </a:cubicBezTo>
                <a:cubicBezTo>
                  <a:pt x="84" y="39"/>
                  <a:pt x="84" y="39"/>
                  <a:pt x="84" y="39"/>
                </a:cubicBezTo>
                <a:cubicBezTo>
                  <a:pt x="84" y="39"/>
                  <a:pt x="84" y="39"/>
                  <a:pt x="84" y="39"/>
                </a:cubicBezTo>
                <a:cubicBezTo>
                  <a:pt x="84" y="39"/>
                  <a:pt x="84" y="39"/>
                  <a:pt x="84" y="39"/>
                </a:cubicBezTo>
                <a:moveTo>
                  <a:pt x="174" y="99"/>
                </a:moveTo>
                <a:cubicBezTo>
                  <a:pt x="174" y="99"/>
                  <a:pt x="174" y="99"/>
                  <a:pt x="173" y="99"/>
                </a:cubicBezTo>
                <a:cubicBezTo>
                  <a:pt x="173" y="99"/>
                  <a:pt x="173" y="98"/>
                  <a:pt x="173" y="98"/>
                </a:cubicBezTo>
                <a:cubicBezTo>
                  <a:pt x="174" y="98"/>
                  <a:pt x="174" y="98"/>
                  <a:pt x="174" y="97"/>
                </a:cubicBezTo>
                <a:cubicBezTo>
                  <a:pt x="174" y="97"/>
                  <a:pt x="173" y="97"/>
                  <a:pt x="173" y="97"/>
                </a:cubicBezTo>
                <a:cubicBezTo>
                  <a:pt x="173" y="97"/>
                  <a:pt x="173" y="97"/>
                  <a:pt x="172" y="97"/>
                </a:cubicBezTo>
                <a:cubicBezTo>
                  <a:pt x="172" y="97"/>
                  <a:pt x="172" y="97"/>
                  <a:pt x="172" y="97"/>
                </a:cubicBezTo>
                <a:cubicBezTo>
                  <a:pt x="172" y="96"/>
                  <a:pt x="172" y="96"/>
                  <a:pt x="172" y="95"/>
                </a:cubicBezTo>
                <a:cubicBezTo>
                  <a:pt x="171" y="95"/>
                  <a:pt x="171" y="95"/>
                  <a:pt x="171" y="95"/>
                </a:cubicBezTo>
                <a:cubicBezTo>
                  <a:pt x="171" y="95"/>
                  <a:pt x="171" y="95"/>
                  <a:pt x="171" y="95"/>
                </a:cubicBezTo>
                <a:cubicBezTo>
                  <a:pt x="171" y="95"/>
                  <a:pt x="171" y="95"/>
                  <a:pt x="171" y="95"/>
                </a:cubicBezTo>
                <a:cubicBezTo>
                  <a:pt x="171" y="95"/>
                  <a:pt x="172" y="95"/>
                  <a:pt x="172" y="95"/>
                </a:cubicBezTo>
                <a:cubicBezTo>
                  <a:pt x="172" y="95"/>
                  <a:pt x="172" y="95"/>
                  <a:pt x="172" y="95"/>
                </a:cubicBezTo>
                <a:cubicBezTo>
                  <a:pt x="172" y="95"/>
                  <a:pt x="172" y="94"/>
                  <a:pt x="172" y="94"/>
                </a:cubicBezTo>
                <a:cubicBezTo>
                  <a:pt x="172" y="94"/>
                  <a:pt x="172" y="94"/>
                  <a:pt x="172" y="94"/>
                </a:cubicBezTo>
                <a:cubicBezTo>
                  <a:pt x="172" y="94"/>
                  <a:pt x="172" y="94"/>
                  <a:pt x="172" y="94"/>
                </a:cubicBezTo>
                <a:cubicBezTo>
                  <a:pt x="172" y="94"/>
                  <a:pt x="172" y="93"/>
                  <a:pt x="173" y="93"/>
                </a:cubicBezTo>
                <a:cubicBezTo>
                  <a:pt x="173" y="93"/>
                  <a:pt x="174" y="94"/>
                  <a:pt x="174" y="94"/>
                </a:cubicBezTo>
                <a:cubicBezTo>
                  <a:pt x="174" y="94"/>
                  <a:pt x="174" y="94"/>
                  <a:pt x="174" y="94"/>
                </a:cubicBezTo>
                <a:cubicBezTo>
                  <a:pt x="174" y="93"/>
                  <a:pt x="174" y="93"/>
                  <a:pt x="174" y="93"/>
                </a:cubicBezTo>
                <a:cubicBezTo>
                  <a:pt x="174" y="93"/>
                  <a:pt x="174" y="92"/>
                  <a:pt x="174" y="92"/>
                </a:cubicBezTo>
                <a:cubicBezTo>
                  <a:pt x="174" y="92"/>
                  <a:pt x="174" y="92"/>
                  <a:pt x="174" y="92"/>
                </a:cubicBezTo>
                <a:cubicBezTo>
                  <a:pt x="174" y="92"/>
                  <a:pt x="174" y="91"/>
                  <a:pt x="174" y="91"/>
                </a:cubicBezTo>
                <a:cubicBezTo>
                  <a:pt x="174" y="91"/>
                  <a:pt x="174" y="91"/>
                  <a:pt x="173" y="91"/>
                </a:cubicBezTo>
                <a:cubicBezTo>
                  <a:pt x="173" y="91"/>
                  <a:pt x="173" y="91"/>
                  <a:pt x="173" y="91"/>
                </a:cubicBezTo>
                <a:cubicBezTo>
                  <a:pt x="173" y="91"/>
                  <a:pt x="172" y="91"/>
                  <a:pt x="172" y="91"/>
                </a:cubicBezTo>
                <a:cubicBezTo>
                  <a:pt x="171" y="91"/>
                  <a:pt x="171" y="92"/>
                  <a:pt x="170" y="92"/>
                </a:cubicBezTo>
                <a:cubicBezTo>
                  <a:pt x="170" y="92"/>
                  <a:pt x="170" y="92"/>
                  <a:pt x="170" y="92"/>
                </a:cubicBezTo>
                <a:cubicBezTo>
                  <a:pt x="170" y="92"/>
                  <a:pt x="169" y="92"/>
                  <a:pt x="169" y="92"/>
                </a:cubicBezTo>
                <a:cubicBezTo>
                  <a:pt x="169" y="93"/>
                  <a:pt x="169" y="93"/>
                  <a:pt x="169" y="93"/>
                </a:cubicBezTo>
                <a:cubicBezTo>
                  <a:pt x="169" y="93"/>
                  <a:pt x="169" y="93"/>
                  <a:pt x="169" y="93"/>
                </a:cubicBezTo>
                <a:cubicBezTo>
                  <a:pt x="169" y="93"/>
                  <a:pt x="168" y="93"/>
                  <a:pt x="168" y="93"/>
                </a:cubicBezTo>
                <a:cubicBezTo>
                  <a:pt x="168" y="93"/>
                  <a:pt x="168" y="93"/>
                  <a:pt x="168" y="93"/>
                </a:cubicBezTo>
                <a:cubicBezTo>
                  <a:pt x="168" y="93"/>
                  <a:pt x="167" y="94"/>
                  <a:pt x="167" y="94"/>
                </a:cubicBezTo>
                <a:cubicBezTo>
                  <a:pt x="167" y="94"/>
                  <a:pt x="167" y="94"/>
                  <a:pt x="167" y="95"/>
                </a:cubicBezTo>
                <a:cubicBezTo>
                  <a:pt x="167" y="95"/>
                  <a:pt x="167" y="95"/>
                  <a:pt x="167" y="95"/>
                </a:cubicBezTo>
                <a:cubicBezTo>
                  <a:pt x="167" y="95"/>
                  <a:pt x="167" y="95"/>
                  <a:pt x="167" y="95"/>
                </a:cubicBezTo>
                <a:cubicBezTo>
                  <a:pt x="167" y="95"/>
                  <a:pt x="168" y="96"/>
                  <a:pt x="168" y="96"/>
                </a:cubicBezTo>
                <a:cubicBezTo>
                  <a:pt x="168" y="96"/>
                  <a:pt x="168" y="96"/>
                  <a:pt x="168" y="96"/>
                </a:cubicBezTo>
                <a:cubicBezTo>
                  <a:pt x="168" y="96"/>
                  <a:pt x="168" y="96"/>
                  <a:pt x="168" y="96"/>
                </a:cubicBezTo>
                <a:cubicBezTo>
                  <a:pt x="168" y="96"/>
                  <a:pt x="168" y="96"/>
                  <a:pt x="168" y="96"/>
                </a:cubicBezTo>
                <a:cubicBezTo>
                  <a:pt x="168" y="96"/>
                  <a:pt x="168" y="96"/>
                  <a:pt x="168" y="96"/>
                </a:cubicBezTo>
                <a:cubicBezTo>
                  <a:pt x="168" y="96"/>
                  <a:pt x="167" y="97"/>
                  <a:pt x="168" y="97"/>
                </a:cubicBezTo>
                <a:cubicBezTo>
                  <a:pt x="168" y="97"/>
                  <a:pt x="168" y="97"/>
                  <a:pt x="168" y="97"/>
                </a:cubicBezTo>
                <a:cubicBezTo>
                  <a:pt x="168" y="97"/>
                  <a:pt x="168" y="97"/>
                  <a:pt x="168" y="97"/>
                </a:cubicBezTo>
                <a:cubicBezTo>
                  <a:pt x="168" y="98"/>
                  <a:pt x="168" y="98"/>
                  <a:pt x="169" y="98"/>
                </a:cubicBezTo>
                <a:cubicBezTo>
                  <a:pt x="169" y="98"/>
                  <a:pt x="169" y="98"/>
                  <a:pt x="169" y="98"/>
                </a:cubicBezTo>
                <a:cubicBezTo>
                  <a:pt x="169" y="99"/>
                  <a:pt x="169" y="99"/>
                  <a:pt x="169" y="99"/>
                </a:cubicBezTo>
                <a:cubicBezTo>
                  <a:pt x="170" y="99"/>
                  <a:pt x="170" y="99"/>
                  <a:pt x="170" y="100"/>
                </a:cubicBezTo>
                <a:cubicBezTo>
                  <a:pt x="170" y="100"/>
                  <a:pt x="170" y="100"/>
                  <a:pt x="170" y="100"/>
                </a:cubicBezTo>
                <a:cubicBezTo>
                  <a:pt x="170" y="100"/>
                  <a:pt x="171" y="100"/>
                  <a:pt x="171" y="101"/>
                </a:cubicBezTo>
                <a:cubicBezTo>
                  <a:pt x="171" y="101"/>
                  <a:pt x="171" y="101"/>
                  <a:pt x="171" y="101"/>
                </a:cubicBezTo>
                <a:cubicBezTo>
                  <a:pt x="171" y="101"/>
                  <a:pt x="171" y="101"/>
                  <a:pt x="171" y="101"/>
                </a:cubicBezTo>
                <a:cubicBezTo>
                  <a:pt x="170" y="100"/>
                  <a:pt x="170" y="101"/>
                  <a:pt x="170" y="102"/>
                </a:cubicBezTo>
                <a:cubicBezTo>
                  <a:pt x="170" y="102"/>
                  <a:pt x="170" y="102"/>
                  <a:pt x="170" y="102"/>
                </a:cubicBezTo>
                <a:cubicBezTo>
                  <a:pt x="170" y="102"/>
                  <a:pt x="170" y="102"/>
                  <a:pt x="170" y="102"/>
                </a:cubicBezTo>
                <a:cubicBezTo>
                  <a:pt x="170" y="102"/>
                  <a:pt x="170" y="102"/>
                  <a:pt x="170" y="102"/>
                </a:cubicBezTo>
                <a:cubicBezTo>
                  <a:pt x="170" y="102"/>
                  <a:pt x="170" y="102"/>
                  <a:pt x="169" y="102"/>
                </a:cubicBezTo>
                <a:cubicBezTo>
                  <a:pt x="169" y="102"/>
                  <a:pt x="169" y="102"/>
                  <a:pt x="169" y="102"/>
                </a:cubicBezTo>
                <a:cubicBezTo>
                  <a:pt x="169" y="103"/>
                  <a:pt x="169" y="104"/>
                  <a:pt x="169" y="105"/>
                </a:cubicBezTo>
                <a:cubicBezTo>
                  <a:pt x="170" y="105"/>
                  <a:pt x="170" y="105"/>
                  <a:pt x="171" y="105"/>
                </a:cubicBezTo>
                <a:cubicBezTo>
                  <a:pt x="171" y="106"/>
                  <a:pt x="173" y="106"/>
                  <a:pt x="174" y="106"/>
                </a:cubicBezTo>
                <a:cubicBezTo>
                  <a:pt x="174" y="106"/>
                  <a:pt x="175" y="106"/>
                  <a:pt x="175" y="106"/>
                </a:cubicBezTo>
                <a:cubicBezTo>
                  <a:pt x="175" y="105"/>
                  <a:pt x="175" y="104"/>
                  <a:pt x="175" y="104"/>
                </a:cubicBezTo>
                <a:cubicBezTo>
                  <a:pt x="175" y="104"/>
                  <a:pt x="175" y="104"/>
                  <a:pt x="175" y="103"/>
                </a:cubicBezTo>
                <a:cubicBezTo>
                  <a:pt x="175" y="103"/>
                  <a:pt x="175" y="103"/>
                  <a:pt x="175" y="103"/>
                </a:cubicBezTo>
                <a:cubicBezTo>
                  <a:pt x="175" y="102"/>
                  <a:pt x="175" y="102"/>
                  <a:pt x="175" y="102"/>
                </a:cubicBezTo>
                <a:cubicBezTo>
                  <a:pt x="175" y="102"/>
                  <a:pt x="174" y="102"/>
                  <a:pt x="174" y="102"/>
                </a:cubicBezTo>
                <a:cubicBezTo>
                  <a:pt x="174" y="102"/>
                  <a:pt x="174" y="102"/>
                  <a:pt x="174" y="102"/>
                </a:cubicBezTo>
                <a:cubicBezTo>
                  <a:pt x="174" y="102"/>
                  <a:pt x="174" y="102"/>
                  <a:pt x="174" y="102"/>
                </a:cubicBezTo>
                <a:cubicBezTo>
                  <a:pt x="175" y="102"/>
                  <a:pt x="175" y="102"/>
                  <a:pt x="175" y="102"/>
                </a:cubicBezTo>
                <a:cubicBezTo>
                  <a:pt x="175" y="102"/>
                  <a:pt x="175" y="102"/>
                  <a:pt x="175" y="102"/>
                </a:cubicBezTo>
                <a:cubicBezTo>
                  <a:pt x="175" y="102"/>
                  <a:pt x="175" y="102"/>
                  <a:pt x="175" y="102"/>
                </a:cubicBezTo>
                <a:cubicBezTo>
                  <a:pt x="175" y="101"/>
                  <a:pt x="175" y="101"/>
                  <a:pt x="175" y="101"/>
                </a:cubicBezTo>
                <a:cubicBezTo>
                  <a:pt x="175" y="101"/>
                  <a:pt x="175" y="101"/>
                  <a:pt x="175" y="101"/>
                </a:cubicBezTo>
                <a:cubicBezTo>
                  <a:pt x="174" y="101"/>
                  <a:pt x="174" y="101"/>
                  <a:pt x="174" y="101"/>
                </a:cubicBezTo>
                <a:cubicBezTo>
                  <a:pt x="174" y="101"/>
                  <a:pt x="174" y="100"/>
                  <a:pt x="174" y="100"/>
                </a:cubicBezTo>
                <a:cubicBezTo>
                  <a:pt x="174" y="100"/>
                  <a:pt x="174" y="100"/>
                  <a:pt x="174" y="100"/>
                </a:cubicBezTo>
                <a:cubicBezTo>
                  <a:pt x="174"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6" y="100"/>
                  <a:pt x="176" y="100"/>
                  <a:pt x="176" y="100"/>
                </a:cubicBezTo>
                <a:cubicBezTo>
                  <a:pt x="176" y="100"/>
                  <a:pt x="176" y="100"/>
                  <a:pt x="176" y="100"/>
                </a:cubicBezTo>
                <a:cubicBezTo>
                  <a:pt x="176" y="100"/>
                  <a:pt x="176" y="100"/>
                  <a:pt x="176" y="100"/>
                </a:cubicBezTo>
                <a:cubicBezTo>
                  <a:pt x="176" y="100"/>
                  <a:pt x="176" y="100"/>
                  <a:pt x="176" y="100"/>
                </a:cubicBezTo>
                <a:cubicBezTo>
                  <a:pt x="176" y="99"/>
                  <a:pt x="176" y="99"/>
                  <a:pt x="175" y="99"/>
                </a:cubicBezTo>
                <a:cubicBezTo>
                  <a:pt x="175" y="99"/>
                  <a:pt x="175" y="98"/>
                  <a:pt x="175" y="98"/>
                </a:cubicBezTo>
                <a:cubicBezTo>
                  <a:pt x="175" y="98"/>
                  <a:pt x="174" y="98"/>
                  <a:pt x="174" y="98"/>
                </a:cubicBezTo>
                <a:cubicBezTo>
                  <a:pt x="174" y="99"/>
                  <a:pt x="174" y="99"/>
                  <a:pt x="174" y="100"/>
                </a:cubicBezTo>
                <a:cubicBezTo>
                  <a:pt x="174" y="99"/>
                  <a:pt x="174" y="99"/>
                  <a:pt x="174" y="99"/>
                </a:cubicBezTo>
                <a:cubicBezTo>
                  <a:pt x="174" y="99"/>
                  <a:pt x="174" y="99"/>
                  <a:pt x="174" y="99"/>
                </a:cubicBezTo>
                <a:cubicBezTo>
                  <a:pt x="174" y="99"/>
                  <a:pt x="174" y="99"/>
                  <a:pt x="174" y="99"/>
                </a:cubicBezTo>
                <a:moveTo>
                  <a:pt x="143" y="99"/>
                </a:moveTo>
                <a:cubicBezTo>
                  <a:pt x="143" y="99"/>
                  <a:pt x="143" y="99"/>
                  <a:pt x="143" y="99"/>
                </a:cubicBezTo>
                <a:cubicBezTo>
                  <a:pt x="143" y="99"/>
                  <a:pt x="143" y="99"/>
                  <a:pt x="143" y="99"/>
                </a:cubicBezTo>
                <a:cubicBezTo>
                  <a:pt x="143" y="99"/>
                  <a:pt x="143" y="99"/>
                  <a:pt x="143" y="99"/>
                </a:cubicBezTo>
                <a:cubicBezTo>
                  <a:pt x="143" y="99"/>
                  <a:pt x="143" y="99"/>
                  <a:pt x="143" y="99"/>
                </a:cubicBezTo>
                <a:cubicBezTo>
                  <a:pt x="143" y="99"/>
                  <a:pt x="143" y="99"/>
                  <a:pt x="143" y="99"/>
                </a:cubicBezTo>
                <a:moveTo>
                  <a:pt x="177" y="44"/>
                </a:moveTo>
                <a:cubicBezTo>
                  <a:pt x="178" y="44"/>
                  <a:pt x="178" y="44"/>
                  <a:pt x="178" y="44"/>
                </a:cubicBezTo>
                <a:cubicBezTo>
                  <a:pt x="178" y="46"/>
                  <a:pt x="177" y="45"/>
                  <a:pt x="177" y="47"/>
                </a:cubicBezTo>
                <a:cubicBezTo>
                  <a:pt x="177" y="48"/>
                  <a:pt x="177" y="49"/>
                  <a:pt x="178" y="49"/>
                </a:cubicBezTo>
                <a:cubicBezTo>
                  <a:pt x="178" y="49"/>
                  <a:pt x="179" y="49"/>
                  <a:pt x="179" y="50"/>
                </a:cubicBezTo>
                <a:cubicBezTo>
                  <a:pt x="178" y="50"/>
                  <a:pt x="178" y="50"/>
                  <a:pt x="177" y="50"/>
                </a:cubicBezTo>
                <a:cubicBezTo>
                  <a:pt x="177" y="50"/>
                  <a:pt x="177" y="50"/>
                  <a:pt x="176" y="50"/>
                </a:cubicBezTo>
                <a:cubicBezTo>
                  <a:pt x="176" y="50"/>
                  <a:pt x="176" y="50"/>
                  <a:pt x="176" y="50"/>
                </a:cubicBezTo>
                <a:cubicBezTo>
                  <a:pt x="175" y="50"/>
                  <a:pt x="175" y="50"/>
                  <a:pt x="175" y="50"/>
                </a:cubicBezTo>
                <a:cubicBezTo>
                  <a:pt x="175" y="49"/>
                  <a:pt x="175" y="49"/>
                  <a:pt x="175" y="49"/>
                </a:cubicBezTo>
                <a:cubicBezTo>
                  <a:pt x="175" y="49"/>
                  <a:pt x="175" y="49"/>
                  <a:pt x="176" y="49"/>
                </a:cubicBezTo>
                <a:cubicBezTo>
                  <a:pt x="175" y="49"/>
                  <a:pt x="174" y="48"/>
                  <a:pt x="174" y="48"/>
                </a:cubicBezTo>
                <a:cubicBezTo>
                  <a:pt x="173" y="48"/>
                  <a:pt x="173" y="48"/>
                  <a:pt x="172" y="48"/>
                </a:cubicBezTo>
                <a:cubicBezTo>
                  <a:pt x="172" y="48"/>
                  <a:pt x="172" y="48"/>
                  <a:pt x="172" y="48"/>
                </a:cubicBezTo>
                <a:cubicBezTo>
                  <a:pt x="172" y="47"/>
                  <a:pt x="172" y="47"/>
                  <a:pt x="172" y="47"/>
                </a:cubicBezTo>
                <a:cubicBezTo>
                  <a:pt x="173" y="47"/>
                  <a:pt x="173" y="47"/>
                  <a:pt x="173" y="47"/>
                </a:cubicBezTo>
                <a:cubicBezTo>
                  <a:pt x="174" y="47"/>
                  <a:pt x="174" y="46"/>
                  <a:pt x="174" y="46"/>
                </a:cubicBezTo>
                <a:cubicBezTo>
                  <a:pt x="174" y="46"/>
                  <a:pt x="174" y="46"/>
                  <a:pt x="173" y="45"/>
                </a:cubicBezTo>
                <a:cubicBezTo>
                  <a:pt x="173" y="45"/>
                  <a:pt x="174" y="45"/>
                  <a:pt x="174" y="45"/>
                </a:cubicBezTo>
                <a:cubicBezTo>
                  <a:pt x="174" y="45"/>
                  <a:pt x="174" y="45"/>
                  <a:pt x="174" y="45"/>
                </a:cubicBezTo>
                <a:cubicBezTo>
                  <a:pt x="175" y="44"/>
                  <a:pt x="175" y="44"/>
                  <a:pt x="175" y="44"/>
                </a:cubicBezTo>
                <a:cubicBezTo>
                  <a:pt x="176" y="44"/>
                  <a:pt x="177" y="44"/>
                  <a:pt x="177" y="44"/>
                </a:cubicBezTo>
                <a:moveTo>
                  <a:pt x="143" y="29"/>
                </a:moveTo>
                <a:cubicBezTo>
                  <a:pt x="142" y="29"/>
                  <a:pt x="142" y="29"/>
                  <a:pt x="142" y="30"/>
                </a:cubicBezTo>
                <a:cubicBezTo>
                  <a:pt x="141" y="30"/>
                  <a:pt x="141" y="30"/>
                  <a:pt x="141" y="30"/>
                </a:cubicBezTo>
                <a:cubicBezTo>
                  <a:pt x="140" y="30"/>
                  <a:pt x="140" y="30"/>
                  <a:pt x="140" y="30"/>
                </a:cubicBezTo>
                <a:cubicBezTo>
                  <a:pt x="139" y="30"/>
                  <a:pt x="138" y="30"/>
                  <a:pt x="137" y="30"/>
                </a:cubicBezTo>
                <a:cubicBezTo>
                  <a:pt x="137" y="30"/>
                  <a:pt x="137" y="30"/>
                  <a:pt x="137" y="30"/>
                </a:cubicBezTo>
                <a:cubicBezTo>
                  <a:pt x="137" y="29"/>
                  <a:pt x="137" y="29"/>
                  <a:pt x="138" y="28"/>
                </a:cubicBezTo>
                <a:cubicBezTo>
                  <a:pt x="138" y="28"/>
                  <a:pt x="138" y="28"/>
                  <a:pt x="138" y="28"/>
                </a:cubicBezTo>
                <a:cubicBezTo>
                  <a:pt x="136" y="28"/>
                  <a:pt x="134" y="29"/>
                  <a:pt x="133" y="28"/>
                </a:cubicBezTo>
                <a:cubicBezTo>
                  <a:pt x="133" y="28"/>
                  <a:pt x="133" y="28"/>
                  <a:pt x="133" y="28"/>
                </a:cubicBezTo>
                <a:cubicBezTo>
                  <a:pt x="134" y="28"/>
                  <a:pt x="134" y="28"/>
                  <a:pt x="134" y="27"/>
                </a:cubicBezTo>
                <a:cubicBezTo>
                  <a:pt x="135" y="27"/>
                  <a:pt x="135" y="27"/>
                  <a:pt x="135" y="26"/>
                </a:cubicBezTo>
                <a:cubicBezTo>
                  <a:pt x="135" y="26"/>
                  <a:pt x="136" y="27"/>
                  <a:pt x="136" y="27"/>
                </a:cubicBezTo>
                <a:cubicBezTo>
                  <a:pt x="137" y="28"/>
                  <a:pt x="137" y="27"/>
                  <a:pt x="138" y="28"/>
                </a:cubicBezTo>
                <a:cubicBezTo>
                  <a:pt x="138" y="28"/>
                  <a:pt x="138" y="27"/>
                  <a:pt x="138" y="27"/>
                </a:cubicBezTo>
                <a:cubicBezTo>
                  <a:pt x="139" y="27"/>
                  <a:pt x="139" y="27"/>
                  <a:pt x="139" y="26"/>
                </a:cubicBezTo>
                <a:cubicBezTo>
                  <a:pt x="139" y="27"/>
                  <a:pt x="139" y="27"/>
                  <a:pt x="139" y="28"/>
                </a:cubicBezTo>
                <a:cubicBezTo>
                  <a:pt x="139" y="28"/>
                  <a:pt x="139" y="28"/>
                  <a:pt x="139" y="28"/>
                </a:cubicBezTo>
                <a:cubicBezTo>
                  <a:pt x="140" y="27"/>
                  <a:pt x="140" y="27"/>
                  <a:pt x="141" y="27"/>
                </a:cubicBezTo>
                <a:cubicBezTo>
                  <a:pt x="141" y="27"/>
                  <a:pt x="141" y="27"/>
                  <a:pt x="141" y="27"/>
                </a:cubicBezTo>
                <a:cubicBezTo>
                  <a:pt x="141" y="27"/>
                  <a:pt x="141" y="27"/>
                  <a:pt x="141" y="27"/>
                </a:cubicBezTo>
                <a:cubicBezTo>
                  <a:pt x="142" y="27"/>
                  <a:pt x="142" y="27"/>
                  <a:pt x="143" y="27"/>
                </a:cubicBezTo>
                <a:cubicBezTo>
                  <a:pt x="143" y="27"/>
                  <a:pt x="143" y="28"/>
                  <a:pt x="144" y="28"/>
                </a:cubicBezTo>
                <a:cubicBezTo>
                  <a:pt x="144" y="28"/>
                  <a:pt x="144" y="28"/>
                  <a:pt x="144" y="28"/>
                </a:cubicBezTo>
                <a:cubicBezTo>
                  <a:pt x="144" y="28"/>
                  <a:pt x="144" y="28"/>
                  <a:pt x="144" y="28"/>
                </a:cubicBezTo>
                <a:lnTo>
                  <a:pt x="143" y="29"/>
                </a:lnTo>
                <a:close/>
                <a:moveTo>
                  <a:pt x="134" y="30"/>
                </a:moveTo>
                <a:cubicBezTo>
                  <a:pt x="135" y="30"/>
                  <a:pt x="135" y="30"/>
                  <a:pt x="135" y="30"/>
                </a:cubicBezTo>
                <a:cubicBezTo>
                  <a:pt x="136" y="30"/>
                  <a:pt x="136" y="31"/>
                  <a:pt x="136" y="31"/>
                </a:cubicBezTo>
                <a:cubicBezTo>
                  <a:pt x="136" y="31"/>
                  <a:pt x="136" y="31"/>
                  <a:pt x="136" y="31"/>
                </a:cubicBezTo>
                <a:cubicBezTo>
                  <a:pt x="135" y="31"/>
                  <a:pt x="135" y="32"/>
                  <a:pt x="135" y="32"/>
                </a:cubicBezTo>
                <a:cubicBezTo>
                  <a:pt x="134" y="32"/>
                  <a:pt x="134" y="33"/>
                  <a:pt x="134" y="33"/>
                </a:cubicBezTo>
                <a:cubicBezTo>
                  <a:pt x="134" y="34"/>
                  <a:pt x="134" y="34"/>
                  <a:pt x="134" y="34"/>
                </a:cubicBezTo>
                <a:cubicBezTo>
                  <a:pt x="133" y="34"/>
                  <a:pt x="133" y="34"/>
                  <a:pt x="133" y="34"/>
                </a:cubicBezTo>
                <a:cubicBezTo>
                  <a:pt x="132" y="35"/>
                  <a:pt x="132" y="35"/>
                  <a:pt x="132" y="36"/>
                </a:cubicBezTo>
                <a:cubicBezTo>
                  <a:pt x="132" y="36"/>
                  <a:pt x="132" y="36"/>
                  <a:pt x="132" y="36"/>
                </a:cubicBezTo>
                <a:cubicBezTo>
                  <a:pt x="131" y="36"/>
                  <a:pt x="129" y="35"/>
                  <a:pt x="129" y="35"/>
                </a:cubicBezTo>
                <a:cubicBezTo>
                  <a:pt x="129" y="35"/>
                  <a:pt x="129" y="35"/>
                  <a:pt x="129" y="35"/>
                </a:cubicBezTo>
                <a:cubicBezTo>
                  <a:pt x="129" y="34"/>
                  <a:pt x="129" y="34"/>
                  <a:pt x="129" y="34"/>
                </a:cubicBezTo>
                <a:cubicBezTo>
                  <a:pt x="130" y="34"/>
                  <a:pt x="131" y="34"/>
                  <a:pt x="132" y="34"/>
                </a:cubicBezTo>
                <a:cubicBezTo>
                  <a:pt x="131" y="34"/>
                  <a:pt x="131" y="33"/>
                  <a:pt x="131" y="33"/>
                </a:cubicBezTo>
                <a:cubicBezTo>
                  <a:pt x="130" y="33"/>
                  <a:pt x="130" y="34"/>
                  <a:pt x="129" y="34"/>
                </a:cubicBezTo>
                <a:cubicBezTo>
                  <a:pt x="128" y="34"/>
                  <a:pt x="128" y="33"/>
                  <a:pt x="128" y="33"/>
                </a:cubicBezTo>
                <a:cubicBezTo>
                  <a:pt x="128" y="33"/>
                  <a:pt x="128" y="33"/>
                  <a:pt x="128" y="33"/>
                </a:cubicBezTo>
                <a:cubicBezTo>
                  <a:pt x="129" y="33"/>
                  <a:pt x="131" y="33"/>
                  <a:pt x="131" y="32"/>
                </a:cubicBezTo>
                <a:cubicBezTo>
                  <a:pt x="131" y="32"/>
                  <a:pt x="131" y="32"/>
                  <a:pt x="131" y="32"/>
                </a:cubicBezTo>
                <a:cubicBezTo>
                  <a:pt x="131" y="32"/>
                  <a:pt x="130" y="31"/>
                  <a:pt x="130" y="31"/>
                </a:cubicBezTo>
                <a:cubicBezTo>
                  <a:pt x="129" y="31"/>
                  <a:pt x="129" y="32"/>
                  <a:pt x="128" y="32"/>
                </a:cubicBezTo>
                <a:cubicBezTo>
                  <a:pt x="127" y="33"/>
                  <a:pt x="126" y="31"/>
                  <a:pt x="126" y="31"/>
                </a:cubicBezTo>
                <a:cubicBezTo>
                  <a:pt x="126" y="31"/>
                  <a:pt x="126" y="31"/>
                  <a:pt x="127" y="30"/>
                </a:cubicBezTo>
                <a:cubicBezTo>
                  <a:pt x="127" y="30"/>
                  <a:pt x="126" y="30"/>
                  <a:pt x="126" y="30"/>
                </a:cubicBezTo>
                <a:cubicBezTo>
                  <a:pt x="126" y="30"/>
                  <a:pt x="126" y="30"/>
                  <a:pt x="125" y="30"/>
                </a:cubicBezTo>
                <a:cubicBezTo>
                  <a:pt x="125" y="30"/>
                  <a:pt x="125" y="29"/>
                  <a:pt x="125" y="29"/>
                </a:cubicBezTo>
                <a:cubicBezTo>
                  <a:pt x="125" y="29"/>
                  <a:pt x="125" y="29"/>
                  <a:pt x="126" y="29"/>
                </a:cubicBezTo>
                <a:cubicBezTo>
                  <a:pt x="126" y="29"/>
                  <a:pt x="126" y="29"/>
                  <a:pt x="127" y="29"/>
                </a:cubicBezTo>
                <a:cubicBezTo>
                  <a:pt x="127" y="29"/>
                  <a:pt x="127" y="28"/>
                  <a:pt x="128" y="28"/>
                </a:cubicBezTo>
                <a:cubicBezTo>
                  <a:pt x="128" y="29"/>
                  <a:pt x="128" y="29"/>
                  <a:pt x="128" y="29"/>
                </a:cubicBezTo>
                <a:cubicBezTo>
                  <a:pt x="128" y="29"/>
                  <a:pt x="128" y="30"/>
                  <a:pt x="129" y="30"/>
                </a:cubicBezTo>
                <a:cubicBezTo>
                  <a:pt x="129" y="30"/>
                  <a:pt x="129" y="30"/>
                  <a:pt x="129" y="30"/>
                </a:cubicBezTo>
                <a:cubicBezTo>
                  <a:pt x="129" y="29"/>
                  <a:pt x="129" y="29"/>
                  <a:pt x="129" y="29"/>
                </a:cubicBezTo>
                <a:cubicBezTo>
                  <a:pt x="129" y="28"/>
                  <a:pt x="129" y="28"/>
                  <a:pt x="129" y="29"/>
                </a:cubicBezTo>
                <a:cubicBezTo>
                  <a:pt x="130" y="29"/>
                  <a:pt x="130" y="30"/>
                  <a:pt x="131" y="30"/>
                </a:cubicBezTo>
                <a:cubicBezTo>
                  <a:pt x="131" y="30"/>
                  <a:pt x="131" y="30"/>
                  <a:pt x="131" y="30"/>
                </a:cubicBezTo>
                <a:cubicBezTo>
                  <a:pt x="131" y="30"/>
                  <a:pt x="130" y="29"/>
                  <a:pt x="131" y="28"/>
                </a:cubicBezTo>
                <a:cubicBezTo>
                  <a:pt x="131" y="28"/>
                  <a:pt x="131" y="28"/>
                  <a:pt x="131" y="28"/>
                </a:cubicBezTo>
                <a:cubicBezTo>
                  <a:pt x="131" y="28"/>
                  <a:pt x="132" y="28"/>
                  <a:pt x="132" y="28"/>
                </a:cubicBezTo>
                <a:cubicBezTo>
                  <a:pt x="133" y="28"/>
                  <a:pt x="133" y="28"/>
                  <a:pt x="133" y="28"/>
                </a:cubicBezTo>
                <a:cubicBezTo>
                  <a:pt x="133" y="28"/>
                  <a:pt x="133" y="28"/>
                  <a:pt x="133" y="28"/>
                </a:cubicBezTo>
                <a:cubicBezTo>
                  <a:pt x="133" y="29"/>
                  <a:pt x="133" y="29"/>
                  <a:pt x="133" y="29"/>
                </a:cubicBezTo>
                <a:cubicBezTo>
                  <a:pt x="133" y="30"/>
                  <a:pt x="133" y="30"/>
                  <a:pt x="133" y="30"/>
                </a:cubicBezTo>
                <a:cubicBezTo>
                  <a:pt x="133" y="29"/>
                  <a:pt x="133" y="29"/>
                  <a:pt x="134" y="29"/>
                </a:cubicBezTo>
                <a:cubicBezTo>
                  <a:pt x="134" y="29"/>
                  <a:pt x="134" y="30"/>
                  <a:pt x="134" y="30"/>
                </a:cubicBezTo>
                <a:moveTo>
                  <a:pt x="112" y="85"/>
                </a:moveTo>
                <a:cubicBezTo>
                  <a:pt x="112" y="85"/>
                  <a:pt x="112" y="85"/>
                  <a:pt x="112" y="85"/>
                </a:cubicBezTo>
                <a:cubicBezTo>
                  <a:pt x="113" y="85"/>
                  <a:pt x="114" y="85"/>
                  <a:pt x="114" y="85"/>
                </a:cubicBezTo>
                <a:cubicBezTo>
                  <a:pt x="114" y="85"/>
                  <a:pt x="114" y="85"/>
                  <a:pt x="114" y="85"/>
                </a:cubicBezTo>
                <a:cubicBezTo>
                  <a:pt x="114" y="85"/>
                  <a:pt x="114" y="85"/>
                  <a:pt x="114" y="85"/>
                </a:cubicBezTo>
                <a:cubicBezTo>
                  <a:pt x="113" y="85"/>
                  <a:pt x="113" y="85"/>
                  <a:pt x="113" y="85"/>
                </a:cubicBezTo>
                <a:cubicBezTo>
                  <a:pt x="113" y="85"/>
                  <a:pt x="113" y="86"/>
                  <a:pt x="112" y="86"/>
                </a:cubicBezTo>
                <a:cubicBezTo>
                  <a:pt x="112" y="86"/>
                  <a:pt x="112" y="86"/>
                  <a:pt x="112" y="86"/>
                </a:cubicBezTo>
                <a:cubicBezTo>
                  <a:pt x="111" y="86"/>
                  <a:pt x="111" y="86"/>
                  <a:pt x="111" y="86"/>
                </a:cubicBezTo>
                <a:cubicBezTo>
                  <a:pt x="111" y="86"/>
                  <a:pt x="111" y="86"/>
                  <a:pt x="111" y="86"/>
                </a:cubicBezTo>
                <a:cubicBezTo>
                  <a:pt x="110" y="86"/>
                  <a:pt x="110" y="86"/>
                  <a:pt x="110" y="86"/>
                </a:cubicBezTo>
                <a:cubicBezTo>
                  <a:pt x="110" y="86"/>
                  <a:pt x="110" y="86"/>
                  <a:pt x="110" y="86"/>
                </a:cubicBezTo>
                <a:cubicBezTo>
                  <a:pt x="109" y="86"/>
                  <a:pt x="109" y="86"/>
                  <a:pt x="108" y="86"/>
                </a:cubicBezTo>
                <a:cubicBezTo>
                  <a:pt x="108" y="87"/>
                  <a:pt x="108" y="86"/>
                  <a:pt x="107" y="86"/>
                </a:cubicBezTo>
                <a:cubicBezTo>
                  <a:pt x="107" y="86"/>
                  <a:pt x="107" y="86"/>
                  <a:pt x="107" y="86"/>
                </a:cubicBezTo>
                <a:cubicBezTo>
                  <a:pt x="106" y="86"/>
                  <a:pt x="106" y="87"/>
                  <a:pt x="106" y="87"/>
                </a:cubicBezTo>
                <a:cubicBezTo>
                  <a:pt x="106" y="87"/>
                  <a:pt x="106" y="87"/>
                  <a:pt x="106" y="87"/>
                </a:cubicBezTo>
                <a:cubicBezTo>
                  <a:pt x="106" y="87"/>
                  <a:pt x="105" y="87"/>
                  <a:pt x="105" y="87"/>
                </a:cubicBezTo>
                <a:cubicBezTo>
                  <a:pt x="105" y="87"/>
                  <a:pt x="105" y="87"/>
                  <a:pt x="105" y="86"/>
                </a:cubicBezTo>
                <a:cubicBezTo>
                  <a:pt x="106" y="86"/>
                  <a:pt x="107" y="86"/>
                  <a:pt x="107" y="85"/>
                </a:cubicBezTo>
                <a:cubicBezTo>
                  <a:pt x="107" y="85"/>
                  <a:pt x="107" y="85"/>
                  <a:pt x="107" y="85"/>
                </a:cubicBezTo>
                <a:cubicBezTo>
                  <a:pt x="108" y="85"/>
                  <a:pt x="108" y="85"/>
                  <a:pt x="108" y="85"/>
                </a:cubicBezTo>
                <a:cubicBezTo>
                  <a:pt x="108" y="85"/>
                  <a:pt x="109" y="84"/>
                  <a:pt x="109" y="84"/>
                </a:cubicBezTo>
                <a:cubicBezTo>
                  <a:pt x="109" y="84"/>
                  <a:pt x="108" y="85"/>
                  <a:pt x="108" y="85"/>
                </a:cubicBezTo>
                <a:cubicBezTo>
                  <a:pt x="108" y="85"/>
                  <a:pt x="108" y="85"/>
                  <a:pt x="108" y="85"/>
                </a:cubicBezTo>
                <a:cubicBezTo>
                  <a:pt x="108" y="85"/>
                  <a:pt x="108" y="85"/>
                  <a:pt x="108" y="85"/>
                </a:cubicBezTo>
                <a:cubicBezTo>
                  <a:pt x="108" y="84"/>
                  <a:pt x="107" y="84"/>
                  <a:pt x="107" y="84"/>
                </a:cubicBezTo>
                <a:cubicBezTo>
                  <a:pt x="107" y="84"/>
                  <a:pt x="107" y="84"/>
                  <a:pt x="106" y="84"/>
                </a:cubicBezTo>
                <a:cubicBezTo>
                  <a:pt x="106" y="84"/>
                  <a:pt x="106" y="84"/>
                  <a:pt x="106" y="84"/>
                </a:cubicBezTo>
                <a:cubicBezTo>
                  <a:pt x="106" y="84"/>
                  <a:pt x="106" y="84"/>
                  <a:pt x="106" y="84"/>
                </a:cubicBezTo>
                <a:cubicBezTo>
                  <a:pt x="106" y="84"/>
                  <a:pt x="107" y="84"/>
                  <a:pt x="107" y="83"/>
                </a:cubicBezTo>
                <a:cubicBezTo>
                  <a:pt x="107" y="83"/>
                  <a:pt x="107" y="83"/>
                  <a:pt x="107" y="82"/>
                </a:cubicBezTo>
                <a:cubicBezTo>
                  <a:pt x="107" y="82"/>
                  <a:pt x="107" y="82"/>
                  <a:pt x="107" y="82"/>
                </a:cubicBezTo>
                <a:cubicBezTo>
                  <a:pt x="107" y="82"/>
                  <a:pt x="107" y="82"/>
                  <a:pt x="107" y="82"/>
                </a:cubicBezTo>
                <a:cubicBezTo>
                  <a:pt x="107" y="82"/>
                  <a:pt x="107" y="82"/>
                  <a:pt x="107" y="82"/>
                </a:cubicBezTo>
                <a:cubicBezTo>
                  <a:pt x="107" y="82"/>
                  <a:pt x="108" y="82"/>
                  <a:pt x="109" y="82"/>
                </a:cubicBezTo>
                <a:cubicBezTo>
                  <a:pt x="109" y="82"/>
                  <a:pt x="109" y="82"/>
                  <a:pt x="109" y="82"/>
                </a:cubicBezTo>
                <a:cubicBezTo>
                  <a:pt x="108" y="81"/>
                  <a:pt x="109" y="81"/>
                  <a:pt x="109" y="80"/>
                </a:cubicBezTo>
                <a:cubicBezTo>
                  <a:pt x="109" y="80"/>
                  <a:pt x="109" y="80"/>
                  <a:pt x="109" y="80"/>
                </a:cubicBezTo>
                <a:cubicBezTo>
                  <a:pt x="108" y="80"/>
                  <a:pt x="108" y="80"/>
                  <a:pt x="108" y="80"/>
                </a:cubicBezTo>
                <a:cubicBezTo>
                  <a:pt x="108" y="80"/>
                  <a:pt x="108" y="80"/>
                  <a:pt x="108" y="80"/>
                </a:cubicBezTo>
                <a:cubicBezTo>
                  <a:pt x="108" y="80"/>
                  <a:pt x="108" y="79"/>
                  <a:pt x="108" y="79"/>
                </a:cubicBezTo>
                <a:cubicBezTo>
                  <a:pt x="108" y="79"/>
                  <a:pt x="108" y="79"/>
                  <a:pt x="107" y="79"/>
                </a:cubicBezTo>
                <a:cubicBezTo>
                  <a:pt x="107" y="79"/>
                  <a:pt x="107" y="79"/>
                  <a:pt x="107" y="79"/>
                </a:cubicBezTo>
                <a:cubicBezTo>
                  <a:pt x="107" y="79"/>
                  <a:pt x="107" y="79"/>
                  <a:pt x="107" y="79"/>
                </a:cubicBezTo>
                <a:cubicBezTo>
                  <a:pt x="106" y="79"/>
                  <a:pt x="106" y="79"/>
                  <a:pt x="106" y="79"/>
                </a:cubicBezTo>
                <a:cubicBezTo>
                  <a:pt x="106" y="79"/>
                  <a:pt x="107" y="78"/>
                  <a:pt x="107" y="78"/>
                </a:cubicBezTo>
                <a:cubicBezTo>
                  <a:pt x="106" y="78"/>
                  <a:pt x="106" y="78"/>
                  <a:pt x="106" y="78"/>
                </a:cubicBezTo>
                <a:cubicBezTo>
                  <a:pt x="106" y="78"/>
                  <a:pt x="107" y="78"/>
                  <a:pt x="107" y="77"/>
                </a:cubicBezTo>
                <a:cubicBezTo>
                  <a:pt x="107" y="77"/>
                  <a:pt x="107" y="77"/>
                  <a:pt x="107" y="77"/>
                </a:cubicBezTo>
                <a:cubicBezTo>
                  <a:pt x="106" y="77"/>
                  <a:pt x="106" y="77"/>
                  <a:pt x="106" y="77"/>
                </a:cubicBezTo>
                <a:cubicBezTo>
                  <a:pt x="106" y="77"/>
                  <a:pt x="106" y="77"/>
                  <a:pt x="106" y="78"/>
                </a:cubicBezTo>
                <a:cubicBezTo>
                  <a:pt x="106" y="78"/>
                  <a:pt x="106" y="78"/>
                  <a:pt x="106" y="78"/>
                </a:cubicBezTo>
                <a:cubicBezTo>
                  <a:pt x="105" y="77"/>
                  <a:pt x="106" y="77"/>
                  <a:pt x="106" y="76"/>
                </a:cubicBezTo>
                <a:cubicBezTo>
                  <a:pt x="106" y="76"/>
                  <a:pt x="106" y="76"/>
                  <a:pt x="106" y="76"/>
                </a:cubicBezTo>
                <a:cubicBezTo>
                  <a:pt x="106" y="76"/>
                  <a:pt x="106" y="76"/>
                  <a:pt x="106" y="76"/>
                </a:cubicBezTo>
                <a:cubicBezTo>
                  <a:pt x="105" y="76"/>
                  <a:pt x="105" y="76"/>
                  <a:pt x="105" y="77"/>
                </a:cubicBezTo>
                <a:cubicBezTo>
                  <a:pt x="105" y="77"/>
                  <a:pt x="105" y="77"/>
                  <a:pt x="105" y="76"/>
                </a:cubicBezTo>
                <a:cubicBezTo>
                  <a:pt x="105" y="76"/>
                  <a:pt x="105" y="76"/>
                  <a:pt x="105" y="76"/>
                </a:cubicBezTo>
                <a:cubicBezTo>
                  <a:pt x="105" y="75"/>
                  <a:pt x="105" y="75"/>
                  <a:pt x="105" y="75"/>
                </a:cubicBezTo>
                <a:cubicBezTo>
                  <a:pt x="105" y="75"/>
                  <a:pt x="106" y="75"/>
                  <a:pt x="106" y="75"/>
                </a:cubicBezTo>
                <a:cubicBezTo>
                  <a:pt x="106" y="75"/>
                  <a:pt x="105" y="75"/>
                  <a:pt x="105" y="75"/>
                </a:cubicBezTo>
                <a:cubicBezTo>
                  <a:pt x="105" y="74"/>
                  <a:pt x="105" y="74"/>
                  <a:pt x="106" y="74"/>
                </a:cubicBezTo>
                <a:cubicBezTo>
                  <a:pt x="106" y="74"/>
                  <a:pt x="106" y="74"/>
                  <a:pt x="106" y="74"/>
                </a:cubicBezTo>
                <a:cubicBezTo>
                  <a:pt x="106" y="74"/>
                  <a:pt x="106" y="74"/>
                  <a:pt x="106" y="74"/>
                </a:cubicBezTo>
                <a:cubicBezTo>
                  <a:pt x="106" y="74"/>
                  <a:pt x="106" y="74"/>
                  <a:pt x="106" y="74"/>
                </a:cubicBezTo>
                <a:cubicBezTo>
                  <a:pt x="106" y="73"/>
                  <a:pt x="106" y="73"/>
                  <a:pt x="106" y="73"/>
                </a:cubicBezTo>
                <a:cubicBezTo>
                  <a:pt x="106" y="73"/>
                  <a:pt x="106" y="73"/>
                  <a:pt x="106" y="73"/>
                </a:cubicBezTo>
                <a:cubicBezTo>
                  <a:pt x="106" y="73"/>
                  <a:pt x="107" y="73"/>
                  <a:pt x="107" y="73"/>
                </a:cubicBezTo>
                <a:cubicBezTo>
                  <a:pt x="107" y="73"/>
                  <a:pt x="108" y="73"/>
                  <a:pt x="108" y="73"/>
                </a:cubicBezTo>
                <a:cubicBezTo>
                  <a:pt x="108" y="73"/>
                  <a:pt x="109" y="73"/>
                  <a:pt x="108" y="73"/>
                </a:cubicBezTo>
                <a:cubicBezTo>
                  <a:pt x="108" y="74"/>
                  <a:pt x="107" y="74"/>
                  <a:pt x="107" y="75"/>
                </a:cubicBezTo>
                <a:cubicBezTo>
                  <a:pt x="107" y="75"/>
                  <a:pt x="107" y="75"/>
                  <a:pt x="107" y="75"/>
                </a:cubicBezTo>
                <a:cubicBezTo>
                  <a:pt x="108" y="75"/>
                  <a:pt x="109" y="74"/>
                  <a:pt x="110" y="75"/>
                </a:cubicBezTo>
                <a:cubicBezTo>
                  <a:pt x="110" y="75"/>
                  <a:pt x="110" y="75"/>
                  <a:pt x="110" y="75"/>
                </a:cubicBezTo>
                <a:cubicBezTo>
                  <a:pt x="109" y="76"/>
                  <a:pt x="109" y="77"/>
                  <a:pt x="108" y="77"/>
                </a:cubicBezTo>
                <a:cubicBezTo>
                  <a:pt x="108" y="77"/>
                  <a:pt x="108" y="77"/>
                  <a:pt x="108" y="77"/>
                </a:cubicBezTo>
                <a:cubicBezTo>
                  <a:pt x="109" y="77"/>
                  <a:pt x="109" y="77"/>
                  <a:pt x="109" y="77"/>
                </a:cubicBezTo>
                <a:cubicBezTo>
                  <a:pt x="109" y="77"/>
                  <a:pt x="109" y="77"/>
                  <a:pt x="109" y="77"/>
                </a:cubicBezTo>
                <a:cubicBezTo>
                  <a:pt x="109" y="77"/>
                  <a:pt x="108" y="77"/>
                  <a:pt x="108" y="77"/>
                </a:cubicBezTo>
                <a:cubicBezTo>
                  <a:pt x="108" y="77"/>
                  <a:pt x="108" y="77"/>
                  <a:pt x="108" y="77"/>
                </a:cubicBezTo>
                <a:cubicBezTo>
                  <a:pt x="108" y="78"/>
                  <a:pt x="108" y="77"/>
                  <a:pt x="109" y="77"/>
                </a:cubicBezTo>
                <a:cubicBezTo>
                  <a:pt x="109" y="77"/>
                  <a:pt x="110" y="78"/>
                  <a:pt x="110" y="78"/>
                </a:cubicBezTo>
                <a:cubicBezTo>
                  <a:pt x="110" y="79"/>
                  <a:pt x="110" y="79"/>
                  <a:pt x="110" y="79"/>
                </a:cubicBezTo>
                <a:cubicBezTo>
                  <a:pt x="111" y="80"/>
                  <a:pt x="111" y="79"/>
                  <a:pt x="111" y="80"/>
                </a:cubicBezTo>
                <a:cubicBezTo>
                  <a:pt x="111" y="80"/>
                  <a:pt x="111" y="80"/>
                  <a:pt x="112" y="80"/>
                </a:cubicBezTo>
                <a:cubicBezTo>
                  <a:pt x="112" y="81"/>
                  <a:pt x="112" y="81"/>
                  <a:pt x="112" y="81"/>
                </a:cubicBezTo>
                <a:cubicBezTo>
                  <a:pt x="112" y="82"/>
                  <a:pt x="113" y="82"/>
                  <a:pt x="112" y="82"/>
                </a:cubicBezTo>
                <a:cubicBezTo>
                  <a:pt x="112" y="82"/>
                  <a:pt x="112" y="83"/>
                  <a:pt x="112" y="83"/>
                </a:cubicBezTo>
                <a:cubicBezTo>
                  <a:pt x="113" y="82"/>
                  <a:pt x="114" y="82"/>
                  <a:pt x="114" y="83"/>
                </a:cubicBezTo>
                <a:cubicBezTo>
                  <a:pt x="114" y="83"/>
                  <a:pt x="114" y="83"/>
                  <a:pt x="114" y="83"/>
                </a:cubicBezTo>
                <a:cubicBezTo>
                  <a:pt x="114" y="84"/>
                  <a:pt x="113" y="84"/>
                  <a:pt x="112" y="85"/>
                </a:cubicBezTo>
                <a:moveTo>
                  <a:pt x="106" y="78"/>
                </a:moveTo>
                <a:cubicBezTo>
                  <a:pt x="106" y="78"/>
                  <a:pt x="106" y="78"/>
                  <a:pt x="106" y="78"/>
                </a:cubicBezTo>
                <a:cubicBezTo>
                  <a:pt x="106" y="78"/>
                  <a:pt x="106" y="78"/>
                  <a:pt x="105" y="78"/>
                </a:cubicBezTo>
                <a:cubicBezTo>
                  <a:pt x="105" y="78"/>
                  <a:pt x="105" y="78"/>
                  <a:pt x="105" y="78"/>
                </a:cubicBezTo>
                <a:cubicBezTo>
                  <a:pt x="105" y="78"/>
                  <a:pt x="105" y="78"/>
                  <a:pt x="105" y="78"/>
                </a:cubicBezTo>
                <a:cubicBezTo>
                  <a:pt x="105" y="78"/>
                  <a:pt x="105" y="78"/>
                  <a:pt x="106" y="78"/>
                </a:cubicBezTo>
                <a:moveTo>
                  <a:pt x="105" y="80"/>
                </a:moveTo>
                <a:cubicBezTo>
                  <a:pt x="105" y="80"/>
                  <a:pt x="105" y="81"/>
                  <a:pt x="104" y="81"/>
                </a:cubicBezTo>
                <a:cubicBezTo>
                  <a:pt x="105" y="81"/>
                  <a:pt x="105" y="82"/>
                  <a:pt x="105" y="82"/>
                </a:cubicBezTo>
                <a:cubicBezTo>
                  <a:pt x="105" y="83"/>
                  <a:pt x="105" y="83"/>
                  <a:pt x="105" y="83"/>
                </a:cubicBezTo>
                <a:cubicBezTo>
                  <a:pt x="104" y="83"/>
                  <a:pt x="104" y="83"/>
                  <a:pt x="104" y="83"/>
                </a:cubicBezTo>
                <a:cubicBezTo>
                  <a:pt x="104" y="83"/>
                  <a:pt x="104" y="83"/>
                  <a:pt x="104" y="84"/>
                </a:cubicBezTo>
                <a:cubicBezTo>
                  <a:pt x="104" y="84"/>
                  <a:pt x="103" y="84"/>
                  <a:pt x="103" y="84"/>
                </a:cubicBezTo>
                <a:cubicBezTo>
                  <a:pt x="103" y="84"/>
                  <a:pt x="102" y="84"/>
                  <a:pt x="102" y="84"/>
                </a:cubicBezTo>
                <a:cubicBezTo>
                  <a:pt x="102" y="84"/>
                  <a:pt x="102" y="84"/>
                  <a:pt x="102" y="84"/>
                </a:cubicBezTo>
                <a:cubicBezTo>
                  <a:pt x="101" y="84"/>
                  <a:pt x="101" y="85"/>
                  <a:pt x="101" y="85"/>
                </a:cubicBezTo>
                <a:cubicBezTo>
                  <a:pt x="101" y="84"/>
                  <a:pt x="101" y="84"/>
                  <a:pt x="101"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3"/>
                  <a:pt x="100" y="83"/>
                  <a:pt x="100" y="83"/>
                </a:cubicBezTo>
                <a:cubicBezTo>
                  <a:pt x="100" y="83"/>
                  <a:pt x="100" y="83"/>
                  <a:pt x="101" y="83"/>
                </a:cubicBezTo>
                <a:cubicBezTo>
                  <a:pt x="101" y="83"/>
                  <a:pt x="101" y="83"/>
                  <a:pt x="101" y="83"/>
                </a:cubicBezTo>
                <a:cubicBezTo>
                  <a:pt x="101" y="83"/>
                  <a:pt x="101" y="83"/>
                  <a:pt x="101" y="83"/>
                </a:cubicBezTo>
                <a:cubicBezTo>
                  <a:pt x="101" y="83"/>
                  <a:pt x="101" y="83"/>
                  <a:pt x="101" y="83"/>
                </a:cubicBezTo>
                <a:cubicBezTo>
                  <a:pt x="101" y="83"/>
                  <a:pt x="101" y="83"/>
                  <a:pt x="101" y="83"/>
                </a:cubicBezTo>
                <a:cubicBezTo>
                  <a:pt x="101" y="83"/>
                  <a:pt x="101" y="82"/>
                  <a:pt x="101" y="82"/>
                </a:cubicBezTo>
                <a:cubicBezTo>
                  <a:pt x="101" y="82"/>
                  <a:pt x="101" y="82"/>
                  <a:pt x="101" y="82"/>
                </a:cubicBezTo>
                <a:cubicBezTo>
                  <a:pt x="101" y="82"/>
                  <a:pt x="101" y="82"/>
                  <a:pt x="102" y="82"/>
                </a:cubicBezTo>
                <a:cubicBezTo>
                  <a:pt x="102" y="82"/>
                  <a:pt x="102" y="82"/>
                  <a:pt x="102" y="82"/>
                </a:cubicBezTo>
                <a:cubicBezTo>
                  <a:pt x="101" y="82"/>
                  <a:pt x="100" y="82"/>
                  <a:pt x="100" y="81"/>
                </a:cubicBezTo>
                <a:cubicBezTo>
                  <a:pt x="100" y="81"/>
                  <a:pt x="100" y="81"/>
                  <a:pt x="100" y="81"/>
                </a:cubicBezTo>
                <a:cubicBezTo>
                  <a:pt x="100" y="81"/>
                  <a:pt x="100" y="81"/>
                  <a:pt x="100" y="81"/>
                </a:cubicBezTo>
                <a:cubicBezTo>
                  <a:pt x="100" y="81"/>
                  <a:pt x="100" y="81"/>
                  <a:pt x="101" y="81"/>
                </a:cubicBezTo>
                <a:cubicBezTo>
                  <a:pt x="100" y="81"/>
                  <a:pt x="101" y="81"/>
                  <a:pt x="101" y="81"/>
                </a:cubicBezTo>
                <a:cubicBezTo>
                  <a:pt x="101" y="81"/>
                  <a:pt x="101" y="81"/>
                  <a:pt x="101" y="81"/>
                </a:cubicBezTo>
                <a:cubicBezTo>
                  <a:pt x="100" y="81"/>
                  <a:pt x="100" y="81"/>
                  <a:pt x="100" y="81"/>
                </a:cubicBezTo>
                <a:cubicBezTo>
                  <a:pt x="100" y="81"/>
                  <a:pt x="100" y="81"/>
                  <a:pt x="100" y="81"/>
                </a:cubicBezTo>
                <a:cubicBezTo>
                  <a:pt x="100" y="80"/>
                  <a:pt x="100" y="80"/>
                  <a:pt x="100" y="80"/>
                </a:cubicBezTo>
                <a:cubicBezTo>
                  <a:pt x="101" y="80"/>
                  <a:pt x="101" y="80"/>
                  <a:pt x="102" y="80"/>
                </a:cubicBezTo>
                <a:cubicBezTo>
                  <a:pt x="102" y="80"/>
                  <a:pt x="102" y="80"/>
                  <a:pt x="102" y="80"/>
                </a:cubicBezTo>
                <a:cubicBezTo>
                  <a:pt x="102" y="80"/>
                  <a:pt x="102" y="80"/>
                  <a:pt x="102" y="79"/>
                </a:cubicBezTo>
                <a:cubicBezTo>
                  <a:pt x="102" y="79"/>
                  <a:pt x="102" y="79"/>
                  <a:pt x="102" y="79"/>
                </a:cubicBezTo>
                <a:cubicBezTo>
                  <a:pt x="102" y="79"/>
                  <a:pt x="102" y="79"/>
                  <a:pt x="102" y="79"/>
                </a:cubicBezTo>
                <a:cubicBezTo>
                  <a:pt x="102" y="79"/>
                  <a:pt x="102" y="79"/>
                  <a:pt x="102" y="79"/>
                </a:cubicBezTo>
                <a:cubicBezTo>
                  <a:pt x="102" y="79"/>
                  <a:pt x="102" y="79"/>
                  <a:pt x="103" y="78"/>
                </a:cubicBezTo>
                <a:cubicBezTo>
                  <a:pt x="103" y="79"/>
                  <a:pt x="103" y="79"/>
                  <a:pt x="103" y="79"/>
                </a:cubicBezTo>
                <a:cubicBezTo>
                  <a:pt x="104" y="79"/>
                  <a:pt x="105" y="78"/>
                  <a:pt x="105" y="79"/>
                </a:cubicBezTo>
                <a:cubicBezTo>
                  <a:pt x="105" y="79"/>
                  <a:pt x="105" y="80"/>
                  <a:pt x="105" y="80"/>
                </a:cubicBezTo>
                <a:moveTo>
                  <a:pt x="100" y="113"/>
                </a:moveTo>
                <a:cubicBezTo>
                  <a:pt x="101" y="112"/>
                  <a:pt x="101" y="112"/>
                  <a:pt x="101" y="112"/>
                </a:cubicBezTo>
                <a:cubicBezTo>
                  <a:pt x="101" y="112"/>
                  <a:pt x="101" y="111"/>
                  <a:pt x="101" y="111"/>
                </a:cubicBezTo>
                <a:cubicBezTo>
                  <a:pt x="101" y="111"/>
                  <a:pt x="102" y="110"/>
                  <a:pt x="102" y="110"/>
                </a:cubicBezTo>
                <a:cubicBezTo>
                  <a:pt x="103" y="110"/>
                  <a:pt x="104" y="110"/>
                  <a:pt x="104" y="109"/>
                </a:cubicBezTo>
                <a:cubicBezTo>
                  <a:pt x="104" y="109"/>
                  <a:pt x="105" y="107"/>
                  <a:pt x="105" y="107"/>
                </a:cubicBezTo>
                <a:cubicBezTo>
                  <a:pt x="105" y="107"/>
                  <a:pt x="105" y="107"/>
                  <a:pt x="105" y="107"/>
                </a:cubicBezTo>
                <a:cubicBezTo>
                  <a:pt x="106" y="107"/>
                  <a:pt x="106" y="108"/>
                  <a:pt x="107" y="108"/>
                </a:cubicBezTo>
                <a:cubicBezTo>
                  <a:pt x="107" y="108"/>
                  <a:pt x="108" y="107"/>
                  <a:pt x="109" y="107"/>
                </a:cubicBezTo>
                <a:cubicBezTo>
                  <a:pt x="109" y="108"/>
                  <a:pt x="109" y="108"/>
                  <a:pt x="110" y="108"/>
                </a:cubicBezTo>
                <a:cubicBezTo>
                  <a:pt x="110" y="108"/>
                  <a:pt x="110" y="107"/>
                  <a:pt x="111" y="107"/>
                </a:cubicBezTo>
                <a:cubicBezTo>
                  <a:pt x="111" y="107"/>
                  <a:pt x="111" y="107"/>
                  <a:pt x="112" y="107"/>
                </a:cubicBezTo>
                <a:cubicBezTo>
                  <a:pt x="112" y="107"/>
                  <a:pt x="112" y="107"/>
                  <a:pt x="112" y="107"/>
                </a:cubicBezTo>
                <a:cubicBezTo>
                  <a:pt x="112" y="107"/>
                  <a:pt x="112" y="106"/>
                  <a:pt x="113" y="106"/>
                </a:cubicBezTo>
                <a:cubicBezTo>
                  <a:pt x="113" y="106"/>
                  <a:pt x="114" y="106"/>
                  <a:pt x="115" y="106"/>
                </a:cubicBezTo>
                <a:cubicBezTo>
                  <a:pt x="115" y="106"/>
                  <a:pt x="115" y="106"/>
                  <a:pt x="115" y="106"/>
                </a:cubicBezTo>
                <a:cubicBezTo>
                  <a:pt x="115" y="106"/>
                  <a:pt x="116" y="106"/>
                  <a:pt x="116" y="106"/>
                </a:cubicBezTo>
                <a:cubicBezTo>
                  <a:pt x="116" y="106"/>
                  <a:pt x="116" y="106"/>
                  <a:pt x="116" y="105"/>
                </a:cubicBezTo>
                <a:cubicBezTo>
                  <a:pt x="117" y="105"/>
                  <a:pt x="118" y="106"/>
                  <a:pt x="118" y="106"/>
                </a:cubicBezTo>
                <a:cubicBezTo>
                  <a:pt x="119" y="106"/>
                  <a:pt x="119" y="105"/>
                  <a:pt x="119" y="105"/>
                </a:cubicBezTo>
                <a:cubicBezTo>
                  <a:pt x="120" y="105"/>
                  <a:pt x="120" y="105"/>
                  <a:pt x="120" y="105"/>
                </a:cubicBezTo>
                <a:cubicBezTo>
                  <a:pt x="120" y="105"/>
                  <a:pt x="120" y="105"/>
                  <a:pt x="121" y="105"/>
                </a:cubicBezTo>
                <a:cubicBezTo>
                  <a:pt x="121" y="105"/>
                  <a:pt x="121" y="106"/>
                  <a:pt x="121" y="106"/>
                </a:cubicBezTo>
                <a:cubicBezTo>
                  <a:pt x="122" y="106"/>
                  <a:pt x="123" y="105"/>
                  <a:pt x="123" y="105"/>
                </a:cubicBezTo>
                <a:cubicBezTo>
                  <a:pt x="123" y="105"/>
                  <a:pt x="123" y="105"/>
                  <a:pt x="123" y="105"/>
                </a:cubicBezTo>
                <a:cubicBezTo>
                  <a:pt x="123" y="105"/>
                  <a:pt x="124" y="105"/>
                  <a:pt x="124" y="105"/>
                </a:cubicBezTo>
                <a:cubicBezTo>
                  <a:pt x="124" y="105"/>
                  <a:pt x="124" y="105"/>
                  <a:pt x="124" y="106"/>
                </a:cubicBezTo>
                <a:cubicBezTo>
                  <a:pt x="124" y="106"/>
                  <a:pt x="124" y="106"/>
                  <a:pt x="124" y="106"/>
                </a:cubicBezTo>
                <a:cubicBezTo>
                  <a:pt x="124" y="105"/>
                  <a:pt x="125" y="105"/>
                  <a:pt x="125" y="105"/>
                </a:cubicBezTo>
                <a:cubicBezTo>
                  <a:pt x="125" y="106"/>
                  <a:pt x="123" y="106"/>
                  <a:pt x="125" y="107"/>
                </a:cubicBezTo>
                <a:cubicBezTo>
                  <a:pt x="125" y="107"/>
                  <a:pt x="125" y="107"/>
                  <a:pt x="125" y="108"/>
                </a:cubicBezTo>
                <a:cubicBezTo>
                  <a:pt x="125" y="108"/>
                  <a:pt x="124" y="109"/>
                  <a:pt x="124" y="109"/>
                </a:cubicBezTo>
                <a:cubicBezTo>
                  <a:pt x="124" y="109"/>
                  <a:pt x="124" y="110"/>
                  <a:pt x="124" y="110"/>
                </a:cubicBezTo>
                <a:cubicBezTo>
                  <a:pt x="125" y="110"/>
                  <a:pt x="125" y="110"/>
                  <a:pt x="125" y="110"/>
                </a:cubicBezTo>
                <a:cubicBezTo>
                  <a:pt x="125" y="110"/>
                  <a:pt x="125" y="110"/>
                  <a:pt x="125" y="110"/>
                </a:cubicBezTo>
                <a:cubicBezTo>
                  <a:pt x="126" y="110"/>
                  <a:pt x="126" y="111"/>
                  <a:pt x="127" y="111"/>
                </a:cubicBezTo>
                <a:cubicBezTo>
                  <a:pt x="127" y="111"/>
                  <a:pt x="127" y="111"/>
                  <a:pt x="128" y="111"/>
                </a:cubicBezTo>
                <a:cubicBezTo>
                  <a:pt x="128" y="111"/>
                  <a:pt x="128" y="111"/>
                  <a:pt x="129" y="111"/>
                </a:cubicBezTo>
                <a:cubicBezTo>
                  <a:pt x="129" y="111"/>
                  <a:pt x="129" y="111"/>
                  <a:pt x="129" y="111"/>
                </a:cubicBezTo>
                <a:cubicBezTo>
                  <a:pt x="129" y="111"/>
                  <a:pt x="129" y="111"/>
                  <a:pt x="129" y="111"/>
                </a:cubicBezTo>
                <a:cubicBezTo>
                  <a:pt x="130" y="112"/>
                  <a:pt x="130" y="113"/>
                  <a:pt x="130" y="113"/>
                </a:cubicBezTo>
                <a:cubicBezTo>
                  <a:pt x="131" y="113"/>
                  <a:pt x="132" y="113"/>
                  <a:pt x="133" y="113"/>
                </a:cubicBezTo>
                <a:cubicBezTo>
                  <a:pt x="133" y="113"/>
                  <a:pt x="134" y="114"/>
                  <a:pt x="134" y="114"/>
                </a:cubicBezTo>
                <a:cubicBezTo>
                  <a:pt x="134" y="114"/>
                  <a:pt x="135" y="114"/>
                  <a:pt x="135" y="114"/>
                </a:cubicBezTo>
                <a:cubicBezTo>
                  <a:pt x="136" y="113"/>
                  <a:pt x="135" y="113"/>
                  <a:pt x="135" y="112"/>
                </a:cubicBezTo>
                <a:cubicBezTo>
                  <a:pt x="136" y="111"/>
                  <a:pt x="137" y="111"/>
                  <a:pt x="139" y="111"/>
                </a:cubicBezTo>
                <a:cubicBezTo>
                  <a:pt x="139" y="111"/>
                  <a:pt x="139" y="112"/>
                  <a:pt x="139" y="112"/>
                </a:cubicBezTo>
                <a:cubicBezTo>
                  <a:pt x="139" y="112"/>
                  <a:pt x="140" y="112"/>
                  <a:pt x="140" y="112"/>
                </a:cubicBezTo>
                <a:cubicBezTo>
                  <a:pt x="141" y="112"/>
                  <a:pt x="141" y="112"/>
                  <a:pt x="141" y="112"/>
                </a:cubicBezTo>
                <a:cubicBezTo>
                  <a:pt x="141" y="112"/>
                  <a:pt x="141" y="112"/>
                  <a:pt x="141" y="113"/>
                </a:cubicBezTo>
                <a:cubicBezTo>
                  <a:pt x="143" y="113"/>
                  <a:pt x="143" y="113"/>
                  <a:pt x="143" y="113"/>
                </a:cubicBezTo>
                <a:cubicBezTo>
                  <a:pt x="143" y="113"/>
                  <a:pt x="144" y="113"/>
                  <a:pt x="144" y="113"/>
                </a:cubicBezTo>
                <a:cubicBezTo>
                  <a:pt x="144" y="113"/>
                  <a:pt x="145" y="113"/>
                  <a:pt x="145" y="113"/>
                </a:cubicBezTo>
                <a:cubicBezTo>
                  <a:pt x="145" y="113"/>
                  <a:pt x="145" y="113"/>
                  <a:pt x="145" y="113"/>
                </a:cubicBezTo>
                <a:cubicBezTo>
                  <a:pt x="146" y="113"/>
                  <a:pt x="146" y="114"/>
                  <a:pt x="146" y="113"/>
                </a:cubicBezTo>
                <a:cubicBezTo>
                  <a:pt x="146" y="113"/>
                  <a:pt x="146" y="113"/>
                  <a:pt x="147" y="113"/>
                </a:cubicBezTo>
                <a:cubicBezTo>
                  <a:pt x="147" y="113"/>
                  <a:pt x="148" y="112"/>
                  <a:pt x="149" y="113"/>
                </a:cubicBezTo>
                <a:cubicBezTo>
                  <a:pt x="149" y="113"/>
                  <a:pt x="149" y="113"/>
                  <a:pt x="149" y="113"/>
                </a:cubicBezTo>
                <a:cubicBezTo>
                  <a:pt x="150" y="113"/>
                  <a:pt x="150" y="113"/>
                  <a:pt x="151" y="113"/>
                </a:cubicBezTo>
                <a:cubicBezTo>
                  <a:pt x="151" y="113"/>
                  <a:pt x="151" y="113"/>
                  <a:pt x="152" y="113"/>
                </a:cubicBezTo>
                <a:cubicBezTo>
                  <a:pt x="152" y="114"/>
                  <a:pt x="152" y="114"/>
                  <a:pt x="153" y="115"/>
                </a:cubicBezTo>
                <a:cubicBezTo>
                  <a:pt x="152" y="116"/>
                  <a:pt x="152" y="117"/>
                  <a:pt x="152" y="117"/>
                </a:cubicBezTo>
                <a:cubicBezTo>
                  <a:pt x="152" y="117"/>
                  <a:pt x="152" y="117"/>
                  <a:pt x="152" y="117"/>
                </a:cubicBezTo>
                <a:cubicBezTo>
                  <a:pt x="151" y="117"/>
                  <a:pt x="150" y="116"/>
                  <a:pt x="150" y="115"/>
                </a:cubicBezTo>
                <a:cubicBezTo>
                  <a:pt x="150" y="115"/>
                  <a:pt x="150" y="115"/>
                  <a:pt x="150" y="115"/>
                </a:cubicBezTo>
                <a:cubicBezTo>
                  <a:pt x="150" y="116"/>
                  <a:pt x="151" y="116"/>
                  <a:pt x="151" y="117"/>
                </a:cubicBezTo>
                <a:cubicBezTo>
                  <a:pt x="151" y="118"/>
                  <a:pt x="151" y="118"/>
                  <a:pt x="152" y="119"/>
                </a:cubicBezTo>
                <a:cubicBezTo>
                  <a:pt x="152" y="120"/>
                  <a:pt x="153" y="121"/>
                  <a:pt x="153" y="121"/>
                </a:cubicBezTo>
                <a:cubicBezTo>
                  <a:pt x="153" y="122"/>
                  <a:pt x="153" y="122"/>
                  <a:pt x="154" y="122"/>
                </a:cubicBezTo>
                <a:cubicBezTo>
                  <a:pt x="154" y="122"/>
                  <a:pt x="154" y="122"/>
                  <a:pt x="153" y="122"/>
                </a:cubicBezTo>
                <a:cubicBezTo>
                  <a:pt x="154" y="123"/>
                  <a:pt x="154" y="123"/>
                  <a:pt x="154" y="123"/>
                </a:cubicBezTo>
                <a:cubicBezTo>
                  <a:pt x="154" y="123"/>
                  <a:pt x="154" y="124"/>
                  <a:pt x="154" y="124"/>
                </a:cubicBezTo>
                <a:cubicBezTo>
                  <a:pt x="155" y="124"/>
                  <a:pt x="155" y="125"/>
                  <a:pt x="155" y="125"/>
                </a:cubicBezTo>
                <a:cubicBezTo>
                  <a:pt x="156" y="126"/>
                  <a:pt x="155" y="128"/>
                  <a:pt x="156" y="128"/>
                </a:cubicBezTo>
                <a:cubicBezTo>
                  <a:pt x="156" y="129"/>
                  <a:pt x="157" y="129"/>
                  <a:pt x="157" y="129"/>
                </a:cubicBezTo>
                <a:cubicBezTo>
                  <a:pt x="158" y="130"/>
                  <a:pt x="158" y="132"/>
                  <a:pt x="159" y="133"/>
                </a:cubicBezTo>
                <a:cubicBezTo>
                  <a:pt x="159" y="133"/>
                  <a:pt x="159" y="133"/>
                  <a:pt x="159" y="133"/>
                </a:cubicBezTo>
                <a:cubicBezTo>
                  <a:pt x="159" y="133"/>
                  <a:pt x="159" y="132"/>
                  <a:pt x="159" y="132"/>
                </a:cubicBezTo>
                <a:cubicBezTo>
                  <a:pt x="159" y="132"/>
                  <a:pt x="159" y="133"/>
                  <a:pt x="159" y="133"/>
                </a:cubicBezTo>
                <a:cubicBezTo>
                  <a:pt x="159" y="133"/>
                  <a:pt x="160" y="133"/>
                  <a:pt x="160" y="133"/>
                </a:cubicBezTo>
                <a:cubicBezTo>
                  <a:pt x="160" y="133"/>
                  <a:pt x="160" y="134"/>
                  <a:pt x="161" y="134"/>
                </a:cubicBezTo>
                <a:cubicBezTo>
                  <a:pt x="161" y="134"/>
                  <a:pt x="161" y="134"/>
                  <a:pt x="161" y="134"/>
                </a:cubicBezTo>
                <a:cubicBezTo>
                  <a:pt x="161" y="134"/>
                  <a:pt x="161" y="135"/>
                  <a:pt x="162" y="135"/>
                </a:cubicBezTo>
                <a:cubicBezTo>
                  <a:pt x="162" y="135"/>
                  <a:pt x="163" y="136"/>
                  <a:pt x="163" y="136"/>
                </a:cubicBezTo>
                <a:cubicBezTo>
                  <a:pt x="163" y="136"/>
                  <a:pt x="162" y="137"/>
                  <a:pt x="162" y="137"/>
                </a:cubicBezTo>
                <a:cubicBezTo>
                  <a:pt x="162" y="137"/>
                  <a:pt x="162" y="137"/>
                  <a:pt x="162" y="137"/>
                </a:cubicBezTo>
                <a:cubicBezTo>
                  <a:pt x="162" y="137"/>
                  <a:pt x="162" y="137"/>
                  <a:pt x="162" y="137"/>
                </a:cubicBezTo>
                <a:cubicBezTo>
                  <a:pt x="162" y="137"/>
                  <a:pt x="162" y="137"/>
                  <a:pt x="163" y="137"/>
                </a:cubicBezTo>
                <a:cubicBezTo>
                  <a:pt x="163" y="137"/>
                  <a:pt x="163" y="138"/>
                  <a:pt x="164" y="138"/>
                </a:cubicBezTo>
                <a:cubicBezTo>
                  <a:pt x="164" y="138"/>
                  <a:pt x="164" y="138"/>
                  <a:pt x="164" y="138"/>
                </a:cubicBezTo>
                <a:cubicBezTo>
                  <a:pt x="165" y="138"/>
                  <a:pt x="165" y="138"/>
                  <a:pt x="166" y="138"/>
                </a:cubicBezTo>
                <a:cubicBezTo>
                  <a:pt x="166" y="138"/>
                  <a:pt x="166" y="138"/>
                  <a:pt x="166" y="138"/>
                </a:cubicBezTo>
                <a:cubicBezTo>
                  <a:pt x="167" y="138"/>
                  <a:pt x="167" y="138"/>
                  <a:pt x="167" y="137"/>
                </a:cubicBezTo>
                <a:cubicBezTo>
                  <a:pt x="167" y="137"/>
                  <a:pt x="167" y="137"/>
                  <a:pt x="167" y="137"/>
                </a:cubicBezTo>
                <a:cubicBezTo>
                  <a:pt x="168" y="137"/>
                  <a:pt x="168" y="137"/>
                  <a:pt x="168" y="138"/>
                </a:cubicBezTo>
                <a:cubicBezTo>
                  <a:pt x="168" y="137"/>
                  <a:pt x="169" y="137"/>
                  <a:pt x="169" y="137"/>
                </a:cubicBezTo>
                <a:cubicBezTo>
                  <a:pt x="169" y="137"/>
                  <a:pt x="169" y="137"/>
                  <a:pt x="170" y="137"/>
                </a:cubicBezTo>
                <a:cubicBezTo>
                  <a:pt x="170" y="137"/>
                  <a:pt x="171" y="137"/>
                  <a:pt x="171" y="136"/>
                </a:cubicBezTo>
                <a:cubicBezTo>
                  <a:pt x="171" y="137"/>
                  <a:pt x="172" y="137"/>
                  <a:pt x="172" y="137"/>
                </a:cubicBezTo>
                <a:cubicBezTo>
                  <a:pt x="172" y="137"/>
                  <a:pt x="172" y="137"/>
                  <a:pt x="172" y="137"/>
                </a:cubicBezTo>
                <a:cubicBezTo>
                  <a:pt x="172" y="137"/>
                  <a:pt x="172" y="137"/>
                  <a:pt x="172" y="137"/>
                </a:cubicBezTo>
                <a:cubicBezTo>
                  <a:pt x="172" y="138"/>
                  <a:pt x="172" y="138"/>
                  <a:pt x="172" y="138"/>
                </a:cubicBezTo>
                <a:cubicBezTo>
                  <a:pt x="172" y="138"/>
                  <a:pt x="171" y="138"/>
                  <a:pt x="171" y="139"/>
                </a:cubicBezTo>
                <a:cubicBezTo>
                  <a:pt x="171" y="139"/>
                  <a:pt x="171" y="139"/>
                  <a:pt x="171" y="140"/>
                </a:cubicBezTo>
                <a:cubicBezTo>
                  <a:pt x="171" y="140"/>
                  <a:pt x="171" y="140"/>
                  <a:pt x="171" y="141"/>
                </a:cubicBezTo>
                <a:cubicBezTo>
                  <a:pt x="170" y="141"/>
                  <a:pt x="170" y="141"/>
                  <a:pt x="170" y="141"/>
                </a:cubicBezTo>
                <a:cubicBezTo>
                  <a:pt x="170" y="141"/>
                  <a:pt x="170" y="141"/>
                  <a:pt x="170" y="142"/>
                </a:cubicBezTo>
                <a:cubicBezTo>
                  <a:pt x="170" y="142"/>
                  <a:pt x="170" y="142"/>
                  <a:pt x="169" y="143"/>
                </a:cubicBezTo>
                <a:cubicBezTo>
                  <a:pt x="169" y="143"/>
                  <a:pt x="169" y="143"/>
                  <a:pt x="169" y="144"/>
                </a:cubicBezTo>
                <a:cubicBezTo>
                  <a:pt x="169" y="145"/>
                  <a:pt x="168" y="145"/>
                  <a:pt x="167" y="146"/>
                </a:cubicBezTo>
                <a:cubicBezTo>
                  <a:pt x="167" y="147"/>
                  <a:pt x="166" y="147"/>
                  <a:pt x="166" y="148"/>
                </a:cubicBezTo>
                <a:cubicBezTo>
                  <a:pt x="165" y="148"/>
                  <a:pt x="164" y="149"/>
                  <a:pt x="163" y="150"/>
                </a:cubicBezTo>
                <a:cubicBezTo>
                  <a:pt x="162" y="151"/>
                  <a:pt x="161" y="151"/>
                  <a:pt x="161" y="152"/>
                </a:cubicBezTo>
                <a:cubicBezTo>
                  <a:pt x="161" y="153"/>
                  <a:pt x="161" y="153"/>
                  <a:pt x="161" y="153"/>
                </a:cubicBezTo>
                <a:cubicBezTo>
                  <a:pt x="160" y="153"/>
                  <a:pt x="160" y="153"/>
                  <a:pt x="160" y="153"/>
                </a:cubicBezTo>
                <a:cubicBezTo>
                  <a:pt x="160" y="154"/>
                  <a:pt x="159" y="154"/>
                  <a:pt x="159" y="154"/>
                </a:cubicBezTo>
                <a:cubicBezTo>
                  <a:pt x="159" y="155"/>
                  <a:pt x="158" y="155"/>
                  <a:pt x="158" y="155"/>
                </a:cubicBezTo>
                <a:cubicBezTo>
                  <a:pt x="158" y="156"/>
                  <a:pt x="158" y="156"/>
                  <a:pt x="158" y="156"/>
                </a:cubicBezTo>
                <a:cubicBezTo>
                  <a:pt x="158" y="156"/>
                  <a:pt x="158" y="156"/>
                  <a:pt x="158" y="156"/>
                </a:cubicBezTo>
                <a:cubicBezTo>
                  <a:pt x="158" y="156"/>
                  <a:pt x="157" y="158"/>
                  <a:pt x="157" y="158"/>
                </a:cubicBezTo>
                <a:cubicBezTo>
                  <a:pt x="158" y="158"/>
                  <a:pt x="158" y="159"/>
                  <a:pt x="158" y="159"/>
                </a:cubicBezTo>
                <a:cubicBezTo>
                  <a:pt x="158" y="159"/>
                  <a:pt x="158" y="159"/>
                  <a:pt x="158" y="160"/>
                </a:cubicBezTo>
                <a:cubicBezTo>
                  <a:pt x="158" y="160"/>
                  <a:pt x="158" y="160"/>
                  <a:pt x="158" y="160"/>
                </a:cubicBezTo>
                <a:cubicBezTo>
                  <a:pt x="158" y="161"/>
                  <a:pt x="158" y="162"/>
                  <a:pt x="158" y="162"/>
                </a:cubicBezTo>
                <a:cubicBezTo>
                  <a:pt x="159" y="163"/>
                  <a:pt x="159" y="163"/>
                  <a:pt x="159" y="163"/>
                </a:cubicBezTo>
                <a:cubicBezTo>
                  <a:pt x="159" y="163"/>
                  <a:pt x="159" y="164"/>
                  <a:pt x="159" y="164"/>
                </a:cubicBezTo>
                <a:cubicBezTo>
                  <a:pt x="159" y="164"/>
                  <a:pt x="159" y="165"/>
                  <a:pt x="159" y="165"/>
                </a:cubicBezTo>
                <a:cubicBezTo>
                  <a:pt x="159" y="166"/>
                  <a:pt x="159" y="166"/>
                  <a:pt x="159" y="166"/>
                </a:cubicBezTo>
                <a:cubicBezTo>
                  <a:pt x="159" y="166"/>
                  <a:pt x="159" y="167"/>
                  <a:pt x="159" y="168"/>
                </a:cubicBezTo>
                <a:cubicBezTo>
                  <a:pt x="160" y="168"/>
                  <a:pt x="160" y="168"/>
                  <a:pt x="160" y="168"/>
                </a:cubicBezTo>
                <a:cubicBezTo>
                  <a:pt x="160" y="168"/>
                  <a:pt x="160" y="168"/>
                  <a:pt x="160" y="168"/>
                </a:cubicBezTo>
                <a:cubicBezTo>
                  <a:pt x="160" y="168"/>
                  <a:pt x="160" y="168"/>
                  <a:pt x="159" y="168"/>
                </a:cubicBezTo>
                <a:cubicBezTo>
                  <a:pt x="159" y="168"/>
                  <a:pt x="159" y="169"/>
                  <a:pt x="159" y="169"/>
                </a:cubicBezTo>
                <a:cubicBezTo>
                  <a:pt x="159" y="169"/>
                  <a:pt x="159" y="170"/>
                  <a:pt x="158" y="170"/>
                </a:cubicBezTo>
                <a:cubicBezTo>
                  <a:pt x="157" y="171"/>
                  <a:pt x="156" y="171"/>
                  <a:pt x="156" y="171"/>
                </a:cubicBezTo>
                <a:cubicBezTo>
                  <a:pt x="155" y="172"/>
                  <a:pt x="155" y="173"/>
                  <a:pt x="154" y="173"/>
                </a:cubicBezTo>
                <a:cubicBezTo>
                  <a:pt x="153" y="173"/>
                  <a:pt x="153" y="174"/>
                  <a:pt x="153" y="174"/>
                </a:cubicBezTo>
                <a:cubicBezTo>
                  <a:pt x="153" y="175"/>
                  <a:pt x="153" y="175"/>
                  <a:pt x="153" y="175"/>
                </a:cubicBezTo>
                <a:cubicBezTo>
                  <a:pt x="153" y="175"/>
                  <a:pt x="153" y="175"/>
                  <a:pt x="153" y="175"/>
                </a:cubicBezTo>
                <a:cubicBezTo>
                  <a:pt x="153" y="176"/>
                  <a:pt x="153" y="176"/>
                  <a:pt x="153" y="177"/>
                </a:cubicBezTo>
                <a:cubicBezTo>
                  <a:pt x="153" y="177"/>
                  <a:pt x="153" y="177"/>
                  <a:pt x="153" y="177"/>
                </a:cubicBezTo>
                <a:cubicBezTo>
                  <a:pt x="153" y="177"/>
                  <a:pt x="154" y="178"/>
                  <a:pt x="153" y="178"/>
                </a:cubicBezTo>
                <a:cubicBezTo>
                  <a:pt x="153" y="179"/>
                  <a:pt x="153" y="179"/>
                  <a:pt x="153" y="179"/>
                </a:cubicBezTo>
                <a:cubicBezTo>
                  <a:pt x="153" y="179"/>
                  <a:pt x="153" y="179"/>
                  <a:pt x="153" y="179"/>
                </a:cubicBezTo>
                <a:cubicBezTo>
                  <a:pt x="153" y="179"/>
                  <a:pt x="153" y="179"/>
                  <a:pt x="153" y="179"/>
                </a:cubicBezTo>
                <a:cubicBezTo>
                  <a:pt x="153" y="180"/>
                  <a:pt x="152" y="180"/>
                  <a:pt x="151" y="181"/>
                </a:cubicBezTo>
                <a:cubicBezTo>
                  <a:pt x="150" y="181"/>
                  <a:pt x="150" y="181"/>
                  <a:pt x="150" y="182"/>
                </a:cubicBezTo>
                <a:cubicBezTo>
                  <a:pt x="150" y="182"/>
                  <a:pt x="150" y="182"/>
                  <a:pt x="150" y="182"/>
                </a:cubicBezTo>
                <a:cubicBezTo>
                  <a:pt x="150" y="182"/>
                  <a:pt x="150" y="182"/>
                  <a:pt x="150" y="182"/>
                </a:cubicBezTo>
                <a:cubicBezTo>
                  <a:pt x="151" y="183"/>
                  <a:pt x="150" y="184"/>
                  <a:pt x="150" y="184"/>
                </a:cubicBezTo>
                <a:cubicBezTo>
                  <a:pt x="150" y="184"/>
                  <a:pt x="150" y="184"/>
                  <a:pt x="150" y="184"/>
                </a:cubicBezTo>
                <a:cubicBezTo>
                  <a:pt x="150" y="184"/>
                  <a:pt x="150" y="185"/>
                  <a:pt x="150" y="185"/>
                </a:cubicBezTo>
                <a:cubicBezTo>
                  <a:pt x="150" y="185"/>
                  <a:pt x="149" y="186"/>
                  <a:pt x="149" y="186"/>
                </a:cubicBezTo>
                <a:cubicBezTo>
                  <a:pt x="147" y="188"/>
                  <a:pt x="146" y="189"/>
                  <a:pt x="144" y="191"/>
                </a:cubicBezTo>
                <a:cubicBezTo>
                  <a:pt x="144" y="191"/>
                  <a:pt x="144" y="191"/>
                  <a:pt x="144" y="191"/>
                </a:cubicBezTo>
                <a:cubicBezTo>
                  <a:pt x="143" y="192"/>
                  <a:pt x="142" y="192"/>
                  <a:pt x="142" y="192"/>
                </a:cubicBezTo>
                <a:cubicBezTo>
                  <a:pt x="142" y="192"/>
                  <a:pt x="142" y="192"/>
                  <a:pt x="142" y="192"/>
                </a:cubicBezTo>
                <a:cubicBezTo>
                  <a:pt x="142" y="192"/>
                  <a:pt x="141" y="192"/>
                  <a:pt x="141" y="192"/>
                </a:cubicBezTo>
                <a:cubicBezTo>
                  <a:pt x="141" y="192"/>
                  <a:pt x="141" y="192"/>
                  <a:pt x="141" y="192"/>
                </a:cubicBezTo>
                <a:cubicBezTo>
                  <a:pt x="140" y="192"/>
                  <a:pt x="140" y="192"/>
                  <a:pt x="139" y="192"/>
                </a:cubicBezTo>
                <a:cubicBezTo>
                  <a:pt x="139" y="192"/>
                  <a:pt x="139" y="192"/>
                  <a:pt x="139" y="192"/>
                </a:cubicBezTo>
                <a:cubicBezTo>
                  <a:pt x="139" y="192"/>
                  <a:pt x="138" y="192"/>
                  <a:pt x="138" y="192"/>
                </a:cubicBezTo>
                <a:cubicBezTo>
                  <a:pt x="138" y="192"/>
                  <a:pt x="137" y="192"/>
                  <a:pt x="137" y="192"/>
                </a:cubicBezTo>
                <a:cubicBezTo>
                  <a:pt x="137" y="193"/>
                  <a:pt x="136" y="192"/>
                  <a:pt x="136" y="192"/>
                </a:cubicBezTo>
                <a:cubicBezTo>
                  <a:pt x="136" y="193"/>
                  <a:pt x="135" y="193"/>
                  <a:pt x="135" y="193"/>
                </a:cubicBezTo>
                <a:cubicBezTo>
                  <a:pt x="135" y="193"/>
                  <a:pt x="135" y="193"/>
                  <a:pt x="135" y="193"/>
                </a:cubicBezTo>
                <a:cubicBezTo>
                  <a:pt x="134" y="193"/>
                  <a:pt x="134" y="192"/>
                  <a:pt x="134" y="192"/>
                </a:cubicBezTo>
                <a:cubicBezTo>
                  <a:pt x="134" y="192"/>
                  <a:pt x="134" y="192"/>
                  <a:pt x="134" y="192"/>
                </a:cubicBezTo>
                <a:cubicBezTo>
                  <a:pt x="134" y="192"/>
                  <a:pt x="134" y="192"/>
                  <a:pt x="134" y="192"/>
                </a:cubicBezTo>
                <a:cubicBezTo>
                  <a:pt x="134" y="192"/>
                  <a:pt x="134" y="192"/>
                  <a:pt x="134" y="192"/>
                </a:cubicBezTo>
                <a:cubicBezTo>
                  <a:pt x="134" y="192"/>
                  <a:pt x="134" y="192"/>
                  <a:pt x="134" y="192"/>
                </a:cubicBezTo>
                <a:cubicBezTo>
                  <a:pt x="134" y="192"/>
                  <a:pt x="133" y="192"/>
                  <a:pt x="133" y="192"/>
                </a:cubicBezTo>
                <a:cubicBezTo>
                  <a:pt x="133" y="192"/>
                  <a:pt x="133" y="192"/>
                  <a:pt x="133" y="192"/>
                </a:cubicBezTo>
                <a:cubicBezTo>
                  <a:pt x="133" y="192"/>
                  <a:pt x="133" y="192"/>
                  <a:pt x="134" y="192"/>
                </a:cubicBezTo>
                <a:cubicBezTo>
                  <a:pt x="133" y="191"/>
                  <a:pt x="133" y="191"/>
                  <a:pt x="133" y="190"/>
                </a:cubicBezTo>
                <a:cubicBezTo>
                  <a:pt x="133" y="190"/>
                  <a:pt x="133" y="190"/>
                  <a:pt x="133" y="190"/>
                </a:cubicBezTo>
                <a:cubicBezTo>
                  <a:pt x="134" y="189"/>
                  <a:pt x="133" y="188"/>
                  <a:pt x="132" y="188"/>
                </a:cubicBezTo>
                <a:cubicBezTo>
                  <a:pt x="132" y="187"/>
                  <a:pt x="132" y="186"/>
                  <a:pt x="131" y="185"/>
                </a:cubicBezTo>
                <a:cubicBezTo>
                  <a:pt x="131" y="185"/>
                  <a:pt x="130" y="184"/>
                  <a:pt x="130" y="184"/>
                </a:cubicBezTo>
                <a:cubicBezTo>
                  <a:pt x="130" y="183"/>
                  <a:pt x="130" y="183"/>
                  <a:pt x="130" y="182"/>
                </a:cubicBezTo>
                <a:cubicBezTo>
                  <a:pt x="130" y="182"/>
                  <a:pt x="130" y="182"/>
                  <a:pt x="130" y="182"/>
                </a:cubicBezTo>
                <a:cubicBezTo>
                  <a:pt x="130" y="182"/>
                  <a:pt x="129" y="181"/>
                  <a:pt x="129" y="181"/>
                </a:cubicBezTo>
                <a:cubicBezTo>
                  <a:pt x="129" y="181"/>
                  <a:pt x="129" y="181"/>
                  <a:pt x="129" y="180"/>
                </a:cubicBezTo>
                <a:cubicBezTo>
                  <a:pt x="129" y="180"/>
                  <a:pt x="129" y="180"/>
                  <a:pt x="129" y="180"/>
                </a:cubicBezTo>
                <a:cubicBezTo>
                  <a:pt x="129" y="179"/>
                  <a:pt x="129" y="179"/>
                  <a:pt x="129" y="178"/>
                </a:cubicBezTo>
                <a:cubicBezTo>
                  <a:pt x="129" y="177"/>
                  <a:pt x="128" y="176"/>
                  <a:pt x="128" y="176"/>
                </a:cubicBezTo>
                <a:cubicBezTo>
                  <a:pt x="128" y="175"/>
                  <a:pt x="127" y="174"/>
                  <a:pt x="127" y="173"/>
                </a:cubicBezTo>
                <a:cubicBezTo>
                  <a:pt x="126" y="173"/>
                  <a:pt x="126" y="172"/>
                  <a:pt x="126" y="172"/>
                </a:cubicBezTo>
                <a:cubicBezTo>
                  <a:pt x="126" y="171"/>
                  <a:pt x="126" y="170"/>
                  <a:pt x="126" y="169"/>
                </a:cubicBezTo>
                <a:cubicBezTo>
                  <a:pt x="126" y="169"/>
                  <a:pt x="126" y="167"/>
                  <a:pt x="127" y="166"/>
                </a:cubicBezTo>
                <a:cubicBezTo>
                  <a:pt x="127" y="166"/>
                  <a:pt x="127" y="166"/>
                  <a:pt x="127" y="166"/>
                </a:cubicBezTo>
                <a:cubicBezTo>
                  <a:pt x="127" y="166"/>
                  <a:pt x="127" y="166"/>
                  <a:pt x="127" y="166"/>
                </a:cubicBezTo>
                <a:cubicBezTo>
                  <a:pt x="127" y="165"/>
                  <a:pt x="127" y="165"/>
                  <a:pt x="128" y="165"/>
                </a:cubicBezTo>
                <a:cubicBezTo>
                  <a:pt x="128" y="165"/>
                  <a:pt x="128" y="164"/>
                  <a:pt x="128" y="164"/>
                </a:cubicBezTo>
                <a:cubicBezTo>
                  <a:pt x="128" y="164"/>
                  <a:pt x="128" y="163"/>
                  <a:pt x="128" y="163"/>
                </a:cubicBezTo>
                <a:cubicBezTo>
                  <a:pt x="128" y="162"/>
                  <a:pt x="127" y="161"/>
                  <a:pt x="128" y="161"/>
                </a:cubicBezTo>
                <a:cubicBezTo>
                  <a:pt x="128" y="160"/>
                  <a:pt x="127" y="160"/>
                  <a:pt x="127" y="159"/>
                </a:cubicBezTo>
                <a:cubicBezTo>
                  <a:pt x="127" y="159"/>
                  <a:pt x="127" y="159"/>
                  <a:pt x="127" y="159"/>
                </a:cubicBezTo>
                <a:cubicBezTo>
                  <a:pt x="127" y="158"/>
                  <a:pt x="127" y="158"/>
                  <a:pt x="126" y="158"/>
                </a:cubicBezTo>
                <a:cubicBezTo>
                  <a:pt x="126" y="157"/>
                  <a:pt x="126" y="157"/>
                  <a:pt x="126" y="157"/>
                </a:cubicBezTo>
                <a:cubicBezTo>
                  <a:pt x="126" y="157"/>
                  <a:pt x="126" y="156"/>
                  <a:pt x="126" y="156"/>
                </a:cubicBezTo>
                <a:cubicBezTo>
                  <a:pt x="125" y="155"/>
                  <a:pt x="125" y="155"/>
                  <a:pt x="124" y="155"/>
                </a:cubicBezTo>
                <a:cubicBezTo>
                  <a:pt x="124" y="154"/>
                  <a:pt x="124" y="154"/>
                  <a:pt x="124" y="154"/>
                </a:cubicBezTo>
                <a:cubicBezTo>
                  <a:pt x="124" y="154"/>
                  <a:pt x="124" y="154"/>
                  <a:pt x="124" y="154"/>
                </a:cubicBezTo>
                <a:cubicBezTo>
                  <a:pt x="124" y="153"/>
                  <a:pt x="123" y="153"/>
                  <a:pt x="123" y="153"/>
                </a:cubicBezTo>
                <a:cubicBezTo>
                  <a:pt x="123" y="153"/>
                  <a:pt x="123" y="153"/>
                  <a:pt x="123" y="153"/>
                </a:cubicBezTo>
                <a:cubicBezTo>
                  <a:pt x="123" y="153"/>
                  <a:pt x="123" y="153"/>
                  <a:pt x="123" y="153"/>
                </a:cubicBezTo>
                <a:cubicBezTo>
                  <a:pt x="123" y="153"/>
                  <a:pt x="123" y="152"/>
                  <a:pt x="123" y="152"/>
                </a:cubicBezTo>
                <a:cubicBezTo>
                  <a:pt x="123" y="152"/>
                  <a:pt x="123" y="152"/>
                  <a:pt x="123" y="152"/>
                </a:cubicBezTo>
                <a:cubicBezTo>
                  <a:pt x="122" y="152"/>
                  <a:pt x="122" y="152"/>
                  <a:pt x="122" y="152"/>
                </a:cubicBezTo>
                <a:cubicBezTo>
                  <a:pt x="123" y="151"/>
                  <a:pt x="123" y="151"/>
                  <a:pt x="123" y="150"/>
                </a:cubicBezTo>
                <a:cubicBezTo>
                  <a:pt x="123" y="150"/>
                  <a:pt x="123" y="150"/>
                  <a:pt x="123" y="150"/>
                </a:cubicBezTo>
                <a:cubicBezTo>
                  <a:pt x="123" y="150"/>
                  <a:pt x="123" y="150"/>
                  <a:pt x="123" y="150"/>
                </a:cubicBezTo>
                <a:cubicBezTo>
                  <a:pt x="123" y="150"/>
                  <a:pt x="123" y="150"/>
                  <a:pt x="123" y="150"/>
                </a:cubicBezTo>
                <a:cubicBezTo>
                  <a:pt x="123" y="150"/>
                  <a:pt x="123" y="150"/>
                  <a:pt x="123" y="149"/>
                </a:cubicBezTo>
                <a:cubicBezTo>
                  <a:pt x="123" y="149"/>
                  <a:pt x="123" y="149"/>
                  <a:pt x="123" y="149"/>
                </a:cubicBezTo>
                <a:cubicBezTo>
                  <a:pt x="123" y="149"/>
                  <a:pt x="123" y="149"/>
                  <a:pt x="123" y="149"/>
                </a:cubicBezTo>
                <a:cubicBezTo>
                  <a:pt x="123" y="149"/>
                  <a:pt x="123" y="148"/>
                  <a:pt x="124" y="148"/>
                </a:cubicBezTo>
                <a:cubicBezTo>
                  <a:pt x="124" y="148"/>
                  <a:pt x="123" y="148"/>
                  <a:pt x="123" y="148"/>
                </a:cubicBezTo>
                <a:cubicBezTo>
                  <a:pt x="123" y="148"/>
                  <a:pt x="124" y="147"/>
                  <a:pt x="124" y="147"/>
                </a:cubicBezTo>
                <a:cubicBezTo>
                  <a:pt x="124" y="147"/>
                  <a:pt x="123" y="147"/>
                  <a:pt x="123" y="146"/>
                </a:cubicBezTo>
                <a:cubicBezTo>
                  <a:pt x="123" y="146"/>
                  <a:pt x="123" y="146"/>
                  <a:pt x="123" y="146"/>
                </a:cubicBezTo>
                <a:cubicBezTo>
                  <a:pt x="123" y="146"/>
                  <a:pt x="123" y="146"/>
                  <a:pt x="123" y="146"/>
                </a:cubicBezTo>
                <a:cubicBezTo>
                  <a:pt x="123" y="146"/>
                  <a:pt x="123" y="146"/>
                  <a:pt x="123" y="146"/>
                </a:cubicBezTo>
                <a:cubicBezTo>
                  <a:pt x="122" y="146"/>
                  <a:pt x="123" y="146"/>
                  <a:pt x="122" y="145"/>
                </a:cubicBezTo>
                <a:cubicBezTo>
                  <a:pt x="122" y="145"/>
                  <a:pt x="122" y="145"/>
                  <a:pt x="122" y="145"/>
                </a:cubicBezTo>
                <a:cubicBezTo>
                  <a:pt x="122" y="145"/>
                  <a:pt x="122" y="145"/>
                  <a:pt x="122" y="145"/>
                </a:cubicBezTo>
                <a:cubicBezTo>
                  <a:pt x="121" y="145"/>
                  <a:pt x="121" y="145"/>
                  <a:pt x="120" y="145"/>
                </a:cubicBezTo>
                <a:cubicBezTo>
                  <a:pt x="120" y="146"/>
                  <a:pt x="118" y="145"/>
                  <a:pt x="118" y="144"/>
                </a:cubicBezTo>
                <a:cubicBezTo>
                  <a:pt x="118" y="144"/>
                  <a:pt x="118" y="144"/>
                  <a:pt x="118" y="144"/>
                </a:cubicBezTo>
                <a:cubicBezTo>
                  <a:pt x="118" y="144"/>
                  <a:pt x="118" y="144"/>
                  <a:pt x="118" y="144"/>
                </a:cubicBezTo>
                <a:cubicBezTo>
                  <a:pt x="118" y="144"/>
                  <a:pt x="118" y="144"/>
                  <a:pt x="118" y="144"/>
                </a:cubicBezTo>
                <a:cubicBezTo>
                  <a:pt x="118" y="144"/>
                  <a:pt x="118" y="144"/>
                  <a:pt x="118" y="144"/>
                </a:cubicBezTo>
                <a:cubicBezTo>
                  <a:pt x="118" y="143"/>
                  <a:pt x="117" y="143"/>
                  <a:pt x="116" y="143"/>
                </a:cubicBezTo>
                <a:cubicBezTo>
                  <a:pt x="116" y="143"/>
                  <a:pt x="116" y="143"/>
                  <a:pt x="116" y="143"/>
                </a:cubicBezTo>
                <a:cubicBezTo>
                  <a:pt x="115" y="143"/>
                  <a:pt x="114" y="143"/>
                  <a:pt x="114" y="143"/>
                </a:cubicBezTo>
                <a:cubicBezTo>
                  <a:pt x="113" y="143"/>
                  <a:pt x="113" y="144"/>
                  <a:pt x="113" y="144"/>
                </a:cubicBezTo>
                <a:cubicBezTo>
                  <a:pt x="113" y="144"/>
                  <a:pt x="112" y="144"/>
                  <a:pt x="112" y="144"/>
                </a:cubicBezTo>
                <a:cubicBezTo>
                  <a:pt x="111" y="144"/>
                  <a:pt x="110" y="145"/>
                  <a:pt x="110" y="145"/>
                </a:cubicBezTo>
                <a:cubicBezTo>
                  <a:pt x="109" y="145"/>
                  <a:pt x="109" y="144"/>
                  <a:pt x="108" y="144"/>
                </a:cubicBezTo>
                <a:cubicBezTo>
                  <a:pt x="108" y="144"/>
                  <a:pt x="108" y="144"/>
                  <a:pt x="108" y="145"/>
                </a:cubicBezTo>
                <a:cubicBezTo>
                  <a:pt x="108" y="145"/>
                  <a:pt x="108" y="144"/>
                  <a:pt x="107" y="144"/>
                </a:cubicBezTo>
                <a:cubicBezTo>
                  <a:pt x="107" y="144"/>
                  <a:pt x="106" y="144"/>
                  <a:pt x="106" y="144"/>
                </a:cubicBezTo>
                <a:cubicBezTo>
                  <a:pt x="105" y="145"/>
                  <a:pt x="105" y="145"/>
                  <a:pt x="105" y="145"/>
                </a:cubicBezTo>
                <a:cubicBezTo>
                  <a:pt x="104" y="145"/>
                  <a:pt x="104" y="145"/>
                  <a:pt x="103" y="145"/>
                </a:cubicBezTo>
                <a:cubicBezTo>
                  <a:pt x="103" y="146"/>
                  <a:pt x="102" y="145"/>
                  <a:pt x="102" y="145"/>
                </a:cubicBezTo>
                <a:cubicBezTo>
                  <a:pt x="101" y="144"/>
                  <a:pt x="101" y="144"/>
                  <a:pt x="100" y="143"/>
                </a:cubicBezTo>
                <a:cubicBezTo>
                  <a:pt x="100" y="143"/>
                  <a:pt x="99" y="143"/>
                  <a:pt x="99" y="143"/>
                </a:cubicBezTo>
                <a:cubicBezTo>
                  <a:pt x="98" y="143"/>
                  <a:pt x="98" y="142"/>
                  <a:pt x="98" y="142"/>
                </a:cubicBezTo>
                <a:cubicBezTo>
                  <a:pt x="98" y="142"/>
                  <a:pt x="98" y="142"/>
                  <a:pt x="98" y="142"/>
                </a:cubicBezTo>
                <a:cubicBezTo>
                  <a:pt x="97" y="141"/>
                  <a:pt x="97" y="141"/>
                  <a:pt x="97" y="141"/>
                </a:cubicBezTo>
                <a:cubicBezTo>
                  <a:pt x="97" y="141"/>
                  <a:pt x="97" y="141"/>
                  <a:pt x="97" y="141"/>
                </a:cubicBezTo>
                <a:cubicBezTo>
                  <a:pt x="97" y="141"/>
                  <a:pt x="97" y="141"/>
                  <a:pt x="97" y="141"/>
                </a:cubicBezTo>
                <a:cubicBezTo>
                  <a:pt x="97" y="140"/>
                  <a:pt x="97" y="140"/>
                  <a:pt x="97" y="140"/>
                </a:cubicBezTo>
                <a:cubicBezTo>
                  <a:pt x="97" y="140"/>
                  <a:pt x="97" y="140"/>
                  <a:pt x="97" y="140"/>
                </a:cubicBezTo>
                <a:cubicBezTo>
                  <a:pt x="97" y="140"/>
                  <a:pt x="97" y="140"/>
                  <a:pt x="97" y="140"/>
                </a:cubicBezTo>
                <a:cubicBezTo>
                  <a:pt x="97" y="140"/>
                  <a:pt x="96" y="140"/>
                  <a:pt x="96" y="139"/>
                </a:cubicBezTo>
                <a:cubicBezTo>
                  <a:pt x="96" y="139"/>
                  <a:pt x="96" y="139"/>
                  <a:pt x="96" y="139"/>
                </a:cubicBezTo>
                <a:cubicBezTo>
                  <a:pt x="96" y="139"/>
                  <a:pt x="95" y="139"/>
                  <a:pt x="95" y="138"/>
                </a:cubicBezTo>
                <a:cubicBezTo>
                  <a:pt x="95" y="138"/>
                  <a:pt x="95" y="138"/>
                  <a:pt x="95" y="138"/>
                </a:cubicBezTo>
                <a:cubicBezTo>
                  <a:pt x="95" y="138"/>
                  <a:pt x="95" y="138"/>
                  <a:pt x="94" y="138"/>
                </a:cubicBezTo>
                <a:cubicBezTo>
                  <a:pt x="94" y="138"/>
                  <a:pt x="94" y="138"/>
                  <a:pt x="94" y="138"/>
                </a:cubicBezTo>
                <a:cubicBezTo>
                  <a:pt x="94" y="137"/>
                  <a:pt x="94" y="137"/>
                  <a:pt x="94" y="137"/>
                </a:cubicBezTo>
                <a:cubicBezTo>
                  <a:pt x="94" y="137"/>
                  <a:pt x="94" y="137"/>
                  <a:pt x="94" y="137"/>
                </a:cubicBezTo>
                <a:cubicBezTo>
                  <a:pt x="94" y="136"/>
                  <a:pt x="94" y="137"/>
                  <a:pt x="93" y="137"/>
                </a:cubicBezTo>
                <a:cubicBezTo>
                  <a:pt x="93" y="137"/>
                  <a:pt x="93" y="136"/>
                  <a:pt x="93" y="136"/>
                </a:cubicBezTo>
                <a:cubicBezTo>
                  <a:pt x="93" y="136"/>
                  <a:pt x="93" y="136"/>
                  <a:pt x="93" y="136"/>
                </a:cubicBezTo>
                <a:cubicBezTo>
                  <a:pt x="93" y="136"/>
                  <a:pt x="93" y="136"/>
                  <a:pt x="92" y="136"/>
                </a:cubicBezTo>
                <a:cubicBezTo>
                  <a:pt x="92" y="135"/>
                  <a:pt x="92" y="135"/>
                  <a:pt x="92" y="135"/>
                </a:cubicBezTo>
                <a:cubicBezTo>
                  <a:pt x="93" y="135"/>
                  <a:pt x="93" y="135"/>
                  <a:pt x="93" y="135"/>
                </a:cubicBezTo>
                <a:cubicBezTo>
                  <a:pt x="93" y="135"/>
                  <a:pt x="93" y="134"/>
                  <a:pt x="93" y="134"/>
                </a:cubicBezTo>
                <a:cubicBezTo>
                  <a:pt x="92" y="134"/>
                  <a:pt x="92" y="133"/>
                  <a:pt x="92" y="133"/>
                </a:cubicBezTo>
                <a:cubicBezTo>
                  <a:pt x="92" y="133"/>
                  <a:pt x="92" y="133"/>
                  <a:pt x="92" y="133"/>
                </a:cubicBezTo>
                <a:cubicBezTo>
                  <a:pt x="92" y="133"/>
                  <a:pt x="93" y="132"/>
                  <a:pt x="93" y="132"/>
                </a:cubicBezTo>
                <a:cubicBezTo>
                  <a:pt x="93" y="131"/>
                  <a:pt x="93" y="131"/>
                  <a:pt x="93" y="131"/>
                </a:cubicBezTo>
                <a:cubicBezTo>
                  <a:pt x="93" y="130"/>
                  <a:pt x="94" y="128"/>
                  <a:pt x="93" y="128"/>
                </a:cubicBezTo>
                <a:cubicBezTo>
                  <a:pt x="93" y="127"/>
                  <a:pt x="93" y="126"/>
                  <a:pt x="92" y="126"/>
                </a:cubicBezTo>
                <a:cubicBezTo>
                  <a:pt x="92" y="126"/>
                  <a:pt x="92" y="126"/>
                  <a:pt x="92" y="126"/>
                </a:cubicBezTo>
                <a:cubicBezTo>
                  <a:pt x="92" y="125"/>
                  <a:pt x="92" y="125"/>
                  <a:pt x="92" y="124"/>
                </a:cubicBezTo>
                <a:cubicBezTo>
                  <a:pt x="93" y="124"/>
                  <a:pt x="93" y="124"/>
                  <a:pt x="93" y="124"/>
                </a:cubicBezTo>
                <a:cubicBezTo>
                  <a:pt x="93" y="123"/>
                  <a:pt x="93" y="123"/>
                  <a:pt x="94" y="122"/>
                </a:cubicBezTo>
                <a:cubicBezTo>
                  <a:pt x="94" y="122"/>
                  <a:pt x="94" y="121"/>
                  <a:pt x="95" y="121"/>
                </a:cubicBezTo>
                <a:cubicBezTo>
                  <a:pt x="95" y="121"/>
                  <a:pt x="95" y="121"/>
                  <a:pt x="95" y="121"/>
                </a:cubicBezTo>
                <a:cubicBezTo>
                  <a:pt x="95" y="120"/>
                  <a:pt x="95" y="120"/>
                  <a:pt x="95" y="119"/>
                </a:cubicBezTo>
                <a:cubicBezTo>
                  <a:pt x="95" y="119"/>
                  <a:pt x="96" y="119"/>
                  <a:pt x="96" y="119"/>
                </a:cubicBezTo>
                <a:cubicBezTo>
                  <a:pt x="96" y="118"/>
                  <a:pt x="96" y="117"/>
                  <a:pt x="97" y="117"/>
                </a:cubicBezTo>
                <a:cubicBezTo>
                  <a:pt x="97" y="117"/>
                  <a:pt x="98" y="117"/>
                  <a:pt x="98" y="117"/>
                </a:cubicBezTo>
                <a:cubicBezTo>
                  <a:pt x="99" y="117"/>
                  <a:pt x="100" y="115"/>
                  <a:pt x="100" y="115"/>
                </a:cubicBezTo>
                <a:cubicBezTo>
                  <a:pt x="101" y="114"/>
                  <a:pt x="100" y="114"/>
                  <a:pt x="100" y="113"/>
                </a:cubicBezTo>
                <a:moveTo>
                  <a:pt x="95" y="62"/>
                </a:moveTo>
                <a:cubicBezTo>
                  <a:pt x="95" y="62"/>
                  <a:pt x="95" y="62"/>
                  <a:pt x="95" y="62"/>
                </a:cubicBezTo>
                <a:cubicBezTo>
                  <a:pt x="95" y="63"/>
                  <a:pt x="95" y="63"/>
                  <a:pt x="94" y="63"/>
                </a:cubicBezTo>
                <a:cubicBezTo>
                  <a:pt x="94" y="63"/>
                  <a:pt x="93" y="63"/>
                  <a:pt x="93" y="64"/>
                </a:cubicBezTo>
                <a:cubicBezTo>
                  <a:pt x="92" y="64"/>
                  <a:pt x="92" y="64"/>
                  <a:pt x="92" y="64"/>
                </a:cubicBezTo>
                <a:cubicBezTo>
                  <a:pt x="91" y="64"/>
                  <a:pt x="91" y="65"/>
                  <a:pt x="90" y="65"/>
                </a:cubicBezTo>
                <a:cubicBezTo>
                  <a:pt x="90" y="64"/>
                  <a:pt x="89" y="64"/>
                  <a:pt x="89" y="64"/>
                </a:cubicBezTo>
                <a:cubicBezTo>
                  <a:pt x="89" y="64"/>
                  <a:pt x="88" y="64"/>
                  <a:pt x="88" y="64"/>
                </a:cubicBezTo>
                <a:cubicBezTo>
                  <a:pt x="88" y="64"/>
                  <a:pt x="86" y="64"/>
                  <a:pt x="86" y="64"/>
                </a:cubicBezTo>
                <a:cubicBezTo>
                  <a:pt x="86" y="63"/>
                  <a:pt x="87" y="63"/>
                  <a:pt x="87" y="63"/>
                </a:cubicBezTo>
                <a:cubicBezTo>
                  <a:pt x="86" y="63"/>
                  <a:pt x="86" y="62"/>
                  <a:pt x="86" y="62"/>
                </a:cubicBezTo>
                <a:cubicBezTo>
                  <a:pt x="86" y="62"/>
                  <a:pt x="85" y="62"/>
                  <a:pt x="85" y="62"/>
                </a:cubicBezTo>
                <a:cubicBezTo>
                  <a:pt x="84" y="62"/>
                  <a:pt x="84" y="62"/>
                  <a:pt x="84" y="62"/>
                </a:cubicBezTo>
                <a:cubicBezTo>
                  <a:pt x="84" y="62"/>
                  <a:pt x="84" y="62"/>
                  <a:pt x="84" y="62"/>
                </a:cubicBezTo>
                <a:cubicBezTo>
                  <a:pt x="85" y="62"/>
                  <a:pt x="86" y="62"/>
                  <a:pt x="87" y="61"/>
                </a:cubicBezTo>
                <a:cubicBezTo>
                  <a:pt x="87" y="61"/>
                  <a:pt x="87" y="61"/>
                  <a:pt x="87" y="61"/>
                </a:cubicBezTo>
                <a:cubicBezTo>
                  <a:pt x="87" y="61"/>
                  <a:pt x="87" y="61"/>
                  <a:pt x="87" y="61"/>
                </a:cubicBezTo>
                <a:cubicBezTo>
                  <a:pt x="86" y="61"/>
                  <a:pt x="86" y="61"/>
                  <a:pt x="86" y="60"/>
                </a:cubicBezTo>
                <a:cubicBezTo>
                  <a:pt x="85" y="60"/>
                  <a:pt x="84" y="61"/>
                  <a:pt x="84" y="60"/>
                </a:cubicBezTo>
                <a:cubicBezTo>
                  <a:pt x="84" y="60"/>
                  <a:pt x="84" y="60"/>
                  <a:pt x="84" y="60"/>
                </a:cubicBezTo>
                <a:cubicBezTo>
                  <a:pt x="84" y="60"/>
                  <a:pt x="85" y="60"/>
                  <a:pt x="85" y="60"/>
                </a:cubicBezTo>
                <a:cubicBezTo>
                  <a:pt x="85" y="60"/>
                  <a:pt x="85" y="60"/>
                  <a:pt x="85" y="60"/>
                </a:cubicBezTo>
                <a:cubicBezTo>
                  <a:pt x="85" y="60"/>
                  <a:pt x="85" y="60"/>
                  <a:pt x="84" y="60"/>
                </a:cubicBezTo>
                <a:cubicBezTo>
                  <a:pt x="85" y="59"/>
                  <a:pt x="85" y="60"/>
                  <a:pt x="86" y="59"/>
                </a:cubicBezTo>
                <a:cubicBezTo>
                  <a:pt x="86" y="59"/>
                  <a:pt x="86" y="59"/>
                  <a:pt x="86" y="59"/>
                </a:cubicBezTo>
                <a:cubicBezTo>
                  <a:pt x="86" y="59"/>
                  <a:pt x="86" y="59"/>
                  <a:pt x="85" y="59"/>
                </a:cubicBezTo>
                <a:cubicBezTo>
                  <a:pt x="85" y="59"/>
                  <a:pt x="85" y="59"/>
                  <a:pt x="85" y="59"/>
                </a:cubicBezTo>
                <a:cubicBezTo>
                  <a:pt x="85" y="59"/>
                  <a:pt x="86" y="59"/>
                  <a:pt x="86" y="59"/>
                </a:cubicBezTo>
                <a:cubicBezTo>
                  <a:pt x="86" y="59"/>
                  <a:pt x="87" y="59"/>
                  <a:pt x="87" y="60"/>
                </a:cubicBezTo>
                <a:cubicBezTo>
                  <a:pt x="87" y="60"/>
                  <a:pt x="87" y="60"/>
                  <a:pt x="87" y="60"/>
                </a:cubicBezTo>
                <a:cubicBezTo>
                  <a:pt x="87" y="61"/>
                  <a:pt x="87" y="61"/>
                  <a:pt x="87" y="61"/>
                </a:cubicBezTo>
                <a:cubicBezTo>
                  <a:pt x="88" y="61"/>
                  <a:pt x="88" y="61"/>
                  <a:pt x="88" y="61"/>
                </a:cubicBezTo>
                <a:cubicBezTo>
                  <a:pt x="88" y="60"/>
                  <a:pt x="88" y="60"/>
                  <a:pt x="88" y="60"/>
                </a:cubicBezTo>
                <a:cubicBezTo>
                  <a:pt x="88" y="60"/>
                  <a:pt x="88" y="60"/>
                  <a:pt x="88" y="59"/>
                </a:cubicBezTo>
                <a:cubicBezTo>
                  <a:pt x="89" y="59"/>
                  <a:pt x="89" y="59"/>
                  <a:pt x="89" y="59"/>
                </a:cubicBezTo>
                <a:cubicBezTo>
                  <a:pt x="89" y="59"/>
                  <a:pt x="89" y="59"/>
                  <a:pt x="89" y="59"/>
                </a:cubicBezTo>
                <a:cubicBezTo>
                  <a:pt x="89" y="60"/>
                  <a:pt x="89" y="60"/>
                  <a:pt x="89" y="60"/>
                </a:cubicBezTo>
                <a:cubicBezTo>
                  <a:pt x="90" y="60"/>
                  <a:pt x="90" y="60"/>
                  <a:pt x="90" y="60"/>
                </a:cubicBezTo>
                <a:cubicBezTo>
                  <a:pt x="90" y="60"/>
                  <a:pt x="90" y="60"/>
                  <a:pt x="90" y="60"/>
                </a:cubicBezTo>
                <a:cubicBezTo>
                  <a:pt x="90" y="60"/>
                  <a:pt x="90" y="60"/>
                  <a:pt x="90" y="60"/>
                </a:cubicBezTo>
                <a:cubicBezTo>
                  <a:pt x="90" y="59"/>
                  <a:pt x="90" y="59"/>
                  <a:pt x="90" y="59"/>
                </a:cubicBezTo>
                <a:cubicBezTo>
                  <a:pt x="90" y="60"/>
                  <a:pt x="91" y="60"/>
                  <a:pt x="91" y="60"/>
                </a:cubicBezTo>
                <a:cubicBezTo>
                  <a:pt x="91" y="60"/>
                  <a:pt x="91" y="60"/>
                  <a:pt x="91" y="59"/>
                </a:cubicBezTo>
                <a:cubicBezTo>
                  <a:pt x="92" y="59"/>
                  <a:pt x="92" y="60"/>
                  <a:pt x="93" y="59"/>
                </a:cubicBezTo>
                <a:cubicBezTo>
                  <a:pt x="93" y="59"/>
                  <a:pt x="93" y="59"/>
                  <a:pt x="93" y="59"/>
                </a:cubicBezTo>
                <a:cubicBezTo>
                  <a:pt x="93" y="59"/>
                  <a:pt x="93" y="59"/>
                  <a:pt x="94" y="59"/>
                </a:cubicBezTo>
                <a:cubicBezTo>
                  <a:pt x="94" y="59"/>
                  <a:pt x="94" y="59"/>
                  <a:pt x="95" y="59"/>
                </a:cubicBezTo>
                <a:cubicBezTo>
                  <a:pt x="95" y="59"/>
                  <a:pt x="95" y="60"/>
                  <a:pt x="95" y="60"/>
                </a:cubicBezTo>
                <a:cubicBezTo>
                  <a:pt x="95" y="60"/>
                  <a:pt x="95" y="60"/>
                  <a:pt x="95" y="60"/>
                </a:cubicBezTo>
                <a:cubicBezTo>
                  <a:pt x="95" y="60"/>
                  <a:pt x="95" y="60"/>
                  <a:pt x="95" y="60"/>
                </a:cubicBezTo>
                <a:cubicBezTo>
                  <a:pt x="95" y="60"/>
                  <a:pt x="96" y="60"/>
                  <a:pt x="96" y="60"/>
                </a:cubicBezTo>
                <a:cubicBezTo>
                  <a:pt x="96" y="61"/>
                  <a:pt x="96" y="62"/>
                  <a:pt x="96" y="62"/>
                </a:cubicBezTo>
                <a:cubicBezTo>
                  <a:pt x="96" y="62"/>
                  <a:pt x="96" y="62"/>
                  <a:pt x="95" y="62"/>
                </a:cubicBezTo>
                <a:moveTo>
                  <a:pt x="122" y="146"/>
                </a:moveTo>
                <a:cubicBezTo>
                  <a:pt x="122" y="147"/>
                  <a:pt x="122" y="147"/>
                  <a:pt x="122" y="147"/>
                </a:cubicBezTo>
                <a:cubicBezTo>
                  <a:pt x="122" y="147"/>
                  <a:pt x="122" y="147"/>
                  <a:pt x="122" y="147"/>
                </a:cubicBezTo>
                <a:cubicBezTo>
                  <a:pt x="122" y="147"/>
                  <a:pt x="122" y="147"/>
                  <a:pt x="122" y="147"/>
                </a:cubicBezTo>
                <a:cubicBezTo>
                  <a:pt x="122" y="147"/>
                  <a:pt x="122" y="146"/>
                  <a:pt x="122" y="146"/>
                </a:cubicBezTo>
                <a:cubicBezTo>
                  <a:pt x="122" y="146"/>
                  <a:pt x="122" y="146"/>
                  <a:pt x="122" y="146"/>
                </a:cubicBezTo>
                <a:moveTo>
                  <a:pt x="163" y="176"/>
                </a:moveTo>
                <a:cubicBezTo>
                  <a:pt x="163" y="176"/>
                  <a:pt x="163" y="176"/>
                  <a:pt x="163" y="176"/>
                </a:cubicBezTo>
                <a:cubicBezTo>
                  <a:pt x="163" y="176"/>
                  <a:pt x="164" y="174"/>
                  <a:pt x="164" y="174"/>
                </a:cubicBezTo>
                <a:cubicBezTo>
                  <a:pt x="164" y="173"/>
                  <a:pt x="164" y="173"/>
                  <a:pt x="164" y="173"/>
                </a:cubicBezTo>
                <a:cubicBezTo>
                  <a:pt x="164" y="173"/>
                  <a:pt x="164" y="173"/>
                  <a:pt x="164" y="173"/>
                </a:cubicBezTo>
                <a:cubicBezTo>
                  <a:pt x="164" y="172"/>
                  <a:pt x="163" y="172"/>
                  <a:pt x="163" y="171"/>
                </a:cubicBezTo>
                <a:cubicBezTo>
                  <a:pt x="164" y="171"/>
                  <a:pt x="164" y="170"/>
                  <a:pt x="164" y="170"/>
                </a:cubicBezTo>
                <a:cubicBezTo>
                  <a:pt x="164" y="170"/>
                  <a:pt x="164" y="170"/>
                  <a:pt x="164" y="170"/>
                </a:cubicBezTo>
                <a:cubicBezTo>
                  <a:pt x="165" y="170"/>
                  <a:pt x="165" y="169"/>
                  <a:pt x="165" y="169"/>
                </a:cubicBezTo>
                <a:cubicBezTo>
                  <a:pt x="165" y="169"/>
                  <a:pt x="165" y="170"/>
                  <a:pt x="165" y="169"/>
                </a:cubicBezTo>
                <a:cubicBezTo>
                  <a:pt x="165" y="169"/>
                  <a:pt x="165" y="169"/>
                  <a:pt x="165" y="169"/>
                </a:cubicBezTo>
                <a:cubicBezTo>
                  <a:pt x="166" y="169"/>
                  <a:pt x="166" y="169"/>
                  <a:pt x="166" y="169"/>
                </a:cubicBezTo>
                <a:cubicBezTo>
                  <a:pt x="166" y="169"/>
                  <a:pt x="166" y="169"/>
                  <a:pt x="166" y="169"/>
                </a:cubicBezTo>
                <a:cubicBezTo>
                  <a:pt x="166" y="169"/>
                  <a:pt x="167" y="169"/>
                  <a:pt x="167" y="169"/>
                </a:cubicBezTo>
                <a:cubicBezTo>
                  <a:pt x="167" y="169"/>
                  <a:pt x="167" y="169"/>
                  <a:pt x="167" y="169"/>
                </a:cubicBezTo>
                <a:cubicBezTo>
                  <a:pt x="167" y="169"/>
                  <a:pt x="167" y="169"/>
                  <a:pt x="167" y="169"/>
                </a:cubicBezTo>
                <a:cubicBezTo>
                  <a:pt x="167" y="168"/>
                  <a:pt x="167" y="168"/>
                  <a:pt x="167" y="168"/>
                </a:cubicBezTo>
                <a:cubicBezTo>
                  <a:pt x="167" y="168"/>
                  <a:pt x="167" y="168"/>
                  <a:pt x="167" y="168"/>
                </a:cubicBezTo>
                <a:cubicBezTo>
                  <a:pt x="167" y="168"/>
                  <a:pt x="167" y="168"/>
                  <a:pt x="167" y="168"/>
                </a:cubicBezTo>
                <a:cubicBezTo>
                  <a:pt x="167" y="168"/>
                  <a:pt x="167" y="168"/>
                  <a:pt x="168" y="168"/>
                </a:cubicBezTo>
                <a:cubicBezTo>
                  <a:pt x="168" y="168"/>
                  <a:pt x="168" y="168"/>
                  <a:pt x="168" y="168"/>
                </a:cubicBezTo>
                <a:cubicBezTo>
                  <a:pt x="168" y="168"/>
                  <a:pt x="168" y="168"/>
                  <a:pt x="168" y="167"/>
                </a:cubicBezTo>
                <a:cubicBezTo>
                  <a:pt x="168" y="167"/>
                  <a:pt x="168" y="167"/>
                  <a:pt x="168" y="167"/>
                </a:cubicBezTo>
                <a:cubicBezTo>
                  <a:pt x="168" y="167"/>
                  <a:pt x="168" y="167"/>
                  <a:pt x="168" y="167"/>
                </a:cubicBezTo>
                <a:cubicBezTo>
                  <a:pt x="168" y="167"/>
                  <a:pt x="168" y="167"/>
                  <a:pt x="168" y="167"/>
                </a:cubicBezTo>
                <a:cubicBezTo>
                  <a:pt x="168" y="167"/>
                  <a:pt x="168" y="167"/>
                  <a:pt x="168" y="166"/>
                </a:cubicBezTo>
                <a:cubicBezTo>
                  <a:pt x="168" y="166"/>
                  <a:pt x="168" y="166"/>
                  <a:pt x="168" y="166"/>
                </a:cubicBezTo>
                <a:cubicBezTo>
                  <a:pt x="168" y="167"/>
                  <a:pt x="168" y="167"/>
                  <a:pt x="168" y="167"/>
                </a:cubicBezTo>
                <a:cubicBezTo>
                  <a:pt x="169" y="167"/>
                  <a:pt x="169" y="167"/>
                  <a:pt x="169" y="166"/>
                </a:cubicBezTo>
                <a:cubicBezTo>
                  <a:pt x="169" y="166"/>
                  <a:pt x="169" y="166"/>
                  <a:pt x="169" y="165"/>
                </a:cubicBezTo>
                <a:cubicBezTo>
                  <a:pt x="169" y="165"/>
                  <a:pt x="169" y="165"/>
                  <a:pt x="170" y="165"/>
                </a:cubicBezTo>
                <a:cubicBezTo>
                  <a:pt x="170" y="165"/>
                  <a:pt x="170" y="165"/>
                  <a:pt x="170" y="166"/>
                </a:cubicBezTo>
                <a:cubicBezTo>
                  <a:pt x="171" y="166"/>
                  <a:pt x="170" y="167"/>
                  <a:pt x="171" y="168"/>
                </a:cubicBezTo>
                <a:cubicBezTo>
                  <a:pt x="171" y="168"/>
                  <a:pt x="171" y="168"/>
                  <a:pt x="171" y="169"/>
                </a:cubicBezTo>
                <a:cubicBezTo>
                  <a:pt x="171" y="169"/>
                  <a:pt x="171" y="169"/>
                  <a:pt x="171" y="169"/>
                </a:cubicBezTo>
                <a:cubicBezTo>
                  <a:pt x="170" y="169"/>
                  <a:pt x="170" y="169"/>
                  <a:pt x="170" y="169"/>
                </a:cubicBezTo>
                <a:cubicBezTo>
                  <a:pt x="170" y="169"/>
                  <a:pt x="170" y="169"/>
                  <a:pt x="170" y="169"/>
                </a:cubicBezTo>
                <a:cubicBezTo>
                  <a:pt x="170" y="169"/>
                  <a:pt x="170" y="169"/>
                  <a:pt x="170" y="169"/>
                </a:cubicBezTo>
                <a:cubicBezTo>
                  <a:pt x="170" y="169"/>
                  <a:pt x="170" y="170"/>
                  <a:pt x="170" y="170"/>
                </a:cubicBezTo>
                <a:cubicBezTo>
                  <a:pt x="170" y="170"/>
                  <a:pt x="170" y="170"/>
                  <a:pt x="170" y="171"/>
                </a:cubicBezTo>
                <a:cubicBezTo>
                  <a:pt x="170" y="171"/>
                  <a:pt x="170" y="172"/>
                  <a:pt x="170" y="172"/>
                </a:cubicBezTo>
                <a:cubicBezTo>
                  <a:pt x="169" y="174"/>
                  <a:pt x="168" y="176"/>
                  <a:pt x="168" y="178"/>
                </a:cubicBezTo>
                <a:cubicBezTo>
                  <a:pt x="168" y="179"/>
                  <a:pt x="167" y="180"/>
                  <a:pt x="167" y="181"/>
                </a:cubicBezTo>
                <a:cubicBezTo>
                  <a:pt x="167" y="181"/>
                  <a:pt x="166" y="181"/>
                  <a:pt x="166" y="181"/>
                </a:cubicBezTo>
                <a:cubicBezTo>
                  <a:pt x="165" y="181"/>
                  <a:pt x="165" y="181"/>
                  <a:pt x="165" y="181"/>
                </a:cubicBezTo>
                <a:cubicBezTo>
                  <a:pt x="164" y="181"/>
                  <a:pt x="164" y="181"/>
                  <a:pt x="163" y="180"/>
                </a:cubicBezTo>
                <a:cubicBezTo>
                  <a:pt x="163" y="180"/>
                  <a:pt x="163" y="180"/>
                  <a:pt x="163" y="180"/>
                </a:cubicBezTo>
                <a:cubicBezTo>
                  <a:pt x="163" y="180"/>
                  <a:pt x="163" y="179"/>
                  <a:pt x="163" y="179"/>
                </a:cubicBezTo>
                <a:cubicBezTo>
                  <a:pt x="163" y="179"/>
                  <a:pt x="163" y="179"/>
                  <a:pt x="163" y="178"/>
                </a:cubicBezTo>
                <a:cubicBezTo>
                  <a:pt x="163" y="178"/>
                  <a:pt x="163" y="178"/>
                  <a:pt x="163" y="177"/>
                </a:cubicBezTo>
                <a:cubicBezTo>
                  <a:pt x="162" y="177"/>
                  <a:pt x="163" y="176"/>
                  <a:pt x="163" y="176"/>
                </a:cubicBezTo>
                <a:moveTo>
                  <a:pt x="152" y="108"/>
                </a:moveTo>
                <a:cubicBezTo>
                  <a:pt x="151" y="108"/>
                  <a:pt x="151" y="108"/>
                  <a:pt x="151" y="108"/>
                </a:cubicBezTo>
                <a:cubicBezTo>
                  <a:pt x="151" y="108"/>
                  <a:pt x="151" y="108"/>
                  <a:pt x="150" y="108"/>
                </a:cubicBezTo>
                <a:cubicBezTo>
                  <a:pt x="150" y="108"/>
                  <a:pt x="150" y="108"/>
                  <a:pt x="150" y="108"/>
                </a:cubicBezTo>
                <a:cubicBezTo>
                  <a:pt x="150" y="108"/>
                  <a:pt x="150" y="108"/>
                  <a:pt x="150" y="108"/>
                </a:cubicBezTo>
                <a:cubicBezTo>
                  <a:pt x="150" y="108"/>
                  <a:pt x="150" y="108"/>
                  <a:pt x="150" y="108"/>
                </a:cubicBezTo>
                <a:cubicBezTo>
                  <a:pt x="150" y="108"/>
                  <a:pt x="150" y="107"/>
                  <a:pt x="150" y="107"/>
                </a:cubicBezTo>
                <a:cubicBezTo>
                  <a:pt x="151" y="107"/>
                  <a:pt x="151" y="107"/>
                  <a:pt x="151" y="107"/>
                </a:cubicBezTo>
                <a:cubicBezTo>
                  <a:pt x="151" y="107"/>
                  <a:pt x="152" y="107"/>
                  <a:pt x="152" y="107"/>
                </a:cubicBezTo>
                <a:cubicBezTo>
                  <a:pt x="152" y="107"/>
                  <a:pt x="152" y="107"/>
                  <a:pt x="152" y="108"/>
                </a:cubicBezTo>
                <a:cubicBezTo>
                  <a:pt x="152" y="108"/>
                  <a:pt x="152" y="108"/>
                  <a:pt x="152" y="108"/>
                </a:cubicBezTo>
                <a:moveTo>
                  <a:pt x="141" y="108"/>
                </a:moveTo>
                <a:cubicBezTo>
                  <a:pt x="141" y="108"/>
                  <a:pt x="141" y="108"/>
                  <a:pt x="141" y="108"/>
                </a:cubicBezTo>
                <a:cubicBezTo>
                  <a:pt x="140" y="108"/>
                  <a:pt x="140" y="108"/>
                  <a:pt x="139" y="108"/>
                </a:cubicBezTo>
                <a:cubicBezTo>
                  <a:pt x="139" y="107"/>
                  <a:pt x="139"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1" y="107"/>
                  <a:pt x="141" y="107"/>
                  <a:pt x="141" y="107"/>
                </a:cubicBezTo>
                <a:cubicBezTo>
                  <a:pt x="141" y="108"/>
                  <a:pt x="142" y="108"/>
                  <a:pt x="142" y="108"/>
                </a:cubicBezTo>
                <a:cubicBezTo>
                  <a:pt x="142" y="108"/>
                  <a:pt x="142" y="108"/>
                  <a:pt x="142" y="108"/>
                </a:cubicBezTo>
                <a:cubicBezTo>
                  <a:pt x="142" y="108"/>
                  <a:pt x="142" y="108"/>
                  <a:pt x="142" y="108"/>
                </a:cubicBezTo>
                <a:cubicBezTo>
                  <a:pt x="142" y="108"/>
                  <a:pt x="142" y="108"/>
                  <a:pt x="142" y="108"/>
                </a:cubicBezTo>
                <a:cubicBezTo>
                  <a:pt x="142" y="108"/>
                  <a:pt x="143" y="108"/>
                  <a:pt x="143" y="108"/>
                </a:cubicBezTo>
                <a:cubicBezTo>
                  <a:pt x="143" y="108"/>
                  <a:pt x="143" y="108"/>
                  <a:pt x="143" y="108"/>
                </a:cubicBezTo>
                <a:cubicBezTo>
                  <a:pt x="142" y="108"/>
                  <a:pt x="141" y="108"/>
                  <a:pt x="141" y="108"/>
                </a:cubicBezTo>
                <a:moveTo>
                  <a:pt x="130" y="105"/>
                </a:moveTo>
                <a:cubicBezTo>
                  <a:pt x="130" y="105"/>
                  <a:pt x="130" y="106"/>
                  <a:pt x="129" y="106"/>
                </a:cubicBezTo>
                <a:cubicBezTo>
                  <a:pt x="129" y="105"/>
                  <a:pt x="128" y="105"/>
                  <a:pt x="127" y="105"/>
                </a:cubicBezTo>
                <a:cubicBezTo>
                  <a:pt x="127" y="105"/>
                  <a:pt x="127" y="105"/>
                  <a:pt x="127" y="104"/>
                </a:cubicBezTo>
                <a:cubicBezTo>
                  <a:pt x="127" y="104"/>
                  <a:pt x="127" y="104"/>
                  <a:pt x="128" y="104"/>
                </a:cubicBezTo>
                <a:cubicBezTo>
                  <a:pt x="128" y="104"/>
                  <a:pt x="129" y="104"/>
                  <a:pt x="129" y="104"/>
                </a:cubicBezTo>
                <a:cubicBezTo>
                  <a:pt x="130" y="104"/>
                  <a:pt x="130" y="104"/>
                  <a:pt x="130" y="104"/>
                </a:cubicBezTo>
                <a:cubicBezTo>
                  <a:pt x="130" y="104"/>
                  <a:pt x="130" y="104"/>
                  <a:pt x="130" y="104"/>
                </a:cubicBezTo>
                <a:cubicBezTo>
                  <a:pt x="130" y="104"/>
                  <a:pt x="130" y="105"/>
                  <a:pt x="130" y="105"/>
                </a:cubicBezTo>
                <a:cubicBezTo>
                  <a:pt x="130" y="105"/>
                  <a:pt x="130" y="105"/>
                  <a:pt x="130" y="105"/>
                </a:cubicBezTo>
                <a:moveTo>
                  <a:pt x="123" y="102"/>
                </a:moveTo>
                <a:cubicBezTo>
                  <a:pt x="123" y="102"/>
                  <a:pt x="123" y="102"/>
                  <a:pt x="123" y="102"/>
                </a:cubicBezTo>
                <a:cubicBezTo>
                  <a:pt x="123" y="102"/>
                  <a:pt x="123" y="102"/>
                  <a:pt x="123" y="102"/>
                </a:cubicBezTo>
                <a:cubicBezTo>
                  <a:pt x="122" y="102"/>
                  <a:pt x="122" y="103"/>
                  <a:pt x="122" y="103"/>
                </a:cubicBezTo>
                <a:cubicBezTo>
                  <a:pt x="121" y="102"/>
                  <a:pt x="122" y="102"/>
                  <a:pt x="122" y="101"/>
                </a:cubicBezTo>
                <a:cubicBezTo>
                  <a:pt x="122" y="101"/>
                  <a:pt x="122" y="100"/>
                  <a:pt x="122" y="100"/>
                </a:cubicBezTo>
                <a:cubicBezTo>
                  <a:pt x="122" y="100"/>
                  <a:pt x="122" y="100"/>
                  <a:pt x="122" y="100"/>
                </a:cubicBezTo>
                <a:cubicBezTo>
                  <a:pt x="122" y="100"/>
                  <a:pt x="122" y="100"/>
                  <a:pt x="123" y="100"/>
                </a:cubicBezTo>
                <a:cubicBezTo>
                  <a:pt x="123" y="100"/>
                  <a:pt x="124" y="100"/>
                  <a:pt x="123" y="101"/>
                </a:cubicBezTo>
                <a:cubicBezTo>
                  <a:pt x="123" y="101"/>
                  <a:pt x="123" y="101"/>
                  <a:pt x="123" y="101"/>
                </a:cubicBezTo>
                <a:cubicBezTo>
                  <a:pt x="123" y="101"/>
                  <a:pt x="123" y="101"/>
                  <a:pt x="123" y="102"/>
                </a:cubicBezTo>
                <a:moveTo>
                  <a:pt x="123" y="99"/>
                </a:moveTo>
                <a:cubicBezTo>
                  <a:pt x="123" y="99"/>
                  <a:pt x="123" y="99"/>
                  <a:pt x="123"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8"/>
                  <a:pt x="122" y="98"/>
                  <a:pt x="122" y="98"/>
                </a:cubicBezTo>
                <a:cubicBezTo>
                  <a:pt x="122" y="98"/>
                  <a:pt x="122" y="98"/>
                  <a:pt x="122" y="98"/>
                </a:cubicBezTo>
                <a:cubicBezTo>
                  <a:pt x="122" y="98"/>
                  <a:pt x="122" y="98"/>
                  <a:pt x="122" y="98"/>
                </a:cubicBezTo>
                <a:cubicBezTo>
                  <a:pt x="122" y="98"/>
                  <a:pt x="122" y="98"/>
                  <a:pt x="122" y="98"/>
                </a:cubicBezTo>
                <a:cubicBezTo>
                  <a:pt x="122" y="98"/>
                  <a:pt x="123" y="97"/>
                  <a:pt x="123" y="97"/>
                </a:cubicBezTo>
                <a:cubicBezTo>
                  <a:pt x="123" y="97"/>
                  <a:pt x="123" y="97"/>
                  <a:pt x="123" y="97"/>
                </a:cubicBezTo>
                <a:cubicBezTo>
                  <a:pt x="123" y="97"/>
                  <a:pt x="123" y="97"/>
                  <a:pt x="123" y="97"/>
                </a:cubicBezTo>
                <a:cubicBezTo>
                  <a:pt x="123" y="97"/>
                  <a:pt x="123" y="97"/>
                  <a:pt x="123" y="97"/>
                </a:cubicBezTo>
                <a:cubicBezTo>
                  <a:pt x="123" y="98"/>
                  <a:pt x="123" y="99"/>
                  <a:pt x="123" y="99"/>
                </a:cubicBezTo>
                <a:cubicBezTo>
                  <a:pt x="123" y="99"/>
                  <a:pt x="123" y="99"/>
                  <a:pt x="123" y="99"/>
                </a:cubicBezTo>
                <a:moveTo>
                  <a:pt x="87" y="43"/>
                </a:moveTo>
                <a:cubicBezTo>
                  <a:pt x="87" y="43"/>
                  <a:pt x="87" y="43"/>
                  <a:pt x="87" y="43"/>
                </a:cubicBezTo>
                <a:cubicBezTo>
                  <a:pt x="87" y="43"/>
                  <a:pt x="87" y="43"/>
                  <a:pt x="87" y="43"/>
                </a:cubicBezTo>
                <a:cubicBezTo>
                  <a:pt x="87" y="43"/>
                  <a:pt x="86" y="43"/>
                  <a:pt x="86" y="43"/>
                </a:cubicBezTo>
                <a:cubicBezTo>
                  <a:pt x="86" y="43"/>
                  <a:pt x="85" y="43"/>
                  <a:pt x="84" y="43"/>
                </a:cubicBezTo>
                <a:cubicBezTo>
                  <a:pt x="84" y="43"/>
                  <a:pt x="84" y="43"/>
                  <a:pt x="84" y="42"/>
                </a:cubicBezTo>
                <a:cubicBezTo>
                  <a:pt x="84" y="42"/>
                  <a:pt x="85" y="42"/>
                  <a:pt x="85" y="42"/>
                </a:cubicBezTo>
                <a:cubicBezTo>
                  <a:pt x="86" y="42"/>
                  <a:pt x="86" y="42"/>
                  <a:pt x="87" y="42"/>
                </a:cubicBezTo>
                <a:cubicBezTo>
                  <a:pt x="87" y="42"/>
                  <a:pt x="87" y="42"/>
                  <a:pt x="87" y="42"/>
                </a:cubicBezTo>
                <a:cubicBezTo>
                  <a:pt x="87" y="42"/>
                  <a:pt x="87" y="42"/>
                  <a:pt x="87" y="42"/>
                </a:cubicBezTo>
                <a:cubicBezTo>
                  <a:pt x="87" y="42"/>
                  <a:pt x="87" y="42"/>
                  <a:pt x="87" y="42"/>
                </a:cubicBezTo>
                <a:cubicBezTo>
                  <a:pt x="87" y="42"/>
                  <a:pt x="86" y="42"/>
                  <a:pt x="86" y="43"/>
                </a:cubicBezTo>
                <a:cubicBezTo>
                  <a:pt x="87" y="43"/>
                  <a:pt x="87" y="43"/>
                  <a:pt x="87" y="43"/>
                </a:cubicBezTo>
                <a:cubicBezTo>
                  <a:pt x="87" y="43"/>
                  <a:pt x="87" y="43"/>
                  <a:pt x="87" y="43"/>
                </a:cubicBezTo>
                <a:moveTo>
                  <a:pt x="85" y="42"/>
                </a:moveTo>
                <a:cubicBezTo>
                  <a:pt x="85" y="42"/>
                  <a:pt x="85" y="42"/>
                  <a:pt x="85" y="42"/>
                </a:cubicBezTo>
                <a:cubicBezTo>
                  <a:pt x="85" y="42"/>
                  <a:pt x="84" y="42"/>
                  <a:pt x="84" y="42"/>
                </a:cubicBezTo>
                <a:cubicBezTo>
                  <a:pt x="84" y="42"/>
                  <a:pt x="84" y="42"/>
                  <a:pt x="84" y="42"/>
                </a:cubicBezTo>
                <a:cubicBezTo>
                  <a:pt x="84" y="42"/>
                  <a:pt x="84" y="42"/>
                  <a:pt x="84" y="42"/>
                </a:cubicBezTo>
                <a:cubicBezTo>
                  <a:pt x="84" y="42"/>
                  <a:pt x="84" y="42"/>
                  <a:pt x="84" y="42"/>
                </a:cubicBezTo>
                <a:cubicBezTo>
                  <a:pt x="84" y="42"/>
                  <a:pt x="85" y="42"/>
                  <a:pt x="85" y="42"/>
                </a:cubicBezTo>
                <a:cubicBezTo>
                  <a:pt x="85" y="42"/>
                  <a:pt x="86" y="41"/>
                  <a:pt x="86" y="41"/>
                </a:cubicBezTo>
                <a:cubicBezTo>
                  <a:pt x="86" y="41"/>
                  <a:pt x="86" y="41"/>
                  <a:pt x="86" y="41"/>
                </a:cubicBezTo>
                <a:cubicBezTo>
                  <a:pt x="86" y="42"/>
                  <a:pt x="86" y="42"/>
                  <a:pt x="85" y="42"/>
                </a:cubicBezTo>
                <a:moveTo>
                  <a:pt x="83" y="41"/>
                </a:moveTo>
                <a:cubicBezTo>
                  <a:pt x="83" y="41"/>
                  <a:pt x="84" y="41"/>
                  <a:pt x="84" y="41"/>
                </a:cubicBezTo>
                <a:cubicBezTo>
                  <a:pt x="84" y="41"/>
                  <a:pt x="84" y="41"/>
                  <a:pt x="84" y="41"/>
                </a:cubicBezTo>
                <a:cubicBezTo>
                  <a:pt x="84" y="41"/>
                  <a:pt x="83" y="42"/>
                  <a:pt x="83" y="42"/>
                </a:cubicBezTo>
                <a:cubicBezTo>
                  <a:pt x="83" y="42"/>
                  <a:pt x="83" y="41"/>
                  <a:pt x="83" y="41"/>
                </a:cubicBezTo>
                <a:moveTo>
                  <a:pt x="85" y="37"/>
                </a:moveTo>
                <a:cubicBezTo>
                  <a:pt x="85" y="37"/>
                  <a:pt x="85" y="36"/>
                  <a:pt x="85" y="36"/>
                </a:cubicBezTo>
                <a:cubicBezTo>
                  <a:pt x="85" y="36"/>
                  <a:pt x="84" y="36"/>
                  <a:pt x="84" y="36"/>
                </a:cubicBezTo>
                <a:cubicBezTo>
                  <a:pt x="84" y="36"/>
                  <a:pt x="85" y="36"/>
                  <a:pt x="85" y="35"/>
                </a:cubicBezTo>
                <a:cubicBezTo>
                  <a:pt x="85" y="36"/>
                  <a:pt x="85" y="36"/>
                  <a:pt x="86" y="36"/>
                </a:cubicBezTo>
                <a:cubicBezTo>
                  <a:pt x="86" y="36"/>
                  <a:pt x="86" y="36"/>
                  <a:pt x="86" y="36"/>
                </a:cubicBezTo>
                <a:cubicBezTo>
                  <a:pt x="86" y="36"/>
                  <a:pt x="86" y="36"/>
                  <a:pt x="86" y="36"/>
                </a:cubicBezTo>
                <a:cubicBezTo>
                  <a:pt x="86" y="36"/>
                  <a:pt x="85" y="37"/>
                  <a:pt x="85" y="37"/>
                </a:cubicBezTo>
                <a:moveTo>
                  <a:pt x="84" y="37"/>
                </a:moveTo>
                <a:cubicBezTo>
                  <a:pt x="84" y="37"/>
                  <a:pt x="84" y="37"/>
                  <a:pt x="84" y="37"/>
                </a:cubicBezTo>
                <a:cubicBezTo>
                  <a:pt x="84" y="37"/>
                  <a:pt x="84" y="37"/>
                  <a:pt x="84" y="37"/>
                </a:cubicBezTo>
                <a:cubicBezTo>
                  <a:pt x="85" y="37"/>
                  <a:pt x="85" y="37"/>
                  <a:pt x="84" y="37"/>
                </a:cubicBezTo>
                <a:moveTo>
                  <a:pt x="84" y="37"/>
                </a:moveTo>
                <a:cubicBezTo>
                  <a:pt x="84" y="37"/>
                  <a:pt x="84" y="37"/>
                  <a:pt x="84" y="37"/>
                </a:cubicBezTo>
                <a:cubicBezTo>
                  <a:pt x="84" y="37"/>
                  <a:pt x="84" y="37"/>
                  <a:pt x="84" y="37"/>
                </a:cubicBezTo>
                <a:cubicBezTo>
                  <a:pt x="84" y="37"/>
                  <a:pt x="84" y="37"/>
                  <a:pt x="84" y="37"/>
                </a:cubicBezTo>
                <a:moveTo>
                  <a:pt x="85" y="39"/>
                </a:moveTo>
                <a:cubicBezTo>
                  <a:pt x="85" y="39"/>
                  <a:pt x="84" y="39"/>
                  <a:pt x="84" y="39"/>
                </a:cubicBezTo>
                <a:cubicBezTo>
                  <a:pt x="84" y="39"/>
                  <a:pt x="84" y="38"/>
                  <a:pt x="85" y="38"/>
                </a:cubicBezTo>
                <a:cubicBezTo>
                  <a:pt x="85" y="38"/>
                  <a:pt x="85" y="38"/>
                  <a:pt x="85" y="38"/>
                </a:cubicBezTo>
                <a:cubicBezTo>
                  <a:pt x="85" y="39"/>
                  <a:pt x="85" y="39"/>
                  <a:pt x="85" y="39"/>
                </a:cubicBezTo>
                <a:cubicBezTo>
                  <a:pt x="85" y="39"/>
                  <a:pt x="85" y="39"/>
                  <a:pt x="85" y="39"/>
                </a:cubicBezTo>
                <a:moveTo>
                  <a:pt x="86" y="47"/>
                </a:moveTo>
                <a:cubicBezTo>
                  <a:pt x="86" y="47"/>
                  <a:pt x="86" y="47"/>
                  <a:pt x="86" y="47"/>
                </a:cubicBezTo>
                <a:cubicBezTo>
                  <a:pt x="86" y="47"/>
                  <a:pt x="86" y="47"/>
                  <a:pt x="86" y="47"/>
                </a:cubicBezTo>
                <a:cubicBezTo>
                  <a:pt x="86" y="47"/>
                  <a:pt x="85" y="47"/>
                  <a:pt x="85" y="48"/>
                </a:cubicBezTo>
                <a:cubicBezTo>
                  <a:pt x="85" y="48"/>
                  <a:pt x="85" y="48"/>
                  <a:pt x="85" y="48"/>
                </a:cubicBezTo>
                <a:cubicBezTo>
                  <a:pt x="85" y="48"/>
                  <a:pt x="85" y="48"/>
                  <a:pt x="85" y="48"/>
                </a:cubicBezTo>
                <a:cubicBezTo>
                  <a:pt x="85" y="48"/>
                  <a:pt x="85" y="48"/>
                  <a:pt x="84" y="48"/>
                </a:cubicBezTo>
                <a:cubicBezTo>
                  <a:pt x="84" y="48"/>
                  <a:pt x="84" y="48"/>
                  <a:pt x="84" y="48"/>
                </a:cubicBezTo>
                <a:cubicBezTo>
                  <a:pt x="84" y="48"/>
                  <a:pt x="84" y="48"/>
                  <a:pt x="84" y="48"/>
                </a:cubicBezTo>
                <a:cubicBezTo>
                  <a:pt x="84" y="48"/>
                  <a:pt x="84" y="47"/>
                  <a:pt x="84" y="47"/>
                </a:cubicBezTo>
                <a:cubicBezTo>
                  <a:pt x="84" y="47"/>
                  <a:pt x="85" y="47"/>
                  <a:pt x="85" y="47"/>
                </a:cubicBezTo>
                <a:cubicBezTo>
                  <a:pt x="85" y="47"/>
                  <a:pt x="85" y="46"/>
                  <a:pt x="86" y="46"/>
                </a:cubicBezTo>
                <a:cubicBezTo>
                  <a:pt x="86" y="46"/>
                  <a:pt x="86" y="46"/>
                  <a:pt x="86" y="46"/>
                </a:cubicBezTo>
                <a:cubicBezTo>
                  <a:pt x="86" y="46"/>
                  <a:pt x="86" y="47"/>
                  <a:pt x="86" y="47"/>
                </a:cubicBezTo>
                <a:cubicBezTo>
                  <a:pt x="86" y="47"/>
                  <a:pt x="86" y="47"/>
                  <a:pt x="86" y="47"/>
                </a:cubicBezTo>
                <a:moveTo>
                  <a:pt x="66" y="74"/>
                </a:moveTo>
                <a:cubicBezTo>
                  <a:pt x="66" y="74"/>
                  <a:pt x="67" y="73"/>
                  <a:pt x="67" y="73"/>
                </a:cubicBezTo>
                <a:cubicBezTo>
                  <a:pt x="67" y="73"/>
                  <a:pt x="67" y="73"/>
                  <a:pt x="67" y="73"/>
                </a:cubicBezTo>
                <a:cubicBezTo>
                  <a:pt x="67" y="73"/>
                  <a:pt x="67" y="73"/>
                  <a:pt x="67" y="73"/>
                </a:cubicBezTo>
                <a:cubicBezTo>
                  <a:pt x="67" y="74"/>
                  <a:pt x="67" y="74"/>
                  <a:pt x="66" y="74"/>
                </a:cubicBezTo>
                <a:cubicBezTo>
                  <a:pt x="66" y="74"/>
                  <a:pt x="66" y="74"/>
                  <a:pt x="66" y="74"/>
                </a:cubicBezTo>
                <a:moveTo>
                  <a:pt x="59" y="100"/>
                </a:moveTo>
                <a:cubicBezTo>
                  <a:pt x="59" y="100"/>
                  <a:pt x="59" y="100"/>
                  <a:pt x="59" y="100"/>
                </a:cubicBezTo>
                <a:cubicBezTo>
                  <a:pt x="59" y="100"/>
                  <a:pt x="59" y="100"/>
                  <a:pt x="59" y="100"/>
                </a:cubicBezTo>
                <a:cubicBezTo>
                  <a:pt x="59" y="100"/>
                  <a:pt x="59" y="100"/>
                  <a:pt x="59" y="100"/>
                </a:cubicBezTo>
                <a:cubicBezTo>
                  <a:pt x="59" y="100"/>
                  <a:pt x="59" y="100"/>
                  <a:pt x="59" y="100"/>
                </a:cubicBezTo>
                <a:cubicBezTo>
                  <a:pt x="59" y="99"/>
                  <a:pt x="59" y="99"/>
                  <a:pt x="59" y="99"/>
                </a:cubicBezTo>
                <a:cubicBezTo>
                  <a:pt x="59" y="99"/>
                  <a:pt x="59" y="99"/>
                  <a:pt x="59" y="99"/>
                </a:cubicBezTo>
                <a:cubicBezTo>
                  <a:pt x="59" y="99"/>
                  <a:pt x="59" y="99"/>
                  <a:pt x="59" y="99"/>
                </a:cubicBezTo>
                <a:cubicBezTo>
                  <a:pt x="58" y="99"/>
                  <a:pt x="58" y="99"/>
                  <a:pt x="57" y="100"/>
                </a:cubicBezTo>
                <a:cubicBezTo>
                  <a:pt x="57" y="100"/>
                  <a:pt x="57" y="100"/>
                  <a:pt x="57" y="100"/>
                </a:cubicBezTo>
                <a:cubicBezTo>
                  <a:pt x="57" y="100"/>
                  <a:pt x="57" y="100"/>
                  <a:pt x="57" y="100"/>
                </a:cubicBezTo>
                <a:cubicBezTo>
                  <a:pt x="57" y="100"/>
                  <a:pt x="58" y="99"/>
                  <a:pt x="58" y="99"/>
                </a:cubicBezTo>
                <a:cubicBezTo>
                  <a:pt x="58" y="99"/>
                  <a:pt x="58" y="99"/>
                  <a:pt x="58" y="99"/>
                </a:cubicBezTo>
                <a:cubicBezTo>
                  <a:pt x="58" y="99"/>
                  <a:pt x="58"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6" y="99"/>
                  <a:pt x="56" y="99"/>
                  <a:pt x="56" y="99"/>
                </a:cubicBezTo>
                <a:cubicBezTo>
                  <a:pt x="55" y="99"/>
                  <a:pt x="55" y="99"/>
                  <a:pt x="54" y="99"/>
                </a:cubicBezTo>
                <a:cubicBezTo>
                  <a:pt x="54" y="99"/>
                  <a:pt x="53" y="99"/>
                  <a:pt x="53" y="99"/>
                </a:cubicBezTo>
                <a:cubicBezTo>
                  <a:pt x="53" y="99"/>
                  <a:pt x="53" y="99"/>
                  <a:pt x="53" y="98"/>
                </a:cubicBezTo>
                <a:cubicBezTo>
                  <a:pt x="53" y="98"/>
                  <a:pt x="54" y="98"/>
                  <a:pt x="54" y="97"/>
                </a:cubicBezTo>
                <a:cubicBezTo>
                  <a:pt x="54" y="97"/>
                  <a:pt x="54" y="97"/>
                  <a:pt x="54" y="97"/>
                </a:cubicBezTo>
                <a:cubicBezTo>
                  <a:pt x="54" y="97"/>
                  <a:pt x="54" y="97"/>
                  <a:pt x="54" y="97"/>
                </a:cubicBezTo>
                <a:cubicBezTo>
                  <a:pt x="54" y="97"/>
                  <a:pt x="54" y="97"/>
                  <a:pt x="55" y="97"/>
                </a:cubicBezTo>
                <a:cubicBezTo>
                  <a:pt x="54" y="96"/>
                  <a:pt x="54" y="96"/>
                  <a:pt x="54" y="96"/>
                </a:cubicBezTo>
                <a:cubicBezTo>
                  <a:pt x="54" y="95"/>
                  <a:pt x="55" y="94"/>
                  <a:pt x="56" y="93"/>
                </a:cubicBezTo>
                <a:cubicBezTo>
                  <a:pt x="56" y="93"/>
                  <a:pt x="57" y="93"/>
                  <a:pt x="57" y="93"/>
                </a:cubicBezTo>
                <a:cubicBezTo>
                  <a:pt x="57" y="93"/>
                  <a:pt x="57" y="93"/>
                  <a:pt x="57" y="93"/>
                </a:cubicBezTo>
                <a:cubicBezTo>
                  <a:pt x="57" y="93"/>
                  <a:pt x="57" y="93"/>
                  <a:pt x="57" y="93"/>
                </a:cubicBezTo>
                <a:cubicBezTo>
                  <a:pt x="57" y="93"/>
                  <a:pt x="57" y="93"/>
                  <a:pt x="57" y="93"/>
                </a:cubicBezTo>
                <a:cubicBezTo>
                  <a:pt x="57" y="93"/>
                  <a:pt x="57" y="93"/>
                  <a:pt x="57" y="93"/>
                </a:cubicBezTo>
                <a:cubicBezTo>
                  <a:pt x="57" y="94"/>
                  <a:pt x="56" y="95"/>
                  <a:pt x="56" y="96"/>
                </a:cubicBezTo>
                <a:cubicBezTo>
                  <a:pt x="56" y="96"/>
                  <a:pt x="56" y="95"/>
                  <a:pt x="57" y="95"/>
                </a:cubicBezTo>
                <a:cubicBezTo>
                  <a:pt x="57" y="95"/>
                  <a:pt x="57" y="95"/>
                  <a:pt x="57" y="95"/>
                </a:cubicBezTo>
                <a:cubicBezTo>
                  <a:pt x="57" y="96"/>
                  <a:pt x="57" y="96"/>
                  <a:pt x="57" y="96"/>
                </a:cubicBezTo>
                <a:cubicBezTo>
                  <a:pt x="57" y="96"/>
                  <a:pt x="57" y="96"/>
                  <a:pt x="57" y="96"/>
                </a:cubicBezTo>
                <a:cubicBezTo>
                  <a:pt x="57" y="96"/>
                  <a:pt x="57" y="96"/>
                  <a:pt x="57" y="96"/>
                </a:cubicBezTo>
                <a:cubicBezTo>
                  <a:pt x="57" y="96"/>
                  <a:pt x="58" y="97"/>
                  <a:pt x="58" y="96"/>
                </a:cubicBezTo>
                <a:cubicBezTo>
                  <a:pt x="58" y="96"/>
                  <a:pt x="58" y="96"/>
                  <a:pt x="58" y="96"/>
                </a:cubicBezTo>
                <a:cubicBezTo>
                  <a:pt x="59" y="96"/>
                  <a:pt x="59" y="96"/>
                  <a:pt x="60" y="96"/>
                </a:cubicBezTo>
                <a:cubicBezTo>
                  <a:pt x="59" y="97"/>
                  <a:pt x="59" y="97"/>
                  <a:pt x="59" y="97"/>
                </a:cubicBezTo>
                <a:cubicBezTo>
                  <a:pt x="59" y="97"/>
                  <a:pt x="59" y="97"/>
                  <a:pt x="59" y="97"/>
                </a:cubicBezTo>
                <a:cubicBezTo>
                  <a:pt x="59" y="97"/>
                  <a:pt x="59" y="97"/>
                  <a:pt x="59" y="97"/>
                </a:cubicBezTo>
                <a:cubicBezTo>
                  <a:pt x="59" y="97"/>
                  <a:pt x="59" y="97"/>
                  <a:pt x="59" y="98"/>
                </a:cubicBezTo>
                <a:cubicBezTo>
                  <a:pt x="59" y="98"/>
                  <a:pt x="60" y="97"/>
                  <a:pt x="60" y="97"/>
                </a:cubicBezTo>
                <a:cubicBezTo>
                  <a:pt x="60" y="97"/>
                  <a:pt x="60" y="97"/>
                  <a:pt x="60" y="97"/>
                </a:cubicBezTo>
                <a:cubicBezTo>
                  <a:pt x="60" y="98"/>
                  <a:pt x="60" y="98"/>
                  <a:pt x="60" y="98"/>
                </a:cubicBezTo>
                <a:cubicBezTo>
                  <a:pt x="60" y="98"/>
                  <a:pt x="60" y="98"/>
                  <a:pt x="59" y="98"/>
                </a:cubicBezTo>
                <a:cubicBezTo>
                  <a:pt x="59" y="98"/>
                  <a:pt x="59" y="98"/>
                  <a:pt x="59" y="98"/>
                </a:cubicBezTo>
                <a:cubicBezTo>
                  <a:pt x="59" y="98"/>
                  <a:pt x="59" y="99"/>
                  <a:pt x="59" y="99"/>
                </a:cubicBezTo>
                <a:cubicBezTo>
                  <a:pt x="59" y="99"/>
                  <a:pt x="59" y="99"/>
                  <a:pt x="59" y="99"/>
                </a:cubicBezTo>
                <a:cubicBezTo>
                  <a:pt x="60" y="99"/>
                  <a:pt x="60" y="99"/>
                  <a:pt x="60" y="98"/>
                </a:cubicBezTo>
                <a:cubicBezTo>
                  <a:pt x="60" y="98"/>
                  <a:pt x="60" y="98"/>
                  <a:pt x="60" y="99"/>
                </a:cubicBezTo>
                <a:cubicBezTo>
                  <a:pt x="60" y="99"/>
                  <a:pt x="60" y="99"/>
                  <a:pt x="60" y="99"/>
                </a:cubicBezTo>
                <a:cubicBezTo>
                  <a:pt x="60" y="99"/>
                  <a:pt x="60" y="99"/>
                  <a:pt x="60" y="99"/>
                </a:cubicBezTo>
                <a:cubicBezTo>
                  <a:pt x="60" y="99"/>
                  <a:pt x="60" y="100"/>
                  <a:pt x="60" y="100"/>
                </a:cubicBezTo>
                <a:cubicBezTo>
                  <a:pt x="60" y="100"/>
                  <a:pt x="60" y="100"/>
                  <a:pt x="59" y="100"/>
                </a:cubicBezTo>
                <a:moveTo>
                  <a:pt x="59" y="166"/>
                </a:moveTo>
                <a:cubicBezTo>
                  <a:pt x="59" y="166"/>
                  <a:pt x="58" y="166"/>
                  <a:pt x="57" y="166"/>
                </a:cubicBezTo>
                <a:cubicBezTo>
                  <a:pt x="57" y="166"/>
                  <a:pt x="57" y="165"/>
                  <a:pt x="57" y="164"/>
                </a:cubicBezTo>
                <a:cubicBezTo>
                  <a:pt x="58" y="164"/>
                  <a:pt x="59" y="164"/>
                  <a:pt x="59" y="165"/>
                </a:cubicBezTo>
                <a:cubicBezTo>
                  <a:pt x="59" y="165"/>
                  <a:pt x="59" y="166"/>
                  <a:pt x="59" y="166"/>
                </a:cubicBezTo>
                <a:moveTo>
                  <a:pt x="58" y="54"/>
                </a:moveTo>
                <a:cubicBezTo>
                  <a:pt x="59" y="55"/>
                  <a:pt x="58" y="55"/>
                  <a:pt x="58" y="55"/>
                </a:cubicBezTo>
                <a:cubicBezTo>
                  <a:pt x="58" y="55"/>
                  <a:pt x="58" y="55"/>
                  <a:pt x="58" y="55"/>
                </a:cubicBezTo>
                <a:cubicBezTo>
                  <a:pt x="58" y="55"/>
                  <a:pt x="58" y="55"/>
                  <a:pt x="58" y="54"/>
                </a:cubicBezTo>
                <a:moveTo>
                  <a:pt x="50" y="101"/>
                </a:moveTo>
                <a:cubicBezTo>
                  <a:pt x="50" y="101"/>
                  <a:pt x="51" y="100"/>
                  <a:pt x="51" y="100"/>
                </a:cubicBezTo>
                <a:cubicBezTo>
                  <a:pt x="52" y="100"/>
                  <a:pt x="52" y="100"/>
                  <a:pt x="52" y="100"/>
                </a:cubicBezTo>
                <a:cubicBezTo>
                  <a:pt x="52" y="100"/>
                  <a:pt x="51" y="101"/>
                  <a:pt x="51" y="101"/>
                </a:cubicBezTo>
                <a:cubicBezTo>
                  <a:pt x="51" y="101"/>
                  <a:pt x="51" y="101"/>
                  <a:pt x="51" y="101"/>
                </a:cubicBezTo>
                <a:cubicBezTo>
                  <a:pt x="51" y="101"/>
                  <a:pt x="51" y="101"/>
                  <a:pt x="51" y="101"/>
                </a:cubicBezTo>
                <a:cubicBezTo>
                  <a:pt x="51" y="101"/>
                  <a:pt x="52" y="100"/>
                  <a:pt x="52" y="101"/>
                </a:cubicBezTo>
                <a:cubicBezTo>
                  <a:pt x="52" y="102"/>
                  <a:pt x="51" y="102"/>
                  <a:pt x="50" y="101"/>
                </a:cubicBezTo>
                <a:moveTo>
                  <a:pt x="44" y="138"/>
                </a:moveTo>
                <a:cubicBezTo>
                  <a:pt x="44" y="138"/>
                  <a:pt x="44" y="138"/>
                  <a:pt x="43" y="138"/>
                </a:cubicBezTo>
                <a:cubicBezTo>
                  <a:pt x="43" y="138"/>
                  <a:pt x="43" y="138"/>
                  <a:pt x="43" y="137"/>
                </a:cubicBezTo>
                <a:cubicBezTo>
                  <a:pt x="43" y="137"/>
                  <a:pt x="43" y="137"/>
                  <a:pt x="43" y="137"/>
                </a:cubicBezTo>
                <a:cubicBezTo>
                  <a:pt x="44" y="137"/>
                  <a:pt x="45" y="137"/>
                  <a:pt x="45" y="137"/>
                </a:cubicBezTo>
                <a:cubicBezTo>
                  <a:pt x="45" y="138"/>
                  <a:pt x="45" y="138"/>
                  <a:pt x="44" y="138"/>
                </a:cubicBezTo>
                <a:moveTo>
                  <a:pt x="44" y="152"/>
                </a:moveTo>
                <a:cubicBezTo>
                  <a:pt x="44" y="152"/>
                  <a:pt x="44" y="152"/>
                  <a:pt x="44" y="152"/>
                </a:cubicBezTo>
                <a:cubicBezTo>
                  <a:pt x="44" y="152"/>
                  <a:pt x="44" y="152"/>
                  <a:pt x="44" y="152"/>
                </a:cubicBezTo>
                <a:cubicBezTo>
                  <a:pt x="44" y="152"/>
                  <a:pt x="44" y="152"/>
                  <a:pt x="44" y="152"/>
                </a:cubicBezTo>
                <a:cubicBezTo>
                  <a:pt x="44" y="152"/>
                  <a:pt x="44" y="152"/>
                  <a:pt x="44" y="152"/>
                </a:cubicBezTo>
                <a:cubicBezTo>
                  <a:pt x="45" y="152"/>
                  <a:pt x="45" y="152"/>
                  <a:pt x="45" y="152"/>
                </a:cubicBezTo>
                <a:cubicBezTo>
                  <a:pt x="45" y="152"/>
                  <a:pt x="45" y="152"/>
                  <a:pt x="45" y="152"/>
                </a:cubicBezTo>
                <a:cubicBezTo>
                  <a:pt x="44" y="152"/>
                  <a:pt x="45" y="152"/>
                  <a:pt x="44" y="152"/>
                </a:cubicBezTo>
                <a:cubicBezTo>
                  <a:pt x="44" y="152"/>
                  <a:pt x="44" y="152"/>
                  <a:pt x="43" y="152"/>
                </a:cubicBezTo>
                <a:cubicBezTo>
                  <a:pt x="43" y="152"/>
                  <a:pt x="43" y="152"/>
                  <a:pt x="43" y="152"/>
                </a:cubicBezTo>
                <a:cubicBezTo>
                  <a:pt x="43" y="152"/>
                  <a:pt x="44" y="152"/>
                  <a:pt x="44" y="152"/>
                </a:cubicBezTo>
                <a:cubicBezTo>
                  <a:pt x="44" y="152"/>
                  <a:pt x="44" y="152"/>
                  <a:pt x="44" y="152"/>
                </a:cubicBezTo>
                <a:moveTo>
                  <a:pt x="41" y="137"/>
                </a:moveTo>
                <a:cubicBezTo>
                  <a:pt x="41" y="137"/>
                  <a:pt x="40" y="137"/>
                  <a:pt x="40" y="137"/>
                </a:cubicBezTo>
                <a:cubicBezTo>
                  <a:pt x="40" y="137"/>
                  <a:pt x="40" y="138"/>
                  <a:pt x="40" y="138"/>
                </a:cubicBezTo>
                <a:cubicBezTo>
                  <a:pt x="39" y="137"/>
                  <a:pt x="39" y="137"/>
                  <a:pt x="39" y="137"/>
                </a:cubicBezTo>
                <a:cubicBezTo>
                  <a:pt x="39" y="138"/>
                  <a:pt x="39" y="138"/>
                  <a:pt x="38" y="138"/>
                </a:cubicBezTo>
                <a:cubicBezTo>
                  <a:pt x="38" y="138"/>
                  <a:pt x="38" y="138"/>
                  <a:pt x="38" y="138"/>
                </a:cubicBezTo>
                <a:cubicBezTo>
                  <a:pt x="37" y="138"/>
                  <a:pt x="37" y="138"/>
                  <a:pt x="37" y="138"/>
                </a:cubicBezTo>
                <a:cubicBezTo>
                  <a:pt x="36" y="138"/>
                  <a:pt x="36" y="138"/>
                  <a:pt x="36" y="138"/>
                </a:cubicBezTo>
                <a:cubicBezTo>
                  <a:pt x="36" y="138"/>
                  <a:pt x="36" y="138"/>
                  <a:pt x="35" y="138"/>
                </a:cubicBezTo>
                <a:cubicBezTo>
                  <a:pt x="35" y="138"/>
                  <a:pt x="35" y="138"/>
                  <a:pt x="35" y="137"/>
                </a:cubicBezTo>
                <a:cubicBezTo>
                  <a:pt x="35" y="137"/>
                  <a:pt x="35" y="137"/>
                  <a:pt x="35" y="137"/>
                </a:cubicBezTo>
                <a:cubicBezTo>
                  <a:pt x="35" y="137"/>
                  <a:pt x="35" y="137"/>
                  <a:pt x="35" y="137"/>
                </a:cubicBezTo>
                <a:cubicBezTo>
                  <a:pt x="36" y="137"/>
                  <a:pt x="37" y="137"/>
                  <a:pt x="37" y="137"/>
                </a:cubicBezTo>
                <a:cubicBezTo>
                  <a:pt x="37" y="137"/>
                  <a:pt x="37" y="137"/>
                  <a:pt x="37" y="137"/>
                </a:cubicBezTo>
                <a:cubicBezTo>
                  <a:pt x="37" y="137"/>
                  <a:pt x="37" y="137"/>
                  <a:pt x="37" y="136"/>
                </a:cubicBezTo>
                <a:cubicBezTo>
                  <a:pt x="37" y="136"/>
                  <a:pt x="36" y="136"/>
                  <a:pt x="36" y="136"/>
                </a:cubicBezTo>
                <a:cubicBezTo>
                  <a:pt x="36" y="136"/>
                  <a:pt x="36" y="136"/>
                  <a:pt x="36" y="136"/>
                </a:cubicBezTo>
                <a:cubicBezTo>
                  <a:pt x="36" y="136"/>
                  <a:pt x="36" y="136"/>
                  <a:pt x="36" y="136"/>
                </a:cubicBezTo>
                <a:cubicBezTo>
                  <a:pt x="36" y="136"/>
                  <a:pt x="36" y="136"/>
                  <a:pt x="36" y="136"/>
                </a:cubicBezTo>
                <a:cubicBezTo>
                  <a:pt x="37" y="136"/>
                  <a:pt x="37" y="136"/>
                  <a:pt x="38" y="136"/>
                </a:cubicBezTo>
                <a:cubicBezTo>
                  <a:pt x="38" y="136"/>
                  <a:pt x="38" y="136"/>
                  <a:pt x="38" y="136"/>
                </a:cubicBezTo>
                <a:cubicBezTo>
                  <a:pt x="38" y="136"/>
                  <a:pt x="39" y="136"/>
                  <a:pt x="39" y="136"/>
                </a:cubicBezTo>
                <a:cubicBezTo>
                  <a:pt x="39" y="136"/>
                  <a:pt x="39" y="136"/>
                  <a:pt x="39" y="136"/>
                </a:cubicBezTo>
                <a:cubicBezTo>
                  <a:pt x="39" y="136"/>
                  <a:pt x="40" y="136"/>
                  <a:pt x="40" y="136"/>
                </a:cubicBezTo>
                <a:cubicBezTo>
                  <a:pt x="40" y="137"/>
                  <a:pt x="42" y="137"/>
                  <a:pt x="42" y="137"/>
                </a:cubicBezTo>
                <a:cubicBezTo>
                  <a:pt x="42" y="137"/>
                  <a:pt x="42" y="138"/>
                  <a:pt x="42" y="138"/>
                </a:cubicBezTo>
                <a:cubicBezTo>
                  <a:pt x="41" y="138"/>
                  <a:pt x="41" y="137"/>
                  <a:pt x="41" y="137"/>
                </a:cubicBezTo>
                <a:moveTo>
                  <a:pt x="34" y="115"/>
                </a:moveTo>
                <a:cubicBezTo>
                  <a:pt x="34" y="115"/>
                  <a:pt x="34" y="115"/>
                  <a:pt x="34" y="115"/>
                </a:cubicBezTo>
                <a:cubicBezTo>
                  <a:pt x="34" y="115"/>
                  <a:pt x="34" y="115"/>
                  <a:pt x="34" y="115"/>
                </a:cubicBezTo>
                <a:cubicBezTo>
                  <a:pt x="34" y="115"/>
                  <a:pt x="34" y="115"/>
                  <a:pt x="34" y="115"/>
                </a:cubicBezTo>
                <a:moveTo>
                  <a:pt x="33" y="115"/>
                </a:moveTo>
                <a:cubicBezTo>
                  <a:pt x="33" y="115"/>
                  <a:pt x="34" y="115"/>
                  <a:pt x="34" y="115"/>
                </a:cubicBezTo>
                <a:cubicBezTo>
                  <a:pt x="34" y="115"/>
                  <a:pt x="34" y="115"/>
                  <a:pt x="34" y="115"/>
                </a:cubicBezTo>
                <a:cubicBezTo>
                  <a:pt x="33" y="115"/>
                  <a:pt x="33" y="115"/>
                  <a:pt x="33" y="115"/>
                </a:cubicBezTo>
                <a:moveTo>
                  <a:pt x="33" y="115"/>
                </a:moveTo>
                <a:cubicBezTo>
                  <a:pt x="33" y="115"/>
                  <a:pt x="33" y="115"/>
                  <a:pt x="33" y="115"/>
                </a:cubicBezTo>
                <a:cubicBezTo>
                  <a:pt x="33" y="115"/>
                  <a:pt x="33" y="115"/>
                  <a:pt x="33" y="115"/>
                </a:cubicBezTo>
                <a:close/>
                <a:moveTo>
                  <a:pt x="32" y="138"/>
                </a:moveTo>
                <a:cubicBezTo>
                  <a:pt x="32" y="138"/>
                  <a:pt x="32" y="138"/>
                  <a:pt x="32" y="138"/>
                </a:cubicBezTo>
                <a:cubicBezTo>
                  <a:pt x="31" y="138"/>
                  <a:pt x="30" y="138"/>
                  <a:pt x="30" y="138"/>
                </a:cubicBezTo>
                <a:cubicBezTo>
                  <a:pt x="30" y="137"/>
                  <a:pt x="31" y="137"/>
                  <a:pt x="31" y="137"/>
                </a:cubicBezTo>
                <a:cubicBezTo>
                  <a:pt x="31" y="137"/>
                  <a:pt x="32" y="138"/>
                  <a:pt x="33" y="138"/>
                </a:cubicBezTo>
                <a:cubicBezTo>
                  <a:pt x="33" y="138"/>
                  <a:pt x="33" y="138"/>
                  <a:pt x="33" y="138"/>
                </a:cubicBezTo>
                <a:cubicBezTo>
                  <a:pt x="32" y="138"/>
                  <a:pt x="32" y="138"/>
                  <a:pt x="32" y="138"/>
                </a:cubicBezTo>
                <a:moveTo>
                  <a:pt x="206" y="140"/>
                </a:moveTo>
                <a:cubicBezTo>
                  <a:pt x="206" y="140"/>
                  <a:pt x="206" y="139"/>
                  <a:pt x="206" y="139"/>
                </a:cubicBezTo>
                <a:cubicBezTo>
                  <a:pt x="206" y="140"/>
                  <a:pt x="207" y="140"/>
                  <a:pt x="207" y="141"/>
                </a:cubicBezTo>
                <a:cubicBezTo>
                  <a:pt x="207" y="141"/>
                  <a:pt x="207" y="141"/>
                  <a:pt x="207" y="141"/>
                </a:cubicBezTo>
                <a:cubicBezTo>
                  <a:pt x="207" y="141"/>
                  <a:pt x="208" y="142"/>
                  <a:pt x="208" y="142"/>
                </a:cubicBezTo>
                <a:cubicBezTo>
                  <a:pt x="208" y="143"/>
                  <a:pt x="207" y="144"/>
                  <a:pt x="206" y="143"/>
                </a:cubicBezTo>
                <a:cubicBezTo>
                  <a:pt x="206" y="143"/>
                  <a:pt x="205" y="143"/>
                  <a:pt x="205" y="142"/>
                </a:cubicBezTo>
                <a:cubicBezTo>
                  <a:pt x="205" y="141"/>
                  <a:pt x="205" y="141"/>
                  <a:pt x="205" y="141"/>
                </a:cubicBezTo>
                <a:cubicBezTo>
                  <a:pt x="205" y="141"/>
                  <a:pt x="205" y="141"/>
                  <a:pt x="205" y="140"/>
                </a:cubicBezTo>
                <a:cubicBezTo>
                  <a:pt x="205" y="140"/>
                  <a:pt x="205" y="140"/>
                  <a:pt x="205" y="140"/>
                </a:cubicBezTo>
                <a:cubicBezTo>
                  <a:pt x="205" y="140"/>
                  <a:pt x="205" y="140"/>
                  <a:pt x="205" y="140"/>
                </a:cubicBezTo>
                <a:cubicBezTo>
                  <a:pt x="205" y="140"/>
                  <a:pt x="205" y="140"/>
                  <a:pt x="206" y="140"/>
                </a:cubicBezTo>
                <a:moveTo>
                  <a:pt x="123" y="75"/>
                </a:moveTo>
                <a:cubicBezTo>
                  <a:pt x="123" y="75"/>
                  <a:pt x="123" y="75"/>
                  <a:pt x="123" y="75"/>
                </a:cubicBezTo>
                <a:cubicBezTo>
                  <a:pt x="124" y="75"/>
                  <a:pt x="124" y="75"/>
                  <a:pt x="124" y="74"/>
                </a:cubicBezTo>
                <a:cubicBezTo>
                  <a:pt x="124" y="74"/>
                  <a:pt x="124" y="74"/>
                  <a:pt x="124" y="74"/>
                </a:cubicBezTo>
                <a:cubicBezTo>
                  <a:pt x="124" y="74"/>
                  <a:pt x="124" y="74"/>
                  <a:pt x="124" y="74"/>
                </a:cubicBezTo>
                <a:cubicBezTo>
                  <a:pt x="124" y="75"/>
                  <a:pt x="124" y="75"/>
                  <a:pt x="124" y="75"/>
                </a:cubicBezTo>
                <a:cubicBezTo>
                  <a:pt x="124" y="75"/>
                  <a:pt x="124" y="75"/>
                  <a:pt x="124" y="76"/>
                </a:cubicBezTo>
                <a:cubicBezTo>
                  <a:pt x="123" y="76"/>
                  <a:pt x="123" y="76"/>
                  <a:pt x="122" y="76"/>
                </a:cubicBezTo>
                <a:cubicBezTo>
                  <a:pt x="122" y="76"/>
                  <a:pt x="122" y="76"/>
                  <a:pt x="122" y="76"/>
                </a:cubicBezTo>
                <a:cubicBezTo>
                  <a:pt x="122" y="76"/>
                  <a:pt x="122" y="76"/>
                  <a:pt x="122" y="76"/>
                </a:cubicBezTo>
                <a:cubicBezTo>
                  <a:pt x="122" y="76"/>
                  <a:pt x="122" y="76"/>
                  <a:pt x="122" y="75"/>
                </a:cubicBezTo>
                <a:cubicBezTo>
                  <a:pt x="122" y="75"/>
                  <a:pt x="123" y="75"/>
                  <a:pt x="123" y="75"/>
                </a:cubicBezTo>
                <a:moveTo>
                  <a:pt x="126" y="78"/>
                </a:moveTo>
                <a:cubicBezTo>
                  <a:pt x="126" y="78"/>
                  <a:pt x="126" y="78"/>
                  <a:pt x="126" y="78"/>
                </a:cubicBezTo>
                <a:cubicBezTo>
                  <a:pt x="126" y="78"/>
                  <a:pt x="126" y="77"/>
                  <a:pt x="126" y="77"/>
                </a:cubicBezTo>
                <a:cubicBezTo>
                  <a:pt x="126" y="77"/>
                  <a:pt x="126" y="77"/>
                  <a:pt x="127" y="77"/>
                </a:cubicBezTo>
                <a:cubicBezTo>
                  <a:pt x="127" y="78"/>
                  <a:pt x="127" y="78"/>
                  <a:pt x="126" y="78"/>
                </a:cubicBezTo>
                <a:cubicBezTo>
                  <a:pt x="126" y="78"/>
                  <a:pt x="126" y="78"/>
                  <a:pt x="126" y="78"/>
                </a:cubicBezTo>
                <a:cubicBezTo>
                  <a:pt x="126" y="78"/>
                  <a:pt x="126" y="78"/>
                  <a:pt x="127" y="78"/>
                </a:cubicBezTo>
                <a:cubicBezTo>
                  <a:pt x="127" y="79"/>
                  <a:pt x="127" y="78"/>
                  <a:pt x="126" y="79"/>
                </a:cubicBezTo>
                <a:cubicBezTo>
                  <a:pt x="126" y="79"/>
                  <a:pt x="126" y="79"/>
                  <a:pt x="126" y="79"/>
                </a:cubicBezTo>
                <a:cubicBezTo>
                  <a:pt x="126" y="79"/>
                  <a:pt x="126" y="79"/>
                  <a:pt x="126" y="79"/>
                </a:cubicBezTo>
                <a:cubicBezTo>
                  <a:pt x="126" y="79"/>
                  <a:pt x="125" y="79"/>
                  <a:pt x="125" y="79"/>
                </a:cubicBezTo>
                <a:cubicBezTo>
                  <a:pt x="125" y="78"/>
                  <a:pt x="125" y="78"/>
                  <a:pt x="126" y="77"/>
                </a:cubicBezTo>
                <a:cubicBezTo>
                  <a:pt x="126" y="77"/>
                  <a:pt x="126" y="77"/>
                  <a:pt x="126" y="78"/>
                </a:cubicBezTo>
                <a:moveTo>
                  <a:pt x="40" y="107"/>
                </a:move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moveTo>
                  <a:pt x="40" y="107"/>
                </a:moveTo>
                <a:cubicBezTo>
                  <a:pt x="40" y="107"/>
                  <a:pt x="40" y="107"/>
                  <a:pt x="40" y="107"/>
                </a:cubicBezTo>
                <a:cubicBezTo>
                  <a:pt x="40" y="107"/>
                  <a:pt x="40" y="107"/>
                  <a:pt x="40" y="107"/>
                </a:cubicBezTo>
                <a:close/>
                <a:moveTo>
                  <a:pt x="33" y="114"/>
                </a:moveTo>
                <a:cubicBezTo>
                  <a:pt x="33" y="114"/>
                  <a:pt x="33" y="114"/>
                  <a:pt x="33" y="114"/>
                </a:cubicBezTo>
                <a:cubicBezTo>
                  <a:pt x="33" y="114"/>
                  <a:pt x="33" y="114"/>
                  <a:pt x="33" y="114"/>
                </a:cubicBezTo>
                <a:cubicBezTo>
                  <a:pt x="33" y="114"/>
                  <a:pt x="33" y="114"/>
                  <a:pt x="33" y="114"/>
                </a:cubicBezTo>
                <a:moveTo>
                  <a:pt x="33" y="115"/>
                </a:moveTo>
                <a:cubicBezTo>
                  <a:pt x="33" y="114"/>
                  <a:pt x="33" y="114"/>
                  <a:pt x="33" y="114"/>
                </a:cubicBezTo>
                <a:cubicBezTo>
                  <a:pt x="33" y="114"/>
                  <a:pt x="33" y="114"/>
                  <a:pt x="33" y="115"/>
                </a:cubicBezTo>
                <a:close/>
                <a:moveTo>
                  <a:pt x="33" y="114"/>
                </a:moveTo>
                <a:cubicBezTo>
                  <a:pt x="33" y="114"/>
                  <a:pt x="33" y="114"/>
                  <a:pt x="33" y="114"/>
                </a:cubicBezTo>
                <a:cubicBezTo>
                  <a:pt x="33" y="114"/>
                  <a:pt x="33" y="114"/>
                  <a:pt x="33" y="114"/>
                </a:cubicBezTo>
                <a:close/>
                <a:moveTo>
                  <a:pt x="33" y="114"/>
                </a:moveTo>
                <a:cubicBezTo>
                  <a:pt x="33" y="114"/>
                  <a:pt x="33" y="114"/>
                  <a:pt x="33" y="114"/>
                </a:cubicBezTo>
                <a:cubicBezTo>
                  <a:pt x="33" y="114"/>
                  <a:pt x="33" y="114"/>
                  <a:pt x="33" y="114"/>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cxnSp>
        <p:nvCxnSpPr>
          <p:cNvPr id="27" name="直接连接符 26"/>
          <p:cNvCxnSpPr/>
          <p:nvPr/>
        </p:nvCxnSpPr>
        <p:spPr>
          <a:xfrm>
            <a:off x="929621" y="3633553"/>
            <a:ext cx="693336" cy="0"/>
          </a:xfrm>
          <a:prstGeom prst="line">
            <a:avLst/>
          </a:prstGeom>
          <a:ln w="12700">
            <a:solidFill>
              <a:srgbClr val="2E578B"/>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818083" y="4012488"/>
            <a:ext cx="3246177" cy="894732"/>
          </a:xfrm>
          <a:prstGeom prst="rect">
            <a:avLst/>
          </a:prstGeom>
        </p:spPr>
        <p:txBody>
          <a:bodyPr wrap="square">
            <a:spAutoFit/>
          </a:bodyPr>
          <a:lstStyle/>
          <a:p>
            <a:pP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29" name="矩形 28"/>
          <p:cNvSpPr/>
          <p:nvPr/>
        </p:nvSpPr>
        <p:spPr>
          <a:xfrm>
            <a:off x="818083" y="2120528"/>
            <a:ext cx="2067618" cy="1277144"/>
          </a:xfrm>
          <a:prstGeom prst="rect">
            <a:avLst/>
          </a:prstGeom>
        </p:spPr>
        <p:txBody>
          <a:bodyPr wrap="square">
            <a:spAutoFit/>
          </a:bodyPr>
          <a:lstStyle/>
          <a:p>
            <a:pP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
        <p:nvSpPr>
          <p:cNvPr id="30" name="TextBox 30"/>
          <p:cNvSpPr txBox="1"/>
          <p:nvPr/>
        </p:nvSpPr>
        <p:spPr>
          <a:xfrm>
            <a:off x="7373286" y="4130700"/>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1" name="TextBox 30"/>
          <p:cNvSpPr txBox="1"/>
          <p:nvPr/>
        </p:nvSpPr>
        <p:spPr>
          <a:xfrm>
            <a:off x="7373286" y="2914205"/>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2" name="TextBox 30"/>
          <p:cNvSpPr txBox="1"/>
          <p:nvPr/>
        </p:nvSpPr>
        <p:spPr>
          <a:xfrm>
            <a:off x="6843890" y="5099901"/>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3" name="TextBox 30"/>
          <p:cNvSpPr txBox="1"/>
          <p:nvPr/>
        </p:nvSpPr>
        <p:spPr>
          <a:xfrm>
            <a:off x="6843890" y="1905398"/>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22" presetClass="entr" presetSubtype="8"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childTnLst>
                          </p:cTn>
                        </p:par>
                        <p:par>
                          <p:cTn id="30" fill="hold">
                            <p:stCondLst>
                              <p:cond delay="1000"/>
                            </p:stCondLst>
                            <p:childTnLst>
                              <p:par>
                                <p:cTn id="31" presetID="53" presetClass="entr" presetSubtype="16"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500" fill="hold"/>
                                        <p:tgtEl>
                                          <p:spTgt spid="24"/>
                                        </p:tgtEl>
                                        <p:attrNameLst>
                                          <p:attrName>ppt_w</p:attrName>
                                        </p:attrNameLst>
                                      </p:cBhvr>
                                      <p:tavLst>
                                        <p:tav tm="0">
                                          <p:val>
                                            <p:fltVal val="0"/>
                                          </p:val>
                                        </p:tav>
                                        <p:tav tm="100000">
                                          <p:val>
                                            <p:strVal val="#ppt_w"/>
                                          </p:val>
                                        </p:tav>
                                      </p:tavLst>
                                    </p:anim>
                                    <p:anim calcmode="lin" valueType="num">
                                      <p:cBhvr>
                                        <p:cTn id="34" dur="500" fill="hold"/>
                                        <p:tgtEl>
                                          <p:spTgt spid="24"/>
                                        </p:tgtEl>
                                        <p:attrNameLst>
                                          <p:attrName>ppt_h</p:attrName>
                                        </p:attrNameLst>
                                      </p:cBhvr>
                                      <p:tavLst>
                                        <p:tav tm="0">
                                          <p:val>
                                            <p:fltVal val="0"/>
                                          </p:val>
                                        </p:tav>
                                        <p:tav tm="100000">
                                          <p:val>
                                            <p:strVal val="#ppt_h"/>
                                          </p:val>
                                        </p:tav>
                                      </p:tavLst>
                                    </p:anim>
                                    <p:animEffect transition="in" filter="fade">
                                      <p:cBhvr>
                                        <p:cTn id="35" dur="500"/>
                                        <p:tgtEl>
                                          <p:spTgt spid="24"/>
                                        </p:tgtEl>
                                      </p:cBhvr>
                                    </p:animEffect>
                                  </p:childTnLst>
                                </p:cTn>
                              </p:par>
                            </p:childTnLst>
                          </p:cTn>
                        </p:par>
                        <p:par>
                          <p:cTn id="36" fill="hold">
                            <p:stCondLst>
                              <p:cond delay="1500"/>
                            </p:stCondLst>
                            <p:childTnLst>
                              <p:par>
                                <p:cTn id="37" presetID="53" presetClass="entr" presetSubtype="16"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22" presetClass="entr" presetSubtype="8"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p:cTn id="53" dur="500" fill="hold"/>
                                        <p:tgtEl>
                                          <p:spTgt spid="25"/>
                                        </p:tgtEl>
                                        <p:attrNameLst>
                                          <p:attrName>ppt_w</p:attrName>
                                        </p:attrNameLst>
                                      </p:cBhvr>
                                      <p:tavLst>
                                        <p:tav tm="0">
                                          <p:val>
                                            <p:fltVal val="0"/>
                                          </p:val>
                                        </p:tav>
                                        <p:tav tm="100000">
                                          <p:val>
                                            <p:strVal val="#ppt_w"/>
                                          </p:val>
                                        </p:tav>
                                      </p:tavLst>
                                    </p:anim>
                                    <p:anim calcmode="lin" valueType="num">
                                      <p:cBhvr>
                                        <p:cTn id="54" dur="500" fill="hold"/>
                                        <p:tgtEl>
                                          <p:spTgt spid="25"/>
                                        </p:tgtEl>
                                        <p:attrNameLst>
                                          <p:attrName>ppt_h</p:attrName>
                                        </p:attrNameLst>
                                      </p:cBhvr>
                                      <p:tavLst>
                                        <p:tav tm="0">
                                          <p:val>
                                            <p:fltVal val="0"/>
                                          </p:val>
                                        </p:tav>
                                        <p:tav tm="100000">
                                          <p:val>
                                            <p:strVal val="#ppt_h"/>
                                          </p:val>
                                        </p:tav>
                                      </p:tavLst>
                                    </p:anim>
                                    <p:animEffect transition="in" filter="fade">
                                      <p:cBhvr>
                                        <p:cTn id="55" dur="500"/>
                                        <p:tgtEl>
                                          <p:spTgt spid="25"/>
                                        </p:tgtEl>
                                      </p:cBhvr>
                                    </p:animEffect>
                                  </p:childTnLst>
                                </p:cTn>
                              </p:par>
                            </p:childTnLst>
                          </p:cTn>
                        </p:par>
                        <p:par>
                          <p:cTn id="56" fill="hold">
                            <p:stCondLst>
                              <p:cond delay="2500"/>
                            </p:stCondLst>
                            <p:childTnLst>
                              <p:par>
                                <p:cTn id="57" presetID="53" presetClass="entr" presetSubtype="16"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Effect transition="in" filter="fade">
                                      <p:cBhvr>
                                        <p:cTn id="61" dur="500"/>
                                        <p:tgtEl>
                                          <p:spTgt spid="15"/>
                                        </p:tgtEl>
                                      </p:cBhvr>
                                    </p:animEffect>
                                  </p:childTnLst>
                                </p:cTn>
                              </p:par>
                              <p:par>
                                <p:cTn id="62" presetID="22" presetClass="entr" presetSubtype="8" fill="hold"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left)">
                                      <p:cBhvr>
                                        <p:cTn id="64" dur="500"/>
                                        <p:tgtEl>
                                          <p:spTgt spid="1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000"/>
                            </p:stCondLst>
                            <p:childTnLst>
                              <p:par>
                                <p:cTn id="71" presetID="53" presetClass="entr" presetSubtype="16" fill="hold" grpId="0" nodeType="after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500" fill="hold"/>
                                        <p:tgtEl>
                                          <p:spTgt spid="26"/>
                                        </p:tgtEl>
                                        <p:attrNameLst>
                                          <p:attrName>ppt_w</p:attrName>
                                        </p:attrNameLst>
                                      </p:cBhvr>
                                      <p:tavLst>
                                        <p:tav tm="0">
                                          <p:val>
                                            <p:fltVal val="0"/>
                                          </p:val>
                                        </p:tav>
                                        <p:tav tm="100000">
                                          <p:val>
                                            <p:strVal val="#ppt_w"/>
                                          </p:val>
                                        </p:tav>
                                      </p:tavLst>
                                    </p:anim>
                                    <p:anim calcmode="lin" valueType="num">
                                      <p:cBhvr>
                                        <p:cTn id="74" dur="500" fill="hold"/>
                                        <p:tgtEl>
                                          <p:spTgt spid="26"/>
                                        </p:tgtEl>
                                        <p:attrNameLst>
                                          <p:attrName>ppt_h</p:attrName>
                                        </p:attrNameLst>
                                      </p:cBhvr>
                                      <p:tavLst>
                                        <p:tav tm="0">
                                          <p:val>
                                            <p:fltVal val="0"/>
                                          </p:val>
                                        </p:tav>
                                        <p:tav tm="100000">
                                          <p:val>
                                            <p:strVal val="#ppt_h"/>
                                          </p:val>
                                        </p:tav>
                                      </p:tavLst>
                                    </p:anim>
                                    <p:animEffect transition="in" filter="fade">
                                      <p:cBhvr>
                                        <p:cTn id="75" dur="500"/>
                                        <p:tgtEl>
                                          <p:spTgt spid="26"/>
                                        </p:tgtEl>
                                      </p:cBhvr>
                                    </p:animEffect>
                                  </p:childTnLst>
                                </p:cTn>
                              </p:par>
                            </p:childTnLst>
                          </p:cTn>
                        </p:par>
                        <p:par>
                          <p:cTn id="76" fill="hold">
                            <p:stCondLst>
                              <p:cond delay="3500"/>
                            </p:stCondLst>
                            <p:childTnLst>
                              <p:par>
                                <p:cTn id="77" presetID="53" presetClass="entr" presetSubtype="16" fill="hold" grpId="0" nodeType="after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p:cTn id="79" dur="500" fill="hold"/>
                                        <p:tgtEl>
                                          <p:spTgt spid="16"/>
                                        </p:tgtEl>
                                        <p:attrNameLst>
                                          <p:attrName>ppt_w</p:attrName>
                                        </p:attrNameLst>
                                      </p:cBhvr>
                                      <p:tavLst>
                                        <p:tav tm="0">
                                          <p:val>
                                            <p:fltVal val="0"/>
                                          </p:val>
                                        </p:tav>
                                        <p:tav tm="100000">
                                          <p:val>
                                            <p:strVal val="#ppt_w"/>
                                          </p:val>
                                        </p:tav>
                                      </p:tavLst>
                                    </p:anim>
                                    <p:anim calcmode="lin" valueType="num">
                                      <p:cBhvr>
                                        <p:cTn id="80" dur="500" fill="hold"/>
                                        <p:tgtEl>
                                          <p:spTgt spid="16"/>
                                        </p:tgtEl>
                                        <p:attrNameLst>
                                          <p:attrName>ppt_h</p:attrName>
                                        </p:attrNameLst>
                                      </p:cBhvr>
                                      <p:tavLst>
                                        <p:tav tm="0">
                                          <p:val>
                                            <p:fltVal val="0"/>
                                          </p:val>
                                        </p:tav>
                                        <p:tav tm="100000">
                                          <p:val>
                                            <p:strVal val="#ppt_h"/>
                                          </p:val>
                                        </p:tav>
                                      </p:tavLst>
                                    </p:anim>
                                    <p:animEffect transition="in" filter="fade">
                                      <p:cBhvr>
                                        <p:cTn id="81" dur="500"/>
                                        <p:tgtEl>
                                          <p:spTgt spid="16"/>
                                        </p:tgtEl>
                                      </p:cBhvr>
                                    </p:animEffect>
                                  </p:childTnLst>
                                </p:cTn>
                              </p:par>
                              <p:par>
                                <p:cTn id="82" presetID="22" presetClass="entr" presetSubtype="8" fill="hold" nodeType="withEffect">
                                  <p:stCondLst>
                                    <p:cond delay="0"/>
                                  </p:stCondLst>
                                  <p:childTnLst>
                                    <p:set>
                                      <p:cBhvr>
                                        <p:cTn id="83" dur="1" fill="hold">
                                          <p:stCondLst>
                                            <p:cond delay="0"/>
                                          </p:stCondLst>
                                        </p:cTn>
                                        <p:tgtEl>
                                          <p:spTgt spid="9"/>
                                        </p:tgtEl>
                                        <p:attrNameLst>
                                          <p:attrName>style.visibility</p:attrName>
                                        </p:attrNameLst>
                                      </p:cBhvr>
                                      <p:to>
                                        <p:strVal val="visible"/>
                                      </p:to>
                                    </p:set>
                                    <p:animEffect transition="in" filter="wipe(left)">
                                      <p:cBhvr>
                                        <p:cTn id="84" dur="500"/>
                                        <p:tgtEl>
                                          <p:spTgt spid="9"/>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childTnLst>
                          </p:cTn>
                        </p:par>
                        <p:par>
                          <p:cTn id="90" fill="hold">
                            <p:stCondLst>
                              <p:cond delay="4000"/>
                            </p:stCondLst>
                            <p:childTnLst>
                              <p:par>
                                <p:cTn id="91" presetID="53" presetClass="entr" presetSubtype="16" fill="hold" grpId="0" nodeType="afterEffect">
                                  <p:stCondLst>
                                    <p:cond delay="0"/>
                                  </p:stCondLst>
                                  <p:childTnLst>
                                    <p:set>
                                      <p:cBhvr>
                                        <p:cTn id="92" dur="1" fill="hold">
                                          <p:stCondLst>
                                            <p:cond delay="0"/>
                                          </p:stCondLst>
                                        </p:cTn>
                                        <p:tgtEl>
                                          <p:spTgt spid="23"/>
                                        </p:tgtEl>
                                        <p:attrNameLst>
                                          <p:attrName>style.visibility</p:attrName>
                                        </p:attrNameLst>
                                      </p:cBhvr>
                                      <p:to>
                                        <p:strVal val="visible"/>
                                      </p:to>
                                    </p:set>
                                    <p:anim calcmode="lin" valueType="num">
                                      <p:cBhvr>
                                        <p:cTn id="93" dur="500" fill="hold"/>
                                        <p:tgtEl>
                                          <p:spTgt spid="23"/>
                                        </p:tgtEl>
                                        <p:attrNameLst>
                                          <p:attrName>ppt_w</p:attrName>
                                        </p:attrNameLst>
                                      </p:cBhvr>
                                      <p:tavLst>
                                        <p:tav tm="0">
                                          <p:val>
                                            <p:fltVal val="0"/>
                                          </p:val>
                                        </p:tav>
                                        <p:tav tm="100000">
                                          <p:val>
                                            <p:strVal val="#ppt_w"/>
                                          </p:val>
                                        </p:tav>
                                      </p:tavLst>
                                    </p:anim>
                                    <p:anim calcmode="lin" valueType="num">
                                      <p:cBhvr>
                                        <p:cTn id="94" dur="500" fill="hold"/>
                                        <p:tgtEl>
                                          <p:spTgt spid="23"/>
                                        </p:tgtEl>
                                        <p:attrNameLst>
                                          <p:attrName>ppt_h</p:attrName>
                                        </p:attrNameLst>
                                      </p:cBhvr>
                                      <p:tavLst>
                                        <p:tav tm="0">
                                          <p:val>
                                            <p:fltVal val="0"/>
                                          </p:val>
                                        </p:tav>
                                        <p:tav tm="100000">
                                          <p:val>
                                            <p:strVal val="#ppt_h"/>
                                          </p:val>
                                        </p:tav>
                                      </p:tavLst>
                                    </p:anim>
                                    <p:animEffect transition="in" filter="fade">
                                      <p:cBhvr>
                                        <p:cTn id="95" dur="500"/>
                                        <p:tgtEl>
                                          <p:spTgt spid="23"/>
                                        </p:tgtEl>
                                      </p:cBhvr>
                                    </p:animEffect>
                                  </p:childTnLst>
                                </p:cTn>
                              </p:par>
                              <p:par>
                                <p:cTn id="96" presetID="0" presetClass="entr" presetSubtype="0" fill="hold" grpId="0" nodeType="withEffect">
                                  <p:stCondLst>
                                    <p:cond delay="1200"/>
                                  </p:stCondLst>
                                  <p:iterate type="lt">
                                    <p:tmPct val="10000"/>
                                  </p:iterate>
                                  <p:childTnLst>
                                    <p:set>
                                      <p:cBhvr>
                                        <p:cTn id="97" dur="700" fill="hold">
                                          <p:stCondLst>
                                            <p:cond delay="0"/>
                                          </p:stCondLst>
                                        </p:cTn>
                                        <p:tgtEl>
                                          <p:spTgt spid="30"/>
                                        </p:tgtEl>
                                        <p:attrNameLst>
                                          <p:attrName>style.visibility</p:attrName>
                                        </p:attrNameLst>
                                      </p:cBhvr>
                                      <p:to>
                                        <p:strVal val="visible"/>
                                      </p:to>
                                    </p:set>
                                    <p:animEffect filter="fade">
                                      <p:cBhvr>
                                        <p:cTn id="98" dur="700">
                                          <p:stCondLst>
                                            <p:cond delay="0"/>
                                          </p:stCondLst>
                                        </p:cTn>
                                        <p:tgtEl>
                                          <p:spTgt spid="30"/>
                                        </p:tgtEl>
                                      </p:cBhvr>
                                    </p:animEffect>
                                    <p:anim to="" calcmode="lin" valueType="num">
                                      <p:cBhvr>
                                        <p:cTn id="99" dur="700" fill="hold">
                                          <p:stCondLst>
                                            <p:cond delay="0"/>
                                          </p:stCondLst>
                                        </p:cTn>
                                        <p:tgtEl>
                                          <p:spTgt spid="30"/>
                                        </p:tgtEl>
                                        <p:attrNameLst>
                                          <p:attrName>ppt_y</p:attrName>
                                        </p:attrNameLst>
                                      </p:cBhvr>
                                      <p:tavLst>
                                        <p:tav tm="0" fmla="#ppt_y-#ppt_h*((1.5-1.5*$)^2-(1.5-1.5*$)^3)">
                                          <p:val>
                                            <p:fltVal val="0"/>
                                          </p:val>
                                        </p:tav>
                                        <p:tav tm="100000">
                                          <p:val>
                                            <p:fltVal val="1"/>
                                          </p:val>
                                        </p:tav>
                                      </p:tavLst>
                                    </p:anim>
                                  </p:childTnLst>
                                </p:cTn>
                              </p:par>
                              <p:par>
                                <p:cTn id="100" presetID="0" presetClass="entr" presetSubtype="0" fill="hold" grpId="0" nodeType="withEffect">
                                  <p:stCondLst>
                                    <p:cond delay="1200"/>
                                  </p:stCondLst>
                                  <p:iterate type="lt">
                                    <p:tmPct val="10000"/>
                                  </p:iterate>
                                  <p:childTnLst>
                                    <p:set>
                                      <p:cBhvr>
                                        <p:cTn id="101" dur="700" fill="hold">
                                          <p:stCondLst>
                                            <p:cond delay="0"/>
                                          </p:stCondLst>
                                        </p:cTn>
                                        <p:tgtEl>
                                          <p:spTgt spid="31"/>
                                        </p:tgtEl>
                                        <p:attrNameLst>
                                          <p:attrName>style.visibility</p:attrName>
                                        </p:attrNameLst>
                                      </p:cBhvr>
                                      <p:to>
                                        <p:strVal val="visible"/>
                                      </p:to>
                                    </p:set>
                                    <p:animEffect filter="fade">
                                      <p:cBhvr>
                                        <p:cTn id="102" dur="700">
                                          <p:stCondLst>
                                            <p:cond delay="0"/>
                                          </p:stCondLst>
                                        </p:cTn>
                                        <p:tgtEl>
                                          <p:spTgt spid="31"/>
                                        </p:tgtEl>
                                      </p:cBhvr>
                                    </p:animEffect>
                                    <p:anim to="" calcmode="lin" valueType="num">
                                      <p:cBhvr>
                                        <p:cTn id="103" dur="700" fill="hold">
                                          <p:stCondLst>
                                            <p:cond delay="0"/>
                                          </p:stCondLst>
                                        </p:cTn>
                                        <p:tgtEl>
                                          <p:spTgt spid="31"/>
                                        </p:tgtEl>
                                        <p:attrNameLst>
                                          <p:attrName>ppt_y</p:attrName>
                                        </p:attrNameLst>
                                      </p:cBhvr>
                                      <p:tavLst>
                                        <p:tav tm="0" fmla="#ppt_y-#ppt_h*((1.5-1.5*$)^2-(1.5-1.5*$)^3)">
                                          <p:val>
                                            <p:fltVal val="0"/>
                                          </p:val>
                                        </p:tav>
                                        <p:tav tm="100000">
                                          <p:val>
                                            <p:fltVal val="1"/>
                                          </p:val>
                                        </p:tav>
                                      </p:tavLst>
                                    </p:anim>
                                  </p:childTnLst>
                                </p:cTn>
                              </p:par>
                              <p:par>
                                <p:cTn id="104" presetID="0" presetClass="entr" presetSubtype="0" fill="hold" grpId="0" nodeType="withEffect">
                                  <p:stCondLst>
                                    <p:cond delay="1200"/>
                                  </p:stCondLst>
                                  <p:iterate type="lt">
                                    <p:tmPct val="10000"/>
                                  </p:iterate>
                                  <p:childTnLst>
                                    <p:set>
                                      <p:cBhvr>
                                        <p:cTn id="105" dur="700" fill="hold">
                                          <p:stCondLst>
                                            <p:cond delay="0"/>
                                          </p:stCondLst>
                                        </p:cTn>
                                        <p:tgtEl>
                                          <p:spTgt spid="32"/>
                                        </p:tgtEl>
                                        <p:attrNameLst>
                                          <p:attrName>style.visibility</p:attrName>
                                        </p:attrNameLst>
                                      </p:cBhvr>
                                      <p:to>
                                        <p:strVal val="visible"/>
                                      </p:to>
                                    </p:set>
                                    <p:animEffect filter="fade">
                                      <p:cBhvr>
                                        <p:cTn id="106" dur="700">
                                          <p:stCondLst>
                                            <p:cond delay="0"/>
                                          </p:stCondLst>
                                        </p:cTn>
                                        <p:tgtEl>
                                          <p:spTgt spid="32"/>
                                        </p:tgtEl>
                                      </p:cBhvr>
                                    </p:animEffect>
                                    <p:anim to="" calcmode="lin" valueType="num">
                                      <p:cBhvr>
                                        <p:cTn id="107" dur="700" fill="hold">
                                          <p:stCondLst>
                                            <p:cond delay="0"/>
                                          </p:stCondLst>
                                        </p:cTn>
                                        <p:tgtEl>
                                          <p:spTgt spid="32"/>
                                        </p:tgtEl>
                                        <p:attrNameLst>
                                          <p:attrName>ppt_y</p:attrName>
                                        </p:attrNameLst>
                                      </p:cBhvr>
                                      <p:tavLst>
                                        <p:tav tm="0" fmla="#ppt_y-#ppt_h*((1.5-1.5*$)^2-(1.5-1.5*$)^3)">
                                          <p:val>
                                            <p:fltVal val="0"/>
                                          </p:val>
                                        </p:tav>
                                        <p:tav tm="100000">
                                          <p:val>
                                            <p:fltVal val="1"/>
                                          </p:val>
                                        </p:tav>
                                      </p:tavLst>
                                    </p:anim>
                                  </p:childTnLst>
                                </p:cTn>
                              </p:par>
                              <p:par>
                                <p:cTn id="108" presetID="0" presetClass="entr" presetSubtype="0" fill="hold" grpId="0" nodeType="withEffect">
                                  <p:stCondLst>
                                    <p:cond delay="1200"/>
                                  </p:stCondLst>
                                  <p:iterate type="lt">
                                    <p:tmPct val="10000"/>
                                  </p:iterate>
                                  <p:childTnLst>
                                    <p:set>
                                      <p:cBhvr>
                                        <p:cTn id="109" dur="700" fill="hold">
                                          <p:stCondLst>
                                            <p:cond delay="0"/>
                                          </p:stCondLst>
                                        </p:cTn>
                                        <p:tgtEl>
                                          <p:spTgt spid="33"/>
                                        </p:tgtEl>
                                        <p:attrNameLst>
                                          <p:attrName>style.visibility</p:attrName>
                                        </p:attrNameLst>
                                      </p:cBhvr>
                                      <p:to>
                                        <p:strVal val="visible"/>
                                      </p:to>
                                    </p:set>
                                    <p:animEffect filter="fade">
                                      <p:cBhvr>
                                        <p:cTn id="110" dur="700">
                                          <p:stCondLst>
                                            <p:cond delay="0"/>
                                          </p:stCondLst>
                                        </p:cTn>
                                        <p:tgtEl>
                                          <p:spTgt spid="33"/>
                                        </p:tgtEl>
                                      </p:cBhvr>
                                    </p:animEffect>
                                    <p:anim to="" calcmode="lin" valueType="num">
                                      <p:cBhvr>
                                        <p:cTn id="111" dur="700" fill="hold">
                                          <p:stCondLst>
                                            <p:cond delay="0"/>
                                          </p:stCondLst>
                                        </p:cTn>
                                        <p:tgtEl>
                                          <p:spTgt spid="33"/>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P spid="14" grpId="0" bldLvl="0" animBg="1"/>
      <p:bldP spid="15" grpId="0" bldLvl="0" animBg="1"/>
      <p:bldP spid="16"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30" grpId="0"/>
      <p:bldP spid="31" grpId="0"/>
      <p:bldP spid="32" grpId="0"/>
      <p:bldP spid="3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Freeform 15"/>
          <p:cNvSpPr/>
          <p:nvPr/>
        </p:nvSpPr>
        <p:spPr bwMode="auto">
          <a:xfrm>
            <a:off x="5029452" y="2993583"/>
            <a:ext cx="2233474" cy="1252762"/>
          </a:xfrm>
          <a:custGeom>
            <a:avLst/>
            <a:gdLst>
              <a:gd name="T0" fmla="*/ 3938 w 4545"/>
              <a:gd name="T1" fmla="*/ 1277 h 2801"/>
              <a:gd name="T2" fmla="*/ 4116 w 4545"/>
              <a:gd name="T3" fmla="*/ 1349 h 2801"/>
              <a:gd name="T4" fmla="*/ 4270 w 4545"/>
              <a:gd name="T5" fmla="*/ 1457 h 2801"/>
              <a:gd name="T6" fmla="*/ 4396 w 4545"/>
              <a:gd name="T7" fmla="*/ 1599 h 2801"/>
              <a:gd name="T8" fmla="*/ 4486 w 4545"/>
              <a:gd name="T9" fmla="*/ 1765 h 2801"/>
              <a:gd name="T10" fmla="*/ 4537 w 4545"/>
              <a:gd name="T11" fmla="*/ 1953 h 2801"/>
              <a:gd name="T12" fmla="*/ 4543 w 4545"/>
              <a:gd name="T13" fmla="*/ 2131 h 2801"/>
              <a:gd name="T14" fmla="*/ 4521 w 4545"/>
              <a:gd name="T15" fmla="*/ 2272 h 2801"/>
              <a:gd name="T16" fmla="*/ 4476 w 4545"/>
              <a:gd name="T17" fmla="*/ 2405 h 2801"/>
              <a:gd name="T18" fmla="*/ 4409 w 4545"/>
              <a:gd name="T19" fmla="*/ 2526 h 2801"/>
              <a:gd name="T20" fmla="*/ 4324 w 4545"/>
              <a:gd name="T21" fmla="*/ 2634 h 2801"/>
              <a:gd name="T22" fmla="*/ 4224 w 4545"/>
              <a:gd name="T23" fmla="*/ 2726 h 2801"/>
              <a:gd name="T24" fmla="*/ 4107 w 4545"/>
              <a:gd name="T25" fmla="*/ 2801 h 2801"/>
              <a:gd name="T26" fmla="*/ 548 w 4545"/>
              <a:gd name="T27" fmla="*/ 2801 h 2801"/>
              <a:gd name="T28" fmla="*/ 407 w 4545"/>
              <a:gd name="T29" fmla="*/ 2754 h 2801"/>
              <a:gd name="T30" fmla="*/ 282 w 4545"/>
              <a:gd name="T31" fmla="*/ 2679 h 2801"/>
              <a:gd name="T32" fmla="*/ 175 w 4545"/>
              <a:gd name="T33" fmla="*/ 2582 h 2801"/>
              <a:gd name="T34" fmla="*/ 91 w 4545"/>
              <a:gd name="T35" fmla="*/ 2464 h 2801"/>
              <a:gd name="T36" fmla="*/ 33 w 4545"/>
              <a:gd name="T37" fmla="*/ 2329 h 2801"/>
              <a:gd name="T38" fmla="*/ 3 w 4545"/>
              <a:gd name="T39" fmla="*/ 2182 h 2801"/>
              <a:gd name="T40" fmla="*/ 8 w 4545"/>
              <a:gd name="T41" fmla="*/ 2018 h 2801"/>
              <a:gd name="T42" fmla="*/ 52 w 4545"/>
              <a:gd name="T43" fmla="*/ 1857 h 2801"/>
              <a:gd name="T44" fmla="*/ 130 w 4545"/>
              <a:gd name="T45" fmla="*/ 1715 h 2801"/>
              <a:gd name="T46" fmla="*/ 239 w 4545"/>
              <a:gd name="T47" fmla="*/ 1596 h 2801"/>
              <a:gd name="T48" fmla="*/ 374 w 4545"/>
              <a:gd name="T49" fmla="*/ 1504 h 2801"/>
              <a:gd name="T50" fmla="*/ 527 w 4545"/>
              <a:gd name="T51" fmla="*/ 1445 h 2801"/>
              <a:gd name="T52" fmla="*/ 653 w 4545"/>
              <a:gd name="T53" fmla="*/ 1401 h 2801"/>
              <a:gd name="T54" fmla="*/ 627 w 4545"/>
              <a:gd name="T55" fmla="*/ 1277 h 2801"/>
              <a:gd name="T56" fmla="*/ 631 w 4545"/>
              <a:gd name="T57" fmla="*/ 1138 h 2801"/>
              <a:gd name="T58" fmla="*/ 669 w 4545"/>
              <a:gd name="T59" fmla="*/ 1004 h 2801"/>
              <a:gd name="T60" fmla="*/ 737 w 4545"/>
              <a:gd name="T61" fmla="*/ 885 h 2801"/>
              <a:gd name="T62" fmla="*/ 831 w 4545"/>
              <a:gd name="T63" fmla="*/ 787 h 2801"/>
              <a:gd name="T64" fmla="*/ 946 w 4545"/>
              <a:gd name="T65" fmla="*/ 713 h 2801"/>
              <a:gd name="T66" fmla="*/ 1078 w 4545"/>
              <a:gd name="T67" fmla="*/ 668 h 2801"/>
              <a:gd name="T68" fmla="*/ 1225 w 4545"/>
              <a:gd name="T69" fmla="*/ 658 h 2801"/>
              <a:gd name="T70" fmla="*/ 1379 w 4545"/>
              <a:gd name="T71" fmla="*/ 688 h 2801"/>
              <a:gd name="T72" fmla="*/ 1515 w 4545"/>
              <a:gd name="T73" fmla="*/ 757 h 2801"/>
              <a:gd name="T74" fmla="*/ 1627 w 4545"/>
              <a:gd name="T75" fmla="*/ 858 h 2801"/>
              <a:gd name="T76" fmla="*/ 1701 w 4545"/>
              <a:gd name="T77" fmla="*/ 638 h 2801"/>
              <a:gd name="T78" fmla="*/ 1818 w 4545"/>
              <a:gd name="T79" fmla="*/ 442 h 2801"/>
              <a:gd name="T80" fmla="*/ 1972 w 4545"/>
              <a:gd name="T81" fmla="*/ 275 h 2801"/>
              <a:gd name="T82" fmla="*/ 2157 w 4545"/>
              <a:gd name="T83" fmla="*/ 143 h 2801"/>
              <a:gd name="T84" fmla="*/ 2368 w 4545"/>
              <a:gd name="T85" fmla="*/ 51 h 2801"/>
              <a:gd name="T86" fmla="*/ 2600 w 4545"/>
              <a:gd name="T87" fmla="*/ 5 h 2801"/>
              <a:gd name="T88" fmla="*/ 2864 w 4545"/>
              <a:gd name="T89" fmla="*/ 14 h 2801"/>
              <a:gd name="T90" fmla="*/ 3124 w 4545"/>
              <a:gd name="T91" fmla="*/ 87 h 2801"/>
              <a:gd name="T92" fmla="*/ 3353 w 4545"/>
              <a:gd name="T93" fmla="*/ 218 h 2801"/>
              <a:gd name="T94" fmla="*/ 3543 w 4545"/>
              <a:gd name="T95" fmla="*/ 399 h 2801"/>
              <a:gd name="T96" fmla="*/ 3685 w 4545"/>
              <a:gd name="T97" fmla="*/ 622 h 2801"/>
              <a:gd name="T98" fmla="*/ 3771 w 4545"/>
              <a:gd name="T99" fmla="*/ 875 h 2801"/>
              <a:gd name="T100" fmla="*/ 3793 w 4545"/>
              <a:gd name="T101" fmla="*/ 1117 h 2801"/>
              <a:gd name="T102" fmla="*/ 3787 w 4545"/>
              <a:gd name="T103" fmla="*/ 1213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45" h="2801">
                <a:moveTo>
                  <a:pt x="3783" y="1251"/>
                </a:moveTo>
                <a:lnTo>
                  <a:pt x="3822" y="1255"/>
                </a:lnTo>
                <a:lnTo>
                  <a:pt x="3861" y="1260"/>
                </a:lnTo>
                <a:lnTo>
                  <a:pt x="3900" y="1268"/>
                </a:lnTo>
                <a:lnTo>
                  <a:pt x="3938" y="1277"/>
                </a:lnTo>
                <a:lnTo>
                  <a:pt x="3975" y="1289"/>
                </a:lnTo>
                <a:lnTo>
                  <a:pt x="4011" y="1301"/>
                </a:lnTo>
                <a:lnTo>
                  <a:pt x="4046" y="1315"/>
                </a:lnTo>
                <a:lnTo>
                  <a:pt x="4082" y="1331"/>
                </a:lnTo>
                <a:lnTo>
                  <a:pt x="4116" y="1349"/>
                </a:lnTo>
                <a:lnTo>
                  <a:pt x="4148" y="1368"/>
                </a:lnTo>
                <a:lnTo>
                  <a:pt x="4181" y="1388"/>
                </a:lnTo>
                <a:lnTo>
                  <a:pt x="4211" y="1410"/>
                </a:lnTo>
                <a:lnTo>
                  <a:pt x="4241" y="1433"/>
                </a:lnTo>
                <a:lnTo>
                  <a:pt x="4270" y="1457"/>
                </a:lnTo>
                <a:lnTo>
                  <a:pt x="4298" y="1484"/>
                </a:lnTo>
                <a:lnTo>
                  <a:pt x="4324" y="1510"/>
                </a:lnTo>
                <a:lnTo>
                  <a:pt x="4349" y="1539"/>
                </a:lnTo>
                <a:lnTo>
                  <a:pt x="4373" y="1568"/>
                </a:lnTo>
                <a:lnTo>
                  <a:pt x="4396" y="1599"/>
                </a:lnTo>
                <a:lnTo>
                  <a:pt x="4417" y="1629"/>
                </a:lnTo>
                <a:lnTo>
                  <a:pt x="4436" y="1662"/>
                </a:lnTo>
                <a:lnTo>
                  <a:pt x="4455" y="1696"/>
                </a:lnTo>
                <a:lnTo>
                  <a:pt x="4471" y="1730"/>
                </a:lnTo>
                <a:lnTo>
                  <a:pt x="4486" y="1765"/>
                </a:lnTo>
                <a:lnTo>
                  <a:pt x="4499" y="1801"/>
                </a:lnTo>
                <a:lnTo>
                  <a:pt x="4512" y="1838"/>
                </a:lnTo>
                <a:lnTo>
                  <a:pt x="4522" y="1876"/>
                </a:lnTo>
                <a:lnTo>
                  <a:pt x="4530" y="1913"/>
                </a:lnTo>
                <a:lnTo>
                  <a:pt x="4537" y="1953"/>
                </a:lnTo>
                <a:lnTo>
                  <a:pt x="4541" y="1992"/>
                </a:lnTo>
                <a:lnTo>
                  <a:pt x="4544" y="2032"/>
                </a:lnTo>
                <a:lnTo>
                  <a:pt x="4545" y="2072"/>
                </a:lnTo>
                <a:lnTo>
                  <a:pt x="4545" y="2102"/>
                </a:lnTo>
                <a:lnTo>
                  <a:pt x="4543" y="2131"/>
                </a:lnTo>
                <a:lnTo>
                  <a:pt x="4541" y="2160"/>
                </a:lnTo>
                <a:lnTo>
                  <a:pt x="4537" y="2189"/>
                </a:lnTo>
                <a:lnTo>
                  <a:pt x="4533" y="2216"/>
                </a:lnTo>
                <a:lnTo>
                  <a:pt x="4527" y="2245"/>
                </a:lnTo>
                <a:lnTo>
                  <a:pt x="4521" y="2272"/>
                </a:lnTo>
                <a:lnTo>
                  <a:pt x="4514" y="2300"/>
                </a:lnTo>
                <a:lnTo>
                  <a:pt x="4506" y="2326"/>
                </a:lnTo>
                <a:lnTo>
                  <a:pt x="4496" y="2353"/>
                </a:lnTo>
                <a:lnTo>
                  <a:pt x="4486" y="2379"/>
                </a:lnTo>
                <a:lnTo>
                  <a:pt x="4476" y="2405"/>
                </a:lnTo>
                <a:lnTo>
                  <a:pt x="4464" y="2430"/>
                </a:lnTo>
                <a:lnTo>
                  <a:pt x="4452" y="2455"/>
                </a:lnTo>
                <a:lnTo>
                  <a:pt x="4438" y="2479"/>
                </a:lnTo>
                <a:lnTo>
                  <a:pt x="4424" y="2502"/>
                </a:lnTo>
                <a:lnTo>
                  <a:pt x="4409" y="2526"/>
                </a:lnTo>
                <a:lnTo>
                  <a:pt x="4394" y="2548"/>
                </a:lnTo>
                <a:lnTo>
                  <a:pt x="4377" y="2571"/>
                </a:lnTo>
                <a:lnTo>
                  <a:pt x="4361" y="2592"/>
                </a:lnTo>
                <a:lnTo>
                  <a:pt x="4343" y="2613"/>
                </a:lnTo>
                <a:lnTo>
                  <a:pt x="4324" y="2634"/>
                </a:lnTo>
                <a:lnTo>
                  <a:pt x="4305" y="2653"/>
                </a:lnTo>
                <a:lnTo>
                  <a:pt x="4286" y="2672"/>
                </a:lnTo>
                <a:lnTo>
                  <a:pt x="4265" y="2691"/>
                </a:lnTo>
                <a:lnTo>
                  <a:pt x="4245" y="2709"/>
                </a:lnTo>
                <a:lnTo>
                  <a:pt x="4224" y="2726"/>
                </a:lnTo>
                <a:lnTo>
                  <a:pt x="4201" y="2743"/>
                </a:lnTo>
                <a:lnTo>
                  <a:pt x="4179" y="2758"/>
                </a:lnTo>
                <a:lnTo>
                  <a:pt x="4155" y="2773"/>
                </a:lnTo>
                <a:lnTo>
                  <a:pt x="4132" y="2787"/>
                </a:lnTo>
                <a:lnTo>
                  <a:pt x="4107" y="2801"/>
                </a:lnTo>
                <a:lnTo>
                  <a:pt x="3335" y="2801"/>
                </a:lnTo>
                <a:lnTo>
                  <a:pt x="3335" y="2801"/>
                </a:lnTo>
                <a:lnTo>
                  <a:pt x="846" y="2801"/>
                </a:lnTo>
                <a:lnTo>
                  <a:pt x="845" y="2801"/>
                </a:lnTo>
                <a:lnTo>
                  <a:pt x="548" y="2801"/>
                </a:lnTo>
                <a:lnTo>
                  <a:pt x="518" y="2793"/>
                </a:lnTo>
                <a:lnTo>
                  <a:pt x="490" y="2785"/>
                </a:lnTo>
                <a:lnTo>
                  <a:pt x="462" y="2776"/>
                </a:lnTo>
                <a:lnTo>
                  <a:pt x="435" y="2765"/>
                </a:lnTo>
                <a:lnTo>
                  <a:pt x="407" y="2754"/>
                </a:lnTo>
                <a:lnTo>
                  <a:pt x="381" y="2741"/>
                </a:lnTo>
                <a:lnTo>
                  <a:pt x="355" y="2727"/>
                </a:lnTo>
                <a:lnTo>
                  <a:pt x="330" y="2712"/>
                </a:lnTo>
                <a:lnTo>
                  <a:pt x="306" y="2697"/>
                </a:lnTo>
                <a:lnTo>
                  <a:pt x="282" y="2679"/>
                </a:lnTo>
                <a:lnTo>
                  <a:pt x="259" y="2662"/>
                </a:lnTo>
                <a:lnTo>
                  <a:pt x="237" y="2643"/>
                </a:lnTo>
                <a:lnTo>
                  <a:pt x="216" y="2623"/>
                </a:lnTo>
                <a:lnTo>
                  <a:pt x="196" y="2603"/>
                </a:lnTo>
                <a:lnTo>
                  <a:pt x="175" y="2582"/>
                </a:lnTo>
                <a:lnTo>
                  <a:pt x="157" y="2559"/>
                </a:lnTo>
                <a:lnTo>
                  <a:pt x="139" y="2537"/>
                </a:lnTo>
                <a:lnTo>
                  <a:pt x="122" y="2514"/>
                </a:lnTo>
                <a:lnTo>
                  <a:pt x="106" y="2489"/>
                </a:lnTo>
                <a:lnTo>
                  <a:pt x="91" y="2464"/>
                </a:lnTo>
                <a:lnTo>
                  <a:pt x="77" y="2438"/>
                </a:lnTo>
                <a:lnTo>
                  <a:pt x="64" y="2412"/>
                </a:lnTo>
                <a:lnTo>
                  <a:pt x="52" y="2385"/>
                </a:lnTo>
                <a:lnTo>
                  <a:pt x="42" y="2358"/>
                </a:lnTo>
                <a:lnTo>
                  <a:pt x="33" y="2329"/>
                </a:lnTo>
                <a:lnTo>
                  <a:pt x="24" y="2301"/>
                </a:lnTo>
                <a:lnTo>
                  <a:pt x="16" y="2272"/>
                </a:lnTo>
                <a:lnTo>
                  <a:pt x="11" y="2243"/>
                </a:lnTo>
                <a:lnTo>
                  <a:pt x="6" y="2212"/>
                </a:lnTo>
                <a:lnTo>
                  <a:pt x="3" y="2182"/>
                </a:lnTo>
                <a:lnTo>
                  <a:pt x="1" y="2151"/>
                </a:lnTo>
                <a:lnTo>
                  <a:pt x="0" y="2121"/>
                </a:lnTo>
                <a:lnTo>
                  <a:pt x="1" y="2086"/>
                </a:lnTo>
                <a:lnTo>
                  <a:pt x="4" y="2052"/>
                </a:lnTo>
                <a:lnTo>
                  <a:pt x="8" y="2018"/>
                </a:lnTo>
                <a:lnTo>
                  <a:pt x="13" y="1985"/>
                </a:lnTo>
                <a:lnTo>
                  <a:pt x="20" y="1952"/>
                </a:lnTo>
                <a:lnTo>
                  <a:pt x="30" y="1919"/>
                </a:lnTo>
                <a:lnTo>
                  <a:pt x="40" y="1888"/>
                </a:lnTo>
                <a:lnTo>
                  <a:pt x="52" y="1857"/>
                </a:lnTo>
                <a:lnTo>
                  <a:pt x="65" y="1827"/>
                </a:lnTo>
                <a:lnTo>
                  <a:pt x="80" y="1798"/>
                </a:lnTo>
                <a:lnTo>
                  <a:pt x="95" y="1770"/>
                </a:lnTo>
                <a:lnTo>
                  <a:pt x="112" y="1741"/>
                </a:lnTo>
                <a:lnTo>
                  <a:pt x="130" y="1715"/>
                </a:lnTo>
                <a:lnTo>
                  <a:pt x="150" y="1689"/>
                </a:lnTo>
                <a:lnTo>
                  <a:pt x="171" y="1664"/>
                </a:lnTo>
                <a:lnTo>
                  <a:pt x="193" y="1641"/>
                </a:lnTo>
                <a:lnTo>
                  <a:pt x="216" y="1617"/>
                </a:lnTo>
                <a:lnTo>
                  <a:pt x="239" y="1596"/>
                </a:lnTo>
                <a:lnTo>
                  <a:pt x="265" y="1574"/>
                </a:lnTo>
                <a:lnTo>
                  <a:pt x="290" y="1555"/>
                </a:lnTo>
                <a:lnTo>
                  <a:pt x="317" y="1537"/>
                </a:lnTo>
                <a:lnTo>
                  <a:pt x="345" y="1520"/>
                </a:lnTo>
                <a:lnTo>
                  <a:pt x="374" y="1504"/>
                </a:lnTo>
                <a:lnTo>
                  <a:pt x="402" y="1489"/>
                </a:lnTo>
                <a:lnTo>
                  <a:pt x="433" y="1477"/>
                </a:lnTo>
                <a:lnTo>
                  <a:pt x="463" y="1465"/>
                </a:lnTo>
                <a:lnTo>
                  <a:pt x="495" y="1454"/>
                </a:lnTo>
                <a:lnTo>
                  <a:pt x="527" y="1445"/>
                </a:lnTo>
                <a:lnTo>
                  <a:pt x="560" y="1438"/>
                </a:lnTo>
                <a:lnTo>
                  <a:pt x="593" y="1432"/>
                </a:lnTo>
                <a:lnTo>
                  <a:pt x="627" y="1428"/>
                </a:lnTo>
                <a:lnTo>
                  <a:pt x="661" y="1426"/>
                </a:lnTo>
                <a:lnTo>
                  <a:pt x="653" y="1401"/>
                </a:lnTo>
                <a:lnTo>
                  <a:pt x="645" y="1378"/>
                </a:lnTo>
                <a:lnTo>
                  <a:pt x="639" y="1354"/>
                </a:lnTo>
                <a:lnTo>
                  <a:pt x="634" y="1328"/>
                </a:lnTo>
                <a:lnTo>
                  <a:pt x="630" y="1303"/>
                </a:lnTo>
                <a:lnTo>
                  <a:pt x="627" y="1277"/>
                </a:lnTo>
                <a:lnTo>
                  <a:pt x="625" y="1251"/>
                </a:lnTo>
                <a:lnTo>
                  <a:pt x="624" y="1224"/>
                </a:lnTo>
                <a:lnTo>
                  <a:pt x="625" y="1196"/>
                </a:lnTo>
                <a:lnTo>
                  <a:pt x="627" y="1166"/>
                </a:lnTo>
                <a:lnTo>
                  <a:pt x="631" y="1138"/>
                </a:lnTo>
                <a:lnTo>
                  <a:pt x="636" y="1110"/>
                </a:lnTo>
                <a:lnTo>
                  <a:pt x="642" y="1083"/>
                </a:lnTo>
                <a:lnTo>
                  <a:pt x="650" y="1056"/>
                </a:lnTo>
                <a:lnTo>
                  <a:pt x="659" y="1029"/>
                </a:lnTo>
                <a:lnTo>
                  <a:pt x="669" y="1004"/>
                </a:lnTo>
                <a:lnTo>
                  <a:pt x="680" y="978"/>
                </a:lnTo>
                <a:lnTo>
                  <a:pt x="693" y="954"/>
                </a:lnTo>
                <a:lnTo>
                  <a:pt x="707" y="930"/>
                </a:lnTo>
                <a:lnTo>
                  <a:pt x="722" y="907"/>
                </a:lnTo>
                <a:lnTo>
                  <a:pt x="737" y="885"/>
                </a:lnTo>
                <a:lnTo>
                  <a:pt x="754" y="863"/>
                </a:lnTo>
                <a:lnTo>
                  <a:pt x="772" y="843"/>
                </a:lnTo>
                <a:lnTo>
                  <a:pt x="791" y="824"/>
                </a:lnTo>
                <a:lnTo>
                  <a:pt x="810" y="804"/>
                </a:lnTo>
                <a:lnTo>
                  <a:pt x="831" y="787"/>
                </a:lnTo>
                <a:lnTo>
                  <a:pt x="853" y="770"/>
                </a:lnTo>
                <a:lnTo>
                  <a:pt x="875" y="753"/>
                </a:lnTo>
                <a:lnTo>
                  <a:pt x="898" y="739"/>
                </a:lnTo>
                <a:lnTo>
                  <a:pt x="921" y="725"/>
                </a:lnTo>
                <a:lnTo>
                  <a:pt x="946" y="713"/>
                </a:lnTo>
                <a:lnTo>
                  <a:pt x="971" y="701"/>
                </a:lnTo>
                <a:lnTo>
                  <a:pt x="998" y="691"/>
                </a:lnTo>
                <a:lnTo>
                  <a:pt x="1023" y="682"/>
                </a:lnTo>
                <a:lnTo>
                  <a:pt x="1051" y="675"/>
                </a:lnTo>
                <a:lnTo>
                  <a:pt x="1078" y="668"/>
                </a:lnTo>
                <a:lnTo>
                  <a:pt x="1106" y="664"/>
                </a:lnTo>
                <a:lnTo>
                  <a:pt x="1134" y="660"/>
                </a:lnTo>
                <a:lnTo>
                  <a:pt x="1164" y="658"/>
                </a:lnTo>
                <a:lnTo>
                  <a:pt x="1192" y="657"/>
                </a:lnTo>
                <a:lnTo>
                  <a:pt x="1225" y="658"/>
                </a:lnTo>
                <a:lnTo>
                  <a:pt x="1257" y="661"/>
                </a:lnTo>
                <a:lnTo>
                  <a:pt x="1289" y="665"/>
                </a:lnTo>
                <a:lnTo>
                  <a:pt x="1319" y="671"/>
                </a:lnTo>
                <a:lnTo>
                  <a:pt x="1350" y="679"/>
                </a:lnTo>
                <a:lnTo>
                  <a:pt x="1379" y="688"/>
                </a:lnTo>
                <a:lnTo>
                  <a:pt x="1408" y="699"/>
                </a:lnTo>
                <a:lnTo>
                  <a:pt x="1435" y="712"/>
                </a:lnTo>
                <a:lnTo>
                  <a:pt x="1463" y="725"/>
                </a:lnTo>
                <a:lnTo>
                  <a:pt x="1489" y="740"/>
                </a:lnTo>
                <a:lnTo>
                  <a:pt x="1515" y="757"/>
                </a:lnTo>
                <a:lnTo>
                  <a:pt x="1539" y="775"/>
                </a:lnTo>
                <a:lnTo>
                  <a:pt x="1563" y="794"/>
                </a:lnTo>
                <a:lnTo>
                  <a:pt x="1585" y="814"/>
                </a:lnTo>
                <a:lnTo>
                  <a:pt x="1606" y="836"/>
                </a:lnTo>
                <a:lnTo>
                  <a:pt x="1627" y="858"/>
                </a:lnTo>
                <a:lnTo>
                  <a:pt x="1638" y="812"/>
                </a:lnTo>
                <a:lnTo>
                  <a:pt x="1651" y="768"/>
                </a:lnTo>
                <a:lnTo>
                  <a:pt x="1665" y="724"/>
                </a:lnTo>
                <a:lnTo>
                  <a:pt x="1683" y="681"/>
                </a:lnTo>
                <a:lnTo>
                  <a:pt x="1701" y="638"/>
                </a:lnTo>
                <a:lnTo>
                  <a:pt x="1721" y="597"/>
                </a:lnTo>
                <a:lnTo>
                  <a:pt x="1743" y="557"/>
                </a:lnTo>
                <a:lnTo>
                  <a:pt x="1766" y="517"/>
                </a:lnTo>
                <a:lnTo>
                  <a:pt x="1792" y="480"/>
                </a:lnTo>
                <a:lnTo>
                  <a:pt x="1818" y="442"/>
                </a:lnTo>
                <a:lnTo>
                  <a:pt x="1846" y="406"/>
                </a:lnTo>
                <a:lnTo>
                  <a:pt x="1875" y="372"/>
                </a:lnTo>
                <a:lnTo>
                  <a:pt x="1906" y="338"/>
                </a:lnTo>
                <a:lnTo>
                  <a:pt x="1938" y="306"/>
                </a:lnTo>
                <a:lnTo>
                  <a:pt x="1972" y="275"/>
                </a:lnTo>
                <a:lnTo>
                  <a:pt x="2006" y="246"/>
                </a:lnTo>
                <a:lnTo>
                  <a:pt x="2042" y="218"/>
                </a:lnTo>
                <a:lnTo>
                  <a:pt x="2080" y="192"/>
                </a:lnTo>
                <a:lnTo>
                  <a:pt x="2117" y="166"/>
                </a:lnTo>
                <a:lnTo>
                  <a:pt x="2157" y="143"/>
                </a:lnTo>
                <a:lnTo>
                  <a:pt x="2197" y="121"/>
                </a:lnTo>
                <a:lnTo>
                  <a:pt x="2239" y="101"/>
                </a:lnTo>
                <a:lnTo>
                  <a:pt x="2281" y="83"/>
                </a:lnTo>
                <a:lnTo>
                  <a:pt x="2324" y="66"/>
                </a:lnTo>
                <a:lnTo>
                  <a:pt x="2368" y="51"/>
                </a:lnTo>
                <a:lnTo>
                  <a:pt x="2413" y="38"/>
                </a:lnTo>
                <a:lnTo>
                  <a:pt x="2458" y="27"/>
                </a:lnTo>
                <a:lnTo>
                  <a:pt x="2505" y="18"/>
                </a:lnTo>
                <a:lnTo>
                  <a:pt x="2552" y="11"/>
                </a:lnTo>
                <a:lnTo>
                  <a:pt x="2600" y="5"/>
                </a:lnTo>
                <a:lnTo>
                  <a:pt x="2648" y="2"/>
                </a:lnTo>
                <a:lnTo>
                  <a:pt x="2697" y="0"/>
                </a:lnTo>
                <a:lnTo>
                  <a:pt x="2754" y="2"/>
                </a:lnTo>
                <a:lnTo>
                  <a:pt x="2809" y="6"/>
                </a:lnTo>
                <a:lnTo>
                  <a:pt x="2864" y="14"/>
                </a:lnTo>
                <a:lnTo>
                  <a:pt x="2918" y="23"/>
                </a:lnTo>
                <a:lnTo>
                  <a:pt x="2970" y="35"/>
                </a:lnTo>
                <a:lnTo>
                  <a:pt x="3023" y="50"/>
                </a:lnTo>
                <a:lnTo>
                  <a:pt x="3074" y="68"/>
                </a:lnTo>
                <a:lnTo>
                  <a:pt x="3124" y="87"/>
                </a:lnTo>
                <a:lnTo>
                  <a:pt x="3172" y="109"/>
                </a:lnTo>
                <a:lnTo>
                  <a:pt x="3220" y="133"/>
                </a:lnTo>
                <a:lnTo>
                  <a:pt x="3266" y="159"/>
                </a:lnTo>
                <a:lnTo>
                  <a:pt x="3309" y="188"/>
                </a:lnTo>
                <a:lnTo>
                  <a:pt x="3353" y="218"/>
                </a:lnTo>
                <a:lnTo>
                  <a:pt x="3394" y="251"/>
                </a:lnTo>
                <a:lnTo>
                  <a:pt x="3434" y="285"/>
                </a:lnTo>
                <a:lnTo>
                  <a:pt x="3472" y="322"/>
                </a:lnTo>
                <a:lnTo>
                  <a:pt x="3509" y="360"/>
                </a:lnTo>
                <a:lnTo>
                  <a:pt x="3543" y="399"/>
                </a:lnTo>
                <a:lnTo>
                  <a:pt x="3575" y="441"/>
                </a:lnTo>
                <a:lnTo>
                  <a:pt x="3606" y="484"/>
                </a:lnTo>
                <a:lnTo>
                  <a:pt x="3634" y="528"/>
                </a:lnTo>
                <a:lnTo>
                  <a:pt x="3661" y="574"/>
                </a:lnTo>
                <a:lnTo>
                  <a:pt x="3685" y="622"/>
                </a:lnTo>
                <a:lnTo>
                  <a:pt x="3707" y="670"/>
                </a:lnTo>
                <a:lnTo>
                  <a:pt x="3727" y="720"/>
                </a:lnTo>
                <a:lnTo>
                  <a:pt x="3744" y="771"/>
                </a:lnTo>
                <a:lnTo>
                  <a:pt x="3758" y="823"/>
                </a:lnTo>
                <a:lnTo>
                  <a:pt x="3771" y="875"/>
                </a:lnTo>
                <a:lnTo>
                  <a:pt x="3781" y="929"/>
                </a:lnTo>
                <a:lnTo>
                  <a:pt x="3788" y="984"/>
                </a:lnTo>
                <a:lnTo>
                  <a:pt x="3792" y="1040"/>
                </a:lnTo>
                <a:lnTo>
                  <a:pt x="3793" y="1096"/>
                </a:lnTo>
                <a:lnTo>
                  <a:pt x="3793" y="1117"/>
                </a:lnTo>
                <a:lnTo>
                  <a:pt x="3793" y="1136"/>
                </a:lnTo>
                <a:lnTo>
                  <a:pt x="3792" y="1155"/>
                </a:lnTo>
                <a:lnTo>
                  <a:pt x="3791" y="1175"/>
                </a:lnTo>
                <a:lnTo>
                  <a:pt x="3789" y="1194"/>
                </a:lnTo>
                <a:lnTo>
                  <a:pt x="3787" y="1213"/>
                </a:lnTo>
                <a:lnTo>
                  <a:pt x="3785" y="1232"/>
                </a:lnTo>
                <a:lnTo>
                  <a:pt x="3783" y="1251"/>
                </a:lnTo>
                <a:close/>
              </a:path>
            </a:pathLst>
          </a:custGeom>
          <a:solidFill>
            <a:srgbClr val="CB3125"/>
          </a:solidFill>
          <a:ln>
            <a:noFill/>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8" name="Arc 13"/>
          <p:cNvSpPr/>
          <p:nvPr/>
        </p:nvSpPr>
        <p:spPr>
          <a:xfrm>
            <a:off x="4350252" y="1892876"/>
            <a:ext cx="3591874" cy="3591874"/>
          </a:xfrm>
          <a:prstGeom prst="arc">
            <a:avLst>
              <a:gd name="adj1" fmla="val 21578092"/>
              <a:gd name="adj2" fmla="val 21526726"/>
            </a:avLst>
          </a:prstGeom>
          <a:ln w="38100">
            <a:solidFill>
              <a:schemeClr val="accent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9" name="Oval 17"/>
          <p:cNvSpPr/>
          <p:nvPr/>
        </p:nvSpPr>
        <p:spPr>
          <a:xfrm>
            <a:off x="4613700" y="1967960"/>
            <a:ext cx="754777" cy="754777"/>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0" name="Oval 20"/>
          <p:cNvSpPr/>
          <p:nvPr/>
        </p:nvSpPr>
        <p:spPr>
          <a:xfrm>
            <a:off x="6874069" y="1967960"/>
            <a:ext cx="754777" cy="754777"/>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ym typeface="方正黑体简体" panose="02000000000000000000" pitchFamily="2" charset="-122"/>
            </a:endParaRPr>
          </a:p>
        </p:txBody>
      </p:sp>
      <p:sp>
        <p:nvSpPr>
          <p:cNvPr id="11" name="Oval 23"/>
          <p:cNvSpPr/>
          <p:nvPr/>
        </p:nvSpPr>
        <p:spPr>
          <a:xfrm>
            <a:off x="4613700" y="4734152"/>
            <a:ext cx="754777" cy="754777"/>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2" name="Oval 26"/>
          <p:cNvSpPr/>
          <p:nvPr/>
        </p:nvSpPr>
        <p:spPr>
          <a:xfrm>
            <a:off x="6874069" y="4734152"/>
            <a:ext cx="754777" cy="754777"/>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ym typeface="方正黑体简体" panose="02000000000000000000" pitchFamily="2" charset="-122"/>
            </a:endParaRPr>
          </a:p>
        </p:txBody>
      </p:sp>
      <p:sp>
        <p:nvSpPr>
          <p:cNvPr id="13" name="Oval 29"/>
          <p:cNvSpPr/>
          <p:nvPr/>
        </p:nvSpPr>
        <p:spPr>
          <a:xfrm>
            <a:off x="7564738" y="3340252"/>
            <a:ext cx="754777" cy="754777"/>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4" name="Oval 32"/>
          <p:cNvSpPr/>
          <p:nvPr/>
        </p:nvSpPr>
        <p:spPr>
          <a:xfrm>
            <a:off x="3972864" y="3340252"/>
            <a:ext cx="754777" cy="754777"/>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ym typeface="方正黑体简体" panose="02000000000000000000" pitchFamily="2" charset="-122"/>
            </a:endParaRPr>
          </a:p>
        </p:txBody>
      </p:sp>
      <p:sp>
        <p:nvSpPr>
          <p:cNvPr id="15" name="Freeform 5"/>
          <p:cNvSpPr>
            <a:spLocks noEditPoints="1"/>
          </p:cNvSpPr>
          <p:nvPr/>
        </p:nvSpPr>
        <p:spPr bwMode="auto">
          <a:xfrm>
            <a:off x="4810743" y="2103034"/>
            <a:ext cx="344097" cy="406660"/>
          </a:xfrm>
          <a:custGeom>
            <a:avLst/>
            <a:gdLst/>
            <a:ahLst/>
            <a:cxnLst>
              <a:cxn ang="0">
                <a:pos x="250" y="250"/>
              </a:cxn>
              <a:cxn ang="0">
                <a:pos x="125" y="296"/>
              </a:cxn>
              <a:cxn ang="0">
                <a:pos x="0" y="250"/>
              </a:cxn>
              <a:cxn ang="0">
                <a:pos x="66" y="210"/>
              </a:cxn>
              <a:cxn ang="0">
                <a:pos x="79" y="219"/>
              </a:cxn>
              <a:cxn ang="0">
                <a:pos x="70" y="232"/>
              </a:cxn>
              <a:cxn ang="0">
                <a:pos x="23" y="251"/>
              </a:cxn>
              <a:cxn ang="0">
                <a:pos x="125" y="273"/>
              </a:cxn>
              <a:cxn ang="0">
                <a:pos x="228" y="250"/>
              </a:cxn>
              <a:cxn ang="0">
                <a:pos x="180" y="232"/>
              </a:cxn>
              <a:cxn ang="0">
                <a:pos x="171" y="219"/>
              </a:cxn>
              <a:cxn ang="0">
                <a:pos x="184" y="210"/>
              </a:cxn>
              <a:cxn ang="0">
                <a:pos x="250" y="250"/>
              </a:cxn>
              <a:cxn ang="0">
                <a:pos x="80" y="182"/>
              </a:cxn>
              <a:cxn ang="0">
                <a:pos x="91" y="182"/>
              </a:cxn>
              <a:cxn ang="0">
                <a:pos x="91" y="250"/>
              </a:cxn>
              <a:cxn ang="0">
                <a:pos x="102" y="262"/>
              </a:cxn>
              <a:cxn ang="0">
                <a:pos x="148" y="262"/>
              </a:cxn>
              <a:cxn ang="0">
                <a:pos x="159" y="250"/>
              </a:cxn>
              <a:cxn ang="0">
                <a:pos x="159" y="182"/>
              </a:cxn>
              <a:cxn ang="0">
                <a:pos x="171" y="182"/>
              </a:cxn>
              <a:cxn ang="0">
                <a:pos x="182" y="171"/>
              </a:cxn>
              <a:cxn ang="0">
                <a:pos x="182" y="102"/>
              </a:cxn>
              <a:cxn ang="0">
                <a:pos x="157" y="82"/>
              </a:cxn>
              <a:cxn ang="0">
                <a:pos x="125" y="80"/>
              </a:cxn>
              <a:cxn ang="0">
                <a:pos x="93" y="82"/>
              </a:cxn>
              <a:cxn ang="0">
                <a:pos x="68" y="102"/>
              </a:cxn>
              <a:cxn ang="0">
                <a:pos x="68" y="171"/>
              </a:cxn>
              <a:cxn ang="0">
                <a:pos x="80" y="182"/>
              </a:cxn>
              <a:cxn ang="0">
                <a:pos x="125" y="68"/>
              </a:cxn>
              <a:cxn ang="0">
                <a:pos x="159" y="34"/>
              </a:cxn>
              <a:cxn ang="0">
                <a:pos x="125" y="0"/>
              </a:cxn>
              <a:cxn ang="0">
                <a:pos x="91" y="34"/>
              </a:cxn>
              <a:cxn ang="0">
                <a:pos x="125" y="68"/>
              </a:cxn>
              <a:cxn ang="0">
                <a:pos x="125" y="68"/>
              </a:cxn>
              <a:cxn ang="0">
                <a:pos x="125" y="68"/>
              </a:cxn>
            </a:cxnLst>
            <a:rect l="0" t="0" r="r" b="b"/>
            <a:pathLst>
              <a:path w="250" h="296">
                <a:moveTo>
                  <a:pt x="250" y="250"/>
                </a:moveTo>
                <a:cubicBezTo>
                  <a:pt x="250" y="282"/>
                  <a:pt x="185" y="296"/>
                  <a:pt x="125" y="296"/>
                </a:cubicBezTo>
                <a:cubicBezTo>
                  <a:pt x="65" y="296"/>
                  <a:pt x="0" y="282"/>
                  <a:pt x="0" y="250"/>
                </a:cubicBezTo>
                <a:cubicBezTo>
                  <a:pt x="0" y="226"/>
                  <a:pt x="36" y="215"/>
                  <a:pt x="66" y="210"/>
                </a:cubicBezTo>
                <a:cubicBezTo>
                  <a:pt x="72" y="209"/>
                  <a:pt x="78" y="213"/>
                  <a:pt x="79" y="219"/>
                </a:cubicBezTo>
                <a:cubicBezTo>
                  <a:pt x="80" y="225"/>
                  <a:pt x="76" y="231"/>
                  <a:pt x="70" y="232"/>
                </a:cubicBezTo>
                <a:cubicBezTo>
                  <a:pt x="33" y="239"/>
                  <a:pt x="23" y="249"/>
                  <a:pt x="23" y="251"/>
                </a:cubicBezTo>
                <a:cubicBezTo>
                  <a:pt x="24" y="257"/>
                  <a:pt x="58" y="273"/>
                  <a:pt x="125" y="273"/>
                </a:cubicBezTo>
                <a:cubicBezTo>
                  <a:pt x="192" y="273"/>
                  <a:pt x="226" y="257"/>
                  <a:pt x="228" y="250"/>
                </a:cubicBezTo>
                <a:cubicBezTo>
                  <a:pt x="227" y="249"/>
                  <a:pt x="217" y="238"/>
                  <a:pt x="180" y="232"/>
                </a:cubicBezTo>
                <a:cubicBezTo>
                  <a:pt x="174" y="231"/>
                  <a:pt x="170" y="225"/>
                  <a:pt x="171" y="219"/>
                </a:cubicBezTo>
                <a:cubicBezTo>
                  <a:pt x="172" y="213"/>
                  <a:pt x="178" y="209"/>
                  <a:pt x="184" y="210"/>
                </a:cubicBezTo>
                <a:cubicBezTo>
                  <a:pt x="214" y="215"/>
                  <a:pt x="250" y="226"/>
                  <a:pt x="250" y="250"/>
                </a:cubicBezTo>
                <a:close/>
                <a:moveTo>
                  <a:pt x="80" y="182"/>
                </a:moveTo>
                <a:cubicBezTo>
                  <a:pt x="91" y="182"/>
                  <a:pt x="91" y="182"/>
                  <a:pt x="91" y="182"/>
                </a:cubicBezTo>
                <a:cubicBezTo>
                  <a:pt x="91" y="250"/>
                  <a:pt x="91" y="250"/>
                  <a:pt x="91" y="250"/>
                </a:cubicBezTo>
                <a:cubicBezTo>
                  <a:pt x="91" y="257"/>
                  <a:pt x="96" y="262"/>
                  <a:pt x="102" y="262"/>
                </a:cubicBezTo>
                <a:cubicBezTo>
                  <a:pt x="148" y="262"/>
                  <a:pt x="148" y="262"/>
                  <a:pt x="148" y="262"/>
                </a:cubicBezTo>
                <a:cubicBezTo>
                  <a:pt x="154" y="262"/>
                  <a:pt x="159" y="257"/>
                  <a:pt x="159" y="250"/>
                </a:cubicBezTo>
                <a:cubicBezTo>
                  <a:pt x="159" y="182"/>
                  <a:pt x="159" y="182"/>
                  <a:pt x="159" y="182"/>
                </a:cubicBezTo>
                <a:cubicBezTo>
                  <a:pt x="171" y="182"/>
                  <a:pt x="171" y="182"/>
                  <a:pt x="171" y="182"/>
                </a:cubicBezTo>
                <a:cubicBezTo>
                  <a:pt x="177" y="182"/>
                  <a:pt x="182" y="177"/>
                  <a:pt x="182" y="171"/>
                </a:cubicBezTo>
                <a:cubicBezTo>
                  <a:pt x="182" y="102"/>
                  <a:pt x="182" y="102"/>
                  <a:pt x="182" y="102"/>
                </a:cubicBezTo>
                <a:cubicBezTo>
                  <a:pt x="182" y="97"/>
                  <a:pt x="173" y="84"/>
                  <a:pt x="157" y="82"/>
                </a:cubicBezTo>
                <a:cubicBezTo>
                  <a:pt x="150" y="81"/>
                  <a:pt x="138" y="80"/>
                  <a:pt x="125" y="80"/>
                </a:cubicBezTo>
                <a:cubicBezTo>
                  <a:pt x="112" y="80"/>
                  <a:pt x="100" y="81"/>
                  <a:pt x="93" y="82"/>
                </a:cubicBezTo>
                <a:cubicBezTo>
                  <a:pt x="77" y="84"/>
                  <a:pt x="68" y="97"/>
                  <a:pt x="68" y="102"/>
                </a:cubicBezTo>
                <a:cubicBezTo>
                  <a:pt x="68" y="171"/>
                  <a:pt x="68" y="171"/>
                  <a:pt x="68" y="171"/>
                </a:cubicBezTo>
                <a:cubicBezTo>
                  <a:pt x="68" y="177"/>
                  <a:pt x="73" y="182"/>
                  <a:pt x="80" y="182"/>
                </a:cubicBezTo>
                <a:close/>
                <a:moveTo>
                  <a:pt x="125" y="68"/>
                </a:moveTo>
                <a:cubicBezTo>
                  <a:pt x="144" y="68"/>
                  <a:pt x="159" y="53"/>
                  <a:pt x="159" y="34"/>
                </a:cubicBezTo>
                <a:cubicBezTo>
                  <a:pt x="159" y="15"/>
                  <a:pt x="144" y="0"/>
                  <a:pt x="125" y="0"/>
                </a:cubicBezTo>
                <a:cubicBezTo>
                  <a:pt x="106" y="0"/>
                  <a:pt x="91" y="15"/>
                  <a:pt x="91" y="34"/>
                </a:cubicBezTo>
                <a:cubicBezTo>
                  <a:pt x="91" y="53"/>
                  <a:pt x="106" y="68"/>
                  <a:pt x="125" y="68"/>
                </a:cubicBezTo>
                <a:close/>
                <a:moveTo>
                  <a:pt x="125" y="68"/>
                </a:moveTo>
                <a:cubicBezTo>
                  <a:pt x="125" y="68"/>
                  <a:pt x="125" y="68"/>
                  <a:pt x="125" y="68"/>
                </a:cubicBezTo>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6" name="Freeform 66"/>
          <p:cNvSpPr>
            <a:spLocks noEditPoints="1"/>
          </p:cNvSpPr>
          <p:nvPr/>
        </p:nvSpPr>
        <p:spPr bwMode="auto">
          <a:xfrm>
            <a:off x="7139627" y="2202125"/>
            <a:ext cx="257567" cy="300856"/>
          </a:xfrm>
          <a:custGeom>
            <a:avLst/>
            <a:gdLst/>
            <a:ahLst/>
            <a:cxnLst>
              <a:cxn ang="0">
                <a:pos x="55" y="9"/>
              </a:cxn>
              <a:cxn ang="0">
                <a:pos x="55" y="14"/>
              </a:cxn>
              <a:cxn ang="0">
                <a:pos x="27" y="23"/>
              </a:cxn>
              <a:cxn ang="0">
                <a:pos x="0" y="14"/>
              </a:cxn>
              <a:cxn ang="0">
                <a:pos x="0" y="9"/>
              </a:cxn>
              <a:cxn ang="0">
                <a:pos x="27" y="0"/>
              </a:cxn>
              <a:cxn ang="0">
                <a:pos x="55" y="9"/>
              </a:cxn>
              <a:cxn ang="0">
                <a:pos x="55" y="21"/>
              </a:cxn>
              <a:cxn ang="0">
                <a:pos x="55" y="27"/>
              </a:cxn>
              <a:cxn ang="0">
                <a:pos x="27" y="37"/>
              </a:cxn>
              <a:cxn ang="0">
                <a:pos x="0" y="27"/>
              </a:cxn>
              <a:cxn ang="0">
                <a:pos x="0" y="21"/>
              </a:cxn>
              <a:cxn ang="0">
                <a:pos x="27" y="27"/>
              </a:cxn>
              <a:cxn ang="0">
                <a:pos x="55" y="21"/>
              </a:cxn>
              <a:cxn ang="0">
                <a:pos x="55" y="35"/>
              </a:cxn>
              <a:cxn ang="0">
                <a:pos x="55" y="41"/>
              </a:cxn>
              <a:cxn ang="0">
                <a:pos x="27" y="50"/>
              </a:cxn>
              <a:cxn ang="0">
                <a:pos x="0" y="41"/>
              </a:cxn>
              <a:cxn ang="0">
                <a:pos x="0" y="35"/>
              </a:cxn>
              <a:cxn ang="0">
                <a:pos x="27" y="41"/>
              </a:cxn>
              <a:cxn ang="0">
                <a:pos x="55" y="35"/>
              </a:cxn>
              <a:cxn ang="0">
                <a:pos x="55" y="49"/>
              </a:cxn>
              <a:cxn ang="0">
                <a:pos x="55" y="55"/>
              </a:cxn>
              <a:cxn ang="0">
                <a:pos x="27" y="64"/>
              </a:cxn>
              <a:cxn ang="0">
                <a:pos x="0" y="55"/>
              </a:cxn>
              <a:cxn ang="0">
                <a:pos x="0" y="49"/>
              </a:cxn>
              <a:cxn ang="0">
                <a:pos x="27" y="55"/>
              </a:cxn>
              <a:cxn ang="0">
                <a:pos x="55" y="49"/>
              </a:cxn>
            </a:cxnLst>
            <a:rect l="0" t="0" r="r" b="b"/>
            <a:pathLst>
              <a:path w="55" h="64">
                <a:moveTo>
                  <a:pt x="55" y="9"/>
                </a:moveTo>
                <a:cubicBezTo>
                  <a:pt x="55" y="14"/>
                  <a:pt x="55" y="14"/>
                  <a:pt x="55" y="14"/>
                </a:cubicBezTo>
                <a:cubicBezTo>
                  <a:pt x="55" y="19"/>
                  <a:pt x="42" y="23"/>
                  <a:pt x="27" y="23"/>
                </a:cubicBezTo>
                <a:cubicBezTo>
                  <a:pt x="12" y="23"/>
                  <a:pt x="0" y="19"/>
                  <a:pt x="0" y="14"/>
                </a:cubicBezTo>
                <a:cubicBezTo>
                  <a:pt x="0" y="9"/>
                  <a:pt x="0" y="9"/>
                  <a:pt x="0" y="9"/>
                </a:cubicBezTo>
                <a:cubicBezTo>
                  <a:pt x="0" y="4"/>
                  <a:pt x="12" y="0"/>
                  <a:pt x="27" y="0"/>
                </a:cubicBezTo>
                <a:cubicBezTo>
                  <a:pt x="42" y="0"/>
                  <a:pt x="55" y="4"/>
                  <a:pt x="55" y="9"/>
                </a:cubicBezTo>
                <a:close/>
                <a:moveTo>
                  <a:pt x="55" y="21"/>
                </a:moveTo>
                <a:cubicBezTo>
                  <a:pt x="55" y="27"/>
                  <a:pt x="55" y="27"/>
                  <a:pt x="55" y="27"/>
                </a:cubicBezTo>
                <a:cubicBezTo>
                  <a:pt x="55" y="32"/>
                  <a:pt x="42" y="37"/>
                  <a:pt x="27" y="37"/>
                </a:cubicBezTo>
                <a:cubicBezTo>
                  <a:pt x="12" y="37"/>
                  <a:pt x="0" y="32"/>
                  <a:pt x="0" y="27"/>
                </a:cubicBezTo>
                <a:cubicBezTo>
                  <a:pt x="0" y="21"/>
                  <a:pt x="0" y="21"/>
                  <a:pt x="0" y="21"/>
                </a:cubicBezTo>
                <a:cubicBezTo>
                  <a:pt x="6" y="25"/>
                  <a:pt x="16" y="27"/>
                  <a:pt x="27" y="27"/>
                </a:cubicBezTo>
                <a:cubicBezTo>
                  <a:pt x="38" y="27"/>
                  <a:pt x="49" y="25"/>
                  <a:pt x="55" y="21"/>
                </a:cubicBezTo>
                <a:close/>
                <a:moveTo>
                  <a:pt x="55" y="35"/>
                </a:moveTo>
                <a:cubicBezTo>
                  <a:pt x="55" y="41"/>
                  <a:pt x="55" y="41"/>
                  <a:pt x="55" y="41"/>
                </a:cubicBezTo>
                <a:cubicBezTo>
                  <a:pt x="55" y="46"/>
                  <a:pt x="42" y="50"/>
                  <a:pt x="27" y="50"/>
                </a:cubicBezTo>
                <a:cubicBezTo>
                  <a:pt x="12" y="50"/>
                  <a:pt x="0" y="46"/>
                  <a:pt x="0" y="41"/>
                </a:cubicBezTo>
                <a:cubicBezTo>
                  <a:pt x="0" y="35"/>
                  <a:pt x="0" y="35"/>
                  <a:pt x="0" y="35"/>
                </a:cubicBezTo>
                <a:cubicBezTo>
                  <a:pt x="6" y="39"/>
                  <a:pt x="16" y="41"/>
                  <a:pt x="27" y="41"/>
                </a:cubicBezTo>
                <a:cubicBezTo>
                  <a:pt x="38" y="41"/>
                  <a:pt x="49" y="39"/>
                  <a:pt x="55" y="35"/>
                </a:cubicBezTo>
                <a:close/>
                <a:moveTo>
                  <a:pt x="55" y="49"/>
                </a:moveTo>
                <a:cubicBezTo>
                  <a:pt x="55" y="55"/>
                  <a:pt x="55" y="55"/>
                  <a:pt x="55" y="55"/>
                </a:cubicBezTo>
                <a:cubicBezTo>
                  <a:pt x="55" y="60"/>
                  <a:pt x="42" y="64"/>
                  <a:pt x="27" y="64"/>
                </a:cubicBezTo>
                <a:cubicBezTo>
                  <a:pt x="12" y="64"/>
                  <a:pt x="0" y="60"/>
                  <a:pt x="0" y="55"/>
                </a:cubicBezTo>
                <a:cubicBezTo>
                  <a:pt x="0" y="49"/>
                  <a:pt x="0" y="49"/>
                  <a:pt x="0" y="49"/>
                </a:cubicBezTo>
                <a:cubicBezTo>
                  <a:pt x="6" y="53"/>
                  <a:pt x="16" y="55"/>
                  <a:pt x="27" y="55"/>
                </a:cubicBezTo>
                <a:cubicBezTo>
                  <a:pt x="38" y="55"/>
                  <a:pt x="49" y="53"/>
                  <a:pt x="55" y="49"/>
                </a:cubicBezTo>
                <a:close/>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Freeform 21"/>
          <p:cNvSpPr>
            <a:spLocks noEditPoints="1"/>
          </p:cNvSpPr>
          <p:nvPr/>
        </p:nvSpPr>
        <p:spPr bwMode="auto">
          <a:xfrm>
            <a:off x="7746195" y="3527946"/>
            <a:ext cx="437468" cy="297301"/>
          </a:xfrm>
          <a:custGeom>
            <a:avLst/>
            <a:gdLst/>
            <a:ahLst/>
            <a:cxnLst>
              <a:cxn ang="0">
                <a:pos x="389" y="347"/>
              </a:cxn>
              <a:cxn ang="0">
                <a:pos x="389" y="371"/>
              </a:cxn>
              <a:cxn ang="0">
                <a:pos x="619" y="283"/>
              </a:cxn>
              <a:cxn ang="0">
                <a:pos x="611" y="420"/>
              </a:cxn>
              <a:cxn ang="0">
                <a:pos x="73" y="411"/>
              </a:cxn>
              <a:cxn ang="0">
                <a:pos x="67" y="359"/>
              </a:cxn>
              <a:cxn ang="0">
                <a:pos x="30" y="362"/>
              </a:cxn>
              <a:cxn ang="0">
                <a:pos x="8" y="370"/>
              </a:cxn>
              <a:cxn ang="0">
                <a:pos x="0" y="84"/>
              </a:cxn>
              <a:cxn ang="0">
                <a:pos x="7" y="8"/>
              </a:cxn>
              <a:cxn ang="0">
                <a:pos x="23" y="8"/>
              </a:cxn>
              <a:cxn ang="0">
                <a:pos x="30" y="84"/>
              </a:cxn>
              <a:cxn ang="0">
                <a:pos x="67" y="334"/>
              </a:cxn>
              <a:cxn ang="0">
                <a:pos x="73" y="283"/>
              </a:cxn>
              <a:cxn ang="0">
                <a:pos x="169" y="275"/>
              </a:cxn>
              <a:cxn ang="0">
                <a:pos x="185" y="321"/>
              </a:cxn>
              <a:cxn ang="0">
                <a:pos x="214" y="275"/>
              </a:cxn>
              <a:cxn ang="0">
                <a:pos x="231" y="321"/>
              </a:cxn>
              <a:cxn ang="0">
                <a:pos x="262" y="275"/>
              </a:cxn>
              <a:cxn ang="0">
                <a:pos x="278" y="321"/>
              </a:cxn>
              <a:cxn ang="0">
                <a:pos x="611" y="275"/>
              </a:cxn>
              <a:cxn ang="0">
                <a:pos x="435" y="321"/>
              </a:cxn>
              <a:cxn ang="0">
                <a:pos x="545" y="301"/>
              </a:cxn>
              <a:cxn ang="0">
                <a:pos x="435" y="321"/>
              </a:cxn>
              <a:cxn ang="0">
                <a:pos x="150" y="340"/>
              </a:cxn>
              <a:cxn ang="0">
                <a:pos x="548" y="377"/>
              </a:cxn>
              <a:cxn ang="0">
                <a:pos x="447" y="371"/>
              </a:cxn>
              <a:cxn ang="0">
                <a:pos x="447" y="347"/>
              </a:cxn>
              <a:cxn ang="0">
                <a:pos x="447" y="371"/>
              </a:cxn>
              <a:cxn ang="0">
                <a:pos x="520" y="359"/>
              </a:cxn>
              <a:cxn ang="0">
                <a:pos x="496" y="359"/>
              </a:cxn>
              <a:cxn ang="0">
                <a:pos x="508" y="371"/>
              </a:cxn>
            </a:cxnLst>
            <a:rect l="0" t="0" r="r" b="b"/>
            <a:pathLst>
              <a:path w="619" h="420">
                <a:moveTo>
                  <a:pt x="377" y="359"/>
                </a:moveTo>
                <a:cubicBezTo>
                  <a:pt x="377" y="353"/>
                  <a:pt x="382" y="347"/>
                  <a:pt x="389" y="347"/>
                </a:cubicBezTo>
                <a:cubicBezTo>
                  <a:pt x="395" y="347"/>
                  <a:pt x="400" y="353"/>
                  <a:pt x="400" y="359"/>
                </a:cubicBezTo>
                <a:cubicBezTo>
                  <a:pt x="400" y="365"/>
                  <a:pt x="395" y="371"/>
                  <a:pt x="389" y="371"/>
                </a:cubicBezTo>
                <a:cubicBezTo>
                  <a:pt x="382" y="371"/>
                  <a:pt x="377" y="365"/>
                  <a:pt x="377" y="359"/>
                </a:cubicBezTo>
                <a:close/>
                <a:moveTo>
                  <a:pt x="619" y="283"/>
                </a:moveTo>
                <a:cubicBezTo>
                  <a:pt x="619" y="411"/>
                  <a:pt x="619" y="411"/>
                  <a:pt x="619" y="411"/>
                </a:cubicBezTo>
                <a:cubicBezTo>
                  <a:pt x="619" y="416"/>
                  <a:pt x="615" y="420"/>
                  <a:pt x="611" y="420"/>
                </a:cubicBezTo>
                <a:cubicBezTo>
                  <a:pt x="81" y="420"/>
                  <a:pt x="81" y="420"/>
                  <a:pt x="81" y="420"/>
                </a:cubicBezTo>
                <a:cubicBezTo>
                  <a:pt x="77" y="420"/>
                  <a:pt x="73" y="416"/>
                  <a:pt x="73" y="411"/>
                </a:cubicBezTo>
                <a:cubicBezTo>
                  <a:pt x="73" y="357"/>
                  <a:pt x="73" y="357"/>
                  <a:pt x="73" y="357"/>
                </a:cubicBezTo>
                <a:cubicBezTo>
                  <a:pt x="71" y="358"/>
                  <a:pt x="69" y="359"/>
                  <a:pt x="67" y="359"/>
                </a:cubicBezTo>
                <a:cubicBezTo>
                  <a:pt x="30" y="359"/>
                  <a:pt x="30" y="359"/>
                  <a:pt x="30" y="359"/>
                </a:cubicBezTo>
                <a:cubicBezTo>
                  <a:pt x="30" y="362"/>
                  <a:pt x="30" y="362"/>
                  <a:pt x="30" y="362"/>
                </a:cubicBezTo>
                <a:cubicBezTo>
                  <a:pt x="30" y="367"/>
                  <a:pt x="26" y="370"/>
                  <a:pt x="22" y="370"/>
                </a:cubicBezTo>
                <a:cubicBezTo>
                  <a:pt x="8" y="370"/>
                  <a:pt x="8" y="370"/>
                  <a:pt x="8" y="370"/>
                </a:cubicBezTo>
                <a:cubicBezTo>
                  <a:pt x="4" y="370"/>
                  <a:pt x="0" y="367"/>
                  <a:pt x="0" y="362"/>
                </a:cubicBezTo>
                <a:cubicBezTo>
                  <a:pt x="0" y="84"/>
                  <a:pt x="0" y="84"/>
                  <a:pt x="0" y="84"/>
                </a:cubicBezTo>
                <a:cubicBezTo>
                  <a:pt x="0" y="80"/>
                  <a:pt x="3" y="77"/>
                  <a:pt x="7" y="76"/>
                </a:cubicBezTo>
                <a:cubicBezTo>
                  <a:pt x="7" y="8"/>
                  <a:pt x="7" y="8"/>
                  <a:pt x="7" y="8"/>
                </a:cubicBezTo>
                <a:cubicBezTo>
                  <a:pt x="7" y="4"/>
                  <a:pt x="10" y="0"/>
                  <a:pt x="15" y="0"/>
                </a:cubicBezTo>
                <a:cubicBezTo>
                  <a:pt x="19" y="0"/>
                  <a:pt x="23" y="4"/>
                  <a:pt x="23" y="8"/>
                </a:cubicBezTo>
                <a:cubicBezTo>
                  <a:pt x="23" y="76"/>
                  <a:pt x="23" y="76"/>
                  <a:pt x="23" y="76"/>
                </a:cubicBezTo>
                <a:cubicBezTo>
                  <a:pt x="27" y="77"/>
                  <a:pt x="30" y="80"/>
                  <a:pt x="30" y="84"/>
                </a:cubicBezTo>
                <a:cubicBezTo>
                  <a:pt x="30" y="334"/>
                  <a:pt x="30" y="334"/>
                  <a:pt x="30" y="334"/>
                </a:cubicBezTo>
                <a:cubicBezTo>
                  <a:pt x="67" y="334"/>
                  <a:pt x="67" y="334"/>
                  <a:pt x="67" y="334"/>
                </a:cubicBezTo>
                <a:cubicBezTo>
                  <a:pt x="69" y="334"/>
                  <a:pt x="71" y="335"/>
                  <a:pt x="73" y="336"/>
                </a:cubicBezTo>
                <a:cubicBezTo>
                  <a:pt x="73" y="283"/>
                  <a:pt x="73" y="283"/>
                  <a:pt x="73" y="283"/>
                </a:cubicBezTo>
                <a:cubicBezTo>
                  <a:pt x="73" y="279"/>
                  <a:pt x="77" y="275"/>
                  <a:pt x="81" y="275"/>
                </a:cubicBezTo>
                <a:cubicBezTo>
                  <a:pt x="169" y="275"/>
                  <a:pt x="169" y="275"/>
                  <a:pt x="169" y="275"/>
                </a:cubicBezTo>
                <a:cubicBezTo>
                  <a:pt x="169" y="321"/>
                  <a:pt x="169" y="321"/>
                  <a:pt x="169" y="321"/>
                </a:cubicBezTo>
                <a:cubicBezTo>
                  <a:pt x="185" y="321"/>
                  <a:pt x="185" y="321"/>
                  <a:pt x="185" y="321"/>
                </a:cubicBezTo>
                <a:cubicBezTo>
                  <a:pt x="185" y="275"/>
                  <a:pt x="185" y="275"/>
                  <a:pt x="185" y="275"/>
                </a:cubicBezTo>
                <a:cubicBezTo>
                  <a:pt x="214" y="275"/>
                  <a:pt x="214" y="275"/>
                  <a:pt x="214" y="275"/>
                </a:cubicBezTo>
                <a:cubicBezTo>
                  <a:pt x="214" y="321"/>
                  <a:pt x="214" y="321"/>
                  <a:pt x="214" y="321"/>
                </a:cubicBezTo>
                <a:cubicBezTo>
                  <a:pt x="231" y="321"/>
                  <a:pt x="231" y="321"/>
                  <a:pt x="231" y="321"/>
                </a:cubicBezTo>
                <a:cubicBezTo>
                  <a:pt x="231" y="275"/>
                  <a:pt x="231" y="275"/>
                  <a:pt x="231" y="275"/>
                </a:cubicBezTo>
                <a:cubicBezTo>
                  <a:pt x="262" y="275"/>
                  <a:pt x="262" y="275"/>
                  <a:pt x="262" y="275"/>
                </a:cubicBezTo>
                <a:cubicBezTo>
                  <a:pt x="262" y="321"/>
                  <a:pt x="262" y="321"/>
                  <a:pt x="262" y="321"/>
                </a:cubicBezTo>
                <a:cubicBezTo>
                  <a:pt x="278" y="321"/>
                  <a:pt x="278" y="321"/>
                  <a:pt x="278" y="321"/>
                </a:cubicBezTo>
                <a:cubicBezTo>
                  <a:pt x="278" y="275"/>
                  <a:pt x="278" y="275"/>
                  <a:pt x="278" y="275"/>
                </a:cubicBezTo>
                <a:cubicBezTo>
                  <a:pt x="611" y="275"/>
                  <a:pt x="611" y="275"/>
                  <a:pt x="611" y="275"/>
                </a:cubicBezTo>
                <a:cubicBezTo>
                  <a:pt x="615" y="275"/>
                  <a:pt x="619" y="279"/>
                  <a:pt x="619" y="283"/>
                </a:cubicBezTo>
                <a:close/>
                <a:moveTo>
                  <a:pt x="435" y="321"/>
                </a:moveTo>
                <a:cubicBezTo>
                  <a:pt x="545" y="321"/>
                  <a:pt x="545" y="321"/>
                  <a:pt x="545" y="321"/>
                </a:cubicBezTo>
                <a:cubicBezTo>
                  <a:pt x="545" y="301"/>
                  <a:pt x="545" y="301"/>
                  <a:pt x="545" y="301"/>
                </a:cubicBezTo>
                <a:cubicBezTo>
                  <a:pt x="435" y="301"/>
                  <a:pt x="435" y="301"/>
                  <a:pt x="435" y="301"/>
                </a:cubicBezTo>
                <a:lnTo>
                  <a:pt x="435" y="321"/>
                </a:lnTo>
                <a:close/>
                <a:moveTo>
                  <a:pt x="548" y="340"/>
                </a:moveTo>
                <a:cubicBezTo>
                  <a:pt x="150" y="340"/>
                  <a:pt x="150" y="340"/>
                  <a:pt x="150" y="340"/>
                </a:cubicBezTo>
                <a:cubicBezTo>
                  <a:pt x="150" y="377"/>
                  <a:pt x="150" y="377"/>
                  <a:pt x="150" y="377"/>
                </a:cubicBezTo>
                <a:cubicBezTo>
                  <a:pt x="548" y="377"/>
                  <a:pt x="548" y="377"/>
                  <a:pt x="548" y="377"/>
                </a:cubicBezTo>
                <a:lnTo>
                  <a:pt x="548" y="340"/>
                </a:lnTo>
                <a:close/>
                <a:moveTo>
                  <a:pt x="447" y="371"/>
                </a:moveTo>
                <a:cubicBezTo>
                  <a:pt x="453" y="371"/>
                  <a:pt x="458" y="365"/>
                  <a:pt x="458" y="359"/>
                </a:cubicBezTo>
                <a:cubicBezTo>
                  <a:pt x="458" y="353"/>
                  <a:pt x="453" y="347"/>
                  <a:pt x="447" y="347"/>
                </a:cubicBezTo>
                <a:cubicBezTo>
                  <a:pt x="440" y="347"/>
                  <a:pt x="435" y="353"/>
                  <a:pt x="435" y="359"/>
                </a:cubicBezTo>
                <a:cubicBezTo>
                  <a:pt x="435" y="365"/>
                  <a:pt x="440" y="371"/>
                  <a:pt x="447" y="371"/>
                </a:cubicBezTo>
                <a:close/>
                <a:moveTo>
                  <a:pt x="508" y="371"/>
                </a:moveTo>
                <a:cubicBezTo>
                  <a:pt x="515" y="371"/>
                  <a:pt x="520" y="365"/>
                  <a:pt x="520" y="359"/>
                </a:cubicBezTo>
                <a:cubicBezTo>
                  <a:pt x="520" y="353"/>
                  <a:pt x="515" y="347"/>
                  <a:pt x="508" y="347"/>
                </a:cubicBezTo>
                <a:cubicBezTo>
                  <a:pt x="502" y="347"/>
                  <a:pt x="496" y="353"/>
                  <a:pt x="496" y="359"/>
                </a:cubicBezTo>
                <a:cubicBezTo>
                  <a:pt x="496" y="365"/>
                  <a:pt x="502" y="371"/>
                  <a:pt x="508" y="371"/>
                </a:cubicBezTo>
                <a:close/>
                <a:moveTo>
                  <a:pt x="508" y="371"/>
                </a:moveTo>
                <a:cubicBezTo>
                  <a:pt x="508" y="371"/>
                  <a:pt x="508" y="371"/>
                  <a:pt x="508" y="371"/>
                </a:cubicBezTo>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nvGrpSpPr>
          <p:cNvPr id="18" name="Group 48"/>
          <p:cNvGrpSpPr/>
          <p:nvPr/>
        </p:nvGrpSpPr>
        <p:grpSpPr>
          <a:xfrm>
            <a:off x="7093382" y="4968843"/>
            <a:ext cx="338905" cy="297194"/>
            <a:chOff x="7043193" y="4948799"/>
            <a:chExt cx="338905" cy="297194"/>
          </a:xfrm>
          <a:solidFill>
            <a:schemeClr val="bg1"/>
          </a:solidFill>
        </p:grpSpPr>
        <p:sp>
          <p:nvSpPr>
            <p:cNvPr id="19" name="Freeform 43"/>
            <p:cNvSpPr>
              <a:spLocks noEditPoints="1"/>
            </p:cNvSpPr>
            <p:nvPr/>
          </p:nvSpPr>
          <p:spPr bwMode="auto">
            <a:xfrm>
              <a:off x="7043193" y="5160832"/>
              <a:ext cx="338905" cy="85161"/>
            </a:xfrm>
            <a:custGeom>
              <a:avLst/>
              <a:gdLst/>
              <a:ahLst/>
              <a:cxnLst>
                <a:cxn ang="0">
                  <a:pos x="0" y="0"/>
                </a:cxn>
                <a:cxn ang="0">
                  <a:pos x="195" y="48"/>
                </a:cxn>
                <a:cxn ang="0">
                  <a:pos x="390" y="0"/>
                </a:cxn>
                <a:cxn ang="0">
                  <a:pos x="390" y="48"/>
                </a:cxn>
                <a:cxn ang="0">
                  <a:pos x="195" y="98"/>
                </a:cxn>
                <a:cxn ang="0">
                  <a:pos x="0" y="48"/>
                </a:cxn>
                <a:cxn ang="0">
                  <a:pos x="0" y="0"/>
                </a:cxn>
                <a:cxn ang="0">
                  <a:pos x="0" y="0"/>
                </a:cxn>
                <a:cxn ang="0">
                  <a:pos x="0" y="0"/>
                </a:cxn>
              </a:cxnLst>
              <a:rect l="0" t="0" r="r" b="b"/>
              <a:pathLst>
                <a:path w="390" h="98">
                  <a:moveTo>
                    <a:pt x="0" y="0"/>
                  </a:moveTo>
                  <a:lnTo>
                    <a:pt x="195" y="48"/>
                  </a:lnTo>
                  <a:lnTo>
                    <a:pt x="390" y="0"/>
                  </a:lnTo>
                  <a:lnTo>
                    <a:pt x="390" y="48"/>
                  </a:lnTo>
                  <a:lnTo>
                    <a:pt x="195" y="98"/>
                  </a:lnTo>
                  <a:lnTo>
                    <a:pt x="0" y="48"/>
                  </a:lnTo>
                  <a:lnTo>
                    <a:pt x="0" y="0"/>
                  </a:lnTo>
                  <a:close/>
                  <a:moveTo>
                    <a:pt x="0" y="0"/>
                  </a:moveTo>
                  <a:lnTo>
                    <a:pt x="0" y="0"/>
                  </a:lnTo>
                  <a:close/>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0" name="Freeform 44"/>
            <p:cNvSpPr>
              <a:spLocks noEditPoints="1"/>
            </p:cNvSpPr>
            <p:nvPr/>
          </p:nvSpPr>
          <p:spPr bwMode="auto">
            <a:xfrm>
              <a:off x="7043193" y="5160832"/>
              <a:ext cx="338905" cy="85161"/>
            </a:xfrm>
            <a:custGeom>
              <a:avLst/>
              <a:gdLst/>
              <a:ahLst/>
              <a:cxnLst>
                <a:cxn ang="0">
                  <a:pos x="0" y="0"/>
                </a:cxn>
                <a:cxn ang="0">
                  <a:pos x="195" y="48"/>
                </a:cxn>
                <a:cxn ang="0">
                  <a:pos x="390" y="0"/>
                </a:cxn>
                <a:cxn ang="0">
                  <a:pos x="390" y="48"/>
                </a:cxn>
                <a:cxn ang="0">
                  <a:pos x="195" y="98"/>
                </a:cxn>
                <a:cxn ang="0">
                  <a:pos x="0" y="48"/>
                </a:cxn>
                <a:cxn ang="0">
                  <a:pos x="0" y="0"/>
                </a:cxn>
                <a:cxn ang="0">
                  <a:pos x="0" y="0"/>
                </a:cxn>
                <a:cxn ang="0">
                  <a:pos x="0" y="0"/>
                </a:cxn>
              </a:cxnLst>
              <a:rect l="0" t="0" r="r" b="b"/>
              <a:pathLst>
                <a:path w="390" h="98">
                  <a:moveTo>
                    <a:pt x="0" y="0"/>
                  </a:moveTo>
                  <a:lnTo>
                    <a:pt x="195" y="48"/>
                  </a:lnTo>
                  <a:lnTo>
                    <a:pt x="390" y="0"/>
                  </a:lnTo>
                  <a:lnTo>
                    <a:pt x="390" y="48"/>
                  </a:lnTo>
                  <a:lnTo>
                    <a:pt x="195" y="98"/>
                  </a:lnTo>
                  <a:lnTo>
                    <a:pt x="0" y="48"/>
                  </a:lnTo>
                  <a:lnTo>
                    <a:pt x="0" y="0"/>
                  </a:lnTo>
                  <a:moveTo>
                    <a:pt x="0" y="0"/>
                  </a:moveTo>
                  <a:lnTo>
                    <a:pt x="0" y="0"/>
                  </a:ln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Freeform 45"/>
            <p:cNvSpPr>
              <a:spLocks noEditPoints="1"/>
            </p:cNvSpPr>
            <p:nvPr/>
          </p:nvSpPr>
          <p:spPr bwMode="auto">
            <a:xfrm>
              <a:off x="7043193" y="5076541"/>
              <a:ext cx="338905" cy="84292"/>
            </a:xfrm>
            <a:custGeom>
              <a:avLst/>
              <a:gdLst/>
              <a:ahLst/>
              <a:cxnLst>
                <a:cxn ang="0">
                  <a:pos x="0" y="0"/>
                </a:cxn>
                <a:cxn ang="0">
                  <a:pos x="195" y="48"/>
                </a:cxn>
                <a:cxn ang="0">
                  <a:pos x="390" y="0"/>
                </a:cxn>
                <a:cxn ang="0">
                  <a:pos x="390" y="48"/>
                </a:cxn>
                <a:cxn ang="0">
                  <a:pos x="195" y="97"/>
                </a:cxn>
                <a:cxn ang="0">
                  <a:pos x="0" y="48"/>
                </a:cxn>
                <a:cxn ang="0">
                  <a:pos x="0" y="0"/>
                </a:cxn>
                <a:cxn ang="0">
                  <a:pos x="0" y="0"/>
                </a:cxn>
                <a:cxn ang="0">
                  <a:pos x="0" y="0"/>
                </a:cxn>
              </a:cxnLst>
              <a:rect l="0" t="0" r="r" b="b"/>
              <a:pathLst>
                <a:path w="390" h="97">
                  <a:moveTo>
                    <a:pt x="0" y="0"/>
                  </a:moveTo>
                  <a:lnTo>
                    <a:pt x="195" y="48"/>
                  </a:lnTo>
                  <a:lnTo>
                    <a:pt x="390" y="0"/>
                  </a:lnTo>
                  <a:lnTo>
                    <a:pt x="390" y="48"/>
                  </a:lnTo>
                  <a:lnTo>
                    <a:pt x="195" y="97"/>
                  </a:lnTo>
                  <a:lnTo>
                    <a:pt x="0" y="48"/>
                  </a:lnTo>
                  <a:lnTo>
                    <a:pt x="0" y="0"/>
                  </a:lnTo>
                  <a:close/>
                  <a:moveTo>
                    <a:pt x="0" y="0"/>
                  </a:moveTo>
                  <a:lnTo>
                    <a:pt x="0" y="0"/>
                  </a:lnTo>
                  <a:close/>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2" name="Freeform 46"/>
            <p:cNvSpPr>
              <a:spLocks noEditPoints="1"/>
            </p:cNvSpPr>
            <p:nvPr/>
          </p:nvSpPr>
          <p:spPr bwMode="auto">
            <a:xfrm>
              <a:off x="7043193" y="5076541"/>
              <a:ext cx="338905" cy="84292"/>
            </a:xfrm>
            <a:custGeom>
              <a:avLst/>
              <a:gdLst/>
              <a:ahLst/>
              <a:cxnLst>
                <a:cxn ang="0">
                  <a:pos x="0" y="0"/>
                </a:cxn>
                <a:cxn ang="0">
                  <a:pos x="195" y="48"/>
                </a:cxn>
                <a:cxn ang="0">
                  <a:pos x="390" y="0"/>
                </a:cxn>
                <a:cxn ang="0">
                  <a:pos x="390" y="48"/>
                </a:cxn>
                <a:cxn ang="0">
                  <a:pos x="195" y="97"/>
                </a:cxn>
                <a:cxn ang="0">
                  <a:pos x="0" y="48"/>
                </a:cxn>
                <a:cxn ang="0">
                  <a:pos x="0" y="0"/>
                </a:cxn>
                <a:cxn ang="0">
                  <a:pos x="0" y="0"/>
                </a:cxn>
                <a:cxn ang="0">
                  <a:pos x="0" y="0"/>
                </a:cxn>
              </a:cxnLst>
              <a:rect l="0" t="0" r="r" b="b"/>
              <a:pathLst>
                <a:path w="390" h="97">
                  <a:moveTo>
                    <a:pt x="0" y="0"/>
                  </a:moveTo>
                  <a:lnTo>
                    <a:pt x="195" y="48"/>
                  </a:lnTo>
                  <a:lnTo>
                    <a:pt x="390" y="0"/>
                  </a:lnTo>
                  <a:lnTo>
                    <a:pt x="390" y="48"/>
                  </a:lnTo>
                  <a:lnTo>
                    <a:pt x="195" y="97"/>
                  </a:lnTo>
                  <a:lnTo>
                    <a:pt x="0" y="48"/>
                  </a:lnTo>
                  <a:lnTo>
                    <a:pt x="0" y="0"/>
                  </a:lnTo>
                  <a:moveTo>
                    <a:pt x="0" y="0"/>
                  </a:moveTo>
                  <a:lnTo>
                    <a:pt x="0" y="0"/>
                  </a:ln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47"/>
            <p:cNvSpPr>
              <a:spLocks noEditPoints="1"/>
            </p:cNvSpPr>
            <p:nvPr/>
          </p:nvSpPr>
          <p:spPr bwMode="auto">
            <a:xfrm>
              <a:off x="7043193" y="4948799"/>
              <a:ext cx="338905" cy="127742"/>
            </a:xfrm>
            <a:custGeom>
              <a:avLst/>
              <a:gdLst/>
              <a:ahLst/>
              <a:cxnLst>
                <a:cxn ang="0">
                  <a:pos x="0" y="48"/>
                </a:cxn>
                <a:cxn ang="0">
                  <a:pos x="195" y="0"/>
                </a:cxn>
                <a:cxn ang="0">
                  <a:pos x="390" y="48"/>
                </a:cxn>
                <a:cxn ang="0">
                  <a:pos x="390" y="96"/>
                </a:cxn>
                <a:cxn ang="0">
                  <a:pos x="195" y="147"/>
                </a:cxn>
                <a:cxn ang="0">
                  <a:pos x="0" y="96"/>
                </a:cxn>
                <a:cxn ang="0">
                  <a:pos x="0" y="48"/>
                </a:cxn>
                <a:cxn ang="0">
                  <a:pos x="0" y="48"/>
                </a:cxn>
                <a:cxn ang="0">
                  <a:pos x="0" y="48"/>
                </a:cxn>
              </a:cxnLst>
              <a:rect l="0" t="0" r="r" b="b"/>
              <a:pathLst>
                <a:path w="390" h="147">
                  <a:moveTo>
                    <a:pt x="0" y="48"/>
                  </a:moveTo>
                  <a:lnTo>
                    <a:pt x="195" y="0"/>
                  </a:lnTo>
                  <a:lnTo>
                    <a:pt x="390" y="48"/>
                  </a:lnTo>
                  <a:lnTo>
                    <a:pt x="390" y="96"/>
                  </a:lnTo>
                  <a:lnTo>
                    <a:pt x="195" y="147"/>
                  </a:lnTo>
                  <a:lnTo>
                    <a:pt x="0" y="96"/>
                  </a:lnTo>
                  <a:lnTo>
                    <a:pt x="0" y="48"/>
                  </a:lnTo>
                  <a:close/>
                  <a:moveTo>
                    <a:pt x="0" y="48"/>
                  </a:moveTo>
                  <a:lnTo>
                    <a:pt x="0" y="48"/>
                  </a:lnTo>
                  <a:close/>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4" name="Freeform 48"/>
            <p:cNvSpPr>
              <a:spLocks noEditPoints="1"/>
            </p:cNvSpPr>
            <p:nvPr/>
          </p:nvSpPr>
          <p:spPr bwMode="auto">
            <a:xfrm>
              <a:off x="7043193" y="4948799"/>
              <a:ext cx="338905" cy="127742"/>
            </a:xfrm>
            <a:custGeom>
              <a:avLst/>
              <a:gdLst/>
              <a:ahLst/>
              <a:cxnLst>
                <a:cxn ang="0">
                  <a:pos x="0" y="48"/>
                </a:cxn>
                <a:cxn ang="0">
                  <a:pos x="195" y="0"/>
                </a:cxn>
                <a:cxn ang="0">
                  <a:pos x="390" y="48"/>
                </a:cxn>
                <a:cxn ang="0">
                  <a:pos x="390" y="96"/>
                </a:cxn>
                <a:cxn ang="0">
                  <a:pos x="195" y="147"/>
                </a:cxn>
                <a:cxn ang="0">
                  <a:pos x="0" y="96"/>
                </a:cxn>
                <a:cxn ang="0">
                  <a:pos x="0" y="48"/>
                </a:cxn>
                <a:cxn ang="0">
                  <a:pos x="0" y="48"/>
                </a:cxn>
                <a:cxn ang="0">
                  <a:pos x="0" y="48"/>
                </a:cxn>
              </a:cxnLst>
              <a:rect l="0" t="0" r="r" b="b"/>
              <a:pathLst>
                <a:path w="390" h="147">
                  <a:moveTo>
                    <a:pt x="0" y="48"/>
                  </a:moveTo>
                  <a:lnTo>
                    <a:pt x="195" y="0"/>
                  </a:lnTo>
                  <a:lnTo>
                    <a:pt x="390" y="48"/>
                  </a:lnTo>
                  <a:lnTo>
                    <a:pt x="390" y="96"/>
                  </a:lnTo>
                  <a:lnTo>
                    <a:pt x="195" y="147"/>
                  </a:lnTo>
                  <a:lnTo>
                    <a:pt x="0" y="96"/>
                  </a:lnTo>
                  <a:lnTo>
                    <a:pt x="0" y="48"/>
                  </a:lnTo>
                  <a:moveTo>
                    <a:pt x="0" y="48"/>
                  </a:moveTo>
                  <a:lnTo>
                    <a:pt x="0" y="48"/>
                  </a:ln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nvGrpSpPr>
          <p:cNvPr id="25" name="Group 43"/>
          <p:cNvGrpSpPr/>
          <p:nvPr/>
        </p:nvGrpSpPr>
        <p:grpSpPr>
          <a:xfrm>
            <a:off x="4881209" y="4936597"/>
            <a:ext cx="214948" cy="356278"/>
            <a:chOff x="6954838" y="1485900"/>
            <a:chExt cx="866775" cy="1436688"/>
          </a:xfrm>
          <a:solidFill>
            <a:schemeClr val="bg1"/>
          </a:solidFill>
        </p:grpSpPr>
        <p:sp>
          <p:nvSpPr>
            <p:cNvPr id="26" name="Freeform 25"/>
            <p:cNvSpPr>
              <a:spLocks noEditPoints="1"/>
            </p:cNvSpPr>
            <p:nvPr/>
          </p:nvSpPr>
          <p:spPr bwMode="auto">
            <a:xfrm>
              <a:off x="6954838" y="1485900"/>
              <a:ext cx="866775" cy="1436688"/>
            </a:xfrm>
            <a:custGeom>
              <a:avLst/>
              <a:gdLst/>
              <a:ahLst/>
              <a:cxnLst>
                <a:cxn ang="0">
                  <a:pos x="213" y="0"/>
                </a:cxn>
                <a:cxn ang="0">
                  <a:pos x="15" y="0"/>
                </a:cxn>
                <a:cxn ang="0">
                  <a:pos x="0" y="15"/>
                </a:cxn>
                <a:cxn ang="0">
                  <a:pos x="0" y="365"/>
                </a:cxn>
                <a:cxn ang="0">
                  <a:pos x="15" y="380"/>
                </a:cxn>
                <a:cxn ang="0">
                  <a:pos x="213" y="380"/>
                </a:cxn>
                <a:cxn ang="0">
                  <a:pos x="228" y="365"/>
                </a:cxn>
                <a:cxn ang="0">
                  <a:pos x="228" y="15"/>
                </a:cxn>
                <a:cxn ang="0">
                  <a:pos x="213" y="0"/>
                </a:cxn>
                <a:cxn ang="0">
                  <a:pos x="114" y="280"/>
                </a:cxn>
                <a:cxn ang="0">
                  <a:pos x="91" y="257"/>
                </a:cxn>
                <a:cxn ang="0">
                  <a:pos x="114" y="234"/>
                </a:cxn>
                <a:cxn ang="0">
                  <a:pos x="137" y="257"/>
                </a:cxn>
                <a:cxn ang="0">
                  <a:pos x="114" y="280"/>
                </a:cxn>
                <a:cxn ang="0">
                  <a:pos x="198" y="169"/>
                </a:cxn>
                <a:cxn ang="0">
                  <a:pos x="30" y="169"/>
                </a:cxn>
                <a:cxn ang="0">
                  <a:pos x="30" y="161"/>
                </a:cxn>
                <a:cxn ang="0">
                  <a:pos x="198" y="161"/>
                </a:cxn>
                <a:cxn ang="0">
                  <a:pos x="198" y="169"/>
                </a:cxn>
                <a:cxn ang="0">
                  <a:pos x="198" y="123"/>
                </a:cxn>
                <a:cxn ang="0">
                  <a:pos x="30" y="123"/>
                </a:cxn>
                <a:cxn ang="0">
                  <a:pos x="30" y="115"/>
                </a:cxn>
                <a:cxn ang="0">
                  <a:pos x="198" y="115"/>
                </a:cxn>
                <a:cxn ang="0">
                  <a:pos x="198" y="123"/>
                </a:cxn>
                <a:cxn ang="0">
                  <a:pos x="198" y="74"/>
                </a:cxn>
                <a:cxn ang="0">
                  <a:pos x="30" y="74"/>
                </a:cxn>
                <a:cxn ang="0">
                  <a:pos x="30" y="28"/>
                </a:cxn>
                <a:cxn ang="0">
                  <a:pos x="198" y="28"/>
                </a:cxn>
                <a:cxn ang="0">
                  <a:pos x="198" y="74"/>
                </a:cxn>
                <a:cxn ang="0">
                  <a:pos x="198" y="74"/>
                </a:cxn>
                <a:cxn ang="0">
                  <a:pos x="198" y="74"/>
                </a:cxn>
              </a:cxnLst>
              <a:rect l="0" t="0" r="r" b="b"/>
              <a:pathLst>
                <a:path w="228" h="380">
                  <a:moveTo>
                    <a:pt x="213" y="0"/>
                  </a:moveTo>
                  <a:cubicBezTo>
                    <a:pt x="15" y="0"/>
                    <a:pt x="15" y="0"/>
                    <a:pt x="15" y="0"/>
                  </a:cubicBezTo>
                  <a:cubicBezTo>
                    <a:pt x="7" y="0"/>
                    <a:pt x="0" y="7"/>
                    <a:pt x="0" y="15"/>
                  </a:cubicBezTo>
                  <a:cubicBezTo>
                    <a:pt x="0" y="365"/>
                    <a:pt x="0" y="365"/>
                    <a:pt x="0" y="365"/>
                  </a:cubicBezTo>
                  <a:cubicBezTo>
                    <a:pt x="0" y="373"/>
                    <a:pt x="7" y="380"/>
                    <a:pt x="15" y="380"/>
                  </a:cubicBezTo>
                  <a:cubicBezTo>
                    <a:pt x="213" y="380"/>
                    <a:pt x="213" y="380"/>
                    <a:pt x="213" y="380"/>
                  </a:cubicBezTo>
                  <a:cubicBezTo>
                    <a:pt x="221" y="380"/>
                    <a:pt x="228" y="373"/>
                    <a:pt x="228" y="365"/>
                  </a:cubicBezTo>
                  <a:cubicBezTo>
                    <a:pt x="228" y="15"/>
                    <a:pt x="228" y="15"/>
                    <a:pt x="228" y="15"/>
                  </a:cubicBezTo>
                  <a:cubicBezTo>
                    <a:pt x="228" y="7"/>
                    <a:pt x="221" y="0"/>
                    <a:pt x="213" y="0"/>
                  </a:cubicBezTo>
                  <a:close/>
                  <a:moveTo>
                    <a:pt x="114" y="280"/>
                  </a:moveTo>
                  <a:cubicBezTo>
                    <a:pt x="101" y="280"/>
                    <a:pt x="91" y="269"/>
                    <a:pt x="91" y="257"/>
                  </a:cubicBezTo>
                  <a:cubicBezTo>
                    <a:pt x="91" y="244"/>
                    <a:pt x="101" y="234"/>
                    <a:pt x="114" y="234"/>
                  </a:cubicBezTo>
                  <a:cubicBezTo>
                    <a:pt x="127" y="234"/>
                    <a:pt x="137" y="244"/>
                    <a:pt x="137" y="257"/>
                  </a:cubicBezTo>
                  <a:cubicBezTo>
                    <a:pt x="137" y="269"/>
                    <a:pt x="127" y="280"/>
                    <a:pt x="114" y="280"/>
                  </a:cubicBezTo>
                  <a:close/>
                  <a:moveTo>
                    <a:pt x="198" y="169"/>
                  </a:moveTo>
                  <a:cubicBezTo>
                    <a:pt x="30" y="169"/>
                    <a:pt x="30" y="169"/>
                    <a:pt x="30" y="169"/>
                  </a:cubicBezTo>
                  <a:cubicBezTo>
                    <a:pt x="30" y="161"/>
                    <a:pt x="30" y="161"/>
                    <a:pt x="30" y="161"/>
                  </a:cubicBezTo>
                  <a:cubicBezTo>
                    <a:pt x="198" y="161"/>
                    <a:pt x="198" y="161"/>
                    <a:pt x="198" y="161"/>
                  </a:cubicBezTo>
                  <a:lnTo>
                    <a:pt x="198" y="169"/>
                  </a:lnTo>
                  <a:close/>
                  <a:moveTo>
                    <a:pt x="198" y="123"/>
                  </a:moveTo>
                  <a:cubicBezTo>
                    <a:pt x="30" y="123"/>
                    <a:pt x="30" y="123"/>
                    <a:pt x="30" y="123"/>
                  </a:cubicBezTo>
                  <a:cubicBezTo>
                    <a:pt x="30" y="115"/>
                    <a:pt x="30" y="115"/>
                    <a:pt x="30" y="115"/>
                  </a:cubicBezTo>
                  <a:cubicBezTo>
                    <a:pt x="198" y="115"/>
                    <a:pt x="198" y="115"/>
                    <a:pt x="198" y="115"/>
                  </a:cubicBezTo>
                  <a:lnTo>
                    <a:pt x="198" y="123"/>
                  </a:lnTo>
                  <a:close/>
                  <a:moveTo>
                    <a:pt x="198" y="74"/>
                  </a:moveTo>
                  <a:cubicBezTo>
                    <a:pt x="30" y="74"/>
                    <a:pt x="30" y="74"/>
                    <a:pt x="30" y="74"/>
                  </a:cubicBezTo>
                  <a:cubicBezTo>
                    <a:pt x="30" y="28"/>
                    <a:pt x="30" y="28"/>
                    <a:pt x="30" y="28"/>
                  </a:cubicBezTo>
                  <a:cubicBezTo>
                    <a:pt x="198" y="28"/>
                    <a:pt x="198" y="28"/>
                    <a:pt x="198" y="28"/>
                  </a:cubicBezTo>
                  <a:lnTo>
                    <a:pt x="198" y="74"/>
                  </a:lnTo>
                  <a:close/>
                  <a:moveTo>
                    <a:pt x="198" y="74"/>
                  </a:moveTo>
                  <a:cubicBezTo>
                    <a:pt x="198" y="74"/>
                    <a:pt x="198" y="74"/>
                    <a:pt x="198" y="74"/>
                  </a:cubicBez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7" name="Freeform 26"/>
            <p:cNvSpPr>
              <a:spLocks noEditPoints="1"/>
            </p:cNvSpPr>
            <p:nvPr/>
          </p:nvSpPr>
          <p:spPr bwMode="auto">
            <a:xfrm>
              <a:off x="7600951" y="1698625"/>
              <a:ext cx="57150" cy="25400"/>
            </a:xfrm>
            <a:custGeom>
              <a:avLst/>
              <a:gdLst/>
              <a:ahLst/>
              <a:cxnLst>
                <a:cxn ang="0">
                  <a:pos x="15" y="3"/>
                </a:cxn>
                <a:cxn ang="0">
                  <a:pos x="7" y="7"/>
                </a:cxn>
                <a:cxn ang="0">
                  <a:pos x="0" y="3"/>
                </a:cxn>
                <a:cxn ang="0">
                  <a:pos x="7" y="0"/>
                </a:cxn>
                <a:cxn ang="0">
                  <a:pos x="15" y="3"/>
                </a:cxn>
                <a:cxn ang="0">
                  <a:pos x="15" y="3"/>
                </a:cxn>
                <a:cxn ang="0">
                  <a:pos x="15" y="3"/>
                </a:cxn>
              </a:cxnLst>
              <a:rect l="0" t="0" r="r" b="b"/>
              <a:pathLst>
                <a:path w="15" h="7">
                  <a:moveTo>
                    <a:pt x="15" y="3"/>
                  </a:moveTo>
                  <a:cubicBezTo>
                    <a:pt x="15" y="5"/>
                    <a:pt x="11" y="7"/>
                    <a:pt x="7" y="7"/>
                  </a:cubicBezTo>
                  <a:cubicBezTo>
                    <a:pt x="3" y="7"/>
                    <a:pt x="0" y="5"/>
                    <a:pt x="0" y="3"/>
                  </a:cubicBezTo>
                  <a:cubicBezTo>
                    <a:pt x="0" y="1"/>
                    <a:pt x="3" y="0"/>
                    <a:pt x="7" y="0"/>
                  </a:cubicBezTo>
                  <a:cubicBezTo>
                    <a:pt x="11" y="0"/>
                    <a:pt x="15" y="1"/>
                    <a:pt x="15" y="3"/>
                  </a:cubicBezTo>
                  <a:close/>
                  <a:moveTo>
                    <a:pt x="15" y="3"/>
                  </a:moveTo>
                  <a:cubicBezTo>
                    <a:pt x="15" y="3"/>
                    <a:pt x="15" y="3"/>
                    <a:pt x="15" y="3"/>
                  </a:cubicBez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sp>
        <p:nvSpPr>
          <p:cNvPr id="28" name="Freeform 101"/>
          <p:cNvSpPr>
            <a:spLocks noEditPoints="1"/>
          </p:cNvSpPr>
          <p:nvPr/>
        </p:nvSpPr>
        <p:spPr bwMode="auto">
          <a:xfrm>
            <a:off x="4171391" y="3578535"/>
            <a:ext cx="366705" cy="242996"/>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30" name="矩形 29"/>
          <p:cNvSpPr/>
          <p:nvPr/>
        </p:nvSpPr>
        <p:spPr>
          <a:xfrm>
            <a:off x="5154840" y="3589224"/>
            <a:ext cx="2067618" cy="464614"/>
          </a:xfrm>
          <a:prstGeom prst="rect">
            <a:avLst/>
          </a:prstGeom>
        </p:spPr>
        <p:txBody>
          <a:bodyPr wrap="square">
            <a:spAutoFit/>
          </a:bodyPr>
          <a:lstStyle/>
          <a:p>
            <a:pPr algn="ctr">
              <a:lnSpc>
                <a:spcPct val="110000"/>
              </a:lnSpc>
            </a:pPr>
            <a:r>
              <a:rPr kumimoji="1" lang="en-US" altLang="zh-CN" sz="2400" dirty="0">
                <a:solidFill>
                  <a:schemeClr val="bg1"/>
                </a:solidFill>
                <a:latin typeface="Azonix" pitchFamily="50" charset="0"/>
              </a:rPr>
              <a:t>TEMPLATE</a:t>
            </a:r>
            <a:endParaRPr kumimoji="1" lang="en-US" altLang="zh-CN" sz="2400" dirty="0">
              <a:solidFill>
                <a:schemeClr val="bg1"/>
              </a:solidFill>
              <a:latin typeface="Azonix" pitchFamily="50" charset="0"/>
              <a:ea typeface="微软雅黑" panose="020B0503020204020204" pitchFamily="34" charset="-122"/>
              <a:cs typeface="微软雅黑" panose="020B0503020204020204" pitchFamily="34" charset="-122"/>
            </a:endParaRPr>
          </a:p>
        </p:txBody>
      </p:sp>
      <p:sp>
        <p:nvSpPr>
          <p:cNvPr id="31" name="TextBox 30"/>
          <p:cNvSpPr txBox="1"/>
          <p:nvPr/>
        </p:nvSpPr>
        <p:spPr>
          <a:xfrm>
            <a:off x="7746195" y="1999196"/>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2" name="TextBox 30"/>
          <p:cNvSpPr txBox="1"/>
          <p:nvPr/>
        </p:nvSpPr>
        <p:spPr>
          <a:xfrm>
            <a:off x="7746195" y="4789417"/>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3" name="TextBox 30"/>
          <p:cNvSpPr txBox="1"/>
          <p:nvPr/>
        </p:nvSpPr>
        <p:spPr>
          <a:xfrm>
            <a:off x="8365120" y="3410472"/>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4" name="TextBox 30"/>
          <p:cNvSpPr txBox="1"/>
          <p:nvPr/>
        </p:nvSpPr>
        <p:spPr>
          <a:xfrm>
            <a:off x="-981702" y="3410472"/>
            <a:ext cx="4818714" cy="6143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5" name="TextBox 30"/>
          <p:cNvSpPr txBox="1"/>
          <p:nvPr/>
        </p:nvSpPr>
        <p:spPr>
          <a:xfrm>
            <a:off x="-378583" y="1999196"/>
            <a:ext cx="4818714" cy="6143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6" name="TextBox 30"/>
          <p:cNvSpPr txBox="1"/>
          <p:nvPr/>
        </p:nvSpPr>
        <p:spPr>
          <a:xfrm>
            <a:off x="-378583" y="4789417"/>
            <a:ext cx="4818714" cy="6143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0" presetClass="entr" presetSubtype="0" fill="hold" grpId="0" nodeType="withEffect">
                                  <p:stCondLst>
                                    <p:cond delay="1200"/>
                                  </p:stCondLst>
                                  <p:iterate type="lt">
                                    <p:tmPct val="10000"/>
                                  </p:iterate>
                                  <p:childTnLst>
                                    <p:set>
                                      <p:cBhvr>
                                        <p:cTn id="61" dur="700" fill="hold">
                                          <p:stCondLst>
                                            <p:cond delay="0"/>
                                          </p:stCondLst>
                                        </p:cTn>
                                        <p:tgtEl>
                                          <p:spTgt spid="31"/>
                                        </p:tgtEl>
                                        <p:attrNameLst>
                                          <p:attrName>style.visibility</p:attrName>
                                        </p:attrNameLst>
                                      </p:cBhvr>
                                      <p:to>
                                        <p:strVal val="visible"/>
                                      </p:to>
                                    </p:set>
                                    <p:animEffect filter="fade">
                                      <p:cBhvr>
                                        <p:cTn id="62" dur="700">
                                          <p:stCondLst>
                                            <p:cond delay="0"/>
                                          </p:stCondLst>
                                        </p:cTn>
                                        <p:tgtEl>
                                          <p:spTgt spid="31"/>
                                        </p:tgtEl>
                                      </p:cBhvr>
                                    </p:animEffect>
                                    <p:anim to="" calcmode="lin" valueType="num">
                                      <p:cBhvr>
                                        <p:cTn id="63" dur="700" fill="hold">
                                          <p:stCondLst>
                                            <p:cond delay="0"/>
                                          </p:stCondLst>
                                        </p:cTn>
                                        <p:tgtEl>
                                          <p:spTgt spid="31"/>
                                        </p:tgtEl>
                                        <p:attrNameLst>
                                          <p:attrName>ppt_y</p:attrName>
                                        </p:attrNameLst>
                                      </p:cBhvr>
                                      <p:tavLst>
                                        <p:tav tm="0" fmla="#ppt_y-#ppt_h*((1.5-1.5*$)^2-(1.5-1.5*$)^3)">
                                          <p:val>
                                            <p:fltVal val="0"/>
                                          </p:val>
                                        </p:tav>
                                        <p:tav tm="100000">
                                          <p:val>
                                            <p:fltVal val="1"/>
                                          </p:val>
                                        </p:tav>
                                      </p:tavLst>
                                    </p:anim>
                                  </p:childTnLst>
                                </p:cTn>
                              </p:par>
                              <p:par>
                                <p:cTn id="64" presetID="0" presetClass="entr" presetSubtype="0" fill="hold" grpId="0" nodeType="withEffect">
                                  <p:stCondLst>
                                    <p:cond delay="1200"/>
                                  </p:stCondLst>
                                  <p:iterate type="lt">
                                    <p:tmPct val="10000"/>
                                  </p:iterate>
                                  <p:childTnLst>
                                    <p:set>
                                      <p:cBhvr>
                                        <p:cTn id="65" dur="700" fill="hold">
                                          <p:stCondLst>
                                            <p:cond delay="0"/>
                                          </p:stCondLst>
                                        </p:cTn>
                                        <p:tgtEl>
                                          <p:spTgt spid="32"/>
                                        </p:tgtEl>
                                        <p:attrNameLst>
                                          <p:attrName>style.visibility</p:attrName>
                                        </p:attrNameLst>
                                      </p:cBhvr>
                                      <p:to>
                                        <p:strVal val="visible"/>
                                      </p:to>
                                    </p:set>
                                    <p:animEffect filter="fade">
                                      <p:cBhvr>
                                        <p:cTn id="66" dur="700">
                                          <p:stCondLst>
                                            <p:cond delay="0"/>
                                          </p:stCondLst>
                                        </p:cTn>
                                        <p:tgtEl>
                                          <p:spTgt spid="32"/>
                                        </p:tgtEl>
                                      </p:cBhvr>
                                    </p:animEffect>
                                    <p:anim to="" calcmode="lin" valueType="num">
                                      <p:cBhvr>
                                        <p:cTn id="67" dur="700" fill="hold">
                                          <p:stCondLst>
                                            <p:cond delay="0"/>
                                          </p:stCondLst>
                                        </p:cTn>
                                        <p:tgtEl>
                                          <p:spTgt spid="32"/>
                                        </p:tgtEl>
                                        <p:attrNameLst>
                                          <p:attrName>ppt_y</p:attrName>
                                        </p:attrNameLst>
                                      </p:cBhvr>
                                      <p:tavLst>
                                        <p:tav tm="0" fmla="#ppt_y-#ppt_h*((1.5-1.5*$)^2-(1.5-1.5*$)^3)">
                                          <p:val>
                                            <p:fltVal val="0"/>
                                          </p:val>
                                        </p:tav>
                                        <p:tav tm="100000">
                                          <p:val>
                                            <p:fltVal val="1"/>
                                          </p:val>
                                        </p:tav>
                                      </p:tavLst>
                                    </p:anim>
                                  </p:childTnLst>
                                </p:cTn>
                              </p:par>
                              <p:par>
                                <p:cTn id="68" presetID="0" presetClass="entr" presetSubtype="0" fill="hold" grpId="0" nodeType="withEffect">
                                  <p:stCondLst>
                                    <p:cond delay="1200"/>
                                  </p:stCondLst>
                                  <p:iterate type="lt">
                                    <p:tmPct val="10000"/>
                                  </p:iterate>
                                  <p:childTnLst>
                                    <p:set>
                                      <p:cBhvr>
                                        <p:cTn id="69" dur="700" fill="hold">
                                          <p:stCondLst>
                                            <p:cond delay="0"/>
                                          </p:stCondLst>
                                        </p:cTn>
                                        <p:tgtEl>
                                          <p:spTgt spid="33"/>
                                        </p:tgtEl>
                                        <p:attrNameLst>
                                          <p:attrName>style.visibility</p:attrName>
                                        </p:attrNameLst>
                                      </p:cBhvr>
                                      <p:to>
                                        <p:strVal val="visible"/>
                                      </p:to>
                                    </p:set>
                                    <p:animEffect filter="fade">
                                      <p:cBhvr>
                                        <p:cTn id="70" dur="700">
                                          <p:stCondLst>
                                            <p:cond delay="0"/>
                                          </p:stCondLst>
                                        </p:cTn>
                                        <p:tgtEl>
                                          <p:spTgt spid="33"/>
                                        </p:tgtEl>
                                      </p:cBhvr>
                                    </p:animEffect>
                                    <p:anim to="" calcmode="lin" valueType="num">
                                      <p:cBhvr>
                                        <p:cTn id="71" dur="700" fill="hold">
                                          <p:stCondLst>
                                            <p:cond delay="0"/>
                                          </p:stCondLst>
                                        </p:cTn>
                                        <p:tgtEl>
                                          <p:spTgt spid="33"/>
                                        </p:tgtEl>
                                        <p:attrNameLst>
                                          <p:attrName>ppt_y</p:attrName>
                                        </p:attrNameLst>
                                      </p:cBhvr>
                                      <p:tavLst>
                                        <p:tav tm="0" fmla="#ppt_y-#ppt_h*((1.5-1.5*$)^2-(1.5-1.5*$)^3)">
                                          <p:val>
                                            <p:fltVal val="0"/>
                                          </p:val>
                                        </p:tav>
                                        <p:tav tm="100000">
                                          <p:val>
                                            <p:fltVal val="1"/>
                                          </p:val>
                                        </p:tav>
                                      </p:tavLst>
                                    </p:anim>
                                  </p:childTnLst>
                                </p:cTn>
                              </p:par>
                              <p:par>
                                <p:cTn id="72" presetID="0" presetClass="entr" presetSubtype="0" fill="hold" grpId="0" nodeType="withEffect">
                                  <p:stCondLst>
                                    <p:cond delay="1200"/>
                                  </p:stCondLst>
                                  <p:iterate type="lt">
                                    <p:tmPct val="10000"/>
                                  </p:iterate>
                                  <p:childTnLst>
                                    <p:set>
                                      <p:cBhvr>
                                        <p:cTn id="73" dur="700" fill="hold">
                                          <p:stCondLst>
                                            <p:cond delay="0"/>
                                          </p:stCondLst>
                                        </p:cTn>
                                        <p:tgtEl>
                                          <p:spTgt spid="34"/>
                                        </p:tgtEl>
                                        <p:attrNameLst>
                                          <p:attrName>style.visibility</p:attrName>
                                        </p:attrNameLst>
                                      </p:cBhvr>
                                      <p:to>
                                        <p:strVal val="visible"/>
                                      </p:to>
                                    </p:set>
                                    <p:animEffect filter="fade">
                                      <p:cBhvr>
                                        <p:cTn id="74" dur="700">
                                          <p:stCondLst>
                                            <p:cond delay="0"/>
                                          </p:stCondLst>
                                        </p:cTn>
                                        <p:tgtEl>
                                          <p:spTgt spid="34"/>
                                        </p:tgtEl>
                                      </p:cBhvr>
                                    </p:animEffect>
                                    <p:anim to="" calcmode="lin" valueType="num">
                                      <p:cBhvr>
                                        <p:cTn id="75" dur="700" fill="hold">
                                          <p:stCondLst>
                                            <p:cond delay="0"/>
                                          </p:stCondLst>
                                        </p:cTn>
                                        <p:tgtEl>
                                          <p:spTgt spid="34"/>
                                        </p:tgtEl>
                                        <p:attrNameLst>
                                          <p:attrName>ppt_y</p:attrName>
                                        </p:attrNameLst>
                                      </p:cBhvr>
                                      <p:tavLst>
                                        <p:tav tm="0" fmla="#ppt_y-#ppt_h*((1.5-1.5*$)^2-(1.5-1.5*$)^3)">
                                          <p:val>
                                            <p:fltVal val="0"/>
                                          </p:val>
                                        </p:tav>
                                        <p:tav tm="100000">
                                          <p:val>
                                            <p:fltVal val="1"/>
                                          </p:val>
                                        </p:tav>
                                      </p:tavLst>
                                    </p:anim>
                                  </p:childTnLst>
                                </p:cTn>
                              </p:par>
                              <p:par>
                                <p:cTn id="76" presetID="0" presetClass="entr" presetSubtype="0" fill="hold" grpId="0" nodeType="withEffect">
                                  <p:stCondLst>
                                    <p:cond delay="1200"/>
                                  </p:stCondLst>
                                  <p:iterate type="lt">
                                    <p:tmPct val="10000"/>
                                  </p:iterate>
                                  <p:childTnLst>
                                    <p:set>
                                      <p:cBhvr>
                                        <p:cTn id="77" dur="700" fill="hold">
                                          <p:stCondLst>
                                            <p:cond delay="0"/>
                                          </p:stCondLst>
                                        </p:cTn>
                                        <p:tgtEl>
                                          <p:spTgt spid="35"/>
                                        </p:tgtEl>
                                        <p:attrNameLst>
                                          <p:attrName>style.visibility</p:attrName>
                                        </p:attrNameLst>
                                      </p:cBhvr>
                                      <p:to>
                                        <p:strVal val="visible"/>
                                      </p:to>
                                    </p:set>
                                    <p:animEffect filter="fade">
                                      <p:cBhvr>
                                        <p:cTn id="78" dur="700">
                                          <p:stCondLst>
                                            <p:cond delay="0"/>
                                          </p:stCondLst>
                                        </p:cTn>
                                        <p:tgtEl>
                                          <p:spTgt spid="35"/>
                                        </p:tgtEl>
                                      </p:cBhvr>
                                    </p:animEffect>
                                    <p:anim to="" calcmode="lin" valueType="num">
                                      <p:cBhvr>
                                        <p:cTn id="79" dur="700" fill="hold">
                                          <p:stCondLst>
                                            <p:cond delay="0"/>
                                          </p:stCondLst>
                                        </p:cTn>
                                        <p:tgtEl>
                                          <p:spTgt spid="35"/>
                                        </p:tgtEl>
                                        <p:attrNameLst>
                                          <p:attrName>ppt_y</p:attrName>
                                        </p:attrNameLst>
                                      </p:cBhvr>
                                      <p:tavLst>
                                        <p:tav tm="0" fmla="#ppt_y-#ppt_h*((1.5-1.5*$)^2-(1.5-1.5*$)^3)">
                                          <p:val>
                                            <p:fltVal val="0"/>
                                          </p:val>
                                        </p:tav>
                                        <p:tav tm="100000">
                                          <p:val>
                                            <p:fltVal val="1"/>
                                          </p:val>
                                        </p:tav>
                                      </p:tavLst>
                                    </p:anim>
                                  </p:childTnLst>
                                </p:cTn>
                              </p:par>
                              <p:par>
                                <p:cTn id="80" presetID="0" presetClass="entr" presetSubtype="0" fill="hold" grpId="0" nodeType="withEffect">
                                  <p:stCondLst>
                                    <p:cond delay="1200"/>
                                  </p:stCondLst>
                                  <p:iterate type="lt">
                                    <p:tmPct val="10000"/>
                                  </p:iterate>
                                  <p:childTnLst>
                                    <p:set>
                                      <p:cBhvr>
                                        <p:cTn id="81" dur="700" fill="hold">
                                          <p:stCondLst>
                                            <p:cond delay="0"/>
                                          </p:stCondLst>
                                        </p:cTn>
                                        <p:tgtEl>
                                          <p:spTgt spid="36"/>
                                        </p:tgtEl>
                                        <p:attrNameLst>
                                          <p:attrName>style.visibility</p:attrName>
                                        </p:attrNameLst>
                                      </p:cBhvr>
                                      <p:to>
                                        <p:strVal val="visible"/>
                                      </p:to>
                                    </p:set>
                                    <p:animEffect filter="fade">
                                      <p:cBhvr>
                                        <p:cTn id="82" dur="700">
                                          <p:stCondLst>
                                            <p:cond delay="0"/>
                                          </p:stCondLst>
                                        </p:cTn>
                                        <p:tgtEl>
                                          <p:spTgt spid="36"/>
                                        </p:tgtEl>
                                      </p:cBhvr>
                                    </p:animEffect>
                                    <p:anim to="" calcmode="lin" valueType="num">
                                      <p:cBhvr>
                                        <p:cTn id="83" dur="700" fill="hold">
                                          <p:stCondLst>
                                            <p:cond delay="0"/>
                                          </p:stCondLst>
                                        </p:cTn>
                                        <p:tgtEl>
                                          <p:spTgt spid="36"/>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8" grpId="0" animBg="1"/>
      <p:bldP spid="31" grpId="0"/>
      <p:bldP spid="32" grpId="0"/>
      <p:bldP spid="33" grpId="0"/>
      <p:bldP spid="34" grpId="0"/>
      <p:bldP spid="35" grpId="0"/>
      <p:bldP spid="3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pic>
        <p:nvPicPr>
          <p:cNvPr id="7"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3994" r="3649"/>
          <a:stretch>
            <a:fillRect/>
          </a:stretch>
        </p:blipFill>
        <p:spPr>
          <a:xfrm>
            <a:off x="1030789" y="2179579"/>
            <a:ext cx="6249687" cy="3502889"/>
          </a:xfrm>
          <a:prstGeom prst="rect">
            <a:avLst/>
          </a:prstGeom>
        </p:spPr>
      </p:pic>
      <p:sp>
        <p:nvSpPr>
          <p:cNvPr id="8" name="TextBox 30"/>
          <p:cNvSpPr txBox="1"/>
          <p:nvPr/>
        </p:nvSpPr>
        <p:spPr>
          <a:xfrm>
            <a:off x="7746195" y="226060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9" name="TextBox 30"/>
          <p:cNvSpPr txBox="1"/>
          <p:nvPr/>
        </p:nvSpPr>
        <p:spPr>
          <a:xfrm>
            <a:off x="7746195" y="312183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0" name="TextBox 30"/>
          <p:cNvSpPr txBox="1"/>
          <p:nvPr/>
        </p:nvSpPr>
        <p:spPr>
          <a:xfrm>
            <a:off x="7746195" y="398306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1" name="TextBox 30"/>
          <p:cNvSpPr txBox="1"/>
          <p:nvPr/>
        </p:nvSpPr>
        <p:spPr>
          <a:xfrm>
            <a:off x="7746195" y="484429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 name="椭圆 1"/>
          <p:cNvSpPr/>
          <p:nvPr/>
        </p:nvSpPr>
        <p:spPr>
          <a:xfrm>
            <a:off x="5648446" y="3428999"/>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64844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31398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327718" y="3634566"/>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0" presetClass="entr" presetSubtype="0" fill="hold" grpId="0" nodeType="withEffect">
                                  <p:stCondLst>
                                    <p:cond delay="1200"/>
                                  </p:stCondLst>
                                  <p:iterate type="lt">
                                    <p:tmPct val="10000"/>
                                  </p:iterate>
                                  <p:childTnLst>
                                    <p:set>
                                      <p:cBhvr>
                                        <p:cTn id="11" dur="700" fill="hold">
                                          <p:stCondLst>
                                            <p:cond delay="0"/>
                                          </p:stCondLst>
                                        </p:cTn>
                                        <p:tgtEl>
                                          <p:spTgt spid="8"/>
                                        </p:tgtEl>
                                        <p:attrNameLst>
                                          <p:attrName>style.visibility</p:attrName>
                                        </p:attrNameLst>
                                      </p:cBhvr>
                                      <p:to>
                                        <p:strVal val="visible"/>
                                      </p:to>
                                    </p:set>
                                    <p:animEffect filter="fade">
                                      <p:cBhvr>
                                        <p:cTn id="12" dur="700">
                                          <p:stCondLst>
                                            <p:cond delay="0"/>
                                          </p:stCondLst>
                                        </p:cTn>
                                        <p:tgtEl>
                                          <p:spTgt spid="8"/>
                                        </p:tgtEl>
                                      </p:cBhvr>
                                    </p:animEffect>
                                    <p:anim to="" calcmode="lin" valueType="num">
                                      <p:cBhvr>
                                        <p:cTn id="13" dur="700" fill="hold">
                                          <p:stCondLst>
                                            <p:cond delay="0"/>
                                          </p:stCondLst>
                                        </p:cTn>
                                        <p:tgtEl>
                                          <p:spTgt spid="8"/>
                                        </p:tgtEl>
                                        <p:attrNameLst>
                                          <p:attrName>ppt_y</p:attrName>
                                        </p:attrNameLst>
                                      </p:cBhvr>
                                      <p:tavLst>
                                        <p:tav tm="0" fmla="#ppt_y-#ppt_h*((1.5-1.5*$)^2-(1.5-1.5*$)^3)">
                                          <p:val>
                                            <p:fltVal val="0"/>
                                          </p:val>
                                        </p:tav>
                                        <p:tav tm="100000">
                                          <p:val>
                                            <p:fltVal val="1"/>
                                          </p:val>
                                        </p:tav>
                                      </p:tavLst>
                                    </p:anim>
                                  </p:childTnLst>
                                </p:cTn>
                              </p:par>
                              <p:par>
                                <p:cTn id="14" presetID="0" presetClass="entr" presetSubtype="0" fill="hold" grpId="0" nodeType="withEffect">
                                  <p:stCondLst>
                                    <p:cond delay="1200"/>
                                  </p:stCondLst>
                                  <p:iterate type="lt">
                                    <p:tmPct val="10000"/>
                                  </p:iterate>
                                  <p:childTnLst>
                                    <p:set>
                                      <p:cBhvr>
                                        <p:cTn id="15" dur="700" fill="hold">
                                          <p:stCondLst>
                                            <p:cond delay="0"/>
                                          </p:stCondLst>
                                        </p:cTn>
                                        <p:tgtEl>
                                          <p:spTgt spid="9"/>
                                        </p:tgtEl>
                                        <p:attrNameLst>
                                          <p:attrName>style.visibility</p:attrName>
                                        </p:attrNameLst>
                                      </p:cBhvr>
                                      <p:to>
                                        <p:strVal val="visible"/>
                                      </p:to>
                                    </p:set>
                                    <p:animEffect filter="fade">
                                      <p:cBhvr>
                                        <p:cTn id="16" dur="700">
                                          <p:stCondLst>
                                            <p:cond delay="0"/>
                                          </p:stCondLst>
                                        </p:cTn>
                                        <p:tgtEl>
                                          <p:spTgt spid="9"/>
                                        </p:tgtEl>
                                      </p:cBhvr>
                                    </p:animEffect>
                                    <p:anim to="" calcmode="lin" valueType="num">
                                      <p:cBhvr>
                                        <p:cTn id="17" dur="700" fill="hold">
                                          <p:stCondLst>
                                            <p:cond delay="0"/>
                                          </p:stCondLst>
                                        </p:cTn>
                                        <p:tgtEl>
                                          <p:spTgt spid="9"/>
                                        </p:tgtEl>
                                        <p:attrNameLst>
                                          <p:attrName>ppt_y</p:attrName>
                                        </p:attrNameLst>
                                      </p:cBhvr>
                                      <p:tavLst>
                                        <p:tav tm="0" fmla="#ppt_y-#ppt_h*((1.5-1.5*$)^2-(1.5-1.5*$)^3)">
                                          <p:val>
                                            <p:fltVal val="0"/>
                                          </p:val>
                                        </p:tav>
                                        <p:tav tm="100000">
                                          <p:val>
                                            <p:fltVal val="1"/>
                                          </p:val>
                                        </p:tav>
                                      </p:tavLst>
                                    </p:anim>
                                  </p:childTnLst>
                                </p:cTn>
                              </p:par>
                              <p:par>
                                <p:cTn id="18" presetID="0" presetClass="entr" presetSubtype="0" fill="hold" grpId="0" nodeType="withEffect">
                                  <p:stCondLst>
                                    <p:cond delay="1200"/>
                                  </p:stCondLst>
                                  <p:iterate type="lt">
                                    <p:tmPct val="10000"/>
                                  </p:iterate>
                                  <p:childTnLst>
                                    <p:set>
                                      <p:cBhvr>
                                        <p:cTn id="19" dur="700" fill="hold">
                                          <p:stCondLst>
                                            <p:cond delay="0"/>
                                          </p:stCondLst>
                                        </p:cTn>
                                        <p:tgtEl>
                                          <p:spTgt spid="10"/>
                                        </p:tgtEl>
                                        <p:attrNameLst>
                                          <p:attrName>style.visibility</p:attrName>
                                        </p:attrNameLst>
                                      </p:cBhvr>
                                      <p:to>
                                        <p:strVal val="visible"/>
                                      </p:to>
                                    </p:set>
                                    <p:animEffect filter="fade">
                                      <p:cBhvr>
                                        <p:cTn id="20" dur="700">
                                          <p:stCondLst>
                                            <p:cond delay="0"/>
                                          </p:stCondLst>
                                        </p:cTn>
                                        <p:tgtEl>
                                          <p:spTgt spid="10"/>
                                        </p:tgtEl>
                                      </p:cBhvr>
                                    </p:animEffect>
                                    <p:anim to="" calcmode="lin" valueType="num">
                                      <p:cBhvr>
                                        <p:cTn id="21" dur="700" fill="hold">
                                          <p:stCondLst>
                                            <p:cond delay="0"/>
                                          </p:stCondLst>
                                        </p:cTn>
                                        <p:tgtEl>
                                          <p:spTgt spid="10"/>
                                        </p:tgtEl>
                                        <p:attrNameLst>
                                          <p:attrName>ppt_y</p:attrName>
                                        </p:attrNameLst>
                                      </p:cBhvr>
                                      <p:tavLst>
                                        <p:tav tm="0" fmla="#ppt_y-#ppt_h*((1.5-1.5*$)^2-(1.5-1.5*$)^3)">
                                          <p:val>
                                            <p:fltVal val="0"/>
                                          </p:val>
                                        </p:tav>
                                        <p:tav tm="100000">
                                          <p:val>
                                            <p:fltVal val="1"/>
                                          </p:val>
                                        </p:tav>
                                      </p:tavLst>
                                    </p:anim>
                                  </p:childTnLst>
                                </p:cTn>
                              </p:par>
                              <p:par>
                                <p:cTn id="22" presetID="0" presetClass="entr" presetSubtype="0" fill="hold" grpId="0" nodeType="withEffect">
                                  <p:stCondLst>
                                    <p:cond delay="1200"/>
                                  </p:stCondLst>
                                  <p:iterate type="lt">
                                    <p:tmPct val="10000"/>
                                  </p:iterate>
                                  <p:childTnLst>
                                    <p:set>
                                      <p:cBhvr>
                                        <p:cTn id="23" dur="700" fill="hold">
                                          <p:stCondLst>
                                            <p:cond delay="0"/>
                                          </p:stCondLst>
                                        </p:cTn>
                                        <p:tgtEl>
                                          <p:spTgt spid="11"/>
                                        </p:tgtEl>
                                        <p:attrNameLst>
                                          <p:attrName>style.visibility</p:attrName>
                                        </p:attrNameLst>
                                      </p:cBhvr>
                                      <p:to>
                                        <p:strVal val="visible"/>
                                      </p:to>
                                    </p:set>
                                    <p:animEffect filter="fade">
                                      <p:cBhvr>
                                        <p:cTn id="24" dur="700">
                                          <p:stCondLst>
                                            <p:cond delay="0"/>
                                          </p:stCondLst>
                                        </p:cTn>
                                        <p:tgtEl>
                                          <p:spTgt spid="11"/>
                                        </p:tgtEl>
                                      </p:cBhvr>
                                    </p:animEffect>
                                    <p:anim to="" calcmode="lin" valueType="num">
                                      <p:cBhvr>
                                        <p:cTn id="25" dur="700" fill="hold">
                                          <p:stCondLst>
                                            <p:cond delay="0"/>
                                          </p:stCondLst>
                                        </p:cTn>
                                        <p:tgtEl>
                                          <p:spTgt spid="11"/>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3155992" cy="6857996"/>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H="1">
            <a:off x="9036007" y="1"/>
            <a:ext cx="3155992" cy="6857996"/>
          </a:xfrm>
          <a:prstGeom prst="rect">
            <a:avLst/>
          </a:prstGeom>
        </p:spPr>
      </p:pic>
      <p:sp>
        <p:nvSpPr>
          <p:cNvPr id="10" name="矩形 9"/>
          <p:cNvSpPr/>
          <p:nvPr/>
        </p:nvSpPr>
        <p:spPr>
          <a:xfrm>
            <a:off x="3470763" y="2616537"/>
            <a:ext cx="5250476" cy="1015663"/>
          </a:xfrm>
          <a:prstGeom prst="rect">
            <a:avLst/>
          </a:prstGeom>
        </p:spPr>
        <p:txBody>
          <a:bodyPr wrap="none">
            <a:spAutoFit/>
          </a:bodyPr>
          <a:lstStyle/>
          <a:p>
            <a:pPr algn="ctr"/>
            <a:r>
              <a:rPr lang="en-US" altLang="zh-CN" sz="6000" dirty="0">
                <a:solidFill>
                  <a:srgbClr val="CB3125"/>
                </a:solidFill>
                <a:latin typeface="Azonix" pitchFamily="50" charset="0"/>
              </a:rPr>
              <a:t>THANK YOU</a:t>
            </a:r>
          </a:p>
        </p:txBody>
      </p:sp>
      <p:sp>
        <p:nvSpPr>
          <p:cNvPr id="11" name="矩形 10"/>
          <p:cNvSpPr/>
          <p:nvPr/>
        </p:nvSpPr>
        <p:spPr>
          <a:xfrm>
            <a:off x="3470762" y="3447534"/>
            <a:ext cx="5250476" cy="923330"/>
          </a:xfrm>
          <a:prstGeom prst="rect">
            <a:avLst/>
          </a:prstGeom>
        </p:spPr>
        <p:txBody>
          <a:bodyPr wrap="square">
            <a:spAutoFit/>
          </a:bodyPr>
          <a:lstStyle/>
          <a:p>
            <a:pPr algn="dist"/>
            <a:r>
              <a:rPr lang="en-US" altLang="zh-CN" sz="5400" dirty="0">
                <a:solidFill>
                  <a:srgbClr val="2E578B"/>
                </a:solidFill>
                <a:latin typeface="+mj-lt"/>
              </a:rPr>
              <a:t>for attention</a:t>
            </a:r>
            <a:endParaRPr lang="zh-CN" altLang="en-US" sz="5400" dirty="0">
              <a:solidFill>
                <a:srgbClr val="2E578B"/>
              </a:solidFill>
              <a:latin typeface="+mj-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E578B"/>
        </a:solidFill>
        <a:effectLst/>
      </p:bgPr>
    </p:bg>
    <p:spTree>
      <p:nvGrpSpPr>
        <p:cNvPr id="1" name=""/>
        <p:cNvGrpSpPr/>
        <p:nvPr/>
      </p:nvGrpSpPr>
      <p:grpSpPr>
        <a:xfrm>
          <a:off x="0" y="0"/>
          <a:ext cx="0" cy="0"/>
          <a:chOff x="0" y="0"/>
          <a:chExt cx="0" cy="0"/>
        </a:xfrm>
      </p:grpSpPr>
      <p:sp>
        <p:nvSpPr>
          <p:cNvPr id="4" name="文本框 3"/>
          <p:cNvSpPr txBox="1">
            <a:spLocks noChangeArrowheads="1"/>
          </p:cNvSpPr>
          <p:nvPr/>
        </p:nvSpPr>
        <p:spPr bwMode="auto">
          <a:xfrm>
            <a:off x="4977745" y="774176"/>
            <a:ext cx="22365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buFont typeface="Arial" panose="020B0604020202020204" pitchFamily="34" charset="0"/>
              <a:buNone/>
            </a:pPr>
            <a:r>
              <a:rPr lang="zh-CN" altLang="en-US" sz="4000" dirty="0">
                <a:solidFill>
                  <a:schemeClr val="bg1"/>
                </a:solidFill>
                <a:latin typeface="字体管家仿宋" panose="00020600040101010101" pitchFamily="18" charset="-122"/>
                <a:ea typeface="字体管家仿宋" panose="00020600040101010101" pitchFamily="18" charset="-122"/>
              </a:rPr>
              <a:t>使用说明</a:t>
            </a:r>
          </a:p>
        </p:txBody>
      </p:sp>
      <p:sp>
        <p:nvSpPr>
          <p:cNvPr id="7" name="矩形: 圆角 6"/>
          <p:cNvSpPr/>
          <p:nvPr/>
        </p:nvSpPr>
        <p:spPr>
          <a:xfrm>
            <a:off x="2147347" y="2415886"/>
            <a:ext cx="1403928" cy="1403928"/>
          </a:xfrm>
          <a:prstGeom prst="roundRect">
            <a:avLst/>
          </a:prstGeom>
          <a:noFill/>
          <a:ln w="127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Calibri" panose="020F0502020204030204"/>
              <a:ea typeface="微软雅黑" panose="020B0503020204020204" pitchFamily="34" charset="-122"/>
            </a:endParaRPr>
          </a:p>
        </p:txBody>
      </p:sp>
      <p:sp>
        <p:nvSpPr>
          <p:cNvPr id="8" name="矩形: 圆角 7"/>
          <p:cNvSpPr/>
          <p:nvPr/>
        </p:nvSpPr>
        <p:spPr>
          <a:xfrm>
            <a:off x="5345076" y="2415886"/>
            <a:ext cx="1403928" cy="1403928"/>
          </a:xfrm>
          <a:prstGeom prst="roundRect">
            <a:avLst/>
          </a:prstGeom>
          <a:noFill/>
          <a:ln w="127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Calibri" panose="020F0502020204030204"/>
              <a:ea typeface="微软雅黑" panose="020B0503020204020204" pitchFamily="34" charset="-122"/>
            </a:endParaRPr>
          </a:p>
        </p:txBody>
      </p:sp>
      <p:sp>
        <p:nvSpPr>
          <p:cNvPr id="9" name="矩形: 圆角 8"/>
          <p:cNvSpPr/>
          <p:nvPr/>
        </p:nvSpPr>
        <p:spPr>
          <a:xfrm>
            <a:off x="8542805" y="2431906"/>
            <a:ext cx="1403928" cy="1403928"/>
          </a:xfrm>
          <a:prstGeom prst="roundRect">
            <a:avLst/>
          </a:prstGeom>
          <a:noFill/>
          <a:ln w="127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Calibri" panose="020F0502020204030204"/>
              <a:ea typeface="微软雅黑" panose="020B0503020204020204" pitchFamily="34" charset="-122"/>
            </a:endParaRPr>
          </a:p>
        </p:txBody>
      </p:sp>
      <p:sp>
        <p:nvSpPr>
          <p:cNvPr id="11" name="文本框 8"/>
          <p:cNvSpPr txBox="1">
            <a:spLocks noChangeArrowheads="1"/>
          </p:cNvSpPr>
          <p:nvPr/>
        </p:nvSpPr>
        <p:spPr bwMode="auto">
          <a:xfrm>
            <a:off x="2601571" y="4527344"/>
            <a:ext cx="5453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buFont typeface="Arial" panose="020B0604020202020204" pitchFamily="34" charset="0"/>
              <a:buNone/>
            </a:pPr>
            <a:r>
              <a:rPr lang="en-US" altLang="zh-CN" sz="1400" dirty="0">
                <a:solidFill>
                  <a:schemeClr val="bg1"/>
                </a:solidFill>
                <a:latin typeface="微软雅黑" panose="020B0503020204020204" pitchFamily="34" charset="-122"/>
              </a:rPr>
              <a:t>16:9</a:t>
            </a:r>
            <a:endParaRPr lang="zh-CN" altLang="en-US" sz="1400" dirty="0">
              <a:solidFill>
                <a:schemeClr val="bg1"/>
              </a:solidFill>
              <a:latin typeface="微软雅黑" panose="020B0503020204020204" pitchFamily="34" charset="-122"/>
            </a:endParaRPr>
          </a:p>
        </p:txBody>
      </p:sp>
      <p:sp>
        <p:nvSpPr>
          <p:cNvPr id="12" name="文本框 17"/>
          <p:cNvSpPr txBox="1">
            <a:spLocks noChangeArrowheads="1"/>
          </p:cNvSpPr>
          <p:nvPr/>
        </p:nvSpPr>
        <p:spPr bwMode="auto">
          <a:xfrm>
            <a:off x="5200562" y="4823922"/>
            <a:ext cx="17491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en-US" altLang="zh-CN" sz="1400">
                <a:solidFill>
                  <a:schemeClr val="bg1"/>
                </a:solidFill>
                <a:latin typeface="微软雅黑" panose="020B0503020204020204" pitchFamily="34" charset="-122"/>
              </a:rPr>
              <a:t>Calibri Light (</a:t>
            </a:r>
            <a:r>
              <a:rPr lang="zh-CN" altLang="en-US" sz="1400">
                <a:solidFill>
                  <a:schemeClr val="bg1"/>
                </a:solidFill>
                <a:latin typeface="微软雅黑" panose="020B0503020204020204" pitchFamily="34" charset="-122"/>
              </a:rPr>
              <a:t>正文</a:t>
            </a:r>
            <a:r>
              <a:rPr lang="en-US" altLang="zh-CN" sz="1400">
                <a:solidFill>
                  <a:schemeClr val="bg1"/>
                </a:solidFill>
                <a:latin typeface="微软雅黑" panose="020B0503020204020204" pitchFamily="34" charset="-122"/>
              </a:rPr>
              <a:t>)</a:t>
            </a:r>
            <a:endParaRPr lang="zh-CN" altLang="en-US" sz="1400" dirty="0">
              <a:solidFill>
                <a:schemeClr val="bg1"/>
              </a:solidFill>
              <a:latin typeface="微软雅黑" panose="020B0503020204020204" pitchFamily="34" charset="-122"/>
            </a:endParaRPr>
          </a:p>
        </p:txBody>
      </p:sp>
      <p:grpSp>
        <p:nvGrpSpPr>
          <p:cNvPr id="18" name="组合 17"/>
          <p:cNvGrpSpPr/>
          <p:nvPr/>
        </p:nvGrpSpPr>
        <p:grpSpPr>
          <a:xfrm>
            <a:off x="5534484" y="2752725"/>
            <a:ext cx="1025112" cy="730250"/>
            <a:chOff x="5033963" y="4057651"/>
            <a:chExt cx="3416300" cy="2433637"/>
          </a:xfrm>
          <a:solidFill>
            <a:schemeClr val="bg1"/>
          </a:solidFill>
        </p:grpSpPr>
        <p:sp>
          <p:nvSpPr>
            <p:cNvPr id="16" name="Freeform 5"/>
            <p:cNvSpPr>
              <a:spLocks noEditPoints="1"/>
            </p:cNvSpPr>
            <p:nvPr/>
          </p:nvSpPr>
          <p:spPr bwMode="auto">
            <a:xfrm>
              <a:off x="5033963" y="4057651"/>
              <a:ext cx="2124075" cy="2408238"/>
            </a:xfrm>
            <a:custGeom>
              <a:avLst/>
              <a:gdLst>
                <a:gd name="T0" fmla="*/ 35 w 500"/>
                <a:gd name="T1" fmla="*/ 566 h 566"/>
                <a:gd name="T2" fmla="*/ 21 w 500"/>
                <a:gd name="T3" fmla="*/ 566 h 566"/>
                <a:gd name="T4" fmla="*/ 5 w 500"/>
                <a:gd name="T5" fmla="*/ 542 h 566"/>
                <a:gd name="T6" fmla="*/ 217 w 500"/>
                <a:gd name="T7" fmla="*/ 11 h 566"/>
                <a:gd name="T8" fmla="*/ 233 w 500"/>
                <a:gd name="T9" fmla="*/ 0 h 566"/>
                <a:gd name="T10" fmla="*/ 267 w 500"/>
                <a:gd name="T11" fmla="*/ 0 h 566"/>
                <a:gd name="T12" fmla="*/ 283 w 500"/>
                <a:gd name="T13" fmla="*/ 11 h 566"/>
                <a:gd name="T14" fmla="*/ 495 w 500"/>
                <a:gd name="T15" fmla="*/ 542 h 566"/>
                <a:gd name="T16" fmla="*/ 479 w 500"/>
                <a:gd name="T17" fmla="*/ 566 h 566"/>
                <a:gd name="T18" fmla="*/ 462 w 500"/>
                <a:gd name="T19" fmla="*/ 566 h 566"/>
                <a:gd name="T20" fmla="*/ 446 w 500"/>
                <a:gd name="T21" fmla="*/ 555 h 566"/>
                <a:gd name="T22" fmla="*/ 393 w 500"/>
                <a:gd name="T23" fmla="*/ 424 h 566"/>
                <a:gd name="T24" fmla="*/ 377 w 500"/>
                <a:gd name="T25" fmla="*/ 414 h 566"/>
                <a:gd name="T26" fmla="*/ 119 w 500"/>
                <a:gd name="T27" fmla="*/ 414 h 566"/>
                <a:gd name="T28" fmla="*/ 103 w 500"/>
                <a:gd name="T29" fmla="*/ 424 h 566"/>
                <a:gd name="T30" fmla="*/ 51 w 500"/>
                <a:gd name="T31" fmla="*/ 555 h 566"/>
                <a:gd name="T32" fmla="*/ 35 w 500"/>
                <a:gd name="T33" fmla="*/ 566 h 566"/>
                <a:gd name="T34" fmla="*/ 149 w 500"/>
                <a:gd name="T35" fmla="*/ 367 h 566"/>
                <a:gd name="T36" fmla="*/ 345 w 500"/>
                <a:gd name="T37" fmla="*/ 367 h 566"/>
                <a:gd name="T38" fmla="*/ 362 w 500"/>
                <a:gd name="T39" fmla="*/ 344 h 566"/>
                <a:gd name="T40" fmla="*/ 265 w 500"/>
                <a:gd name="T41" fmla="*/ 91 h 566"/>
                <a:gd name="T42" fmla="*/ 232 w 500"/>
                <a:gd name="T43" fmla="*/ 91 h 566"/>
                <a:gd name="T44" fmla="*/ 133 w 500"/>
                <a:gd name="T45" fmla="*/ 343 h 566"/>
                <a:gd name="T46" fmla="*/ 149 w 500"/>
                <a:gd name="T47" fmla="*/ 367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0" h="566">
                  <a:moveTo>
                    <a:pt x="35" y="566"/>
                  </a:moveTo>
                  <a:cubicBezTo>
                    <a:pt x="21" y="566"/>
                    <a:pt x="21" y="566"/>
                    <a:pt x="21" y="566"/>
                  </a:cubicBezTo>
                  <a:cubicBezTo>
                    <a:pt x="8" y="566"/>
                    <a:pt x="0" y="553"/>
                    <a:pt x="5" y="542"/>
                  </a:cubicBezTo>
                  <a:cubicBezTo>
                    <a:pt x="217" y="11"/>
                    <a:pt x="217" y="11"/>
                    <a:pt x="217" y="11"/>
                  </a:cubicBezTo>
                  <a:cubicBezTo>
                    <a:pt x="219" y="4"/>
                    <a:pt x="226" y="0"/>
                    <a:pt x="233" y="0"/>
                  </a:cubicBezTo>
                  <a:cubicBezTo>
                    <a:pt x="267" y="0"/>
                    <a:pt x="267" y="0"/>
                    <a:pt x="267" y="0"/>
                  </a:cubicBezTo>
                  <a:cubicBezTo>
                    <a:pt x="274" y="0"/>
                    <a:pt x="281" y="5"/>
                    <a:pt x="283" y="11"/>
                  </a:cubicBezTo>
                  <a:cubicBezTo>
                    <a:pt x="495" y="542"/>
                    <a:pt x="495" y="542"/>
                    <a:pt x="495" y="542"/>
                  </a:cubicBezTo>
                  <a:cubicBezTo>
                    <a:pt x="500" y="554"/>
                    <a:pt x="491" y="566"/>
                    <a:pt x="479" y="566"/>
                  </a:cubicBezTo>
                  <a:cubicBezTo>
                    <a:pt x="462" y="566"/>
                    <a:pt x="462" y="566"/>
                    <a:pt x="462" y="566"/>
                  </a:cubicBezTo>
                  <a:cubicBezTo>
                    <a:pt x="455" y="566"/>
                    <a:pt x="448" y="562"/>
                    <a:pt x="446" y="555"/>
                  </a:cubicBezTo>
                  <a:cubicBezTo>
                    <a:pt x="393" y="424"/>
                    <a:pt x="393" y="424"/>
                    <a:pt x="393" y="424"/>
                  </a:cubicBezTo>
                  <a:cubicBezTo>
                    <a:pt x="391" y="418"/>
                    <a:pt x="384" y="414"/>
                    <a:pt x="377" y="414"/>
                  </a:cubicBezTo>
                  <a:cubicBezTo>
                    <a:pt x="119" y="414"/>
                    <a:pt x="119" y="414"/>
                    <a:pt x="119" y="414"/>
                  </a:cubicBezTo>
                  <a:cubicBezTo>
                    <a:pt x="112" y="414"/>
                    <a:pt x="106" y="418"/>
                    <a:pt x="103" y="424"/>
                  </a:cubicBezTo>
                  <a:cubicBezTo>
                    <a:pt x="51" y="555"/>
                    <a:pt x="51" y="555"/>
                    <a:pt x="51" y="555"/>
                  </a:cubicBezTo>
                  <a:cubicBezTo>
                    <a:pt x="49" y="561"/>
                    <a:pt x="42" y="566"/>
                    <a:pt x="35" y="566"/>
                  </a:cubicBezTo>
                  <a:close/>
                  <a:moveTo>
                    <a:pt x="149" y="367"/>
                  </a:moveTo>
                  <a:cubicBezTo>
                    <a:pt x="345" y="367"/>
                    <a:pt x="345" y="367"/>
                    <a:pt x="345" y="367"/>
                  </a:cubicBezTo>
                  <a:cubicBezTo>
                    <a:pt x="358" y="367"/>
                    <a:pt x="366" y="355"/>
                    <a:pt x="362" y="344"/>
                  </a:cubicBezTo>
                  <a:cubicBezTo>
                    <a:pt x="265" y="91"/>
                    <a:pt x="265" y="91"/>
                    <a:pt x="265" y="91"/>
                  </a:cubicBezTo>
                  <a:cubicBezTo>
                    <a:pt x="259" y="76"/>
                    <a:pt x="238" y="76"/>
                    <a:pt x="232" y="91"/>
                  </a:cubicBezTo>
                  <a:cubicBezTo>
                    <a:pt x="133" y="343"/>
                    <a:pt x="133" y="343"/>
                    <a:pt x="133" y="343"/>
                  </a:cubicBezTo>
                  <a:cubicBezTo>
                    <a:pt x="128" y="355"/>
                    <a:pt x="136" y="367"/>
                    <a:pt x="149" y="3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6"/>
            <p:cNvSpPr>
              <a:spLocks noEditPoints="1"/>
            </p:cNvSpPr>
            <p:nvPr/>
          </p:nvSpPr>
          <p:spPr bwMode="auto">
            <a:xfrm>
              <a:off x="7145338" y="4751388"/>
              <a:ext cx="1304925" cy="1739900"/>
            </a:xfrm>
            <a:custGeom>
              <a:avLst/>
              <a:gdLst>
                <a:gd name="T0" fmla="*/ 239 w 307"/>
                <a:gd name="T1" fmla="*/ 161 h 409"/>
                <a:gd name="T2" fmla="*/ 256 w 307"/>
                <a:gd name="T3" fmla="*/ 144 h 409"/>
                <a:gd name="T4" fmla="*/ 256 w 307"/>
                <a:gd name="T5" fmla="*/ 125 h 409"/>
                <a:gd name="T6" fmla="*/ 164 w 307"/>
                <a:gd name="T7" fmla="*/ 43 h 409"/>
                <a:gd name="T8" fmla="*/ 69 w 307"/>
                <a:gd name="T9" fmla="*/ 97 h 409"/>
                <a:gd name="T10" fmla="*/ 53 w 307"/>
                <a:gd name="T11" fmla="*/ 110 h 409"/>
                <a:gd name="T12" fmla="*/ 40 w 307"/>
                <a:gd name="T13" fmla="*/ 110 h 409"/>
                <a:gd name="T14" fmla="*/ 23 w 307"/>
                <a:gd name="T15" fmla="*/ 87 h 409"/>
                <a:gd name="T16" fmla="*/ 165 w 307"/>
                <a:gd name="T17" fmla="*/ 0 h 409"/>
                <a:gd name="T18" fmla="*/ 305 w 307"/>
                <a:gd name="T19" fmla="*/ 128 h 409"/>
                <a:gd name="T20" fmla="*/ 305 w 307"/>
                <a:gd name="T21" fmla="*/ 315 h 409"/>
                <a:gd name="T22" fmla="*/ 306 w 307"/>
                <a:gd name="T23" fmla="*/ 384 h 409"/>
                <a:gd name="T24" fmla="*/ 289 w 307"/>
                <a:gd name="T25" fmla="*/ 403 h 409"/>
                <a:gd name="T26" fmla="*/ 276 w 307"/>
                <a:gd name="T27" fmla="*/ 403 h 409"/>
                <a:gd name="T28" fmla="*/ 259 w 307"/>
                <a:gd name="T29" fmla="*/ 387 h 409"/>
                <a:gd name="T30" fmla="*/ 257 w 307"/>
                <a:gd name="T31" fmla="*/ 345 h 409"/>
                <a:gd name="T32" fmla="*/ 254 w 307"/>
                <a:gd name="T33" fmla="*/ 351 h 409"/>
                <a:gd name="T34" fmla="*/ 133 w 307"/>
                <a:gd name="T35" fmla="*/ 409 h 409"/>
                <a:gd name="T36" fmla="*/ 130 w 307"/>
                <a:gd name="T37" fmla="*/ 409 h 409"/>
                <a:gd name="T38" fmla="*/ 0 w 307"/>
                <a:gd name="T39" fmla="*/ 293 h 409"/>
                <a:gd name="T40" fmla="*/ 79 w 307"/>
                <a:gd name="T41" fmla="*/ 180 h 409"/>
                <a:gd name="T42" fmla="*/ 211 w 307"/>
                <a:gd name="T43" fmla="*/ 161 h 409"/>
                <a:gd name="T44" fmla="*/ 239 w 307"/>
                <a:gd name="T45" fmla="*/ 161 h 409"/>
                <a:gd name="T46" fmla="*/ 52 w 307"/>
                <a:gd name="T47" fmla="*/ 293 h 409"/>
                <a:gd name="T48" fmla="*/ 140 w 307"/>
                <a:gd name="T49" fmla="*/ 372 h 409"/>
                <a:gd name="T50" fmla="*/ 257 w 307"/>
                <a:gd name="T51" fmla="*/ 221 h 409"/>
                <a:gd name="T52" fmla="*/ 240 w 307"/>
                <a:gd name="T53" fmla="*/ 204 h 409"/>
                <a:gd name="T54" fmla="*/ 229 w 307"/>
                <a:gd name="T55" fmla="*/ 204 h 409"/>
                <a:gd name="T56" fmla="*/ 52 w 307"/>
                <a:gd name="T57" fmla="*/ 293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7" h="409">
                  <a:moveTo>
                    <a:pt x="239" y="161"/>
                  </a:moveTo>
                  <a:cubicBezTo>
                    <a:pt x="248" y="161"/>
                    <a:pt x="256" y="154"/>
                    <a:pt x="256" y="144"/>
                  </a:cubicBezTo>
                  <a:cubicBezTo>
                    <a:pt x="256" y="125"/>
                    <a:pt x="256" y="125"/>
                    <a:pt x="256" y="125"/>
                  </a:cubicBezTo>
                  <a:cubicBezTo>
                    <a:pt x="254" y="68"/>
                    <a:pt x="223" y="41"/>
                    <a:pt x="164" y="43"/>
                  </a:cubicBezTo>
                  <a:cubicBezTo>
                    <a:pt x="111" y="43"/>
                    <a:pt x="79" y="61"/>
                    <a:pt x="69" y="97"/>
                  </a:cubicBezTo>
                  <a:cubicBezTo>
                    <a:pt x="67" y="105"/>
                    <a:pt x="60" y="110"/>
                    <a:pt x="53" y="110"/>
                  </a:cubicBezTo>
                  <a:cubicBezTo>
                    <a:pt x="40" y="110"/>
                    <a:pt x="40" y="110"/>
                    <a:pt x="40" y="110"/>
                  </a:cubicBezTo>
                  <a:cubicBezTo>
                    <a:pt x="28" y="110"/>
                    <a:pt x="20" y="99"/>
                    <a:pt x="23" y="87"/>
                  </a:cubicBezTo>
                  <a:cubicBezTo>
                    <a:pt x="41" y="29"/>
                    <a:pt x="88" y="0"/>
                    <a:pt x="165" y="0"/>
                  </a:cubicBezTo>
                  <a:cubicBezTo>
                    <a:pt x="256" y="2"/>
                    <a:pt x="303" y="45"/>
                    <a:pt x="305" y="128"/>
                  </a:cubicBezTo>
                  <a:cubicBezTo>
                    <a:pt x="305" y="315"/>
                    <a:pt x="305" y="315"/>
                    <a:pt x="305" y="315"/>
                  </a:cubicBezTo>
                  <a:cubicBezTo>
                    <a:pt x="304" y="338"/>
                    <a:pt x="304" y="361"/>
                    <a:pt x="306" y="384"/>
                  </a:cubicBezTo>
                  <a:cubicBezTo>
                    <a:pt x="307" y="394"/>
                    <a:pt x="299" y="403"/>
                    <a:pt x="289" y="403"/>
                  </a:cubicBezTo>
                  <a:cubicBezTo>
                    <a:pt x="276" y="403"/>
                    <a:pt x="276" y="403"/>
                    <a:pt x="276" y="403"/>
                  </a:cubicBezTo>
                  <a:cubicBezTo>
                    <a:pt x="267" y="403"/>
                    <a:pt x="259" y="396"/>
                    <a:pt x="259" y="387"/>
                  </a:cubicBezTo>
                  <a:cubicBezTo>
                    <a:pt x="257" y="345"/>
                    <a:pt x="257" y="345"/>
                    <a:pt x="257" y="345"/>
                  </a:cubicBezTo>
                  <a:cubicBezTo>
                    <a:pt x="254" y="351"/>
                    <a:pt x="254" y="351"/>
                    <a:pt x="254" y="351"/>
                  </a:cubicBezTo>
                  <a:cubicBezTo>
                    <a:pt x="231" y="385"/>
                    <a:pt x="191" y="405"/>
                    <a:pt x="133" y="409"/>
                  </a:cubicBezTo>
                  <a:cubicBezTo>
                    <a:pt x="132" y="409"/>
                    <a:pt x="131" y="409"/>
                    <a:pt x="130" y="409"/>
                  </a:cubicBezTo>
                  <a:cubicBezTo>
                    <a:pt x="47" y="405"/>
                    <a:pt x="4" y="366"/>
                    <a:pt x="0" y="293"/>
                  </a:cubicBezTo>
                  <a:cubicBezTo>
                    <a:pt x="2" y="240"/>
                    <a:pt x="28" y="202"/>
                    <a:pt x="79" y="180"/>
                  </a:cubicBezTo>
                  <a:cubicBezTo>
                    <a:pt x="106" y="170"/>
                    <a:pt x="150" y="163"/>
                    <a:pt x="211" y="161"/>
                  </a:cubicBezTo>
                  <a:lnTo>
                    <a:pt x="239" y="161"/>
                  </a:lnTo>
                  <a:close/>
                  <a:moveTo>
                    <a:pt x="52" y="293"/>
                  </a:moveTo>
                  <a:cubicBezTo>
                    <a:pt x="54" y="343"/>
                    <a:pt x="83" y="370"/>
                    <a:pt x="140" y="372"/>
                  </a:cubicBezTo>
                  <a:cubicBezTo>
                    <a:pt x="220" y="370"/>
                    <a:pt x="258" y="320"/>
                    <a:pt x="257" y="221"/>
                  </a:cubicBezTo>
                  <a:cubicBezTo>
                    <a:pt x="257" y="212"/>
                    <a:pt x="249" y="204"/>
                    <a:pt x="240" y="204"/>
                  </a:cubicBezTo>
                  <a:cubicBezTo>
                    <a:pt x="229" y="204"/>
                    <a:pt x="229" y="204"/>
                    <a:pt x="229" y="204"/>
                  </a:cubicBezTo>
                  <a:cubicBezTo>
                    <a:pt x="108" y="202"/>
                    <a:pt x="50" y="231"/>
                    <a:pt x="52" y="2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9" name="矩形 18"/>
          <p:cNvSpPr/>
          <p:nvPr/>
        </p:nvSpPr>
        <p:spPr>
          <a:xfrm>
            <a:off x="2320244" y="4074402"/>
            <a:ext cx="1107996" cy="369332"/>
          </a:xfrm>
          <a:prstGeom prst="rect">
            <a:avLst/>
          </a:prstGeom>
        </p:spPr>
        <p:txBody>
          <a:bodyPr wrap="none">
            <a:spAutoFit/>
          </a:bodyPr>
          <a:lstStyle/>
          <a:p>
            <a:pPr algn="ctr" fontAlgn="base">
              <a:spcBef>
                <a:spcPct val="0"/>
              </a:spcBef>
              <a:spcAft>
                <a:spcPct val="0"/>
              </a:spcAft>
              <a:buFont typeface="Arial" panose="020B0604020202020204" pitchFamily="34" charset="0"/>
              <a:buNone/>
            </a:pPr>
            <a:r>
              <a:rPr lang="zh-CN" altLang="en-US" dirty="0">
                <a:solidFill>
                  <a:schemeClr val="bg1"/>
                </a:solidFill>
                <a:latin typeface="微软雅黑" panose="020B0503020204020204" pitchFamily="34" charset="-122"/>
              </a:rPr>
              <a:t>屏幕尺寸</a:t>
            </a:r>
            <a:endParaRPr lang="en-US" altLang="zh-CN" dirty="0">
              <a:solidFill>
                <a:schemeClr val="bg1"/>
              </a:solidFill>
              <a:latin typeface="微软雅黑" panose="020B0503020204020204" pitchFamily="34" charset="-122"/>
            </a:endParaRPr>
          </a:p>
        </p:txBody>
      </p:sp>
      <p:sp>
        <p:nvSpPr>
          <p:cNvPr id="23" name="Freeform 10"/>
          <p:cNvSpPr>
            <a:spLocks noEditPoints="1"/>
          </p:cNvSpPr>
          <p:nvPr/>
        </p:nvSpPr>
        <p:spPr bwMode="auto">
          <a:xfrm>
            <a:off x="2448265" y="2722274"/>
            <a:ext cx="802092" cy="791153"/>
          </a:xfrm>
          <a:custGeom>
            <a:avLst/>
            <a:gdLst>
              <a:gd name="T0" fmla="*/ 675 w 685"/>
              <a:gd name="T1" fmla="*/ 15 h 675"/>
              <a:gd name="T2" fmla="*/ 630 w 685"/>
              <a:gd name="T3" fmla="*/ 15 h 675"/>
              <a:gd name="T4" fmla="*/ 465 w 685"/>
              <a:gd name="T5" fmla="*/ 180 h 675"/>
              <a:gd name="T6" fmla="*/ 465 w 685"/>
              <a:gd name="T7" fmla="*/ 75 h 675"/>
              <a:gd name="T8" fmla="*/ 435 w 685"/>
              <a:gd name="T9" fmla="*/ 40 h 675"/>
              <a:gd name="T10" fmla="*/ 400 w 685"/>
              <a:gd name="T11" fmla="*/ 75 h 675"/>
              <a:gd name="T12" fmla="*/ 400 w 685"/>
              <a:gd name="T13" fmla="*/ 255 h 675"/>
              <a:gd name="T14" fmla="*/ 410 w 685"/>
              <a:gd name="T15" fmla="*/ 280 h 675"/>
              <a:gd name="T16" fmla="*/ 430 w 685"/>
              <a:gd name="T17" fmla="*/ 290 h 675"/>
              <a:gd name="T18" fmla="*/ 615 w 685"/>
              <a:gd name="T19" fmla="*/ 290 h 675"/>
              <a:gd name="T20" fmla="*/ 650 w 685"/>
              <a:gd name="T21" fmla="*/ 260 h 675"/>
              <a:gd name="T22" fmla="*/ 615 w 685"/>
              <a:gd name="T23" fmla="*/ 230 h 675"/>
              <a:gd name="T24" fmla="*/ 510 w 685"/>
              <a:gd name="T25" fmla="*/ 230 h 675"/>
              <a:gd name="T26" fmla="*/ 670 w 685"/>
              <a:gd name="T27" fmla="*/ 65 h 675"/>
              <a:gd name="T28" fmla="*/ 675 w 685"/>
              <a:gd name="T29" fmla="*/ 15 h 675"/>
              <a:gd name="T30" fmla="*/ 260 w 685"/>
              <a:gd name="T31" fmla="*/ 390 h 675"/>
              <a:gd name="T32" fmla="*/ 70 w 685"/>
              <a:gd name="T33" fmla="*/ 390 h 675"/>
              <a:gd name="T34" fmla="*/ 40 w 685"/>
              <a:gd name="T35" fmla="*/ 425 h 675"/>
              <a:gd name="T36" fmla="*/ 70 w 685"/>
              <a:gd name="T37" fmla="*/ 455 h 675"/>
              <a:gd name="T38" fmla="*/ 180 w 685"/>
              <a:gd name="T39" fmla="*/ 455 h 675"/>
              <a:gd name="T40" fmla="*/ 15 w 685"/>
              <a:gd name="T41" fmla="*/ 620 h 675"/>
              <a:gd name="T42" fmla="*/ 15 w 685"/>
              <a:gd name="T43" fmla="*/ 665 h 675"/>
              <a:gd name="T44" fmla="*/ 40 w 685"/>
              <a:gd name="T45" fmla="*/ 675 h 675"/>
              <a:gd name="T46" fmla="*/ 65 w 685"/>
              <a:gd name="T47" fmla="*/ 665 h 675"/>
              <a:gd name="T48" fmla="*/ 230 w 685"/>
              <a:gd name="T49" fmla="*/ 500 h 675"/>
              <a:gd name="T50" fmla="*/ 230 w 685"/>
              <a:gd name="T51" fmla="*/ 605 h 675"/>
              <a:gd name="T52" fmla="*/ 260 w 685"/>
              <a:gd name="T53" fmla="*/ 640 h 675"/>
              <a:gd name="T54" fmla="*/ 295 w 685"/>
              <a:gd name="T55" fmla="*/ 610 h 675"/>
              <a:gd name="T56" fmla="*/ 300 w 685"/>
              <a:gd name="T57" fmla="*/ 425 h 675"/>
              <a:gd name="T58" fmla="*/ 290 w 685"/>
              <a:gd name="T59" fmla="*/ 400 h 675"/>
              <a:gd name="T60" fmla="*/ 260 w 685"/>
              <a:gd name="T61" fmla="*/ 39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85" h="675">
                <a:moveTo>
                  <a:pt x="675" y="15"/>
                </a:moveTo>
                <a:cubicBezTo>
                  <a:pt x="660" y="0"/>
                  <a:pt x="640" y="5"/>
                  <a:pt x="630" y="15"/>
                </a:cubicBezTo>
                <a:cubicBezTo>
                  <a:pt x="465" y="180"/>
                  <a:pt x="465" y="180"/>
                  <a:pt x="465" y="180"/>
                </a:cubicBezTo>
                <a:cubicBezTo>
                  <a:pt x="465" y="75"/>
                  <a:pt x="465" y="75"/>
                  <a:pt x="465" y="75"/>
                </a:cubicBezTo>
                <a:cubicBezTo>
                  <a:pt x="465" y="55"/>
                  <a:pt x="450" y="40"/>
                  <a:pt x="435" y="40"/>
                </a:cubicBezTo>
                <a:cubicBezTo>
                  <a:pt x="415" y="40"/>
                  <a:pt x="400" y="55"/>
                  <a:pt x="400" y="75"/>
                </a:cubicBezTo>
                <a:cubicBezTo>
                  <a:pt x="400" y="255"/>
                  <a:pt x="400" y="255"/>
                  <a:pt x="400" y="255"/>
                </a:cubicBezTo>
                <a:cubicBezTo>
                  <a:pt x="400" y="265"/>
                  <a:pt x="405" y="270"/>
                  <a:pt x="410" y="280"/>
                </a:cubicBezTo>
                <a:cubicBezTo>
                  <a:pt x="415" y="285"/>
                  <a:pt x="425" y="290"/>
                  <a:pt x="430" y="290"/>
                </a:cubicBezTo>
                <a:cubicBezTo>
                  <a:pt x="615" y="290"/>
                  <a:pt x="615" y="290"/>
                  <a:pt x="615" y="290"/>
                </a:cubicBezTo>
                <a:cubicBezTo>
                  <a:pt x="635" y="290"/>
                  <a:pt x="650" y="275"/>
                  <a:pt x="650" y="260"/>
                </a:cubicBezTo>
                <a:cubicBezTo>
                  <a:pt x="650" y="245"/>
                  <a:pt x="635" y="230"/>
                  <a:pt x="615" y="230"/>
                </a:cubicBezTo>
                <a:cubicBezTo>
                  <a:pt x="510" y="230"/>
                  <a:pt x="510" y="230"/>
                  <a:pt x="510" y="230"/>
                </a:cubicBezTo>
                <a:cubicBezTo>
                  <a:pt x="670" y="65"/>
                  <a:pt x="670" y="65"/>
                  <a:pt x="670" y="65"/>
                </a:cubicBezTo>
                <a:cubicBezTo>
                  <a:pt x="685" y="45"/>
                  <a:pt x="685" y="25"/>
                  <a:pt x="675" y="15"/>
                </a:cubicBezTo>
                <a:close/>
                <a:moveTo>
                  <a:pt x="260" y="390"/>
                </a:moveTo>
                <a:cubicBezTo>
                  <a:pt x="70" y="390"/>
                  <a:pt x="70" y="390"/>
                  <a:pt x="70" y="390"/>
                </a:cubicBezTo>
                <a:cubicBezTo>
                  <a:pt x="55" y="390"/>
                  <a:pt x="40" y="405"/>
                  <a:pt x="40" y="425"/>
                </a:cubicBezTo>
                <a:cubicBezTo>
                  <a:pt x="40" y="445"/>
                  <a:pt x="55" y="455"/>
                  <a:pt x="70" y="455"/>
                </a:cubicBezTo>
                <a:cubicBezTo>
                  <a:pt x="180" y="455"/>
                  <a:pt x="180" y="455"/>
                  <a:pt x="180" y="455"/>
                </a:cubicBezTo>
                <a:cubicBezTo>
                  <a:pt x="15" y="620"/>
                  <a:pt x="15" y="620"/>
                  <a:pt x="15" y="620"/>
                </a:cubicBezTo>
                <a:cubicBezTo>
                  <a:pt x="0" y="635"/>
                  <a:pt x="0" y="655"/>
                  <a:pt x="15" y="665"/>
                </a:cubicBezTo>
                <a:cubicBezTo>
                  <a:pt x="20" y="670"/>
                  <a:pt x="30" y="675"/>
                  <a:pt x="40" y="675"/>
                </a:cubicBezTo>
                <a:cubicBezTo>
                  <a:pt x="50" y="675"/>
                  <a:pt x="55" y="670"/>
                  <a:pt x="65" y="665"/>
                </a:cubicBezTo>
                <a:cubicBezTo>
                  <a:pt x="230" y="500"/>
                  <a:pt x="230" y="500"/>
                  <a:pt x="230" y="500"/>
                </a:cubicBezTo>
                <a:cubicBezTo>
                  <a:pt x="230" y="605"/>
                  <a:pt x="230" y="605"/>
                  <a:pt x="230" y="605"/>
                </a:cubicBezTo>
                <a:cubicBezTo>
                  <a:pt x="230" y="625"/>
                  <a:pt x="245" y="640"/>
                  <a:pt x="260" y="640"/>
                </a:cubicBezTo>
                <a:cubicBezTo>
                  <a:pt x="280" y="640"/>
                  <a:pt x="290" y="625"/>
                  <a:pt x="295" y="610"/>
                </a:cubicBezTo>
                <a:cubicBezTo>
                  <a:pt x="300" y="425"/>
                  <a:pt x="300" y="425"/>
                  <a:pt x="300" y="425"/>
                </a:cubicBezTo>
                <a:cubicBezTo>
                  <a:pt x="300" y="415"/>
                  <a:pt x="295" y="410"/>
                  <a:pt x="290" y="400"/>
                </a:cubicBezTo>
                <a:cubicBezTo>
                  <a:pt x="275" y="395"/>
                  <a:pt x="265" y="390"/>
                  <a:pt x="260" y="39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矩形 23"/>
          <p:cNvSpPr/>
          <p:nvPr/>
        </p:nvSpPr>
        <p:spPr>
          <a:xfrm>
            <a:off x="5542002" y="4074402"/>
            <a:ext cx="1107996" cy="369332"/>
          </a:xfrm>
          <a:prstGeom prst="rect">
            <a:avLst/>
          </a:prstGeom>
        </p:spPr>
        <p:txBody>
          <a:bodyPr wrap="none">
            <a:spAutoFit/>
          </a:bodyPr>
          <a:lstStyle/>
          <a:p>
            <a:pPr algn="ctr" fontAlgn="base">
              <a:spcBef>
                <a:spcPct val="0"/>
              </a:spcBef>
              <a:spcAft>
                <a:spcPct val="0"/>
              </a:spcAft>
              <a:buFont typeface="Arial" panose="020B0604020202020204" pitchFamily="34" charset="0"/>
              <a:buNone/>
            </a:pPr>
            <a:r>
              <a:rPr lang="zh-CN" altLang="en-US" dirty="0">
                <a:solidFill>
                  <a:schemeClr val="bg1"/>
                </a:solidFill>
                <a:latin typeface="微软雅黑" panose="020B0503020204020204" pitchFamily="34" charset="-122"/>
              </a:rPr>
              <a:t>特殊字体</a:t>
            </a:r>
            <a:endParaRPr lang="en-US" altLang="zh-CN" dirty="0">
              <a:solidFill>
                <a:schemeClr val="bg1"/>
              </a:solidFill>
              <a:latin typeface="微软雅黑" panose="020B0503020204020204" pitchFamily="34" charset="-122"/>
            </a:endParaRPr>
          </a:p>
        </p:txBody>
      </p:sp>
      <p:sp>
        <p:nvSpPr>
          <p:cNvPr id="28" name="Freeform 14"/>
          <p:cNvSpPr>
            <a:spLocks noEditPoints="1"/>
          </p:cNvSpPr>
          <p:nvPr/>
        </p:nvSpPr>
        <p:spPr bwMode="auto">
          <a:xfrm>
            <a:off x="8923383" y="2771057"/>
            <a:ext cx="642773" cy="725627"/>
          </a:xfrm>
          <a:custGeom>
            <a:avLst/>
            <a:gdLst>
              <a:gd name="T0" fmla="*/ 402 w 550"/>
              <a:gd name="T1" fmla="*/ 13 h 621"/>
              <a:gd name="T2" fmla="*/ 448 w 550"/>
              <a:gd name="T3" fmla="*/ 14 h 621"/>
              <a:gd name="T4" fmla="*/ 518 w 550"/>
              <a:gd name="T5" fmla="*/ 84 h 621"/>
              <a:gd name="T6" fmla="*/ 519 w 550"/>
              <a:gd name="T7" fmla="*/ 130 h 621"/>
              <a:gd name="T8" fmla="*/ 171 w 550"/>
              <a:gd name="T9" fmla="*/ 479 h 621"/>
              <a:gd name="T10" fmla="*/ 145 w 550"/>
              <a:gd name="T11" fmla="*/ 494 h 621"/>
              <a:gd name="T12" fmla="*/ 32 w 550"/>
              <a:gd name="T13" fmla="*/ 525 h 621"/>
              <a:gd name="T14" fmla="*/ 9 w 550"/>
              <a:gd name="T15" fmla="*/ 502 h 621"/>
              <a:gd name="T16" fmla="*/ 38 w 550"/>
              <a:gd name="T17" fmla="*/ 387 h 621"/>
              <a:gd name="T18" fmla="*/ 53 w 550"/>
              <a:gd name="T19" fmla="*/ 361 h 621"/>
              <a:gd name="T20" fmla="*/ 402 w 550"/>
              <a:gd name="T21" fmla="*/ 13 h 621"/>
              <a:gd name="T22" fmla="*/ 77 w 550"/>
              <a:gd name="T23" fmla="*/ 384 h 621"/>
              <a:gd name="T24" fmla="*/ 70 w 550"/>
              <a:gd name="T25" fmla="*/ 397 h 621"/>
              <a:gd name="T26" fmla="*/ 47 w 550"/>
              <a:gd name="T27" fmla="*/ 487 h 621"/>
              <a:gd name="T28" fmla="*/ 135 w 550"/>
              <a:gd name="T29" fmla="*/ 463 h 621"/>
              <a:gd name="T30" fmla="*/ 148 w 550"/>
              <a:gd name="T31" fmla="*/ 455 h 621"/>
              <a:gd name="T32" fmla="*/ 496 w 550"/>
              <a:gd name="T33" fmla="*/ 107 h 621"/>
              <a:gd name="T34" fmla="*/ 425 w 550"/>
              <a:gd name="T35" fmla="*/ 36 h 621"/>
              <a:gd name="T36" fmla="*/ 77 w 550"/>
              <a:gd name="T37" fmla="*/ 384 h 621"/>
              <a:gd name="T38" fmla="*/ 400 w 550"/>
              <a:gd name="T39" fmla="*/ 61 h 621"/>
              <a:gd name="T40" fmla="*/ 471 w 550"/>
              <a:gd name="T41" fmla="*/ 132 h 621"/>
              <a:gd name="T42" fmla="*/ 448 w 550"/>
              <a:gd name="T43" fmla="*/ 155 h 621"/>
              <a:gd name="T44" fmla="*/ 377 w 550"/>
              <a:gd name="T45" fmla="*/ 84 h 621"/>
              <a:gd name="T46" fmla="*/ 400 w 550"/>
              <a:gd name="T47" fmla="*/ 61 h 621"/>
              <a:gd name="T48" fmla="*/ 118 w 550"/>
              <a:gd name="T49" fmla="*/ 344 h 621"/>
              <a:gd name="T50" fmla="*/ 188 w 550"/>
              <a:gd name="T51" fmla="*/ 414 h 621"/>
              <a:gd name="T52" fmla="*/ 165 w 550"/>
              <a:gd name="T53" fmla="*/ 438 h 621"/>
              <a:gd name="T54" fmla="*/ 94 w 550"/>
              <a:gd name="T55" fmla="*/ 367 h 621"/>
              <a:gd name="T56" fmla="*/ 118 w 550"/>
              <a:gd name="T57" fmla="*/ 344 h 621"/>
              <a:gd name="T58" fmla="*/ 0 w 550"/>
              <a:gd name="T59" fmla="*/ 604 h 621"/>
              <a:gd name="T60" fmla="*/ 17 w 550"/>
              <a:gd name="T61" fmla="*/ 588 h 621"/>
              <a:gd name="T62" fmla="*/ 534 w 550"/>
              <a:gd name="T63" fmla="*/ 588 h 621"/>
              <a:gd name="T64" fmla="*/ 550 w 550"/>
              <a:gd name="T65" fmla="*/ 604 h 621"/>
              <a:gd name="T66" fmla="*/ 534 w 550"/>
              <a:gd name="T67" fmla="*/ 621 h 621"/>
              <a:gd name="T68" fmla="*/ 17 w 550"/>
              <a:gd name="T69" fmla="*/ 621 h 621"/>
              <a:gd name="T70" fmla="*/ 0 w 550"/>
              <a:gd name="T71" fmla="*/ 604 h 621"/>
              <a:gd name="T72" fmla="*/ 0 w 550"/>
              <a:gd name="T73" fmla="*/ 604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50" h="621">
                <a:moveTo>
                  <a:pt x="402" y="13"/>
                </a:moveTo>
                <a:cubicBezTo>
                  <a:pt x="414" y="0"/>
                  <a:pt x="434" y="1"/>
                  <a:pt x="448" y="14"/>
                </a:cubicBezTo>
                <a:cubicBezTo>
                  <a:pt x="518" y="84"/>
                  <a:pt x="518" y="84"/>
                  <a:pt x="518" y="84"/>
                </a:cubicBezTo>
                <a:cubicBezTo>
                  <a:pt x="531" y="97"/>
                  <a:pt x="532" y="118"/>
                  <a:pt x="519" y="130"/>
                </a:cubicBezTo>
                <a:cubicBezTo>
                  <a:pt x="171" y="479"/>
                  <a:pt x="171" y="479"/>
                  <a:pt x="171" y="479"/>
                </a:cubicBezTo>
                <a:cubicBezTo>
                  <a:pt x="165" y="485"/>
                  <a:pt x="153" y="492"/>
                  <a:pt x="145" y="494"/>
                </a:cubicBezTo>
                <a:cubicBezTo>
                  <a:pt x="32" y="525"/>
                  <a:pt x="32" y="525"/>
                  <a:pt x="32" y="525"/>
                </a:cubicBezTo>
                <a:cubicBezTo>
                  <a:pt x="15" y="529"/>
                  <a:pt x="5" y="519"/>
                  <a:pt x="9" y="502"/>
                </a:cubicBezTo>
                <a:cubicBezTo>
                  <a:pt x="38" y="387"/>
                  <a:pt x="38" y="387"/>
                  <a:pt x="38" y="387"/>
                </a:cubicBezTo>
                <a:cubicBezTo>
                  <a:pt x="40" y="379"/>
                  <a:pt x="47" y="367"/>
                  <a:pt x="53" y="361"/>
                </a:cubicBezTo>
                <a:cubicBezTo>
                  <a:pt x="402" y="13"/>
                  <a:pt x="402" y="13"/>
                  <a:pt x="402" y="13"/>
                </a:cubicBezTo>
                <a:close/>
                <a:moveTo>
                  <a:pt x="77" y="384"/>
                </a:moveTo>
                <a:cubicBezTo>
                  <a:pt x="75" y="387"/>
                  <a:pt x="71" y="394"/>
                  <a:pt x="70" y="397"/>
                </a:cubicBezTo>
                <a:cubicBezTo>
                  <a:pt x="47" y="487"/>
                  <a:pt x="47" y="487"/>
                  <a:pt x="47" y="487"/>
                </a:cubicBezTo>
                <a:cubicBezTo>
                  <a:pt x="135" y="463"/>
                  <a:pt x="135" y="463"/>
                  <a:pt x="135" y="463"/>
                </a:cubicBezTo>
                <a:cubicBezTo>
                  <a:pt x="138" y="462"/>
                  <a:pt x="145" y="458"/>
                  <a:pt x="148" y="455"/>
                </a:cubicBezTo>
                <a:cubicBezTo>
                  <a:pt x="496" y="107"/>
                  <a:pt x="496" y="107"/>
                  <a:pt x="496" y="107"/>
                </a:cubicBezTo>
                <a:cubicBezTo>
                  <a:pt x="425" y="36"/>
                  <a:pt x="425" y="36"/>
                  <a:pt x="425" y="36"/>
                </a:cubicBezTo>
                <a:lnTo>
                  <a:pt x="77" y="384"/>
                </a:lnTo>
                <a:close/>
                <a:moveTo>
                  <a:pt x="400" y="61"/>
                </a:moveTo>
                <a:cubicBezTo>
                  <a:pt x="471" y="132"/>
                  <a:pt x="471" y="132"/>
                  <a:pt x="471" y="132"/>
                </a:cubicBezTo>
                <a:cubicBezTo>
                  <a:pt x="448" y="155"/>
                  <a:pt x="448" y="155"/>
                  <a:pt x="448" y="155"/>
                </a:cubicBezTo>
                <a:cubicBezTo>
                  <a:pt x="377" y="84"/>
                  <a:pt x="377" y="84"/>
                  <a:pt x="377" y="84"/>
                </a:cubicBezTo>
                <a:cubicBezTo>
                  <a:pt x="400" y="61"/>
                  <a:pt x="400" y="61"/>
                  <a:pt x="400" y="61"/>
                </a:cubicBezTo>
                <a:close/>
                <a:moveTo>
                  <a:pt x="118" y="344"/>
                </a:moveTo>
                <a:cubicBezTo>
                  <a:pt x="188" y="414"/>
                  <a:pt x="188" y="414"/>
                  <a:pt x="188" y="414"/>
                </a:cubicBezTo>
                <a:cubicBezTo>
                  <a:pt x="165" y="438"/>
                  <a:pt x="165" y="438"/>
                  <a:pt x="165" y="438"/>
                </a:cubicBezTo>
                <a:cubicBezTo>
                  <a:pt x="94" y="367"/>
                  <a:pt x="94" y="367"/>
                  <a:pt x="94" y="367"/>
                </a:cubicBezTo>
                <a:cubicBezTo>
                  <a:pt x="118" y="344"/>
                  <a:pt x="118" y="344"/>
                  <a:pt x="118" y="344"/>
                </a:cubicBezTo>
                <a:close/>
                <a:moveTo>
                  <a:pt x="0" y="604"/>
                </a:moveTo>
                <a:cubicBezTo>
                  <a:pt x="0" y="595"/>
                  <a:pt x="8" y="588"/>
                  <a:pt x="17" y="588"/>
                </a:cubicBezTo>
                <a:cubicBezTo>
                  <a:pt x="534" y="588"/>
                  <a:pt x="534" y="588"/>
                  <a:pt x="534" y="588"/>
                </a:cubicBezTo>
                <a:cubicBezTo>
                  <a:pt x="543" y="588"/>
                  <a:pt x="550" y="595"/>
                  <a:pt x="550" y="604"/>
                </a:cubicBezTo>
                <a:cubicBezTo>
                  <a:pt x="550" y="614"/>
                  <a:pt x="543" y="621"/>
                  <a:pt x="534" y="621"/>
                </a:cubicBezTo>
                <a:cubicBezTo>
                  <a:pt x="17" y="621"/>
                  <a:pt x="17" y="621"/>
                  <a:pt x="17" y="621"/>
                </a:cubicBezTo>
                <a:cubicBezTo>
                  <a:pt x="8" y="621"/>
                  <a:pt x="0" y="614"/>
                  <a:pt x="0" y="604"/>
                </a:cubicBezTo>
                <a:cubicBezTo>
                  <a:pt x="0" y="604"/>
                  <a:pt x="0" y="604"/>
                  <a:pt x="0" y="60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矩形 28"/>
          <p:cNvSpPr/>
          <p:nvPr/>
        </p:nvSpPr>
        <p:spPr>
          <a:xfrm>
            <a:off x="8690771" y="4074402"/>
            <a:ext cx="1107996" cy="369332"/>
          </a:xfrm>
          <a:prstGeom prst="rect">
            <a:avLst/>
          </a:prstGeom>
        </p:spPr>
        <p:txBody>
          <a:bodyPr wrap="none">
            <a:spAutoFit/>
          </a:bodyPr>
          <a:lstStyle/>
          <a:p>
            <a:pPr algn="ctr" fontAlgn="base">
              <a:spcBef>
                <a:spcPct val="0"/>
              </a:spcBef>
              <a:spcAft>
                <a:spcPct val="0"/>
              </a:spcAft>
              <a:buFont typeface="Arial" panose="020B0604020202020204" pitchFamily="34" charset="0"/>
              <a:buNone/>
            </a:pPr>
            <a:r>
              <a:rPr lang="zh-CN" altLang="en-US" dirty="0">
                <a:solidFill>
                  <a:schemeClr val="bg1"/>
                </a:solidFill>
                <a:latin typeface="微软雅黑" panose="020B0503020204020204" pitchFamily="34" charset="-122"/>
              </a:rPr>
              <a:t>方便修改</a:t>
            </a:r>
            <a:endParaRPr lang="en-US" altLang="zh-CN" dirty="0">
              <a:solidFill>
                <a:schemeClr val="bg1"/>
              </a:solidFill>
              <a:latin typeface="微软雅黑" panose="020B0503020204020204" pitchFamily="34" charset="-122"/>
            </a:endParaRPr>
          </a:p>
        </p:txBody>
      </p:sp>
      <p:sp>
        <p:nvSpPr>
          <p:cNvPr id="30" name="文本框 17"/>
          <p:cNvSpPr txBox="1">
            <a:spLocks noChangeArrowheads="1"/>
          </p:cNvSpPr>
          <p:nvPr/>
        </p:nvSpPr>
        <p:spPr bwMode="auto">
          <a:xfrm>
            <a:off x="8726838" y="4527344"/>
            <a:ext cx="10358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zh-CN" altLang="en-US" sz="1400" dirty="0">
                <a:solidFill>
                  <a:schemeClr val="bg1"/>
                </a:solidFill>
                <a:latin typeface="微软雅黑" panose="020B0503020204020204" pitchFamily="34" charset="-122"/>
              </a:rPr>
              <a:t>标题</a:t>
            </a:r>
            <a:r>
              <a:rPr lang="en-US" altLang="zh-CN" sz="1400" dirty="0">
                <a:solidFill>
                  <a:schemeClr val="bg1"/>
                </a:solidFill>
                <a:latin typeface="微软雅黑" panose="020B0503020204020204" pitchFamily="34" charset="-122"/>
              </a:rPr>
              <a:t>+</a:t>
            </a:r>
            <a:r>
              <a:rPr lang="zh-CN" altLang="en-US" sz="1400" dirty="0">
                <a:solidFill>
                  <a:schemeClr val="bg1"/>
                </a:solidFill>
                <a:latin typeface="微软雅黑" panose="020B0503020204020204" pitchFamily="34" charset="-122"/>
              </a:rPr>
              <a:t>内容</a:t>
            </a:r>
          </a:p>
        </p:txBody>
      </p:sp>
      <p:sp>
        <p:nvSpPr>
          <p:cNvPr id="20" name="文本框 17"/>
          <p:cNvSpPr txBox="1">
            <a:spLocks noChangeArrowheads="1"/>
          </p:cNvSpPr>
          <p:nvPr/>
        </p:nvSpPr>
        <p:spPr bwMode="auto">
          <a:xfrm>
            <a:off x="5693487" y="5131699"/>
            <a:ext cx="7633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en-US" altLang="zh-CN" sz="1400" dirty="0" err="1">
                <a:solidFill>
                  <a:schemeClr val="bg1"/>
                </a:solidFill>
                <a:latin typeface="微软雅黑" panose="020B0503020204020204" pitchFamily="34" charset="-122"/>
              </a:rPr>
              <a:t>Azonix</a:t>
            </a:r>
            <a:endParaRPr lang="zh-CN" altLang="en-US" sz="1400" dirty="0">
              <a:solidFill>
                <a:schemeClr val="bg1"/>
              </a:solidFill>
              <a:latin typeface="微软雅黑" panose="020B0503020204020204" pitchFamily="34" charset="-122"/>
            </a:endParaRPr>
          </a:p>
        </p:txBody>
      </p:sp>
      <p:sp>
        <p:nvSpPr>
          <p:cNvPr id="21" name="文本框 17"/>
          <p:cNvSpPr txBox="1">
            <a:spLocks noChangeArrowheads="1"/>
          </p:cNvSpPr>
          <p:nvPr/>
        </p:nvSpPr>
        <p:spPr bwMode="auto">
          <a:xfrm>
            <a:off x="4720303" y="4516145"/>
            <a:ext cx="270971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en-US" altLang="zh-CN" sz="1400">
                <a:solidFill>
                  <a:schemeClr val="bg1"/>
                </a:solidFill>
                <a:latin typeface="微软雅黑" panose="020B0503020204020204" pitchFamily="34" charset="-122"/>
              </a:rPr>
              <a:t>Bahnschrift Condensed (</a:t>
            </a:r>
            <a:r>
              <a:rPr lang="zh-CN" altLang="en-US" sz="1400">
                <a:solidFill>
                  <a:schemeClr val="bg1"/>
                </a:solidFill>
                <a:latin typeface="微软雅黑" panose="020B0503020204020204" pitchFamily="34" charset="-122"/>
              </a:rPr>
              <a:t>标题</a:t>
            </a:r>
            <a:r>
              <a:rPr lang="en-US" altLang="zh-CN" sz="1400">
                <a:solidFill>
                  <a:schemeClr val="bg1"/>
                </a:solidFill>
                <a:latin typeface="微软雅黑" panose="020B0503020204020204" pitchFamily="34" charset="-122"/>
              </a:rPr>
              <a:t>)</a:t>
            </a:r>
            <a:endParaRPr lang="zh-CN" altLang="en-US" sz="1400" dirty="0">
              <a:solidFill>
                <a:schemeClr val="bg1"/>
              </a:solidFill>
              <a:latin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4.0.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英文模板">
      <a:majorFont>
        <a:latin typeface="Bahnschrift Condensed"/>
        <a:ea typeface="文泉驿微米黑"/>
        <a:cs typeface=""/>
      </a:majorFont>
      <a:minorFont>
        <a:latin typeface="Calibri Light"/>
        <a:ea typeface="等线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1899</Words>
  <Application>Microsoft Office PowerPoint</Application>
  <PresentationFormat>宽屏</PresentationFormat>
  <Paragraphs>320</Paragraphs>
  <Slides>34</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47" baseType="lpstr">
      <vt:lpstr>Arial</vt:lpstr>
      <vt:lpstr>字体管家仿宋</vt:lpstr>
      <vt:lpstr>Bahnschrift Condensed</vt:lpstr>
      <vt:lpstr>Azonix</vt:lpstr>
      <vt:lpstr>方正黑体简体</vt:lpstr>
      <vt:lpstr>Calibri</vt:lpstr>
      <vt:lpstr>Lato</vt:lpstr>
      <vt:lpstr>Times New Roman</vt:lpstr>
      <vt:lpstr>Calibri Light</vt:lpstr>
      <vt:lpstr>微软雅黑</vt:lpstr>
      <vt:lpstr>等线</vt:lpstr>
      <vt:lpstr>Office 主题​​</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luo hai</dc:creator>
  <cp:lastModifiedBy>衍宁 何</cp:lastModifiedBy>
  <cp:revision>61</cp:revision>
  <dcterms:created xsi:type="dcterms:W3CDTF">2019-02-13T03:38:00Z</dcterms:created>
  <dcterms:modified xsi:type="dcterms:W3CDTF">2025-05-28T12:27:29Z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37B737121E654399AE81D722E8158961</vt:lpwstr>
  </property>
  <property fmtid="{D5CDD505-2E9C-101B-9397-08002B2CF9AE}" pid="3" name="KSOProductBuildVer">
    <vt:lpwstr>2052-11.8.2.8959</vt:lpwstr>
  </property>
  <property fmtid="{D5CDD505-2E9C-101B-9397-08002B2CF9AE}" pid="4" name="KSOTemplateUUID">
    <vt:lpwstr>v1.0_mb_bc+ckCrT6J3Pg6EaTp/dbg==</vt:lpwstr>
  </property>
</Properties>
</file>