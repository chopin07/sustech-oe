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3"/>
    <p:sldId id="327" r:id="rId4"/>
    <p:sldId id="352" r:id="rId5"/>
    <p:sldId id="351" r:id="rId6"/>
    <p:sldId id="341" r:id="rId7"/>
    <p:sldId id="342" r:id="rId8"/>
    <p:sldId id="340" r:id="rId9"/>
    <p:sldId id="339" r:id="rId10"/>
    <p:sldId id="336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287" r:id="rId20"/>
    <p:sldId id="288" r:id="rId21"/>
    <p:sldId id="286" r:id="rId22"/>
    <p:sldId id="290" r:id="rId23"/>
    <p:sldId id="285" r:id="rId24"/>
    <p:sldId id="284" r:id="rId25"/>
    <p:sldId id="283" r:id="rId26"/>
    <p:sldId id="282" r:id="rId27"/>
    <p:sldId id="281" r:id="rId28"/>
    <p:sldId id="280" r:id="rId29"/>
    <p:sldId id="279" r:id="rId30"/>
    <p:sldId id="278" r:id="rId31"/>
    <p:sldId id="277" r:id="rId32"/>
    <p:sldId id="276" r:id="rId33"/>
    <p:sldId id="275" r:id="rId34"/>
    <p:sldId id="291" r:id="rId35"/>
    <p:sldId id="274" r:id="rId36"/>
    <p:sldId id="273" r:id="rId37"/>
    <p:sldId id="292" r:id="rId38"/>
    <p:sldId id="272" r:id="rId39"/>
    <p:sldId id="271" r:id="rId40"/>
    <p:sldId id="270" r:id="rId41"/>
    <p:sldId id="269" r:id="rId42"/>
    <p:sldId id="268" r:id="rId43"/>
    <p:sldId id="267" r:id="rId44"/>
    <p:sldId id="265" r:id="rId45"/>
    <p:sldId id="266" r:id="rId46"/>
    <p:sldId id="264" r:id="rId47"/>
    <p:sldId id="263" r:id="rId48"/>
    <p:sldId id="262" r:id="rId49"/>
    <p:sldId id="257" r:id="rId50"/>
    <p:sldId id="259" r:id="rId51"/>
    <p:sldId id="261" r:id="rId52"/>
    <p:sldId id="260" r:id="rId53"/>
    <p:sldId id="322" r:id="rId55"/>
    <p:sldId id="324" r:id="rId56"/>
    <p:sldId id="323" r:id="rId57"/>
    <p:sldId id="258" r:id="rId58"/>
    <p:sldId id="325" r:id="rId59"/>
    <p:sldId id="326" r:id="rId60"/>
  </p:sldIdLst>
  <p:sldSz cx="12192000" cy="6858000"/>
  <p:notesSz cx="6858000" cy="9144000"/>
  <p:custDataLst>
    <p:tags r:id="rId6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4" Type="http://schemas.openxmlformats.org/officeDocument/2006/relationships/tags" Target="tags/tag3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jpeg"/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96.png"/><Relationship Id="rId12" Type="http://schemas.openxmlformats.org/officeDocument/2006/relationships/image" Target="../media/image95.png"/><Relationship Id="rId11" Type="http://schemas.openxmlformats.org/officeDocument/2006/relationships/image" Target="../media/image94.png"/><Relationship Id="rId10" Type="http://schemas.openxmlformats.org/officeDocument/2006/relationships/image" Target="../media/image93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7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1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png"/><Relationship Id="rId8" Type="http://schemas.openxmlformats.org/officeDocument/2006/relationships/image" Target="../media/image119.png"/><Relationship Id="rId7" Type="http://schemas.openxmlformats.org/officeDocument/2006/relationships/image" Target="../media/image118.png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1.png"/><Relationship Id="rId7" Type="http://schemas.openxmlformats.org/officeDocument/2006/relationships/image" Target="../media/image130.png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34.png"/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5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6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7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png"/><Relationship Id="rId8" Type="http://schemas.openxmlformats.org/officeDocument/2006/relationships/image" Target="../media/image146.png"/><Relationship Id="rId7" Type="http://schemas.openxmlformats.org/officeDocument/2006/relationships/image" Target="../media/image145.png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9.png"/><Relationship Id="rId3" Type="http://schemas.openxmlformats.org/officeDocument/2006/relationships/image" Target="../media/image148.png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0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1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4.png"/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1.png"/><Relationship Id="rId7" Type="http://schemas.openxmlformats.org/officeDocument/2006/relationships/image" Target="../media/image160.png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9.png"/><Relationship Id="rId7" Type="http://schemas.openxmlformats.org/officeDocument/2006/relationships/image" Target="../media/image168.png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7.png"/><Relationship Id="rId2" Type="http://schemas.openxmlformats.org/officeDocument/2006/relationships/image" Target="../media/image2.png"/><Relationship Id="rId1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71345" y="1846580"/>
            <a:ext cx="82886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6000">
                <a:latin typeface="楷体" panose="02010609060101010101" charset="-122"/>
                <a:ea typeface="楷体" panose="02010609060101010101" charset="-122"/>
              </a:rPr>
              <a:t>电路基础期末互助课堂</a:t>
            </a:r>
            <a:endParaRPr lang="zh-CN" altLang="en-US" sz="60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85360" y="3648710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堂主：李瑞卿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59059" y="539324"/>
            <a:ext cx="2831937" cy="5203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78790" y="353060"/>
            <a:ext cx="39471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期中前复习回顾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30" y="1250315"/>
            <a:ext cx="10366375" cy="48012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01260" y="291465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>
                <a:latin typeface="华文楷体" panose="02010600040101010101" charset="-122"/>
                <a:ea typeface="华文楷体" panose="02010600040101010101" charset="-122"/>
              </a:rPr>
              <a:t>课程大纲</a:t>
            </a:r>
            <a:endParaRPr lang="zh-CN" altLang="en-US"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81810" y="3361690"/>
            <a:ext cx="3211195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39595" y="4204970"/>
            <a:ext cx="3364230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830070" y="4712970"/>
            <a:ext cx="3622675" cy="86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" y="1580515"/>
            <a:ext cx="5641340" cy="3648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270" y="1466215"/>
            <a:ext cx="5923280" cy="37623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47420" y="495300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400">
                <a:latin typeface="华文楷体" panose="02010600040101010101" charset="-122"/>
                <a:ea typeface="华文楷体" panose="02010600040101010101" charset="-122"/>
              </a:rPr>
              <a:t>电流类型</a:t>
            </a:r>
            <a:endParaRPr lang="zh-CN" altLang="en-US" sz="440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125" y="2357120"/>
            <a:ext cx="4051300" cy="18326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4422775"/>
            <a:ext cx="4200525" cy="11334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6945" y="1338580"/>
            <a:ext cx="2613660" cy="7854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6565" y="2282825"/>
            <a:ext cx="2219325" cy="1981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7375" y="4403725"/>
            <a:ext cx="1957070" cy="1022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7975" y="1264285"/>
            <a:ext cx="2568575" cy="778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628063" y="5368637"/>
            <a:ext cx="35639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" lvl="0">
              <a:defRPr/>
            </a:pPr>
            <a:r>
              <a:rPr lang="zh-CN" altLang="en-US" dirty="0">
                <a:solidFill>
                  <a:srgbClr val="8B7567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en Sans" panose="020B0606030504020204" pitchFamily="34" charset="0"/>
              </a:rPr>
              <a:t>必要时可为图片添加注释内容</a:t>
            </a:r>
            <a:endParaRPr lang="en-US" altLang="zh-CN" dirty="0">
              <a:solidFill>
                <a:srgbClr val="8B7567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Open Sans" panose="020B0606030504020204" pitchFamily="34" charset="0"/>
            </a:endParaRPr>
          </a:p>
          <a:p>
            <a:pPr marL="74295" lvl="0">
              <a:defRPr/>
            </a:pPr>
            <a:r>
              <a:rPr lang="en-US" altLang="zh-CN" sz="1400" dirty="0">
                <a:solidFill>
                  <a:srgbClr val="8B7567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Open Sans" panose="020B0606030504020204" pitchFamily="34" charset="0"/>
              </a:rPr>
              <a:t>Add comment to the image if necessary</a:t>
            </a:r>
            <a:endParaRPr lang="zh-CN" altLang="en-US" sz="1400" dirty="0">
              <a:solidFill>
                <a:srgbClr val="8B7567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20" y="758190"/>
            <a:ext cx="4676775" cy="15944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755" y="1483995"/>
            <a:ext cx="6337935" cy="8686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3766820"/>
            <a:ext cx="6126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>
                <a:latin typeface="华文楷体" panose="02010600040101010101" charset="-122"/>
                <a:ea typeface="华文楷体" panose="02010600040101010101" charset="-122"/>
              </a:rPr>
              <a:t>电路也要符合物理规律！！！</a:t>
            </a:r>
            <a:endParaRPr lang="en-US" altLang="zh-CN"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48805" y="3323590"/>
            <a:ext cx="465328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8800">
                <a:latin typeface="华文楷体" panose="02010600040101010101" charset="-122"/>
                <a:ea typeface="华文楷体" panose="02010600040101010101" charset="-122"/>
              </a:rPr>
              <a:t>能量守恒</a:t>
            </a:r>
            <a:endParaRPr lang="zh-CN" altLang="en-US" sz="8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798185" y="3964940"/>
            <a:ext cx="1274445" cy="2489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" y="137795"/>
            <a:ext cx="5105400" cy="1905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060" y="2212340"/>
            <a:ext cx="2331085" cy="33381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105" y="137795"/>
            <a:ext cx="5143500" cy="1924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6170" y="2312670"/>
            <a:ext cx="2503170" cy="3263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05" y="553720"/>
            <a:ext cx="5181600" cy="6286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485" y="1649095"/>
            <a:ext cx="3328035" cy="29775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485" y="4853305"/>
            <a:ext cx="3375025" cy="4667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8970" y="553720"/>
            <a:ext cx="5200650" cy="6858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9145" y="1649095"/>
            <a:ext cx="4622800" cy="29768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1940" y="4791075"/>
            <a:ext cx="307657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335280"/>
            <a:ext cx="7560310" cy="9156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085" y="1709420"/>
            <a:ext cx="5441315" cy="4337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275" y="2435225"/>
            <a:ext cx="3641725" cy="30206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" y="2278380"/>
            <a:ext cx="3171825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45" y="423545"/>
            <a:ext cx="4181475" cy="781050"/>
          </a:xfrm>
          <a:prstGeom prst="rect">
            <a:avLst/>
          </a:prstGeom>
        </p:spPr>
      </p:pic>
      <p:pic>
        <p:nvPicPr>
          <p:cNvPr id="4" name="图片 3" descr="1d93dcd9a07ac350b13c6d792bfe69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420" y="1284605"/>
            <a:ext cx="5368925" cy="4937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685" y="1284605"/>
            <a:ext cx="2381250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1350010"/>
            <a:ext cx="6384925" cy="41109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00860" y="399415"/>
            <a:ext cx="6278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800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</a:rPr>
              <a:t>理想放大器和黄金法则</a:t>
            </a:r>
            <a:endParaRPr lang="zh-CN" altLang="en-US" sz="4800">
              <a:highlight>
                <a:srgbClr val="FFFF00"/>
              </a:highlight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215" y="2344420"/>
            <a:ext cx="5827395" cy="16586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51435"/>
            <a:ext cx="5789930" cy="6755130"/>
          </a:xfrm>
          <a:prstGeom prst="rect">
            <a:avLst/>
          </a:prstGeom>
        </p:spPr>
      </p:pic>
      <p:sp>
        <p:nvSpPr>
          <p:cNvPr id="3" name="右箭头 2"/>
          <p:cNvSpPr/>
          <p:nvPr/>
        </p:nvSpPr>
        <p:spPr>
          <a:xfrm>
            <a:off x="4763135" y="2321560"/>
            <a:ext cx="3095625" cy="29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063865" y="1828165"/>
            <a:ext cx="36118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5400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</a:rPr>
              <a:t>节点电压法</a:t>
            </a:r>
            <a:endParaRPr lang="zh-CN" altLang="en-US" sz="5400">
              <a:highlight>
                <a:srgbClr val="FFFF00"/>
              </a:highlight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438" r="1812"/>
          <a:stretch>
            <a:fillRect/>
          </a:stretch>
        </p:blipFill>
        <p:spPr>
          <a:xfrm>
            <a:off x="4264660" y="1523365"/>
            <a:ext cx="7650480" cy="3527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65" y="1875155"/>
            <a:ext cx="3771265" cy="3175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730" y="1513205"/>
            <a:ext cx="37719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90" y="889000"/>
            <a:ext cx="8164195" cy="57835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30300" y="305435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微分方程合集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6650"/>
            <a:ext cx="11982450" cy="2552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51580"/>
            <a:ext cx="11934825" cy="2981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" y="166370"/>
            <a:ext cx="2348230" cy="8045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90" y="1403985"/>
            <a:ext cx="10959465" cy="49980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90" y="1403985"/>
            <a:ext cx="10959465" cy="49980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5" y="1457325"/>
            <a:ext cx="10492740" cy="431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3036" r="2240"/>
          <a:stretch>
            <a:fillRect/>
          </a:stretch>
        </p:blipFill>
        <p:spPr>
          <a:xfrm>
            <a:off x="1111250" y="467360"/>
            <a:ext cx="9733280" cy="9899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0410" y="934085"/>
            <a:ext cx="10366375" cy="480123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542415" y="4981575"/>
            <a:ext cx="3326130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71565" y="2172970"/>
            <a:ext cx="4361180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152515" y="3140710"/>
            <a:ext cx="4016375" cy="105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68584" y="141814"/>
            <a:ext cx="2831937" cy="5203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05" y="553720"/>
            <a:ext cx="5181600" cy="6286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485" y="1649095"/>
            <a:ext cx="3328035" cy="29775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485" y="4853305"/>
            <a:ext cx="3375025" cy="4667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8970" y="553720"/>
            <a:ext cx="5200650" cy="6858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9145" y="1649095"/>
            <a:ext cx="4622800" cy="29768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1940" y="4791075"/>
            <a:ext cx="307657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417320"/>
            <a:ext cx="5239385" cy="40239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99770" y="457200"/>
            <a:ext cx="6910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</a:rPr>
              <a:t>二阶电路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</a:rPr>
              <a:t>——RLC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</a:rPr>
              <a:t>回路</a:t>
            </a:r>
            <a:endParaRPr lang="zh-CN" altLang="en-US" sz="36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45" y="2180590"/>
            <a:ext cx="5939155" cy="2649855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5634990" y="2862580"/>
            <a:ext cx="661670" cy="3930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503795" y="1012825"/>
            <a:ext cx="2926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KVL</a:t>
            </a:r>
            <a:r>
              <a:rPr lang="zh-CN" altLang="en-US" sz="4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分析：</a:t>
            </a:r>
            <a:endParaRPr lang="zh-CN" altLang="en-US" sz="4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660" y="963930"/>
            <a:ext cx="6572250" cy="137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075" y="2407285"/>
            <a:ext cx="2695575" cy="5905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46760" y="380365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二阶微分方程通解：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5310" y="2441575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>
                <a:latin typeface="楷体" panose="02010609060101010101" charset="-122"/>
                <a:ea typeface="楷体" panose="02010609060101010101" charset="-122"/>
                <a:sym typeface="+mn-ea"/>
              </a:rPr>
              <a:t>特征方程：</a:t>
            </a:r>
            <a:endParaRPr lang="zh-CN" altLang="en-US" sz="28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170" y="3615690"/>
            <a:ext cx="3505200" cy="1447800"/>
          </a:xfrm>
          <a:prstGeom prst="rect">
            <a:avLst/>
          </a:prstGeom>
        </p:spPr>
      </p:pic>
      <p:sp>
        <p:nvSpPr>
          <p:cNvPr id="13" name="右箭头 12"/>
          <p:cNvSpPr/>
          <p:nvPr/>
        </p:nvSpPr>
        <p:spPr>
          <a:xfrm>
            <a:off x="5107940" y="4181475"/>
            <a:ext cx="1667510" cy="3162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740" y="3558540"/>
            <a:ext cx="4572000" cy="15049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325" y="1393825"/>
            <a:ext cx="3286125" cy="1123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995" y="1393825"/>
            <a:ext cx="2800350" cy="1123950"/>
          </a:xfrm>
          <a:prstGeom prst="rect">
            <a:avLst/>
          </a:prstGeom>
        </p:spPr>
      </p:pic>
      <p:sp>
        <p:nvSpPr>
          <p:cNvPr id="4" name="右箭头 3"/>
          <p:cNvSpPr/>
          <p:nvPr/>
        </p:nvSpPr>
        <p:spPr>
          <a:xfrm>
            <a:off x="5247640" y="1923415"/>
            <a:ext cx="1447165" cy="3549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815" y="3049270"/>
            <a:ext cx="7877175" cy="10477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5120" y="3049270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特征解形式：</a:t>
            </a:r>
            <a:endParaRPr lang="zh-CN" altLang="en-US" sz="28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20" y="4505325"/>
            <a:ext cx="6953250" cy="8572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080" y="4347845"/>
            <a:ext cx="3790950" cy="1171575"/>
          </a:xfrm>
          <a:prstGeom prst="rect">
            <a:avLst/>
          </a:prstGeom>
        </p:spPr>
      </p:pic>
      <p:sp>
        <p:nvSpPr>
          <p:cNvPr id="9" name="左箭头 8"/>
          <p:cNvSpPr/>
          <p:nvPr/>
        </p:nvSpPr>
        <p:spPr>
          <a:xfrm>
            <a:off x="7278370" y="4760595"/>
            <a:ext cx="624205" cy="4857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3955" y="5471795"/>
            <a:ext cx="1743075" cy="4476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120" y="3571240"/>
            <a:ext cx="2095500" cy="381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8895" y="5519420"/>
            <a:ext cx="2066925" cy="4000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99770" y="457200"/>
            <a:ext cx="6910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</a:rPr>
              <a:t>二阶电路</a:t>
            </a:r>
            <a:r>
              <a:rPr lang="en-US" altLang="zh-CN" sz="3600">
                <a:latin typeface="楷体" panose="02010609060101010101" charset="-122"/>
                <a:ea typeface="楷体" panose="02010609060101010101" charset="-122"/>
              </a:rPr>
              <a:t>——RLC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</a:rPr>
              <a:t>回路</a:t>
            </a:r>
            <a:endParaRPr lang="zh-CN" altLang="en-US" sz="36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85" y="1451610"/>
            <a:ext cx="4962525" cy="6667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250" y="1389380"/>
            <a:ext cx="3762375" cy="8477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85" y="2755265"/>
            <a:ext cx="5924550" cy="600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2640965"/>
            <a:ext cx="3762375" cy="828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85" y="3992245"/>
            <a:ext cx="5067300" cy="7143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850" y="3992245"/>
            <a:ext cx="5695950" cy="7143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65810" y="524510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二阶电路的三种状态：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1138555"/>
            <a:ext cx="5532120" cy="28200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72515" y="313690"/>
            <a:ext cx="4043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含有电源的</a:t>
            </a:r>
            <a:r>
              <a:rPr lang="en-US" altLang="zh-CN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RLC</a:t>
            </a:r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回路：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715" y="3505835"/>
            <a:ext cx="4362450" cy="1219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715" y="224790"/>
            <a:ext cx="4152900" cy="251460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5673090" y="1530985"/>
            <a:ext cx="1160145" cy="3733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下箭头 6"/>
          <p:cNvSpPr/>
          <p:nvPr/>
        </p:nvSpPr>
        <p:spPr>
          <a:xfrm>
            <a:off x="9171940" y="2872740"/>
            <a:ext cx="402590" cy="5746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40715" y="4864735"/>
            <a:ext cx="9606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具有和前面二阶方程相同的解，只需要在</a:t>
            </a:r>
            <a:r>
              <a:rPr lang="en-US" altLang="zh-CN" sz="28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V</a:t>
            </a:r>
            <a:r>
              <a:rPr lang="zh-CN" altLang="en-US" sz="28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上补充一部分常数</a:t>
            </a:r>
            <a:endParaRPr lang="zh-CN" altLang="en-US" sz="28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22300" y="409575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正弦量：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85" y="1804670"/>
            <a:ext cx="4471670" cy="34975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205" y="1804670"/>
            <a:ext cx="3592195" cy="35413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39825" y="1076325"/>
            <a:ext cx="35128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cos(wt-90</a:t>
            </a:r>
            <a:r>
              <a:rPr lang="zh-CN" altLang="en-US" sz="3600"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°</a:t>
            </a:r>
            <a:r>
              <a:rPr lang="en-US" altLang="zh-CN" sz="3600"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)=sinwt</a:t>
            </a:r>
            <a:endParaRPr lang="en-US" altLang="zh-CN" sz="3600"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28205" y="1076325"/>
            <a:ext cx="39331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sin(wt+180</a:t>
            </a:r>
            <a:r>
              <a:rPr lang="zh-CN" altLang="en-US" sz="3600"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°</a:t>
            </a:r>
            <a:r>
              <a:rPr lang="en-US" altLang="zh-CN" sz="3600"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)=-sinwt</a:t>
            </a:r>
            <a:endParaRPr lang="en-US" altLang="zh-CN" sz="3600"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15549" y="409784"/>
            <a:ext cx="2831937" cy="5203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85" y="1608455"/>
            <a:ext cx="4848225" cy="35261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910" y="2317750"/>
            <a:ext cx="5876925" cy="1676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5810" y="763270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等频率正弦量的合成：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82224" y="534879"/>
            <a:ext cx="2831937" cy="5203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7365" y="370840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复相量法：时域变换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5" y="1139825"/>
            <a:ext cx="5810250" cy="6667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45" y="2567940"/>
            <a:ext cx="3057525" cy="514350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4436745" y="2728595"/>
            <a:ext cx="2569210" cy="1631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235" y="2363470"/>
            <a:ext cx="3648075" cy="92392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5555615" y="4158615"/>
            <a:ext cx="3876040" cy="963295"/>
            <a:chOff x="5562" y="5576"/>
            <a:chExt cx="3809" cy="88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62" y="5636"/>
              <a:ext cx="1425" cy="825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87" y="5576"/>
              <a:ext cx="2385" cy="885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709295" y="4382135"/>
            <a:ext cx="4093210" cy="5835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0000"/>
                </a:solidFill>
              </a:rPr>
              <a:t>取出</a:t>
            </a:r>
            <a:r>
              <a:rPr lang="en-US" altLang="zh-CN" sz="3200">
                <a:solidFill>
                  <a:srgbClr val="FF0000"/>
                </a:solidFill>
              </a:rPr>
              <a:t>v</a:t>
            </a:r>
            <a:r>
              <a:rPr lang="zh-CN" altLang="en-US" sz="3200">
                <a:solidFill>
                  <a:srgbClr val="FF0000"/>
                </a:solidFill>
              </a:rPr>
              <a:t>中最关键的信息：</a:t>
            </a:r>
            <a:endParaRPr lang="zh-CN" altLang="en-US" sz="3200">
              <a:solidFill>
                <a:srgbClr val="FF0000"/>
              </a:solidFill>
            </a:endParaRPr>
          </a:p>
        </p:txBody>
      </p:sp>
      <p:pic>
        <p:nvPicPr>
          <p:cNvPr id="14" name="图形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38714" y="496779"/>
            <a:ext cx="2831937" cy="5203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5" y="2846070"/>
            <a:ext cx="11230610" cy="32346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595" y="1073150"/>
            <a:ext cx="8005445" cy="1468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21640" y="400050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时域变换对照表：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4545" y="4156710"/>
            <a:ext cx="2242820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89925" y="4156710"/>
            <a:ext cx="1016000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46760" y="534035"/>
            <a:ext cx="8310880" cy="5835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时域变换的作用：线性化求导运算与积分运算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990" y="1353185"/>
            <a:ext cx="2485390" cy="15259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990" y="3298825"/>
            <a:ext cx="2522220" cy="1698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480" y="1353185"/>
            <a:ext cx="2651760" cy="15259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480" y="3298825"/>
            <a:ext cx="2651760" cy="16440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8990" y="1353185"/>
            <a:ext cx="1400175" cy="723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8990" y="3298825"/>
            <a:ext cx="1456690" cy="628015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>
          <a:xfrm>
            <a:off x="4283710" y="2211070"/>
            <a:ext cx="2127885" cy="230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4274185" y="4185920"/>
            <a:ext cx="2118360" cy="2584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3695" y="419100"/>
            <a:ext cx="10952480" cy="5835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复阻抗的由来：电器元件的作用是改变相位与模长</a:t>
            </a:r>
            <a:r>
              <a:rPr lang="en-US" altLang="zh-CN" sz="3200">
                <a:latin typeface="楷体" panose="02010609060101010101" charset="-122"/>
                <a:ea typeface="楷体" panose="02010609060101010101" charset="-122"/>
              </a:rPr>
              <a:t>         </a:t>
            </a:r>
            <a:endParaRPr lang="en-US" altLang="zh-CN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30" y="1120775"/>
            <a:ext cx="1409700" cy="381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" y="1760220"/>
            <a:ext cx="3295650" cy="2743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030" y="4699635"/>
            <a:ext cx="1143000" cy="409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t="18974" r="9689"/>
          <a:stretch>
            <a:fillRect/>
          </a:stretch>
        </p:blipFill>
        <p:spPr>
          <a:xfrm>
            <a:off x="1309370" y="5374640"/>
            <a:ext cx="1290320" cy="501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820" y="1082675"/>
            <a:ext cx="1390650" cy="419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6205" y="1760220"/>
            <a:ext cx="3400425" cy="28289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rcRect r="-662" b="9931"/>
          <a:stretch>
            <a:fillRect/>
          </a:stretch>
        </p:blipFill>
        <p:spPr>
          <a:xfrm>
            <a:off x="4944745" y="4589145"/>
            <a:ext cx="1256030" cy="8235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1385" y="5412740"/>
            <a:ext cx="1790700" cy="6953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7510" y="1035050"/>
            <a:ext cx="1514475" cy="4667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9270" y="1793875"/>
            <a:ext cx="3543300" cy="27622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53525" y="4556125"/>
            <a:ext cx="1494155" cy="9093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38920" y="5412740"/>
            <a:ext cx="152400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12420" y="236855"/>
            <a:ext cx="5059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基础电路元件的相域表示：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0" y="1036955"/>
            <a:ext cx="11321415" cy="53682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660" y="1046480"/>
            <a:ext cx="5972175" cy="4114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135" y="5246370"/>
            <a:ext cx="5981700" cy="1533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35" y="1046480"/>
            <a:ext cx="4695190" cy="40849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42645" y="332105"/>
            <a:ext cx="627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谁落后于谁？谁又超前于谁？</a:t>
            </a:r>
            <a:r>
              <a:rPr lang="en-US" altLang="zh-CN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endParaRPr lang="en-US" altLang="zh-CN" sz="3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335280"/>
            <a:ext cx="7560310" cy="9156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085" y="1709420"/>
            <a:ext cx="5441315" cy="4337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275" y="2435225"/>
            <a:ext cx="3641725" cy="30206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" y="2278380"/>
            <a:ext cx="3171825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24255"/>
            <a:ext cx="10934700" cy="48101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1250" y="399415"/>
            <a:ext cx="5059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相同的形式得到相同的结果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0" y="162560"/>
            <a:ext cx="5429885" cy="8870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55" y="1308735"/>
            <a:ext cx="3114675" cy="4667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25" y="4213860"/>
            <a:ext cx="6843395" cy="13804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8825" y="1744980"/>
            <a:ext cx="69246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67924" y="179914"/>
            <a:ext cx="2831937" cy="520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035" y="812800"/>
            <a:ext cx="9853930" cy="19729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" y="256540"/>
            <a:ext cx="4578985" cy="447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9835" y="179705"/>
            <a:ext cx="3895725" cy="523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035" y="3042285"/>
            <a:ext cx="9863455" cy="24980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53360" y="5968365"/>
            <a:ext cx="6685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</a:rPr>
              <a:t>在相域里面有着相同的等效电源定理</a:t>
            </a:r>
            <a:endParaRPr lang="zh-CN" altLang="en-US" sz="320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5" y="1769110"/>
            <a:ext cx="9810750" cy="11404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4370" y="778510"/>
            <a:ext cx="5059680" cy="5835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相域中交流电的瞬时功率：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840" y="2955925"/>
            <a:ext cx="9150985" cy="37153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965" y="417830"/>
            <a:ext cx="3657600" cy="130492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713105" y="673100"/>
            <a:ext cx="5059680" cy="5835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相域中交流电的平均功率：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" y="2180590"/>
            <a:ext cx="4250055" cy="13055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2959100"/>
            <a:ext cx="1819275" cy="10896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400" y="1343025"/>
            <a:ext cx="1819275" cy="108585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4916170" y="2536825"/>
            <a:ext cx="3134360" cy="2400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150" y="2247265"/>
            <a:ext cx="3688715" cy="1010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9540" y="1256665"/>
            <a:ext cx="3048000" cy="447675"/>
          </a:xfrm>
          <a:prstGeom prst="rect">
            <a:avLst/>
          </a:prstGeom>
        </p:spPr>
      </p:pic>
      <p:sp>
        <p:nvSpPr>
          <p:cNvPr id="11" name="下箭头 10"/>
          <p:cNvSpPr/>
          <p:nvPr/>
        </p:nvSpPr>
        <p:spPr>
          <a:xfrm>
            <a:off x="10590530" y="1712595"/>
            <a:ext cx="210820" cy="4787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2525" y="3800475"/>
            <a:ext cx="3409950" cy="361950"/>
          </a:xfrm>
          <a:prstGeom prst="rect">
            <a:avLst/>
          </a:prstGeom>
        </p:spPr>
      </p:pic>
      <p:sp>
        <p:nvSpPr>
          <p:cNvPr id="13" name="上箭头 12"/>
          <p:cNvSpPr/>
          <p:nvPr/>
        </p:nvSpPr>
        <p:spPr>
          <a:xfrm>
            <a:off x="8893810" y="3227070"/>
            <a:ext cx="239395" cy="4692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950085" y="4410075"/>
            <a:ext cx="8961755" cy="866140"/>
            <a:chOff x="3071" y="6945"/>
            <a:chExt cx="14113" cy="1364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90" y="6945"/>
              <a:ext cx="13095" cy="1365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71" y="6945"/>
              <a:ext cx="1141" cy="13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423545"/>
            <a:ext cx="11144250" cy="29241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380" y="3411855"/>
            <a:ext cx="3020060" cy="30435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65" y="4598035"/>
            <a:ext cx="5476875" cy="1247775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6586855" y="5011420"/>
            <a:ext cx="652145" cy="421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030" y="3704590"/>
            <a:ext cx="44577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05" y="272415"/>
            <a:ext cx="8448675" cy="5429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7810" y="984250"/>
            <a:ext cx="5435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</a:rPr>
              <a:t>直流电中最大功率传输</a:t>
            </a:r>
            <a:endParaRPr lang="zh-CN" altLang="en-US" sz="320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0" y="1828800"/>
            <a:ext cx="6358255" cy="1771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1420" y="2110105"/>
            <a:ext cx="4027805" cy="1012825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6746875" y="2566035"/>
            <a:ext cx="622935" cy="2298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7810" y="3861435"/>
            <a:ext cx="5435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</a:rPr>
              <a:t>交流电中最大功率传输</a:t>
            </a:r>
            <a:endParaRPr lang="zh-CN" altLang="en-US" sz="320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" y="4705985"/>
            <a:ext cx="5924550" cy="17430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065" y="4456430"/>
            <a:ext cx="5448300" cy="7715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9590" y="5330190"/>
            <a:ext cx="2077085" cy="11188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1190" y="3667125"/>
            <a:ext cx="1994535" cy="9728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1512570"/>
            <a:ext cx="3552190" cy="32537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15" y="205105"/>
            <a:ext cx="5522595" cy="8959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6695" y="2157095"/>
            <a:ext cx="5555615" cy="196405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>
            <a:off x="1091565" y="2249805"/>
            <a:ext cx="834390" cy="9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2941955" y="2220595"/>
            <a:ext cx="91059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250315" y="1512570"/>
            <a:ext cx="5175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latin typeface="华文宋体" panose="02010600040101010101" charset="-122"/>
                <a:ea typeface="华文宋体" panose="02010600040101010101" charset="-122"/>
              </a:rPr>
              <a:t>I1</a:t>
            </a:r>
            <a:endParaRPr lang="en-US" altLang="zh-CN" sz="3200">
              <a:latin typeface="华文宋体" panose="02010600040101010101" charset="-122"/>
              <a:ea typeface="华文宋体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38805" y="1512570"/>
            <a:ext cx="5175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latin typeface="华文宋体" panose="02010600040101010101" charset="-122"/>
                <a:ea typeface="华文宋体" panose="02010600040101010101" charset="-122"/>
              </a:rPr>
              <a:t>I2</a:t>
            </a:r>
            <a:endParaRPr lang="en-US" altLang="zh-CN" sz="3200">
              <a:latin typeface="华文宋体" panose="02010600040101010101" charset="-122"/>
              <a:ea typeface="华文宋体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27680" y="2574925"/>
            <a:ext cx="3854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/>
              <a:t>+</a:t>
            </a:r>
            <a:endParaRPr lang="en-US" altLang="zh-CN" sz="3200"/>
          </a:p>
        </p:txBody>
      </p:sp>
      <p:sp>
        <p:nvSpPr>
          <p:cNvPr id="10" name="文本框 9"/>
          <p:cNvSpPr txBox="1"/>
          <p:nvPr/>
        </p:nvSpPr>
        <p:spPr>
          <a:xfrm>
            <a:off x="1250315" y="3747135"/>
            <a:ext cx="33845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/>
              <a:t>-</a:t>
            </a:r>
            <a:endParaRPr lang="en-US" altLang="zh-CN" sz="4000"/>
          </a:p>
        </p:txBody>
      </p:sp>
      <p:sp>
        <p:nvSpPr>
          <p:cNvPr id="11" name="文本框 10"/>
          <p:cNvSpPr txBox="1"/>
          <p:nvPr/>
        </p:nvSpPr>
        <p:spPr>
          <a:xfrm>
            <a:off x="3138805" y="3747135"/>
            <a:ext cx="33845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/>
              <a:t>-</a:t>
            </a:r>
            <a:endParaRPr lang="en-US" altLang="zh-CN" sz="4000"/>
          </a:p>
        </p:txBody>
      </p:sp>
      <p:sp>
        <p:nvSpPr>
          <p:cNvPr id="12" name="文本框 11"/>
          <p:cNvSpPr txBox="1"/>
          <p:nvPr/>
        </p:nvSpPr>
        <p:spPr>
          <a:xfrm>
            <a:off x="1091565" y="2557780"/>
            <a:ext cx="3854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/>
              <a:t>+</a:t>
            </a:r>
            <a:endParaRPr lang="en-US" altLang="zh-CN" sz="3200"/>
          </a:p>
        </p:txBody>
      </p:sp>
      <p:pic>
        <p:nvPicPr>
          <p:cNvPr id="13" name="图形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04729" y="581234"/>
            <a:ext cx="2831937" cy="52035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21665" y="341630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耦合电感电路：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" y="1007110"/>
            <a:ext cx="11196955" cy="484441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40" y="704850"/>
            <a:ext cx="7245985" cy="57302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6890" y="121285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简化判断电压方向：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6730" y="217805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牛刀小试：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945" y="909320"/>
            <a:ext cx="8754110" cy="539432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15" y="1129665"/>
            <a:ext cx="10925175" cy="2047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15" y="3554730"/>
            <a:ext cx="10677525" cy="21621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3695" y="361315"/>
            <a:ext cx="4856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同向</a:t>
            </a:r>
            <a:r>
              <a:rPr lang="en-US" altLang="zh-CN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</a:t>
            </a:r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反向串联耦合电路：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735" y="3562350"/>
            <a:ext cx="2242185" cy="27006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735" y="613410"/>
            <a:ext cx="2241550" cy="2746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395" y="613410"/>
            <a:ext cx="6057900" cy="571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3395" y="3562350"/>
            <a:ext cx="6553200" cy="514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3395" y="4152265"/>
            <a:ext cx="4981575" cy="13144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635" y="5542280"/>
            <a:ext cx="3219450" cy="971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1660" y="1184910"/>
            <a:ext cx="5172075" cy="13239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1355" y="2505710"/>
            <a:ext cx="3209925" cy="9810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82270" y="131445"/>
            <a:ext cx="4856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同侧</a:t>
            </a:r>
            <a:r>
              <a:rPr lang="en-US" altLang="zh-CN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</a:t>
            </a:r>
            <a:r>
              <a:rPr lang="zh-CN" altLang="en-US" sz="3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异侧并联耦合电路：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21840" y="743585"/>
            <a:ext cx="8337550" cy="31565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1450" y="160020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输入阻抗：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465" y="4132580"/>
            <a:ext cx="7600315" cy="137223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346835"/>
            <a:ext cx="11468100" cy="53149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0085" y="409575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同侧并联转换公式：</a:t>
            </a:r>
            <a:r>
              <a:rPr lang="zh-CN" altLang="en-US" sz="3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</a:rPr>
              <a:t>方程变换</a:t>
            </a:r>
            <a:endParaRPr lang="zh-CN" altLang="en-US" sz="320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0" y="1169035"/>
            <a:ext cx="11706225" cy="53054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71220" y="514350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电磁耦合器：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" y="1249680"/>
            <a:ext cx="5305425" cy="24980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9955" y="466725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由谐振频率到滤波器：</a:t>
            </a:r>
            <a:endParaRPr lang="en-US" altLang="zh-CN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790" y="1562735"/>
            <a:ext cx="4308475" cy="1737995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6037580" y="2201545"/>
            <a:ext cx="728345" cy="364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970" y="3863340"/>
            <a:ext cx="5370830" cy="29267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9235" y="4483100"/>
            <a:ext cx="5059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电流关于谐振频率关系图：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4025" y="292100"/>
            <a:ext cx="7091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描述谐振电路的参数：</a:t>
            </a:r>
            <a:r>
              <a:rPr lang="zh-CN" altLang="en-US" sz="3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</a:rPr>
              <a:t>带宽与品质因子</a:t>
            </a:r>
            <a:endParaRPr lang="zh-CN" altLang="en-US" sz="320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35" y="947420"/>
            <a:ext cx="5380990" cy="28333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740" y="1102360"/>
            <a:ext cx="2607310" cy="131000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889750" y="2567940"/>
            <a:ext cx="1675765" cy="1278890"/>
            <a:chOff x="11865" y="4414"/>
            <a:chExt cx="1976" cy="160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rcRect r="1967" b="8376"/>
            <a:stretch>
              <a:fillRect/>
            </a:stretch>
          </p:blipFill>
          <p:spPr>
            <a:xfrm>
              <a:off x="12945" y="4414"/>
              <a:ext cx="897" cy="160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865" y="4414"/>
              <a:ext cx="1080" cy="1605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9285" y="3081020"/>
            <a:ext cx="2809875" cy="695325"/>
          </a:xfrm>
          <a:prstGeom prst="rect">
            <a:avLst/>
          </a:prstGeom>
        </p:spPr>
      </p:pic>
      <p:sp>
        <p:nvSpPr>
          <p:cNvPr id="10" name="左箭头 9"/>
          <p:cNvSpPr/>
          <p:nvPr/>
        </p:nvSpPr>
        <p:spPr>
          <a:xfrm>
            <a:off x="8662035" y="3296285"/>
            <a:ext cx="687705" cy="2660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7050" y="4001770"/>
            <a:ext cx="2714625" cy="29337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rcRect r="1524" b="14736"/>
          <a:stretch>
            <a:fillRect/>
          </a:stretch>
        </p:blipFill>
        <p:spPr>
          <a:xfrm>
            <a:off x="1043940" y="3852545"/>
            <a:ext cx="5366385" cy="290322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8415" y="1506220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串联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0" y="4530725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并联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11480" y="485775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</a:rPr>
              <a:t>串并联谐振电路规律</a:t>
            </a:r>
            <a:endParaRPr lang="zh-CN" altLang="en-US" sz="320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15" y="1348740"/>
            <a:ext cx="10400030" cy="50609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25" y="2207895"/>
            <a:ext cx="1323975" cy="381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95" y="3255010"/>
            <a:ext cx="1447800" cy="361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" y="4225290"/>
            <a:ext cx="1390650" cy="400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l="-671" t="10175" r="5503" b="-2632"/>
          <a:stretch>
            <a:fillRect/>
          </a:stretch>
        </p:blipFill>
        <p:spPr>
          <a:xfrm>
            <a:off x="508000" y="1319530"/>
            <a:ext cx="1350645" cy="3346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765" y="50800"/>
            <a:ext cx="2638425" cy="46958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rcRect r="4406" b="-7489"/>
          <a:stretch>
            <a:fillRect/>
          </a:stretch>
        </p:blipFill>
        <p:spPr>
          <a:xfrm>
            <a:off x="4977765" y="4746625"/>
            <a:ext cx="2631440" cy="157670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2529205" y="917575"/>
            <a:ext cx="2166620" cy="508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270760" y="2412365"/>
            <a:ext cx="2261870" cy="19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2361565" y="3616960"/>
            <a:ext cx="2319020" cy="440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289810" y="4492625"/>
            <a:ext cx="2463165" cy="9867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088390"/>
            <a:ext cx="3962400" cy="4391025"/>
          </a:xfrm>
          <a:prstGeom prst="rect">
            <a:avLst/>
          </a:prstGeom>
        </p:spPr>
      </p:pic>
      <p:sp>
        <p:nvSpPr>
          <p:cNvPr id="16" name="右箭头 15"/>
          <p:cNvSpPr/>
          <p:nvPr/>
        </p:nvSpPr>
        <p:spPr>
          <a:xfrm>
            <a:off x="7753350" y="3054350"/>
            <a:ext cx="402590" cy="374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606790" y="334010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转折点实际图像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2430" y="334010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滤波器的分类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033780"/>
            <a:ext cx="4514850" cy="47053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67050" y="246380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</a:rPr>
              <a:t>带通滤波器</a:t>
            </a:r>
            <a:endParaRPr lang="zh-CN" altLang="en-US" sz="320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580" y="1033780"/>
            <a:ext cx="4467225" cy="47910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030845" y="246380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</a:rPr>
              <a:t>带阻滤波器</a:t>
            </a:r>
            <a:endParaRPr lang="zh-CN" altLang="en-US" sz="320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313690"/>
            <a:ext cx="2630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滤波器的种类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3695" y="236855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拉普拉斯变换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845" y="236855"/>
            <a:ext cx="7239000" cy="923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1368425"/>
            <a:ext cx="12096750" cy="48672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00860" y="4971415"/>
            <a:ext cx="3853180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906385" y="6054090"/>
            <a:ext cx="2846705" cy="7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" y="3000375"/>
            <a:ext cx="10496550" cy="3752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" y="1217930"/>
            <a:ext cx="10768330" cy="14884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48560" y="2321560"/>
            <a:ext cx="7294880" cy="20612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8000">
                <a:latin typeface="楷体" panose="02010609060101010101" charset="-122"/>
                <a:ea typeface="楷体" panose="02010609060101010101" charset="-122"/>
              </a:rPr>
              <a:t>感谢大家聆听！</a:t>
            </a:r>
            <a:endParaRPr lang="zh-CN" altLang="en-US" sz="8000">
              <a:latin typeface="楷体" panose="02010609060101010101" charset="-122"/>
              <a:ea typeface="楷体" panose="02010609060101010101" charset="-122"/>
            </a:endParaRPr>
          </a:p>
          <a:p>
            <a:pPr algn="ctr"/>
            <a:r>
              <a:rPr lang="zh-CN" altLang="en-US" sz="4800">
                <a:latin typeface="楷体" panose="02010609060101010101" charset="-122"/>
                <a:ea typeface="楷体" panose="02010609060101010101" charset="-122"/>
              </a:rPr>
              <a:t>祝大家期末考试顺利！</a:t>
            </a:r>
            <a:endParaRPr lang="zh-CN" altLang="en-US" sz="48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4124" y="553929"/>
            <a:ext cx="2831937" cy="5203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47570" cy="21266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7561,&quot;width&quot;:16325}"/>
</p:tagLst>
</file>

<file path=ppt/tags/tag2.xml><?xml version="1.0" encoding="utf-8"?>
<p:tagLst xmlns:p="http://schemas.openxmlformats.org/presentationml/2006/main">
  <p:tag name="KSO_WM_UNIT_PLACING_PICTURE_USER_VIEWPORT" val="{&quot;height&quot;:3765,&quot;width&quot;:9945}"/>
</p:tagLst>
</file>

<file path=ppt/tags/tag3.xml><?xml version="1.0" encoding="utf-8"?>
<p:tagLst xmlns:p="http://schemas.openxmlformats.org/presentationml/2006/main">
  <p:tag name="COMMONDATA" val="eyJoZGlkIjoiNzdmZDI4MzQwZTdkMDNlMDU5NzRjYzExNDBiMmUwNz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WPS 演示</Application>
  <PresentationFormat>宽屏</PresentationFormat>
  <Paragraphs>130</Paragraphs>
  <Slides>57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3" baseType="lpstr">
      <vt:lpstr>Arial</vt:lpstr>
      <vt:lpstr>宋体</vt:lpstr>
      <vt:lpstr>Wingdings</vt:lpstr>
      <vt:lpstr>楷体</vt:lpstr>
      <vt:lpstr>华文隶书</vt:lpstr>
      <vt:lpstr>微软雅黑</vt:lpstr>
      <vt:lpstr>Arial Unicode MS</vt:lpstr>
      <vt:lpstr>Calibri</vt:lpstr>
      <vt:lpstr>华文宋体</vt:lpstr>
      <vt:lpstr>华文楷体</vt:lpstr>
      <vt:lpstr>思源黑体 CN Regular</vt:lpstr>
      <vt:lpstr>黑体</vt:lpstr>
      <vt:lpstr>Open Sans</vt:lpstr>
      <vt:lpstr>思源黑体 CN Light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lrq</dc:creator>
  <cp:lastModifiedBy>清渡</cp:lastModifiedBy>
  <cp:revision>8</cp:revision>
  <dcterms:created xsi:type="dcterms:W3CDTF">2024-12-19T10:36:00Z</dcterms:created>
  <dcterms:modified xsi:type="dcterms:W3CDTF">2024-12-22T05:36:02Z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8593B0DECDC843CEAE0FB5573B561C74</vt:lpwstr>
  </property>
  <property fmtid="{D5CDD505-2E9C-101B-9397-08002B2CF9AE}" pid="3" name="KSOProductBuildVer">
    <vt:lpwstr>2052-11.1.0.12132</vt:lpwstr>
  </property>
</Properties>
</file>