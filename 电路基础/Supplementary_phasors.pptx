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8"/>
  </p:notesMasterIdLst>
  <p:handoutMasterIdLst>
    <p:handoutMasterId r:id="rId19"/>
  </p:handoutMasterIdLst>
  <p:sldIdLst>
    <p:sldId id="439" r:id="rId3"/>
    <p:sldId id="346" r:id="rId4"/>
    <p:sldId id="347" r:id="rId5"/>
    <p:sldId id="348" r:id="rId6"/>
    <p:sldId id="349" r:id="rId7"/>
    <p:sldId id="339" r:id="rId8"/>
    <p:sldId id="350" r:id="rId9"/>
    <p:sldId id="335" r:id="rId10"/>
    <p:sldId id="337" r:id="rId11"/>
    <p:sldId id="338" r:id="rId12"/>
    <p:sldId id="341" r:id="rId13"/>
    <p:sldId id="340" r:id="rId14"/>
    <p:sldId id="342" r:id="rId15"/>
    <p:sldId id="345" r:id="rId16"/>
    <p:sldId id="3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F2F2"/>
    <a:srgbClr val="4BACC6"/>
    <a:srgbClr val="BE8245"/>
    <a:srgbClr val="000000"/>
    <a:srgbClr val="AD763F"/>
    <a:srgbClr val="C28548"/>
    <a:srgbClr val="B7DEE8"/>
    <a:srgbClr val="C000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4" autoAdjust="0"/>
    <p:restoredTop sz="88345" autoAdjust="0"/>
  </p:normalViewPr>
  <p:slideViewPr>
    <p:cSldViewPr>
      <p:cViewPr varScale="1">
        <p:scale>
          <a:sx n="77" d="100"/>
          <a:sy n="77" d="100"/>
        </p:scale>
        <p:origin x="778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84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44D31-D550-4B8F-B71E-F46231F7DDA4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F6404-53A6-4207-BFEF-549CD540A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364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2A7F5-4402-4A32-9491-56F767728D41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9B57A-7F3D-43F1-8B87-339FDC182D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25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89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090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06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916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9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593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353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919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8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671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948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68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672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F9B57A-7F3D-43F1-8B87-339FDC182DF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9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3811" cy="6858000"/>
            <a:chOff x="0" y="0"/>
            <a:chExt cx="12193811" cy="68580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222"/>
            <a:stretch/>
          </p:blipFill>
          <p:spPr>
            <a:xfrm>
              <a:off x="0" y="4343400"/>
              <a:ext cx="12192000" cy="25146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85" b="11346"/>
            <a:stretch/>
          </p:blipFill>
          <p:spPr>
            <a:xfrm flipH="1">
              <a:off x="0" y="0"/>
              <a:ext cx="12193811" cy="43434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533" t="1447" r="733" b="34049"/>
          <a:stretch/>
        </p:blipFill>
        <p:spPr>
          <a:xfrm>
            <a:off x="0" y="-1"/>
            <a:ext cx="12192000" cy="44958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22"/>
          <a:stretch/>
        </p:blipFill>
        <p:spPr>
          <a:xfrm>
            <a:off x="0" y="4343400"/>
            <a:ext cx="12192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1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rgbClr val="19ABEB">
            <a:alpha val="6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07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18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341278-D034-4778-AC6D-81CAAEE71E4A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南科大电子系，</a:t>
            </a:r>
            <a:r>
              <a:rPr lang="en-US" altLang="zh-CN" dirty="0"/>
              <a:t>maj3@sustech.edu.cn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 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zh-CN" altLang="en-US" dirty="0"/>
              <a:t>页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00" y="152400"/>
            <a:ext cx="3124200" cy="78105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81000" y="304800"/>
            <a:ext cx="6781800" cy="533400"/>
          </a:xfrm>
        </p:spPr>
        <p:txBody>
          <a:bodyPr/>
          <a:lstStyle>
            <a:lvl1pPr marL="0" indent="0">
              <a:buNone/>
              <a:defRPr sz="3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90F1F41-AAC1-4F1C-84C6-5058550F86E7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南科大电子系，</a:t>
            </a:r>
            <a:r>
              <a:rPr lang="en-US" altLang="zh-CN" dirty="0"/>
              <a:t>maj3@sustech.edu.cn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 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zh-CN" altLang="en-US" dirty="0"/>
              <a:t>页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00" y="152400"/>
            <a:ext cx="3124200" cy="78105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81000" y="304800"/>
            <a:ext cx="6781800" cy="533400"/>
          </a:xfrm>
        </p:spPr>
        <p:txBody>
          <a:bodyPr/>
          <a:lstStyle>
            <a:lvl1pPr marL="0" indent="0">
              <a:buNone/>
              <a:defRPr sz="3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24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000" b="48889"/>
            <a:stretch/>
          </p:blipFill>
          <p:spPr>
            <a:xfrm rot="5400000">
              <a:off x="-1397400" y="1397400"/>
              <a:ext cx="6857999" cy="40632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200" y="0"/>
              <a:ext cx="8128800" cy="685743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l="37162" t="16666" r="37162" b="65880"/>
            <a:stretch/>
          </p:blipFill>
          <p:spPr>
            <a:xfrm>
              <a:off x="3494518" y="825114"/>
              <a:ext cx="2323060" cy="888228"/>
            </a:xfrm>
            <a:prstGeom prst="rect">
              <a:avLst/>
            </a:prstGeom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" name="组合 9"/>
            <p:cNvGrpSpPr/>
            <p:nvPr/>
          </p:nvGrpSpPr>
          <p:grpSpPr>
            <a:xfrm>
              <a:off x="413636" y="832337"/>
              <a:ext cx="3243965" cy="5605938"/>
              <a:chOff x="413636" y="832337"/>
              <a:chExt cx="3243965" cy="5605938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982317" y="832337"/>
                <a:ext cx="2106602" cy="1661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US" altLang="zh-CN" sz="4600" b="1" dirty="0"/>
                  <a:t>Many 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altLang="zh-CN" sz="4600" b="1" dirty="0"/>
                  <a:t>Thanks!</a:t>
                </a:r>
                <a:endParaRPr lang="zh-CN" altLang="en-US" sz="4600" b="1" dirty="0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13636" y="4699337"/>
                <a:ext cx="3243965" cy="1738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马俊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GaN</a:t>
                </a: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方向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南科大电子系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maj3@sustech.edu.cn</a:t>
                </a:r>
                <a:endParaRPr lang="zh-CN" altLang="en-US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30701" y="2891916"/>
                <a:ext cx="1409834" cy="1409834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7008941" y="5659772"/>
              <a:ext cx="4878259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南方科技大学电子与电气工程系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spcAft>
                  <a:spcPts val="600"/>
                </a:spcAft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广东深圳市南山区学苑大道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1088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号第二科研楼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494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3811" cy="6858000"/>
            <a:chOff x="0" y="0"/>
            <a:chExt cx="12193811" cy="68580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222"/>
            <a:stretch/>
          </p:blipFill>
          <p:spPr>
            <a:xfrm>
              <a:off x="0" y="4343400"/>
              <a:ext cx="12192000" cy="25146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85" b="11346"/>
            <a:stretch/>
          </p:blipFill>
          <p:spPr>
            <a:xfrm flipH="1">
              <a:off x="0" y="0"/>
              <a:ext cx="12193811" cy="4343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32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22"/>
          <a:stretch/>
        </p:blipFill>
        <p:spPr>
          <a:xfrm>
            <a:off x="0" y="4343400"/>
            <a:ext cx="12192000" cy="2514600"/>
          </a:xfrm>
          <a:prstGeom prst="rect">
            <a:avLst/>
          </a:prstGeom>
        </p:spPr>
      </p:pic>
      <p:pic>
        <p:nvPicPr>
          <p:cNvPr id="1030" name="Picture 6" descr="HD wallpaper: black circuit board, computer part HD wallpaper, circuits ...">
            <a:extLst>
              <a:ext uri="{FF2B5EF4-FFF2-40B4-BE49-F238E27FC236}">
                <a16:creationId xmlns:a16="http://schemas.microsoft.com/office/drawing/2014/main" id="{23390D72-FC98-4B58-E1DB-59808121EE8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9"/>
          <a:stretch/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28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rgbClr val="19ABEB">
            <a:alpha val="6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10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040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341278-D034-4778-AC6D-81CAAEE71E4A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南科大电子系，</a:t>
            </a:r>
            <a:r>
              <a:rPr lang="en-US" altLang="zh-CN" dirty="0"/>
              <a:t>maj3@sustech.edu.cn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 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zh-CN" altLang="en-US" dirty="0"/>
              <a:t>页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00" y="152400"/>
            <a:ext cx="3124200" cy="78105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81000" y="304800"/>
            <a:ext cx="6781800" cy="533400"/>
          </a:xfrm>
        </p:spPr>
        <p:txBody>
          <a:bodyPr/>
          <a:lstStyle>
            <a:lvl1pPr marL="0" indent="0">
              <a:buNone/>
              <a:defRPr sz="3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736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90F1F41-AAC1-4F1C-84C6-5058550F86E7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南科大电子系，</a:t>
            </a:r>
            <a:r>
              <a:rPr lang="en-US" altLang="zh-CN" dirty="0"/>
              <a:t>maj3@sustech.edu.cn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 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zh-CN" altLang="en-US" dirty="0"/>
              <a:t>页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00" y="152400"/>
            <a:ext cx="3124200" cy="78105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81000" y="304800"/>
            <a:ext cx="6781800" cy="533400"/>
          </a:xfrm>
        </p:spPr>
        <p:txBody>
          <a:bodyPr/>
          <a:lstStyle>
            <a:lvl1pPr marL="0" indent="0">
              <a:buNone/>
              <a:defRPr sz="3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34531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000" b="48889"/>
            <a:stretch/>
          </p:blipFill>
          <p:spPr>
            <a:xfrm rot="5400000">
              <a:off x="-1397400" y="1397400"/>
              <a:ext cx="6857999" cy="40632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200" y="0"/>
              <a:ext cx="8128800" cy="685743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l="37162" t="16666" r="37162" b="65880"/>
            <a:stretch/>
          </p:blipFill>
          <p:spPr>
            <a:xfrm>
              <a:off x="3494518" y="825114"/>
              <a:ext cx="2323060" cy="888228"/>
            </a:xfrm>
            <a:prstGeom prst="rect">
              <a:avLst/>
            </a:prstGeom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" name="组合 9"/>
            <p:cNvGrpSpPr/>
            <p:nvPr/>
          </p:nvGrpSpPr>
          <p:grpSpPr>
            <a:xfrm>
              <a:off x="413636" y="832337"/>
              <a:ext cx="3243965" cy="5605938"/>
              <a:chOff x="413636" y="832337"/>
              <a:chExt cx="3243965" cy="5605938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982317" y="832337"/>
                <a:ext cx="2106602" cy="1661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US" altLang="zh-CN" sz="4600" b="1" dirty="0"/>
                  <a:t>Many 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altLang="zh-CN" sz="4600" b="1" dirty="0"/>
                  <a:t>Thanks!</a:t>
                </a:r>
                <a:endParaRPr lang="zh-CN" altLang="en-US" sz="4600" b="1" dirty="0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13636" y="4699337"/>
                <a:ext cx="3243965" cy="1738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马俊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GaN</a:t>
                </a: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方向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南科大电子系</a:t>
                </a:r>
                <a:endParaRPr lang="en-US" altLang="zh-CN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altLang="zh-CN" sz="2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maj3@sustech.edu.cn</a:t>
                </a:r>
                <a:endParaRPr lang="zh-CN" altLang="en-US" sz="2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30701" y="2891916"/>
                <a:ext cx="1409834" cy="1409834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7008941" y="5659772"/>
              <a:ext cx="4878259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南方科技大学电子与电气工程系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spcAft>
                  <a:spcPts val="600"/>
                </a:spcAft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广东深圳市南山区学苑大道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1088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号第二科研楼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01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DC25-0CEB-46BD-A3D9-1129984F6DD3}" type="datetime4">
              <a:rPr lang="en-US" altLang="zh-CN" smtClean="0"/>
              <a:t>November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南科大电子系，</a:t>
            </a:r>
            <a:r>
              <a:rPr lang="en-US"/>
              <a:t>maj3@sustech.edu.cn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3" r:id="rId3"/>
    <p:sldLayoutId id="2147483654" r:id="rId4"/>
    <p:sldLayoutId id="2147483650" r:id="rId5"/>
    <p:sldLayoutId id="2147483652" r:id="rId6"/>
    <p:sldLayoutId id="2147483651" r:id="rId7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DC25-0CEB-46BD-A3D9-1129984F6DD3}" type="datetime4">
              <a:rPr lang="en-US" altLang="zh-CN" smtClean="0"/>
              <a:t>November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南科大电子系，</a:t>
            </a:r>
            <a:r>
              <a:rPr lang="en-US"/>
              <a:t>maj3@sustech.edu.cn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3" Type="http://schemas.openxmlformats.org/officeDocument/2006/relationships/image" Target="../media/image1811.png"/><Relationship Id="rId7" Type="http://schemas.openxmlformats.org/officeDocument/2006/relationships/image" Target="../media/image24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171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304800" y="76200"/>
            <a:ext cx="3029975" cy="749873"/>
          </a:xfrm>
          <a:prstGeom prst="rect">
            <a:avLst/>
          </a:prstGeom>
          <a:noFill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1C08A86-800A-2FB8-F97D-414A88C85EC0}"/>
              </a:ext>
            </a:extLst>
          </p:cNvPr>
          <p:cNvSpPr/>
          <p:nvPr/>
        </p:nvSpPr>
        <p:spPr>
          <a:xfrm>
            <a:off x="0" y="4267200"/>
            <a:ext cx="12192000" cy="22098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EE104 Fundamentals of Electric Circuits (Supplementary) </a:t>
            </a:r>
          </a:p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Jun MA |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马俊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E-mail: maj3@sustech.edu.cn</a:t>
            </a:r>
          </a:p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南方科技大学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电子与电气工程系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-PN Lab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99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 A rotating rod (a)</a:t>
            </a:r>
            <a:endParaRPr lang="zh-CN" altLang="en-US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2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33400" y="1882775"/>
            <a:ext cx="3429000" cy="3429000"/>
            <a:chOff x="927100" y="1638301"/>
            <a:chExt cx="3429000" cy="34290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27100" y="3352800"/>
              <a:ext cx="3429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16200000">
              <a:off x="927100" y="3352801"/>
              <a:ext cx="3429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endCxn id="12" idx="7"/>
            </p:cNvCxnSpPr>
            <p:nvPr/>
          </p:nvCxnSpPr>
          <p:spPr>
            <a:xfrm flipV="1">
              <a:off x="2616199" y="2461845"/>
              <a:ext cx="916355" cy="890955"/>
            </a:xfrm>
            <a:prstGeom prst="line">
              <a:avLst/>
            </a:prstGeom>
            <a:ln w="635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81599" y="2092800"/>
              <a:ext cx="2520000" cy="2520000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弧形 36"/>
            <p:cNvSpPr/>
            <p:nvPr/>
          </p:nvSpPr>
          <p:spPr>
            <a:xfrm rot="20570401">
              <a:off x="2705540" y="3038124"/>
              <a:ext cx="458772" cy="502660"/>
            </a:xfrm>
            <a:prstGeom prst="arc">
              <a:avLst>
                <a:gd name="adj1" fmla="val 18375946"/>
                <a:gd name="adj2" fmla="val 1578053"/>
              </a:avLst>
            </a:prstGeom>
            <a:ln>
              <a:solidFill>
                <a:srgbClr val="FF0000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/>
                <p:cNvSpPr/>
                <p:nvPr/>
              </p:nvSpPr>
              <p:spPr>
                <a:xfrm>
                  <a:off x="3076035" y="2869724"/>
                  <a:ext cx="427361" cy="4462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6035" y="2869724"/>
                  <a:ext cx="427361" cy="446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矩形 39"/>
          <p:cNvSpPr/>
          <p:nvPr/>
        </p:nvSpPr>
        <p:spPr>
          <a:xfrm>
            <a:off x="4165600" y="2706319"/>
            <a:ext cx="8026400" cy="3237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428649" y="2965890"/>
            <a:ext cx="719550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+mj-lt"/>
              <a:buAutoNum type="alphaLcParenR"/>
            </a:pPr>
            <a:r>
              <a:rPr lang="en-US" altLang="zh-CN" sz="2300" dirty="0">
                <a:latin typeface="+mj-lt"/>
              </a:rPr>
              <a:t>A useful way to think of a cosine wave is as the projection of a rotating rod onto the horizontal axis. </a:t>
            </a:r>
          </a:p>
          <a:p>
            <a:pPr marL="457200" indent="-457200" algn="just">
              <a:spcAft>
                <a:spcPts val="1200"/>
              </a:spcAft>
              <a:buFont typeface="+mj-lt"/>
              <a:buAutoNum type="alphaLcParenR"/>
            </a:pPr>
            <a:r>
              <a:rPr lang="en-US" altLang="zh-CN" sz="2300" dirty="0">
                <a:latin typeface="+mj-lt"/>
              </a:rPr>
              <a:t>For a unit-length rod, the projection has length cos θ. </a:t>
            </a:r>
          </a:p>
          <a:p>
            <a:pPr marL="457200" indent="-457200" algn="just">
              <a:spcAft>
                <a:spcPts val="1200"/>
              </a:spcAft>
              <a:buFont typeface="+mj-lt"/>
              <a:buAutoNum type="alphaLcParenR"/>
            </a:pPr>
            <a:r>
              <a:rPr lang="en-US" altLang="zh-CN" sz="2300" dirty="0">
                <a:latin typeface="+mj-lt"/>
              </a:rPr>
              <a:t>If the rod is rotating at a speed of </a:t>
            </a:r>
            <a:r>
              <a:rPr lang="en-US" altLang="zh-CN" sz="2300" i="1" dirty="0">
                <a:latin typeface="+mj-lt"/>
              </a:rPr>
              <a:t>f</a:t>
            </a:r>
            <a:r>
              <a:rPr lang="en-US" altLang="zh-CN" sz="2300" dirty="0">
                <a:latin typeface="+mj-lt"/>
              </a:rPr>
              <a:t> revolutions per second, then θ increases uniformly with time: θ = 2π</a:t>
            </a:r>
            <a:r>
              <a:rPr lang="en-US" altLang="zh-CN" sz="2300" i="1" dirty="0">
                <a:latin typeface="+mj-lt"/>
              </a:rPr>
              <a:t>f</a:t>
            </a:r>
            <a:r>
              <a:rPr lang="en-US" altLang="zh-CN" sz="2300" dirty="0">
                <a:latin typeface="+mj-lt"/>
              </a:rPr>
              <a:t>t.</a:t>
            </a:r>
          </a:p>
          <a:p>
            <a:pPr marL="457200" indent="-457200" algn="just">
              <a:spcAft>
                <a:spcPts val="1200"/>
              </a:spcAft>
              <a:buFont typeface="+mj-lt"/>
              <a:buAutoNum type="alphaLcParenR"/>
            </a:pPr>
            <a:r>
              <a:rPr lang="en-US" altLang="zh-CN" sz="2300" dirty="0">
                <a:latin typeface="+mj-lt"/>
              </a:rPr>
              <a:t>Therefore the projection is cos(</a:t>
            </a:r>
            <a:r>
              <a:rPr lang="en-US" altLang="zh-CN" sz="2300" dirty="0"/>
              <a:t>2π</a:t>
            </a:r>
            <a:r>
              <a:rPr lang="en-US" altLang="zh-CN" sz="2300" i="1" dirty="0" err="1"/>
              <a:t>f</a:t>
            </a:r>
            <a:r>
              <a:rPr lang="en-US" altLang="zh-CN" sz="2300" dirty="0" err="1"/>
              <a:t>t</a:t>
            </a:r>
            <a:r>
              <a:rPr lang="en-US" altLang="zh-CN" sz="2300" dirty="0"/>
              <a:t>) or cos(</a:t>
            </a:r>
            <a:r>
              <a:rPr lang="el-GR" altLang="zh-CN" sz="2300" dirty="0"/>
              <a:t>ω</a:t>
            </a:r>
            <a:r>
              <a:rPr lang="en-US" altLang="zh-CN" sz="2300" dirty="0"/>
              <a:t>t).</a:t>
            </a:r>
            <a:endParaRPr lang="zh-CN" altLang="en-US" sz="2300" dirty="0"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48200" y="1513269"/>
            <a:ext cx="731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700" dirty="0">
                <a:solidFill>
                  <a:srgbClr val="0000FF"/>
                </a:solidFill>
              </a:rPr>
              <a:t>A complex number that is used to represent a sinusoidal voltage or current is called a phasor.</a:t>
            </a:r>
            <a:endParaRPr lang="zh-CN" altLang="en-US" sz="27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58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 A rotating rod (b)</a:t>
            </a:r>
            <a:endParaRPr lang="zh-CN" altLang="en-US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3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40" name="矩形 39"/>
          <p:cNvSpPr/>
          <p:nvPr/>
        </p:nvSpPr>
        <p:spPr>
          <a:xfrm flipV="1">
            <a:off x="0" y="1066798"/>
            <a:ext cx="12192000" cy="1295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30025" y="1080118"/>
            <a:ext cx="1072697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+mj-lt"/>
              <a:buAutoNum type="alphaLcParenR"/>
            </a:pPr>
            <a:r>
              <a:rPr lang="en-US" altLang="zh-CN" sz="2300" dirty="0">
                <a:latin typeface="+mj-lt"/>
              </a:rPr>
              <a:t>Based on the rotating rod model, the only difference between cos and sin is the starting position of the rod.</a:t>
            </a:r>
          </a:p>
          <a:p>
            <a:pPr marL="457200" indent="-457200" algn="just">
              <a:spcAft>
                <a:spcPts val="600"/>
              </a:spcAft>
              <a:buFont typeface="+mj-lt"/>
              <a:buAutoNum type="alphaLcParenR"/>
            </a:pPr>
            <a:r>
              <a:rPr lang="en-US" altLang="zh-CN" sz="2300" dirty="0"/>
              <a:t>sin(2π</a:t>
            </a:r>
            <a:r>
              <a:rPr lang="en-US" altLang="zh-CN" sz="2300" i="1" dirty="0" err="1"/>
              <a:t>f</a:t>
            </a:r>
            <a:r>
              <a:rPr lang="en-US" altLang="zh-CN" sz="2300" dirty="0" err="1"/>
              <a:t>t</a:t>
            </a:r>
            <a:r>
              <a:rPr lang="en-US" altLang="zh-CN" sz="2300" dirty="0"/>
              <a:t>) lags cos(</a:t>
            </a:r>
            <a:r>
              <a:rPr lang="el-GR" altLang="zh-CN" sz="2300" dirty="0"/>
              <a:t>2π</a:t>
            </a:r>
            <a:r>
              <a:rPr lang="en-US" altLang="zh-CN" sz="2300" i="1" dirty="0" err="1"/>
              <a:t>f</a:t>
            </a:r>
            <a:r>
              <a:rPr lang="en-US" altLang="zh-CN" sz="2300" dirty="0" err="1"/>
              <a:t>t</a:t>
            </a:r>
            <a:r>
              <a:rPr lang="en-US" altLang="zh-CN" sz="2300" dirty="0"/>
              <a:t>)</a:t>
            </a:r>
            <a:r>
              <a:rPr lang="zh-CN" altLang="en-US" sz="2300" dirty="0">
                <a:latin typeface="+mj-lt"/>
              </a:rPr>
              <a:t> </a:t>
            </a:r>
            <a:r>
              <a:rPr lang="en-US" altLang="zh-CN" sz="2300" dirty="0">
                <a:latin typeface="+mj-lt"/>
              </a:rPr>
              <a:t>by </a:t>
            </a:r>
            <a:r>
              <a:rPr lang="en-US" altLang="zh-CN" sz="2300" dirty="0"/>
              <a:t>π/2, because it peaks at ¼ of a cycle.</a:t>
            </a:r>
            <a:endParaRPr lang="zh-CN" altLang="en-US" sz="2300" dirty="0">
              <a:latin typeface="+mj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09600" y="2536825"/>
            <a:ext cx="4683486" cy="3973706"/>
            <a:chOff x="609600" y="2536825"/>
            <a:chExt cx="4683486" cy="397370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063981"/>
              <a:ext cx="4683486" cy="2446550"/>
            </a:xfrm>
            <a:prstGeom prst="rect">
              <a:avLst/>
            </a:prstGeom>
          </p:spPr>
        </p:pic>
        <p:grpSp>
          <p:nvGrpSpPr>
            <p:cNvPr id="17" name="组合 16"/>
            <p:cNvGrpSpPr>
              <a:grpSpLocks noChangeAspect="1"/>
            </p:cNvGrpSpPr>
            <p:nvPr/>
          </p:nvGrpSpPr>
          <p:grpSpPr>
            <a:xfrm>
              <a:off x="990600" y="2536825"/>
              <a:ext cx="2111375" cy="2111375"/>
              <a:chOff x="927100" y="1638301"/>
              <a:chExt cx="3429000" cy="3429000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27100" y="3352800"/>
                <a:ext cx="3429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rot="16200000">
                <a:off x="927100" y="3352801"/>
                <a:ext cx="3429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endCxn id="21" idx="6"/>
              </p:cNvCxnSpPr>
              <p:nvPr/>
            </p:nvCxnSpPr>
            <p:spPr>
              <a:xfrm>
                <a:off x="2616199" y="3352802"/>
                <a:ext cx="1285401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/>
              <p:cNvSpPr/>
              <p:nvPr/>
            </p:nvSpPr>
            <p:spPr>
              <a:xfrm>
                <a:off x="1381599" y="2092800"/>
                <a:ext cx="2520000" cy="2520000"/>
              </a:xfrm>
              <a:prstGeom prst="ellipse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3101975" y="2848449"/>
              <a:ext cx="2102627" cy="446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300" dirty="0"/>
                <a:t>v</a:t>
              </a:r>
              <a:r>
                <a:rPr lang="en-US" altLang="zh-CN" sz="2300" baseline="-25000" dirty="0"/>
                <a:t>1</a:t>
              </a:r>
              <a:r>
                <a:rPr lang="en-US" altLang="zh-CN" sz="2300" dirty="0"/>
                <a:t>(t) = cos(</a:t>
              </a:r>
              <a:r>
                <a:rPr lang="el-GR" altLang="zh-CN" sz="2300" dirty="0"/>
                <a:t>2π</a:t>
              </a:r>
              <a:r>
                <a:rPr lang="en-US" altLang="zh-CN" sz="2300" i="1" dirty="0" err="1"/>
                <a:t>f</a:t>
              </a:r>
              <a:r>
                <a:rPr lang="en-US" altLang="zh-CN" sz="2300" dirty="0" err="1"/>
                <a:t>t</a:t>
              </a:r>
              <a:r>
                <a:rPr lang="en-US" altLang="zh-CN" sz="2300" dirty="0"/>
                <a:t>)</a:t>
              </a:r>
              <a:endParaRPr lang="zh-CN" altLang="en-US" sz="2300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248400" y="2536825"/>
            <a:ext cx="5638800" cy="3814531"/>
            <a:chOff x="6248400" y="2536825"/>
            <a:chExt cx="5638800" cy="381453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8400" y="3922947"/>
              <a:ext cx="4835080" cy="2428409"/>
            </a:xfrm>
            <a:prstGeom prst="rect">
              <a:avLst/>
            </a:prstGeom>
          </p:spPr>
        </p:pic>
        <p:grpSp>
          <p:nvGrpSpPr>
            <p:cNvPr id="24" name="组合 23"/>
            <p:cNvGrpSpPr>
              <a:grpSpLocks noChangeAspect="1"/>
            </p:cNvGrpSpPr>
            <p:nvPr/>
          </p:nvGrpSpPr>
          <p:grpSpPr>
            <a:xfrm>
              <a:off x="7108825" y="2536825"/>
              <a:ext cx="2111375" cy="2111375"/>
              <a:chOff x="927100" y="1638301"/>
              <a:chExt cx="3429000" cy="3429000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927100" y="3352800"/>
                <a:ext cx="3429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16200000">
                <a:off x="927100" y="3352801"/>
                <a:ext cx="3429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椭圆 27"/>
              <p:cNvSpPr/>
              <p:nvPr/>
            </p:nvSpPr>
            <p:spPr>
              <a:xfrm>
                <a:off x="1381599" y="2092800"/>
                <a:ext cx="2520000" cy="2520000"/>
              </a:xfrm>
              <a:prstGeom prst="ellipse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2636824" y="3347645"/>
                <a:ext cx="0" cy="1296801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矩形 31"/>
            <p:cNvSpPr/>
            <p:nvPr/>
          </p:nvSpPr>
          <p:spPr>
            <a:xfrm>
              <a:off x="9125738" y="2820183"/>
              <a:ext cx="2761462" cy="8771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CN" sz="2300" dirty="0"/>
                <a:t>v</a:t>
              </a:r>
              <a:r>
                <a:rPr lang="en-US" altLang="zh-CN" sz="2300" baseline="-25000" dirty="0"/>
                <a:t>2</a:t>
              </a:r>
              <a:r>
                <a:rPr lang="en-US" altLang="zh-CN" sz="2300" dirty="0"/>
                <a:t>(t) = sin(2π</a:t>
              </a:r>
              <a:r>
                <a:rPr lang="en-US" altLang="zh-CN" sz="2300" i="1" dirty="0" err="1"/>
                <a:t>f</a:t>
              </a:r>
              <a:r>
                <a:rPr lang="en-US" altLang="zh-CN" sz="2300" dirty="0" err="1"/>
                <a:t>t</a:t>
              </a:r>
              <a:r>
                <a:rPr lang="en-US" altLang="zh-CN" sz="2300" dirty="0"/>
                <a:t>)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2300" dirty="0">
                  <a:solidFill>
                    <a:schemeClr val="bg1"/>
                  </a:solidFill>
                </a:rPr>
                <a:t>v</a:t>
              </a:r>
              <a:r>
                <a:rPr lang="en-US" altLang="zh-CN" sz="2300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2300" dirty="0">
                  <a:solidFill>
                    <a:schemeClr val="bg1"/>
                  </a:solidFill>
                </a:rPr>
                <a:t>(t) </a:t>
              </a:r>
              <a:r>
                <a:rPr lang="en-US" altLang="zh-CN" sz="2300" dirty="0"/>
                <a:t>= cos(2π</a:t>
              </a:r>
              <a:r>
                <a:rPr lang="en-US" altLang="zh-CN" sz="2300" i="1" dirty="0" err="1"/>
                <a:t>f</a:t>
              </a:r>
              <a:r>
                <a:rPr lang="en-US" altLang="zh-CN" sz="2300" dirty="0" err="1"/>
                <a:t>t</a:t>
              </a:r>
              <a:r>
                <a:rPr lang="en-US" altLang="zh-CN" sz="2300" dirty="0"/>
                <a:t> – π/2)</a:t>
              </a:r>
              <a:endParaRPr lang="zh-CN" altLang="en-US" sz="2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971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 Phasors 1 (a)</a:t>
            </a:r>
            <a:endParaRPr lang="zh-CN" altLang="en-US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4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40" name="矩形 39"/>
          <p:cNvSpPr/>
          <p:nvPr/>
        </p:nvSpPr>
        <p:spPr>
          <a:xfrm flipV="1">
            <a:off x="-1" y="1001485"/>
            <a:ext cx="8495767" cy="52396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61306" y="1130901"/>
                <a:ext cx="7873492" cy="4977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100" dirty="0">
                    <a:latin typeface="+mj-lt"/>
                  </a:rPr>
                  <a:t>1. If the rod has length A and starts at an angle </a:t>
                </a:r>
                <a:r>
                  <a:rPr lang="en-US" altLang="zh-CN" sz="2100" i="1" dirty="0">
                    <a:latin typeface="+mj-lt"/>
                  </a:rPr>
                  <a:t>φ</a:t>
                </a:r>
                <a:r>
                  <a:rPr lang="en-US" altLang="zh-CN" sz="2100" dirty="0">
                    <a:latin typeface="+mj-lt"/>
                  </a:rPr>
                  <a:t> then the projection onto the horizontal axis is</a:t>
                </a:r>
              </a:p>
              <a:p>
                <a:pPr lvl="1" algn="just"/>
                <a:r>
                  <a:rPr lang="en-US" altLang="zh-CN" sz="2100" i="1" dirty="0" err="1">
                    <a:latin typeface="+mj-lt"/>
                  </a:rPr>
                  <a:t>A</a:t>
                </a:r>
                <a:r>
                  <a:rPr lang="en-US" altLang="zh-CN" sz="2100" dirty="0" err="1">
                    <a:latin typeface="+mj-lt"/>
                  </a:rPr>
                  <a:t>cos</a:t>
                </a:r>
                <a:r>
                  <a:rPr lang="en-US" altLang="zh-CN" sz="2100" dirty="0">
                    <a:latin typeface="+mj-lt"/>
                  </a:rPr>
                  <a:t>(</a:t>
                </a:r>
                <a:r>
                  <a:rPr lang="el-GR" altLang="zh-CN" sz="2100" dirty="0">
                    <a:latin typeface="+mj-lt"/>
                  </a:rPr>
                  <a:t>ω</a:t>
                </a:r>
                <a:r>
                  <a:rPr lang="en-US" altLang="zh-CN" sz="2100" dirty="0">
                    <a:latin typeface="+mj-lt"/>
                  </a:rPr>
                  <a:t>t +</a:t>
                </a:r>
                <a:r>
                  <a:rPr lang="en-US" altLang="zh-CN" sz="2100" i="1" dirty="0"/>
                  <a:t> φ</a:t>
                </a:r>
                <a:r>
                  <a:rPr lang="en-US" altLang="zh-CN" sz="2100" dirty="0">
                    <a:latin typeface="+mj-lt"/>
                  </a:rPr>
                  <a:t>) = </a:t>
                </a:r>
                <a:r>
                  <a:rPr lang="en-US" altLang="zh-CN" sz="2100" i="1" dirty="0" err="1">
                    <a:latin typeface="+mj-lt"/>
                  </a:rPr>
                  <a:t>A</a:t>
                </a:r>
                <a:r>
                  <a:rPr lang="en-US" altLang="zh-CN" sz="2100" dirty="0" err="1">
                    <a:latin typeface="+mj-lt"/>
                  </a:rPr>
                  <a:t>cos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i="1" dirty="0"/>
                  <a:t> </a:t>
                </a:r>
                <a:r>
                  <a:rPr lang="en-US" altLang="zh-CN" sz="2100" dirty="0"/>
                  <a:t>cos(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t) – </a:t>
                </a:r>
                <a:r>
                  <a:rPr lang="en-US" altLang="zh-CN" sz="2100" i="1" dirty="0" err="1"/>
                  <a:t>A</a:t>
                </a:r>
                <a:r>
                  <a:rPr lang="en-US" altLang="zh-CN" sz="2100" dirty="0" err="1"/>
                  <a:t>sin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i="1" dirty="0"/>
                  <a:t> </a:t>
                </a:r>
                <a:r>
                  <a:rPr lang="en-US" altLang="zh-CN" sz="2100" dirty="0"/>
                  <a:t>sin(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t) </a:t>
                </a:r>
              </a:p>
              <a:p>
                <a:pPr lvl="1" algn="just"/>
                <a:r>
                  <a:rPr lang="en-US" altLang="zh-CN" sz="2100" dirty="0">
                    <a:latin typeface="+mj-lt"/>
                  </a:rPr>
                  <a:t>Lex </a:t>
                </a:r>
                <a:r>
                  <a:rPr lang="en-US" altLang="zh-CN" sz="2100" i="1" dirty="0">
                    <a:latin typeface="+mj-lt"/>
                  </a:rPr>
                  <a:t>X</a:t>
                </a:r>
                <a:r>
                  <a:rPr lang="en-US" altLang="zh-CN" sz="2100" dirty="0">
                    <a:latin typeface="+mj-lt"/>
                  </a:rPr>
                  <a:t> = </a:t>
                </a:r>
                <a:r>
                  <a:rPr lang="en-US" altLang="zh-CN" sz="2100" i="1" dirty="0"/>
                  <a:t>A</a:t>
                </a:r>
                <a:r>
                  <a:rPr lang="en-US" altLang="zh-CN" sz="2100" dirty="0"/>
                  <a:t> </a:t>
                </a:r>
                <a:r>
                  <a:rPr lang="en-US" altLang="zh-CN" sz="2100" dirty="0" err="1"/>
                  <a:t>cos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i="1" dirty="0"/>
                  <a:t> </a:t>
                </a:r>
                <a:r>
                  <a:rPr lang="en-US" altLang="zh-CN" sz="2100" dirty="0"/>
                  <a:t>and</a:t>
                </a:r>
                <a:r>
                  <a:rPr lang="en-US" altLang="zh-CN" sz="2100" i="1" dirty="0"/>
                  <a:t> Y</a:t>
                </a:r>
                <a:r>
                  <a:rPr lang="en-US" altLang="zh-CN" sz="2100" dirty="0"/>
                  <a:t> =</a:t>
                </a:r>
                <a:r>
                  <a:rPr lang="en-US" altLang="zh-CN" sz="2100" i="1" dirty="0"/>
                  <a:t> A</a:t>
                </a:r>
                <a:r>
                  <a:rPr lang="en-US" altLang="zh-CN" sz="2100" dirty="0"/>
                  <a:t> </a:t>
                </a:r>
                <a:r>
                  <a:rPr lang="en-US" altLang="zh-CN" sz="2100" dirty="0" err="1"/>
                  <a:t>sin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i="1" dirty="0"/>
                  <a:t> </a:t>
                </a:r>
                <a:endParaRPr lang="en-US" altLang="zh-CN" sz="2100" dirty="0">
                  <a:latin typeface="+mj-lt"/>
                </a:endParaRPr>
              </a:p>
              <a:p>
                <a:pPr lvl="1" algn="just"/>
                <a:r>
                  <a:rPr lang="en-US" altLang="zh-CN" sz="2100" dirty="0" err="1"/>
                  <a:t>Acos</a:t>
                </a:r>
                <a:r>
                  <a:rPr lang="en-US" altLang="zh-CN" sz="2100" dirty="0"/>
                  <a:t>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 +</a:t>
                </a:r>
                <a:r>
                  <a:rPr lang="en-US" altLang="zh-CN" sz="2100" i="1" dirty="0"/>
                  <a:t> φ</a:t>
                </a:r>
                <a:r>
                  <a:rPr lang="en-US" altLang="zh-CN" sz="2100" dirty="0"/>
                  <a:t>) = </a:t>
                </a:r>
                <a:r>
                  <a:rPr lang="en-US" altLang="zh-CN" sz="2100" i="1" dirty="0" err="1"/>
                  <a:t>X</a:t>
                </a:r>
                <a:r>
                  <a:rPr lang="en-US" altLang="zh-CN" sz="2100" dirty="0" err="1"/>
                  <a:t>cos</a:t>
                </a:r>
                <a:r>
                  <a:rPr lang="en-US" altLang="zh-CN" sz="2100" dirty="0"/>
                  <a:t>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t) – </a:t>
                </a:r>
                <a:r>
                  <a:rPr lang="en-US" altLang="zh-CN" sz="2100" i="1" dirty="0" err="1"/>
                  <a:t>Y</a:t>
                </a:r>
                <a:r>
                  <a:rPr lang="en-US" altLang="zh-CN" sz="2100" dirty="0" err="1"/>
                  <a:t>sin</a:t>
                </a:r>
                <a:r>
                  <a:rPr lang="en-US" altLang="zh-CN" sz="2100" dirty="0"/>
                  <a:t>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t) 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zh-CN" sz="2100" dirty="0"/>
                  <a:t>2. At </a:t>
                </a:r>
                <a:r>
                  <a:rPr lang="en-US" altLang="zh-CN" sz="2100" i="1" dirty="0"/>
                  <a:t>t</a:t>
                </a:r>
                <a:r>
                  <a:rPr lang="en-US" altLang="zh-CN" sz="2100" dirty="0"/>
                  <a:t> = 0, the tip of the rod has coordinates </a:t>
                </a:r>
              </a:p>
              <a:p>
                <a:pPr lvl="1" algn="just"/>
                <a:r>
                  <a:rPr lang="en-US" altLang="zh-CN" sz="2100" dirty="0"/>
                  <a:t>(</a:t>
                </a:r>
                <a:r>
                  <a:rPr lang="en-US" altLang="zh-CN" sz="2100" i="1" dirty="0"/>
                  <a:t>X</a:t>
                </a:r>
                <a:r>
                  <a:rPr lang="en-US" altLang="zh-CN" sz="2100" dirty="0"/>
                  <a:t>, </a:t>
                </a:r>
                <a:r>
                  <a:rPr lang="en-US" altLang="zh-CN" sz="2100" i="1" dirty="0"/>
                  <a:t>Y</a:t>
                </a:r>
                <a:r>
                  <a:rPr lang="en-US" altLang="zh-CN" sz="2100" dirty="0"/>
                  <a:t>) = (</a:t>
                </a:r>
                <a:r>
                  <a:rPr lang="en-US" altLang="zh-CN" sz="2100" i="1" dirty="0" err="1"/>
                  <a:t>A</a:t>
                </a:r>
                <a:r>
                  <a:rPr lang="en-US" altLang="zh-CN" sz="2100" dirty="0" err="1"/>
                  <a:t>cos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i="1" dirty="0"/>
                  <a:t>, </a:t>
                </a:r>
                <a:r>
                  <a:rPr lang="en-US" altLang="zh-CN" sz="2100" i="1" dirty="0" err="1"/>
                  <a:t>A</a:t>
                </a:r>
                <a:r>
                  <a:rPr lang="en-US" altLang="zh-CN" sz="2100" dirty="0" err="1"/>
                  <a:t>sin</a:t>
                </a:r>
                <a:r>
                  <a:rPr lang="en-US" altLang="zh-CN" sz="2100" i="1" dirty="0" err="1"/>
                  <a:t>φ</a:t>
                </a:r>
                <a:r>
                  <a:rPr lang="en-US" altLang="zh-CN" sz="2100" dirty="0"/>
                  <a:t>)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zh-CN" sz="2100" dirty="0"/>
                  <a:t>3. If plane is a complex plane, the complex number </a:t>
                </a:r>
                <a:r>
                  <a:rPr lang="en-US" altLang="zh-CN" sz="2100" i="1" dirty="0"/>
                  <a:t>X</a:t>
                </a:r>
                <a:r>
                  <a:rPr lang="en-US" altLang="zh-CN" sz="2100" dirty="0"/>
                  <a:t> + </a:t>
                </a:r>
                <a:r>
                  <a:rPr lang="en-US" altLang="zh-CN" sz="2100" i="1" dirty="0" err="1"/>
                  <a:t>jY</a:t>
                </a:r>
                <a:r>
                  <a:rPr lang="en-US" altLang="zh-CN" sz="2100" dirty="0"/>
                  <a:t> corresponding to the tip of the rod at </a:t>
                </a:r>
                <a:r>
                  <a:rPr lang="en-US" altLang="zh-CN" sz="2100" i="1" dirty="0"/>
                  <a:t>t</a:t>
                </a:r>
                <a:r>
                  <a:rPr lang="en-US" altLang="zh-CN" sz="2100" dirty="0"/>
                  <a:t> = 0 is called a </a:t>
                </a:r>
                <a:r>
                  <a:rPr lang="en-US" altLang="zh-CN" sz="2100" dirty="0">
                    <a:solidFill>
                      <a:srgbClr val="0000FF"/>
                    </a:solidFill>
                  </a:rPr>
                  <a:t>phasor</a:t>
                </a:r>
                <a:r>
                  <a:rPr lang="en-US" altLang="zh-CN" sz="2100" dirty="0"/>
                  <a:t>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zh-CN" sz="2100" dirty="0"/>
                  <a:t>4. The </a:t>
                </a:r>
                <a:r>
                  <a:rPr lang="en-US" altLang="zh-CN" sz="2100" dirty="0">
                    <a:solidFill>
                      <a:srgbClr val="0000FF"/>
                    </a:solidFill>
                  </a:rPr>
                  <a:t>magnitude</a:t>
                </a:r>
                <a:r>
                  <a:rPr lang="en-US" altLang="zh-CN" sz="2100" dirty="0"/>
                  <a:t> of the phasor, </a:t>
                </a:r>
                <a14:m>
                  <m:oMath xmlns:m="http://schemas.openxmlformats.org/officeDocument/2006/math">
                    <m:r>
                      <a:rPr lang="en-US" altLang="zh-CN" sz="21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1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1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2100" dirty="0"/>
                  <a:t>, gives the amplitude (peak value) of the sine wave. 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zh-CN" sz="2100" dirty="0"/>
                  <a:t>5. The </a:t>
                </a:r>
                <a:r>
                  <a:rPr lang="en-US" altLang="zh-CN" sz="2100" dirty="0">
                    <a:solidFill>
                      <a:srgbClr val="0000FF"/>
                    </a:solidFill>
                  </a:rPr>
                  <a:t>argument</a:t>
                </a:r>
                <a:r>
                  <a:rPr lang="en-US" altLang="zh-CN" sz="2100" dirty="0"/>
                  <a:t> of the phasor, </a:t>
                </a:r>
                <a:r>
                  <a:rPr lang="en-US" altLang="zh-CN" sz="2100" i="1" dirty="0"/>
                  <a:t>φ</a:t>
                </a:r>
                <a:r>
                  <a:rPr lang="en-US" altLang="zh-CN" sz="2100" dirty="0"/>
                  <a:t>, gives the phase shift relative to the cos(</a:t>
                </a:r>
                <a:r>
                  <a:rPr lang="el-GR" altLang="zh-CN" sz="2100" dirty="0"/>
                  <a:t>ω</a:t>
                </a:r>
                <a:r>
                  <a:rPr lang="en-US" altLang="zh-CN" sz="2100" dirty="0"/>
                  <a:t>t).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06" y="1130901"/>
                <a:ext cx="7873492" cy="4977196"/>
              </a:xfrm>
              <a:prstGeom prst="rect">
                <a:avLst/>
              </a:prstGeom>
              <a:blipFill>
                <a:blip r:embed="rId3"/>
                <a:stretch>
                  <a:fillRect l="-930" t="-858" r="-930"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/>
          <p:cNvGrpSpPr/>
          <p:nvPr/>
        </p:nvGrpSpPr>
        <p:grpSpPr>
          <a:xfrm>
            <a:off x="8534400" y="1905000"/>
            <a:ext cx="3429000" cy="3429000"/>
            <a:chOff x="927100" y="1638301"/>
            <a:chExt cx="3429000" cy="3429000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927100" y="3352800"/>
              <a:ext cx="3429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16200000">
              <a:off x="927100" y="3352801"/>
              <a:ext cx="3429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endCxn id="35" idx="7"/>
            </p:cNvCxnSpPr>
            <p:nvPr/>
          </p:nvCxnSpPr>
          <p:spPr>
            <a:xfrm flipV="1">
              <a:off x="2616199" y="2461845"/>
              <a:ext cx="916355" cy="890955"/>
            </a:xfrm>
            <a:prstGeom prst="line">
              <a:avLst/>
            </a:prstGeom>
            <a:ln w="635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/>
            <p:cNvSpPr/>
            <p:nvPr/>
          </p:nvSpPr>
          <p:spPr>
            <a:xfrm>
              <a:off x="1381599" y="2092800"/>
              <a:ext cx="2520000" cy="2520000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弧形 35"/>
            <p:cNvSpPr/>
            <p:nvPr/>
          </p:nvSpPr>
          <p:spPr>
            <a:xfrm rot="20570401">
              <a:off x="2705540" y="3038124"/>
              <a:ext cx="458772" cy="502660"/>
            </a:xfrm>
            <a:prstGeom prst="arc">
              <a:avLst>
                <a:gd name="adj1" fmla="val 18375946"/>
                <a:gd name="adj2" fmla="val 1578053"/>
              </a:avLst>
            </a:prstGeom>
            <a:ln>
              <a:solidFill>
                <a:srgbClr val="FF0000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/>
                <p:cNvSpPr/>
                <p:nvPr/>
              </p:nvSpPr>
              <p:spPr>
                <a:xfrm>
                  <a:off x="3126835" y="2831624"/>
                  <a:ext cx="444352" cy="4462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300" i="1" dirty="0"/>
                          <m:t>φ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835" y="2831624"/>
                  <a:ext cx="444352" cy="446276"/>
                </a:xfrm>
                <a:prstGeom prst="rect">
                  <a:avLst/>
                </a:prstGeom>
                <a:blipFill>
                  <a:blip r:embed="rId4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 Phasors 1 (c)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5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27" name="矩形 26"/>
          <p:cNvSpPr/>
          <p:nvPr/>
        </p:nvSpPr>
        <p:spPr>
          <a:xfrm>
            <a:off x="3145783" y="1257141"/>
            <a:ext cx="198483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dirty="0">
                <a:solidFill>
                  <a:srgbClr val="FF0000"/>
                </a:solidFill>
              </a:rPr>
              <a:t>Phasor domain</a:t>
            </a:r>
            <a:endParaRPr lang="zh-CN" altLang="en-US" sz="2300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66694" y="1257141"/>
            <a:ext cx="182453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dirty="0">
                <a:solidFill>
                  <a:srgbClr val="0000FF"/>
                </a:solidFill>
              </a:rPr>
              <a:t>Time domain</a:t>
            </a:r>
            <a:endParaRPr lang="zh-CN" altLang="en-US" sz="2300" dirty="0">
              <a:solidFill>
                <a:srgbClr val="0000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53298" y="1714341"/>
            <a:ext cx="185416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r>
              <a:rPr lang="en-US" altLang="zh-CN" sz="23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(t) = </a:t>
            </a:r>
            <a:r>
              <a:rPr lang="en-US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cos(</a:t>
            </a:r>
            <a:r>
              <a:rPr lang="el-GR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ω</a:t>
            </a:r>
            <a:r>
              <a:rPr lang="en-US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zh-CN" altLang="en-US" sz="2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82465" y="1714341"/>
            <a:ext cx="2111475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r>
              <a:rPr lang="en-US" altLang="zh-CN" sz="2300" b="1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1, </a:t>
            </a:r>
            <a:r>
              <a:rPr lang="en-US" altLang="zh-CN" sz="2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50 Hz</a:t>
            </a:r>
            <a:endParaRPr lang="zh-CN" altLang="en-US" sz="2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左右箭头 64"/>
          <p:cNvSpPr/>
          <p:nvPr/>
        </p:nvSpPr>
        <p:spPr>
          <a:xfrm>
            <a:off x="5391266" y="1823179"/>
            <a:ext cx="335160" cy="228600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48000" y="2171541"/>
            <a:ext cx="2180405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r>
              <a:rPr lang="en-US" altLang="zh-CN" sz="2300" b="1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–</a:t>
            </a:r>
            <a:r>
              <a:rPr lang="en-US" altLang="zh-CN" sz="2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sz="2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50 Hz</a:t>
            </a:r>
            <a:endParaRPr lang="zh-CN" altLang="en-US" sz="2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0934" y="2171541"/>
            <a:ext cx="186621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  <a:r>
              <a:rPr lang="en-US" altLang="zh-CN" sz="23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(t) = </a:t>
            </a:r>
            <a:r>
              <a:rPr lang="en-US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sin(</a:t>
            </a:r>
            <a:r>
              <a:rPr lang="el-GR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ω</a:t>
            </a:r>
            <a:r>
              <a:rPr lang="en-US" altLang="zh-CN" sz="2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CN" sz="2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zh-CN" altLang="en-US" sz="2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左右箭头 65"/>
          <p:cNvSpPr/>
          <p:nvPr/>
        </p:nvSpPr>
        <p:spPr>
          <a:xfrm>
            <a:off x="5391266" y="2313017"/>
            <a:ext cx="335160" cy="228600"/>
          </a:xfrm>
          <a:prstGeom prst="left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3746909" y="2933541"/>
            <a:ext cx="7409546" cy="1028859"/>
            <a:chOff x="3746909" y="2584554"/>
            <a:chExt cx="7409546" cy="1028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矩形 57"/>
                <p:cNvSpPr/>
                <p:nvPr/>
              </p:nvSpPr>
              <p:spPr>
                <a:xfrm>
                  <a:off x="3746909" y="2613139"/>
                  <a:ext cx="1481496" cy="10002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altLang="zh-CN" sz="2700" b="1" dirty="0"/>
                    <a:t>V</a:t>
                  </a:r>
                  <a:r>
                    <a:rPr lang="en-US" altLang="zh-CN" sz="2700" dirty="0"/>
                    <a:t> = X + </a:t>
                  </a:r>
                  <a:r>
                    <a:rPr lang="en-US" altLang="zh-CN" sz="2700" dirty="0" err="1"/>
                    <a:t>jY</a:t>
                  </a:r>
                  <a:endParaRPr lang="en-US" altLang="zh-CN" sz="2700" dirty="0"/>
                </a:p>
                <a:p>
                  <a:pPr>
                    <a:spcAft>
                      <a:spcPts val="600"/>
                    </a:spcAft>
                  </a:pPr>
                  <a:r>
                    <a:rPr lang="en-US" altLang="zh-CN" sz="2700" b="1" dirty="0"/>
                    <a:t>V</a:t>
                  </a:r>
                  <a:r>
                    <a:rPr lang="en-US" altLang="zh-CN" sz="2700" dirty="0"/>
                    <a:t> = A</a:t>
                  </a:r>
                  <a14:m>
                    <m:oMath xmlns:m="http://schemas.openxmlformats.org/officeDocument/2006/math">
                      <m:r>
                        <a:rPr lang="en-US" altLang="zh-CN" sz="2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m:rPr>
                          <m:nor/>
                        </m:rPr>
                        <a:rPr lang="en-US" altLang="zh-CN" sz="2700" i="1" dirty="0"/>
                        <m:t>φ</m:t>
                      </m:r>
                    </m:oMath>
                  </a14:m>
                  <a:endParaRPr lang="zh-CN" altLang="en-US" sz="2700" dirty="0"/>
                </a:p>
              </p:txBody>
            </p:sp>
          </mc:Choice>
          <mc:Fallback xmlns="">
            <p:sp>
              <p:nvSpPr>
                <p:cNvPr id="58" name="矩形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6909" y="2613139"/>
                  <a:ext cx="1481496" cy="1000274"/>
                </a:xfrm>
                <a:prstGeom prst="rect">
                  <a:avLst/>
                </a:prstGeom>
                <a:blipFill>
                  <a:blip r:embed="rId3"/>
                  <a:stretch>
                    <a:fillRect l="-7819" t="-5488" r="-6584" b="-152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矩形 58"/>
                <p:cNvSpPr/>
                <p:nvPr/>
              </p:nvSpPr>
              <p:spPr>
                <a:xfrm>
                  <a:off x="5826987" y="2584554"/>
                  <a:ext cx="5329468" cy="100027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altLang="zh-CN" sz="2700" i="1" dirty="0"/>
                    <a:t>v</a:t>
                  </a:r>
                  <a:r>
                    <a:rPr lang="en-US" altLang="zh-CN" sz="2700" dirty="0"/>
                    <a:t>(t) = </a:t>
                  </a:r>
                  <a:r>
                    <a:rPr lang="en-US" altLang="zh-CN" sz="2700" i="1" dirty="0" err="1" smtClean="0"/>
                    <a:t>X</a:t>
                  </a:r>
                  <a:r>
                    <a:rPr lang="en-US" altLang="zh-CN" sz="2700" dirty="0" err="1" smtClean="0"/>
                    <a:t>cos</a:t>
                  </a:r>
                  <a:r>
                    <a:rPr lang="en-US" altLang="zh-CN" sz="2700" dirty="0" smtClean="0"/>
                    <a:t>(</a:t>
                  </a:r>
                  <a:r>
                    <a:rPr lang="el-GR" altLang="zh-CN" sz="2700" dirty="0"/>
                    <a:t>ω</a:t>
                  </a:r>
                  <a:r>
                    <a:rPr lang="en-US" altLang="zh-CN" sz="2700" dirty="0" smtClean="0"/>
                    <a:t>t</a:t>
                  </a:r>
                  <a:r>
                    <a:rPr lang="en-US" altLang="zh-CN" sz="2700" dirty="0"/>
                    <a:t>)</a:t>
                  </a:r>
                  <a:r>
                    <a:rPr lang="zh-CN" altLang="en-US" sz="2700" dirty="0"/>
                    <a:t> </a:t>
                  </a:r>
                  <a:r>
                    <a:rPr lang="en-US" altLang="zh-CN" sz="2700" dirty="0"/>
                    <a:t>– </a:t>
                  </a:r>
                  <a:r>
                    <a:rPr lang="en-US" altLang="zh-CN" sz="2700" i="1" dirty="0" err="1" smtClean="0"/>
                    <a:t>Y</a:t>
                  </a:r>
                  <a:r>
                    <a:rPr lang="en-US" altLang="zh-CN" sz="2700" dirty="0" err="1" smtClean="0"/>
                    <a:t>sin</a:t>
                  </a:r>
                  <a:r>
                    <a:rPr lang="en-US" altLang="zh-CN" sz="2700" dirty="0" smtClean="0"/>
                    <a:t>(</a:t>
                  </a:r>
                  <a:r>
                    <a:rPr lang="el-GR" altLang="zh-CN" sz="2700" dirty="0"/>
                    <a:t>ω</a:t>
                  </a:r>
                  <a:r>
                    <a:rPr lang="en-US" altLang="zh-CN" sz="2700" dirty="0" smtClean="0"/>
                    <a:t>t</a:t>
                  </a:r>
                  <a:r>
                    <a:rPr lang="en-US" altLang="zh-CN" sz="2700" dirty="0"/>
                    <a:t>)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altLang="zh-CN" sz="2700" i="1" dirty="0"/>
                    <a:t>v</a:t>
                  </a:r>
                  <a:r>
                    <a:rPr lang="en-US" altLang="zh-CN" sz="2700" baseline="-25000" dirty="0"/>
                    <a:t>3</a:t>
                  </a:r>
                  <a:r>
                    <a:rPr lang="en-US" altLang="zh-CN" sz="2700" dirty="0"/>
                    <a:t>(t) = </a:t>
                  </a:r>
                  <a:r>
                    <a:rPr lang="en-US" altLang="zh-CN" sz="2700" dirty="0" err="1" smtClean="0"/>
                    <a:t>Acos</a:t>
                  </a:r>
                  <a:r>
                    <a:rPr lang="en-US" altLang="zh-CN" sz="2700" dirty="0" smtClean="0"/>
                    <a:t>(</a:t>
                  </a:r>
                  <a:r>
                    <a:rPr lang="el-GR" altLang="zh-CN" sz="2700" dirty="0"/>
                    <a:t>ω</a:t>
                  </a:r>
                  <a:r>
                    <a:rPr lang="en-US" altLang="zh-CN" sz="2700" i="1" dirty="0" smtClean="0"/>
                    <a:t>t </a:t>
                  </a:r>
                  <a:r>
                    <a:rPr lang="en-US" altLang="zh-CN" sz="2700" dirty="0"/>
                    <a:t>+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700" i="1" dirty="0"/>
                        <m:t>φ</m:t>
                      </m:r>
                    </m:oMath>
                  </a14:m>
                  <a:r>
                    <a:rPr lang="en-US" altLang="zh-CN" sz="2700" dirty="0"/>
                    <a:t>)</a:t>
                  </a:r>
                </a:p>
              </p:txBody>
            </p:sp>
          </mc:Choice>
          <mc:Fallback>
            <p:sp>
              <p:nvSpPr>
                <p:cNvPr id="59" name="矩形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987" y="2584554"/>
                  <a:ext cx="5329468" cy="1000274"/>
                </a:xfrm>
                <a:prstGeom prst="rect">
                  <a:avLst/>
                </a:prstGeom>
                <a:blipFill>
                  <a:blip r:embed="rId4"/>
                  <a:stretch>
                    <a:fillRect l="-2174" t="-5488" b="-158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左右箭头 72"/>
            <p:cNvSpPr/>
            <p:nvPr/>
          </p:nvSpPr>
          <p:spPr>
            <a:xfrm>
              <a:off x="5391266" y="2755368"/>
              <a:ext cx="335160" cy="228600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左右箭头 73"/>
            <p:cNvSpPr/>
            <p:nvPr/>
          </p:nvSpPr>
          <p:spPr>
            <a:xfrm>
              <a:off x="5391266" y="3252329"/>
              <a:ext cx="335160" cy="228600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-1" y="4368800"/>
            <a:ext cx="12192001" cy="1270000"/>
            <a:chOff x="-1" y="4076700"/>
            <a:chExt cx="12192001" cy="1270000"/>
          </a:xfrm>
        </p:grpSpPr>
        <p:sp>
          <p:nvSpPr>
            <p:cNvPr id="72" name="矩形 71"/>
            <p:cNvSpPr/>
            <p:nvPr/>
          </p:nvSpPr>
          <p:spPr>
            <a:xfrm>
              <a:off x="-1" y="4076700"/>
              <a:ext cx="12192001" cy="127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1447800" y="4108590"/>
              <a:ext cx="10209407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+mj-lt"/>
                <a:buAutoNum type="alphaLcParenR"/>
              </a:pPr>
              <a:r>
                <a:rPr lang="zh-CN" altLang="en-US" sz="2300" dirty="0"/>
                <a:t>A phasor represents an entire waveform (encompassing all time) as a single complex number. We assume the frequency, f, is known.</a:t>
              </a:r>
              <a:endParaRPr lang="en-US" altLang="zh-CN" sz="2300" dirty="0"/>
            </a:p>
            <a:p>
              <a:pPr marL="457200" indent="-457200">
                <a:buFont typeface="+mj-lt"/>
                <a:buAutoNum type="alphaLcParenR"/>
              </a:pPr>
              <a:r>
                <a:rPr lang="en-US" altLang="zh-CN" sz="2300" dirty="0"/>
                <a:t>A phasor does not vary with time.</a:t>
              </a:r>
              <a:endParaRPr lang="zh-CN" altLang="en-US" sz="23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024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1 (d)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6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1077656"/>
            <a:ext cx="12192000" cy="1589344"/>
            <a:chOff x="0" y="1077656"/>
            <a:chExt cx="12192000" cy="1589344"/>
          </a:xfrm>
        </p:grpSpPr>
        <p:sp>
          <p:nvSpPr>
            <p:cNvPr id="18" name="矩形 17"/>
            <p:cNvSpPr/>
            <p:nvPr/>
          </p:nvSpPr>
          <p:spPr>
            <a:xfrm>
              <a:off x="0" y="1077656"/>
              <a:ext cx="12192000" cy="15893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00" y="1077656"/>
              <a:ext cx="636215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700" dirty="0">
                  <a:solidFill>
                    <a:srgbClr val="0000FF"/>
                  </a:solidFill>
                </a:rPr>
                <a:t>At a certain time </a:t>
              </a:r>
              <a:r>
                <a:rPr lang="en-US" altLang="zh-CN" sz="2700" i="1" dirty="0">
                  <a:solidFill>
                    <a:srgbClr val="0000FF"/>
                  </a:solidFill>
                </a:rPr>
                <a:t>t</a:t>
              </a:r>
              <a:r>
                <a:rPr lang="en-US" altLang="zh-CN" sz="2700" dirty="0">
                  <a:solidFill>
                    <a:srgbClr val="0000FF"/>
                  </a:solidFill>
                </a:rPr>
                <a:t>:</a:t>
              </a:r>
              <a:endParaRPr lang="el-GR" altLang="zh-CN" sz="2700" dirty="0">
                <a:solidFill>
                  <a:srgbClr val="0000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/>
                <p:cNvSpPr txBox="1"/>
                <p:nvPr/>
              </p:nvSpPr>
              <p:spPr>
                <a:xfrm>
                  <a:off x="596900" y="1638103"/>
                  <a:ext cx="10856946" cy="9526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500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sz="2500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  <m:sSup>
                          <m:sSup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5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5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sz="25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5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5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altLang="zh-CN" sz="2500" dirty="0"/>
                </a:p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altLang="zh-CN" sz="2500" b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  <m:sSup>
                          <m:sSupPr>
                            <m:ctrlP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5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5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𝑗𝑉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5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altLang="zh-CN" sz="25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𝐑𝐞</m:t>
                        </m:r>
                        <m:r>
                          <a:rPr lang="en-US" altLang="zh-CN" sz="25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5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  <m:sSup>
                          <m:sSupPr>
                            <m:ctrlPr>
                              <a:rPr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5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5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5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5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5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5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5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5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zh-CN" sz="2500" b="0" dirty="0"/>
                </a:p>
              </p:txBody>
            </p:sp>
          </mc:Choice>
          <mc:Fallback xmlns="">
            <p:sp>
              <p:nvSpPr>
                <p:cNvPr id="44" name="文本框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00" y="1638103"/>
                  <a:ext cx="10856946" cy="952697"/>
                </a:xfrm>
                <a:prstGeom prst="rect">
                  <a:avLst/>
                </a:prstGeom>
                <a:blipFill>
                  <a:blip r:embed="rId3"/>
                  <a:stretch>
                    <a:fillRect l="-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/>
          <p:cNvGrpSpPr/>
          <p:nvPr/>
        </p:nvGrpSpPr>
        <p:grpSpPr>
          <a:xfrm>
            <a:off x="7041618" y="3121909"/>
            <a:ext cx="4876800" cy="2927157"/>
            <a:chOff x="7162800" y="3029460"/>
            <a:chExt cx="4876800" cy="2927157"/>
          </a:xfrm>
        </p:grpSpPr>
        <p:pic>
          <p:nvPicPr>
            <p:cNvPr id="39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3484350"/>
              <a:ext cx="4876800" cy="2472267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8517068" y="3029460"/>
              <a:ext cx="2041264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00" dirty="0"/>
                <a:t>At time goes by</a:t>
              </a:r>
              <a:endParaRPr lang="zh-CN" altLang="en-US" sz="2300" dirty="0"/>
            </a:p>
          </p:txBody>
        </p:sp>
      </p:grpSp>
      <p:pic>
        <p:nvPicPr>
          <p:cNvPr id="43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3328991"/>
            <a:ext cx="6863818" cy="276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(a)</a:t>
            </a:r>
            <a:endParaRPr lang="zh-CN" altLang="en-US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7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pic>
        <p:nvPicPr>
          <p:cNvPr id="1026" name="Picture 2" descr="查看源图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120775"/>
            <a:ext cx="7131127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80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(a)</a:t>
            </a:r>
            <a:endParaRPr lang="zh-CN" altLang="en-US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8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grpSp>
        <p:nvGrpSpPr>
          <p:cNvPr id="32" name="组合 31"/>
          <p:cNvGrpSpPr/>
          <p:nvPr/>
        </p:nvGrpSpPr>
        <p:grpSpPr>
          <a:xfrm>
            <a:off x="1905000" y="1219200"/>
            <a:ext cx="9067800" cy="4953000"/>
            <a:chOff x="1956297" y="1295400"/>
            <a:chExt cx="9067800" cy="4953000"/>
          </a:xfrm>
        </p:grpSpPr>
        <p:grpSp>
          <p:nvGrpSpPr>
            <p:cNvPr id="30" name="组合 29"/>
            <p:cNvGrpSpPr/>
            <p:nvPr/>
          </p:nvGrpSpPr>
          <p:grpSpPr>
            <a:xfrm>
              <a:off x="2070100" y="1905000"/>
              <a:ext cx="8140700" cy="3068686"/>
              <a:chOff x="2070100" y="1617554"/>
              <a:chExt cx="8140700" cy="306868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070100" y="1806240"/>
                <a:ext cx="3429000" cy="2880000"/>
                <a:chOff x="2032000" y="2667000"/>
                <a:chExt cx="3429000" cy="2880000"/>
              </a:xfrm>
            </p:grpSpPr>
            <p:cxnSp>
              <p:nvCxnSpPr>
                <p:cNvPr id="11" name="直接连接符 10"/>
                <p:cNvCxnSpPr/>
                <p:nvPr/>
              </p:nvCxnSpPr>
              <p:spPr>
                <a:xfrm>
                  <a:off x="2514600" y="2667000"/>
                  <a:ext cx="0" cy="2880000"/>
                </a:xfrm>
                <a:prstGeom prst="line">
                  <a:avLst/>
                </a:prstGeom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 rot="5400000">
                  <a:off x="3746500" y="3390900"/>
                  <a:ext cx="0" cy="3429000"/>
                </a:xfrm>
                <a:prstGeom prst="line">
                  <a:avLst/>
                </a:prstGeom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 flipH="1">
                  <a:off x="2514600" y="3505200"/>
                  <a:ext cx="2590800" cy="1600200"/>
                </a:xfrm>
                <a:prstGeom prst="line">
                  <a:avLst/>
                </a:prstGeom>
                <a:ln w="38100">
                  <a:solidFill>
                    <a:srgbClr val="0000FF"/>
                  </a:solidFill>
                  <a:headEnd type="triangle" w="lg" len="lg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组合 28"/>
              <p:cNvGrpSpPr/>
              <p:nvPr/>
            </p:nvGrpSpPr>
            <p:grpSpPr>
              <a:xfrm>
                <a:off x="6560457" y="1617554"/>
                <a:ext cx="3650343" cy="3058997"/>
                <a:chOff x="6477000" y="2310706"/>
                <a:chExt cx="3650343" cy="3058997"/>
              </a:xfrm>
            </p:grpSpPr>
            <p:grpSp>
              <p:nvGrpSpPr>
                <p:cNvPr id="47" name="组合 46"/>
                <p:cNvGrpSpPr/>
                <p:nvPr/>
              </p:nvGrpSpPr>
              <p:grpSpPr>
                <a:xfrm>
                  <a:off x="6477000" y="2489703"/>
                  <a:ext cx="3429000" cy="2880000"/>
                  <a:chOff x="2032000" y="2667000"/>
                  <a:chExt cx="3429000" cy="2880000"/>
                </a:xfrm>
              </p:grpSpPr>
              <p:cxnSp>
                <p:nvCxnSpPr>
                  <p:cNvPr id="48" name="直接连接符 47"/>
                  <p:cNvCxnSpPr/>
                  <p:nvPr/>
                </p:nvCxnSpPr>
                <p:spPr>
                  <a:xfrm>
                    <a:off x="2514600" y="2667000"/>
                    <a:ext cx="0" cy="2880000"/>
                  </a:xfrm>
                  <a:prstGeom prst="line">
                    <a:avLst/>
                  </a:prstGeom>
                  <a:ln w="381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/>
                  <p:cNvCxnSpPr/>
                  <p:nvPr/>
                </p:nvCxnSpPr>
                <p:spPr>
                  <a:xfrm rot="5400000">
                    <a:off x="3746500" y="3390900"/>
                    <a:ext cx="0" cy="3429000"/>
                  </a:xfrm>
                  <a:prstGeom prst="line">
                    <a:avLst/>
                  </a:prstGeom>
                  <a:ln w="381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/>
                  <p:cNvCxnSpPr/>
                  <p:nvPr/>
                </p:nvCxnSpPr>
                <p:spPr>
                  <a:xfrm flipH="1">
                    <a:off x="2514600" y="3505200"/>
                    <a:ext cx="2590800" cy="160020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headEnd type="triangle" w="lg" len="lg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弧形 25"/>
                <p:cNvSpPr/>
                <p:nvPr/>
              </p:nvSpPr>
              <p:spPr>
                <a:xfrm>
                  <a:off x="7396844" y="2459808"/>
                  <a:ext cx="2730499" cy="2909895"/>
                </a:xfrm>
                <a:prstGeom prst="arc">
                  <a:avLst>
                    <a:gd name="adj1" fmla="val 17467377"/>
                    <a:gd name="adj2" fmla="val 21052789"/>
                  </a:avLst>
                </a:prstGeom>
                <a:ln>
                  <a:solidFill>
                    <a:srgbClr val="FF0000"/>
                  </a:solidFill>
                  <a:head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9691341" y="2310706"/>
                  <a:ext cx="425116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altLang="zh-CN" sz="2700" dirty="0">
                      <a:solidFill>
                        <a:srgbClr val="FF0000"/>
                      </a:solidFill>
                    </a:rPr>
                    <a:t>ω</a:t>
                  </a:r>
                  <a:endParaRPr lang="zh-CN" altLang="en-US" sz="27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53" name="文本占位符 1"/>
            <p:cNvSpPr txBox="1">
              <a:spLocks/>
            </p:cNvSpPr>
            <p:nvPr/>
          </p:nvSpPr>
          <p:spPr>
            <a:xfrm>
              <a:off x="2694214" y="1295400"/>
              <a:ext cx="2563586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000" b="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0000FF"/>
                  </a:solidFill>
                </a:rPr>
                <a:t>Vectors </a:t>
              </a:r>
              <a:r>
                <a:rPr lang="zh-CN" altLang="en-US" dirty="0">
                  <a:solidFill>
                    <a:srgbClr val="0000FF"/>
                  </a:solidFill>
                </a:rPr>
                <a:t>向量</a:t>
              </a:r>
            </a:p>
          </p:txBody>
        </p:sp>
        <p:sp>
          <p:nvSpPr>
            <p:cNvPr id="63" name="文本占位符 1"/>
            <p:cNvSpPr txBox="1">
              <a:spLocks/>
            </p:cNvSpPr>
            <p:nvPr/>
          </p:nvSpPr>
          <p:spPr>
            <a:xfrm>
              <a:off x="6986814" y="1295400"/>
              <a:ext cx="2563586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000" b="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0000"/>
                  </a:solidFill>
                </a:rPr>
                <a:t>Phasors </a:t>
              </a:r>
              <a:r>
                <a:rPr lang="zh-CN" altLang="en-US" dirty="0">
                  <a:solidFill>
                    <a:srgbClr val="FF0000"/>
                  </a:solidFill>
                </a:rPr>
                <a:t>相量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956297" y="5094238"/>
              <a:ext cx="3542803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300" dirty="0"/>
                <a:t>Vectors are stationary and pointing toward a point on a plane</a:t>
              </a:r>
              <a:endParaRPr lang="zh-CN" altLang="en-US" sz="23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331857" y="5094238"/>
              <a:ext cx="469224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300" dirty="0"/>
                <a:t>Phasors is a complex number, and “a vector rotating at a certain frequency </a:t>
              </a:r>
              <a:r>
                <a:rPr lang="el-GR" altLang="zh-CN" sz="2300" dirty="0"/>
                <a:t>ω</a:t>
              </a:r>
              <a:r>
                <a:rPr lang="en-US" altLang="zh-CN" sz="2300" dirty="0"/>
                <a:t> on a complex plane”.</a:t>
              </a:r>
              <a:endParaRPr lang="el-GR" altLang="zh-CN" sz="2300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2211811" y="4541611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5215103" y="4541611"/>
              <a:ext cx="2840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2220628" y="2034735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67" name="矩形 66"/>
            <p:cNvSpPr/>
            <p:nvPr/>
          </p:nvSpPr>
          <p:spPr>
            <a:xfrm>
              <a:off x="9789723" y="4541611"/>
              <a:ext cx="42107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Re</a:t>
              </a:r>
              <a:endParaRPr lang="zh-CN" altLang="en-US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6605814" y="1951359"/>
              <a:ext cx="4267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/>
                <a:t>Im</a:t>
              </a:r>
              <a:endParaRPr lang="zh-CN" altLang="en-US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6616941" y="4541611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8187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(b)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9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845457" y="1143000"/>
            <a:ext cx="3650343" cy="4953000"/>
            <a:chOff x="304800" y="1143000"/>
            <a:chExt cx="3650343" cy="4953000"/>
          </a:xfrm>
        </p:grpSpPr>
        <p:grpSp>
          <p:nvGrpSpPr>
            <p:cNvPr id="6" name="组合 5"/>
            <p:cNvGrpSpPr/>
            <p:nvPr/>
          </p:nvGrpSpPr>
          <p:grpSpPr>
            <a:xfrm>
              <a:off x="304800" y="1143000"/>
              <a:ext cx="3650343" cy="4953000"/>
              <a:chOff x="990600" y="1143000"/>
              <a:chExt cx="3650343" cy="4953000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90600" y="1752600"/>
                <a:ext cx="3650343" cy="3058997"/>
                <a:chOff x="6477000" y="2310706"/>
                <a:chExt cx="3650343" cy="3058997"/>
              </a:xfrm>
            </p:grpSpPr>
            <p:grpSp>
              <p:nvGrpSpPr>
                <p:cNvPr id="47" name="组合 46"/>
                <p:cNvGrpSpPr/>
                <p:nvPr/>
              </p:nvGrpSpPr>
              <p:grpSpPr>
                <a:xfrm>
                  <a:off x="6477000" y="2489703"/>
                  <a:ext cx="3429000" cy="2880000"/>
                  <a:chOff x="2032000" y="2667000"/>
                  <a:chExt cx="3429000" cy="2880000"/>
                </a:xfrm>
              </p:grpSpPr>
              <p:cxnSp>
                <p:nvCxnSpPr>
                  <p:cNvPr id="48" name="直接连接符 47"/>
                  <p:cNvCxnSpPr/>
                  <p:nvPr/>
                </p:nvCxnSpPr>
                <p:spPr>
                  <a:xfrm>
                    <a:off x="2514600" y="2667000"/>
                    <a:ext cx="0" cy="2880000"/>
                  </a:xfrm>
                  <a:prstGeom prst="line">
                    <a:avLst/>
                  </a:prstGeom>
                  <a:ln w="381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/>
                  <p:cNvCxnSpPr/>
                  <p:nvPr/>
                </p:nvCxnSpPr>
                <p:spPr>
                  <a:xfrm rot="5400000">
                    <a:off x="3746500" y="3390900"/>
                    <a:ext cx="0" cy="3429000"/>
                  </a:xfrm>
                  <a:prstGeom prst="line">
                    <a:avLst/>
                  </a:prstGeom>
                  <a:ln w="381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/>
                  <p:cNvCxnSpPr/>
                  <p:nvPr/>
                </p:nvCxnSpPr>
                <p:spPr>
                  <a:xfrm flipH="1">
                    <a:off x="2514600" y="3505200"/>
                    <a:ext cx="2590800" cy="160020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headEnd type="triangle" w="lg" len="lg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弧形 25"/>
                <p:cNvSpPr/>
                <p:nvPr/>
              </p:nvSpPr>
              <p:spPr>
                <a:xfrm>
                  <a:off x="7396844" y="2459808"/>
                  <a:ext cx="2730499" cy="2909895"/>
                </a:xfrm>
                <a:prstGeom prst="arc">
                  <a:avLst>
                    <a:gd name="adj1" fmla="val 17467377"/>
                    <a:gd name="adj2" fmla="val 21052789"/>
                  </a:avLst>
                </a:prstGeom>
                <a:ln>
                  <a:solidFill>
                    <a:srgbClr val="FF0000"/>
                  </a:solidFill>
                  <a:head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9691341" y="2310706"/>
                  <a:ext cx="425116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altLang="zh-CN" sz="2700" dirty="0">
                      <a:solidFill>
                        <a:srgbClr val="FF0000"/>
                      </a:solidFill>
                    </a:rPr>
                    <a:t>ω</a:t>
                  </a:r>
                  <a:endParaRPr lang="zh-CN" altLang="en-US" sz="2700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63" name="文本占位符 1"/>
              <p:cNvSpPr txBox="1">
                <a:spLocks/>
              </p:cNvSpPr>
              <p:nvPr/>
            </p:nvSpPr>
            <p:spPr>
              <a:xfrm>
                <a:off x="1416957" y="1143000"/>
                <a:ext cx="2563586" cy="533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000" b="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FF0000"/>
                    </a:solidFill>
                  </a:rPr>
                  <a:t>Phasors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相量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990600" y="4941838"/>
                <a:ext cx="3650343" cy="115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300" dirty="0"/>
                  <a:t>Phasors is vector rotating at a certain frequency </a:t>
                </a:r>
                <a:r>
                  <a:rPr lang="el-GR" altLang="zh-CN" sz="2300" dirty="0"/>
                  <a:t>ω</a:t>
                </a:r>
                <a:r>
                  <a:rPr lang="en-US" altLang="zh-CN" sz="2300" dirty="0"/>
                  <a:t> on the complex plane.</a:t>
                </a:r>
                <a:endParaRPr lang="el-GR" altLang="zh-CN" sz="2300" dirty="0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4219866" y="4389211"/>
                <a:ext cx="4210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Re</a:t>
                </a:r>
                <a:endParaRPr lang="zh-CN" altLang="en-US" dirty="0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035957" y="1798959"/>
                <a:ext cx="426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/>
                  <a:t>Im</a:t>
                </a:r>
                <a:endParaRPr lang="zh-CN" altLang="en-US" dirty="0"/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1047084" y="4389211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</p:grpSp>
        <p:sp>
          <p:nvSpPr>
            <p:cNvPr id="33" name="弧形 32"/>
            <p:cNvSpPr/>
            <p:nvPr/>
          </p:nvSpPr>
          <p:spPr>
            <a:xfrm rot="1349653">
              <a:off x="1221099" y="3928939"/>
              <a:ext cx="458772" cy="502660"/>
            </a:xfrm>
            <a:prstGeom prst="arc">
              <a:avLst>
                <a:gd name="adj1" fmla="val 15681841"/>
                <a:gd name="adj2" fmla="val 1578053"/>
              </a:avLst>
            </a:prstGeom>
            <a:ln>
              <a:solidFill>
                <a:srgbClr val="FF0000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/>
                <p:cNvSpPr/>
                <p:nvPr/>
              </p:nvSpPr>
              <p:spPr>
                <a:xfrm>
                  <a:off x="1805619" y="3904508"/>
                  <a:ext cx="427361" cy="4462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5619" y="3904508"/>
                  <a:ext cx="427361" cy="446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/>
          <p:cNvGrpSpPr/>
          <p:nvPr/>
        </p:nvGrpSpPr>
        <p:grpSpPr>
          <a:xfrm>
            <a:off x="5029200" y="1295400"/>
            <a:ext cx="7162800" cy="4804228"/>
            <a:chOff x="5029200" y="1422400"/>
            <a:chExt cx="7162800" cy="4804228"/>
          </a:xfrm>
        </p:grpSpPr>
        <p:sp>
          <p:nvSpPr>
            <p:cNvPr id="18" name="矩形 17"/>
            <p:cNvSpPr/>
            <p:nvPr/>
          </p:nvSpPr>
          <p:spPr>
            <a:xfrm>
              <a:off x="5029200" y="1422400"/>
              <a:ext cx="7162800" cy="4804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5105400" y="1458810"/>
              <a:ext cx="6440575" cy="4560990"/>
              <a:chOff x="5141825" y="1291128"/>
              <a:chExt cx="6440575" cy="4560990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5141825" y="1291128"/>
                <a:ext cx="552617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700" dirty="0">
                    <a:solidFill>
                      <a:srgbClr val="0000FF"/>
                    </a:solidFill>
                  </a:rPr>
                  <a:t>(1) At </a:t>
                </a:r>
                <a:r>
                  <a:rPr lang="en-US" altLang="zh-CN" sz="2700" i="1" dirty="0">
                    <a:solidFill>
                      <a:srgbClr val="0000FF"/>
                    </a:solidFill>
                  </a:rPr>
                  <a:t>t</a:t>
                </a:r>
                <a:r>
                  <a:rPr lang="en-US" altLang="zh-CN" sz="2700" dirty="0">
                    <a:solidFill>
                      <a:srgbClr val="0000FF"/>
                    </a:solidFill>
                  </a:rPr>
                  <a:t> = 0: (to define the vector) </a:t>
                </a:r>
                <a:endParaRPr lang="el-GR" altLang="zh-CN" sz="2700" dirty="0">
                  <a:solidFill>
                    <a:srgbClr val="0000FF"/>
                  </a:solidFill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6038533" y="1905000"/>
                <a:ext cx="5239067" cy="1826801"/>
                <a:chOff x="6460236" y="2025184"/>
                <a:chExt cx="5239067" cy="18268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文本框 6"/>
                    <p:cNvSpPr txBox="1"/>
                    <p:nvPr/>
                  </p:nvSpPr>
                  <p:spPr>
                    <a:xfrm>
                      <a:off x="6711847" y="2025184"/>
                      <a:ext cx="4987456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700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  <m:r>
                              <a:rPr lang="en-US" altLang="zh-CN" sz="270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7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700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US" altLang="zh-CN" sz="2700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700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7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altLang="en-US" sz="27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sz="27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70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sz="270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oMath>
                        </m:oMathPara>
                      </a14:m>
                      <a:endParaRPr lang="zh-CN" altLang="en-US" sz="2700" dirty="0"/>
                    </a:p>
                  </p:txBody>
                </p:sp>
              </mc:Choice>
              <mc:Fallback xmlns="">
                <p:sp>
                  <p:nvSpPr>
                    <p:cNvPr id="7" name="文本框 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1847" y="2025184"/>
                      <a:ext cx="4987456" cy="41549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文本框 33"/>
                    <p:cNvSpPr txBox="1"/>
                    <p:nvPr/>
                  </p:nvSpPr>
                  <p:spPr>
                    <a:xfrm>
                      <a:off x="6711847" y="3418148"/>
                      <a:ext cx="1707712" cy="43383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700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  <m:r>
                              <a:rPr lang="en-US" altLang="zh-CN" sz="270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27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oMath>
                        </m:oMathPara>
                      </a14:m>
                      <a:endParaRPr lang="zh-CN" altLang="en-US" sz="2700" dirty="0"/>
                    </a:p>
                  </p:txBody>
                </p:sp>
              </mc:Choice>
              <mc:Fallback xmlns="">
                <p:sp>
                  <p:nvSpPr>
                    <p:cNvPr id="34" name="文本框 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1847" y="3418148"/>
                      <a:ext cx="1707712" cy="43383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文本框 35"/>
                    <p:cNvSpPr txBox="1"/>
                    <p:nvPr/>
                  </p:nvSpPr>
                  <p:spPr>
                    <a:xfrm>
                      <a:off x="6711847" y="2721666"/>
                      <a:ext cx="1576265" cy="41549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700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  <m:r>
                              <a:rPr lang="en-US" altLang="zh-CN" sz="270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zh-CN" altLang="en-US" sz="27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CN" altLang="en-US" sz="2700" dirty="0"/>
                    </a:p>
                  </p:txBody>
                </p:sp>
              </mc:Choice>
              <mc:Fallback xmlns="">
                <p:sp>
                  <p:nvSpPr>
                    <p:cNvPr id="36" name="文本框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1847" y="2721666"/>
                      <a:ext cx="1576265" cy="41549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" name="左大括号 8"/>
                <p:cNvSpPr/>
                <p:nvPr/>
              </p:nvSpPr>
              <p:spPr>
                <a:xfrm>
                  <a:off x="6460236" y="2184949"/>
                  <a:ext cx="152400" cy="1489309"/>
                </a:xfrm>
                <a:prstGeom prst="leftBrace">
                  <a:avLst>
                    <a:gd name="adj1" fmla="val 53646"/>
                    <a:gd name="adj2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/>
                  <p:cNvSpPr txBox="1"/>
                  <p:nvPr/>
                </p:nvSpPr>
                <p:spPr>
                  <a:xfrm>
                    <a:off x="5220244" y="4090779"/>
                    <a:ext cx="6362156" cy="5078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US" altLang="zh-CN" sz="2700" dirty="0">
                        <a:solidFill>
                          <a:srgbClr val="0000FF"/>
                        </a:solidFill>
                      </a:rPr>
                      <a:t>(2) For </a:t>
                    </a:r>
                    <a:r>
                      <a:rPr lang="en-US" altLang="zh-CN" sz="2700" i="1" dirty="0">
                        <a:solidFill>
                          <a:srgbClr val="0000FF"/>
                        </a:solidFill>
                      </a:rPr>
                      <a:t>t</a:t>
                    </a:r>
                    <a:r>
                      <a:rPr lang="en-US" altLang="zh-CN" sz="2700" dirty="0">
                        <a:solidFill>
                          <a:srgbClr val="0000FF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27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altLang="zh-CN" sz="2700" dirty="0">
                        <a:solidFill>
                          <a:srgbClr val="0000FF"/>
                        </a:solidFill>
                      </a:rPr>
                      <a:t> 0: (to make the vector rotate) </a:t>
                    </a:r>
                    <a:endParaRPr lang="el-GR" altLang="zh-CN" sz="2700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0244" y="4090779"/>
                    <a:ext cx="6362156" cy="5078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20" t="-10843" b="-3132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组合 13"/>
              <p:cNvGrpSpPr/>
              <p:nvPr/>
            </p:nvGrpSpPr>
            <p:grpSpPr>
              <a:xfrm>
                <a:off x="6066333" y="4738479"/>
                <a:ext cx="4076629" cy="523876"/>
                <a:chOff x="6066333" y="4610100"/>
                <a:chExt cx="4076629" cy="523876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7410450" y="4610100"/>
                  <a:ext cx="676275" cy="523876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文本框 43"/>
                    <p:cNvSpPr txBox="1"/>
                    <p:nvPr/>
                  </p:nvSpPr>
                  <p:spPr>
                    <a:xfrm>
                      <a:off x="6066333" y="4677221"/>
                      <a:ext cx="4076629" cy="43383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700" b="0" i="0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US" altLang="zh-CN" sz="2700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  <m:sSup>
                              <m:sSup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27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27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27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2700" dirty="0"/>
                    </a:p>
                  </p:txBody>
                </p:sp>
              </mc:Choice>
              <mc:Fallback xmlns="">
                <p:sp>
                  <p:nvSpPr>
                    <p:cNvPr id="44" name="文本框 4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66333" y="4677221"/>
                      <a:ext cx="4076629" cy="4338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4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/>
                  <p:cNvSpPr txBox="1"/>
                  <p:nvPr/>
                </p:nvSpPr>
                <p:spPr>
                  <a:xfrm>
                    <a:off x="6528699" y="5514782"/>
                    <a:ext cx="4380601" cy="33733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𝐷𝑜</m:t>
                          </m:r>
                          <m:sSup>
                            <m:sSupPr>
                              <m:ctrlP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𝑓𝑜𝑟𝑔𝑒𝑡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𝑡h𝑎𝑡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p>
                          </m:sSup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𝑟𝑜𝑡𝑎𝑡𝑖𝑛𝑔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oMath>
                      </m:oMathPara>
                    </a14:m>
                    <a:endParaRPr lang="zh-CN" altLang="en-US" sz="2100" dirty="0"/>
                  </a:p>
                </p:txBody>
              </p:sp>
            </mc:Choice>
            <mc:Fallback xmlns="">
              <p:sp>
                <p:nvSpPr>
                  <p:cNvPr id="46" name="文本框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8699" y="5514782"/>
                    <a:ext cx="4380601" cy="3373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86" t="-3571" r="-17524" b="-303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直接连接符 16"/>
              <p:cNvCxnSpPr>
                <a:endCxn id="13" idx="2"/>
              </p:cNvCxnSpPr>
              <p:nvPr/>
            </p:nvCxnSpPr>
            <p:spPr>
              <a:xfrm flipV="1">
                <a:off x="7410450" y="5262355"/>
                <a:ext cx="338138" cy="2397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1088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9"/>
          <a:stretch/>
        </p:blipFill>
        <p:spPr>
          <a:xfrm>
            <a:off x="3276600" y="1619250"/>
            <a:ext cx="8915400" cy="3298024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(d)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10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45" name="文本占位符 1"/>
          <p:cNvSpPr txBox="1">
            <a:spLocks/>
          </p:cNvSpPr>
          <p:nvPr/>
        </p:nvSpPr>
        <p:spPr>
          <a:xfrm>
            <a:off x="3505200" y="1104900"/>
            <a:ext cx="80772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300" dirty="0">
                <a:solidFill>
                  <a:srgbClr val="FF0000"/>
                </a:solidFill>
              </a:rPr>
              <a:t>Time domain</a:t>
            </a:r>
            <a:r>
              <a:rPr lang="en-US" altLang="zh-CN" sz="2300" dirty="0"/>
              <a:t>, the same frequency</a:t>
            </a:r>
            <a:endParaRPr lang="zh-CN" altLang="en-US" sz="2300" dirty="0"/>
          </a:p>
        </p:txBody>
      </p:sp>
      <p:sp>
        <p:nvSpPr>
          <p:cNvPr id="22" name="文本框 21"/>
          <p:cNvSpPr txBox="1"/>
          <p:nvPr/>
        </p:nvSpPr>
        <p:spPr>
          <a:xfrm>
            <a:off x="4572000" y="1898734"/>
            <a:ext cx="23535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i="1" dirty="0">
                <a:solidFill>
                  <a:schemeClr val="bg1"/>
                </a:solidFill>
              </a:rPr>
              <a:t>v</a:t>
            </a:r>
            <a:r>
              <a:rPr lang="en-US" altLang="zh-CN" sz="2700" baseline="-25000" dirty="0">
                <a:solidFill>
                  <a:schemeClr val="bg1"/>
                </a:solidFill>
              </a:rPr>
              <a:t>1</a:t>
            </a:r>
            <a:r>
              <a:rPr lang="en-US" altLang="zh-CN" sz="2700" dirty="0">
                <a:solidFill>
                  <a:schemeClr val="bg1"/>
                </a:solidFill>
              </a:rPr>
              <a:t>(</a:t>
            </a:r>
            <a:r>
              <a:rPr lang="en-US" altLang="zh-CN" sz="2700" i="1" dirty="0">
                <a:solidFill>
                  <a:schemeClr val="bg1"/>
                </a:solidFill>
              </a:rPr>
              <a:t>t</a:t>
            </a:r>
            <a:r>
              <a:rPr lang="en-US" altLang="zh-CN" sz="2700" dirty="0">
                <a:solidFill>
                  <a:schemeClr val="bg1"/>
                </a:solidFill>
              </a:rPr>
              <a:t>) = 1.5sin(</a:t>
            </a:r>
            <a:r>
              <a:rPr lang="en-US" altLang="zh-CN" sz="2700" i="1" dirty="0">
                <a:solidFill>
                  <a:schemeClr val="bg1"/>
                </a:solidFill>
              </a:rPr>
              <a:t>t</a:t>
            </a:r>
            <a:r>
              <a:rPr lang="en-US" altLang="zh-CN" sz="2700" dirty="0">
                <a:solidFill>
                  <a:schemeClr val="bg1"/>
                </a:solidFill>
              </a:rPr>
              <a:t>)</a:t>
            </a:r>
            <a:endParaRPr lang="zh-CN" altLang="en-US" sz="2700" dirty="0">
              <a:solidFill>
                <a:schemeClr val="bg1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05200" y="3858342"/>
            <a:ext cx="207454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i="1" dirty="0">
                <a:solidFill>
                  <a:srgbClr val="AD763F"/>
                </a:solidFill>
              </a:rPr>
              <a:t>v</a:t>
            </a:r>
            <a:r>
              <a:rPr lang="en-US" altLang="zh-CN" sz="2700" baseline="-25000" dirty="0">
                <a:solidFill>
                  <a:srgbClr val="AD763F"/>
                </a:solidFill>
              </a:rPr>
              <a:t>2</a:t>
            </a:r>
            <a:r>
              <a:rPr lang="en-US" altLang="zh-CN" sz="2700" dirty="0">
                <a:solidFill>
                  <a:srgbClr val="AD763F"/>
                </a:solidFill>
              </a:rPr>
              <a:t>(</a:t>
            </a:r>
            <a:r>
              <a:rPr lang="en-US" altLang="zh-CN" sz="2700" i="1" dirty="0">
                <a:solidFill>
                  <a:srgbClr val="AD763F"/>
                </a:solidFill>
              </a:rPr>
              <a:t>t</a:t>
            </a:r>
            <a:r>
              <a:rPr lang="en-US" altLang="zh-CN" sz="2700" dirty="0">
                <a:solidFill>
                  <a:srgbClr val="AD763F"/>
                </a:solidFill>
              </a:rPr>
              <a:t>) = -cos(</a:t>
            </a:r>
            <a:r>
              <a:rPr lang="en-US" altLang="zh-CN" sz="2700" i="1" dirty="0">
                <a:solidFill>
                  <a:srgbClr val="AD763F"/>
                </a:solidFill>
              </a:rPr>
              <a:t>t</a:t>
            </a:r>
            <a:r>
              <a:rPr lang="en-US" altLang="zh-CN" sz="2700" dirty="0">
                <a:solidFill>
                  <a:srgbClr val="AD763F"/>
                </a:solidFill>
              </a:rPr>
              <a:t>)</a:t>
            </a:r>
            <a:endParaRPr lang="zh-CN" altLang="en-US" sz="2700" dirty="0">
              <a:solidFill>
                <a:srgbClr val="AD763F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978400" y="5034640"/>
            <a:ext cx="5245667" cy="1026544"/>
            <a:chOff x="1054100" y="5103412"/>
            <a:chExt cx="5245667" cy="1026544"/>
          </a:xfrm>
        </p:grpSpPr>
        <p:sp>
          <p:nvSpPr>
            <p:cNvPr id="53" name="文本占位符 1"/>
            <p:cNvSpPr txBox="1">
              <a:spLocks/>
            </p:cNvSpPr>
            <p:nvPr/>
          </p:nvSpPr>
          <p:spPr>
            <a:xfrm>
              <a:off x="1543333" y="5103412"/>
              <a:ext cx="4267200" cy="5334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000" b="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2100" dirty="0"/>
                <a:t>To calculate in time domain:</a:t>
              </a:r>
              <a:endParaRPr lang="zh-CN" altLang="en-US" sz="2100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54100" y="5622125"/>
              <a:ext cx="524566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700" i="1" dirty="0"/>
                <a:t>v</a:t>
              </a:r>
              <a:r>
                <a:rPr lang="en-US" altLang="zh-CN" sz="2700" baseline="-25000" dirty="0"/>
                <a:t> </a:t>
              </a:r>
              <a:r>
                <a:rPr lang="en-US" altLang="zh-CN" sz="2700" dirty="0"/>
                <a:t>(</a:t>
              </a:r>
              <a:r>
                <a:rPr lang="en-US" altLang="zh-CN" sz="2700" i="1" dirty="0"/>
                <a:t>t</a:t>
              </a:r>
              <a:r>
                <a:rPr lang="en-US" altLang="zh-CN" sz="2700" dirty="0"/>
                <a:t>) = </a:t>
              </a:r>
              <a:r>
                <a:rPr lang="en-US" altLang="zh-CN" sz="2700" i="1" dirty="0"/>
                <a:t>v</a:t>
              </a:r>
              <a:r>
                <a:rPr lang="en-US" altLang="zh-CN" sz="2700" baseline="-25000" dirty="0"/>
                <a:t>1</a:t>
              </a:r>
              <a:r>
                <a:rPr lang="en-US" altLang="zh-CN" sz="2700" dirty="0"/>
                <a:t>(</a:t>
              </a:r>
              <a:r>
                <a:rPr lang="en-US" altLang="zh-CN" sz="2700" i="1" dirty="0"/>
                <a:t>t</a:t>
              </a:r>
              <a:r>
                <a:rPr lang="en-US" altLang="zh-CN" sz="2700" dirty="0"/>
                <a:t>) +</a:t>
              </a:r>
              <a:r>
                <a:rPr lang="en-US" altLang="zh-CN" sz="2700" i="1" dirty="0"/>
                <a:t> v</a:t>
              </a:r>
              <a:r>
                <a:rPr lang="en-US" altLang="zh-CN" sz="2700" baseline="-25000" dirty="0"/>
                <a:t>2</a:t>
              </a:r>
              <a:r>
                <a:rPr lang="en-US" altLang="zh-CN" sz="2700" dirty="0"/>
                <a:t>(</a:t>
              </a:r>
              <a:r>
                <a:rPr lang="en-US" altLang="zh-CN" sz="2700" i="1" dirty="0"/>
                <a:t>t</a:t>
              </a:r>
              <a:r>
                <a:rPr lang="en-US" altLang="zh-CN" sz="2700" dirty="0"/>
                <a:t>) = 1.5sin(</a:t>
              </a:r>
              <a:r>
                <a:rPr lang="en-US" altLang="zh-CN" sz="2700" i="1" dirty="0"/>
                <a:t>t</a:t>
              </a:r>
              <a:r>
                <a:rPr lang="en-US" altLang="zh-CN" sz="2700" dirty="0"/>
                <a:t>) – cos(</a:t>
              </a:r>
              <a:r>
                <a:rPr lang="en-US" altLang="zh-CN" sz="2700" i="1" dirty="0"/>
                <a:t>t</a:t>
              </a:r>
              <a:r>
                <a:rPr lang="en-US" altLang="zh-CN" sz="2700" dirty="0"/>
                <a:t>) </a:t>
              </a:r>
              <a:endParaRPr lang="zh-CN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048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5300"/>
            <a:ext cx="12192000" cy="3827426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(e)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11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45" name="文本占位符 1"/>
          <p:cNvSpPr txBox="1">
            <a:spLocks/>
          </p:cNvSpPr>
          <p:nvPr/>
        </p:nvSpPr>
        <p:spPr>
          <a:xfrm>
            <a:off x="3505200" y="11049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Time domain</a:t>
            </a:r>
            <a:endParaRPr lang="zh-CN" altLang="en-US" sz="2300" dirty="0"/>
          </a:p>
        </p:txBody>
      </p:sp>
      <p:sp>
        <p:nvSpPr>
          <p:cNvPr id="51" name="文本占位符 1"/>
          <p:cNvSpPr txBox="1">
            <a:spLocks/>
          </p:cNvSpPr>
          <p:nvPr/>
        </p:nvSpPr>
        <p:spPr>
          <a:xfrm>
            <a:off x="461282" y="11049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>
                <a:solidFill>
                  <a:srgbClr val="FF0000"/>
                </a:solidFill>
              </a:rPr>
              <a:t>Phasor domain</a:t>
            </a:r>
            <a:endParaRPr lang="zh-CN" altLang="en-US" sz="2300" dirty="0">
              <a:solidFill>
                <a:srgbClr val="FF0000"/>
              </a:solidFill>
            </a:endParaRPr>
          </a:p>
        </p:txBody>
      </p:sp>
      <p:sp>
        <p:nvSpPr>
          <p:cNvPr id="24" name="右箭头 23"/>
          <p:cNvSpPr/>
          <p:nvPr/>
        </p:nvSpPr>
        <p:spPr>
          <a:xfrm flipH="1">
            <a:off x="2962241" y="1219200"/>
            <a:ext cx="652065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23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050" y="1619250"/>
            <a:ext cx="12211050" cy="3298024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(f)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 </a:t>
            </a:r>
            <a:fld id="{B6F15528-21DE-4FAA-801E-634DDDAF4B2B}" type="slidenum">
              <a:rPr lang="en-US" smtClean="0"/>
              <a:pPr/>
              <a:t>12</a:t>
            </a:fld>
            <a:r>
              <a:rPr lang="en-US" dirty="0"/>
              <a:t> </a:t>
            </a:r>
            <a:r>
              <a:rPr lang="zh-CN" altLang="en-US" dirty="0"/>
              <a:t>页</a:t>
            </a:r>
            <a:endParaRPr lang="en-US" dirty="0"/>
          </a:p>
        </p:txBody>
      </p:sp>
      <p:sp>
        <p:nvSpPr>
          <p:cNvPr id="45" name="文本占位符 1"/>
          <p:cNvSpPr txBox="1">
            <a:spLocks/>
          </p:cNvSpPr>
          <p:nvPr/>
        </p:nvSpPr>
        <p:spPr>
          <a:xfrm>
            <a:off x="3505200" y="11049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Time domain</a:t>
            </a:r>
            <a:endParaRPr lang="zh-CN" altLang="en-US" sz="2300" dirty="0"/>
          </a:p>
        </p:txBody>
      </p:sp>
      <p:sp>
        <p:nvSpPr>
          <p:cNvPr id="51" name="文本占位符 1"/>
          <p:cNvSpPr txBox="1">
            <a:spLocks/>
          </p:cNvSpPr>
          <p:nvPr/>
        </p:nvSpPr>
        <p:spPr>
          <a:xfrm>
            <a:off x="461282" y="11049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>
                <a:solidFill>
                  <a:srgbClr val="FF0000"/>
                </a:solidFill>
              </a:rPr>
              <a:t>Phasor domain</a:t>
            </a:r>
            <a:endParaRPr lang="zh-CN" altLang="en-US" sz="23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72000" y="1898734"/>
            <a:ext cx="23535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i="1" dirty="0">
                <a:solidFill>
                  <a:schemeClr val="bg1"/>
                </a:solidFill>
              </a:rPr>
              <a:t>v</a:t>
            </a:r>
            <a:r>
              <a:rPr lang="en-US" altLang="zh-CN" sz="2700" baseline="-25000" dirty="0">
                <a:solidFill>
                  <a:schemeClr val="bg1"/>
                </a:solidFill>
              </a:rPr>
              <a:t>1</a:t>
            </a:r>
            <a:r>
              <a:rPr lang="en-US" altLang="zh-CN" sz="2700" dirty="0">
                <a:solidFill>
                  <a:schemeClr val="bg1"/>
                </a:solidFill>
              </a:rPr>
              <a:t>(</a:t>
            </a:r>
            <a:r>
              <a:rPr lang="en-US" altLang="zh-CN" sz="2700" i="1" dirty="0">
                <a:solidFill>
                  <a:schemeClr val="bg1"/>
                </a:solidFill>
              </a:rPr>
              <a:t>t</a:t>
            </a:r>
            <a:r>
              <a:rPr lang="en-US" altLang="zh-CN" sz="2700" dirty="0">
                <a:solidFill>
                  <a:schemeClr val="bg1"/>
                </a:solidFill>
              </a:rPr>
              <a:t>) = 1.5sin(</a:t>
            </a:r>
            <a:r>
              <a:rPr lang="en-US" altLang="zh-CN" sz="2700" i="1" dirty="0">
                <a:solidFill>
                  <a:schemeClr val="bg1"/>
                </a:solidFill>
              </a:rPr>
              <a:t>t</a:t>
            </a:r>
            <a:r>
              <a:rPr lang="en-US" altLang="zh-CN" sz="2700" dirty="0">
                <a:solidFill>
                  <a:schemeClr val="bg1"/>
                </a:solidFill>
              </a:rPr>
              <a:t>)</a:t>
            </a:r>
            <a:endParaRPr lang="zh-CN" altLang="en-US" sz="2700" dirty="0">
              <a:solidFill>
                <a:schemeClr val="bg1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05200" y="3858342"/>
            <a:ext cx="207454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i="1" dirty="0">
                <a:solidFill>
                  <a:srgbClr val="AD763F"/>
                </a:solidFill>
              </a:rPr>
              <a:t>v</a:t>
            </a:r>
            <a:r>
              <a:rPr lang="en-US" altLang="zh-CN" sz="2700" baseline="-25000" dirty="0">
                <a:solidFill>
                  <a:srgbClr val="AD763F"/>
                </a:solidFill>
              </a:rPr>
              <a:t>2</a:t>
            </a:r>
            <a:r>
              <a:rPr lang="en-US" altLang="zh-CN" sz="2700" dirty="0">
                <a:solidFill>
                  <a:srgbClr val="AD763F"/>
                </a:solidFill>
              </a:rPr>
              <a:t>(</a:t>
            </a:r>
            <a:r>
              <a:rPr lang="en-US" altLang="zh-CN" sz="2700" i="1" dirty="0">
                <a:solidFill>
                  <a:srgbClr val="AD763F"/>
                </a:solidFill>
              </a:rPr>
              <a:t>t</a:t>
            </a:r>
            <a:r>
              <a:rPr lang="en-US" altLang="zh-CN" sz="2700" dirty="0">
                <a:solidFill>
                  <a:srgbClr val="AD763F"/>
                </a:solidFill>
              </a:rPr>
              <a:t>) = -cos(</a:t>
            </a:r>
            <a:r>
              <a:rPr lang="en-US" altLang="zh-CN" sz="2700" i="1" dirty="0">
                <a:solidFill>
                  <a:srgbClr val="AD763F"/>
                </a:solidFill>
              </a:rPr>
              <a:t>t</a:t>
            </a:r>
            <a:r>
              <a:rPr lang="en-US" altLang="zh-CN" sz="2700" dirty="0">
                <a:solidFill>
                  <a:srgbClr val="AD763F"/>
                </a:solidFill>
              </a:rPr>
              <a:t>)</a:t>
            </a:r>
            <a:endParaRPr lang="zh-CN" altLang="en-US" sz="2700" dirty="0">
              <a:solidFill>
                <a:srgbClr val="AD763F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853164" y="5012524"/>
            <a:ext cx="57912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i="1" dirty="0"/>
              <a:t>v</a:t>
            </a:r>
            <a:r>
              <a:rPr lang="en-US" altLang="zh-CN" sz="2700" baseline="-25000" dirty="0"/>
              <a:t>1</a:t>
            </a:r>
            <a:r>
              <a:rPr lang="en-US" altLang="zh-CN" sz="2700" dirty="0"/>
              <a:t>(</a:t>
            </a:r>
            <a:r>
              <a:rPr lang="en-US" altLang="zh-CN" sz="2700" i="1" dirty="0"/>
              <a:t>t</a:t>
            </a:r>
            <a:r>
              <a:rPr lang="en-US" altLang="zh-CN" sz="2700" dirty="0"/>
              <a:t>) ⇒ 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1</a:t>
            </a:r>
            <a:r>
              <a:rPr lang="en-US" altLang="zh-CN" sz="2700" dirty="0"/>
              <a:t>e</a:t>
            </a:r>
            <a:r>
              <a:rPr lang="en-US" altLang="zh-CN" sz="2700" i="1" baseline="30000" dirty="0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r>
              <a:rPr lang="en-US" altLang="zh-CN" sz="2700" i="1" dirty="0"/>
              <a:t>             v</a:t>
            </a:r>
            <a:r>
              <a:rPr lang="en-US" altLang="zh-CN" sz="2700" baseline="-25000" dirty="0"/>
              <a:t>2</a:t>
            </a:r>
            <a:r>
              <a:rPr lang="en-US" altLang="zh-CN" sz="2700" dirty="0"/>
              <a:t>(</a:t>
            </a:r>
            <a:r>
              <a:rPr lang="en-US" altLang="zh-CN" sz="2700" i="1" dirty="0"/>
              <a:t>t</a:t>
            </a:r>
            <a:r>
              <a:rPr lang="en-US" altLang="zh-CN" sz="2700" dirty="0"/>
              <a:t>) ⇒ 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2</a:t>
            </a:r>
            <a:r>
              <a:rPr lang="en-US" altLang="zh-CN" sz="2700" dirty="0"/>
              <a:t>e</a:t>
            </a:r>
            <a:r>
              <a:rPr lang="en-US" altLang="zh-CN" sz="2700" i="1" baseline="30000" dirty="0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endParaRPr lang="zh-CN" altLang="en-US" sz="27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562100" y="3295650"/>
            <a:ext cx="1028700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med" len="me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569584" y="3268262"/>
            <a:ext cx="136" cy="739858"/>
          </a:xfrm>
          <a:prstGeom prst="straightConnector1">
            <a:avLst/>
          </a:prstGeom>
          <a:ln w="63500">
            <a:solidFill>
              <a:srgbClr val="FFFF00"/>
            </a:solidFill>
            <a:tailEnd type="triangle" w="med" len="me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209800" y="1898734"/>
            <a:ext cx="104227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</a:rPr>
              <a:t>V</a:t>
            </a:r>
            <a:r>
              <a:rPr lang="en-US" altLang="zh-CN" sz="2700" b="1" baseline="-25000" dirty="0">
                <a:solidFill>
                  <a:schemeClr val="bg1"/>
                </a:solidFill>
              </a:rPr>
              <a:t>1</a:t>
            </a:r>
            <a:r>
              <a:rPr lang="en-US" altLang="zh-CN" sz="2700" i="1" dirty="0">
                <a:solidFill>
                  <a:schemeClr val="bg1"/>
                </a:solidFill>
              </a:rPr>
              <a:t>e</a:t>
            </a:r>
            <a:r>
              <a:rPr lang="en-US" altLang="zh-CN" sz="2700" i="1" baseline="30000" dirty="0">
                <a:solidFill>
                  <a:schemeClr val="bg1"/>
                </a:solidFill>
              </a:rPr>
              <a:t>-jwt</a:t>
            </a:r>
            <a:endParaRPr lang="zh-CN" altLang="en-US" sz="2700" baseline="30000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2076450" y="2419350"/>
            <a:ext cx="514350" cy="848912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562100" y="3736254"/>
            <a:ext cx="876300" cy="511093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069663" y="4140840"/>
            <a:ext cx="104227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rgbClr val="AD763F"/>
                </a:solidFill>
              </a:rPr>
              <a:t>V</a:t>
            </a:r>
            <a:r>
              <a:rPr lang="en-US" altLang="zh-CN" sz="2700" b="1" baseline="-25000" dirty="0">
                <a:solidFill>
                  <a:srgbClr val="AD763F"/>
                </a:solidFill>
              </a:rPr>
              <a:t>2</a:t>
            </a:r>
            <a:r>
              <a:rPr lang="en-US" altLang="zh-CN" sz="2700" i="1" dirty="0">
                <a:solidFill>
                  <a:srgbClr val="AD763F"/>
                </a:solidFill>
              </a:rPr>
              <a:t>e</a:t>
            </a:r>
            <a:r>
              <a:rPr lang="en-US" altLang="zh-CN" sz="2700" i="1" baseline="30000" dirty="0">
                <a:solidFill>
                  <a:srgbClr val="AD763F"/>
                </a:solidFill>
              </a:rPr>
              <a:t>-jwt</a:t>
            </a:r>
            <a:endParaRPr lang="zh-CN" altLang="en-US" sz="2700" baseline="30000" dirty="0">
              <a:solidFill>
                <a:srgbClr val="AD763F"/>
              </a:solidFill>
            </a:endParaRPr>
          </a:p>
        </p:txBody>
      </p:sp>
      <p:sp>
        <p:nvSpPr>
          <p:cNvPr id="24" name="右箭头 23"/>
          <p:cNvSpPr/>
          <p:nvPr/>
        </p:nvSpPr>
        <p:spPr>
          <a:xfrm flipH="1">
            <a:off x="2962241" y="1219200"/>
            <a:ext cx="652065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48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(g)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13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51" name="文本占位符 1"/>
          <p:cNvSpPr txBox="1">
            <a:spLocks/>
          </p:cNvSpPr>
          <p:nvPr/>
        </p:nvSpPr>
        <p:spPr>
          <a:xfrm>
            <a:off x="461282" y="11049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Phasor domain</a:t>
            </a:r>
            <a:endParaRPr lang="zh-CN" altLang="en-US" sz="2300" dirty="0"/>
          </a:p>
        </p:txBody>
      </p:sp>
      <p:sp>
        <p:nvSpPr>
          <p:cNvPr id="34" name="文本框 33"/>
          <p:cNvSpPr txBox="1"/>
          <p:nvPr/>
        </p:nvSpPr>
        <p:spPr>
          <a:xfrm>
            <a:off x="3211028" y="5537653"/>
            <a:ext cx="4953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b="1" dirty="0" err="1"/>
              <a:t>V</a:t>
            </a:r>
            <a:r>
              <a:rPr lang="en-US" altLang="zh-CN" sz="2700" dirty="0" err="1"/>
              <a:t>e</a:t>
            </a:r>
            <a:r>
              <a:rPr lang="en-US" altLang="zh-CN" sz="2700" i="1" baseline="30000" dirty="0" err="1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r>
              <a:rPr lang="en-US" altLang="zh-CN" sz="2700" dirty="0"/>
              <a:t> = (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1</a:t>
            </a:r>
            <a:r>
              <a:rPr lang="en-US" altLang="zh-CN" sz="2700" baseline="30000" dirty="0"/>
              <a:t> </a:t>
            </a:r>
            <a:r>
              <a:rPr lang="en-US" altLang="zh-CN" sz="2700" dirty="0"/>
              <a:t>+ 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2</a:t>
            </a:r>
            <a:r>
              <a:rPr lang="en-US" altLang="zh-CN" sz="2700" dirty="0"/>
              <a:t>)</a:t>
            </a:r>
            <a:r>
              <a:rPr lang="en-US" altLang="zh-CN" sz="2700" dirty="0" err="1"/>
              <a:t>e</a:t>
            </a:r>
            <a:r>
              <a:rPr lang="en-US" altLang="zh-CN" sz="2700" i="1" baseline="30000" dirty="0" err="1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r>
              <a:rPr lang="en-US" altLang="zh-CN" sz="2700" dirty="0"/>
              <a:t> ⇒ </a:t>
            </a:r>
            <a:r>
              <a:rPr lang="en-US" altLang="zh-CN" sz="2700" b="1" dirty="0"/>
              <a:t>V = V</a:t>
            </a:r>
            <a:r>
              <a:rPr lang="en-US" altLang="zh-CN" sz="2700" b="1" baseline="-25000" dirty="0"/>
              <a:t>1</a:t>
            </a:r>
            <a:r>
              <a:rPr lang="en-US" altLang="zh-CN" sz="2700" baseline="30000" dirty="0"/>
              <a:t> </a:t>
            </a:r>
            <a:r>
              <a:rPr lang="en-US" altLang="zh-CN" sz="2700" dirty="0"/>
              <a:t>+ 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2</a:t>
            </a:r>
            <a:r>
              <a:rPr lang="en-US" altLang="zh-CN" sz="2700" b="1" dirty="0"/>
              <a:t> </a:t>
            </a:r>
            <a:endParaRPr lang="zh-CN" altLang="en-US" sz="2700" b="1" baseline="-250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50"/>
          <a:stretch/>
        </p:blipFill>
        <p:spPr>
          <a:xfrm>
            <a:off x="0" y="1558648"/>
            <a:ext cx="3505200" cy="3415169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3810000" y="1536402"/>
            <a:ext cx="4201359" cy="3459660"/>
            <a:chOff x="4705349" y="1225520"/>
            <a:chExt cx="4201359" cy="3459660"/>
          </a:xfrm>
        </p:grpSpPr>
        <p:cxnSp>
          <p:nvCxnSpPr>
            <p:cNvPr id="16" name="直接连接符 15"/>
            <p:cNvCxnSpPr/>
            <p:nvPr/>
          </p:nvCxnSpPr>
          <p:spPr>
            <a:xfrm flipV="1">
              <a:off x="6407150" y="1847283"/>
              <a:ext cx="0" cy="2837897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5782325" y="2942105"/>
              <a:ext cx="279493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6390073" y="2932580"/>
              <a:ext cx="1534727" cy="810183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V="1">
              <a:off x="6390073" y="2942105"/>
              <a:ext cx="1534727" cy="1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6397557" y="2914717"/>
              <a:ext cx="0" cy="828046"/>
            </a:xfrm>
            <a:prstGeom prst="straightConnector1">
              <a:avLst/>
            </a:prstGeom>
            <a:ln w="63500">
              <a:solidFill>
                <a:srgbClr val="BE8245"/>
              </a:solidFill>
              <a:tailEnd type="triangl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6405177" y="2932580"/>
              <a:ext cx="1537502" cy="795138"/>
            </a:xfrm>
            <a:prstGeom prst="straightConnector1">
              <a:avLst/>
            </a:prstGeom>
            <a:ln w="63500">
              <a:solidFill>
                <a:schemeClr val="accent5"/>
              </a:solidFill>
              <a:tailEnd type="triangl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占位符 1"/>
            <p:cNvSpPr txBox="1">
              <a:spLocks/>
            </p:cNvSpPr>
            <p:nvPr/>
          </p:nvSpPr>
          <p:spPr>
            <a:xfrm>
              <a:off x="5771513" y="1779324"/>
              <a:ext cx="6096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000" b="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300" dirty="0" err="1"/>
                <a:t>Im</a:t>
              </a:r>
              <a:endParaRPr lang="zh-CN" altLang="en-US" sz="2300" dirty="0"/>
            </a:p>
          </p:txBody>
        </p:sp>
        <p:sp>
          <p:nvSpPr>
            <p:cNvPr id="38" name="文本占位符 1"/>
            <p:cNvSpPr txBox="1">
              <a:spLocks/>
            </p:cNvSpPr>
            <p:nvPr/>
          </p:nvSpPr>
          <p:spPr>
            <a:xfrm>
              <a:off x="8297108" y="2957441"/>
              <a:ext cx="6096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000" b="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300" dirty="0"/>
                <a:t>Re</a:t>
              </a:r>
              <a:endParaRPr lang="zh-CN" altLang="en-US" sz="2300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7290816" y="2354699"/>
              <a:ext cx="506870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700" b="1" dirty="0">
                  <a:solidFill>
                    <a:srgbClr val="FF0000"/>
                  </a:solidFill>
                </a:rPr>
                <a:t>V</a:t>
              </a:r>
              <a:r>
                <a:rPr lang="en-US" altLang="zh-CN" sz="2700" b="1" baseline="-25000" dirty="0">
                  <a:solidFill>
                    <a:srgbClr val="FF0000"/>
                  </a:solidFill>
                </a:rPr>
                <a:t>1</a:t>
              </a:r>
              <a:endParaRPr lang="zh-CN" altLang="en-US" sz="2700" dirty="0">
                <a:solidFill>
                  <a:srgbClr val="FF00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870185" y="3012315"/>
              <a:ext cx="506870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700" b="1" dirty="0">
                  <a:solidFill>
                    <a:srgbClr val="BE8245"/>
                  </a:solidFill>
                </a:rPr>
                <a:t>V</a:t>
              </a:r>
              <a:r>
                <a:rPr lang="en-US" altLang="zh-CN" sz="2700" b="1" baseline="-25000" dirty="0">
                  <a:solidFill>
                    <a:srgbClr val="BE8245"/>
                  </a:solidFill>
                </a:rPr>
                <a:t>2</a:t>
              </a:r>
              <a:endParaRPr lang="zh-CN" altLang="en-US" sz="2700" dirty="0">
                <a:solidFill>
                  <a:srgbClr val="BE8245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7907258" y="3623604"/>
              <a:ext cx="389850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700" b="1" dirty="0">
                  <a:solidFill>
                    <a:srgbClr val="4BACC6"/>
                  </a:solidFill>
                </a:rPr>
                <a:t>V</a:t>
              </a:r>
              <a:endParaRPr lang="zh-CN" altLang="en-US" sz="2700" dirty="0">
                <a:solidFill>
                  <a:srgbClr val="4BACC6"/>
                </a:solidFill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4705349" y="1225520"/>
              <a:ext cx="3405485" cy="3405485"/>
              <a:chOff x="4705349" y="1225520"/>
              <a:chExt cx="3405485" cy="3405485"/>
            </a:xfrm>
          </p:grpSpPr>
          <p:sp>
            <p:nvSpPr>
              <p:cNvPr id="32" name="椭圆 31"/>
              <p:cNvSpPr>
                <a:spLocks noChangeAspect="1"/>
              </p:cNvSpPr>
              <p:nvPr/>
            </p:nvSpPr>
            <p:spPr>
              <a:xfrm>
                <a:off x="5616902" y="2137073"/>
                <a:ext cx="1582378" cy="1582378"/>
              </a:xfrm>
              <a:prstGeom prst="ellipse">
                <a:avLst/>
              </a:prstGeom>
              <a:noFill/>
              <a:ln w="12700">
                <a:solidFill>
                  <a:srgbClr val="BE82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>
                <a:spLocks noChangeAspect="1"/>
              </p:cNvSpPr>
              <p:nvPr/>
            </p:nvSpPr>
            <p:spPr>
              <a:xfrm>
                <a:off x="4926001" y="1446172"/>
                <a:ext cx="2964180" cy="2964180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>
                <a:spLocks noChangeAspect="1"/>
              </p:cNvSpPr>
              <p:nvPr/>
            </p:nvSpPr>
            <p:spPr>
              <a:xfrm>
                <a:off x="4705349" y="1225520"/>
                <a:ext cx="3405485" cy="3405485"/>
              </a:xfrm>
              <a:prstGeom prst="ellipse">
                <a:avLst/>
              </a:prstGeom>
              <a:noFill/>
              <a:ln w="12700">
                <a:solidFill>
                  <a:srgbClr val="4BACC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0" name="图片 4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69" y="1250043"/>
            <a:ext cx="3997945" cy="41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9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(h)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14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sp>
        <p:nvSpPr>
          <p:cNvPr id="10" name="文本占位符 1"/>
          <p:cNvSpPr txBox="1">
            <a:spLocks/>
          </p:cNvSpPr>
          <p:nvPr/>
        </p:nvSpPr>
        <p:spPr>
          <a:xfrm>
            <a:off x="3505200" y="9906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Time domain</a:t>
            </a:r>
            <a:endParaRPr lang="zh-CN" altLang="en-US" sz="2300" dirty="0"/>
          </a:p>
        </p:txBody>
      </p:sp>
      <p:sp>
        <p:nvSpPr>
          <p:cNvPr id="11" name="文本占位符 1"/>
          <p:cNvSpPr txBox="1">
            <a:spLocks/>
          </p:cNvSpPr>
          <p:nvPr/>
        </p:nvSpPr>
        <p:spPr>
          <a:xfrm>
            <a:off x="461282" y="990600"/>
            <a:ext cx="2563586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Phasor domain</a:t>
            </a:r>
            <a:endParaRPr lang="zh-CN" altLang="en-US" sz="2300" dirty="0"/>
          </a:p>
        </p:txBody>
      </p:sp>
      <p:sp>
        <p:nvSpPr>
          <p:cNvPr id="12" name="右箭头 11"/>
          <p:cNvSpPr/>
          <p:nvPr/>
        </p:nvSpPr>
        <p:spPr>
          <a:xfrm>
            <a:off x="2962241" y="1104900"/>
            <a:ext cx="652065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619500" y="5589137"/>
            <a:ext cx="4953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00" i="1" dirty="0"/>
              <a:t>v</a:t>
            </a:r>
            <a:r>
              <a:rPr lang="en-US" altLang="zh-CN" sz="2700" baseline="-25000" dirty="0"/>
              <a:t> </a:t>
            </a:r>
            <a:r>
              <a:rPr lang="en-US" altLang="zh-CN" sz="2700" dirty="0"/>
              <a:t>(</a:t>
            </a:r>
            <a:r>
              <a:rPr lang="en-US" altLang="zh-CN" sz="2700" i="1" dirty="0"/>
              <a:t>t</a:t>
            </a:r>
            <a:r>
              <a:rPr lang="en-US" altLang="zh-CN" sz="2700" dirty="0"/>
              <a:t>) = Re[</a:t>
            </a:r>
            <a:r>
              <a:rPr lang="en-US" altLang="zh-CN" sz="2700" b="1" dirty="0" err="1"/>
              <a:t>V</a:t>
            </a:r>
            <a:r>
              <a:rPr lang="en-US" altLang="zh-CN" sz="2700" dirty="0" err="1"/>
              <a:t>e</a:t>
            </a:r>
            <a:r>
              <a:rPr lang="en-US" altLang="zh-CN" sz="2700" i="1" baseline="30000" dirty="0" err="1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r>
              <a:rPr lang="en-US" altLang="zh-CN" sz="2700" dirty="0"/>
              <a:t>] = Re[(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1</a:t>
            </a:r>
            <a:r>
              <a:rPr lang="en-US" altLang="zh-CN" sz="2700" baseline="30000" dirty="0"/>
              <a:t> </a:t>
            </a:r>
            <a:r>
              <a:rPr lang="en-US" altLang="zh-CN" sz="2700" dirty="0"/>
              <a:t>+ </a:t>
            </a:r>
            <a:r>
              <a:rPr lang="en-US" altLang="zh-CN" sz="2700" b="1" dirty="0"/>
              <a:t>V</a:t>
            </a:r>
            <a:r>
              <a:rPr lang="en-US" altLang="zh-CN" sz="2700" b="1" baseline="-25000" dirty="0"/>
              <a:t>2</a:t>
            </a:r>
            <a:r>
              <a:rPr lang="en-US" altLang="zh-CN" sz="2700" dirty="0"/>
              <a:t>)</a:t>
            </a:r>
            <a:r>
              <a:rPr lang="en-US" altLang="zh-CN" sz="2700" dirty="0" err="1"/>
              <a:t>e</a:t>
            </a:r>
            <a:r>
              <a:rPr lang="en-US" altLang="zh-CN" sz="2700" i="1" baseline="30000" dirty="0" err="1"/>
              <a:t>j</a:t>
            </a:r>
            <a:r>
              <a:rPr lang="el-GR" altLang="zh-CN" sz="2700" baseline="30000" dirty="0"/>
              <a:t>ω</a:t>
            </a:r>
            <a:r>
              <a:rPr lang="en-US" altLang="zh-CN" sz="2700" baseline="30000" dirty="0"/>
              <a:t>t</a:t>
            </a:r>
            <a:r>
              <a:rPr lang="en-US" altLang="zh-CN" sz="2700" dirty="0"/>
              <a:t>] </a:t>
            </a:r>
            <a:endParaRPr lang="zh-CN" altLang="en-US" sz="2700" b="1" baseline="-25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12192000" cy="38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8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3. phasors 2 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079F-0342-450E-8F8C-CBE20D6B5F7D}" type="datetime4">
              <a:rPr lang="en-US" altLang="zh-CN" smtClean="0"/>
              <a:t>November 12, 2024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南科大电子系，</a:t>
            </a:r>
            <a:r>
              <a:rPr lang="en-US" altLang="zh-CN"/>
              <a:t>maj3@sustech.edu.cn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 </a:t>
            </a:r>
            <a:fld id="{B6F15528-21DE-4FAA-801E-634DDDAF4B2B}" type="slidenum">
              <a:rPr lang="en-US" smtClean="0"/>
              <a:pPr/>
              <a:t>15</a:t>
            </a:fld>
            <a:r>
              <a:rPr lang="en-US"/>
              <a:t> </a:t>
            </a:r>
            <a:r>
              <a:rPr lang="zh-CN" altLang="en-US"/>
              <a:t>页</a:t>
            </a:r>
            <a:endParaRPr 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6058864" y="1752600"/>
            <a:ext cx="6056936" cy="4054991"/>
            <a:chOff x="276839" y="1850509"/>
            <a:chExt cx="6056936" cy="4054991"/>
          </a:xfrm>
        </p:grpSpPr>
        <p:grpSp>
          <p:nvGrpSpPr>
            <p:cNvPr id="6" name="组合 5"/>
            <p:cNvGrpSpPr/>
            <p:nvPr/>
          </p:nvGrpSpPr>
          <p:grpSpPr>
            <a:xfrm>
              <a:off x="660229" y="1850509"/>
              <a:ext cx="5673546" cy="4054991"/>
              <a:chOff x="1066800" y="1850509"/>
              <a:chExt cx="5673546" cy="4054991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>
                <a:off x="1066800" y="3962400"/>
                <a:ext cx="55626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/>
              <p:cNvCxnSpPr/>
              <p:nvPr/>
            </p:nvCxnSpPr>
            <p:spPr>
              <a:xfrm flipV="1">
                <a:off x="3276600" y="2019300"/>
                <a:ext cx="0" cy="3886200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3276600" y="3323616"/>
                <a:ext cx="3048000" cy="6096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/>
            </p:nvSpPr>
            <p:spPr>
              <a:xfrm>
                <a:off x="6299200" y="4089400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Re</a:t>
                </a:r>
                <a:endParaRPr lang="zh-CN" altLang="en-US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355423" y="1850509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Im</a:t>
                </a:r>
                <a:endParaRPr lang="zh-CN" altLang="en-US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331598" y="3029925"/>
                <a:ext cx="30970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500" b="1" dirty="0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</a:t>
                </a:r>
                <a:endParaRPr lang="zh-CN" altLang="en-US" sz="2500" b="1" dirty="0"/>
              </a:p>
            </p:txBody>
          </p:sp>
          <p:cxnSp>
            <p:nvCxnSpPr>
              <p:cNvPr id="13" name="直接箭头连接符 12"/>
              <p:cNvCxnSpPr/>
              <p:nvPr/>
            </p:nvCxnSpPr>
            <p:spPr>
              <a:xfrm flipV="1">
                <a:off x="3302540" y="3491311"/>
                <a:ext cx="2193308" cy="438662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>
                <a:off x="3309025" y="3907275"/>
                <a:ext cx="264755" cy="1335285"/>
              </a:xfrm>
              <a:prstGeom prst="straightConnector1">
                <a:avLst/>
              </a:prstGeom>
              <a:ln w="63500">
                <a:solidFill>
                  <a:srgbClr val="0000FF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>
                <a:off x="5460319" y="3475248"/>
                <a:ext cx="333206" cy="1306640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 flipV="1">
                <a:off x="3584480" y="4771471"/>
                <a:ext cx="2193308" cy="438662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3320235" y="3945553"/>
                <a:ext cx="2487178" cy="801545"/>
              </a:xfrm>
              <a:prstGeom prst="straightConnector1">
                <a:avLst/>
              </a:prstGeom>
              <a:ln w="63500">
                <a:solidFill>
                  <a:schemeClr val="accent5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3390803" y="4179094"/>
                <a:ext cx="342997" cy="74503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3653809" y="3878713"/>
                <a:ext cx="77610" cy="300381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5102161" y="2846898"/>
                <a:ext cx="5693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baseline="-25000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R</a:t>
                </a:r>
                <a:endParaRPr lang="zh-CN" altLang="en-US" sz="2500" b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405532" y="5260946"/>
                <a:ext cx="1215461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baseline="-25000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C</a:t>
                </a:r>
                <a:r>
                  <a:rPr lang="en-US" altLang="zh-CN" sz="2500" b="1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 = V</a:t>
                </a:r>
                <a:r>
                  <a:rPr lang="en-US" altLang="zh-CN" sz="2500" b="1" baseline="-25000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o</a:t>
                </a:r>
                <a:endParaRPr lang="zh-CN" altLang="en-US" sz="2500" b="1" baseline="-250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5668206" y="4780185"/>
                <a:ext cx="47481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chemeClr val="accent5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i="1" baseline="-25000" dirty="0">
                    <a:solidFill>
                      <a:schemeClr val="accent5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</a:t>
                </a:r>
                <a:endParaRPr lang="zh-CN" altLang="en-US" sz="2500" b="1" i="1" baseline="-25000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3" name="弧形 22"/>
              <p:cNvSpPr/>
              <p:nvPr/>
            </p:nvSpPr>
            <p:spPr>
              <a:xfrm rot="8169845" flipH="1">
                <a:off x="3408680" y="3965946"/>
                <a:ext cx="486606" cy="544821"/>
              </a:xfrm>
              <a:prstGeom prst="arc">
                <a:avLst>
                  <a:gd name="adj1" fmla="val 11751842"/>
                  <a:gd name="adj2" fmla="val 18691272"/>
                </a:avLst>
              </a:prstGeom>
              <a:ln w="1905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>
                  <a:xfrm>
                    <a:off x="3695275" y="4395787"/>
                    <a:ext cx="427361" cy="44627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sz="2300" dirty="0"/>
                  </a:p>
                </p:txBody>
              </p:sp>
            </mc:Choice>
            <mc:Fallback xmlns="">
              <p:sp>
                <p:nvSpPr>
                  <p:cNvPr id="56" name="矩形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5275" y="4395787"/>
                    <a:ext cx="427361" cy="44627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/>
                <p:cNvSpPr/>
                <p:nvPr/>
              </p:nvSpPr>
              <p:spPr>
                <a:xfrm rot="20969233">
                  <a:off x="3458416" y="3261299"/>
                  <a:ext cx="784830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oMath>
                    </m:oMathPara>
                  </a14:m>
                  <a:endParaRPr lang="zh-CN" altLang="en-US" sz="21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矩形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969233">
                  <a:off x="3458416" y="3261299"/>
                  <a:ext cx="784830" cy="4154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/>
                <p:cNvSpPr/>
                <p:nvPr/>
              </p:nvSpPr>
              <p:spPr>
                <a:xfrm>
                  <a:off x="3034831" y="4598546"/>
                  <a:ext cx="415498" cy="4462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3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3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4831" y="4598546"/>
                  <a:ext cx="415498" cy="4462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/>
                <p:cNvSpPr/>
                <p:nvPr/>
              </p:nvSpPr>
              <p:spPr>
                <a:xfrm rot="1038642">
                  <a:off x="3745696" y="4019479"/>
                  <a:ext cx="1574855" cy="4277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𝑅𝐶</m:t>
                                </m:r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38642">
                  <a:off x="3745696" y="4019479"/>
                  <a:ext cx="1574855" cy="427746"/>
                </a:xfrm>
                <a:prstGeom prst="rect">
                  <a:avLst/>
                </a:prstGeom>
                <a:blipFill>
                  <a:blip r:embed="rId6"/>
                  <a:stretch>
                    <a:fillRect b="-6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Picture 13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33" r="5902"/>
            <a:stretch/>
          </p:blipFill>
          <p:spPr>
            <a:xfrm>
              <a:off x="355234" y="1901060"/>
              <a:ext cx="2348496" cy="186822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16"/>
                <p:cNvSpPr txBox="1"/>
                <p:nvPr/>
              </p:nvSpPr>
              <p:spPr>
                <a:xfrm>
                  <a:off x="276839" y="4813830"/>
                  <a:ext cx="2433743" cy="3539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3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</m:e>
                          <m:sup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e>
                        </m:d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29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839" y="4813830"/>
                  <a:ext cx="2433743" cy="353943"/>
                </a:xfrm>
                <a:prstGeom prst="rect">
                  <a:avLst/>
                </a:prstGeom>
                <a:blipFill>
                  <a:blip r:embed="rId8"/>
                  <a:stretch>
                    <a:fillRect l="-2506" t="-1724" b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/>
          <p:cNvGrpSpPr/>
          <p:nvPr/>
        </p:nvGrpSpPr>
        <p:grpSpPr>
          <a:xfrm>
            <a:off x="0" y="1747944"/>
            <a:ext cx="6028975" cy="4054991"/>
            <a:chOff x="304800" y="1850509"/>
            <a:chExt cx="6028975" cy="4054991"/>
          </a:xfrm>
        </p:grpSpPr>
        <p:grpSp>
          <p:nvGrpSpPr>
            <p:cNvPr id="31" name="组合 30"/>
            <p:cNvGrpSpPr/>
            <p:nvPr/>
          </p:nvGrpSpPr>
          <p:grpSpPr>
            <a:xfrm>
              <a:off x="520096" y="1850509"/>
              <a:ext cx="5813679" cy="4054991"/>
              <a:chOff x="926667" y="1850509"/>
              <a:chExt cx="5813679" cy="4054991"/>
            </a:xfrm>
          </p:grpSpPr>
          <p:pic>
            <p:nvPicPr>
              <p:cNvPr id="32" name="Picture 12"/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97" r="7092"/>
              <a:stretch/>
            </p:blipFill>
            <p:spPr>
              <a:xfrm>
                <a:off x="926667" y="1943210"/>
                <a:ext cx="2317509" cy="1781574"/>
              </a:xfrm>
              <a:prstGeom prst="rect">
                <a:avLst/>
              </a:prstGeom>
            </p:spPr>
          </p:pic>
          <p:cxnSp>
            <p:nvCxnSpPr>
              <p:cNvPr id="33" name="直接箭头连接符 32"/>
              <p:cNvCxnSpPr/>
              <p:nvPr/>
            </p:nvCxnSpPr>
            <p:spPr>
              <a:xfrm>
                <a:off x="1066800" y="3962400"/>
                <a:ext cx="55626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V="1">
                <a:off x="3276600" y="2019300"/>
                <a:ext cx="0" cy="3886200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flipV="1">
                <a:off x="3276600" y="3323616"/>
                <a:ext cx="3048000" cy="6096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矩形 35"/>
              <p:cNvSpPr/>
              <p:nvPr/>
            </p:nvSpPr>
            <p:spPr>
              <a:xfrm>
                <a:off x="6299200" y="4089400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Re</a:t>
                </a:r>
                <a:endParaRPr lang="zh-CN" altLang="en-US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3355423" y="1850509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Im</a:t>
                </a:r>
                <a:endParaRPr lang="zh-CN" altLang="en-US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331598" y="3029925"/>
                <a:ext cx="30970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500" b="1" dirty="0"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</a:t>
                </a:r>
                <a:endParaRPr lang="zh-CN" altLang="en-US" sz="2500" b="1" dirty="0"/>
              </a:p>
            </p:txBody>
          </p:sp>
          <p:cxnSp>
            <p:nvCxnSpPr>
              <p:cNvPr id="39" name="直接箭头连接符 38"/>
              <p:cNvCxnSpPr/>
              <p:nvPr/>
            </p:nvCxnSpPr>
            <p:spPr>
              <a:xfrm flipV="1">
                <a:off x="3302540" y="3491311"/>
                <a:ext cx="2193308" cy="438662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/>
              <p:nvPr/>
            </p:nvCxnSpPr>
            <p:spPr>
              <a:xfrm>
                <a:off x="3309025" y="3907275"/>
                <a:ext cx="264755" cy="1335285"/>
              </a:xfrm>
              <a:prstGeom prst="straightConnector1">
                <a:avLst/>
              </a:prstGeom>
              <a:ln w="63500">
                <a:solidFill>
                  <a:srgbClr val="0000FF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>
                <a:off x="5460319" y="3475248"/>
                <a:ext cx="333206" cy="1306640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 flipV="1">
                <a:off x="3584480" y="4771471"/>
                <a:ext cx="2193308" cy="438662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>
                <a:off x="3320235" y="3945553"/>
                <a:ext cx="2487178" cy="801545"/>
              </a:xfrm>
              <a:prstGeom prst="straightConnector1">
                <a:avLst/>
              </a:prstGeom>
              <a:ln w="63500">
                <a:solidFill>
                  <a:schemeClr val="accent5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 flipV="1">
                <a:off x="3390803" y="4179094"/>
                <a:ext cx="342997" cy="74503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/>
              <p:nvPr/>
            </p:nvCxnSpPr>
            <p:spPr>
              <a:xfrm>
                <a:off x="3653809" y="3878713"/>
                <a:ext cx="77610" cy="300381"/>
              </a:xfrm>
              <a:prstGeom prst="straightConnector1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矩形 45"/>
              <p:cNvSpPr/>
              <p:nvPr/>
            </p:nvSpPr>
            <p:spPr>
              <a:xfrm>
                <a:off x="4749759" y="2889242"/>
                <a:ext cx="1215461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baseline="-25000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o</a:t>
                </a:r>
                <a:r>
                  <a:rPr lang="en-US" altLang="zh-CN" sz="2500" b="1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 = V</a:t>
                </a:r>
                <a:r>
                  <a:rPr lang="en-US" altLang="zh-CN" sz="2500" b="1" baseline="-25000" dirty="0">
                    <a:solidFill>
                      <a:srgbClr val="FF0000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R</a:t>
                </a:r>
                <a:endParaRPr lang="zh-CN" altLang="en-US" sz="2500" b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3415850" y="5262530"/>
                <a:ext cx="569387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baseline="-25000" dirty="0">
                    <a:solidFill>
                      <a:srgbClr val="0000FF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C</a:t>
                </a:r>
                <a:endParaRPr lang="zh-CN" altLang="en-US" sz="2500" b="1" baseline="-250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668206" y="4780185"/>
                <a:ext cx="47481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altLang="zh-CN" sz="2500" b="1" dirty="0">
                    <a:solidFill>
                      <a:schemeClr val="accent5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V</a:t>
                </a:r>
                <a:r>
                  <a:rPr lang="en-US" altLang="zh-CN" sz="2500" b="1" i="1" baseline="-25000" dirty="0">
                    <a:solidFill>
                      <a:schemeClr val="accent5"/>
                    </a:solidFill>
                    <a:latin typeface="Times New Roman" pitchFamily="18" charset="0"/>
                    <a:ea typeface="华文行楷" pitchFamily="2" charset="-122"/>
                    <a:cs typeface="Times New Roman" pitchFamily="18" charset="0"/>
                  </a:rPr>
                  <a:t>i</a:t>
                </a:r>
                <a:endParaRPr lang="zh-CN" altLang="en-US" sz="2500" b="1" i="1" baseline="-25000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49" name="弧形 48"/>
              <p:cNvSpPr/>
              <p:nvPr/>
            </p:nvSpPr>
            <p:spPr>
              <a:xfrm rot="5735652">
                <a:off x="3771829" y="3686010"/>
                <a:ext cx="346485" cy="568916"/>
              </a:xfrm>
              <a:prstGeom prst="arc">
                <a:avLst>
                  <a:gd name="adj1" fmla="val 13661845"/>
                  <a:gd name="adj2" fmla="val 18691272"/>
                </a:avLst>
              </a:prstGeom>
              <a:ln w="19050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矩形 49"/>
                  <p:cNvSpPr/>
                  <p:nvPr/>
                </p:nvSpPr>
                <p:spPr>
                  <a:xfrm>
                    <a:off x="4184551" y="3854698"/>
                    <a:ext cx="427361" cy="44627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sz="2300" dirty="0"/>
                  </a:p>
                </p:txBody>
              </p:sp>
            </mc:Choice>
            <mc:Fallback xmlns="">
              <p:sp>
                <p:nvSpPr>
                  <p:cNvPr id="56" name="矩形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4551" y="3854698"/>
                    <a:ext cx="427361" cy="4462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/>
                <p:cNvSpPr/>
                <p:nvPr/>
              </p:nvSpPr>
              <p:spPr>
                <a:xfrm rot="20969233">
                  <a:off x="3635721" y="3249635"/>
                  <a:ext cx="784830" cy="4154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oMath>
                    </m:oMathPara>
                  </a14:m>
                  <a:endParaRPr lang="zh-CN" altLang="en-US" sz="21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矩形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969233">
                  <a:off x="3635721" y="3249635"/>
                  <a:ext cx="784830" cy="4154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 51"/>
                <p:cNvSpPr/>
                <p:nvPr/>
              </p:nvSpPr>
              <p:spPr>
                <a:xfrm>
                  <a:off x="3039185" y="4613698"/>
                  <a:ext cx="415498" cy="4462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3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3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矩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9185" y="4613698"/>
                  <a:ext cx="415498" cy="44627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/>
                <p:cNvSpPr/>
                <p:nvPr/>
              </p:nvSpPr>
              <p:spPr>
                <a:xfrm rot="1038642">
                  <a:off x="3247351" y="4341208"/>
                  <a:ext cx="1574855" cy="4277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𝑅𝐶</m:t>
                                </m:r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矩形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38642">
                  <a:off x="3247351" y="4341208"/>
                  <a:ext cx="1574855" cy="427746"/>
                </a:xfrm>
                <a:prstGeom prst="rect">
                  <a:avLst/>
                </a:prstGeom>
                <a:blipFill>
                  <a:blip r:embed="rId13"/>
                  <a:stretch>
                    <a:fillRect b="-6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/>
                <p:cNvSpPr/>
                <p:nvPr/>
              </p:nvSpPr>
              <p:spPr>
                <a:xfrm>
                  <a:off x="304800" y="4498717"/>
                  <a:ext cx="2541593" cy="8876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</m:e>
                          <m:sup>
                            <m:r>
                              <a:rPr lang="en-US" altLang="zh-CN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3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𝑅𝐶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矩形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" y="4498717"/>
                  <a:ext cx="2541593" cy="88761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文本占位符 1"/>
          <p:cNvSpPr txBox="1">
            <a:spLocks/>
          </p:cNvSpPr>
          <p:nvPr/>
        </p:nvSpPr>
        <p:spPr>
          <a:xfrm>
            <a:off x="1334031" y="1104449"/>
            <a:ext cx="3799337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Positive phase shifter</a:t>
            </a:r>
            <a:endParaRPr lang="zh-CN" altLang="en-US" sz="2300" dirty="0"/>
          </a:p>
        </p:txBody>
      </p:sp>
      <p:sp>
        <p:nvSpPr>
          <p:cNvPr id="57" name="文本占位符 1"/>
          <p:cNvSpPr txBox="1">
            <a:spLocks/>
          </p:cNvSpPr>
          <p:nvPr/>
        </p:nvSpPr>
        <p:spPr>
          <a:xfrm>
            <a:off x="6586086" y="1093220"/>
            <a:ext cx="3799337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300" dirty="0"/>
              <a:t>Negative phase shifter</a:t>
            </a:r>
            <a:endParaRPr lang="zh-CN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2244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47095</TotalTime>
  <Words>945</Words>
  <Application>Microsoft Office PowerPoint</Application>
  <PresentationFormat>宽屏</PresentationFormat>
  <Paragraphs>184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华文行楷</vt:lpstr>
      <vt:lpstr>宋体</vt:lpstr>
      <vt:lpstr>微软雅黑</vt:lpstr>
      <vt:lpstr>Arial</vt:lpstr>
      <vt:lpstr>Calibri</vt:lpstr>
      <vt:lpstr>Cambria Math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Jun Ma</cp:lastModifiedBy>
  <cp:revision>1405</cp:revision>
  <dcterms:created xsi:type="dcterms:W3CDTF">2006-08-16T00:00:00Z</dcterms:created>
  <dcterms:modified xsi:type="dcterms:W3CDTF">2024-11-12T02:11:06Z</dcterms:modified>
</cp:coreProperties>
</file>