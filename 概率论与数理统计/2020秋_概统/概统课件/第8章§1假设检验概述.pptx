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docx" ContentType="application/vnd.openxmlformats-officedocument.wordprocessingml.document"/>
  <Default Extension="bin" ContentType="application/vnd.openxmlformats-officedocument.oleObject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542" r:id="rId5"/>
    <p:sldId id="543" r:id="rId7"/>
    <p:sldId id="544" r:id="rId8"/>
    <p:sldId id="545" r:id="rId9"/>
    <p:sldId id="570" r:id="rId10"/>
    <p:sldId id="547" r:id="rId11"/>
    <p:sldId id="555" r:id="rId12"/>
    <p:sldId id="571" r:id="rId13"/>
    <p:sldId id="549" r:id="rId14"/>
    <p:sldId id="550" r:id="rId15"/>
    <p:sldId id="553" r:id="rId16"/>
    <p:sldId id="551" r:id="rId17"/>
    <p:sldId id="560" r:id="rId18"/>
    <p:sldId id="563" r:id="rId19"/>
    <p:sldId id="565" r:id="rId20"/>
    <p:sldId id="566" r:id="rId21"/>
    <p:sldId id="567" r:id="rId22"/>
    <p:sldId id="569" r:id="rId23"/>
    <p:sldId id="572" r:id="rId24"/>
    <p:sldId id="585" r:id="rId25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120000"/>
      </a:lnSpc>
      <a:spcBef>
        <a:spcPct val="50000"/>
      </a:spcBef>
      <a:spcAft>
        <a:spcPct val="0"/>
      </a:spcAft>
      <a:defRPr kumimoji="1" sz="28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1pPr>
    <a:lvl2pPr marL="457200" algn="ctr" rtl="0" fontAlgn="base">
      <a:lnSpc>
        <a:spcPct val="120000"/>
      </a:lnSpc>
      <a:spcBef>
        <a:spcPct val="50000"/>
      </a:spcBef>
      <a:spcAft>
        <a:spcPct val="0"/>
      </a:spcAft>
      <a:defRPr kumimoji="1" sz="28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2pPr>
    <a:lvl3pPr marL="914400" algn="ctr" rtl="0" fontAlgn="base">
      <a:lnSpc>
        <a:spcPct val="120000"/>
      </a:lnSpc>
      <a:spcBef>
        <a:spcPct val="50000"/>
      </a:spcBef>
      <a:spcAft>
        <a:spcPct val="0"/>
      </a:spcAft>
      <a:defRPr kumimoji="1" sz="28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3pPr>
    <a:lvl4pPr marL="1371600" algn="ctr" rtl="0" fontAlgn="base">
      <a:lnSpc>
        <a:spcPct val="120000"/>
      </a:lnSpc>
      <a:spcBef>
        <a:spcPct val="50000"/>
      </a:spcBef>
      <a:spcAft>
        <a:spcPct val="0"/>
      </a:spcAft>
      <a:defRPr kumimoji="1" sz="28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4pPr>
    <a:lvl5pPr marL="1828800" algn="ctr" rtl="0" fontAlgn="base">
      <a:lnSpc>
        <a:spcPct val="120000"/>
      </a:lnSpc>
      <a:spcBef>
        <a:spcPct val="50000"/>
      </a:spcBef>
      <a:spcAft>
        <a:spcPct val="0"/>
      </a:spcAft>
      <a:defRPr kumimoji="1" sz="28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0033CC"/>
    <a:srgbClr val="A50021"/>
    <a:srgbClr val="FF9933"/>
    <a:srgbClr val="FFCC00"/>
    <a:srgbClr val="FFFF00"/>
    <a:srgbClr val="FF0000"/>
    <a:srgbClr val="000000"/>
    <a:srgbClr val="0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1" autoAdjust="0"/>
    <p:restoredTop sz="96071" autoAdjust="0"/>
  </p:normalViewPr>
  <p:slideViewPr>
    <p:cSldViewPr snapToGrid="0" showGuides="1">
      <p:cViewPr varScale="1">
        <p:scale>
          <a:sx n="82" d="100"/>
          <a:sy n="82" d="100"/>
        </p:scale>
        <p:origin x="1195" y="72"/>
      </p:cViewPr>
      <p:guideLst>
        <p:guide orient="horz" pos="2160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.wmf"/><Relationship Id="rId8" Type="http://schemas.openxmlformats.org/officeDocument/2006/relationships/image" Target="../media/image26.wmf"/><Relationship Id="rId7" Type="http://schemas.openxmlformats.org/officeDocument/2006/relationships/image" Target="../media/image25.wmf"/><Relationship Id="rId6" Type="http://schemas.openxmlformats.org/officeDocument/2006/relationships/image" Target="../media/image24.wmf"/><Relationship Id="rId5" Type="http://schemas.openxmlformats.org/officeDocument/2006/relationships/image" Target="../media/image23.emf"/><Relationship Id="rId4" Type="http://schemas.openxmlformats.org/officeDocument/2006/relationships/image" Target="../media/image22.emf"/><Relationship Id="rId3" Type="http://schemas.openxmlformats.org/officeDocument/2006/relationships/image" Target="../media/image21.wmf"/><Relationship Id="rId2" Type="http://schemas.openxmlformats.org/officeDocument/2006/relationships/image" Target="../media/image19.emf"/><Relationship Id="rId11" Type="http://schemas.openxmlformats.org/officeDocument/2006/relationships/image" Target="../media/image29.wmf"/><Relationship Id="rId10" Type="http://schemas.openxmlformats.org/officeDocument/2006/relationships/image" Target="../media/image28.wmf"/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emf"/><Relationship Id="rId3" Type="http://schemas.openxmlformats.org/officeDocument/2006/relationships/image" Target="../media/image22.emf"/><Relationship Id="rId25" Type="http://schemas.openxmlformats.org/officeDocument/2006/relationships/image" Target="../media/image44.wmf"/><Relationship Id="rId24" Type="http://schemas.openxmlformats.org/officeDocument/2006/relationships/image" Target="../media/image43.wmf"/><Relationship Id="rId23" Type="http://schemas.openxmlformats.org/officeDocument/2006/relationships/image" Target="../media/image42.wmf"/><Relationship Id="rId22" Type="http://schemas.openxmlformats.org/officeDocument/2006/relationships/image" Target="../media/image41.wmf"/><Relationship Id="rId21" Type="http://schemas.openxmlformats.org/officeDocument/2006/relationships/image" Target="../media/image40.wmf"/><Relationship Id="rId20" Type="http://schemas.openxmlformats.org/officeDocument/2006/relationships/image" Target="../media/image39.wmf"/><Relationship Id="rId2" Type="http://schemas.openxmlformats.org/officeDocument/2006/relationships/image" Target="../media/image19.emf"/><Relationship Id="rId19" Type="http://schemas.openxmlformats.org/officeDocument/2006/relationships/image" Target="../media/image38.wmf"/><Relationship Id="rId18" Type="http://schemas.openxmlformats.org/officeDocument/2006/relationships/image" Target="../media/image37.wmf"/><Relationship Id="rId17" Type="http://schemas.openxmlformats.org/officeDocument/2006/relationships/image" Target="../media/image36.wmf"/><Relationship Id="rId16" Type="http://schemas.openxmlformats.org/officeDocument/2006/relationships/image" Target="../media/image35.wmf"/><Relationship Id="rId15" Type="http://schemas.openxmlformats.org/officeDocument/2006/relationships/image" Target="../media/image34.wmf"/><Relationship Id="rId14" Type="http://schemas.openxmlformats.org/officeDocument/2006/relationships/image" Target="../media/image33.wmf"/><Relationship Id="rId13" Type="http://schemas.openxmlformats.org/officeDocument/2006/relationships/image" Target="../media/image32.wmf"/><Relationship Id="rId12" Type="http://schemas.openxmlformats.org/officeDocument/2006/relationships/image" Target="../media/image31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.emf"/><Relationship Id="rId8" Type="http://schemas.openxmlformats.org/officeDocument/2006/relationships/image" Target="../media/image52.emf"/><Relationship Id="rId7" Type="http://schemas.openxmlformats.org/officeDocument/2006/relationships/image" Target="../media/image51.emf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8" Type="http://schemas.openxmlformats.org/officeDocument/2006/relationships/image" Target="../media/image72.wmf"/><Relationship Id="rId27" Type="http://schemas.openxmlformats.org/officeDocument/2006/relationships/image" Target="../media/image71.wmf"/><Relationship Id="rId26" Type="http://schemas.openxmlformats.org/officeDocument/2006/relationships/image" Target="../media/image70.wmf"/><Relationship Id="rId25" Type="http://schemas.openxmlformats.org/officeDocument/2006/relationships/image" Target="../media/image69.wmf"/><Relationship Id="rId24" Type="http://schemas.openxmlformats.org/officeDocument/2006/relationships/image" Target="../media/image68.wmf"/><Relationship Id="rId23" Type="http://schemas.openxmlformats.org/officeDocument/2006/relationships/image" Target="../media/image67.wmf"/><Relationship Id="rId22" Type="http://schemas.openxmlformats.org/officeDocument/2006/relationships/image" Target="../media/image66.wmf"/><Relationship Id="rId21" Type="http://schemas.openxmlformats.org/officeDocument/2006/relationships/image" Target="../media/image65.wmf"/><Relationship Id="rId20" Type="http://schemas.openxmlformats.org/officeDocument/2006/relationships/image" Target="../media/image64.emf"/><Relationship Id="rId2" Type="http://schemas.openxmlformats.org/officeDocument/2006/relationships/image" Target="../media/image46.wmf"/><Relationship Id="rId19" Type="http://schemas.openxmlformats.org/officeDocument/2006/relationships/image" Target="../media/image63.emf"/><Relationship Id="rId18" Type="http://schemas.openxmlformats.org/officeDocument/2006/relationships/image" Target="../media/image62.emf"/><Relationship Id="rId17" Type="http://schemas.openxmlformats.org/officeDocument/2006/relationships/image" Target="../media/image61.emf"/><Relationship Id="rId16" Type="http://schemas.openxmlformats.org/officeDocument/2006/relationships/image" Target="../media/image60.emf"/><Relationship Id="rId15" Type="http://schemas.openxmlformats.org/officeDocument/2006/relationships/image" Target="../media/image59.emf"/><Relationship Id="rId14" Type="http://schemas.openxmlformats.org/officeDocument/2006/relationships/image" Target="../media/image58.emf"/><Relationship Id="rId13" Type="http://schemas.openxmlformats.org/officeDocument/2006/relationships/image" Target="../media/image57.emf"/><Relationship Id="rId12" Type="http://schemas.openxmlformats.org/officeDocument/2006/relationships/image" Target="../media/image56.emf"/><Relationship Id="rId11" Type="http://schemas.openxmlformats.org/officeDocument/2006/relationships/image" Target="../media/image55.emf"/><Relationship Id="rId10" Type="http://schemas.openxmlformats.org/officeDocument/2006/relationships/image" Target="../media/image54.emf"/><Relationship Id="rId1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81.wmf"/><Relationship Id="rId8" Type="http://schemas.openxmlformats.org/officeDocument/2006/relationships/image" Target="../media/image80.wmf"/><Relationship Id="rId7" Type="http://schemas.openxmlformats.org/officeDocument/2006/relationships/image" Target="../media/image79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emf"/><Relationship Id="rId3" Type="http://schemas.openxmlformats.org/officeDocument/2006/relationships/image" Target="../media/image75.wmf"/><Relationship Id="rId22" Type="http://schemas.openxmlformats.org/officeDocument/2006/relationships/image" Target="../media/image94.wmf"/><Relationship Id="rId21" Type="http://schemas.openxmlformats.org/officeDocument/2006/relationships/image" Target="../media/image93.wmf"/><Relationship Id="rId20" Type="http://schemas.openxmlformats.org/officeDocument/2006/relationships/image" Target="../media/image92.wmf"/><Relationship Id="rId2" Type="http://schemas.openxmlformats.org/officeDocument/2006/relationships/image" Target="../media/image74.emf"/><Relationship Id="rId19" Type="http://schemas.openxmlformats.org/officeDocument/2006/relationships/image" Target="../media/image91.wmf"/><Relationship Id="rId18" Type="http://schemas.openxmlformats.org/officeDocument/2006/relationships/image" Target="../media/image90.wmf"/><Relationship Id="rId17" Type="http://schemas.openxmlformats.org/officeDocument/2006/relationships/image" Target="../media/image89.wmf"/><Relationship Id="rId16" Type="http://schemas.openxmlformats.org/officeDocument/2006/relationships/image" Target="../media/image88.wmf"/><Relationship Id="rId15" Type="http://schemas.openxmlformats.org/officeDocument/2006/relationships/image" Target="../media/image87.wmf"/><Relationship Id="rId14" Type="http://schemas.openxmlformats.org/officeDocument/2006/relationships/image" Target="../media/image86.wmf"/><Relationship Id="rId13" Type="http://schemas.openxmlformats.org/officeDocument/2006/relationships/image" Target="../media/image85.wmf"/><Relationship Id="rId12" Type="http://schemas.openxmlformats.org/officeDocument/2006/relationships/image" Target="../media/image84.wmf"/><Relationship Id="rId11" Type="http://schemas.openxmlformats.org/officeDocument/2006/relationships/image" Target="../media/image83.wmf"/><Relationship Id="rId10" Type="http://schemas.openxmlformats.org/officeDocument/2006/relationships/image" Target="../media/image82.wmf"/><Relationship Id="rId1" Type="http://schemas.openxmlformats.org/officeDocument/2006/relationships/image" Target="../media/image73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1.wmf"/><Relationship Id="rId8" Type="http://schemas.openxmlformats.org/officeDocument/2006/relationships/image" Target="../media/image80.wmf"/><Relationship Id="rId7" Type="http://schemas.openxmlformats.org/officeDocument/2006/relationships/image" Target="../media/image79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emf"/><Relationship Id="rId36" Type="http://schemas.openxmlformats.org/officeDocument/2006/relationships/image" Target="../media/image108.wmf"/><Relationship Id="rId35" Type="http://schemas.openxmlformats.org/officeDocument/2006/relationships/image" Target="../media/image107.wmf"/><Relationship Id="rId34" Type="http://schemas.openxmlformats.org/officeDocument/2006/relationships/image" Target="../media/image106.wmf"/><Relationship Id="rId33" Type="http://schemas.openxmlformats.org/officeDocument/2006/relationships/image" Target="../media/image105.wmf"/><Relationship Id="rId32" Type="http://schemas.openxmlformats.org/officeDocument/2006/relationships/image" Target="../media/image104.wmf"/><Relationship Id="rId31" Type="http://schemas.openxmlformats.org/officeDocument/2006/relationships/image" Target="../media/image103.emf"/><Relationship Id="rId30" Type="http://schemas.openxmlformats.org/officeDocument/2006/relationships/image" Target="../media/image102.wmf"/><Relationship Id="rId3" Type="http://schemas.openxmlformats.org/officeDocument/2006/relationships/image" Target="../media/image75.wmf"/><Relationship Id="rId29" Type="http://schemas.openxmlformats.org/officeDocument/2006/relationships/image" Target="../media/image101.wmf"/><Relationship Id="rId28" Type="http://schemas.openxmlformats.org/officeDocument/2006/relationships/image" Target="../media/image100.wmf"/><Relationship Id="rId27" Type="http://schemas.openxmlformats.org/officeDocument/2006/relationships/image" Target="../media/image99.wmf"/><Relationship Id="rId26" Type="http://schemas.openxmlformats.org/officeDocument/2006/relationships/image" Target="../media/image98.wmf"/><Relationship Id="rId25" Type="http://schemas.openxmlformats.org/officeDocument/2006/relationships/image" Target="../media/image97.wmf"/><Relationship Id="rId24" Type="http://schemas.openxmlformats.org/officeDocument/2006/relationships/image" Target="../media/image96.wmf"/><Relationship Id="rId23" Type="http://schemas.openxmlformats.org/officeDocument/2006/relationships/image" Target="../media/image95.wmf"/><Relationship Id="rId22" Type="http://schemas.openxmlformats.org/officeDocument/2006/relationships/image" Target="../media/image94.wmf"/><Relationship Id="rId21" Type="http://schemas.openxmlformats.org/officeDocument/2006/relationships/image" Target="../media/image93.wmf"/><Relationship Id="rId20" Type="http://schemas.openxmlformats.org/officeDocument/2006/relationships/image" Target="../media/image92.wmf"/><Relationship Id="rId2" Type="http://schemas.openxmlformats.org/officeDocument/2006/relationships/image" Target="../media/image74.emf"/><Relationship Id="rId19" Type="http://schemas.openxmlformats.org/officeDocument/2006/relationships/image" Target="../media/image91.wmf"/><Relationship Id="rId18" Type="http://schemas.openxmlformats.org/officeDocument/2006/relationships/image" Target="../media/image90.wmf"/><Relationship Id="rId17" Type="http://schemas.openxmlformats.org/officeDocument/2006/relationships/image" Target="../media/image89.wmf"/><Relationship Id="rId16" Type="http://schemas.openxmlformats.org/officeDocument/2006/relationships/image" Target="../media/image88.wmf"/><Relationship Id="rId15" Type="http://schemas.openxmlformats.org/officeDocument/2006/relationships/image" Target="../media/image87.wmf"/><Relationship Id="rId14" Type="http://schemas.openxmlformats.org/officeDocument/2006/relationships/image" Target="../media/image86.wmf"/><Relationship Id="rId13" Type="http://schemas.openxmlformats.org/officeDocument/2006/relationships/image" Target="../media/image85.wmf"/><Relationship Id="rId12" Type="http://schemas.openxmlformats.org/officeDocument/2006/relationships/image" Target="../media/image84.wmf"/><Relationship Id="rId11" Type="http://schemas.openxmlformats.org/officeDocument/2006/relationships/image" Target="../media/image83.wmf"/><Relationship Id="rId10" Type="http://schemas.openxmlformats.org/officeDocument/2006/relationships/image" Target="../media/image82.wmf"/><Relationship Id="rId1" Type="http://schemas.openxmlformats.org/officeDocument/2006/relationships/image" Target="../media/image73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9.emf"/><Relationship Id="rId8" Type="http://schemas.openxmlformats.org/officeDocument/2006/relationships/image" Target="../media/image118.wmf"/><Relationship Id="rId7" Type="http://schemas.openxmlformats.org/officeDocument/2006/relationships/image" Target="../media/image117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1" Type="http://schemas.openxmlformats.org/officeDocument/2006/relationships/image" Target="../media/image121.wmf"/><Relationship Id="rId10" Type="http://schemas.openxmlformats.org/officeDocument/2006/relationships/image" Target="../media/image120.emf"/><Relationship Id="rId1" Type="http://schemas.openxmlformats.org/officeDocument/2006/relationships/image" Target="../media/image109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8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wmf"/><Relationship Id="rId8" Type="http://schemas.openxmlformats.org/officeDocument/2006/relationships/image" Target="../media/image136.emf"/><Relationship Id="rId7" Type="http://schemas.openxmlformats.org/officeDocument/2006/relationships/image" Target="../media/image135.e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5" Type="http://schemas.openxmlformats.org/officeDocument/2006/relationships/image" Target="../media/image143.wmf"/><Relationship Id="rId14" Type="http://schemas.openxmlformats.org/officeDocument/2006/relationships/image" Target="../media/image142.wmf"/><Relationship Id="rId13" Type="http://schemas.openxmlformats.org/officeDocument/2006/relationships/image" Target="../media/image141.wmf"/><Relationship Id="rId12" Type="http://schemas.openxmlformats.org/officeDocument/2006/relationships/image" Target="../media/image140.wmf"/><Relationship Id="rId11" Type="http://schemas.openxmlformats.org/officeDocument/2006/relationships/image" Target="../media/image139.wmf"/><Relationship Id="rId10" Type="http://schemas.openxmlformats.org/officeDocument/2006/relationships/image" Target="../media/image138.wmf"/><Relationship Id="rId1" Type="http://schemas.openxmlformats.org/officeDocument/2006/relationships/image" Target="../media/image129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2.wmf"/><Relationship Id="rId8" Type="http://schemas.openxmlformats.org/officeDocument/2006/relationships/image" Target="../media/image151.wmf"/><Relationship Id="rId7" Type="http://schemas.openxmlformats.org/officeDocument/2006/relationships/image" Target="../media/image150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wmf"/><Relationship Id="rId8" Type="http://schemas.openxmlformats.org/officeDocument/2006/relationships/image" Target="../media/image163.wmf"/><Relationship Id="rId7" Type="http://schemas.openxmlformats.org/officeDocument/2006/relationships/image" Target="../media/image162.w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Relationship Id="rId3" Type="http://schemas.openxmlformats.org/officeDocument/2006/relationships/image" Target="../media/image158.emf"/><Relationship Id="rId2" Type="http://schemas.openxmlformats.org/officeDocument/2006/relationships/image" Target="../media/image157.emf"/><Relationship Id="rId13" Type="http://schemas.openxmlformats.org/officeDocument/2006/relationships/image" Target="../media/image168.emf"/><Relationship Id="rId12" Type="http://schemas.openxmlformats.org/officeDocument/2006/relationships/image" Target="../media/image167.emf"/><Relationship Id="rId11" Type="http://schemas.openxmlformats.org/officeDocument/2006/relationships/image" Target="../media/image166.emf"/><Relationship Id="rId10" Type="http://schemas.openxmlformats.org/officeDocument/2006/relationships/image" Target="../media/image165.wmf"/><Relationship Id="rId1" Type="http://schemas.openxmlformats.org/officeDocument/2006/relationships/image" Target="../media/image156.e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wmf"/><Relationship Id="rId8" Type="http://schemas.openxmlformats.org/officeDocument/2006/relationships/image" Target="../media/image176.wmf"/><Relationship Id="rId7" Type="http://schemas.openxmlformats.org/officeDocument/2006/relationships/image" Target="../media/image175.wmf"/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5" Type="http://schemas.openxmlformats.org/officeDocument/2006/relationships/image" Target="../media/image183.wmf"/><Relationship Id="rId14" Type="http://schemas.openxmlformats.org/officeDocument/2006/relationships/image" Target="../media/image182.wmf"/><Relationship Id="rId13" Type="http://schemas.openxmlformats.org/officeDocument/2006/relationships/image" Target="../media/image181.wmf"/><Relationship Id="rId12" Type="http://schemas.openxmlformats.org/officeDocument/2006/relationships/image" Target="../media/image180.wmf"/><Relationship Id="rId11" Type="http://schemas.openxmlformats.org/officeDocument/2006/relationships/image" Target="../media/image179.wmf"/><Relationship Id="rId10" Type="http://schemas.openxmlformats.org/officeDocument/2006/relationships/image" Target="../media/image178.wmf"/><Relationship Id="rId1" Type="http://schemas.openxmlformats.org/officeDocument/2006/relationships/image" Target="../media/image169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2.wmf"/><Relationship Id="rId8" Type="http://schemas.openxmlformats.org/officeDocument/2006/relationships/image" Target="../media/image191.wmf"/><Relationship Id="rId7" Type="http://schemas.openxmlformats.org/officeDocument/2006/relationships/image" Target="../media/image190.w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0" Type="http://schemas.openxmlformats.org/officeDocument/2006/relationships/image" Target="../media/image193.emf"/><Relationship Id="rId1" Type="http://schemas.openxmlformats.org/officeDocument/2006/relationships/image" Target="../media/image184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2.wmf"/><Relationship Id="rId8" Type="http://schemas.openxmlformats.org/officeDocument/2006/relationships/image" Target="../media/image201.wmf"/><Relationship Id="rId7" Type="http://schemas.openxmlformats.org/officeDocument/2006/relationships/image" Target="../media/image200.wmf"/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Relationship Id="rId3" Type="http://schemas.openxmlformats.org/officeDocument/2006/relationships/image" Target="../media/image196.wmf"/><Relationship Id="rId23" Type="http://schemas.openxmlformats.org/officeDocument/2006/relationships/image" Target="../media/image216.wmf"/><Relationship Id="rId22" Type="http://schemas.openxmlformats.org/officeDocument/2006/relationships/image" Target="../media/image215.wmf"/><Relationship Id="rId21" Type="http://schemas.openxmlformats.org/officeDocument/2006/relationships/image" Target="../media/image214.wmf"/><Relationship Id="rId20" Type="http://schemas.openxmlformats.org/officeDocument/2006/relationships/image" Target="../media/image213.wmf"/><Relationship Id="rId2" Type="http://schemas.openxmlformats.org/officeDocument/2006/relationships/image" Target="../media/image195.wmf"/><Relationship Id="rId19" Type="http://schemas.openxmlformats.org/officeDocument/2006/relationships/image" Target="../media/image212.wmf"/><Relationship Id="rId18" Type="http://schemas.openxmlformats.org/officeDocument/2006/relationships/image" Target="../media/image211.wmf"/><Relationship Id="rId17" Type="http://schemas.openxmlformats.org/officeDocument/2006/relationships/image" Target="../media/image210.emf"/><Relationship Id="rId16" Type="http://schemas.openxmlformats.org/officeDocument/2006/relationships/image" Target="../media/image209.wmf"/><Relationship Id="rId15" Type="http://schemas.openxmlformats.org/officeDocument/2006/relationships/image" Target="../media/image208.wmf"/><Relationship Id="rId14" Type="http://schemas.openxmlformats.org/officeDocument/2006/relationships/image" Target="../media/image207.wmf"/><Relationship Id="rId13" Type="http://schemas.openxmlformats.org/officeDocument/2006/relationships/image" Target="../media/image206.wmf"/><Relationship Id="rId12" Type="http://schemas.openxmlformats.org/officeDocument/2006/relationships/image" Target="../media/image205.wmf"/><Relationship Id="rId11" Type="http://schemas.openxmlformats.org/officeDocument/2006/relationships/image" Target="../media/image204.wmf"/><Relationship Id="rId10" Type="http://schemas.openxmlformats.org/officeDocument/2006/relationships/image" Target="../media/image203.wmf"/><Relationship Id="rId1" Type="http://schemas.openxmlformats.org/officeDocument/2006/relationships/image" Target="../media/image194.wmf"/></Relationships>
</file>

<file path=ppt/drawings/_rels/vmlDrawing1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2.emf"/><Relationship Id="rId5" Type="http://schemas.openxmlformats.org/officeDocument/2006/relationships/image" Target="../media/image221.emf"/><Relationship Id="rId4" Type="http://schemas.openxmlformats.org/officeDocument/2006/relationships/image" Target="../media/image220.wmf"/><Relationship Id="rId3" Type="http://schemas.openxmlformats.org/officeDocument/2006/relationships/image" Target="../media/image219.emf"/><Relationship Id="rId2" Type="http://schemas.openxmlformats.org/officeDocument/2006/relationships/image" Target="../media/image218.wmf"/><Relationship Id="rId1" Type="http://schemas.openxmlformats.org/officeDocument/2006/relationships/image" Target="../media/image217.e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6.emf"/><Relationship Id="rId3" Type="http://schemas.openxmlformats.org/officeDocument/2006/relationships/image" Target="../media/image225.emf"/><Relationship Id="rId2" Type="http://schemas.openxmlformats.org/officeDocument/2006/relationships/image" Target="../media/image224.emf"/><Relationship Id="rId1" Type="http://schemas.openxmlformats.org/officeDocument/2006/relationships/image" Target="../media/image22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57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573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7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57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57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4627A5B6-54F2-4B0C-92B7-37EA898BAD3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7A5B6-54F2-4B0C-92B7-37EA898BAD3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7A5B6-54F2-4B0C-92B7-37EA898BAD3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hyperlink" Target="../&#12298;&#27010;&#29575;&#35770;&#19982;&#25968;&#29702;&#32479;&#35745;&#12299;&#35838;&#20214;/&#12298;&#25968;&#29702;&#32479;&#35745;&#12299;&#31532;8&#31456;&#167;2&#27491;&#24577;&#24635;&#20307;&#22343;&#20540;&#30340;&#20551;&#35774;&#26816;&#39564;.ppt#-1,1,1.%20&#24187;&#28783;&#29255;%201" TargetMode="External"/><Relationship Id="rId12" Type="http://schemas.openxmlformats.org/officeDocument/2006/relationships/image" Target="../media/image1.wmf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hyperlink" Target="../&#12298;&#27010;&#29575;&#35770;&#19982;&#25968;&#29702;&#32479;&#35745;&#12299;&#35838;&#20214;/&#12298;&#25968;&#29702;&#32479;&#35745;&#12299;&#31532;8&#31456;&#167;2&#27491;&#24577;&#24635;&#20307;&#22343;&#20540;&#30340;&#20551;&#35774;&#26816;&#39564;.ppt#-1,1,1.%20&#24187;&#28783;&#29255;%201" TargetMode="External"/><Relationship Id="rId12" Type="http://schemas.openxmlformats.org/officeDocument/2006/relationships/image" Target="../media/image1.wmf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hyperlink" Target="../&#12298;&#27010;&#29575;&#35770;&#19982;&#25968;&#29702;&#32479;&#35745;&#12299;&#35838;&#20214;/&#12298;&#25968;&#29702;&#32479;&#35745;&#12299;&#31532;8&#31456;&#167;2&#27491;&#24577;&#24635;&#20307;&#22343;&#20540;&#30340;&#20551;&#35774;&#26816;&#39564;.ppt#-1,1,1.%20&#24187;&#28783;&#29255;%201" TargetMode="External"/><Relationship Id="rId12" Type="http://schemas.openxmlformats.org/officeDocument/2006/relationships/image" Target="../media/image1.wmf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2" name="Rectangle 76"/>
          <p:cNvSpPr>
            <a:spLocks noChangeArrowheads="1"/>
          </p:cNvSpPr>
          <p:nvPr/>
        </p:nvSpPr>
        <p:spPr bwMode="auto">
          <a:xfrm>
            <a:off x="3336925" y="0"/>
            <a:ext cx="3038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§1 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概    述</a:t>
            </a: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91" name="Rectangle 95"/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192" name="Picture 96" descr="j0205582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1588"/>
            <a:ext cx="611188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4" name="Rectangle 98"/>
          <p:cNvSpPr>
            <a:spLocks noChangeArrowheads="1"/>
          </p:cNvSpPr>
          <p:nvPr userDrawn="1"/>
        </p:nvSpPr>
        <p:spPr bwMode="auto">
          <a:xfrm>
            <a:off x="7327900" y="254000"/>
            <a:ext cx="7493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fld id="{B45DEEB3-4691-404F-A178-0FBC71392568}" type="slidenum">
              <a:rPr lang="en-US" altLang="zh-CN" sz="1000" b="1" smtClean="0">
                <a:solidFill>
                  <a:schemeClr val="folHlink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000" b="1" dirty="0">
              <a:solidFill>
                <a:schemeClr val="folHlink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202" name="Group 106"/>
          <p:cNvGrpSpPr/>
          <p:nvPr userDrawn="1"/>
        </p:nvGrpSpPr>
        <p:grpSpPr bwMode="auto">
          <a:xfrm>
            <a:off x="8613775" y="101600"/>
            <a:ext cx="455613" cy="333375"/>
            <a:chOff x="5426" y="64"/>
            <a:chExt cx="287" cy="210"/>
          </a:xfrm>
        </p:grpSpPr>
        <p:sp>
          <p:nvSpPr>
            <p:cNvPr id="4203" name="AutoShape 107">
              <a:hlinkClick r:id="" action="ppaction://hlinkshowjump?jump=previous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426" y="64"/>
              <a:ext cx="131" cy="86"/>
            </a:xfrm>
            <a:prstGeom prst="upArrow">
              <a:avLst>
                <a:gd name="adj1" fmla="val 53731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" name="AutoShape 108">
              <a:hlinkClick r:id="" action="ppaction://hlinkshowjump?jump=next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427" y="187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5" name="Rectangle 109">
              <a:hlinkClick r:id="" action="ppaction://hlinkshowjump?jump=endshow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589" y="66"/>
              <a:ext cx="122" cy="8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shape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6" name="AutoShape 110">
              <a:hlinkClick r:id="rId13" action="ppaction://hlinkpres?slideindex=1&amp;slidetitle=1. 幻灯片 1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586" y="186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7" name="Line 111"/>
            <p:cNvSpPr>
              <a:spLocks noChangeShapeType="1"/>
            </p:cNvSpPr>
            <p:nvPr userDrawn="1"/>
          </p:nvSpPr>
          <p:spPr bwMode="auto">
            <a:xfrm>
              <a:off x="5585" y="274"/>
              <a:ext cx="127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5488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defRPr kumimoji="0" sz="1400">
                <a:effectLst/>
                <a:latin typeface="+mn-lt"/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548872" name="Rectangle 8"/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548873" name="Picture 9" descr="j0205582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1588"/>
            <a:ext cx="611188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8875" name="Rectangle 11"/>
          <p:cNvSpPr>
            <a:spLocks noChangeArrowheads="1"/>
          </p:cNvSpPr>
          <p:nvPr userDrawn="1"/>
        </p:nvSpPr>
        <p:spPr bwMode="auto">
          <a:xfrm>
            <a:off x="7327900" y="254000"/>
            <a:ext cx="7493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fld id="{52F5B47D-286E-49D6-8153-6929534BD71E}" type="slidenum">
              <a:rPr lang="en-US" altLang="zh-CN" sz="1000" b="1" smtClean="0">
                <a:solidFill>
                  <a:schemeClr val="folHlink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000" b="1" dirty="0">
              <a:solidFill>
                <a:schemeClr val="folHlink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8878" name="Group 14"/>
          <p:cNvGrpSpPr/>
          <p:nvPr userDrawn="1"/>
        </p:nvGrpSpPr>
        <p:grpSpPr bwMode="auto">
          <a:xfrm>
            <a:off x="8613775" y="101600"/>
            <a:ext cx="455613" cy="333375"/>
            <a:chOff x="5426" y="64"/>
            <a:chExt cx="287" cy="210"/>
          </a:xfrm>
        </p:grpSpPr>
        <p:sp>
          <p:nvSpPr>
            <p:cNvPr id="548879" name="AutoShape 15">
              <a:hlinkClick r:id="" action="ppaction://hlinkshowjump?jump=previous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426" y="64"/>
              <a:ext cx="131" cy="86"/>
            </a:xfrm>
            <a:prstGeom prst="upArrow">
              <a:avLst>
                <a:gd name="adj1" fmla="val 53731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8880" name="AutoShape 16">
              <a:hlinkClick r:id="" action="ppaction://hlinkshowjump?jump=next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427" y="187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8881" name="Rectangle 17">
              <a:hlinkClick r:id="" action="ppaction://hlinkshowjump?jump=endshow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589" y="66"/>
              <a:ext cx="122" cy="8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shape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8882" name="AutoShape 18">
              <a:hlinkClick r:id="rId13" action="ppaction://hlinkpres?slideindex=1&amp;slidetitle=1. 幻灯片 1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586" y="186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8883" name="Line 19"/>
            <p:cNvSpPr>
              <a:spLocks noChangeShapeType="1"/>
            </p:cNvSpPr>
            <p:nvPr userDrawn="1"/>
          </p:nvSpPr>
          <p:spPr bwMode="auto">
            <a:xfrm>
              <a:off x="5585" y="274"/>
              <a:ext cx="127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8884" name="Rectangle 20"/>
          <p:cNvSpPr>
            <a:spLocks noChangeArrowheads="1"/>
          </p:cNvSpPr>
          <p:nvPr userDrawn="1"/>
        </p:nvSpPr>
        <p:spPr bwMode="auto">
          <a:xfrm>
            <a:off x="3336925" y="0"/>
            <a:ext cx="3038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§1  </a:t>
            </a:r>
            <a:r>
              <a:rPr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概    述</a:t>
            </a:r>
            <a:r>
              <a:rPr lang="zh-CN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zh-CN" altLang="en-US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CC"/>
            </a:gs>
            <a:gs pos="100000">
              <a:schemeClr val="tx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2" name="Rectangle 76"/>
          <p:cNvSpPr>
            <a:spLocks noChangeArrowheads="1"/>
          </p:cNvSpPr>
          <p:nvPr/>
        </p:nvSpPr>
        <p:spPr bwMode="auto">
          <a:xfrm>
            <a:off x="3336925" y="0"/>
            <a:ext cx="3038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33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§1  </a:t>
            </a:r>
            <a:r>
              <a:rPr lang="zh-CN" altLang="en-US" dirty="0">
                <a:solidFill>
                  <a:srgbClr val="0033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概    述</a:t>
            </a:r>
            <a:r>
              <a:rPr lang="zh-CN" altLang="en-US" b="1" dirty="0">
                <a:solidFill>
                  <a:srgbClr val="0033CC"/>
                </a:solidFill>
              </a:rPr>
              <a:t> </a:t>
            </a:r>
            <a:endParaRPr lang="zh-CN" altLang="en-US" b="1" dirty="0">
              <a:solidFill>
                <a:srgbClr val="0033CC"/>
              </a:solidFill>
            </a:endParaRPr>
          </a:p>
        </p:txBody>
      </p:sp>
      <p:sp>
        <p:nvSpPr>
          <p:cNvPr id="4191" name="Rectangle 95"/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4192" name="Picture 96" descr="j0205582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1588"/>
            <a:ext cx="611188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4" name="Rectangle 98"/>
          <p:cNvSpPr>
            <a:spLocks noChangeArrowheads="1"/>
          </p:cNvSpPr>
          <p:nvPr userDrawn="1"/>
        </p:nvSpPr>
        <p:spPr bwMode="auto">
          <a:xfrm>
            <a:off x="7327900" y="254000"/>
            <a:ext cx="7493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fld id="{B45DEEB3-4691-404F-A178-0FBC71392568}" type="slidenum">
              <a:rPr lang="en-US" altLang="zh-CN" sz="1000" b="1" smtClean="0">
                <a:solidFill>
                  <a:srgbClr val="6699FF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000" b="1" dirty="0">
              <a:solidFill>
                <a:srgbClr val="6699FF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202" name="Group 106"/>
          <p:cNvGrpSpPr/>
          <p:nvPr userDrawn="1"/>
        </p:nvGrpSpPr>
        <p:grpSpPr bwMode="auto">
          <a:xfrm>
            <a:off x="8613775" y="101600"/>
            <a:ext cx="455613" cy="333375"/>
            <a:chOff x="5426" y="64"/>
            <a:chExt cx="287" cy="210"/>
          </a:xfrm>
        </p:grpSpPr>
        <p:sp>
          <p:nvSpPr>
            <p:cNvPr id="4203" name="AutoShape 107">
              <a:hlinkClick r:id="" action="ppaction://hlinkshowjump?jump=previous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426" y="64"/>
              <a:ext cx="131" cy="86"/>
            </a:xfrm>
            <a:prstGeom prst="upArrow">
              <a:avLst>
                <a:gd name="adj1" fmla="val 53731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204" name="AutoShape 108">
              <a:hlinkClick r:id="" action="ppaction://hlinkshowjump?jump=next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427" y="187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205" name="Rectangle 109">
              <a:hlinkClick r:id="" action="ppaction://hlinkshowjump?jump=endshow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589" y="66"/>
              <a:ext cx="122" cy="8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shape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206" name="AutoShape 110">
              <a:hlinkClick r:id="rId13" action="ppaction://hlinkpres?slideindex=1&amp;slidetitle=1. 幻灯片 1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586" y="186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207" name="Line 111"/>
            <p:cNvSpPr>
              <a:spLocks noChangeShapeType="1"/>
            </p:cNvSpPr>
            <p:nvPr userDrawn="1"/>
          </p:nvSpPr>
          <p:spPr bwMode="auto">
            <a:xfrm>
              <a:off x="5585" y="274"/>
              <a:ext cx="127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0" Type="http://schemas.openxmlformats.org/officeDocument/2006/relationships/vmlDrawing" Target="../drawings/vmlDrawing1.vml"/><Relationship Id="rId2" Type="http://schemas.openxmlformats.org/officeDocument/2006/relationships/image" Target="../media/image2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1.wmf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oleObject" Target="../embeddings/oleObject20.bin"/><Relationship Id="rId7" Type="http://schemas.openxmlformats.org/officeDocument/2006/relationships/image" Target="../media/image21.wmf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GIF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8.bin"/><Relationship Id="rId25" Type="http://schemas.openxmlformats.org/officeDocument/2006/relationships/vmlDrawing" Target="../drawings/vmlDrawing3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29.wmf"/><Relationship Id="rId22" Type="http://schemas.openxmlformats.org/officeDocument/2006/relationships/oleObject" Target="../embeddings/oleObject27.bin"/><Relationship Id="rId21" Type="http://schemas.openxmlformats.org/officeDocument/2006/relationships/image" Target="../media/image28.wmf"/><Relationship Id="rId20" Type="http://schemas.openxmlformats.org/officeDocument/2006/relationships/oleObject" Target="../embeddings/oleObject26.bin"/><Relationship Id="rId2" Type="http://schemas.openxmlformats.org/officeDocument/2006/relationships/image" Target="../media/image18.emf"/><Relationship Id="rId19" Type="http://schemas.openxmlformats.org/officeDocument/2006/relationships/image" Target="../media/image27.wmf"/><Relationship Id="rId18" Type="http://schemas.openxmlformats.org/officeDocument/2006/relationships/oleObject" Target="../embeddings/oleObject25.bin"/><Relationship Id="rId17" Type="http://schemas.openxmlformats.org/officeDocument/2006/relationships/image" Target="../media/image26.wmf"/><Relationship Id="rId16" Type="http://schemas.openxmlformats.org/officeDocument/2006/relationships/oleObject" Target="../embeddings/oleObject24.bin"/><Relationship Id="rId15" Type="http://schemas.openxmlformats.org/officeDocument/2006/relationships/image" Target="../media/image25.wmf"/><Relationship Id="rId14" Type="http://schemas.openxmlformats.org/officeDocument/2006/relationships/oleObject" Target="../embeddings/oleObject23.bin"/><Relationship Id="rId13" Type="http://schemas.openxmlformats.org/officeDocument/2006/relationships/image" Target="../media/image24.wmf"/><Relationship Id="rId12" Type="http://schemas.openxmlformats.org/officeDocument/2006/relationships/oleObject" Target="../embeddings/oleObject22.bin"/><Relationship Id="rId11" Type="http://schemas.openxmlformats.org/officeDocument/2006/relationships/image" Target="../media/image23.emf"/><Relationship Id="rId10" Type="http://schemas.openxmlformats.org/officeDocument/2006/relationships/oleObject" Target="../embeddings/oleObject21.bin"/><Relationship Id="rId1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emf"/><Relationship Id="rId8" Type="http://schemas.openxmlformats.org/officeDocument/2006/relationships/oleObject" Target="../embeddings/oleObject31.bin"/><Relationship Id="rId7" Type="http://schemas.openxmlformats.org/officeDocument/2006/relationships/image" Target="../media/image22.emf"/><Relationship Id="rId6" Type="http://schemas.openxmlformats.org/officeDocument/2006/relationships/oleObject" Target="../embeddings/oleObject30.bin"/><Relationship Id="rId55" Type="http://schemas.openxmlformats.org/officeDocument/2006/relationships/notesSlide" Target="../notesSlides/notesSlide2.xml"/><Relationship Id="rId54" Type="http://schemas.openxmlformats.org/officeDocument/2006/relationships/vmlDrawing" Target="../drawings/vmlDrawing4.vml"/><Relationship Id="rId53" Type="http://schemas.openxmlformats.org/officeDocument/2006/relationships/slideLayout" Target="../slideLayouts/slideLayout18.xml"/><Relationship Id="rId52" Type="http://schemas.openxmlformats.org/officeDocument/2006/relationships/oleObject" Target="../embeddings/oleObject53.bin"/><Relationship Id="rId51" Type="http://schemas.openxmlformats.org/officeDocument/2006/relationships/image" Target="../media/image44.wmf"/><Relationship Id="rId50" Type="http://schemas.openxmlformats.org/officeDocument/2006/relationships/oleObject" Target="../embeddings/oleObject52.bin"/><Relationship Id="rId5" Type="http://schemas.openxmlformats.org/officeDocument/2006/relationships/image" Target="../media/image20.GIF"/><Relationship Id="rId49" Type="http://schemas.openxmlformats.org/officeDocument/2006/relationships/image" Target="../media/image43.wmf"/><Relationship Id="rId48" Type="http://schemas.openxmlformats.org/officeDocument/2006/relationships/oleObject" Target="../embeddings/oleObject51.bin"/><Relationship Id="rId47" Type="http://schemas.openxmlformats.org/officeDocument/2006/relationships/image" Target="../media/image42.wmf"/><Relationship Id="rId46" Type="http://schemas.openxmlformats.org/officeDocument/2006/relationships/oleObject" Target="../embeddings/oleObject50.bin"/><Relationship Id="rId45" Type="http://schemas.openxmlformats.org/officeDocument/2006/relationships/image" Target="../media/image41.wmf"/><Relationship Id="rId44" Type="http://schemas.openxmlformats.org/officeDocument/2006/relationships/oleObject" Target="../embeddings/oleObject49.bin"/><Relationship Id="rId43" Type="http://schemas.openxmlformats.org/officeDocument/2006/relationships/image" Target="../media/image40.wmf"/><Relationship Id="rId42" Type="http://schemas.openxmlformats.org/officeDocument/2006/relationships/oleObject" Target="../embeddings/oleObject48.bin"/><Relationship Id="rId41" Type="http://schemas.openxmlformats.org/officeDocument/2006/relationships/image" Target="../media/image39.wmf"/><Relationship Id="rId40" Type="http://schemas.openxmlformats.org/officeDocument/2006/relationships/oleObject" Target="../embeddings/oleObject47.bin"/><Relationship Id="rId4" Type="http://schemas.openxmlformats.org/officeDocument/2006/relationships/image" Target="../media/image19.emf"/><Relationship Id="rId39" Type="http://schemas.openxmlformats.org/officeDocument/2006/relationships/image" Target="../media/image38.wmf"/><Relationship Id="rId38" Type="http://schemas.openxmlformats.org/officeDocument/2006/relationships/oleObject" Target="../embeddings/oleObject46.bin"/><Relationship Id="rId37" Type="http://schemas.openxmlformats.org/officeDocument/2006/relationships/image" Target="../media/image37.wmf"/><Relationship Id="rId36" Type="http://schemas.openxmlformats.org/officeDocument/2006/relationships/oleObject" Target="../embeddings/oleObject45.bin"/><Relationship Id="rId35" Type="http://schemas.openxmlformats.org/officeDocument/2006/relationships/image" Target="../media/image36.wmf"/><Relationship Id="rId34" Type="http://schemas.openxmlformats.org/officeDocument/2006/relationships/oleObject" Target="../embeddings/oleObject44.bin"/><Relationship Id="rId33" Type="http://schemas.openxmlformats.org/officeDocument/2006/relationships/image" Target="../media/image35.wmf"/><Relationship Id="rId32" Type="http://schemas.openxmlformats.org/officeDocument/2006/relationships/oleObject" Target="../embeddings/oleObject43.bin"/><Relationship Id="rId31" Type="http://schemas.openxmlformats.org/officeDocument/2006/relationships/image" Target="../media/image34.wmf"/><Relationship Id="rId30" Type="http://schemas.openxmlformats.org/officeDocument/2006/relationships/oleObject" Target="../embeddings/oleObject42.bin"/><Relationship Id="rId3" Type="http://schemas.openxmlformats.org/officeDocument/2006/relationships/oleObject" Target="../embeddings/oleObject29.bin"/><Relationship Id="rId29" Type="http://schemas.openxmlformats.org/officeDocument/2006/relationships/image" Target="../media/image33.wmf"/><Relationship Id="rId28" Type="http://schemas.openxmlformats.org/officeDocument/2006/relationships/oleObject" Target="../embeddings/oleObject41.bin"/><Relationship Id="rId27" Type="http://schemas.openxmlformats.org/officeDocument/2006/relationships/image" Target="../media/image32.wmf"/><Relationship Id="rId26" Type="http://schemas.openxmlformats.org/officeDocument/2006/relationships/oleObject" Target="../embeddings/oleObject40.bin"/><Relationship Id="rId25" Type="http://schemas.openxmlformats.org/officeDocument/2006/relationships/image" Target="../media/image31.wmf"/><Relationship Id="rId24" Type="http://schemas.openxmlformats.org/officeDocument/2006/relationships/oleObject" Target="../embeddings/oleObject39.bin"/><Relationship Id="rId23" Type="http://schemas.openxmlformats.org/officeDocument/2006/relationships/image" Target="../media/image30.wmf"/><Relationship Id="rId22" Type="http://schemas.openxmlformats.org/officeDocument/2006/relationships/oleObject" Target="../embeddings/oleObject38.bin"/><Relationship Id="rId21" Type="http://schemas.openxmlformats.org/officeDocument/2006/relationships/image" Target="../media/image29.wmf"/><Relationship Id="rId20" Type="http://schemas.openxmlformats.org/officeDocument/2006/relationships/oleObject" Target="../embeddings/oleObject37.bin"/><Relationship Id="rId2" Type="http://schemas.openxmlformats.org/officeDocument/2006/relationships/image" Target="../media/image18.emf"/><Relationship Id="rId19" Type="http://schemas.openxmlformats.org/officeDocument/2006/relationships/image" Target="../media/image28.wmf"/><Relationship Id="rId18" Type="http://schemas.openxmlformats.org/officeDocument/2006/relationships/oleObject" Target="../embeddings/oleObject36.bin"/><Relationship Id="rId17" Type="http://schemas.openxmlformats.org/officeDocument/2006/relationships/image" Target="../media/image27.wmf"/><Relationship Id="rId16" Type="http://schemas.openxmlformats.org/officeDocument/2006/relationships/oleObject" Target="../embeddings/oleObject35.bin"/><Relationship Id="rId15" Type="http://schemas.openxmlformats.org/officeDocument/2006/relationships/image" Target="../media/image26.wmf"/><Relationship Id="rId14" Type="http://schemas.openxmlformats.org/officeDocument/2006/relationships/oleObject" Target="../embeddings/oleObject34.bin"/><Relationship Id="rId13" Type="http://schemas.openxmlformats.org/officeDocument/2006/relationships/image" Target="../media/image25.wmf"/><Relationship Id="rId12" Type="http://schemas.openxmlformats.org/officeDocument/2006/relationships/oleObject" Target="../embeddings/oleObject33.bin"/><Relationship Id="rId11" Type="http://schemas.openxmlformats.org/officeDocument/2006/relationships/image" Target="../media/image24.wmf"/><Relationship Id="rId10" Type="http://schemas.openxmlformats.org/officeDocument/2006/relationships/oleObject" Target="../embeddings/oleObject32.bin"/><Relationship Id="rId1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wmf"/><Relationship Id="rId8" Type="http://schemas.openxmlformats.org/officeDocument/2006/relationships/oleObject" Target="../embeddings/oleObject57.bin"/><Relationship Id="rId7" Type="http://schemas.openxmlformats.org/officeDocument/2006/relationships/image" Target="../media/image47.wmf"/><Relationship Id="rId6" Type="http://schemas.openxmlformats.org/officeDocument/2006/relationships/oleObject" Target="../embeddings/oleObject56.bin"/><Relationship Id="rId59" Type="http://schemas.openxmlformats.org/officeDocument/2006/relationships/vmlDrawing" Target="../drawings/vmlDrawing5.vml"/><Relationship Id="rId58" Type="http://schemas.openxmlformats.org/officeDocument/2006/relationships/slideLayout" Target="../slideLayouts/slideLayout18.xml"/><Relationship Id="rId57" Type="http://schemas.openxmlformats.org/officeDocument/2006/relationships/image" Target="../media/image72.wmf"/><Relationship Id="rId56" Type="http://schemas.openxmlformats.org/officeDocument/2006/relationships/oleObject" Target="../embeddings/oleObject81.bin"/><Relationship Id="rId55" Type="http://schemas.openxmlformats.org/officeDocument/2006/relationships/image" Target="../media/image71.wmf"/><Relationship Id="rId54" Type="http://schemas.openxmlformats.org/officeDocument/2006/relationships/oleObject" Target="../embeddings/oleObject80.bin"/><Relationship Id="rId53" Type="http://schemas.openxmlformats.org/officeDocument/2006/relationships/image" Target="../media/image70.wmf"/><Relationship Id="rId52" Type="http://schemas.openxmlformats.org/officeDocument/2006/relationships/oleObject" Target="../embeddings/oleObject79.bin"/><Relationship Id="rId51" Type="http://schemas.openxmlformats.org/officeDocument/2006/relationships/image" Target="../media/image69.wmf"/><Relationship Id="rId50" Type="http://schemas.openxmlformats.org/officeDocument/2006/relationships/oleObject" Target="../embeddings/oleObject78.bin"/><Relationship Id="rId5" Type="http://schemas.openxmlformats.org/officeDocument/2006/relationships/image" Target="../media/image46.wmf"/><Relationship Id="rId49" Type="http://schemas.openxmlformats.org/officeDocument/2006/relationships/image" Target="../media/image68.wmf"/><Relationship Id="rId48" Type="http://schemas.openxmlformats.org/officeDocument/2006/relationships/oleObject" Target="../embeddings/oleObject77.bin"/><Relationship Id="rId47" Type="http://schemas.openxmlformats.org/officeDocument/2006/relationships/image" Target="../media/image67.wmf"/><Relationship Id="rId46" Type="http://schemas.openxmlformats.org/officeDocument/2006/relationships/oleObject" Target="../embeddings/oleObject76.bin"/><Relationship Id="rId45" Type="http://schemas.openxmlformats.org/officeDocument/2006/relationships/image" Target="../media/image66.wmf"/><Relationship Id="rId44" Type="http://schemas.openxmlformats.org/officeDocument/2006/relationships/oleObject" Target="../embeddings/oleObject75.bin"/><Relationship Id="rId43" Type="http://schemas.openxmlformats.org/officeDocument/2006/relationships/image" Target="../media/image65.wmf"/><Relationship Id="rId42" Type="http://schemas.openxmlformats.org/officeDocument/2006/relationships/oleObject" Target="../embeddings/oleObject74.bin"/><Relationship Id="rId41" Type="http://schemas.openxmlformats.org/officeDocument/2006/relationships/image" Target="../media/image64.emf"/><Relationship Id="rId40" Type="http://schemas.openxmlformats.org/officeDocument/2006/relationships/oleObject" Target="../embeddings/oleObject73.bin"/><Relationship Id="rId4" Type="http://schemas.openxmlformats.org/officeDocument/2006/relationships/oleObject" Target="../embeddings/oleObject55.bin"/><Relationship Id="rId39" Type="http://schemas.openxmlformats.org/officeDocument/2006/relationships/image" Target="../media/image63.emf"/><Relationship Id="rId38" Type="http://schemas.openxmlformats.org/officeDocument/2006/relationships/oleObject" Target="../embeddings/oleObject72.bin"/><Relationship Id="rId37" Type="http://schemas.openxmlformats.org/officeDocument/2006/relationships/image" Target="../media/image62.emf"/><Relationship Id="rId36" Type="http://schemas.openxmlformats.org/officeDocument/2006/relationships/oleObject" Target="../embeddings/oleObject71.bin"/><Relationship Id="rId35" Type="http://schemas.openxmlformats.org/officeDocument/2006/relationships/image" Target="../media/image61.emf"/><Relationship Id="rId34" Type="http://schemas.openxmlformats.org/officeDocument/2006/relationships/oleObject" Target="../embeddings/oleObject70.bin"/><Relationship Id="rId33" Type="http://schemas.openxmlformats.org/officeDocument/2006/relationships/image" Target="../media/image60.emf"/><Relationship Id="rId32" Type="http://schemas.openxmlformats.org/officeDocument/2006/relationships/oleObject" Target="../embeddings/oleObject69.bin"/><Relationship Id="rId31" Type="http://schemas.openxmlformats.org/officeDocument/2006/relationships/image" Target="../media/image59.emf"/><Relationship Id="rId30" Type="http://schemas.openxmlformats.org/officeDocument/2006/relationships/oleObject" Target="../embeddings/oleObject68.bin"/><Relationship Id="rId3" Type="http://schemas.openxmlformats.org/officeDocument/2006/relationships/image" Target="../media/image45.wmf"/><Relationship Id="rId29" Type="http://schemas.openxmlformats.org/officeDocument/2006/relationships/image" Target="../media/image58.emf"/><Relationship Id="rId28" Type="http://schemas.openxmlformats.org/officeDocument/2006/relationships/oleObject" Target="../embeddings/oleObject67.bin"/><Relationship Id="rId27" Type="http://schemas.openxmlformats.org/officeDocument/2006/relationships/image" Target="../media/image57.emf"/><Relationship Id="rId26" Type="http://schemas.openxmlformats.org/officeDocument/2006/relationships/oleObject" Target="../embeddings/oleObject66.bin"/><Relationship Id="rId25" Type="http://schemas.openxmlformats.org/officeDocument/2006/relationships/image" Target="../media/image56.emf"/><Relationship Id="rId24" Type="http://schemas.openxmlformats.org/officeDocument/2006/relationships/oleObject" Target="../embeddings/oleObject65.bin"/><Relationship Id="rId23" Type="http://schemas.openxmlformats.org/officeDocument/2006/relationships/image" Target="../media/image55.emf"/><Relationship Id="rId22" Type="http://schemas.openxmlformats.org/officeDocument/2006/relationships/oleObject" Target="../embeddings/oleObject64.bin"/><Relationship Id="rId21" Type="http://schemas.openxmlformats.org/officeDocument/2006/relationships/image" Target="../media/image54.emf"/><Relationship Id="rId20" Type="http://schemas.openxmlformats.org/officeDocument/2006/relationships/oleObject" Target="../embeddings/oleObject63.bin"/><Relationship Id="rId2" Type="http://schemas.openxmlformats.org/officeDocument/2006/relationships/oleObject" Target="../embeddings/oleObject54.bin"/><Relationship Id="rId19" Type="http://schemas.openxmlformats.org/officeDocument/2006/relationships/image" Target="../media/image53.emf"/><Relationship Id="rId18" Type="http://schemas.openxmlformats.org/officeDocument/2006/relationships/oleObject" Target="../embeddings/oleObject62.bin"/><Relationship Id="rId17" Type="http://schemas.openxmlformats.org/officeDocument/2006/relationships/image" Target="../media/image52.emf"/><Relationship Id="rId16" Type="http://schemas.openxmlformats.org/officeDocument/2006/relationships/oleObject" Target="../embeddings/oleObject61.bin"/><Relationship Id="rId15" Type="http://schemas.openxmlformats.org/officeDocument/2006/relationships/image" Target="../media/image51.emf"/><Relationship Id="rId14" Type="http://schemas.openxmlformats.org/officeDocument/2006/relationships/oleObject" Target="../embeddings/oleObject60.bin"/><Relationship Id="rId13" Type="http://schemas.openxmlformats.org/officeDocument/2006/relationships/image" Target="../media/image50.emf"/><Relationship Id="rId12" Type="http://schemas.openxmlformats.org/officeDocument/2006/relationships/oleObject" Target="../embeddings/oleObject59.bin"/><Relationship Id="rId11" Type="http://schemas.openxmlformats.org/officeDocument/2006/relationships/image" Target="../media/image49.emf"/><Relationship Id="rId10" Type="http://schemas.openxmlformats.org/officeDocument/2006/relationships/oleObject" Target="../embeddings/oleObject58.bin"/><Relationship Id="rId1" Type="http://schemas.openxmlformats.org/officeDocument/2006/relationships/image" Target="../media/image20.GI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76.e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84.bin"/><Relationship Id="rId46" Type="http://schemas.openxmlformats.org/officeDocument/2006/relationships/vmlDrawing" Target="../drawings/vmlDrawing6.vml"/><Relationship Id="rId45" Type="http://schemas.openxmlformats.org/officeDocument/2006/relationships/slideLayout" Target="../slideLayouts/slideLayout18.xml"/><Relationship Id="rId44" Type="http://schemas.openxmlformats.org/officeDocument/2006/relationships/image" Target="../media/image94.wmf"/><Relationship Id="rId43" Type="http://schemas.openxmlformats.org/officeDocument/2006/relationships/oleObject" Target="../embeddings/oleObject103.bin"/><Relationship Id="rId42" Type="http://schemas.openxmlformats.org/officeDocument/2006/relationships/image" Target="../media/image93.wmf"/><Relationship Id="rId41" Type="http://schemas.openxmlformats.org/officeDocument/2006/relationships/oleObject" Target="../embeddings/oleObject102.bin"/><Relationship Id="rId40" Type="http://schemas.openxmlformats.org/officeDocument/2006/relationships/image" Target="../media/image92.wmf"/><Relationship Id="rId4" Type="http://schemas.openxmlformats.org/officeDocument/2006/relationships/image" Target="../media/image74.emf"/><Relationship Id="rId39" Type="http://schemas.openxmlformats.org/officeDocument/2006/relationships/oleObject" Target="../embeddings/oleObject101.bin"/><Relationship Id="rId38" Type="http://schemas.openxmlformats.org/officeDocument/2006/relationships/image" Target="../media/image91.wmf"/><Relationship Id="rId37" Type="http://schemas.openxmlformats.org/officeDocument/2006/relationships/oleObject" Target="../embeddings/oleObject100.bin"/><Relationship Id="rId36" Type="http://schemas.openxmlformats.org/officeDocument/2006/relationships/image" Target="../media/image90.wmf"/><Relationship Id="rId35" Type="http://schemas.openxmlformats.org/officeDocument/2006/relationships/oleObject" Target="../embeddings/oleObject99.bin"/><Relationship Id="rId34" Type="http://schemas.openxmlformats.org/officeDocument/2006/relationships/image" Target="../media/image89.wmf"/><Relationship Id="rId33" Type="http://schemas.openxmlformats.org/officeDocument/2006/relationships/oleObject" Target="../embeddings/oleObject98.bin"/><Relationship Id="rId32" Type="http://schemas.openxmlformats.org/officeDocument/2006/relationships/image" Target="../media/image88.wmf"/><Relationship Id="rId31" Type="http://schemas.openxmlformats.org/officeDocument/2006/relationships/oleObject" Target="../embeddings/oleObject97.bin"/><Relationship Id="rId30" Type="http://schemas.openxmlformats.org/officeDocument/2006/relationships/image" Target="../media/image87.wmf"/><Relationship Id="rId3" Type="http://schemas.openxmlformats.org/officeDocument/2006/relationships/oleObject" Target="../embeddings/oleObject83.bin"/><Relationship Id="rId29" Type="http://schemas.openxmlformats.org/officeDocument/2006/relationships/oleObject" Target="../embeddings/oleObject96.bin"/><Relationship Id="rId28" Type="http://schemas.openxmlformats.org/officeDocument/2006/relationships/image" Target="../media/image86.wmf"/><Relationship Id="rId27" Type="http://schemas.openxmlformats.org/officeDocument/2006/relationships/oleObject" Target="../embeddings/oleObject95.bin"/><Relationship Id="rId26" Type="http://schemas.openxmlformats.org/officeDocument/2006/relationships/image" Target="../media/image85.wmf"/><Relationship Id="rId25" Type="http://schemas.openxmlformats.org/officeDocument/2006/relationships/oleObject" Target="../embeddings/oleObject94.bin"/><Relationship Id="rId24" Type="http://schemas.openxmlformats.org/officeDocument/2006/relationships/image" Target="../media/image84.wmf"/><Relationship Id="rId23" Type="http://schemas.openxmlformats.org/officeDocument/2006/relationships/oleObject" Target="../embeddings/oleObject93.bin"/><Relationship Id="rId22" Type="http://schemas.openxmlformats.org/officeDocument/2006/relationships/image" Target="../media/image83.wmf"/><Relationship Id="rId21" Type="http://schemas.openxmlformats.org/officeDocument/2006/relationships/oleObject" Target="../embeddings/oleObject92.bin"/><Relationship Id="rId20" Type="http://schemas.openxmlformats.org/officeDocument/2006/relationships/image" Target="../media/image82.wmf"/><Relationship Id="rId2" Type="http://schemas.openxmlformats.org/officeDocument/2006/relationships/image" Target="../media/image73.wmf"/><Relationship Id="rId19" Type="http://schemas.openxmlformats.org/officeDocument/2006/relationships/oleObject" Target="../embeddings/oleObject91.bin"/><Relationship Id="rId18" Type="http://schemas.openxmlformats.org/officeDocument/2006/relationships/image" Target="../media/image81.wmf"/><Relationship Id="rId17" Type="http://schemas.openxmlformats.org/officeDocument/2006/relationships/oleObject" Target="../embeddings/oleObject90.bin"/><Relationship Id="rId16" Type="http://schemas.openxmlformats.org/officeDocument/2006/relationships/image" Target="../media/image80.wmf"/><Relationship Id="rId15" Type="http://schemas.openxmlformats.org/officeDocument/2006/relationships/oleObject" Target="../embeddings/oleObject89.bin"/><Relationship Id="rId14" Type="http://schemas.openxmlformats.org/officeDocument/2006/relationships/image" Target="../media/image79.wmf"/><Relationship Id="rId13" Type="http://schemas.openxmlformats.org/officeDocument/2006/relationships/oleObject" Target="../embeddings/oleObject88.bin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87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82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6" Type="http://schemas.openxmlformats.org/officeDocument/2006/relationships/vmlDrawing" Target="../drawings/vmlDrawing7.vml"/><Relationship Id="rId85" Type="http://schemas.openxmlformats.org/officeDocument/2006/relationships/slideLayout" Target="../slideLayouts/slideLayout18.xml"/><Relationship Id="rId84" Type="http://schemas.openxmlformats.org/officeDocument/2006/relationships/oleObject" Target="../embeddings/oleObject151.bin"/><Relationship Id="rId83" Type="http://schemas.openxmlformats.org/officeDocument/2006/relationships/oleObject" Target="../embeddings/oleObject150.bin"/><Relationship Id="rId82" Type="http://schemas.openxmlformats.org/officeDocument/2006/relationships/oleObject" Target="../embeddings/oleObject149.bin"/><Relationship Id="rId81" Type="http://schemas.openxmlformats.org/officeDocument/2006/relationships/oleObject" Target="../embeddings/oleObject148.bin"/><Relationship Id="rId80" Type="http://schemas.openxmlformats.org/officeDocument/2006/relationships/oleObject" Target="../embeddings/oleObject147.bin"/><Relationship Id="rId8" Type="http://schemas.openxmlformats.org/officeDocument/2006/relationships/image" Target="../media/image76.emf"/><Relationship Id="rId79" Type="http://schemas.openxmlformats.org/officeDocument/2006/relationships/oleObject" Target="../embeddings/oleObject146.bin"/><Relationship Id="rId78" Type="http://schemas.openxmlformats.org/officeDocument/2006/relationships/oleObject" Target="../embeddings/oleObject145.bin"/><Relationship Id="rId77" Type="http://schemas.openxmlformats.org/officeDocument/2006/relationships/oleObject" Target="../embeddings/oleObject144.bin"/><Relationship Id="rId76" Type="http://schemas.openxmlformats.org/officeDocument/2006/relationships/oleObject" Target="../embeddings/oleObject143.bin"/><Relationship Id="rId75" Type="http://schemas.openxmlformats.org/officeDocument/2006/relationships/oleObject" Target="../embeddings/oleObject142.bin"/><Relationship Id="rId74" Type="http://schemas.openxmlformats.org/officeDocument/2006/relationships/oleObject" Target="../embeddings/oleObject141.bin"/><Relationship Id="rId73" Type="http://schemas.openxmlformats.org/officeDocument/2006/relationships/oleObject" Target="../embeddings/oleObject140.bin"/><Relationship Id="rId72" Type="http://schemas.openxmlformats.org/officeDocument/2006/relationships/image" Target="../media/image108.wmf"/><Relationship Id="rId71" Type="http://schemas.openxmlformats.org/officeDocument/2006/relationships/oleObject" Target="../embeddings/oleObject139.bin"/><Relationship Id="rId70" Type="http://schemas.openxmlformats.org/officeDocument/2006/relationships/image" Target="../media/image107.wmf"/><Relationship Id="rId7" Type="http://schemas.openxmlformats.org/officeDocument/2006/relationships/oleObject" Target="../embeddings/oleObject107.bin"/><Relationship Id="rId69" Type="http://schemas.openxmlformats.org/officeDocument/2006/relationships/oleObject" Target="../embeddings/oleObject138.bin"/><Relationship Id="rId68" Type="http://schemas.openxmlformats.org/officeDocument/2006/relationships/image" Target="../media/image106.wmf"/><Relationship Id="rId67" Type="http://schemas.openxmlformats.org/officeDocument/2006/relationships/oleObject" Target="../embeddings/oleObject137.bin"/><Relationship Id="rId66" Type="http://schemas.openxmlformats.org/officeDocument/2006/relationships/image" Target="../media/image105.wmf"/><Relationship Id="rId65" Type="http://schemas.openxmlformats.org/officeDocument/2006/relationships/oleObject" Target="../embeddings/oleObject136.bin"/><Relationship Id="rId64" Type="http://schemas.openxmlformats.org/officeDocument/2006/relationships/image" Target="../media/image104.wmf"/><Relationship Id="rId63" Type="http://schemas.openxmlformats.org/officeDocument/2006/relationships/oleObject" Target="../embeddings/oleObject135.bin"/><Relationship Id="rId62" Type="http://schemas.openxmlformats.org/officeDocument/2006/relationships/image" Target="../media/image103.emf"/><Relationship Id="rId61" Type="http://schemas.openxmlformats.org/officeDocument/2006/relationships/oleObject" Target="../embeddings/oleObject134.bin"/><Relationship Id="rId60" Type="http://schemas.openxmlformats.org/officeDocument/2006/relationships/image" Target="../media/image102.wmf"/><Relationship Id="rId6" Type="http://schemas.openxmlformats.org/officeDocument/2006/relationships/image" Target="../media/image75.wmf"/><Relationship Id="rId59" Type="http://schemas.openxmlformats.org/officeDocument/2006/relationships/oleObject" Target="../embeddings/oleObject133.bin"/><Relationship Id="rId58" Type="http://schemas.openxmlformats.org/officeDocument/2006/relationships/image" Target="../media/image101.wmf"/><Relationship Id="rId57" Type="http://schemas.openxmlformats.org/officeDocument/2006/relationships/oleObject" Target="../embeddings/oleObject132.bin"/><Relationship Id="rId56" Type="http://schemas.openxmlformats.org/officeDocument/2006/relationships/image" Target="../media/image100.wmf"/><Relationship Id="rId55" Type="http://schemas.openxmlformats.org/officeDocument/2006/relationships/oleObject" Target="../embeddings/oleObject131.bin"/><Relationship Id="rId54" Type="http://schemas.openxmlformats.org/officeDocument/2006/relationships/image" Target="../media/image99.wmf"/><Relationship Id="rId53" Type="http://schemas.openxmlformats.org/officeDocument/2006/relationships/oleObject" Target="../embeddings/oleObject130.bin"/><Relationship Id="rId52" Type="http://schemas.openxmlformats.org/officeDocument/2006/relationships/image" Target="../media/image98.wmf"/><Relationship Id="rId51" Type="http://schemas.openxmlformats.org/officeDocument/2006/relationships/oleObject" Target="../embeddings/oleObject129.bin"/><Relationship Id="rId50" Type="http://schemas.openxmlformats.org/officeDocument/2006/relationships/image" Target="../media/image97.wmf"/><Relationship Id="rId5" Type="http://schemas.openxmlformats.org/officeDocument/2006/relationships/oleObject" Target="../embeddings/oleObject106.bin"/><Relationship Id="rId49" Type="http://schemas.openxmlformats.org/officeDocument/2006/relationships/oleObject" Target="../embeddings/oleObject128.bin"/><Relationship Id="rId48" Type="http://schemas.openxmlformats.org/officeDocument/2006/relationships/image" Target="../media/image96.wmf"/><Relationship Id="rId47" Type="http://schemas.openxmlformats.org/officeDocument/2006/relationships/oleObject" Target="../embeddings/oleObject127.bin"/><Relationship Id="rId46" Type="http://schemas.openxmlformats.org/officeDocument/2006/relationships/image" Target="../media/image95.wmf"/><Relationship Id="rId45" Type="http://schemas.openxmlformats.org/officeDocument/2006/relationships/oleObject" Target="../embeddings/oleObject126.bin"/><Relationship Id="rId44" Type="http://schemas.openxmlformats.org/officeDocument/2006/relationships/image" Target="../media/image94.wmf"/><Relationship Id="rId43" Type="http://schemas.openxmlformats.org/officeDocument/2006/relationships/oleObject" Target="../embeddings/oleObject125.bin"/><Relationship Id="rId42" Type="http://schemas.openxmlformats.org/officeDocument/2006/relationships/image" Target="../media/image93.wmf"/><Relationship Id="rId41" Type="http://schemas.openxmlformats.org/officeDocument/2006/relationships/oleObject" Target="../embeddings/oleObject124.bin"/><Relationship Id="rId40" Type="http://schemas.openxmlformats.org/officeDocument/2006/relationships/image" Target="../media/image92.wmf"/><Relationship Id="rId4" Type="http://schemas.openxmlformats.org/officeDocument/2006/relationships/image" Target="../media/image74.emf"/><Relationship Id="rId39" Type="http://schemas.openxmlformats.org/officeDocument/2006/relationships/oleObject" Target="../embeddings/oleObject123.bin"/><Relationship Id="rId38" Type="http://schemas.openxmlformats.org/officeDocument/2006/relationships/image" Target="../media/image91.wmf"/><Relationship Id="rId37" Type="http://schemas.openxmlformats.org/officeDocument/2006/relationships/oleObject" Target="../embeddings/oleObject122.bin"/><Relationship Id="rId36" Type="http://schemas.openxmlformats.org/officeDocument/2006/relationships/image" Target="../media/image90.wmf"/><Relationship Id="rId35" Type="http://schemas.openxmlformats.org/officeDocument/2006/relationships/oleObject" Target="../embeddings/oleObject121.bin"/><Relationship Id="rId34" Type="http://schemas.openxmlformats.org/officeDocument/2006/relationships/image" Target="../media/image89.wmf"/><Relationship Id="rId33" Type="http://schemas.openxmlformats.org/officeDocument/2006/relationships/oleObject" Target="../embeddings/oleObject120.bin"/><Relationship Id="rId32" Type="http://schemas.openxmlformats.org/officeDocument/2006/relationships/image" Target="../media/image88.wmf"/><Relationship Id="rId31" Type="http://schemas.openxmlformats.org/officeDocument/2006/relationships/oleObject" Target="../embeddings/oleObject119.bin"/><Relationship Id="rId30" Type="http://schemas.openxmlformats.org/officeDocument/2006/relationships/image" Target="../media/image87.wmf"/><Relationship Id="rId3" Type="http://schemas.openxmlformats.org/officeDocument/2006/relationships/oleObject" Target="../embeddings/oleObject105.bin"/><Relationship Id="rId29" Type="http://schemas.openxmlformats.org/officeDocument/2006/relationships/oleObject" Target="../embeddings/oleObject118.bin"/><Relationship Id="rId28" Type="http://schemas.openxmlformats.org/officeDocument/2006/relationships/image" Target="../media/image86.wmf"/><Relationship Id="rId27" Type="http://schemas.openxmlformats.org/officeDocument/2006/relationships/oleObject" Target="../embeddings/oleObject117.bin"/><Relationship Id="rId26" Type="http://schemas.openxmlformats.org/officeDocument/2006/relationships/image" Target="../media/image85.wmf"/><Relationship Id="rId25" Type="http://schemas.openxmlformats.org/officeDocument/2006/relationships/oleObject" Target="../embeddings/oleObject116.bin"/><Relationship Id="rId24" Type="http://schemas.openxmlformats.org/officeDocument/2006/relationships/image" Target="../media/image84.wmf"/><Relationship Id="rId23" Type="http://schemas.openxmlformats.org/officeDocument/2006/relationships/oleObject" Target="../embeddings/oleObject115.bin"/><Relationship Id="rId22" Type="http://schemas.openxmlformats.org/officeDocument/2006/relationships/image" Target="../media/image83.wmf"/><Relationship Id="rId21" Type="http://schemas.openxmlformats.org/officeDocument/2006/relationships/oleObject" Target="../embeddings/oleObject114.bin"/><Relationship Id="rId20" Type="http://schemas.openxmlformats.org/officeDocument/2006/relationships/image" Target="../media/image82.wmf"/><Relationship Id="rId2" Type="http://schemas.openxmlformats.org/officeDocument/2006/relationships/image" Target="../media/image73.wmf"/><Relationship Id="rId19" Type="http://schemas.openxmlformats.org/officeDocument/2006/relationships/oleObject" Target="../embeddings/oleObject113.bin"/><Relationship Id="rId18" Type="http://schemas.openxmlformats.org/officeDocument/2006/relationships/image" Target="../media/image81.wmf"/><Relationship Id="rId17" Type="http://schemas.openxmlformats.org/officeDocument/2006/relationships/oleObject" Target="../embeddings/oleObject112.bin"/><Relationship Id="rId16" Type="http://schemas.openxmlformats.org/officeDocument/2006/relationships/image" Target="../media/image80.wmf"/><Relationship Id="rId15" Type="http://schemas.openxmlformats.org/officeDocument/2006/relationships/oleObject" Target="../embeddings/oleObject111.bin"/><Relationship Id="rId14" Type="http://schemas.openxmlformats.org/officeDocument/2006/relationships/image" Target="../media/image79.wmf"/><Relationship Id="rId13" Type="http://schemas.openxmlformats.org/officeDocument/2006/relationships/oleObject" Target="../embeddings/oleObject110.bin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109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10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5.bin"/><Relationship Id="rId8" Type="http://schemas.openxmlformats.org/officeDocument/2006/relationships/image" Target="../media/image113.GIF"/><Relationship Id="rId7" Type="http://schemas.openxmlformats.org/officeDocument/2006/relationships/image" Target="../media/image112.GIF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53.bin"/><Relationship Id="rId26" Type="http://schemas.openxmlformats.org/officeDocument/2006/relationships/vmlDrawing" Target="../drawings/vmlDrawing8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21.wmf"/><Relationship Id="rId23" Type="http://schemas.openxmlformats.org/officeDocument/2006/relationships/oleObject" Target="../embeddings/oleObject162.bin"/><Relationship Id="rId22" Type="http://schemas.openxmlformats.org/officeDocument/2006/relationships/image" Target="../media/image120.emf"/><Relationship Id="rId21" Type="http://schemas.openxmlformats.org/officeDocument/2006/relationships/oleObject" Target="../embeddings/oleObject161.bin"/><Relationship Id="rId20" Type="http://schemas.openxmlformats.org/officeDocument/2006/relationships/image" Target="../media/image119.emf"/><Relationship Id="rId2" Type="http://schemas.openxmlformats.org/officeDocument/2006/relationships/image" Target="../media/image109.wmf"/><Relationship Id="rId19" Type="http://schemas.openxmlformats.org/officeDocument/2006/relationships/oleObject" Target="../embeddings/oleObject160.bin"/><Relationship Id="rId18" Type="http://schemas.openxmlformats.org/officeDocument/2006/relationships/image" Target="../media/image118.wmf"/><Relationship Id="rId17" Type="http://schemas.openxmlformats.org/officeDocument/2006/relationships/oleObject" Target="../embeddings/oleObject159.bin"/><Relationship Id="rId16" Type="http://schemas.openxmlformats.org/officeDocument/2006/relationships/image" Target="../media/image117.wmf"/><Relationship Id="rId15" Type="http://schemas.openxmlformats.org/officeDocument/2006/relationships/oleObject" Target="../embeddings/oleObject158.bin"/><Relationship Id="rId14" Type="http://schemas.openxmlformats.org/officeDocument/2006/relationships/image" Target="../media/image116.wmf"/><Relationship Id="rId13" Type="http://schemas.openxmlformats.org/officeDocument/2006/relationships/oleObject" Target="../embeddings/oleObject157.bin"/><Relationship Id="rId12" Type="http://schemas.openxmlformats.org/officeDocument/2006/relationships/image" Target="../media/image115.wmf"/><Relationship Id="rId11" Type="http://schemas.openxmlformats.org/officeDocument/2006/relationships/oleObject" Target="../embeddings/oleObject156.bin"/><Relationship Id="rId10" Type="http://schemas.openxmlformats.org/officeDocument/2006/relationships/image" Target="../media/image114.wmf"/><Relationship Id="rId1" Type="http://schemas.openxmlformats.org/officeDocument/2006/relationships/oleObject" Target="../embeddings/oleObject15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7.bin"/><Relationship Id="rId8" Type="http://schemas.openxmlformats.org/officeDocument/2006/relationships/image" Target="../media/image125.wmf"/><Relationship Id="rId7" Type="http://schemas.openxmlformats.org/officeDocument/2006/relationships/oleObject" Target="../embeddings/oleObject166.bin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64.bin"/><Relationship Id="rId2" Type="http://schemas.openxmlformats.org/officeDocument/2006/relationships/image" Target="../media/image122.wmf"/><Relationship Id="rId16" Type="http://schemas.openxmlformats.org/officeDocument/2006/relationships/vmlDrawing" Target="../drawings/vmlDrawing9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28.wmf"/><Relationship Id="rId13" Type="http://schemas.openxmlformats.org/officeDocument/2006/relationships/oleObject" Target="../embeddings/oleObject169.bin"/><Relationship Id="rId12" Type="http://schemas.openxmlformats.org/officeDocument/2006/relationships/image" Target="../media/image127.wmf"/><Relationship Id="rId11" Type="http://schemas.openxmlformats.org/officeDocument/2006/relationships/oleObject" Target="../embeddings/oleObject168.bin"/><Relationship Id="rId10" Type="http://schemas.openxmlformats.org/officeDocument/2006/relationships/image" Target="../media/image126.wmf"/><Relationship Id="rId1" Type="http://schemas.openxmlformats.org/officeDocument/2006/relationships/oleObject" Target="../embeddings/oleObject163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4.bin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73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72.bin"/><Relationship Id="rId4" Type="http://schemas.openxmlformats.org/officeDocument/2006/relationships/image" Target="../media/image130.wmf"/><Relationship Id="rId32" Type="http://schemas.openxmlformats.org/officeDocument/2006/relationships/vmlDrawing" Target="../drawings/vmlDrawing10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143.wmf"/><Relationship Id="rId3" Type="http://schemas.openxmlformats.org/officeDocument/2006/relationships/oleObject" Target="../embeddings/oleObject171.bin"/><Relationship Id="rId29" Type="http://schemas.openxmlformats.org/officeDocument/2006/relationships/oleObject" Target="../embeddings/oleObject184.bin"/><Relationship Id="rId28" Type="http://schemas.openxmlformats.org/officeDocument/2006/relationships/image" Target="../media/image142.wmf"/><Relationship Id="rId27" Type="http://schemas.openxmlformats.org/officeDocument/2006/relationships/oleObject" Target="../embeddings/oleObject183.bin"/><Relationship Id="rId26" Type="http://schemas.openxmlformats.org/officeDocument/2006/relationships/image" Target="../media/image141.wmf"/><Relationship Id="rId25" Type="http://schemas.openxmlformats.org/officeDocument/2006/relationships/oleObject" Target="../embeddings/oleObject182.bin"/><Relationship Id="rId24" Type="http://schemas.openxmlformats.org/officeDocument/2006/relationships/image" Target="../media/image140.wmf"/><Relationship Id="rId23" Type="http://schemas.openxmlformats.org/officeDocument/2006/relationships/oleObject" Target="../embeddings/oleObject181.bin"/><Relationship Id="rId22" Type="http://schemas.openxmlformats.org/officeDocument/2006/relationships/image" Target="../media/image139.wmf"/><Relationship Id="rId21" Type="http://schemas.openxmlformats.org/officeDocument/2006/relationships/oleObject" Target="../embeddings/oleObject180.bin"/><Relationship Id="rId20" Type="http://schemas.openxmlformats.org/officeDocument/2006/relationships/image" Target="../media/image138.wmf"/><Relationship Id="rId2" Type="http://schemas.openxmlformats.org/officeDocument/2006/relationships/image" Target="../media/image129.wmf"/><Relationship Id="rId19" Type="http://schemas.openxmlformats.org/officeDocument/2006/relationships/oleObject" Target="../embeddings/oleObject179.bin"/><Relationship Id="rId18" Type="http://schemas.openxmlformats.org/officeDocument/2006/relationships/image" Target="../media/image137.wmf"/><Relationship Id="rId17" Type="http://schemas.openxmlformats.org/officeDocument/2006/relationships/oleObject" Target="../embeddings/oleObject178.bin"/><Relationship Id="rId16" Type="http://schemas.openxmlformats.org/officeDocument/2006/relationships/image" Target="../media/image136.emf"/><Relationship Id="rId15" Type="http://schemas.openxmlformats.org/officeDocument/2006/relationships/oleObject" Target="../embeddings/oleObject177.bin"/><Relationship Id="rId14" Type="http://schemas.openxmlformats.org/officeDocument/2006/relationships/image" Target="../media/image135.emf"/><Relationship Id="rId13" Type="http://schemas.openxmlformats.org/officeDocument/2006/relationships/oleObject" Target="../embeddings/oleObject176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75.bin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170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9.bin"/><Relationship Id="rId8" Type="http://schemas.openxmlformats.org/officeDocument/2006/relationships/image" Target="../media/image147.wmf"/><Relationship Id="rId7" Type="http://schemas.openxmlformats.org/officeDocument/2006/relationships/oleObject" Target="../embeddings/oleObject188.bin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45.wmf"/><Relationship Id="rId3" Type="http://schemas.openxmlformats.org/officeDocument/2006/relationships/oleObject" Target="../embeddings/oleObject186.bin"/><Relationship Id="rId25" Type="http://schemas.openxmlformats.org/officeDocument/2006/relationships/vmlDrawing" Target="../drawings/vmlDrawing11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155.GIF"/><Relationship Id="rId22" Type="http://schemas.openxmlformats.org/officeDocument/2006/relationships/image" Target="../media/image154.GIF"/><Relationship Id="rId21" Type="http://schemas.openxmlformats.org/officeDocument/2006/relationships/image" Target="../media/image153.GIF"/><Relationship Id="rId20" Type="http://schemas.openxmlformats.org/officeDocument/2006/relationships/image" Target="../media/image113.GIF"/><Relationship Id="rId2" Type="http://schemas.openxmlformats.org/officeDocument/2006/relationships/image" Target="../media/image144.wmf"/><Relationship Id="rId19" Type="http://schemas.openxmlformats.org/officeDocument/2006/relationships/image" Target="../media/image112.GIF"/><Relationship Id="rId18" Type="http://schemas.openxmlformats.org/officeDocument/2006/relationships/image" Target="../media/image152.wmf"/><Relationship Id="rId17" Type="http://schemas.openxmlformats.org/officeDocument/2006/relationships/oleObject" Target="../embeddings/oleObject193.bin"/><Relationship Id="rId16" Type="http://schemas.openxmlformats.org/officeDocument/2006/relationships/image" Target="../media/image151.wmf"/><Relationship Id="rId15" Type="http://schemas.openxmlformats.org/officeDocument/2006/relationships/oleObject" Target="../embeddings/oleObject192.bin"/><Relationship Id="rId14" Type="http://schemas.openxmlformats.org/officeDocument/2006/relationships/image" Target="../media/image150.wmf"/><Relationship Id="rId13" Type="http://schemas.openxmlformats.org/officeDocument/2006/relationships/oleObject" Target="../embeddings/oleObject191.bin"/><Relationship Id="rId12" Type="http://schemas.openxmlformats.org/officeDocument/2006/relationships/image" Target="../media/image149.wmf"/><Relationship Id="rId11" Type="http://schemas.openxmlformats.org/officeDocument/2006/relationships/oleObject" Target="../embeddings/oleObject190.bin"/><Relationship Id="rId10" Type="http://schemas.openxmlformats.org/officeDocument/2006/relationships/image" Target="../media/image148.wmf"/><Relationship Id="rId1" Type="http://schemas.openxmlformats.org/officeDocument/2006/relationships/oleObject" Target="../embeddings/oleObject18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8.bin"/><Relationship Id="rId8" Type="http://schemas.openxmlformats.org/officeDocument/2006/relationships/image" Target="../media/image159.wmf"/><Relationship Id="rId7" Type="http://schemas.openxmlformats.org/officeDocument/2006/relationships/oleObject" Target="../embeddings/oleObject197.bin"/><Relationship Id="rId6" Type="http://schemas.openxmlformats.org/officeDocument/2006/relationships/image" Target="../media/image158.e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57.emf"/><Relationship Id="rId3" Type="http://schemas.openxmlformats.org/officeDocument/2006/relationships/oleObject" Target="../embeddings/oleObject195.bin"/><Relationship Id="rId28" Type="http://schemas.openxmlformats.org/officeDocument/2006/relationships/vmlDrawing" Target="../drawings/vmlDrawing12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68.emf"/><Relationship Id="rId25" Type="http://schemas.openxmlformats.org/officeDocument/2006/relationships/oleObject" Target="../embeddings/oleObject206.bin"/><Relationship Id="rId24" Type="http://schemas.openxmlformats.org/officeDocument/2006/relationships/image" Target="../media/image167.emf"/><Relationship Id="rId23" Type="http://schemas.openxmlformats.org/officeDocument/2006/relationships/oleObject" Target="../embeddings/oleObject205.bin"/><Relationship Id="rId22" Type="http://schemas.openxmlformats.org/officeDocument/2006/relationships/image" Target="../media/image166.emf"/><Relationship Id="rId21" Type="http://schemas.openxmlformats.org/officeDocument/2006/relationships/oleObject" Target="../embeddings/oleObject204.bin"/><Relationship Id="rId20" Type="http://schemas.openxmlformats.org/officeDocument/2006/relationships/image" Target="../media/image165.wmf"/><Relationship Id="rId2" Type="http://schemas.openxmlformats.org/officeDocument/2006/relationships/image" Target="../media/image156.emf"/><Relationship Id="rId19" Type="http://schemas.openxmlformats.org/officeDocument/2006/relationships/oleObject" Target="../embeddings/oleObject203.bin"/><Relationship Id="rId18" Type="http://schemas.openxmlformats.org/officeDocument/2006/relationships/image" Target="../media/image164.wmf"/><Relationship Id="rId17" Type="http://schemas.openxmlformats.org/officeDocument/2006/relationships/oleObject" Target="../embeddings/oleObject202.bin"/><Relationship Id="rId16" Type="http://schemas.openxmlformats.org/officeDocument/2006/relationships/image" Target="../media/image163.wmf"/><Relationship Id="rId15" Type="http://schemas.openxmlformats.org/officeDocument/2006/relationships/oleObject" Target="../embeddings/oleObject201.bin"/><Relationship Id="rId14" Type="http://schemas.openxmlformats.org/officeDocument/2006/relationships/image" Target="../media/image162.wmf"/><Relationship Id="rId13" Type="http://schemas.openxmlformats.org/officeDocument/2006/relationships/oleObject" Target="../embeddings/oleObject200.bin"/><Relationship Id="rId12" Type="http://schemas.openxmlformats.org/officeDocument/2006/relationships/image" Target="../media/image161.wmf"/><Relationship Id="rId11" Type="http://schemas.openxmlformats.org/officeDocument/2006/relationships/oleObject" Target="../embeddings/oleObject199.bin"/><Relationship Id="rId10" Type="http://schemas.openxmlformats.org/officeDocument/2006/relationships/image" Target="../media/image160.wmf"/><Relationship Id="rId1" Type="http://schemas.openxmlformats.org/officeDocument/2006/relationships/oleObject" Target="../embeddings/oleObject194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1.bin"/><Relationship Id="rId8" Type="http://schemas.openxmlformats.org/officeDocument/2006/relationships/image" Target="../media/image172.wmf"/><Relationship Id="rId7" Type="http://schemas.openxmlformats.org/officeDocument/2006/relationships/oleObject" Target="../embeddings/oleObject210.bin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209.bin"/><Relationship Id="rId4" Type="http://schemas.openxmlformats.org/officeDocument/2006/relationships/image" Target="../media/image170.wmf"/><Relationship Id="rId33" Type="http://schemas.openxmlformats.org/officeDocument/2006/relationships/vmlDrawing" Target="../drawings/vmlDrawing13.vml"/><Relationship Id="rId32" Type="http://schemas.openxmlformats.org/officeDocument/2006/relationships/slideLayout" Target="../slideLayouts/slideLayout18.xml"/><Relationship Id="rId31" Type="http://schemas.openxmlformats.org/officeDocument/2006/relationships/image" Target="../media/image183.wmf"/><Relationship Id="rId30" Type="http://schemas.openxmlformats.org/officeDocument/2006/relationships/oleObject" Target="../embeddings/oleObject221.bin"/><Relationship Id="rId3" Type="http://schemas.openxmlformats.org/officeDocument/2006/relationships/oleObject" Target="../embeddings/oleObject208.bin"/><Relationship Id="rId29" Type="http://schemas.openxmlformats.org/officeDocument/2006/relationships/image" Target="../media/image182.wmf"/><Relationship Id="rId28" Type="http://schemas.openxmlformats.org/officeDocument/2006/relationships/oleObject" Target="../embeddings/oleObject220.bin"/><Relationship Id="rId27" Type="http://schemas.openxmlformats.org/officeDocument/2006/relationships/image" Target="../media/image181.wmf"/><Relationship Id="rId26" Type="http://schemas.openxmlformats.org/officeDocument/2006/relationships/oleObject" Target="../embeddings/oleObject219.bin"/><Relationship Id="rId25" Type="http://schemas.openxmlformats.org/officeDocument/2006/relationships/image" Target="../media/image180.wmf"/><Relationship Id="rId24" Type="http://schemas.openxmlformats.org/officeDocument/2006/relationships/oleObject" Target="../embeddings/oleObject218.bin"/><Relationship Id="rId23" Type="http://schemas.openxmlformats.org/officeDocument/2006/relationships/image" Target="../media/image20.GIF"/><Relationship Id="rId22" Type="http://schemas.openxmlformats.org/officeDocument/2006/relationships/image" Target="../media/image179.wmf"/><Relationship Id="rId21" Type="http://schemas.openxmlformats.org/officeDocument/2006/relationships/oleObject" Target="../embeddings/oleObject217.bin"/><Relationship Id="rId20" Type="http://schemas.openxmlformats.org/officeDocument/2006/relationships/image" Target="../media/image178.wmf"/><Relationship Id="rId2" Type="http://schemas.openxmlformats.org/officeDocument/2006/relationships/image" Target="../media/image169.wmf"/><Relationship Id="rId19" Type="http://schemas.openxmlformats.org/officeDocument/2006/relationships/oleObject" Target="../embeddings/oleObject216.bin"/><Relationship Id="rId18" Type="http://schemas.openxmlformats.org/officeDocument/2006/relationships/image" Target="../media/image177.wmf"/><Relationship Id="rId17" Type="http://schemas.openxmlformats.org/officeDocument/2006/relationships/oleObject" Target="../embeddings/oleObject215.bin"/><Relationship Id="rId16" Type="http://schemas.openxmlformats.org/officeDocument/2006/relationships/image" Target="../media/image176.wmf"/><Relationship Id="rId15" Type="http://schemas.openxmlformats.org/officeDocument/2006/relationships/oleObject" Target="../embeddings/oleObject214.bin"/><Relationship Id="rId14" Type="http://schemas.openxmlformats.org/officeDocument/2006/relationships/image" Target="../media/image175.wmf"/><Relationship Id="rId13" Type="http://schemas.openxmlformats.org/officeDocument/2006/relationships/oleObject" Target="../embeddings/oleObject213.bin"/><Relationship Id="rId12" Type="http://schemas.openxmlformats.org/officeDocument/2006/relationships/image" Target="../media/image174.wmf"/><Relationship Id="rId11" Type="http://schemas.openxmlformats.org/officeDocument/2006/relationships/oleObject" Target="../embeddings/oleObject212.bin"/><Relationship Id="rId10" Type="http://schemas.openxmlformats.org/officeDocument/2006/relationships/image" Target="../media/image173.wmf"/><Relationship Id="rId1" Type="http://schemas.openxmlformats.org/officeDocument/2006/relationships/oleObject" Target="../embeddings/oleObject207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6.bin"/><Relationship Id="rId8" Type="http://schemas.openxmlformats.org/officeDocument/2006/relationships/image" Target="../media/image187.wmf"/><Relationship Id="rId7" Type="http://schemas.openxmlformats.org/officeDocument/2006/relationships/oleObject" Target="../embeddings/oleObject225.bin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185.wmf"/><Relationship Id="rId3" Type="http://schemas.openxmlformats.org/officeDocument/2006/relationships/oleObject" Target="../embeddings/oleObject223.bin"/><Relationship Id="rId22" Type="http://schemas.openxmlformats.org/officeDocument/2006/relationships/vmlDrawing" Target="../drawings/vmlDrawing14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93.emf"/><Relationship Id="rId2" Type="http://schemas.openxmlformats.org/officeDocument/2006/relationships/image" Target="../media/image184.wmf"/><Relationship Id="rId19" Type="http://schemas.openxmlformats.org/officeDocument/2006/relationships/oleObject" Target="../embeddings/oleObject231.bin"/><Relationship Id="rId18" Type="http://schemas.openxmlformats.org/officeDocument/2006/relationships/image" Target="../media/image192.wmf"/><Relationship Id="rId17" Type="http://schemas.openxmlformats.org/officeDocument/2006/relationships/oleObject" Target="../embeddings/oleObject230.bin"/><Relationship Id="rId16" Type="http://schemas.openxmlformats.org/officeDocument/2006/relationships/image" Target="../media/image191.wmf"/><Relationship Id="rId15" Type="http://schemas.openxmlformats.org/officeDocument/2006/relationships/oleObject" Target="../embeddings/oleObject229.bin"/><Relationship Id="rId14" Type="http://schemas.openxmlformats.org/officeDocument/2006/relationships/image" Target="../media/image190.wmf"/><Relationship Id="rId13" Type="http://schemas.openxmlformats.org/officeDocument/2006/relationships/oleObject" Target="../embeddings/oleObject228.bin"/><Relationship Id="rId12" Type="http://schemas.openxmlformats.org/officeDocument/2006/relationships/image" Target="../media/image189.wmf"/><Relationship Id="rId11" Type="http://schemas.openxmlformats.org/officeDocument/2006/relationships/oleObject" Target="../embeddings/oleObject227.bin"/><Relationship Id="rId10" Type="http://schemas.openxmlformats.org/officeDocument/2006/relationships/image" Target="../media/image188.wmf"/><Relationship Id="rId1" Type="http://schemas.openxmlformats.org/officeDocument/2006/relationships/oleObject" Target="../embeddings/oleObject222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6.bin"/><Relationship Id="rId8" Type="http://schemas.openxmlformats.org/officeDocument/2006/relationships/image" Target="../media/image197.wmf"/><Relationship Id="rId7" Type="http://schemas.openxmlformats.org/officeDocument/2006/relationships/oleObject" Target="../embeddings/oleObject235.bin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234.bin"/><Relationship Id="rId48" Type="http://schemas.openxmlformats.org/officeDocument/2006/relationships/vmlDrawing" Target="../drawings/vmlDrawing15.vml"/><Relationship Id="rId47" Type="http://schemas.openxmlformats.org/officeDocument/2006/relationships/slideLayout" Target="../slideLayouts/slideLayout18.xml"/><Relationship Id="rId46" Type="http://schemas.openxmlformats.org/officeDocument/2006/relationships/image" Target="../media/image216.wmf"/><Relationship Id="rId45" Type="http://schemas.openxmlformats.org/officeDocument/2006/relationships/oleObject" Target="../embeddings/oleObject254.bin"/><Relationship Id="rId44" Type="http://schemas.openxmlformats.org/officeDocument/2006/relationships/image" Target="../media/image215.wmf"/><Relationship Id="rId43" Type="http://schemas.openxmlformats.org/officeDocument/2006/relationships/oleObject" Target="../embeddings/oleObject253.bin"/><Relationship Id="rId42" Type="http://schemas.openxmlformats.org/officeDocument/2006/relationships/image" Target="../media/image214.wmf"/><Relationship Id="rId41" Type="http://schemas.openxmlformats.org/officeDocument/2006/relationships/oleObject" Target="../embeddings/oleObject252.bin"/><Relationship Id="rId40" Type="http://schemas.openxmlformats.org/officeDocument/2006/relationships/image" Target="../media/image213.wmf"/><Relationship Id="rId4" Type="http://schemas.openxmlformats.org/officeDocument/2006/relationships/image" Target="../media/image195.wmf"/><Relationship Id="rId39" Type="http://schemas.openxmlformats.org/officeDocument/2006/relationships/oleObject" Target="../embeddings/oleObject251.bin"/><Relationship Id="rId38" Type="http://schemas.openxmlformats.org/officeDocument/2006/relationships/image" Target="../media/image212.wmf"/><Relationship Id="rId37" Type="http://schemas.openxmlformats.org/officeDocument/2006/relationships/oleObject" Target="../embeddings/oleObject250.bin"/><Relationship Id="rId36" Type="http://schemas.openxmlformats.org/officeDocument/2006/relationships/image" Target="../media/image211.wmf"/><Relationship Id="rId35" Type="http://schemas.openxmlformats.org/officeDocument/2006/relationships/oleObject" Target="../embeddings/oleObject249.bin"/><Relationship Id="rId34" Type="http://schemas.openxmlformats.org/officeDocument/2006/relationships/image" Target="../media/image210.emf"/><Relationship Id="rId33" Type="http://schemas.openxmlformats.org/officeDocument/2006/relationships/oleObject" Target="../embeddings/oleObject248.bin"/><Relationship Id="rId32" Type="http://schemas.openxmlformats.org/officeDocument/2006/relationships/image" Target="../media/image209.wmf"/><Relationship Id="rId31" Type="http://schemas.openxmlformats.org/officeDocument/2006/relationships/oleObject" Target="../embeddings/oleObject247.bin"/><Relationship Id="rId30" Type="http://schemas.openxmlformats.org/officeDocument/2006/relationships/image" Target="../media/image208.wmf"/><Relationship Id="rId3" Type="http://schemas.openxmlformats.org/officeDocument/2006/relationships/oleObject" Target="../embeddings/oleObject233.bin"/><Relationship Id="rId29" Type="http://schemas.openxmlformats.org/officeDocument/2006/relationships/oleObject" Target="../embeddings/oleObject246.bin"/><Relationship Id="rId28" Type="http://schemas.openxmlformats.org/officeDocument/2006/relationships/image" Target="../media/image207.wmf"/><Relationship Id="rId27" Type="http://schemas.openxmlformats.org/officeDocument/2006/relationships/oleObject" Target="../embeddings/oleObject245.bin"/><Relationship Id="rId26" Type="http://schemas.openxmlformats.org/officeDocument/2006/relationships/image" Target="../media/image206.wmf"/><Relationship Id="rId25" Type="http://schemas.openxmlformats.org/officeDocument/2006/relationships/oleObject" Target="../embeddings/oleObject244.bin"/><Relationship Id="rId24" Type="http://schemas.openxmlformats.org/officeDocument/2006/relationships/image" Target="../media/image205.wmf"/><Relationship Id="rId23" Type="http://schemas.openxmlformats.org/officeDocument/2006/relationships/oleObject" Target="../embeddings/oleObject243.bin"/><Relationship Id="rId22" Type="http://schemas.openxmlformats.org/officeDocument/2006/relationships/image" Target="../media/image204.wmf"/><Relationship Id="rId21" Type="http://schemas.openxmlformats.org/officeDocument/2006/relationships/oleObject" Target="../embeddings/oleObject242.bin"/><Relationship Id="rId20" Type="http://schemas.openxmlformats.org/officeDocument/2006/relationships/image" Target="../media/image203.wmf"/><Relationship Id="rId2" Type="http://schemas.openxmlformats.org/officeDocument/2006/relationships/image" Target="../media/image194.wmf"/><Relationship Id="rId19" Type="http://schemas.openxmlformats.org/officeDocument/2006/relationships/oleObject" Target="../embeddings/oleObject241.bin"/><Relationship Id="rId18" Type="http://schemas.openxmlformats.org/officeDocument/2006/relationships/image" Target="../media/image202.wmf"/><Relationship Id="rId17" Type="http://schemas.openxmlformats.org/officeDocument/2006/relationships/oleObject" Target="../embeddings/oleObject240.bin"/><Relationship Id="rId16" Type="http://schemas.openxmlformats.org/officeDocument/2006/relationships/image" Target="../media/image201.wmf"/><Relationship Id="rId15" Type="http://schemas.openxmlformats.org/officeDocument/2006/relationships/oleObject" Target="../embeddings/oleObject239.bin"/><Relationship Id="rId14" Type="http://schemas.openxmlformats.org/officeDocument/2006/relationships/image" Target="../media/image200.wmf"/><Relationship Id="rId13" Type="http://schemas.openxmlformats.org/officeDocument/2006/relationships/oleObject" Target="../embeddings/oleObject238.bin"/><Relationship Id="rId12" Type="http://schemas.openxmlformats.org/officeDocument/2006/relationships/image" Target="../media/image199.wmf"/><Relationship Id="rId11" Type="http://schemas.openxmlformats.org/officeDocument/2006/relationships/oleObject" Target="../embeddings/oleObject237.bin"/><Relationship Id="rId10" Type="http://schemas.openxmlformats.org/officeDocument/2006/relationships/image" Target="../media/image198.wmf"/><Relationship Id="rId1" Type="http://schemas.openxmlformats.org/officeDocument/2006/relationships/oleObject" Target="../embeddings/oleObject232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9.bin"/><Relationship Id="rId8" Type="http://schemas.openxmlformats.org/officeDocument/2006/relationships/image" Target="../media/image220.wmf"/><Relationship Id="rId7" Type="http://schemas.openxmlformats.org/officeDocument/2006/relationships/oleObject" Target="../embeddings/oleObject258.bin"/><Relationship Id="rId6" Type="http://schemas.openxmlformats.org/officeDocument/2006/relationships/image" Target="../media/image219.emf"/><Relationship Id="rId5" Type="http://schemas.openxmlformats.org/officeDocument/2006/relationships/oleObject" Target="../embeddings/oleObject257.bin"/><Relationship Id="rId4" Type="http://schemas.openxmlformats.org/officeDocument/2006/relationships/image" Target="../media/image218.wmf"/><Relationship Id="rId3" Type="http://schemas.openxmlformats.org/officeDocument/2006/relationships/oleObject" Target="../embeddings/oleObject256.bin"/><Relationship Id="rId2" Type="http://schemas.openxmlformats.org/officeDocument/2006/relationships/image" Target="../media/image217.emf"/><Relationship Id="rId17" Type="http://schemas.openxmlformats.org/officeDocument/2006/relationships/vmlDrawing" Target="../drawings/vmlDrawing16.vml"/><Relationship Id="rId16" Type="http://schemas.openxmlformats.org/officeDocument/2006/relationships/slideLayout" Target="../slideLayouts/slideLayout18.xml"/><Relationship Id="rId15" Type="http://schemas.openxmlformats.org/officeDocument/2006/relationships/image" Target="../media/image222.emf"/><Relationship Id="rId14" Type="http://schemas.openxmlformats.org/officeDocument/2006/relationships/oleObject" Target="../embeddings/oleObject263.bin"/><Relationship Id="rId13" Type="http://schemas.openxmlformats.org/officeDocument/2006/relationships/image" Target="../media/image221.emf"/><Relationship Id="rId12" Type="http://schemas.openxmlformats.org/officeDocument/2006/relationships/oleObject" Target="../embeddings/oleObject262.bin"/><Relationship Id="rId11" Type="http://schemas.openxmlformats.org/officeDocument/2006/relationships/oleObject" Target="../embeddings/oleObject261.bin"/><Relationship Id="rId10" Type="http://schemas.openxmlformats.org/officeDocument/2006/relationships/oleObject" Target="../embeddings/oleObject260.bin"/><Relationship Id="rId1" Type="http://schemas.openxmlformats.org/officeDocument/2006/relationships/oleObject" Target="../embeddings/oleObject25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26.emf"/><Relationship Id="rId7" Type="http://schemas.openxmlformats.org/officeDocument/2006/relationships/oleObject" Target="../embeddings/oleObject267.bin"/><Relationship Id="rId6" Type="http://schemas.openxmlformats.org/officeDocument/2006/relationships/image" Target="../media/image225.emf"/><Relationship Id="rId5" Type="http://schemas.openxmlformats.org/officeDocument/2006/relationships/oleObject" Target="../embeddings/oleObject266.bin"/><Relationship Id="rId4" Type="http://schemas.openxmlformats.org/officeDocument/2006/relationships/image" Target="../media/image224.emf"/><Relationship Id="rId3" Type="http://schemas.openxmlformats.org/officeDocument/2006/relationships/oleObject" Target="../embeddings/oleObject265.bin"/><Relationship Id="rId2" Type="http://schemas.openxmlformats.org/officeDocument/2006/relationships/image" Target="../media/image223.emf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264.bin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228.emf"/><Relationship Id="rId2" Type="http://schemas.openxmlformats.org/officeDocument/2006/relationships/package" Target="../embeddings/Document1.docx"/><Relationship Id="rId1" Type="http://schemas.openxmlformats.org/officeDocument/2006/relationships/image" Target="../media/image227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2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89" name="WordArt 37"/>
          <p:cNvSpPr>
            <a:spLocks noChangeArrowheads="1" noChangeShapeType="1" noTextEdit="1"/>
          </p:cNvSpPr>
          <p:nvPr/>
        </p:nvSpPr>
        <p:spPr bwMode="auto">
          <a:xfrm>
            <a:off x="1732344" y="2865945"/>
            <a:ext cx="3161591" cy="6000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</a:ln>
                <a:solidFill>
                  <a:schemeClr val="bg2"/>
                </a:solidFill>
                <a:effectLst/>
                <a:latin typeface="隶书" panose="02010509060101010101" charset="-122"/>
                <a:ea typeface="隶书" panose="02010509060101010101" charset="-122"/>
              </a:rPr>
              <a:t>§1  </a:t>
            </a:r>
            <a:r>
              <a:rPr lang="zh-CN" altLang="en-US" sz="3600" b="1" kern="10" dirty="0">
                <a:ln w="12700">
                  <a:solidFill>
                    <a:srgbClr val="3399FF"/>
                  </a:solidFill>
                  <a:round/>
                </a:ln>
                <a:solidFill>
                  <a:schemeClr val="bg2"/>
                </a:solidFill>
                <a:effectLst/>
                <a:latin typeface="隶书" panose="02010509060101010101" charset="-122"/>
                <a:ea typeface="隶书" panose="02010509060101010101" charset="-122"/>
              </a:rPr>
              <a:t>概    述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</a:ln>
              <a:solidFill>
                <a:schemeClr val="bg2"/>
              </a:solidFill>
              <a:effectLst/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09990" name="WordArt 38"/>
          <p:cNvSpPr>
            <a:spLocks noChangeArrowheads="1" noChangeShapeType="1" noTextEdit="1"/>
          </p:cNvSpPr>
          <p:nvPr/>
        </p:nvSpPr>
        <p:spPr bwMode="auto">
          <a:xfrm>
            <a:off x="1733932" y="4017644"/>
            <a:ext cx="6797420" cy="6000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</a:ln>
                <a:solidFill>
                  <a:schemeClr val="bg2"/>
                </a:solidFill>
                <a:effectLst/>
                <a:latin typeface="隶书" panose="02010509060101010101" charset="-122"/>
                <a:ea typeface="隶书" panose="02010509060101010101" charset="-122"/>
              </a:rPr>
              <a:t>§2  </a:t>
            </a:r>
            <a:r>
              <a:rPr lang="zh-CN" altLang="en-US" sz="3600" b="1" kern="10" dirty="0">
                <a:ln w="12700">
                  <a:solidFill>
                    <a:srgbClr val="3399FF"/>
                  </a:solidFill>
                  <a:round/>
                </a:ln>
                <a:solidFill>
                  <a:schemeClr val="bg2"/>
                </a:solidFill>
                <a:effectLst/>
                <a:latin typeface="隶书" panose="02010509060101010101" charset="-122"/>
                <a:ea typeface="隶书" panose="02010509060101010101" charset="-122"/>
              </a:rPr>
              <a:t>正态总体参数的假设检验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</a:ln>
              <a:solidFill>
                <a:schemeClr val="bg2"/>
              </a:solidFill>
              <a:effectLst/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80716" y="1322933"/>
            <a:ext cx="5562741" cy="7023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0033CC"/>
                </a:solidFill>
                <a:latin typeface="Algerian" panose="04020705040A02060702" pitchFamily="82" charset="0"/>
              </a:rPr>
              <a:t>Testing of Hypotheses</a:t>
            </a:r>
            <a:endParaRPr lang="en-US" altLang="zh-CN" sz="3600" b="1" dirty="0">
              <a:solidFill>
                <a:srgbClr val="0033CC"/>
              </a:solidFill>
              <a:latin typeface="Algerian" panose="04020705040A02060702" pitchFamily="82" charset="0"/>
            </a:endParaRPr>
          </a:p>
        </p:txBody>
      </p:sp>
      <p:sp>
        <p:nvSpPr>
          <p:cNvPr id="26" name="WordArt 6"/>
          <p:cNvSpPr>
            <a:spLocks noChangeArrowheads="1" noChangeShapeType="1" noTextEdit="1"/>
          </p:cNvSpPr>
          <p:nvPr/>
        </p:nvSpPr>
        <p:spPr bwMode="auto">
          <a:xfrm>
            <a:off x="1959928" y="269875"/>
            <a:ext cx="5207000" cy="6159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 smtClean="0">
                <a:ln w="12700">
                  <a:solidFill>
                    <a:srgbClr val="99CCFF"/>
                  </a:solidFill>
                  <a:round/>
                </a:ln>
                <a:solidFill>
                  <a:srgbClr val="0033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华文细黑" panose="02010600040101010101" charset="-122"/>
                <a:ea typeface="华文细黑" panose="02010600040101010101" charset="-122"/>
              </a:rPr>
              <a:t>第八章  假设检验</a:t>
            </a:r>
            <a:endParaRPr lang="zh-CN" altLang="en-US" sz="3600" b="1" kern="10" dirty="0">
              <a:ln w="12700">
                <a:solidFill>
                  <a:srgbClr val="99CCFF"/>
                </a:solidFill>
                <a:round/>
              </a:ln>
              <a:solidFill>
                <a:srgbClr val="0033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-11113" y="1120775"/>
            <a:ext cx="9180513" cy="71438"/>
          </a:xfrm>
          <a:prstGeom prst="rect">
            <a:avLst/>
          </a:prstGeom>
          <a:gradFill rotWithShape="0">
            <a:gsLst>
              <a:gs pos="0">
                <a:srgbClr val="0033CC"/>
              </a:gs>
              <a:gs pos="100000">
                <a:srgbClr val="0033CC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0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89" grpId="0"/>
      <p:bldP spid="50999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WordArt 2"/>
          <p:cNvSpPr>
            <a:spLocks noChangeArrowheads="1" noChangeShapeType="1" noTextEdit="1"/>
          </p:cNvSpPr>
          <p:nvPr/>
        </p:nvSpPr>
        <p:spPr bwMode="auto">
          <a:xfrm>
            <a:off x="758825" y="646113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10981" name="Rectangle 5"/>
          <p:cNvSpPr>
            <a:spLocks noChangeArrowheads="1"/>
          </p:cNvSpPr>
          <p:nvPr/>
        </p:nvSpPr>
        <p:spPr bwMode="auto">
          <a:xfrm>
            <a:off x="1328738" y="512763"/>
            <a:ext cx="8194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甲公司从乙工厂定购了一批元件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合同规定产品次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0984" name="Rectangle 8"/>
          <p:cNvSpPr>
            <a:spLocks noChangeArrowheads="1"/>
          </p:cNvSpPr>
          <p:nvPr/>
        </p:nvSpPr>
        <p:spPr bwMode="auto">
          <a:xfrm>
            <a:off x="-38100" y="1341438"/>
            <a:ext cx="8489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检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100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件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发现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次品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件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问甲方是否应接收这批元件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1027" name="Rectangle 51"/>
          <p:cNvSpPr>
            <a:spLocks noChangeArrowheads="1"/>
          </p:cNvSpPr>
          <p:nvPr/>
        </p:nvSpPr>
        <p:spPr bwMode="auto">
          <a:xfrm>
            <a:off x="-63500" y="920750"/>
            <a:ext cx="9363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品率不得超过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5%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，否则甲方有权拒收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.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今从一大批元件中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抽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11041" name="Group 65"/>
          <p:cNvGrpSpPr/>
          <p:nvPr/>
        </p:nvGrpSpPr>
        <p:grpSpPr bwMode="auto">
          <a:xfrm>
            <a:off x="1563688" y="1803402"/>
            <a:ext cx="5094287" cy="523876"/>
            <a:chOff x="897" y="1136"/>
            <a:chExt cx="3209" cy="330"/>
          </a:xfrm>
        </p:grpSpPr>
        <p:sp>
          <p:nvSpPr>
            <p:cNvPr id="511031" name="Rectangle 55"/>
            <p:cNvSpPr>
              <a:spLocks noChangeArrowheads="1"/>
            </p:cNvSpPr>
            <p:nvPr/>
          </p:nvSpPr>
          <p:spPr bwMode="auto">
            <a:xfrm>
              <a:off x="897" y="1136"/>
              <a:ext cx="32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求得元件次品率</a:t>
              </a:r>
              <a:r>
                <a:rPr lang="zh-CN" altLang="en-US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 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MLE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值为</a:t>
              </a:r>
              <a:endPara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11033" name="Object 57"/>
            <p:cNvGraphicFramePr>
              <a:graphicFrameLocks noChangeAspect="1"/>
            </p:cNvGraphicFramePr>
            <p:nvPr/>
          </p:nvGraphicFramePr>
          <p:xfrm>
            <a:off x="2556" y="1211"/>
            <a:ext cx="20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593" name="Equation" r:id="rId1" imgW="3048000" imgH="3657600" progId="Equation.DSMT4">
                    <p:embed/>
                  </p:oleObj>
                </mc:Choice>
                <mc:Fallback>
                  <p:oleObj name="Equation" r:id="rId1" imgW="3048000" imgH="365760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6" y="1211"/>
                          <a:ext cx="20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1035" name="Rectangle 59"/>
          <p:cNvSpPr>
            <a:spLocks noChangeArrowheads="1"/>
          </p:cNvSpPr>
          <p:nvPr/>
        </p:nvSpPr>
        <p:spPr bwMode="auto">
          <a:xfrm>
            <a:off x="-50800" y="2643188"/>
            <a:ext cx="7475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看似产品符合合同要求，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甲方应接收这批元件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1037" name="WordArt 61"/>
          <p:cNvSpPr>
            <a:spLocks noChangeArrowheads="1" noChangeShapeType="1" noTextEdit="1"/>
          </p:cNvSpPr>
          <p:nvPr/>
        </p:nvSpPr>
        <p:spPr bwMode="auto">
          <a:xfrm>
            <a:off x="695325" y="1897063"/>
            <a:ext cx="727075" cy="3190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分析</a:t>
            </a:r>
            <a:endParaRPr lang="zh-CN" altLang="en-US" sz="3600" kern="10">
              <a:ln w="12700">
                <a:solidFill>
                  <a:schemeClr val="accent2"/>
                </a:solidFill>
                <a:round/>
              </a:ln>
              <a:gradFill rotWithShape="1">
                <a:gsLst>
                  <a:gs pos="0">
                    <a:srgbClr val="0066CC"/>
                  </a:gs>
                  <a:gs pos="50000">
                    <a:srgbClr val="FFFFFF"/>
                  </a:gs>
                  <a:gs pos="100000">
                    <a:srgbClr val="0066CC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11038" name="Object 62"/>
          <p:cNvGraphicFramePr>
            <a:graphicFrameLocks noChangeAspect="1"/>
          </p:cNvGraphicFramePr>
          <p:nvPr/>
        </p:nvGraphicFramePr>
        <p:xfrm>
          <a:off x="3125788" y="2219325"/>
          <a:ext cx="178911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94" name="Equation" r:id="rId3" imgW="17678400" imgH="4876800" progId="Equation.DSMT4">
                  <p:embed/>
                </p:oleObj>
              </mc:Choice>
              <mc:Fallback>
                <p:oleObj name="Equation" r:id="rId3" imgW="17678400" imgH="487680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2219325"/>
                        <a:ext cx="178911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39" name="Object 63"/>
          <p:cNvGraphicFramePr>
            <a:graphicFrameLocks noChangeAspect="1"/>
          </p:cNvGraphicFramePr>
          <p:nvPr/>
        </p:nvGraphicFramePr>
        <p:xfrm>
          <a:off x="4881563" y="2287588"/>
          <a:ext cx="8953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95" name="Equation" r:id="rId5" imgW="8839200" imgH="3657600" progId="Equation.DSMT4">
                  <p:embed/>
                </p:oleObj>
              </mc:Choice>
              <mc:Fallback>
                <p:oleObj name="Equation" r:id="rId5" imgW="8839200" imgH="36576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563" y="2287588"/>
                        <a:ext cx="8953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1044" name="WordArt 68"/>
          <p:cNvSpPr>
            <a:spLocks noChangeArrowheads="1" noChangeShapeType="1" noTextEdit="1"/>
          </p:cNvSpPr>
          <p:nvPr/>
        </p:nvSpPr>
        <p:spPr bwMode="auto">
          <a:xfrm>
            <a:off x="746125" y="3371850"/>
            <a:ext cx="161290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sy="50000" kx="-2453608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rPr>
              <a:t>甲方顾虑：</a:t>
            </a:r>
            <a:endParaRPr lang="zh-CN" altLang="en-US" sz="3600" b="1" kern="10">
              <a:ln w="12700">
                <a:solidFill>
                  <a:schemeClr val="tx1"/>
                </a:solidFill>
                <a:round/>
              </a:ln>
              <a:gradFill rotWithShape="1">
                <a:gsLst>
                  <a:gs pos="0">
                    <a:srgbClr val="000082"/>
                  </a:gs>
                  <a:gs pos="50000">
                    <a:srgbClr val="FF8200"/>
                  </a:gs>
                  <a:gs pos="100000">
                    <a:srgbClr val="000082"/>
                  </a:gs>
                </a:gsLst>
                <a:lin ang="2700000" scaled="1"/>
              </a:gradFill>
              <a:effectLst>
                <a:outerShdw sy="50000" kx="-2453608" rotWithShape="0">
                  <a:schemeClr val="bg2">
                    <a:alpha val="50000"/>
                  </a:schemeClr>
                </a:outerShdw>
              </a:effectLst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11045" name="WordArt 69"/>
          <p:cNvSpPr>
            <a:spLocks noChangeArrowheads="1" noChangeShapeType="1" noTextEdit="1"/>
          </p:cNvSpPr>
          <p:nvPr/>
        </p:nvSpPr>
        <p:spPr bwMode="auto">
          <a:xfrm>
            <a:off x="7242175" y="29464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1046" name="WordArt 70"/>
          <p:cNvSpPr>
            <a:spLocks noChangeArrowheads="1" noChangeShapeType="1" noTextEdit="1"/>
          </p:cNvSpPr>
          <p:nvPr/>
        </p:nvSpPr>
        <p:spPr bwMode="auto">
          <a:xfrm>
            <a:off x="7242175" y="29464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0000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1047" name="Freeform 71"/>
          <p:cNvSpPr/>
          <p:nvPr/>
        </p:nvSpPr>
        <p:spPr bwMode="auto">
          <a:xfrm>
            <a:off x="4025900" y="3092450"/>
            <a:ext cx="3109913" cy="46038"/>
          </a:xfrm>
          <a:custGeom>
            <a:avLst/>
            <a:gdLst>
              <a:gd name="T0" fmla="*/ 0 w 1783"/>
              <a:gd name="T1" fmla="*/ 20 h 37"/>
              <a:gd name="T2" fmla="*/ 496 w 1783"/>
              <a:gd name="T3" fmla="*/ 12 h 37"/>
              <a:gd name="T4" fmla="*/ 976 w 1783"/>
              <a:gd name="T5" fmla="*/ 36 h 37"/>
              <a:gd name="T6" fmla="*/ 1448 w 1783"/>
              <a:gd name="T7" fmla="*/ 4 h 37"/>
              <a:gd name="T8" fmla="*/ 1728 w 1783"/>
              <a:gd name="T9" fmla="*/ 12 h 37"/>
              <a:gd name="T10" fmla="*/ 1776 w 1783"/>
              <a:gd name="T11" fmla="*/ 12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83" h="37">
                <a:moveTo>
                  <a:pt x="0" y="20"/>
                </a:moveTo>
                <a:cubicBezTo>
                  <a:pt x="166" y="14"/>
                  <a:pt x="333" y="9"/>
                  <a:pt x="496" y="12"/>
                </a:cubicBezTo>
                <a:cubicBezTo>
                  <a:pt x="659" y="15"/>
                  <a:pt x="817" y="37"/>
                  <a:pt x="976" y="36"/>
                </a:cubicBezTo>
                <a:cubicBezTo>
                  <a:pt x="1135" y="35"/>
                  <a:pt x="1323" y="8"/>
                  <a:pt x="1448" y="4"/>
                </a:cubicBezTo>
                <a:cubicBezTo>
                  <a:pt x="1573" y="0"/>
                  <a:pt x="1673" y="11"/>
                  <a:pt x="1728" y="12"/>
                </a:cubicBezTo>
                <a:cubicBezTo>
                  <a:pt x="1783" y="13"/>
                  <a:pt x="1779" y="12"/>
                  <a:pt x="1776" y="1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1080" name="Group 104"/>
          <p:cNvGrpSpPr/>
          <p:nvPr/>
        </p:nvGrpSpPr>
        <p:grpSpPr bwMode="auto">
          <a:xfrm>
            <a:off x="2541588" y="3340100"/>
            <a:ext cx="5879114" cy="413034"/>
            <a:chOff x="1601" y="2048"/>
            <a:chExt cx="2845" cy="184"/>
          </a:xfrm>
        </p:grpSpPr>
        <p:sp>
          <p:nvSpPr>
            <p:cNvPr id="511050" name="WordArt 74"/>
            <p:cNvSpPr>
              <a:spLocks noChangeArrowheads="1" noChangeShapeType="1" noTextEdit="1"/>
            </p:cNvSpPr>
            <p:nvPr/>
          </p:nvSpPr>
          <p:spPr bwMode="auto">
            <a:xfrm>
              <a:off x="1601" y="2048"/>
              <a:ext cx="2845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因  是随机变量，其值带有波动性</a:t>
              </a:r>
              <a:endParaRPr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1056" name="Group 80"/>
            <p:cNvGrpSpPr/>
            <p:nvPr/>
          </p:nvGrpSpPr>
          <p:grpSpPr bwMode="auto">
            <a:xfrm>
              <a:off x="1779" y="2054"/>
              <a:ext cx="184" cy="165"/>
              <a:chOff x="2667" y="2150"/>
              <a:chExt cx="163" cy="151"/>
            </a:xfrm>
          </p:grpSpPr>
          <p:sp>
            <p:nvSpPr>
              <p:cNvPr id="511053" name="WordArt 77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92" y="2150"/>
                <a:ext cx="138" cy="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1051" name="WordArt 7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67" y="2178"/>
                <a:ext cx="152" cy="12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X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</p:grpSp>
      <p:grpSp>
        <p:nvGrpSpPr>
          <p:cNvPr id="511081" name="Group 105"/>
          <p:cNvGrpSpPr/>
          <p:nvPr/>
        </p:nvGrpSpPr>
        <p:grpSpPr bwMode="auto">
          <a:xfrm>
            <a:off x="2360613" y="3884613"/>
            <a:ext cx="6278419" cy="430683"/>
            <a:chOff x="1586" y="2305"/>
            <a:chExt cx="3549" cy="192"/>
          </a:xfrm>
        </p:grpSpPr>
        <p:sp>
          <p:nvSpPr>
            <p:cNvPr id="511054" name="WordArt 78"/>
            <p:cNvSpPr>
              <a:spLocks noChangeArrowheads="1" noChangeShapeType="1" noTextEdit="1"/>
            </p:cNvSpPr>
            <p:nvPr/>
          </p:nvSpPr>
          <p:spPr bwMode="auto">
            <a:xfrm>
              <a:off x="1586" y="2305"/>
              <a:ext cx="567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有可能</a:t>
              </a:r>
              <a:endParaRPr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1055" name="WordArt 79"/>
            <p:cNvSpPr>
              <a:spLocks noChangeArrowheads="1" noChangeShapeType="1" noTextEdit="1"/>
            </p:cNvSpPr>
            <p:nvPr/>
          </p:nvSpPr>
          <p:spPr bwMode="auto">
            <a:xfrm>
              <a:off x="2947" y="2306"/>
              <a:ext cx="1876" cy="19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但次品率实际上超过了</a:t>
              </a:r>
              <a:endParaRPr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1064" name="Group 88"/>
            <p:cNvGrpSpPr/>
            <p:nvPr/>
          </p:nvGrpSpPr>
          <p:grpSpPr bwMode="auto">
            <a:xfrm>
              <a:off x="2228" y="2319"/>
              <a:ext cx="641" cy="168"/>
              <a:chOff x="1764" y="2647"/>
              <a:chExt cx="641" cy="184"/>
            </a:xfrm>
          </p:grpSpPr>
          <p:grpSp>
            <p:nvGrpSpPr>
              <p:cNvPr id="511057" name="Group 81"/>
              <p:cNvGrpSpPr/>
              <p:nvPr/>
            </p:nvGrpSpPr>
            <p:grpSpPr bwMode="auto">
              <a:xfrm>
                <a:off x="1764" y="2647"/>
                <a:ext cx="201" cy="179"/>
                <a:chOff x="2667" y="2150"/>
                <a:chExt cx="163" cy="151"/>
              </a:xfrm>
            </p:grpSpPr>
            <p:sp>
              <p:nvSpPr>
                <p:cNvPr id="511058" name="WordArt 8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692" y="2150"/>
                  <a:ext cx="138" cy="1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 dirty="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0000"/>
                          </a:gs>
                          <a:gs pos="50000">
                            <a:srgbClr val="FFFFFF"/>
                          </a:gs>
                          <a:gs pos="100000">
                            <a:srgbClr val="FF0000"/>
                          </a:gs>
                        </a:gsLst>
                        <a:lin ang="2700000" scaled="1"/>
                      </a:gradFill>
                      <a:effectLst>
                        <a:outerShdw dist="35921" dir="2700000" algn="ctr" rotWithShape="0">
                          <a:srgbClr val="990000"/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-</a:t>
                  </a:r>
                  <a:endParaRPr lang="zh-CN" altLang="en-US" sz="3600" kern="10" dirty="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11059" name="WordArt 8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667" y="2178"/>
                  <a:ext cx="152" cy="12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i="1" kern="10" dirty="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0000"/>
                          </a:gs>
                          <a:gs pos="50000">
                            <a:srgbClr val="FFFFFF"/>
                          </a:gs>
                          <a:gs pos="100000">
                            <a:srgbClr val="FF0000"/>
                          </a:gs>
                        </a:gsLst>
                        <a:lin ang="2700000" scaled="1"/>
                      </a:gradFill>
                      <a:effectLst>
                        <a:outerShdw dist="35921" dir="2700000" algn="ctr" rotWithShape="0">
                          <a:srgbClr val="990000"/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X</a:t>
                  </a:r>
                  <a:endParaRPr lang="zh-CN" altLang="en-US" sz="3600" i="1" kern="10" dirty="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</p:grpSp>
          <p:sp>
            <p:nvSpPr>
              <p:cNvPr id="511062" name="WordArt 8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97" y="2668"/>
                <a:ext cx="408" cy="1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 dirty="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&lt; 5%</a:t>
                </a:r>
                <a:endPara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511063" name="WordArt 87"/>
            <p:cNvSpPr>
              <a:spLocks noChangeArrowheads="1" noChangeShapeType="1" noTextEdit="1"/>
            </p:cNvSpPr>
            <p:nvPr/>
          </p:nvSpPr>
          <p:spPr bwMode="auto">
            <a:xfrm>
              <a:off x="4878" y="2333"/>
              <a:ext cx="257" cy="1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5%</a:t>
              </a:r>
              <a:endPara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11065" name="WordArt 89"/>
          <p:cNvSpPr>
            <a:spLocks noChangeArrowheads="1" noChangeShapeType="1" noTextEdit="1"/>
          </p:cNvSpPr>
          <p:nvPr/>
        </p:nvSpPr>
        <p:spPr bwMode="auto">
          <a:xfrm>
            <a:off x="747713" y="4537294"/>
            <a:ext cx="1612900" cy="2651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sy="50000" kx="-2453608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rPr>
              <a:t>乙方想法：</a:t>
            </a:r>
            <a:endParaRPr lang="zh-CN" altLang="en-US" sz="3600" b="1" kern="10">
              <a:ln w="12700">
                <a:solidFill>
                  <a:schemeClr val="tx1"/>
                </a:solidFill>
                <a:round/>
              </a:ln>
              <a:gradFill rotWithShape="1">
                <a:gsLst>
                  <a:gs pos="0">
                    <a:srgbClr val="000082"/>
                  </a:gs>
                  <a:gs pos="50000">
                    <a:srgbClr val="FF8200"/>
                  </a:gs>
                  <a:gs pos="100000">
                    <a:srgbClr val="000082"/>
                  </a:gs>
                </a:gsLst>
                <a:lin ang="2700000" scaled="1"/>
              </a:gradFill>
              <a:effectLst>
                <a:outerShdw sy="50000" kx="-2453608" rotWithShape="0">
                  <a:schemeClr val="bg2">
                    <a:alpha val="50000"/>
                  </a:schemeClr>
                </a:outerShdw>
              </a:effectLst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11067" name="WordArt 91"/>
          <p:cNvSpPr>
            <a:spLocks noChangeArrowheads="1" noChangeShapeType="1" noTextEdit="1"/>
          </p:cNvSpPr>
          <p:nvPr/>
        </p:nvSpPr>
        <p:spPr bwMode="auto">
          <a:xfrm>
            <a:off x="2519363" y="4545231"/>
            <a:ext cx="325437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①</a:t>
            </a:r>
            <a:endParaRPr lang="zh-CN" altLang="en-US" sz="3600" b="1" i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aphicFrame>
        <p:nvGraphicFramePr>
          <p:cNvPr id="511068" name="Object 92"/>
          <p:cNvGraphicFramePr>
            <a:graphicFrameLocks noChangeAspect="1"/>
          </p:cNvGraphicFramePr>
          <p:nvPr/>
        </p:nvGraphicFramePr>
        <p:xfrm>
          <a:off x="3060700" y="5529481"/>
          <a:ext cx="20669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96" name="Equation" r:id="rId7" imgW="20421600" imgH="3962400" progId="Equation.DSMT4">
                  <p:embed/>
                </p:oleObj>
              </mc:Choice>
              <mc:Fallback>
                <p:oleObj name="Equation" r:id="rId7" imgW="20421600" imgH="3962400" progId="Equation.DSMT4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5529481"/>
                        <a:ext cx="20669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1069" name="WordArt 93"/>
          <p:cNvSpPr>
            <a:spLocks noChangeArrowheads="1" noChangeShapeType="1" noTextEdit="1"/>
          </p:cNvSpPr>
          <p:nvPr/>
        </p:nvSpPr>
        <p:spPr bwMode="auto">
          <a:xfrm>
            <a:off x="2519363" y="5592981"/>
            <a:ext cx="325437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②</a:t>
            </a:r>
            <a:endParaRPr lang="zh-CN" altLang="en-US" sz="3600" b="1" i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aphicFrame>
        <p:nvGraphicFramePr>
          <p:cNvPr id="511071" name="Object 95"/>
          <p:cNvGraphicFramePr>
            <a:graphicFrameLocks noChangeAspect="1"/>
          </p:cNvGraphicFramePr>
          <p:nvPr/>
        </p:nvGraphicFramePr>
        <p:xfrm>
          <a:off x="3371850" y="4764306"/>
          <a:ext cx="3570288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97" name="Equation" r:id="rId9" imgW="34747200" imgH="7924800" progId="Equation.DSMT4">
                  <p:embed/>
                </p:oleObj>
              </mc:Choice>
              <mc:Fallback>
                <p:oleObj name="Equation" r:id="rId9" imgW="34747200" imgH="7924800" progId="Equation.DSMT4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4764306"/>
                        <a:ext cx="3570288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1072" name="Group 96"/>
          <p:cNvGrpSpPr/>
          <p:nvPr/>
        </p:nvGrpSpPr>
        <p:grpSpPr bwMode="auto">
          <a:xfrm>
            <a:off x="2982913" y="4381719"/>
            <a:ext cx="3581400" cy="561975"/>
            <a:chOff x="1511" y="2915"/>
            <a:chExt cx="2256" cy="354"/>
          </a:xfrm>
        </p:grpSpPr>
        <p:sp>
          <p:nvSpPr>
            <p:cNvPr id="511073" name="Rectangle 97"/>
            <p:cNvSpPr>
              <a:spLocks noChangeArrowheads="1"/>
            </p:cNvSpPr>
            <p:nvPr/>
          </p:nvSpPr>
          <p:spPr bwMode="auto">
            <a:xfrm>
              <a:off x="1999" y="2915"/>
              <a:ext cx="4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是</a:t>
              </a:r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1074" name="Object 98"/>
            <p:cNvGraphicFramePr>
              <a:graphicFrameLocks noChangeAspect="1"/>
            </p:cNvGraphicFramePr>
            <p:nvPr/>
          </p:nvGraphicFramePr>
          <p:xfrm>
            <a:off x="2278" y="2981"/>
            <a:ext cx="194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598" name="Equation" r:id="rId11" imgW="3048000" imgH="3657600" progId="Equation.DSMT4">
                    <p:embed/>
                  </p:oleObj>
                </mc:Choice>
                <mc:Fallback>
                  <p:oleObj name="Equation" r:id="rId11" imgW="3048000" imgH="3657600" progId="Equation.DSMT4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8" y="2981"/>
                          <a:ext cx="194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1075" name="Object 99"/>
            <p:cNvGraphicFramePr>
              <a:graphicFrameLocks noChangeAspect="1"/>
            </p:cNvGraphicFramePr>
            <p:nvPr/>
          </p:nvGraphicFramePr>
          <p:xfrm>
            <a:off x="2678" y="2978"/>
            <a:ext cx="563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599" name="Equation" r:id="rId13" imgW="8839200" imgH="3962400" progId="Equation.DSMT4">
                    <p:embed/>
                  </p:oleObj>
                </mc:Choice>
                <mc:Fallback>
                  <p:oleObj name="Equation" r:id="rId13" imgW="8839200" imgH="3962400" progId="Equation.DSMT4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8" y="2978"/>
                          <a:ext cx="563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1076" name="Rectangle 100"/>
            <p:cNvSpPr>
              <a:spLocks noChangeArrowheads="1"/>
            </p:cNvSpPr>
            <p:nvPr/>
          </p:nvSpPr>
          <p:spPr bwMode="auto">
            <a:xfrm>
              <a:off x="3175" y="2918"/>
              <a:ext cx="5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且</a:t>
              </a:r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1077" name="Rectangle 101"/>
            <p:cNvSpPr>
              <a:spLocks noChangeArrowheads="1"/>
            </p:cNvSpPr>
            <p:nvPr/>
          </p:nvSpPr>
          <p:spPr bwMode="auto">
            <a:xfrm>
              <a:off x="2432" y="2918"/>
              <a:ext cx="3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</a:t>
              </a:r>
              <a:endPara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1078" name="Object 102"/>
            <p:cNvGraphicFramePr>
              <a:graphicFrameLocks noChangeAspect="1"/>
            </p:cNvGraphicFramePr>
            <p:nvPr/>
          </p:nvGraphicFramePr>
          <p:xfrm>
            <a:off x="1511" y="2952"/>
            <a:ext cx="59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600" name="Equation" r:id="rId15" imgW="9144000" imgH="4876800" progId="Equation.DSMT4">
                    <p:embed/>
                  </p:oleObj>
                </mc:Choice>
                <mc:Fallback>
                  <p:oleObj name="Equation" r:id="rId15" imgW="9144000" imgH="4876800" progId="Equation.DSMT4">
                    <p:embed/>
                    <p:pic>
                      <p:nvPicPr>
                        <p:cNvPr id="0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1" y="2952"/>
                          <a:ext cx="59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1079" name="WordArt 103"/>
          <p:cNvSpPr>
            <a:spLocks noChangeArrowheads="1" noChangeShapeType="1" noTextEdit="1"/>
          </p:cNvSpPr>
          <p:nvPr/>
        </p:nvSpPr>
        <p:spPr bwMode="auto">
          <a:xfrm>
            <a:off x="2517774" y="6029544"/>
            <a:ext cx="6242051" cy="42585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故工厂无法接受“产品不能出厂”的结论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1087" name="Oval 111"/>
          <p:cNvSpPr>
            <a:spLocks noChangeArrowheads="1"/>
          </p:cNvSpPr>
          <p:nvPr/>
        </p:nvSpPr>
        <p:spPr bwMode="auto">
          <a:xfrm>
            <a:off x="3530600" y="1371600"/>
            <a:ext cx="4406900" cy="4572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1086" name="Group 110"/>
          <p:cNvGrpSpPr/>
          <p:nvPr/>
        </p:nvGrpSpPr>
        <p:grpSpPr bwMode="auto">
          <a:xfrm>
            <a:off x="6456363" y="1993900"/>
            <a:ext cx="2665412" cy="649288"/>
            <a:chOff x="4075" y="1288"/>
            <a:chExt cx="1679" cy="409"/>
          </a:xfrm>
        </p:grpSpPr>
        <p:sp>
          <p:nvSpPr>
            <p:cNvPr id="511084" name="AutoShape 108"/>
            <p:cNvSpPr>
              <a:spLocks noChangeArrowheads="1"/>
            </p:cNvSpPr>
            <p:nvPr/>
          </p:nvSpPr>
          <p:spPr bwMode="auto">
            <a:xfrm>
              <a:off x="4075" y="1288"/>
              <a:ext cx="1679" cy="409"/>
            </a:xfrm>
            <a:prstGeom prst="wedgeRectCallout">
              <a:avLst>
                <a:gd name="adj1" fmla="val -22125"/>
                <a:gd name="adj2" fmla="val -75671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11085" name="WordArt 109"/>
            <p:cNvSpPr>
              <a:spLocks noChangeArrowheads="1" noChangeShapeType="1" noTextEdit="1"/>
            </p:cNvSpPr>
            <p:nvPr/>
          </p:nvSpPr>
          <p:spPr bwMode="auto">
            <a:xfrm>
              <a:off x="4111" y="1302"/>
              <a:ext cx="1595" cy="3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1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必须采用更合理</a:t>
              </a:r>
              <a:endParaRPr lang="zh-CN" altLang="en-US" sz="11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1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的方法作出判断</a:t>
              </a:r>
              <a:endParaRPr lang="zh-CN" altLang="en-US" sz="11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511088" name="Object 112"/>
          <p:cNvGraphicFramePr>
            <a:graphicFrameLocks noChangeAspect="1"/>
          </p:cNvGraphicFramePr>
          <p:nvPr/>
        </p:nvGraphicFramePr>
        <p:xfrm>
          <a:off x="6870446" y="4988969"/>
          <a:ext cx="19129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601" name="Equation" r:id="rId17" imgW="18897600" imgH="4267200" progId="Equation.DSMT4">
                  <p:embed/>
                </p:oleObj>
              </mc:Choice>
              <mc:Fallback>
                <p:oleObj name="Equation" r:id="rId17" imgW="18897600" imgH="4267200" progId="Equation.DSMT4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446" y="4988969"/>
                        <a:ext cx="191293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1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1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3" dur="1000" fill="hold"/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1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11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1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1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11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11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1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1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1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1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1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1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1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11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11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11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11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1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11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11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1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11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11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1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1035" grpId="0"/>
      <p:bldP spid="511037" grpId="0" animBg="1"/>
      <p:bldP spid="511044" grpId="0" animBg="1"/>
      <p:bldP spid="511045" grpId="0" animBg="1"/>
      <p:bldP spid="511046" grpId="0" animBg="1"/>
      <p:bldP spid="511046" grpId="1" animBg="1"/>
      <p:bldP spid="511047" grpId="0" animBg="1"/>
      <p:bldP spid="511065" grpId="0" animBg="1"/>
      <p:bldP spid="511067" grpId="0" animBg="1"/>
      <p:bldP spid="511069" grpId="0" animBg="1"/>
      <p:bldP spid="511079" grpId="0" animBg="1"/>
      <p:bldP spid="51108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02" name="Group 2"/>
          <p:cNvGrpSpPr/>
          <p:nvPr/>
        </p:nvGrpSpPr>
        <p:grpSpPr bwMode="auto">
          <a:xfrm>
            <a:off x="1476375" y="2471738"/>
            <a:ext cx="3857625" cy="617537"/>
            <a:chOff x="1505" y="1816"/>
            <a:chExt cx="2430" cy="389"/>
          </a:xfrm>
        </p:grpSpPr>
        <p:graphicFrame>
          <p:nvGraphicFramePr>
            <p:cNvPr id="512003" name="Object 3"/>
            <p:cNvGraphicFramePr>
              <a:graphicFrameLocks noChangeAspect="1"/>
            </p:cNvGraphicFramePr>
            <p:nvPr/>
          </p:nvGraphicFramePr>
          <p:xfrm>
            <a:off x="2693" y="1888"/>
            <a:ext cx="124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60" name="Equation" r:id="rId1" imgW="18897600" imgH="4876800" progId="Equation.DSMT4">
                    <p:embed/>
                  </p:oleObj>
                </mc:Choice>
                <mc:Fallback>
                  <p:oleObj name="Equation" r:id="rId1" imgW="18897600" imgH="48768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3" y="1888"/>
                          <a:ext cx="124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004" name="Rectangle 4"/>
            <p:cNvSpPr>
              <a:spLocks noChangeArrowheads="1"/>
            </p:cNvSpPr>
            <p:nvPr/>
          </p:nvSpPr>
          <p:spPr bwMode="auto">
            <a:xfrm>
              <a:off x="1505" y="1816"/>
              <a:ext cx="1535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设产品寿命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2005" name="Rectangle 5"/>
          <p:cNvSpPr>
            <a:spLocks noChangeArrowheads="1"/>
          </p:cNvSpPr>
          <p:nvPr/>
        </p:nvSpPr>
        <p:spPr bwMode="auto">
          <a:xfrm>
            <a:off x="1465263" y="3313113"/>
            <a:ext cx="7754937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故认为新工艺能提高产品质量的看法是有依据的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2006" name="Group 6"/>
          <p:cNvGrpSpPr/>
          <p:nvPr/>
        </p:nvGrpSpPr>
        <p:grpSpPr bwMode="auto">
          <a:xfrm>
            <a:off x="5710238" y="2886075"/>
            <a:ext cx="2570162" cy="604838"/>
            <a:chOff x="3845" y="2026"/>
            <a:chExt cx="1619" cy="381"/>
          </a:xfrm>
        </p:grpSpPr>
        <p:sp>
          <p:nvSpPr>
            <p:cNvPr id="512007" name="Rectangle 7"/>
            <p:cNvSpPr>
              <a:spLocks noChangeArrowheads="1"/>
            </p:cNvSpPr>
            <p:nvPr/>
          </p:nvSpPr>
          <p:spPr bwMode="auto">
            <a:xfrm>
              <a:off x="4480" y="2026"/>
              <a:ext cx="984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小时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2008" name="Object 8"/>
            <p:cNvGraphicFramePr>
              <a:graphicFrameLocks noChangeAspect="1"/>
            </p:cNvGraphicFramePr>
            <p:nvPr/>
          </p:nvGraphicFramePr>
          <p:xfrm>
            <a:off x="3845" y="2133"/>
            <a:ext cx="707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61" name="Equation" r:id="rId3" imgW="9753600" imgH="3657600" progId="Equation.DSMT4">
                    <p:embed/>
                  </p:oleObj>
                </mc:Choice>
                <mc:Fallback>
                  <p:oleObj name="Equation" r:id="rId3" imgW="9753600" imgH="3657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5" y="2133"/>
                          <a:ext cx="707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2009" name="Group 9"/>
          <p:cNvGrpSpPr/>
          <p:nvPr/>
        </p:nvGrpSpPr>
        <p:grpSpPr bwMode="auto">
          <a:xfrm>
            <a:off x="1554163" y="2900363"/>
            <a:ext cx="4224338" cy="615950"/>
            <a:chOff x="1475" y="2043"/>
            <a:chExt cx="2661" cy="388"/>
          </a:xfrm>
        </p:grpSpPr>
        <p:graphicFrame>
          <p:nvGraphicFramePr>
            <p:cNvPr id="512010" name="Object 10"/>
            <p:cNvGraphicFramePr>
              <a:graphicFrameLocks noChangeAspect="1"/>
            </p:cNvGraphicFramePr>
            <p:nvPr/>
          </p:nvGraphicFramePr>
          <p:xfrm>
            <a:off x="2856" y="2113"/>
            <a:ext cx="128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62" name="Equation" r:id="rId5" imgW="17678400" imgH="4572000" progId="Equation.DSMT4">
                    <p:embed/>
                  </p:oleObj>
                </mc:Choice>
                <mc:Fallback>
                  <p:oleObj name="Equation" r:id="rId5" imgW="17678400" imgH="45720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6" y="2113"/>
                          <a:ext cx="1280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011" name="Rectangle 11"/>
            <p:cNvSpPr>
              <a:spLocks noChangeArrowheads="1"/>
            </p:cNvSpPr>
            <p:nvPr/>
          </p:nvSpPr>
          <p:spPr bwMode="auto">
            <a:xfrm>
              <a:off x="1646" y="2043"/>
              <a:ext cx="1410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的点估计值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2012" name="Object 12"/>
            <p:cNvGraphicFramePr>
              <a:graphicFrameLocks noChangeAspect="1"/>
            </p:cNvGraphicFramePr>
            <p:nvPr/>
          </p:nvGraphicFramePr>
          <p:xfrm>
            <a:off x="1475" y="2161"/>
            <a:ext cx="24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63" name="Equation" r:id="rId7" imgW="3352800" imgH="3657600" progId="Equation.DSMT4">
                    <p:embed/>
                  </p:oleObj>
                </mc:Choice>
                <mc:Fallback>
                  <p:oleObj name="Equation" r:id="rId7" imgW="3352800" imgH="36576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" y="2161"/>
                          <a:ext cx="24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019" name="WordArt 19"/>
          <p:cNvSpPr>
            <a:spLocks noChangeArrowheads="1" noChangeShapeType="1" noTextEdit="1"/>
          </p:cNvSpPr>
          <p:nvPr/>
        </p:nvSpPr>
        <p:spPr bwMode="auto">
          <a:xfrm>
            <a:off x="704850" y="2686050"/>
            <a:ext cx="722313" cy="2905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sp>
        <p:nvSpPr>
          <p:cNvPr id="512021" name="Rectangle 21"/>
          <p:cNvSpPr>
            <a:spLocks noChangeArrowheads="1"/>
          </p:cNvSpPr>
          <p:nvPr/>
        </p:nvSpPr>
        <p:spPr bwMode="auto">
          <a:xfrm>
            <a:off x="1231900" y="500063"/>
            <a:ext cx="7912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某工厂生产的一种产品平均寿命为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2000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小时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生产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2025" name="WordArt 25"/>
          <p:cNvSpPr>
            <a:spLocks noChangeArrowheads="1" noChangeShapeType="1" noTextEdit="1"/>
          </p:cNvSpPr>
          <p:nvPr/>
        </p:nvSpPr>
        <p:spPr bwMode="auto">
          <a:xfrm>
            <a:off x="703263" y="644525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12030" name="Rectangle 30"/>
          <p:cNvSpPr>
            <a:spLocks noChangeArrowheads="1"/>
          </p:cNvSpPr>
          <p:nvPr/>
        </p:nvSpPr>
        <p:spPr bwMode="auto">
          <a:xfrm>
            <a:off x="590550" y="4670425"/>
            <a:ext cx="238442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提出假设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12031" name="Object 31"/>
          <p:cNvGraphicFramePr>
            <a:graphicFrameLocks noChangeAspect="1"/>
          </p:cNvGraphicFramePr>
          <p:nvPr/>
        </p:nvGraphicFramePr>
        <p:xfrm>
          <a:off x="2533650" y="5186363"/>
          <a:ext cx="412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64" name="Equation" r:id="rId9" imgW="39624000" imgH="4572000" progId="Equation.DSMT4">
                  <p:embed/>
                </p:oleObj>
              </mc:Choice>
              <mc:Fallback>
                <p:oleObj name="Equation" r:id="rId9" imgW="39624000" imgH="45720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5186363"/>
                        <a:ext cx="4127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032" name="Group 32"/>
          <p:cNvGrpSpPr/>
          <p:nvPr/>
        </p:nvGrpSpPr>
        <p:grpSpPr bwMode="auto">
          <a:xfrm>
            <a:off x="2105025" y="5524500"/>
            <a:ext cx="6678613" cy="604838"/>
            <a:chOff x="1377" y="3306"/>
            <a:chExt cx="4207" cy="381"/>
          </a:xfrm>
        </p:grpSpPr>
        <p:sp>
          <p:nvSpPr>
            <p:cNvPr id="512033" name="Rectangle 33"/>
            <p:cNvSpPr>
              <a:spLocks noChangeArrowheads="1"/>
            </p:cNvSpPr>
            <p:nvPr/>
          </p:nvSpPr>
          <p:spPr bwMode="auto">
            <a:xfrm>
              <a:off x="1377" y="3306"/>
              <a:ext cx="420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拒绝</a:t>
              </a: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，</a:t>
              </a: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即认为产品寿命有显著提高</a:t>
              </a:r>
              <a:endPara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graphicFrame>
          <p:nvGraphicFramePr>
            <p:cNvPr id="512034" name="Object 34"/>
            <p:cNvGraphicFramePr>
              <a:graphicFrameLocks noChangeAspect="1"/>
            </p:cNvGraphicFramePr>
            <p:nvPr/>
          </p:nvGraphicFramePr>
          <p:xfrm>
            <a:off x="1931" y="3402"/>
            <a:ext cx="32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65" name="Equation" r:id="rId11" imgW="4876800" imgH="4267200" progId="Equation.DSMT4">
                    <p:embed/>
                  </p:oleObj>
                </mc:Choice>
                <mc:Fallback>
                  <p:oleObj name="Equation" r:id="rId11" imgW="4876800" imgH="426720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1" y="3402"/>
                          <a:ext cx="32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2035" name="Group 35"/>
          <p:cNvGrpSpPr/>
          <p:nvPr/>
        </p:nvGrpSpPr>
        <p:grpSpPr bwMode="auto">
          <a:xfrm>
            <a:off x="2105025" y="5989643"/>
            <a:ext cx="6773863" cy="604838"/>
            <a:chOff x="1385" y="3615"/>
            <a:chExt cx="4267" cy="381"/>
          </a:xfrm>
        </p:grpSpPr>
        <p:sp>
          <p:nvSpPr>
            <p:cNvPr id="512036" name="Rectangle 36"/>
            <p:cNvSpPr>
              <a:spLocks noChangeArrowheads="1"/>
            </p:cNvSpPr>
            <p:nvPr/>
          </p:nvSpPr>
          <p:spPr bwMode="auto">
            <a:xfrm>
              <a:off x="1385" y="3615"/>
              <a:ext cx="426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接受</a:t>
              </a: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，</a:t>
              </a: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即认为产品寿命没有显著提高</a:t>
              </a:r>
              <a:endPara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graphicFrame>
          <p:nvGraphicFramePr>
            <p:cNvPr id="512037" name="Object 37"/>
            <p:cNvGraphicFramePr>
              <a:graphicFrameLocks noChangeAspect="1"/>
            </p:cNvGraphicFramePr>
            <p:nvPr/>
          </p:nvGraphicFramePr>
          <p:xfrm>
            <a:off x="1924" y="3696"/>
            <a:ext cx="32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66" name="Equation" r:id="rId13" imgW="4876800" imgH="4267200" progId="Equation.DSMT4">
                    <p:embed/>
                  </p:oleObj>
                </mc:Choice>
                <mc:Fallback>
                  <p:oleObj name="Equation" r:id="rId13" imgW="4876800" imgH="42672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4" y="3696"/>
                          <a:ext cx="32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038" name="AutoShape 38"/>
          <p:cNvSpPr/>
          <p:nvPr/>
        </p:nvSpPr>
        <p:spPr bwMode="auto">
          <a:xfrm>
            <a:off x="1992313" y="5765800"/>
            <a:ext cx="125412" cy="673100"/>
          </a:xfrm>
          <a:prstGeom prst="leftBrace">
            <a:avLst>
              <a:gd name="adj1" fmla="val 44726"/>
              <a:gd name="adj2" fmla="val 50000"/>
            </a:avLst>
          </a:prstGeom>
          <a:noFill/>
          <a:ln w="19050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12039" name="WordArt 39"/>
          <p:cNvSpPr>
            <a:spLocks noChangeArrowheads="1" noChangeShapeType="1" noTextEdit="1"/>
          </p:cNvSpPr>
          <p:nvPr/>
        </p:nvSpPr>
        <p:spPr bwMode="auto">
          <a:xfrm>
            <a:off x="500856" y="5909482"/>
            <a:ext cx="1381919" cy="33733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作出判断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2048" name="Group 48"/>
          <p:cNvGrpSpPr/>
          <p:nvPr/>
        </p:nvGrpSpPr>
        <p:grpSpPr bwMode="auto">
          <a:xfrm>
            <a:off x="368300" y="4025900"/>
            <a:ext cx="1114425" cy="258763"/>
            <a:chOff x="232" y="2240"/>
            <a:chExt cx="702" cy="163"/>
          </a:xfrm>
        </p:grpSpPr>
        <p:sp>
          <p:nvSpPr>
            <p:cNvPr id="512041" name="Oval 41"/>
            <p:cNvSpPr>
              <a:spLocks noChangeArrowheads="1"/>
            </p:cNvSpPr>
            <p:nvPr/>
          </p:nvSpPr>
          <p:spPr bwMode="auto">
            <a:xfrm>
              <a:off x="232" y="2240"/>
              <a:ext cx="167" cy="160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3175" algn="ctr">
              <a:solidFill>
                <a:schemeClr val="hlink"/>
              </a:solidFill>
              <a:round/>
            </a:ln>
            <a:effectLst>
              <a:outerShdw sy="50000" kx="-2453608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42" name="WordArt 42"/>
            <p:cNvSpPr>
              <a:spLocks noChangeArrowheads="1" noChangeShapeType="1" noTextEdit="1"/>
            </p:cNvSpPr>
            <p:nvPr/>
          </p:nvSpPr>
          <p:spPr bwMode="auto">
            <a:xfrm>
              <a:off x="476" y="2244"/>
              <a:ext cx="458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sy="50000" kx="-2453608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问题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sy="50000" kx="-2453608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512045" name="Rectangle 45"/>
          <p:cNvSpPr>
            <a:spLocks noChangeArrowheads="1"/>
          </p:cNvSpPr>
          <p:nvPr/>
        </p:nvSpPr>
        <p:spPr bwMode="auto">
          <a:xfrm>
            <a:off x="-63500" y="909638"/>
            <a:ext cx="947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车间采用一种新工艺后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认为产品寿命有了显著提高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.</a:t>
            </a:r>
            <a:r>
              <a:rPr lang="en-US" altLang="zh-CN" sz="9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现从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2046" name="Rectangle 46"/>
          <p:cNvSpPr>
            <a:spLocks noChangeArrowheads="1"/>
          </p:cNvSpPr>
          <p:nvPr/>
        </p:nvSpPr>
        <p:spPr bwMode="auto">
          <a:xfrm>
            <a:off x="-76200" y="1328738"/>
            <a:ext cx="9410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采用新工艺生产的产品中随机抽检了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25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件产品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试验后算得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2047" name="Rectangle 47"/>
          <p:cNvSpPr>
            <a:spLocks noChangeArrowheads="1"/>
          </p:cNvSpPr>
          <p:nvPr/>
        </p:nvSpPr>
        <p:spPr bwMode="auto">
          <a:xfrm>
            <a:off x="-63500" y="1735138"/>
            <a:ext cx="942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寿命平均值为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2085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小时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.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问能否认为新工艺能显著提高产品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2056" name="Group 56"/>
          <p:cNvGrpSpPr/>
          <p:nvPr/>
        </p:nvGrpSpPr>
        <p:grpSpPr bwMode="auto">
          <a:xfrm>
            <a:off x="1582737" y="3877977"/>
            <a:ext cx="6564975" cy="479425"/>
            <a:chOff x="1085" y="2199"/>
            <a:chExt cx="3503" cy="218"/>
          </a:xfrm>
        </p:grpSpPr>
        <p:sp>
          <p:nvSpPr>
            <p:cNvPr id="512049" name="WordArt 49"/>
            <p:cNvSpPr>
              <a:spLocks noChangeArrowheads="1" noChangeShapeType="1" noTextEdit="1"/>
            </p:cNvSpPr>
            <p:nvPr/>
          </p:nvSpPr>
          <p:spPr bwMode="auto">
            <a:xfrm>
              <a:off x="1085" y="2218"/>
              <a:ext cx="3503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点估计      是随机变量，取值具有波动性</a:t>
              </a:r>
              <a:endPara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2055" name="Group 55"/>
            <p:cNvGrpSpPr/>
            <p:nvPr/>
          </p:nvGrpSpPr>
          <p:grpSpPr bwMode="auto">
            <a:xfrm>
              <a:off x="1638" y="2199"/>
              <a:ext cx="532" cy="218"/>
              <a:chOff x="1590" y="2183"/>
              <a:chExt cx="532" cy="234"/>
            </a:xfrm>
          </p:grpSpPr>
          <p:sp>
            <p:nvSpPr>
              <p:cNvPr id="512050" name="WordArt 5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90" y="2245"/>
                <a:ext cx="131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 dirty="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Symbol" panose="05050102010706020507"/>
                  </a:rPr>
                  <a:t>m</a:t>
                </a:r>
                <a:endParaRPr lang="zh-CN" altLang="en-US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endParaRPr>
              </a:p>
            </p:txBody>
          </p:sp>
          <p:sp>
            <p:nvSpPr>
              <p:cNvPr id="512051" name="WordArt 51"/>
              <p:cNvSpPr>
                <a:spLocks noChangeArrowheads="1" noChangeShapeType="1" noTextEdit="1"/>
              </p:cNvSpPr>
              <p:nvPr/>
            </p:nvSpPr>
            <p:spPr bwMode="auto">
              <a:xfrm rot="16200000">
                <a:off x="1662" y="2163"/>
                <a:ext cx="34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b="1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＞</a:t>
                </a:r>
                <a:endPara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2052" name="WordArt 5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79" y="2286"/>
                <a:ext cx="131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Symbol" panose="05050102010706020507"/>
                  </a:rPr>
                  <a:t>=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endParaRPr>
              </a:p>
            </p:txBody>
          </p:sp>
          <p:sp>
            <p:nvSpPr>
              <p:cNvPr id="512053" name="WordArt 5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63" y="2242"/>
                <a:ext cx="146" cy="14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X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2054" name="WordArt 5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91" y="2206"/>
                <a:ext cx="131" cy="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Symbol" panose="05050102010706020507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endParaRPr>
              </a:p>
            </p:txBody>
          </p:sp>
        </p:grpSp>
      </p:grpSp>
      <p:grpSp>
        <p:nvGrpSpPr>
          <p:cNvPr id="512066" name="Group 66"/>
          <p:cNvGrpSpPr/>
          <p:nvPr/>
        </p:nvGrpSpPr>
        <p:grpSpPr bwMode="auto">
          <a:xfrm>
            <a:off x="1597025" y="4430713"/>
            <a:ext cx="7281863" cy="366439"/>
            <a:chOff x="1014" y="2535"/>
            <a:chExt cx="4295" cy="196"/>
          </a:xfrm>
        </p:grpSpPr>
        <p:sp>
          <p:nvSpPr>
            <p:cNvPr id="512058" name="WordArt 58"/>
            <p:cNvSpPr>
              <a:spLocks noChangeArrowheads="1" noChangeShapeType="1" noTextEdit="1"/>
            </p:cNvSpPr>
            <p:nvPr/>
          </p:nvSpPr>
          <p:spPr bwMode="auto">
            <a:xfrm>
              <a:off x="1014" y="2535"/>
              <a:ext cx="4295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故尽管               但产品质量可能并无显著提高</a:t>
              </a:r>
              <a:endPara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2065" name="Group 65"/>
            <p:cNvGrpSpPr/>
            <p:nvPr/>
          </p:nvGrpSpPr>
          <p:grpSpPr bwMode="auto">
            <a:xfrm>
              <a:off x="1596" y="2549"/>
              <a:ext cx="1283" cy="167"/>
              <a:chOff x="1500" y="2565"/>
              <a:chExt cx="1283" cy="167"/>
            </a:xfrm>
          </p:grpSpPr>
          <p:sp>
            <p:nvSpPr>
              <p:cNvPr id="512062" name="WordArt 6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684" y="2576"/>
                <a:ext cx="1099" cy="1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Symbol" panose="05050102010706020507"/>
                  </a:rPr>
                  <a:t>= 2085 &gt; 2000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endParaRPr>
              </a:p>
            </p:txBody>
          </p:sp>
          <p:sp>
            <p:nvSpPr>
              <p:cNvPr id="512063" name="WordArt 6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00" y="2607"/>
                <a:ext cx="138" cy="12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x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2064" name="WordArt 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20" y="2565"/>
                <a:ext cx="131" cy="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Symbol" panose="05050102010706020507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endParaRPr>
              </a:p>
            </p:txBody>
          </p:sp>
        </p:grpSp>
      </p:grpSp>
      <p:sp>
        <p:nvSpPr>
          <p:cNvPr id="512067" name="Rectangle 67"/>
          <p:cNvSpPr>
            <a:spLocks noChangeArrowheads="1"/>
          </p:cNvSpPr>
          <p:nvPr/>
        </p:nvSpPr>
        <p:spPr bwMode="auto">
          <a:xfrm>
            <a:off x="-50800" y="2130425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质量？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1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1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2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1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1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1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12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12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1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1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1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2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2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12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2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1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12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12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1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1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5" grpId="0"/>
      <p:bldP spid="512019" grpId="0" animBg="1"/>
      <p:bldP spid="512021" grpId="0"/>
      <p:bldP spid="512025" grpId="0"/>
      <p:bldP spid="512030" grpId="0"/>
      <p:bldP spid="512038" grpId="0" animBg="1"/>
      <p:bldP spid="512039" grpId="0" animBg="1"/>
      <p:bldP spid="512045" grpId="0"/>
      <p:bldP spid="512046" grpId="0"/>
      <p:bldP spid="512047" grpId="0"/>
      <p:bldP spid="5120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9" name="Rectangle 5"/>
          <p:cNvSpPr>
            <a:spLocks noChangeArrowheads="1"/>
          </p:cNvSpPr>
          <p:nvPr/>
        </p:nvSpPr>
        <p:spPr bwMode="auto">
          <a:xfrm>
            <a:off x="593725" y="4394200"/>
            <a:ext cx="238442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提出假设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3031" name="Group 7"/>
          <p:cNvGrpSpPr/>
          <p:nvPr/>
        </p:nvGrpSpPr>
        <p:grpSpPr bwMode="auto">
          <a:xfrm>
            <a:off x="2325688" y="5172075"/>
            <a:ext cx="5421312" cy="604838"/>
            <a:chOff x="1617" y="3434"/>
            <a:chExt cx="3415" cy="381"/>
          </a:xfrm>
        </p:grpSpPr>
        <p:sp>
          <p:nvSpPr>
            <p:cNvPr id="513032" name="Rectangle 8"/>
            <p:cNvSpPr>
              <a:spLocks noChangeArrowheads="1"/>
            </p:cNvSpPr>
            <p:nvPr/>
          </p:nvSpPr>
          <p:spPr bwMode="auto">
            <a:xfrm>
              <a:off x="1617" y="3434"/>
              <a:ext cx="3415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拒绝</a:t>
              </a: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</a:t>
              </a: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即认为机器不正常</a:t>
              </a:r>
              <a:endPara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graphicFrame>
          <p:nvGraphicFramePr>
            <p:cNvPr id="513033" name="Object 9"/>
            <p:cNvGraphicFramePr>
              <a:graphicFrameLocks noChangeAspect="1"/>
            </p:cNvGraphicFramePr>
            <p:nvPr/>
          </p:nvGraphicFramePr>
          <p:xfrm>
            <a:off x="2149" y="3521"/>
            <a:ext cx="38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71" name="Equation" r:id="rId1" imgW="317500" imgH="241300" progId="Equation.DSMT4">
                    <p:embed/>
                  </p:oleObj>
                </mc:Choice>
                <mc:Fallback>
                  <p:oleObj name="Equation" r:id="rId1" imgW="317500" imgH="2413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" y="3521"/>
                          <a:ext cx="38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034" name="Group 10"/>
          <p:cNvGrpSpPr/>
          <p:nvPr/>
        </p:nvGrpSpPr>
        <p:grpSpPr bwMode="auto">
          <a:xfrm>
            <a:off x="2338388" y="5611813"/>
            <a:ext cx="5421312" cy="604837"/>
            <a:chOff x="1617" y="3759"/>
            <a:chExt cx="3415" cy="381"/>
          </a:xfrm>
        </p:grpSpPr>
        <p:sp>
          <p:nvSpPr>
            <p:cNvPr id="513035" name="Rectangle 11"/>
            <p:cNvSpPr>
              <a:spLocks noChangeArrowheads="1"/>
            </p:cNvSpPr>
            <p:nvPr/>
          </p:nvSpPr>
          <p:spPr bwMode="auto">
            <a:xfrm>
              <a:off x="1617" y="3759"/>
              <a:ext cx="3415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接受</a:t>
              </a: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</a:t>
              </a: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即认为机器正常</a:t>
              </a:r>
              <a:endPara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graphicFrame>
          <p:nvGraphicFramePr>
            <p:cNvPr id="513036" name="Object 12"/>
            <p:cNvGraphicFramePr>
              <a:graphicFrameLocks noChangeAspect="1"/>
            </p:cNvGraphicFramePr>
            <p:nvPr/>
          </p:nvGraphicFramePr>
          <p:xfrm>
            <a:off x="2142" y="3843"/>
            <a:ext cx="38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72" name="Equation" r:id="rId3" imgW="317500" imgH="241300" progId="Equation.DSMT4">
                    <p:embed/>
                  </p:oleObj>
                </mc:Choice>
                <mc:Fallback>
                  <p:oleObj name="Equation" r:id="rId3" imgW="317500" imgH="2413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2" y="3843"/>
                          <a:ext cx="38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045" name="WordArt 21"/>
          <p:cNvSpPr>
            <a:spLocks noChangeArrowheads="1" noChangeShapeType="1" noTextEdit="1"/>
          </p:cNvSpPr>
          <p:nvPr/>
        </p:nvSpPr>
        <p:spPr bwMode="auto">
          <a:xfrm>
            <a:off x="749300" y="2957513"/>
            <a:ext cx="671513" cy="290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sp>
        <p:nvSpPr>
          <p:cNvPr id="513047" name="Rectangle 23"/>
          <p:cNvSpPr>
            <a:spLocks noChangeArrowheads="1"/>
          </p:cNvSpPr>
          <p:nvPr/>
        </p:nvSpPr>
        <p:spPr bwMode="auto">
          <a:xfrm>
            <a:off x="1371600" y="538163"/>
            <a:ext cx="8039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某车间用一台自动包装机装化肥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每袋的标称重量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3052" name="WordArt 28"/>
          <p:cNvSpPr>
            <a:spLocks noChangeArrowheads="1" noChangeShapeType="1" noTextEdit="1"/>
          </p:cNvSpPr>
          <p:nvPr/>
        </p:nvSpPr>
        <p:spPr bwMode="auto">
          <a:xfrm>
            <a:off x="771525" y="641350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513057" name="Group 33"/>
          <p:cNvGrpSpPr/>
          <p:nvPr/>
        </p:nvGrpSpPr>
        <p:grpSpPr bwMode="auto">
          <a:xfrm>
            <a:off x="682625" y="4186238"/>
            <a:ext cx="763588" cy="400050"/>
            <a:chOff x="581" y="1694"/>
            <a:chExt cx="481" cy="252"/>
          </a:xfrm>
        </p:grpSpPr>
        <p:pic>
          <p:nvPicPr>
            <p:cNvPr id="513058" name="Picture 34" descr="4"/>
            <p:cNvPicPr>
              <a:picLocks noChangeAspect="1" noChangeArrowheads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" y="1715"/>
              <a:ext cx="366" cy="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3059" name="WordArt 35"/>
            <p:cNvSpPr>
              <a:spLocks noChangeArrowheads="1" noChangeShapeType="1" noTextEdit="1"/>
            </p:cNvSpPr>
            <p:nvPr/>
          </p:nvSpPr>
          <p:spPr bwMode="auto">
            <a:xfrm>
              <a:off x="808" y="1694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513061" name="WordArt 37"/>
          <p:cNvSpPr>
            <a:spLocks noChangeArrowheads="1" noChangeShapeType="1" noTextEdit="1"/>
          </p:cNvSpPr>
          <p:nvPr/>
        </p:nvSpPr>
        <p:spPr bwMode="auto">
          <a:xfrm>
            <a:off x="717550" y="5570538"/>
            <a:ext cx="130492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作出判断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3062" name="AutoShape 38"/>
          <p:cNvSpPr/>
          <p:nvPr/>
        </p:nvSpPr>
        <p:spPr bwMode="auto">
          <a:xfrm>
            <a:off x="2157413" y="5397500"/>
            <a:ext cx="125412" cy="673100"/>
          </a:xfrm>
          <a:prstGeom prst="leftBrace">
            <a:avLst>
              <a:gd name="adj1" fmla="val 44726"/>
              <a:gd name="adj2" fmla="val 50000"/>
            </a:avLst>
          </a:prstGeom>
          <a:noFill/>
          <a:ln w="19050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3126" name="Group 102"/>
          <p:cNvGrpSpPr/>
          <p:nvPr/>
        </p:nvGrpSpPr>
        <p:grpSpPr bwMode="auto">
          <a:xfrm>
            <a:off x="-25400" y="935038"/>
            <a:ext cx="9296400" cy="525463"/>
            <a:chOff x="0" y="589"/>
            <a:chExt cx="5856" cy="331"/>
          </a:xfrm>
        </p:grpSpPr>
        <p:sp>
          <p:nvSpPr>
            <p:cNvPr id="513120" name="Rectangle 96"/>
            <p:cNvSpPr>
              <a:spLocks noChangeArrowheads="1"/>
            </p:cNvSpPr>
            <p:nvPr/>
          </p:nvSpPr>
          <p:spPr bwMode="auto">
            <a:xfrm>
              <a:off x="0" y="589"/>
              <a:ext cx="585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规定为     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某日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开工后为了检查包装机是否正常</a:t>
              </a:r>
              <a:r>
                <a:rPr lang="en-US" altLang="zh-CN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随机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抽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21" name="Object 97"/>
            <p:cNvGraphicFramePr>
              <a:graphicFrameLocks noChangeAspect="1"/>
            </p:cNvGraphicFramePr>
            <p:nvPr/>
          </p:nvGraphicFramePr>
          <p:xfrm>
            <a:off x="704" y="624"/>
            <a:ext cx="59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73" name="Equation" r:id="rId6" imgW="8229600" imgH="4267200" progId="Equation.DSMT4">
                    <p:embed/>
                  </p:oleObj>
                </mc:Choice>
                <mc:Fallback>
                  <p:oleObj name="Equation" r:id="rId6" imgW="8229600" imgH="4267200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624"/>
                          <a:ext cx="59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25" name="Group 101"/>
          <p:cNvGrpSpPr/>
          <p:nvPr/>
        </p:nvGrpSpPr>
        <p:grpSpPr bwMode="auto">
          <a:xfrm>
            <a:off x="-38100" y="1317625"/>
            <a:ext cx="5392738" cy="519113"/>
            <a:chOff x="0" y="870"/>
            <a:chExt cx="3397" cy="327"/>
          </a:xfrm>
        </p:grpSpPr>
        <p:sp>
          <p:nvSpPr>
            <p:cNvPr id="513122" name="Rectangle 98"/>
            <p:cNvSpPr>
              <a:spLocks noChangeArrowheads="1"/>
            </p:cNvSpPr>
            <p:nvPr/>
          </p:nvSpPr>
          <p:spPr bwMode="auto">
            <a:xfrm>
              <a:off x="0" y="870"/>
              <a:ext cx="2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检了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9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袋产品，测得净重如下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23" name="Object 99"/>
            <p:cNvGraphicFramePr>
              <a:graphicFrameLocks noChangeAspect="1"/>
            </p:cNvGraphicFramePr>
            <p:nvPr/>
          </p:nvGraphicFramePr>
          <p:xfrm>
            <a:off x="2866" y="879"/>
            <a:ext cx="53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74" name="公式" r:id="rId8" imgW="406400" imgH="254000" progId="Equation.3">
                    <p:embed/>
                  </p:oleObj>
                </mc:Choice>
                <mc:Fallback>
                  <p:oleObj name="公式" r:id="rId8" imgW="406400" imgH="254000" progId="Equation.3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6" y="879"/>
                          <a:ext cx="53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32" name="Group 108"/>
          <p:cNvGrpSpPr/>
          <p:nvPr/>
        </p:nvGrpSpPr>
        <p:grpSpPr bwMode="auto">
          <a:xfrm>
            <a:off x="1576388" y="2776538"/>
            <a:ext cx="6430962" cy="604837"/>
            <a:chOff x="993" y="1829"/>
            <a:chExt cx="4051" cy="381"/>
          </a:xfrm>
        </p:grpSpPr>
        <p:sp>
          <p:nvSpPr>
            <p:cNvPr id="513028" name="Rectangle 4"/>
            <p:cNvSpPr>
              <a:spLocks noChangeArrowheads="1"/>
            </p:cNvSpPr>
            <p:nvPr/>
          </p:nvSpPr>
          <p:spPr bwMode="auto">
            <a:xfrm>
              <a:off x="993" y="1829"/>
              <a:ext cx="2131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设每袋化肥重量为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27" name="Object 103"/>
            <p:cNvGraphicFramePr>
              <a:graphicFrameLocks noChangeAspect="1"/>
            </p:cNvGraphicFramePr>
            <p:nvPr/>
          </p:nvGraphicFramePr>
          <p:xfrm>
            <a:off x="2855" y="1881"/>
            <a:ext cx="218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75" name="公式" r:id="rId10" imgW="1790700" imgH="254000" progId="Equation.3">
                    <p:embed/>
                  </p:oleObj>
                </mc:Choice>
                <mc:Fallback>
                  <p:oleObj name="公式" r:id="rId10" imgW="1790700" imgH="254000" progId="Equation.3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5" y="1881"/>
                          <a:ext cx="2189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129" name="Rectangle 105"/>
          <p:cNvSpPr>
            <a:spLocks noChangeArrowheads="1"/>
          </p:cNvSpPr>
          <p:nvPr/>
        </p:nvSpPr>
        <p:spPr bwMode="auto">
          <a:xfrm>
            <a:off x="-49213" y="2427288"/>
            <a:ext cx="5575301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试问该日包装机工作是否正常？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3131" name="Group 107"/>
          <p:cNvGrpSpPr/>
          <p:nvPr/>
        </p:nvGrpSpPr>
        <p:grpSpPr bwMode="auto">
          <a:xfrm>
            <a:off x="-38100" y="2032002"/>
            <a:ext cx="9182100" cy="550863"/>
            <a:chOff x="-24" y="1336"/>
            <a:chExt cx="5784" cy="347"/>
          </a:xfrm>
        </p:grpSpPr>
        <p:sp>
          <p:nvSpPr>
            <p:cNvPr id="513051" name="Rectangle 27"/>
            <p:cNvSpPr>
              <a:spLocks noChangeArrowheads="1"/>
            </p:cNvSpPr>
            <p:nvPr/>
          </p:nvSpPr>
          <p:spPr bwMode="auto">
            <a:xfrm>
              <a:off x="-24" y="1336"/>
              <a:ext cx="57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设每袋化肥的实际重量服从正态分布，其标准差为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30" name="Object 106"/>
            <p:cNvGraphicFramePr>
              <a:graphicFrameLocks noChangeAspect="1"/>
            </p:cNvGraphicFramePr>
            <p:nvPr/>
          </p:nvGraphicFramePr>
          <p:xfrm>
            <a:off x="4964" y="1387"/>
            <a:ext cx="75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76" name="Equation" r:id="rId12" imgW="10363200" imgH="4267200" progId="Equation.DSMT4">
                    <p:embed/>
                  </p:oleObj>
                </mc:Choice>
                <mc:Fallback>
                  <p:oleObj name="Equation" r:id="rId12" imgW="10363200" imgH="4267200" progId="Equation.DSMT4">
                    <p:embed/>
                    <p:pic>
                      <p:nvPicPr>
                        <p:cNvPr id="0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4" y="1387"/>
                          <a:ext cx="75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34" name="Group 110"/>
          <p:cNvGrpSpPr/>
          <p:nvPr/>
        </p:nvGrpSpPr>
        <p:grpSpPr bwMode="auto">
          <a:xfrm>
            <a:off x="1565275" y="3205163"/>
            <a:ext cx="6118225" cy="604837"/>
            <a:chOff x="986" y="2075"/>
            <a:chExt cx="3854" cy="381"/>
          </a:xfrm>
        </p:grpSpPr>
        <p:sp>
          <p:nvSpPr>
            <p:cNvPr id="513055" name="Rectangle 31"/>
            <p:cNvSpPr>
              <a:spLocks noChangeArrowheads="1"/>
            </p:cNvSpPr>
            <p:nvPr/>
          </p:nvSpPr>
          <p:spPr bwMode="auto">
            <a:xfrm>
              <a:off x="986" y="2075"/>
              <a:ext cx="3854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    则机器正常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否则不正常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33" name="Object 109"/>
            <p:cNvGraphicFramePr>
              <a:graphicFrameLocks noChangeAspect="1"/>
            </p:cNvGraphicFramePr>
            <p:nvPr/>
          </p:nvGraphicFramePr>
          <p:xfrm>
            <a:off x="1270" y="2140"/>
            <a:ext cx="68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77" name="Equation" r:id="rId14" imgW="9448800" imgH="4267200" progId="Equation.DSMT4">
                    <p:embed/>
                  </p:oleObj>
                </mc:Choice>
                <mc:Fallback>
                  <p:oleObj name="Equation" r:id="rId14" imgW="9448800" imgH="4267200" progId="Equation.DSMT4">
                    <p:embed/>
                    <p:pic>
                      <p:nvPicPr>
                        <p:cNvPr id="0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0" y="2140"/>
                          <a:ext cx="68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36" name="Group 112"/>
          <p:cNvGrpSpPr/>
          <p:nvPr/>
        </p:nvGrpSpPr>
        <p:grpSpPr bwMode="auto">
          <a:xfrm>
            <a:off x="1657350" y="3625850"/>
            <a:ext cx="5105400" cy="604838"/>
            <a:chOff x="1012" y="2372"/>
            <a:chExt cx="3216" cy="381"/>
          </a:xfrm>
        </p:grpSpPr>
        <p:sp>
          <p:nvSpPr>
            <p:cNvPr id="513040" name="Rectangle 16"/>
            <p:cNvSpPr>
              <a:spLocks noChangeArrowheads="1"/>
            </p:cNvSpPr>
            <p:nvPr/>
          </p:nvSpPr>
          <p:spPr bwMode="auto">
            <a:xfrm>
              <a:off x="1199" y="2372"/>
              <a:ext cx="1593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的点估计值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041" name="Object 17"/>
            <p:cNvGraphicFramePr>
              <a:graphicFrameLocks noChangeAspect="1"/>
            </p:cNvGraphicFramePr>
            <p:nvPr/>
          </p:nvGraphicFramePr>
          <p:xfrm>
            <a:off x="1012" y="2463"/>
            <a:ext cx="24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78" name="Equation" r:id="rId16" imgW="3352800" imgH="3657600" progId="Equation.DSMT4">
                    <p:embed/>
                  </p:oleObj>
                </mc:Choice>
                <mc:Fallback>
                  <p:oleObj name="Equation" r:id="rId16" imgW="3352800" imgH="36576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2463"/>
                          <a:ext cx="24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35" name="Object 111"/>
            <p:cNvGraphicFramePr>
              <a:graphicFrameLocks noChangeAspect="1"/>
            </p:cNvGraphicFramePr>
            <p:nvPr/>
          </p:nvGraphicFramePr>
          <p:xfrm>
            <a:off x="2438" y="2417"/>
            <a:ext cx="179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79" name="Equation" r:id="rId18" imgW="24688800" imgH="4572000" progId="Equation.DSMT4">
                    <p:embed/>
                  </p:oleObj>
                </mc:Choice>
                <mc:Fallback>
                  <p:oleObj name="Equation" r:id="rId18" imgW="24688800" imgH="4572000" progId="Equation.DSMT4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" y="2417"/>
                          <a:ext cx="1790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46" name="Group 122"/>
          <p:cNvGrpSpPr/>
          <p:nvPr/>
        </p:nvGrpSpPr>
        <p:grpSpPr bwMode="auto">
          <a:xfrm>
            <a:off x="1655763" y="4192588"/>
            <a:ext cx="6091237" cy="285750"/>
            <a:chOff x="1515" y="2753"/>
            <a:chExt cx="3837" cy="180"/>
          </a:xfrm>
        </p:grpSpPr>
        <p:sp>
          <p:nvSpPr>
            <p:cNvPr id="513140" name="WordArt 116"/>
            <p:cNvSpPr>
              <a:spLocks noChangeArrowheads="1" noChangeShapeType="1" noTextEdit="1"/>
            </p:cNvSpPr>
            <p:nvPr/>
          </p:nvSpPr>
          <p:spPr bwMode="auto">
            <a:xfrm>
              <a:off x="1707" y="2783"/>
              <a:ext cx="123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≠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141" name="WordArt 117"/>
            <p:cNvSpPr>
              <a:spLocks noChangeArrowheads="1" noChangeShapeType="1" noTextEdit="1"/>
            </p:cNvSpPr>
            <p:nvPr/>
          </p:nvSpPr>
          <p:spPr bwMode="auto">
            <a:xfrm>
              <a:off x="1515" y="2798"/>
              <a:ext cx="122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x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142" name="WordArt 118"/>
            <p:cNvSpPr>
              <a:spLocks noChangeArrowheads="1" noChangeShapeType="1" noTextEdit="1"/>
            </p:cNvSpPr>
            <p:nvPr/>
          </p:nvSpPr>
          <p:spPr bwMode="auto">
            <a:xfrm>
              <a:off x="1519" y="2764"/>
              <a:ext cx="131" cy="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rPr>
                <a:t>-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Symbol" panose="05050102010706020507"/>
              </a:endParaRPr>
            </a:p>
          </p:txBody>
        </p:sp>
        <p:sp>
          <p:nvSpPr>
            <p:cNvPr id="513144" name="WordArt 120"/>
            <p:cNvSpPr>
              <a:spLocks noChangeArrowheads="1" noChangeShapeType="1" noTextEdit="1"/>
            </p:cNvSpPr>
            <p:nvPr/>
          </p:nvSpPr>
          <p:spPr bwMode="auto">
            <a:xfrm>
              <a:off x="2149" y="2753"/>
              <a:ext cx="3203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是由于机器不正常还是随机波动引起</a:t>
              </a:r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145" name="WordArt 121"/>
            <p:cNvSpPr>
              <a:spLocks noChangeArrowheads="1" noChangeShapeType="1" noTextEdit="1"/>
            </p:cNvSpPr>
            <p:nvPr/>
          </p:nvSpPr>
          <p:spPr bwMode="auto">
            <a:xfrm>
              <a:off x="1876" y="2784"/>
              <a:ext cx="219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50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aphicFrame>
        <p:nvGraphicFramePr>
          <p:cNvPr id="513147" name="Object 123"/>
          <p:cNvGraphicFramePr>
            <a:graphicFrameLocks noChangeAspect="1"/>
          </p:cNvGraphicFramePr>
          <p:nvPr/>
        </p:nvGraphicFramePr>
        <p:xfrm>
          <a:off x="2352675" y="4852988"/>
          <a:ext cx="41497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680" name="Equation" r:id="rId20" imgW="39319200" imgH="4572000" progId="Equation.DSMT4">
                  <p:embed/>
                </p:oleObj>
              </mc:Choice>
              <mc:Fallback>
                <p:oleObj name="Equation" r:id="rId20" imgW="39319200" imgH="4572000" progId="Equation.DSMT4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4852988"/>
                        <a:ext cx="41497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48" name="Object 124"/>
          <p:cNvGraphicFramePr>
            <a:graphicFrameLocks noChangeAspect="1"/>
          </p:cNvGraphicFramePr>
          <p:nvPr/>
        </p:nvGraphicFramePr>
        <p:xfrm>
          <a:off x="754063" y="1762125"/>
          <a:ext cx="778351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681" name="Equation" r:id="rId22" imgW="73761600" imgH="3962400" progId="Equation.DSMT4">
                  <p:embed/>
                </p:oleObj>
              </mc:Choice>
              <mc:Fallback>
                <p:oleObj name="Equation" r:id="rId22" imgW="73761600" imgH="3962400" progId="Equation.DSMT4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1762125"/>
                        <a:ext cx="7783512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49" name="Oval 125"/>
          <p:cNvSpPr>
            <a:spLocks noChangeArrowheads="1"/>
          </p:cNvSpPr>
          <p:nvPr/>
        </p:nvSpPr>
        <p:spPr bwMode="auto">
          <a:xfrm>
            <a:off x="2235200" y="4838700"/>
            <a:ext cx="4330700" cy="4699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3153" name="Group 129"/>
          <p:cNvGrpSpPr/>
          <p:nvPr/>
        </p:nvGrpSpPr>
        <p:grpSpPr bwMode="auto">
          <a:xfrm>
            <a:off x="719138" y="6283325"/>
            <a:ext cx="5624512" cy="320675"/>
            <a:chOff x="461" y="3958"/>
            <a:chExt cx="3543" cy="202"/>
          </a:xfrm>
        </p:grpSpPr>
        <p:sp>
          <p:nvSpPr>
            <p:cNvPr id="513150" name="WordArt 126"/>
            <p:cNvSpPr>
              <a:spLocks noChangeArrowheads="1" noChangeShapeType="1" noTextEdit="1"/>
            </p:cNvSpPr>
            <p:nvPr/>
          </p:nvSpPr>
          <p:spPr bwMode="auto">
            <a:xfrm>
              <a:off x="461" y="3958"/>
              <a:ext cx="3543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作出判断的过程称为对假设   进行检验</a:t>
              </a:r>
              <a:endPara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151" name="WordArt 127"/>
            <p:cNvSpPr>
              <a:spLocks noChangeArrowheads="1" noChangeShapeType="1" noTextEdit="1"/>
            </p:cNvSpPr>
            <p:nvPr/>
          </p:nvSpPr>
          <p:spPr bwMode="auto">
            <a:xfrm>
              <a:off x="2948" y="3977"/>
              <a:ext cx="119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H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152" name="WordArt 128"/>
            <p:cNvSpPr>
              <a:spLocks noChangeArrowheads="1" noChangeShapeType="1" noTextEdit="1"/>
            </p:cNvSpPr>
            <p:nvPr/>
          </p:nvSpPr>
          <p:spPr bwMode="auto">
            <a:xfrm>
              <a:off x="3106" y="4078"/>
              <a:ext cx="66" cy="8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0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3155" name="AutoShape 131"/>
          <p:cNvSpPr>
            <a:spLocks noChangeArrowheads="1"/>
          </p:cNvSpPr>
          <p:nvPr/>
        </p:nvSpPr>
        <p:spPr bwMode="auto">
          <a:xfrm>
            <a:off x="6834188" y="4937125"/>
            <a:ext cx="1992312" cy="423863"/>
          </a:xfrm>
          <a:prstGeom prst="wedgeRectCallout">
            <a:avLst>
              <a:gd name="adj1" fmla="val -62190"/>
              <a:gd name="adj2" fmla="val -17042"/>
            </a:avLst>
          </a:prstGeom>
          <a:gradFill rotWithShape="1">
            <a:gsLst>
              <a:gs pos="0">
                <a:schemeClr val="folHlink"/>
              </a:gs>
              <a:gs pos="50000">
                <a:schemeClr val="folHlink">
                  <a:gamma/>
                  <a:shade val="46275"/>
                  <a:invGamma/>
                </a:schemeClr>
              </a:gs>
              <a:gs pos="100000">
                <a:schemeClr val="folHlink"/>
              </a:gs>
            </a:gsLst>
            <a:lin ang="2700000" scaled="1"/>
          </a:gradFill>
          <a:ln w="9525" algn="ctr">
            <a:solidFill>
              <a:schemeClr val="fol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zh-CN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13156" name="WordArt 132"/>
          <p:cNvSpPr>
            <a:spLocks noChangeArrowheads="1" noChangeShapeType="1" noTextEdit="1"/>
          </p:cNvSpPr>
          <p:nvPr/>
        </p:nvSpPr>
        <p:spPr bwMode="auto">
          <a:xfrm>
            <a:off x="6918325" y="5000625"/>
            <a:ext cx="1528763" cy="2952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怎样检验假设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solidFill>
                <a:srgbClr val="FFFF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3158" name="WordArt 134"/>
          <p:cNvSpPr>
            <a:spLocks noChangeArrowheads="1" noChangeShapeType="1" noTextEdit="1"/>
          </p:cNvSpPr>
          <p:nvPr/>
        </p:nvSpPr>
        <p:spPr bwMode="auto">
          <a:xfrm>
            <a:off x="8512175" y="50165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3159" name="WordArt 135"/>
          <p:cNvSpPr>
            <a:spLocks noChangeArrowheads="1" noChangeShapeType="1" noTextEdit="1"/>
          </p:cNvSpPr>
          <p:nvPr/>
        </p:nvSpPr>
        <p:spPr bwMode="auto">
          <a:xfrm>
            <a:off x="8512175" y="50165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0000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3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3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1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1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3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13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1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1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1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1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1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1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1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1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1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13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13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1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13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13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1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51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1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51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4" dur="1000" fill="hold"/>
                                        <p:tgtEl>
                                          <p:spTgt spid="51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10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1000"/>
                                        <p:tgtEl>
                                          <p:spTgt spid="513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1000"/>
                                        <p:tgtEl>
                                          <p:spTgt spid="513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1000"/>
                                        <p:tgtEl>
                                          <p:spTgt spid="5130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5130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1000"/>
                                        <p:tgtEl>
                                          <p:spTgt spid="513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1000"/>
                                        <p:tgtEl>
                                          <p:spTgt spid="5130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513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1000"/>
                                        <p:tgtEl>
                                          <p:spTgt spid="513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1000"/>
                                        <p:tgtEl>
                                          <p:spTgt spid="513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1000"/>
                                        <p:tgtEl>
                                          <p:spTgt spid="513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513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1000"/>
                                        <p:tgtEl>
                                          <p:spTgt spid="513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1000"/>
                                        <p:tgtEl>
                                          <p:spTgt spid="513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1000"/>
                                        <p:tgtEl>
                                          <p:spTgt spid="513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1000"/>
                                        <p:tgtEl>
                                          <p:spTgt spid="513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1000"/>
                                        <p:tgtEl>
                                          <p:spTgt spid="513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1000"/>
                                        <p:tgtEl>
                                          <p:spTgt spid="513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1000"/>
                                        <p:tgtEl>
                                          <p:spTgt spid="513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1000"/>
                                        <p:tgtEl>
                                          <p:spTgt spid="513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069 L 0.00035 -0.51365 " pathEditMode="relative" rAng="0" ptsTypes="AA">
                                      <p:cBhvr>
                                        <p:cTn id="188" dur="10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648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59259E-6 L -0.00278 -0.56296 " pathEditMode="relative" rAng="0" ptsTypes="AA">
                                      <p:cBhvr>
                                        <p:cTn id="190" dur="1000" fill="hold"/>
                                        <p:tgtEl>
                                          <p:spTgt spid="513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28148"/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-0.57361 -0.63518 " pathEditMode="relative" rAng="0" ptsTypes="AA">
                                      <p:cBhvr>
                                        <p:cTn id="192" dur="1000" fill="hold"/>
                                        <p:tgtEl>
                                          <p:spTgt spid="513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81" y="-31759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3056 -0.57407 " pathEditMode="relative" ptsTypes="AA">
                                      <p:cBhvr>
                                        <p:cTn id="194" dur="1000" fill="hold"/>
                                        <p:tgtEl>
                                          <p:spTgt spid="513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3056 -0.57407 " pathEditMode="relative" ptsTypes="AA">
                                      <p:cBhvr>
                                        <p:cTn id="196" dur="1000" fill="hold"/>
                                        <p:tgtEl>
                                          <p:spTgt spid="513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9" grpId="0"/>
      <p:bldP spid="513029" grpId="1"/>
      <p:bldP spid="513045" grpId="0" animBg="1"/>
      <p:bldP spid="513045" grpId="1" animBg="1"/>
      <p:bldP spid="513047" grpId="0"/>
      <p:bldP spid="513047" grpId="1"/>
      <p:bldP spid="513052" grpId="0"/>
      <p:bldP spid="513052" grpId="1"/>
      <p:bldP spid="513061" grpId="0" animBg="1"/>
      <p:bldP spid="513061" grpId="1" animBg="1"/>
      <p:bldP spid="513062" grpId="0" animBg="1"/>
      <p:bldP spid="513062" grpId="1" animBg="1"/>
      <p:bldP spid="513129" grpId="0"/>
      <p:bldP spid="513129" grpId="1"/>
      <p:bldP spid="513149" grpId="0" animBg="1"/>
      <p:bldP spid="513149" grpId="1" animBg="1"/>
      <p:bldP spid="513155" grpId="0" animBg="1"/>
      <p:bldP spid="513155" grpId="1" animBg="1"/>
      <p:bldP spid="513156" grpId="0" animBg="1"/>
      <p:bldP spid="513156" grpId="1" animBg="1"/>
      <p:bldP spid="513158" grpId="0" animBg="1"/>
      <p:bldP spid="513158" grpId="1" animBg="1"/>
      <p:bldP spid="513159" grpId="0" animBg="1"/>
      <p:bldP spid="513159" grpId="1" animBg="1"/>
      <p:bldP spid="513159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9" name="Rectangle 5"/>
          <p:cNvSpPr>
            <a:spLocks noChangeArrowheads="1"/>
          </p:cNvSpPr>
          <p:nvPr/>
        </p:nvSpPr>
        <p:spPr bwMode="auto">
          <a:xfrm>
            <a:off x="593725" y="4394200"/>
            <a:ext cx="238442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提出假设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3031" name="Group 7"/>
          <p:cNvGrpSpPr/>
          <p:nvPr/>
        </p:nvGrpSpPr>
        <p:grpSpPr bwMode="auto">
          <a:xfrm>
            <a:off x="2325688" y="5172075"/>
            <a:ext cx="5421312" cy="604838"/>
            <a:chOff x="1617" y="3434"/>
            <a:chExt cx="3415" cy="381"/>
          </a:xfrm>
        </p:grpSpPr>
        <p:sp>
          <p:nvSpPr>
            <p:cNvPr id="513032" name="Rectangle 8"/>
            <p:cNvSpPr>
              <a:spLocks noChangeArrowheads="1"/>
            </p:cNvSpPr>
            <p:nvPr/>
          </p:nvSpPr>
          <p:spPr bwMode="auto">
            <a:xfrm>
              <a:off x="1617" y="3434"/>
              <a:ext cx="3415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拒绝</a:t>
              </a: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</a:t>
              </a: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即认为机器不正常</a:t>
              </a:r>
              <a:endPara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graphicFrame>
          <p:nvGraphicFramePr>
            <p:cNvPr id="513033" name="Object 9"/>
            <p:cNvGraphicFramePr>
              <a:graphicFrameLocks noChangeAspect="1"/>
            </p:cNvGraphicFramePr>
            <p:nvPr/>
          </p:nvGraphicFramePr>
          <p:xfrm>
            <a:off x="2149" y="3521"/>
            <a:ext cx="38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83" name="Equation" r:id="rId1" imgW="317500" imgH="241300" progId="Equation.DSMT4">
                    <p:embed/>
                  </p:oleObj>
                </mc:Choice>
                <mc:Fallback>
                  <p:oleObj name="Equation" r:id="rId1" imgW="317500" imgH="241300" progId="Equation.DSMT4">
                    <p:embed/>
                    <p:pic>
                      <p:nvPicPr>
                        <p:cNvPr id="0" name="图片 5634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" y="3521"/>
                          <a:ext cx="38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034" name="Group 10"/>
          <p:cNvGrpSpPr/>
          <p:nvPr/>
        </p:nvGrpSpPr>
        <p:grpSpPr bwMode="auto">
          <a:xfrm>
            <a:off x="2338388" y="5611813"/>
            <a:ext cx="5421312" cy="604837"/>
            <a:chOff x="1617" y="3759"/>
            <a:chExt cx="3415" cy="381"/>
          </a:xfrm>
        </p:grpSpPr>
        <p:sp>
          <p:nvSpPr>
            <p:cNvPr id="513035" name="Rectangle 11"/>
            <p:cNvSpPr>
              <a:spLocks noChangeArrowheads="1"/>
            </p:cNvSpPr>
            <p:nvPr/>
          </p:nvSpPr>
          <p:spPr bwMode="auto">
            <a:xfrm>
              <a:off x="1617" y="3759"/>
              <a:ext cx="3415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接受</a:t>
              </a: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</a:t>
              </a:r>
              <a:r>
                <a:rPr lang="zh-CN" altLang="en-US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即认为机器正常</a:t>
              </a:r>
              <a:endPara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graphicFrame>
          <p:nvGraphicFramePr>
            <p:cNvPr id="513036" name="Object 12"/>
            <p:cNvGraphicFramePr>
              <a:graphicFrameLocks noChangeAspect="1"/>
            </p:cNvGraphicFramePr>
            <p:nvPr/>
          </p:nvGraphicFramePr>
          <p:xfrm>
            <a:off x="2142" y="3843"/>
            <a:ext cx="38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84" name="Equation" r:id="rId3" imgW="317500" imgH="241300" progId="Equation.DSMT4">
                    <p:embed/>
                  </p:oleObj>
                </mc:Choice>
                <mc:Fallback>
                  <p:oleObj name="Equation" r:id="rId3" imgW="317500" imgH="241300" progId="Equation.DSMT4">
                    <p:embed/>
                    <p:pic>
                      <p:nvPicPr>
                        <p:cNvPr id="0" name="图片 5634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2" y="3843"/>
                          <a:ext cx="38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045" name="WordArt 21"/>
          <p:cNvSpPr>
            <a:spLocks noChangeArrowheads="1" noChangeShapeType="1" noTextEdit="1"/>
          </p:cNvSpPr>
          <p:nvPr/>
        </p:nvSpPr>
        <p:spPr bwMode="auto">
          <a:xfrm>
            <a:off x="749300" y="2957513"/>
            <a:ext cx="671513" cy="290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513057" name="Group 33"/>
          <p:cNvGrpSpPr/>
          <p:nvPr/>
        </p:nvGrpSpPr>
        <p:grpSpPr bwMode="auto">
          <a:xfrm>
            <a:off x="682625" y="4186238"/>
            <a:ext cx="763588" cy="400050"/>
            <a:chOff x="581" y="1694"/>
            <a:chExt cx="481" cy="252"/>
          </a:xfrm>
        </p:grpSpPr>
        <p:pic>
          <p:nvPicPr>
            <p:cNvPr id="513058" name="Picture 34" descr="4"/>
            <p:cNvPicPr>
              <a:picLocks noChangeAspect="1" noChangeArrowheads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" y="1715"/>
              <a:ext cx="366" cy="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3059" name="WordArt 35"/>
            <p:cNvSpPr>
              <a:spLocks noChangeArrowheads="1" noChangeShapeType="1" noTextEdit="1"/>
            </p:cNvSpPr>
            <p:nvPr/>
          </p:nvSpPr>
          <p:spPr bwMode="auto">
            <a:xfrm>
              <a:off x="808" y="1694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513061" name="WordArt 37"/>
          <p:cNvSpPr>
            <a:spLocks noChangeArrowheads="1" noChangeShapeType="1" noTextEdit="1"/>
          </p:cNvSpPr>
          <p:nvPr/>
        </p:nvSpPr>
        <p:spPr bwMode="auto">
          <a:xfrm>
            <a:off x="717550" y="5570538"/>
            <a:ext cx="130492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作出判断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3062" name="AutoShape 38"/>
          <p:cNvSpPr/>
          <p:nvPr/>
        </p:nvSpPr>
        <p:spPr bwMode="auto">
          <a:xfrm>
            <a:off x="2157413" y="5397500"/>
            <a:ext cx="125412" cy="673100"/>
          </a:xfrm>
          <a:prstGeom prst="leftBrace">
            <a:avLst>
              <a:gd name="adj1" fmla="val 44726"/>
              <a:gd name="adj2" fmla="val 50000"/>
            </a:avLst>
          </a:prstGeom>
          <a:noFill/>
          <a:ln w="19050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3125" name="Group 101"/>
          <p:cNvGrpSpPr/>
          <p:nvPr/>
        </p:nvGrpSpPr>
        <p:grpSpPr bwMode="auto">
          <a:xfrm>
            <a:off x="-38100" y="1317625"/>
            <a:ext cx="5392738" cy="519113"/>
            <a:chOff x="0" y="870"/>
            <a:chExt cx="3397" cy="327"/>
          </a:xfrm>
        </p:grpSpPr>
        <p:sp>
          <p:nvSpPr>
            <p:cNvPr id="513122" name="Rectangle 98"/>
            <p:cNvSpPr>
              <a:spLocks noChangeArrowheads="1"/>
            </p:cNvSpPr>
            <p:nvPr/>
          </p:nvSpPr>
          <p:spPr bwMode="auto">
            <a:xfrm>
              <a:off x="0" y="870"/>
              <a:ext cx="2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检了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9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袋产品，测得净重如下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23" name="Object 99"/>
            <p:cNvGraphicFramePr>
              <a:graphicFrameLocks noChangeAspect="1"/>
            </p:cNvGraphicFramePr>
            <p:nvPr/>
          </p:nvGraphicFramePr>
          <p:xfrm>
            <a:off x="2866" y="879"/>
            <a:ext cx="53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85" name="公式" r:id="rId6" imgW="406400" imgH="254000" progId="Equation.3">
                    <p:embed/>
                  </p:oleObj>
                </mc:Choice>
                <mc:Fallback>
                  <p:oleObj name="公式" r:id="rId6" imgW="406400" imgH="254000" progId="Equation.3">
                    <p:embed/>
                    <p:pic>
                      <p:nvPicPr>
                        <p:cNvPr id="0" name="图片 5634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6" y="879"/>
                          <a:ext cx="53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32" name="Group 108"/>
          <p:cNvGrpSpPr/>
          <p:nvPr/>
        </p:nvGrpSpPr>
        <p:grpSpPr bwMode="auto">
          <a:xfrm>
            <a:off x="1576388" y="2728913"/>
            <a:ext cx="6430962" cy="633412"/>
            <a:chOff x="993" y="1799"/>
            <a:chExt cx="4051" cy="399"/>
          </a:xfrm>
        </p:grpSpPr>
        <p:sp>
          <p:nvSpPr>
            <p:cNvPr id="513028" name="Rectangle 4"/>
            <p:cNvSpPr>
              <a:spLocks noChangeArrowheads="1"/>
            </p:cNvSpPr>
            <p:nvPr/>
          </p:nvSpPr>
          <p:spPr bwMode="auto">
            <a:xfrm>
              <a:off x="993" y="1799"/>
              <a:ext cx="2131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设每袋化肥重量为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27" name="Object 103"/>
            <p:cNvGraphicFramePr>
              <a:graphicFrameLocks noChangeAspect="1"/>
            </p:cNvGraphicFramePr>
            <p:nvPr/>
          </p:nvGraphicFramePr>
          <p:xfrm>
            <a:off x="2855" y="1881"/>
            <a:ext cx="218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86" name="公式" r:id="rId8" imgW="1790700" imgH="254000" progId="Equation.3">
                    <p:embed/>
                  </p:oleObj>
                </mc:Choice>
                <mc:Fallback>
                  <p:oleObj name="公式" r:id="rId8" imgW="1790700" imgH="254000" progId="Equation.3">
                    <p:embed/>
                    <p:pic>
                      <p:nvPicPr>
                        <p:cNvPr id="0" name="图片 5634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5" y="1881"/>
                          <a:ext cx="2189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129" name="Rectangle 105"/>
          <p:cNvSpPr>
            <a:spLocks noChangeArrowheads="1"/>
          </p:cNvSpPr>
          <p:nvPr/>
        </p:nvSpPr>
        <p:spPr bwMode="auto">
          <a:xfrm>
            <a:off x="-49213" y="2427288"/>
            <a:ext cx="5575301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试问该日包装机工作是否正常？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3131" name="Group 107"/>
          <p:cNvGrpSpPr/>
          <p:nvPr/>
        </p:nvGrpSpPr>
        <p:grpSpPr bwMode="auto">
          <a:xfrm>
            <a:off x="-38100" y="2032002"/>
            <a:ext cx="9182100" cy="550863"/>
            <a:chOff x="-24" y="1336"/>
            <a:chExt cx="5784" cy="347"/>
          </a:xfrm>
        </p:grpSpPr>
        <p:sp>
          <p:nvSpPr>
            <p:cNvPr id="513051" name="Rectangle 27"/>
            <p:cNvSpPr>
              <a:spLocks noChangeArrowheads="1"/>
            </p:cNvSpPr>
            <p:nvPr/>
          </p:nvSpPr>
          <p:spPr bwMode="auto">
            <a:xfrm>
              <a:off x="-24" y="1336"/>
              <a:ext cx="57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设每袋化肥的实际重量服从正态分布，其标准差为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30" name="Object 106"/>
            <p:cNvGraphicFramePr>
              <a:graphicFrameLocks noChangeAspect="1"/>
            </p:cNvGraphicFramePr>
            <p:nvPr/>
          </p:nvGraphicFramePr>
          <p:xfrm>
            <a:off x="4964" y="1387"/>
            <a:ext cx="75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87" name="Equation" r:id="rId10" imgW="10363200" imgH="4267200" progId="Equation.DSMT4">
                    <p:embed/>
                  </p:oleObj>
                </mc:Choice>
                <mc:Fallback>
                  <p:oleObj name="Equation" r:id="rId10" imgW="10363200" imgH="4267200" progId="Equation.DSMT4">
                    <p:embed/>
                    <p:pic>
                      <p:nvPicPr>
                        <p:cNvPr id="0" name="图片 5634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4" y="1387"/>
                          <a:ext cx="75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34" name="Group 110"/>
          <p:cNvGrpSpPr/>
          <p:nvPr/>
        </p:nvGrpSpPr>
        <p:grpSpPr bwMode="auto">
          <a:xfrm>
            <a:off x="1565275" y="3148013"/>
            <a:ext cx="6118225" cy="630237"/>
            <a:chOff x="986" y="2039"/>
            <a:chExt cx="3854" cy="397"/>
          </a:xfrm>
        </p:grpSpPr>
        <p:sp>
          <p:nvSpPr>
            <p:cNvPr id="513055" name="Rectangle 31"/>
            <p:cNvSpPr>
              <a:spLocks noChangeArrowheads="1"/>
            </p:cNvSpPr>
            <p:nvPr/>
          </p:nvSpPr>
          <p:spPr bwMode="auto">
            <a:xfrm>
              <a:off x="986" y="2039"/>
              <a:ext cx="3854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    则机器正常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否则不正常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33" name="Object 109"/>
            <p:cNvGraphicFramePr>
              <a:graphicFrameLocks noChangeAspect="1"/>
            </p:cNvGraphicFramePr>
            <p:nvPr/>
          </p:nvGraphicFramePr>
          <p:xfrm>
            <a:off x="1270" y="2140"/>
            <a:ext cx="68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88" name="Equation" r:id="rId12" imgW="9448800" imgH="4267200" progId="Equation.DSMT4">
                    <p:embed/>
                  </p:oleObj>
                </mc:Choice>
                <mc:Fallback>
                  <p:oleObj name="Equation" r:id="rId12" imgW="9448800" imgH="4267200" progId="Equation.DSMT4">
                    <p:embed/>
                    <p:pic>
                      <p:nvPicPr>
                        <p:cNvPr id="0" name="图片 5634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0" y="2140"/>
                          <a:ext cx="68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36" name="Group 112"/>
          <p:cNvGrpSpPr/>
          <p:nvPr/>
        </p:nvGrpSpPr>
        <p:grpSpPr bwMode="auto">
          <a:xfrm>
            <a:off x="1657350" y="3568700"/>
            <a:ext cx="5105400" cy="633413"/>
            <a:chOff x="1012" y="2336"/>
            <a:chExt cx="3216" cy="399"/>
          </a:xfrm>
        </p:grpSpPr>
        <p:sp>
          <p:nvSpPr>
            <p:cNvPr id="513040" name="Rectangle 16"/>
            <p:cNvSpPr>
              <a:spLocks noChangeArrowheads="1"/>
            </p:cNvSpPr>
            <p:nvPr/>
          </p:nvSpPr>
          <p:spPr bwMode="auto">
            <a:xfrm>
              <a:off x="1199" y="2336"/>
              <a:ext cx="1593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的点估计值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041" name="Object 17"/>
            <p:cNvGraphicFramePr>
              <a:graphicFrameLocks noChangeAspect="1"/>
            </p:cNvGraphicFramePr>
            <p:nvPr/>
          </p:nvGraphicFramePr>
          <p:xfrm>
            <a:off x="1012" y="2463"/>
            <a:ext cx="24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89" name="Equation" r:id="rId14" imgW="3352800" imgH="3657600" progId="Equation.DSMT4">
                    <p:embed/>
                  </p:oleObj>
                </mc:Choice>
                <mc:Fallback>
                  <p:oleObj name="Equation" r:id="rId14" imgW="3352800" imgH="3657600" progId="Equation.DSMT4">
                    <p:embed/>
                    <p:pic>
                      <p:nvPicPr>
                        <p:cNvPr id="0" name="图片 5634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2463"/>
                          <a:ext cx="24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35" name="Object 111"/>
            <p:cNvGraphicFramePr>
              <a:graphicFrameLocks noChangeAspect="1"/>
            </p:cNvGraphicFramePr>
            <p:nvPr/>
          </p:nvGraphicFramePr>
          <p:xfrm>
            <a:off x="2438" y="2417"/>
            <a:ext cx="179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90" name="Equation" r:id="rId16" imgW="24688800" imgH="4572000" progId="Equation.DSMT4">
                    <p:embed/>
                  </p:oleObj>
                </mc:Choice>
                <mc:Fallback>
                  <p:oleObj name="Equation" r:id="rId16" imgW="24688800" imgH="4572000" progId="Equation.DSMT4">
                    <p:embed/>
                    <p:pic>
                      <p:nvPicPr>
                        <p:cNvPr id="0" name="图片 5634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" y="2417"/>
                          <a:ext cx="1790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46" name="Group 122"/>
          <p:cNvGrpSpPr/>
          <p:nvPr/>
        </p:nvGrpSpPr>
        <p:grpSpPr bwMode="auto">
          <a:xfrm>
            <a:off x="1655763" y="4192588"/>
            <a:ext cx="6091237" cy="285750"/>
            <a:chOff x="1515" y="2753"/>
            <a:chExt cx="3837" cy="180"/>
          </a:xfrm>
        </p:grpSpPr>
        <p:sp>
          <p:nvSpPr>
            <p:cNvPr id="513140" name="WordArt 116"/>
            <p:cNvSpPr>
              <a:spLocks noChangeArrowheads="1" noChangeShapeType="1" noTextEdit="1"/>
            </p:cNvSpPr>
            <p:nvPr/>
          </p:nvSpPr>
          <p:spPr bwMode="auto">
            <a:xfrm>
              <a:off x="1707" y="2783"/>
              <a:ext cx="123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≠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141" name="WordArt 117"/>
            <p:cNvSpPr>
              <a:spLocks noChangeArrowheads="1" noChangeShapeType="1" noTextEdit="1"/>
            </p:cNvSpPr>
            <p:nvPr/>
          </p:nvSpPr>
          <p:spPr bwMode="auto">
            <a:xfrm>
              <a:off x="1515" y="2798"/>
              <a:ext cx="122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x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142" name="WordArt 118"/>
            <p:cNvSpPr>
              <a:spLocks noChangeArrowheads="1" noChangeShapeType="1" noTextEdit="1"/>
            </p:cNvSpPr>
            <p:nvPr/>
          </p:nvSpPr>
          <p:spPr bwMode="auto">
            <a:xfrm>
              <a:off x="1519" y="2764"/>
              <a:ext cx="131" cy="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rPr>
                <a:t>-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Symbol" panose="05050102010706020507"/>
              </a:endParaRPr>
            </a:p>
          </p:txBody>
        </p:sp>
        <p:sp>
          <p:nvSpPr>
            <p:cNvPr id="513144" name="WordArt 120"/>
            <p:cNvSpPr>
              <a:spLocks noChangeArrowheads="1" noChangeShapeType="1" noTextEdit="1"/>
            </p:cNvSpPr>
            <p:nvPr/>
          </p:nvSpPr>
          <p:spPr bwMode="auto">
            <a:xfrm>
              <a:off x="2149" y="2753"/>
              <a:ext cx="3203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是由于机器不正常还是随机波动引起</a:t>
              </a:r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145" name="WordArt 121"/>
            <p:cNvSpPr>
              <a:spLocks noChangeArrowheads="1" noChangeShapeType="1" noTextEdit="1"/>
            </p:cNvSpPr>
            <p:nvPr/>
          </p:nvSpPr>
          <p:spPr bwMode="auto">
            <a:xfrm>
              <a:off x="1876" y="2784"/>
              <a:ext cx="219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50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aphicFrame>
        <p:nvGraphicFramePr>
          <p:cNvPr id="513147" name="Object 123"/>
          <p:cNvGraphicFramePr>
            <a:graphicFrameLocks noChangeAspect="1"/>
          </p:cNvGraphicFramePr>
          <p:nvPr/>
        </p:nvGraphicFramePr>
        <p:xfrm>
          <a:off x="2352675" y="4852988"/>
          <a:ext cx="41497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91" name="Equation" r:id="rId18" imgW="39319200" imgH="4572000" progId="Equation.DSMT4">
                  <p:embed/>
                </p:oleObj>
              </mc:Choice>
              <mc:Fallback>
                <p:oleObj name="Equation" r:id="rId18" imgW="39319200" imgH="4572000" progId="Equation.DSMT4">
                  <p:embed/>
                  <p:pic>
                    <p:nvPicPr>
                      <p:cNvPr id="0" name="图片 5634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4852988"/>
                        <a:ext cx="41497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48" name="Object 124"/>
          <p:cNvGraphicFramePr>
            <a:graphicFrameLocks noChangeAspect="1"/>
          </p:cNvGraphicFramePr>
          <p:nvPr/>
        </p:nvGraphicFramePr>
        <p:xfrm>
          <a:off x="754063" y="1762125"/>
          <a:ext cx="778351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92" name="Equation" r:id="rId20" imgW="73761600" imgH="3962400" progId="Equation.DSMT4">
                  <p:embed/>
                </p:oleObj>
              </mc:Choice>
              <mc:Fallback>
                <p:oleObj name="Equation" r:id="rId20" imgW="73761600" imgH="3962400" progId="Equation.DSMT4">
                  <p:embed/>
                  <p:pic>
                    <p:nvPicPr>
                      <p:cNvPr id="0" name="图片 5634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1762125"/>
                        <a:ext cx="7783512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49" name="Oval 125"/>
          <p:cNvSpPr>
            <a:spLocks noChangeArrowheads="1"/>
          </p:cNvSpPr>
          <p:nvPr/>
        </p:nvSpPr>
        <p:spPr bwMode="auto">
          <a:xfrm>
            <a:off x="2235200" y="4838700"/>
            <a:ext cx="4330700" cy="4699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3153" name="Group 129"/>
          <p:cNvGrpSpPr/>
          <p:nvPr/>
        </p:nvGrpSpPr>
        <p:grpSpPr bwMode="auto">
          <a:xfrm>
            <a:off x="719138" y="6283325"/>
            <a:ext cx="5624512" cy="320675"/>
            <a:chOff x="461" y="3958"/>
            <a:chExt cx="3543" cy="202"/>
          </a:xfrm>
        </p:grpSpPr>
        <p:sp>
          <p:nvSpPr>
            <p:cNvPr id="513150" name="WordArt 126"/>
            <p:cNvSpPr>
              <a:spLocks noChangeArrowheads="1" noChangeShapeType="1" noTextEdit="1"/>
            </p:cNvSpPr>
            <p:nvPr/>
          </p:nvSpPr>
          <p:spPr bwMode="auto">
            <a:xfrm>
              <a:off x="461" y="3958"/>
              <a:ext cx="3543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作出判断的过程称为对假设   进行检验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151" name="WordArt 127"/>
            <p:cNvSpPr>
              <a:spLocks noChangeArrowheads="1" noChangeShapeType="1" noTextEdit="1"/>
            </p:cNvSpPr>
            <p:nvPr/>
          </p:nvSpPr>
          <p:spPr bwMode="auto">
            <a:xfrm>
              <a:off x="2948" y="3977"/>
              <a:ext cx="119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H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152" name="WordArt 128"/>
            <p:cNvSpPr>
              <a:spLocks noChangeArrowheads="1" noChangeShapeType="1" noTextEdit="1"/>
            </p:cNvSpPr>
            <p:nvPr/>
          </p:nvSpPr>
          <p:spPr bwMode="auto">
            <a:xfrm>
              <a:off x="3106" y="4078"/>
              <a:ext cx="66" cy="8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0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3155" name="AutoShape 131"/>
          <p:cNvSpPr>
            <a:spLocks noChangeArrowheads="1"/>
          </p:cNvSpPr>
          <p:nvPr/>
        </p:nvSpPr>
        <p:spPr bwMode="auto">
          <a:xfrm>
            <a:off x="6834188" y="4937125"/>
            <a:ext cx="1992312" cy="423863"/>
          </a:xfrm>
          <a:prstGeom prst="wedgeRectCallout">
            <a:avLst>
              <a:gd name="adj1" fmla="val -62190"/>
              <a:gd name="adj2" fmla="val -17042"/>
            </a:avLst>
          </a:prstGeom>
          <a:gradFill rotWithShape="1">
            <a:gsLst>
              <a:gs pos="0">
                <a:schemeClr val="folHlink"/>
              </a:gs>
              <a:gs pos="50000">
                <a:schemeClr val="folHlink">
                  <a:gamma/>
                  <a:shade val="46275"/>
                  <a:invGamma/>
                </a:schemeClr>
              </a:gs>
              <a:gs pos="100000">
                <a:schemeClr val="folHlink"/>
              </a:gs>
            </a:gsLst>
            <a:lin ang="2700000" scaled="1"/>
          </a:gradFill>
          <a:ln w="9525" algn="ctr">
            <a:solidFill>
              <a:schemeClr val="fol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zh-CN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13156" name="WordArt 132"/>
          <p:cNvSpPr>
            <a:spLocks noChangeArrowheads="1" noChangeShapeType="1" noTextEdit="1"/>
          </p:cNvSpPr>
          <p:nvPr/>
        </p:nvSpPr>
        <p:spPr bwMode="auto">
          <a:xfrm>
            <a:off x="6918325" y="5000625"/>
            <a:ext cx="1528763" cy="2952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怎样检验假设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solidFill>
                <a:srgbClr val="FFFF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3158" name="WordArt 134"/>
          <p:cNvSpPr>
            <a:spLocks noChangeArrowheads="1" noChangeShapeType="1" noTextEdit="1"/>
          </p:cNvSpPr>
          <p:nvPr/>
        </p:nvSpPr>
        <p:spPr bwMode="auto">
          <a:xfrm>
            <a:off x="8512175" y="50165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3159" name="WordArt 135"/>
          <p:cNvSpPr>
            <a:spLocks noChangeArrowheads="1" noChangeShapeType="1" noTextEdit="1"/>
          </p:cNvSpPr>
          <p:nvPr/>
        </p:nvSpPr>
        <p:spPr bwMode="auto">
          <a:xfrm>
            <a:off x="8512175" y="50165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0000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3161" name="Rectangle 137"/>
          <p:cNvSpPr>
            <a:spLocks noChangeArrowheads="1"/>
          </p:cNvSpPr>
          <p:nvPr/>
        </p:nvSpPr>
        <p:spPr bwMode="auto">
          <a:xfrm>
            <a:off x="2032" y="1408113"/>
            <a:ext cx="9144000" cy="5467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13162" name="WordArt 138"/>
          <p:cNvSpPr>
            <a:spLocks noChangeArrowheads="1" noChangeShapeType="1" noTextEdit="1"/>
          </p:cNvSpPr>
          <p:nvPr/>
        </p:nvSpPr>
        <p:spPr bwMode="auto">
          <a:xfrm>
            <a:off x="750888" y="1498600"/>
            <a:ext cx="671512" cy="2905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 dirty="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aphicFrame>
        <p:nvGraphicFramePr>
          <p:cNvPr id="513163" name="Object 139"/>
          <p:cNvGraphicFramePr>
            <a:graphicFrameLocks noChangeAspect="1"/>
          </p:cNvGraphicFramePr>
          <p:nvPr/>
        </p:nvGraphicFramePr>
        <p:xfrm>
          <a:off x="2738438" y="1732739"/>
          <a:ext cx="33337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93" name="Equation" r:id="rId22" imgW="32004000" imgH="7924800" progId="Equation.DSMT4">
                  <p:embed/>
                </p:oleObj>
              </mc:Choice>
              <mc:Fallback>
                <p:oleObj name="Equation" r:id="rId22" imgW="32004000" imgH="7924800" progId="Equation.DSMT4">
                  <p:embed/>
                  <p:pic>
                    <p:nvPicPr>
                      <p:cNvPr id="0" name="图片 5634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1732739"/>
                        <a:ext cx="33337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164" name="Group 140"/>
          <p:cNvGrpSpPr/>
          <p:nvPr/>
        </p:nvGrpSpPr>
        <p:grpSpPr bwMode="auto">
          <a:xfrm>
            <a:off x="1482724" y="1295402"/>
            <a:ext cx="7496173" cy="619126"/>
            <a:chOff x="846" y="1112"/>
            <a:chExt cx="4722" cy="390"/>
          </a:xfrm>
        </p:grpSpPr>
        <p:sp>
          <p:nvSpPr>
            <p:cNvPr id="513165" name="Rectangle 141"/>
            <p:cNvSpPr>
              <a:spLocks noChangeArrowheads="1"/>
            </p:cNvSpPr>
            <p:nvPr/>
          </p:nvSpPr>
          <p:spPr bwMode="auto">
            <a:xfrm>
              <a:off x="2082" y="1112"/>
              <a:ext cx="3486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是总体           的样本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66" name="Object 142"/>
            <p:cNvGraphicFramePr>
              <a:graphicFrameLocks noChangeAspect="1"/>
            </p:cNvGraphicFramePr>
            <p:nvPr/>
          </p:nvGraphicFramePr>
          <p:xfrm>
            <a:off x="2799" y="1164"/>
            <a:ext cx="129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94" name="Equation" r:id="rId24" imgW="18897600" imgH="4876800" progId="Equation.DSMT4">
                    <p:embed/>
                  </p:oleObj>
                </mc:Choice>
                <mc:Fallback>
                  <p:oleObj name="Equation" r:id="rId24" imgW="18897600" imgH="4876800" progId="Equation.DSMT4">
                    <p:embed/>
                    <p:pic>
                      <p:nvPicPr>
                        <p:cNvPr id="0" name="图片 5634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9" y="1164"/>
                          <a:ext cx="1295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67" name="Object 143"/>
            <p:cNvGraphicFramePr>
              <a:graphicFrameLocks noChangeAspect="1"/>
            </p:cNvGraphicFramePr>
            <p:nvPr/>
          </p:nvGraphicFramePr>
          <p:xfrm>
            <a:off x="846" y="1169"/>
            <a:ext cx="134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95" name="Equation" r:id="rId26" imgW="18592800" imgH="4267200" progId="Equation.DSMT4">
                    <p:embed/>
                  </p:oleObj>
                </mc:Choice>
                <mc:Fallback>
                  <p:oleObj name="Equation" r:id="rId26" imgW="18592800" imgH="4267200" progId="Equation.DSMT4">
                    <p:embed/>
                    <p:pic>
                      <p:nvPicPr>
                        <p:cNvPr id="0" name="图片 5634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" y="1169"/>
                          <a:ext cx="1345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170" name="Rectangle 146"/>
          <p:cNvSpPr>
            <a:spLocks noChangeArrowheads="1"/>
          </p:cNvSpPr>
          <p:nvPr/>
        </p:nvSpPr>
        <p:spPr bwMode="auto">
          <a:xfrm>
            <a:off x="7610475" y="1271588"/>
            <a:ext cx="10890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且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3189" name="Group 165"/>
          <p:cNvGrpSpPr/>
          <p:nvPr/>
        </p:nvGrpSpPr>
        <p:grpSpPr bwMode="auto">
          <a:xfrm>
            <a:off x="673100" y="2327276"/>
            <a:ext cx="3937000" cy="590550"/>
            <a:chOff x="424" y="1449"/>
            <a:chExt cx="2480" cy="372"/>
          </a:xfrm>
        </p:grpSpPr>
        <p:sp>
          <p:nvSpPr>
            <p:cNvPr id="513174" name="Rectangle 150"/>
            <p:cNvSpPr>
              <a:spLocks noChangeArrowheads="1"/>
            </p:cNvSpPr>
            <p:nvPr/>
          </p:nvSpPr>
          <p:spPr bwMode="auto">
            <a:xfrm>
              <a:off x="424" y="1449"/>
              <a:ext cx="174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故若  </a:t>
              </a:r>
              <a:r>
                <a:rPr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成立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81" name="Object 157"/>
            <p:cNvGraphicFramePr>
              <a:graphicFrameLocks noChangeAspect="1"/>
            </p:cNvGraphicFramePr>
            <p:nvPr/>
          </p:nvGraphicFramePr>
          <p:xfrm>
            <a:off x="921" y="1504"/>
            <a:ext cx="32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96" name="Equation" r:id="rId28" imgW="4876800" imgH="4267200" progId="Equation.DSMT4">
                    <p:embed/>
                  </p:oleObj>
                </mc:Choice>
                <mc:Fallback>
                  <p:oleObj name="Equation" r:id="rId28" imgW="4876800" imgH="4267200" progId="Equation.DSMT4">
                    <p:embed/>
                    <p:pic>
                      <p:nvPicPr>
                        <p:cNvPr id="0" name="图片 5634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1" y="1504"/>
                          <a:ext cx="32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87" name="Object 163"/>
            <p:cNvGraphicFramePr>
              <a:graphicFrameLocks noChangeAspect="1"/>
            </p:cNvGraphicFramePr>
            <p:nvPr/>
          </p:nvGraphicFramePr>
          <p:xfrm>
            <a:off x="1944" y="1505"/>
            <a:ext cx="9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97" name="Equation" r:id="rId30" imgW="14630400" imgH="4876800" progId="Equation.DSMT4">
                    <p:embed/>
                  </p:oleObj>
                </mc:Choice>
                <mc:Fallback>
                  <p:oleObj name="Equation" r:id="rId30" imgW="14630400" imgH="4876800" progId="Equation.DSMT4">
                    <p:embed/>
                    <p:pic>
                      <p:nvPicPr>
                        <p:cNvPr id="0" name="图片 5634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4" y="1505"/>
                          <a:ext cx="9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184" name="Rectangle 160"/>
          <p:cNvSpPr>
            <a:spLocks noChangeArrowheads="1"/>
          </p:cNvSpPr>
          <p:nvPr/>
        </p:nvSpPr>
        <p:spPr bwMode="auto">
          <a:xfrm>
            <a:off x="-50800" y="2787651"/>
            <a:ext cx="320992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波动幅度不会太大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3204" name="Group 180"/>
          <p:cNvGrpSpPr/>
          <p:nvPr/>
        </p:nvGrpSpPr>
        <p:grpSpPr bwMode="auto">
          <a:xfrm>
            <a:off x="2819400" y="2746373"/>
            <a:ext cx="5435600" cy="561975"/>
            <a:chOff x="2064" y="1746"/>
            <a:chExt cx="3424" cy="354"/>
          </a:xfrm>
        </p:grpSpPr>
        <p:sp>
          <p:nvSpPr>
            <p:cNvPr id="513186" name="Rectangle 162"/>
            <p:cNvSpPr>
              <a:spLocks noChangeArrowheads="1"/>
            </p:cNvSpPr>
            <p:nvPr/>
          </p:nvSpPr>
          <p:spPr bwMode="auto">
            <a:xfrm>
              <a:off x="2064" y="1746"/>
              <a:ext cx="342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从而绝对偏差       应该较小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80" name="Object 156"/>
            <p:cNvGraphicFramePr>
              <a:graphicFrameLocks noChangeAspect="1"/>
            </p:cNvGraphicFramePr>
            <p:nvPr/>
          </p:nvGraphicFramePr>
          <p:xfrm>
            <a:off x="3606" y="1747"/>
            <a:ext cx="80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98" name="Equation" r:id="rId32" imgW="12192000" imgH="4876800" progId="Equation.DSMT4">
                    <p:embed/>
                  </p:oleObj>
                </mc:Choice>
                <mc:Fallback>
                  <p:oleObj name="Equation" r:id="rId32" imgW="12192000" imgH="4876800" progId="Equation.DSMT4">
                    <p:embed/>
                    <p:pic>
                      <p:nvPicPr>
                        <p:cNvPr id="0" name="图片 5634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1747"/>
                          <a:ext cx="80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94" name="Group 170"/>
          <p:cNvGrpSpPr/>
          <p:nvPr/>
        </p:nvGrpSpPr>
        <p:grpSpPr bwMode="auto">
          <a:xfrm>
            <a:off x="674688" y="3217859"/>
            <a:ext cx="8558212" cy="574675"/>
            <a:chOff x="25" y="3090"/>
            <a:chExt cx="5391" cy="362"/>
          </a:xfrm>
        </p:grpSpPr>
        <p:sp>
          <p:nvSpPr>
            <p:cNvPr id="513182" name="Rectangle 158"/>
            <p:cNvSpPr>
              <a:spLocks noChangeArrowheads="1"/>
            </p:cNvSpPr>
            <p:nvPr/>
          </p:nvSpPr>
          <p:spPr bwMode="auto">
            <a:xfrm>
              <a:off x="25" y="3090"/>
              <a:ext cx="5391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反之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     的值偏大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则有理由怀疑   的正确性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79" name="Object 155"/>
            <p:cNvGraphicFramePr>
              <a:graphicFrameLocks noChangeAspect="1"/>
            </p:cNvGraphicFramePr>
            <p:nvPr/>
          </p:nvGraphicFramePr>
          <p:xfrm>
            <a:off x="873" y="3137"/>
            <a:ext cx="80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99" name="Equation" r:id="rId34" imgW="12192000" imgH="4876800" progId="Equation.DSMT4">
                    <p:embed/>
                  </p:oleObj>
                </mc:Choice>
                <mc:Fallback>
                  <p:oleObj name="Equation" r:id="rId34" imgW="12192000" imgH="4876800" progId="Equation.DSMT4">
                    <p:embed/>
                    <p:pic>
                      <p:nvPicPr>
                        <p:cNvPr id="0" name="图片 5634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3" y="3137"/>
                          <a:ext cx="80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93" name="Object 169"/>
            <p:cNvGraphicFramePr>
              <a:graphicFrameLocks noChangeAspect="1"/>
            </p:cNvGraphicFramePr>
            <p:nvPr/>
          </p:nvGraphicFramePr>
          <p:xfrm>
            <a:off x="4050" y="3171"/>
            <a:ext cx="32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00" name="Equation" r:id="rId36" imgW="4876800" imgH="4267200" progId="Equation.DSMT4">
                    <p:embed/>
                  </p:oleObj>
                </mc:Choice>
                <mc:Fallback>
                  <p:oleObj name="Equation" r:id="rId36" imgW="4876800" imgH="4267200" progId="Equation.DSMT4">
                    <p:embed/>
                    <p:pic>
                      <p:nvPicPr>
                        <p:cNvPr id="0" name="图片 5634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0" y="3171"/>
                          <a:ext cx="32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99" name="Group 175"/>
          <p:cNvGrpSpPr/>
          <p:nvPr/>
        </p:nvGrpSpPr>
        <p:grpSpPr bwMode="auto">
          <a:xfrm>
            <a:off x="-12700" y="3638551"/>
            <a:ext cx="2008188" cy="566737"/>
            <a:chOff x="0" y="2923"/>
            <a:chExt cx="1265" cy="357"/>
          </a:xfrm>
        </p:grpSpPr>
        <p:sp>
          <p:nvSpPr>
            <p:cNvPr id="513196" name="Rectangle 172"/>
            <p:cNvSpPr>
              <a:spLocks noChangeArrowheads="1"/>
            </p:cNvSpPr>
            <p:nvPr/>
          </p:nvSpPr>
          <p:spPr bwMode="auto">
            <a:xfrm>
              <a:off x="0" y="2923"/>
              <a:ext cx="1151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从而拒绝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198" name="Object 174"/>
            <p:cNvGraphicFramePr>
              <a:graphicFrameLocks noChangeAspect="1"/>
            </p:cNvGraphicFramePr>
            <p:nvPr/>
          </p:nvGraphicFramePr>
          <p:xfrm>
            <a:off x="945" y="3004"/>
            <a:ext cx="32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01" name="Equation" r:id="rId38" imgW="4876800" imgH="4267200" progId="Equation.DSMT4">
                    <p:embed/>
                  </p:oleObj>
                </mc:Choice>
                <mc:Fallback>
                  <p:oleObj name="Equation" r:id="rId38" imgW="4876800" imgH="4267200" progId="Equation.DSMT4">
                    <p:embed/>
                    <p:pic>
                      <p:nvPicPr>
                        <p:cNvPr id="0" name="图片 5635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3004"/>
                          <a:ext cx="32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203" name="Group 179"/>
          <p:cNvGrpSpPr/>
          <p:nvPr/>
        </p:nvGrpSpPr>
        <p:grpSpPr bwMode="auto">
          <a:xfrm>
            <a:off x="4410075" y="2305050"/>
            <a:ext cx="4606925" cy="561975"/>
            <a:chOff x="2770" y="1460"/>
            <a:chExt cx="2902" cy="354"/>
          </a:xfrm>
        </p:grpSpPr>
        <p:sp>
          <p:nvSpPr>
            <p:cNvPr id="513200" name="Rectangle 176"/>
            <p:cNvSpPr>
              <a:spLocks noChangeArrowheads="1"/>
            </p:cNvSpPr>
            <p:nvPr/>
          </p:nvSpPr>
          <p:spPr bwMode="auto">
            <a:xfrm>
              <a:off x="2770" y="1460"/>
              <a:ext cx="2902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即  的值在  附近波动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且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201" name="Object 177"/>
            <p:cNvGraphicFramePr>
              <a:graphicFrameLocks noChangeAspect="1"/>
            </p:cNvGraphicFramePr>
            <p:nvPr/>
          </p:nvGraphicFramePr>
          <p:xfrm>
            <a:off x="3161" y="1525"/>
            <a:ext cx="26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02" name="Equation" r:id="rId40" imgW="3962400" imgH="3962400" progId="Equation.DSMT4">
                    <p:embed/>
                  </p:oleObj>
                </mc:Choice>
                <mc:Fallback>
                  <p:oleObj name="Equation" r:id="rId40" imgW="3962400" imgH="3962400" progId="Equation.DSMT4">
                    <p:embed/>
                    <p:pic>
                      <p:nvPicPr>
                        <p:cNvPr id="0" name="图片 5635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1" y="1525"/>
                          <a:ext cx="26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202" name="Object 178"/>
            <p:cNvGraphicFramePr>
              <a:graphicFrameLocks noChangeAspect="1"/>
            </p:cNvGraphicFramePr>
            <p:nvPr/>
          </p:nvGraphicFramePr>
          <p:xfrm>
            <a:off x="4065" y="1512"/>
            <a:ext cx="28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03" name="Equation" r:id="rId42" imgW="4267200" imgH="4572000" progId="Equation.DSMT4">
                    <p:embed/>
                  </p:oleObj>
                </mc:Choice>
                <mc:Fallback>
                  <p:oleObj name="Equation" r:id="rId42" imgW="4267200" imgH="4572000" progId="Equation.DSMT4">
                    <p:embed/>
                    <p:pic>
                      <p:nvPicPr>
                        <p:cNvPr id="0" name="图片 5635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5" y="1512"/>
                          <a:ext cx="28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283" name="Group 259"/>
          <p:cNvGrpSpPr/>
          <p:nvPr/>
        </p:nvGrpSpPr>
        <p:grpSpPr bwMode="auto">
          <a:xfrm>
            <a:off x="769938" y="4314825"/>
            <a:ext cx="2982912" cy="285750"/>
            <a:chOff x="485" y="2654"/>
            <a:chExt cx="1879" cy="180"/>
          </a:xfrm>
        </p:grpSpPr>
        <p:sp>
          <p:nvSpPr>
            <p:cNvPr id="513205" name="WordArt 181"/>
            <p:cNvSpPr>
              <a:spLocks noChangeArrowheads="1" noChangeShapeType="1" noTextEdit="1"/>
            </p:cNvSpPr>
            <p:nvPr/>
          </p:nvSpPr>
          <p:spPr bwMode="auto">
            <a:xfrm>
              <a:off x="485" y="2654"/>
              <a:ext cx="1879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可以求一临界值  </a:t>
              </a:r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使得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206" name="WordArt 182"/>
            <p:cNvSpPr>
              <a:spLocks noChangeArrowheads="1" noChangeShapeType="1" noTextEdit="1"/>
            </p:cNvSpPr>
            <p:nvPr/>
          </p:nvSpPr>
          <p:spPr bwMode="auto">
            <a:xfrm>
              <a:off x="1771" y="2687"/>
              <a:ext cx="126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C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513259" name="Group 235"/>
          <p:cNvGrpSpPr/>
          <p:nvPr/>
        </p:nvGrpSpPr>
        <p:grpSpPr bwMode="auto">
          <a:xfrm>
            <a:off x="4146550" y="4102100"/>
            <a:ext cx="3792538" cy="295275"/>
            <a:chOff x="1788" y="2936"/>
            <a:chExt cx="2389" cy="186"/>
          </a:xfrm>
        </p:grpSpPr>
        <p:grpSp>
          <p:nvGrpSpPr>
            <p:cNvPr id="513231" name="Group 207"/>
            <p:cNvGrpSpPr/>
            <p:nvPr/>
          </p:nvGrpSpPr>
          <p:grpSpPr bwMode="auto">
            <a:xfrm>
              <a:off x="2045" y="2936"/>
              <a:ext cx="1045" cy="186"/>
              <a:chOff x="1917" y="2984"/>
              <a:chExt cx="1045" cy="186"/>
            </a:xfrm>
          </p:grpSpPr>
          <p:sp>
            <p:nvSpPr>
              <p:cNvPr id="513218" name="WordArt 19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18" y="3009"/>
                <a:ext cx="131" cy="16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rPr>
                  <a:t>m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13219" name="WordArt 19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60" y="3100"/>
                <a:ext cx="54" cy="7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3220" name="WordArt 1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155" y="3087"/>
                <a:ext cx="131" cy="9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Symbol" panose="05050102010706020507"/>
                </a:endParaRPr>
              </a:p>
            </p:txBody>
          </p:sp>
          <p:grpSp>
            <p:nvGrpSpPr>
              <p:cNvPr id="513230" name="Group 206"/>
              <p:cNvGrpSpPr/>
              <p:nvPr/>
            </p:nvGrpSpPr>
            <p:grpSpPr bwMode="auto">
              <a:xfrm>
                <a:off x="1963" y="2984"/>
                <a:ext cx="159" cy="176"/>
                <a:chOff x="1963" y="2984"/>
                <a:chExt cx="159" cy="176"/>
              </a:xfrm>
            </p:grpSpPr>
            <p:sp>
              <p:nvSpPr>
                <p:cNvPr id="513221" name="WordArt 19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63" y="3022"/>
                  <a:ext cx="146" cy="138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i="1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FFCC00"/>
                      </a:solidFill>
                      <a:effectLst/>
                      <a:latin typeface="Times New Roman" panose="02020603050405020304"/>
                      <a:cs typeface="Times New Roman" panose="02020603050405020304"/>
                    </a:rPr>
                    <a:t>X</a:t>
                  </a:r>
                  <a:endParaRPr lang="zh-CN" altLang="en-US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13222" name="WordArt 19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91" y="2984"/>
                  <a:ext cx="131" cy="9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FFCC00"/>
                      </a:solidFill>
                      <a:effectLst/>
                      <a:latin typeface="Symbol" panose="05050102010706020507"/>
                    </a:rPr>
                    <a:t>-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endParaRPr>
                </a:p>
              </p:txBody>
            </p:sp>
          </p:grpSp>
          <p:sp>
            <p:nvSpPr>
              <p:cNvPr id="513224" name="WordArt 20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17" y="3000"/>
                <a:ext cx="9" cy="168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rPr>
                  <a:t>|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13225" name="WordArt 20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72" y="3001"/>
                <a:ext cx="9" cy="168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rPr>
                  <a:t>|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13226" name="WordArt 20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44" y="3026"/>
                <a:ext cx="131" cy="127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≥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3228" name="WordArt 20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6" y="3020"/>
                <a:ext cx="126" cy="13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C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513245" name="WordArt 221"/>
            <p:cNvSpPr>
              <a:spLocks noChangeArrowheads="1" noChangeShapeType="1" noTextEdit="1"/>
            </p:cNvSpPr>
            <p:nvPr/>
          </p:nvSpPr>
          <p:spPr bwMode="auto">
            <a:xfrm>
              <a:off x="4123" y="3049"/>
              <a:ext cx="54" cy="7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Times New Roman" panose="02020603050405020304"/>
                  <a:cs typeface="Times New Roman" panose="02020603050405020304"/>
                </a:rPr>
                <a:t>0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/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253" name="WordArt 229"/>
            <p:cNvSpPr>
              <a:spLocks noChangeArrowheads="1" noChangeShapeType="1" noTextEdit="1"/>
            </p:cNvSpPr>
            <p:nvPr/>
          </p:nvSpPr>
          <p:spPr bwMode="auto">
            <a:xfrm>
              <a:off x="3957" y="2957"/>
              <a:ext cx="143" cy="154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Times New Roman" panose="02020603050405020304"/>
                  <a:cs typeface="Times New Roman" panose="02020603050405020304"/>
                </a:rPr>
                <a:t>H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/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254" name="WordArt 230"/>
            <p:cNvSpPr>
              <a:spLocks noChangeArrowheads="1" noChangeShapeType="1" noTextEdit="1"/>
            </p:cNvSpPr>
            <p:nvPr/>
          </p:nvSpPr>
          <p:spPr bwMode="auto">
            <a:xfrm>
              <a:off x="1788" y="2941"/>
              <a:ext cx="151" cy="1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当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256" name="WordArt 232"/>
            <p:cNvSpPr>
              <a:spLocks noChangeArrowheads="1" noChangeShapeType="1" noTextEdit="1"/>
            </p:cNvSpPr>
            <p:nvPr/>
          </p:nvSpPr>
          <p:spPr bwMode="auto">
            <a:xfrm>
              <a:off x="3165" y="2942"/>
              <a:ext cx="727" cy="1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时，拒绝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3260" name="Group 236"/>
          <p:cNvGrpSpPr/>
          <p:nvPr/>
        </p:nvGrpSpPr>
        <p:grpSpPr bwMode="auto">
          <a:xfrm>
            <a:off x="4148138" y="4510088"/>
            <a:ext cx="3792537" cy="295275"/>
            <a:chOff x="1788" y="2936"/>
            <a:chExt cx="2389" cy="186"/>
          </a:xfrm>
        </p:grpSpPr>
        <p:grpSp>
          <p:nvGrpSpPr>
            <p:cNvPr id="513261" name="Group 237"/>
            <p:cNvGrpSpPr/>
            <p:nvPr/>
          </p:nvGrpSpPr>
          <p:grpSpPr bwMode="auto">
            <a:xfrm>
              <a:off x="2045" y="2936"/>
              <a:ext cx="1045" cy="186"/>
              <a:chOff x="1917" y="2984"/>
              <a:chExt cx="1045" cy="186"/>
            </a:xfrm>
          </p:grpSpPr>
          <p:sp>
            <p:nvSpPr>
              <p:cNvPr id="513262" name="WordArt 23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18" y="3009"/>
                <a:ext cx="131" cy="16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rPr>
                  <a:t>m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13263" name="WordArt 23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60" y="3100"/>
                <a:ext cx="54" cy="7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3264" name="WordArt 240"/>
              <p:cNvSpPr>
                <a:spLocks noChangeArrowheads="1" noChangeShapeType="1" noTextEdit="1"/>
              </p:cNvSpPr>
              <p:nvPr/>
            </p:nvSpPr>
            <p:spPr bwMode="auto">
              <a:xfrm>
                <a:off x="2155" y="3087"/>
                <a:ext cx="131" cy="9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Symbol" panose="05050102010706020507"/>
                </a:endParaRPr>
              </a:p>
            </p:txBody>
          </p:sp>
          <p:grpSp>
            <p:nvGrpSpPr>
              <p:cNvPr id="513265" name="Group 241"/>
              <p:cNvGrpSpPr/>
              <p:nvPr/>
            </p:nvGrpSpPr>
            <p:grpSpPr bwMode="auto">
              <a:xfrm>
                <a:off x="1963" y="2984"/>
                <a:ext cx="159" cy="176"/>
                <a:chOff x="1963" y="2984"/>
                <a:chExt cx="159" cy="176"/>
              </a:xfrm>
            </p:grpSpPr>
            <p:sp>
              <p:nvSpPr>
                <p:cNvPr id="513266" name="WordArt 24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63" y="3022"/>
                  <a:ext cx="146" cy="138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i="1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FFCC00"/>
                      </a:solidFill>
                      <a:effectLst/>
                      <a:latin typeface="Times New Roman" panose="02020603050405020304"/>
                      <a:cs typeface="Times New Roman" panose="02020603050405020304"/>
                    </a:rPr>
                    <a:t>X</a:t>
                  </a:r>
                  <a:endParaRPr lang="zh-CN" altLang="en-US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13267" name="WordArt 24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91" y="2984"/>
                  <a:ext cx="131" cy="9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FFCC00"/>
                      </a:solidFill>
                      <a:effectLst/>
                      <a:latin typeface="Symbol" panose="05050102010706020507"/>
                    </a:rPr>
                    <a:t>-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endParaRPr>
                </a:p>
              </p:txBody>
            </p:sp>
          </p:grpSp>
          <p:sp>
            <p:nvSpPr>
              <p:cNvPr id="513268" name="WordArt 24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17" y="3000"/>
                <a:ext cx="9" cy="168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rPr>
                  <a:t>|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13269" name="WordArt 24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72" y="3001"/>
                <a:ext cx="9" cy="168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rPr>
                  <a:t>|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13270" name="WordArt 24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44" y="3026"/>
                <a:ext cx="131" cy="127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Symbol" panose="05050102010706020507"/>
                  </a:rPr>
                  <a:t>&lt;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13271" name="WordArt 247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6" y="3020"/>
                <a:ext cx="126" cy="13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FFCC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C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513272" name="WordArt 248"/>
            <p:cNvSpPr>
              <a:spLocks noChangeArrowheads="1" noChangeShapeType="1" noTextEdit="1"/>
            </p:cNvSpPr>
            <p:nvPr/>
          </p:nvSpPr>
          <p:spPr bwMode="auto">
            <a:xfrm>
              <a:off x="4123" y="3049"/>
              <a:ext cx="54" cy="7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Times New Roman" panose="02020603050405020304"/>
                  <a:cs typeface="Times New Roman" panose="02020603050405020304"/>
                </a:rPr>
                <a:t>0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/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273" name="WordArt 249"/>
            <p:cNvSpPr>
              <a:spLocks noChangeArrowheads="1" noChangeShapeType="1" noTextEdit="1"/>
            </p:cNvSpPr>
            <p:nvPr/>
          </p:nvSpPr>
          <p:spPr bwMode="auto">
            <a:xfrm>
              <a:off x="3957" y="2957"/>
              <a:ext cx="143" cy="154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Times New Roman" panose="02020603050405020304"/>
                  <a:cs typeface="Times New Roman" panose="02020603050405020304"/>
                </a:rPr>
                <a:t>H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/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274" name="WordArt 250"/>
            <p:cNvSpPr>
              <a:spLocks noChangeArrowheads="1" noChangeShapeType="1" noTextEdit="1"/>
            </p:cNvSpPr>
            <p:nvPr/>
          </p:nvSpPr>
          <p:spPr bwMode="auto">
            <a:xfrm>
              <a:off x="1788" y="2941"/>
              <a:ext cx="151" cy="1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当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275" name="WordArt 251"/>
            <p:cNvSpPr>
              <a:spLocks noChangeArrowheads="1" noChangeShapeType="1" noTextEdit="1"/>
            </p:cNvSpPr>
            <p:nvPr/>
          </p:nvSpPr>
          <p:spPr bwMode="auto">
            <a:xfrm>
              <a:off x="3165" y="2942"/>
              <a:ext cx="727" cy="1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时，接受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3282" name="WordArt 258"/>
          <p:cNvSpPr>
            <a:spLocks noChangeArrowheads="1" noChangeShapeType="1" noTextEdit="1"/>
          </p:cNvSpPr>
          <p:nvPr/>
        </p:nvSpPr>
        <p:spPr bwMode="auto">
          <a:xfrm>
            <a:off x="452438" y="5349875"/>
            <a:ext cx="2455862" cy="354013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3399FF"/>
                  </a:solidFill>
                  <a:round/>
                </a:ln>
                <a:effectLst/>
                <a:latin typeface="华文中宋" panose="02010600040101010101" charset="-122"/>
                <a:ea typeface="华文中宋" panose="02010600040101010101" charset="-122"/>
              </a:rPr>
              <a:t>决策的两类错误</a:t>
            </a:r>
            <a:endParaRPr lang="zh-CN" altLang="en-US" sz="3600" b="1" kern="10">
              <a:ln w="12700">
                <a:solidFill>
                  <a:srgbClr val="3399FF"/>
                </a:solidFill>
                <a:round/>
              </a:ln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3284" name="AutoShape 260"/>
          <p:cNvSpPr/>
          <p:nvPr/>
        </p:nvSpPr>
        <p:spPr bwMode="auto">
          <a:xfrm>
            <a:off x="3911600" y="4165600"/>
            <a:ext cx="101600" cy="584200"/>
          </a:xfrm>
          <a:prstGeom prst="leftBrace">
            <a:avLst>
              <a:gd name="adj1" fmla="val 47917"/>
              <a:gd name="adj2" fmla="val 50000"/>
            </a:avLst>
          </a:prstGeom>
          <a:noFill/>
          <a:ln w="19050">
            <a:solidFill>
              <a:schemeClr val="tx2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13285" name="Oval 261"/>
          <p:cNvSpPr>
            <a:spLocks noChangeArrowheads="1"/>
          </p:cNvSpPr>
          <p:nvPr/>
        </p:nvSpPr>
        <p:spPr bwMode="auto">
          <a:xfrm>
            <a:off x="3886200" y="3937000"/>
            <a:ext cx="4229100" cy="9906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3316" name="Group 292"/>
          <p:cNvGrpSpPr/>
          <p:nvPr/>
        </p:nvGrpSpPr>
        <p:grpSpPr bwMode="auto">
          <a:xfrm>
            <a:off x="8277225" y="3852863"/>
            <a:ext cx="596900" cy="1120775"/>
            <a:chOff x="5230" y="2427"/>
            <a:chExt cx="376" cy="706"/>
          </a:xfrm>
        </p:grpSpPr>
        <p:sp>
          <p:nvSpPr>
            <p:cNvPr id="513278" name="AutoShape 254"/>
            <p:cNvSpPr>
              <a:spLocks noChangeArrowheads="1"/>
            </p:cNvSpPr>
            <p:nvPr/>
          </p:nvSpPr>
          <p:spPr bwMode="auto">
            <a:xfrm>
              <a:off x="5230" y="2427"/>
              <a:ext cx="376" cy="706"/>
            </a:xfrm>
            <a:prstGeom prst="wedgeRectCallout">
              <a:avLst>
                <a:gd name="adj1" fmla="val -78458"/>
                <a:gd name="adj2" fmla="val -8218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13279" name="WordArt 255"/>
            <p:cNvSpPr>
              <a:spLocks noChangeArrowheads="1" noChangeShapeType="1" noTextEdit="1"/>
            </p:cNvSpPr>
            <p:nvPr/>
          </p:nvSpPr>
          <p:spPr bwMode="auto">
            <a:xfrm>
              <a:off x="5274" y="2461"/>
              <a:ext cx="292" cy="6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随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机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决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策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3303" name="Group 279"/>
          <p:cNvGrpSpPr/>
          <p:nvPr/>
        </p:nvGrpSpPr>
        <p:grpSpPr bwMode="auto">
          <a:xfrm>
            <a:off x="4818063" y="4979993"/>
            <a:ext cx="4211637" cy="577850"/>
            <a:chOff x="3107" y="3345"/>
            <a:chExt cx="2653" cy="364"/>
          </a:xfrm>
        </p:grpSpPr>
        <p:sp>
          <p:nvSpPr>
            <p:cNvPr id="513287" name="Rectangle 263"/>
            <p:cNvSpPr>
              <a:spLocks noChangeArrowheads="1"/>
            </p:cNvSpPr>
            <p:nvPr/>
          </p:nvSpPr>
          <p:spPr bwMode="auto">
            <a:xfrm>
              <a:off x="3337" y="3345"/>
              <a:ext cx="2423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为真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但拒绝   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弃真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   </a:t>
              </a:r>
              <a:endPara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296" name="Object 272"/>
            <p:cNvGraphicFramePr>
              <a:graphicFrameLocks noChangeAspect="1"/>
            </p:cNvGraphicFramePr>
            <p:nvPr/>
          </p:nvGraphicFramePr>
          <p:xfrm>
            <a:off x="3107" y="3427"/>
            <a:ext cx="32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04" name="Equation" r:id="rId44" imgW="4876800" imgH="4267200" progId="Equation.DSMT4">
                    <p:embed/>
                  </p:oleObj>
                </mc:Choice>
                <mc:Fallback>
                  <p:oleObj name="Equation" r:id="rId44" imgW="4876800" imgH="4267200" progId="Equation.DSMT4">
                    <p:embed/>
                    <p:pic>
                      <p:nvPicPr>
                        <p:cNvPr id="0" name="图片 5635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3427"/>
                          <a:ext cx="32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297" name="Object 273"/>
            <p:cNvGraphicFramePr>
              <a:graphicFrameLocks noChangeAspect="1"/>
            </p:cNvGraphicFramePr>
            <p:nvPr/>
          </p:nvGraphicFramePr>
          <p:xfrm>
            <a:off x="4620" y="3392"/>
            <a:ext cx="32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05" name="Equation" r:id="rId46" imgW="4876800" imgH="4267200" progId="Equation.DSMT4">
                    <p:embed/>
                  </p:oleObj>
                </mc:Choice>
                <mc:Fallback>
                  <p:oleObj name="Equation" r:id="rId46" imgW="4876800" imgH="4267200" progId="Equation.DSMT4">
                    <p:embed/>
                    <p:pic>
                      <p:nvPicPr>
                        <p:cNvPr id="0" name="图片 5635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0" y="3392"/>
                          <a:ext cx="32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304" name="Group 280"/>
          <p:cNvGrpSpPr/>
          <p:nvPr/>
        </p:nvGrpSpPr>
        <p:grpSpPr bwMode="auto">
          <a:xfrm>
            <a:off x="4830763" y="5426075"/>
            <a:ext cx="4211637" cy="579438"/>
            <a:chOff x="3107" y="3345"/>
            <a:chExt cx="2653" cy="365"/>
          </a:xfrm>
        </p:grpSpPr>
        <p:sp>
          <p:nvSpPr>
            <p:cNvPr id="513305" name="Rectangle 281"/>
            <p:cNvSpPr>
              <a:spLocks noChangeArrowheads="1"/>
            </p:cNvSpPr>
            <p:nvPr/>
          </p:nvSpPr>
          <p:spPr bwMode="auto">
            <a:xfrm>
              <a:off x="3337" y="3345"/>
              <a:ext cx="2423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不真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但接受   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取伪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   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3306" name="Object 282"/>
            <p:cNvGraphicFramePr>
              <a:graphicFrameLocks noChangeAspect="1"/>
            </p:cNvGraphicFramePr>
            <p:nvPr/>
          </p:nvGraphicFramePr>
          <p:xfrm>
            <a:off x="3107" y="3427"/>
            <a:ext cx="32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06" name="Equation" r:id="rId48" imgW="4876800" imgH="4267200" progId="Equation.DSMT4">
                    <p:embed/>
                  </p:oleObj>
                </mc:Choice>
                <mc:Fallback>
                  <p:oleObj name="Equation" r:id="rId48" imgW="4876800" imgH="4267200" progId="Equation.DSMT4">
                    <p:embed/>
                    <p:pic>
                      <p:nvPicPr>
                        <p:cNvPr id="0" name="图片 5635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3427"/>
                          <a:ext cx="32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307" name="Object 283"/>
            <p:cNvGraphicFramePr>
              <a:graphicFrameLocks noChangeAspect="1"/>
            </p:cNvGraphicFramePr>
            <p:nvPr/>
          </p:nvGraphicFramePr>
          <p:xfrm>
            <a:off x="4620" y="3428"/>
            <a:ext cx="325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07" name="Equation" r:id="rId50" imgW="4876800" imgH="4267200" progId="Equation.DSMT4">
                    <p:embed/>
                  </p:oleObj>
                </mc:Choice>
                <mc:Fallback>
                  <p:oleObj name="Equation" r:id="rId50" imgW="4876800" imgH="4267200" progId="Equation.DSMT4">
                    <p:embed/>
                    <p:pic>
                      <p:nvPicPr>
                        <p:cNvPr id="0" name="图片 5635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0" y="3428"/>
                          <a:ext cx="325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308" name="AutoShape 284"/>
          <p:cNvSpPr/>
          <p:nvPr/>
        </p:nvSpPr>
        <p:spPr bwMode="auto">
          <a:xfrm>
            <a:off x="2971800" y="5168900"/>
            <a:ext cx="203200" cy="698500"/>
          </a:xfrm>
          <a:prstGeom prst="leftBrace">
            <a:avLst>
              <a:gd name="adj1" fmla="val 28646"/>
              <a:gd name="adj2" fmla="val 50000"/>
            </a:avLst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3315" name="Group 291"/>
          <p:cNvGrpSpPr/>
          <p:nvPr/>
        </p:nvGrpSpPr>
        <p:grpSpPr bwMode="auto">
          <a:xfrm>
            <a:off x="3317875" y="5140325"/>
            <a:ext cx="1362075" cy="298450"/>
            <a:chOff x="2122" y="3430"/>
            <a:chExt cx="954" cy="188"/>
          </a:xfrm>
        </p:grpSpPr>
        <p:sp>
          <p:nvSpPr>
            <p:cNvPr id="513309" name="WordArt 285"/>
            <p:cNvSpPr>
              <a:spLocks noChangeArrowheads="1" noChangeShapeType="1" noTextEdit="1"/>
            </p:cNvSpPr>
            <p:nvPr/>
          </p:nvSpPr>
          <p:spPr bwMode="auto">
            <a:xfrm>
              <a:off x="2293" y="3430"/>
              <a:ext cx="783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类错误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310" name="WordArt 286"/>
            <p:cNvSpPr>
              <a:spLocks noChangeArrowheads="1" noChangeShapeType="1" noTextEdit="1"/>
            </p:cNvSpPr>
            <p:nvPr/>
          </p:nvSpPr>
          <p:spPr bwMode="auto">
            <a:xfrm>
              <a:off x="2122" y="3453"/>
              <a:ext cx="61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513314" name="Group 290"/>
          <p:cNvGrpSpPr/>
          <p:nvPr/>
        </p:nvGrpSpPr>
        <p:grpSpPr bwMode="auto">
          <a:xfrm>
            <a:off x="3230563" y="5586413"/>
            <a:ext cx="1463675" cy="298450"/>
            <a:chOff x="2059" y="3711"/>
            <a:chExt cx="1018" cy="188"/>
          </a:xfrm>
        </p:grpSpPr>
        <p:sp>
          <p:nvSpPr>
            <p:cNvPr id="513311" name="WordArt 287"/>
            <p:cNvSpPr>
              <a:spLocks noChangeArrowheads="1" noChangeShapeType="1" noTextEdit="1"/>
            </p:cNvSpPr>
            <p:nvPr/>
          </p:nvSpPr>
          <p:spPr bwMode="auto">
            <a:xfrm>
              <a:off x="2059" y="3726"/>
              <a:ext cx="61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312" name="WordArt 288"/>
            <p:cNvSpPr>
              <a:spLocks noChangeArrowheads="1" noChangeShapeType="1" noTextEdit="1"/>
            </p:cNvSpPr>
            <p:nvPr/>
          </p:nvSpPr>
          <p:spPr bwMode="auto">
            <a:xfrm>
              <a:off x="2172" y="3727"/>
              <a:ext cx="61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3313" name="WordArt 289"/>
            <p:cNvSpPr>
              <a:spLocks noChangeArrowheads="1" noChangeShapeType="1" noTextEdit="1"/>
            </p:cNvSpPr>
            <p:nvPr/>
          </p:nvSpPr>
          <p:spPr bwMode="auto">
            <a:xfrm>
              <a:off x="2294" y="3711"/>
              <a:ext cx="783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类错误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3317" name="Rectangle 293"/>
          <p:cNvSpPr>
            <a:spLocks noChangeArrowheads="1"/>
          </p:cNvSpPr>
          <p:nvPr/>
        </p:nvSpPr>
        <p:spPr bwMode="auto">
          <a:xfrm>
            <a:off x="1874838" y="5995988"/>
            <a:ext cx="4090987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charset="-122"/>
                <a:ea typeface="华文新魏" panose="02010800040101010101" charset="-122"/>
              </a:rPr>
              <a:t>怎样控制这两类错误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charset="-122"/>
              <a:ea typeface="华文新魏" panose="02010800040101010101" charset="-122"/>
            </a:endParaRPr>
          </a:p>
        </p:txBody>
      </p:sp>
      <p:grpSp>
        <p:nvGrpSpPr>
          <p:cNvPr id="513322" name="Group 298"/>
          <p:cNvGrpSpPr/>
          <p:nvPr/>
        </p:nvGrpSpPr>
        <p:grpSpPr bwMode="auto">
          <a:xfrm>
            <a:off x="742950" y="6170613"/>
            <a:ext cx="1095375" cy="366712"/>
            <a:chOff x="476" y="3887"/>
            <a:chExt cx="690" cy="231"/>
          </a:xfrm>
        </p:grpSpPr>
        <p:pic>
          <p:nvPicPr>
            <p:cNvPr id="513319" name="Picture 295" descr="4"/>
            <p:cNvPicPr>
              <a:picLocks noChangeAspect="1" noChangeArrowheads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3887"/>
              <a:ext cx="366" cy="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3320" name="WordArt 296"/>
            <p:cNvSpPr>
              <a:spLocks noChangeArrowheads="1" noChangeShapeType="1" noTextEdit="1"/>
            </p:cNvSpPr>
            <p:nvPr/>
          </p:nvSpPr>
          <p:spPr bwMode="auto">
            <a:xfrm>
              <a:off x="711" y="3900"/>
              <a:ext cx="455" cy="1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问题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513321" name="WordArt 297"/>
          <p:cNvSpPr>
            <a:spLocks noChangeArrowheads="1" noChangeShapeType="1" noTextEdit="1"/>
          </p:cNvSpPr>
          <p:nvPr/>
        </p:nvSpPr>
        <p:spPr bwMode="auto">
          <a:xfrm>
            <a:off x="5278438" y="620395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3326" name="Freeform 302"/>
          <p:cNvSpPr/>
          <p:nvPr/>
        </p:nvSpPr>
        <p:spPr bwMode="auto">
          <a:xfrm>
            <a:off x="762000" y="5751513"/>
            <a:ext cx="2120900" cy="39687"/>
          </a:xfrm>
          <a:custGeom>
            <a:avLst/>
            <a:gdLst>
              <a:gd name="T0" fmla="*/ 0 w 1336"/>
              <a:gd name="T1" fmla="*/ 25 h 25"/>
              <a:gd name="T2" fmla="*/ 400 w 1336"/>
              <a:gd name="T3" fmla="*/ 1 h 25"/>
              <a:gd name="T4" fmla="*/ 800 w 1336"/>
              <a:gd name="T5" fmla="*/ 17 h 25"/>
              <a:gd name="T6" fmla="*/ 1064 w 1336"/>
              <a:gd name="T7" fmla="*/ 17 h 25"/>
              <a:gd name="T8" fmla="*/ 1336 w 1336"/>
              <a:gd name="T9" fmla="*/ 9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6" h="25">
                <a:moveTo>
                  <a:pt x="0" y="25"/>
                </a:moveTo>
                <a:cubicBezTo>
                  <a:pt x="133" y="13"/>
                  <a:pt x="267" y="2"/>
                  <a:pt x="400" y="1"/>
                </a:cubicBezTo>
                <a:cubicBezTo>
                  <a:pt x="533" y="0"/>
                  <a:pt x="689" y="14"/>
                  <a:pt x="800" y="17"/>
                </a:cubicBezTo>
                <a:cubicBezTo>
                  <a:pt x="911" y="20"/>
                  <a:pt x="975" y="18"/>
                  <a:pt x="1064" y="17"/>
                </a:cubicBezTo>
                <a:cubicBezTo>
                  <a:pt x="1153" y="16"/>
                  <a:pt x="1244" y="12"/>
                  <a:pt x="1336" y="9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9" name="Object 123"/>
          <p:cNvGraphicFramePr>
            <a:graphicFrameLocks noChangeAspect="1"/>
          </p:cNvGraphicFramePr>
          <p:nvPr/>
        </p:nvGraphicFramePr>
        <p:xfrm>
          <a:off x="2495550" y="866524"/>
          <a:ext cx="41497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08" name="Equation" r:id="rId52" imgW="39319200" imgH="4572000" progId="Equation.DSMT4">
                  <p:embed/>
                </p:oleObj>
              </mc:Choice>
              <mc:Fallback>
                <p:oleObj name="Equation" r:id="rId52" imgW="39319200" imgH="4572000" progId="Equation.DSMT4">
                  <p:embed/>
                  <p:pic>
                    <p:nvPicPr>
                      <p:cNvPr id="0" name="图片 5635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866524"/>
                        <a:ext cx="41497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WordArt 132"/>
          <p:cNvSpPr>
            <a:spLocks noChangeArrowheads="1" noChangeShapeType="1" noTextEdit="1"/>
          </p:cNvSpPr>
          <p:nvPr/>
        </p:nvSpPr>
        <p:spPr bwMode="auto">
          <a:xfrm>
            <a:off x="670025" y="908283"/>
            <a:ext cx="1528763" cy="2952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怎样检验假设</a:t>
            </a:r>
            <a:endParaRPr lang="zh-CN" altLang="en-US" sz="3600" b="1" kern="10" dirty="0">
              <a:ln w="12700">
                <a:solidFill>
                  <a:srgbClr val="FF0000"/>
                </a:solidFill>
                <a:round/>
              </a:ln>
              <a:solidFill>
                <a:srgbClr val="FFFF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1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1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1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3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3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1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1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1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1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1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1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13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13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1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13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13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1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1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51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1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3" dur="1000" fill="hold"/>
                                        <p:tgtEl>
                                          <p:spTgt spid="51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0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513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513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5130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00"/>
                                        <p:tgtEl>
                                          <p:spTgt spid="5130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000"/>
                                        <p:tgtEl>
                                          <p:spTgt spid="513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1000"/>
                                        <p:tgtEl>
                                          <p:spTgt spid="513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513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000"/>
                                        <p:tgtEl>
                                          <p:spTgt spid="513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000"/>
                                        <p:tgtEl>
                                          <p:spTgt spid="513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1000"/>
                                        <p:tgtEl>
                                          <p:spTgt spid="513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513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1000"/>
                                        <p:tgtEl>
                                          <p:spTgt spid="513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000"/>
                                        <p:tgtEl>
                                          <p:spTgt spid="513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000"/>
                                        <p:tgtEl>
                                          <p:spTgt spid="513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513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1000"/>
                                        <p:tgtEl>
                                          <p:spTgt spid="513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069 L 0.00035 -0.51365 " pathEditMode="relative" rAng="0" ptsTypes="AA">
                                      <p:cBhvr>
                                        <p:cTn id="168" dur="10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648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59259E-6 L -0.00278 -0.56296 " pathEditMode="relative" rAng="0" ptsTypes="AA">
                                      <p:cBhvr>
                                        <p:cTn id="170" dur="1000" fill="hold"/>
                                        <p:tgtEl>
                                          <p:spTgt spid="513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28148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-0.57361 -0.63518 " pathEditMode="relative" rAng="0" ptsTypes="AA">
                                      <p:cBhvr>
                                        <p:cTn id="172" dur="1000" fill="hold"/>
                                        <p:tgtEl>
                                          <p:spTgt spid="513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81" y="-31759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3056 -0.57407 " pathEditMode="relative" ptsTypes="AA">
                                      <p:cBhvr>
                                        <p:cTn id="174" dur="1000" fill="hold"/>
                                        <p:tgtEl>
                                          <p:spTgt spid="513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3056 -0.57407 " pathEditMode="relative" ptsTypes="AA">
                                      <p:cBhvr>
                                        <p:cTn id="176" dur="1000" fill="hold"/>
                                        <p:tgtEl>
                                          <p:spTgt spid="513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51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51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51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513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513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1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51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51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513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51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51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51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513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513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1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513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513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51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000"/>
                            </p:stCondLst>
                            <p:childTnLst>
                              <p:par>
                                <p:cTn id="2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51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51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513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513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51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5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5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5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513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513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51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500"/>
                            </p:stCondLst>
                            <p:childTnLst>
                              <p:par>
                                <p:cTn id="2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513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513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51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000"/>
                            </p:stCondLst>
                            <p:childTnLst>
                              <p:par>
                                <p:cTn id="2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5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1500"/>
                            </p:stCondLst>
                            <p:childTnLst>
                              <p:par>
                                <p:cTn id="27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51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5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51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513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513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5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1000"/>
                                        <p:tgtEl>
                                          <p:spTgt spid="513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1000"/>
                                        <p:tgtEl>
                                          <p:spTgt spid="513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513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513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5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3" dur="500"/>
                                        <p:tgtEl>
                                          <p:spTgt spid="5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6" dur="500"/>
                                        <p:tgtEl>
                                          <p:spTgt spid="5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1000"/>
                            </p:stCondLst>
                            <p:childTnLst>
                              <p:par>
                                <p:cTn id="3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59259E-6 L -0.00278 -0.56296 " pathEditMode="relative" rAng="0" ptsTypes="AA">
                                      <p:cBhvr>
                                        <p:cTn id="326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28148"/>
                                    </p:animMotion>
                                  </p:childTnLst>
                                </p:cTn>
                              </p:par>
                              <p:par>
                                <p:cTn id="32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-0.57361 -0.63518 " pathEditMode="relative" rAng="0" ptsTypes="AA">
                                      <p:cBhvr>
                                        <p:cTn id="32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81" y="-3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9" grpId="0"/>
      <p:bldP spid="513029" grpId="1"/>
      <p:bldP spid="513045" grpId="0" animBg="1"/>
      <p:bldP spid="513045" grpId="1" animBg="1"/>
      <p:bldP spid="513061" grpId="0" animBg="1"/>
      <p:bldP spid="513061" grpId="1" animBg="1"/>
      <p:bldP spid="513062" grpId="0" animBg="1"/>
      <p:bldP spid="513062" grpId="1" animBg="1"/>
      <p:bldP spid="513129" grpId="0"/>
      <p:bldP spid="513129" grpId="1"/>
      <p:bldP spid="513149" grpId="0" animBg="1"/>
      <p:bldP spid="513149" grpId="1" animBg="1"/>
      <p:bldP spid="513155" grpId="0" animBg="1"/>
      <p:bldP spid="513155" grpId="1" animBg="1"/>
      <p:bldP spid="513156" grpId="0" animBg="1"/>
      <p:bldP spid="513156" grpId="1" animBg="1"/>
      <p:bldP spid="513158" grpId="0" animBg="1"/>
      <p:bldP spid="513158" grpId="1" animBg="1"/>
      <p:bldP spid="513159" grpId="0" animBg="1"/>
      <p:bldP spid="513159" grpId="1" animBg="1"/>
      <p:bldP spid="513159" grpId="2" animBg="1"/>
      <p:bldP spid="513161" grpId="0" animBg="1"/>
      <p:bldP spid="513162" grpId="0" animBg="1"/>
      <p:bldP spid="513170" grpId="0"/>
      <p:bldP spid="513184" grpId="0"/>
      <p:bldP spid="513282" grpId="0" animBg="1"/>
      <p:bldP spid="513284" grpId="0" animBg="1"/>
      <p:bldP spid="513285" grpId="0" animBg="1"/>
      <p:bldP spid="513285" grpId="1" animBg="1"/>
      <p:bldP spid="513308" grpId="0" animBg="1"/>
      <p:bldP spid="513317" grpId="0"/>
      <p:bldP spid="513321" grpId="0"/>
      <p:bldP spid="513326" grpId="0" animBg="1"/>
      <p:bldP spid="140" grpId="0" animBg="1"/>
      <p:bldP spid="14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93" name="WordArt 21"/>
          <p:cNvSpPr>
            <a:spLocks noChangeArrowheads="1" noChangeShapeType="1" noTextEdit="1"/>
          </p:cNvSpPr>
          <p:nvPr/>
        </p:nvSpPr>
        <p:spPr bwMode="auto">
          <a:xfrm>
            <a:off x="823913" y="681038"/>
            <a:ext cx="1760537" cy="290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检验原则一</a:t>
            </a:r>
            <a:r>
              <a:rPr lang="en-US" altLang="zh-CN" sz="3600" b="1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endParaRPr lang="zh-CN" altLang="en-US" sz="3600" b="1" kern="10">
              <a:ln w="12700">
                <a:solidFill>
                  <a:schemeClr val="accent2"/>
                </a:solidFill>
                <a:round/>
              </a:ln>
              <a:gradFill rotWithShape="1">
                <a:gsLst>
                  <a:gs pos="0">
                    <a:srgbClr val="0066CC"/>
                  </a:gs>
                  <a:gs pos="50000">
                    <a:srgbClr val="FFFFFF"/>
                  </a:gs>
                  <a:gs pos="100000">
                    <a:srgbClr val="0066CC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5100" name="WordArt 28"/>
          <p:cNvSpPr>
            <a:spLocks noChangeArrowheads="1" noChangeShapeType="1" noTextEdit="1"/>
          </p:cNvSpPr>
          <p:nvPr/>
        </p:nvSpPr>
        <p:spPr bwMode="auto">
          <a:xfrm>
            <a:off x="701675" y="1720850"/>
            <a:ext cx="925513" cy="3571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3399FF"/>
                  </a:solidFill>
                  <a:round/>
                </a:ln>
                <a:effectLst/>
                <a:latin typeface="方正舒体" panose="02010601030101010101" charset="-122"/>
                <a:ea typeface="方正舒体" panose="02010601030101010101" charset="-122"/>
              </a:rPr>
              <a:t>原因</a:t>
            </a:r>
            <a:endParaRPr lang="zh-CN" altLang="en-US" sz="3600" b="1" kern="10">
              <a:ln w="12700">
                <a:solidFill>
                  <a:srgbClr val="3399FF"/>
                </a:solidFill>
                <a:round/>
              </a:ln>
              <a:effectLst/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515101" name="Group 29"/>
          <p:cNvGrpSpPr/>
          <p:nvPr/>
        </p:nvGrpSpPr>
        <p:grpSpPr bwMode="auto">
          <a:xfrm>
            <a:off x="779463" y="2859088"/>
            <a:ext cx="763587" cy="400050"/>
            <a:chOff x="581" y="1694"/>
            <a:chExt cx="481" cy="252"/>
          </a:xfrm>
        </p:grpSpPr>
        <p:pic>
          <p:nvPicPr>
            <p:cNvPr id="515102" name="Picture 30" descr="4"/>
            <p:cNvPicPr>
              <a:picLocks noChangeAspect="1" noChangeArrowheads="1" noCrop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" y="1715"/>
              <a:ext cx="366" cy="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5103" name="WordArt 31"/>
            <p:cNvSpPr>
              <a:spLocks noChangeArrowheads="1" noChangeShapeType="1" noTextEdit="1"/>
            </p:cNvSpPr>
            <p:nvPr/>
          </p:nvSpPr>
          <p:spPr bwMode="auto">
            <a:xfrm>
              <a:off x="808" y="1694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515104" name="WordArt 32"/>
          <p:cNvSpPr>
            <a:spLocks noChangeArrowheads="1" noChangeShapeType="1" noTextEdit="1"/>
          </p:cNvSpPr>
          <p:nvPr/>
        </p:nvSpPr>
        <p:spPr bwMode="auto">
          <a:xfrm>
            <a:off x="5854700" y="2862263"/>
            <a:ext cx="209550" cy="2651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5105" name="AutoShape 33"/>
          <p:cNvSpPr/>
          <p:nvPr/>
        </p:nvSpPr>
        <p:spPr bwMode="auto">
          <a:xfrm>
            <a:off x="1846263" y="1193800"/>
            <a:ext cx="79375" cy="1476375"/>
          </a:xfrm>
          <a:prstGeom prst="leftBrace">
            <a:avLst>
              <a:gd name="adj1" fmla="val 155000"/>
              <a:gd name="adj2" fmla="val 50000"/>
            </a:avLst>
          </a:prstGeom>
          <a:noFill/>
          <a:ln w="28575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5143" name="Group 71"/>
          <p:cNvGrpSpPr/>
          <p:nvPr/>
        </p:nvGrpSpPr>
        <p:grpSpPr bwMode="auto">
          <a:xfrm>
            <a:off x="2770188" y="669925"/>
            <a:ext cx="3078162" cy="298450"/>
            <a:chOff x="1609" y="454"/>
            <a:chExt cx="1939" cy="188"/>
          </a:xfrm>
        </p:grpSpPr>
        <p:grpSp>
          <p:nvGrpSpPr>
            <p:cNvPr id="515142" name="Group 70"/>
            <p:cNvGrpSpPr/>
            <p:nvPr/>
          </p:nvGrpSpPr>
          <p:grpSpPr bwMode="auto">
            <a:xfrm>
              <a:off x="1845" y="477"/>
              <a:ext cx="220" cy="162"/>
              <a:chOff x="1853" y="637"/>
              <a:chExt cx="220" cy="162"/>
            </a:xfrm>
          </p:grpSpPr>
          <p:sp>
            <p:nvSpPr>
              <p:cNvPr id="515135" name="WordArt 6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19" y="729"/>
                <a:ext cx="54" cy="7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5136" name="WordArt 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53" y="637"/>
                <a:ext cx="143" cy="154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/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515140" name="WordArt 68"/>
            <p:cNvSpPr>
              <a:spLocks noChangeArrowheads="1" noChangeShapeType="1" noTextEdit="1"/>
            </p:cNvSpPr>
            <p:nvPr/>
          </p:nvSpPr>
          <p:spPr bwMode="auto">
            <a:xfrm>
              <a:off x="1609" y="454"/>
              <a:ext cx="1939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对   采取保护的态度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5151" name="Group 79"/>
          <p:cNvGrpSpPr/>
          <p:nvPr/>
        </p:nvGrpSpPr>
        <p:grpSpPr bwMode="auto">
          <a:xfrm>
            <a:off x="2062163" y="1365250"/>
            <a:ext cx="4645025" cy="604838"/>
            <a:chOff x="2419" y="668"/>
            <a:chExt cx="2926" cy="381"/>
          </a:xfrm>
        </p:grpSpPr>
        <p:sp>
          <p:nvSpPr>
            <p:cNvPr id="515079" name="Rectangle 7"/>
            <p:cNvSpPr>
              <a:spLocks noChangeArrowheads="1"/>
            </p:cNvSpPr>
            <p:nvPr/>
          </p:nvSpPr>
          <p:spPr bwMode="auto">
            <a:xfrm>
              <a:off x="2650" y="668"/>
              <a:ext cx="2695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的提出有一定的依据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5144" name="Object 72"/>
            <p:cNvGraphicFramePr>
              <a:graphicFrameLocks noChangeAspect="1"/>
            </p:cNvGraphicFramePr>
            <p:nvPr/>
          </p:nvGraphicFramePr>
          <p:xfrm>
            <a:off x="2419" y="743"/>
            <a:ext cx="325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05" name="Equation" r:id="rId2" imgW="4876800" imgH="4267200" progId="Equation.DSMT4">
                    <p:embed/>
                  </p:oleObj>
                </mc:Choice>
                <mc:Fallback>
                  <p:oleObj name="Equation" r:id="rId2" imgW="4876800" imgH="4267200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9" y="743"/>
                          <a:ext cx="325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380" name="Group 308"/>
          <p:cNvGrpSpPr/>
          <p:nvPr/>
        </p:nvGrpSpPr>
        <p:grpSpPr bwMode="auto">
          <a:xfrm>
            <a:off x="2063750" y="957263"/>
            <a:ext cx="6488113" cy="604837"/>
            <a:chOff x="1300" y="603"/>
            <a:chExt cx="4087" cy="381"/>
          </a:xfrm>
        </p:grpSpPr>
        <p:sp>
          <p:nvSpPr>
            <p:cNvPr id="515095" name="Rectangle 23"/>
            <p:cNvSpPr>
              <a:spLocks noChangeArrowheads="1"/>
            </p:cNvSpPr>
            <p:nvPr/>
          </p:nvSpPr>
          <p:spPr bwMode="auto">
            <a:xfrm>
              <a:off x="1532" y="603"/>
              <a:ext cx="3855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的内容非常重要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或关乎检验者的利益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5147" name="Object 75"/>
            <p:cNvGraphicFramePr>
              <a:graphicFrameLocks noChangeAspect="1"/>
            </p:cNvGraphicFramePr>
            <p:nvPr/>
          </p:nvGraphicFramePr>
          <p:xfrm>
            <a:off x="1300" y="673"/>
            <a:ext cx="325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06" name="Equation" r:id="rId4" imgW="4876800" imgH="4267200" progId="Equation.DSMT4">
                    <p:embed/>
                  </p:oleObj>
                </mc:Choice>
                <mc:Fallback>
                  <p:oleObj name="Equation" r:id="rId4" imgW="4876800" imgH="4267200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0" y="673"/>
                          <a:ext cx="325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327" name="Group 255"/>
          <p:cNvGrpSpPr/>
          <p:nvPr/>
        </p:nvGrpSpPr>
        <p:grpSpPr bwMode="auto">
          <a:xfrm>
            <a:off x="2016125" y="1773240"/>
            <a:ext cx="6543675" cy="604838"/>
            <a:chOff x="1878" y="1157"/>
            <a:chExt cx="4122" cy="381"/>
          </a:xfrm>
        </p:grpSpPr>
        <p:sp>
          <p:nvSpPr>
            <p:cNvPr id="515098" name="Rectangle 26"/>
            <p:cNvSpPr>
              <a:spLocks noChangeArrowheads="1"/>
            </p:cNvSpPr>
            <p:nvPr/>
          </p:nvSpPr>
          <p:spPr bwMode="auto">
            <a:xfrm>
              <a:off x="1878" y="1157"/>
              <a:ext cx="4122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检验者对   有一种信念、偏爱或倾向性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5148" name="Object 76"/>
            <p:cNvGraphicFramePr>
              <a:graphicFrameLocks noChangeAspect="1"/>
            </p:cNvGraphicFramePr>
            <p:nvPr/>
          </p:nvGraphicFramePr>
          <p:xfrm>
            <a:off x="2861" y="1215"/>
            <a:ext cx="32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07" name="Equation" r:id="rId6" imgW="4876800" imgH="4267200" progId="Equation.DSMT4">
                    <p:embed/>
                  </p:oleObj>
                </mc:Choice>
                <mc:Fallback>
                  <p:oleObj name="Equation" r:id="rId6" imgW="4876800" imgH="4267200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1" y="1215"/>
                          <a:ext cx="32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157" name="Group 85"/>
          <p:cNvGrpSpPr/>
          <p:nvPr/>
        </p:nvGrpSpPr>
        <p:grpSpPr bwMode="auto">
          <a:xfrm>
            <a:off x="1593850" y="2654300"/>
            <a:ext cx="4841875" cy="604838"/>
            <a:chOff x="1100" y="1552"/>
            <a:chExt cx="3050" cy="381"/>
          </a:xfrm>
        </p:grpSpPr>
        <p:sp>
          <p:nvSpPr>
            <p:cNvPr id="515086" name="Rectangle 14"/>
            <p:cNvSpPr>
              <a:spLocks noChangeArrowheads="1"/>
            </p:cNvSpPr>
            <p:nvPr/>
          </p:nvSpPr>
          <p:spPr bwMode="auto">
            <a:xfrm>
              <a:off x="1100" y="1552"/>
              <a:ext cx="3050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保护      的数学含义是什么</a:t>
              </a:r>
              <a:endPara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515156" name="Object 84"/>
            <p:cNvGraphicFramePr>
              <a:graphicFrameLocks noChangeAspect="1"/>
            </p:cNvGraphicFramePr>
            <p:nvPr/>
          </p:nvGraphicFramePr>
          <p:xfrm>
            <a:off x="1645" y="1635"/>
            <a:ext cx="32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08" name="Equation" r:id="rId8" imgW="4876800" imgH="4267200" progId="Equation.DSMT4">
                    <p:embed/>
                  </p:oleObj>
                </mc:Choice>
                <mc:Fallback>
                  <p:oleObj name="Equation" r:id="rId8" imgW="4876800" imgH="4267200" progId="Equation.DSMT4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5" y="1635"/>
                          <a:ext cx="32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164" name="Group 92"/>
          <p:cNvGrpSpPr/>
          <p:nvPr/>
        </p:nvGrpSpPr>
        <p:grpSpPr bwMode="auto">
          <a:xfrm>
            <a:off x="1944688" y="3489325"/>
            <a:ext cx="2489200" cy="617538"/>
            <a:chOff x="961" y="1878"/>
            <a:chExt cx="1568" cy="389"/>
          </a:xfrm>
        </p:grpSpPr>
        <p:sp>
          <p:nvSpPr>
            <p:cNvPr id="515159" name="Rectangle 87"/>
            <p:cNvSpPr>
              <a:spLocks noChangeArrowheads="1"/>
            </p:cNvSpPr>
            <p:nvPr/>
          </p:nvSpPr>
          <p:spPr bwMode="auto">
            <a:xfrm>
              <a:off x="1175" y="1878"/>
              <a:ext cx="118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为真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接受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515161" name="Object 89"/>
            <p:cNvGraphicFramePr>
              <a:graphicFrameLocks noChangeAspect="1"/>
            </p:cNvGraphicFramePr>
            <p:nvPr/>
          </p:nvGraphicFramePr>
          <p:xfrm>
            <a:off x="2225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09" name="公式" r:id="rId10" imgW="254000" imgH="254000" progId="Equation.3">
                    <p:embed/>
                  </p:oleObj>
                </mc:Choice>
                <mc:Fallback>
                  <p:oleObj name="公式" r:id="rId10" imgW="254000" imgH="254000" progId="Equation.3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162" name="Object 90"/>
            <p:cNvGraphicFramePr>
              <a:graphicFrameLocks noChangeAspect="1"/>
            </p:cNvGraphicFramePr>
            <p:nvPr/>
          </p:nvGraphicFramePr>
          <p:xfrm>
            <a:off x="961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0" name="公式" r:id="rId12" imgW="254000" imgH="254000" progId="Equation.3">
                    <p:embed/>
                  </p:oleObj>
                </mc:Choice>
                <mc:Fallback>
                  <p:oleObj name="公式" r:id="rId12" imgW="254000" imgH="254000" progId="Equation.3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165" name="Group 93"/>
          <p:cNvGrpSpPr/>
          <p:nvPr/>
        </p:nvGrpSpPr>
        <p:grpSpPr bwMode="auto">
          <a:xfrm>
            <a:off x="4816475" y="3490913"/>
            <a:ext cx="2489200" cy="617537"/>
            <a:chOff x="961" y="1878"/>
            <a:chExt cx="1568" cy="389"/>
          </a:xfrm>
        </p:grpSpPr>
        <p:sp>
          <p:nvSpPr>
            <p:cNvPr id="515166" name="Rectangle 94"/>
            <p:cNvSpPr>
              <a:spLocks noChangeArrowheads="1"/>
            </p:cNvSpPr>
            <p:nvPr/>
          </p:nvSpPr>
          <p:spPr bwMode="auto">
            <a:xfrm>
              <a:off x="1175" y="1878"/>
              <a:ext cx="118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不真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拒绝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515167" name="Object 95"/>
            <p:cNvGraphicFramePr>
              <a:graphicFrameLocks noChangeAspect="1"/>
            </p:cNvGraphicFramePr>
            <p:nvPr/>
          </p:nvGraphicFramePr>
          <p:xfrm>
            <a:off x="2225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1" name="公式" r:id="rId14" imgW="254000" imgH="254000" progId="Equation.3">
                    <p:embed/>
                  </p:oleObj>
                </mc:Choice>
                <mc:Fallback>
                  <p:oleObj name="公式" r:id="rId14" imgW="254000" imgH="254000" progId="Equation.3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168" name="Object 96"/>
            <p:cNvGraphicFramePr>
              <a:graphicFrameLocks noChangeAspect="1"/>
            </p:cNvGraphicFramePr>
            <p:nvPr/>
          </p:nvGraphicFramePr>
          <p:xfrm>
            <a:off x="961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2" name="公式" r:id="rId16" imgW="254000" imgH="254000" progId="Equation.3">
                    <p:embed/>
                  </p:oleObj>
                </mc:Choice>
                <mc:Fallback>
                  <p:oleObj name="公式" r:id="rId16" imgW="254000" imgH="254000" progId="Equation.3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169" name="Group 97"/>
          <p:cNvGrpSpPr/>
          <p:nvPr/>
        </p:nvGrpSpPr>
        <p:grpSpPr bwMode="auto">
          <a:xfrm>
            <a:off x="1946275" y="3948113"/>
            <a:ext cx="2489200" cy="617537"/>
            <a:chOff x="961" y="1878"/>
            <a:chExt cx="1568" cy="389"/>
          </a:xfrm>
        </p:grpSpPr>
        <p:sp>
          <p:nvSpPr>
            <p:cNvPr id="515170" name="Rectangle 98"/>
            <p:cNvSpPr>
              <a:spLocks noChangeArrowheads="1"/>
            </p:cNvSpPr>
            <p:nvPr/>
          </p:nvSpPr>
          <p:spPr bwMode="auto">
            <a:xfrm>
              <a:off x="1175" y="1878"/>
              <a:ext cx="118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为真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拒绝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515171" name="Object 99"/>
            <p:cNvGraphicFramePr>
              <a:graphicFrameLocks noChangeAspect="1"/>
            </p:cNvGraphicFramePr>
            <p:nvPr/>
          </p:nvGraphicFramePr>
          <p:xfrm>
            <a:off x="2225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3" name="公式" r:id="rId18" imgW="254000" imgH="254000" progId="Equation.3">
                    <p:embed/>
                  </p:oleObj>
                </mc:Choice>
                <mc:Fallback>
                  <p:oleObj name="公式" r:id="rId18" imgW="254000" imgH="254000" progId="Equation.3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172" name="Object 100"/>
            <p:cNvGraphicFramePr>
              <a:graphicFrameLocks noChangeAspect="1"/>
            </p:cNvGraphicFramePr>
            <p:nvPr/>
          </p:nvGraphicFramePr>
          <p:xfrm>
            <a:off x="961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4" name="公式" r:id="rId20" imgW="254000" imgH="254000" progId="Equation.3">
                    <p:embed/>
                  </p:oleObj>
                </mc:Choice>
                <mc:Fallback>
                  <p:oleObj name="公式" r:id="rId20" imgW="254000" imgH="254000" progId="Equation.3">
                    <p:embed/>
                    <p:pic>
                      <p:nvPicPr>
                        <p:cNvPr id="0" name="Object 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173" name="Group 101"/>
          <p:cNvGrpSpPr/>
          <p:nvPr/>
        </p:nvGrpSpPr>
        <p:grpSpPr bwMode="auto">
          <a:xfrm>
            <a:off x="4818063" y="3949700"/>
            <a:ext cx="2489200" cy="617538"/>
            <a:chOff x="961" y="1878"/>
            <a:chExt cx="1568" cy="389"/>
          </a:xfrm>
        </p:grpSpPr>
        <p:sp>
          <p:nvSpPr>
            <p:cNvPr id="515174" name="Rectangle 102"/>
            <p:cNvSpPr>
              <a:spLocks noChangeArrowheads="1"/>
            </p:cNvSpPr>
            <p:nvPr/>
          </p:nvSpPr>
          <p:spPr bwMode="auto">
            <a:xfrm>
              <a:off x="1175" y="1878"/>
              <a:ext cx="118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不真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接受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515175" name="Object 103"/>
            <p:cNvGraphicFramePr>
              <a:graphicFrameLocks noChangeAspect="1"/>
            </p:cNvGraphicFramePr>
            <p:nvPr/>
          </p:nvGraphicFramePr>
          <p:xfrm>
            <a:off x="2225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5" name="公式" r:id="rId22" imgW="254000" imgH="254000" progId="Equation.3">
                    <p:embed/>
                  </p:oleObj>
                </mc:Choice>
                <mc:Fallback>
                  <p:oleObj name="公式" r:id="rId22" imgW="254000" imgH="254000" progId="Equation.3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176" name="Object 104"/>
            <p:cNvGraphicFramePr>
              <a:graphicFrameLocks noChangeAspect="1"/>
            </p:cNvGraphicFramePr>
            <p:nvPr/>
          </p:nvGraphicFramePr>
          <p:xfrm>
            <a:off x="961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6" name="公式" r:id="rId24" imgW="254000" imgH="254000" progId="Equation.3">
                    <p:embed/>
                  </p:oleObj>
                </mc:Choice>
                <mc:Fallback>
                  <p:oleObj name="公式" r:id="rId24" imgW="254000" imgH="254000" progId="Equation.3">
                    <p:embed/>
                    <p:pic>
                      <p:nvPicPr>
                        <p:cNvPr id="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5178" name="WordArt 106"/>
          <p:cNvSpPr>
            <a:spLocks noChangeArrowheads="1" noChangeShapeType="1" noTextEdit="1"/>
          </p:cNvSpPr>
          <p:nvPr/>
        </p:nvSpPr>
        <p:spPr bwMode="auto">
          <a:xfrm>
            <a:off x="3535363" y="3246438"/>
            <a:ext cx="1979612" cy="306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决策的四种状态</a:t>
            </a:r>
            <a:endParaRPr lang="zh-CN" altLang="en-US" sz="3600" b="1" kern="10">
              <a:ln w="12700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sp>
        <p:nvSpPr>
          <p:cNvPr id="515182" name="Freeform 110"/>
          <p:cNvSpPr/>
          <p:nvPr/>
        </p:nvSpPr>
        <p:spPr bwMode="auto">
          <a:xfrm>
            <a:off x="1924050" y="4495800"/>
            <a:ext cx="5327650" cy="42863"/>
          </a:xfrm>
          <a:custGeom>
            <a:avLst/>
            <a:gdLst>
              <a:gd name="T0" fmla="*/ 52 w 3228"/>
              <a:gd name="T1" fmla="*/ 8 h 17"/>
              <a:gd name="T2" fmla="*/ 228 w 3228"/>
              <a:gd name="T3" fmla="*/ 8 h 17"/>
              <a:gd name="T4" fmla="*/ 1420 w 3228"/>
              <a:gd name="T5" fmla="*/ 8 h 17"/>
              <a:gd name="T6" fmla="*/ 2924 w 3228"/>
              <a:gd name="T7" fmla="*/ 16 h 17"/>
              <a:gd name="T8" fmla="*/ 3228 w 3228"/>
              <a:gd name="T9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28" h="17">
                <a:moveTo>
                  <a:pt x="52" y="8"/>
                </a:moveTo>
                <a:cubicBezTo>
                  <a:pt x="26" y="8"/>
                  <a:pt x="0" y="8"/>
                  <a:pt x="228" y="8"/>
                </a:cubicBezTo>
                <a:cubicBezTo>
                  <a:pt x="456" y="8"/>
                  <a:pt x="971" y="7"/>
                  <a:pt x="1420" y="8"/>
                </a:cubicBezTo>
                <a:cubicBezTo>
                  <a:pt x="1869" y="9"/>
                  <a:pt x="2623" y="17"/>
                  <a:pt x="2924" y="16"/>
                </a:cubicBezTo>
                <a:cubicBezTo>
                  <a:pt x="3225" y="15"/>
                  <a:pt x="3226" y="7"/>
                  <a:pt x="3228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5183" name="Group 111"/>
          <p:cNvGrpSpPr/>
          <p:nvPr/>
        </p:nvGrpSpPr>
        <p:grpSpPr bwMode="auto">
          <a:xfrm>
            <a:off x="5233988" y="4711700"/>
            <a:ext cx="2741612" cy="433388"/>
            <a:chOff x="2481" y="2928"/>
            <a:chExt cx="1727" cy="273"/>
          </a:xfrm>
        </p:grpSpPr>
        <p:sp>
          <p:nvSpPr>
            <p:cNvPr id="515180" name="AutoShape 108"/>
            <p:cNvSpPr>
              <a:spLocks noChangeArrowheads="1"/>
            </p:cNvSpPr>
            <p:nvPr/>
          </p:nvSpPr>
          <p:spPr bwMode="auto">
            <a:xfrm>
              <a:off x="2481" y="2928"/>
              <a:ext cx="1727" cy="273"/>
            </a:xfrm>
            <a:prstGeom prst="wedgeRectCallout">
              <a:avLst>
                <a:gd name="adj1" fmla="val -21509"/>
                <a:gd name="adj2" fmla="val -82602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15181" name="WordArt 109"/>
            <p:cNvSpPr>
              <a:spLocks noChangeArrowheads="1" noChangeShapeType="1" noTextEdit="1"/>
            </p:cNvSpPr>
            <p:nvPr/>
          </p:nvSpPr>
          <p:spPr bwMode="auto">
            <a:xfrm>
              <a:off x="2561" y="2992"/>
              <a:ext cx="1565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哪些状态需要保护</a:t>
              </a:r>
              <a:r>
                <a:rPr lang="en-US" altLang="zh-CN" sz="3600" b="1" kern="1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5210" name="Group 138"/>
          <p:cNvGrpSpPr/>
          <p:nvPr/>
        </p:nvGrpSpPr>
        <p:grpSpPr bwMode="auto">
          <a:xfrm>
            <a:off x="1946275" y="3490913"/>
            <a:ext cx="2489200" cy="617537"/>
            <a:chOff x="961" y="1878"/>
            <a:chExt cx="1568" cy="389"/>
          </a:xfrm>
        </p:grpSpPr>
        <p:sp>
          <p:nvSpPr>
            <p:cNvPr id="515211" name="Rectangle 139"/>
            <p:cNvSpPr>
              <a:spLocks noChangeArrowheads="1"/>
            </p:cNvSpPr>
            <p:nvPr/>
          </p:nvSpPr>
          <p:spPr bwMode="auto">
            <a:xfrm>
              <a:off x="1175" y="1878"/>
              <a:ext cx="118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为真</a:t>
              </a:r>
              <a:r>
                <a:rPr lang="en-US" altLang="zh-CN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</a:t>
              </a: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接受</a:t>
              </a:r>
              <a:endPara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515212" name="Object 140"/>
            <p:cNvGraphicFramePr>
              <a:graphicFrameLocks noChangeAspect="1"/>
            </p:cNvGraphicFramePr>
            <p:nvPr/>
          </p:nvGraphicFramePr>
          <p:xfrm>
            <a:off x="2225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7" name="公式" r:id="rId26" imgW="254000" imgH="254000" progId="Equation.3">
                    <p:embed/>
                  </p:oleObj>
                </mc:Choice>
                <mc:Fallback>
                  <p:oleObj name="公式" r:id="rId26" imgW="254000" imgH="254000" progId="Equation.3">
                    <p:embed/>
                    <p:pic>
                      <p:nvPicPr>
                        <p:cNvPr id="0" name="Object 1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213" name="Object 141"/>
            <p:cNvGraphicFramePr>
              <a:graphicFrameLocks noChangeAspect="1"/>
            </p:cNvGraphicFramePr>
            <p:nvPr/>
          </p:nvGraphicFramePr>
          <p:xfrm>
            <a:off x="961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8" name="公式" r:id="rId28" imgW="254000" imgH="254000" progId="Equation.3">
                    <p:embed/>
                  </p:oleObj>
                </mc:Choice>
                <mc:Fallback>
                  <p:oleObj name="公式" r:id="rId28" imgW="254000" imgH="254000" progId="Equation.3">
                    <p:embed/>
                    <p:pic>
                      <p:nvPicPr>
                        <p:cNvPr id="0" name="Object 1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214" name="Group 142"/>
          <p:cNvGrpSpPr/>
          <p:nvPr/>
        </p:nvGrpSpPr>
        <p:grpSpPr bwMode="auto">
          <a:xfrm>
            <a:off x="4814888" y="3489325"/>
            <a:ext cx="2489200" cy="617538"/>
            <a:chOff x="961" y="1878"/>
            <a:chExt cx="1568" cy="389"/>
          </a:xfrm>
        </p:grpSpPr>
        <p:sp>
          <p:nvSpPr>
            <p:cNvPr id="515215" name="Rectangle 143"/>
            <p:cNvSpPr>
              <a:spLocks noChangeArrowheads="1"/>
            </p:cNvSpPr>
            <p:nvPr/>
          </p:nvSpPr>
          <p:spPr bwMode="auto">
            <a:xfrm>
              <a:off x="1175" y="1878"/>
              <a:ext cx="118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不真</a:t>
              </a:r>
              <a:r>
                <a:rPr lang="en-US" altLang="zh-CN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</a:t>
              </a: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拒绝</a:t>
              </a:r>
              <a:endPara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515216" name="Object 144"/>
            <p:cNvGraphicFramePr>
              <a:graphicFrameLocks noChangeAspect="1"/>
            </p:cNvGraphicFramePr>
            <p:nvPr/>
          </p:nvGraphicFramePr>
          <p:xfrm>
            <a:off x="2225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19" name="公式" r:id="rId30" imgW="254000" imgH="254000" progId="Equation.3">
                    <p:embed/>
                  </p:oleObj>
                </mc:Choice>
                <mc:Fallback>
                  <p:oleObj name="公式" r:id="rId30" imgW="254000" imgH="254000" progId="Equation.3">
                    <p:embed/>
                    <p:pic>
                      <p:nvPicPr>
                        <p:cNvPr id="0" name="Object 1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217" name="Object 145"/>
            <p:cNvGraphicFramePr>
              <a:graphicFrameLocks noChangeAspect="1"/>
            </p:cNvGraphicFramePr>
            <p:nvPr/>
          </p:nvGraphicFramePr>
          <p:xfrm>
            <a:off x="961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20" name="公式" r:id="rId32" imgW="254000" imgH="254000" progId="Equation.3">
                    <p:embed/>
                  </p:oleObj>
                </mc:Choice>
                <mc:Fallback>
                  <p:oleObj name="公式" r:id="rId32" imgW="254000" imgH="254000" progId="Equation.3">
                    <p:embed/>
                    <p:pic>
                      <p:nvPicPr>
                        <p:cNvPr id="0" name="Object 1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185" name="Group 113"/>
          <p:cNvGrpSpPr/>
          <p:nvPr/>
        </p:nvGrpSpPr>
        <p:grpSpPr bwMode="auto">
          <a:xfrm>
            <a:off x="1870075" y="3659188"/>
            <a:ext cx="280988" cy="255587"/>
            <a:chOff x="4234" y="2097"/>
            <a:chExt cx="177" cy="161"/>
          </a:xfrm>
        </p:grpSpPr>
        <p:grpSp>
          <p:nvGrpSpPr>
            <p:cNvPr id="515186" name="Group 114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15187" name="Line 115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5188" name="Line 116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5189" name="Group 117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15190" name="Line 118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5191" name="Line 119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15192" name="Group 120"/>
          <p:cNvGrpSpPr/>
          <p:nvPr/>
        </p:nvGrpSpPr>
        <p:grpSpPr bwMode="auto">
          <a:xfrm>
            <a:off x="4767263" y="3660775"/>
            <a:ext cx="280987" cy="255588"/>
            <a:chOff x="4234" y="2097"/>
            <a:chExt cx="177" cy="161"/>
          </a:xfrm>
        </p:grpSpPr>
        <p:grpSp>
          <p:nvGrpSpPr>
            <p:cNvPr id="515193" name="Group 121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15194" name="Line 122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5195" name="Line 123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5196" name="Group 124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15197" name="Line 125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5198" name="Line 126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15218" name="Group 146"/>
          <p:cNvGrpSpPr/>
          <p:nvPr/>
        </p:nvGrpSpPr>
        <p:grpSpPr bwMode="auto">
          <a:xfrm>
            <a:off x="1946275" y="3948113"/>
            <a:ext cx="2489200" cy="617537"/>
            <a:chOff x="961" y="1878"/>
            <a:chExt cx="1568" cy="389"/>
          </a:xfrm>
        </p:grpSpPr>
        <p:sp>
          <p:nvSpPr>
            <p:cNvPr id="515219" name="Rectangle 147"/>
            <p:cNvSpPr>
              <a:spLocks noChangeArrowheads="1"/>
            </p:cNvSpPr>
            <p:nvPr/>
          </p:nvSpPr>
          <p:spPr bwMode="auto">
            <a:xfrm>
              <a:off x="1175" y="1878"/>
              <a:ext cx="118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为真</a:t>
              </a:r>
              <a:r>
                <a:rPr lang="en-US" altLang="zh-CN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</a:t>
              </a: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拒绝</a:t>
              </a:r>
              <a:endPara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515220" name="Object 148"/>
            <p:cNvGraphicFramePr>
              <a:graphicFrameLocks noChangeAspect="1"/>
            </p:cNvGraphicFramePr>
            <p:nvPr/>
          </p:nvGraphicFramePr>
          <p:xfrm>
            <a:off x="2225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21" name="公式" r:id="rId34" imgW="254000" imgH="254000" progId="Equation.3">
                    <p:embed/>
                  </p:oleObj>
                </mc:Choice>
                <mc:Fallback>
                  <p:oleObj name="公式" r:id="rId34" imgW="254000" imgH="254000" progId="Equation.3">
                    <p:embed/>
                    <p:pic>
                      <p:nvPicPr>
                        <p:cNvPr id="0" name="Object 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221" name="Object 149"/>
            <p:cNvGraphicFramePr>
              <a:graphicFrameLocks noChangeAspect="1"/>
            </p:cNvGraphicFramePr>
            <p:nvPr/>
          </p:nvGraphicFramePr>
          <p:xfrm>
            <a:off x="961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22" name="公式" r:id="rId36" imgW="254000" imgH="254000" progId="Equation.3">
                    <p:embed/>
                  </p:oleObj>
                </mc:Choice>
                <mc:Fallback>
                  <p:oleObj name="公式" r:id="rId36" imgW="254000" imgH="254000" progId="Equation.3">
                    <p:embed/>
                    <p:pic>
                      <p:nvPicPr>
                        <p:cNvPr id="0" name="Object 1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5184" name="Freeform 112"/>
          <p:cNvSpPr/>
          <p:nvPr/>
        </p:nvSpPr>
        <p:spPr bwMode="auto">
          <a:xfrm>
            <a:off x="1881188" y="4100513"/>
            <a:ext cx="252412" cy="269875"/>
          </a:xfrm>
          <a:custGeom>
            <a:avLst/>
            <a:gdLst>
              <a:gd name="T0" fmla="*/ 0 w 159"/>
              <a:gd name="T1" fmla="*/ 94 h 170"/>
              <a:gd name="T2" fmla="*/ 74 w 159"/>
              <a:gd name="T3" fmla="*/ 154 h 170"/>
              <a:gd name="T4" fmla="*/ 159 w 159"/>
              <a:gd name="T5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9" h="170">
                <a:moveTo>
                  <a:pt x="0" y="94"/>
                </a:moveTo>
                <a:cubicBezTo>
                  <a:pt x="12" y="104"/>
                  <a:pt x="47" y="170"/>
                  <a:pt x="74" y="154"/>
                </a:cubicBezTo>
                <a:cubicBezTo>
                  <a:pt x="101" y="138"/>
                  <a:pt x="141" y="32"/>
                  <a:pt x="159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</a:ln>
          <a:effectLst>
            <a:outerShdw dist="64758" dir="67859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15222" name="Group 150"/>
          <p:cNvGrpSpPr/>
          <p:nvPr/>
        </p:nvGrpSpPr>
        <p:grpSpPr bwMode="auto">
          <a:xfrm>
            <a:off x="4816475" y="3948113"/>
            <a:ext cx="2489200" cy="617537"/>
            <a:chOff x="961" y="1878"/>
            <a:chExt cx="1568" cy="389"/>
          </a:xfrm>
        </p:grpSpPr>
        <p:sp>
          <p:nvSpPr>
            <p:cNvPr id="515223" name="Rectangle 151"/>
            <p:cNvSpPr>
              <a:spLocks noChangeArrowheads="1"/>
            </p:cNvSpPr>
            <p:nvPr/>
          </p:nvSpPr>
          <p:spPr bwMode="auto">
            <a:xfrm>
              <a:off x="1175" y="1878"/>
              <a:ext cx="118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不真</a:t>
              </a:r>
              <a:r>
                <a:rPr lang="en-US" altLang="zh-CN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</a:t>
              </a: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接受</a:t>
              </a:r>
              <a:endPara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515224" name="Object 152"/>
            <p:cNvGraphicFramePr>
              <a:graphicFrameLocks noChangeAspect="1"/>
            </p:cNvGraphicFramePr>
            <p:nvPr/>
          </p:nvGraphicFramePr>
          <p:xfrm>
            <a:off x="2225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23" name="公式" r:id="rId38" imgW="254000" imgH="254000" progId="Equation.3">
                    <p:embed/>
                  </p:oleObj>
                </mc:Choice>
                <mc:Fallback>
                  <p:oleObj name="公式" r:id="rId38" imgW="254000" imgH="254000" progId="Equation.3">
                    <p:embed/>
                    <p:pic>
                      <p:nvPicPr>
                        <p:cNvPr id="0" name="Object 1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225" name="Object 153"/>
            <p:cNvGraphicFramePr>
              <a:graphicFrameLocks noChangeAspect="1"/>
            </p:cNvGraphicFramePr>
            <p:nvPr/>
          </p:nvGraphicFramePr>
          <p:xfrm>
            <a:off x="961" y="1965"/>
            <a:ext cx="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24" name="公式" r:id="rId40" imgW="254000" imgH="254000" progId="Equation.3">
                    <p:embed/>
                  </p:oleObj>
                </mc:Choice>
                <mc:Fallback>
                  <p:oleObj name="公式" r:id="rId40" imgW="254000" imgH="254000" progId="Equation.3">
                    <p:embed/>
                    <p:pic>
                      <p:nvPicPr>
                        <p:cNvPr id="0" name="Object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1965"/>
                          <a:ext cx="30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5199" name="Group 127"/>
          <p:cNvGrpSpPr/>
          <p:nvPr/>
        </p:nvGrpSpPr>
        <p:grpSpPr bwMode="auto">
          <a:xfrm>
            <a:off x="4781550" y="4132263"/>
            <a:ext cx="280988" cy="255587"/>
            <a:chOff x="4234" y="2097"/>
            <a:chExt cx="177" cy="161"/>
          </a:xfrm>
        </p:grpSpPr>
        <p:grpSp>
          <p:nvGrpSpPr>
            <p:cNvPr id="515200" name="Group 128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15201" name="Line 129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5202" name="Line 130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5203" name="Group 131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15204" name="Line 132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5205" name="Line 133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15229" name="Oval 157"/>
          <p:cNvSpPr>
            <a:spLocks noChangeArrowheads="1"/>
          </p:cNvSpPr>
          <p:nvPr/>
        </p:nvSpPr>
        <p:spPr bwMode="auto">
          <a:xfrm>
            <a:off x="1778000" y="4051300"/>
            <a:ext cx="2730500" cy="4953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15233" name="Group 161"/>
          <p:cNvGrpSpPr/>
          <p:nvPr/>
        </p:nvGrpSpPr>
        <p:grpSpPr bwMode="auto">
          <a:xfrm>
            <a:off x="2657475" y="4713288"/>
            <a:ext cx="1611313" cy="433387"/>
            <a:chOff x="1498" y="2785"/>
            <a:chExt cx="1015" cy="273"/>
          </a:xfrm>
        </p:grpSpPr>
        <p:sp>
          <p:nvSpPr>
            <p:cNvPr id="515231" name="AutoShape 159"/>
            <p:cNvSpPr>
              <a:spLocks noChangeArrowheads="1"/>
            </p:cNvSpPr>
            <p:nvPr/>
          </p:nvSpPr>
          <p:spPr bwMode="auto">
            <a:xfrm>
              <a:off x="1498" y="2785"/>
              <a:ext cx="1015" cy="273"/>
            </a:xfrm>
            <a:prstGeom prst="wedgeRectCallout">
              <a:avLst>
                <a:gd name="adj1" fmla="val -21231"/>
                <a:gd name="adj2" fmla="val -82602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15232" name="WordArt 160"/>
            <p:cNvSpPr>
              <a:spLocks noChangeArrowheads="1" noChangeShapeType="1" noTextEdit="1"/>
            </p:cNvSpPr>
            <p:nvPr/>
          </p:nvSpPr>
          <p:spPr bwMode="auto">
            <a:xfrm>
              <a:off x="1570" y="2849"/>
              <a:ext cx="853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怎样保护</a:t>
              </a:r>
              <a:r>
                <a:rPr lang="en-US" altLang="zh-CN" sz="3600" b="1" kern="1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5286" name="WordArt 214"/>
          <p:cNvSpPr>
            <a:spLocks noChangeArrowheads="1" noChangeShapeType="1" noTextEdit="1"/>
          </p:cNvSpPr>
          <p:nvPr/>
        </p:nvSpPr>
        <p:spPr bwMode="auto">
          <a:xfrm>
            <a:off x="847725" y="5937250"/>
            <a:ext cx="274638" cy="2555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i="1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effectLst/>
                <a:latin typeface="隶书" panose="02010509060101010101" charset="-122"/>
                <a:ea typeface="隶书" panose="02010509060101010101" charset="-122"/>
              </a:rPr>
              <a:t>②</a:t>
            </a:r>
            <a:endParaRPr lang="zh-CN" altLang="en-US" sz="3600" b="1" i="1" kern="10">
              <a:ln w="12700">
                <a:solidFill>
                  <a:srgbClr val="FF0000"/>
                </a:solidFill>
                <a:round/>
              </a:ln>
              <a:solidFill>
                <a:schemeClr val="accent2"/>
              </a:solidFill>
              <a:effectLst/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515318" name="Group 246"/>
          <p:cNvGrpSpPr/>
          <p:nvPr/>
        </p:nvGrpSpPr>
        <p:grpSpPr bwMode="auto">
          <a:xfrm>
            <a:off x="273050" y="6356350"/>
            <a:ext cx="6070600" cy="298450"/>
            <a:chOff x="284" y="4036"/>
            <a:chExt cx="3324" cy="188"/>
          </a:xfrm>
        </p:grpSpPr>
        <p:sp>
          <p:nvSpPr>
            <p:cNvPr id="515300" name="WordArt 228"/>
            <p:cNvSpPr>
              <a:spLocks noChangeArrowheads="1" noChangeShapeType="1" noTextEdit="1"/>
            </p:cNvSpPr>
            <p:nvPr/>
          </p:nvSpPr>
          <p:spPr bwMode="auto">
            <a:xfrm>
              <a:off x="284" y="4036"/>
              <a:ext cx="3324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或“接受”的决策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称为对    进行显著性检验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5307" name="Group 235"/>
            <p:cNvGrpSpPr/>
            <p:nvPr/>
          </p:nvGrpSpPr>
          <p:grpSpPr bwMode="auto">
            <a:xfrm>
              <a:off x="2183" y="4059"/>
              <a:ext cx="220" cy="154"/>
              <a:chOff x="1853" y="637"/>
              <a:chExt cx="220" cy="162"/>
            </a:xfrm>
          </p:grpSpPr>
          <p:sp>
            <p:nvSpPr>
              <p:cNvPr id="515308" name="WordArt 23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19" y="729"/>
                <a:ext cx="54" cy="7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chemeClr val="accent2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5309" name="WordArt 237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53" y="637"/>
                <a:ext cx="143" cy="154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chemeClr val="accent2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</p:grpSp>
      <p:grpSp>
        <p:nvGrpSpPr>
          <p:cNvPr id="515319" name="Group 247"/>
          <p:cNvGrpSpPr/>
          <p:nvPr/>
        </p:nvGrpSpPr>
        <p:grpSpPr bwMode="auto">
          <a:xfrm>
            <a:off x="1252538" y="5918200"/>
            <a:ext cx="7258050" cy="285750"/>
            <a:chOff x="789" y="3776"/>
            <a:chExt cx="4404" cy="180"/>
          </a:xfrm>
        </p:grpSpPr>
        <p:sp>
          <p:nvSpPr>
            <p:cNvPr id="515297" name="WordArt 225"/>
            <p:cNvSpPr>
              <a:spLocks noChangeArrowheads="1" noChangeShapeType="1" noTextEdit="1"/>
            </p:cNvSpPr>
            <p:nvPr/>
          </p:nvSpPr>
          <p:spPr bwMode="auto">
            <a:xfrm>
              <a:off x="789" y="3776"/>
              <a:ext cx="4404" cy="1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在显著性水平   下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按上述检验原则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对    作出“拒绝”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5301" name="WordArt 229"/>
            <p:cNvSpPr>
              <a:spLocks noChangeArrowheads="1" noChangeShapeType="1" noTextEdit="1"/>
            </p:cNvSpPr>
            <p:nvPr/>
          </p:nvSpPr>
          <p:spPr bwMode="auto">
            <a:xfrm>
              <a:off x="1888" y="3805"/>
              <a:ext cx="150" cy="124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5333"/>
                </a:avLst>
              </a:prstTxWarp>
            </a:bodyPr>
            <a:lstStyle/>
            <a:p>
              <a:r>
                <a:rPr lang="en-US" altLang="zh-CN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Symbol" panose="05050102010706020507"/>
                </a:rPr>
                <a:t>a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effectLst/>
                <a:latin typeface="Symbol" panose="05050102010706020507"/>
              </a:endParaRPr>
            </a:p>
          </p:txBody>
        </p:sp>
        <p:grpSp>
          <p:nvGrpSpPr>
            <p:cNvPr id="515315" name="Group 243"/>
            <p:cNvGrpSpPr/>
            <p:nvPr/>
          </p:nvGrpSpPr>
          <p:grpSpPr bwMode="auto">
            <a:xfrm>
              <a:off x="3935" y="3798"/>
              <a:ext cx="220" cy="154"/>
              <a:chOff x="1853" y="637"/>
              <a:chExt cx="220" cy="162"/>
            </a:xfrm>
          </p:grpSpPr>
          <p:sp>
            <p:nvSpPr>
              <p:cNvPr id="515316" name="WordArt 24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19" y="729"/>
                <a:ext cx="54" cy="7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chemeClr val="accent2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5317" name="WordArt 24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53" y="637"/>
                <a:ext cx="143" cy="154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chemeClr val="accent2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</p:grpSp>
      <p:sp>
        <p:nvSpPr>
          <p:cNvPr id="515321" name="WordArt 249"/>
          <p:cNvSpPr>
            <a:spLocks noChangeArrowheads="1" noChangeShapeType="1" noTextEdit="1"/>
          </p:cNvSpPr>
          <p:nvPr/>
        </p:nvSpPr>
        <p:spPr bwMode="auto">
          <a:xfrm>
            <a:off x="6484938" y="6327775"/>
            <a:ext cx="1860550" cy="2984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chemeClr val="bg1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600" b="1" kern="10">
                <a:ln w="12700">
                  <a:solidFill>
                    <a:srgbClr val="FF0000"/>
                  </a:solidFill>
                  <a:round/>
                </a:ln>
                <a:solidFill>
                  <a:schemeClr val="bg1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Fisher</a:t>
            </a:r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chemeClr val="bg1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检验）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solidFill>
                <a:schemeClr val="bg1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5328" name="Oval 256"/>
          <p:cNvSpPr>
            <a:spLocks noChangeArrowheads="1"/>
          </p:cNvSpPr>
          <p:nvPr/>
        </p:nvSpPr>
        <p:spPr bwMode="auto">
          <a:xfrm>
            <a:off x="2578100" y="584200"/>
            <a:ext cx="3390900" cy="4699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5339" name="Group 267"/>
          <p:cNvGrpSpPr/>
          <p:nvPr/>
        </p:nvGrpSpPr>
        <p:grpSpPr bwMode="auto">
          <a:xfrm>
            <a:off x="6156325" y="643908"/>
            <a:ext cx="2835275" cy="434975"/>
            <a:chOff x="3886" y="467"/>
            <a:chExt cx="1786" cy="274"/>
          </a:xfrm>
        </p:grpSpPr>
        <p:sp>
          <p:nvSpPr>
            <p:cNvPr id="515330" name="AutoShape 258"/>
            <p:cNvSpPr>
              <a:spLocks noChangeArrowheads="1"/>
            </p:cNvSpPr>
            <p:nvPr/>
          </p:nvSpPr>
          <p:spPr bwMode="auto">
            <a:xfrm>
              <a:off x="3886" y="467"/>
              <a:ext cx="1786" cy="274"/>
            </a:xfrm>
            <a:prstGeom prst="wedgeRectCallout">
              <a:avLst>
                <a:gd name="adj1" fmla="val -55991"/>
                <a:gd name="adj2" fmla="val -24088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15331" name="WordArt 259"/>
            <p:cNvSpPr>
              <a:spLocks noChangeArrowheads="1" noChangeShapeType="1" noTextEdit="1"/>
            </p:cNvSpPr>
            <p:nvPr/>
          </p:nvSpPr>
          <p:spPr bwMode="auto">
            <a:xfrm>
              <a:off x="4522" y="501"/>
              <a:ext cx="1084" cy="20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的地位不对等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5334" name="Group 262"/>
            <p:cNvGrpSpPr/>
            <p:nvPr/>
          </p:nvGrpSpPr>
          <p:grpSpPr bwMode="auto">
            <a:xfrm>
              <a:off x="3929" y="534"/>
              <a:ext cx="220" cy="162"/>
              <a:chOff x="4153" y="606"/>
              <a:chExt cx="220" cy="162"/>
            </a:xfrm>
          </p:grpSpPr>
          <p:sp>
            <p:nvSpPr>
              <p:cNvPr id="515332" name="WordArt 260"/>
              <p:cNvSpPr>
                <a:spLocks noChangeArrowheads="1" noChangeShapeType="1" noTextEdit="1"/>
              </p:cNvSpPr>
              <p:nvPr/>
            </p:nvSpPr>
            <p:spPr bwMode="auto">
              <a:xfrm>
                <a:off x="4319" y="698"/>
                <a:ext cx="5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5333" name="WordArt 261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53" y="606"/>
                <a:ext cx="143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  <p:grpSp>
          <p:nvGrpSpPr>
            <p:cNvPr id="515335" name="Group 263"/>
            <p:cNvGrpSpPr/>
            <p:nvPr/>
          </p:nvGrpSpPr>
          <p:grpSpPr bwMode="auto">
            <a:xfrm>
              <a:off x="4264" y="531"/>
              <a:ext cx="220" cy="162"/>
              <a:chOff x="4153" y="606"/>
              <a:chExt cx="220" cy="162"/>
            </a:xfrm>
          </p:grpSpPr>
          <p:sp>
            <p:nvSpPr>
              <p:cNvPr id="515336" name="WordArt 2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319" y="698"/>
                <a:ext cx="5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1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5337" name="WordArt 265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53" y="606"/>
                <a:ext cx="143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515338" name="WordArt 266"/>
            <p:cNvSpPr>
              <a:spLocks noChangeArrowheads="1" noChangeShapeType="1" noTextEdit="1"/>
            </p:cNvSpPr>
            <p:nvPr/>
          </p:nvSpPr>
          <p:spPr bwMode="auto">
            <a:xfrm>
              <a:off x="4178" y="647"/>
              <a:ext cx="48" cy="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、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5344" name="Group 272"/>
          <p:cNvGrpSpPr/>
          <p:nvPr/>
        </p:nvGrpSpPr>
        <p:grpSpPr bwMode="auto">
          <a:xfrm>
            <a:off x="2001838" y="2190750"/>
            <a:ext cx="7307262" cy="604838"/>
            <a:chOff x="1685" y="1108"/>
            <a:chExt cx="4603" cy="381"/>
          </a:xfrm>
        </p:grpSpPr>
        <p:sp>
          <p:nvSpPr>
            <p:cNvPr id="515341" name="Rectangle 269"/>
            <p:cNvSpPr>
              <a:spLocks noChangeArrowheads="1"/>
            </p:cNvSpPr>
            <p:nvPr/>
          </p:nvSpPr>
          <p:spPr bwMode="auto">
            <a:xfrm>
              <a:off x="1685" y="1108"/>
              <a:ext cx="4603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的内容为真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但判断错了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后果很严重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5342" name="Object 270"/>
            <p:cNvGraphicFramePr>
              <a:graphicFrameLocks noChangeAspect="1"/>
            </p:cNvGraphicFramePr>
            <p:nvPr/>
          </p:nvGraphicFramePr>
          <p:xfrm>
            <a:off x="1949" y="1176"/>
            <a:ext cx="325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25" name="Equation" r:id="rId42" imgW="4876800" imgH="4267200" progId="Equation.DSMT4">
                    <p:embed/>
                  </p:oleObj>
                </mc:Choice>
                <mc:Fallback>
                  <p:oleObj name="Equation" r:id="rId42" imgW="4876800" imgH="4267200" progId="Equation.DSMT4">
                    <p:embed/>
                    <p:pic>
                      <p:nvPicPr>
                        <p:cNvPr id="0" name="Object 2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9" y="1176"/>
                          <a:ext cx="325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5345" name="Rectangle 273"/>
          <p:cNvSpPr>
            <a:spLocks noChangeArrowheads="1"/>
          </p:cNvSpPr>
          <p:nvPr/>
        </p:nvSpPr>
        <p:spPr bwMode="auto">
          <a:xfrm>
            <a:off x="0" y="3213100"/>
            <a:ext cx="9144000" cy="2298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5346" name="Group 274"/>
          <p:cNvGrpSpPr/>
          <p:nvPr/>
        </p:nvGrpSpPr>
        <p:grpSpPr bwMode="auto">
          <a:xfrm>
            <a:off x="727075" y="3089278"/>
            <a:ext cx="7756525" cy="604838"/>
            <a:chOff x="538" y="2626"/>
            <a:chExt cx="4886" cy="381"/>
          </a:xfrm>
        </p:grpSpPr>
        <p:sp>
          <p:nvSpPr>
            <p:cNvPr id="515347" name="Rectangle 275"/>
            <p:cNvSpPr>
              <a:spLocks noChangeArrowheads="1"/>
            </p:cNvSpPr>
            <p:nvPr/>
          </p:nvSpPr>
          <p:spPr bwMode="auto">
            <a:xfrm>
              <a:off x="538" y="2626"/>
              <a:ext cx="4886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给定一个较小的数          ，使得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5348" name="Object 276"/>
            <p:cNvGraphicFramePr>
              <a:graphicFrameLocks noChangeAspect="1"/>
            </p:cNvGraphicFramePr>
            <p:nvPr/>
          </p:nvGraphicFramePr>
          <p:xfrm>
            <a:off x="2388" y="2722"/>
            <a:ext cx="1160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26" name="Equation" r:id="rId44" imgW="17678400" imgH="4267200" progId="Equation.DSMT4">
                    <p:embed/>
                  </p:oleObj>
                </mc:Choice>
                <mc:Fallback>
                  <p:oleObj name="Equation" r:id="rId44" imgW="17678400" imgH="4267200" progId="Equation.DSMT4">
                    <p:embed/>
                    <p:pic>
                      <p:nvPicPr>
                        <p:cNvPr id="0" name="Object 2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8" y="2722"/>
                          <a:ext cx="1160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5349" name="Object 277"/>
          <p:cNvGraphicFramePr>
            <a:graphicFrameLocks noChangeAspect="1"/>
          </p:cNvGraphicFramePr>
          <p:nvPr/>
        </p:nvGraphicFramePr>
        <p:xfrm>
          <a:off x="2851150" y="3652838"/>
          <a:ext cx="36703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927" name="Equation" r:id="rId46" imgW="34747200" imgH="4267200" progId="Equation.DSMT4">
                  <p:embed/>
                </p:oleObj>
              </mc:Choice>
              <mc:Fallback>
                <p:oleObj name="Equation" r:id="rId46" imgW="34747200" imgH="4267200" progId="Equation.DSMT4">
                  <p:embed/>
                  <p:pic>
                    <p:nvPicPr>
                      <p:cNvPr id="0" name="Object 2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3652838"/>
                        <a:ext cx="36703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5350" name="Group 278"/>
          <p:cNvGrpSpPr/>
          <p:nvPr/>
        </p:nvGrpSpPr>
        <p:grpSpPr bwMode="auto">
          <a:xfrm>
            <a:off x="1741488" y="3889375"/>
            <a:ext cx="3170237" cy="615950"/>
            <a:chOff x="1425" y="3186"/>
            <a:chExt cx="1997" cy="388"/>
          </a:xfrm>
        </p:grpSpPr>
        <p:graphicFrame>
          <p:nvGraphicFramePr>
            <p:cNvPr id="515351" name="Object 279"/>
            <p:cNvGraphicFramePr>
              <a:graphicFrameLocks noChangeAspect="1"/>
            </p:cNvGraphicFramePr>
            <p:nvPr/>
          </p:nvGraphicFramePr>
          <p:xfrm>
            <a:off x="1425" y="3278"/>
            <a:ext cx="196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28" name="Equation" r:id="rId48" imgW="29565600" imgH="4267200" progId="Equation.DSMT4">
                    <p:embed/>
                  </p:oleObj>
                </mc:Choice>
                <mc:Fallback>
                  <p:oleObj name="Equation" r:id="rId48" imgW="29565600" imgH="4267200" progId="Equation.DSMT4">
                    <p:embed/>
                    <p:pic>
                      <p:nvPicPr>
                        <p:cNvPr id="0" name="Object 2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5" y="3278"/>
                          <a:ext cx="1967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5352" name="Group 280"/>
            <p:cNvGrpSpPr/>
            <p:nvPr/>
          </p:nvGrpSpPr>
          <p:grpSpPr bwMode="auto">
            <a:xfrm>
              <a:off x="1659" y="3186"/>
              <a:ext cx="1763" cy="388"/>
              <a:chOff x="1466" y="3201"/>
              <a:chExt cx="1763" cy="388"/>
            </a:xfrm>
          </p:grpSpPr>
          <p:sp>
            <p:nvSpPr>
              <p:cNvPr id="515353" name="Rectangle 281"/>
              <p:cNvSpPr>
                <a:spLocks noChangeArrowheads="1"/>
              </p:cNvSpPr>
              <p:nvPr/>
            </p:nvSpPr>
            <p:spPr bwMode="auto">
              <a:xfrm>
                <a:off x="1466" y="3201"/>
                <a:ext cx="1763" cy="3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zh-CN" altLang="en-US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拒绝     </a:t>
                </a:r>
                <a:r>
                  <a:rPr lang="zh-CN" altLang="en-US" sz="9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lang="zh-CN" altLang="en-US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为真</a:t>
                </a:r>
                <a:endPara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aphicFrame>
            <p:nvGraphicFramePr>
              <p:cNvPr id="515354" name="Object 282"/>
              <p:cNvGraphicFramePr>
                <a:graphicFrameLocks noChangeAspect="1"/>
              </p:cNvGraphicFramePr>
              <p:nvPr/>
            </p:nvGraphicFramePr>
            <p:xfrm>
              <a:off x="1937" y="3287"/>
              <a:ext cx="710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8929" name="Equation" r:id="rId50" imgW="10668000" imgH="4572000" progId="Equation.DSMT4">
                      <p:embed/>
                    </p:oleObj>
                  </mc:Choice>
                  <mc:Fallback>
                    <p:oleObj name="Equation" r:id="rId50" imgW="10668000" imgH="4572000" progId="Equation.DSMT4">
                      <p:embed/>
                      <p:pic>
                        <p:nvPicPr>
                          <p:cNvPr id="0" name="Object 2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7" y="3287"/>
                            <a:ext cx="710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15355" name="Group 283"/>
          <p:cNvGrpSpPr/>
          <p:nvPr/>
        </p:nvGrpSpPr>
        <p:grpSpPr bwMode="auto">
          <a:xfrm>
            <a:off x="1743075" y="4297363"/>
            <a:ext cx="3170238" cy="615950"/>
            <a:chOff x="1425" y="3186"/>
            <a:chExt cx="1997" cy="388"/>
          </a:xfrm>
        </p:grpSpPr>
        <p:graphicFrame>
          <p:nvGraphicFramePr>
            <p:cNvPr id="515356" name="Object 284"/>
            <p:cNvGraphicFramePr>
              <a:graphicFrameLocks noChangeAspect="1"/>
            </p:cNvGraphicFramePr>
            <p:nvPr/>
          </p:nvGraphicFramePr>
          <p:xfrm>
            <a:off x="1425" y="3278"/>
            <a:ext cx="196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30" name="Equation" r:id="rId52" imgW="29565600" imgH="4267200" progId="Equation.DSMT4">
                    <p:embed/>
                  </p:oleObj>
                </mc:Choice>
                <mc:Fallback>
                  <p:oleObj name="Equation" r:id="rId52" imgW="29565600" imgH="4267200" progId="Equation.DSMT4">
                    <p:embed/>
                    <p:pic>
                      <p:nvPicPr>
                        <p:cNvPr id="0" name="Object 2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5" y="3278"/>
                          <a:ext cx="1967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5357" name="Group 285"/>
            <p:cNvGrpSpPr/>
            <p:nvPr/>
          </p:nvGrpSpPr>
          <p:grpSpPr bwMode="auto">
            <a:xfrm>
              <a:off x="1659" y="3186"/>
              <a:ext cx="1763" cy="388"/>
              <a:chOff x="1466" y="3201"/>
              <a:chExt cx="1763" cy="388"/>
            </a:xfrm>
          </p:grpSpPr>
          <p:sp>
            <p:nvSpPr>
              <p:cNvPr id="515358" name="Rectangle 286"/>
              <p:cNvSpPr>
                <a:spLocks noChangeArrowheads="1"/>
              </p:cNvSpPr>
              <p:nvPr/>
            </p:nvSpPr>
            <p:spPr bwMode="auto">
              <a:xfrm>
                <a:off x="1466" y="3201"/>
                <a:ext cx="1763" cy="3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zh-CN" alt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接受     </a:t>
                </a:r>
                <a:r>
                  <a:rPr lang="zh-CN" altLang="en-US" sz="9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不真</a:t>
                </a:r>
                <a:endPara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aphicFrame>
            <p:nvGraphicFramePr>
              <p:cNvPr id="515359" name="Object 287"/>
              <p:cNvGraphicFramePr>
                <a:graphicFrameLocks noChangeAspect="1"/>
              </p:cNvGraphicFramePr>
              <p:nvPr/>
            </p:nvGraphicFramePr>
            <p:xfrm>
              <a:off x="1937" y="3287"/>
              <a:ext cx="710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8931" name="Equation" r:id="rId54" imgW="10668000" imgH="4572000" progId="Equation.DSMT4">
                      <p:embed/>
                    </p:oleObj>
                  </mc:Choice>
                  <mc:Fallback>
                    <p:oleObj name="Equation" r:id="rId54" imgW="10668000" imgH="4572000" progId="Equation.DSMT4">
                      <p:embed/>
                      <p:pic>
                        <p:nvPicPr>
                          <p:cNvPr id="0" name="Object 28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7" y="3287"/>
                            <a:ext cx="710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15360" name="Rectangle 288"/>
          <p:cNvSpPr>
            <a:spLocks noChangeArrowheads="1"/>
          </p:cNvSpPr>
          <p:nvPr/>
        </p:nvSpPr>
        <p:spPr bwMode="auto">
          <a:xfrm>
            <a:off x="719138" y="3879850"/>
            <a:ext cx="950912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称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5361" name="Group 289"/>
          <p:cNvGrpSpPr/>
          <p:nvPr/>
        </p:nvGrpSpPr>
        <p:grpSpPr bwMode="auto">
          <a:xfrm>
            <a:off x="4868863" y="4084638"/>
            <a:ext cx="2760662" cy="298450"/>
            <a:chOff x="2715" y="3269"/>
            <a:chExt cx="1739" cy="188"/>
          </a:xfrm>
        </p:grpSpPr>
        <p:sp>
          <p:nvSpPr>
            <p:cNvPr id="515362" name="WordArt 290"/>
            <p:cNvSpPr>
              <a:spLocks noChangeArrowheads="1" noChangeShapeType="1" noTextEdit="1"/>
            </p:cNvSpPr>
            <p:nvPr/>
          </p:nvSpPr>
          <p:spPr bwMode="auto">
            <a:xfrm>
              <a:off x="3722" y="3269"/>
              <a:ext cx="732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5363" name="WordArt 291"/>
            <p:cNvSpPr>
              <a:spLocks noChangeArrowheads="1" noChangeShapeType="1" noTextEdit="1"/>
            </p:cNvSpPr>
            <p:nvPr/>
          </p:nvSpPr>
          <p:spPr bwMode="auto">
            <a:xfrm>
              <a:off x="3555" y="3286"/>
              <a:ext cx="78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5364" name="WordArt 292"/>
            <p:cNvSpPr>
              <a:spLocks noChangeArrowheads="1" noChangeShapeType="1" noTextEdit="1"/>
            </p:cNvSpPr>
            <p:nvPr/>
          </p:nvSpPr>
          <p:spPr bwMode="auto">
            <a:xfrm>
              <a:off x="2715" y="3358"/>
              <a:ext cx="732" cy="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......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5365" name="Group 293"/>
          <p:cNvGrpSpPr/>
          <p:nvPr/>
        </p:nvGrpSpPr>
        <p:grpSpPr bwMode="auto">
          <a:xfrm>
            <a:off x="4870450" y="4518025"/>
            <a:ext cx="2773363" cy="298450"/>
            <a:chOff x="2716" y="3518"/>
            <a:chExt cx="1747" cy="188"/>
          </a:xfrm>
        </p:grpSpPr>
        <p:sp>
          <p:nvSpPr>
            <p:cNvPr id="515366" name="WordArt 294"/>
            <p:cNvSpPr>
              <a:spLocks noChangeArrowheads="1" noChangeShapeType="1" noTextEdit="1"/>
            </p:cNvSpPr>
            <p:nvPr/>
          </p:nvSpPr>
          <p:spPr bwMode="auto">
            <a:xfrm>
              <a:off x="3524" y="3535"/>
              <a:ext cx="142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5367" name="WordArt 295"/>
            <p:cNvSpPr>
              <a:spLocks noChangeArrowheads="1" noChangeShapeType="1" noTextEdit="1"/>
            </p:cNvSpPr>
            <p:nvPr/>
          </p:nvSpPr>
          <p:spPr bwMode="auto">
            <a:xfrm>
              <a:off x="3731" y="3518"/>
              <a:ext cx="732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5368" name="WordArt 296"/>
            <p:cNvSpPr>
              <a:spLocks noChangeArrowheads="1" noChangeShapeType="1" noTextEdit="1"/>
            </p:cNvSpPr>
            <p:nvPr/>
          </p:nvSpPr>
          <p:spPr bwMode="auto">
            <a:xfrm>
              <a:off x="2716" y="3599"/>
              <a:ext cx="732" cy="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......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5369" name="WordArt 297"/>
          <p:cNvSpPr>
            <a:spLocks noChangeArrowheads="1" noChangeShapeType="1" noTextEdit="1"/>
          </p:cNvSpPr>
          <p:nvPr/>
        </p:nvSpPr>
        <p:spPr bwMode="auto">
          <a:xfrm>
            <a:off x="825500" y="4949825"/>
            <a:ext cx="1760538" cy="2905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检验原则二</a:t>
            </a:r>
            <a:r>
              <a:rPr lang="en-US" altLang="zh-CN" sz="3600" b="1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endParaRPr lang="zh-CN" altLang="en-US" sz="3600" b="1" kern="10">
              <a:ln w="12700">
                <a:solidFill>
                  <a:schemeClr val="accent2"/>
                </a:solidFill>
                <a:round/>
              </a:ln>
              <a:gradFill rotWithShape="1">
                <a:gsLst>
                  <a:gs pos="0">
                    <a:srgbClr val="0066CC"/>
                  </a:gs>
                  <a:gs pos="50000">
                    <a:srgbClr val="FFFFFF"/>
                  </a:gs>
                  <a:gs pos="100000">
                    <a:srgbClr val="0066CC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5370" name="Group 298"/>
          <p:cNvGrpSpPr/>
          <p:nvPr/>
        </p:nvGrpSpPr>
        <p:grpSpPr bwMode="auto">
          <a:xfrm>
            <a:off x="2771775" y="4938713"/>
            <a:ext cx="1985963" cy="298450"/>
            <a:chOff x="1746" y="3119"/>
            <a:chExt cx="1251" cy="188"/>
          </a:xfrm>
        </p:grpSpPr>
        <p:sp>
          <p:nvSpPr>
            <p:cNvPr id="515371" name="WordArt 299"/>
            <p:cNvSpPr>
              <a:spLocks noChangeArrowheads="1" noChangeShapeType="1" noTextEdit="1"/>
            </p:cNvSpPr>
            <p:nvPr/>
          </p:nvSpPr>
          <p:spPr bwMode="auto">
            <a:xfrm>
              <a:off x="2222" y="3134"/>
              <a:ext cx="79" cy="162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5372" name="WordArt 300"/>
            <p:cNvSpPr>
              <a:spLocks noChangeArrowheads="1" noChangeShapeType="1" noTextEdit="1"/>
            </p:cNvSpPr>
            <p:nvPr/>
          </p:nvSpPr>
          <p:spPr bwMode="auto">
            <a:xfrm>
              <a:off x="1746" y="3119"/>
              <a:ext cx="1251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控制  类风险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5373" name="Group 301"/>
          <p:cNvGrpSpPr/>
          <p:nvPr/>
        </p:nvGrpSpPr>
        <p:grpSpPr bwMode="auto">
          <a:xfrm>
            <a:off x="4894263" y="4940300"/>
            <a:ext cx="2163762" cy="298450"/>
            <a:chOff x="3035" y="3136"/>
            <a:chExt cx="1363" cy="188"/>
          </a:xfrm>
        </p:grpSpPr>
        <p:sp>
          <p:nvSpPr>
            <p:cNvPr id="515374" name="WordArt 302"/>
            <p:cNvSpPr>
              <a:spLocks noChangeArrowheads="1" noChangeShapeType="1" noTextEdit="1"/>
            </p:cNvSpPr>
            <p:nvPr/>
          </p:nvSpPr>
          <p:spPr bwMode="auto">
            <a:xfrm>
              <a:off x="3567" y="3151"/>
              <a:ext cx="111" cy="162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Times New Roman" panose="02020603050405020304"/>
                  <a:cs typeface="Times New Roman" panose="02020603050405020304"/>
                </a:rPr>
                <a:t>II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5375" name="WordArt 303"/>
            <p:cNvSpPr>
              <a:spLocks noChangeArrowheads="1" noChangeShapeType="1" noTextEdit="1"/>
            </p:cNvSpPr>
            <p:nvPr/>
          </p:nvSpPr>
          <p:spPr bwMode="auto">
            <a:xfrm>
              <a:off x="3035" y="3136"/>
              <a:ext cx="1363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不管  类风险</a:t>
              </a:r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)</a:t>
              </a:r>
              <a:endPara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5376" name="Oval 304"/>
          <p:cNvSpPr>
            <a:spLocks noChangeArrowheads="1"/>
          </p:cNvSpPr>
          <p:nvPr/>
        </p:nvSpPr>
        <p:spPr bwMode="auto">
          <a:xfrm>
            <a:off x="6110288" y="3671888"/>
            <a:ext cx="393700" cy="3683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15284" name="Group 212"/>
          <p:cNvGrpSpPr/>
          <p:nvPr/>
        </p:nvGrpSpPr>
        <p:grpSpPr bwMode="auto">
          <a:xfrm>
            <a:off x="711200" y="5373688"/>
            <a:ext cx="850900" cy="469900"/>
            <a:chOff x="471" y="3193"/>
            <a:chExt cx="536" cy="296"/>
          </a:xfrm>
        </p:grpSpPr>
        <p:sp>
          <p:nvSpPr>
            <p:cNvPr id="515282" name="AutoShape 210"/>
            <p:cNvSpPr>
              <a:spLocks noChangeArrowheads="1"/>
            </p:cNvSpPr>
            <p:nvPr/>
          </p:nvSpPr>
          <p:spPr bwMode="auto">
            <a:xfrm>
              <a:off x="471" y="3193"/>
              <a:ext cx="536" cy="296"/>
            </a:xfrm>
            <a:prstGeom prst="star16">
              <a:avLst>
                <a:gd name="adj" fmla="val 37500"/>
              </a:avLst>
            </a:prstGeom>
            <a:gradFill rotWithShape="1">
              <a:gsLst>
                <a:gs pos="0">
                  <a:srgbClr val="FFFF00"/>
                </a:gs>
                <a:gs pos="100000">
                  <a:srgbClr val="FF0000">
                    <a:alpha val="67999"/>
                  </a:srgb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accent2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zh-CN" b="1">
                <a:solidFill>
                  <a:srgbClr val="FF9933"/>
                </a:solidFill>
                <a:effectLst/>
              </a:endParaRPr>
            </a:p>
          </p:txBody>
        </p:sp>
        <p:sp>
          <p:nvSpPr>
            <p:cNvPr id="515283" name="WordArt 211"/>
            <p:cNvSpPr>
              <a:spLocks noChangeArrowheads="1" noChangeShapeType="1" noTextEdit="1"/>
            </p:cNvSpPr>
            <p:nvPr/>
          </p:nvSpPr>
          <p:spPr bwMode="auto">
            <a:xfrm>
              <a:off x="621" y="3244"/>
              <a:ext cx="224" cy="1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注</a:t>
              </a:r>
              <a:endPara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5377" name="Group 305"/>
          <p:cNvGrpSpPr/>
          <p:nvPr/>
        </p:nvGrpSpPr>
        <p:grpSpPr bwMode="auto">
          <a:xfrm>
            <a:off x="3203575" y="3506792"/>
            <a:ext cx="2798763" cy="604838"/>
            <a:chOff x="1466" y="3201"/>
            <a:chExt cx="1763" cy="381"/>
          </a:xfrm>
        </p:grpSpPr>
        <p:sp>
          <p:nvSpPr>
            <p:cNvPr id="515378" name="Rectangle 306"/>
            <p:cNvSpPr>
              <a:spLocks noChangeArrowheads="1"/>
            </p:cNvSpPr>
            <p:nvPr/>
          </p:nvSpPr>
          <p:spPr bwMode="auto">
            <a:xfrm>
              <a:off x="1466" y="3201"/>
              <a:ext cx="1763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     </a:t>
              </a:r>
              <a:r>
                <a:rPr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为真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5379" name="Object 307"/>
            <p:cNvGraphicFramePr>
              <a:graphicFrameLocks noChangeAspect="1"/>
            </p:cNvGraphicFramePr>
            <p:nvPr/>
          </p:nvGraphicFramePr>
          <p:xfrm>
            <a:off x="1937" y="3260"/>
            <a:ext cx="71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932" name="Equation" r:id="rId56" imgW="10668000" imgH="4572000" progId="Equation.DSMT4">
                    <p:embed/>
                  </p:oleObj>
                </mc:Choice>
                <mc:Fallback>
                  <p:oleObj name="Equation" r:id="rId56" imgW="10668000" imgH="4572000" progId="Equation.DSMT4">
                    <p:embed/>
                    <p:pic>
                      <p:nvPicPr>
                        <p:cNvPr id="0" name="Object 3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7" y="3260"/>
                          <a:ext cx="710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5285" name="WordArt 213"/>
          <p:cNvSpPr>
            <a:spLocks noChangeArrowheads="1" noChangeShapeType="1" noTextEdit="1"/>
          </p:cNvSpPr>
          <p:nvPr/>
        </p:nvSpPr>
        <p:spPr bwMode="auto">
          <a:xfrm>
            <a:off x="1743075" y="5483225"/>
            <a:ext cx="279400" cy="2540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i="1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effectLst/>
                <a:latin typeface="隶书" panose="02010509060101010101" charset="-122"/>
                <a:ea typeface="隶书" panose="02010509060101010101" charset="-122"/>
              </a:rPr>
              <a:t>①</a:t>
            </a:r>
            <a:endParaRPr lang="zh-CN" altLang="en-US" sz="3600" b="1" i="1" kern="10">
              <a:ln w="12700">
                <a:solidFill>
                  <a:srgbClr val="FF0000"/>
                </a:solidFill>
                <a:round/>
              </a:ln>
              <a:solidFill>
                <a:schemeClr val="accent2"/>
              </a:solidFill>
              <a:effectLst/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515294" name="Group 222"/>
          <p:cNvGrpSpPr/>
          <p:nvPr/>
        </p:nvGrpSpPr>
        <p:grpSpPr bwMode="auto">
          <a:xfrm>
            <a:off x="2139950" y="5459413"/>
            <a:ext cx="6781800" cy="327025"/>
            <a:chOff x="1388" y="3215"/>
            <a:chExt cx="3760" cy="206"/>
          </a:xfrm>
        </p:grpSpPr>
        <p:sp>
          <p:nvSpPr>
            <p:cNvPr id="515289" name="WordArt 217"/>
            <p:cNvSpPr>
              <a:spLocks noChangeArrowheads="1" noChangeShapeType="1" noTextEdit="1"/>
            </p:cNvSpPr>
            <p:nvPr/>
          </p:nvSpPr>
          <p:spPr bwMode="auto">
            <a:xfrm>
              <a:off x="1589" y="3256"/>
              <a:ext cx="150" cy="124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5333"/>
                </a:avLst>
              </a:prstTxWarp>
            </a:bodyPr>
            <a:lstStyle/>
            <a:p>
              <a:r>
                <a:rPr lang="en-US" altLang="zh-CN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Symbol" panose="05050102010706020507"/>
                </a:rPr>
                <a:t>a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effectLst/>
                <a:latin typeface="Symbol" panose="05050102010706020507"/>
              </a:endParaRPr>
            </a:p>
          </p:txBody>
        </p:sp>
        <p:sp>
          <p:nvSpPr>
            <p:cNvPr id="515290" name="WordArt 218"/>
            <p:cNvSpPr>
              <a:spLocks noChangeArrowheads="1" noChangeShapeType="1" noTextEdit="1"/>
            </p:cNvSpPr>
            <p:nvPr/>
          </p:nvSpPr>
          <p:spPr bwMode="auto">
            <a:xfrm>
              <a:off x="1388" y="3215"/>
              <a:ext cx="2420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称   为显著性水平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通常   取值为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5292" name="WordArt 220"/>
            <p:cNvSpPr>
              <a:spLocks noChangeArrowheads="1" noChangeShapeType="1" noTextEdit="1"/>
            </p:cNvSpPr>
            <p:nvPr/>
          </p:nvSpPr>
          <p:spPr bwMode="auto">
            <a:xfrm>
              <a:off x="3862" y="3249"/>
              <a:ext cx="1286" cy="172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49819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Symbol" panose="05050102010706020507"/>
                </a:rPr>
                <a:t>0.01, 0.05, 0.10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effectLst/>
                <a:latin typeface="Symbol" panose="05050102010706020507"/>
              </a:endParaRPr>
            </a:p>
          </p:txBody>
        </p:sp>
        <p:sp>
          <p:nvSpPr>
            <p:cNvPr id="515293" name="WordArt 221"/>
            <p:cNvSpPr>
              <a:spLocks noChangeArrowheads="1" noChangeShapeType="1" noTextEdit="1"/>
            </p:cNvSpPr>
            <p:nvPr/>
          </p:nvSpPr>
          <p:spPr bwMode="auto">
            <a:xfrm>
              <a:off x="3158" y="3257"/>
              <a:ext cx="150" cy="124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5333"/>
                </a:avLst>
              </a:prstTxWarp>
            </a:bodyPr>
            <a:lstStyle/>
            <a:p>
              <a:r>
                <a:rPr lang="en-US" altLang="zh-CN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accent2"/>
                  </a:solidFill>
                  <a:effectLst/>
                  <a:latin typeface="Symbol" panose="05050102010706020507"/>
                </a:rPr>
                <a:t>a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effectLst/>
                <a:latin typeface="Symbol" panose="05050102010706020507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5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15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5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5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5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5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1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1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1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5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5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1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5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15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515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515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15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5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1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5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5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15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5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1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1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1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1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1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1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13" dur="1000" fill="hold"/>
                                        <p:tgtEl>
                                          <p:spTgt spid="51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15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15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1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8" dur="1000" fill="hold"/>
                                        <p:tgtEl>
                                          <p:spTgt spid="51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15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15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1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43" dur="1000" fill="hold"/>
                                        <p:tgtEl>
                                          <p:spTgt spid="51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15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15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1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58" dur="1000" fill="hold"/>
                                        <p:tgtEl>
                                          <p:spTgt spid="51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15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15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1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515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1000"/>
                                        <p:tgtEl>
                                          <p:spTgt spid="515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1000"/>
                                        <p:tgtEl>
                                          <p:spTgt spid="515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1000"/>
                                        <p:tgtEl>
                                          <p:spTgt spid="515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1000"/>
                                        <p:tgtEl>
                                          <p:spTgt spid="515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1000"/>
                                        <p:tgtEl>
                                          <p:spTgt spid="515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1000"/>
                                        <p:tgtEl>
                                          <p:spTgt spid="515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1000"/>
                                        <p:tgtEl>
                                          <p:spTgt spid="515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1000"/>
                                        <p:tgtEl>
                                          <p:spTgt spid="515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1000"/>
                                        <p:tgtEl>
                                          <p:spTgt spid="515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515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515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51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515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515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51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1000"/>
                                        <p:tgtEl>
                                          <p:spTgt spid="515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1000"/>
                                        <p:tgtEl>
                                          <p:spTgt spid="515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51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07407E-6 L 0.14306 -0.06296 " pathEditMode="relative" ptsTypes="AA">
                                      <p:cBhvr>
                                        <p:cTn id="222" dur="1000" fill="hold"/>
                                        <p:tgtEl>
                                          <p:spTgt spid="515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51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5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1000"/>
                                        <p:tgtEl>
                                          <p:spTgt spid="515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51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51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000"/>
                            </p:stCondLst>
                            <p:childTnLst>
                              <p:par>
                                <p:cTn id="2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51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51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500"/>
                            </p:stCondLst>
                            <p:childTnLst>
                              <p:par>
                                <p:cTn id="2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5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515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515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5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500"/>
                            </p:stCondLst>
                            <p:childTnLst>
                              <p:par>
                                <p:cTn id="2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5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2" dur="500"/>
                                        <p:tgtEl>
                                          <p:spTgt spid="5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515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515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51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515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515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5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6" dur="1000" fill="hold"/>
                                        <p:tgtEl>
                                          <p:spTgt spid="5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500"/>
                            </p:stCondLst>
                            <p:childTnLst>
                              <p:par>
                                <p:cTn id="2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0" dur="500"/>
                                        <p:tgtEl>
                                          <p:spTgt spid="51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3" dur="500"/>
                                        <p:tgtEl>
                                          <p:spTgt spid="515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51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1000"/>
                                        <p:tgtEl>
                                          <p:spTgt spid="515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4" dur="500"/>
                                        <p:tgtEl>
                                          <p:spTgt spid="51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500"/>
                            </p:stCondLst>
                            <p:childTnLst>
                              <p:par>
                                <p:cTn id="30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8" dur="500"/>
                                        <p:tgtEl>
                                          <p:spTgt spid="51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3" dur="500"/>
                                        <p:tgtEl>
                                          <p:spTgt spid="51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93" grpId="0" animBg="1"/>
      <p:bldP spid="515100" grpId="0" animBg="1"/>
      <p:bldP spid="515104" grpId="0"/>
      <p:bldP spid="515105" grpId="0" animBg="1"/>
      <p:bldP spid="515178" grpId="0" animBg="1"/>
      <p:bldP spid="515178" grpId="1" animBg="1"/>
      <p:bldP spid="515182" grpId="0" animBg="1"/>
      <p:bldP spid="515182" grpId="1" animBg="1"/>
      <p:bldP spid="515184" grpId="0" animBg="1"/>
      <p:bldP spid="515184" grpId="1" animBg="1"/>
      <p:bldP spid="515229" grpId="0" animBg="1"/>
      <p:bldP spid="515229" grpId="1" animBg="1"/>
      <p:bldP spid="515286" grpId="0" animBg="1"/>
      <p:bldP spid="515321" grpId="0" animBg="1"/>
      <p:bldP spid="515328" grpId="0" animBg="1"/>
      <p:bldP spid="515328" grpId="1" animBg="1"/>
      <p:bldP spid="515345" grpId="0" animBg="1"/>
      <p:bldP spid="515360" grpId="0"/>
      <p:bldP spid="515369" grpId="0" animBg="1"/>
      <p:bldP spid="515376" grpId="0" animBg="1"/>
      <p:bldP spid="515376" grpId="1" animBg="1"/>
      <p:bldP spid="515376" grpId="2" animBg="1"/>
      <p:bldP spid="51528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4708" name="Object 180"/>
          <p:cNvGraphicFramePr>
            <a:graphicFrameLocks noChangeAspect="1"/>
          </p:cNvGraphicFramePr>
          <p:nvPr/>
        </p:nvGraphicFramePr>
        <p:xfrm>
          <a:off x="2740025" y="5294313"/>
          <a:ext cx="36703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84" name="Equation" r:id="rId1" imgW="34747200" imgH="4267200" progId="Equation.DSMT4">
                  <p:embed/>
                </p:oleObj>
              </mc:Choice>
              <mc:Fallback>
                <p:oleObj name="Equation" r:id="rId1" imgW="34747200" imgH="4267200" progId="Equation.DSMT4">
                  <p:embed/>
                  <p:pic>
                    <p:nvPicPr>
                      <p:cNvPr id="0" name="Object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025" y="5294313"/>
                        <a:ext cx="36703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711" name="Object 183"/>
          <p:cNvGraphicFramePr>
            <a:graphicFrameLocks noChangeAspect="1"/>
          </p:cNvGraphicFramePr>
          <p:nvPr/>
        </p:nvGraphicFramePr>
        <p:xfrm>
          <a:off x="4579074" y="5297488"/>
          <a:ext cx="1619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85" name="公式" r:id="rId3" imgW="88900" imgH="254000" progId="Equation.3">
                  <p:embed/>
                </p:oleObj>
              </mc:Choice>
              <mc:Fallback>
                <p:oleObj name="公式" r:id="rId3" imgW="88900" imgH="254000" progId="Equation.3">
                  <p:embed/>
                  <p:pic>
                    <p:nvPicPr>
                      <p:cNvPr id="0" name="Object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074" y="5297488"/>
                        <a:ext cx="1619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719" name="Object 191"/>
          <p:cNvGraphicFramePr>
            <a:graphicFrameLocks noChangeAspect="1"/>
          </p:cNvGraphicFramePr>
          <p:nvPr/>
        </p:nvGraphicFramePr>
        <p:xfrm>
          <a:off x="4694115" y="5273675"/>
          <a:ext cx="9985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86" name="Equation" r:id="rId5" imgW="9448800" imgH="4572000" progId="Equation.DSMT4">
                  <p:embed/>
                </p:oleObj>
              </mc:Choice>
              <mc:Fallback>
                <p:oleObj name="Equation" r:id="rId5" imgW="9448800" imgH="4572000" progId="Equation.DSMT4">
                  <p:embed/>
                  <p:pic>
                    <p:nvPicPr>
                      <p:cNvPr id="0" name="Object 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115" y="5273675"/>
                        <a:ext cx="99853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537" name="WordArt 9"/>
          <p:cNvSpPr>
            <a:spLocks noChangeArrowheads="1" noChangeShapeType="1" noTextEdit="1"/>
          </p:cNvSpPr>
          <p:nvPr/>
        </p:nvSpPr>
        <p:spPr bwMode="auto">
          <a:xfrm>
            <a:off x="749300" y="2982913"/>
            <a:ext cx="341313" cy="290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解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sp>
        <p:nvSpPr>
          <p:cNvPr id="534538" name="Rectangle 10"/>
          <p:cNvSpPr>
            <a:spLocks noChangeArrowheads="1"/>
          </p:cNvSpPr>
          <p:nvPr/>
        </p:nvSpPr>
        <p:spPr bwMode="auto">
          <a:xfrm>
            <a:off x="1371600" y="538163"/>
            <a:ext cx="8039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某车间用一台自动包装机装化肥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每袋的标称重量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4539" name="WordArt 11"/>
          <p:cNvSpPr>
            <a:spLocks noChangeArrowheads="1" noChangeShapeType="1" noTextEdit="1"/>
          </p:cNvSpPr>
          <p:nvPr/>
        </p:nvSpPr>
        <p:spPr bwMode="auto">
          <a:xfrm>
            <a:off x="771525" y="641350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534545" name="Group 17"/>
          <p:cNvGrpSpPr/>
          <p:nvPr/>
        </p:nvGrpSpPr>
        <p:grpSpPr bwMode="auto">
          <a:xfrm>
            <a:off x="-25400" y="922338"/>
            <a:ext cx="9296400" cy="542925"/>
            <a:chOff x="0" y="589"/>
            <a:chExt cx="5856" cy="342"/>
          </a:xfrm>
        </p:grpSpPr>
        <p:sp>
          <p:nvSpPr>
            <p:cNvPr id="534546" name="Rectangle 18"/>
            <p:cNvSpPr>
              <a:spLocks noChangeArrowheads="1"/>
            </p:cNvSpPr>
            <p:nvPr/>
          </p:nvSpPr>
          <p:spPr bwMode="auto">
            <a:xfrm>
              <a:off x="0" y="589"/>
              <a:ext cx="585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规定为     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某日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开工后为了检查包装机是否正常</a:t>
              </a:r>
              <a:r>
                <a:rPr lang="en-US" altLang="zh-CN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随机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抽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547" name="Object 19"/>
            <p:cNvGraphicFramePr>
              <a:graphicFrameLocks noChangeAspect="1"/>
            </p:cNvGraphicFramePr>
            <p:nvPr/>
          </p:nvGraphicFramePr>
          <p:xfrm>
            <a:off x="715" y="614"/>
            <a:ext cx="57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87" name="公式" r:id="rId7" imgW="444500" imgH="254000" progId="Equation.3">
                    <p:embed/>
                  </p:oleObj>
                </mc:Choice>
                <mc:Fallback>
                  <p:oleObj name="公式" r:id="rId7" imgW="444500" imgH="2540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" y="614"/>
                          <a:ext cx="57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548" name="Group 20"/>
          <p:cNvGrpSpPr/>
          <p:nvPr/>
        </p:nvGrpSpPr>
        <p:grpSpPr bwMode="auto">
          <a:xfrm>
            <a:off x="-38100" y="1317625"/>
            <a:ext cx="5446713" cy="519113"/>
            <a:chOff x="0" y="870"/>
            <a:chExt cx="3431" cy="327"/>
          </a:xfrm>
        </p:grpSpPr>
        <p:sp>
          <p:nvSpPr>
            <p:cNvPr id="534549" name="Rectangle 21"/>
            <p:cNvSpPr>
              <a:spLocks noChangeArrowheads="1"/>
            </p:cNvSpPr>
            <p:nvPr/>
          </p:nvSpPr>
          <p:spPr bwMode="auto">
            <a:xfrm>
              <a:off x="0" y="870"/>
              <a:ext cx="2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检了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9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袋产品，测得净重如下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550" name="Object 22"/>
            <p:cNvGraphicFramePr>
              <a:graphicFrameLocks noChangeAspect="1"/>
            </p:cNvGraphicFramePr>
            <p:nvPr/>
          </p:nvGraphicFramePr>
          <p:xfrm>
            <a:off x="2833" y="889"/>
            <a:ext cx="59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88" name="Equation" r:id="rId9" imgW="8229600" imgH="4267200" progId="Equation.DSMT4">
                    <p:embed/>
                  </p:oleObj>
                </mc:Choice>
                <mc:Fallback>
                  <p:oleObj name="Equation" r:id="rId9" imgW="8229600" imgH="42672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3" y="889"/>
                          <a:ext cx="59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677" name="Group 149"/>
          <p:cNvGrpSpPr/>
          <p:nvPr/>
        </p:nvGrpSpPr>
        <p:grpSpPr bwMode="auto">
          <a:xfrm>
            <a:off x="1131888" y="2754311"/>
            <a:ext cx="4475162" cy="663574"/>
            <a:chOff x="713" y="1727"/>
            <a:chExt cx="2819" cy="418"/>
          </a:xfrm>
        </p:grpSpPr>
        <p:sp>
          <p:nvSpPr>
            <p:cNvPr id="534552" name="Rectangle 24"/>
            <p:cNvSpPr>
              <a:spLocks noChangeArrowheads="1"/>
            </p:cNvSpPr>
            <p:nvPr/>
          </p:nvSpPr>
          <p:spPr bwMode="auto">
            <a:xfrm>
              <a:off x="713" y="1727"/>
              <a:ext cx="2131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设每袋化肥重量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553" name="Object 25"/>
            <p:cNvGraphicFramePr>
              <a:graphicFrameLocks noChangeAspect="1"/>
            </p:cNvGraphicFramePr>
            <p:nvPr/>
          </p:nvGraphicFramePr>
          <p:xfrm>
            <a:off x="2271" y="1807"/>
            <a:ext cx="126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89" name="Equation" r:id="rId11" imgW="18592800" imgH="4876800" progId="Equation.DSMT4">
                    <p:embed/>
                  </p:oleObj>
                </mc:Choice>
                <mc:Fallback>
                  <p:oleObj name="Equation" r:id="rId11" imgW="18592800" imgH="48768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1" y="1807"/>
                          <a:ext cx="1261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4554" name="Rectangle 26"/>
          <p:cNvSpPr>
            <a:spLocks noChangeArrowheads="1"/>
          </p:cNvSpPr>
          <p:nvPr/>
        </p:nvSpPr>
        <p:spPr bwMode="auto">
          <a:xfrm>
            <a:off x="-49213" y="2427288"/>
            <a:ext cx="5575301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试问该日包装机工作是否正常？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4555" name="Group 27"/>
          <p:cNvGrpSpPr/>
          <p:nvPr/>
        </p:nvGrpSpPr>
        <p:grpSpPr bwMode="auto">
          <a:xfrm>
            <a:off x="-38100" y="2032002"/>
            <a:ext cx="9182100" cy="550863"/>
            <a:chOff x="-24" y="1336"/>
            <a:chExt cx="5784" cy="347"/>
          </a:xfrm>
        </p:grpSpPr>
        <p:sp>
          <p:nvSpPr>
            <p:cNvPr id="534556" name="Rectangle 28"/>
            <p:cNvSpPr>
              <a:spLocks noChangeArrowheads="1"/>
            </p:cNvSpPr>
            <p:nvPr/>
          </p:nvSpPr>
          <p:spPr bwMode="auto">
            <a:xfrm>
              <a:off x="-24" y="1336"/>
              <a:ext cx="57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设每袋化肥的实际重量服从正态分布，其标准差为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557" name="Object 29"/>
            <p:cNvGraphicFramePr>
              <a:graphicFrameLocks noChangeAspect="1"/>
            </p:cNvGraphicFramePr>
            <p:nvPr/>
          </p:nvGraphicFramePr>
          <p:xfrm>
            <a:off x="4964" y="1387"/>
            <a:ext cx="75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90" name="Equation" r:id="rId13" imgW="10363200" imgH="4267200" progId="Equation.DSMT4">
                    <p:embed/>
                  </p:oleObj>
                </mc:Choice>
                <mc:Fallback>
                  <p:oleObj name="Equation" r:id="rId13" imgW="10363200" imgH="42672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4" y="1387"/>
                          <a:ext cx="75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4572" name="Object 44"/>
          <p:cNvGraphicFramePr>
            <a:graphicFrameLocks noChangeAspect="1"/>
          </p:cNvGraphicFramePr>
          <p:nvPr/>
        </p:nvGraphicFramePr>
        <p:xfrm>
          <a:off x="754063" y="1762125"/>
          <a:ext cx="778351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91" name="Equation" r:id="rId15" imgW="73761600" imgH="3962400" progId="Equation.DSMT4">
                  <p:embed/>
                </p:oleObj>
              </mc:Choice>
              <mc:Fallback>
                <p:oleObj name="Equation" r:id="rId15" imgW="73761600" imgH="39624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1762125"/>
                        <a:ext cx="7783512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676" name="Rectangle 148"/>
          <p:cNvSpPr>
            <a:spLocks noChangeArrowheads="1"/>
          </p:cNvSpPr>
          <p:nvPr/>
        </p:nvSpPr>
        <p:spPr bwMode="auto">
          <a:xfrm>
            <a:off x="5395913" y="2762250"/>
            <a:ext cx="2662237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要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检验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假设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34678" name="Object 150"/>
          <p:cNvGraphicFramePr>
            <a:graphicFrameLocks noChangeAspect="1"/>
          </p:cNvGraphicFramePr>
          <p:nvPr/>
        </p:nvGraphicFramePr>
        <p:xfrm>
          <a:off x="2378075" y="3290888"/>
          <a:ext cx="41497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92" name="Equation" r:id="rId17" imgW="39319200" imgH="4572000" progId="Equation.DSMT4">
                  <p:embed/>
                </p:oleObj>
              </mc:Choice>
              <mc:Fallback>
                <p:oleObj name="Equation" r:id="rId17" imgW="39319200" imgH="4572000" progId="Equation.DSMT4">
                  <p:embed/>
                  <p:pic>
                    <p:nvPicPr>
                      <p:cNvPr id="0" name="Object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3290888"/>
                        <a:ext cx="41497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4689" name="Group 161"/>
          <p:cNvGrpSpPr/>
          <p:nvPr/>
        </p:nvGrpSpPr>
        <p:grpSpPr bwMode="auto">
          <a:xfrm>
            <a:off x="622300" y="3595688"/>
            <a:ext cx="7797800" cy="576262"/>
            <a:chOff x="392" y="2265"/>
            <a:chExt cx="4912" cy="363"/>
          </a:xfrm>
        </p:grpSpPr>
        <p:sp>
          <p:nvSpPr>
            <p:cNvPr id="534680" name="Rectangle 152"/>
            <p:cNvSpPr>
              <a:spLocks noChangeArrowheads="1"/>
            </p:cNvSpPr>
            <p:nvPr/>
          </p:nvSpPr>
          <p:spPr bwMode="auto">
            <a:xfrm>
              <a:off x="392" y="2265"/>
              <a:ext cx="4912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因        故若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成立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   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的值应该偏小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681" name="Object 153"/>
            <p:cNvGraphicFramePr>
              <a:graphicFrameLocks noChangeAspect="1"/>
            </p:cNvGraphicFramePr>
            <p:nvPr/>
          </p:nvGraphicFramePr>
          <p:xfrm>
            <a:off x="3061" y="2333"/>
            <a:ext cx="72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93" name="Equation" r:id="rId19" imgW="10972800" imgH="4572000" progId="Equation.DSMT4">
                    <p:embed/>
                  </p:oleObj>
                </mc:Choice>
                <mc:Fallback>
                  <p:oleObj name="Equation" r:id="rId19" imgW="10972800" imgH="4572000" progId="Equation.DSMT4">
                    <p:embed/>
                    <p:pic>
                      <p:nvPicPr>
                        <p:cNvPr id="0" name="Object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2333"/>
                          <a:ext cx="72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682" name="Object 154"/>
            <p:cNvGraphicFramePr>
              <a:graphicFrameLocks noChangeAspect="1"/>
            </p:cNvGraphicFramePr>
            <p:nvPr/>
          </p:nvGraphicFramePr>
          <p:xfrm>
            <a:off x="2035" y="2341"/>
            <a:ext cx="3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94" name="Equation" r:id="rId21" imgW="4572000" imgH="4267200" progId="Equation.DSMT4">
                    <p:embed/>
                  </p:oleObj>
                </mc:Choice>
                <mc:Fallback>
                  <p:oleObj name="Equation" r:id="rId21" imgW="4572000" imgH="4267200" progId="Equation.DSMT4">
                    <p:embed/>
                    <p:pic>
                      <p:nvPicPr>
                        <p:cNvPr id="0" name="Object 1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5" y="2341"/>
                          <a:ext cx="3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683" name="Object 155"/>
            <p:cNvGraphicFramePr>
              <a:graphicFrameLocks noChangeAspect="1"/>
            </p:cNvGraphicFramePr>
            <p:nvPr/>
          </p:nvGraphicFramePr>
          <p:xfrm>
            <a:off x="655" y="2305"/>
            <a:ext cx="96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95" name="Equation" r:id="rId23" imgW="14630400" imgH="4876800" progId="Equation.DSMT4">
                    <p:embed/>
                  </p:oleObj>
                </mc:Choice>
                <mc:Fallback>
                  <p:oleObj name="Equation" r:id="rId23" imgW="14630400" imgH="4876800" progId="Equation.DSMT4">
                    <p:embed/>
                    <p:pic>
                      <p:nvPicPr>
                        <p:cNvPr id="0" name="Object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" y="2305"/>
                          <a:ext cx="96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684" name="Group 156"/>
          <p:cNvGrpSpPr/>
          <p:nvPr/>
        </p:nvGrpSpPr>
        <p:grpSpPr bwMode="auto">
          <a:xfrm>
            <a:off x="-38100" y="3986213"/>
            <a:ext cx="5643563" cy="579437"/>
            <a:chOff x="0" y="2607"/>
            <a:chExt cx="3555" cy="365"/>
          </a:xfrm>
        </p:grpSpPr>
        <p:sp>
          <p:nvSpPr>
            <p:cNvPr id="534685" name="Rectangle 157"/>
            <p:cNvSpPr>
              <a:spLocks noChangeArrowheads="1"/>
            </p:cNvSpPr>
            <p:nvPr/>
          </p:nvSpPr>
          <p:spPr bwMode="auto">
            <a:xfrm>
              <a:off x="0" y="2607"/>
              <a:ext cx="355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     的值偏大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则要拒绝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686" name="Object 158"/>
            <p:cNvGraphicFramePr>
              <a:graphicFrameLocks noChangeAspect="1"/>
            </p:cNvGraphicFramePr>
            <p:nvPr/>
          </p:nvGraphicFramePr>
          <p:xfrm>
            <a:off x="286" y="2657"/>
            <a:ext cx="80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96" name="Equation" r:id="rId25" imgW="12192000" imgH="4876800" progId="Equation.DSMT4">
                    <p:embed/>
                  </p:oleObj>
                </mc:Choice>
                <mc:Fallback>
                  <p:oleObj name="Equation" r:id="rId25" imgW="12192000" imgH="4876800" progId="Equation.DSMT4">
                    <p:embed/>
                    <p:pic>
                      <p:nvPicPr>
                        <p:cNvPr id="0" name="Object 1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" y="2657"/>
                          <a:ext cx="80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687" name="Object 159"/>
            <p:cNvGraphicFramePr>
              <a:graphicFrameLocks noChangeAspect="1"/>
            </p:cNvGraphicFramePr>
            <p:nvPr/>
          </p:nvGraphicFramePr>
          <p:xfrm>
            <a:off x="3003" y="2689"/>
            <a:ext cx="3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97" name="Equation" r:id="rId27" imgW="4572000" imgH="4267200" progId="Equation.DSMT4">
                    <p:embed/>
                  </p:oleObj>
                </mc:Choice>
                <mc:Fallback>
                  <p:oleObj name="Equation" r:id="rId27" imgW="4572000" imgH="4267200" progId="Equation.DSMT4">
                    <p:embed/>
                    <p:pic>
                      <p:nvPicPr>
                        <p:cNvPr id="0" name="Object 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3" y="2689"/>
                          <a:ext cx="3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4675" name="Rectangle 147"/>
          <p:cNvSpPr>
            <a:spLocks noChangeArrowheads="1"/>
          </p:cNvSpPr>
          <p:nvPr/>
        </p:nvSpPr>
        <p:spPr bwMode="auto">
          <a:xfrm>
            <a:off x="7980363" y="3562350"/>
            <a:ext cx="110172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反之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34691" name="Group 163"/>
          <p:cNvGrpSpPr/>
          <p:nvPr/>
        </p:nvGrpSpPr>
        <p:grpSpPr bwMode="auto">
          <a:xfrm>
            <a:off x="622300" y="4362450"/>
            <a:ext cx="4370388" cy="604838"/>
            <a:chOff x="72" y="3171"/>
            <a:chExt cx="2753" cy="381"/>
          </a:xfrm>
        </p:grpSpPr>
        <p:sp>
          <p:nvSpPr>
            <p:cNvPr id="534692" name="Rectangle 164"/>
            <p:cNvSpPr>
              <a:spLocks noChangeArrowheads="1"/>
            </p:cNvSpPr>
            <p:nvPr/>
          </p:nvSpPr>
          <p:spPr bwMode="auto">
            <a:xfrm>
              <a:off x="72" y="3171"/>
              <a:ext cx="2753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取       使得</a:t>
              </a:r>
              <a:r>
                <a:rPr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693" name="Object 165"/>
            <p:cNvGraphicFramePr>
              <a:graphicFrameLocks noChangeAspect="1"/>
            </p:cNvGraphicFramePr>
            <p:nvPr/>
          </p:nvGraphicFramePr>
          <p:xfrm>
            <a:off x="366" y="3276"/>
            <a:ext cx="78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98" name="Equation" r:id="rId29" imgW="11887200" imgH="3657600" progId="Equation.DSMT4">
                    <p:embed/>
                  </p:oleObj>
                </mc:Choice>
                <mc:Fallback>
                  <p:oleObj name="Equation" r:id="rId29" imgW="11887200" imgH="3657600" progId="Equation.DSMT4">
                    <p:embed/>
                    <p:pic>
                      <p:nvPicPr>
                        <p:cNvPr id="0" name="Object 1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" y="3276"/>
                          <a:ext cx="78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694" name="Object 166"/>
            <p:cNvGraphicFramePr>
              <a:graphicFrameLocks noChangeAspect="1"/>
            </p:cNvGraphicFramePr>
            <p:nvPr/>
          </p:nvGraphicFramePr>
          <p:xfrm>
            <a:off x="1616" y="3279"/>
            <a:ext cx="16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399" name="Equation" r:id="rId31" imgW="2438400" imgH="3352800" progId="Equation.DSMT4">
                    <p:embed/>
                  </p:oleObj>
                </mc:Choice>
                <mc:Fallback>
                  <p:oleObj name="Equation" r:id="rId31" imgW="2438400" imgH="3352800" progId="Equation.DSMT4">
                    <p:embed/>
                    <p:pic>
                      <p:nvPicPr>
                        <p:cNvPr id="0" name="Object 1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6" y="3279"/>
                          <a:ext cx="16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705" name="Group 177"/>
          <p:cNvGrpSpPr/>
          <p:nvPr/>
        </p:nvGrpSpPr>
        <p:grpSpPr bwMode="auto">
          <a:xfrm>
            <a:off x="2738438" y="4752975"/>
            <a:ext cx="3670299" cy="615950"/>
            <a:chOff x="1741" y="2994"/>
            <a:chExt cx="2312" cy="388"/>
          </a:xfrm>
        </p:grpSpPr>
        <p:graphicFrame>
          <p:nvGraphicFramePr>
            <p:cNvPr id="534701" name="Object 173"/>
            <p:cNvGraphicFramePr>
              <a:graphicFrameLocks noChangeAspect="1"/>
            </p:cNvGraphicFramePr>
            <p:nvPr/>
          </p:nvGraphicFramePr>
          <p:xfrm>
            <a:off x="1741" y="3086"/>
            <a:ext cx="231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400" name="Equation" r:id="rId33" imgW="34747200" imgH="4267200" progId="Equation.DSMT4">
                    <p:embed/>
                  </p:oleObj>
                </mc:Choice>
                <mc:Fallback>
                  <p:oleObj name="Equation" r:id="rId33" imgW="34747200" imgH="4267200" progId="Equation.DSMT4">
                    <p:embed/>
                    <p:pic>
                      <p:nvPicPr>
                        <p:cNvPr id="0" name="Object 1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1" y="3086"/>
                          <a:ext cx="231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4702" name="Group 174"/>
            <p:cNvGrpSpPr/>
            <p:nvPr/>
          </p:nvGrpSpPr>
          <p:grpSpPr bwMode="auto">
            <a:xfrm>
              <a:off x="1955" y="2994"/>
              <a:ext cx="1763" cy="388"/>
              <a:chOff x="1466" y="3201"/>
              <a:chExt cx="1763" cy="388"/>
            </a:xfrm>
          </p:grpSpPr>
          <p:sp>
            <p:nvSpPr>
              <p:cNvPr id="534703" name="Rectangle 175"/>
              <p:cNvSpPr>
                <a:spLocks noChangeArrowheads="1"/>
              </p:cNvSpPr>
              <p:nvPr/>
            </p:nvSpPr>
            <p:spPr bwMode="auto">
              <a:xfrm>
                <a:off x="1466" y="3201"/>
                <a:ext cx="1763" cy="3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zh-CN" alt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拒绝     </a:t>
                </a:r>
                <a:r>
                  <a:rPr lang="zh-CN" altLang="en-US" sz="9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为真</a:t>
                </a:r>
                <a:endPara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aphicFrame>
            <p:nvGraphicFramePr>
              <p:cNvPr id="534704" name="Object 176"/>
              <p:cNvGraphicFramePr>
                <a:graphicFrameLocks noChangeAspect="1"/>
              </p:cNvGraphicFramePr>
              <p:nvPr/>
            </p:nvGraphicFramePr>
            <p:xfrm>
              <a:off x="1937" y="3287"/>
              <a:ext cx="710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4401" name="Equation" r:id="rId35" imgW="10668000" imgH="4572000" progId="Equation.DSMT4">
                      <p:embed/>
                    </p:oleObj>
                  </mc:Choice>
                  <mc:Fallback>
                    <p:oleObj name="Equation" r:id="rId35" imgW="10668000" imgH="4572000" progId="Equation.DSMT4">
                      <p:embed/>
                      <p:pic>
                        <p:nvPicPr>
                          <p:cNvPr id="0" name="Object 1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7" y="3287"/>
                            <a:ext cx="710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534720" name="Object 192"/>
          <p:cNvGraphicFramePr>
            <a:graphicFrameLocks noChangeAspect="1"/>
          </p:cNvGraphicFramePr>
          <p:nvPr/>
        </p:nvGraphicFramePr>
        <p:xfrm>
          <a:off x="3117850" y="5287963"/>
          <a:ext cx="15795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02" name="Equation" r:id="rId37" imgW="14935200" imgH="4572000" progId="Equation.DSMT4">
                  <p:embed/>
                </p:oleObj>
              </mc:Choice>
              <mc:Fallback>
                <p:oleObj name="Equation" r:id="rId37" imgW="14935200" imgH="4572000" progId="Equation.DSMT4">
                  <p:embed/>
                  <p:pic>
                    <p:nvPicPr>
                      <p:cNvPr id="0" name="Object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5287963"/>
                        <a:ext cx="15795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4741" name="Group 213"/>
          <p:cNvGrpSpPr/>
          <p:nvPr/>
        </p:nvGrpSpPr>
        <p:grpSpPr bwMode="auto">
          <a:xfrm>
            <a:off x="2287588" y="5618048"/>
            <a:ext cx="4249738" cy="960438"/>
            <a:chOff x="1441" y="3527"/>
            <a:chExt cx="2677" cy="605"/>
          </a:xfrm>
        </p:grpSpPr>
        <p:graphicFrame>
          <p:nvGraphicFramePr>
            <p:cNvPr id="534732" name="Object 204"/>
            <p:cNvGraphicFramePr>
              <a:graphicFrameLocks noChangeAspect="1"/>
            </p:cNvGraphicFramePr>
            <p:nvPr/>
          </p:nvGraphicFramePr>
          <p:xfrm>
            <a:off x="1441" y="3527"/>
            <a:ext cx="2677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403" name="Equation" r:id="rId39" imgW="40233600" imgH="9144000" progId="Equation.DSMT4">
                    <p:embed/>
                  </p:oleObj>
                </mc:Choice>
                <mc:Fallback>
                  <p:oleObj name="Equation" r:id="rId39" imgW="40233600" imgH="9144000" progId="Equation.DSMT4">
                    <p:embed/>
                    <p:pic>
                      <p:nvPicPr>
                        <p:cNvPr id="0" name="Object 2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" y="3527"/>
                          <a:ext cx="2677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735" name="Object 207"/>
            <p:cNvGraphicFramePr>
              <a:graphicFrameLocks noChangeAspect="1"/>
            </p:cNvGraphicFramePr>
            <p:nvPr/>
          </p:nvGraphicFramePr>
          <p:xfrm>
            <a:off x="1839" y="3610"/>
            <a:ext cx="264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404" name="Equation" r:id="rId41" imgW="3962400" imgH="8839200" progId="Equation.DSMT4">
                    <p:embed/>
                  </p:oleObj>
                </mc:Choice>
                <mc:Fallback>
                  <p:oleObj name="Equation" r:id="rId41" imgW="3962400" imgH="8839200" progId="Equation.DSMT4">
                    <p:embed/>
                    <p:pic>
                      <p:nvPicPr>
                        <p:cNvPr id="0" name="Object 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9" y="3610"/>
                          <a:ext cx="264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736" name="Object 208"/>
            <p:cNvGraphicFramePr>
              <a:graphicFrameLocks noChangeAspect="1"/>
            </p:cNvGraphicFramePr>
            <p:nvPr/>
          </p:nvGraphicFramePr>
          <p:xfrm>
            <a:off x="3432" y="3611"/>
            <a:ext cx="264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405" name="Equation" r:id="rId43" imgW="3962400" imgH="8839200" progId="Equation.DSMT4">
                    <p:embed/>
                  </p:oleObj>
                </mc:Choice>
                <mc:Fallback>
                  <p:oleObj name="Equation" r:id="rId43" imgW="3962400" imgH="8839200" progId="Equation.DSMT4">
                    <p:embed/>
                    <p:pic>
                      <p:nvPicPr>
                        <p:cNvPr id="0" name="Object 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2" y="3611"/>
                          <a:ext cx="264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4775" name="WordArt 247"/>
          <p:cNvSpPr>
            <a:spLocks noChangeArrowheads="1" noChangeShapeType="1" noTextEdit="1"/>
          </p:cNvSpPr>
          <p:nvPr/>
        </p:nvSpPr>
        <p:spPr bwMode="auto">
          <a:xfrm>
            <a:off x="4867275" y="38100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endParaRPr lang="zh-CN" altLang="en-US" sz="3600" b="1" kern="10" dirty="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3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3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34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3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53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1000"/>
                                        <p:tgtEl>
                                          <p:spTgt spid="53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3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3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34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81481E-6 L 0.01528 4.81481E-6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5347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4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 2.59259E-6 L 0.02952 2.59259E-6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5347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3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5345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5345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534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534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534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/>
                                        <p:tgtEl>
                                          <p:spTgt spid="534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534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534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534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0"/>
                                        <p:tgtEl>
                                          <p:spTgt spid="534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000"/>
                                        <p:tgtEl>
                                          <p:spTgt spid="534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534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12" dur="1000" fill="hold"/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14" dur="1000" fill="hold"/>
                                        <p:tgtEl>
                                          <p:spTgt spid="5346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16" dur="1000" fill="hold"/>
                                        <p:tgtEl>
                                          <p:spTgt spid="5346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18" dur="1000" fill="hold"/>
                                        <p:tgtEl>
                                          <p:spTgt spid="5346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20" dur="1000" fill="hold"/>
                                        <p:tgtEl>
                                          <p:spTgt spid="5346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22" dur="1000" fill="hold"/>
                                        <p:tgtEl>
                                          <p:spTgt spid="5346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24" dur="1000" fill="hold"/>
                                        <p:tgtEl>
                                          <p:spTgt spid="5346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26" dur="1000" fill="hold"/>
                                        <p:tgtEl>
                                          <p:spTgt spid="5346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2.59259E-6 L 0.00138 -0.46111 " pathEditMode="relative" rAng="0" ptsTypes="AA">
                                      <p:cBhvr>
                                        <p:cTn id="128" dur="1000" fill="hold"/>
                                        <p:tgtEl>
                                          <p:spTgt spid="5347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23056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34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34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3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6"/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" dur="1000"/>
                                        <p:tgtEl>
                                          <p:spTgt spid="534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7" grpId="0" animBg="1"/>
      <p:bldP spid="534537" grpId="1" animBg="1"/>
      <p:bldP spid="534538" grpId="0"/>
      <p:bldP spid="534539" grpId="0"/>
      <p:bldP spid="534554" grpId="0"/>
      <p:bldP spid="534676" grpId="0"/>
      <p:bldP spid="534676" grpId="1"/>
      <p:bldP spid="534675" grpId="0"/>
      <p:bldP spid="534675" grpId="1"/>
      <p:bldP spid="534775" grpId="0" animBg="1"/>
      <p:bldP spid="53477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4708" name="Object 180"/>
          <p:cNvGraphicFramePr>
            <a:graphicFrameLocks noChangeAspect="1"/>
          </p:cNvGraphicFramePr>
          <p:nvPr/>
        </p:nvGraphicFramePr>
        <p:xfrm>
          <a:off x="2740025" y="5294313"/>
          <a:ext cx="36703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07" name="Equation" r:id="rId1" imgW="34747200" imgH="4267200" progId="Equation.DSMT4">
                  <p:embed/>
                </p:oleObj>
              </mc:Choice>
              <mc:Fallback>
                <p:oleObj name="Equation" r:id="rId1" imgW="34747200" imgH="4267200" progId="Equation.DSMT4">
                  <p:embed/>
                  <p:pic>
                    <p:nvPicPr>
                      <p:cNvPr id="0" name="图片 5627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025" y="5294313"/>
                        <a:ext cx="36703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711" name="Object 183"/>
          <p:cNvGraphicFramePr>
            <a:graphicFrameLocks noChangeAspect="1"/>
          </p:cNvGraphicFramePr>
          <p:nvPr/>
        </p:nvGraphicFramePr>
        <p:xfrm>
          <a:off x="4308475" y="5297488"/>
          <a:ext cx="1619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08" name="公式" r:id="rId3" imgW="88900" imgH="254000" progId="Equation.3">
                  <p:embed/>
                </p:oleObj>
              </mc:Choice>
              <mc:Fallback>
                <p:oleObj name="公式" r:id="rId3" imgW="88900" imgH="254000" progId="Equation.3">
                  <p:embed/>
                  <p:pic>
                    <p:nvPicPr>
                      <p:cNvPr id="0" name="图片 5627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475" y="5297488"/>
                        <a:ext cx="1619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719" name="Object 191"/>
          <p:cNvGraphicFramePr>
            <a:graphicFrameLocks noChangeAspect="1"/>
          </p:cNvGraphicFramePr>
          <p:nvPr/>
        </p:nvGraphicFramePr>
        <p:xfrm>
          <a:off x="4535488" y="5273675"/>
          <a:ext cx="9985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09" name="Equation" r:id="rId5" imgW="9448800" imgH="4572000" progId="Equation.DSMT4">
                  <p:embed/>
                </p:oleObj>
              </mc:Choice>
              <mc:Fallback>
                <p:oleObj name="Equation" r:id="rId5" imgW="9448800" imgH="4572000" progId="Equation.DSMT4">
                  <p:embed/>
                  <p:pic>
                    <p:nvPicPr>
                      <p:cNvPr id="0" name="图片 5627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5273675"/>
                        <a:ext cx="99853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537" name="WordArt 9"/>
          <p:cNvSpPr>
            <a:spLocks noChangeArrowheads="1" noChangeShapeType="1" noTextEdit="1"/>
          </p:cNvSpPr>
          <p:nvPr/>
        </p:nvSpPr>
        <p:spPr bwMode="auto">
          <a:xfrm>
            <a:off x="749300" y="2982913"/>
            <a:ext cx="341313" cy="290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解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sp>
        <p:nvSpPr>
          <p:cNvPr id="534538" name="Rectangle 10"/>
          <p:cNvSpPr>
            <a:spLocks noChangeArrowheads="1"/>
          </p:cNvSpPr>
          <p:nvPr/>
        </p:nvSpPr>
        <p:spPr bwMode="auto">
          <a:xfrm>
            <a:off x="1371600" y="538163"/>
            <a:ext cx="8039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某车间用一台自动包装机装化肥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每袋的标称重量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4539" name="WordArt 11"/>
          <p:cNvSpPr>
            <a:spLocks noChangeArrowheads="1" noChangeShapeType="1" noTextEdit="1"/>
          </p:cNvSpPr>
          <p:nvPr/>
        </p:nvSpPr>
        <p:spPr bwMode="auto">
          <a:xfrm>
            <a:off x="771525" y="641350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534545" name="Group 17"/>
          <p:cNvGrpSpPr/>
          <p:nvPr/>
        </p:nvGrpSpPr>
        <p:grpSpPr bwMode="auto">
          <a:xfrm>
            <a:off x="-25400" y="922338"/>
            <a:ext cx="9296400" cy="542925"/>
            <a:chOff x="0" y="589"/>
            <a:chExt cx="5856" cy="342"/>
          </a:xfrm>
        </p:grpSpPr>
        <p:sp>
          <p:nvSpPr>
            <p:cNvPr id="534546" name="Rectangle 18"/>
            <p:cNvSpPr>
              <a:spLocks noChangeArrowheads="1"/>
            </p:cNvSpPr>
            <p:nvPr/>
          </p:nvSpPr>
          <p:spPr bwMode="auto">
            <a:xfrm>
              <a:off x="0" y="589"/>
              <a:ext cx="585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规定为     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某日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开工后为了检查包装机是否正常</a:t>
              </a:r>
              <a:r>
                <a:rPr lang="en-US" altLang="zh-CN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随机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抽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547" name="Object 19"/>
            <p:cNvGraphicFramePr>
              <a:graphicFrameLocks noChangeAspect="1"/>
            </p:cNvGraphicFramePr>
            <p:nvPr/>
          </p:nvGraphicFramePr>
          <p:xfrm>
            <a:off x="715" y="614"/>
            <a:ext cx="57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10" name="公式" r:id="rId7" imgW="444500" imgH="254000" progId="Equation.3">
                    <p:embed/>
                  </p:oleObj>
                </mc:Choice>
                <mc:Fallback>
                  <p:oleObj name="公式" r:id="rId7" imgW="444500" imgH="254000" progId="Equation.3">
                    <p:embed/>
                    <p:pic>
                      <p:nvPicPr>
                        <p:cNvPr id="0" name="图片 5627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" y="614"/>
                          <a:ext cx="57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548" name="Group 20"/>
          <p:cNvGrpSpPr/>
          <p:nvPr/>
        </p:nvGrpSpPr>
        <p:grpSpPr bwMode="auto">
          <a:xfrm>
            <a:off x="-38100" y="1317625"/>
            <a:ext cx="5446713" cy="519113"/>
            <a:chOff x="0" y="870"/>
            <a:chExt cx="3431" cy="327"/>
          </a:xfrm>
        </p:grpSpPr>
        <p:sp>
          <p:nvSpPr>
            <p:cNvPr id="534549" name="Rectangle 21"/>
            <p:cNvSpPr>
              <a:spLocks noChangeArrowheads="1"/>
            </p:cNvSpPr>
            <p:nvPr/>
          </p:nvSpPr>
          <p:spPr bwMode="auto">
            <a:xfrm>
              <a:off x="0" y="870"/>
              <a:ext cx="2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检了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9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袋产品，测得净重如下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550" name="Object 22"/>
            <p:cNvGraphicFramePr>
              <a:graphicFrameLocks noChangeAspect="1"/>
            </p:cNvGraphicFramePr>
            <p:nvPr/>
          </p:nvGraphicFramePr>
          <p:xfrm>
            <a:off x="2833" y="889"/>
            <a:ext cx="59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11" name="Equation" r:id="rId9" imgW="8229600" imgH="4267200" progId="Equation.DSMT4">
                    <p:embed/>
                  </p:oleObj>
                </mc:Choice>
                <mc:Fallback>
                  <p:oleObj name="Equation" r:id="rId9" imgW="8229600" imgH="4267200" progId="Equation.DSMT4">
                    <p:embed/>
                    <p:pic>
                      <p:nvPicPr>
                        <p:cNvPr id="0" name="图片 5627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3" y="889"/>
                          <a:ext cx="59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677" name="Group 149"/>
          <p:cNvGrpSpPr/>
          <p:nvPr/>
        </p:nvGrpSpPr>
        <p:grpSpPr bwMode="auto">
          <a:xfrm>
            <a:off x="1131888" y="2754311"/>
            <a:ext cx="4475162" cy="663574"/>
            <a:chOff x="713" y="1727"/>
            <a:chExt cx="2819" cy="418"/>
          </a:xfrm>
        </p:grpSpPr>
        <p:sp>
          <p:nvSpPr>
            <p:cNvPr id="534552" name="Rectangle 24"/>
            <p:cNvSpPr>
              <a:spLocks noChangeArrowheads="1"/>
            </p:cNvSpPr>
            <p:nvPr/>
          </p:nvSpPr>
          <p:spPr bwMode="auto">
            <a:xfrm>
              <a:off x="713" y="1727"/>
              <a:ext cx="2131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设每袋化肥重量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553" name="Object 25"/>
            <p:cNvGraphicFramePr>
              <a:graphicFrameLocks noChangeAspect="1"/>
            </p:cNvGraphicFramePr>
            <p:nvPr/>
          </p:nvGraphicFramePr>
          <p:xfrm>
            <a:off x="2271" y="1807"/>
            <a:ext cx="126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12" name="Equation" r:id="rId11" imgW="18592800" imgH="4876800" progId="Equation.DSMT4">
                    <p:embed/>
                  </p:oleObj>
                </mc:Choice>
                <mc:Fallback>
                  <p:oleObj name="Equation" r:id="rId11" imgW="18592800" imgH="4876800" progId="Equation.DSMT4">
                    <p:embed/>
                    <p:pic>
                      <p:nvPicPr>
                        <p:cNvPr id="0" name="图片 5627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1" y="1807"/>
                          <a:ext cx="1261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4554" name="Rectangle 26"/>
          <p:cNvSpPr>
            <a:spLocks noChangeArrowheads="1"/>
          </p:cNvSpPr>
          <p:nvPr/>
        </p:nvSpPr>
        <p:spPr bwMode="auto">
          <a:xfrm>
            <a:off x="-49213" y="2427288"/>
            <a:ext cx="5575301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试问该日包装机工作是否正常？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4555" name="Group 27"/>
          <p:cNvGrpSpPr/>
          <p:nvPr/>
        </p:nvGrpSpPr>
        <p:grpSpPr bwMode="auto">
          <a:xfrm>
            <a:off x="-38100" y="2032002"/>
            <a:ext cx="9182100" cy="550863"/>
            <a:chOff x="-24" y="1336"/>
            <a:chExt cx="5784" cy="347"/>
          </a:xfrm>
        </p:grpSpPr>
        <p:sp>
          <p:nvSpPr>
            <p:cNvPr id="534556" name="Rectangle 28"/>
            <p:cNvSpPr>
              <a:spLocks noChangeArrowheads="1"/>
            </p:cNvSpPr>
            <p:nvPr/>
          </p:nvSpPr>
          <p:spPr bwMode="auto">
            <a:xfrm>
              <a:off x="-24" y="1336"/>
              <a:ext cx="57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设每袋化肥的实际重量服从正态分布，其标准差为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557" name="Object 29"/>
            <p:cNvGraphicFramePr>
              <a:graphicFrameLocks noChangeAspect="1"/>
            </p:cNvGraphicFramePr>
            <p:nvPr/>
          </p:nvGraphicFramePr>
          <p:xfrm>
            <a:off x="4964" y="1387"/>
            <a:ext cx="75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13" name="Equation" r:id="rId13" imgW="10363200" imgH="4267200" progId="Equation.DSMT4">
                    <p:embed/>
                  </p:oleObj>
                </mc:Choice>
                <mc:Fallback>
                  <p:oleObj name="Equation" r:id="rId13" imgW="10363200" imgH="4267200" progId="Equation.DSMT4">
                    <p:embed/>
                    <p:pic>
                      <p:nvPicPr>
                        <p:cNvPr id="0" name="图片 5627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4" y="1387"/>
                          <a:ext cx="75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4572" name="Object 44"/>
          <p:cNvGraphicFramePr>
            <a:graphicFrameLocks noChangeAspect="1"/>
          </p:cNvGraphicFramePr>
          <p:nvPr/>
        </p:nvGraphicFramePr>
        <p:xfrm>
          <a:off x="754063" y="1762125"/>
          <a:ext cx="778351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14" name="Equation" r:id="rId15" imgW="73761600" imgH="3962400" progId="Equation.DSMT4">
                  <p:embed/>
                </p:oleObj>
              </mc:Choice>
              <mc:Fallback>
                <p:oleObj name="Equation" r:id="rId15" imgW="73761600" imgH="3962400" progId="Equation.DSMT4">
                  <p:embed/>
                  <p:pic>
                    <p:nvPicPr>
                      <p:cNvPr id="0" name="图片 5627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1762125"/>
                        <a:ext cx="7783512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676" name="Rectangle 148"/>
          <p:cNvSpPr>
            <a:spLocks noChangeArrowheads="1"/>
          </p:cNvSpPr>
          <p:nvPr/>
        </p:nvSpPr>
        <p:spPr bwMode="auto">
          <a:xfrm>
            <a:off x="5395913" y="2762250"/>
            <a:ext cx="2662237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要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检验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假设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34678" name="Object 150"/>
          <p:cNvGraphicFramePr>
            <a:graphicFrameLocks noChangeAspect="1"/>
          </p:cNvGraphicFramePr>
          <p:nvPr/>
        </p:nvGraphicFramePr>
        <p:xfrm>
          <a:off x="2378075" y="3290888"/>
          <a:ext cx="41497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15" name="Equation" r:id="rId17" imgW="39319200" imgH="4572000" progId="Equation.DSMT4">
                  <p:embed/>
                </p:oleObj>
              </mc:Choice>
              <mc:Fallback>
                <p:oleObj name="Equation" r:id="rId17" imgW="39319200" imgH="4572000" progId="Equation.DSMT4">
                  <p:embed/>
                  <p:pic>
                    <p:nvPicPr>
                      <p:cNvPr id="0" name="图片 5627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3290888"/>
                        <a:ext cx="41497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4689" name="Group 161"/>
          <p:cNvGrpSpPr/>
          <p:nvPr/>
        </p:nvGrpSpPr>
        <p:grpSpPr bwMode="auto">
          <a:xfrm>
            <a:off x="622300" y="3595688"/>
            <a:ext cx="7797800" cy="576262"/>
            <a:chOff x="392" y="2265"/>
            <a:chExt cx="4912" cy="363"/>
          </a:xfrm>
        </p:grpSpPr>
        <p:sp>
          <p:nvSpPr>
            <p:cNvPr id="534680" name="Rectangle 152"/>
            <p:cNvSpPr>
              <a:spLocks noChangeArrowheads="1"/>
            </p:cNvSpPr>
            <p:nvPr/>
          </p:nvSpPr>
          <p:spPr bwMode="auto">
            <a:xfrm>
              <a:off x="392" y="2265"/>
              <a:ext cx="4912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因        故若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成立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   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的值应该偏小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681" name="Object 153"/>
            <p:cNvGraphicFramePr>
              <a:graphicFrameLocks noChangeAspect="1"/>
            </p:cNvGraphicFramePr>
            <p:nvPr/>
          </p:nvGraphicFramePr>
          <p:xfrm>
            <a:off x="3061" y="2333"/>
            <a:ext cx="72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16" name="Equation" r:id="rId19" imgW="10972800" imgH="4572000" progId="Equation.DSMT4">
                    <p:embed/>
                  </p:oleObj>
                </mc:Choice>
                <mc:Fallback>
                  <p:oleObj name="Equation" r:id="rId19" imgW="10972800" imgH="4572000" progId="Equation.DSMT4">
                    <p:embed/>
                    <p:pic>
                      <p:nvPicPr>
                        <p:cNvPr id="0" name="图片 5627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2333"/>
                          <a:ext cx="72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682" name="Object 154"/>
            <p:cNvGraphicFramePr>
              <a:graphicFrameLocks noChangeAspect="1"/>
            </p:cNvGraphicFramePr>
            <p:nvPr/>
          </p:nvGraphicFramePr>
          <p:xfrm>
            <a:off x="2035" y="2341"/>
            <a:ext cx="3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17" name="Equation" r:id="rId21" imgW="4572000" imgH="4267200" progId="Equation.DSMT4">
                    <p:embed/>
                  </p:oleObj>
                </mc:Choice>
                <mc:Fallback>
                  <p:oleObj name="Equation" r:id="rId21" imgW="4572000" imgH="4267200" progId="Equation.DSMT4">
                    <p:embed/>
                    <p:pic>
                      <p:nvPicPr>
                        <p:cNvPr id="0" name="图片 5627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5" y="2341"/>
                          <a:ext cx="3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683" name="Object 155"/>
            <p:cNvGraphicFramePr>
              <a:graphicFrameLocks noChangeAspect="1"/>
            </p:cNvGraphicFramePr>
            <p:nvPr/>
          </p:nvGraphicFramePr>
          <p:xfrm>
            <a:off x="655" y="2305"/>
            <a:ext cx="96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18" name="Equation" r:id="rId23" imgW="14630400" imgH="4876800" progId="Equation.DSMT4">
                    <p:embed/>
                  </p:oleObj>
                </mc:Choice>
                <mc:Fallback>
                  <p:oleObj name="Equation" r:id="rId23" imgW="14630400" imgH="4876800" progId="Equation.DSMT4">
                    <p:embed/>
                    <p:pic>
                      <p:nvPicPr>
                        <p:cNvPr id="0" name="图片 5627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" y="2305"/>
                          <a:ext cx="96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684" name="Group 156"/>
          <p:cNvGrpSpPr/>
          <p:nvPr/>
        </p:nvGrpSpPr>
        <p:grpSpPr bwMode="auto">
          <a:xfrm>
            <a:off x="-38100" y="3986213"/>
            <a:ext cx="5643563" cy="579437"/>
            <a:chOff x="0" y="2607"/>
            <a:chExt cx="3555" cy="365"/>
          </a:xfrm>
        </p:grpSpPr>
        <p:sp>
          <p:nvSpPr>
            <p:cNvPr id="534685" name="Rectangle 157"/>
            <p:cNvSpPr>
              <a:spLocks noChangeArrowheads="1"/>
            </p:cNvSpPr>
            <p:nvPr/>
          </p:nvSpPr>
          <p:spPr bwMode="auto">
            <a:xfrm>
              <a:off x="0" y="2607"/>
              <a:ext cx="355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     的值偏大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则要拒绝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686" name="Object 158"/>
            <p:cNvGraphicFramePr>
              <a:graphicFrameLocks noChangeAspect="1"/>
            </p:cNvGraphicFramePr>
            <p:nvPr/>
          </p:nvGraphicFramePr>
          <p:xfrm>
            <a:off x="286" y="2657"/>
            <a:ext cx="80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19" name="Equation" r:id="rId25" imgW="12192000" imgH="4876800" progId="Equation.DSMT4">
                    <p:embed/>
                  </p:oleObj>
                </mc:Choice>
                <mc:Fallback>
                  <p:oleObj name="Equation" r:id="rId25" imgW="12192000" imgH="4876800" progId="Equation.DSMT4">
                    <p:embed/>
                    <p:pic>
                      <p:nvPicPr>
                        <p:cNvPr id="0" name="图片 5627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" y="2657"/>
                          <a:ext cx="80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687" name="Object 159"/>
            <p:cNvGraphicFramePr>
              <a:graphicFrameLocks noChangeAspect="1"/>
            </p:cNvGraphicFramePr>
            <p:nvPr/>
          </p:nvGraphicFramePr>
          <p:xfrm>
            <a:off x="3003" y="2689"/>
            <a:ext cx="3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20" name="Equation" r:id="rId27" imgW="4572000" imgH="4267200" progId="Equation.DSMT4">
                    <p:embed/>
                  </p:oleObj>
                </mc:Choice>
                <mc:Fallback>
                  <p:oleObj name="Equation" r:id="rId27" imgW="4572000" imgH="4267200" progId="Equation.DSMT4">
                    <p:embed/>
                    <p:pic>
                      <p:nvPicPr>
                        <p:cNvPr id="0" name="图片 5627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3" y="2689"/>
                          <a:ext cx="3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4675" name="Rectangle 147"/>
          <p:cNvSpPr>
            <a:spLocks noChangeArrowheads="1"/>
          </p:cNvSpPr>
          <p:nvPr/>
        </p:nvSpPr>
        <p:spPr bwMode="auto">
          <a:xfrm>
            <a:off x="7980363" y="3562350"/>
            <a:ext cx="110172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反之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34691" name="Group 163"/>
          <p:cNvGrpSpPr/>
          <p:nvPr/>
        </p:nvGrpSpPr>
        <p:grpSpPr bwMode="auto">
          <a:xfrm>
            <a:off x="622300" y="4362450"/>
            <a:ext cx="4370388" cy="604838"/>
            <a:chOff x="72" y="3171"/>
            <a:chExt cx="2753" cy="381"/>
          </a:xfrm>
        </p:grpSpPr>
        <p:sp>
          <p:nvSpPr>
            <p:cNvPr id="534692" name="Rectangle 164"/>
            <p:cNvSpPr>
              <a:spLocks noChangeArrowheads="1"/>
            </p:cNvSpPr>
            <p:nvPr/>
          </p:nvSpPr>
          <p:spPr bwMode="auto">
            <a:xfrm>
              <a:off x="72" y="3171"/>
              <a:ext cx="2753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取       使得</a:t>
              </a:r>
              <a:r>
                <a:rPr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693" name="Object 165"/>
            <p:cNvGraphicFramePr>
              <a:graphicFrameLocks noChangeAspect="1"/>
            </p:cNvGraphicFramePr>
            <p:nvPr/>
          </p:nvGraphicFramePr>
          <p:xfrm>
            <a:off x="366" y="3276"/>
            <a:ext cx="78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21" name="Equation" r:id="rId29" imgW="11887200" imgH="3657600" progId="Equation.DSMT4">
                    <p:embed/>
                  </p:oleObj>
                </mc:Choice>
                <mc:Fallback>
                  <p:oleObj name="Equation" r:id="rId29" imgW="11887200" imgH="3657600" progId="Equation.DSMT4">
                    <p:embed/>
                    <p:pic>
                      <p:nvPicPr>
                        <p:cNvPr id="0" name="图片 5627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" y="3276"/>
                          <a:ext cx="78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694" name="Object 166"/>
            <p:cNvGraphicFramePr>
              <a:graphicFrameLocks noChangeAspect="1"/>
            </p:cNvGraphicFramePr>
            <p:nvPr/>
          </p:nvGraphicFramePr>
          <p:xfrm>
            <a:off x="1616" y="3279"/>
            <a:ext cx="16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22" name="Equation" r:id="rId31" imgW="2438400" imgH="3352800" progId="Equation.DSMT4">
                    <p:embed/>
                  </p:oleObj>
                </mc:Choice>
                <mc:Fallback>
                  <p:oleObj name="Equation" r:id="rId31" imgW="2438400" imgH="3352800" progId="Equation.DSMT4">
                    <p:embed/>
                    <p:pic>
                      <p:nvPicPr>
                        <p:cNvPr id="0" name="图片 5627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6" y="3279"/>
                          <a:ext cx="16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705" name="Group 177"/>
          <p:cNvGrpSpPr/>
          <p:nvPr/>
        </p:nvGrpSpPr>
        <p:grpSpPr bwMode="auto">
          <a:xfrm>
            <a:off x="2738438" y="4752975"/>
            <a:ext cx="3670299" cy="615950"/>
            <a:chOff x="1741" y="2994"/>
            <a:chExt cx="2312" cy="388"/>
          </a:xfrm>
        </p:grpSpPr>
        <p:graphicFrame>
          <p:nvGraphicFramePr>
            <p:cNvPr id="534701" name="Object 173"/>
            <p:cNvGraphicFramePr>
              <a:graphicFrameLocks noChangeAspect="1"/>
            </p:cNvGraphicFramePr>
            <p:nvPr/>
          </p:nvGraphicFramePr>
          <p:xfrm>
            <a:off x="1741" y="3086"/>
            <a:ext cx="231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23" name="Equation" r:id="rId33" imgW="34747200" imgH="4267200" progId="Equation.DSMT4">
                    <p:embed/>
                  </p:oleObj>
                </mc:Choice>
                <mc:Fallback>
                  <p:oleObj name="Equation" r:id="rId33" imgW="34747200" imgH="4267200" progId="Equation.DSMT4">
                    <p:embed/>
                    <p:pic>
                      <p:nvPicPr>
                        <p:cNvPr id="0" name="图片 5627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1" y="3086"/>
                          <a:ext cx="231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4702" name="Group 174"/>
            <p:cNvGrpSpPr/>
            <p:nvPr/>
          </p:nvGrpSpPr>
          <p:grpSpPr bwMode="auto">
            <a:xfrm>
              <a:off x="1955" y="2994"/>
              <a:ext cx="1763" cy="388"/>
              <a:chOff x="1466" y="3201"/>
              <a:chExt cx="1763" cy="388"/>
            </a:xfrm>
          </p:grpSpPr>
          <p:sp>
            <p:nvSpPr>
              <p:cNvPr id="534703" name="Rectangle 175"/>
              <p:cNvSpPr>
                <a:spLocks noChangeArrowheads="1"/>
              </p:cNvSpPr>
              <p:nvPr/>
            </p:nvSpPr>
            <p:spPr bwMode="auto">
              <a:xfrm>
                <a:off x="1466" y="3201"/>
                <a:ext cx="1763" cy="3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zh-CN" alt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拒绝     </a:t>
                </a:r>
                <a:r>
                  <a:rPr lang="zh-CN" altLang="en-US" sz="9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为真</a:t>
                </a:r>
                <a:endPara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aphicFrame>
            <p:nvGraphicFramePr>
              <p:cNvPr id="534704" name="Object 176"/>
              <p:cNvGraphicFramePr>
                <a:graphicFrameLocks noChangeAspect="1"/>
              </p:cNvGraphicFramePr>
              <p:nvPr/>
            </p:nvGraphicFramePr>
            <p:xfrm>
              <a:off x="1937" y="3287"/>
              <a:ext cx="710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2724" name="Equation" r:id="rId35" imgW="10668000" imgH="4572000" progId="Equation.DSMT4">
                      <p:embed/>
                    </p:oleObj>
                  </mc:Choice>
                  <mc:Fallback>
                    <p:oleObj name="Equation" r:id="rId35" imgW="10668000" imgH="4572000" progId="Equation.DSMT4">
                      <p:embed/>
                      <p:pic>
                        <p:nvPicPr>
                          <p:cNvPr id="0" name="图片 5627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7" y="3287"/>
                            <a:ext cx="710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34718" name="Group 190"/>
          <p:cNvGrpSpPr/>
          <p:nvPr/>
        </p:nvGrpSpPr>
        <p:grpSpPr bwMode="auto">
          <a:xfrm>
            <a:off x="3022600" y="1689100"/>
            <a:ext cx="1930400" cy="3683000"/>
            <a:chOff x="1904" y="1064"/>
            <a:chExt cx="1216" cy="2320"/>
          </a:xfrm>
        </p:grpSpPr>
        <p:sp>
          <p:nvSpPr>
            <p:cNvPr id="534715" name="Oval 187"/>
            <p:cNvSpPr>
              <a:spLocks noChangeArrowheads="1"/>
            </p:cNvSpPr>
            <p:nvPr/>
          </p:nvSpPr>
          <p:spPr bwMode="auto">
            <a:xfrm>
              <a:off x="1904" y="2112"/>
              <a:ext cx="1072" cy="216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4716" name="Line 188"/>
            <p:cNvSpPr>
              <a:spLocks noChangeShapeType="1"/>
            </p:cNvSpPr>
            <p:nvPr/>
          </p:nvSpPr>
          <p:spPr bwMode="auto">
            <a:xfrm>
              <a:off x="2712" y="2320"/>
              <a:ext cx="408" cy="10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stealth" w="lg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4717" name="Oval 189"/>
            <p:cNvSpPr>
              <a:spLocks noChangeArrowheads="1"/>
            </p:cNvSpPr>
            <p:nvPr/>
          </p:nvSpPr>
          <p:spPr bwMode="auto">
            <a:xfrm>
              <a:off x="2192" y="1064"/>
              <a:ext cx="56" cy="56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34713" name="WordArt 185"/>
          <p:cNvSpPr>
            <a:spLocks noChangeArrowheads="1" noChangeShapeType="1" noTextEdit="1"/>
          </p:cNvSpPr>
          <p:nvPr/>
        </p:nvSpPr>
        <p:spPr bwMode="auto">
          <a:xfrm>
            <a:off x="4918075" y="53848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4714" name="WordArt 186"/>
          <p:cNvSpPr>
            <a:spLocks noChangeArrowheads="1" noChangeShapeType="1" noTextEdit="1"/>
          </p:cNvSpPr>
          <p:nvPr/>
        </p:nvSpPr>
        <p:spPr bwMode="auto">
          <a:xfrm>
            <a:off x="4918075" y="53848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0000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34720" name="Object 192"/>
          <p:cNvGraphicFramePr>
            <a:graphicFrameLocks noChangeAspect="1"/>
          </p:cNvGraphicFramePr>
          <p:nvPr/>
        </p:nvGraphicFramePr>
        <p:xfrm>
          <a:off x="3117850" y="5287963"/>
          <a:ext cx="15795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25" name="Equation" r:id="rId37" imgW="14935200" imgH="4572000" progId="Equation.DSMT4">
                  <p:embed/>
                </p:oleObj>
              </mc:Choice>
              <mc:Fallback>
                <p:oleObj name="Equation" r:id="rId37" imgW="14935200" imgH="4572000" progId="Equation.DSMT4">
                  <p:embed/>
                  <p:pic>
                    <p:nvPicPr>
                      <p:cNvPr id="0" name="图片 5627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5287963"/>
                        <a:ext cx="15795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721" name="WordArt 193"/>
          <p:cNvSpPr>
            <a:spLocks noChangeArrowheads="1" noChangeShapeType="1" noTextEdit="1"/>
          </p:cNvSpPr>
          <p:nvPr/>
        </p:nvSpPr>
        <p:spPr bwMode="auto">
          <a:xfrm>
            <a:off x="3611563" y="5386388"/>
            <a:ext cx="209550" cy="2651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4722" name="WordArt 194"/>
          <p:cNvSpPr>
            <a:spLocks noChangeArrowheads="1" noChangeShapeType="1" noTextEdit="1"/>
          </p:cNvSpPr>
          <p:nvPr/>
        </p:nvSpPr>
        <p:spPr bwMode="auto">
          <a:xfrm>
            <a:off x="3611563" y="5386388"/>
            <a:ext cx="209550" cy="2651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0000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4725" name="Freeform 197"/>
          <p:cNvSpPr/>
          <p:nvPr/>
        </p:nvSpPr>
        <p:spPr bwMode="auto">
          <a:xfrm>
            <a:off x="2832100" y="5689600"/>
            <a:ext cx="3416300" cy="14288"/>
          </a:xfrm>
          <a:custGeom>
            <a:avLst/>
            <a:gdLst>
              <a:gd name="T0" fmla="*/ 0 w 2152"/>
              <a:gd name="T1" fmla="*/ 8 h 9"/>
              <a:gd name="T2" fmla="*/ 688 w 2152"/>
              <a:gd name="T3" fmla="*/ 0 h 9"/>
              <a:gd name="T4" fmla="*/ 1384 w 2152"/>
              <a:gd name="T5" fmla="*/ 8 h 9"/>
              <a:gd name="T6" fmla="*/ 2008 w 2152"/>
              <a:gd name="T7" fmla="*/ 8 h 9"/>
              <a:gd name="T8" fmla="*/ 2152 w 2152"/>
              <a:gd name="T9" fmla="*/ 8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2" h="9">
                <a:moveTo>
                  <a:pt x="0" y="8"/>
                </a:moveTo>
                <a:cubicBezTo>
                  <a:pt x="228" y="4"/>
                  <a:pt x="457" y="0"/>
                  <a:pt x="688" y="0"/>
                </a:cubicBezTo>
                <a:cubicBezTo>
                  <a:pt x="919" y="0"/>
                  <a:pt x="1164" y="7"/>
                  <a:pt x="1384" y="8"/>
                </a:cubicBezTo>
                <a:cubicBezTo>
                  <a:pt x="1604" y="9"/>
                  <a:pt x="1880" y="8"/>
                  <a:pt x="2008" y="8"/>
                </a:cubicBezTo>
                <a:cubicBezTo>
                  <a:pt x="2136" y="8"/>
                  <a:pt x="2144" y="8"/>
                  <a:pt x="2152" y="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34731" name="Group 203"/>
          <p:cNvGrpSpPr/>
          <p:nvPr/>
        </p:nvGrpSpPr>
        <p:grpSpPr bwMode="auto">
          <a:xfrm>
            <a:off x="3438525" y="5922963"/>
            <a:ext cx="3949700" cy="434975"/>
            <a:chOff x="2478" y="3667"/>
            <a:chExt cx="2488" cy="274"/>
          </a:xfrm>
        </p:grpSpPr>
        <p:sp>
          <p:nvSpPr>
            <p:cNvPr id="534727" name="AutoShape 199"/>
            <p:cNvSpPr>
              <a:spLocks noChangeArrowheads="1"/>
            </p:cNvSpPr>
            <p:nvPr/>
          </p:nvSpPr>
          <p:spPr bwMode="auto">
            <a:xfrm>
              <a:off x="2478" y="3667"/>
              <a:ext cx="2488" cy="274"/>
            </a:xfrm>
            <a:prstGeom prst="wedgeRectCallout">
              <a:avLst>
                <a:gd name="adj1" fmla="val -22148"/>
                <a:gd name="adj2" fmla="val -97079"/>
              </a:avLst>
            </a:prstGeom>
            <a:solidFill>
              <a:schemeClr val="accent2"/>
            </a:soli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grpSp>
          <p:nvGrpSpPr>
            <p:cNvPr id="534730" name="Group 202"/>
            <p:cNvGrpSpPr/>
            <p:nvPr/>
          </p:nvGrpSpPr>
          <p:grpSpPr bwMode="auto">
            <a:xfrm>
              <a:off x="2562" y="3717"/>
              <a:ext cx="2324" cy="180"/>
              <a:chOff x="2570" y="3717"/>
              <a:chExt cx="2324" cy="180"/>
            </a:xfrm>
          </p:grpSpPr>
          <p:sp>
            <p:nvSpPr>
              <p:cNvPr id="534728" name="WordArt 200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70" y="3717"/>
                <a:ext cx="2324" cy="1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b="1" kern="10" dirty="0">
                    <a:ln w="12700">
                      <a:solidFill>
                        <a:srgbClr val="99CCFF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含未知量   的“概率方程”</a:t>
                </a:r>
                <a:endParaRPr lang="zh-CN" altLang="en-US" sz="3600" b="1" kern="10" dirty="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sp>
            <p:nvSpPr>
              <p:cNvPr id="534729" name="WordArt 20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19" y="3738"/>
                <a:ext cx="131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99CCFF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C</a:t>
                </a:r>
                <a:endParaRPr lang="zh-CN" altLang="en-US" sz="3600" i="1" kern="1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</p:grpSp>
      <p:sp>
        <p:nvSpPr>
          <p:cNvPr id="534754" name="Rectangle 226"/>
          <p:cNvSpPr>
            <a:spLocks noChangeArrowheads="1"/>
          </p:cNvSpPr>
          <p:nvPr/>
        </p:nvSpPr>
        <p:spPr bwMode="auto">
          <a:xfrm>
            <a:off x="0" y="5340232"/>
            <a:ext cx="9144000" cy="15367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4741" name="Group 213"/>
          <p:cNvGrpSpPr/>
          <p:nvPr/>
        </p:nvGrpSpPr>
        <p:grpSpPr bwMode="auto">
          <a:xfrm>
            <a:off x="2287588" y="5618048"/>
            <a:ext cx="4249738" cy="960438"/>
            <a:chOff x="1441" y="3527"/>
            <a:chExt cx="2677" cy="605"/>
          </a:xfrm>
        </p:grpSpPr>
        <p:graphicFrame>
          <p:nvGraphicFramePr>
            <p:cNvPr id="534732" name="Object 204"/>
            <p:cNvGraphicFramePr>
              <a:graphicFrameLocks noChangeAspect="1"/>
            </p:cNvGraphicFramePr>
            <p:nvPr/>
          </p:nvGraphicFramePr>
          <p:xfrm>
            <a:off x="1441" y="3527"/>
            <a:ext cx="2677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26" name="Equation" r:id="rId39" imgW="40233600" imgH="9144000" progId="Equation.DSMT4">
                    <p:embed/>
                  </p:oleObj>
                </mc:Choice>
                <mc:Fallback>
                  <p:oleObj name="Equation" r:id="rId39" imgW="40233600" imgH="9144000" progId="Equation.DSMT4">
                    <p:embed/>
                    <p:pic>
                      <p:nvPicPr>
                        <p:cNvPr id="0" name="图片 5627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" y="3527"/>
                          <a:ext cx="2677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735" name="Object 207"/>
            <p:cNvGraphicFramePr>
              <a:graphicFrameLocks noChangeAspect="1"/>
            </p:cNvGraphicFramePr>
            <p:nvPr/>
          </p:nvGraphicFramePr>
          <p:xfrm>
            <a:off x="1839" y="3610"/>
            <a:ext cx="264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27" name="Equation" r:id="rId41" imgW="3962400" imgH="8839200" progId="Equation.DSMT4">
                    <p:embed/>
                  </p:oleObj>
                </mc:Choice>
                <mc:Fallback>
                  <p:oleObj name="Equation" r:id="rId41" imgW="3962400" imgH="8839200" progId="Equation.DSMT4">
                    <p:embed/>
                    <p:pic>
                      <p:nvPicPr>
                        <p:cNvPr id="0" name="图片 5627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9" y="3610"/>
                          <a:ext cx="264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736" name="Object 208"/>
            <p:cNvGraphicFramePr>
              <a:graphicFrameLocks noChangeAspect="1"/>
            </p:cNvGraphicFramePr>
            <p:nvPr/>
          </p:nvGraphicFramePr>
          <p:xfrm>
            <a:off x="3432" y="3611"/>
            <a:ext cx="264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28" name="Equation" r:id="rId43" imgW="3962400" imgH="8839200" progId="Equation.DSMT4">
                    <p:embed/>
                  </p:oleObj>
                </mc:Choice>
                <mc:Fallback>
                  <p:oleObj name="Equation" r:id="rId43" imgW="3962400" imgH="8839200" progId="Equation.DSMT4">
                    <p:embed/>
                    <p:pic>
                      <p:nvPicPr>
                        <p:cNvPr id="0" name="图片 5627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2" y="3611"/>
                          <a:ext cx="264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4734" name="Rectangle 206"/>
          <p:cNvSpPr>
            <a:spLocks noChangeArrowheads="1"/>
          </p:cNvSpPr>
          <p:nvPr/>
        </p:nvSpPr>
        <p:spPr bwMode="auto">
          <a:xfrm>
            <a:off x="9194" y="624954"/>
            <a:ext cx="9144000" cy="6248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4749" name="Group 221"/>
          <p:cNvGrpSpPr/>
          <p:nvPr/>
        </p:nvGrpSpPr>
        <p:grpSpPr bwMode="auto">
          <a:xfrm>
            <a:off x="594982" y="3122092"/>
            <a:ext cx="3276600" cy="571500"/>
            <a:chOff x="337" y="2533"/>
            <a:chExt cx="2064" cy="360"/>
          </a:xfrm>
        </p:grpSpPr>
        <p:sp>
          <p:nvSpPr>
            <p:cNvPr id="534745" name="Rectangle 217"/>
            <p:cNvSpPr>
              <a:spLocks noChangeArrowheads="1"/>
            </p:cNvSpPr>
            <p:nvPr/>
          </p:nvSpPr>
          <p:spPr bwMode="auto">
            <a:xfrm>
              <a:off x="337" y="2533"/>
              <a:ext cx="206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当  </a:t>
              </a:r>
              <a:r>
                <a:rPr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成立时，有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747" name="Object 219"/>
            <p:cNvGraphicFramePr>
              <a:graphicFrameLocks noChangeAspect="1"/>
            </p:cNvGraphicFramePr>
            <p:nvPr/>
          </p:nvGraphicFramePr>
          <p:xfrm>
            <a:off x="612" y="2617"/>
            <a:ext cx="3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29" name="Equation" r:id="rId45" imgW="4572000" imgH="4267200" progId="Equation.DSMT4">
                    <p:embed/>
                  </p:oleObj>
                </mc:Choice>
                <mc:Fallback>
                  <p:oleObj name="Equation" r:id="rId45" imgW="4572000" imgH="4267200" progId="Equation.DSMT4">
                    <p:embed/>
                    <p:pic>
                      <p:nvPicPr>
                        <p:cNvPr id="0" name="图片 5627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617"/>
                          <a:ext cx="3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4751" name="Object 223"/>
          <p:cNvGraphicFramePr>
            <a:graphicFrameLocks noChangeAspect="1"/>
          </p:cNvGraphicFramePr>
          <p:nvPr/>
        </p:nvGraphicFramePr>
        <p:xfrm>
          <a:off x="2907969" y="3495154"/>
          <a:ext cx="19621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30" name="Equation" r:id="rId47" imgW="18592800" imgH="9144000" progId="Equation.DSMT4">
                  <p:embed/>
                </p:oleObj>
              </mc:Choice>
              <mc:Fallback>
                <p:oleObj name="Equation" r:id="rId47" imgW="18592800" imgH="9144000" progId="Equation.DSMT4">
                  <p:embed/>
                  <p:pic>
                    <p:nvPicPr>
                      <p:cNvPr id="0" name="图片 5627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969" y="3495154"/>
                        <a:ext cx="19621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755" name="Object 227"/>
          <p:cNvGraphicFramePr>
            <a:graphicFrameLocks noChangeAspect="1"/>
          </p:cNvGraphicFramePr>
          <p:nvPr/>
        </p:nvGraphicFramePr>
        <p:xfrm>
          <a:off x="426660" y="4260329"/>
          <a:ext cx="398780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31" name="Equation" r:id="rId49" imgW="37795200" imgH="8839200" progId="Equation.DSMT4">
                  <p:embed/>
                </p:oleObj>
              </mc:Choice>
              <mc:Fallback>
                <p:oleObj name="Equation" r:id="rId49" imgW="37795200" imgH="8839200" progId="Equation.DSMT4">
                  <p:embed/>
                  <p:pic>
                    <p:nvPicPr>
                      <p:cNvPr id="0" name="图片 5627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660" y="4260329"/>
                        <a:ext cx="398780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4763" name="Group 235"/>
          <p:cNvGrpSpPr/>
          <p:nvPr/>
        </p:nvGrpSpPr>
        <p:grpSpPr bwMode="auto">
          <a:xfrm>
            <a:off x="4279569" y="4342879"/>
            <a:ext cx="4457700" cy="561975"/>
            <a:chOff x="2690" y="2726"/>
            <a:chExt cx="2808" cy="354"/>
          </a:xfrm>
        </p:grpSpPr>
        <p:sp>
          <p:nvSpPr>
            <p:cNvPr id="534757" name="Rectangle 229"/>
            <p:cNvSpPr>
              <a:spLocks noChangeArrowheads="1"/>
            </p:cNvSpPr>
            <p:nvPr/>
          </p:nvSpPr>
          <p:spPr bwMode="auto">
            <a:xfrm>
              <a:off x="2690" y="2726"/>
              <a:ext cx="2808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即当        拒绝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758" name="Object 230"/>
            <p:cNvGraphicFramePr>
              <a:graphicFrameLocks noChangeAspect="1"/>
            </p:cNvGraphicFramePr>
            <p:nvPr/>
          </p:nvGraphicFramePr>
          <p:xfrm>
            <a:off x="4677" y="2794"/>
            <a:ext cx="3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32" name="Equation" r:id="rId51" imgW="4572000" imgH="4267200" progId="Equation.DSMT4">
                    <p:embed/>
                  </p:oleObj>
                </mc:Choice>
                <mc:Fallback>
                  <p:oleObj name="Equation" r:id="rId51" imgW="4572000" imgH="4267200" progId="Equation.DSMT4">
                    <p:embed/>
                    <p:pic>
                      <p:nvPicPr>
                        <p:cNvPr id="0" name="图片 5627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7" y="2794"/>
                          <a:ext cx="3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760" name="Object 232"/>
            <p:cNvGraphicFramePr>
              <a:graphicFrameLocks noChangeAspect="1"/>
            </p:cNvGraphicFramePr>
            <p:nvPr/>
          </p:nvGraphicFramePr>
          <p:xfrm>
            <a:off x="3321" y="2794"/>
            <a:ext cx="873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33" name="Equation" r:id="rId53" imgW="13106400" imgH="4267200" progId="Equation.DSMT4">
                    <p:embed/>
                  </p:oleObj>
                </mc:Choice>
                <mc:Fallback>
                  <p:oleObj name="Equation" r:id="rId53" imgW="13106400" imgH="4267200" progId="Equation.DSMT4">
                    <p:embed/>
                    <p:pic>
                      <p:nvPicPr>
                        <p:cNvPr id="0" name="图片 5627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2794"/>
                          <a:ext cx="873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4765" name="Rectangle 237"/>
          <p:cNvSpPr>
            <a:spLocks noChangeArrowheads="1"/>
          </p:cNvSpPr>
          <p:nvPr/>
        </p:nvSpPr>
        <p:spPr bwMode="auto">
          <a:xfrm>
            <a:off x="571169" y="5041379"/>
            <a:ext cx="22733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具体计算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得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34767" name="Object 239"/>
          <p:cNvGraphicFramePr>
            <a:graphicFrameLocks noChangeAspect="1"/>
          </p:cNvGraphicFramePr>
          <p:nvPr/>
        </p:nvGraphicFramePr>
        <p:xfrm>
          <a:off x="2682544" y="5379517"/>
          <a:ext cx="34099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34" name="Equation" r:id="rId55" imgW="32308800" imgH="8839200" progId="Equation.DSMT4">
                  <p:embed/>
                </p:oleObj>
              </mc:Choice>
              <mc:Fallback>
                <p:oleObj name="Equation" r:id="rId55" imgW="32308800" imgH="8839200" progId="Equation.DSMT4">
                  <p:embed/>
                  <p:pic>
                    <p:nvPicPr>
                      <p:cNvPr id="0" name="图片 5627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544" y="5379517"/>
                        <a:ext cx="340995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768" name="Object 240"/>
          <p:cNvGraphicFramePr>
            <a:graphicFrameLocks noChangeAspect="1"/>
          </p:cNvGraphicFramePr>
          <p:nvPr/>
        </p:nvGraphicFramePr>
        <p:xfrm>
          <a:off x="6055982" y="5612879"/>
          <a:ext cx="9318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35" name="Equation" r:id="rId57" imgW="8839200" imgH="3657600" progId="Equation.DSMT4">
                  <p:embed/>
                </p:oleObj>
              </mc:Choice>
              <mc:Fallback>
                <p:oleObj name="Equation" r:id="rId57" imgW="8839200" imgH="3657600" progId="Equation.DSMT4">
                  <p:embed/>
                  <p:pic>
                    <p:nvPicPr>
                      <p:cNvPr id="0" name="图片 5627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5982" y="5612879"/>
                        <a:ext cx="9318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4773" name="Group 245"/>
          <p:cNvGrpSpPr/>
          <p:nvPr/>
        </p:nvGrpSpPr>
        <p:grpSpPr bwMode="auto">
          <a:xfrm>
            <a:off x="-41606" y="6084367"/>
            <a:ext cx="6629400" cy="561975"/>
            <a:chOff x="0" y="3823"/>
            <a:chExt cx="4176" cy="354"/>
          </a:xfrm>
        </p:grpSpPr>
        <p:sp>
          <p:nvSpPr>
            <p:cNvPr id="534770" name="Rectangle 242"/>
            <p:cNvSpPr>
              <a:spLocks noChangeArrowheads="1"/>
            </p:cNvSpPr>
            <p:nvPr/>
          </p:nvSpPr>
          <p:spPr bwMode="auto">
            <a:xfrm>
              <a:off x="0" y="3823"/>
              <a:ext cx="4176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故拒绝 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即认为包装机工作不正常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4771" name="Object 243"/>
            <p:cNvGraphicFramePr>
              <a:graphicFrameLocks noChangeAspect="1"/>
            </p:cNvGraphicFramePr>
            <p:nvPr/>
          </p:nvGraphicFramePr>
          <p:xfrm>
            <a:off x="731" y="3899"/>
            <a:ext cx="38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36" name="Equation" r:id="rId59" imgW="5791200" imgH="4267200" progId="Equation.DSMT4">
                    <p:embed/>
                  </p:oleObj>
                </mc:Choice>
                <mc:Fallback>
                  <p:oleObj name="Equation" r:id="rId59" imgW="5791200" imgH="4267200" progId="Equation.DSMT4">
                    <p:embed/>
                    <p:pic>
                      <p:nvPicPr>
                        <p:cNvPr id="0" name="图片 5627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" y="3899"/>
                          <a:ext cx="38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4774" name="Object 246"/>
          <p:cNvGraphicFramePr>
            <a:graphicFrameLocks noChangeAspect="1"/>
          </p:cNvGraphicFramePr>
          <p:nvPr/>
        </p:nvGraphicFramePr>
        <p:xfrm>
          <a:off x="4824082" y="3749154"/>
          <a:ext cx="10937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37" name="公式" r:id="rId61" imgW="571500" imgH="254000" progId="Equation.3">
                  <p:embed/>
                </p:oleObj>
              </mc:Choice>
              <mc:Fallback>
                <p:oleObj name="公式" r:id="rId61" imgW="571500" imgH="254000" progId="Equation.3">
                  <p:embed/>
                  <p:pic>
                    <p:nvPicPr>
                      <p:cNvPr id="0" name="图片 5627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082" y="3749154"/>
                        <a:ext cx="10937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4800" name="Group 272"/>
          <p:cNvGrpSpPr/>
          <p:nvPr/>
        </p:nvGrpSpPr>
        <p:grpSpPr bwMode="auto">
          <a:xfrm>
            <a:off x="6187744" y="3120505"/>
            <a:ext cx="2536825" cy="1350963"/>
            <a:chOff x="3996" y="1956"/>
            <a:chExt cx="1598" cy="851"/>
          </a:xfrm>
        </p:grpSpPr>
        <p:graphicFrame>
          <p:nvGraphicFramePr>
            <p:cNvPr id="534792" name="Object 264"/>
            <p:cNvGraphicFramePr>
              <a:graphicFrameLocks noChangeAspect="1"/>
            </p:cNvGraphicFramePr>
            <p:nvPr/>
          </p:nvGraphicFramePr>
          <p:xfrm>
            <a:off x="4965" y="2509"/>
            <a:ext cx="544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38" name="Equation" r:id="rId63" imgW="7924800" imgH="4267200" progId="Equation.DSMT4">
                    <p:embed/>
                  </p:oleObj>
                </mc:Choice>
                <mc:Fallback>
                  <p:oleObj name="Equation" r:id="rId63" imgW="7924800" imgH="4267200" progId="Equation.DSMT4">
                    <p:embed/>
                    <p:pic>
                      <p:nvPicPr>
                        <p:cNvPr id="0" name="图片 5627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5" y="2509"/>
                          <a:ext cx="544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793" name="Object 265"/>
            <p:cNvGraphicFramePr>
              <a:graphicFrameLocks noChangeAspect="1"/>
            </p:cNvGraphicFramePr>
            <p:nvPr/>
          </p:nvGraphicFramePr>
          <p:xfrm>
            <a:off x="4133" y="2510"/>
            <a:ext cx="69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39" name="Equation" r:id="rId65" imgW="10058400" imgH="4267200" progId="Equation.DSMT4">
                    <p:embed/>
                  </p:oleObj>
                </mc:Choice>
                <mc:Fallback>
                  <p:oleObj name="Equation" r:id="rId65" imgW="10058400" imgH="4267200" progId="Equation.DSMT4">
                    <p:embed/>
                    <p:pic>
                      <p:nvPicPr>
                        <p:cNvPr id="0" name="图片 5627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3" y="2510"/>
                          <a:ext cx="69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4796" name="Group 268"/>
            <p:cNvGrpSpPr/>
            <p:nvPr/>
          </p:nvGrpSpPr>
          <p:grpSpPr bwMode="auto">
            <a:xfrm>
              <a:off x="4015" y="2381"/>
              <a:ext cx="339" cy="197"/>
              <a:chOff x="4015" y="2381"/>
              <a:chExt cx="339" cy="197"/>
            </a:xfrm>
          </p:grpSpPr>
          <p:sp>
            <p:nvSpPr>
              <p:cNvPr id="534779" name="Freeform 251"/>
              <p:cNvSpPr/>
              <p:nvPr/>
            </p:nvSpPr>
            <p:spPr bwMode="auto">
              <a:xfrm>
                <a:off x="4015" y="2381"/>
                <a:ext cx="339" cy="197"/>
              </a:xfrm>
              <a:custGeom>
                <a:avLst/>
                <a:gdLst>
                  <a:gd name="T0" fmla="*/ 0 w 339"/>
                  <a:gd name="T1" fmla="*/ 197 h 197"/>
                  <a:gd name="T2" fmla="*/ 0 w 339"/>
                  <a:gd name="T3" fmla="*/ 115 h 197"/>
                  <a:gd name="T4" fmla="*/ 35 w 339"/>
                  <a:gd name="T5" fmla="*/ 115 h 197"/>
                  <a:gd name="T6" fmla="*/ 95 w 339"/>
                  <a:gd name="T7" fmla="*/ 104 h 197"/>
                  <a:gd name="T8" fmla="*/ 140 w 339"/>
                  <a:gd name="T9" fmla="*/ 94 h 197"/>
                  <a:gd name="T10" fmla="*/ 208 w 339"/>
                  <a:gd name="T11" fmla="*/ 73 h 197"/>
                  <a:gd name="T12" fmla="*/ 260 w 339"/>
                  <a:gd name="T13" fmla="*/ 48 h 197"/>
                  <a:gd name="T14" fmla="*/ 296 w 339"/>
                  <a:gd name="T15" fmla="*/ 28 h 197"/>
                  <a:gd name="T16" fmla="*/ 313 w 339"/>
                  <a:gd name="T17" fmla="*/ 15 h 197"/>
                  <a:gd name="T18" fmla="*/ 338 w 339"/>
                  <a:gd name="T19" fmla="*/ 0 h 197"/>
                  <a:gd name="T20" fmla="*/ 339 w 339"/>
                  <a:gd name="T21" fmla="*/ 197 h 197"/>
                  <a:gd name="T22" fmla="*/ 0 w 339"/>
                  <a:gd name="T23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9" h="197">
                    <a:moveTo>
                      <a:pt x="0" y="197"/>
                    </a:moveTo>
                    <a:lnTo>
                      <a:pt x="0" y="115"/>
                    </a:lnTo>
                    <a:lnTo>
                      <a:pt x="35" y="115"/>
                    </a:lnTo>
                    <a:lnTo>
                      <a:pt x="95" y="104"/>
                    </a:lnTo>
                    <a:lnTo>
                      <a:pt x="140" y="94"/>
                    </a:lnTo>
                    <a:lnTo>
                      <a:pt x="208" y="73"/>
                    </a:lnTo>
                    <a:lnTo>
                      <a:pt x="260" y="48"/>
                    </a:lnTo>
                    <a:lnTo>
                      <a:pt x="296" y="28"/>
                    </a:lnTo>
                    <a:lnTo>
                      <a:pt x="313" y="15"/>
                    </a:lnTo>
                    <a:lnTo>
                      <a:pt x="338" y="0"/>
                    </a:lnTo>
                    <a:lnTo>
                      <a:pt x="339" y="197"/>
                    </a:lnTo>
                    <a:lnTo>
                      <a:pt x="0" y="19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2">
                      <a:alpha val="63000"/>
                    </a:schemeClr>
                  </a:gs>
                  <a:gs pos="5000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>
                      <a:alpha val="63000"/>
                    </a:schemeClr>
                  </a:gs>
                </a:gsLst>
                <a:lin ang="18900000" scaled="1"/>
              </a:gradFill>
              <a:ln w="9525" cap="flat" cmpd="sng">
                <a:solidFill>
                  <a:srgbClr val="FFFF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4795" name="Line 267"/>
              <p:cNvSpPr>
                <a:spLocks noChangeShapeType="1"/>
              </p:cNvSpPr>
              <p:nvPr/>
            </p:nvSpPr>
            <p:spPr bwMode="auto">
              <a:xfrm flipV="1">
                <a:off x="4353" y="2384"/>
                <a:ext cx="0" cy="193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34797" name="Group 269"/>
            <p:cNvGrpSpPr/>
            <p:nvPr/>
          </p:nvGrpSpPr>
          <p:grpSpPr bwMode="auto">
            <a:xfrm flipH="1">
              <a:off x="5041" y="2381"/>
              <a:ext cx="331" cy="197"/>
              <a:chOff x="4015" y="2381"/>
              <a:chExt cx="339" cy="197"/>
            </a:xfrm>
          </p:grpSpPr>
          <p:sp>
            <p:nvSpPr>
              <p:cNvPr id="534798" name="Freeform 270"/>
              <p:cNvSpPr/>
              <p:nvPr/>
            </p:nvSpPr>
            <p:spPr bwMode="auto">
              <a:xfrm>
                <a:off x="4015" y="2381"/>
                <a:ext cx="339" cy="197"/>
              </a:xfrm>
              <a:custGeom>
                <a:avLst/>
                <a:gdLst>
                  <a:gd name="T0" fmla="*/ 0 w 339"/>
                  <a:gd name="T1" fmla="*/ 197 h 197"/>
                  <a:gd name="T2" fmla="*/ 0 w 339"/>
                  <a:gd name="T3" fmla="*/ 115 h 197"/>
                  <a:gd name="T4" fmla="*/ 35 w 339"/>
                  <a:gd name="T5" fmla="*/ 115 h 197"/>
                  <a:gd name="T6" fmla="*/ 95 w 339"/>
                  <a:gd name="T7" fmla="*/ 104 h 197"/>
                  <a:gd name="T8" fmla="*/ 140 w 339"/>
                  <a:gd name="T9" fmla="*/ 94 h 197"/>
                  <a:gd name="T10" fmla="*/ 208 w 339"/>
                  <a:gd name="T11" fmla="*/ 73 h 197"/>
                  <a:gd name="T12" fmla="*/ 260 w 339"/>
                  <a:gd name="T13" fmla="*/ 48 h 197"/>
                  <a:gd name="T14" fmla="*/ 296 w 339"/>
                  <a:gd name="T15" fmla="*/ 28 h 197"/>
                  <a:gd name="T16" fmla="*/ 313 w 339"/>
                  <a:gd name="T17" fmla="*/ 15 h 197"/>
                  <a:gd name="T18" fmla="*/ 338 w 339"/>
                  <a:gd name="T19" fmla="*/ 0 h 197"/>
                  <a:gd name="T20" fmla="*/ 339 w 339"/>
                  <a:gd name="T21" fmla="*/ 197 h 197"/>
                  <a:gd name="T22" fmla="*/ 0 w 339"/>
                  <a:gd name="T23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9" h="197">
                    <a:moveTo>
                      <a:pt x="0" y="197"/>
                    </a:moveTo>
                    <a:lnTo>
                      <a:pt x="0" y="115"/>
                    </a:lnTo>
                    <a:lnTo>
                      <a:pt x="35" y="115"/>
                    </a:lnTo>
                    <a:lnTo>
                      <a:pt x="95" y="104"/>
                    </a:lnTo>
                    <a:lnTo>
                      <a:pt x="140" y="94"/>
                    </a:lnTo>
                    <a:lnTo>
                      <a:pt x="208" y="73"/>
                    </a:lnTo>
                    <a:lnTo>
                      <a:pt x="260" y="48"/>
                    </a:lnTo>
                    <a:lnTo>
                      <a:pt x="296" y="28"/>
                    </a:lnTo>
                    <a:lnTo>
                      <a:pt x="313" y="15"/>
                    </a:lnTo>
                    <a:lnTo>
                      <a:pt x="338" y="0"/>
                    </a:lnTo>
                    <a:lnTo>
                      <a:pt x="339" y="197"/>
                    </a:lnTo>
                    <a:lnTo>
                      <a:pt x="0" y="19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2">
                      <a:alpha val="63000"/>
                    </a:schemeClr>
                  </a:gs>
                  <a:gs pos="5000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>
                      <a:alpha val="63000"/>
                    </a:schemeClr>
                  </a:gs>
                </a:gsLst>
                <a:lin ang="18900000" scaled="1"/>
              </a:gradFill>
              <a:ln w="9525" cap="flat" cmpd="sng">
                <a:solidFill>
                  <a:srgbClr val="FFFF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4799" name="Line 271"/>
              <p:cNvSpPr>
                <a:spLocks noChangeShapeType="1"/>
              </p:cNvSpPr>
              <p:nvPr/>
            </p:nvSpPr>
            <p:spPr bwMode="auto">
              <a:xfrm flipV="1">
                <a:off x="4353" y="2384"/>
                <a:ext cx="0" cy="193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34780" name="Line 252"/>
            <p:cNvSpPr>
              <a:spLocks noChangeShapeType="1"/>
            </p:cNvSpPr>
            <p:nvPr/>
          </p:nvSpPr>
          <p:spPr bwMode="auto">
            <a:xfrm flipV="1">
              <a:off x="4004" y="2580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4781" name="Line 253"/>
            <p:cNvSpPr>
              <a:spLocks noChangeShapeType="1"/>
            </p:cNvSpPr>
            <p:nvPr/>
          </p:nvSpPr>
          <p:spPr bwMode="auto">
            <a:xfrm flipV="1">
              <a:off x="4699" y="1956"/>
              <a:ext cx="1" cy="6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4784" name="Freeform 256"/>
            <p:cNvSpPr/>
            <p:nvPr/>
          </p:nvSpPr>
          <p:spPr bwMode="auto">
            <a:xfrm>
              <a:off x="4017" y="2112"/>
              <a:ext cx="681" cy="384"/>
            </a:xfrm>
            <a:custGeom>
              <a:avLst/>
              <a:gdLst>
                <a:gd name="T0" fmla="*/ 0 w 905"/>
                <a:gd name="T1" fmla="*/ 511 h 511"/>
                <a:gd name="T2" fmla="*/ 140 w 905"/>
                <a:gd name="T3" fmla="*/ 494 h 511"/>
                <a:gd name="T4" fmla="*/ 326 w 905"/>
                <a:gd name="T5" fmla="*/ 430 h 511"/>
                <a:gd name="T6" fmla="*/ 551 w 905"/>
                <a:gd name="T7" fmla="*/ 279 h 511"/>
                <a:gd name="T8" fmla="*/ 723 w 905"/>
                <a:gd name="T9" fmla="*/ 80 h 511"/>
                <a:gd name="T10" fmla="*/ 827 w 905"/>
                <a:gd name="T11" fmla="*/ 13 h 511"/>
                <a:gd name="T12" fmla="*/ 905 w 905"/>
                <a:gd name="T13" fmla="*/ 0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5" h="511">
                  <a:moveTo>
                    <a:pt x="0" y="511"/>
                  </a:moveTo>
                  <a:cubicBezTo>
                    <a:pt x="24" y="508"/>
                    <a:pt x="85" y="507"/>
                    <a:pt x="140" y="494"/>
                  </a:cubicBezTo>
                  <a:cubicBezTo>
                    <a:pt x="194" y="481"/>
                    <a:pt x="257" y="466"/>
                    <a:pt x="326" y="430"/>
                  </a:cubicBezTo>
                  <a:cubicBezTo>
                    <a:pt x="395" y="394"/>
                    <a:pt x="488" y="337"/>
                    <a:pt x="551" y="279"/>
                  </a:cubicBezTo>
                  <a:cubicBezTo>
                    <a:pt x="614" y="221"/>
                    <a:pt x="673" y="128"/>
                    <a:pt x="723" y="80"/>
                  </a:cubicBezTo>
                  <a:cubicBezTo>
                    <a:pt x="773" y="32"/>
                    <a:pt x="795" y="24"/>
                    <a:pt x="827" y="13"/>
                  </a:cubicBezTo>
                  <a:cubicBezTo>
                    <a:pt x="859" y="2"/>
                    <a:pt x="889" y="3"/>
                    <a:pt x="905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4785" name="Freeform 257"/>
            <p:cNvSpPr/>
            <p:nvPr/>
          </p:nvSpPr>
          <p:spPr bwMode="auto">
            <a:xfrm flipH="1">
              <a:off x="4699" y="2112"/>
              <a:ext cx="680" cy="384"/>
            </a:xfrm>
            <a:custGeom>
              <a:avLst/>
              <a:gdLst>
                <a:gd name="T0" fmla="*/ 0 w 905"/>
                <a:gd name="T1" fmla="*/ 511 h 511"/>
                <a:gd name="T2" fmla="*/ 140 w 905"/>
                <a:gd name="T3" fmla="*/ 494 h 511"/>
                <a:gd name="T4" fmla="*/ 326 w 905"/>
                <a:gd name="T5" fmla="*/ 430 h 511"/>
                <a:gd name="T6" fmla="*/ 551 w 905"/>
                <a:gd name="T7" fmla="*/ 279 h 511"/>
                <a:gd name="T8" fmla="*/ 723 w 905"/>
                <a:gd name="T9" fmla="*/ 80 h 511"/>
                <a:gd name="T10" fmla="*/ 827 w 905"/>
                <a:gd name="T11" fmla="*/ 13 h 511"/>
                <a:gd name="T12" fmla="*/ 905 w 905"/>
                <a:gd name="T13" fmla="*/ 0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5" h="511">
                  <a:moveTo>
                    <a:pt x="0" y="511"/>
                  </a:moveTo>
                  <a:cubicBezTo>
                    <a:pt x="24" y="508"/>
                    <a:pt x="85" y="507"/>
                    <a:pt x="140" y="494"/>
                  </a:cubicBezTo>
                  <a:cubicBezTo>
                    <a:pt x="194" y="481"/>
                    <a:pt x="257" y="466"/>
                    <a:pt x="326" y="430"/>
                  </a:cubicBezTo>
                  <a:cubicBezTo>
                    <a:pt x="395" y="394"/>
                    <a:pt x="488" y="337"/>
                    <a:pt x="551" y="279"/>
                  </a:cubicBezTo>
                  <a:cubicBezTo>
                    <a:pt x="614" y="221"/>
                    <a:pt x="673" y="128"/>
                    <a:pt x="723" y="80"/>
                  </a:cubicBezTo>
                  <a:cubicBezTo>
                    <a:pt x="773" y="32"/>
                    <a:pt x="795" y="24"/>
                    <a:pt x="827" y="13"/>
                  </a:cubicBezTo>
                  <a:cubicBezTo>
                    <a:pt x="859" y="2"/>
                    <a:pt x="889" y="3"/>
                    <a:pt x="905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34782" name="Object 254"/>
            <p:cNvGraphicFramePr>
              <a:graphicFrameLocks noChangeAspect="1"/>
            </p:cNvGraphicFramePr>
            <p:nvPr/>
          </p:nvGraphicFramePr>
          <p:xfrm>
            <a:off x="4938" y="1999"/>
            <a:ext cx="35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40" name="Equation" r:id="rId67" imgW="7315200" imgH="3657600" progId="Equation.DSMT4">
                    <p:embed/>
                  </p:oleObj>
                </mc:Choice>
                <mc:Fallback>
                  <p:oleObj name="Equation" r:id="rId67" imgW="7315200" imgH="3657600" progId="Equation.DSMT4">
                    <p:embed/>
                    <p:pic>
                      <p:nvPicPr>
                        <p:cNvPr id="0" name="图片 5627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8" y="1999"/>
                          <a:ext cx="35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4787" name="Line 259"/>
            <p:cNvSpPr>
              <a:spLocks noChangeShapeType="1"/>
            </p:cNvSpPr>
            <p:nvPr/>
          </p:nvSpPr>
          <p:spPr bwMode="auto">
            <a:xfrm flipH="1">
              <a:off x="4781" y="2184"/>
              <a:ext cx="280" cy="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stealth" w="med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4788" name="Line 260"/>
            <p:cNvSpPr>
              <a:spLocks noChangeShapeType="1"/>
            </p:cNvSpPr>
            <p:nvPr/>
          </p:nvSpPr>
          <p:spPr bwMode="auto">
            <a:xfrm flipH="1">
              <a:off x="5126" y="2297"/>
              <a:ext cx="192" cy="20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stealth" w="med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34789" name="Object 261"/>
            <p:cNvGraphicFramePr>
              <a:graphicFrameLocks noChangeAspect="1"/>
            </p:cNvGraphicFramePr>
            <p:nvPr/>
          </p:nvGraphicFramePr>
          <p:xfrm>
            <a:off x="5253" y="2109"/>
            <a:ext cx="34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41" name="Equation" r:id="rId69" imgW="6705600" imgH="3657600" progId="Equation.DSMT4">
                    <p:embed/>
                  </p:oleObj>
                </mc:Choice>
                <mc:Fallback>
                  <p:oleObj name="Equation" r:id="rId69" imgW="6705600" imgH="3657600" progId="Equation.DSMT4">
                    <p:embed/>
                    <p:pic>
                      <p:nvPicPr>
                        <p:cNvPr id="0" name="图片 5627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3" y="2109"/>
                          <a:ext cx="34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4790" name="Line 262"/>
            <p:cNvSpPr>
              <a:spLocks noChangeShapeType="1"/>
            </p:cNvSpPr>
            <p:nvPr/>
          </p:nvSpPr>
          <p:spPr bwMode="auto">
            <a:xfrm>
              <a:off x="4159" y="2282"/>
              <a:ext cx="88" cy="23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stealth" w="med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34791" name="Object 263"/>
            <p:cNvGraphicFramePr>
              <a:graphicFrameLocks noChangeAspect="1"/>
            </p:cNvGraphicFramePr>
            <p:nvPr/>
          </p:nvGraphicFramePr>
          <p:xfrm>
            <a:off x="3996" y="2103"/>
            <a:ext cx="341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42" name="Equation" r:id="rId71" imgW="6705600" imgH="3657600" progId="Equation.DSMT4">
                    <p:embed/>
                  </p:oleObj>
                </mc:Choice>
                <mc:Fallback>
                  <p:oleObj name="Equation" r:id="rId71" imgW="6705600" imgH="3657600" progId="Equation.DSMT4">
                    <p:embed/>
                    <p:pic>
                      <p:nvPicPr>
                        <p:cNvPr id="0" name="图片 5627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6" y="2103"/>
                          <a:ext cx="341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4805" name="Freeform 277"/>
          <p:cNvSpPr/>
          <p:nvPr/>
        </p:nvSpPr>
        <p:spPr bwMode="auto">
          <a:xfrm>
            <a:off x="2349500" y="1370013"/>
            <a:ext cx="4191000" cy="26987"/>
          </a:xfrm>
          <a:custGeom>
            <a:avLst/>
            <a:gdLst>
              <a:gd name="T0" fmla="*/ 0 w 2640"/>
              <a:gd name="T1" fmla="*/ 9 h 17"/>
              <a:gd name="T2" fmla="*/ 560 w 2640"/>
              <a:gd name="T3" fmla="*/ 1 h 17"/>
              <a:gd name="T4" fmla="*/ 1032 w 2640"/>
              <a:gd name="T5" fmla="*/ 1 h 17"/>
              <a:gd name="T6" fmla="*/ 1456 w 2640"/>
              <a:gd name="T7" fmla="*/ 1 h 17"/>
              <a:gd name="T8" fmla="*/ 1856 w 2640"/>
              <a:gd name="T9" fmla="*/ 1 h 17"/>
              <a:gd name="T10" fmla="*/ 2264 w 2640"/>
              <a:gd name="T11" fmla="*/ 9 h 17"/>
              <a:gd name="T12" fmla="*/ 2640 w 2640"/>
              <a:gd name="T13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40" h="17">
                <a:moveTo>
                  <a:pt x="0" y="9"/>
                </a:moveTo>
                <a:cubicBezTo>
                  <a:pt x="192" y="3"/>
                  <a:pt x="388" y="2"/>
                  <a:pt x="560" y="1"/>
                </a:cubicBezTo>
                <a:cubicBezTo>
                  <a:pt x="732" y="0"/>
                  <a:pt x="883" y="1"/>
                  <a:pt x="1032" y="1"/>
                </a:cubicBezTo>
                <a:cubicBezTo>
                  <a:pt x="1181" y="1"/>
                  <a:pt x="1319" y="1"/>
                  <a:pt x="1456" y="1"/>
                </a:cubicBezTo>
                <a:cubicBezTo>
                  <a:pt x="1593" y="1"/>
                  <a:pt x="1721" y="0"/>
                  <a:pt x="1856" y="1"/>
                </a:cubicBezTo>
                <a:cubicBezTo>
                  <a:pt x="1991" y="2"/>
                  <a:pt x="2133" y="6"/>
                  <a:pt x="2264" y="9"/>
                </a:cubicBezTo>
                <a:cubicBezTo>
                  <a:pt x="2395" y="12"/>
                  <a:pt x="2579" y="16"/>
                  <a:pt x="2640" y="17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34810" name="Group 282"/>
          <p:cNvGrpSpPr/>
          <p:nvPr/>
        </p:nvGrpSpPr>
        <p:grpSpPr bwMode="auto">
          <a:xfrm>
            <a:off x="738188" y="970121"/>
            <a:ext cx="1420812" cy="407988"/>
            <a:chOff x="113" y="1320"/>
            <a:chExt cx="895" cy="257"/>
          </a:xfrm>
        </p:grpSpPr>
        <p:sp>
          <p:nvSpPr>
            <p:cNvPr id="534808" name="AutoShape 280"/>
            <p:cNvSpPr>
              <a:spLocks noChangeArrowheads="1"/>
            </p:cNvSpPr>
            <p:nvPr/>
          </p:nvSpPr>
          <p:spPr bwMode="auto">
            <a:xfrm>
              <a:off x="113" y="1320"/>
              <a:ext cx="895" cy="257"/>
            </a:xfrm>
            <a:prstGeom prst="wedgeRectCallout">
              <a:avLst>
                <a:gd name="adj1" fmla="val 67542"/>
                <a:gd name="adj2" fmla="val -22375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34809" name="WordArt 281"/>
            <p:cNvSpPr>
              <a:spLocks noChangeArrowheads="1" noChangeShapeType="1" noTextEdit="1"/>
            </p:cNvSpPr>
            <p:nvPr/>
          </p:nvSpPr>
          <p:spPr bwMode="auto">
            <a:xfrm>
              <a:off x="153" y="1352"/>
              <a:ext cx="805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原假设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34802" name="Oval 274"/>
          <p:cNvSpPr>
            <a:spLocks noChangeArrowheads="1"/>
          </p:cNvSpPr>
          <p:nvPr/>
        </p:nvSpPr>
        <p:spPr bwMode="auto">
          <a:xfrm>
            <a:off x="2436813" y="939800"/>
            <a:ext cx="509587" cy="452438"/>
          </a:xfrm>
          <a:prstGeom prst="ellipse">
            <a:avLst/>
          </a:prstGeom>
          <a:noFill/>
          <a:ln w="19050" algn="ctr">
            <a:solidFill>
              <a:schemeClr val="accent2"/>
            </a:solidFill>
            <a:round/>
          </a:ln>
          <a:effectLst>
            <a:outerShdw dist="45791" dir="337859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4818" name="Group 290"/>
          <p:cNvGrpSpPr/>
          <p:nvPr/>
        </p:nvGrpSpPr>
        <p:grpSpPr bwMode="auto">
          <a:xfrm>
            <a:off x="6779420" y="1055204"/>
            <a:ext cx="2424112" cy="407988"/>
            <a:chOff x="2499" y="1042"/>
            <a:chExt cx="1527" cy="257"/>
          </a:xfrm>
        </p:grpSpPr>
        <p:sp>
          <p:nvSpPr>
            <p:cNvPr id="534816" name="AutoShape 288"/>
            <p:cNvSpPr>
              <a:spLocks noChangeArrowheads="1"/>
            </p:cNvSpPr>
            <p:nvPr/>
          </p:nvSpPr>
          <p:spPr bwMode="auto">
            <a:xfrm>
              <a:off x="2499" y="1042"/>
              <a:ext cx="1527" cy="257"/>
            </a:xfrm>
            <a:prstGeom prst="wedgeRectCallout">
              <a:avLst>
                <a:gd name="adj1" fmla="val -21449"/>
                <a:gd name="adj2" fmla="val -87745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34817" name="WordArt 289"/>
            <p:cNvSpPr>
              <a:spLocks noChangeArrowheads="1" noChangeShapeType="1" noTextEdit="1"/>
            </p:cNvSpPr>
            <p:nvPr/>
          </p:nvSpPr>
          <p:spPr bwMode="auto">
            <a:xfrm>
              <a:off x="2539" y="1074"/>
              <a:ext cx="1429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双边假设检验问题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34803" name="Oval 275"/>
          <p:cNvSpPr>
            <a:spLocks noChangeArrowheads="1"/>
          </p:cNvSpPr>
          <p:nvPr/>
        </p:nvSpPr>
        <p:spPr bwMode="auto">
          <a:xfrm>
            <a:off x="4837113" y="933450"/>
            <a:ext cx="484187" cy="469900"/>
          </a:xfrm>
          <a:prstGeom prst="ellipse">
            <a:avLst/>
          </a:prstGeom>
          <a:noFill/>
          <a:ln w="19050" algn="ctr">
            <a:solidFill>
              <a:schemeClr val="accent2"/>
            </a:solidFill>
            <a:round/>
          </a:ln>
          <a:effectLst>
            <a:outerShdw dist="45791" dir="337859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4822" name="Group 294"/>
          <p:cNvGrpSpPr/>
          <p:nvPr/>
        </p:nvGrpSpPr>
        <p:grpSpPr bwMode="auto">
          <a:xfrm>
            <a:off x="837869" y="3852342"/>
            <a:ext cx="1738313" cy="407987"/>
            <a:chOff x="113" y="1320"/>
            <a:chExt cx="895" cy="257"/>
          </a:xfrm>
        </p:grpSpPr>
        <p:sp>
          <p:nvSpPr>
            <p:cNvPr id="534823" name="AutoShape 295"/>
            <p:cNvSpPr>
              <a:spLocks noChangeArrowheads="1"/>
            </p:cNvSpPr>
            <p:nvPr/>
          </p:nvSpPr>
          <p:spPr bwMode="auto">
            <a:xfrm>
              <a:off x="113" y="1320"/>
              <a:ext cx="895" cy="257"/>
            </a:xfrm>
            <a:prstGeom prst="wedgeRectCallout">
              <a:avLst>
                <a:gd name="adj1" fmla="val 67542"/>
                <a:gd name="adj2" fmla="val -22375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34824" name="WordArt 296"/>
            <p:cNvSpPr>
              <a:spLocks noChangeArrowheads="1" noChangeShapeType="1" noTextEdit="1"/>
            </p:cNvSpPr>
            <p:nvPr/>
          </p:nvSpPr>
          <p:spPr bwMode="auto">
            <a:xfrm>
              <a:off x="153" y="1352"/>
              <a:ext cx="805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检验统计量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34821" name="Oval 293"/>
          <p:cNvSpPr>
            <a:spLocks noChangeArrowheads="1"/>
          </p:cNvSpPr>
          <p:nvPr/>
        </p:nvSpPr>
        <p:spPr bwMode="auto">
          <a:xfrm>
            <a:off x="2905125" y="3598863"/>
            <a:ext cx="1684338" cy="708025"/>
          </a:xfrm>
          <a:prstGeom prst="ellipse">
            <a:avLst/>
          </a:prstGeom>
          <a:noFill/>
          <a:ln w="19050" algn="ctr">
            <a:solidFill>
              <a:schemeClr val="accent2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4826" name="Oval 298"/>
          <p:cNvSpPr>
            <a:spLocks noChangeArrowheads="1"/>
          </p:cNvSpPr>
          <p:nvPr/>
        </p:nvSpPr>
        <p:spPr bwMode="auto">
          <a:xfrm>
            <a:off x="5249863" y="4406900"/>
            <a:ext cx="1408112" cy="452438"/>
          </a:xfrm>
          <a:prstGeom prst="ellipse">
            <a:avLst/>
          </a:prstGeom>
          <a:noFill/>
          <a:ln w="19050" algn="ctr">
            <a:solidFill>
              <a:schemeClr val="accent2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4830" name="Group 302"/>
          <p:cNvGrpSpPr/>
          <p:nvPr/>
        </p:nvGrpSpPr>
        <p:grpSpPr bwMode="auto">
          <a:xfrm>
            <a:off x="5652757" y="5060429"/>
            <a:ext cx="1281112" cy="407988"/>
            <a:chOff x="3555" y="3162"/>
            <a:chExt cx="807" cy="257"/>
          </a:xfrm>
        </p:grpSpPr>
        <p:sp>
          <p:nvSpPr>
            <p:cNvPr id="534828" name="AutoShape 300"/>
            <p:cNvSpPr>
              <a:spLocks noChangeArrowheads="1"/>
            </p:cNvSpPr>
            <p:nvPr/>
          </p:nvSpPr>
          <p:spPr bwMode="auto">
            <a:xfrm>
              <a:off x="3555" y="3162"/>
              <a:ext cx="807" cy="257"/>
            </a:xfrm>
            <a:prstGeom prst="wedgeRectCallout">
              <a:avLst>
                <a:gd name="adj1" fmla="val -20755"/>
                <a:gd name="adj2" fmla="val -90856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34829" name="WordArt 301"/>
            <p:cNvSpPr>
              <a:spLocks noChangeArrowheads="1" noChangeShapeType="1" noTextEdit="1"/>
            </p:cNvSpPr>
            <p:nvPr/>
          </p:nvSpPr>
          <p:spPr bwMode="auto">
            <a:xfrm>
              <a:off x="3619" y="3202"/>
              <a:ext cx="677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拒绝域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4836" name="Group 308"/>
          <p:cNvGrpSpPr/>
          <p:nvPr/>
        </p:nvGrpSpPr>
        <p:grpSpPr bwMode="auto">
          <a:xfrm>
            <a:off x="6759244" y="6166917"/>
            <a:ext cx="1738313" cy="407987"/>
            <a:chOff x="3860" y="3851"/>
            <a:chExt cx="1095" cy="257"/>
          </a:xfrm>
        </p:grpSpPr>
        <p:sp>
          <p:nvSpPr>
            <p:cNvPr id="534832" name="AutoShape 304"/>
            <p:cNvSpPr>
              <a:spLocks noChangeArrowheads="1"/>
            </p:cNvSpPr>
            <p:nvPr/>
          </p:nvSpPr>
          <p:spPr bwMode="auto">
            <a:xfrm>
              <a:off x="3860" y="3851"/>
              <a:ext cx="1095" cy="257"/>
            </a:xfrm>
            <a:prstGeom prst="wedgeRectCallout">
              <a:avLst>
                <a:gd name="adj1" fmla="val -23333"/>
                <a:gd name="adj2" fmla="val -50389"/>
              </a:avLst>
            </a:prstGeom>
            <a:gradFill rotWithShape="1">
              <a:gsLst>
                <a:gs pos="0">
                  <a:schemeClr val="tx2"/>
                </a:gs>
                <a:gs pos="5000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34834" name="WordArt 306"/>
            <p:cNvSpPr>
              <a:spLocks noChangeArrowheads="1" noChangeShapeType="1" noTextEdit="1"/>
            </p:cNvSpPr>
            <p:nvPr/>
          </p:nvSpPr>
          <p:spPr bwMode="auto">
            <a:xfrm>
              <a:off x="4149" y="3888"/>
              <a:ext cx="733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检验法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34835" name="WordArt 307"/>
            <p:cNvSpPr>
              <a:spLocks noChangeArrowheads="1" noChangeShapeType="1" noTextEdit="1"/>
            </p:cNvSpPr>
            <p:nvPr/>
          </p:nvSpPr>
          <p:spPr bwMode="auto">
            <a:xfrm>
              <a:off x="3937" y="3918"/>
              <a:ext cx="168" cy="1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i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u</a:t>
              </a:r>
              <a:endParaRPr lang="zh-CN" altLang="en-US" sz="3600" i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126" name="WordArt 9"/>
          <p:cNvSpPr>
            <a:spLocks noChangeArrowheads="1" noChangeShapeType="1" noTextEdit="1"/>
          </p:cNvSpPr>
          <p:nvPr/>
        </p:nvSpPr>
        <p:spPr bwMode="auto">
          <a:xfrm>
            <a:off x="860425" y="683044"/>
            <a:ext cx="341313" cy="290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解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127" name="Group 149"/>
          <p:cNvGrpSpPr/>
          <p:nvPr/>
        </p:nvGrpSpPr>
        <p:grpSpPr bwMode="auto">
          <a:xfrm>
            <a:off x="1243013" y="454442"/>
            <a:ext cx="4475162" cy="663574"/>
            <a:chOff x="713" y="1727"/>
            <a:chExt cx="2819" cy="418"/>
          </a:xfrm>
        </p:grpSpPr>
        <p:sp>
          <p:nvSpPr>
            <p:cNvPr id="128" name="Rectangle 24"/>
            <p:cNvSpPr>
              <a:spLocks noChangeArrowheads="1"/>
            </p:cNvSpPr>
            <p:nvPr/>
          </p:nvSpPr>
          <p:spPr bwMode="auto">
            <a:xfrm>
              <a:off x="713" y="1727"/>
              <a:ext cx="2131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设每袋化肥重量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129" name="Object 25"/>
            <p:cNvGraphicFramePr>
              <a:graphicFrameLocks noChangeAspect="1"/>
            </p:cNvGraphicFramePr>
            <p:nvPr/>
          </p:nvGraphicFramePr>
          <p:xfrm>
            <a:off x="2271" y="1807"/>
            <a:ext cx="126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43" name="Equation" r:id="rId73" imgW="18592800" imgH="4876800" progId="Equation.DSMT4">
                    <p:embed/>
                  </p:oleObj>
                </mc:Choice>
                <mc:Fallback>
                  <p:oleObj name="Equation" r:id="rId73" imgW="18592800" imgH="4876800" progId="Equation.DSMT4">
                    <p:embed/>
                    <p:pic>
                      <p:nvPicPr>
                        <p:cNvPr id="0" name="图片 5627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1" y="1807"/>
                          <a:ext cx="1261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0" name="Rectangle 148"/>
          <p:cNvSpPr>
            <a:spLocks noChangeArrowheads="1"/>
          </p:cNvSpPr>
          <p:nvPr/>
        </p:nvSpPr>
        <p:spPr bwMode="auto">
          <a:xfrm>
            <a:off x="5507038" y="462381"/>
            <a:ext cx="2662237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要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检验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假设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131" name="Object 150"/>
          <p:cNvGraphicFramePr>
            <a:graphicFrameLocks noChangeAspect="1"/>
          </p:cNvGraphicFramePr>
          <p:nvPr/>
        </p:nvGraphicFramePr>
        <p:xfrm>
          <a:off x="2433214" y="991019"/>
          <a:ext cx="41497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44" name="Equation" r:id="rId74" imgW="39319200" imgH="4572000" progId="Equation.DSMT4">
                  <p:embed/>
                </p:oleObj>
              </mc:Choice>
              <mc:Fallback>
                <p:oleObj name="Equation" r:id="rId74" imgW="39319200" imgH="4572000" progId="Equation.DSMT4">
                  <p:embed/>
                  <p:pic>
                    <p:nvPicPr>
                      <p:cNvPr id="0" name="图片 5627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214" y="991019"/>
                        <a:ext cx="41497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2" name="Group 161"/>
          <p:cNvGrpSpPr/>
          <p:nvPr/>
        </p:nvGrpSpPr>
        <p:grpSpPr bwMode="auto">
          <a:xfrm>
            <a:off x="733425" y="1295819"/>
            <a:ext cx="7797800" cy="576262"/>
            <a:chOff x="392" y="2265"/>
            <a:chExt cx="4912" cy="363"/>
          </a:xfrm>
        </p:grpSpPr>
        <p:sp>
          <p:nvSpPr>
            <p:cNvPr id="133" name="Rectangle 152"/>
            <p:cNvSpPr>
              <a:spLocks noChangeArrowheads="1"/>
            </p:cNvSpPr>
            <p:nvPr/>
          </p:nvSpPr>
          <p:spPr bwMode="auto">
            <a:xfrm>
              <a:off x="392" y="2265"/>
              <a:ext cx="4912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因        故若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成立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   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的值应该偏小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134" name="Object 153"/>
            <p:cNvGraphicFramePr>
              <a:graphicFrameLocks noChangeAspect="1"/>
            </p:cNvGraphicFramePr>
            <p:nvPr/>
          </p:nvGraphicFramePr>
          <p:xfrm>
            <a:off x="3061" y="2333"/>
            <a:ext cx="72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45" name="Equation" r:id="rId75" imgW="10972800" imgH="4572000" progId="Equation.DSMT4">
                    <p:embed/>
                  </p:oleObj>
                </mc:Choice>
                <mc:Fallback>
                  <p:oleObj name="Equation" r:id="rId75" imgW="10972800" imgH="4572000" progId="Equation.DSMT4">
                    <p:embed/>
                    <p:pic>
                      <p:nvPicPr>
                        <p:cNvPr id="0" name="图片 5627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2333"/>
                          <a:ext cx="72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" name="Object 154"/>
            <p:cNvGraphicFramePr>
              <a:graphicFrameLocks noChangeAspect="1"/>
            </p:cNvGraphicFramePr>
            <p:nvPr/>
          </p:nvGraphicFramePr>
          <p:xfrm>
            <a:off x="2035" y="2341"/>
            <a:ext cx="3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46" name="Equation" r:id="rId76" imgW="4572000" imgH="4267200" progId="Equation.DSMT4">
                    <p:embed/>
                  </p:oleObj>
                </mc:Choice>
                <mc:Fallback>
                  <p:oleObj name="Equation" r:id="rId76" imgW="4572000" imgH="4267200" progId="Equation.DSMT4">
                    <p:embed/>
                    <p:pic>
                      <p:nvPicPr>
                        <p:cNvPr id="0" name="图片 5627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5" y="2341"/>
                          <a:ext cx="3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" name="Object 155"/>
            <p:cNvGraphicFramePr>
              <a:graphicFrameLocks noChangeAspect="1"/>
            </p:cNvGraphicFramePr>
            <p:nvPr/>
          </p:nvGraphicFramePr>
          <p:xfrm>
            <a:off x="655" y="2305"/>
            <a:ext cx="96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47" name="Equation" r:id="rId77" imgW="14630400" imgH="4876800" progId="Equation.DSMT4">
                    <p:embed/>
                  </p:oleObj>
                </mc:Choice>
                <mc:Fallback>
                  <p:oleObj name="Equation" r:id="rId77" imgW="14630400" imgH="4876800" progId="Equation.DSMT4">
                    <p:embed/>
                    <p:pic>
                      <p:nvPicPr>
                        <p:cNvPr id="0" name="图片 5627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" y="2305"/>
                          <a:ext cx="96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" name="Group 156"/>
          <p:cNvGrpSpPr/>
          <p:nvPr/>
        </p:nvGrpSpPr>
        <p:grpSpPr bwMode="auto">
          <a:xfrm>
            <a:off x="73025" y="1686344"/>
            <a:ext cx="5643563" cy="579437"/>
            <a:chOff x="0" y="2607"/>
            <a:chExt cx="3555" cy="365"/>
          </a:xfrm>
        </p:grpSpPr>
        <p:sp>
          <p:nvSpPr>
            <p:cNvPr id="138" name="Rectangle 157"/>
            <p:cNvSpPr>
              <a:spLocks noChangeArrowheads="1"/>
            </p:cNvSpPr>
            <p:nvPr/>
          </p:nvSpPr>
          <p:spPr bwMode="auto">
            <a:xfrm>
              <a:off x="0" y="2607"/>
              <a:ext cx="355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     的值偏大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则要拒绝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139" name="Object 158"/>
            <p:cNvGraphicFramePr>
              <a:graphicFrameLocks noChangeAspect="1"/>
            </p:cNvGraphicFramePr>
            <p:nvPr/>
          </p:nvGraphicFramePr>
          <p:xfrm>
            <a:off x="286" y="2657"/>
            <a:ext cx="80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48" name="Equation" r:id="rId78" imgW="12192000" imgH="4876800" progId="Equation.DSMT4">
                    <p:embed/>
                  </p:oleObj>
                </mc:Choice>
                <mc:Fallback>
                  <p:oleObj name="Equation" r:id="rId78" imgW="12192000" imgH="4876800" progId="Equation.DSMT4">
                    <p:embed/>
                    <p:pic>
                      <p:nvPicPr>
                        <p:cNvPr id="0" name="图片 5627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" y="2657"/>
                          <a:ext cx="80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" name="Object 159"/>
            <p:cNvGraphicFramePr>
              <a:graphicFrameLocks noChangeAspect="1"/>
            </p:cNvGraphicFramePr>
            <p:nvPr/>
          </p:nvGraphicFramePr>
          <p:xfrm>
            <a:off x="3003" y="2689"/>
            <a:ext cx="3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49" name="Equation" r:id="rId79" imgW="4572000" imgH="4267200" progId="Equation.DSMT4">
                    <p:embed/>
                  </p:oleObj>
                </mc:Choice>
                <mc:Fallback>
                  <p:oleObj name="Equation" r:id="rId79" imgW="4572000" imgH="4267200" progId="Equation.DSMT4">
                    <p:embed/>
                    <p:pic>
                      <p:nvPicPr>
                        <p:cNvPr id="0" name="图片 5627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3" y="2689"/>
                          <a:ext cx="3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1" name="Rectangle 147"/>
          <p:cNvSpPr>
            <a:spLocks noChangeArrowheads="1"/>
          </p:cNvSpPr>
          <p:nvPr/>
        </p:nvSpPr>
        <p:spPr bwMode="auto">
          <a:xfrm>
            <a:off x="8091488" y="1262481"/>
            <a:ext cx="110172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反之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42" name="Group 163"/>
          <p:cNvGrpSpPr/>
          <p:nvPr/>
        </p:nvGrpSpPr>
        <p:grpSpPr bwMode="auto">
          <a:xfrm>
            <a:off x="733425" y="2062581"/>
            <a:ext cx="4370388" cy="604838"/>
            <a:chOff x="72" y="3171"/>
            <a:chExt cx="2753" cy="381"/>
          </a:xfrm>
        </p:grpSpPr>
        <p:sp>
          <p:nvSpPr>
            <p:cNvPr id="143" name="Rectangle 164"/>
            <p:cNvSpPr>
              <a:spLocks noChangeArrowheads="1"/>
            </p:cNvSpPr>
            <p:nvPr/>
          </p:nvSpPr>
          <p:spPr bwMode="auto">
            <a:xfrm>
              <a:off x="72" y="3171"/>
              <a:ext cx="2753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取       使得</a:t>
              </a:r>
              <a:r>
                <a:rPr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144" name="Object 165"/>
            <p:cNvGraphicFramePr>
              <a:graphicFrameLocks noChangeAspect="1"/>
            </p:cNvGraphicFramePr>
            <p:nvPr/>
          </p:nvGraphicFramePr>
          <p:xfrm>
            <a:off x="366" y="3276"/>
            <a:ext cx="78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50" name="Equation" r:id="rId80" imgW="11887200" imgH="3657600" progId="Equation.DSMT4">
                    <p:embed/>
                  </p:oleObj>
                </mc:Choice>
                <mc:Fallback>
                  <p:oleObj name="Equation" r:id="rId80" imgW="11887200" imgH="3657600" progId="Equation.DSMT4">
                    <p:embed/>
                    <p:pic>
                      <p:nvPicPr>
                        <p:cNvPr id="0" name="图片 5627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" y="3276"/>
                          <a:ext cx="78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5" name="Object 166"/>
            <p:cNvGraphicFramePr>
              <a:graphicFrameLocks noChangeAspect="1"/>
            </p:cNvGraphicFramePr>
            <p:nvPr/>
          </p:nvGraphicFramePr>
          <p:xfrm>
            <a:off x="1616" y="3279"/>
            <a:ext cx="16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51" name="Equation" r:id="rId81" imgW="2438400" imgH="3352800" progId="Equation.DSMT4">
                    <p:embed/>
                  </p:oleObj>
                </mc:Choice>
                <mc:Fallback>
                  <p:oleObj name="Equation" r:id="rId81" imgW="2438400" imgH="3352800" progId="Equation.DSMT4">
                    <p:embed/>
                    <p:pic>
                      <p:nvPicPr>
                        <p:cNvPr id="0" name="图片 5627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6" y="3279"/>
                          <a:ext cx="16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6" name="Group 213"/>
          <p:cNvGrpSpPr/>
          <p:nvPr/>
        </p:nvGrpSpPr>
        <p:grpSpPr bwMode="auto">
          <a:xfrm>
            <a:off x="2501106" y="2465370"/>
            <a:ext cx="4249738" cy="960438"/>
            <a:chOff x="1441" y="3527"/>
            <a:chExt cx="2677" cy="605"/>
          </a:xfrm>
        </p:grpSpPr>
        <p:graphicFrame>
          <p:nvGraphicFramePr>
            <p:cNvPr id="147" name="Object 204"/>
            <p:cNvGraphicFramePr>
              <a:graphicFrameLocks noChangeAspect="1"/>
            </p:cNvGraphicFramePr>
            <p:nvPr/>
          </p:nvGraphicFramePr>
          <p:xfrm>
            <a:off x="1441" y="3527"/>
            <a:ext cx="2677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52" name="Equation" r:id="rId82" imgW="40233600" imgH="9144000" progId="Equation.DSMT4">
                    <p:embed/>
                  </p:oleObj>
                </mc:Choice>
                <mc:Fallback>
                  <p:oleObj name="Equation" r:id="rId82" imgW="40233600" imgH="9144000" progId="Equation.DSMT4">
                    <p:embed/>
                    <p:pic>
                      <p:nvPicPr>
                        <p:cNvPr id="0" name="图片 5627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" y="3527"/>
                          <a:ext cx="2677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" name="Object 207"/>
            <p:cNvGraphicFramePr>
              <a:graphicFrameLocks noChangeAspect="1"/>
            </p:cNvGraphicFramePr>
            <p:nvPr/>
          </p:nvGraphicFramePr>
          <p:xfrm>
            <a:off x="1839" y="3610"/>
            <a:ext cx="264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53" name="Equation" r:id="rId83" imgW="3962400" imgH="8839200" progId="Equation.DSMT4">
                    <p:embed/>
                  </p:oleObj>
                </mc:Choice>
                <mc:Fallback>
                  <p:oleObj name="Equation" r:id="rId83" imgW="3962400" imgH="8839200" progId="Equation.DSMT4">
                    <p:embed/>
                    <p:pic>
                      <p:nvPicPr>
                        <p:cNvPr id="0" name="图片 5627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9" y="3610"/>
                          <a:ext cx="264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" name="Object 208"/>
            <p:cNvGraphicFramePr>
              <a:graphicFrameLocks noChangeAspect="1"/>
            </p:cNvGraphicFramePr>
            <p:nvPr/>
          </p:nvGraphicFramePr>
          <p:xfrm>
            <a:off x="3432" y="3611"/>
            <a:ext cx="264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754" name="Equation" r:id="rId84" imgW="3962400" imgH="8839200" progId="Equation.DSMT4">
                    <p:embed/>
                  </p:oleObj>
                </mc:Choice>
                <mc:Fallback>
                  <p:oleObj name="Equation" r:id="rId84" imgW="3962400" imgH="8839200" progId="Equation.DSMT4">
                    <p:embed/>
                    <p:pic>
                      <p:nvPicPr>
                        <p:cNvPr id="0" name="图片 5627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2" y="3611"/>
                          <a:ext cx="264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819" name="Group 291"/>
          <p:cNvGrpSpPr/>
          <p:nvPr/>
        </p:nvGrpSpPr>
        <p:grpSpPr bwMode="auto">
          <a:xfrm>
            <a:off x="5876925" y="74679"/>
            <a:ext cx="1865313" cy="407987"/>
            <a:chOff x="3202" y="257"/>
            <a:chExt cx="895" cy="257"/>
          </a:xfrm>
        </p:grpSpPr>
        <p:sp>
          <p:nvSpPr>
            <p:cNvPr id="534812" name="AutoShape 284"/>
            <p:cNvSpPr>
              <a:spLocks noChangeArrowheads="1"/>
            </p:cNvSpPr>
            <p:nvPr/>
          </p:nvSpPr>
          <p:spPr bwMode="auto">
            <a:xfrm>
              <a:off x="3202" y="257"/>
              <a:ext cx="895" cy="257"/>
            </a:xfrm>
            <a:prstGeom prst="wedgeRectCallout">
              <a:avLst>
                <a:gd name="adj1" fmla="val -71971"/>
                <a:gd name="adj2" fmla="val 18784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34813" name="WordArt 285"/>
            <p:cNvSpPr>
              <a:spLocks noChangeArrowheads="1" noChangeShapeType="1" noTextEdit="1"/>
            </p:cNvSpPr>
            <p:nvPr/>
          </p:nvSpPr>
          <p:spPr bwMode="auto">
            <a:xfrm>
              <a:off x="3242" y="289"/>
              <a:ext cx="805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备择假设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3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3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3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3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34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3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1000"/>
                                        <p:tgtEl>
                                          <p:spTgt spid="53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53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3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34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34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4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4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5" dur="1000" fill="hold"/>
                                        <p:tgtEl>
                                          <p:spTgt spid="53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0" dur="1000"/>
                                        <p:tgtEl>
                                          <p:spTgt spid="53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3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534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534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534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0" dur="1000" fill="hold"/>
                                        <p:tgtEl>
                                          <p:spTgt spid="53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34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5347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534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81481E-6 L 0.01528 4.81481E-6 " pathEditMode="relative" rAng="0" ptsTypes="AA">
                                      <p:cBhvr>
                                        <p:cTn id="113" dur="1000" fill="hold"/>
                                        <p:tgtEl>
                                          <p:spTgt spid="5347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4" y="0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 2.59259E-6 L 0.02952 2.59259E-6 " pathEditMode="relative" rAng="0" ptsTypes="AA">
                                      <p:cBhvr>
                                        <p:cTn id="115" dur="1000" fill="hold"/>
                                        <p:tgtEl>
                                          <p:spTgt spid="5347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34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34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3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34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34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53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1000"/>
                                        <p:tgtEl>
                                          <p:spTgt spid="534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1000"/>
                                        <p:tgtEl>
                                          <p:spTgt spid="534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1000"/>
                                        <p:tgtEl>
                                          <p:spTgt spid="5345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1000"/>
                                        <p:tgtEl>
                                          <p:spTgt spid="5345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1000"/>
                                        <p:tgtEl>
                                          <p:spTgt spid="534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1000"/>
                                        <p:tgtEl>
                                          <p:spTgt spid="534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1000"/>
                                        <p:tgtEl>
                                          <p:spTgt spid="534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1000"/>
                                        <p:tgtEl>
                                          <p:spTgt spid="534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1000"/>
                                        <p:tgtEl>
                                          <p:spTgt spid="534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1000"/>
                                        <p:tgtEl>
                                          <p:spTgt spid="534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1000"/>
                                        <p:tgtEl>
                                          <p:spTgt spid="534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1000"/>
                                        <p:tgtEl>
                                          <p:spTgt spid="534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1000"/>
                                        <p:tgtEl>
                                          <p:spTgt spid="534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1000"/>
                                        <p:tgtEl>
                                          <p:spTgt spid="534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78" dur="1000" fill="hold"/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80" dur="1000" fill="hold"/>
                                        <p:tgtEl>
                                          <p:spTgt spid="5346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82" dur="1000" fill="hold"/>
                                        <p:tgtEl>
                                          <p:spTgt spid="5346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84" dur="1000" fill="hold"/>
                                        <p:tgtEl>
                                          <p:spTgt spid="5346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86" dur="1000" fill="hold"/>
                                        <p:tgtEl>
                                          <p:spTgt spid="5346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88" dur="1000" fill="hold"/>
                                        <p:tgtEl>
                                          <p:spTgt spid="5346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90" dur="1000" fill="hold"/>
                                        <p:tgtEl>
                                          <p:spTgt spid="5346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192" dur="1000" fill="hold"/>
                                        <p:tgtEl>
                                          <p:spTgt spid="5346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2.59259E-6 L 0.00138 -0.46111 " pathEditMode="relative" rAng="0" ptsTypes="AA">
                                      <p:cBhvr>
                                        <p:cTn id="194" dur="1000" fill="hold"/>
                                        <p:tgtEl>
                                          <p:spTgt spid="5347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2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53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534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53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9" dur="1000"/>
                                        <p:tgtEl>
                                          <p:spTgt spid="534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53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53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53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53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53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53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53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53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53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534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534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53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534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534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53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534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534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5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534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534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53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534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534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5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534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534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5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534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534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5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534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534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5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534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534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5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534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534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5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500"/>
                            </p:stCondLst>
                            <p:childTnLst>
                              <p:par>
                                <p:cTn id="3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500"/>
                            </p:stCondLst>
                            <p:childTnLst>
                              <p:par>
                                <p:cTn id="3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350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352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35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356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35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360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362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4075 " pathEditMode="relative" ptsTypes="AA">
                                      <p:cBhvr>
                                        <p:cTn id="364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2.59259E-6 L 0.00138 -0.46111 " pathEditMode="relative" rAng="0" ptsTypes="AA">
                                      <p:cBhvr>
                                        <p:cTn id="366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2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7" grpId="0" animBg="1"/>
      <p:bldP spid="534537" grpId="1" animBg="1"/>
      <p:bldP spid="534538" grpId="0"/>
      <p:bldP spid="534539" grpId="0"/>
      <p:bldP spid="534554" grpId="0"/>
      <p:bldP spid="534676" grpId="0"/>
      <p:bldP spid="534676" grpId="1"/>
      <p:bldP spid="534675" grpId="0"/>
      <p:bldP spid="534675" grpId="1"/>
      <p:bldP spid="534713" grpId="0" animBg="1"/>
      <p:bldP spid="534713" grpId="1" animBg="1"/>
      <p:bldP spid="534714" grpId="0" animBg="1"/>
      <p:bldP spid="534714" grpId="1" animBg="1"/>
      <p:bldP spid="534714" grpId="2" animBg="1"/>
      <p:bldP spid="534721" grpId="0" animBg="1"/>
      <p:bldP spid="534721" grpId="1" animBg="1"/>
      <p:bldP spid="534722" grpId="0" animBg="1"/>
      <p:bldP spid="534722" grpId="1" animBg="1"/>
      <p:bldP spid="534722" grpId="2" animBg="1"/>
      <p:bldP spid="534725" grpId="0" animBg="1"/>
      <p:bldP spid="534725" grpId="1" animBg="1"/>
      <p:bldP spid="534754" grpId="0" animBg="1"/>
      <p:bldP spid="534734" grpId="0" animBg="1"/>
      <p:bldP spid="534765" grpId="0"/>
      <p:bldP spid="534805" grpId="0" animBg="1"/>
      <p:bldP spid="534802" grpId="0" animBg="1"/>
      <p:bldP spid="534803" grpId="0" animBg="1"/>
      <p:bldP spid="534821" grpId="0" animBg="1"/>
      <p:bldP spid="534826" grpId="0" animBg="1"/>
      <p:bldP spid="126" grpId="0" animBg="1"/>
      <p:bldP spid="126" grpId="1" animBg="1"/>
      <p:bldP spid="130" grpId="0"/>
      <p:bldP spid="130" grpId="1"/>
      <p:bldP spid="141" grpId="0"/>
      <p:bldP spid="1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3" name="Rectangle 3"/>
          <p:cNvSpPr>
            <a:spLocks noChangeArrowheads="1"/>
          </p:cNvSpPr>
          <p:nvPr/>
        </p:nvSpPr>
        <p:spPr bwMode="auto">
          <a:xfrm>
            <a:off x="1192213" y="835025"/>
            <a:ext cx="1893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假设    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7124" name="Rectangle 4"/>
          <p:cNvSpPr>
            <a:spLocks noChangeArrowheads="1"/>
          </p:cNvSpPr>
          <p:nvPr/>
        </p:nvSpPr>
        <p:spPr bwMode="auto">
          <a:xfrm>
            <a:off x="-12700" y="1470025"/>
            <a:ext cx="2197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的提出基于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7125" name="Group 5"/>
          <p:cNvGrpSpPr/>
          <p:nvPr/>
        </p:nvGrpSpPr>
        <p:grpSpPr bwMode="auto">
          <a:xfrm>
            <a:off x="1166813" y="2711450"/>
            <a:ext cx="2859087" cy="561975"/>
            <a:chOff x="423" y="1842"/>
            <a:chExt cx="1801" cy="354"/>
          </a:xfrm>
        </p:grpSpPr>
        <p:sp>
          <p:nvSpPr>
            <p:cNvPr id="517126" name="Rectangle 6"/>
            <p:cNvSpPr>
              <a:spLocks noChangeArrowheads="1"/>
            </p:cNvSpPr>
            <p:nvPr/>
          </p:nvSpPr>
          <p:spPr bwMode="auto">
            <a:xfrm>
              <a:off x="423" y="1842"/>
              <a:ext cx="1801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因为  较小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且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7127" name="Object 7"/>
            <p:cNvGraphicFramePr>
              <a:graphicFrameLocks noChangeAspect="1"/>
            </p:cNvGraphicFramePr>
            <p:nvPr/>
          </p:nvGraphicFramePr>
          <p:xfrm>
            <a:off x="932" y="1961"/>
            <a:ext cx="220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855" name="Equation" r:id="rId1" imgW="3352800" imgH="3048000" progId="Equation.DSMT4">
                    <p:embed/>
                  </p:oleObj>
                </mc:Choice>
                <mc:Fallback>
                  <p:oleObj name="Equation" r:id="rId1" imgW="3352800" imgH="30480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" y="1961"/>
                          <a:ext cx="220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7176" name="Group 56"/>
          <p:cNvGrpSpPr/>
          <p:nvPr/>
        </p:nvGrpSpPr>
        <p:grpSpPr bwMode="auto">
          <a:xfrm>
            <a:off x="-1588" y="5251450"/>
            <a:ext cx="6148388" cy="525463"/>
            <a:chOff x="7" y="3308"/>
            <a:chExt cx="3873" cy="331"/>
          </a:xfrm>
        </p:grpSpPr>
        <p:sp>
          <p:nvSpPr>
            <p:cNvPr id="517175" name="Rectangle 55"/>
            <p:cNvSpPr>
              <a:spLocks noChangeArrowheads="1"/>
            </p:cNvSpPr>
            <p:nvPr/>
          </p:nvSpPr>
          <p:spPr bwMode="auto">
            <a:xfrm>
              <a:off x="7" y="3308"/>
              <a:ext cx="38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真实性，从而作出拒绝  </a:t>
              </a:r>
              <a:r>
                <a:rPr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的决策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7130" name="Object 10"/>
            <p:cNvGraphicFramePr>
              <a:graphicFrameLocks noChangeAspect="1"/>
            </p:cNvGraphicFramePr>
            <p:nvPr/>
          </p:nvGraphicFramePr>
          <p:xfrm>
            <a:off x="2310" y="3362"/>
            <a:ext cx="32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856" name="Equation" r:id="rId3" imgW="4876800" imgH="4267200" progId="Equation.DSMT4">
                    <p:embed/>
                  </p:oleObj>
                </mc:Choice>
                <mc:Fallback>
                  <p:oleObj name="Equation" r:id="rId3" imgW="4876800" imgH="42672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0" y="3362"/>
                          <a:ext cx="32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7177" name="Group 57"/>
          <p:cNvGrpSpPr/>
          <p:nvPr/>
        </p:nvGrpSpPr>
        <p:grpSpPr bwMode="auto">
          <a:xfrm>
            <a:off x="9525" y="4789493"/>
            <a:ext cx="9285288" cy="519113"/>
            <a:chOff x="6" y="3017"/>
            <a:chExt cx="5849" cy="327"/>
          </a:xfrm>
        </p:grpSpPr>
        <p:sp>
          <p:nvSpPr>
            <p:cNvPr id="517129" name="Rectangle 9"/>
            <p:cNvSpPr>
              <a:spLocks noChangeArrowheads="1"/>
            </p:cNvSpPr>
            <p:nvPr/>
          </p:nvSpPr>
          <p:spPr bwMode="auto">
            <a:xfrm>
              <a:off x="6" y="3017"/>
              <a:ext cx="58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而根据实际推断原理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如果该事件发生了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当然要怀疑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7131" name="Object 11"/>
            <p:cNvGraphicFramePr>
              <a:graphicFrameLocks noChangeAspect="1"/>
            </p:cNvGraphicFramePr>
            <p:nvPr/>
          </p:nvGraphicFramePr>
          <p:xfrm>
            <a:off x="5231" y="3067"/>
            <a:ext cx="32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857" name="Equation" r:id="rId5" imgW="4876800" imgH="4267200" progId="Equation.DSMT4">
                    <p:embed/>
                  </p:oleObj>
                </mc:Choice>
                <mc:Fallback>
                  <p:oleObj name="Equation" r:id="rId5" imgW="4876800" imgH="42672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1" y="3067"/>
                          <a:ext cx="32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7133" name="WordArt 13"/>
          <p:cNvSpPr>
            <a:spLocks noChangeArrowheads="1" noChangeShapeType="1" noTextEdit="1"/>
          </p:cNvSpPr>
          <p:nvPr/>
        </p:nvSpPr>
        <p:spPr bwMode="auto">
          <a:xfrm>
            <a:off x="3829050" y="652463"/>
            <a:ext cx="1949450" cy="41751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/>
                <a:latin typeface="方正舒体" panose="02010601030101010101" charset="-122"/>
                <a:ea typeface="方正舒体" panose="02010601030101010101" charset="-122"/>
              </a:rPr>
              <a:t>结果分析 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/>
              <a:latin typeface="方正舒体" panose="02010601030101010101" charset="-122"/>
              <a:ea typeface="方正舒体" panose="02010601030101010101" charset="-122"/>
            </a:endParaRPr>
          </a:p>
        </p:txBody>
      </p:sp>
      <p:pic>
        <p:nvPicPr>
          <p:cNvPr id="517134" name="Picture 14" descr="f125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981075"/>
            <a:ext cx="284163" cy="28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135" name="Picture 15" descr="f126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2911475"/>
            <a:ext cx="284163" cy="28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7149" name="Oval 29"/>
          <p:cNvSpPr>
            <a:spLocks noChangeArrowheads="1"/>
          </p:cNvSpPr>
          <p:nvPr/>
        </p:nvSpPr>
        <p:spPr bwMode="auto">
          <a:xfrm>
            <a:off x="1104900" y="4827588"/>
            <a:ext cx="2324100" cy="4572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7204" name="Group 84"/>
          <p:cNvGrpSpPr/>
          <p:nvPr/>
        </p:nvGrpSpPr>
        <p:grpSpPr bwMode="auto">
          <a:xfrm>
            <a:off x="793750" y="1890713"/>
            <a:ext cx="6280150" cy="519112"/>
            <a:chOff x="500" y="1183"/>
            <a:chExt cx="3956" cy="327"/>
          </a:xfrm>
        </p:grpSpPr>
        <p:sp>
          <p:nvSpPr>
            <p:cNvPr id="517156" name="Rectangle 36"/>
            <p:cNvSpPr>
              <a:spLocks noChangeArrowheads="1"/>
            </p:cNvSpPr>
            <p:nvPr/>
          </p:nvSpPr>
          <p:spPr bwMode="auto">
            <a:xfrm>
              <a:off x="720" y="1183"/>
              <a:ext cx="37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当日开工时机器并未出现明显异常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7157" name="WordArt 37"/>
            <p:cNvSpPr>
              <a:spLocks noChangeArrowheads="1" noChangeShapeType="1" noTextEdit="1"/>
            </p:cNvSpPr>
            <p:nvPr/>
          </p:nvSpPr>
          <p:spPr bwMode="auto">
            <a:xfrm>
              <a:off x="500" y="1282"/>
              <a:ext cx="205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i="1" kern="10" dirty="0">
                  <a:ln w="12700">
                    <a:solidFill>
                      <a:srgbClr val="99CCFF"/>
                    </a:solidFill>
                    <a:round/>
                  </a:ln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①</a:t>
              </a:r>
              <a:endParaRPr lang="zh-CN" altLang="en-US" sz="3600" b="1" i="1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7203" name="Group 83"/>
          <p:cNvGrpSpPr/>
          <p:nvPr/>
        </p:nvGrpSpPr>
        <p:grpSpPr bwMode="auto">
          <a:xfrm>
            <a:off x="784225" y="2309813"/>
            <a:ext cx="8080375" cy="519112"/>
            <a:chOff x="494" y="1447"/>
            <a:chExt cx="5090" cy="327"/>
          </a:xfrm>
        </p:grpSpPr>
        <p:sp>
          <p:nvSpPr>
            <p:cNvPr id="517155" name="Rectangle 35"/>
            <p:cNvSpPr>
              <a:spLocks noChangeArrowheads="1"/>
            </p:cNvSpPr>
            <p:nvPr/>
          </p:nvSpPr>
          <p:spPr bwMode="auto">
            <a:xfrm>
              <a:off x="728" y="1447"/>
              <a:ext cx="48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检验者认为机器正常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反映了生产车间的倾向性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7158" name="WordArt 38"/>
            <p:cNvSpPr>
              <a:spLocks noChangeArrowheads="1" noChangeShapeType="1" noTextEdit="1"/>
            </p:cNvSpPr>
            <p:nvPr/>
          </p:nvSpPr>
          <p:spPr bwMode="auto">
            <a:xfrm>
              <a:off x="494" y="1540"/>
              <a:ext cx="205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i="1" kern="10">
                  <a:ln w="12700">
                    <a:solidFill>
                      <a:srgbClr val="99CCFF"/>
                    </a:solidFill>
                    <a:round/>
                  </a:ln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②</a:t>
              </a:r>
              <a:endParaRPr lang="zh-CN" altLang="en-US" sz="3600" b="1" i="1" kern="1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7165" name="Group 45"/>
          <p:cNvGrpSpPr/>
          <p:nvPr/>
        </p:nvGrpSpPr>
        <p:grpSpPr bwMode="auto">
          <a:xfrm>
            <a:off x="2528888" y="3154363"/>
            <a:ext cx="4413250" cy="939800"/>
            <a:chOff x="1593" y="2019"/>
            <a:chExt cx="2780" cy="592"/>
          </a:xfrm>
        </p:grpSpPr>
        <p:graphicFrame>
          <p:nvGraphicFramePr>
            <p:cNvPr id="517137" name="Object 17"/>
            <p:cNvGraphicFramePr>
              <a:graphicFrameLocks noChangeAspect="1"/>
            </p:cNvGraphicFramePr>
            <p:nvPr/>
          </p:nvGraphicFramePr>
          <p:xfrm>
            <a:off x="1593" y="2019"/>
            <a:ext cx="2780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858" name="Equation" r:id="rId9" imgW="42367200" imgH="9144000" progId="Equation.DSMT4">
                    <p:embed/>
                  </p:oleObj>
                </mc:Choice>
                <mc:Fallback>
                  <p:oleObj name="Equation" r:id="rId9" imgW="42367200" imgH="91440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3" y="2019"/>
                          <a:ext cx="2780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161" name="Object 41"/>
            <p:cNvGraphicFramePr>
              <a:graphicFrameLocks noChangeAspect="1"/>
            </p:cNvGraphicFramePr>
            <p:nvPr/>
          </p:nvGraphicFramePr>
          <p:xfrm>
            <a:off x="1784" y="2104"/>
            <a:ext cx="260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859" name="Equation" r:id="rId11" imgW="3962400" imgH="8839200" progId="Equation.DSMT4">
                    <p:embed/>
                  </p:oleObj>
                </mc:Choice>
                <mc:Fallback>
                  <p:oleObj name="Equation" r:id="rId11" imgW="3962400" imgH="88392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4" y="2104"/>
                          <a:ext cx="260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162" name="Object 42"/>
            <p:cNvGraphicFramePr>
              <a:graphicFrameLocks noChangeAspect="1"/>
            </p:cNvGraphicFramePr>
            <p:nvPr/>
          </p:nvGraphicFramePr>
          <p:xfrm>
            <a:off x="3769" y="2105"/>
            <a:ext cx="260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860" name="Equation" r:id="rId13" imgW="3962400" imgH="8839200" progId="Equation.DSMT4">
                    <p:embed/>
                  </p:oleObj>
                </mc:Choice>
                <mc:Fallback>
                  <p:oleObj name="Equation" r:id="rId13" imgW="3962400" imgH="883920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9" y="2105"/>
                          <a:ext cx="260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163" name="Rectangle 43"/>
            <p:cNvSpPr>
              <a:spLocks noChangeArrowheads="1"/>
            </p:cNvSpPr>
            <p:nvPr/>
          </p:nvSpPr>
          <p:spPr bwMode="auto">
            <a:xfrm>
              <a:off x="3585" y="2144"/>
              <a:ext cx="4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真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7174" name="Group 54"/>
          <p:cNvGrpSpPr/>
          <p:nvPr/>
        </p:nvGrpSpPr>
        <p:grpSpPr bwMode="auto">
          <a:xfrm>
            <a:off x="712788" y="3970340"/>
            <a:ext cx="8291512" cy="938213"/>
            <a:chOff x="449" y="2533"/>
            <a:chExt cx="5223" cy="591"/>
          </a:xfrm>
        </p:grpSpPr>
        <p:sp>
          <p:nvSpPr>
            <p:cNvPr id="517141" name="Rectangle 21"/>
            <p:cNvSpPr>
              <a:spLocks noChangeArrowheads="1"/>
            </p:cNvSpPr>
            <p:nvPr/>
          </p:nvSpPr>
          <p:spPr bwMode="auto">
            <a:xfrm>
              <a:off x="449" y="2651"/>
              <a:ext cx="22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说明当 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为真时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  </a:t>
              </a:r>
              <a:endPara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7142" name="Object 22"/>
            <p:cNvGraphicFramePr>
              <a:graphicFrameLocks noChangeAspect="1"/>
            </p:cNvGraphicFramePr>
            <p:nvPr/>
          </p:nvGraphicFramePr>
          <p:xfrm>
            <a:off x="1164" y="2704"/>
            <a:ext cx="32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861" name="Equation" r:id="rId15" imgW="4876800" imgH="4267200" progId="Equation.DSMT4">
                    <p:embed/>
                  </p:oleObj>
                </mc:Choice>
                <mc:Fallback>
                  <p:oleObj name="Equation" r:id="rId15" imgW="4876800" imgH="42672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4" y="2704"/>
                          <a:ext cx="32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147" name="Rectangle 27"/>
            <p:cNvSpPr>
              <a:spLocks noChangeArrowheads="1"/>
            </p:cNvSpPr>
            <p:nvPr/>
          </p:nvSpPr>
          <p:spPr bwMode="auto">
            <a:xfrm>
              <a:off x="3778" y="2653"/>
              <a:ext cx="18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是小概率事件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7173" name="Group 53"/>
            <p:cNvGrpSpPr/>
            <p:nvPr/>
          </p:nvGrpSpPr>
          <p:grpSpPr bwMode="auto">
            <a:xfrm>
              <a:off x="2201" y="2533"/>
              <a:ext cx="1661" cy="591"/>
              <a:chOff x="2217" y="2533"/>
              <a:chExt cx="1661" cy="591"/>
            </a:xfrm>
          </p:grpSpPr>
          <p:graphicFrame>
            <p:nvGraphicFramePr>
              <p:cNvPr id="517167" name="Object 47"/>
              <p:cNvGraphicFramePr>
                <a:graphicFrameLocks noChangeAspect="1"/>
              </p:cNvGraphicFramePr>
              <p:nvPr/>
            </p:nvGraphicFramePr>
            <p:xfrm>
              <a:off x="2282" y="2533"/>
              <a:ext cx="1500" cy="5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7862" name="Equation" r:id="rId17" imgW="22860000" imgH="9144000" progId="Equation.DSMT4">
                      <p:embed/>
                    </p:oleObj>
                  </mc:Choice>
                  <mc:Fallback>
                    <p:oleObj name="Equation" r:id="rId17" imgW="22860000" imgH="9144000" progId="Equation.DSMT4">
                      <p:embed/>
                      <p:pic>
                        <p:nvPicPr>
                          <p:cNvPr id="0" name="Object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2" y="2533"/>
                            <a:ext cx="1500" cy="5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7168" name="Object 48"/>
              <p:cNvGraphicFramePr>
                <a:graphicFrameLocks noChangeAspect="1"/>
              </p:cNvGraphicFramePr>
              <p:nvPr/>
            </p:nvGraphicFramePr>
            <p:xfrm>
              <a:off x="2217" y="2601"/>
              <a:ext cx="260" cy="4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7863" name="公式" r:id="rId19" imgW="215900" imgH="495300" progId="Equation.3">
                      <p:embed/>
                    </p:oleObj>
                  </mc:Choice>
                  <mc:Fallback>
                    <p:oleObj name="公式" r:id="rId19" imgW="215900" imgH="495300" progId="Equation.3">
                      <p:embed/>
                      <p:pic>
                        <p:nvPicPr>
                          <p:cNvPr id="0" name="Object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17" y="2601"/>
                            <a:ext cx="260" cy="4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7169" name="Object 49"/>
              <p:cNvGraphicFramePr>
                <a:graphicFrameLocks noChangeAspect="1"/>
              </p:cNvGraphicFramePr>
              <p:nvPr/>
            </p:nvGraphicFramePr>
            <p:xfrm>
              <a:off x="3618" y="2602"/>
              <a:ext cx="260" cy="4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7864" name="公式" r:id="rId21" imgW="215900" imgH="495300" progId="Equation.3">
                      <p:embed/>
                    </p:oleObj>
                  </mc:Choice>
                  <mc:Fallback>
                    <p:oleObj name="公式" r:id="rId21" imgW="215900" imgH="495300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18" y="2602"/>
                            <a:ext cx="260" cy="4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17184" name="Group 64"/>
          <p:cNvGrpSpPr/>
          <p:nvPr/>
        </p:nvGrpSpPr>
        <p:grpSpPr bwMode="auto">
          <a:xfrm>
            <a:off x="798513" y="5826125"/>
            <a:ext cx="3957637" cy="301625"/>
            <a:chOff x="527" y="3966"/>
            <a:chExt cx="2493" cy="190"/>
          </a:xfrm>
        </p:grpSpPr>
        <p:sp>
          <p:nvSpPr>
            <p:cNvPr id="517178" name="WordArt 58"/>
            <p:cNvSpPr>
              <a:spLocks noChangeArrowheads="1" noChangeShapeType="1" noTextEdit="1"/>
            </p:cNvSpPr>
            <p:nvPr/>
          </p:nvSpPr>
          <p:spPr bwMode="auto">
            <a:xfrm>
              <a:off x="527" y="3973"/>
              <a:ext cx="1109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accent2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检验原则三</a:t>
              </a:r>
              <a:r>
                <a:rPr lang="en-US" altLang="zh-CN" sz="3600" b="1" kern="10">
                  <a:ln w="12700">
                    <a:solidFill>
                      <a:schemeClr val="accent2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:</a:t>
              </a:r>
              <a:endParaRPr lang="zh-CN" altLang="en-US" sz="3600" b="1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7183" name="WordArt 63"/>
            <p:cNvSpPr>
              <a:spLocks noChangeArrowheads="1" noChangeShapeType="1" noTextEdit="1"/>
            </p:cNvSpPr>
            <p:nvPr/>
          </p:nvSpPr>
          <p:spPr bwMode="auto">
            <a:xfrm>
              <a:off x="1753" y="3966"/>
              <a:ext cx="1267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概率反证法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7189" name="Freeform 69"/>
          <p:cNvSpPr/>
          <p:nvPr/>
        </p:nvSpPr>
        <p:spPr bwMode="auto">
          <a:xfrm>
            <a:off x="709613" y="6146800"/>
            <a:ext cx="4090987" cy="58738"/>
          </a:xfrm>
          <a:custGeom>
            <a:avLst/>
            <a:gdLst>
              <a:gd name="T0" fmla="*/ 65 w 2577"/>
              <a:gd name="T1" fmla="*/ 0 h 37"/>
              <a:gd name="T2" fmla="*/ 121 w 2577"/>
              <a:gd name="T3" fmla="*/ 32 h 37"/>
              <a:gd name="T4" fmla="*/ 793 w 2577"/>
              <a:gd name="T5" fmla="*/ 32 h 37"/>
              <a:gd name="T6" fmla="*/ 1961 w 2577"/>
              <a:gd name="T7" fmla="*/ 32 h 37"/>
              <a:gd name="T8" fmla="*/ 2577 w 2577"/>
              <a:gd name="T9" fmla="*/ 24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77" h="37">
                <a:moveTo>
                  <a:pt x="65" y="0"/>
                </a:moveTo>
                <a:cubicBezTo>
                  <a:pt x="32" y="13"/>
                  <a:pt x="0" y="27"/>
                  <a:pt x="121" y="32"/>
                </a:cubicBezTo>
                <a:cubicBezTo>
                  <a:pt x="242" y="37"/>
                  <a:pt x="486" y="32"/>
                  <a:pt x="793" y="32"/>
                </a:cubicBezTo>
                <a:cubicBezTo>
                  <a:pt x="1100" y="32"/>
                  <a:pt x="1664" y="33"/>
                  <a:pt x="1961" y="32"/>
                </a:cubicBezTo>
                <a:cubicBezTo>
                  <a:pt x="2258" y="31"/>
                  <a:pt x="2417" y="27"/>
                  <a:pt x="2577" y="2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17202" name="Group 82"/>
          <p:cNvGrpSpPr/>
          <p:nvPr/>
        </p:nvGrpSpPr>
        <p:grpSpPr bwMode="auto">
          <a:xfrm>
            <a:off x="5446713" y="5399088"/>
            <a:ext cx="3262312" cy="1119187"/>
            <a:chOff x="3431" y="3425"/>
            <a:chExt cx="2055" cy="705"/>
          </a:xfrm>
          <a:solidFill>
            <a:schemeClr val="accent2">
              <a:lumMod val="75000"/>
            </a:schemeClr>
          </a:solidFill>
        </p:grpSpPr>
        <p:sp>
          <p:nvSpPr>
            <p:cNvPr id="517191" name="AutoShape 71"/>
            <p:cNvSpPr>
              <a:spLocks noChangeArrowheads="1"/>
            </p:cNvSpPr>
            <p:nvPr/>
          </p:nvSpPr>
          <p:spPr bwMode="auto">
            <a:xfrm>
              <a:off x="3431" y="3425"/>
              <a:ext cx="2055" cy="705"/>
            </a:xfrm>
            <a:prstGeom prst="wedgeRectCallout">
              <a:avLst>
                <a:gd name="adj1" fmla="val -66935"/>
                <a:gd name="adj2" fmla="val 16810"/>
              </a:avLst>
            </a:prstGeom>
            <a:grpFill/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17192" name="WordArt 72"/>
            <p:cNvSpPr>
              <a:spLocks noChangeArrowheads="1" noChangeShapeType="1" noTextEdit="1"/>
            </p:cNvSpPr>
            <p:nvPr/>
          </p:nvSpPr>
          <p:spPr bwMode="auto">
            <a:xfrm>
              <a:off x="3530" y="3443"/>
              <a:ext cx="1885" cy="440"/>
            </a:xfrm>
            <a:prstGeom prst="rect">
              <a:avLst/>
            </a:prstGeom>
            <a:grpFill/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如果想检验某“结论”</a:t>
              </a:r>
              <a:endParaRPr lang="zh-CN" altLang="en-US" sz="3600" b="1" kern="10" dirty="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成立，则应提出</a:t>
              </a:r>
              <a:r>
                <a:rPr lang="zh-CN" altLang="en-US" sz="3600" b="1" kern="10" dirty="0" smtClean="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原假设</a:t>
              </a:r>
              <a:endParaRPr lang="zh-CN" altLang="en-US" sz="3600" b="1" kern="10" dirty="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7201" name="Group 81"/>
            <p:cNvGrpSpPr/>
            <p:nvPr/>
          </p:nvGrpSpPr>
          <p:grpSpPr bwMode="auto">
            <a:xfrm>
              <a:off x="3673" y="3933"/>
              <a:ext cx="303" cy="170"/>
              <a:chOff x="3673" y="3933"/>
              <a:chExt cx="303" cy="170"/>
            </a:xfrm>
            <a:grpFill/>
          </p:grpSpPr>
          <p:sp>
            <p:nvSpPr>
              <p:cNvPr id="517195" name="WordArt 7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7" y="4033"/>
                <a:ext cx="54" cy="70"/>
              </a:xfrm>
              <a:prstGeom prst="rect">
                <a:avLst/>
              </a:prstGeom>
              <a:grpFill/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7196" name="WordArt 7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73" y="3933"/>
                <a:ext cx="153" cy="154"/>
              </a:xfrm>
              <a:prstGeom prst="rect">
                <a:avLst/>
              </a:prstGeom>
              <a:grpFill/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7197" name="WordArt 7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948" y="4008"/>
                <a:ext cx="28" cy="79"/>
              </a:xfrm>
              <a:prstGeom prst="rect">
                <a:avLst/>
              </a:prstGeom>
              <a:grpFill/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：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17198" name="WordArt 78"/>
            <p:cNvSpPr>
              <a:spLocks noChangeArrowheads="1" noChangeShapeType="1" noTextEdit="1"/>
            </p:cNvSpPr>
            <p:nvPr/>
          </p:nvSpPr>
          <p:spPr bwMode="auto">
            <a:xfrm>
              <a:off x="4052" y="3917"/>
              <a:ext cx="1211" cy="188"/>
            </a:xfrm>
            <a:prstGeom prst="rect">
              <a:avLst/>
            </a:prstGeom>
            <a:grpFill/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“结论”不成立</a:t>
              </a:r>
              <a:endParaRPr lang="zh-CN" altLang="en-US" sz="3600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517205" name="Object 85"/>
          <p:cNvGraphicFramePr>
            <a:graphicFrameLocks noChangeAspect="1"/>
          </p:cNvGraphicFramePr>
          <p:nvPr/>
        </p:nvGraphicFramePr>
        <p:xfrm>
          <a:off x="2581275" y="1284288"/>
          <a:ext cx="41497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865" name="Equation" r:id="rId23" imgW="39319200" imgH="4572000" progId="Equation.DSMT4">
                  <p:embed/>
                </p:oleObj>
              </mc:Choice>
              <mc:Fallback>
                <p:oleObj name="Equation" r:id="rId23" imgW="39319200" imgH="45720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1284288"/>
                        <a:ext cx="41497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7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7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7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7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7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7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1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1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1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7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7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1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1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1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1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1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17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17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517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1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17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17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1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7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17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3" grpId="0"/>
      <p:bldP spid="517124" grpId="0"/>
      <p:bldP spid="517133" grpId="0" animBg="1"/>
      <p:bldP spid="517149" grpId="0" animBg="1"/>
      <p:bldP spid="517149" grpId="1" animBg="1"/>
      <p:bldP spid="51718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146" name="Group 2"/>
          <p:cNvGrpSpPr/>
          <p:nvPr/>
        </p:nvGrpSpPr>
        <p:grpSpPr bwMode="auto">
          <a:xfrm>
            <a:off x="838200" y="4987925"/>
            <a:ext cx="4117975" cy="536575"/>
            <a:chOff x="194" y="2813"/>
            <a:chExt cx="2594" cy="338"/>
          </a:xfrm>
        </p:grpSpPr>
        <p:sp>
          <p:nvSpPr>
            <p:cNvPr id="518147" name="Rectangle 3"/>
            <p:cNvSpPr>
              <a:spLocks noChangeArrowheads="1"/>
            </p:cNvSpPr>
            <p:nvPr/>
          </p:nvSpPr>
          <p:spPr bwMode="auto">
            <a:xfrm>
              <a:off x="194" y="2813"/>
              <a:ext cx="25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   即意味着接受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8148" name="Object 4"/>
            <p:cNvGraphicFramePr>
              <a:graphicFrameLocks noChangeAspect="1"/>
            </p:cNvGraphicFramePr>
            <p:nvPr/>
          </p:nvGraphicFramePr>
          <p:xfrm>
            <a:off x="740" y="2856"/>
            <a:ext cx="33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622" name="Equation" r:id="rId1" imgW="4572000" imgH="4267200" progId="Equation.DSMT4">
                    <p:embed/>
                  </p:oleObj>
                </mc:Choice>
                <mc:Fallback>
                  <p:oleObj name="Equation" r:id="rId1" imgW="4572000" imgH="42672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" y="2856"/>
                          <a:ext cx="33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8149" name="Object 5"/>
            <p:cNvGraphicFramePr>
              <a:graphicFrameLocks noChangeAspect="1"/>
            </p:cNvGraphicFramePr>
            <p:nvPr/>
          </p:nvGraphicFramePr>
          <p:xfrm>
            <a:off x="2387" y="2850"/>
            <a:ext cx="33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623" name="Equation" r:id="rId3" imgW="4572000" imgH="4267200" progId="Equation.DSMT4">
                    <p:embed/>
                  </p:oleObj>
                </mc:Choice>
                <mc:Fallback>
                  <p:oleObj name="Equation" r:id="rId3" imgW="4572000" imgH="4267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7" y="2850"/>
                          <a:ext cx="33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8150" name="Group 6"/>
          <p:cNvGrpSpPr/>
          <p:nvPr/>
        </p:nvGrpSpPr>
        <p:grpSpPr bwMode="auto">
          <a:xfrm>
            <a:off x="850900" y="5475288"/>
            <a:ext cx="5580063" cy="541337"/>
            <a:chOff x="202" y="3088"/>
            <a:chExt cx="3515" cy="341"/>
          </a:xfrm>
        </p:grpSpPr>
        <p:sp>
          <p:nvSpPr>
            <p:cNvPr id="518151" name="Rectangle 7"/>
            <p:cNvSpPr>
              <a:spLocks noChangeArrowheads="1"/>
            </p:cNvSpPr>
            <p:nvPr/>
          </p:nvSpPr>
          <p:spPr bwMode="auto">
            <a:xfrm>
              <a:off x="202" y="3088"/>
              <a:ext cx="35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   的拒绝域即是   的接受域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8152" name="Object 8"/>
            <p:cNvGraphicFramePr>
              <a:graphicFrameLocks noChangeAspect="1"/>
            </p:cNvGraphicFramePr>
            <p:nvPr/>
          </p:nvGraphicFramePr>
          <p:xfrm>
            <a:off x="2198" y="3124"/>
            <a:ext cx="33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624" name="Equation" r:id="rId5" imgW="4572000" imgH="4267200" progId="Equation.DSMT4">
                    <p:embed/>
                  </p:oleObj>
                </mc:Choice>
                <mc:Fallback>
                  <p:oleObj name="Equation" r:id="rId5" imgW="4572000" imgH="42672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8" y="3124"/>
                          <a:ext cx="33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8153" name="Object 9"/>
            <p:cNvGraphicFramePr>
              <a:graphicFrameLocks noChangeAspect="1"/>
            </p:cNvGraphicFramePr>
            <p:nvPr/>
          </p:nvGraphicFramePr>
          <p:xfrm>
            <a:off x="505" y="3134"/>
            <a:ext cx="33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625" name="Equation" r:id="rId7" imgW="4572000" imgH="4267200" progId="Equation.DSMT4">
                    <p:embed/>
                  </p:oleObj>
                </mc:Choice>
                <mc:Fallback>
                  <p:oleObj name="Equation" r:id="rId7" imgW="4572000" imgH="42672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" y="3134"/>
                          <a:ext cx="33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8155" name="WordArt 11"/>
          <p:cNvSpPr>
            <a:spLocks noChangeArrowheads="1" noChangeShapeType="1" noTextEdit="1"/>
          </p:cNvSpPr>
          <p:nvPr/>
        </p:nvSpPr>
        <p:spPr bwMode="auto">
          <a:xfrm>
            <a:off x="906463" y="1538288"/>
            <a:ext cx="1639887" cy="2524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3175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FFFF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检验的原则</a:t>
            </a:r>
            <a:endParaRPr lang="zh-CN" altLang="en-US" sz="3600" b="1" kern="10">
              <a:ln w="3175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FFFF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8165" name="Group 21"/>
          <p:cNvGrpSpPr/>
          <p:nvPr/>
        </p:nvGrpSpPr>
        <p:grpSpPr bwMode="auto">
          <a:xfrm>
            <a:off x="85725" y="3262314"/>
            <a:ext cx="9474200" cy="1031875"/>
            <a:chOff x="46" y="1999"/>
            <a:chExt cx="5968" cy="650"/>
          </a:xfrm>
        </p:grpSpPr>
        <p:sp>
          <p:nvSpPr>
            <p:cNvPr id="518166" name="Rectangle 22"/>
            <p:cNvSpPr>
              <a:spLocks noChangeArrowheads="1"/>
            </p:cNvSpPr>
            <p:nvPr/>
          </p:nvSpPr>
          <p:spPr bwMode="auto">
            <a:xfrm>
              <a:off x="46" y="1999"/>
              <a:ext cx="5747" cy="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依据上述原则，对原假设   作出“拒绝”或“接受”的决策，称为在显著性水平  下，对   进行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8167" name="Object 23"/>
            <p:cNvGraphicFramePr>
              <a:graphicFrameLocks noChangeAspect="1"/>
            </p:cNvGraphicFramePr>
            <p:nvPr/>
          </p:nvGraphicFramePr>
          <p:xfrm>
            <a:off x="3061" y="2049"/>
            <a:ext cx="33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626" name="Equation" r:id="rId9" imgW="4572000" imgH="4267200" progId="Equation.DSMT4">
                    <p:embed/>
                  </p:oleObj>
                </mc:Choice>
                <mc:Fallback>
                  <p:oleObj name="Equation" r:id="rId9" imgW="4572000" imgH="42672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2049"/>
                          <a:ext cx="33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8168" name="Object 24"/>
            <p:cNvGraphicFramePr>
              <a:graphicFrameLocks noChangeAspect="1"/>
            </p:cNvGraphicFramePr>
            <p:nvPr/>
          </p:nvGraphicFramePr>
          <p:xfrm>
            <a:off x="2798" y="2349"/>
            <a:ext cx="243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627" name="Equation" r:id="rId11" imgW="3352800" imgH="3048000" progId="Equation.DSMT4">
                    <p:embed/>
                  </p:oleObj>
                </mc:Choice>
                <mc:Fallback>
                  <p:oleObj name="Equation" r:id="rId11" imgW="3352800" imgH="30480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8" y="2349"/>
                          <a:ext cx="243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8169" name="Object 25"/>
            <p:cNvGraphicFramePr>
              <a:graphicFrameLocks noChangeAspect="1"/>
            </p:cNvGraphicFramePr>
            <p:nvPr/>
          </p:nvGraphicFramePr>
          <p:xfrm>
            <a:off x="3754" y="2324"/>
            <a:ext cx="33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628" name="Equation" r:id="rId13" imgW="4572000" imgH="4267200" progId="Equation.DSMT4">
                    <p:embed/>
                  </p:oleObj>
                </mc:Choice>
                <mc:Fallback>
                  <p:oleObj name="Equation" r:id="rId13" imgW="4572000" imgH="42672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2324"/>
                          <a:ext cx="33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8170" name="Rectangle 26"/>
            <p:cNvSpPr>
              <a:spLocks noChangeArrowheads="1"/>
            </p:cNvSpPr>
            <p:nvPr/>
          </p:nvSpPr>
          <p:spPr bwMode="auto">
            <a:xfrm>
              <a:off x="4425" y="2268"/>
              <a:ext cx="1589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显著性检验</a:t>
              </a:r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8185" name="Group 41"/>
          <p:cNvGrpSpPr/>
          <p:nvPr/>
        </p:nvGrpSpPr>
        <p:grpSpPr bwMode="auto">
          <a:xfrm>
            <a:off x="2957513" y="784225"/>
            <a:ext cx="5024437" cy="301625"/>
            <a:chOff x="519" y="446"/>
            <a:chExt cx="3165" cy="190"/>
          </a:xfrm>
        </p:grpSpPr>
        <p:sp>
          <p:nvSpPr>
            <p:cNvPr id="518172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519" y="453"/>
              <a:ext cx="1109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检验原则一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: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8173" name="Group 29"/>
            <p:cNvGrpSpPr/>
            <p:nvPr/>
          </p:nvGrpSpPr>
          <p:grpSpPr bwMode="auto">
            <a:xfrm>
              <a:off x="1745" y="446"/>
              <a:ext cx="1939" cy="188"/>
              <a:chOff x="1609" y="454"/>
              <a:chExt cx="1939" cy="188"/>
            </a:xfrm>
          </p:grpSpPr>
          <p:grpSp>
            <p:nvGrpSpPr>
              <p:cNvPr id="518174" name="Group 30"/>
              <p:cNvGrpSpPr/>
              <p:nvPr/>
            </p:nvGrpSpPr>
            <p:grpSpPr bwMode="auto">
              <a:xfrm>
                <a:off x="1845" y="477"/>
                <a:ext cx="220" cy="162"/>
                <a:chOff x="1853" y="637"/>
                <a:chExt cx="220" cy="162"/>
              </a:xfrm>
            </p:grpSpPr>
            <p:sp>
              <p:nvSpPr>
                <p:cNvPr id="518175" name="WordArt 3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019" y="729"/>
                  <a:ext cx="54" cy="70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FF00"/>
                          </a:gs>
                          <a:gs pos="100000">
                            <a:srgbClr val="FF0000"/>
                          </a:gs>
                        </a:gsLst>
                        <a:lin ang="5400000" scaled="1"/>
                      </a:gradFill>
                      <a:effectLst/>
                      <a:latin typeface="Times New Roman" panose="02020603050405020304"/>
                      <a:cs typeface="Times New Roman" panose="02020603050405020304"/>
                    </a:rPr>
                    <a:t>0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/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18176" name="WordArt 3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853" y="637"/>
                  <a:ext cx="143" cy="154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FF00"/>
                          </a:gs>
                          <a:gs pos="100000">
                            <a:srgbClr val="FF0000"/>
                          </a:gs>
                        </a:gsLst>
                        <a:lin ang="5400000" scaled="1"/>
                      </a:gradFill>
                      <a:effectLst/>
                      <a:latin typeface="Times New Roman" panose="02020603050405020304"/>
                      <a:cs typeface="Times New Roman" panose="02020603050405020304"/>
                    </a:rPr>
                    <a:t>H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/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</p:grpSp>
          <p:sp>
            <p:nvSpPr>
              <p:cNvPr id="518177" name="WordArt 3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609" y="454"/>
                <a:ext cx="1939" cy="188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kern="10" dirty="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chemeClr val="bg2"/>
                    </a:solidFill>
                    <a:effectLst/>
                    <a:latin typeface="黑体" panose="02010609060101010101" pitchFamily="2" charset="-122"/>
                    <a:ea typeface="黑体" panose="02010609060101010101" pitchFamily="2" charset="-122"/>
                  </a:rPr>
                  <a:t>对   采取保护的态度</a:t>
                </a:r>
                <a:endPara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bg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518186" name="Group 42"/>
          <p:cNvGrpSpPr/>
          <p:nvPr/>
        </p:nvGrpSpPr>
        <p:grpSpPr bwMode="auto">
          <a:xfrm>
            <a:off x="2959100" y="1497013"/>
            <a:ext cx="3932238" cy="301625"/>
            <a:chOff x="1688" y="1567"/>
            <a:chExt cx="2477" cy="190"/>
          </a:xfrm>
        </p:grpSpPr>
        <p:sp>
          <p:nvSpPr>
            <p:cNvPr id="518178" name="WordArt 34"/>
            <p:cNvSpPr>
              <a:spLocks noChangeArrowheads="1" noChangeShapeType="1" noTextEdit="1"/>
            </p:cNvSpPr>
            <p:nvPr/>
          </p:nvSpPr>
          <p:spPr bwMode="auto">
            <a:xfrm>
              <a:off x="1688" y="1574"/>
              <a:ext cx="1109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检验原则二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: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18179" name="Group 35"/>
            <p:cNvGrpSpPr/>
            <p:nvPr/>
          </p:nvGrpSpPr>
          <p:grpSpPr bwMode="auto">
            <a:xfrm>
              <a:off x="2914" y="1567"/>
              <a:ext cx="1251" cy="188"/>
              <a:chOff x="1746" y="3119"/>
              <a:chExt cx="1251" cy="188"/>
            </a:xfrm>
          </p:grpSpPr>
          <p:sp>
            <p:nvSpPr>
              <p:cNvPr id="518180" name="WordArt 3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222" y="3134"/>
                <a:ext cx="79" cy="162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/>
                    <a:latin typeface="Times New Roman" panose="02020603050405020304"/>
                    <a:cs typeface="Times New Roman" panose="02020603050405020304"/>
                  </a:rPr>
                  <a:t>I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18181" name="WordArt 37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46" y="3119"/>
                <a:ext cx="1251" cy="188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kern="10" dirty="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chemeClr val="bg2"/>
                    </a:solidFill>
                    <a:effectLst/>
                    <a:latin typeface="黑体" panose="02010609060101010101" pitchFamily="2" charset="-122"/>
                    <a:ea typeface="黑体" panose="02010609060101010101" pitchFamily="2" charset="-122"/>
                  </a:rPr>
                  <a:t>控制  类风险</a:t>
                </a:r>
                <a:endPara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bg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518190" name="Group 46"/>
          <p:cNvGrpSpPr/>
          <p:nvPr/>
        </p:nvGrpSpPr>
        <p:grpSpPr bwMode="auto">
          <a:xfrm>
            <a:off x="2957513" y="2282825"/>
            <a:ext cx="3627437" cy="301625"/>
            <a:chOff x="2207" y="1286"/>
            <a:chExt cx="2285" cy="190"/>
          </a:xfrm>
        </p:grpSpPr>
        <p:sp>
          <p:nvSpPr>
            <p:cNvPr id="518188" name="WordArt 44"/>
            <p:cNvSpPr>
              <a:spLocks noChangeArrowheads="1" noChangeShapeType="1" noTextEdit="1"/>
            </p:cNvSpPr>
            <p:nvPr/>
          </p:nvSpPr>
          <p:spPr bwMode="auto">
            <a:xfrm>
              <a:off x="2207" y="1293"/>
              <a:ext cx="1109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检验原则三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: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8189" name="WordArt 45"/>
            <p:cNvSpPr>
              <a:spLocks noChangeArrowheads="1" noChangeShapeType="1" noTextEdit="1"/>
            </p:cNvSpPr>
            <p:nvPr/>
          </p:nvSpPr>
          <p:spPr bwMode="auto">
            <a:xfrm>
              <a:off x="3433" y="1286"/>
              <a:ext cx="1059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chemeClr val="bg2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概率反证法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chemeClr val="bg2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8191" name="AutoShape 47"/>
          <p:cNvSpPr/>
          <p:nvPr/>
        </p:nvSpPr>
        <p:spPr bwMode="auto">
          <a:xfrm>
            <a:off x="2641600" y="838200"/>
            <a:ext cx="190500" cy="1701800"/>
          </a:xfrm>
          <a:prstGeom prst="leftBrace">
            <a:avLst>
              <a:gd name="adj1" fmla="val 74444"/>
              <a:gd name="adj2" fmla="val 50000"/>
            </a:avLst>
          </a:prstGeom>
          <a:noFill/>
          <a:ln w="19050">
            <a:solidFill>
              <a:schemeClr val="accent2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18192" name="Freeform 48"/>
          <p:cNvSpPr/>
          <p:nvPr/>
        </p:nvSpPr>
        <p:spPr bwMode="auto">
          <a:xfrm>
            <a:off x="3022600" y="1841500"/>
            <a:ext cx="3835400" cy="1588"/>
          </a:xfrm>
          <a:custGeom>
            <a:avLst/>
            <a:gdLst>
              <a:gd name="T0" fmla="*/ 0 w 2416"/>
              <a:gd name="T1" fmla="*/ 0 h 1"/>
              <a:gd name="T2" fmla="*/ 672 w 2416"/>
              <a:gd name="T3" fmla="*/ 0 h 1"/>
              <a:gd name="T4" fmla="*/ 1864 w 2416"/>
              <a:gd name="T5" fmla="*/ 0 h 1"/>
              <a:gd name="T6" fmla="*/ 2416 w 2416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16" h="1">
                <a:moveTo>
                  <a:pt x="0" y="0"/>
                </a:moveTo>
                <a:cubicBezTo>
                  <a:pt x="180" y="0"/>
                  <a:pt x="361" y="0"/>
                  <a:pt x="672" y="0"/>
                </a:cubicBezTo>
                <a:cubicBezTo>
                  <a:pt x="983" y="0"/>
                  <a:pt x="1573" y="0"/>
                  <a:pt x="1864" y="0"/>
                </a:cubicBezTo>
                <a:cubicBezTo>
                  <a:pt x="2155" y="0"/>
                  <a:pt x="2285" y="0"/>
                  <a:pt x="2416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8193" name="Freeform 49"/>
          <p:cNvSpPr/>
          <p:nvPr/>
        </p:nvSpPr>
        <p:spPr bwMode="auto">
          <a:xfrm>
            <a:off x="2984500" y="2636838"/>
            <a:ext cx="3606800" cy="30162"/>
          </a:xfrm>
          <a:custGeom>
            <a:avLst/>
            <a:gdLst>
              <a:gd name="T0" fmla="*/ 0 w 2272"/>
              <a:gd name="T1" fmla="*/ 19 h 19"/>
              <a:gd name="T2" fmla="*/ 1048 w 2272"/>
              <a:gd name="T3" fmla="*/ 3 h 19"/>
              <a:gd name="T4" fmla="*/ 2272 w 2272"/>
              <a:gd name="T5" fmla="*/ 3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72" h="19">
                <a:moveTo>
                  <a:pt x="0" y="19"/>
                </a:moveTo>
                <a:cubicBezTo>
                  <a:pt x="175" y="16"/>
                  <a:pt x="669" y="6"/>
                  <a:pt x="1048" y="3"/>
                </a:cubicBezTo>
                <a:cubicBezTo>
                  <a:pt x="1427" y="0"/>
                  <a:pt x="2017" y="3"/>
                  <a:pt x="2272" y="3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8194" name="Freeform 50"/>
          <p:cNvSpPr/>
          <p:nvPr/>
        </p:nvSpPr>
        <p:spPr bwMode="auto">
          <a:xfrm>
            <a:off x="2973388" y="1131888"/>
            <a:ext cx="4953000" cy="42862"/>
          </a:xfrm>
          <a:custGeom>
            <a:avLst/>
            <a:gdLst>
              <a:gd name="T0" fmla="*/ 0 w 2416"/>
              <a:gd name="T1" fmla="*/ 0 h 1"/>
              <a:gd name="T2" fmla="*/ 672 w 2416"/>
              <a:gd name="T3" fmla="*/ 0 h 1"/>
              <a:gd name="T4" fmla="*/ 1864 w 2416"/>
              <a:gd name="T5" fmla="*/ 0 h 1"/>
              <a:gd name="T6" fmla="*/ 2416 w 2416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16" h="1">
                <a:moveTo>
                  <a:pt x="0" y="0"/>
                </a:moveTo>
                <a:cubicBezTo>
                  <a:pt x="180" y="0"/>
                  <a:pt x="361" y="0"/>
                  <a:pt x="672" y="0"/>
                </a:cubicBezTo>
                <a:cubicBezTo>
                  <a:pt x="983" y="0"/>
                  <a:pt x="1573" y="0"/>
                  <a:pt x="1864" y="0"/>
                </a:cubicBezTo>
                <a:cubicBezTo>
                  <a:pt x="2155" y="0"/>
                  <a:pt x="2285" y="0"/>
                  <a:pt x="2416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18203" name="Group 59"/>
          <p:cNvGrpSpPr/>
          <p:nvPr/>
        </p:nvGrpSpPr>
        <p:grpSpPr bwMode="auto">
          <a:xfrm>
            <a:off x="7065963" y="1273175"/>
            <a:ext cx="1700212" cy="407988"/>
            <a:chOff x="4579" y="818"/>
            <a:chExt cx="1071" cy="257"/>
          </a:xfrm>
          <a:solidFill>
            <a:schemeClr val="accent2">
              <a:lumMod val="75000"/>
            </a:schemeClr>
          </a:solidFill>
        </p:grpSpPr>
        <p:sp>
          <p:nvSpPr>
            <p:cNvPr id="518196" name="AutoShape 52"/>
            <p:cNvSpPr>
              <a:spLocks noChangeArrowheads="1"/>
            </p:cNvSpPr>
            <p:nvPr/>
          </p:nvSpPr>
          <p:spPr bwMode="auto">
            <a:xfrm>
              <a:off x="4579" y="818"/>
              <a:ext cx="1071" cy="257"/>
            </a:xfrm>
            <a:prstGeom prst="wedgeRectCallout">
              <a:avLst>
                <a:gd name="adj1" fmla="val -21991"/>
                <a:gd name="adj2" fmla="val -78403"/>
              </a:avLst>
            </a:prstGeom>
            <a:grpFill/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18197" name="WordArt 53"/>
            <p:cNvSpPr>
              <a:spLocks noChangeArrowheads="1" noChangeShapeType="1" noTextEdit="1"/>
            </p:cNvSpPr>
            <p:nvPr/>
          </p:nvSpPr>
          <p:spPr bwMode="auto">
            <a:xfrm>
              <a:off x="4635" y="850"/>
              <a:ext cx="957" cy="184"/>
            </a:xfrm>
            <a:prstGeom prst="rect">
              <a:avLst/>
            </a:prstGeom>
            <a:grpFill/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基本原则</a:t>
              </a:r>
              <a:endPara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8202" name="Group 58"/>
          <p:cNvGrpSpPr/>
          <p:nvPr/>
        </p:nvGrpSpPr>
        <p:grpSpPr bwMode="auto">
          <a:xfrm>
            <a:off x="6633176" y="1973263"/>
            <a:ext cx="2132013" cy="407987"/>
            <a:chOff x="4116" y="1259"/>
            <a:chExt cx="1343" cy="257"/>
          </a:xfrm>
          <a:solidFill>
            <a:schemeClr val="accent2">
              <a:lumMod val="75000"/>
            </a:schemeClr>
          </a:solidFill>
        </p:grpSpPr>
        <p:sp>
          <p:nvSpPr>
            <p:cNvPr id="518200" name="AutoShape 56"/>
            <p:cNvSpPr>
              <a:spLocks noChangeArrowheads="1"/>
            </p:cNvSpPr>
            <p:nvPr/>
          </p:nvSpPr>
          <p:spPr bwMode="auto">
            <a:xfrm>
              <a:off x="4116" y="1259"/>
              <a:ext cx="1343" cy="257"/>
            </a:xfrm>
            <a:prstGeom prst="wedgeRectCallout">
              <a:avLst>
                <a:gd name="adj1" fmla="val -38494"/>
                <a:gd name="adj2" fmla="val -79866"/>
              </a:avLst>
            </a:prstGeom>
            <a:grpFill/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18201" name="WordArt 57"/>
            <p:cNvSpPr>
              <a:spLocks noChangeArrowheads="1" noChangeShapeType="1" noTextEdit="1"/>
            </p:cNvSpPr>
            <p:nvPr/>
          </p:nvSpPr>
          <p:spPr bwMode="auto">
            <a:xfrm>
              <a:off x="4172" y="1291"/>
              <a:ext cx="1205" cy="184"/>
            </a:xfrm>
            <a:prstGeom prst="rect">
              <a:avLst/>
            </a:prstGeom>
            <a:grpFill/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 dirty="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构造拒绝域</a:t>
              </a:r>
              <a:endParaRPr lang="zh-CN" altLang="en-US" sz="3600" b="1" kern="10" dirty="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18204" name="Group 60"/>
          <p:cNvGrpSpPr/>
          <p:nvPr/>
        </p:nvGrpSpPr>
        <p:grpSpPr bwMode="auto">
          <a:xfrm>
            <a:off x="5773738" y="2774950"/>
            <a:ext cx="2132012" cy="407988"/>
            <a:chOff x="4116" y="1259"/>
            <a:chExt cx="1343" cy="257"/>
          </a:xfrm>
          <a:solidFill>
            <a:schemeClr val="accent2">
              <a:lumMod val="75000"/>
            </a:schemeClr>
          </a:solidFill>
        </p:grpSpPr>
        <p:sp>
          <p:nvSpPr>
            <p:cNvPr id="518205" name="AutoShape 61"/>
            <p:cNvSpPr>
              <a:spLocks noChangeArrowheads="1"/>
            </p:cNvSpPr>
            <p:nvPr/>
          </p:nvSpPr>
          <p:spPr bwMode="auto">
            <a:xfrm>
              <a:off x="4116" y="1259"/>
              <a:ext cx="1343" cy="257"/>
            </a:xfrm>
            <a:prstGeom prst="wedgeRectCallout">
              <a:avLst>
                <a:gd name="adj1" fmla="val -22301"/>
                <a:gd name="adj2" fmla="val -75292"/>
              </a:avLst>
            </a:prstGeom>
            <a:grpFill/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18206" name="WordArt 62"/>
            <p:cNvSpPr>
              <a:spLocks noChangeArrowheads="1" noChangeShapeType="1" noTextEdit="1"/>
            </p:cNvSpPr>
            <p:nvPr/>
          </p:nvSpPr>
          <p:spPr bwMode="auto">
            <a:xfrm>
              <a:off x="4172" y="1291"/>
              <a:ext cx="1205" cy="184"/>
            </a:xfrm>
            <a:prstGeom prst="rect">
              <a:avLst/>
            </a:prstGeom>
            <a:grpFill/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提出原假设</a:t>
              </a:r>
              <a:endPara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18207" name="AutoShape 63"/>
          <p:cNvSpPr>
            <a:spLocks noChangeArrowheads="1"/>
          </p:cNvSpPr>
          <p:nvPr/>
        </p:nvSpPr>
        <p:spPr bwMode="auto">
          <a:xfrm>
            <a:off x="849313" y="4357688"/>
            <a:ext cx="965200" cy="609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FFFF00"/>
              </a:gs>
              <a:gs pos="100000">
                <a:srgbClr val="FF0000">
                  <a:alpha val="67999"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accent2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zh-CN" b="1">
              <a:solidFill>
                <a:srgbClr val="FF9933"/>
              </a:solidFill>
              <a:effectLst/>
            </a:endParaRPr>
          </a:p>
        </p:txBody>
      </p:sp>
      <p:sp>
        <p:nvSpPr>
          <p:cNvPr id="518208" name="WordArt 64"/>
          <p:cNvSpPr>
            <a:spLocks noChangeArrowheads="1" noChangeShapeType="1" noTextEdit="1"/>
          </p:cNvSpPr>
          <p:nvPr/>
        </p:nvSpPr>
        <p:spPr bwMode="auto">
          <a:xfrm>
            <a:off x="1138238" y="4494213"/>
            <a:ext cx="354012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注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0066CC"/>
                  </a:gs>
                  <a:gs pos="50000">
                    <a:srgbClr val="FFFFFF"/>
                  </a:gs>
                  <a:gs pos="100000">
                    <a:srgbClr val="0066CC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8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8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51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1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8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8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18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8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18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8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8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8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8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8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1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8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8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18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8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1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1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1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55" grpId="0" animBg="1"/>
      <p:bldP spid="518191" grpId="0" animBg="1"/>
      <p:bldP spid="518192" grpId="0" animBg="1"/>
      <p:bldP spid="518193" grpId="0" animBg="1"/>
      <p:bldP spid="518194" grpId="0" animBg="1"/>
      <p:bldP spid="518207" grpId="0" animBg="1" autoUpdateAnimBg="0"/>
      <p:bldP spid="51820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26" name="WordArt 10"/>
          <p:cNvSpPr>
            <a:spLocks noChangeArrowheads="1" noChangeShapeType="1" noTextEdit="1"/>
          </p:cNvSpPr>
          <p:nvPr/>
        </p:nvSpPr>
        <p:spPr bwMode="auto">
          <a:xfrm>
            <a:off x="784225" y="3467100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chemeClr val="accent2"/>
                  </a:solidFill>
                  <a:round/>
                </a:ln>
                <a:gradFill rotWithShape="0">
                  <a:gsLst>
                    <a:gs pos="0">
                      <a:schemeClr val="bg1"/>
                    </a:gs>
                    <a:gs pos="50000">
                      <a:srgbClr val="CCFF99"/>
                    </a:gs>
                    <a:gs pos="100000">
                      <a:schemeClr val="bg1"/>
                    </a:gs>
                  </a:gsLst>
                  <a:lin ang="270000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>
              <a:ln w="12700">
                <a:solidFill>
                  <a:schemeClr val="accent2"/>
                </a:solidFill>
                <a:round/>
              </a:ln>
              <a:gradFill rotWithShape="0">
                <a:gsLst>
                  <a:gs pos="0">
                    <a:schemeClr val="bg1"/>
                  </a:gs>
                  <a:gs pos="50000">
                    <a:srgbClr val="CCFF99"/>
                  </a:gs>
                  <a:gs pos="100000">
                    <a:schemeClr val="bg1"/>
                  </a:gs>
                </a:gsLst>
                <a:lin ang="270000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21284" name="Object 68"/>
          <p:cNvGraphicFramePr>
            <a:graphicFrameLocks noChangeAspect="1"/>
          </p:cNvGraphicFramePr>
          <p:nvPr/>
        </p:nvGraphicFramePr>
        <p:xfrm>
          <a:off x="2474913" y="3783013"/>
          <a:ext cx="40957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357" name="Equation" r:id="rId1" imgW="39319200" imgH="4572000" progId="Equation.DSMT4">
                  <p:embed/>
                </p:oleObj>
              </mc:Choice>
              <mc:Fallback>
                <p:oleObj name="Equation" r:id="rId1" imgW="39319200" imgH="4572000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3783013"/>
                        <a:ext cx="40957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1444" name="Group 228"/>
          <p:cNvGrpSpPr/>
          <p:nvPr/>
        </p:nvGrpSpPr>
        <p:grpSpPr bwMode="auto">
          <a:xfrm>
            <a:off x="-25400" y="1363663"/>
            <a:ext cx="9169400" cy="523875"/>
            <a:chOff x="-16" y="859"/>
            <a:chExt cx="5776" cy="330"/>
          </a:xfrm>
        </p:grpSpPr>
        <p:sp>
          <p:nvSpPr>
            <p:cNvPr id="521221" name="Rectangle 5"/>
            <p:cNvSpPr>
              <a:spLocks noChangeArrowheads="1"/>
            </p:cNvSpPr>
            <p:nvPr/>
          </p:nvSpPr>
          <p:spPr bwMode="auto">
            <a:xfrm>
              <a:off x="-16" y="859"/>
              <a:ext cx="57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是一个服从      分布的随机变量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在测试中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甲地将同一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21286" name="Object 70"/>
            <p:cNvGraphicFramePr>
              <a:graphicFrameLocks noChangeAspect="1"/>
            </p:cNvGraphicFramePr>
            <p:nvPr/>
          </p:nvGraphicFramePr>
          <p:xfrm>
            <a:off x="1160" y="913"/>
            <a:ext cx="7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358" name="Equation" r:id="rId3" imgW="10668000" imgH="4267200" progId="Equation.DSMT4">
                    <p:embed/>
                  </p:oleObj>
                </mc:Choice>
                <mc:Fallback>
                  <p:oleObj name="Equation" r:id="rId3" imgW="10668000" imgH="4267200" progId="Equation.DSMT4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913"/>
                          <a:ext cx="7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1218" name="Rectangle 2"/>
          <p:cNvSpPr>
            <a:spLocks noChangeArrowheads="1"/>
          </p:cNvSpPr>
          <p:nvPr/>
        </p:nvSpPr>
        <p:spPr bwMode="auto">
          <a:xfrm>
            <a:off x="1266825" y="3341688"/>
            <a:ext cx="2757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依题意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要检验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21376" name="Object 160"/>
          <p:cNvGraphicFramePr>
            <a:graphicFrameLocks noChangeAspect="1"/>
          </p:cNvGraphicFramePr>
          <p:nvPr/>
        </p:nvGraphicFramePr>
        <p:xfrm>
          <a:off x="2515259" y="4491038"/>
          <a:ext cx="257492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359" name="Equation" r:id="rId5" imgW="24688800" imgH="8229600" progId="Equation.DSMT4">
                  <p:embed/>
                </p:oleObj>
              </mc:Choice>
              <mc:Fallback>
                <p:oleObj name="Equation" r:id="rId5" imgW="24688800" imgH="8229600" progId="Equation.DSMT4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59" y="4491038"/>
                        <a:ext cx="2574925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1384" name="Rectangle 168"/>
          <p:cNvSpPr>
            <a:spLocks noChangeArrowheads="1"/>
          </p:cNvSpPr>
          <p:nvPr/>
        </p:nvSpPr>
        <p:spPr bwMode="auto">
          <a:xfrm>
            <a:off x="1257300" y="546100"/>
            <a:ext cx="7885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从甲地发送一个讯号到乙地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由于存在线路噪声干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21386" name="Rectangle 170"/>
          <p:cNvSpPr>
            <a:spLocks noChangeArrowheads="1"/>
          </p:cNvSpPr>
          <p:nvPr/>
        </p:nvSpPr>
        <p:spPr bwMode="auto">
          <a:xfrm>
            <a:off x="-12700" y="1771650"/>
            <a:ext cx="612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讯号发送了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乙地收到的讯号值为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21223" name="Object 7"/>
          <p:cNvGraphicFramePr>
            <a:graphicFrameLocks noChangeAspect="1"/>
          </p:cNvGraphicFramePr>
          <p:nvPr/>
        </p:nvGraphicFramePr>
        <p:xfrm>
          <a:off x="2940050" y="2278063"/>
          <a:ext cx="28987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360" name="Equation" r:id="rId7" imgW="29870400" imgH="3962400" progId="Equation.DSMT4">
                  <p:embed/>
                </p:oleObj>
              </mc:Choice>
              <mc:Fallback>
                <p:oleObj name="Equation" r:id="rId7" imgW="29870400" imgH="396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2278063"/>
                        <a:ext cx="289877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1391" name="WordArt 175"/>
          <p:cNvSpPr>
            <a:spLocks noChangeArrowheads="1" noChangeShapeType="1" noTextEdit="1"/>
          </p:cNvSpPr>
          <p:nvPr/>
        </p:nvSpPr>
        <p:spPr bwMode="auto">
          <a:xfrm>
            <a:off x="784225" y="666750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521445" name="Group 229"/>
          <p:cNvGrpSpPr/>
          <p:nvPr/>
        </p:nvGrpSpPr>
        <p:grpSpPr bwMode="auto">
          <a:xfrm>
            <a:off x="0" y="958850"/>
            <a:ext cx="9129713" cy="519113"/>
            <a:chOff x="0" y="604"/>
            <a:chExt cx="5751" cy="327"/>
          </a:xfrm>
        </p:grpSpPr>
        <p:sp>
          <p:nvSpPr>
            <p:cNvPr id="521385" name="Rectangle 169"/>
            <p:cNvSpPr>
              <a:spLocks noChangeArrowheads="1"/>
            </p:cNvSpPr>
            <p:nvPr/>
          </p:nvSpPr>
          <p:spPr bwMode="auto">
            <a:xfrm>
              <a:off x="0" y="604"/>
              <a:ext cx="57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扰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使得甲地发送一个幅值为  的讯号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而乙地收到的讯号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21383" name="Object 167"/>
            <p:cNvGraphicFramePr>
              <a:graphicFrameLocks noChangeAspect="1"/>
            </p:cNvGraphicFramePr>
            <p:nvPr/>
          </p:nvGraphicFramePr>
          <p:xfrm>
            <a:off x="2865" y="687"/>
            <a:ext cx="22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361" name="Equation" r:id="rId9" imgW="3352800" imgH="3657600" progId="Equation.DSMT4">
                    <p:embed/>
                  </p:oleObj>
                </mc:Choice>
                <mc:Fallback>
                  <p:oleObj name="Equation" r:id="rId9" imgW="3352800" imgH="3657600" progId="Equation.DSMT4">
                    <p:embed/>
                    <p:pic>
                      <p:nvPicPr>
                        <p:cNvPr id="0" name="Object 1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5" y="687"/>
                          <a:ext cx="222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1441" name="Rectangle 225"/>
          <p:cNvSpPr>
            <a:spLocks noChangeArrowheads="1"/>
          </p:cNvSpPr>
          <p:nvPr/>
        </p:nvSpPr>
        <p:spPr bwMode="auto">
          <a:xfrm>
            <a:off x="-12700" y="2533650"/>
            <a:ext cx="916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接收方有某种理由猜测甲地发送的讯号值为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8,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问这种猜测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21443" name="Group 227"/>
          <p:cNvGrpSpPr/>
          <p:nvPr/>
        </p:nvGrpSpPr>
        <p:grpSpPr bwMode="auto">
          <a:xfrm>
            <a:off x="-25400" y="2928938"/>
            <a:ext cx="3175000" cy="519112"/>
            <a:chOff x="-8" y="1837"/>
            <a:chExt cx="2000" cy="327"/>
          </a:xfrm>
        </p:grpSpPr>
        <p:graphicFrame>
          <p:nvGraphicFramePr>
            <p:cNvPr id="521224" name="Object 8"/>
            <p:cNvGraphicFramePr>
              <a:graphicFrameLocks noChangeAspect="1"/>
            </p:cNvGraphicFramePr>
            <p:nvPr/>
          </p:nvGraphicFramePr>
          <p:xfrm>
            <a:off x="1091" y="1874"/>
            <a:ext cx="90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362" name="Equation" r:id="rId11" imgW="13716000" imgH="4267200" progId="Equation.DSMT4">
                    <p:embed/>
                  </p:oleObj>
                </mc:Choice>
                <mc:Fallback>
                  <p:oleObj name="Equation" r:id="rId11" imgW="13716000" imgH="42672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1" y="1874"/>
                          <a:ext cx="90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1442" name="Rectangle 226"/>
            <p:cNvSpPr>
              <a:spLocks noChangeArrowheads="1"/>
            </p:cNvSpPr>
            <p:nvPr/>
          </p:nvSpPr>
          <p:spPr bwMode="auto">
            <a:xfrm>
              <a:off x="-8" y="1837"/>
              <a:ext cx="1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是否正确？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21448" name="Group 232"/>
          <p:cNvGrpSpPr/>
          <p:nvPr/>
        </p:nvGrpSpPr>
        <p:grpSpPr bwMode="auto">
          <a:xfrm>
            <a:off x="0" y="4138613"/>
            <a:ext cx="5661025" cy="547687"/>
            <a:chOff x="0" y="2567"/>
            <a:chExt cx="3566" cy="345"/>
          </a:xfrm>
        </p:grpSpPr>
        <p:sp>
          <p:nvSpPr>
            <p:cNvPr id="521375" name="Rectangle 159"/>
            <p:cNvSpPr>
              <a:spLocks noChangeArrowheads="1"/>
            </p:cNvSpPr>
            <p:nvPr/>
          </p:nvSpPr>
          <p:spPr bwMode="auto">
            <a:xfrm>
              <a:off x="0" y="2567"/>
              <a:ext cx="3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采用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检验法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求得  的拒绝域为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21285" name="Object 69"/>
            <p:cNvGraphicFramePr>
              <a:graphicFrameLocks noChangeAspect="1"/>
            </p:cNvGraphicFramePr>
            <p:nvPr/>
          </p:nvGraphicFramePr>
          <p:xfrm>
            <a:off x="485" y="2657"/>
            <a:ext cx="180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363" name="公式" r:id="rId13" imgW="152400" imgH="165100" progId="Equation.3">
                    <p:embed/>
                  </p:oleObj>
                </mc:Choice>
                <mc:Fallback>
                  <p:oleObj name="公式" r:id="rId13" imgW="152400" imgH="16510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" y="2657"/>
                          <a:ext cx="180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1447" name="Object 231"/>
            <p:cNvGraphicFramePr>
              <a:graphicFrameLocks noChangeAspect="1"/>
            </p:cNvGraphicFramePr>
            <p:nvPr/>
          </p:nvGraphicFramePr>
          <p:xfrm>
            <a:off x="1884" y="2616"/>
            <a:ext cx="30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364" name="公式" r:id="rId15" imgW="254000" imgH="254000" progId="Equation.3">
                    <p:embed/>
                  </p:oleObj>
                </mc:Choice>
                <mc:Fallback>
                  <p:oleObj name="公式" r:id="rId15" imgW="254000" imgH="254000" progId="Equation.3">
                    <p:embed/>
                    <p:pic>
                      <p:nvPicPr>
                        <p:cNvPr id="0" name="Object 2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4" y="2616"/>
                          <a:ext cx="30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1449" name="Object 233"/>
          <p:cNvGraphicFramePr>
            <a:graphicFrameLocks noChangeAspect="1"/>
          </p:cNvGraphicFramePr>
          <p:nvPr/>
        </p:nvGraphicFramePr>
        <p:xfrm>
          <a:off x="4994275" y="4564063"/>
          <a:ext cx="158908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365" name="Equation" r:id="rId17" imgW="15240000" imgH="7315200" progId="Equation.DSMT4">
                  <p:embed/>
                </p:oleObj>
              </mc:Choice>
              <mc:Fallback>
                <p:oleObj name="Equation" r:id="rId17" imgW="15240000" imgH="7315200" progId="Equation.DSMT4">
                  <p:embed/>
                  <p:pic>
                    <p:nvPicPr>
                      <p:cNvPr id="0" name="Object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275" y="4564063"/>
                        <a:ext cx="158908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450" name="Object 234"/>
          <p:cNvGraphicFramePr>
            <a:graphicFrameLocks noChangeAspect="1"/>
          </p:cNvGraphicFramePr>
          <p:nvPr/>
        </p:nvGraphicFramePr>
        <p:xfrm>
          <a:off x="6484938" y="4716463"/>
          <a:ext cx="9223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366" name="Equation" r:id="rId19" imgW="8839200" imgH="3657600" progId="Equation.DSMT4">
                  <p:embed/>
                </p:oleObj>
              </mc:Choice>
              <mc:Fallback>
                <p:oleObj name="Equation" r:id="rId19" imgW="8839200" imgH="3657600" progId="Equation.DSMT4">
                  <p:embed/>
                  <p:pic>
                    <p:nvPicPr>
                      <p:cNvPr id="0" name="Object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8" y="4716463"/>
                        <a:ext cx="9223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1461" name="Group 245"/>
          <p:cNvGrpSpPr/>
          <p:nvPr/>
        </p:nvGrpSpPr>
        <p:grpSpPr bwMode="auto">
          <a:xfrm>
            <a:off x="12700" y="5197475"/>
            <a:ext cx="2379663" cy="519113"/>
            <a:chOff x="8" y="3282"/>
            <a:chExt cx="1499" cy="327"/>
          </a:xfrm>
        </p:grpSpPr>
        <p:sp>
          <p:nvSpPr>
            <p:cNvPr id="521451" name="Rectangle 235"/>
            <p:cNvSpPr>
              <a:spLocks noChangeArrowheads="1"/>
            </p:cNvSpPr>
            <p:nvPr/>
          </p:nvSpPr>
          <p:spPr bwMode="auto">
            <a:xfrm>
              <a:off x="8" y="3282"/>
              <a:ext cx="9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又算得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21452" name="Object 236"/>
            <p:cNvGraphicFramePr>
              <a:graphicFrameLocks noChangeAspect="1"/>
            </p:cNvGraphicFramePr>
            <p:nvPr/>
          </p:nvGraphicFramePr>
          <p:xfrm>
            <a:off x="746" y="3346"/>
            <a:ext cx="761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367" name="Equation" r:id="rId21" imgW="11582400" imgH="3657600" progId="Equation.DSMT4">
                    <p:embed/>
                  </p:oleObj>
                </mc:Choice>
                <mc:Fallback>
                  <p:oleObj name="Equation" r:id="rId21" imgW="11582400" imgH="3657600" progId="Equation.DSMT4">
                    <p:embed/>
                    <p:pic>
                      <p:nvPicPr>
                        <p:cNvPr id="0" name="Object 2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" y="3346"/>
                          <a:ext cx="761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1453" name="Rectangle 237"/>
          <p:cNvSpPr>
            <a:spLocks noChangeArrowheads="1"/>
          </p:cNvSpPr>
          <p:nvPr/>
        </p:nvSpPr>
        <p:spPr bwMode="auto">
          <a:xfrm>
            <a:off x="2363788" y="5173663"/>
            <a:ext cx="1550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因为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21454" name="Object 238"/>
          <p:cNvGraphicFramePr>
            <a:graphicFrameLocks noChangeAspect="1"/>
          </p:cNvGraphicFramePr>
          <p:nvPr/>
        </p:nvGraphicFramePr>
        <p:xfrm>
          <a:off x="2568575" y="5634038"/>
          <a:ext cx="27336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368" name="Equation" r:id="rId23" imgW="26212800" imgH="4572000" progId="Equation.DSMT4">
                  <p:embed/>
                </p:oleObj>
              </mc:Choice>
              <mc:Fallback>
                <p:oleObj name="Equation" r:id="rId23" imgW="26212800" imgH="4572000" progId="Equation.DSMT4">
                  <p:embed/>
                  <p:pic>
                    <p:nvPicPr>
                      <p:cNvPr id="0" name="Object 2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5634038"/>
                        <a:ext cx="273367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455" name="Object 239"/>
          <p:cNvGraphicFramePr>
            <a:graphicFrameLocks noChangeAspect="1"/>
          </p:cNvGraphicFramePr>
          <p:nvPr/>
        </p:nvGraphicFramePr>
        <p:xfrm>
          <a:off x="5164138" y="5668963"/>
          <a:ext cx="9223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369" name="Equation" r:id="rId25" imgW="8839200" imgH="3657600" progId="Equation.DSMT4">
                  <p:embed/>
                </p:oleObj>
              </mc:Choice>
              <mc:Fallback>
                <p:oleObj name="Equation" r:id="rId25" imgW="8839200" imgH="3657600" progId="Equation.DSMT4">
                  <p:embed/>
                  <p:pic>
                    <p:nvPicPr>
                      <p:cNvPr id="0" name="Object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5668963"/>
                        <a:ext cx="9223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456" name="Object 240"/>
          <p:cNvGraphicFramePr>
            <a:graphicFrameLocks noChangeAspect="1"/>
          </p:cNvGraphicFramePr>
          <p:nvPr/>
        </p:nvGraphicFramePr>
        <p:xfrm>
          <a:off x="6003925" y="5670550"/>
          <a:ext cx="9223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370" name="Equation" r:id="rId27" imgW="8839200" imgH="3657600" progId="Equation.DSMT4">
                  <p:embed/>
                </p:oleObj>
              </mc:Choice>
              <mc:Fallback>
                <p:oleObj name="Equation" r:id="rId27" imgW="8839200" imgH="3657600" progId="Equation.DSMT4">
                  <p:embed/>
                  <p:pic>
                    <p:nvPicPr>
                      <p:cNvPr id="0" name="Object 2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5670550"/>
                        <a:ext cx="922338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1460" name="Group 244"/>
          <p:cNvGrpSpPr/>
          <p:nvPr/>
        </p:nvGrpSpPr>
        <p:grpSpPr bwMode="auto">
          <a:xfrm>
            <a:off x="25400" y="6002338"/>
            <a:ext cx="2565400" cy="522287"/>
            <a:chOff x="-8" y="3829"/>
            <a:chExt cx="1616" cy="329"/>
          </a:xfrm>
        </p:grpSpPr>
        <p:sp>
          <p:nvSpPr>
            <p:cNvPr id="521457" name="Rectangle 241"/>
            <p:cNvSpPr>
              <a:spLocks noChangeArrowheads="1"/>
            </p:cNvSpPr>
            <p:nvPr/>
          </p:nvSpPr>
          <p:spPr bwMode="auto">
            <a:xfrm>
              <a:off x="-8" y="3829"/>
              <a:ext cx="16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故不能拒绝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21458" name="Object 242"/>
            <p:cNvGraphicFramePr>
              <a:graphicFrameLocks noChangeAspect="1"/>
            </p:cNvGraphicFramePr>
            <p:nvPr/>
          </p:nvGraphicFramePr>
          <p:xfrm>
            <a:off x="1156" y="3882"/>
            <a:ext cx="30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371" name="Equation" r:id="rId29" imgW="4572000" imgH="4267200" progId="Equation.DSMT4">
                    <p:embed/>
                  </p:oleObj>
                </mc:Choice>
                <mc:Fallback>
                  <p:oleObj name="Equation" r:id="rId29" imgW="4572000" imgH="4267200" progId="Equation.DSMT4">
                    <p:embed/>
                    <p:pic>
                      <p:nvPicPr>
                        <p:cNvPr id="0" name="Object 2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3882"/>
                          <a:ext cx="30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1459" name="Rectangle 243"/>
          <p:cNvSpPr>
            <a:spLocks noChangeArrowheads="1"/>
          </p:cNvSpPr>
          <p:nvPr/>
        </p:nvSpPr>
        <p:spPr bwMode="auto">
          <a:xfrm>
            <a:off x="2198688" y="6003925"/>
            <a:ext cx="604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，即可认为接收方的猜测是有道理的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.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9" name="WordArt 255"/>
          <p:cNvSpPr>
            <a:spLocks noChangeArrowheads="1" noChangeShapeType="1" noTextEdit="1"/>
          </p:cNvSpPr>
          <p:nvPr/>
        </p:nvSpPr>
        <p:spPr bwMode="auto">
          <a:xfrm>
            <a:off x="3914775" y="6502788"/>
            <a:ext cx="4995960" cy="321954"/>
          </a:xfrm>
          <a:prstGeom prst="rect">
            <a:avLst/>
          </a:prstGeom>
          <a:solidFill>
            <a:schemeClr val="bg1"/>
          </a:solidFill>
          <a:ln>
            <a:solidFill>
              <a:srgbClr val="A50021"/>
            </a:solidFill>
          </a:ln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能否下结论说“接收方的猜测是正确的”</a:t>
            </a:r>
            <a:r>
              <a:rPr lang="en-US" altLang="zh-CN" sz="3600" b="1" kern="10" dirty="0">
                <a:ln w="12700">
                  <a:solidFill>
                    <a:srgbClr val="FF0000"/>
                  </a:solidFill>
                  <a:rou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  <a:endParaRPr lang="zh-CN" altLang="en-US" sz="3600" b="1" kern="10" dirty="0">
              <a:ln w="12700">
                <a:solidFill>
                  <a:srgbClr val="FF0000"/>
                </a:solidFill>
                <a:round/>
              </a:ln>
              <a:solidFill>
                <a:srgbClr val="FFFF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1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1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2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2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2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2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2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2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1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1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2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21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21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2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2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2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2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2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2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2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2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2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2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2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521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1000"/>
                                        <p:tgtEl>
                                          <p:spTgt spid="521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521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521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521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521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1000"/>
                                        <p:tgtEl>
                                          <p:spTgt spid="521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1000"/>
                                        <p:tgtEl>
                                          <p:spTgt spid="521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34" dur="1000" fill="hold"/>
                                        <p:tgtEl>
                                          <p:spTgt spid="5212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36" dur="1000" fill="hold"/>
                                        <p:tgtEl>
                                          <p:spTgt spid="521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38" dur="1000" fill="hold"/>
                                        <p:tgtEl>
                                          <p:spTgt spid="521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40" dur="1000" fill="hold"/>
                                        <p:tgtEl>
                                          <p:spTgt spid="5213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42" dur="1000" fill="hold"/>
                                        <p:tgtEl>
                                          <p:spTgt spid="521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44" dur="1000" fill="hold"/>
                                        <p:tgtEl>
                                          <p:spTgt spid="521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46" dur="1000" fill="hold"/>
                                        <p:tgtEl>
                                          <p:spTgt spid="5214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48" dur="1000" fill="hold"/>
                                        <p:tgtEl>
                                          <p:spTgt spid="5214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50" dur="1000" fill="hold"/>
                                        <p:tgtEl>
                                          <p:spTgt spid="521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52" dur="1000" fill="hold"/>
                                        <p:tgtEl>
                                          <p:spTgt spid="521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54" dur="1000" fill="hold"/>
                                        <p:tgtEl>
                                          <p:spTgt spid="521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56" dur="1000" fill="hold"/>
                                        <p:tgtEl>
                                          <p:spTgt spid="5214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58" dur="1000" fill="hold"/>
                                        <p:tgtEl>
                                          <p:spTgt spid="5214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77 -0.40926 " pathEditMode="relative" ptsTypes="AA">
                                      <p:cBhvr>
                                        <p:cTn id="160" dur="1000" fill="hold"/>
                                        <p:tgtEl>
                                          <p:spTgt spid="5214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26" grpId="0" animBg="1"/>
      <p:bldP spid="521226" grpId="1" animBg="1"/>
      <p:bldP spid="521218" grpId="0"/>
      <p:bldP spid="521218" grpId="1"/>
      <p:bldP spid="521384" grpId="0"/>
      <p:bldP spid="521384" grpId="1"/>
      <p:bldP spid="521386" grpId="0"/>
      <p:bldP spid="521386" grpId="1"/>
      <p:bldP spid="521391" grpId="0"/>
      <p:bldP spid="521391" grpId="1"/>
      <p:bldP spid="521441" grpId="0"/>
      <p:bldP spid="521441" grpId="1"/>
      <p:bldP spid="521453" grpId="0"/>
      <p:bldP spid="521453" grpId="1"/>
      <p:bldP spid="521459" grpId="0"/>
      <p:bldP spid="521459" grpId="1"/>
      <p:bldP spid="6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171" name="Group 3"/>
          <p:cNvGrpSpPr/>
          <p:nvPr/>
        </p:nvGrpSpPr>
        <p:grpSpPr bwMode="auto">
          <a:xfrm>
            <a:off x="1341438" y="1216024"/>
            <a:ext cx="7075488" cy="542925"/>
            <a:chOff x="805" y="1038"/>
            <a:chExt cx="4457" cy="342"/>
          </a:xfrm>
        </p:grpSpPr>
        <p:sp>
          <p:nvSpPr>
            <p:cNvPr id="519172" name="Rectangle 4"/>
            <p:cNvSpPr>
              <a:spLocks noChangeArrowheads="1"/>
            </p:cNvSpPr>
            <p:nvPr/>
          </p:nvSpPr>
          <p:spPr bwMode="auto">
            <a:xfrm>
              <a:off x="805" y="1038"/>
              <a:ext cx="436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根据实际问题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提出</a:t>
              </a:r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原假设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及</a:t>
              </a:r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备择假设</a:t>
              </a:r>
              <a:endPara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9173" name="Object 5"/>
            <p:cNvGraphicFramePr>
              <a:graphicFrameLocks noChangeAspect="1"/>
            </p:cNvGraphicFramePr>
            <p:nvPr/>
          </p:nvGraphicFramePr>
          <p:xfrm>
            <a:off x="4931" y="1068"/>
            <a:ext cx="33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08" name="Equation" r:id="rId1" imgW="4572000" imgH="4267200" progId="Equation.DSMT4">
                    <p:embed/>
                  </p:oleObj>
                </mc:Choice>
                <mc:Fallback>
                  <p:oleObj name="Equation" r:id="rId1" imgW="4572000" imgH="4267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1" y="1068"/>
                          <a:ext cx="331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74" name="Object 6"/>
            <p:cNvGraphicFramePr>
              <a:graphicFrameLocks noChangeAspect="1"/>
            </p:cNvGraphicFramePr>
            <p:nvPr/>
          </p:nvGraphicFramePr>
          <p:xfrm>
            <a:off x="3468" y="1085"/>
            <a:ext cx="333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09" name="Equation" r:id="rId3" imgW="4572000" imgH="4267200" progId="Equation.DSMT4">
                    <p:embed/>
                  </p:oleObj>
                </mc:Choice>
                <mc:Fallback>
                  <p:oleObj name="Equation" r:id="rId3" imgW="4572000" imgH="4267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8" y="1085"/>
                          <a:ext cx="333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9175" name="Rectangle 7"/>
          <p:cNvSpPr>
            <a:spLocks noChangeArrowheads="1"/>
          </p:cNvSpPr>
          <p:nvPr/>
        </p:nvSpPr>
        <p:spPr bwMode="auto">
          <a:xfrm>
            <a:off x="1290638" y="1801813"/>
            <a:ext cx="5287962" cy="508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求出未知参数的较好的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点估计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9176" name="Group 8"/>
          <p:cNvGrpSpPr/>
          <p:nvPr/>
        </p:nvGrpSpPr>
        <p:grpSpPr bwMode="auto">
          <a:xfrm>
            <a:off x="28575" y="3833815"/>
            <a:ext cx="9169400" cy="1031875"/>
            <a:chOff x="18" y="2607"/>
            <a:chExt cx="5776" cy="650"/>
          </a:xfrm>
        </p:grpSpPr>
        <p:sp>
          <p:nvSpPr>
            <p:cNvPr id="519177" name="Rectangle 9"/>
            <p:cNvSpPr>
              <a:spLocks noChangeArrowheads="1"/>
            </p:cNvSpPr>
            <p:nvPr/>
          </p:nvSpPr>
          <p:spPr bwMode="auto">
            <a:xfrm>
              <a:off x="18" y="2607"/>
              <a:ext cx="5776" cy="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  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对于给定的显著性水平  ，按控制</a:t>
              </a:r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类风险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的检验原则，确定   的拒绝域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9178" name="Object 10"/>
            <p:cNvGraphicFramePr>
              <a:graphicFrameLocks noChangeAspect="1"/>
            </p:cNvGraphicFramePr>
            <p:nvPr/>
          </p:nvGraphicFramePr>
          <p:xfrm>
            <a:off x="3121" y="2679"/>
            <a:ext cx="24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10" name="Equation" r:id="rId5" imgW="3352800" imgH="3048000" progId="Equation.DSMT4">
                    <p:embed/>
                  </p:oleObj>
                </mc:Choice>
                <mc:Fallback>
                  <p:oleObj name="Equation" r:id="rId5" imgW="3352800" imgH="30480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1" y="2679"/>
                          <a:ext cx="24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79" name="Object 11"/>
            <p:cNvGraphicFramePr>
              <a:graphicFrameLocks noChangeAspect="1"/>
            </p:cNvGraphicFramePr>
            <p:nvPr/>
          </p:nvGraphicFramePr>
          <p:xfrm>
            <a:off x="1242" y="2938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11" name="Equation" r:id="rId7" imgW="4572000" imgH="4267200" progId="Equation.DSMT4">
                    <p:embed/>
                  </p:oleObj>
                </mc:Choice>
                <mc:Fallback>
                  <p:oleObj name="Equation" r:id="rId7" imgW="4572000" imgH="42672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2" y="2938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9180" name="Group 12"/>
          <p:cNvGrpSpPr/>
          <p:nvPr/>
        </p:nvGrpSpPr>
        <p:grpSpPr bwMode="auto">
          <a:xfrm>
            <a:off x="30163" y="4802190"/>
            <a:ext cx="9169400" cy="1031875"/>
            <a:chOff x="19" y="3257"/>
            <a:chExt cx="5776" cy="650"/>
          </a:xfrm>
        </p:grpSpPr>
        <p:sp>
          <p:nvSpPr>
            <p:cNvPr id="519181" name="Rectangle 13"/>
            <p:cNvSpPr>
              <a:spLocks noChangeArrowheads="1"/>
            </p:cNvSpPr>
            <p:nvPr/>
          </p:nvSpPr>
          <p:spPr bwMode="auto">
            <a:xfrm>
              <a:off x="19" y="3257"/>
              <a:ext cx="5776" cy="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   </a:t>
              </a:r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抽样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，判断样本观察值是否落在拒绝域内，从而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作出</a:t>
              </a:r>
              <a:r>
                <a:rPr lang="en-US" altLang="zh-CN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</a:t>
              </a:r>
              <a:r>
                <a:rPr lang="en-US" altLang="zh-CN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或</a:t>
              </a:r>
              <a:r>
                <a:rPr lang="en-US" altLang="zh-CN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接受</a:t>
              </a:r>
              <a:r>
                <a:rPr lang="en-US" altLang="zh-CN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的决策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9182" name="Object 14"/>
            <p:cNvGraphicFramePr>
              <a:graphicFrameLocks noChangeAspect="1"/>
            </p:cNvGraphicFramePr>
            <p:nvPr/>
          </p:nvGraphicFramePr>
          <p:xfrm>
            <a:off x="2156" y="3589"/>
            <a:ext cx="33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12" name="Equation" r:id="rId9" imgW="4572000" imgH="4267200" progId="Equation.DSMT4">
                    <p:embed/>
                  </p:oleObj>
                </mc:Choice>
                <mc:Fallback>
                  <p:oleObj name="Equation" r:id="rId9" imgW="4572000" imgH="42672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" y="3589"/>
                          <a:ext cx="331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9183" name="Group 15"/>
          <p:cNvGrpSpPr/>
          <p:nvPr/>
        </p:nvGrpSpPr>
        <p:grpSpPr bwMode="auto">
          <a:xfrm>
            <a:off x="28575" y="2376487"/>
            <a:ext cx="9169400" cy="1514474"/>
            <a:chOff x="26" y="1737"/>
            <a:chExt cx="5776" cy="954"/>
          </a:xfrm>
        </p:grpSpPr>
        <p:sp>
          <p:nvSpPr>
            <p:cNvPr id="519184" name="Rectangle 16"/>
            <p:cNvSpPr>
              <a:spLocks noChangeArrowheads="1"/>
            </p:cNvSpPr>
            <p:nvPr/>
          </p:nvSpPr>
          <p:spPr bwMode="auto">
            <a:xfrm>
              <a:off x="26" y="1737"/>
              <a:ext cx="5776" cy="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  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依据点估计构造一个</a:t>
              </a:r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检验统计量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，然后分析当   成立时，该统计量有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什么</a:t>
              </a:r>
              <a:r>
                <a:rPr lang="en-US" altLang="zh-CN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lang="zh-CN" altLang="en-US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趋势</a:t>
              </a:r>
              <a:r>
                <a:rPr lang="en-US" altLang="zh-CN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r>
                <a:rPr lang="zh-CN" altLang="en-US" b="1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逆这个</a:t>
              </a:r>
              <a:r>
                <a:rPr lang="en-US" altLang="zh-CN" b="1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"</a:t>
              </a:r>
              <a:r>
                <a:rPr lang="zh-CN" altLang="en-US" b="1" dirty="0" smtClean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趋势</a:t>
              </a:r>
              <a:r>
                <a:rPr lang="en-US" altLang="zh-CN" b="1" dirty="0" smtClean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" </a:t>
              </a:r>
              <a:r>
                <a:rPr lang="zh-CN" altLang="en-US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就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给出了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algn="l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的</a:t>
              </a:r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拒绝域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形式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即   的拒绝域形式由   确定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9185" name="Object 17"/>
            <p:cNvGraphicFramePr>
              <a:graphicFrameLocks noChangeAspect="1"/>
            </p:cNvGraphicFramePr>
            <p:nvPr/>
          </p:nvGraphicFramePr>
          <p:xfrm>
            <a:off x="5349" y="1786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13" name="Equation" r:id="rId11" imgW="4572000" imgH="4267200" progId="Equation.DSMT4">
                    <p:embed/>
                  </p:oleObj>
                </mc:Choice>
                <mc:Fallback>
                  <p:oleObj name="Equation" r:id="rId11" imgW="4572000" imgH="42672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9" y="1786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86" name="Object 18"/>
            <p:cNvGraphicFramePr>
              <a:graphicFrameLocks noChangeAspect="1"/>
            </p:cNvGraphicFramePr>
            <p:nvPr/>
          </p:nvGraphicFramePr>
          <p:xfrm>
            <a:off x="116" y="2365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14" name="Equation" r:id="rId13" imgW="4572000" imgH="4267200" progId="Equation.DSMT4">
                    <p:embed/>
                  </p:oleObj>
                </mc:Choice>
                <mc:Fallback>
                  <p:oleObj name="Equation" r:id="rId13" imgW="4572000" imgH="42672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" y="2365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87" name="Object 19"/>
            <p:cNvGraphicFramePr>
              <a:graphicFrameLocks noChangeAspect="1"/>
            </p:cNvGraphicFramePr>
            <p:nvPr/>
          </p:nvGraphicFramePr>
          <p:xfrm>
            <a:off x="2141" y="2356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15" name="Equation" r:id="rId15" imgW="4572000" imgH="4267200" progId="Equation.DSMT4">
                    <p:embed/>
                  </p:oleObj>
                </mc:Choice>
                <mc:Fallback>
                  <p:oleObj name="Equation" r:id="rId15" imgW="4572000" imgH="42672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1" y="2356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88" name="Object 20"/>
            <p:cNvGraphicFramePr>
              <a:graphicFrameLocks noChangeAspect="1"/>
            </p:cNvGraphicFramePr>
            <p:nvPr/>
          </p:nvGraphicFramePr>
          <p:xfrm>
            <a:off x="4060" y="2365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16" name="Equation" r:id="rId17" imgW="4572000" imgH="4267200" progId="Equation.DSMT4">
                    <p:embed/>
                  </p:oleObj>
                </mc:Choice>
                <mc:Fallback>
                  <p:oleObj name="Equation" r:id="rId17" imgW="4572000" imgH="42672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0" y="2365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9189" name="WordArt 21"/>
          <p:cNvSpPr>
            <a:spLocks noChangeArrowheads="1" noChangeShapeType="1" noTextEdit="1"/>
          </p:cNvSpPr>
          <p:nvPr/>
        </p:nvSpPr>
        <p:spPr bwMode="auto">
          <a:xfrm>
            <a:off x="1444752" y="704088"/>
            <a:ext cx="6245352" cy="40081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处理假设检验问题的一般方法和步骤</a:t>
            </a:r>
            <a:endParaRPr lang="zh-CN" altLang="en-US" sz="3600" b="1" kern="10" dirty="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519190" name="Picture 22" descr="f125"/>
          <p:cNvPicPr>
            <a:picLocks noChangeAspect="1" noChangeArrowheads="1" noCrop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1397000"/>
            <a:ext cx="284162" cy="28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191" name="Picture 23" descr="f126"/>
          <p:cNvPicPr>
            <a:picLocks noChangeAspect="1" noChangeArrowheads="1" noCrop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2008188"/>
            <a:ext cx="284162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192" name="Picture 24" descr="f127"/>
          <p:cNvPicPr>
            <a:picLocks noChangeAspect="1" noChangeArrowheads="1" noCrop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2593975"/>
            <a:ext cx="284162" cy="28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193" name="Picture 25" descr="f128"/>
          <p:cNvPicPr>
            <a:picLocks noChangeAspect="1" noChangeArrowheads="1" noCrop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4038600"/>
            <a:ext cx="284162" cy="28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194" name="Picture 26" descr="f129"/>
          <p:cNvPicPr>
            <a:picLocks noChangeAspect="1" noChangeArrowheads="1" noCrop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5005388"/>
            <a:ext cx="284162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9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9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9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9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9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9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1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9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9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1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9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9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1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9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9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1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5" grpId="0"/>
      <p:bldP spid="51918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0675" name="Object 3"/>
          <p:cNvGraphicFramePr>
            <a:graphicFrameLocks noChangeAspect="1"/>
          </p:cNvGraphicFramePr>
          <p:nvPr/>
        </p:nvGraphicFramePr>
        <p:xfrm>
          <a:off x="2224088" y="4176713"/>
          <a:ext cx="3810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84" name="公式" r:id="rId1" imgW="2032000" imgH="254000" progId="Equation.3">
                  <p:embed/>
                </p:oleObj>
              </mc:Choice>
              <mc:Fallback>
                <p:oleObj name="公式" r:id="rId1" imgW="2032000" imgH="254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088" y="4176713"/>
                        <a:ext cx="3810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76" name="Object 4"/>
          <p:cNvGraphicFramePr>
            <a:graphicFrameLocks noChangeAspect="1"/>
          </p:cNvGraphicFramePr>
          <p:nvPr/>
        </p:nvGraphicFramePr>
        <p:xfrm>
          <a:off x="2217738" y="4584700"/>
          <a:ext cx="38417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85" name="公式" r:id="rId3" imgW="2044700" imgH="254000" progId="Equation.3">
                  <p:embed/>
                </p:oleObj>
              </mc:Choice>
              <mc:Fallback>
                <p:oleObj name="公式" r:id="rId3" imgW="2044700" imgH="2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8" y="4584700"/>
                        <a:ext cx="38417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677" name="Object 5"/>
          <p:cNvGraphicFramePr>
            <a:graphicFrameLocks noChangeAspect="1"/>
          </p:cNvGraphicFramePr>
          <p:nvPr/>
        </p:nvGraphicFramePr>
        <p:xfrm>
          <a:off x="2212975" y="3757613"/>
          <a:ext cx="3873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86" name="Equation" r:id="rId5" imgW="2070100" imgH="254000" progId="Equation.DSMT4">
                  <p:embed/>
                </p:oleObj>
              </mc:Choice>
              <mc:Fallback>
                <p:oleObj name="Equation" r:id="rId5" imgW="20701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3757613"/>
                        <a:ext cx="3873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684" name="Rectangle 12"/>
          <p:cNvSpPr>
            <a:spLocks noChangeArrowheads="1"/>
          </p:cNvSpPr>
          <p:nvPr/>
        </p:nvSpPr>
        <p:spPr bwMode="auto">
          <a:xfrm>
            <a:off x="-76200" y="6213475"/>
            <a:ext cx="7720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止误判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我们宁可相信新方法的燃烧率没有提高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0700" name="WordArt 28"/>
          <p:cNvSpPr>
            <a:spLocks noChangeArrowheads="1" noChangeShapeType="1" noTextEdit="1"/>
          </p:cNvSpPr>
          <p:nvPr/>
        </p:nvSpPr>
        <p:spPr bwMode="auto">
          <a:xfrm>
            <a:off x="6084888" y="3859213"/>
            <a:ext cx="209550" cy="2651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 smtClean="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 dirty="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0701" name="WordArt 29"/>
          <p:cNvSpPr>
            <a:spLocks noChangeArrowheads="1" noChangeShapeType="1" noTextEdit="1"/>
          </p:cNvSpPr>
          <p:nvPr/>
        </p:nvSpPr>
        <p:spPr bwMode="auto">
          <a:xfrm>
            <a:off x="6084888" y="4291013"/>
            <a:ext cx="209550" cy="2651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0702" name="WordArt 30"/>
          <p:cNvSpPr>
            <a:spLocks noChangeArrowheads="1" noChangeShapeType="1" noTextEdit="1"/>
          </p:cNvSpPr>
          <p:nvPr/>
        </p:nvSpPr>
        <p:spPr bwMode="auto">
          <a:xfrm>
            <a:off x="6086475" y="46990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0800" name="Group 128"/>
          <p:cNvGrpSpPr/>
          <p:nvPr/>
        </p:nvGrpSpPr>
        <p:grpSpPr bwMode="auto">
          <a:xfrm>
            <a:off x="652463" y="2530475"/>
            <a:ext cx="3078162" cy="519113"/>
            <a:chOff x="499" y="1714"/>
            <a:chExt cx="1939" cy="327"/>
          </a:xfrm>
        </p:grpSpPr>
        <p:sp>
          <p:nvSpPr>
            <p:cNvPr id="540707" name="Rectangle 35"/>
            <p:cNvSpPr>
              <a:spLocks noChangeArrowheads="1"/>
            </p:cNvSpPr>
            <p:nvPr/>
          </p:nvSpPr>
          <p:spPr bwMode="auto">
            <a:xfrm>
              <a:off x="499" y="1714"/>
              <a:ext cx="18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原平均燃烧率为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0708" name="Object 36"/>
            <p:cNvGraphicFramePr>
              <a:graphicFrameLocks noChangeAspect="1"/>
            </p:cNvGraphicFramePr>
            <p:nvPr/>
          </p:nvGraphicFramePr>
          <p:xfrm>
            <a:off x="2108" y="1784"/>
            <a:ext cx="33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587" name="Equation" r:id="rId7" imgW="4267200" imgH="3657600" progId="Equation.DSMT4">
                    <p:embed/>
                  </p:oleObj>
                </mc:Choice>
                <mc:Fallback>
                  <p:oleObj name="Equation" r:id="rId7" imgW="4267200" imgH="36576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8" y="1784"/>
                          <a:ext cx="33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0736" name="Rectangle 64"/>
          <p:cNvSpPr>
            <a:spLocks noChangeArrowheads="1"/>
          </p:cNvSpPr>
          <p:nvPr/>
        </p:nvSpPr>
        <p:spPr bwMode="auto">
          <a:xfrm>
            <a:off x="1257300" y="533400"/>
            <a:ext cx="7885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某厂生产的固体燃料推进器燃烧率服从正态分布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0737" name="Group 65"/>
          <p:cNvGrpSpPr/>
          <p:nvPr/>
        </p:nvGrpSpPr>
        <p:grpSpPr bwMode="auto">
          <a:xfrm>
            <a:off x="-6350" y="920750"/>
            <a:ext cx="9136063" cy="534988"/>
            <a:chOff x="-4" y="644"/>
            <a:chExt cx="5755" cy="337"/>
          </a:xfrm>
        </p:grpSpPr>
        <p:graphicFrame>
          <p:nvGraphicFramePr>
            <p:cNvPr id="540738" name="Object 66"/>
            <p:cNvGraphicFramePr>
              <a:graphicFrameLocks noChangeAspect="1"/>
            </p:cNvGraphicFramePr>
            <p:nvPr/>
          </p:nvGraphicFramePr>
          <p:xfrm>
            <a:off x="-4" y="664"/>
            <a:ext cx="151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588" name="Equation" r:id="rId9" imgW="22860000" imgH="4876800" progId="Equation.DSMT4">
                    <p:embed/>
                  </p:oleObj>
                </mc:Choice>
                <mc:Fallback>
                  <p:oleObj name="Equation" r:id="rId9" imgW="22860000" imgH="4876800" progId="Equation.DSMT4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" y="664"/>
                          <a:ext cx="1517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0739" name="Rectangle 67"/>
            <p:cNvSpPr>
              <a:spLocks noChangeArrowheads="1"/>
            </p:cNvSpPr>
            <p:nvPr/>
          </p:nvSpPr>
          <p:spPr bwMode="auto">
            <a:xfrm>
              <a:off x="1481" y="644"/>
              <a:ext cx="42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dist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现用新方法生产了一批推进器，从中随机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0740" name="Group 68"/>
          <p:cNvGrpSpPr/>
          <p:nvPr/>
        </p:nvGrpSpPr>
        <p:grpSpPr bwMode="auto">
          <a:xfrm>
            <a:off x="-50800" y="1733550"/>
            <a:ext cx="6781800" cy="519113"/>
            <a:chOff x="-32" y="1132"/>
            <a:chExt cx="4272" cy="327"/>
          </a:xfrm>
        </p:grpSpPr>
        <p:graphicFrame>
          <p:nvGraphicFramePr>
            <p:cNvPr id="540741" name="Object 69"/>
            <p:cNvGraphicFramePr>
              <a:graphicFrameLocks noChangeAspect="1"/>
            </p:cNvGraphicFramePr>
            <p:nvPr/>
          </p:nvGraphicFramePr>
          <p:xfrm>
            <a:off x="3339" y="1178"/>
            <a:ext cx="90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589" name="Equation" r:id="rId11" imgW="13716000" imgH="4267200" progId="Equation.DSMT4">
                    <p:embed/>
                  </p:oleObj>
                </mc:Choice>
                <mc:Fallback>
                  <p:oleObj name="Equation" r:id="rId11" imgW="13716000" imgH="4267200" progId="Equation.DSMT4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9" y="1178"/>
                          <a:ext cx="90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0742" name="Rectangle 70"/>
            <p:cNvSpPr>
              <a:spLocks noChangeArrowheads="1"/>
            </p:cNvSpPr>
            <p:nvPr/>
          </p:nvSpPr>
          <p:spPr bwMode="auto">
            <a:xfrm>
              <a:off x="-32" y="1132"/>
              <a:ext cx="35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问新方法燃烧率是否有显著提高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0743" name="Group 71"/>
          <p:cNvGrpSpPr/>
          <p:nvPr/>
        </p:nvGrpSpPr>
        <p:grpSpPr bwMode="auto">
          <a:xfrm>
            <a:off x="-25400" y="1314450"/>
            <a:ext cx="9182100" cy="530225"/>
            <a:chOff x="-16" y="860"/>
            <a:chExt cx="5784" cy="334"/>
          </a:xfrm>
        </p:grpSpPr>
        <p:sp>
          <p:nvSpPr>
            <p:cNvPr id="540744" name="Rectangle 72"/>
            <p:cNvSpPr>
              <a:spLocks noChangeArrowheads="1"/>
            </p:cNvSpPr>
            <p:nvPr/>
          </p:nvSpPr>
          <p:spPr bwMode="auto">
            <a:xfrm>
              <a:off x="-16" y="867"/>
              <a:ext cx="2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取     只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试验后算得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0745" name="Object 73"/>
            <p:cNvGraphicFramePr>
              <a:graphicFrameLocks noChangeAspect="1"/>
            </p:cNvGraphicFramePr>
            <p:nvPr/>
          </p:nvGraphicFramePr>
          <p:xfrm>
            <a:off x="266" y="933"/>
            <a:ext cx="601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590" name="Equation" r:id="rId13" imgW="9144000" imgH="3657600" progId="Equation.DSMT4">
                    <p:embed/>
                  </p:oleObj>
                </mc:Choice>
                <mc:Fallback>
                  <p:oleObj name="Equation" r:id="rId13" imgW="9144000" imgH="3657600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" y="933"/>
                          <a:ext cx="601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746" name="Object 74"/>
            <p:cNvGraphicFramePr>
              <a:graphicFrameLocks noChangeAspect="1"/>
            </p:cNvGraphicFramePr>
            <p:nvPr/>
          </p:nvGraphicFramePr>
          <p:xfrm>
            <a:off x="2328" y="932"/>
            <a:ext cx="85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591" name="Equation" r:id="rId15" imgW="14020800" imgH="3657600" progId="Equation.DSMT4">
                    <p:embed/>
                  </p:oleObj>
                </mc:Choice>
                <mc:Fallback>
                  <p:oleObj name="Equation" r:id="rId15" imgW="14020800" imgH="3657600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8" y="932"/>
                          <a:ext cx="85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0747" name="Rectangle 75"/>
            <p:cNvSpPr>
              <a:spLocks noChangeArrowheads="1"/>
            </p:cNvSpPr>
            <p:nvPr/>
          </p:nvSpPr>
          <p:spPr bwMode="auto">
            <a:xfrm>
              <a:off x="3113" y="860"/>
              <a:ext cx="26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设新方法的总体方差不变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40748" name="WordArt 76"/>
          <p:cNvSpPr>
            <a:spLocks noChangeArrowheads="1" noChangeShapeType="1" noTextEdit="1"/>
          </p:cNvSpPr>
          <p:nvPr/>
        </p:nvSpPr>
        <p:spPr bwMode="auto">
          <a:xfrm>
            <a:off x="784225" y="654050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540788" name="Group 116"/>
          <p:cNvGrpSpPr/>
          <p:nvPr/>
        </p:nvGrpSpPr>
        <p:grpSpPr bwMode="auto">
          <a:xfrm>
            <a:off x="762000" y="2305050"/>
            <a:ext cx="669925" cy="260350"/>
            <a:chOff x="408" y="2484"/>
            <a:chExt cx="422" cy="164"/>
          </a:xfrm>
        </p:grpSpPr>
        <p:sp>
          <p:nvSpPr>
            <p:cNvPr id="540789" name="Oval 117"/>
            <p:cNvSpPr>
              <a:spLocks noChangeArrowheads="1"/>
            </p:cNvSpPr>
            <p:nvPr/>
          </p:nvSpPr>
          <p:spPr bwMode="auto">
            <a:xfrm>
              <a:off x="408" y="2488"/>
              <a:ext cx="152" cy="160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3175" algn="ctr">
              <a:solidFill>
                <a:schemeClr val="hlink"/>
              </a:solidFill>
              <a:round/>
            </a:ln>
            <a:effectLst>
              <a:outerShdw sy="50000" kx="-2453608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90" name="WordArt 118"/>
            <p:cNvSpPr>
              <a:spLocks noChangeArrowheads="1" noChangeShapeType="1" noTextEdit="1"/>
            </p:cNvSpPr>
            <p:nvPr/>
          </p:nvSpPr>
          <p:spPr bwMode="auto">
            <a:xfrm>
              <a:off x="614" y="2484"/>
              <a:ext cx="216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sy="50000" kx="-2453608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sy="50000" kx="-2453608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540793" name="WordArt 121"/>
          <p:cNvSpPr>
            <a:spLocks noChangeArrowheads="1" noChangeShapeType="1" noTextEdit="1"/>
          </p:cNvSpPr>
          <p:nvPr/>
        </p:nvSpPr>
        <p:spPr bwMode="auto">
          <a:xfrm>
            <a:off x="1614488" y="2282825"/>
            <a:ext cx="5973762" cy="2730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有什么理由提出“新方法燃烧率有显著提高”</a:t>
            </a:r>
            <a:r>
              <a:rPr lang="en-US" altLang="zh-CN" sz="3600" kern="10" dirty="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  <a:endParaRPr lang="zh-CN" altLang="en-US" sz="3600" kern="10" dirty="0">
              <a:ln w="12700">
                <a:solidFill>
                  <a:srgbClr val="FF0000"/>
                </a:solidFill>
                <a:round/>
              </a:ln>
              <a:solidFill>
                <a:srgbClr val="C0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0801" name="Group 129"/>
          <p:cNvGrpSpPr/>
          <p:nvPr/>
        </p:nvGrpSpPr>
        <p:grpSpPr bwMode="auto">
          <a:xfrm>
            <a:off x="666750" y="2925763"/>
            <a:ext cx="5565775" cy="519112"/>
            <a:chOff x="508" y="1995"/>
            <a:chExt cx="3506" cy="327"/>
          </a:xfrm>
        </p:grpSpPr>
        <p:sp>
          <p:nvSpPr>
            <p:cNvPr id="540796" name="Rectangle 124"/>
            <p:cNvSpPr>
              <a:spLocks noChangeArrowheads="1"/>
            </p:cNvSpPr>
            <p:nvPr/>
          </p:nvSpPr>
          <p:spPr bwMode="auto">
            <a:xfrm>
              <a:off x="508" y="1995"/>
              <a:ext cx="29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新方法燃烧率样本均值为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0797" name="Object 125"/>
            <p:cNvGraphicFramePr>
              <a:graphicFrameLocks noChangeAspect="1"/>
            </p:cNvGraphicFramePr>
            <p:nvPr/>
          </p:nvGraphicFramePr>
          <p:xfrm>
            <a:off x="3000" y="2073"/>
            <a:ext cx="1014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592" name="Equation" r:id="rId17" imgW="13106400" imgH="3657600" progId="Equation.DSMT4">
                    <p:embed/>
                  </p:oleObj>
                </mc:Choice>
                <mc:Fallback>
                  <p:oleObj name="Equation" r:id="rId17" imgW="13106400" imgH="3657600" progId="Equation.DSMT4">
                    <p:embed/>
                    <p:pic>
                      <p:nvPicPr>
                        <p:cNvPr id="0" name="Object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0" y="2073"/>
                          <a:ext cx="1014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0798" name="Object 126"/>
          <p:cNvGraphicFramePr>
            <a:graphicFrameLocks noChangeAspect="1"/>
          </p:cNvGraphicFramePr>
          <p:nvPr/>
        </p:nvGraphicFramePr>
        <p:xfrm>
          <a:off x="6083300" y="3051175"/>
          <a:ext cx="74771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93" name="Equation" r:id="rId19" imgW="6096000" imgH="3657600" progId="Equation.DSMT4">
                  <p:embed/>
                </p:oleObj>
              </mc:Choice>
              <mc:Fallback>
                <p:oleObj name="Equation" r:id="rId19" imgW="6096000" imgH="3657600" progId="Equation.DSMT4">
                  <p:embed/>
                  <p:pic>
                    <p:nvPicPr>
                      <p:cNvPr id="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3051175"/>
                        <a:ext cx="747713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0802" name="Group 130"/>
          <p:cNvGrpSpPr/>
          <p:nvPr/>
        </p:nvGrpSpPr>
        <p:grpSpPr bwMode="auto">
          <a:xfrm>
            <a:off x="750888" y="3487738"/>
            <a:ext cx="669925" cy="260350"/>
            <a:chOff x="408" y="2484"/>
            <a:chExt cx="422" cy="164"/>
          </a:xfrm>
        </p:grpSpPr>
        <p:sp>
          <p:nvSpPr>
            <p:cNvPr id="540803" name="Oval 131"/>
            <p:cNvSpPr>
              <a:spLocks noChangeArrowheads="1"/>
            </p:cNvSpPr>
            <p:nvPr/>
          </p:nvSpPr>
          <p:spPr bwMode="auto">
            <a:xfrm>
              <a:off x="408" y="2488"/>
              <a:ext cx="152" cy="160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3175" algn="ctr">
              <a:solidFill>
                <a:schemeClr val="hlink"/>
              </a:solidFill>
              <a:round/>
            </a:ln>
            <a:effectLst>
              <a:outerShdw sy="50000" kx="-2453608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804" name="WordArt 132"/>
            <p:cNvSpPr>
              <a:spLocks noChangeArrowheads="1" noChangeShapeType="1" noTextEdit="1"/>
            </p:cNvSpPr>
            <p:nvPr/>
          </p:nvSpPr>
          <p:spPr bwMode="auto">
            <a:xfrm>
              <a:off x="614" y="2484"/>
              <a:ext cx="216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sy="50000" kx="-2453608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sy="50000" kx="-2453608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540805" name="WordArt 133"/>
          <p:cNvSpPr>
            <a:spLocks noChangeArrowheads="1" noChangeShapeType="1" noTextEdit="1"/>
          </p:cNvSpPr>
          <p:nvPr/>
        </p:nvSpPr>
        <p:spPr bwMode="auto">
          <a:xfrm>
            <a:off x="1613473" y="3473450"/>
            <a:ext cx="3328415" cy="2952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依题意，要检验的假设</a:t>
            </a:r>
            <a:r>
              <a:rPr lang="zh-CN" altLang="en-US" sz="3600" kern="10" dirty="0" smtClean="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是</a:t>
            </a:r>
            <a:r>
              <a:rPr lang="en-US" altLang="zh-CN" sz="3600" kern="10" dirty="0" smtClean="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endParaRPr lang="zh-CN" altLang="en-US" sz="3600" kern="10" dirty="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0807" name="Group 135"/>
          <p:cNvGrpSpPr/>
          <p:nvPr/>
        </p:nvGrpSpPr>
        <p:grpSpPr bwMode="auto">
          <a:xfrm>
            <a:off x="752475" y="5114925"/>
            <a:ext cx="669925" cy="260350"/>
            <a:chOff x="408" y="2484"/>
            <a:chExt cx="422" cy="164"/>
          </a:xfrm>
        </p:grpSpPr>
        <p:sp>
          <p:nvSpPr>
            <p:cNvPr id="540808" name="Oval 136"/>
            <p:cNvSpPr>
              <a:spLocks noChangeArrowheads="1"/>
            </p:cNvSpPr>
            <p:nvPr/>
          </p:nvSpPr>
          <p:spPr bwMode="auto">
            <a:xfrm>
              <a:off x="408" y="2488"/>
              <a:ext cx="152" cy="160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3175" algn="ctr">
              <a:solidFill>
                <a:schemeClr val="hlink"/>
              </a:solidFill>
              <a:round/>
            </a:ln>
            <a:effectLst>
              <a:outerShdw sy="50000" kx="-2453608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809" name="WordArt 137"/>
            <p:cNvSpPr>
              <a:spLocks noChangeArrowheads="1" noChangeShapeType="1" noTextEdit="1"/>
            </p:cNvSpPr>
            <p:nvPr/>
          </p:nvSpPr>
          <p:spPr bwMode="auto">
            <a:xfrm>
              <a:off x="614" y="2484"/>
              <a:ext cx="216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sy="50000" kx="-2453608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sy="50000" kx="-2453608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540810" name="WordArt 138"/>
          <p:cNvSpPr>
            <a:spLocks noChangeArrowheads="1" noChangeShapeType="1" noTextEdit="1"/>
          </p:cNvSpPr>
          <p:nvPr/>
        </p:nvSpPr>
        <p:spPr bwMode="auto">
          <a:xfrm>
            <a:off x="1617663" y="5092700"/>
            <a:ext cx="2519362" cy="2603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检验的目的是什么</a:t>
            </a:r>
            <a:r>
              <a:rPr lang="en-US" altLang="zh-CN" sz="3600" kern="10" dirty="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  <a:endParaRPr lang="zh-CN" altLang="en-US" sz="3600" kern="10" dirty="0">
              <a:ln w="12700">
                <a:solidFill>
                  <a:srgbClr val="FF0000"/>
                </a:solidFill>
                <a:round/>
              </a:ln>
              <a:solidFill>
                <a:srgbClr val="C0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0812" name="Rectangle 140"/>
          <p:cNvSpPr>
            <a:spLocks noChangeArrowheads="1"/>
          </p:cNvSpPr>
          <p:nvPr/>
        </p:nvSpPr>
        <p:spPr bwMode="auto">
          <a:xfrm>
            <a:off x="666750" y="5338763"/>
            <a:ext cx="562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检验的目的是要论证新方法好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.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0814" name="Group 142"/>
          <p:cNvGrpSpPr/>
          <p:nvPr/>
        </p:nvGrpSpPr>
        <p:grpSpPr bwMode="auto">
          <a:xfrm>
            <a:off x="5995988" y="5500688"/>
            <a:ext cx="280987" cy="255587"/>
            <a:chOff x="4234" y="2097"/>
            <a:chExt cx="177" cy="161"/>
          </a:xfrm>
        </p:grpSpPr>
        <p:grpSp>
          <p:nvGrpSpPr>
            <p:cNvPr id="540815" name="Group 143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40816" name="Line 144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0817" name="Line 145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40818" name="Group 146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40819" name="Line 147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0820" name="Line 148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40821" name="Rectangle 149"/>
          <p:cNvSpPr>
            <a:spLocks noChangeArrowheads="1"/>
          </p:cNvSpPr>
          <p:nvPr/>
        </p:nvSpPr>
        <p:spPr bwMode="auto">
          <a:xfrm>
            <a:off x="668338" y="5772150"/>
            <a:ext cx="5862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检验的目的是要对新方法进行鉴定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.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0822" name="Rectangle 150"/>
          <p:cNvSpPr>
            <a:spLocks noChangeArrowheads="1"/>
          </p:cNvSpPr>
          <p:nvPr/>
        </p:nvSpPr>
        <p:spPr bwMode="auto">
          <a:xfrm>
            <a:off x="6219825" y="5773738"/>
            <a:ext cx="2924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为了慎重起见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防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0823" name="WordArt 151"/>
          <p:cNvSpPr>
            <a:spLocks noChangeArrowheads="1" noChangeShapeType="1" noTextEdit="1"/>
          </p:cNvSpPr>
          <p:nvPr/>
        </p:nvSpPr>
        <p:spPr bwMode="auto">
          <a:xfrm>
            <a:off x="5603875" y="54864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0824" name="WordArt 152"/>
          <p:cNvSpPr>
            <a:spLocks noChangeArrowheads="1" noChangeShapeType="1" noTextEdit="1"/>
          </p:cNvSpPr>
          <p:nvPr/>
        </p:nvSpPr>
        <p:spPr bwMode="auto">
          <a:xfrm>
            <a:off x="5603875" y="54864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0000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40827" name="Object 155"/>
          <p:cNvGraphicFramePr>
            <a:graphicFrameLocks noChangeAspect="1"/>
          </p:cNvGraphicFramePr>
          <p:nvPr/>
        </p:nvGraphicFramePr>
        <p:xfrm>
          <a:off x="2214563" y="3759200"/>
          <a:ext cx="3873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94" name="Equation" r:id="rId21" imgW="2070100" imgH="254000" progId="Equation.DSMT4">
                  <p:embed/>
                </p:oleObj>
              </mc:Choice>
              <mc:Fallback>
                <p:oleObj name="Equation" r:id="rId21" imgW="2070100" imgH="254000" progId="Equation.DSMT4">
                  <p:embed/>
                  <p:pic>
                    <p:nvPicPr>
                      <p:cNvPr id="0" name="Object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3759200"/>
                        <a:ext cx="3873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828" name="Object 156"/>
          <p:cNvGraphicFramePr>
            <a:graphicFrameLocks noChangeAspect="1"/>
          </p:cNvGraphicFramePr>
          <p:nvPr/>
        </p:nvGraphicFramePr>
        <p:xfrm>
          <a:off x="2222500" y="4178300"/>
          <a:ext cx="3810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95" name="Equation" r:id="rId23" imgW="2032000" imgH="254000" progId="Equation.DSMT4">
                  <p:embed/>
                </p:oleObj>
              </mc:Choice>
              <mc:Fallback>
                <p:oleObj name="Equation" r:id="rId23" imgW="2032000" imgH="254000" progId="Equation.DSMT4">
                  <p:embed/>
                  <p:pic>
                    <p:nvPicPr>
                      <p:cNvPr id="0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4178300"/>
                        <a:ext cx="3810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829" name="Object 157"/>
          <p:cNvGraphicFramePr>
            <a:graphicFrameLocks noChangeAspect="1"/>
          </p:cNvGraphicFramePr>
          <p:nvPr/>
        </p:nvGraphicFramePr>
        <p:xfrm>
          <a:off x="2216150" y="4586288"/>
          <a:ext cx="38417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96" name="公式" r:id="rId25" imgW="2044700" imgH="254000" progId="Equation.3">
                  <p:embed/>
                </p:oleObj>
              </mc:Choice>
              <mc:Fallback>
                <p:oleObj name="公式" r:id="rId25" imgW="2044700" imgH="254000" progId="Equation.3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4586288"/>
                        <a:ext cx="38417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685" name="Freeform 13"/>
          <p:cNvSpPr/>
          <p:nvPr/>
        </p:nvSpPr>
        <p:spPr bwMode="auto">
          <a:xfrm>
            <a:off x="6076950" y="4684713"/>
            <a:ext cx="252413" cy="269875"/>
          </a:xfrm>
          <a:custGeom>
            <a:avLst/>
            <a:gdLst>
              <a:gd name="T0" fmla="*/ 0 w 159"/>
              <a:gd name="T1" fmla="*/ 94 h 170"/>
              <a:gd name="T2" fmla="*/ 74 w 159"/>
              <a:gd name="T3" fmla="*/ 154 h 170"/>
              <a:gd name="T4" fmla="*/ 159 w 159"/>
              <a:gd name="T5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9" h="170">
                <a:moveTo>
                  <a:pt x="0" y="94"/>
                </a:moveTo>
                <a:cubicBezTo>
                  <a:pt x="12" y="104"/>
                  <a:pt x="47" y="170"/>
                  <a:pt x="74" y="154"/>
                </a:cubicBezTo>
                <a:cubicBezTo>
                  <a:pt x="101" y="138"/>
                  <a:pt x="141" y="32"/>
                  <a:pt x="159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</a:ln>
          <a:effectLst>
            <a:outerShdw dist="64758" dir="67859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40693" name="Group 21"/>
          <p:cNvGrpSpPr/>
          <p:nvPr/>
        </p:nvGrpSpPr>
        <p:grpSpPr bwMode="auto">
          <a:xfrm>
            <a:off x="6076950" y="4314825"/>
            <a:ext cx="280988" cy="255588"/>
            <a:chOff x="4234" y="2097"/>
            <a:chExt cx="177" cy="161"/>
          </a:xfrm>
        </p:grpSpPr>
        <p:grpSp>
          <p:nvGrpSpPr>
            <p:cNvPr id="540694" name="Group 22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40695" name="Line 23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0696" name="Line 24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40697" name="Group 25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40698" name="Line 26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0699" name="Line 27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40686" name="Group 14"/>
          <p:cNvGrpSpPr/>
          <p:nvPr/>
        </p:nvGrpSpPr>
        <p:grpSpPr bwMode="auto">
          <a:xfrm>
            <a:off x="6083300" y="3886200"/>
            <a:ext cx="280988" cy="255588"/>
            <a:chOff x="4234" y="2097"/>
            <a:chExt cx="177" cy="161"/>
          </a:xfrm>
        </p:grpSpPr>
        <p:grpSp>
          <p:nvGrpSpPr>
            <p:cNvPr id="540687" name="Group 15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40688" name="Line 16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0689" name="Line 17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40690" name="Group 18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40691" name="Line 19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0692" name="Line 20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40841" name="Group 169"/>
          <p:cNvGrpSpPr/>
          <p:nvPr/>
        </p:nvGrpSpPr>
        <p:grpSpPr bwMode="auto">
          <a:xfrm>
            <a:off x="50800" y="4273550"/>
            <a:ext cx="1992313" cy="407988"/>
            <a:chOff x="160" y="2668"/>
            <a:chExt cx="1255" cy="257"/>
          </a:xfrm>
        </p:grpSpPr>
        <p:sp>
          <p:nvSpPr>
            <p:cNvPr id="540834" name="AutoShape 162"/>
            <p:cNvSpPr>
              <a:spLocks noChangeArrowheads="1"/>
            </p:cNvSpPr>
            <p:nvPr/>
          </p:nvSpPr>
          <p:spPr bwMode="auto">
            <a:xfrm>
              <a:off x="160" y="2668"/>
              <a:ext cx="1255" cy="257"/>
            </a:xfrm>
            <a:prstGeom prst="wedgeRectCallout">
              <a:avLst>
                <a:gd name="adj1" fmla="val 60597"/>
                <a:gd name="adj2" fmla="val -22375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40835" name="WordArt 163"/>
            <p:cNvSpPr>
              <a:spLocks noChangeArrowheads="1" noChangeShapeType="1" noTextEdit="1"/>
            </p:cNvSpPr>
            <p:nvPr/>
          </p:nvSpPr>
          <p:spPr bwMode="auto">
            <a:xfrm>
              <a:off x="192" y="2700"/>
              <a:ext cx="1181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保护“新方法”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0842" name="Group 170"/>
          <p:cNvGrpSpPr/>
          <p:nvPr/>
        </p:nvGrpSpPr>
        <p:grpSpPr bwMode="auto">
          <a:xfrm>
            <a:off x="6567488" y="4605338"/>
            <a:ext cx="2576512" cy="890587"/>
            <a:chOff x="4233" y="2925"/>
            <a:chExt cx="1527" cy="561"/>
          </a:xfrm>
        </p:grpSpPr>
        <p:sp>
          <p:nvSpPr>
            <p:cNvPr id="540838" name="AutoShape 166"/>
            <p:cNvSpPr>
              <a:spLocks noChangeArrowheads="1"/>
            </p:cNvSpPr>
            <p:nvPr/>
          </p:nvSpPr>
          <p:spPr bwMode="auto">
            <a:xfrm>
              <a:off x="4233" y="2925"/>
              <a:ext cx="1527" cy="561"/>
            </a:xfrm>
            <a:prstGeom prst="wedgeRectCallout">
              <a:avLst>
                <a:gd name="adj1" fmla="val -57074"/>
                <a:gd name="adj2" fmla="val -24509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40839" name="WordArt 167"/>
            <p:cNvSpPr>
              <a:spLocks noChangeArrowheads="1" noChangeShapeType="1" noTextEdit="1"/>
            </p:cNvSpPr>
            <p:nvPr/>
          </p:nvSpPr>
          <p:spPr bwMode="auto">
            <a:xfrm>
              <a:off x="4267" y="2973"/>
              <a:ext cx="1453" cy="4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保护新方法“鉴定者”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“采用者”</a:t>
              </a:r>
              <a:r>
                <a:rPr lang="en-US" altLang="zh-CN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,“</a:t>
              </a: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投资者”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0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0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4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4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4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0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40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4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4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40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4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0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0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4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4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4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4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4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4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4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40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40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40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40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0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0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5" dur="1000" fill="hold"/>
                                        <p:tgtEl>
                                          <p:spTgt spid="54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4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40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40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4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54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54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2" dur="1000" fill="hold"/>
                                        <p:tgtEl>
                                          <p:spTgt spid="54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4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1000"/>
                                        <p:tgtEl>
                                          <p:spTgt spid="5408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1000"/>
                                        <p:tgtEl>
                                          <p:spTgt spid="540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9" dur="1000" fill="hold"/>
                                        <p:tgtEl>
                                          <p:spTgt spid="54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40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40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4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40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40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4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1000"/>
                                        <p:tgtEl>
                                          <p:spTgt spid="540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1000"/>
                                        <p:tgtEl>
                                          <p:spTgt spid="540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5" dur="1000" fill="hold"/>
                                        <p:tgtEl>
                                          <p:spTgt spid="54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540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540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4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40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40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4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1000"/>
                                        <p:tgtEl>
                                          <p:spTgt spid="5408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1000"/>
                                        <p:tgtEl>
                                          <p:spTgt spid="5407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84" grpId="0"/>
      <p:bldP spid="540700" grpId="0" animBg="1"/>
      <p:bldP spid="540700" grpId="1" animBg="1"/>
      <p:bldP spid="540701" grpId="0" animBg="1"/>
      <p:bldP spid="540701" grpId="1" animBg="1"/>
      <p:bldP spid="540702" grpId="0" animBg="1"/>
      <p:bldP spid="540702" grpId="1" animBg="1"/>
      <p:bldP spid="540736" grpId="0"/>
      <p:bldP spid="540748" grpId="0"/>
      <p:bldP spid="540793" grpId="0" animBg="1"/>
      <p:bldP spid="540805" grpId="0" animBg="1"/>
      <p:bldP spid="540810" grpId="0" animBg="1"/>
      <p:bldP spid="540812" grpId="0"/>
      <p:bldP spid="540821" grpId="0"/>
      <p:bldP spid="540822" grpId="0"/>
      <p:bldP spid="540823" grpId="0" animBg="1"/>
      <p:bldP spid="540824" grpId="0" animBg="1"/>
      <p:bldP spid="540824" grpId="1" animBg="1"/>
      <p:bldP spid="54068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957" name="Group 213"/>
          <p:cNvGrpSpPr/>
          <p:nvPr/>
        </p:nvGrpSpPr>
        <p:grpSpPr bwMode="auto">
          <a:xfrm>
            <a:off x="809625" y="2859088"/>
            <a:ext cx="5427663" cy="814387"/>
            <a:chOff x="518" y="1769"/>
            <a:chExt cx="3419" cy="513"/>
          </a:xfrm>
        </p:grpSpPr>
        <p:sp>
          <p:nvSpPr>
            <p:cNvPr id="543958" name="Rectangle 214"/>
            <p:cNvSpPr>
              <a:spLocks noChangeArrowheads="1"/>
            </p:cNvSpPr>
            <p:nvPr/>
          </p:nvSpPr>
          <p:spPr bwMode="auto">
            <a:xfrm>
              <a:off x="894" y="1856"/>
              <a:ext cx="25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  的无偏估计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且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3959" name="Object 215"/>
            <p:cNvGraphicFramePr>
              <a:graphicFrameLocks noChangeAspect="1"/>
            </p:cNvGraphicFramePr>
            <p:nvPr/>
          </p:nvGraphicFramePr>
          <p:xfrm>
            <a:off x="1181" y="1938"/>
            <a:ext cx="227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25" name="Equation" r:id="rId1" imgW="3352800" imgH="3657600" progId="Equation.DSMT4">
                    <p:embed/>
                  </p:oleObj>
                </mc:Choice>
                <mc:Fallback>
                  <p:oleObj name="Equation" r:id="rId1" imgW="3352800" imgH="3657600" progId="Equation.DSMT4">
                    <p:embed/>
                    <p:pic>
                      <p:nvPicPr>
                        <p:cNvPr id="0" name="Object 2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1" y="1938"/>
                          <a:ext cx="227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960" name="Object 216"/>
            <p:cNvGraphicFramePr>
              <a:graphicFrameLocks noChangeAspect="1"/>
            </p:cNvGraphicFramePr>
            <p:nvPr/>
          </p:nvGraphicFramePr>
          <p:xfrm>
            <a:off x="518" y="1896"/>
            <a:ext cx="47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26" name="Equation" r:id="rId3" imgW="7010400" imgH="3962400" progId="Equation.DSMT4">
                    <p:embed/>
                  </p:oleObj>
                </mc:Choice>
                <mc:Fallback>
                  <p:oleObj name="Equation" r:id="rId3" imgW="7010400" imgH="3962400" progId="Equation.DSMT4">
                    <p:embed/>
                    <p:pic>
                      <p:nvPicPr>
                        <p:cNvPr id="0" name="Object 2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" y="1896"/>
                          <a:ext cx="472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961" name="Object 217"/>
            <p:cNvGraphicFramePr>
              <a:graphicFrameLocks noChangeAspect="1"/>
            </p:cNvGraphicFramePr>
            <p:nvPr/>
          </p:nvGraphicFramePr>
          <p:xfrm>
            <a:off x="2864" y="1769"/>
            <a:ext cx="1073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27" name="Equation" r:id="rId5" imgW="15849600" imgH="7924800" progId="Equation.DSMT4">
                    <p:embed/>
                  </p:oleObj>
                </mc:Choice>
                <mc:Fallback>
                  <p:oleObj name="Equation" r:id="rId5" imgW="15849600" imgH="7924800" progId="Equation.DSMT4">
                    <p:embed/>
                    <p:pic>
                      <p:nvPicPr>
                        <p:cNvPr id="0" name="Object 2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" y="1769"/>
                          <a:ext cx="1073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756" name="Rectangle 12"/>
          <p:cNvSpPr>
            <a:spLocks noChangeArrowheads="1"/>
          </p:cNvSpPr>
          <p:nvPr/>
        </p:nvSpPr>
        <p:spPr bwMode="auto">
          <a:xfrm>
            <a:off x="1257300" y="533400"/>
            <a:ext cx="7885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某厂生产的固体燃料推进器燃烧率服从正态分布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3757" name="Group 13"/>
          <p:cNvGrpSpPr/>
          <p:nvPr/>
        </p:nvGrpSpPr>
        <p:grpSpPr bwMode="auto">
          <a:xfrm>
            <a:off x="-6350" y="920750"/>
            <a:ext cx="9136063" cy="534988"/>
            <a:chOff x="-4" y="644"/>
            <a:chExt cx="5755" cy="337"/>
          </a:xfrm>
        </p:grpSpPr>
        <p:graphicFrame>
          <p:nvGraphicFramePr>
            <p:cNvPr id="543758" name="Object 14"/>
            <p:cNvGraphicFramePr>
              <a:graphicFrameLocks noChangeAspect="1"/>
            </p:cNvGraphicFramePr>
            <p:nvPr/>
          </p:nvGraphicFramePr>
          <p:xfrm>
            <a:off x="-4" y="664"/>
            <a:ext cx="151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28" name="Equation" r:id="rId7" imgW="22860000" imgH="4876800" progId="Equation.DSMT4">
                    <p:embed/>
                  </p:oleObj>
                </mc:Choice>
                <mc:Fallback>
                  <p:oleObj name="Equation" r:id="rId7" imgW="22860000" imgH="48768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" y="664"/>
                          <a:ext cx="1517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759" name="Rectangle 15"/>
            <p:cNvSpPr>
              <a:spLocks noChangeArrowheads="1"/>
            </p:cNvSpPr>
            <p:nvPr/>
          </p:nvSpPr>
          <p:spPr bwMode="auto">
            <a:xfrm>
              <a:off x="1481" y="644"/>
              <a:ext cx="42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dist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现用新方法生产了一批推进器，从中随机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3760" name="Group 16"/>
          <p:cNvGrpSpPr/>
          <p:nvPr/>
        </p:nvGrpSpPr>
        <p:grpSpPr bwMode="auto">
          <a:xfrm>
            <a:off x="-50800" y="1733550"/>
            <a:ext cx="6781800" cy="519113"/>
            <a:chOff x="-32" y="1132"/>
            <a:chExt cx="4272" cy="327"/>
          </a:xfrm>
        </p:grpSpPr>
        <p:graphicFrame>
          <p:nvGraphicFramePr>
            <p:cNvPr id="543761" name="Object 17"/>
            <p:cNvGraphicFramePr>
              <a:graphicFrameLocks noChangeAspect="1"/>
            </p:cNvGraphicFramePr>
            <p:nvPr/>
          </p:nvGraphicFramePr>
          <p:xfrm>
            <a:off x="3339" y="1178"/>
            <a:ext cx="90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29" name="Equation" r:id="rId9" imgW="13716000" imgH="4267200" progId="Equation.DSMT4">
                    <p:embed/>
                  </p:oleObj>
                </mc:Choice>
                <mc:Fallback>
                  <p:oleObj name="Equation" r:id="rId9" imgW="13716000" imgH="42672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9" y="1178"/>
                          <a:ext cx="90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762" name="Rectangle 18"/>
            <p:cNvSpPr>
              <a:spLocks noChangeArrowheads="1"/>
            </p:cNvSpPr>
            <p:nvPr/>
          </p:nvSpPr>
          <p:spPr bwMode="auto">
            <a:xfrm>
              <a:off x="-32" y="1132"/>
              <a:ext cx="35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问新方法燃烧率是否有显著提高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3763" name="Group 19"/>
          <p:cNvGrpSpPr/>
          <p:nvPr/>
        </p:nvGrpSpPr>
        <p:grpSpPr bwMode="auto">
          <a:xfrm>
            <a:off x="-25400" y="1314450"/>
            <a:ext cx="9182100" cy="530225"/>
            <a:chOff x="-16" y="860"/>
            <a:chExt cx="5784" cy="334"/>
          </a:xfrm>
        </p:grpSpPr>
        <p:sp>
          <p:nvSpPr>
            <p:cNvPr id="543764" name="Rectangle 20"/>
            <p:cNvSpPr>
              <a:spLocks noChangeArrowheads="1"/>
            </p:cNvSpPr>
            <p:nvPr/>
          </p:nvSpPr>
          <p:spPr bwMode="auto">
            <a:xfrm>
              <a:off x="-16" y="867"/>
              <a:ext cx="2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取     只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试验后算得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3765" name="Object 21"/>
            <p:cNvGraphicFramePr>
              <a:graphicFrameLocks noChangeAspect="1"/>
            </p:cNvGraphicFramePr>
            <p:nvPr/>
          </p:nvGraphicFramePr>
          <p:xfrm>
            <a:off x="266" y="933"/>
            <a:ext cx="601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30" name="Equation" r:id="rId11" imgW="9144000" imgH="3657600" progId="Equation.DSMT4">
                    <p:embed/>
                  </p:oleObj>
                </mc:Choice>
                <mc:Fallback>
                  <p:oleObj name="Equation" r:id="rId11" imgW="9144000" imgH="36576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" y="933"/>
                          <a:ext cx="601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766" name="Object 22"/>
            <p:cNvGraphicFramePr>
              <a:graphicFrameLocks noChangeAspect="1"/>
            </p:cNvGraphicFramePr>
            <p:nvPr/>
          </p:nvGraphicFramePr>
          <p:xfrm>
            <a:off x="2328" y="932"/>
            <a:ext cx="85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31" name="Equation" r:id="rId13" imgW="14020800" imgH="3657600" progId="Equation.DSMT4">
                    <p:embed/>
                  </p:oleObj>
                </mc:Choice>
                <mc:Fallback>
                  <p:oleObj name="Equation" r:id="rId13" imgW="14020800" imgH="36576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8" y="932"/>
                          <a:ext cx="85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767" name="Rectangle 23"/>
            <p:cNvSpPr>
              <a:spLocks noChangeArrowheads="1"/>
            </p:cNvSpPr>
            <p:nvPr/>
          </p:nvSpPr>
          <p:spPr bwMode="auto">
            <a:xfrm>
              <a:off x="3113" y="860"/>
              <a:ext cx="26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设新方法的总体方差不变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43768" name="WordArt 24"/>
          <p:cNvSpPr>
            <a:spLocks noChangeArrowheads="1" noChangeShapeType="1" noTextEdit="1"/>
          </p:cNvSpPr>
          <p:nvPr/>
        </p:nvSpPr>
        <p:spPr bwMode="auto">
          <a:xfrm>
            <a:off x="784225" y="654050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43821" name="WordArt 77"/>
          <p:cNvSpPr>
            <a:spLocks noChangeArrowheads="1" noChangeShapeType="1" noTextEdit="1"/>
          </p:cNvSpPr>
          <p:nvPr/>
        </p:nvSpPr>
        <p:spPr bwMode="auto">
          <a:xfrm>
            <a:off x="784225" y="2260600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chemeClr val="accent2"/>
                  </a:solidFill>
                  <a:round/>
                </a:ln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>
              <a:ln w="12700">
                <a:solidFill>
                  <a:schemeClr val="accent2"/>
                </a:solidFill>
                <a:round/>
              </a:ln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43822" name="Object 78"/>
          <p:cNvGraphicFramePr>
            <a:graphicFrameLocks noChangeAspect="1"/>
          </p:cNvGraphicFramePr>
          <p:nvPr/>
        </p:nvGraphicFramePr>
        <p:xfrm>
          <a:off x="2344738" y="2590800"/>
          <a:ext cx="42227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332" name="Equation" r:id="rId15" imgW="40538400" imgH="4572000" progId="Equation.DSMT4">
                  <p:embed/>
                </p:oleObj>
              </mc:Choice>
              <mc:Fallback>
                <p:oleObj name="Equation" r:id="rId15" imgW="40538400" imgH="457200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2590800"/>
                        <a:ext cx="42227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3823" name="Group 79"/>
          <p:cNvGrpSpPr/>
          <p:nvPr/>
        </p:nvGrpSpPr>
        <p:grpSpPr bwMode="auto">
          <a:xfrm>
            <a:off x="1319213" y="2144713"/>
            <a:ext cx="7226300" cy="522287"/>
            <a:chOff x="831" y="1415"/>
            <a:chExt cx="4552" cy="329"/>
          </a:xfrm>
        </p:grpSpPr>
        <p:sp>
          <p:nvSpPr>
            <p:cNvPr id="543824" name="Rectangle 80"/>
            <p:cNvSpPr>
              <a:spLocks noChangeArrowheads="1"/>
            </p:cNvSpPr>
            <p:nvPr/>
          </p:nvSpPr>
          <p:spPr bwMode="auto">
            <a:xfrm>
              <a:off x="3646" y="1417"/>
              <a:ext cx="173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依题意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要检验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3825" name="Rectangle 81"/>
            <p:cNvSpPr>
              <a:spLocks noChangeArrowheads="1"/>
            </p:cNvSpPr>
            <p:nvPr/>
          </p:nvSpPr>
          <p:spPr bwMode="auto">
            <a:xfrm>
              <a:off x="831" y="1415"/>
              <a:ext cx="20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设新方法燃烧率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3826" name="Object 82"/>
            <p:cNvGraphicFramePr>
              <a:graphicFrameLocks noChangeAspect="1"/>
            </p:cNvGraphicFramePr>
            <p:nvPr/>
          </p:nvGraphicFramePr>
          <p:xfrm>
            <a:off x="2445" y="1426"/>
            <a:ext cx="128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33" name="Equation" r:id="rId17" imgW="19507200" imgH="4876800" progId="Equation.DSMT4">
                    <p:embed/>
                  </p:oleObj>
                </mc:Choice>
                <mc:Fallback>
                  <p:oleObj name="Equation" r:id="rId17" imgW="19507200" imgH="4876800" progId="Equation.DSMT4">
                    <p:embed/>
                    <p:pic>
                      <p:nvPicPr>
                        <p:cNvPr id="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5" y="1426"/>
                          <a:ext cx="128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827" name="Freeform 83"/>
          <p:cNvSpPr/>
          <p:nvPr/>
        </p:nvSpPr>
        <p:spPr bwMode="auto">
          <a:xfrm>
            <a:off x="2451100" y="2982913"/>
            <a:ext cx="3975100" cy="42862"/>
          </a:xfrm>
          <a:custGeom>
            <a:avLst/>
            <a:gdLst>
              <a:gd name="T0" fmla="*/ 0 w 2176"/>
              <a:gd name="T1" fmla="*/ 9 h 28"/>
              <a:gd name="T2" fmla="*/ 328 w 2176"/>
              <a:gd name="T3" fmla="*/ 25 h 28"/>
              <a:gd name="T4" fmla="*/ 616 w 2176"/>
              <a:gd name="T5" fmla="*/ 17 h 28"/>
              <a:gd name="T6" fmla="*/ 1000 w 2176"/>
              <a:gd name="T7" fmla="*/ 25 h 28"/>
              <a:gd name="T8" fmla="*/ 1456 w 2176"/>
              <a:gd name="T9" fmla="*/ 1 h 28"/>
              <a:gd name="T10" fmla="*/ 1728 w 2176"/>
              <a:gd name="T11" fmla="*/ 17 h 28"/>
              <a:gd name="T12" fmla="*/ 2000 w 2176"/>
              <a:gd name="T13" fmla="*/ 17 h 28"/>
              <a:gd name="T14" fmla="*/ 2176 w 2176"/>
              <a:gd name="T15" fmla="*/ 17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176" h="28">
                <a:moveTo>
                  <a:pt x="0" y="9"/>
                </a:moveTo>
                <a:cubicBezTo>
                  <a:pt x="56" y="12"/>
                  <a:pt x="225" y="24"/>
                  <a:pt x="328" y="25"/>
                </a:cubicBezTo>
                <a:cubicBezTo>
                  <a:pt x="431" y="26"/>
                  <a:pt x="504" y="17"/>
                  <a:pt x="616" y="17"/>
                </a:cubicBezTo>
                <a:cubicBezTo>
                  <a:pt x="728" y="17"/>
                  <a:pt x="860" y="28"/>
                  <a:pt x="1000" y="25"/>
                </a:cubicBezTo>
                <a:cubicBezTo>
                  <a:pt x="1140" y="22"/>
                  <a:pt x="1335" y="2"/>
                  <a:pt x="1456" y="1"/>
                </a:cubicBezTo>
                <a:cubicBezTo>
                  <a:pt x="1577" y="0"/>
                  <a:pt x="1637" y="14"/>
                  <a:pt x="1728" y="17"/>
                </a:cubicBezTo>
                <a:cubicBezTo>
                  <a:pt x="1819" y="20"/>
                  <a:pt x="1925" y="17"/>
                  <a:pt x="2000" y="17"/>
                </a:cubicBezTo>
                <a:cubicBezTo>
                  <a:pt x="2075" y="17"/>
                  <a:pt x="2139" y="17"/>
                  <a:pt x="2176" y="17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3838" name="Rectangle 94"/>
          <p:cNvSpPr>
            <a:spLocks noChangeArrowheads="1"/>
          </p:cNvSpPr>
          <p:nvPr/>
        </p:nvSpPr>
        <p:spPr bwMode="auto">
          <a:xfrm>
            <a:off x="-38100" y="3913188"/>
            <a:ext cx="192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的值应偏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3965" name="Group 221"/>
          <p:cNvGrpSpPr/>
          <p:nvPr/>
        </p:nvGrpSpPr>
        <p:grpSpPr bwMode="auto">
          <a:xfrm>
            <a:off x="4572000" y="3444875"/>
            <a:ext cx="4546600" cy="538163"/>
            <a:chOff x="2904" y="2170"/>
            <a:chExt cx="2864" cy="339"/>
          </a:xfrm>
        </p:grpSpPr>
        <p:sp>
          <p:nvSpPr>
            <p:cNvPr id="543835" name="Rectangle 91"/>
            <p:cNvSpPr>
              <a:spLocks noChangeArrowheads="1"/>
            </p:cNvSpPr>
            <p:nvPr/>
          </p:nvSpPr>
          <p:spPr bwMode="auto">
            <a:xfrm>
              <a:off x="2904" y="2170"/>
              <a:ext cx="25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且当  为真时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统计量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3836" name="Object 92"/>
            <p:cNvGraphicFramePr>
              <a:graphicFrameLocks noChangeAspect="1"/>
            </p:cNvGraphicFramePr>
            <p:nvPr/>
          </p:nvGraphicFramePr>
          <p:xfrm>
            <a:off x="3470" y="2221"/>
            <a:ext cx="35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34" name="Equation" r:id="rId19" imgW="4572000" imgH="4267200" progId="Equation.DSMT4">
                    <p:embed/>
                  </p:oleObj>
                </mc:Choice>
                <mc:Fallback>
                  <p:oleObj name="Equation" r:id="rId19" imgW="4572000" imgH="4267200" progId="Equation.DSMT4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0" y="2221"/>
                          <a:ext cx="35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839" name="Object 95"/>
            <p:cNvGraphicFramePr>
              <a:graphicFrameLocks noChangeAspect="1"/>
            </p:cNvGraphicFramePr>
            <p:nvPr/>
          </p:nvGraphicFramePr>
          <p:xfrm>
            <a:off x="5184" y="2212"/>
            <a:ext cx="584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35" name="Equation" r:id="rId21" imgW="8839200" imgH="4572000" progId="Equation.DSMT4">
                    <p:embed/>
                  </p:oleObj>
                </mc:Choice>
                <mc:Fallback>
                  <p:oleObj name="Equation" r:id="rId21" imgW="8839200" imgH="4572000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212"/>
                          <a:ext cx="584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843" name="Rectangle 99"/>
          <p:cNvSpPr>
            <a:spLocks noChangeArrowheads="1"/>
          </p:cNvSpPr>
          <p:nvPr/>
        </p:nvSpPr>
        <p:spPr bwMode="auto">
          <a:xfrm>
            <a:off x="1422400" y="3906838"/>
            <a:ext cx="1476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小于零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43844" name="WordArt 100"/>
          <p:cNvSpPr>
            <a:spLocks noChangeArrowheads="1" noChangeShapeType="1" noTextEdit="1"/>
          </p:cNvSpPr>
          <p:nvPr/>
        </p:nvSpPr>
        <p:spPr bwMode="auto">
          <a:xfrm>
            <a:off x="1579563" y="4062413"/>
            <a:ext cx="209550" cy="2651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ln w="12700">
                  <a:solidFill>
                    <a:srgbClr val="99CCFF"/>
                  </a:solidFill>
                  <a:rou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 dirty="0">
              <a:ln w="12700">
                <a:solidFill>
                  <a:srgbClr val="99CCFF"/>
                </a:solidFill>
                <a:round/>
              </a:ln>
              <a:solidFill>
                <a:srgbClr val="FF00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3850" name="Group 106"/>
          <p:cNvGrpSpPr/>
          <p:nvPr/>
        </p:nvGrpSpPr>
        <p:grpSpPr bwMode="auto">
          <a:xfrm>
            <a:off x="712788" y="4605338"/>
            <a:ext cx="763587" cy="400050"/>
            <a:chOff x="581" y="1694"/>
            <a:chExt cx="481" cy="252"/>
          </a:xfrm>
        </p:grpSpPr>
        <p:pic>
          <p:nvPicPr>
            <p:cNvPr id="543851" name="Picture 107" descr="4"/>
            <p:cNvPicPr>
              <a:picLocks noChangeAspect="1" noChangeArrowheads="1" noCrop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" y="1715"/>
              <a:ext cx="366" cy="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3852" name="WordArt 108"/>
            <p:cNvSpPr>
              <a:spLocks noChangeArrowheads="1" noChangeShapeType="1" noTextEdit="1"/>
            </p:cNvSpPr>
            <p:nvPr/>
          </p:nvSpPr>
          <p:spPr bwMode="auto">
            <a:xfrm>
              <a:off x="808" y="1694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grpSp>
        <p:nvGrpSpPr>
          <p:cNvPr id="543858" name="Group 114"/>
          <p:cNvGrpSpPr/>
          <p:nvPr/>
        </p:nvGrpSpPr>
        <p:grpSpPr bwMode="auto">
          <a:xfrm>
            <a:off x="712788" y="5565775"/>
            <a:ext cx="763587" cy="400050"/>
            <a:chOff x="581" y="1694"/>
            <a:chExt cx="481" cy="252"/>
          </a:xfrm>
        </p:grpSpPr>
        <p:pic>
          <p:nvPicPr>
            <p:cNvPr id="543859" name="Picture 115" descr="4"/>
            <p:cNvPicPr>
              <a:picLocks noChangeAspect="1" noChangeArrowheads="1" noCrop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" y="1715"/>
              <a:ext cx="366" cy="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3860" name="WordArt 116"/>
            <p:cNvSpPr>
              <a:spLocks noChangeArrowheads="1" noChangeShapeType="1" noTextEdit="1"/>
            </p:cNvSpPr>
            <p:nvPr/>
          </p:nvSpPr>
          <p:spPr bwMode="auto">
            <a:xfrm>
              <a:off x="808" y="1694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charset="-122"/>
                  <a:ea typeface="华文新魏" panose="02010800040101010101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543865" name="WordArt 121"/>
          <p:cNvSpPr>
            <a:spLocks noChangeArrowheads="1" noChangeShapeType="1" noTextEdit="1"/>
          </p:cNvSpPr>
          <p:nvPr/>
        </p:nvSpPr>
        <p:spPr bwMode="auto">
          <a:xfrm>
            <a:off x="739775" y="5108575"/>
            <a:ext cx="1066800" cy="2667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solidFill>
                  <a:schemeClr val="accent2">
                    <a:lumMod val="7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不一定！</a:t>
            </a:r>
            <a:endParaRPr lang="zh-CN" altLang="en-US" sz="3600" b="1" kern="10" dirty="0">
              <a:ln w="12700">
                <a:solidFill>
                  <a:schemeClr val="accent2"/>
                </a:solidFill>
                <a:round/>
              </a:ln>
              <a:solidFill>
                <a:schemeClr val="accent2">
                  <a:lumMod val="75000"/>
                </a:schemeClr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3914" name="Group 170"/>
          <p:cNvGrpSpPr/>
          <p:nvPr/>
        </p:nvGrpSpPr>
        <p:grpSpPr bwMode="auto">
          <a:xfrm>
            <a:off x="1720850" y="4457700"/>
            <a:ext cx="5297488" cy="660400"/>
            <a:chOff x="1092" y="2552"/>
            <a:chExt cx="3337" cy="416"/>
          </a:xfrm>
        </p:grpSpPr>
        <p:grpSp>
          <p:nvGrpSpPr>
            <p:cNvPr id="543905" name="Group 161"/>
            <p:cNvGrpSpPr/>
            <p:nvPr/>
          </p:nvGrpSpPr>
          <p:grpSpPr bwMode="auto">
            <a:xfrm>
              <a:off x="1092" y="2645"/>
              <a:ext cx="1671" cy="180"/>
              <a:chOff x="1444" y="2621"/>
              <a:chExt cx="1671" cy="180"/>
            </a:xfrm>
          </p:grpSpPr>
          <p:grpSp>
            <p:nvGrpSpPr>
              <p:cNvPr id="543904" name="Group 160"/>
              <p:cNvGrpSpPr/>
              <p:nvPr/>
            </p:nvGrpSpPr>
            <p:grpSpPr bwMode="auto">
              <a:xfrm>
                <a:off x="1637" y="2637"/>
                <a:ext cx="220" cy="162"/>
                <a:chOff x="3613" y="2637"/>
                <a:chExt cx="220" cy="162"/>
              </a:xfrm>
            </p:grpSpPr>
            <p:sp>
              <p:nvSpPr>
                <p:cNvPr id="543878" name="WordArt 13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779" y="2729"/>
                  <a:ext cx="54" cy="70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C00000"/>
                      </a:solidFill>
                      <a:effectLst/>
                      <a:latin typeface="Times New Roman" panose="02020603050405020304"/>
                      <a:cs typeface="Times New Roman" panose="02020603050405020304"/>
                    </a:rPr>
                    <a:t>0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43879" name="WordArt 13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613" y="2637"/>
                  <a:ext cx="143" cy="154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C00000"/>
                      </a:solidFill>
                      <a:effectLst/>
                      <a:latin typeface="Times New Roman" panose="02020603050405020304"/>
                      <a:cs typeface="Times New Roman" panose="02020603050405020304"/>
                    </a:rPr>
                    <a:t>H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</p:grpSp>
          <p:sp>
            <p:nvSpPr>
              <p:cNvPr id="543880" name="WordArt 13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444" y="2621"/>
                <a:ext cx="1671" cy="18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kern="10" dirty="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黑体" panose="02010609060101010101" pitchFamily="2" charset="-122"/>
                    <a:ea typeface="黑体" panose="02010609060101010101" pitchFamily="2" charset="-122"/>
                  </a:rPr>
                  <a:t>当   成立时</a:t>
                </a:r>
                <a:r>
                  <a:rPr lang="en-US" altLang="zh-CN" sz="3600" kern="10" dirty="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黑体" panose="02010609060101010101" pitchFamily="2" charset="-122"/>
                    <a:ea typeface="黑体" panose="02010609060101010101" pitchFamily="2" charset="-122"/>
                  </a:rPr>
                  <a:t>,</a:t>
                </a:r>
                <a:r>
                  <a:rPr lang="zh-CN" altLang="en-US" sz="3600" kern="10" dirty="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黑体" panose="02010609060101010101" pitchFamily="2" charset="-122"/>
                    <a:ea typeface="黑体" panose="02010609060101010101" pitchFamily="2" charset="-122"/>
                  </a:rPr>
                  <a:t>是否有</a:t>
                </a:r>
                <a:endPara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43903" name="Group 159"/>
            <p:cNvGrpSpPr/>
            <p:nvPr/>
          </p:nvGrpSpPr>
          <p:grpSpPr bwMode="auto">
            <a:xfrm>
              <a:off x="2850" y="2552"/>
              <a:ext cx="1367" cy="416"/>
              <a:chOff x="3330" y="3000"/>
              <a:chExt cx="1367" cy="416"/>
            </a:xfrm>
          </p:grpSpPr>
          <p:sp>
            <p:nvSpPr>
              <p:cNvPr id="543868" name="WordArt 12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10" y="3025"/>
                <a:ext cx="131" cy="16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m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3869" name="WordArt 12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52" y="3116"/>
                <a:ext cx="54" cy="7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870" name="WordArt 12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539" y="3095"/>
                <a:ext cx="131" cy="9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grpSp>
            <p:nvGrpSpPr>
              <p:cNvPr id="543871" name="Group 127"/>
              <p:cNvGrpSpPr/>
              <p:nvPr/>
            </p:nvGrpSpPr>
            <p:grpSpPr bwMode="auto">
              <a:xfrm>
                <a:off x="3339" y="3000"/>
                <a:ext cx="159" cy="176"/>
                <a:chOff x="1963" y="2984"/>
                <a:chExt cx="159" cy="176"/>
              </a:xfrm>
            </p:grpSpPr>
            <p:sp>
              <p:nvSpPr>
                <p:cNvPr id="543872" name="WordArt 12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63" y="3022"/>
                  <a:ext cx="146" cy="138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i="1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C00000"/>
                      </a:solidFill>
                      <a:effectLst/>
                      <a:latin typeface="Times New Roman" panose="02020603050405020304"/>
                      <a:cs typeface="Times New Roman" panose="02020603050405020304"/>
                    </a:rPr>
                    <a:t>X</a:t>
                  </a:r>
                  <a:endParaRPr lang="zh-CN" altLang="en-US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43873" name="WordArt 12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91" y="2984"/>
                  <a:ext cx="131" cy="9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C00000"/>
                      </a:solidFill>
                      <a:effectLst/>
                      <a:latin typeface="Symbol" panose="05050102010706020507"/>
                    </a:rPr>
                    <a:t>-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endParaRPr>
                </a:p>
              </p:txBody>
            </p:sp>
          </p:grpSp>
          <p:sp>
            <p:nvSpPr>
              <p:cNvPr id="543882" name="WordArt 138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37" y="3142"/>
                <a:ext cx="156" cy="146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N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883" name="WordArt 139"/>
              <p:cNvSpPr>
                <a:spLocks noChangeArrowheads="1" noChangeShapeType="1" noTextEdit="1"/>
              </p:cNvSpPr>
              <p:nvPr/>
            </p:nvSpPr>
            <p:spPr bwMode="auto">
              <a:xfrm>
                <a:off x="4309" y="3154"/>
                <a:ext cx="41" cy="146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(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884" name="WordArt 140"/>
              <p:cNvSpPr>
                <a:spLocks noChangeArrowheads="1" noChangeShapeType="1" noTextEdit="1"/>
              </p:cNvSpPr>
              <p:nvPr/>
            </p:nvSpPr>
            <p:spPr bwMode="auto">
              <a:xfrm>
                <a:off x="4656" y="3154"/>
                <a:ext cx="41" cy="146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)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885" name="WordArt 141"/>
              <p:cNvSpPr>
                <a:spLocks noChangeArrowheads="1" noChangeShapeType="1" noTextEdit="1"/>
              </p:cNvSpPr>
              <p:nvPr/>
            </p:nvSpPr>
            <p:spPr bwMode="auto">
              <a:xfrm>
                <a:off x="4371" y="3164"/>
                <a:ext cx="254" cy="146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0,1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886" name="WordArt 14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970" y="3205"/>
                <a:ext cx="127" cy="27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b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~</a:t>
                </a:r>
                <a:endPara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889" name="WordArt 14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64" y="3264"/>
                <a:ext cx="139" cy="119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40287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s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3891" name="WordArt 14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97" y="3333"/>
                <a:ext cx="52" cy="71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893" name="WordArt 14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30" y="3227"/>
                <a:ext cx="585" cy="2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b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-</a:t>
                </a:r>
                <a:endPara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3897" name="WordArt 15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543" y="3263"/>
                <a:ext cx="139" cy="135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65468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/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3898" name="WordArt 15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60" y="3269"/>
                <a:ext cx="83" cy="147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7833"/>
                  </a:avLst>
                </a:prstTxWarp>
              </a:bodyPr>
              <a:lstStyle/>
              <a:p>
                <a:r>
                  <a: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√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901" name="WordArt 15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51" y="3304"/>
                <a:ext cx="120" cy="104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3333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n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902" name="WordArt 15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27" y="3264"/>
                <a:ext cx="170" cy="1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</p:grpSp>
        <p:sp>
          <p:nvSpPr>
            <p:cNvPr id="543906" name="WordArt 162"/>
            <p:cNvSpPr>
              <a:spLocks noChangeArrowheads="1" noChangeShapeType="1" noTextEdit="1"/>
            </p:cNvSpPr>
            <p:nvPr/>
          </p:nvSpPr>
          <p:spPr bwMode="auto">
            <a:xfrm>
              <a:off x="4297" y="2687"/>
              <a:ext cx="132" cy="167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？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3942" name="Group 198"/>
          <p:cNvGrpSpPr/>
          <p:nvPr/>
        </p:nvGrpSpPr>
        <p:grpSpPr bwMode="auto">
          <a:xfrm>
            <a:off x="1709738" y="5559425"/>
            <a:ext cx="3201987" cy="285750"/>
            <a:chOff x="1021" y="3422"/>
            <a:chExt cx="2017" cy="180"/>
          </a:xfrm>
        </p:grpSpPr>
        <p:grpSp>
          <p:nvGrpSpPr>
            <p:cNvPr id="543918" name="Group 174"/>
            <p:cNvGrpSpPr/>
            <p:nvPr/>
          </p:nvGrpSpPr>
          <p:grpSpPr bwMode="auto">
            <a:xfrm>
              <a:off x="1838" y="3438"/>
              <a:ext cx="220" cy="162"/>
              <a:chOff x="3613" y="2637"/>
              <a:chExt cx="220" cy="162"/>
            </a:xfrm>
          </p:grpSpPr>
          <p:sp>
            <p:nvSpPr>
              <p:cNvPr id="543919" name="WordArt 17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79" y="2729"/>
                <a:ext cx="54" cy="7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3920" name="WordArt 17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13" y="2637"/>
                <a:ext cx="143" cy="154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543921" name="WordArt 177"/>
            <p:cNvSpPr>
              <a:spLocks noChangeArrowheads="1" noChangeShapeType="1" noTextEdit="1"/>
            </p:cNvSpPr>
            <p:nvPr/>
          </p:nvSpPr>
          <p:spPr bwMode="auto">
            <a:xfrm>
              <a:off x="1021" y="3422"/>
              <a:ext cx="1839" cy="1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怎样确定   的拒绝域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3941" name="WordArt 197"/>
            <p:cNvSpPr>
              <a:spLocks noChangeArrowheads="1" noChangeShapeType="1" noTextEdit="1"/>
            </p:cNvSpPr>
            <p:nvPr/>
          </p:nvSpPr>
          <p:spPr bwMode="auto">
            <a:xfrm>
              <a:off x="2906" y="3424"/>
              <a:ext cx="132" cy="167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？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3964" name="Group 220"/>
          <p:cNvGrpSpPr/>
          <p:nvPr/>
        </p:nvGrpSpPr>
        <p:grpSpPr bwMode="auto">
          <a:xfrm>
            <a:off x="811213" y="3455988"/>
            <a:ext cx="4702175" cy="519112"/>
            <a:chOff x="527" y="2177"/>
            <a:chExt cx="2962" cy="327"/>
          </a:xfrm>
        </p:grpSpPr>
        <p:sp>
          <p:nvSpPr>
            <p:cNvPr id="543951" name="Rectangle 207"/>
            <p:cNvSpPr>
              <a:spLocks noChangeArrowheads="1"/>
            </p:cNvSpPr>
            <p:nvPr/>
          </p:nvSpPr>
          <p:spPr bwMode="auto">
            <a:xfrm>
              <a:off x="895" y="2177"/>
              <a:ext cx="25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的值应在 </a:t>
              </a:r>
              <a:r>
                <a:rPr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附近波动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3952" name="Object 208"/>
            <p:cNvGraphicFramePr>
              <a:graphicFrameLocks noChangeAspect="1"/>
            </p:cNvGraphicFramePr>
            <p:nvPr/>
          </p:nvGraphicFramePr>
          <p:xfrm>
            <a:off x="1854" y="2267"/>
            <a:ext cx="227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36" name="Equation" r:id="rId24" imgW="3352800" imgH="3657600" progId="Equation.DSMT4">
                    <p:embed/>
                  </p:oleObj>
                </mc:Choice>
                <mc:Fallback>
                  <p:oleObj name="Equation" r:id="rId24" imgW="3352800" imgH="3657600" progId="Equation.DSMT4">
                    <p:embed/>
                    <p:pic>
                      <p:nvPicPr>
                        <p:cNvPr id="0" name="Object 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4" y="2267"/>
                          <a:ext cx="227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953" name="Object 209"/>
            <p:cNvGraphicFramePr>
              <a:graphicFrameLocks noChangeAspect="1"/>
            </p:cNvGraphicFramePr>
            <p:nvPr/>
          </p:nvGraphicFramePr>
          <p:xfrm>
            <a:off x="527" y="2217"/>
            <a:ext cx="47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37" name="Equation" r:id="rId26" imgW="7010400" imgH="3962400" progId="Equation.DSMT4">
                    <p:embed/>
                  </p:oleObj>
                </mc:Choice>
                <mc:Fallback>
                  <p:oleObj name="Equation" r:id="rId26" imgW="7010400" imgH="3962400" progId="Equation.DSMT4">
                    <p:embed/>
                    <p:pic>
                      <p:nvPicPr>
                        <p:cNvPr id="0" name="Object 2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" y="2217"/>
                          <a:ext cx="472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3956" name="Group 212"/>
          <p:cNvGrpSpPr/>
          <p:nvPr/>
        </p:nvGrpSpPr>
        <p:grpSpPr bwMode="auto">
          <a:xfrm>
            <a:off x="2506663" y="3889375"/>
            <a:ext cx="6662737" cy="531813"/>
            <a:chOff x="1619" y="2906"/>
            <a:chExt cx="4197" cy="335"/>
          </a:xfrm>
        </p:grpSpPr>
        <p:sp>
          <p:nvSpPr>
            <p:cNvPr id="543841" name="Rectangle 97"/>
            <p:cNvSpPr>
              <a:spLocks noChangeArrowheads="1"/>
            </p:cNvSpPr>
            <p:nvPr/>
          </p:nvSpPr>
          <p:spPr bwMode="auto">
            <a:xfrm>
              <a:off x="1619" y="2906"/>
              <a:ext cx="41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否则有理由怀疑  的真实性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从而拒绝</a:t>
              </a:r>
              <a:endPara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3842" name="Object 98"/>
            <p:cNvGraphicFramePr>
              <a:graphicFrameLocks noChangeAspect="1"/>
            </p:cNvGraphicFramePr>
            <p:nvPr/>
          </p:nvGraphicFramePr>
          <p:xfrm>
            <a:off x="5494" y="2963"/>
            <a:ext cx="32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38" name="Equation" r:id="rId28" imgW="4572000" imgH="4267200" progId="Equation.DSMT4">
                    <p:embed/>
                  </p:oleObj>
                </mc:Choice>
                <mc:Fallback>
                  <p:oleObj name="Equation" r:id="rId28" imgW="4572000" imgH="4267200" progId="Equation.DSMT4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4" y="2963"/>
                          <a:ext cx="32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955" name="Object 211"/>
            <p:cNvGraphicFramePr>
              <a:graphicFrameLocks noChangeAspect="1"/>
            </p:cNvGraphicFramePr>
            <p:nvPr/>
          </p:nvGraphicFramePr>
          <p:xfrm>
            <a:off x="3351" y="2964"/>
            <a:ext cx="32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339" name="Equation" r:id="rId30" imgW="4572000" imgH="4267200" progId="Equation.DSMT4">
                    <p:embed/>
                  </p:oleObj>
                </mc:Choice>
                <mc:Fallback>
                  <p:oleObj name="Equation" r:id="rId30" imgW="4572000" imgH="4267200" progId="Equation.DSMT4">
                    <p:embed/>
                    <p:pic>
                      <p:nvPicPr>
                        <p:cNvPr id="0" name="Object 2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1" y="2964"/>
                          <a:ext cx="32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3832" name="Group 88"/>
          <p:cNvGrpSpPr/>
          <p:nvPr/>
        </p:nvGrpSpPr>
        <p:grpSpPr bwMode="auto">
          <a:xfrm>
            <a:off x="277018" y="2667000"/>
            <a:ext cx="1992313" cy="407988"/>
            <a:chOff x="368" y="2084"/>
            <a:chExt cx="1255" cy="257"/>
          </a:xfrm>
        </p:grpSpPr>
        <p:sp>
          <p:nvSpPr>
            <p:cNvPr id="543830" name="AutoShape 86"/>
            <p:cNvSpPr>
              <a:spLocks noChangeArrowheads="1"/>
            </p:cNvSpPr>
            <p:nvPr/>
          </p:nvSpPr>
          <p:spPr bwMode="auto">
            <a:xfrm>
              <a:off x="368" y="2084"/>
              <a:ext cx="1255" cy="257"/>
            </a:xfrm>
            <a:prstGeom prst="wedgeRectCallout">
              <a:avLst>
                <a:gd name="adj1" fmla="val 56667"/>
                <a:gd name="adj2" fmla="val 7484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43831" name="WordArt 87"/>
            <p:cNvSpPr>
              <a:spLocks noChangeArrowheads="1" noChangeShapeType="1" noTextEdit="1"/>
            </p:cNvSpPr>
            <p:nvPr/>
          </p:nvSpPr>
          <p:spPr bwMode="auto">
            <a:xfrm>
              <a:off x="400" y="2116"/>
              <a:ext cx="1181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单边检验问题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3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3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3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3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5438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543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4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4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4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4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3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43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5438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4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4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43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43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4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438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438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4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3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3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4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4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827" grpId="0" animBg="1"/>
      <p:bldP spid="543827" grpId="1" animBg="1"/>
      <p:bldP spid="543838" grpId="0"/>
      <p:bldP spid="543843" grpId="0"/>
      <p:bldP spid="543844" grpId="0"/>
      <p:bldP spid="543844" grpId="1"/>
      <p:bldP spid="54386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5874" name="Object 82"/>
          <p:cNvGraphicFramePr>
            <a:graphicFrameLocks noChangeAspect="1"/>
          </p:cNvGraphicFramePr>
          <p:nvPr/>
        </p:nvGraphicFramePr>
        <p:xfrm>
          <a:off x="4341813" y="1484313"/>
          <a:ext cx="3700462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57" name="Equation" r:id="rId1" imgW="34442400" imgH="9448800" progId="Equation.DSMT4">
                  <p:embed/>
                </p:oleObj>
              </mc:Choice>
              <mc:Fallback>
                <p:oleObj name="Equation" r:id="rId1" imgW="34442400" imgH="9448800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813" y="1484313"/>
                        <a:ext cx="3700462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77" name="Object 85"/>
          <p:cNvGraphicFramePr>
            <a:graphicFrameLocks noChangeAspect="1"/>
          </p:cNvGraphicFramePr>
          <p:nvPr/>
        </p:nvGraphicFramePr>
        <p:xfrm>
          <a:off x="407988" y="2368550"/>
          <a:ext cx="7618412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58" name="Equation" r:id="rId3" imgW="73456800" imgH="9448800" progId="Equation.DSMT4">
                  <p:embed/>
                </p:oleObj>
              </mc:Choice>
              <mc:Fallback>
                <p:oleObj name="Equation" r:id="rId3" imgW="73456800" imgH="94488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2368550"/>
                        <a:ext cx="7618412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78" name="Object 86"/>
          <p:cNvGraphicFramePr>
            <a:graphicFrameLocks noChangeAspect="1"/>
          </p:cNvGraphicFramePr>
          <p:nvPr/>
        </p:nvGraphicFramePr>
        <p:xfrm>
          <a:off x="4187825" y="3251200"/>
          <a:ext cx="37068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59" name="Equation" r:id="rId5" imgW="36576000" imgH="9448800" progId="Equation.DSMT4">
                  <p:embed/>
                </p:oleObj>
              </mc:Choice>
              <mc:Fallback>
                <p:oleObj name="Equation" r:id="rId5" imgW="36576000" imgH="9448800" progId="Equation.DSMT4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25" y="3251200"/>
                        <a:ext cx="37068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79" name="Oval 87"/>
          <p:cNvSpPr>
            <a:spLocks noChangeArrowheads="1"/>
          </p:cNvSpPr>
          <p:nvPr/>
        </p:nvSpPr>
        <p:spPr bwMode="auto">
          <a:xfrm>
            <a:off x="4897438" y="2368550"/>
            <a:ext cx="977900" cy="1749425"/>
          </a:xfrm>
          <a:prstGeom prst="ellipse">
            <a:avLst/>
          </a:prstGeom>
          <a:noFill/>
          <a:ln w="19050" algn="ctr">
            <a:solidFill>
              <a:schemeClr val="accent2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45888" name="Object 96"/>
          <p:cNvGraphicFramePr>
            <a:graphicFrameLocks noChangeAspect="1"/>
          </p:cNvGraphicFramePr>
          <p:nvPr/>
        </p:nvGraphicFramePr>
        <p:xfrm>
          <a:off x="1218583" y="611188"/>
          <a:ext cx="3286125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60" name="Equation" r:id="rId7" imgW="32004000" imgH="9448800" progId="Equation.DSMT4">
                  <p:embed/>
                </p:oleObj>
              </mc:Choice>
              <mc:Fallback>
                <p:oleObj name="Equation" r:id="rId7" imgW="32004000" imgH="9448800" progId="Equation.DSMT4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583" y="611188"/>
                        <a:ext cx="3286125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75" name="Oval 83"/>
          <p:cNvSpPr>
            <a:spLocks noChangeArrowheads="1"/>
          </p:cNvSpPr>
          <p:nvPr/>
        </p:nvSpPr>
        <p:spPr bwMode="auto">
          <a:xfrm>
            <a:off x="4857750" y="1477963"/>
            <a:ext cx="1028700" cy="898525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45919" name="Object 127"/>
          <p:cNvGraphicFramePr>
            <a:graphicFrameLocks noChangeAspect="1"/>
          </p:cNvGraphicFramePr>
          <p:nvPr/>
        </p:nvGraphicFramePr>
        <p:xfrm>
          <a:off x="7820025" y="3586163"/>
          <a:ext cx="5873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61" name="Equation" r:id="rId9" imgW="5791200" imgH="3048000" progId="Equation.DSMT4">
                  <p:embed/>
                </p:oleObj>
              </mc:Choice>
              <mc:Fallback>
                <p:oleObj name="Equation" r:id="rId9" imgW="5791200" imgH="3048000" progId="Equation.DSMT4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0025" y="3586163"/>
                        <a:ext cx="5873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5992" name="Group 200"/>
          <p:cNvGrpSpPr/>
          <p:nvPr/>
        </p:nvGrpSpPr>
        <p:grpSpPr bwMode="auto">
          <a:xfrm>
            <a:off x="619125" y="4218217"/>
            <a:ext cx="7972425" cy="660400"/>
            <a:chOff x="574" y="2872"/>
            <a:chExt cx="5022" cy="416"/>
          </a:xfrm>
        </p:grpSpPr>
        <p:grpSp>
          <p:nvGrpSpPr>
            <p:cNvPr id="545923" name="Group 131"/>
            <p:cNvGrpSpPr/>
            <p:nvPr/>
          </p:nvGrpSpPr>
          <p:grpSpPr bwMode="auto">
            <a:xfrm>
              <a:off x="2727" y="2999"/>
              <a:ext cx="220" cy="162"/>
              <a:chOff x="3613" y="2637"/>
              <a:chExt cx="220" cy="162"/>
            </a:xfrm>
          </p:grpSpPr>
          <p:sp>
            <p:nvSpPr>
              <p:cNvPr id="545924" name="WordArt 13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79" y="2729"/>
                <a:ext cx="54" cy="7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925" name="WordArt 13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13" y="2637"/>
                <a:ext cx="143" cy="154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 dirty="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545926" name="WordArt 134"/>
            <p:cNvSpPr>
              <a:spLocks noChangeArrowheads="1" noChangeShapeType="1" noTextEdit="1"/>
            </p:cNvSpPr>
            <p:nvPr/>
          </p:nvSpPr>
          <p:spPr bwMode="auto">
            <a:xfrm>
              <a:off x="574" y="2991"/>
              <a:ext cx="407" cy="1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如果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5952" name="WordArt 160"/>
            <p:cNvSpPr>
              <a:spLocks noChangeArrowheads="1" noChangeShapeType="1" noTextEdit="1"/>
            </p:cNvSpPr>
            <p:nvPr/>
          </p:nvSpPr>
          <p:spPr bwMode="auto">
            <a:xfrm>
              <a:off x="4161" y="3007"/>
              <a:ext cx="76" cy="159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Times New Roman" panose="02020603050405020304"/>
                <a:cs typeface="Times New Roman" panose="02020603050405020304"/>
              </a:endParaRPr>
            </a:p>
          </p:txBody>
        </p:sp>
        <p:grpSp>
          <p:nvGrpSpPr>
            <p:cNvPr id="545956" name="Group 164"/>
            <p:cNvGrpSpPr/>
            <p:nvPr/>
          </p:nvGrpSpPr>
          <p:grpSpPr bwMode="auto">
            <a:xfrm>
              <a:off x="1034" y="2872"/>
              <a:ext cx="1246" cy="416"/>
              <a:chOff x="1682" y="3704"/>
              <a:chExt cx="1246" cy="416"/>
            </a:xfrm>
          </p:grpSpPr>
          <p:sp>
            <p:nvSpPr>
              <p:cNvPr id="545934" name="WordArt 14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62" y="3729"/>
                <a:ext cx="131" cy="16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m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5935" name="WordArt 14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204" y="3820"/>
                <a:ext cx="54" cy="7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936" name="WordArt 14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91" y="3799"/>
                <a:ext cx="131" cy="9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grpSp>
            <p:nvGrpSpPr>
              <p:cNvPr id="545937" name="Group 145"/>
              <p:cNvGrpSpPr/>
              <p:nvPr/>
            </p:nvGrpSpPr>
            <p:grpSpPr bwMode="auto">
              <a:xfrm>
                <a:off x="1691" y="3704"/>
                <a:ext cx="159" cy="176"/>
                <a:chOff x="1963" y="2984"/>
                <a:chExt cx="159" cy="176"/>
              </a:xfrm>
            </p:grpSpPr>
            <p:sp>
              <p:nvSpPr>
                <p:cNvPr id="545938" name="WordArt 14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63" y="3022"/>
                  <a:ext cx="146" cy="138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i="1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C00000"/>
                      </a:solidFill>
                      <a:effectLst/>
                      <a:latin typeface="Times New Roman" panose="02020603050405020304"/>
                      <a:cs typeface="Times New Roman" panose="02020603050405020304"/>
                    </a:rPr>
                    <a:t>X</a:t>
                  </a:r>
                  <a:endParaRPr lang="zh-CN" altLang="en-US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45939" name="WordArt 14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91" y="2984"/>
                  <a:ext cx="131" cy="9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solidFill>
                        <a:srgbClr val="C00000"/>
                      </a:solidFill>
                      <a:effectLst/>
                      <a:latin typeface="Symbol" panose="05050102010706020507"/>
                    </a:rPr>
                    <a:t>-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endParaRPr>
                </a:p>
              </p:txBody>
            </p:sp>
          </p:grpSp>
          <p:sp>
            <p:nvSpPr>
              <p:cNvPr id="545940" name="WordArt 14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05" y="3870"/>
                <a:ext cx="132" cy="122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u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941" name="WordArt 14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69" y="3932"/>
                <a:ext cx="41" cy="74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1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944" name="WordArt 15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22" y="3869"/>
                <a:ext cx="143" cy="123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b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&gt;</a:t>
                </a:r>
                <a:endPara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945" name="WordArt 15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16" y="3968"/>
                <a:ext cx="139" cy="119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40287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s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5946" name="WordArt 15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49" y="4037"/>
                <a:ext cx="52" cy="71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947" name="WordArt 15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682" y="3931"/>
                <a:ext cx="585" cy="2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b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-</a:t>
                </a:r>
                <a:endPara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5948" name="WordArt 15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95" y="3967"/>
                <a:ext cx="139" cy="135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65468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/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5949" name="WordArt 157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12" y="3973"/>
                <a:ext cx="83" cy="147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7833"/>
                  </a:avLst>
                </a:prstTxWarp>
              </a:bodyPr>
              <a:lstStyle/>
              <a:p>
                <a:r>
                  <a: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√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950" name="WordArt 15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103" y="4008"/>
                <a:ext cx="120" cy="104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3333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Times New Roman" panose="02020603050405020304"/>
                    <a:cs typeface="Times New Roman" panose="02020603050405020304"/>
                  </a:rPr>
                  <a:t>n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951" name="WordArt 15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79" y="3968"/>
                <a:ext cx="170" cy="1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5954" name="WordArt 16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44" y="3969"/>
                <a:ext cx="57" cy="9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-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  <p:sp>
            <p:nvSpPr>
              <p:cNvPr id="545955" name="WordArt 16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44" y="3937"/>
                <a:ext cx="84" cy="74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solidFill>
                      <a:srgbClr val="C00000"/>
                    </a:solidFill>
                    <a:effectLst/>
                    <a:latin typeface="Symbol" panose="05050102010706020507"/>
                  </a:rPr>
                  <a:t>a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endParaRPr>
              </a:p>
            </p:txBody>
          </p:sp>
        </p:grpSp>
        <p:sp>
          <p:nvSpPr>
            <p:cNvPr id="545957" name="WordArt 165"/>
            <p:cNvSpPr>
              <a:spLocks noChangeArrowheads="1" noChangeShapeType="1" noTextEdit="1"/>
            </p:cNvSpPr>
            <p:nvPr/>
          </p:nvSpPr>
          <p:spPr bwMode="auto">
            <a:xfrm>
              <a:off x="3001" y="2992"/>
              <a:ext cx="2407" cy="1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的拒绝域，其  类风险不超过</a:t>
              </a:r>
              <a:endPara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5958" name="WordArt 166"/>
            <p:cNvSpPr>
              <a:spLocks noChangeArrowheads="1" noChangeShapeType="1" noTextEdit="1"/>
            </p:cNvSpPr>
            <p:nvPr/>
          </p:nvSpPr>
          <p:spPr bwMode="auto">
            <a:xfrm>
              <a:off x="2328" y="2985"/>
              <a:ext cx="351" cy="1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黑体" panose="02010609060101010101" pitchFamily="2" charset="-122"/>
                  <a:ea typeface="黑体" panose="02010609060101010101" pitchFamily="2" charset="-122"/>
                </a:rPr>
                <a:t>作为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5959" name="WordArt 167"/>
            <p:cNvSpPr>
              <a:spLocks noChangeArrowheads="1" noChangeShapeType="1" noTextEdit="1"/>
            </p:cNvSpPr>
            <p:nvPr/>
          </p:nvSpPr>
          <p:spPr bwMode="auto">
            <a:xfrm>
              <a:off x="5456" y="3024"/>
              <a:ext cx="140" cy="135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i="1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C00000"/>
                  </a:solidFill>
                  <a:effectLst/>
                  <a:latin typeface="Symbol" panose="05050102010706020507"/>
                </a:rPr>
                <a:t>a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solidFill>
                  <a:srgbClr val="C00000"/>
                </a:solidFill>
                <a:effectLst/>
                <a:latin typeface="Symbol" panose="05050102010706020507"/>
              </a:endParaRPr>
            </a:p>
          </p:txBody>
        </p:sp>
      </p:grpSp>
      <p:grpSp>
        <p:nvGrpSpPr>
          <p:cNvPr id="546027" name="Group 235"/>
          <p:cNvGrpSpPr/>
          <p:nvPr/>
        </p:nvGrpSpPr>
        <p:grpSpPr bwMode="auto">
          <a:xfrm>
            <a:off x="215900" y="3321050"/>
            <a:ext cx="3068638" cy="514350"/>
            <a:chOff x="136" y="2356"/>
            <a:chExt cx="1933" cy="324"/>
          </a:xfrm>
        </p:grpSpPr>
        <p:sp>
          <p:nvSpPr>
            <p:cNvPr id="546020" name="AutoShape 228"/>
            <p:cNvSpPr>
              <a:spLocks noChangeArrowheads="1"/>
            </p:cNvSpPr>
            <p:nvPr/>
          </p:nvSpPr>
          <p:spPr bwMode="auto">
            <a:xfrm>
              <a:off x="136" y="2356"/>
              <a:ext cx="1933" cy="324"/>
            </a:xfrm>
            <a:prstGeom prst="wedgeRectCallout">
              <a:avLst>
                <a:gd name="adj1" fmla="val 19944"/>
                <a:gd name="adj2" fmla="val 88579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2500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45988" name="WordArt 196"/>
            <p:cNvSpPr>
              <a:spLocks noChangeArrowheads="1" noChangeShapeType="1" noTextEdit="1"/>
            </p:cNvSpPr>
            <p:nvPr/>
          </p:nvSpPr>
          <p:spPr bwMode="auto">
            <a:xfrm>
              <a:off x="1225" y="2425"/>
              <a:ext cx="751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的拒绝域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46016" name="Group 224"/>
            <p:cNvGrpSpPr/>
            <p:nvPr/>
          </p:nvGrpSpPr>
          <p:grpSpPr bwMode="auto">
            <a:xfrm>
              <a:off x="207" y="2432"/>
              <a:ext cx="949" cy="187"/>
              <a:chOff x="2920" y="3488"/>
              <a:chExt cx="949" cy="187"/>
            </a:xfrm>
          </p:grpSpPr>
          <p:grpSp>
            <p:nvGrpSpPr>
              <p:cNvPr id="545964" name="Group 172"/>
              <p:cNvGrpSpPr/>
              <p:nvPr/>
            </p:nvGrpSpPr>
            <p:grpSpPr bwMode="auto">
              <a:xfrm>
                <a:off x="2920" y="3488"/>
                <a:ext cx="220" cy="162"/>
                <a:chOff x="3613" y="2637"/>
                <a:chExt cx="220" cy="162"/>
              </a:xfrm>
            </p:grpSpPr>
            <p:sp>
              <p:nvSpPr>
                <p:cNvPr id="545965" name="WordArt 17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779" y="2729"/>
                  <a:ext cx="54" cy="7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FF00"/>
                        </a:solidFill>
                        <a:round/>
                      </a:ln>
                      <a:solidFill>
                        <a:srgbClr val="FFCC00"/>
                      </a:solidFill>
                      <a:effectLst>
                        <a:outerShdw dist="35921" dir="2700000" algn="ctr" rotWithShape="0">
                          <a:srgbClr val="990000"/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0</a:t>
                  </a:r>
                  <a:endParaRPr lang="zh-CN" altLang="en-US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45966" name="WordArt 17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613" y="2637"/>
                  <a:ext cx="143" cy="15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>
                      <a:ln w="12700">
                        <a:solidFill>
                          <a:srgbClr val="FFFF00"/>
                        </a:solidFill>
                        <a:round/>
                      </a:ln>
                      <a:solidFill>
                        <a:srgbClr val="FFCC00"/>
                      </a:solidFill>
                      <a:effectLst>
                        <a:outerShdw dist="35921" dir="2700000" algn="ctr" rotWithShape="0">
                          <a:srgbClr val="990000"/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H</a:t>
                  </a:r>
                  <a:endParaRPr lang="zh-CN" altLang="en-US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</p:grpSp>
          <p:sp>
            <p:nvSpPr>
              <p:cNvPr id="545990" name="WordArt 19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87" y="3573"/>
                <a:ext cx="27" cy="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：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995" name="WordArt 20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96" y="3505"/>
                <a:ext cx="131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Symbol" panose="05050102010706020507"/>
                  </a:rPr>
                  <a:t>m</a:t>
                </a:r>
                <a:endParaRPr lang="zh-CN" altLang="en-US" sz="3600" i="1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endParaRPr>
              </a:p>
            </p:txBody>
          </p:sp>
          <p:sp>
            <p:nvSpPr>
              <p:cNvPr id="545996" name="WordArt 20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86" y="3548"/>
                <a:ext cx="13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=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6013" name="WordArt 2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73" y="3514"/>
                <a:ext cx="131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Symbol" panose="05050102010706020507"/>
                  </a:rPr>
                  <a:t>m</a:t>
                </a:r>
                <a:endParaRPr lang="zh-CN" altLang="en-US" sz="3600" i="1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endParaRPr>
              </a:p>
            </p:txBody>
          </p:sp>
          <p:sp>
            <p:nvSpPr>
              <p:cNvPr id="546014" name="WordArt 22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15" y="3605"/>
                <a:ext cx="5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</p:grpSp>
      <p:sp>
        <p:nvSpPr>
          <p:cNvPr id="546018" name="Oval 226"/>
          <p:cNvSpPr>
            <a:spLocks noChangeArrowheads="1"/>
          </p:cNvSpPr>
          <p:nvPr/>
        </p:nvSpPr>
        <p:spPr bwMode="auto">
          <a:xfrm>
            <a:off x="1066800" y="4110655"/>
            <a:ext cx="2425700" cy="762000"/>
          </a:xfrm>
          <a:prstGeom prst="ellipse">
            <a:avLst/>
          </a:prstGeom>
          <a:noFill/>
          <a:ln w="19050" algn="ctr">
            <a:solidFill>
              <a:schemeClr val="accent2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6028" name="WordArt 236"/>
          <p:cNvSpPr>
            <a:spLocks noChangeArrowheads="1" noChangeShapeType="1" noTextEdit="1"/>
          </p:cNvSpPr>
          <p:nvPr/>
        </p:nvSpPr>
        <p:spPr bwMode="auto">
          <a:xfrm>
            <a:off x="622300" y="4964113"/>
            <a:ext cx="1827213" cy="3032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从直观上看：</a:t>
            </a:r>
            <a:endParaRPr lang="zh-CN" altLang="en-US" sz="3600" b="1" kern="10" dirty="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sp>
        <p:nvSpPr>
          <p:cNvPr id="546029" name="Line 237"/>
          <p:cNvSpPr>
            <a:spLocks noChangeShapeType="1"/>
          </p:cNvSpPr>
          <p:nvPr/>
        </p:nvSpPr>
        <p:spPr bwMode="auto">
          <a:xfrm>
            <a:off x="2146300" y="5664200"/>
            <a:ext cx="45085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46084" name="Group 292"/>
          <p:cNvGrpSpPr/>
          <p:nvPr/>
        </p:nvGrpSpPr>
        <p:grpSpPr bwMode="auto">
          <a:xfrm>
            <a:off x="4880306" y="5615936"/>
            <a:ext cx="444500" cy="469900"/>
            <a:chOff x="3100" y="3497"/>
            <a:chExt cx="280" cy="296"/>
          </a:xfrm>
        </p:grpSpPr>
        <p:sp>
          <p:nvSpPr>
            <p:cNvPr id="546032" name="Oval 240"/>
            <p:cNvSpPr>
              <a:spLocks noChangeArrowheads="1"/>
            </p:cNvSpPr>
            <p:nvPr/>
          </p:nvSpPr>
          <p:spPr bwMode="auto">
            <a:xfrm>
              <a:off x="3209" y="3505"/>
              <a:ext cx="56" cy="56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rou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46033" name="Object 241"/>
            <p:cNvGraphicFramePr>
              <a:graphicFrameLocks noChangeAspect="1"/>
            </p:cNvGraphicFramePr>
            <p:nvPr/>
          </p:nvGraphicFramePr>
          <p:xfrm>
            <a:off x="3100" y="3497"/>
            <a:ext cx="2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662" name="Equation" r:id="rId11" imgW="4267200" imgH="4572000" progId="Equation.DSMT4">
                    <p:embed/>
                  </p:oleObj>
                </mc:Choice>
                <mc:Fallback>
                  <p:oleObj name="Equation" r:id="rId11" imgW="4267200" imgH="4572000" progId="Equation.DSMT4">
                    <p:embed/>
                    <p:pic>
                      <p:nvPicPr>
                        <p:cNvPr id="0" name="Object 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497"/>
                          <a:ext cx="28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6034" name="Oval 242"/>
          <p:cNvSpPr>
            <a:spLocks noChangeArrowheads="1"/>
          </p:cNvSpPr>
          <p:nvPr/>
        </p:nvSpPr>
        <p:spPr bwMode="auto">
          <a:xfrm>
            <a:off x="3379788" y="5614988"/>
            <a:ext cx="88900" cy="889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rou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46035" name="Object 243"/>
          <p:cNvGraphicFramePr>
            <a:graphicFrameLocks noChangeAspect="1"/>
          </p:cNvGraphicFramePr>
          <p:nvPr/>
        </p:nvGraphicFramePr>
        <p:xfrm>
          <a:off x="3248025" y="5238750"/>
          <a:ext cx="4127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63" name="Equation" r:id="rId13" imgW="3962400" imgH="3962400" progId="Equation.DSMT4">
                  <p:embed/>
                </p:oleObj>
              </mc:Choice>
              <mc:Fallback>
                <p:oleObj name="Equation" r:id="rId13" imgW="3962400" imgH="3962400" progId="Equation.DSMT4">
                  <p:embed/>
                  <p:pic>
                    <p:nvPicPr>
                      <p:cNvPr id="0" name="Object 2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025" y="5238750"/>
                        <a:ext cx="41275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6049" name="Group 257"/>
          <p:cNvGrpSpPr/>
          <p:nvPr/>
        </p:nvGrpSpPr>
        <p:grpSpPr bwMode="auto">
          <a:xfrm>
            <a:off x="3290888" y="4821238"/>
            <a:ext cx="4097337" cy="374650"/>
            <a:chOff x="2201" y="3229"/>
            <a:chExt cx="2581" cy="236"/>
          </a:xfrm>
        </p:grpSpPr>
        <p:sp>
          <p:nvSpPr>
            <p:cNvPr id="546037" name="AutoShape 245"/>
            <p:cNvSpPr>
              <a:spLocks noChangeArrowheads="1"/>
            </p:cNvSpPr>
            <p:nvPr/>
          </p:nvSpPr>
          <p:spPr bwMode="auto">
            <a:xfrm>
              <a:off x="2201" y="3229"/>
              <a:ext cx="2581" cy="236"/>
            </a:xfrm>
            <a:prstGeom prst="wedgeRectCallout">
              <a:avLst>
                <a:gd name="adj1" fmla="val -21176"/>
                <a:gd name="adj2" fmla="val 86019"/>
              </a:avLst>
            </a:prstGeom>
            <a:solidFill>
              <a:schemeClr val="accent2"/>
            </a:soli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2500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46038" name="WordArt 246"/>
            <p:cNvSpPr>
              <a:spLocks noChangeArrowheads="1" noChangeShapeType="1" noTextEdit="1"/>
            </p:cNvSpPr>
            <p:nvPr/>
          </p:nvSpPr>
          <p:spPr bwMode="auto">
            <a:xfrm>
              <a:off x="2242" y="3258"/>
              <a:ext cx="2487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两点之间的距离越大越容易分辨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46048" name="AutoShape 256"/>
          <p:cNvSpPr/>
          <p:nvPr/>
        </p:nvSpPr>
        <p:spPr bwMode="auto">
          <a:xfrm rot="5400000">
            <a:off x="4398169" y="4849019"/>
            <a:ext cx="177800" cy="1281112"/>
          </a:xfrm>
          <a:prstGeom prst="leftBrace">
            <a:avLst>
              <a:gd name="adj1" fmla="val 60045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46063" name="Group 271"/>
          <p:cNvGrpSpPr/>
          <p:nvPr/>
        </p:nvGrpSpPr>
        <p:grpSpPr bwMode="auto">
          <a:xfrm>
            <a:off x="3317875" y="5689600"/>
            <a:ext cx="5214938" cy="917575"/>
            <a:chOff x="2218" y="3608"/>
            <a:chExt cx="3285" cy="578"/>
          </a:xfrm>
        </p:grpSpPr>
        <p:sp>
          <p:nvSpPr>
            <p:cNvPr id="546054" name="Freeform 262"/>
            <p:cNvSpPr/>
            <p:nvPr/>
          </p:nvSpPr>
          <p:spPr bwMode="auto">
            <a:xfrm>
              <a:off x="3384" y="3608"/>
              <a:ext cx="232" cy="376"/>
            </a:xfrm>
            <a:custGeom>
              <a:avLst/>
              <a:gdLst>
                <a:gd name="T0" fmla="*/ 208 w 208"/>
                <a:gd name="T1" fmla="*/ 280 h 280"/>
                <a:gd name="T2" fmla="*/ 160 w 208"/>
                <a:gd name="T3" fmla="*/ 128 h 280"/>
                <a:gd name="T4" fmla="*/ 88 w 208"/>
                <a:gd name="T5" fmla="*/ 56 h 280"/>
                <a:gd name="T6" fmla="*/ 0 w 208"/>
                <a:gd name="T7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280">
                  <a:moveTo>
                    <a:pt x="208" y="280"/>
                  </a:moveTo>
                  <a:cubicBezTo>
                    <a:pt x="194" y="222"/>
                    <a:pt x="180" y="165"/>
                    <a:pt x="160" y="128"/>
                  </a:cubicBezTo>
                  <a:cubicBezTo>
                    <a:pt x="140" y="91"/>
                    <a:pt x="115" y="77"/>
                    <a:pt x="88" y="56"/>
                  </a:cubicBezTo>
                  <a:cubicBezTo>
                    <a:pt x="61" y="35"/>
                    <a:pt x="30" y="17"/>
                    <a:pt x="0" y="0"/>
                  </a:cubicBezTo>
                </a:path>
              </a:pathLst>
            </a:custGeom>
            <a:solidFill>
              <a:schemeClr val="bg1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stealth" w="lg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46055" name="Group 263"/>
            <p:cNvGrpSpPr/>
            <p:nvPr/>
          </p:nvGrpSpPr>
          <p:grpSpPr bwMode="auto">
            <a:xfrm>
              <a:off x="2218" y="3950"/>
              <a:ext cx="3285" cy="236"/>
              <a:chOff x="2178" y="3886"/>
              <a:chExt cx="3285" cy="236"/>
            </a:xfrm>
          </p:grpSpPr>
          <p:sp>
            <p:nvSpPr>
              <p:cNvPr id="546051" name="AutoShape 259"/>
              <p:cNvSpPr>
                <a:spLocks noChangeArrowheads="1"/>
              </p:cNvSpPr>
              <p:nvPr/>
            </p:nvSpPr>
            <p:spPr bwMode="auto">
              <a:xfrm>
                <a:off x="2178" y="3886"/>
                <a:ext cx="3285" cy="236"/>
              </a:xfrm>
              <a:prstGeom prst="wedgeRectCallout">
                <a:avLst>
                  <a:gd name="adj1" fmla="val -15417"/>
                  <a:gd name="adj2" fmla="val -32625"/>
                </a:avLst>
              </a:prstGeom>
              <a:solidFill>
                <a:schemeClr val="accent2"/>
              </a:solidFill>
              <a:ln w="9525" algn="ctr">
                <a:solidFill>
                  <a:srgbClr val="FFFF00"/>
                </a:solidFill>
                <a:miter lim="800000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anchor="ctr"/>
              <a:lstStyle/>
              <a:p>
                <a:pPr>
                  <a:lnSpc>
                    <a:spcPct val="100000"/>
                  </a:lnSpc>
                  <a:spcBef>
                    <a:spcPct val="25000"/>
                  </a:spcBef>
                </a:pPr>
                <a:endParaRPr lang="zh-CN" altLang="zh-CN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546052" name="WordArt 260"/>
              <p:cNvSpPr>
                <a:spLocks noChangeArrowheads="1" noChangeShapeType="1" noTextEdit="1"/>
              </p:cNvSpPr>
              <p:nvPr/>
            </p:nvSpPr>
            <p:spPr bwMode="auto">
              <a:xfrm>
                <a:off x="2246" y="3915"/>
                <a:ext cx="3164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两点越接近越难分辨</a:t>
                </a:r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,</a:t>
                </a:r>
                <a:r>
                  <a:rPr lang="zh-CN" altLang="en-US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重合时</a:t>
                </a:r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I</a:t>
                </a:r>
                <a:r>
                  <a:rPr lang="zh-CN" altLang="en-US" sz="3600" kern="10">
                    <a:ln w="12700">
                      <a:solidFill>
                        <a:srgbClr val="FFFF00"/>
                      </a:solidFill>
                      <a:round/>
                    </a:ln>
                    <a:solidFill>
                      <a:srgbClr val="FFCC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类风险最大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546053" name="WordArt 261"/>
          <p:cNvSpPr>
            <a:spLocks noChangeArrowheads="1" noChangeShapeType="1" noTextEdit="1"/>
          </p:cNvSpPr>
          <p:nvPr/>
        </p:nvSpPr>
        <p:spPr bwMode="auto">
          <a:xfrm>
            <a:off x="444500" y="976313"/>
            <a:ext cx="785813" cy="277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546064" name="Group 272"/>
          <p:cNvGrpSpPr/>
          <p:nvPr/>
        </p:nvGrpSpPr>
        <p:grpSpPr bwMode="auto">
          <a:xfrm>
            <a:off x="2049463" y="5738813"/>
            <a:ext cx="1468437" cy="374650"/>
            <a:chOff x="1291" y="3583"/>
            <a:chExt cx="925" cy="236"/>
          </a:xfrm>
        </p:grpSpPr>
        <p:sp>
          <p:nvSpPr>
            <p:cNvPr id="546060" name="AutoShape 268"/>
            <p:cNvSpPr>
              <a:spLocks noChangeArrowheads="1"/>
            </p:cNvSpPr>
            <p:nvPr/>
          </p:nvSpPr>
          <p:spPr bwMode="auto">
            <a:xfrm>
              <a:off x="1291" y="3583"/>
              <a:ext cx="925" cy="236"/>
            </a:xfrm>
            <a:prstGeom prst="wedgeRectCallout">
              <a:avLst>
                <a:gd name="adj1" fmla="val 70218"/>
                <a:gd name="adj2" fmla="val -63134"/>
              </a:avLst>
            </a:prstGeom>
            <a:solidFill>
              <a:schemeClr val="accent2"/>
            </a:soli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2500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46061" name="WordArt 269"/>
            <p:cNvSpPr>
              <a:spLocks noChangeArrowheads="1" noChangeShapeType="1" noTextEdit="1"/>
            </p:cNvSpPr>
            <p:nvPr/>
          </p:nvSpPr>
          <p:spPr bwMode="auto">
            <a:xfrm>
              <a:off x="1333" y="3612"/>
              <a:ext cx="822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位置未知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546031" name="Object 239"/>
          <p:cNvGraphicFramePr>
            <a:graphicFrameLocks noChangeAspect="1"/>
          </p:cNvGraphicFramePr>
          <p:nvPr/>
        </p:nvGraphicFramePr>
        <p:xfrm>
          <a:off x="3659188" y="5684838"/>
          <a:ext cx="3492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64" name="Equation" r:id="rId15" imgW="3352800" imgH="3657600" progId="Equation.DSMT4">
                  <p:embed/>
                </p:oleObj>
              </mc:Choice>
              <mc:Fallback>
                <p:oleObj name="Equation" r:id="rId15" imgW="3352800" imgH="3657600" progId="Equation.DSMT4">
                  <p:embed/>
                  <p:pic>
                    <p:nvPicPr>
                      <p:cNvPr id="0" name="Object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5684838"/>
                        <a:ext cx="34925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065" name="Object 273"/>
          <p:cNvGraphicFramePr>
            <a:graphicFrameLocks noChangeAspect="1"/>
          </p:cNvGraphicFramePr>
          <p:nvPr/>
        </p:nvGraphicFramePr>
        <p:xfrm>
          <a:off x="4402138" y="612775"/>
          <a:ext cx="475615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65" name="Equation" r:id="rId17" imgW="46329600" imgH="9448800" progId="Equation.DSMT4">
                  <p:embed/>
                </p:oleObj>
              </mc:Choice>
              <mc:Fallback>
                <p:oleObj name="Equation" r:id="rId17" imgW="46329600" imgH="9448800" progId="Equation.DSMT4">
                  <p:embed/>
                  <p:pic>
                    <p:nvPicPr>
                      <p:cNvPr id="0" name="Object 2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38" y="612775"/>
                        <a:ext cx="475615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066" name="Oval 274"/>
          <p:cNvSpPr>
            <a:spLocks noChangeArrowheads="1"/>
          </p:cNvSpPr>
          <p:nvPr/>
        </p:nvSpPr>
        <p:spPr bwMode="auto">
          <a:xfrm>
            <a:off x="1399250" y="603250"/>
            <a:ext cx="1028700" cy="898525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46075" name="Group 283"/>
          <p:cNvGrpSpPr/>
          <p:nvPr/>
        </p:nvGrpSpPr>
        <p:grpSpPr bwMode="auto">
          <a:xfrm>
            <a:off x="1574800" y="1693863"/>
            <a:ext cx="1316038" cy="387350"/>
            <a:chOff x="896" y="1075"/>
            <a:chExt cx="829" cy="244"/>
          </a:xfrm>
        </p:grpSpPr>
        <p:sp>
          <p:nvSpPr>
            <p:cNvPr id="546068" name="AutoShape 276"/>
            <p:cNvSpPr>
              <a:spLocks noChangeArrowheads="1"/>
            </p:cNvSpPr>
            <p:nvPr/>
          </p:nvSpPr>
          <p:spPr bwMode="auto">
            <a:xfrm>
              <a:off x="896" y="1075"/>
              <a:ext cx="829" cy="244"/>
            </a:xfrm>
            <a:prstGeom prst="wedgeRectCallout">
              <a:avLst>
                <a:gd name="adj1" fmla="val -20083"/>
                <a:gd name="adj2" fmla="val -92213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2500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pSp>
          <p:nvGrpSpPr>
            <p:cNvPr id="546069" name="Group 277"/>
            <p:cNvGrpSpPr/>
            <p:nvPr/>
          </p:nvGrpSpPr>
          <p:grpSpPr bwMode="auto">
            <a:xfrm>
              <a:off x="930" y="1119"/>
              <a:ext cx="560" cy="168"/>
              <a:chOff x="4913" y="3910"/>
              <a:chExt cx="560" cy="168"/>
            </a:xfrm>
          </p:grpSpPr>
          <p:sp>
            <p:nvSpPr>
              <p:cNvPr id="546070" name="WordArt 278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13" y="3910"/>
                <a:ext cx="156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N</a:t>
                </a:r>
                <a:endParaRPr lang="zh-CN" altLang="en-US" sz="3600" i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6071" name="WordArt 279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5" y="3922"/>
                <a:ext cx="41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(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6072" name="WordArt 280"/>
              <p:cNvSpPr>
                <a:spLocks noChangeArrowheads="1" noChangeShapeType="1" noTextEdit="1"/>
              </p:cNvSpPr>
              <p:nvPr/>
            </p:nvSpPr>
            <p:spPr bwMode="auto">
              <a:xfrm>
                <a:off x="5432" y="3922"/>
                <a:ext cx="41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)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6073" name="WordArt 281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47" y="3932"/>
                <a:ext cx="254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0,1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546074" name="WordArt 282"/>
            <p:cNvSpPr>
              <a:spLocks noChangeArrowheads="1" noChangeShapeType="1" noTextEdit="1"/>
            </p:cNvSpPr>
            <p:nvPr/>
          </p:nvSpPr>
          <p:spPr bwMode="auto">
            <a:xfrm>
              <a:off x="1531" y="1113"/>
              <a:ext cx="132" cy="1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？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6076" name="Group 284"/>
          <p:cNvGrpSpPr/>
          <p:nvPr/>
        </p:nvGrpSpPr>
        <p:grpSpPr bwMode="auto">
          <a:xfrm>
            <a:off x="5921375" y="2304726"/>
            <a:ext cx="1023937" cy="387350"/>
            <a:chOff x="2055" y="1274"/>
            <a:chExt cx="645" cy="244"/>
          </a:xfrm>
        </p:grpSpPr>
        <p:sp>
          <p:nvSpPr>
            <p:cNvPr id="545876" name="AutoShape 84"/>
            <p:cNvSpPr>
              <a:spLocks noChangeArrowheads="1"/>
            </p:cNvSpPr>
            <p:nvPr/>
          </p:nvSpPr>
          <p:spPr bwMode="auto">
            <a:xfrm>
              <a:off x="2055" y="1274"/>
              <a:ext cx="645" cy="244"/>
            </a:xfrm>
            <a:prstGeom prst="wedgeRectCallout">
              <a:avLst>
                <a:gd name="adj1" fmla="val -58503"/>
                <a:gd name="adj2" fmla="val -88264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2500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pSp>
          <p:nvGrpSpPr>
            <p:cNvPr id="545908" name="Group 116"/>
            <p:cNvGrpSpPr/>
            <p:nvPr/>
          </p:nvGrpSpPr>
          <p:grpSpPr bwMode="auto">
            <a:xfrm>
              <a:off x="2097" y="1318"/>
              <a:ext cx="560" cy="168"/>
              <a:chOff x="4913" y="3910"/>
              <a:chExt cx="560" cy="168"/>
            </a:xfrm>
          </p:grpSpPr>
          <p:sp>
            <p:nvSpPr>
              <p:cNvPr id="545896" name="WordArt 10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13" y="3910"/>
                <a:ext cx="156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N</a:t>
                </a:r>
                <a:endParaRPr lang="zh-CN" altLang="en-US" sz="3600" i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897" name="WordArt 105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5" y="3922"/>
                <a:ext cx="41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(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898" name="WordArt 106"/>
              <p:cNvSpPr>
                <a:spLocks noChangeArrowheads="1" noChangeShapeType="1" noTextEdit="1"/>
              </p:cNvSpPr>
              <p:nvPr/>
            </p:nvSpPr>
            <p:spPr bwMode="auto">
              <a:xfrm>
                <a:off x="5432" y="3922"/>
                <a:ext cx="41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)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5899" name="WordArt 107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47" y="3932"/>
                <a:ext cx="254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0,1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</p:grpSp>
      <p:grpSp>
        <p:nvGrpSpPr>
          <p:cNvPr id="546077" name="Group 285"/>
          <p:cNvGrpSpPr/>
          <p:nvPr/>
        </p:nvGrpSpPr>
        <p:grpSpPr bwMode="auto">
          <a:xfrm>
            <a:off x="5806783" y="4011613"/>
            <a:ext cx="1023938" cy="387350"/>
            <a:chOff x="2055" y="1274"/>
            <a:chExt cx="645" cy="244"/>
          </a:xfrm>
        </p:grpSpPr>
        <p:sp>
          <p:nvSpPr>
            <p:cNvPr id="546078" name="AutoShape 286"/>
            <p:cNvSpPr>
              <a:spLocks noChangeArrowheads="1"/>
            </p:cNvSpPr>
            <p:nvPr/>
          </p:nvSpPr>
          <p:spPr bwMode="auto">
            <a:xfrm>
              <a:off x="2055" y="1274"/>
              <a:ext cx="645" cy="244"/>
            </a:xfrm>
            <a:prstGeom prst="wedgeRectCallout">
              <a:avLst>
                <a:gd name="adj1" fmla="val -52125"/>
                <a:gd name="adj2" fmla="val -81038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2500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pSp>
          <p:nvGrpSpPr>
            <p:cNvPr id="546079" name="Group 287"/>
            <p:cNvGrpSpPr/>
            <p:nvPr/>
          </p:nvGrpSpPr>
          <p:grpSpPr bwMode="auto">
            <a:xfrm>
              <a:off x="2097" y="1318"/>
              <a:ext cx="560" cy="168"/>
              <a:chOff x="4913" y="3910"/>
              <a:chExt cx="560" cy="168"/>
            </a:xfrm>
          </p:grpSpPr>
          <p:sp>
            <p:nvSpPr>
              <p:cNvPr id="546080" name="WordArt 288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13" y="3910"/>
                <a:ext cx="156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i="1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N</a:t>
                </a:r>
                <a:endParaRPr lang="zh-CN" altLang="en-US" sz="3600" i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6081" name="WordArt 289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5" y="3922"/>
                <a:ext cx="41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(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6082" name="WordArt 290"/>
              <p:cNvSpPr>
                <a:spLocks noChangeArrowheads="1" noChangeShapeType="1" noTextEdit="1"/>
              </p:cNvSpPr>
              <p:nvPr/>
            </p:nvSpPr>
            <p:spPr bwMode="auto">
              <a:xfrm>
                <a:off x="5432" y="3922"/>
                <a:ext cx="41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)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46083" name="WordArt 291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47" y="3932"/>
                <a:ext cx="254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zh-CN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0,1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</p:grpSp>
      <p:graphicFrame>
        <p:nvGraphicFramePr>
          <p:cNvPr id="546085" name="Object 293"/>
          <p:cNvGraphicFramePr>
            <a:graphicFrameLocks noChangeAspect="1"/>
          </p:cNvGraphicFramePr>
          <p:nvPr/>
        </p:nvGraphicFramePr>
        <p:xfrm>
          <a:off x="4737100" y="5765800"/>
          <a:ext cx="277813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66" name="Equation" r:id="rId19" imgW="152400" imgH="139700" progId="Equation.DSMT4">
                  <p:embed/>
                </p:oleObj>
              </mc:Choice>
              <mc:Fallback>
                <p:oleObj name="Equation" r:id="rId19" imgW="152400" imgH="139700" progId="Equation.DSMT4">
                  <p:embed/>
                  <p:pic>
                    <p:nvPicPr>
                      <p:cNvPr id="0" name="Object 2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5765800"/>
                        <a:ext cx="277813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030" name="Oval 238"/>
          <p:cNvSpPr>
            <a:spLocks noChangeArrowheads="1"/>
          </p:cNvSpPr>
          <p:nvPr/>
        </p:nvSpPr>
        <p:spPr bwMode="auto">
          <a:xfrm>
            <a:off x="3797300" y="5613400"/>
            <a:ext cx="88900" cy="88900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rou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6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6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6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6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46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4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5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5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46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6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4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546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546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5458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5460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4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45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45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46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46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5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45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45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4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5458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5460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46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46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46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6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4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46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46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4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46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46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46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46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5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4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54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4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54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4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46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46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4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460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460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4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4" dur="1000"/>
                                        <p:tgtEl>
                                          <p:spTgt spid="54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23 L 0.09427 0.00023 " pathEditMode="relative" ptsTypes="AA">
                                      <p:cBhvr>
                                        <p:cTn id="156" dur="2000" fill="hold"/>
                                        <p:tgtEl>
                                          <p:spTgt spid="5460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0.00046 L 0.13889 0.00046 " pathEditMode="relative" rAng="0" ptsTypes="AA">
                                      <p:cBhvr>
                                        <p:cTn id="158" dur="2000" fill="hold"/>
                                        <p:tgtEl>
                                          <p:spTgt spid="546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5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79" grpId="0" animBg="1"/>
      <p:bldP spid="545879" grpId="1" animBg="1"/>
      <p:bldP spid="545875" grpId="0" animBg="1"/>
      <p:bldP spid="545875" grpId="1" animBg="1"/>
      <p:bldP spid="546018" grpId="0" animBg="1"/>
      <p:bldP spid="546028" grpId="0" animBg="1"/>
      <p:bldP spid="546029" grpId="0" animBg="1"/>
      <p:bldP spid="546034" grpId="0" animBg="1"/>
      <p:bldP spid="546048" grpId="0" animBg="1"/>
      <p:bldP spid="546066" grpId="0" animBg="1"/>
      <p:bldP spid="546066" grpId="1" animBg="1"/>
      <p:bldP spid="546030" grpId="0" animBg="1"/>
      <p:bldP spid="54603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ChangeArrowheads="1"/>
          </p:cNvSpPr>
          <p:nvPr/>
        </p:nvSpPr>
        <p:spPr bwMode="auto">
          <a:xfrm>
            <a:off x="1257300" y="533400"/>
            <a:ext cx="7885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某厂生产的固体燃料推进器燃烧率服从正态分布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6819" name="Group 3"/>
          <p:cNvGrpSpPr/>
          <p:nvPr/>
        </p:nvGrpSpPr>
        <p:grpSpPr bwMode="auto">
          <a:xfrm>
            <a:off x="-6350" y="920750"/>
            <a:ext cx="9136063" cy="534988"/>
            <a:chOff x="-4" y="644"/>
            <a:chExt cx="5755" cy="337"/>
          </a:xfrm>
        </p:grpSpPr>
        <p:graphicFrame>
          <p:nvGraphicFramePr>
            <p:cNvPr id="546820" name="Object 4"/>
            <p:cNvGraphicFramePr>
              <a:graphicFrameLocks noChangeAspect="1"/>
            </p:cNvGraphicFramePr>
            <p:nvPr/>
          </p:nvGraphicFramePr>
          <p:xfrm>
            <a:off x="-4" y="664"/>
            <a:ext cx="151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36" name="Equation" r:id="rId1" imgW="22860000" imgH="4876800" progId="Equation.DSMT4">
                    <p:embed/>
                  </p:oleObj>
                </mc:Choice>
                <mc:Fallback>
                  <p:oleObj name="Equation" r:id="rId1" imgW="22860000" imgH="48768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" y="664"/>
                          <a:ext cx="1517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6821" name="Rectangle 5"/>
            <p:cNvSpPr>
              <a:spLocks noChangeArrowheads="1"/>
            </p:cNvSpPr>
            <p:nvPr/>
          </p:nvSpPr>
          <p:spPr bwMode="auto">
            <a:xfrm>
              <a:off x="1481" y="644"/>
              <a:ext cx="42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dist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现用新方法生产了一批推进器，从中随机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6822" name="Group 6"/>
          <p:cNvGrpSpPr/>
          <p:nvPr/>
        </p:nvGrpSpPr>
        <p:grpSpPr bwMode="auto">
          <a:xfrm>
            <a:off x="-50800" y="1733550"/>
            <a:ext cx="6781800" cy="519113"/>
            <a:chOff x="-32" y="1132"/>
            <a:chExt cx="4272" cy="327"/>
          </a:xfrm>
        </p:grpSpPr>
        <p:graphicFrame>
          <p:nvGraphicFramePr>
            <p:cNvPr id="546823" name="Object 7"/>
            <p:cNvGraphicFramePr>
              <a:graphicFrameLocks noChangeAspect="1"/>
            </p:cNvGraphicFramePr>
            <p:nvPr/>
          </p:nvGraphicFramePr>
          <p:xfrm>
            <a:off x="3339" y="1178"/>
            <a:ext cx="90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37" name="Equation" r:id="rId3" imgW="13716000" imgH="4267200" progId="Equation.DSMT4">
                    <p:embed/>
                  </p:oleObj>
                </mc:Choice>
                <mc:Fallback>
                  <p:oleObj name="Equation" r:id="rId3" imgW="13716000" imgH="4267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9" y="1178"/>
                          <a:ext cx="90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6824" name="Rectangle 8"/>
            <p:cNvSpPr>
              <a:spLocks noChangeArrowheads="1"/>
            </p:cNvSpPr>
            <p:nvPr/>
          </p:nvSpPr>
          <p:spPr bwMode="auto">
            <a:xfrm>
              <a:off x="-32" y="1132"/>
              <a:ext cx="35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问新方法燃烧率是否有显著提高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6825" name="Group 9"/>
          <p:cNvGrpSpPr/>
          <p:nvPr/>
        </p:nvGrpSpPr>
        <p:grpSpPr bwMode="auto">
          <a:xfrm>
            <a:off x="-25400" y="1314450"/>
            <a:ext cx="9182100" cy="530225"/>
            <a:chOff x="-16" y="860"/>
            <a:chExt cx="5784" cy="334"/>
          </a:xfrm>
        </p:grpSpPr>
        <p:sp>
          <p:nvSpPr>
            <p:cNvPr id="546826" name="Rectangle 10"/>
            <p:cNvSpPr>
              <a:spLocks noChangeArrowheads="1"/>
            </p:cNvSpPr>
            <p:nvPr/>
          </p:nvSpPr>
          <p:spPr bwMode="auto">
            <a:xfrm>
              <a:off x="-16" y="867"/>
              <a:ext cx="2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取     只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试验后算得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6827" name="Object 11"/>
            <p:cNvGraphicFramePr>
              <a:graphicFrameLocks noChangeAspect="1"/>
            </p:cNvGraphicFramePr>
            <p:nvPr/>
          </p:nvGraphicFramePr>
          <p:xfrm>
            <a:off x="266" y="933"/>
            <a:ext cx="601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38" name="Equation" r:id="rId5" imgW="9144000" imgH="3657600" progId="Equation.DSMT4">
                    <p:embed/>
                  </p:oleObj>
                </mc:Choice>
                <mc:Fallback>
                  <p:oleObj name="Equation" r:id="rId5" imgW="9144000" imgH="3657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" y="933"/>
                          <a:ext cx="601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828" name="Object 12"/>
            <p:cNvGraphicFramePr>
              <a:graphicFrameLocks noChangeAspect="1"/>
            </p:cNvGraphicFramePr>
            <p:nvPr/>
          </p:nvGraphicFramePr>
          <p:xfrm>
            <a:off x="2328" y="932"/>
            <a:ext cx="85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39" name="Equation" r:id="rId7" imgW="14020800" imgH="3657600" progId="Equation.DSMT4">
                    <p:embed/>
                  </p:oleObj>
                </mc:Choice>
                <mc:Fallback>
                  <p:oleObj name="Equation" r:id="rId7" imgW="14020800" imgH="36576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8" y="932"/>
                          <a:ext cx="85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6829" name="Rectangle 13"/>
            <p:cNvSpPr>
              <a:spLocks noChangeArrowheads="1"/>
            </p:cNvSpPr>
            <p:nvPr/>
          </p:nvSpPr>
          <p:spPr bwMode="auto">
            <a:xfrm>
              <a:off x="3113" y="860"/>
              <a:ext cx="26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设新方法的总体方差不变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46830" name="WordArt 14"/>
          <p:cNvSpPr>
            <a:spLocks noChangeArrowheads="1" noChangeShapeType="1" noTextEdit="1"/>
          </p:cNvSpPr>
          <p:nvPr/>
        </p:nvSpPr>
        <p:spPr bwMode="auto">
          <a:xfrm>
            <a:off x="784225" y="654050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46831" name="WordArt 15"/>
          <p:cNvSpPr>
            <a:spLocks noChangeArrowheads="1" noChangeShapeType="1" noTextEdit="1"/>
          </p:cNvSpPr>
          <p:nvPr/>
        </p:nvSpPr>
        <p:spPr bwMode="auto">
          <a:xfrm>
            <a:off x="784225" y="2235200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>
                <a:ln w="12700">
                  <a:solidFill>
                    <a:schemeClr val="accent2"/>
                  </a:solidFill>
                  <a:round/>
                </a:ln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>
              <a:ln w="12700">
                <a:solidFill>
                  <a:schemeClr val="accent2"/>
                </a:solidFill>
                <a:round/>
              </a:ln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46832" name="Object 16"/>
          <p:cNvGraphicFramePr>
            <a:graphicFrameLocks noChangeAspect="1"/>
          </p:cNvGraphicFramePr>
          <p:nvPr/>
        </p:nvGraphicFramePr>
        <p:xfrm>
          <a:off x="2344738" y="2540000"/>
          <a:ext cx="42227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540" name="Equation" r:id="rId9" imgW="40538400" imgH="4572000" progId="Equation.DSMT4">
                  <p:embed/>
                </p:oleObj>
              </mc:Choice>
              <mc:Fallback>
                <p:oleObj name="Equation" r:id="rId9" imgW="40538400" imgH="4572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2540000"/>
                        <a:ext cx="42227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6833" name="Group 17"/>
          <p:cNvGrpSpPr/>
          <p:nvPr/>
        </p:nvGrpSpPr>
        <p:grpSpPr bwMode="auto">
          <a:xfrm>
            <a:off x="1306513" y="2119313"/>
            <a:ext cx="7226300" cy="522287"/>
            <a:chOff x="831" y="1415"/>
            <a:chExt cx="4552" cy="329"/>
          </a:xfrm>
        </p:grpSpPr>
        <p:sp>
          <p:nvSpPr>
            <p:cNvPr id="546834" name="Rectangle 18"/>
            <p:cNvSpPr>
              <a:spLocks noChangeArrowheads="1"/>
            </p:cNvSpPr>
            <p:nvPr/>
          </p:nvSpPr>
          <p:spPr bwMode="auto">
            <a:xfrm>
              <a:off x="3646" y="1417"/>
              <a:ext cx="173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依题意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要检验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6835" name="Rectangle 19"/>
            <p:cNvSpPr>
              <a:spLocks noChangeArrowheads="1"/>
            </p:cNvSpPr>
            <p:nvPr/>
          </p:nvSpPr>
          <p:spPr bwMode="auto">
            <a:xfrm>
              <a:off x="831" y="1415"/>
              <a:ext cx="20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设新方法燃烧率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6836" name="Object 20"/>
            <p:cNvGraphicFramePr>
              <a:graphicFrameLocks noChangeAspect="1"/>
            </p:cNvGraphicFramePr>
            <p:nvPr/>
          </p:nvGraphicFramePr>
          <p:xfrm>
            <a:off x="2445" y="1426"/>
            <a:ext cx="128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41" name="Equation" r:id="rId11" imgW="19507200" imgH="4876800" progId="Equation.DSMT4">
                    <p:embed/>
                  </p:oleObj>
                </mc:Choice>
                <mc:Fallback>
                  <p:oleObj name="Equation" r:id="rId11" imgW="19507200" imgH="48768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5" y="1426"/>
                          <a:ext cx="128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6929" name="Group 113"/>
          <p:cNvGrpSpPr/>
          <p:nvPr/>
        </p:nvGrpSpPr>
        <p:grpSpPr bwMode="auto">
          <a:xfrm>
            <a:off x="0" y="3686175"/>
            <a:ext cx="2725738" cy="530225"/>
            <a:chOff x="0" y="2618"/>
            <a:chExt cx="1717" cy="334"/>
          </a:xfrm>
        </p:grpSpPr>
        <p:sp>
          <p:nvSpPr>
            <p:cNvPr id="546924" name="Rectangle 108"/>
            <p:cNvSpPr>
              <a:spLocks noChangeArrowheads="1"/>
            </p:cNvSpPr>
            <p:nvPr/>
          </p:nvSpPr>
          <p:spPr bwMode="auto">
            <a:xfrm>
              <a:off x="0" y="2618"/>
              <a:ext cx="17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否则便要拒绝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6925" name="Object 109"/>
            <p:cNvGraphicFramePr>
              <a:graphicFrameLocks noChangeAspect="1"/>
            </p:cNvGraphicFramePr>
            <p:nvPr/>
          </p:nvGraphicFramePr>
          <p:xfrm>
            <a:off x="1395" y="2675"/>
            <a:ext cx="32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42" name="Equation" r:id="rId13" imgW="4572000" imgH="4267200" progId="Equation.DSMT4">
                    <p:embed/>
                  </p:oleObj>
                </mc:Choice>
                <mc:Fallback>
                  <p:oleObj name="Equation" r:id="rId13" imgW="4572000" imgH="4267200" progId="Equation.DSMT4">
                    <p:embed/>
                    <p:pic>
                      <p:nvPicPr>
                        <p:cNvPr id="0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5" y="2675"/>
                          <a:ext cx="32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6930" name="Group 114"/>
          <p:cNvGrpSpPr/>
          <p:nvPr/>
        </p:nvGrpSpPr>
        <p:grpSpPr bwMode="auto">
          <a:xfrm>
            <a:off x="771525" y="2882900"/>
            <a:ext cx="8512175" cy="531813"/>
            <a:chOff x="486" y="1888"/>
            <a:chExt cx="5362" cy="335"/>
          </a:xfrm>
        </p:grpSpPr>
        <p:sp>
          <p:nvSpPr>
            <p:cNvPr id="546909" name="Rectangle 93"/>
            <p:cNvSpPr>
              <a:spLocks noChangeArrowheads="1"/>
            </p:cNvSpPr>
            <p:nvPr/>
          </p:nvSpPr>
          <p:spPr bwMode="auto">
            <a:xfrm>
              <a:off x="862" y="1888"/>
              <a:ext cx="49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  的无偏估计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且          故  的值应在 </a:t>
              </a:r>
              <a:r>
                <a:rPr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endPara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6910" name="Object 94"/>
            <p:cNvGraphicFramePr>
              <a:graphicFrameLocks noChangeAspect="1"/>
            </p:cNvGraphicFramePr>
            <p:nvPr/>
          </p:nvGraphicFramePr>
          <p:xfrm>
            <a:off x="1149" y="1970"/>
            <a:ext cx="227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43" name="Equation" r:id="rId15" imgW="3352800" imgH="3657600" progId="Equation.DSMT4">
                    <p:embed/>
                  </p:oleObj>
                </mc:Choice>
                <mc:Fallback>
                  <p:oleObj name="Equation" r:id="rId15" imgW="3352800" imgH="3657600" progId="Equation.DSMT4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9" y="1970"/>
                          <a:ext cx="227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911" name="Object 95"/>
            <p:cNvGraphicFramePr>
              <a:graphicFrameLocks noChangeAspect="1"/>
            </p:cNvGraphicFramePr>
            <p:nvPr/>
          </p:nvGraphicFramePr>
          <p:xfrm>
            <a:off x="486" y="1928"/>
            <a:ext cx="47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44" name="Equation" r:id="rId17" imgW="7010400" imgH="3962400" progId="Equation.DSMT4">
                    <p:embed/>
                  </p:oleObj>
                </mc:Choice>
                <mc:Fallback>
                  <p:oleObj name="Equation" r:id="rId17" imgW="7010400" imgH="3962400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" y="1928"/>
                          <a:ext cx="472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912" name="Object 96"/>
            <p:cNvGraphicFramePr>
              <a:graphicFrameLocks noChangeAspect="1"/>
            </p:cNvGraphicFramePr>
            <p:nvPr/>
          </p:nvGraphicFramePr>
          <p:xfrm>
            <a:off x="2793" y="1907"/>
            <a:ext cx="1196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45" name="Equation" r:id="rId19" imgW="17678400" imgH="4876800" progId="Equation.DSMT4">
                    <p:embed/>
                  </p:oleObj>
                </mc:Choice>
                <mc:Fallback>
                  <p:oleObj name="Equation" r:id="rId19" imgW="17678400" imgH="4876800" progId="Equation.DSMT4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3" y="1907"/>
                          <a:ext cx="1196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922" name="Object 106"/>
            <p:cNvGraphicFramePr>
              <a:graphicFrameLocks noChangeAspect="1"/>
            </p:cNvGraphicFramePr>
            <p:nvPr/>
          </p:nvGraphicFramePr>
          <p:xfrm>
            <a:off x="4190" y="1929"/>
            <a:ext cx="267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46" name="Equation" r:id="rId21" imgW="3962400" imgH="3962400" progId="Equation.DSMT4">
                    <p:embed/>
                  </p:oleObj>
                </mc:Choice>
                <mc:Fallback>
                  <p:oleObj name="Equation" r:id="rId21" imgW="3962400" imgH="3962400" progId="Equation.DSMT4">
                    <p:embed/>
                    <p:pic>
                      <p:nvPicPr>
                        <p:cNvPr id="0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0" y="1929"/>
                          <a:ext cx="267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921" name="Object 105"/>
            <p:cNvGraphicFramePr>
              <a:graphicFrameLocks noChangeAspect="1"/>
            </p:cNvGraphicFramePr>
            <p:nvPr/>
          </p:nvGraphicFramePr>
          <p:xfrm>
            <a:off x="5310" y="1971"/>
            <a:ext cx="227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47" name="Equation" r:id="rId23" imgW="3352800" imgH="3657600" progId="Equation.DSMT4">
                    <p:embed/>
                  </p:oleObj>
                </mc:Choice>
                <mc:Fallback>
                  <p:oleObj name="Equation" r:id="rId23" imgW="3352800" imgH="3657600" progId="Equation.DSMT4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0" y="1971"/>
                          <a:ext cx="227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6948" name="Group 132"/>
          <p:cNvGrpSpPr/>
          <p:nvPr/>
        </p:nvGrpSpPr>
        <p:grpSpPr bwMode="auto">
          <a:xfrm>
            <a:off x="0" y="3290888"/>
            <a:ext cx="9144000" cy="527050"/>
            <a:chOff x="0" y="2185"/>
            <a:chExt cx="5760" cy="332"/>
          </a:xfrm>
        </p:grpSpPr>
        <p:sp>
          <p:nvSpPr>
            <p:cNvPr id="546920" name="Rectangle 104"/>
            <p:cNvSpPr>
              <a:spLocks noChangeArrowheads="1"/>
            </p:cNvSpPr>
            <p:nvPr/>
          </p:nvSpPr>
          <p:spPr bwMode="auto">
            <a:xfrm>
              <a:off x="0" y="2185"/>
              <a:ext cx="57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附近波动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且当   成立时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统计量      的值应偏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小于零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6917" name="Object 101"/>
            <p:cNvGraphicFramePr>
              <a:graphicFrameLocks noChangeAspect="1"/>
            </p:cNvGraphicFramePr>
            <p:nvPr/>
          </p:nvGraphicFramePr>
          <p:xfrm>
            <a:off x="3340" y="2220"/>
            <a:ext cx="624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48" name="Equation" r:id="rId25" imgW="9448800" imgH="4572000" progId="Equation.DSMT4">
                    <p:embed/>
                  </p:oleObj>
                </mc:Choice>
                <mc:Fallback>
                  <p:oleObj name="Equation" r:id="rId25" imgW="9448800" imgH="4572000" progId="Equation.DSMT4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0" y="2220"/>
                          <a:ext cx="624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915" name="Object 99"/>
            <p:cNvGraphicFramePr>
              <a:graphicFrameLocks noChangeAspect="1"/>
            </p:cNvGraphicFramePr>
            <p:nvPr/>
          </p:nvGraphicFramePr>
          <p:xfrm>
            <a:off x="1534" y="2229"/>
            <a:ext cx="35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49" name="Equation" r:id="rId27" imgW="4572000" imgH="4267200" progId="Equation.DSMT4">
                    <p:embed/>
                  </p:oleObj>
                </mc:Choice>
                <mc:Fallback>
                  <p:oleObj name="Equation" r:id="rId27" imgW="4572000" imgH="4267200" progId="Equation.DSMT4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4" y="2229"/>
                          <a:ext cx="35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6932" name="Group 116"/>
          <p:cNvGrpSpPr/>
          <p:nvPr/>
        </p:nvGrpSpPr>
        <p:grpSpPr bwMode="auto">
          <a:xfrm>
            <a:off x="2552700" y="3698875"/>
            <a:ext cx="2586038" cy="536575"/>
            <a:chOff x="2336" y="3282"/>
            <a:chExt cx="1629" cy="338"/>
          </a:xfrm>
        </p:grpSpPr>
        <p:sp>
          <p:nvSpPr>
            <p:cNvPr id="546914" name="Rectangle 98"/>
            <p:cNvSpPr>
              <a:spLocks noChangeArrowheads="1"/>
            </p:cNvSpPr>
            <p:nvPr/>
          </p:nvSpPr>
          <p:spPr bwMode="auto">
            <a:xfrm>
              <a:off x="2336" y="3282"/>
              <a:ext cx="16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又当      有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6931" name="Object 115"/>
            <p:cNvGraphicFramePr>
              <a:graphicFrameLocks noChangeAspect="1"/>
            </p:cNvGraphicFramePr>
            <p:nvPr/>
          </p:nvGraphicFramePr>
          <p:xfrm>
            <a:off x="2969" y="3323"/>
            <a:ext cx="666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50" name="Equation" r:id="rId29" imgW="9448800" imgH="4572000" progId="Equation.DSMT4">
                    <p:embed/>
                  </p:oleObj>
                </mc:Choice>
                <mc:Fallback>
                  <p:oleObj name="Equation" r:id="rId29" imgW="9448800" imgH="4572000" progId="Equation.DSMT4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9" y="3323"/>
                          <a:ext cx="666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6933" name="Object 117"/>
          <p:cNvGraphicFramePr>
            <a:graphicFrameLocks noChangeAspect="1"/>
          </p:cNvGraphicFramePr>
          <p:nvPr/>
        </p:nvGraphicFramePr>
        <p:xfrm>
          <a:off x="3311525" y="4148138"/>
          <a:ext cx="228758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551" name="Equation" r:id="rId31" imgW="22555200" imgH="8534400" progId="Equation.DSMT4">
                  <p:embed/>
                </p:oleObj>
              </mc:Choice>
              <mc:Fallback>
                <p:oleObj name="Equation" r:id="rId31" imgW="22555200" imgH="8534400" progId="Equation.DSMT4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4148138"/>
                        <a:ext cx="2287588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6940" name="Group 124"/>
          <p:cNvGrpSpPr/>
          <p:nvPr/>
        </p:nvGrpSpPr>
        <p:grpSpPr bwMode="auto">
          <a:xfrm>
            <a:off x="0" y="4856163"/>
            <a:ext cx="8212138" cy="530225"/>
            <a:chOff x="0" y="3147"/>
            <a:chExt cx="5173" cy="334"/>
          </a:xfrm>
        </p:grpSpPr>
        <p:sp>
          <p:nvSpPr>
            <p:cNvPr id="546935" name="Rectangle 119"/>
            <p:cNvSpPr>
              <a:spLocks noChangeArrowheads="1"/>
            </p:cNvSpPr>
            <p:nvPr/>
          </p:nvSpPr>
          <p:spPr bwMode="auto">
            <a:xfrm>
              <a:off x="0" y="3147"/>
              <a:ext cx="51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故对于给定的显著水平       求得  的拒绝域为</a:t>
              </a:r>
              <a:endPara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6926" name="Object 110"/>
            <p:cNvGraphicFramePr>
              <a:graphicFrameLocks noChangeAspect="1"/>
            </p:cNvGraphicFramePr>
            <p:nvPr/>
          </p:nvGraphicFramePr>
          <p:xfrm>
            <a:off x="3516" y="3204"/>
            <a:ext cx="32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52" name="Equation" r:id="rId33" imgW="254000" imgH="241300" progId="Equation.DSMT4">
                    <p:embed/>
                  </p:oleObj>
                </mc:Choice>
                <mc:Fallback>
                  <p:oleObj name="Equation" r:id="rId33" imgW="254000" imgH="241300" progId="Equation.DSMT4">
                    <p:embed/>
                    <p:pic>
                      <p:nvPicPr>
                        <p:cNvPr id="0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6" y="3204"/>
                          <a:ext cx="32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937" name="Object 121"/>
            <p:cNvGraphicFramePr>
              <a:graphicFrameLocks noChangeAspect="1"/>
            </p:cNvGraphicFramePr>
            <p:nvPr/>
          </p:nvGraphicFramePr>
          <p:xfrm>
            <a:off x="2270" y="3222"/>
            <a:ext cx="881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53" name="Equation" r:id="rId35" imgW="12496800" imgH="3962400" progId="Equation.DSMT4">
                    <p:embed/>
                  </p:oleObj>
                </mc:Choice>
                <mc:Fallback>
                  <p:oleObj name="Equation" r:id="rId35" imgW="12496800" imgH="3962400" progId="Equation.DSMT4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0" y="3222"/>
                          <a:ext cx="881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6938" name="Object 122"/>
          <p:cNvGraphicFramePr>
            <a:graphicFrameLocks noChangeAspect="1"/>
          </p:cNvGraphicFramePr>
          <p:nvPr/>
        </p:nvGraphicFramePr>
        <p:xfrm>
          <a:off x="2363788" y="5208588"/>
          <a:ext cx="22558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554" name="Equation" r:id="rId37" imgW="22250400" imgH="7924800" progId="Equation.DSMT4">
                  <p:embed/>
                </p:oleObj>
              </mc:Choice>
              <mc:Fallback>
                <p:oleObj name="Equation" r:id="rId37" imgW="22250400" imgH="7924800" progId="Equation.DSMT4">
                  <p:embed/>
                  <p:pic>
                    <p:nvPicPr>
                      <p:cNvPr id="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5208588"/>
                        <a:ext cx="22558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939" name="Object 123"/>
          <p:cNvGraphicFramePr>
            <a:graphicFrameLocks noChangeAspect="1"/>
          </p:cNvGraphicFramePr>
          <p:nvPr/>
        </p:nvGraphicFramePr>
        <p:xfrm>
          <a:off x="4606925" y="5278438"/>
          <a:ext cx="24717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555" name="Equation" r:id="rId39" imgW="24384000" imgH="7315200" progId="Equation.DSMT4">
                  <p:embed/>
                </p:oleObj>
              </mc:Choice>
              <mc:Fallback>
                <p:oleObj name="Equation" r:id="rId39" imgW="24384000" imgH="7315200" progId="Equation.DSMT4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5" y="5278438"/>
                        <a:ext cx="247173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945" name="Object 129"/>
          <p:cNvGraphicFramePr>
            <a:graphicFrameLocks noChangeAspect="1"/>
          </p:cNvGraphicFramePr>
          <p:nvPr/>
        </p:nvGraphicFramePr>
        <p:xfrm>
          <a:off x="939800" y="5970588"/>
          <a:ext cx="451961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556" name="Equation" r:id="rId41" imgW="44500800" imgH="4572000" progId="Equation.DSMT4">
                  <p:embed/>
                </p:oleObj>
              </mc:Choice>
              <mc:Fallback>
                <p:oleObj name="Equation" r:id="rId41" imgW="44500800" imgH="4572000" progId="Equation.DSMT4">
                  <p:embed/>
                  <p:pic>
                    <p:nvPicPr>
                      <p:cNvPr id="0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5970588"/>
                        <a:ext cx="451961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6949" name="Group 133"/>
          <p:cNvGrpSpPr/>
          <p:nvPr/>
        </p:nvGrpSpPr>
        <p:grpSpPr bwMode="auto">
          <a:xfrm>
            <a:off x="866775" y="6300788"/>
            <a:ext cx="6888163" cy="519112"/>
            <a:chOff x="538" y="4025"/>
            <a:chExt cx="4339" cy="327"/>
          </a:xfrm>
        </p:grpSpPr>
        <p:grpSp>
          <p:nvGrpSpPr>
            <p:cNvPr id="546947" name="Group 131"/>
            <p:cNvGrpSpPr/>
            <p:nvPr/>
          </p:nvGrpSpPr>
          <p:grpSpPr bwMode="auto">
            <a:xfrm>
              <a:off x="728" y="4025"/>
              <a:ext cx="4149" cy="327"/>
              <a:chOff x="728" y="4025"/>
              <a:chExt cx="4149" cy="327"/>
            </a:xfrm>
          </p:grpSpPr>
          <p:sp>
            <p:nvSpPr>
              <p:cNvPr id="546942" name="Rectangle 126"/>
              <p:cNvSpPr>
                <a:spLocks noChangeArrowheads="1"/>
              </p:cNvSpPr>
              <p:nvPr/>
            </p:nvSpPr>
            <p:spPr bwMode="auto">
              <a:xfrm>
                <a:off x="728" y="4025"/>
                <a:ext cx="414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拒绝   即认为新方法燃烧率有显著提高</a:t>
                </a:r>
                <a:r>
                  <a:rPr lang="en-US" altLang="zh-CN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.</a:t>
                </a:r>
                <a:endPara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aphicFrame>
            <p:nvGraphicFramePr>
              <p:cNvPr id="546943" name="Object 127"/>
              <p:cNvGraphicFramePr>
                <a:graphicFrameLocks noChangeAspect="1"/>
              </p:cNvGraphicFramePr>
              <p:nvPr/>
            </p:nvGraphicFramePr>
            <p:xfrm>
              <a:off x="1209" y="4075"/>
              <a:ext cx="408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9557" name="Equation" r:id="rId43" imgW="5791200" imgH="4267200" progId="Equation.DSMT4">
                      <p:embed/>
                    </p:oleObj>
                  </mc:Choice>
                  <mc:Fallback>
                    <p:oleObj name="Equation" r:id="rId43" imgW="5791200" imgH="4267200" progId="Equation.DSMT4">
                      <p:embed/>
                      <p:pic>
                        <p:nvPicPr>
                          <p:cNvPr id="0" name="Object 1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9" y="4075"/>
                            <a:ext cx="408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46946" name="Object 130"/>
            <p:cNvGraphicFramePr>
              <a:graphicFrameLocks noChangeAspect="1"/>
            </p:cNvGraphicFramePr>
            <p:nvPr/>
          </p:nvGraphicFramePr>
          <p:xfrm>
            <a:off x="538" y="4126"/>
            <a:ext cx="215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58" name="Equation" r:id="rId45" imgW="3048000" imgH="2743200" progId="Equation.DSMT4">
                    <p:embed/>
                  </p:oleObj>
                </mc:Choice>
                <mc:Fallback>
                  <p:oleObj name="Equation" r:id="rId45" imgW="3048000" imgH="2743200" progId="Equation.DSMT4">
                    <p:embed/>
                    <p:pic>
                      <p:nvPicPr>
                        <p:cNvPr id="0" name="Object 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" y="4126"/>
                          <a:ext cx="215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6954" name="Group 138"/>
          <p:cNvGrpSpPr/>
          <p:nvPr/>
        </p:nvGrpSpPr>
        <p:grpSpPr bwMode="auto">
          <a:xfrm>
            <a:off x="6618288" y="5811838"/>
            <a:ext cx="2220912" cy="509587"/>
            <a:chOff x="4361" y="3493"/>
            <a:chExt cx="1399" cy="321"/>
          </a:xfrm>
        </p:grpSpPr>
        <p:sp>
          <p:nvSpPr>
            <p:cNvPr id="546951" name="AutoShape 135"/>
            <p:cNvSpPr>
              <a:spLocks noChangeArrowheads="1"/>
            </p:cNvSpPr>
            <p:nvPr/>
          </p:nvSpPr>
          <p:spPr bwMode="auto">
            <a:xfrm>
              <a:off x="4361" y="3493"/>
              <a:ext cx="1399" cy="321"/>
            </a:xfrm>
            <a:prstGeom prst="wedgeRectCallout">
              <a:avLst>
                <a:gd name="adj1" fmla="val -58866"/>
                <a:gd name="adj2" fmla="val -22898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546952" name="WordArt 136"/>
            <p:cNvSpPr>
              <a:spLocks noChangeArrowheads="1" noChangeShapeType="1" noTextEdit="1"/>
            </p:cNvSpPr>
            <p:nvPr/>
          </p:nvSpPr>
          <p:spPr bwMode="auto">
            <a:xfrm>
              <a:off x="4403" y="3541"/>
              <a:ext cx="1317" cy="2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单边  检验法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6953" name="WordArt 137"/>
            <p:cNvSpPr>
              <a:spLocks noChangeArrowheads="1" noChangeShapeType="1" noTextEdit="1"/>
            </p:cNvSpPr>
            <p:nvPr/>
          </p:nvSpPr>
          <p:spPr bwMode="auto">
            <a:xfrm>
              <a:off x="4876" y="3574"/>
              <a:ext cx="149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i="1" kern="1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u</a:t>
              </a:r>
              <a:endParaRPr lang="zh-CN" altLang="en-US" sz="3600" i="1" kern="10">
                <a:ln w="12700">
                  <a:solidFill>
                    <a:srgbClr val="FFFF00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46960" name="Oval 144"/>
          <p:cNvSpPr>
            <a:spLocks noChangeArrowheads="1"/>
          </p:cNvSpPr>
          <p:nvPr/>
        </p:nvSpPr>
        <p:spPr bwMode="auto">
          <a:xfrm>
            <a:off x="3251200" y="4191000"/>
            <a:ext cx="2273300" cy="7366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tailEnd type="none" w="lg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46959" name="Group 143"/>
          <p:cNvGrpSpPr/>
          <p:nvPr/>
        </p:nvGrpSpPr>
        <p:grpSpPr bwMode="auto">
          <a:xfrm>
            <a:off x="5768975" y="4060825"/>
            <a:ext cx="3375025" cy="725488"/>
            <a:chOff x="3674" y="2710"/>
            <a:chExt cx="1943" cy="457"/>
          </a:xfrm>
        </p:grpSpPr>
        <p:sp>
          <p:nvSpPr>
            <p:cNvPr id="546956" name="AutoShape 140"/>
            <p:cNvSpPr>
              <a:spLocks noChangeArrowheads="1"/>
            </p:cNvSpPr>
            <p:nvPr/>
          </p:nvSpPr>
          <p:spPr bwMode="auto">
            <a:xfrm>
              <a:off x="3674" y="2710"/>
              <a:ext cx="1943" cy="457"/>
            </a:xfrm>
            <a:prstGeom prst="wedgeRectCallout">
              <a:avLst>
                <a:gd name="adj1" fmla="val -56380"/>
                <a:gd name="adj2" fmla="val 18051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6957" name="WordArt 141"/>
            <p:cNvSpPr>
              <a:spLocks noChangeArrowheads="1" noChangeShapeType="1" noTextEdit="1"/>
            </p:cNvSpPr>
            <p:nvPr/>
          </p:nvSpPr>
          <p:spPr bwMode="auto">
            <a:xfrm>
              <a:off x="3716" y="2758"/>
              <a:ext cx="1845" cy="3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单边假设检验问题，检验统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计量都采用临界点处的分布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46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6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46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46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4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6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6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46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46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6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46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46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6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96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914" name="Group 2"/>
          <p:cNvGrpSpPr/>
          <p:nvPr/>
        </p:nvGrpSpPr>
        <p:grpSpPr bwMode="auto">
          <a:xfrm>
            <a:off x="539750" y="1981200"/>
            <a:ext cx="8153400" cy="2935288"/>
            <a:chOff x="340" y="1248"/>
            <a:chExt cx="5136" cy="1849"/>
          </a:xfrm>
        </p:grpSpPr>
        <p:sp>
          <p:nvSpPr>
            <p:cNvPr id="550915" name="Rectangle 3"/>
            <p:cNvSpPr>
              <a:spLocks noChangeArrowheads="1"/>
            </p:cNvSpPr>
            <p:nvPr/>
          </p:nvSpPr>
          <p:spPr bwMode="auto">
            <a:xfrm>
              <a:off x="340" y="1248"/>
              <a:ext cx="5136" cy="1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0" hangingPunct="0">
                <a:lnSpc>
                  <a:spcPct val="1350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tx2"/>
                  </a:solidFill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zh-CN" altLang="en-US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某织物强力指标</a:t>
              </a:r>
              <a:r>
                <a:rPr lang="en-US" altLang="zh-CN" b="1" i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en-US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的均值      </a:t>
              </a:r>
              <a:r>
                <a:rPr lang="en-US" altLang="zh-CN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=21</a:t>
              </a:r>
              <a:r>
                <a:rPr lang="zh-CN" altLang="en-US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公斤</a:t>
              </a:r>
              <a:r>
                <a:rPr lang="en-US" altLang="zh-CN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.  </a:t>
              </a:r>
              <a:r>
                <a:rPr lang="zh-CN" altLang="en-US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改进工艺后生产一批织物，今从中取</a:t>
              </a:r>
              <a:r>
                <a:rPr lang="en-US" altLang="zh-CN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zh-CN" altLang="en-US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件，测得     </a:t>
              </a:r>
              <a:r>
                <a:rPr lang="en-US" altLang="zh-CN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=21.55</a:t>
              </a:r>
              <a:r>
                <a:rPr lang="zh-CN" altLang="en-US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公斤</a:t>
              </a:r>
              <a:r>
                <a:rPr lang="en-US" altLang="zh-CN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.   </a:t>
              </a:r>
              <a:r>
                <a:rPr lang="zh-CN" altLang="en-US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假设强力指标服从正态分布                      且已知        </a:t>
              </a:r>
              <a:r>
                <a:rPr lang="en-US" altLang="zh-CN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=1.2</a:t>
              </a:r>
              <a:r>
                <a:rPr lang="zh-CN" altLang="en-US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公斤， 问在显著性水平     </a:t>
              </a:r>
              <a:r>
                <a:rPr lang="en-US" altLang="zh-CN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=0.01 </a:t>
              </a:r>
              <a:r>
                <a:rPr lang="zh-CN" altLang="en-US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下，</a:t>
              </a:r>
              <a:r>
                <a:rPr lang="zh-CN" altLang="en-US" b="1" dirty="0">
                  <a:solidFill>
                    <a:srgbClr val="A50021"/>
                  </a:solidFill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新生产织物比过去的织物强力是否有提高</a:t>
              </a:r>
              <a:r>
                <a:rPr lang="en-US" altLang="zh-CN" b="1" dirty="0">
                  <a:solidFill>
                    <a:srgbClr val="A50021"/>
                  </a:solidFill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?</a:t>
              </a:r>
              <a:endParaRPr lang="en-US" altLang="zh-CN" b="1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50916" name="Object 4"/>
            <p:cNvGraphicFramePr>
              <a:graphicFrameLocks noChangeAspect="1"/>
            </p:cNvGraphicFramePr>
            <p:nvPr/>
          </p:nvGraphicFramePr>
          <p:xfrm>
            <a:off x="3152" y="1253"/>
            <a:ext cx="342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0" name="Equation" r:id="rId1" imgW="254000" imgH="304800" progId="Equation.DSMT4">
                    <p:embed/>
                  </p:oleObj>
                </mc:Choice>
                <mc:Fallback>
                  <p:oleObj name="Equation" r:id="rId1" imgW="254000" imgH="3048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1253"/>
                          <a:ext cx="342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0917" name="Object 5"/>
            <p:cNvGraphicFramePr>
              <a:graphicFrameLocks noChangeAspect="1"/>
            </p:cNvGraphicFramePr>
            <p:nvPr/>
          </p:nvGraphicFramePr>
          <p:xfrm>
            <a:off x="4233" y="1720"/>
            <a:ext cx="193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1" name="Equation" r:id="rId3" imgW="3048000" imgH="3657600" progId="Equation.DSMT4">
                    <p:embed/>
                  </p:oleObj>
                </mc:Choice>
                <mc:Fallback>
                  <p:oleObj name="Equation" r:id="rId3" imgW="3048000" imgH="3657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3" y="1720"/>
                          <a:ext cx="193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0918" name="Object 6"/>
            <p:cNvGraphicFramePr>
              <a:graphicFrameLocks noChangeAspect="1"/>
            </p:cNvGraphicFramePr>
            <p:nvPr/>
          </p:nvGraphicFramePr>
          <p:xfrm>
            <a:off x="787" y="2423"/>
            <a:ext cx="27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2" name="公式" r:id="rId5" imgW="203200" imgH="190500" progId="Equation.3">
                    <p:embed/>
                  </p:oleObj>
                </mc:Choice>
                <mc:Fallback>
                  <p:oleObj name="公式" r:id="rId5" imgW="203200" imgH="1905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" y="2423"/>
                          <a:ext cx="27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0919" name="Object 7"/>
            <p:cNvGraphicFramePr>
              <a:graphicFrameLocks noChangeAspect="1"/>
            </p:cNvGraphicFramePr>
            <p:nvPr/>
          </p:nvGraphicFramePr>
          <p:xfrm>
            <a:off x="2416" y="2871"/>
            <a:ext cx="7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3" name="公式" r:id="rId7" imgW="114300" imgH="215900" progId="Equation.3">
                    <p:embed/>
                  </p:oleObj>
                </mc:Choice>
                <mc:Fallback>
                  <p:oleObj name="公式" r:id="rId7" imgW="114300" imgH="2159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2871"/>
                          <a:ext cx="71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0920" name="Object 8"/>
            <p:cNvGraphicFramePr>
              <a:graphicFrameLocks noChangeAspect="1"/>
            </p:cNvGraphicFramePr>
            <p:nvPr/>
          </p:nvGraphicFramePr>
          <p:xfrm>
            <a:off x="2416" y="2871"/>
            <a:ext cx="7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4" name="公式" r:id="rId9" imgW="114300" imgH="215900" progId="Equation.3">
                    <p:embed/>
                  </p:oleObj>
                </mc:Choice>
                <mc:Fallback>
                  <p:oleObj name="公式" r:id="rId9" imgW="1143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2871"/>
                          <a:ext cx="71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0921" name="Object 9"/>
            <p:cNvGraphicFramePr>
              <a:graphicFrameLocks noChangeAspect="1"/>
            </p:cNvGraphicFramePr>
            <p:nvPr/>
          </p:nvGraphicFramePr>
          <p:xfrm>
            <a:off x="2416" y="2871"/>
            <a:ext cx="7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5" name="公式" r:id="rId10" imgW="114300" imgH="215900" progId="Equation.3">
                    <p:embed/>
                  </p:oleObj>
                </mc:Choice>
                <mc:Fallback>
                  <p:oleObj name="公式" r:id="rId10" imgW="114300" imgH="2159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2871"/>
                          <a:ext cx="71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0922" name="Object 10"/>
            <p:cNvGraphicFramePr>
              <a:graphicFrameLocks noChangeAspect="1"/>
            </p:cNvGraphicFramePr>
            <p:nvPr/>
          </p:nvGraphicFramePr>
          <p:xfrm>
            <a:off x="2416" y="2871"/>
            <a:ext cx="7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6" name="公式" r:id="rId11" imgW="114300" imgH="215900" progId="Equation.3">
                    <p:embed/>
                  </p:oleObj>
                </mc:Choice>
                <mc:Fallback>
                  <p:oleObj name="公式" r:id="rId11" imgW="114300" imgH="2159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2871"/>
                          <a:ext cx="71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0923" name="Object 11"/>
            <p:cNvGraphicFramePr>
              <a:graphicFrameLocks noChangeAspect="1"/>
            </p:cNvGraphicFramePr>
            <p:nvPr/>
          </p:nvGraphicFramePr>
          <p:xfrm>
            <a:off x="3606" y="1979"/>
            <a:ext cx="1150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7" name="公式" r:id="rId12" imgW="901700" imgH="304800" progId="Equation.3">
                    <p:embed/>
                  </p:oleObj>
                </mc:Choice>
                <mc:Fallback>
                  <p:oleObj name="公式" r:id="rId12" imgW="901700" imgH="3048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1979"/>
                          <a:ext cx="1150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0924" name="Object 12"/>
            <p:cNvGraphicFramePr>
              <a:graphicFrameLocks noChangeAspect="1"/>
            </p:cNvGraphicFramePr>
            <p:nvPr/>
          </p:nvGraphicFramePr>
          <p:xfrm>
            <a:off x="3835" y="2438"/>
            <a:ext cx="27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8" name="公式" r:id="rId14" imgW="203200" imgH="190500" progId="Equation.3">
                    <p:embed/>
                  </p:oleObj>
                </mc:Choice>
                <mc:Fallback>
                  <p:oleObj name="公式" r:id="rId14" imgW="203200" imgH="1905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5" y="2438"/>
                          <a:ext cx="27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0925" name="Text Box 13"/>
          <p:cNvSpPr txBox="1">
            <a:spLocks noChangeArrowheads="1"/>
          </p:cNvSpPr>
          <p:nvPr/>
        </p:nvSpPr>
        <p:spPr bwMode="auto">
          <a:xfrm>
            <a:off x="615950" y="762000"/>
            <a:ext cx="36718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100000"/>
              </a:lnSpc>
            </a:pPr>
            <a:r>
              <a:rPr lang="zh-CN" altLang="en-US" sz="4000" b="1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课堂练习</a:t>
            </a:r>
            <a:endParaRPr lang="zh-CN" altLang="en-US" sz="4000" b="1">
              <a:solidFill>
                <a:srgbClr val="A5002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ChangeArrowheads="1"/>
          </p:cNvSpPr>
          <p:nvPr/>
        </p:nvSpPr>
        <p:spPr bwMode="auto">
          <a:xfrm>
            <a:off x="2992438" y="4125849"/>
            <a:ext cx="18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zh-CN" sz="3600" b="1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63" name="Rectangle 3"/>
          <p:cNvSpPr>
            <a:spLocks noChangeArrowheads="1"/>
          </p:cNvSpPr>
          <p:nvPr/>
        </p:nvSpPr>
        <p:spPr bwMode="auto">
          <a:xfrm>
            <a:off x="1946985" y="693744"/>
            <a:ext cx="3129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000" b="1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64" name="Oval 4"/>
          <p:cNvSpPr>
            <a:spLocks noChangeArrowheads="1"/>
          </p:cNvSpPr>
          <p:nvPr/>
        </p:nvSpPr>
        <p:spPr bwMode="auto">
          <a:xfrm>
            <a:off x="1371600" y="620649"/>
            <a:ext cx="1143000" cy="1752600"/>
          </a:xfrm>
          <a:prstGeom prst="ellipse">
            <a:avLst/>
          </a:prstGeom>
          <a:solidFill>
            <a:srgbClr val="660033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提出</a:t>
            </a:r>
            <a:endParaRPr lang="zh-CN" altLang="en-US" b="1">
              <a:solidFill>
                <a:srgbClr val="FFFF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假设</a:t>
            </a:r>
            <a:endParaRPr lang="zh-CN" altLang="en-US" sz="2400" b="1">
              <a:solidFill>
                <a:srgbClr val="FFFF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65" name="AutoShape 5"/>
          <p:cNvSpPr>
            <a:spLocks noChangeArrowheads="1"/>
          </p:cNvSpPr>
          <p:nvPr/>
        </p:nvSpPr>
        <p:spPr bwMode="auto">
          <a:xfrm>
            <a:off x="3657600" y="620649"/>
            <a:ext cx="4343400" cy="1295400"/>
          </a:xfrm>
          <a:prstGeom prst="wedgeRectCallout">
            <a:avLst>
              <a:gd name="adj1" fmla="val -73792"/>
              <a:gd name="adj2" fmla="val 1066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</a:t>
            </a:r>
            <a:endParaRPr lang="en-US" altLang="zh-CN" b="1" dirty="0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根据统计调查的目的</a:t>
            </a:r>
            <a:r>
              <a:rPr lang="en-US" altLang="zh-CN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提出</a:t>
            </a:r>
            <a:endParaRPr lang="zh-CN" altLang="en-US" b="1" dirty="0">
              <a:solidFill>
                <a:srgbClr val="A5002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原假设</a:t>
            </a:r>
            <a:r>
              <a:rPr lang="en-US" altLang="zh-CN" b="1" i="1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b="1" baseline="-25000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和备选假设</a:t>
            </a:r>
            <a:r>
              <a:rPr lang="en-US" altLang="zh-CN" b="1" i="1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b="1" baseline="-25000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</a:t>
            </a:r>
            <a:endParaRPr lang="en-US" altLang="zh-CN" b="1" dirty="0">
              <a:solidFill>
                <a:srgbClr val="A5002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b="1" dirty="0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66" name="Oval 6"/>
          <p:cNvSpPr>
            <a:spLocks noChangeArrowheads="1"/>
          </p:cNvSpPr>
          <p:nvPr/>
        </p:nvSpPr>
        <p:spPr bwMode="auto">
          <a:xfrm>
            <a:off x="5181600" y="1763649"/>
            <a:ext cx="1143000" cy="1752600"/>
          </a:xfrm>
          <a:prstGeom prst="ellipse">
            <a:avLst/>
          </a:prstGeom>
          <a:solidFill>
            <a:srgbClr val="660033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作出</a:t>
            </a:r>
            <a:endParaRPr lang="zh-CN" altLang="en-US" b="1">
              <a:solidFill>
                <a:srgbClr val="FFFF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决策</a:t>
            </a:r>
            <a:endParaRPr lang="zh-CN" altLang="en-US" sz="2400" b="1">
              <a:solidFill>
                <a:srgbClr val="FFFF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67" name="Oval 7"/>
          <p:cNvSpPr>
            <a:spLocks noChangeArrowheads="1"/>
          </p:cNvSpPr>
          <p:nvPr/>
        </p:nvSpPr>
        <p:spPr bwMode="auto">
          <a:xfrm>
            <a:off x="1219200" y="2830449"/>
            <a:ext cx="1219200" cy="1752600"/>
          </a:xfrm>
          <a:prstGeom prst="ellipse">
            <a:avLst/>
          </a:prstGeom>
          <a:solidFill>
            <a:srgbClr val="660033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抽取</a:t>
            </a:r>
            <a:endParaRPr lang="zh-CN" altLang="en-US" b="1">
              <a:solidFill>
                <a:srgbClr val="FFFF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样本</a:t>
            </a:r>
            <a:endParaRPr lang="zh-CN" altLang="en-US" sz="2400" b="1">
              <a:solidFill>
                <a:srgbClr val="FFFF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68" name="Oval 8"/>
          <p:cNvSpPr>
            <a:spLocks noChangeArrowheads="1"/>
          </p:cNvSpPr>
          <p:nvPr/>
        </p:nvSpPr>
        <p:spPr bwMode="auto">
          <a:xfrm>
            <a:off x="3048000" y="2830449"/>
            <a:ext cx="1143000" cy="1752600"/>
          </a:xfrm>
          <a:prstGeom prst="ellipse">
            <a:avLst/>
          </a:prstGeom>
          <a:solidFill>
            <a:srgbClr val="660033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检验</a:t>
            </a:r>
            <a:endParaRPr lang="zh-CN" altLang="en-US" b="1">
              <a:solidFill>
                <a:srgbClr val="FFFF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假设</a:t>
            </a:r>
            <a:endParaRPr lang="zh-CN" altLang="en-US" sz="2400" b="1">
              <a:solidFill>
                <a:srgbClr val="FFFF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69" name="AutoShape 9"/>
          <p:cNvSpPr>
            <a:spLocks noChangeArrowheads="1"/>
          </p:cNvSpPr>
          <p:nvPr/>
        </p:nvSpPr>
        <p:spPr bwMode="auto">
          <a:xfrm>
            <a:off x="4800600" y="4202049"/>
            <a:ext cx="3962400" cy="2209800"/>
          </a:xfrm>
          <a:prstGeom prst="wedgeRectCallout">
            <a:avLst>
              <a:gd name="adj1" fmla="val -56653"/>
              <a:gd name="adj2" fmla="val -7148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对差异进行定量的分析，</a:t>
            </a:r>
            <a:endParaRPr lang="zh-CN" altLang="en-US" b="1" dirty="0">
              <a:solidFill>
                <a:srgbClr val="A5002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A5002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确定其性质</a:t>
            </a:r>
            <a:r>
              <a:rPr lang="en-US" altLang="zh-CN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是随机误差</a:t>
            </a:r>
            <a:endParaRPr lang="zh-CN" altLang="en-US" sz="2400" b="1" dirty="0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还是系统误差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.   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为给出两</a:t>
            </a:r>
            <a:endParaRPr lang="zh-CN" altLang="en-US" sz="2400" b="1" dirty="0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者界限，找一检验统计量</a:t>
            </a:r>
            <a:r>
              <a:rPr lang="en-US" altLang="zh-CN" sz="2400" b="1" i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，</a:t>
            </a:r>
            <a:endParaRPr lang="zh-CN" altLang="en-US" sz="2400" b="1" dirty="0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baseline="-25000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成立下其分布已知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70" name="AutoShape 10"/>
          <p:cNvSpPr>
            <a:spLocks noChangeArrowheads="1"/>
          </p:cNvSpPr>
          <p:nvPr/>
        </p:nvSpPr>
        <p:spPr bwMode="auto">
          <a:xfrm>
            <a:off x="1752600" y="2449449"/>
            <a:ext cx="304800" cy="381000"/>
          </a:xfrm>
          <a:prstGeom prst="down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71" name="AutoShape 11"/>
          <p:cNvSpPr>
            <a:spLocks noChangeArrowheads="1"/>
          </p:cNvSpPr>
          <p:nvPr/>
        </p:nvSpPr>
        <p:spPr bwMode="auto">
          <a:xfrm>
            <a:off x="2438400" y="3516249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72" name="AutoShape 12"/>
          <p:cNvSpPr>
            <a:spLocks noChangeArrowheads="1"/>
          </p:cNvSpPr>
          <p:nvPr/>
        </p:nvSpPr>
        <p:spPr bwMode="auto">
          <a:xfrm rot="11760243">
            <a:off x="3429000" y="4583049"/>
            <a:ext cx="304800" cy="381000"/>
          </a:xfrm>
          <a:prstGeom prst="down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73" name="AutoShape 13"/>
          <p:cNvSpPr>
            <a:spLocks noChangeArrowheads="1"/>
          </p:cNvSpPr>
          <p:nvPr/>
        </p:nvSpPr>
        <p:spPr bwMode="auto">
          <a:xfrm rot="14407267">
            <a:off x="4348957" y="2748692"/>
            <a:ext cx="762000" cy="1382713"/>
          </a:xfrm>
          <a:prstGeom prst="downArrow">
            <a:avLst>
              <a:gd name="adj1" fmla="val 50000"/>
              <a:gd name="adj2" fmla="val 453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74" name="AutoShape 14"/>
          <p:cNvSpPr>
            <a:spLocks noChangeArrowheads="1"/>
          </p:cNvSpPr>
          <p:nvPr/>
        </p:nvSpPr>
        <p:spPr bwMode="auto">
          <a:xfrm>
            <a:off x="6591300" y="2601849"/>
            <a:ext cx="2349500" cy="1295400"/>
          </a:xfrm>
          <a:prstGeom prst="wedgeRectCallout">
            <a:avLst>
              <a:gd name="adj1" fmla="val -62296"/>
              <a:gd name="adj2" fmla="val -7156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拒绝还是不能</a:t>
            </a:r>
            <a:endParaRPr lang="zh-CN" altLang="en-US" b="1" dirty="0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拒绝</a:t>
            </a:r>
            <a:r>
              <a:rPr lang="en-US" altLang="zh-CN" b="1" i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b="1" baseline="-25000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0</a:t>
            </a:r>
            <a:endParaRPr lang="en-US" altLang="zh-CN" b="1" dirty="0">
              <a:effectLst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52975" name="Group 15"/>
          <p:cNvGrpSpPr/>
          <p:nvPr/>
        </p:nvGrpSpPr>
        <p:grpSpPr bwMode="auto">
          <a:xfrm>
            <a:off x="2819400" y="4964049"/>
            <a:ext cx="1143000" cy="1752600"/>
            <a:chOff x="1488" y="3120"/>
            <a:chExt cx="720" cy="1104"/>
          </a:xfrm>
        </p:grpSpPr>
        <p:sp>
          <p:nvSpPr>
            <p:cNvPr id="552976" name="Oval 16"/>
            <p:cNvSpPr>
              <a:spLocks noChangeArrowheads="1"/>
            </p:cNvSpPr>
            <p:nvPr/>
          </p:nvSpPr>
          <p:spPr bwMode="auto">
            <a:xfrm>
              <a:off x="1488" y="3120"/>
              <a:ext cx="720" cy="1104"/>
            </a:xfrm>
            <a:prstGeom prst="ellipse">
              <a:avLst/>
            </a:prstGeom>
            <a:solidFill>
              <a:srgbClr val="660033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solidFill>
                    <a:srgbClr val="FFFF00"/>
                  </a:solidFill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显著性</a:t>
              </a:r>
              <a:endParaRPr lang="zh-CN" altLang="en-US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solidFill>
                    <a:srgbClr val="FFFF00"/>
                  </a:solidFill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水平</a:t>
              </a:r>
              <a:endParaRPr lang="zh-CN" altLang="en-US" sz="2400" b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52977" name="Object 17"/>
            <p:cNvGraphicFramePr>
              <a:graphicFrameLocks noChangeAspect="1"/>
            </p:cNvGraphicFramePr>
            <p:nvPr/>
          </p:nvGraphicFramePr>
          <p:xfrm>
            <a:off x="1728" y="3937"/>
            <a:ext cx="239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212" name="公式" r:id="rId1" imgW="190500" imgH="190500" progId="Equation.3">
                    <p:embed/>
                  </p:oleObj>
                </mc:Choice>
                <mc:Fallback>
                  <p:oleObj name="公式" r:id="rId1" imgW="190500" imgH="1905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937"/>
                          <a:ext cx="239" cy="239"/>
                        </a:xfrm>
                        <a:prstGeom prst="rect">
                          <a:avLst/>
                        </a:prstGeom>
                        <a:solidFill>
                          <a:srgbClr val="660033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2978" name="Group 18"/>
          <p:cNvGrpSpPr/>
          <p:nvPr/>
        </p:nvGrpSpPr>
        <p:grpSpPr bwMode="auto">
          <a:xfrm>
            <a:off x="152400" y="4735449"/>
            <a:ext cx="2209800" cy="1905000"/>
            <a:chOff x="0" y="3120"/>
            <a:chExt cx="1392" cy="1200"/>
          </a:xfrm>
        </p:grpSpPr>
        <p:sp>
          <p:nvSpPr>
            <p:cNvPr id="552979" name="AutoShape 19"/>
            <p:cNvSpPr>
              <a:spLocks noChangeArrowheads="1"/>
            </p:cNvSpPr>
            <p:nvPr/>
          </p:nvSpPr>
          <p:spPr bwMode="auto">
            <a:xfrm>
              <a:off x="0" y="3120"/>
              <a:ext cx="1392" cy="1200"/>
            </a:xfrm>
            <a:prstGeom prst="wedgeRectCallout">
              <a:avLst>
                <a:gd name="adj1" fmla="val 75505"/>
                <a:gd name="adj2" fmla="val 41083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i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b="1" i="1" dirty="0" smtClean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W </a:t>
              </a:r>
              <a:r>
                <a:rPr lang="en-US" altLang="zh-CN" b="1" dirty="0" smtClean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)=</a:t>
              </a:r>
              <a:endParaRPr lang="en-US" altLang="zh-CN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400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en-US" sz="2400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为犯</a:t>
              </a:r>
              <a:r>
                <a:rPr lang="en-US" altLang="zh-CN" sz="2400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en-US" sz="2400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类错误</a:t>
              </a:r>
              <a:endPara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400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的概率</a:t>
              </a:r>
              <a:endPara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400" b="1" i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zh-CN" altLang="en-US" sz="2400" b="1" dirty="0">
                  <a:effectLst/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为拒绝域</a:t>
              </a:r>
              <a:endParaRPr lang="zh-CN" altLang="en-US" sz="2400" b="1" dirty="0"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52980" name="Object 20"/>
            <p:cNvGraphicFramePr>
              <a:graphicFrameLocks noChangeAspect="1"/>
            </p:cNvGraphicFramePr>
            <p:nvPr/>
          </p:nvGraphicFramePr>
          <p:xfrm>
            <a:off x="432" y="3264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213" name="公式" r:id="rId3" imgW="165100" imgH="165100" progId="Equation.3">
                    <p:embed/>
                  </p:oleObj>
                </mc:Choice>
                <mc:Fallback>
                  <p:oleObj name="公式" r:id="rId3" imgW="165100" imgH="1651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3264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2981" name="Object 21"/>
            <p:cNvGraphicFramePr>
              <a:graphicFrameLocks noChangeAspect="1"/>
            </p:cNvGraphicFramePr>
            <p:nvPr/>
          </p:nvGraphicFramePr>
          <p:xfrm>
            <a:off x="1056" y="3264"/>
            <a:ext cx="239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214" name="公式" r:id="rId5" imgW="190500" imgH="190500" progId="Equation.3">
                    <p:embed/>
                  </p:oleObj>
                </mc:Choice>
                <mc:Fallback>
                  <p:oleObj name="公式" r:id="rId5" imgW="190500" imgH="1905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264"/>
                          <a:ext cx="239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2982" name="Object 22"/>
            <p:cNvGraphicFramePr>
              <a:graphicFrameLocks noChangeAspect="1"/>
            </p:cNvGraphicFramePr>
            <p:nvPr/>
          </p:nvGraphicFramePr>
          <p:xfrm>
            <a:off x="49" y="3507"/>
            <a:ext cx="239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215" name="公式" r:id="rId7" imgW="190500" imgH="190500" progId="Equation.3">
                    <p:embed/>
                  </p:oleObj>
                </mc:Choice>
                <mc:Fallback>
                  <p:oleObj name="公式" r:id="rId7" imgW="190500" imgH="1905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" y="3507"/>
                          <a:ext cx="239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5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5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5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5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52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5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552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4" grpId="0" animBg="1" autoUpdateAnimBg="0"/>
      <p:bldP spid="552965" grpId="0" animBg="1" autoUpdateAnimBg="0"/>
      <p:bldP spid="552966" grpId="0" animBg="1" autoUpdateAnimBg="0"/>
      <p:bldP spid="552967" grpId="0" animBg="1" autoUpdateAnimBg="0"/>
      <p:bldP spid="552968" grpId="0" animBg="1" autoUpdateAnimBg="0"/>
      <p:bldP spid="552969" grpId="0" animBg="1" autoUpdateAnimBg="0"/>
      <p:bldP spid="552970" grpId="0" animBg="1"/>
      <p:bldP spid="552971" grpId="0" animBg="1"/>
      <p:bldP spid="552972" grpId="0" animBg="1"/>
      <p:bldP spid="552973" grpId="0" animBg="1"/>
      <p:bldP spid="552974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650" name="Picture 2" descr="1_6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42" y="677355"/>
            <a:ext cx="100012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9652" name="WordArt 4"/>
          <p:cNvSpPr>
            <a:spLocks noChangeArrowheads="1" noChangeShapeType="1" noTextEdit="1"/>
          </p:cNvSpPr>
          <p:nvPr/>
        </p:nvSpPr>
        <p:spPr bwMode="auto">
          <a:xfrm>
            <a:off x="1822705" y="819682"/>
            <a:ext cx="2785872" cy="56351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ln w="15875">
                  <a:solidFill>
                    <a:srgbClr val="3399FF"/>
                  </a:solidFill>
                  <a:round/>
                </a:ln>
                <a:solidFill>
                  <a:srgbClr val="000000"/>
                </a:solidFill>
                <a:effectLst>
                  <a:outerShdw dist="53882" dir="2700000" algn="ctr" rotWithShape="0">
                    <a:srgbClr val="000000">
                      <a:alpha val="50000"/>
                    </a:srgb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课后</a:t>
            </a:r>
            <a:r>
              <a:rPr lang="zh-CN" altLang="en-US" sz="3600" b="1" kern="10" dirty="0" smtClean="0">
                <a:ln w="15875">
                  <a:solidFill>
                    <a:srgbClr val="3399FF"/>
                  </a:solidFill>
                  <a:round/>
                </a:ln>
                <a:solidFill>
                  <a:srgbClr val="000000"/>
                </a:solidFill>
                <a:effectLst>
                  <a:outerShdw dist="53882" dir="2700000" algn="ctr" rotWithShape="0">
                    <a:srgbClr val="000000">
                      <a:alpha val="50000"/>
                    </a:srgb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作业</a:t>
            </a:r>
            <a:endParaRPr lang="zh-CN" altLang="en-US" sz="3600" b="1" kern="10" dirty="0">
              <a:ln w="15875">
                <a:solidFill>
                  <a:srgbClr val="3399FF"/>
                </a:solidFill>
                <a:round/>
              </a:ln>
              <a:solidFill>
                <a:srgbClr val="000000"/>
              </a:solidFill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4562" y="1587500"/>
          <a:ext cx="8832850" cy="468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258" name="文档" r:id="rId2" imgW="5274310" imgH="2807335" progId="Word.Document.12">
                  <p:embed/>
                </p:oleObj>
              </mc:Choice>
              <mc:Fallback>
                <p:oleObj name="文档" r:id="rId2" imgW="5274310" imgH="2807335" progId="Word.Document.12">
                  <p:embed/>
                  <p:pic>
                    <p:nvPicPr>
                      <p:cNvPr id="0" name="图片 56525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562" y="1587500"/>
                        <a:ext cx="8832850" cy="468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05" y="1939290"/>
            <a:ext cx="7741920" cy="24295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JP_简洁教案">
  <a:themeElements>
    <a:clrScheme name="JP_简洁教案 1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6600CC"/>
      </a:hlink>
      <a:folHlink>
        <a:srgbClr val="6699FF"/>
      </a:folHlink>
    </a:clrScheme>
    <a:fontScheme name="JP_简洁教案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JP_简洁教案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P_简洁教案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P_简洁教案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JP_简洁教案">
  <a:themeElements>
    <a:clrScheme name="JP_简洁教案 1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6600CC"/>
      </a:hlink>
      <a:folHlink>
        <a:srgbClr val="6699FF"/>
      </a:folHlink>
    </a:clrScheme>
    <a:fontScheme name="JP_简洁教案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JP_简洁教案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P_简洁教案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P_简洁教案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C:\Microsoft Office\Templates\演示文稿设计\JP_简洁教案.pot</Template>
  <TotalTime>0</TotalTime>
  <Words>3950</Words>
  <Application>WPS 演示</Application>
  <PresentationFormat>全屏显示(4:3)</PresentationFormat>
  <Paragraphs>980</Paragraphs>
  <Slides>20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268</vt:i4>
      </vt:variant>
      <vt:variant>
        <vt:lpstr>幻灯片标题</vt:lpstr>
      </vt:variant>
      <vt:variant>
        <vt:i4>20</vt:i4>
      </vt:variant>
    </vt:vector>
  </HeadingPairs>
  <TitlesOfParts>
    <vt:vector size="312" baseType="lpstr">
      <vt:lpstr>Arial</vt:lpstr>
      <vt:lpstr>宋体</vt:lpstr>
      <vt:lpstr>Wingdings</vt:lpstr>
      <vt:lpstr>楷体_GB2312</vt:lpstr>
      <vt:lpstr>新宋体</vt:lpstr>
      <vt:lpstr>黑体</vt:lpstr>
      <vt:lpstr>Times New Roman</vt:lpstr>
      <vt:lpstr>Monotype Sorts</vt:lpstr>
      <vt:lpstr>Wingdings</vt:lpstr>
      <vt:lpstr>隶书</vt:lpstr>
      <vt:lpstr>Algerian</vt:lpstr>
      <vt:lpstr>Juice ITC</vt:lpstr>
      <vt:lpstr>华文细黑</vt:lpstr>
      <vt:lpstr>Symbol</vt:lpstr>
      <vt:lpstr>华文新魏</vt:lpstr>
      <vt:lpstr>Times New Roman</vt:lpstr>
      <vt:lpstr>方正舒体</vt:lpstr>
      <vt:lpstr>Symbol</vt:lpstr>
      <vt:lpstr>华文中宋</vt:lpstr>
      <vt:lpstr>微软雅黑</vt:lpstr>
      <vt:lpstr>Arial Unicode MS</vt:lpstr>
      <vt:lpstr>JP_简洁教案</vt:lpstr>
      <vt:lpstr>默认设计模板</vt:lpstr>
      <vt:lpstr>1_JP_简洁教案</vt:lpstr>
      <vt:lpstr>Word.Document.12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MathTech Laboratory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《概率论与数理统计》课件</dc:title>
  <dc:creator>Administrator</dc:creator>
  <cp:lastModifiedBy>Grace</cp:lastModifiedBy>
  <cp:revision>1410</cp:revision>
  <dcterms:created xsi:type="dcterms:W3CDTF">1999-06-22T01:41:00Z</dcterms:created>
  <dcterms:modified xsi:type="dcterms:W3CDTF">2020-12-08T08:53:24Z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