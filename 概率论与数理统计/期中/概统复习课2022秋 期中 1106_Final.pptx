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9" r:id="rId3"/>
    <p:sldId id="275" r:id="rId4"/>
    <p:sldId id="276" r:id="rId5"/>
    <p:sldId id="279" r:id="rId6"/>
    <p:sldId id="280" r:id="rId7"/>
    <p:sldId id="283" r:id="rId8"/>
    <p:sldId id="260" r:id="rId9"/>
    <p:sldId id="261" r:id="rId10"/>
    <p:sldId id="267" r:id="rId11"/>
    <p:sldId id="263" r:id="rId12"/>
    <p:sldId id="284" r:id="rId13"/>
    <p:sldId id="322" r:id="rId14"/>
    <p:sldId id="286" r:id="rId15"/>
    <p:sldId id="281" r:id="rId16"/>
    <p:sldId id="289" r:id="rId17"/>
    <p:sldId id="290" r:id="rId18"/>
    <p:sldId id="265" r:id="rId19"/>
    <p:sldId id="266" r:id="rId20"/>
    <p:sldId id="292" r:id="rId21"/>
    <p:sldId id="294" r:id="rId22"/>
    <p:sldId id="293" r:id="rId23"/>
    <p:sldId id="295" r:id="rId24"/>
    <p:sldId id="303" r:id="rId25"/>
    <p:sldId id="296" r:id="rId26"/>
    <p:sldId id="291" r:id="rId27"/>
    <p:sldId id="299" r:id="rId28"/>
    <p:sldId id="316" r:id="rId29"/>
    <p:sldId id="301" r:id="rId30"/>
    <p:sldId id="272" r:id="rId31"/>
    <p:sldId id="298" r:id="rId32"/>
    <p:sldId id="304" r:id="rId33"/>
    <p:sldId id="310" r:id="rId34"/>
    <p:sldId id="323" r:id="rId35"/>
    <p:sldId id="319" r:id="rId36"/>
    <p:sldId id="320" r:id="rId37"/>
    <p:sldId id="317" r:id="rId38"/>
    <p:sldId id="321" r:id="rId39"/>
    <p:sldId id="307" r:id="rId40"/>
    <p:sldId id="311" r:id="rId41"/>
    <p:sldId id="313" r:id="rId42"/>
    <p:sldId id="314" r:id="rId43"/>
    <p:sldId id="315" r:id="rId44"/>
    <p:sldId id="278" r:id="rId45"/>
    <p:sldId id="277" r:id="rId46"/>
    <p:sldId id="258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notesMaster" Target="notesMasters/notesMaster1.xml" /><Relationship Id="rId8" Type="http://schemas.openxmlformats.org/officeDocument/2006/relationships/slide" Target="slides/slide7.xml" /><Relationship Id="rId51" Type="http://schemas.openxmlformats.org/officeDocument/2006/relationships/theme" Target="theme/theme1.xml" 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 /><Relationship Id="rId2" Type="http://schemas.openxmlformats.org/officeDocument/2006/relationships/image" Target="../media/image57.wmf" /><Relationship Id="rId1" Type="http://schemas.openxmlformats.org/officeDocument/2006/relationships/image" Target="../media/image56.wmf" /><Relationship Id="rId4" Type="http://schemas.openxmlformats.org/officeDocument/2006/relationships/image" Target="../media/image59.wmf" 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 /><Relationship Id="rId13" Type="http://schemas.openxmlformats.org/officeDocument/2006/relationships/image" Target="../media/image78.wmf" /><Relationship Id="rId3" Type="http://schemas.openxmlformats.org/officeDocument/2006/relationships/image" Target="../media/image68.wmf" /><Relationship Id="rId7" Type="http://schemas.openxmlformats.org/officeDocument/2006/relationships/image" Target="../media/image72.wmf" /><Relationship Id="rId12" Type="http://schemas.openxmlformats.org/officeDocument/2006/relationships/image" Target="../media/image77.wmf" /><Relationship Id="rId2" Type="http://schemas.openxmlformats.org/officeDocument/2006/relationships/image" Target="../media/image67.wmf" /><Relationship Id="rId1" Type="http://schemas.openxmlformats.org/officeDocument/2006/relationships/image" Target="../media/image66.wmf" /><Relationship Id="rId6" Type="http://schemas.openxmlformats.org/officeDocument/2006/relationships/image" Target="../media/image71.wmf" /><Relationship Id="rId11" Type="http://schemas.openxmlformats.org/officeDocument/2006/relationships/image" Target="../media/image76.wmf" /><Relationship Id="rId5" Type="http://schemas.openxmlformats.org/officeDocument/2006/relationships/image" Target="../media/image70.wmf" /><Relationship Id="rId10" Type="http://schemas.openxmlformats.org/officeDocument/2006/relationships/image" Target="../media/image75.wmf" /><Relationship Id="rId4" Type="http://schemas.openxmlformats.org/officeDocument/2006/relationships/image" Target="../media/image69.wmf" /><Relationship Id="rId9" Type="http://schemas.openxmlformats.org/officeDocument/2006/relationships/image" Target="../media/image74.wmf" /><Relationship Id="rId14" Type="http://schemas.openxmlformats.org/officeDocument/2006/relationships/image" Target="../media/image79.wmf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E4AA0-3DDC-429C-A40F-1331B38BC9C5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03D93-AF0D-44F6-BA09-0895421FE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88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平心静气，一次性过掉所有知识点。不听歌不分心，速战速决。先对照课件在纸上写，再整理到</a:t>
            </a:r>
            <a:r>
              <a:rPr lang="en-US" altLang="zh-CN" dirty="0"/>
              <a:t>PPT</a:t>
            </a:r>
            <a:r>
              <a:rPr lang="zh-CN" altLang="en-US" dirty="0"/>
              <a:t>上，最后根据自己的笔记本补充关键点。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74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导师说过，听</a:t>
            </a:r>
            <a:r>
              <a:rPr lang="en-US" altLang="zh-CN" dirty="0"/>
              <a:t>pre</a:t>
            </a:r>
            <a:r>
              <a:rPr lang="zh-CN" altLang="en-US" dirty="0"/>
              <a:t>听着无聊的同学可以思考</a:t>
            </a:r>
            <a:r>
              <a:rPr lang="en-US" altLang="zh-CN" dirty="0"/>
              <a:t>presentation</a:t>
            </a:r>
            <a:r>
              <a:rPr lang="zh-CN" altLang="en-US" dirty="0"/>
              <a:t>的技巧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22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48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666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补充黄冈中学例题，考试不考，只作为兴趣。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288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讲一讲</a:t>
            </a:r>
            <a:r>
              <a:rPr lang="en-US" altLang="zh-CN" dirty="0"/>
              <a:t>quiz</a:t>
            </a:r>
            <a:r>
              <a:rPr lang="zh-CN" altLang="en-US" dirty="0"/>
              <a:t>的故事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633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补充黄冈中学例题，考试不考，只作为兴趣。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266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补充黄冈中学例题，考试不考，只作为兴趣。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737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补充黄冈中学例题，考试不考，只作为兴趣。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184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投针问题；伽马分布；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3D93-AF0D-44F6-BA09-0895421FEF7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02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8A4B49-53AE-978A-8A33-E2A57E275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44E06F-20BD-C081-20D3-08977CADC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A2140C-34A0-FFBD-EE6E-D5A5640B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C084F6-9EC0-7C78-1031-8247F2A28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CACE6-732E-604A-BE56-40ADA16D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89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F7E5E-7ABB-6B96-236E-6911C6CD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B8BFE-928B-7D03-867C-E783495D1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FA44AE-D0BE-C94A-1BEE-6FCCE440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BC203A-B75E-49E1-AB5E-9A3A1A79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A6B6A-C510-7ED0-7304-E7C8919B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88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E6528-2915-B846-0CDF-74277E96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362C49-9AB2-B937-57AC-7620F2C98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395CC-4057-F862-944A-63591B49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0A402-5238-37C2-0299-D366BCF3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31EC6-914F-77C6-7613-A85ECAD2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73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4DC9D-0070-A2BB-2427-7BE8EC3C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221502-F728-1784-B1AC-AA3121CDB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87E377-BA53-42AC-85F3-4FB70D5EB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87EFD8-4E2E-CE6A-904F-2F87D4DC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1285EC-1E07-B0CC-2841-CDA9333C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41EB0C-1A41-F0A7-E95F-F8D61AB6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84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C83C0-4FF3-981F-3467-17B06A88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97DCED-1DFE-910E-2935-12A37DD8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B85ED2-E488-32D6-FFA1-63FD3DF31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FB2A6D-FEE0-0E0D-9BEF-2C7814A93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1498FE-54EE-8246-8A49-CCD5780ED6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1AEEC2-FEBD-3A44-866C-340701DF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F18ACB-DE3E-EC52-C31A-3C8E53D2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D8F4BD-A79B-7E6B-3D83-934B8815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2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85746-513B-5CCC-89A0-34155EC1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236A35-CB51-D94F-B522-08856CA63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2F715F-0835-5A1E-8FF9-BCADE549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A49D2C-5A69-B70C-F45A-45826472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0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042FF2-75E7-16FA-C4AD-D03E3E5F9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914085-129E-ED8E-57D8-735499C4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B5680F-D265-58AE-6697-482245BC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33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3B31B-8016-1D20-83B8-4400AF18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2E895-A9EB-61BC-2466-B0B0E789C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BB5FA8-8E04-B806-9A06-46246ED37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6B88FE-D790-9BB3-FF51-E9F4A88D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ABF260-0215-1F85-B845-4868F375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41CEEE-488E-0546-1696-4913844F1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75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6A234-7AA3-103F-18F1-016532A1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C07BB1-2745-BF66-C5E1-DF13B71A9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16AA6-027F-4AC1-F195-FBEABB7FA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1E9B53-19DA-EE6C-9CDA-02E60649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38F7D0-7BAA-5FE8-1423-9EB27FDB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A674C4-3AC0-4A20-00FC-4E737407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44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FA54D-5B1F-01AC-3E4C-F6ACBA69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140300-B94D-A3EA-4B7B-165B29D01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F39228-DE40-BB0E-0BF7-0276BBBA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D1486-AC74-2633-3FB9-159753D3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1CB57-04A9-B11F-D0F1-1836E499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80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3A7054-CCC1-0EC8-479D-909163B3B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CDDA2-A58C-79F3-7F51-EA5A3C26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E4BFD-97D7-0C1A-A56D-319AB993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D7EE0-5041-32AC-5FE0-41428FC28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10871-EA24-CDED-9C21-E6842253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01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0D26A0C-3AF0-0598-BE80-E5F99228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DE1B88-80CB-5F9D-FC28-EFE1E2DCE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58743C-C11C-69E3-E8EE-FF3E1C4BC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1324C-A6C9-4BDB-8E30-4B4E5ECC8E6D}" type="datetimeFigureOut">
              <a:rPr lang="zh-CN" altLang="en-US" smtClean="0"/>
              <a:t>2022/11/12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2FCAA3-90C5-1C6E-0061-1B9D9D304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AAFA0-0799-EAF3-7E44-248891E3C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88B7D-ECF3-4788-8E0B-4821BE7EF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31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1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 /><Relationship Id="rId2" Type="http://schemas.openxmlformats.org/officeDocument/2006/relationships/image" Target="../media/image310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2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10.png" /><Relationship Id="rId5" Type="http://schemas.openxmlformats.org/officeDocument/2006/relationships/image" Target="../media/image810.png" /><Relationship Id="rId4" Type="http://schemas.openxmlformats.org/officeDocument/2006/relationships/image" Target="../media/image710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9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1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30.png" /><Relationship Id="rId4" Type="http://schemas.openxmlformats.org/officeDocument/2006/relationships/image" Target="../media/image23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7.png" /><Relationship Id="rId4" Type="http://schemas.openxmlformats.org/officeDocument/2006/relationships/image" Target="../media/image26.png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 /><Relationship Id="rId3" Type="http://schemas.openxmlformats.org/officeDocument/2006/relationships/image" Target="../media/image67.png" /><Relationship Id="rId7" Type="http://schemas.openxmlformats.org/officeDocument/2006/relationships/image" Target="../media/image29.png" /><Relationship Id="rId2" Type="http://schemas.openxmlformats.org/officeDocument/2006/relationships/image" Target="../media/image6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9.png" /><Relationship Id="rId5" Type="http://schemas.openxmlformats.org/officeDocument/2006/relationships/image" Target="../media/image68.png" /><Relationship Id="rId4" Type="http://schemas.openxmlformats.org/officeDocument/2006/relationships/image" Target="../media/image28.png" /><Relationship Id="rId9" Type="http://schemas.openxmlformats.org/officeDocument/2006/relationships/image" Target="../media/image31.pn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 /><Relationship Id="rId2" Type="http://schemas.openxmlformats.org/officeDocument/2006/relationships/image" Target="../media/image7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5.png" /><Relationship Id="rId5" Type="http://schemas.openxmlformats.org/officeDocument/2006/relationships/image" Target="../media/image32.png" /><Relationship Id="rId4" Type="http://schemas.openxmlformats.org/officeDocument/2006/relationships/image" Target="../media/image73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 /><Relationship Id="rId2" Type="http://schemas.openxmlformats.org/officeDocument/2006/relationships/image" Target="../media/image140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60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 /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7.png" /><Relationship Id="rId5" Type="http://schemas.openxmlformats.org/officeDocument/2006/relationships/image" Target="../media/image36.png" /><Relationship Id="rId4" Type="http://schemas.openxmlformats.org/officeDocument/2006/relationships/image" Target="../media/image78.pn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 /><Relationship Id="rId2" Type="http://schemas.openxmlformats.org/officeDocument/2006/relationships/image" Target="../media/image38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84.png" /><Relationship Id="rId4" Type="http://schemas.openxmlformats.org/officeDocument/2006/relationships/image" Target="../media/image39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 /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87.png" 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 /><Relationship Id="rId3" Type="http://schemas.openxmlformats.org/officeDocument/2006/relationships/image" Target="../media/image42.png" /><Relationship Id="rId7" Type="http://schemas.openxmlformats.org/officeDocument/2006/relationships/image" Target="../media/image44.png" /><Relationship Id="rId2" Type="http://schemas.openxmlformats.org/officeDocument/2006/relationships/image" Target="../media/image8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2.png" /><Relationship Id="rId5" Type="http://schemas.openxmlformats.org/officeDocument/2006/relationships/image" Target="../media/image91.png" /><Relationship Id="rId4" Type="http://schemas.openxmlformats.org/officeDocument/2006/relationships/image" Target="../media/image90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 /><Relationship Id="rId2" Type="http://schemas.openxmlformats.org/officeDocument/2006/relationships/image" Target="../media/image9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5.png" /><Relationship Id="rId5" Type="http://schemas.openxmlformats.org/officeDocument/2006/relationships/image" Target="../media/image98.png" /><Relationship Id="rId4" Type="http://schemas.openxmlformats.org/officeDocument/2006/relationships/image" Target="../media/image97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 /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 /><Relationship Id="rId7" Type="http://schemas.openxmlformats.org/officeDocument/2006/relationships/image" Target="../media/image104.png" /><Relationship Id="rId2" Type="http://schemas.openxmlformats.org/officeDocument/2006/relationships/image" Target="../media/image39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3.png" /><Relationship Id="rId5" Type="http://schemas.openxmlformats.org/officeDocument/2006/relationships/image" Target="../media/image50.png" /><Relationship Id="rId4" Type="http://schemas.openxmlformats.org/officeDocument/2006/relationships/image" Target="../media/image49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 /><Relationship Id="rId2" Type="http://schemas.openxmlformats.org/officeDocument/2006/relationships/image" Target="../media/image270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90.png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 /><Relationship Id="rId3" Type="http://schemas.openxmlformats.org/officeDocument/2006/relationships/image" Target="../media/image51.png" /><Relationship Id="rId7" Type="http://schemas.openxmlformats.org/officeDocument/2006/relationships/image" Target="../media/image340.png" /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30.png" /><Relationship Id="rId5" Type="http://schemas.openxmlformats.org/officeDocument/2006/relationships/image" Target="../media/image320.png" /><Relationship Id="rId4" Type="http://schemas.openxmlformats.org/officeDocument/2006/relationships/image" Target="../media/image311.png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 /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 /><Relationship Id="rId2" Type="http://schemas.openxmlformats.org/officeDocument/2006/relationships/image" Target="../media/image54.png" /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 /><Relationship Id="rId13" Type="http://schemas.openxmlformats.org/officeDocument/2006/relationships/image" Target="../media/image59.wmf" /><Relationship Id="rId3" Type="http://schemas.openxmlformats.org/officeDocument/2006/relationships/oleObject" Target="../embeddings/oleObject1.bin" /><Relationship Id="rId7" Type="http://schemas.openxmlformats.org/officeDocument/2006/relationships/image" Target="../media/image61.png" /><Relationship Id="rId12" Type="http://schemas.openxmlformats.org/officeDocument/2006/relationships/oleObject" Target="../embeddings/oleObject4.bin" /><Relationship Id="rId2" Type="http://schemas.openxmlformats.org/officeDocument/2006/relationships/slideLayout" Target="../slideLayouts/slideLayout7.xml" /><Relationship Id="rId1" Type="http://schemas.openxmlformats.org/officeDocument/2006/relationships/vmlDrawing" Target="../drawings/vmlDrawing1.vml" /><Relationship Id="rId6" Type="http://schemas.openxmlformats.org/officeDocument/2006/relationships/image" Target="../media/image57.wmf" /><Relationship Id="rId11" Type="http://schemas.openxmlformats.org/officeDocument/2006/relationships/image" Target="../media/image58.wmf" /><Relationship Id="rId5" Type="http://schemas.openxmlformats.org/officeDocument/2006/relationships/oleObject" Target="../embeddings/oleObject2.bin" /><Relationship Id="rId10" Type="http://schemas.openxmlformats.org/officeDocument/2006/relationships/oleObject" Target="../embeddings/oleObject3.bin" /><Relationship Id="rId4" Type="http://schemas.openxmlformats.org/officeDocument/2006/relationships/image" Target="../media/image56.wmf" /><Relationship Id="rId9" Type="http://schemas.openxmlformats.org/officeDocument/2006/relationships/image" Target="../media/image110.png" /><Relationship Id="rId14" Type="http://schemas.openxmlformats.org/officeDocument/2006/relationships/image" Target="../media/image113.png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 /><Relationship Id="rId2" Type="http://schemas.openxmlformats.org/officeDocument/2006/relationships/image" Target="../media/image63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5.png" /><Relationship Id="rId4" Type="http://schemas.openxmlformats.org/officeDocument/2006/relationships/image" Target="../media/image64.png" 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 /><Relationship Id="rId13" Type="http://schemas.openxmlformats.org/officeDocument/2006/relationships/image" Target="../media/image70.wmf" /><Relationship Id="rId18" Type="http://schemas.openxmlformats.org/officeDocument/2006/relationships/oleObject" Target="../embeddings/oleObject12.bin" /><Relationship Id="rId26" Type="http://schemas.openxmlformats.org/officeDocument/2006/relationships/oleObject" Target="../embeddings/oleObject16.bin" /><Relationship Id="rId3" Type="http://schemas.openxmlformats.org/officeDocument/2006/relationships/image" Target="../media/image117.png" /><Relationship Id="rId21" Type="http://schemas.openxmlformats.org/officeDocument/2006/relationships/image" Target="../media/image74.wmf" /><Relationship Id="rId7" Type="http://schemas.openxmlformats.org/officeDocument/2006/relationships/image" Target="../media/image67.wmf" /><Relationship Id="rId12" Type="http://schemas.openxmlformats.org/officeDocument/2006/relationships/oleObject" Target="../embeddings/oleObject9.bin" /><Relationship Id="rId17" Type="http://schemas.openxmlformats.org/officeDocument/2006/relationships/image" Target="../media/image72.wmf" /><Relationship Id="rId25" Type="http://schemas.openxmlformats.org/officeDocument/2006/relationships/image" Target="../media/image76.wmf" /><Relationship Id="rId2" Type="http://schemas.openxmlformats.org/officeDocument/2006/relationships/slideLayout" Target="../slideLayouts/slideLayout7.xml" /><Relationship Id="rId16" Type="http://schemas.openxmlformats.org/officeDocument/2006/relationships/oleObject" Target="../embeddings/oleObject11.bin" /><Relationship Id="rId20" Type="http://schemas.openxmlformats.org/officeDocument/2006/relationships/oleObject" Target="../embeddings/oleObject13.bin" /><Relationship Id="rId29" Type="http://schemas.openxmlformats.org/officeDocument/2006/relationships/image" Target="../media/image78.wmf" /><Relationship Id="rId1" Type="http://schemas.openxmlformats.org/officeDocument/2006/relationships/vmlDrawing" Target="../drawings/vmlDrawing2.vml" /><Relationship Id="rId6" Type="http://schemas.openxmlformats.org/officeDocument/2006/relationships/oleObject" Target="../embeddings/oleObject6.bin" /><Relationship Id="rId11" Type="http://schemas.openxmlformats.org/officeDocument/2006/relationships/image" Target="../media/image69.wmf" /><Relationship Id="rId24" Type="http://schemas.openxmlformats.org/officeDocument/2006/relationships/oleObject" Target="../embeddings/oleObject15.bin" /><Relationship Id="rId32" Type="http://schemas.openxmlformats.org/officeDocument/2006/relationships/image" Target="../media/image132.png" /><Relationship Id="rId5" Type="http://schemas.openxmlformats.org/officeDocument/2006/relationships/image" Target="../media/image66.wmf" /><Relationship Id="rId15" Type="http://schemas.openxmlformats.org/officeDocument/2006/relationships/image" Target="../media/image71.wmf" /><Relationship Id="rId23" Type="http://schemas.openxmlformats.org/officeDocument/2006/relationships/image" Target="../media/image75.wmf" /><Relationship Id="rId28" Type="http://schemas.openxmlformats.org/officeDocument/2006/relationships/oleObject" Target="../embeddings/oleObject17.bin" /><Relationship Id="rId10" Type="http://schemas.openxmlformats.org/officeDocument/2006/relationships/oleObject" Target="../embeddings/oleObject8.bin" /><Relationship Id="rId19" Type="http://schemas.openxmlformats.org/officeDocument/2006/relationships/image" Target="../media/image73.wmf" /><Relationship Id="rId31" Type="http://schemas.openxmlformats.org/officeDocument/2006/relationships/image" Target="../media/image79.wmf" /><Relationship Id="rId4" Type="http://schemas.openxmlformats.org/officeDocument/2006/relationships/oleObject" Target="../embeddings/oleObject5.bin" /><Relationship Id="rId9" Type="http://schemas.openxmlformats.org/officeDocument/2006/relationships/image" Target="../media/image68.wmf" /><Relationship Id="rId14" Type="http://schemas.openxmlformats.org/officeDocument/2006/relationships/oleObject" Target="../embeddings/oleObject10.bin" /><Relationship Id="rId22" Type="http://schemas.openxmlformats.org/officeDocument/2006/relationships/oleObject" Target="../embeddings/oleObject14.bin" /><Relationship Id="rId27" Type="http://schemas.openxmlformats.org/officeDocument/2006/relationships/image" Target="../media/image77.wmf" /><Relationship Id="rId30" Type="http://schemas.openxmlformats.org/officeDocument/2006/relationships/oleObject" Target="../embeddings/oleObject18.bin" 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 /><Relationship Id="rId3" Type="http://schemas.openxmlformats.org/officeDocument/2006/relationships/image" Target="../media/image81.png" /><Relationship Id="rId7" Type="http://schemas.openxmlformats.org/officeDocument/2006/relationships/image" Target="../media/image154.png" /><Relationship Id="rId2" Type="http://schemas.openxmlformats.org/officeDocument/2006/relationships/image" Target="../media/image8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3.png" /><Relationship Id="rId5" Type="http://schemas.openxmlformats.org/officeDocument/2006/relationships/image" Target="../media/image152.png" /><Relationship Id="rId10" Type="http://schemas.openxmlformats.org/officeDocument/2006/relationships/image" Target="../media/image62.png" /><Relationship Id="rId4" Type="http://schemas.openxmlformats.org/officeDocument/2006/relationships/image" Target="../media/image151.png" /><Relationship Id="rId9" Type="http://schemas.openxmlformats.org/officeDocument/2006/relationships/image" Target="../media/image156.pn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 /><Relationship Id="rId2" Type="http://schemas.openxmlformats.org/officeDocument/2006/relationships/image" Target="../media/image83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85.png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 /><Relationship Id="rId1" Type="http://schemas.openxmlformats.org/officeDocument/2006/relationships/slideLayout" Target="../slideLayouts/slideLayout7.xm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 /><Relationship Id="rId2" Type="http://schemas.openxmlformats.org/officeDocument/2006/relationships/image" Target="../media/image89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99.png" /><Relationship Id="rId4" Type="http://schemas.openxmlformats.org/officeDocument/2006/relationships/image" Target="../media/image139.png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 /><Relationship Id="rId1" Type="http://schemas.openxmlformats.org/officeDocument/2006/relationships/slideLayout" Target="../slideLayouts/slideLayout7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 /><Relationship Id="rId2" Type="http://schemas.openxmlformats.org/officeDocument/2006/relationships/image" Target="../media/image142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06.png" /><Relationship Id="rId4" Type="http://schemas.openxmlformats.org/officeDocument/2006/relationships/image" Target="../media/image105.png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 /><Relationship Id="rId2" Type="http://schemas.openxmlformats.org/officeDocument/2006/relationships/image" Target="../media/image1220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46.png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png" 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 /><Relationship Id="rId3" Type="http://schemas.openxmlformats.org/officeDocument/2006/relationships/image" Target="../media/image81.png" /><Relationship Id="rId7" Type="http://schemas.openxmlformats.org/officeDocument/2006/relationships/image" Target="../media/image154.png" /><Relationship Id="rId2" Type="http://schemas.openxmlformats.org/officeDocument/2006/relationships/image" Target="../media/image8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3.png" /><Relationship Id="rId5" Type="http://schemas.openxmlformats.org/officeDocument/2006/relationships/image" Target="../media/image152.png" /><Relationship Id="rId10" Type="http://schemas.openxmlformats.org/officeDocument/2006/relationships/image" Target="../media/image62.png" /><Relationship Id="rId4" Type="http://schemas.openxmlformats.org/officeDocument/2006/relationships/image" Target="../media/image151.png" /><Relationship Id="rId9" Type="http://schemas.openxmlformats.org/officeDocument/2006/relationships/image" Target="../media/image156.png" 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 /><Relationship Id="rId2" Type="http://schemas.openxmlformats.org/officeDocument/2006/relationships/image" Target="../media/image107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0524D3-3B8B-1D74-B8EE-7445607FF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306" y="1282862"/>
            <a:ext cx="5476722" cy="49176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67645" y="110723"/>
            <a:ext cx="5429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秋期中概统复习课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F7541E0-FE9A-86B5-C082-F2215F493DFA}"/>
              </a:ext>
            </a:extLst>
          </p:cNvPr>
          <p:cNvSpPr txBox="1"/>
          <p:nvPr/>
        </p:nvSpPr>
        <p:spPr>
          <a:xfrm>
            <a:off x="0" y="5179170"/>
            <a:ext cx="2031325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主讲人：王晗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556025-BBDA-6FE5-31EC-7B9101D18F65}"/>
              </a:ext>
            </a:extLst>
          </p:cNvPr>
          <p:cNvSpPr txBox="1"/>
          <p:nvPr/>
        </p:nvSpPr>
        <p:spPr>
          <a:xfrm>
            <a:off x="0" y="5818003"/>
            <a:ext cx="3916457" cy="9666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物理系 应用物理学 本科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电子系 电子科学与技术 硕士在读</a:t>
            </a:r>
          </a:p>
        </p:txBody>
      </p:sp>
    </p:spTree>
    <p:extLst>
      <p:ext uri="{BB962C8B-B14F-4D97-AF65-F5344CB8AC3E}">
        <p14:creationId xmlns:p14="http://schemas.microsoft.com/office/powerpoint/2010/main" val="173038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54BB2E-BBDB-5FDF-31AF-3E9AB235F8A5}"/>
              </a:ext>
            </a:extLst>
          </p:cNvPr>
          <p:cNvSpPr txBox="1"/>
          <p:nvPr/>
        </p:nvSpPr>
        <p:spPr>
          <a:xfrm>
            <a:off x="3453171" y="110723"/>
            <a:ext cx="4658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周五复习课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33A6BD9-716E-3AEC-BCDF-7C206ECD7867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6763DA0-A0FF-4232-ACF1-875A6CFEE860}"/>
              </a:ext>
            </a:extLst>
          </p:cNvPr>
          <p:cNvSpPr txBox="1"/>
          <p:nvPr/>
        </p:nvSpPr>
        <p:spPr>
          <a:xfrm>
            <a:off x="863540" y="1637212"/>
            <a:ext cx="6859570" cy="2906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概统重点难点讲解（附例题）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框架梳理（偏基础）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针对性答疑（根据问卷收集结果）</a:t>
            </a:r>
          </a:p>
        </p:txBody>
      </p:sp>
    </p:spTree>
    <p:extLst>
      <p:ext uri="{BB962C8B-B14F-4D97-AF65-F5344CB8AC3E}">
        <p14:creationId xmlns:p14="http://schemas.microsoft.com/office/powerpoint/2010/main" val="1774257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54BB2E-BBDB-5FDF-31AF-3E9AB235F8A5}"/>
              </a:ext>
            </a:extLst>
          </p:cNvPr>
          <p:cNvSpPr txBox="1"/>
          <p:nvPr/>
        </p:nvSpPr>
        <p:spPr>
          <a:xfrm>
            <a:off x="3453171" y="110723"/>
            <a:ext cx="4658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周日复习课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33A6BD9-716E-3AEC-BCDF-7C206ECD7867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6763DA0-A0FF-4232-ACF1-875A6CFEE860}"/>
              </a:ext>
            </a:extLst>
          </p:cNvPr>
          <p:cNvSpPr txBox="1"/>
          <p:nvPr/>
        </p:nvSpPr>
        <p:spPr>
          <a:xfrm>
            <a:off x="582199" y="1582888"/>
            <a:ext cx="1935145" cy="2906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第一章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第二章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第三章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3E6D679-2E6D-53D5-7BB1-CE4A0DD27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938" y="1263397"/>
            <a:ext cx="3761905" cy="51809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AEFB381-B9A7-A918-B5FA-073151AE3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333" y="2195765"/>
            <a:ext cx="4845616" cy="16811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948F3B2-57D8-26A9-AE09-7B371735B3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747" y="3949654"/>
            <a:ext cx="4914216" cy="97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3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664237" y="1107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基本概念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5ED6AB92-AA34-95FD-7A0C-5FA0BA4BE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54" y="1961384"/>
            <a:ext cx="6495238" cy="39142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F0309A-0AC1-5E76-2F91-8D4126C4C8E9}"/>
              </a:ext>
            </a:extLst>
          </p:cNvPr>
          <p:cNvSpPr txBox="1"/>
          <p:nvPr/>
        </p:nvSpPr>
        <p:spPr>
          <a:xfrm>
            <a:off x="613054" y="1109358"/>
            <a:ext cx="1672253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样本空间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9A3495-B82B-6B68-83BA-FB4B0D0E1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785" y="2304504"/>
            <a:ext cx="3587417" cy="33080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5BD3F21-7C80-1B73-5306-E189E304A644}"/>
              </a:ext>
            </a:extLst>
          </p:cNvPr>
          <p:cNvSpPr txBox="1"/>
          <p:nvPr/>
        </p:nvSpPr>
        <p:spPr>
          <a:xfrm>
            <a:off x="7325724" y="1373979"/>
            <a:ext cx="4493538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公式不用记，画韦恩图都能搞定</a:t>
            </a:r>
          </a:p>
        </p:txBody>
      </p:sp>
    </p:spTree>
    <p:extLst>
      <p:ext uri="{BB962C8B-B14F-4D97-AF65-F5344CB8AC3E}">
        <p14:creationId xmlns:p14="http://schemas.microsoft.com/office/powerpoint/2010/main" val="301073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664238" y="1107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基本概念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8FF8946-0333-0782-ADBC-E72FB51C983D}"/>
                  </a:ext>
                </a:extLst>
              </p:cNvPr>
              <p:cNvSpPr txBox="1"/>
              <p:nvPr/>
            </p:nvSpPr>
            <p:spPr>
              <a:xfrm>
                <a:off x="366267" y="844736"/>
                <a:ext cx="4297971" cy="27454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概率测度（即概率的计算）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古典概型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  <m:r>
                          <a:rPr lang="zh-CN" altLang="en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的</m:t>
                        </m:r>
                        <m:r>
                          <a:rPr lang="zh-CN" alt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事件</m:t>
                        </m:r>
                        <m:r>
                          <a:rPr lang="zh-CN" altLang="en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数</m:t>
                        </m:r>
                      </m:num>
                      <m:den>
                        <m:r>
                          <a:rPr lang="zh-CN" altLang="en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总</m:t>
                        </m:r>
                        <m:r>
                          <a:rPr lang="zh-CN" altLang="en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事件</m:t>
                        </m:r>
                        <m:r>
                          <a:rPr lang="zh-CN" altLang="en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数</m:t>
                        </m:r>
                      </m:den>
                    </m:f>
                  </m:oMath>
                </a14:m>
                <a:endPara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几何概型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8FF8946-0333-0782-ADBC-E72FB51C9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7" y="844736"/>
                <a:ext cx="4297971" cy="2745432"/>
              </a:xfrm>
              <a:prstGeom prst="rect">
                <a:avLst/>
              </a:prstGeom>
              <a:blipFill>
                <a:blip r:embed="rId3"/>
                <a:stretch>
                  <a:fillRect l="-2128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F380A81-9C64-FE5B-CB80-B113580C102E}"/>
              </a:ext>
            </a:extLst>
          </p:cNvPr>
          <p:cNvSpPr txBox="1"/>
          <p:nvPr/>
        </p:nvSpPr>
        <p:spPr>
          <a:xfrm>
            <a:off x="535709" y="3820490"/>
            <a:ext cx="2339102" cy="1131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补充：容斥原理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8D60F97-60FC-65E1-3C7F-7E3D0CB97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708" y="3987276"/>
            <a:ext cx="4209524" cy="3714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4876A3-18F8-CEA3-2F3B-85DA6AF3D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26" y="4952338"/>
            <a:ext cx="6009524" cy="1257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B76BFEB-DC51-FF02-FE5E-848CC823A5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8749"/>
          <a:stretch/>
        </p:blipFill>
        <p:spPr>
          <a:xfrm>
            <a:off x="2018998" y="2805366"/>
            <a:ext cx="2752381" cy="84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77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336425" y="110723"/>
            <a:ext cx="2892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排列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组合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CCDE679-0CF7-34B9-6B58-9BD0B26776D4}"/>
              </a:ext>
            </a:extLst>
          </p:cNvPr>
          <p:cNvGrpSpPr/>
          <p:nvPr/>
        </p:nvGrpSpPr>
        <p:grpSpPr>
          <a:xfrm>
            <a:off x="653955" y="1786245"/>
            <a:ext cx="6238104" cy="790702"/>
            <a:chOff x="431663" y="1360378"/>
            <a:chExt cx="6594859" cy="95794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91B7ACA-66A0-8491-BA1A-6497E62B2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663" y="1360378"/>
              <a:ext cx="6594859" cy="819401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8A683AD-FC80-6F92-B6D0-660ECB4A80DB}"/>
                </a:ext>
              </a:extLst>
            </p:cNvPr>
            <p:cNvSpPr/>
            <p:nvPr/>
          </p:nvSpPr>
          <p:spPr>
            <a:xfrm>
              <a:off x="4692073" y="2068949"/>
              <a:ext cx="2334449" cy="2493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5AF5AE2-784B-B9C7-867D-BE8C184E6D12}"/>
              </a:ext>
            </a:extLst>
          </p:cNvPr>
          <p:cNvGrpSpPr/>
          <p:nvPr/>
        </p:nvGrpSpPr>
        <p:grpSpPr>
          <a:xfrm>
            <a:off x="575020" y="3161810"/>
            <a:ext cx="4285699" cy="1681622"/>
            <a:chOff x="296650" y="2695420"/>
            <a:chExt cx="4695332" cy="209825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067289D-7BCB-D3CE-51AE-E3776D951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9404" y="2695420"/>
              <a:ext cx="4492578" cy="209825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791A82C-B9BE-165E-7538-1884B7B52CBA}"/>
                </a:ext>
              </a:extLst>
            </p:cNvPr>
            <p:cNvSpPr/>
            <p:nvPr/>
          </p:nvSpPr>
          <p:spPr>
            <a:xfrm>
              <a:off x="296650" y="3343569"/>
              <a:ext cx="251554" cy="1112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C9C3E72-D0C8-7EA7-DA01-53223B642944}"/>
              </a:ext>
            </a:extLst>
          </p:cNvPr>
          <p:cNvSpPr txBox="1"/>
          <p:nvPr/>
        </p:nvSpPr>
        <p:spPr>
          <a:xfrm>
            <a:off x="7573819" y="1783703"/>
            <a:ext cx="3262432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排列问题需要考虑排序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18C5FD-CDB8-B702-F3CC-4FEA50720D06}"/>
              </a:ext>
            </a:extLst>
          </p:cNvPr>
          <p:cNvSpPr txBox="1"/>
          <p:nvPr/>
        </p:nvSpPr>
        <p:spPr>
          <a:xfrm>
            <a:off x="7573819" y="3681262"/>
            <a:ext cx="2989921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组合问题不考虑排序</a:t>
            </a:r>
          </a:p>
        </p:txBody>
      </p:sp>
    </p:spTree>
    <p:extLst>
      <p:ext uri="{BB962C8B-B14F-4D97-AF65-F5344CB8AC3E}">
        <p14:creationId xmlns:p14="http://schemas.microsoft.com/office/powerpoint/2010/main" val="53313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20931" y="150179"/>
            <a:ext cx="7781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例题 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考试一般不会考，仅作为兴趣练习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628B23C4-BE6E-E8CE-FA8D-727022D1F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0" y="1094250"/>
            <a:ext cx="9942816" cy="8176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0B3EFE-4599-D372-FFE9-1FA58E4B6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90" y="2270092"/>
            <a:ext cx="9878697" cy="8176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2BCC70-FC7C-CCF4-A8CB-310EC75D7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80" y="3220576"/>
            <a:ext cx="9813916" cy="9338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9F3FF3-34BB-F1EB-23B1-E866B738B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80" y="4287248"/>
            <a:ext cx="9976687" cy="13176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46DCE24-E43C-590F-DB02-74CB2B3B6623}"/>
              </a:ext>
            </a:extLst>
          </p:cNvPr>
          <p:cNvSpPr txBox="1"/>
          <p:nvPr/>
        </p:nvSpPr>
        <p:spPr>
          <a:xfrm>
            <a:off x="0" y="6270595"/>
            <a:ext cx="3262432" cy="504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题目来源：黄冈中学习题课</a:t>
            </a:r>
          </a:p>
        </p:txBody>
      </p:sp>
    </p:spTree>
    <p:extLst>
      <p:ext uri="{BB962C8B-B14F-4D97-AF65-F5344CB8AC3E}">
        <p14:creationId xmlns:p14="http://schemas.microsoft.com/office/powerpoint/2010/main" val="39911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54BB2E-BBDB-5FDF-31AF-3E9AB235F8A5}"/>
              </a:ext>
            </a:extLst>
          </p:cNvPr>
          <p:cNvSpPr txBox="1"/>
          <p:nvPr/>
        </p:nvSpPr>
        <p:spPr>
          <a:xfrm>
            <a:off x="1616137" y="110723"/>
            <a:ext cx="8332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条件概率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(Conditional Probability)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33A6BD9-716E-3AEC-BCDF-7C206ECD7867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7BE370-E3CD-0EA2-43DC-38CA430DB520}"/>
                  </a:ext>
                </a:extLst>
              </p:cNvPr>
              <p:cNvSpPr txBox="1"/>
              <p:nvPr/>
            </p:nvSpPr>
            <p:spPr>
              <a:xfrm>
                <a:off x="176348" y="1077917"/>
                <a:ext cx="11588931" cy="1599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定义式</a:t>
                </a:r>
                <a:r>
                  <a:rPr lang="en-US" altLang="zh-CN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r>
                  <a:rPr lang="zh-CN" alt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2400" dirty="0">
                    <a:solidFill>
                      <a:schemeClr val="accent1">
                        <a:lumMod val="75000"/>
                      </a:schemeClr>
                    </a:solidFill>
                  </a:rPr>
                  <a:t>Definition: Let A and B be two events with P(B) &gt; 0. The </a:t>
                </a:r>
                <a:r>
                  <a:rPr lang="en-US" altLang="zh-CN" sz="2400" dirty="0">
                    <a:solidFill>
                      <a:srgbClr val="C00000"/>
                    </a:solidFill>
                  </a:rPr>
                  <a:t>conditional probability</a:t>
                </a:r>
                <a:r>
                  <a:rPr lang="en-US" altLang="zh-CN" sz="2400" dirty="0">
                    <a:solidFill>
                      <a:schemeClr val="accent1">
                        <a:lumMod val="75000"/>
                      </a:schemeClr>
                    </a:solidFill>
                  </a:rPr>
                  <a:t> of A given B is defined to be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57BE370-E3CD-0EA2-43DC-38CA430DB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8" y="1077917"/>
                <a:ext cx="11588931" cy="1599990"/>
              </a:xfrm>
              <a:prstGeom prst="rect">
                <a:avLst/>
              </a:prstGeom>
              <a:blipFill>
                <a:blip r:embed="rId2"/>
                <a:stretch>
                  <a:fillRect l="-842" t="-2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F34C819-1699-3E51-2D92-223BA9237B2E}"/>
                  </a:ext>
                </a:extLst>
              </p:cNvPr>
              <p:cNvSpPr txBox="1"/>
              <p:nvPr/>
            </p:nvSpPr>
            <p:spPr>
              <a:xfrm>
                <a:off x="2230481" y="2908590"/>
                <a:ext cx="726077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𝐴𝐵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F34C819-1699-3E51-2D92-223BA923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481" y="2908590"/>
                <a:ext cx="7260771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云形 6">
            <a:extLst>
              <a:ext uri="{FF2B5EF4-FFF2-40B4-BE49-F238E27FC236}">
                <a16:creationId xmlns:a16="http://schemas.microsoft.com/office/drawing/2014/main" id="{4D7A05AC-2D67-AE78-3AF0-9A2A22F8AD80}"/>
              </a:ext>
            </a:extLst>
          </p:cNvPr>
          <p:cNvSpPr/>
          <p:nvPr/>
        </p:nvSpPr>
        <p:spPr>
          <a:xfrm>
            <a:off x="8716190" y="1763507"/>
            <a:ext cx="2386149" cy="914400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公式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DB98A17-F844-D173-1A16-B2A2E758F21A}"/>
              </a:ext>
            </a:extLst>
          </p:cNvPr>
          <p:cNvSpPr/>
          <p:nvPr/>
        </p:nvSpPr>
        <p:spPr>
          <a:xfrm>
            <a:off x="8846824" y="3277921"/>
            <a:ext cx="2229390" cy="830998"/>
          </a:xfrm>
          <a:prstGeom prst="roundRect">
            <a:avLst/>
          </a:prstGeom>
          <a:noFill/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跟上面是同一个公式，不用记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11ACB03-0387-06D1-075D-9CBC989AB30C}"/>
                  </a:ext>
                </a:extLst>
              </p:cNvPr>
              <p:cNvSpPr txBox="1"/>
              <p:nvPr/>
            </p:nvSpPr>
            <p:spPr>
              <a:xfrm>
                <a:off x="2801981" y="5179918"/>
                <a:ext cx="611777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0" lang="en-US" altLang="zh-CN" sz="24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11ACB03-0387-06D1-075D-9CBC989AB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81" y="5179918"/>
                <a:ext cx="6117770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云形 17">
            <a:extLst>
              <a:ext uri="{FF2B5EF4-FFF2-40B4-BE49-F238E27FC236}">
                <a16:creationId xmlns:a16="http://schemas.microsoft.com/office/drawing/2014/main" id="{7690128B-D9D1-34F3-AD89-E0787B6DFD8B}"/>
              </a:ext>
            </a:extLst>
          </p:cNvPr>
          <p:cNvSpPr/>
          <p:nvPr/>
        </p:nvSpPr>
        <p:spPr>
          <a:xfrm>
            <a:off x="8872949" y="5322882"/>
            <a:ext cx="2386149" cy="914400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公式</a:t>
            </a:r>
            <a:r>
              <a:rPr lang="en-US" altLang="zh-C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54409C-17DA-9387-1D3E-EDC4E20DDC17}"/>
              </a:ext>
            </a:extLst>
          </p:cNvPr>
          <p:cNvSpPr txBox="1"/>
          <p:nvPr/>
        </p:nvSpPr>
        <p:spPr>
          <a:xfrm>
            <a:off x="165459" y="4511195"/>
            <a:ext cx="12099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发生且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发生”加上“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发生且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不发生”，包含了“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发生”的所有情况，既不重复也不遗漏</a:t>
            </a:r>
          </a:p>
        </p:txBody>
      </p:sp>
    </p:spTree>
    <p:extLst>
      <p:ext uri="{BB962C8B-B14F-4D97-AF65-F5344CB8AC3E}">
        <p14:creationId xmlns:p14="http://schemas.microsoft.com/office/powerpoint/2010/main" val="4019350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2725121" y="110723"/>
            <a:ext cx="61147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贝叶斯公式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(Bayes’ Rule)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7E9D189-5770-C56F-08B9-954C229E9C29}"/>
              </a:ext>
            </a:extLst>
          </p:cNvPr>
          <p:cNvSpPr txBox="1"/>
          <p:nvPr/>
        </p:nvSpPr>
        <p:spPr>
          <a:xfrm>
            <a:off x="247651" y="979345"/>
            <a:ext cx="1154430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设人群中新冠阳性概率为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0.0004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。若人为阳性，核酸检测为阳的概率为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0.95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；若人为阴性，核酸检测为阴性的概率为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0.99.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现有一疑似病例核酸结果为阳，那么其确实为阳性的概率为多少？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3CB22F-12D9-0116-7E85-EF9DCCE77D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475"/>
          <a:stretch/>
        </p:blipFill>
        <p:spPr>
          <a:xfrm>
            <a:off x="1777940" y="2932155"/>
            <a:ext cx="4087151" cy="35762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08B778-DDF6-C4B3-5DEF-258DE8042F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501"/>
          <a:stretch/>
        </p:blipFill>
        <p:spPr>
          <a:xfrm>
            <a:off x="6096000" y="3766606"/>
            <a:ext cx="5082521" cy="177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E9D189-5770-C56F-08B9-954C229E9C29}"/>
              </a:ext>
            </a:extLst>
          </p:cNvPr>
          <p:cNvSpPr txBox="1"/>
          <p:nvPr/>
        </p:nvSpPr>
        <p:spPr>
          <a:xfrm>
            <a:off x="197144" y="40724"/>
            <a:ext cx="1154430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设人群中新冠阳性概率为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0.0004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。若人为阳性，核酸检测为阳的概率为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0.95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；若人为阴性，核酸检测为阴性的概率为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0.99.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现有一疑似病例核酸结果为阳，那么其确实为阳性的概率为多少？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46711B-7209-A5C6-ACE5-4DC8FA01FFB8}"/>
                  </a:ext>
                </a:extLst>
              </p:cNvPr>
              <p:cNvSpPr txBox="1"/>
              <p:nvPr/>
            </p:nvSpPr>
            <p:spPr>
              <a:xfrm>
                <a:off x="1407721" y="2109400"/>
                <a:ext cx="32982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2400" b="0" dirty="0"/>
                  <a:t>设：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核酸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结果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阳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46711B-7209-A5C6-ACE5-4DC8FA01F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721" y="2109400"/>
                <a:ext cx="3298211" cy="369332"/>
              </a:xfrm>
              <a:prstGeom prst="rect">
                <a:avLst/>
              </a:prstGeom>
              <a:blipFill>
                <a:blip r:embed="rId3"/>
                <a:stretch>
                  <a:fillRect l="-5730" t="-22951" r="-3327" b="-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F66074E-945B-B2BA-D0BC-8E6F99FBE197}"/>
                  </a:ext>
                </a:extLst>
              </p:cNvPr>
              <p:cNvSpPr txBox="1"/>
              <p:nvPr/>
            </p:nvSpPr>
            <p:spPr>
              <a:xfrm>
                <a:off x="5170209" y="2131289"/>
                <a:ext cx="27669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此人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实际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阳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F66074E-945B-B2BA-D0BC-8E6F99FBE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209" y="2131289"/>
                <a:ext cx="2766911" cy="369332"/>
              </a:xfrm>
              <a:prstGeom prst="rect">
                <a:avLst/>
              </a:prstGeom>
              <a:blipFill>
                <a:blip r:embed="rId4"/>
                <a:stretch>
                  <a:fillRect l="-1762" t="-10000" r="-3084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3AF7F2C-D8E6-7F5F-B8FF-0C3032EDA53F}"/>
                  </a:ext>
                </a:extLst>
              </p:cNvPr>
              <p:cNvSpPr txBox="1"/>
              <p:nvPr/>
            </p:nvSpPr>
            <p:spPr>
              <a:xfrm>
                <a:off x="1233488" y="2660253"/>
                <a:ext cx="7558436" cy="590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0" dirty="0"/>
                  <a:t>则有：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=0.95,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e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=0.9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=0.0004.</m:t>
                    </m:r>
                  </m:oMath>
                </a14:m>
                <a:endPara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3AF7F2C-D8E6-7F5F-B8FF-0C3032EDA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488" y="2660253"/>
                <a:ext cx="7558436" cy="590611"/>
              </a:xfrm>
              <a:prstGeom prst="rect">
                <a:avLst/>
              </a:prstGeom>
              <a:blipFill>
                <a:blip r:embed="rId5"/>
                <a:stretch>
                  <a:fillRect l="-1210"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云形 2">
            <a:extLst>
              <a:ext uri="{FF2B5EF4-FFF2-40B4-BE49-F238E27FC236}">
                <a16:creationId xmlns:a16="http://schemas.microsoft.com/office/drawing/2014/main" id="{5202EA87-9657-2C15-6EED-5C6B89CB72B9}"/>
              </a:ext>
            </a:extLst>
          </p:cNvPr>
          <p:cNvSpPr/>
          <p:nvPr/>
        </p:nvSpPr>
        <p:spPr>
          <a:xfrm>
            <a:off x="8791923" y="1886202"/>
            <a:ext cx="2676177" cy="112806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翻译条件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A052A6F-1D58-9F09-CE64-655057F56876}"/>
                  </a:ext>
                </a:extLst>
              </p:cNvPr>
              <p:cNvSpPr txBox="1"/>
              <p:nvPr/>
            </p:nvSpPr>
            <p:spPr>
              <a:xfrm>
                <a:off x="2136091" y="3250864"/>
                <a:ext cx="4930131" cy="24550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A052A6F-1D58-9F09-CE64-655057F56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091" y="3250864"/>
                <a:ext cx="4930131" cy="24550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56C2801-D6C0-035E-F8C8-8476EA02CD68}"/>
              </a:ext>
            </a:extLst>
          </p:cNvPr>
          <p:cNvSpPr/>
          <p:nvPr/>
        </p:nvSpPr>
        <p:spPr>
          <a:xfrm>
            <a:off x="2136091" y="4524375"/>
            <a:ext cx="4930131" cy="1295400"/>
          </a:xfrm>
          <a:prstGeom prst="round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6A5C65-FCA6-E526-89F8-642E10DFB143}"/>
              </a:ext>
            </a:extLst>
          </p:cNvPr>
          <p:cNvSpPr txBox="1"/>
          <p:nvPr/>
        </p:nvSpPr>
        <p:spPr>
          <a:xfrm>
            <a:off x="7442536" y="4910465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Bayes’ Rule</a:t>
            </a:r>
            <a:endParaRPr lang="zh-CN" altLang="en-US" sz="2800" dirty="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8BDDC8-F5F9-0220-3B5C-22F040F82F0C}"/>
              </a:ext>
            </a:extLst>
          </p:cNvPr>
          <p:cNvSpPr txBox="1"/>
          <p:nvPr/>
        </p:nvSpPr>
        <p:spPr>
          <a:xfrm>
            <a:off x="495673" y="6040903"/>
            <a:ext cx="10104048" cy="587405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贝叶斯公式可以由前面的公式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和公式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很自然地推出来，不需要专门去背</a:t>
            </a:r>
          </a:p>
        </p:txBody>
      </p:sp>
    </p:spTree>
    <p:extLst>
      <p:ext uri="{BB962C8B-B14F-4D97-AF65-F5344CB8AC3E}">
        <p14:creationId xmlns:p14="http://schemas.microsoft.com/office/powerpoint/2010/main" val="203286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67652" y="110723"/>
            <a:ext cx="5429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秋概统期中考试题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E9599081-93F8-E414-49CF-EC8105AB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52" y="927438"/>
            <a:ext cx="10438095" cy="5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83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664242" y="1107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三门问题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116A509-C921-682F-47FA-324263A0B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50" y="1166146"/>
            <a:ext cx="7371428" cy="55047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2B0D321-AB8D-0617-508C-6D1046406F62}"/>
                  </a:ext>
                </a:extLst>
              </p:cNvPr>
              <p:cNvSpPr txBox="1"/>
              <p:nvPr/>
            </p:nvSpPr>
            <p:spPr>
              <a:xfrm>
                <a:off x="8095766" y="2782315"/>
                <a:ext cx="3431215" cy="2249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事件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为车在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门后面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事件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为你选了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事件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为主持人选择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altLang="zh-CN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2B0D321-AB8D-0617-508C-6D104640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766" y="2782315"/>
                <a:ext cx="3431215" cy="2249398"/>
              </a:xfrm>
              <a:prstGeom prst="rect">
                <a:avLst/>
              </a:prstGeom>
              <a:blipFill>
                <a:blip r:embed="rId4"/>
                <a:stretch>
                  <a:fillRect l="-2664" b="-5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9DDD03C0-1F97-7F1D-0682-E5F9A0311867}"/>
              </a:ext>
            </a:extLst>
          </p:cNvPr>
          <p:cNvSpPr txBox="1"/>
          <p:nvPr/>
        </p:nvSpPr>
        <p:spPr>
          <a:xfrm>
            <a:off x="8109132" y="2228732"/>
            <a:ext cx="1441420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翻译题目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FBDB5D-DC98-B739-66D2-B520A738EDF2}"/>
              </a:ext>
            </a:extLst>
          </p:cNvPr>
          <p:cNvSpPr/>
          <p:nvPr/>
        </p:nvSpPr>
        <p:spPr>
          <a:xfrm>
            <a:off x="7970982" y="2254860"/>
            <a:ext cx="3556000" cy="3028657"/>
          </a:xfrm>
          <a:custGeom>
            <a:avLst/>
            <a:gdLst>
              <a:gd name="connsiteX0" fmla="*/ 0 w 3556000"/>
              <a:gd name="connsiteY0" fmla="*/ 0 h 3028657"/>
              <a:gd name="connsiteX1" fmla="*/ 557107 w 3556000"/>
              <a:gd name="connsiteY1" fmla="*/ 0 h 3028657"/>
              <a:gd name="connsiteX2" fmla="*/ 1043093 w 3556000"/>
              <a:gd name="connsiteY2" fmla="*/ 0 h 3028657"/>
              <a:gd name="connsiteX3" fmla="*/ 1706880 w 3556000"/>
              <a:gd name="connsiteY3" fmla="*/ 0 h 3028657"/>
              <a:gd name="connsiteX4" fmla="*/ 2263987 w 3556000"/>
              <a:gd name="connsiteY4" fmla="*/ 0 h 3028657"/>
              <a:gd name="connsiteX5" fmla="*/ 2821093 w 3556000"/>
              <a:gd name="connsiteY5" fmla="*/ 0 h 3028657"/>
              <a:gd name="connsiteX6" fmla="*/ 3556000 w 3556000"/>
              <a:gd name="connsiteY6" fmla="*/ 0 h 3028657"/>
              <a:gd name="connsiteX7" fmla="*/ 3556000 w 3556000"/>
              <a:gd name="connsiteY7" fmla="*/ 444203 h 3028657"/>
              <a:gd name="connsiteX8" fmla="*/ 3556000 w 3556000"/>
              <a:gd name="connsiteY8" fmla="*/ 948979 h 3028657"/>
              <a:gd name="connsiteX9" fmla="*/ 3556000 w 3556000"/>
              <a:gd name="connsiteY9" fmla="*/ 1393182 h 3028657"/>
              <a:gd name="connsiteX10" fmla="*/ 3556000 w 3556000"/>
              <a:gd name="connsiteY10" fmla="*/ 1837385 h 3028657"/>
              <a:gd name="connsiteX11" fmla="*/ 3556000 w 3556000"/>
              <a:gd name="connsiteY11" fmla="*/ 2342161 h 3028657"/>
              <a:gd name="connsiteX12" fmla="*/ 3556000 w 3556000"/>
              <a:gd name="connsiteY12" fmla="*/ 3028657 h 3028657"/>
              <a:gd name="connsiteX13" fmla="*/ 3070013 w 3556000"/>
              <a:gd name="connsiteY13" fmla="*/ 3028657 h 3028657"/>
              <a:gd name="connsiteX14" fmla="*/ 2406227 w 3556000"/>
              <a:gd name="connsiteY14" fmla="*/ 3028657 h 3028657"/>
              <a:gd name="connsiteX15" fmla="*/ 1884680 w 3556000"/>
              <a:gd name="connsiteY15" fmla="*/ 3028657 h 3028657"/>
              <a:gd name="connsiteX16" fmla="*/ 1292013 w 3556000"/>
              <a:gd name="connsiteY16" fmla="*/ 3028657 h 3028657"/>
              <a:gd name="connsiteX17" fmla="*/ 628227 w 3556000"/>
              <a:gd name="connsiteY17" fmla="*/ 3028657 h 3028657"/>
              <a:gd name="connsiteX18" fmla="*/ 0 w 3556000"/>
              <a:gd name="connsiteY18" fmla="*/ 3028657 h 3028657"/>
              <a:gd name="connsiteX19" fmla="*/ 0 w 3556000"/>
              <a:gd name="connsiteY19" fmla="*/ 2614741 h 3028657"/>
              <a:gd name="connsiteX20" fmla="*/ 0 w 3556000"/>
              <a:gd name="connsiteY20" fmla="*/ 2170538 h 3028657"/>
              <a:gd name="connsiteX21" fmla="*/ 0 w 3556000"/>
              <a:gd name="connsiteY21" fmla="*/ 1696048 h 3028657"/>
              <a:gd name="connsiteX22" fmla="*/ 0 w 3556000"/>
              <a:gd name="connsiteY22" fmla="*/ 1130699 h 3028657"/>
              <a:gd name="connsiteX23" fmla="*/ 0 w 3556000"/>
              <a:gd name="connsiteY23" fmla="*/ 625922 h 3028657"/>
              <a:gd name="connsiteX24" fmla="*/ 0 w 3556000"/>
              <a:gd name="connsiteY24" fmla="*/ 0 h 3028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556000" h="3028657" extrusionOk="0">
                <a:moveTo>
                  <a:pt x="0" y="0"/>
                </a:moveTo>
                <a:cubicBezTo>
                  <a:pt x="211475" y="-49339"/>
                  <a:pt x="441891" y="46867"/>
                  <a:pt x="557107" y="0"/>
                </a:cubicBezTo>
                <a:cubicBezTo>
                  <a:pt x="672323" y="-46867"/>
                  <a:pt x="840696" y="4845"/>
                  <a:pt x="1043093" y="0"/>
                </a:cubicBezTo>
                <a:cubicBezTo>
                  <a:pt x="1245490" y="-4845"/>
                  <a:pt x="1522636" y="8534"/>
                  <a:pt x="1706880" y="0"/>
                </a:cubicBezTo>
                <a:cubicBezTo>
                  <a:pt x="1891124" y="-8534"/>
                  <a:pt x="1995106" y="60211"/>
                  <a:pt x="2263987" y="0"/>
                </a:cubicBezTo>
                <a:cubicBezTo>
                  <a:pt x="2532868" y="-60211"/>
                  <a:pt x="2571519" y="41467"/>
                  <a:pt x="2821093" y="0"/>
                </a:cubicBezTo>
                <a:cubicBezTo>
                  <a:pt x="3070667" y="-41467"/>
                  <a:pt x="3404565" y="38458"/>
                  <a:pt x="3556000" y="0"/>
                </a:cubicBezTo>
                <a:cubicBezTo>
                  <a:pt x="3573271" y="183044"/>
                  <a:pt x="3533165" y="294767"/>
                  <a:pt x="3556000" y="444203"/>
                </a:cubicBezTo>
                <a:cubicBezTo>
                  <a:pt x="3578835" y="593639"/>
                  <a:pt x="3537475" y="701736"/>
                  <a:pt x="3556000" y="948979"/>
                </a:cubicBezTo>
                <a:cubicBezTo>
                  <a:pt x="3574525" y="1196222"/>
                  <a:pt x="3525229" y="1271969"/>
                  <a:pt x="3556000" y="1393182"/>
                </a:cubicBezTo>
                <a:cubicBezTo>
                  <a:pt x="3586771" y="1514395"/>
                  <a:pt x="3552175" y="1640573"/>
                  <a:pt x="3556000" y="1837385"/>
                </a:cubicBezTo>
                <a:cubicBezTo>
                  <a:pt x="3559825" y="2034197"/>
                  <a:pt x="3507098" y="2191159"/>
                  <a:pt x="3556000" y="2342161"/>
                </a:cubicBezTo>
                <a:cubicBezTo>
                  <a:pt x="3604902" y="2493163"/>
                  <a:pt x="3513676" y="2861264"/>
                  <a:pt x="3556000" y="3028657"/>
                </a:cubicBezTo>
                <a:cubicBezTo>
                  <a:pt x="3364540" y="3068549"/>
                  <a:pt x="3188289" y="3028060"/>
                  <a:pt x="3070013" y="3028657"/>
                </a:cubicBezTo>
                <a:cubicBezTo>
                  <a:pt x="2951737" y="3029254"/>
                  <a:pt x="2717296" y="2968677"/>
                  <a:pt x="2406227" y="3028657"/>
                </a:cubicBezTo>
                <a:cubicBezTo>
                  <a:pt x="2095158" y="3088637"/>
                  <a:pt x="2093655" y="3002154"/>
                  <a:pt x="1884680" y="3028657"/>
                </a:cubicBezTo>
                <a:cubicBezTo>
                  <a:pt x="1675705" y="3055160"/>
                  <a:pt x="1429707" y="3005085"/>
                  <a:pt x="1292013" y="3028657"/>
                </a:cubicBezTo>
                <a:cubicBezTo>
                  <a:pt x="1154319" y="3052229"/>
                  <a:pt x="888175" y="2982004"/>
                  <a:pt x="628227" y="3028657"/>
                </a:cubicBezTo>
                <a:cubicBezTo>
                  <a:pt x="368279" y="3075310"/>
                  <a:pt x="272270" y="2995709"/>
                  <a:pt x="0" y="3028657"/>
                </a:cubicBezTo>
                <a:cubicBezTo>
                  <a:pt x="-28998" y="2885281"/>
                  <a:pt x="22163" y="2723524"/>
                  <a:pt x="0" y="2614741"/>
                </a:cubicBezTo>
                <a:cubicBezTo>
                  <a:pt x="-22163" y="2505958"/>
                  <a:pt x="36237" y="2259639"/>
                  <a:pt x="0" y="2170538"/>
                </a:cubicBezTo>
                <a:cubicBezTo>
                  <a:pt x="-36237" y="2081437"/>
                  <a:pt x="23056" y="1921018"/>
                  <a:pt x="0" y="1696048"/>
                </a:cubicBezTo>
                <a:cubicBezTo>
                  <a:pt x="-23056" y="1471078"/>
                  <a:pt x="44908" y="1264064"/>
                  <a:pt x="0" y="1130699"/>
                </a:cubicBezTo>
                <a:cubicBezTo>
                  <a:pt x="-44908" y="997334"/>
                  <a:pt x="52063" y="815300"/>
                  <a:pt x="0" y="625922"/>
                </a:cubicBezTo>
                <a:cubicBezTo>
                  <a:pt x="-52063" y="436544"/>
                  <a:pt x="31858" y="127015"/>
                  <a:pt x="0" y="0"/>
                </a:cubicBezTo>
                <a:close/>
              </a:path>
            </a:pathLst>
          </a:custGeom>
          <a:noFill/>
          <a:ln w="28575"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5DB083-204C-926E-23DE-B6407234FFBB}"/>
              </a:ext>
            </a:extLst>
          </p:cNvPr>
          <p:cNvSpPr txBox="1"/>
          <p:nvPr/>
        </p:nvSpPr>
        <p:spPr>
          <a:xfrm>
            <a:off x="693019" y="5628989"/>
            <a:ext cx="2294218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“条件”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是什么？</a:t>
            </a:r>
          </a:p>
        </p:txBody>
      </p:sp>
    </p:spTree>
    <p:extLst>
      <p:ext uri="{BB962C8B-B14F-4D97-AF65-F5344CB8AC3E}">
        <p14:creationId xmlns:p14="http://schemas.microsoft.com/office/powerpoint/2010/main" val="65305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664242" y="1107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三门问题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290881B-77AF-2745-5B93-353F86D21392}"/>
              </a:ext>
            </a:extLst>
          </p:cNvPr>
          <p:cNvGrpSpPr/>
          <p:nvPr/>
        </p:nvGrpSpPr>
        <p:grpSpPr>
          <a:xfrm>
            <a:off x="8339951" y="1141537"/>
            <a:ext cx="3556000" cy="3054785"/>
            <a:chOff x="7970982" y="1121827"/>
            <a:chExt cx="3556000" cy="30547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2B0D321-AB8D-0617-508C-6D1046406F62}"/>
                    </a:ext>
                  </a:extLst>
                </p:cNvPr>
                <p:cNvSpPr txBox="1"/>
                <p:nvPr/>
              </p:nvSpPr>
              <p:spPr>
                <a:xfrm>
                  <a:off x="8095766" y="1675410"/>
                  <a:ext cx="3431215" cy="22493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事件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为车在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门后面</a:t>
                  </a:r>
                  <a:endPara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事件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为你选了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事件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为主持人选择</a:t>
                  </a:r>
                  <a:r>
                    <a:rPr lang="en-US" altLang="zh-CN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  <a:p>
                  <a:pPr algn="l">
                    <a:lnSpc>
                      <a:spcPct val="150000"/>
                    </a:lnSpc>
                  </a:pPr>
                  <a:r>
                    <a: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求</a:t>
                  </a:r>
                  <a14:m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C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2B0D321-AB8D-0617-508C-6D1046406F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5766" y="1675410"/>
                  <a:ext cx="3431215" cy="2249398"/>
                </a:xfrm>
                <a:prstGeom prst="rect">
                  <a:avLst/>
                </a:prstGeom>
                <a:blipFill>
                  <a:blip r:embed="rId3"/>
                  <a:stretch>
                    <a:fillRect l="-2847" b="-56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DDD03C0-1F97-7F1D-0682-E5F9A0311867}"/>
                </a:ext>
              </a:extLst>
            </p:cNvPr>
            <p:cNvSpPr txBox="1"/>
            <p:nvPr/>
          </p:nvSpPr>
          <p:spPr>
            <a:xfrm>
              <a:off x="8109132" y="1121827"/>
              <a:ext cx="1441420" cy="587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400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翻译题目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CFBDB5D-DC98-B739-66D2-B520A738EDF2}"/>
                </a:ext>
              </a:extLst>
            </p:cNvPr>
            <p:cNvSpPr/>
            <p:nvPr/>
          </p:nvSpPr>
          <p:spPr>
            <a:xfrm>
              <a:off x="7970982" y="1147955"/>
              <a:ext cx="3556000" cy="3028657"/>
            </a:xfrm>
            <a:custGeom>
              <a:avLst/>
              <a:gdLst>
                <a:gd name="connsiteX0" fmla="*/ 0 w 3556000"/>
                <a:gd name="connsiteY0" fmla="*/ 0 h 3028657"/>
                <a:gd name="connsiteX1" fmla="*/ 557107 w 3556000"/>
                <a:gd name="connsiteY1" fmla="*/ 0 h 3028657"/>
                <a:gd name="connsiteX2" fmla="*/ 1043093 w 3556000"/>
                <a:gd name="connsiteY2" fmla="*/ 0 h 3028657"/>
                <a:gd name="connsiteX3" fmla="*/ 1706880 w 3556000"/>
                <a:gd name="connsiteY3" fmla="*/ 0 h 3028657"/>
                <a:gd name="connsiteX4" fmla="*/ 2263987 w 3556000"/>
                <a:gd name="connsiteY4" fmla="*/ 0 h 3028657"/>
                <a:gd name="connsiteX5" fmla="*/ 2821093 w 3556000"/>
                <a:gd name="connsiteY5" fmla="*/ 0 h 3028657"/>
                <a:gd name="connsiteX6" fmla="*/ 3556000 w 3556000"/>
                <a:gd name="connsiteY6" fmla="*/ 0 h 3028657"/>
                <a:gd name="connsiteX7" fmla="*/ 3556000 w 3556000"/>
                <a:gd name="connsiteY7" fmla="*/ 444203 h 3028657"/>
                <a:gd name="connsiteX8" fmla="*/ 3556000 w 3556000"/>
                <a:gd name="connsiteY8" fmla="*/ 948979 h 3028657"/>
                <a:gd name="connsiteX9" fmla="*/ 3556000 w 3556000"/>
                <a:gd name="connsiteY9" fmla="*/ 1393182 h 3028657"/>
                <a:gd name="connsiteX10" fmla="*/ 3556000 w 3556000"/>
                <a:gd name="connsiteY10" fmla="*/ 1837385 h 3028657"/>
                <a:gd name="connsiteX11" fmla="*/ 3556000 w 3556000"/>
                <a:gd name="connsiteY11" fmla="*/ 2342161 h 3028657"/>
                <a:gd name="connsiteX12" fmla="*/ 3556000 w 3556000"/>
                <a:gd name="connsiteY12" fmla="*/ 3028657 h 3028657"/>
                <a:gd name="connsiteX13" fmla="*/ 3070013 w 3556000"/>
                <a:gd name="connsiteY13" fmla="*/ 3028657 h 3028657"/>
                <a:gd name="connsiteX14" fmla="*/ 2406227 w 3556000"/>
                <a:gd name="connsiteY14" fmla="*/ 3028657 h 3028657"/>
                <a:gd name="connsiteX15" fmla="*/ 1884680 w 3556000"/>
                <a:gd name="connsiteY15" fmla="*/ 3028657 h 3028657"/>
                <a:gd name="connsiteX16" fmla="*/ 1292013 w 3556000"/>
                <a:gd name="connsiteY16" fmla="*/ 3028657 h 3028657"/>
                <a:gd name="connsiteX17" fmla="*/ 628227 w 3556000"/>
                <a:gd name="connsiteY17" fmla="*/ 3028657 h 3028657"/>
                <a:gd name="connsiteX18" fmla="*/ 0 w 3556000"/>
                <a:gd name="connsiteY18" fmla="*/ 3028657 h 3028657"/>
                <a:gd name="connsiteX19" fmla="*/ 0 w 3556000"/>
                <a:gd name="connsiteY19" fmla="*/ 2614741 h 3028657"/>
                <a:gd name="connsiteX20" fmla="*/ 0 w 3556000"/>
                <a:gd name="connsiteY20" fmla="*/ 2170538 h 3028657"/>
                <a:gd name="connsiteX21" fmla="*/ 0 w 3556000"/>
                <a:gd name="connsiteY21" fmla="*/ 1696048 h 3028657"/>
                <a:gd name="connsiteX22" fmla="*/ 0 w 3556000"/>
                <a:gd name="connsiteY22" fmla="*/ 1130699 h 3028657"/>
                <a:gd name="connsiteX23" fmla="*/ 0 w 3556000"/>
                <a:gd name="connsiteY23" fmla="*/ 625922 h 3028657"/>
                <a:gd name="connsiteX24" fmla="*/ 0 w 3556000"/>
                <a:gd name="connsiteY24" fmla="*/ 0 h 302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56000" h="3028657" extrusionOk="0">
                  <a:moveTo>
                    <a:pt x="0" y="0"/>
                  </a:moveTo>
                  <a:cubicBezTo>
                    <a:pt x="211475" y="-49339"/>
                    <a:pt x="441891" y="46867"/>
                    <a:pt x="557107" y="0"/>
                  </a:cubicBezTo>
                  <a:cubicBezTo>
                    <a:pt x="672323" y="-46867"/>
                    <a:pt x="840696" y="4845"/>
                    <a:pt x="1043093" y="0"/>
                  </a:cubicBezTo>
                  <a:cubicBezTo>
                    <a:pt x="1245490" y="-4845"/>
                    <a:pt x="1522636" y="8534"/>
                    <a:pt x="1706880" y="0"/>
                  </a:cubicBezTo>
                  <a:cubicBezTo>
                    <a:pt x="1891124" y="-8534"/>
                    <a:pt x="1995106" y="60211"/>
                    <a:pt x="2263987" y="0"/>
                  </a:cubicBezTo>
                  <a:cubicBezTo>
                    <a:pt x="2532868" y="-60211"/>
                    <a:pt x="2571519" y="41467"/>
                    <a:pt x="2821093" y="0"/>
                  </a:cubicBezTo>
                  <a:cubicBezTo>
                    <a:pt x="3070667" y="-41467"/>
                    <a:pt x="3404565" y="38458"/>
                    <a:pt x="3556000" y="0"/>
                  </a:cubicBezTo>
                  <a:cubicBezTo>
                    <a:pt x="3573271" y="183044"/>
                    <a:pt x="3533165" y="294767"/>
                    <a:pt x="3556000" y="444203"/>
                  </a:cubicBezTo>
                  <a:cubicBezTo>
                    <a:pt x="3578835" y="593639"/>
                    <a:pt x="3537475" y="701736"/>
                    <a:pt x="3556000" y="948979"/>
                  </a:cubicBezTo>
                  <a:cubicBezTo>
                    <a:pt x="3574525" y="1196222"/>
                    <a:pt x="3525229" y="1271969"/>
                    <a:pt x="3556000" y="1393182"/>
                  </a:cubicBezTo>
                  <a:cubicBezTo>
                    <a:pt x="3586771" y="1514395"/>
                    <a:pt x="3552175" y="1640573"/>
                    <a:pt x="3556000" y="1837385"/>
                  </a:cubicBezTo>
                  <a:cubicBezTo>
                    <a:pt x="3559825" y="2034197"/>
                    <a:pt x="3507098" y="2191159"/>
                    <a:pt x="3556000" y="2342161"/>
                  </a:cubicBezTo>
                  <a:cubicBezTo>
                    <a:pt x="3604902" y="2493163"/>
                    <a:pt x="3513676" y="2861264"/>
                    <a:pt x="3556000" y="3028657"/>
                  </a:cubicBezTo>
                  <a:cubicBezTo>
                    <a:pt x="3364540" y="3068549"/>
                    <a:pt x="3188289" y="3028060"/>
                    <a:pt x="3070013" y="3028657"/>
                  </a:cubicBezTo>
                  <a:cubicBezTo>
                    <a:pt x="2951737" y="3029254"/>
                    <a:pt x="2717296" y="2968677"/>
                    <a:pt x="2406227" y="3028657"/>
                  </a:cubicBezTo>
                  <a:cubicBezTo>
                    <a:pt x="2095158" y="3088637"/>
                    <a:pt x="2093655" y="3002154"/>
                    <a:pt x="1884680" y="3028657"/>
                  </a:cubicBezTo>
                  <a:cubicBezTo>
                    <a:pt x="1675705" y="3055160"/>
                    <a:pt x="1429707" y="3005085"/>
                    <a:pt x="1292013" y="3028657"/>
                  </a:cubicBezTo>
                  <a:cubicBezTo>
                    <a:pt x="1154319" y="3052229"/>
                    <a:pt x="888175" y="2982004"/>
                    <a:pt x="628227" y="3028657"/>
                  </a:cubicBezTo>
                  <a:cubicBezTo>
                    <a:pt x="368279" y="3075310"/>
                    <a:pt x="272270" y="2995709"/>
                    <a:pt x="0" y="3028657"/>
                  </a:cubicBezTo>
                  <a:cubicBezTo>
                    <a:pt x="-28998" y="2885281"/>
                    <a:pt x="22163" y="2723524"/>
                    <a:pt x="0" y="2614741"/>
                  </a:cubicBezTo>
                  <a:cubicBezTo>
                    <a:pt x="-22163" y="2505958"/>
                    <a:pt x="36237" y="2259639"/>
                    <a:pt x="0" y="2170538"/>
                  </a:cubicBezTo>
                  <a:cubicBezTo>
                    <a:pt x="-36237" y="2081437"/>
                    <a:pt x="23056" y="1921018"/>
                    <a:pt x="0" y="1696048"/>
                  </a:cubicBezTo>
                  <a:cubicBezTo>
                    <a:pt x="-23056" y="1471078"/>
                    <a:pt x="44908" y="1264064"/>
                    <a:pt x="0" y="1130699"/>
                  </a:cubicBezTo>
                  <a:cubicBezTo>
                    <a:pt x="-44908" y="997334"/>
                    <a:pt x="52063" y="815300"/>
                    <a:pt x="0" y="625922"/>
                  </a:cubicBezTo>
                  <a:cubicBezTo>
                    <a:pt x="-52063" y="436544"/>
                    <a:pt x="31858" y="127015"/>
                    <a:pt x="0" y="0"/>
                  </a:cubicBezTo>
                  <a:close/>
                </a:path>
              </a:pathLst>
            </a:custGeom>
            <a:noFill/>
            <a:ln w="28575"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35DB083-204C-926E-23DE-B6407234FFBB}"/>
              </a:ext>
            </a:extLst>
          </p:cNvPr>
          <p:cNvSpPr txBox="1"/>
          <p:nvPr/>
        </p:nvSpPr>
        <p:spPr>
          <a:xfrm>
            <a:off x="8772412" y="4430074"/>
            <a:ext cx="2294218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“条件”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是什么？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02BC5BD-4F5F-5568-9C23-CEA41F4FE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16" y="1981724"/>
            <a:ext cx="7857143" cy="1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42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2955440" y="110723"/>
            <a:ext cx="5654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独立性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(Independence)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5BB27F49-5C43-AF47-D1CD-57E57CBF5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71" y="1486470"/>
            <a:ext cx="6578281" cy="6692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787D34-C29B-2BE0-3CFC-1496F0D0AC9F}"/>
              </a:ext>
            </a:extLst>
          </p:cNvPr>
          <p:cNvSpPr txBox="1"/>
          <p:nvPr/>
        </p:nvSpPr>
        <p:spPr>
          <a:xfrm>
            <a:off x="763571" y="2941163"/>
            <a:ext cx="6359433" cy="1141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补充概念：不相容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(disjoint)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，即不会同时发生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跟独立没什么关系，但课件里放到一起讲了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5E3E3E-1352-C391-43DC-BA50A9F62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3" y="4256203"/>
            <a:ext cx="4070862" cy="5134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12C27EA-7AB6-B589-BA48-CF07DA130244}"/>
                  </a:ext>
                </a:extLst>
              </p:cNvPr>
              <p:cNvSpPr txBox="1"/>
              <p:nvPr/>
            </p:nvSpPr>
            <p:spPr>
              <a:xfrm>
                <a:off x="669074" y="5309005"/>
                <a:ext cx="8503290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&gt;0,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时，若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与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不相容，则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与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一定不独立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12C27EA-7AB6-B589-BA48-CF07DA130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74" y="5309005"/>
                <a:ext cx="8503290" cy="587405"/>
              </a:xfrm>
              <a:prstGeom prst="rect">
                <a:avLst/>
              </a:prstGeom>
              <a:blipFill>
                <a:blip r:embed="rId5"/>
                <a:stretch>
                  <a:fillRect l="-114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5519633-6253-7379-941A-F577D8730DB1}"/>
              </a:ext>
            </a:extLst>
          </p:cNvPr>
          <p:cNvCxnSpPr>
            <a:cxnSpLocks/>
          </p:cNvCxnSpPr>
          <p:nvPr/>
        </p:nvCxnSpPr>
        <p:spPr>
          <a:xfrm>
            <a:off x="0" y="2601797"/>
            <a:ext cx="1219200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933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2028106" y="110723"/>
            <a:ext cx="7508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离散变量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连续变量，分布函数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59706D5-CFA8-95E1-D3A3-AEC349C16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25" y="1008847"/>
            <a:ext cx="5266667" cy="1200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82A7A1-BA49-9D77-4406-D73242C33C04}"/>
              </a:ext>
            </a:extLst>
          </p:cNvPr>
          <p:cNvSpPr txBox="1"/>
          <p:nvPr/>
        </p:nvSpPr>
        <p:spPr>
          <a:xfrm>
            <a:off x="729964" y="1092756"/>
            <a:ext cx="3313728" cy="669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离散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(discrete)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r. v.</a:t>
            </a:r>
            <a:endParaRPr lang="zh-CN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322DE0-EAF0-8EB4-366B-75E414E6D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653" y="3204489"/>
            <a:ext cx="6323809" cy="10571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6BF7BD-AF5A-87B3-3BA8-145C05E92B3B}"/>
              </a:ext>
            </a:extLst>
          </p:cNvPr>
          <p:cNvSpPr txBox="1"/>
          <p:nvPr/>
        </p:nvSpPr>
        <p:spPr>
          <a:xfrm>
            <a:off x="729964" y="2368951"/>
            <a:ext cx="5865708" cy="669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离散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连续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(continuous)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r. v. </a:t>
            </a: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通用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44A6DA-907A-D630-7D58-98FB20D0E178}"/>
                  </a:ext>
                </a:extLst>
              </p:cNvPr>
              <p:cNvSpPr txBox="1"/>
              <p:nvPr/>
            </p:nvSpPr>
            <p:spPr>
              <a:xfrm>
                <a:off x="450442" y="4563092"/>
                <a:ext cx="11569029" cy="1141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例题：设随机变量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相互独立，分布函数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(CDF)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max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⁡(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的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分布函数。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44A6DA-907A-D630-7D58-98FB20D0E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42" y="4563092"/>
                <a:ext cx="11569029" cy="1141403"/>
              </a:xfrm>
              <a:prstGeom prst="rect">
                <a:avLst/>
              </a:prstGeom>
              <a:blipFill>
                <a:blip r:embed="rId4"/>
                <a:stretch>
                  <a:fillRect l="-843" b="-1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7FDC42F-F46E-BAE8-AC23-4FB5EAC2D663}"/>
                  </a:ext>
                </a:extLst>
              </p:cNvPr>
              <p:cNvSpPr txBox="1"/>
              <p:nvPr/>
            </p:nvSpPr>
            <p:spPr>
              <a:xfrm>
                <a:off x="729964" y="5755610"/>
                <a:ext cx="1031166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𝑍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)∙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7FDC42F-F46E-BAE8-AC23-4FB5EAC2D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64" y="5755610"/>
                <a:ext cx="1031166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42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894798" y="110723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连续分布的函数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189902D-4DEF-860F-B8E7-5F1EC138A9DC}"/>
                  </a:ext>
                </a:extLst>
              </p:cNvPr>
              <p:cNvSpPr txBox="1"/>
              <p:nvPr/>
            </p:nvSpPr>
            <p:spPr>
              <a:xfrm>
                <a:off x="526474" y="1059796"/>
                <a:ext cx="5606535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若随机变量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的分布函数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可表示为：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189902D-4DEF-860F-B8E7-5F1EC138A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74" y="1059796"/>
                <a:ext cx="5606535" cy="587405"/>
              </a:xfrm>
              <a:prstGeom prst="rect">
                <a:avLst/>
              </a:prstGeom>
              <a:blipFill>
                <a:blip r:embed="rId2"/>
                <a:stretch>
                  <a:fillRect l="-1630" r="-761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22CBF44-117A-EB6D-5BF0-3E9A6E8BA8FA}"/>
                  </a:ext>
                </a:extLst>
              </p:cNvPr>
              <p:cNvSpPr txBox="1"/>
              <p:nvPr/>
            </p:nvSpPr>
            <p:spPr>
              <a:xfrm>
                <a:off x="557950" y="1829158"/>
                <a:ext cx="4354782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为</m:t>
                    </m:r>
                    <m:r>
                      <m:rPr>
                        <m:sty m:val="p"/>
                      </m:rPr>
                      <a:rPr lang="en-US" altLang="zh-CN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的</a:t>
                </a:r>
                <a:r>
                  <a:rPr lang="zh-CN" altLang="en-US" sz="2400" b="1" dirty="0"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概率密度函数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22CBF44-117A-EB6D-5BF0-3E9A6E8B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50" y="1829158"/>
                <a:ext cx="4354782" cy="587405"/>
              </a:xfrm>
              <a:prstGeom prst="rect">
                <a:avLst/>
              </a:prstGeom>
              <a:blipFill>
                <a:blip r:embed="rId3"/>
                <a:stretch>
                  <a:fillRect l="-2241" r="-112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62130D4E-C647-6DD3-476B-4BE855B2C9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00"/>
          <a:stretch/>
        </p:blipFill>
        <p:spPr>
          <a:xfrm>
            <a:off x="668278" y="2858948"/>
            <a:ext cx="3894486" cy="76567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BB053C1-E604-5217-10FE-216E2AAA5471}"/>
              </a:ext>
            </a:extLst>
          </p:cNvPr>
          <p:cNvSpPr txBox="1"/>
          <p:nvPr/>
        </p:nvSpPr>
        <p:spPr>
          <a:xfrm>
            <a:off x="4971336" y="3040647"/>
            <a:ext cx="5521063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通过微积分的性质可以很容易看出来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49DC09-B227-7D02-0678-1190773B1B06}"/>
                  </a:ext>
                </a:extLst>
              </p:cNvPr>
              <p:cNvSpPr txBox="1"/>
              <p:nvPr/>
            </p:nvSpPr>
            <p:spPr>
              <a:xfrm>
                <a:off x="5994401" y="639552"/>
                <a:ext cx="2813014" cy="1289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𝑑𝑥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49DC09-B227-7D02-0678-1190773B1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01" y="639552"/>
                <a:ext cx="2813014" cy="1289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5D3D10C-1D48-020B-BF87-75B196992FC2}"/>
                  </a:ext>
                </a:extLst>
              </p:cNvPr>
              <p:cNvSpPr txBox="1"/>
              <p:nvPr/>
            </p:nvSpPr>
            <p:spPr>
              <a:xfrm>
                <a:off x="8663294" y="1013615"/>
                <a:ext cx="2349426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≥0.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5D3D10C-1D48-020B-BF87-75B196992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294" y="1013615"/>
                <a:ext cx="2349426" cy="587405"/>
              </a:xfrm>
              <a:prstGeom prst="rect">
                <a:avLst/>
              </a:prstGeom>
              <a:blipFill>
                <a:blip r:embed="rId6"/>
                <a:stretch>
                  <a:fillRect l="-3886"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A9AC333B-30C0-BEC0-F825-460B700534D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9561"/>
          <a:stretch/>
        </p:blipFill>
        <p:spPr>
          <a:xfrm>
            <a:off x="2655992" y="3803007"/>
            <a:ext cx="6253004" cy="4582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7752272-4447-7CFD-A1ED-E8DD7055C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74" y="4623982"/>
            <a:ext cx="6599929" cy="22340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D3DCBF-311D-3AFC-BBC7-CD9AE330826D}"/>
                  </a:ext>
                </a:extLst>
              </p:cNvPr>
              <p:cNvSpPr txBox="1"/>
              <p:nvPr/>
            </p:nvSpPr>
            <p:spPr>
              <a:xfrm>
                <a:off x="6804676" y="5369465"/>
                <a:ext cx="5194819" cy="1287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≤∞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D3DCBF-311D-3AFC-BBC7-CD9AE330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676" y="5369465"/>
                <a:ext cx="5194819" cy="12875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109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713916" y="110723"/>
            <a:ext cx="81371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一些典型的分布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(1)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离散变量篇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D3DF2D5-CE0F-884B-655E-842184ECDFEF}"/>
              </a:ext>
            </a:extLst>
          </p:cNvPr>
          <p:cNvSpPr txBox="1"/>
          <p:nvPr/>
        </p:nvSpPr>
        <p:spPr>
          <a:xfrm>
            <a:off x="858982" y="1052945"/>
            <a:ext cx="2069797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伯努利分布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AD1021-359A-D5DB-C7E2-E62EB1E3E805}"/>
              </a:ext>
            </a:extLst>
          </p:cNvPr>
          <p:cNvSpPr txBox="1"/>
          <p:nvPr/>
        </p:nvSpPr>
        <p:spPr>
          <a:xfrm>
            <a:off x="785091" y="4502461"/>
            <a:ext cx="9337813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泊松分布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非常大，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非常小的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重伯努利分布，趋近于泊松分布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85CA31C-E86C-D198-66AE-A3452806B476}"/>
                  </a:ext>
                </a:extLst>
              </p:cNvPr>
              <p:cNvSpPr txBox="1"/>
              <p:nvPr/>
            </p:nvSpPr>
            <p:spPr>
              <a:xfrm>
                <a:off x="858982" y="1756601"/>
                <a:ext cx="5705023" cy="587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伯努利实验：只产生两个结果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的实验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85CA31C-E86C-D198-66AE-A3452806B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82" y="1756601"/>
                <a:ext cx="5705023" cy="587981"/>
              </a:xfrm>
              <a:prstGeom prst="rect">
                <a:avLst/>
              </a:prstGeom>
              <a:blipFill>
                <a:blip r:embed="rId2"/>
                <a:stretch>
                  <a:fillRect l="-1709" r="-641"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46A92F-1208-FC3B-E9A5-057997042097}"/>
                  </a:ext>
                </a:extLst>
              </p:cNvPr>
              <p:cNvSpPr txBox="1"/>
              <p:nvPr/>
            </p:nvSpPr>
            <p:spPr>
              <a:xfrm>
                <a:off x="858982" y="2287597"/>
                <a:ext cx="7934480" cy="1801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重伯努利实验：将伯努利实验独立重复进行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次的实验。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令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发生的概率为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为事件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发生的次数，则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𝑿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𝒌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𝒌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𝒌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𝒑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146A92F-1208-FC3B-E9A5-057997042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82" y="2287597"/>
                <a:ext cx="7934480" cy="1801775"/>
              </a:xfrm>
              <a:prstGeom prst="rect">
                <a:avLst/>
              </a:prstGeom>
              <a:blipFill>
                <a:blip r:embed="rId3"/>
                <a:stretch>
                  <a:fillRect l="-1230" r="-3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84D8215-0769-87A1-45E3-03F6763DA0F8}"/>
                  </a:ext>
                </a:extLst>
              </p:cNvPr>
              <p:cNvSpPr txBox="1"/>
              <p:nvPr/>
            </p:nvSpPr>
            <p:spPr>
              <a:xfrm>
                <a:off x="1165306" y="6002306"/>
                <a:ext cx="8839792" cy="587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泊松分布的期望为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λ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（期中不考，期末可能会考）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84D8215-0769-87A1-45E3-03F6763DA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06" y="6002306"/>
                <a:ext cx="8839792" cy="587277"/>
              </a:xfrm>
              <a:prstGeom prst="rect">
                <a:avLst/>
              </a:prstGeom>
              <a:blipFill>
                <a:blip r:embed="rId4"/>
                <a:stretch>
                  <a:fillRect l="-1034" r="-13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1A1503F-1C42-D445-F93B-925265644793}"/>
              </a:ext>
            </a:extLst>
          </p:cNvPr>
          <p:cNvSpPr txBox="1"/>
          <p:nvPr/>
        </p:nvSpPr>
        <p:spPr>
          <a:xfrm>
            <a:off x="7758199" y="3590021"/>
            <a:ext cx="4185761" cy="587405"/>
          </a:xfrm>
          <a:prstGeom prst="rect">
            <a:avLst/>
          </a:pr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646071544">
                  <a:custGeom>
                    <a:avLst/>
                    <a:gdLst>
                      <a:gd name="connsiteX0" fmla="*/ 0 w 4185761"/>
                      <a:gd name="connsiteY0" fmla="*/ 0 h 587405"/>
                      <a:gd name="connsiteX1" fmla="*/ 639823 w 4185761"/>
                      <a:gd name="connsiteY1" fmla="*/ 0 h 587405"/>
                      <a:gd name="connsiteX2" fmla="*/ 1154074 w 4185761"/>
                      <a:gd name="connsiteY2" fmla="*/ 0 h 587405"/>
                      <a:gd name="connsiteX3" fmla="*/ 1793898 w 4185761"/>
                      <a:gd name="connsiteY3" fmla="*/ 0 h 587405"/>
                      <a:gd name="connsiteX4" fmla="*/ 2308148 w 4185761"/>
                      <a:gd name="connsiteY4" fmla="*/ 0 h 587405"/>
                      <a:gd name="connsiteX5" fmla="*/ 2947972 w 4185761"/>
                      <a:gd name="connsiteY5" fmla="*/ 0 h 587405"/>
                      <a:gd name="connsiteX6" fmla="*/ 3545938 w 4185761"/>
                      <a:gd name="connsiteY6" fmla="*/ 0 h 587405"/>
                      <a:gd name="connsiteX7" fmla="*/ 4185761 w 4185761"/>
                      <a:gd name="connsiteY7" fmla="*/ 0 h 587405"/>
                      <a:gd name="connsiteX8" fmla="*/ 4185761 w 4185761"/>
                      <a:gd name="connsiteY8" fmla="*/ 587405 h 587405"/>
                      <a:gd name="connsiteX9" fmla="*/ 3713368 w 4185761"/>
                      <a:gd name="connsiteY9" fmla="*/ 587405 h 587405"/>
                      <a:gd name="connsiteX10" fmla="*/ 3199117 w 4185761"/>
                      <a:gd name="connsiteY10" fmla="*/ 587405 h 587405"/>
                      <a:gd name="connsiteX11" fmla="*/ 2726724 w 4185761"/>
                      <a:gd name="connsiteY11" fmla="*/ 587405 h 587405"/>
                      <a:gd name="connsiteX12" fmla="*/ 2086901 w 4185761"/>
                      <a:gd name="connsiteY12" fmla="*/ 587405 h 587405"/>
                      <a:gd name="connsiteX13" fmla="*/ 1572650 w 4185761"/>
                      <a:gd name="connsiteY13" fmla="*/ 587405 h 587405"/>
                      <a:gd name="connsiteX14" fmla="*/ 932827 w 4185761"/>
                      <a:gd name="connsiteY14" fmla="*/ 587405 h 587405"/>
                      <a:gd name="connsiteX15" fmla="*/ 0 w 4185761"/>
                      <a:gd name="connsiteY15" fmla="*/ 587405 h 587405"/>
                      <a:gd name="connsiteX16" fmla="*/ 0 w 4185761"/>
                      <a:gd name="connsiteY16" fmla="*/ 0 h 5874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185761" h="587405" extrusionOk="0">
                        <a:moveTo>
                          <a:pt x="0" y="0"/>
                        </a:moveTo>
                        <a:cubicBezTo>
                          <a:pt x="147173" y="-13696"/>
                          <a:pt x="399435" y="6047"/>
                          <a:pt x="639823" y="0"/>
                        </a:cubicBezTo>
                        <a:cubicBezTo>
                          <a:pt x="880211" y="-6047"/>
                          <a:pt x="991851" y="57430"/>
                          <a:pt x="1154074" y="0"/>
                        </a:cubicBezTo>
                        <a:cubicBezTo>
                          <a:pt x="1316297" y="-57430"/>
                          <a:pt x="1658600" y="25523"/>
                          <a:pt x="1793898" y="0"/>
                        </a:cubicBezTo>
                        <a:cubicBezTo>
                          <a:pt x="1929196" y="-25523"/>
                          <a:pt x="2140538" y="52863"/>
                          <a:pt x="2308148" y="0"/>
                        </a:cubicBezTo>
                        <a:cubicBezTo>
                          <a:pt x="2475758" y="-52863"/>
                          <a:pt x="2771828" y="22052"/>
                          <a:pt x="2947972" y="0"/>
                        </a:cubicBezTo>
                        <a:cubicBezTo>
                          <a:pt x="3124116" y="-22052"/>
                          <a:pt x="3287123" y="66122"/>
                          <a:pt x="3545938" y="0"/>
                        </a:cubicBezTo>
                        <a:cubicBezTo>
                          <a:pt x="3804753" y="-66122"/>
                          <a:pt x="4020352" y="9197"/>
                          <a:pt x="4185761" y="0"/>
                        </a:cubicBezTo>
                        <a:cubicBezTo>
                          <a:pt x="4240493" y="207202"/>
                          <a:pt x="4146618" y="349515"/>
                          <a:pt x="4185761" y="587405"/>
                        </a:cubicBezTo>
                        <a:cubicBezTo>
                          <a:pt x="4029683" y="617228"/>
                          <a:pt x="3910758" y="579306"/>
                          <a:pt x="3713368" y="587405"/>
                        </a:cubicBezTo>
                        <a:cubicBezTo>
                          <a:pt x="3515978" y="595504"/>
                          <a:pt x="3439372" y="534902"/>
                          <a:pt x="3199117" y="587405"/>
                        </a:cubicBezTo>
                        <a:cubicBezTo>
                          <a:pt x="2958862" y="639908"/>
                          <a:pt x="2864913" y="557198"/>
                          <a:pt x="2726724" y="587405"/>
                        </a:cubicBezTo>
                        <a:cubicBezTo>
                          <a:pt x="2588535" y="617612"/>
                          <a:pt x="2224183" y="579217"/>
                          <a:pt x="2086901" y="587405"/>
                        </a:cubicBezTo>
                        <a:cubicBezTo>
                          <a:pt x="1949619" y="595593"/>
                          <a:pt x="1707254" y="542607"/>
                          <a:pt x="1572650" y="587405"/>
                        </a:cubicBezTo>
                        <a:cubicBezTo>
                          <a:pt x="1438046" y="632203"/>
                          <a:pt x="1076745" y="544687"/>
                          <a:pt x="932827" y="587405"/>
                        </a:cubicBezTo>
                        <a:cubicBezTo>
                          <a:pt x="788909" y="630123"/>
                          <a:pt x="318957" y="523663"/>
                          <a:pt x="0" y="587405"/>
                        </a:cubicBezTo>
                        <a:cubicBezTo>
                          <a:pt x="-14759" y="465362"/>
                          <a:pt x="46510" y="24493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通过古典概型可得到概率公式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E44AAB0-01F5-B308-A830-FA9958AB6E02}"/>
              </a:ext>
            </a:extLst>
          </p:cNvPr>
          <p:cNvCxnSpPr/>
          <p:nvPr/>
        </p:nvCxnSpPr>
        <p:spPr>
          <a:xfrm flipH="1" flipV="1">
            <a:off x="6721311" y="3780148"/>
            <a:ext cx="999242" cy="1780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B2A61B4-85E9-411D-5846-3CC4A58672ED}"/>
              </a:ext>
            </a:extLst>
          </p:cNvPr>
          <p:cNvGrpSpPr/>
          <p:nvPr/>
        </p:nvGrpSpPr>
        <p:grpSpPr>
          <a:xfrm>
            <a:off x="2395283" y="5183539"/>
            <a:ext cx="7066087" cy="796767"/>
            <a:chOff x="2395283" y="5183539"/>
            <a:chExt cx="7066087" cy="796767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846ACBB-4939-528D-0ABF-7DA66AFB1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17554" y="5183539"/>
              <a:ext cx="5043816" cy="7967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4F79314-48F4-83E1-AFCC-567C7E08DB46}"/>
                    </a:ext>
                  </a:extLst>
                </p:cNvPr>
                <p:cNvSpPr txBox="1"/>
                <p:nvPr/>
              </p:nvSpPr>
              <p:spPr>
                <a:xfrm>
                  <a:off x="2395283" y="5217650"/>
                  <a:ext cx="2182008" cy="587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若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𝑿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~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𝑷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l-GR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𝝀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r>
                    <a:rPr lang="zh-CN" altLang="en-US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，则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4F79314-48F4-83E1-AFCC-567C7E08DB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283" y="5217650"/>
                  <a:ext cx="2182008" cy="587405"/>
                </a:xfrm>
                <a:prstGeom prst="rect">
                  <a:avLst/>
                </a:prstGeom>
                <a:blipFill>
                  <a:blip r:embed="rId6"/>
                  <a:stretch>
                    <a:fillRect l="-4469" r="-3073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936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125360" y="110723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泊松分布与伯努利分布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BEC6AED-4257-6EE5-B17A-FB9FFB695E4B}"/>
              </a:ext>
            </a:extLst>
          </p:cNvPr>
          <p:cNvSpPr/>
          <p:nvPr/>
        </p:nvSpPr>
        <p:spPr>
          <a:xfrm>
            <a:off x="390977" y="3693381"/>
            <a:ext cx="8275781" cy="592555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非常大，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非常小的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重伯努利分布，趋近于泊松分布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32D0DED-0041-8352-7E2E-185BE3CA6B93}"/>
                  </a:ext>
                </a:extLst>
              </p:cNvPr>
              <p:cNvSpPr txBox="1"/>
              <p:nvPr/>
            </p:nvSpPr>
            <p:spPr>
              <a:xfrm>
                <a:off x="390977" y="1156677"/>
                <a:ext cx="5705023" cy="587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伯努利实验：只产生两个结果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的实验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32D0DED-0041-8352-7E2E-185BE3CA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7" y="1156677"/>
                <a:ext cx="5705023" cy="587981"/>
              </a:xfrm>
              <a:prstGeom prst="rect">
                <a:avLst/>
              </a:prstGeom>
              <a:blipFill>
                <a:blip r:embed="rId2"/>
                <a:stretch>
                  <a:fillRect l="-1603" r="-74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5AF17BD-FB0A-D49E-9C57-2B566169C56D}"/>
                  </a:ext>
                </a:extLst>
              </p:cNvPr>
              <p:cNvSpPr txBox="1"/>
              <p:nvPr/>
            </p:nvSpPr>
            <p:spPr>
              <a:xfrm>
                <a:off x="390977" y="2148318"/>
                <a:ext cx="8146013" cy="1141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重伯努利实验：将伯努利实验独立重复进行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次的实验。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令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发生的概率为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为事件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发生的次数，则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5AF17BD-FB0A-D49E-9C57-2B566169C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7" y="2148318"/>
                <a:ext cx="8146013" cy="1141403"/>
              </a:xfrm>
              <a:prstGeom prst="rect">
                <a:avLst/>
              </a:prstGeom>
              <a:blipFill>
                <a:blip r:embed="rId3"/>
                <a:stretch>
                  <a:fillRect l="-1123" b="-11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E3E5BA-38A3-A840-F7BC-E65D1EA780B2}"/>
                  </a:ext>
                </a:extLst>
              </p:cNvPr>
              <p:cNvSpPr txBox="1"/>
              <p:nvPr/>
            </p:nvSpPr>
            <p:spPr>
              <a:xfrm>
                <a:off x="390977" y="4689595"/>
                <a:ext cx="7115281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即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且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→∞, 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→0.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则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λ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m:rPr>
                        <m:sty m:val="p"/>
                      </m:rPr>
                      <a:rPr lang="el-GR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λ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𝑛𝑝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6E3E5BA-38A3-A840-F7BC-E65D1EA78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77" y="4689595"/>
                <a:ext cx="7115281" cy="587405"/>
              </a:xfrm>
              <a:prstGeom prst="rect">
                <a:avLst/>
              </a:prstGeom>
              <a:blipFill>
                <a:blip r:embed="rId4"/>
                <a:stretch>
                  <a:fillRect l="-1285"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596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67645" y="110723"/>
            <a:ext cx="5429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秋概统期中考试题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3CCFFFA7-FF60-1AF3-C788-B88C36B2A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1" y="1188088"/>
            <a:ext cx="10756418" cy="10563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405226A-6FA2-9048-CB66-693CE98A8F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62" b="-1"/>
          <a:stretch/>
        </p:blipFill>
        <p:spPr>
          <a:xfrm>
            <a:off x="1817166" y="2115127"/>
            <a:ext cx="6680171" cy="456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18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E390C4C-F602-7EAB-E939-17244E19F091}"/>
              </a:ext>
            </a:extLst>
          </p:cNvPr>
          <p:cNvSpPr txBox="1"/>
          <p:nvPr/>
        </p:nvSpPr>
        <p:spPr>
          <a:xfrm>
            <a:off x="1200955" y="110723"/>
            <a:ext cx="91630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一些不怎么考的分布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(1)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离散变量篇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D389BA-46F7-C9A0-84C6-26E1CC6DA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574" y="2296133"/>
            <a:ext cx="5384285" cy="5371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9536D-FB86-3722-9DAE-533584D51A84}"/>
                  </a:ext>
                </a:extLst>
              </p:cNvPr>
              <p:cNvSpPr txBox="1"/>
              <p:nvPr/>
            </p:nvSpPr>
            <p:spPr>
              <a:xfrm>
                <a:off x="406401" y="1071418"/>
                <a:ext cx="8704627" cy="1141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几何分布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(Geometric distribution)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：一种特殊的伯努利分布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成功概率为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，成功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次就收手，一共实验了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次才成功。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99536D-FB86-3722-9DAE-533584D51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1" y="1071418"/>
                <a:ext cx="8704627" cy="1141403"/>
              </a:xfrm>
              <a:prstGeom prst="rect">
                <a:avLst/>
              </a:prstGeom>
              <a:blipFill>
                <a:blip r:embed="rId3"/>
                <a:stretch>
                  <a:fillRect l="-1120" b="-1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2543AEF-E92B-493E-E515-D11632E3A82B}"/>
                  </a:ext>
                </a:extLst>
              </p:cNvPr>
              <p:cNvSpPr txBox="1"/>
              <p:nvPr/>
            </p:nvSpPr>
            <p:spPr>
              <a:xfrm>
                <a:off x="407242" y="3052618"/>
                <a:ext cx="9051196" cy="1141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负二项分布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(Negative binomial distribution)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：几何分布的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plus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版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成功概率为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，成功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次就收手，一共实验了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次才成功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次。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2543AEF-E92B-493E-E515-D11632E3A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42" y="3052618"/>
                <a:ext cx="9051196" cy="1141403"/>
              </a:xfrm>
              <a:prstGeom prst="rect">
                <a:avLst/>
              </a:prstGeom>
              <a:blipFill>
                <a:blip r:embed="rId4"/>
                <a:stretch>
                  <a:fillRect l="-1077" r="-808" b="-1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A595B0FC-DC8C-7606-4DDC-EB05ABD2F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574" y="4330285"/>
            <a:ext cx="4465858" cy="53019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0F2C876-7514-606E-7C8B-9F340E9D4678}"/>
              </a:ext>
            </a:extLst>
          </p:cNvPr>
          <p:cNvSpPr txBox="1"/>
          <p:nvPr/>
        </p:nvSpPr>
        <p:spPr>
          <a:xfrm>
            <a:off x="406401" y="5098291"/>
            <a:ext cx="6362639" cy="1141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超几何分布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(hypergeometric distribution)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高中学过，不多讲了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BC68F54-877B-EEAB-C26A-4A1D05409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5397" y="5089185"/>
            <a:ext cx="4770202" cy="165809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305EE6F-7D83-CAD9-8696-ECDFA8E44352}"/>
              </a:ext>
            </a:extLst>
          </p:cNvPr>
          <p:cNvCxnSpPr>
            <a:cxnSpLocks/>
          </p:cNvCxnSpPr>
          <p:nvPr/>
        </p:nvCxnSpPr>
        <p:spPr>
          <a:xfrm>
            <a:off x="6530109" y="5467927"/>
            <a:ext cx="39716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79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713916" y="110723"/>
            <a:ext cx="81371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一些典型的分布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(2)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连续变量篇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7A50282-0189-29FA-0A92-E6F075D865A6}"/>
              </a:ext>
            </a:extLst>
          </p:cNvPr>
          <p:cNvSpPr txBox="1"/>
          <p:nvPr/>
        </p:nvSpPr>
        <p:spPr>
          <a:xfrm>
            <a:off x="563418" y="969819"/>
            <a:ext cx="5189241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均匀分布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(Uniform distribution)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EAFFD7-F198-6E8A-9E86-B8F04A44C531}"/>
              </a:ext>
            </a:extLst>
          </p:cNvPr>
          <p:cNvSpPr txBox="1"/>
          <p:nvPr/>
        </p:nvSpPr>
        <p:spPr>
          <a:xfrm>
            <a:off x="563418" y="3718438"/>
            <a:ext cx="5633273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指数分布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(Exponential distribution)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0750B8-2943-A9A2-DE42-EEE09454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037" y="4768422"/>
            <a:ext cx="3047619" cy="895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57A3891-0AE9-F23A-22FB-8D9CEAF5116C}"/>
                  </a:ext>
                </a:extLst>
              </p:cNvPr>
              <p:cNvSpPr txBox="1"/>
              <p:nvPr/>
            </p:nvSpPr>
            <p:spPr>
              <a:xfrm>
                <a:off x="637308" y="6036216"/>
                <a:ext cx="6899389" cy="739048"/>
              </a:xfrm>
              <a:prstGeom prst="rect">
                <a:avLst/>
              </a:prstGeom>
              <a:noFill/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容易记错公式？算一算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r>
                          <a:rPr lang="en-US" altLang="zh-CN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zh-CN" sz="24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altLang="zh-CN" sz="240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𝑑𝑥</m:t>
                    </m:r>
                  </m:oMath>
                </a14:m>
                <a:r>
                  <a:rPr lang="zh-CN" alt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，看是否等于</a:t>
                </a:r>
                <a:r>
                  <a:rPr lang="en-US" altLang="zh-CN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:endParaRPr lang="zh-CN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57A3891-0AE9-F23A-22FB-8D9CEAF51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8" y="6036216"/>
                <a:ext cx="6899389" cy="739048"/>
              </a:xfrm>
              <a:prstGeom prst="rect">
                <a:avLst/>
              </a:prstGeom>
              <a:blipFill>
                <a:blip r:embed="rId3"/>
                <a:stretch>
                  <a:fillRect l="-1499" r="-617" b="-14516"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5B5873FA-F3A3-A5EE-DED1-4C0CE4FE4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806" y="1634996"/>
            <a:ext cx="3152381" cy="1009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ECC62C1-C569-F454-2225-FFD580544DD7}"/>
                  </a:ext>
                </a:extLst>
              </p:cNvPr>
              <p:cNvSpPr txBox="1"/>
              <p:nvPr/>
            </p:nvSpPr>
            <p:spPr>
              <a:xfrm>
                <a:off x="637309" y="2801532"/>
                <a:ext cx="7326878" cy="735907"/>
              </a:xfrm>
              <a:prstGeom prst="rect">
                <a:avLst/>
              </a:prstGeom>
              <a:noFill/>
              <a:ln w="19050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在区间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zh-CN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zh-CN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zh-CN" altLang="en-US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上概率不变，且满足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r>
                          <a:rPr lang="en-US" altLang="zh-CN" sz="2400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altLang="zh-CN" sz="2400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zh-CN" sz="2400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r>
                      <a:rPr lang="en-US" altLang="zh-CN" sz="2400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𝑑𝑥</m:t>
                    </m:r>
                    <m:r>
                      <a:rPr lang="en-US" altLang="zh-CN" sz="2400" b="0" i="1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zh-CN" altLang="en-US" sz="2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ECC62C1-C569-F454-2225-FFD580544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2801532"/>
                <a:ext cx="7326878" cy="735907"/>
              </a:xfrm>
              <a:prstGeom prst="rect">
                <a:avLst/>
              </a:prstGeom>
              <a:blipFill>
                <a:blip r:embed="rId5"/>
                <a:stretch>
                  <a:fillRect l="-1412" b="-14634"/>
                </a:stretch>
              </a:blipFill>
              <a:ln w="1905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708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713916" y="110723"/>
            <a:ext cx="81371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一些典型的分布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(2)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连续变量篇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C46C6758-1B12-4355-5229-34C920319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43" y="4530790"/>
            <a:ext cx="10352381" cy="1047619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43ED0566-64F6-A1A3-DA27-A9DA13299A38}"/>
              </a:ext>
            </a:extLst>
          </p:cNvPr>
          <p:cNvGrpSpPr/>
          <p:nvPr/>
        </p:nvGrpSpPr>
        <p:grpSpPr>
          <a:xfrm>
            <a:off x="812800" y="1209608"/>
            <a:ext cx="6227165" cy="3160612"/>
            <a:chOff x="1644073" y="1209609"/>
            <a:chExt cx="6227165" cy="316061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DC4C268-6194-3E90-8E90-5478BF187B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7281"/>
            <a:stretch/>
          </p:blipFill>
          <p:spPr>
            <a:xfrm>
              <a:off x="1713916" y="1209609"/>
              <a:ext cx="6157322" cy="3160612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7228106-938E-68EA-A861-FF087C68E425}"/>
                </a:ext>
              </a:extLst>
            </p:cNvPr>
            <p:cNvSpPr/>
            <p:nvPr/>
          </p:nvSpPr>
          <p:spPr>
            <a:xfrm>
              <a:off x="1644073" y="2473211"/>
              <a:ext cx="2632363" cy="18969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54CF550-F817-C893-385E-89A88FCA9E22}"/>
              </a:ext>
            </a:extLst>
          </p:cNvPr>
          <p:cNvSpPr txBox="1"/>
          <p:nvPr/>
        </p:nvSpPr>
        <p:spPr>
          <a:xfrm>
            <a:off x="7109808" y="1756508"/>
            <a:ext cx="3527482" cy="1141403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已经活了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年，再活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年的概率与当前寿命无关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0475CC0-3D5A-CCA3-DA48-9D75F1169D2A}"/>
                  </a:ext>
                </a:extLst>
              </p:cNvPr>
              <p:cNvSpPr txBox="1"/>
              <p:nvPr/>
            </p:nvSpPr>
            <p:spPr>
              <a:xfrm>
                <a:off x="812800" y="5738979"/>
                <a:ext cx="2005814" cy="812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答案：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den>
                    </m:f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0475CC0-3D5A-CCA3-DA48-9D75F1169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5738979"/>
                <a:ext cx="2005814" cy="812274"/>
              </a:xfrm>
              <a:prstGeom prst="rect">
                <a:avLst/>
              </a:prstGeom>
              <a:blipFill>
                <a:blip r:embed="rId4"/>
                <a:stretch>
                  <a:fillRect l="-4559" b="-6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6968C98B-23D1-CD31-CF7A-39497BF64476}"/>
              </a:ext>
            </a:extLst>
          </p:cNvPr>
          <p:cNvSpPr txBox="1"/>
          <p:nvPr/>
        </p:nvSpPr>
        <p:spPr>
          <a:xfrm>
            <a:off x="3648173" y="5943957"/>
            <a:ext cx="8358378" cy="587405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同样不建议记结论，有印象即可。大不了花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分钟推一遍公式</a:t>
            </a:r>
          </a:p>
        </p:txBody>
      </p:sp>
    </p:spTree>
    <p:extLst>
      <p:ext uri="{BB962C8B-B14F-4D97-AF65-F5344CB8AC3E}">
        <p14:creationId xmlns:p14="http://schemas.microsoft.com/office/powerpoint/2010/main" val="3515739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713916" y="110723"/>
            <a:ext cx="81371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一些典型的分布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(2)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连续变量篇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11B8F6-E84C-0897-C67C-1AB990DAAD41}"/>
                  </a:ext>
                </a:extLst>
              </p:cNvPr>
              <p:cNvSpPr txBox="1"/>
              <p:nvPr/>
            </p:nvSpPr>
            <p:spPr>
              <a:xfrm>
                <a:off x="397164" y="942109"/>
                <a:ext cx="6764929" cy="5965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正态分布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(Normal distribution)</a:t>
                </a: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𝑵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𝝁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11B8F6-E84C-0897-C67C-1AB990DAA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64" y="942109"/>
                <a:ext cx="6764929" cy="596574"/>
              </a:xfrm>
              <a:prstGeom prst="rect">
                <a:avLst/>
              </a:prstGeom>
              <a:blipFill>
                <a:blip r:embed="rId2"/>
                <a:stretch>
                  <a:fillRect l="-1351" r="-90" b="-24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CADAAEB1-6F83-00D3-4BB5-E34C8FD44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654" y="1529372"/>
            <a:ext cx="6470872" cy="9376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B8699D-694A-A075-B321-CEB04728B24D}"/>
                  </a:ext>
                </a:extLst>
              </p:cNvPr>
              <p:cNvSpPr txBox="1"/>
              <p:nvPr/>
            </p:nvSpPr>
            <p:spPr>
              <a:xfrm>
                <a:off x="666750" y="2545510"/>
                <a:ext cx="3089564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：均值，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：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标准差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FB8699D-694A-A075-B321-CEB04728B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2545510"/>
                <a:ext cx="3089564" cy="587405"/>
              </a:xfrm>
              <a:prstGeom prst="rect">
                <a:avLst/>
              </a:prstGeom>
              <a:blipFill>
                <a:blip r:embed="rId4"/>
                <a:stretch>
                  <a:fillRect l="-39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BD55E5-ABFB-6CAE-D863-385A7A35A4DD}"/>
                  </a:ext>
                </a:extLst>
              </p:cNvPr>
              <p:cNvSpPr txBox="1"/>
              <p:nvPr/>
            </p:nvSpPr>
            <p:spPr>
              <a:xfrm>
                <a:off x="542925" y="4267834"/>
                <a:ext cx="3923638" cy="5965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例：若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𝑵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𝝁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1BD55E5-ABFB-6CAE-D863-385A7A35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4267834"/>
                <a:ext cx="3923638" cy="596574"/>
              </a:xfrm>
              <a:prstGeom prst="rect">
                <a:avLst/>
              </a:prstGeom>
              <a:blipFill>
                <a:blip r:embed="rId5"/>
                <a:stretch>
                  <a:fillRect l="-2329" r="-466" b="-23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E0683CA-F7D2-CDE0-EAA4-44CE122A4269}"/>
                  </a:ext>
                </a:extLst>
              </p:cNvPr>
              <p:cNvSpPr txBox="1"/>
              <p:nvPr/>
            </p:nvSpPr>
            <p:spPr>
              <a:xfrm>
                <a:off x="638175" y="4978623"/>
                <a:ext cx="10915650" cy="1374159"/>
              </a:xfrm>
              <a:prstGeom prst="rect">
                <a:avLst/>
              </a:prstGeom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提示：令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(0,1)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endParaRPr lang="en-US" altLang="zh-CN" sz="24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0" dirty="0">
                    <a:cs typeface="Arial" panose="020B0604020202020204" pitchFamily="34" charset="0"/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≤1)=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，查表找到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𝜎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即可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E0683CA-F7D2-CDE0-EAA4-44CE122A4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175" y="4978623"/>
                <a:ext cx="10915650" cy="1374159"/>
              </a:xfrm>
              <a:prstGeom prst="rect">
                <a:avLst/>
              </a:prstGeom>
              <a:blipFill>
                <a:blip r:embed="rId6"/>
                <a:stretch>
                  <a:fillRect l="-780" b="-8261"/>
                </a:stretch>
              </a:blipFill>
              <a:ln w="28575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56DDB354-2C5B-B64D-0529-1E48ABC8F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7086" y="2466974"/>
            <a:ext cx="4211914" cy="1668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9697CAE-AEB0-F8ED-4EC2-00E65BB6B5CD}"/>
                  </a:ext>
                </a:extLst>
              </p:cNvPr>
              <p:cNvSpPr txBox="1"/>
              <p:nvPr/>
            </p:nvSpPr>
            <p:spPr>
              <a:xfrm>
                <a:off x="6532978" y="4135737"/>
                <a:ext cx="5318572" cy="504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：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标准正态分布中，变量值小于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的概率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9697CAE-AEB0-F8ED-4EC2-00E65BB6B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978" y="4135737"/>
                <a:ext cx="5318572" cy="504946"/>
              </a:xfrm>
              <a:prstGeom prst="rect">
                <a:avLst/>
              </a:prstGeom>
              <a:blipFill>
                <a:blip r:embed="rId8"/>
                <a:stretch>
                  <a:fillRect b="-20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115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713916" y="110723"/>
            <a:ext cx="81371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一些典型的分布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(2)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连续变量篇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11B8F6-E84C-0897-C67C-1AB990DAAD41}"/>
                  </a:ext>
                </a:extLst>
              </p:cNvPr>
              <p:cNvSpPr txBox="1"/>
              <p:nvPr/>
            </p:nvSpPr>
            <p:spPr>
              <a:xfrm>
                <a:off x="397164" y="942109"/>
                <a:ext cx="3639073" cy="5965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正态分布：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𝑵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𝝁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C11B8F6-E84C-0897-C67C-1AB990DAA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64" y="942109"/>
                <a:ext cx="3639073" cy="596574"/>
              </a:xfrm>
              <a:prstGeom prst="rect">
                <a:avLst/>
              </a:prstGeom>
              <a:blipFill>
                <a:blip r:embed="rId2"/>
                <a:stretch>
                  <a:fillRect l="-2513" r="-670" b="-24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02D7711-A197-9A8F-26FA-FCC12AA0EE30}"/>
                  </a:ext>
                </a:extLst>
              </p:cNvPr>
              <p:cNvSpPr txBox="1"/>
              <p:nvPr/>
            </p:nvSpPr>
            <p:spPr>
              <a:xfrm>
                <a:off x="664705" y="3941520"/>
                <a:ext cx="5455340" cy="1141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变量相加减：均值相加减，</a:t>
                </a: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方差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相加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变量乘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：均值乘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，方差乘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02D7711-A197-9A8F-26FA-FCC12AA0E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5" y="3941520"/>
                <a:ext cx="5455340" cy="1141274"/>
              </a:xfrm>
              <a:prstGeom prst="rect">
                <a:avLst/>
              </a:prstGeom>
              <a:blipFill>
                <a:blip r:embed="rId3"/>
                <a:stretch>
                  <a:fillRect l="-1453" r="-782" b="-1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526DE0-3300-63F0-C1DD-592996C49B94}"/>
                  </a:ext>
                </a:extLst>
              </p:cNvPr>
              <p:cNvSpPr txBox="1"/>
              <p:nvPr/>
            </p:nvSpPr>
            <p:spPr>
              <a:xfrm>
                <a:off x="664705" y="1636055"/>
                <a:ext cx="6422527" cy="660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zh-CN" altLang="en-US" sz="2400" b="1" i="0" dirty="0">
                    <a:latin typeface="+mj-lt"/>
                    <a:cs typeface="Arial" panose="020B0604020202020204" pitchFamily="34" charset="0"/>
                  </a:rPr>
                  <a:t>相互独立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，且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𝑵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altLang="zh-CN" sz="2400" b="1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𝒀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𝑵</m:t>
                    </m:r>
                    <m:d>
                      <m:dPr>
                        <m:ctrlP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𝝁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24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526DE0-3300-63F0-C1DD-592996C49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5" y="1636055"/>
                <a:ext cx="6422527" cy="660374"/>
              </a:xfrm>
              <a:prstGeom prst="rect">
                <a:avLst/>
              </a:prstGeom>
              <a:blipFill>
                <a:blip r:embed="rId4"/>
                <a:stretch>
                  <a:fillRect l="-1423" b="-17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64E6F250-2E6F-E6F2-656B-B86266079FED}"/>
              </a:ext>
            </a:extLst>
          </p:cNvPr>
          <p:cNvSpPr/>
          <p:nvPr/>
        </p:nvSpPr>
        <p:spPr>
          <a:xfrm>
            <a:off x="2216700" y="2527234"/>
            <a:ext cx="4304032" cy="127188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AE90D7-6ED5-7712-4940-3E7A0DB2610A}"/>
                  </a:ext>
                </a:extLst>
              </p:cNvPr>
              <p:cNvSpPr txBox="1"/>
              <p:nvPr/>
            </p:nvSpPr>
            <p:spPr>
              <a:xfrm>
                <a:off x="664705" y="2432734"/>
                <a:ext cx="5856027" cy="1271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则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~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𝝈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~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𝝈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1AE90D7-6ED5-7712-4940-3E7A0DB26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5" y="2432734"/>
                <a:ext cx="5856027" cy="1271887"/>
              </a:xfrm>
              <a:prstGeom prst="rect">
                <a:avLst/>
              </a:prstGeom>
              <a:blipFill>
                <a:blip r:embed="rId5"/>
                <a:stretch>
                  <a:fillRect l="-1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7C4846A5-5EAE-5958-78D0-8C49B9930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05" y="5498978"/>
            <a:ext cx="10390476" cy="1028571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594A753-5DCA-F1C0-F2CF-DF7D821D7163}"/>
              </a:ext>
            </a:extLst>
          </p:cNvPr>
          <p:cNvSpPr txBox="1"/>
          <p:nvPr/>
        </p:nvSpPr>
        <p:spPr>
          <a:xfrm>
            <a:off x="8266545" y="5940144"/>
            <a:ext cx="2954655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（往年期中考试题）</a:t>
            </a:r>
          </a:p>
        </p:txBody>
      </p:sp>
    </p:spTree>
    <p:extLst>
      <p:ext uri="{BB962C8B-B14F-4D97-AF65-F5344CB8AC3E}">
        <p14:creationId xmlns:p14="http://schemas.microsoft.com/office/powerpoint/2010/main" val="1424933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111991" y="110723"/>
            <a:ext cx="93410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一些不怎么考的分布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(2) 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连续变量篇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C4C8A1C-EDF4-F5F0-F72C-E6E00CBD8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254" y="1658852"/>
            <a:ext cx="5215630" cy="16000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FA27DBD-D3E6-030E-495B-23B9450F141F}"/>
              </a:ext>
            </a:extLst>
          </p:cNvPr>
          <p:cNvSpPr txBox="1"/>
          <p:nvPr/>
        </p:nvSpPr>
        <p:spPr>
          <a:xfrm>
            <a:off x="563418" y="969819"/>
            <a:ext cx="3211135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伽马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(gamma)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分布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9E2EA0-E484-BB9C-2AD9-3293EEDEF86B}"/>
              </a:ext>
            </a:extLst>
          </p:cNvPr>
          <p:cNvSpPr txBox="1"/>
          <p:nvPr/>
        </p:nvSpPr>
        <p:spPr>
          <a:xfrm>
            <a:off x="563418" y="4168292"/>
            <a:ext cx="6748963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贝塔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(beta)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分布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期中期末都不考，有缘再讲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BEE255C-356C-625F-6790-B7B300AD7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347" y="4902776"/>
            <a:ext cx="9874066" cy="130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277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894798" y="110723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随机变量的函数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362713-672C-766E-0156-394D25B80C3C}"/>
                  </a:ext>
                </a:extLst>
              </p:cNvPr>
              <p:cNvSpPr txBox="1"/>
              <p:nvPr/>
            </p:nvSpPr>
            <p:spPr>
              <a:xfrm>
                <a:off x="69420" y="976353"/>
                <a:ext cx="12125307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问题：设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𝒗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的概率密度函数为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，随机变量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𝒀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，</m:t>
                    </m:r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𝒀</m:t>
                    </m:r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的概率密度函数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𝒀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362713-672C-766E-0156-394D25B80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0" y="976353"/>
                <a:ext cx="12125307" cy="587405"/>
              </a:xfrm>
              <a:prstGeom prst="rect">
                <a:avLst/>
              </a:prstGeom>
              <a:blipFill>
                <a:blip r:embed="rId2"/>
                <a:stretch>
                  <a:fillRect l="-754" r="-151"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4227F3-A76B-6E5B-F205-C4546D9F6C0B}"/>
                  </a:ext>
                </a:extLst>
              </p:cNvPr>
              <p:cNvSpPr txBox="1"/>
              <p:nvPr/>
            </p:nvSpPr>
            <p:spPr>
              <a:xfrm>
                <a:off x="2923561" y="1695374"/>
                <a:ext cx="3583994" cy="1434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①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/>
                  <a:t>②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24227F3-A76B-6E5B-F205-C4546D9F6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561" y="1695374"/>
                <a:ext cx="3583994" cy="1434495"/>
              </a:xfrm>
              <a:prstGeom prst="rect">
                <a:avLst/>
              </a:prstGeom>
              <a:blipFill>
                <a:blip r:embed="rId3"/>
                <a:stretch>
                  <a:fillRect l="-2381" r="-340" b="-1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15937E44-F5D0-ECF2-1E60-968D232C5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603" y="1789829"/>
            <a:ext cx="1521870" cy="5172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F7554D4-6860-C4DD-7F58-2D6EF46F8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9062" y="4482961"/>
            <a:ext cx="6150548" cy="679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414FB15-7A3D-B31F-D107-C7218DB3C97B}"/>
                  </a:ext>
                </a:extLst>
              </p:cNvPr>
              <p:cNvSpPr txBox="1"/>
              <p:nvPr/>
            </p:nvSpPr>
            <p:spPr>
              <a:xfrm>
                <a:off x="820821" y="3741964"/>
                <a:ext cx="5094664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单调递增且处处可导，则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414FB15-7A3D-B31F-D107-C7218DB3C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21" y="3741964"/>
                <a:ext cx="5094664" cy="587405"/>
              </a:xfrm>
              <a:prstGeom prst="rect">
                <a:avLst/>
              </a:prstGeom>
              <a:blipFill>
                <a:blip r:embed="rId6"/>
                <a:stretch>
                  <a:fillRect l="-1916" r="-59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流程图: 可选过程 8">
                <a:extLst>
                  <a:ext uri="{FF2B5EF4-FFF2-40B4-BE49-F238E27FC236}">
                    <a16:creationId xmlns:a16="http://schemas.microsoft.com/office/drawing/2014/main" id="{C3241ED3-56EA-5CBB-83CF-790FC6B533BB}"/>
                  </a:ext>
                </a:extLst>
              </p:cNvPr>
              <p:cNvSpPr/>
              <p:nvPr/>
            </p:nvSpPr>
            <p:spPr>
              <a:xfrm>
                <a:off x="636148" y="5636515"/>
                <a:ext cx="11174852" cy="825114"/>
              </a:xfrm>
              <a:prstGeom prst="flowChartAlternateProcess">
                <a:avLst/>
              </a:prstGeom>
              <a:gradFill>
                <a:gsLst>
                  <a:gs pos="0">
                    <a:schemeClr val="accent5">
                      <a:lumMod val="75000"/>
                    </a:schemeClr>
                  </a:gs>
                  <a:gs pos="14000">
                    <a:schemeClr val="accent1">
                      <a:lumMod val="40000"/>
                      <a:lumOff val="60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000" b="1" dirty="0">
                    <a:solidFill>
                      <a:srgbClr val="990000"/>
                    </a:solidFill>
                  </a:rPr>
                  <a:t>扎扎实实推公式，避免考试被坑 </a:t>
                </a:r>
                <a:r>
                  <a:rPr lang="en-US" altLang="zh-CN" sz="3000" b="1" dirty="0">
                    <a:solidFill>
                      <a:srgbClr val="990000"/>
                    </a:solidFill>
                  </a:rPr>
                  <a:t>(</a:t>
                </a:r>
                <a:r>
                  <a:rPr lang="zh-CN" altLang="en-US" sz="3000" b="1" dirty="0">
                    <a:solidFill>
                      <a:srgbClr val="990000"/>
                    </a:solidFill>
                  </a:rPr>
                  <a:t>比如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solidFill>
                          <a:srgbClr val="990000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3000" b="1" i="1" smtClean="0">
                        <a:solidFill>
                          <a:srgbClr val="99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1" i="1" smtClean="0">
                        <a:solidFill>
                          <a:srgbClr val="99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3000" b="1" i="1" smtClean="0">
                        <a:solidFill>
                          <a:srgbClr val="99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b="1" dirty="0">
                    <a:solidFill>
                      <a:srgbClr val="990000"/>
                    </a:solidFill>
                  </a:rPr>
                  <a:t> 不单调或没有反函数</a:t>
                </a:r>
                <a:r>
                  <a:rPr lang="en-US" altLang="zh-CN" sz="3000" b="1" dirty="0">
                    <a:solidFill>
                      <a:srgbClr val="990000"/>
                    </a:solidFill>
                  </a:rPr>
                  <a:t>)</a:t>
                </a:r>
                <a:endParaRPr lang="zh-CN" altLang="en-US" sz="3000" b="1" dirty="0">
                  <a:solidFill>
                    <a:srgbClr val="990000"/>
                  </a:solidFill>
                </a:endParaRPr>
              </a:p>
            </p:txBody>
          </p:sp>
        </mc:Choice>
        <mc:Fallback xmlns="">
          <p:sp>
            <p:nvSpPr>
              <p:cNvPr id="9" name="流程图: 可选过程 8">
                <a:extLst>
                  <a:ext uri="{FF2B5EF4-FFF2-40B4-BE49-F238E27FC236}">
                    <a16:creationId xmlns:a16="http://schemas.microsoft.com/office/drawing/2014/main" id="{C3241ED3-56EA-5CBB-83CF-790FC6B53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8" y="5636515"/>
                <a:ext cx="11174852" cy="825114"/>
              </a:xfrm>
              <a:prstGeom prst="flowChartAlternateProcess">
                <a:avLst/>
              </a:prstGeom>
              <a:blipFill>
                <a:blip r:embed="rId7"/>
                <a:stretch>
                  <a:fillRect l="-382" r="-436"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E75C0B20-DB51-0468-0CD0-EE90E3BF797E}"/>
              </a:ext>
            </a:extLst>
          </p:cNvPr>
          <p:cNvSpPr txBox="1"/>
          <p:nvPr/>
        </p:nvSpPr>
        <p:spPr>
          <a:xfrm>
            <a:off x="8486775" y="4418510"/>
            <a:ext cx="2339102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（自己推一遍）</a:t>
            </a:r>
          </a:p>
        </p:txBody>
      </p:sp>
    </p:spTree>
    <p:extLst>
      <p:ext uri="{BB962C8B-B14F-4D97-AF65-F5344CB8AC3E}">
        <p14:creationId xmlns:p14="http://schemas.microsoft.com/office/powerpoint/2010/main" val="3425219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708767" y="101154"/>
            <a:ext cx="108414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二维随机变量的联合分布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(Joint distribution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DD11F1-5442-6E79-42E8-16E36AA46E72}"/>
                  </a:ext>
                </a:extLst>
              </p:cNvPr>
              <p:cNvSpPr txBox="1"/>
              <p:nvPr/>
            </p:nvSpPr>
            <p:spPr>
              <a:xfrm>
                <a:off x="371764" y="1089913"/>
                <a:ext cx="115154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CN" altLang="en-US" sz="2400" i="0" dirty="0">
                    <a:latin typeface="+mj-lt"/>
                    <a:cs typeface="Arial" panose="020B0604020202020204" pitchFamily="34" charset="0"/>
                  </a:rPr>
                  <a:t>的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分布函数</a:t>
                </a:r>
                <a:r>
                  <a:rPr lang="zh-CN" altLang="en-US" sz="240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，</a:t>
                </a:r>
                <a:endParaRPr lang="en-US" altLang="zh-CN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BDD11F1-5442-6E79-42E8-16E36AA46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64" y="1089913"/>
                <a:ext cx="11515436" cy="830997"/>
              </a:xfrm>
              <a:prstGeom prst="rect">
                <a:avLst/>
              </a:prstGeom>
              <a:blipFill>
                <a:blip r:embed="rId2"/>
                <a:stretch>
                  <a:fillRect l="-847" t="-5147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5687BF4-9EE0-A6F0-ABAD-FAC64AFB7870}"/>
                  </a:ext>
                </a:extLst>
              </p:cNvPr>
              <p:cNvSpPr txBox="1"/>
              <p:nvPr/>
            </p:nvSpPr>
            <p:spPr>
              <a:xfrm>
                <a:off x="371764" y="1909618"/>
                <a:ext cx="11515436" cy="1259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若存在</a:t>
                </a:r>
                <a:r>
                  <a:rPr lang="zh-CN" altLang="en-US" sz="2400" b="0" i="0" dirty="0">
                    <a:latin typeface="+mj-lt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sz="24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，</a:t>
                </a:r>
                <a:r>
                  <a:rPr lang="zh-CN" altLang="en-US" sz="2400" i="0" dirty="0">
                    <a:latin typeface="+mj-lt"/>
                    <a:cs typeface="Arial" panose="020B0604020202020204" pitchFamily="34" charset="0"/>
                  </a:rPr>
                  <a:t>使得对任意实数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zh-CN" altLang="en-US" sz="2400" i="0" dirty="0">
                    <a:latin typeface="+mj-lt"/>
                    <a:cs typeface="Arial" panose="020B0604020202020204" pitchFamily="34" charset="0"/>
                  </a:rPr>
                  <a:t>有，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,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𝑑𝑦𝑑𝑥</m:t>
                              </m:r>
                            </m:e>
                          </m:nary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 (∀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5687BF4-9EE0-A6F0-ABAD-FAC64AFB7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64" y="1909618"/>
                <a:ext cx="11515436" cy="1259704"/>
              </a:xfrm>
              <a:prstGeom prst="rect">
                <a:avLst/>
              </a:prstGeom>
              <a:blipFill>
                <a:blip r:embed="rId3"/>
                <a:stretch>
                  <a:fillRect l="-847" t="-3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6F8006-0029-2B4C-C131-D29AF46B1C74}"/>
                  </a:ext>
                </a:extLst>
              </p:cNvPr>
              <p:cNvSpPr txBox="1"/>
              <p:nvPr/>
            </p:nvSpPr>
            <p:spPr>
              <a:xfrm>
                <a:off x="371764" y="3205018"/>
                <a:ext cx="115154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则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probability density function(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概率密度函数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or the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joint probability density (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联合概率密度函数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76F8006-0029-2B4C-C131-D29AF46B1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64" y="3205018"/>
                <a:ext cx="11515436" cy="830997"/>
              </a:xfrm>
              <a:prstGeom prst="rect">
                <a:avLst/>
              </a:prstGeom>
              <a:blipFill>
                <a:blip r:embed="rId4"/>
                <a:stretch>
                  <a:fillRect l="-847" t="-6618" r="-794" b="-16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5433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4095DB3-1454-CE38-854D-C76EFA055E12}"/>
              </a:ext>
            </a:extLst>
          </p:cNvPr>
          <p:cNvCxnSpPr>
            <a:cxnSpLocks/>
          </p:cNvCxnSpPr>
          <p:nvPr/>
        </p:nvCxnSpPr>
        <p:spPr>
          <a:xfrm>
            <a:off x="5726545" y="0"/>
            <a:ext cx="0" cy="6858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2E96F5F6-C252-A0E7-CF7D-F2D8C75D7E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00"/>
          <a:stretch/>
        </p:blipFill>
        <p:spPr>
          <a:xfrm>
            <a:off x="798680" y="1139008"/>
            <a:ext cx="3894486" cy="7656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E5EE0A-A269-21DF-2585-E5E8C4BB0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97" y="915104"/>
            <a:ext cx="2818181" cy="1004743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ED8E7B42-A903-1AD3-F10C-383EA385788B}"/>
              </a:ext>
            </a:extLst>
          </p:cNvPr>
          <p:cNvSpPr/>
          <p:nvPr/>
        </p:nvSpPr>
        <p:spPr>
          <a:xfrm>
            <a:off x="2013279" y="156414"/>
            <a:ext cx="1681019" cy="51658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一维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8A7F20B-4675-A7B8-8021-69215AA2DE50}"/>
              </a:ext>
            </a:extLst>
          </p:cNvPr>
          <p:cNvSpPr/>
          <p:nvPr/>
        </p:nvSpPr>
        <p:spPr>
          <a:xfrm>
            <a:off x="7951727" y="180010"/>
            <a:ext cx="1681019" cy="51658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98E1809-C67B-9D22-8665-5956B09BD618}"/>
                  </a:ext>
                </a:extLst>
              </p:cNvPr>
              <p:cNvSpPr txBox="1"/>
              <p:nvPr/>
            </p:nvSpPr>
            <p:spPr>
              <a:xfrm>
                <a:off x="1439466" y="2651967"/>
                <a:ext cx="2813014" cy="1289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𝑑𝑥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98E1809-C67B-9D22-8665-5956B09BD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66" y="2651967"/>
                <a:ext cx="2813014" cy="12893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DECE0D-FF96-31EF-9786-C849E2A7F503}"/>
                  </a:ext>
                </a:extLst>
              </p:cNvPr>
              <p:cNvSpPr txBox="1"/>
              <p:nvPr/>
            </p:nvSpPr>
            <p:spPr>
              <a:xfrm>
                <a:off x="6312015" y="2789728"/>
                <a:ext cx="3174652" cy="1287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y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DECE0D-FF96-31EF-9786-C849E2A7F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15" y="2789728"/>
                <a:ext cx="3174652" cy="12875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B978043-E60E-6097-2EDA-6A108206089E}"/>
                  </a:ext>
                </a:extLst>
              </p:cNvPr>
              <p:cNvSpPr txBox="1"/>
              <p:nvPr/>
            </p:nvSpPr>
            <p:spPr>
              <a:xfrm>
                <a:off x="6245922" y="1564747"/>
                <a:ext cx="4315027" cy="1289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𝑥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𝑦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,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𝑑𝑦𝑑𝑥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B978043-E60E-6097-2EDA-6A1082060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922" y="1564747"/>
                <a:ext cx="4315027" cy="12893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0FCA26C0-2C71-6855-FF5F-B1F63EAF3D36}"/>
              </a:ext>
            </a:extLst>
          </p:cNvPr>
          <p:cNvSpPr txBox="1"/>
          <p:nvPr/>
        </p:nvSpPr>
        <p:spPr>
          <a:xfrm>
            <a:off x="9621784" y="3380122"/>
            <a:ext cx="2672526" cy="877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边际密度函数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Marginal density function</a:t>
            </a:r>
            <a:endParaRPr lang="zh-CN" alt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3FD052E-50E1-083B-AD9A-33800D7625CD}"/>
              </a:ext>
            </a:extLst>
          </p:cNvPr>
          <p:cNvSpPr/>
          <p:nvPr/>
        </p:nvSpPr>
        <p:spPr>
          <a:xfrm>
            <a:off x="6176898" y="2904331"/>
            <a:ext cx="3549659" cy="137207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E44DEDC-1384-74CE-93C2-E1223144FB10}"/>
              </a:ext>
            </a:extLst>
          </p:cNvPr>
          <p:cNvGrpSpPr/>
          <p:nvPr/>
        </p:nvGrpSpPr>
        <p:grpSpPr>
          <a:xfrm>
            <a:off x="6399989" y="5413083"/>
            <a:ext cx="5650778" cy="1372070"/>
            <a:chOff x="6465456" y="4276401"/>
            <a:chExt cx="5650778" cy="13720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48230A7-85BC-5ACF-82D3-D11A65308AB5}"/>
                    </a:ext>
                  </a:extLst>
                </p:cNvPr>
                <p:cNvSpPr txBox="1"/>
                <p:nvPr/>
              </p:nvSpPr>
              <p:spPr>
                <a:xfrm>
                  <a:off x="6465456" y="4276401"/>
                  <a:ext cx="5650778" cy="12893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,∞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𝑥</m:t>
                            </m:r>
                          </m:sup>
                          <m:e>
                            <m:nary>
                              <m:nary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新魏" panose="02010800040101010101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新魏" panose="02010800040101010101" pitchFamily="2" charset="-122"/>
                                      </a:rPr>
                                      <m:t>𝑥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新魏" panose="02010800040101010101" pitchFamily="2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华文新魏" panose="02010800040101010101" pitchFamily="2" charset="-122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𝑑𝑦𝑑𝑥</m:t>
                                </m:r>
                              </m:e>
                            </m:nary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 </m:t>
                            </m:r>
                          </m:e>
                        </m:nary>
                      </m:oMath>
                    </m:oMathPara>
                  </a14:m>
                  <a:endParaRPr lang="en-US" altLang="zh-CN" sz="2400" i="1" dirty="0">
                    <a:latin typeface="Cambria Math" panose="02040503050406030204" pitchFamily="18" charset="0"/>
                    <a:ea typeface="华文新魏" panose="020108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48230A7-85BC-5ACF-82D3-D11A65308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5456" y="4276401"/>
                  <a:ext cx="5650778" cy="128939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EB05C280-3F88-7C30-E79E-6DF0C7DA82BF}"/>
                </a:ext>
              </a:extLst>
            </p:cNvPr>
            <p:cNvSpPr/>
            <p:nvPr/>
          </p:nvSpPr>
          <p:spPr>
            <a:xfrm>
              <a:off x="9726557" y="4409270"/>
              <a:ext cx="1807508" cy="123920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A0E0C14-893F-BAA9-862E-EF27DC39C1EA}"/>
              </a:ext>
            </a:extLst>
          </p:cNvPr>
          <p:cNvGrpSpPr/>
          <p:nvPr/>
        </p:nvGrpSpPr>
        <p:grpSpPr>
          <a:xfrm>
            <a:off x="6607221" y="4197155"/>
            <a:ext cx="3042436" cy="1289392"/>
            <a:chOff x="6899128" y="5583359"/>
            <a:chExt cx="3042436" cy="12893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52721FA-F8A6-7515-BAA7-BB3616A7257A}"/>
                    </a:ext>
                  </a:extLst>
                </p:cNvPr>
                <p:cNvSpPr txBox="1"/>
                <p:nvPr/>
              </p:nvSpPr>
              <p:spPr>
                <a:xfrm>
                  <a:off x="6899128" y="5583359"/>
                  <a:ext cx="3042436" cy="12893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=</m:t>
                        </m:r>
                        <m:nary>
                          <m:naryPr>
                            <m:ctrlPr>
                              <a:rPr lang="zh-CN" altLang="en-US" sz="24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𝑋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𝑑𝑥</m:t>
                        </m:r>
                      </m:oMath>
                    </m:oMathPara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52721FA-F8A6-7515-BAA7-BB3616A725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9128" y="5583359"/>
                  <a:ext cx="3042436" cy="128939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9232909-26F8-C04C-1E64-930D06624EE9}"/>
                </a:ext>
              </a:extLst>
            </p:cNvPr>
            <p:cNvSpPr/>
            <p:nvPr/>
          </p:nvSpPr>
          <p:spPr>
            <a:xfrm>
              <a:off x="8589464" y="5994472"/>
              <a:ext cx="814078" cy="7449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2C9204EB-D1C2-9A7A-8AA6-A4F01849B75A}"/>
              </a:ext>
            </a:extLst>
          </p:cNvPr>
          <p:cNvSpPr txBox="1"/>
          <p:nvPr/>
        </p:nvSpPr>
        <p:spPr>
          <a:xfrm>
            <a:off x="5865969" y="5293253"/>
            <a:ext cx="1415772" cy="58740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推导过程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15A1EA-5055-12D2-8F06-45680B7DDA41}"/>
              </a:ext>
            </a:extLst>
          </p:cNvPr>
          <p:cNvSpPr/>
          <p:nvPr/>
        </p:nvSpPr>
        <p:spPr>
          <a:xfrm>
            <a:off x="5818906" y="4519850"/>
            <a:ext cx="6324222" cy="2259522"/>
          </a:xfrm>
          <a:prstGeom prst="rect">
            <a:avLst/>
          </a:prstGeom>
          <a:solidFill>
            <a:schemeClr val="accent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319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2C6AD9-8A37-4977-2FA8-F9941C67B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77" y="470564"/>
            <a:ext cx="6020177" cy="212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69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B295B02-2D4A-E7F9-4848-55CC232564AD}"/>
              </a:ext>
            </a:extLst>
          </p:cNvPr>
          <p:cNvGrpSpPr/>
          <p:nvPr/>
        </p:nvGrpSpPr>
        <p:grpSpPr>
          <a:xfrm>
            <a:off x="1154562" y="888012"/>
            <a:ext cx="6901590" cy="2680118"/>
            <a:chOff x="341762" y="269176"/>
            <a:chExt cx="6901590" cy="268011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1D84DFF-DBB4-8463-4D4B-3DA3A5B59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762" y="269176"/>
              <a:ext cx="4895238" cy="371429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02B7C0B-2DB8-3A6A-C733-7730380B3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447" y="768342"/>
              <a:ext cx="6561905" cy="2180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055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151278" y="110723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独立随机变量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57">
            <a:extLst>
              <a:ext uri="{FF2B5EF4-FFF2-40B4-BE49-F238E27FC236}">
                <a16:creationId xmlns:a16="http://schemas.microsoft.com/office/drawing/2014/main" id="{F441AB1A-0014-CA2F-7C47-1780E835E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188480"/>
              </p:ext>
            </p:extLst>
          </p:nvPr>
        </p:nvGraphicFramePr>
        <p:xfrm>
          <a:off x="4195763" y="4122738"/>
          <a:ext cx="37703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3" imgW="31089600" imgH="4572000" progId="Equation.DSMT4">
                  <p:embed/>
                </p:oleObj>
              </mc:Choice>
              <mc:Fallback>
                <p:oleObj name="Equation" r:id="rId3" imgW="31089600" imgH="4572000" progId="Equation.DSMT4">
                  <p:embed/>
                  <p:pic>
                    <p:nvPicPr>
                      <p:cNvPr id="3" name="Object 57">
                        <a:extLst>
                          <a:ext uri="{FF2B5EF4-FFF2-40B4-BE49-F238E27FC236}">
                            <a16:creationId xmlns:a16="http://schemas.microsoft.com/office/drawing/2014/main" id="{F441AB1A-0014-CA2F-7C47-1780E835E3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4122738"/>
                        <a:ext cx="377031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1F84A66-B3C5-311E-032B-1BCEFFB9E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409342"/>
              </p:ext>
            </p:extLst>
          </p:nvPr>
        </p:nvGraphicFramePr>
        <p:xfrm>
          <a:off x="5033395" y="1407651"/>
          <a:ext cx="2987768" cy="49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26517600" imgH="4267200" progId="Equation.DSMT4">
                  <p:embed/>
                </p:oleObj>
              </mc:Choice>
              <mc:Fallback>
                <p:oleObj name="Equation" r:id="rId5" imgW="26517600" imgH="4267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1F84A66-B3C5-311E-032B-1BCEFFB9E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395" y="1407651"/>
                        <a:ext cx="2987768" cy="49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97BC8BAA-04A6-E275-9B08-45A18DD13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3778" y="1336208"/>
            <a:ext cx="2295238" cy="56190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A64AD1C-A459-282A-3531-95B619B0B3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537" y="1443409"/>
            <a:ext cx="463336" cy="347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82BAAFC-F91B-E65F-9EC0-F28E788E7549}"/>
                  </a:ext>
                </a:extLst>
              </p:cNvPr>
              <p:cNvSpPr txBox="1"/>
              <p:nvPr/>
            </p:nvSpPr>
            <p:spPr>
              <a:xfrm>
                <a:off x="2538776" y="2297459"/>
                <a:ext cx="2246192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分布表示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82BAAFC-F91B-E65F-9EC0-F28E788E7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776" y="2297459"/>
                <a:ext cx="2246192" cy="587405"/>
              </a:xfrm>
              <a:prstGeom prst="rect">
                <a:avLst/>
              </a:prstGeom>
              <a:blipFill>
                <a:blip r:embed="rId9"/>
                <a:stretch>
                  <a:fillRect l="-4065" r="-325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A723DDF7-B402-7233-1881-B1EE7F9EC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196605"/>
              </p:ext>
            </p:extLst>
          </p:nvPr>
        </p:nvGraphicFramePr>
        <p:xfrm>
          <a:off x="4784968" y="2401455"/>
          <a:ext cx="3005230" cy="520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10" imgW="22860000" imgH="4267200" progId="Equation.DSMT4">
                  <p:embed/>
                </p:oleObj>
              </mc:Choice>
              <mc:Fallback>
                <p:oleObj name="Equation" r:id="rId10" imgW="22860000" imgH="4267200" progId="Equation.DSMT4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A723DDF7-B402-7233-1881-B1EE7F9EC7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968" y="2401455"/>
                        <a:ext cx="3005230" cy="520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FFA1E543-9DF0-123A-161D-AD41907BF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4759" y="3255760"/>
            <a:ext cx="2295238" cy="56190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D5DD7E2-7696-0BF5-9774-E04BE487F8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5518" y="3362961"/>
            <a:ext cx="463336" cy="347502"/>
          </a:xfrm>
          <a:prstGeom prst="rect">
            <a:avLst/>
          </a:prstGeom>
        </p:spPr>
      </p:pic>
      <p:graphicFrame>
        <p:nvGraphicFramePr>
          <p:cNvPr id="21" name="Object 32">
            <a:extLst>
              <a:ext uri="{FF2B5EF4-FFF2-40B4-BE49-F238E27FC236}">
                <a16:creationId xmlns:a16="http://schemas.microsoft.com/office/drawing/2014/main" id="{D09EA110-1D1A-C5DF-0406-9BF030BFE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661126"/>
              </p:ext>
            </p:extLst>
          </p:nvPr>
        </p:nvGraphicFramePr>
        <p:xfrm>
          <a:off x="4151278" y="3326310"/>
          <a:ext cx="6168186" cy="480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12" imgW="50596800" imgH="4267200" progId="Equation.DSMT4">
                  <p:embed/>
                </p:oleObj>
              </mc:Choice>
              <mc:Fallback>
                <p:oleObj name="Equation" r:id="rId12" imgW="50596800" imgH="4267200" progId="Equation.DSMT4">
                  <p:embed/>
                  <p:pic>
                    <p:nvPicPr>
                      <p:cNvPr id="21" name="Object 32">
                        <a:extLst>
                          <a:ext uri="{FF2B5EF4-FFF2-40B4-BE49-F238E27FC236}">
                            <a16:creationId xmlns:a16="http://schemas.microsoft.com/office/drawing/2014/main" id="{D09EA110-1D1A-C5DF-0406-9BF030BFE8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278" y="3326310"/>
                        <a:ext cx="6168186" cy="480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4FA37FDD-456E-4690-1FB8-FE4AFE6CDD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3990" y="4178227"/>
            <a:ext cx="463336" cy="347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DD8F2F0-7C42-2C7E-7D22-0EB05D5DFE05}"/>
                  </a:ext>
                </a:extLst>
              </p:cNvPr>
              <p:cNvSpPr txBox="1"/>
              <p:nvPr/>
            </p:nvSpPr>
            <p:spPr>
              <a:xfrm>
                <a:off x="4117390" y="4804018"/>
                <a:ext cx="33302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𝒀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)∙</m:t>
                      </m:r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𝒀</m:t>
                          </m:r>
                        </m:sub>
                      </m:sSub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𝒚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DD8F2F0-7C42-2C7E-7D22-0EB05D5DF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390" y="4804018"/>
                <a:ext cx="3330207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96BD593E-DDD6-19B0-EBA3-4F276B3265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3990" y="5031969"/>
            <a:ext cx="463336" cy="3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37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592906" y="110723"/>
            <a:ext cx="23791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条件分布 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30AE2A6-75C6-789F-21AD-135480D07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55" y="980743"/>
            <a:ext cx="3444886" cy="692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4F4F10-9600-B9B3-921F-26CAFFA4306B}"/>
                  </a:ext>
                </a:extLst>
              </p:cNvPr>
              <p:cNvSpPr txBox="1"/>
              <p:nvPr/>
            </p:nvSpPr>
            <p:spPr>
              <a:xfrm>
                <a:off x="4592906" y="980743"/>
                <a:ext cx="5403402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发生的条件下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的概率分布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4F4F10-9600-B9B3-921F-26CAFFA43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906" y="980743"/>
                <a:ext cx="5403402" cy="587405"/>
              </a:xfrm>
              <a:prstGeom prst="rect">
                <a:avLst/>
              </a:prstGeom>
              <a:blipFill>
                <a:blip r:embed="rId3"/>
                <a:stretch>
                  <a:fillRect l="-1691" r="-90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D18AF353-F392-11B6-CCE6-E12F14EA3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880" y="1754389"/>
            <a:ext cx="3969135" cy="11889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ADC480-4297-2C4E-2DDA-523E6DE4E47B}"/>
              </a:ext>
            </a:extLst>
          </p:cNvPr>
          <p:cNvSpPr txBox="1"/>
          <p:nvPr/>
        </p:nvSpPr>
        <p:spPr>
          <a:xfrm>
            <a:off x="3065923" y="1947578"/>
            <a:ext cx="1620957" cy="669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定义式：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F1B0ED-42F1-45C2-39E6-AAA0CB781DB4}"/>
              </a:ext>
            </a:extLst>
          </p:cNvPr>
          <p:cNvSpPr txBox="1"/>
          <p:nvPr/>
        </p:nvSpPr>
        <p:spPr>
          <a:xfrm>
            <a:off x="676955" y="2892287"/>
            <a:ext cx="2339102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定义式的推导：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8CE990-9FF7-71BC-A866-FADE67151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549" y="3068396"/>
            <a:ext cx="5383305" cy="378960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0A691DE-5368-2FEF-00D9-40B1DA8B3420}"/>
              </a:ext>
            </a:extLst>
          </p:cNvPr>
          <p:cNvSpPr/>
          <p:nvPr/>
        </p:nvSpPr>
        <p:spPr>
          <a:xfrm>
            <a:off x="8028833" y="1047952"/>
            <a:ext cx="1874983" cy="5201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564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856586" y="110723"/>
            <a:ext cx="7851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联合分布随机函数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举个简单例子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B5EC8FF-8C81-162C-9883-27C732445D7B}"/>
                  </a:ext>
                </a:extLst>
              </p:cNvPr>
              <p:cNvSpPr txBox="1"/>
              <p:nvPr/>
            </p:nvSpPr>
            <p:spPr>
              <a:xfrm>
                <a:off x="166255" y="969819"/>
                <a:ext cx="8541249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例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：已知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y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求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的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分布函数和密度函数。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B5EC8FF-8C81-162C-9883-27C732445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5" y="969819"/>
                <a:ext cx="8541249" cy="587405"/>
              </a:xfrm>
              <a:prstGeom prst="rect">
                <a:avLst/>
              </a:prstGeom>
              <a:blipFill>
                <a:blip r:embed="rId3"/>
                <a:stretch>
                  <a:fillRect l="-1071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51">
            <a:extLst>
              <a:ext uri="{FF2B5EF4-FFF2-40B4-BE49-F238E27FC236}">
                <a16:creationId xmlns:a16="http://schemas.microsoft.com/office/drawing/2014/main" id="{54DA22B4-BDDA-435F-44B2-80F07DD81015}"/>
              </a:ext>
            </a:extLst>
          </p:cNvPr>
          <p:cNvSpPr>
            <a:spLocks/>
          </p:cNvSpPr>
          <p:nvPr/>
        </p:nvSpPr>
        <p:spPr bwMode="auto">
          <a:xfrm>
            <a:off x="7129897" y="3184288"/>
            <a:ext cx="2195512" cy="2228850"/>
          </a:xfrm>
          <a:custGeom>
            <a:avLst/>
            <a:gdLst>
              <a:gd name="T0" fmla="*/ 3 w 1383"/>
              <a:gd name="T1" fmla="*/ 0 h 1395"/>
              <a:gd name="T2" fmla="*/ 1383 w 1383"/>
              <a:gd name="T3" fmla="*/ 1395 h 1395"/>
              <a:gd name="T4" fmla="*/ 0 w 1383"/>
              <a:gd name="T5" fmla="*/ 1395 h 1395"/>
              <a:gd name="T6" fmla="*/ 3 w 1383"/>
              <a:gd name="T7" fmla="*/ 0 h 13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3" h="1395">
                <a:moveTo>
                  <a:pt x="3" y="0"/>
                </a:moveTo>
                <a:lnTo>
                  <a:pt x="1383" y="1395"/>
                </a:lnTo>
                <a:lnTo>
                  <a:pt x="0" y="1395"/>
                </a:lnTo>
                <a:lnTo>
                  <a:pt x="3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808CF2A5-527B-B0D4-DF64-29F43D05EC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9713251"/>
              </p:ext>
            </p:extLst>
          </p:nvPr>
        </p:nvGraphicFramePr>
        <p:xfrm>
          <a:off x="1572059" y="1766276"/>
          <a:ext cx="5732463" cy="52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4" imgW="2095200" imgH="228600" progId="Equation.DSMT4">
                  <p:embed/>
                </p:oleObj>
              </mc:Choice>
              <mc:Fallback>
                <p:oleObj name="Equation" r:id="rId4" imgW="2095200" imgH="228600" progId="Equation.DSMT4">
                  <p:embed/>
                  <p:pic>
                    <p:nvPicPr>
                      <p:cNvPr id="6" name="Object 13">
                        <a:extLst>
                          <a:ext uri="{FF2B5EF4-FFF2-40B4-BE49-F238E27FC236}">
                            <a16:creationId xmlns:a16="http://schemas.microsoft.com/office/drawing/2014/main" id="{808CF2A5-527B-B0D4-DF64-29F43D05ECFA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059" y="1766276"/>
                        <a:ext cx="5732463" cy="52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3">
            <a:extLst>
              <a:ext uri="{FF2B5EF4-FFF2-40B4-BE49-F238E27FC236}">
                <a16:creationId xmlns:a16="http://schemas.microsoft.com/office/drawing/2014/main" id="{DEDCE6D3-EF84-EFA0-B1A9-C7EE508473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594482"/>
              </p:ext>
            </p:extLst>
          </p:nvPr>
        </p:nvGraphicFramePr>
        <p:xfrm>
          <a:off x="2644834" y="2210029"/>
          <a:ext cx="3583548" cy="97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6" imgW="1218960" imgH="393480" progId="Equation.DSMT4">
                  <p:embed/>
                </p:oleObj>
              </mc:Choice>
              <mc:Fallback>
                <p:oleObj name="Equation" r:id="rId6" imgW="1218960" imgH="393480" progId="Equation.DSMT4">
                  <p:embed/>
                  <p:pic>
                    <p:nvPicPr>
                      <p:cNvPr id="7" name="Object 43">
                        <a:extLst>
                          <a:ext uri="{FF2B5EF4-FFF2-40B4-BE49-F238E27FC236}">
                            <a16:creationId xmlns:a16="http://schemas.microsoft.com/office/drawing/2014/main" id="{DEDCE6D3-EF84-EFA0-B1A9-C7EE50847393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4834" y="2210029"/>
                        <a:ext cx="3583548" cy="974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9">
            <a:extLst>
              <a:ext uri="{FF2B5EF4-FFF2-40B4-BE49-F238E27FC236}">
                <a16:creationId xmlns:a16="http://schemas.microsoft.com/office/drawing/2014/main" id="{D9C66C1B-E0CC-9A18-1606-053112B31F53}"/>
              </a:ext>
            </a:extLst>
          </p:cNvPr>
          <p:cNvGrpSpPr>
            <a:grpSpLocks/>
          </p:cNvGrpSpPr>
          <p:nvPr/>
        </p:nvGrpSpPr>
        <p:grpSpPr bwMode="auto">
          <a:xfrm>
            <a:off x="7055284" y="3060463"/>
            <a:ext cx="2859088" cy="2482850"/>
            <a:chOff x="3796" y="1731"/>
            <a:chExt cx="1801" cy="1564"/>
          </a:xfrm>
        </p:grpSpPr>
        <p:sp>
          <p:nvSpPr>
            <p:cNvPr id="9" name="Line 44">
              <a:extLst>
                <a:ext uri="{FF2B5EF4-FFF2-40B4-BE49-F238E27FC236}">
                  <a16:creationId xmlns:a16="http://schemas.microsoft.com/office/drawing/2014/main" id="{5FB53AD2-6690-2436-043C-E971DC569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" y="3112"/>
              <a:ext cx="1600" cy="0"/>
            </a:xfrm>
            <a:prstGeom prst="lin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45">
              <a:extLst>
                <a:ext uri="{FF2B5EF4-FFF2-40B4-BE49-F238E27FC236}">
                  <a16:creationId xmlns:a16="http://schemas.microsoft.com/office/drawing/2014/main" id="{8BBADECA-0D71-425E-41F8-311F700BB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1" y="1771"/>
              <a:ext cx="0" cy="1446"/>
            </a:xfrm>
            <a:prstGeom prst="lin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1" name="Object 46">
              <a:extLst>
                <a:ext uri="{FF2B5EF4-FFF2-40B4-BE49-F238E27FC236}">
                  <a16:creationId xmlns:a16="http://schemas.microsoft.com/office/drawing/2014/main" id="{40708F99-6E87-D2CC-5BEC-59BFCB4615B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01596856"/>
                </p:ext>
              </p:extLst>
            </p:nvPr>
          </p:nvGraphicFramePr>
          <p:xfrm>
            <a:off x="3796" y="3122"/>
            <a:ext cx="19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Equation" r:id="rId8" imgW="114120" imgH="126720" progId="Equation.DSMT4">
                    <p:embed/>
                  </p:oleObj>
                </mc:Choice>
                <mc:Fallback>
                  <p:oleObj name="Equation" r:id="rId8" imgW="114120" imgH="126720" progId="Equation.DSMT4">
                    <p:embed/>
                    <p:pic>
                      <p:nvPicPr>
                        <p:cNvPr id="11" name="Object 46">
                          <a:extLst>
                            <a:ext uri="{FF2B5EF4-FFF2-40B4-BE49-F238E27FC236}">
                              <a16:creationId xmlns:a16="http://schemas.microsoft.com/office/drawing/2014/main" id="{40708F99-6E87-D2CC-5BEC-59BFCB4615BF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6" y="3122"/>
                          <a:ext cx="19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47">
              <a:extLst>
                <a:ext uri="{FF2B5EF4-FFF2-40B4-BE49-F238E27FC236}">
                  <a16:creationId xmlns:a16="http://schemas.microsoft.com/office/drawing/2014/main" id="{6CEC0DE9-896C-8B78-8216-6943EDB0288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01452205"/>
                </p:ext>
              </p:extLst>
            </p:nvPr>
          </p:nvGraphicFramePr>
          <p:xfrm>
            <a:off x="5375" y="2938"/>
            <a:ext cx="22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10" imgW="101520" imgH="101520" progId="Equation.DSMT4">
                    <p:embed/>
                  </p:oleObj>
                </mc:Choice>
                <mc:Fallback>
                  <p:oleObj name="Equation" r:id="rId10" imgW="101520" imgH="101520" progId="Equation.DSMT4">
                    <p:embed/>
                    <p:pic>
                      <p:nvPicPr>
                        <p:cNvPr id="12" name="Object 47">
                          <a:extLst>
                            <a:ext uri="{FF2B5EF4-FFF2-40B4-BE49-F238E27FC236}">
                              <a16:creationId xmlns:a16="http://schemas.microsoft.com/office/drawing/2014/main" id="{6CEC0DE9-896C-8B78-8216-6943EDB0288B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2938"/>
                          <a:ext cx="22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48">
              <a:extLst>
                <a:ext uri="{FF2B5EF4-FFF2-40B4-BE49-F238E27FC236}">
                  <a16:creationId xmlns:a16="http://schemas.microsoft.com/office/drawing/2014/main" id="{B8708EE1-83AF-742E-7DDA-1D995E6F9A0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08941759"/>
                </p:ext>
              </p:extLst>
            </p:nvPr>
          </p:nvGraphicFramePr>
          <p:xfrm>
            <a:off x="3969" y="1731"/>
            <a:ext cx="27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Equation" r:id="rId12" imgW="101520" imgH="114120" progId="Equation.DSMT4">
                    <p:embed/>
                  </p:oleObj>
                </mc:Choice>
                <mc:Fallback>
                  <p:oleObj name="Equation" r:id="rId12" imgW="101520" imgH="114120" progId="Equation.DSMT4">
                    <p:embed/>
                    <p:pic>
                      <p:nvPicPr>
                        <p:cNvPr id="13" name="Object 48">
                          <a:extLst>
                            <a:ext uri="{FF2B5EF4-FFF2-40B4-BE49-F238E27FC236}">
                              <a16:creationId xmlns:a16="http://schemas.microsoft.com/office/drawing/2014/main" id="{B8708EE1-83AF-742E-7DDA-1D995E6F9A0A}"/>
                            </a:ext>
                          </a:extLst>
                        </p:cNvPr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731"/>
                          <a:ext cx="27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Line 50">
            <a:extLst>
              <a:ext uri="{FF2B5EF4-FFF2-40B4-BE49-F238E27FC236}">
                <a16:creationId xmlns:a16="http://schemas.microsoft.com/office/drawing/2014/main" id="{99068C70-6B75-4AC1-478A-179617824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1484" y="3182700"/>
            <a:ext cx="2203450" cy="22209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Object 52">
            <a:extLst>
              <a:ext uri="{FF2B5EF4-FFF2-40B4-BE49-F238E27FC236}">
                <a16:creationId xmlns:a16="http://schemas.microsoft.com/office/drawing/2014/main" id="{52F5036B-282F-8CDA-F423-5FDB0D3BD8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799185"/>
              </p:ext>
            </p:extLst>
          </p:nvPr>
        </p:nvGraphicFramePr>
        <p:xfrm>
          <a:off x="7836333" y="3620850"/>
          <a:ext cx="1489075" cy="39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4" imgW="482400" imgH="139680" progId="Equation.DSMT4">
                  <p:embed/>
                </p:oleObj>
              </mc:Choice>
              <mc:Fallback>
                <p:oleObj name="Equation" r:id="rId14" imgW="482400" imgH="139680" progId="Equation.DSMT4">
                  <p:embed/>
                  <p:pic>
                    <p:nvPicPr>
                      <p:cNvPr id="15" name="Object 52">
                        <a:extLst>
                          <a:ext uri="{FF2B5EF4-FFF2-40B4-BE49-F238E27FC236}">
                            <a16:creationId xmlns:a16="http://schemas.microsoft.com/office/drawing/2014/main" id="{52F5036B-282F-8CDA-F423-5FDB0D3BD8A6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6333" y="3620850"/>
                        <a:ext cx="1489075" cy="390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57">
            <a:extLst>
              <a:ext uri="{FF2B5EF4-FFF2-40B4-BE49-F238E27FC236}">
                <a16:creationId xmlns:a16="http://schemas.microsoft.com/office/drawing/2014/main" id="{1EFE6808-EA26-F94F-7F0B-4F1019FA8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5922" y="4406663"/>
            <a:ext cx="0" cy="8509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Object 59">
            <a:extLst>
              <a:ext uri="{FF2B5EF4-FFF2-40B4-BE49-F238E27FC236}">
                <a16:creationId xmlns:a16="http://schemas.microsoft.com/office/drawing/2014/main" id="{F4E97D0D-AF99-A887-FE1F-5492AC595F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397284"/>
              </p:ext>
            </p:extLst>
          </p:nvPr>
        </p:nvGraphicFramePr>
        <p:xfrm>
          <a:off x="8150659" y="5213113"/>
          <a:ext cx="420688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6" imgW="279360" imgH="139680" progId="Equation.DSMT4">
                  <p:embed/>
                </p:oleObj>
              </mc:Choice>
              <mc:Fallback>
                <p:oleObj name="Equation" r:id="rId16" imgW="279360" imgH="139680" progId="Equation.DSMT4">
                  <p:embed/>
                  <p:pic>
                    <p:nvPicPr>
                      <p:cNvPr id="17" name="Object 59">
                        <a:extLst>
                          <a:ext uri="{FF2B5EF4-FFF2-40B4-BE49-F238E27FC236}">
                            <a16:creationId xmlns:a16="http://schemas.microsoft.com/office/drawing/2014/main" id="{F4E97D0D-AF99-A887-FE1F-5492AC595F21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0659" y="5213113"/>
                        <a:ext cx="420688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0">
            <a:extLst>
              <a:ext uri="{FF2B5EF4-FFF2-40B4-BE49-F238E27FC236}">
                <a16:creationId xmlns:a16="http://schemas.microsoft.com/office/drawing/2014/main" id="{106F53A9-1A0C-E7A1-3933-E5D4AF6A2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060662"/>
              </p:ext>
            </p:extLst>
          </p:nvPr>
        </p:nvGraphicFramePr>
        <p:xfrm>
          <a:off x="7120372" y="4359038"/>
          <a:ext cx="1746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8" imgW="114120" imgH="139680" progId="Equation.DSMT4">
                  <p:embed/>
                </p:oleObj>
              </mc:Choice>
              <mc:Fallback>
                <p:oleObj name="Equation" r:id="rId18" imgW="114120" imgH="139680" progId="Equation.DSMT4">
                  <p:embed/>
                  <p:pic>
                    <p:nvPicPr>
                      <p:cNvPr id="18" name="Object 60">
                        <a:extLst>
                          <a:ext uri="{FF2B5EF4-FFF2-40B4-BE49-F238E27FC236}">
                            <a16:creationId xmlns:a16="http://schemas.microsoft.com/office/drawing/2014/main" id="{106F53A9-1A0C-E7A1-3933-E5D4AF6A2640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0372" y="4359038"/>
                        <a:ext cx="1746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64">
            <a:extLst>
              <a:ext uri="{FF2B5EF4-FFF2-40B4-BE49-F238E27FC236}">
                <a16:creationId xmlns:a16="http://schemas.microsoft.com/office/drawing/2014/main" id="{CC76030A-07CF-AC07-855D-95CFCFA44AC9}"/>
              </a:ext>
            </a:extLst>
          </p:cNvPr>
          <p:cNvGrpSpPr>
            <a:grpSpLocks/>
          </p:cNvGrpSpPr>
          <p:nvPr/>
        </p:nvGrpSpPr>
        <p:grpSpPr bwMode="auto">
          <a:xfrm>
            <a:off x="7045759" y="4405075"/>
            <a:ext cx="1527175" cy="1588"/>
            <a:chOff x="3958" y="2730"/>
            <a:chExt cx="962" cy="1"/>
          </a:xfrm>
        </p:grpSpPr>
        <p:sp>
          <p:nvSpPr>
            <p:cNvPr id="20" name="Line 53">
              <a:extLst>
                <a:ext uri="{FF2B5EF4-FFF2-40B4-BE49-F238E27FC236}">
                  <a16:creationId xmlns:a16="http://schemas.microsoft.com/office/drawing/2014/main" id="{CDC0F556-7C35-672E-D659-40912A529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2731"/>
              <a:ext cx="5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0DEDD7C9-319C-C6AB-6252-8A6A5BF83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730"/>
              <a:ext cx="962" cy="1"/>
            </a:xfrm>
            <a:custGeom>
              <a:avLst/>
              <a:gdLst>
                <a:gd name="T0" fmla="*/ 0 w 962"/>
                <a:gd name="T1" fmla="*/ 0 h 1"/>
                <a:gd name="T2" fmla="*/ 962 w 962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62" h="1">
                  <a:moveTo>
                    <a:pt x="0" y="0"/>
                  </a:moveTo>
                  <a:lnTo>
                    <a:pt x="962" y="1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62">
              <a:extLst>
                <a:ext uri="{FF2B5EF4-FFF2-40B4-BE49-F238E27FC236}">
                  <a16:creationId xmlns:a16="http://schemas.microsoft.com/office/drawing/2014/main" id="{2E595620-2D76-1637-E5BE-7E8EDC731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5" y="2730"/>
              <a:ext cx="5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63">
              <a:extLst>
                <a:ext uri="{FF2B5EF4-FFF2-40B4-BE49-F238E27FC236}">
                  <a16:creationId xmlns:a16="http://schemas.microsoft.com/office/drawing/2014/main" id="{ADECC2B3-A73C-BD6B-4C85-8BAFFAD10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9" y="2730"/>
              <a:ext cx="5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24" name="Object 65">
            <a:extLst>
              <a:ext uri="{FF2B5EF4-FFF2-40B4-BE49-F238E27FC236}">
                <a16:creationId xmlns:a16="http://schemas.microsoft.com/office/drawing/2014/main" id="{0197031E-3F5A-C30C-68C6-BDE4DF5915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9452770"/>
              </p:ext>
            </p:extLst>
          </p:nvPr>
        </p:nvGraphicFramePr>
        <p:xfrm>
          <a:off x="2628233" y="3099575"/>
          <a:ext cx="1551656" cy="789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20" imgW="444240" imgH="241200" progId="Equation.DSMT4">
                  <p:embed/>
                </p:oleObj>
              </mc:Choice>
              <mc:Fallback>
                <p:oleObj name="Equation" r:id="rId20" imgW="444240" imgH="241200" progId="Equation.DSMT4">
                  <p:embed/>
                  <p:pic>
                    <p:nvPicPr>
                      <p:cNvPr id="24" name="Object 65">
                        <a:extLst>
                          <a:ext uri="{FF2B5EF4-FFF2-40B4-BE49-F238E27FC236}">
                            <a16:creationId xmlns:a16="http://schemas.microsoft.com/office/drawing/2014/main" id="{0197031E-3F5A-C30C-68C6-BDE4DF5915E1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233" y="3099575"/>
                        <a:ext cx="1551656" cy="789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6">
            <a:extLst>
              <a:ext uri="{FF2B5EF4-FFF2-40B4-BE49-F238E27FC236}">
                <a16:creationId xmlns:a16="http://schemas.microsoft.com/office/drawing/2014/main" id="{E8B58D39-AAF2-6F27-93D8-2FD4DA401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812908"/>
              </p:ext>
            </p:extLst>
          </p:nvPr>
        </p:nvGraphicFramePr>
        <p:xfrm>
          <a:off x="4046576" y="3120787"/>
          <a:ext cx="2460876" cy="699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22" imgW="787320" imgH="241200" progId="Equation.DSMT4">
                  <p:embed/>
                </p:oleObj>
              </mc:Choice>
              <mc:Fallback>
                <p:oleObj name="Equation" r:id="rId22" imgW="787320" imgH="241200" progId="Equation.DSMT4">
                  <p:embed/>
                  <p:pic>
                    <p:nvPicPr>
                      <p:cNvPr id="25" name="Object 66">
                        <a:extLst>
                          <a:ext uri="{FF2B5EF4-FFF2-40B4-BE49-F238E27FC236}">
                            <a16:creationId xmlns:a16="http://schemas.microsoft.com/office/drawing/2014/main" id="{E8B58D39-AAF2-6F27-93D8-2FD4DA401B47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76" y="3120787"/>
                        <a:ext cx="2460876" cy="699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8">
            <a:extLst>
              <a:ext uri="{FF2B5EF4-FFF2-40B4-BE49-F238E27FC236}">
                <a16:creationId xmlns:a16="http://schemas.microsoft.com/office/drawing/2014/main" id="{AB4E8245-8A2C-A404-286F-02C656E991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475524"/>
              </p:ext>
            </p:extLst>
          </p:nvPr>
        </p:nvGraphicFramePr>
        <p:xfrm>
          <a:off x="3165909" y="3849697"/>
          <a:ext cx="3513735" cy="72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24" imgW="1218960" imgH="241200" progId="Equation.DSMT4">
                  <p:embed/>
                </p:oleObj>
              </mc:Choice>
              <mc:Fallback>
                <p:oleObj name="Equation" r:id="rId24" imgW="1218960" imgH="241200" progId="Equation.DSMT4">
                  <p:embed/>
                  <p:pic>
                    <p:nvPicPr>
                      <p:cNvPr id="26" name="Object 68">
                        <a:extLst>
                          <a:ext uri="{FF2B5EF4-FFF2-40B4-BE49-F238E27FC236}">
                            <a16:creationId xmlns:a16="http://schemas.microsoft.com/office/drawing/2014/main" id="{AB4E8245-8A2C-A404-286F-02C656E99128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909" y="3849697"/>
                        <a:ext cx="3513735" cy="7276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9">
            <a:extLst>
              <a:ext uri="{FF2B5EF4-FFF2-40B4-BE49-F238E27FC236}">
                <a16:creationId xmlns:a16="http://schemas.microsoft.com/office/drawing/2014/main" id="{25ACEC33-6CAD-C94A-3F7E-5C9656382F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92981"/>
              </p:ext>
            </p:extLst>
          </p:nvPr>
        </p:nvGraphicFramePr>
        <p:xfrm>
          <a:off x="2526147" y="4689238"/>
          <a:ext cx="4133705" cy="71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26" imgW="1384200" imgH="241200" progId="Equation.DSMT4">
                  <p:embed/>
                </p:oleObj>
              </mc:Choice>
              <mc:Fallback>
                <p:oleObj name="Equation" r:id="rId26" imgW="1384200" imgH="241200" progId="Equation.DSMT4">
                  <p:embed/>
                  <p:pic>
                    <p:nvPicPr>
                      <p:cNvPr id="27" name="Object 69">
                        <a:extLst>
                          <a:ext uri="{FF2B5EF4-FFF2-40B4-BE49-F238E27FC236}">
                            <a16:creationId xmlns:a16="http://schemas.microsoft.com/office/drawing/2014/main" id="{25ACEC33-6CAD-C94A-3F7E-5C9656382F05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6147" y="4689238"/>
                        <a:ext cx="4133705" cy="714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0">
            <a:extLst>
              <a:ext uri="{FF2B5EF4-FFF2-40B4-BE49-F238E27FC236}">
                <a16:creationId xmlns:a16="http://schemas.microsoft.com/office/drawing/2014/main" id="{0EB5783E-298A-810F-E631-593FCA04C5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7330879"/>
              </p:ext>
            </p:extLst>
          </p:nvPr>
        </p:nvGraphicFramePr>
        <p:xfrm>
          <a:off x="1649847" y="5306774"/>
          <a:ext cx="4459782" cy="716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8" imgW="1511280" imgH="241200" progId="Equation.DSMT4">
                  <p:embed/>
                </p:oleObj>
              </mc:Choice>
              <mc:Fallback>
                <p:oleObj name="Equation" r:id="rId28" imgW="1511280" imgH="241200" progId="Equation.DSMT4">
                  <p:embed/>
                  <p:pic>
                    <p:nvPicPr>
                      <p:cNvPr id="28" name="Object 70">
                        <a:extLst>
                          <a:ext uri="{FF2B5EF4-FFF2-40B4-BE49-F238E27FC236}">
                            <a16:creationId xmlns:a16="http://schemas.microsoft.com/office/drawing/2014/main" id="{0EB5783E-298A-810F-E631-593FCA04C55E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847" y="5306774"/>
                        <a:ext cx="4459782" cy="716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1">
            <a:extLst>
              <a:ext uri="{FF2B5EF4-FFF2-40B4-BE49-F238E27FC236}">
                <a16:creationId xmlns:a16="http://schemas.microsoft.com/office/drawing/2014/main" id="{463B7785-48E9-4EC1-89F3-41490CC637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1132195"/>
              </p:ext>
            </p:extLst>
          </p:nvPr>
        </p:nvGraphicFramePr>
        <p:xfrm>
          <a:off x="3138835" y="6034242"/>
          <a:ext cx="3148924" cy="713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30" imgW="1015920" imgH="241200" progId="Equation.DSMT4">
                  <p:embed/>
                </p:oleObj>
              </mc:Choice>
              <mc:Fallback>
                <p:oleObj name="Equation" r:id="rId30" imgW="1015920" imgH="241200" progId="Equation.DSMT4">
                  <p:embed/>
                  <p:pic>
                    <p:nvPicPr>
                      <p:cNvPr id="29" name="Object 71">
                        <a:extLst>
                          <a:ext uri="{FF2B5EF4-FFF2-40B4-BE49-F238E27FC236}">
                            <a16:creationId xmlns:a16="http://schemas.microsoft.com/office/drawing/2014/main" id="{463B7785-48E9-4EC1-89F3-41490CC637A5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835" y="6034242"/>
                        <a:ext cx="3148924" cy="713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EB69385-E883-7D1F-12B7-03814B2993B2}"/>
                  </a:ext>
                </a:extLst>
              </p:cNvPr>
              <p:cNvSpPr txBox="1"/>
              <p:nvPr/>
            </p:nvSpPr>
            <p:spPr>
              <a:xfrm>
                <a:off x="1597496" y="4021765"/>
                <a:ext cx="1469954" cy="487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zh-CN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𝑳𝒆𝒕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bar>
                        </m:e>
                      </m:ba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EB69385-E883-7D1F-12B7-03814B299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96" y="4021765"/>
                <a:ext cx="1469954" cy="487569"/>
              </a:xfrm>
              <a:prstGeom prst="rect">
                <a:avLst/>
              </a:prstGeom>
              <a:blipFill>
                <a:blip r:embed="rId32"/>
                <a:stretch>
                  <a:fillRect l="-2490" r="-3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343C1258-B058-30BE-83E3-F55D08017324}"/>
              </a:ext>
            </a:extLst>
          </p:cNvPr>
          <p:cNvSpPr txBox="1"/>
          <p:nvPr/>
        </p:nvSpPr>
        <p:spPr>
          <a:xfrm>
            <a:off x="9738159" y="1160984"/>
            <a:ext cx="2347911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复杂一点的例子见后面的“投针实验”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46A2691-2D4B-4D1B-B60B-18BF4408BA0A}"/>
              </a:ext>
            </a:extLst>
          </p:cNvPr>
          <p:cNvSpPr/>
          <p:nvPr/>
        </p:nvSpPr>
        <p:spPr>
          <a:xfrm>
            <a:off x="9677833" y="1201624"/>
            <a:ext cx="2347911" cy="92531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05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2626025" y="110723"/>
            <a:ext cx="6312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投针实验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联合分布的应用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78319E5-F1B9-4C16-EBB7-5BADD8616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51" t="1182" r="1251"/>
          <a:stretch/>
        </p:blipFill>
        <p:spPr>
          <a:xfrm>
            <a:off x="110978" y="1025236"/>
            <a:ext cx="7382651" cy="4988028"/>
          </a:xfrm>
          <a:prstGeom prst="rect">
            <a:avLst/>
          </a:prstGeom>
          <a:ln w="19050"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0899BB2-268A-B7FF-FD13-4429936D8CC0}"/>
              </a:ext>
            </a:extLst>
          </p:cNvPr>
          <p:cNvSpPr txBox="1"/>
          <p:nvPr/>
        </p:nvSpPr>
        <p:spPr>
          <a:xfrm>
            <a:off x="7702734" y="1106516"/>
            <a:ext cx="3877985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考虑两条平行线之间的部分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2AE2FB-A009-80E5-8CA9-D72C82E0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734" y="1847044"/>
            <a:ext cx="4062546" cy="760443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4BA21F4-F917-AA20-31E2-BA751D72AC01}"/>
              </a:ext>
            </a:extLst>
          </p:cNvPr>
          <p:cNvCxnSpPr/>
          <p:nvPr/>
        </p:nvCxnSpPr>
        <p:spPr>
          <a:xfrm>
            <a:off x="7406640" y="1025236"/>
            <a:ext cx="0" cy="59038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3B9F51-52D1-B00F-A57E-323684927E26}"/>
                  </a:ext>
                </a:extLst>
              </p:cNvPr>
              <p:cNvSpPr txBox="1"/>
              <p:nvPr/>
            </p:nvSpPr>
            <p:spPr>
              <a:xfrm>
                <a:off x="7702734" y="2835775"/>
                <a:ext cx="4350293" cy="1141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为针尾的高度，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为针的方向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与平行线的夹角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3B9F51-52D1-B00F-A57E-323684927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34" y="2835775"/>
                <a:ext cx="4350293" cy="1141403"/>
              </a:xfrm>
              <a:prstGeom prst="rect">
                <a:avLst/>
              </a:prstGeom>
              <a:blipFill>
                <a:blip r:embed="rId4"/>
                <a:stretch>
                  <a:fillRect l="-2244" r="-1403" b="-1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383173-1AC0-1A6B-DC29-044D00DE582D}"/>
                  </a:ext>
                </a:extLst>
              </p:cNvPr>
              <p:cNvSpPr txBox="1"/>
              <p:nvPr/>
            </p:nvSpPr>
            <p:spPr>
              <a:xfrm>
                <a:off x="4216400" y="3165604"/>
                <a:ext cx="4517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383173-1AC0-1A6B-DC29-044D00DE5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00" y="3165604"/>
                <a:ext cx="45179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弧形 13">
            <a:extLst>
              <a:ext uri="{FF2B5EF4-FFF2-40B4-BE49-F238E27FC236}">
                <a16:creationId xmlns:a16="http://schemas.microsoft.com/office/drawing/2014/main" id="{35AD0D9B-1A14-87F6-B60C-1230889DA13F}"/>
              </a:ext>
            </a:extLst>
          </p:cNvPr>
          <p:cNvSpPr/>
          <p:nvPr/>
        </p:nvSpPr>
        <p:spPr>
          <a:xfrm>
            <a:off x="4086547" y="3529203"/>
            <a:ext cx="259706" cy="463231"/>
          </a:xfrm>
          <a:prstGeom prst="arc">
            <a:avLst>
              <a:gd name="adj1" fmla="val 16200000"/>
              <a:gd name="adj2" fmla="val 1903743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A6A16D-9CDE-1F8F-59EE-F8C9DDA013B2}"/>
                  </a:ext>
                </a:extLst>
              </p:cNvPr>
              <p:cNvSpPr txBox="1"/>
              <p:nvPr/>
            </p:nvSpPr>
            <p:spPr>
              <a:xfrm>
                <a:off x="1940487" y="2972647"/>
                <a:ext cx="4464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A6A16D-9CDE-1F8F-59EE-F8C9DDA01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487" y="2972647"/>
                <a:ext cx="44640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B3DABD8-7953-8182-33DB-53922FD9927C}"/>
              </a:ext>
            </a:extLst>
          </p:cNvPr>
          <p:cNvCxnSpPr/>
          <p:nvPr/>
        </p:nvCxnSpPr>
        <p:spPr>
          <a:xfrm>
            <a:off x="1964267" y="2891367"/>
            <a:ext cx="6307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7ECEB72-AB89-62D5-F1EB-B8CF73F849CE}"/>
              </a:ext>
            </a:extLst>
          </p:cNvPr>
          <p:cNvCxnSpPr/>
          <p:nvPr/>
        </p:nvCxnSpPr>
        <p:spPr>
          <a:xfrm>
            <a:off x="2302937" y="2908300"/>
            <a:ext cx="0" cy="720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1DE2CE5-6194-216A-C309-68C5FE781359}"/>
                  </a:ext>
                </a:extLst>
              </p:cNvPr>
              <p:cNvSpPr txBox="1"/>
              <p:nvPr/>
            </p:nvSpPr>
            <p:spPr>
              <a:xfrm>
                <a:off x="7702734" y="4205466"/>
                <a:ext cx="3334567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1DE2CE5-6194-216A-C309-68C5FE781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34" y="4205466"/>
                <a:ext cx="3334567" cy="587405"/>
              </a:xfrm>
              <a:prstGeom prst="rect">
                <a:avLst/>
              </a:prstGeom>
              <a:blipFill>
                <a:blip r:embed="rId7"/>
                <a:stretch>
                  <a:fillRect l="-2925" r="-54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8A57ABC-737F-4F0F-9E60-34D1F617C160}"/>
                  </a:ext>
                </a:extLst>
              </p:cNvPr>
              <p:cNvSpPr txBox="1"/>
              <p:nvPr/>
            </p:nvSpPr>
            <p:spPr>
              <a:xfrm>
                <a:off x="7702734" y="4684892"/>
                <a:ext cx="3728265" cy="821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记针头</a:t>
                </a:r>
                <a:r>
                  <a:rPr lang="zh-CN" altLang="en-US" sz="2400" b="0" i="0" dirty="0">
                    <a:latin typeface="+mj-lt"/>
                    <a:cs typeface="Arial" panose="020B0604020202020204" pitchFamily="34" charset="0"/>
                  </a:rPr>
                  <a:t>高度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</m:func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8A57ABC-737F-4F0F-9E60-34D1F617C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34" y="4684892"/>
                <a:ext cx="3728265" cy="821059"/>
              </a:xfrm>
              <a:prstGeom prst="rect">
                <a:avLst/>
              </a:prstGeom>
              <a:blipFill>
                <a:blip r:embed="rId8"/>
                <a:stretch>
                  <a:fillRect l="-2619" b="-8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3D47490-E41E-7321-4209-F3F13C771CCE}"/>
                  </a:ext>
                </a:extLst>
              </p:cNvPr>
              <p:cNvSpPr txBox="1"/>
              <p:nvPr/>
            </p:nvSpPr>
            <p:spPr>
              <a:xfrm>
                <a:off x="9153707" y="5651316"/>
                <a:ext cx="2224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≤0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𝑍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3D47490-E41E-7321-4209-F3F13C77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707" y="5651316"/>
                <a:ext cx="222407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图片 27">
            <a:extLst>
              <a:ext uri="{FF2B5EF4-FFF2-40B4-BE49-F238E27FC236}">
                <a16:creationId xmlns:a16="http://schemas.microsoft.com/office/drawing/2014/main" id="{8BDA1FEE-DD8C-2712-422F-104D962399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3496" y="5876932"/>
            <a:ext cx="463336" cy="34750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C739114C-466D-4479-1D0A-35A3C7D93CC2}"/>
              </a:ext>
            </a:extLst>
          </p:cNvPr>
          <p:cNvSpPr txBox="1"/>
          <p:nvPr/>
        </p:nvSpPr>
        <p:spPr>
          <a:xfrm>
            <a:off x="7923558" y="5680779"/>
            <a:ext cx="800219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相交</a:t>
            </a:r>
          </a:p>
        </p:txBody>
      </p:sp>
    </p:spTree>
    <p:extLst>
      <p:ext uri="{BB962C8B-B14F-4D97-AF65-F5344CB8AC3E}">
        <p14:creationId xmlns:p14="http://schemas.microsoft.com/office/powerpoint/2010/main" val="6454201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581673" y="110723"/>
            <a:ext cx="8401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极值和顺序统计量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(1)——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极值问题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FD0A3BD0-B824-213C-5081-69D60493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25" y="1070067"/>
            <a:ext cx="9254812" cy="23561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01EB9D-9445-C90E-62BB-3FBC0CB0D3EB}"/>
                  </a:ext>
                </a:extLst>
              </p:cNvPr>
              <p:cNvSpPr txBox="1"/>
              <p:nvPr/>
            </p:nvSpPr>
            <p:spPr>
              <a:xfrm>
                <a:off x="979079" y="5562543"/>
                <a:ext cx="7336111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问：求密度函数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𝒎𝒊𝒏</m:t>
                        </m:r>
                      </m:sub>
                    </m:sSub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zh-CN" altLang="en-US" sz="2400" b="0" i="0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zh-CN" altLang="en-US" sz="2400" b="1" i="0" dirty="0">
                    <a:latin typeface="+mj-lt"/>
                    <a:cs typeface="Arial" panose="020B0604020202020204" pitchFamily="34" charset="0"/>
                  </a:rPr>
                  <a:t>和</a:t>
                </a:r>
                <a:r>
                  <a:rPr lang="zh-CN" altLang="en-US" sz="2400" b="0" i="0" dirty="0"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𝒎𝒂𝒙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𝒀</m:t>
                    </m:r>
                    <m:r>
                      <a:rPr lang="zh-CN" altLang="en-US" sz="2400" b="1" i="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独立</m:t>
                    </m:r>
                  </m:oMath>
                </a14:m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同分布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F01EB9D-9445-C90E-62BB-3FBC0CB0D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79" y="5562543"/>
                <a:ext cx="7336111" cy="587405"/>
              </a:xfrm>
              <a:prstGeom prst="rect">
                <a:avLst/>
              </a:prstGeom>
              <a:blipFill>
                <a:blip r:embed="rId3"/>
                <a:stretch>
                  <a:fillRect l="-1330" r="-831" b="-237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67F88043-B1DA-D053-3B55-E2E58ED90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794" y="3895841"/>
            <a:ext cx="6169407" cy="135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479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CE06EE1-0AEA-AA01-3B99-2F1271C45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24" y="38952"/>
            <a:ext cx="9980952" cy="6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45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1713922" y="110723"/>
            <a:ext cx="8137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极值和顺序统计量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(2)——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顺序问题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18A61F29-9F41-F71B-0E1F-493930407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13" y="1058406"/>
            <a:ext cx="7976238" cy="16813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FE36C90-35AF-5957-B0B8-07E2A5238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27" y="2707872"/>
            <a:ext cx="3859287" cy="6122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130BBDF-6671-11E1-2E9A-51B6F753A675}"/>
                  </a:ext>
                </a:extLst>
              </p:cNvPr>
              <p:cNvSpPr txBox="1"/>
              <p:nvPr/>
            </p:nvSpPr>
            <p:spPr>
              <a:xfrm>
                <a:off x="701681" y="4079248"/>
                <a:ext cx="8544968" cy="22493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第一步：把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个随机变量分为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组：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第一组，共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𝒌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个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变量：小于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第二组，共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zh-CN" alt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个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变量：在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区间内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第三组，共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𝒌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个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变量：大于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和大于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𝑑𝑥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是一个意思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130BBDF-6671-11E1-2E9A-51B6F753A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81" y="4079248"/>
                <a:ext cx="8544968" cy="2249398"/>
              </a:xfrm>
              <a:prstGeom prst="rect">
                <a:avLst/>
              </a:prstGeom>
              <a:blipFill>
                <a:blip r:embed="rId4"/>
                <a:stretch>
                  <a:fillRect l="-1070" b="-5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097077A-FD18-206C-D45B-904465C4E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32" y="3505918"/>
            <a:ext cx="3144941" cy="6122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07884BD-9D8F-BFB6-A749-0C1C80B32D80}"/>
              </a:ext>
            </a:extLst>
          </p:cNvPr>
          <p:cNvSpPr txBox="1"/>
          <p:nvPr/>
        </p:nvSpPr>
        <p:spPr>
          <a:xfrm>
            <a:off x="3883017" y="3409832"/>
            <a:ext cx="492443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求</a:t>
            </a:r>
          </a:p>
        </p:txBody>
      </p:sp>
    </p:spTree>
    <p:extLst>
      <p:ext uri="{BB962C8B-B14F-4D97-AF65-F5344CB8AC3E}">
        <p14:creationId xmlns:p14="http://schemas.microsoft.com/office/powerpoint/2010/main" val="1735723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09DCEBE-D6CE-DF8A-94E6-05F45999C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558" y="934440"/>
            <a:ext cx="8704884" cy="581689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31C6582-5C3C-F52D-DB9C-705DE6AFCE21}"/>
              </a:ext>
            </a:extLst>
          </p:cNvPr>
          <p:cNvSpPr txBox="1"/>
          <p:nvPr/>
        </p:nvSpPr>
        <p:spPr>
          <a:xfrm>
            <a:off x="3638334" y="110723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课件上的解答过程</a:t>
            </a:r>
          </a:p>
        </p:txBody>
      </p:sp>
    </p:spTree>
    <p:extLst>
      <p:ext uri="{BB962C8B-B14F-4D97-AF65-F5344CB8AC3E}">
        <p14:creationId xmlns:p14="http://schemas.microsoft.com/office/powerpoint/2010/main" val="2905680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381840" y="110723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框架总结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第一章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36CC3FA-5F96-B24C-8F54-73C169B2D605}"/>
              </a:ext>
            </a:extLst>
          </p:cNvPr>
          <p:cNvSpPr txBox="1"/>
          <p:nvPr/>
        </p:nvSpPr>
        <p:spPr>
          <a:xfrm>
            <a:off x="3381840" y="1172629"/>
            <a:ext cx="3762568" cy="50098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概率的定义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独立、相容等事件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概率的计算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古典概型，几何概型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计算技巧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容斥原理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排列组合公式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条件概率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贝叶斯公式</a:t>
            </a:r>
          </a:p>
        </p:txBody>
      </p:sp>
    </p:spTree>
    <p:extLst>
      <p:ext uri="{BB962C8B-B14F-4D97-AF65-F5344CB8AC3E}">
        <p14:creationId xmlns:p14="http://schemas.microsoft.com/office/powerpoint/2010/main" val="22739183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96506" y="110723"/>
            <a:ext cx="5371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框架总结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章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118F2CA-864D-DD25-987F-E7007A6FEB71}"/>
                  </a:ext>
                </a:extLst>
              </p:cNvPr>
              <p:cNvSpPr txBox="1"/>
              <p:nvPr/>
            </p:nvSpPr>
            <p:spPr>
              <a:xfrm>
                <a:off x="508000" y="1145309"/>
                <a:ext cx="8659102" cy="5563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把概率“函数化”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分布函数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(CDF)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与密度函数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(PDF)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从离散到连续</a:t>
                </a:r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从一维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到二维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𝐹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♪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二维会多哪些内容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边际分布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&amp;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密度函数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联合随机分布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二元积分问题，主要考的是高数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118F2CA-864D-DD25-987F-E7007A6FE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145309"/>
                <a:ext cx="8659102" cy="5563831"/>
              </a:xfrm>
              <a:prstGeom prst="rect">
                <a:avLst/>
              </a:prstGeom>
              <a:blipFill>
                <a:blip r:embed="rId2"/>
                <a:stretch>
                  <a:fillRect l="-915" r="-1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F25960E-8D40-2807-5A5C-8B8BAD787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740" y="1416441"/>
            <a:ext cx="3036717" cy="5051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28117A-6ED5-8B25-2EAA-95B144F07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740" y="1978427"/>
            <a:ext cx="2499577" cy="7437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BA89F8-AA23-CF35-ADBB-B810C2309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949" y="4404970"/>
            <a:ext cx="2889754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948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96506" y="110723"/>
            <a:ext cx="53719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框架总结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章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118F2CA-864D-DD25-987F-E7007A6FEB71}"/>
                  </a:ext>
                </a:extLst>
              </p:cNvPr>
              <p:cNvSpPr txBox="1"/>
              <p:nvPr/>
            </p:nvSpPr>
            <p:spPr>
              <a:xfrm>
                <a:off x="508000" y="1145309"/>
                <a:ext cx="8470717" cy="29785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连续随机变量会多哪些内容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密度函数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2400" b="0" i="0" dirty="0">
                    <a:latin typeface="+mj-lt"/>
                    <a:cs typeface="Arial" panose="020B0604020202020204" pitchFamily="34" charset="0"/>
                  </a:rPr>
                  <a:t>随机变量函数的分布</a:t>
                </a:r>
                <a:r>
                  <a:rPr lang="zh-CN" altLang="en-US" sz="2400" dirty="0">
                    <a:latin typeface="+mj-lt"/>
                    <a:cs typeface="Arial" panose="020B0604020202020204" pitchFamily="34" charset="0"/>
                  </a:rPr>
                  <a:t>：已知</a:t>
                </a:r>
                <a:r>
                  <a:rPr lang="zh-CN" altLang="en-US" sz="2400" b="0" i="0" dirty="0"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1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条件分布的密度函数：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118F2CA-864D-DD25-987F-E7007A6FE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1145309"/>
                <a:ext cx="8470717" cy="2978508"/>
              </a:xfrm>
              <a:prstGeom prst="rect">
                <a:avLst/>
              </a:prstGeo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A6897155-C2A5-5C2C-33C6-5EB0A244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688" y="2918396"/>
            <a:ext cx="2451769" cy="734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F299F4-9B92-4E32-265D-CD3D6F62C30B}"/>
                  </a:ext>
                </a:extLst>
              </p:cNvPr>
              <p:cNvSpPr txBox="1"/>
              <p:nvPr/>
            </p:nvSpPr>
            <p:spPr>
              <a:xfrm>
                <a:off x="4483160" y="3652823"/>
                <a:ext cx="2490297" cy="12458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F299F4-9B92-4E32-265D-CD3D6F62C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160" y="3652823"/>
                <a:ext cx="2490297" cy="12458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043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2355922" y="110723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框架总结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各种奇怪的分布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299BAAE-12C4-7D05-A5C3-3CBE8BEADF98}"/>
              </a:ext>
            </a:extLst>
          </p:cNvPr>
          <p:cNvSpPr txBox="1"/>
          <p:nvPr/>
        </p:nvSpPr>
        <p:spPr>
          <a:xfrm>
            <a:off x="766619" y="2756973"/>
            <a:ext cx="4031873" cy="2803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二项分布（伯努利分布）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泊松分布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几何分布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负二项分布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超几何分布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70D56E-7613-1F0D-9D32-65B794F9239D}"/>
              </a:ext>
            </a:extLst>
          </p:cNvPr>
          <p:cNvSpPr txBox="1"/>
          <p:nvPr/>
        </p:nvSpPr>
        <p:spPr>
          <a:xfrm>
            <a:off x="8270361" y="2756973"/>
            <a:ext cx="1877437" cy="2803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均匀分布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指数分布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正态分布</a:t>
            </a:r>
            <a:endParaRPr lang="en-US" altLang="zh-C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伽马分布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贝塔分布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4C969E7-B758-65A8-A2F7-EE8C08AB53D7}"/>
              </a:ext>
            </a:extLst>
          </p:cNvPr>
          <p:cNvCxnSpPr/>
          <p:nvPr/>
        </p:nvCxnSpPr>
        <p:spPr>
          <a:xfrm>
            <a:off x="5939519" y="870864"/>
            <a:ext cx="0" cy="598713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云形 9">
            <a:extLst>
              <a:ext uri="{FF2B5EF4-FFF2-40B4-BE49-F238E27FC236}">
                <a16:creationId xmlns:a16="http://schemas.microsoft.com/office/drawing/2014/main" id="{CBD35434-AD51-EE5D-AB1F-D07A501405DF}"/>
              </a:ext>
            </a:extLst>
          </p:cNvPr>
          <p:cNvSpPr/>
          <p:nvPr/>
        </p:nvSpPr>
        <p:spPr>
          <a:xfrm>
            <a:off x="1017833" y="1316833"/>
            <a:ext cx="2676177" cy="112806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离散变量</a:t>
            </a:r>
          </a:p>
        </p:txBody>
      </p:sp>
      <p:sp>
        <p:nvSpPr>
          <p:cNvPr id="11" name="云形 10">
            <a:extLst>
              <a:ext uri="{FF2B5EF4-FFF2-40B4-BE49-F238E27FC236}">
                <a16:creationId xmlns:a16="http://schemas.microsoft.com/office/drawing/2014/main" id="{DCAE9117-3947-F22C-2767-2BD6EEDA3639}"/>
              </a:ext>
            </a:extLst>
          </p:cNvPr>
          <p:cNvSpPr/>
          <p:nvPr/>
        </p:nvSpPr>
        <p:spPr>
          <a:xfrm>
            <a:off x="7991062" y="1393839"/>
            <a:ext cx="2676177" cy="1128067"/>
          </a:xfrm>
          <a:prstGeom prst="cloud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连续变量</a:t>
            </a:r>
          </a:p>
        </p:txBody>
      </p:sp>
    </p:spTree>
    <p:extLst>
      <p:ext uri="{BB962C8B-B14F-4D97-AF65-F5344CB8AC3E}">
        <p14:creationId xmlns:p14="http://schemas.microsoft.com/office/powerpoint/2010/main" val="2678580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830674" y="110723"/>
            <a:ext cx="99036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解题技巧总结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经历过高考的大家应该都会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118F2CA-864D-DD25-987F-E7007A6FEB71}"/>
              </a:ext>
            </a:extLst>
          </p:cNvPr>
          <p:cNvSpPr txBox="1"/>
          <p:nvPr/>
        </p:nvSpPr>
        <p:spPr>
          <a:xfrm>
            <a:off x="508000" y="1145309"/>
            <a:ext cx="6340197" cy="22398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解题步骤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翻译条件：用数学语言表描述题目条件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翻译所求：用数学语言表描述要求的量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5C89B1-8835-5E79-F230-3F004CF65E57}"/>
              </a:ext>
            </a:extLst>
          </p:cNvPr>
          <p:cNvSpPr txBox="1"/>
          <p:nvPr/>
        </p:nvSpPr>
        <p:spPr>
          <a:xfrm>
            <a:off x="581292" y="3429000"/>
            <a:ext cx="8752717" cy="1685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复习建议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考前抱佛脚最高效的方法：做往年题目和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quiz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、作业题；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个人建议：能比较容易推出来的公式，就不要背了</a:t>
            </a:r>
          </a:p>
        </p:txBody>
      </p:sp>
    </p:spTree>
    <p:extLst>
      <p:ext uri="{BB962C8B-B14F-4D97-AF65-F5344CB8AC3E}">
        <p14:creationId xmlns:p14="http://schemas.microsoft.com/office/powerpoint/2010/main" val="6203700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54BB2E-BBDB-5FDF-31AF-3E9AB235F8A5}"/>
              </a:ext>
            </a:extLst>
          </p:cNvPr>
          <p:cNvSpPr txBox="1"/>
          <p:nvPr/>
        </p:nvSpPr>
        <p:spPr>
          <a:xfrm>
            <a:off x="4806904" y="110723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33A6BD9-716E-3AEC-BCDF-7C206ECD7867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6763DA0-A0FF-4232-ACF1-875A6CFEE860}"/>
              </a:ext>
            </a:extLst>
          </p:cNvPr>
          <p:cNvSpPr txBox="1"/>
          <p:nvPr/>
        </p:nvSpPr>
        <p:spPr>
          <a:xfrm>
            <a:off x="863540" y="1637212"/>
            <a:ext cx="6859570" cy="2906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概统重点难点讲解（附例题）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框架梳理（偏基础）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en-US" sz="3200" b="1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针对性答疑（根据问卷收集结果）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B59E3E-997E-9FDF-7652-E94E2763F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695" y="1799941"/>
            <a:ext cx="4279363" cy="14846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253091-5076-0E71-021A-2F56387CB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110" y="3651697"/>
            <a:ext cx="4339948" cy="86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37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4664239" y="11072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投针实验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78319E5-F1B9-4C16-EBB7-5BADD8616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251" t="1182" r="1251"/>
          <a:stretch/>
        </p:blipFill>
        <p:spPr>
          <a:xfrm>
            <a:off x="110978" y="1025236"/>
            <a:ext cx="7382651" cy="4988028"/>
          </a:xfrm>
          <a:prstGeom prst="rect">
            <a:avLst/>
          </a:prstGeom>
          <a:ln w="19050"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0899BB2-268A-B7FF-FD13-4429936D8CC0}"/>
              </a:ext>
            </a:extLst>
          </p:cNvPr>
          <p:cNvSpPr txBox="1"/>
          <p:nvPr/>
        </p:nvSpPr>
        <p:spPr>
          <a:xfrm>
            <a:off x="7702734" y="1106516"/>
            <a:ext cx="3877985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考虑两条平行线之间的部分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2AE2FB-A009-80E5-8CA9-D72C82E0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734" y="1847044"/>
            <a:ext cx="4062546" cy="760443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4BA21F4-F917-AA20-31E2-BA751D72AC01}"/>
              </a:ext>
            </a:extLst>
          </p:cNvPr>
          <p:cNvCxnSpPr/>
          <p:nvPr/>
        </p:nvCxnSpPr>
        <p:spPr>
          <a:xfrm>
            <a:off x="7406640" y="1025236"/>
            <a:ext cx="0" cy="59038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3B9F51-52D1-B00F-A57E-323684927E26}"/>
                  </a:ext>
                </a:extLst>
              </p:cNvPr>
              <p:cNvSpPr txBox="1"/>
              <p:nvPr/>
            </p:nvSpPr>
            <p:spPr>
              <a:xfrm>
                <a:off x="7702734" y="2835775"/>
                <a:ext cx="4350293" cy="1141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为针尾的高度，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为针的方向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与平行线的夹角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23B9F51-52D1-B00F-A57E-323684927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34" y="2835775"/>
                <a:ext cx="4350293" cy="1141403"/>
              </a:xfrm>
              <a:prstGeom prst="rect">
                <a:avLst/>
              </a:prstGeom>
              <a:blipFill>
                <a:blip r:embed="rId4"/>
                <a:stretch>
                  <a:fillRect l="-2244" r="-1403" b="-1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383173-1AC0-1A6B-DC29-044D00DE582D}"/>
                  </a:ext>
                </a:extLst>
              </p:cNvPr>
              <p:cNvSpPr txBox="1"/>
              <p:nvPr/>
            </p:nvSpPr>
            <p:spPr>
              <a:xfrm>
                <a:off x="4216400" y="3165604"/>
                <a:ext cx="4517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F383173-1AC0-1A6B-DC29-044D00DE5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00" y="3165604"/>
                <a:ext cx="45179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弧形 13">
            <a:extLst>
              <a:ext uri="{FF2B5EF4-FFF2-40B4-BE49-F238E27FC236}">
                <a16:creationId xmlns:a16="http://schemas.microsoft.com/office/drawing/2014/main" id="{35AD0D9B-1A14-87F6-B60C-1230889DA13F}"/>
              </a:ext>
            </a:extLst>
          </p:cNvPr>
          <p:cNvSpPr/>
          <p:nvPr/>
        </p:nvSpPr>
        <p:spPr>
          <a:xfrm>
            <a:off x="4086547" y="3529203"/>
            <a:ext cx="259706" cy="463231"/>
          </a:xfrm>
          <a:prstGeom prst="arc">
            <a:avLst>
              <a:gd name="adj1" fmla="val 16200000"/>
              <a:gd name="adj2" fmla="val 1903743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A6A16D-9CDE-1F8F-59EE-F8C9DDA013B2}"/>
                  </a:ext>
                </a:extLst>
              </p:cNvPr>
              <p:cNvSpPr txBox="1"/>
              <p:nvPr/>
            </p:nvSpPr>
            <p:spPr>
              <a:xfrm>
                <a:off x="1940487" y="2972647"/>
                <a:ext cx="4464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AA6A16D-9CDE-1F8F-59EE-F8C9DDA01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487" y="2972647"/>
                <a:ext cx="44640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B3DABD8-7953-8182-33DB-53922FD9927C}"/>
              </a:ext>
            </a:extLst>
          </p:cNvPr>
          <p:cNvCxnSpPr/>
          <p:nvPr/>
        </p:nvCxnSpPr>
        <p:spPr>
          <a:xfrm>
            <a:off x="1964267" y="2891367"/>
            <a:ext cx="6307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7ECEB72-AB89-62D5-F1EB-B8CF73F849CE}"/>
              </a:ext>
            </a:extLst>
          </p:cNvPr>
          <p:cNvCxnSpPr/>
          <p:nvPr/>
        </p:nvCxnSpPr>
        <p:spPr>
          <a:xfrm>
            <a:off x="2302937" y="2908300"/>
            <a:ext cx="0" cy="72000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1DE2CE5-6194-216A-C309-68C5FE781359}"/>
                  </a:ext>
                </a:extLst>
              </p:cNvPr>
              <p:cNvSpPr txBox="1"/>
              <p:nvPr/>
            </p:nvSpPr>
            <p:spPr>
              <a:xfrm>
                <a:off x="7702734" y="4205466"/>
                <a:ext cx="3334567" cy="5874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(0,2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1DE2CE5-6194-216A-C309-68C5FE781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34" y="4205466"/>
                <a:ext cx="3334567" cy="587405"/>
              </a:xfrm>
              <a:prstGeom prst="rect">
                <a:avLst/>
              </a:prstGeom>
              <a:blipFill>
                <a:blip r:embed="rId7"/>
                <a:stretch>
                  <a:fillRect l="-2925" r="-54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8A57ABC-737F-4F0F-9E60-34D1F617C160}"/>
                  </a:ext>
                </a:extLst>
              </p:cNvPr>
              <p:cNvSpPr txBox="1"/>
              <p:nvPr/>
            </p:nvSpPr>
            <p:spPr>
              <a:xfrm>
                <a:off x="7702734" y="4684892"/>
                <a:ext cx="3728265" cy="821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记针头</a:t>
                </a:r>
                <a:r>
                  <a:rPr lang="zh-CN" altLang="en-US" sz="2400" b="0" i="0" dirty="0">
                    <a:latin typeface="+mj-lt"/>
                    <a:cs typeface="Arial" panose="020B0604020202020204" pitchFamily="34" charset="0"/>
                  </a:rPr>
                  <a:t>高度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sin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e>
                    </m:func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8A57ABC-737F-4F0F-9E60-34D1F617C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734" y="4684892"/>
                <a:ext cx="3728265" cy="821059"/>
              </a:xfrm>
              <a:prstGeom prst="rect">
                <a:avLst/>
              </a:prstGeom>
              <a:blipFill>
                <a:blip r:embed="rId8"/>
                <a:stretch>
                  <a:fillRect l="-2619" b="-8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3D47490-E41E-7321-4209-F3F13C771CCE}"/>
                  </a:ext>
                </a:extLst>
              </p:cNvPr>
              <p:cNvSpPr txBox="1"/>
              <p:nvPr/>
            </p:nvSpPr>
            <p:spPr>
              <a:xfrm>
                <a:off x="9153707" y="5651316"/>
                <a:ext cx="22240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Z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≤0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𝑜𝑟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𝑍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</m:t>
                      </m:r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3D47490-E41E-7321-4209-F3F13C771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707" y="5651316"/>
                <a:ext cx="222407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图片 27">
            <a:extLst>
              <a:ext uri="{FF2B5EF4-FFF2-40B4-BE49-F238E27FC236}">
                <a16:creationId xmlns:a16="http://schemas.microsoft.com/office/drawing/2014/main" id="{8BDA1FEE-DD8C-2712-422F-104D962399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3496" y="5876932"/>
            <a:ext cx="463336" cy="347502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C739114C-466D-4479-1D0A-35A3C7D93CC2}"/>
              </a:ext>
            </a:extLst>
          </p:cNvPr>
          <p:cNvSpPr txBox="1"/>
          <p:nvPr/>
        </p:nvSpPr>
        <p:spPr>
          <a:xfrm>
            <a:off x="7923558" y="5680779"/>
            <a:ext cx="800219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相交</a:t>
            </a:r>
          </a:p>
        </p:txBody>
      </p:sp>
    </p:spTree>
    <p:extLst>
      <p:ext uri="{BB962C8B-B14F-4D97-AF65-F5344CB8AC3E}">
        <p14:creationId xmlns:p14="http://schemas.microsoft.com/office/powerpoint/2010/main" val="2727396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0F2D35-FE22-DAB7-7B86-2ACE5315E67B}"/>
              </a:ext>
            </a:extLst>
          </p:cNvPr>
          <p:cNvSpPr txBox="1"/>
          <p:nvPr/>
        </p:nvSpPr>
        <p:spPr>
          <a:xfrm>
            <a:off x="3067645" y="110723"/>
            <a:ext cx="5429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秋期中概统复习课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1924A42-FC26-DB00-47D7-38155E81092F}"/>
              </a:ext>
            </a:extLst>
          </p:cNvPr>
          <p:cNvCxnSpPr>
            <a:cxnSpLocks/>
          </p:cNvCxnSpPr>
          <p:nvPr/>
        </p:nvCxnSpPr>
        <p:spPr>
          <a:xfrm>
            <a:off x="0" y="844736"/>
            <a:ext cx="12192000" cy="0"/>
          </a:xfrm>
          <a:prstGeom prst="line">
            <a:avLst/>
          </a:prstGeom>
          <a:ln w="762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4000">
                  <a:schemeClr val="accent1">
                    <a:lumMod val="60000"/>
                    <a:lumOff val="40000"/>
                  </a:schemeClr>
                </a:gs>
                <a:gs pos="7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39176193-992C-3F97-19E8-364C5CED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396" y="2011158"/>
            <a:ext cx="4705473" cy="35398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9434905-99BB-EC2B-0B67-BD4AE1025793}"/>
              </a:ext>
            </a:extLst>
          </p:cNvPr>
          <p:cNvSpPr txBox="1"/>
          <p:nvPr/>
        </p:nvSpPr>
        <p:spPr>
          <a:xfrm>
            <a:off x="3606308" y="1176186"/>
            <a:ext cx="4339650" cy="834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祝大家考出好成绩！</a:t>
            </a:r>
            <a:endParaRPr lang="en-US" altLang="zh-CN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3B8DF0-9E12-B1F5-E56A-F4483C18CB96}"/>
              </a:ext>
            </a:extLst>
          </p:cNvPr>
          <p:cNvSpPr txBox="1"/>
          <p:nvPr/>
        </p:nvSpPr>
        <p:spPr>
          <a:xfrm>
            <a:off x="6189877" y="6226643"/>
            <a:ext cx="3877985" cy="587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有疑问的部分多在群里交流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D09CCDD-C987-A176-BE27-FBF9B8333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901" y="4768081"/>
            <a:ext cx="1627780" cy="204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4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85DE1540-DB79-428B-A567-795E3D00611A}" vid="{0CB80A9F-FF9D-4B4A-9F20-9D4FABE902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简单数据报告模板</Template>
  <TotalTime>1254</TotalTime>
  <Words>2341</Words>
  <Application>Microsoft Office PowerPoint</Application>
  <PresentationFormat>宽屏</PresentationFormat>
  <Paragraphs>264</Paragraphs>
  <Slides>46</Slides>
  <Notes>10</Notes>
  <HiddenSlides>2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47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Han</dc:creator>
  <cp:lastModifiedBy>Wang Han</cp:lastModifiedBy>
  <cp:revision>63</cp:revision>
  <dcterms:created xsi:type="dcterms:W3CDTF">2022-11-01T12:15:59Z</dcterms:created>
  <dcterms:modified xsi:type="dcterms:W3CDTF">2022-11-12T14:36:54Z</dcterms:modified>
</cp:coreProperties>
</file>