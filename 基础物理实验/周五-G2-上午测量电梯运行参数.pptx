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60" r:id="rId5"/>
    <p:sldId id="261" r:id="rId6"/>
    <p:sldId id="275" r:id="rId7"/>
    <p:sldId id="276" r:id="rId8"/>
    <p:sldId id="263" r:id="rId9"/>
    <p:sldId id="264" r:id="rId10"/>
    <p:sldId id="267" r:id="rId11"/>
    <p:sldId id="268" r:id="rId12"/>
    <p:sldId id="269" r:id="rId13"/>
    <p:sldId id="265" r:id="rId14"/>
    <p:sldId id="271" r:id="rId15"/>
    <p:sldId id="272" r:id="rId16"/>
    <p:sldId id="273" r:id="rId17"/>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EFE"/>
    <a:srgbClr val="FFFFFF"/>
    <a:srgbClr val="49600B"/>
    <a:srgbClr val="F8F8F8"/>
    <a:srgbClr val="F2F2F2"/>
    <a:srgbClr val="B5C18A"/>
    <a:srgbClr val="F7F6F1"/>
    <a:srgbClr val="F4EEF7"/>
    <a:srgbClr val="8E9B03"/>
    <a:srgbClr val="EEF1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53" d="100"/>
          <a:sy n="53" d="100"/>
        </p:scale>
        <p:origin x="56" y="8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3#1">
  <dgm:title val=""/>
  <dgm:desc val=""/>
  <dgm:catLst>
    <dgm:cat type="accent3" pri="11300"/>
  </dgm:catLst>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CDB33C1-45E8-47D6-B356-2976B8A4643B}" type="doc">
      <dgm:prSet loTypeId="urn:microsoft.com/office/officeart/2005/8/layout/cycle2" loCatId="cycle" qsTypeId="urn:microsoft.com/office/officeart/2005/8/quickstyle/3d1#1" qsCatId="3D" csTypeId="urn:microsoft.com/office/officeart/2005/8/colors/accent3_3#1" csCatId="accent3" phldr="0"/>
      <dgm:spPr/>
      <dgm:t>
        <a:bodyPr/>
        <a:lstStyle/>
        <a:p>
          <a:endParaRPr lang="zh-CN" altLang="en-US"/>
        </a:p>
      </dgm:t>
    </dgm:pt>
    <dgm:pt modelId="{C0480023-5C99-4D8A-9C5D-8A77F774EF6A}">
      <dgm:prSet phldrT="[文本]" phldr="0" custT="0"/>
      <dgm:spPr/>
      <dgm:t>
        <a:bodyPr vert="horz" wrap="square"/>
        <a:lstStyle/>
        <a:p>
          <a:pPr>
            <a:lnSpc>
              <a:spcPct val="100000"/>
            </a:lnSpc>
            <a:spcBef>
              <a:spcPct val="0"/>
            </a:spcBef>
            <a:spcAft>
              <a:spcPct val="35000"/>
            </a:spcAft>
          </a:pPr>
          <a:r>
            <a:rPr lang="zh-CN" altLang="en-US" dirty="0"/>
            <a:t>加速度</a:t>
          </a:r>
        </a:p>
      </dgm:t>
    </dgm:pt>
    <dgm:pt modelId="{5C83EBAB-7458-4B37-882A-062B575DDEFC}" type="parTrans" cxnId="{E9696A60-848E-4797-AC65-ADA36C910957}">
      <dgm:prSet/>
      <dgm:spPr/>
      <dgm:t>
        <a:bodyPr/>
        <a:lstStyle/>
        <a:p>
          <a:endParaRPr lang="zh-CN" altLang="en-US"/>
        </a:p>
      </dgm:t>
    </dgm:pt>
    <dgm:pt modelId="{753DDC1B-E916-44E0-A636-10E58C688529}" type="sibTrans" cxnId="{E9696A60-848E-4797-AC65-ADA36C910957}">
      <dgm:prSet/>
      <dgm:spPr/>
      <dgm:t>
        <a:bodyPr/>
        <a:lstStyle/>
        <a:p>
          <a:endParaRPr lang="zh-CN" altLang="en-US"/>
        </a:p>
      </dgm:t>
    </dgm:pt>
    <dgm:pt modelId="{10E377CE-F57A-49D4-9DA5-E78408E472D9}">
      <dgm:prSet phldrT="[文本]" phldr="0" custT="0"/>
      <dgm:spPr/>
      <dgm:t>
        <a:bodyPr vert="horz" wrap="square"/>
        <a:lstStyle/>
        <a:p>
          <a:pPr>
            <a:lnSpc>
              <a:spcPct val="100000"/>
            </a:lnSpc>
            <a:spcBef>
              <a:spcPct val="0"/>
            </a:spcBef>
            <a:spcAft>
              <a:spcPct val="35000"/>
            </a:spcAft>
          </a:pPr>
          <a:r>
            <a:rPr lang="zh-CN" altLang="en-US"/>
            <a:t>速度</a:t>
          </a:r>
        </a:p>
      </dgm:t>
    </dgm:pt>
    <dgm:pt modelId="{BB97DE20-6563-45BB-AB79-4BBD0F7BCA3A}" type="parTrans" cxnId="{226E6E0C-AE29-41C5-B1DE-77AE15EB5D77}">
      <dgm:prSet/>
      <dgm:spPr/>
      <dgm:t>
        <a:bodyPr/>
        <a:lstStyle/>
        <a:p>
          <a:endParaRPr lang="zh-CN" altLang="en-US"/>
        </a:p>
      </dgm:t>
    </dgm:pt>
    <dgm:pt modelId="{3A96537A-4D30-4C50-88D1-2DC389BCF2F9}" type="sibTrans" cxnId="{226E6E0C-AE29-41C5-B1DE-77AE15EB5D77}">
      <dgm:prSet/>
      <dgm:spPr/>
      <dgm:t>
        <a:bodyPr/>
        <a:lstStyle/>
        <a:p>
          <a:endParaRPr lang="zh-CN" altLang="en-US"/>
        </a:p>
      </dgm:t>
    </dgm:pt>
    <dgm:pt modelId="{D4AF9F8E-5ECA-4B57-A926-96059BD5EFA8}">
      <dgm:prSet phldrT="[文本]" phldr="0" custT="0"/>
      <dgm:spPr/>
      <dgm:t>
        <a:bodyPr vert="horz" wrap="square"/>
        <a:lstStyle/>
        <a:p>
          <a:pPr>
            <a:lnSpc>
              <a:spcPct val="100000"/>
            </a:lnSpc>
            <a:spcBef>
              <a:spcPct val="0"/>
            </a:spcBef>
            <a:spcAft>
              <a:spcPct val="35000"/>
            </a:spcAft>
          </a:pPr>
          <a:r>
            <a:rPr lang="zh-CN" altLang="en-US"/>
            <a:t>位移</a:t>
          </a:r>
          <a:endParaRPr lang="en-US" altLang="zh-CN"/>
        </a:p>
      </dgm:t>
    </dgm:pt>
    <dgm:pt modelId="{A069AEDE-AC04-48A6-B181-FB9BFC6DB448}" type="parTrans" cxnId="{1F8403B5-ED1A-4239-892D-79B28C3600C0}">
      <dgm:prSet/>
      <dgm:spPr/>
      <dgm:t>
        <a:bodyPr/>
        <a:lstStyle/>
        <a:p>
          <a:endParaRPr lang="zh-CN" altLang="en-US"/>
        </a:p>
      </dgm:t>
    </dgm:pt>
    <dgm:pt modelId="{5FD50D96-6971-4235-9FFB-41B26E5F0B44}" type="sibTrans" cxnId="{1F8403B5-ED1A-4239-892D-79B28C3600C0}">
      <dgm:prSet/>
      <dgm:spPr/>
      <dgm:t>
        <a:bodyPr/>
        <a:lstStyle/>
        <a:p>
          <a:endParaRPr lang="zh-CN" altLang="en-US"/>
        </a:p>
      </dgm:t>
    </dgm:pt>
    <dgm:pt modelId="{81FE1DA7-E6C7-4C3A-94B6-AA5E585A404D}" type="pres">
      <dgm:prSet presAssocID="{ACDB33C1-45E8-47D6-B356-2976B8A4643B}" presName="cycle" presStyleCnt="0">
        <dgm:presLayoutVars>
          <dgm:dir/>
          <dgm:resizeHandles val="exact"/>
        </dgm:presLayoutVars>
      </dgm:prSet>
      <dgm:spPr/>
    </dgm:pt>
    <dgm:pt modelId="{274E4D3F-CDD7-4D78-83A8-254C8A538D77}" type="pres">
      <dgm:prSet presAssocID="{C0480023-5C99-4D8A-9C5D-8A77F774EF6A}" presName="node" presStyleLbl="node1" presStyleIdx="0" presStyleCnt="3">
        <dgm:presLayoutVars>
          <dgm:bulletEnabled val="1"/>
        </dgm:presLayoutVars>
      </dgm:prSet>
      <dgm:spPr/>
    </dgm:pt>
    <dgm:pt modelId="{D5875C4B-CE27-4B65-BE38-3FACFF9FF36C}" type="pres">
      <dgm:prSet presAssocID="{753DDC1B-E916-44E0-A636-10E58C688529}" presName="sibTrans" presStyleLbl="sibTrans2D1" presStyleIdx="0" presStyleCnt="3"/>
      <dgm:spPr/>
    </dgm:pt>
    <dgm:pt modelId="{52ED036F-7916-49B7-887D-571E23803908}" type="pres">
      <dgm:prSet presAssocID="{753DDC1B-E916-44E0-A636-10E58C688529}" presName="connectorText" presStyleLbl="sibTrans2D1" presStyleIdx="0" presStyleCnt="3"/>
      <dgm:spPr/>
    </dgm:pt>
    <dgm:pt modelId="{1607A916-618A-40E1-90B6-191C8130B4B8}" type="pres">
      <dgm:prSet presAssocID="{10E377CE-F57A-49D4-9DA5-E78408E472D9}" presName="node" presStyleLbl="node1" presStyleIdx="1" presStyleCnt="3">
        <dgm:presLayoutVars>
          <dgm:bulletEnabled val="1"/>
        </dgm:presLayoutVars>
      </dgm:prSet>
      <dgm:spPr/>
    </dgm:pt>
    <dgm:pt modelId="{54114968-D78E-4C51-9E05-386E9E5DABFF}" type="pres">
      <dgm:prSet presAssocID="{3A96537A-4D30-4C50-88D1-2DC389BCF2F9}" presName="sibTrans" presStyleLbl="sibTrans2D1" presStyleIdx="1" presStyleCnt="3"/>
      <dgm:spPr/>
    </dgm:pt>
    <dgm:pt modelId="{AEDFDB8E-821D-4784-BCD9-8EC408B0B19E}" type="pres">
      <dgm:prSet presAssocID="{3A96537A-4D30-4C50-88D1-2DC389BCF2F9}" presName="connectorText" presStyleLbl="sibTrans2D1" presStyleIdx="1" presStyleCnt="3"/>
      <dgm:spPr/>
    </dgm:pt>
    <dgm:pt modelId="{A151266A-09CA-4B00-9D6F-26AF29C7B880}" type="pres">
      <dgm:prSet presAssocID="{D4AF9F8E-5ECA-4B57-A926-96059BD5EFA8}" presName="node" presStyleLbl="node1" presStyleIdx="2" presStyleCnt="3">
        <dgm:presLayoutVars>
          <dgm:bulletEnabled val="1"/>
        </dgm:presLayoutVars>
      </dgm:prSet>
      <dgm:spPr/>
    </dgm:pt>
    <dgm:pt modelId="{57139870-DCB6-4324-9AE4-E42A670BCA8A}" type="pres">
      <dgm:prSet presAssocID="{5FD50D96-6971-4235-9FFB-41B26E5F0B44}" presName="sibTrans" presStyleLbl="sibTrans2D1" presStyleIdx="2" presStyleCnt="3"/>
      <dgm:spPr/>
    </dgm:pt>
    <dgm:pt modelId="{14836E3C-EA5D-4F74-9D22-B144F75DDC59}" type="pres">
      <dgm:prSet presAssocID="{5FD50D96-6971-4235-9FFB-41B26E5F0B44}" presName="connectorText" presStyleLbl="sibTrans2D1" presStyleIdx="2" presStyleCnt="3"/>
      <dgm:spPr/>
    </dgm:pt>
  </dgm:ptLst>
  <dgm:cxnLst>
    <dgm:cxn modelId="{226E6E0C-AE29-41C5-B1DE-77AE15EB5D77}" srcId="{ACDB33C1-45E8-47D6-B356-2976B8A4643B}" destId="{10E377CE-F57A-49D4-9DA5-E78408E472D9}" srcOrd="1" destOrd="0" parTransId="{BB97DE20-6563-45BB-AB79-4BBD0F7BCA3A}" sibTransId="{3A96537A-4D30-4C50-88D1-2DC389BCF2F9}"/>
    <dgm:cxn modelId="{716A3620-345F-4800-8A1E-CC054FC7E98A}" type="presOf" srcId="{10E377CE-F57A-49D4-9DA5-E78408E472D9}" destId="{1607A916-618A-40E1-90B6-191C8130B4B8}" srcOrd="0" destOrd="0" presId="urn:microsoft.com/office/officeart/2005/8/layout/cycle2"/>
    <dgm:cxn modelId="{2887D427-73C8-48A0-BAB5-B5A29730A9A0}" type="presOf" srcId="{C0480023-5C99-4D8A-9C5D-8A77F774EF6A}" destId="{274E4D3F-CDD7-4D78-83A8-254C8A538D77}" srcOrd="0" destOrd="0" presId="urn:microsoft.com/office/officeart/2005/8/layout/cycle2"/>
    <dgm:cxn modelId="{E9696A60-848E-4797-AC65-ADA36C910957}" srcId="{ACDB33C1-45E8-47D6-B356-2976B8A4643B}" destId="{C0480023-5C99-4D8A-9C5D-8A77F774EF6A}" srcOrd="0" destOrd="0" parTransId="{5C83EBAB-7458-4B37-882A-062B575DDEFC}" sibTransId="{753DDC1B-E916-44E0-A636-10E58C688529}"/>
    <dgm:cxn modelId="{3757884C-CC42-462F-802B-45E5D8901420}" type="presOf" srcId="{753DDC1B-E916-44E0-A636-10E58C688529}" destId="{52ED036F-7916-49B7-887D-571E23803908}" srcOrd="1" destOrd="0" presId="urn:microsoft.com/office/officeart/2005/8/layout/cycle2"/>
    <dgm:cxn modelId="{F15E3A77-04BB-4C36-8EFD-AA0EC74AEB38}" type="presOf" srcId="{ACDB33C1-45E8-47D6-B356-2976B8A4643B}" destId="{81FE1DA7-E6C7-4C3A-94B6-AA5E585A404D}" srcOrd="0" destOrd="0" presId="urn:microsoft.com/office/officeart/2005/8/layout/cycle2"/>
    <dgm:cxn modelId="{9DE61F81-B608-4ABC-B351-5F74DFF3A2FE}" type="presOf" srcId="{753DDC1B-E916-44E0-A636-10E58C688529}" destId="{D5875C4B-CE27-4B65-BE38-3FACFF9FF36C}" srcOrd="0" destOrd="0" presId="urn:microsoft.com/office/officeart/2005/8/layout/cycle2"/>
    <dgm:cxn modelId="{C7A80987-611E-419C-B5B7-0821A66E1116}" type="presOf" srcId="{3A96537A-4D30-4C50-88D1-2DC389BCF2F9}" destId="{54114968-D78E-4C51-9E05-386E9E5DABFF}" srcOrd="0" destOrd="0" presId="urn:microsoft.com/office/officeart/2005/8/layout/cycle2"/>
    <dgm:cxn modelId="{AB100FAA-00E2-4A86-8796-1B0FDCF3A800}" type="presOf" srcId="{5FD50D96-6971-4235-9FFB-41B26E5F0B44}" destId="{57139870-DCB6-4324-9AE4-E42A670BCA8A}" srcOrd="0" destOrd="0" presId="urn:microsoft.com/office/officeart/2005/8/layout/cycle2"/>
    <dgm:cxn modelId="{1F8403B5-ED1A-4239-892D-79B28C3600C0}" srcId="{ACDB33C1-45E8-47D6-B356-2976B8A4643B}" destId="{D4AF9F8E-5ECA-4B57-A926-96059BD5EFA8}" srcOrd="2" destOrd="0" parTransId="{A069AEDE-AC04-48A6-B181-FB9BFC6DB448}" sibTransId="{5FD50D96-6971-4235-9FFB-41B26E5F0B44}"/>
    <dgm:cxn modelId="{D3CCCDD8-B7BA-4325-829A-6D6310962754}" type="presOf" srcId="{D4AF9F8E-5ECA-4B57-A926-96059BD5EFA8}" destId="{A151266A-09CA-4B00-9D6F-26AF29C7B880}" srcOrd="0" destOrd="0" presId="urn:microsoft.com/office/officeart/2005/8/layout/cycle2"/>
    <dgm:cxn modelId="{9387BAE4-FC27-4767-A06E-5049AC1AE669}" type="presOf" srcId="{3A96537A-4D30-4C50-88D1-2DC389BCF2F9}" destId="{AEDFDB8E-821D-4784-BCD9-8EC408B0B19E}" srcOrd="1" destOrd="0" presId="urn:microsoft.com/office/officeart/2005/8/layout/cycle2"/>
    <dgm:cxn modelId="{5C7217EF-8D77-4B61-A71C-B07BD2EBB79B}" type="presOf" srcId="{5FD50D96-6971-4235-9FFB-41B26E5F0B44}" destId="{14836E3C-EA5D-4F74-9D22-B144F75DDC59}" srcOrd="1" destOrd="0" presId="urn:microsoft.com/office/officeart/2005/8/layout/cycle2"/>
    <dgm:cxn modelId="{E1CCB068-3944-4809-9F6D-E4C11B9D82FC}" type="presParOf" srcId="{81FE1DA7-E6C7-4C3A-94B6-AA5E585A404D}" destId="{274E4D3F-CDD7-4D78-83A8-254C8A538D77}" srcOrd="0" destOrd="0" presId="urn:microsoft.com/office/officeart/2005/8/layout/cycle2"/>
    <dgm:cxn modelId="{63D0EA3D-E066-4F2D-8269-5A8AE23B8C73}" type="presParOf" srcId="{81FE1DA7-E6C7-4C3A-94B6-AA5E585A404D}" destId="{D5875C4B-CE27-4B65-BE38-3FACFF9FF36C}" srcOrd="1" destOrd="0" presId="urn:microsoft.com/office/officeart/2005/8/layout/cycle2"/>
    <dgm:cxn modelId="{4ACE057F-720D-4A45-BBC8-36A20FF78D86}" type="presParOf" srcId="{D5875C4B-CE27-4B65-BE38-3FACFF9FF36C}" destId="{52ED036F-7916-49B7-887D-571E23803908}" srcOrd="0" destOrd="0" presId="urn:microsoft.com/office/officeart/2005/8/layout/cycle2"/>
    <dgm:cxn modelId="{A228E85A-C1B6-4F9E-B469-B8E631BC1C2A}" type="presParOf" srcId="{81FE1DA7-E6C7-4C3A-94B6-AA5E585A404D}" destId="{1607A916-618A-40E1-90B6-191C8130B4B8}" srcOrd="2" destOrd="0" presId="urn:microsoft.com/office/officeart/2005/8/layout/cycle2"/>
    <dgm:cxn modelId="{4898AA46-F7EE-4981-A934-78AC597410BF}" type="presParOf" srcId="{81FE1DA7-E6C7-4C3A-94B6-AA5E585A404D}" destId="{54114968-D78E-4C51-9E05-386E9E5DABFF}" srcOrd="3" destOrd="0" presId="urn:microsoft.com/office/officeart/2005/8/layout/cycle2"/>
    <dgm:cxn modelId="{D36128A2-3596-4E47-B5C7-129B1ABD6B11}" type="presParOf" srcId="{54114968-D78E-4C51-9E05-386E9E5DABFF}" destId="{AEDFDB8E-821D-4784-BCD9-8EC408B0B19E}" srcOrd="0" destOrd="0" presId="urn:microsoft.com/office/officeart/2005/8/layout/cycle2"/>
    <dgm:cxn modelId="{BFC65E72-11F3-4D4E-9BCA-6552A9D2B9AD}" type="presParOf" srcId="{81FE1DA7-E6C7-4C3A-94B6-AA5E585A404D}" destId="{A151266A-09CA-4B00-9D6F-26AF29C7B880}" srcOrd="4" destOrd="0" presId="urn:microsoft.com/office/officeart/2005/8/layout/cycle2"/>
    <dgm:cxn modelId="{C9FCE201-2322-4524-B1F2-A0D857FED972}" type="presParOf" srcId="{81FE1DA7-E6C7-4C3A-94B6-AA5E585A404D}" destId="{57139870-DCB6-4324-9AE4-E42A670BCA8A}" srcOrd="5" destOrd="0" presId="urn:microsoft.com/office/officeart/2005/8/layout/cycle2"/>
    <dgm:cxn modelId="{9D6F7C34-6E6D-476C-BD20-6A02F581ADF4}" type="presParOf" srcId="{57139870-DCB6-4324-9AE4-E42A670BCA8A}" destId="{14836E3C-EA5D-4F74-9D22-B144F75DDC59}"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4E4D3F-CDD7-4D78-83A8-254C8A538D77}">
      <dsp:nvSpPr>
        <dsp:cNvPr id="0" name=""/>
        <dsp:cNvSpPr/>
      </dsp:nvSpPr>
      <dsp:spPr>
        <a:xfrm>
          <a:off x="1262334" y="860"/>
          <a:ext cx="1638391" cy="1638391"/>
        </a:xfrm>
        <a:prstGeom prst="ellipse">
          <a:avLst/>
        </a:prstGeom>
        <a:gradFill rotWithShape="0">
          <a:gsLst>
            <a:gs pos="0">
              <a:schemeClr val="accent3">
                <a:shade val="80000"/>
                <a:hueOff val="0"/>
                <a:satOff val="0"/>
                <a:lumOff val="0"/>
                <a:alphaOff val="0"/>
                <a:satMod val="103000"/>
                <a:lumMod val="102000"/>
                <a:tint val="94000"/>
              </a:schemeClr>
            </a:gs>
            <a:gs pos="50000">
              <a:schemeClr val="accent3">
                <a:shade val="80000"/>
                <a:hueOff val="0"/>
                <a:satOff val="0"/>
                <a:lumOff val="0"/>
                <a:alphaOff val="0"/>
                <a:satMod val="110000"/>
                <a:lumMod val="100000"/>
                <a:shade val="100000"/>
              </a:schemeClr>
            </a:gs>
            <a:gs pos="100000">
              <a:schemeClr val="accent3">
                <a:shade val="8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100000"/>
            </a:lnSpc>
            <a:spcBef>
              <a:spcPct val="0"/>
            </a:spcBef>
            <a:spcAft>
              <a:spcPct val="35000"/>
            </a:spcAft>
            <a:buNone/>
          </a:pPr>
          <a:r>
            <a:rPr lang="zh-CN" altLang="en-US" sz="2800" kern="1200" dirty="0"/>
            <a:t>加速度</a:t>
          </a:r>
        </a:p>
      </dsp:txBody>
      <dsp:txXfrm>
        <a:off x="1502271" y="240797"/>
        <a:ext cx="1158517" cy="1158517"/>
      </dsp:txXfrm>
    </dsp:sp>
    <dsp:sp modelId="{D5875C4B-CE27-4B65-BE38-3FACFF9FF36C}">
      <dsp:nvSpPr>
        <dsp:cNvPr id="0" name=""/>
        <dsp:cNvSpPr/>
      </dsp:nvSpPr>
      <dsp:spPr>
        <a:xfrm rot="3600000">
          <a:off x="2472663" y="1597707"/>
          <a:ext cx="434936" cy="552957"/>
        </a:xfrm>
        <a:prstGeom prst="rightArrow">
          <a:avLst>
            <a:gd name="adj1" fmla="val 60000"/>
            <a:gd name="adj2" fmla="val 50000"/>
          </a:avLst>
        </a:prstGeom>
        <a:gradFill rotWithShape="0">
          <a:gsLst>
            <a:gs pos="0">
              <a:schemeClr val="accent3">
                <a:shade val="90000"/>
                <a:hueOff val="0"/>
                <a:satOff val="0"/>
                <a:lumOff val="0"/>
                <a:alphaOff val="0"/>
                <a:satMod val="103000"/>
                <a:lumMod val="102000"/>
                <a:tint val="94000"/>
              </a:schemeClr>
            </a:gs>
            <a:gs pos="50000">
              <a:schemeClr val="accent3">
                <a:shade val="90000"/>
                <a:hueOff val="0"/>
                <a:satOff val="0"/>
                <a:lumOff val="0"/>
                <a:alphaOff val="0"/>
                <a:satMod val="110000"/>
                <a:lumMod val="100000"/>
                <a:shade val="100000"/>
              </a:schemeClr>
            </a:gs>
            <a:gs pos="100000">
              <a:schemeClr val="accent3">
                <a:shade val="9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zh-CN" altLang="en-US" sz="2300" kern="1200"/>
        </a:p>
      </dsp:txBody>
      <dsp:txXfrm>
        <a:off x="2505283" y="1651798"/>
        <a:ext cx="304455" cy="331775"/>
      </dsp:txXfrm>
    </dsp:sp>
    <dsp:sp modelId="{1607A916-618A-40E1-90B6-191C8130B4B8}">
      <dsp:nvSpPr>
        <dsp:cNvPr id="0" name=""/>
        <dsp:cNvSpPr/>
      </dsp:nvSpPr>
      <dsp:spPr>
        <a:xfrm>
          <a:off x="2491847" y="2130439"/>
          <a:ext cx="1638391" cy="1638391"/>
        </a:xfrm>
        <a:prstGeom prst="ellipse">
          <a:avLst/>
        </a:prstGeom>
        <a:gradFill rotWithShape="0">
          <a:gsLst>
            <a:gs pos="0">
              <a:schemeClr val="accent3">
                <a:shade val="80000"/>
                <a:hueOff val="0"/>
                <a:satOff val="0"/>
                <a:lumOff val="9546"/>
                <a:alphaOff val="0"/>
                <a:satMod val="103000"/>
                <a:lumMod val="102000"/>
                <a:tint val="94000"/>
              </a:schemeClr>
            </a:gs>
            <a:gs pos="50000">
              <a:schemeClr val="accent3">
                <a:shade val="80000"/>
                <a:hueOff val="0"/>
                <a:satOff val="0"/>
                <a:lumOff val="9546"/>
                <a:alphaOff val="0"/>
                <a:satMod val="110000"/>
                <a:lumMod val="100000"/>
                <a:shade val="100000"/>
              </a:schemeClr>
            </a:gs>
            <a:gs pos="100000">
              <a:schemeClr val="accent3">
                <a:shade val="80000"/>
                <a:hueOff val="0"/>
                <a:satOff val="0"/>
                <a:lumOff val="9546"/>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100000"/>
            </a:lnSpc>
            <a:spcBef>
              <a:spcPct val="0"/>
            </a:spcBef>
            <a:spcAft>
              <a:spcPct val="35000"/>
            </a:spcAft>
            <a:buNone/>
          </a:pPr>
          <a:r>
            <a:rPr lang="zh-CN" altLang="en-US" sz="2800" kern="1200"/>
            <a:t>速度</a:t>
          </a:r>
        </a:p>
      </dsp:txBody>
      <dsp:txXfrm>
        <a:off x="2731784" y="2370376"/>
        <a:ext cx="1158517" cy="1158517"/>
      </dsp:txXfrm>
    </dsp:sp>
    <dsp:sp modelId="{54114968-D78E-4C51-9E05-386E9E5DABFF}">
      <dsp:nvSpPr>
        <dsp:cNvPr id="0" name=""/>
        <dsp:cNvSpPr/>
      </dsp:nvSpPr>
      <dsp:spPr>
        <a:xfrm rot="10800000">
          <a:off x="1876371" y="2673156"/>
          <a:ext cx="434936" cy="552957"/>
        </a:xfrm>
        <a:prstGeom prst="rightArrow">
          <a:avLst>
            <a:gd name="adj1" fmla="val 60000"/>
            <a:gd name="adj2" fmla="val 50000"/>
          </a:avLst>
        </a:prstGeom>
        <a:gradFill rotWithShape="0">
          <a:gsLst>
            <a:gs pos="0">
              <a:schemeClr val="accent3">
                <a:shade val="90000"/>
                <a:hueOff val="0"/>
                <a:satOff val="0"/>
                <a:lumOff val="7937"/>
                <a:alphaOff val="0"/>
                <a:satMod val="103000"/>
                <a:lumMod val="102000"/>
                <a:tint val="94000"/>
              </a:schemeClr>
            </a:gs>
            <a:gs pos="50000">
              <a:schemeClr val="accent3">
                <a:shade val="90000"/>
                <a:hueOff val="0"/>
                <a:satOff val="0"/>
                <a:lumOff val="7937"/>
                <a:alphaOff val="0"/>
                <a:satMod val="110000"/>
                <a:lumMod val="100000"/>
                <a:shade val="100000"/>
              </a:schemeClr>
            </a:gs>
            <a:gs pos="100000">
              <a:schemeClr val="accent3">
                <a:shade val="90000"/>
                <a:hueOff val="0"/>
                <a:satOff val="0"/>
                <a:lumOff val="7937"/>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zh-CN" altLang="en-US" sz="2300" kern="1200"/>
        </a:p>
      </dsp:txBody>
      <dsp:txXfrm rot="10800000">
        <a:off x="2006852" y="2783747"/>
        <a:ext cx="304455" cy="331775"/>
      </dsp:txXfrm>
    </dsp:sp>
    <dsp:sp modelId="{A151266A-09CA-4B00-9D6F-26AF29C7B880}">
      <dsp:nvSpPr>
        <dsp:cNvPr id="0" name=""/>
        <dsp:cNvSpPr/>
      </dsp:nvSpPr>
      <dsp:spPr>
        <a:xfrm>
          <a:off x="32821" y="2130439"/>
          <a:ext cx="1638391" cy="1638391"/>
        </a:xfrm>
        <a:prstGeom prst="ellipse">
          <a:avLst/>
        </a:prstGeom>
        <a:gradFill rotWithShape="0">
          <a:gsLst>
            <a:gs pos="0">
              <a:schemeClr val="accent3">
                <a:shade val="80000"/>
                <a:hueOff val="0"/>
                <a:satOff val="0"/>
                <a:lumOff val="19092"/>
                <a:alphaOff val="0"/>
                <a:satMod val="103000"/>
                <a:lumMod val="102000"/>
                <a:tint val="94000"/>
              </a:schemeClr>
            </a:gs>
            <a:gs pos="50000">
              <a:schemeClr val="accent3">
                <a:shade val="80000"/>
                <a:hueOff val="0"/>
                <a:satOff val="0"/>
                <a:lumOff val="19092"/>
                <a:alphaOff val="0"/>
                <a:satMod val="110000"/>
                <a:lumMod val="100000"/>
                <a:shade val="100000"/>
              </a:schemeClr>
            </a:gs>
            <a:gs pos="100000">
              <a:schemeClr val="accent3">
                <a:shade val="80000"/>
                <a:hueOff val="0"/>
                <a:satOff val="0"/>
                <a:lumOff val="1909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100000"/>
            </a:lnSpc>
            <a:spcBef>
              <a:spcPct val="0"/>
            </a:spcBef>
            <a:spcAft>
              <a:spcPct val="35000"/>
            </a:spcAft>
            <a:buNone/>
          </a:pPr>
          <a:r>
            <a:rPr lang="zh-CN" altLang="en-US" sz="2800" kern="1200"/>
            <a:t>位移</a:t>
          </a:r>
          <a:endParaRPr lang="en-US" altLang="zh-CN" sz="2800" kern="1200"/>
        </a:p>
      </dsp:txBody>
      <dsp:txXfrm>
        <a:off x="272758" y="2370376"/>
        <a:ext cx="1158517" cy="1158517"/>
      </dsp:txXfrm>
    </dsp:sp>
    <dsp:sp modelId="{57139870-DCB6-4324-9AE4-E42A670BCA8A}">
      <dsp:nvSpPr>
        <dsp:cNvPr id="0" name=""/>
        <dsp:cNvSpPr/>
      </dsp:nvSpPr>
      <dsp:spPr>
        <a:xfrm rot="18000000">
          <a:off x="1243150" y="1619027"/>
          <a:ext cx="434936" cy="552957"/>
        </a:xfrm>
        <a:prstGeom prst="rightArrow">
          <a:avLst>
            <a:gd name="adj1" fmla="val 60000"/>
            <a:gd name="adj2" fmla="val 50000"/>
          </a:avLst>
        </a:prstGeom>
        <a:gradFill rotWithShape="0">
          <a:gsLst>
            <a:gs pos="0">
              <a:schemeClr val="accent3">
                <a:shade val="90000"/>
                <a:hueOff val="0"/>
                <a:satOff val="0"/>
                <a:lumOff val="15875"/>
                <a:alphaOff val="0"/>
                <a:satMod val="103000"/>
                <a:lumMod val="102000"/>
                <a:tint val="94000"/>
              </a:schemeClr>
            </a:gs>
            <a:gs pos="50000">
              <a:schemeClr val="accent3">
                <a:shade val="90000"/>
                <a:hueOff val="0"/>
                <a:satOff val="0"/>
                <a:lumOff val="15875"/>
                <a:alphaOff val="0"/>
                <a:satMod val="110000"/>
                <a:lumMod val="100000"/>
                <a:shade val="100000"/>
              </a:schemeClr>
            </a:gs>
            <a:gs pos="100000">
              <a:schemeClr val="accent3">
                <a:shade val="90000"/>
                <a:hueOff val="0"/>
                <a:satOff val="0"/>
                <a:lumOff val="15875"/>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zh-CN" altLang="en-US" sz="2300" kern="1200"/>
        </a:p>
      </dsp:txBody>
      <dsp:txXfrm>
        <a:off x="1275770" y="1786118"/>
        <a:ext cx="304455" cy="331775"/>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2023/12/23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2023/12/23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2023/12/23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2023/12/23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2023/12/23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2023/12/23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2023/12/23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2023/12/23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2023/12/23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2023/12/23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2023/12/23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2023/12/23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nvSpPr>
        <p:spPr>
          <a:xfrm>
            <a:off x="1906905" y="1863725"/>
            <a:ext cx="8770620" cy="139319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400" kern="1200">
                <a:solidFill>
                  <a:srgbClr val="8FA6AD"/>
                </a:solidFill>
                <a:latin typeface="+mj-lt"/>
                <a:ea typeface="+mj-ea"/>
                <a:cs typeface="+mj-cs"/>
              </a:defRPr>
            </a:lvl1pPr>
          </a:lstStyle>
          <a:p>
            <a:pPr algn="ctr" defTabSz="685800"/>
            <a:r>
              <a:rPr lang="zh-CN" altLang="en-US" sz="6000" b="1" dirty="0">
                <a:solidFill>
                  <a:srgbClr val="49600B"/>
                </a:solidFill>
                <a:latin typeface="微软雅黑" panose="020B0503020204020204" charset="-122"/>
                <a:ea typeface="微软雅黑" panose="020B0503020204020204" charset="-122"/>
                <a:sym typeface="+mn-ea"/>
              </a:rPr>
              <a:t>基础物理实验</a:t>
            </a:r>
          </a:p>
        </p:txBody>
      </p:sp>
      <p:sp>
        <p:nvSpPr>
          <p:cNvPr id="4" name="文本框 3"/>
          <p:cNvSpPr txBox="1"/>
          <p:nvPr/>
        </p:nvSpPr>
        <p:spPr>
          <a:xfrm>
            <a:off x="2860675" y="3770630"/>
            <a:ext cx="6863080" cy="583565"/>
          </a:xfrm>
          <a:prstGeom prst="rect">
            <a:avLst/>
          </a:prstGeom>
          <a:noFill/>
        </p:spPr>
        <p:txBody>
          <a:bodyPr wrap="square" rtlCol="0">
            <a:spAutoFit/>
          </a:bodyPr>
          <a:lstStyle/>
          <a:p>
            <a:pPr algn="ctr" defTabSz="685800"/>
            <a:r>
              <a:rPr lang="zh-CN" altLang="en-US" sz="3200">
                <a:solidFill>
                  <a:srgbClr val="49600B"/>
                </a:solidFill>
              </a:rPr>
              <a:t>测定电梯的参数</a:t>
            </a:r>
            <a:endParaRPr lang="en-US" altLang="zh-CN" sz="3200">
              <a:solidFill>
                <a:srgbClr val="49600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8" name="文本框 45"/>
          <p:cNvSpPr>
            <a:spLocks noChangeArrowheads="1"/>
          </p:cNvSpPr>
          <p:nvPr/>
        </p:nvSpPr>
        <p:spPr bwMode="auto">
          <a:xfrm>
            <a:off x="601980" y="733425"/>
            <a:ext cx="3128645"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41" tIns="34270" rIns="68541" bIns="34270">
            <a:spAutoFit/>
          </a:bodyPr>
          <a:lstStyle/>
          <a:p>
            <a:pPr algn="ctr"/>
            <a:r>
              <a:rPr lang="en-US" altLang="zh-CN" sz="4000" b="1" dirty="0">
                <a:solidFill>
                  <a:srgbClr val="5E7A02"/>
                </a:solidFill>
                <a:latin typeface="微软雅黑 Light" panose="020B0502040204020203" pitchFamily="34" charset="-122"/>
                <a:sym typeface="微软雅黑" panose="020B0503020204020204" charset="-122"/>
              </a:rPr>
              <a:t>CONTENTS</a:t>
            </a:r>
          </a:p>
        </p:txBody>
      </p:sp>
      <p:sp>
        <p:nvSpPr>
          <p:cNvPr id="13" name="矩形 12"/>
          <p:cNvSpPr/>
          <p:nvPr/>
        </p:nvSpPr>
        <p:spPr>
          <a:xfrm>
            <a:off x="1431925" y="2319020"/>
            <a:ext cx="1915795" cy="1886585"/>
          </a:xfrm>
          <a:prstGeom prst="rect">
            <a:avLst/>
          </a:prstGeom>
          <a:solidFill>
            <a:srgbClr val="5E7A02">
              <a:alpha val="75000"/>
            </a:srgbClr>
          </a:solidFill>
          <a:ln>
            <a:noFill/>
          </a:ln>
          <a:effectLst>
            <a:reflection blurRad="6350" stA="52000" endA="300" endPos="35000" dir="5400000" sy="-100000" algn="bl" rotWithShape="0"/>
          </a:effectLst>
          <a:scene3d>
            <a:camera prst="perspectiveRight" fov="7200000">
              <a:rot lat="0" lon="19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r>
              <a:rPr lang="en-US" altLang="zh-CN" sz="3200" b="1" dirty="0">
                <a:solidFill>
                  <a:schemeClr val="bg1"/>
                </a:solidFill>
                <a:latin typeface="Calibri" panose="020F0502020204030204"/>
                <a:sym typeface="+mn-ea"/>
              </a:rPr>
              <a:t>01</a:t>
            </a:r>
            <a:r>
              <a:rPr lang="en-US" altLang="zh-CN" sz="2000" b="1" dirty="0">
                <a:solidFill>
                  <a:schemeClr val="bg1"/>
                </a:solidFill>
                <a:latin typeface="Calibri" panose="020F0502020204030204"/>
                <a:sym typeface="+mn-ea"/>
              </a:rPr>
              <a:t>  </a:t>
            </a:r>
          </a:p>
          <a:p>
            <a:pPr algn="ctr" defTabSz="685800"/>
            <a:r>
              <a:rPr kumimoji="0" lang="zh-CN" altLang="en-US" sz="2000" b="1" i="0" u="none" strike="noStrike" kern="1200" cap="none" spc="0" normalizeH="0" baseline="0" noProof="0" dirty="0">
                <a:ln>
                  <a:noFill/>
                </a:ln>
                <a:solidFill>
                  <a:schemeClr val="bg1"/>
                </a:solidFill>
                <a:effectLst/>
                <a:uLnTx/>
                <a:uFillTx/>
                <a:latin typeface="Calibri" panose="020F0502020204030204"/>
                <a:ea typeface="微软雅黑" panose="020B0503020204020204" charset="-122"/>
                <a:cs typeface="+mn-ea"/>
                <a:sym typeface="+mn-ea"/>
              </a:rPr>
              <a:t>实验原理</a:t>
            </a:r>
          </a:p>
        </p:txBody>
      </p:sp>
      <p:sp>
        <p:nvSpPr>
          <p:cNvPr id="5" name="矩形 4"/>
          <p:cNvSpPr/>
          <p:nvPr/>
        </p:nvSpPr>
        <p:spPr>
          <a:xfrm>
            <a:off x="3730625" y="2503170"/>
            <a:ext cx="1871345" cy="1851660"/>
          </a:xfrm>
          <a:prstGeom prst="rect">
            <a:avLst/>
          </a:prstGeom>
          <a:solidFill>
            <a:srgbClr val="5E7A02">
              <a:alpha val="75000"/>
            </a:srgbClr>
          </a:solidFill>
          <a:ln>
            <a:noFill/>
          </a:ln>
          <a:effectLst>
            <a:reflection blurRad="6350" stA="52000" endA="300" endPos="35000" dir="5400000" sy="-100000" algn="bl" rotWithShape="0"/>
          </a:effectLst>
          <a:scene3d>
            <a:camera prst="perspectiveRight" fov="7200000">
              <a:rot lat="0" lon="19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r>
              <a:rPr lang="en-US" altLang="zh-CN" sz="2800" b="1" dirty="0">
                <a:solidFill>
                  <a:schemeClr val="bg1"/>
                </a:solidFill>
                <a:latin typeface="Calibri" panose="020F0502020204030204"/>
                <a:sym typeface="+mn-ea"/>
              </a:rPr>
              <a:t>02</a:t>
            </a:r>
          </a:p>
          <a:p>
            <a:pPr algn="ctr" defTabSz="685800"/>
            <a:r>
              <a:rPr kumimoji="0" lang="zh-CN" altLang="en-US" sz="2000" b="1" i="0" u="none" strike="noStrike" kern="1200" cap="none" spc="0" normalizeH="0" baseline="0" noProof="0" dirty="0">
                <a:ln>
                  <a:noFill/>
                </a:ln>
                <a:solidFill>
                  <a:schemeClr val="bg1"/>
                </a:solidFill>
                <a:effectLst/>
                <a:uLnTx/>
                <a:uFillTx/>
                <a:latin typeface="Calibri" panose="020F0502020204030204"/>
                <a:ea typeface="微软雅黑" panose="020B0503020204020204" charset="-122"/>
                <a:cs typeface="+mn-ea"/>
                <a:sym typeface="+mn-ea"/>
              </a:rPr>
              <a:t>实验步骤</a:t>
            </a:r>
          </a:p>
        </p:txBody>
      </p:sp>
      <p:sp>
        <p:nvSpPr>
          <p:cNvPr id="6" name="矩形 5"/>
          <p:cNvSpPr/>
          <p:nvPr/>
        </p:nvSpPr>
        <p:spPr>
          <a:xfrm>
            <a:off x="6182360" y="2607310"/>
            <a:ext cx="1905635" cy="1908810"/>
          </a:xfrm>
          <a:prstGeom prst="rect">
            <a:avLst/>
          </a:prstGeom>
          <a:solidFill>
            <a:srgbClr val="5E7A02">
              <a:alpha val="75000"/>
            </a:srgbClr>
          </a:solidFill>
          <a:ln>
            <a:noFill/>
          </a:ln>
          <a:effectLst>
            <a:reflection blurRad="6350" stA="52000" endA="300" endPos="35000" dir="5400000" sy="-100000" algn="bl" rotWithShape="0"/>
          </a:effectLst>
          <a:scene3d>
            <a:camera prst="perspectiveRight" fov="7200000">
              <a:rot lat="0" lon="19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r>
              <a:rPr kumimoji="0" lang="en-US" altLang="zh-CN" sz="2800" b="1" i="0" u="none" strike="noStrike" kern="1200" cap="none" spc="0" normalizeH="0" baseline="0" noProof="0" dirty="0">
                <a:ln>
                  <a:noFill/>
                </a:ln>
                <a:solidFill>
                  <a:schemeClr val="bg1"/>
                </a:solidFill>
                <a:effectLst/>
                <a:uLnTx/>
                <a:uFillTx/>
                <a:latin typeface="Calibri" panose="020F0502020204030204"/>
                <a:ea typeface="微软雅黑" panose="020B0503020204020204" charset="-122"/>
                <a:cs typeface="+mn-ea"/>
                <a:sym typeface="+mn-ea"/>
              </a:rPr>
              <a:t>03</a:t>
            </a:r>
            <a:endParaRPr kumimoji="0" lang="zh-CN" altLang="en-US" sz="2800" b="1" i="0" u="none" strike="noStrike" kern="1200" cap="none" spc="0" normalizeH="0" baseline="0" noProof="0" dirty="0">
              <a:ln>
                <a:noFill/>
              </a:ln>
              <a:solidFill>
                <a:schemeClr val="bg1"/>
              </a:solidFill>
              <a:effectLst/>
              <a:uLnTx/>
              <a:uFillTx/>
              <a:latin typeface="Calibri" panose="020F0502020204030204"/>
              <a:ea typeface="微软雅黑" panose="020B0503020204020204" charset="-122"/>
              <a:cs typeface="+mn-ea"/>
              <a:sym typeface="+mn-ea"/>
            </a:endParaRPr>
          </a:p>
          <a:p>
            <a:pPr algn="ctr" defTabSz="685800"/>
            <a:r>
              <a:rPr kumimoji="0" lang="zh-CN" altLang="en-US" sz="2000" b="1" i="0" u="none" strike="noStrike" kern="1200" cap="none" spc="0" normalizeH="0" baseline="0" noProof="0" dirty="0">
                <a:ln>
                  <a:noFill/>
                </a:ln>
                <a:solidFill>
                  <a:schemeClr val="bg1"/>
                </a:solidFill>
                <a:effectLst/>
                <a:uLnTx/>
                <a:uFillTx/>
                <a:latin typeface="Calibri" panose="020F0502020204030204"/>
                <a:ea typeface="微软雅黑" panose="020B0503020204020204" charset="-122"/>
                <a:cs typeface="+mn-ea"/>
                <a:sym typeface="+mn-ea"/>
              </a:rPr>
              <a:t>数据分析与处理</a:t>
            </a:r>
          </a:p>
        </p:txBody>
      </p:sp>
      <p:sp>
        <p:nvSpPr>
          <p:cNvPr id="7" name="矩形 6"/>
          <p:cNvSpPr/>
          <p:nvPr/>
        </p:nvSpPr>
        <p:spPr>
          <a:xfrm>
            <a:off x="8470265" y="2687955"/>
            <a:ext cx="1790065" cy="1828800"/>
          </a:xfrm>
          <a:prstGeom prst="rect">
            <a:avLst/>
          </a:prstGeom>
          <a:solidFill>
            <a:srgbClr val="5E7A02">
              <a:alpha val="75000"/>
            </a:srgbClr>
          </a:solidFill>
          <a:ln>
            <a:noFill/>
          </a:ln>
          <a:effectLst>
            <a:reflection blurRad="6350" stA="52000" endA="300" endPos="35000" dir="5400000" sy="-100000" algn="bl" rotWithShape="0"/>
          </a:effectLst>
          <a:scene3d>
            <a:camera prst="perspectiveRight" fov="7200000">
              <a:rot lat="0" lon="19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r>
              <a:rPr kumimoji="0" lang="en-US" altLang="zh-CN" sz="2800" b="1" i="0" u="none" strike="noStrike" kern="1200" cap="none" spc="0" normalizeH="0" baseline="0" noProof="0" dirty="0">
                <a:ln>
                  <a:noFill/>
                </a:ln>
                <a:solidFill>
                  <a:schemeClr val="bg1"/>
                </a:solidFill>
                <a:effectLst/>
                <a:uLnTx/>
                <a:uFillTx/>
                <a:latin typeface="Calibri" panose="020F0502020204030204"/>
                <a:ea typeface="微软雅黑" panose="020B0503020204020204" charset="-122"/>
                <a:cs typeface="+mn-ea"/>
                <a:sym typeface="+mn-ea"/>
              </a:rPr>
              <a:t>04</a:t>
            </a:r>
            <a:endParaRPr kumimoji="0" lang="zh-CN" altLang="en-US" sz="2800" b="1" i="0" u="none" strike="noStrike" kern="1200" cap="none" spc="0" normalizeH="0" baseline="0" noProof="0" dirty="0">
              <a:ln>
                <a:noFill/>
              </a:ln>
              <a:solidFill>
                <a:schemeClr val="bg1"/>
              </a:solidFill>
              <a:effectLst/>
              <a:uLnTx/>
              <a:uFillTx/>
              <a:latin typeface="Calibri" panose="020F0502020204030204"/>
              <a:ea typeface="微软雅黑" panose="020B0503020204020204" charset="-122"/>
              <a:cs typeface="+mn-ea"/>
              <a:sym typeface="+mn-ea"/>
            </a:endParaRPr>
          </a:p>
          <a:p>
            <a:pPr algn="ctr" defTabSz="685800"/>
            <a:r>
              <a:rPr kumimoji="0" lang="zh-CN" altLang="en-US" sz="2000" b="1" i="0" u="none" strike="noStrike" kern="1200" cap="none" spc="0" normalizeH="0" baseline="0" noProof="0" dirty="0">
                <a:ln>
                  <a:noFill/>
                </a:ln>
                <a:solidFill>
                  <a:schemeClr val="bg1"/>
                </a:solidFill>
                <a:effectLst/>
                <a:uLnTx/>
                <a:uFillTx/>
                <a:latin typeface="Calibri" panose="020F0502020204030204"/>
                <a:ea typeface="微软雅黑" panose="020B0503020204020204" charset="-122"/>
                <a:cs typeface="+mn-ea"/>
                <a:sym typeface="+mn-ea"/>
              </a:rPr>
              <a:t>结论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1000"/>
                                        <p:tgtEl>
                                          <p:spTgt spid="13"/>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1000"/>
                                        <p:tgtEl>
                                          <p:spTgt spid="5"/>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1000"/>
                                        <p:tgtEl>
                                          <p:spTgt spid="6"/>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5" grpId="0" bldLvl="0" animBg="1"/>
      <p:bldP spid="6" grpId="0" bldLvl="0" animBg="1"/>
      <p:bldP spid="7"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2859405" y="2160270"/>
            <a:ext cx="6748145" cy="1322070"/>
          </a:xfrm>
          <a:prstGeom prst="rect">
            <a:avLst/>
          </a:prstGeom>
          <a:noFill/>
        </p:spPr>
        <p:txBody>
          <a:bodyPr wrap="square" rtlCol="0">
            <a:spAutoFit/>
          </a:bodyPr>
          <a:lstStyle/>
          <a:p>
            <a:pPr algn="ctr"/>
            <a:r>
              <a:rPr lang="zh-CN" altLang="en-US" sz="8000">
                <a:solidFill>
                  <a:srgbClr val="49600B"/>
                </a:solidFill>
                <a:sym typeface="+mn-ea"/>
              </a:rPr>
              <a:t>实验原理</a:t>
            </a:r>
          </a:p>
        </p:txBody>
      </p:sp>
      <p:sp>
        <p:nvSpPr>
          <p:cNvPr id="14" name="TextBox 111"/>
          <p:cNvSpPr txBox="1">
            <a:spLocks noChangeArrowheads="1"/>
          </p:cNvSpPr>
          <p:nvPr/>
        </p:nvSpPr>
        <p:spPr bwMode="auto">
          <a:xfrm>
            <a:off x="3574819" y="3557085"/>
            <a:ext cx="531777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29" tIns="34263" rIns="68529" bIns="34263">
            <a:spAutoFit/>
          </a:bodyPr>
          <a:lstStyle>
            <a:lvl1pPr>
              <a:defRPr>
                <a:solidFill>
                  <a:schemeClr val="tx1"/>
                </a:solidFill>
                <a:latin typeface="Lao UI" panose="020B0502040204020203" pitchFamily="34" charset="0"/>
                <a:ea typeface="微软雅黑" panose="020B0503020204020204" charset="-122"/>
              </a:defRPr>
            </a:lvl1pPr>
            <a:lvl2pPr marL="742950" indent="-285750">
              <a:defRPr>
                <a:solidFill>
                  <a:schemeClr val="tx1"/>
                </a:solidFill>
                <a:latin typeface="Lao UI" panose="020B0502040204020203" pitchFamily="34" charset="0"/>
                <a:ea typeface="微软雅黑" panose="020B0503020204020204" charset="-122"/>
              </a:defRPr>
            </a:lvl2pPr>
            <a:lvl3pPr marL="1143000" indent="-228600">
              <a:defRPr>
                <a:solidFill>
                  <a:schemeClr val="tx1"/>
                </a:solidFill>
                <a:latin typeface="Lao UI" panose="020B0502040204020203" pitchFamily="34" charset="0"/>
                <a:ea typeface="微软雅黑" panose="020B0503020204020204" charset="-122"/>
              </a:defRPr>
            </a:lvl3pPr>
            <a:lvl4pPr marL="1600200" indent="-228600">
              <a:defRPr>
                <a:solidFill>
                  <a:schemeClr val="tx1"/>
                </a:solidFill>
                <a:latin typeface="Lao UI" panose="020B0502040204020203" pitchFamily="34" charset="0"/>
                <a:ea typeface="微软雅黑" panose="020B0503020204020204" charset="-122"/>
              </a:defRPr>
            </a:lvl4pPr>
            <a:lvl5pPr marL="2057400" indent="-228600">
              <a:defRPr>
                <a:solidFill>
                  <a:schemeClr val="tx1"/>
                </a:solidFill>
                <a:latin typeface="Lao UI" panose="020B0502040204020203" pitchFamily="34" charset="0"/>
                <a:ea typeface="微软雅黑" panose="020B0503020204020204" charset="-122"/>
              </a:defRPr>
            </a:lvl5pPr>
            <a:lvl6pPr marL="25146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6pPr>
            <a:lvl7pPr marL="29718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7pPr>
            <a:lvl8pPr marL="34290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8pPr>
            <a:lvl9pPr marL="38862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9pPr>
          </a:lstStyle>
          <a:p>
            <a:pPr algn="ctr" eaLnBrk="1" hangingPunct="1">
              <a:lnSpc>
                <a:spcPct val="120000"/>
              </a:lnSpc>
            </a:pPr>
            <a:r>
              <a:rPr lang="zh-CN" altLang="en-US" sz="1600" dirty="0">
                <a:solidFill>
                  <a:srgbClr val="49600B"/>
                </a:solidFill>
                <a:latin typeface="微软雅黑 Light" panose="020B0502040204020203" pitchFamily="34" charset="-122"/>
                <a:ea typeface="微软雅黑 Light" panose="020B0502040204020203" pitchFamily="34" charset="-122"/>
                <a:cs typeface="Arial" panose="020B0604020202020204" pitchFamily="34" charset="0"/>
              </a:rPr>
              <a:t>测量电梯参数的理论指导</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EEF7"/>
        </a:solidFill>
        <a:effectLst/>
      </p:bgPr>
    </p:bg>
    <p:spTree>
      <p:nvGrpSpPr>
        <p:cNvPr id="1" name=""/>
        <p:cNvGrpSpPr/>
        <p:nvPr/>
      </p:nvGrpSpPr>
      <p:grpSpPr>
        <a:xfrm>
          <a:off x="0" y="0"/>
          <a:ext cx="0" cy="0"/>
          <a:chOff x="0" y="0"/>
          <a:chExt cx="0" cy="0"/>
        </a:xfrm>
      </p:grpSpPr>
      <p:pic>
        <p:nvPicPr>
          <p:cNvPr id="3" name="图片 2" descr="e68569b5610de42a2e438dc83dfbdba37132d60122c79-lNdYgP_fw658 (1)"/>
          <p:cNvPicPr>
            <a:picLocks noChangeAspect="1"/>
          </p:cNvPicPr>
          <p:nvPr>
            <p:custDataLst>
              <p:tags r:id="rId1"/>
            </p:custDataLst>
          </p:nvPr>
        </p:nvPicPr>
        <p:blipFill>
          <a:blip r:embed="rId3"/>
          <a:stretch>
            <a:fillRect/>
          </a:stretch>
        </p:blipFill>
        <p:spPr>
          <a:xfrm>
            <a:off x="7332980" y="535305"/>
            <a:ext cx="4674235" cy="6322695"/>
          </a:xfrm>
          <a:prstGeom prst="rect">
            <a:avLst/>
          </a:prstGeom>
        </p:spPr>
      </p:pic>
      <p:sp>
        <p:nvSpPr>
          <p:cNvPr id="2" name="矩形 1"/>
          <p:cNvSpPr/>
          <p:nvPr/>
        </p:nvSpPr>
        <p:spPr>
          <a:xfrm>
            <a:off x="115570" y="118110"/>
            <a:ext cx="11998325" cy="6622415"/>
          </a:xfrm>
          <a:prstGeom prst="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p:nvSpPr>
        <p:spPr>
          <a:xfrm>
            <a:off x="438150" y="354330"/>
            <a:ext cx="4299585" cy="797560"/>
          </a:xfrm>
          <a:prstGeom prst="round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543685" y="430530"/>
            <a:ext cx="3432175" cy="645160"/>
          </a:xfrm>
          <a:prstGeom prst="rect">
            <a:avLst/>
          </a:prstGeom>
          <a:noFill/>
        </p:spPr>
        <p:txBody>
          <a:bodyPr wrap="square" rtlCol="0">
            <a:spAutoFit/>
          </a:bodyPr>
          <a:lstStyle/>
          <a:p>
            <a:r>
              <a:rPr lang="zh-CN" altLang="en-US" sz="3600">
                <a:solidFill>
                  <a:srgbClr val="49600B"/>
                </a:solidFill>
              </a:rPr>
              <a:t>实验仪器</a:t>
            </a:r>
          </a:p>
        </p:txBody>
      </p:sp>
      <p:sp>
        <p:nvSpPr>
          <p:cNvPr id="4100" name="TextBox 13"/>
          <p:cNvSpPr txBox="1"/>
          <p:nvPr/>
        </p:nvSpPr>
        <p:spPr>
          <a:xfrm>
            <a:off x="901065" y="3391535"/>
            <a:ext cx="3836035" cy="492125"/>
          </a:xfrm>
          <a:prstGeom prst="rect">
            <a:avLst/>
          </a:prstGeom>
          <a:noFill/>
          <a:ln w="9525">
            <a:noFill/>
          </a:ln>
        </p:spPr>
        <p:txBody>
          <a:bodyPr wrap="square" lIns="0" tIns="0" rIns="0" bIns="0">
            <a:spAutoFit/>
          </a:bodyPr>
          <a:lstStyle/>
          <a:p>
            <a:pPr lvl="0" algn="l" defTabSz="1216025" eaLnBrk="1" hangingPunct="1">
              <a:spcBef>
                <a:spcPct val="20000"/>
              </a:spcBef>
            </a:pPr>
            <a:r>
              <a:rPr lang="zh-CN" altLang="en-US" sz="3200" b="1" dirty="0">
                <a:solidFill>
                  <a:srgbClr val="49600B"/>
                </a:solidFill>
                <a:latin typeface="Calibri Light" panose="020F0302020204030204"/>
                <a:sym typeface="+mn-ea"/>
              </a:rPr>
              <a:t>实验对象</a:t>
            </a:r>
          </a:p>
        </p:txBody>
      </p:sp>
      <p:sp>
        <p:nvSpPr>
          <p:cNvPr id="32" name="矩形 31"/>
          <p:cNvSpPr/>
          <p:nvPr/>
        </p:nvSpPr>
        <p:spPr>
          <a:xfrm>
            <a:off x="831215" y="1798320"/>
            <a:ext cx="3263265" cy="922020"/>
          </a:xfrm>
          <a:prstGeom prst="rect">
            <a:avLst/>
          </a:prstGeom>
        </p:spPr>
        <p:txBody>
          <a:bodyPr wrap="square">
            <a:spAutoFit/>
          </a:bodyPr>
          <a:lstStyle/>
          <a:p>
            <a:pPr marL="285750" indent="-285750" algn="just">
              <a:buFont typeface="Arial" panose="020B0604020202020204" pitchFamily="34" charset="0"/>
              <a:buChar char="•"/>
            </a:pPr>
            <a:r>
              <a:rPr lang="zh-CN" altLang="en-US" dirty="0">
                <a:solidFill>
                  <a:schemeClr val="bg1">
                    <a:lumMod val="50000"/>
                  </a:schemeClr>
                </a:solidFill>
              </a:rPr>
              <a:t>电子秤</a:t>
            </a:r>
          </a:p>
          <a:p>
            <a:pPr marL="285750" indent="-285750" algn="just">
              <a:buFont typeface="Arial" panose="020B0604020202020204" pitchFamily="34" charset="0"/>
              <a:buChar char="•"/>
            </a:pPr>
            <a:r>
              <a:rPr lang="zh-CN" altLang="en-US" dirty="0">
                <a:solidFill>
                  <a:schemeClr val="bg1">
                    <a:lumMod val="50000"/>
                  </a:schemeClr>
                </a:solidFill>
              </a:rPr>
              <a:t>手机</a:t>
            </a:r>
          </a:p>
          <a:p>
            <a:pPr marL="285750" indent="-285750" algn="just">
              <a:buFont typeface="Arial" panose="020B0604020202020204" pitchFamily="34" charset="0"/>
              <a:buChar char="•"/>
            </a:pPr>
            <a:endParaRPr lang="zh-CN" altLang="en-US" dirty="0">
              <a:solidFill>
                <a:schemeClr val="bg1">
                  <a:lumMod val="50000"/>
                </a:schemeClr>
              </a:solidFill>
            </a:endParaRPr>
          </a:p>
        </p:txBody>
      </p:sp>
      <p:sp>
        <p:nvSpPr>
          <p:cNvPr id="7" name="矩形 6"/>
          <p:cNvSpPr/>
          <p:nvPr/>
        </p:nvSpPr>
        <p:spPr>
          <a:xfrm>
            <a:off x="831215" y="4375785"/>
            <a:ext cx="3263265" cy="645160"/>
          </a:xfrm>
          <a:prstGeom prst="rect">
            <a:avLst/>
          </a:prstGeom>
        </p:spPr>
        <p:txBody>
          <a:bodyPr wrap="square">
            <a:spAutoFit/>
          </a:bodyPr>
          <a:lstStyle/>
          <a:p>
            <a:pPr algn="just"/>
            <a:r>
              <a:rPr lang="zh-CN" altLang="en-US" dirty="0">
                <a:solidFill>
                  <a:schemeClr val="bg1">
                    <a:lumMod val="50000"/>
                  </a:schemeClr>
                </a:solidFill>
              </a:rPr>
              <a:t>理学院载人电梯</a:t>
            </a:r>
          </a:p>
          <a:p>
            <a:pPr algn="just"/>
            <a:r>
              <a:rPr lang="zh-CN" altLang="en-US" dirty="0">
                <a:solidFill>
                  <a:schemeClr val="bg1">
                    <a:lumMod val="50000"/>
                  </a:schemeClr>
                </a:solidFill>
              </a:rPr>
              <a:t>（高度：</a:t>
            </a:r>
            <a:r>
              <a:rPr lang="en-US" altLang="zh-CN" dirty="0">
                <a:solidFill>
                  <a:schemeClr val="bg1">
                    <a:lumMod val="50000"/>
                  </a:schemeClr>
                </a:solidFill>
              </a:rPr>
              <a:t>1</a:t>
            </a:r>
            <a:r>
              <a:rPr lang="zh-CN" altLang="en-US" dirty="0">
                <a:solidFill>
                  <a:schemeClr val="bg1">
                    <a:lumMod val="50000"/>
                  </a:schemeClr>
                </a:solidFill>
              </a:rPr>
              <a:t>到</a:t>
            </a:r>
            <a:r>
              <a:rPr lang="en-US" altLang="zh-CN" dirty="0">
                <a:solidFill>
                  <a:schemeClr val="bg1">
                    <a:lumMod val="50000"/>
                  </a:schemeClr>
                </a:solidFill>
              </a:rPr>
              <a:t>4</a:t>
            </a:r>
            <a:r>
              <a:rPr lang="zh-CN" altLang="en-US" dirty="0">
                <a:solidFill>
                  <a:schemeClr val="bg1">
                    <a:lumMod val="50000"/>
                  </a:schemeClr>
                </a:solidFill>
              </a:rPr>
              <a:t>层）</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descr="e500282f30f13a69e359b15dce41a2a6f156dfd41afa3-MPGbsk_fw658"/>
          <p:cNvPicPr>
            <a:picLocks noChangeAspect="1"/>
          </p:cNvPicPr>
          <p:nvPr/>
        </p:nvPicPr>
        <p:blipFill>
          <a:blip r:embed="rId2"/>
          <a:stretch>
            <a:fillRect/>
          </a:stretch>
        </p:blipFill>
        <p:spPr>
          <a:xfrm>
            <a:off x="0" y="1490345"/>
            <a:ext cx="3543300" cy="5250180"/>
          </a:xfrm>
          <a:prstGeom prst="rect">
            <a:avLst/>
          </a:prstGeom>
        </p:spPr>
      </p:pic>
      <p:sp>
        <p:nvSpPr>
          <p:cNvPr id="5" name="文本框 4"/>
          <p:cNvSpPr txBox="1"/>
          <p:nvPr/>
        </p:nvSpPr>
        <p:spPr>
          <a:xfrm>
            <a:off x="831215" y="430530"/>
            <a:ext cx="3432175" cy="645160"/>
          </a:xfrm>
          <a:prstGeom prst="rect">
            <a:avLst/>
          </a:prstGeom>
          <a:noFill/>
        </p:spPr>
        <p:txBody>
          <a:bodyPr wrap="square" rtlCol="0">
            <a:spAutoFit/>
          </a:bodyPr>
          <a:lstStyle/>
          <a:p>
            <a:r>
              <a:rPr lang="zh-CN" altLang="en-US" sz="3600">
                <a:solidFill>
                  <a:srgbClr val="49600B"/>
                </a:solidFill>
                <a:sym typeface="+mn-ea"/>
              </a:rPr>
              <a:t>实验原理</a:t>
            </a:r>
          </a:p>
        </p:txBody>
      </p:sp>
      <p:sp>
        <p:nvSpPr>
          <p:cNvPr id="3" name="矩形 2"/>
          <p:cNvSpPr/>
          <p:nvPr/>
        </p:nvSpPr>
        <p:spPr>
          <a:xfrm>
            <a:off x="115570" y="118110"/>
            <a:ext cx="11998325" cy="6622415"/>
          </a:xfrm>
          <a:prstGeom prst="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p:nvSpPr>
        <p:spPr>
          <a:xfrm>
            <a:off x="438150" y="354330"/>
            <a:ext cx="3296920" cy="797560"/>
          </a:xfrm>
          <a:prstGeom prst="round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5" name="Shape 2685"/>
          <p:cNvSpPr/>
          <p:nvPr/>
        </p:nvSpPr>
        <p:spPr>
          <a:xfrm>
            <a:off x="21083588" y="2852738"/>
            <a:ext cx="558800" cy="558800"/>
          </a:xfrm>
          <a:custGeom>
            <a:avLst/>
            <a:gdLst/>
            <a:ahLst/>
            <a:cxnLst>
              <a:cxn ang="0">
                <a:pos x="wd2" y="hd2"/>
              </a:cxn>
              <a:cxn ang="5400000">
                <a:pos x="wd2" y="hd2"/>
              </a:cxn>
              <a:cxn ang="10800000">
                <a:pos x="wd2" y="hd2"/>
              </a:cxn>
              <a:cxn ang="16200000">
                <a:pos x="wd2" y="hd2"/>
              </a:cxn>
            </a:cxnLst>
            <a:rect l="0" t="0" r="r" b="b"/>
            <a:pathLst>
              <a:path w="21600" h="21600" extrusionOk="0">
                <a:moveTo>
                  <a:pt x="20618" y="19145"/>
                </a:moveTo>
                <a:cubicBezTo>
                  <a:pt x="20618" y="19959"/>
                  <a:pt x="19959" y="20618"/>
                  <a:pt x="19145" y="20618"/>
                </a:cubicBezTo>
                <a:cubicBezTo>
                  <a:pt x="18332" y="20618"/>
                  <a:pt x="17673" y="19959"/>
                  <a:pt x="17673" y="19145"/>
                </a:cubicBezTo>
                <a:lnTo>
                  <a:pt x="17673" y="14236"/>
                </a:lnTo>
                <a:cubicBezTo>
                  <a:pt x="17673" y="13424"/>
                  <a:pt x="18332" y="12764"/>
                  <a:pt x="19145" y="12764"/>
                </a:cubicBezTo>
                <a:cubicBezTo>
                  <a:pt x="19959" y="12764"/>
                  <a:pt x="20618" y="13424"/>
                  <a:pt x="20618" y="14236"/>
                </a:cubicBezTo>
                <a:cubicBezTo>
                  <a:pt x="20618" y="14236"/>
                  <a:pt x="20618" y="19145"/>
                  <a:pt x="20618" y="19145"/>
                </a:cubicBezTo>
                <a:close/>
                <a:moveTo>
                  <a:pt x="3927" y="14236"/>
                </a:moveTo>
                <a:lnTo>
                  <a:pt x="3927" y="19145"/>
                </a:lnTo>
                <a:cubicBezTo>
                  <a:pt x="3927" y="19959"/>
                  <a:pt x="3268" y="20618"/>
                  <a:pt x="2455" y="20618"/>
                </a:cubicBezTo>
                <a:cubicBezTo>
                  <a:pt x="1641" y="20618"/>
                  <a:pt x="982" y="19959"/>
                  <a:pt x="982" y="19145"/>
                </a:cubicBezTo>
                <a:lnTo>
                  <a:pt x="982" y="14236"/>
                </a:lnTo>
                <a:cubicBezTo>
                  <a:pt x="982" y="13424"/>
                  <a:pt x="1641" y="12764"/>
                  <a:pt x="2455" y="12764"/>
                </a:cubicBezTo>
                <a:cubicBezTo>
                  <a:pt x="3268" y="12764"/>
                  <a:pt x="3927" y="13424"/>
                  <a:pt x="3927" y="14236"/>
                </a:cubicBezTo>
                <a:moveTo>
                  <a:pt x="19636" y="11831"/>
                </a:moveTo>
                <a:lnTo>
                  <a:pt x="19636" y="5891"/>
                </a:lnTo>
                <a:cubicBezTo>
                  <a:pt x="19636" y="2638"/>
                  <a:pt x="16999" y="0"/>
                  <a:pt x="13745" y="0"/>
                </a:cubicBezTo>
                <a:lnTo>
                  <a:pt x="7855" y="0"/>
                </a:lnTo>
                <a:cubicBezTo>
                  <a:pt x="4601" y="0"/>
                  <a:pt x="1964" y="2638"/>
                  <a:pt x="1964" y="5891"/>
                </a:cubicBezTo>
                <a:lnTo>
                  <a:pt x="1964" y="11831"/>
                </a:lnTo>
                <a:cubicBezTo>
                  <a:pt x="843" y="12059"/>
                  <a:pt x="0" y="13049"/>
                  <a:pt x="0" y="14236"/>
                </a:cubicBezTo>
                <a:lnTo>
                  <a:pt x="0" y="19145"/>
                </a:lnTo>
                <a:cubicBezTo>
                  <a:pt x="0" y="20501"/>
                  <a:pt x="1099" y="21600"/>
                  <a:pt x="2455" y="21600"/>
                </a:cubicBezTo>
                <a:cubicBezTo>
                  <a:pt x="3810" y="21600"/>
                  <a:pt x="4909" y="20501"/>
                  <a:pt x="4909" y="19145"/>
                </a:cubicBezTo>
                <a:lnTo>
                  <a:pt x="4909" y="14236"/>
                </a:lnTo>
                <a:cubicBezTo>
                  <a:pt x="4909" y="13049"/>
                  <a:pt x="4066" y="12059"/>
                  <a:pt x="2945" y="11831"/>
                </a:cubicBezTo>
                <a:lnTo>
                  <a:pt x="2945" y="5891"/>
                </a:lnTo>
                <a:cubicBezTo>
                  <a:pt x="2945" y="3180"/>
                  <a:pt x="5144" y="982"/>
                  <a:pt x="7855" y="982"/>
                </a:cubicBezTo>
                <a:lnTo>
                  <a:pt x="13745" y="982"/>
                </a:lnTo>
                <a:cubicBezTo>
                  <a:pt x="16457" y="982"/>
                  <a:pt x="18655" y="3180"/>
                  <a:pt x="18655" y="5891"/>
                </a:cubicBezTo>
                <a:lnTo>
                  <a:pt x="18655" y="11831"/>
                </a:lnTo>
                <a:cubicBezTo>
                  <a:pt x="17534" y="12059"/>
                  <a:pt x="16691" y="13049"/>
                  <a:pt x="16691" y="14236"/>
                </a:cubicBezTo>
                <a:lnTo>
                  <a:pt x="16691" y="19145"/>
                </a:lnTo>
                <a:cubicBezTo>
                  <a:pt x="16691" y="20501"/>
                  <a:pt x="17790" y="21600"/>
                  <a:pt x="19145" y="21600"/>
                </a:cubicBezTo>
                <a:cubicBezTo>
                  <a:pt x="20501" y="21600"/>
                  <a:pt x="21600" y="20501"/>
                  <a:pt x="21600" y="19145"/>
                </a:cubicBezTo>
                <a:lnTo>
                  <a:pt x="21600" y="14236"/>
                </a:lnTo>
                <a:cubicBezTo>
                  <a:pt x="21600" y="13049"/>
                  <a:pt x="20757" y="12059"/>
                  <a:pt x="19636" y="11831"/>
                </a:cubicBezTo>
              </a:path>
            </a:pathLst>
          </a:custGeom>
          <a:solidFill>
            <a:srgbClr val="53585F"/>
          </a:solidFill>
          <a:ln w="12700">
            <a:miter lim="400000"/>
          </a:ln>
        </p:spPr>
        <p:txBody>
          <a:bodyPr lIns="38090" tIns="38090" rIns="38090" bIns="38090" anchor="ctr"/>
          <a:lstStyle/>
          <a:p>
            <a:pPr defTabSz="456565" fontAlgn="auto">
              <a:defRPr sz="3000" cap="none">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sz="3000" strike="noStrike" noProof="1"/>
          </a:p>
        </p:txBody>
      </p:sp>
      <p:sp>
        <p:nvSpPr>
          <p:cNvPr id="2705" name="Shape 2705"/>
          <p:cNvSpPr/>
          <p:nvPr/>
        </p:nvSpPr>
        <p:spPr>
          <a:xfrm>
            <a:off x="21083588" y="4986338"/>
            <a:ext cx="558800" cy="558800"/>
          </a:xfrm>
          <a:custGeom>
            <a:avLst/>
            <a:gdLst/>
            <a:ahLst/>
            <a:cxnLst>
              <a:cxn ang="0">
                <a:pos x="wd2" y="hd2"/>
              </a:cxn>
              <a:cxn ang="5400000">
                <a:pos x="wd2" y="hd2"/>
              </a:cxn>
              <a:cxn ang="10800000">
                <a:pos x="wd2" y="hd2"/>
              </a:cxn>
              <a:cxn ang="16200000">
                <a:pos x="wd2" y="hd2"/>
              </a:cxn>
            </a:cxnLst>
            <a:rect l="0" t="0" r="r" b="b"/>
            <a:pathLst>
              <a:path w="21600" h="21600" extrusionOk="0">
                <a:moveTo>
                  <a:pt x="982" y="3820"/>
                </a:moveTo>
                <a:lnTo>
                  <a:pt x="7853" y="2877"/>
                </a:lnTo>
                <a:lnTo>
                  <a:pt x="7853" y="8838"/>
                </a:lnTo>
                <a:lnTo>
                  <a:pt x="982" y="8838"/>
                </a:lnTo>
                <a:cubicBezTo>
                  <a:pt x="982" y="8838"/>
                  <a:pt x="982" y="3820"/>
                  <a:pt x="982" y="3820"/>
                </a:cubicBezTo>
                <a:close/>
                <a:moveTo>
                  <a:pt x="0" y="9819"/>
                </a:moveTo>
                <a:lnTo>
                  <a:pt x="8835" y="9819"/>
                </a:lnTo>
                <a:lnTo>
                  <a:pt x="8835" y="1752"/>
                </a:lnTo>
                <a:lnTo>
                  <a:pt x="0" y="2964"/>
                </a:lnTo>
                <a:cubicBezTo>
                  <a:pt x="0" y="2964"/>
                  <a:pt x="0" y="9819"/>
                  <a:pt x="0" y="9819"/>
                </a:cubicBezTo>
                <a:close/>
                <a:moveTo>
                  <a:pt x="20618" y="8838"/>
                </a:moveTo>
                <a:lnTo>
                  <a:pt x="11771" y="8838"/>
                </a:lnTo>
                <a:lnTo>
                  <a:pt x="11771" y="2339"/>
                </a:lnTo>
                <a:lnTo>
                  <a:pt x="20618" y="1125"/>
                </a:lnTo>
                <a:cubicBezTo>
                  <a:pt x="20618" y="1125"/>
                  <a:pt x="20618" y="8838"/>
                  <a:pt x="20618" y="8838"/>
                </a:cubicBezTo>
                <a:close/>
                <a:moveTo>
                  <a:pt x="10789" y="1484"/>
                </a:moveTo>
                <a:lnTo>
                  <a:pt x="10789" y="9819"/>
                </a:lnTo>
                <a:lnTo>
                  <a:pt x="21600" y="9819"/>
                </a:lnTo>
                <a:lnTo>
                  <a:pt x="21600" y="0"/>
                </a:lnTo>
                <a:cubicBezTo>
                  <a:pt x="21600" y="0"/>
                  <a:pt x="10789" y="1484"/>
                  <a:pt x="10789" y="1484"/>
                </a:cubicBezTo>
                <a:close/>
                <a:moveTo>
                  <a:pt x="982" y="12763"/>
                </a:moveTo>
                <a:lnTo>
                  <a:pt x="7853" y="12763"/>
                </a:lnTo>
                <a:lnTo>
                  <a:pt x="7853" y="18722"/>
                </a:lnTo>
                <a:lnTo>
                  <a:pt x="982" y="17780"/>
                </a:lnTo>
                <a:cubicBezTo>
                  <a:pt x="982" y="17780"/>
                  <a:pt x="982" y="12763"/>
                  <a:pt x="982" y="12763"/>
                </a:cubicBezTo>
                <a:close/>
                <a:moveTo>
                  <a:pt x="0" y="18635"/>
                </a:moveTo>
                <a:lnTo>
                  <a:pt x="8835" y="19848"/>
                </a:lnTo>
                <a:lnTo>
                  <a:pt x="8835" y="11782"/>
                </a:lnTo>
                <a:lnTo>
                  <a:pt x="0" y="11782"/>
                </a:lnTo>
                <a:cubicBezTo>
                  <a:pt x="0" y="11782"/>
                  <a:pt x="0" y="18635"/>
                  <a:pt x="0" y="18635"/>
                </a:cubicBezTo>
                <a:close/>
                <a:moveTo>
                  <a:pt x="11771" y="12763"/>
                </a:moveTo>
                <a:lnTo>
                  <a:pt x="20618" y="12763"/>
                </a:lnTo>
                <a:lnTo>
                  <a:pt x="20618" y="20475"/>
                </a:lnTo>
                <a:lnTo>
                  <a:pt x="11771" y="19261"/>
                </a:lnTo>
                <a:cubicBezTo>
                  <a:pt x="11771" y="19261"/>
                  <a:pt x="11771" y="12763"/>
                  <a:pt x="11771" y="12763"/>
                </a:cubicBezTo>
                <a:close/>
                <a:moveTo>
                  <a:pt x="10789" y="20116"/>
                </a:moveTo>
                <a:lnTo>
                  <a:pt x="21600" y="21600"/>
                </a:lnTo>
                <a:lnTo>
                  <a:pt x="21600" y="11782"/>
                </a:lnTo>
                <a:lnTo>
                  <a:pt x="10789" y="11782"/>
                </a:lnTo>
                <a:cubicBezTo>
                  <a:pt x="10789" y="11782"/>
                  <a:pt x="10789" y="20116"/>
                  <a:pt x="10789" y="20116"/>
                </a:cubicBezTo>
                <a:close/>
              </a:path>
            </a:pathLst>
          </a:custGeom>
          <a:noFill/>
          <a:ln w="12700">
            <a:miter lim="400000"/>
          </a:ln>
        </p:spPr>
        <p:txBody>
          <a:bodyPr lIns="38090" tIns="38090" rIns="38090" bIns="38090" anchor="ctr"/>
          <a:lstStyle/>
          <a:p>
            <a:pPr defTabSz="456565" fontAlgn="auto">
              <a:defRPr sz="3000" cap="none">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sz="3000" strike="noStrike" noProof="1"/>
          </a:p>
        </p:txBody>
      </p:sp>
      <p:graphicFrame>
        <p:nvGraphicFramePr>
          <p:cNvPr id="6" name="图示 5"/>
          <p:cNvGraphicFramePr/>
          <p:nvPr>
            <p:extLst>
              <p:ext uri="{D42A27DB-BD31-4B8C-83A1-F6EECF244321}">
                <p14:modId xmlns:p14="http://schemas.microsoft.com/office/powerpoint/2010/main" val="1248734965"/>
              </p:ext>
            </p:extLst>
          </p:nvPr>
        </p:nvGraphicFramePr>
        <p:xfrm>
          <a:off x="3802380" y="2885523"/>
          <a:ext cx="4163060" cy="37696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2" name="矩形 31"/>
          <p:cNvSpPr/>
          <p:nvPr/>
        </p:nvSpPr>
        <p:spPr>
          <a:xfrm>
            <a:off x="7845456" y="1868666"/>
            <a:ext cx="3297555" cy="2246769"/>
          </a:xfrm>
          <a:prstGeom prst="rect">
            <a:avLst/>
          </a:prstGeom>
        </p:spPr>
        <p:txBody>
          <a:bodyPr wrap="square">
            <a:spAutoFit/>
          </a:bodyPr>
          <a:lstStyle/>
          <a:p>
            <a:pPr marL="342900" indent="-342900" algn="just">
              <a:buFont typeface="Arial" panose="020B0604020202020204" pitchFamily="34" charset="0"/>
              <a:buChar char="•"/>
            </a:pPr>
            <a:r>
              <a:rPr lang="zh-CN" altLang="en-US" sz="2000" dirty="0">
                <a:solidFill>
                  <a:srgbClr val="49600B"/>
                </a:solidFill>
              </a:rPr>
              <a:t>电梯运行时拥有竖直方向的加速度，与电梯相对静止的物体也拥有相同的加速度，由于称只测量对称的压力因此竖直方向电梯加速度会改变电子称的示数。</a:t>
            </a:r>
            <a:r>
              <a:rPr lang="en-US" altLang="zh-CN" sz="2000" dirty="0">
                <a:solidFill>
                  <a:srgbClr val="49600B"/>
                </a:solidFill>
              </a:rPr>
              <a:t>·</a:t>
            </a:r>
          </a:p>
        </p:txBody>
      </p:sp>
      <p:sp>
        <p:nvSpPr>
          <p:cNvPr id="8" name="文本框 7"/>
          <p:cNvSpPr txBox="1"/>
          <p:nvPr/>
        </p:nvSpPr>
        <p:spPr>
          <a:xfrm>
            <a:off x="7886382" y="2573502"/>
            <a:ext cx="3465830" cy="369332"/>
          </a:xfrm>
          <a:prstGeom prst="rect">
            <a:avLst/>
          </a:prstGeom>
          <a:noFill/>
        </p:spPr>
        <p:txBody>
          <a:bodyPr wrap="square" rtlCol="0">
            <a:spAutoFit/>
          </a:bodyPr>
          <a:lstStyle/>
          <a:p>
            <a:r>
              <a:rPr lang="en-US" altLang="zh-CN" dirty="0">
                <a:solidFill>
                  <a:srgbClr val="49600B"/>
                </a:solidFill>
                <a:sym typeface="+mn-ea"/>
              </a:rPr>
              <a:t>·</a:t>
            </a:r>
            <a:endParaRPr lang="zh-CN" altLang="en-US" dirty="0">
              <a:solidFill>
                <a:srgbClr val="49600B"/>
              </a:solidFill>
              <a:sym typeface="+mn-ea"/>
            </a:endParaRPr>
          </a:p>
        </p:txBody>
      </p:sp>
      <p:sp>
        <p:nvSpPr>
          <p:cNvPr id="10" name="文本框 9"/>
          <p:cNvSpPr txBox="1"/>
          <p:nvPr/>
        </p:nvSpPr>
        <p:spPr>
          <a:xfrm>
            <a:off x="8028337" y="4432935"/>
            <a:ext cx="3321050" cy="646331"/>
          </a:xfrm>
          <a:prstGeom prst="rect">
            <a:avLst/>
          </a:prstGeom>
          <a:noFill/>
        </p:spPr>
        <p:txBody>
          <a:bodyPr wrap="square" rtlCol="0">
            <a:spAutoFit/>
          </a:bodyPr>
          <a:lstStyle/>
          <a:p>
            <a:pPr algn="l"/>
            <a:endParaRPr lang="en-US" altLang="zh-CN" dirty="0">
              <a:solidFill>
                <a:srgbClr val="49600B"/>
              </a:solidFill>
              <a:sym typeface="+mn-ea"/>
            </a:endParaRPr>
          </a:p>
          <a:p>
            <a:pPr algn="l"/>
            <a:endParaRPr lang="en-US" altLang="zh-CN" dirty="0">
              <a:solidFill>
                <a:srgbClr val="49600B"/>
              </a:solidFill>
              <a:sym typeface="+mn-ea"/>
            </a:endParaRPr>
          </a:p>
        </p:txBody>
      </p:sp>
      <p:grpSp>
        <p:nvGrpSpPr>
          <p:cNvPr id="7" name="组合 6">
            <a:extLst>
              <a:ext uri="{FF2B5EF4-FFF2-40B4-BE49-F238E27FC236}">
                <a16:creationId xmlns:a16="http://schemas.microsoft.com/office/drawing/2014/main" id="{79E1DD95-6286-39F9-2D02-BC2643B99F4E}"/>
              </a:ext>
            </a:extLst>
          </p:cNvPr>
          <p:cNvGrpSpPr/>
          <p:nvPr/>
        </p:nvGrpSpPr>
        <p:grpSpPr>
          <a:xfrm>
            <a:off x="5025139" y="394641"/>
            <a:ext cx="1628942" cy="1551464"/>
            <a:chOff x="1377991" y="1055"/>
            <a:chExt cx="1799507" cy="1799507"/>
          </a:xfrm>
          <a:scene3d>
            <a:camera prst="orthographicFront"/>
            <a:lightRig rig="flat" dir="t"/>
          </a:scene3d>
        </p:grpSpPr>
        <p:sp>
          <p:nvSpPr>
            <p:cNvPr id="9" name="椭圆 8">
              <a:extLst>
                <a:ext uri="{FF2B5EF4-FFF2-40B4-BE49-F238E27FC236}">
                  <a16:creationId xmlns:a16="http://schemas.microsoft.com/office/drawing/2014/main" id="{E13B243B-AD98-126C-F943-BA534662FDC4}"/>
                </a:ext>
              </a:extLst>
            </p:cNvPr>
            <p:cNvSpPr/>
            <p:nvPr/>
          </p:nvSpPr>
          <p:spPr>
            <a:xfrm>
              <a:off x="1377991" y="1055"/>
              <a:ext cx="1799507" cy="1799507"/>
            </a:xfrm>
            <a:prstGeom prst="ellipse">
              <a:avLst/>
            </a:prstGeom>
            <a:sp3d prstMaterial="plastic">
              <a:bevelT w="120900" h="88900"/>
              <a:bevelB w="88900" h="31750" prst="angle"/>
            </a:sp3d>
          </p:spPr>
          <p:style>
            <a:lnRef idx="0">
              <a:schemeClr val="lt1">
                <a:hueOff val="0"/>
                <a:satOff val="0"/>
                <a:lumOff val="0"/>
                <a:alphaOff val="0"/>
              </a:schemeClr>
            </a:lnRef>
            <a:fillRef idx="3">
              <a:schemeClr val="accent3">
                <a:shade val="80000"/>
                <a:hueOff val="0"/>
                <a:satOff val="0"/>
                <a:lumOff val="0"/>
                <a:alphaOff val="0"/>
              </a:schemeClr>
            </a:fillRef>
            <a:effectRef idx="2">
              <a:schemeClr val="accent3">
                <a:shade val="80000"/>
                <a:hueOff val="0"/>
                <a:satOff val="0"/>
                <a:lumOff val="0"/>
                <a:alphaOff val="0"/>
              </a:schemeClr>
            </a:effectRef>
            <a:fontRef idx="minor">
              <a:schemeClr val="lt1"/>
            </a:fontRef>
          </p:style>
        </p:sp>
        <p:sp>
          <p:nvSpPr>
            <p:cNvPr id="11" name="椭圆 4">
              <a:extLst>
                <a:ext uri="{FF2B5EF4-FFF2-40B4-BE49-F238E27FC236}">
                  <a16:creationId xmlns:a16="http://schemas.microsoft.com/office/drawing/2014/main" id="{F9FAD4E6-DE3C-885C-09A6-E63487A7FF5B}"/>
                </a:ext>
              </a:extLst>
            </p:cNvPr>
            <p:cNvSpPr txBox="1"/>
            <p:nvPr/>
          </p:nvSpPr>
          <p:spPr>
            <a:xfrm>
              <a:off x="1641523" y="264587"/>
              <a:ext cx="1272443" cy="127244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39370" tIns="39370" rIns="39370" bIns="39370" numCol="1" spcCol="1270" anchor="ctr" anchorCtr="0">
              <a:noAutofit/>
            </a:bodyPr>
            <a:lstStyle/>
            <a:p>
              <a:pPr marL="0" lvl="0" indent="0" algn="ctr" defTabSz="1377950">
                <a:lnSpc>
                  <a:spcPct val="100000"/>
                </a:lnSpc>
                <a:spcBef>
                  <a:spcPct val="0"/>
                </a:spcBef>
                <a:spcAft>
                  <a:spcPct val="35000"/>
                </a:spcAft>
                <a:buNone/>
              </a:pPr>
              <a:r>
                <a:rPr lang="zh-CN" altLang="en-US" sz="3100" dirty="0"/>
                <a:t>示数</a:t>
              </a:r>
              <a:endParaRPr lang="zh-CN" altLang="en-US" sz="3100" kern="1200" dirty="0"/>
            </a:p>
          </p:txBody>
        </p:sp>
      </p:grpSp>
      <p:grpSp>
        <p:nvGrpSpPr>
          <p:cNvPr id="12" name="组合 11">
            <a:extLst>
              <a:ext uri="{FF2B5EF4-FFF2-40B4-BE49-F238E27FC236}">
                <a16:creationId xmlns:a16="http://schemas.microsoft.com/office/drawing/2014/main" id="{318DF079-34DC-749D-5FDD-D9F552E016CF}"/>
              </a:ext>
            </a:extLst>
          </p:cNvPr>
          <p:cNvGrpSpPr/>
          <p:nvPr/>
        </p:nvGrpSpPr>
        <p:grpSpPr>
          <a:xfrm rot="1764932">
            <a:off x="5555986" y="2131587"/>
            <a:ext cx="530119" cy="423870"/>
            <a:chOff x="2642767" y="1819898"/>
            <a:chExt cx="607333" cy="478230"/>
          </a:xfrm>
          <a:scene3d>
            <a:camera prst="orthographicFront"/>
            <a:lightRig rig="flat" dir="t"/>
          </a:scene3d>
        </p:grpSpPr>
        <p:sp>
          <p:nvSpPr>
            <p:cNvPr id="13" name="箭头: 右 12">
              <a:extLst>
                <a:ext uri="{FF2B5EF4-FFF2-40B4-BE49-F238E27FC236}">
                  <a16:creationId xmlns:a16="http://schemas.microsoft.com/office/drawing/2014/main" id="{F4AD98E3-0888-1FEB-1AFB-7039FBF70DF2}"/>
                </a:ext>
              </a:extLst>
            </p:cNvPr>
            <p:cNvSpPr/>
            <p:nvPr/>
          </p:nvSpPr>
          <p:spPr>
            <a:xfrm rot="3600000">
              <a:off x="2707319" y="1755346"/>
              <a:ext cx="478230" cy="607333"/>
            </a:xfrm>
            <a:prstGeom prst="rightArrow">
              <a:avLst>
                <a:gd name="adj1" fmla="val 60000"/>
                <a:gd name="adj2" fmla="val 50000"/>
              </a:avLst>
            </a:prstGeom>
            <a:sp3d z="-80000" prstMaterial="plastic">
              <a:bevelT w="50800" h="50800"/>
              <a:bevelB w="25400" h="25400" prst="angle"/>
            </a:sp3d>
          </p:spPr>
          <p:style>
            <a:lnRef idx="0">
              <a:schemeClr val="accent3">
                <a:shade val="90000"/>
                <a:hueOff val="0"/>
                <a:satOff val="0"/>
                <a:lumOff val="0"/>
                <a:alphaOff val="0"/>
              </a:schemeClr>
            </a:lnRef>
            <a:fillRef idx="3">
              <a:schemeClr val="accent3">
                <a:shade val="90000"/>
                <a:hueOff val="0"/>
                <a:satOff val="0"/>
                <a:lumOff val="0"/>
                <a:alphaOff val="0"/>
              </a:schemeClr>
            </a:fillRef>
            <a:effectRef idx="2">
              <a:schemeClr val="accent3">
                <a:shade val="90000"/>
                <a:hueOff val="0"/>
                <a:satOff val="0"/>
                <a:lumOff val="0"/>
                <a:alphaOff val="0"/>
              </a:schemeClr>
            </a:effectRef>
            <a:fontRef idx="minor">
              <a:schemeClr val="lt1"/>
            </a:fontRef>
          </p:style>
        </p:sp>
        <p:sp>
          <p:nvSpPr>
            <p:cNvPr id="14" name="箭头: 右 4">
              <a:extLst>
                <a:ext uri="{FF2B5EF4-FFF2-40B4-BE49-F238E27FC236}">
                  <a16:creationId xmlns:a16="http://schemas.microsoft.com/office/drawing/2014/main" id="{0408C638-5180-DFA1-C875-BB441852C4B8}"/>
                </a:ext>
              </a:extLst>
            </p:cNvPr>
            <p:cNvSpPr txBox="1"/>
            <p:nvPr/>
          </p:nvSpPr>
          <p:spPr>
            <a:xfrm rot="3600000">
              <a:off x="2743186" y="1814689"/>
              <a:ext cx="334761" cy="364399"/>
            </a:xfrm>
            <a:prstGeom prst="rect">
              <a:avLst/>
            </a:prstGeom>
            <a:sp3d z="-80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zh-CN" altLang="en-US" sz="2500" kern="120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5570" y="118110"/>
            <a:ext cx="11998325" cy="6622415"/>
          </a:xfrm>
          <a:prstGeom prst="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3803650" y="197485"/>
            <a:ext cx="4622800" cy="797560"/>
            <a:chOff x="690" y="558"/>
            <a:chExt cx="6916" cy="1256"/>
          </a:xfrm>
        </p:grpSpPr>
        <p:sp>
          <p:nvSpPr>
            <p:cNvPr id="5" name="文本框 4"/>
            <p:cNvSpPr txBox="1"/>
            <p:nvPr/>
          </p:nvSpPr>
          <p:spPr>
            <a:xfrm>
              <a:off x="1309" y="678"/>
              <a:ext cx="5405" cy="1016"/>
            </a:xfrm>
            <a:prstGeom prst="rect">
              <a:avLst/>
            </a:prstGeom>
            <a:noFill/>
          </p:spPr>
          <p:txBody>
            <a:bodyPr wrap="square" rtlCol="0">
              <a:spAutoFit/>
            </a:bodyPr>
            <a:lstStyle/>
            <a:p>
              <a:pPr algn="ctr"/>
              <a:r>
                <a:rPr lang="zh-CN" altLang="en-US" sz="3600" dirty="0">
                  <a:solidFill>
                    <a:srgbClr val="49600B"/>
                  </a:solidFill>
                  <a:sym typeface="+mn-ea"/>
                </a:rPr>
                <a:t>实验原理</a:t>
              </a:r>
              <a:endParaRPr lang="zh-CN" altLang="en-US" sz="3600" dirty="0">
                <a:solidFill>
                  <a:srgbClr val="49600B"/>
                </a:solidFill>
              </a:endParaRPr>
            </a:p>
          </p:txBody>
        </p:sp>
        <p:sp>
          <p:nvSpPr>
            <p:cNvPr id="4" name="圆角矩形 3"/>
            <p:cNvSpPr/>
            <p:nvPr/>
          </p:nvSpPr>
          <p:spPr>
            <a:xfrm>
              <a:off x="690" y="558"/>
              <a:ext cx="6916" cy="1256"/>
            </a:xfrm>
            <a:prstGeom prst="round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 name="图片 5" descr="a81dab9b05bca81f8f4d54dd5ac289019c0ac64d7f240-G0qF0Y_fw658"/>
          <p:cNvPicPr>
            <a:picLocks noChangeAspect="1"/>
          </p:cNvPicPr>
          <p:nvPr/>
        </p:nvPicPr>
        <p:blipFill>
          <a:blip r:embed="rId2"/>
          <a:stretch>
            <a:fillRect/>
          </a:stretch>
        </p:blipFill>
        <p:spPr>
          <a:xfrm>
            <a:off x="6649085" y="158389"/>
            <a:ext cx="5427345" cy="6857365"/>
          </a:xfrm>
          <a:prstGeom prst="rect">
            <a:avLst/>
          </a:prstGeom>
        </p:spPr>
      </p:pic>
      <p:grpSp>
        <p:nvGrpSpPr>
          <p:cNvPr id="8" name="组合 7"/>
          <p:cNvGrpSpPr/>
          <p:nvPr/>
        </p:nvGrpSpPr>
        <p:grpSpPr>
          <a:xfrm>
            <a:off x="2358909" y="1447792"/>
            <a:ext cx="2571115" cy="725805"/>
            <a:chOff x="1323" y="3063"/>
            <a:chExt cx="4049" cy="1143"/>
          </a:xfrm>
        </p:grpSpPr>
        <p:sp>
          <p:nvSpPr>
            <p:cNvPr id="9" name="矩形 8"/>
            <p:cNvSpPr/>
            <p:nvPr/>
          </p:nvSpPr>
          <p:spPr>
            <a:xfrm>
              <a:off x="1323" y="3063"/>
              <a:ext cx="4049" cy="1143"/>
            </a:xfrm>
            <a:prstGeom prst="rect">
              <a:avLst/>
            </a:prstGeom>
            <a:solidFill>
              <a:srgbClr val="B5C1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13" name="矩形 12"/>
            <p:cNvSpPr/>
            <p:nvPr/>
          </p:nvSpPr>
          <p:spPr>
            <a:xfrm>
              <a:off x="2718" y="3343"/>
              <a:ext cx="1018" cy="582"/>
            </a:xfrm>
            <a:prstGeom prst="rect">
              <a:avLst/>
            </a:prstGeom>
          </p:spPr>
          <p:txBody>
            <a:bodyPr wrap="none">
              <a:spAutoFit/>
            </a:bodyPr>
            <a:lstStyle/>
            <a:p>
              <a:r>
                <a:rPr lang="zh-CN" altLang="en-US" dirty="0">
                  <a:solidFill>
                    <a:schemeClr val="bg2">
                      <a:lumMod val="10000"/>
                    </a:schemeClr>
                  </a:solidFill>
                </a:rPr>
                <a:t>公式</a:t>
              </a:r>
              <a:endParaRPr lang="en-US" altLang="zh-CN" dirty="0">
                <a:solidFill>
                  <a:schemeClr val="bg2">
                    <a:lumMod val="10000"/>
                  </a:schemeClr>
                </a:solidFill>
              </a:endParaRPr>
            </a:p>
          </p:txBody>
        </p:sp>
      </p:grpSp>
      <mc:AlternateContent xmlns:mc="http://schemas.openxmlformats.org/markup-compatibility/2006" xmlns:a14="http://schemas.microsoft.com/office/drawing/2010/main">
        <mc:Choice Requires="a14">
          <p:sp>
            <p:nvSpPr>
              <p:cNvPr id="18" name="矩形 17"/>
              <p:cNvSpPr/>
              <p:nvPr/>
            </p:nvSpPr>
            <p:spPr>
              <a:xfrm>
                <a:off x="1436197" y="3130479"/>
                <a:ext cx="4734906" cy="3010824"/>
              </a:xfrm>
              <a:prstGeom prst="rect">
                <a:avLst/>
              </a:prstGeom>
            </p:spPr>
            <p:txBody>
              <a:bodyPr wrap="square">
                <a:spAutoFit/>
              </a:bodyPr>
              <a:lstStyle/>
              <a:p>
                <a:pPr indent="266700" algn="l"/>
                <a:r>
                  <a:rPr lang="zh-CN" altLang="zh-CN" dirty="0"/>
                  <a:t>刚体与托盘的质量为</a:t>
                </a:r>
                <a:r>
                  <a:rPr lang="en-US" altLang="zh-CN" dirty="0"/>
                  <a:t>M</a:t>
                </a:r>
                <a:r>
                  <a:rPr lang="zh-CN" altLang="zh-CN" dirty="0"/>
                  <a:t>，物体的质量为</a:t>
                </a:r>
                <a:r>
                  <a:rPr lang="en-US" altLang="zh-CN" dirty="0"/>
                  <a:t>m</a:t>
                </a:r>
                <a:r>
                  <a:rPr lang="zh-CN" altLang="zh-CN" dirty="0"/>
                  <a:t>，电梯的加速度为</a:t>
                </a:r>
                <a:r>
                  <a:rPr lang="en-US" altLang="zh-CN" dirty="0"/>
                  <a:t>a</a:t>
                </a:r>
                <a:r>
                  <a:rPr lang="zh-CN" altLang="zh-CN" dirty="0"/>
                  <a:t>，当地的重力加速度为</a:t>
                </a:r>
                <a:r>
                  <a:rPr lang="en-US" altLang="zh-CN" dirty="0"/>
                  <a:t>g</a:t>
                </a:r>
                <a:r>
                  <a:rPr lang="zh-CN" altLang="zh-CN" dirty="0"/>
                  <a:t>，电子秤示数为</a:t>
                </a:r>
                <a:r>
                  <a:rPr lang="en-US" altLang="zh-CN" dirty="0"/>
                  <a:t>M</a:t>
                </a:r>
                <a:r>
                  <a:rPr lang="zh-CN" altLang="zh-CN" baseline="-25000" dirty="0"/>
                  <a:t>测</a:t>
                </a:r>
                <a:r>
                  <a:rPr lang="zh-CN" altLang="zh-CN" dirty="0"/>
                  <a:t>，电子秤给予的支持力</a:t>
                </a:r>
                <a:r>
                  <a:rPr lang="en-US" altLang="zh-CN" dirty="0"/>
                  <a:t>F</a:t>
                </a:r>
                <a:r>
                  <a:rPr lang="en-US" altLang="zh-CN" baseline="-25000" dirty="0"/>
                  <a:t>N</a:t>
                </a:r>
                <a:r>
                  <a:rPr lang="zh-CN" altLang="zh-CN" dirty="0"/>
                  <a:t>。</a:t>
                </a:r>
              </a:p>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𝑁</m:t>
                          </m:r>
                        </m:sub>
                      </m:sSub>
                      <m:r>
                        <a:rPr lang="en-US" altLang="zh-CN" i="1">
                          <a:latin typeface="Cambria Math" panose="02040503050406030204" pitchFamily="18" charset="0"/>
                        </a:rPr>
                        <m:t>=(</m:t>
                      </m:r>
                      <m:r>
                        <a:rPr lang="en-US" altLang="zh-CN" i="1">
                          <a:latin typeface="Cambria Math" panose="02040503050406030204" pitchFamily="18" charset="0"/>
                        </a:rPr>
                        <m:t>𝑀</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𝑀</m:t>
                          </m:r>
                        </m:e>
                        <m:sub>
                          <m:r>
                            <a:rPr lang="zh-CN" altLang="zh-CN" i="1">
                              <a:latin typeface="Cambria Math" panose="02040503050406030204" pitchFamily="18" charset="0"/>
                            </a:rPr>
                            <m:t>测</m:t>
                          </m:r>
                        </m:sub>
                      </m:sSub>
                      <m:r>
                        <a:rPr lang="en-US" altLang="zh-CN" i="1">
                          <a:latin typeface="Cambria Math" panose="02040503050406030204" pitchFamily="18" charset="0"/>
                        </a:rPr>
                        <m:t>)</m:t>
                      </m:r>
                      <m:r>
                        <a:rPr lang="en-US" altLang="zh-CN" i="1">
                          <a:latin typeface="Cambria Math" panose="02040503050406030204" pitchFamily="18" charset="0"/>
                        </a:rPr>
                        <m:t>𝑔</m:t>
                      </m:r>
                    </m:oMath>
                  </m:oMathPara>
                </a14:m>
                <a:endParaRPr lang="zh-CN" altLang="zh-CN" dirty="0"/>
              </a:p>
              <a:p>
                <a:pPr/>
                <a14:m>
                  <m:oMathPara xmlns:m="http://schemas.openxmlformats.org/officeDocument/2006/math">
                    <m:oMathParaPr>
                      <m:jc m:val="centerGroup"/>
                    </m:oMathParaPr>
                    <m:oMath xmlns:m="http://schemas.openxmlformats.org/officeDocument/2006/math">
                      <m:d>
                        <m:dPr>
                          <m:ctrlPr>
                            <a:rPr lang="zh-CN" altLang="zh-CN" i="1">
                              <a:latin typeface="Cambria Math" panose="02040503050406030204" pitchFamily="18" charset="0"/>
                            </a:rPr>
                          </m:ctrlPr>
                        </m:dPr>
                        <m:e>
                          <m:r>
                            <a:rPr lang="en-US" altLang="zh-CN" i="1">
                              <a:latin typeface="Cambria Math" panose="02040503050406030204" pitchFamily="18" charset="0"/>
                            </a:rPr>
                            <m:t>𝑀</m:t>
                          </m:r>
                          <m:r>
                            <a:rPr lang="en-US" altLang="zh-CN" i="1">
                              <a:latin typeface="Cambria Math" panose="02040503050406030204" pitchFamily="18" charset="0"/>
                            </a:rPr>
                            <m:t>+</m:t>
                          </m:r>
                          <m:r>
                            <a:rPr lang="en-US" altLang="zh-CN" i="1">
                              <a:latin typeface="Cambria Math" panose="02040503050406030204" pitchFamily="18" charset="0"/>
                            </a:rPr>
                            <m:t>𝑚</m:t>
                          </m:r>
                        </m:e>
                      </m:d>
                      <m:r>
                        <a:rPr lang="en-US" altLang="zh-CN" i="1">
                          <a:latin typeface="Cambria Math" panose="02040503050406030204" pitchFamily="18" charset="0"/>
                        </a:rPr>
                        <m:t>𝑔</m:t>
                      </m:r>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𝑀</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𝑀</m:t>
                              </m:r>
                            </m:e>
                            <m:sub>
                              <m:r>
                                <a:rPr lang="zh-CN" altLang="zh-CN" i="1">
                                  <a:latin typeface="Cambria Math" panose="02040503050406030204" pitchFamily="18" charset="0"/>
                                </a:rPr>
                                <m:t>测</m:t>
                              </m:r>
                            </m:sub>
                          </m:sSub>
                        </m:e>
                      </m:d>
                      <m:r>
                        <a:rPr lang="en-US" altLang="zh-CN" i="1">
                          <a:latin typeface="Cambria Math" panose="02040503050406030204" pitchFamily="18" charset="0"/>
                        </a:rPr>
                        <m:t>𝑔</m:t>
                      </m:r>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𝑀</m:t>
                          </m:r>
                          <m:r>
                            <a:rPr lang="en-US" altLang="zh-CN" i="1">
                              <a:latin typeface="Cambria Math" panose="02040503050406030204" pitchFamily="18" charset="0"/>
                            </a:rPr>
                            <m:t>+</m:t>
                          </m:r>
                          <m:r>
                            <a:rPr lang="en-US" altLang="zh-CN" i="1">
                              <a:latin typeface="Cambria Math" panose="02040503050406030204" pitchFamily="18" charset="0"/>
                            </a:rPr>
                            <m:t>𝑚</m:t>
                          </m:r>
                        </m:e>
                      </m:d>
                      <m:r>
                        <a:rPr lang="en-US" altLang="zh-CN" i="1">
                          <a:latin typeface="Cambria Math" panose="02040503050406030204" pitchFamily="18" charset="0"/>
                        </a:rPr>
                        <m:t>𝑎</m:t>
                      </m:r>
                    </m:oMath>
                  </m:oMathPara>
                </a14:m>
                <a:endParaRPr lang="zh-CN" altLang="zh-CN" dirty="0"/>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𝑎</m:t>
                      </m:r>
                      <m:r>
                        <a:rPr lang="en-US" altLang="zh-CN" i="1">
                          <a:latin typeface="Cambria Math" panose="02040503050406030204" pitchFamily="18" charset="0"/>
                        </a:rPr>
                        <m:t>=</m:t>
                      </m:r>
                      <m:f>
                        <m:fPr>
                          <m:ctrlPr>
                            <a:rPr lang="zh-CN" altLang="zh-CN" i="1">
                              <a:latin typeface="Cambria Math" panose="02040503050406030204" pitchFamily="18" charset="0"/>
                            </a:rPr>
                          </m:ctrlPr>
                        </m:fPr>
                        <m:num>
                          <m:d>
                            <m:dPr>
                              <m:ctrlPr>
                                <a:rPr lang="zh-CN" altLang="zh-CN" i="1">
                                  <a:latin typeface="Cambria Math" panose="02040503050406030204" pitchFamily="18" charset="0"/>
                                </a:rPr>
                              </m:ctrlPr>
                            </m:dPr>
                            <m:e>
                              <m:r>
                                <a:rPr lang="en-US" altLang="zh-CN" i="1">
                                  <a:latin typeface="Cambria Math" panose="02040503050406030204" pitchFamily="18" charset="0"/>
                                </a:rPr>
                                <m:t>𝑚</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𝑀</m:t>
                                  </m:r>
                                </m:e>
                                <m:sub>
                                  <m:r>
                                    <a:rPr lang="zh-CN" altLang="zh-CN" i="1">
                                      <a:latin typeface="Cambria Math" panose="02040503050406030204" pitchFamily="18" charset="0"/>
                                    </a:rPr>
                                    <m:t>测</m:t>
                                  </m:r>
                                </m:sub>
                              </m:sSub>
                            </m:e>
                          </m:d>
                          <m:r>
                            <a:rPr lang="en-US" altLang="zh-CN" i="1">
                              <a:latin typeface="Cambria Math" panose="02040503050406030204" pitchFamily="18" charset="0"/>
                            </a:rPr>
                            <m:t>𝑔</m:t>
                          </m:r>
                        </m:num>
                        <m:den>
                          <m:r>
                            <a:rPr lang="en-US" altLang="zh-CN" i="1">
                              <a:latin typeface="Cambria Math" panose="02040503050406030204" pitchFamily="18" charset="0"/>
                            </a:rPr>
                            <m:t>(</m:t>
                          </m:r>
                          <m:r>
                            <a:rPr lang="en-US" altLang="zh-CN" i="1">
                              <a:latin typeface="Cambria Math" panose="02040503050406030204" pitchFamily="18" charset="0"/>
                            </a:rPr>
                            <m:t>𝑚</m:t>
                          </m:r>
                          <m:r>
                            <a:rPr lang="en-US" altLang="zh-CN" i="1">
                              <a:latin typeface="Cambria Math" panose="02040503050406030204" pitchFamily="18" charset="0"/>
                            </a:rPr>
                            <m:t>+</m:t>
                          </m:r>
                          <m:r>
                            <a:rPr lang="en-US" altLang="zh-CN" i="1">
                              <a:latin typeface="Cambria Math" panose="02040503050406030204" pitchFamily="18" charset="0"/>
                            </a:rPr>
                            <m:t>𝑀</m:t>
                          </m:r>
                          <m:r>
                            <a:rPr lang="en-US" altLang="zh-CN" i="1">
                              <a:latin typeface="Cambria Math" panose="02040503050406030204" pitchFamily="18" charset="0"/>
                            </a:rPr>
                            <m:t>)</m:t>
                          </m:r>
                        </m:den>
                      </m:f>
                    </m:oMath>
                  </m:oMathPara>
                </a14:m>
                <a:endParaRPr lang="zh-CN" altLang="zh-CN" dirty="0"/>
              </a:p>
              <a:p>
                <a:pPr indent="266700"/>
                <a:endParaRPr lang="zh-CN" altLang="zh-CN" sz="800" kern="100" dirty="0">
                  <a:latin typeface="等线" panose="02010600030101010101" pitchFamily="2" charset="-122"/>
                  <a:ea typeface="等线" panose="02010600030101010101" pitchFamily="2" charset="-122"/>
                  <a:cs typeface="Times New Roman" panose="02020603050405020304" pitchFamily="18" charset="0"/>
                </a:endParaRPr>
              </a:p>
              <a:p>
                <a:pPr lvl="0"/>
                <a:endPar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zh-CN" altLang="en-US" dirty="0">
                  <a:solidFill>
                    <a:schemeClr val="bg1">
                      <a:lumMod val="50000"/>
                    </a:schemeClr>
                  </a:solidFill>
                </a:endParaRPr>
              </a:p>
            </p:txBody>
          </p:sp>
        </mc:Choice>
        <mc:Fallback xmlns="">
          <p:sp>
            <p:nvSpPr>
              <p:cNvPr id="18" name="矩形 17"/>
              <p:cNvSpPr>
                <a:spLocks noRot="1" noChangeAspect="1" noMove="1" noResize="1" noEditPoints="1" noAdjustHandles="1" noChangeArrowheads="1" noChangeShapeType="1" noTextEdit="1"/>
              </p:cNvSpPr>
              <p:nvPr/>
            </p:nvSpPr>
            <p:spPr>
              <a:xfrm>
                <a:off x="1436197" y="3130479"/>
                <a:ext cx="4734906" cy="3010824"/>
              </a:xfrm>
              <a:prstGeom prst="rect">
                <a:avLst/>
              </a:prstGeom>
              <a:blipFill>
                <a:blip r:embed="rId3"/>
                <a:stretch>
                  <a:fillRect l="-1160" t="-1420" r="-1031"/>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84BF5562-C864-3EA3-5EE8-F858B5085F2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12455" y="1329387"/>
            <a:ext cx="3695700" cy="3867785"/>
          </a:xfrm>
          <a:prstGeom prst="rect">
            <a:avLst/>
          </a:prstGeom>
          <a:noFill/>
          <a:ln>
            <a:noFill/>
          </a:ln>
        </p:spPr>
      </p:pic>
    </p:spTree>
    <p:extLst>
      <p:ext uri="{BB962C8B-B14F-4D97-AF65-F5344CB8AC3E}">
        <p14:creationId xmlns:p14="http://schemas.microsoft.com/office/powerpoint/2010/main" val="2777550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5570" y="118110"/>
            <a:ext cx="11998325" cy="6622415"/>
          </a:xfrm>
          <a:prstGeom prst="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3803650" y="197485"/>
            <a:ext cx="4622800" cy="797560"/>
            <a:chOff x="690" y="558"/>
            <a:chExt cx="6916" cy="1256"/>
          </a:xfrm>
        </p:grpSpPr>
        <p:sp>
          <p:nvSpPr>
            <p:cNvPr id="5" name="文本框 4"/>
            <p:cNvSpPr txBox="1"/>
            <p:nvPr/>
          </p:nvSpPr>
          <p:spPr>
            <a:xfrm>
              <a:off x="1309" y="678"/>
              <a:ext cx="5405" cy="1016"/>
            </a:xfrm>
            <a:prstGeom prst="rect">
              <a:avLst/>
            </a:prstGeom>
            <a:noFill/>
          </p:spPr>
          <p:txBody>
            <a:bodyPr wrap="square" rtlCol="0">
              <a:spAutoFit/>
            </a:bodyPr>
            <a:lstStyle/>
            <a:p>
              <a:pPr algn="ctr"/>
              <a:r>
                <a:rPr lang="zh-CN" altLang="en-US" sz="3600" dirty="0">
                  <a:solidFill>
                    <a:srgbClr val="49600B"/>
                  </a:solidFill>
                  <a:sym typeface="+mn-ea"/>
                </a:rPr>
                <a:t>实验原理</a:t>
              </a:r>
              <a:endParaRPr lang="zh-CN" altLang="en-US" sz="3600" dirty="0">
                <a:solidFill>
                  <a:srgbClr val="49600B"/>
                </a:solidFill>
              </a:endParaRPr>
            </a:p>
          </p:txBody>
        </p:sp>
        <p:sp>
          <p:nvSpPr>
            <p:cNvPr id="4" name="圆角矩形 3"/>
            <p:cNvSpPr/>
            <p:nvPr/>
          </p:nvSpPr>
          <p:spPr>
            <a:xfrm>
              <a:off x="690" y="558"/>
              <a:ext cx="6916" cy="1256"/>
            </a:xfrm>
            <a:prstGeom prst="round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 name="图片 5" descr="a81dab9b05bca81f8f4d54dd5ac289019c0ac64d7f240-G0qF0Y_fw658"/>
          <p:cNvPicPr>
            <a:picLocks noChangeAspect="1"/>
          </p:cNvPicPr>
          <p:nvPr/>
        </p:nvPicPr>
        <p:blipFill>
          <a:blip r:embed="rId2"/>
          <a:stretch>
            <a:fillRect/>
          </a:stretch>
        </p:blipFill>
        <p:spPr>
          <a:xfrm>
            <a:off x="6764655" y="635"/>
            <a:ext cx="5427345" cy="6857365"/>
          </a:xfrm>
          <a:prstGeom prst="rect">
            <a:avLst/>
          </a:prstGeom>
        </p:spPr>
      </p:pic>
      <p:grpSp>
        <p:nvGrpSpPr>
          <p:cNvPr id="15" name="组合 14"/>
          <p:cNvGrpSpPr/>
          <p:nvPr/>
        </p:nvGrpSpPr>
        <p:grpSpPr>
          <a:xfrm>
            <a:off x="626110" y="2444650"/>
            <a:ext cx="2571115" cy="725805"/>
            <a:chOff x="1323" y="3063"/>
            <a:chExt cx="4049" cy="1143"/>
          </a:xfrm>
        </p:grpSpPr>
        <p:sp>
          <p:nvSpPr>
            <p:cNvPr id="16" name="矩形 15"/>
            <p:cNvSpPr/>
            <p:nvPr/>
          </p:nvSpPr>
          <p:spPr>
            <a:xfrm>
              <a:off x="1323" y="3063"/>
              <a:ext cx="4049" cy="1143"/>
            </a:xfrm>
            <a:prstGeom prst="rect">
              <a:avLst/>
            </a:prstGeom>
            <a:solidFill>
              <a:srgbClr val="B5C1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50000"/>
                  </a:schemeClr>
                </a:solidFill>
              </a:endParaRPr>
            </a:p>
          </p:txBody>
        </p:sp>
        <p:sp>
          <p:nvSpPr>
            <p:cNvPr id="17" name="矩形 16"/>
            <p:cNvSpPr/>
            <p:nvPr/>
          </p:nvSpPr>
          <p:spPr>
            <a:xfrm>
              <a:off x="2474" y="3343"/>
              <a:ext cx="1745" cy="582"/>
            </a:xfrm>
            <a:prstGeom prst="rect">
              <a:avLst/>
            </a:prstGeom>
          </p:spPr>
          <p:txBody>
            <a:bodyPr wrap="none">
              <a:spAutoFit/>
            </a:bodyPr>
            <a:lstStyle/>
            <a:p>
              <a:r>
                <a:rPr lang="zh-CN" altLang="en-US" dirty="0">
                  <a:solidFill>
                    <a:schemeClr val="bg2">
                      <a:lumMod val="10000"/>
                    </a:schemeClr>
                  </a:solidFill>
                </a:rPr>
                <a:t>刚体质量</a:t>
              </a:r>
              <a:endParaRPr lang="en-US" altLang="zh-CN" dirty="0">
                <a:solidFill>
                  <a:schemeClr val="bg2">
                    <a:lumMod val="10000"/>
                  </a:schemeClr>
                </a:solidFill>
              </a:endParaRPr>
            </a:p>
          </p:txBody>
        </p:sp>
      </p:grpSp>
      <mc:AlternateContent xmlns:mc="http://schemas.openxmlformats.org/markup-compatibility/2006" xmlns:a14="http://schemas.microsoft.com/office/drawing/2010/main">
        <mc:Choice Requires="a14">
          <p:sp>
            <p:nvSpPr>
              <p:cNvPr id="18" name="矩形 17"/>
              <p:cNvSpPr/>
              <p:nvPr/>
            </p:nvSpPr>
            <p:spPr>
              <a:xfrm>
                <a:off x="3529330" y="1329387"/>
                <a:ext cx="3540760" cy="4247317"/>
              </a:xfrm>
              <a:prstGeom prst="rect">
                <a:avLst/>
              </a:prstGeom>
            </p:spPr>
            <p:txBody>
              <a:bodyPr wrap="square">
                <a:spAutoFit/>
              </a:bodyPr>
              <a:lstStyle/>
              <a:p>
                <a:pPr indent="266700"/>
                <a:r>
                  <a:rPr lang="zh-CN" altLang="zh-CN" dirty="0"/>
                  <a:t>电子秤的核心部件是力传感器，也称为称重传感器。力传感器通常采用应变片的原理来测量物体的质量。应变片是一种金属材料，当受到外力作用时，会产生应变。通过将应变片粘贴在弹性体上，当物体质量施加在弹性体上时，弹性体会发生变形，导致应变片上产生应变。应变片上的应变会导致电阻值的变化，这种变化可以被电子电路测量并转换为电信号</a:t>
                </a:r>
                <a:r>
                  <a:rPr lang="zh-CN" altLang="en-US" dirty="0"/>
                  <a:t>。</a:t>
                </a:r>
                <a:endParaRPr lang="en-US" altLang="zh-CN" dirty="0"/>
              </a:p>
              <a:p>
                <a:pPr indent="266700"/>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因此将电子称反向放置其参数</a:t>
                </a:r>
                <a14:m>
                  <m:oMath xmlns:m="http://schemas.openxmlformats.org/officeDocument/2006/math">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e>
                      <m:sup>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sup>
                    </m:sSup>
                  </m:oMath>
                </a14:m>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为两倍的刚体质量</a:t>
                </a:r>
              </a:p>
              <a:p>
                <a:pPr indent="266700"/>
                <a:endParaRPr lang="en-US" altLang="zh-CN" dirty="0"/>
              </a:p>
            </p:txBody>
          </p:sp>
        </mc:Choice>
        <mc:Fallback xmlns="">
          <p:sp>
            <p:nvSpPr>
              <p:cNvPr id="18" name="矩形 17"/>
              <p:cNvSpPr>
                <a:spLocks noRot="1" noChangeAspect="1" noMove="1" noResize="1" noEditPoints="1" noAdjustHandles="1" noChangeArrowheads="1" noChangeShapeType="1" noTextEdit="1"/>
              </p:cNvSpPr>
              <p:nvPr/>
            </p:nvSpPr>
            <p:spPr>
              <a:xfrm>
                <a:off x="3529330" y="1329387"/>
                <a:ext cx="3540760" cy="4247317"/>
              </a:xfrm>
              <a:prstGeom prst="rect">
                <a:avLst/>
              </a:prstGeom>
              <a:blipFill>
                <a:blip r:embed="rId3"/>
                <a:stretch>
                  <a:fillRect l="-1549" t="-717" r="-4475"/>
                </a:stretch>
              </a:blipFill>
            </p:spPr>
            <p:txBody>
              <a:bodyPr/>
              <a:lstStyle/>
              <a:p>
                <a:r>
                  <a:rPr lang="zh-CN" altLang="en-US">
                    <a:noFill/>
                  </a:rPr>
                  <a:t> </a:t>
                </a:r>
              </a:p>
            </p:txBody>
          </p:sp>
        </mc:Fallback>
      </mc:AlternateContent>
      <p:pic>
        <p:nvPicPr>
          <p:cNvPr id="14" name="图片 13">
            <a:extLst>
              <a:ext uri="{FF2B5EF4-FFF2-40B4-BE49-F238E27FC236}">
                <a16:creationId xmlns:a16="http://schemas.microsoft.com/office/drawing/2014/main" id="{D3C3AB09-F073-D215-64E5-86FF6A9D78AC}"/>
              </a:ext>
            </a:extLst>
          </p:cNvPr>
          <p:cNvPicPr>
            <a:picLocks noChangeAspect="1"/>
          </p:cNvPicPr>
          <p:nvPr/>
        </p:nvPicPr>
        <p:blipFill>
          <a:blip r:embed="rId4"/>
          <a:stretch>
            <a:fillRect/>
          </a:stretch>
        </p:blipFill>
        <p:spPr>
          <a:xfrm>
            <a:off x="7830219" y="1123983"/>
            <a:ext cx="4121994" cy="4452721"/>
          </a:xfrm>
          <a:prstGeom prst="rect">
            <a:avLst/>
          </a:prstGeom>
        </p:spPr>
      </p:pic>
    </p:spTree>
    <p:extLst>
      <p:ext uri="{BB962C8B-B14F-4D97-AF65-F5344CB8AC3E}">
        <p14:creationId xmlns:p14="http://schemas.microsoft.com/office/powerpoint/2010/main" val="4280919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2715895" y="2152650"/>
            <a:ext cx="6621780" cy="1323439"/>
          </a:xfrm>
          <a:prstGeom prst="rect">
            <a:avLst/>
          </a:prstGeom>
          <a:noFill/>
        </p:spPr>
        <p:txBody>
          <a:bodyPr wrap="square" rtlCol="0">
            <a:spAutoFit/>
          </a:bodyPr>
          <a:lstStyle/>
          <a:p>
            <a:pPr algn="ctr"/>
            <a:r>
              <a:rPr lang="zh-CN" altLang="en-US" sz="8000" b="1" dirty="0">
                <a:solidFill>
                  <a:srgbClr val="49600B"/>
                </a:solidFill>
                <a:latin typeface="Calibri" panose="020F0502020204030204"/>
                <a:ea typeface="微软雅黑" panose="020B0503020204020204" charset="-122"/>
                <a:cs typeface="+mn-ea"/>
                <a:sym typeface="+mn-ea"/>
              </a:rPr>
              <a:t>实验步骤</a:t>
            </a:r>
            <a:endParaRPr lang="en-US" altLang="zh-CN" sz="8000" b="1" noProof="0" dirty="0">
              <a:ln>
                <a:noFill/>
              </a:ln>
              <a:solidFill>
                <a:srgbClr val="49600B"/>
              </a:solidFill>
              <a:effectLst/>
              <a:uLnTx/>
              <a:uFillTx/>
              <a:latin typeface="Calibri" panose="020F0502020204030204"/>
              <a:ea typeface="微软雅黑" panose="020B0503020204020204" charset="-122"/>
              <a:cs typeface="+mn-ea"/>
              <a:sym typeface="+mn-ea"/>
            </a:endParaRPr>
          </a:p>
        </p:txBody>
      </p:sp>
      <p:sp>
        <p:nvSpPr>
          <p:cNvPr id="14" name="TextBox 111"/>
          <p:cNvSpPr txBox="1">
            <a:spLocks noChangeArrowheads="1"/>
          </p:cNvSpPr>
          <p:nvPr/>
        </p:nvSpPr>
        <p:spPr bwMode="auto">
          <a:xfrm>
            <a:off x="3214139" y="3563435"/>
            <a:ext cx="5317773" cy="341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29" tIns="34263" rIns="68529" bIns="34263">
            <a:spAutoFit/>
          </a:bodyPr>
          <a:lstStyle>
            <a:lvl1pPr>
              <a:defRPr>
                <a:solidFill>
                  <a:schemeClr val="tx1"/>
                </a:solidFill>
                <a:latin typeface="Lao UI" panose="020B0502040204020203" pitchFamily="34" charset="0"/>
                <a:ea typeface="微软雅黑" panose="020B0503020204020204" charset="-122"/>
              </a:defRPr>
            </a:lvl1pPr>
            <a:lvl2pPr marL="742950" indent="-285750">
              <a:defRPr>
                <a:solidFill>
                  <a:schemeClr val="tx1"/>
                </a:solidFill>
                <a:latin typeface="Lao UI" panose="020B0502040204020203" pitchFamily="34" charset="0"/>
                <a:ea typeface="微软雅黑" panose="020B0503020204020204" charset="-122"/>
              </a:defRPr>
            </a:lvl2pPr>
            <a:lvl3pPr marL="1143000" indent="-228600">
              <a:defRPr>
                <a:solidFill>
                  <a:schemeClr val="tx1"/>
                </a:solidFill>
                <a:latin typeface="Lao UI" panose="020B0502040204020203" pitchFamily="34" charset="0"/>
                <a:ea typeface="微软雅黑" panose="020B0503020204020204" charset="-122"/>
              </a:defRPr>
            </a:lvl3pPr>
            <a:lvl4pPr marL="1600200" indent="-228600">
              <a:defRPr>
                <a:solidFill>
                  <a:schemeClr val="tx1"/>
                </a:solidFill>
                <a:latin typeface="Lao UI" panose="020B0502040204020203" pitchFamily="34" charset="0"/>
                <a:ea typeface="微软雅黑" panose="020B0503020204020204" charset="-122"/>
              </a:defRPr>
            </a:lvl4pPr>
            <a:lvl5pPr marL="2057400" indent="-228600">
              <a:defRPr>
                <a:solidFill>
                  <a:schemeClr val="tx1"/>
                </a:solidFill>
                <a:latin typeface="Lao UI" panose="020B0502040204020203" pitchFamily="34" charset="0"/>
                <a:ea typeface="微软雅黑" panose="020B0503020204020204" charset="-122"/>
              </a:defRPr>
            </a:lvl5pPr>
            <a:lvl6pPr marL="25146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6pPr>
            <a:lvl7pPr marL="29718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7pPr>
            <a:lvl8pPr marL="34290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8pPr>
            <a:lvl9pPr marL="38862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9pPr>
          </a:lstStyle>
          <a:p>
            <a:pPr algn="ctr" eaLnBrk="1" hangingPunct="1">
              <a:lnSpc>
                <a:spcPct val="120000"/>
              </a:lnSpc>
            </a:pPr>
            <a:r>
              <a:rPr lang="zh-CN" altLang="en-US" sz="1600" dirty="0">
                <a:solidFill>
                  <a:srgbClr val="49600B"/>
                </a:solidFill>
                <a:latin typeface="微软雅黑 Light" panose="020B0502040204020203" pitchFamily="34" charset="-122"/>
                <a:ea typeface="微软雅黑 Light" panose="020B0502040204020203" pitchFamily="34" charset="-122"/>
                <a:cs typeface="Arial" panose="020B0604020202020204" pitchFamily="34" charset="0"/>
              </a:rPr>
              <a:t>操作的具体流程</a:t>
            </a:r>
            <a:endParaRPr lang="en-US" altLang="zh-CN" sz="1600" baseline="-3000" dirty="0">
              <a:solidFill>
                <a:srgbClr val="49600B"/>
              </a:solidFill>
              <a:latin typeface="微软雅黑 Light" panose="020B0502040204020203" pitchFamily="34" charset="-122"/>
              <a:ea typeface="微软雅黑 Light" panose="020B0502040204020203" pitchFamily="34" charset="-122"/>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2"/>
          <p:cNvSpPr/>
          <p:nvPr/>
        </p:nvSpPr>
        <p:spPr>
          <a:xfrm>
            <a:off x="96520" y="117475"/>
            <a:ext cx="11998325" cy="6622415"/>
          </a:xfrm>
          <a:prstGeom prst="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c99d35f47f2632503bfb12dc6e869d2e7f3e502f3de27-k7RzQ8_fw658"/>
          <p:cNvPicPr>
            <a:picLocks noChangeAspect="1"/>
          </p:cNvPicPr>
          <p:nvPr/>
        </p:nvPicPr>
        <p:blipFill>
          <a:blip r:embed="rId2"/>
          <a:stretch>
            <a:fillRect/>
          </a:stretch>
        </p:blipFill>
        <p:spPr>
          <a:xfrm>
            <a:off x="-748030" y="-328295"/>
            <a:ext cx="3771900" cy="7515225"/>
          </a:xfrm>
          <a:prstGeom prst="rect">
            <a:avLst/>
          </a:prstGeom>
        </p:spPr>
      </p:pic>
      <p:grpSp>
        <p:nvGrpSpPr>
          <p:cNvPr id="10" name="组合 9"/>
          <p:cNvGrpSpPr/>
          <p:nvPr/>
        </p:nvGrpSpPr>
        <p:grpSpPr>
          <a:xfrm>
            <a:off x="1245235" y="303530"/>
            <a:ext cx="4564380" cy="797560"/>
            <a:chOff x="690" y="558"/>
            <a:chExt cx="7188" cy="1256"/>
          </a:xfrm>
        </p:grpSpPr>
        <p:sp>
          <p:nvSpPr>
            <p:cNvPr id="5" name="文本框 4"/>
            <p:cNvSpPr txBox="1"/>
            <p:nvPr/>
          </p:nvSpPr>
          <p:spPr>
            <a:xfrm>
              <a:off x="2473" y="558"/>
              <a:ext cx="5405" cy="1113"/>
            </a:xfrm>
            <a:prstGeom prst="rect">
              <a:avLst/>
            </a:prstGeom>
            <a:noFill/>
          </p:spPr>
          <p:txBody>
            <a:bodyPr wrap="square" rtlCol="0">
              <a:spAutoFit/>
            </a:bodyPr>
            <a:lstStyle/>
            <a:p>
              <a:r>
                <a:rPr lang="zh-CN" altLang="en-US" sz="4000" b="1" dirty="0">
                  <a:solidFill>
                    <a:srgbClr val="49600B"/>
                  </a:solidFill>
                </a:rPr>
                <a:t>实验步骤</a:t>
              </a:r>
              <a:endParaRPr lang="en-US" altLang="zh-CN" sz="4000" b="1" dirty="0">
                <a:solidFill>
                  <a:srgbClr val="49600B"/>
                </a:solidFill>
              </a:endParaRPr>
            </a:p>
          </p:txBody>
        </p:sp>
        <p:sp>
          <p:nvSpPr>
            <p:cNvPr id="4" name="圆角矩形 3"/>
            <p:cNvSpPr/>
            <p:nvPr/>
          </p:nvSpPr>
          <p:spPr>
            <a:xfrm>
              <a:off x="690" y="558"/>
              <a:ext cx="6916" cy="1256"/>
            </a:xfrm>
            <a:prstGeom prst="round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 name="图片 7" descr="mmexport1581691095439"/>
          <p:cNvPicPr>
            <a:picLocks noChangeAspect="1"/>
          </p:cNvPicPr>
          <p:nvPr/>
        </p:nvPicPr>
        <p:blipFill>
          <a:blip r:embed="rId3"/>
          <a:stretch>
            <a:fillRect/>
          </a:stretch>
        </p:blipFill>
        <p:spPr>
          <a:xfrm>
            <a:off x="1104900" y="2041326"/>
            <a:ext cx="4030345" cy="2653030"/>
          </a:xfrm>
          <a:prstGeom prst="rect">
            <a:avLst/>
          </a:prstGeom>
        </p:spPr>
      </p:pic>
      <p:pic>
        <p:nvPicPr>
          <p:cNvPr id="9" name="图片 8" descr="b78b7474b9d8131dcbf3c348071298c62fd10024103f56-fqnDSg_fw658"/>
          <p:cNvPicPr>
            <a:picLocks noChangeAspect="1"/>
          </p:cNvPicPr>
          <p:nvPr/>
        </p:nvPicPr>
        <p:blipFill>
          <a:blip r:embed="rId4"/>
          <a:stretch>
            <a:fillRect/>
          </a:stretch>
        </p:blipFill>
        <p:spPr>
          <a:xfrm>
            <a:off x="9716770" y="4292600"/>
            <a:ext cx="2570480" cy="2447290"/>
          </a:xfrm>
          <a:prstGeom prst="rect">
            <a:avLst/>
          </a:prstGeom>
        </p:spPr>
      </p:pic>
      <p:sp>
        <p:nvSpPr>
          <p:cNvPr id="12" name="矩形 11"/>
          <p:cNvSpPr/>
          <p:nvPr/>
        </p:nvSpPr>
        <p:spPr>
          <a:xfrm>
            <a:off x="5231448" y="1456055"/>
            <a:ext cx="5464476" cy="4801314"/>
          </a:xfrm>
          <a:prstGeom prst="rect">
            <a:avLst/>
          </a:prstGeom>
        </p:spPr>
        <p:txBody>
          <a:bodyPr wrap="square">
            <a:spAutoFit/>
          </a:bodyPr>
          <a:lstStyle/>
          <a:p>
            <a:pPr marL="400050" indent="-400050" algn="just">
              <a:buFont typeface="+mj-ea"/>
              <a:buAutoNum type="ea1JpnChsDbPeriod"/>
            </a:pPr>
            <a:r>
              <a:rPr lang="zh-CN" altLang="en-US" dirty="0">
                <a:solidFill>
                  <a:schemeClr val="bg1">
                    <a:lumMod val="50000"/>
                  </a:schemeClr>
                </a:solidFill>
              </a:rPr>
              <a:t>运用手机上</a:t>
            </a:r>
            <a:r>
              <a:rPr lang="en-US" altLang="zh-CN" dirty="0" err="1">
                <a:solidFill>
                  <a:schemeClr val="bg1">
                    <a:lumMod val="50000"/>
                  </a:schemeClr>
                </a:solidFill>
              </a:rPr>
              <a:t>phyphox</a:t>
            </a:r>
            <a:r>
              <a:rPr lang="zh-CN" altLang="en-US" dirty="0">
                <a:solidFill>
                  <a:schemeClr val="bg1">
                    <a:lumMod val="50000"/>
                  </a:schemeClr>
                </a:solidFill>
              </a:rPr>
              <a:t>软件的测量电梯模式，通过内置的气压传感器测量气压再转化成高度，对高度沿时间微分，得到瞬时速度与加速度。</a:t>
            </a:r>
          </a:p>
          <a:p>
            <a:pPr marL="400050" indent="-400050" algn="just">
              <a:buFont typeface="+mj-ea"/>
              <a:buAutoNum type="ea1JpnChsDbPeriod"/>
            </a:pPr>
            <a:r>
              <a:rPr lang="zh-CN" altLang="en-US" dirty="0">
                <a:solidFill>
                  <a:schemeClr val="bg1">
                    <a:lumMod val="50000"/>
                  </a:schemeClr>
                </a:solidFill>
              </a:rPr>
              <a:t>用电子秤测量重物和空载状态下在电梯运行过程中的数值变化，并用手机录像，之后用剪辑软件按照</a:t>
            </a:r>
            <a:r>
              <a:rPr lang="en-US" altLang="zh-CN" dirty="0">
                <a:solidFill>
                  <a:schemeClr val="bg1">
                    <a:lumMod val="50000"/>
                  </a:schemeClr>
                </a:solidFill>
              </a:rPr>
              <a:t>0.2s</a:t>
            </a:r>
            <a:r>
              <a:rPr lang="zh-CN" altLang="en-US" dirty="0">
                <a:solidFill>
                  <a:schemeClr val="bg1">
                    <a:lumMod val="50000"/>
                  </a:schemeClr>
                </a:solidFill>
              </a:rPr>
              <a:t>间隔截取数据，得到示数随时间变化的数据。</a:t>
            </a:r>
          </a:p>
          <a:p>
            <a:pPr marL="400050" indent="-400050" algn="just">
              <a:buFont typeface="+mj-ea"/>
              <a:buAutoNum type="ea1JpnChsDbPeriod"/>
            </a:pPr>
            <a:r>
              <a:rPr lang="zh-CN" altLang="en-US" dirty="0">
                <a:solidFill>
                  <a:schemeClr val="bg1">
                    <a:lumMod val="50000"/>
                  </a:schemeClr>
                </a:solidFill>
              </a:rPr>
              <a:t>将电子秤放在水平桌面上归零，将托盘拿下，此时显示的数值为负数，该数值绝对值即为托盘的质量</a:t>
            </a:r>
            <a:r>
              <a:rPr lang="en-US" altLang="zh-CN" dirty="0">
                <a:solidFill>
                  <a:schemeClr val="bg1">
                    <a:lumMod val="50000"/>
                  </a:schemeClr>
                </a:solidFill>
              </a:rPr>
              <a:t>M</a:t>
            </a:r>
            <a:r>
              <a:rPr lang="zh-CN" altLang="en-US" dirty="0">
                <a:solidFill>
                  <a:schemeClr val="bg1">
                    <a:lumMod val="50000"/>
                  </a:schemeClr>
                </a:solidFill>
              </a:rPr>
              <a:t>托盘。</a:t>
            </a:r>
          </a:p>
          <a:p>
            <a:pPr marL="400050" indent="-400050" algn="just">
              <a:buFont typeface="+mj-ea"/>
              <a:buAutoNum type="ea1JpnChsDbPeriod"/>
            </a:pPr>
            <a:r>
              <a:rPr lang="zh-CN" altLang="en-US" dirty="0">
                <a:solidFill>
                  <a:schemeClr val="bg1">
                    <a:lumMod val="50000"/>
                  </a:schemeClr>
                </a:solidFill>
              </a:rPr>
              <a:t>将电子秤放在水平桌面上，拿下托盘后归零，将电子秤倒置，此时电子秤显示数值的绝对值为电子秤内刚体质量的两倍，即</a:t>
            </a:r>
            <a:r>
              <a:rPr lang="en-US" altLang="zh-CN" dirty="0">
                <a:solidFill>
                  <a:schemeClr val="bg1">
                    <a:lumMod val="50000"/>
                  </a:schemeClr>
                </a:solidFill>
              </a:rPr>
              <a:t>M</a:t>
            </a:r>
            <a:r>
              <a:rPr lang="zh-CN" altLang="en-US" dirty="0">
                <a:solidFill>
                  <a:schemeClr val="bg1">
                    <a:lumMod val="50000"/>
                  </a:schemeClr>
                </a:solidFill>
              </a:rPr>
              <a:t>刚体。</a:t>
            </a:r>
          </a:p>
          <a:p>
            <a:pPr marL="400050" indent="-400050" algn="just">
              <a:buFont typeface="+mj-ea"/>
              <a:buAutoNum type="ea1JpnChsDbPeriod"/>
            </a:pPr>
            <a:r>
              <a:rPr lang="zh-CN" altLang="en-US" dirty="0">
                <a:solidFill>
                  <a:schemeClr val="bg1">
                    <a:lumMod val="50000"/>
                  </a:schemeClr>
                </a:solidFill>
              </a:rPr>
              <a:t>将得到的相关数据带入公式，计算得到加速度。</a:t>
            </a:r>
          </a:p>
          <a:p>
            <a:pPr marL="400050" indent="-400050" algn="just">
              <a:buFont typeface="+mj-ea"/>
              <a:buAutoNum type="ea1JpnChsDbPeriod"/>
            </a:pPr>
            <a:r>
              <a:rPr lang="zh-CN" altLang="en-US" dirty="0">
                <a:solidFill>
                  <a:schemeClr val="bg1">
                    <a:lumMod val="50000"/>
                  </a:schemeClr>
                </a:solidFill>
              </a:rPr>
              <a:t>汇总实验数据，利用</a:t>
            </a:r>
            <a:r>
              <a:rPr lang="en-US" altLang="zh-CN" dirty="0" err="1">
                <a:solidFill>
                  <a:schemeClr val="bg1">
                    <a:lumMod val="50000"/>
                  </a:schemeClr>
                </a:solidFill>
              </a:rPr>
              <a:t>excell</a:t>
            </a:r>
            <a:r>
              <a:rPr lang="zh-CN" altLang="en-US" dirty="0">
                <a:solidFill>
                  <a:schemeClr val="bg1">
                    <a:lumMod val="50000"/>
                  </a:schemeClr>
                </a:solidFill>
              </a:rPr>
              <a:t>和</a:t>
            </a:r>
            <a:r>
              <a:rPr lang="en-US" altLang="zh-CN" dirty="0" err="1">
                <a:solidFill>
                  <a:schemeClr val="bg1">
                    <a:lumMod val="50000"/>
                  </a:schemeClr>
                </a:solidFill>
              </a:rPr>
              <a:t>orignlab</a:t>
            </a:r>
            <a:r>
              <a:rPr lang="zh-CN" altLang="en-US" dirty="0">
                <a:solidFill>
                  <a:schemeClr val="bg1">
                    <a:lumMod val="50000"/>
                  </a:schemeClr>
                </a:solidFill>
              </a:rPr>
              <a:t>进行积分，算出速度和位移并导出位移</a:t>
            </a:r>
            <a:r>
              <a:rPr lang="en-US" altLang="zh-CN" dirty="0">
                <a:solidFill>
                  <a:schemeClr val="bg1">
                    <a:lumMod val="50000"/>
                  </a:schemeClr>
                </a:solidFill>
              </a:rPr>
              <a:t>-</a:t>
            </a:r>
            <a:r>
              <a:rPr lang="zh-CN" altLang="en-US" dirty="0">
                <a:solidFill>
                  <a:schemeClr val="bg1">
                    <a:lumMod val="50000"/>
                  </a:schemeClr>
                </a:solidFill>
              </a:rPr>
              <a:t>时间图像，速度</a:t>
            </a:r>
            <a:r>
              <a:rPr lang="en-US" altLang="zh-CN" dirty="0">
                <a:solidFill>
                  <a:schemeClr val="bg1">
                    <a:lumMod val="50000"/>
                  </a:schemeClr>
                </a:solidFill>
              </a:rPr>
              <a:t>-</a:t>
            </a:r>
            <a:r>
              <a:rPr lang="zh-CN" altLang="en-US" dirty="0">
                <a:solidFill>
                  <a:schemeClr val="bg1">
                    <a:lumMod val="50000"/>
                  </a:schemeClr>
                </a:solidFill>
              </a:rPr>
              <a:t>时间图像，加速度</a:t>
            </a:r>
            <a:r>
              <a:rPr lang="en-US" altLang="zh-CN" dirty="0">
                <a:solidFill>
                  <a:schemeClr val="bg1">
                    <a:lumMod val="50000"/>
                  </a:schemeClr>
                </a:solidFill>
              </a:rPr>
              <a:t>-</a:t>
            </a:r>
            <a:r>
              <a:rPr lang="zh-CN" altLang="en-US" dirty="0">
                <a:solidFill>
                  <a:schemeClr val="bg1">
                    <a:lumMod val="50000"/>
                  </a:schemeClr>
                </a:solidFill>
              </a:rPr>
              <a:t>时间图像。</a:t>
            </a:r>
            <a:endParaRPr lang="en-US" altLang="zh-CN" dirty="0">
              <a:solidFill>
                <a:schemeClr val="bg1">
                  <a:lumMod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2078182" y="1902345"/>
            <a:ext cx="7772111" cy="1323439"/>
          </a:xfrm>
          <a:prstGeom prst="rect">
            <a:avLst/>
          </a:prstGeom>
          <a:noFill/>
        </p:spPr>
        <p:txBody>
          <a:bodyPr wrap="square" rtlCol="0">
            <a:spAutoFit/>
          </a:bodyPr>
          <a:lstStyle/>
          <a:p>
            <a:pPr algn="ctr"/>
            <a:r>
              <a:rPr lang="zh-CN" altLang="en-US" sz="8000" b="1" noProof="0" dirty="0">
                <a:ln>
                  <a:noFill/>
                </a:ln>
                <a:solidFill>
                  <a:srgbClr val="49600B"/>
                </a:solidFill>
                <a:effectLst/>
                <a:uLnTx/>
                <a:uFillTx/>
                <a:latin typeface="Calibri" panose="020F0502020204030204"/>
                <a:ea typeface="微软雅黑" panose="020B0503020204020204" charset="-122"/>
                <a:cs typeface="+mn-ea"/>
                <a:sym typeface="+mn-ea"/>
              </a:rPr>
              <a:t>数据分析与处理</a:t>
            </a:r>
          </a:p>
        </p:txBody>
      </p:sp>
      <p:sp>
        <p:nvSpPr>
          <p:cNvPr id="14" name="TextBox 111"/>
          <p:cNvSpPr txBox="1">
            <a:spLocks noChangeArrowheads="1"/>
          </p:cNvSpPr>
          <p:nvPr/>
        </p:nvSpPr>
        <p:spPr bwMode="auto">
          <a:xfrm>
            <a:off x="2924291" y="3508017"/>
            <a:ext cx="531777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29" tIns="34263" rIns="68529" bIns="34263">
            <a:spAutoFit/>
          </a:bodyPr>
          <a:lstStyle>
            <a:lvl1pPr>
              <a:defRPr>
                <a:solidFill>
                  <a:schemeClr val="tx1"/>
                </a:solidFill>
                <a:latin typeface="Lao UI" panose="020B0502040204020203" pitchFamily="34" charset="0"/>
                <a:ea typeface="微软雅黑" panose="020B0503020204020204" charset="-122"/>
              </a:defRPr>
            </a:lvl1pPr>
            <a:lvl2pPr marL="742950" indent="-285750">
              <a:defRPr>
                <a:solidFill>
                  <a:schemeClr val="tx1"/>
                </a:solidFill>
                <a:latin typeface="Lao UI" panose="020B0502040204020203" pitchFamily="34" charset="0"/>
                <a:ea typeface="微软雅黑" panose="020B0503020204020204" charset="-122"/>
              </a:defRPr>
            </a:lvl2pPr>
            <a:lvl3pPr marL="1143000" indent="-228600">
              <a:defRPr>
                <a:solidFill>
                  <a:schemeClr val="tx1"/>
                </a:solidFill>
                <a:latin typeface="Lao UI" panose="020B0502040204020203" pitchFamily="34" charset="0"/>
                <a:ea typeface="微软雅黑" panose="020B0503020204020204" charset="-122"/>
              </a:defRPr>
            </a:lvl3pPr>
            <a:lvl4pPr marL="1600200" indent="-228600">
              <a:defRPr>
                <a:solidFill>
                  <a:schemeClr val="tx1"/>
                </a:solidFill>
                <a:latin typeface="Lao UI" panose="020B0502040204020203" pitchFamily="34" charset="0"/>
                <a:ea typeface="微软雅黑" panose="020B0503020204020204" charset="-122"/>
              </a:defRPr>
            </a:lvl4pPr>
            <a:lvl5pPr marL="2057400" indent="-228600">
              <a:defRPr>
                <a:solidFill>
                  <a:schemeClr val="tx1"/>
                </a:solidFill>
                <a:latin typeface="Lao UI" panose="020B0502040204020203" pitchFamily="34" charset="0"/>
                <a:ea typeface="微软雅黑" panose="020B0503020204020204" charset="-122"/>
              </a:defRPr>
            </a:lvl5pPr>
            <a:lvl6pPr marL="25146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6pPr>
            <a:lvl7pPr marL="29718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7pPr>
            <a:lvl8pPr marL="34290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8pPr>
            <a:lvl9pPr marL="38862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9pPr>
          </a:lstStyle>
          <a:p>
            <a:pPr algn="ctr" eaLnBrk="1" hangingPunct="1">
              <a:lnSpc>
                <a:spcPct val="120000"/>
              </a:lnSpc>
            </a:pPr>
            <a:r>
              <a:rPr lang="en-US" altLang="zh-CN" sz="1600" dirty="0">
                <a:solidFill>
                  <a:srgbClr val="49600B"/>
                </a:solidFill>
                <a:latin typeface="微软雅黑 Light" panose="020B0502040204020203" pitchFamily="34" charset="-122"/>
                <a:ea typeface="微软雅黑 Light" panose="020B0502040204020203" pitchFamily="34" charset="-122"/>
                <a:cs typeface="Arial" panose="020B0604020202020204" pitchFamily="34" charset="0"/>
              </a:rPr>
              <a:t>The problem that we want to deal with. </a:t>
            </a:r>
            <a:endParaRPr lang="en-US" altLang="zh-CN" sz="1600" baseline="-3000" dirty="0">
              <a:solidFill>
                <a:srgbClr val="49600B"/>
              </a:solidFill>
              <a:latin typeface="微软雅黑 Light" panose="020B0502040204020203" pitchFamily="34" charset="-122"/>
              <a:ea typeface="微软雅黑 Light" panose="020B0502040204020203" pitchFamily="34" charset="-122"/>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pic>
        <p:nvPicPr>
          <p:cNvPr id="2" name="图片 1" descr="42134eee38784bb7ed25e01489a2de25cb9a872a286c3-kuovdi_fw658"/>
          <p:cNvPicPr>
            <a:picLocks noChangeAspect="1"/>
          </p:cNvPicPr>
          <p:nvPr/>
        </p:nvPicPr>
        <p:blipFill>
          <a:blip r:embed="rId2">
            <a:lum bright="-12000" contrast="24000"/>
          </a:blip>
          <a:stretch>
            <a:fillRect/>
          </a:stretch>
        </p:blipFill>
        <p:spPr>
          <a:xfrm>
            <a:off x="7395210" y="464820"/>
            <a:ext cx="4796790" cy="6393180"/>
          </a:xfrm>
          <a:prstGeom prst="rect">
            <a:avLst/>
          </a:prstGeom>
        </p:spPr>
      </p:pic>
      <p:sp>
        <p:nvSpPr>
          <p:cNvPr id="3" name="矩形 2"/>
          <p:cNvSpPr/>
          <p:nvPr/>
        </p:nvSpPr>
        <p:spPr>
          <a:xfrm>
            <a:off x="115570" y="118110"/>
            <a:ext cx="11998325" cy="6622415"/>
          </a:xfrm>
          <a:prstGeom prst="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p:nvSpPr>
        <p:spPr>
          <a:xfrm>
            <a:off x="438150" y="354330"/>
            <a:ext cx="4391660" cy="797560"/>
          </a:xfrm>
          <a:prstGeom prst="round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831850" y="430530"/>
            <a:ext cx="3432175" cy="645160"/>
          </a:xfrm>
          <a:prstGeom prst="rect">
            <a:avLst/>
          </a:prstGeom>
          <a:noFill/>
        </p:spPr>
        <p:txBody>
          <a:bodyPr wrap="square" rtlCol="0">
            <a:spAutoFit/>
          </a:bodyPr>
          <a:lstStyle/>
          <a:p>
            <a:r>
              <a:rPr lang="zh-CN" altLang="en-US" sz="3600" dirty="0">
                <a:solidFill>
                  <a:srgbClr val="49600B"/>
                </a:solidFill>
                <a:sym typeface="+mn-ea"/>
              </a:rPr>
              <a:t>处理方法</a:t>
            </a:r>
            <a:endParaRPr lang="en-US" altLang="zh-CN" sz="3600" dirty="0">
              <a:solidFill>
                <a:srgbClr val="49600B"/>
              </a:solidFill>
              <a:sym typeface="+mn-ea"/>
            </a:endParaRPr>
          </a:p>
        </p:txBody>
      </p:sp>
      <p:pic>
        <p:nvPicPr>
          <p:cNvPr id="6" name="图片 5" descr="9152ab7e265f5139daca9e9909001bb8c4ee49836094b-aG1XcC_fw658"/>
          <p:cNvPicPr>
            <a:picLocks noChangeAspect="1"/>
          </p:cNvPicPr>
          <p:nvPr/>
        </p:nvPicPr>
        <p:blipFill>
          <a:blip r:embed="rId3"/>
          <a:stretch>
            <a:fillRect/>
          </a:stretch>
        </p:blipFill>
        <p:spPr>
          <a:xfrm>
            <a:off x="-316230" y="2285365"/>
            <a:ext cx="3166745" cy="4775835"/>
          </a:xfrm>
          <a:prstGeom prst="rect">
            <a:avLst/>
          </a:prstGeom>
        </p:spPr>
      </p:pic>
      <p:sp>
        <p:nvSpPr>
          <p:cNvPr id="7" name="文本框 6"/>
          <p:cNvSpPr txBox="1"/>
          <p:nvPr/>
        </p:nvSpPr>
        <p:spPr>
          <a:xfrm>
            <a:off x="297180" y="1713865"/>
            <a:ext cx="4391660" cy="400110"/>
          </a:xfrm>
          <a:prstGeom prst="rect">
            <a:avLst/>
          </a:prstGeom>
          <a:noFill/>
        </p:spPr>
        <p:txBody>
          <a:bodyPr wrap="square" rtlCol="0">
            <a:spAutoFit/>
            <a:scene3d>
              <a:camera prst="orthographicFront"/>
              <a:lightRig rig="threePt" dir="t"/>
            </a:scene3d>
          </a:bodyPr>
          <a:lstStyle/>
          <a:p>
            <a:r>
              <a:rPr lang="zh-CN" altLang="en-US" sz="2000" dirty="0">
                <a:solidFill>
                  <a:schemeClr val="tx1"/>
                </a:solidFill>
                <a:effectLst>
                  <a:outerShdw blurRad="38100" dist="19050" dir="2700000" algn="tl" rotWithShape="0">
                    <a:schemeClr val="dk1">
                      <a:alpha val="40000"/>
                    </a:schemeClr>
                  </a:outerShdw>
                </a:effectLst>
              </a:rPr>
              <a:t>通过对电子秤示数进行处理得到图像</a:t>
            </a:r>
          </a:p>
        </p:txBody>
      </p:sp>
      <p:pic>
        <p:nvPicPr>
          <p:cNvPr id="12" name="图片 11">
            <a:extLst>
              <a:ext uri="{FF2B5EF4-FFF2-40B4-BE49-F238E27FC236}">
                <a16:creationId xmlns:a16="http://schemas.microsoft.com/office/drawing/2014/main" id="{39E5F9E3-BF8C-3B75-1BC9-434CEDED9B9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74460" y="185902"/>
            <a:ext cx="5276850" cy="2412933"/>
          </a:xfrm>
          <a:prstGeom prst="rect">
            <a:avLst/>
          </a:prstGeom>
          <a:noFill/>
          <a:ln>
            <a:noFill/>
          </a:ln>
        </p:spPr>
      </p:pic>
      <p:pic>
        <p:nvPicPr>
          <p:cNvPr id="13" name="图片 12">
            <a:extLst>
              <a:ext uri="{FF2B5EF4-FFF2-40B4-BE49-F238E27FC236}">
                <a16:creationId xmlns:a16="http://schemas.microsoft.com/office/drawing/2014/main" id="{50788E4E-BA66-682B-C5FC-4FC0571B20D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77000" y="2560062"/>
            <a:ext cx="5274310" cy="2121476"/>
          </a:xfrm>
          <a:prstGeom prst="rect">
            <a:avLst/>
          </a:prstGeom>
          <a:noFill/>
          <a:ln>
            <a:noFill/>
          </a:ln>
        </p:spPr>
      </p:pic>
      <p:pic>
        <p:nvPicPr>
          <p:cNvPr id="14" name="图片 13">
            <a:extLst>
              <a:ext uri="{FF2B5EF4-FFF2-40B4-BE49-F238E27FC236}">
                <a16:creationId xmlns:a16="http://schemas.microsoft.com/office/drawing/2014/main" id="{87440356-84C0-F675-F962-AF491AA69548}"/>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74460" y="4494530"/>
            <a:ext cx="5274310" cy="2177568"/>
          </a:xfrm>
          <a:prstGeom prst="rect">
            <a:avLst/>
          </a:prstGeom>
          <a:noFill/>
          <a:ln>
            <a:noFill/>
          </a:ln>
        </p:spPr>
      </p:pic>
      <p:graphicFrame>
        <p:nvGraphicFramePr>
          <p:cNvPr id="15" name="表格 14">
            <a:extLst>
              <a:ext uri="{FF2B5EF4-FFF2-40B4-BE49-F238E27FC236}">
                <a16:creationId xmlns:a16="http://schemas.microsoft.com/office/drawing/2014/main" id="{F4EB6B28-0017-1456-4D42-12FF462B41DF}"/>
              </a:ext>
            </a:extLst>
          </p:cNvPr>
          <p:cNvGraphicFramePr>
            <a:graphicFrameLocks noGrp="1"/>
          </p:cNvGraphicFramePr>
          <p:nvPr>
            <p:extLst>
              <p:ext uri="{D42A27DB-BD31-4B8C-83A1-F6EECF244321}">
                <p14:modId xmlns:p14="http://schemas.microsoft.com/office/powerpoint/2010/main" val="510866101"/>
              </p:ext>
            </p:extLst>
          </p:nvPr>
        </p:nvGraphicFramePr>
        <p:xfrm>
          <a:off x="1470660" y="3019203"/>
          <a:ext cx="4787900" cy="2382975"/>
        </p:xfrm>
        <a:graphic>
          <a:graphicData uri="http://schemas.openxmlformats.org/drawingml/2006/table">
            <a:tbl>
              <a:tblPr firstRow="1" firstCol="1" bandRow="1">
                <a:tableStyleId>{5C22544A-7EE6-4342-B048-85BDC9FD1C3A}</a:tableStyleId>
              </a:tblPr>
              <a:tblGrid>
                <a:gridCol w="685800">
                  <a:extLst>
                    <a:ext uri="{9D8B030D-6E8A-4147-A177-3AD203B41FA5}">
                      <a16:colId xmlns:a16="http://schemas.microsoft.com/office/drawing/2014/main" val="3412155795"/>
                    </a:ext>
                  </a:extLst>
                </a:gridCol>
                <a:gridCol w="996950">
                  <a:extLst>
                    <a:ext uri="{9D8B030D-6E8A-4147-A177-3AD203B41FA5}">
                      <a16:colId xmlns:a16="http://schemas.microsoft.com/office/drawing/2014/main" val="4175890278"/>
                    </a:ext>
                  </a:extLst>
                </a:gridCol>
                <a:gridCol w="1047750">
                  <a:extLst>
                    <a:ext uri="{9D8B030D-6E8A-4147-A177-3AD203B41FA5}">
                      <a16:colId xmlns:a16="http://schemas.microsoft.com/office/drawing/2014/main" val="3975088480"/>
                    </a:ext>
                  </a:extLst>
                </a:gridCol>
                <a:gridCol w="685800">
                  <a:extLst>
                    <a:ext uri="{9D8B030D-6E8A-4147-A177-3AD203B41FA5}">
                      <a16:colId xmlns:a16="http://schemas.microsoft.com/office/drawing/2014/main" val="4256059318"/>
                    </a:ext>
                  </a:extLst>
                </a:gridCol>
                <a:gridCol w="685800">
                  <a:extLst>
                    <a:ext uri="{9D8B030D-6E8A-4147-A177-3AD203B41FA5}">
                      <a16:colId xmlns:a16="http://schemas.microsoft.com/office/drawing/2014/main" val="1665943175"/>
                    </a:ext>
                  </a:extLst>
                </a:gridCol>
                <a:gridCol w="685800">
                  <a:extLst>
                    <a:ext uri="{9D8B030D-6E8A-4147-A177-3AD203B41FA5}">
                      <a16:colId xmlns:a16="http://schemas.microsoft.com/office/drawing/2014/main" val="2235124996"/>
                    </a:ext>
                  </a:extLst>
                </a:gridCol>
              </a:tblGrid>
              <a:tr h="477647">
                <a:tc>
                  <a:txBody>
                    <a:bodyPr/>
                    <a:lstStyle/>
                    <a:p>
                      <a:pPr algn="l"/>
                      <a:r>
                        <a:rPr lang="en-US" sz="1100" kern="0">
                          <a:effectLst/>
                        </a:rPr>
                        <a:t>N</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正向加速度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反向加速度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上行速度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下行速度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位移</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59223422"/>
                  </a:ext>
                </a:extLst>
              </a:tr>
              <a:tr h="253297">
                <a:tc>
                  <a:txBody>
                    <a:bodyPr/>
                    <a:lstStyle/>
                    <a:p>
                      <a:pPr algn="r"/>
                      <a:r>
                        <a:rPr lang="en-US" sz="1100" kern="0">
                          <a:effectLst/>
                        </a:rPr>
                        <a:t>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-0.59217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1609191364"/>
                  </a:ext>
                </a:extLst>
              </a:tr>
              <a:tr h="253297">
                <a:tc>
                  <a:txBody>
                    <a:bodyPr/>
                    <a:lstStyle/>
                    <a:p>
                      <a:pPr algn="r"/>
                      <a:r>
                        <a:rPr lang="en-US" sz="1100" kern="0">
                          <a:effectLst/>
                        </a:rPr>
                        <a:t>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0.5879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488794105"/>
                  </a:ext>
                </a:extLst>
              </a:tr>
              <a:tr h="253297">
                <a:tc>
                  <a:txBody>
                    <a:bodyPr/>
                    <a:lstStyle/>
                    <a:p>
                      <a:pPr algn="r"/>
                      <a:r>
                        <a:rPr lang="en-US" sz="1100" kern="0">
                          <a:effectLst/>
                        </a:rPr>
                        <a:t>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0.59263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2983562701"/>
                  </a:ext>
                </a:extLst>
              </a:tr>
              <a:tr h="192773">
                <a:tc>
                  <a:txBody>
                    <a:bodyPr/>
                    <a:lstStyle/>
                    <a:p>
                      <a:pPr algn="r"/>
                      <a:r>
                        <a:rPr lang="en-US" sz="1100" kern="0">
                          <a:effectLst/>
                        </a:rPr>
                        <a:t>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-0.57949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2153312240"/>
                  </a:ext>
                </a:extLst>
              </a:tr>
              <a:tr h="253297">
                <a:tc>
                  <a:txBody>
                    <a:bodyPr/>
                    <a:lstStyle/>
                    <a:p>
                      <a:pPr algn="r"/>
                      <a:r>
                        <a:rPr lang="en-US" sz="1100" kern="0">
                          <a:effectLst/>
                        </a:rPr>
                        <a:t>28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-1.63158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2388910632"/>
                  </a:ext>
                </a:extLst>
              </a:tr>
              <a:tr h="253297">
                <a:tc>
                  <a:txBody>
                    <a:bodyPr/>
                    <a:lstStyle/>
                    <a:p>
                      <a:pPr algn="r"/>
                      <a:r>
                        <a:rPr lang="en-US" sz="1100" kern="0">
                          <a:effectLst/>
                        </a:rPr>
                        <a:t>21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1.64457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1036000892"/>
                  </a:ext>
                </a:extLst>
              </a:tr>
              <a:tr h="253297">
                <a:tc>
                  <a:txBody>
                    <a:bodyPr/>
                    <a:lstStyle/>
                    <a:p>
                      <a:pPr algn="r"/>
                      <a:r>
                        <a:rPr lang="en-US" sz="1100" kern="0">
                          <a:effectLst/>
                        </a:rPr>
                        <a:t>67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15.11044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01439496"/>
                  </a:ext>
                </a:extLst>
              </a:tr>
              <a:tr h="192773">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0.590560625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-0.58583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1.64457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-1.63158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dirty="0">
                          <a:effectLst/>
                        </a:rPr>
                        <a:t>15.11044</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6720862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2" name="图片 1" descr="cc65ddc4a22926d26f5e7a884924a05e3d9745b348524-oD5yGJ_fw658"/>
          <p:cNvPicPr>
            <a:picLocks noChangeAspect="1"/>
          </p:cNvPicPr>
          <p:nvPr/>
        </p:nvPicPr>
        <p:blipFill>
          <a:blip r:embed="rId2"/>
          <a:stretch>
            <a:fillRect/>
          </a:stretch>
        </p:blipFill>
        <p:spPr>
          <a:xfrm>
            <a:off x="4062732" y="117475"/>
            <a:ext cx="3853815" cy="6852920"/>
          </a:xfrm>
          <a:prstGeom prst="rect">
            <a:avLst/>
          </a:prstGeom>
        </p:spPr>
      </p:pic>
      <p:sp>
        <p:nvSpPr>
          <p:cNvPr id="3" name="矩形 2"/>
          <p:cNvSpPr/>
          <p:nvPr/>
        </p:nvSpPr>
        <p:spPr>
          <a:xfrm>
            <a:off x="115570" y="118110"/>
            <a:ext cx="11998325" cy="6622415"/>
          </a:xfrm>
          <a:prstGeom prst="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450215" y="297180"/>
            <a:ext cx="4391660" cy="797560"/>
            <a:chOff x="690" y="558"/>
            <a:chExt cx="6916" cy="1256"/>
          </a:xfrm>
        </p:grpSpPr>
        <p:sp>
          <p:nvSpPr>
            <p:cNvPr id="5" name="文本框 4"/>
            <p:cNvSpPr txBox="1"/>
            <p:nvPr/>
          </p:nvSpPr>
          <p:spPr>
            <a:xfrm>
              <a:off x="1309" y="678"/>
              <a:ext cx="5405" cy="1016"/>
            </a:xfrm>
            <a:prstGeom prst="rect">
              <a:avLst/>
            </a:prstGeom>
            <a:noFill/>
          </p:spPr>
          <p:txBody>
            <a:bodyPr wrap="square" rtlCol="0">
              <a:spAutoFit/>
            </a:bodyPr>
            <a:lstStyle/>
            <a:p>
              <a:pPr algn="ctr"/>
              <a:r>
                <a:rPr lang="zh-CN" altLang="en-US" sz="3600" dirty="0">
                  <a:solidFill>
                    <a:srgbClr val="49600B"/>
                  </a:solidFill>
                </a:rPr>
                <a:t>实验结果</a:t>
              </a:r>
              <a:endParaRPr lang="en-US" altLang="zh-CN" sz="3600" dirty="0">
                <a:solidFill>
                  <a:srgbClr val="49600B"/>
                </a:solidFill>
              </a:endParaRPr>
            </a:p>
          </p:txBody>
        </p:sp>
        <p:sp>
          <p:nvSpPr>
            <p:cNvPr id="4" name="圆角矩形 3"/>
            <p:cNvSpPr/>
            <p:nvPr/>
          </p:nvSpPr>
          <p:spPr>
            <a:xfrm>
              <a:off x="690" y="558"/>
              <a:ext cx="6916" cy="1256"/>
            </a:xfrm>
            <a:prstGeom prst="round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21"/>
          <p:cNvSpPr/>
          <p:nvPr/>
        </p:nvSpPr>
        <p:spPr>
          <a:xfrm>
            <a:off x="984250" y="1520190"/>
            <a:ext cx="3540760" cy="369332"/>
          </a:xfrm>
          <a:prstGeom prst="rect">
            <a:avLst/>
          </a:prstGeom>
        </p:spPr>
        <p:txBody>
          <a:bodyPr wrap="square">
            <a:spAutoFit/>
          </a:bodyPr>
          <a:lstStyle/>
          <a:p>
            <a:pPr algn="just"/>
            <a:r>
              <a:rPr lang="zh-CN" altLang="zh-CN" sz="1800" dirty="0">
                <a:effectLst/>
                <a:ea typeface="等线" panose="02010600030101010101" pitchFamily="2" charset="-122"/>
                <a:cs typeface="Times New Roman" panose="02020603050405020304" pitchFamily="18" charset="0"/>
              </a:rPr>
              <a:t>空载运行一至四楼图像</a:t>
            </a:r>
            <a:endParaRPr lang="en-US" altLang="zh-CN" sz="2000" dirty="0">
              <a:solidFill>
                <a:schemeClr val="tx1"/>
              </a:solidFill>
            </a:endParaRPr>
          </a:p>
        </p:txBody>
      </p:sp>
      <p:sp>
        <p:nvSpPr>
          <p:cNvPr id="6" name="矩形 5"/>
          <p:cNvSpPr/>
          <p:nvPr/>
        </p:nvSpPr>
        <p:spPr>
          <a:xfrm>
            <a:off x="984250" y="3820160"/>
            <a:ext cx="3540760" cy="369332"/>
          </a:xfrm>
          <a:prstGeom prst="rect">
            <a:avLst/>
          </a:prstGeom>
        </p:spPr>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负载手机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运行一至四楼图像</a:t>
            </a:r>
          </a:p>
        </p:txBody>
      </p:sp>
      <p:sp>
        <p:nvSpPr>
          <p:cNvPr id="7" name="矩形 6"/>
          <p:cNvSpPr/>
          <p:nvPr/>
        </p:nvSpPr>
        <p:spPr>
          <a:xfrm>
            <a:off x="8103870" y="1342761"/>
            <a:ext cx="3540760" cy="369332"/>
          </a:xfrm>
          <a:prstGeom prst="rect">
            <a:avLst/>
          </a:prstGeom>
        </p:spPr>
        <p:txBody>
          <a:bodyPr wrap="square">
            <a:spAutoFit/>
          </a:bodyPr>
          <a:lstStyle/>
          <a:p>
            <a:pPr algn="just"/>
            <a:r>
              <a:rPr lang="zh-CN" altLang="zh-CN" sz="1800" dirty="0">
                <a:effectLst/>
                <a:ea typeface="等线" panose="02010600030101010101" pitchFamily="2" charset="-122"/>
                <a:cs typeface="Times New Roman" panose="02020603050405020304" pitchFamily="18" charset="0"/>
              </a:rPr>
              <a:t>负载手机</a:t>
            </a:r>
            <a:r>
              <a:rPr lang="en-US" altLang="zh-CN" sz="1800" dirty="0">
                <a:effectLst/>
                <a:ea typeface="等线" panose="02010600030101010101" pitchFamily="2" charset="-122"/>
                <a:cs typeface="Times New Roman" panose="02020603050405020304" pitchFamily="18" charset="0"/>
              </a:rPr>
              <a:t>2</a:t>
            </a:r>
            <a:r>
              <a:rPr lang="zh-CN" altLang="zh-CN" sz="1800" dirty="0">
                <a:effectLst/>
                <a:ea typeface="等线" panose="02010600030101010101" pitchFamily="2" charset="-122"/>
                <a:cs typeface="Times New Roman" panose="02020603050405020304" pitchFamily="18" charset="0"/>
              </a:rPr>
              <a:t>运行一至四楼图像</a:t>
            </a:r>
            <a:endParaRPr lang="zh-CN" altLang="en-US" sz="2000" dirty="0">
              <a:solidFill>
                <a:schemeClr val="bg1">
                  <a:lumMod val="50000"/>
                </a:schemeClr>
              </a:solidFill>
            </a:endParaRPr>
          </a:p>
        </p:txBody>
      </p:sp>
      <p:sp>
        <p:nvSpPr>
          <p:cNvPr id="8" name="矩形 7"/>
          <p:cNvSpPr/>
          <p:nvPr/>
        </p:nvSpPr>
        <p:spPr>
          <a:xfrm>
            <a:off x="8103870" y="3935730"/>
            <a:ext cx="3540760" cy="369332"/>
          </a:xfrm>
          <a:prstGeom prst="rect">
            <a:avLst/>
          </a:prstGeom>
        </p:spPr>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负载手机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运行一至四楼图像</a:t>
            </a:r>
          </a:p>
        </p:txBody>
      </p:sp>
      <p:cxnSp>
        <p:nvCxnSpPr>
          <p:cNvPr id="9" name="直接箭头连接符 8"/>
          <p:cNvCxnSpPr>
            <a:cxnSpLocks/>
            <a:stCxn id="22" idx="2"/>
            <a:endCxn id="6" idx="0"/>
          </p:cNvCxnSpPr>
          <p:nvPr/>
        </p:nvCxnSpPr>
        <p:spPr>
          <a:xfrm>
            <a:off x="2754630" y="1889522"/>
            <a:ext cx="0" cy="193063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7" idx="2"/>
            <a:endCxn id="8" idx="0"/>
          </p:cNvCxnSpPr>
          <p:nvPr/>
        </p:nvCxnSpPr>
        <p:spPr>
          <a:xfrm>
            <a:off x="9874250" y="1712093"/>
            <a:ext cx="0" cy="2223637"/>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16" name="表格 15">
            <a:extLst>
              <a:ext uri="{FF2B5EF4-FFF2-40B4-BE49-F238E27FC236}">
                <a16:creationId xmlns:a16="http://schemas.microsoft.com/office/drawing/2014/main" id="{7211AD8E-8010-BE6E-9FFD-265B31C2A840}"/>
              </a:ext>
            </a:extLst>
          </p:cNvPr>
          <p:cNvGraphicFramePr>
            <a:graphicFrameLocks noGrp="1"/>
          </p:cNvGraphicFramePr>
          <p:nvPr>
            <p:extLst>
              <p:ext uri="{D42A27DB-BD31-4B8C-83A1-F6EECF244321}">
                <p14:modId xmlns:p14="http://schemas.microsoft.com/office/powerpoint/2010/main" val="3102260382"/>
              </p:ext>
            </p:extLst>
          </p:nvPr>
        </p:nvGraphicFramePr>
        <p:xfrm>
          <a:off x="306705" y="1877814"/>
          <a:ext cx="4787900" cy="1757680"/>
        </p:xfrm>
        <a:graphic>
          <a:graphicData uri="http://schemas.openxmlformats.org/drawingml/2006/table">
            <a:tbl>
              <a:tblPr firstRow="1" firstCol="1" bandRow="1">
                <a:tableStyleId>{5C22544A-7EE6-4342-B048-85BDC9FD1C3A}</a:tableStyleId>
              </a:tblPr>
              <a:tblGrid>
                <a:gridCol w="685800">
                  <a:extLst>
                    <a:ext uri="{9D8B030D-6E8A-4147-A177-3AD203B41FA5}">
                      <a16:colId xmlns:a16="http://schemas.microsoft.com/office/drawing/2014/main" val="351381964"/>
                    </a:ext>
                  </a:extLst>
                </a:gridCol>
                <a:gridCol w="996950">
                  <a:extLst>
                    <a:ext uri="{9D8B030D-6E8A-4147-A177-3AD203B41FA5}">
                      <a16:colId xmlns:a16="http://schemas.microsoft.com/office/drawing/2014/main" val="276692394"/>
                    </a:ext>
                  </a:extLst>
                </a:gridCol>
                <a:gridCol w="1047750">
                  <a:extLst>
                    <a:ext uri="{9D8B030D-6E8A-4147-A177-3AD203B41FA5}">
                      <a16:colId xmlns:a16="http://schemas.microsoft.com/office/drawing/2014/main" val="2070800486"/>
                    </a:ext>
                  </a:extLst>
                </a:gridCol>
                <a:gridCol w="685800">
                  <a:extLst>
                    <a:ext uri="{9D8B030D-6E8A-4147-A177-3AD203B41FA5}">
                      <a16:colId xmlns:a16="http://schemas.microsoft.com/office/drawing/2014/main" val="1105983717"/>
                    </a:ext>
                  </a:extLst>
                </a:gridCol>
                <a:gridCol w="685800">
                  <a:extLst>
                    <a:ext uri="{9D8B030D-6E8A-4147-A177-3AD203B41FA5}">
                      <a16:colId xmlns:a16="http://schemas.microsoft.com/office/drawing/2014/main" val="1188821552"/>
                    </a:ext>
                  </a:extLst>
                </a:gridCol>
                <a:gridCol w="685800">
                  <a:extLst>
                    <a:ext uri="{9D8B030D-6E8A-4147-A177-3AD203B41FA5}">
                      <a16:colId xmlns:a16="http://schemas.microsoft.com/office/drawing/2014/main" val="3440236421"/>
                    </a:ext>
                  </a:extLst>
                </a:gridCol>
              </a:tblGrid>
              <a:tr h="177800">
                <a:tc>
                  <a:txBody>
                    <a:bodyPr/>
                    <a:lstStyle/>
                    <a:p>
                      <a:pPr algn="l"/>
                      <a:r>
                        <a:rPr lang="en-US" sz="1100" kern="0">
                          <a:effectLst/>
                        </a:rPr>
                        <a:t>N</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正向加速度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反向加速度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上行速度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下行速度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位移</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38445249"/>
                  </a:ext>
                </a:extLst>
              </a:tr>
              <a:tr h="177800">
                <a:tc>
                  <a:txBody>
                    <a:bodyPr/>
                    <a:lstStyle/>
                    <a:p>
                      <a:pPr algn="r"/>
                      <a:r>
                        <a:rPr lang="en-US" sz="1100" kern="0">
                          <a:effectLst/>
                        </a:rPr>
                        <a:t>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-0.59217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2128742512"/>
                  </a:ext>
                </a:extLst>
              </a:tr>
              <a:tr h="177800">
                <a:tc>
                  <a:txBody>
                    <a:bodyPr/>
                    <a:lstStyle/>
                    <a:p>
                      <a:pPr algn="r"/>
                      <a:r>
                        <a:rPr lang="en-US" sz="1100" kern="0">
                          <a:effectLst/>
                        </a:rPr>
                        <a:t>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0.5879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778722866"/>
                  </a:ext>
                </a:extLst>
              </a:tr>
              <a:tr h="177800">
                <a:tc>
                  <a:txBody>
                    <a:bodyPr/>
                    <a:lstStyle/>
                    <a:p>
                      <a:pPr algn="r"/>
                      <a:r>
                        <a:rPr lang="en-US" sz="1100" kern="0">
                          <a:effectLst/>
                        </a:rPr>
                        <a:t>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0.59263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3488187597"/>
                  </a:ext>
                </a:extLst>
              </a:tr>
              <a:tr h="177800">
                <a:tc>
                  <a:txBody>
                    <a:bodyPr/>
                    <a:lstStyle/>
                    <a:p>
                      <a:pPr algn="r"/>
                      <a:r>
                        <a:rPr lang="en-US" sz="1100" kern="0">
                          <a:effectLst/>
                        </a:rPr>
                        <a:t>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-0.57949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2278904457"/>
                  </a:ext>
                </a:extLst>
              </a:tr>
              <a:tr h="177800">
                <a:tc>
                  <a:txBody>
                    <a:bodyPr/>
                    <a:lstStyle/>
                    <a:p>
                      <a:pPr algn="r"/>
                      <a:r>
                        <a:rPr lang="en-US" sz="1100" kern="0">
                          <a:effectLst/>
                        </a:rPr>
                        <a:t>28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-1.63158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1635267969"/>
                  </a:ext>
                </a:extLst>
              </a:tr>
              <a:tr h="177800">
                <a:tc>
                  <a:txBody>
                    <a:bodyPr/>
                    <a:lstStyle/>
                    <a:p>
                      <a:pPr algn="r"/>
                      <a:r>
                        <a:rPr lang="en-US" sz="1100" kern="0">
                          <a:effectLst/>
                        </a:rPr>
                        <a:t>21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1.64457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2875590175"/>
                  </a:ext>
                </a:extLst>
              </a:tr>
              <a:tr h="177800">
                <a:tc>
                  <a:txBody>
                    <a:bodyPr/>
                    <a:lstStyle/>
                    <a:p>
                      <a:pPr algn="r"/>
                      <a:r>
                        <a:rPr lang="en-US" sz="1100" kern="0">
                          <a:effectLst/>
                        </a:rPr>
                        <a:t>67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15.11044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74843412"/>
                  </a:ext>
                </a:extLst>
              </a:tr>
              <a:tr h="177800">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0.590560625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-0.58583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1.64457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-1.63158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dirty="0">
                          <a:effectLst/>
                        </a:rPr>
                        <a:t>15.11044</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65130763"/>
                  </a:ext>
                </a:extLst>
              </a:tr>
            </a:tbl>
          </a:graphicData>
        </a:graphic>
      </p:graphicFrame>
      <p:graphicFrame>
        <p:nvGraphicFramePr>
          <p:cNvPr id="17" name="表格 16">
            <a:extLst>
              <a:ext uri="{FF2B5EF4-FFF2-40B4-BE49-F238E27FC236}">
                <a16:creationId xmlns:a16="http://schemas.microsoft.com/office/drawing/2014/main" id="{696E62EA-E78B-9DA3-91A9-7ECCFD168193}"/>
              </a:ext>
            </a:extLst>
          </p:cNvPr>
          <p:cNvGraphicFramePr>
            <a:graphicFrameLocks noGrp="1"/>
          </p:cNvGraphicFramePr>
          <p:nvPr>
            <p:extLst>
              <p:ext uri="{D42A27DB-BD31-4B8C-83A1-F6EECF244321}">
                <p14:modId xmlns:p14="http://schemas.microsoft.com/office/powerpoint/2010/main" val="2155561347"/>
              </p:ext>
            </p:extLst>
          </p:nvPr>
        </p:nvGraphicFramePr>
        <p:xfrm>
          <a:off x="246380" y="4167931"/>
          <a:ext cx="4908550" cy="2514600"/>
        </p:xfrm>
        <a:graphic>
          <a:graphicData uri="http://schemas.openxmlformats.org/drawingml/2006/table">
            <a:tbl>
              <a:tblPr firstRow="1" firstCol="1" bandRow="1">
                <a:tableStyleId>{5C22544A-7EE6-4342-B048-85BDC9FD1C3A}</a:tableStyleId>
              </a:tblPr>
              <a:tblGrid>
                <a:gridCol w="672465">
                  <a:extLst>
                    <a:ext uri="{9D8B030D-6E8A-4147-A177-3AD203B41FA5}">
                      <a16:colId xmlns:a16="http://schemas.microsoft.com/office/drawing/2014/main" val="1479217432"/>
                    </a:ext>
                  </a:extLst>
                </a:gridCol>
                <a:gridCol w="977265">
                  <a:extLst>
                    <a:ext uri="{9D8B030D-6E8A-4147-A177-3AD203B41FA5}">
                      <a16:colId xmlns:a16="http://schemas.microsoft.com/office/drawing/2014/main" val="299465706"/>
                    </a:ext>
                  </a:extLst>
                </a:gridCol>
                <a:gridCol w="1027430">
                  <a:extLst>
                    <a:ext uri="{9D8B030D-6E8A-4147-A177-3AD203B41FA5}">
                      <a16:colId xmlns:a16="http://schemas.microsoft.com/office/drawing/2014/main" val="3989733310"/>
                    </a:ext>
                  </a:extLst>
                </a:gridCol>
                <a:gridCol w="672465">
                  <a:extLst>
                    <a:ext uri="{9D8B030D-6E8A-4147-A177-3AD203B41FA5}">
                      <a16:colId xmlns:a16="http://schemas.microsoft.com/office/drawing/2014/main" val="4218211262"/>
                    </a:ext>
                  </a:extLst>
                </a:gridCol>
                <a:gridCol w="672465">
                  <a:extLst>
                    <a:ext uri="{9D8B030D-6E8A-4147-A177-3AD203B41FA5}">
                      <a16:colId xmlns:a16="http://schemas.microsoft.com/office/drawing/2014/main" val="851538150"/>
                    </a:ext>
                  </a:extLst>
                </a:gridCol>
                <a:gridCol w="886460">
                  <a:extLst>
                    <a:ext uri="{9D8B030D-6E8A-4147-A177-3AD203B41FA5}">
                      <a16:colId xmlns:a16="http://schemas.microsoft.com/office/drawing/2014/main" val="2286493122"/>
                    </a:ext>
                  </a:extLst>
                </a:gridCol>
              </a:tblGrid>
              <a:tr h="113665">
                <a:tc>
                  <a:txBody>
                    <a:bodyPr/>
                    <a:lstStyle/>
                    <a:p>
                      <a:pPr algn="l"/>
                      <a:r>
                        <a:rPr lang="en-US" sz="1100" kern="0">
                          <a:effectLst/>
                        </a:rPr>
                        <a:t>N</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正向加速度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反向加速度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上行速度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下行速度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位移</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15454191"/>
                  </a:ext>
                </a:extLst>
              </a:tr>
              <a:tr h="113665">
                <a:tc>
                  <a:txBody>
                    <a:bodyPr/>
                    <a:lstStyle/>
                    <a:p>
                      <a:pPr algn="r"/>
                      <a:r>
                        <a:rPr lang="en-US" sz="1100" kern="0">
                          <a:effectLst/>
                        </a:rPr>
                        <a:t>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-0.58887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306418656"/>
                  </a:ext>
                </a:extLst>
              </a:tr>
              <a:tr h="113665">
                <a:tc>
                  <a:txBody>
                    <a:bodyPr/>
                    <a:lstStyle/>
                    <a:p>
                      <a:pPr algn="r"/>
                      <a:r>
                        <a:rPr lang="en-US" sz="1100" kern="0">
                          <a:effectLst/>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0.58937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2121172594"/>
                  </a:ext>
                </a:extLst>
              </a:tr>
              <a:tr h="113665">
                <a:tc>
                  <a:txBody>
                    <a:bodyPr/>
                    <a:lstStyle/>
                    <a:p>
                      <a:pPr algn="r"/>
                      <a:r>
                        <a:rPr lang="en-US" sz="1100" kern="0">
                          <a:effectLst/>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0.59848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3103713272"/>
                  </a:ext>
                </a:extLst>
              </a:tr>
              <a:tr h="113665">
                <a:tc>
                  <a:txBody>
                    <a:bodyPr/>
                    <a:lstStyle/>
                    <a:p>
                      <a:pPr algn="r"/>
                      <a:r>
                        <a:rPr lang="en-US" sz="1100" kern="0">
                          <a:effectLst/>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-0.58102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890656538"/>
                  </a:ext>
                </a:extLst>
              </a:tr>
              <a:tr h="113665">
                <a:tc>
                  <a:txBody>
                    <a:bodyPr/>
                    <a:lstStyle/>
                    <a:p>
                      <a:pPr algn="r"/>
                      <a:r>
                        <a:rPr lang="en-US" sz="1100" kern="0">
                          <a:effectLst/>
                        </a:rPr>
                        <a:t>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-0.58707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3479738267"/>
                  </a:ext>
                </a:extLst>
              </a:tr>
              <a:tr h="113665">
                <a:tc>
                  <a:txBody>
                    <a:bodyPr/>
                    <a:lstStyle/>
                    <a:p>
                      <a:pPr algn="r"/>
                      <a:r>
                        <a:rPr lang="en-US" sz="1100" kern="0">
                          <a:effectLst/>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0.57104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237830955"/>
                  </a:ext>
                </a:extLst>
              </a:tr>
              <a:tr h="113665">
                <a:tc>
                  <a:txBody>
                    <a:bodyPr/>
                    <a:lstStyle/>
                    <a:p>
                      <a:pPr algn="r"/>
                      <a:r>
                        <a:rPr lang="en-US" sz="1100" kern="0">
                          <a:effectLst/>
                        </a:rPr>
                        <a:t>12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-1.58972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3039559291"/>
                  </a:ext>
                </a:extLst>
              </a:tr>
              <a:tr h="113665">
                <a:tc>
                  <a:txBody>
                    <a:bodyPr/>
                    <a:lstStyle/>
                    <a:p>
                      <a:pPr algn="r"/>
                      <a:r>
                        <a:rPr lang="en-US" sz="1100" kern="0">
                          <a:effectLst/>
                        </a:rPr>
                        <a:t>11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1.62569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4287821297"/>
                  </a:ext>
                </a:extLst>
              </a:tr>
              <a:tr h="113665">
                <a:tc>
                  <a:txBody>
                    <a:bodyPr/>
                    <a:lstStyle/>
                    <a:p>
                      <a:pPr algn="r"/>
                      <a:r>
                        <a:rPr lang="en-US" sz="1100" kern="0">
                          <a:effectLst/>
                        </a:rPr>
                        <a:t>12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-1.57289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3295561285"/>
                  </a:ext>
                </a:extLst>
              </a:tr>
              <a:tr h="113665">
                <a:tc>
                  <a:txBody>
                    <a:bodyPr/>
                    <a:lstStyle/>
                    <a:p>
                      <a:pPr algn="r"/>
                      <a:r>
                        <a:rPr lang="en-US" sz="1100" kern="0">
                          <a:effectLst/>
                        </a:rPr>
                        <a:t>28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14.41244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53267792"/>
                  </a:ext>
                </a:extLst>
              </a:tr>
              <a:tr h="113665">
                <a:tc>
                  <a:txBody>
                    <a:bodyPr/>
                    <a:lstStyle/>
                    <a:p>
                      <a:pPr algn="r"/>
                      <a:r>
                        <a:rPr lang="en-US" sz="1100" kern="0">
                          <a:effectLst/>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14.08703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96782149"/>
                  </a:ext>
                </a:extLst>
              </a:tr>
              <a:tr h="113665">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0.5859125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-0.58658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1.62569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-1.581305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dirty="0">
                          <a:effectLst/>
                        </a:rPr>
                        <a:t>14.35501471</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9558824"/>
                  </a:ext>
                </a:extLst>
              </a:tr>
            </a:tbl>
          </a:graphicData>
        </a:graphic>
      </p:graphicFrame>
      <p:graphicFrame>
        <p:nvGraphicFramePr>
          <p:cNvPr id="20" name="表格 19">
            <a:extLst>
              <a:ext uri="{FF2B5EF4-FFF2-40B4-BE49-F238E27FC236}">
                <a16:creationId xmlns:a16="http://schemas.microsoft.com/office/drawing/2014/main" id="{91F3EE12-11D0-96FE-43B9-3596524F610F}"/>
              </a:ext>
            </a:extLst>
          </p:cNvPr>
          <p:cNvGraphicFramePr>
            <a:graphicFrameLocks noGrp="1"/>
          </p:cNvGraphicFramePr>
          <p:nvPr>
            <p:extLst>
              <p:ext uri="{D42A27DB-BD31-4B8C-83A1-F6EECF244321}">
                <p14:modId xmlns:p14="http://schemas.microsoft.com/office/powerpoint/2010/main" val="1176241922"/>
              </p:ext>
            </p:extLst>
          </p:nvPr>
        </p:nvGraphicFramePr>
        <p:xfrm>
          <a:off x="6818312" y="1666994"/>
          <a:ext cx="5238115" cy="2179320"/>
        </p:xfrm>
        <a:graphic>
          <a:graphicData uri="http://schemas.openxmlformats.org/drawingml/2006/table">
            <a:tbl>
              <a:tblPr firstRow="1" firstCol="1" bandRow="1">
                <a:tableStyleId>{5C22544A-7EE6-4342-B048-85BDC9FD1C3A}</a:tableStyleId>
              </a:tblPr>
              <a:tblGrid>
                <a:gridCol w="716915">
                  <a:extLst>
                    <a:ext uri="{9D8B030D-6E8A-4147-A177-3AD203B41FA5}">
                      <a16:colId xmlns:a16="http://schemas.microsoft.com/office/drawing/2014/main" val="3231672858"/>
                    </a:ext>
                  </a:extLst>
                </a:gridCol>
                <a:gridCol w="1042035">
                  <a:extLst>
                    <a:ext uri="{9D8B030D-6E8A-4147-A177-3AD203B41FA5}">
                      <a16:colId xmlns:a16="http://schemas.microsoft.com/office/drawing/2014/main" val="3150617058"/>
                    </a:ext>
                  </a:extLst>
                </a:gridCol>
                <a:gridCol w="1097280">
                  <a:extLst>
                    <a:ext uri="{9D8B030D-6E8A-4147-A177-3AD203B41FA5}">
                      <a16:colId xmlns:a16="http://schemas.microsoft.com/office/drawing/2014/main" val="1860570726"/>
                    </a:ext>
                  </a:extLst>
                </a:gridCol>
                <a:gridCol w="716915">
                  <a:extLst>
                    <a:ext uri="{9D8B030D-6E8A-4147-A177-3AD203B41FA5}">
                      <a16:colId xmlns:a16="http://schemas.microsoft.com/office/drawing/2014/main" val="973649756"/>
                    </a:ext>
                  </a:extLst>
                </a:gridCol>
                <a:gridCol w="716915">
                  <a:extLst>
                    <a:ext uri="{9D8B030D-6E8A-4147-A177-3AD203B41FA5}">
                      <a16:colId xmlns:a16="http://schemas.microsoft.com/office/drawing/2014/main" val="1252925476"/>
                    </a:ext>
                  </a:extLst>
                </a:gridCol>
                <a:gridCol w="948055">
                  <a:extLst>
                    <a:ext uri="{9D8B030D-6E8A-4147-A177-3AD203B41FA5}">
                      <a16:colId xmlns:a16="http://schemas.microsoft.com/office/drawing/2014/main" val="2711765381"/>
                    </a:ext>
                  </a:extLst>
                </a:gridCol>
              </a:tblGrid>
              <a:tr h="45720">
                <a:tc>
                  <a:txBody>
                    <a:bodyPr/>
                    <a:lstStyle/>
                    <a:p>
                      <a:pPr algn="l"/>
                      <a:r>
                        <a:rPr lang="en-US" sz="1100" kern="0">
                          <a:effectLst/>
                        </a:rPr>
                        <a:t>N</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正向加速度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反向加速度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上行速度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下行速度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位移</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77343462"/>
                  </a:ext>
                </a:extLst>
              </a:tr>
              <a:tr h="45720">
                <a:tc>
                  <a:txBody>
                    <a:bodyPr/>
                    <a:lstStyle/>
                    <a:p>
                      <a:pPr algn="r"/>
                      <a:r>
                        <a:rPr lang="en-US" sz="1100" kern="0">
                          <a:effectLst/>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-0.59623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dirty="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2322295325"/>
                  </a:ext>
                </a:extLst>
              </a:tr>
              <a:tr h="45720">
                <a:tc>
                  <a:txBody>
                    <a:bodyPr/>
                    <a:lstStyle/>
                    <a:p>
                      <a:pPr algn="r"/>
                      <a:r>
                        <a:rPr lang="en-US" sz="1100" kern="0">
                          <a:effectLst/>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0.57881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2161125757"/>
                  </a:ext>
                </a:extLst>
              </a:tr>
              <a:tr h="45720">
                <a:tc>
                  <a:txBody>
                    <a:bodyPr/>
                    <a:lstStyle/>
                    <a:p>
                      <a:pPr algn="r"/>
                      <a:r>
                        <a:rPr lang="en-US" sz="1100" kern="0">
                          <a:effectLst/>
                        </a:rPr>
                        <a:t>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0.59475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3675212340"/>
                  </a:ext>
                </a:extLst>
              </a:tr>
              <a:tr h="45720">
                <a:tc>
                  <a:txBody>
                    <a:bodyPr/>
                    <a:lstStyle/>
                    <a:p>
                      <a:pPr algn="r"/>
                      <a:r>
                        <a:rPr lang="en-US" sz="1100" kern="0">
                          <a:effectLst/>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-0.58147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854109704"/>
                  </a:ext>
                </a:extLst>
              </a:tr>
              <a:tr h="45720">
                <a:tc>
                  <a:txBody>
                    <a:bodyPr/>
                    <a:lstStyle/>
                    <a:p>
                      <a:pPr algn="r"/>
                      <a:r>
                        <a:rPr lang="en-US" sz="1100" kern="0">
                          <a:effectLst/>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-0.59555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3903969068"/>
                  </a:ext>
                </a:extLst>
              </a:tr>
              <a:tr h="45720">
                <a:tc>
                  <a:txBody>
                    <a:bodyPr/>
                    <a:lstStyle/>
                    <a:p>
                      <a:pPr algn="r"/>
                      <a:r>
                        <a:rPr lang="en-US" sz="1100" kern="0">
                          <a:effectLst/>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0.58765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3892751253"/>
                  </a:ext>
                </a:extLst>
              </a:tr>
              <a:tr h="45720">
                <a:tc>
                  <a:txBody>
                    <a:bodyPr/>
                    <a:lstStyle/>
                    <a:p>
                      <a:pPr algn="r"/>
                      <a:r>
                        <a:rPr lang="en-US" sz="1100" kern="0">
                          <a:effectLst/>
                        </a:rPr>
                        <a:t>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-1.60975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3255032641"/>
                  </a:ext>
                </a:extLst>
              </a:tr>
              <a:tr h="45720">
                <a:tc>
                  <a:txBody>
                    <a:bodyPr/>
                    <a:lstStyle/>
                    <a:p>
                      <a:pPr algn="r"/>
                      <a:r>
                        <a:rPr lang="en-US" sz="1100" kern="0">
                          <a:effectLst/>
                        </a:rPr>
                        <a:t>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1.62542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3764942296"/>
                  </a:ext>
                </a:extLst>
              </a:tr>
              <a:tr h="45720">
                <a:tc>
                  <a:txBody>
                    <a:bodyPr/>
                    <a:lstStyle/>
                    <a:p>
                      <a:pPr algn="r"/>
                      <a:r>
                        <a:rPr lang="en-US" sz="1100" kern="0">
                          <a:effectLst/>
                        </a:rPr>
                        <a:t>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-1.62205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800297463"/>
                  </a:ext>
                </a:extLst>
              </a:tr>
              <a:tr h="45720">
                <a:tc>
                  <a:txBody>
                    <a:bodyPr/>
                    <a:lstStyle/>
                    <a:p>
                      <a:pPr algn="r"/>
                      <a:r>
                        <a:rPr lang="en-US" sz="1100" kern="0">
                          <a:effectLst/>
                        </a:rPr>
                        <a:t>29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14.6146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68539720"/>
                  </a:ext>
                </a:extLst>
              </a:tr>
              <a:tr h="45720">
                <a:tc>
                  <a:txBody>
                    <a:bodyPr/>
                    <a:lstStyle/>
                    <a:p>
                      <a:pPr algn="r"/>
                      <a:r>
                        <a:rPr lang="en-US" sz="1100" kern="0">
                          <a:effectLst/>
                        </a:rPr>
                        <a:t>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14.15955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14225226"/>
                  </a:ext>
                </a:extLst>
              </a:tr>
              <a:tr h="45720">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0.587838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dirty="0">
                          <a:effectLst/>
                        </a:rPr>
                        <a:t>-0.591083333</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dirty="0">
                          <a:effectLst/>
                        </a:rPr>
                        <a:t>1.62542</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-1.6159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dirty="0">
                          <a:effectLst/>
                        </a:rPr>
                        <a:t>14.54768088</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32118085"/>
                  </a:ext>
                </a:extLst>
              </a:tr>
            </a:tbl>
          </a:graphicData>
        </a:graphic>
      </p:graphicFrame>
      <p:graphicFrame>
        <p:nvGraphicFramePr>
          <p:cNvPr id="23" name="表格 22">
            <a:extLst>
              <a:ext uri="{FF2B5EF4-FFF2-40B4-BE49-F238E27FC236}">
                <a16:creationId xmlns:a16="http://schemas.microsoft.com/office/drawing/2014/main" id="{62A69662-0C35-1F5B-1918-2136F9EAC2FE}"/>
              </a:ext>
            </a:extLst>
          </p:cNvPr>
          <p:cNvGraphicFramePr>
            <a:graphicFrameLocks noGrp="1"/>
          </p:cNvGraphicFramePr>
          <p:nvPr>
            <p:extLst>
              <p:ext uri="{D42A27DB-BD31-4B8C-83A1-F6EECF244321}">
                <p14:modId xmlns:p14="http://schemas.microsoft.com/office/powerpoint/2010/main" val="1695119982"/>
              </p:ext>
            </p:extLst>
          </p:nvPr>
        </p:nvGraphicFramePr>
        <p:xfrm>
          <a:off x="6725285" y="4483358"/>
          <a:ext cx="5351145" cy="1687830"/>
        </p:xfrm>
        <a:graphic>
          <a:graphicData uri="http://schemas.openxmlformats.org/drawingml/2006/table">
            <a:tbl>
              <a:tblPr firstRow="1" firstCol="1" bandRow="1">
                <a:tableStyleId>{5C22544A-7EE6-4342-B048-85BDC9FD1C3A}</a:tableStyleId>
              </a:tblPr>
              <a:tblGrid>
                <a:gridCol w="766445">
                  <a:extLst>
                    <a:ext uri="{9D8B030D-6E8A-4147-A177-3AD203B41FA5}">
                      <a16:colId xmlns:a16="http://schemas.microsoft.com/office/drawing/2014/main" val="2771674638"/>
                    </a:ext>
                  </a:extLst>
                </a:gridCol>
                <a:gridCol w="1114425">
                  <a:extLst>
                    <a:ext uri="{9D8B030D-6E8A-4147-A177-3AD203B41FA5}">
                      <a16:colId xmlns:a16="http://schemas.microsoft.com/office/drawing/2014/main" val="2840360714"/>
                    </a:ext>
                  </a:extLst>
                </a:gridCol>
                <a:gridCol w="1170940">
                  <a:extLst>
                    <a:ext uri="{9D8B030D-6E8A-4147-A177-3AD203B41FA5}">
                      <a16:colId xmlns:a16="http://schemas.microsoft.com/office/drawing/2014/main" val="2777276247"/>
                    </a:ext>
                  </a:extLst>
                </a:gridCol>
                <a:gridCol w="766445">
                  <a:extLst>
                    <a:ext uri="{9D8B030D-6E8A-4147-A177-3AD203B41FA5}">
                      <a16:colId xmlns:a16="http://schemas.microsoft.com/office/drawing/2014/main" val="253341617"/>
                    </a:ext>
                  </a:extLst>
                </a:gridCol>
                <a:gridCol w="766445">
                  <a:extLst>
                    <a:ext uri="{9D8B030D-6E8A-4147-A177-3AD203B41FA5}">
                      <a16:colId xmlns:a16="http://schemas.microsoft.com/office/drawing/2014/main" val="3196267747"/>
                    </a:ext>
                  </a:extLst>
                </a:gridCol>
                <a:gridCol w="766445">
                  <a:extLst>
                    <a:ext uri="{9D8B030D-6E8A-4147-A177-3AD203B41FA5}">
                      <a16:colId xmlns:a16="http://schemas.microsoft.com/office/drawing/2014/main" val="827759411"/>
                    </a:ext>
                  </a:extLst>
                </a:gridCol>
              </a:tblGrid>
              <a:tr h="281305">
                <a:tc>
                  <a:txBody>
                    <a:bodyPr/>
                    <a:lstStyle/>
                    <a:p>
                      <a:pPr algn="l"/>
                      <a:r>
                        <a:rPr lang="en-US" sz="1100" kern="0">
                          <a:effectLst/>
                        </a:rPr>
                        <a:t>N</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正向加速度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反向加速度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上行速度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下行速度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位移</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27892315"/>
                  </a:ext>
                </a:extLst>
              </a:tr>
              <a:tr h="281305">
                <a:tc>
                  <a:txBody>
                    <a:bodyPr/>
                    <a:lstStyle/>
                    <a:p>
                      <a:pPr algn="r"/>
                      <a:r>
                        <a:rPr lang="en-US" sz="1100" kern="0">
                          <a:effectLst/>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0.59572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2922768014"/>
                  </a:ext>
                </a:extLst>
              </a:tr>
              <a:tr h="281305">
                <a:tc>
                  <a:txBody>
                    <a:bodyPr/>
                    <a:lstStyle/>
                    <a:p>
                      <a:pPr algn="r"/>
                      <a:r>
                        <a:rPr lang="en-US" sz="1100" kern="0">
                          <a:effectLst/>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-0.58147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1282987046"/>
                  </a:ext>
                </a:extLst>
              </a:tr>
              <a:tr h="281305">
                <a:tc>
                  <a:txBody>
                    <a:bodyPr/>
                    <a:lstStyle/>
                    <a:p>
                      <a:pPr algn="r"/>
                      <a:r>
                        <a:rPr lang="en-US" sz="1100" kern="0">
                          <a:effectLst/>
                        </a:rPr>
                        <a:t>11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1.61732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extLst>
                  <a:ext uri="{0D108BD9-81ED-4DB2-BD59-A6C34878D82A}">
                    <a16:rowId xmlns:a16="http://schemas.microsoft.com/office/drawing/2014/main" val="1722914099"/>
                  </a:ext>
                </a:extLst>
              </a:tr>
              <a:tr h="281305">
                <a:tc>
                  <a:txBody>
                    <a:bodyPr/>
                    <a:lstStyle/>
                    <a:p>
                      <a:pPr algn="r"/>
                      <a:r>
                        <a:rPr lang="en-US" sz="1100" kern="0">
                          <a:effectLst/>
                        </a:rPr>
                        <a:t>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14.5657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92623109"/>
                  </a:ext>
                </a:extLst>
              </a:tr>
              <a:tr h="281305">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a:effectLst/>
                        </a:rPr>
                        <a:t>0.59572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-0.58147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1.61732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endParaRPr lang="zh-CN" sz="1050" kern="100">
                        <a:effectLst/>
                        <a:latin typeface="等线" panose="02010600030101010101" pitchFamily="2" charset="-122"/>
                        <a:ea typeface="等线" panose="02010600030101010101" pitchFamily="2" charset="-122"/>
                      </a:endParaRPr>
                    </a:p>
                  </a:txBody>
                  <a:tcPr marL="68580" marR="68580" marT="0" marB="0" anchor="ctr"/>
                </a:tc>
                <a:tc>
                  <a:txBody>
                    <a:bodyPr/>
                    <a:lstStyle/>
                    <a:p>
                      <a:pPr algn="r"/>
                      <a:r>
                        <a:rPr lang="en-US" sz="1100" kern="0" dirty="0">
                          <a:effectLst/>
                        </a:rPr>
                        <a:t>14.5657</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7330283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5570" y="118110"/>
            <a:ext cx="11998325" cy="6622415"/>
          </a:xfrm>
          <a:prstGeom prst="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c10ccc1364fc5d780b181eece196d56d293f7f3c727d3-2Puw7o_fw658"/>
          <p:cNvPicPr>
            <a:picLocks noChangeAspect="1"/>
          </p:cNvPicPr>
          <p:nvPr/>
        </p:nvPicPr>
        <p:blipFill>
          <a:blip r:embed="rId2"/>
          <a:stretch>
            <a:fillRect/>
          </a:stretch>
        </p:blipFill>
        <p:spPr>
          <a:xfrm>
            <a:off x="0" y="2087880"/>
            <a:ext cx="1994535" cy="4770120"/>
          </a:xfrm>
          <a:prstGeom prst="rect">
            <a:avLst/>
          </a:prstGeom>
        </p:spPr>
      </p:pic>
      <p:grpSp>
        <p:nvGrpSpPr>
          <p:cNvPr id="10" name="组合 9"/>
          <p:cNvGrpSpPr/>
          <p:nvPr/>
        </p:nvGrpSpPr>
        <p:grpSpPr>
          <a:xfrm>
            <a:off x="438150" y="354330"/>
            <a:ext cx="4391660" cy="797560"/>
            <a:chOff x="690" y="558"/>
            <a:chExt cx="6916" cy="1256"/>
          </a:xfrm>
        </p:grpSpPr>
        <p:sp>
          <p:nvSpPr>
            <p:cNvPr id="5" name="文本框 4"/>
            <p:cNvSpPr txBox="1"/>
            <p:nvPr/>
          </p:nvSpPr>
          <p:spPr>
            <a:xfrm>
              <a:off x="1320" y="678"/>
              <a:ext cx="5405" cy="1016"/>
            </a:xfrm>
            <a:prstGeom prst="rect">
              <a:avLst/>
            </a:prstGeom>
            <a:noFill/>
          </p:spPr>
          <p:txBody>
            <a:bodyPr wrap="square" rtlCol="0">
              <a:spAutoFit/>
            </a:bodyPr>
            <a:lstStyle/>
            <a:p>
              <a:r>
                <a:rPr lang="zh-CN" altLang="en-US" sz="3600" b="1" dirty="0">
                  <a:solidFill>
                    <a:srgbClr val="49600B"/>
                  </a:solidFill>
                  <a:latin typeface="微软雅黑 Light" panose="020B0502040204020203" pitchFamily="34" charset="-122"/>
                  <a:ea typeface="微软雅黑 Light" panose="020B0502040204020203" pitchFamily="34" charset="-122"/>
                  <a:cs typeface="Arial" panose="020B0604020202020204" pitchFamily="34" charset="0"/>
                  <a:sym typeface="+mn-ea"/>
                </a:rPr>
                <a:t>实验结果</a:t>
              </a:r>
              <a:endParaRPr lang="zh-CN" altLang="en-US" sz="3600" b="1" dirty="0">
                <a:solidFill>
                  <a:srgbClr val="49600B"/>
                </a:solidFill>
              </a:endParaRPr>
            </a:p>
          </p:txBody>
        </p:sp>
        <p:sp>
          <p:nvSpPr>
            <p:cNvPr id="4" name="圆角矩形 3"/>
            <p:cNvSpPr/>
            <p:nvPr/>
          </p:nvSpPr>
          <p:spPr>
            <a:xfrm>
              <a:off x="690" y="558"/>
              <a:ext cx="6916" cy="1256"/>
            </a:xfrm>
            <a:prstGeom prst="round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矩形 22"/>
          <p:cNvSpPr/>
          <p:nvPr/>
        </p:nvSpPr>
        <p:spPr>
          <a:xfrm>
            <a:off x="5769696" y="943148"/>
            <a:ext cx="5404312" cy="369332"/>
          </a:xfrm>
          <a:prstGeom prst="rect">
            <a:avLst/>
          </a:prstGeom>
        </p:spPr>
        <p:txBody>
          <a:bodyPr wrap="square">
            <a:spAutoFit/>
          </a:bodyPr>
          <a:lstStyle/>
          <a:p>
            <a:pPr algn="just"/>
            <a:r>
              <a:rPr lang="zh-CN" altLang="en-US" dirty="0">
                <a:solidFill>
                  <a:schemeClr val="bg1">
                    <a:lumMod val="50000"/>
                  </a:schemeClr>
                </a:solidFill>
              </a:rPr>
              <a:t>一。</a:t>
            </a:r>
            <a:endParaRPr lang="en-US" altLang="zh-CN" dirty="0">
              <a:solidFill>
                <a:schemeClr val="bg1">
                  <a:lumMod val="50000"/>
                </a:schemeClr>
              </a:solidFill>
            </a:endParaRPr>
          </a:p>
        </p:txBody>
      </p:sp>
      <p:graphicFrame>
        <p:nvGraphicFramePr>
          <p:cNvPr id="6" name="表格 5">
            <a:extLst>
              <a:ext uri="{FF2B5EF4-FFF2-40B4-BE49-F238E27FC236}">
                <a16:creationId xmlns:a16="http://schemas.microsoft.com/office/drawing/2014/main" id="{219F42EF-B203-F3A8-53BF-3D90470F3606}"/>
              </a:ext>
            </a:extLst>
          </p:cNvPr>
          <p:cNvGraphicFramePr>
            <a:graphicFrameLocks noGrp="1"/>
          </p:cNvGraphicFramePr>
          <p:nvPr>
            <p:extLst>
              <p:ext uri="{D42A27DB-BD31-4B8C-83A1-F6EECF244321}">
                <p14:modId xmlns:p14="http://schemas.microsoft.com/office/powerpoint/2010/main" val="2044202814"/>
              </p:ext>
            </p:extLst>
          </p:nvPr>
        </p:nvGraphicFramePr>
        <p:xfrm>
          <a:off x="1672389" y="1673612"/>
          <a:ext cx="4713807" cy="1474906"/>
        </p:xfrm>
        <a:graphic>
          <a:graphicData uri="http://schemas.openxmlformats.org/drawingml/2006/table">
            <a:tbl>
              <a:tblPr firstRow="1" firstCol="1" bandRow="1">
                <a:tableStyleId>{5C22544A-7EE6-4342-B048-85BDC9FD1C3A}</a:tableStyleId>
              </a:tblPr>
              <a:tblGrid>
                <a:gridCol w="1033381">
                  <a:extLst>
                    <a:ext uri="{9D8B030D-6E8A-4147-A177-3AD203B41FA5}">
                      <a16:colId xmlns:a16="http://schemas.microsoft.com/office/drawing/2014/main" val="559717968"/>
                    </a:ext>
                  </a:extLst>
                </a:gridCol>
                <a:gridCol w="1071537">
                  <a:extLst>
                    <a:ext uri="{9D8B030D-6E8A-4147-A177-3AD203B41FA5}">
                      <a16:colId xmlns:a16="http://schemas.microsoft.com/office/drawing/2014/main" val="1946462952"/>
                    </a:ext>
                  </a:extLst>
                </a:gridCol>
                <a:gridCol w="858501">
                  <a:extLst>
                    <a:ext uri="{9D8B030D-6E8A-4147-A177-3AD203B41FA5}">
                      <a16:colId xmlns:a16="http://schemas.microsoft.com/office/drawing/2014/main" val="824728177"/>
                    </a:ext>
                  </a:extLst>
                </a:gridCol>
                <a:gridCol w="858501">
                  <a:extLst>
                    <a:ext uri="{9D8B030D-6E8A-4147-A177-3AD203B41FA5}">
                      <a16:colId xmlns:a16="http://schemas.microsoft.com/office/drawing/2014/main" val="837264274"/>
                    </a:ext>
                  </a:extLst>
                </a:gridCol>
                <a:gridCol w="891887">
                  <a:extLst>
                    <a:ext uri="{9D8B030D-6E8A-4147-A177-3AD203B41FA5}">
                      <a16:colId xmlns:a16="http://schemas.microsoft.com/office/drawing/2014/main" val="4096073095"/>
                    </a:ext>
                  </a:extLst>
                </a:gridCol>
              </a:tblGrid>
              <a:tr h="589962">
                <a:tc>
                  <a:txBody>
                    <a:bodyPr/>
                    <a:lstStyle/>
                    <a:p>
                      <a:pPr algn="l"/>
                      <a:r>
                        <a:rPr lang="zh-CN" sz="1100" kern="0">
                          <a:effectLst/>
                        </a:rPr>
                        <a:t>正向加速度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反向加速度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上行速度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dirty="0">
                          <a:effectLst/>
                        </a:rPr>
                        <a:t>下行速度</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位移</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55975383"/>
                  </a:ext>
                </a:extLst>
              </a:tr>
              <a:tr h="884944">
                <a:tc>
                  <a:txBody>
                    <a:bodyPr/>
                    <a:lstStyle/>
                    <a:p>
                      <a:pPr algn="r"/>
                      <a:r>
                        <a:rPr lang="en-US" sz="1100" kern="0">
                          <a:effectLst/>
                        </a:rPr>
                        <a:t>0.590007781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-0.586240833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1.62825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-1.609595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dirty="0">
                          <a:effectLst/>
                        </a:rPr>
                        <a:t>14.6447089</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32132562"/>
                  </a:ext>
                </a:extLst>
              </a:tr>
            </a:tbl>
          </a:graphicData>
        </a:graphic>
      </p:graphicFrame>
      <p:pic>
        <p:nvPicPr>
          <p:cNvPr id="11" name="图片 10">
            <a:extLst>
              <a:ext uri="{FF2B5EF4-FFF2-40B4-BE49-F238E27FC236}">
                <a16:creationId xmlns:a16="http://schemas.microsoft.com/office/drawing/2014/main" id="{A3386D98-6847-1B76-E46B-36D962007D00}"/>
              </a:ext>
            </a:extLst>
          </p:cNvPr>
          <p:cNvPicPr>
            <a:picLocks noChangeAspect="1"/>
          </p:cNvPicPr>
          <p:nvPr/>
        </p:nvPicPr>
        <p:blipFill>
          <a:blip r:embed="rId3"/>
          <a:stretch>
            <a:fillRect/>
          </a:stretch>
        </p:blipFill>
        <p:spPr>
          <a:xfrm>
            <a:off x="5769697" y="2075963"/>
            <a:ext cx="6344198" cy="2949703"/>
          </a:xfrm>
          <a:prstGeom prst="rect">
            <a:avLst/>
          </a:prstGeom>
        </p:spPr>
      </p:pic>
      <p:graphicFrame>
        <p:nvGraphicFramePr>
          <p:cNvPr id="12" name="表格 11">
            <a:extLst>
              <a:ext uri="{FF2B5EF4-FFF2-40B4-BE49-F238E27FC236}">
                <a16:creationId xmlns:a16="http://schemas.microsoft.com/office/drawing/2014/main" id="{7B3C6FFB-D467-E019-59C9-B872225B73CB}"/>
              </a:ext>
            </a:extLst>
          </p:cNvPr>
          <p:cNvGraphicFramePr>
            <a:graphicFrameLocks noGrp="1"/>
          </p:cNvGraphicFramePr>
          <p:nvPr>
            <p:extLst>
              <p:ext uri="{D42A27DB-BD31-4B8C-83A1-F6EECF244321}">
                <p14:modId xmlns:p14="http://schemas.microsoft.com/office/powerpoint/2010/main" val="3927412091"/>
              </p:ext>
            </p:extLst>
          </p:nvPr>
        </p:nvGraphicFramePr>
        <p:xfrm>
          <a:off x="1756611" y="4032811"/>
          <a:ext cx="4629585" cy="1512707"/>
        </p:xfrm>
        <a:graphic>
          <a:graphicData uri="http://schemas.openxmlformats.org/drawingml/2006/table">
            <a:tbl>
              <a:tblPr firstRow="1" firstCol="1" bandRow="1">
                <a:tableStyleId>{5C22544A-7EE6-4342-B048-85BDC9FD1C3A}</a:tableStyleId>
              </a:tblPr>
              <a:tblGrid>
                <a:gridCol w="927854">
                  <a:extLst>
                    <a:ext uri="{9D8B030D-6E8A-4147-A177-3AD203B41FA5}">
                      <a16:colId xmlns:a16="http://schemas.microsoft.com/office/drawing/2014/main" val="4039597527"/>
                    </a:ext>
                  </a:extLst>
                </a:gridCol>
                <a:gridCol w="1087606">
                  <a:extLst>
                    <a:ext uri="{9D8B030D-6E8A-4147-A177-3AD203B41FA5}">
                      <a16:colId xmlns:a16="http://schemas.microsoft.com/office/drawing/2014/main" val="2701213712"/>
                    </a:ext>
                  </a:extLst>
                </a:gridCol>
                <a:gridCol w="871375">
                  <a:extLst>
                    <a:ext uri="{9D8B030D-6E8A-4147-A177-3AD203B41FA5}">
                      <a16:colId xmlns:a16="http://schemas.microsoft.com/office/drawing/2014/main" val="1758930622"/>
                    </a:ext>
                  </a:extLst>
                </a:gridCol>
                <a:gridCol w="871375">
                  <a:extLst>
                    <a:ext uri="{9D8B030D-6E8A-4147-A177-3AD203B41FA5}">
                      <a16:colId xmlns:a16="http://schemas.microsoft.com/office/drawing/2014/main" val="1769132045"/>
                    </a:ext>
                  </a:extLst>
                </a:gridCol>
                <a:gridCol w="871375">
                  <a:extLst>
                    <a:ext uri="{9D8B030D-6E8A-4147-A177-3AD203B41FA5}">
                      <a16:colId xmlns:a16="http://schemas.microsoft.com/office/drawing/2014/main" val="1859905437"/>
                    </a:ext>
                  </a:extLst>
                </a:gridCol>
              </a:tblGrid>
              <a:tr h="605083">
                <a:tc>
                  <a:txBody>
                    <a:bodyPr/>
                    <a:lstStyle/>
                    <a:p>
                      <a:pPr algn="l"/>
                      <a:r>
                        <a:rPr lang="zh-CN" sz="1100" kern="0">
                          <a:effectLst/>
                        </a:rPr>
                        <a:t>正向加速度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反向加速度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上行速度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下行速度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r>
                        <a:rPr lang="zh-CN" sz="1100" kern="0">
                          <a:effectLst/>
                        </a:rPr>
                        <a:t>位移</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73653217"/>
                  </a:ext>
                </a:extLst>
              </a:tr>
              <a:tr h="907624">
                <a:tc>
                  <a:txBody>
                    <a:bodyPr/>
                    <a:lstStyle/>
                    <a:p>
                      <a:pPr algn="r"/>
                      <a:r>
                        <a:rPr lang="en-US" sz="1100" kern="0">
                          <a:effectLst/>
                        </a:rPr>
                        <a:t>0.591112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-0.590449375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1.55067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a:effectLst/>
                        </a:rPr>
                        <a:t>-1.53564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r"/>
                      <a:r>
                        <a:rPr lang="en-US" sz="1100" kern="0" dirty="0">
                          <a:effectLst/>
                        </a:rPr>
                        <a:t>5.43062</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06718530"/>
                  </a:ext>
                </a:extLst>
              </a:tr>
            </a:tbl>
          </a:graphicData>
        </a:graphic>
      </p:graphicFrame>
      <p:sp>
        <p:nvSpPr>
          <p:cNvPr id="14" name="文本框 13">
            <a:extLst>
              <a:ext uri="{FF2B5EF4-FFF2-40B4-BE49-F238E27FC236}">
                <a16:creationId xmlns:a16="http://schemas.microsoft.com/office/drawing/2014/main" id="{8CE1AFD0-D2A6-2F4C-6D9C-C13A72C55139}"/>
              </a:ext>
            </a:extLst>
          </p:cNvPr>
          <p:cNvSpPr txBox="1"/>
          <p:nvPr/>
        </p:nvSpPr>
        <p:spPr>
          <a:xfrm>
            <a:off x="856801" y="3361958"/>
            <a:ext cx="6112042" cy="369332"/>
          </a:xfrm>
          <a:prstGeom prst="rect">
            <a:avLst/>
          </a:prstGeom>
          <a:noFill/>
        </p:spPr>
        <p:txBody>
          <a:bodyPr wrap="square">
            <a:spAutoFit/>
          </a:bodyPr>
          <a:lstStyle/>
          <a:p>
            <a:pPr algn="ct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电梯一到四楼运行参数</a:t>
            </a:r>
            <a:endPar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6" name="文本框 15">
            <a:extLst>
              <a:ext uri="{FF2B5EF4-FFF2-40B4-BE49-F238E27FC236}">
                <a16:creationId xmlns:a16="http://schemas.microsoft.com/office/drawing/2014/main" id="{0CEB24FC-3387-3C17-C42D-563D35E78907}"/>
              </a:ext>
            </a:extLst>
          </p:cNvPr>
          <p:cNvSpPr txBox="1"/>
          <p:nvPr/>
        </p:nvSpPr>
        <p:spPr>
          <a:xfrm>
            <a:off x="997267" y="5976285"/>
            <a:ext cx="6093994" cy="369332"/>
          </a:xfrm>
          <a:prstGeom prst="rect">
            <a:avLst/>
          </a:prstGeom>
          <a:noFill/>
        </p:spPr>
        <p:txBody>
          <a:bodyPr wrap="square">
            <a:spAutoFit/>
          </a:bodyPr>
          <a:lstStyle/>
          <a:p>
            <a:pPr algn="ct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电梯一到二楼运行参数</a:t>
            </a:r>
            <a:endPar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2715895" y="2152650"/>
            <a:ext cx="6621780" cy="2554545"/>
          </a:xfrm>
          <a:prstGeom prst="rect">
            <a:avLst/>
          </a:prstGeom>
          <a:noFill/>
        </p:spPr>
        <p:txBody>
          <a:bodyPr wrap="square" rtlCol="0">
            <a:spAutoFit/>
          </a:bodyPr>
          <a:lstStyle/>
          <a:p>
            <a:pPr algn="ctr"/>
            <a:r>
              <a:rPr lang="zh-CN" altLang="en-US" sz="8000" b="1" noProof="0" dirty="0">
                <a:ln>
                  <a:noFill/>
                </a:ln>
                <a:solidFill>
                  <a:srgbClr val="49600B"/>
                </a:solidFill>
                <a:effectLst/>
                <a:uLnTx/>
                <a:uFillTx/>
                <a:latin typeface="Calibri" panose="020F0502020204030204"/>
                <a:ea typeface="微软雅黑" panose="020B0503020204020204" charset="-122"/>
                <a:cs typeface="+mn-ea"/>
                <a:sym typeface="+mn-ea"/>
              </a:rPr>
              <a:t>结论</a:t>
            </a:r>
          </a:p>
          <a:p>
            <a:pPr algn="ctr"/>
            <a:endParaRPr lang="zh-CN" altLang="en-US" sz="8000" b="1" noProof="0" dirty="0">
              <a:ln>
                <a:noFill/>
              </a:ln>
              <a:solidFill>
                <a:srgbClr val="49600B"/>
              </a:solidFill>
              <a:effectLst/>
              <a:uLnTx/>
              <a:uFillTx/>
              <a:latin typeface="Calibri" panose="020F0502020204030204"/>
              <a:ea typeface="微软雅黑" panose="020B0503020204020204" charset="-122"/>
              <a:cs typeface="+mn-ea"/>
              <a:sym typeface="+mn-ea"/>
            </a:endParaRPr>
          </a:p>
        </p:txBody>
      </p:sp>
      <p:sp>
        <p:nvSpPr>
          <p:cNvPr id="14" name="TextBox 111"/>
          <p:cNvSpPr txBox="1">
            <a:spLocks noChangeArrowheads="1"/>
          </p:cNvSpPr>
          <p:nvPr/>
        </p:nvSpPr>
        <p:spPr bwMode="auto">
          <a:xfrm>
            <a:off x="3194454" y="3563435"/>
            <a:ext cx="5317773" cy="341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29" tIns="34263" rIns="68529" bIns="34263">
            <a:spAutoFit/>
          </a:bodyPr>
          <a:lstStyle>
            <a:lvl1pPr>
              <a:defRPr>
                <a:solidFill>
                  <a:schemeClr val="tx1"/>
                </a:solidFill>
                <a:latin typeface="Lao UI" panose="020B0502040204020203" pitchFamily="34" charset="0"/>
                <a:ea typeface="微软雅黑" panose="020B0503020204020204" charset="-122"/>
              </a:defRPr>
            </a:lvl1pPr>
            <a:lvl2pPr marL="742950" indent="-285750">
              <a:defRPr>
                <a:solidFill>
                  <a:schemeClr val="tx1"/>
                </a:solidFill>
                <a:latin typeface="Lao UI" panose="020B0502040204020203" pitchFamily="34" charset="0"/>
                <a:ea typeface="微软雅黑" panose="020B0503020204020204" charset="-122"/>
              </a:defRPr>
            </a:lvl2pPr>
            <a:lvl3pPr marL="1143000" indent="-228600">
              <a:defRPr>
                <a:solidFill>
                  <a:schemeClr val="tx1"/>
                </a:solidFill>
                <a:latin typeface="Lao UI" panose="020B0502040204020203" pitchFamily="34" charset="0"/>
                <a:ea typeface="微软雅黑" panose="020B0503020204020204" charset="-122"/>
              </a:defRPr>
            </a:lvl3pPr>
            <a:lvl4pPr marL="1600200" indent="-228600">
              <a:defRPr>
                <a:solidFill>
                  <a:schemeClr val="tx1"/>
                </a:solidFill>
                <a:latin typeface="Lao UI" panose="020B0502040204020203" pitchFamily="34" charset="0"/>
                <a:ea typeface="微软雅黑" panose="020B0503020204020204" charset="-122"/>
              </a:defRPr>
            </a:lvl4pPr>
            <a:lvl5pPr marL="2057400" indent="-228600">
              <a:defRPr>
                <a:solidFill>
                  <a:schemeClr val="tx1"/>
                </a:solidFill>
                <a:latin typeface="Lao UI" panose="020B0502040204020203" pitchFamily="34" charset="0"/>
                <a:ea typeface="微软雅黑" panose="020B0503020204020204" charset="-122"/>
              </a:defRPr>
            </a:lvl5pPr>
            <a:lvl6pPr marL="25146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6pPr>
            <a:lvl7pPr marL="29718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7pPr>
            <a:lvl8pPr marL="34290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8pPr>
            <a:lvl9pPr marL="38862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9pPr>
          </a:lstStyle>
          <a:p>
            <a:pPr algn="ctr" eaLnBrk="1" hangingPunct="1">
              <a:lnSpc>
                <a:spcPct val="120000"/>
              </a:lnSpc>
            </a:pPr>
            <a:r>
              <a:rPr lang="zh-CN" altLang="en-US" sz="1600" dirty="0">
                <a:solidFill>
                  <a:srgbClr val="49600B"/>
                </a:solidFill>
                <a:latin typeface="微软雅黑 Light" panose="020B0502040204020203" pitchFamily="34" charset="-122"/>
                <a:ea typeface="微软雅黑 Light" panose="020B0502040204020203" pitchFamily="34" charset="-122"/>
                <a:cs typeface="Arial" panose="020B0604020202020204" pitchFamily="34" charset="0"/>
              </a:rPr>
              <a:t>结论与误差分析</a:t>
            </a:r>
            <a:endParaRPr lang="en-US" altLang="zh-CN" sz="1600" baseline="-3000" dirty="0">
              <a:solidFill>
                <a:srgbClr val="49600B"/>
              </a:solidFill>
              <a:latin typeface="微软雅黑 Light" panose="020B0502040204020203" pitchFamily="34" charset="-122"/>
              <a:ea typeface="微软雅黑 Light" panose="020B0502040204020203" pitchFamily="34" charset="-122"/>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pic>
        <p:nvPicPr>
          <p:cNvPr id="2" name="图片 1" descr="fb809d939d9e76e24402955879ebe45f43e7c2a3119aea-dnj76d_fw658"/>
          <p:cNvPicPr>
            <a:picLocks noChangeAspect="1"/>
          </p:cNvPicPr>
          <p:nvPr/>
        </p:nvPicPr>
        <p:blipFill>
          <a:blip r:embed="rId2"/>
          <a:stretch>
            <a:fillRect/>
          </a:stretch>
        </p:blipFill>
        <p:spPr>
          <a:xfrm>
            <a:off x="1106805" y="254635"/>
            <a:ext cx="3647440" cy="6485890"/>
          </a:xfrm>
          <a:prstGeom prst="rect">
            <a:avLst/>
          </a:prstGeom>
        </p:spPr>
      </p:pic>
      <p:sp>
        <p:nvSpPr>
          <p:cNvPr id="3" name="矩形 2"/>
          <p:cNvSpPr/>
          <p:nvPr/>
        </p:nvSpPr>
        <p:spPr>
          <a:xfrm>
            <a:off x="115570" y="118110"/>
            <a:ext cx="11998325" cy="6622415"/>
          </a:xfrm>
          <a:prstGeom prst="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279400" y="186055"/>
            <a:ext cx="4622800" cy="797560"/>
            <a:chOff x="690" y="558"/>
            <a:chExt cx="6916" cy="1256"/>
          </a:xfrm>
        </p:grpSpPr>
        <p:sp>
          <p:nvSpPr>
            <p:cNvPr id="5" name="文本框 4"/>
            <p:cNvSpPr txBox="1"/>
            <p:nvPr/>
          </p:nvSpPr>
          <p:spPr>
            <a:xfrm>
              <a:off x="1309" y="678"/>
              <a:ext cx="5405" cy="1016"/>
            </a:xfrm>
            <a:prstGeom prst="rect">
              <a:avLst/>
            </a:prstGeom>
            <a:noFill/>
          </p:spPr>
          <p:txBody>
            <a:bodyPr wrap="square" rtlCol="0">
              <a:spAutoFit/>
            </a:bodyPr>
            <a:lstStyle/>
            <a:p>
              <a:pPr algn="ctr"/>
              <a:r>
                <a:rPr lang="zh-CN" altLang="en-US" sz="3600" dirty="0">
                  <a:solidFill>
                    <a:srgbClr val="49600B"/>
                  </a:solidFill>
                  <a:sym typeface="+mn-ea"/>
                </a:rPr>
                <a:t>实验结论</a:t>
              </a:r>
              <a:endParaRPr lang="zh-CN" altLang="en-US" sz="3600" dirty="0">
                <a:solidFill>
                  <a:srgbClr val="49600B"/>
                </a:solidFill>
              </a:endParaRPr>
            </a:p>
          </p:txBody>
        </p:sp>
        <p:sp>
          <p:nvSpPr>
            <p:cNvPr id="4" name="圆角矩形 3"/>
            <p:cNvSpPr/>
            <p:nvPr/>
          </p:nvSpPr>
          <p:spPr>
            <a:xfrm>
              <a:off x="690" y="558"/>
              <a:ext cx="6916" cy="1256"/>
            </a:xfrm>
            <a:prstGeom prst="round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5"/>
          <p:cNvGrpSpPr/>
          <p:nvPr/>
        </p:nvGrpSpPr>
        <p:grpSpPr>
          <a:xfrm>
            <a:off x="4902200" y="2414270"/>
            <a:ext cx="7007994" cy="2065655"/>
            <a:chOff x="1218" y="3599"/>
            <a:chExt cx="9860" cy="2800"/>
          </a:xfrm>
        </p:grpSpPr>
        <p:sp>
          <p:nvSpPr>
            <p:cNvPr id="7" name="Oval 14"/>
            <p:cNvSpPr>
              <a:spLocks noChangeAspect="1"/>
            </p:cNvSpPr>
            <p:nvPr/>
          </p:nvSpPr>
          <p:spPr>
            <a:xfrm>
              <a:off x="1218" y="3613"/>
              <a:ext cx="1439" cy="1439"/>
            </a:xfrm>
            <a:prstGeom prst="ellipse">
              <a:avLst/>
            </a:prstGeom>
            <a:solidFill>
              <a:srgbClr val="B5C18A"/>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FontAwesome" pitchFamily="2" charset="0"/>
                </a:rPr>
                <a:t></a:t>
              </a:r>
              <a:endParaRPr lang="en-US" sz="2000" dirty="0">
                <a:solidFill>
                  <a:schemeClr val="bg1"/>
                </a:solidFill>
                <a:latin typeface="微软雅黑 Light" panose="020B0502040204020203" pitchFamily="34" charset="-122"/>
              </a:endParaRPr>
            </a:p>
          </p:txBody>
        </p:sp>
        <p:sp>
          <p:nvSpPr>
            <p:cNvPr id="8" name="任意多边形 7"/>
            <p:cNvSpPr/>
            <p:nvPr/>
          </p:nvSpPr>
          <p:spPr>
            <a:xfrm>
              <a:off x="1976" y="5051"/>
              <a:ext cx="3591" cy="1348"/>
            </a:xfrm>
            <a:custGeom>
              <a:avLst/>
              <a:gdLst>
                <a:gd name="connsiteX0" fmla="*/ 0 w 2459182"/>
                <a:gd name="connsiteY0" fmla="*/ 0 h 888919"/>
                <a:gd name="connsiteX1" fmla="*/ 955964 w 2459182"/>
                <a:gd name="connsiteY1" fmla="*/ 858982 h 888919"/>
                <a:gd name="connsiteX2" fmla="*/ 2459182 w 2459182"/>
                <a:gd name="connsiteY2" fmla="*/ 609600 h 888919"/>
              </a:gdLst>
              <a:ahLst/>
              <a:cxnLst>
                <a:cxn ang="0">
                  <a:pos x="connsiteX0" y="connsiteY0"/>
                </a:cxn>
                <a:cxn ang="0">
                  <a:pos x="connsiteX1" y="connsiteY1"/>
                </a:cxn>
                <a:cxn ang="0">
                  <a:pos x="connsiteX2" y="connsiteY2"/>
                </a:cxn>
              </a:cxnLst>
              <a:rect l="l" t="t" r="r" b="b"/>
              <a:pathLst>
                <a:path w="2459182" h="888919">
                  <a:moveTo>
                    <a:pt x="0" y="0"/>
                  </a:moveTo>
                  <a:cubicBezTo>
                    <a:pt x="273050" y="378691"/>
                    <a:pt x="546100" y="757382"/>
                    <a:pt x="955964" y="858982"/>
                  </a:cubicBezTo>
                  <a:cubicBezTo>
                    <a:pt x="1365828" y="960582"/>
                    <a:pt x="1912505" y="785091"/>
                    <a:pt x="2459182" y="609600"/>
                  </a:cubicBezTo>
                </a:path>
              </a:pathLst>
            </a:custGeom>
            <a:noFill/>
            <a:ln>
              <a:solidFill>
                <a:srgbClr val="B5C18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9" name="Oval 14"/>
            <p:cNvSpPr>
              <a:spLocks noChangeAspect="1"/>
            </p:cNvSpPr>
            <p:nvPr/>
          </p:nvSpPr>
          <p:spPr>
            <a:xfrm>
              <a:off x="5466" y="4872"/>
              <a:ext cx="1439" cy="1439"/>
            </a:xfrm>
            <a:prstGeom prst="ellipse">
              <a:avLst/>
            </a:prstGeom>
            <a:solidFill>
              <a:srgbClr val="B5C18A"/>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FontAwesome" pitchFamily="2" charset="0"/>
                </a:rPr>
                <a:t></a:t>
              </a:r>
              <a:endParaRPr lang="en-US" sz="2000" dirty="0">
                <a:solidFill>
                  <a:schemeClr val="bg1"/>
                </a:solidFill>
                <a:latin typeface="微软雅黑 Light" panose="020B0502040204020203" pitchFamily="34" charset="-122"/>
              </a:endParaRPr>
            </a:p>
          </p:txBody>
        </p:sp>
        <p:sp>
          <p:nvSpPr>
            <p:cNvPr id="12" name="Oval 14"/>
            <p:cNvSpPr>
              <a:spLocks noChangeAspect="1"/>
            </p:cNvSpPr>
            <p:nvPr/>
          </p:nvSpPr>
          <p:spPr>
            <a:xfrm>
              <a:off x="9639" y="3613"/>
              <a:ext cx="1439" cy="1439"/>
            </a:xfrm>
            <a:prstGeom prst="ellipse">
              <a:avLst/>
            </a:prstGeom>
            <a:solidFill>
              <a:srgbClr val="B5C18A"/>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FontAwesome" pitchFamily="2" charset="0"/>
                </a:rPr>
                <a:t></a:t>
              </a:r>
              <a:endParaRPr lang="en-US" sz="2000" dirty="0">
                <a:solidFill>
                  <a:schemeClr val="bg1"/>
                </a:solidFill>
                <a:latin typeface="微软雅黑 Light" panose="020B0502040204020203" pitchFamily="34" charset="-122"/>
              </a:endParaRPr>
            </a:p>
          </p:txBody>
        </p:sp>
        <p:sp>
          <p:nvSpPr>
            <p:cNvPr id="13" name="任意多边形 12"/>
            <p:cNvSpPr/>
            <p:nvPr/>
          </p:nvSpPr>
          <p:spPr>
            <a:xfrm>
              <a:off x="6341" y="3599"/>
              <a:ext cx="3531" cy="1279"/>
            </a:xfrm>
            <a:custGeom>
              <a:avLst/>
              <a:gdLst>
                <a:gd name="connsiteX0" fmla="*/ 0 w 2431473"/>
                <a:gd name="connsiteY0" fmla="*/ 880693 h 880693"/>
                <a:gd name="connsiteX1" fmla="*/ 1018309 w 2431473"/>
                <a:gd name="connsiteY1" fmla="*/ 56347 h 880693"/>
                <a:gd name="connsiteX2" fmla="*/ 2431473 w 2431473"/>
                <a:gd name="connsiteY2" fmla="*/ 139474 h 880693"/>
              </a:gdLst>
              <a:ahLst/>
              <a:cxnLst>
                <a:cxn ang="0">
                  <a:pos x="connsiteX0" y="connsiteY0"/>
                </a:cxn>
                <a:cxn ang="0">
                  <a:pos x="connsiteX1" y="connsiteY1"/>
                </a:cxn>
                <a:cxn ang="0">
                  <a:pos x="connsiteX2" y="connsiteY2"/>
                </a:cxn>
              </a:cxnLst>
              <a:rect l="l" t="t" r="r" b="b"/>
              <a:pathLst>
                <a:path w="2431473" h="880693">
                  <a:moveTo>
                    <a:pt x="0" y="880693"/>
                  </a:moveTo>
                  <a:cubicBezTo>
                    <a:pt x="306532" y="530288"/>
                    <a:pt x="613064" y="179883"/>
                    <a:pt x="1018309" y="56347"/>
                  </a:cubicBezTo>
                  <a:cubicBezTo>
                    <a:pt x="1423554" y="-67189"/>
                    <a:pt x="1927513" y="36142"/>
                    <a:pt x="2431473" y="139474"/>
                  </a:cubicBezTo>
                </a:path>
              </a:pathLst>
            </a:custGeom>
            <a:noFill/>
            <a:ln>
              <a:solidFill>
                <a:srgbClr val="B5C18A"/>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sp>
        <p:nvSpPr>
          <p:cNvPr id="11" name="矩形 10"/>
          <p:cNvSpPr/>
          <p:nvPr/>
        </p:nvSpPr>
        <p:spPr>
          <a:xfrm>
            <a:off x="4613275" y="4860290"/>
            <a:ext cx="3540760" cy="923330"/>
          </a:xfrm>
          <a:prstGeom prst="rect">
            <a:avLst/>
          </a:prstGeom>
        </p:spPr>
        <p:txBody>
          <a:bodyPr wrap="square">
            <a:spAutoFit/>
          </a:bodyPr>
          <a:lstStyle/>
          <a:p>
            <a:pPr algn="just"/>
            <a:r>
              <a:rPr lang="zh-CN" altLang="en-US" sz="1800" kern="100" dirty="0">
                <a:effectLst/>
                <a:latin typeface="宋体" panose="02010600030101010101" pitchFamily="2" charset="-122"/>
                <a:ea typeface="宋体" panose="02010600030101010101" pitchFamily="2" charset="-122"/>
                <a:cs typeface="Arial" panose="020B0604020202020204" pitchFamily="34" charset="0"/>
              </a:rPr>
              <a:t>测得电梯的运行速度为 </a:t>
            </a:r>
            <a:r>
              <a:rPr lang="en-US" altLang="zh-CN" sz="1800" kern="100" dirty="0">
                <a:effectLst/>
                <a:latin typeface="宋体" panose="02010600030101010101" pitchFamily="2" charset="-122"/>
                <a:ea typeface="宋体" panose="02010600030101010101" pitchFamily="2" charset="-122"/>
                <a:cs typeface="Arial" panose="020B0604020202020204" pitchFamily="34" charset="0"/>
              </a:rPr>
              <a:t>1.61m/s</a:t>
            </a:r>
            <a:r>
              <a:rPr lang="zh-CN" altLang="en-US" sz="1800" kern="100" dirty="0">
                <a:effectLst/>
                <a:latin typeface="宋体" panose="02010600030101010101" pitchFamily="2" charset="-122"/>
                <a:ea typeface="宋体" panose="02010600030101010101" pitchFamily="2" charset="-122"/>
                <a:cs typeface="Arial" panose="020B0604020202020204" pitchFamily="34" charset="0"/>
              </a:rPr>
              <a:t> ，</a:t>
            </a:r>
            <a:endParaRPr lang="en-US" altLang="zh-CN" sz="1800" kern="100" dirty="0">
              <a:effectLst/>
              <a:latin typeface="宋体" panose="02010600030101010101" pitchFamily="2" charset="-122"/>
              <a:ea typeface="宋体" panose="02010600030101010101" pitchFamily="2" charset="-122"/>
              <a:cs typeface="Arial" panose="020B0604020202020204" pitchFamily="34" charset="0"/>
            </a:endParaRPr>
          </a:p>
          <a:p>
            <a:pPr algn="just"/>
            <a:r>
              <a:rPr lang="zh-CN" altLang="en-US" sz="1800" kern="100" dirty="0">
                <a:effectLst/>
                <a:latin typeface="宋体" panose="02010600030101010101" pitchFamily="2" charset="-122"/>
                <a:ea typeface="宋体" panose="02010600030101010101" pitchFamily="2" charset="-122"/>
                <a:cs typeface="Arial" panose="020B0604020202020204" pitchFamily="34" charset="0"/>
              </a:rPr>
              <a:t>电梯的加速度为</a:t>
            </a:r>
            <a:r>
              <a:rPr lang="en-US" altLang="zh-CN" sz="1800" kern="100" dirty="0">
                <a:effectLst/>
                <a:latin typeface="宋体" panose="02010600030101010101" pitchFamily="2" charset="-122"/>
                <a:ea typeface="宋体" panose="02010600030101010101" pitchFamily="2" charset="-122"/>
                <a:cs typeface="Arial" panose="020B0604020202020204" pitchFamily="34" charset="0"/>
              </a:rPr>
              <a:t>0.59m/</a:t>
            </a:r>
            <a:r>
              <a:rPr lang="en-US" altLang="zh-CN" sz="1800" dirty="0">
                <a:effectLst/>
                <a:latin typeface="等线" panose="02010600030101010101" pitchFamily="2" charset="-122"/>
                <a:cs typeface="Times New Roman" panose="02020603050405020304" pitchFamily="18" charset="0"/>
              </a:rPr>
              <a:t>s</a:t>
            </a:r>
            <a:r>
              <a:rPr lang="en-US" altLang="zh-CN" sz="1800" baseline="30000" dirty="0">
                <a:effectLst/>
                <a:latin typeface="等线" panose="02010600030101010101" pitchFamily="2" charset="-122"/>
                <a:cs typeface="Times New Roman" panose="02020603050405020304" pitchFamily="18" charset="0"/>
              </a:rPr>
              <a:t>2</a:t>
            </a:r>
            <a:r>
              <a:rPr lang="zh-CN" altLang="en-US" sz="1800" kern="100" dirty="0">
                <a:effectLst/>
                <a:latin typeface="宋体" panose="02010600030101010101" pitchFamily="2" charset="-122"/>
                <a:ea typeface="宋体" panose="02010600030101010101" pitchFamily="2" charset="-122"/>
                <a:cs typeface="Arial" panose="020B0604020202020204" pitchFamily="34" charset="0"/>
              </a:rPr>
              <a:t> </a:t>
            </a:r>
            <a:r>
              <a:rPr lang="zh-CN" altLang="en-US" kern="100" dirty="0">
                <a:latin typeface="宋体" panose="02010600030101010101" pitchFamily="2" charset="-122"/>
                <a:ea typeface="宋体" panose="02010600030101010101" pitchFamily="2" charset="-122"/>
                <a:cs typeface="Arial" panose="020B0604020202020204" pitchFamily="34" charset="0"/>
              </a:rPr>
              <a:t>。</a:t>
            </a:r>
            <a:r>
              <a:rPr lang="zh-CN" altLang="en-US" sz="1800" kern="100" dirty="0">
                <a:effectLst/>
                <a:latin typeface="宋体" panose="02010600030101010101" pitchFamily="2" charset="-122"/>
                <a:ea typeface="宋体" panose="02010600030101010101" pitchFamily="2" charset="-122"/>
                <a:cs typeface="Arial" panose="020B0604020202020204" pitchFamily="34" charset="0"/>
              </a:rPr>
              <a:t> </a:t>
            </a:r>
            <a:endParaRPr lang="zh-CN" altLang="en-US" sz="1800" kern="100" dirty="0">
              <a:effectLst/>
              <a:latin typeface="等线" panose="02010600030101010101" pitchFamily="2" charset="-122"/>
              <a:ea typeface="等线" panose="02010600030101010101" pitchFamily="2" charset="-122"/>
              <a:cs typeface="Arial" panose="020B0604020202020204" pitchFamily="34" charset="0"/>
            </a:endParaRPr>
          </a:p>
          <a:p>
            <a:pPr algn="just"/>
            <a:r>
              <a:rPr lang="zh-CN" altLang="en-US" dirty="0">
                <a:solidFill>
                  <a:schemeClr val="bg1">
                    <a:lumMod val="50000"/>
                  </a:schemeClr>
                </a:solidFill>
              </a:rPr>
              <a:t> </a:t>
            </a:r>
          </a:p>
        </p:txBody>
      </p:sp>
      <p:sp>
        <p:nvSpPr>
          <p:cNvPr id="14" name="矩形 13"/>
          <p:cNvSpPr/>
          <p:nvPr/>
        </p:nvSpPr>
        <p:spPr>
          <a:xfrm>
            <a:off x="7721600" y="907415"/>
            <a:ext cx="3540760" cy="923330"/>
          </a:xfrm>
          <a:prstGeom prst="rect">
            <a:avLst/>
          </a:prstGeom>
        </p:spPr>
        <p:txBody>
          <a:bodyPr wrap="square">
            <a:spAutoFit/>
          </a:bodyPr>
          <a:lstStyle/>
          <a:p>
            <a:pPr marL="0" marR="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cs typeface="Arial" panose="020B0604020202020204" pitchFamily="34" charset="0"/>
              </a:rPr>
              <a:t>一至四楼的楼高为  </a:t>
            </a:r>
            <a:r>
              <a:rPr lang="en-US" altLang="zh-CN" sz="1800" kern="100" dirty="0">
                <a:effectLst/>
                <a:latin typeface="宋体" panose="02010600030101010101" pitchFamily="2" charset="-122"/>
                <a:ea typeface="宋体" panose="02010600030101010101" pitchFamily="2" charset="-122"/>
                <a:cs typeface="Arial" panose="020B0604020202020204" pitchFamily="34" charset="0"/>
              </a:rPr>
              <a:t>14.64m</a:t>
            </a:r>
            <a:r>
              <a:rPr lang="zh-CN" altLang="en-US" sz="1800" kern="100" dirty="0">
                <a:effectLst/>
                <a:latin typeface="宋体" panose="02010600030101010101" pitchFamily="2" charset="-122"/>
                <a:ea typeface="宋体" panose="02010600030101010101" pitchFamily="2" charset="-122"/>
                <a:cs typeface="Arial" panose="020B0604020202020204" pitchFamily="34" charset="0"/>
              </a:rPr>
              <a:t>，</a:t>
            </a:r>
            <a:endParaRPr lang="zh-CN" altLang="en-US" sz="1800" kern="100" dirty="0">
              <a:effectLst/>
              <a:latin typeface="等线" panose="02010600030101010101" pitchFamily="2" charset="-122"/>
              <a:ea typeface="等线" panose="02010600030101010101" pitchFamily="2" charset="-122"/>
              <a:cs typeface="Arial" panose="020B0604020202020204" pitchFamily="34" charset="0"/>
            </a:endParaRPr>
          </a:p>
          <a:p>
            <a:pPr marL="0" marR="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cs typeface="Arial" panose="020B0604020202020204" pitchFamily="34" charset="0"/>
              </a:rPr>
              <a:t>一至二楼的高为  </a:t>
            </a:r>
            <a:r>
              <a:rPr lang="en-US" altLang="zh-CN" sz="1800" kern="100" dirty="0">
                <a:effectLst/>
                <a:latin typeface="宋体" panose="02010600030101010101" pitchFamily="2" charset="-122"/>
                <a:ea typeface="宋体" panose="02010600030101010101" pitchFamily="2" charset="-122"/>
                <a:cs typeface="Arial" panose="020B0604020202020204" pitchFamily="34" charset="0"/>
              </a:rPr>
              <a:t>5.43m</a:t>
            </a:r>
            <a:r>
              <a:rPr lang="zh-CN" altLang="en-US" sz="1800" kern="100" dirty="0">
                <a:effectLst/>
                <a:latin typeface="宋体" panose="02010600030101010101" pitchFamily="2" charset="-122"/>
                <a:ea typeface="宋体" panose="02010600030101010101" pitchFamily="2" charset="-122"/>
                <a:cs typeface="Arial" panose="020B0604020202020204" pitchFamily="34" charset="0"/>
              </a:rPr>
              <a:t>。</a:t>
            </a:r>
            <a:endParaRPr lang="zh-CN" altLang="en-US" sz="1800" kern="100" dirty="0">
              <a:effectLst/>
              <a:latin typeface="等线" panose="02010600030101010101" pitchFamily="2" charset="-122"/>
              <a:ea typeface="等线" panose="02010600030101010101" pitchFamily="2" charset="-122"/>
              <a:cs typeface="Arial" panose="020B0604020202020204" pitchFamily="34" charset="0"/>
            </a:endParaRPr>
          </a:p>
          <a:p>
            <a:pPr algn="just"/>
            <a:r>
              <a:rPr lang="zh-CN" altLang="en-US" dirty="0">
                <a:solidFill>
                  <a:schemeClr val="bg1">
                    <a:lumMod val="50000"/>
                  </a:schemeClr>
                </a:solidFill>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5570" y="118110"/>
            <a:ext cx="11998325" cy="6622415"/>
          </a:xfrm>
          <a:prstGeom prst="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3803650" y="197485"/>
            <a:ext cx="4622800" cy="797560"/>
            <a:chOff x="690" y="558"/>
            <a:chExt cx="6916" cy="1256"/>
          </a:xfrm>
        </p:grpSpPr>
        <p:sp>
          <p:nvSpPr>
            <p:cNvPr id="5" name="文本框 4"/>
            <p:cNvSpPr txBox="1"/>
            <p:nvPr/>
          </p:nvSpPr>
          <p:spPr>
            <a:xfrm>
              <a:off x="1309" y="678"/>
              <a:ext cx="5405" cy="1016"/>
            </a:xfrm>
            <a:prstGeom prst="rect">
              <a:avLst/>
            </a:prstGeom>
            <a:noFill/>
          </p:spPr>
          <p:txBody>
            <a:bodyPr wrap="square" rtlCol="0">
              <a:spAutoFit/>
            </a:bodyPr>
            <a:lstStyle/>
            <a:p>
              <a:pPr algn="ctr"/>
              <a:r>
                <a:rPr lang="zh-CN" altLang="en-US" sz="3600" dirty="0">
                  <a:solidFill>
                    <a:srgbClr val="49600B"/>
                  </a:solidFill>
                  <a:sym typeface="+mn-ea"/>
                </a:rPr>
                <a:t>误差分析</a:t>
              </a:r>
              <a:endParaRPr lang="zh-CN" altLang="en-US" sz="3600" dirty="0">
                <a:solidFill>
                  <a:srgbClr val="49600B"/>
                </a:solidFill>
              </a:endParaRPr>
            </a:p>
          </p:txBody>
        </p:sp>
        <p:sp>
          <p:nvSpPr>
            <p:cNvPr id="4" name="圆角矩形 3"/>
            <p:cNvSpPr/>
            <p:nvPr/>
          </p:nvSpPr>
          <p:spPr>
            <a:xfrm>
              <a:off x="690" y="558"/>
              <a:ext cx="6916" cy="1256"/>
            </a:xfrm>
            <a:prstGeom prst="roundRect">
              <a:avLst/>
            </a:prstGeom>
            <a:noFill/>
            <a:ln>
              <a:solidFill>
                <a:srgbClr val="8E9B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 name="图片 5" descr="a81dab9b05bca81f8f4d54dd5ac289019c0ac64d7f240-G0qF0Y_fw658"/>
          <p:cNvPicPr>
            <a:picLocks noChangeAspect="1"/>
          </p:cNvPicPr>
          <p:nvPr/>
        </p:nvPicPr>
        <p:blipFill>
          <a:blip r:embed="rId2"/>
          <a:stretch>
            <a:fillRect/>
          </a:stretch>
        </p:blipFill>
        <p:spPr>
          <a:xfrm>
            <a:off x="6764655" y="635"/>
            <a:ext cx="5427345" cy="6857365"/>
          </a:xfrm>
          <a:prstGeom prst="rect">
            <a:avLst/>
          </a:prstGeom>
        </p:spPr>
      </p:pic>
      <p:grpSp>
        <p:nvGrpSpPr>
          <p:cNvPr id="8" name="组合 7"/>
          <p:cNvGrpSpPr/>
          <p:nvPr/>
        </p:nvGrpSpPr>
        <p:grpSpPr>
          <a:xfrm>
            <a:off x="840105" y="1945005"/>
            <a:ext cx="2571115" cy="725805"/>
            <a:chOff x="1323" y="3063"/>
            <a:chExt cx="4049" cy="1143"/>
          </a:xfrm>
        </p:grpSpPr>
        <p:sp>
          <p:nvSpPr>
            <p:cNvPr id="9" name="矩形 8"/>
            <p:cNvSpPr/>
            <p:nvPr/>
          </p:nvSpPr>
          <p:spPr>
            <a:xfrm>
              <a:off x="1323" y="3063"/>
              <a:ext cx="4049" cy="1143"/>
            </a:xfrm>
            <a:prstGeom prst="rect">
              <a:avLst/>
            </a:prstGeom>
            <a:solidFill>
              <a:srgbClr val="B5C1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13" name="矩形 12"/>
            <p:cNvSpPr/>
            <p:nvPr/>
          </p:nvSpPr>
          <p:spPr>
            <a:xfrm>
              <a:off x="2012" y="3343"/>
              <a:ext cx="1745" cy="582"/>
            </a:xfrm>
            <a:prstGeom prst="rect">
              <a:avLst/>
            </a:prstGeom>
          </p:spPr>
          <p:txBody>
            <a:bodyPr wrap="none">
              <a:spAutoFit/>
            </a:bodyPr>
            <a:lstStyle/>
            <a:p>
              <a:r>
                <a:rPr lang="zh-CN" altLang="en-US" dirty="0">
                  <a:solidFill>
                    <a:schemeClr val="bg2">
                      <a:lumMod val="10000"/>
                    </a:schemeClr>
                  </a:solidFill>
                </a:rPr>
                <a:t>仪器误差</a:t>
              </a:r>
              <a:endParaRPr lang="en-US" altLang="zh-CN" dirty="0">
                <a:solidFill>
                  <a:schemeClr val="bg2">
                    <a:lumMod val="10000"/>
                  </a:schemeClr>
                </a:solidFill>
              </a:endParaRPr>
            </a:p>
          </p:txBody>
        </p:sp>
      </p:grpSp>
      <p:grpSp>
        <p:nvGrpSpPr>
          <p:cNvPr id="11" name="组合 10"/>
          <p:cNvGrpSpPr/>
          <p:nvPr/>
        </p:nvGrpSpPr>
        <p:grpSpPr>
          <a:xfrm>
            <a:off x="840105" y="3608705"/>
            <a:ext cx="2571115" cy="725805"/>
            <a:chOff x="1323" y="3063"/>
            <a:chExt cx="4049" cy="1143"/>
          </a:xfrm>
        </p:grpSpPr>
        <p:sp>
          <p:nvSpPr>
            <p:cNvPr id="12" name="矩形 11"/>
            <p:cNvSpPr/>
            <p:nvPr/>
          </p:nvSpPr>
          <p:spPr>
            <a:xfrm>
              <a:off x="1323" y="3063"/>
              <a:ext cx="4049" cy="1143"/>
            </a:xfrm>
            <a:prstGeom prst="rect">
              <a:avLst/>
            </a:prstGeom>
            <a:solidFill>
              <a:srgbClr val="B5C1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14" name="矩形 13"/>
            <p:cNvSpPr/>
            <p:nvPr/>
          </p:nvSpPr>
          <p:spPr>
            <a:xfrm>
              <a:off x="2012" y="3343"/>
              <a:ext cx="1745" cy="582"/>
            </a:xfrm>
            <a:prstGeom prst="rect">
              <a:avLst/>
            </a:prstGeom>
          </p:spPr>
          <p:txBody>
            <a:bodyPr wrap="none">
              <a:spAutoFit/>
            </a:bodyPr>
            <a:lstStyle/>
            <a:p>
              <a:r>
                <a:rPr lang="zh-CN" altLang="en-US" dirty="0">
                  <a:solidFill>
                    <a:schemeClr val="bg2">
                      <a:lumMod val="10000"/>
                    </a:schemeClr>
                  </a:solidFill>
                </a:rPr>
                <a:t>理论误差</a:t>
              </a:r>
              <a:endParaRPr lang="en-US" altLang="zh-CN" dirty="0">
                <a:solidFill>
                  <a:schemeClr val="bg2">
                    <a:lumMod val="10000"/>
                  </a:schemeClr>
                </a:solidFill>
              </a:endParaRPr>
            </a:p>
          </p:txBody>
        </p:sp>
      </p:grpSp>
      <p:grpSp>
        <p:nvGrpSpPr>
          <p:cNvPr id="15" name="组合 14"/>
          <p:cNvGrpSpPr/>
          <p:nvPr/>
        </p:nvGrpSpPr>
        <p:grpSpPr>
          <a:xfrm>
            <a:off x="840105" y="5181600"/>
            <a:ext cx="2571115" cy="725805"/>
            <a:chOff x="1323" y="3063"/>
            <a:chExt cx="4049" cy="1143"/>
          </a:xfrm>
        </p:grpSpPr>
        <p:sp>
          <p:nvSpPr>
            <p:cNvPr id="16" name="矩形 15"/>
            <p:cNvSpPr/>
            <p:nvPr/>
          </p:nvSpPr>
          <p:spPr>
            <a:xfrm>
              <a:off x="1323" y="3063"/>
              <a:ext cx="4049" cy="1143"/>
            </a:xfrm>
            <a:prstGeom prst="rect">
              <a:avLst/>
            </a:prstGeom>
            <a:solidFill>
              <a:srgbClr val="B5C1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17" name="矩形 16"/>
            <p:cNvSpPr/>
            <p:nvPr/>
          </p:nvSpPr>
          <p:spPr>
            <a:xfrm>
              <a:off x="2012" y="3343"/>
              <a:ext cx="1745" cy="582"/>
            </a:xfrm>
            <a:prstGeom prst="rect">
              <a:avLst/>
            </a:prstGeom>
          </p:spPr>
          <p:txBody>
            <a:bodyPr wrap="none">
              <a:spAutoFit/>
            </a:bodyPr>
            <a:lstStyle/>
            <a:p>
              <a:r>
                <a:rPr lang="zh-CN" altLang="en-US" dirty="0">
                  <a:solidFill>
                    <a:schemeClr val="bg2">
                      <a:lumMod val="10000"/>
                    </a:schemeClr>
                  </a:solidFill>
                </a:rPr>
                <a:t>操作误差</a:t>
              </a:r>
              <a:endParaRPr lang="en-US" altLang="zh-CN" dirty="0">
                <a:solidFill>
                  <a:schemeClr val="bg2">
                    <a:lumMod val="10000"/>
                  </a:schemeClr>
                </a:solidFill>
              </a:endParaRPr>
            </a:p>
          </p:txBody>
        </p:sp>
      </p:grpSp>
      <p:sp>
        <p:nvSpPr>
          <p:cNvPr id="18" name="矩形 17"/>
          <p:cNvSpPr/>
          <p:nvPr/>
        </p:nvSpPr>
        <p:spPr>
          <a:xfrm>
            <a:off x="3607435" y="1839098"/>
            <a:ext cx="3540760" cy="1200329"/>
          </a:xfrm>
          <a:prstGeom prst="rect">
            <a:avLst/>
          </a:prstGeom>
        </p:spPr>
        <p:txBody>
          <a:bodyPr wrap="square">
            <a:spAutoFit/>
          </a:bodyPr>
          <a:lstStyle/>
          <a:p>
            <a:pPr algn="just"/>
            <a:r>
              <a:rPr lang="zh-CN" altLang="en-US" dirty="0">
                <a:solidFill>
                  <a:schemeClr val="bg1">
                    <a:lumMod val="50000"/>
                  </a:schemeClr>
                </a:solidFill>
              </a:rPr>
              <a:t>电子秤精度不够，电梯晃动使刚体产生微小加速度，使应变片产生微小形变，影响测量精度。</a:t>
            </a:r>
            <a:endParaRPr lang="en-US" altLang="zh-CN" dirty="0">
              <a:solidFill>
                <a:schemeClr val="bg1">
                  <a:lumMod val="50000"/>
                </a:schemeClr>
              </a:solidFill>
            </a:endParaRPr>
          </a:p>
          <a:p>
            <a:pPr algn="just"/>
            <a:r>
              <a:rPr lang="zh-CN" altLang="en-US" dirty="0">
                <a:solidFill>
                  <a:schemeClr val="bg1">
                    <a:lumMod val="50000"/>
                  </a:schemeClr>
                </a:solidFill>
              </a:rPr>
              <a:t> </a:t>
            </a:r>
          </a:p>
        </p:txBody>
      </p:sp>
      <p:sp>
        <p:nvSpPr>
          <p:cNvPr id="21" name="矩形 20"/>
          <p:cNvSpPr/>
          <p:nvPr/>
        </p:nvSpPr>
        <p:spPr>
          <a:xfrm>
            <a:off x="3576320" y="3509625"/>
            <a:ext cx="3540760" cy="923330"/>
          </a:xfrm>
          <a:prstGeom prst="rect">
            <a:avLst/>
          </a:prstGeom>
        </p:spPr>
        <p:txBody>
          <a:bodyPr wrap="square">
            <a:spAutoFit/>
          </a:bodyPr>
          <a:lstStyle/>
          <a:p>
            <a:pPr algn="just"/>
            <a:r>
              <a:rPr lang="zh-CN" altLang="en-US" dirty="0">
                <a:solidFill>
                  <a:schemeClr val="bg1">
                    <a:lumMod val="50000"/>
                  </a:schemeClr>
                </a:solidFill>
              </a:rPr>
              <a:t>将时间切分成相同时间间隔，以端点数据代替一段时间的平均速度 。</a:t>
            </a:r>
          </a:p>
        </p:txBody>
      </p:sp>
      <p:sp>
        <p:nvSpPr>
          <p:cNvPr id="22" name="矩形 21"/>
          <p:cNvSpPr/>
          <p:nvPr/>
        </p:nvSpPr>
        <p:spPr>
          <a:xfrm>
            <a:off x="3607435" y="5083810"/>
            <a:ext cx="3540760" cy="646331"/>
          </a:xfrm>
          <a:prstGeom prst="rect">
            <a:avLst/>
          </a:prstGeom>
        </p:spPr>
        <p:txBody>
          <a:bodyPr wrap="square">
            <a:spAutoFit/>
          </a:bodyPr>
          <a:lstStyle/>
          <a:p>
            <a:pPr algn="just"/>
            <a:r>
              <a:rPr lang="zh-CN" altLang="en-US" dirty="0">
                <a:solidFill>
                  <a:schemeClr val="bg1">
                    <a:lumMod val="50000"/>
                  </a:schemeClr>
                </a:solidFill>
              </a:rPr>
              <a:t>测量刚体质量时并未使电子秤水平向下。</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8d99808b-e96c-4ab7-9c0c-8801598d8d13"/>
  <p:tag name="COMMONDATA" val="eyJjb3VudCI6NCwiaGRpZCI6ImJhZTk4MTg0Y2ZlNDQyZTYzMzk3ZWEzMmE1Yjg3ZGFjIiwidXNlckNvdW50IjozfQ=="/>
</p:tagLst>
</file>

<file path=ppt/tags/tag2.xml><?xml version="1.0" encoding="utf-8"?>
<p:tagLst xmlns:a="http://schemas.openxmlformats.org/drawingml/2006/main" xmlns:r="http://schemas.openxmlformats.org/officeDocument/2006/relationships" xmlns:p="http://schemas.openxmlformats.org/presentationml/2006/main">
  <p:tag name="REFSHAPE" val="1319899116"/>
  <p:tag name="KSO_WM_UNIT_PLACING_PICTURE_USER_VIEWPORT" val="{&quot;height&quot;:15840,&quot;width&quot;:1171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849</Words>
  <Application>Microsoft Office PowerPoint</Application>
  <PresentationFormat>宽屏</PresentationFormat>
  <Paragraphs>233</Paragraphs>
  <Slides>16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FontAwesome</vt:lpstr>
      <vt:lpstr>Gill Sans</vt:lpstr>
      <vt:lpstr>等线</vt:lpstr>
      <vt:lpstr>宋体</vt:lpstr>
      <vt:lpstr>微软雅黑</vt:lpstr>
      <vt:lpstr>微软雅黑 Light</vt:lpstr>
      <vt:lpstr>Arial</vt:lpstr>
      <vt:lpstr>Calibri</vt:lpstr>
      <vt:lpstr>Calibri Light</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cmr</dc:creator>
  <cp:lastModifiedBy>深尧 汤</cp:lastModifiedBy>
  <cp:revision>11</cp:revision>
  <dcterms:created xsi:type="dcterms:W3CDTF">2023-12-15T08:36:00Z</dcterms:created>
  <dcterms:modified xsi:type="dcterms:W3CDTF">2023-12-23T15:11:40Z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2052-11.1.0.12165</vt:lpwstr>
  </property>
  <property fmtid="{D5CDD505-2E9C-101B-9397-08002B2CF9AE}" pid="3" name="KSOTemplateUUID">
    <vt:lpwstr>v1.0_mb_SYLvZgC2/oiqGjhE0nXfVg==</vt:lpwstr>
  </property>
  <property fmtid="{D5CDD505-2E9C-101B-9397-08002B2CF9AE}" pid="4" name="ICV">
    <vt:lpwstr>FAF9721642AD413EBC54AD2E704385F1</vt:lpwstr>
  </property>
</Properties>
</file>