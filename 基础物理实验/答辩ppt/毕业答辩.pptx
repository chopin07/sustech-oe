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30" r:id="rId3"/>
  </p:sldMasterIdLst>
  <p:notesMasterIdLst>
    <p:notesMasterId r:id="rId5"/>
  </p:notesMasterIdLst>
  <p:handoutMasterIdLst>
    <p:handoutMasterId r:id="rId29"/>
  </p:handoutMasterIdLst>
  <p:sldIdLst>
    <p:sldId id="341" r:id="rId4"/>
    <p:sldId id="343" r:id="rId6"/>
    <p:sldId id="344" r:id="rId7"/>
    <p:sldId id="259" r:id="rId8"/>
    <p:sldId id="363" r:id="rId9"/>
    <p:sldId id="364" r:id="rId10"/>
    <p:sldId id="365" r:id="rId11"/>
    <p:sldId id="366" r:id="rId12"/>
    <p:sldId id="367" r:id="rId13"/>
    <p:sldId id="393" r:id="rId14"/>
    <p:sldId id="404" r:id="rId15"/>
    <p:sldId id="406" r:id="rId16"/>
    <p:sldId id="384" r:id="rId17"/>
    <p:sldId id="385" r:id="rId18"/>
    <p:sldId id="386" r:id="rId19"/>
    <p:sldId id="387" r:id="rId20"/>
    <p:sldId id="389" r:id="rId21"/>
    <p:sldId id="390" r:id="rId22"/>
    <p:sldId id="388" r:id="rId23"/>
    <p:sldId id="391" r:id="rId24"/>
    <p:sldId id="392" r:id="rId25"/>
    <p:sldId id="408" r:id="rId26"/>
    <p:sldId id="410" r:id="rId27"/>
    <p:sldId id="342" r:id="rId28"/>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6657C"/>
    <a:srgbClr val="657690"/>
    <a:srgbClr val="8596AA"/>
    <a:srgbClr val="C6CDD7"/>
    <a:srgbClr val="8891B8"/>
    <a:srgbClr val="495176"/>
    <a:srgbClr val="00AEEF"/>
    <a:srgbClr val="7A6B6B"/>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p:scale>
          <a:sx n="66" d="100"/>
          <a:sy n="66" d="100"/>
        </p:scale>
        <p:origin x="1686" y="1032"/>
      </p:cViewPr>
      <p:guideLst>
        <p:guide orient="horz" pos="2191"/>
        <p:guide pos="385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handoutMaster" Target="handoutMasters/handoutMaster1.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cs typeface="汉仪君黑-45简" charset="-122"/>
            </a:endParaRPr>
          </a:p>
        </p:txBody>
      </p:sp>
      <p:sp>
        <p:nvSpPr>
          <p:cNvPr id="3" name="日期占位符 2"/>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汉仪君黑-45简" charset="-122"/>
              </a:rPr>
            </a:fld>
            <a:endParaRPr lang="zh-CN" altLang="en-US">
              <a:cs typeface="汉仪君黑-45简" charset="-122"/>
            </a:endParaRPr>
          </a:p>
        </p:txBody>
      </p:sp>
      <p:sp>
        <p:nvSpPr>
          <p:cNvPr id="4" name="页脚占位符 3"/>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cs typeface="汉仪君黑-45简" charset="-122"/>
            </a:endParaRPr>
          </a:p>
        </p:txBody>
      </p:sp>
      <p:sp>
        <p:nvSpPr>
          <p:cNvPr id="5" name="灯片编号占位符 4"/>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汉仪君黑-45简" charset="-122"/>
              </a:rPr>
            </a:fld>
            <a:endParaRPr lang="zh-CN" altLang="en-US">
              <a:cs typeface="汉仪君黑-45简"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cs typeface="汉仪君黑-45简" charset="-122"/>
              </a:defRPr>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cs typeface="汉仪君黑-45简" charset="-122"/>
              </a:defRPr>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cs typeface="汉仪君黑-45简" charset="-122"/>
              </a:defRPr>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cs typeface="汉仪君黑-45简"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汉仪君黑-45简" charset="-122"/>
      </a:defRPr>
    </a:lvl1pPr>
    <a:lvl2pPr marL="457200" algn="l" defTabSz="914400" rtl="0" eaLnBrk="1" latinLnBrk="0" hangingPunct="1">
      <a:defRPr sz="1200" kern="1200">
        <a:solidFill>
          <a:schemeClr val="tx1"/>
        </a:solidFill>
        <a:latin typeface="+mn-lt"/>
        <a:ea typeface="+mn-ea"/>
        <a:cs typeface="汉仪君黑-45简" charset="-122"/>
      </a:defRPr>
    </a:lvl2pPr>
    <a:lvl3pPr marL="914400" algn="l" defTabSz="914400" rtl="0" eaLnBrk="1" latinLnBrk="0" hangingPunct="1">
      <a:defRPr sz="1200" kern="1200">
        <a:solidFill>
          <a:schemeClr val="tx1"/>
        </a:solidFill>
        <a:latin typeface="+mn-lt"/>
        <a:ea typeface="+mn-ea"/>
        <a:cs typeface="汉仪君黑-45简" charset="-122"/>
      </a:defRPr>
    </a:lvl3pPr>
    <a:lvl4pPr marL="1371600" algn="l" defTabSz="914400" rtl="0" eaLnBrk="1" latinLnBrk="0" hangingPunct="1">
      <a:defRPr sz="1200" kern="1200">
        <a:solidFill>
          <a:schemeClr val="tx1"/>
        </a:solidFill>
        <a:latin typeface="+mn-lt"/>
        <a:ea typeface="+mn-ea"/>
        <a:cs typeface="汉仪君黑-45简" charset="-122"/>
      </a:defRPr>
    </a:lvl4pPr>
    <a:lvl5pPr marL="1828800" algn="l" defTabSz="914400" rtl="0" eaLnBrk="1" latinLnBrk="0" hangingPunct="1">
      <a:defRPr sz="1200" kern="1200">
        <a:solidFill>
          <a:schemeClr val="tx1"/>
        </a:solidFill>
        <a:latin typeface="+mn-lt"/>
        <a:ea typeface="+mn-ea"/>
        <a:cs typeface="汉仪君黑-45简"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p:nvPr>
            <p:ph type="sldImg" idx="2"/>
          </p:nvPr>
        </p:nvSpPr>
        <p:spPr/>
      </p:sp>
      <p:sp>
        <p:nvSpPr>
          <p:cNvPr id="3" name="文本占位符 2"/>
          <p:cNvSpPr/>
          <p:nvPr>
            <p:ph type="body" idx="3"/>
          </p:nvPr>
        </p:nvSpPr>
        <p:spPr/>
        <p:txBody>
          <a:bodyPr/>
          <a:lstStyle/>
          <a:p>
            <a:r>
              <a:rPr lang="zh-CN" altLang="en-US"/>
              <a:t> </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image" Target="../media/image1.jpe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tags" Target="../tags/tag132.xml"/><Relationship Id="rId7" Type="http://schemas.openxmlformats.org/officeDocument/2006/relationships/tags" Target="../tags/tag131.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89.xml"/><Relationship Id="rId8" Type="http://schemas.openxmlformats.org/officeDocument/2006/relationships/tags" Target="../tags/tag188.xml"/><Relationship Id="rId7" Type="http://schemas.openxmlformats.org/officeDocument/2006/relationships/tags" Target="../tags/tag187.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tags" Target="../tags/tag195.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205.xml"/><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221.xml"/><Relationship Id="rId8" Type="http://schemas.openxmlformats.org/officeDocument/2006/relationships/tags" Target="../tags/tag220.xml"/><Relationship Id="rId7" Type="http://schemas.openxmlformats.org/officeDocument/2006/relationships/tags" Target="../tags/tag219.xml"/><Relationship Id="rId6" Type="http://schemas.openxmlformats.org/officeDocument/2006/relationships/tags" Target="../tags/tag218.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229.xml"/><Relationship Id="rId8" Type="http://schemas.openxmlformats.org/officeDocument/2006/relationships/tags" Target="../tags/tag228.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237.xml"/><Relationship Id="rId8" Type="http://schemas.openxmlformats.org/officeDocument/2006/relationships/tags" Target="../tags/tag236.xml"/><Relationship Id="rId7" Type="http://schemas.openxmlformats.org/officeDocument/2006/relationships/tags" Target="../tags/tag235.xml"/><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245.xml"/><Relationship Id="rId8" Type="http://schemas.openxmlformats.org/officeDocument/2006/relationships/tags" Target="../tags/tag244.xml"/><Relationship Id="rId7" Type="http://schemas.openxmlformats.org/officeDocument/2006/relationships/tags" Target="../tags/tag243.xml"/><Relationship Id="rId6" Type="http://schemas.openxmlformats.org/officeDocument/2006/relationships/tags" Target="../tags/tag242.xml"/><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253.xml"/><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261.xml"/><Relationship Id="rId8" Type="http://schemas.openxmlformats.org/officeDocument/2006/relationships/tags" Target="../tags/tag260.xml"/><Relationship Id="rId7" Type="http://schemas.openxmlformats.org/officeDocument/2006/relationships/tags" Target="../tags/tag259.xml"/><Relationship Id="rId6" Type="http://schemas.openxmlformats.org/officeDocument/2006/relationships/tags" Target="../tags/tag258.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9" Type="http://schemas.openxmlformats.org/officeDocument/2006/relationships/tags" Target="../tags/tag277.xml"/><Relationship Id="rId8" Type="http://schemas.openxmlformats.org/officeDocument/2006/relationships/tags" Target="../tags/tag276.xml"/><Relationship Id="rId7" Type="http://schemas.openxmlformats.org/officeDocument/2006/relationships/tags" Target="../tags/tag275.xml"/><Relationship Id="rId6" Type="http://schemas.openxmlformats.org/officeDocument/2006/relationships/tags" Target="../tags/tag274.xml"/><Relationship Id="rId5" Type="http://schemas.openxmlformats.org/officeDocument/2006/relationships/tags" Target="../tags/tag273.xml"/><Relationship Id="rId4" Type="http://schemas.openxmlformats.org/officeDocument/2006/relationships/tags" Target="../tags/tag272.xml"/><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285.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tags" Target="../tags/tag292.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301.xml"/><Relationship Id="rId8" Type="http://schemas.openxmlformats.org/officeDocument/2006/relationships/tags" Target="../tags/tag300.xml"/><Relationship Id="rId7" Type="http://schemas.openxmlformats.org/officeDocument/2006/relationships/tags" Target="../tags/tag299.xml"/><Relationship Id="rId6" Type="http://schemas.openxmlformats.org/officeDocument/2006/relationships/tags" Target="../tags/tag298.xml"/><Relationship Id="rId5" Type="http://schemas.openxmlformats.org/officeDocument/2006/relationships/tags" Target="../tags/tag297.xml"/><Relationship Id="rId4" Type="http://schemas.openxmlformats.org/officeDocument/2006/relationships/tags" Target="../tags/tag296.xml"/><Relationship Id="rId3" Type="http://schemas.openxmlformats.org/officeDocument/2006/relationships/tags" Target="../tags/tag295.xml"/><Relationship Id="rId2" Type="http://schemas.openxmlformats.org/officeDocument/2006/relationships/tags" Target="../tags/tag294.xml"/><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9" Type="http://schemas.openxmlformats.org/officeDocument/2006/relationships/tags" Target="../tags/tag309.xml"/><Relationship Id="rId8" Type="http://schemas.openxmlformats.org/officeDocument/2006/relationships/tags" Target="../tags/tag308.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9" Type="http://schemas.openxmlformats.org/officeDocument/2006/relationships/tags" Target="../tags/tag317.xml"/><Relationship Id="rId8" Type="http://schemas.openxmlformats.org/officeDocument/2006/relationships/tags" Target="../tags/tag316.xml"/><Relationship Id="rId7" Type="http://schemas.openxmlformats.org/officeDocument/2006/relationships/tags" Target="../tags/tag315.xml"/><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9" Type="http://schemas.openxmlformats.org/officeDocument/2006/relationships/tags" Target="../tags/tag333.xml"/><Relationship Id="rId8" Type="http://schemas.openxmlformats.org/officeDocument/2006/relationships/tags" Target="../tags/tag332.xml"/><Relationship Id="rId7" Type="http://schemas.openxmlformats.org/officeDocument/2006/relationships/tags" Target="../tags/tag331.xml"/><Relationship Id="rId6" Type="http://schemas.openxmlformats.org/officeDocument/2006/relationships/tags" Target="../tags/tag330.xml"/><Relationship Id="rId5" Type="http://schemas.openxmlformats.org/officeDocument/2006/relationships/tags" Target="../tags/tag329.xml"/><Relationship Id="rId4" Type="http://schemas.openxmlformats.org/officeDocument/2006/relationships/tags" Target="../tags/tag328.xml"/><Relationship Id="rId3" Type="http://schemas.openxmlformats.org/officeDocument/2006/relationships/tags" Target="../tags/tag327.xml"/><Relationship Id="rId2" Type="http://schemas.openxmlformats.org/officeDocument/2006/relationships/tags" Target="../tags/tag326.xml"/><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341.xml"/><Relationship Id="rId8" Type="http://schemas.openxmlformats.org/officeDocument/2006/relationships/tags" Target="../tags/tag340.xml"/><Relationship Id="rId7" Type="http://schemas.openxmlformats.org/officeDocument/2006/relationships/tags" Target="../tags/tag339.xml"/><Relationship Id="rId6" Type="http://schemas.openxmlformats.org/officeDocument/2006/relationships/tags" Target="../tags/tag338.xml"/><Relationship Id="rId5" Type="http://schemas.openxmlformats.org/officeDocument/2006/relationships/tags" Target="../tags/tag337.xml"/><Relationship Id="rId4" Type="http://schemas.openxmlformats.org/officeDocument/2006/relationships/tags" Target="../tags/tag336.xml"/><Relationship Id="rId3" Type="http://schemas.openxmlformats.org/officeDocument/2006/relationships/tags" Target="../tags/tag335.xml"/><Relationship Id="rId2" Type="http://schemas.openxmlformats.org/officeDocument/2006/relationships/tags" Target="../tags/tag334.xml"/><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9" Type="http://schemas.openxmlformats.org/officeDocument/2006/relationships/tags" Target="../tags/tag349.xml"/><Relationship Id="rId8" Type="http://schemas.openxmlformats.org/officeDocument/2006/relationships/tags" Target="../tags/tag348.xml"/><Relationship Id="rId7" Type="http://schemas.openxmlformats.org/officeDocument/2006/relationships/tags" Target="../tags/tag347.xml"/><Relationship Id="rId6" Type="http://schemas.openxmlformats.org/officeDocument/2006/relationships/tags" Target="../tags/tag346.xml"/><Relationship Id="rId5" Type="http://schemas.openxmlformats.org/officeDocument/2006/relationships/tags" Target="../tags/tag345.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9" Type="http://schemas.openxmlformats.org/officeDocument/2006/relationships/tags" Target="../tags/tag357.xml"/><Relationship Id="rId8" Type="http://schemas.openxmlformats.org/officeDocument/2006/relationships/tags" Target="../tags/tag356.xml"/><Relationship Id="rId7" Type="http://schemas.openxmlformats.org/officeDocument/2006/relationships/tags" Target="../tags/tag355.xml"/><Relationship Id="rId6" Type="http://schemas.openxmlformats.org/officeDocument/2006/relationships/tags" Target="../tags/tag354.xml"/><Relationship Id="rId5" Type="http://schemas.openxmlformats.org/officeDocument/2006/relationships/tags" Target="../tags/tag353.xml"/><Relationship Id="rId4" Type="http://schemas.openxmlformats.org/officeDocument/2006/relationships/tags" Target="../tags/tag352.xml"/><Relationship Id="rId3" Type="http://schemas.openxmlformats.org/officeDocument/2006/relationships/tags" Target="../tags/tag351.xml"/><Relationship Id="rId2" Type="http://schemas.openxmlformats.org/officeDocument/2006/relationships/tags" Target="../tags/tag350.xm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9" Type="http://schemas.openxmlformats.org/officeDocument/2006/relationships/tags" Target="../tags/tag365.xml"/><Relationship Id="rId8" Type="http://schemas.openxmlformats.org/officeDocument/2006/relationships/tags" Target="../tags/tag364.xml"/><Relationship Id="rId7" Type="http://schemas.openxmlformats.org/officeDocument/2006/relationships/tags" Target="../tags/tag363.xml"/><Relationship Id="rId6" Type="http://schemas.openxmlformats.org/officeDocument/2006/relationships/tags" Target="../tags/tag362.xml"/><Relationship Id="rId5" Type="http://schemas.openxmlformats.org/officeDocument/2006/relationships/tags" Target="../tags/tag361.xml"/><Relationship Id="rId4" Type="http://schemas.openxmlformats.org/officeDocument/2006/relationships/tags" Target="../tags/tag360.xml"/><Relationship Id="rId3" Type="http://schemas.openxmlformats.org/officeDocument/2006/relationships/tags" Target="../tags/tag359.xml"/><Relationship Id="rId2" Type="http://schemas.openxmlformats.org/officeDocument/2006/relationships/tags" Target="../tags/tag358.xm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9" Type="http://schemas.openxmlformats.org/officeDocument/2006/relationships/tags" Target="../tags/tag373.xml"/><Relationship Id="rId8" Type="http://schemas.openxmlformats.org/officeDocument/2006/relationships/tags" Target="../tags/tag372.xml"/><Relationship Id="rId7" Type="http://schemas.openxmlformats.org/officeDocument/2006/relationships/tags" Target="../tags/tag371.xml"/><Relationship Id="rId6" Type="http://schemas.openxmlformats.org/officeDocument/2006/relationships/tags" Target="../tags/tag370.xml"/><Relationship Id="rId5" Type="http://schemas.openxmlformats.org/officeDocument/2006/relationships/tags" Target="../tags/tag369.xml"/><Relationship Id="rId4" Type="http://schemas.openxmlformats.org/officeDocument/2006/relationships/tags" Target="../tags/tag368.xml"/><Relationship Id="rId3" Type="http://schemas.openxmlformats.org/officeDocument/2006/relationships/tags" Target="../tags/tag367.xml"/><Relationship Id="rId2" Type="http://schemas.openxmlformats.org/officeDocument/2006/relationships/tags" Target="../tags/tag366.xml"/><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9" Type="http://schemas.openxmlformats.org/officeDocument/2006/relationships/tags" Target="../tags/tag381.xml"/><Relationship Id="rId8" Type="http://schemas.openxmlformats.org/officeDocument/2006/relationships/tags" Target="../tags/tag380.xml"/><Relationship Id="rId7" Type="http://schemas.openxmlformats.org/officeDocument/2006/relationships/tags" Target="../tags/tag379.xml"/><Relationship Id="rId6" Type="http://schemas.openxmlformats.org/officeDocument/2006/relationships/tags" Target="../tags/tag378.xml"/><Relationship Id="rId5" Type="http://schemas.openxmlformats.org/officeDocument/2006/relationships/tags" Target="../tags/tag377.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9" Type="http://schemas.openxmlformats.org/officeDocument/2006/relationships/tags" Target="../tags/tag389.xml"/><Relationship Id="rId8" Type="http://schemas.openxmlformats.org/officeDocument/2006/relationships/tags" Target="../tags/tag388.xml"/><Relationship Id="rId7" Type="http://schemas.openxmlformats.org/officeDocument/2006/relationships/tags" Target="../tags/tag387.xml"/><Relationship Id="rId6" Type="http://schemas.openxmlformats.org/officeDocument/2006/relationships/tags" Target="../tags/tag386.xml"/><Relationship Id="rId5" Type="http://schemas.openxmlformats.org/officeDocument/2006/relationships/tags" Target="../tags/tag385.xml"/><Relationship Id="rId4" Type="http://schemas.openxmlformats.org/officeDocument/2006/relationships/tags" Target="../tags/tag384.xml"/><Relationship Id="rId3" Type="http://schemas.openxmlformats.org/officeDocument/2006/relationships/tags" Target="../tags/tag383.xml"/><Relationship Id="rId2" Type="http://schemas.openxmlformats.org/officeDocument/2006/relationships/tags" Target="../tags/tag382.xm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9" Type="http://schemas.openxmlformats.org/officeDocument/2006/relationships/tags" Target="../tags/tag397.xml"/><Relationship Id="rId8" Type="http://schemas.openxmlformats.org/officeDocument/2006/relationships/tags" Target="../tags/tag396.xml"/><Relationship Id="rId7" Type="http://schemas.openxmlformats.org/officeDocument/2006/relationships/tags" Target="../tags/tag395.xml"/><Relationship Id="rId6" Type="http://schemas.openxmlformats.org/officeDocument/2006/relationships/tags" Target="../tags/tag394.xml"/><Relationship Id="rId5" Type="http://schemas.openxmlformats.org/officeDocument/2006/relationships/tags" Target="../tags/tag393.xml"/><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tags" Target="../tags/tag390.xml"/><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9" Type="http://schemas.openxmlformats.org/officeDocument/2006/relationships/tags" Target="../tags/tag405.xml"/><Relationship Id="rId8" Type="http://schemas.openxmlformats.org/officeDocument/2006/relationships/tags" Target="../tags/tag404.xml"/><Relationship Id="rId7" Type="http://schemas.openxmlformats.org/officeDocument/2006/relationships/tags" Target="../tags/tag403.xml"/><Relationship Id="rId6" Type="http://schemas.openxmlformats.org/officeDocument/2006/relationships/tags" Target="../tags/tag402.xml"/><Relationship Id="rId5" Type="http://schemas.openxmlformats.org/officeDocument/2006/relationships/tags" Target="../tags/tag401.xml"/><Relationship Id="rId4" Type="http://schemas.openxmlformats.org/officeDocument/2006/relationships/tags" Target="../tags/tag400.xml"/><Relationship Id="rId3" Type="http://schemas.openxmlformats.org/officeDocument/2006/relationships/tags" Target="../tags/tag399.xml"/><Relationship Id="rId2" Type="http://schemas.openxmlformats.org/officeDocument/2006/relationships/tags" Target="../tags/tag398.xml"/><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9" Type="http://schemas.openxmlformats.org/officeDocument/2006/relationships/tags" Target="../tags/tag413.xml"/><Relationship Id="rId8" Type="http://schemas.openxmlformats.org/officeDocument/2006/relationships/tags" Target="../tags/tag412.xml"/><Relationship Id="rId7" Type="http://schemas.openxmlformats.org/officeDocument/2006/relationships/tags" Target="../tags/tag411.xml"/><Relationship Id="rId6" Type="http://schemas.openxmlformats.org/officeDocument/2006/relationships/tags" Target="../tags/tag410.xml"/><Relationship Id="rId5" Type="http://schemas.openxmlformats.org/officeDocument/2006/relationships/tags" Target="../tags/tag409.xml"/><Relationship Id="rId4" Type="http://schemas.openxmlformats.org/officeDocument/2006/relationships/tags" Target="../tags/tag408.xml"/><Relationship Id="rId3" Type="http://schemas.openxmlformats.org/officeDocument/2006/relationships/tags" Target="../tags/tag407.xml"/><Relationship Id="rId2" Type="http://schemas.openxmlformats.org/officeDocument/2006/relationships/tags" Target="../tags/tag406.xml"/><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9" Type="http://schemas.openxmlformats.org/officeDocument/2006/relationships/tags" Target="../tags/tag421.xml"/><Relationship Id="rId8" Type="http://schemas.openxmlformats.org/officeDocument/2006/relationships/tags" Target="../tags/tag420.xml"/><Relationship Id="rId7" Type="http://schemas.openxmlformats.org/officeDocument/2006/relationships/tags" Target="../tags/tag419.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tags" Target="../tags/tag415.xml"/><Relationship Id="rId2" Type="http://schemas.openxmlformats.org/officeDocument/2006/relationships/tags" Target="../tags/tag414.xml"/><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9" Type="http://schemas.openxmlformats.org/officeDocument/2006/relationships/tags" Target="../tags/tag429.xml"/><Relationship Id="rId8" Type="http://schemas.openxmlformats.org/officeDocument/2006/relationships/tags" Target="../tags/tag428.xml"/><Relationship Id="rId7" Type="http://schemas.openxmlformats.org/officeDocument/2006/relationships/tags" Target="../tags/tag427.xml"/><Relationship Id="rId6" Type="http://schemas.openxmlformats.org/officeDocument/2006/relationships/tags" Target="../tags/tag426.xml"/><Relationship Id="rId5" Type="http://schemas.openxmlformats.org/officeDocument/2006/relationships/tags" Target="../tags/tag425.xml"/><Relationship Id="rId4" Type="http://schemas.openxmlformats.org/officeDocument/2006/relationships/tags" Target="../tags/tag424.xml"/><Relationship Id="rId3" Type="http://schemas.openxmlformats.org/officeDocument/2006/relationships/tags" Target="../tags/tag423.xml"/><Relationship Id="rId2" Type="http://schemas.openxmlformats.org/officeDocument/2006/relationships/tags" Target="../tags/tag422.xml"/><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9" Type="http://schemas.openxmlformats.org/officeDocument/2006/relationships/tags" Target="../tags/tag437.xml"/><Relationship Id="rId8" Type="http://schemas.openxmlformats.org/officeDocument/2006/relationships/tags" Target="../tags/tag436.xml"/><Relationship Id="rId7" Type="http://schemas.openxmlformats.org/officeDocument/2006/relationships/tags" Target="../tags/tag435.xml"/><Relationship Id="rId6" Type="http://schemas.openxmlformats.org/officeDocument/2006/relationships/tags" Target="../tags/tag434.xml"/><Relationship Id="rId5" Type="http://schemas.openxmlformats.org/officeDocument/2006/relationships/tags" Target="../tags/tag433.xml"/><Relationship Id="rId4" Type="http://schemas.openxmlformats.org/officeDocument/2006/relationships/tags" Target="../tags/tag432.xml"/><Relationship Id="rId3" Type="http://schemas.openxmlformats.org/officeDocument/2006/relationships/tags" Target="../tags/tag431.xml"/><Relationship Id="rId2" Type="http://schemas.openxmlformats.org/officeDocument/2006/relationships/tags" Target="../tags/tag430.xml"/><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9" Type="http://schemas.openxmlformats.org/officeDocument/2006/relationships/tags" Target="../tags/tag445.xml"/><Relationship Id="rId8" Type="http://schemas.openxmlformats.org/officeDocument/2006/relationships/tags" Target="../tags/tag444.xml"/><Relationship Id="rId7" Type="http://schemas.openxmlformats.org/officeDocument/2006/relationships/tags" Target="../tags/tag443.xml"/><Relationship Id="rId6" Type="http://schemas.openxmlformats.org/officeDocument/2006/relationships/tags" Target="../tags/tag442.xml"/><Relationship Id="rId5" Type="http://schemas.openxmlformats.org/officeDocument/2006/relationships/tags" Target="../tags/tag441.xml"/><Relationship Id="rId4" Type="http://schemas.openxmlformats.org/officeDocument/2006/relationships/tags" Target="../tags/tag440.xml"/><Relationship Id="rId3" Type="http://schemas.openxmlformats.org/officeDocument/2006/relationships/tags" Target="../tags/tag439.xml"/><Relationship Id="rId2" Type="http://schemas.openxmlformats.org/officeDocument/2006/relationships/tags" Target="../tags/tag438.xml"/><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9" Type="http://schemas.openxmlformats.org/officeDocument/2006/relationships/tags" Target="../tags/tag453.xml"/><Relationship Id="rId8" Type="http://schemas.openxmlformats.org/officeDocument/2006/relationships/tags" Target="../tags/tag452.xml"/><Relationship Id="rId7" Type="http://schemas.openxmlformats.org/officeDocument/2006/relationships/tags" Target="../tags/tag451.xml"/><Relationship Id="rId6" Type="http://schemas.openxmlformats.org/officeDocument/2006/relationships/tags" Target="../tags/tag450.xml"/><Relationship Id="rId5" Type="http://schemas.openxmlformats.org/officeDocument/2006/relationships/tags" Target="../tags/tag449.xml"/><Relationship Id="rId4" Type="http://schemas.openxmlformats.org/officeDocument/2006/relationships/tags" Target="../tags/tag448.xml"/><Relationship Id="rId3" Type="http://schemas.openxmlformats.org/officeDocument/2006/relationships/tags" Target="../tags/tag447.xml"/><Relationship Id="rId2" Type="http://schemas.openxmlformats.org/officeDocument/2006/relationships/tags" Target="../tags/tag446.xml"/><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9" Type="http://schemas.openxmlformats.org/officeDocument/2006/relationships/tags" Target="../tags/tag461.xml"/><Relationship Id="rId8" Type="http://schemas.openxmlformats.org/officeDocument/2006/relationships/tags" Target="../tags/tag460.xml"/><Relationship Id="rId7" Type="http://schemas.openxmlformats.org/officeDocument/2006/relationships/tags" Target="../tags/tag459.xml"/><Relationship Id="rId6" Type="http://schemas.openxmlformats.org/officeDocument/2006/relationships/tags" Target="../tags/tag458.xml"/><Relationship Id="rId5" Type="http://schemas.openxmlformats.org/officeDocument/2006/relationships/tags" Target="../tags/tag457.xml"/><Relationship Id="rId4" Type="http://schemas.openxmlformats.org/officeDocument/2006/relationships/tags" Target="../tags/tag456.xml"/><Relationship Id="rId3" Type="http://schemas.openxmlformats.org/officeDocument/2006/relationships/tags" Target="../tags/tag455.xml"/><Relationship Id="rId2" Type="http://schemas.openxmlformats.org/officeDocument/2006/relationships/tags" Target="../tags/tag454.xml"/><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9" Type="http://schemas.openxmlformats.org/officeDocument/2006/relationships/tags" Target="../tags/tag469.xml"/><Relationship Id="rId8" Type="http://schemas.openxmlformats.org/officeDocument/2006/relationships/tags" Target="../tags/tag468.xml"/><Relationship Id="rId7" Type="http://schemas.openxmlformats.org/officeDocument/2006/relationships/tags" Target="../tags/tag467.xml"/><Relationship Id="rId6" Type="http://schemas.openxmlformats.org/officeDocument/2006/relationships/tags" Target="../tags/tag466.xml"/><Relationship Id="rId5" Type="http://schemas.openxmlformats.org/officeDocument/2006/relationships/tags" Target="../tags/tag465.xml"/><Relationship Id="rId4" Type="http://schemas.openxmlformats.org/officeDocument/2006/relationships/tags" Target="../tags/tag464.xml"/><Relationship Id="rId3" Type="http://schemas.openxmlformats.org/officeDocument/2006/relationships/tags" Target="../tags/tag463.xml"/><Relationship Id="rId2" Type="http://schemas.openxmlformats.org/officeDocument/2006/relationships/tags" Target="../tags/tag462.xml"/><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9" Type="http://schemas.openxmlformats.org/officeDocument/2006/relationships/tags" Target="../tags/tag477.xml"/><Relationship Id="rId8" Type="http://schemas.openxmlformats.org/officeDocument/2006/relationships/tags" Target="../tags/tag476.xml"/><Relationship Id="rId7" Type="http://schemas.openxmlformats.org/officeDocument/2006/relationships/tags" Target="../tags/tag475.xml"/><Relationship Id="rId6" Type="http://schemas.openxmlformats.org/officeDocument/2006/relationships/tags" Target="../tags/tag474.xml"/><Relationship Id="rId5" Type="http://schemas.openxmlformats.org/officeDocument/2006/relationships/tags" Target="../tags/tag473.xml"/><Relationship Id="rId4" Type="http://schemas.openxmlformats.org/officeDocument/2006/relationships/tags" Target="../tags/tag472.xml"/><Relationship Id="rId3" Type="http://schemas.openxmlformats.org/officeDocument/2006/relationships/tags" Target="../tags/tag471.xml"/><Relationship Id="rId2" Type="http://schemas.openxmlformats.org/officeDocument/2006/relationships/tags" Target="../tags/tag470.xml"/><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9" Type="http://schemas.openxmlformats.org/officeDocument/2006/relationships/tags" Target="../tags/tag485.xml"/><Relationship Id="rId8" Type="http://schemas.openxmlformats.org/officeDocument/2006/relationships/tags" Target="../tags/tag484.xml"/><Relationship Id="rId7" Type="http://schemas.openxmlformats.org/officeDocument/2006/relationships/tags" Target="../tags/tag483.xml"/><Relationship Id="rId6" Type="http://schemas.openxmlformats.org/officeDocument/2006/relationships/tags" Target="../tags/tag482.xml"/><Relationship Id="rId5" Type="http://schemas.openxmlformats.org/officeDocument/2006/relationships/tags" Target="../tags/tag481.xml"/><Relationship Id="rId4" Type="http://schemas.openxmlformats.org/officeDocument/2006/relationships/tags" Target="../tags/tag480.xml"/><Relationship Id="rId3" Type="http://schemas.openxmlformats.org/officeDocument/2006/relationships/tags" Target="../tags/tag479.xml"/><Relationship Id="rId2" Type="http://schemas.openxmlformats.org/officeDocument/2006/relationships/tags" Target="../tags/tag478.xml"/><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9" Type="http://schemas.openxmlformats.org/officeDocument/2006/relationships/tags" Target="../tags/tag493.xml"/><Relationship Id="rId8" Type="http://schemas.openxmlformats.org/officeDocument/2006/relationships/tags" Target="../tags/tag492.xml"/><Relationship Id="rId7" Type="http://schemas.openxmlformats.org/officeDocument/2006/relationships/tags" Target="../tags/tag491.xml"/><Relationship Id="rId6" Type="http://schemas.openxmlformats.org/officeDocument/2006/relationships/tags" Target="../tags/tag490.xml"/><Relationship Id="rId5" Type="http://schemas.openxmlformats.org/officeDocument/2006/relationships/tags" Target="../tags/tag489.xml"/><Relationship Id="rId4" Type="http://schemas.openxmlformats.org/officeDocument/2006/relationships/tags" Target="../tags/tag488.xml"/><Relationship Id="rId3" Type="http://schemas.openxmlformats.org/officeDocument/2006/relationships/tags" Target="../tags/tag487.xml"/><Relationship Id="rId2" Type="http://schemas.openxmlformats.org/officeDocument/2006/relationships/tags" Target="../tags/tag486.xml"/><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9" Type="http://schemas.openxmlformats.org/officeDocument/2006/relationships/tags" Target="../tags/tag501.xml"/><Relationship Id="rId8" Type="http://schemas.openxmlformats.org/officeDocument/2006/relationships/tags" Target="../tags/tag500.xml"/><Relationship Id="rId7" Type="http://schemas.openxmlformats.org/officeDocument/2006/relationships/tags" Target="../tags/tag499.xml"/><Relationship Id="rId6" Type="http://schemas.openxmlformats.org/officeDocument/2006/relationships/tags" Target="../tags/tag498.xml"/><Relationship Id="rId5" Type="http://schemas.openxmlformats.org/officeDocument/2006/relationships/tags" Target="../tags/tag497.xml"/><Relationship Id="rId4" Type="http://schemas.openxmlformats.org/officeDocument/2006/relationships/tags" Target="../tags/tag496.xml"/><Relationship Id="rId3" Type="http://schemas.openxmlformats.org/officeDocument/2006/relationships/tags" Target="../tags/tag495.xml"/><Relationship Id="rId2" Type="http://schemas.openxmlformats.org/officeDocument/2006/relationships/tags" Target="../tags/tag494.xml"/><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9" Type="http://schemas.openxmlformats.org/officeDocument/2006/relationships/tags" Target="../tags/tag509.xml"/><Relationship Id="rId8" Type="http://schemas.openxmlformats.org/officeDocument/2006/relationships/tags" Target="../tags/tag508.xml"/><Relationship Id="rId7" Type="http://schemas.openxmlformats.org/officeDocument/2006/relationships/tags" Target="../tags/tag507.xml"/><Relationship Id="rId6" Type="http://schemas.openxmlformats.org/officeDocument/2006/relationships/tags" Target="../tags/tag506.xml"/><Relationship Id="rId5" Type="http://schemas.openxmlformats.org/officeDocument/2006/relationships/tags" Target="../tags/tag505.xml"/><Relationship Id="rId4" Type="http://schemas.openxmlformats.org/officeDocument/2006/relationships/tags" Target="../tags/tag504.xml"/><Relationship Id="rId3" Type="http://schemas.openxmlformats.org/officeDocument/2006/relationships/tags" Target="../tags/tag503.xml"/><Relationship Id="rId2" Type="http://schemas.openxmlformats.org/officeDocument/2006/relationships/tags" Target="../tags/tag502.xml"/><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9" Type="http://schemas.openxmlformats.org/officeDocument/2006/relationships/tags" Target="../tags/tag517.xml"/><Relationship Id="rId8" Type="http://schemas.openxmlformats.org/officeDocument/2006/relationships/tags" Target="../tags/tag516.xml"/><Relationship Id="rId7" Type="http://schemas.openxmlformats.org/officeDocument/2006/relationships/tags" Target="../tags/tag515.xml"/><Relationship Id="rId6" Type="http://schemas.openxmlformats.org/officeDocument/2006/relationships/tags" Target="../tags/tag514.xml"/><Relationship Id="rId5" Type="http://schemas.openxmlformats.org/officeDocument/2006/relationships/tags" Target="../tags/tag513.xml"/><Relationship Id="rId4" Type="http://schemas.openxmlformats.org/officeDocument/2006/relationships/tags" Target="../tags/tag512.xml"/><Relationship Id="rId3" Type="http://schemas.openxmlformats.org/officeDocument/2006/relationships/tags" Target="../tags/tag511.xml"/><Relationship Id="rId2" Type="http://schemas.openxmlformats.org/officeDocument/2006/relationships/tags" Target="../tags/tag510.xml"/><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9" Type="http://schemas.openxmlformats.org/officeDocument/2006/relationships/tags" Target="../tags/tag525.xml"/><Relationship Id="rId8" Type="http://schemas.openxmlformats.org/officeDocument/2006/relationships/tags" Target="../tags/tag524.xml"/><Relationship Id="rId7" Type="http://schemas.openxmlformats.org/officeDocument/2006/relationships/tags" Target="../tags/tag523.xml"/><Relationship Id="rId6" Type="http://schemas.openxmlformats.org/officeDocument/2006/relationships/tags" Target="../tags/tag522.xml"/><Relationship Id="rId5" Type="http://schemas.openxmlformats.org/officeDocument/2006/relationships/tags" Target="../tags/tag521.xml"/><Relationship Id="rId4" Type="http://schemas.openxmlformats.org/officeDocument/2006/relationships/tags" Target="../tags/tag520.xml"/><Relationship Id="rId3" Type="http://schemas.openxmlformats.org/officeDocument/2006/relationships/tags" Target="../tags/tag519.xml"/><Relationship Id="rId2" Type="http://schemas.openxmlformats.org/officeDocument/2006/relationships/tags" Target="../tags/tag518.xml"/><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9" Type="http://schemas.openxmlformats.org/officeDocument/2006/relationships/tags" Target="../tags/tag533.xml"/><Relationship Id="rId8" Type="http://schemas.openxmlformats.org/officeDocument/2006/relationships/tags" Target="../tags/tag532.xml"/><Relationship Id="rId7" Type="http://schemas.openxmlformats.org/officeDocument/2006/relationships/tags" Target="../tags/tag531.xml"/><Relationship Id="rId6" Type="http://schemas.openxmlformats.org/officeDocument/2006/relationships/tags" Target="../tags/tag530.xml"/><Relationship Id="rId5" Type="http://schemas.openxmlformats.org/officeDocument/2006/relationships/tags" Target="../tags/tag529.xml"/><Relationship Id="rId4" Type="http://schemas.openxmlformats.org/officeDocument/2006/relationships/tags" Target="../tags/tag528.xml"/><Relationship Id="rId3" Type="http://schemas.openxmlformats.org/officeDocument/2006/relationships/tags" Target="../tags/tag527.xml"/><Relationship Id="rId2" Type="http://schemas.openxmlformats.org/officeDocument/2006/relationships/tags" Target="../tags/tag526.xml"/><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9" Type="http://schemas.openxmlformats.org/officeDocument/2006/relationships/tags" Target="../tags/tag541.xml"/><Relationship Id="rId8" Type="http://schemas.openxmlformats.org/officeDocument/2006/relationships/tags" Target="../tags/tag540.xml"/><Relationship Id="rId7" Type="http://schemas.openxmlformats.org/officeDocument/2006/relationships/tags" Target="../tags/tag539.xml"/><Relationship Id="rId6" Type="http://schemas.openxmlformats.org/officeDocument/2006/relationships/tags" Target="../tags/tag538.xml"/><Relationship Id="rId5" Type="http://schemas.openxmlformats.org/officeDocument/2006/relationships/tags" Target="../tags/tag537.xml"/><Relationship Id="rId4" Type="http://schemas.openxmlformats.org/officeDocument/2006/relationships/tags" Target="../tags/tag536.xml"/><Relationship Id="rId3" Type="http://schemas.openxmlformats.org/officeDocument/2006/relationships/tags" Target="../tags/tag535.xml"/><Relationship Id="rId2" Type="http://schemas.openxmlformats.org/officeDocument/2006/relationships/tags" Target="../tags/tag534.xml"/><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9" Type="http://schemas.openxmlformats.org/officeDocument/2006/relationships/tags" Target="../tags/tag549.xml"/><Relationship Id="rId8" Type="http://schemas.openxmlformats.org/officeDocument/2006/relationships/tags" Target="../tags/tag548.xml"/><Relationship Id="rId7" Type="http://schemas.openxmlformats.org/officeDocument/2006/relationships/tags" Target="../tags/tag547.xml"/><Relationship Id="rId6" Type="http://schemas.openxmlformats.org/officeDocument/2006/relationships/tags" Target="../tags/tag546.xml"/><Relationship Id="rId5" Type="http://schemas.openxmlformats.org/officeDocument/2006/relationships/tags" Target="../tags/tag545.xml"/><Relationship Id="rId4" Type="http://schemas.openxmlformats.org/officeDocument/2006/relationships/tags" Target="../tags/tag544.xml"/><Relationship Id="rId3" Type="http://schemas.openxmlformats.org/officeDocument/2006/relationships/tags" Target="../tags/tag543.xml"/><Relationship Id="rId2" Type="http://schemas.openxmlformats.org/officeDocument/2006/relationships/tags" Target="../tags/tag542.xml"/><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9" Type="http://schemas.openxmlformats.org/officeDocument/2006/relationships/tags" Target="../tags/tag557.xml"/><Relationship Id="rId8" Type="http://schemas.openxmlformats.org/officeDocument/2006/relationships/tags" Target="../tags/tag556.xml"/><Relationship Id="rId7" Type="http://schemas.openxmlformats.org/officeDocument/2006/relationships/tags" Target="../tags/tag555.xml"/><Relationship Id="rId6" Type="http://schemas.openxmlformats.org/officeDocument/2006/relationships/tags" Target="../tags/tag554.xml"/><Relationship Id="rId5" Type="http://schemas.openxmlformats.org/officeDocument/2006/relationships/tags" Target="../tags/tag553.xml"/><Relationship Id="rId4" Type="http://schemas.openxmlformats.org/officeDocument/2006/relationships/tags" Target="../tags/tag552.xml"/><Relationship Id="rId3" Type="http://schemas.openxmlformats.org/officeDocument/2006/relationships/tags" Target="../tags/tag551.xml"/><Relationship Id="rId2" Type="http://schemas.openxmlformats.org/officeDocument/2006/relationships/tags" Target="../tags/tag550.xml"/><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9" Type="http://schemas.openxmlformats.org/officeDocument/2006/relationships/tags" Target="../tags/tag565.xml"/><Relationship Id="rId8" Type="http://schemas.openxmlformats.org/officeDocument/2006/relationships/tags" Target="../tags/tag564.xml"/><Relationship Id="rId7" Type="http://schemas.openxmlformats.org/officeDocument/2006/relationships/tags" Target="../tags/tag563.xml"/><Relationship Id="rId6" Type="http://schemas.openxmlformats.org/officeDocument/2006/relationships/tags" Target="../tags/tag562.xml"/><Relationship Id="rId5" Type="http://schemas.openxmlformats.org/officeDocument/2006/relationships/tags" Target="../tags/tag561.xml"/><Relationship Id="rId4" Type="http://schemas.openxmlformats.org/officeDocument/2006/relationships/tags" Target="../tags/tag560.xml"/><Relationship Id="rId3" Type="http://schemas.openxmlformats.org/officeDocument/2006/relationships/tags" Target="../tags/tag559.xml"/><Relationship Id="rId2" Type="http://schemas.openxmlformats.org/officeDocument/2006/relationships/tags" Target="../tags/tag558.xml"/><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9" Type="http://schemas.openxmlformats.org/officeDocument/2006/relationships/tags" Target="../tags/tag573.xml"/><Relationship Id="rId8" Type="http://schemas.openxmlformats.org/officeDocument/2006/relationships/tags" Target="../tags/tag572.xml"/><Relationship Id="rId7" Type="http://schemas.openxmlformats.org/officeDocument/2006/relationships/tags" Target="../tags/tag571.xml"/><Relationship Id="rId6" Type="http://schemas.openxmlformats.org/officeDocument/2006/relationships/tags" Target="../tags/tag570.xml"/><Relationship Id="rId5" Type="http://schemas.openxmlformats.org/officeDocument/2006/relationships/tags" Target="../tags/tag569.xml"/><Relationship Id="rId4" Type="http://schemas.openxmlformats.org/officeDocument/2006/relationships/tags" Target="../tags/tag568.xml"/><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9" Type="http://schemas.openxmlformats.org/officeDocument/2006/relationships/tags" Target="../tags/tag581.xml"/><Relationship Id="rId8" Type="http://schemas.openxmlformats.org/officeDocument/2006/relationships/tags" Target="../tags/tag580.xml"/><Relationship Id="rId7" Type="http://schemas.openxmlformats.org/officeDocument/2006/relationships/tags" Target="../tags/tag579.xml"/><Relationship Id="rId6" Type="http://schemas.openxmlformats.org/officeDocument/2006/relationships/tags" Target="../tags/tag578.xml"/><Relationship Id="rId5" Type="http://schemas.openxmlformats.org/officeDocument/2006/relationships/tags" Target="../tags/tag577.xml"/><Relationship Id="rId4" Type="http://schemas.openxmlformats.org/officeDocument/2006/relationships/tags" Target="../tags/tag576.xml"/><Relationship Id="rId3" Type="http://schemas.openxmlformats.org/officeDocument/2006/relationships/tags" Target="../tags/tag575.xml"/><Relationship Id="rId2" Type="http://schemas.openxmlformats.org/officeDocument/2006/relationships/tags" Target="../tags/tag574.xml"/><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9" Type="http://schemas.openxmlformats.org/officeDocument/2006/relationships/tags" Target="../tags/tag589.xml"/><Relationship Id="rId8" Type="http://schemas.openxmlformats.org/officeDocument/2006/relationships/tags" Target="../tags/tag588.xml"/><Relationship Id="rId7" Type="http://schemas.openxmlformats.org/officeDocument/2006/relationships/tags" Target="../tags/tag587.xml"/><Relationship Id="rId6" Type="http://schemas.openxmlformats.org/officeDocument/2006/relationships/tags" Target="../tags/tag586.xml"/><Relationship Id="rId5" Type="http://schemas.openxmlformats.org/officeDocument/2006/relationships/tags" Target="../tags/tag585.xml"/><Relationship Id="rId4" Type="http://schemas.openxmlformats.org/officeDocument/2006/relationships/tags" Target="../tags/tag584.xml"/><Relationship Id="rId3" Type="http://schemas.openxmlformats.org/officeDocument/2006/relationships/tags" Target="../tags/tag583.xml"/><Relationship Id="rId2" Type="http://schemas.openxmlformats.org/officeDocument/2006/relationships/tags" Target="../tags/tag582.xml"/><Relationship Id="rId10"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5" Type="http://schemas.openxmlformats.org/officeDocument/2006/relationships/tags" Target="../tags/tag593.xml"/><Relationship Id="rId4" Type="http://schemas.openxmlformats.org/officeDocument/2006/relationships/tags" Target="../tags/tag592.xml"/><Relationship Id="rId3" Type="http://schemas.openxmlformats.org/officeDocument/2006/relationships/tags" Target="../tags/tag591.xml"/><Relationship Id="rId2" Type="http://schemas.openxmlformats.org/officeDocument/2006/relationships/tags" Target="../tags/tag590.xml"/><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4" Type="http://schemas.openxmlformats.org/officeDocument/2006/relationships/tags" Target="../tags/tag596.xml"/><Relationship Id="rId3" Type="http://schemas.openxmlformats.org/officeDocument/2006/relationships/tags" Target="../tags/tag595.xml"/><Relationship Id="rId2" Type="http://schemas.openxmlformats.org/officeDocument/2006/relationships/tags" Target="../tags/tag594.xml"/><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7" Type="http://schemas.openxmlformats.org/officeDocument/2006/relationships/tags" Target="../tags/tag602.xml"/><Relationship Id="rId6" Type="http://schemas.openxmlformats.org/officeDocument/2006/relationships/tags" Target="../tags/tag601.xml"/><Relationship Id="rId5" Type="http://schemas.openxmlformats.org/officeDocument/2006/relationships/tags" Target="../tags/tag600.xml"/><Relationship Id="rId4" Type="http://schemas.openxmlformats.org/officeDocument/2006/relationships/tags" Target="../tags/tag599.xml"/><Relationship Id="rId3" Type="http://schemas.openxmlformats.org/officeDocument/2006/relationships/tags" Target="../tags/tag598.xml"/><Relationship Id="rId2" Type="http://schemas.openxmlformats.org/officeDocument/2006/relationships/tags" Target="../tags/tag597.xml"/><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6" Type="http://schemas.openxmlformats.org/officeDocument/2006/relationships/tags" Target="../tags/tag607.xml"/><Relationship Id="rId5" Type="http://schemas.openxmlformats.org/officeDocument/2006/relationships/tags" Target="../tags/tag606.xml"/><Relationship Id="rId4" Type="http://schemas.openxmlformats.org/officeDocument/2006/relationships/tags" Target="../tags/tag605.xml"/><Relationship Id="rId3" Type="http://schemas.openxmlformats.org/officeDocument/2006/relationships/tags" Target="../tags/tag604.xml"/><Relationship Id="rId2" Type="http://schemas.openxmlformats.org/officeDocument/2006/relationships/tags" Target="../tags/tag603.xml"/><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5" Type="http://schemas.openxmlformats.org/officeDocument/2006/relationships/tags" Target="../tags/tag611.xml"/><Relationship Id="rId4" Type="http://schemas.openxmlformats.org/officeDocument/2006/relationships/tags" Target="../tags/tag610.xml"/><Relationship Id="rId3" Type="http://schemas.openxmlformats.org/officeDocument/2006/relationships/tags" Target="../tags/tag609.xml"/><Relationship Id="rId2" Type="http://schemas.openxmlformats.org/officeDocument/2006/relationships/tags" Target="../tags/tag608.xml"/><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6" Type="http://schemas.openxmlformats.org/officeDocument/2006/relationships/tags" Target="../tags/tag616.xml"/><Relationship Id="rId5" Type="http://schemas.openxmlformats.org/officeDocument/2006/relationships/tags" Target="../tags/tag615.xml"/><Relationship Id="rId4" Type="http://schemas.openxmlformats.org/officeDocument/2006/relationships/tags" Target="../tags/tag614.xml"/><Relationship Id="rId3" Type="http://schemas.openxmlformats.org/officeDocument/2006/relationships/tags" Target="../tags/tag613.xml"/><Relationship Id="rId2" Type="http://schemas.openxmlformats.org/officeDocument/2006/relationships/tags" Target="../tags/tag612.xml"/><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p:nvPr>
            <p:ph type="ftr" sz="quarter" idx="11"/>
            <p:custDataLst>
              <p:tags r:id="rId5"/>
            </p:custDataLst>
          </p:nvPr>
        </p:nvSpPr>
        <p:spPr/>
        <p:txBody>
          <a:bodyPr/>
          <a:lstStyle/>
          <a:p>
            <a:endParaRPr lang="zh-CN" altLang="en-US" dirty="0"/>
          </a:p>
        </p:txBody>
      </p:sp>
      <p:sp>
        <p:nvSpPr>
          <p:cNvPr id="18" name="灯片编号占位符 17"/>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p:nvPr>
            <p:ph type="ftr" sz="quarter" idx="11"/>
            <p:custDataLst>
              <p:tags r:id="rId5"/>
            </p:custDataLst>
          </p:nvPr>
        </p:nvSpPr>
        <p:spPr/>
        <p:txBody>
          <a:bodyPr/>
          <a:lstStyle/>
          <a:p>
            <a:endParaRPr lang="zh-CN" altLang="en-US"/>
          </a:p>
        </p:txBody>
      </p:sp>
      <p:sp>
        <p:nvSpPr>
          <p:cNvPr id="6" name="灯片编号占位符 5"/>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7" name="矩形 6"/>
          <p:cNvSpPr/>
          <p:nvPr userDrawn="1"/>
        </p:nvSpPr>
        <p:spPr>
          <a:xfrm>
            <a:off x="207645" y="239395"/>
            <a:ext cx="11776710" cy="637921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君黑-45简" charset="-122"/>
            </a:endParaRPr>
          </a:p>
        </p:txBody>
      </p:sp>
      <p:pic>
        <p:nvPicPr>
          <p:cNvPr id="8" name="图片 7" descr="C:\Users\Administrator\Desktop\新股专题PC.jpg新股专题PC"/>
          <p:cNvPicPr>
            <a:picLocks noChangeAspect="1"/>
          </p:cNvPicPr>
          <p:nvPr userDrawn="1"/>
        </p:nvPicPr>
        <p:blipFill>
          <a:blip r:embed="rId7"/>
          <a:srcRect/>
          <a:stretch>
            <a:fillRect/>
          </a:stretch>
        </p:blipFill>
        <p:spPr>
          <a:xfrm>
            <a:off x="5080" y="318"/>
            <a:ext cx="12188190" cy="6857365"/>
          </a:xfrm>
          <a:prstGeom prst="rect">
            <a:avLst/>
          </a:prstGeom>
        </p:spPr>
      </p:pic>
    </p:spTree>
  </p:cSld>
  <p:clrMapOvr>
    <a:masterClrMapping/>
  </p:clrMapOvr>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p:nvPr>
            <p:ph type="body" idx="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p:nvPr>
            <p:ph type="ftr" sz="quarter" idx="11"/>
            <p:custDataLst>
              <p:tags r:id="rId5"/>
            </p:custDataLst>
          </p:nvPr>
        </p:nvSpPr>
        <p:spPr/>
        <p:txBody>
          <a:bodyPr/>
          <a:lstStyle/>
          <a:p>
            <a:endParaRPr lang="zh-CN" altLang="en-US"/>
          </a:p>
        </p:txBody>
      </p:sp>
      <p:sp>
        <p:nvSpPr>
          <p:cNvPr id="6" name="灯片编号占位符 5"/>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p:nvPr>
            <p:ph type="ftr" sz="quarter" idx="11"/>
            <p:custDataLst>
              <p:tags r:id="rId6"/>
            </p:custDataLst>
          </p:nvPr>
        </p:nvSpPr>
        <p:spPr/>
        <p:txBody>
          <a:bodyPr/>
          <a:lstStyle/>
          <a:p>
            <a:endParaRPr lang="zh-CN" altLang="en-US"/>
          </a:p>
        </p:txBody>
      </p:sp>
      <p:sp>
        <p:nvSpPr>
          <p:cNvPr id="7" name="灯片编号占位符 6"/>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4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6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7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8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9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10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11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12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13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14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15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6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17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18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19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20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21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22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23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24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25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26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27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28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29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30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31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32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33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34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35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36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37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38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39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40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41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42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43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44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45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46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47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48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49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50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51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52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53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54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55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56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57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58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59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60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61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62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63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64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65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66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67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68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69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70_比较">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p:nvPr>
            <p:ph type="ftr" sz="quarter" idx="11"/>
            <p:custDataLst>
              <p:tags r:id="rId8"/>
            </p:custDataLst>
          </p:nvPr>
        </p:nvSpPr>
        <p:spPr/>
        <p:txBody>
          <a:bodyPr/>
          <a:lstStyle/>
          <a:p>
            <a:endParaRPr lang="zh-CN" altLang="en-US"/>
          </a:p>
        </p:txBody>
      </p:sp>
      <p:sp>
        <p:nvSpPr>
          <p:cNvPr id="9" name="灯片编号占位符 8"/>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TextBox 9"/>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itchFamily="34" charset="-122"/>
                <a:ea typeface="微软雅黑" pitchFamily="34" charset="-122"/>
                <a:hlinkClick r:id="rId10"/>
              </a:rPr>
              <a:t>行业</a:t>
            </a:r>
            <a:r>
              <a:rPr lang="en-US" altLang="zh-CN" sz="100" dirty="0">
                <a:solidFill>
                  <a:schemeClr val="tx1">
                    <a:alpha val="0"/>
                  </a:schemeClr>
                </a:solidFill>
                <a:latin typeface="微软雅黑" pitchFamily="34" charset="-122"/>
                <a:ea typeface="微软雅黑" pitchFamily="34" charset="-122"/>
                <a:hlinkClick r:id="rId10"/>
              </a:rPr>
              <a:t>PPT</a:t>
            </a:r>
            <a:r>
              <a:rPr lang="zh-CN" altLang="en-US" sz="100" dirty="0">
                <a:solidFill>
                  <a:schemeClr val="tx1">
                    <a:alpha val="0"/>
                  </a:schemeClr>
                </a:solidFill>
                <a:latin typeface="微软雅黑" pitchFamily="34" charset="-122"/>
                <a:ea typeface="微软雅黑" pitchFamily="34" charset="-122"/>
                <a:hlinkClick r:id="rId10"/>
              </a:rPr>
              <a:t>模板</a:t>
            </a:r>
            <a:r>
              <a:rPr lang="en-US" altLang="zh-CN" sz="100" dirty="0">
                <a:solidFill>
                  <a:schemeClr val="tx1">
                    <a:alpha val="0"/>
                  </a:schemeClr>
                </a:solidFill>
                <a:latin typeface="微软雅黑" pitchFamily="34" charset="-122"/>
                <a:ea typeface="微软雅黑" pitchFamily="34" charset="-122"/>
              </a:rPr>
              <a:t>http://www.1ppt.com/hangye/</a:t>
            </a:r>
            <a:endParaRPr lang="en-US" altLang="zh-CN" sz="100" dirty="0">
              <a:solidFill>
                <a:schemeClr val="tx1">
                  <a:alpha val="0"/>
                </a:schemeClr>
              </a:solidFill>
              <a:latin typeface="微软雅黑" pitchFamily="34" charset="-122"/>
              <a:ea typeface="微软雅黑" pitchFamily="34" charset="-122"/>
            </a:endParaRPr>
          </a:p>
        </p:txBody>
      </p:sp>
    </p:spTree>
  </p:cSld>
  <p:clrMapOvr>
    <a:masterClrMapping/>
  </p:clrMapOvr>
  <p:hf sldNum="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p:nvPr>
            <p:ph type="ftr" sz="quarter" idx="11"/>
            <p:custDataLst>
              <p:tags r:id="rId4"/>
            </p:custDataLst>
          </p:nvPr>
        </p:nvSpPr>
        <p:spPr/>
        <p:txBody>
          <a:bodyPr/>
          <a:lstStyle/>
          <a:p>
            <a:endParaRPr lang="zh-CN" altLang="en-US"/>
          </a:p>
        </p:txBody>
      </p:sp>
      <p:sp>
        <p:nvSpPr>
          <p:cNvPr id="5" name="灯片编号占位符 4"/>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p:nvPr>
            <p:ph type="ftr" sz="quarter" idx="11"/>
            <p:custDataLst>
              <p:tags r:id="rId3"/>
            </p:custDataLst>
          </p:nvPr>
        </p:nvSpPr>
        <p:spPr/>
        <p:txBody>
          <a:bodyPr/>
          <a:lstStyle/>
          <a:p>
            <a:endParaRPr lang="zh-CN" altLang="en-US"/>
          </a:p>
        </p:txBody>
      </p:sp>
      <p:sp>
        <p:nvSpPr>
          <p:cNvPr id="4" name="灯片编号占位符 3"/>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p:nvPr>
            <p:ph type="ftr" sz="quarter" idx="11"/>
            <p:custDataLst>
              <p:tags r:id="rId5"/>
            </p:custDataLst>
          </p:nvPr>
        </p:nvSpPr>
        <p:spPr/>
        <p:txBody>
          <a:bodyPr/>
          <a:lstStyle/>
          <a:p>
            <a:endParaRPr lang="zh-CN" altLang="en-US" dirty="0"/>
          </a:p>
        </p:txBody>
      </p:sp>
      <p:sp>
        <p:nvSpPr>
          <p:cNvPr id="7" name="灯片编号占位符 6"/>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hf sldNum="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p:nvPr>
            <p:ph type="title" orient="vert"/>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p:nvPr>
            <p:ph type="ftr" sz="quarter" idx="11"/>
            <p:custDataLst>
              <p:tags r:id="rId5"/>
            </p:custDataLst>
          </p:nvPr>
        </p:nvSpPr>
        <p:spPr/>
        <p:txBody>
          <a:bodyPr/>
          <a:lstStyle/>
          <a:p>
            <a:endParaRPr lang="zh-CN" altLang="en-US"/>
          </a:p>
        </p:txBody>
      </p:sp>
      <p:sp>
        <p:nvSpPr>
          <p:cNvPr id="6" name="灯片编号占位符 5"/>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sldNum="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p:nvPr>
            <p:ph type="ftr" sz="quarter" idx="11"/>
            <p:custDataLst>
              <p:tags r:id="rId3"/>
            </p:custDataLst>
          </p:nvPr>
        </p:nvSpPr>
        <p:spPr/>
        <p:txBody>
          <a:bodyPr/>
          <a:lstStyle/>
          <a:p>
            <a:endParaRPr lang="zh-CN" altLang="en-US"/>
          </a:p>
        </p:txBody>
      </p:sp>
      <p:sp>
        <p:nvSpPr>
          <p:cNvPr id="5" name="灯片编号占位符 4"/>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sldNum="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p:nvPr>
            <p:ph type="ftr" sz="quarter" idx="11"/>
            <p:custDataLst>
              <p:tags r:id="rId3"/>
            </p:custDataLst>
          </p:nvPr>
        </p:nvSpPr>
        <p:spPr/>
        <p:txBody>
          <a:bodyPr/>
          <a:lstStyle/>
          <a:p>
            <a:endParaRPr lang="zh-CN" altLang="en-US"/>
          </a:p>
        </p:txBody>
      </p:sp>
      <p:sp>
        <p:nvSpPr>
          <p:cNvPr id="5" name="灯片编号占位符 4"/>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p:nvPr>
            <p:ph type="title"/>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hf sldNum="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7" Type="http://schemas.openxmlformats.org/officeDocument/2006/relationships/theme" Target="../theme/theme1.xml"/><Relationship Id="rId86" Type="http://schemas.openxmlformats.org/officeDocument/2006/relationships/tags" Target="../tags/tag621.xml"/><Relationship Id="rId85" Type="http://schemas.openxmlformats.org/officeDocument/2006/relationships/tags" Target="../tags/tag620.xml"/><Relationship Id="rId84" Type="http://schemas.openxmlformats.org/officeDocument/2006/relationships/tags" Target="../tags/tag619.xml"/><Relationship Id="rId83" Type="http://schemas.openxmlformats.org/officeDocument/2006/relationships/tags" Target="../tags/tag618.xml"/><Relationship Id="rId82" Type="http://schemas.openxmlformats.org/officeDocument/2006/relationships/tags" Target="../tags/tag617.xml"/><Relationship Id="rId81" Type="http://schemas.openxmlformats.org/officeDocument/2006/relationships/slideLayout" Target="../slideLayouts/slideLayout81.xml"/><Relationship Id="rId80" Type="http://schemas.openxmlformats.org/officeDocument/2006/relationships/slideLayout" Target="../slideLayouts/slideLayout80.xml"/><Relationship Id="rId8" Type="http://schemas.openxmlformats.org/officeDocument/2006/relationships/slideLayout" Target="../slideLayouts/slideLayout8.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7" Type="http://schemas.openxmlformats.org/officeDocument/2006/relationships/slideLayout" Target="../slideLayouts/slideLayout7.xml"/><Relationship Id="rId69" Type="http://schemas.openxmlformats.org/officeDocument/2006/relationships/slideLayout" Target="../slideLayouts/slideLayout69.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0" Type="http://schemas.openxmlformats.org/officeDocument/2006/relationships/slideLayout" Target="../slideLayouts/slideLayout60.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84.xml"/><Relationship Id="rId2" Type="http://schemas.openxmlformats.org/officeDocument/2006/relationships/slideLayout" Target="../slideLayouts/slideLayout83.xml"/><Relationship Id="rId1"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custDataLst>
              <p:tags r:id="rId8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p:nvPr>
            <p:ph type="body" idx="1"/>
            <p:custDataLst>
              <p:tags r:id="rId8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p:nvPr>
            <p:ph type="dt" sz="half" idx="2"/>
            <p:custDataLst>
              <p:tags r:id="rId8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君黑-45简" charset="-122"/>
                <a:ea typeface="汉仪君黑-45简" charset="-122"/>
                <a:cs typeface="汉仪君黑-45简" charset="-122"/>
              </a:defRPr>
            </a:lvl1pPr>
          </a:lstStyle>
          <a:p>
            <a:fld id="{760FBDFE-C587-4B4C-A407-44438C67B59E}" type="datetimeFigureOut">
              <a:rPr lang="zh-CN" altLang="en-US" smtClean="0"/>
            </a:fld>
            <a:endParaRPr lang="zh-CN" altLang="en-US"/>
          </a:p>
        </p:txBody>
      </p:sp>
      <p:sp>
        <p:nvSpPr>
          <p:cNvPr id="5" name="页脚占位符 4"/>
          <p:cNvSpPr/>
          <p:nvPr>
            <p:ph type="ftr" sz="quarter" idx="3"/>
            <p:custDataLst>
              <p:tags r:id="rId8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君黑-45简" charset="-122"/>
                <a:ea typeface="汉仪君黑-45简" charset="-122"/>
                <a:cs typeface="汉仪君黑-45简" charset="-122"/>
              </a:defRPr>
            </a:lvl1pPr>
          </a:lstStyle>
          <a:p>
            <a:endParaRPr lang="zh-CN" altLang="en-US" dirty="0"/>
          </a:p>
        </p:txBody>
      </p:sp>
      <p:sp>
        <p:nvSpPr>
          <p:cNvPr id="6" name="灯片编号占位符 5"/>
          <p:cNvSpPr/>
          <p:nvPr>
            <p:ph type="sldNum" sz="quarter" idx="4"/>
            <p:custDataLst>
              <p:tags r:id="rId8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君黑-45简" charset="-122"/>
                <a:ea typeface="汉仪君黑-45简" charset="-122"/>
                <a:cs typeface="汉仪君黑-45简" charset="-122"/>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 id="2147483727" r:id="rId79"/>
    <p:sldLayoutId id="2147483728" r:id="rId80"/>
    <p:sldLayoutId id="2147483729" r:id="rId81"/>
  </p:sldLayoutIdLst>
  <p:hf sldNum="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君黑-45简" charset="-122"/>
          <a:ea typeface="汉仪君黑-45简" charset="-122"/>
          <a:cs typeface="汉仪君黑-45简" charset="-122"/>
        </a:defRPr>
      </a:lvl1pPr>
    </p:titleStyle>
    <p:bodyStyle>
      <a:lvl1pPr marL="228600" indent="-228600" algn="l" defTabSz="914400" rtl="0" eaLnBrk="1" fontAlgn="auto" latinLnBrk="0" hangingPunct="1">
        <a:lnSpc>
          <a:spcPct val="130000"/>
        </a:lnSpc>
        <a:spcBef>
          <a:spcPts val="0"/>
        </a:spcBef>
        <a:spcAft>
          <a:spcPts val="1000"/>
        </a:spcAft>
        <a:buFont typeface="Arial" charset="0"/>
        <a:buChar char="●"/>
        <a:defRPr sz="1800" u="none" strike="noStrike" kern="1200" cap="none" spc="150" normalizeH="0" baseline="0">
          <a:solidFill>
            <a:schemeClr val="tx1">
              <a:lumMod val="65000"/>
              <a:lumOff val="35000"/>
            </a:schemeClr>
          </a:solidFill>
          <a:uFillTx/>
          <a:latin typeface="汉仪君黑-45简" charset="-122"/>
          <a:ea typeface="汉仪君黑-45简" charset="-122"/>
          <a:cs typeface="汉仪君黑-45简" charset="-122"/>
        </a:defRPr>
      </a:lvl1pPr>
      <a:lvl2pPr marL="685800" indent="-228600" algn="l" defTabSz="914400" rtl="0" eaLnBrk="1" fontAlgn="auto" latinLnBrk="0" hangingPunct="1">
        <a:lnSpc>
          <a:spcPct val="120000"/>
        </a:lnSpc>
        <a:spcBef>
          <a:spcPts val="0"/>
        </a:spcBef>
        <a:spcAft>
          <a:spcPts val="600"/>
        </a:spcAft>
        <a:buFont typeface="Arial"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君黑-45简" charset="-122"/>
          <a:ea typeface="汉仪君黑-45简" charset="-122"/>
          <a:cs typeface="汉仪君黑-45简" charset="-122"/>
        </a:defRPr>
      </a:lvl2pPr>
      <a:lvl3pPr marL="1143000" indent="-228600" algn="l" defTabSz="914400" rtl="0" eaLnBrk="1" fontAlgn="auto" latinLnBrk="0" hangingPunct="1">
        <a:lnSpc>
          <a:spcPct val="120000"/>
        </a:lnSpc>
        <a:spcBef>
          <a:spcPts val="0"/>
        </a:spcBef>
        <a:spcAft>
          <a:spcPts val="600"/>
        </a:spcAft>
        <a:buFont typeface="Arial" charset="0"/>
        <a:buChar char="●"/>
        <a:defRPr sz="1600" u="none" strike="noStrike" kern="1200" cap="none" spc="150" normalizeH="0" baseline="0">
          <a:solidFill>
            <a:schemeClr val="tx1">
              <a:lumMod val="65000"/>
              <a:lumOff val="35000"/>
            </a:schemeClr>
          </a:solidFill>
          <a:uFillTx/>
          <a:latin typeface="汉仪君黑-45简" charset="-122"/>
          <a:ea typeface="汉仪君黑-45简" charset="-122"/>
          <a:cs typeface="汉仪君黑-45简" charset="-122"/>
        </a:defRPr>
      </a:lvl3pPr>
      <a:lvl4pPr marL="1600200" indent="-228600" algn="l" defTabSz="914400" rtl="0" eaLnBrk="1" fontAlgn="auto" latinLnBrk="0" hangingPunct="1">
        <a:lnSpc>
          <a:spcPct val="120000"/>
        </a:lnSpc>
        <a:spcBef>
          <a:spcPts val="0"/>
        </a:spcBef>
        <a:spcAft>
          <a:spcPts val="300"/>
        </a:spcAft>
        <a:buFont typeface="Wingdings" charset="2"/>
        <a:buChar char=""/>
        <a:defRPr sz="1400" u="none" strike="noStrike" kern="1200" cap="none" spc="150" normalizeH="0" baseline="0">
          <a:solidFill>
            <a:schemeClr val="tx1">
              <a:lumMod val="65000"/>
              <a:lumOff val="35000"/>
            </a:schemeClr>
          </a:solidFill>
          <a:uFillTx/>
          <a:latin typeface="汉仪君黑-45简" charset="-122"/>
          <a:ea typeface="汉仪君黑-45简" charset="-122"/>
          <a:cs typeface="汉仪君黑-45简" charset="-122"/>
        </a:defRPr>
      </a:lvl4pPr>
      <a:lvl5pPr marL="2057400" indent="-228600" algn="l" defTabSz="914400" rtl="0" eaLnBrk="1" fontAlgn="auto" latinLnBrk="0" hangingPunct="1">
        <a:lnSpc>
          <a:spcPct val="120000"/>
        </a:lnSpc>
        <a:spcBef>
          <a:spcPts val="0"/>
        </a:spcBef>
        <a:spcAft>
          <a:spcPts val="300"/>
        </a:spcAft>
        <a:buFont typeface="Arial" charset="0"/>
        <a:buChar char="•"/>
        <a:defRPr sz="1400" u="none" strike="noStrike" kern="1200" cap="none" spc="150" normalizeH="0" baseline="0">
          <a:solidFill>
            <a:schemeClr val="tx1">
              <a:lumMod val="65000"/>
              <a:lumOff val="35000"/>
            </a:schemeClr>
          </a:solidFill>
          <a:uFillTx/>
          <a:latin typeface="汉仪君黑-45简" charset="-122"/>
          <a:ea typeface="汉仪君黑-45简" charset="-122"/>
          <a:cs typeface="汉仪君黑-45简" charset="-122"/>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62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24.xml"/><Relationship Id="rId2" Type="http://schemas.openxmlformats.org/officeDocument/2006/relationships/tags" Target="../tags/tag62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25.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6.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27.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8.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29.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630.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31.xml"/><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32.xml"/><Relationship Id="rId2" Type="http://schemas.openxmlformats.org/officeDocument/2006/relationships/image" Target="../media/image16.png"/><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33.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34.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35.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38.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39.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0.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2.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3.xml"/><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6.xml"/><Relationship Id="rId1"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小视频.png小视频"/>
          <p:cNvPicPr>
            <a:picLocks noChangeAspect="1"/>
          </p:cNvPicPr>
          <p:nvPr/>
        </p:nvPicPr>
        <p:blipFill>
          <a:blip r:embed="rId1"/>
          <a:srcRect/>
          <a:stretch>
            <a:fillRect/>
          </a:stretch>
        </p:blipFill>
        <p:spPr>
          <a:xfrm>
            <a:off x="2223" y="0"/>
            <a:ext cx="12190095" cy="6858000"/>
          </a:xfrm>
          <a:prstGeom prst="rect">
            <a:avLst/>
          </a:prstGeom>
          <a:noFill/>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 name="文本框 4"/>
          <p:cNvSpPr txBox="1"/>
          <p:nvPr/>
        </p:nvSpPr>
        <p:spPr>
          <a:xfrm>
            <a:off x="635" y="2303780"/>
            <a:ext cx="12191365" cy="3415030"/>
          </a:xfrm>
          <a:prstGeom prst="rect">
            <a:avLst/>
          </a:prstGeom>
          <a:noFill/>
        </p:spPr>
        <p:txBody>
          <a:bodyPr wrap="square" rtlCol="0">
            <a:spAutoFit/>
          </a:bodyPr>
          <a:lstStyle/>
          <a:p>
            <a:pPr algn="ctr"/>
            <a:r>
              <a:rPr lang="zh-CN" altLang="en-US" sz="7200" b="1" dirty="0">
                <a:cs typeface="+mn-ea"/>
                <a:sym typeface="+mn-lt"/>
              </a:rPr>
              <a:t>油滴的布朗运动实验答辩</a:t>
            </a:r>
            <a:endParaRPr lang="en-US" altLang="zh-CN" sz="7200" b="1" dirty="0">
              <a:cs typeface="+mn-ea"/>
              <a:sym typeface="+mn-lt"/>
            </a:endParaRPr>
          </a:p>
          <a:p>
            <a:pPr algn="ctr"/>
            <a:endParaRPr lang="zh-CN" altLang="en-US" sz="7200" dirty="0">
              <a:cs typeface="+mn-ea"/>
              <a:sym typeface="+mn-lt"/>
            </a:endParaRPr>
          </a:p>
          <a:p>
            <a:pPr algn="ctr"/>
            <a:endParaRPr altLang="zh-CN" sz="7200" b="1" spc="600" dirty="0">
              <a:solidFill>
                <a:srgbClr val="56657C"/>
              </a:solidFill>
              <a:cs typeface="+mn-ea"/>
              <a:sym typeface="+mn-lt"/>
            </a:endParaRPr>
          </a:p>
        </p:txBody>
      </p:sp>
      <p:grpSp>
        <p:nvGrpSpPr>
          <p:cNvPr id="7" name="组合 6"/>
          <p:cNvGrpSpPr/>
          <p:nvPr/>
        </p:nvGrpSpPr>
        <p:grpSpPr>
          <a:xfrm>
            <a:off x="4037648" y="4325620"/>
            <a:ext cx="3928110" cy="500380"/>
            <a:chOff x="6112" y="7063"/>
            <a:chExt cx="6186" cy="788"/>
          </a:xfrm>
        </p:grpSpPr>
        <p:sp>
          <p:nvSpPr>
            <p:cNvPr id="12" name="矩形 11"/>
            <p:cNvSpPr/>
            <p:nvPr/>
          </p:nvSpPr>
          <p:spPr>
            <a:xfrm>
              <a:off x="6112" y="7063"/>
              <a:ext cx="5863" cy="591"/>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文本框 13"/>
            <p:cNvSpPr txBox="1"/>
            <p:nvPr/>
          </p:nvSpPr>
          <p:spPr>
            <a:xfrm>
              <a:off x="6421" y="7126"/>
              <a:ext cx="5877" cy="725"/>
            </a:xfrm>
            <a:prstGeom prst="rect">
              <a:avLst/>
            </a:prstGeom>
            <a:noFill/>
          </p:spPr>
          <p:txBody>
            <a:bodyPr wrap="square" rtlCol="0">
              <a:spAutoFit/>
            </a:bodyPr>
            <a:lstStyle/>
            <a:p>
              <a:pPr algn="ctr"/>
              <a:r>
                <a:rPr lang="zh-CN" altLang="en-US" sz="1200" dirty="0">
                  <a:solidFill>
                    <a:schemeClr val="bg1"/>
                  </a:solidFill>
                  <a:cs typeface="+mn-ea"/>
                  <a:sym typeface="+mn-lt"/>
                </a:rPr>
                <a:t>答辩人：</a:t>
              </a:r>
              <a:r>
                <a:rPr lang="zh-CN" altLang="en-US" sz="1200">
                  <a:solidFill>
                    <a:schemeClr val="bg2"/>
                  </a:solidFill>
                  <a:sym typeface="+mn-ea"/>
                </a:rPr>
                <a:t>芮煜涵</a:t>
              </a:r>
              <a:r>
                <a:rPr lang="en-US" altLang="zh-CN" sz="1200">
                  <a:solidFill>
                    <a:schemeClr val="bg2"/>
                  </a:solidFill>
                  <a:sym typeface="+mn-ea"/>
                </a:rPr>
                <a:t> </a:t>
              </a:r>
              <a:r>
                <a:rPr lang="zh-CN" altLang="en-US" sz="1200">
                  <a:solidFill>
                    <a:schemeClr val="bg2"/>
                  </a:solidFill>
                  <a:sym typeface="+mn-ea"/>
                </a:rPr>
                <a:t>赵康睿</a:t>
              </a:r>
              <a:r>
                <a:rPr lang="en-US" altLang="zh-CN" sz="1200">
                  <a:solidFill>
                    <a:schemeClr val="bg2"/>
                  </a:solidFill>
                  <a:sym typeface="+mn-ea"/>
                </a:rPr>
                <a:t> </a:t>
              </a:r>
              <a:r>
                <a:rPr lang="zh-CN" altLang="en-US" sz="1200">
                  <a:solidFill>
                    <a:schemeClr val="bg2"/>
                  </a:solidFill>
                  <a:sym typeface="+mn-ea"/>
                </a:rPr>
                <a:t>赵勋</a:t>
              </a:r>
              <a:r>
                <a:rPr lang="en-US" altLang="zh-CN" sz="1200">
                  <a:solidFill>
                    <a:schemeClr val="bg2"/>
                  </a:solidFill>
                  <a:sym typeface="+mn-ea"/>
                </a:rPr>
                <a:t> </a:t>
              </a:r>
              <a:r>
                <a:rPr lang="zh-CN" altLang="en-US" sz="1200">
                  <a:solidFill>
                    <a:schemeClr val="bg2"/>
                  </a:solidFill>
                  <a:sym typeface="+mn-ea"/>
                </a:rPr>
                <a:t>何衍宁</a:t>
              </a:r>
              <a:endParaRPr lang="zh-CN" altLang="en-US" sz="1200">
                <a:solidFill>
                  <a:schemeClr val="bg2"/>
                </a:solidFill>
              </a:endParaRPr>
            </a:p>
            <a:p>
              <a:pPr algn="ctr"/>
              <a:endParaRPr lang="zh-CN" altLang="en-US" sz="1200" dirty="0">
                <a:solidFill>
                  <a:schemeClr val="bg2"/>
                </a:solidFill>
                <a:cs typeface="+mn-ea"/>
                <a:sym typeface="+mn-lt"/>
              </a:endParaRPr>
            </a:p>
          </p:txBody>
        </p:sp>
      </p:grpSp>
      <p:sp>
        <p:nvSpPr>
          <p:cNvPr id="18" name="文本框 17"/>
          <p:cNvSpPr txBox="1"/>
          <p:nvPr/>
        </p:nvSpPr>
        <p:spPr>
          <a:xfrm>
            <a:off x="3113314" y="3407680"/>
            <a:ext cx="5936343" cy="553085"/>
          </a:xfrm>
          <a:prstGeom prst="rect">
            <a:avLst/>
          </a:prstGeom>
          <a:noFill/>
        </p:spPr>
        <p:txBody>
          <a:bodyPr wrap="square" rtlCol="0">
            <a:spAutoFit/>
          </a:bodyPr>
          <a:lstStyle/>
          <a:p>
            <a:pPr fontAlgn="auto">
              <a:lnSpc>
                <a:spcPct val="150000"/>
              </a:lnSpc>
            </a:pPr>
            <a:r>
              <a:rPr lang="zh-CN" altLang="en-US" sz="1000" dirty="0">
                <a:solidFill>
                  <a:schemeClr val="bg1">
                    <a:lumMod val="50000"/>
                  </a:schemeClr>
                </a:solidFill>
                <a:cs typeface="+mn-ea"/>
                <a:sym typeface="+mn-lt"/>
              </a:rPr>
              <a:t>.</a:t>
            </a:r>
            <a:endParaRPr lang="zh-CN" altLang="en-US" sz="1000" dirty="0">
              <a:solidFill>
                <a:schemeClr val="bg1">
                  <a:lumMod val="50000"/>
                </a:schemeClr>
              </a:solidFill>
              <a:cs typeface="+mn-ea"/>
              <a:sym typeface="+mn-lt"/>
            </a:endParaRPr>
          </a:p>
          <a:p>
            <a:pPr fontAlgn="auto">
              <a:lnSpc>
                <a:spcPct val="150000"/>
              </a:lnSpc>
            </a:pPr>
            <a:endParaRPr lang="zh-CN" altLang="en-US" sz="1000" dirty="0">
              <a:solidFill>
                <a:schemeClr val="bg1">
                  <a:lumMod val="50000"/>
                </a:schemeClr>
              </a:solidFill>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小视频.png小视频"/>
          <p:cNvPicPr>
            <a:picLocks noChangeAspect="1"/>
          </p:cNvPicPr>
          <p:nvPr/>
        </p:nvPicPr>
        <p:blipFill>
          <a:blip r:embed="rId1"/>
          <a:srcRect/>
          <a:stretch>
            <a:fillRect/>
          </a:stretch>
        </p:blipFill>
        <p:spPr>
          <a:xfrm>
            <a:off x="39688" y="0"/>
            <a:ext cx="12190095" cy="6858000"/>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2" name="圆角矩形 51"/>
          <p:cNvSpPr/>
          <p:nvPr/>
        </p:nvSpPr>
        <p:spPr>
          <a:xfrm>
            <a:off x="2389505" y="2331085"/>
            <a:ext cx="500380" cy="500380"/>
          </a:xfrm>
          <a:prstGeom prst="roundRect">
            <a:avLst>
              <a:gd name="adj" fmla="val 50000"/>
            </a:avLst>
          </a:prstGeom>
          <a:solidFill>
            <a:srgbClr val="6576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65000"/>
                </a:schemeClr>
              </a:solidFill>
              <a:cs typeface="+mn-ea"/>
              <a:sym typeface="+mn-lt"/>
            </a:endParaRPr>
          </a:p>
        </p:txBody>
      </p:sp>
      <p:sp>
        <p:nvSpPr>
          <p:cNvPr id="19" name="文本框 18"/>
          <p:cNvSpPr txBox="1"/>
          <p:nvPr/>
        </p:nvSpPr>
        <p:spPr>
          <a:xfrm>
            <a:off x="2877185" y="2258060"/>
            <a:ext cx="2976880" cy="460375"/>
          </a:xfrm>
          <a:prstGeom prst="rect">
            <a:avLst/>
          </a:prstGeom>
          <a:noFill/>
        </p:spPr>
        <p:txBody>
          <a:bodyPr wrap="square" rtlCol="0">
            <a:spAutoFit/>
          </a:bodyPr>
          <a:lstStyle/>
          <a:p>
            <a:pPr algn="l"/>
            <a:r>
              <a:rPr lang="zh-CN" altLang="en-US" sz="2400" b="1">
                <a:solidFill>
                  <a:srgbClr val="495176"/>
                </a:solidFill>
                <a:effectLst/>
                <a:cs typeface="+mn-ea"/>
                <a:sym typeface="+mn-lt"/>
              </a:rPr>
              <a:t>实验目的</a:t>
            </a:r>
            <a:endParaRPr lang="zh-CN" altLang="en-US" sz="2400" b="1">
              <a:solidFill>
                <a:srgbClr val="495176"/>
              </a:solidFill>
              <a:effectLst/>
              <a:cs typeface="+mn-ea"/>
              <a:sym typeface="+mn-lt"/>
            </a:endParaRPr>
          </a:p>
        </p:txBody>
      </p:sp>
      <p:sp>
        <p:nvSpPr>
          <p:cNvPr id="55" name="文本框 54"/>
          <p:cNvSpPr txBox="1"/>
          <p:nvPr/>
        </p:nvSpPr>
        <p:spPr>
          <a:xfrm>
            <a:off x="2364740" y="2350770"/>
            <a:ext cx="527685" cy="461645"/>
          </a:xfrm>
          <a:prstGeom prst="rect">
            <a:avLst/>
          </a:prstGeom>
          <a:noFill/>
        </p:spPr>
        <p:txBody>
          <a:bodyPr wrap="none" rtlCol="0">
            <a:spAutoFit/>
          </a:bodyPr>
          <a:lstStyle/>
          <a:p>
            <a:r>
              <a:rPr lang="en-US" altLang="zh-CN" sz="2400">
                <a:solidFill>
                  <a:srgbClr val="FAFAFA"/>
                </a:solidFill>
                <a:cs typeface="+mn-ea"/>
                <a:sym typeface="+mn-lt"/>
              </a:rPr>
              <a:t>01</a:t>
            </a:r>
            <a:endParaRPr lang="en-US" altLang="zh-CN" sz="2400">
              <a:solidFill>
                <a:srgbClr val="FAFAFA"/>
              </a:solidFill>
              <a:cs typeface="+mn-ea"/>
              <a:sym typeface="+mn-lt"/>
            </a:endParaRPr>
          </a:p>
        </p:txBody>
      </p:sp>
      <p:sp>
        <p:nvSpPr>
          <p:cNvPr id="57" name="圆角矩形 56"/>
          <p:cNvSpPr/>
          <p:nvPr/>
        </p:nvSpPr>
        <p:spPr>
          <a:xfrm>
            <a:off x="6609080" y="2331085"/>
            <a:ext cx="500380" cy="500380"/>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6657C"/>
              </a:solidFill>
              <a:cs typeface="+mn-ea"/>
              <a:sym typeface="+mn-lt"/>
            </a:endParaRPr>
          </a:p>
        </p:txBody>
      </p:sp>
      <p:sp>
        <p:nvSpPr>
          <p:cNvPr id="58" name="文本框 57"/>
          <p:cNvSpPr txBox="1"/>
          <p:nvPr/>
        </p:nvSpPr>
        <p:spPr>
          <a:xfrm>
            <a:off x="7096760" y="2258060"/>
            <a:ext cx="2976880" cy="460375"/>
          </a:xfrm>
          <a:prstGeom prst="rect">
            <a:avLst/>
          </a:prstGeom>
          <a:noFill/>
        </p:spPr>
        <p:txBody>
          <a:bodyPr wrap="square" rtlCol="0">
            <a:spAutoFit/>
          </a:bodyPr>
          <a:lstStyle/>
          <a:p>
            <a:pPr algn="l"/>
            <a:r>
              <a:rPr lang="zh-CN" altLang="en-US" sz="2400" b="1" dirty="0">
                <a:solidFill>
                  <a:srgbClr val="495176"/>
                </a:solidFill>
                <a:effectLst/>
                <a:cs typeface="+mn-ea"/>
                <a:sym typeface="+mn-lt"/>
              </a:rPr>
              <a:t>实验仪器</a:t>
            </a:r>
            <a:endParaRPr lang="zh-CN" altLang="en-US" sz="2400" b="1" dirty="0">
              <a:solidFill>
                <a:srgbClr val="495176"/>
              </a:solidFill>
              <a:effectLst/>
              <a:cs typeface="+mn-ea"/>
              <a:sym typeface="+mn-lt"/>
            </a:endParaRPr>
          </a:p>
        </p:txBody>
      </p:sp>
      <p:sp>
        <p:nvSpPr>
          <p:cNvPr id="59" name="文本框 58"/>
          <p:cNvSpPr txBox="1"/>
          <p:nvPr/>
        </p:nvSpPr>
        <p:spPr>
          <a:xfrm>
            <a:off x="7109460" y="2656840"/>
            <a:ext cx="2976880" cy="245110"/>
          </a:xfrm>
          <a:prstGeom prst="rect">
            <a:avLst/>
          </a:prstGeom>
          <a:noFill/>
        </p:spPr>
        <p:txBody>
          <a:bodyPr wrap="square" rtlCol="0">
            <a:spAutoFit/>
          </a:bodyPr>
          <a:lstStyle/>
          <a:p>
            <a:pPr algn="l"/>
            <a:endParaRPr lang="zh-CN" altLang="en-US" sz="1000">
              <a:solidFill>
                <a:schemeClr val="tx1">
                  <a:lumMod val="65000"/>
                  <a:lumOff val="35000"/>
                </a:schemeClr>
              </a:solidFill>
              <a:effectLst/>
              <a:cs typeface="+mn-ea"/>
              <a:sym typeface="+mn-lt"/>
            </a:endParaRPr>
          </a:p>
        </p:txBody>
      </p:sp>
      <p:sp>
        <p:nvSpPr>
          <p:cNvPr id="60" name="文本框 59"/>
          <p:cNvSpPr txBox="1"/>
          <p:nvPr/>
        </p:nvSpPr>
        <p:spPr>
          <a:xfrm>
            <a:off x="6579870" y="2332355"/>
            <a:ext cx="527685" cy="461645"/>
          </a:xfrm>
          <a:prstGeom prst="rect">
            <a:avLst/>
          </a:prstGeom>
          <a:noFill/>
        </p:spPr>
        <p:txBody>
          <a:bodyPr wrap="none" rtlCol="0">
            <a:spAutoFit/>
          </a:bodyPr>
          <a:lstStyle/>
          <a:p>
            <a:r>
              <a:rPr lang="en-US" altLang="zh-CN" sz="2400">
                <a:solidFill>
                  <a:schemeClr val="bg1"/>
                </a:solidFill>
                <a:cs typeface="+mn-ea"/>
                <a:sym typeface="+mn-lt"/>
              </a:rPr>
              <a:t>02</a:t>
            </a:r>
            <a:endParaRPr lang="en-US" altLang="zh-CN" sz="2400">
              <a:solidFill>
                <a:schemeClr val="bg1"/>
              </a:solidFill>
              <a:cs typeface="+mn-ea"/>
              <a:sym typeface="+mn-lt"/>
            </a:endParaRPr>
          </a:p>
        </p:txBody>
      </p:sp>
      <p:sp>
        <p:nvSpPr>
          <p:cNvPr id="62" name="圆角矩形 61"/>
          <p:cNvSpPr/>
          <p:nvPr/>
        </p:nvSpPr>
        <p:spPr>
          <a:xfrm>
            <a:off x="2389505" y="3449320"/>
            <a:ext cx="500380" cy="500380"/>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cs typeface="+mn-ea"/>
              <a:sym typeface="+mn-lt"/>
            </a:endParaRPr>
          </a:p>
        </p:txBody>
      </p:sp>
      <p:sp>
        <p:nvSpPr>
          <p:cNvPr id="63" name="文本框 62"/>
          <p:cNvSpPr txBox="1"/>
          <p:nvPr/>
        </p:nvSpPr>
        <p:spPr>
          <a:xfrm>
            <a:off x="2877185" y="3376295"/>
            <a:ext cx="2976880" cy="460375"/>
          </a:xfrm>
          <a:prstGeom prst="rect">
            <a:avLst/>
          </a:prstGeom>
          <a:noFill/>
        </p:spPr>
        <p:txBody>
          <a:bodyPr wrap="square" rtlCol="0">
            <a:spAutoFit/>
          </a:bodyPr>
          <a:lstStyle/>
          <a:p>
            <a:pPr algn="l"/>
            <a:r>
              <a:rPr lang="zh-CN" altLang="en-US" sz="2400" b="1" dirty="0">
                <a:solidFill>
                  <a:srgbClr val="495176"/>
                </a:solidFill>
                <a:effectLst/>
                <a:cs typeface="+mn-ea"/>
                <a:sym typeface="+mn-lt"/>
              </a:rPr>
              <a:t>实验</a:t>
            </a:r>
            <a:r>
              <a:rPr lang="zh-CN" altLang="en-US" sz="2400" b="1" dirty="0">
                <a:solidFill>
                  <a:srgbClr val="495176"/>
                </a:solidFill>
                <a:effectLst/>
                <a:cs typeface="+mn-ea"/>
                <a:sym typeface="+mn-lt"/>
              </a:rPr>
              <a:t>原理</a:t>
            </a:r>
            <a:endParaRPr lang="zh-CN" altLang="en-US" sz="2400" b="1" dirty="0">
              <a:solidFill>
                <a:srgbClr val="495176"/>
              </a:solidFill>
              <a:effectLst/>
              <a:cs typeface="+mn-ea"/>
              <a:sym typeface="+mn-lt"/>
            </a:endParaRPr>
          </a:p>
        </p:txBody>
      </p:sp>
      <p:sp>
        <p:nvSpPr>
          <p:cNvPr id="64" name="文本框 63"/>
          <p:cNvSpPr txBox="1"/>
          <p:nvPr/>
        </p:nvSpPr>
        <p:spPr>
          <a:xfrm>
            <a:off x="2889885" y="3775075"/>
            <a:ext cx="2976880" cy="245110"/>
          </a:xfrm>
          <a:prstGeom prst="rect">
            <a:avLst/>
          </a:prstGeom>
          <a:noFill/>
        </p:spPr>
        <p:txBody>
          <a:bodyPr wrap="square" rtlCol="0">
            <a:spAutoFit/>
          </a:bodyPr>
          <a:lstStyle/>
          <a:p>
            <a:pPr algn="l"/>
            <a:endParaRPr lang="zh-CN" altLang="en-US" sz="1000">
              <a:solidFill>
                <a:schemeClr val="tx1">
                  <a:lumMod val="65000"/>
                  <a:lumOff val="35000"/>
                </a:schemeClr>
              </a:solidFill>
              <a:effectLst/>
              <a:cs typeface="+mn-ea"/>
              <a:sym typeface="+mn-lt"/>
            </a:endParaRPr>
          </a:p>
        </p:txBody>
      </p:sp>
      <p:sp>
        <p:nvSpPr>
          <p:cNvPr id="65" name="文本框 64"/>
          <p:cNvSpPr txBox="1"/>
          <p:nvPr/>
        </p:nvSpPr>
        <p:spPr>
          <a:xfrm>
            <a:off x="2351405" y="3488690"/>
            <a:ext cx="527685" cy="461645"/>
          </a:xfrm>
          <a:prstGeom prst="rect">
            <a:avLst/>
          </a:prstGeom>
          <a:noFill/>
        </p:spPr>
        <p:txBody>
          <a:bodyPr wrap="none" rtlCol="0">
            <a:spAutoFit/>
          </a:bodyPr>
          <a:lstStyle/>
          <a:p>
            <a:r>
              <a:rPr lang="en-US" altLang="zh-CN" sz="2400">
                <a:solidFill>
                  <a:schemeClr val="bg1"/>
                </a:solidFill>
                <a:cs typeface="+mn-ea"/>
                <a:sym typeface="+mn-lt"/>
              </a:rPr>
              <a:t>03</a:t>
            </a:r>
            <a:endParaRPr lang="en-US" altLang="zh-CN" sz="2400">
              <a:solidFill>
                <a:schemeClr val="bg1"/>
              </a:solidFill>
              <a:cs typeface="+mn-ea"/>
              <a:sym typeface="+mn-lt"/>
            </a:endParaRPr>
          </a:p>
        </p:txBody>
      </p:sp>
      <p:sp>
        <p:nvSpPr>
          <p:cNvPr id="67" name="圆角矩形 66"/>
          <p:cNvSpPr/>
          <p:nvPr/>
        </p:nvSpPr>
        <p:spPr>
          <a:xfrm>
            <a:off x="6615430" y="3449320"/>
            <a:ext cx="500380" cy="500380"/>
          </a:xfrm>
          <a:prstGeom prst="roundRect">
            <a:avLst>
              <a:gd name="adj" fmla="val 50000"/>
            </a:avLst>
          </a:prstGeom>
          <a:solidFill>
            <a:srgbClr val="6576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95176"/>
              </a:solidFill>
              <a:cs typeface="+mn-ea"/>
              <a:sym typeface="+mn-lt"/>
            </a:endParaRPr>
          </a:p>
        </p:txBody>
      </p:sp>
      <p:sp>
        <p:nvSpPr>
          <p:cNvPr id="70" name="文本框 69"/>
          <p:cNvSpPr txBox="1"/>
          <p:nvPr/>
        </p:nvSpPr>
        <p:spPr>
          <a:xfrm>
            <a:off x="7103110" y="3376295"/>
            <a:ext cx="2976880" cy="460375"/>
          </a:xfrm>
          <a:prstGeom prst="rect">
            <a:avLst/>
          </a:prstGeom>
          <a:noFill/>
        </p:spPr>
        <p:txBody>
          <a:bodyPr wrap="square" rtlCol="0">
            <a:spAutoFit/>
          </a:bodyPr>
          <a:lstStyle/>
          <a:p>
            <a:pPr algn="l"/>
            <a:r>
              <a:rPr lang="zh-CN" altLang="en-US" sz="2400" b="1">
                <a:solidFill>
                  <a:srgbClr val="495176"/>
                </a:solidFill>
                <a:effectLst/>
                <a:cs typeface="+mn-ea"/>
                <a:sym typeface="+mn-lt"/>
              </a:rPr>
              <a:t>实验内容</a:t>
            </a:r>
            <a:endParaRPr lang="zh-CN" altLang="en-US" sz="2400" b="1">
              <a:solidFill>
                <a:srgbClr val="495176"/>
              </a:solidFill>
              <a:effectLst/>
              <a:cs typeface="+mn-ea"/>
              <a:sym typeface="+mn-lt"/>
            </a:endParaRPr>
          </a:p>
        </p:txBody>
      </p:sp>
      <p:sp>
        <p:nvSpPr>
          <p:cNvPr id="71" name="文本框 70"/>
          <p:cNvSpPr txBox="1"/>
          <p:nvPr/>
        </p:nvSpPr>
        <p:spPr>
          <a:xfrm>
            <a:off x="7115810" y="3775075"/>
            <a:ext cx="2976880" cy="245110"/>
          </a:xfrm>
          <a:prstGeom prst="rect">
            <a:avLst/>
          </a:prstGeom>
          <a:noFill/>
        </p:spPr>
        <p:txBody>
          <a:bodyPr wrap="square" rtlCol="0">
            <a:spAutoFit/>
          </a:bodyPr>
          <a:lstStyle/>
          <a:p>
            <a:pPr algn="l"/>
            <a:endParaRPr lang="zh-CN" altLang="en-US" sz="1000">
              <a:solidFill>
                <a:schemeClr val="tx1">
                  <a:lumMod val="65000"/>
                  <a:lumOff val="35000"/>
                </a:schemeClr>
              </a:solidFill>
              <a:effectLst/>
              <a:cs typeface="+mn-ea"/>
              <a:sym typeface="+mn-lt"/>
            </a:endParaRPr>
          </a:p>
        </p:txBody>
      </p:sp>
      <p:sp>
        <p:nvSpPr>
          <p:cNvPr id="72" name="文本框 71"/>
          <p:cNvSpPr txBox="1"/>
          <p:nvPr/>
        </p:nvSpPr>
        <p:spPr>
          <a:xfrm>
            <a:off x="6586220" y="3479165"/>
            <a:ext cx="527685" cy="461645"/>
          </a:xfrm>
          <a:prstGeom prst="rect">
            <a:avLst/>
          </a:prstGeom>
          <a:noFill/>
        </p:spPr>
        <p:txBody>
          <a:bodyPr wrap="none" rtlCol="0">
            <a:spAutoFit/>
          </a:bodyPr>
          <a:lstStyle/>
          <a:p>
            <a:r>
              <a:rPr lang="en-US" altLang="zh-CN" sz="2400">
                <a:solidFill>
                  <a:schemeClr val="bg1"/>
                </a:solidFill>
                <a:cs typeface="+mn-ea"/>
                <a:sym typeface="+mn-lt"/>
              </a:rPr>
              <a:t>04</a:t>
            </a:r>
            <a:endParaRPr lang="en-US" altLang="zh-CN" sz="2400">
              <a:solidFill>
                <a:schemeClr val="bg1"/>
              </a:solidFill>
              <a:cs typeface="+mn-ea"/>
              <a:sym typeface="+mn-lt"/>
            </a:endParaRPr>
          </a:p>
        </p:txBody>
      </p:sp>
      <p:sp>
        <p:nvSpPr>
          <p:cNvPr id="68" name="文本框 67"/>
          <p:cNvSpPr txBox="1"/>
          <p:nvPr/>
        </p:nvSpPr>
        <p:spPr>
          <a:xfrm>
            <a:off x="4974908" y="2035810"/>
            <a:ext cx="2280285" cy="337185"/>
          </a:xfrm>
          <a:prstGeom prst="rect">
            <a:avLst/>
          </a:prstGeom>
          <a:noFill/>
          <a:effectLst/>
        </p:spPr>
        <p:txBody>
          <a:bodyPr wrap="square" rtlCol="0">
            <a:spAutoFit/>
          </a:bodyPr>
          <a:lstStyle/>
          <a:p>
            <a:pPr algn="ctr"/>
            <a:r>
              <a:rPr lang="zh-CN" altLang="en-US" sz="1600" b="1" spc="400">
                <a:solidFill>
                  <a:schemeClr val="bg1">
                    <a:lumMod val="75000"/>
                  </a:schemeClr>
                </a:solidFill>
                <a:effectLst/>
                <a:uFillTx/>
                <a:cs typeface="+mn-ea"/>
                <a:sym typeface="+mn-lt"/>
              </a:rPr>
              <a:t>CONTANTS</a:t>
            </a:r>
            <a:endParaRPr lang="zh-CN" altLang="en-US" sz="1600" b="1" spc="400">
              <a:solidFill>
                <a:schemeClr val="bg1">
                  <a:lumMod val="75000"/>
                </a:schemeClr>
              </a:solidFill>
              <a:effectLst/>
              <a:uFillTx/>
              <a:cs typeface="+mn-ea"/>
              <a:sym typeface="+mn-lt"/>
            </a:endParaRPr>
          </a:p>
        </p:txBody>
      </p:sp>
      <p:sp>
        <p:nvSpPr>
          <p:cNvPr id="69" name="副标题 68"/>
          <p:cNvSpPr/>
          <p:nvPr>
            <p:ph type="subTitle" idx="1"/>
            <p:custDataLst>
              <p:tags r:id="rId2"/>
            </p:custDataLst>
          </p:nvPr>
        </p:nvSpPr>
        <p:spPr>
          <a:xfrm>
            <a:off x="0" y="1362710"/>
            <a:ext cx="12230100" cy="673100"/>
          </a:xfrm>
          <a:effectLst/>
        </p:spPr>
        <p:txBody>
          <a:bodyPr>
            <a:noAutofit/>
          </a:bodyPr>
          <a:lstStyle/>
          <a:p>
            <a:pPr marL="0" indent="0" algn="ctr">
              <a:lnSpc>
                <a:spcPct val="100000"/>
              </a:lnSpc>
              <a:buNone/>
            </a:pPr>
            <a:r>
              <a:rPr lang="zh-CN" altLang="en-US" sz="4800" b="1" dirty="0">
                <a:solidFill>
                  <a:srgbClr val="56657C"/>
                </a:solidFill>
                <a:latin typeface="+mn-lt"/>
                <a:ea typeface="+mn-ea"/>
                <a:cs typeface="+mn-ea"/>
                <a:sym typeface="+mn-lt"/>
              </a:rPr>
              <a:t>目录</a:t>
            </a:r>
            <a:endParaRPr lang="zh-CN" altLang="en-US" sz="4800" b="1" dirty="0">
              <a:solidFill>
                <a:srgbClr val="56657C"/>
              </a:solidFill>
              <a:latin typeface="+mn-lt"/>
              <a:ea typeface="+mn-ea"/>
              <a:cs typeface="+mn-ea"/>
              <a:sym typeface="+mn-lt"/>
            </a:endParaRPr>
          </a:p>
        </p:txBody>
      </p:sp>
      <p:sp>
        <p:nvSpPr>
          <p:cNvPr id="38" name="TextBox 4"/>
          <p:cNvSpPr txBox="1"/>
          <p:nvPr/>
        </p:nvSpPr>
        <p:spPr>
          <a:xfrm>
            <a:off x="0" y="0"/>
            <a:ext cx="45365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cs typeface="+mn-ea"/>
                <a:sym typeface="+mn-lt"/>
              </a:rPr>
              <a:t>行业</a:t>
            </a:r>
            <a:r>
              <a:rPr lang="en-US" altLang="zh-CN" sz="100" dirty="0">
                <a:solidFill>
                  <a:schemeClr val="tx1">
                    <a:alpha val="0"/>
                  </a:schemeClr>
                </a:solidFill>
                <a:cs typeface="+mn-ea"/>
                <a:sym typeface="+mn-lt"/>
              </a:rPr>
              <a:t>PPT</a:t>
            </a:r>
            <a:r>
              <a:rPr lang="zh-CN" altLang="en-US" sz="100" dirty="0">
                <a:solidFill>
                  <a:schemeClr val="tx1">
                    <a:alpha val="0"/>
                  </a:schemeClr>
                </a:solidFill>
                <a:cs typeface="+mn-ea"/>
                <a:sym typeface="+mn-lt"/>
              </a:rPr>
              <a:t>模板</a:t>
            </a:r>
            <a:r>
              <a:rPr lang="en-US" altLang="zh-CN" sz="100" dirty="0">
                <a:solidFill>
                  <a:schemeClr val="tx1">
                    <a:alpha val="0"/>
                  </a:schemeClr>
                </a:solidFill>
                <a:cs typeface="+mn-ea"/>
                <a:sym typeface="+mn-lt"/>
              </a:rPr>
              <a:t>http://www.1ppt.com/hangye/</a:t>
            </a:r>
            <a:endParaRPr lang="en-US" altLang="zh-CN" sz="100" dirty="0">
              <a:solidFill>
                <a:schemeClr val="tx1">
                  <a:alpha val="0"/>
                </a:schemeClr>
              </a:solidFill>
              <a:cs typeface="+mn-ea"/>
              <a:sym typeface="+mn-lt"/>
            </a:endParaRPr>
          </a:p>
        </p:txBody>
      </p:sp>
      <p:sp>
        <p:nvSpPr>
          <p:cNvPr id="85" name="圆角矩形 84"/>
          <p:cNvSpPr/>
          <p:nvPr/>
        </p:nvSpPr>
        <p:spPr>
          <a:xfrm>
            <a:off x="2389505" y="4491990"/>
            <a:ext cx="500380" cy="500380"/>
          </a:xfrm>
          <a:prstGeom prst="roundRect">
            <a:avLst>
              <a:gd name="adj" fmla="val 50000"/>
            </a:avLst>
          </a:prstGeom>
          <a:solidFill>
            <a:srgbClr val="6576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lumMod val="65000"/>
                </a:schemeClr>
              </a:solidFill>
              <a:cs typeface="+mn-ea"/>
              <a:sym typeface="+mn-lt"/>
            </a:endParaRPr>
          </a:p>
        </p:txBody>
      </p:sp>
      <p:sp>
        <p:nvSpPr>
          <p:cNvPr id="86" name="文本框 85"/>
          <p:cNvSpPr txBox="1"/>
          <p:nvPr/>
        </p:nvSpPr>
        <p:spPr>
          <a:xfrm>
            <a:off x="2877185" y="4418965"/>
            <a:ext cx="2976880" cy="460375"/>
          </a:xfrm>
          <a:prstGeom prst="rect">
            <a:avLst/>
          </a:prstGeom>
          <a:noFill/>
        </p:spPr>
        <p:txBody>
          <a:bodyPr wrap="square" rtlCol="0">
            <a:spAutoFit/>
          </a:bodyPr>
          <a:p>
            <a:pPr algn="l"/>
            <a:r>
              <a:rPr lang="zh-CN" altLang="en-US" sz="2400" b="1">
                <a:solidFill>
                  <a:srgbClr val="495176"/>
                </a:solidFill>
                <a:effectLst/>
                <a:cs typeface="+mn-ea"/>
                <a:sym typeface="+mn-lt"/>
              </a:rPr>
              <a:t>数据</a:t>
            </a:r>
            <a:r>
              <a:rPr lang="zh-CN" altLang="en-US" sz="2400" b="1">
                <a:solidFill>
                  <a:srgbClr val="495176"/>
                </a:solidFill>
                <a:effectLst/>
                <a:cs typeface="+mn-ea"/>
                <a:sym typeface="+mn-lt"/>
              </a:rPr>
              <a:t>记录</a:t>
            </a:r>
            <a:endParaRPr lang="zh-CN" altLang="en-US" sz="2400" b="1">
              <a:solidFill>
                <a:srgbClr val="495176"/>
              </a:solidFill>
              <a:effectLst/>
              <a:cs typeface="+mn-ea"/>
              <a:sym typeface="+mn-lt"/>
            </a:endParaRPr>
          </a:p>
        </p:txBody>
      </p:sp>
      <p:sp>
        <p:nvSpPr>
          <p:cNvPr id="87" name="文本框 86"/>
          <p:cNvSpPr txBox="1"/>
          <p:nvPr/>
        </p:nvSpPr>
        <p:spPr>
          <a:xfrm>
            <a:off x="2889885" y="4817745"/>
            <a:ext cx="2976880" cy="245110"/>
          </a:xfrm>
          <a:prstGeom prst="rect">
            <a:avLst/>
          </a:prstGeom>
          <a:noFill/>
        </p:spPr>
        <p:txBody>
          <a:bodyPr wrap="square" rtlCol="0">
            <a:spAutoFit/>
          </a:bodyPr>
          <a:p>
            <a:pPr algn="l"/>
            <a:endParaRPr lang="zh-CN" altLang="en-US" sz="1000">
              <a:solidFill>
                <a:schemeClr val="tx1">
                  <a:lumMod val="65000"/>
                  <a:lumOff val="35000"/>
                </a:schemeClr>
              </a:solidFill>
              <a:effectLst/>
              <a:cs typeface="+mn-ea"/>
              <a:sym typeface="+mn-lt"/>
            </a:endParaRPr>
          </a:p>
        </p:txBody>
      </p:sp>
      <p:sp>
        <p:nvSpPr>
          <p:cNvPr id="88" name="文本框 87"/>
          <p:cNvSpPr txBox="1"/>
          <p:nvPr/>
        </p:nvSpPr>
        <p:spPr>
          <a:xfrm>
            <a:off x="2364740" y="4511675"/>
            <a:ext cx="521970" cy="460375"/>
          </a:xfrm>
          <a:prstGeom prst="rect">
            <a:avLst/>
          </a:prstGeom>
          <a:noFill/>
        </p:spPr>
        <p:txBody>
          <a:bodyPr wrap="none" rtlCol="0">
            <a:spAutoFit/>
          </a:bodyPr>
          <a:p>
            <a:r>
              <a:rPr lang="en-US" altLang="zh-CN" sz="2400">
                <a:solidFill>
                  <a:srgbClr val="FAFAFA"/>
                </a:solidFill>
                <a:cs typeface="+mn-ea"/>
                <a:sym typeface="+mn-lt"/>
              </a:rPr>
              <a:t>05</a:t>
            </a:r>
            <a:endParaRPr lang="en-US" altLang="zh-CN" sz="2400">
              <a:solidFill>
                <a:srgbClr val="FAFAFA"/>
              </a:solidFill>
              <a:cs typeface="+mn-ea"/>
              <a:sym typeface="+mn-lt"/>
            </a:endParaRPr>
          </a:p>
        </p:txBody>
      </p:sp>
      <p:sp>
        <p:nvSpPr>
          <p:cNvPr id="89" name="圆角矩形 88"/>
          <p:cNvSpPr/>
          <p:nvPr/>
        </p:nvSpPr>
        <p:spPr>
          <a:xfrm>
            <a:off x="6609080" y="4491990"/>
            <a:ext cx="500380" cy="500380"/>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56657C"/>
              </a:solidFill>
              <a:cs typeface="+mn-ea"/>
              <a:sym typeface="+mn-lt"/>
            </a:endParaRPr>
          </a:p>
        </p:txBody>
      </p:sp>
      <p:sp>
        <p:nvSpPr>
          <p:cNvPr id="90" name="文本框 89"/>
          <p:cNvSpPr txBox="1"/>
          <p:nvPr/>
        </p:nvSpPr>
        <p:spPr>
          <a:xfrm>
            <a:off x="7096760" y="4418965"/>
            <a:ext cx="2976880" cy="460375"/>
          </a:xfrm>
          <a:prstGeom prst="rect">
            <a:avLst/>
          </a:prstGeom>
          <a:noFill/>
        </p:spPr>
        <p:txBody>
          <a:bodyPr wrap="square" rtlCol="0">
            <a:spAutoFit/>
          </a:bodyPr>
          <a:p>
            <a:pPr algn="l"/>
            <a:r>
              <a:rPr lang="zh-CN" altLang="en-US" sz="2400" b="1" dirty="0">
                <a:solidFill>
                  <a:srgbClr val="495176"/>
                </a:solidFill>
                <a:effectLst/>
                <a:cs typeface="+mn-ea"/>
                <a:sym typeface="+mn-lt"/>
              </a:rPr>
              <a:t>数据</a:t>
            </a:r>
            <a:r>
              <a:rPr lang="zh-CN" altLang="en-US" sz="2400" b="1" dirty="0">
                <a:solidFill>
                  <a:srgbClr val="495176"/>
                </a:solidFill>
                <a:effectLst/>
                <a:cs typeface="+mn-ea"/>
                <a:sym typeface="+mn-lt"/>
              </a:rPr>
              <a:t>处理</a:t>
            </a:r>
            <a:endParaRPr lang="zh-CN" altLang="en-US" sz="2400" b="1" dirty="0">
              <a:solidFill>
                <a:srgbClr val="495176"/>
              </a:solidFill>
              <a:effectLst/>
              <a:cs typeface="+mn-ea"/>
              <a:sym typeface="+mn-lt"/>
            </a:endParaRPr>
          </a:p>
        </p:txBody>
      </p:sp>
      <p:sp>
        <p:nvSpPr>
          <p:cNvPr id="91" name="文本框 90"/>
          <p:cNvSpPr txBox="1"/>
          <p:nvPr/>
        </p:nvSpPr>
        <p:spPr>
          <a:xfrm>
            <a:off x="7109460" y="4817745"/>
            <a:ext cx="2976880" cy="245110"/>
          </a:xfrm>
          <a:prstGeom prst="rect">
            <a:avLst/>
          </a:prstGeom>
          <a:noFill/>
        </p:spPr>
        <p:txBody>
          <a:bodyPr wrap="square" rtlCol="0">
            <a:spAutoFit/>
          </a:bodyPr>
          <a:p>
            <a:pPr algn="l"/>
            <a:endParaRPr lang="zh-CN" altLang="en-US" sz="1000">
              <a:solidFill>
                <a:schemeClr val="tx1">
                  <a:lumMod val="65000"/>
                  <a:lumOff val="35000"/>
                </a:schemeClr>
              </a:solidFill>
              <a:effectLst/>
              <a:cs typeface="+mn-ea"/>
              <a:sym typeface="+mn-lt"/>
            </a:endParaRPr>
          </a:p>
        </p:txBody>
      </p:sp>
      <p:sp>
        <p:nvSpPr>
          <p:cNvPr id="92" name="文本框 91"/>
          <p:cNvSpPr txBox="1"/>
          <p:nvPr/>
        </p:nvSpPr>
        <p:spPr>
          <a:xfrm>
            <a:off x="6579870" y="4493260"/>
            <a:ext cx="521970" cy="460375"/>
          </a:xfrm>
          <a:prstGeom prst="rect">
            <a:avLst/>
          </a:prstGeom>
          <a:noFill/>
        </p:spPr>
        <p:txBody>
          <a:bodyPr wrap="none" rtlCol="0">
            <a:spAutoFit/>
          </a:bodyPr>
          <a:p>
            <a:r>
              <a:rPr lang="en-US" altLang="zh-CN" sz="2400">
                <a:solidFill>
                  <a:schemeClr val="bg1"/>
                </a:solidFill>
                <a:cs typeface="+mn-ea"/>
                <a:sym typeface="+mn-lt"/>
              </a:rPr>
              <a:t>06</a:t>
            </a:r>
            <a:endParaRPr lang="en-US" altLang="zh-CN" sz="2400">
              <a:solidFill>
                <a:schemeClr val="bg1"/>
              </a:solidFill>
              <a:cs typeface="+mn-ea"/>
              <a:sym typeface="+mn-lt"/>
            </a:endParaRPr>
          </a:p>
        </p:txBody>
      </p:sp>
      <p:sp>
        <p:nvSpPr>
          <p:cNvPr id="93" name="圆角矩形 92"/>
          <p:cNvSpPr/>
          <p:nvPr/>
        </p:nvSpPr>
        <p:spPr>
          <a:xfrm>
            <a:off x="2389505" y="5610225"/>
            <a:ext cx="500380" cy="500380"/>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cs typeface="+mn-ea"/>
              <a:sym typeface="+mn-lt"/>
            </a:endParaRPr>
          </a:p>
        </p:txBody>
      </p:sp>
      <p:sp>
        <p:nvSpPr>
          <p:cNvPr id="94" name="文本框 93"/>
          <p:cNvSpPr txBox="1"/>
          <p:nvPr/>
        </p:nvSpPr>
        <p:spPr>
          <a:xfrm>
            <a:off x="2877185" y="5537200"/>
            <a:ext cx="2976880" cy="460375"/>
          </a:xfrm>
          <a:prstGeom prst="rect">
            <a:avLst/>
          </a:prstGeom>
          <a:noFill/>
        </p:spPr>
        <p:txBody>
          <a:bodyPr wrap="square" rtlCol="0">
            <a:spAutoFit/>
          </a:bodyPr>
          <a:p>
            <a:pPr algn="l"/>
            <a:r>
              <a:rPr lang="zh-CN" altLang="en-US" sz="2400" b="1" dirty="0">
                <a:solidFill>
                  <a:srgbClr val="495176"/>
                </a:solidFill>
                <a:effectLst/>
                <a:cs typeface="+mn-ea"/>
                <a:sym typeface="+mn-lt"/>
              </a:rPr>
              <a:t>误差分析</a:t>
            </a:r>
            <a:endParaRPr lang="zh-CN" altLang="en-US" sz="2400" b="1" dirty="0">
              <a:solidFill>
                <a:srgbClr val="495176"/>
              </a:solidFill>
              <a:effectLst/>
              <a:cs typeface="+mn-ea"/>
              <a:sym typeface="+mn-lt"/>
            </a:endParaRPr>
          </a:p>
        </p:txBody>
      </p:sp>
      <p:sp>
        <p:nvSpPr>
          <p:cNvPr id="95" name="文本框 94"/>
          <p:cNvSpPr txBox="1"/>
          <p:nvPr/>
        </p:nvSpPr>
        <p:spPr>
          <a:xfrm>
            <a:off x="2889885" y="5935980"/>
            <a:ext cx="2976880" cy="245110"/>
          </a:xfrm>
          <a:prstGeom prst="rect">
            <a:avLst/>
          </a:prstGeom>
          <a:noFill/>
        </p:spPr>
        <p:txBody>
          <a:bodyPr wrap="square" rtlCol="0">
            <a:spAutoFit/>
          </a:bodyPr>
          <a:p>
            <a:pPr algn="l"/>
            <a:endParaRPr lang="zh-CN" altLang="en-US" sz="1000">
              <a:solidFill>
                <a:schemeClr val="tx1">
                  <a:lumMod val="65000"/>
                  <a:lumOff val="35000"/>
                </a:schemeClr>
              </a:solidFill>
              <a:effectLst/>
              <a:cs typeface="+mn-ea"/>
              <a:sym typeface="+mn-lt"/>
            </a:endParaRPr>
          </a:p>
        </p:txBody>
      </p:sp>
      <p:sp>
        <p:nvSpPr>
          <p:cNvPr id="96" name="文本框 95"/>
          <p:cNvSpPr txBox="1"/>
          <p:nvPr/>
        </p:nvSpPr>
        <p:spPr>
          <a:xfrm>
            <a:off x="2351405" y="5649595"/>
            <a:ext cx="521970" cy="460375"/>
          </a:xfrm>
          <a:prstGeom prst="rect">
            <a:avLst/>
          </a:prstGeom>
          <a:noFill/>
        </p:spPr>
        <p:txBody>
          <a:bodyPr wrap="none" rtlCol="0">
            <a:spAutoFit/>
          </a:bodyPr>
          <a:p>
            <a:r>
              <a:rPr lang="en-US" altLang="zh-CN" sz="2400">
                <a:solidFill>
                  <a:schemeClr val="bg1"/>
                </a:solidFill>
                <a:cs typeface="+mn-ea"/>
                <a:sym typeface="+mn-lt"/>
              </a:rPr>
              <a:t>07</a:t>
            </a:r>
            <a:endParaRPr lang="en-US" altLang="zh-CN" sz="2400">
              <a:solidFill>
                <a:schemeClr val="bg1"/>
              </a:solidFill>
              <a:cs typeface="+mn-ea"/>
              <a:sym typeface="+mn-lt"/>
            </a:endParaRPr>
          </a:p>
        </p:txBody>
      </p:sp>
      <p:sp>
        <p:nvSpPr>
          <p:cNvPr id="97" name="圆角矩形 96"/>
          <p:cNvSpPr/>
          <p:nvPr/>
        </p:nvSpPr>
        <p:spPr>
          <a:xfrm>
            <a:off x="6615430" y="5610225"/>
            <a:ext cx="500380" cy="500380"/>
          </a:xfrm>
          <a:prstGeom prst="roundRect">
            <a:avLst>
              <a:gd name="adj" fmla="val 50000"/>
            </a:avLst>
          </a:prstGeom>
          <a:solidFill>
            <a:srgbClr val="6576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495176"/>
              </a:solidFill>
              <a:cs typeface="+mn-ea"/>
              <a:sym typeface="+mn-lt"/>
            </a:endParaRPr>
          </a:p>
        </p:txBody>
      </p:sp>
      <p:sp>
        <p:nvSpPr>
          <p:cNvPr id="98" name="文本框 97"/>
          <p:cNvSpPr txBox="1"/>
          <p:nvPr/>
        </p:nvSpPr>
        <p:spPr>
          <a:xfrm>
            <a:off x="7103110" y="5537200"/>
            <a:ext cx="2976880" cy="460375"/>
          </a:xfrm>
          <a:prstGeom prst="rect">
            <a:avLst/>
          </a:prstGeom>
          <a:noFill/>
        </p:spPr>
        <p:txBody>
          <a:bodyPr wrap="square" rtlCol="0">
            <a:spAutoFit/>
          </a:bodyPr>
          <a:p>
            <a:pPr algn="l"/>
            <a:r>
              <a:rPr lang="zh-CN" altLang="en-US" sz="2400" b="1">
                <a:solidFill>
                  <a:srgbClr val="495176"/>
                </a:solidFill>
                <a:effectLst/>
                <a:cs typeface="+mn-ea"/>
                <a:sym typeface="+mn-lt"/>
              </a:rPr>
              <a:t>实验结论及</a:t>
            </a:r>
            <a:r>
              <a:rPr lang="zh-CN" altLang="en-US" sz="2400" b="1">
                <a:solidFill>
                  <a:srgbClr val="495176"/>
                </a:solidFill>
                <a:effectLst/>
                <a:cs typeface="+mn-ea"/>
                <a:sym typeface="+mn-lt"/>
              </a:rPr>
              <a:t>拓展</a:t>
            </a:r>
            <a:endParaRPr lang="zh-CN" altLang="en-US" sz="2400" b="1">
              <a:solidFill>
                <a:srgbClr val="495176"/>
              </a:solidFill>
              <a:effectLst/>
              <a:cs typeface="+mn-ea"/>
              <a:sym typeface="+mn-lt"/>
            </a:endParaRPr>
          </a:p>
        </p:txBody>
      </p:sp>
      <p:sp>
        <p:nvSpPr>
          <p:cNvPr id="99" name="文本框 98"/>
          <p:cNvSpPr txBox="1"/>
          <p:nvPr/>
        </p:nvSpPr>
        <p:spPr>
          <a:xfrm>
            <a:off x="7115810" y="5935980"/>
            <a:ext cx="2976880" cy="245110"/>
          </a:xfrm>
          <a:prstGeom prst="rect">
            <a:avLst/>
          </a:prstGeom>
          <a:noFill/>
        </p:spPr>
        <p:txBody>
          <a:bodyPr wrap="square" rtlCol="0">
            <a:spAutoFit/>
          </a:bodyPr>
          <a:p>
            <a:pPr algn="l"/>
            <a:endParaRPr lang="zh-CN" altLang="en-US" sz="1000">
              <a:solidFill>
                <a:schemeClr val="tx1">
                  <a:lumMod val="65000"/>
                  <a:lumOff val="35000"/>
                </a:schemeClr>
              </a:solidFill>
              <a:effectLst/>
              <a:cs typeface="+mn-ea"/>
              <a:sym typeface="+mn-lt"/>
            </a:endParaRPr>
          </a:p>
        </p:txBody>
      </p:sp>
      <p:sp>
        <p:nvSpPr>
          <p:cNvPr id="100" name="文本框 99"/>
          <p:cNvSpPr txBox="1"/>
          <p:nvPr/>
        </p:nvSpPr>
        <p:spPr>
          <a:xfrm>
            <a:off x="6586220" y="5640070"/>
            <a:ext cx="521970" cy="460375"/>
          </a:xfrm>
          <a:prstGeom prst="rect">
            <a:avLst/>
          </a:prstGeom>
          <a:noFill/>
        </p:spPr>
        <p:txBody>
          <a:bodyPr wrap="none" rtlCol="0">
            <a:spAutoFit/>
          </a:bodyPr>
          <a:p>
            <a:r>
              <a:rPr lang="en-US" altLang="zh-CN" sz="2400">
                <a:solidFill>
                  <a:schemeClr val="bg1"/>
                </a:solidFill>
                <a:cs typeface="+mn-ea"/>
                <a:sym typeface="+mn-lt"/>
              </a:rPr>
              <a:t>08</a:t>
            </a:r>
            <a:endParaRPr lang="en-US" altLang="zh-CN" sz="2400">
              <a:solidFill>
                <a:schemeClr val="bg1"/>
              </a:solidFill>
              <a:cs typeface="+mn-ea"/>
              <a:sym typeface="+mn-lt"/>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flipH="1" flipV="1">
            <a:off x="-8890" y="-56515"/>
            <a:ext cx="12287885" cy="6914515"/>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7" name="组合 6"/>
          <p:cNvGrpSpPr/>
          <p:nvPr/>
        </p:nvGrpSpPr>
        <p:grpSpPr>
          <a:xfrm>
            <a:off x="3524885" y="2585085"/>
            <a:ext cx="7227570" cy="1139825"/>
            <a:chOff x="2071" y="3857"/>
            <a:chExt cx="11382" cy="1795"/>
          </a:xfrm>
        </p:grpSpPr>
        <p:sp>
          <p:nvSpPr>
            <p:cNvPr id="12" name="圆角矩形 11"/>
            <p:cNvSpPr/>
            <p:nvPr/>
          </p:nvSpPr>
          <p:spPr>
            <a:xfrm>
              <a:off x="2071" y="3964"/>
              <a:ext cx="1537" cy="1537"/>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AEEF"/>
                </a:solidFill>
                <a:cs typeface="+mn-ea"/>
                <a:sym typeface="+mn-lt"/>
              </a:endParaRPr>
            </a:p>
          </p:txBody>
        </p:sp>
        <p:sp>
          <p:nvSpPr>
            <p:cNvPr id="38" name="文本框 37"/>
            <p:cNvSpPr txBox="1"/>
            <p:nvPr/>
          </p:nvSpPr>
          <p:spPr>
            <a:xfrm>
              <a:off x="3811" y="3857"/>
              <a:ext cx="8870" cy="1307"/>
            </a:xfrm>
            <a:prstGeom prst="rect">
              <a:avLst/>
            </a:prstGeom>
            <a:noFill/>
          </p:spPr>
          <p:txBody>
            <a:bodyPr wrap="square" rtlCol="0">
              <a:spAutoFit/>
            </a:bodyPr>
            <a:lstStyle/>
            <a:p>
              <a:pPr algn="l"/>
              <a:r>
                <a:rPr lang="zh-CN" altLang="en-US" sz="4800" b="1" dirty="0">
                  <a:solidFill>
                    <a:srgbClr val="56657C"/>
                  </a:solidFill>
                  <a:effectLst/>
                  <a:cs typeface="+mn-ea"/>
                  <a:sym typeface="+mn-lt"/>
                </a:rPr>
                <a:t>实验</a:t>
              </a:r>
              <a:r>
                <a:rPr lang="zh-CN" altLang="en-US" sz="4800" b="1" dirty="0">
                  <a:solidFill>
                    <a:srgbClr val="56657C"/>
                  </a:solidFill>
                  <a:effectLst/>
                  <a:cs typeface="+mn-ea"/>
                  <a:sym typeface="+mn-lt"/>
                </a:rPr>
                <a:t>目的</a:t>
              </a:r>
              <a:endParaRPr lang="zh-CN" altLang="en-US" sz="4800" b="1" dirty="0">
                <a:solidFill>
                  <a:srgbClr val="56657C"/>
                </a:solidFill>
                <a:effectLst/>
                <a:cs typeface="+mn-ea"/>
                <a:sym typeface="+mn-lt"/>
              </a:endParaRPr>
            </a:p>
          </p:txBody>
        </p:sp>
        <p:sp>
          <p:nvSpPr>
            <p:cNvPr id="39" name="文本框 38"/>
            <p:cNvSpPr txBox="1"/>
            <p:nvPr/>
          </p:nvSpPr>
          <p:spPr>
            <a:xfrm>
              <a:off x="3811" y="5024"/>
              <a:ext cx="9642" cy="628"/>
            </a:xfrm>
            <a:prstGeom prst="rect">
              <a:avLst/>
            </a:prstGeom>
            <a:noFill/>
          </p:spPr>
          <p:txBody>
            <a:bodyPr wrap="square" rtlCol="0">
              <a:spAutoFit/>
            </a:bodyPr>
            <a:lstStyle/>
            <a:p>
              <a:pPr algn="l"/>
              <a:endParaRPr lang="zh-CN" altLang="en-US" sz="2000">
                <a:solidFill>
                  <a:schemeClr val="bg1">
                    <a:lumMod val="50000"/>
                  </a:schemeClr>
                </a:solidFill>
                <a:effectLst/>
                <a:cs typeface="+mn-ea"/>
                <a:sym typeface="+mn-lt"/>
              </a:endParaRPr>
            </a:p>
          </p:txBody>
        </p:sp>
        <p:sp>
          <p:nvSpPr>
            <p:cNvPr id="40" name="文本框 39"/>
            <p:cNvSpPr txBox="1"/>
            <p:nvPr/>
          </p:nvSpPr>
          <p:spPr>
            <a:xfrm>
              <a:off x="2118" y="4055"/>
              <a:ext cx="1412" cy="1357"/>
            </a:xfrm>
            <a:prstGeom prst="rect">
              <a:avLst/>
            </a:prstGeom>
            <a:noFill/>
          </p:spPr>
          <p:txBody>
            <a:bodyPr wrap="none" rtlCol="0">
              <a:spAutoFit/>
            </a:bodyPr>
            <a:lstStyle/>
            <a:p>
              <a:r>
                <a:rPr lang="en-US" altLang="zh-CN" sz="5000">
                  <a:solidFill>
                    <a:schemeClr val="bg1"/>
                  </a:solidFill>
                  <a:cs typeface="+mn-ea"/>
                  <a:sym typeface="+mn-lt"/>
                </a:rPr>
                <a:t>01</a:t>
              </a:r>
              <a:endParaRPr lang="en-US" altLang="zh-CN" sz="5000">
                <a:solidFill>
                  <a:schemeClr val="bg1"/>
                </a:solidFill>
                <a:cs typeface="+mn-ea"/>
                <a:sym typeface="+mn-lt"/>
              </a:endParaRPr>
            </a:p>
          </p:txBody>
        </p:sp>
      </p:gr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45820" y="1915160"/>
            <a:ext cx="11128375" cy="3973195"/>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74"/>
            </a:xfrm>
            <a:prstGeom prst="rect">
              <a:avLst/>
            </a:prstGeom>
            <a:noFill/>
          </p:spPr>
          <p:txBody>
            <a:bodyPr wrap="none" rtlCol="0">
              <a:spAutoFit/>
            </a:bodyPr>
            <a:lstStyle/>
            <a:p>
              <a:r>
                <a:rPr lang="zh-CN" altLang="en-US" sz="2600" b="1" dirty="0">
                  <a:solidFill>
                    <a:schemeClr val="bg1"/>
                  </a:solidFill>
                  <a:cs typeface="+mn-ea"/>
                  <a:sym typeface="+mn-lt"/>
                </a:rPr>
                <a:t>实验目的</a:t>
              </a:r>
              <a:endParaRPr lang="zh-CN" altLang="en-US" sz="2600" b="1" dirty="0">
                <a:solidFill>
                  <a:schemeClr val="bg1"/>
                </a:solidFill>
                <a:cs typeface="+mn-ea"/>
                <a:sym typeface="+mn-lt"/>
              </a:endParaRPr>
            </a:p>
          </p:txBody>
        </p:sp>
      </p:grpSp>
      <p:sp>
        <p:nvSpPr>
          <p:cNvPr id="2" name="文本框 1"/>
          <p:cNvSpPr txBox="1"/>
          <p:nvPr/>
        </p:nvSpPr>
        <p:spPr>
          <a:xfrm>
            <a:off x="966470" y="2070100"/>
            <a:ext cx="11007090" cy="3742055"/>
          </a:xfrm>
          <a:prstGeom prst="rect">
            <a:avLst/>
          </a:prstGeom>
          <a:noFill/>
        </p:spPr>
        <p:txBody>
          <a:bodyPr wrap="square" rtlCol="0">
            <a:noAutofit/>
          </a:bodyPr>
          <a:p>
            <a:r>
              <a:rPr lang="zh-CN" altLang="en-US" sz="4000">
                <a:latin typeface="宋体" charset="-122"/>
                <a:ea typeface="宋体" charset="-122"/>
                <a:cs typeface="宋体" charset="-122"/>
              </a:rPr>
              <a:t>1. 验证布朗运动的基本特征：</a:t>
            </a:r>
            <a:endParaRPr lang="zh-CN" altLang="en-US" sz="4000">
              <a:latin typeface="宋体" charset="-122"/>
              <a:ea typeface="宋体" charset="-122"/>
              <a:cs typeface="宋体" charset="-122"/>
            </a:endParaRPr>
          </a:p>
          <a:p>
            <a:endParaRPr lang="zh-CN" altLang="en-US" sz="4000">
              <a:latin typeface="宋体" charset="-122"/>
              <a:ea typeface="宋体" charset="-122"/>
              <a:cs typeface="宋体" charset="-122"/>
            </a:endParaRPr>
          </a:p>
          <a:p>
            <a:r>
              <a:rPr lang="zh-CN" altLang="en-US" sz="4000">
                <a:latin typeface="宋体" charset="-122"/>
                <a:ea typeface="宋体" charset="-122"/>
                <a:cs typeface="宋体" charset="-122"/>
              </a:rPr>
              <a:t>2. 测量悬浮油滴颗粒的扩散系数 D</a:t>
            </a:r>
            <a:endParaRPr lang="zh-CN" altLang="en-US" sz="4000">
              <a:latin typeface="宋体" charset="-122"/>
              <a:ea typeface="宋体" charset="-122"/>
              <a:cs typeface="宋体" charset="-122"/>
            </a:endParaRPr>
          </a:p>
          <a:p>
            <a:r>
              <a:rPr lang="zh-CN" altLang="en-US" sz="4000">
                <a:latin typeface="宋体" charset="-122"/>
                <a:ea typeface="宋体" charset="-122"/>
                <a:cs typeface="宋体" charset="-122"/>
              </a:rPr>
              <a:t>3. 掌握利用CCD显微密立根油滴仪进行实验数据采集和分析的方法</a:t>
            </a:r>
            <a:endParaRPr lang="zh-CN" altLang="en-US" sz="4000">
              <a:latin typeface="宋体" charset="-122"/>
              <a:ea typeface="宋体" charset="-122"/>
              <a:cs typeface="宋体" charset="-122"/>
            </a:endParaRPr>
          </a:p>
        </p:txBody>
      </p:sp>
      <p:pic>
        <p:nvPicPr>
          <p:cNvPr id="11" name="图片 10"/>
          <p:cNvPicPr>
            <a:picLocks noChangeAspect="1"/>
          </p:cNvPicPr>
          <p:nvPr/>
        </p:nvPicPr>
        <p:blipFill>
          <a:blip r:embed="rId1"/>
          <a:srcRect t="14161" r="-215" b="16388"/>
          <a:stretch>
            <a:fillRect/>
          </a:stretch>
        </p:blipFill>
        <p:spPr>
          <a:xfrm>
            <a:off x="1207135" y="2743835"/>
            <a:ext cx="5909945" cy="554355"/>
          </a:xfrm>
          <a:prstGeom prst="rect">
            <a:avLst/>
          </a:prstGeom>
        </p:spPr>
      </p:pic>
      <p:sp>
        <p:nvSpPr>
          <p:cNvPr id="14" name="文本框 13"/>
          <p:cNvSpPr txBox="1"/>
          <p:nvPr/>
        </p:nvSpPr>
        <p:spPr>
          <a:xfrm>
            <a:off x="8757920" y="2635250"/>
            <a:ext cx="2401570" cy="706755"/>
          </a:xfrm>
          <a:prstGeom prst="rect">
            <a:avLst/>
          </a:prstGeom>
          <a:noFill/>
        </p:spPr>
        <p:txBody>
          <a:bodyPr wrap="square" rtlCol="0">
            <a:spAutoFit/>
          </a:bodyPr>
          <a:p>
            <a:pPr indent="457200"/>
            <a:r>
              <a:rPr lang="en-US" altLang="zh-CN" sz="4000">
                <a:latin typeface="宋体" charset="-122"/>
                <a:ea typeface="宋体" charset="-122"/>
                <a:cs typeface="宋体" charset="-122"/>
              </a:rPr>
              <a:t>(1)</a:t>
            </a:r>
            <a:endParaRPr lang="en-US" altLang="zh-CN" sz="4000">
              <a:latin typeface="宋体" charset="-122"/>
              <a:ea typeface="宋体" charset="-122"/>
              <a:cs typeface="宋体" charset="-122"/>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flipH="1" flipV="1">
            <a:off x="-8890" y="-56515"/>
            <a:ext cx="12287885" cy="6914515"/>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7" name="组合 6"/>
          <p:cNvGrpSpPr/>
          <p:nvPr/>
        </p:nvGrpSpPr>
        <p:grpSpPr>
          <a:xfrm>
            <a:off x="3524885" y="2585085"/>
            <a:ext cx="7227570" cy="1139825"/>
            <a:chOff x="2071" y="3857"/>
            <a:chExt cx="11382" cy="1795"/>
          </a:xfrm>
        </p:grpSpPr>
        <p:sp>
          <p:nvSpPr>
            <p:cNvPr id="12" name="圆角矩形 11"/>
            <p:cNvSpPr/>
            <p:nvPr/>
          </p:nvSpPr>
          <p:spPr>
            <a:xfrm>
              <a:off x="2071" y="3964"/>
              <a:ext cx="1537" cy="1537"/>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AEEF"/>
                </a:solidFill>
                <a:cs typeface="+mn-ea"/>
                <a:sym typeface="+mn-lt"/>
              </a:endParaRPr>
            </a:p>
          </p:txBody>
        </p:sp>
        <p:sp>
          <p:nvSpPr>
            <p:cNvPr id="38" name="文本框 37"/>
            <p:cNvSpPr txBox="1"/>
            <p:nvPr/>
          </p:nvSpPr>
          <p:spPr>
            <a:xfrm>
              <a:off x="3811" y="3857"/>
              <a:ext cx="8870" cy="1307"/>
            </a:xfrm>
            <a:prstGeom prst="rect">
              <a:avLst/>
            </a:prstGeom>
            <a:noFill/>
          </p:spPr>
          <p:txBody>
            <a:bodyPr wrap="square" rtlCol="0">
              <a:spAutoFit/>
            </a:bodyPr>
            <a:lstStyle/>
            <a:p>
              <a:pPr algn="l"/>
              <a:r>
                <a:rPr lang="zh-CN" altLang="en-US" sz="4800" b="1" dirty="0">
                  <a:solidFill>
                    <a:srgbClr val="56657C"/>
                  </a:solidFill>
                  <a:effectLst/>
                  <a:cs typeface="+mn-ea"/>
                  <a:sym typeface="+mn-lt"/>
                </a:rPr>
                <a:t>实验仪器</a:t>
              </a:r>
              <a:endParaRPr lang="zh-CN" altLang="en-US" sz="4800" b="1" dirty="0">
                <a:solidFill>
                  <a:srgbClr val="56657C"/>
                </a:solidFill>
                <a:effectLst/>
                <a:cs typeface="+mn-ea"/>
                <a:sym typeface="+mn-lt"/>
              </a:endParaRPr>
            </a:p>
          </p:txBody>
        </p:sp>
        <p:sp>
          <p:nvSpPr>
            <p:cNvPr id="39" name="文本框 38"/>
            <p:cNvSpPr txBox="1"/>
            <p:nvPr/>
          </p:nvSpPr>
          <p:spPr>
            <a:xfrm>
              <a:off x="3811" y="5024"/>
              <a:ext cx="9642" cy="628"/>
            </a:xfrm>
            <a:prstGeom prst="rect">
              <a:avLst/>
            </a:prstGeom>
            <a:noFill/>
          </p:spPr>
          <p:txBody>
            <a:bodyPr wrap="square" rtlCol="0">
              <a:spAutoFit/>
            </a:bodyPr>
            <a:lstStyle/>
            <a:p>
              <a:pPr algn="l"/>
              <a:endParaRPr lang="zh-CN" altLang="en-US" sz="2000">
                <a:solidFill>
                  <a:schemeClr val="bg1">
                    <a:lumMod val="50000"/>
                  </a:schemeClr>
                </a:solidFill>
                <a:effectLst/>
                <a:cs typeface="+mn-ea"/>
                <a:sym typeface="+mn-lt"/>
              </a:endParaRPr>
            </a:p>
          </p:txBody>
        </p:sp>
        <p:sp>
          <p:nvSpPr>
            <p:cNvPr id="40" name="文本框 39"/>
            <p:cNvSpPr txBox="1"/>
            <p:nvPr/>
          </p:nvSpPr>
          <p:spPr>
            <a:xfrm>
              <a:off x="2118" y="4055"/>
              <a:ext cx="1400" cy="1355"/>
            </a:xfrm>
            <a:prstGeom prst="rect">
              <a:avLst/>
            </a:prstGeom>
            <a:noFill/>
          </p:spPr>
          <p:txBody>
            <a:bodyPr wrap="none" rtlCol="0">
              <a:spAutoFit/>
            </a:bodyPr>
            <a:lstStyle/>
            <a:p>
              <a:r>
                <a:rPr lang="en-US" altLang="zh-CN" sz="5000">
                  <a:solidFill>
                    <a:schemeClr val="bg1"/>
                  </a:solidFill>
                  <a:cs typeface="+mn-ea"/>
                  <a:sym typeface="+mn-lt"/>
                </a:rPr>
                <a:t>02</a:t>
              </a:r>
              <a:endParaRPr lang="en-US" altLang="zh-CN" sz="5000">
                <a:solidFill>
                  <a:schemeClr val="bg1"/>
                </a:solidFill>
                <a:cs typeface="+mn-ea"/>
                <a:sym typeface="+mn-lt"/>
              </a:endParaRPr>
            </a:p>
          </p:txBody>
        </p:sp>
      </p:gr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45820" y="1915160"/>
            <a:ext cx="11128375" cy="436753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74"/>
            </a:xfrm>
            <a:prstGeom prst="rect">
              <a:avLst/>
            </a:prstGeom>
            <a:noFill/>
          </p:spPr>
          <p:txBody>
            <a:bodyPr wrap="none" rtlCol="0">
              <a:spAutoFit/>
            </a:bodyPr>
            <a:lstStyle/>
            <a:p>
              <a:r>
                <a:rPr lang="zh-CN" altLang="en-US" sz="2600" b="1" dirty="0">
                  <a:solidFill>
                    <a:schemeClr val="bg1"/>
                  </a:solidFill>
                  <a:cs typeface="+mn-ea"/>
                  <a:sym typeface="+mn-lt"/>
                </a:rPr>
                <a:t>实验</a:t>
              </a:r>
              <a:r>
                <a:rPr lang="zh-CN" altLang="en-US" sz="2600" b="1" dirty="0">
                  <a:solidFill>
                    <a:schemeClr val="bg1"/>
                  </a:solidFill>
                  <a:cs typeface="+mn-ea"/>
                  <a:sym typeface="+mn-lt"/>
                </a:rPr>
                <a:t>仪器</a:t>
              </a:r>
              <a:endParaRPr lang="zh-CN" altLang="en-US" sz="2600" b="1" dirty="0">
                <a:solidFill>
                  <a:schemeClr val="bg1"/>
                </a:solidFill>
                <a:cs typeface="+mn-ea"/>
                <a:sym typeface="+mn-lt"/>
              </a:endParaRPr>
            </a:p>
          </p:txBody>
        </p:sp>
      </p:grpSp>
      <p:sp>
        <p:nvSpPr>
          <p:cNvPr id="2" name="文本框 1"/>
          <p:cNvSpPr txBox="1"/>
          <p:nvPr/>
        </p:nvSpPr>
        <p:spPr>
          <a:xfrm>
            <a:off x="966470" y="2030730"/>
            <a:ext cx="11008360" cy="4251960"/>
          </a:xfrm>
          <a:prstGeom prst="rect">
            <a:avLst/>
          </a:prstGeom>
          <a:noFill/>
        </p:spPr>
        <p:txBody>
          <a:bodyPr wrap="square" rtlCol="0">
            <a:noAutofit/>
          </a:bodyPr>
          <a:p>
            <a:r>
              <a:rPr lang="en-US" altLang="zh-CN"/>
              <a:t> </a:t>
            </a:r>
            <a:r>
              <a:rPr lang="en-US" altLang="zh-CN">
                <a:latin typeface="宋体" charset="-122"/>
                <a:ea typeface="宋体" charset="-122"/>
                <a:cs typeface="宋体" charset="-122"/>
              </a:rPr>
              <a:t> </a:t>
            </a:r>
            <a:r>
              <a:rPr lang="zh-CN" altLang="en-US">
                <a:latin typeface="宋体" charset="-122"/>
                <a:ea typeface="宋体" charset="-122"/>
                <a:cs typeface="宋体" charset="-122"/>
              </a:rPr>
              <a:t>密立根油滴实验装置、油滴喷雾器、温度计油滴实验装置是油滴盒，油滴照明装</a:t>
            </a:r>
            <a:endParaRPr lang="zh-CN" altLang="en-US">
              <a:latin typeface="宋体" charset="-122"/>
              <a:ea typeface="宋体" charset="-122"/>
              <a:cs typeface="宋体" charset="-122"/>
            </a:endParaRPr>
          </a:p>
          <a:p>
            <a:r>
              <a:rPr lang="zh-CN" altLang="en-US">
                <a:latin typeface="宋体" charset="-122"/>
                <a:ea typeface="宋体" charset="-122"/>
                <a:cs typeface="宋体" charset="-122"/>
              </a:rPr>
              <a:t>置，调平系统，测量显微镜，供电电源以及电子停表，喷雾器等组成的，其实验装置如</a:t>
            </a:r>
            <a:endParaRPr lang="zh-CN" altLang="en-US">
              <a:latin typeface="宋体" charset="-122"/>
              <a:ea typeface="宋体" charset="-122"/>
              <a:cs typeface="宋体" charset="-122"/>
            </a:endParaRPr>
          </a:p>
          <a:p>
            <a:r>
              <a:rPr lang="zh-CN" altLang="en-US">
                <a:latin typeface="宋体" charset="-122"/>
                <a:ea typeface="宋体" charset="-122"/>
                <a:cs typeface="宋体" charset="-122"/>
              </a:rPr>
              <a:t>图1所示。其中油滴盒，是由两块经过精磨的金属平板中间垫以胶木圆环构成的平行板</a:t>
            </a:r>
            <a:endParaRPr lang="zh-CN" altLang="en-US">
              <a:latin typeface="宋体" charset="-122"/>
              <a:ea typeface="宋体" charset="-122"/>
              <a:cs typeface="宋体" charset="-122"/>
            </a:endParaRPr>
          </a:p>
          <a:p>
            <a:r>
              <a:rPr lang="zh-CN" altLang="en-US">
                <a:latin typeface="宋体" charset="-122"/>
                <a:ea typeface="宋体" charset="-122"/>
                <a:cs typeface="宋体" charset="-122"/>
              </a:rPr>
              <a:t>电容器。在上板中心处有落油孔，使微小油滴可以进入电容器中间的电场空间，胶木圆</a:t>
            </a:r>
            <a:endParaRPr lang="zh-CN" altLang="en-US">
              <a:latin typeface="宋体" charset="-122"/>
              <a:ea typeface="宋体" charset="-122"/>
              <a:cs typeface="宋体" charset="-122"/>
            </a:endParaRPr>
          </a:p>
          <a:p>
            <a:r>
              <a:rPr lang="zh-CN" altLang="en-US">
                <a:latin typeface="宋体" charset="-122"/>
                <a:ea typeface="宋体" charset="-122"/>
                <a:cs typeface="宋体" charset="-122"/>
              </a:rPr>
              <a:t>环上有进光孔，观察孔。进入电场空间内的油滴由照明装置照明，油滴盒可通过调平螺</a:t>
            </a:r>
            <a:endParaRPr lang="zh-CN" altLang="en-US">
              <a:latin typeface="宋体" charset="-122"/>
              <a:ea typeface="宋体" charset="-122"/>
              <a:cs typeface="宋体" charset="-122"/>
            </a:endParaRPr>
          </a:p>
          <a:p>
            <a:r>
              <a:rPr lang="zh-CN" altLang="en-US">
                <a:latin typeface="宋体" charset="-122"/>
                <a:ea typeface="宋体" charset="-122"/>
                <a:cs typeface="宋体" charset="-122"/>
              </a:rPr>
              <a:t>旋调整水平，用水准仪检查。油滴盒防风罩前装有测量显微镜，并连接 CCD 。</a:t>
            </a:r>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r>
              <a:rPr lang="zh-CN" altLang="en-US">
                <a:latin typeface="宋体" charset="-122"/>
                <a:ea typeface="宋体" charset="-122"/>
                <a:cs typeface="宋体" charset="-122"/>
              </a:rPr>
              <a:t>其中，1-油雾室，2-油雾孔开关，3-防风罩，4-上电极板，5-胶木圆环，6-下电极板，7-底板，8-上盖板，9-喷雾口，10-油雾孔，11-上电极板压簧，12-上电极板电源插孔，13-油滴盒基座</a:t>
            </a:r>
            <a:endParaRPr lang="zh-CN" altLang="en-US">
              <a:latin typeface="宋体" charset="-122"/>
              <a:ea typeface="宋体" charset="-122"/>
              <a:cs typeface="宋体" charset="-122"/>
            </a:endParaRPr>
          </a:p>
        </p:txBody>
      </p:sp>
      <p:pic>
        <p:nvPicPr>
          <p:cNvPr id="6" name="图片 5"/>
          <p:cNvPicPr>
            <a:picLocks noChangeAspect="1"/>
          </p:cNvPicPr>
          <p:nvPr/>
        </p:nvPicPr>
        <p:blipFill>
          <a:blip r:embed="rId1"/>
          <a:stretch>
            <a:fillRect/>
          </a:stretch>
        </p:blipFill>
        <p:spPr>
          <a:xfrm>
            <a:off x="4592320" y="3883025"/>
            <a:ext cx="2638425" cy="1759585"/>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flipH="1" flipV="1">
            <a:off x="-8890" y="-56515"/>
            <a:ext cx="12287885" cy="6914515"/>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7" name="组合 6"/>
          <p:cNvGrpSpPr/>
          <p:nvPr/>
        </p:nvGrpSpPr>
        <p:grpSpPr>
          <a:xfrm>
            <a:off x="3524885" y="2585085"/>
            <a:ext cx="7227570" cy="1139825"/>
            <a:chOff x="2071" y="3857"/>
            <a:chExt cx="11382" cy="1795"/>
          </a:xfrm>
        </p:grpSpPr>
        <p:sp>
          <p:nvSpPr>
            <p:cNvPr id="12" name="圆角矩形 11"/>
            <p:cNvSpPr/>
            <p:nvPr/>
          </p:nvSpPr>
          <p:spPr>
            <a:xfrm>
              <a:off x="2071" y="3964"/>
              <a:ext cx="1537" cy="1537"/>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AEEF"/>
                </a:solidFill>
                <a:cs typeface="+mn-ea"/>
                <a:sym typeface="+mn-lt"/>
              </a:endParaRPr>
            </a:p>
          </p:txBody>
        </p:sp>
        <p:sp>
          <p:nvSpPr>
            <p:cNvPr id="38" name="文本框 37"/>
            <p:cNvSpPr txBox="1"/>
            <p:nvPr/>
          </p:nvSpPr>
          <p:spPr>
            <a:xfrm>
              <a:off x="3811" y="3857"/>
              <a:ext cx="8870" cy="1307"/>
            </a:xfrm>
            <a:prstGeom prst="rect">
              <a:avLst/>
            </a:prstGeom>
            <a:noFill/>
          </p:spPr>
          <p:txBody>
            <a:bodyPr wrap="square" rtlCol="0">
              <a:spAutoFit/>
            </a:bodyPr>
            <a:lstStyle/>
            <a:p>
              <a:pPr algn="l"/>
              <a:r>
                <a:rPr lang="zh-CN" altLang="en-US" sz="4800" b="1" dirty="0">
                  <a:solidFill>
                    <a:srgbClr val="56657C"/>
                  </a:solidFill>
                  <a:effectLst/>
                  <a:cs typeface="+mn-ea"/>
                  <a:sym typeface="+mn-lt"/>
                </a:rPr>
                <a:t>实验</a:t>
              </a:r>
              <a:r>
                <a:rPr lang="zh-CN" altLang="en-US" sz="4800" b="1" dirty="0">
                  <a:solidFill>
                    <a:srgbClr val="56657C"/>
                  </a:solidFill>
                  <a:effectLst/>
                  <a:cs typeface="+mn-ea"/>
                  <a:sym typeface="+mn-lt"/>
                </a:rPr>
                <a:t>原理</a:t>
              </a:r>
              <a:endParaRPr lang="zh-CN" altLang="en-US" sz="4800" b="1" dirty="0">
                <a:solidFill>
                  <a:srgbClr val="56657C"/>
                </a:solidFill>
                <a:effectLst/>
                <a:cs typeface="+mn-ea"/>
                <a:sym typeface="+mn-lt"/>
              </a:endParaRPr>
            </a:p>
          </p:txBody>
        </p:sp>
        <p:sp>
          <p:nvSpPr>
            <p:cNvPr id="39" name="文本框 38"/>
            <p:cNvSpPr txBox="1"/>
            <p:nvPr/>
          </p:nvSpPr>
          <p:spPr>
            <a:xfrm>
              <a:off x="3811" y="5024"/>
              <a:ext cx="9642" cy="628"/>
            </a:xfrm>
            <a:prstGeom prst="rect">
              <a:avLst/>
            </a:prstGeom>
            <a:noFill/>
          </p:spPr>
          <p:txBody>
            <a:bodyPr wrap="square" rtlCol="0">
              <a:spAutoFit/>
            </a:bodyPr>
            <a:lstStyle/>
            <a:p>
              <a:pPr algn="l"/>
              <a:endParaRPr lang="zh-CN" altLang="en-US" sz="2000">
                <a:solidFill>
                  <a:schemeClr val="bg1">
                    <a:lumMod val="50000"/>
                  </a:schemeClr>
                </a:solidFill>
                <a:effectLst/>
                <a:cs typeface="+mn-ea"/>
                <a:sym typeface="+mn-lt"/>
              </a:endParaRPr>
            </a:p>
          </p:txBody>
        </p:sp>
        <p:sp>
          <p:nvSpPr>
            <p:cNvPr id="40" name="文本框 39"/>
            <p:cNvSpPr txBox="1"/>
            <p:nvPr/>
          </p:nvSpPr>
          <p:spPr>
            <a:xfrm>
              <a:off x="2118" y="4055"/>
              <a:ext cx="1400" cy="1355"/>
            </a:xfrm>
            <a:prstGeom prst="rect">
              <a:avLst/>
            </a:prstGeom>
            <a:noFill/>
          </p:spPr>
          <p:txBody>
            <a:bodyPr wrap="none" rtlCol="0">
              <a:spAutoFit/>
            </a:bodyPr>
            <a:lstStyle/>
            <a:p>
              <a:r>
                <a:rPr lang="en-US" altLang="zh-CN" sz="5000">
                  <a:solidFill>
                    <a:schemeClr val="bg1"/>
                  </a:solidFill>
                  <a:cs typeface="+mn-ea"/>
                  <a:sym typeface="+mn-lt"/>
                </a:rPr>
                <a:t>03</a:t>
              </a:r>
              <a:endParaRPr lang="en-US" altLang="zh-CN" sz="5000">
                <a:solidFill>
                  <a:schemeClr val="bg1"/>
                </a:solidFill>
                <a:cs typeface="+mn-ea"/>
                <a:sym typeface="+mn-lt"/>
              </a:endParaRPr>
            </a:p>
          </p:txBody>
        </p:sp>
      </p:gr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2560" y="1230630"/>
            <a:ext cx="11736070" cy="540004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74"/>
            </a:xfrm>
            <a:prstGeom prst="rect">
              <a:avLst/>
            </a:prstGeom>
            <a:noFill/>
          </p:spPr>
          <p:txBody>
            <a:bodyPr wrap="none" rtlCol="0">
              <a:spAutoFit/>
            </a:bodyPr>
            <a:lstStyle/>
            <a:p>
              <a:r>
                <a:rPr lang="zh-CN" altLang="en-US" sz="2600" b="1" dirty="0">
                  <a:solidFill>
                    <a:schemeClr val="bg1"/>
                  </a:solidFill>
                  <a:cs typeface="+mn-ea"/>
                  <a:sym typeface="+mn-lt"/>
                </a:rPr>
                <a:t>实验</a:t>
              </a:r>
              <a:r>
                <a:rPr lang="zh-CN" altLang="en-US" sz="2600" b="1" dirty="0">
                  <a:solidFill>
                    <a:schemeClr val="bg1"/>
                  </a:solidFill>
                  <a:cs typeface="+mn-ea"/>
                  <a:sym typeface="+mn-lt"/>
                </a:rPr>
                <a:t>原理</a:t>
              </a:r>
              <a:endParaRPr lang="zh-CN" altLang="en-US" sz="2600" b="1" dirty="0">
                <a:solidFill>
                  <a:schemeClr val="bg1"/>
                </a:solidFill>
                <a:cs typeface="+mn-ea"/>
                <a:sym typeface="+mn-lt"/>
              </a:endParaRPr>
            </a:p>
          </p:txBody>
        </p:sp>
      </p:grpSp>
      <p:sp>
        <p:nvSpPr>
          <p:cNvPr id="2" name="文本框 1"/>
          <p:cNvSpPr txBox="1"/>
          <p:nvPr/>
        </p:nvSpPr>
        <p:spPr>
          <a:xfrm>
            <a:off x="161925" y="1230630"/>
            <a:ext cx="11889105" cy="5467350"/>
          </a:xfrm>
          <a:prstGeom prst="rect">
            <a:avLst/>
          </a:prstGeom>
          <a:noFill/>
        </p:spPr>
        <p:txBody>
          <a:bodyPr wrap="square" rtlCol="0">
            <a:noAutofit/>
          </a:bodyPr>
          <a:p>
            <a:r>
              <a:rPr lang="en-US" altLang="zh-CN">
                <a:latin typeface="宋体" charset="-122"/>
                <a:ea typeface="宋体" charset="-122"/>
                <a:cs typeface="宋体" charset="-122"/>
              </a:rPr>
              <a:t>1. 布朗运动的含义布朗运动是指悬浮在液体或气体中的微粒所做的永不停息的无规则运动。因由英国植物学家罗伯特·布朗所发现而得名。作布朗运动的微粒直径一般为 10−5 ∼ 10−3 厘米，这些小的微粒处于液体或气体中时，由于分子的热运动，微粒受到来自各个方向分子的碰撞，当受到不平衡的冲撞时而运动，由于这种不平衡的冲撞，微粒的运动不断地改变方向而使微粒出现不规则的运动。布朗运动的剧烈程度随着流体的温度升高而增加。</a:t>
            </a:r>
            <a:endParaRPr lang="en-US" altLang="zh-CN">
              <a:latin typeface="宋体" charset="-122"/>
              <a:ea typeface="宋体" charset="-122"/>
              <a:cs typeface="宋体" charset="-122"/>
            </a:endParaRPr>
          </a:p>
          <a:p>
            <a:r>
              <a:rPr lang="en-US" altLang="zh-CN">
                <a:latin typeface="宋体" charset="-122"/>
                <a:ea typeface="宋体" charset="-122"/>
                <a:cs typeface="宋体" charset="-122"/>
              </a:rPr>
              <a:t>2. 布朗运动规律将粒子的布朗运动分为多次极短时间内的运动，RN 是经过N次运动</a:t>
            </a:r>
            <a:endParaRPr lang="en-US" altLang="zh-CN">
              <a:latin typeface="宋体" charset="-122"/>
              <a:ea typeface="宋体" charset="-122"/>
              <a:cs typeface="宋体" charset="-122"/>
            </a:endParaRPr>
          </a:p>
          <a:p>
            <a:r>
              <a:rPr lang="en-US" altLang="zh-CN">
                <a:latin typeface="宋体" charset="-122"/>
                <a:ea typeface="宋体" charset="-122"/>
                <a:cs typeface="宋体" charset="-122"/>
              </a:rPr>
              <a:t>后离开原点的位移矢量，则离原点的方均距离正比于步数N。</a:t>
            </a:r>
            <a:r>
              <a:rPr lang="zh-CN" altLang="en-US">
                <a:latin typeface="宋体" charset="-122"/>
                <a:ea typeface="宋体" charset="-122"/>
                <a:cs typeface="宋体" charset="-122"/>
              </a:rPr>
              <a:t>即</a:t>
            </a:r>
            <a:endParaRPr lang="zh-CN" altLang="en-US">
              <a:latin typeface="宋体" charset="-122"/>
              <a:ea typeface="宋体" charset="-122"/>
              <a:cs typeface="宋体" charset="-122"/>
            </a:endParaRPr>
          </a:p>
          <a:p>
            <a:endParaRPr lang="en-US" altLang="zh-CN"/>
          </a:p>
          <a:p>
            <a:r>
              <a:rPr lang="zh-CN" altLang="en-US">
                <a:latin typeface="宋体" charset="-122"/>
                <a:ea typeface="宋体" charset="-122"/>
                <a:cs typeface="宋体" charset="-122"/>
              </a:rPr>
              <a:t>L是每次运动的长度。由于碰撞次数正比于时间，所以方均距离也正比于时间,即</a:t>
            </a:r>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r>
              <a:rPr lang="zh-CN" altLang="en-US">
                <a:latin typeface="宋体" charset="-122"/>
                <a:ea typeface="宋体" charset="-122"/>
                <a:cs typeface="宋体" charset="-122"/>
              </a:rPr>
              <a:t>每继续运动一次，距离的平方平均增加L。因为</a:t>
            </a:r>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r>
              <a:rPr lang="zh-CN" altLang="en-US">
                <a:latin typeface="宋体" charset="-122"/>
                <a:ea typeface="宋体" charset="-122"/>
                <a:cs typeface="宋体" charset="-122"/>
              </a:rPr>
              <a:t>则得到</a:t>
            </a:r>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r>
              <a:rPr lang="zh-CN" altLang="en-US">
                <a:latin typeface="宋体" charset="-122"/>
                <a:ea typeface="宋体" charset="-122"/>
                <a:cs typeface="宋体" charset="-122"/>
              </a:rPr>
              <a:t>对许多走法作平均后，有</a:t>
            </a:r>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r>
              <a:rPr lang="zh-CN" altLang="en-US">
                <a:latin typeface="宋体" charset="-122"/>
                <a:ea typeface="宋体" charset="-122"/>
                <a:cs typeface="宋体" charset="-122"/>
              </a:rPr>
              <a:t>由于</a:t>
            </a:r>
            <a:r>
              <a:rPr lang="en-US" altLang="zh-CN">
                <a:latin typeface="宋体" charset="-122"/>
                <a:ea typeface="宋体" charset="-122"/>
                <a:cs typeface="宋体" charset="-122"/>
              </a:rPr>
              <a:t> </a:t>
            </a:r>
            <a:r>
              <a:rPr lang="zh-CN" altLang="en-US">
                <a:latin typeface="宋体" charset="-122"/>
                <a:ea typeface="宋体" charset="-122"/>
                <a:cs typeface="宋体" charset="-122"/>
              </a:rPr>
              <a:t> </a:t>
            </a:r>
            <a:r>
              <a:rPr lang="en-US" altLang="zh-CN">
                <a:latin typeface="宋体" charset="-122"/>
                <a:ea typeface="宋体" charset="-122"/>
                <a:cs typeface="宋体" charset="-122"/>
              </a:rPr>
              <a:t>          </a:t>
            </a:r>
            <a:r>
              <a:rPr lang="zh-CN" altLang="en-US">
                <a:latin typeface="宋体" charset="-122"/>
                <a:ea typeface="宋体" charset="-122"/>
                <a:cs typeface="宋体" charset="-122"/>
              </a:rPr>
              <a:t>,利用归纳法，即可得到</a:t>
            </a:r>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p:txBody>
      </p:sp>
      <p:pic>
        <p:nvPicPr>
          <p:cNvPr id="7" name="图片 6"/>
          <p:cNvPicPr>
            <a:picLocks noChangeAspect="1"/>
          </p:cNvPicPr>
          <p:nvPr/>
        </p:nvPicPr>
        <p:blipFill>
          <a:blip r:embed="rId1"/>
          <a:srcRect l="16385" t="32923" r="3739" b="21165"/>
          <a:stretch>
            <a:fillRect/>
          </a:stretch>
        </p:blipFill>
        <p:spPr>
          <a:xfrm>
            <a:off x="3862070" y="2880360"/>
            <a:ext cx="1560195" cy="260350"/>
          </a:xfrm>
          <a:prstGeom prst="rect">
            <a:avLst/>
          </a:prstGeom>
        </p:spPr>
      </p:pic>
      <p:pic>
        <p:nvPicPr>
          <p:cNvPr id="8" name="图片 7"/>
          <p:cNvPicPr>
            <a:picLocks noChangeAspect="1"/>
          </p:cNvPicPr>
          <p:nvPr/>
        </p:nvPicPr>
        <p:blipFill>
          <a:blip r:embed="rId2"/>
          <a:srcRect l="5332" t="21014" b="10870"/>
          <a:stretch>
            <a:fillRect/>
          </a:stretch>
        </p:blipFill>
        <p:spPr>
          <a:xfrm>
            <a:off x="3862070" y="3492500"/>
            <a:ext cx="1341755" cy="358140"/>
          </a:xfrm>
          <a:prstGeom prst="rect">
            <a:avLst/>
          </a:prstGeom>
        </p:spPr>
      </p:pic>
      <p:pic>
        <p:nvPicPr>
          <p:cNvPr id="9" name="图片 8"/>
          <p:cNvPicPr>
            <a:picLocks noChangeAspect="1"/>
          </p:cNvPicPr>
          <p:nvPr/>
        </p:nvPicPr>
        <p:blipFill>
          <a:blip r:embed="rId3"/>
          <a:srcRect l="5190" t="21895"/>
          <a:stretch>
            <a:fillRect/>
          </a:stretch>
        </p:blipFill>
        <p:spPr>
          <a:xfrm>
            <a:off x="3750945" y="4276090"/>
            <a:ext cx="2087880" cy="303530"/>
          </a:xfrm>
          <a:prstGeom prst="rect">
            <a:avLst/>
          </a:prstGeom>
        </p:spPr>
      </p:pic>
      <p:pic>
        <p:nvPicPr>
          <p:cNvPr id="10" name="图片 9"/>
          <p:cNvPicPr>
            <a:picLocks noChangeAspect="1"/>
          </p:cNvPicPr>
          <p:nvPr/>
        </p:nvPicPr>
        <p:blipFill>
          <a:blip r:embed="rId4"/>
          <a:stretch>
            <a:fillRect/>
          </a:stretch>
        </p:blipFill>
        <p:spPr>
          <a:xfrm>
            <a:off x="3025775" y="4789170"/>
            <a:ext cx="3474720" cy="457200"/>
          </a:xfrm>
          <a:prstGeom prst="rect">
            <a:avLst/>
          </a:prstGeom>
        </p:spPr>
      </p:pic>
      <p:pic>
        <p:nvPicPr>
          <p:cNvPr id="11" name="图片 10"/>
          <p:cNvPicPr>
            <a:picLocks noChangeAspect="1"/>
          </p:cNvPicPr>
          <p:nvPr/>
        </p:nvPicPr>
        <p:blipFill>
          <a:blip r:embed="rId5"/>
          <a:stretch>
            <a:fillRect/>
          </a:stretch>
        </p:blipFill>
        <p:spPr>
          <a:xfrm>
            <a:off x="3636645" y="5549265"/>
            <a:ext cx="2400300" cy="419100"/>
          </a:xfrm>
          <a:prstGeom prst="rect">
            <a:avLst/>
          </a:prstGeom>
        </p:spPr>
      </p:pic>
      <p:pic>
        <p:nvPicPr>
          <p:cNvPr id="12" name="图片 11"/>
          <p:cNvPicPr>
            <a:picLocks noChangeAspect="1"/>
          </p:cNvPicPr>
          <p:nvPr/>
        </p:nvPicPr>
        <p:blipFill>
          <a:blip r:embed="rId6"/>
          <a:srcRect l="5007" t="-2312" r="4831" b="3468"/>
          <a:stretch>
            <a:fillRect/>
          </a:stretch>
        </p:blipFill>
        <p:spPr>
          <a:xfrm>
            <a:off x="730250" y="5884545"/>
            <a:ext cx="1303655" cy="325755"/>
          </a:xfrm>
          <a:prstGeom prst="rect">
            <a:avLst/>
          </a:prstGeom>
        </p:spPr>
      </p:pic>
      <p:pic>
        <p:nvPicPr>
          <p:cNvPr id="13" name="图片 12"/>
          <p:cNvPicPr>
            <a:picLocks noChangeAspect="1"/>
          </p:cNvPicPr>
          <p:nvPr/>
        </p:nvPicPr>
        <p:blipFill>
          <a:blip r:embed="rId7"/>
          <a:stretch>
            <a:fillRect/>
          </a:stretch>
        </p:blipFill>
        <p:spPr>
          <a:xfrm>
            <a:off x="3522980" y="6184265"/>
            <a:ext cx="1539240" cy="388620"/>
          </a:xfrm>
          <a:prstGeom prst="rect">
            <a:avLst/>
          </a:prstGeom>
        </p:spPr>
      </p:pic>
    </p:spTree>
    <p:custDataLst>
      <p:tags r:id="rId8"/>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74"/>
            </a:xfrm>
            <a:prstGeom prst="rect">
              <a:avLst/>
            </a:prstGeom>
            <a:noFill/>
          </p:spPr>
          <p:txBody>
            <a:bodyPr wrap="none" rtlCol="0">
              <a:spAutoFit/>
            </a:bodyPr>
            <a:lstStyle/>
            <a:p>
              <a:r>
                <a:rPr lang="zh-CN" altLang="en-US" sz="2600" b="1" dirty="0">
                  <a:solidFill>
                    <a:schemeClr val="bg1"/>
                  </a:solidFill>
                  <a:cs typeface="+mn-ea"/>
                  <a:sym typeface="+mn-lt"/>
                </a:rPr>
                <a:t>实验</a:t>
              </a:r>
              <a:r>
                <a:rPr lang="zh-CN" altLang="en-US" sz="2600" b="1" dirty="0">
                  <a:solidFill>
                    <a:schemeClr val="bg1"/>
                  </a:solidFill>
                  <a:cs typeface="+mn-ea"/>
                  <a:sym typeface="+mn-lt"/>
                </a:rPr>
                <a:t>原理</a:t>
              </a:r>
              <a:endParaRPr lang="zh-CN" altLang="en-US" sz="2600" b="1" dirty="0">
                <a:solidFill>
                  <a:schemeClr val="bg1"/>
                </a:solidFill>
                <a:cs typeface="+mn-ea"/>
                <a:sym typeface="+mn-lt"/>
              </a:endParaRPr>
            </a:p>
          </p:txBody>
        </p:sp>
      </p:grpSp>
      <p:sp>
        <p:nvSpPr>
          <p:cNvPr id="2" name="文本框 1"/>
          <p:cNvSpPr txBox="1"/>
          <p:nvPr/>
        </p:nvSpPr>
        <p:spPr>
          <a:xfrm>
            <a:off x="311150" y="1378585"/>
            <a:ext cx="11308715" cy="4854575"/>
          </a:xfrm>
          <a:prstGeom prst="rect">
            <a:avLst/>
          </a:prstGeom>
          <a:noFill/>
        </p:spPr>
        <p:txBody>
          <a:bodyPr wrap="square" rtlCol="0">
            <a:noAutofit/>
          </a:bodyPr>
          <a:p>
            <a:r>
              <a:rPr lang="zh-CN" altLang="en-US" sz="2000">
                <a:latin typeface="宋体" charset="-122"/>
                <a:ea typeface="宋体" charset="-122"/>
                <a:cs typeface="宋体" charset="-122"/>
              </a:rPr>
              <a:t>3. 爱因斯坦对布朗运动的研究爱因斯坦的成果大体上可分两方面。</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一是，根据分子热运动原理推导：在t时间里，微粒在某一方向上位移的统计平均</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值，即方均根值, </a:t>
            </a:r>
            <a:r>
              <a:rPr lang="en-US" altLang="zh-CN" sz="2000">
                <a:latin typeface="宋体" charset="-122"/>
                <a:ea typeface="宋体" charset="-122"/>
                <a:cs typeface="宋体" charset="-122"/>
              </a:rPr>
              <a:t>          ,</a:t>
            </a:r>
            <a:r>
              <a:rPr lang="zh-CN" altLang="en-US" sz="2000">
                <a:latin typeface="宋体" charset="-122"/>
                <a:ea typeface="宋体" charset="-122"/>
                <a:cs typeface="宋体" charset="-122"/>
              </a:rPr>
              <a:t>D是微粒的扩散系数。这一公式是看来毫无规则的</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布朗运动服从分子热运动规律的必然结果。</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二是，对于球形微粒，推导出了可以求算阿式中的 η 是介质粘度，是微粒半径，</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R是气体常数, NA为阿伏加德罗常数。按此公式，只要实际测得准确的扩散系</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数D或布朗运动均方位移就可得到原子和分子的绝对质量。爱因斯坦曾用前人测</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定的糖在水中的扩散系数，估算的 NA 值为 3.3 × 10</a:t>
            </a:r>
            <a:r>
              <a:rPr lang="en-US" altLang="zh-CN" sz="2000">
                <a:latin typeface="宋体" charset="-122"/>
                <a:ea typeface="宋体" charset="-122"/>
                <a:cs typeface="宋体" charset="-122"/>
              </a:rPr>
              <a:t>^23</a:t>
            </a:r>
            <a:r>
              <a:rPr lang="zh-CN" altLang="en-US" sz="2000">
                <a:latin typeface="宋体" charset="-122"/>
                <a:ea typeface="宋体" charset="-122"/>
                <a:cs typeface="宋体" charset="-122"/>
              </a:rPr>
              <a:t>，一年后（1906），又修改</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为 6.56 × 10</a:t>
            </a:r>
            <a:r>
              <a:rPr lang="en-US" altLang="zh-CN" sz="2000">
                <a:latin typeface="宋体" charset="-122"/>
                <a:ea typeface="宋体" charset="-122"/>
                <a:cs typeface="宋体" charset="-122"/>
              </a:rPr>
              <a:t>^</a:t>
            </a:r>
            <a:r>
              <a:rPr lang="zh-CN" altLang="en-US" sz="2000">
                <a:latin typeface="宋体" charset="-122"/>
                <a:ea typeface="宋体" charset="-122"/>
                <a:cs typeface="宋体" charset="-122"/>
              </a:rPr>
              <a:t>23 。</a:t>
            </a:r>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扩散系数公式如下，</a:t>
            </a:r>
            <a:endParaRPr lang="zh-CN" altLang="en-US" sz="2000">
              <a:latin typeface="宋体" charset="-122"/>
              <a:ea typeface="宋体" charset="-122"/>
              <a:cs typeface="宋体" charset="-122"/>
            </a:endParaRPr>
          </a:p>
          <a:p>
            <a:endParaRPr lang="zh-CN" altLang="en-US" sz="2000">
              <a:latin typeface="宋体" charset="-122"/>
              <a:ea typeface="宋体" charset="-122"/>
              <a:cs typeface="宋体" charset="-122"/>
            </a:endParaRPr>
          </a:p>
          <a:p>
            <a:endParaRPr lang="zh-CN" altLang="en-US" sz="2000">
              <a:latin typeface="宋体" charset="-122"/>
              <a:ea typeface="宋体" charset="-122"/>
              <a:cs typeface="宋体" charset="-122"/>
            </a:endParaRPr>
          </a:p>
          <a:p>
            <a:r>
              <a:rPr lang="zh-CN" altLang="en-US" sz="2000">
                <a:latin typeface="宋体" charset="-122"/>
                <a:ea typeface="宋体" charset="-122"/>
                <a:cs typeface="宋体" charset="-122"/>
              </a:rPr>
              <a:t>4. 静态法验证布朗运动规律通过静态法可以为验证上述两条布朗运动规律方程，并 测量油滴的扩散系数η 和半径r。</a:t>
            </a:r>
            <a:endParaRPr lang="zh-CN" altLang="en-US" sz="2000">
              <a:latin typeface="宋体" charset="-122"/>
              <a:ea typeface="宋体" charset="-122"/>
              <a:cs typeface="宋体" charset="-122"/>
            </a:endParaRPr>
          </a:p>
          <a:p>
            <a:endParaRPr lang="zh-CN" altLang="en-US" sz="2000">
              <a:latin typeface="宋体" charset="-122"/>
              <a:ea typeface="宋体" charset="-122"/>
              <a:cs typeface="宋体" charset="-122"/>
            </a:endParaRPr>
          </a:p>
        </p:txBody>
      </p:sp>
      <p:pic>
        <p:nvPicPr>
          <p:cNvPr id="3" name="图片 2"/>
          <p:cNvPicPr>
            <a:picLocks noChangeAspect="1"/>
          </p:cNvPicPr>
          <p:nvPr/>
        </p:nvPicPr>
        <p:blipFill>
          <a:blip r:embed="rId1"/>
          <a:stretch>
            <a:fillRect/>
          </a:stretch>
        </p:blipFill>
        <p:spPr>
          <a:xfrm>
            <a:off x="2114550" y="1964690"/>
            <a:ext cx="1248410" cy="310515"/>
          </a:xfrm>
          <a:prstGeom prst="rect">
            <a:avLst/>
          </a:prstGeom>
        </p:spPr>
      </p:pic>
      <p:pic>
        <p:nvPicPr>
          <p:cNvPr id="6" name="图片 5"/>
          <p:cNvPicPr>
            <a:picLocks noChangeAspect="1"/>
          </p:cNvPicPr>
          <p:nvPr/>
        </p:nvPicPr>
        <p:blipFill>
          <a:blip r:embed="rId2"/>
          <a:stretch>
            <a:fillRect/>
          </a:stretch>
        </p:blipFill>
        <p:spPr>
          <a:xfrm>
            <a:off x="2398395" y="3925570"/>
            <a:ext cx="1417320" cy="723900"/>
          </a:xfrm>
          <a:prstGeom prst="rect">
            <a:avLst/>
          </a:prstGeom>
        </p:spPr>
      </p:pic>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74"/>
            </a:xfrm>
            <a:prstGeom prst="rect">
              <a:avLst/>
            </a:prstGeom>
            <a:noFill/>
          </p:spPr>
          <p:txBody>
            <a:bodyPr wrap="none" rtlCol="0">
              <a:spAutoFit/>
            </a:bodyPr>
            <a:lstStyle/>
            <a:p>
              <a:r>
                <a:rPr lang="zh-CN" altLang="en-US" sz="2600" b="1" dirty="0">
                  <a:solidFill>
                    <a:schemeClr val="bg1"/>
                  </a:solidFill>
                  <a:cs typeface="+mn-ea"/>
                  <a:sym typeface="+mn-lt"/>
                </a:rPr>
                <a:t>实验</a:t>
              </a:r>
              <a:r>
                <a:rPr lang="zh-CN" altLang="en-US" sz="2600" b="1" dirty="0">
                  <a:solidFill>
                    <a:schemeClr val="bg1"/>
                  </a:solidFill>
                  <a:cs typeface="+mn-ea"/>
                  <a:sym typeface="+mn-lt"/>
                </a:rPr>
                <a:t>原理</a:t>
              </a:r>
              <a:endParaRPr lang="zh-CN" altLang="en-US" sz="2600" b="1" dirty="0">
                <a:solidFill>
                  <a:schemeClr val="bg1"/>
                </a:solidFill>
                <a:cs typeface="+mn-ea"/>
                <a:sym typeface="+mn-lt"/>
              </a:endParaRPr>
            </a:p>
          </p:txBody>
        </p:sp>
      </p:grpSp>
      <p:sp>
        <p:nvSpPr>
          <p:cNvPr id="2" name="文本框 1"/>
          <p:cNvSpPr txBox="1"/>
          <p:nvPr/>
        </p:nvSpPr>
        <p:spPr>
          <a:xfrm>
            <a:off x="311150" y="1378585"/>
            <a:ext cx="11572875" cy="5289550"/>
          </a:xfrm>
          <a:prstGeom prst="rect">
            <a:avLst/>
          </a:prstGeom>
          <a:noFill/>
        </p:spPr>
        <p:txBody>
          <a:bodyPr wrap="square" rtlCol="0">
            <a:noAutofit/>
          </a:bodyPr>
          <a:p>
            <a:r>
              <a:rPr lang="zh-CN" altLang="en-US">
                <a:latin typeface="宋体" charset="-122"/>
                <a:ea typeface="宋体" charset="-122"/>
                <a:cs typeface="宋体" charset="-122"/>
              </a:rPr>
              <a:t>实验研究对象是带电的油滴，基本思想是使油滴处于受力平衡状态。当油滴受力 平衡时，可视为在竖直方向上静止不动，因此我们可以追踪粒子在水平方向上的 一维布朗运动,通过实验数据验证上式。油滴通过喷雾器喷射进入两块相距为d的 平行极板之间。油在喷射撕裂成油滴时，一般都是带电的。如果调节两极板之间 的电压U,可使油滴悬浮在空中，如图2所示。设油滴的质量为m，所带的电量为q， 两极板间的电压为U，则油滴在平行极板之间所受重力mg，静电力qE = qU</a:t>
            </a:r>
            <a:r>
              <a:rPr lang="en-US" altLang="zh-CN">
                <a:latin typeface="宋体" charset="-122"/>
                <a:ea typeface="宋体" charset="-122"/>
                <a:cs typeface="宋体" charset="-122"/>
              </a:rPr>
              <a:t>/d</a:t>
            </a:r>
            <a:r>
              <a:rPr lang="zh-CN" altLang="en-US">
                <a:latin typeface="宋体" charset="-122"/>
                <a:ea typeface="宋体" charset="-122"/>
                <a:cs typeface="宋体" charset="-122"/>
              </a:rPr>
              <a:t> 。</a:t>
            </a:r>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r>
              <a:rPr lang="zh-CN" altLang="en-US">
                <a:latin typeface="宋体" charset="-122"/>
                <a:ea typeface="宋体" charset="-122"/>
                <a:cs typeface="宋体" charset="-122"/>
              </a:rPr>
              <a:t>因m很小，难直接测量。油滴可视为球状，设密度为ρ，油滴的质量m可表示为</a:t>
            </a:r>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endParaRPr lang="zh-CN" altLang="en-US">
              <a:latin typeface="宋体" charset="-122"/>
              <a:ea typeface="宋体" charset="-122"/>
              <a:cs typeface="宋体" charset="-122"/>
            </a:endParaRPr>
          </a:p>
          <a:p>
            <a:r>
              <a:rPr lang="zh-CN" altLang="en-US">
                <a:latin typeface="宋体" charset="-122"/>
                <a:ea typeface="宋体" charset="-122"/>
                <a:cs typeface="宋体" charset="-122"/>
              </a:rPr>
              <a:t>而油滴的半径r可通过其在重力场中的终极速度求出。平行极板不加电压时，油滴 受重力作用而加速下降，由于空气阻力的作用, 下降一段距离达到某一速度后，阻 力fr 与重力mg平衡，如图3所示(空气浮力忽略不计)，油滴将匀速下降。vg 称为 终极速度。</a:t>
            </a:r>
            <a:endParaRPr lang="zh-CN" altLang="en-US">
              <a:latin typeface="宋体" charset="-122"/>
              <a:ea typeface="宋体" charset="-122"/>
              <a:cs typeface="宋体" charset="-122"/>
            </a:endParaRPr>
          </a:p>
          <a:p>
            <a:r>
              <a:rPr lang="zh-CN" altLang="en-US">
                <a:latin typeface="宋体" charset="-122"/>
                <a:ea typeface="宋体" charset="-122"/>
                <a:cs typeface="宋体" charset="-122"/>
              </a:rPr>
              <a:t>根据斯托克斯定律，</a:t>
            </a:r>
            <a:endParaRPr lang="zh-CN" altLang="en-US">
              <a:latin typeface="宋体" charset="-122"/>
              <a:ea typeface="宋体" charset="-122"/>
              <a:cs typeface="宋体" charset="-122"/>
            </a:endParaRPr>
          </a:p>
        </p:txBody>
      </p:sp>
      <p:pic>
        <p:nvPicPr>
          <p:cNvPr id="3" name="图片 2"/>
          <p:cNvPicPr>
            <a:picLocks noChangeAspect="1"/>
          </p:cNvPicPr>
          <p:nvPr/>
        </p:nvPicPr>
        <p:blipFill>
          <a:blip r:embed="rId1"/>
          <a:srcRect t="10784" r="12025" b="980"/>
          <a:stretch>
            <a:fillRect/>
          </a:stretch>
        </p:blipFill>
        <p:spPr>
          <a:xfrm>
            <a:off x="4768850" y="2751455"/>
            <a:ext cx="2092960" cy="1355090"/>
          </a:xfrm>
          <a:prstGeom prst="rect">
            <a:avLst/>
          </a:prstGeom>
        </p:spPr>
      </p:pic>
      <p:pic>
        <p:nvPicPr>
          <p:cNvPr id="6" name="图片 5"/>
          <p:cNvPicPr>
            <a:picLocks noChangeAspect="1"/>
          </p:cNvPicPr>
          <p:nvPr/>
        </p:nvPicPr>
        <p:blipFill>
          <a:blip r:embed="rId2"/>
          <a:stretch>
            <a:fillRect/>
          </a:stretch>
        </p:blipFill>
        <p:spPr>
          <a:xfrm>
            <a:off x="3842385" y="4454525"/>
            <a:ext cx="2438400" cy="451485"/>
          </a:xfrm>
          <a:prstGeom prst="rect">
            <a:avLst/>
          </a:prstGeom>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2014835" cy="5362575"/>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74"/>
            </a:xfrm>
            <a:prstGeom prst="rect">
              <a:avLst/>
            </a:prstGeom>
            <a:noFill/>
          </p:spPr>
          <p:txBody>
            <a:bodyPr wrap="none" rtlCol="0">
              <a:spAutoFit/>
            </a:bodyPr>
            <a:lstStyle/>
            <a:p>
              <a:r>
                <a:rPr lang="zh-CN" altLang="en-US" sz="2600" b="1" dirty="0">
                  <a:solidFill>
                    <a:schemeClr val="bg1"/>
                  </a:solidFill>
                  <a:cs typeface="+mn-ea"/>
                  <a:sym typeface="+mn-lt"/>
                </a:rPr>
                <a:t>实验</a:t>
              </a:r>
              <a:r>
                <a:rPr lang="zh-CN" altLang="en-US" sz="2600" b="1" dirty="0">
                  <a:solidFill>
                    <a:schemeClr val="bg1"/>
                  </a:solidFill>
                  <a:cs typeface="+mn-ea"/>
                  <a:sym typeface="+mn-lt"/>
                </a:rPr>
                <a:t>原理</a:t>
              </a:r>
              <a:endParaRPr lang="zh-CN" altLang="en-US" sz="2600" b="1" dirty="0">
                <a:solidFill>
                  <a:schemeClr val="bg1"/>
                </a:solidFill>
                <a:cs typeface="+mn-ea"/>
                <a:sym typeface="+mn-lt"/>
              </a:endParaRPr>
            </a:p>
          </p:txBody>
        </p:sp>
      </p:grpSp>
      <p:sp>
        <p:nvSpPr>
          <p:cNvPr id="2" name="文本框 1"/>
          <p:cNvSpPr txBox="1"/>
          <p:nvPr/>
        </p:nvSpPr>
        <p:spPr>
          <a:xfrm>
            <a:off x="311150" y="1378585"/>
            <a:ext cx="11572875" cy="5289550"/>
          </a:xfrm>
          <a:prstGeom prst="rect">
            <a:avLst/>
          </a:prstGeom>
          <a:noFill/>
        </p:spPr>
        <p:txBody>
          <a:bodyPr wrap="square" rtlCol="0">
            <a:noAutofit/>
          </a:bodyPr>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r>
              <a:rPr lang="en-US" altLang="zh-CN">
                <a:latin typeface="宋体" charset="-122"/>
                <a:ea typeface="宋体" charset="-122"/>
                <a:cs typeface="宋体" charset="-122"/>
              </a:rPr>
              <a:t>其中η是空气的粘滞系数，r是油滴的半径。重力mg与阻力fr 平衡时,</a:t>
            </a:r>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r>
              <a:rPr lang="en-US" altLang="zh-CN">
                <a:latin typeface="宋体" charset="-122"/>
                <a:ea typeface="宋体" charset="-122"/>
                <a:cs typeface="宋体" charset="-122"/>
              </a:rPr>
              <a:t>由式(9)(10)(11)得到油滴的半径，</a:t>
            </a:r>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r>
              <a:rPr lang="en-US" altLang="zh-CN">
                <a:latin typeface="宋体" charset="-122"/>
                <a:ea typeface="宋体" charset="-122"/>
                <a:cs typeface="宋体" charset="-122"/>
              </a:rPr>
              <a:t>当两极板间的电压 U 为零时，油滴匀速下降的距离为 l，时间为 tg，则油滴的匀 速下降速度 vg 为:</a:t>
            </a:r>
            <a:endParaRPr lang="en-US" altLang="zh-CN">
              <a:latin typeface="宋体" charset="-122"/>
              <a:ea typeface="宋体" charset="-122"/>
              <a:cs typeface="宋体" charset="-122"/>
            </a:endParaRPr>
          </a:p>
        </p:txBody>
      </p:sp>
      <p:pic>
        <p:nvPicPr>
          <p:cNvPr id="7" name="图片 6" descr="2024-05-31 22:15:15.721000"/>
          <p:cNvPicPr>
            <a:picLocks noChangeAspect="1"/>
          </p:cNvPicPr>
          <p:nvPr/>
        </p:nvPicPr>
        <p:blipFill>
          <a:blip r:embed="rId1"/>
          <a:stretch>
            <a:fillRect/>
          </a:stretch>
        </p:blipFill>
        <p:spPr>
          <a:xfrm>
            <a:off x="2648585" y="1378585"/>
            <a:ext cx="5283200" cy="558800"/>
          </a:xfrm>
          <a:prstGeom prst="rect">
            <a:avLst/>
          </a:prstGeom>
        </p:spPr>
      </p:pic>
      <p:pic>
        <p:nvPicPr>
          <p:cNvPr id="8" name="图片 7" descr="2024-05-31 22:16:30.192000"/>
          <p:cNvPicPr>
            <a:picLocks noChangeAspect="1"/>
          </p:cNvPicPr>
          <p:nvPr/>
        </p:nvPicPr>
        <p:blipFill>
          <a:blip r:embed="rId2"/>
          <a:stretch>
            <a:fillRect/>
          </a:stretch>
        </p:blipFill>
        <p:spPr>
          <a:xfrm>
            <a:off x="3676015" y="1937385"/>
            <a:ext cx="2162175" cy="1626870"/>
          </a:xfrm>
          <a:prstGeom prst="rect">
            <a:avLst/>
          </a:prstGeom>
        </p:spPr>
      </p:pic>
      <p:pic>
        <p:nvPicPr>
          <p:cNvPr id="9" name="图片 8" descr="2024-05-31 22:17:20.993000"/>
          <p:cNvPicPr>
            <a:picLocks noChangeAspect="1"/>
          </p:cNvPicPr>
          <p:nvPr/>
        </p:nvPicPr>
        <p:blipFill>
          <a:blip r:embed="rId3"/>
          <a:stretch>
            <a:fillRect/>
          </a:stretch>
        </p:blipFill>
        <p:spPr>
          <a:xfrm>
            <a:off x="3919855" y="3897630"/>
            <a:ext cx="3086100" cy="478790"/>
          </a:xfrm>
          <a:prstGeom prst="rect">
            <a:avLst/>
          </a:prstGeom>
        </p:spPr>
      </p:pic>
      <p:pic>
        <p:nvPicPr>
          <p:cNvPr id="10" name="图片 9" descr="2024-05-31 22:18:14.560000"/>
          <p:cNvPicPr>
            <a:picLocks noChangeAspect="1"/>
          </p:cNvPicPr>
          <p:nvPr/>
        </p:nvPicPr>
        <p:blipFill>
          <a:blip r:embed="rId4"/>
          <a:stretch>
            <a:fillRect/>
          </a:stretch>
        </p:blipFill>
        <p:spPr>
          <a:xfrm>
            <a:off x="3422015" y="4886960"/>
            <a:ext cx="3078480" cy="548005"/>
          </a:xfrm>
          <a:prstGeom prst="rect">
            <a:avLst/>
          </a:prstGeom>
        </p:spPr>
      </p:pic>
      <p:pic>
        <p:nvPicPr>
          <p:cNvPr id="11" name="图片 10" descr="2024-05-31 22:19:48.784000"/>
          <p:cNvPicPr>
            <a:picLocks noChangeAspect="1"/>
          </p:cNvPicPr>
          <p:nvPr/>
        </p:nvPicPr>
        <p:blipFill>
          <a:blip r:embed="rId5"/>
          <a:srcRect l="10941" r="5562" b="16503"/>
          <a:stretch>
            <a:fillRect/>
          </a:stretch>
        </p:blipFill>
        <p:spPr>
          <a:xfrm>
            <a:off x="3919855" y="5876290"/>
            <a:ext cx="3470275" cy="614680"/>
          </a:xfrm>
          <a:prstGeom prst="rect">
            <a:avLst/>
          </a:prstGeom>
        </p:spPr>
      </p:pic>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74"/>
            </a:xfrm>
            <a:prstGeom prst="rect">
              <a:avLst/>
            </a:prstGeom>
            <a:noFill/>
          </p:spPr>
          <p:txBody>
            <a:bodyPr wrap="none" rtlCol="0">
              <a:spAutoFit/>
            </a:bodyPr>
            <a:lstStyle/>
            <a:p>
              <a:r>
                <a:rPr lang="zh-CN" altLang="en-US" sz="2600" b="1" dirty="0">
                  <a:solidFill>
                    <a:schemeClr val="bg1"/>
                  </a:solidFill>
                  <a:cs typeface="+mn-ea"/>
                  <a:sym typeface="+mn-lt"/>
                </a:rPr>
                <a:t>实验</a:t>
              </a:r>
              <a:r>
                <a:rPr lang="zh-CN" altLang="en-US" sz="2600" b="1" dirty="0">
                  <a:solidFill>
                    <a:schemeClr val="bg1"/>
                  </a:solidFill>
                  <a:cs typeface="+mn-ea"/>
                  <a:sym typeface="+mn-lt"/>
                </a:rPr>
                <a:t>原理</a:t>
              </a:r>
              <a:endParaRPr lang="zh-CN" altLang="en-US" sz="2600" b="1" dirty="0">
                <a:solidFill>
                  <a:schemeClr val="bg1"/>
                </a:solidFill>
                <a:cs typeface="+mn-ea"/>
                <a:sym typeface="+mn-lt"/>
              </a:endParaRPr>
            </a:p>
          </p:txBody>
        </p:sp>
      </p:grpSp>
      <p:sp>
        <p:nvSpPr>
          <p:cNvPr id="2" name="文本框 1"/>
          <p:cNvSpPr txBox="1"/>
          <p:nvPr/>
        </p:nvSpPr>
        <p:spPr>
          <a:xfrm>
            <a:off x="311150" y="1378585"/>
            <a:ext cx="11654790" cy="4958715"/>
          </a:xfrm>
          <a:prstGeom prst="rect">
            <a:avLst/>
          </a:prstGeom>
          <a:noFill/>
        </p:spPr>
        <p:txBody>
          <a:bodyPr wrap="square" rtlCol="0">
            <a:noAutofit/>
          </a:bodyPr>
          <a:p>
            <a:r>
              <a:rPr lang="en-US" altLang="zh-CN">
                <a:latin typeface="宋体" charset="-122"/>
                <a:ea typeface="宋体" charset="-122"/>
                <a:cs typeface="宋体" charset="-122"/>
              </a:rPr>
              <a:t>结合以上公式，油滴的半径 r 可表示为:</a:t>
            </a:r>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r>
              <a:rPr lang="en-US" altLang="zh-CN">
                <a:latin typeface="宋体" charset="-122"/>
                <a:ea typeface="宋体" charset="-122"/>
                <a:cs typeface="宋体" charset="-122"/>
              </a:rPr>
              <a:t>斯托克斯定律是以连续介质为前提的，对于半径小到10−6m的微小油滴，已不能将空气看作连续介质，空气的粘滞系数应作如下修正:空气的粘滞系数修正公式:</a:t>
            </a:r>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r>
              <a:rPr lang="en-US" altLang="zh-CN">
                <a:latin typeface="宋体" charset="-122"/>
                <a:ea typeface="宋体" charset="-122"/>
                <a:cs typeface="宋体" charset="-122"/>
              </a:rPr>
              <a:t>其中 b 是修正常数，p 为大气压强。 已知参数:</a:t>
            </a:r>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a:p>
            <a:r>
              <a:rPr lang="en-US" altLang="zh-CN">
                <a:latin typeface="宋体" charset="-122"/>
                <a:ea typeface="宋体" charset="-122"/>
                <a:cs typeface="宋体" charset="-122"/>
              </a:rPr>
              <a:t>待测参数为平衡电压 U 及下落时间 tg。</a:t>
            </a:r>
            <a:endParaRPr lang="en-US" altLang="zh-CN">
              <a:latin typeface="宋体" charset="-122"/>
              <a:ea typeface="宋体" charset="-122"/>
              <a:cs typeface="宋体" charset="-122"/>
            </a:endParaRPr>
          </a:p>
        </p:txBody>
      </p:sp>
      <p:pic>
        <p:nvPicPr>
          <p:cNvPr id="3" name="图片 2" descr="2024-05-31 22:28:23.186000"/>
          <p:cNvPicPr>
            <a:picLocks noChangeAspect="1"/>
          </p:cNvPicPr>
          <p:nvPr/>
        </p:nvPicPr>
        <p:blipFill>
          <a:blip r:embed="rId1"/>
          <a:stretch>
            <a:fillRect/>
          </a:stretch>
        </p:blipFill>
        <p:spPr>
          <a:xfrm>
            <a:off x="4710430" y="1501775"/>
            <a:ext cx="2856230" cy="662940"/>
          </a:xfrm>
          <a:prstGeom prst="rect">
            <a:avLst/>
          </a:prstGeom>
        </p:spPr>
      </p:pic>
      <p:pic>
        <p:nvPicPr>
          <p:cNvPr id="6" name="图片 5" descr="2024-05-31 22:30:37.673000"/>
          <p:cNvPicPr>
            <a:picLocks noChangeAspect="1"/>
          </p:cNvPicPr>
          <p:nvPr/>
        </p:nvPicPr>
        <p:blipFill>
          <a:blip r:embed="rId2"/>
          <a:stretch>
            <a:fillRect/>
          </a:stretch>
        </p:blipFill>
        <p:spPr>
          <a:xfrm>
            <a:off x="3775710" y="2808605"/>
            <a:ext cx="3569335" cy="504190"/>
          </a:xfrm>
          <a:prstGeom prst="rect">
            <a:avLst/>
          </a:prstGeom>
        </p:spPr>
      </p:pic>
      <p:pic>
        <p:nvPicPr>
          <p:cNvPr id="7" name="图片 6" descr="2024-05-31 22:31:48.854000"/>
          <p:cNvPicPr>
            <a:picLocks noChangeAspect="1"/>
          </p:cNvPicPr>
          <p:nvPr/>
        </p:nvPicPr>
        <p:blipFill>
          <a:blip r:embed="rId3"/>
          <a:stretch>
            <a:fillRect/>
          </a:stretch>
        </p:blipFill>
        <p:spPr>
          <a:xfrm>
            <a:off x="4091940" y="3626485"/>
            <a:ext cx="2019935" cy="1922145"/>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flipH="1" flipV="1">
            <a:off x="-8890" y="-56515"/>
            <a:ext cx="12287885" cy="6914515"/>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7" name="组合 6"/>
          <p:cNvGrpSpPr/>
          <p:nvPr/>
        </p:nvGrpSpPr>
        <p:grpSpPr>
          <a:xfrm>
            <a:off x="3524885" y="2585085"/>
            <a:ext cx="7227570" cy="1139825"/>
            <a:chOff x="2071" y="3857"/>
            <a:chExt cx="11382" cy="1795"/>
          </a:xfrm>
        </p:grpSpPr>
        <p:sp>
          <p:nvSpPr>
            <p:cNvPr id="12" name="圆角矩形 11"/>
            <p:cNvSpPr/>
            <p:nvPr/>
          </p:nvSpPr>
          <p:spPr>
            <a:xfrm>
              <a:off x="2071" y="3964"/>
              <a:ext cx="1537" cy="1537"/>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AEEF"/>
                </a:solidFill>
                <a:cs typeface="+mn-ea"/>
                <a:sym typeface="+mn-lt"/>
              </a:endParaRPr>
            </a:p>
          </p:txBody>
        </p:sp>
        <p:sp>
          <p:nvSpPr>
            <p:cNvPr id="38" name="文本框 37"/>
            <p:cNvSpPr txBox="1"/>
            <p:nvPr/>
          </p:nvSpPr>
          <p:spPr>
            <a:xfrm>
              <a:off x="3811" y="3857"/>
              <a:ext cx="8870" cy="1296"/>
            </a:xfrm>
            <a:prstGeom prst="rect">
              <a:avLst/>
            </a:prstGeom>
            <a:noFill/>
          </p:spPr>
          <p:txBody>
            <a:bodyPr wrap="square" rtlCol="0">
              <a:spAutoFit/>
            </a:bodyPr>
            <a:lstStyle/>
            <a:p>
              <a:pPr algn="l"/>
              <a:r>
                <a:rPr lang="zh-CN" altLang="en-US" sz="4800" b="1" dirty="0">
                  <a:solidFill>
                    <a:srgbClr val="56657C"/>
                  </a:solidFill>
                  <a:effectLst/>
                  <a:cs typeface="+mn-ea"/>
                  <a:sym typeface="+mn-lt"/>
                </a:rPr>
                <a:t>实验</a:t>
              </a:r>
              <a:r>
                <a:rPr lang="en-US" altLang="zh-CN" sz="4800" b="1" dirty="0">
                  <a:solidFill>
                    <a:srgbClr val="56657C"/>
                  </a:solidFill>
                  <a:effectLst/>
                  <a:cs typeface="+mn-ea"/>
                  <a:sym typeface="+mn-lt"/>
                </a:rPr>
                <a:t>内容</a:t>
              </a:r>
              <a:endParaRPr lang="en-US" altLang="zh-CN" sz="4800" b="1" dirty="0">
                <a:solidFill>
                  <a:srgbClr val="56657C"/>
                </a:solidFill>
                <a:effectLst/>
                <a:cs typeface="+mn-ea"/>
                <a:sym typeface="+mn-lt"/>
              </a:endParaRPr>
            </a:p>
          </p:txBody>
        </p:sp>
        <p:sp>
          <p:nvSpPr>
            <p:cNvPr id="39" name="文本框 38"/>
            <p:cNvSpPr txBox="1"/>
            <p:nvPr/>
          </p:nvSpPr>
          <p:spPr>
            <a:xfrm>
              <a:off x="3811" y="5024"/>
              <a:ext cx="9642" cy="628"/>
            </a:xfrm>
            <a:prstGeom prst="rect">
              <a:avLst/>
            </a:prstGeom>
            <a:noFill/>
          </p:spPr>
          <p:txBody>
            <a:bodyPr wrap="square" rtlCol="0">
              <a:spAutoFit/>
            </a:bodyPr>
            <a:lstStyle/>
            <a:p>
              <a:pPr algn="l"/>
              <a:endParaRPr lang="zh-CN" altLang="en-US" sz="2000">
                <a:solidFill>
                  <a:schemeClr val="bg1">
                    <a:lumMod val="50000"/>
                  </a:schemeClr>
                </a:solidFill>
                <a:effectLst/>
                <a:cs typeface="+mn-ea"/>
                <a:sym typeface="+mn-lt"/>
              </a:endParaRPr>
            </a:p>
          </p:txBody>
        </p:sp>
        <p:sp>
          <p:nvSpPr>
            <p:cNvPr id="40" name="文本框 39"/>
            <p:cNvSpPr txBox="1"/>
            <p:nvPr/>
          </p:nvSpPr>
          <p:spPr>
            <a:xfrm>
              <a:off x="2118" y="4055"/>
              <a:ext cx="1400" cy="1344"/>
            </a:xfrm>
            <a:prstGeom prst="rect">
              <a:avLst/>
            </a:prstGeom>
            <a:noFill/>
          </p:spPr>
          <p:txBody>
            <a:bodyPr wrap="none" rtlCol="0">
              <a:spAutoFit/>
            </a:bodyPr>
            <a:lstStyle/>
            <a:p>
              <a:r>
                <a:rPr lang="en-US" altLang="zh-CN" sz="5000">
                  <a:solidFill>
                    <a:schemeClr val="bg1"/>
                  </a:solidFill>
                  <a:cs typeface="+mn-ea"/>
                  <a:sym typeface="+mn-lt"/>
                </a:rPr>
                <a:t>04</a:t>
              </a:r>
              <a:endParaRPr lang="en-US" altLang="zh-CN" sz="5000">
                <a:solidFill>
                  <a:schemeClr val="bg1"/>
                </a:solidFill>
                <a:cs typeface="+mn-ea"/>
                <a:sym typeface="+mn-lt"/>
              </a:endParaRPr>
            </a:p>
          </p:txBody>
        </p:sp>
      </p:gr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68"/>
            </a:xfrm>
            <a:prstGeom prst="rect">
              <a:avLst/>
            </a:prstGeom>
            <a:noFill/>
          </p:spPr>
          <p:txBody>
            <a:bodyPr wrap="none" rtlCol="0">
              <a:spAutoFit/>
            </a:bodyPr>
            <a:lstStyle/>
            <a:p>
              <a:r>
                <a:rPr lang="zh-CN" altLang="en-US" sz="2600" b="1" dirty="0">
                  <a:solidFill>
                    <a:schemeClr val="bg1"/>
                  </a:solidFill>
                  <a:cs typeface="+mn-ea"/>
                  <a:sym typeface="+mn-lt"/>
                </a:rPr>
                <a:t>实验</a:t>
              </a:r>
              <a:r>
                <a:rPr lang="en-US" altLang="zh-CN" sz="2600" b="1" dirty="0">
                  <a:solidFill>
                    <a:schemeClr val="bg1"/>
                  </a:solidFill>
                  <a:cs typeface="+mn-ea"/>
                  <a:sym typeface="+mn-lt"/>
                </a:rPr>
                <a:t>内容</a:t>
              </a:r>
              <a:endParaRPr lang="en-US" altLang="zh-CN" sz="2600" b="1" dirty="0">
                <a:solidFill>
                  <a:schemeClr val="bg1"/>
                </a:solidFill>
                <a:cs typeface="+mn-ea"/>
                <a:sym typeface="+mn-lt"/>
              </a:endParaRPr>
            </a:p>
          </p:txBody>
        </p:sp>
      </p:grpSp>
      <p:sp>
        <p:nvSpPr>
          <p:cNvPr id="2" name="文本框 1"/>
          <p:cNvSpPr txBox="1"/>
          <p:nvPr/>
        </p:nvSpPr>
        <p:spPr>
          <a:xfrm>
            <a:off x="311150" y="1378585"/>
            <a:ext cx="11297285" cy="4803140"/>
          </a:xfrm>
          <a:prstGeom prst="rect">
            <a:avLst/>
          </a:prstGeom>
          <a:noFill/>
        </p:spPr>
        <p:txBody>
          <a:bodyPr wrap="square" rtlCol="0">
            <a:noAutofit/>
          </a:bodyPr>
          <a:p>
            <a:r>
              <a:rPr lang="en-US" altLang="zh-CN">
                <a:latin typeface="宋体" charset="-122"/>
                <a:ea typeface="宋体" charset="-122"/>
                <a:cs typeface="宋体" charset="-122"/>
              </a:rPr>
              <a:t>1. 用温度计记录开始实验的温度。</a:t>
            </a:r>
            <a:endParaRPr lang="en-US" altLang="zh-CN">
              <a:latin typeface="宋体" charset="-122"/>
              <a:ea typeface="宋体" charset="-122"/>
              <a:cs typeface="宋体" charset="-122"/>
            </a:endParaRPr>
          </a:p>
          <a:p>
            <a:r>
              <a:rPr lang="en-US" altLang="zh-CN">
                <a:latin typeface="宋体" charset="-122"/>
                <a:ea typeface="宋体" charset="-122"/>
                <a:cs typeface="宋体" charset="-122"/>
              </a:rPr>
              <a:t>2. 仪器调整调节仪器面板上的三只平衡旋钮，将平行电极板调到水平。打开仪器和</a:t>
            </a:r>
            <a:endParaRPr lang="en-US" altLang="zh-CN">
              <a:latin typeface="宋体" charset="-122"/>
              <a:ea typeface="宋体" charset="-122"/>
              <a:cs typeface="宋体" charset="-122"/>
            </a:endParaRPr>
          </a:p>
          <a:p>
            <a:r>
              <a:rPr lang="en-US" altLang="zh-CN">
                <a:latin typeface="宋体" charset="-122"/>
                <a:ea typeface="宋体" charset="-122"/>
                <a:cs typeface="宋体" charset="-122"/>
              </a:rPr>
              <a:t>显示器开关，按“确认”键，选“平衡法”，进入测量界面。</a:t>
            </a:r>
            <a:endParaRPr lang="en-US" altLang="zh-CN">
              <a:latin typeface="宋体" charset="-122"/>
              <a:ea typeface="宋体" charset="-122"/>
              <a:cs typeface="宋体" charset="-122"/>
            </a:endParaRPr>
          </a:p>
          <a:p>
            <a:r>
              <a:rPr lang="en-US" altLang="zh-CN">
                <a:latin typeface="宋体" charset="-122"/>
                <a:ea typeface="宋体" charset="-122"/>
                <a:cs typeface="宋体" charset="-122"/>
              </a:rPr>
              <a:t>3. 测量前的练习</a:t>
            </a:r>
            <a:endParaRPr lang="en-US" altLang="zh-CN">
              <a:latin typeface="宋体" charset="-122"/>
              <a:ea typeface="宋体" charset="-122"/>
              <a:cs typeface="宋体" charset="-122"/>
            </a:endParaRPr>
          </a:p>
          <a:p>
            <a:r>
              <a:rPr lang="en-US" altLang="zh-CN">
                <a:latin typeface="宋体" charset="-122"/>
                <a:ea typeface="宋体" charset="-122"/>
                <a:cs typeface="宋体" charset="-122"/>
              </a:rPr>
              <a:t>(1)熟悉操作按键。按键1:计时开始/结束。按键2:0V/工作，电压在0V和工作 状态之间切换。按键3:平衡/提升，工作电压可在平衡电压和提升电压之间切换， 提升电压比平衡电压高约200V。</a:t>
            </a:r>
            <a:endParaRPr lang="en-US" altLang="zh-CN">
              <a:latin typeface="宋体" charset="-122"/>
              <a:ea typeface="宋体" charset="-122"/>
              <a:cs typeface="宋体" charset="-122"/>
            </a:endParaRPr>
          </a:p>
          <a:p>
            <a:r>
              <a:rPr lang="en-US" altLang="zh-CN">
                <a:latin typeface="宋体" charset="-122"/>
                <a:ea typeface="宋体" charset="-122"/>
                <a:cs typeface="宋体" charset="-122"/>
              </a:rPr>
              <a:t>(2)练习控制油滴平衡。用喷雾器向油滴盒内喷油，仔细调节“电压调节”旋钮， 使油滴置于分划板上某条横线附近，以便准确判断出这颗油滴是否平衡了。注意: 不要连续喷多次，以防堵塞极板上的小孔。</a:t>
            </a:r>
            <a:endParaRPr lang="en-US" altLang="zh-CN">
              <a:latin typeface="宋体" charset="-122"/>
              <a:ea typeface="宋体" charset="-122"/>
              <a:cs typeface="宋体" charset="-122"/>
            </a:endParaRPr>
          </a:p>
          <a:p>
            <a:r>
              <a:rPr lang="en-US" altLang="zh-CN">
                <a:latin typeface="宋体" charset="-122"/>
                <a:ea typeface="宋体" charset="-122"/>
                <a:cs typeface="宋体" charset="-122"/>
              </a:rPr>
              <a:t>4. 正式测量测量时，选取目视直径在1mm左右的油滴，平衡电压为200-300V,匀速下 落1.6mm的时间为20s左右。此时，油滴电量q和不确定度均较小。</a:t>
            </a:r>
            <a:endParaRPr lang="en-US" altLang="zh-CN">
              <a:latin typeface="宋体" charset="-122"/>
              <a:ea typeface="宋体" charset="-122"/>
              <a:cs typeface="宋体" charset="-122"/>
            </a:endParaRPr>
          </a:p>
          <a:p>
            <a:r>
              <a:rPr lang="en-US" altLang="zh-CN">
                <a:latin typeface="宋体" charset="-122"/>
                <a:ea typeface="宋体" charset="-122"/>
                <a:cs typeface="宋体" charset="-122"/>
              </a:rPr>
              <a:t>要求测4个不同的油滴。将按键2置于工作，按键3置于平衡，将电压调至250V左 右。向油雾口喷油，调节显微镜旋钮，寻找移动缓慢的油滴，细调“电压调节”， 使油滴处于静止状态。记录此时的平衡电压U。将按键3切换为“提升”，使油滴 上升至顶部网格线，然后将按键3切换为“平衡”使油滴静止。</a:t>
            </a:r>
            <a:endParaRPr lang="en-US" altLang="zh-CN">
              <a:latin typeface="宋体" charset="-122"/>
              <a:ea typeface="宋体" charset="-122"/>
              <a:cs typeface="宋体" charset="-122"/>
            </a:endParaRPr>
          </a:p>
          <a:p>
            <a:r>
              <a:rPr lang="en-US" altLang="zh-CN">
                <a:latin typeface="宋体" charset="-122"/>
                <a:ea typeface="宋体" charset="-122"/>
                <a:cs typeface="宋体" charset="-122"/>
              </a:rPr>
              <a:t>然后按下按键2，使电压为“0V”,油滴匀速下降。当下降到0格线时，迅速按下计 时按钮，开始计时，待油滴下落至1.6mm格线，停止计时。记下油滴匀速下降的 时间 tg 。测量完一次后，使油滴上升至顶部格线。</a:t>
            </a:r>
            <a:endParaRPr lang="en-US" altLang="zh-CN">
              <a:latin typeface="宋体" charset="-122"/>
              <a:ea typeface="宋体" charset="-122"/>
              <a:cs typeface="宋体" charset="-122"/>
            </a:endParaRPr>
          </a:p>
          <a:p>
            <a:r>
              <a:rPr lang="en-US" altLang="zh-CN">
                <a:latin typeface="宋体" charset="-122"/>
                <a:ea typeface="宋体" charset="-122"/>
                <a:cs typeface="宋体" charset="-122"/>
              </a:rPr>
              <a:t>对同一颗油滴应测3次 tg ,测完后对 tg 取平均值。</a:t>
            </a:r>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68"/>
            </a:xfrm>
            <a:prstGeom prst="rect">
              <a:avLst/>
            </a:prstGeom>
            <a:noFill/>
          </p:spPr>
          <p:txBody>
            <a:bodyPr wrap="none" rtlCol="0">
              <a:spAutoFit/>
            </a:bodyPr>
            <a:lstStyle/>
            <a:p>
              <a:r>
                <a:rPr lang="zh-CN" altLang="en-US" sz="2600" b="1" dirty="0">
                  <a:solidFill>
                    <a:schemeClr val="bg1"/>
                  </a:solidFill>
                  <a:cs typeface="+mn-ea"/>
                  <a:sym typeface="+mn-lt"/>
                </a:rPr>
                <a:t>实验</a:t>
              </a:r>
              <a:r>
                <a:rPr lang="en-US" altLang="zh-CN" sz="2600" b="1" dirty="0">
                  <a:solidFill>
                    <a:schemeClr val="bg1"/>
                  </a:solidFill>
                  <a:cs typeface="+mn-ea"/>
                  <a:sym typeface="+mn-lt"/>
                </a:rPr>
                <a:t>内容</a:t>
              </a:r>
              <a:endParaRPr lang="en-US" altLang="zh-CN" sz="2600" b="1" dirty="0">
                <a:solidFill>
                  <a:schemeClr val="bg1"/>
                </a:solidFill>
                <a:cs typeface="+mn-ea"/>
                <a:sym typeface="+mn-lt"/>
              </a:endParaRPr>
            </a:p>
          </p:txBody>
        </p:sp>
      </p:grpSp>
      <p:sp>
        <p:nvSpPr>
          <p:cNvPr id="2" name="文本框 1"/>
          <p:cNvSpPr txBox="1"/>
          <p:nvPr/>
        </p:nvSpPr>
        <p:spPr>
          <a:xfrm>
            <a:off x="311150" y="1378585"/>
            <a:ext cx="11297285" cy="4803140"/>
          </a:xfrm>
          <a:prstGeom prst="rect">
            <a:avLst/>
          </a:prstGeom>
          <a:noFill/>
        </p:spPr>
        <p:txBody>
          <a:bodyPr wrap="square" rtlCol="0">
            <a:noAutofit/>
          </a:bodyPr>
          <a:p>
            <a:r>
              <a:rPr lang="en-US" altLang="zh-CN" sz="2400">
                <a:latin typeface="宋体" charset="-122"/>
                <a:ea typeface="宋体" charset="-122"/>
                <a:cs typeface="宋体" charset="-122"/>
              </a:rPr>
              <a:t>5. 计算油滴半径根据公式(13)(14)(15) 计算出油滴的半径</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6. 拍摄视频调整CCD显微密立根油滴仪，确保能清晰观察到悬浮在流体中的微粒。 用摄像设备记录微粒的运动，拍摄视频。</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共记录四种不同半径的油滴，每种油滴测量10组数据，选取其中较符合布朗运动 规律、受到外界无关影响较小的5组，记录并进行分析处理</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7. 视频分析用追踪软件(Tracker)导入视频，追踪微粒的运动轨迹。每组数据120s， 每秒3帧，分别记录4个油滴的位移随时间变化数据。</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8. 数据处理计算每组数据</a:t>
            </a:r>
            <a:r>
              <a:rPr lang="zh-CN" altLang="en-US" sz="2400">
                <a:latin typeface="宋体" charset="-122"/>
                <a:ea typeface="宋体" charset="-122"/>
                <a:cs typeface="宋体" charset="-122"/>
              </a:rPr>
              <a:t>相</a:t>
            </a:r>
            <a:r>
              <a:rPr lang="en-US" altLang="zh-CN" sz="2400">
                <a:latin typeface="宋体" charset="-122"/>
                <a:ea typeface="宋体" charset="-122"/>
                <a:cs typeface="宋体" charset="-122"/>
              </a:rPr>
              <a:t>同时间间隔的位移均值⟨x(t)⟩ 计算每组数据不同时间间隔的位移平方均值⟨x2 (t)⟩ 用Origin软件线性拟合绘制每组数据位移均值⟨x(t)⟩与时间t的关系图 用Origin软件线性拟合绘制每组数据位移平方均值⟨x2 (t)⟩与时间t的关系图 计算每组数据的不确定度，并进行比较 如果每组数据的结果的理论值与实际值相差过大，分析其原因</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计算并验证扩散系数D</a:t>
            </a:r>
            <a:endParaRPr lang="en-US" altLang="zh-CN" sz="2400">
              <a:latin typeface="宋体" charset="-122"/>
              <a:ea typeface="宋体" charset="-122"/>
              <a:cs typeface="宋体" charset="-122"/>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flipH="1" flipV="1">
            <a:off x="-8890" y="-56515"/>
            <a:ext cx="12287885" cy="6914515"/>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7" name="组合 6"/>
          <p:cNvGrpSpPr/>
          <p:nvPr/>
        </p:nvGrpSpPr>
        <p:grpSpPr>
          <a:xfrm>
            <a:off x="3524885" y="2585085"/>
            <a:ext cx="7227570" cy="1139825"/>
            <a:chOff x="2071" y="3857"/>
            <a:chExt cx="11382" cy="1795"/>
          </a:xfrm>
        </p:grpSpPr>
        <p:sp>
          <p:nvSpPr>
            <p:cNvPr id="12" name="圆角矩形 11"/>
            <p:cNvSpPr/>
            <p:nvPr/>
          </p:nvSpPr>
          <p:spPr>
            <a:xfrm>
              <a:off x="2071" y="3964"/>
              <a:ext cx="1537" cy="1537"/>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AEEF"/>
                </a:solidFill>
                <a:cs typeface="+mn-ea"/>
                <a:sym typeface="+mn-lt"/>
              </a:endParaRPr>
            </a:p>
          </p:txBody>
        </p:sp>
        <p:sp>
          <p:nvSpPr>
            <p:cNvPr id="38" name="文本框 37"/>
            <p:cNvSpPr txBox="1"/>
            <p:nvPr/>
          </p:nvSpPr>
          <p:spPr>
            <a:xfrm>
              <a:off x="3811" y="3857"/>
              <a:ext cx="8870" cy="1296"/>
            </a:xfrm>
            <a:prstGeom prst="rect">
              <a:avLst/>
            </a:prstGeom>
            <a:noFill/>
          </p:spPr>
          <p:txBody>
            <a:bodyPr wrap="square" rtlCol="0">
              <a:spAutoFit/>
            </a:bodyPr>
            <a:lstStyle/>
            <a:p>
              <a:pPr algn="l"/>
              <a:r>
                <a:rPr lang="zh-CN" altLang="en-US" sz="4800" b="1" dirty="0">
                  <a:solidFill>
                    <a:srgbClr val="56657C"/>
                  </a:solidFill>
                  <a:effectLst/>
                  <a:cs typeface="+mn-ea"/>
                  <a:sym typeface="+mn-lt"/>
                </a:rPr>
                <a:t>数据</a:t>
              </a:r>
              <a:r>
                <a:rPr lang="en-US" altLang="zh-CN" sz="4800" b="1" dirty="0">
                  <a:solidFill>
                    <a:srgbClr val="56657C"/>
                  </a:solidFill>
                  <a:effectLst/>
                  <a:cs typeface="+mn-ea"/>
                  <a:sym typeface="+mn-lt"/>
                </a:rPr>
                <a:t>记录</a:t>
              </a:r>
              <a:endParaRPr lang="en-US" altLang="zh-CN" sz="4800" b="1" dirty="0">
                <a:solidFill>
                  <a:srgbClr val="56657C"/>
                </a:solidFill>
                <a:effectLst/>
                <a:cs typeface="+mn-ea"/>
                <a:sym typeface="+mn-lt"/>
              </a:endParaRPr>
            </a:p>
          </p:txBody>
        </p:sp>
        <p:sp>
          <p:nvSpPr>
            <p:cNvPr id="39" name="文本框 38"/>
            <p:cNvSpPr txBox="1"/>
            <p:nvPr/>
          </p:nvSpPr>
          <p:spPr>
            <a:xfrm>
              <a:off x="3811" y="5024"/>
              <a:ext cx="9642" cy="628"/>
            </a:xfrm>
            <a:prstGeom prst="rect">
              <a:avLst/>
            </a:prstGeom>
            <a:noFill/>
          </p:spPr>
          <p:txBody>
            <a:bodyPr wrap="square" rtlCol="0">
              <a:spAutoFit/>
            </a:bodyPr>
            <a:lstStyle/>
            <a:p>
              <a:pPr algn="l"/>
              <a:endParaRPr lang="zh-CN" altLang="en-US" sz="2000">
                <a:solidFill>
                  <a:schemeClr val="bg1">
                    <a:lumMod val="50000"/>
                  </a:schemeClr>
                </a:solidFill>
                <a:effectLst/>
                <a:cs typeface="+mn-ea"/>
                <a:sym typeface="+mn-lt"/>
              </a:endParaRPr>
            </a:p>
          </p:txBody>
        </p:sp>
        <p:sp>
          <p:nvSpPr>
            <p:cNvPr id="40" name="文本框 39"/>
            <p:cNvSpPr txBox="1"/>
            <p:nvPr/>
          </p:nvSpPr>
          <p:spPr>
            <a:xfrm>
              <a:off x="2118" y="4055"/>
              <a:ext cx="1400" cy="1344"/>
            </a:xfrm>
            <a:prstGeom prst="rect">
              <a:avLst/>
            </a:prstGeom>
            <a:noFill/>
          </p:spPr>
          <p:txBody>
            <a:bodyPr wrap="none" rtlCol="0">
              <a:spAutoFit/>
            </a:bodyPr>
            <a:lstStyle/>
            <a:p>
              <a:r>
                <a:rPr lang="en-US" altLang="zh-CN" sz="5000">
                  <a:solidFill>
                    <a:schemeClr val="bg1"/>
                  </a:solidFill>
                  <a:cs typeface="+mn-ea"/>
                  <a:sym typeface="+mn-lt"/>
                </a:rPr>
                <a:t>05</a:t>
              </a:r>
              <a:endParaRPr lang="zh-CN" altLang="en-US" sz="5000">
                <a:solidFill>
                  <a:schemeClr val="bg1"/>
                </a:solidFill>
                <a:cs typeface="+mn-ea"/>
                <a:sym typeface="+mn-lt"/>
              </a:endParaRPr>
            </a:p>
          </p:txBody>
        </p:sp>
      </p:gr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flipH="1" flipV="1">
            <a:off x="-8890" y="-56515"/>
            <a:ext cx="12287885" cy="6914515"/>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7" name="组合 6"/>
          <p:cNvGrpSpPr/>
          <p:nvPr/>
        </p:nvGrpSpPr>
        <p:grpSpPr>
          <a:xfrm>
            <a:off x="3524885" y="2585085"/>
            <a:ext cx="7227570" cy="1139825"/>
            <a:chOff x="2071" y="3857"/>
            <a:chExt cx="11382" cy="1795"/>
          </a:xfrm>
        </p:grpSpPr>
        <p:sp>
          <p:nvSpPr>
            <p:cNvPr id="12" name="圆角矩形 11"/>
            <p:cNvSpPr/>
            <p:nvPr/>
          </p:nvSpPr>
          <p:spPr>
            <a:xfrm>
              <a:off x="2071" y="3964"/>
              <a:ext cx="1537" cy="1537"/>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AEEF"/>
                </a:solidFill>
                <a:cs typeface="+mn-ea"/>
                <a:sym typeface="+mn-lt"/>
              </a:endParaRPr>
            </a:p>
          </p:txBody>
        </p:sp>
        <p:sp>
          <p:nvSpPr>
            <p:cNvPr id="38" name="文本框 37"/>
            <p:cNvSpPr txBox="1"/>
            <p:nvPr/>
          </p:nvSpPr>
          <p:spPr>
            <a:xfrm>
              <a:off x="3811" y="3857"/>
              <a:ext cx="8870" cy="1296"/>
            </a:xfrm>
            <a:prstGeom prst="rect">
              <a:avLst/>
            </a:prstGeom>
            <a:noFill/>
          </p:spPr>
          <p:txBody>
            <a:bodyPr wrap="square" rtlCol="0">
              <a:spAutoFit/>
            </a:bodyPr>
            <a:lstStyle/>
            <a:p>
              <a:pPr algn="l"/>
              <a:r>
                <a:rPr lang="zh-CN" altLang="en-US" sz="4800" b="1" dirty="0">
                  <a:solidFill>
                    <a:srgbClr val="56657C"/>
                  </a:solidFill>
                  <a:effectLst/>
                  <a:cs typeface="+mn-ea"/>
                  <a:sym typeface="+mn-lt"/>
                </a:rPr>
                <a:t>数据</a:t>
              </a:r>
              <a:r>
                <a:rPr lang="en-US" altLang="zh-CN" sz="4800" b="1" dirty="0">
                  <a:solidFill>
                    <a:srgbClr val="56657C"/>
                  </a:solidFill>
                  <a:effectLst/>
                  <a:cs typeface="+mn-ea"/>
                  <a:sym typeface="+mn-lt"/>
                </a:rPr>
                <a:t>处理</a:t>
              </a:r>
              <a:endParaRPr lang="en-US" altLang="zh-CN" sz="4800" b="1" dirty="0">
                <a:solidFill>
                  <a:srgbClr val="56657C"/>
                </a:solidFill>
                <a:effectLst/>
                <a:cs typeface="+mn-ea"/>
                <a:sym typeface="+mn-lt"/>
              </a:endParaRPr>
            </a:p>
          </p:txBody>
        </p:sp>
        <p:sp>
          <p:nvSpPr>
            <p:cNvPr id="39" name="文本框 38"/>
            <p:cNvSpPr txBox="1"/>
            <p:nvPr/>
          </p:nvSpPr>
          <p:spPr>
            <a:xfrm>
              <a:off x="3811" y="5024"/>
              <a:ext cx="9642" cy="628"/>
            </a:xfrm>
            <a:prstGeom prst="rect">
              <a:avLst/>
            </a:prstGeom>
            <a:noFill/>
          </p:spPr>
          <p:txBody>
            <a:bodyPr wrap="square" rtlCol="0">
              <a:spAutoFit/>
            </a:bodyPr>
            <a:lstStyle/>
            <a:p>
              <a:pPr algn="l"/>
              <a:endParaRPr lang="zh-CN" altLang="en-US" sz="2000">
                <a:solidFill>
                  <a:schemeClr val="bg1">
                    <a:lumMod val="50000"/>
                  </a:schemeClr>
                </a:solidFill>
                <a:effectLst/>
                <a:cs typeface="+mn-ea"/>
                <a:sym typeface="+mn-lt"/>
              </a:endParaRPr>
            </a:p>
          </p:txBody>
        </p:sp>
        <p:sp>
          <p:nvSpPr>
            <p:cNvPr id="40" name="文本框 39"/>
            <p:cNvSpPr txBox="1"/>
            <p:nvPr/>
          </p:nvSpPr>
          <p:spPr>
            <a:xfrm>
              <a:off x="2118" y="4055"/>
              <a:ext cx="1400" cy="1344"/>
            </a:xfrm>
            <a:prstGeom prst="rect">
              <a:avLst/>
            </a:prstGeom>
            <a:noFill/>
          </p:spPr>
          <p:txBody>
            <a:bodyPr wrap="none" rtlCol="0">
              <a:spAutoFit/>
            </a:bodyPr>
            <a:lstStyle/>
            <a:p>
              <a:r>
                <a:rPr lang="en-US" altLang="zh-CN" sz="5000">
                  <a:solidFill>
                    <a:schemeClr val="bg1"/>
                  </a:solidFill>
                  <a:cs typeface="+mn-ea"/>
                  <a:sym typeface="+mn-lt"/>
                </a:rPr>
                <a:t>06</a:t>
              </a:r>
              <a:endParaRPr lang="zh-CN" altLang="en-US" sz="5000">
                <a:solidFill>
                  <a:schemeClr val="bg1"/>
                </a:solidFill>
                <a:cs typeface="+mn-ea"/>
                <a:sym typeface="+mn-lt"/>
              </a:endParaRPr>
            </a:p>
          </p:txBody>
        </p:sp>
      </p:gr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flipH="1" flipV="1">
            <a:off x="-8890" y="-56515"/>
            <a:ext cx="12287885" cy="6914515"/>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7" name="组合 6"/>
          <p:cNvGrpSpPr/>
          <p:nvPr/>
        </p:nvGrpSpPr>
        <p:grpSpPr>
          <a:xfrm>
            <a:off x="3524885" y="2585085"/>
            <a:ext cx="7227570" cy="1139825"/>
            <a:chOff x="2071" y="3857"/>
            <a:chExt cx="11382" cy="1795"/>
          </a:xfrm>
        </p:grpSpPr>
        <p:sp>
          <p:nvSpPr>
            <p:cNvPr id="12" name="圆角矩形 11"/>
            <p:cNvSpPr/>
            <p:nvPr/>
          </p:nvSpPr>
          <p:spPr>
            <a:xfrm>
              <a:off x="2071" y="3964"/>
              <a:ext cx="1537" cy="1537"/>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AEEF"/>
                </a:solidFill>
                <a:cs typeface="+mn-ea"/>
                <a:sym typeface="+mn-lt"/>
              </a:endParaRPr>
            </a:p>
          </p:txBody>
        </p:sp>
        <p:sp>
          <p:nvSpPr>
            <p:cNvPr id="38" name="文本框 37"/>
            <p:cNvSpPr txBox="1"/>
            <p:nvPr/>
          </p:nvSpPr>
          <p:spPr>
            <a:xfrm>
              <a:off x="3811" y="3857"/>
              <a:ext cx="8870" cy="1296"/>
            </a:xfrm>
            <a:prstGeom prst="rect">
              <a:avLst/>
            </a:prstGeom>
            <a:noFill/>
          </p:spPr>
          <p:txBody>
            <a:bodyPr wrap="square" rtlCol="0">
              <a:spAutoFit/>
            </a:bodyPr>
            <a:lstStyle/>
            <a:p>
              <a:pPr algn="l"/>
              <a:r>
                <a:rPr lang="zh-CN" altLang="en-US" sz="4800" b="1" dirty="0">
                  <a:solidFill>
                    <a:srgbClr val="56657C"/>
                  </a:solidFill>
                  <a:effectLst/>
                  <a:cs typeface="+mn-ea"/>
                  <a:sym typeface="+mn-lt"/>
                </a:rPr>
                <a:t>误差分析</a:t>
              </a:r>
              <a:endParaRPr lang="zh-CN" altLang="en-US" sz="4800" b="1" dirty="0">
                <a:solidFill>
                  <a:srgbClr val="56657C"/>
                </a:solidFill>
                <a:effectLst/>
                <a:cs typeface="+mn-ea"/>
                <a:sym typeface="+mn-lt"/>
              </a:endParaRPr>
            </a:p>
          </p:txBody>
        </p:sp>
        <p:sp>
          <p:nvSpPr>
            <p:cNvPr id="39" name="文本框 38"/>
            <p:cNvSpPr txBox="1"/>
            <p:nvPr/>
          </p:nvSpPr>
          <p:spPr>
            <a:xfrm>
              <a:off x="3811" y="5024"/>
              <a:ext cx="9642" cy="628"/>
            </a:xfrm>
            <a:prstGeom prst="rect">
              <a:avLst/>
            </a:prstGeom>
            <a:noFill/>
          </p:spPr>
          <p:txBody>
            <a:bodyPr wrap="square" rtlCol="0">
              <a:spAutoFit/>
            </a:bodyPr>
            <a:lstStyle/>
            <a:p>
              <a:pPr algn="l"/>
              <a:endParaRPr lang="zh-CN" altLang="en-US" sz="2000">
                <a:solidFill>
                  <a:schemeClr val="bg1">
                    <a:lumMod val="50000"/>
                  </a:schemeClr>
                </a:solidFill>
                <a:effectLst/>
                <a:cs typeface="+mn-ea"/>
                <a:sym typeface="+mn-lt"/>
              </a:endParaRPr>
            </a:p>
          </p:txBody>
        </p:sp>
        <p:sp>
          <p:nvSpPr>
            <p:cNvPr id="40" name="文本框 39"/>
            <p:cNvSpPr txBox="1"/>
            <p:nvPr/>
          </p:nvSpPr>
          <p:spPr>
            <a:xfrm>
              <a:off x="2118" y="4055"/>
              <a:ext cx="1400" cy="1344"/>
            </a:xfrm>
            <a:prstGeom prst="rect">
              <a:avLst/>
            </a:prstGeom>
            <a:noFill/>
          </p:spPr>
          <p:txBody>
            <a:bodyPr wrap="none" rtlCol="0">
              <a:spAutoFit/>
            </a:bodyPr>
            <a:lstStyle/>
            <a:p>
              <a:r>
                <a:rPr lang="en-US" altLang="zh-CN" sz="5000">
                  <a:solidFill>
                    <a:schemeClr val="bg1"/>
                  </a:solidFill>
                  <a:cs typeface="+mn-ea"/>
                  <a:sym typeface="+mn-lt"/>
                </a:rPr>
                <a:t>07</a:t>
              </a:r>
              <a:endParaRPr lang="zh-CN" altLang="en-US" sz="5000">
                <a:solidFill>
                  <a:schemeClr val="bg1"/>
                </a:solidFill>
                <a:cs typeface="+mn-ea"/>
                <a:sym typeface="+mn-lt"/>
              </a:endParaRPr>
            </a:p>
          </p:txBody>
        </p:sp>
      </p:gr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368" cy="768"/>
            </a:xfrm>
            <a:prstGeom prst="rect">
              <a:avLst/>
            </a:prstGeom>
            <a:noFill/>
          </p:spPr>
          <p:txBody>
            <a:bodyPr wrap="none" rtlCol="0">
              <a:spAutoFit/>
            </a:bodyPr>
            <a:lstStyle/>
            <a:p>
              <a:r>
                <a:rPr lang="zh-CN" altLang="en-US" sz="2600" b="1" dirty="0">
                  <a:solidFill>
                    <a:schemeClr val="bg1"/>
                  </a:solidFill>
                  <a:cs typeface="+mn-ea"/>
                  <a:sym typeface="+mn-lt"/>
                </a:rPr>
                <a:t>误差分析</a:t>
              </a:r>
              <a:endParaRPr lang="zh-CN" altLang="en-US" sz="2600" b="1" dirty="0">
                <a:solidFill>
                  <a:schemeClr val="bg1"/>
                </a:solidFill>
                <a:cs typeface="+mn-ea"/>
                <a:sym typeface="+mn-lt"/>
              </a:endParaRPr>
            </a:p>
          </p:txBody>
        </p:sp>
      </p:grpSp>
      <p:sp>
        <p:nvSpPr>
          <p:cNvPr id="2" name="文本框 1"/>
          <p:cNvSpPr txBox="1"/>
          <p:nvPr/>
        </p:nvSpPr>
        <p:spPr>
          <a:xfrm>
            <a:off x="311150" y="1378585"/>
            <a:ext cx="11297285" cy="4803140"/>
          </a:xfrm>
          <a:prstGeom prst="rect">
            <a:avLst/>
          </a:prstGeom>
          <a:noFill/>
        </p:spPr>
        <p:txBody>
          <a:bodyPr wrap="square" rtlCol="0">
            <a:noAutofit/>
          </a:bodyPr>
          <a:p>
            <a:r>
              <a:rPr lang="en-US" altLang="zh-CN">
                <a:latin typeface="宋体" charset="-122"/>
                <a:ea typeface="宋体" charset="-122"/>
                <a:cs typeface="宋体" charset="-122"/>
              </a:rPr>
              <a:t>1. 仪器误差 CCD显微密立根油滴仪:分辨率限制导致位置测量不精确。显微镜的分 辨率决定了微粒位置的测量精度，分辨率不足可能导致位移数据的偏差。改进方法是使用更高分辨率的显微镜。</a:t>
            </a:r>
            <a:endParaRPr lang="en-US" altLang="zh-CN">
              <a:latin typeface="宋体" charset="-122"/>
              <a:ea typeface="宋体" charset="-122"/>
              <a:cs typeface="宋体" charset="-122"/>
            </a:endParaRPr>
          </a:p>
          <a:p>
            <a:r>
              <a:rPr lang="en-US" altLang="zh-CN">
                <a:latin typeface="宋体" charset="-122"/>
                <a:ea typeface="宋体" charset="-122"/>
                <a:cs typeface="宋体" charset="-122"/>
              </a:rPr>
              <a:t>2. 数据分析误差追踪软件的识别精度有限。追踪软件可能无法准确追踪微粒的运动 轨迹，特别是在微粒速度较快或图像质量较差的情况下。改进方法是使用高精度的追踪算法，并手动校正自动追踪结果。</a:t>
            </a:r>
            <a:endParaRPr lang="en-US" altLang="zh-CN">
              <a:latin typeface="宋体" charset="-122"/>
              <a:ea typeface="宋体" charset="-122"/>
              <a:cs typeface="宋体" charset="-122"/>
            </a:endParaRPr>
          </a:p>
          <a:p>
            <a:r>
              <a:rPr lang="en-US" altLang="zh-CN">
                <a:latin typeface="宋体" charset="-122"/>
                <a:ea typeface="宋体" charset="-122"/>
                <a:cs typeface="宋体" charset="-122"/>
              </a:rPr>
              <a:t>3. 温度环境误差实验中温度波动可能导致扩散系数测量不准确。 改进方法是在恒温环境下进行实验，使用恒温设备保持实验温度稳定。</a:t>
            </a:r>
            <a:endParaRPr lang="en-US" altLang="zh-CN">
              <a:latin typeface="宋体" charset="-122"/>
              <a:ea typeface="宋体" charset="-122"/>
              <a:cs typeface="宋体" charset="-122"/>
            </a:endParaRPr>
          </a:p>
          <a:p>
            <a:r>
              <a:rPr lang="en-US" altLang="zh-CN">
                <a:latin typeface="宋体" charset="-122"/>
                <a:ea typeface="宋体" charset="-122"/>
                <a:cs typeface="宋体" charset="-122"/>
              </a:rPr>
              <a:t>4. 微粒半径测量微粒半径的测量误差直接影响扩散系数的计算。微粒半径测量不准 确会导致扩散系数计算结果偏差。改进方法是对微粒半径进行多次测量，取平均值，减小测量误差。</a:t>
            </a:r>
            <a:endParaRPr lang="en-US" altLang="zh-CN">
              <a:latin typeface="宋体" charset="-122"/>
              <a:ea typeface="宋体" charset="-122"/>
              <a:cs typeface="宋体" charset="-122"/>
            </a:endParaRPr>
          </a:p>
          <a:p>
            <a:r>
              <a:rPr lang="en-US" altLang="zh-CN">
                <a:latin typeface="宋体" charset="-122"/>
                <a:ea typeface="宋体" charset="-122"/>
                <a:cs typeface="宋体" charset="-122"/>
              </a:rPr>
              <a:t>5. 系统误差理论模型假设简化了实际情况，例如忽略了流体中的其他力(如重力、 浮力等)对微粒运动的影响。这些简化假设可能导致实验结果与实际情况存在系 统性偏差。</a:t>
            </a:r>
            <a:endParaRPr lang="en-US" altLang="zh-CN">
              <a:latin typeface="宋体" charset="-122"/>
              <a:ea typeface="宋体" charset="-122"/>
              <a:cs typeface="宋体" charset="-122"/>
            </a:endParaRPr>
          </a:p>
          <a:p>
            <a:r>
              <a:rPr lang="en-US" altLang="zh-CN">
                <a:latin typeface="宋体" charset="-122"/>
                <a:ea typeface="宋体" charset="-122"/>
                <a:cs typeface="宋体" charset="-122"/>
              </a:rPr>
              <a:t>  改进方法是考虑更多实际因素，完善理论模型。</a:t>
            </a:r>
            <a:endParaRPr lang="en-US" altLang="zh-CN">
              <a:latin typeface="宋体" charset="-122"/>
              <a:ea typeface="宋体" charset="-122"/>
              <a:cs typeface="宋体" charset="-122"/>
            </a:endParaRPr>
          </a:p>
          <a:p>
            <a:r>
              <a:rPr lang="en-US" altLang="zh-CN">
                <a:latin typeface="宋体" charset="-122"/>
                <a:ea typeface="宋体" charset="-122"/>
                <a:cs typeface="宋体" charset="-122"/>
              </a:rPr>
              <a:t>6. 数据处理误差数据处理过程中存在拟合误差。在拟合时，数据点的分布和拟合曲 线的选择会影响拟合结果。如果数据点不够均匀或者存在异常值，拟合结果可能 不准确。</a:t>
            </a:r>
            <a:endParaRPr lang="en-US" altLang="zh-CN">
              <a:latin typeface="宋体" charset="-122"/>
              <a:ea typeface="宋体" charset="-122"/>
              <a:cs typeface="宋体" charset="-122"/>
            </a:endParaRPr>
          </a:p>
          <a:p>
            <a:r>
              <a:rPr lang="en-US" altLang="zh-CN">
                <a:latin typeface="宋体" charset="-122"/>
                <a:ea typeface="宋体" charset="-122"/>
                <a:cs typeface="宋体" charset="-122"/>
              </a:rPr>
              <a:t>  改进方法是排除异常值，确保数据点均匀分布，并选择合适的拟合方法。</a:t>
            </a:r>
            <a:endParaRPr lang="en-US" altLang="zh-CN">
              <a:latin typeface="宋体" charset="-122"/>
              <a:ea typeface="宋体" charset="-122"/>
              <a:cs typeface="宋体" charset="-122"/>
            </a:endParaRPr>
          </a:p>
          <a:p>
            <a:r>
              <a:rPr lang="en-US" altLang="zh-CN">
                <a:latin typeface="宋体" charset="-122"/>
                <a:ea typeface="宋体" charset="-122"/>
                <a:cs typeface="宋体" charset="-122"/>
              </a:rPr>
              <a:t>7. 人为误差人为操作误差:在实验操作过程中，人为操作误差会影响实验结果，例 如显微镜对焦不准、相机拍摄朝向与刻度线不完全垂直、录像时间间隔不一致 等。</a:t>
            </a:r>
            <a:endParaRPr lang="en-US" altLang="zh-CN">
              <a:latin typeface="宋体" charset="-122"/>
              <a:ea typeface="宋体" charset="-122"/>
              <a:cs typeface="宋体" charset="-122"/>
            </a:endParaRPr>
          </a:p>
          <a:p>
            <a:r>
              <a:rPr lang="en-US" altLang="zh-CN">
                <a:latin typeface="宋体" charset="-122"/>
                <a:ea typeface="宋体" charset="-122"/>
                <a:cs typeface="宋体" charset="-122"/>
              </a:rPr>
              <a:t>  改进方法是严格按照实验步骤进行操作，减少人为误差。</a:t>
            </a:r>
            <a:endParaRPr lang="en-US" altLang="zh-CN">
              <a:latin typeface="宋体" charset="-122"/>
              <a:ea typeface="宋体" charset="-122"/>
              <a:cs typeface="宋体" charset="-122"/>
            </a:endParaRPr>
          </a:p>
          <a:p>
            <a:endParaRPr lang="en-US" altLang="zh-CN">
              <a:latin typeface="宋体" charset="-122"/>
              <a:ea typeface="宋体" charset="-122"/>
              <a:cs typeface="宋体" charset="-122"/>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flipH="1" flipV="1">
            <a:off x="-8890" y="-56515"/>
            <a:ext cx="12287885" cy="6914515"/>
          </a:xfrm>
          <a:prstGeom prst="rect">
            <a:avLst/>
          </a:prstGeom>
        </p:spPr>
      </p:pic>
      <p:sp>
        <p:nvSpPr>
          <p:cNvPr id="2" name="任意多边形 1"/>
          <p:cNvSpPr/>
          <p:nvPr/>
        </p:nvSpPr>
        <p:spPr>
          <a:xfrm>
            <a:off x="10673715" y="6092190"/>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53" name="任意多边形 52"/>
          <p:cNvSpPr/>
          <p:nvPr userDrawn="1"/>
        </p:nvSpPr>
        <p:spPr>
          <a:xfrm rot="5400000">
            <a:off x="826770" y="83820"/>
            <a:ext cx="325120" cy="107823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566" h="1875">
                <a:moveTo>
                  <a:pt x="0" y="26"/>
                </a:moveTo>
                <a:lnTo>
                  <a:pt x="0" y="24"/>
                </a:lnTo>
                <a:lnTo>
                  <a:pt x="0" y="22"/>
                </a:lnTo>
                <a:cubicBezTo>
                  <a:pt x="0" y="8"/>
                  <a:pt x="19" y="-1"/>
                  <a:pt x="24" y="0"/>
                </a:cubicBezTo>
                <a:lnTo>
                  <a:pt x="25" y="0"/>
                </a:lnTo>
                <a:lnTo>
                  <a:pt x="29" y="0"/>
                </a:lnTo>
                <a:lnTo>
                  <a:pt x="30" y="0"/>
                </a:lnTo>
                <a:cubicBezTo>
                  <a:pt x="43" y="0"/>
                  <a:pt x="52" y="19"/>
                  <a:pt x="51" y="24"/>
                </a:cubicBezTo>
                <a:lnTo>
                  <a:pt x="51" y="25"/>
                </a:lnTo>
                <a:lnTo>
                  <a:pt x="51" y="29"/>
                </a:lnTo>
                <a:lnTo>
                  <a:pt x="51" y="30"/>
                </a:lnTo>
                <a:cubicBezTo>
                  <a:pt x="52" y="43"/>
                  <a:pt x="33" y="52"/>
                  <a:pt x="28" y="51"/>
                </a:cubicBezTo>
                <a:lnTo>
                  <a:pt x="27" y="51"/>
                </a:lnTo>
                <a:lnTo>
                  <a:pt x="24" y="51"/>
                </a:lnTo>
                <a:lnTo>
                  <a:pt x="22" y="51"/>
                </a:lnTo>
                <a:cubicBezTo>
                  <a:pt x="8" y="52"/>
                  <a:pt x="-1" y="33"/>
                  <a:pt x="0" y="28"/>
                </a:cubicBezTo>
                <a:lnTo>
                  <a:pt x="0" y="27"/>
                </a:lnTo>
                <a:lnTo>
                  <a:pt x="0" y="26"/>
                </a:lnTo>
                <a:close/>
                <a:moveTo>
                  <a:pt x="257" y="27"/>
                </a:moveTo>
                <a:lnTo>
                  <a:pt x="257" y="25"/>
                </a:lnTo>
                <a:cubicBezTo>
                  <a:pt x="257" y="10"/>
                  <a:pt x="276" y="0"/>
                  <a:pt x="281" y="1"/>
                </a:cubicBezTo>
                <a:lnTo>
                  <a:pt x="282" y="1"/>
                </a:lnTo>
                <a:lnTo>
                  <a:pt x="286" y="1"/>
                </a:lnTo>
                <a:lnTo>
                  <a:pt x="287" y="1"/>
                </a:lnTo>
                <a:cubicBezTo>
                  <a:pt x="300" y="1"/>
                  <a:pt x="310" y="20"/>
                  <a:pt x="309" y="25"/>
                </a:cubicBezTo>
                <a:lnTo>
                  <a:pt x="309" y="26"/>
                </a:lnTo>
                <a:lnTo>
                  <a:pt x="309" y="30"/>
                </a:lnTo>
                <a:lnTo>
                  <a:pt x="309" y="31"/>
                </a:lnTo>
                <a:cubicBezTo>
                  <a:pt x="309" y="44"/>
                  <a:pt x="290" y="53"/>
                  <a:pt x="286" y="53"/>
                </a:cubicBezTo>
                <a:lnTo>
                  <a:pt x="285" y="52"/>
                </a:lnTo>
                <a:lnTo>
                  <a:pt x="281" y="52"/>
                </a:lnTo>
                <a:lnTo>
                  <a:pt x="279" y="52"/>
                </a:lnTo>
                <a:cubicBezTo>
                  <a:pt x="266" y="53"/>
                  <a:pt x="256" y="34"/>
                  <a:pt x="257" y="29"/>
                </a:cubicBezTo>
                <a:lnTo>
                  <a:pt x="257" y="29"/>
                </a:lnTo>
                <a:lnTo>
                  <a:pt x="257" y="27"/>
                </a:lnTo>
                <a:close/>
                <a:moveTo>
                  <a:pt x="515" y="29"/>
                </a:moveTo>
                <a:lnTo>
                  <a:pt x="515" y="26"/>
                </a:lnTo>
                <a:cubicBezTo>
                  <a:pt x="514" y="11"/>
                  <a:pt x="533" y="1"/>
                  <a:pt x="539" y="2"/>
                </a:cubicBezTo>
                <a:lnTo>
                  <a:pt x="540" y="2"/>
                </a:lnTo>
                <a:lnTo>
                  <a:pt x="543" y="2"/>
                </a:lnTo>
                <a:lnTo>
                  <a:pt x="545" y="2"/>
                </a:lnTo>
                <a:cubicBezTo>
                  <a:pt x="558" y="2"/>
                  <a:pt x="567" y="21"/>
                  <a:pt x="566" y="26"/>
                </a:cubicBezTo>
                <a:lnTo>
                  <a:pt x="566" y="27"/>
                </a:lnTo>
                <a:lnTo>
                  <a:pt x="566" y="31"/>
                </a:lnTo>
                <a:lnTo>
                  <a:pt x="566" y="32"/>
                </a:lnTo>
                <a:cubicBezTo>
                  <a:pt x="566" y="45"/>
                  <a:pt x="547" y="55"/>
                  <a:pt x="543" y="54"/>
                </a:cubicBezTo>
                <a:lnTo>
                  <a:pt x="542" y="54"/>
                </a:lnTo>
                <a:lnTo>
                  <a:pt x="540" y="54"/>
                </a:lnTo>
                <a:lnTo>
                  <a:pt x="538" y="54"/>
                </a:lnTo>
                <a:cubicBezTo>
                  <a:pt x="524" y="54"/>
                  <a:pt x="514" y="35"/>
                  <a:pt x="515" y="31"/>
                </a:cubicBezTo>
                <a:lnTo>
                  <a:pt x="515" y="30"/>
                </a:lnTo>
                <a:lnTo>
                  <a:pt x="515" y="29"/>
                </a:lnTo>
                <a:close/>
                <a:moveTo>
                  <a:pt x="0" y="254"/>
                </a:moveTo>
                <a:lnTo>
                  <a:pt x="0" y="252"/>
                </a:lnTo>
                <a:lnTo>
                  <a:pt x="0" y="250"/>
                </a:lnTo>
                <a:cubicBezTo>
                  <a:pt x="0" y="236"/>
                  <a:pt x="19" y="227"/>
                  <a:pt x="24" y="228"/>
                </a:cubicBezTo>
                <a:lnTo>
                  <a:pt x="25" y="228"/>
                </a:lnTo>
                <a:lnTo>
                  <a:pt x="29" y="228"/>
                </a:lnTo>
                <a:cubicBezTo>
                  <a:pt x="42" y="227"/>
                  <a:pt x="52" y="246"/>
                  <a:pt x="51" y="252"/>
                </a:cubicBezTo>
                <a:lnTo>
                  <a:pt x="51" y="253"/>
                </a:lnTo>
                <a:lnTo>
                  <a:pt x="51" y="256"/>
                </a:lnTo>
                <a:lnTo>
                  <a:pt x="51" y="258"/>
                </a:lnTo>
                <a:cubicBezTo>
                  <a:pt x="52" y="271"/>
                  <a:pt x="33" y="280"/>
                  <a:pt x="28" y="279"/>
                </a:cubicBezTo>
                <a:lnTo>
                  <a:pt x="27" y="279"/>
                </a:lnTo>
                <a:lnTo>
                  <a:pt x="24" y="279"/>
                </a:lnTo>
                <a:lnTo>
                  <a:pt x="22" y="279"/>
                </a:lnTo>
                <a:cubicBezTo>
                  <a:pt x="8" y="279"/>
                  <a:pt x="-1" y="261"/>
                  <a:pt x="0" y="256"/>
                </a:cubicBezTo>
                <a:lnTo>
                  <a:pt x="0" y="255"/>
                </a:lnTo>
                <a:lnTo>
                  <a:pt x="0" y="254"/>
                </a:lnTo>
                <a:close/>
                <a:moveTo>
                  <a:pt x="257" y="255"/>
                </a:moveTo>
                <a:lnTo>
                  <a:pt x="257" y="253"/>
                </a:lnTo>
                <a:cubicBezTo>
                  <a:pt x="257" y="238"/>
                  <a:pt x="276" y="228"/>
                  <a:pt x="281" y="229"/>
                </a:cubicBezTo>
                <a:lnTo>
                  <a:pt x="282" y="229"/>
                </a:lnTo>
                <a:lnTo>
                  <a:pt x="286" y="229"/>
                </a:lnTo>
                <a:cubicBezTo>
                  <a:pt x="300" y="228"/>
                  <a:pt x="310" y="247"/>
                  <a:pt x="309" y="253"/>
                </a:cubicBezTo>
                <a:lnTo>
                  <a:pt x="309" y="254"/>
                </a:lnTo>
                <a:lnTo>
                  <a:pt x="309" y="257"/>
                </a:lnTo>
                <a:lnTo>
                  <a:pt x="309" y="259"/>
                </a:lnTo>
                <a:cubicBezTo>
                  <a:pt x="309" y="272"/>
                  <a:pt x="290" y="281"/>
                  <a:pt x="286" y="280"/>
                </a:cubicBezTo>
                <a:lnTo>
                  <a:pt x="285" y="280"/>
                </a:lnTo>
                <a:lnTo>
                  <a:pt x="281" y="280"/>
                </a:lnTo>
                <a:lnTo>
                  <a:pt x="279" y="280"/>
                </a:lnTo>
                <a:cubicBezTo>
                  <a:pt x="266" y="280"/>
                  <a:pt x="256" y="262"/>
                  <a:pt x="257" y="257"/>
                </a:cubicBezTo>
                <a:lnTo>
                  <a:pt x="257" y="256"/>
                </a:lnTo>
                <a:lnTo>
                  <a:pt x="257" y="255"/>
                </a:lnTo>
                <a:close/>
                <a:moveTo>
                  <a:pt x="515" y="256"/>
                </a:moveTo>
                <a:lnTo>
                  <a:pt x="515" y="254"/>
                </a:lnTo>
                <a:cubicBezTo>
                  <a:pt x="514" y="239"/>
                  <a:pt x="533" y="229"/>
                  <a:pt x="539" y="230"/>
                </a:cubicBezTo>
                <a:lnTo>
                  <a:pt x="540" y="230"/>
                </a:lnTo>
                <a:lnTo>
                  <a:pt x="543" y="230"/>
                </a:lnTo>
                <a:cubicBezTo>
                  <a:pt x="557" y="229"/>
                  <a:pt x="567" y="248"/>
                  <a:pt x="566" y="254"/>
                </a:cubicBezTo>
                <a:lnTo>
                  <a:pt x="566" y="255"/>
                </a:lnTo>
                <a:lnTo>
                  <a:pt x="566" y="258"/>
                </a:lnTo>
                <a:lnTo>
                  <a:pt x="566" y="260"/>
                </a:lnTo>
                <a:cubicBezTo>
                  <a:pt x="566" y="273"/>
                  <a:pt x="547" y="282"/>
                  <a:pt x="543" y="281"/>
                </a:cubicBezTo>
                <a:lnTo>
                  <a:pt x="542" y="281"/>
                </a:lnTo>
                <a:lnTo>
                  <a:pt x="540" y="281"/>
                </a:lnTo>
                <a:lnTo>
                  <a:pt x="538" y="281"/>
                </a:lnTo>
                <a:cubicBezTo>
                  <a:pt x="524" y="282"/>
                  <a:pt x="514" y="263"/>
                  <a:pt x="515" y="258"/>
                </a:cubicBezTo>
                <a:lnTo>
                  <a:pt x="515" y="257"/>
                </a:lnTo>
                <a:lnTo>
                  <a:pt x="515" y="256"/>
                </a:lnTo>
                <a:close/>
                <a:moveTo>
                  <a:pt x="0" y="482"/>
                </a:moveTo>
                <a:lnTo>
                  <a:pt x="0" y="479"/>
                </a:lnTo>
                <a:lnTo>
                  <a:pt x="0" y="478"/>
                </a:lnTo>
                <a:cubicBezTo>
                  <a:pt x="0" y="464"/>
                  <a:pt x="19" y="454"/>
                  <a:pt x="24" y="455"/>
                </a:cubicBezTo>
                <a:lnTo>
                  <a:pt x="25" y="455"/>
                </a:lnTo>
                <a:lnTo>
                  <a:pt x="29" y="455"/>
                </a:lnTo>
                <a:cubicBezTo>
                  <a:pt x="42" y="455"/>
                  <a:pt x="52" y="474"/>
                  <a:pt x="51" y="479"/>
                </a:cubicBezTo>
                <a:lnTo>
                  <a:pt x="51" y="480"/>
                </a:lnTo>
                <a:lnTo>
                  <a:pt x="51" y="484"/>
                </a:lnTo>
                <a:lnTo>
                  <a:pt x="51" y="486"/>
                </a:lnTo>
                <a:cubicBezTo>
                  <a:pt x="52" y="498"/>
                  <a:pt x="33" y="508"/>
                  <a:pt x="28" y="507"/>
                </a:cubicBezTo>
                <a:lnTo>
                  <a:pt x="27" y="507"/>
                </a:lnTo>
                <a:lnTo>
                  <a:pt x="24" y="507"/>
                </a:lnTo>
                <a:lnTo>
                  <a:pt x="22" y="507"/>
                </a:lnTo>
                <a:cubicBezTo>
                  <a:pt x="8" y="507"/>
                  <a:pt x="-1" y="488"/>
                  <a:pt x="0" y="484"/>
                </a:cubicBezTo>
                <a:lnTo>
                  <a:pt x="0" y="483"/>
                </a:lnTo>
                <a:lnTo>
                  <a:pt x="0" y="482"/>
                </a:lnTo>
                <a:close/>
                <a:moveTo>
                  <a:pt x="257" y="483"/>
                </a:moveTo>
                <a:lnTo>
                  <a:pt x="257" y="480"/>
                </a:lnTo>
                <a:cubicBezTo>
                  <a:pt x="257" y="466"/>
                  <a:pt x="276" y="456"/>
                  <a:pt x="281" y="456"/>
                </a:cubicBezTo>
                <a:lnTo>
                  <a:pt x="282" y="457"/>
                </a:lnTo>
                <a:lnTo>
                  <a:pt x="286" y="457"/>
                </a:lnTo>
                <a:cubicBezTo>
                  <a:pt x="300" y="456"/>
                  <a:pt x="310" y="475"/>
                  <a:pt x="309" y="481"/>
                </a:cubicBezTo>
                <a:lnTo>
                  <a:pt x="309" y="482"/>
                </a:lnTo>
                <a:lnTo>
                  <a:pt x="309" y="485"/>
                </a:lnTo>
                <a:lnTo>
                  <a:pt x="309" y="487"/>
                </a:lnTo>
                <a:cubicBezTo>
                  <a:pt x="309" y="500"/>
                  <a:pt x="290" y="509"/>
                  <a:pt x="286" y="508"/>
                </a:cubicBezTo>
                <a:lnTo>
                  <a:pt x="285" y="508"/>
                </a:lnTo>
                <a:lnTo>
                  <a:pt x="281" y="508"/>
                </a:lnTo>
                <a:lnTo>
                  <a:pt x="279" y="508"/>
                </a:lnTo>
                <a:cubicBezTo>
                  <a:pt x="266" y="508"/>
                  <a:pt x="256" y="489"/>
                  <a:pt x="257" y="485"/>
                </a:cubicBezTo>
                <a:lnTo>
                  <a:pt x="257" y="484"/>
                </a:lnTo>
                <a:lnTo>
                  <a:pt x="257" y="483"/>
                </a:lnTo>
                <a:close/>
                <a:moveTo>
                  <a:pt x="515" y="484"/>
                </a:moveTo>
                <a:lnTo>
                  <a:pt x="515" y="482"/>
                </a:lnTo>
                <a:cubicBezTo>
                  <a:pt x="514" y="467"/>
                  <a:pt x="533" y="457"/>
                  <a:pt x="539" y="458"/>
                </a:cubicBezTo>
                <a:lnTo>
                  <a:pt x="540" y="458"/>
                </a:lnTo>
                <a:lnTo>
                  <a:pt x="543" y="458"/>
                </a:lnTo>
                <a:cubicBezTo>
                  <a:pt x="557" y="457"/>
                  <a:pt x="567" y="476"/>
                  <a:pt x="566" y="482"/>
                </a:cubicBezTo>
                <a:lnTo>
                  <a:pt x="566" y="483"/>
                </a:lnTo>
                <a:lnTo>
                  <a:pt x="566" y="486"/>
                </a:lnTo>
                <a:lnTo>
                  <a:pt x="566" y="488"/>
                </a:lnTo>
                <a:cubicBezTo>
                  <a:pt x="566" y="501"/>
                  <a:pt x="547" y="510"/>
                  <a:pt x="543" y="509"/>
                </a:cubicBezTo>
                <a:lnTo>
                  <a:pt x="542" y="509"/>
                </a:lnTo>
                <a:lnTo>
                  <a:pt x="540" y="509"/>
                </a:lnTo>
                <a:lnTo>
                  <a:pt x="538" y="509"/>
                </a:lnTo>
                <a:cubicBezTo>
                  <a:pt x="524" y="509"/>
                  <a:pt x="514" y="491"/>
                  <a:pt x="515" y="486"/>
                </a:cubicBezTo>
                <a:lnTo>
                  <a:pt x="515" y="485"/>
                </a:lnTo>
                <a:lnTo>
                  <a:pt x="515" y="484"/>
                </a:lnTo>
                <a:close/>
                <a:moveTo>
                  <a:pt x="0" y="709"/>
                </a:moveTo>
                <a:lnTo>
                  <a:pt x="0" y="707"/>
                </a:lnTo>
                <a:lnTo>
                  <a:pt x="0" y="705"/>
                </a:lnTo>
                <a:cubicBezTo>
                  <a:pt x="0" y="691"/>
                  <a:pt x="19" y="682"/>
                  <a:pt x="24" y="683"/>
                </a:cubicBezTo>
                <a:lnTo>
                  <a:pt x="25" y="683"/>
                </a:lnTo>
                <a:lnTo>
                  <a:pt x="29" y="683"/>
                </a:lnTo>
                <a:cubicBezTo>
                  <a:pt x="42" y="682"/>
                  <a:pt x="52" y="701"/>
                  <a:pt x="51" y="707"/>
                </a:cubicBezTo>
                <a:lnTo>
                  <a:pt x="51" y="708"/>
                </a:lnTo>
                <a:lnTo>
                  <a:pt x="51" y="712"/>
                </a:lnTo>
                <a:lnTo>
                  <a:pt x="51" y="713"/>
                </a:lnTo>
                <a:cubicBezTo>
                  <a:pt x="52" y="726"/>
                  <a:pt x="33" y="735"/>
                  <a:pt x="28" y="734"/>
                </a:cubicBezTo>
                <a:lnTo>
                  <a:pt x="27" y="734"/>
                </a:lnTo>
                <a:lnTo>
                  <a:pt x="24" y="734"/>
                </a:lnTo>
                <a:lnTo>
                  <a:pt x="22" y="734"/>
                </a:lnTo>
                <a:cubicBezTo>
                  <a:pt x="8" y="735"/>
                  <a:pt x="-1" y="716"/>
                  <a:pt x="0" y="711"/>
                </a:cubicBezTo>
                <a:lnTo>
                  <a:pt x="0" y="710"/>
                </a:lnTo>
                <a:lnTo>
                  <a:pt x="0" y="709"/>
                </a:lnTo>
                <a:close/>
                <a:moveTo>
                  <a:pt x="257" y="710"/>
                </a:moveTo>
                <a:lnTo>
                  <a:pt x="257" y="708"/>
                </a:lnTo>
                <a:cubicBezTo>
                  <a:pt x="257" y="693"/>
                  <a:pt x="276" y="683"/>
                  <a:pt x="281" y="684"/>
                </a:cubicBezTo>
                <a:lnTo>
                  <a:pt x="282" y="684"/>
                </a:lnTo>
                <a:lnTo>
                  <a:pt x="286" y="684"/>
                </a:lnTo>
                <a:cubicBezTo>
                  <a:pt x="300" y="684"/>
                  <a:pt x="310" y="703"/>
                  <a:pt x="309" y="708"/>
                </a:cubicBezTo>
                <a:lnTo>
                  <a:pt x="309" y="709"/>
                </a:lnTo>
                <a:lnTo>
                  <a:pt x="309" y="713"/>
                </a:lnTo>
                <a:lnTo>
                  <a:pt x="309" y="714"/>
                </a:lnTo>
                <a:cubicBezTo>
                  <a:pt x="309" y="727"/>
                  <a:pt x="290" y="736"/>
                  <a:pt x="286" y="736"/>
                </a:cubicBezTo>
                <a:lnTo>
                  <a:pt x="285" y="735"/>
                </a:lnTo>
                <a:lnTo>
                  <a:pt x="281" y="735"/>
                </a:lnTo>
                <a:lnTo>
                  <a:pt x="279" y="736"/>
                </a:lnTo>
                <a:cubicBezTo>
                  <a:pt x="266" y="736"/>
                  <a:pt x="256" y="717"/>
                  <a:pt x="257" y="712"/>
                </a:cubicBezTo>
                <a:lnTo>
                  <a:pt x="257" y="712"/>
                </a:lnTo>
                <a:lnTo>
                  <a:pt x="257" y="710"/>
                </a:lnTo>
                <a:close/>
                <a:moveTo>
                  <a:pt x="515" y="712"/>
                </a:moveTo>
                <a:lnTo>
                  <a:pt x="515" y="709"/>
                </a:lnTo>
                <a:cubicBezTo>
                  <a:pt x="514" y="694"/>
                  <a:pt x="533" y="684"/>
                  <a:pt x="539" y="685"/>
                </a:cubicBezTo>
                <a:lnTo>
                  <a:pt x="540" y="685"/>
                </a:lnTo>
                <a:lnTo>
                  <a:pt x="543" y="685"/>
                </a:lnTo>
                <a:cubicBezTo>
                  <a:pt x="557" y="685"/>
                  <a:pt x="567" y="704"/>
                  <a:pt x="566" y="709"/>
                </a:cubicBezTo>
                <a:lnTo>
                  <a:pt x="566" y="710"/>
                </a:lnTo>
                <a:lnTo>
                  <a:pt x="566" y="714"/>
                </a:lnTo>
                <a:lnTo>
                  <a:pt x="566" y="715"/>
                </a:lnTo>
                <a:cubicBezTo>
                  <a:pt x="566" y="728"/>
                  <a:pt x="547" y="738"/>
                  <a:pt x="543" y="737"/>
                </a:cubicBezTo>
                <a:lnTo>
                  <a:pt x="542" y="737"/>
                </a:lnTo>
                <a:lnTo>
                  <a:pt x="540" y="737"/>
                </a:lnTo>
                <a:lnTo>
                  <a:pt x="538" y="737"/>
                </a:lnTo>
                <a:cubicBezTo>
                  <a:pt x="524" y="737"/>
                  <a:pt x="514" y="718"/>
                  <a:pt x="515" y="714"/>
                </a:cubicBezTo>
                <a:lnTo>
                  <a:pt x="515" y="713"/>
                </a:lnTo>
                <a:lnTo>
                  <a:pt x="515" y="712"/>
                </a:lnTo>
                <a:close/>
                <a:moveTo>
                  <a:pt x="0" y="937"/>
                </a:moveTo>
                <a:lnTo>
                  <a:pt x="0" y="935"/>
                </a:lnTo>
                <a:lnTo>
                  <a:pt x="0" y="933"/>
                </a:lnTo>
                <a:cubicBezTo>
                  <a:pt x="0" y="919"/>
                  <a:pt x="19" y="910"/>
                  <a:pt x="24" y="911"/>
                </a:cubicBezTo>
                <a:lnTo>
                  <a:pt x="25" y="911"/>
                </a:lnTo>
                <a:lnTo>
                  <a:pt x="29" y="911"/>
                </a:lnTo>
                <a:cubicBezTo>
                  <a:pt x="42" y="910"/>
                  <a:pt x="52" y="929"/>
                  <a:pt x="51" y="935"/>
                </a:cubicBezTo>
                <a:lnTo>
                  <a:pt x="51" y="936"/>
                </a:lnTo>
                <a:lnTo>
                  <a:pt x="51" y="939"/>
                </a:lnTo>
                <a:lnTo>
                  <a:pt x="51" y="941"/>
                </a:lnTo>
                <a:cubicBezTo>
                  <a:pt x="52" y="954"/>
                  <a:pt x="33" y="963"/>
                  <a:pt x="28" y="962"/>
                </a:cubicBezTo>
                <a:lnTo>
                  <a:pt x="27" y="962"/>
                </a:lnTo>
                <a:lnTo>
                  <a:pt x="24" y="962"/>
                </a:lnTo>
                <a:lnTo>
                  <a:pt x="22" y="962"/>
                </a:lnTo>
                <a:cubicBezTo>
                  <a:pt x="8" y="962"/>
                  <a:pt x="-1" y="944"/>
                  <a:pt x="0" y="939"/>
                </a:cubicBezTo>
                <a:lnTo>
                  <a:pt x="0" y="938"/>
                </a:lnTo>
                <a:lnTo>
                  <a:pt x="0" y="937"/>
                </a:lnTo>
                <a:close/>
                <a:moveTo>
                  <a:pt x="257" y="938"/>
                </a:moveTo>
                <a:lnTo>
                  <a:pt x="257" y="936"/>
                </a:lnTo>
                <a:cubicBezTo>
                  <a:pt x="257" y="921"/>
                  <a:pt x="276" y="911"/>
                  <a:pt x="281" y="912"/>
                </a:cubicBezTo>
                <a:lnTo>
                  <a:pt x="282" y="912"/>
                </a:lnTo>
                <a:lnTo>
                  <a:pt x="286" y="912"/>
                </a:lnTo>
                <a:cubicBezTo>
                  <a:pt x="300" y="911"/>
                  <a:pt x="310" y="930"/>
                  <a:pt x="309" y="936"/>
                </a:cubicBezTo>
                <a:lnTo>
                  <a:pt x="309" y="937"/>
                </a:lnTo>
                <a:lnTo>
                  <a:pt x="309" y="940"/>
                </a:lnTo>
                <a:lnTo>
                  <a:pt x="309" y="942"/>
                </a:lnTo>
                <a:cubicBezTo>
                  <a:pt x="309" y="955"/>
                  <a:pt x="290" y="964"/>
                  <a:pt x="286" y="963"/>
                </a:cubicBezTo>
                <a:lnTo>
                  <a:pt x="285" y="963"/>
                </a:lnTo>
                <a:lnTo>
                  <a:pt x="281" y="963"/>
                </a:lnTo>
                <a:lnTo>
                  <a:pt x="279" y="963"/>
                </a:lnTo>
                <a:cubicBezTo>
                  <a:pt x="266" y="963"/>
                  <a:pt x="256" y="945"/>
                  <a:pt x="257" y="940"/>
                </a:cubicBezTo>
                <a:lnTo>
                  <a:pt x="257" y="939"/>
                </a:lnTo>
                <a:lnTo>
                  <a:pt x="257" y="938"/>
                </a:lnTo>
                <a:close/>
                <a:moveTo>
                  <a:pt x="515" y="939"/>
                </a:moveTo>
                <a:lnTo>
                  <a:pt x="515" y="937"/>
                </a:lnTo>
                <a:cubicBezTo>
                  <a:pt x="514" y="922"/>
                  <a:pt x="533" y="912"/>
                  <a:pt x="539" y="913"/>
                </a:cubicBezTo>
                <a:lnTo>
                  <a:pt x="540" y="913"/>
                </a:lnTo>
                <a:lnTo>
                  <a:pt x="543" y="913"/>
                </a:lnTo>
                <a:cubicBezTo>
                  <a:pt x="557" y="912"/>
                  <a:pt x="567" y="931"/>
                  <a:pt x="566" y="937"/>
                </a:cubicBezTo>
                <a:lnTo>
                  <a:pt x="566" y="938"/>
                </a:lnTo>
                <a:lnTo>
                  <a:pt x="566" y="941"/>
                </a:lnTo>
                <a:lnTo>
                  <a:pt x="566" y="943"/>
                </a:lnTo>
                <a:cubicBezTo>
                  <a:pt x="566" y="956"/>
                  <a:pt x="547" y="965"/>
                  <a:pt x="543" y="964"/>
                </a:cubicBezTo>
                <a:lnTo>
                  <a:pt x="542" y="964"/>
                </a:lnTo>
                <a:lnTo>
                  <a:pt x="540" y="964"/>
                </a:lnTo>
                <a:lnTo>
                  <a:pt x="538" y="964"/>
                </a:lnTo>
                <a:cubicBezTo>
                  <a:pt x="524" y="965"/>
                  <a:pt x="514" y="946"/>
                  <a:pt x="515" y="941"/>
                </a:cubicBezTo>
                <a:lnTo>
                  <a:pt x="515" y="940"/>
                </a:lnTo>
                <a:lnTo>
                  <a:pt x="515" y="939"/>
                </a:lnTo>
                <a:close/>
                <a:moveTo>
                  <a:pt x="0" y="1165"/>
                </a:moveTo>
                <a:lnTo>
                  <a:pt x="0" y="1162"/>
                </a:lnTo>
                <a:lnTo>
                  <a:pt x="0" y="1161"/>
                </a:lnTo>
                <a:cubicBezTo>
                  <a:pt x="0" y="1147"/>
                  <a:pt x="19" y="1137"/>
                  <a:pt x="24" y="1138"/>
                </a:cubicBezTo>
                <a:lnTo>
                  <a:pt x="25" y="1138"/>
                </a:lnTo>
                <a:lnTo>
                  <a:pt x="29" y="1138"/>
                </a:lnTo>
                <a:cubicBezTo>
                  <a:pt x="42" y="1138"/>
                  <a:pt x="52" y="1157"/>
                  <a:pt x="51" y="1162"/>
                </a:cubicBezTo>
                <a:lnTo>
                  <a:pt x="51" y="1163"/>
                </a:lnTo>
                <a:lnTo>
                  <a:pt x="51" y="1167"/>
                </a:lnTo>
                <a:lnTo>
                  <a:pt x="51" y="1169"/>
                </a:lnTo>
                <a:cubicBezTo>
                  <a:pt x="52" y="1181"/>
                  <a:pt x="33" y="1191"/>
                  <a:pt x="28" y="1190"/>
                </a:cubicBezTo>
                <a:lnTo>
                  <a:pt x="27" y="1190"/>
                </a:lnTo>
                <a:lnTo>
                  <a:pt x="24" y="1190"/>
                </a:lnTo>
                <a:lnTo>
                  <a:pt x="22" y="1190"/>
                </a:lnTo>
                <a:cubicBezTo>
                  <a:pt x="8" y="1190"/>
                  <a:pt x="-1" y="1171"/>
                  <a:pt x="0" y="1167"/>
                </a:cubicBezTo>
                <a:lnTo>
                  <a:pt x="0" y="1166"/>
                </a:lnTo>
                <a:lnTo>
                  <a:pt x="0" y="1165"/>
                </a:lnTo>
                <a:close/>
                <a:moveTo>
                  <a:pt x="257" y="1166"/>
                </a:moveTo>
                <a:lnTo>
                  <a:pt x="257" y="1163"/>
                </a:lnTo>
                <a:cubicBezTo>
                  <a:pt x="257" y="1149"/>
                  <a:pt x="276" y="1139"/>
                  <a:pt x="281" y="1139"/>
                </a:cubicBezTo>
                <a:lnTo>
                  <a:pt x="282" y="1140"/>
                </a:lnTo>
                <a:lnTo>
                  <a:pt x="286" y="1140"/>
                </a:lnTo>
                <a:cubicBezTo>
                  <a:pt x="300" y="1139"/>
                  <a:pt x="310" y="1158"/>
                  <a:pt x="309" y="1164"/>
                </a:cubicBezTo>
                <a:lnTo>
                  <a:pt x="309" y="1165"/>
                </a:lnTo>
                <a:lnTo>
                  <a:pt x="309" y="1168"/>
                </a:lnTo>
                <a:lnTo>
                  <a:pt x="309" y="1170"/>
                </a:lnTo>
                <a:cubicBezTo>
                  <a:pt x="309" y="1183"/>
                  <a:pt x="290" y="1192"/>
                  <a:pt x="286" y="1191"/>
                </a:cubicBezTo>
                <a:lnTo>
                  <a:pt x="285" y="1191"/>
                </a:lnTo>
                <a:lnTo>
                  <a:pt x="281" y="1191"/>
                </a:lnTo>
                <a:lnTo>
                  <a:pt x="279" y="1191"/>
                </a:lnTo>
                <a:cubicBezTo>
                  <a:pt x="266" y="1191"/>
                  <a:pt x="256" y="1172"/>
                  <a:pt x="257" y="1168"/>
                </a:cubicBezTo>
                <a:lnTo>
                  <a:pt x="257" y="1167"/>
                </a:lnTo>
                <a:lnTo>
                  <a:pt x="257" y="1166"/>
                </a:lnTo>
                <a:close/>
                <a:moveTo>
                  <a:pt x="515" y="1167"/>
                </a:moveTo>
                <a:lnTo>
                  <a:pt x="515" y="1165"/>
                </a:lnTo>
                <a:cubicBezTo>
                  <a:pt x="514" y="1150"/>
                  <a:pt x="533" y="1140"/>
                  <a:pt x="539" y="1141"/>
                </a:cubicBezTo>
                <a:lnTo>
                  <a:pt x="540" y="1141"/>
                </a:lnTo>
                <a:lnTo>
                  <a:pt x="543" y="1141"/>
                </a:lnTo>
                <a:cubicBezTo>
                  <a:pt x="557" y="1140"/>
                  <a:pt x="567" y="1159"/>
                  <a:pt x="566" y="1165"/>
                </a:cubicBezTo>
                <a:lnTo>
                  <a:pt x="566" y="1166"/>
                </a:lnTo>
                <a:lnTo>
                  <a:pt x="566" y="1169"/>
                </a:lnTo>
                <a:lnTo>
                  <a:pt x="566" y="1171"/>
                </a:lnTo>
                <a:cubicBezTo>
                  <a:pt x="566" y="1184"/>
                  <a:pt x="547" y="1193"/>
                  <a:pt x="543" y="1192"/>
                </a:cubicBezTo>
                <a:lnTo>
                  <a:pt x="542" y="1192"/>
                </a:lnTo>
                <a:lnTo>
                  <a:pt x="540" y="1192"/>
                </a:lnTo>
                <a:lnTo>
                  <a:pt x="538" y="1192"/>
                </a:lnTo>
                <a:cubicBezTo>
                  <a:pt x="524" y="1192"/>
                  <a:pt x="514" y="1174"/>
                  <a:pt x="515" y="1169"/>
                </a:cubicBezTo>
                <a:lnTo>
                  <a:pt x="515" y="1168"/>
                </a:lnTo>
                <a:lnTo>
                  <a:pt x="515" y="1167"/>
                </a:lnTo>
                <a:close/>
                <a:moveTo>
                  <a:pt x="0" y="1392"/>
                </a:moveTo>
                <a:lnTo>
                  <a:pt x="0" y="1390"/>
                </a:lnTo>
                <a:lnTo>
                  <a:pt x="0" y="1388"/>
                </a:lnTo>
                <a:cubicBezTo>
                  <a:pt x="0" y="1374"/>
                  <a:pt x="19" y="1365"/>
                  <a:pt x="24" y="1366"/>
                </a:cubicBezTo>
                <a:lnTo>
                  <a:pt x="25" y="1366"/>
                </a:lnTo>
                <a:lnTo>
                  <a:pt x="29" y="1366"/>
                </a:lnTo>
                <a:cubicBezTo>
                  <a:pt x="42" y="1366"/>
                  <a:pt x="52" y="1384"/>
                  <a:pt x="51" y="1390"/>
                </a:cubicBezTo>
                <a:lnTo>
                  <a:pt x="51" y="1391"/>
                </a:lnTo>
                <a:lnTo>
                  <a:pt x="51" y="1395"/>
                </a:lnTo>
                <a:lnTo>
                  <a:pt x="51" y="1396"/>
                </a:lnTo>
                <a:cubicBezTo>
                  <a:pt x="52" y="1409"/>
                  <a:pt x="33" y="1418"/>
                  <a:pt x="28" y="1417"/>
                </a:cubicBezTo>
                <a:lnTo>
                  <a:pt x="27" y="1417"/>
                </a:lnTo>
                <a:lnTo>
                  <a:pt x="24" y="1417"/>
                </a:lnTo>
                <a:lnTo>
                  <a:pt x="22" y="1417"/>
                </a:lnTo>
                <a:cubicBezTo>
                  <a:pt x="8" y="1418"/>
                  <a:pt x="-1" y="1399"/>
                  <a:pt x="0" y="1394"/>
                </a:cubicBezTo>
                <a:lnTo>
                  <a:pt x="0" y="1393"/>
                </a:lnTo>
                <a:lnTo>
                  <a:pt x="0" y="1392"/>
                </a:lnTo>
                <a:close/>
                <a:moveTo>
                  <a:pt x="257" y="1393"/>
                </a:moveTo>
                <a:lnTo>
                  <a:pt x="257" y="1391"/>
                </a:lnTo>
                <a:cubicBezTo>
                  <a:pt x="257" y="1376"/>
                  <a:pt x="276" y="1366"/>
                  <a:pt x="281" y="1367"/>
                </a:cubicBezTo>
                <a:lnTo>
                  <a:pt x="282" y="1367"/>
                </a:lnTo>
                <a:lnTo>
                  <a:pt x="286" y="1367"/>
                </a:lnTo>
                <a:cubicBezTo>
                  <a:pt x="300" y="1367"/>
                  <a:pt x="310" y="1386"/>
                  <a:pt x="309" y="1391"/>
                </a:cubicBezTo>
                <a:lnTo>
                  <a:pt x="309" y="1392"/>
                </a:lnTo>
                <a:lnTo>
                  <a:pt x="309" y="1396"/>
                </a:lnTo>
                <a:lnTo>
                  <a:pt x="309" y="1397"/>
                </a:lnTo>
                <a:cubicBezTo>
                  <a:pt x="309" y="1410"/>
                  <a:pt x="290" y="1419"/>
                  <a:pt x="286" y="1419"/>
                </a:cubicBezTo>
                <a:lnTo>
                  <a:pt x="285" y="1418"/>
                </a:lnTo>
                <a:lnTo>
                  <a:pt x="281" y="1418"/>
                </a:lnTo>
                <a:lnTo>
                  <a:pt x="279" y="1419"/>
                </a:lnTo>
                <a:cubicBezTo>
                  <a:pt x="266" y="1419"/>
                  <a:pt x="256" y="1400"/>
                  <a:pt x="257" y="1395"/>
                </a:cubicBezTo>
                <a:lnTo>
                  <a:pt x="257" y="1395"/>
                </a:lnTo>
                <a:lnTo>
                  <a:pt x="257" y="1393"/>
                </a:lnTo>
                <a:close/>
                <a:moveTo>
                  <a:pt x="515" y="1395"/>
                </a:moveTo>
                <a:lnTo>
                  <a:pt x="515" y="1392"/>
                </a:lnTo>
                <a:cubicBezTo>
                  <a:pt x="514" y="1377"/>
                  <a:pt x="533" y="1367"/>
                  <a:pt x="539" y="1368"/>
                </a:cubicBezTo>
                <a:lnTo>
                  <a:pt x="540" y="1368"/>
                </a:lnTo>
                <a:lnTo>
                  <a:pt x="543" y="1368"/>
                </a:lnTo>
                <a:cubicBezTo>
                  <a:pt x="557" y="1368"/>
                  <a:pt x="567" y="1387"/>
                  <a:pt x="566" y="1392"/>
                </a:cubicBezTo>
                <a:lnTo>
                  <a:pt x="566" y="1393"/>
                </a:lnTo>
                <a:lnTo>
                  <a:pt x="566" y="1397"/>
                </a:lnTo>
                <a:lnTo>
                  <a:pt x="566" y="1398"/>
                </a:lnTo>
                <a:cubicBezTo>
                  <a:pt x="566" y="1411"/>
                  <a:pt x="547" y="1421"/>
                  <a:pt x="543" y="1420"/>
                </a:cubicBezTo>
                <a:lnTo>
                  <a:pt x="542" y="1420"/>
                </a:lnTo>
                <a:lnTo>
                  <a:pt x="540" y="1420"/>
                </a:lnTo>
                <a:lnTo>
                  <a:pt x="538" y="1420"/>
                </a:lnTo>
                <a:cubicBezTo>
                  <a:pt x="524" y="1420"/>
                  <a:pt x="514" y="1401"/>
                  <a:pt x="515" y="1397"/>
                </a:cubicBezTo>
                <a:lnTo>
                  <a:pt x="515" y="1396"/>
                </a:lnTo>
                <a:lnTo>
                  <a:pt x="515" y="1395"/>
                </a:lnTo>
                <a:close/>
                <a:moveTo>
                  <a:pt x="0" y="1620"/>
                </a:moveTo>
                <a:lnTo>
                  <a:pt x="0" y="1619"/>
                </a:lnTo>
                <a:lnTo>
                  <a:pt x="0" y="1617"/>
                </a:lnTo>
                <a:cubicBezTo>
                  <a:pt x="0" y="1602"/>
                  <a:pt x="19" y="1593"/>
                  <a:pt x="24" y="1594"/>
                </a:cubicBezTo>
                <a:lnTo>
                  <a:pt x="25" y="1594"/>
                </a:lnTo>
                <a:lnTo>
                  <a:pt x="29" y="1594"/>
                </a:lnTo>
                <a:cubicBezTo>
                  <a:pt x="42" y="1593"/>
                  <a:pt x="52" y="1612"/>
                  <a:pt x="51" y="1618"/>
                </a:cubicBezTo>
                <a:lnTo>
                  <a:pt x="51" y="1619"/>
                </a:lnTo>
                <a:lnTo>
                  <a:pt x="51" y="1622"/>
                </a:lnTo>
                <a:lnTo>
                  <a:pt x="51" y="1624"/>
                </a:lnTo>
                <a:cubicBezTo>
                  <a:pt x="52" y="1637"/>
                  <a:pt x="33" y="1646"/>
                  <a:pt x="28" y="1645"/>
                </a:cubicBezTo>
                <a:lnTo>
                  <a:pt x="27" y="1645"/>
                </a:lnTo>
                <a:lnTo>
                  <a:pt x="24" y="1645"/>
                </a:lnTo>
                <a:lnTo>
                  <a:pt x="22" y="1645"/>
                </a:lnTo>
                <a:cubicBezTo>
                  <a:pt x="8" y="1645"/>
                  <a:pt x="-1" y="1627"/>
                  <a:pt x="0" y="1622"/>
                </a:cubicBezTo>
                <a:lnTo>
                  <a:pt x="0" y="1621"/>
                </a:lnTo>
                <a:lnTo>
                  <a:pt x="0" y="1620"/>
                </a:lnTo>
                <a:close/>
                <a:moveTo>
                  <a:pt x="257" y="1621"/>
                </a:moveTo>
                <a:lnTo>
                  <a:pt x="257" y="1620"/>
                </a:lnTo>
                <a:cubicBezTo>
                  <a:pt x="257" y="1604"/>
                  <a:pt x="276" y="1594"/>
                  <a:pt x="281" y="1595"/>
                </a:cubicBezTo>
                <a:lnTo>
                  <a:pt x="282" y="1595"/>
                </a:lnTo>
                <a:lnTo>
                  <a:pt x="286" y="1595"/>
                </a:lnTo>
                <a:cubicBezTo>
                  <a:pt x="300" y="1594"/>
                  <a:pt x="310" y="1613"/>
                  <a:pt x="309" y="1619"/>
                </a:cubicBezTo>
                <a:lnTo>
                  <a:pt x="309" y="1620"/>
                </a:lnTo>
                <a:lnTo>
                  <a:pt x="309" y="1623"/>
                </a:lnTo>
                <a:lnTo>
                  <a:pt x="309" y="1625"/>
                </a:lnTo>
                <a:cubicBezTo>
                  <a:pt x="309" y="1638"/>
                  <a:pt x="290" y="1647"/>
                  <a:pt x="286" y="1646"/>
                </a:cubicBezTo>
                <a:lnTo>
                  <a:pt x="285" y="1646"/>
                </a:lnTo>
                <a:lnTo>
                  <a:pt x="281" y="1646"/>
                </a:lnTo>
                <a:lnTo>
                  <a:pt x="279" y="1646"/>
                </a:lnTo>
                <a:cubicBezTo>
                  <a:pt x="266" y="1646"/>
                  <a:pt x="256" y="1628"/>
                  <a:pt x="257" y="1623"/>
                </a:cubicBezTo>
                <a:lnTo>
                  <a:pt x="257" y="1622"/>
                </a:lnTo>
                <a:lnTo>
                  <a:pt x="257" y="1621"/>
                </a:lnTo>
                <a:close/>
                <a:moveTo>
                  <a:pt x="515" y="1622"/>
                </a:moveTo>
                <a:lnTo>
                  <a:pt x="515" y="1621"/>
                </a:lnTo>
                <a:cubicBezTo>
                  <a:pt x="514" y="1605"/>
                  <a:pt x="533" y="1595"/>
                  <a:pt x="539" y="1596"/>
                </a:cubicBezTo>
                <a:lnTo>
                  <a:pt x="540" y="1596"/>
                </a:lnTo>
                <a:lnTo>
                  <a:pt x="543" y="1596"/>
                </a:lnTo>
                <a:cubicBezTo>
                  <a:pt x="557" y="1595"/>
                  <a:pt x="567" y="1614"/>
                  <a:pt x="566" y="1620"/>
                </a:cubicBezTo>
                <a:lnTo>
                  <a:pt x="566" y="1621"/>
                </a:lnTo>
                <a:lnTo>
                  <a:pt x="566" y="1625"/>
                </a:lnTo>
                <a:lnTo>
                  <a:pt x="566" y="1626"/>
                </a:lnTo>
                <a:cubicBezTo>
                  <a:pt x="566" y="1639"/>
                  <a:pt x="547" y="1648"/>
                  <a:pt x="543" y="1647"/>
                </a:cubicBezTo>
                <a:lnTo>
                  <a:pt x="542" y="1647"/>
                </a:lnTo>
                <a:lnTo>
                  <a:pt x="540" y="1647"/>
                </a:lnTo>
                <a:lnTo>
                  <a:pt x="538" y="1647"/>
                </a:lnTo>
                <a:cubicBezTo>
                  <a:pt x="524" y="1648"/>
                  <a:pt x="514" y="1629"/>
                  <a:pt x="515" y="1624"/>
                </a:cubicBezTo>
                <a:lnTo>
                  <a:pt x="515" y="1623"/>
                </a:lnTo>
                <a:lnTo>
                  <a:pt x="515" y="1622"/>
                </a:lnTo>
                <a:close/>
                <a:moveTo>
                  <a:pt x="0" y="1848"/>
                </a:moveTo>
                <a:lnTo>
                  <a:pt x="0" y="1846"/>
                </a:lnTo>
                <a:lnTo>
                  <a:pt x="0" y="1845"/>
                </a:lnTo>
                <a:cubicBezTo>
                  <a:pt x="0" y="1830"/>
                  <a:pt x="19" y="1820"/>
                  <a:pt x="24" y="1821"/>
                </a:cubicBezTo>
                <a:lnTo>
                  <a:pt x="25" y="1821"/>
                </a:lnTo>
                <a:lnTo>
                  <a:pt x="29" y="1821"/>
                </a:lnTo>
                <a:cubicBezTo>
                  <a:pt x="42" y="1821"/>
                  <a:pt x="52" y="1840"/>
                  <a:pt x="51" y="1845"/>
                </a:cubicBezTo>
                <a:lnTo>
                  <a:pt x="51" y="1846"/>
                </a:lnTo>
                <a:lnTo>
                  <a:pt x="51" y="1850"/>
                </a:lnTo>
                <a:lnTo>
                  <a:pt x="51" y="1852"/>
                </a:lnTo>
                <a:cubicBezTo>
                  <a:pt x="52" y="1864"/>
                  <a:pt x="33" y="1874"/>
                  <a:pt x="28" y="1873"/>
                </a:cubicBezTo>
                <a:lnTo>
                  <a:pt x="27" y="1873"/>
                </a:lnTo>
                <a:lnTo>
                  <a:pt x="24" y="1873"/>
                </a:lnTo>
                <a:lnTo>
                  <a:pt x="22" y="1873"/>
                </a:lnTo>
                <a:cubicBezTo>
                  <a:pt x="8" y="1873"/>
                  <a:pt x="-1" y="1854"/>
                  <a:pt x="0" y="1850"/>
                </a:cubicBezTo>
                <a:lnTo>
                  <a:pt x="0" y="1849"/>
                </a:lnTo>
                <a:lnTo>
                  <a:pt x="0" y="1848"/>
                </a:lnTo>
                <a:close/>
                <a:moveTo>
                  <a:pt x="257" y="1849"/>
                </a:moveTo>
                <a:lnTo>
                  <a:pt x="257" y="1848"/>
                </a:lnTo>
                <a:cubicBezTo>
                  <a:pt x="257" y="1832"/>
                  <a:pt x="276" y="1822"/>
                  <a:pt x="281" y="1822"/>
                </a:cubicBezTo>
                <a:lnTo>
                  <a:pt x="282" y="1823"/>
                </a:lnTo>
                <a:lnTo>
                  <a:pt x="286" y="1823"/>
                </a:lnTo>
                <a:cubicBezTo>
                  <a:pt x="300" y="1822"/>
                  <a:pt x="310" y="1841"/>
                  <a:pt x="309" y="1847"/>
                </a:cubicBezTo>
                <a:lnTo>
                  <a:pt x="309" y="1848"/>
                </a:lnTo>
                <a:lnTo>
                  <a:pt x="309" y="1851"/>
                </a:lnTo>
                <a:lnTo>
                  <a:pt x="309" y="1853"/>
                </a:lnTo>
                <a:cubicBezTo>
                  <a:pt x="309" y="1866"/>
                  <a:pt x="290" y="1875"/>
                  <a:pt x="286" y="1874"/>
                </a:cubicBezTo>
                <a:lnTo>
                  <a:pt x="285" y="1874"/>
                </a:lnTo>
                <a:lnTo>
                  <a:pt x="281" y="1874"/>
                </a:lnTo>
                <a:lnTo>
                  <a:pt x="279" y="1874"/>
                </a:lnTo>
                <a:cubicBezTo>
                  <a:pt x="266" y="1874"/>
                  <a:pt x="256" y="1855"/>
                  <a:pt x="257" y="1851"/>
                </a:cubicBezTo>
                <a:lnTo>
                  <a:pt x="257" y="1850"/>
                </a:lnTo>
                <a:lnTo>
                  <a:pt x="257" y="1849"/>
                </a:lnTo>
                <a:close/>
                <a:moveTo>
                  <a:pt x="515" y="1850"/>
                </a:moveTo>
                <a:lnTo>
                  <a:pt x="515" y="1849"/>
                </a:lnTo>
                <a:cubicBezTo>
                  <a:pt x="514" y="1833"/>
                  <a:pt x="533" y="1823"/>
                  <a:pt x="539" y="1824"/>
                </a:cubicBezTo>
                <a:lnTo>
                  <a:pt x="540" y="1824"/>
                </a:lnTo>
                <a:lnTo>
                  <a:pt x="543" y="1824"/>
                </a:lnTo>
                <a:cubicBezTo>
                  <a:pt x="557" y="1823"/>
                  <a:pt x="567" y="1842"/>
                  <a:pt x="566" y="1848"/>
                </a:cubicBezTo>
                <a:lnTo>
                  <a:pt x="566" y="1849"/>
                </a:lnTo>
                <a:lnTo>
                  <a:pt x="566" y="1852"/>
                </a:lnTo>
                <a:lnTo>
                  <a:pt x="566" y="1854"/>
                </a:lnTo>
                <a:cubicBezTo>
                  <a:pt x="566" y="1867"/>
                  <a:pt x="547" y="1876"/>
                  <a:pt x="543" y="1875"/>
                </a:cubicBezTo>
                <a:lnTo>
                  <a:pt x="542" y="1875"/>
                </a:lnTo>
                <a:lnTo>
                  <a:pt x="540" y="1875"/>
                </a:lnTo>
                <a:lnTo>
                  <a:pt x="538" y="1875"/>
                </a:lnTo>
                <a:cubicBezTo>
                  <a:pt x="524" y="1875"/>
                  <a:pt x="514" y="1857"/>
                  <a:pt x="515" y="1852"/>
                </a:cubicBezTo>
                <a:lnTo>
                  <a:pt x="515" y="1851"/>
                </a:lnTo>
                <a:lnTo>
                  <a:pt x="515" y="1850"/>
                </a:lnTo>
                <a:close/>
              </a:path>
            </a:pathLst>
          </a:cu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7" name="组合 6"/>
          <p:cNvGrpSpPr/>
          <p:nvPr/>
        </p:nvGrpSpPr>
        <p:grpSpPr>
          <a:xfrm>
            <a:off x="3524885" y="2585085"/>
            <a:ext cx="7227570" cy="1139825"/>
            <a:chOff x="2071" y="3857"/>
            <a:chExt cx="11382" cy="1795"/>
          </a:xfrm>
        </p:grpSpPr>
        <p:sp>
          <p:nvSpPr>
            <p:cNvPr id="12" name="圆角矩形 11"/>
            <p:cNvSpPr/>
            <p:nvPr/>
          </p:nvSpPr>
          <p:spPr>
            <a:xfrm>
              <a:off x="2071" y="3964"/>
              <a:ext cx="1537" cy="1537"/>
            </a:xfrm>
            <a:prstGeom prst="roundRect">
              <a:avLst>
                <a:gd name="adj" fmla="val 50000"/>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AEEF"/>
                </a:solidFill>
                <a:cs typeface="+mn-ea"/>
                <a:sym typeface="+mn-lt"/>
              </a:endParaRPr>
            </a:p>
          </p:txBody>
        </p:sp>
        <p:sp>
          <p:nvSpPr>
            <p:cNvPr id="38" name="文本框 37"/>
            <p:cNvSpPr txBox="1"/>
            <p:nvPr/>
          </p:nvSpPr>
          <p:spPr>
            <a:xfrm>
              <a:off x="3811" y="3857"/>
              <a:ext cx="8870" cy="1296"/>
            </a:xfrm>
            <a:prstGeom prst="rect">
              <a:avLst/>
            </a:prstGeom>
            <a:noFill/>
          </p:spPr>
          <p:txBody>
            <a:bodyPr wrap="square" rtlCol="0">
              <a:spAutoFit/>
            </a:bodyPr>
            <a:lstStyle/>
            <a:p>
              <a:pPr algn="l"/>
              <a:r>
                <a:rPr lang="zh-CN" altLang="en-US" sz="4800" b="1" dirty="0">
                  <a:solidFill>
                    <a:srgbClr val="56657C"/>
                  </a:solidFill>
                  <a:effectLst/>
                  <a:cs typeface="+mn-ea"/>
                  <a:sym typeface="+mn-lt"/>
                </a:rPr>
                <a:t>实验</a:t>
              </a:r>
              <a:r>
                <a:rPr lang="en-US" altLang="zh-CN" sz="4800" b="1" dirty="0">
                  <a:solidFill>
                    <a:srgbClr val="56657C"/>
                  </a:solidFill>
                  <a:effectLst/>
                  <a:cs typeface="+mn-ea"/>
                  <a:sym typeface="+mn-lt"/>
                </a:rPr>
                <a:t>结论</a:t>
              </a:r>
              <a:r>
                <a:rPr lang="zh-CN" altLang="en-US" sz="4800" b="1" dirty="0">
                  <a:solidFill>
                    <a:srgbClr val="56657C"/>
                  </a:solidFill>
                  <a:effectLst/>
                  <a:cs typeface="+mn-ea"/>
                  <a:sym typeface="+mn-lt"/>
                </a:rPr>
                <a:t>及</a:t>
              </a:r>
              <a:r>
                <a:rPr lang="en-US" altLang="zh-CN" sz="4800" b="1" dirty="0">
                  <a:solidFill>
                    <a:srgbClr val="56657C"/>
                  </a:solidFill>
                  <a:effectLst/>
                  <a:cs typeface="+mn-ea"/>
                  <a:sym typeface="+mn-lt"/>
                </a:rPr>
                <a:t>拓展</a:t>
              </a:r>
              <a:endParaRPr lang="en-US" altLang="zh-CN" sz="4800" b="1" dirty="0">
                <a:solidFill>
                  <a:srgbClr val="56657C"/>
                </a:solidFill>
                <a:effectLst/>
                <a:cs typeface="+mn-ea"/>
                <a:sym typeface="+mn-lt"/>
              </a:endParaRPr>
            </a:p>
          </p:txBody>
        </p:sp>
        <p:sp>
          <p:nvSpPr>
            <p:cNvPr id="39" name="文本框 38"/>
            <p:cNvSpPr txBox="1"/>
            <p:nvPr/>
          </p:nvSpPr>
          <p:spPr>
            <a:xfrm>
              <a:off x="3811" y="5024"/>
              <a:ext cx="9642" cy="628"/>
            </a:xfrm>
            <a:prstGeom prst="rect">
              <a:avLst/>
            </a:prstGeom>
            <a:noFill/>
          </p:spPr>
          <p:txBody>
            <a:bodyPr wrap="square" rtlCol="0">
              <a:spAutoFit/>
            </a:bodyPr>
            <a:lstStyle/>
            <a:p>
              <a:pPr algn="l"/>
              <a:endParaRPr lang="zh-CN" altLang="en-US" sz="2000">
                <a:solidFill>
                  <a:schemeClr val="bg1">
                    <a:lumMod val="50000"/>
                  </a:schemeClr>
                </a:solidFill>
                <a:effectLst/>
                <a:cs typeface="+mn-ea"/>
                <a:sym typeface="+mn-lt"/>
              </a:endParaRPr>
            </a:p>
          </p:txBody>
        </p:sp>
        <p:sp>
          <p:nvSpPr>
            <p:cNvPr id="40" name="文本框 39"/>
            <p:cNvSpPr txBox="1"/>
            <p:nvPr/>
          </p:nvSpPr>
          <p:spPr>
            <a:xfrm>
              <a:off x="2118" y="4055"/>
              <a:ext cx="1400" cy="1344"/>
            </a:xfrm>
            <a:prstGeom prst="rect">
              <a:avLst/>
            </a:prstGeom>
            <a:noFill/>
          </p:spPr>
          <p:txBody>
            <a:bodyPr wrap="none" rtlCol="0">
              <a:spAutoFit/>
            </a:bodyPr>
            <a:lstStyle/>
            <a:p>
              <a:r>
                <a:rPr lang="en-US" altLang="zh-CN" sz="5000">
                  <a:solidFill>
                    <a:schemeClr val="bg1"/>
                  </a:solidFill>
                  <a:cs typeface="+mn-ea"/>
                  <a:sym typeface="+mn-lt"/>
                </a:rPr>
                <a:t>08</a:t>
              </a:r>
              <a:endParaRPr lang="zh-CN" altLang="en-US" sz="5000">
                <a:solidFill>
                  <a:schemeClr val="bg1"/>
                </a:solidFill>
                <a:cs typeface="+mn-ea"/>
                <a:sym typeface="+mn-lt"/>
              </a:endParaRPr>
            </a:p>
          </p:txBody>
        </p:sp>
      </p:gr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4123690" cy="586740"/>
            <a:chOff x="2759" y="1960"/>
            <a:chExt cx="504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3928" cy="768"/>
            </a:xfrm>
            <a:prstGeom prst="rect">
              <a:avLst/>
            </a:prstGeom>
            <a:noFill/>
          </p:spPr>
          <p:txBody>
            <a:bodyPr wrap="square" rtlCol="0">
              <a:spAutoFit/>
            </a:bodyPr>
            <a:lstStyle/>
            <a:p>
              <a:r>
                <a:rPr lang="en-US" altLang="zh-CN" sz="2600" b="1" dirty="0">
                  <a:solidFill>
                    <a:schemeClr val="bg1"/>
                  </a:solidFill>
                  <a:cs typeface="+mn-ea"/>
                  <a:sym typeface="+mn-lt"/>
                </a:rPr>
                <a:t>   </a:t>
              </a:r>
              <a:r>
                <a:rPr lang="zh-CN" altLang="en-US" sz="2600" b="1" dirty="0">
                  <a:solidFill>
                    <a:schemeClr val="bg1"/>
                  </a:solidFill>
                  <a:cs typeface="+mn-ea"/>
                  <a:sym typeface="+mn-lt"/>
                </a:rPr>
                <a:t>实验结论</a:t>
              </a:r>
              <a:endParaRPr lang="en-US" altLang="zh-CN" sz="2600" b="1" dirty="0">
                <a:solidFill>
                  <a:schemeClr val="bg1"/>
                </a:solidFill>
                <a:cs typeface="+mn-ea"/>
                <a:sym typeface="+mn-lt"/>
              </a:endParaRPr>
            </a:p>
          </p:txBody>
        </p:sp>
      </p:grpSp>
      <p:sp>
        <p:nvSpPr>
          <p:cNvPr id="2" name="文本框 1"/>
          <p:cNvSpPr txBox="1"/>
          <p:nvPr/>
        </p:nvSpPr>
        <p:spPr>
          <a:xfrm>
            <a:off x="311150" y="1378585"/>
            <a:ext cx="11297285" cy="4803140"/>
          </a:xfrm>
          <a:prstGeom prst="rect">
            <a:avLst/>
          </a:prstGeom>
          <a:noFill/>
        </p:spPr>
        <p:txBody>
          <a:bodyPr wrap="square" rtlCol="0">
            <a:noAutofit/>
          </a:bodyPr>
          <a:p>
            <a:r>
              <a:rPr lang="en-US" altLang="zh-CN" sz="3200">
                <a:latin typeface="宋体" charset="-122"/>
                <a:ea typeface="宋体" charset="-122"/>
                <a:cs typeface="宋体" charset="-122"/>
              </a:rPr>
              <a:t>通过利用密立根油滴实验装置，对油滴在空气中的布朗运动规律进行研究。</a:t>
            </a:r>
            <a:endParaRPr lang="en-US" altLang="zh-CN" sz="3200">
              <a:latin typeface="宋体" charset="-122"/>
              <a:ea typeface="宋体" charset="-122"/>
              <a:cs typeface="宋体" charset="-122"/>
            </a:endParaRPr>
          </a:p>
          <a:p>
            <a:r>
              <a:rPr lang="en-US" altLang="zh-CN" sz="3200">
                <a:latin typeface="宋体" charset="-122"/>
                <a:ea typeface="宋体" charset="-122"/>
                <a:cs typeface="宋体" charset="-122"/>
              </a:rPr>
              <a:t>  实验验证了布朗运动的基本特征，在误差范围内</a:t>
            </a:r>
            <a:endParaRPr lang="en-US" altLang="zh-CN" sz="3200">
              <a:latin typeface="宋体" charset="-122"/>
              <a:ea typeface="宋体" charset="-122"/>
              <a:cs typeface="宋体" charset="-122"/>
            </a:endParaRPr>
          </a:p>
          <a:p>
            <a:endParaRPr lang="en-US" altLang="zh-CN" sz="3200">
              <a:latin typeface="宋体" charset="-122"/>
              <a:ea typeface="宋体" charset="-122"/>
              <a:cs typeface="宋体" charset="-122"/>
            </a:endParaRPr>
          </a:p>
          <a:p>
            <a:endParaRPr lang="en-US" altLang="zh-CN" sz="3200">
              <a:latin typeface="宋体" charset="-122"/>
              <a:ea typeface="宋体" charset="-122"/>
              <a:cs typeface="宋体" charset="-122"/>
            </a:endParaRPr>
          </a:p>
          <a:p>
            <a:endParaRPr lang="en-US" altLang="zh-CN" sz="3200">
              <a:latin typeface="宋体" charset="-122"/>
              <a:ea typeface="宋体" charset="-122"/>
              <a:cs typeface="宋体" charset="-122"/>
            </a:endParaRPr>
          </a:p>
          <a:p>
            <a:r>
              <a:rPr lang="en-US" altLang="zh-CN" sz="3200">
                <a:latin typeface="宋体" charset="-122"/>
                <a:ea typeface="宋体" charset="-122"/>
                <a:cs typeface="宋体" charset="-122"/>
              </a:rPr>
              <a:t>测量数据均满足上式</a:t>
            </a:r>
            <a:endParaRPr lang="en-US" altLang="zh-CN" sz="3200">
              <a:latin typeface="宋体" charset="-122"/>
              <a:ea typeface="宋体" charset="-122"/>
              <a:cs typeface="宋体" charset="-122"/>
            </a:endParaRPr>
          </a:p>
          <a:p>
            <a:r>
              <a:rPr lang="en-US" altLang="zh-CN" sz="3200">
                <a:latin typeface="宋体" charset="-122"/>
                <a:ea typeface="宋体" charset="-122"/>
                <a:cs typeface="宋体" charset="-122"/>
              </a:rPr>
              <a:t>实验测得的扩散系数D= ,与理论值较为接近，证明了实验方法的有效性</a:t>
            </a:r>
            <a:endParaRPr lang="en-US" altLang="zh-CN" sz="3200">
              <a:latin typeface="宋体" charset="-122"/>
              <a:ea typeface="宋体" charset="-122"/>
              <a:cs typeface="宋体" charset="-122"/>
            </a:endParaRPr>
          </a:p>
        </p:txBody>
      </p:sp>
      <p:pic>
        <p:nvPicPr>
          <p:cNvPr id="6" name="图片 5" descr="2024-05-28 00:38:53.007000"/>
          <p:cNvPicPr>
            <a:picLocks noChangeAspect="1"/>
          </p:cNvPicPr>
          <p:nvPr/>
        </p:nvPicPr>
        <p:blipFill>
          <a:blip r:embed="rId1"/>
          <a:stretch>
            <a:fillRect/>
          </a:stretch>
        </p:blipFill>
        <p:spPr>
          <a:xfrm>
            <a:off x="662305" y="2840990"/>
            <a:ext cx="9964420" cy="1497330"/>
          </a:xfrm>
          <a:prstGeom prst="rect">
            <a:avLst/>
          </a:prstGeom>
        </p:spPr>
      </p:pic>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05943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1904" cy="768"/>
            </a:xfrm>
            <a:prstGeom prst="rect">
              <a:avLst/>
            </a:prstGeom>
            <a:noFill/>
          </p:spPr>
          <p:txBody>
            <a:bodyPr wrap="none" rtlCol="0">
              <a:spAutoFit/>
            </a:bodyPr>
            <a:lstStyle/>
            <a:p>
              <a:r>
                <a:rPr lang="en-US" altLang="zh-CN" sz="2600" b="1" dirty="0">
                  <a:solidFill>
                    <a:schemeClr val="bg1"/>
                  </a:solidFill>
                  <a:cs typeface="+mn-ea"/>
                  <a:sym typeface="+mn-lt"/>
                </a:rPr>
                <a:t>    </a:t>
              </a:r>
              <a:r>
                <a:rPr lang="zh-CN" altLang="en-US" sz="2600" b="1" dirty="0">
                  <a:solidFill>
                    <a:schemeClr val="bg1"/>
                  </a:solidFill>
                  <a:cs typeface="+mn-ea"/>
                  <a:sym typeface="+mn-lt"/>
                </a:rPr>
                <a:t>拓展</a:t>
              </a:r>
              <a:endParaRPr lang="zh-CN" altLang="en-US" sz="2600" b="1" dirty="0">
                <a:solidFill>
                  <a:schemeClr val="bg1"/>
                </a:solidFill>
                <a:cs typeface="+mn-ea"/>
                <a:sym typeface="+mn-lt"/>
              </a:endParaRPr>
            </a:p>
          </p:txBody>
        </p:sp>
      </p:grpSp>
      <p:sp>
        <p:nvSpPr>
          <p:cNvPr id="2" name="文本框 1"/>
          <p:cNvSpPr txBox="1"/>
          <p:nvPr/>
        </p:nvSpPr>
        <p:spPr>
          <a:xfrm>
            <a:off x="311150" y="1378585"/>
            <a:ext cx="11297285" cy="4803140"/>
          </a:xfrm>
          <a:prstGeom prst="rect">
            <a:avLst/>
          </a:prstGeom>
          <a:noFill/>
        </p:spPr>
        <p:txBody>
          <a:bodyPr wrap="square" rtlCol="0">
            <a:noAutofit/>
          </a:bodyPr>
          <a:p>
            <a:r>
              <a:rPr lang="en-US" altLang="zh-CN" sz="2400">
                <a:latin typeface="宋体" charset="-122"/>
                <a:ea typeface="宋体" charset="-122"/>
                <a:cs typeface="宋体" charset="-122"/>
              </a:rPr>
              <a:t>4. 探究位移平方均值与时间，测量得到的函数截距小于0的原因 在之前的实验之中，存在部分油滴，位移平方均值与时间关系的线性拟合，截距</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 较大，且常常小于零。对这个实验问题做出理论分析，以进行实验改进。</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i. 外部力场的影响 实验环境中存在平衡电场，由于电压调节精度较低，不能完全和重力平衡， 会对带电的油滴产生作用力。这使得油滴的运动不完全符合布朗运动规律。</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ii. 流体流动 实验中可能存在微小但持续的流体流动(例如由于温度梯度引起的对流)， 这种宏观流动会对油滴施加持续的力，使其沿着流动方向移动。即使没有 明显的宏观流动，局部的微小流动(如湍流、漩涡等)也可能影响油滴的运 动。</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iii. 实验设计问题 实验装置可能存在微小的倾斜，使得油滴在重力作用下沿着倾斜方向移动。 如果油滴靠近容器壁，壁面效应可能引起油滴沿容器壁移动的现象。</a:t>
            </a:r>
            <a:endParaRPr lang="en-US" altLang="zh-CN" sz="2400">
              <a:latin typeface="宋体" charset="-122"/>
              <a:ea typeface="宋体" charset="-122"/>
              <a:cs typeface="宋体" charset="-122"/>
            </a:endParaRPr>
          </a:p>
          <a:p>
            <a:r>
              <a:rPr lang="en-US" altLang="zh-CN" sz="2400">
                <a:latin typeface="宋体" charset="-122"/>
                <a:ea typeface="宋体" charset="-122"/>
                <a:cs typeface="宋体" charset="-122"/>
              </a:rPr>
              <a:t>iv. 油滴特性油滴表面的不均匀性或表面活性剂的作用可能导致其在流体中受到 不对称的力。</a:t>
            </a:r>
            <a:endParaRPr lang="en-US" altLang="zh-CN" sz="2400">
              <a:latin typeface="宋体" charset="-122"/>
              <a:ea typeface="宋体" charset="-122"/>
              <a:cs typeface="宋体" charset="-122"/>
            </a:endParaRPr>
          </a:p>
          <a:p>
            <a:endParaRPr lang="en-US" altLang="zh-CN" sz="2400">
              <a:latin typeface="宋体" charset="-122"/>
              <a:ea typeface="宋体" charset="-122"/>
              <a:cs typeface="宋体" charset="-122"/>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5265" y="1296670"/>
            <a:ext cx="11758930" cy="4986020"/>
          </a:xfrm>
          <a:prstGeom prst="rect">
            <a:avLst/>
          </a:prstGeom>
          <a:solidFill>
            <a:schemeClr val="bg1"/>
          </a:solidFill>
          <a:ln>
            <a:noFill/>
          </a:ln>
          <a:effectLst>
            <a:outerShdw blurRad="63500" sx="102000" sy="102000" algn="c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3" name="组合 22"/>
          <p:cNvGrpSpPr/>
          <p:nvPr/>
        </p:nvGrpSpPr>
        <p:grpSpPr>
          <a:xfrm>
            <a:off x="4285615" y="571500"/>
            <a:ext cx="3496310" cy="586740"/>
            <a:chOff x="2759" y="1960"/>
            <a:chExt cx="4818" cy="924"/>
          </a:xfrm>
        </p:grpSpPr>
        <p:sp>
          <p:nvSpPr>
            <p:cNvPr id="5" name="矩形 4"/>
            <p:cNvSpPr/>
            <p:nvPr/>
          </p:nvSpPr>
          <p:spPr>
            <a:xfrm>
              <a:off x="2759" y="1960"/>
              <a:ext cx="4818" cy="924"/>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文本框 17"/>
            <p:cNvSpPr txBox="1"/>
            <p:nvPr/>
          </p:nvSpPr>
          <p:spPr>
            <a:xfrm>
              <a:off x="3879" y="2035"/>
              <a:ext cx="2944" cy="768"/>
            </a:xfrm>
            <a:prstGeom prst="rect">
              <a:avLst/>
            </a:prstGeom>
            <a:noFill/>
          </p:spPr>
          <p:txBody>
            <a:bodyPr wrap="square" rtlCol="0">
              <a:spAutoFit/>
            </a:bodyPr>
            <a:lstStyle/>
            <a:p>
              <a:r>
                <a:rPr lang="en-US" altLang="zh-CN" sz="2600" b="1" dirty="0">
                  <a:solidFill>
                    <a:schemeClr val="bg1"/>
                  </a:solidFill>
                  <a:cs typeface="+mn-ea"/>
                  <a:sym typeface="+mn-lt"/>
                </a:rPr>
                <a:t>    参考文献</a:t>
              </a:r>
              <a:endParaRPr lang="zh-CN" altLang="en-US" sz="2600" b="1" dirty="0">
                <a:solidFill>
                  <a:schemeClr val="bg1"/>
                </a:solidFill>
                <a:cs typeface="+mn-ea"/>
                <a:sym typeface="+mn-lt"/>
              </a:endParaRPr>
            </a:p>
          </p:txBody>
        </p:sp>
      </p:grpSp>
      <p:sp>
        <p:nvSpPr>
          <p:cNvPr id="2" name="文本框 1"/>
          <p:cNvSpPr txBox="1"/>
          <p:nvPr/>
        </p:nvSpPr>
        <p:spPr>
          <a:xfrm>
            <a:off x="311150" y="1378585"/>
            <a:ext cx="11297285" cy="4803140"/>
          </a:xfrm>
          <a:prstGeom prst="rect">
            <a:avLst/>
          </a:prstGeom>
          <a:noFill/>
        </p:spPr>
        <p:txBody>
          <a:bodyPr wrap="square" rtlCol="0">
            <a:noAutofit/>
          </a:bodyPr>
          <a:p>
            <a:r>
              <a:rPr lang="en-US" altLang="zh-CN" sz="2800">
                <a:latin typeface="宋体" charset="-122"/>
                <a:ea typeface="宋体" charset="-122"/>
                <a:cs typeface="宋体" charset="-122"/>
              </a:rPr>
              <a:t>1. Halliday et al, Principles of Physics (9th Edition), Chapter 21, Pages 570-571.</a:t>
            </a:r>
            <a:endParaRPr lang="en-US" altLang="zh-CN" sz="2800">
              <a:latin typeface="宋体" charset="-122"/>
              <a:ea typeface="宋体" charset="-122"/>
              <a:cs typeface="宋体" charset="-122"/>
            </a:endParaRPr>
          </a:p>
          <a:p>
            <a:r>
              <a:rPr lang="en-US" altLang="zh-CN" sz="2800">
                <a:latin typeface="宋体" charset="-122"/>
                <a:ea typeface="宋体" charset="-122"/>
                <a:cs typeface="宋体" charset="-122"/>
              </a:rPr>
              <a:t>2. Halliday et al, Principles of Physics (9th Edition), Chapter 22, Page 592.</a:t>
            </a:r>
            <a:endParaRPr lang="en-US" altLang="zh-CN" sz="2800">
              <a:latin typeface="宋体" charset="-122"/>
              <a:ea typeface="宋体" charset="-122"/>
              <a:cs typeface="宋体" charset="-122"/>
            </a:endParaRPr>
          </a:p>
          <a:p>
            <a:r>
              <a:rPr lang="en-US" altLang="zh-CN" sz="2800">
                <a:latin typeface="宋体" charset="-122"/>
                <a:ea typeface="宋体" charset="-122"/>
                <a:cs typeface="宋体" charset="-122"/>
              </a:rPr>
              <a:t>3. 吴泳华，霍剑青，浦其荣, 大学物理实验(第一册第二版)，第8章，实验8.1.1.</a:t>
            </a:r>
            <a:endParaRPr lang="en-US" altLang="zh-CN" sz="2800">
              <a:latin typeface="宋体" charset="-122"/>
              <a:ea typeface="宋体" charset="-122"/>
              <a:cs typeface="宋体" charset="-122"/>
            </a:endParaRPr>
          </a:p>
          <a:p>
            <a:r>
              <a:rPr lang="en-US" altLang="zh-CN" sz="2800">
                <a:latin typeface="宋体" charset="-122"/>
                <a:ea typeface="宋体" charset="-122"/>
                <a:cs typeface="宋体" charset="-122"/>
              </a:rPr>
              <a:t>4. R. A. Millikan, 1911, “On the Elementary Electrical Charge and the Avogadro Constant.” Phys. Rev. 32, 349.</a:t>
            </a:r>
            <a:endParaRPr lang="en-US" altLang="zh-CN" sz="2800">
              <a:latin typeface="宋体" charset="-122"/>
              <a:ea typeface="宋体" charset="-122"/>
              <a:cs typeface="宋体" charset="-122"/>
            </a:endParaRPr>
          </a:p>
          <a:p>
            <a:r>
              <a:rPr lang="en-US" altLang="zh-CN" sz="2800">
                <a:latin typeface="宋体" charset="-122"/>
                <a:ea typeface="宋体" charset="-122"/>
                <a:cs typeface="宋体" charset="-122"/>
              </a:rPr>
              <a:t>5. 费恩曼物理学讲义(第1卷), Chapter 41, Pages 430-432.</a:t>
            </a:r>
            <a:endParaRPr lang="en-US" altLang="zh-CN" sz="2800">
              <a:latin typeface="宋体" charset="-122"/>
              <a:ea typeface="宋体" charset="-122"/>
              <a:cs typeface="宋体" charset="-122"/>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Users\Administrator\Desktop\新股专题PC.jpg新股专题PC"/>
          <p:cNvPicPr>
            <a:picLocks noChangeAspect="1"/>
          </p:cNvPicPr>
          <p:nvPr/>
        </p:nvPicPr>
        <p:blipFill>
          <a:blip r:embed="rId1"/>
          <a:srcRect/>
          <a:stretch>
            <a:fillRect/>
          </a:stretch>
        </p:blipFill>
        <p:spPr>
          <a:xfrm>
            <a:off x="2223" y="-635"/>
            <a:ext cx="12190095" cy="6859270"/>
          </a:xfrm>
          <a:prstGeom prst="rect">
            <a:avLst/>
          </a:prstGeom>
        </p:spPr>
      </p:pic>
      <p:sp>
        <p:nvSpPr>
          <p:cNvPr id="2" name="任意多边形 1"/>
          <p:cNvSpPr/>
          <p:nvPr/>
        </p:nvSpPr>
        <p:spPr>
          <a:xfrm>
            <a:off x="11539220" y="-1603375"/>
            <a:ext cx="904875" cy="3352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7" h="877">
                <a:moveTo>
                  <a:pt x="0" y="28"/>
                </a:moveTo>
                <a:cubicBezTo>
                  <a:pt x="0" y="13"/>
                  <a:pt x="13" y="0"/>
                  <a:pt x="28" y="0"/>
                </a:cubicBezTo>
                <a:cubicBezTo>
                  <a:pt x="44" y="0"/>
                  <a:pt x="57" y="13"/>
                  <a:pt x="57" y="28"/>
                </a:cubicBezTo>
                <a:cubicBezTo>
                  <a:pt x="57" y="44"/>
                  <a:pt x="44" y="57"/>
                  <a:pt x="28" y="57"/>
                </a:cubicBezTo>
                <a:cubicBezTo>
                  <a:pt x="13" y="57"/>
                  <a:pt x="0" y="44"/>
                  <a:pt x="0" y="28"/>
                </a:cubicBezTo>
                <a:close/>
                <a:moveTo>
                  <a:pt x="211" y="28"/>
                </a:moveTo>
                <a:cubicBezTo>
                  <a:pt x="211" y="13"/>
                  <a:pt x="223" y="0"/>
                  <a:pt x="239" y="0"/>
                </a:cubicBezTo>
                <a:cubicBezTo>
                  <a:pt x="254" y="0"/>
                  <a:pt x="267" y="13"/>
                  <a:pt x="267" y="28"/>
                </a:cubicBezTo>
                <a:cubicBezTo>
                  <a:pt x="267" y="44"/>
                  <a:pt x="254" y="57"/>
                  <a:pt x="239" y="57"/>
                </a:cubicBezTo>
                <a:cubicBezTo>
                  <a:pt x="223" y="57"/>
                  <a:pt x="211" y="44"/>
                  <a:pt x="211" y="28"/>
                </a:cubicBezTo>
                <a:close/>
                <a:moveTo>
                  <a:pt x="421" y="28"/>
                </a:moveTo>
                <a:cubicBezTo>
                  <a:pt x="421" y="13"/>
                  <a:pt x="433" y="0"/>
                  <a:pt x="449" y="0"/>
                </a:cubicBezTo>
                <a:cubicBezTo>
                  <a:pt x="464" y="0"/>
                  <a:pt x="477" y="13"/>
                  <a:pt x="477" y="28"/>
                </a:cubicBezTo>
                <a:cubicBezTo>
                  <a:pt x="477" y="44"/>
                  <a:pt x="464" y="57"/>
                  <a:pt x="449" y="57"/>
                </a:cubicBezTo>
                <a:cubicBezTo>
                  <a:pt x="433" y="57"/>
                  <a:pt x="421" y="44"/>
                  <a:pt x="421" y="28"/>
                </a:cubicBezTo>
                <a:close/>
                <a:moveTo>
                  <a:pt x="631" y="28"/>
                </a:moveTo>
                <a:cubicBezTo>
                  <a:pt x="631" y="13"/>
                  <a:pt x="643" y="0"/>
                  <a:pt x="659" y="0"/>
                </a:cubicBezTo>
                <a:cubicBezTo>
                  <a:pt x="674" y="0"/>
                  <a:pt x="687" y="13"/>
                  <a:pt x="687" y="28"/>
                </a:cubicBezTo>
                <a:cubicBezTo>
                  <a:pt x="687" y="44"/>
                  <a:pt x="674" y="57"/>
                  <a:pt x="659" y="57"/>
                </a:cubicBezTo>
                <a:cubicBezTo>
                  <a:pt x="643" y="57"/>
                  <a:pt x="631" y="44"/>
                  <a:pt x="631" y="28"/>
                </a:cubicBezTo>
                <a:close/>
                <a:moveTo>
                  <a:pt x="841" y="28"/>
                </a:moveTo>
                <a:cubicBezTo>
                  <a:pt x="841" y="13"/>
                  <a:pt x="853" y="0"/>
                  <a:pt x="869" y="0"/>
                </a:cubicBezTo>
                <a:cubicBezTo>
                  <a:pt x="884" y="0"/>
                  <a:pt x="897" y="13"/>
                  <a:pt x="897" y="28"/>
                </a:cubicBezTo>
                <a:cubicBezTo>
                  <a:pt x="897" y="44"/>
                  <a:pt x="884" y="57"/>
                  <a:pt x="869" y="57"/>
                </a:cubicBezTo>
                <a:cubicBezTo>
                  <a:pt x="853" y="57"/>
                  <a:pt x="841" y="44"/>
                  <a:pt x="841" y="28"/>
                </a:cubicBezTo>
                <a:close/>
                <a:moveTo>
                  <a:pt x="1051" y="28"/>
                </a:moveTo>
                <a:cubicBezTo>
                  <a:pt x="1051" y="13"/>
                  <a:pt x="1063" y="0"/>
                  <a:pt x="1079" y="0"/>
                </a:cubicBezTo>
                <a:cubicBezTo>
                  <a:pt x="1094" y="0"/>
                  <a:pt x="1107" y="13"/>
                  <a:pt x="1107" y="28"/>
                </a:cubicBezTo>
                <a:cubicBezTo>
                  <a:pt x="1107" y="44"/>
                  <a:pt x="1094" y="57"/>
                  <a:pt x="1079" y="57"/>
                </a:cubicBezTo>
                <a:cubicBezTo>
                  <a:pt x="1063" y="57"/>
                  <a:pt x="1051" y="44"/>
                  <a:pt x="1051" y="28"/>
                </a:cubicBezTo>
                <a:close/>
                <a:moveTo>
                  <a:pt x="1261" y="28"/>
                </a:moveTo>
                <a:cubicBezTo>
                  <a:pt x="1261" y="13"/>
                  <a:pt x="1273" y="0"/>
                  <a:pt x="1289" y="0"/>
                </a:cubicBezTo>
                <a:cubicBezTo>
                  <a:pt x="1304" y="0"/>
                  <a:pt x="1317" y="13"/>
                  <a:pt x="1317" y="28"/>
                </a:cubicBezTo>
                <a:cubicBezTo>
                  <a:pt x="1317" y="44"/>
                  <a:pt x="1304" y="57"/>
                  <a:pt x="1289" y="57"/>
                </a:cubicBezTo>
                <a:cubicBezTo>
                  <a:pt x="1273" y="57"/>
                  <a:pt x="1261" y="44"/>
                  <a:pt x="1261" y="28"/>
                </a:cubicBezTo>
                <a:close/>
                <a:moveTo>
                  <a:pt x="1471" y="28"/>
                </a:moveTo>
                <a:cubicBezTo>
                  <a:pt x="1471" y="13"/>
                  <a:pt x="1483" y="0"/>
                  <a:pt x="1499" y="0"/>
                </a:cubicBezTo>
                <a:cubicBezTo>
                  <a:pt x="1514" y="0"/>
                  <a:pt x="1527" y="13"/>
                  <a:pt x="1527" y="28"/>
                </a:cubicBezTo>
                <a:cubicBezTo>
                  <a:pt x="1527" y="44"/>
                  <a:pt x="1514" y="57"/>
                  <a:pt x="1499" y="57"/>
                </a:cubicBezTo>
                <a:cubicBezTo>
                  <a:pt x="1483" y="57"/>
                  <a:pt x="1471" y="44"/>
                  <a:pt x="1471" y="28"/>
                </a:cubicBezTo>
                <a:close/>
                <a:moveTo>
                  <a:pt x="1681" y="28"/>
                </a:moveTo>
                <a:cubicBezTo>
                  <a:pt x="1681" y="13"/>
                  <a:pt x="1693" y="0"/>
                  <a:pt x="1709" y="0"/>
                </a:cubicBezTo>
                <a:cubicBezTo>
                  <a:pt x="1724" y="0"/>
                  <a:pt x="1737" y="13"/>
                  <a:pt x="1737" y="28"/>
                </a:cubicBezTo>
                <a:cubicBezTo>
                  <a:pt x="1737" y="44"/>
                  <a:pt x="1724" y="57"/>
                  <a:pt x="1709" y="57"/>
                </a:cubicBezTo>
                <a:cubicBezTo>
                  <a:pt x="1693" y="57"/>
                  <a:pt x="1681" y="44"/>
                  <a:pt x="1681" y="28"/>
                </a:cubicBezTo>
                <a:close/>
                <a:moveTo>
                  <a:pt x="1891" y="28"/>
                </a:moveTo>
                <a:cubicBezTo>
                  <a:pt x="1891" y="13"/>
                  <a:pt x="1903" y="0"/>
                  <a:pt x="1919" y="0"/>
                </a:cubicBezTo>
                <a:cubicBezTo>
                  <a:pt x="1934" y="0"/>
                  <a:pt x="1947" y="13"/>
                  <a:pt x="1947" y="28"/>
                </a:cubicBezTo>
                <a:cubicBezTo>
                  <a:pt x="1947" y="44"/>
                  <a:pt x="1934" y="57"/>
                  <a:pt x="1919" y="57"/>
                </a:cubicBezTo>
                <a:cubicBezTo>
                  <a:pt x="1903" y="57"/>
                  <a:pt x="1891" y="44"/>
                  <a:pt x="1891" y="28"/>
                </a:cubicBezTo>
                <a:close/>
                <a:moveTo>
                  <a:pt x="2101" y="28"/>
                </a:moveTo>
                <a:cubicBezTo>
                  <a:pt x="2101" y="13"/>
                  <a:pt x="2113" y="0"/>
                  <a:pt x="2129" y="0"/>
                </a:cubicBezTo>
                <a:cubicBezTo>
                  <a:pt x="2144" y="0"/>
                  <a:pt x="2157" y="13"/>
                  <a:pt x="2157" y="28"/>
                </a:cubicBezTo>
                <a:cubicBezTo>
                  <a:pt x="2157" y="44"/>
                  <a:pt x="2144" y="57"/>
                  <a:pt x="2129" y="57"/>
                </a:cubicBezTo>
                <a:cubicBezTo>
                  <a:pt x="2113" y="57"/>
                  <a:pt x="2101" y="44"/>
                  <a:pt x="2101" y="28"/>
                </a:cubicBezTo>
                <a:close/>
                <a:moveTo>
                  <a:pt x="2311" y="28"/>
                </a:moveTo>
                <a:cubicBezTo>
                  <a:pt x="2311" y="13"/>
                  <a:pt x="2323" y="0"/>
                  <a:pt x="2339" y="0"/>
                </a:cubicBezTo>
                <a:cubicBezTo>
                  <a:pt x="2354" y="0"/>
                  <a:pt x="2367" y="13"/>
                  <a:pt x="2367" y="28"/>
                </a:cubicBezTo>
                <a:cubicBezTo>
                  <a:pt x="2367" y="44"/>
                  <a:pt x="2354" y="57"/>
                  <a:pt x="2339" y="57"/>
                </a:cubicBezTo>
                <a:cubicBezTo>
                  <a:pt x="2323" y="57"/>
                  <a:pt x="2311" y="44"/>
                  <a:pt x="2311" y="28"/>
                </a:cubicBezTo>
                <a:close/>
                <a:moveTo>
                  <a:pt x="0" y="233"/>
                </a:moveTo>
                <a:cubicBezTo>
                  <a:pt x="0" y="218"/>
                  <a:pt x="13" y="206"/>
                  <a:pt x="28" y="206"/>
                </a:cubicBezTo>
                <a:cubicBezTo>
                  <a:pt x="44" y="206"/>
                  <a:pt x="57" y="218"/>
                  <a:pt x="57" y="233"/>
                </a:cubicBezTo>
                <a:cubicBezTo>
                  <a:pt x="57" y="249"/>
                  <a:pt x="44" y="262"/>
                  <a:pt x="28" y="262"/>
                </a:cubicBezTo>
                <a:cubicBezTo>
                  <a:pt x="13" y="262"/>
                  <a:pt x="0" y="249"/>
                  <a:pt x="0" y="233"/>
                </a:cubicBezTo>
                <a:close/>
                <a:moveTo>
                  <a:pt x="211" y="233"/>
                </a:moveTo>
                <a:cubicBezTo>
                  <a:pt x="211" y="218"/>
                  <a:pt x="223" y="206"/>
                  <a:pt x="239" y="206"/>
                </a:cubicBezTo>
                <a:cubicBezTo>
                  <a:pt x="254" y="206"/>
                  <a:pt x="267" y="218"/>
                  <a:pt x="267" y="233"/>
                </a:cubicBezTo>
                <a:cubicBezTo>
                  <a:pt x="267" y="249"/>
                  <a:pt x="254" y="262"/>
                  <a:pt x="239" y="262"/>
                </a:cubicBezTo>
                <a:cubicBezTo>
                  <a:pt x="223" y="262"/>
                  <a:pt x="211" y="249"/>
                  <a:pt x="211" y="233"/>
                </a:cubicBezTo>
                <a:close/>
                <a:moveTo>
                  <a:pt x="421" y="233"/>
                </a:moveTo>
                <a:cubicBezTo>
                  <a:pt x="421" y="218"/>
                  <a:pt x="433" y="206"/>
                  <a:pt x="449" y="206"/>
                </a:cubicBezTo>
                <a:cubicBezTo>
                  <a:pt x="464" y="206"/>
                  <a:pt x="477" y="218"/>
                  <a:pt x="477" y="233"/>
                </a:cubicBezTo>
                <a:cubicBezTo>
                  <a:pt x="477" y="249"/>
                  <a:pt x="464" y="262"/>
                  <a:pt x="449" y="262"/>
                </a:cubicBezTo>
                <a:cubicBezTo>
                  <a:pt x="433" y="262"/>
                  <a:pt x="421" y="249"/>
                  <a:pt x="421" y="233"/>
                </a:cubicBezTo>
                <a:close/>
                <a:moveTo>
                  <a:pt x="631" y="233"/>
                </a:moveTo>
                <a:cubicBezTo>
                  <a:pt x="631" y="218"/>
                  <a:pt x="643" y="206"/>
                  <a:pt x="659" y="206"/>
                </a:cubicBezTo>
                <a:cubicBezTo>
                  <a:pt x="674" y="206"/>
                  <a:pt x="687" y="218"/>
                  <a:pt x="687" y="233"/>
                </a:cubicBezTo>
                <a:cubicBezTo>
                  <a:pt x="687" y="249"/>
                  <a:pt x="674" y="262"/>
                  <a:pt x="659" y="262"/>
                </a:cubicBezTo>
                <a:cubicBezTo>
                  <a:pt x="643" y="262"/>
                  <a:pt x="631" y="249"/>
                  <a:pt x="631" y="233"/>
                </a:cubicBezTo>
                <a:close/>
                <a:moveTo>
                  <a:pt x="841" y="233"/>
                </a:moveTo>
                <a:cubicBezTo>
                  <a:pt x="841" y="218"/>
                  <a:pt x="853" y="206"/>
                  <a:pt x="869" y="206"/>
                </a:cubicBezTo>
                <a:cubicBezTo>
                  <a:pt x="884" y="206"/>
                  <a:pt x="897" y="218"/>
                  <a:pt x="897" y="233"/>
                </a:cubicBezTo>
                <a:cubicBezTo>
                  <a:pt x="897" y="249"/>
                  <a:pt x="884" y="262"/>
                  <a:pt x="869" y="262"/>
                </a:cubicBezTo>
                <a:cubicBezTo>
                  <a:pt x="853" y="262"/>
                  <a:pt x="841" y="249"/>
                  <a:pt x="841" y="233"/>
                </a:cubicBezTo>
                <a:close/>
                <a:moveTo>
                  <a:pt x="1051" y="233"/>
                </a:moveTo>
                <a:cubicBezTo>
                  <a:pt x="1051" y="218"/>
                  <a:pt x="1063" y="206"/>
                  <a:pt x="1079" y="206"/>
                </a:cubicBezTo>
                <a:cubicBezTo>
                  <a:pt x="1094" y="206"/>
                  <a:pt x="1107" y="218"/>
                  <a:pt x="1107" y="233"/>
                </a:cubicBezTo>
                <a:cubicBezTo>
                  <a:pt x="1107" y="249"/>
                  <a:pt x="1094" y="262"/>
                  <a:pt x="1079" y="262"/>
                </a:cubicBezTo>
                <a:cubicBezTo>
                  <a:pt x="1063" y="262"/>
                  <a:pt x="1051" y="249"/>
                  <a:pt x="1051" y="233"/>
                </a:cubicBezTo>
                <a:close/>
                <a:moveTo>
                  <a:pt x="1261" y="233"/>
                </a:moveTo>
                <a:cubicBezTo>
                  <a:pt x="1261" y="218"/>
                  <a:pt x="1273" y="206"/>
                  <a:pt x="1289" y="206"/>
                </a:cubicBezTo>
                <a:cubicBezTo>
                  <a:pt x="1304" y="206"/>
                  <a:pt x="1317" y="218"/>
                  <a:pt x="1317" y="233"/>
                </a:cubicBezTo>
                <a:cubicBezTo>
                  <a:pt x="1317" y="249"/>
                  <a:pt x="1304" y="262"/>
                  <a:pt x="1289" y="262"/>
                </a:cubicBezTo>
                <a:cubicBezTo>
                  <a:pt x="1273" y="262"/>
                  <a:pt x="1261" y="249"/>
                  <a:pt x="1261" y="233"/>
                </a:cubicBezTo>
                <a:close/>
                <a:moveTo>
                  <a:pt x="1471" y="233"/>
                </a:moveTo>
                <a:cubicBezTo>
                  <a:pt x="1471" y="218"/>
                  <a:pt x="1483" y="206"/>
                  <a:pt x="1499" y="206"/>
                </a:cubicBezTo>
                <a:cubicBezTo>
                  <a:pt x="1514" y="206"/>
                  <a:pt x="1527" y="218"/>
                  <a:pt x="1527" y="233"/>
                </a:cubicBezTo>
                <a:cubicBezTo>
                  <a:pt x="1527" y="249"/>
                  <a:pt x="1514" y="262"/>
                  <a:pt x="1499" y="262"/>
                </a:cubicBezTo>
                <a:cubicBezTo>
                  <a:pt x="1483" y="262"/>
                  <a:pt x="1471" y="249"/>
                  <a:pt x="1471" y="233"/>
                </a:cubicBezTo>
                <a:close/>
                <a:moveTo>
                  <a:pt x="1681" y="233"/>
                </a:moveTo>
                <a:cubicBezTo>
                  <a:pt x="1681" y="218"/>
                  <a:pt x="1693" y="206"/>
                  <a:pt x="1709" y="206"/>
                </a:cubicBezTo>
                <a:cubicBezTo>
                  <a:pt x="1724" y="206"/>
                  <a:pt x="1737" y="218"/>
                  <a:pt x="1737" y="233"/>
                </a:cubicBezTo>
                <a:cubicBezTo>
                  <a:pt x="1737" y="249"/>
                  <a:pt x="1724" y="262"/>
                  <a:pt x="1709" y="262"/>
                </a:cubicBezTo>
                <a:cubicBezTo>
                  <a:pt x="1693" y="262"/>
                  <a:pt x="1681" y="249"/>
                  <a:pt x="1681" y="233"/>
                </a:cubicBezTo>
                <a:close/>
                <a:moveTo>
                  <a:pt x="1891" y="233"/>
                </a:moveTo>
                <a:cubicBezTo>
                  <a:pt x="1891" y="218"/>
                  <a:pt x="1903" y="206"/>
                  <a:pt x="1919" y="206"/>
                </a:cubicBezTo>
                <a:cubicBezTo>
                  <a:pt x="1934" y="206"/>
                  <a:pt x="1947" y="218"/>
                  <a:pt x="1947" y="233"/>
                </a:cubicBezTo>
                <a:cubicBezTo>
                  <a:pt x="1947" y="249"/>
                  <a:pt x="1934" y="262"/>
                  <a:pt x="1919" y="262"/>
                </a:cubicBezTo>
                <a:cubicBezTo>
                  <a:pt x="1903" y="262"/>
                  <a:pt x="1891" y="249"/>
                  <a:pt x="1891" y="233"/>
                </a:cubicBezTo>
                <a:close/>
                <a:moveTo>
                  <a:pt x="2101" y="233"/>
                </a:moveTo>
                <a:cubicBezTo>
                  <a:pt x="2101" y="218"/>
                  <a:pt x="2113" y="206"/>
                  <a:pt x="2129" y="206"/>
                </a:cubicBezTo>
                <a:cubicBezTo>
                  <a:pt x="2144" y="206"/>
                  <a:pt x="2157" y="218"/>
                  <a:pt x="2157" y="233"/>
                </a:cubicBezTo>
                <a:cubicBezTo>
                  <a:pt x="2157" y="249"/>
                  <a:pt x="2144" y="262"/>
                  <a:pt x="2129" y="262"/>
                </a:cubicBezTo>
                <a:cubicBezTo>
                  <a:pt x="2113" y="262"/>
                  <a:pt x="2101" y="249"/>
                  <a:pt x="2101" y="233"/>
                </a:cubicBezTo>
                <a:close/>
                <a:moveTo>
                  <a:pt x="2311" y="233"/>
                </a:moveTo>
                <a:cubicBezTo>
                  <a:pt x="2311" y="218"/>
                  <a:pt x="2323" y="206"/>
                  <a:pt x="2339" y="206"/>
                </a:cubicBezTo>
                <a:cubicBezTo>
                  <a:pt x="2354" y="206"/>
                  <a:pt x="2367" y="218"/>
                  <a:pt x="2367" y="233"/>
                </a:cubicBezTo>
                <a:cubicBezTo>
                  <a:pt x="2367" y="249"/>
                  <a:pt x="2354" y="262"/>
                  <a:pt x="2339" y="262"/>
                </a:cubicBezTo>
                <a:cubicBezTo>
                  <a:pt x="2323" y="262"/>
                  <a:pt x="2311" y="249"/>
                  <a:pt x="2311" y="233"/>
                </a:cubicBezTo>
                <a:close/>
                <a:moveTo>
                  <a:pt x="0" y="438"/>
                </a:moveTo>
                <a:cubicBezTo>
                  <a:pt x="0" y="423"/>
                  <a:pt x="13" y="411"/>
                  <a:pt x="28" y="411"/>
                </a:cubicBezTo>
                <a:cubicBezTo>
                  <a:pt x="44" y="411"/>
                  <a:pt x="57" y="423"/>
                  <a:pt x="57" y="438"/>
                </a:cubicBezTo>
                <a:cubicBezTo>
                  <a:pt x="57" y="454"/>
                  <a:pt x="44" y="467"/>
                  <a:pt x="28" y="467"/>
                </a:cubicBezTo>
                <a:cubicBezTo>
                  <a:pt x="13" y="467"/>
                  <a:pt x="0" y="454"/>
                  <a:pt x="0" y="438"/>
                </a:cubicBezTo>
                <a:close/>
                <a:moveTo>
                  <a:pt x="211" y="438"/>
                </a:moveTo>
                <a:cubicBezTo>
                  <a:pt x="211" y="423"/>
                  <a:pt x="223" y="411"/>
                  <a:pt x="239" y="411"/>
                </a:cubicBezTo>
                <a:cubicBezTo>
                  <a:pt x="254" y="411"/>
                  <a:pt x="267" y="423"/>
                  <a:pt x="267" y="438"/>
                </a:cubicBezTo>
                <a:cubicBezTo>
                  <a:pt x="267" y="454"/>
                  <a:pt x="254" y="467"/>
                  <a:pt x="239" y="467"/>
                </a:cubicBezTo>
                <a:cubicBezTo>
                  <a:pt x="223" y="467"/>
                  <a:pt x="211" y="454"/>
                  <a:pt x="211" y="438"/>
                </a:cubicBezTo>
                <a:close/>
                <a:moveTo>
                  <a:pt x="421" y="438"/>
                </a:moveTo>
                <a:cubicBezTo>
                  <a:pt x="421" y="423"/>
                  <a:pt x="433" y="411"/>
                  <a:pt x="449" y="411"/>
                </a:cubicBezTo>
                <a:cubicBezTo>
                  <a:pt x="464" y="411"/>
                  <a:pt x="477" y="423"/>
                  <a:pt x="477" y="438"/>
                </a:cubicBezTo>
                <a:cubicBezTo>
                  <a:pt x="477" y="454"/>
                  <a:pt x="464" y="467"/>
                  <a:pt x="449" y="467"/>
                </a:cubicBezTo>
                <a:cubicBezTo>
                  <a:pt x="433" y="467"/>
                  <a:pt x="421" y="454"/>
                  <a:pt x="421" y="438"/>
                </a:cubicBezTo>
                <a:close/>
                <a:moveTo>
                  <a:pt x="631" y="438"/>
                </a:moveTo>
                <a:cubicBezTo>
                  <a:pt x="631" y="423"/>
                  <a:pt x="643" y="411"/>
                  <a:pt x="659" y="411"/>
                </a:cubicBezTo>
                <a:cubicBezTo>
                  <a:pt x="674" y="411"/>
                  <a:pt x="687" y="423"/>
                  <a:pt x="687" y="438"/>
                </a:cubicBezTo>
                <a:cubicBezTo>
                  <a:pt x="687" y="454"/>
                  <a:pt x="674" y="467"/>
                  <a:pt x="659" y="467"/>
                </a:cubicBezTo>
                <a:cubicBezTo>
                  <a:pt x="643" y="467"/>
                  <a:pt x="631" y="454"/>
                  <a:pt x="631" y="438"/>
                </a:cubicBezTo>
                <a:close/>
                <a:moveTo>
                  <a:pt x="841" y="438"/>
                </a:moveTo>
                <a:cubicBezTo>
                  <a:pt x="841" y="423"/>
                  <a:pt x="853" y="411"/>
                  <a:pt x="869" y="411"/>
                </a:cubicBezTo>
                <a:cubicBezTo>
                  <a:pt x="884" y="411"/>
                  <a:pt x="897" y="423"/>
                  <a:pt x="897" y="438"/>
                </a:cubicBezTo>
                <a:cubicBezTo>
                  <a:pt x="897" y="454"/>
                  <a:pt x="884" y="467"/>
                  <a:pt x="869" y="467"/>
                </a:cubicBezTo>
                <a:cubicBezTo>
                  <a:pt x="853" y="467"/>
                  <a:pt x="841" y="454"/>
                  <a:pt x="841" y="438"/>
                </a:cubicBezTo>
                <a:close/>
                <a:moveTo>
                  <a:pt x="1051" y="438"/>
                </a:moveTo>
                <a:cubicBezTo>
                  <a:pt x="1051" y="423"/>
                  <a:pt x="1063" y="411"/>
                  <a:pt x="1079" y="411"/>
                </a:cubicBezTo>
                <a:cubicBezTo>
                  <a:pt x="1094" y="411"/>
                  <a:pt x="1107" y="423"/>
                  <a:pt x="1107" y="438"/>
                </a:cubicBezTo>
                <a:cubicBezTo>
                  <a:pt x="1107" y="454"/>
                  <a:pt x="1094" y="467"/>
                  <a:pt x="1079" y="467"/>
                </a:cubicBezTo>
                <a:cubicBezTo>
                  <a:pt x="1063" y="467"/>
                  <a:pt x="1051" y="454"/>
                  <a:pt x="1051" y="438"/>
                </a:cubicBezTo>
                <a:close/>
                <a:moveTo>
                  <a:pt x="1261" y="438"/>
                </a:moveTo>
                <a:cubicBezTo>
                  <a:pt x="1261" y="423"/>
                  <a:pt x="1273" y="411"/>
                  <a:pt x="1289" y="411"/>
                </a:cubicBezTo>
                <a:cubicBezTo>
                  <a:pt x="1304" y="411"/>
                  <a:pt x="1317" y="423"/>
                  <a:pt x="1317" y="438"/>
                </a:cubicBezTo>
                <a:cubicBezTo>
                  <a:pt x="1317" y="454"/>
                  <a:pt x="1304" y="467"/>
                  <a:pt x="1289" y="467"/>
                </a:cubicBezTo>
                <a:cubicBezTo>
                  <a:pt x="1273" y="467"/>
                  <a:pt x="1261" y="454"/>
                  <a:pt x="1261" y="438"/>
                </a:cubicBezTo>
                <a:close/>
                <a:moveTo>
                  <a:pt x="1471" y="438"/>
                </a:moveTo>
                <a:cubicBezTo>
                  <a:pt x="1471" y="423"/>
                  <a:pt x="1483" y="411"/>
                  <a:pt x="1499" y="411"/>
                </a:cubicBezTo>
                <a:cubicBezTo>
                  <a:pt x="1514" y="411"/>
                  <a:pt x="1527" y="423"/>
                  <a:pt x="1527" y="438"/>
                </a:cubicBezTo>
                <a:cubicBezTo>
                  <a:pt x="1527" y="454"/>
                  <a:pt x="1514" y="467"/>
                  <a:pt x="1499" y="467"/>
                </a:cubicBezTo>
                <a:cubicBezTo>
                  <a:pt x="1483" y="467"/>
                  <a:pt x="1471" y="454"/>
                  <a:pt x="1471" y="438"/>
                </a:cubicBezTo>
                <a:close/>
                <a:moveTo>
                  <a:pt x="1681" y="438"/>
                </a:moveTo>
                <a:cubicBezTo>
                  <a:pt x="1681" y="423"/>
                  <a:pt x="1693" y="411"/>
                  <a:pt x="1709" y="411"/>
                </a:cubicBezTo>
                <a:cubicBezTo>
                  <a:pt x="1724" y="411"/>
                  <a:pt x="1737" y="423"/>
                  <a:pt x="1737" y="438"/>
                </a:cubicBezTo>
                <a:cubicBezTo>
                  <a:pt x="1737" y="454"/>
                  <a:pt x="1724" y="467"/>
                  <a:pt x="1709" y="467"/>
                </a:cubicBezTo>
                <a:cubicBezTo>
                  <a:pt x="1693" y="467"/>
                  <a:pt x="1681" y="454"/>
                  <a:pt x="1681" y="438"/>
                </a:cubicBezTo>
                <a:close/>
                <a:moveTo>
                  <a:pt x="1891" y="438"/>
                </a:moveTo>
                <a:cubicBezTo>
                  <a:pt x="1891" y="423"/>
                  <a:pt x="1903" y="411"/>
                  <a:pt x="1919" y="411"/>
                </a:cubicBezTo>
                <a:cubicBezTo>
                  <a:pt x="1934" y="411"/>
                  <a:pt x="1947" y="423"/>
                  <a:pt x="1947" y="438"/>
                </a:cubicBezTo>
                <a:cubicBezTo>
                  <a:pt x="1947" y="454"/>
                  <a:pt x="1934" y="467"/>
                  <a:pt x="1919" y="467"/>
                </a:cubicBezTo>
                <a:cubicBezTo>
                  <a:pt x="1903" y="467"/>
                  <a:pt x="1891" y="454"/>
                  <a:pt x="1891" y="438"/>
                </a:cubicBezTo>
                <a:close/>
                <a:moveTo>
                  <a:pt x="2101" y="438"/>
                </a:moveTo>
                <a:cubicBezTo>
                  <a:pt x="2101" y="423"/>
                  <a:pt x="2113" y="411"/>
                  <a:pt x="2129" y="411"/>
                </a:cubicBezTo>
                <a:cubicBezTo>
                  <a:pt x="2144" y="411"/>
                  <a:pt x="2157" y="423"/>
                  <a:pt x="2157" y="438"/>
                </a:cubicBezTo>
                <a:cubicBezTo>
                  <a:pt x="2157" y="454"/>
                  <a:pt x="2144" y="467"/>
                  <a:pt x="2129" y="467"/>
                </a:cubicBezTo>
                <a:cubicBezTo>
                  <a:pt x="2113" y="467"/>
                  <a:pt x="2101" y="454"/>
                  <a:pt x="2101" y="438"/>
                </a:cubicBezTo>
                <a:close/>
                <a:moveTo>
                  <a:pt x="2311" y="438"/>
                </a:moveTo>
                <a:cubicBezTo>
                  <a:pt x="2311" y="423"/>
                  <a:pt x="2323" y="411"/>
                  <a:pt x="2339" y="411"/>
                </a:cubicBezTo>
                <a:cubicBezTo>
                  <a:pt x="2354" y="411"/>
                  <a:pt x="2367" y="423"/>
                  <a:pt x="2367" y="438"/>
                </a:cubicBezTo>
                <a:cubicBezTo>
                  <a:pt x="2367" y="454"/>
                  <a:pt x="2354" y="467"/>
                  <a:pt x="2339" y="467"/>
                </a:cubicBezTo>
                <a:cubicBezTo>
                  <a:pt x="2323" y="467"/>
                  <a:pt x="2311" y="454"/>
                  <a:pt x="2311" y="438"/>
                </a:cubicBezTo>
                <a:close/>
                <a:moveTo>
                  <a:pt x="0" y="643"/>
                </a:moveTo>
                <a:cubicBezTo>
                  <a:pt x="0" y="628"/>
                  <a:pt x="13" y="616"/>
                  <a:pt x="28" y="616"/>
                </a:cubicBezTo>
                <a:cubicBezTo>
                  <a:pt x="44" y="616"/>
                  <a:pt x="57" y="628"/>
                  <a:pt x="57" y="643"/>
                </a:cubicBezTo>
                <a:cubicBezTo>
                  <a:pt x="57" y="659"/>
                  <a:pt x="44" y="672"/>
                  <a:pt x="28" y="672"/>
                </a:cubicBezTo>
                <a:cubicBezTo>
                  <a:pt x="13" y="672"/>
                  <a:pt x="0" y="659"/>
                  <a:pt x="0" y="643"/>
                </a:cubicBezTo>
                <a:close/>
                <a:moveTo>
                  <a:pt x="211" y="643"/>
                </a:moveTo>
                <a:cubicBezTo>
                  <a:pt x="211" y="628"/>
                  <a:pt x="223" y="616"/>
                  <a:pt x="239" y="616"/>
                </a:cubicBezTo>
                <a:cubicBezTo>
                  <a:pt x="254" y="616"/>
                  <a:pt x="267" y="628"/>
                  <a:pt x="267" y="643"/>
                </a:cubicBezTo>
                <a:cubicBezTo>
                  <a:pt x="267" y="659"/>
                  <a:pt x="254" y="672"/>
                  <a:pt x="239" y="672"/>
                </a:cubicBezTo>
                <a:cubicBezTo>
                  <a:pt x="223" y="672"/>
                  <a:pt x="211" y="659"/>
                  <a:pt x="211" y="643"/>
                </a:cubicBezTo>
                <a:close/>
                <a:moveTo>
                  <a:pt x="421" y="643"/>
                </a:moveTo>
                <a:cubicBezTo>
                  <a:pt x="421" y="628"/>
                  <a:pt x="433" y="616"/>
                  <a:pt x="449" y="616"/>
                </a:cubicBezTo>
                <a:cubicBezTo>
                  <a:pt x="464" y="616"/>
                  <a:pt x="477" y="628"/>
                  <a:pt x="477" y="643"/>
                </a:cubicBezTo>
                <a:cubicBezTo>
                  <a:pt x="477" y="659"/>
                  <a:pt x="464" y="672"/>
                  <a:pt x="449" y="672"/>
                </a:cubicBezTo>
                <a:cubicBezTo>
                  <a:pt x="433" y="672"/>
                  <a:pt x="421" y="659"/>
                  <a:pt x="421" y="643"/>
                </a:cubicBezTo>
                <a:close/>
                <a:moveTo>
                  <a:pt x="631" y="643"/>
                </a:moveTo>
                <a:cubicBezTo>
                  <a:pt x="631" y="628"/>
                  <a:pt x="643" y="616"/>
                  <a:pt x="659" y="616"/>
                </a:cubicBezTo>
                <a:cubicBezTo>
                  <a:pt x="674" y="616"/>
                  <a:pt x="687" y="628"/>
                  <a:pt x="687" y="643"/>
                </a:cubicBezTo>
                <a:cubicBezTo>
                  <a:pt x="687" y="659"/>
                  <a:pt x="674" y="672"/>
                  <a:pt x="659" y="672"/>
                </a:cubicBezTo>
                <a:cubicBezTo>
                  <a:pt x="643" y="672"/>
                  <a:pt x="631" y="659"/>
                  <a:pt x="631" y="643"/>
                </a:cubicBezTo>
                <a:close/>
                <a:moveTo>
                  <a:pt x="841" y="643"/>
                </a:moveTo>
                <a:cubicBezTo>
                  <a:pt x="841" y="628"/>
                  <a:pt x="853" y="616"/>
                  <a:pt x="869" y="616"/>
                </a:cubicBezTo>
                <a:cubicBezTo>
                  <a:pt x="884" y="616"/>
                  <a:pt x="897" y="628"/>
                  <a:pt x="897" y="643"/>
                </a:cubicBezTo>
                <a:cubicBezTo>
                  <a:pt x="897" y="659"/>
                  <a:pt x="884" y="672"/>
                  <a:pt x="869" y="672"/>
                </a:cubicBezTo>
                <a:cubicBezTo>
                  <a:pt x="853" y="672"/>
                  <a:pt x="841" y="659"/>
                  <a:pt x="841" y="643"/>
                </a:cubicBezTo>
                <a:close/>
                <a:moveTo>
                  <a:pt x="1051" y="643"/>
                </a:moveTo>
                <a:cubicBezTo>
                  <a:pt x="1051" y="628"/>
                  <a:pt x="1063" y="616"/>
                  <a:pt x="1079" y="616"/>
                </a:cubicBezTo>
                <a:cubicBezTo>
                  <a:pt x="1094" y="616"/>
                  <a:pt x="1107" y="628"/>
                  <a:pt x="1107" y="643"/>
                </a:cubicBezTo>
                <a:cubicBezTo>
                  <a:pt x="1107" y="659"/>
                  <a:pt x="1094" y="672"/>
                  <a:pt x="1079" y="672"/>
                </a:cubicBezTo>
                <a:cubicBezTo>
                  <a:pt x="1063" y="672"/>
                  <a:pt x="1051" y="659"/>
                  <a:pt x="1051" y="643"/>
                </a:cubicBezTo>
                <a:close/>
                <a:moveTo>
                  <a:pt x="1261" y="643"/>
                </a:moveTo>
                <a:cubicBezTo>
                  <a:pt x="1261" y="628"/>
                  <a:pt x="1273" y="616"/>
                  <a:pt x="1289" y="616"/>
                </a:cubicBezTo>
                <a:cubicBezTo>
                  <a:pt x="1304" y="616"/>
                  <a:pt x="1317" y="628"/>
                  <a:pt x="1317" y="643"/>
                </a:cubicBezTo>
                <a:cubicBezTo>
                  <a:pt x="1317" y="659"/>
                  <a:pt x="1304" y="672"/>
                  <a:pt x="1289" y="672"/>
                </a:cubicBezTo>
                <a:cubicBezTo>
                  <a:pt x="1273" y="672"/>
                  <a:pt x="1261" y="659"/>
                  <a:pt x="1261" y="643"/>
                </a:cubicBezTo>
                <a:close/>
                <a:moveTo>
                  <a:pt x="1471" y="643"/>
                </a:moveTo>
                <a:cubicBezTo>
                  <a:pt x="1471" y="628"/>
                  <a:pt x="1483" y="616"/>
                  <a:pt x="1499" y="616"/>
                </a:cubicBezTo>
                <a:cubicBezTo>
                  <a:pt x="1514" y="616"/>
                  <a:pt x="1527" y="628"/>
                  <a:pt x="1527" y="643"/>
                </a:cubicBezTo>
                <a:cubicBezTo>
                  <a:pt x="1527" y="659"/>
                  <a:pt x="1514" y="672"/>
                  <a:pt x="1499" y="672"/>
                </a:cubicBezTo>
                <a:cubicBezTo>
                  <a:pt x="1483" y="672"/>
                  <a:pt x="1471" y="659"/>
                  <a:pt x="1471" y="643"/>
                </a:cubicBezTo>
                <a:close/>
                <a:moveTo>
                  <a:pt x="1681" y="643"/>
                </a:moveTo>
                <a:cubicBezTo>
                  <a:pt x="1681" y="628"/>
                  <a:pt x="1693" y="616"/>
                  <a:pt x="1709" y="616"/>
                </a:cubicBezTo>
                <a:cubicBezTo>
                  <a:pt x="1724" y="616"/>
                  <a:pt x="1737" y="628"/>
                  <a:pt x="1737" y="643"/>
                </a:cubicBezTo>
                <a:cubicBezTo>
                  <a:pt x="1737" y="659"/>
                  <a:pt x="1724" y="672"/>
                  <a:pt x="1709" y="672"/>
                </a:cubicBezTo>
                <a:cubicBezTo>
                  <a:pt x="1693" y="672"/>
                  <a:pt x="1681" y="659"/>
                  <a:pt x="1681" y="643"/>
                </a:cubicBezTo>
                <a:close/>
                <a:moveTo>
                  <a:pt x="1891" y="643"/>
                </a:moveTo>
                <a:cubicBezTo>
                  <a:pt x="1891" y="628"/>
                  <a:pt x="1903" y="616"/>
                  <a:pt x="1919" y="616"/>
                </a:cubicBezTo>
                <a:cubicBezTo>
                  <a:pt x="1934" y="616"/>
                  <a:pt x="1947" y="628"/>
                  <a:pt x="1947" y="643"/>
                </a:cubicBezTo>
                <a:cubicBezTo>
                  <a:pt x="1947" y="659"/>
                  <a:pt x="1934" y="672"/>
                  <a:pt x="1919" y="672"/>
                </a:cubicBezTo>
                <a:cubicBezTo>
                  <a:pt x="1903" y="672"/>
                  <a:pt x="1891" y="659"/>
                  <a:pt x="1891" y="643"/>
                </a:cubicBezTo>
                <a:close/>
                <a:moveTo>
                  <a:pt x="2101" y="643"/>
                </a:moveTo>
                <a:cubicBezTo>
                  <a:pt x="2101" y="628"/>
                  <a:pt x="2113" y="616"/>
                  <a:pt x="2129" y="616"/>
                </a:cubicBezTo>
                <a:cubicBezTo>
                  <a:pt x="2144" y="616"/>
                  <a:pt x="2157" y="628"/>
                  <a:pt x="2157" y="643"/>
                </a:cubicBezTo>
                <a:cubicBezTo>
                  <a:pt x="2157" y="659"/>
                  <a:pt x="2144" y="672"/>
                  <a:pt x="2129" y="672"/>
                </a:cubicBezTo>
                <a:cubicBezTo>
                  <a:pt x="2113" y="672"/>
                  <a:pt x="2101" y="659"/>
                  <a:pt x="2101" y="643"/>
                </a:cubicBezTo>
                <a:close/>
                <a:moveTo>
                  <a:pt x="2311" y="643"/>
                </a:moveTo>
                <a:cubicBezTo>
                  <a:pt x="2311" y="628"/>
                  <a:pt x="2323" y="616"/>
                  <a:pt x="2339" y="616"/>
                </a:cubicBezTo>
                <a:cubicBezTo>
                  <a:pt x="2354" y="616"/>
                  <a:pt x="2367" y="628"/>
                  <a:pt x="2367" y="643"/>
                </a:cubicBezTo>
                <a:cubicBezTo>
                  <a:pt x="2367" y="659"/>
                  <a:pt x="2354" y="672"/>
                  <a:pt x="2339" y="672"/>
                </a:cubicBezTo>
                <a:cubicBezTo>
                  <a:pt x="2323" y="672"/>
                  <a:pt x="2311" y="659"/>
                  <a:pt x="2311" y="643"/>
                </a:cubicBezTo>
                <a:close/>
                <a:moveTo>
                  <a:pt x="0" y="848"/>
                </a:moveTo>
                <a:cubicBezTo>
                  <a:pt x="0" y="833"/>
                  <a:pt x="13" y="821"/>
                  <a:pt x="28" y="821"/>
                </a:cubicBezTo>
                <a:cubicBezTo>
                  <a:pt x="44" y="821"/>
                  <a:pt x="57" y="833"/>
                  <a:pt x="57" y="848"/>
                </a:cubicBezTo>
                <a:cubicBezTo>
                  <a:pt x="57" y="864"/>
                  <a:pt x="44" y="877"/>
                  <a:pt x="28" y="877"/>
                </a:cubicBezTo>
                <a:cubicBezTo>
                  <a:pt x="13" y="877"/>
                  <a:pt x="0" y="864"/>
                  <a:pt x="0" y="848"/>
                </a:cubicBezTo>
                <a:close/>
                <a:moveTo>
                  <a:pt x="211" y="848"/>
                </a:moveTo>
                <a:cubicBezTo>
                  <a:pt x="211" y="833"/>
                  <a:pt x="223" y="821"/>
                  <a:pt x="239" y="821"/>
                </a:cubicBezTo>
                <a:cubicBezTo>
                  <a:pt x="254" y="821"/>
                  <a:pt x="267" y="833"/>
                  <a:pt x="267" y="848"/>
                </a:cubicBezTo>
                <a:cubicBezTo>
                  <a:pt x="267" y="864"/>
                  <a:pt x="254" y="877"/>
                  <a:pt x="239" y="877"/>
                </a:cubicBezTo>
                <a:cubicBezTo>
                  <a:pt x="223" y="877"/>
                  <a:pt x="211" y="864"/>
                  <a:pt x="211" y="848"/>
                </a:cubicBezTo>
                <a:close/>
                <a:moveTo>
                  <a:pt x="421" y="848"/>
                </a:moveTo>
                <a:cubicBezTo>
                  <a:pt x="421" y="833"/>
                  <a:pt x="433" y="821"/>
                  <a:pt x="449" y="821"/>
                </a:cubicBezTo>
                <a:cubicBezTo>
                  <a:pt x="464" y="821"/>
                  <a:pt x="477" y="833"/>
                  <a:pt x="477" y="848"/>
                </a:cubicBezTo>
                <a:cubicBezTo>
                  <a:pt x="477" y="864"/>
                  <a:pt x="464" y="877"/>
                  <a:pt x="449" y="877"/>
                </a:cubicBezTo>
                <a:cubicBezTo>
                  <a:pt x="433" y="877"/>
                  <a:pt x="421" y="864"/>
                  <a:pt x="421" y="848"/>
                </a:cubicBezTo>
                <a:close/>
                <a:moveTo>
                  <a:pt x="631" y="848"/>
                </a:moveTo>
                <a:cubicBezTo>
                  <a:pt x="631" y="833"/>
                  <a:pt x="643" y="821"/>
                  <a:pt x="659" y="821"/>
                </a:cubicBezTo>
                <a:cubicBezTo>
                  <a:pt x="674" y="821"/>
                  <a:pt x="687" y="833"/>
                  <a:pt x="687" y="848"/>
                </a:cubicBezTo>
                <a:cubicBezTo>
                  <a:pt x="687" y="864"/>
                  <a:pt x="674" y="877"/>
                  <a:pt x="659" y="877"/>
                </a:cubicBezTo>
                <a:cubicBezTo>
                  <a:pt x="643" y="877"/>
                  <a:pt x="631" y="864"/>
                  <a:pt x="631" y="848"/>
                </a:cubicBezTo>
                <a:close/>
                <a:moveTo>
                  <a:pt x="841" y="848"/>
                </a:moveTo>
                <a:cubicBezTo>
                  <a:pt x="841" y="833"/>
                  <a:pt x="853" y="821"/>
                  <a:pt x="869" y="821"/>
                </a:cubicBezTo>
                <a:cubicBezTo>
                  <a:pt x="884" y="821"/>
                  <a:pt x="897" y="833"/>
                  <a:pt x="897" y="848"/>
                </a:cubicBezTo>
                <a:cubicBezTo>
                  <a:pt x="897" y="864"/>
                  <a:pt x="884" y="877"/>
                  <a:pt x="869" y="877"/>
                </a:cubicBezTo>
                <a:cubicBezTo>
                  <a:pt x="853" y="877"/>
                  <a:pt x="841" y="864"/>
                  <a:pt x="841" y="848"/>
                </a:cubicBezTo>
                <a:close/>
                <a:moveTo>
                  <a:pt x="1051" y="848"/>
                </a:moveTo>
                <a:cubicBezTo>
                  <a:pt x="1051" y="833"/>
                  <a:pt x="1063" y="821"/>
                  <a:pt x="1079" y="821"/>
                </a:cubicBezTo>
                <a:cubicBezTo>
                  <a:pt x="1094" y="821"/>
                  <a:pt x="1107" y="833"/>
                  <a:pt x="1107" y="848"/>
                </a:cubicBezTo>
                <a:cubicBezTo>
                  <a:pt x="1107" y="864"/>
                  <a:pt x="1094" y="877"/>
                  <a:pt x="1079" y="877"/>
                </a:cubicBezTo>
                <a:cubicBezTo>
                  <a:pt x="1063" y="877"/>
                  <a:pt x="1051" y="864"/>
                  <a:pt x="1051" y="848"/>
                </a:cubicBezTo>
                <a:close/>
                <a:moveTo>
                  <a:pt x="1261" y="848"/>
                </a:moveTo>
                <a:cubicBezTo>
                  <a:pt x="1261" y="833"/>
                  <a:pt x="1273" y="821"/>
                  <a:pt x="1289" y="821"/>
                </a:cubicBezTo>
                <a:cubicBezTo>
                  <a:pt x="1304" y="821"/>
                  <a:pt x="1317" y="833"/>
                  <a:pt x="1317" y="848"/>
                </a:cubicBezTo>
                <a:cubicBezTo>
                  <a:pt x="1317" y="864"/>
                  <a:pt x="1304" y="877"/>
                  <a:pt x="1289" y="877"/>
                </a:cubicBezTo>
                <a:cubicBezTo>
                  <a:pt x="1273" y="877"/>
                  <a:pt x="1261" y="864"/>
                  <a:pt x="1261" y="848"/>
                </a:cubicBezTo>
                <a:close/>
                <a:moveTo>
                  <a:pt x="1471" y="848"/>
                </a:moveTo>
                <a:cubicBezTo>
                  <a:pt x="1471" y="833"/>
                  <a:pt x="1483" y="821"/>
                  <a:pt x="1499" y="821"/>
                </a:cubicBezTo>
                <a:cubicBezTo>
                  <a:pt x="1514" y="821"/>
                  <a:pt x="1527" y="833"/>
                  <a:pt x="1527" y="848"/>
                </a:cubicBezTo>
                <a:cubicBezTo>
                  <a:pt x="1527" y="864"/>
                  <a:pt x="1514" y="877"/>
                  <a:pt x="1499" y="877"/>
                </a:cubicBezTo>
                <a:cubicBezTo>
                  <a:pt x="1483" y="877"/>
                  <a:pt x="1471" y="864"/>
                  <a:pt x="1471" y="848"/>
                </a:cubicBezTo>
                <a:close/>
                <a:moveTo>
                  <a:pt x="1681" y="848"/>
                </a:moveTo>
                <a:cubicBezTo>
                  <a:pt x="1681" y="833"/>
                  <a:pt x="1693" y="821"/>
                  <a:pt x="1709" y="821"/>
                </a:cubicBezTo>
                <a:cubicBezTo>
                  <a:pt x="1724" y="821"/>
                  <a:pt x="1737" y="833"/>
                  <a:pt x="1737" y="848"/>
                </a:cubicBezTo>
                <a:cubicBezTo>
                  <a:pt x="1737" y="864"/>
                  <a:pt x="1724" y="877"/>
                  <a:pt x="1709" y="877"/>
                </a:cubicBezTo>
                <a:cubicBezTo>
                  <a:pt x="1693" y="877"/>
                  <a:pt x="1681" y="864"/>
                  <a:pt x="1681" y="848"/>
                </a:cubicBezTo>
                <a:close/>
                <a:moveTo>
                  <a:pt x="1891" y="848"/>
                </a:moveTo>
                <a:cubicBezTo>
                  <a:pt x="1891" y="833"/>
                  <a:pt x="1903" y="821"/>
                  <a:pt x="1919" y="821"/>
                </a:cubicBezTo>
                <a:cubicBezTo>
                  <a:pt x="1934" y="821"/>
                  <a:pt x="1947" y="833"/>
                  <a:pt x="1947" y="848"/>
                </a:cubicBezTo>
                <a:cubicBezTo>
                  <a:pt x="1947" y="864"/>
                  <a:pt x="1934" y="877"/>
                  <a:pt x="1919" y="877"/>
                </a:cubicBezTo>
                <a:cubicBezTo>
                  <a:pt x="1903" y="877"/>
                  <a:pt x="1891" y="864"/>
                  <a:pt x="1891" y="848"/>
                </a:cubicBezTo>
                <a:close/>
                <a:moveTo>
                  <a:pt x="2101" y="848"/>
                </a:moveTo>
                <a:cubicBezTo>
                  <a:pt x="2101" y="833"/>
                  <a:pt x="2113" y="821"/>
                  <a:pt x="2129" y="821"/>
                </a:cubicBezTo>
                <a:cubicBezTo>
                  <a:pt x="2144" y="821"/>
                  <a:pt x="2157" y="833"/>
                  <a:pt x="2157" y="848"/>
                </a:cubicBezTo>
                <a:cubicBezTo>
                  <a:pt x="2157" y="864"/>
                  <a:pt x="2144" y="877"/>
                  <a:pt x="2129" y="877"/>
                </a:cubicBezTo>
                <a:cubicBezTo>
                  <a:pt x="2113" y="877"/>
                  <a:pt x="2101" y="864"/>
                  <a:pt x="2101" y="848"/>
                </a:cubicBezTo>
                <a:close/>
                <a:moveTo>
                  <a:pt x="2311" y="848"/>
                </a:moveTo>
                <a:cubicBezTo>
                  <a:pt x="2311" y="833"/>
                  <a:pt x="2323" y="821"/>
                  <a:pt x="2339" y="821"/>
                </a:cubicBezTo>
                <a:cubicBezTo>
                  <a:pt x="2354" y="821"/>
                  <a:pt x="2367" y="833"/>
                  <a:pt x="2367" y="848"/>
                </a:cubicBezTo>
                <a:cubicBezTo>
                  <a:pt x="2367" y="864"/>
                  <a:pt x="2354" y="877"/>
                  <a:pt x="2339" y="877"/>
                </a:cubicBezTo>
                <a:cubicBezTo>
                  <a:pt x="2323" y="877"/>
                  <a:pt x="2311" y="864"/>
                  <a:pt x="2311" y="8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40" name="文本框 39"/>
          <p:cNvSpPr txBox="1"/>
          <p:nvPr/>
        </p:nvSpPr>
        <p:spPr>
          <a:xfrm>
            <a:off x="1099185" y="1890395"/>
            <a:ext cx="12191365" cy="1107996"/>
          </a:xfrm>
          <a:prstGeom prst="rect">
            <a:avLst/>
          </a:prstGeom>
          <a:noFill/>
        </p:spPr>
        <p:txBody>
          <a:bodyPr wrap="square" rtlCol="0">
            <a:spAutoFit/>
          </a:bodyPr>
          <a:lstStyle/>
          <a:p>
            <a:pPr algn="l"/>
            <a:r>
              <a:rPr lang="zh-CN" sz="6600" b="1" spc="600" dirty="0">
                <a:solidFill>
                  <a:srgbClr val="56657C"/>
                </a:solidFill>
                <a:uFillTx/>
                <a:cs typeface="+mn-ea"/>
                <a:sym typeface="+mn-lt"/>
              </a:rPr>
              <a:t>感谢您的聆听</a:t>
            </a:r>
            <a:endParaRPr lang="zh-CN" sz="6600" b="1" spc="600" dirty="0">
              <a:solidFill>
                <a:srgbClr val="56657C"/>
              </a:solidFill>
              <a:uFillTx/>
              <a:cs typeface="+mn-ea"/>
              <a:sym typeface="+mn-lt"/>
            </a:endParaRPr>
          </a:p>
        </p:txBody>
      </p:sp>
      <p:sp>
        <p:nvSpPr>
          <p:cNvPr id="24" name="文本框 23"/>
          <p:cNvSpPr txBox="1"/>
          <p:nvPr/>
        </p:nvSpPr>
        <p:spPr>
          <a:xfrm>
            <a:off x="1099185" y="1568450"/>
            <a:ext cx="12191365" cy="304800"/>
          </a:xfrm>
          <a:prstGeom prst="rect">
            <a:avLst/>
          </a:prstGeom>
          <a:noFill/>
        </p:spPr>
        <p:txBody>
          <a:bodyPr wrap="square" rtlCol="0">
            <a:spAutoFit/>
          </a:bodyPr>
          <a:lstStyle/>
          <a:p>
            <a:pPr algn="l"/>
            <a:endParaRPr altLang="zh-CN" sz="1400" spc="160">
              <a:solidFill>
                <a:srgbClr val="495176"/>
              </a:solidFill>
              <a:uFillTx/>
              <a:cs typeface="+mn-ea"/>
              <a:sym typeface="+mn-lt"/>
            </a:endParaRPr>
          </a:p>
        </p:txBody>
      </p:sp>
      <p:sp>
        <p:nvSpPr>
          <p:cNvPr id="47" name="文本框 46"/>
          <p:cNvSpPr txBox="1"/>
          <p:nvPr/>
        </p:nvSpPr>
        <p:spPr>
          <a:xfrm>
            <a:off x="1099185" y="2866390"/>
            <a:ext cx="5167630" cy="320040"/>
          </a:xfrm>
          <a:prstGeom prst="rect">
            <a:avLst/>
          </a:prstGeom>
          <a:noFill/>
        </p:spPr>
        <p:txBody>
          <a:bodyPr wrap="square" rtlCol="0">
            <a:spAutoFit/>
          </a:bodyPr>
          <a:lstStyle/>
          <a:p>
            <a:pPr algn="l" fontAlgn="auto">
              <a:lnSpc>
                <a:spcPct val="150000"/>
              </a:lnSpc>
            </a:pPr>
            <a:endParaRPr lang="zh-CN" altLang="en-US" sz="1000" dirty="0">
              <a:solidFill>
                <a:schemeClr val="bg1">
                  <a:lumMod val="50000"/>
                </a:schemeClr>
              </a:solidFill>
              <a:cs typeface="+mn-ea"/>
              <a:sym typeface="+mn-lt"/>
            </a:endParaRPr>
          </a:p>
        </p:txBody>
      </p:sp>
      <p:grpSp>
        <p:nvGrpSpPr>
          <p:cNvPr id="7" name="组合 6"/>
          <p:cNvGrpSpPr/>
          <p:nvPr/>
        </p:nvGrpSpPr>
        <p:grpSpPr>
          <a:xfrm>
            <a:off x="1960563" y="3708400"/>
            <a:ext cx="3928110" cy="500380"/>
            <a:chOff x="6112" y="7063"/>
            <a:chExt cx="6186" cy="788"/>
          </a:xfrm>
        </p:grpSpPr>
        <p:sp>
          <p:nvSpPr>
            <p:cNvPr id="12" name="矩形 11"/>
            <p:cNvSpPr/>
            <p:nvPr/>
          </p:nvSpPr>
          <p:spPr>
            <a:xfrm>
              <a:off x="6112" y="7063"/>
              <a:ext cx="5863" cy="591"/>
            </a:xfrm>
            <a:prstGeom prst="rect">
              <a:avLst/>
            </a:prstGeom>
            <a:solidFill>
              <a:srgbClr val="566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文本框 13"/>
            <p:cNvSpPr txBox="1"/>
            <p:nvPr/>
          </p:nvSpPr>
          <p:spPr>
            <a:xfrm>
              <a:off x="6421" y="7126"/>
              <a:ext cx="5877" cy="725"/>
            </a:xfrm>
            <a:prstGeom prst="rect">
              <a:avLst/>
            </a:prstGeom>
            <a:noFill/>
          </p:spPr>
          <p:txBody>
            <a:bodyPr wrap="square" rtlCol="0">
              <a:spAutoFit/>
            </a:bodyPr>
            <a:lstStyle/>
            <a:p>
              <a:pPr algn="ctr"/>
              <a:r>
                <a:rPr lang="zh-CN" altLang="en-US" sz="1200" dirty="0">
                  <a:solidFill>
                    <a:schemeClr val="bg1"/>
                  </a:solidFill>
                  <a:cs typeface="+mn-ea"/>
                  <a:sym typeface="+mn-lt"/>
                </a:rPr>
                <a:t>答辩人：</a:t>
              </a:r>
              <a:r>
                <a:rPr lang="zh-CN" altLang="en-US" sz="1200">
                  <a:solidFill>
                    <a:schemeClr val="bg2"/>
                  </a:solidFill>
                  <a:sym typeface="+mn-ea"/>
                </a:rPr>
                <a:t>芮煜涵</a:t>
              </a:r>
              <a:r>
                <a:rPr lang="en-US" altLang="zh-CN" sz="1200">
                  <a:solidFill>
                    <a:schemeClr val="bg2"/>
                  </a:solidFill>
                  <a:sym typeface="+mn-ea"/>
                </a:rPr>
                <a:t> </a:t>
              </a:r>
              <a:r>
                <a:rPr lang="zh-CN" altLang="en-US" sz="1200">
                  <a:solidFill>
                    <a:schemeClr val="bg2"/>
                  </a:solidFill>
                  <a:sym typeface="+mn-ea"/>
                </a:rPr>
                <a:t>赵康睿</a:t>
              </a:r>
              <a:r>
                <a:rPr lang="en-US" altLang="zh-CN" sz="1200">
                  <a:solidFill>
                    <a:schemeClr val="bg2"/>
                  </a:solidFill>
                  <a:sym typeface="+mn-ea"/>
                </a:rPr>
                <a:t> </a:t>
              </a:r>
              <a:r>
                <a:rPr lang="zh-CN" altLang="en-US" sz="1200">
                  <a:solidFill>
                    <a:schemeClr val="bg2"/>
                  </a:solidFill>
                  <a:sym typeface="+mn-ea"/>
                </a:rPr>
                <a:t>赵勋</a:t>
              </a:r>
              <a:r>
                <a:rPr lang="en-US" altLang="zh-CN" sz="1200">
                  <a:solidFill>
                    <a:schemeClr val="bg2"/>
                  </a:solidFill>
                  <a:sym typeface="+mn-ea"/>
                </a:rPr>
                <a:t> </a:t>
              </a:r>
              <a:r>
                <a:rPr lang="zh-CN" altLang="en-US" sz="1200">
                  <a:solidFill>
                    <a:schemeClr val="bg2"/>
                  </a:solidFill>
                  <a:sym typeface="+mn-ea"/>
                </a:rPr>
                <a:t>何衍宁</a:t>
              </a:r>
              <a:endParaRPr lang="zh-CN" altLang="en-US" sz="1200">
                <a:solidFill>
                  <a:schemeClr val="bg2"/>
                </a:solidFill>
              </a:endParaRPr>
            </a:p>
            <a:p>
              <a:pPr algn="ctr"/>
              <a:endParaRPr lang="zh-CN" altLang="en-US" sz="1200" dirty="0">
                <a:solidFill>
                  <a:schemeClr val="bg2"/>
                </a:solidFill>
                <a:cs typeface="+mn-ea"/>
                <a:sym typeface="+mn-lt"/>
              </a:endParaRPr>
            </a:p>
          </p:txBody>
        </p:sp>
      </p:gr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23.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2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2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28.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30.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3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32.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33.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3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3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36.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37.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3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3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1.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4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3.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44.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45.xml><?xml version="1.0" encoding="utf-8"?>
<p:tagLst xmlns:p="http://schemas.openxmlformats.org/presentationml/2006/main">
  <p:tag name="KSO_WM_BEAUTIFY_FLAG" val="#wm#"/>
  <p:tag name="KSO_WM_TEMPLATE_CATEGORY" val="custom"/>
  <p:tag name="KSO_WM_TEMPLATE_INDEX" val="20205081"/>
  <p:tag name="KSO_WM_SPECIAL_SOURCE" val="bdnull"/>
</p:tagLst>
</file>

<file path=ppt/tags/tag64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第一PPT，www.1ppt.com">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r05rwhd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r05rwhd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汉仪君黑-45简"/>
        <a:font script="Hebr" typeface="汉仪君黑-45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君黑-45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汉仪君黑-45简"/>
        <a:font script="Hebr" typeface="汉仪君黑-45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君黑-45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454</Paragraphs>
  <Slides>0</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24</vt:i4>
      </vt:variant>
    </vt:vector>
  </HeadingPairs>
  <TitlesOfParts>
    <vt:vector size="32" baseType="lpstr">
      <vt:lpstr>Arial</vt:lpstr>
      <vt:lpstr>宋体</vt:lpstr>
      <vt:lpstr>Wingdings</vt:lpstr>
      <vt:lpstr>汉仪君黑-45简</vt:lpstr>
      <vt:lpstr>微软雅黑</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iPad</cp:lastModifiedBy>
  <cp:revision>170</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4E80F9987A2F4ACE9232BFCB4BEDC2E7_12</vt:lpwstr>
  </property>
  <property fmtid="{D5CDD505-2E9C-101B-9397-08002B2CF9AE}" pid="3" name="KSOProductBuildVer">
    <vt:lpwstr>2052-12.12.1</vt:lpwstr>
  </property>
</Properties>
</file>