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6"/>
  </p:notesMasterIdLst>
  <p:sldIdLst>
    <p:sldId id="318" r:id="rId2"/>
    <p:sldId id="478" r:id="rId3"/>
    <p:sldId id="488" r:id="rId4"/>
    <p:sldId id="335" r:id="rId5"/>
    <p:sldId id="330" r:id="rId6"/>
    <p:sldId id="331" r:id="rId7"/>
    <p:sldId id="332" r:id="rId8"/>
    <p:sldId id="333" r:id="rId9"/>
    <p:sldId id="334" r:id="rId10"/>
    <p:sldId id="336" r:id="rId11"/>
    <p:sldId id="479" r:id="rId12"/>
    <p:sldId id="337" r:id="rId13"/>
    <p:sldId id="338" r:id="rId14"/>
    <p:sldId id="480" r:id="rId15"/>
    <p:sldId id="339" r:id="rId16"/>
    <p:sldId id="340" r:id="rId17"/>
    <p:sldId id="341" r:id="rId18"/>
    <p:sldId id="342" r:id="rId19"/>
    <p:sldId id="481" r:id="rId20"/>
    <p:sldId id="343" r:id="rId21"/>
    <p:sldId id="346" r:id="rId22"/>
    <p:sldId id="344" r:id="rId23"/>
    <p:sldId id="345" r:id="rId24"/>
    <p:sldId id="482" r:id="rId25"/>
    <p:sldId id="347" r:id="rId26"/>
    <p:sldId id="348" r:id="rId27"/>
    <p:sldId id="352" r:id="rId28"/>
    <p:sldId id="349" r:id="rId29"/>
    <p:sldId id="350" r:id="rId30"/>
    <p:sldId id="483" r:id="rId31"/>
    <p:sldId id="351" r:id="rId32"/>
    <p:sldId id="353" r:id="rId33"/>
    <p:sldId id="484" r:id="rId34"/>
    <p:sldId id="354" r:id="rId35"/>
    <p:sldId id="355" r:id="rId36"/>
    <p:sldId id="485" r:id="rId37"/>
    <p:sldId id="356" r:id="rId38"/>
    <p:sldId id="382" r:id="rId39"/>
    <p:sldId id="357" r:id="rId40"/>
    <p:sldId id="358" r:id="rId41"/>
    <p:sldId id="359" r:id="rId42"/>
    <p:sldId id="383" r:id="rId43"/>
    <p:sldId id="486" r:id="rId44"/>
    <p:sldId id="384" r:id="rId45"/>
    <p:sldId id="385" r:id="rId46"/>
    <p:sldId id="487" r:id="rId47"/>
    <p:sldId id="386" r:id="rId48"/>
    <p:sldId id="391" r:id="rId49"/>
    <p:sldId id="489" r:id="rId50"/>
    <p:sldId id="387" r:id="rId51"/>
    <p:sldId id="390" r:id="rId52"/>
    <p:sldId id="388" r:id="rId53"/>
    <p:sldId id="389" r:id="rId54"/>
    <p:sldId id="490" r:id="rId55"/>
    <p:sldId id="392" r:id="rId56"/>
    <p:sldId id="400" r:id="rId57"/>
    <p:sldId id="401" r:id="rId58"/>
    <p:sldId id="393" r:id="rId59"/>
    <p:sldId id="394" r:id="rId60"/>
    <p:sldId id="491" r:id="rId61"/>
    <p:sldId id="395" r:id="rId62"/>
    <p:sldId id="396" r:id="rId63"/>
    <p:sldId id="492" r:id="rId64"/>
    <p:sldId id="458" r:id="rId65"/>
    <p:sldId id="459" r:id="rId66"/>
    <p:sldId id="397" r:id="rId67"/>
    <p:sldId id="460" r:id="rId68"/>
    <p:sldId id="493" r:id="rId69"/>
    <p:sldId id="398" r:id="rId70"/>
    <p:sldId id="399" r:id="rId71"/>
    <p:sldId id="461" r:id="rId72"/>
    <p:sldId id="494" r:id="rId73"/>
    <p:sldId id="462" r:id="rId74"/>
    <p:sldId id="463" r:id="rId75"/>
    <p:sldId id="495" r:id="rId76"/>
    <p:sldId id="464" r:id="rId77"/>
    <p:sldId id="465" r:id="rId78"/>
    <p:sldId id="466" r:id="rId79"/>
    <p:sldId id="467" r:id="rId80"/>
    <p:sldId id="496" r:id="rId81"/>
    <p:sldId id="468" r:id="rId82"/>
    <p:sldId id="469" r:id="rId83"/>
    <p:sldId id="497" r:id="rId84"/>
    <p:sldId id="470" r:id="rId85"/>
    <p:sldId id="477" r:id="rId86"/>
    <p:sldId id="471" r:id="rId87"/>
    <p:sldId id="472" r:id="rId88"/>
    <p:sldId id="473" r:id="rId89"/>
    <p:sldId id="498" r:id="rId90"/>
    <p:sldId id="474" r:id="rId91"/>
    <p:sldId id="475" r:id="rId92"/>
    <p:sldId id="476" r:id="rId93"/>
    <p:sldId id="499" r:id="rId94"/>
    <p:sldId id="319" r:id="rId95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46" userDrawn="1">
          <p15:clr>
            <a:srgbClr val="A4A3A4"/>
          </p15:clr>
        </p15:guide>
        <p15:guide id="4" orient="horz" pos="3974" userDrawn="1">
          <p15:clr>
            <a:srgbClr val="A4A3A4"/>
          </p15:clr>
        </p15:guide>
        <p15:guide id="5" pos="325" userDrawn="1">
          <p15:clr>
            <a:srgbClr val="A4A3A4"/>
          </p15:clr>
        </p15:guide>
        <p15:guide id="6" pos="73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3C3C3C"/>
    <a:srgbClr val="E6E6E6"/>
    <a:srgbClr val="E7661C"/>
    <a:srgbClr val="EBA123"/>
    <a:srgbClr val="A8A8A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131E0F-BC64-44CB-ADE4-58C7EB5B3FEC}" v="40" dt="2022-10-30T02:39:03.9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0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264" y="48"/>
      </p:cViewPr>
      <p:guideLst>
        <p:guide orient="horz" pos="2160"/>
        <p:guide pos="3840"/>
        <p:guide orient="horz" pos="346"/>
        <p:guide orient="horz" pos="3974"/>
        <p:guide pos="325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10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96EAD77C-F192-4619-A6C6-902DFBD1AF40}" type="datetimeFigureOut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04739BF1-71D2-4F2F-B3B5-149EF70C1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643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讲讲数列与级数的关系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39BF1-71D2-4F2F-B3B5-149EF70C182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134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39BF1-71D2-4F2F-B3B5-149EF70C1824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082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讲讲数列与级数的关系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39BF1-71D2-4F2F-B3B5-149EF70C1824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95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讲讲数列与级数的关系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39BF1-71D2-4F2F-B3B5-149EF70C1824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50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8542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格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>
            <a:extLst>
              <a:ext uri="{FF2B5EF4-FFF2-40B4-BE49-F238E27FC236}">
                <a16:creationId xmlns:a16="http://schemas.microsoft.com/office/drawing/2014/main" id="{D9197B3B-C84C-55FF-F4BB-402DE38C83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2" y="549275"/>
            <a:ext cx="2831940" cy="520356"/>
          </a:xfrm>
          <a:prstGeom prst="rect">
            <a:avLst/>
          </a:prstGeom>
        </p:spPr>
      </p:pic>
      <p:sp>
        <p:nvSpPr>
          <p:cNvPr id="12" name="日期占位符 11">
            <a:extLst>
              <a:ext uri="{FF2B5EF4-FFF2-40B4-BE49-F238E27FC236}">
                <a16:creationId xmlns:a16="http://schemas.microsoft.com/office/drawing/2014/main" id="{AB5A7309-5E2B-27EC-A458-22359493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0CEF-D420-455D-80D5-7DAE87FAC7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13" name="页脚占位符 12">
            <a:extLst>
              <a:ext uri="{FF2B5EF4-FFF2-40B4-BE49-F238E27FC236}">
                <a16:creationId xmlns:a16="http://schemas.microsoft.com/office/drawing/2014/main" id="{03154EB4-07A7-DA33-3F48-10E5D1439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Chapter6 Chapter7</a:t>
            </a:r>
            <a:endParaRPr lang="zh-CN" altLang="en-US" dirty="0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70335340-FBF8-66C5-EBC5-A8CD5ADCA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6352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格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>
            <a:extLst>
              <a:ext uri="{FF2B5EF4-FFF2-40B4-BE49-F238E27FC236}">
                <a16:creationId xmlns:a16="http://schemas.microsoft.com/office/drawing/2014/main" id="{D9197B3B-C84C-55FF-F4BB-402DE38C83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2" y="549275"/>
            <a:ext cx="2831940" cy="520356"/>
          </a:xfrm>
          <a:prstGeom prst="rect">
            <a:avLst/>
          </a:prstGeom>
        </p:spPr>
      </p:pic>
      <p:sp>
        <p:nvSpPr>
          <p:cNvPr id="12" name="日期占位符 11">
            <a:extLst>
              <a:ext uri="{FF2B5EF4-FFF2-40B4-BE49-F238E27FC236}">
                <a16:creationId xmlns:a16="http://schemas.microsoft.com/office/drawing/2014/main" id="{AB5A7309-5E2B-27EC-A458-22359493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0CEF-D420-455D-80D5-7DAE87FAC7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13" name="页脚占位符 12">
            <a:extLst>
              <a:ext uri="{FF2B5EF4-FFF2-40B4-BE49-F238E27FC236}">
                <a16:creationId xmlns:a16="http://schemas.microsoft.com/office/drawing/2014/main" id="{03154EB4-07A7-DA33-3F48-10E5D1439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Chapter6 Chapter7</a:t>
            </a:r>
            <a:endParaRPr lang="zh-CN" altLang="en-US" dirty="0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70335340-FBF8-66C5-EBC5-A8CD5ADCA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2418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B9171E-1D07-EC1C-9DBA-579AA24D5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C41A-12DD-4726-BBEE-80C37ECE4FB7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309E61-813E-F7E3-DDE9-8DF3E88C6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Chapter2 Chapter3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69F861E-3F4C-6615-01A4-AC168D76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5624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F4D53E-8313-60B0-B8C0-B27C7F79CA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3F29C-76B1-4512-9167-4588B2CF1697}" type="datetime1">
              <a:rPr lang="zh-CN" altLang="en-US" smtClean="0"/>
              <a:pPr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0E8F3B-2E12-B815-7ED1-D6717C99FD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78629" y="6356350"/>
            <a:ext cx="62347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Chapter6 Chapter7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D8CD71-ADC8-50A2-4FFC-74CD9C5988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B0C52-E6B8-495F-B49F-D5BF48EAD57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5359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69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emf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emf"/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emf"/><Relationship Id="rId7" Type="http://schemas.openxmlformats.org/officeDocument/2006/relationships/image" Target="../media/image134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emf"/><Relationship Id="rId7" Type="http://schemas.openxmlformats.org/officeDocument/2006/relationships/image" Target="../media/image146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5" Type="http://schemas.openxmlformats.org/officeDocument/2006/relationships/image" Target="../media/image144.png"/><Relationship Id="rId4" Type="http://schemas.openxmlformats.org/officeDocument/2006/relationships/image" Target="../media/image143.e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0.png"/><Relationship Id="rId4" Type="http://schemas.openxmlformats.org/officeDocument/2006/relationships/image" Target="../media/image159.emf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4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7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6.emf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9.png"/><Relationship Id="rId4" Type="http://schemas.openxmlformats.org/officeDocument/2006/relationships/image" Target="../media/image188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3.emf"/><Relationship Id="rId4" Type="http://schemas.openxmlformats.org/officeDocument/2006/relationships/image" Target="../media/image192.e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9.png"/><Relationship Id="rId4" Type="http://schemas.openxmlformats.org/officeDocument/2006/relationships/image" Target="../media/image198.em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emf"/><Relationship Id="rId2" Type="http://schemas.openxmlformats.org/officeDocument/2006/relationships/image" Target="../media/image20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6.png"/><Relationship Id="rId5" Type="http://schemas.openxmlformats.org/officeDocument/2006/relationships/image" Target="../media/image205.png"/><Relationship Id="rId4" Type="http://schemas.openxmlformats.org/officeDocument/2006/relationships/image" Target="../media/image204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0.emf"/><Relationship Id="rId4" Type="http://schemas.openxmlformats.org/officeDocument/2006/relationships/image" Target="../media/image209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4.png"/><Relationship Id="rId4" Type="http://schemas.openxmlformats.org/officeDocument/2006/relationships/image" Target="../media/image213.pn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0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>
            <a:extLst>
              <a:ext uri="{FF2B5EF4-FFF2-40B4-BE49-F238E27FC236}">
                <a16:creationId xmlns:a16="http://schemas.microsoft.com/office/drawing/2014/main" id="{1A46D14B-784F-4555-9678-457EDAE66B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015" y="485484"/>
            <a:ext cx="2831940" cy="52035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1CC5F07-5256-4691-97FF-2CDDBB239479}"/>
              </a:ext>
            </a:extLst>
          </p:cNvPr>
          <p:cNvSpPr txBox="1"/>
          <p:nvPr/>
        </p:nvSpPr>
        <p:spPr>
          <a:xfrm>
            <a:off x="1013336" y="1708657"/>
            <a:ext cx="6010043" cy="27002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高数期末复习</a:t>
            </a:r>
            <a:r>
              <a:rPr kumimoji="0" lang="zh-CN" altLang="en-US" sz="60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rPr>
              <a:t>致诚书院学长学姐带飞课</a:t>
            </a:r>
            <a:endParaRPr kumimoji="0" lang="en-US" altLang="zh-CN" sz="32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spc="300" dirty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Chapter 14,</a:t>
            </a:r>
            <a:r>
              <a:rPr lang="zh-CN" altLang="en-US" sz="2000" spc="300" dirty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 </a:t>
            </a:r>
            <a:r>
              <a:rPr lang="en-US" altLang="zh-CN" sz="2000" spc="300" dirty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Chapter 15</a:t>
            </a:r>
            <a:r>
              <a:rPr lang="zh-CN" altLang="en-US" sz="2000" spc="300" dirty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，</a:t>
            </a:r>
            <a:r>
              <a:rPr lang="en-US" altLang="zh-CN" sz="2000" spc="300" dirty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 Chapter 16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01A5A4-38A1-453D-B59C-46BF1655E02A}"/>
              </a:ext>
            </a:extLst>
          </p:cNvPr>
          <p:cNvSpPr txBox="1"/>
          <p:nvPr/>
        </p:nvSpPr>
        <p:spPr>
          <a:xfrm>
            <a:off x="1032534" y="4995454"/>
            <a:ext cx="4762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spc="300" dirty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By </a:t>
            </a:r>
            <a:r>
              <a:rPr lang="zh-CN" altLang="en-US" sz="1400" spc="300" dirty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苏宇鹏 </a:t>
            </a:r>
            <a:r>
              <a:rPr lang="en-US" altLang="zh-CN" sz="1400" spc="300" dirty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5.28 2023</a:t>
            </a:r>
            <a:endParaRPr kumimoji="0" lang="zh-CN" altLang="en-US" sz="14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1574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高数带飞课 苏宇鹏 </a:t>
            </a:r>
            <a:r>
              <a:rPr lang="en-US" altLang="zh-CN" dirty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Ch12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向量与空间几何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向量运算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加和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数乘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点乘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叉乘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空间几何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4806" y="2256825"/>
            <a:ext cx="9892685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Ch13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向量函数与空间运动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向量函数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曲率圆方程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4805" y="3226321"/>
            <a:ext cx="104223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Ch14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</a:t>
            </a:r>
            <a:endParaRPr lang="en-US" altLang="zh-CN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一阶偏导数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二阶偏导数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充分条件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充要条件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链式法则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隐函数微分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方向导数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等高线切线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曲面的切平面）</a:t>
            </a:r>
            <a:endParaRPr lang="en-US" altLang="zh-CN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多元函数全微分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多元函数极值点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一阶判别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二阶判别</a:t>
            </a:r>
            <a:endParaRPr lang="en-US" altLang="zh-CN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拉格朗日乘数法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二元函数泰勒展开</a:t>
            </a:r>
            <a:endParaRPr lang="en-US" altLang="zh-CN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8549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高数带飞课 苏宇鹏 </a:t>
            </a:r>
            <a:r>
              <a:rPr lang="en-US" altLang="zh-CN" dirty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Ch15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多重积分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算面积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柱坐标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球坐标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算体积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换元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雅可比行列式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求质心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重心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一次矩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4806" y="2603074"/>
            <a:ext cx="1030105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Ch16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向量场积分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一重积分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线积分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一型曲线积分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(Wall) 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二型曲线积分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(Work)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特殊的二型曲线积分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 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 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保守场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势函数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全微分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(exact)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(curl))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散度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(divergence)) 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格林公式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面积分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一型曲面积分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二型曲面积分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斯托克斯公式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梯度的旋度为零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体积分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高斯公式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旋度的散度为零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6184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1C7F09F5-DDEF-4959-AD4B-F112F5A7F22C}"/>
              </a:ext>
            </a:extLst>
          </p:cNvPr>
          <p:cNvSpPr/>
          <p:nvPr/>
        </p:nvSpPr>
        <p:spPr>
          <a:xfrm>
            <a:off x="10171173" y="0"/>
            <a:ext cx="2020826" cy="6858000"/>
          </a:xfrm>
          <a:custGeom>
            <a:avLst/>
            <a:gdLst>
              <a:gd name="connsiteX0" fmla="*/ 108571 w 2020826"/>
              <a:gd name="connsiteY0" fmla="*/ 0 h 6858000"/>
              <a:gd name="connsiteX1" fmla="*/ 2020826 w 2020826"/>
              <a:gd name="connsiteY1" fmla="*/ 0 h 6858000"/>
              <a:gd name="connsiteX2" fmla="*/ 2020826 w 2020826"/>
              <a:gd name="connsiteY2" fmla="*/ 6858000 h 6858000"/>
              <a:gd name="connsiteX3" fmla="*/ 0 w 2020826"/>
              <a:gd name="connsiteY3" fmla="*/ 6858000 h 6858000"/>
              <a:gd name="connsiteX4" fmla="*/ 325674 w 2020826"/>
              <a:gd name="connsiteY4" fmla="*/ 5547360 h 6858000"/>
              <a:gd name="connsiteX5" fmla="*/ 1483914 w 2020826"/>
              <a:gd name="connsiteY5" fmla="*/ 5288280 h 6858000"/>
              <a:gd name="connsiteX6" fmla="*/ 920034 w 2020826"/>
              <a:gd name="connsiteY6" fmla="*/ 4130040 h 6858000"/>
              <a:gd name="connsiteX7" fmla="*/ 539034 w 2020826"/>
              <a:gd name="connsiteY7" fmla="*/ 1630680 h 6858000"/>
              <a:gd name="connsiteX8" fmla="*/ 1285794 w 2020826"/>
              <a:gd name="connsiteY8" fmla="*/ 5638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0826" h="6858000">
                <a:moveTo>
                  <a:pt x="108571" y="0"/>
                </a:moveTo>
                <a:lnTo>
                  <a:pt x="2020826" y="0"/>
                </a:lnTo>
                <a:lnTo>
                  <a:pt x="2020826" y="6858000"/>
                </a:lnTo>
                <a:lnTo>
                  <a:pt x="0" y="6858000"/>
                </a:lnTo>
                <a:lnTo>
                  <a:pt x="325674" y="5547360"/>
                </a:lnTo>
                <a:lnTo>
                  <a:pt x="1483914" y="5288280"/>
                </a:lnTo>
                <a:lnTo>
                  <a:pt x="920034" y="4130040"/>
                </a:lnTo>
                <a:lnTo>
                  <a:pt x="539034" y="1630680"/>
                </a:lnTo>
                <a:lnTo>
                  <a:pt x="1285794" y="5638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41769EFA-D4C0-40D1-9587-DA975697F139}"/>
              </a:ext>
            </a:extLst>
          </p:cNvPr>
          <p:cNvSpPr/>
          <p:nvPr/>
        </p:nvSpPr>
        <p:spPr>
          <a:xfrm>
            <a:off x="1" y="0"/>
            <a:ext cx="1978765" cy="6858000"/>
          </a:xfrm>
          <a:custGeom>
            <a:avLst/>
            <a:gdLst>
              <a:gd name="connsiteX0" fmla="*/ 0 w 1978765"/>
              <a:gd name="connsiteY0" fmla="*/ 0 h 6858000"/>
              <a:gd name="connsiteX1" fmla="*/ 1978765 w 1978765"/>
              <a:gd name="connsiteY1" fmla="*/ 0 h 6858000"/>
              <a:gd name="connsiteX2" fmla="*/ 1765755 w 1978765"/>
              <a:gd name="connsiteY2" fmla="*/ 1158240 h 6858000"/>
              <a:gd name="connsiteX3" fmla="*/ 1095195 w 1978765"/>
              <a:gd name="connsiteY3" fmla="*/ 1402080 h 6858000"/>
              <a:gd name="connsiteX4" fmla="*/ 394155 w 1978765"/>
              <a:gd name="connsiteY4" fmla="*/ 2118360 h 6858000"/>
              <a:gd name="connsiteX5" fmla="*/ 1232355 w 1978765"/>
              <a:gd name="connsiteY5" fmla="*/ 3429000 h 6858000"/>
              <a:gd name="connsiteX6" fmla="*/ 1811475 w 1978765"/>
              <a:gd name="connsiteY6" fmla="*/ 3810000 h 6858000"/>
              <a:gd name="connsiteX7" fmla="*/ 1491435 w 1978765"/>
              <a:gd name="connsiteY7" fmla="*/ 6096000 h 6858000"/>
              <a:gd name="connsiteX8" fmla="*/ 1647507 w 1978765"/>
              <a:gd name="connsiteY8" fmla="*/ 6858000 h 6858000"/>
              <a:gd name="connsiteX9" fmla="*/ 0 w 197876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78765" h="6858000">
                <a:moveTo>
                  <a:pt x="0" y="0"/>
                </a:moveTo>
                <a:lnTo>
                  <a:pt x="1978765" y="0"/>
                </a:lnTo>
                <a:lnTo>
                  <a:pt x="1765755" y="1158240"/>
                </a:lnTo>
                <a:lnTo>
                  <a:pt x="1095195" y="1402080"/>
                </a:lnTo>
                <a:lnTo>
                  <a:pt x="394155" y="2118360"/>
                </a:lnTo>
                <a:lnTo>
                  <a:pt x="1232355" y="3429000"/>
                </a:lnTo>
                <a:lnTo>
                  <a:pt x="1811475" y="3810000"/>
                </a:lnTo>
                <a:lnTo>
                  <a:pt x="1491435" y="6096000"/>
                </a:lnTo>
                <a:lnTo>
                  <a:pt x="164750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pic>
        <p:nvPicPr>
          <p:cNvPr id="32" name="图形 31">
            <a:extLst>
              <a:ext uri="{FF2B5EF4-FFF2-40B4-BE49-F238E27FC236}">
                <a16:creationId xmlns:a16="http://schemas.microsoft.com/office/drawing/2014/main" id="{C243843B-3B54-432C-95C1-88BA29BB5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1692"/>
          <a:stretch>
            <a:fillRect/>
          </a:stretch>
        </p:blipFill>
        <p:spPr>
          <a:xfrm rot="3632646">
            <a:off x="7261466" y="544830"/>
            <a:ext cx="6859885" cy="6181200"/>
          </a:xfrm>
          <a:custGeom>
            <a:avLst/>
            <a:gdLst>
              <a:gd name="connsiteX0" fmla="*/ 0 w 6859885"/>
              <a:gd name="connsiteY0" fmla="*/ 1781723 h 6181200"/>
              <a:gd name="connsiteX1" fmla="*/ 1006241 w 6859885"/>
              <a:gd name="connsiteY1" fmla="*/ 0 h 6181200"/>
              <a:gd name="connsiteX2" fmla="*/ 6859885 w 6859885"/>
              <a:gd name="connsiteY2" fmla="*/ 3305888 h 6181200"/>
              <a:gd name="connsiteX3" fmla="*/ 6859885 w 6859885"/>
              <a:gd name="connsiteY3" fmla="*/ 3581120 h 6181200"/>
              <a:gd name="connsiteX4" fmla="*/ 5391471 w 6859885"/>
              <a:gd name="connsiteY4" fmla="*/ 6181200 h 6181200"/>
              <a:gd name="connsiteX5" fmla="*/ 0 w 6859885"/>
              <a:gd name="connsiteY5" fmla="*/ 6181200 h 61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59885" h="6181200">
                <a:moveTo>
                  <a:pt x="0" y="1781723"/>
                </a:moveTo>
                <a:lnTo>
                  <a:pt x="1006241" y="0"/>
                </a:lnTo>
                <a:lnTo>
                  <a:pt x="6859885" y="3305888"/>
                </a:lnTo>
                <a:lnTo>
                  <a:pt x="6859885" y="3581120"/>
                </a:lnTo>
                <a:lnTo>
                  <a:pt x="5391471" y="6181200"/>
                </a:lnTo>
                <a:lnTo>
                  <a:pt x="0" y="6181200"/>
                </a:lnTo>
                <a:close/>
              </a:path>
            </a:pathLst>
          </a:cu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3EBCFBD0-17C7-4754-9380-82E4CA0EB4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7486"/>
          <a:stretch>
            <a:fillRect/>
          </a:stretch>
        </p:blipFill>
        <p:spPr>
          <a:xfrm rot="737125">
            <a:off x="-3613042" y="-848623"/>
            <a:ext cx="6759429" cy="9238303"/>
          </a:xfrm>
          <a:custGeom>
            <a:avLst/>
            <a:gdLst>
              <a:gd name="connsiteX0" fmla="*/ 0 w 6759429"/>
              <a:gd name="connsiteY0" fmla="*/ 6782788 h 9238303"/>
              <a:gd name="connsiteX1" fmla="*/ 534734 w 6759429"/>
              <a:gd name="connsiteY1" fmla="*/ 9238303 h 9238303"/>
              <a:gd name="connsiteX2" fmla="*/ 0 w 6759429"/>
              <a:gd name="connsiteY2" fmla="*/ 9238303 h 9238303"/>
              <a:gd name="connsiteX3" fmla="*/ 2827062 w 6759429"/>
              <a:gd name="connsiteY3" fmla="*/ 856346 h 9238303"/>
              <a:gd name="connsiteX4" fmla="*/ 6759429 w 6759429"/>
              <a:gd name="connsiteY4" fmla="*/ 0 h 9238303"/>
              <a:gd name="connsiteX5" fmla="*/ 6759429 w 6759429"/>
              <a:gd name="connsiteY5" fmla="*/ 7016773 h 9238303"/>
              <a:gd name="connsiteX6" fmla="*/ 4285912 w 6759429"/>
              <a:gd name="connsiteY6" fmla="*/ 7555427 h 923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59429" h="9238303">
                <a:moveTo>
                  <a:pt x="0" y="6782788"/>
                </a:moveTo>
                <a:lnTo>
                  <a:pt x="534734" y="9238303"/>
                </a:lnTo>
                <a:lnTo>
                  <a:pt x="0" y="9238303"/>
                </a:lnTo>
                <a:close/>
                <a:moveTo>
                  <a:pt x="2827062" y="856346"/>
                </a:moveTo>
                <a:lnTo>
                  <a:pt x="6759429" y="0"/>
                </a:lnTo>
                <a:lnTo>
                  <a:pt x="6759429" y="7016773"/>
                </a:lnTo>
                <a:lnTo>
                  <a:pt x="4285912" y="7555427"/>
                </a:lnTo>
                <a:close/>
              </a:path>
            </a:pathLst>
          </a:cu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1A46D14B-784F-4555-9678-457EDAE66B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0030" y="485484"/>
            <a:ext cx="2831940" cy="520356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B5E6D88A-4AE7-4D47-A542-489C55D14EE5}"/>
              </a:ext>
            </a:extLst>
          </p:cNvPr>
          <p:cNvGrpSpPr/>
          <p:nvPr/>
        </p:nvGrpSpPr>
        <p:grpSpPr>
          <a:xfrm>
            <a:off x="3619596" y="1984494"/>
            <a:ext cx="5017720" cy="2293865"/>
            <a:chOff x="-191141" y="2289294"/>
            <a:chExt cx="5017720" cy="2293865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F3BCAF4-D11F-4A3D-AB13-4CE6658F4E6E}"/>
                </a:ext>
              </a:extLst>
            </p:cNvPr>
            <p:cNvSpPr txBox="1"/>
            <p:nvPr/>
          </p:nvSpPr>
          <p:spPr>
            <a:xfrm>
              <a:off x="-191141" y="3567496"/>
              <a:ext cx="501772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0" b="0" i="0" u="none" strike="noStrike" kern="1200" cap="none" spc="300" normalizeH="0" baseline="0" noProof="0" dirty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cs"/>
                </a:rPr>
                <a:t>偏导数 </a:t>
              </a:r>
              <a:r>
                <a:rPr lang="en-US" altLang="zh-CN" sz="6000" spc="300" dirty="0">
                  <a:solidFill>
                    <a:srgbClr val="F2F2F2">
                      <a:lumMod val="25000"/>
                    </a:srgb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C</a:t>
              </a:r>
              <a:r>
                <a:rPr kumimoji="0" lang="en-US" altLang="zh-CN" sz="6000" b="0" i="0" u="none" strike="noStrike" kern="1200" cap="none" spc="300" normalizeH="0" baseline="0" noProof="0" dirty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cs"/>
                </a:rPr>
                <a:t>ont.</a:t>
              </a:r>
              <a:endParaRPr kumimoji="0" lang="zh-CN" altLang="en-US" sz="60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1D4DCA9-4813-4112-BD9C-4EAA5942E610}"/>
                </a:ext>
              </a:extLst>
            </p:cNvPr>
            <p:cNvSpPr/>
            <p:nvPr/>
          </p:nvSpPr>
          <p:spPr>
            <a:xfrm>
              <a:off x="472910" y="2289294"/>
              <a:ext cx="3624711" cy="101566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EBA123"/>
                      </a:gs>
                      <a:gs pos="100000">
                        <a:srgbClr val="E6551A"/>
                      </a:gs>
                    </a:gsLst>
                    <a:lin ang="2700000" scaled="0"/>
                  </a:gra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Chapter14</a:t>
              </a:r>
              <a:endParaRPr kumimoji="0" lang="zh-CN" altLang="en-US" sz="6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BA123"/>
                    </a:gs>
                    <a:gs pos="100000">
                      <a:srgbClr val="E6551A"/>
                    </a:gs>
                  </a:gsLst>
                  <a:lin ang="2700000" scaled="0"/>
                </a:gra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7714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Chapter12 Chapter13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多元函数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5506D95-A993-F955-4C93-5CD400CBD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772" y="1473646"/>
            <a:ext cx="8516453" cy="327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108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Chapter12 Chapter13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二元函数的点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5A7DF83-D19A-2263-2FD1-C754E8F93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00" y="1268409"/>
            <a:ext cx="7409225" cy="254109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CC33CF6-93D5-29DC-2E58-16E65EFD2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262" y="1444551"/>
            <a:ext cx="1704400" cy="218880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7DDB316-FB70-6731-BFE0-8DABD4B7C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0662" y="1268409"/>
            <a:ext cx="1713571" cy="209686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9A147BE-38B1-85D2-684A-2C1D4DB49B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461" y="5348580"/>
            <a:ext cx="8219139" cy="88361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AB881F2-1541-368D-8252-EE5D84E803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4408" y="3441372"/>
            <a:ext cx="6354204" cy="1928557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959282CF-A566-274E-837D-9801D9D71613}"/>
              </a:ext>
            </a:extLst>
          </p:cNvPr>
          <p:cNvSpPr txBox="1"/>
          <p:nvPr/>
        </p:nvSpPr>
        <p:spPr>
          <a:xfrm>
            <a:off x="1745745" y="3961585"/>
            <a:ext cx="4084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内点； 边界点； 开放； 封闭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2F0EAD0-EAC7-AE4D-D47D-7632F5675974}"/>
              </a:ext>
            </a:extLst>
          </p:cNvPr>
          <p:cNvSpPr txBox="1"/>
          <p:nvPr/>
        </p:nvSpPr>
        <p:spPr>
          <a:xfrm>
            <a:off x="2815845" y="4948006"/>
            <a:ext cx="1944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有界 </a:t>
            </a:r>
            <a:r>
              <a:rPr lang="en-US" altLang="zh-CN" sz="2400" dirty="0"/>
              <a:t>VS. </a:t>
            </a:r>
            <a:r>
              <a:rPr lang="zh-CN" altLang="en-US" sz="2400" dirty="0"/>
              <a:t>无界</a:t>
            </a:r>
          </a:p>
        </p:txBody>
      </p:sp>
    </p:spTree>
    <p:extLst>
      <p:ext uri="{BB962C8B-B14F-4D97-AF65-F5344CB8AC3E}">
        <p14:creationId xmlns:p14="http://schemas.microsoft.com/office/powerpoint/2010/main" val="3827172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Chapter12 Chapter13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等高线与曲面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1E159E6-650F-A957-21A3-0063F66D3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1" y="1241146"/>
            <a:ext cx="10239375" cy="18002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2C09B03-F1AE-8B75-BDDC-683347EE4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936694"/>
            <a:ext cx="3741061" cy="319739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C85CEEF-77DF-F284-4C9A-E1B31384F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1235" y="2602860"/>
            <a:ext cx="2893520" cy="364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56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Chapter12 Chapter13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多元函数的极限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14CAD91-C6A2-D139-6E4A-E7136F68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839" y="1142720"/>
            <a:ext cx="8868319" cy="292307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CC95250-047C-8522-E927-477ECD329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302" y="4065797"/>
            <a:ext cx="4701391" cy="217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55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Chapter12 Chapter13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5186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多元函数极限运算法则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DC0354F-B08F-CE65-AE07-21025F614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0" y="1142720"/>
            <a:ext cx="7252520" cy="521363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EE7688C-E68D-5693-9387-705479F1E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840" y="1731373"/>
            <a:ext cx="3124200" cy="8001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0F3F045-54F0-A474-E331-120A6E4CE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825" y="3177804"/>
            <a:ext cx="4067175" cy="82867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03B20E8-CFFC-35E7-8CA1-8B3F8E6B0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6940" y="4527558"/>
            <a:ext cx="3581400" cy="109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858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Chapter12 Chapter13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4185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多元函数的连续性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5AE1CAB-082B-C02E-F2EC-822BB3D2B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02" y="1179383"/>
            <a:ext cx="7250492" cy="224387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817B87F-1C02-19BB-AD7A-F71BA5597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102" y="3293028"/>
            <a:ext cx="7134498" cy="99071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2D21E60-8E67-A07B-01D0-CAEA4E25F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212" y="4153117"/>
            <a:ext cx="6879771" cy="61510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43B289D-93FB-5071-3C61-587D65F59F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0108" y="4768218"/>
            <a:ext cx="7250492" cy="133935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80C343A1-BF93-5015-EE36-686244608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3256" y="1896002"/>
            <a:ext cx="4328027" cy="114825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9BD2BAC9-7C42-81FC-C92A-4B28EAA106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3698" y="3342885"/>
            <a:ext cx="2305050" cy="80962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903D8953-4862-3C1D-6981-D9C90FC23381}"/>
              </a:ext>
            </a:extLst>
          </p:cNvPr>
          <p:cNvSpPr txBox="1"/>
          <p:nvPr/>
        </p:nvSpPr>
        <p:spPr>
          <a:xfrm>
            <a:off x="9553303" y="45373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排除法！</a:t>
            </a:r>
          </a:p>
        </p:txBody>
      </p:sp>
    </p:spTree>
    <p:extLst>
      <p:ext uri="{BB962C8B-B14F-4D97-AF65-F5344CB8AC3E}">
        <p14:creationId xmlns:p14="http://schemas.microsoft.com/office/powerpoint/2010/main" val="263240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高数带飞课 苏宇鹏 </a:t>
            </a:r>
            <a:r>
              <a:rPr lang="en-US" altLang="zh-CN" dirty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Ch12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向量与空间几何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向量运算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加和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数乘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点乘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叉乘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空间几何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4806" y="2256825"/>
            <a:ext cx="9892685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Ch13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向量函数与空间运动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向量函数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曲率圆方程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4805" y="3226321"/>
            <a:ext cx="104223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Ch14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</a:t>
            </a:r>
            <a:endParaRPr lang="en-US" altLang="zh-CN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一阶偏导数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二阶偏导数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充分条件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充要条件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链式法则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隐函数微分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方向导数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等高线切线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曲面的切平面）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多元函数全微分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多元函数极值点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一阶判别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二阶判别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拉格朗日乘数法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二元函数泰勒展开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090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268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一阶偏导数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7238A8E-107F-A240-39B7-B126D1225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870" y="1186197"/>
            <a:ext cx="8070260" cy="190642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F8DE39D-82DF-D8F1-6EC8-69B38D56C5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73"/>
          <a:stretch/>
        </p:blipFill>
        <p:spPr>
          <a:xfrm>
            <a:off x="1992490" y="2980900"/>
            <a:ext cx="8207020" cy="205265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9F0F054-C9F9-82B4-E033-354126D8E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915" y="4799767"/>
            <a:ext cx="4706992" cy="132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43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268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二阶偏导数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AACD91E-B9B9-6951-A662-1E6DB5695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243" y="1284996"/>
            <a:ext cx="7224357" cy="317489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6607448-C6E2-764D-7601-52E86A8BF754}"/>
              </a:ext>
            </a:extLst>
          </p:cNvPr>
          <p:cNvSpPr txBox="1"/>
          <p:nvPr/>
        </p:nvSpPr>
        <p:spPr>
          <a:xfrm>
            <a:off x="6579275" y="3767395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注意运算顺序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78CAE6A-7CF0-5542-643F-16AF91BE6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693" y="4479799"/>
            <a:ext cx="8861788" cy="173382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9EF9AAD-9690-27F7-41BD-82D3A4349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0627" y="1782620"/>
            <a:ext cx="4310505" cy="110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68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高数带飞课 苏宇鹏 </a:t>
            </a:r>
            <a:r>
              <a:rPr lang="en-US" altLang="zh-CN" dirty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Ch12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向量与空间几何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向量运算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加和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数乘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点乘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叉乘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空间几何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4806" y="2256825"/>
            <a:ext cx="9892685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Ch13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向量函数与空间运动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向量函数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曲率圆方程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4805" y="3226321"/>
            <a:ext cx="104223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Ch14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</a:t>
            </a:r>
            <a:endParaRPr lang="en-US" altLang="zh-CN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一阶偏导数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二阶偏导数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充分条件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充要条件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链式法则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隐函数微分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方向导数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等高线切线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曲面的切平面）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多元函数全微分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多元函数极值点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一阶判别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二阶判别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拉格朗日乘数法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二元函数泰勒展开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7319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4685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多元函数可微的定义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B158AB-E4DD-7A0C-ADE6-E7AD2DC14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336" y="1321741"/>
            <a:ext cx="9466652" cy="2427794"/>
          </a:xfrm>
          <a:prstGeom prst="rect">
            <a:avLst/>
          </a:prstGeom>
        </p:spPr>
      </p:pic>
      <p:pic>
        <p:nvPicPr>
          <p:cNvPr id="8" name="图片 7" descr="图形用户界面, 文本, 电子邮件&#10;&#10;描述已自动生成">
            <a:extLst>
              <a:ext uri="{FF2B5EF4-FFF2-40B4-BE49-F238E27FC236}">
                <a16:creationId xmlns:a16="http://schemas.microsoft.com/office/drawing/2014/main" id="{D18CC8C2-1833-B86F-3D6B-34411481A1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336" y="3640259"/>
            <a:ext cx="9371509" cy="242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472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A7883BA-F80C-27E7-4C24-C969962B1731}"/>
              </a:ext>
            </a:extLst>
          </p:cNvPr>
          <p:cNvSpPr txBox="1"/>
          <p:nvPr/>
        </p:nvSpPr>
        <p:spPr>
          <a:xfrm>
            <a:off x="602645" y="496389"/>
            <a:ext cx="58352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多元函数可微的充分条件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33AC8FC-AAE1-032F-3DB1-1A1CD86F1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778" y="1142720"/>
            <a:ext cx="8324441" cy="330654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C8DCFDB-5D07-8E8F-5066-3D97B2969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778" y="4449265"/>
            <a:ext cx="8492746" cy="11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716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56861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多元函数可微的必要条件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D6385D4-C2F5-A702-7FC6-72F2BCF06F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8"/>
          <a:stretch/>
        </p:blipFill>
        <p:spPr>
          <a:xfrm>
            <a:off x="1050981" y="1491047"/>
            <a:ext cx="10090036" cy="11131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46445E4-F579-70D0-3EC2-B9068326B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61" y="3061330"/>
            <a:ext cx="6922965" cy="271826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2A5E54C-5C2F-78A0-5C00-7CEDA2B468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7154" y="2892552"/>
            <a:ext cx="4751822" cy="305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491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6D121EF-2AA1-B84E-73B4-DE57E77C74FB}"/>
              </a:ext>
            </a:extLst>
          </p:cNvPr>
          <p:cNvSpPr txBox="1"/>
          <p:nvPr/>
        </p:nvSpPr>
        <p:spPr>
          <a:xfrm>
            <a:off x="602645" y="496389"/>
            <a:ext cx="5934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多元函数可微的充要条件</a:t>
            </a:r>
            <a:r>
              <a:rPr lang="en-US" altLang="zh-CN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*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A0AA8F6-D353-4481-4B5D-9C4EB88FD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50" y="1514091"/>
            <a:ext cx="8572900" cy="191490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B7C4E68-F54A-5369-D084-C27E68A57620}"/>
              </a:ext>
            </a:extLst>
          </p:cNvPr>
          <p:cNvSpPr txBox="1"/>
          <p:nvPr/>
        </p:nvSpPr>
        <p:spPr>
          <a:xfrm>
            <a:off x="3464508" y="3429000"/>
            <a:ext cx="5262979" cy="2245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总结：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充分条件：偏导数存在且连续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必要条件：导数连续且偏导数存在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充要条件：满足上述条件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7884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高数带飞课 苏宇鹏 </a:t>
            </a:r>
            <a:r>
              <a:rPr lang="en-US" altLang="zh-CN" dirty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Ch12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向量与空间几何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向量运算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加和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数乘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点乘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叉乘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空间几何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4806" y="2256825"/>
            <a:ext cx="9892685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Ch13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向量函数与空间运动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向量函数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曲率圆方程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4805" y="3226321"/>
            <a:ext cx="104223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Ch14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</a:t>
            </a:r>
            <a:endParaRPr lang="en-US" altLang="zh-CN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一阶偏导数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二阶偏导数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充分条件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充要条件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链式法则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隐函数微分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方向导数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等高线切线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曲面的切平面）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多元函数全微分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多元函数极值点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一阶判别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二阶判别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拉格朗日乘数法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二元函数泰勒展开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6696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4685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多元函数的链式法则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627FA0C-F71C-B714-E064-A037551FC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06433"/>
            <a:ext cx="7213147" cy="268489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9A0019D-6ED9-2B01-FDE0-572105DF4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3078" y="1142720"/>
            <a:ext cx="1779121" cy="240327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AA041C9-FD28-545A-F435-BDF009E3F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198" y="3145222"/>
            <a:ext cx="2536758" cy="74610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39D7C4D-3C93-86F8-BF28-AEF084E7FDF2}"/>
              </a:ext>
            </a:extLst>
          </p:cNvPr>
          <p:cNvSpPr txBox="1"/>
          <p:nvPr/>
        </p:nvSpPr>
        <p:spPr>
          <a:xfrm>
            <a:off x="5633756" y="287216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更经典的形式：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D7F526E-9167-92F8-93C0-A5E970B1F7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046353"/>
            <a:ext cx="7495903" cy="172174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CC52C39-264C-9737-E64F-9F2F319C8F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6791" y="3891327"/>
            <a:ext cx="1915408" cy="2387239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9C333930-3296-508E-7DDD-B7F59CE80E21}"/>
              </a:ext>
            </a:extLst>
          </p:cNvPr>
          <p:cNvSpPr txBox="1"/>
          <p:nvPr/>
        </p:nvSpPr>
        <p:spPr>
          <a:xfrm>
            <a:off x="5288543" y="712254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</a:rPr>
              <a:t>只有一个独立变量的情况</a:t>
            </a:r>
          </a:p>
        </p:txBody>
      </p:sp>
    </p:spTree>
    <p:extLst>
      <p:ext uri="{BB962C8B-B14F-4D97-AF65-F5344CB8AC3E}">
        <p14:creationId xmlns:p14="http://schemas.microsoft.com/office/powerpoint/2010/main" val="35007881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4685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多元函数的链式法则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BF5022A-1671-7124-4E95-C81D88E275E9}"/>
              </a:ext>
            </a:extLst>
          </p:cNvPr>
          <p:cNvSpPr txBox="1"/>
          <p:nvPr/>
        </p:nvSpPr>
        <p:spPr>
          <a:xfrm>
            <a:off x="5288543" y="712254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</a:rPr>
              <a:t>有多个独立变量的情况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5B97B7F-543D-9B51-EC74-E4CBC82A2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34325"/>
            <a:ext cx="7313023" cy="253038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7D3F3E3-C500-F6EF-2115-FE80AC247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723" y="3858762"/>
            <a:ext cx="4690256" cy="2286984"/>
          </a:xfrm>
          <a:prstGeom prst="rect">
            <a:avLst/>
          </a:prstGeom>
        </p:spPr>
      </p:pic>
      <p:pic>
        <p:nvPicPr>
          <p:cNvPr id="17" name="图片 16" descr="文本, 信件&#10;&#10;描述已自动生成">
            <a:extLst>
              <a:ext uri="{FF2B5EF4-FFF2-40B4-BE49-F238E27FC236}">
                <a16:creationId xmlns:a16="http://schemas.microsoft.com/office/drawing/2014/main" id="{1FF6391C-9A6A-E7D4-5386-7C5F6EFB67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491" y="2373744"/>
            <a:ext cx="5266509" cy="2509044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CA14DE01-DBCA-3627-C403-ADC94DE2844B}"/>
              </a:ext>
            </a:extLst>
          </p:cNvPr>
          <p:cNvSpPr/>
          <p:nvPr/>
        </p:nvSpPr>
        <p:spPr>
          <a:xfrm>
            <a:off x="8804366" y="3858762"/>
            <a:ext cx="513805" cy="6958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75A8F95-1A95-1A9B-D5CD-A198FB0E75D6}"/>
              </a:ext>
            </a:extLst>
          </p:cNvPr>
          <p:cNvSpPr/>
          <p:nvPr/>
        </p:nvSpPr>
        <p:spPr>
          <a:xfrm>
            <a:off x="11244943" y="3858762"/>
            <a:ext cx="513805" cy="6958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6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90E0158-9C46-D17E-C565-D7099BEB7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45" y="3496175"/>
            <a:ext cx="9248591" cy="226783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C1C90A0-2BD4-5C6B-76A3-7A9928FFD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397" y="5603856"/>
            <a:ext cx="4087314" cy="931401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隐函数微分公式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4C5F56C-7FC4-7999-6E5B-6B2752652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470" y="1276184"/>
            <a:ext cx="8888730" cy="117669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1AA1224-BD08-41DA-91B5-776CE2BA8E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42" y="2400912"/>
            <a:ext cx="4581798" cy="46581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AB72AD0-10D9-25E8-C5FF-72205EA25B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1121" y="2255588"/>
            <a:ext cx="2897777" cy="142301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F776BC6-97DF-2E50-F13B-8F5F3188B6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0010" y="4879119"/>
            <a:ext cx="4781511" cy="70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66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23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268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偏导数习题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86FB3BB-5D0B-0174-A757-F4715CBA4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298" y="4144451"/>
            <a:ext cx="8841402" cy="177560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5C4D29F-C983-F7FC-4320-AD336265C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86" y="1540065"/>
            <a:ext cx="5843996" cy="220704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3A811F3-BDE8-15B7-E7CC-F487237C3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9210" y="1632338"/>
            <a:ext cx="5573487" cy="220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3359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高数带飞课 苏宇鹏 </a:t>
            </a:r>
            <a:r>
              <a:rPr lang="en-US" altLang="zh-CN" dirty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24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Ch12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向量与空间几何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向量运算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加和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数乘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点乘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叉乘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空间几何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4806" y="2256825"/>
            <a:ext cx="9892685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Ch13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向量函数与空间运动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向量函数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曲率圆方程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4805" y="3226321"/>
            <a:ext cx="104223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Ch14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</a:t>
            </a:r>
            <a:endParaRPr lang="en-US" altLang="zh-CN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一阶偏导数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二阶偏导数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充分条件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充要条件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链式法则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隐函数微分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方向导数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等高线切线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曲面的切平面）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多元函数全微分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多元函数极值点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一阶判别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二阶判别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拉格朗日乘数法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二元函数泰勒展开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6166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方向导数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的定义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0E39C52-4E35-78F6-AA00-A2B3F6ED8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793" y="1340243"/>
            <a:ext cx="8692651" cy="225960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C44E839-15A2-01AD-8EF7-22501C51A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095" y="3429000"/>
            <a:ext cx="8841785" cy="196839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1AC25842-FBB8-9B9C-75E5-FA14292CF45B}"/>
              </a:ext>
            </a:extLst>
          </p:cNvPr>
          <p:cNvSpPr/>
          <p:nvPr/>
        </p:nvSpPr>
        <p:spPr>
          <a:xfrm>
            <a:off x="2148840" y="4876801"/>
            <a:ext cx="2017808" cy="35705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E07904-27C6-4DFA-A994-10A30E85588E}"/>
              </a:ext>
            </a:extLst>
          </p:cNvPr>
          <p:cNvSpPr/>
          <p:nvPr/>
        </p:nvSpPr>
        <p:spPr>
          <a:xfrm>
            <a:off x="9468395" y="1460603"/>
            <a:ext cx="513805" cy="4030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7E1EE8-40E0-FE08-E32F-338F273D5EEF}"/>
              </a:ext>
            </a:extLst>
          </p:cNvPr>
          <p:cNvSpPr/>
          <p:nvPr/>
        </p:nvSpPr>
        <p:spPr>
          <a:xfrm>
            <a:off x="2009095" y="1846218"/>
            <a:ext cx="707979" cy="3238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903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26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268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梯度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的定义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1607845-30AC-0B26-CD8C-45DB33ABD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360" y="1366965"/>
            <a:ext cx="8230689" cy="210356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E0B589F-826B-576D-71AB-9288C85D4C3E}"/>
              </a:ext>
            </a:extLst>
          </p:cNvPr>
          <p:cNvSpPr txBox="1"/>
          <p:nvPr/>
        </p:nvSpPr>
        <p:spPr>
          <a:xfrm>
            <a:off x="3945023" y="5260202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“一个标量的梯度是一个矢量”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0E09272-551E-D570-F4F5-DF1C1EC23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2" y="3470533"/>
            <a:ext cx="8230689" cy="145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57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27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梯度的运算法则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9E31C24-D4C2-582C-4228-080911C8E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761" y="1432288"/>
            <a:ext cx="9134475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7102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28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5186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方向导数与梯度的关系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EB8ED48-82E1-E2F3-11C1-EAEE13191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109" y="1084764"/>
            <a:ext cx="7366091" cy="253046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F75CDF5-E379-F32E-267D-CE715A7C2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165" y="3615233"/>
            <a:ext cx="8406082" cy="215800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483E5E6-E4A2-5327-2EDC-065637A51473}"/>
              </a:ext>
            </a:extLst>
          </p:cNvPr>
          <p:cNvSpPr txBox="1"/>
          <p:nvPr/>
        </p:nvSpPr>
        <p:spPr>
          <a:xfrm>
            <a:off x="7427592" y="5381897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这里必须为单位向量</a:t>
            </a:r>
          </a:p>
        </p:txBody>
      </p:sp>
    </p:spTree>
    <p:extLst>
      <p:ext uri="{BB962C8B-B14F-4D97-AF65-F5344CB8AC3E}">
        <p14:creationId xmlns:p14="http://schemas.microsoft.com/office/powerpoint/2010/main" val="219986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29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5186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方向导数与梯度的关系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15526DE-7B8D-05E8-B9A6-242C21FFA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483" y="1349062"/>
            <a:ext cx="8367032" cy="390152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72DF8DB-011C-ECFA-88E0-D68C58AFC07A}"/>
              </a:ext>
            </a:extLst>
          </p:cNvPr>
          <p:cNvSpPr txBox="1"/>
          <p:nvPr/>
        </p:nvSpPr>
        <p:spPr>
          <a:xfrm>
            <a:off x="8020594" y="301316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函数上升最快的方向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74BDF8A-B899-A146-AE78-EBE35023E156}"/>
              </a:ext>
            </a:extLst>
          </p:cNvPr>
          <p:cNvSpPr txBox="1"/>
          <p:nvPr/>
        </p:nvSpPr>
        <p:spPr>
          <a:xfrm>
            <a:off x="8017357" y="376254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函数下降最快的方向</a:t>
            </a:r>
          </a:p>
        </p:txBody>
      </p:sp>
    </p:spTree>
    <p:extLst>
      <p:ext uri="{BB962C8B-B14F-4D97-AF65-F5344CB8AC3E}">
        <p14:creationId xmlns:p14="http://schemas.microsoft.com/office/powerpoint/2010/main" val="521913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高数带飞课 苏宇鹏 </a:t>
            </a:r>
            <a:r>
              <a:rPr lang="en-US" altLang="zh-CN" dirty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30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Ch12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向量与空间几何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向量运算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加和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数乘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点乘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叉乘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空间几何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4806" y="2256825"/>
            <a:ext cx="9892685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Ch13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向量函数与空间运动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向量函数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曲率圆方程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4805" y="3226321"/>
            <a:ext cx="104223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Ch14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</a:t>
            </a:r>
            <a:endParaRPr lang="en-US" altLang="zh-CN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一阶偏导数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二阶偏导数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充分条件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充要条件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链式法则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隐函数微分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方向导数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等高线切线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曲面的切平面）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多元函数全微分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多元函数极值点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一阶判别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二阶判别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拉格朗日乘数法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二元函数泰勒展开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73252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909D6DB-2711-69FB-FD41-683187F9F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167" y="2030128"/>
            <a:ext cx="4332255" cy="2601586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31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67457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等高线的切线 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(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两个独立变量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)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FB83D1C-52BA-54FC-8564-CE3F176DC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965" y="1142720"/>
            <a:ext cx="9029701" cy="10329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E864D81-4107-1A70-5909-25818DAC9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149" y="4482387"/>
            <a:ext cx="9029700" cy="14573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37892C0-F9D8-0B5D-B6A3-FC53DB4587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6314" y="2246515"/>
            <a:ext cx="3508434" cy="238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8273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32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67457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曲面的切平面 </a:t>
            </a:r>
            <a:r>
              <a:rPr lang="en-US" altLang="zh-CN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</a:t>
            </a: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三个独立变量</a:t>
            </a:r>
            <a:r>
              <a:rPr lang="en-US" altLang="zh-CN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)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DF54355-6A94-35B4-05D0-DB8B1959D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014" y="1322735"/>
            <a:ext cx="9213971" cy="18274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540E921-06B3-743A-E27C-503D088889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2720"/>
          <a:stretch/>
        </p:blipFill>
        <p:spPr>
          <a:xfrm>
            <a:off x="1194300" y="3237742"/>
            <a:ext cx="8019070" cy="86399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36635BA-AD4F-7F90-29D8-F84D61EC270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0000"/>
          <a:stretch/>
        </p:blipFill>
        <p:spPr>
          <a:xfrm>
            <a:off x="1194300" y="5476867"/>
            <a:ext cx="7746274" cy="88262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0AF0CF5-3678-2FE0-2913-0203720D3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4300" y="4068971"/>
            <a:ext cx="7602583" cy="140321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1DE5E95-8643-1F5C-5115-C58793DB13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0600" y="3237742"/>
            <a:ext cx="2715129" cy="288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3468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高数带飞课 苏宇鹏 </a:t>
            </a:r>
            <a:r>
              <a:rPr lang="en-US" altLang="zh-CN" dirty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33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Ch12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向量与空间几何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向量运算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加和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数乘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点乘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叉乘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空间几何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4806" y="2256825"/>
            <a:ext cx="9892685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Ch13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向量函数与空间运动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向量函数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曲率圆方程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4805" y="3226321"/>
            <a:ext cx="104223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Ch14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</a:t>
            </a:r>
            <a:endParaRPr lang="en-US" altLang="zh-CN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一阶偏导数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二阶偏导数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充分条件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充要条件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链式法则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隐函数微分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方向导数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等高线切线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曲面的切平面）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多元函数全微分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多元函数极值点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一阶判别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二阶判别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拉格朗日乘数法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二元函数泰勒展开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47838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34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多元函数线性化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D224467-2D6C-BDA2-BB1F-E726662CB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574" y="1094427"/>
            <a:ext cx="7296394" cy="233457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829A6D0-031B-21B5-1DB8-030F520DD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574" y="3429000"/>
            <a:ext cx="7071359" cy="279935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2CDB302-524A-768E-2DB7-F6699CBCF9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4430" y="2613301"/>
            <a:ext cx="3101979" cy="3101979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54431C05-4EA6-EC6E-B5CE-2850A6198BF4}"/>
              </a:ext>
            </a:extLst>
          </p:cNvPr>
          <p:cNvSpPr/>
          <p:nvPr/>
        </p:nvSpPr>
        <p:spPr>
          <a:xfrm>
            <a:off x="6095998" y="4027038"/>
            <a:ext cx="2438401" cy="315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FFB3D1E-4E09-25B3-92E0-4C94E35CA399}"/>
              </a:ext>
            </a:extLst>
          </p:cNvPr>
          <p:cNvSpPr/>
          <p:nvPr/>
        </p:nvSpPr>
        <p:spPr>
          <a:xfrm>
            <a:off x="2059575" y="4256362"/>
            <a:ext cx="2438401" cy="315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7966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35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1685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全微分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D86126E-E121-F5D1-D1CF-9CE458122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452" y="1336016"/>
            <a:ext cx="8975095" cy="18164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CEC80DA-9CE1-D48E-971F-F7F3A635E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514" y="3045761"/>
            <a:ext cx="465772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8264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高数带飞课 苏宇鹏 </a:t>
            </a:r>
            <a:r>
              <a:rPr lang="en-US" altLang="zh-CN" dirty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36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Ch12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向量与空间几何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向量运算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加和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数乘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点乘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叉乘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空间几何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4806" y="2256825"/>
            <a:ext cx="9892685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Ch13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向量函数与空间运动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向量函数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曲率圆方程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4805" y="3226321"/>
            <a:ext cx="104223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Ch14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</a:t>
            </a:r>
            <a:endParaRPr lang="en-US" altLang="zh-CN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一阶偏导数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二阶偏导数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充分条件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充要条件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链式法则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隐函数微分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方向导数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等高线切线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曲面的切平面）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多元函数全微分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多元函数极值点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一阶判别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二阶判别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拉格朗日乘数法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二元函数泰勒展开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65618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9CD98E7D-CF7A-EE69-C2AC-1EEBF96BBE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13"/>
          <a:stretch/>
        </p:blipFill>
        <p:spPr>
          <a:xfrm>
            <a:off x="1442907" y="1427832"/>
            <a:ext cx="9306186" cy="257811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000CF3D-CA37-E73C-E8FC-DB700C540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2119" y="3600925"/>
            <a:ext cx="3622635" cy="2825094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37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4685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多元函数极值的定义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50379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Chapter4 Chapter5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38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5186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可能产生极值点的位置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 descr="文本&#10;&#10;描述已自动生成">
            <a:extLst>
              <a:ext uri="{FF2B5EF4-FFF2-40B4-BE49-F238E27FC236}">
                <a16:creationId xmlns:a16="http://schemas.microsoft.com/office/drawing/2014/main" id="{117F7673-60A2-72D2-A66B-25A95C91E6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68561"/>
            <a:ext cx="7717549" cy="178097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7566AB3-B19C-9B43-C5BA-4EB1E674D15C}"/>
              </a:ext>
            </a:extLst>
          </p:cNvPr>
          <p:cNvSpPr txBox="1"/>
          <p:nvPr/>
        </p:nvSpPr>
        <p:spPr>
          <a:xfrm>
            <a:off x="6857999" y="196856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驻点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E3577C3-549B-66A6-AE46-918BF13ADA91}"/>
              </a:ext>
            </a:extLst>
          </p:cNvPr>
          <p:cNvSpPr txBox="1"/>
          <p:nvPr/>
        </p:nvSpPr>
        <p:spPr>
          <a:xfrm>
            <a:off x="6719206" y="247735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不可导点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03108FD-B2EC-0798-3953-517CDCC0A9CC}"/>
              </a:ext>
            </a:extLst>
          </p:cNvPr>
          <p:cNvSpPr txBox="1"/>
          <p:nvPr/>
        </p:nvSpPr>
        <p:spPr>
          <a:xfrm>
            <a:off x="6857998" y="300057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端点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19230EA-B927-C918-5CF7-9C7D29A91918}"/>
              </a:ext>
            </a:extLst>
          </p:cNvPr>
          <p:cNvSpPr txBox="1"/>
          <p:nvPr/>
        </p:nvSpPr>
        <p:spPr>
          <a:xfrm>
            <a:off x="2251814" y="4032583"/>
            <a:ext cx="7073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驻点与不可导点统称为可疑点 </a:t>
            </a:r>
            <a:r>
              <a:rPr lang="en-US" altLang="zh-CN" sz="2800" dirty="0"/>
              <a:t>(Critical Point)</a:t>
            </a:r>
            <a:endParaRPr lang="zh-CN" altLang="en-US" sz="28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6DA50F-B7D7-9B87-BF03-FC19BC493733}"/>
              </a:ext>
            </a:extLst>
          </p:cNvPr>
          <p:cNvSpPr txBox="1"/>
          <p:nvPr/>
        </p:nvSpPr>
        <p:spPr>
          <a:xfrm>
            <a:off x="2251814" y="5062729"/>
            <a:ext cx="6647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求最值方法：比较可疑点与端点的函数值</a:t>
            </a:r>
          </a:p>
        </p:txBody>
      </p:sp>
    </p:spTree>
    <p:extLst>
      <p:ext uri="{BB962C8B-B14F-4D97-AF65-F5344CB8AC3E}">
        <p14:creationId xmlns:p14="http://schemas.microsoft.com/office/powerpoint/2010/main" val="3184635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39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F9BD85-9FF1-8E85-AA75-C01A030F20F2}"/>
              </a:ext>
            </a:extLst>
          </p:cNvPr>
          <p:cNvSpPr txBox="1"/>
          <p:nvPr/>
        </p:nvSpPr>
        <p:spPr>
          <a:xfrm>
            <a:off x="602645" y="496389"/>
            <a:ext cx="59105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多元函数极值的一阶判别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1EB48EA-9AB1-1518-FF96-ECA3E1CA9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386" y="1199926"/>
            <a:ext cx="8630604" cy="127860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817392B-DE2A-59B7-135F-D0C9138E5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649" y="2228703"/>
            <a:ext cx="8273551" cy="122371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3B533FD-2B54-7B4B-B928-30FDBF313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649" y="3541420"/>
            <a:ext cx="8428128" cy="167609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D0C7CD48-6A27-B31D-6129-BF4516529B99}"/>
              </a:ext>
            </a:extLst>
          </p:cNvPr>
          <p:cNvSpPr txBox="1"/>
          <p:nvPr/>
        </p:nvSpPr>
        <p:spPr>
          <a:xfrm>
            <a:off x="5032243" y="3167220"/>
            <a:ext cx="2127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极值点 </a:t>
            </a:r>
            <a:r>
              <a:rPr lang="zh-CN" altLang="en-US" sz="2400" b="0" i="0" dirty="0">
                <a:effectLst/>
                <a:latin typeface="PingFang SC"/>
              </a:rPr>
              <a:t>⇒</a:t>
            </a:r>
            <a:r>
              <a:rPr lang="zh-CN" altLang="en-US" sz="2400" dirty="0"/>
              <a:t> 驻点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B8DAB62-D646-3FF9-C24D-59ADECF74E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9133" y="5103575"/>
            <a:ext cx="6331186" cy="11768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DAD46CA-5B56-4AC5-7CBD-70A52FF380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6331" y="4833666"/>
            <a:ext cx="3040892" cy="151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80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40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C15E886-879F-0BBA-AF5B-6CB268C29AD8}"/>
              </a:ext>
            </a:extLst>
          </p:cNvPr>
          <p:cNvSpPr txBox="1"/>
          <p:nvPr/>
        </p:nvSpPr>
        <p:spPr>
          <a:xfrm>
            <a:off x="602645" y="496389"/>
            <a:ext cx="57006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多元函数极值的二阶判别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8DBC471-9BB1-1140-B102-1069545B9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728" y="1186211"/>
            <a:ext cx="8700543" cy="317702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7FD3B97-E2BB-2F32-51D0-A016BD918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625" y="4409240"/>
            <a:ext cx="7948749" cy="146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9948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41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52485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多元函数极值判别步骤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C3DB389-3154-CDD5-9E2D-CF9FD8A60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08" y="1447393"/>
            <a:ext cx="6370183" cy="482890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1A4EFF0-DAF8-6273-82CC-0511E2173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061" y="1447393"/>
            <a:ext cx="6549808" cy="117705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8C34AD3-4C44-F4F2-76C5-A5DB89AD7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358" y="2740524"/>
            <a:ext cx="4353334" cy="315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971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42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4685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多元函数各类值判别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D8FFF12-D2A1-2EBD-6F0C-6AB11A60F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030" y="1316895"/>
            <a:ext cx="8769939" cy="471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365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高数带飞课 苏宇鹏 </a:t>
            </a:r>
            <a:r>
              <a:rPr lang="en-US" altLang="zh-CN" dirty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43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Ch12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向量与空间几何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向量运算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加和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数乘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点乘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叉乘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空间几何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4806" y="2256825"/>
            <a:ext cx="9892685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Ch13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向量函数与空间运动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向量函数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曲率圆方程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4805" y="3226321"/>
            <a:ext cx="104223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Ch14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</a:t>
            </a:r>
            <a:endParaRPr lang="en-US" altLang="zh-CN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一阶偏导数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二阶偏导数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充分条件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充要条件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链式法则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隐函数微分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方向导数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等高线切线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曲面的切平面）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多元函数全微分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多元函数极值点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一阶判别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二阶判别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拉格朗日乘数法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二元函数泰勒展开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788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44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4685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拉格朗日乘数法原理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0F37377-9E77-396B-F934-A4821B68A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899" y="1221377"/>
            <a:ext cx="9220200" cy="21336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A795F64-8864-2B22-797D-848AFCF7D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899" y="3545380"/>
            <a:ext cx="9277350" cy="127635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CDDC038-2ADD-5CBB-E3D4-2976A5E76453}"/>
              </a:ext>
            </a:extLst>
          </p:cNvPr>
          <p:cNvSpPr txBox="1"/>
          <p:nvPr/>
        </p:nvSpPr>
        <p:spPr>
          <a:xfrm>
            <a:off x="8056602" y="219576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限制条件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A00CA0-A631-70E2-6AF9-08443A964399}"/>
              </a:ext>
            </a:extLst>
          </p:cNvPr>
          <p:cNvSpPr txBox="1"/>
          <p:nvPr/>
        </p:nvSpPr>
        <p:spPr>
          <a:xfrm>
            <a:off x="9367271" y="171558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函数表达式</a:t>
            </a:r>
          </a:p>
        </p:txBody>
      </p:sp>
    </p:spTree>
    <p:extLst>
      <p:ext uri="{BB962C8B-B14F-4D97-AF65-F5344CB8AC3E}">
        <p14:creationId xmlns:p14="http://schemas.microsoft.com/office/powerpoint/2010/main" val="2102180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45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7DCA8E-374D-E51C-3B1C-DACB769E9A51}"/>
              </a:ext>
            </a:extLst>
          </p:cNvPr>
          <p:cNvSpPr txBox="1"/>
          <p:nvPr/>
        </p:nvSpPr>
        <p:spPr>
          <a:xfrm>
            <a:off x="602645" y="496389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拉格朗日乘数法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29A2D08-EDD3-BF67-E6C3-8A4BCA342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679" y="1111584"/>
            <a:ext cx="7913982" cy="274430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0E2FA33-7150-4E58-91EF-A51B36ABA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569" y="3867303"/>
            <a:ext cx="7509442" cy="66259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96D39C9-3B1A-85BD-A78F-3A556FE6C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944" y="5059312"/>
            <a:ext cx="8048218" cy="76762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632C9C6-CA6E-E14A-96D0-28104B9DB3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0366" y="3772029"/>
            <a:ext cx="2801256" cy="257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119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高数带飞课 苏宇鹏 </a:t>
            </a:r>
            <a:r>
              <a:rPr lang="en-US" altLang="zh-CN" dirty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46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Ch12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向量与空间几何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向量运算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加和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数乘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点乘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叉乘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空间几何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二次曲面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4806" y="2256825"/>
            <a:ext cx="9892685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Ch13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向量函数与空间运动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向量函数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法向量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曲率圆方程</a:t>
            </a: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4805" y="3226321"/>
            <a:ext cx="104223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Ch14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</a:t>
            </a:r>
            <a:endParaRPr lang="en-US" altLang="zh-CN" sz="2000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连续性</a:t>
            </a:r>
            <a:endParaRPr lang="en-US" altLang="zh-CN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偏导数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一阶偏导数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二阶偏导数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充分条件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充要条件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链式法则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隐函数微分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方向导数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等高线切线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曲面的切平面）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多元函数全微分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多元函数极值点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一阶判别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二阶判别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拉格朗日乘数法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二元函数泰勒展开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50327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47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42001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二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元函数泰勒展开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22D6BCE-0685-7848-8554-CCEAC0FAC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1" y="1142720"/>
            <a:ext cx="10401300" cy="29051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B113DF7-C13C-1DE1-172C-E59A4F0F1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63" y="3927475"/>
            <a:ext cx="1047750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1799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1C7F09F5-DDEF-4959-AD4B-F112F5A7F22C}"/>
              </a:ext>
            </a:extLst>
          </p:cNvPr>
          <p:cNvSpPr/>
          <p:nvPr/>
        </p:nvSpPr>
        <p:spPr>
          <a:xfrm>
            <a:off x="10171173" y="0"/>
            <a:ext cx="2020826" cy="6858000"/>
          </a:xfrm>
          <a:custGeom>
            <a:avLst/>
            <a:gdLst>
              <a:gd name="connsiteX0" fmla="*/ 108571 w 2020826"/>
              <a:gd name="connsiteY0" fmla="*/ 0 h 6858000"/>
              <a:gd name="connsiteX1" fmla="*/ 2020826 w 2020826"/>
              <a:gd name="connsiteY1" fmla="*/ 0 h 6858000"/>
              <a:gd name="connsiteX2" fmla="*/ 2020826 w 2020826"/>
              <a:gd name="connsiteY2" fmla="*/ 6858000 h 6858000"/>
              <a:gd name="connsiteX3" fmla="*/ 0 w 2020826"/>
              <a:gd name="connsiteY3" fmla="*/ 6858000 h 6858000"/>
              <a:gd name="connsiteX4" fmla="*/ 325674 w 2020826"/>
              <a:gd name="connsiteY4" fmla="*/ 5547360 h 6858000"/>
              <a:gd name="connsiteX5" fmla="*/ 1483914 w 2020826"/>
              <a:gd name="connsiteY5" fmla="*/ 5288280 h 6858000"/>
              <a:gd name="connsiteX6" fmla="*/ 920034 w 2020826"/>
              <a:gd name="connsiteY6" fmla="*/ 4130040 h 6858000"/>
              <a:gd name="connsiteX7" fmla="*/ 539034 w 2020826"/>
              <a:gd name="connsiteY7" fmla="*/ 1630680 h 6858000"/>
              <a:gd name="connsiteX8" fmla="*/ 1285794 w 2020826"/>
              <a:gd name="connsiteY8" fmla="*/ 5638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0826" h="6858000">
                <a:moveTo>
                  <a:pt x="108571" y="0"/>
                </a:moveTo>
                <a:lnTo>
                  <a:pt x="2020826" y="0"/>
                </a:lnTo>
                <a:lnTo>
                  <a:pt x="2020826" y="6858000"/>
                </a:lnTo>
                <a:lnTo>
                  <a:pt x="0" y="6858000"/>
                </a:lnTo>
                <a:lnTo>
                  <a:pt x="325674" y="5547360"/>
                </a:lnTo>
                <a:lnTo>
                  <a:pt x="1483914" y="5288280"/>
                </a:lnTo>
                <a:lnTo>
                  <a:pt x="920034" y="4130040"/>
                </a:lnTo>
                <a:lnTo>
                  <a:pt x="539034" y="1630680"/>
                </a:lnTo>
                <a:lnTo>
                  <a:pt x="1285794" y="5638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41769EFA-D4C0-40D1-9587-DA975697F139}"/>
              </a:ext>
            </a:extLst>
          </p:cNvPr>
          <p:cNvSpPr/>
          <p:nvPr/>
        </p:nvSpPr>
        <p:spPr>
          <a:xfrm>
            <a:off x="1" y="0"/>
            <a:ext cx="1978765" cy="6858000"/>
          </a:xfrm>
          <a:custGeom>
            <a:avLst/>
            <a:gdLst>
              <a:gd name="connsiteX0" fmla="*/ 0 w 1978765"/>
              <a:gd name="connsiteY0" fmla="*/ 0 h 6858000"/>
              <a:gd name="connsiteX1" fmla="*/ 1978765 w 1978765"/>
              <a:gd name="connsiteY1" fmla="*/ 0 h 6858000"/>
              <a:gd name="connsiteX2" fmla="*/ 1765755 w 1978765"/>
              <a:gd name="connsiteY2" fmla="*/ 1158240 h 6858000"/>
              <a:gd name="connsiteX3" fmla="*/ 1095195 w 1978765"/>
              <a:gd name="connsiteY3" fmla="*/ 1402080 h 6858000"/>
              <a:gd name="connsiteX4" fmla="*/ 394155 w 1978765"/>
              <a:gd name="connsiteY4" fmla="*/ 2118360 h 6858000"/>
              <a:gd name="connsiteX5" fmla="*/ 1232355 w 1978765"/>
              <a:gd name="connsiteY5" fmla="*/ 3429000 h 6858000"/>
              <a:gd name="connsiteX6" fmla="*/ 1811475 w 1978765"/>
              <a:gd name="connsiteY6" fmla="*/ 3810000 h 6858000"/>
              <a:gd name="connsiteX7" fmla="*/ 1491435 w 1978765"/>
              <a:gd name="connsiteY7" fmla="*/ 6096000 h 6858000"/>
              <a:gd name="connsiteX8" fmla="*/ 1647507 w 1978765"/>
              <a:gd name="connsiteY8" fmla="*/ 6858000 h 6858000"/>
              <a:gd name="connsiteX9" fmla="*/ 0 w 197876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78765" h="6858000">
                <a:moveTo>
                  <a:pt x="0" y="0"/>
                </a:moveTo>
                <a:lnTo>
                  <a:pt x="1978765" y="0"/>
                </a:lnTo>
                <a:lnTo>
                  <a:pt x="1765755" y="1158240"/>
                </a:lnTo>
                <a:lnTo>
                  <a:pt x="1095195" y="1402080"/>
                </a:lnTo>
                <a:lnTo>
                  <a:pt x="394155" y="2118360"/>
                </a:lnTo>
                <a:lnTo>
                  <a:pt x="1232355" y="3429000"/>
                </a:lnTo>
                <a:lnTo>
                  <a:pt x="1811475" y="3810000"/>
                </a:lnTo>
                <a:lnTo>
                  <a:pt x="1491435" y="6096000"/>
                </a:lnTo>
                <a:lnTo>
                  <a:pt x="164750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pic>
        <p:nvPicPr>
          <p:cNvPr id="32" name="图形 31">
            <a:extLst>
              <a:ext uri="{FF2B5EF4-FFF2-40B4-BE49-F238E27FC236}">
                <a16:creationId xmlns:a16="http://schemas.microsoft.com/office/drawing/2014/main" id="{C243843B-3B54-432C-95C1-88BA29BB5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1692"/>
          <a:stretch>
            <a:fillRect/>
          </a:stretch>
        </p:blipFill>
        <p:spPr>
          <a:xfrm rot="3632646">
            <a:off x="7261466" y="544830"/>
            <a:ext cx="6859885" cy="6181200"/>
          </a:xfrm>
          <a:custGeom>
            <a:avLst/>
            <a:gdLst>
              <a:gd name="connsiteX0" fmla="*/ 0 w 6859885"/>
              <a:gd name="connsiteY0" fmla="*/ 1781723 h 6181200"/>
              <a:gd name="connsiteX1" fmla="*/ 1006241 w 6859885"/>
              <a:gd name="connsiteY1" fmla="*/ 0 h 6181200"/>
              <a:gd name="connsiteX2" fmla="*/ 6859885 w 6859885"/>
              <a:gd name="connsiteY2" fmla="*/ 3305888 h 6181200"/>
              <a:gd name="connsiteX3" fmla="*/ 6859885 w 6859885"/>
              <a:gd name="connsiteY3" fmla="*/ 3581120 h 6181200"/>
              <a:gd name="connsiteX4" fmla="*/ 5391471 w 6859885"/>
              <a:gd name="connsiteY4" fmla="*/ 6181200 h 6181200"/>
              <a:gd name="connsiteX5" fmla="*/ 0 w 6859885"/>
              <a:gd name="connsiteY5" fmla="*/ 6181200 h 61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59885" h="6181200">
                <a:moveTo>
                  <a:pt x="0" y="1781723"/>
                </a:moveTo>
                <a:lnTo>
                  <a:pt x="1006241" y="0"/>
                </a:lnTo>
                <a:lnTo>
                  <a:pt x="6859885" y="3305888"/>
                </a:lnTo>
                <a:lnTo>
                  <a:pt x="6859885" y="3581120"/>
                </a:lnTo>
                <a:lnTo>
                  <a:pt x="5391471" y="6181200"/>
                </a:lnTo>
                <a:lnTo>
                  <a:pt x="0" y="6181200"/>
                </a:lnTo>
                <a:close/>
              </a:path>
            </a:pathLst>
          </a:cu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3EBCFBD0-17C7-4754-9380-82E4CA0EB4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7486"/>
          <a:stretch>
            <a:fillRect/>
          </a:stretch>
        </p:blipFill>
        <p:spPr>
          <a:xfrm rot="737125">
            <a:off x="-3613042" y="-848623"/>
            <a:ext cx="6759429" cy="9238303"/>
          </a:xfrm>
          <a:custGeom>
            <a:avLst/>
            <a:gdLst>
              <a:gd name="connsiteX0" fmla="*/ 0 w 6759429"/>
              <a:gd name="connsiteY0" fmla="*/ 6782788 h 9238303"/>
              <a:gd name="connsiteX1" fmla="*/ 534734 w 6759429"/>
              <a:gd name="connsiteY1" fmla="*/ 9238303 h 9238303"/>
              <a:gd name="connsiteX2" fmla="*/ 0 w 6759429"/>
              <a:gd name="connsiteY2" fmla="*/ 9238303 h 9238303"/>
              <a:gd name="connsiteX3" fmla="*/ 2827062 w 6759429"/>
              <a:gd name="connsiteY3" fmla="*/ 856346 h 9238303"/>
              <a:gd name="connsiteX4" fmla="*/ 6759429 w 6759429"/>
              <a:gd name="connsiteY4" fmla="*/ 0 h 9238303"/>
              <a:gd name="connsiteX5" fmla="*/ 6759429 w 6759429"/>
              <a:gd name="connsiteY5" fmla="*/ 7016773 h 9238303"/>
              <a:gd name="connsiteX6" fmla="*/ 4285912 w 6759429"/>
              <a:gd name="connsiteY6" fmla="*/ 7555427 h 923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59429" h="9238303">
                <a:moveTo>
                  <a:pt x="0" y="6782788"/>
                </a:moveTo>
                <a:lnTo>
                  <a:pt x="534734" y="9238303"/>
                </a:lnTo>
                <a:lnTo>
                  <a:pt x="0" y="9238303"/>
                </a:lnTo>
                <a:close/>
                <a:moveTo>
                  <a:pt x="2827062" y="856346"/>
                </a:moveTo>
                <a:lnTo>
                  <a:pt x="6759429" y="0"/>
                </a:lnTo>
                <a:lnTo>
                  <a:pt x="6759429" y="7016773"/>
                </a:lnTo>
                <a:lnTo>
                  <a:pt x="4285912" y="7555427"/>
                </a:lnTo>
                <a:close/>
              </a:path>
            </a:pathLst>
          </a:cu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1A46D14B-784F-4555-9678-457EDAE66B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0030" y="485484"/>
            <a:ext cx="2831940" cy="520356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B5E6D88A-4AE7-4D47-A542-489C55D14EE5}"/>
              </a:ext>
            </a:extLst>
          </p:cNvPr>
          <p:cNvGrpSpPr/>
          <p:nvPr/>
        </p:nvGrpSpPr>
        <p:grpSpPr>
          <a:xfrm>
            <a:off x="4283647" y="1984494"/>
            <a:ext cx="3624711" cy="2293865"/>
            <a:chOff x="472910" y="2289294"/>
            <a:chExt cx="3624711" cy="2293865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F3BCAF4-D11F-4A3D-AB13-4CE6658F4E6E}"/>
                </a:ext>
              </a:extLst>
            </p:cNvPr>
            <p:cNvSpPr txBox="1"/>
            <p:nvPr/>
          </p:nvSpPr>
          <p:spPr>
            <a:xfrm>
              <a:off x="609563" y="3567496"/>
              <a:ext cx="341632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0" b="0" i="0" u="none" strike="noStrike" kern="1200" cap="none" spc="300" normalizeH="0" baseline="0" noProof="0" dirty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cs"/>
                </a:rPr>
                <a:t>多重积分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1D4DCA9-4813-4112-BD9C-4EAA5942E610}"/>
                </a:ext>
              </a:extLst>
            </p:cNvPr>
            <p:cNvSpPr/>
            <p:nvPr/>
          </p:nvSpPr>
          <p:spPr>
            <a:xfrm>
              <a:off x="472910" y="2289294"/>
              <a:ext cx="3624711" cy="101566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EBA123"/>
                      </a:gs>
                      <a:gs pos="100000">
                        <a:srgbClr val="E6551A"/>
                      </a:gs>
                    </a:gsLst>
                    <a:lin ang="2700000" scaled="0"/>
                  </a:gra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Chapter15</a:t>
              </a:r>
              <a:endParaRPr kumimoji="0" lang="zh-CN" altLang="en-US" sz="6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BA123"/>
                    </a:gs>
                    <a:gs pos="100000">
                      <a:srgbClr val="E6551A"/>
                    </a:gs>
                  </a:gsLst>
                  <a:lin ang="2700000" scaled="0"/>
                </a:gra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51462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高数带飞课 苏宇鹏 </a:t>
            </a:r>
            <a:r>
              <a:rPr lang="en-US" altLang="zh-CN" dirty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49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Ch15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多重积分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算面积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柱坐标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球坐标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算体积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换元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雅可比行列式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求质心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重心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一次矩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4806" y="2603074"/>
            <a:ext cx="1030105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Ch16 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向量场积分</a:t>
            </a:r>
            <a:endParaRPr lang="en-US" altLang="zh-CN" sz="20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一重积分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一型曲线积分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(Wall)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二型曲线积分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(Work)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特殊的二型曲线积分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保守场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势函数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全微分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(exact)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(curl))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散度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(divergence))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格林公式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一型曲面积分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二型曲面积分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斯托克斯公式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梯度的旋度为零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高斯公式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旋度的散度为零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17773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9847B923-C807-9817-B097-810E4F599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3171" y="4205427"/>
            <a:ext cx="2560592" cy="1682173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50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6473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二重积分</a:t>
            </a: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计算 </a:t>
            </a:r>
            <a:r>
              <a:rPr lang="en-US" altLang="zh-CN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</a:t>
            </a: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直角坐标下</a:t>
            </a:r>
            <a:r>
              <a:rPr lang="en-US" altLang="zh-CN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)</a:t>
            </a:r>
            <a:endParaRPr kumimoji="0" lang="en-US" altLang="zh-CN" sz="3600" b="0" i="0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D36ADB7-42E7-7E5C-E625-E583C3758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582" y="1175143"/>
            <a:ext cx="7269589" cy="171626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DFF59AF-FBF7-B0CB-0BDC-48F0FC1C2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3874" y="2606186"/>
            <a:ext cx="7269589" cy="361953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1BB705B-2236-A4B9-B33B-E472A9BEDC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3370" y="1969994"/>
            <a:ext cx="2309460" cy="218967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0AEF701-704B-630A-1CE3-512DD0478D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2984" y="4054010"/>
            <a:ext cx="2039846" cy="30283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71EF446-FA03-0828-1CA2-8AB50C578F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7710" y="5918845"/>
            <a:ext cx="2100779" cy="22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2501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51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D06791-6652-001A-26A1-4AEA6E72A339}"/>
              </a:ext>
            </a:extLst>
          </p:cNvPr>
          <p:cNvSpPr txBox="1"/>
          <p:nvPr/>
        </p:nvSpPr>
        <p:spPr>
          <a:xfrm>
            <a:off x="602645" y="496389"/>
            <a:ext cx="57454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二重积分</a:t>
            </a: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计算 </a:t>
            </a:r>
            <a:r>
              <a:rPr lang="en-US" altLang="zh-CN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</a:t>
            </a: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极坐标下</a:t>
            </a:r>
            <a:r>
              <a:rPr lang="en-US" altLang="zh-CN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)</a:t>
            </a:r>
            <a:endParaRPr kumimoji="0" lang="en-US" altLang="zh-CN" sz="3600" b="0" i="0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79313EE-CA41-8978-BF8E-A8F6B621F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908" y="1319411"/>
            <a:ext cx="9206184" cy="21095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4FF7E81-869F-84D1-40EB-C719DD87C85A}"/>
                  </a:ext>
                </a:extLst>
              </p:cNvPr>
              <p:cNvSpPr txBox="1"/>
              <p:nvPr/>
            </p:nvSpPr>
            <p:spPr>
              <a:xfrm>
                <a:off x="2209800" y="3718902"/>
                <a:ext cx="7236823" cy="16911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b="0" i="0" u="none" strike="noStrike" baseline="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适用极坐标计算的情形：</a:t>
                </a:r>
                <a:endParaRPr lang="en-US" altLang="zh-CN" sz="2400" b="0" i="0" u="none" strike="noStrike" baseline="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0" i="0" u="none" strike="noStrike" baseline="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	</a:t>
                </a:r>
                <a:r>
                  <a:rPr lang="zh-CN" altLang="en-US" sz="2400" b="0" i="0" u="none" strike="noStrike" baseline="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积分区域：圆域，圆环或扇形区域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0" i="0" u="none" strike="noStrike" baseline="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	</a:t>
                </a:r>
                <a:r>
                  <a:rPr lang="zh-CN" altLang="en-US" sz="2400" b="0" i="0" u="none" strike="noStrike" baseline="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被积函数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：</a:t>
                </a:r>
                <a:r>
                  <a:rPr lang="en-US" altLang="zh-CN" sz="2400" b="0" i="0" u="none" strike="noStrike" baseline="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2400" b="0" i="1" u="none" strike="noStrike" baseline="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f </a:t>
                </a:r>
                <a:r>
                  <a:rPr lang="en-US" altLang="zh-CN" sz="2400" b="0" i="0" u="none" strike="noStrike" baseline="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</a:t>
                </a:r>
                <a:r>
                  <a:rPr lang="en-US" altLang="zh-CN" sz="2400" b="0" i="1" u="none" strike="noStrike" baseline="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x</a:t>
                </a:r>
                <a:r>
                  <a:rPr lang="en-US" altLang="zh-CN" sz="2400" b="0" i="0" u="none" strike="noStrike" baseline="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, </a:t>
                </a:r>
                <a:r>
                  <a:rPr lang="en-US" altLang="zh-CN" sz="2400" b="0" i="1" u="none" strike="noStrike" baseline="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y</a:t>
                </a:r>
                <a:r>
                  <a:rPr lang="en-US" altLang="zh-CN" sz="2400" b="0" i="0" u="none" strike="noStrike" baseline="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) </a:t>
                </a:r>
                <a:r>
                  <a:rPr lang="zh-CN" altLang="en-US" sz="2400" b="0" i="0" u="none" strike="noStrike" baseline="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中</a:t>
                </a:r>
                <a:r>
                  <a:rPr lang="zh-CN" altLang="en-US" sz="2400" b="0" i="0" u="none" strike="noStrike" baseline="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含有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u="none" strike="noStrike" baseline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u="none" strike="noStrike" baseline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en-US" altLang="zh-CN" sz="2400" b="0" i="1" u="none" strike="noStrike" baseline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u="none" strike="noStrike" baseline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2400" b="0" i="1" u="none" strike="noStrike" baseline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sSup>
                      <m:sSupPr>
                        <m:ctrlPr>
                          <a:rPr lang="en-US" altLang="zh-CN" sz="2400" b="0" i="1" u="none" strike="noStrike" baseline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u="none" strike="noStrike" baseline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</m:e>
                      <m:sup>
                        <m:r>
                          <a:rPr lang="en-US" altLang="zh-CN" sz="2400" b="0" i="1" u="none" strike="noStrike" baseline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2400" b="0" i="1" u="none" strike="noStrike" baseline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zh-CN" altLang="en-US" sz="2400" b="0" i="0" u="none" strike="noStrike" baseline="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的因式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4FF7E81-869F-84D1-40EB-C719DD87C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3718902"/>
                <a:ext cx="7236823" cy="1691104"/>
              </a:xfrm>
              <a:prstGeom prst="rect">
                <a:avLst/>
              </a:prstGeom>
              <a:blipFill>
                <a:blip r:embed="rId3"/>
                <a:stretch>
                  <a:fillRect l="-1348" b="-7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9986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52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二重积分性质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7ADA164-73C5-3D2D-D741-D8751D3CD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64" y="1114453"/>
            <a:ext cx="6406363" cy="52701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DAE8610-DCD1-7A83-0D15-CC35A5512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036" y="1747311"/>
            <a:ext cx="5081894" cy="88670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21A8A98-6E17-3B4E-1C30-5EA7F4EED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1120" y="2964864"/>
            <a:ext cx="3119727" cy="306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203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53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5186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利用二重积分计算面积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587E7D2-BF2A-80E0-C3B2-373A15989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486" y="1218143"/>
            <a:ext cx="8645112" cy="165716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3445350-E7AF-04BC-AD53-46096F44E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331" y="4944163"/>
            <a:ext cx="8194469" cy="110140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84D3230-6EF1-8794-112D-DBCB86FBABEC}"/>
              </a:ext>
            </a:extLst>
          </p:cNvPr>
          <p:cNvSpPr txBox="1"/>
          <p:nvPr/>
        </p:nvSpPr>
        <p:spPr>
          <a:xfrm>
            <a:off x="838200" y="5294812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计算函数在一个区间上的均值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E630232-D587-43A5-4753-BFCE0149D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2486" y="2886266"/>
            <a:ext cx="8327027" cy="180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158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高数带飞课 苏宇鹏 </a:t>
            </a:r>
            <a:r>
              <a:rPr lang="en-US" altLang="zh-CN" dirty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54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Ch15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多重积分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算面积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柱坐标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球坐标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算体积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换元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雅可比行列式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求质心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重心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一次矩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4806" y="2603074"/>
            <a:ext cx="1030105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Ch16 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向量场积分</a:t>
            </a:r>
            <a:endParaRPr lang="en-US" altLang="zh-CN" sz="20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一重积分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一型曲线积分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(Wall)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二型曲线积分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(Work)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特殊的二型曲线积分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保守场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势函数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全微分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(exact)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(curl))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散度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(divergence))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格林公式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一型曲面积分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二型曲面积分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斯托克斯公式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梯度的旋度为零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高斯公式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旋度的散度为零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56365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28B01C39-4914-022B-6770-A848024746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998"/>
          <a:stretch/>
        </p:blipFill>
        <p:spPr>
          <a:xfrm>
            <a:off x="8938940" y="1937828"/>
            <a:ext cx="3116111" cy="4112668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55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6973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三重积分计算 </a:t>
            </a:r>
            <a:r>
              <a:rPr lang="en-US" altLang="zh-CN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</a:t>
            </a: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直角坐标系下</a:t>
            </a:r>
            <a:r>
              <a:rPr lang="en-US" altLang="zh-CN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)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5B5DF27-143D-E824-8A34-DE481BEE2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323" y="1142720"/>
            <a:ext cx="2164625" cy="93692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2189E34-A8E9-282D-5582-BBB750026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23" y="2050531"/>
            <a:ext cx="8746399" cy="95303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21843AE-7966-D39A-7F45-57E21B394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2987389"/>
            <a:ext cx="8766672" cy="100677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EDA7207-4EAB-3D80-8BFD-B18E9431ED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241" y="3974515"/>
            <a:ext cx="8674281" cy="92738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6383B54-FA65-9E65-8C83-764B4D2483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199" y="4815953"/>
            <a:ext cx="8059783" cy="162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731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0D4FAEE8-100D-3223-9C51-508847C174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13"/>
          <a:stretch/>
        </p:blipFill>
        <p:spPr>
          <a:xfrm>
            <a:off x="8974976" y="2518549"/>
            <a:ext cx="3217024" cy="3613785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56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6245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三重积分计算 </a:t>
            </a:r>
            <a:r>
              <a:rPr lang="en-US" altLang="zh-CN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</a:t>
            </a: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柱坐标系下</a:t>
            </a:r>
            <a:r>
              <a:rPr lang="en-US" altLang="zh-CN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)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1047F34-D9CC-AC6E-3250-404C0F0C9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733" y="1142720"/>
            <a:ext cx="4485867" cy="99609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E0BA069-5DA8-13E3-99F2-933AD2016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396" y="2025864"/>
            <a:ext cx="8961119" cy="75928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A9B1924-4E41-FE0B-3AB7-91AEC9BC66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2" y="2704556"/>
            <a:ext cx="8880703" cy="96373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D29FF161-68EC-D017-15A8-D4EA214823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396" y="3648116"/>
            <a:ext cx="8913666" cy="759283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9031727C-4EC3-7AA3-075C-FE69DFFF57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645" y="4339451"/>
            <a:ext cx="8833162" cy="1787101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CF9CF032-F052-C6B2-4AFD-74D43FE6933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24891"/>
          <a:stretch/>
        </p:blipFill>
        <p:spPr>
          <a:xfrm>
            <a:off x="9816601" y="1142720"/>
            <a:ext cx="2027058" cy="163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0207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A933869F-8146-E595-DE33-5F2810F38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4059" y="2976956"/>
            <a:ext cx="2528232" cy="3433692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57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6245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三重积分计算 </a:t>
            </a:r>
            <a:r>
              <a:rPr lang="en-US" altLang="zh-CN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</a:t>
            </a: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球坐标系下</a:t>
            </a:r>
            <a:r>
              <a:rPr lang="en-US" altLang="zh-CN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)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2B960B6-C0D8-5820-8DE9-0964697734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88" r="8996"/>
          <a:stretch/>
        </p:blipFill>
        <p:spPr>
          <a:xfrm>
            <a:off x="9619062" y="1103538"/>
            <a:ext cx="2369030" cy="18734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3DC8AB7-E7E2-C3A7-3B8D-142965C12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8629" y="1347798"/>
            <a:ext cx="5624513" cy="69244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5C3899B-F7E6-12F7-5603-4F0808D472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912" y="1990957"/>
            <a:ext cx="8820150" cy="88582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B8211B7-CA39-4EE2-0374-F1C8B122BB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601" y="2684542"/>
            <a:ext cx="8678772" cy="159981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9527DC1-FFCC-A744-7A27-5BAE6A48FA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545" y="4169409"/>
            <a:ext cx="8570490" cy="74292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FB3B8DA-4B3A-F1E4-71ED-75204FA669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556" y="4789071"/>
            <a:ext cx="8702479" cy="165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1062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58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三重积分习题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F291881-3C23-9A52-2386-DCE716313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378" y="1735894"/>
            <a:ext cx="6451011" cy="10833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26A3842-5AD3-A5BF-4D49-FCF08D93D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254" y="3673519"/>
            <a:ext cx="7773625" cy="154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670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59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5186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利用三重积分计算体积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F2C33CD-4C15-ED19-8352-0EA29C0D6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491" y="1186729"/>
            <a:ext cx="7943016" cy="15764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84370D4-40E8-6E3B-99EE-BC0CCB430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066" y="4710961"/>
            <a:ext cx="6375357" cy="119275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0280296-E80E-E8B9-9257-743DC3604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6347" y="2817346"/>
            <a:ext cx="7095853" cy="152352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FE18B78-0486-A04F-B636-E763C21E9665}"/>
              </a:ext>
            </a:extLst>
          </p:cNvPr>
          <p:cNvSpPr txBox="1"/>
          <p:nvPr/>
        </p:nvSpPr>
        <p:spPr>
          <a:xfrm>
            <a:off x="1000154" y="5050972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计算函数在一个区间上的均值</a:t>
            </a:r>
          </a:p>
        </p:txBody>
      </p:sp>
    </p:spTree>
    <p:extLst>
      <p:ext uri="{BB962C8B-B14F-4D97-AF65-F5344CB8AC3E}">
        <p14:creationId xmlns:p14="http://schemas.microsoft.com/office/powerpoint/2010/main" val="21943374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高数带飞课 苏宇鹏 </a:t>
            </a:r>
            <a:r>
              <a:rPr lang="en-US" altLang="zh-CN" dirty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60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Ch15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多重积分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算面积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球坐标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算体积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换元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雅可比行列式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求质心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重心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一次矩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4806" y="2603074"/>
            <a:ext cx="1030105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Ch16 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向量场积分</a:t>
            </a:r>
            <a:endParaRPr lang="en-US" altLang="zh-CN" sz="20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一重积分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一型曲线积分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(Wall)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二型曲线积分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(Work)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特殊的二型曲线积分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保守场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势函数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全微分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(exact)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(curl))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散度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(divergence))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格林公式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一型曲面积分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二型曲面积分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斯托克斯公式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梯度的旋度为零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高斯公式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旋度的散度为零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91994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61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二重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积分中换元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43AEA7D-6C5D-B92F-A7CC-49DB088BC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952" y="1169473"/>
            <a:ext cx="5551580" cy="88059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44C6131-D4F9-D539-E3AD-2287F7D33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33" y="2126895"/>
            <a:ext cx="2679733" cy="197663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24ED220-0279-EAAA-AD2C-A2A08343B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73" y="4180357"/>
            <a:ext cx="2974679" cy="184834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CDB7A4B-3F0B-08E8-68DB-68A9D7CC3B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7614" y="2165208"/>
            <a:ext cx="7186477" cy="201514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982AA0E-3A3F-E1D6-5C4C-ED9A391BD8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6717" y="3106242"/>
            <a:ext cx="1094926" cy="64551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4D50A4F-9DFF-6878-F6CF-4A19EA1BA2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9618" y="3988781"/>
            <a:ext cx="7232421" cy="247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50327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C44AE707-A44B-3BEE-E7CF-C289175FB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402" y="3302049"/>
            <a:ext cx="2343150" cy="428625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62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F5A2BAD-0C5A-9B78-4787-9B6A9046B917}"/>
              </a:ext>
            </a:extLst>
          </p:cNvPr>
          <p:cNvSpPr txBox="1"/>
          <p:nvPr/>
        </p:nvSpPr>
        <p:spPr>
          <a:xfrm>
            <a:off x="602645" y="496389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三重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积分中换元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D04CDB8-6D35-C34E-39FD-8AD7ECCDE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434" y="1119857"/>
            <a:ext cx="6442302" cy="98705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AC31D5E-F5EC-988F-1D45-92D30A98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456" y="3267477"/>
            <a:ext cx="4133519" cy="174404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82567B5-AF21-4884-58D4-E85D007C0B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088" y="2248416"/>
            <a:ext cx="3376723" cy="43077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CDEACFF-3537-9511-D849-A4D365D60B90}"/>
              </a:ext>
            </a:extLst>
          </p:cNvPr>
          <p:cNvSpPr txBox="1"/>
          <p:nvPr/>
        </p:nvSpPr>
        <p:spPr>
          <a:xfrm>
            <a:off x="4972595" y="227913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柱坐标变换时：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BE27FA0-D44A-7927-9C2A-599F36FEDFA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443" b="20873"/>
          <a:stretch/>
        </p:blipFill>
        <p:spPr>
          <a:xfrm>
            <a:off x="5043396" y="2839449"/>
            <a:ext cx="4080466" cy="1478915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D898B52C-FA81-9A8D-EE28-59692F011CB4}"/>
              </a:ext>
            </a:extLst>
          </p:cNvPr>
          <p:cNvSpPr txBox="1"/>
          <p:nvPr/>
        </p:nvSpPr>
        <p:spPr>
          <a:xfrm>
            <a:off x="602645" y="2596941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三重积分雅可比行列式：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DA00C9D-76CF-9CBB-9B52-9826CB235C6E}"/>
              </a:ext>
            </a:extLst>
          </p:cNvPr>
          <p:cNvSpPr txBox="1"/>
          <p:nvPr/>
        </p:nvSpPr>
        <p:spPr>
          <a:xfrm>
            <a:off x="5043396" y="4363257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球坐标变换时：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AC4FF4F1-6E34-C3B8-EF9A-EFBE908F8D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1378" y="4363257"/>
            <a:ext cx="4672715" cy="42862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FBF202B-970A-B121-B38F-5D193B5EFF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4833" y="4751088"/>
            <a:ext cx="3394555" cy="170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4246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高数带飞课 苏宇鹏 </a:t>
            </a:r>
            <a:r>
              <a:rPr lang="en-US" altLang="zh-CN" dirty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63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Ch15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多重积分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算面积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球坐标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算体积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换元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雅可比行列式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求质心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重心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一次矩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4806" y="2603074"/>
            <a:ext cx="1030105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Ch16 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向量场积分</a:t>
            </a:r>
            <a:endParaRPr lang="en-US" altLang="zh-CN" sz="20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一重积分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一型曲线积分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(Wall)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二型曲线积分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(Work)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特殊的二型曲线积分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保守场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势函数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全微分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(exact)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(curl))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散度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(divergence))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格林公式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一型曲面积分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二型曲面积分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斯托克斯公式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梯度的旋度为零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高斯公式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旋度的散度为零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92786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4B6E135-DFF6-3E0E-141F-2A0F6D86D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658" y="4736315"/>
            <a:ext cx="7016959" cy="1649622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148967-5E48-F162-F483-B7744E441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0CEF-D420-455D-80D5-7DAE87FAC7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7741B0-C76C-5095-B949-ADEB40C0C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高数期末带飞课 苏宇鹏 </a:t>
            </a:r>
            <a:r>
              <a:rPr lang="en-US" altLang="zh-CN"/>
              <a:t>12111212@mail.sustech.edu.cn Chapter6 Chapter7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5160A7-598E-F1CB-8ED8-99F2EE9F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64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C8B5BC6-CEBA-8A06-3819-D5E6C288368A}"/>
              </a:ext>
            </a:extLst>
          </p:cNvPr>
          <p:cNvSpPr txBox="1"/>
          <p:nvPr/>
        </p:nvSpPr>
        <p:spPr>
          <a:xfrm>
            <a:off x="602645" y="496389"/>
            <a:ext cx="2108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求质心 </a:t>
            </a:r>
            <a:r>
              <a:rPr lang="en-US" altLang="zh-CN" sz="3600" spc="300" dirty="0">
                <a:solidFill>
                  <a:srgbClr val="FF0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*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E074E4-C5FE-50CC-846B-6B48BFF469AD}"/>
              </a:ext>
            </a:extLst>
          </p:cNvPr>
          <p:cNvSpPr txBox="1"/>
          <p:nvPr/>
        </p:nvSpPr>
        <p:spPr>
          <a:xfrm>
            <a:off x="1877887" y="1296874"/>
            <a:ext cx="3273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Method 1:</a:t>
            </a:r>
            <a:r>
              <a:rPr lang="zh-CN" altLang="en-US" sz="2400" dirty="0"/>
              <a:t> </a:t>
            </a:r>
            <a:r>
              <a:rPr lang="en-US" altLang="zh-CN" sz="2400" dirty="0"/>
              <a:t>Vertical</a:t>
            </a:r>
            <a:r>
              <a:rPr lang="zh-CN" altLang="en-US" sz="2400" dirty="0"/>
              <a:t> </a:t>
            </a:r>
            <a:r>
              <a:rPr lang="en-US" altLang="zh-CN" sz="2400" dirty="0"/>
              <a:t>Strips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32D842-04A3-3623-635B-4BFD6D48CBEF}"/>
              </a:ext>
            </a:extLst>
          </p:cNvPr>
          <p:cNvSpPr txBox="1"/>
          <p:nvPr/>
        </p:nvSpPr>
        <p:spPr>
          <a:xfrm>
            <a:off x="6235261" y="1296874"/>
            <a:ext cx="3619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Method 2:</a:t>
            </a:r>
            <a:r>
              <a:rPr lang="zh-CN" altLang="en-US" sz="2400" dirty="0"/>
              <a:t> </a:t>
            </a:r>
            <a:r>
              <a:rPr lang="en-US" altLang="zh-CN" sz="2400" dirty="0"/>
              <a:t>Horizontal</a:t>
            </a:r>
            <a:r>
              <a:rPr lang="zh-CN" altLang="en-US" sz="2400" dirty="0"/>
              <a:t> </a:t>
            </a:r>
            <a:r>
              <a:rPr lang="en-US" altLang="zh-CN" sz="2400" dirty="0"/>
              <a:t>Strips</a:t>
            </a:r>
            <a:endParaRPr lang="zh-CN" altLang="en-US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E442130-1D15-B530-733D-445687B99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075" y="1892839"/>
            <a:ext cx="3436023" cy="307232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A822247-FA4A-4D33-7BDD-50119E89CC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785"/>
          <a:stretch/>
        </p:blipFill>
        <p:spPr>
          <a:xfrm>
            <a:off x="2209800" y="1749253"/>
            <a:ext cx="3200400" cy="328857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E9C6142-2218-779F-8E36-D0B6F7277447}"/>
              </a:ext>
            </a:extLst>
          </p:cNvPr>
          <p:cNvSpPr txBox="1"/>
          <p:nvPr/>
        </p:nvSpPr>
        <p:spPr>
          <a:xfrm>
            <a:off x="1161862" y="4565051"/>
            <a:ext cx="11993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对</a:t>
            </a:r>
            <a:r>
              <a:rPr lang="en-US" altLang="zh-CN" sz="2000" dirty="0"/>
              <a:t>dx</a:t>
            </a:r>
            <a:r>
              <a:rPr lang="zh-CN" altLang="en-US" sz="2000" dirty="0"/>
              <a:t>积分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9697585-596F-EAB5-9E2B-0E9EA9530912}"/>
              </a:ext>
            </a:extLst>
          </p:cNvPr>
          <p:cNvSpPr txBox="1"/>
          <p:nvPr/>
        </p:nvSpPr>
        <p:spPr>
          <a:xfrm>
            <a:off x="9679342" y="4536260"/>
            <a:ext cx="1204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对</a:t>
            </a:r>
            <a:r>
              <a:rPr lang="en-US" altLang="zh-CN" sz="2000" dirty="0" err="1"/>
              <a:t>dy</a:t>
            </a:r>
            <a:r>
              <a:rPr lang="zh-CN" altLang="en-US" sz="2000" dirty="0"/>
              <a:t>积分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EB107CE-3D79-E4DB-5E8D-C17892488EDB}"/>
              </a:ext>
            </a:extLst>
          </p:cNvPr>
          <p:cNvSpPr txBox="1"/>
          <p:nvPr/>
        </p:nvSpPr>
        <p:spPr>
          <a:xfrm>
            <a:off x="3514617" y="531550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推导：</a:t>
            </a:r>
          </a:p>
        </p:txBody>
      </p:sp>
    </p:spTree>
    <p:extLst>
      <p:ext uri="{BB962C8B-B14F-4D97-AF65-F5344CB8AC3E}">
        <p14:creationId xmlns:p14="http://schemas.microsoft.com/office/powerpoint/2010/main" val="20951974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148967-5E48-F162-F483-B7744E441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0CEF-D420-455D-80D5-7DAE87FAC7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7741B0-C76C-5095-B949-ADEB40C0C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高数期末带飞课 苏宇鹏 </a:t>
            </a:r>
            <a:r>
              <a:rPr lang="en-US" altLang="zh-CN"/>
              <a:t>12111212@mail.sustech.edu.cn Chapter6 Chapter7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5160A7-598E-F1CB-8ED8-99F2EE9F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65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139B63C-6199-09D7-2B0D-CCA1DBC61A9E}"/>
              </a:ext>
            </a:extLst>
          </p:cNvPr>
          <p:cNvSpPr txBox="1"/>
          <p:nvPr/>
        </p:nvSpPr>
        <p:spPr>
          <a:xfrm>
            <a:off x="602645" y="496389"/>
            <a:ext cx="1184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重心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90E3FC-0326-01E9-0BBC-D7DC58EC635E}"/>
              </a:ext>
            </a:extLst>
          </p:cNvPr>
          <p:cNvSpPr txBox="1"/>
          <p:nvPr/>
        </p:nvSpPr>
        <p:spPr>
          <a:xfrm>
            <a:off x="3886375" y="577892"/>
            <a:ext cx="3780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COM = Centroids ? </a:t>
            </a:r>
            <a:endParaRPr lang="zh-CN" altLang="en-US" sz="3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50F0EB4-E23A-0906-BD0F-6D2C2179E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536" y="1537110"/>
            <a:ext cx="10246264" cy="34547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4FBCD99-96AA-3ACD-C1F5-64357D3DE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049" y="2930170"/>
            <a:ext cx="10113902" cy="70523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9234EFC-EA21-1BF2-0A56-EE7E2CE6B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777396"/>
            <a:ext cx="3353151" cy="243696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EC6302A-EF87-5221-34F2-0DE8320C3C5D}"/>
              </a:ext>
            </a:extLst>
          </p:cNvPr>
          <p:cNvSpPr txBox="1"/>
          <p:nvPr/>
        </p:nvSpPr>
        <p:spPr>
          <a:xfrm>
            <a:off x="6818832" y="3617968"/>
            <a:ext cx="34195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利用极坐标系去求重心</a:t>
            </a:r>
            <a:r>
              <a:rPr lang="en-US" altLang="zh-CN" sz="2000" dirty="0"/>
              <a:t>(</a:t>
            </a:r>
            <a:r>
              <a:rPr lang="zh-CN" altLang="en-US" sz="2000" dirty="0"/>
              <a:t>质心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F41776B-B41D-BF39-88DC-B657A7351892}"/>
              </a:ext>
            </a:extLst>
          </p:cNvPr>
          <p:cNvSpPr txBox="1"/>
          <p:nvPr/>
        </p:nvSpPr>
        <p:spPr>
          <a:xfrm>
            <a:off x="7065034" y="2147387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对于三角形：三条中位线的交点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DDEFE0A-1A12-EF7E-0A5F-9CACDEC545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9671" y="4340879"/>
            <a:ext cx="4842671" cy="119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5376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66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6695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求质量与一次矩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0633C1C-5AF8-2120-796E-35060DAF7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160" y="1212388"/>
            <a:ext cx="7260991" cy="521363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E4F507A-4119-D793-4BCA-CBD9072A85F7}"/>
              </a:ext>
            </a:extLst>
          </p:cNvPr>
          <p:cNvSpPr txBox="1"/>
          <p:nvPr/>
        </p:nvSpPr>
        <p:spPr>
          <a:xfrm>
            <a:off x="8168184" y="3352799"/>
            <a:ext cx="3185616" cy="11182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当密度是一个常值函数时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COM </a:t>
            </a:r>
            <a:r>
              <a:rPr lang="zh-CN" altLang="en-US" dirty="0"/>
              <a:t>就是这个物体的 </a:t>
            </a:r>
            <a:r>
              <a:rPr lang="en-US" altLang="zh-CN" dirty="0"/>
              <a:t>Centroid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210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1C7F09F5-DDEF-4959-AD4B-F112F5A7F22C}"/>
              </a:ext>
            </a:extLst>
          </p:cNvPr>
          <p:cNvSpPr/>
          <p:nvPr/>
        </p:nvSpPr>
        <p:spPr>
          <a:xfrm>
            <a:off x="10171173" y="0"/>
            <a:ext cx="2020826" cy="6858000"/>
          </a:xfrm>
          <a:custGeom>
            <a:avLst/>
            <a:gdLst>
              <a:gd name="connsiteX0" fmla="*/ 108571 w 2020826"/>
              <a:gd name="connsiteY0" fmla="*/ 0 h 6858000"/>
              <a:gd name="connsiteX1" fmla="*/ 2020826 w 2020826"/>
              <a:gd name="connsiteY1" fmla="*/ 0 h 6858000"/>
              <a:gd name="connsiteX2" fmla="*/ 2020826 w 2020826"/>
              <a:gd name="connsiteY2" fmla="*/ 6858000 h 6858000"/>
              <a:gd name="connsiteX3" fmla="*/ 0 w 2020826"/>
              <a:gd name="connsiteY3" fmla="*/ 6858000 h 6858000"/>
              <a:gd name="connsiteX4" fmla="*/ 325674 w 2020826"/>
              <a:gd name="connsiteY4" fmla="*/ 5547360 h 6858000"/>
              <a:gd name="connsiteX5" fmla="*/ 1483914 w 2020826"/>
              <a:gd name="connsiteY5" fmla="*/ 5288280 h 6858000"/>
              <a:gd name="connsiteX6" fmla="*/ 920034 w 2020826"/>
              <a:gd name="connsiteY6" fmla="*/ 4130040 h 6858000"/>
              <a:gd name="connsiteX7" fmla="*/ 539034 w 2020826"/>
              <a:gd name="connsiteY7" fmla="*/ 1630680 h 6858000"/>
              <a:gd name="connsiteX8" fmla="*/ 1285794 w 2020826"/>
              <a:gd name="connsiteY8" fmla="*/ 5638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0826" h="6858000">
                <a:moveTo>
                  <a:pt x="108571" y="0"/>
                </a:moveTo>
                <a:lnTo>
                  <a:pt x="2020826" y="0"/>
                </a:lnTo>
                <a:lnTo>
                  <a:pt x="2020826" y="6858000"/>
                </a:lnTo>
                <a:lnTo>
                  <a:pt x="0" y="6858000"/>
                </a:lnTo>
                <a:lnTo>
                  <a:pt x="325674" y="5547360"/>
                </a:lnTo>
                <a:lnTo>
                  <a:pt x="1483914" y="5288280"/>
                </a:lnTo>
                <a:lnTo>
                  <a:pt x="920034" y="4130040"/>
                </a:lnTo>
                <a:lnTo>
                  <a:pt x="539034" y="1630680"/>
                </a:lnTo>
                <a:lnTo>
                  <a:pt x="1285794" y="5638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41769EFA-D4C0-40D1-9587-DA975697F139}"/>
              </a:ext>
            </a:extLst>
          </p:cNvPr>
          <p:cNvSpPr/>
          <p:nvPr/>
        </p:nvSpPr>
        <p:spPr>
          <a:xfrm>
            <a:off x="1" y="0"/>
            <a:ext cx="1978765" cy="6858000"/>
          </a:xfrm>
          <a:custGeom>
            <a:avLst/>
            <a:gdLst>
              <a:gd name="connsiteX0" fmla="*/ 0 w 1978765"/>
              <a:gd name="connsiteY0" fmla="*/ 0 h 6858000"/>
              <a:gd name="connsiteX1" fmla="*/ 1978765 w 1978765"/>
              <a:gd name="connsiteY1" fmla="*/ 0 h 6858000"/>
              <a:gd name="connsiteX2" fmla="*/ 1765755 w 1978765"/>
              <a:gd name="connsiteY2" fmla="*/ 1158240 h 6858000"/>
              <a:gd name="connsiteX3" fmla="*/ 1095195 w 1978765"/>
              <a:gd name="connsiteY3" fmla="*/ 1402080 h 6858000"/>
              <a:gd name="connsiteX4" fmla="*/ 394155 w 1978765"/>
              <a:gd name="connsiteY4" fmla="*/ 2118360 h 6858000"/>
              <a:gd name="connsiteX5" fmla="*/ 1232355 w 1978765"/>
              <a:gd name="connsiteY5" fmla="*/ 3429000 h 6858000"/>
              <a:gd name="connsiteX6" fmla="*/ 1811475 w 1978765"/>
              <a:gd name="connsiteY6" fmla="*/ 3810000 h 6858000"/>
              <a:gd name="connsiteX7" fmla="*/ 1491435 w 1978765"/>
              <a:gd name="connsiteY7" fmla="*/ 6096000 h 6858000"/>
              <a:gd name="connsiteX8" fmla="*/ 1647507 w 1978765"/>
              <a:gd name="connsiteY8" fmla="*/ 6858000 h 6858000"/>
              <a:gd name="connsiteX9" fmla="*/ 0 w 197876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78765" h="6858000">
                <a:moveTo>
                  <a:pt x="0" y="0"/>
                </a:moveTo>
                <a:lnTo>
                  <a:pt x="1978765" y="0"/>
                </a:lnTo>
                <a:lnTo>
                  <a:pt x="1765755" y="1158240"/>
                </a:lnTo>
                <a:lnTo>
                  <a:pt x="1095195" y="1402080"/>
                </a:lnTo>
                <a:lnTo>
                  <a:pt x="394155" y="2118360"/>
                </a:lnTo>
                <a:lnTo>
                  <a:pt x="1232355" y="3429000"/>
                </a:lnTo>
                <a:lnTo>
                  <a:pt x="1811475" y="3810000"/>
                </a:lnTo>
                <a:lnTo>
                  <a:pt x="1491435" y="6096000"/>
                </a:lnTo>
                <a:lnTo>
                  <a:pt x="164750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pic>
        <p:nvPicPr>
          <p:cNvPr id="32" name="图形 31">
            <a:extLst>
              <a:ext uri="{FF2B5EF4-FFF2-40B4-BE49-F238E27FC236}">
                <a16:creationId xmlns:a16="http://schemas.microsoft.com/office/drawing/2014/main" id="{C243843B-3B54-432C-95C1-88BA29BB5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1692"/>
          <a:stretch>
            <a:fillRect/>
          </a:stretch>
        </p:blipFill>
        <p:spPr>
          <a:xfrm rot="3632646">
            <a:off x="7261466" y="544830"/>
            <a:ext cx="6859885" cy="6181200"/>
          </a:xfrm>
          <a:custGeom>
            <a:avLst/>
            <a:gdLst>
              <a:gd name="connsiteX0" fmla="*/ 0 w 6859885"/>
              <a:gd name="connsiteY0" fmla="*/ 1781723 h 6181200"/>
              <a:gd name="connsiteX1" fmla="*/ 1006241 w 6859885"/>
              <a:gd name="connsiteY1" fmla="*/ 0 h 6181200"/>
              <a:gd name="connsiteX2" fmla="*/ 6859885 w 6859885"/>
              <a:gd name="connsiteY2" fmla="*/ 3305888 h 6181200"/>
              <a:gd name="connsiteX3" fmla="*/ 6859885 w 6859885"/>
              <a:gd name="connsiteY3" fmla="*/ 3581120 h 6181200"/>
              <a:gd name="connsiteX4" fmla="*/ 5391471 w 6859885"/>
              <a:gd name="connsiteY4" fmla="*/ 6181200 h 6181200"/>
              <a:gd name="connsiteX5" fmla="*/ 0 w 6859885"/>
              <a:gd name="connsiteY5" fmla="*/ 6181200 h 61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59885" h="6181200">
                <a:moveTo>
                  <a:pt x="0" y="1781723"/>
                </a:moveTo>
                <a:lnTo>
                  <a:pt x="1006241" y="0"/>
                </a:lnTo>
                <a:lnTo>
                  <a:pt x="6859885" y="3305888"/>
                </a:lnTo>
                <a:lnTo>
                  <a:pt x="6859885" y="3581120"/>
                </a:lnTo>
                <a:lnTo>
                  <a:pt x="5391471" y="6181200"/>
                </a:lnTo>
                <a:lnTo>
                  <a:pt x="0" y="6181200"/>
                </a:lnTo>
                <a:close/>
              </a:path>
            </a:pathLst>
          </a:cu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3EBCFBD0-17C7-4754-9380-82E4CA0EB4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7486"/>
          <a:stretch>
            <a:fillRect/>
          </a:stretch>
        </p:blipFill>
        <p:spPr>
          <a:xfrm rot="737125">
            <a:off x="-3613042" y="-848623"/>
            <a:ext cx="6759429" cy="9238303"/>
          </a:xfrm>
          <a:custGeom>
            <a:avLst/>
            <a:gdLst>
              <a:gd name="connsiteX0" fmla="*/ 0 w 6759429"/>
              <a:gd name="connsiteY0" fmla="*/ 6782788 h 9238303"/>
              <a:gd name="connsiteX1" fmla="*/ 534734 w 6759429"/>
              <a:gd name="connsiteY1" fmla="*/ 9238303 h 9238303"/>
              <a:gd name="connsiteX2" fmla="*/ 0 w 6759429"/>
              <a:gd name="connsiteY2" fmla="*/ 9238303 h 9238303"/>
              <a:gd name="connsiteX3" fmla="*/ 2827062 w 6759429"/>
              <a:gd name="connsiteY3" fmla="*/ 856346 h 9238303"/>
              <a:gd name="connsiteX4" fmla="*/ 6759429 w 6759429"/>
              <a:gd name="connsiteY4" fmla="*/ 0 h 9238303"/>
              <a:gd name="connsiteX5" fmla="*/ 6759429 w 6759429"/>
              <a:gd name="connsiteY5" fmla="*/ 7016773 h 9238303"/>
              <a:gd name="connsiteX6" fmla="*/ 4285912 w 6759429"/>
              <a:gd name="connsiteY6" fmla="*/ 7555427 h 923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59429" h="9238303">
                <a:moveTo>
                  <a:pt x="0" y="6782788"/>
                </a:moveTo>
                <a:lnTo>
                  <a:pt x="534734" y="9238303"/>
                </a:lnTo>
                <a:lnTo>
                  <a:pt x="0" y="9238303"/>
                </a:lnTo>
                <a:close/>
                <a:moveTo>
                  <a:pt x="2827062" y="856346"/>
                </a:moveTo>
                <a:lnTo>
                  <a:pt x="6759429" y="0"/>
                </a:lnTo>
                <a:lnTo>
                  <a:pt x="6759429" y="7016773"/>
                </a:lnTo>
                <a:lnTo>
                  <a:pt x="4285912" y="7555427"/>
                </a:lnTo>
                <a:close/>
              </a:path>
            </a:pathLst>
          </a:cu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1A46D14B-784F-4555-9678-457EDAE66B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0030" y="485484"/>
            <a:ext cx="2831940" cy="520356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B5E6D88A-4AE7-4D47-A542-489C55D14EE5}"/>
              </a:ext>
            </a:extLst>
          </p:cNvPr>
          <p:cNvGrpSpPr/>
          <p:nvPr/>
        </p:nvGrpSpPr>
        <p:grpSpPr>
          <a:xfrm>
            <a:off x="4016347" y="1984494"/>
            <a:ext cx="4224233" cy="2293865"/>
            <a:chOff x="205610" y="2289294"/>
            <a:chExt cx="4224233" cy="2293865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F3BCAF4-D11F-4A3D-AB13-4CE6658F4E6E}"/>
                </a:ext>
              </a:extLst>
            </p:cNvPr>
            <p:cNvSpPr txBox="1"/>
            <p:nvPr/>
          </p:nvSpPr>
          <p:spPr>
            <a:xfrm>
              <a:off x="205610" y="3567496"/>
              <a:ext cx="4224233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6000" spc="300" dirty="0">
                  <a:solidFill>
                    <a:srgbClr val="F2F2F2">
                      <a:lumMod val="25000"/>
                    </a:srgb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向量场</a:t>
              </a:r>
              <a:r>
                <a:rPr kumimoji="0" lang="zh-CN" altLang="en-US" sz="6000" b="0" i="0" u="none" strike="noStrike" kern="1200" cap="none" spc="300" normalizeH="0" baseline="0" noProof="0" dirty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cs"/>
                </a:rPr>
                <a:t>积分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1D4DCA9-4813-4112-BD9C-4EAA5942E610}"/>
                </a:ext>
              </a:extLst>
            </p:cNvPr>
            <p:cNvSpPr/>
            <p:nvPr/>
          </p:nvSpPr>
          <p:spPr>
            <a:xfrm>
              <a:off x="472910" y="2289294"/>
              <a:ext cx="3624711" cy="101566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EBA123"/>
                      </a:gs>
                      <a:gs pos="100000">
                        <a:srgbClr val="E6551A"/>
                      </a:gs>
                    </a:gsLst>
                    <a:lin ang="2700000" scaled="0"/>
                  </a:gra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Chapter16</a:t>
              </a:r>
              <a:endParaRPr kumimoji="0" lang="zh-CN" altLang="en-US" sz="6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BA123"/>
                    </a:gs>
                    <a:gs pos="100000">
                      <a:srgbClr val="E6551A"/>
                    </a:gs>
                  </a:gsLst>
                  <a:lin ang="2700000" scaled="0"/>
                </a:gra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86891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高数带飞课 苏宇鹏 </a:t>
            </a:r>
            <a:r>
              <a:rPr lang="en-US" altLang="zh-CN" dirty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68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Ch15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多重积分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算面积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球坐标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算体积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换元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雅可比行列式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求质心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重心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一次矩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4806" y="2603074"/>
            <a:ext cx="1030105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Ch16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向量场积分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一重积分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线积分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一型曲线积分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(Wall) 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二型曲线积分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(Work)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特殊的二型曲线积分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保守场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势函数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全微分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(exact)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(curl))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散度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(divergence))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格林公式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一型曲面积分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二型曲面积分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斯托克斯公式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梯度的旋度为零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高斯公式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旋度的散度为零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03337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69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6245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一型曲线积分的计算 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(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标量</a:t>
            </a:r>
            <a:r>
              <a:rPr lang="en-US" altLang="zh-CN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)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BC843A3-75E2-CD9C-15A6-63B196640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068" y="1087343"/>
            <a:ext cx="8403363" cy="215944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6DB2470-49D7-2182-9E2F-1095A6425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258" y="3191410"/>
            <a:ext cx="8403363" cy="304059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9E19C5E-10F0-2876-D902-379EC5F34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813" y="2744849"/>
            <a:ext cx="3752773" cy="278066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B4D3B35-EC35-13FE-DB72-6B7D786DF4F7}"/>
              </a:ext>
            </a:extLst>
          </p:cNvPr>
          <p:cNvSpPr txBox="1"/>
          <p:nvPr/>
        </p:nvSpPr>
        <p:spPr>
          <a:xfrm>
            <a:off x="8610600" y="5756268"/>
            <a:ext cx="3381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一型曲线积分的几何意义：</a:t>
            </a:r>
            <a:r>
              <a:rPr lang="en-US" altLang="zh-CN" dirty="0"/>
              <a:t>Wall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770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70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6901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二型曲线积分的计算 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(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矢量场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)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B5AF685-1ADC-B859-DE8A-B10C43924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28" y="1142720"/>
            <a:ext cx="8898406" cy="2207819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201F6A8-EF1A-1DD5-96D1-053D0709F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943" y="3350539"/>
            <a:ext cx="7511823" cy="3113411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13057CF-6593-6D9A-05FB-2B6729A57C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363"/>
          <a:stretch/>
        </p:blipFill>
        <p:spPr>
          <a:xfrm>
            <a:off x="8360229" y="2135286"/>
            <a:ext cx="3473947" cy="191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5685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71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6186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二型曲线积分的</a:t>
            </a: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性质与应用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2224AB3-7DF9-0457-8C0E-14132C24E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333020"/>
            <a:ext cx="6234742" cy="209598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0A94804-7B2F-53B7-535F-EF591F3648B3}"/>
              </a:ext>
            </a:extLst>
          </p:cNvPr>
          <p:cNvSpPr txBox="1"/>
          <p:nvPr/>
        </p:nvSpPr>
        <p:spPr>
          <a:xfrm>
            <a:off x="1262743" y="2144729"/>
            <a:ext cx="3640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在 </a:t>
            </a:r>
            <a:r>
              <a:rPr lang="en-US" altLang="zh-CN" sz="2400" dirty="0"/>
              <a:t>x y z </a:t>
            </a:r>
            <a:r>
              <a:rPr lang="zh-CN" altLang="en-US" sz="2400" dirty="0"/>
              <a:t>轴上做曲线积分：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2187BB3-090A-CC67-9CF9-A4E68995A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380" y="3608403"/>
            <a:ext cx="6834051" cy="74621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60E734A-3544-6DBD-5048-559785B45AA1}"/>
              </a:ext>
            </a:extLst>
          </p:cNvPr>
          <p:cNvSpPr txBox="1"/>
          <p:nvPr/>
        </p:nvSpPr>
        <p:spPr>
          <a:xfrm>
            <a:off x="978569" y="3729947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将组合形式的曲线积分可写为：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8CB8CBB-C92E-821A-E273-92FBCF0154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81" y="4431009"/>
            <a:ext cx="7674836" cy="181346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20C7AA3-3930-8BD5-567E-BEF3B9B1D75B}"/>
              </a:ext>
            </a:extLst>
          </p:cNvPr>
          <p:cNvSpPr txBox="1"/>
          <p:nvPr/>
        </p:nvSpPr>
        <p:spPr>
          <a:xfrm>
            <a:off x="1409581" y="519362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做功</a:t>
            </a:r>
          </a:p>
        </p:txBody>
      </p:sp>
    </p:spTree>
    <p:extLst>
      <p:ext uri="{BB962C8B-B14F-4D97-AF65-F5344CB8AC3E}">
        <p14:creationId xmlns:p14="http://schemas.microsoft.com/office/powerpoint/2010/main" val="370093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4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高数带飞课 苏宇鹏 </a:t>
            </a:r>
            <a:r>
              <a:rPr lang="en-US" altLang="zh-CN" dirty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72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Ch15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多重积分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算面积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球坐标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算体积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换元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雅可比行列式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求质心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重心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一次矩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4806" y="2603074"/>
            <a:ext cx="1030105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Ch16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向量场积分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一重积分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线积分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一型曲线积分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(Wall)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二型曲线积分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(Work)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特殊的二型曲线积分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 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 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保守场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势函数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全微分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(exact)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(curl))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散度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(divergence))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格林公式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一型曲面积分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二型曲面积分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斯托克斯公式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梯度的旋度为零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高斯公式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旋度的散度为零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128253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73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860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流量积分与环量 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F61D7F1-FBA0-F803-6202-C82F72F11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672" y="1383159"/>
            <a:ext cx="9163458" cy="246619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DD91B06-71C6-3245-EEC7-C1A7894C07F0}"/>
              </a:ext>
            </a:extLst>
          </p:cNvPr>
          <p:cNvSpPr txBox="1"/>
          <p:nvPr/>
        </p:nvSpPr>
        <p:spPr>
          <a:xfrm>
            <a:off x="3829856" y="5325421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矢量场沿路径方向线积分的物理意义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82DBFAC-2938-44CC-A1CB-8FB6DD00D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119" y="4284669"/>
            <a:ext cx="3829050" cy="9429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1C73C63-9687-1F6E-8C1D-61C00378F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0686" y="4279585"/>
            <a:ext cx="1040433" cy="73377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140209FE-55DD-8E9E-7269-B1272B54D591}"/>
              </a:ext>
            </a:extLst>
          </p:cNvPr>
          <p:cNvSpPr txBox="1"/>
          <p:nvPr/>
        </p:nvSpPr>
        <p:spPr>
          <a:xfrm>
            <a:off x="2107696" y="4502687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更常用的计算方法：</a:t>
            </a:r>
          </a:p>
        </p:txBody>
      </p:sp>
    </p:spTree>
    <p:extLst>
      <p:ext uri="{BB962C8B-B14F-4D97-AF65-F5344CB8AC3E}">
        <p14:creationId xmlns:p14="http://schemas.microsoft.com/office/powerpoint/2010/main" val="173373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74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1184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通量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5DD7594-BCB9-5467-6F50-C92C7288D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66" y="1394323"/>
            <a:ext cx="9573577" cy="235521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AFE7D93-B52B-D506-55A1-B289531D7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480" y="3561912"/>
            <a:ext cx="8667663" cy="212478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AF937FC-717B-C6F7-F0D4-354905647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2352871"/>
            <a:ext cx="3459865" cy="241808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B28168F-4C5A-E5B8-DDE0-6E68EA30FC3D}"/>
              </a:ext>
            </a:extLst>
          </p:cNvPr>
          <p:cNvSpPr txBox="1"/>
          <p:nvPr/>
        </p:nvSpPr>
        <p:spPr>
          <a:xfrm>
            <a:off x="679490" y="4318006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更常用的计算方法：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A93339-7A9E-8057-2AB5-CE066E09CE0E}"/>
              </a:ext>
            </a:extLst>
          </p:cNvPr>
          <p:cNvSpPr txBox="1"/>
          <p:nvPr/>
        </p:nvSpPr>
        <p:spPr>
          <a:xfrm>
            <a:off x="3387565" y="5749161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矢量场垂直路径方向线积分的物理意义</a:t>
            </a:r>
          </a:p>
        </p:txBody>
      </p:sp>
    </p:spTree>
    <p:extLst>
      <p:ext uri="{BB962C8B-B14F-4D97-AF65-F5344CB8AC3E}">
        <p14:creationId xmlns:p14="http://schemas.microsoft.com/office/powerpoint/2010/main" val="384512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高数带飞课 苏宇鹏 </a:t>
            </a:r>
            <a:r>
              <a:rPr lang="en-US" altLang="zh-CN" dirty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75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Ch15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多重积分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算面积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球坐标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算体积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换元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雅可比行列式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求质心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重心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一次矩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4806" y="2603074"/>
            <a:ext cx="1030105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Ch16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向量场积分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一重积分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线积分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一型曲线积分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(Wall)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二型曲线积分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(Work)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特殊的二型曲线积分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保守场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势函数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全微分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(exact)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(curl))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散度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(divergence))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格林公式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一型曲面积分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二型曲面积分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斯托克斯公式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梯度的旋度为零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高斯公式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旋度的散度为零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846864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76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保守场与势函数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9F977F3-D427-FA92-706C-100A67AE8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211" y="1268559"/>
            <a:ext cx="9268641" cy="15945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E39C72B-C8FF-43AA-E6A3-18AC4D6C4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678" y="3327774"/>
            <a:ext cx="9268641" cy="103158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85200C4-E741-21F8-5DF6-C5552FF46460}"/>
              </a:ext>
            </a:extLst>
          </p:cNvPr>
          <p:cNvSpPr txBox="1"/>
          <p:nvPr/>
        </p:nvSpPr>
        <p:spPr>
          <a:xfrm>
            <a:off x="3409209" y="4603593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梯度场是保守的，保守场必然有势函数。</a:t>
            </a:r>
          </a:p>
        </p:txBody>
      </p:sp>
    </p:spTree>
    <p:extLst>
      <p:ext uri="{BB962C8B-B14F-4D97-AF65-F5344CB8AC3E}">
        <p14:creationId xmlns:p14="http://schemas.microsoft.com/office/powerpoint/2010/main" val="2919208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77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梯度相关定理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000299B-810B-080A-6046-030649BE7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491" y="1096727"/>
            <a:ext cx="8009709" cy="234430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776CF4C-A20B-A511-084F-FA72606D0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705" y="3300283"/>
            <a:ext cx="8192589" cy="143404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6BEA3AD-1A81-21DA-6955-90C7A857A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2491" y="4512937"/>
            <a:ext cx="7905965" cy="175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35383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78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保守场的判别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BBEAC48-E856-79AC-DBAA-A1B35BD6D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801" y="1190700"/>
            <a:ext cx="8267972" cy="228733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93BB75D-789A-5B32-5DF1-FA05EC0A1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9064" y="4920881"/>
            <a:ext cx="4186509" cy="80977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7DB36DD-164D-D0DC-B138-7A67BE413D24}"/>
              </a:ext>
            </a:extLst>
          </p:cNvPr>
          <p:cNvSpPr txBox="1"/>
          <p:nvPr/>
        </p:nvSpPr>
        <p:spPr>
          <a:xfrm>
            <a:off x="371473" y="5096134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判断出保守并找出势函数：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8E1AD7D-8463-FAD7-8C69-7EC43973D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727" y="3746894"/>
            <a:ext cx="7599689" cy="54828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C2790C7-49F7-BB0B-ECB2-0086359324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415" y="3298049"/>
            <a:ext cx="3726545" cy="305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437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79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1685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全微分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9D8AEF5-8623-D99E-C335-3F869A139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404" y="1227503"/>
            <a:ext cx="8271647" cy="208397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BACD0F3-A8FC-16E7-ACEE-DD126D348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566" y="3226690"/>
            <a:ext cx="7833225" cy="224096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EABB457-6F99-6E39-0987-30D026C67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435" y="4568630"/>
            <a:ext cx="3314565" cy="94297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0447C19-1062-F375-ADA3-1D14526591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9434" y="5511602"/>
            <a:ext cx="4752566" cy="52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54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高数带飞课 苏宇鹏 </a:t>
            </a:r>
            <a:r>
              <a:rPr lang="en-US" altLang="zh-CN" dirty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80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Ch15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多重积分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算面积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球坐标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算体积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换元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雅可比行列式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求质心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重心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一次矩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4806" y="2603074"/>
            <a:ext cx="1030105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Ch16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向量场积分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一重积分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线积分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一型曲线积分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(Wall)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二型曲线积分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(Work)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特殊的二型曲线积分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保守场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势函数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全微分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(exact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(curl))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散度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(divergence)) 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格林公式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一型曲面积分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二型曲面积分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斯托克斯公式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梯度的旋度为零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高斯公式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旋度的散度为零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461669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81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7455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环量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密度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(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旋度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)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与通量密度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(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散度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)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88894A4-A10E-C706-A639-A136D113A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09" y="1432276"/>
            <a:ext cx="8494061" cy="210377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71E7DCD-249A-B47A-3340-DBB26E91C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54" y="3627257"/>
            <a:ext cx="8411786" cy="171899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6E8BE32-E6C3-598B-AE9B-CF3A691FA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5069" y="1638621"/>
            <a:ext cx="3055983" cy="198863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A62AE99-44E5-8718-9350-51D3574A1D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3370" y="3857500"/>
            <a:ext cx="2978630" cy="189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23457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82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6666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格林公式 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(Green Theorem)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FF84AEB-188B-A94B-3A06-6C76D0245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153" y="1145133"/>
            <a:ext cx="7248116" cy="264623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39000F0-14C1-78FF-6D6B-BCAF6282B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897" y="3742475"/>
            <a:ext cx="7248116" cy="269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69627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高数带飞课 苏宇鹏 </a:t>
            </a:r>
            <a:r>
              <a:rPr lang="en-US" altLang="zh-CN" dirty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83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Ch15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多重积分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算面积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球坐标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算体积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换元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雅可比行列式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求质心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重心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一次矩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4806" y="2603074"/>
            <a:ext cx="1030105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Ch16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向量场积分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一重积分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线积分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一型曲线积分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(Wall)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二型曲线积分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(Work)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特殊的二型曲线积分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保守场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势函数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全微分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(exact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(curl))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散度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(divergence))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格林公式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面积分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一型曲面积分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二型曲面积分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斯托克斯公式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梯度的旋度为零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体积分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高斯公式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旋度的散度为零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691111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84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860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曲面面积的计算 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6D2DE3-04A7-142D-FBB5-B90794964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826" y="1212803"/>
            <a:ext cx="7910345" cy="234504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8738902-376B-546F-5648-B7FAE4F99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271" y="3330825"/>
            <a:ext cx="6435872" cy="156917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18D0B8F-1EA4-89D5-9FEE-6D173DDB8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501" y="3497845"/>
            <a:ext cx="3341844" cy="247913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6E84802-F39E-1E72-6D95-6525F8E03A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629" y="4887167"/>
            <a:ext cx="6491741" cy="146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6122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85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6245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一型曲面积分的计算 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(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标量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)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5F4C1C8-734A-53DB-933C-CFEF83DAB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547" y="1483451"/>
            <a:ext cx="7321029" cy="194554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D61D08B-9416-B05F-68D4-F360C9763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47" y="3582409"/>
            <a:ext cx="7615809" cy="219364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F006986-B4FE-2DB9-AE0A-69986B4F101C}"/>
              </a:ext>
            </a:extLst>
          </p:cNvPr>
          <p:cNvSpPr txBox="1"/>
          <p:nvPr/>
        </p:nvSpPr>
        <p:spPr>
          <a:xfrm>
            <a:off x="8716356" y="235131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参数方程形式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162C2B0-7E20-475C-DD47-BC7AC0DDB086}"/>
              </a:ext>
            </a:extLst>
          </p:cNvPr>
          <p:cNvSpPr txBox="1"/>
          <p:nvPr/>
        </p:nvSpPr>
        <p:spPr>
          <a:xfrm>
            <a:off x="8716356" y="3892167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函数表达式形式</a:t>
            </a:r>
          </a:p>
        </p:txBody>
      </p:sp>
    </p:spTree>
    <p:extLst>
      <p:ext uri="{BB962C8B-B14F-4D97-AF65-F5344CB8AC3E}">
        <p14:creationId xmlns:p14="http://schemas.microsoft.com/office/powerpoint/2010/main" val="330875486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86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79CD177-4E0B-6953-8A40-B9FB8CD60038}"/>
              </a:ext>
            </a:extLst>
          </p:cNvPr>
          <p:cNvSpPr txBox="1"/>
          <p:nvPr/>
        </p:nvSpPr>
        <p:spPr>
          <a:xfrm>
            <a:off x="602645" y="496389"/>
            <a:ext cx="6260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二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型曲面积分的计算 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(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矢量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)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3F71F54-F20B-9D63-8546-EE3696656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6671" y="1742135"/>
            <a:ext cx="3285941" cy="149269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27D86FB-FEDE-6AF8-8202-DEE97F6F0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230" y="3623167"/>
            <a:ext cx="3285942" cy="181224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9ECF366-F9FF-4BB2-9916-AE7C4E882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677" y="1422586"/>
            <a:ext cx="8356919" cy="234822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E558EBC-133D-4D0B-8341-1906E09B9B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3934" y="2966178"/>
            <a:ext cx="938758" cy="39045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634106C-895A-B8E8-762B-2402BA33D5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5039" y="3675948"/>
            <a:ext cx="7066745" cy="1015799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0E1FB38-F255-C7B1-9819-E798C1447754}"/>
              </a:ext>
            </a:extLst>
          </p:cNvPr>
          <p:cNvSpPr txBox="1"/>
          <p:nvPr/>
        </p:nvSpPr>
        <p:spPr>
          <a:xfrm>
            <a:off x="3814285" y="5060436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矢量场曲面积分的物理意义</a:t>
            </a:r>
          </a:p>
        </p:txBody>
      </p:sp>
    </p:spTree>
    <p:extLst>
      <p:ext uri="{BB962C8B-B14F-4D97-AF65-F5344CB8AC3E}">
        <p14:creationId xmlns:p14="http://schemas.microsoft.com/office/powerpoint/2010/main" val="3628757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87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78138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斯托克斯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公式 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(Stokes Theorem)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ADA3298-189A-C6B3-D1CF-651A9DAA7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07" y="1171614"/>
            <a:ext cx="8415201" cy="37297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15636DF-885C-A9E0-9C14-DEE88F8B6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261" y="5123326"/>
            <a:ext cx="3605960" cy="76951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F5B32BD-B233-7CE6-4FC1-D3F6E901F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225" y="4575863"/>
            <a:ext cx="2619375" cy="188595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44A68A3-B88B-90F3-8EB8-E38CEB046E0B}"/>
              </a:ext>
            </a:extLst>
          </p:cNvPr>
          <p:cNvSpPr txBox="1"/>
          <p:nvPr/>
        </p:nvSpPr>
        <p:spPr>
          <a:xfrm>
            <a:off x="978362" y="5288006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三维场旋度的定义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99D3AB6-F90F-3E06-B797-A7A694FCA7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2976295"/>
            <a:ext cx="3105730" cy="319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956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88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梯度的旋度为零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6B410FE-242F-3612-DD9B-B9A69EA17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629" y="1282057"/>
            <a:ext cx="6362700" cy="6191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7CA3EAC-F242-65FA-89F6-F77A9BDD2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896" y="1960193"/>
            <a:ext cx="7804241" cy="205462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5DBF1A3-4120-9B20-7FFE-7AD7BCAA8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08" y="4516794"/>
            <a:ext cx="6055845" cy="141790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8B3D410-2447-DBEE-13DF-06E80966F3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7421" y="3691006"/>
            <a:ext cx="5614579" cy="260386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E70EA18-DC49-DF03-33AC-9FB295AC9D68}"/>
              </a:ext>
            </a:extLst>
          </p:cNvPr>
          <p:cNvSpPr txBox="1"/>
          <p:nvPr/>
        </p:nvSpPr>
        <p:spPr>
          <a:xfrm>
            <a:off x="1319003" y="2664822"/>
            <a:ext cx="1014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Proof: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2377480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高数带飞课 苏宇鹏 </a:t>
            </a:r>
            <a:r>
              <a:rPr lang="en-US" altLang="zh-CN" dirty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89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Ch15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多重积分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算面积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球坐标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算体积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换元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雅可比行列式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求质心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重心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一次矩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4806" y="2603074"/>
            <a:ext cx="1030105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Ch16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向量场积分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一重积分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线积分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一型曲线积分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(Wall)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二型曲线积分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(Work)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特殊的二型曲线积分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保守场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势函数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全微分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(exact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(curl))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散度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(divergence))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格林公式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一型曲面积分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二型曲面积分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斯托克斯公式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梯度的旋度为零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体积分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高斯公式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旋度的散度为零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852358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90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高斯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公式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50E00E1-F267-E5E5-7EE7-A6B8FE28C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093" y="1271016"/>
            <a:ext cx="8617811" cy="344712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A5E24E5-F06B-8048-A729-2A0DD2EA9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855" y="4953270"/>
            <a:ext cx="4400550" cy="100965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721A396-9664-A229-E717-0DBB16EEF8CA}"/>
              </a:ext>
            </a:extLst>
          </p:cNvPr>
          <p:cNvSpPr txBox="1"/>
          <p:nvPr/>
        </p:nvSpPr>
        <p:spPr>
          <a:xfrm>
            <a:off x="2624282" y="5227263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三维场散度的定义</a:t>
            </a:r>
          </a:p>
        </p:txBody>
      </p:sp>
    </p:spTree>
    <p:extLst>
      <p:ext uri="{BB962C8B-B14F-4D97-AF65-F5344CB8AC3E}">
        <p14:creationId xmlns:p14="http://schemas.microsoft.com/office/powerpoint/2010/main" val="149371452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91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旋度的散度为零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D8214E-B5F2-0697-A6DC-1362AF27A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500" y="1203680"/>
            <a:ext cx="8680878" cy="135664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510B5DE-7AC2-3EA6-36EC-F6562D377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457" y="2904250"/>
            <a:ext cx="8048727" cy="265008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1C09448-A238-1B5E-DAAD-5222260AEE1C}"/>
              </a:ext>
            </a:extLst>
          </p:cNvPr>
          <p:cNvSpPr txBox="1"/>
          <p:nvPr/>
        </p:nvSpPr>
        <p:spPr>
          <a:xfrm>
            <a:off x="1430564" y="2900674"/>
            <a:ext cx="1014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Proof: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7326779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 14 15 16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92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1184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总结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AA1F7E3-8B86-4630-BEB4-5642F3369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005" y="1154578"/>
            <a:ext cx="7441178" cy="520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8734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2024/6/13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高数带飞课 苏宇鹏 </a:t>
            </a:r>
            <a:r>
              <a:rPr lang="en-US" altLang="zh-CN" dirty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93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Ch15 </a:t>
            </a:r>
            <a:r>
              <a:rPr lang="zh-CN" altLang="en-US" sz="2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多重积分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算面积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柱坐标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球坐标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算体积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换元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雅可比行列式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求质心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重心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一次矩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4806" y="2603074"/>
            <a:ext cx="1030105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Ch16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向量场积分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一重积分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线积分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一型曲线积分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(Wall)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二型曲线积分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(Work)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特殊的二型曲线积分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(flow)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保守场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势函数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全微分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(exact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(circulation)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(curl))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(flux)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散度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(divergence))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格林公式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二重积分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一型曲面积分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二型曲面积分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斯托克斯公式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梯度的旋度为零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三重积分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体积分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高斯公式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旋度的散度为零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511917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B726794-7B26-4759-BB19-EBCA93CBA512}"/>
              </a:ext>
            </a:extLst>
          </p:cNvPr>
          <p:cNvSpPr txBox="1"/>
          <p:nvPr/>
        </p:nvSpPr>
        <p:spPr>
          <a:xfrm>
            <a:off x="4841498" y="2532601"/>
            <a:ext cx="5416868" cy="1792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60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Q&amp;A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800" spc="300" dirty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祝大家期末顺利！</a:t>
            </a:r>
            <a:endParaRPr kumimoji="0" lang="zh-CN" altLang="en-US" sz="4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+mn-cs"/>
            </a:endParaRP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080B2D-97AA-420D-A094-796E1C3884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44123" y="485484"/>
            <a:ext cx="2831940" cy="52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671543"/>
      </p:ext>
    </p:extLst>
  </p:cSld>
  <p:clrMapOvr>
    <a:masterClrMapping/>
  </p:clrMapOvr>
</p:sld>
</file>

<file path=ppt/theme/theme1.xml><?xml version="1.0" encoding="utf-8"?>
<a:theme xmlns:a="http://schemas.openxmlformats.org/drawingml/2006/main" name="已停用母版样式">
  <a:themeElements>
    <a:clrScheme name="南方科技大学专属配色方案 01">
      <a:dk1>
        <a:srgbClr val="ED6C00"/>
      </a:dk1>
      <a:lt1>
        <a:srgbClr val="FFFFFF"/>
      </a:lt1>
      <a:dk2>
        <a:srgbClr val="01605A"/>
      </a:dk2>
      <a:lt2>
        <a:srgbClr val="F2F2F2"/>
      </a:lt2>
      <a:accent1>
        <a:srgbClr val="003F43"/>
      </a:accent1>
      <a:accent2>
        <a:srgbClr val="ED6C00"/>
      </a:accent2>
      <a:accent3>
        <a:srgbClr val="2BB7B3"/>
      </a:accent3>
      <a:accent4>
        <a:srgbClr val="01605A"/>
      </a:accent4>
      <a:accent5>
        <a:srgbClr val="77D3D2"/>
      </a:accent5>
      <a:accent6>
        <a:srgbClr val="DBF6EF"/>
      </a:accent6>
      <a:hlink>
        <a:srgbClr val="2BB7B3"/>
      </a:hlink>
      <a:folHlink>
        <a:srgbClr val="01605A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8355</TotalTime>
  <Words>6318</Words>
  <Application>Microsoft Office PowerPoint</Application>
  <PresentationFormat>宽屏</PresentationFormat>
  <Paragraphs>699</Paragraphs>
  <Slides>94</Slides>
  <Notes>4</Notes>
  <HiddenSlides>2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94</vt:i4>
      </vt:variant>
    </vt:vector>
  </HeadingPairs>
  <TitlesOfParts>
    <vt:vector size="106" baseType="lpstr">
      <vt:lpstr>PingFang SC</vt:lpstr>
      <vt:lpstr>等线</vt:lpstr>
      <vt:lpstr>思源黑体 CN Heavy</vt:lpstr>
      <vt:lpstr>思源黑体 CN Light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已停用母版样式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Yaojia Zhang</dc:creator>
  <cp:lastModifiedBy>衍宁 何</cp:lastModifiedBy>
  <cp:revision>78</cp:revision>
  <cp:lastPrinted>2023-03-26T03:59:10Z</cp:lastPrinted>
  <dcterms:created xsi:type="dcterms:W3CDTF">2019-12-04T07:19:48Z</dcterms:created>
  <dcterms:modified xsi:type="dcterms:W3CDTF">2024-06-13T14:23:13Z</dcterms:modified>
</cp:coreProperties>
</file>