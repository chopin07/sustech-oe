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24"/>
  </p:notesMasterIdLst>
  <p:sldIdLst>
    <p:sldId id="336" r:id="rId3"/>
    <p:sldId id="319" r:id="rId4"/>
    <p:sldId id="304" r:id="rId5"/>
    <p:sldId id="309" r:id="rId6"/>
    <p:sldId id="265" r:id="rId7"/>
    <p:sldId id="269" r:id="rId8"/>
    <p:sldId id="271" r:id="rId9"/>
    <p:sldId id="332" r:id="rId10"/>
    <p:sldId id="278" r:id="rId11"/>
    <p:sldId id="283" r:id="rId12"/>
    <p:sldId id="275" r:id="rId13"/>
    <p:sldId id="276" r:id="rId14"/>
    <p:sldId id="285" r:id="rId15"/>
    <p:sldId id="286" r:id="rId16"/>
    <p:sldId id="314" r:id="rId17"/>
    <p:sldId id="316" r:id="rId18"/>
    <p:sldId id="317" r:id="rId19"/>
    <p:sldId id="333" r:id="rId20"/>
    <p:sldId id="298" r:id="rId21"/>
    <p:sldId id="299" r:id="rId22"/>
    <p:sldId id="334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0000"/>
    <a:srgbClr val="000080"/>
    <a:srgbClr val="CC0000"/>
    <a:srgbClr val="416BB3"/>
    <a:srgbClr val="8B0030"/>
    <a:srgbClr val="1164A0"/>
    <a:srgbClr val="C82E32"/>
    <a:srgbClr val="1009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2" y="-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111" d="100"/>
          <a:sy n="111" d="100"/>
        </p:scale>
        <p:origin x="-326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FB0504A-FD75-E04E-970E-74AEF649A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9891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9EA23E4-6930-294B-819D-D849CBBAFC90}" type="slidenum">
              <a:rPr lang="en-US" sz="1200"/>
              <a:pPr/>
              <a:t>3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895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55E9A85-3531-A549-AB42-A8CAC447D2AB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649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F9753E1-175A-A948-8DA8-D02A1BB9D626}" type="slidenum">
              <a:rPr lang="en-US" sz="1200"/>
              <a:pPr/>
              <a:t>6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850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EDC409E-4045-5F4D-AB71-BC4D76329295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286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BEDAD89-78EB-7F45-9AF8-ABA55A387E1F}" type="slidenum">
              <a:rPr lang="en-US" sz="1200"/>
              <a:pPr/>
              <a:t>8</a:t>
            </a:fld>
            <a:endParaRPr lang="en-US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333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801D210-51FE-4947-A812-4156EC50B09B}" type="slidenum">
              <a:rPr lang="en-US" sz="1200"/>
              <a:pPr/>
              <a:t>9</a:t>
            </a:fld>
            <a:endParaRPr lang="en-US" sz="12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92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80E3F4D-8D24-9946-8959-3CEFA95A882A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66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0CAA4DC-4DB3-6749-8DEF-35DEE64EEE7F}" type="slidenum">
              <a:rPr lang="en-US" sz="1200"/>
              <a:pPr/>
              <a:t>11</a:t>
            </a:fld>
            <a:endParaRPr lang="en-US" sz="12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239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BBA5C42-AE85-B240-91AE-2DFB73EAC1E1}" type="slidenum">
              <a:rPr lang="en-US" sz="1200"/>
              <a:pPr/>
              <a:t>12</a:t>
            </a:fld>
            <a:endParaRPr lang="en-US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295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313D8E7-2AFC-7D49-9BC6-81EB330D6A5F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343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81619E2-4C7D-474D-AEE8-DFC04DC0A367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667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327997C-E321-1844-B1F4-16464767C181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727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05E8927-70DC-FA4D-96DB-907E2DE7AF60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728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924A3B-3EBE-9848-8119-6CE0DCD380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38542072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ECBDC9-BC42-4448-87AA-DDB65684AF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780880644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C6C2A-DA5B-374A-9754-78A5DA3FB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909641763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0C40FF-1DED-9240-9916-D1C2A7735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759695208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1EE4E6-3E07-7845-956A-6C2035F6B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580427262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C7C7D-8020-4345-936D-6C4542046B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25036108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238C3-AA94-1943-9D58-3EED3628B8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275140548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9B5909-6FC0-2A4E-936F-6D27288355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4185779474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48817F-8BF9-D846-90F1-5214431EEC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81416166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246A4-7156-594E-884D-A449CED96F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038262426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22C92-8C11-5240-B58B-8DA0DAAFFB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036710865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E5F98-1E4F-D241-8792-998012BC50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983393734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733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6C1EE1-16AC-884A-B029-CEA4E2EE6F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8958689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733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28327-157D-A047-89AD-65B4285215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229095986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68577-9799-3140-B64C-06505A0E4F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1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ftr" sz="quarter" idx="12"/>
          </p:nvPr>
        </p:nvSpPr>
        <p:spPr>
          <a:xfrm>
            <a:off x="3810000" y="4267200"/>
            <a:ext cx="47244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402545957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23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674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4717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98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87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09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285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789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38676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401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55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2B3A18B-6D2D-5241-AD19-E8BC5F3DA8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29" name="Group 15"/>
          <p:cNvGrpSpPr>
            <a:grpSpLocks/>
          </p:cNvGrpSpPr>
          <p:nvPr userDrawn="1"/>
        </p:nvGrpSpPr>
        <p:grpSpPr bwMode="auto">
          <a:xfrm>
            <a:off x="7772400" y="5486400"/>
            <a:ext cx="1287463" cy="1233488"/>
            <a:chOff x="4896" y="3456"/>
            <a:chExt cx="811" cy="777"/>
          </a:xfrm>
        </p:grpSpPr>
        <p:pic>
          <p:nvPicPr>
            <p:cNvPr id="1033" name="Picture 13" descr="Triangle--Gray"/>
            <p:cNvPicPr>
              <a:picLocks noChangeAspect="1" noChangeArrowheads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456"/>
              <a:ext cx="777" cy="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" name="Rectangle 12"/>
            <p:cNvSpPr>
              <a:spLocks noChangeArrowheads="1"/>
            </p:cNvSpPr>
            <p:nvPr userDrawn="1"/>
          </p:nvSpPr>
          <p:spPr bwMode="auto">
            <a:xfrm>
              <a:off x="4913" y="3788"/>
              <a:ext cx="7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400"/>
                <a:t>Stoichiometry</a:t>
              </a:r>
              <a:endParaRPr lang="en-US" sz="1400">
                <a:solidFill>
                  <a:srgbClr val="8B0030"/>
                </a:solidFill>
                <a:latin typeface="Times New Roman" charset="0"/>
              </a:endParaRPr>
            </a:p>
          </p:txBody>
        </p:sp>
      </p:grpSp>
      <p:sp>
        <p:nvSpPr>
          <p:cNvPr id="1031" name="Rectangle 17"/>
          <p:cNvSpPr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endParaRPr lang="en-US" sz="1400"/>
          </a:p>
        </p:txBody>
      </p:sp>
      <p:sp>
        <p:nvSpPr>
          <p:cNvPr id="14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transition spd="slow"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smtClean="0">
                <a:solidFill>
                  <a:srgbClr val="73738C"/>
                </a:solidFill>
              </a:rPr>
              <a:t>© 2015 Pearson Education, Inc.</a:t>
            </a:r>
            <a:endParaRPr lang="en-US" b="1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ヒラギノ角ゴ Pro W3" charset="0"/>
          <a:cs typeface="ヒラギノ角ゴ Pro W3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ヒラギノ角ゴ Pro W3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ヒラギノ角ゴ Pro W3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ヒラギノ角ゴ Pro W3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ヒラギノ角ゴ Pro W3" charset="0"/>
          <a:cs typeface="ヒラギノ角ゴ Pro W3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ヒラギノ角ゴ Pro W3" charset="0"/>
          <a:cs typeface="ヒラギノ角ゴ Pro W3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14" descr="英文logo（背景透明）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122223"/>
            <a:ext cx="3203067" cy="932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631" y="990600"/>
            <a:ext cx="2839793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76439" y="838200"/>
            <a:ext cx="5667161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b="1" dirty="0" smtClean="0">
                <a:latin typeface="+mn-ea"/>
                <a:ea typeface="+mn-ea"/>
              </a:rPr>
              <a:t>Dr. </a:t>
            </a:r>
            <a:r>
              <a:rPr lang="en-US" altLang="zh-CN" sz="1800" b="1" dirty="0" err="1" smtClean="0">
                <a:latin typeface="+mn-ea"/>
                <a:ea typeface="+mn-ea"/>
              </a:rPr>
              <a:t>Zhiping</a:t>
            </a:r>
            <a:r>
              <a:rPr lang="en-US" altLang="zh-CN" sz="1800" b="1" dirty="0" smtClean="0">
                <a:latin typeface="+mn-ea"/>
                <a:ea typeface="+mn-ea"/>
              </a:rPr>
              <a:t> </a:t>
            </a:r>
            <a:r>
              <a:rPr lang="en-US" altLang="zh-CN" sz="1800" b="1" dirty="0" err="1">
                <a:latin typeface="+mn-ea"/>
                <a:ea typeface="+mn-ea"/>
              </a:rPr>
              <a:t>Zheng</a:t>
            </a:r>
            <a:endParaRPr lang="en-US" altLang="zh-CN" sz="18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1800" b="1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 smtClean="0">
                <a:latin typeface="+mn-ea"/>
                <a:ea typeface="+mn-ea"/>
              </a:rPr>
              <a:t>Chair Professor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 smtClean="0">
                <a:latin typeface="+mn-ea"/>
                <a:ea typeface="+mn-ea"/>
              </a:rPr>
              <a:t>Chair</a:t>
            </a:r>
            <a:r>
              <a:rPr lang="en-US" altLang="zh-CN" sz="1800" b="1" dirty="0" smtClean="0">
                <a:latin typeface="+mn-ea"/>
                <a:ea typeface="+mn-ea"/>
              </a:rPr>
              <a:t>, Department of Chemistry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 smtClean="0">
                <a:latin typeface="+mn-ea"/>
                <a:ea typeface="+mn-ea"/>
              </a:rPr>
              <a:t>Executive Director, Shenzhen </a:t>
            </a:r>
            <a:r>
              <a:rPr lang="en-US" altLang="zh-CN" sz="1800" b="1" dirty="0">
                <a:latin typeface="+mn-ea"/>
                <a:ea typeface="+mn-ea"/>
              </a:rPr>
              <a:t>G</a:t>
            </a:r>
            <a:r>
              <a:rPr lang="en-US" altLang="zh-CN" sz="1800" b="1" dirty="0" smtClean="0">
                <a:latin typeface="+mn-ea"/>
                <a:ea typeface="+mn-ea"/>
              </a:rPr>
              <a:t>rubbs Institute</a:t>
            </a:r>
            <a:endParaRPr lang="en-US" altLang="zh-CN" sz="18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zh-CN" sz="1800" dirty="0" smtClean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smtClean="0">
                <a:latin typeface="+mn-ea"/>
                <a:ea typeface="+mn-ea"/>
              </a:rPr>
              <a:t>Peking University (BS, 1987; MS,1990)</a:t>
            </a:r>
            <a:endParaRPr lang="en-US" altLang="zh-CN" sz="1800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smtClean="0">
                <a:latin typeface="+mn-ea"/>
                <a:ea typeface="+mn-ea"/>
              </a:rPr>
              <a:t>University of California, Los Angeles (PhD, 1995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smtClean="0">
                <a:latin typeface="+mn-ea"/>
                <a:ea typeface="+mn-ea"/>
              </a:rPr>
              <a:t>Postdoctoral </a:t>
            </a:r>
            <a:r>
              <a:rPr lang="en-US" altLang="zh-CN" sz="1800" dirty="0" smtClean="0">
                <a:latin typeface="+mn-ea"/>
                <a:ea typeface="+mn-ea"/>
              </a:rPr>
              <a:t>Fellow, Harvard University </a:t>
            </a:r>
            <a:r>
              <a:rPr lang="en-US" altLang="zh-CN" sz="1800" dirty="0" smtClean="0">
                <a:latin typeface="+mn-ea"/>
                <a:ea typeface="+mn-ea"/>
              </a:rPr>
              <a:t>(1995-1997</a:t>
            </a:r>
            <a:r>
              <a:rPr lang="en-US" altLang="zh-CN" sz="1800" dirty="0">
                <a:latin typeface="+mn-ea"/>
                <a:ea typeface="+mn-ea"/>
              </a:rPr>
              <a:t>)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 smtClean="0">
                <a:latin typeface="+mn-ea"/>
                <a:ea typeface="+mn-ea"/>
              </a:rPr>
              <a:t>Fellow, Royal Society of Chemistry (2016)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sz="1800" dirty="0" smtClean="0">
                <a:latin typeface="+mn-ea"/>
                <a:ea typeface="+mn-ea"/>
              </a:rPr>
              <a:t>University of Arizona (1997-2017)</a:t>
            </a:r>
            <a:endParaRPr lang="en-US" altLang="zh-CN" sz="1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5964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1" descr="BROW0417_13_eca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Title 1"/>
          <p:cNvSpPr>
            <a:spLocks noGrp="1"/>
          </p:cNvSpPr>
          <p:nvPr>
            <p:ph type="ctrTitle"/>
          </p:nvPr>
        </p:nvSpPr>
        <p:spPr bwMode="auto">
          <a:xfrm>
            <a:off x="4495800" y="1676400"/>
            <a:ext cx="4572000" cy="3505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3400" b="1" dirty="0">
                <a:latin typeface="Arial" charset="0"/>
                <a:cs typeface="Arial" charset="0"/>
              </a:rPr>
              <a:t>Chapter 3</a:t>
            </a:r>
            <a:br>
              <a:rPr lang="en-US" sz="3400" b="1" dirty="0">
                <a:latin typeface="Arial" charset="0"/>
                <a:cs typeface="Arial" charset="0"/>
              </a:rPr>
            </a:br>
            <a:r>
              <a:rPr lang="en-US" sz="3400" b="1" dirty="0">
                <a:latin typeface="Arial" charset="0"/>
                <a:cs typeface="Arial" charset="0"/>
              </a:rPr>
              <a:t/>
            </a:r>
            <a:br>
              <a:rPr lang="en-US" sz="3400" b="1" dirty="0">
                <a:latin typeface="Arial" charset="0"/>
                <a:cs typeface="Arial" charset="0"/>
              </a:rPr>
            </a:br>
            <a:r>
              <a:rPr lang="en-US" sz="3400" b="1" dirty="0">
                <a:latin typeface="Arial" charset="0"/>
                <a:cs typeface="Arial" charset="0"/>
              </a:rPr>
              <a:t> </a:t>
            </a:r>
            <a:r>
              <a:rPr lang="en-US" sz="3400" b="1" dirty="0">
                <a:latin typeface="Arial" charset="0"/>
              </a:rPr>
              <a:t>Chemical </a:t>
            </a:r>
            <a:r>
              <a:rPr lang="en-US" sz="3400" b="1" dirty="0" smtClean="0">
                <a:latin typeface="Arial" charset="0"/>
              </a:rPr>
              <a:t>Reactions and</a:t>
            </a:r>
            <a:r>
              <a:rPr lang="en-US" sz="3400" b="1" dirty="0">
                <a:latin typeface="Arial" charset="0"/>
              </a:rPr>
              <a:t> </a:t>
            </a:r>
            <a:r>
              <a:rPr lang="en-US" sz="3400" b="1" dirty="0" smtClean="0">
                <a:latin typeface="Arial" charset="0"/>
              </a:rPr>
              <a:t>Reaction </a:t>
            </a:r>
            <a:r>
              <a:rPr lang="en-US" sz="3400" b="1" dirty="0">
                <a:latin typeface="Arial" charset="0"/>
              </a:rPr>
              <a:t>Stoichiometry</a:t>
            </a:r>
            <a:endParaRPr lang="en-US" sz="6600" dirty="0">
              <a:latin typeface="Arial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5800" y="5791200"/>
            <a:ext cx="4572000" cy="99060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z="1800" dirty="0">
                <a:solidFill>
                  <a:srgbClr val="0D0D0D"/>
                </a:solidFill>
                <a:cs typeface="+mn-cs"/>
              </a:rPr>
              <a:t>James F. Kirby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D0D0D"/>
                </a:solidFill>
                <a:cs typeface="+mn-cs"/>
              </a:rPr>
              <a:t>Quinnipiac University</a:t>
            </a:r>
          </a:p>
          <a:p>
            <a:pPr eaLnBrk="1" hangingPunct="1">
              <a:defRPr/>
            </a:pPr>
            <a:r>
              <a:rPr lang="en-US" sz="1800" dirty="0">
                <a:solidFill>
                  <a:srgbClr val="0D0D0D"/>
                </a:solidFill>
                <a:cs typeface="+mn-cs"/>
              </a:rPr>
              <a:t>Hamden, CT</a:t>
            </a: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>
                <a:solidFill>
                  <a:srgbClr val="000000"/>
                </a:solidFill>
                <a:cs typeface="Arial" charset="0"/>
              </a:rPr>
              <a:t>Lecture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30216"/>
            <a:ext cx="9144000" cy="1143000"/>
          </a:xfrm>
        </p:spPr>
        <p:txBody>
          <a:bodyPr/>
          <a:lstStyle/>
          <a:p>
            <a:pPr eaLnBrk="1" hangingPunct="1"/>
            <a:r>
              <a:rPr lang="en-US" sz="3400" b="1" dirty="0">
                <a:latin typeface="Arial" charset="0"/>
                <a:ea typeface="ＭＳ Ｐゴシック" charset="0"/>
              </a:rPr>
              <a:t>What Is in a </a:t>
            </a:r>
            <a:r>
              <a:rPr lang="en-US" sz="3400" b="1" u="sng" dirty="0">
                <a:latin typeface="Arial" charset="0"/>
                <a:ea typeface="ＭＳ Ｐゴシック" charset="0"/>
              </a:rPr>
              <a:t>Chemical Equation</a:t>
            </a:r>
            <a:r>
              <a:rPr lang="en-US" sz="3400" b="1" dirty="0">
                <a:latin typeface="Arial" charset="0"/>
                <a:ea typeface="ＭＳ Ｐゴシック" charset="0"/>
              </a:rPr>
              <a:t>?</a:t>
            </a:r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3962400" y="15240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012784"/>
            <a:ext cx="9144000" cy="9906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dirty="0">
                <a:latin typeface="Arial" charset="0"/>
                <a:ea typeface="ＭＳ Ｐゴシック" charset="0"/>
              </a:rPr>
              <a:t>CH</a:t>
            </a:r>
            <a:r>
              <a:rPr lang="en-US" baseline="-25000" dirty="0">
                <a:latin typeface="Arial" charset="0"/>
                <a:ea typeface="ＭＳ Ｐゴシック" charset="0"/>
              </a:rPr>
              <a:t>4</a:t>
            </a:r>
            <a:r>
              <a:rPr lang="en-US" dirty="0">
                <a:latin typeface="Arial" charset="0"/>
                <a:ea typeface="ＭＳ Ｐゴシック" charset="0"/>
              </a:rPr>
              <a:t>(</a:t>
            </a:r>
            <a:r>
              <a:rPr lang="en-US" i="1" dirty="0">
                <a:latin typeface="Arial" charset="0"/>
                <a:ea typeface="ＭＳ Ｐゴシック" charset="0"/>
              </a:rPr>
              <a:t>g</a:t>
            </a:r>
            <a:r>
              <a:rPr lang="en-US" dirty="0">
                <a:latin typeface="Arial" charset="0"/>
                <a:ea typeface="ＭＳ Ｐゴシック" charset="0"/>
              </a:rPr>
              <a:t>) + </a:t>
            </a:r>
            <a:r>
              <a:rPr lang="en-US" dirty="0">
                <a:solidFill>
                  <a:srgbClr val="0000FF"/>
                </a:solidFill>
                <a:latin typeface="Arial" charset="0"/>
                <a:ea typeface="ＭＳ Ｐゴシック" charset="0"/>
              </a:rPr>
              <a:t>2</a:t>
            </a:r>
            <a:r>
              <a:rPr lang="en-US" dirty="0">
                <a:latin typeface="Arial" charset="0"/>
                <a:ea typeface="ＭＳ Ｐゴシック" charset="0"/>
              </a:rPr>
              <a:t>O</a:t>
            </a:r>
            <a:r>
              <a:rPr lang="en-US" baseline="-25000" dirty="0">
                <a:latin typeface="Arial" charset="0"/>
                <a:ea typeface="ＭＳ Ｐゴシック" charset="0"/>
              </a:rPr>
              <a:t>2</a:t>
            </a:r>
            <a:r>
              <a:rPr lang="en-US" dirty="0">
                <a:latin typeface="Arial" charset="0"/>
                <a:ea typeface="ＭＳ Ｐゴシック" charset="0"/>
              </a:rPr>
              <a:t>(</a:t>
            </a:r>
            <a:r>
              <a:rPr lang="en-US" i="1" dirty="0">
                <a:latin typeface="Arial" charset="0"/>
                <a:ea typeface="ＭＳ Ｐゴシック" charset="0"/>
              </a:rPr>
              <a:t>g</a:t>
            </a:r>
            <a:r>
              <a:rPr lang="en-US" dirty="0">
                <a:latin typeface="Arial" charset="0"/>
                <a:ea typeface="ＭＳ Ｐゴシック" charset="0"/>
              </a:rPr>
              <a:t>)</a:t>
            </a:r>
            <a:r>
              <a:rPr lang="en-US" baseline="-25000" dirty="0">
                <a:latin typeface="Arial" charset="0"/>
                <a:ea typeface="ＭＳ Ｐゴシック" charset="0"/>
              </a:rPr>
              <a:t>               </a:t>
            </a:r>
            <a:r>
              <a:rPr lang="en-US" dirty="0">
                <a:latin typeface="Arial" charset="0"/>
                <a:ea typeface="ＭＳ Ｐゴシック" charset="0"/>
              </a:rPr>
              <a:t>   CO</a:t>
            </a:r>
            <a:r>
              <a:rPr lang="en-US" baseline="-25000" dirty="0">
                <a:latin typeface="Arial" charset="0"/>
                <a:ea typeface="ＭＳ Ｐゴシック" charset="0"/>
              </a:rPr>
              <a:t>2</a:t>
            </a:r>
            <a:r>
              <a:rPr lang="en-US" dirty="0">
                <a:latin typeface="Arial" charset="0"/>
                <a:ea typeface="ＭＳ Ｐゴシック" charset="0"/>
              </a:rPr>
              <a:t>(</a:t>
            </a:r>
            <a:r>
              <a:rPr lang="en-US" i="1" dirty="0">
                <a:latin typeface="Arial" charset="0"/>
                <a:ea typeface="ＭＳ Ｐゴシック" charset="0"/>
              </a:rPr>
              <a:t>g</a:t>
            </a:r>
            <a:r>
              <a:rPr lang="en-US" dirty="0">
                <a:latin typeface="Arial" charset="0"/>
                <a:ea typeface="ＭＳ Ｐゴシック" charset="0"/>
              </a:rPr>
              <a:t>) + </a:t>
            </a:r>
            <a:r>
              <a:rPr lang="en-US" dirty="0">
                <a:solidFill>
                  <a:srgbClr val="0000FF"/>
                </a:solidFill>
                <a:latin typeface="Arial" charset="0"/>
                <a:ea typeface="ＭＳ Ｐゴシック" charset="0"/>
              </a:rPr>
              <a:t>2</a:t>
            </a:r>
            <a:r>
              <a:rPr lang="en-US" dirty="0">
                <a:latin typeface="Arial" charset="0"/>
                <a:ea typeface="ＭＳ Ｐゴシック" charset="0"/>
              </a:rPr>
              <a:t>H</a:t>
            </a:r>
            <a:r>
              <a:rPr lang="en-US" baseline="-25000" dirty="0">
                <a:latin typeface="Arial" charset="0"/>
                <a:ea typeface="ＭＳ Ｐゴシック" charset="0"/>
              </a:rPr>
              <a:t>2</a:t>
            </a:r>
            <a:r>
              <a:rPr lang="en-US" dirty="0">
                <a:latin typeface="Arial" charset="0"/>
                <a:ea typeface="ＭＳ Ｐゴシック" charset="0"/>
              </a:rPr>
              <a:t>O(</a:t>
            </a:r>
            <a:r>
              <a:rPr lang="en-US" i="1" dirty="0">
                <a:latin typeface="Arial" charset="0"/>
                <a:ea typeface="ＭＳ Ｐゴシック" charset="0"/>
              </a:rPr>
              <a:t>g</a:t>
            </a:r>
            <a:r>
              <a:rPr lang="en-US" dirty="0">
                <a:latin typeface="Arial" charset="0"/>
                <a:ea typeface="ＭＳ Ｐゴシック" charset="0"/>
              </a:rPr>
              <a:t>)</a:t>
            </a: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-76200" y="4530328"/>
            <a:ext cx="8839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</a:pPr>
            <a:r>
              <a:rPr lang="en-US" sz="2800" dirty="0"/>
              <a:t>	The </a:t>
            </a:r>
            <a:r>
              <a:rPr lang="en-US" sz="2800" b="1" dirty="0"/>
              <a:t>states</a:t>
            </a:r>
            <a:r>
              <a:rPr lang="en-US" sz="2800" dirty="0"/>
              <a:t> of the </a:t>
            </a:r>
            <a:r>
              <a:rPr lang="en-US" sz="2800" dirty="0">
                <a:solidFill>
                  <a:srgbClr val="FF0000"/>
                </a:solidFill>
              </a:rPr>
              <a:t>reactants</a:t>
            </a:r>
            <a:r>
              <a:rPr lang="en-US" sz="2800" dirty="0"/>
              <a:t> and </a:t>
            </a:r>
            <a:r>
              <a:rPr lang="en-US" sz="2800" dirty="0">
                <a:solidFill>
                  <a:srgbClr val="FF0000"/>
                </a:solidFill>
              </a:rPr>
              <a:t>products</a:t>
            </a:r>
            <a:r>
              <a:rPr lang="en-US" sz="2800" dirty="0"/>
              <a:t> are written in parentheses to the right of each compound.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5520928"/>
            <a:ext cx="5105400" cy="9048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dirty="0">
                <a:ea typeface="ＭＳ Ｐゴシック" pitchFamily="48" charset="-128"/>
                <a:cs typeface="+mn-cs"/>
              </a:rPr>
              <a:t>(</a:t>
            </a:r>
            <a:r>
              <a:rPr lang="en-US" i="1" dirty="0">
                <a:ea typeface="ＭＳ Ｐゴシック" pitchFamily="48" charset="-128"/>
                <a:cs typeface="+mn-cs"/>
              </a:rPr>
              <a:t>g</a:t>
            </a:r>
            <a:r>
              <a:rPr lang="en-US" dirty="0">
                <a:ea typeface="ＭＳ Ｐゴシック" pitchFamily="48" charset="-128"/>
                <a:cs typeface="+mn-cs"/>
              </a:rPr>
              <a:t>) = gas; (</a:t>
            </a:r>
            <a:r>
              <a:rPr lang="en-US" i="1" dirty="0">
                <a:ea typeface="ＭＳ Ｐゴシック" pitchFamily="48" charset="-128"/>
                <a:cs typeface="+mn-cs"/>
              </a:rPr>
              <a:t>l</a:t>
            </a:r>
            <a:r>
              <a:rPr lang="en-US" dirty="0">
                <a:ea typeface="ＭＳ Ｐゴシック" pitchFamily="48" charset="-128"/>
                <a:cs typeface="+mn-cs"/>
              </a:rPr>
              <a:t>) = liquid; (</a:t>
            </a:r>
            <a:r>
              <a:rPr lang="en-US" i="1" dirty="0">
                <a:ea typeface="ＭＳ Ｐゴシック" pitchFamily="48" charset="-128"/>
                <a:cs typeface="+mn-cs"/>
              </a:rPr>
              <a:t>s</a:t>
            </a:r>
            <a:r>
              <a:rPr lang="en-US" dirty="0">
                <a:ea typeface="ＭＳ Ｐゴシック" pitchFamily="48" charset="-128"/>
                <a:cs typeface="+mn-cs"/>
              </a:rPr>
              <a:t>) = solid; 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dirty="0">
                <a:ea typeface="ＭＳ Ｐゴシック" pitchFamily="48" charset="-128"/>
                <a:cs typeface="+mn-cs"/>
              </a:rPr>
              <a:t>(</a:t>
            </a:r>
            <a:r>
              <a:rPr lang="en-US" i="1" dirty="0" err="1">
                <a:ea typeface="ＭＳ Ｐゴシック" pitchFamily="48" charset="-128"/>
                <a:cs typeface="+mn-cs"/>
              </a:rPr>
              <a:t>aq</a:t>
            </a:r>
            <a:r>
              <a:rPr lang="en-US" dirty="0">
                <a:ea typeface="ＭＳ Ｐゴシック" pitchFamily="48" charset="-128"/>
                <a:cs typeface="+mn-cs"/>
              </a:rPr>
              <a:t>) = in aqueous </a:t>
            </a:r>
            <a:r>
              <a:rPr lang="en-US" dirty="0" smtClean="0">
                <a:ea typeface="ＭＳ Ｐゴシック" pitchFamily="48" charset="-128"/>
                <a:cs typeface="+mn-cs"/>
              </a:rPr>
              <a:t>solution</a:t>
            </a:r>
            <a:endParaRPr lang="en-US" dirty="0">
              <a:ea typeface="ＭＳ Ｐゴシック" pitchFamily="48" charset="-128"/>
              <a:cs typeface="+mn-cs"/>
            </a:endParaRPr>
          </a:p>
        </p:txBody>
      </p:sp>
      <p:pic>
        <p:nvPicPr>
          <p:cNvPr id="27655" name="Picture 10" descr="03_05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1"/>
          <a:stretch>
            <a:fillRect/>
          </a:stretch>
        </p:blipFill>
        <p:spPr bwMode="auto">
          <a:xfrm>
            <a:off x="1143000" y="1752600"/>
            <a:ext cx="6858000" cy="2736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486400" y="5643855"/>
            <a:ext cx="1826141" cy="8676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b="1" dirty="0" smtClean="0">
                <a:solidFill>
                  <a:srgbClr val="0000FF"/>
                </a:solidFill>
              </a:rPr>
              <a:t>co-efficient</a:t>
            </a:r>
          </a:p>
          <a:p>
            <a:pPr>
              <a:lnSpc>
                <a:spcPts val="2000"/>
              </a:lnSpc>
            </a:pPr>
            <a:endParaRPr lang="en-US" b="1" dirty="0">
              <a:solidFill>
                <a:srgbClr val="0000FF"/>
              </a:solidFill>
            </a:endParaRPr>
          </a:p>
          <a:p>
            <a:pPr>
              <a:lnSpc>
                <a:spcPts val="2000"/>
              </a:lnSpc>
            </a:pPr>
            <a:r>
              <a:rPr lang="en-US" b="1" dirty="0" smtClean="0">
                <a:solidFill>
                  <a:srgbClr val="0000FF"/>
                </a:solidFill>
              </a:rPr>
              <a:t>to balance</a:t>
            </a:r>
            <a:endParaRPr 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5"/>
          <p:cNvSpPr>
            <a:spLocks noGrp="1"/>
          </p:cNvSpPr>
          <p:nvPr>
            <p:ph type="title"/>
          </p:nvPr>
        </p:nvSpPr>
        <p:spPr>
          <a:xfrm>
            <a:off x="-76200" y="609600"/>
            <a:ext cx="9144000" cy="11430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Three Types of Reactions</a:t>
            </a:r>
          </a:p>
        </p:txBody>
      </p:sp>
      <p:sp>
        <p:nvSpPr>
          <p:cNvPr id="32770" name="Content Placeholder 6"/>
          <p:cNvSpPr>
            <a:spLocks noGrp="1"/>
          </p:cNvSpPr>
          <p:nvPr>
            <p:ph idx="1"/>
          </p:nvPr>
        </p:nvSpPr>
        <p:spPr>
          <a:xfrm>
            <a:off x="1981200" y="2133600"/>
            <a:ext cx="5334000" cy="24384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Combination reactions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Decomposition reactions</a:t>
            </a:r>
          </a:p>
          <a:p>
            <a:r>
              <a:rPr lang="en-US" dirty="0">
                <a:latin typeface="Arial" charset="0"/>
                <a:ea typeface="ＭＳ Ｐゴシック" charset="0"/>
              </a:rPr>
              <a:t>Combustion </a:t>
            </a:r>
            <a:r>
              <a:rPr lang="en-US" dirty="0" smtClean="0">
                <a:latin typeface="Arial" charset="0"/>
                <a:ea typeface="ＭＳ Ｐゴシック" charset="0"/>
              </a:rPr>
              <a:t>reactions</a:t>
            </a:r>
          </a:p>
          <a:p>
            <a:r>
              <a:rPr lang="en-US" dirty="0" smtClean="0">
                <a:latin typeface="Arial" charset="0"/>
                <a:ea typeface="ＭＳ Ｐゴシック" charset="0"/>
              </a:rPr>
              <a:t>Other types of reactions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Combination Reactions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4572000"/>
            <a:ext cx="8001000" cy="19812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Examples:</a:t>
            </a:r>
          </a:p>
          <a:p>
            <a:pPr lvl="1" eaLnBrk="1" hangingPunct="1"/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2 Mg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s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+ O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           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2 </a:t>
            </a:r>
            <a:r>
              <a:rPr lang="en-US" sz="2400" dirty="0" err="1" smtClean="0">
                <a:latin typeface="Arial" charset="0"/>
                <a:ea typeface="ＭＳ Ｐゴシック" charset="0"/>
                <a:sym typeface="Symbol" charset="0"/>
              </a:rPr>
              <a:t>MgO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s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</a:t>
            </a:r>
            <a:endParaRPr lang="en-US" sz="2400" dirty="0">
              <a:latin typeface="Arial" charset="0"/>
              <a:ea typeface="ＭＳ Ｐゴシック" charset="0"/>
            </a:endParaRPr>
          </a:p>
          <a:p>
            <a:pPr lvl="1" eaLnBrk="1" hangingPunct="1"/>
            <a:r>
              <a:rPr lang="en-US" sz="2400" dirty="0">
                <a:latin typeface="Arial" charset="0"/>
                <a:ea typeface="ＭＳ Ｐゴシック" charset="0"/>
              </a:rPr>
              <a:t>N</a:t>
            </a:r>
            <a:r>
              <a:rPr lang="en-US" sz="2400" baseline="-25000" dirty="0">
                <a:latin typeface="Arial" charset="0"/>
                <a:ea typeface="ＭＳ Ｐゴシック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</a:rPr>
              <a:t>) +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3 H</a:t>
            </a:r>
            <a:r>
              <a:rPr lang="en-US" sz="2400" baseline="-25000" dirty="0" smtClean="0">
                <a:latin typeface="Arial" charset="0"/>
                <a:ea typeface="ＭＳ Ｐゴシック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</a:rPr>
              <a:t>)            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2 NH</a:t>
            </a:r>
            <a:r>
              <a:rPr lang="en-US" sz="2400" baseline="-25000" dirty="0" smtClean="0"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</a:t>
            </a:r>
          </a:p>
          <a:p>
            <a:pPr lvl="1" eaLnBrk="1" hangingPunct="1"/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C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H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6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+ Br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l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            C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H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6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Br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l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</a:t>
            </a:r>
          </a:p>
        </p:txBody>
      </p:sp>
      <p:sp>
        <p:nvSpPr>
          <p:cNvPr id="33796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715000" y="1219200"/>
            <a:ext cx="3276600" cy="3581400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ＭＳ Ｐゴシック" charset="0"/>
              </a:rPr>
              <a:t>In </a:t>
            </a:r>
            <a:r>
              <a:rPr lang="en-US" sz="2800" b="1">
                <a:latin typeface="Arial" charset="0"/>
                <a:ea typeface="ＭＳ Ｐゴシック" charset="0"/>
              </a:rPr>
              <a:t>combination reactions</a:t>
            </a:r>
            <a:r>
              <a:rPr lang="en-US" sz="2800">
                <a:latin typeface="Arial" charset="0"/>
                <a:ea typeface="ＭＳ Ｐゴシック" charset="0"/>
              </a:rPr>
              <a:t> two or more substances react to form one product.</a:t>
            </a:r>
          </a:p>
        </p:txBody>
      </p:sp>
      <p:pic>
        <p:nvPicPr>
          <p:cNvPr id="33797" name="Picture 2" descr="03_06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4"/>
          <a:stretch>
            <a:fillRect/>
          </a:stretch>
        </p:blipFill>
        <p:spPr bwMode="auto">
          <a:xfrm>
            <a:off x="457200" y="1295400"/>
            <a:ext cx="55054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Line 3"/>
          <p:cNvSpPr>
            <a:spLocks noChangeShapeType="1"/>
          </p:cNvSpPr>
          <p:nvPr/>
        </p:nvSpPr>
        <p:spPr bwMode="auto">
          <a:xfrm>
            <a:off x="3429000" y="61722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Line 3"/>
          <p:cNvSpPr>
            <a:spLocks noChangeShapeType="1"/>
          </p:cNvSpPr>
          <p:nvPr/>
        </p:nvSpPr>
        <p:spPr bwMode="auto">
          <a:xfrm>
            <a:off x="3352800" y="57912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Line 3"/>
          <p:cNvSpPr>
            <a:spLocks noChangeShapeType="1"/>
          </p:cNvSpPr>
          <p:nvPr/>
        </p:nvSpPr>
        <p:spPr bwMode="auto">
          <a:xfrm>
            <a:off x="3429000" y="53340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00200"/>
            <a:ext cx="3886200" cy="30480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In a </a:t>
            </a:r>
            <a:r>
              <a:rPr lang="en-US" sz="2800" b="1" dirty="0">
                <a:latin typeface="Arial" charset="0"/>
                <a:ea typeface="ＭＳ Ｐゴシック" charset="0"/>
              </a:rPr>
              <a:t>decomposition reaction</a:t>
            </a:r>
            <a:r>
              <a:rPr lang="en-US" sz="2800" dirty="0">
                <a:latin typeface="Arial" charset="0"/>
                <a:ea typeface="ＭＳ Ｐゴシック" charset="0"/>
              </a:rPr>
              <a:t> one substance breaks down into two or more substances.</a:t>
            </a:r>
          </a:p>
        </p:txBody>
      </p:sp>
      <p:sp>
        <p:nvSpPr>
          <p:cNvPr id="35843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Decomposition Reactions</a:t>
            </a:r>
          </a:p>
        </p:txBody>
      </p:sp>
      <p:sp>
        <p:nvSpPr>
          <p:cNvPr id="35844" name="Rectangle 1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52400" y="4419600"/>
            <a:ext cx="6477000" cy="20574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Examples:</a:t>
            </a:r>
          </a:p>
          <a:p>
            <a:pPr lvl="1" eaLnBrk="1" hangingPunct="1"/>
            <a:r>
              <a:rPr lang="en-US" sz="2400" dirty="0">
                <a:latin typeface="Arial" charset="0"/>
                <a:ea typeface="ＭＳ Ｐゴシック" charset="0"/>
              </a:rPr>
              <a:t>CaCO</a:t>
            </a:r>
            <a:r>
              <a:rPr lang="en-US" sz="2400" baseline="-25000" dirty="0">
                <a:latin typeface="Arial" charset="0"/>
                <a:ea typeface="ＭＳ Ｐゴシック" charset="0"/>
              </a:rPr>
              <a:t>3</a:t>
            </a:r>
            <a:r>
              <a:rPr lang="en-US" sz="2400" dirty="0">
                <a:latin typeface="Arial" charset="0"/>
                <a:ea typeface="ＭＳ Ｐゴシック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</a:rPr>
              <a:t>s</a:t>
            </a:r>
            <a:r>
              <a:rPr lang="en-US" sz="2400" dirty="0">
                <a:latin typeface="Arial" charset="0"/>
                <a:ea typeface="ＭＳ Ｐゴシック" charset="0"/>
              </a:rPr>
              <a:t>)	    </a:t>
            </a:r>
            <a:r>
              <a:rPr lang="en-US" sz="2400" dirty="0" err="1">
                <a:latin typeface="Arial" charset="0"/>
                <a:ea typeface="ＭＳ Ｐゴシック" charset="0"/>
                <a:sym typeface="Symbol" charset="0"/>
              </a:rPr>
              <a:t>CaO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s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+ CO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</a:t>
            </a:r>
          </a:p>
          <a:p>
            <a:pPr lvl="1" eaLnBrk="1" hangingPunct="1"/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2 KClO</a:t>
            </a:r>
            <a:r>
              <a:rPr lang="en-US" sz="2400" baseline="-25000" dirty="0" smtClean="0"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s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	    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 2 </a:t>
            </a:r>
            <a:r>
              <a:rPr lang="en-US" sz="2400" dirty="0" err="1" smtClean="0">
                <a:latin typeface="Arial" charset="0"/>
                <a:ea typeface="ＭＳ Ｐゴシック" charset="0"/>
                <a:sym typeface="Symbol" charset="0"/>
              </a:rPr>
              <a:t>KCl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s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+ O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</a:t>
            </a:r>
          </a:p>
          <a:p>
            <a:pPr lvl="1" eaLnBrk="1" hangingPunct="1"/>
            <a:r>
              <a:rPr lang="en-US" sz="2400" dirty="0" smtClean="0">
                <a:latin typeface="Arial" charset="0"/>
                <a:ea typeface="ＭＳ Ｐゴシック" charset="0"/>
              </a:rPr>
              <a:t>2 NaN</a:t>
            </a:r>
            <a:r>
              <a:rPr lang="en-US" sz="2400" baseline="-25000" dirty="0" smtClean="0">
                <a:latin typeface="Arial" charset="0"/>
                <a:ea typeface="ＭＳ Ｐゴシック" charset="0"/>
              </a:rPr>
              <a:t>3</a:t>
            </a:r>
            <a:r>
              <a:rPr lang="en-US" sz="2400" dirty="0">
                <a:latin typeface="Arial" charset="0"/>
                <a:ea typeface="ＭＳ Ｐゴシック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</a:rPr>
              <a:t>s</a:t>
            </a:r>
            <a:r>
              <a:rPr lang="en-US" sz="2400" dirty="0">
                <a:latin typeface="Arial" charset="0"/>
                <a:ea typeface="ＭＳ Ｐゴシック" charset="0"/>
              </a:rPr>
              <a:t>) 	  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2 Na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s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+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3 N</a:t>
            </a:r>
            <a:r>
              <a:rPr lang="en-US" sz="2400" baseline="-25000" dirty="0" smtClean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</a:t>
            </a:r>
            <a:endParaRPr lang="en-US" sz="2400" dirty="0">
              <a:latin typeface="Arial" charset="0"/>
              <a:ea typeface="ＭＳ Ｐゴシック" charset="0"/>
            </a:endParaRPr>
          </a:p>
        </p:txBody>
      </p:sp>
      <p:pic>
        <p:nvPicPr>
          <p:cNvPr id="35845" name="Picture 2" descr="03_07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1295400"/>
            <a:ext cx="4608512" cy="309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Line 3"/>
          <p:cNvSpPr>
            <a:spLocks noChangeShapeType="1"/>
          </p:cNvSpPr>
          <p:nvPr/>
        </p:nvSpPr>
        <p:spPr bwMode="auto">
          <a:xfrm>
            <a:off x="2362200" y="51816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7" name="Line 3"/>
          <p:cNvSpPr>
            <a:spLocks noChangeShapeType="1"/>
          </p:cNvSpPr>
          <p:nvPr/>
        </p:nvSpPr>
        <p:spPr bwMode="auto">
          <a:xfrm>
            <a:off x="2514600" y="56388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8" name="Line 3"/>
          <p:cNvSpPr>
            <a:spLocks noChangeShapeType="1"/>
          </p:cNvSpPr>
          <p:nvPr/>
        </p:nvSpPr>
        <p:spPr bwMode="auto">
          <a:xfrm>
            <a:off x="2362200" y="60960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400" dirty="0" smtClean="0">
                <a:latin typeface="Arial" charset="0"/>
                <a:ea typeface="ＭＳ Ｐゴシック" charset="0"/>
              </a:rPr>
              <a:t>Combustion (</a:t>
            </a:r>
            <a:r>
              <a:rPr lang="en-US" sz="34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to burn</a:t>
            </a:r>
            <a:r>
              <a:rPr lang="en-US" sz="3400" dirty="0" smtClean="0">
                <a:latin typeface="Arial" charset="0"/>
                <a:ea typeface="ＭＳ Ｐゴシック" charset="0"/>
              </a:rPr>
              <a:t>) </a:t>
            </a:r>
            <a:r>
              <a:rPr lang="en-US" sz="3400" dirty="0">
                <a:latin typeface="Arial" charset="0"/>
                <a:ea typeface="ＭＳ Ｐゴシック" charset="0"/>
              </a:rPr>
              <a:t>Reactions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42900" y="4730178"/>
            <a:ext cx="7086600" cy="15240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  <a:ea typeface="ＭＳ Ｐゴシック" charset="0"/>
              </a:rPr>
              <a:t>Examples:</a:t>
            </a:r>
          </a:p>
          <a:p>
            <a:pPr lvl="1" eaLnBrk="1" hangingPunct="1"/>
            <a:r>
              <a:rPr lang="en-US" sz="2400" dirty="0">
                <a:latin typeface="Arial" charset="0"/>
                <a:ea typeface="ＭＳ Ｐゴシック" charset="0"/>
              </a:rPr>
              <a:t>CH</a:t>
            </a:r>
            <a:r>
              <a:rPr lang="en-US" sz="2400" baseline="-25000" dirty="0">
                <a:latin typeface="Arial" charset="0"/>
                <a:ea typeface="ＭＳ Ｐゴシック" charset="0"/>
              </a:rPr>
              <a:t>4</a:t>
            </a:r>
            <a:r>
              <a:rPr lang="en-US" sz="2400" dirty="0">
                <a:latin typeface="Arial" charset="0"/>
                <a:ea typeface="ＭＳ Ｐゴシック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</a:rPr>
              <a:t>) +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2 O</a:t>
            </a:r>
            <a:r>
              <a:rPr lang="en-US" sz="2400" baseline="-25000" dirty="0" smtClean="0">
                <a:latin typeface="Arial" charset="0"/>
                <a:ea typeface="ＭＳ Ｐゴシック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</a:rPr>
              <a:t>) 	   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CO</a:t>
            </a:r>
            <a:r>
              <a:rPr lang="en-US" sz="2400" baseline="-25000" dirty="0" smtClean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+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2 H</a:t>
            </a:r>
            <a:r>
              <a:rPr lang="en-US" sz="2400" baseline="-25000" dirty="0" smtClean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O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</a:t>
            </a:r>
          </a:p>
          <a:p>
            <a:pPr lvl="1" eaLnBrk="1" hangingPunct="1"/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C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3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H</a:t>
            </a:r>
            <a:r>
              <a:rPr lang="en-US" sz="2400" baseline="-25000" dirty="0">
                <a:latin typeface="Arial" charset="0"/>
                <a:ea typeface="ＭＳ Ｐゴシック" charset="0"/>
                <a:sym typeface="Symbol" charset="0"/>
              </a:rPr>
              <a:t>8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+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5 O</a:t>
            </a:r>
            <a:r>
              <a:rPr lang="en-US" sz="2400" baseline="-25000" dirty="0" smtClean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	    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 3 CO</a:t>
            </a:r>
            <a:r>
              <a:rPr lang="en-US" sz="2400" baseline="-25000" dirty="0" smtClean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+ 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4 H</a:t>
            </a:r>
            <a:r>
              <a:rPr lang="en-US" sz="2400" baseline="-25000" dirty="0" smtClean="0">
                <a:latin typeface="Arial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 smtClean="0">
                <a:latin typeface="Arial" charset="0"/>
                <a:ea typeface="ＭＳ Ｐゴシック" charset="0"/>
                <a:sym typeface="Symbol" charset="0"/>
              </a:rPr>
              <a:t>O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(</a:t>
            </a:r>
            <a:r>
              <a:rPr lang="en-US" sz="2400" i="1" dirty="0">
                <a:latin typeface="Arial" charset="0"/>
                <a:ea typeface="ＭＳ Ｐゴシック" charset="0"/>
                <a:sym typeface="Symbol" charset="0"/>
              </a:rPr>
              <a:t>g</a:t>
            </a:r>
            <a:r>
              <a:rPr lang="en-US" sz="2400" dirty="0">
                <a:latin typeface="Arial" charset="0"/>
                <a:ea typeface="ＭＳ Ｐゴシック" charset="0"/>
                <a:sym typeface="Symbol" charset="0"/>
              </a:rPr>
              <a:t>) </a:t>
            </a:r>
            <a:endParaRPr lang="en-US" sz="2400" dirty="0">
              <a:latin typeface="Arial" charset="0"/>
              <a:ea typeface="ＭＳ Ｐゴシック" charset="0"/>
            </a:endParaRPr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257800" y="1524000"/>
            <a:ext cx="3810000" cy="35814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Arial" charset="0"/>
                <a:ea typeface="ＭＳ Ｐゴシック" charset="0"/>
              </a:rPr>
              <a:t>Combustion reactions</a:t>
            </a:r>
            <a:r>
              <a:rPr lang="en-US" sz="2400" dirty="0">
                <a:latin typeface="Arial" charset="0"/>
                <a:ea typeface="ＭＳ Ｐゴシック" charset="0"/>
              </a:rPr>
              <a:t> are generally rapid reactions that produce </a:t>
            </a:r>
            <a:br>
              <a:rPr lang="en-US" sz="2400" dirty="0">
                <a:latin typeface="Arial" charset="0"/>
                <a:ea typeface="ＭＳ Ｐゴシック" charset="0"/>
              </a:rPr>
            </a:br>
            <a:r>
              <a:rPr lang="en-US" sz="2400" dirty="0">
                <a:latin typeface="Arial" charset="0"/>
                <a:ea typeface="ＭＳ Ｐゴシック" charset="0"/>
              </a:rPr>
              <a:t>a flame.</a:t>
            </a:r>
          </a:p>
          <a:p>
            <a:pPr eaLnBrk="1" hangingPunct="1"/>
            <a:r>
              <a:rPr lang="en-US" sz="2400" b="1" dirty="0">
                <a:latin typeface="Arial" charset="0"/>
                <a:ea typeface="ＭＳ Ｐゴシック" charset="0"/>
              </a:rPr>
              <a:t>Combustion reactions</a:t>
            </a:r>
            <a:r>
              <a:rPr lang="en-US" sz="2400" dirty="0">
                <a:latin typeface="Arial" charset="0"/>
                <a:ea typeface="ＭＳ Ｐゴシック" charset="0"/>
              </a:rPr>
              <a:t> most often involve </a:t>
            </a:r>
            <a:r>
              <a:rPr lang="en-US" sz="2400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oxygen</a:t>
            </a:r>
            <a:r>
              <a:rPr lang="en-US" sz="2400" dirty="0">
                <a:latin typeface="Arial" charset="0"/>
                <a:ea typeface="ＭＳ Ｐゴシック" charset="0"/>
              </a:rPr>
              <a:t> in the air as a reactant.</a:t>
            </a:r>
          </a:p>
        </p:txBody>
      </p:sp>
      <p:pic>
        <p:nvPicPr>
          <p:cNvPr id="37893" name="Picture 2" descr="03_04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1"/>
          <a:stretch>
            <a:fillRect/>
          </a:stretch>
        </p:blipFill>
        <p:spPr bwMode="auto">
          <a:xfrm>
            <a:off x="228600" y="2133600"/>
            <a:ext cx="5029200" cy="218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Line 3"/>
          <p:cNvSpPr>
            <a:spLocks noChangeShapeType="1"/>
          </p:cNvSpPr>
          <p:nvPr/>
        </p:nvSpPr>
        <p:spPr bwMode="auto">
          <a:xfrm>
            <a:off x="3462759" y="5492178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895" name="Line 3"/>
          <p:cNvSpPr>
            <a:spLocks noChangeShapeType="1"/>
          </p:cNvSpPr>
          <p:nvPr/>
        </p:nvSpPr>
        <p:spPr bwMode="auto">
          <a:xfrm>
            <a:off x="3581400" y="59436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90600"/>
            <a:ext cx="9144000" cy="1143000"/>
          </a:xfrm>
        </p:spPr>
        <p:txBody>
          <a:bodyPr/>
          <a:lstStyle/>
          <a:p>
            <a:pPr eaLnBrk="1" hangingPunct="1">
              <a:lnSpc>
                <a:spcPts val="3000"/>
              </a:lnSpc>
            </a:pPr>
            <a:r>
              <a:rPr lang="en-US" b="1" dirty="0" smtClean="0">
                <a:latin typeface="Arial" charset="0"/>
                <a:ea typeface="ＭＳ Ｐゴシック" charset="0"/>
              </a:rPr>
              <a:t>Quantities (the amount)</a:t>
            </a:r>
            <a:br>
              <a:rPr lang="en-US" b="1" dirty="0" smtClean="0">
                <a:latin typeface="Arial" charset="0"/>
                <a:ea typeface="ＭＳ Ｐゴシック" charset="0"/>
              </a:rPr>
            </a:br>
            <a:r>
              <a:rPr lang="en-US" b="1" dirty="0">
                <a:latin typeface="Arial" charset="0"/>
                <a:ea typeface="ＭＳ Ｐゴシック" charset="0"/>
              </a:rPr>
              <a:t/>
            </a:r>
            <a:br>
              <a:rPr lang="en-US" b="1" dirty="0">
                <a:latin typeface="Arial" charset="0"/>
                <a:ea typeface="ＭＳ Ｐゴシック" charset="0"/>
              </a:rPr>
            </a:br>
            <a:r>
              <a:rPr lang="en-US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reactants</a:t>
            </a:r>
            <a:r>
              <a:rPr lang="en-US" dirty="0" smtClean="0">
                <a:latin typeface="Arial" charset="0"/>
                <a:ea typeface="ＭＳ Ｐゴシック" charset="0"/>
              </a:rPr>
              <a:t> consumed</a:t>
            </a:r>
            <a:br>
              <a:rPr lang="en-US" dirty="0" smtClean="0">
                <a:latin typeface="Arial" charset="0"/>
                <a:ea typeface="ＭＳ Ｐゴシック" charset="0"/>
              </a:rPr>
            </a:br>
            <a:r>
              <a:rPr lang="en-US" dirty="0">
                <a:latin typeface="Arial" charset="0"/>
                <a:ea typeface="ＭＳ Ｐゴシック" charset="0"/>
              </a:rPr>
              <a:t/>
            </a:r>
            <a:br>
              <a:rPr lang="en-US" dirty="0">
                <a:latin typeface="Arial" charset="0"/>
                <a:ea typeface="ＭＳ Ｐゴシック" charset="0"/>
              </a:rPr>
            </a:br>
            <a:r>
              <a:rPr lang="en-US" dirty="0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products</a:t>
            </a:r>
            <a:r>
              <a:rPr lang="en-US" dirty="0" smtClean="0">
                <a:latin typeface="Arial" charset="0"/>
                <a:ea typeface="ＭＳ Ｐゴシック" charset="0"/>
              </a:rPr>
              <a:t> produced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124200"/>
            <a:ext cx="757893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Atoms or molecules are small and light!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Particles (atoms or molecules)  ↔  Total mass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Total mass/mass of each particle = </a:t>
            </a:r>
            <a:r>
              <a:rPr lang="en-US" b="1" u="sng" dirty="0" smtClean="0"/>
              <a:t># of particles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0000"/>
                </a:solidFill>
              </a:rPr>
              <a:t>And the # </a:t>
            </a:r>
            <a:r>
              <a:rPr lang="en-US" b="1" dirty="0">
                <a:solidFill>
                  <a:srgbClr val="FF0000"/>
                </a:solidFill>
              </a:rPr>
              <a:t>of </a:t>
            </a:r>
            <a:r>
              <a:rPr lang="en-US" b="1" dirty="0" smtClean="0">
                <a:solidFill>
                  <a:srgbClr val="FF0000"/>
                </a:solidFill>
              </a:rPr>
              <a:t>particles </a:t>
            </a:r>
            <a:r>
              <a:rPr lang="en-US" b="1" dirty="0">
                <a:solidFill>
                  <a:srgbClr val="FF0000"/>
                </a:solidFill>
              </a:rPr>
              <a:t>is HUGE!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95922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4173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latin typeface="Arial" charset="0"/>
                <a:ea typeface="ＭＳ Ｐゴシック" charset="0"/>
              </a:rPr>
              <a:t>Avogadro</a:t>
            </a:r>
            <a:r>
              <a:rPr lang="ja-JP" altLang="en-US" dirty="0">
                <a:latin typeface="Arial" charset="0"/>
                <a:ea typeface="ＭＳ Ｐゴシック" charset="0"/>
              </a:rPr>
              <a:t>’</a:t>
            </a:r>
            <a:r>
              <a:rPr lang="en-US" altLang="ja-JP" dirty="0">
                <a:latin typeface="Arial" charset="0"/>
                <a:ea typeface="ＭＳ Ｐゴシック" charset="0"/>
              </a:rPr>
              <a:t>s Number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49154" name="Rectangle 4"/>
          <p:cNvSpPr>
            <a:spLocks noGrp="1" noChangeArrowheads="1"/>
          </p:cNvSpPr>
          <p:nvPr>
            <p:ph sz="half" idx="1"/>
          </p:nvPr>
        </p:nvSpPr>
        <p:spPr>
          <a:xfrm>
            <a:off x="609600" y="2456373"/>
            <a:ext cx="3810000" cy="3929743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</a:rPr>
              <a:t>In a lab, we cannot</a:t>
            </a:r>
            <a:r>
              <a:rPr lang="en-US" altLang="ja-JP" sz="2400" dirty="0">
                <a:latin typeface="Arial" charset="0"/>
                <a:ea typeface="ＭＳ Ｐゴシック" charset="0"/>
              </a:rPr>
              <a:t> work with individual molecules. They are too small.</a:t>
            </a:r>
          </a:p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</a:rPr>
              <a:t>6.02 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× </a:t>
            </a:r>
            <a:r>
              <a:rPr lang="en-US" sz="2400" dirty="0">
                <a:latin typeface="Arial" charset="0"/>
                <a:ea typeface="ＭＳ Ｐゴシック" charset="0"/>
              </a:rPr>
              <a:t>10</a:t>
            </a:r>
            <a:r>
              <a:rPr lang="en-US" sz="2400" baseline="30000" dirty="0">
                <a:latin typeface="Arial" charset="0"/>
                <a:ea typeface="ＭＳ Ｐゴシック" charset="0"/>
              </a:rPr>
              <a:t>23</a:t>
            </a:r>
            <a:r>
              <a:rPr lang="en-US" sz="2400" dirty="0">
                <a:latin typeface="Arial" charset="0"/>
                <a:ea typeface="ＭＳ Ｐゴシック" charset="0"/>
              </a:rPr>
              <a:t> atoms or molecules is an amount that brings us to lab size. It is </a:t>
            </a:r>
            <a:r>
              <a:rPr lang="en-US" sz="2400" b="1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ONE MOLE</a:t>
            </a:r>
            <a:r>
              <a:rPr lang="en-US" sz="2400" dirty="0">
                <a:latin typeface="Arial" charset="0"/>
                <a:ea typeface="ＭＳ Ｐゴシック" charset="0"/>
              </a:rPr>
              <a:t>.</a:t>
            </a:r>
          </a:p>
          <a:p>
            <a:pPr eaLnBrk="1" hangingPunct="1"/>
            <a:r>
              <a:rPr lang="en-US" sz="2400" dirty="0">
                <a:latin typeface="Arial" charset="0"/>
                <a:ea typeface="ＭＳ Ｐゴシック" charset="0"/>
              </a:rPr>
              <a:t>One mole of </a:t>
            </a:r>
            <a:r>
              <a:rPr lang="en-US" sz="2400" baseline="30000" dirty="0">
                <a:latin typeface="Arial" charset="0"/>
                <a:ea typeface="ＭＳ Ｐゴシック" charset="0"/>
              </a:rPr>
              <a:t>12</a:t>
            </a:r>
            <a:r>
              <a:rPr lang="en-US" sz="2400" dirty="0">
                <a:latin typeface="Arial" charset="0"/>
                <a:ea typeface="ＭＳ Ｐゴシック" charset="0"/>
              </a:rPr>
              <a:t>C has a mass of 12.000 g</a:t>
            </a:r>
            <a:r>
              <a:rPr lang="en-US" sz="2400" dirty="0" smtClean="0">
                <a:latin typeface="Arial" charset="0"/>
                <a:ea typeface="ＭＳ Ｐゴシック" charset="0"/>
              </a:rPr>
              <a:t>.</a:t>
            </a:r>
          </a:p>
        </p:txBody>
      </p:sp>
      <p:pic>
        <p:nvPicPr>
          <p:cNvPr id="49156" name="Picture 2" descr="03_09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22"/>
          <a:stretch>
            <a:fillRect/>
          </a:stretch>
        </p:blipFill>
        <p:spPr bwMode="auto">
          <a:xfrm>
            <a:off x="5428456" y="1299258"/>
            <a:ext cx="2554288" cy="508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409859" y="1284514"/>
            <a:ext cx="38573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One dozen = </a:t>
            </a:r>
            <a:r>
              <a:rPr lang="en-US" b="1" dirty="0" smtClean="0">
                <a:solidFill>
                  <a:srgbClr val="FF0000"/>
                </a:solidFill>
              </a:rPr>
              <a:t>12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One mole = </a:t>
            </a:r>
            <a:r>
              <a:rPr lang="en-US" b="1" dirty="0">
                <a:solidFill>
                  <a:srgbClr val="0000FF"/>
                </a:solidFill>
              </a:rPr>
              <a:t>6.02 × 10</a:t>
            </a:r>
            <a:r>
              <a:rPr lang="en-US" b="1" baseline="30000" dirty="0">
                <a:solidFill>
                  <a:srgbClr val="0000FF"/>
                </a:solidFill>
              </a:rPr>
              <a:t>23</a:t>
            </a:r>
            <a:r>
              <a:rPr lang="en-US" b="1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Mole Relationships</a:t>
            </a:r>
          </a:p>
        </p:txBody>
      </p:sp>
      <p:pic>
        <p:nvPicPr>
          <p:cNvPr id="8" name="Picture 2" descr="03_02_Tabl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0"/>
          <a:stretch>
            <a:fillRect/>
          </a:stretch>
        </p:blipFill>
        <p:spPr bwMode="auto">
          <a:xfrm>
            <a:off x="140911" y="1828800"/>
            <a:ext cx="8862178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Percent Composition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2209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>
                <a:latin typeface="Arial" charset="0"/>
                <a:ea typeface="ＭＳ Ｐゴシック" charset="0"/>
              </a:rPr>
              <a:t>	One can find the percentage of the mass of a compound that comes from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each of the elements </a:t>
            </a:r>
            <a:r>
              <a:rPr lang="en-US" dirty="0">
                <a:latin typeface="Arial" charset="0"/>
                <a:ea typeface="ＭＳ Ｐゴシック" charset="0"/>
              </a:rPr>
              <a:t>in the compound by using this equation:</a:t>
            </a:r>
          </a:p>
        </p:txBody>
      </p:sp>
      <p:grpSp>
        <p:nvGrpSpPr>
          <p:cNvPr id="45060" name="Group 13"/>
          <p:cNvGrpSpPr>
            <a:grpSpLocks/>
          </p:cNvGrpSpPr>
          <p:nvPr/>
        </p:nvGrpSpPr>
        <p:grpSpPr bwMode="auto">
          <a:xfrm>
            <a:off x="514350" y="4572000"/>
            <a:ext cx="8110538" cy="990600"/>
            <a:chOff x="324" y="2880"/>
            <a:chExt cx="5109" cy="624"/>
          </a:xfrm>
        </p:grpSpPr>
        <p:sp>
          <p:nvSpPr>
            <p:cNvPr id="45061" name="Rectangle 5"/>
            <p:cNvSpPr>
              <a:spLocks noChangeArrowheads="1"/>
            </p:cNvSpPr>
            <p:nvPr/>
          </p:nvSpPr>
          <p:spPr bwMode="auto">
            <a:xfrm>
              <a:off x="324" y="3063"/>
              <a:ext cx="12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% Element =</a:t>
              </a:r>
            </a:p>
          </p:txBody>
        </p:sp>
        <p:sp>
          <p:nvSpPr>
            <p:cNvPr id="45062" name="Rectangle 6"/>
            <p:cNvSpPr>
              <a:spLocks noChangeArrowheads="1"/>
            </p:cNvSpPr>
            <p:nvPr/>
          </p:nvSpPr>
          <p:spPr bwMode="auto">
            <a:xfrm>
              <a:off x="1615" y="2880"/>
              <a:ext cx="29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(number of atoms)(atomic weight)</a:t>
              </a:r>
            </a:p>
          </p:txBody>
        </p:sp>
        <p:sp>
          <p:nvSpPr>
            <p:cNvPr id="45063" name="Rectangle 7"/>
            <p:cNvSpPr>
              <a:spLocks noChangeArrowheads="1"/>
            </p:cNvSpPr>
            <p:nvPr/>
          </p:nvSpPr>
          <p:spPr bwMode="auto">
            <a:xfrm>
              <a:off x="2090" y="3216"/>
              <a:ext cx="20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(FW of the compound)</a:t>
              </a:r>
            </a:p>
          </p:txBody>
        </p:sp>
        <p:sp>
          <p:nvSpPr>
            <p:cNvPr id="45064" name="Rectangle 8"/>
            <p:cNvSpPr>
              <a:spLocks noChangeArrowheads="1"/>
            </p:cNvSpPr>
            <p:nvPr/>
          </p:nvSpPr>
          <p:spPr bwMode="auto">
            <a:xfrm>
              <a:off x="4826" y="3042"/>
              <a:ext cx="60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 smtClean="0"/>
                <a:t>× </a:t>
              </a:r>
              <a:r>
                <a:rPr lang="en-US" dirty="0"/>
                <a:t>100</a:t>
              </a:r>
            </a:p>
          </p:txBody>
        </p:sp>
        <p:sp>
          <p:nvSpPr>
            <p:cNvPr id="45065" name="Line 9"/>
            <p:cNvSpPr>
              <a:spLocks noChangeShapeType="1"/>
            </p:cNvSpPr>
            <p:nvPr/>
          </p:nvSpPr>
          <p:spPr bwMode="auto">
            <a:xfrm>
              <a:off x="1524" y="3216"/>
              <a:ext cx="326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ea typeface="ＭＳ Ｐゴシック" charset="0"/>
              </a:rPr>
              <a:t>Percent Composition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991600" cy="1219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>
                <a:latin typeface="Arial" charset="0"/>
                <a:ea typeface="ＭＳ Ｐゴシック" charset="0"/>
              </a:rPr>
              <a:t>	</a:t>
            </a:r>
            <a:r>
              <a:rPr lang="en-US" altLang="zh-CN" dirty="0">
                <a:latin typeface="Arial" charset="0"/>
                <a:ea typeface="ＭＳ Ｐゴシック" charset="0"/>
              </a:rPr>
              <a:t>T</a:t>
            </a:r>
            <a:r>
              <a:rPr lang="en-US" dirty="0" smtClean="0">
                <a:latin typeface="Arial" charset="0"/>
                <a:ea typeface="ＭＳ Ｐゴシック" charset="0"/>
              </a:rPr>
              <a:t>he </a:t>
            </a:r>
            <a:r>
              <a:rPr lang="en-US" dirty="0">
                <a:latin typeface="Arial" charset="0"/>
                <a:ea typeface="ＭＳ Ｐゴシック" charset="0"/>
              </a:rPr>
              <a:t>percentage of </a:t>
            </a:r>
            <a:r>
              <a:rPr lang="en-US" dirty="0">
                <a:solidFill>
                  <a:srgbClr val="FF0000"/>
                </a:solidFill>
                <a:latin typeface="Arial" charset="0"/>
                <a:ea typeface="ＭＳ Ｐゴシック" charset="0"/>
              </a:rPr>
              <a:t>carbon</a:t>
            </a:r>
            <a:r>
              <a:rPr lang="en-US" dirty="0">
                <a:latin typeface="Arial" charset="0"/>
                <a:ea typeface="ＭＳ Ｐゴシック" charset="0"/>
              </a:rPr>
              <a:t> in </a:t>
            </a:r>
            <a:r>
              <a:rPr lang="en-US" dirty="0" smtClean="0">
                <a:latin typeface="Arial" charset="0"/>
                <a:ea typeface="ＭＳ Ｐゴシック" charset="0"/>
              </a:rPr>
              <a:t>ethane </a:t>
            </a:r>
            <a:r>
              <a:rPr lang="zh-CN" altLang="en-US" dirty="0" smtClean="0">
                <a:latin typeface="Arial" charset="0"/>
                <a:ea typeface="ＭＳ Ｐゴシック" charset="0"/>
              </a:rPr>
              <a:t>（</a:t>
            </a:r>
            <a:r>
              <a:rPr lang="en-US" altLang="zh-CN" dirty="0" smtClean="0">
                <a:latin typeface="Arial" charset="0"/>
                <a:ea typeface="ＭＳ Ｐゴシック" charset="0"/>
              </a:rPr>
              <a:t>C</a:t>
            </a:r>
            <a:r>
              <a:rPr lang="en-US" altLang="zh-CN" baseline="-25000" dirty="0" smtClean="0">
                <a:latin typeface="Arial" charset="0"/>
                <a:ea typeface="ＭＳ Ｐゴシック" charset="0"/>
              </a:rPr>
              <a:t>2</a:t>
            </a:r>
            <a:r>
              <a:rPr lang="en-US" altLang="zh-CN" dirty="0" smtClean="0">
                <a:latin typeface="Arial" charset="0"/>
                <a:ea typeface="ＭＳ Ｐゴシック" charset="0"/>
              </a:rPr>
              <a:t>H</a:t>
            </a:r>
            <a:r>
              <a:rPr lang="en-US" altLang="zh-CN" baseline="-25000" dirty="0" smtClean="0">
                <a:latin typeface="Arial" charset="0"/>
                <a:ea typeface="ＭＳ Ｐゴシック" charset="0"/>
              </a:rPr>
              <a:t>6</a:t>
            </a:r>
            <a:r>
              <a:rPr lang="zh-CN" altLang="en-US" dirty="0" smtClean="0">
                <a:latin typeface="Arial" charset="0"/>
                <a:ea typeface="ＭＳ Ｐゴシック" charset="0"/>
              </a:rPr>
              <a:t>）</a:t>
            </a:r>
            <a:r>
              <a:rPr lang="en-US" dirty="0" smtClean="0">
                <a:latin typeface="Arial" charset="0"/>
                <a:ea typeface="ＭＳ Ｐゴシック" charset="0"/>
              </a:rPr>
              <a:t> </a:t>
            </a:r>
            <a:r>
              <a:rPr lang="en-US" dirty="0">
                <a:latin typeface="Arial" charset="0"/>
                <a:ea typeface="ＭＳ Ｐゴシック" charset="0"/>
              </a:rPr>
              <a:t>is</a:t>
            </a:r>
          </a:p>
        </p:txBody>
      </p:sp>
      <p:grpSp>
        <p:nvGrpSpPr>
          <p:cNvPr id="47108" name="Group 29"/>
          <p:cNvGrpSpPr>
            <a:grpSpLocks/>
          </p:cNvGrpSpPr>
          <p:nvPr/>
        </p:nvGrpSpPr>
        <p:grpSpPr bwMode="auto">
          <a:xfrm>
            <a:off x="2503610" y="2678235"/>
            <a:ext cx="4203699" cy="2435225"/>
            <a:chOff x="1755" y="2160"/>
            <a:chExt cx="2648" cy="1534"/>
          </a:xfrm>
        </p:grpSpPr>
        <p:sp>
          <p:nvSpPr>
            <p:cNvPr id="47109" name="Rectangle 5"/>
            <p:cNvSpPr>
              <a:spLocks noChangeArrowheads="1"/>
            </p:cNvSpPr>
            <p:nvPr/>
          </p:nvSpPr>
          <p:spPr bwMode="auto">
            <a:xfrm>
              <a:off x="1755" y="2341"/>
              <a:ext cx="5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%C =</a:t>
              </a:r>
            </a:p>
          </p:txBody>
        </p:sp>
        <p:grpSp>
          <p:nvGrpSpPr>
            <p:cNvPr id="47110" name="Group 27"/>
            <p:cNvGrpSpPr>
              <a:grpSpLocks/>
            </p:cNvGrpSpPr>
            <p:nvPr/>
          </p:nvGrpSpPr>
          <p:grpSpPr bwMode="auto">
            <a:xfrm>
              <a:off x="2444" y="2160"/>
              <a:ext cx="1493" cy="622"/>
              <a:chOff x="2444" y="2160"/>
              <a:chExt cx="1493" cy="622"/>
            </a:xfrm>
          </p:grpSpPr>
          <p:sp>
            <p:nvSpPr>
              <p:cNvPr id="47118" name="Rectangle 6"/>
              <p:cNvSpPr>
                <a:spLocks noChangeArrowheads="1"/>
              </p:cNvSpPr>
              <p:nvPr/>
            </p:nvSpPr>
            <p:spPr bwMode="auto">
              <a:xfrm>
                <a:off x="2444" y="2160"/>
                <a:ext cx="149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(2)(12.011 </a:t>
                </a:r>
                <a:r>
                  <a:rPr lang="en-US" dirty="0" err="1"/>
                  <a:t>amu</a:t>
                </a:r>
                <a:r>
                  <a:rPr lang="en-US" dirty="0"/>
                  <a:t>)</a:t>
                </a:r>
              </a:p>
            </p:txBody>
          </p:sp>
          <p:sp>
            <p:nvSpPr>
              <p:cNvPr id="47119" name="Rectangle 7"/>
              <p:cNvSpPr>
                <a:spLocks noChangeArrowheads="1"/>
              </p:cNvSpPr>
              <p:nvPr/>
            </p:nvSpPr>
            <p:spPr bwMode="auto">
              <a:xfrm>
                <a:off x="2583" y="2494"/>
                <a:ext cx="125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(30.070 </a:t>
                </a:r>
                <a:r>
                  <a:rPr lang="en-US" dirty="0" err="1"/>
                  <a:t>amu</a:t>
                </a:r>
                <a:r>
                  <a:rPr lang="en-US" dirty="0"/>
                  <a:t>)</a:t>
                </a:r>
              </a:p>
            </p:txBody>
          </p:sp>
          <p:sp>
            <p:nvSpPr>
              <p:cNvPr id="47120" name="Line 8"/>
              <p:cNvSpPr>
                <a:spLocks noChangeShapeType="1"/>
              </p:cNvSpPr>
              <p:nvPr/>
            </p:nvSpPr>
            <p:spPr bwMode="auto">
              <a:xfrm>
                <a:off x="2480" y="2494"/>
                <a:ext cx="144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7111" name="Group 28"/>
            <p:cNvGrpSpPr>
              <a:grpSpLocks/>
            </p:cNvGrpSpPr>
            <p:nvPr/>
          </p:nvGrpSpPr>
          <p:grpSpPr bwMode="auto">
            <a:xfrm>
              <a:off x="2121" y="2782"/>
              <a:ext cx="2282" cy="578"/>
              <a:chOff x="2121" y="2782"/>
              <a:chExt cx="2282" cy="578"/>
            </a:xfrm>
          </p:grpSpPr>
          <p:sp>
            <p:nvSpPr>
              <p:cNvPr id="47113" name="Rectangle 11"/>
              <p:cNvSpPr>
                <a:spLocks noChangeArrowheads="1"/>
              </p:cNvSpPr>
              <p:nvPr/>
            </p:nvSpPr>
            <p:spPr bwMode="auto">
              <a:xfrm>
                <a:off x="2399" y="2782"/>
                <a:ext cx="11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24.022 amu</a:t>
                </a:r>
              </a:p>
            </p:txBody>
          </p:sp>
          <p:sp>
            <p:nvSpPr>
              <p:cNvPr id="47114" name="Rectangle 12"/>
              <p:cNvSpPr>
                <a:spLocks noChangeArrowheads="1"/>
              </p:cNvSpPr>
              <p:nvPr/>
            </p:nvSpPr>
            <p:spPr bwMode="auto">
              <a:xfrm>
                <a:off x="2399" y="3072"/>
                <a:ext cx="113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30.070 amu</a:t>
                </a:r>
              </a:p>
            </p:txBody>
          </p:sp>
          <p:sp>
            <p:nvSpPr>
              <p:cNvPr id="47115" name="Line 14"/>
              <p:cNvSpPr>
                <a:spLocks noChangeShapeType="1"/>
              </p:cNvSpPr>
              <p:nvPr/>
            </p:nvSpPr>
            <p:spPr bwMode="auto">
              <a:xfrm>
                <a:off x="2395" y="3072"/>
                <a:ext cx="113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116" name="Rectangle 16"/>
              <p:cNvSpPr>
                <a:spLocks noChangeArrowheads="1"/>
              </p:cNvSpPr>
              <p:nvPr/>
            </p:nvSpPr>
            <p:spPr bwMode="auto">
              <a:xfrm>
                <a:off x="2121" y="2926"/>
                <a:ext cx="2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/>
                  <a:t>=</a:t>
                </a:r>
              </a:p>
            </p:txBody>
          </p:sp>
          <p:sp>
            <p:nvSpPr>
              <p:cNvPr id="47117" name="Rectangle 18"/>
              <p:cNvSpPr>
                <a:spLocks noChangeArrowheads="1"/>
              </p:cNvSpPr>
              <p:nvPr/>
            </p:nvSpPr>
            <p:spPr bwMode="auto">
              <a:xfrm>
                <a:off x="3542" y="2899"/>
                <a:ext cx="86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dirty="0" smtClean="0"/>
                  <a:t>× 100%</a:t>
                </a:r>
                <a:endParaRPr lang="en-US" dirty="0"/>
              </a:p>
            </p:txBody>
          </p:sp>
        </p:grpSp>
        <p:sp>
          <p:nvSpPr>
            <p:cNvPr id="47112" name="Rectangle 21"/>
            <p:cNvSpPr>
              <a:spLocks noChangeArrowheads="1"/>
            </p:cNvSpPr>
            <p:nvPr/>
          </p:nvSpPr>
          <p:spPr bwMode="auto">
            <a:xfrm>
              <a:off x="2130" y="3406"/>
              <a:ext cx="103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= 79.887%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pPr eaLnBrk="1" hangingPunct="1"/>
            <a:r>
              <a:rPr lang="en-US" sz="3000" dirty="0">
                <a:latin typeface="Arial" charset="0"/>
                <a:ea typeface="ＭＳ Ｐゴシック" charset="0"/>
              </a:rPr>
              <a:t>Determining Empirical </a:t>
            </a:r>
            <a:r>
              <a:rPr lang="en-US" sz="3000" dirty="0" smtClean="0">
                <a:latin typeface="Arial" charset="0"/>
                <a:ea typeface="ＭＳ Ｐゴシック" charset="0"/>
              </a:rPr>
              <a:t>Formulas</a:t>
            </a:r>
            <a:endParaRPr lang="en-US" sz="3000" dirty="0">
              <a:latin typeface="Arial" charset="0"/>
              <a:ea typeface="ＭＳ Ｐゴシック" charset="0"/>
            </a:endParaRPr>
          </a:p>
        </p:txBody>
      </p:sp>
      <p:grpSp>
        <p:nvGrpSpPr>
          <p:cNvPr id="61443" name="Group 30"/>
          <p:cNvGrpSpPr>
            <a:grpSpLocks/>
          </p:cNvGrpSpPr>
          <p:nvPr/>
        </p:nvGrpSpPr>
        <p:grpSpPr bwMode="auto">
          <a:xfrm>
            <a:off x="3581400" y="3248025"/>
            <a:ext cx="1266825" cy="2984500"/>
            <a:chOff x="2640" y="1518"/>
            <a:chExt cx="798" cy="1880"/>
          </a:xfrm>
        </p:grpSpPr>
        <p:grpSp>
          <p:nvGrpSpPr>
            <p:cNvPr id="61445" name="Group 26"/>
            <p:cNvGrpSpPr>
              <a:grpSpLocks/>
            </p:cNvGrpSpPr>
            <p:nvPr/>
          </p:nvGrpSpPr>
          <p:grpSpPr bwMode="auto">
            <a:xfrm>
              <a:off x="2658" y="1518"/>
              <a:ext cx="768" cy="518"/>
              <a:chOff x="2658" y="1518"/>
              <a:chExt cx="768" cy="518"/>
            </a:xfrm>
          </p:grpSpPr>
          <p:sp>
            <p:nvSpPr>
              <p:cNvPr id="61455" name="Rectangle 8"/>
              <p:cNvSpPr>
                <a:spLocks noChangeArrowheads="1"/>
              </p:cNvSpPr>
              <p:nvPr/>
            </p:nvSpPr>
            <p:spPr bwMode="auto">
              <a:xfrm>
                <a:off x="2669" y="1518"/>
                <a:ext cx="757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1 mol</a:t>
                </a:r>
              </a:p>
              <a:p>
                <a:pPr algn="ctr"/>
                <a:r>
                  <a:rPr lang="en-US"/>
                  <a:t>12.01 g</a:t>
                </a:r>
              </a:p>
            </p:txBody>
          </p:sp>
          <p:sp>
            <p:nvSpPr>
              <p:cNvPr id="61456" name="Line 9"/>
              <p:cNvSpPr>
                <a:spLocks noChangeShapeType="1"/>
              </p:cNvSpPr>
              <p:nvPr/>
            </p:nvSpPr>
            <p:spPr bwMode="auto">
              <a:xfrm>
                <a:off x="2658" y="1780"/>
                <a:ext cx="768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446" name="Group 28"/>
            <p:cNvGrpSpPr>
              <a:grpSpLocks/>
            </p:cNvGrpSpPr>
            <p:nvPr/>
          </p:nvGrpSpPr>
          <p:grpSpPr bwMode="auto">
            <a:xfrm>
              <a:off x="2640" y="2419"/>
              <a:ext cx="770" cy="518"/>
              <a:chOff x="2640" y="2419"/>
              <a:chExt cx="770" cy="518"/>
            </a:xfrm>
          </p:grpSpPr>
          <p:sp>
            <p:nvSpPr>
              <p:cNvPr id="61453" name="Rectangle 12"/>
              <p:cNvSpPr>
                <a:spLocks noChangeArrowheads="1"/>
              </p:cNvSpPr>
              <p:nvPr/>
            </p:nvSpPr>
            <p:spPr bwMode="auto">
              <a:xfrm>
                <a:off x="2653" y="2419"/>
                <a:ext cx="757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1 mol</a:t>
                </a:r>
              </a:p>
              <a:p>
                <a:pPr algn="ctr"/>
                <a:r>
                  <a:rPr lang="en-US"/>
                  <a:t>14.01 g</a:t>
                </a:r>
              </a:p>
            </p:txBody>
          </p:sp>
          <p:sp>
            <p:nvSpPr>
              <p:cNvPr id="61454" name="Line 13"/>
              <p:cNvSpPr>
                <a:spLocks noChangeShapeType="1"/>
              </p:cNvSpPr>
              <p:nvPr/>
            </p:nvSpPr>
            <p:spPr bwMode="auto">
              <a:xfrm>
                <a:off x="2640" y="2681"/>
                <a:ext cx="768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447" name="Group 27"/>
            <p:cNvGrpSpPr>
              <a:grpSpLocks/>
            </p:cNvGrpSpPr>
            <p:nvPr/>
          </p:nvGrpSpPr>
          <p:grpSpPr bwMode="auto">
            <a:xfrm>
              <a:off x="2670" y="1968"/>
              <a:ext cx="768" cy="518"/>
              <a:chOff x="2670" y="1968"/>
              <a:chExt cx="768" cy="518"/>
            </a:xfrm>
          </p:grpSpPr>
          <p:sp>
            <p:nvSpPr>
              <p:cNvPr id="61451" name="Rectangle 15"/>
              <p:cNvSpPr>
                <a:spLocks noChangeArrowheads="1"/>
              </p:cNvSpPr>
              <p:nvPr/>
            </p:nvSpPr>
            <p:spPr bwMode="auto">
              <a:xfrm>
                <a:off x="2735" y="1968"/>
                <a:ext cx="650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1 mol</a:t>
                </a:r>
              </a:p>
              <a:p>
                <a:pPr algn="ctr"/>
                <a:r>
                  <a:rPr lang="en-US"/>
                  <a:t>1.01 g</a:t>
                </a:r>
              </a:p>
            </p:txBody>
          </p:sp>
          <p:sp>
            <p:nvSpPr>
              <p:cNvPr id="61452" name="Line 16"/>
              <p:cNvSpPr>
                <a:spLocks noChangeShapeType="1"/>
              </p:cNvSpPr>
              <p:nvPr/>
            </p:nvSpPr>
            <p:spPr bwMode="auto">
              <a:xfrm>
                <a:off x="2670" y="2230"/>
                <a:ext cx="768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448" name="Group 29"/>
            <p:cNvGrpSpPr>
              <a:grpSpLocks/>
            </p:cNvGrpSpPr>
            <p:nvPr/>
          </p:nvGrpSpPr>
          <p:grpSpPr bwMode="auto">
            <a:xfrm>
              <a:off x="2640" y="2880"/>
              <a:ext cx="770" cy="518"/>
              <a:chOff x="2640" y="2880"/>
              <a:chExt cx="770" cy="518"/>
            </a:xfrm>
          </p:grpSpPr>
          <p:sp>
            <p:nvSpPr>
              <p:cNvPr id="61449" name="Rectangle 18"/>
              <p:cNvSpPr>
                <a:spLocks noChangeArrowheads="1"/>
              </p:cNvSpPr>
              <p:nvPr/>
            </p:nvSpPr>
            <p:spPr bwMode="auto">
              <a:xfrm>
                <a:off x="2653" y="2880"/>
                <a:ext cx="757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1 mol</a:t>
                </a:r>
              </a:p>
              <a:p>
                <a:pPr algn="ctr"/>
                <a:r>
                  <a:rPr lang="en-US"/>
                  <a:t>16.00 g</a:t>
                </a:r>
              </a:p>
            </p:txBody>
          </p:sp>
          <p:sp>
            <p:nvSpPr>
              <p:cNvPr id="61450" name="Line 19"/>
              <p:cNvSpPr>
                <a:spLocks noChangeShapeType="1"/>
              </p:cNvSpPr>
              <p:nvPr/>
            </p:nvSpPr>
            <p:spPr bwMode="auto">
              <a:xfrm>
                <a:off x="2640" y="3142"/>
                <a:ext cx="768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228600" y="2667000"/>
            <a:ext cx="73152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/>
              <a:t>Assuming </a:t>
            </a:r>
            <a:r>
              <a:rPr lang="en-US" dirty="0">
                <a:solidFill>
                  <a:srgbClr val="0000FF"/>
                </a:solidFill>
              </a:rPr>
              <a:t>100.00 g</a:t>
            </a:r>
            <a:r>
              <a:rPr lang="en-US" dirty="0"/>
              <a:t> of </a:t>
            </a:r>
            <a:r>
              <a:rPr lang="en-US" altLang="zh-CN" dirty="0" smtClean="0"/>
              <a:t>this compound</a:t>
            </a:r>
            <a:r>
              <a:rPr lang="en-US" dirty="0" smtClean="0"/>
              <a:t>,</a:t>
            </a:r>
            <a:endParaRPr lang="en-US" dirty="0"/>
          </a:p>
          <a:p>
            <a:endParaRPr lang="en-US" dirty="0"/>
          </a:p>
          <a:p>
            <a:r>
              <a:rPr lang="en-US" dirty="0"/>
              <a:t>	C:	61.31 g </a:t>
            </a:r>
            <a:r>
              <a:rPr lang="en-US" dirty="0" smtClean="0"/>
              <a:t>× </a:t>
            </a:r>
            <a:r>
              <a:rPr lang="en-US" dirty="0"/>
              <a:t>		</a:t>
            </a:r>
            <a:r>
              <a:rPr lang="en-US" dirty="0" smtClean="0"/>
              <a:t> = </a:t>
            </a:r>
            <a:r>
              <a:rPr lang="en-US" dirty="0"/>
              <a:t>5.105 </a:t>
            </a:r>
            <a:r>
              <a:rPr lang="en-US" dirty="0" err="1"/>
              <a:t>mol</a:t>
            </a:r>
            <a:r>
              <a:rPr lang="en-US" dirty="0"/>
              <a:t> C</a:t>
            </a:r>
          </a:p>
          <a:p>
            <a:endParaRPr lang="en-US" dirty="0"/>
          </a:p>
          <a:p>
            <a:r>
              <a:rPr lang="en-US" dirty="0"/>
              <a:t>	H:	  5.14 g </a:t>
            </a:r>
            <a:r>
              <a:rPr lang="en-US" dirty="0" smtClean="0"/>
              <a:t>×</a:t>
            </a:r>
            <a:r>
              <a:rPr lang="en-US" dirty="0"/>
              <a:t>		</a:t>
            </a:r>
            <a:r>
              <a:rPr lang="en-US" dirty="0" smtClean="0"/>
              <a:t> = </a:t>
            </a:r>
            <a:r>
              <a:rPr lang="en-US" dirty="0"/>
              <a:t>5.09 </a:t>
            </a:r>
            <a:r>
              <a:rPr lang="en-US" dirty="0" err="1"/>
              <a:t>mol</a:t>
            </a:r>
            <a:r>
              <a:rPr lang="en-US" dirty="0"/>
              <a:t> H</a:t>
            </a:r>
          </a:p>
          <a:p>
            <a:endParaRPr lang="en-US" dirty="0"/>
          </a:p>
          <a:p>
            <a:r>
              <a:rPr lang="en-US" dirty="0"/>
              <a:t>	N:	10.21 g </a:t>
            </a:r>
            <a:r>
              <a:rPr lang="en-US" dirty="0" smtClean="0"/>
              <a:t>×</a:t>
            </a:r>
            <a:r>
              <a:rPr lang="en-US" dirty="0"/>
              <a:t>		</a:t>
            </a:r>
            <a:r>
              <a:rPr lang="en-US" dirty="0" smtClean="0"/>
              <a:t> = </a:t>
            </a:r>
            <a:r>
              <a:rPr lang="en-US" dirty="0">
                <a:solidFill>
                  <a:srgbClr val="FF0000"/>
                </a:solidFill>
              </a:rPr>
              <a:t>0.7288 </a:t>
            </a:r>
            <a:r>
              <a:rPr lang="en-US" dirty="0" err="1">
                <a:solidFill>
                  <a:srgbClr val="FF0000"/>
                </a:solidFill>
              </a:rPr>
              <a:t>mol</a:t>
            </a:r>
            <a:r>
              <a:rPr lang="en-US" dirty="0">
                <a:solidFill>
                  <a:srgbClr val="FF0000"/>
                </a:solidFill>
              </a:rPr>
              <a:t> N</a:t>
            </a:r>
          </a:p>
          <a:p>
            <a:endParaRPr lang="en-US" dirty="0"/>
          </a:p>
          <a:p>
            <a:r>
              <a:rPr lang="en-US" dirty="0"/>
              <a:t>	O:	23.33 g </a:t>
            </a:r>
            <a:r>
              <a:rPr lang="en-US" dirty="0" smtClean="0"/>
              <a:t>× </a:t>
            </a:r>
            <a:r>
              <a:rPr lang="en-US" dirty="0"/>
              <a:t>		</a:t>
            </a:r>
            <a:r>
              <a:rPr lang="en-US" dirty="0" smtClean="0"/>
              <a:t> = </a:t>
            </a:r>
            <a:r>
              <a:rPr lang="en-US" dirty="0"/>
              <a:t>1.456 </a:t>
            </a:r>
            <a:r>
              <a:rPr lang="en-US" dirty="0" err="1"/>
              <a:t>mol</a:t>
            </a:r>
            <a:r>
              <a:rPr lang="en-US" dirty="0"/>
              <a:t> O</a:t>
            </a:r>
          </a:p>
        </p:txBody>
      </p:sp>
      <p:sp>
        <p:nvSpPr>
          <p:cNvPr id="4" name="右箭头 3"/>
          <p:cNvSpPr/>
          <p:nvPr/>
        </p:nvSpPr>
        <p:spPr bwMode="auto">
          <a:xfrm>
            <a:off x="7162800" y="5008136"/>
            <a:ext cx="685800" cy="17230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1531" y="4858692"/>
            <a:ext cx="9380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 </a:t>
            </a:r>
            <a:r>
              <a:rPr lang="en-US" altLang="zh-CN" dirty="0" err="1" smtClean="0">
                <a:solidFill>
                  <a:srgbClr val="FF0000"/>
                </a:solidFill>
              </a:rPr>
              <a:t>mol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483584" y="1306244"/>
            <a:ext cx="856100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 smtClean="0"/>
              <a:t>A </a:t>
            </a:r>
            <a:r>
              <a:rPr lang="en-US" dirty="0" smtClean="0"/>
              <a:t>compound is </a:t>
            </a:r>
            <a:r>
              <a:rPr lang="en-US" dirty="0"/>
              <a:t>composed of carbon (</a:t>
            </a:r>
            <a:r>
              <a:rPr lang="en-US" dirty="0">
                <a:solidFill>
                  <a:srgbClr val="FF0000"/>
                </a:solidFill>
              </a:rPr>
              <a:t>61.31</a:t>
            </a:r>
            <a:r>
              <a:rPr lang="en-US" dirty="0"/>
              <a:t>%), hydrogen (</a:t>
            </a:r>
            <a:r>
              <a:rPr lang="en-US" dirty="0">
                <a:solidFill>
                  <a:srgbClr val="FF0000"/>
                </a:solidFill>
              </a:rPr>
              <a:t>5.14</a:t>
            </a:r>
            <a:r>
              <a:rPr lang="en-US" dirty="0"/>
              <a:t>%), nitrogen (</a:t>
            </a:r>
            <a:r>
              <a:rPr lang="en-US" dirty="0">
                <a:solidFill>
                  <a:srgbClr val="FF0000"/>
                </a:solidFill>
              </a:rPr>
              <a:t>10.21</a:t>
            </a:r>
            <a:r>
              <a:rPr lang="en-US" dirty="0"/>
              <a:t>%), and oxygen (</a:t>
            </a:r>
            <a:r>
              <a:rPr lang="en-US" dirty="0">
                <a:solidFill>
                  <a:srgbClr val="FF0000"/>
                </a:solidFill>
              </a:rPr>
              <a:t>23.33</a:t>
            </a:r>
            <a:r>
              <a:rPr lang="en-US" dirty="0"/>
              <a:t>%). Find </a:t>
            </a:r>
            <a:r>
              <a:rPr lang="en-US" altLang="zh-CN" dirty="0" smtClean="0"/>
              <a:t>its </a:t>
            </a:r>
            <a:r>
              <a:rPr lang="en-US" dirty="0" smtClean="0"/>
              <a:t>empirical formula.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83019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Determining Empirical </a:t>
            </a:r>
            <a:r>
              <a:rPr lang="en-US" dirty="0" smtClean="0">
                <a:latin typeface="Arial" charset="0"/>
                <a:ea typeface="ＭＳ Ｐゴシック" charset="0"/>
              </a:rPr>
              <a:t>Formulas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63491" name="Rectangle 8"/>
          <p:cNvSpPr>
            <a:spLocks noChangeArrowheads="1"/>
          </p:cNvSpPr>
          <p:nvPr/>
        </p:nvSpPr>
        <p:spPr bwMode="auto">
          <a:xfrm>
            <a:off x="1752600" y="1056174"/>
            <a:ext cx="64754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0000FF"/>
                </a:solidFill>
              </a:rPr>
              <a:t>mole ratio </a:t>
            </a:r>
            <a:r>
              <a:rPr lang="en-US" dirty="0"/>
              <a:t>by dividing by the smallest number of moles:</a:t>
            </a:r>
          </a:p>
        </p:txBody>
      </p:sp>
      <p:grpSp>
        <p:nvGrpSpPr>
          <p:cNvPr id="63492" name="Group 44"/>
          <p:cNvGrpSpPr>
            <a:grpSpLocks/>
          </p:cNvGrpSpPr>
          <p:nvPr/>
        </p:nvGrpSpPr>
        <p:grpSpPr bwMode="auto">
          <a:xfrm>
            <a:off x="2438400" y="2100262"/>
            <a:ext cx="1752600" cy="4132263"/>
            <a:chOff x="1986" y="1392"/>
            <a:chExt cx="1104" cy="2603"/>
          </a:xfrm>
        </p:grpSpPr>
        <p:grpSp>
          <p:nvGrpSpPr>
            <p:cNvPr id="63494" name="Group 40"/>
            <p:cNvGrpSpPr>
              <a:grpSpLocks/>
            </p:cNvGrpSpPr>
            <p:nvPr/>
          </p:nvGrpSpPr>
          <p:grpSpPr bwMode="auto">
            <a:xfrm>
              <a:off x="1986" y="1392"/>
              <a:ext cx="1104" cy="518"/>
              <a:chOff x="1986" y="1392"/>
              <a:chExt cx="1104" cy="518"/>
            </a:xfrm>
          </p:grpSpPr>
          <p:sp>
            <p:nvSpPr>
              <p:cNvPr id="63504" name="Line 11"/>
              <p:cNvSpPr>
                <a:spLocks noChangeShapeType="1"/>
              </p:cNvSpPr>
              <p:nvPr/>
            </p:nvSpPr>
            <p:spPr bwMode="auto">
              <a:xfrm>
                <a:off x="1986" y="1650"/>
                <a:ext cx="110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505" name="Rectangle 10"/>
              <p:cNvSpPr>
                <a:spLocks noChangeArrowheads="1"/>
              </p:cNvSpPr>
              <p:nvPr/>
            </p:nvSpPr>
            <p:spPr bwMode="auto">
              <a:xfrm>
                <a:off x="1986" y="1392"/>
                <a:ext cx="1066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5.105 mol</a:t>
                </a:r>
              </a:p>
              <a:p>
                <a:pPr algn="ctr"/>
                <a:r>
                  <a:rPr lang="en-US"/>
                  <a:t>0.7288 mol</a:t>
                </a:r>
              </a:p>
            </p:txBody>
          </p:sp>
        </p:grpSp>
        <p:grpSp>
          <p:nvGrpSpPr>
            <p:cNvPr id="63495" name="Group 41"/>
            <p:cNvGrpSpPr>
              <a:grpSpLocks/>
            </p:cNvGrpSpPr>
            <p:nvPr/>
          </p:nvGrpSpPr>
          <p:grpSpPr bwMode="auto">
            <a:xfrm>
              <a:off x="1986" y="2086"/>
              <a:ext cx="1104" cy="518"/>
              <a:chOff x="1986" y="2086"/>
              <a:chExt cx="1104" cy="518"/>
            </a:xfrm>
          </p:grpSpPr>
          <p:sp>
            <p:nvSpPr>
              <p:cNvPr id="63502" name="Line 17"/>
              <p:cNvSpPr>
                <a:spLocks noChangeShapeType="1"/>
              </p:cNvSpPr>
              <p:nvPr/>
            </p:nvSpPr>
            <p:spPr bwMode="auto">
              <a:xfrm>
                <a:off x="1986" y="2344"/>
                <a:ext cx="110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503" name="Rectangle 18"/>
              <p:cNvSpPr>
                <a:spLocks noChangeArrowheads="1"/>
              </p:cNvSpPr>
              <p:nvPr/>
            </p:nvSpPr>
            <p:spPr bwMode="auto">
              <a:xfrm>
                <a:off x="1986" y="2086"/>
                <a:ext cx="1066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5.09  mol</a:t>
                </a:r>
              </a:p>
              <a:p>
                <a:pPr algn="ctr"/>
                <a:r>
                  <a:rPr lang="en-US"/>
                  <a:t>0.7288 mol</a:t>
                </a:r>
              </a:p>
            </p:txBody>
          </p:sp>
        </p:grpSp>
        <p:grpSp>
          <p:nvGrpSpPr>
            <p:cNvPr id="63496" name="Group 42"/>
            <p:cNvGrpSpPr>
              <a:grpSpLocks/>
            </p:cNvGrpSpPr>
            <p:nvPr/>
          </p:nvGrpSpPr>
          <p:grpSpPr bwMode="auto">
            <a:xfrm>
              <a:off x="1986" y="2787"/>
              <a:ext cx="1104" cy="518"/>
              <a:chOff x="1986" y="2787"/>
              <a:chExt cx="1104" cy="518"/>
            </a:xfrm>
          </p:grpSpPr>
          <p:sp>
            <p:nvSpPr>
              <p:cNvPr id="63500" name="Line 23"/>
              <p:cNvSpPr>
                <a:spLocks noChangeShapeType="1"/>
              </p:cNvSpPr>
              <p:nvPr/>
            </p:nvSpPr>
            <p:spPr bwMode="auto">
              <a:xfrm>
                <a:off x="1986" y="3045"/>
                <a:ext cx="110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501" name="Rectangle 24"/>
              <p:cNvSpPr>
                <a:spLocks noChangeArrowheads="1"/>
              </p:cNvSpPr>
              <p:nvPr/>
            </p:nvSpPr>
            <p:spPr bwMode="auto">
              <a:xfrm>
                <a:off x="1986" y="2787"/>
                <a:ext cx="1066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0.7288 mol</a:t>
                </a:r>
              </a:p>
              <a:p>
                <a:pPr algn="ctr"/>
                <a:r>
                  <a:rPr lang="en-US"/>
                  <a:t>0.7288 mol</a:t>
                </a:r>
              </a:p>
            </p:txBody>
          </p:sp>
        </p:grpSp>
        <p:grpSp>
          <p:nvGrpSpPr>
            <p:cNvPr id="63497" name="Group 43"/>
            <p:cNvGrpSpPr>
              <a:grpSpLocks/>
            </p:cNvGrpSpPr>
            <p:nvPr/>
          </p:nvGrpSpPr>
          <p:grpSpPr bwMode="auto">
            <a:xfrm>
              <a:off x="1986" y="3477"/>
              <a:ext cx="1104" cy="518"/>
              <a:chOff x="1986" y="3477"/>
              <a:chExt cx="1104" cy="518"/>
            </a:xfrm>
          </p:grpSpPr>
          <p:sp>
            <p:nvSpPr>
              <p:cNvPr id="63498" name="Line 29"/>
              <p:cNvSpPr>
                <a:spLocks noChangeShapeType="1"/>
              </p:cNvSpPr>
              <p:nvPr/>
            </p:nvSpPr>
            <p:spPr bwMode="auto">
              <a:xfrm>
                <a:off x="1986" y="3735"/>
                <a:ext cx="110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3499" name="Rectangle 30"/>
              <p:cNvSpPr>
                <a:spLocks noChangeArrowheads="1"/>
              </p:cNvSpPr>
              <p:nvPr/>
            </p:nvSpPr>
            <p:spPr bwMode="auto">
              <a:xfrm>
                <a:off x="1986" y="3477"/>
                <a:ext cx="1066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/>
                  <a:t>1.458 mol</a:t>
                </a:r>
              </a:p>
              <a:p>
                <a:pPr algn="ctr"/>
                <a:r>
                  <a:rPr lang="en-US"/>
                  <a:t>0.7288 mol</a:t>
                </a:r>
              </a:p>
            </p:txBody>
          </p:sp>
        </p:grpSp>
      </p:grpSp>
      <p:sp>
        <p:nvSpPr>
          <p:cNvPr id="19" name="Rectangle 9"/>
          <p:cNvSpPr>
            <a:spLocks noChangeArrowheads="1"/>
          </p:cNvSpPr>
          <p:nvPr/>
        </p:nvSpPr>
        <p:spPr bwMode="auto">
          <a:xfrm>
            <a:off x="1600200" y="2286000"/>
            <a:ext cx="492442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/>
              <a:t>C:			= 7.005 </a:t>
            </a:r>
            <a:r>
              <a:rPr lang="en-US" dirty="0">
                <a:sym typeface="Symbol" charset="0"/>
              </a:rPr>
              <a:t>≈ </a:t>
            </a:r>
            <a:r>
              <a:rPr lang="en-US" dirty="0">
                <a:solidFill>
                  <a:srgbClr val="FF0000"/>
                </a:solidFill>
                <a:sym typeface="Symbol" charset="0"/>
              </a:rPr>
              <a:t>7</a:t>
            </a:r>
          </a:p>
          <a:p>
            <a:endParaRPr lang="en-US" dirty="0">
              <a:sym typeface="Symbol" charset="0"/>
            </a:endParaRPr>
          </a:p>
          <a:p>
            <a:endParaRPr lang="en-US" dirty="0">
              <a:sym typeface="Symbol" charset="0"/>
            </a:endParaRPr>
          </a:p>
          <a:p>
            <a:r>
              <a:rPr lang="en-US" dirty="0">
                <a:sym typeface="Symbol" charset="0"/>
              </a:rPr>
              <a:t>H:			= 6.984 ≈ </a:t>
            </a:r>
            <a:r>
              <a:rPr lang="en-US" dirty="0">
                <a:solidFill>
                  <a:srgbClr val="FF0000"/>
                </a:solidFill>
                <a:sym typeface="Symbol" charset="0"/>
              </a:rPr>
              <a:t>7</a:t>
            </a:r>
          </a:p>
          <a:p>
            <a:endParaRPr lang="en-US" dirty="0">
              <a:sym typeface="Symbol" charset="0"/>
            </a:endParaRPr>
          </a:p>
          <a:p>
            <a:endParaRPr lang="en-US" dirty="0">
              <a:sym typeface="Symbol" charset="0"/>
            </a:endParaRPr>
          </a:p>
          <a:p>
            <a:r>
              <a:rPr lang="en-US" dirty="0">
                <a:sym typeface="Symbol" charset="0"/>
              </a:rPr>
              <a:t>N:			= </a:t>
            </a:r>
            <a:r>
              <a:rPr lang="en-US" dirty="0" smtClean="0">
                <a:sym typeface="Symbol" charset="0"/>
              </a:rPr>
              <a:t>1.000  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 1 </a:t>
            </a:r>
            <a:endParaRPr lang="en-US" dirty="0">
              <a:solidFill>
                <a:srgbClr val="FF0000"/>
              </a:solidFill>
              <a:sym typeface="Symbol" charset="0"/>
            </a:endParaRPr>
          </a:p>
          <a:p>
            <a:endParaRPr lang="en-US" dirty="0">
              <a:sym typeface="Symbol" charset="0"/>
            </a:endParaRPr>
          </a:p>
          <a:p>
            <a:endParaRPr lang="en-US" dirty="0">
              <a:sym typeface="Symbol" charset="0"/>
            </a:endParaRPr>
          </a:p>
          <a:p>
            <a:r>
              <a:rPr lang="en-US" dirty="0">
                <a:sym typeface="Symbol" charset="0"/>
              </a:rPr>
              <a:t>O:			= 2.001 ≈ </a:t>
            </a:r>
            <a:r>
              <a:rPr lang="en-US" dirty="0">
                <a:solidFill>
                  <a:srgbClr val="FF0000"/>
                </a:solidFill>
                <a:sym typeface="Symbol" charset="0"/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29400" y="3621174"/>
            <a:ext cx="22168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E.F. </a:t>
            </a:r>
            <a:r>
              <a:rPr lang="en-US" altLang="zh-CN" dirty="0" smtClean="0">
                <a:solidFill>
                  <a:srgbClr val="0000FF"/>
                </a:solidFill>
              </a:rPr>
              <a:t>C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CN" dirty="0" smtClean="0">
                <a:solidFill>
                  <a:srgbClr val="0000FF"/>
                </a:solidFill>
              </a:rPr>
              <a:t>H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7</a:t>
            </a:r>
            <a:r>
              <a:rPr lang="en-US" altLang="zh-CN" dirty="0" smtClean="0">
                <a:solidFill>
                  <a:srgbClr val="0000FF"/>
                </a:solidFill>
              </a:rPr>
              <a:t>NO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2</a:t>
            </a:r>
            <a:r>
              <a:rPr lang="en-US" altLang="zh-CN" dirty="0" smtClean="0"/>
              <a:t> </a:t>
            </a:r>
            <a:endParaRPr lang="en-US" altLang="zh-CN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/>
          <p:cNvSpPr>
            <a:spLocks noGrp="1"/>
          </p:cNvSpPr>
          <p:nvPr>
            <p:ph type="title"/>
          </p:nvPr>
        </p:nvSpPr>
        <p:spPr>
          <a:xfrm>
            <a:off x="0" y="-71036"/>
            <a:ext cx="9144000" cy="1143000"/>
          </a:xfrm>
        </p:spPr>
        <p:txBody>
          <a:bodyPr/>
          <a:lstStyle/>
          <a:p>
            <a:r>
              <a:rPr lang="en-US" sz="3000" dirty="0">
                <a:latin typeface="Arial" charset="0"/>
                <a:ea typeface="ＭＳ Ｐゴシック" charset="0"/>
              </a:rPr>
              <a:t>Determining a Molecular </a:t>
            </a:r>
            <a:r>
              <a:rPr lang="en-US" sz="3000" dirty="0" smtClean="0">
                <a:latin typeface="Arial" charset="0"/>
                <a:ea typeface="ＭＳ Ｐゴシック" charset="0"/>
              </a:rPr>
              <a:t>Formula</a:t>
            </a:r>
            <a:endParaRPr lang="en-US" sz="3000" dirty="0">
              <a:latin typeface="Arial" charset="0"/>
              <a:ea typeface="ＭＳ Ｐゴシック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295400" y="3447599"/>
            <a:ext cx="6967904" cy="1600200"/>
          </a:xfrm>
        </p:spPr>
        <p:txBody>
          <a:bodyPr/>
          <a:lstStyle/>
          <a:p>
            <a:pPr>
              <a:lnSpc>
                <a:spcPts val="2400"/>
              </a:lnSpc>
              <a:defRPr/>
            </a:pPr>
            <a:r>
              <a:rPr lang="en-US" sz="2400" dirty="0" smtClean="0">
                <a:cs typeface="+mn-cs"/>
              </a:rPr>
              <a:t>The empirical formula of a compound was found to be CH.   (</a:t>
            </a:r>
            <a:r>
              <a:rPr lang="en-US" sz="2400" dirty="0" smtClean="0">
                <a:solidFill>
                  <a:srgbClr val="FF0000"/>
                </a:solidFill>
                <a:cs typeface="+mn-cs"/>
              </a:rPr>
              <a:t>13 g/</a:t>
            </a:r>
            <a:r>
              <a:rPr lang="en-US" sz="2400" dirty="0" err="1" smtClean="0">
                <a:solidFill>
                  <a:srgbClr val="FF0000"/>
                </a:solidFill>
                <a:cs typeface="+mn-cs"/>
              </a:rPr>
              <a:t>mol</a:t>
            </a:r>
            <a:r>
              <a:rPr lang="en-US" sz="2400" dirty="0" smtClean="0">
                <a:cs typeface="+mn-cs"/>
              </a:rPr>
              <a:t>)</a:t>
            </a:r>
          </a:p>
          <a:p>
            <a:pPr>
              <a:lnSpc>
                <a:spcPts val="2400"/>
              </a:lnSpc>
              <a:defRPr/>
            </a:pPr>
            <a:endParaRPr lang="en-US" sz="2400" dirty="0">
              <a:cs typeface="+mn-cs"/>
            </a:endParaRPr>
          </a:p>
          <a:p>
            <a:pPr>
              <a:lnSpc>
                <a:spcPts val="2400"/>
              </a:lnSpc>
              <a:defRPr/>
            </a:pPr>
            <a:r>
              <a:rPr lang="en-US" sz="2400" dirty="0" smtClean="0">
                <a:cs typeface="+mn-cs"/>
              </a:rPr>
              <a:t>It has a molar mass of 78 g/mol. </a:t>
            </a:r>
          </a:p>
          <a:p>
            <a:pPr marL="0" indent="0">
              <a:lnSpc>
                <a:spcPts val="2400"/>
              </a:lnSpc>
              <a:buNone/>
              <a:defRPr/>
            </a:pPr>
            <a:endParaRPr lang="en-US" sz="2400" dirty="0" smtClean="0">
              <a:cs typeface="+mn-cs"/>
            </a:endParaRPr>
          </a:p>
          <a:p>
            <a:pPr marL="0" indent="0">
              <a:lnSpc>
                <a:spcPts val="2400"/>
              </a:lnSpc>
              <a:buNone/>
              <a:defRPr/>
            </a:pPr>
            <a:r>
              <a:rPr lang="en-US" sz="2400" dirty="0" smtClean="0">
                <a:cs typeface="+mn-cs"/>
              </a:rPr>
              <a:t>What is its </a:t>
            </a:r>
            <a:r>
              <a:rPr lang="en-US" sz="2400" dirty="0" smtClean="0">
                <a:solidFill>
                  <a:srgbClr val="0000FF"/>
                </a:solidFill>
                <a:cs typeface="+mn-cs"/>
              </a:rPr>
              <a:t>molecular formula</a:t>
            </a:r>
            <a:r>
              <a:rPr lang="en-US" sz="2400" dirty="0" smtClean="0">
                <a:cs typeface="+mn-cs"/>
              </a:rPr>
              <a:t>? (78/13 = </a:t>
            </a:r>
            <a:r>
              <a:rPr lang="en-US" sz="2400" dirty="0" smtClean="0">
                <a:solidFill>
                  <a:srgbClr val="FF0000"/>
                </a:solidFill>
                <a:cs typeface="+mn-cs"/>
              </a:rPr>
              <a:t>6 =n</a:t>
            </a:r>
            <a:r>
              <a:rPr lang="en-US" sz="2400" dirty="0" smtClean="0">
                <a:cs typeface="+mn-cs"/>
              </a:rPr>
              <a:t>)  </a:t>
            </a:r>
            <a:r>
              <a:rPr lang="en-US" sz="2400" dirty="0" smtClean="0">
                <a:cs typeface="+mn-cs"/>
                <a:sym typeface="Wingdings" pitchFamily="2" charset="2"/>
              </a:rPr>
              <a:t>M.F. = 6(EF) = 6(CH) = </a:t>
            </a:r>
            <a:r>
              <a:rPr lang="en-US" sz="2400" b="1" dirty="0" smtClean="0">
                <a:solidFill>
                  <a:srgbClr val="0000FF"/>
                </a:solidFill>
                <a:cs typeface="+mn-cs"/>
              </a:rPr>
              <a:t>C</a:t>
            </a:r>
            <a:r>
              <a:rPr lang="en-US" sz="2400" b="1" baseline="-25000" dirty="0" smtClean="0">
                <a:solidFill>
                  <a:srgbClr val="0000FF"/>
                </a:solidFill>
                <a:cs typeface="+mn-cs"/>
              </a:rPr>
              <a:t>6</a:t>
            </a:r>
            <a:r>
              <a:rPr lang="en-US" sz="2400" b="1" dirty="0" smtClean="0">
                <a:solidFill>
                  <a:srgbClr val="0000FF"/>
                </a:solidFill>
                <a:cs typeface="+mn-cs"/>
              </a:rPr>
              <a:t>H</a:t>
            </a:r>
            <a:r>
              <a:rPr lang="en-US" sz="2400" b="1" baseline="-25000" dirty="0" smtClean="0">
                <a:solidFill>
                  <a:srgbClr val="0000FF"/>
                </a:solidFill>
                <a:cs typeface="+mn-cs"/>
              </a:rPr>
              <a:t>6</a:t>
            </a:r>
            <a:r>
              <a:rPr lang="en-US" sz="2400" dirty="0" smtClean="0">
                <a:cs typeface="+mn-cs"/>
              </a:rPr>
              <a:t>.</a:t>
            </a:r>
            <a:endParaRPr lang="en-US" sz="2400" dirty="0"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76400" y="1145931"/>
            <a:ext cx="6115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(empirical formula) </a:t>
            </a:r>
            <a:r>
              <a:rPr lang="en-US" altLang="zh-CN" dirty="0" smtClean="0">
                <a:solidFill>
                  <a:srgbClr val="FF0000"/>
                </a:solidFill>
              </a:rPr>
              <a:t>x n  </a:t>
            </a:r>
            <a:r>
              <a:rPr lang="en-US" altLang="zh-CN" dirty="0" smtClean="0"/>
              <a:t>= molecular formula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下箭头 2"/>
          <p:cNvSpPr/>
          <p:nvPr/>
        </p:nvSpPr>
        <p:spPr bwMode="auto">
          <a:xfrm>
            <a:off x="6324600" y="1679331"/>
            <a:ext cx="381000" cy="5334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6" name="下箭头 5"/>
          <p:cNvSpPr/>
          <p:nvPr/>
        </p:nvSpPr>
        <p:spPr bwMode="auto">
          <a:xfrm>
            <a:off x="2667000" y="1793631"/>
            <a:ext cx="381000" cy="5334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48" charset="-128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16664" y="2483340"/>
            <a:ext cx="31999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empirical </a:t>
            </a:r>
            <a:r>
              <a:rPr lang="en-US" altLang="zh-CN" sz="2000" b="1" dirty="0" smtClean="0"/>
              <a:t>formula weight</a:t>
            </a:r>
            <a:endParaRPr lang="zh-CN" altLang="en-US" sz="2000" b="1" dirty="0"/>
          </a:p>
        </p:txBody>
      </p:sp>
      <p:sp>
        <p:nvSpPr>
          <p:cNvPr id="8" name="矩形 7"/>
          <p:cNvSpPr/>
          <p:nvPr/>
        </p:nvSpPr>
        <p:spPr>
          <a:xfrm>
            <a:off x="5683864" y="2480409"/>
            <a:ext cx="270138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 smtClean="0"/>
              <a:t>(real) formula weight</a:t>
            </a:r>
          </a:p>
          <a:p>
            <a:r>
              <a:rPr lang="en-US" altLang="zh-CN" sz="2000" b="1" dirty="0" smtClean="0"/>
              <a:t>   or </a:t>
            </a:r>
            <a:r>
              <a:rPr lang="en-US" altLang="zh-CN" sz="2000" b="1" dirty="0" smtClean="0">
                <a:solidFill>
                  <a:srgbClr val="0000FF"/>
                </a:solidFill>
              </a:rPr>
              <a:t>molar mass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ＭＳ Ｐゴシック" charset="0"/>
              </a:rPr>
              <a:t>Stoichiometric (</a:t>
            </a:r>
            <a:r>
              <a:rPr lang="en-US" dirty="0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molar</a:t>
            </a:r>
            <a:r>
              <a:rPr lang="en-US" dirty="0" smtClean="0">
                <a:latin typeface="Arial" charset="0"/>
                <a:ea typeface="ＭＳ Ｐゴシック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Arial" charset="0"/>
                <a:ea typeface="ＭＳ Ｐゴシック" charset="0"/>
              </a:rPr>
              <a:t>ratio</a:t>
            </a:r>
            <a:r>
              <a:rPr lang="en-US" dirty="0" smtClean="0">
                <a:latin typeface="Arial" charset="0"/>
                <a:ea typeface="ＭＳ Ｐゴシック" charset="0"/>
              </a:rPr>
              <a:t>) </a:t>
            </a:r>
            <a:r>
              <a:rPr lang="en-US" dirty="0">
                <a:latin typeface="Arial" charset="0"/>
                <a:ea typeface="ＭＳ Ｐゴシック" charset="0"/>
              </a:rPr>
              <a:t>Calculation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7800"/>
            <a:ext cx="8382000" cy="2743200"/>
          </a:xfrm>
        </p:spPr>
        <p:txBody>
          <a:bodyPr/>
          <a:lstStyle/>
          <a:p>
            <a:pPr marL="0" indent="0">
              <a:lnSpc>
                <a:spcPts val="2800"/>
              </a:lnSpc>
              <a:buNone/>
              <a:defRPr/>
            </a:pPr>
            <a:r>
              <a:rPr lang="en-US" sz="2600" dirty="0" smtClean="0">
                <a:cs typeface="+mn-cs"/>
              </a:rPr>
              <a:t>How many grams of </a:t>
            </a:r>
            <a:r>
              <a:rPr lang="en-US" sz="2600" dirty="0" smtClean="0">
                <a:solidFill>
                  <a:srgbClr val="FF0000"/>
                </a:solidFill>
                <a:cs typeface="+mn-cs"/>
              </a:rPr>
              <a:t>water</a:t>
            </a:r>
            <a:r>
              <a:rPr lang="en-US" sz="2600" dirty="0" smtClean="0">
                <a:cs typeface="+mn-cs"/>
              </a:rPr>
              <a:t> can be produced from 1.00 g of </a:t>
            </a:r>
            <a:r>
              <a:rPr lang="en-US" sz="2600" dirty="0" smtClean="0">
                <a:solidFill>
                  <a:srgbClr val="FF0000"/>
                </a:solidFill>
                <a:cs typeface="+mn-cs"/>
              </a:rPr>
              <a:t>glucose</a:t>
            </a:r>
            <a:r>
              <a:rPr lang="en-US" sz="2600" dirty="0" smtClean="0">
                <a:cs typeface="+mn-cs"/>
              </a:rPr>
              <a:t>?</a:t>
            </a: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sz="2600" dirty="0" smtClean="0">
              <a:cs typeface="+mn-cs"/>
            </a:endParaRP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r>
              <a:rPr lang="en-US" sz="2600" dirty="0" smtClean="0">
                <a:cs typeface="+mn-cs"/>
              </a:rPr>
              <a:t>C</a:t>
            </a:r>
            <a:r>
              <a:rPr lang="en-US" sz="2600" baseline="-25000" dirty="0" smtClean="0">
                <a:cs typeface="+mn-cs"/>
              </a:rPr>
              <a:t>6</a:t>
            </a:r>
            <a:r>
              <a:rPr lang="en-US" sz="2600" dirty="0" smtClean="0">
                <a:cs typeface="+mn-cs"/>
              </a:rPr>
              <a:t>H</a:t>
            </a:r>
            <a:r>
              <a:rPr lang="en-US" sz="2600" baseline="-25000" dirty="0" smtClean="0">
                <a:cs typeface="+mn-cs"/>
              </a:rPr>
              <a:t>12</a:t>
            </a:r>
            <a:r>
              <a:rPr lang="en-US" sz="2600" dirty="0" smtClean="0">
                <a:cs typeface="+mn-cs"/>
              </a:rPr>
              <a:t>O</a:t>
            </a:r>
            <a:r>
              <a:rPr lang="en-US" sz="2600" baseline="-25000" dirty="0" smtClean="0">
                <a:cs typeface="+mn-cs"/>
              </a:rPr>
              <a:t>6</a:t>
            </a:r>
            <a:r>
              <a:rPr lang="en-US" sz="2600" dirty="0" smtClean="0">
                <a:cs typeface="+mn-cs"/>
              </a:rPr>
              <a:t>(</a:t>
            </a:r>
            <a:r>
              <a:rPr lang="en-US" sz="2600" i="1" dirty="0" smtClean="0">
                <a:cs typeface="+mn-cs"/>
              </a:rPr>
              <a:t>s</a:t>
            </a:r>
            <a:r>
              <a:rPr lang="en-US" sz="2600" dirty="0" smtClean="0">
                <a:cs typeface="+mn-cs"/>
              </a:rPr>
              <a:t>) + 6 O</a:t>
            </a:r>
            <a:r>
              <a:rPr lang="en-US" sz="2600" baseline="-25000" dirty="0" smtClean="0">
                <a:cs typeface="+mn-cs"/>
              </a:rPr>
              <a:t>2</a:t>
            </a:r>
            <a:r>
              <a:rPr lang="en-US" sz="2600" dirty="0" smtClean="0">
                <a:cs typeface="+mn-cs"/>
              </a:rPr>
              <a:t>(</a:t>
            </a:r>
            <a:r>
              <a:rPr lang="en-US" sz="2600" i="1" dirty="0" smtClean="0">
                <a:cs typeface="+mn-cs"/>
              </a:rPr>
              <a:t>g</a:t>
            </a:r>
            <a:r>
              <a:rPr lang="en-US" sz="2600" dirty="0" smtClean="0">
                <a:cs typeface="+mn-cs"/>
              </a:rPr>
              <a:t>) </a:t>
            </a:r>
            <a:r>
              <a:rPr lang="en-US" sz="2600" dirty="0" smtClean="0">
                <a:cs typeface="Times New Roman"/>
              </a:rPr>
              <a:t>→ 6 CO</a:t>
            </a:r>
            <a:r>
              <a:rPr lang="en-US" sz="2600" baseline="-25000" dirty="0" smtClean="0">
                <a:cs typeface="Times New Roman"/>
              </a:rPr>
              <a:t>2</a:t>
            </a:r>
            <a:r>
              <a:rPr lang="en-US" sz="2600" dirty="0" smtClean="0">
                <a:cs typeface="Times New Roman"/>
              </a:rPr>
              <a:t>(</a:t>
            </a:r>
            <a:r>
              <a:rPr lang="en-US" sz="2600" i="1" dirty="0" smtClean="0">
                <a:cs typeface="Times New Roman"/>
              </a:rPr>
              <a:t>g</a:t>
            </a:r>
            <a:r>
              <a:rPr lang="en-US" sz="2600" dirty="0" smtClean="0">
                <a:cs typeface="Times New Roman"/>
              </a:rPr>
              <a:t>) + 6 H</a:t>
            </a:r>
            <a:r>
              <a:rPr lang="en-US" sz="2600" baseline="-25000" dirty="0" smtClean="0">
                <a:cs typeface="Times New Roman"/>
              </a:rPr>
              <a:t>2</a:t>
            </a:r>
            <a:r>
              <a:rPr lang="en-US" sz="2600" dirty="0" smtClean="0">
                <a:cs typeface="Times New Roman"/>
              </a:rPr>
              <a:t>O(</a:t>
            </a:r>
            <a:r>
              <a:rPr lang="en-US" sz="2600" i="1" dirty="0" smtClean="0">
                <a:cs typeface="Times New Roman"/>
              </a:rPr>
              <a:t>l</a:t>
            </a:r>
            <a:r>
              <a:rPr lang="en-US" sz="2600" dirty="0" smtClean="0">
                <a:cs typeface="Times New Roman"/>
              </a:rPr>
              <a:t>)</a:t>
            </a: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sz="2600" dirty="0" smtClean="0">
              <a:cs typeface="+mn-cs"/>
            </a:endParaRP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r>
              <a:rPr lang="en-US" sz="2600" b="1" u="sng" dirty="0" smtClean="0">
                <a:solidFill>
                  <a:srgbClr val="FF0000"/>
                </a:solidFill>
                <a:cs typeface="+mn-cs"/>
              </a:rPr>
              <a:t>1 mole </a:t>
            </a:r>
            <a:r>
              <a:rPr lang="en-US" sz="2600" b="1" u="sng" dirty="0" smtClean="0">
                <a:cs typeface="+mn-cs"/>
              </a:rPr>
              <a:t>of glucose will produce </a:t>
            </a:r>
            <a:r>
              <a:rPr lang="en-US" sz="2600" b="1" u="sng" dirty="0" smtClean="0">
                <a:solidFill>
                  <a:srgbClr val="FF0000"/>
                </a:solidFill>
                <a:cs typeface="+mn-cs"/>
              </a:rPr>
              <a:t>6 moles </a:t>
            </a:r>
            <a:r>
              <a:rPr lang="en-US" sz="2600" b="1" u="sng" dirty="0" smtClean="0">
                <a:cs typeface="+mn-cs"/>
              </a:rPr>
              <a:t>of water.</a:t>
            </a: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sz="2600" dirty="0" smtClean="0">
              <a:cs typeface="+mn-cs"/>
            </a:endParaRPr>
          </a:p>
          <a:p>
            <a:pPr>
              <a:lnSpc>
                <a:spcPts val="2800"/>
              </a:lnSpc>
              <a:defRPr/>
            </a:pPr>
            <a:r>
              <a:rPr lang="en-US" sz="2600" dirty="0" smtClean="0">
                <a:cs typeface="+mn-cs"/>
              </a:rPr>
              <a:t>There is 1.00 g of glucose to start.</a:t>
            </a:r>
          </a:p>
          <a:p>
            <a:pPr>
              <a:lnSpc>
                <a:spcPts val="2800"/>
              </a:lnSpc>
              <a:defRPr/>
            </a:pPr>
            <a:endParaRPr lang="en-US" sz="2600" dirty="0" smtClean="0">
              <a:cs typeface="+mn-cs"/>
            </a:endParaRPr>
          </a:p>
          <a:p>
            <a:pPr>
              <a:lnSpc>
                <a:spcPts val="2800"/>
              </a:lnSpc>
              <a:defRPr/>
            </a:pPr>
            <a:r>
              <a:rPr lang="en-US" sz="2600" dirty="0" smtClean="0">
                <a:cs typeface="+mn-cs"/>
              </a:rPr>
              <a:t>The first step is to </a:t>
            </a:r>
            <a:r>
              <a:rPr lang="en-US" sz="2600" dirty="0" smtClean="0">
                <a:solidFill>
                  <a:srgbClr val="0000FF"/>
                </a:solidFill>
                <a:cs typeface="+mn-cs"/>
              </a:rPr>
              <a:t>convert mass (g) it to moles</a:t>
            </a:r>
            <a:r>
              <a:rPr lang="en-US" sz="2600" dirty="0" smtClean="0">
                <a:cs typeface="+mn-cs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9144000" cy="1143000"/>
          </a:xfrm>
        </p:spPr>
        <p:txBody>
          <a:bodyPr/>
          <a:lstStyle/>
          <a:p>
            <a:r>
              <a:rPr lang="en-US" dirty="0" smtClean="0">
                <a:latin typeface="Arial" charset="0"/>
                <a:ea typeface="ＭＳ Ｐゴシック" charset="0"/>
              </a:rPr>
              <a:t>Stoichiometric (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molar</a:t>
            </a:r>
            <a:r>
              <a:rPr lang="en-US" dirty="0" smtClean="0">
                <a:latin typeface="Arial" charset="0"/>
                <a:ea typeface="ＭＳ Ｐゴシック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ratio</a:t>
            </a:r>
            <a:r>
              <a:rPr lang="en-US" dirty="0" smtClean="0">
                <a:latin typeface="Arial" charset="0"/>
                <a:ea typeface="ＭＳ Ｐゴシック" charset="0"/>
              </a:rPr>
              <a:t>) </a:t>
            </a:r>
            <a:r>
              <a:rPr lang="en-US" dirty="0">
                <a:latin typeface="Arial" charset="0"/>
                <a:ea typeface="ＭＳ Ｐゴシック" charset="0"/>
              </a:rPr>
              <a:t>Calculation</a:t>
            </a:r>
          </a:p>
        </p:txBody>
      </p:sp>
      <p:pic>
        <p:nvPicPr>
          <p:cNvPr id="76804" name="Picture 2" descr="pg150b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2" y="4189697"/>
            <a:ext cx="881697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-1418492" y="273772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b="1" u="sng" dirty="0" smtClean="0"/>
              <a:t>Glucose</a:t>
            </a:r>
          </a:p>
          <a:p>
            <a:pPr algn="ctr"/>
            <a:r>
              <a:rPr lang="en-US" altLang="zh-CN" b="1" dirty="0" smtClean="0"/>
              <a:t>Water             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72308" y="2726002"/>
            <a:ext cx="2362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u="sng" dirty="0" smtClean="0">
                <a:solidFill>
                  <a:srgbClr val="FF0000"/>
                </a:solidFill>
              </a:rPr>
              <a:t>1</a:t>
            </a:r>
            <a:endParaRPr lang="en-US" altLang="zh-CN" b="1" u="sng" dirty="0">
              <a:solidFill>
                <a:srgbClr val="FF0000"/>
              </a:solidFill>
            </a:endParaRPr>
          </a:p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442168" y="2689425"/>
            <a:ext cx="426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u="sng" dirty="0" smtClean="0">
                <a:solidFill>
                  <a:srgbClr val="0000FF"/>
                </a:solidFill>
              </a:rPr>
              <a:t>#mole of glucose</a:t>
            </a:r>
          </a:p>
          <a:p>
            <a:pPr algn="ctr"/>
            <a:r>
              <a:rPr lang="en-US" altLang="zh-CN" b="1" dirty="0" smtClean="0"/>
              <a:t>#moles of water</a:t>
            </a:r>
          </a:p>
        </p:txBody>
      </p:sp>
      <p:sp>
        <p:nvSpPr>
          <p:cNvPr id="9" name="矩形 8"/>
          <p:cNvSpPr/>
          <p:nvPr/>
        </p:nvSpPr>
        <p:spPr>
          <a:xfrm>
            <a:off x="5486400" y="2726000"/>
            <a:ext cx="426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u="sng" dirty="0" smtClean="0">
                <a:solidFill>
                  <a:srgbClr val="0000FF"/>
                </a:solidFill>
              </a:rPr>
              <a:t>1.00 g/180.0 g/</a:t>
            </a:r>
            <a:r>
              <a:rPr lang="en-US" altLang="zh-CN" b="1" u="sng" dirty="0" err="1" smtClean="0">
                <a:solidFill>
                  <a:srgbClr val="0000FF"/>
                </a:solidFill>
              </a:rPr>
              <a:t>mol</a:t>
            </a:r>
            <a:endParaRPr lang="en-US" altLang="zh-CN" b="1" u="sng" dirty="0" smtClean="0">
              <a:solidFill>
                <a:srgbClr val="0000FF"/>
              </a:solidFill>
            </a:endParaRPr>
          </a:p>
          <a:p>
            <a:pPr algn="ctr"/>
            <a:r>
              <a:rPr lang="en-US" altLang="zh-CN" b="1" dirty="0" smtClean="0"/>
              <a:t>X g/18.0 g/</a:t>
            </a:r>
            <a:r>
              <a:rPr lang="en-US" altLang="zh-CN" b="1" dirty="0" err="1" smtClean="0"/>
              <a:t>mol</a:t>
            </a:r>
            <a:endParaRPr lang="en-US" altLang="zh-CN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634053" y="2752379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=</a:t>
            </a:r>
            <a:endParaRPr lang="zh-CN" alt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2724299" y="2752400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=</a:t>
            </a:r>
            <a:endParaRPr lang="zh-CN" altLang="en-US" sz="3600" dirty="0"/>
          </a:p>
        </p:txBody>
      </p:sp>
      <p:sp>
        <p:nvSpPr>
          <p:cNvPr id="12" name="TextBox 11"/>
          <p:cNvSpPr txBox="1"/>
          <p:nvPr/>
        </p:nvSpPr>
        <p:spPr>
          <a:xfrm>
            <a:off x="5898323" y="2781759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=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1662165" y="1686823"/>
            <a:ext cx="8229600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800"/>
              </a:lnSpc>
              <a:buFontTx/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C</a:t>
            </a:r>
            <a:r>
              <a:rPr lang="en-US" altLang="zh-CN" baseline="-25000" dirty="0">
                <a:solidFill>
                  <a:srgbClr val="0000FF"/>
                </a:solidFill>
              </a:rPr>
              <a:t>6</a:t>
            </a:r>
            <a:r>
              <a:rPr lang="en-US" altLang="zh-CN" dirty="0">
                <a:solidFill>
                  <a:srgbClr val="0000FF"/>
                </a:solidFill>
              </a:rPr>
              <a:t>H</a:t>
            </a:r>
            <a:r>
              <a:rPr lang="en-US" altLang="zh-CN" baseline="-25000" dirty="0">
                <a:solidFill>
                  <a:srgbClr val="0000FF"/>
                </a:solidFill>
              </a:rPr>
              <a:t>12</a:t>
            </a:r>
            <a:r>
              <a:rPr lang="en-US" altLang="zh-CN" dirty="0">
                <a:solidFill>
                  <a:srgbClr val="0000FF"/>
                </a:solidFill>
              </a:rPr>
              <a:t>O</a:t>
            </a:r>
            <a:r>
              <a:rPr lang="en-US" altLang="zh-CN" baseline="-25000" dirty="0">
                <a:solidFill>
                  <a:srgbClr val="0000FF"/>
                </a:solidFill>
              </a:rPr>
              <a:t>6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i="1" dirty="0">
                <a:solidFill>
                  <a:srgbClr val="0000FF"/>
                </a:solidFill>
              </a:rPr>
              <a:t>s</a:t>
            </a:r>
            <a:r>
              <a:rPr lang="en-US" altLang="zh-CN" dirty="0">
                <a:solidFill>
                  <a:srgbClr val="0000FF"/>
                </a:solidFill>
              </a:rPr>
              <a:t>) </a:t>
            </a:r>
            <a:r>
              <a:rPr lang="en-US" altLang="zh-CN" dirty="0"/>
              <a:t>+ 6 O</a:t>
            </a:r>
            <a:r>
              <a:rPr lang="en-US" altLang="zh-CN" baseline="-25000" dirty="0"/>
              <a:t>2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</a:t>
            </a:r>
            <a:r>
              <a:rPr lang="en-US" altLang="zh-CN" dirty="0">
                <a:cs typeface="Times New Roman"/>
              </a:rPr>
              <a:t>→ 6 CO</a:t>
            </a:r>
            <a:r>
              <a:rPr lang="en-US" altLang="zh-CN" baseline="-25000" dirty="0">
                <a:cs typeface="Times New Roman"/>
              </a:rPr>
              <a:t>2</a:t>
            </a:r>
            <a:r>
              <a:rPr lang="en-US" altLang="zh-CN" dirty="0">
                <a:cs typeface="Times New Roman"/>
              </a:rPr>
              <a:t>(</a:t>
            </a:r>
            <a:r>
              <a:rPr lang="en-US" altLang="zh-CN" i="1" dirty="0">
                <a:cs typeface="Times New Roman"/>
              </a:rPr>
              <a:t>g</a:t>
            </a:r>
            <a:r>
              <a:rPr lang="en-US" altLang="zh-CN" dirty="0">
                <a:cs typeface="Times New Roman"/>
              </a:rPr>
              <a:t>) + 6 H</a:t>
            </a:r>
            <a:r>
              <a:rPr lang="en-US" altLang="zh-CN" baseline="-25000" dirty="0">
                <a:cs typeface="Times New Roman"/>
              </a:rPr>
              <a:t>2</a:t>
            </a:r>
            <a:r>
              <a:rPr lang="en-US" altLang="zh-CN" dirty="0">
                <a:cs typeface="Times New Roman"/>
              </a:rPr>
              <a:t>O(</a:t>
            </a:r>
            <a:r>
              <a:rPr lang="en-US" altLang="zh-CN" i="1" dirty="0">
                <a:cs typeface="Times New Roman"/>
              </a:rPr>
              <a:t>l</a:t>
            </a:r>
            <a:r>
              <a:rPr lang="en-US" altLang="zh-CN" dirty="0">
                <a:cs typeface="Times New Roman"/>
              </a:rPr>
              <a:t>)</a:t>
            </a: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>
          <a:xfrm>
            <a:off x="0" y="23446"/>
            <a:ext cx="9144000" cy="1143000"/>
          </a:xfrm>
        </p:spPr>
        <p:txBody>
          <a:bodyPr/>
          <a:lstStyle/>
          <a:p>
            <a:r>
              <a:rPr lang="en-US" sz="30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Limiting</a:t>
            </a:r>
            <a:r>
              <a:rPr lang="en-US" sz="3000" dirty="0" smtClean="0">
                <a:latin typeface="Arial" charset="0"/>
                <a:ea typeface="ＭＳ Ｐゴシック" charset="0"/>
              </a:rPr>
              <a:t> Reactants (Reagents)</a:t>
            </a:r>
            <a:endParaRPr lang="en-US" sz="3000" dirty="0">
              <a:latin typeface="Arial" charset="0"/>
              <a:ea typeface="ＭＳ Ｐゴシック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4800" y="1143000"/>
            <a:ext cx="9525000" cy="3683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800"/>
              </a:lnSpc>
              <a:buFontTx/>
              <a:buNone/>
              <a:defRPr/>
            </a:pPr>
            <a:r>
              <a:rPr lang="en-US" altLang="zh-CN" sz="2000" u="sng" dirty="0"/>
              <a:t>C</a:t>
            </a:r>
            <a:r>
              <a:rPr lang="en-US" altLang="zh-CN" sz="2000" u="sng" baseline="-25000" dirty="0"/>
              <a:t>6</a:t>
            </a:r>
            <a:r>
              <a:rPr lang="en-US" altLang="zh-CN" sz="2000" u="sng" dirty="0"/>
              <a:t>H</a:t>
            </a:r>
            <a:r>
              <a:rPr lang="en-US" altLang="zh-CN" sz="2000" u="sng" baseline="-25000" dirty="0"/>
              <a:t>12</a:t>
            </a:r>
            <a:r>
              <a:rPr lang="en-US" altLang="zh-CN" sz="2000" u="sng" dirty="0"/>
              <a:t>O</a:t>
            </a:r>
            <a:r>
              <a:rPr lang="en-US" altLang="zh-CN" sz="2000" u="sng" baseline="-25000" dirty="0"/>
              <a:t>6</a:t>
            </a:r>
            <a:r>
              <a:rPr lang="en-US" altLang="zh-CN" sz="2000" u="sng" dirty="0"/>
              <a:t>(</a:t>
            </a:r>
            <a:r>
              <a:rPr lang="en-US" altLang="zh-CN" sz="2000" i="1" u="sng" dirty="0"/>
              <a:t>s</a:t>
            </a:r>
            <a:r>
              <a:rPr lang="en-US" altLang="zh-CN" sz="2000" u="sng" dirty="0"/>
              <a:t>) </a:t>
            </a:r>
            <a:r>
              <a:rPr lang="en-US" altLang="zh-CN" sz="2000" dirty="0" smtClean="0"/>
              <a:t>             +                   </a:t>
            </a:r>
            <a:r>
              <a:rPr lang="en-US" altLang="zh-CN" sz="2000" u="sng" dirty="0" smtClean="0"/>
              <a:t>6 </a:t>
            </a:r>
            <a:r>
              <a:rPr lang="en-US" altLang="zh-CN" sz="2000" u="sng" dirty="0"/>
              <a:t>O</a:t>
            </a:r>
            <a:r>
              <a:rPr lang="en-US" altLang="zh-CN" sz="2000" u="sng" baseline="-25000" dirty="0"/>
              <a:t>2</a:t>
            </a:r>
            <a:r>
              <a:rPr lang="en-US" altLang="zh-CN" sz="2000" u="sng" dirty="0"/>
              <a:t>(</a:t>
            </a:r>
            <a:r>
              <a:rPr lang="en-US" altLang="zh-CN" sz="2000" i="1" u="sng" dirty="0"/>
              <a:t>g</a:t>
            </a:r>
            <a:r>
              <a:rPr lang="en-US" altLang="zh-CN" sz="2000" u="sng" dirty="0"/>
              <a:t>)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     </a:t>
            </a:r>
            <a:r>
              <a:rPr lang="en-US" altLang="zh-CN" sz="2000" dirty="0" smtClean="0">
                <a:cs typeface="Times New Roman"/>
              </a:rPr>
              <a:t>→       </a:t>
            </a:r>
            <a:r>
              <a:rPr lang="en-US" altLang="zh-CN" sz="2000" dirty="0">
                <a:cs typeface="Times New Roman"/>
              </a:rPr>
              <a:t>6 CO</a:t>
            </a:r>
            <a:r>
              <a:rPr lang="en-US" altLang="zh-CN" sz="2000" baseline="-25000" dirty="0">
                <a:cs typeface="Times New Roman"/>
              </a:rPr>
              <a:t>2</a:t>
            </a:r>
            <a:r>
              <a:rPr lang="en-US" altLang="zh-CN" sz="2000" dirty="0">
                <a:cs typeface="Times New Roman"/>
              </a:rPr>
              <a:t>(</a:t>
            </a:r>
            <a:r>
              <a:rPr lang="en-US" altLang="zh-CN" sz="2000" i="1" dirty="0">
                <a:cs typeface="Times New Roman"/>
              </a:rPr>
              <a:t>g</a:t>
            </a:r>
            <a:r>
              <a:rPr lang="en-US" altLang="zh-CN" sz="2000" dirty="0">
                <a:cs typeface="Times New Roman"/>
              </a:rPr>
              <a:t>) + 6 H</a:t>
            </a:r>
            <a:r>
              <a:rPr lang="en-US" altLang="zh-CN" sz="2000" baseline="-25000" dirty="0">
                <a:cs typeface="Times New Roman"/>
              </a:rPr>
              <a:t>2</a:t>
            </a:r>
            <a:r>
              <a:rPr lang="en-US" altLang="zh-CN" sz="2000" dirty="0">
                <a:cs typeface="Times New Roman"/>
              </a:rPr>
              <a:t>O(</a:t>
            </a:r>
            <a:r>
              <a:rPr lang="en-US" altLang="zh-CN" sz="2000" i="1" dirty="0">
                <a:cs typeface="Times New Roman"/>
              </a:rPr>
              <a:t>l</a:t>
            </a:r>
            <a:r>
              <a:rPr lang="en-US" altLang="zh-CN" sz="2000" dirty="0" smtClean="0">
                <a:cs typeface="Times New Roman"/>
              </a:rPr>
              <a:t>)</a:t>
            </a: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altLang="zh-CN" sz="2000" dirty="0">
              <a:cs typeface="Times New Roman"/>
            </a:endParaRP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r>
              <a:rPr lang="en-US" altLang="zh-CN" sz="2000" dirty="0" smtClean="0">
                <a:cs typeface="Times New Roman"/>
              </a:rPr>
              <a:t>  1 mole	                        		 6 moles (molar ratio)</a:t>
            </a: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altLang="zh-CN" sz="2000" dirty="0">
              <a:cs typeface="Times New Roman"/>
            </a:endParaRP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r>
              <a:rPr lang="en-US" altLang="zh-CN" sz="2000" dirty="0" smtClean="0">
                <a:cs typeface="Times New Roman"/>
              </a:rPr>
              <a:t>  2 moles	                           12 moles (perfect!)</a:t>
            </a: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altLang="zh-CN" sz="2000" dirty="0">
              <a:cs typeface="Times New Roman"/>
            </a:endParaRP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r>
              <a:rPr lang="en-US" altLang="zh-CN" sz="2000" dirty="0">
                <a:cs typeface="Times New Roman"/>
              </a:rPr>
              <a:t> </a:t>
            </a:r>
            <a:r>
              <a:rPr lang="en-US" altLang="zh-CN" sz="2000" dirty="0" smtClean="0">
                <a:cs typeface="Times New Roman"/>
              </a:rPr>
              <a:t> 2 moles (</a:t>
            </a:r>
            <a:r>
              <a:rPr lang="en-US" altLang="zh-CN" sz="2000" dirty="0" smtClean="0">
                <a:solidFill>
                  <a:srgbClr val="FF0000"/>
                </a:solidFill>
                <a:cs typeface="Times New Roman"/>
              </a:rPr>
              <a:t>deficient/limiting</a:t>
            </a:r>
            <a:r>
              <a:rPr lang="en-US" altLang="zh-CN" sz="2000" dirty="0" smtClean="0">
                <a:cs typeface="Times New Roman"/>
              </a:rPr>
              <a:t>)          15 moles (12 </a:t>
            </a:r>
            <a:r>
              <a:rPr lang="en-US" altLang="zh-CN" sz="2000" dirty="0" smtClean="0">
                <a:solidFill>
                  <a:srgbClr val="00B050"/>
                </a:solidFill>
                <a:cs typeface="Times New Roman"/>
              </a:rPr>
              <a:t>+ 3 moles of O</a:t>
            </a:r>
            <a:r>
              <a:rPr lang="en-US" altLang="zh-CN" sz="2000" baseline="-25000" dirty="0" smtClean="0">
                <a:solidFill>
                  <a:srgbClr val="00B050"/>
                </a:solidFill>
                <a:cs typeface="Times New Roman"/>
              </a:rPr>
              <a:t>2</a:t>
            </a:r>
            <a:r>
              <a:rPr lang="en-US" altLang="zh-CN" sz="2000" dirty="0" smtClean="0">
                <a:solidFill>
                  <a:srgbClr val="00B050"/>
                </a:solidFill>
                <a:cs typeface="Times New Roman"/>
              </a:rPr>
              <a:t> in excess</a:t>
            </a:r>
            <a:r>
              <a:rPr lang="en-US" altLang="zh-CN" sz="2000" dirty="0">
                <a:solidFill>
                  <a:srgbClr val="00B050"/>
                </a:solidFill>
                <a:cs typeface="Times New Roman"/>
              </a:rPr>
              <a:t>)</a:t>
            </a:r>
            <a:endParaRPr lang="en-US" altLang="zh-CN" sz="2000" dirty="0" smtClean="0">
              <a:solidFill>
                <a:srgbClr val="00B050"/>
              </a:solidFill>
              <a:cs typeface="Times New Roman"/>
            </a:endParaRP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altLang="zh-CN" sz="2000" dirty="0">
              <a:solidFill>
                <a:srgbClr val="00B050"/>
              </a:solidFill>
              <a:cs typeface="Times New Roman"/>
            </a:endParaRP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r>
              <a:rPr lang="en-US" altLang="zh-CN" sz="2000" dirty="0" smtClean="0">
                <a:cs typeface="Times New Roman"/>
              </a:rPr>
              <a:t>  2 moles (</a:t>
            </a:r>
            <a:r>
              <a:rPr lang="en-US" altLang="zh-CN" sz="2000" dirty="0" smtClean="0">
                <a:solidFill>
                  <a:srgbClr val="00B050"/>
                </a:solidFill>
                <a:cs typeface="Times New Roman"/>
              </a:rPr>
              <a:t>excess</a:t>
            </a:r>
            <a:r>
              <a:rPr lang="en-US" altLang="zh-CN" sz="2000" dirty="0" smtClean="0">
                <a:cs typeface="Times New Roman"/>
              </a:rPr>
              <a:t>)	               11 moles (12 </a:t>
            </a:r>
            <a:r>
              <a:rPr lang="en-US" altLang="zh-CN" sz="2000" dirty="0" smtClean="0">
                <a:solidFill>
                  <a:srgbClr val="FF0000"/>
                </a:solidFill>
                <a:cs typeface="Times New Roman"/>
              </a:rPr>
              <a:t>- 1</a:t>
            </a:r>
            <a:r>
              <a:rPr lang="en-US" altLang="zh-CN" sz="2000" dirty="0" smtClean="0">
                <a:cs typeface="Times New Roman"/>
              </a:rPr>
              <a:t>) --- O</a:t>
            </a:r>
            <a:r>
              <a:rPr lang="en-US" altLang="zh-CN" sz="2000" baseline="-25000" dirty="0" smtClean="0">
                <a:cs typeface="Times New Roman"/>
              </a:rPr>
              <a:t>2</a:t>
            </a:r>
            <a:r>
              <a:rPr lang="en-US" altLang="zh-CN" sz="2000" dirty="0" smtClean="0">
                <a:cs typeface="Times New Roman"/>
              </a:rPr>
              <a:t> (</a:t>
            </a:r>
            <a:r>
              <a:rPr lang="en-US" altLang="zh-CN" sz="2000" dirty="0" smtClean="0">
                <a:solidFill>
                  <a:srgbClr val="FF0000"/>
                </a:solidFill>
                <a:cs typeface="Times New Roman"/>
              </a:rPr>
              <a:t>deficient/limiting</a:t>
            </a:r>
            <a:r>
              <a:rPr lang="en-US" altLang="zh-CN" sz="2000" dirty="0" smtClean="0">
                <a:cs typeface="Times New Roman"/>
              </a:rPr>
              <a:t>)</a:t>
            </a:r>
            <a:endParaRPr lang="en-US" altLang="zh-CN" sz="2000" dirty="0">
              <a:cs typeface="Times New Roman"/>
            </a:endParaRP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altLang="zh-CN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148507" y="4826060"/>
            <a:ext cx="8946680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900" b="1" dirty="0" smtClean="0"/>
              <a:t>The </a:t>
            </a:r>
            <a:r>
              <a:rPr lang="en-US" altLang="zh-CN" sz="1900" b="1" dirty="0" smtClean="0">
                <a:solidFill>
                  <a:srgbClr val="FF0000"/>
                </a:solidFill>
              </a:rPr>
              <a:t>limiting reactant </a:t>
            </a:r>
            <a:r>
              <a:rPr lang="en-US" altLang="zh-CN" sz="1900" b="1" dirty="0" smtClean="0"/>
              <a:t>runs out (is consumed) first.</a:t>
            </a:r>
          </a:p>
          <a:p>
            <a:pPr algn="ctr"/>
            <a:endParaRPr lang="en-US" altLang="zh-CN" sz="1900" b="1" u="sng" dirty="0"/>
          </a:p>
          <a:p>
            <a:pPr algn="ctr"/>
            <a:r>
              <a:rPr lang="en-US" altLang="zh-CN" sz="1900" b="1" dirty="0" smtClean="0">
                <a:solidFill>
                  <a:srgbClr val="FF0000"/>
                </a:solidFill>
              </a:rPr>
              <a:t>!!! </a:t>
            </a:r>
            <a:r>
              <a:rPr lang="en-US" altLang="zh-CN" sz="1900" b="1" dirty="0" smtClean="0"/>
              <a:t>The amount of a product produced is dependent on the limiting reactant.</a:t>
            </a:r>
            <a:endParaRPr lang="zh-CN" alt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404366867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Limiting Reactants</a:t>
            </a:r>
          </a:p>
        </p:txBody>
      </p:sp>
      <p:pic>
        <p:nvPicPr>
          <p:cNvPr id="6" name="Picture 7" descr="03_17_Figure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7"/>
          <a:stretch>
            <a:fillRect/>
          </a:stretch>
        </p:blipFill>
        <p:spPr bwMode="auto">
          <a:xfrm>
            <a:off x="1175238" y="1828800"/>
            <a:ext cx="7162800" cy="285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2819400" y="1143000"/>
            <a:ext cx="32079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buNone/>
            </a:pPr>
            <a:r>
              <a:rPr lang="en-US" altLang="zh-CN" b="1" dirty="0"/>
              <a:t>2 H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 + </a:t>
            </a:r>
            <a:r>
              <a:rPr lang="en-US" altLang="zh-CN" b="1" dirty="0">
                <a:solidFill>
                  <a:srgbClr val="CC0000"/>
                </a:solidFill>
              </a:rPr>
              <a:t>O</a:t>
            </a:r>
            <a:r>
              <a:rPr lang="en-US" altLang="zh-CN" b="1" baseline="-25000" dirty="0">
                <a:solidFill>
                  <a:srgbClr val="CC0000"/>
                </a:solidFill>
              </a:rPr>
              <a:t>2</a:t>
            </a:r>
            <a:r>
              <a:rPr lang="en-US" altLang="zh-CN" b="1" dirty="0">
                <a:solidFill>
                  <a:srgbClr val="CC0000"/>
                </a:solidFill>
              </a:rPr>
              <a:t>  </a:t>
            </a:r>
            <a:r>
              <a:rPr lang="en-US" altLang="zh-CN" b="1" dirty="0"/>
              <a:t>  </a:t>
            </a:r>
            <a:r>
              <a:rPr lang="en-US" altLang="zh-CN" b="1" dirty="0">
                <a:sym typeface="Wingdings" pitchFamily="2" charset="2"/>
              </a:rPr>
              <a:t>   </a:t>
            </a:r>
            <a:r>
              <a:rPr lang="en-US" altLang="zh-CN" b="1" dirty="0" smtClean="0">
                <a:sym typeface="Wingdings" pitchFamily="2" charset="2"/>
              </a:rPr>
              <a:t>2 H</a:t>
            </a:r>
            <a:r>
              <a:rPr lang="en-US" altLang="zh-CN" b="1" baseline="-25000" dirty="0" smtClean="0">
                <a:sym typeface="Wingdings" pitchFamily="2" charset="2"/>
              </a:rPr>
              <a:t>2</a:t>
            </a:r>
            <a:r>
              <a:rPr lang="en-US" altLang="zh-CN" b="1" dirty="0" smtClean="0">
                <a:sym typeface="Wingdings" pitchFamily="2" charset="2"/>
              </a:rPr>
              <a:t>O</a:t>
            </a:r>
            <a:endParaRPr lang="en-US" altLang="zh-CN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6564618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zh-CN" sz="2200" dirty="0" smtClean="0"/>
              <a:t>14 H</a:t>
            </a:r>
            <a:r>
              <a:rPr lang="en-US" altLang="zh-CN" sz="2200" baseline="-25000" dirty="0" smtClean="0"/>
              <a:t>2</a:t>
            </a:r>
            <a:r>
              <a:rPr lang="en-US" altLang="zh-CN" sz="2200" dirty="0" smtClean="0"/>
              <a:t> molecules are needed for 7 O</a:t>
            </a:r>
            <a:r>
              <a:rPr lang="en-US" altLang="zh-CN" sz="2200" baseline="-25000" dirty="0" smtClean="0"/>
              <a:t>2</a:t>
            </a:r>
            <a:r>
              <a:rPr lang="en-US" altLang="zh-CN" sz="2200" dirty="0" smtClean="0"/>
              <a:t> molecules.</a:t>
            </a:r>
          </a:p>
          <a:p>
            <a:pPr marL="342900" indent="-342900"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zh-CN" sz="2200" dirty="0" smtClean="0"/>
              <a:t>H</a:t>
            </a:r>
            <a:r>
              <a:rPr lang="en-US" altLang="zh-CN" sz="2200" baseline="-25000" dirty="0" smtClean="0"/>
              <a:t>2</a:t>
            </a:r>
            <a:r>
              <a:rPr lang="en-US" altLang="zh-CN" sz="2200" dirty="0" smtClean="0"/>
              <a:t> is thus limiting and </a:t>
            </a:r>
            <a:r>
              <a:rPr lang="en-US" altLang="zh-CN" sz="2200" dirty="0" smtClean="0">
                <a:solidFill>
                  <a:srgbClr val="FF0000"/>
                </a:solidFill>
              </a:rPr>
              <a:t>runs out </a:t>
            </a:r>
            <a:r>
              <a:rPr lang="en-US" altLang="zh-CN" sz="2200" dirty="0" smtClean="0"/>
              <a:t>first.</a:t>
            </a:r>
          </a:p>
          <a:p>
            <a:pPr marL="342900" indent="-342900">
              <a:lnSpc>
                <a:spcPts val="3000"/>
              </a:lnSpc>
              <a:buFont typeface="Arial" pitchFamily="34" charset="0"/>
              <a:buChar char="•"/>
            </a:pPr>
            <a:r>
              <a:rPr lang="en-US" altLang="zh-CN" sz="2200" dirty="0" smtClean="0"/>
              <a:t>O</a:t>
            </a:r>
            <a:r>
              <a:rPr lang="en-US" altLang="zh-CN" sz="2200" baseline="-25000" dirty="0" smtClean="0"/>
              <a:t>2</a:t>
            </a:r>
            <a:r>
              <a:rPr lang="en-US" altLang="zh-CN" sz="2200" dirty="0" smtClean="0"/>
              <a:t> is in excess with a certain amount </a:t>
            </a:r>
            <a:r>
              <a:rPr lang="en-US" altLang="zh-CN" sz="2200" dirty="0" smtClean="0">
                <a:solidFill>
                  <a:srgbClr val="FF0000"/>
                </a:solidFill>
              </a:rPr>
              <a:t>unreacted</a:t>
            </a:r>
            <a:r>
              <a:rPr lang="en-US" altLang="zh-CN" sz="2200" dirty="0" smtClean="0"/>
              <a:t>.</a:t>
            </a:r>
            <a:endParaRPr lang="zh-CN" altLang="en-US" sz="22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ＭＳ Ｐゴシック" charset="0"/>
              </a:rPr>
              <a:t>Percent Yield</a:t>
            </a:r>
          </a:p>
        </p:txBody>
      </p:sp>
      <p:grpSp>
        <p:nvGrpSpPr>
          <p:cNvPr id="87044" name="Group 13"/>
          <p:cNvGrpSpPr>
            <a:grpSpLocks/>
          </p:cNvGrpSpPr>
          <p:nvPr/>
        </p:nvGrpSpPr>
        <p:grpSpPr bwMode="auto">
          <a:xfrm>
            <a:off x="-185057" y="4163504"/>
            <a:ext cx="8402633" cy="954088"/>
            <a:chOff x="165" y="2810"/>
            <a:chExt cx="5293" cy="601"/>
          </a:xfrm>
        </p:grpSpPr>
        <p:sp>
          <p:nvSpPr>
            <p:cNvPr id="87045" name="Rectangle 8"/>
            <p:cNvSpPr>
              <a:spLocks noChangeArrowheads="1"/>
            </p:cNvSpPr>
            <p:nvPr/>
          </p:nvSpPr>
          <p:spPr bwMode="auto">
            <a:xfrm>
              <a:off x="165" y="2946"/>
              <a:ext cx="529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dirty="0" smtClean="0"/>
                <a:t>       Percent </a:t>
              </a:r>
              <a:r>
                <a:rPr lang="en-US" sz="2800" dirty="0"/>
                <a:t>yield =	</a:t>
              </a:r>
              <a:r>
                <a:rPr lang="en-US" sz="2800" dirty="0" smtClean="0"/>
                <a:t>	</a:t>
              </a:r>
              <a:r>
                <a:rPr lang="en-US" sz="2800" dirty="0"/>
                <a:t>		 </a:t>
              </a:r>
              <a:r>
                <a:rPr lang="en-US" sz="2800" dirty="0" smtClean="0"/>
                <a:t>      × </a:t>
              </a:r>
              <a:r>
                <a:rPr lang="en-US" sz="2800" dirty="0"/>
                <a:t>100</a:t>
              </a:r>
            </a:p>
          </p:txBody>
        </p:sp>
        <p:grpSp>
          <p:nvGrpSpPr>
            <p:cNvPr id="87046" name="Group 12"/>
            <p:cNvGrpSpPr>
              <a:grpSpLocks/>
            </p:cNvGrpSpPr>
            <p:nvPr/>
          </p:nvGrpSpPr>
          <p:grpSpPr bwMode="auto">
            <a:xfrm>
              <a:off x="2325" y="2810"/>
              <a:ext cx="2304" cy="601"/>
              <a:chOff x="2325" y="2810"/>
              <a:chExt cx="2304" cy="601"/>
            </a:xfrm>
          </p:grpSpPr>
          <p:sp>
            <p:nvSpPr>
              <p:cNvPr id="87047" name="Rectangle 5"/>
              <p:cNvSpPr>
                <a:spLocks noChangeArrowheads="1"/>
              </p:cNvSpPr>
              <p:nvPr/>
            </p:nvSpPr>
            <p:spPr bwMode="auto">
              <a:xfrm>
                <a:off x="2544" y="2810"/>
                <a:ext cx="1692" cy="6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800" dirty="0"/>
                  <a:t>actual yield</a:t>
                </a:r>
              </a:p>
              <a:p>
                <a:pPr algn="ctr"/>
                <a:r>
                  <a:rPr lang="en-US" sz="2800" dirty="0"/>
                  <a:t>theoretical yield</a:t>
                </a:r>
              </a:p>
            </p:txBody>
          </p:sp>
          <p:sp>
            <p:nvSpPr>
              <p:cNvPr id="87048" name="Line 6"/>
              <p:cNvSpPr>
                <a:spLocks noChangeShapeType="1"/>
              </p:cNvSpPr>
              <p:nvPr/>
            </p:nvSpPr>
            <p:spPr bwMode="auto">
              <a:xfrm>
                <a:off x="2325" y="3142"/>
                <a:ext cx="2304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</p:grpSp>
      </p:grp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-152400" y="1369244"/>
            <a:ext cx="9067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Tx/>
              <a:buNone/>
            </a:pPr>
            <a:r>
              <a:rPr lang="en-US" dirty="0" smtClean="0">
                <a:latin typeface="Arial" charset="0"/>
                <a:ea typeface="ＭＳ Ｐゴシック" charset="0"/>
              </a:rPr>
              <a:t>	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One finds the </a:t>
            </a:r>
            <a:r>
              <a:rPr lang="en-US" sz="2800" b="1" dirty="0" smtClean="0">
                <a:latin typeface="Arial" charset="0"/>
                <a:ea typeface="ＭＳ Ｐゴシック" charset="0"/>
              </a:rPr>
              <a:t>percent yield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by dividing the amount actually obtained (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actual or real 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yield) to the amount it was possible to make (</a:t>
            </a:r>
            <a:r>
              <a:rPr lang="en-US" sz="2800" dirty="0" smtClean="0">
                <a:solidFill>
                  <a:srgbClr val="FF0000"/>
                </a:solidFill>
                <a:latin typeface="Arial" charset="0"/>
                <a:ea typeface="ＭＳ Ｐゴシック" charset="0"/>
              </a:rPr>
              <a:t>theoretical or perfect</a:t>
            </a:r>
            <a:r>
              <a:rPr lang="en-US" sz="2800" dirty="0" smtClean="0">
                <a:latin typeface="Arial" charset="0"/>
                <a:ea typeface="ＭＳ Ｐゴシック" charset="0"/>
              </a:rPr>
              <a:t> yield):</a:t>
            </a:r>
            <a:endParaRPr lang="en-US" sz="2800" dirty="0">
              <a:latin typeface="Arial" charset="0"/>
              <a:ea typeface="ＭＳ Ｐゴシック" charset="0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 flipH="1">
            <a:off x="6080016" y="3751909"/>
            <a:ext cx="1143000" cy="6274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TextBox 3"/>
          <p:cNvSpPr txBox="1"/>
          <p:nvPr/>
        </p:nvSpPr>
        <p:spPr>
          <a:xfrm>
            <a:off x="6140150" y="3200400"/>
            <a:ext cx="2614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(from </a:t>
            </a:r>
            <a:r>
              <a:rPr lang="en-US" altLang="zh-CN" dirty="0" smtClean="0">
                <a:solidFill>
                  <a:srgbClr val="FF0000"/>
                </a:solidFill>
              </a:rPr>
              <a:t>experiment)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 flipV="1">
            <a:off x="2699427" y="4953000"/>
            <a:ext cx="892176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381000" y="5333492"/>
            <a:ext cx="5267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(from </a:t>
            </a:r>
            <a:r>
              <a:rPr lang="en-US" altLang="zh-CN" dirty="0" smtClean="0">
                <a:solidFill>
                  <a:srgbClr val="FF0000"/>
                </a:solidFill>
              </a:rPr>
              <a:t>calculation – a prefect reaction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157654" y="185222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zh-CN" b="1" u="sng" dirty="0" smtClean="0"/>
              <a:t>Glucose</a:t>
            </a:r>
          </a:p>
          <a:p>
            <a:pPr algn="ctr"/>
            <a:r>
              <a:rPr lang="en-US" altLang="zh-CN" b="1" dirty="0" smtClean="0"/>
              <a:t>Water             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33146" y="1840498"/>
            <a:ext cx="2362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u="sng" dirty="0" smtClean="0"/>
              <a:t>1</a:t>
            </a:r>
            <a:endParaRPr lang="en-US" altLang="zh-CN" b="1" u="sng" dirty="0"/>
          </a:p>
          <a:p>
            <a:pPr algn="ctr"/>
            <a:r>
              <a:rPr lang="en-US" altLang="zh-CN" b="1" dirty="0"/>
              <a:t>6</a:t>
            </a:r>
            <a:r>
              <a:rPr lang="en-US" altLang="zh-CN" b="1" dirty="0" smtClean="0"/>
              <a:t> 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775438" y="1846360"/>
            <a:ext cx="426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u="sng" dirty="0" smtClean="0"/>
              <a:t>#mole of glucose</a:t>
            </a:r>
          </a:p>
          <a:p>
            <a:pPr algn="ctr"/>
            <a:r>
              <a:rPr lang="en-US" altLang="zh-CN" b="1" dirty="0" smtClean="0"/>
              <a:t>#moles of water</a:t>
            </a:r>
          </a:p>
        </p:txBody>
      </p:sp>
      <p:sp>
        <p:nvSpPr>
          <p:cNvPr id="9" name="矩形 8"/>
          <p:cNvSpPr/>
          <p:nvPr/>
        </p:nvSpPr>
        <p:spPr>
          <a:xfrm>
            <a:off x="5747238" y="1840496"/>
            <a:ext cx="426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u="sng" dirty="0" smtClean="0"/>
              <a:t>1.00/180.0</a:t>
            </a:r>
          </a:p>
          <a:p>
            <a:pPr algn="ctr"/>
            <a:r>
              <a:rPr lang="en-US" altLang="zh-CN" b="1" dirty="0" smtClean="0"/>
              <a:t>x/18.0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4891" y="1866875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=</a:t>
            </a:r>
            <a:endParaRPr lang="zh-CN" altLang="en-US" sz="3600" dirty="0"/>
          </a:p>
        </p:txBody>
      </p:sp>
      <p:sp>
        <p:nvSpPr>
          <p:cNvPr id="11" name="TextBox 10"/>
          <p:cNvSpPr txBox="1"/>
          <p:nvPr/>
        </p:nvSpPr>
        <p:spPr>
          <a:xfrm>
            <a:off x="2985137" y="186689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=</a:t>
            </a:r>
            <a:endParaRPr lang="zh-CN" altLang="en-US" sz="3600" dirty="0"/>
          </a:p>
        </p:txBody>
      </p:sp>
      <p:sp>
        <p:nvSpPr>
          <p:cNvPr id="12" name="TextBox 11"/>
          <p:cNvSpPr txBox="1"/>
          <p:nvPr/>
        </p:nvSpPr>
        <p:spPr>
          <a:xfrm>
            <a:off x="6433038" y="186689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=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1371600" y="468896"/>
            <a:ext cx="8229600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ts val="2800"/>
              </a:lnSpc>
              <a:buFontTx/>
              <a:buNone/>
              <a:defRPr/>
            </a:pPr>
            <a:r>
              <a:rPr lang="en-US" altLang="zh-CN" b="1" u="sng" dirty="0">
                <a:solidFill>
                  <a:srgbClr val="0000FF"/>
                </a:solidFill>
              </a:rPr>
              <a:t>C</a:t>
            </a:r>
            <a:r>
              <a:rPr lang="en-US" altLang="zh-CN" b="1" u="sng" baseline="-25000" dirty="0">
                <a:solidFill>
                  <a:srgbClr val="0000FF"/>
                </a:solidFill>
              </a:rPr>
              <a:t>6</a:t>
            </a:r>
            <a:r>
              <a:rPr lang="en-US" altLang="zh-CN" b="1" u="sng" dirty="0">
                <a:solidFill>
                  <a:srgbClr val="0000FF"/>
                </a:solidFill>
              </a:rPr>
              <a:t>H</a:t>
            </a:r>
            <a:r>
              <a:rPr lang="en-US" altLang="zh-CN" b="1" u="sng" baseline="-25000" dirty="0">
                <a:solidFill>
                  <a:srgbClr val="0000FF"/>
                </a:solidFill>
              </a:rPr>
              <a:t>12</a:t>
            </a:r>
            <a:r>
              <a:rPr lang="en-US" altLang="zh-CN" b="1" u="sng" dirty="0">
                <a:solidFill>
                  <a:srgbClr val="0000FF"/>
                </a:solidFill>
              </a:rPr>
              <a:t>O</a:t>
            </a:r>
            <a:r>
              <a:rPr lang="en-US" altLang="zh-CN" b="1" u="sng" baseline="-25000" dirty="0">
                <a:solidFill>
                  <a:srgbClr val="0000FF"/>
                </a:solidFill>
              </a:rPr>
              <a:t>6</a:t>
            </a:r>
            <a:r>
              <a:rPr lang="en-US" altLang="zh-CN" b="1" u="sng" dirty="0">
                <a:solidFill>
                  <a:srgbClr val="0000FF"/>
                </a:solidFill>
              </a:rPr>
              <a:t>(</a:t>
            </a:r>
            <a:r>
              <a:rPr lang="en-US" altLang="zh-CN" b="1" i="1" u="sng" dirty="0">
                <a:solidFill>
                  <a:srgbClr val="0000FF"/>
                </a:solidFill>
              </a:rPr>
              <a:t>s</a:t>
            </a:r>
            <a:r>
              <a:rPr lang="en-US" altLang="zh-CN" b="1" u="sng" dirty="0">
                <a:solidFill>
                  <a:srgbClr val="0000FF"/>
                </a:solidFill>
              </a:rPr>
              <a:t>) </a:t>
            </a:r>
            <a:r>
              <a:rPr lang="en-US" altLang="zh-CN" b="1" u="sng" dirty="0"/>
              <a:t>+ </a:t>
            </a:r>
            <a:r>
              <a:rPr lang="en-US" altLang="zh-CN" b="1" u="sng" dirty="0">
                <a:solidFill>
                  <a:srgbClr val="FF0000"/>
                </a:solidFill>
              </a:rPr>
              <a:t>6 O</a:t>
            </a:r>
            <a:r>
              <a:rPr lang="en-US" altLang="zh-CN" b="1" u="sng" baseline="-25000" dirty="0">
                <a:solidFill>
                  <a:srgbClr val="FF0000"/>
                </a:solidFill>
              </a:rPr>
              <a:t>2</a:t>
            </a:r>
            <a:r>
              <a:rPr lang="en-US" altLang="zh-CN" b="1" u="sng" dirty="0">
                <a:solidFill>
                  <a:srgbClr val="FF0000"/>
                </a:solidFill>
              </a:rPr>
              <a:t>(</a:t>
            </a:r>
            <a:r>
              <a:rPr lang="en-US" altLang="zh-CN" b="1" i="1" u="sng" dirty="0">
                <a:solidFill>
                  <a:srgbClr val="FF0000"/>
                </a:solidFill>
              </a:rPr>
              <a:t>g</a:t>
            </a:r>
            <a:r>
              <a:rPr lang="en-US" altLang="zh-CN" b="1" u="sng" dirty="0">
                <a:solidFill>
                  <a:srgbClr val="FF0000"/>
                </a:solidFill>
              </a:rPr>
              <a:t>) </a:t>
            </a:r>
            <a:r>
              <a:rPr lang="en-US" altLang="zh-CN" b="1" u="sng" dirty="0">
                <a:cs typeface="Times New Roman"/>
              </a:rPr>
              <a:t>→ 6 CO</a:t>
            </a:r>
            <a:r>
              <a:rPr lang="en-US" altLang="zh-CN" b="1" u="sng" baseline="-25000" dirty="0">
                <a:cs typeface="Times New Roman"/>
              </a:rPr>
              <a:t>2</a:t>
            </a:r>
            <a:r>
              <a:rPr lang="en-US" altLang="zh-CN" b="1" u="sng" dirty="0">
                <a:cs typeface="Times New Roman"/>
              </a:rPr>
              <a:t>(</a:t>
            </a:r>
            <a:r>
              <a:rPr lang="en-US" altLang="zh-CN" b="1" i="1" u="sng" dirty="0">
                <a:cs typeface="Times New Roman"/>
              </a:rPr>
              <a:t>g</a:t>
            </a:r>
            <a:r>
              <a:rPr lang="en-US" altLang="zh-CN" b="1" u="sng" dirty="0">
                <a:cs typeface="Times New Roman"/>
              </a:rPr>
              <a:t>) + 6 H</a:t>
            </a:r>
            <a:r>
              <a:rPr lang="en-US" altLang="zh-CN" b="1" u="sng" baseline="-25000" dirty="0">
                <a:cs typeface="Times New Roman"/>
              </a:rPr>
              <a:t>2</a:t>
            </a:r>
            <a:r>
              <a:rPr lang="en-US" altLang="zh-CN" b="1" u="sng" dirty="0">
                <a:cs typeface="Times New Roman"/>
              </a:rPr>
              <a:t>O(</a:t>
            </a:r>
            <a:r>
              <a:rPr lang="en-US" altLang="zh-CN" b="1" i="1" u="sng" dirty="0">
                <a:cs typeface="Times New Roman"/>
              </a:rPr>
              <a:t>l</a:t>
            </a:r>
            <a:r>
              <a:rPr lang="en-US" altLang="zh-CN" b="1" u="sng" dirty="0">
                <a:cs typeface="Times New Roman"/>
              </a:rPr>
              <a:t>)</a:t>
            </a:r>
          </a:p>
          <a:p>
            <a:pPr marL="0" indent="0">
              <a:lnSpc>
                <a:spcPts val="2800"/>
              </a:lnSpc>
              <a:buFontTx/>
              <a:buNone/>
              <a:defRPr/>
            </a:pPr>
            <a:endParaRPr lang="en-US" altLang="zh-CN" dirty="0"/>
          </a:p>
        </p:txBody>
      </p:sp>
      <p:sp>
        <p:nvSpPr>
          <p:cNvPr id="13" name="TextBox 12"/>
          <p:cNvSpPr txBox="1"/>
          <p:nvPr/>
        </p:nvSpPr>
        <p:spPr>
          <a:xfrm>
            <a:off x="275492" y="1292682"/>
            <a:ext cx="868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/>
              <a:t>1.00 g of glucose reacts with an excess amount of O</a:t>
            </a:r>
            <a:r>
              <a:rPr lang="en-US" altLang="zh-CN" sz="2000" baseline="-25000" dirty="0" smtClean="0"/>
              <a:t>2 </a:t>
            </a:r>
            <a:r>
              <a:rPr lang="en-US" altLang="zh-CN" sz="2000" dirty="0" smtClean="0"/>
              <a:t>afforded 0.42 g water. </a:t>
            </a:r>
            <a:endParaRPr lang="zh-CN" altLang="en-US" sz="2000" baseline="-25000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16469"/>
            <a:ext cx="7843814" cy="3962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r>
              <a:rPr lang="en-US" altLang="zh-CN" sz="2000" dirty="0" smtClean="0"/>
              <a:t>Theoretical yield?  (0.60 g)</a:t>
            </a:r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endParaRPr lang="en-US" altLang="zh-CN" sz="2000" dirty="0"/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r>
              <a:rPr lang="en-US" altLang="zh-CN" sz="2000" dirty="0" smtClean="0"/>
              <a:t>Actual yield?  (0.42 g)</a:t>
            </a:r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endParaRPr lang="en-US" altLang="zh-CN" sz="2000" dirty="0"/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r>
              <a:rPr lang="en-US" altLang="zh-CN" sz="2000" dirty="0" smtClean="0"/>
              <a:t>Percentage yield?  (0.42/0.60 = 70%)</a:t>
            </a:r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endParaRPr lang="en-US" altLang="zh-CN" sz="2000" dirty="0"/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r>
              <a:rPr lang="en-US" altLang="zh-CN" sz="2000" dirty="0" smtClean="0"/>
              <a:t>The exact amount of O</a:t>
            </a:r>
            <a:r>
              <a:rPr lang="en-US" altLang="zh-CN" sz="2000" baseline="-25000" dirty="0" smtClean="0"/>
              <a:t>2 </a:t>
            </a:r>
            <a:r>
              <a:rPr lang="en-US" altLang="zh-CN" sz="2000" dirty="0" smtClean="0"/>
              <a:t>to react with 1.00 g of glucose?  (1.07 g)</a:t>
            </a:r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endParaRPr lang="en-US" altLang="zh-CN" sz="2000" dirty="0"/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r>
              <a:rPr lang="en-US" altLang="zh-CN" sz="2000" dirty="0" smtClean="0"/>
              <a:t>How many grams of CO</a:t>
            </a:r>
            <a:r>
              <a:rPr lang="en-US" altLang="zh-CN" sz="2000" baseline="-25000" dirty="0" smtClean="0"/>
              <a:t>2</a:t>
            </a:r>
            <a:r>
              <a:rPr lang="en-US" altLang="zh-CN" sz="2000" dirty="0" smtClean="0"/>
              <a:t> may be perfectly produced by reacting</a:t>
            </a:r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endParaRPr lang="en-US" altLang="zh-CN" sz="2000" dirty="0"/>
          </a:p>
          <a:p>
            <a:pPr>
              <a:lnSpc>
                <a:spcPts val="2100"/>
              </a:lnSpc>
            </a:pPr>
            <a:r>
              <a:rPr lang="en-US" altLang="zh-CN" sz="2000" dirty="0" smtClean="0"/>
              <a:t>     </a:t>
            </a:r>
            <a:r>
              <a:rPr lang="en-US" altLang="zh-CN" sz="2000" u="sng" dirty="0" smtClean="0"/>
              <a:t>1.00 g</a:t>
            </a:r>
            <a:r>
              <a:rPr lang="en-US" altLang="zh-CN" sz="2000" dirty="0" smtClean="0"/>
              <a:t> of glucose with </a:t>
            </a:r>
            <a:r>
              <a:rPr lang="en-US" altLang="zh-CN" sz="2000" u="sng" dirty="0" smtClean="0"/>
              <a:t>0.27 g</a:t>
            </a:r>
            <a:r>
              <a:rPr lang="en-US" altLang="zh-CN" sz="2000" dirty="0" smtClean="0"/>
              <a:t> of O</a:t>
            </a:r>
            <a:r>
              <a:rPr lang="en-US" altLang="zh-CN" sz="2000" baseline="-25000" dirty="0" smtClean="0"/>
              <a:t>2</a:t>
            </a:r>
            <a:r>
              <a:rPr lang="en-US" altLang="zh-CN" sz="2000" dirty="0" smtClean="0"/>
              <a:t>? </a:t>
            </a:r>
            <a:r>
              <a:rPr lang="en-US" altLang="zh-CN" sz="2000" dirty="0" smtClean="0">
                <a:solidFill>
                  <a:srgbClr val="FF0000"/>
                </a:solidFill>
              </a:rPr>
              <a:t>(limiting reactant?)</a:t>
            </a:r>
          </a:p>
          <a:p>
            <a:pPr>
              <a:lnSpc>
                <a:spcPts val="21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lnSpc>
                <a:spcPts val="2100"/>
              </a:lnSpc>
              <a:buFont typeface="Arial" pitchFamily="34" charset="0"/>
              <a:buChar char="•"/>
            </a:pPr>
            <a:r>
              <a:rPr lang="en-US" altLang="zh-CN" sz="2000" dirty="0" smtClean="0"/>
              <a:t>How many grams of glucose are left unreacted?</a:t>
            </a:r>
          </a:p>
          <a:p>
            <a:pPr marL="342900" indent="-342900">
              <a:buFont typeface="Arial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56965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9180</TotalTime>
  <Words>883</Words>
  <Application>Microsoft Office PowerPoint</Application>
  <PresentationFormat>全屏显示(4:3)</PresentationFormat>
  <Paragraphs>216</Paragraphs>
  <Slides>21</Slides>
  <Notes>13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3" baseType="lpstr">
      <vt:lpstr>Blank Presentation</vt:lpstr>
      <vt:lpstr>Custom Design</vt:lpstr>
      <vt:lpstr>PowerPoint 演示文稿</vt:lpstr>
      <vt:lpstr>Chapter 3   Chemical Reactions and Reaction Stoichiometry</vt:lpstr>
      <vt:lpstr>What Is in a Chemical Equation?</vt:lpstr>
      <vt:lpstr>Three Types of Reactions</vt:lpstr>
      <vt:lpstr>Combination Reactions</vt:lpstr>
      <vt:lpstr>Decomposition Reactions</vt:lpstr>
      <vt:lpstr>Combustion (to burn) Reactions</vt:lpstr>
      <vt:lpstr>Quantities (the amount)  reactants consumed  products produced</vt:lpstr>
      <vt:lpstr>Avogadro’s Number</vt:lpstr>
      <vt:lpstr>Mole Relationships</vt:lpstr>
      <vt:lpstr>Percent Composition</vt:lpstr>
      <vt:lpstr>Percent Composition</vt:lpstr>
      <vt:lpstr>Determining Empirical Formulas</vt:lpstr>
      <vt:lpstr>Determining Empirical Formulas</vt:lpstr>
      <vt:lpstr>Determining a Molecular Formula</vt:lpstr>
      <vt:lpstr>Stoichiometric (molar ratio) Calculation</vt:lpstr>
      <vt:lpstr>Stoichiometric (molar ratio) Calculation</vt:lpstr>
      <vt:lpstr>Limiting Reactants (Reagents)</vt:lpstr>
      <vt:lpstr>Limiting Reactants</vt:lpstr>
      <vt:lpstr>Percent Yield</vt:lpstr>
      <vt:lpstr>PowerPoint 演示文稿</vt:lpstr>
    </vt:vector>
  </TitlesOfParts>
  <Company>St. Charles Community College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Stoichiometry: Calculations with Chemical Formulas and Equations</dc:title>
  <dc:creator>John Bookstaver</dc:creator>
  <cp:lastModifiedBy>user</cp:lastModifiedBy>
  <cp:revision>259</cp:revision>
  <dcterms:created xsi:type="dcterms:W3CDTF">2004-11-14T20:22:23Z</dcterms:created>
  <dcterms:modified xsi:type="dcterms:W3CDTF">2018-09-09T15:34:45Z</dcterms:modified>
</cp:coreProperties>
</file>