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notesSlides/notesSlide21.xml" ContentType="application/vnd.openxmlformats-officedocument.presentationml.notesSlide+xml"/>
  <Override PartName="/ppt/tags/tag2.xml" ContentType="application/vnd.openxmlformats-officedocument.presentationml.tags+xml"/>
  <Override PartName="/ppt/notesSlides/notesSlide22.xml" ContentType="application/vnd.openxmlformats-officedocument.presentationml.notesSlide+xml"/>
  <Override PartName="/ppt/tags/tag3.xml" ContentType="application/vnd.openxmlformats-officedocument.presentationml.tags+xml"/>
  <Override PartName="/ppt/notesSlides/notesSlide23.xml" ContentType="application/vnd.openxmlformats-officedocument.presentationml.notesSlide+xml"/>
  <Override PartName="/ppt/tags/tag4.xml" ContentType="application/vnd.openxmlformats-officedocument.presentationml.tags+xml"/>
  <Override PartName="/ppt/notesSlides/notesSlide24.xml" ContentType="application/vnd.openxmlformats-officedocument.presentationml.notesSlide+xml"/>
  <Override PartName="/ppt/tags/tag5.xml" ContentType="application/vnd.openxmlformats-officedocument.presentationml.tags+xml"/>
  <Override PartName="/ppt/notesSlides/notesSlide25.xml" ContentType="application/vnd.openxmlformats-officedocument.presentationml.notesSlide+xml"/>
  <Override PartName="/ppt/tags/tag6.xml" ContentType="application/vnd.openxmlformats-officedocument.presentationml.tags+xml"/>
  <Override PartName="/ppt/notesSlides/notesSlide26.xml" ContentType="application/vnd.openxmlformats-officedocument.presentationml.notesSlide+xml"/>
  <Override PartName="/ppt/tags/tag7.xml" ContentType="application/vnd.openxmlformats-officedocument.presentationml.tags+xml"/>
  <Override PartName="/ppt/notesSlides/notesSlide27.xml" ContentType="application/vnd.openxmlformats-officedocument.presentationml.notesSlide+xml"/>
  <Override PartName="/ppt/tags/tag8.xml" ContentType="application/vnd.openxmlformats-officedocument.presentationml.tags+xml"/>
  <Override PartName="/ppt/notesSlides/notesSlide28.xml" ContentType="application/vnd.openxmlformats-officedocument.presentationml.notesSlide+xml"/>
  <Override PartName="/ppt/tags/tag9.xml" ContentType="application/vnd.openxmlformats-officedocument.presentationml.tags+xml"/>
  <Override PartName="/ppt/notesSlides/notesSlide29.xml" ContentType="application/vnd.openxmlformats-officedocument.presentationml.notesSlide+xml"/>
  <Override PartName="/ppt/tags/tag10.xml" ContentType="application/vnd.openxmlformats-officedocument.presentationml.tags+xml"/>
  <Override PartName="/ppt/notesSlides/notesSlide30.xml" ContentType="application/vnd.openxmlformats-officedocument.presentationml.notesSlide+xml"/>
  <Override PartName="/ppt/tags/tag11.xml" ContentType="application/vnd.openxmlformats-officedocument.presentationml.tags+xml"/>
  <Override PartName="/ppt/notesSlides/notesSlide31.xml" ContentType="application/vnd.openxmlformats-officedocument.presentationml.notesSlide+xml"/>
  <Override PartName="/ppt/tags/tag12.xml" ContentType="application/vnd.openxmlformats-officedocument.presentationml.tags+xml"/>
  <Override PartName="/ppt/notesSlides/notesSlide32.xml" ContentType="application/vnd.openxmlformats-officedocument.presentationml.notesSlide+xml"/>
  <Override PartName="/ppt/tags/tag13.xml" ContentType="application/vnd.openxmlformats-officedocument.presentationml.tags+xml"/>
  <Override PartName="/ppt/notesSlides/notesSlide33.xml" ContentType="application/vnd.openxmlformats-officedocument.presentationml.notesSlide+xml"/>
  <Override PartName="/ppt/tags/tag14.xml" ContentType="application/vnd.openxmlformats-officedocument.presentationml.tags+xml"/>
  <Override PartName="/ppt/notesSlides/notesSlide34.xml" ContentType="application/vnd.openxmlformats-officedocument.presentationml.notesSlide+xml"/>
  <Override PartName="/ppt/tags/tag15.xml" ContentType="application/vnd.openxmlformats-officedocument.presentationml.tags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49" r:id="rId2"/>
  </p:sldMasterIdLst>
  <p:notesMasterIdLst>
    <p:notesMasterId r:id="rId61"/>
  </p:notesMasterIdLst>
  <p:sldIdLst>
    <p:sldId id="256" r:id="rId3"/>
    <p:sldId id="257" r:id="rId4"/>
    <p:sldId id="259" r:id="rId5"/>
    <p:sldId id="262" r:id="rId6"/>
    <p:sldId id="263" r:id="rId7"/>
    <p:sldId id="265" r:id="rId8"/>
    <p:sldId id="335" r:id="rId9"/>
    <p:sldId id="267" r:id="rId10"/>
    <p:sldId id="331" r:id="rId11"/>
    <p:sldId id="270" r:id="rId12"/>
    <p:sldId id="318" r:id="rId13"/>
    <p:sldId id="280" r:id="rId14"/>
    <p:sldId id="327" r:id="rId15"/>
    <p:sldId id="348" r:id="rId16"/>
    <p:sldId id="332" r:id="rId17"/>
    <p:sldId id="333" r:id="rId18"/>
    <p:sldId id="334" r:id="rId19"/>
    <p:sldId id="336" r:id="rId20"/>
    <p:sldId id="288" r:id="rId21"/>
    <p:sldId id="289" r:id="rId22"/>
    <p:sldId id="293" r:id="rId23"/>
    <p:sldId id="338" r:id="rId24"/>
    <p:sldId id="339" r:id="rId25"/>
    <p:sldId id="340" r:id="rId26"/>
    <p:sldId id="341" r:id="rId27"/>
    <p:sldId id="311" r:id="rId28"/>
    <p:sldId id="337" r:id="rId29"/>
    <p:sldId id="375" r:id="rId30"/>
    <p:sldId id="368" r:id="rId31"/>
    <p:sldId id="296" r:id="rId32"/>
    <p:sldId id="342" r:id="rId33"/>
    <p:sldId id="343" r:id="rId34"/>
    <p:sldId id="376" r:id="rId35"/>
    <p:sldId id="344" r:id="rId36"/>
    <p:sldId id="377" r:id="rId37"/>
    <p:sldId id="345" r:id="rId38"/>
    <p:sldId id="346" r:id="rId39"/>
    <p:sldId id="347" r:id="rId40"/>
    <p:sldId id="365" r:id="rId41"/>
    <p:sldId id="364" r:id="rId42"/>
    <p:sldId id="323" r:id="rId43"/>
    <p:sldId id="373" r:id="rId44"/>
    <p:sldId id="374" r:id="rId45"/>
    <p:sldId id="349" r:id="rId46"/>
    <p:sldId id="350" r:id="rId47"/>
    <p:sldId id="351" r:id="rId48"/>
    <p:sldId id="352" r:id="rId49"/>
    <p:sldId id="353" r:id="rId50"/>
    <p:sldId id="354" r:id="rId51"/>
    <p:sldId id="355" r:id="rId52"/>
    <p:sldId id="356" r:id="rId53"/>
    <p:sldId id="357" r:id="rId54"/>
    <p:sldId id="358" r:id="rId55"/>
    <p:sldId id="359" r:id="rId56"/>
    <p:sldId id="360" r:id="rId57"/>
    <p:sldId id="361" r:id="rId58"/>
    <p:sldId id="362" r:id="rId59"/>
    <p:sldId id="363" r:id="rId6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960">
          <p15:clr>
            <a:srgbClr val="A4A3A4"/>
          </p15:clr>
        </p15:guide>
        <p15:guide id="3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9"/>
    <a:srgbClr val="FF0000"/>
    <a:srgbClr val="007CB2"/>
    <a:srgbClr val="C82E32"/>
    <a:srgbClr val="0000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9" d="100"/>
          <a:sy n="159" d="100"/>
        </p:scale>
        <p:origin x="1840" y="88"/>
      </p:cViewPr>
      <p:guideLst>
        <p:guide orient="horz" pos="2160"/>
        <p:guide pos="960"/>
        <p:guide pos="2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8F88C66-8169-A84A-AA1E-1354A78181A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6670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DE8582-A8B6-8240-B3D6-17B18DE04258}" type="slidenum">
              <a:rPr lang="en-US"/>
              <a:pPr/>
              <a:t>1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7135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B4EFC3-F863-5C4F-ADC0-3591F875B01F}" type="slidenum">
              <a:rPr lang="en-US"/>
              <a:pPr/>
              <a:t>2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0572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4082A-0232-1E4C-8804-07906CFA27C7}" type="slidenum">
              <a:rPr lang="en-US"/>
              <a:pPr/>
              <a:t>3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937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AC380F-42ED-B044-B648-13DC10A6F9BF}" type="slidenum">
              <a:rPr lang="en-US"/>
              <a:pPr/>
              <a:t>4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1144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3CFE36-8C86-F048-8799-0B7CFA4BB2FB}" type="slidenum">
              <a:rPr lang="en-US"/>
              <a:pPr/>
              <a:t>5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2538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F55BB0-97F4-374F-A71F-161373DB5CE4}" type="slidenum">
              <a:rPr lang="en-US"/>
              <a:pPr/>
              <a:t>6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951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A761D3-C0E3-794E-BA87-7D37EF3F8F2F}" type="slidenum">
              <a:rPr lang="en-US"/>
              <a:pPr/>
              <a:t>8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8345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8C0CAF-F7E7-4846-9064-9C5BD768C67B}" type="slidenum">
              <a:rPr lang="en-US"/>
              <a:pPr/>
              <a:t>10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3089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6DF148-F892-564E-A223-AD5303618BE3}" type="slidenum">
              <a:rPr lang="en-US"/>
              <a:pPr/>
              <a:t>11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4182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D54B68-6DC7-8543-B0BD-813FC5FAD501}" type="slidenum">
              <a:rPr lang="en-US"/>
              <a:pPr/>
              <a:t>12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7928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66DD9D-36D1-E549-B12E-9E5A884B9847}" type="slidenum">
              <a:rPr lang="en-US"/>
              <a:pPr/>
              <a:t>13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9226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66DD9D-36D1-E549-B12E-9E5A884B9847}" type="slidenum">
              <a:rPr lang="en-US"/>
              <a:pPr/>
              <a:t>14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2588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090B3C-863E-4B4E-B033-3BE537BEE41E}" type="slidenum">
              <a:rPr lang="en-US"/>
              <a:pPr/>
              <a:t>19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0942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CC56AF-E351-7349-8153-60C5A11FD112}" type="slidenum">
              <a:rPr lang="en-US"/>
              <a:pPr/>
              <a:t>20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9100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8A3E0A-0484-9C4F-B210-556BBEEC32DC}" type="slidenum">
              <a:rPr lang="en-US"/>
              <a:pPr/>
              <a:t>21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505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76074F-808E-8046-B589-D9078703D3F3}" type="slidenum">
              <a:rPr lang="en-US"/>
              <a:pPr/>
              <a:t>26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5311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600B5A73-FC1F-4577-ABD6-3140D60B121E}" type="slidenum">
              <a:rPr lang="en-US" altLang="zh-CN" smtClean="0">
                <a:latin typeface="Calibri" pitchFamily="34" charset="0"/>
              </a:rPr>
              <a:pPr eaLnBrk="1" hangingPunct="1"/>
              <a:t>29</a:t>
            </a:fld>
            <a:endParaRPr lang="en-US" altLang="zh-CN" smtClean="0">
              <a:latin typeface="Calibri" pitchFamily="34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>
              <a:latin typeface="Arial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1804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3078B0-5E82-6443-A12A-0007CEB4E867}" type="slidenum">
              <a:rPr lang="en-US"/>
              <a:pPr/>
              <a:t>30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01435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74CD7C7D-9614-4DDD-9DD7-9ED3162114E7}" type="slidenum">
              <a:rPr lang="en-US" altLang="zh-CN" smtClean="0">
                <a:latin typeface="Calibri" pitchFamily="34" charset="0"/>
              </a:rPr>
              <a:pPr eaLnBrk="1" hangingPunct="1"/>
              <a:t>40</a:t>
            </a:fld>
            <a:endParaRPr lang="en-US" altLang="zh-CN" smtClean="0">
              <a:latin typeface="Calibri" pitchFamily="34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 smtClean="0">
              <a:latin typeface="Arial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020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4F7E2F-B465-7A46-916F-3BFB74939969}" type="slidenum">
              <a:rPr lang="en-US"/>
              <a:pPr/>
              <a:t>41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32605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25315995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40746140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25265612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34271349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6064742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29005241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13174882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628399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38107745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32500204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2574616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25951918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31610243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12184584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1288672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53E29B-3A40-A748-871D-4DD8AC748AE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7F55C5-D6BD-9548-BCB3-D74F398F65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05CA06-86FB-9F49-BDD8-AC63FC74E3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E3C545-D4AA-8344-B5D0-42588FA7FE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8CE68F-74CE-0D41-BA5F-EE3D30A8D1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417A4E-4209-AA44-AB43-E08EEC37121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536B1A-BB7A-E646-B6C0-389C35545C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C68532-CBF1-F749-9CB9-8BDF4DC30B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00591B-01BC-2946-9BD6-2EDBFF71E46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3BF26B-E5C7-E44E-B06D-69C9A743745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4E31C2-5451-624E-B4C7-ABAFCC3CB6F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F5370D-9467-0848-A61B-F98147FB3A7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F4F063-C73A-494F-A98B-FC7B2452144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FC4366-6997-1B4E-B624-FE016B4BB3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B163DB-E388-1C46-955A-21DBAFC3DF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37BA25-6912-7E48-8691-BB4CD42FFF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2088B8-1A38-7948-B961-263A64551F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20A789-9497-F043-B956-F3A571C697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D0CD59-5D82-6B4C-95E3-206E0862B1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905D14-F51C-7B4F-A325-FEB3ED94556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2E1B44-4858-FA42-A9BE-3113AC53A1F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D36D87-4D70-AA46-AE59-6DACD3AD1F3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4D9B1A-0C6D-7846-8C60-3A17492460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0B6AAF-8272-CE44-9BC6-26C13A2054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DF4000-81A5-8A4E-BE7B-39BF712F9D2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49759F-1606-BA49-A67A-0DC90ADAA0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F58CA0-B1AC-B24A-8DD5-90962B61667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E0BD04C-F37B-F149-AB84-A95348B3ABB7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2" name="Group 10"/>
          <p:cNvGrpSpPr>
            <a:grpSpLocks/>
          </p:cNvGrpSpPr>
          <p:nvPr userDrawn="1"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031" name="Picture 11" descr="Triangle--Gray"/>
            <p:cNvPicPr>
              <a:picLocks noChangeAspect="1" noChangeArrowheads="1"/>
            </p:cNvPicPr>
            <p:nvPr userDrawn="1"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32" name="Rectangle 12"/>
            <p:cNvSpPr>
              <a:spLocks noChangeArrowheads="1"/>
            </p:cNvSpPr>
            <p:nvPr userDrawn="1"/>
          </p:nvSpPr>
          <p:spPr bwMode="auto">
            <a:xfrm>
              <a:off x="5006" y="3840"/>
              <a:ext cx="65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Times New Roman" charset="0"/>
                </a:rPr>
                <a:t>Equilibrium</a:t>
              </a:r>
            </a:p>
          </p:txBody>
        </p:sp>
      </p:grpSp>
      <p:sp>
        <p:nvSpPr>
          <p:cNvPr id="10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slow"/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-112" charset="0"/>
          <a:ea typeface="ＭＳ Ｐゴシック" pitchFamily="-112" charset="-128"/>
          <a:cs typeface="ＭＳ Ｐゴシック" pitchFamily="-112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9705838-EB24-8F43-8E3A-2FCC88B812B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 spd="slow"/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3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3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3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3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3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3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3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/>
          </p:cNvSpPr>
          <p:nvPr/>
        </p:nvSpPr>
        <p:spPr bwMode="auto">
          <a:xfrm>
            <a:off x="4495800" y="1676400"/>
            <a:ext cx="45720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3400" b="1">
                <a:solidFill>
                  <a:srgbClr val="000000"/>
                </a:solidFill>
              </a:rPr>
              <a:t>Chapter 15</a:t>
            </a:r>
            <a:br>
              <a:rPr lang="en-US" sz="3400" b="1">
                <a:solidFill>
                  <a:srgbClr val="000000"/>
                </a:solidFill>
              </a:rPr>
            </a:br>
            <a:r>
              <a:rPr lang="en-US" sz="3400" b="1">
                <a:solidFill>
                  <a:srgbClr val="000000"/>
                </a:solidFill>
              </a:rPr>
              <a:t/>
            </a:r>
            <a:br>
              <a:rPr lang="en-US" sz="3400" b="1">
                <a:solidFill>
                  <a:srgbClr val="000000"/>
                </a:solidFill>
              </a:rPr>
            </a:br>
            <a:r>
              <a:rPr lang="en-US" sz="3600" b="1"/>
              <a:t>Chemical Equilibrium</a:t>
            </a:r>
            <a:endParaRPr lang="en-US" sz="3400" b="1">
              <a:solidFill>
                <a:srgbClr val="000000"/>
              </a:solidFill>
            </a:endParaRPr>
          </a:p>
        </p:txBody>
      </p:sp>
      <p:sp>
        <p:nvSpPr>
          <p:cNvPr id="3075" name="Subtitle 2"/>
          <p:cNvSpPr>
            <a:spLocks/>
          </p:cNvSpPr>
          <p:nvPr/>
        </p:nvSpPr>
        <p:spPr bwMode="auto">
          <a:xfrm>
            <a:off x="4495800" y="5791200"/>
            <a:ext cx="4572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James F. Kirby</a:t>
            </a: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Quinnipiac University</a:t>
            </a:r>
          </a:p>
          <a:p>
            <a:pPr algn="ctr" eaLnBrk="1" hangingPunct="1"/>
            <a:r>
              <a:rPr lang="en-US" sz="1800">
                <a:solidFill>
                  <a:srgbClr val="0D0D0D"/>
                </a:solidFill>
              </a:rPr>
              <a:t>Hamden, CT</a:t>
            </a:r>
          </a:p>
        </p:txBody>
      </p:sp>
      <p:sp>
        <p:nvSpPr>
          <p:cNvPr id="3076" name="Rectangle 10"/>
          <p:cNvSpPr>
            <a:spLocks noChangeArrowheads="1"/>
          </p:cNvSpPr>
          <p:nvPr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2800">
                <a:solidFill>
                  <a:srgbClr val="000000"/>
                </a:solidFill>
                <a:ea typeface="Arial" charset="0"/>
                <a:cs typeface="Arial" charset="0"/>
              </a:rPr>
              <a:t>Lecture Presentation</a:t>
            </a:r>
          </a:p>
        </p:txBody>
      </p:sp>
      <p:pic>
        <p:nvPicPr>
          <p:cNvPr id="7" name="Picture 1" descr="BROW0417_13_ec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The Concept of Equilibrium</a:t>
            </a:r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4583113"/>
            <a:ext cx="7924800" cy="167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800"/>
              <a:t>	</a:t>
            </a:r>
            <a:r>
              <a:rPr lang="en-US" sz="2800" b="1"/>
              <a:t>Chemical equilibrium</a:t>
            </a:r>
            <a:r>
              <a:rPr lang="en-US" sz="2800"/>
              <a:t> occurs when a reaction and its reverse reaction proceed at the same rate. In the figure above, equilibrium is finally reached in the third picture.</a:t>
            </a:r>
          </a:p>
        </p:txBody>
      </p:sp>
      <p:pic>
        <p:nvPicPr>
          <p:cNvPr id="7" name="Picture 6" descr="15_01_Figure.jpg"/>
          <p:cNvPicPr>
            <a:picLocks noChangeAspect="1"/>
          </p:cNvPicPr>
          <p:nvPr/>
        </p:nvPicPr>
        <p:blipFill>
          <a:blip r:embed="rId3"/>
          <a:srcRect b="2546"/>
          <a:stretch>
            <a:fillRect/>
          </a:stretch>
        </p:blipFill>
        <p:spPr>
          <a:xfrm>
            <a:off x="2373711" y="1295400"/>
            <a:ext cx="4255689" cy="32766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The Concept of Equilibrium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342900" y="3505200"/>
            <a:ext cx="8458200" cy="2971800"/>
          </a:xfrm>
        </p:spPr>
        <p:txBody>
          <a:bodyPr/>
          <a:lstStyle/>
          <a:p>
            <a:pPr eaLnBrk="1" hangingPunct="1"/>
            <a:r>
              <a:rPr lang="en-US" sz="2800" dirty="0"/>
              <a:t>As a system approaches equilibrium, both the forward and reverse reactions are occurring.</a:t>
            </a:r>
          </a:p>
          <a:p>
            <a:pPr eaLnBrk="1" hangingPunct="1"/>
            <a:r>
              <a:rPr lang="en-US" sz="2800" dirty="0"/>
              <a:t>At equilibrium, the forward and reverse reactions are proceeding </a:t>
            </a:r>
            <a:r>
              <a:rPr lang="en-US" sz="2800" i="1" dirty="0"/>
              <a:t>at the same </a:t>
            </a:r>
            <a:r>
              <a:rPr lang="en-US" sz="2800" i="1" dirty="0" smtClean="0"/>
              <a:t>rate</a:t>
            </a:r>
            <a:r>
              <a:rPr lang="en-US" sz="2800" dirty="0"/>
              <a:t> </a:t>
            </a:r>
            <a:r>
              <a:rPr lang="en-US" altLang="zh-CN" sz="2800" dirty="0" smtClean="0"/>
              <a:t>–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DYNAMIC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！</a:t>
            </a:r>
            <a:endParaRPr lang="en-US" sz="2800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sz="2800" dirty="0"/>
              <a:t>Once equilibrium is achieved, the </a:t>
            </a:r>
            <a:r>
              <a:rPr lang="en-US" sz="2800" i="1" dirty="0"/>
              <a:t>amount</a:t>
            </a:r>
            <a:r>
              <a:rPr lang="en-US" sz="2800" dirty="0"/>
              <a:t> of each reactant and product remains constant.</a:t>
            </a:r>
          </a:p>
          <a:p>
            <a:pPr eaLnBrk="1" hangingPunct="1"/>
            <a:endParaRPr lang="en-US" sz="2800" dirty="0"/>
          </a:p>
        </p:txBody>
      </p:sp>
      <p:pic>
        <p:nvPicPr>
          <p:cNvPr id="6" name="Picture 5" descr="15_02_Figure.jpg"/>
          <p:cNvPicPr>
            <a:picLocks noChangeAspect="1"/>
          </p:cNvPicPr>
          <p:nvPr/>
        </p:nvPicPr>
        <p:blipFill>
          <a:blip r:embed="rId3"/>
          <a:srcRect b="6564"/>
          <a:stretch>
            <a:fillRect/>
          </a:stretch>
        </p:blipFill>
        <p:spPr>
          <a:xfrm>
            <a:off x="1219200" y="1219200"/>
            <a:ext cx="6781800" cy="234456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58200" cy="1447800"/>
          </a:xfrm>
        </p:spPr>
        <p:txBody>
          <a:bodyPr/>
          <a:lstStyle/>
          <a:p>
            <a:pPr eaLnBrk="1" hangingPunct="1"/>
            <a:r>
              <a:rPr lang="en-US" sz="3200" b="1" dirty="0"/>
              <a:t>Writing the Equation for an  Equilibrium Reaction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3581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	Since, in a system at equilibrium, both the forward and reverse reactions are being carried out, we write its equation with a double arrow:</a:t>
            </a:r>
          </a:p>
          <a:p>
            <a:pPr eaLnBrk="1" hangingPunct="1">
              <a:buFontTx/>
              <a:buNone/>
            </a:pPr>
            <a:endParaRPr lang="en-US" dirty="0"/>
          </a:p>
          <a:p>
            <a:pPr eaLnBrk="1" hangingPunct="1">
              <a:buFontTx/>
              <a:buNone/>
            </a:pPr>
            <a:r>
              <a:rPr lang="en-US" dirty="0"/>
              <a:t>			N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4</a:t>
            </a:r>
            <a:r>
              <a:rPr lang="en-US" dirty="0"/>
              <a:t>(</a:t>
            </a:r>
            <a:r>
              <a:rPr lang="en-US" i="1" dirty="0"/>
              <a:t>g</a:t>
            </a:r>
            <a:r>
              <a:rPr lang="en-US" dirty="0"/>
              <a:t>)  ⇌  2 NO</a:t>
            </a:r>
            <a:r>
              <a:rPr lang="en-US" baseline="-25000" dirty="0"/>
              <a:t>2</a:t>
            </a:r>
            <a:r>
              <a:rPr lang="en-US" dirty="0"/>
              <a:t>(</a:t>
            </a:r>
            <a:r>
              <a:rPr lang="en-US" i="1" dirty="0"/>
              <a:t>g</a:t>
            </a:r>
            <a:r>
              <a:rPr lang="en-US" dirty="0"/>
              <a:t>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76200"/>
            <a:ext cx="59436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Comparing Rates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6172200" cy="5105400"/>
          </a:xfrm>
        </p:spPr>
        <p:txBody>
          <a:bodyPr/>
          <a:lstStyle/>
          <a:p>
            <a:pPr eaLnBrk="1" hangingPunct="1"/>
            <a:r>
              <a:rPr lang="en-US" dirty="0"/>
              <a:t>For the forward </a:t>
            </a:r>
            <a:r>
              <a:rPr lang="en-US" dirty="0" smtClean="0"/>
              <a:t>reaction</a:t>
            </a:r>
            <a:br>
              <a:rPr lang="en-US" dirty="0" smtClean="0"/>
            </a:br>
            <a:r>
              <a:rPr lang="en-US" sz="2800" dirty="0" smtClean="0"/>
              <a:t>N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O</a:t>
            </a:r>
            <a:r>
              <a:rPr lang="en-US" sz="2800" baseline="-25000" dirty="0" smtClean="0"/>
              <a:t>4</a:t>
            </a:r>
            <a:r>
              <a:rPr lang="en-US" sz="2800" dirty="0" smtClean="0"/>
              <a:t>(</a:t>
            </a:r>
            <a:r>
              <a:rPr lang="en-US" sz="2800" i="1" dirty="0" smtClean="0"/>
              <a:t>g</a:t>
            </a:r>
            <a:r>
              <a:rPr lang="en-US" sz="2800" dirty="0"/>
              <a:t>)  </a:t>
            </a:r>
            <a:r>
              <a:rPr lang="en-US" sz="2800" dirty="0">
                <a:ea typeface="Arial" charset="0"/>
                <a:cs typeface="Arial" charset="0"/>
              </a:rPr>
              <a:t>→ </a:t>
            </a:r>
            <a:r>
              <a:rPr lang="en-US" sz="2800" dirty="0"/>
              <a:t> </a:t>
            </a:r>
            <a:r>
              <a:rPr lang="en-US" sz="2800" dirty="0">
                <a:sym typeface="Symbol" charset="2"/>
              </a:rPr>
              <a:t>2 NO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sz="2800" dirty="0">
                <a:sym typeface="Symbol" charset="2"/>
              </a:rPr>
              <a:t>(</a:t>
            </a:r>
            <a:r>
              <a:rPr lang="en-US" sz="2800" i="1" dirty="0">
                <a:sym typeface="Symbol" charset="2"/>
              </a:rPr>
              <a:t>g</a:t>
            </a:r>
            <a:r>
              <a:rPr lang="en-US" sz="2800" dirty="0">
                <a:sym typeface="Symbol" charset="2"/>
              </a:rPr>
              <a:t>)</a:t>
            </a:r>
            <a:endParaRPr lang="en-US" sz="2800" baseline="-25000" dirty="0">
              <a:sym typeface="Symbol" charset="2"/>
            </a:endParaRPr>
          </a:p>
          <a:p>
            <a:pPr eaLnBrk="1" hangingPunct="1"/>
            <a:r>
              <a:rPr lang="en-US" dirty="0"/>
              <a:t>The rate law </a:t>
            </a:r>
            <a:r>
              <a:rPr lang="en-US" dirty="0" smtClean="0"/>
              <a:t>is</a:t>
            </a:r>
            <a:br>
              <a:rPr lang="en-US" dirty="0" smtClean="0"/>
            </a:br>
            <a:r>
              <a:rPr lang="en-US" sz="2800" dirty="0" smtClean="0"/>
              <a:t>Rate </a:t>
            </a:r>
            <a:r>
              <a:rPr lang="en-US" sz="2800" dirty="0"/>
              <a:t>= </a:t>
            </a:r>
            <a:r>
              <a:rPr lang="en-US" sz="2800" i="1" dirty="0" err="1" smtClean="0"/>
              <a:t>k</a:t>
            </a:r>
            <a:r>
              <a:rPr lang="en-US" sz="2800" i="1" baseline="-25000" dirty="0" err="1" smtClean="0"/>
              <a:t>f</a:t>
            </a:r>
            <a:r>
              <a:rPr lang="en-US" sz="1200" i="1" baseline="-25000" dirty="0" smtClean="0"/>
              <a:t> </a:t>
            </a:r>
            <a:r>
              <a:rPr lang="en-US" sz="2800" dirty="0" smtClean="0"/>
              <a:t>[</a:t>
            </a:r>
            <a:r>
              <a:rPr lang="en-US" sz="2800" dirty="0"/>
              <a:t>N</a:t>
            </a:r>
            <a:r>
              <a:rPr lang="en-US" sz="2800" baseline="-25000" dirty="0"/>
              <a:t>2</a:t>
            </a:r>
            <a:r>
              <a:rPr lang="en-US" sz="2800" dirty="0"/>
              <a:t>O</a:t>
            </a:r>
            <a:r>
              <a:rPr lang="en-US" sz="2800" baseline="-25000" dirty="0"/>
              <a:t>4</a:t>
            </a:r>
            <a:r>
              <a:rPr lang="en-US" sz="2800" dirty="0"/>
              <a:t>]</a:t>
            </a:r>
          </a:p>
          <a:p>
            <a:pPr lvl="1" eaLnBrk="1" hangingPunct="1">
              <a:buFontTx/>
              <a:buNone/>
            </a:pPr>
            <a:endParaRPr lang="en-US" dirty="0"/>
          </a:p>
          <a:p>
            <a:pPr eaLnBrk="1" hangingPunct="1"/>
            <a:r>
              <a:rPr lang="en-US" dirty="0"/>
              <a:t>For the reverse </a:t>
            </a:r>
            <a:r>
              <a:rPr lang="en-US" dirty="0" smtClean="0"/>
              <a:t>reaction</a:t>
            </a:r>
            <a:br>
              <a:rPr lang="en-US" dirty="0" smtClean="0"/>
            </a:br>
            <a:r>
              <a:rPr lang="en-US" sz="2800" dirty="0" smtClean="0"/>
              <a:t>2 </a:t>
            </a:r>
            <a:r>
              <a:rPr lang="en-US" sz="2800" dirty="0"/>
              <a:t>NO</a:t>
            </a:r>
            <a:r>
              <a:rPr lang="en-US" sz="2800" baseline="-25000" dirty="0"/>
              <a:t>2</a:t>
            </a:r>
            <a:r>
              <a:rPr lang="en-US" sz="2800" dirty="0"/>
              <a:t>(</a:t>
            </a:r>
            <a:r>
              <a:rPr lang="en-US" sz="2800" i="1" dirty="0"/>
              <a:t>g</a:t>
            </a:r>
            <a:r>
              <a:rPr lang="en-US" sz="2800" dirty="0"/>
              <a:t>)  </a:t>
            </a:r>
            <a:r>
              <a:rPr lang="en-US" sz="2800" dirty="0">
                <a:ea typeface="Arial" charset="0"/>
                <a:cs typeface="Arial" charset="0"/>
              </a:rPr>
              <a:t>→  </a:t>
            </a:r>
            <a:r>
              <a:rPr lang="en-US" sz="2800" dirty="0">
                <a:sym typeface="Symbol" charset="2"/>
              </a:rPr>
              <a:t>N</a:t>
            </a:r>
            <a:r>
              <a:rPr lang="en-US" sz="2800" baseline="-25000" dirty="0">
                <a:sym typeface="Symbol" charset="2"/>
              </a:rPr>
              <a:t>2</a:t>
            </a:r>
            <a:r>
              <a:rPr lang="en-US" sz="2800" dirty="0">
                <a:sym typeface="Symbol" charset="2"/>
              </a:rPr>
              <a:t>O</a:t>
            </a:r>
            <a:r>
              <a:rPr lang="en-US" sz="2800" baseline="-25000" dirty="0">
                <a:sym typeface="Symbol" charset="2"/>
              </a:rPr>
              <a:t>4</a:t>
            </a:r>
            <a:r>
              <a:rPr lang="en-US" sz="2800" dirty="0">
                <a:sym typeface="Symbol" charset="2"/>
              </a:rPr>
              <a:t>(</a:t>
            </a:r>
            <a:r>
              <a:rPr lang="en-US" sz="2800" i="1" dirty="0">
                <a:sym typeface="Symbol" charset="2"/>
              </a:rPr>
              <a:t>g</a:t>
            </a:r>
            <a:r>
              <a:rPr lang="en-US" sz="2800" dirty="0">
                <a:sym typeface="Symbol" charset="2"/>
              </a:rPr>
              <a:t>)</a:t>
            </a:r>
            <a:endParaRPr lang="en-US" sz="2800" baseline="-25000" dirty="0">
              <a:sym typeface="Symbol" charset="2"/>
            </a:endParaRPr>
          </a:p>
          <a:p>
            <a:pPr eaLnBrk="1" hangingPunct="1"/>
            <a:r>
              <a:rPr lang="en-US" dirty="0"/>
              <a:t>The rate law </a:t>
            </a:r>
            <a:r>
              <a:rPr lang="en-US" dirty="0" smtClean="0"/>
              <a:t>is</a:t>
            </a:r>
            <a:br>
              <a:rPr lang="en-US" dirty="0" smtClean="0"/>
            </a:br>
            <a:r>
              <a:rPr lang="en-US" sz="2800" dirty="0" smtClean="0"/>
              <a:t>Rate </a:t>
            </a:r>
            <a:r>
              <a:rPr lang="en-US" sz="2800" dirty="0"/>
              <a:t>= </a:t>
            </a:r>
            <a:r>
              <a:rPr lang="en-US" sz="2800" i="1" dirty="0" err="1" smtClean="0"/>
              <a:t>k</a:t>
            </a:r>
            <a:r>
              <a:rPr lang="en-US" sz="2800" i="1" baseline="-25000" dirty="0" err="1" smtClean="0"/>
              <a:t>r</a:t>
            </a:r>
            <a:r>
              <a:rPr lang="en-US" sz="1200" i="1" baseline="-25000" dirty="0">
                <a:solidFill>
                  <a:srgbClr val="000000"/>
                </a:solidFill>
              </a:rPr>
              <a:t> </a:t>
            </a:r>
            <a:r>
              <a:rPr lang="en-US" sz="2800" dirty="0" smtClean="0"/>
              <a:t>[NO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]</a:t>
            </a:r>
            <a:r>
              <a:rPr lang="en-US" sz="2800" baseline="30000" dirty="0" smtClean="0"/>
              <a:t>2</a:t>
            </a:r>
            <a:endParaRPr lang="en-US" sz="2800" dirty="0"/>
          </a:p>
          <a:p>
            <a:pPr lvl="1" eaLnBrk="1" hangingPunct="1">
              <a:buFontTx/>
              <a:buNone/>
            </a:pP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The Meaning of Equilibrium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001000" cy="3505200"/>
          </a:xfrm>
        </p:spPr>
        <p:txBody>
          <a:bodyPr/>
          <a:lstStyle/>
          <a:p>
            <a:pPr eaLnBrk="1" hangingPunct="1"/>
            <a:r>
              <a:rPr lang="en-US" dirty="0"/>
              <a:t>Therefore, at equilibrium</a:t>
            </a:r>
          </a:p>
          <a:p>
            <a:pPr eaLnBrk="1" hangingPunct="1">
              <a:buFontTx/>
              <a:buNone/>
            </a:pPr>
            <a:r>
              <a:rPr lang="en-US" dirty="0"/>
              <a:t>		</a:t>
            </a:r>
            <a:r>
              <a:rPr lang="en-US" dirty="0" err="1"/>
              <a:t>Rate</a:t>
            </a:r>
            <a:r>
              <a:rPr lang="en-US" i="1" baseline="-25000" dirty="0" err="1"/>
              <a:t>f</a:t>
            </a:r>
            <a:r>
              <a:rPr lang="en-US" dirty="0"/>
              <a:t> = Rate</a:t>
            </a:r>
            <a:r>
              <a:rPr lang="en-US" i="1" baseline="-25000" dirty="0"/>
              <a:t>r</a:t>
            </a:r>
          </a:p>
          <a:p>
            <a:pPr eaLnBrk="1" hangingPunct="1">
              <a:buFontTx/>
              <a:buNone/>
            </a:pPr>
            <a:r>
              <a:rPr lang="en-US" i="1" baseline="-25000" dirty="0"/>
              <a:t>		</a:t>
            </a:r>
            <a:r>
              <a:rPr lang="en-US" i="1" dirty="0" err="1"/>
              <a:t>k</a:t>
            </a:r>
            <a:r>
              <a:rPr lang="en-US" i="1" baseline="-25000" dirty="0" err="1"/>
              <a:t>f</a:t>
            </a:r>
            <a:r>
              <a:rPr lang="en-US" dirty="0"/>
              <a:t>[N</a:t>
            </a:r>
            <a:r>
              <a:rPr lang="en-US" baseline="-25000" dirty="0"/>
              <a:t>2</a:t>
            </a:r>
            <a:r>
              <a:rPr lang="en-US" dirty="0"/>
              <a:t>O</a:t>
            </a:r>
            <a:r>
              <a:rPr lang="en-US" baseline="-25000" dirty="0"/>
              <a:t>4</a:t>
            </a:r>
            <a:r>
              <a:rPr lang="en-US" dirty="0"/>
              <a:t>]  =  </a:t>
            </a:r>
            <a:r>
              <a:rPr lang="en-US" i="1" dirty="0" err="1"/>
              <a:t>k</a:t>
            </a:r>
            <a:r>
              <a:rPr lang="en-US" i="1" baseline="-25000" dirty="0" err="1"/>
              <a:t>r</a:t>
            </a:r>
            <a:r>
              <a:rPr lang="en-US" dirty="0"/>
              <a:t>[NO</a:t>
            </a:r>
            <a:r>
              <a:rPr lang="en-US" baseline="-25000" dirty="0"/>
              <a:t>2</a:t>
            </a:r>
            <a:r>
              <a:rPr lang="en-US" dirty="0"/>
              <a:t>]</a:t>
            </a:r>
            <a:r>
              <a:rPr lang="en-US" baseline="30000" dirty="0"/>
              <a:t>2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Rewriting this, it becomes the expression for the equilibrium constant, </a:t>
            </a:r>
            <a:r>
              <a:rPr lang="en-US" i="1" dirty="0" err="1"/>
              <a:t>K</a:t>
            </a:r>
            <a:r>
              <a:rPr lang="en-US" baseline="-25000" dirty="0" err="1"/>
              <a:t>eq</a:t>
            </a:r>
            <a:r>
              <a:rPr lang="en-US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4800600"/>
            <a:ext cx="4107180" cy="96901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295400"/>
          </a:xfrm>
        </p:spPr>
        <p:txBody>
          <a:bodyPr/>
          <a:lstStyle/>
          <a:p>
            <a:r>
              <a:rPr lang="en-US" sz="3200" b="1" dirty="0"/>
              <a:t>Another Equilibrium—</a:t>
            </a:r>
            <a:br>
              <a:rPr lang="en-US" sz="3200" b="1" dirty="0"/>
            </a:br>
            <a:r>
              <a:rPr lang="en-US" sz="3200" b="1" dirty="0"/>
              <a:t>The Haber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2819400"/>
          </a:xfrm>
        </p:spPr>
        <p:txBody>
          <a:bodyPr/>
          <a:lstStyle/>
          <a:p>
            <a:r>
              <a:rPr lang="en-US"/>
              <a:t>Consider the Haber Process, which is the industrial preparation of ammonia:</a:t>
            </a:r>
          </a:p>
          <a:p>
            <a:pPr>
              <a:buFontTx/>
              <a:buNone/>
            </a:pPr>
            <a:r>
              <a:rPr lang="en-US"/>
              <a:t>	N</a:t>
            </a:r>
            <a:r>
              <a:rPr lang="en-US" baseline="-25000"/>
              <a:t>2</a:t>
            </a:r>
            <a:r>
              <a:rPr lang="en-US"/>
              <a:t>(</a:t>
            </a:r>
            <a:r>
              <a:rPr lang="en-US" i="1"/>
              <a:t>g</a:t>
            </a:r>
            <a:r>
              <a:rPr lang="en-US"/>
              <a:t>)  +  3 H</a:t>
            </a:r>
            <a:r>
              <a:rPr lang="en-US" baseline="-25000"/>
              <a:t>2</a:t>
            </a:r>
            <a:r>
              <a:rPr lang="en-US"/>
              <a:t>(</a:t>
            </a:r>
            <a:r>
              <a:rPr lang="en-US" i="1"/>
              <a:t>g</a:t>
            </a:r>
            <a:r>
              <a:rPr lang="en-US"/>
              <a:t>) ⇌  2 NH</a:t>
            </a:r>
            <a:r>
              <a:rPr lang="en-US" baseline="-25000"/>
              <a:t>3</a:t>
            </a:r>
            <a:r>
              <a:rPr lang="en-US"/>
              <a:t>(</a:t>
            </a:r>
            <a:r>
              <a:rPr lang="en-US" i="1"/>
              <a:t>g</a:t>
            </a:r>
            <a:r>
              <a:rPr lang="en-US"/>
              <a:t>)</a:t>
            </a:r>
          </a:p>
          <a:p>
            <a:r>
              <a:rPr lang="en-US"/>
              <a:t>The equilibrium constant depends on stoichiometry: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180" y="4648200"/>
            <a:ext cx="2471420" cy="9779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05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The Equilibrium Constant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30238" y="1066800"/>
            <a:ext cx="7980362" cy="2057400"/>
          </a:xfrm>
        </p:spPr>
        <p:txBody>
          <a:bodyPr/>
          <a:lstStyle/>
          <a:p>
            <a:pPr eaLnBrk="1" hangingPunct="1"/>
            <a:r>
              <a:rPr lang="en-US" sz="2800"/>
              <a:t>Consider the generalized reaction</a:t>
            </a:r>
          </a:p>
          <a:p>
            <a:pPr eaLnBrk="1" hangingPunct="1">
              <a:buFontTx/>
              <a:buNone/>
            </a:pPr>
            <a:r>
              <a:rPr lang="en-US" sz="2800"/>
              <a:t>	</a:t>
            </a:r>
            <a:r>
              <a:rPr lang="en-US" sz="2800" i="1"/>
              <a:t>a</a:t>
            </a:r>
            <a:r>
              <a:rPr lang="en-US" sz="2800"/>
              <a:t> A  +  </a:t>
            </a:r>
            <a:r>
              <a:rPr lang="en-US" sz="2800" i="1"/>
              <a:t>b</a:t>
            </a:r>
            <a:r>
              <a:rPr lang="en-US" sz="2800"/>
              <a:t> B ⇌  </a:t>
            </a:r>
            <a:r>
              <a:rPr lang="en-US" sz="2800" i="1"/>
              <a:t>d</a:t>
            </a:r>
            <a:r>
              <a:rPr lang="en-US" sz="2800"/>
              <a:t> D  +  </a:t>
            </a:r>
            <a:r>
              <a:rPr lang="en-US" sz="2800" i="1"/>
              <a:t>e</a:t>
            </a:r>
            <a:r>
              <a:rPr lang="en-US" sz="2800"/>
              <a:t> E</a:t>
            </a:r>
          </a:p>
          <a:p>
            <a:pPr eaLnBrk="1" hangingPunct="1"/>
            <a:r>
              <a:rPr lang="en-US" sz="2800"/>
              <a:t>The equilibrium expression for this reaction would be</a:t>
            </a:r>
          </a:p>
        </p:txBody>
      </p:sp>
      <p:sp>
        <p:nvSpPr>
          <p:cNvPr id="10244" name="Rectangle 6"/>
          <p:cNvSpPr>
            <a:spLocks noChangeArrowheads="1"/>
          </p:cNvSpPr>
          <p:nvPr/>
        </p:nvSpPr>
        <p:spPr bwMode="auto">
          <a:xfrm>
            <a:off x="630238" y="35052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20000"/>
              </a:spcBef>
            </a:pPr>
            <a:endParaRPr lang="en-US" sz="3200"/>
          </a:p>
        </p:txBody>
      </p:sp>
      <p:grpSp>
        <p:nvGrpSpPr>
          <p:cNvPr id="10245" name="Group 21"/>
          <p:cNvGrpSpPr>
            <a:grpSpLocks/>
          </p:cNvGrpSpPr>
          <p:nvPr/>
        </p:nvGrpSpPr>
        <p:grpSpPr bwMode="auto">
          <a:xfrm>
            <a:off x="2898775" y="4724400"/>
            <a:ext cx="1530350" cy="1012825"/>
            <a:chOff x="1872" y="3168"/>
            <a:chExt cx="964" cy="638"/>
          </a:xfrm>
        </p:grpSpPr>
        <p:sp>
          <p:nvSpPr>
            <p:cNvPr id="10250" name="Rectangle 9"/>
            <p:cNvSpPr>
              <a:spLocks noChangeArrowheads="1"/>
            </p:cNvSpPr>
            <p:nvPr/>
          </p:nvSpPr>
          <p:spPr bwMode="auto">
            <a:xfrm>
              <a:off x="1872" y="3360"/>
              <a:ext cx="116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endParaRPr lang="en-US" sz="4000"/>
            </a:p>
          </p:txBody>
        </p:sp>
        <p:sp>
          <p:nvSpPr>
            <p:cNvPr id="10251" name="Rectangle 10"/>
            <p:cNvSpPr>
              <a:spLocks noChangeArrowheads="1"/>
            </p:cNvSpPr>
            <p:nvPr/>
          </p:nvSpPr>
          <p:spPr bwMode="auto">
            <a:xfrm>
              <a:off x="2720" y="3168"/>
              <a:ext cx="116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endParaRPr lang="en-US" sz="4000" i="1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30238" y="3983038"/>
            <a:ext cx="8056562" cy="1754187"/>
          </a:xfrm>
          <a:prstGeom prst="rect">
            <a:avLst/>
          </a:prstGeom>
          <a:noFill/>
        </p:spPr>
        <p:txBody>
          <a:bodyPr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800" dirty="0"/>
              <a:t>Also, since </a:t>
            </a:r>
            <a:r>
              <a:rPr lang="en-US" sz="2800" dirty="0">
                <a:solidFill>
                  <a:srgbClr val="0000C9"/>
                </a:solidFill>
              </a:rPr>
              <a:t>pressure</a:t>
            </a:r>
            <a:r>
              <a:rPr lang="en-US" sz="2800" dirty="0"/>
              <a:t> is proportional to </a:t>
            </a:r>
            <a:r>
              <a:rPr lang="en-US" sz="2800" dirty="0">
                <a:solidFill>
                  <a:srgbClr val="FF0000"/>
                </a:solidFill>
              </a:rPr>
              <a:t>concentration</a:t>
            </a:r>
            <a:r>
              <a:rPr lang="en-US" sz="2800" dirty="0"/>
              <a:t> for gases in a closed system, the equilibrium expression can also be written</a:t>
            </a:r>
          </a:p>
          <a:p>
            <a:pPr marL="342900" indent="-342900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940050"/>
            <a:ext cx="4702810" cy="10223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5463540"/>
            <a:ext cx="2595880" cy="101346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3200" b="1" dirty="0"/>
              <a:t>More with Gases and Equilibrium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029200"/>
          </a:xfrm>
        </p:spPr>
        <p:txBody>
          <a:bodyPr/>
          <a:lstStyle/>
          <a:p>
            <a:r>
              <a:rPr lang="en-US"/>
              <a:t>We can compare the equilibrium constant based on concentration to the one based on pressure.</a:t>
            </a:r>
          </a:p>
          <a:p>
            <a:r>
              <a:rPr lang="en-US"/>
              <a:t>For gases, </a:t>
            </a:r>
            <a:r>
              <a:rPr lang="en-US" i="1"/>
              <a:t>PV</a:t>
            </a:r>
            <a:r>
              <a:rPr lang="en-US"/>
              <a:t> = </a:t>
            </a:r>
            <a:r>
              <a:rPr lang="en-US" i="1"/>
              <a:t>nRT</a:t>
            </a:r>
            <a:r>
              <a:rPr lang="en-US"/>
              <a:t> (the Ideal Gas Law).</a:t>
            </a:r>
          </a:p>
          <a:p>
            <a:r>
              <a:rPr lang="en-US"/>
              <a:t>Rearranging, </a:t>
            </a:r>
            <a:r>
              <a:rPr lang="en-US" i="1"/>
              <a:t>P</a:t>
            </a:r>
            <a:r>
              <a:rPr lang="en-US"/>
              <a:t> = (</a:t>
            </a:r>
            <a:r>
              <a:rPr lang="en-US" i="1"/>
              <a:t>n</a:t>
            </a:r>
            <a:r>
              <a:rPr lang="en-US"/>
              <a:t>/</a:t>
            </a:r>
            <a:r>
              <a:rPr lang="en-US" i="1"/>
              <a:t>V</a:t>
            </a:r>
            <a:r>
              <a:rPr lang="en-US"/>
              <a:t>)</a:t>
            </a:r>
            <a:r>
              <a:rPr lang="en-US" i="1"/>
              <a:t>RT</a:t>
            </a:r>
            <a:r>
              <a:rPr lang="en-US"/>
              <a:t>; (</a:t>
            </a:r>
            <a:r>
              <a:rPr lang="en-US" i="1"/>
              <a:t>n</a:t>
            </a:r>
            <a:r>
              <a:rPr lang="en-US"/>
              <a:t>/</a:t>
            </a:r>
            <a:r>
              <a:rPr lang="en-US" i="1"/>
              <a:t>V</a:t>
            </a:r>
            <a:r>
              <a:rPr lang="en-US"/>
              <a:t>) is [ ].</a:t>
            </a:r>
          </a:p>
          <a:p>
            <a:r>
              <a:rPr lang="en-US"/>
              <a:t>The result is</a:t>
            </a:r>
          </a:p>
          <a:p>
            <a:endParaRPr lang="en-US"/>
          </a:p>
          <a:p>
            <a:r>
              <a:rPr lang="en-US"/>
              <a:t>where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160" y="4191000"/>
            <a:ext cx="2418080" cy="4800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5453046"/>
            <a:ext cx="6934200" cy="27305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85866" y="76200"/>
            <a:ext cx="8763000" cy="1295400"/>
          </a:xfrm>
        </p:spPr>
        <p:txBody>
          <a:bodyPr/>
          <a:lstStyle/>
          <a:p>
            <a:pPr eaLnBrk="1" hangingPunct="1"/>
            <a:r>
              <a:rPr lang="en-US" sz="3200" b="1" dirty="0"/>
              <a:t>Equilibrium Can Be Reached from Either Direction</a:t>
            </a:r>
          </a:p>
        </p:txBody>
      </p:sp>
      <p:sp>
        <p:nvSpPr>
          <p:cNvPr id="12291" name="Content Placeholder 1"/>
          <p:cNvSpPr>
            <a:spLocks noGrp="1"/>
          </p:cNvSpPr>
          <p:nvPr>
            <p:ph idx="1"/>
          </p:nvPr>
        </p:nvSpPr>
        <p:spPr>
          <a:xfrm>
            <a:off x="190500" y="1447800"/>
            <a:ext cx="8763000" cy="1981200"/>
          </a:xfrm>
        </p:spPr>
        <p:txBody>
          <a:bodyPr/>
          <a:lstStyle/>
          <a:p>
            <a:r>
              <a:rPr lang="en-US" sz="2800"/>
              <a:t>As you can see, the ratio of [NO</a:t>
            </a:r>
            <a:r>
              <a:rPr lang="en-US" sz="2800" baseline="-25000"/>
              <a:t>2</a:t>
            </a:r>
            <a:r>
              <a:rPr lang="en-US" sz="2800"/>
              <a:t>]</a:t>
            </a:r>
            <a:r>
              <a:rPr lang="en-US" sz="2800" baseline="30000"/>
              <a:t>2</a:t>
            </a:r>
            <a:r>
              <a:rPr lang="en-US" sz="2800"/>
              <a:t> to [N</a:t>
            </a:r>
            <a:r>
              <a:rPr lang="en-US" sz="2800" baseline="-25000"/>
              <a:t>2</a:t>
            </a:r>
            <a:r>
              <a:rPr lang="en-US" sz="2800"/>
              <a:t>O</a:t>
            </a:r>
            <a:r>
              <a:rPr lang="en-US" sz="2800" baseline="-25000"/>
              <a:t>4</a:t>
            </a:r>
            <a:r>
              <a:rPr lang="en-US" sz="2800"/>
              <a:t>] remains constant at this temperature no matter what the initial concentrations of NO</a:t>
            </a:r>
            <a:r>
              <a:rPr lang="en-US" sz="2800" baseline="-25000"/>
              <a:t>2</a:t>
            </a:r>
            <a:r>
              <a:rPr lang="en-US" sz="2800"/>
              <a:t> and N</a:t>
            </a:r>
            <a:r>
              <a:rPr lang="en-US" sz="2800" baseline="-25000"/>
              <a:t>2</a:t>
            </a:r>
            <a:r>
              <a:rPr lang="en-US" sz="2800"/>
              <a:t>O</a:t>
            </a:r>
            <a:r>
              <a:rPr lang="en-US" sz="2800" baseline="-25000"/>
              <a:t>4</a:t>
            </a:r>
            <a:r>
              <a:rPr lang="en-US" sz="2800"/>
              <a:t> are.</a:t>
            </a:r>
          </a:p>
        </p:txBody>
      </p:sp>
      <p:pic>
        <p:nvPicPr>
          <p:cNvPr id="6" name="Picture 5" descr="15_01_Table.jpg"/>
          <p:cNvPicPr>
            <a:picLocks noChangeAspect="1"/>
          </p:cNvPicPr>
          <p:nvPr/>
        </p:nvPicPr>
        <p:blipFill>
          <a:blip r:embed="rId3"/>
          <a:srcRect b="6140"/>
          <a:stretch>
            <a:fillRect/>
          </a:stretch>
        </p:blipFill>
        <p:spPr>
          <a:xfrm>
            <a:off x="304800" y="3124200"/>
            <a:ext cx="5317384" cy="1828800"/>
          </a:xfrm>
          <a:prstGeom prst="rect">
            <a:avLst/>
          </a:prstGeom>
        </p:spPr>
      </p:pic>
      <p:pic>
        <p:nvPicPr>
          <p:cNvPr id="7" name="Picture 6" descr="15_05_Figure.jpg"/>
          <p:cNvPicPr>
            <a:picLocks noChangeAspect="1"/>
          </p:cNvPicPr>
          <p:nvPr/>
        </p:nvPicPr>
        <p:blipFill>
          <a:blip r:embed="rId4"/>
          <a:srcRect b="2546"/>
          <a:stretch>
            <a:fillRect/>
          </a:stretch>
        </p:blipFill>
        <p:spPr>
          <a:xfrm>
            <a:off x="5867400" y="2971800"/>
            <a:ext cx="3043366" cy="28346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Magnitude of </a:t>
            </a:r>
            <a:r>
              <a:rPr lang="en-US" sz="3200" b="1" i="1" dirty="0"/>
              <a:t>K</a:t>
            </a:r>
            <a:endParaRPr lang="en-US" sz="3200" b="1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419600" y="1371600"/>
            <a:ext cx="4724400" cy="4267200"/>
          </a:xfrm>
        </p:spPr>
        <p:txBody>
          <a:bodyPr/>
          <a:lstStyle/>
          <a:p>
            <a:pPr eaLnBrk="1" hangingPunct="1"/>
            <a:r>
              <a:rPr lang="en-US"/>
              <a:t>If </a:t>
            </a:r>
            <a:r>
              <a:rPr lang="en-US" i="1"/>
              <a:t>K</a:t>
            </a:r>
            <a:r>
              <a:rPr lang="en-US"/>
              <a:t>&gt;&gt;1, the reaction favors products; products predominate at equilibrium.</a:t>
            </a:r>
          </a:p>
          <a:p>
            <a:pPr eaLnBrk="1" hangingPunct="1"/>
            <a:r>
              <a:rPr lang="en-US"/>
              <a:t>If </a:t>
            </a:r>
            <a:r>
              <a:rPr lang="en-US" i="1"/>
              <a:t>K</a:t>
            </a:r>
            <a:r>
              <a:rPr lang="en-US"/>
              <a:t>&lt;&lt;1, the reaction favors reactants; reactants predominate at equilibrium.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4572000" y="4114800"/>
            <a:ext cx="43434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800"/>
          </a:p>
        </p:txBody>
      </p:sp>
      <p:pic>
        <p:nvPicPr>
          <p:cNvPr id="6" name="Picture 5" descr="15_06_Figure.jpg"/>
          <p:cNvPicPr>
            <a:picLocks noChangeAspect="1"/>
          </p:cNvPicPr>
          <p:nvPr/>
        </p:nvPicPr>
        <p:blipFill>
          <a:blip r:embed="rId3"/>
          <a:srcRect b="2546"/>
          <a:stretch>
            <a:fillRect/>
          </a:stretch>
        </p:blipFill>
        <p:spPr>
          <a:xfrm>
            <a:off x="239605" y="1447800"/>
            <a:ext cx="3951395" cy="44196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113"/>
            <a:ext cx="9144000" cy="1371600"/>
          </a:xfrm>
        </p:spPr>
        <p:txBody>
          <a:bodyPr/>
          <a:lstStyle/>
          <a:p>
            <a:pPr eaLnBrk="1" hangingPunct="1"/>
            <a:r>
              <a:rPr lang="en-US" sz="3200" b="1" dirty="0"/>
              <a:t>The Direction of the Chemical Equation and </a:t>
            </a:r>
            <a:r>
              <a:rPr lang="en-US" sz="3200" b="1" i="1" dirty="0"/>
              <a:t>K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2133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	The equilibrium constant of a reaction in the reverse reaction is the reciprocal of the equilibrium constant of the forward reaction:</a:t>
            </a:r>
          </a:p>
        </p:txBody>
      </p:sp>
      <p:grpSp>
        <p:nvGrpSpPr>
          <p:cNvPr id="14340" name="Group 69"/>
          <p:cNvGrpSpPr>
            <a:grpSpLocks/>
          </p:cNvGrpSpPr>
          <p:nvPr/>
        </p:nvGrpSpPr>
        <p:grpSpPr bwMode="auto">
          <a:xfrm>
            <a:off x="4271963" y="3671888"/>
            <a:ext cx="4714875" cy="822325"/>
            <a:chOff x="2836" y="2314"/>
            <a:chExt cx="2970" cy="518"/>
          </a:xfrm>
        </p:grpSpPr>
        <p:sp>
          <p:nvSpPr>
            <p:cNvPr id="14355" name="Rectangle 11"/>
            <p:cNvSpPr>
              <a:spLocks noChangeArrowheads="1"/>
            </p:cNvSpPr>
            <p:nvPr/>
          </p:nvSpPr>
          <p:spPr bwMode="auto">
            <a:xfrm>
              <a:off x="2836" y="2429"/>
              <a:ext cx="297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i="1"/>
                <a:t>K</a:t>
              </a:r>
              <a:r>
                <a:rPr lang="en-US" i="1" baseline="-25000"/>
                <a:t>c</a:t>
              </a:r>
              <a:r>
                <a:rPr lang="en-US" i="1"/>
                <a:t> </a:t>
              </a:r>
              <a:r>
                <a:rPr lang="en-US"/>
                <a:t>= 		  = 0.212 at 100 </a:t>
              </a:r>
              <a:r>
                <a:rPr lang="en-US">
                  <a:sym typeface="Symbol" charset="2"/>
                </a:rPr>
                <a:t>C</a:t>
              </a:r>
              <a:endParaRPr lang="en-US"/>
            </a:p>
          </p:txBody>
        </p:sp>
        <p:grpSp>
          <p:nvGrpSpPr>
            <p:cNvPr id="14356" name="Group 68"/>
            <p:cNvGrpSpPr>
              <a:grpSpLocks/>
            </p:cNvGrpSpPr>
            <p:nvPr/>
          </p:nvGrpSpPr>
          <p:grpSpPr bwMode="auto">
            <a:xfrm>
              <a:off x="3370" y="2314"/>
              <a:ext cx="768" cy="518"/>
              <a:chOff x="3370" y="2314"/>
              <a:chExt cx="768" cy="518"/>
            </a:xfrm>
          </p:grpSpPr>
          <p:sp>
            <p:nvSpPr>
              <p:cNvPr id="14357" name="Rectangle 12"/>
              <p:cNvSpPr>
                <a:spLocks noChangeArrowheads="1"/>
              </p:cNvSpPr>
              <p:nvPr/>
            </p:nvSpPr>
            <p:spPr bwMode="auto">
              <a:xfrm>
                <a:off x="3393" y="2314"/>
                <a:ext cx="653" cy="5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/>
                  <a:t>[NO</a:t>
                </a:r>
                <a:r>
                  <a:rPr lang="en-US" baseline="-25000"/>
                  <a:t>2</a:t>
                </a:r>
                <a:r>
                  <a:rPr lang="en-US"/>
                  <a:t>]</a:t>
                </a:r>
                <a:r>
                  <a:rPr lang="en-US" baseline="30000"/>
                  <a:t>2</a:t>
                </a:r>
                <a:endParaRPr lang="en-US"/>
              </a:p>
              <a:p>
                <a:pPr algn="ctr"/>
                <a:r>
                  <a:rPr lang="en-US"/>
                  <a:t>[N</a:t>
                </a:r>
                <a:r>
                  <a:rPr lang="en-US" baseline="-25000"/>
                  <a:t>2</a:t>
                </a:r>
                <a:r>
                  <a:rPr lang="en-US"/>
                  <a:t>O</a:t>
                </a:r>
                <a:r>
                  <a:rPr lang="en-US" baseline="-25000"/>
                  <a:t>4</a:t>
                </a:r>
                <a:r>
                  <a:rPr lang="en-US"/>
                  <a:t>]</a:t>
                </a:r>
              </a:p>
            </p:txBody>
          </p:sp>
          <p:sp>
            <p:nvSpPr>
              <p:cNvPr id="14358" name="Line 13"/>
              <p:cNvSpPr>
                <a:spLocks noChangeShapeType="1"/>
              </p:cNvSpPr>
              <p:nvPr/>
            </p:nvSpPr>
            <p:spPr bwMode="auto">
              <a:xfrm>
                <a:off x="3370" y="2594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4341" name="Group 71"/>
          <p:cNvGrpSpPr>
            <a:grpSpLocks/>
          </p:cNvGrpSpPr>
          <p:nvPr/>
        </p:nvGrpSpPr>
        <p:grpSpPr bwMode="auto">
          <a:xfrm>
            <a:off x="4356100" y="4676775"/>
            <a:ext cx="4545013" cy="822325"/>
            <a:chOff x="2928" y="2928"/>
            <a:chExt cx="2863" cy="518"/>
          </a:xfrm>
        </p:grpSpPr>
        <p:sp>
          <p:nvSpPr>
            <p:cNvPr id="14351" name="Rectangle 18"/>
            <p:cNvSpPr>
              <a:spLocks noChangeArrowheads="1"/>
            </p:cNvSpPr>
            <p:nvPr/>
          </p:nvSpPr>
          <p:spPr bwMode="auto">
            <a:xfrm>
              <a:off x="2928" y="3043"/>
              <a:ext cx="286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i="1"/>
                <a:t>K</a:t>
              </a:r>
              <a:r>
                <a:rPr lang="en-US" i="1" baseline="-25000"/>
                <a:t>c</a:t>
              </a:r>
              <a:r>
                <a:rPr lang="en-US"/>
                <a:t> = 		  = 4.72 at 100 </a:t>
              </a:r>
              <a:r>
                <a:rPr lang="en-US">
                  <a:sym typeface="Symbol" charset="2"/>
                </a:rPr>
                <a:t>C</a:t>
              </a:r>
              <a:endParaRPr lang="en-US"/>
            </a:p>
          </p:txBody>
        </p:sp>
        <p:grpSp>
          <p:nvGrpSpPr>
            <p:cNvPr id="14352" name="Group 70"/>
            <p:cNvGrpSpPr>
              <a:grpSpLocks/>
            </p:cNvGrpSpPr>
            <p:nvPr/>
          </p:nvGrpSpPr>
          <p:grpSpPr bwMode="auto">
            <a:xfrm>
              <a:off x="3408" y="2928"/>
              <a:ext cx="768" cy="518"/>
              <a:chOff x="3408" y="2928"/>
              <a:chExt cx="768" cy="518"/>
            </a:xfrm>
          </p:grpSpPr>
          <p:sp>
            <p:nvSpPr>
              <p:cNvPr id="14353" name="Rectangle 20"/>
              <p:cNvSpPr>
                <a:spLocks noChangeArrowheads="1"/>
              </p:cNvSpPr>
              <p:nvPr/>
            </p:nvSpPr>
            <p:spPr bwMode="auto">
              <a:xfrm>
                <a:off x="3485" y="2928"/>
                <a:ext cx="653" cy="5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/>
                  <a:t>[N</a:t>
                </a:r>
                <a:r>
                  <a:rPr lang="en-US" baseline="-25000"/>
                  <a:t>2</a:t>
                </a:r>
                <a:r>
                  <a:rPr lang="en-US"/>
                  <a:t>O</a:t>
                </a:r>
                <a:r>
                  <a:rPr lang="en-US" baseline="-25000"/>
                  <a:t>4</a:t>
                </a:r>
                <a:r>
                  <a:rPr lang="en-US"/>
                  <a:t>]</a:t>
                </a:r>
              </a:p>
              <a:p>
                <a:pPr algn="ctr"/>
                <a:r>
                  <a:rPr lang="en-US"/>
                  <a:t>[NO</a:t>
                </a:r>
                <a:r>
                  <a:rPr lang="en-US" baseline="-25000"/>
                  <a:t>2</a:t>
                </a:r>
                <a:r>
                  <a:rPr lang="en-US"/>
                  <a:t>]</a:t>
                </a:r>
                <a:r>
                  <a:rPr lang="en-US" baseline="30000"/>
                  <a:t>2</a:t>
                </a:r>
                <a:endParaRPr lang="en-US"/>
              </a:p>
            </p:txBody>
          </p:sp>
          <p:sp>
            <p:nvSpPr>
              <p:cNvPr id="14354" name="Line 21"/>
              <p:cNvSpPr>
                <a:spLocks noChangeShapeType="1"/>
              </p:cNvSpPr>
              <p:nvPr/>
            </p:nvSpPr>
            <p:spPr bwMode="auto">
              <a:xfrm>
                <a:off x="3408" y="3205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4342" name="Group 65"/>
          <p:cNvGrpSpPr>
            <a:grpSpLocks/>
          </p:cNvGrpSpPr>
          <p:nvPr/>
        </p:nvGrpSpPr>
        <p:grpSpPr bwMode="auto">
          <a:xfrm>
            <a:off x="457200" y="4800600"/>
            <a:ext cx="3200400" cy="519113"/>
            <a:chOff x="-6" y="3024"/>
            <a:chExt cx="2775" cy="327"/>
          </a:xfrm>
        </p:grpSpPr>
        <p:sp>
          <p:nvSpPr>
            <p:cNvPr id="14349" name="Rectangle 56"/>
            <p:cNvSpPr>
              <a:spLocks noChangeArrowheads="1"/>
            </p:cNvSpPr>
            <p:nvPr/>
          </p:nvSpPr>
          <p:spPr bwMode="auto">
            <a:xfrm>
              <a:off x="1872" y="3024"/>
              <a:ext cx="89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N</a:t>
              </a:r>
              <a:r>
                <a:rPr lang="en-US" sz="2800" baseline="-25000"/>
                <a:t>2</a:t>
              </a:r>
              <a:r>
                <a:rPr lang="en-US" sz="2800"/>
                <a:t>O</a:t>
              </a:r>
              <a:r>
                <a:rPr lang="en-US" sz="2800" baseline="-25000"/>
                <a:t>4</a:t>
              </a:r>
              <a:r>
                <a:rPr lang="en-US" sz="2800"/>
                <a:t>(</a:t>
              </a:r>
              <a:r>
                <a:rPr lang="en-US" sz="2800" i="1"/>
                <a:t>g</a:t>
              </a:r>
              <a:r>
                <a:rPr lang="en-US" sz="2800"/>
                <a:t>)</a:t>
              </a:r>
            </a:p>
          </p:txBody>
        </p:sp>
        <p:sp>
          <p:nvSpPr>
            <p:cNvPr id="14350" name="Rectangle 58"/>
            <p:cNvSpPr>
              <a:spLocks noChangeArrowheads="1"/>
            </p:cNvSpPr>
            <p:nvPr/>
          </p:nvSpPr>
          <p:spPr bwMode="auto">
            <a:xfrm>
              <a:off x="-6" y="3024"/>
              <a:ext cx="150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2 NO</a:t>
              </a:r>
              <a:r>
                <a:rPr lang="en-US" sz="2800" baseline="-25000"/>
                <a:t>2</a:t>
              </a:r>
              <a:r>
                <a:rPr lang="en-US" sz="2800"/>
                <a:t>(</a:t>
              </a:r>
              <a:r>
                <a:rPr lang="en-US" sz="2800" i="1"/>
                <a:t>g</a:t>
              </a:r>
              <a:r>
                <a:rPr lang="en-US" sz="2800"/>
                <a:t>)  </a:t>
              </a:r>
            </a:p>
          </p:txBody>
        </p:sp>
      </p:grpSp>
      <p:grpSp>
        <p:nvGrpSpPr>
          <p:cNvPr id="14343" name="Group 67"/>
          <p:cNvGrpSpPr>
            <a:grpSpLocks/>
          </p:cNvGrpSpPr>
          <p:nvPr/>
        </p:nvGrpSpPr>
        <p:grpSpPr bwMode="auto">
          <a:xfrm>
            <a:off x="457200" y="3824288"/>
            <a:ext cx="3578225" cy="525462"/>
            <a:chOff x="288" y="2409"/>
            <a:chExt cx="2254" cy="331"/>
          </a:xfrm>
        </p:grpSpPr>
        <p:sp>
          <p:nvSpPr>
            <p:cNvPr id="14347" name="Rectangle 50"/>
            <p:cNvSpPr>
              <a:spLocks noChangeArrowheads="1"/>
            </p:cNvSpPr>
            <p:nvPr/>
          </p:nvSpPr>
          <p:spPr bwMode="auto">
            <a:xfrm>
              <a:off x="288" y="2409"/>
              <a:ext cx="134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N</a:t>
              </a:r>
              <a:r>
                <a:rPr lang="en-US" sz="2800" baseline="-25000"/>
                <a:t>2</a:t>
              </a:r>
              <a:r>
                <a:rPr lang="en-US" sz="2800"/>
                <a:t>O</a:t>
              </a:r>
              <a:r>
                <a:rPr lang="en-US" sz="2800" baseline="-25000"/>
                <a:t>4</a:t>
              </a:r>
              <a:r>
                <a:rPr lang="en-US" sz="2800"/>
                <a:t>(</a:t>
              </a:r>
              <a:r>
                <a:rPr lang="en-US" sz="2800" i="1"/>
                <a:t>g</a:t>
              </a:r>
              <a:r>
                <a:rPr lang="en-US" sz="2800"/>
                <a:t>)  </a:t>
              </a:r>
            </a:p>
          </p:txBody>
        </p:sp>
        <p:sp>
          <p:nvSpPr>
            <p:cNvPr id="14348" name="Rectangle 52"/>
            <p:cNvSpPr>
              <a:spLocks noChangeArrowheads="1"/>
            </p:cNvSpPr>
            <p:nvPr/>
          </p:nvSpPr>
          <p:spPr bwMode="auto">
            <a:xfrm>
              <a:off x="1536" y="2410"/>
              <a:ext cx="10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2 NO</a:t>
              </a:r>
              <a:r>
                <a:rPr lang="en-US" sz="2800" baseline="-25000"/>
                <a:t>2</a:t>
              </a:r>
              <a:r>
                <a:rPr lang="en-US" sz="2800"/>
                <a:t>(</a:t>
              </a:r>
              <a:r>
                <a:rPr lang="en-US" sz="2800" i="1"/>
                <a:t>g</a:t>
              </a:r>
              <a:r>
                <a:rPr lang="en-US" sz="2800"/>
                <a:t>)</a:t>
              </a:r>
            </a:p>
          </p:txBody>
        </p:sp>
      </p:grpSp>
      <p:sp>
        <p:nvSpPr>
          <p:cNvPr id="14345" name="Rectangle 1"/>
          <p:cNvSpPr>
            <a:spLocks noChangeArrowheads="1"/>
          </p:cNvSpPr>
          <p:nvPr/>
        </p:nvSpPr>
        <p:spPr bwMode="auto">
          <a:xfrm>
            <a:off x="1957388" y="3881438"/>
            <a:ext cx="44291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⇌</a:t>
            </a:r>
          </a:p>
        </p:txBody>
      </p:sp>
      <p:sp>
        <p:nvSpPr>
          <p:cNvPr id="14346" name="Rectangle 2"/>
          <p:cNvSpPr>
            <a:spLocks noChangeArrowheads="1"/>
          </p:cNvSpPr>
          <p:nvPr/>
        </p:nvSpPr>
        <p:spPr bwMode="auto">
          <a:xfrm>
            <a:off x="2097088" y="4800600"/>
            <a:ext cx="4429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⇌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02625" cy="1295400"/>
          </a:xfrm>
        </p:spPr>
        <p:txBody>
          <a:bodyPr/>
          <a:lstStyle/>
          <a:p>
            <a:pPr eaLnBrk="1" hangingPunct="1"/>
            <a:r>
              <a:rPr lang="en-US" sz="3200" b="1" dirty="0"/>
              <a:t>Stoichiometry and Equilibrium Constants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943975" cy="2133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/>
              <a:t>	To find the new equilibrium constant of a reaction when the equation has been multiplied by a number, simply raise the original equilibrium constant to that power. Here, the stoichiometry is doubled; the constant is the squared!</a:t>
            </a:r>
          </a:p>
        </p:txBody>
      </p:sp>
      <p:grpSp>
        <p:nvGrpSpPr>
          <p:cNvPr id="15364" name="Group 4"/>
          <p:cNvGrpSpPr>
            <a:grpSpLocks/>
          </p:cNvGrpSpPr>
          <p:nvPr/>
        </p:nvGrpSpPr>
        <p:grpSpPr bwMode="auto">
          <a:xfrm>
            <a:off x="4044950" y="4384675"/>
            <a:ext cx="4714875" cy="822325"/>
            <a:chOff x="2836" y="2314"/>
            <a:chExt cx="2970" cy="518"/>
          </a:xfrm>
        </p:grpSpPr>
        <p:sp>
          <p:nvSpPr>
            <p:cNvPr id="15379" name="Rectangle 5"/>
            <p:cNvSpPr>
              <a:spLocks noChangeArrowheads="1"/>
            </p:cNvSpPr>
            <p:nvPr/>
          </p:nvSpPr>
          <p:spPr bwMode="auto">
            <a:xfrm>
              <a:off x="2836" y="2429"/>
              <a:ext cx="297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i="1"/>
                <a:t>K</a:t>
              </a:r>
              <a:r>
                <a:rPr lang="en-US" i="1" baseline="-25000"/>
                <a:t>c</a:t>
              </a:r>
              <a:r>
                <a:rPr lang="en-US"/>
                <a:t> = 		  = 0.212 at 100 </a:t>
              </a:r>
              <a:r>
                <a:rPr lang="en-US">
                  <a:sym typeface="Symbol" charset="2"/>
                </a:rPr>
                <a:t>C</a:t>
              </a:r>
              <a:endParaRPr lang="en-US"/>
            </a:p>
          </p:txBody>
        </p:sp>
        <p:grpSp>
          <p:nvGrpSpPr>
            <p:cNvPr id="15380" name="Group 6"/>
            <p:cNvGrpSpPr>
              <a:grpSpLocks/>
            </p:cNvGrpSpPr>
            <p:nvPr/>
          </p:nvGrpSpPr>
          <p:grpSpPr bwMode="auto">
            <a:xfrm>
              <a:off x="3316" y="2314"/>
              <a:ext cx="768" cy="518"/>
              <a:chOff x="3316" y="2314"/>
              <a:chExt cx="768" cy="518"/>
            </a:xfrm>
          </p:grpSpPr>
          <p:sp>
            <p:nvSpPr>
              <p:cNvPr id="15381" name="Rectangle 7"/>
              <p:cNvSpPr>
                <a:spLocks noChangeArrowheads="1"/>
              </p:cNvSpPr>
              <p:nvPr/>
            </p:nvSpPr>
            <p:spPr bwMode="auto">
              <a:xfrm>
                <a:off x="3393" y="2314"/>
                <a:ext cx="653" cy="5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/>
                  <a:t>[NO</a:t>
                </a:r>
                <a:r>
                  <a:rPr lang="en-US" baseline="-25000"/>
                  <a:t>2</a:t>
                </a:r>
                <a:r>
                  <a:rPr lang="en-US"/>
                  <a:t>]</a:t>
                </a:r>
                <a:r>
                  <a:rPr lang="en-US" baseline="30000"/>
                  <a:t>2</a:t>
                </a:r>
                <a:endParaRPr lang="en-US"/>
              </a:p>
              <a:p>
                <a:pPr algn="ctr"/>
                <a:r>
                  <a:rPr lang="en-US"/>
                  <a:t>[N</a:t>
                </a:r>
                <a:r>
                  <a:rPr lang="en-US" baseline="-25000"/>
                  <a:t>2</a:t>
                </a:r>
                <a:r>
                  <a:rPr lang="en-US"/>
                  <a:t>O</a:t>
                </a:r>
                <a:r>
                  <a:rPr lang="en-US" baseline="-25000"/>
                  <a:t>4</a:t>
                </a:r>
                <a:r>
                  <a:rPr lang="en-US"/>
                  <a:t>]</a:t>
                </a:r>
              </a:p>
            </p:txBody>
          </p:sp>
          <p:sp>
            <p:nvSpPr>
              <p:cNvPr id="15382" name="Line 8"/>
              <p:cNvSpPr>
                <a:spLocks noChangeShapeType="1"/>
              </p:cNvSpPr>
              <p:nvPr/>
            </p:nvSpPr>
            <p:spPr bwMode="auto">
              <a:xfrm>
                <a:off x="3316" y="2591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5365" name="Group 9"/>
          <p:cNvGrpSpPr>
            <a:grpSpLocks/>
          </p:cNvGrpSpPr>
          <p:nvPr/>
        </p:nvGrpSpPr>
        <p:grpSpPr bwMode="auto">
          <a:xfrm>
            <a:off x="4059238" y="5224463"/>
            <a:ext cx="5030787" cy="822325"/>
            <a:chOff x="2928" y="2928"/>
            <a:chExt cx="3117" cy="518"/>
          </a:xfrm>
        </p:grpSpPr>
        <p:sp>
          <p:nvSpPr>
            <p:cNvPr id="15375" name="Rectangle 10"/>
            <p:cNvSpPr>
              <a:spLocks noChangeArrowheads="1"/>
            </p:cNvSpPr>
            <p:nvPr/>
          </p:nvSpPr>
          <p:spPr bwMode="auto">
            <a:xfrm>
              <a:off x="2928" y="3043"/>
              <a:ext cx="31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i="1"/>
                <a:t>K</a:t>
              </a:r>
              <a:r>
                <a:rPr lang="en-US" i="1" baseline="-25000"/>
                <a:t>c</a:t>
              </a:r>
              <a:r>
                <a:rPr lang="en-US"/>
                <a:t> = 		  = (0.212)</a:t>
              </a:r>
              <a:r>
                <a:rPr lang="en-US" baseline="30000"/>
                <a:t>2</a:t>
              </a:r>
              <a:r>
                <a:rPr lang="en-US"/>
                <a:t> at 100 </a:t>
              </a:r>
              <a:r>
                <a:rPr lang="en-US">
                  <a:sym typeface="Symbol" charset="2"/>
                </a:rPr>
                <a:t>C</a:t>
              </a:r>
              <a:endParaRPr lang="en-US"/>
            </a:p>
          </p:txBody>
        </p:sp>
        <p:grpSp>
          <p:nvGrpSpPr>
            <p:cNvPr id="15376" name="Group 11"/>
            <p:cNvGrpSpPr>
              <a:grpSpLocks/>
            </p:cNvGrpSpPr>
            <p:nvPr/>
          </p:nvGrpSpPr>
          <p:grpSpPr bwMode="auto">
            <a:xfrm>
              <a:off x="3408" y="2928"/>
              <a:ext cx="768" cy="518"/>
              <a:chOff x="3408" y="2928"/>
              <a:chExt cx="768" cy="518"/>
            </a:xfrm>
          </p:grpSpPr>
          <p:sp>
            <p:nvSpPr>
              <p:cNvPr id="15377" name="Rectangle 12"/>
              <p:cNvSpPr>
                <a:spLocks noChangeArrowheads="1"/>
              </p:cNvSpPr>
              <p:nvPr/>
            </p:nvSpPr>
            <p:spPr bwMode="auto">
              <a:xfrm>
                <a:off x="3457" y="2928"/>
                <a:ext cx="712" cy="5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/>
                  <a:t>[NO</a:t>
                </a:r>
                <a:r>
                  <a:rPr lang="en-US" baseline="-25000"/>
                  <a:t>2</a:t>
                </a:r>
                <a:r>
                  <a:rPr lang="en-US"/>
                  <a:t>]</a:t>
                </a:r>
                <a:r>
                  <a:rPr lang="en-US" baseline="30000"/>
                  <a:t>4</a:t>
                </a:r>
                <a:endParaRPr lang="en-US"/>
              </a:p>
              <a:p>
                <a:pPr algn="ctr"/>
                <a:r>
                  <a:rPr lang="en-US"/>
                  <a:t>[N</a:t>
                </a:r>
                <a:r>
                  <a:rPr lang="en-US" baseline="-25000"/>
                  <a:t>2</a:t>
                </a:r>
                <a:r>
                  <a:rPr lang="en-US"/>
                  <a:t>O</a:t>
                </a:r>
                <a:r>
                  <a:rPr lang="en-US" baseline="-25000"/>
                  <a:t>4</a:t>
                </a:r>
                <a:r>
                  <a:rPr lang="en-US"/>
                  <a:t>]</a:t>
                </a:r>
                <a:r>
                  <a:rPr lang="en-US" baseline="30000"/>
                  <a:t>2</a:t>
                </a:r>
                <a:endParaRPr lang="en-US"/>
              </a:p>
            </p:txBody>
          </p:sp>
          <p:sp>
            <p:nvSpPr>
              <p:cNvPr id="15378" name="Line 13"/>
              <p:cNvSpPr>
                <a:spLocks noChangeShapeType="1"/>
              </p:cNvSpPr>
              <p:nvPr/>
            </p:nvSpPr>
            <p:spPr bwMode="auto">
              <a:xfrm>
                <a:off x="3408" y="3205"/>
                <a:ext cx="7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5366" name="Group 22"/>
          <p:cNvGrpSpPr>
            <a:grpSpLocks/>
          </p:cNvGrpSpPr>
          <p:nvPr/>
        </p:nvGrpSpPr>
        <p:grpSpPr bwMode="auto">
          <a:xfrm>
            <a:off x="412750" y="5376863"/>
            <a:ext cx="3706813" cy="523875"/>
            <a:chOff x="48" y="3024"/>
            <a:chExt cx="3047" cy="330"/>
          </a:xfrm>
        </p:grpSpPr>
        <p:sp>
          <p:nvSpPr>
            <p:cNvPr id="15373" name="Rectangle 15"/>
            <p:cNvSpPr>
              <a:spLocks noChangeArrowheads="1"/>
            </p:cNvSpPr>
            <p:nvPr/>
          </p:nvSpPr>
          <p:spPr bwMode="auto">
            <a:xfrm>
              <a:off x="1782" y="3024"/>
              <a:ext cx="131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4 NO</a:t>
              </a:r>
              <a:r>
                <a:rPr lang="en-US" sz="2800" baseline="-25000"/>
                <a:t>2</a:t>
              </a:r>
              <a:r>
                <a:rPr lang="en-US" sz="2800"/>
                <a:t>(</a:t>
              </a:r>
              <a:r>
                <a:rPr lang="en-US" sz="2800" i="1"/>
                <a:t>g</a:t>
              </a:r>
              <a:r>
                <a:rPr lang="en-US" sz="2800"/>
                <a:t>)</a:t>
              </a:r>
            </a:p>
          </p:txBody>
        </p:sp>
        <p:sp>
          <p:nvSpPr>
            <p:cNvPr id="15374" name="Rectangle 16"/>
            <p:cNvSpPr>
              <a:spLocks noChangeArrowheads="1"/>
            </p:cNvSpPr>
            <p:nvPr/>
          </p:nvSpPr>
          <p:spPr bwMode="auto">
            <a:xfrm>
              <a:off x="48" y="3024"/>
              <a:ext cx="142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2 N</a:t>
              </a:r>
              <a:r>
                <a:rPr lang="en-US" sz="2800" baseline="-25000"/>
                <a:t>2</a:t>
              </a:r>
              <a:r>
                <a:rPr lang="en-US" sz="2800"/>
                <a:t>O</a:t>
              </a:r>
              <a:r>
                <a:rPr lang="en-US" sz="2800" baseline="-25000"/>
                <a:t>4</a:t>
              </a:r>
              <a:r>
                <a:rPr lang="en-US" sz="2800"/>
                <a:t>(</a:t>
              </a:r>
              <a:r>
                <a:rPr lang="en-US" sz="2800" i="1"/>
                <a:t>g</a:t>
              </a:r>
              <a:r>
                <a:rPr lang="en-US" sz="2800"/>
                <a:t>)</a:t>
              </a:r>
            </a:p>
          </p:txBody>
        </p:sp>
      </p:grpSp>
      <p:grpSp>
        <p:nvGrpSpPr>
          <p:cNvPr id="15367" name="Group 18"/>
          <p:cNvGrpSpPr>
            <a:grpSpLocks/>
          </p:cNvGrpSpPr>
          <p:nvPr/>
        </p:nvGrpSpPr>
        <p:grpSpPr bwMode="auto">
          <a:xfrm>
            <a:off x="412750" y="4535488"/>
            <a:ext cx="3632200" cy="523875"/>
            <a:chOff x="0" y="2409"/>
            <a:chExt cx="2288" cy="330"/>
          </a:xfrm>
        </p:grpSpPr>
        <p:sp>
          <p:nvSpPr>
            <p:cNvPr id="15371" name="Rectangle 19"/>
            <p:cNvSpPr>
              <a:spLocks noChangeArrowheads="1"/>
            </p:cNvSpPr>
            <p:nvPr/>
          </p:nvSpPr>
          <p:spPr bwMode="auto">
            <a:xfrm>
              <a:off x="0" y="2409"/>
              <a:ext cx="15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N</a:t>
              </a:r>
              <a:r>
                <a:rPr lang="en-US" sz="2800" baseline="-25000"/>
                <a:t>2</a:t>
              </a:r>
              <a:r>
                <a:rPr lang="en-US" sz="2800"/>
                <a:t>O</a:t>
              </a:r>
              <a:r>
                <a:rPr lang="en-US" sz="2800" baseline="-25000"/>
                <a:t>4</a:t>
              </a:r>
              <a:r>
                <a:rPr lang="en-US" sz="2800"/>
                <a:t>(</a:t>
              </a:r>
              <a:r>
                <a:rPr lang="en-US" sz="2800" i="1"/>
                <a:t>g</a:t>
              </a:r>
              <a:r>
                <a:rPr lang="en-US" sz="2800"/>
                <a:t>) </a:t>
              </a:r>
            </a:p>
          </p:txBody>
        </p:sp>
        <p:sp>
          <p:nvSpPr>
            <p:cNvPr id="15372" name="Rectangle 20"/>
            <p:cNvSpPr>
              <a:spLocks noChangeArrowheads="1"/>
            </p:cNvSpPr>
            <p:nvPr/>
          </p:nvSpPr>
          <p:spPr bwMode="auto">
            <a:xfrm>
              <a:off x="1186" y="2409"/>
              <a:ext cx="110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2 NO</a:t>
              </a:r>
              <a:r>
                <a:rPr lang="en-US" sz="2800" baseline="-25000"/>
                <a:t>2</a:t>
              </a:r>
              <a:r>
                <a:rPr lang="en-US" sz="2800"/>
                <a:t>(</a:t>
              </a:r>
              <a:r>
                <a:rPr lang="en-US" sz="2800" i="1"/>
                <a:t>g</a:t>
              </a:r>
              <a:r>
                <a:rPr lang="en-US" sz="2800"/>
                <a:t>)</a:t>
              </a:r>
            </a:p>
          </p:txBody>
        </p:sp>
      </p:grpSp>
      <p:sp>
        <p:nvSpPr>
          <p:cNvPr id="15369" name="Rectangle 1"/>
          <p:cNvSpPr>
            <a:spLocks noChangeArrowheads="1"/>
          </p:cNvSpPr>
          <p:nvPr/>
        </p:nvSpPr>
        <p:spPr bwMode="auto">
          <a:xfrm>
            <a:off x="1852613" y="4535488"/>
            <a:ext cx="44291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⇌</a:t>
            </a:r>
          </a:p>
        </p:txBody>
      </p:sp>
      <p:sp>
        <p:nvSpPr>
          <p:cNvPr id="15370" name="Rectangle 2"/>
          <p:cNvSpPr>
            <a:spLocks noChangeArrowheads="1"/>
          </p:cNvSpPr>
          <p:nvPr/>
        </p:nvSpPr>
        <p:spPr bwMode="auto">
          <a:xfrm>
            <a:off x="2079625" y="5407025"/>
            <a:ext cx="44291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⇌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6" name="Group 22"/>
          <p:cNvGrpSpPr>
            <a:grpSpLocks/>
          </p:cNvGrpSpPr>
          <p:nvPr/>
        </p:nvGrpSpPr>
        <p:grpSpPr bwMode="auto">
          <a:xfrm>
            <a:off x="2263590" y="1142999"/>
            <a:ext cx="4701948" cy="523875"/>
            <a:chOff x="48" y="3024"/>
            <a:chExt cx="3865" cy="330"/>
          </a:xfrm>
        </p:grpSpPr>
        <p:sp>
          <p:nvSpPr>
            <p:cNvPr id="15373" name="Rectangle 15"/>
            <p:cNvSpPr>
              <a:spLocks noChangeArrowheads="1"/>
            </p:cNvSpPr>
            <p:nvPr/>
          </p:nvSpPr>
          <p:spPr bwMode="auto">
            <a:xfrm>
              <a:off x="1782" y="3024"/>
              <a:ext cx="21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800" dirty="0"/>
                <a:t>4 NO</a:t>
              </a:r>
              <a:r>
                <a:rPr lang="en-US" sz="2800" baseline="-25000" dirty="0"/>
                <a:t>2</a:t>
              </a:r>
              <a:r>
                <a:rPr lang="en-US" sz="2800" dirty="0"/>
                <a:t>(</a:t>
              </a:r>
              <a:r>
                <a:rPr lang="en-US" sz="2800" i="1" dirty="0"/>
                <a:t>g</a:t>
              </a:r>
              <a:r>
                <a:rPr lang="en-US" sz="2800" dirty="0" smtClean="0"/>
                <a:t>)     </a:t>
              </a:r>
              <a:r>
                <a:rPr lang="en-US" altLang="zh-CN" sz="2800" i="1" dirty="0" err="1" smtClean="0">
                  <a:solidFill>
                    <a:srgbClr val="FF0000"/>
                  </a:solidFill>
                </a:rPr>
                <a:t>K</a:t>
              </a:r>
              <a:r>
                <a:rPr lang="en-US" altLang="zh-CN" sz="2800" baseline="-25000" dirty="0" err="1" smtClean="0">
                  <a:solidFill>
                    <a:srgbClr val="FF0000"/>
                  </a:solidFill>
                </a:rPr>
                <a:t>c</a:t>
              </a:r>
              <a:r>
                <a:rPr lang="zh-CN" altLang="en-US" sz="2800" dirty="0" smtClean="0">
                  <a:solidFill>
                    <a:srgbClr val="FF0000"/>
                  </a:solidFill>
                </a:rPr>
                <a:t>’</a:t>
              </a:r>
              <a:endParaRPr 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15374" name="Rectangle 16"/>
            <p:cNvSpPr>
              <a:spLocks noChangeArrowheads="1"/>
            </p:cNvSpPr>
            <p:nvPr/>
          </p:nvSpPr>
          <p:spPr bwMode="auto">
            <a:xfrm>
              <a:off x="48" y="3024"/>
              <a:ext cx="142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2 N</a:t>
              </a:r>
              <a:r>
                <a:rPr lang="en-US" sz="2800" baseline="-25000"/>
                <a:t>2</a:t>
              </a:r>
              <a:r>
                <a:rPr lang="en-US" sz="2800"/>
                <a:t>O</a:t>
              </a:r>
              <a:r>
                <a:rPr lang="en-US" sz="2800" baseline="-25000"/>
                <a:t>4</a:t>
              </a:r>
              <a:r>
                <a:rPr lang="en-US" sz="2800"/>
                <a:t>(</a:t>
              </a:r>
              <a:r>
                <a:rPr lang="en-US" sz="2800" i="1"/>
                <a:t>g</a:t>
              </a:r>
              <a:r>
                <a:rPr lang="en-US" sz="2800"/>
                <a:t>)</a:t>
              </a:r>
            </a:p>
          </p:txBody>
        </p:sp>
      </p:grpSp>
      <p:grpSp>
        <p:nvGrpSpPr>
          <p:cNvPr id="15367" name="Group 18"/>
          <p:cNvGrpSpPr>
            <a:grpSpLocks/>
          </p:cNvGrpSpPr>
          <p:nvPr/>
        </p:nvGrpSpPr>
        <p:grpSpPr bwMode="auto">
          <a:xfrm>
            <a:off x="2335821" y="2423056"/>
            <a:ext cx="5819280" cy="523875"/>
            <a:chOff x="0" y="2409"/>
            <a:chExt cx="2288" cy="330"/>
          </a:xfrm>
        </p:grpSpPr>
        <p:sp>
          <p:nvSpPr>
            <p:cNvPr id="15371" name="Rectangle 19"/>
            <p:cNvSpPr>
              <a:spLocks noChangeArrowheads="1"/>
            </p:cNvSpPr>
            <p:nvPr/>
          </p:nvSpPr>
          <p:spPr bwMode="auto">
            <a:xfrm>
              <a:off x="0" y="2409"/>
              <a:ext cx="15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N</a:t>
              </a:r>
              <a:r>
                <a:rPr lang="en-US" sz="2800" baseline="-25000"/>
                <a:t>2</a:t>
              </a:r>
              <a:r>
                <a:rPr lang="en-US" sz="2800"/>
                <a:t>O</a:t>
              </a:r>
              <a:r>
                <a:rPr lang="en-US" sz="2800" baseline="-25000"/>
                <a:t>4</a:t>
              </a:r>
              <a:r>
                <a:rPr lang="en-US" sz="2800"/>
                <a:t>(</a:t>
              </a:r>
              <a:r>
                <a:rPr lang="en-US" sz="2800" i="1"/>
                <a:t>g</a:t>
              </a:r>
              <a:r>
                <a:rPr lang="en-US" sz="2800"/>
                <a:t>) </a:t>
              </a:r>
            </a:p>
          </p:txBody>
        </p:sp>
        <p:sp>
          <p:nvSpPr>
            <p:cNvPr id="15372" name="Rectangle 20"/>
            <p:cNvSpPr>
              <a:spLocks noChangeArrowheads="1"/>
            </p:cNvSpPr>
            <p:nvPr/>
          </p:nvSpPr>
          <p:spPr bwMode="auto">
            <a:xfrm>
              <a:off x="744" y="2409"/>
              <a:ext cx="154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2800" dirty="0"/>
                <a:t>2 NO</a:t>
              </a:r>
              <a:r>
                <a:rPr lang="en-US" sz="2800" baseline="-25000" dirty="0"/>
                <a:t>2</a:t>
              </a:r>
              <a:r>
                <a:rPr lang="en-US" sz="2800" dirty="0"/>
                <a:t>(</a:t>
              </a:r>
              <a:r>
                <a:rPr lang="en-US" sz="2800" i="1" dirty="0"/>
                <a:t>g</a:t>
              </a:r>
              <a:r>
                <a:rPr lang="en-US" sz="2800" dirty="0" smtClean="0"/>
                <a:t>)      </a:t>
              </a:r>
              <a:r>
                <a:rPr lang="en-US" altLang="zh-CN" sz="2800" i="1" dirty="0" err="1" smtClean="0"/>
                <a:t>K</a:t>
              </a:r>
              <a:r>
                <a:rPr lang="en-US" altLang="zh-CN" sz="2800" i="1" baseline="-25000" dirty="0" err="1" smtClean="0"/>
                <a:t>c</a:t>
              </a:r>
              <a:endParaRPr lang="en-US" sz="2800" dirty="0"/>
            </a:p>
          </p:txBody>
        </p:sp>
      </p:grpSp>
      <p:sp>
        <p:nvSpPr>
          <p:cNvPr id="15369" name="Rectangle 1"/>
          <p:cNvSpPr>
            <a:spLocks noChangeArrowheads="1"/>
          </p:cNvSpPr>
          <p:nvPr/>
        </p:nvSpPr>
        <p:spPr bwMode="auto">
          <a:xfrm>
            <a:off x="3775684" y="2423056"/>
            <a:ext cx="44291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⇌</a:t>
            </a:r>
          </a:p>
        </p:txBody>
      </p:sp>
      <p:sp>
        <p:nvSpPr>
          <p:cNvPr id="15370" name="Rectangle 2"/>
          <p:cNvSpPr>
            <a:spLocks noChangeArrowheads="1"/>
          </p:cNvSpPr>
          <p:nvPr/>
        </p:nvSpPr>
        <p:spPr bwMode="auto">
          <a:xfrm>
            <a:off x="3930465" y="1173161"/>
            <a:ext cx="44291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⇌</a:t>
            </a:r>
          </a:p>
        </p:txBody>
      </p:sp>
      <p:grpSp>
        <p:nvGrpSpPr>
          <p:cNvPr id="27" name="Group 18"/>
          <p:cNvGrpSpPr>
            <a:grpSpLocks/>
          </p:cNvGrpSpPr>
          <p:nvPr/>
        </p:nvGrpSpPr>
        <p:grpSpPr bwMode="auto">
          <a:xfrm>
            <a:off x="2360899" y="3109891"/>
            <a:ext cx="5819280" cy="523875"/>
            <a:chOff x="0" y="2409"/>
            <a:chExt cx="2288" cy="330"/>
          </a:xfrm>
        </p:grpSpPr>
        <p:sp>
          <p:nvSpPr>
            <p:cNvPr id="28" name="Rectangle 19"/>
            <p:cNvSpPr>
              <a:spLocks noChangeArrowheads="1"/>
            </p:cNvSpPr>
            <p:nvPr/>
          </p:nvSpPr>
          <p:spPr bwMode="auto">
            <a:xfrm>
              <a:off x="0" y="2409"/>
              <a:ext cx="153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 sz="2800"/>
                <a:t>N</a:t>
              </a:r>
              <a:r>
                <a:rPr lang="en-US" sz="2800" baseline="-25000"/>
                <a:t>2</a:t>
              </a:r>
              <a:r>
                <a:rPr lang="en-US" sz="2800"/>
                <a:t>O</a:t>
              </a:r>
              <a:r>
                <a:rPr lang="en-US" sz="2800" baseline="-25000"/>
                <a:t>4</a:t>
              </a:r>
              <a:r>
                <a:rPr lang="en-US" sz="2800"/>
                <a:t>(</a:t>
              </a:r>
              <a:r>
                <a:rPr lang="en-US" sz="2800" i="1"/>
                <a:t>g</a:t>
              </a:r>
              <a:r>
                <a:rPr lang="en-US" sz="2800"/>
                <a:t>) </a:t>
              </a:r>
            </a:p>
          </p:txBody>
        </p:sp>
        <p:sp>
          <p:nvSpPr>
            <p:cNvPr id="29" name="Rectangle 20"/>
            <p:cNvSpPr>
              <a:spLocks noChangeArrowheads="1"/>
            </p:cNvSpPr>
            <p:nvPr/>
          </p:nvSpPr>
          <p:spPr bwMode="auto">
            <a:xfrm>
              <a:off x="744" y="2409"/>
              <a:ext cx="154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r>
                <a:rPr lang="en-US" sz="2800" dirty="0"/>
                <a:t>2 NO</a:t>
              </a:r>
              <a:r>
                <a:rPr lang="en-US" sz="2800" baseline="-25000" dirty="0"/>
                <a:t>2</a:t>
              </a:r>
              <a:r>
                <a:rPr lang="en-US" sz="2800" dirty="0"/>
                <a:t>(</a:t>
              </a:r>
              <a:r>
                <a:rPr lang="en-US" sz="2800" i="1" dirty="0"/>
                <a:t>g</a:t>
              </a:r>
              <a:r>
                <a:rPr lang="en-US" sz="2800" dirty="0" smtClean="0"/>
                <a:t>)      </a:t>
              </a:r>
              <a:r>
                <a:rPr lang="en-US" altLang="zh-CN" sz="2800" i="1" dirty="0" err="1" smtClean="0"/>
                <a:t>K</a:t>
              </a:r>
              <a:r>
                <a:rPr lang="en-US" altLang="zh-CN" sz="2800" i="1" baseline="-25000" dirty="0" err="1" smtClean="0"/>
                <a:t>c</a:t>
              </a:r>
              <a:endParaRPr lang="en-US" sz="2800" dirty="0"/>
            </a:p>
          </p:txBody>
        </p:sp>
      </p:grpSp>
      <p:sp>
        <p:nvSpPr>
          <p:cNvPr id="30" name="Rectangle 1"/>
          <p:cNvSpPr>
            <a:spLocks noChangeArrowheads="1"/>
          </p:cNvSpPr>
          <p:nvPr/>
        </p:nvSpPr>
        <p:spPr bwMode="auto">
          <a:xfrm>
            <a:off x="3800762" y="3109891"/>
            <a:ext cx="44291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⇌</a:t>
            </a:r>
          </a:p>
        </p:txBody>
      </p:sp>
      <p:sp>
        <p:nvSpPr>
          <p:cNvPr id="3" name="矩形 2"/>
          <p:cNvSpPr/>
          <p:nvPr/>
        </p:nvSpPr>
        <p:spPr>
          <a:xfrm>
            <a:off x="2438400" y="4343400"/>
            <a:ext cx="5638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i="1" dirty="0" err="1">
                <a:solidFill>
                  <a:srgbClr val="FF0000"/>
                </a:solidFill>
              </a:rPr>
              <a:t>K</a:t>
            </a:r>
            <a:r>
              <a:rPr lang="en-US" altLang="zh-CN" sz="4000" b="1" baseline="-25000" dirty="0" err="1">
                <a:solidFill>
                  <a:srgbClr val="FF0000"/>
                </a:solidFill>
              </a:rPr>
              <a:t>c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’   </a:t>
            </a:r>
            <a:r>
              <a:rPr lang="en-US" altLang="zh-CN" sz="4000" b="1" dirty="0" smtClean="0"/>
              <a:t>=  </a:t>
            </a:r>
            <a:r>
              <a:rPr lang="en-US" altLang="zh-CN" sz="4000" b="1" i="1" dirty="0" err="1" smtClean="0"/>
              <a:t>K</a:t>
            </a:r>
            <a:r>
              <a:rPr lang="en-US" altLang="zh-CN" sz="4000" b="1" baseline="-25000" dirty="0" err="1" smtClean="0"/>
              <a:t>c</a:t>
            </a:r>
            <a:r>
              <a:rPr lang="zh-CN" altLang="en-US" sz="4000" b="1" dirty="0" smtClean="0"/>
              <a:t>  </a:t>
            </a:r>
            <a:r>
              <a:rPr lang="en-US" altLang="zh-CN" sz="4000" b="1" dirty="0" smtClean="0"/>
              <a:t>x  </a:t>
            </a:r>
            <a:r>
              <a:rPr lang="en-US" altLang="zh-CN" sz="4000" b="1" i="1" dirty="0" err="1" smtClean="0"/>
              <a:t>K</a:t>
            </a:r>
            <a:r>
              <a:rPr lang="en-US" altLang="zh-CN" sz="4000" b="1" baseline="-25000" dirty="0" err="1" smtClean="0"/>
              <a:t>c</a:t>
            </a:r>
            <a:endParaRPr lang="en-US" altLang="zh-CN" sz="4000" b="1" dirty="0"/>
          </a:p>
          <a:p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50106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988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Consecutive </a:t>
            </a:r>
            <a:r>
              <a:rPr lang="en-US" sz="3200" b="1" dirty="0" err="1"/>
              <a:t>Equilibria</a:t>
            </a:r>
            <a:endParaRPr lang="en-US" sz="3200" b="1" dirty="0"/>
          </a:p>
        </p:txBody>
      </p:sp>
      <p:sp>
        <p:nvSpPr>
          <p:cNvPr id="16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7924800" cy="5943600"/>
          </a:xfrm>
        </p:spPr>
        <p:txBody>
          <a:bodyPr/>
          <a:lstStyle/>
          <a:p>
            <a:pPr eaLnBrk="1" hangingPunct="1"/>
            <a:r>
              <a:rPr lang="en-US" sz="2800"/>
              <a:t>When two consecutive equilibria occur, the equations can be added to give a single equilibrium.</a:t>
            </a:r>
          </a:p>
          <a:p>
            <a:pPr eaLnBrk="1" hangingPunct="1"/>
            <a:r>
              <a:rPr lang="en-US" sz="2800"/>
              <a:t>The equilibrium constant of the new reaction is the </a:t>
            </a:r>
            <a:r>
              <a:rPr lang="en-US" sz="2800" i="1"/>
              <a:t>product</a:t>
            </a:r>
            <a:r>
              <a:rPr lang="en-US" sz="2800"/>
              <a:t> of the two constants:</a:t>
            </a:r>
          </a:p>
          <a:p>
            <a:pPr eaLnBrk="1" hangingPunct="1">
              <a:buFontTx/>
              <a:buNone/>
            </a:pPr>
            <a:r>
              <a:rPr lang="en-US" sz="2800"/>
              <a:t>	</a:t>
            </a:r>
            <a:r>
              <a:rPr lang="en-US" sz="2800" i="1"/>
              <a:t>K</a:t>
            </a:r>
            <a:r>
              <a:rPr lang="en-US" sz="2800" baseline="-25000"/>
              <a:t>3</a:t>
            </a:r>
            <a:r>
              <a:rPr lang="en-US" sz="2800"/>
              <a:t>  =  </a:t>
            </a:r>
            <a:r>
              <a:rPr lang="en-US" sz="2800" i="1" smtClean="0"/>
              <a:t>K</a:t>
            </a:r>
            <a:r>
              <a:rPr lang="en-US" sz="2800" baseline="-25000" smtClean="0"/>
              <a:t>1 </a:t>
            </a:r>
            <a:r>
              <a:rPr lang="en-US" sz="2800" smtClean="0"/>
              <a:t>× </a:t>
            </a:r>
            <a:r>
              <a:rPr lang="en-US" sz="2800" i="1" smtClean="0"/>
              <a:t>K</a:t>
            </a:r>
            <a:r>
              <a:rPr lang="en-US" sz="2800" baseline="-25000" smtClean="0"/>
              <a:t>2</a:t>
            </a:r>
            <a:endParaRPr lang="en-US" sz="2800"/>
          </a:p>
          <a:p>
            <a:pPr eaLnBrk="1" hangingPunct="1"/>
            <a:r>
              <a:rPr lang="en-US" sz="2800"/>
              <a:t>Example</a:t>
            </a:r>
          </a:p>
          <a:p>
            <a:pPr eaLnBrk="1" hangingPunct="1">
              <a:buFont typeface="Wingdings" charset="2"/>
              <a:buChar char="Ø"/>
            </a:pPr>
            <a:r>
              <a:rPr lang="en-US" sz="2800"/>
              <a:t>2 NOBr ⇌ 2 NO + Br</a:t>
            </a:r>
            <a:r>
              <a:rPr lang="en-US" sz="2800" baseline="-25000"/>
              <a:t>2</a:t>
            </a:r>
            <a:r>
              <a:rPr lang="en-US" sz="2800"/>
              <a:t>	</a:t>
            </a:r>
            <a:r>
              <a:rPr lang="en-US" sz="2800" i="1"/>
              <a:t>K</a:t>
            </a:r>
            <a:r>
              <a:rPr lang="en-US" sz="2800" baseline="-25000"/>
              <a:t>1</a:t>
            </a:r>
            <a:r>
              <a:rPr lang="en-US" sz="2800"/>
              <a:t> = 0.014</a:t>
            </a:r>
          </a:p>
          <a:p>
            <a:pPr eaLnBrk="1" hangingPunct="1">
              <a:buFont typeface="Wingdings" charset="2"/>
              <a:buChar char="Ø"/>
            </a:pPr>
            <a:r>
              <a:rPr lang="en-US" sz="2800"/>
              <a:t>Br</a:t>
            </a:r>
            <a:r>
              <a:rPr lang="en-US" sz="2800" baseline="-25000"/>
              <a:t>2</a:t>
            </a:r>
            <a:r>
              <a:rPr lang="en-US" sz="2800"/>
              <a:t> + Cl</a:t>
            </a:r>
            <a:r>
              <a:rPr lang="en-US" sz="2800" baseline="-25000"/>
              <a:t>2</a:t>
            </a:r>
            <a:r>
              <a:rPr lang="en-US" sz="2800"/>
              <a:t> ⇌ 2 BrCl		</a:t>
            </a:r>
            <a:r>
              <a:rPr lang="en-US" sz="2800" i="1"/>
              <a:t>K</a:t>
            </a:r>
            <a:r>
              <a:rPr lang="en-US" sz="2800" baseline="-25000"/>
              <a:t>2</a:t>
            </a:r>
            <a:r>
              <a:rPr lang="en-US" sz="2800"/>
              <a:t> = 7.2</a:t>
            </a:r>
          </a:p>
          <a:p>
            <a:pPr eaLnBrk="1" hangingPunct="1">
              <a:buFont typeface="Wingdings" charset="2"/>
              <a:buChar char="Ø"/>
            </a:pPr>
            <a:r>
              <a:rPr lang="en-US" sz="2800"/>
              <a:t>2 NOBr + Cl</a:t>
            </a:r>
            <a:r>
              <a:rPr lang="en-US" sz="2800" baseline="-25000"/>
              <a:t>2</a:t>
            </a:r>
            <a:r>
              <a:rPr lang="en-US" sz="2800"/>
              <a:t> ⇌ 2 NO + 2 BrCl</a:t>
            </a:r>
          </a:p>
          <a:p>
            <a:pPr eaLnBrk="1" hangingPunct="1">
              <a:buFontTx/>
              <a:buNone/>
            </a:pPr>
            <a:r>
              <a:rPr lang="en-US" sz="2800"/>
              <a:t>	</a:t>
            </a:r>
            <a:r>
              <a:rPr lang="en-US" sz="2800" i="1"/>
              <a:t>K</a:t>
            </a:r>
            <a:r>
              <a:rPr lang="en-US" sz="2800" baseline="-25000"/>
              <a:t>3</a:t>
            </a:r>
            <a:r>
              <a:rPr lang="en-US" sz="2800"/>
              <a:t>  =  </a:t>
            </a:r>
            <a:r>
              <a:rPr lang="en-US" sz="2800" i="1"/>
              <a:t>K</a:t>
            </a:r>
            <a:r>
              <a:rPr lang="en-US" sz="2800" baseline="-25000"/>
              <a:t>1</a:t>
            </a:r>
            <a:r>
              <a:rPr lang="en-US" sz="2800"/>
              <a:t> × </a:t>
            </a:r>
            <a:r>
              <a:rPr lang="en-US" sz="2800" i="1"/>
              <a:t>K</a:t>
            </a:r>
            <a:r>
              <a:rPr lang="en-US" sz="2800" baseline="-25000"/>
              <a:t>2</a:t>
            </a:r>
            <a:r>
              <a:rPr lang="en-US" sz="2800"/>
              <a:t>  =  0.014 × 7.2  =  0.10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z="3200" b="1" dirty="0"/>
              <a:t>Homogeneous vs. Heterogeneous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7543800" cy="4495800"/>
          </a:xfrm>
        </p:spPr>
        <p:txBody>
          <a:bodyPr/>
          <a:lstStyle/>
          <a:p>
            <a:r>
              <a:rPr lang="en-US" b="1" dirty="0"/>
              <a:t>Homogeneous </a:t>
            </a:r>
            <a:r>
              <a:rPr lang="en-US" b="1" dirty="0" err="1"/>
              <a:t>equilibria</a:t>
            </a:r>
            <a:r>
              <a:rPr lang="en-US" dirty="0"/>
              <a:t> occur when all reactants and products are in the same phase.</a:t>
            </a:r>
          </a:p>
          <a:p>
            <a:r>
              <a:rPr lang="en-US" b="1" dirty="0"/>
              <a:t>Heterogeneous </a:t>
            </a:r>
            <a:r>
              <a:rPr lang="en-US" b="1" dirty="0" err="1"/>
              <a:t>equilibria</a:t>
            </a:r>
            <a:r>
              <a:rPr lang="en-US" dirty="0"/>
              <a:t> occur when something in the equilibrium is in a different phase.</a:t>
            </a:r>
          </a:p>
          <a:p>
            <a:r>
              <a:rPr lang="en-US" dirty="0"/>
              <a:t>The value used for the concentration of a </a:t>
            </a:r>
            <a:r>
              <a:rPr lang="en-US" u="sng" dirty="0">
                <a:solidFill>
                  <a:srgbClr val="FF0000"/>
                </a:solidFill>
              </a:rPr>
              <a:t>pure substance </a:t>
            </a:r>
            <a:r>
              <a:rPr lang="en-US" dirty="0"/>
              <a:t>is always 1.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r>
              <a:rPr lang="en-US" sz="3200" b="1" dirty="0"/>
              <a:t>The Decomposition of CaCO</a:t>
            </a:r>
            <a:r>
              <a:rPr lang="en-US" sz="3200" b="1" baseline="-25000" dirty="0"/>
              <a:t>3</a:t>
            </a:r>
            <a:r>
              <a:rPr lang="en-US" sz="3200" b="1" dirty="0"/>
              <a:t>—</a:t>
            </a:r>
            <a:br>
              <a:rPr lang="en-US" sz="3200" b="1" dirty="0"/>
            </a:br>
            <a:r>
              <a:rPr lang="en-US" sz="3200" b="1" dirty="0"/>
              <a:t>A Heterogeneous Equilibrium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7772400" cy="2743200"/>
          </a:xfrm>
        </p:spPr>
        <p:txBody>
          <a:bodyPr/>
          <a:lstStyle/>
          <a:p>
            <a:r>
              <a:rPr lang="en-US" dirty="0"/>
              <a:t>The equation for the reaction is</a:t>
            </a:r>
          </a:p>
          <a:p>
            <a:pPr>
              <a:buFontTx/>
              <a:buNone/>
            </a:pPr>
            <a:r>
              <a:rPr lang="en-US" dirty="0"/>
              <a:t>	CaCO</a:t>
            </a:r>
            <a:r>
              <a:rPr lang="en-US" baseline="-25000" dirty="0"/>
              <a:t>3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 </a:t>
            </a:r>
            <a:r>
              <a:rPr lang="en-US"/>
              <a:t>⇌ </a:t>
            </a:r>
            <a:r>
              <a:rPr lang="en-US" smtClean="0"/>
              <a:t>CaO(</a:t>
            </a:r>
            <a:r>
              <a:rPr lang="en-US" i="1" smtClean="0"/>
              <a:t>s</a:t>
            </a:r>
            <a:r>
              <a:rPr lang="en-US"/>
              <a:t>) </a:t>
            </a:r>
            <a:r>
              <a:rPr lang="en-US" smtClean="0"/>
              <a:t>+ CO</a:t>
            </a:r>
            <a:r>
              <a:rPr lang="en-US" baseline="-25000" smtClean="0"/>
              <a:t>2</a:t>
            </a:r>
            <a:r>
              <a:rPr lang="en-US" smtClean="0"/>
              <a:t>(</a:t>
            </a:r>
            <a:r>
              <a:rPr lang="en-US" i="1" smtClean="0"/>
              <a:t>g</a:t>
            </a:r>
            <a:r>
              <a:rPr lang="en-US" dirty="0"/>
              <a:t>)</a:t>
            </a:r>
          </a:p>
          <a:p>
            <a:r>
              <a:rPr lang="en-US" dirty="0"/>
              <a:t>This results in</a:t>
            </a:r>
          </a:p>
          <a:p>
            <a:pPr>
              <a:buFontTx/>
              <a:buNone/>
            </a:pPr>
            <a:r>
              <a:rPr lang="en-US" dirty="0"/>
              <a:t>	</a:t>
            </a:r>
            <a:r>
              <a:rPr lang="en-US" i="1" dirty="0" err="1"/>
              <a:t>K</a:t>
            </a:r>
            <a:r>
              <a:rPr lang="en-US" i="1" baseline="-25000" dirty="0" err="1"/>
              <a:t>c</a:t>
            </a:r>
            <a:r>
              <a:rPr lang="en-US" dirty="0"/>
              <a:t> = [CO</a:t>
            </a:r>
            <a:r>
              <a:rPr lang="en-US" baseline="-25000" dirty="0"/>
              <a:t>2</a:t>
            </a:r>
            <a:r>
              <a:rPr lang="en-US" dirty="0" smtClean="0"/>
              <a:t>]</a:t>
            </a:r>
          </a:p>
          <a:p>
            <a:pPr>
              <a:buFontTx/>
              <a:buNone/>
            </a:pPr>
            <a:r>
              <a:rPr lang="en-US" dirty="0" smtClean="0"/>
              <a:t>	</a:t>
            </a:r>
            <a:r>
              <a:rPr lang="en-US" dirty="0"/>
              <a:t>and</a:t>
            </a:r>
            <a:r>
              <a:rPr lang="en-US" dirty="0" smtClean="0"/>
              <a:t>	</a:t>
            </a:r>
          </a:p>
          <a:p>
            <a:pPr>
              <a:buFontTx/>
              <a:buNone/>
            </a:pPr>
            <a:r>
              <a:rPr lang="en-US" i="1" dirty="0" smtClean="0"/>
              <a:t>	</a:t>
            </a:r>
            <a:r>
              <a:rPr lang="en-US" i="1" dirty="0" err="1" smtClean="0"/>
              <a:t>K</a:t>
            </a:r>
            <a:r>
              <a:rPr lang="en-US" i="1" baseline="-25000" dirty="0" err="1" smtClean="0"/>
              <a:t>p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i="1" dirty="0"/>
              <a:t>P</a:t>
            </a:r>
            <a:r>
              <a:rPr lang="en-US" baseline="-25000" dirty="0"/>
              <a:t>CO</a:t>
            </a:r>
            <a:r>
              <a:rPr lang="en-US" baseline="-50000" dirty="0"/>
              <a:t>2</a:t>
            </a:r>
            <a:endParaRPr lang="en-US" dirty="0"/>
          </a:p>
          <a:p>
            <a:pPr>
              <a:buFontTx/>
              <a:buNone/>
            </a:pPr>
            <a:endParaRPr lang="en-US" baseline="-50000" dirty="0"/>
          </a:p>
        </p:txBody>
      </p:sp>
      <p:pic>
        <p:nvPicPr>
          <p:cNvPr id="5" name="Picture 4" descr="15_07_Figure.jpg"/>
          <p:cNvPicPr>
            <a:picLocks noChangeAspect="1"/>
          </p:cNvPicPr>
          <p:nvPr/>
        </p:nvPicPr>
        <p:blipFill>
          <a:blip r:embed="rId2"/>
          <a:srcRect b="2546"/>
          <a:stretch>
            <a:fillRect/>
          </a:stretch>
        </p:blipFill>
        <p:spPr>
          <a:xfrm>
            <a:off x="3505200" y="3021300"/>
            <a:ext cx="4421447" cy="33795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9144000" cy="1295400"/>
          </a:xfrm>
        </p:spPr>
        <p:txBody>
          <a:bodyPr/>
          <a:lstStyle/>
          <a:p>
            <a:r>
              <a:rPr lang="en-US" sz="3200" b="1" dirty="0"/>
              <a:t>Deducing Equilibrium </a:t>
            </a:r>
            <a:r>
              <a:rPr lang="en-US" sz="3200" b="1" dirty="0" smtClean="0"/>
              <a:t>Concentrations</a:t>
            </a:r>
            <a:endParaRPr lang="en-US" sz="3200" b="1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143000" y="2133600"/>
            <a:ext cx="7391400" cy="36576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b="1" u="sng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ICE </a:t>
            </a:r>
            <a:r>
              <a:rPr lang="en-US" sz="2400" u="sng" dirty="0" smtClean="0">
                <a:latin typeface="Cambria Math" pitchFamily="18" charset="0"/>
                <a:ea typeface="Cambria Math" pitchFamily="18" charset="0"/>
              </a:rPr>
              <a:t>approach</a:t>
            </a:r>
          </a:p>
          <a:p>
            <a:pPr marL="0" indent="0">
              <a:buNone/>
            </a:pPr>
            <a:endParaRPr lang="en-US" sz="2400" dirty="0">
              <a:latin typeface="Cambria Math" pitchFamily="18" charset="0"/>
              <a:ea typeface="Cambria Math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 smtClean="0">
                <a:latin typeface="Cambria Math" pitchFamily="18" charset="0"/>
                <a:ea typeface="Cambria Math" pitchFamily="18" charset="0"/>
              </a:rPr>
              <a:t>- </a:t>
            </a:r>
            <a:r>
              <a:rPr lang="en-US" sz="2400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I</a:t>
            </a:r>
            <a:r>
              <a:rPr lang="en-US" sz="2400" dirty="0" smtClean="0">
                <a:latin typeface="Cambria Math" pitchFamily="18" charset="0"/>
                <a:ea typeface="Cambria Math" pitchFamily="18" charset="0"/>
              </a:rPr>
              <a:t>nitial Concentration(s)</a:t>
            </a:r>
          </a:p>
          <a:p>
            <a:pPr marL="0" indent="0">
              <a:buNone/>
            </a:pPr>
            <a:endParaRPr lang="en-US" sz="2400" dirty="0">
              <a:latin typeface="Cambria Math" pitchFamily="18" charset="0"/>
              <a:ea typeface="Cambria Math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C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sz="2400" dirty="0" smtClean="0">
                <a:latin typeface="Cambria Math" pitchFamily="18" charset="0"/>
                <a:ea typeface="Cambria Math" pitchFamily="18" charset="0"/>
              </a:rPr>
              <a:t>- </a:t>
            </a:r>
            <a:r>
              <a:rPr lang="en-US" sz="2400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C</a:t>
            </a:r>
            <a:r>
              <a:rPr lang="en-US" sz="2400" dirty="0" smtClean="0">
                <a:latin typeface="Cambria Math" pitchFamily="18" charset="0"/>
                <a:ea typeface="Cambria Math" pitchFamily="18" charset="0"/>
              </a:rPr>
              <a:t>hange in Concentration(s) when equilibrium is reached in comparison to the initial concentration(s)</a:t>
            </a:r>
          </a:p>
          <a:p>
            <a:pPr marL="0" indent="0">
              <a:buNone/>
            </a:pPr>
            <a:endParaRPr lang="en-US" sz="2400" dirty="0">
              <a:latin typeface="Cambria Math" pitchFamily="18" charset="0"/>
              <a:ea typeface="Cambria Math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E</a:t>
            </a:r>
            <a:r>
              <a:rPr lang="en-US" sz="2400" dirty="0" smtClean="0">
                <a:latin typeface="Cambria Math" pitchFamily="18" charset="0"/>
                <a:ea typeface="Cambria Math" pitchFamily="18" charset="0"/>
              </a:rPr>
              <a:t> – Concentrations at </a:t>
            </a:r>
            <a:r>
              <a:rPr lang="en-US" sz="2400" dirty="0" smtClean="0">
                <a:solidFill>
                  <a:srgbClr val="FF0000"/>
                </a:solidFill>
                <a:latin typeface="Cambria Math" pitchFamily="18" charset="0"/>
                <a:ea typeface="Cambria Math" pitchFamily="18" charset="0"/>
              </a:rPr>
              <a:t>E</a:t>
            </a:r>
            <a:r>
              <a:rPr lang="en-US" sz="2400" dirty="0" smtClean="0">
                <a:latin typeface="Cambria Math" pitchFamily="18" charset="0"/>
                <a:ea typeface="Cambria Math" pitchFamily="18" charset="0"/>
              </a:rPr>
              <a:t>quilibrium</a:t>
            </a:r>
            <a:endParaRPr lang="en-US" sz="2400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An Example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9248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/>
              <a:t>	A closed system initially containing </a:t>
            </a:r>
            <a:br>
              <a:rPr lang="en-US" dirty="0"/>
            </a:br>
            <a:r>
              <a:rPr lang="en-US" dirty="0" smtClean="0"/>
              <a:t>1.000 × 10</a:t>
            </a:r>
            <a:r>
              <a:rPr lang="en-US" baseline="30000" dirty="0" smtClean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baseline="30000" dirty="0" smtClean="0"/>
              <a:t>3</a:t>
            </a:r>
            <a:r>
              <a:rPr lang="en-US" dirty="0" smtClean="0"/>
              <a:t> </a:t>
            </a:r>
            <a:r>
              <a:rPr lang="en-US" i="1" dirty="0"/>
              <a:t>M</a:t>
            </a:r>
            <a:r>
              <a:rPr lang="en-US" dirty="0"/>
              <a:t> H</a:t>
            </a:r>
            <a:r>
              <a:rPr lang="en-US" baseline="-25000" dirty="0"/>
              <a:t>2</a:t>
            </a:r>
            <a:r>
              <a:rPr lang="en-US" dirty="0"/>
              <a:t> and 2.000×</a:t>
            </a:r>
            <a:r>
              <a:rPr lang="en-US" dirty="0" smtClean="0"/>
              <a:t>10</a:t>
            </a:r>
            <a:r>
              <a:rPr lang="en-US" baseline="30000" dirty="0" smtClean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baseline="30000" dirty="0" smtClean="0"/>
              <a:t>3</a:t>
            </a:r>
            <a:r>
              <a:rPr lang="en-US" dirty="0" smtClean="0"/>
              <a:t> </a:t>
            </a:r>
            <a:r>
              <a:rPr lang="en-US" i="1" dirty="0"/>
              <a:t>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I</a:t>
            </a:r>
            <a:r>
              <a:rPr lang="en-US" baseline="-25000" dirty="0"/>
              <a:t>2</a:t>
            </a:r>
            <a:r>
              <a:rPr lang="en-US" dirty="0"/>
              <a:t> at </a:t>
            </a:r>
            <a:r>
              <a:rPr lang="en-US" dirty="0" smtClean="0"/>
              <a:t>448º</a:t>
            </a:r>
            <a:r>
              <a:rPr lang="en-US" dirty="0" smtClean="0">
                <a:sym typeface="Symbol" charset="2"/>
              </a:rPr>
              <a:t>C </a:t>
            </a:r>
            <a:r>
              <a:rPr lang="en-US" dirty="0">
                <a:sym typeface="Symbol" charset="2"/>
              </a:rPr>
              <a:t>is allowed to reach equilibrium. Analysis of the equilibrium mixture shows that the concentration of HI is </a:t>
            </a:r>
            <a:r>
              <a:rPr lang="en-US" dirty="0" smtClean="0">
                <a:sym typeface="Symbol" charset="2"/>
              </a:rPr>
              <a:t>1.87 × 10</a:t>
            </a:r>
            <a:r>
              <a:rPr lang="en-US" baseline="30000" dirty="0" smtClean="0">
                <a:ea typeface="Arial" charset="0"/>
                <a:cs typeface="Arial" charset="0"/>
                <a:sym typeface="Symbol" charset="2"/>
              </a:rPr>
              <a:t>–</a:t>
            </a:r>
            <a:r>
              <a:rPr lang="en-US" baseline="30000" dirty="0" smtClean="0">
                <a:sym typeface="Symbol" charset="2"/>
              </a:rPr>
              <a:t>3</a:t>
            </a:r>
            <a:r>
              <a:rPr lang="en-US" dirty="0" smtClean="0">
                <a:sym typeface="Symbol" charset="2"/>
              </a:rPr>
              <a:t> </a:t>
            </a:r>
            <a:r>
              <a:rPr lang="en-US" i="1" dirty="0">
                <a:sym typeface="Symbol" charset="2"/>
              </a:rPr>
              <a:t>M</a:t>
            </a:r>
            <a:r>
              <a:rPr lang="en-US" dirty="0">
                <a:sym typeface="Symbol" charset="2"/>
              </a:rPr>
              <a:t>. Calculate </a:t>
            </a:r>
            <a:r>
              <a:rPr lang="en-US" i="1" dirty="0" err="1">
                <a:sym typeface="Symbol" charset="2"/>
              </a:rPr>
              <a:t>K</a:t>
            </a:r>
            <a:r>
              <a:rPr lang="en-US" i="1" baseline="-25000" dirty="0" err="1">
                <a:sym typeface="Symbol" charset="2"/>
              </a:rPr>
              <a:t>c</a:t>
            </a:r>
            <a:r>
              <a:rPr lang="en-US" i="1" dirty="0">
                <a:sym typeface="Symbol" charset="2"/>
              </a:rPr>
              <a:t> </a:t>
            </a:r>
            <a:r>
              <a:rPr lang="en-US" dirty="0">
                <a:sym typeface="Symbol" charset="2"/>
              </a:rPr>
              <a:t>at </a:t>
            </a:r>
            <a:r>
              <a:rPr lang="en-US">
                <a:sym typeface="Symbol" charset="2"/>
              </a:rPr>
              <a:t/>
            </a:r>
            <a:br>
              <a:rPr lang="en-US">
                <a:sym typeface="Symbol" charset="2"/>
              </a:rPr>
            </a:br>
            <a:r>
              <a:rPr lang="en-US" smtClean="0">
                <a:sym typeface="Symbol" charset="2"/>
              </a:rPr>
              <a:t>448</a:t>
            </a:r>
            <a:r>
              <a:rPr lang="en-US" smtClean="0">
                <a:latin typeface="Arial"/>
                <a:cs typeface="Arial"/>
                <a:sym typeface="Symbol" charset="2"/>
              </a:rPr>
              <a:t>º</a:t>
            </a:r>
            <a:r>
              <a:rPr lang="en-US" smtClean="0">
                <a:sym typeface="Symbol" charset="2"/>
              </a:rPr>
              <a:t>C </a:t>
            </a:r>
            <a:r>
              <a:rPr lang="en-US" dirty="0">
                <a:sym typeface="Symbol" charset="2"/>
              </a:rPr>
              <a:t>for the reaction taking place, which is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>
                <a:sym typeface="Symbol" charset="2"/>
              </a:rPr>
              <a:t>		H</a:t>
            </a:r>
            <a:r>
              <a:rPr lang="en-US" baseline="-25000" dirty="0">
                <a:sym typeface="Symbol" charset="2"/>
              </a:rPr>
              <a:t>2</a:t>
            </a:r>
            <a:r>
              <a:rPr lang="en-US" dirty="0">
                <a:sym typeface="Symbol" charset="2"/>
              </a:rPr>
              <a:t>(</a:t>
            </a:r>
            <a:r>
              <a:rPr lang="en-US" i="1" dirty="0">
                <a:sym typeface="Symbol" charset="2"/>
              </a:rPr>
              <a:t>g</a:t>
            </a:r>
            <a:r>
              <a:rPr lang="en-US" dirty="0">
                <a:sym typeface="Symbol" charset="2"/>
              </a:rPr>
              <a:t>) </a:t>
            </a:r>
            <a:r>
              <a:rPr lang="en-US" dirty="0" smtClean="0">
                <a:sym typeface="Symbol" charset="2"/>
              </a:rPr>
              <a:t>+ I</a:t>
            </a:r>
            <a:r>
              <a:rPr lang="en-US" baseline="-25000" dirty="0" smtClean="0">
                <a:sym typeface="Symbol" charset="2"/>
              </a:rPr>
              <a:t>2</a:t>
            </a:r>
            <a:r>
              <a:rPr lang="en-US" dirty="0" smtClean="0">
                <a:sym typeface="Symbol" charset="2"/>
              </a:rPr>
              <a:t>(</a:t>
            </a:r>
            <a:r>
              <a:rPr lang="en-US" i="1" dirty="0" smtClean="0">
                <a:sym typeface="Symbol" charset="2"/>
              </a:rPr>
              <a:t>g</a:t>
            </a:r>
            <a:r>
              <a:rPr lang="en-US" dirty="0">
                <a:sym typeface="Symbol" charset="2"/>
              </a:rPr>
              <a:t>) </a:t>
            </a:r>
            <a:r>
              <a:rPr lang="en-US" dirty="0" smtClean="0"/>
              <a:t>⇌ 2 </a:t>
            </a:r>
            <a:r>
              <a:rPr lang="en-US" dirty="0"/>
              <a:t>HI(</a:t>
            </a:r>
            <a:r>
              <a:rPr lang="en-US" i="1" dirty="0"/>
              <a:t>g</a:t>
            </a:r>
            <a:r>
              <a:rPr lang="en-US" dirty="0"/>
              <a:t>)</a:t>
            </a:r>
          </a:p>
        </p:txBody>
      </p:sp>
      <p:sp>
        <p:nvSpPr>
          <p:cNvPr id="20484" name="Rectangle 9"/>
          <p:cNvSpPr>
            <a:spLocks noChangeArrowheads="1"/>
          </p:cNvSpPr>
          <p:nvPr/>
        </p:nvSpPr>
        <p:spPr bwMode="auto">
          <a:xfrm>
            <a:off x="6191250" y="4953000"/>
            <a:ext cx="18415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 sz="36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What Do We Know?</a:t>
            </a:r>
          </a:p>
        </p:txBody>
      </p:sp>
      <p:graphicFrame>
        <p:nvGraphicFramePr>
          <p:cNvPr id="73849" name="Group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646668"/>
              </p:ext>
            </p:extLst>
          </p:nvPr>
        </p:nvGraphicFramePr>
        <p:xfrm>
          <a:off x="304800" y="1981200"/>
          <a:ext cx="8534400" cy="3680460"/>
        </p:xfrm>
        <a:graphic>
          <a:graphicData uri="http://schemas.openxmlformats.org/drawingml/2006/table">
            <a:tbl>
              <a:tblPr/>
              <a:tblGrid>
                <a:gridCol w="2057400"/>
                <a:gridCol w="2209800"/>
                <a:gridCol w="2286000"/>
                <a:gridCol w="1981200"/>
              </a:tblGrid>
              <a:tr h="742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[H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],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[I</a:t>
                      </a:r>
                      <a:r>
                        <a:rPr kumimoji="0" lang="en-US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],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[HI], </a:t>
                      </a:r>
                      <a:r>
                        <a:rPr kumimoji="0" 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Initial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Concentration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1.000 × 10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–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2.000 × 10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–</a:t>
                      </a:r>
                      <a:r>
                        <a:rPr kumimoji="0" lang="en-US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Change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in Concentration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-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(1/2) 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1.87 × 10</a:t>
                      </a:r>
                      <a:r>
                        <a:rPr kumimoji="0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–</a:t>
                      </a:r>
                      <a:r>
                        <a:rPr kumimoji="0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9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-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(1/2)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1.87 × 10</a:t>
                      </a:r>
                      <a:r>
                        <a:rPr kumimoji="0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–</a:t>
                      </a:r>
                      <a:r>
                        <a:rPr kumimoji="0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9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1.87 × 10</a:t>
                      </a:r>
                      <a:r>
                        <a:rPr kumimoji="0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–</a:t>
                      </a:r>
                      <a:r>
                        <a:rPr kumimoji="0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Concentration at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quilibrium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(1.000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 0.935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× 10</a:t>
                      </a:r>
                      <a:r>
                        <a:rPr kumimoji="0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–</a:t>
                      </a:r>
                      <a:r>
                        <a:rPr kumimoji="0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= 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0.065 × 10</a:t>
                      </a:r>
                      <a:r>
                        <a:rPr kumimoji="0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–</a:t>
                      </a:r>
                      <a:r>
                        <a:rPr kumimoji="0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(2.000 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9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 0.935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× 10</a:t>
                      </a:r>
                      <a:r>
                        <a:rPr kumimoji="0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–</a:t>
                      </a:r>
                      <a:r>
                        <a:rPr kumimoji="0" lang="en-US" altLang="zh-CN" sz="20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= 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1.065 × 10</a:t>
                      </a:r>
                      <a:r>
                        <a:rPr kumimoji="0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–</a:t>
                      </a:r>
                      <a:r>
                        <a:rPr kumimoji="0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1.87 × 10</a:t>
                      </a:r>
                      <a:r>
                        <a:rPr kumimoji="0" lang="en-US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  <a:sym typeface="Symbol" charset="2"/>
                        </a:rPr>
                        <a:t>–</a:t>
                      </a:r>
                      <a:r>
                        <a:rPr kumimoji="0" lang="en-US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And, therefore, the equilibrium constant…</a:t>
            </a:r>
          </a:p>
        </p:txBody>
      </p:sp>
      <p:grpSp>
        <p:nvGrpSpPr>
          <p:cNvPr id="25603" name="Group 23"/>
          <p:cNvGrpSpPr>
            <a:grpSpLocks/>
          </p:cNvGrpSpPr>
          <p:nvPr/>
        </p:nvGrpSpPr>
        <p:grpSpPr bwMode="auto">
          <a:xfrm>
            <a:off x="1447800" y="1752600"/>
            <a:ext cx="7239001" cy="3902075"/>
            <a:chOff x="912" y="1104"/>
            <a:chExt cx="4560" cy="2458"/>
          </a:xfrm>
        </p:grpSpPr>
        <p:grpSp>
          <p:nvGrpSpPr>
            <p:cNvPr id="25605" name="Group 22"/>
            <p:cNvGrpSpPr>
              <a:grpSpLocks/>
            </p:cNvGrpSpPr>
            <p:nvPr/>
          </p:nvGrpSpPr>
          <p:grpSpPr bwMode="auto">
            <a:xfrm>
              <a:off x="912" y="1104"/>
              <a:ext cx="1993" cy="826"/>
              <a:chOff x="912" y="1104"/>
              <a:chExt cx="1993" cy="826"/>
            </a:xfrm>
          </p:grpSpPr>
          <p:sp>
            <p:nvSpPr>
              <p:cNvPr id="25611" name="Rectangle 4"/>
              <p:cNvSpPr>
                <a:spLocks noChangeArrowheads="1"/>
              </p:cNvSpPr>
              <p:nvPr/>
            </p:nvSpPr>
            <p:spPr bwMode="auto">
              <a:xfrm>
                <a:off x="912" y="1296"/>
                <a:ext cx="713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4000" i="1"/>
                  <a:t>K</a:t>
                </a:r>
                <a:r>
                  <a:rPr lang="en-US" sz="4000" i="1" baseline="-25000"/>
                  <a:t>c</a:t>
                </a:r>
                <a:r>
                  <a:rPr lang="en-US" sz="4000"/>
                  <a:t> =</a:t>
                </a:r>
              </a:p>
            </p:txBody>
          </p:sp>
          <p:grpSp>
            <p:nvGrpSpPr>
              <p:cNvPr id="25612" name="Group 21"/>
              <p:cNvGrpSpPr>
                <a:grpSpLocks/>
              </p:cNvGrpSpPr>
              <p:nvPr/>
            </p:nvGrpSpPr>
            <p:grpSpPr bwMode="auto">
              <a:xfrm>
                <a:off x="1705" y="1104"/>
                <a:ext cx="1200" cy="826"/>
                <a:chOff x="1705" y="1104"/>
                <a:chExt cx="1200" cy="826"/>
              </a:xfrm>
            </p:grpSpPr>
            <p:sp>
              <p:nvSpPr>
                <p:cNvPr id="25613" name="Rectangle 5"/>
                <p:cNvSpPr>
                  <a:spLocks noChangeArrowheads="1"/>
                </p:cNvSpPr>
                <p:nvPr/>
              </p:nvSpPr>
              <p:spPr bwMode="auto">
                <a:xfrm>
                  <a:off x="1753" y="1104"/>
                  <a:ext cx="1121" cy="8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/>
                  <a:r>
                    <a:rPr lang="en-US" sz="4000"/>
                    <a:t>[HI]</a:t>
                  </a:r>
                  <a:r>
                    <a:rPr lang="en-US" sz="4000" baseline="30000"/>
                    <a:t>2</a:t>
                  </a:r>
                  <a:endParaRPr lang="en-US" sz="4000"/>
                </a:p>
                <a:p>
                  <a:pPr algn="ctr"/>
                  <a:r>
                    <a:rPr lang="en-US" sz="4000"/>
                    <a:t>[H</a:t>
                  </a:r>
                  <a:r>
                    <a:rPr lang="en-US" sz="4000" baseline="-25000"/>
                    <a:t>2</a:t>
                  </a:r>
                  <a:r>
                    <a:rPr lang="en-US" sz="4000"/>
                    <a:t>] [I</a:t>
                  </a:r>
                  <a:r>
                    <a:rPr lang="en-US" sz="4000" baseline="-25000"/>
                    <a:t>2</a:t>
                  </a:r>
                  <a:r>
                    <a:rPr lang="en-US" sz="4000"/>
                    <a:t>]</a:t>
                  </a:r>
                </a:p>
              </p:txBody>
            </p:sp>
            <p:sp>
              <p:nvSpPr>
                <p:cNvPr id="25614" name="Line 6"/>
                <p:cNvSpPr>
                  <a:spLocks noChangeShapeType="1"/>
                </p:cNvSpPr>
                <p:nvPr/>
              </p:nvSpPr>
              <p:spPr bwMode="auto">
                <a:xfrm>
                  <a:off x="1705" y="1554"/>
                  <a:ext cx="120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25606" name="Rectangle 10"/>
            <p:cNvSpPr>
              <a:spLocks noChangeArrowheads="1"/>
            </p:cNvSpPr>
            <p:nvPr/>
          </p:nvSpPr>
          <p:spPr bwMode="auto">
            <a:xfrm>
              <a:off x="1322" y="3120"/>
              <a:ext cx="83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4000"/>
                <a:t>=  51</a:t>
              </a:r>
            </a:p>
          </p:txBody>
        </p:sp>
        <p:grpSp>
          <p:nvGrpSpPr>
            <p:cNvPr id="25607" name="Group 20"/>
            <p:cNvGrpSpPr>
              <a:grpSpLocks/>
            </p:cNvGrpSpPr>
            <p:nvPr/>
          </p:nvGrpSpPr>
          <p:grpSpPr bwMode="auto">
            <a:xfrm>
              <a:off x="1322" y="2112"/>
              <a:ext cx="4150" cy="834"/>
              <a:chOff x="1322" y="2112"/>
              <a:chExt cx="4150" cy="834"/>
            </a:xfrm>
          </p:grpSpPr>
          <p:sp>
            <p:nvSpPr>
              <p:cNvPr id="25608" name="Rectangle 9"/>
              <p:cNvSpPr>
                <a:spLocks noChangeArrowheads="1"/>
              </p:cNvSpPr>
              <p:nvPr/>
            </p:nvSpPr>
            <p:spPr bwMode="auto">
              <a:xfrm>
                <a:off x="1322" y="2304"/>
                <a:ext cx="303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4000"/>
                  <a:t>=</a:t>
                </a:r>
              </a:p>
            </p:txBody>
          </p:sp>
          <p:sp>
            <p:nvSpPr>
              <p:cNvPr id="25609" name="Rectangle 12"/>
              <p:cNvSpPr>
                <a:spLocks noChangeArrowheads="1"/>
              </p:cNvSpPr>
              <p:nvPr/>
            </p:nvSpPr>
            <p:spPr bwMode="auto">
              <a:xfrm>
                <a:off x="1729" y="2112"/>
                <a:ext cx="3743" cy="8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4000"/>
                  <a:t>(</a:t>
                </a:r>
                <a:r>
                  <a:rPr lang="en-US" sz="4000" smtClean="0"/>
                  <a:t>1.87 × 10</a:t>
                </a:r>
                <a:r>
                  <a:rPr lang="en-US" sz="4000" baseline="30000" smtClean="0">
                    <a:ea typeface="Arial" charset="0"/>
                    <a:cs typeface="Arial" charset="0"/>
                    <a:sym typeface="Symbol" charset="2"/>
                  </a:rPr>
                  <a:t>–</a:t>
                </a:r>
                <a:r>
                  <a:rPr lang="en-US" sz="4000" baseline="30000" smtClean="0"/>
                  <a:t>3</a:t>
                </a:r>
                <a:r>
                  <a:rPr lang="en-US" sz="4000" smtClean="0"/>
                  <a:t>)</a:t>
                </a:r>
                <a:r>
                  <a:rPr lang="en-US" sz="4000" baseline="30000" smtClean="0"/>
                  <a:t>2</a:t>
                </a:r>
                <a:endParaRPr lang="en-US" sz="4000" dirty="0"/>
              </a:p>
              <a:p>
                <a:pPr algn="ctr"/>
                <a:r>
                  <a:rPr lang="en-US" sz="4000"/>
                  <a:t>(</a:t>
                </a:r>
                <a:r>
                  <a:rPr lang="en-US" sz="4000" smtClean="0"/>
                  <a:t>6.5 × 10</a:t>
                </a:r>
                <a:r>
                  <a:rPr lang="en-US" sz="4000" baseline="30000" smtClean="0">
                    <a:ea typeface="Arial" charset="0"/>
                    <a:cs typeface="Arial" charset="0"/>
                    <a:sym typeface="Symbol" charset="2"/>
                  </a:rPr>
                  <a:t>–</a:t>
                </a:r>
                <a:r>
                  <a:rPr lang="en-US" sz="4000" baseline="30000" smtClean="0"/>
                  <a:t>5</a:t>
                </a:r>
                <a:r>
                  <a:rPr lang="en-US" sz="4000"/>
                  <a:t>)(</a:t>
                </a:r>
                <a:r>
                  <a:rPr lang="en-US" sz="4000" smtClean="0"/>
                  <a:t>1.065 × 10</a:t>
                </a:r>
                <a:r>
                  <a:rPr lang="en-US" sz="4000" baseline="30000" smtClean="0">
                    <a:ea typeface="Arial" charset="0"/>
                    <a:cs typeface="Arial" charset="0"/>
                    <a:sym typeface="Symbol" charset="2"/>
                  </a:rPr>
                  <a:t>–</a:t>
                </a:r>
                <a:r>
                  <a:rPr lang="en-US" sz="4000" baseline="30000" smtClean="0"/>
                  <a:t>3</a:t>
                </a:r>
                <a:r>
                  <a:rPr lang="en-US" sz="4000" dirty="0"/>
                  <a:t>)</a:t>
                </a:r>
              </a:p>
            </p:txBody>
          </p:sp>
          <p:sp>
            <p:nvSpPr>
              <p:cNvPr id="25610" name="Line 13"/>
              <p:cNvSpPr>
                <a:spLocks noChangeShapeType="1"/>
              </p:cNvSpPr>
              <p:nvPr/>
            </p:nvSpPr>
            <p:spPr bwMode="auto">
              <a:xfrm>
                <a:off x="1831" y="2544"/>
                <a:ext cx="360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1447800"/>
          </a:xfrm>
        </p:spPr>
        <p:txBody>
          <a:bodyPr/>
          <a:lstStyle/>
          <a:p>
            <a:r>
              <a:rPr lang="en-US" sz="3200" b="1" dirty="0"/>
              <a:t>Calculating Equilibrium </a:t>
            </a:r>
            <a:r>
              <a:rPr lang="en-US" sz="3200" b="1" dirty="0" smtClean="0"/>
              <a:t>Concentrations</a:t>
            </a:r>
            <a:br>
              <a:rPr lang="en-US" sz="3200" b="1" dirty="0" smtClean="0"/>
            </a:br>
            <a:r>
              <a:rPr lang="en-US" sz="3200" b="1" dirty="0" smtClean="0"/>
              <a:t>(</a:t>
            </a:r>
            <a:r>
              <a:rPr lang="en-US" sz="2800" b="1" u="sng" dirty="0" smtClean="0"/>
              <a:t>using the same </a:t>
            </a:r>
            <a:r>
              <a:rPr lang="en-US" sz="2800" b="1" u="sng" dirty="0" smtClean="0">
                <a:solidFill>
                  <a:srgbClr val="FF0000"/>
                </a:solidFill>
              </a:rPr>
              <a:t>ICE approach</a:t>
            </a:r>
            <a:r>
              <a:rPr lang="en-US" sz="3200" b="1" dirty="0" smtClean="0"/>
              <a:t>)</a:t>
            </a:r>
            <a:endParaRPr lang="en-US" sz="3200" b="1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838200" y="3200400"/>
            <a:ext cx="7620000" cy="2362200"/>
          </a:xfrm>
        </p:spPr>
        <p:txBody>
          <a:bodyPr/>
          <a:lstStyle/>
          <a:p>
            <a:pPr marL="0" indent="0">
              <a:buNone/>
            </a:pPr>
            <a:r>
              <a:rPr lang="en-US" sz="3000" dirty="0"/>
              <a:t>If you know the </a:t>
            </a:r>
            <a:r>
              <a:rPr lang="en-US" sz="3000" u="sng" dirty="0"/>
              <a:t>equilibrium constant</a:t>
            </a:r>
            <a:r>
              <a:rPr lang="en-US" sz="3000" dirty="0"/>
              <a:t>, you can find </a:t>
            </a:r>
            <a:r>
              <a:rPr lang="en-US" sz="3000" u="sng" dirty="0"/>
              <a:t>equilibrium concentrations</a:t>
            </a:r>
            <a:r>
              <a:rPr lang="en-US" sz="3000" dirty="0"/>
              <a:t> from initial concentrations and changes (based on stoichiometry</a:t>
            </a:r>
            <a:r>
              <a:rPr lang="en-US" sz="3000" dirty="0" smtClean="0"/>
              <a:t>).</a:t>
            </a:r>
          </a:p>
          <a:p>
            <a:pPr marL="0" indent="0">
              <a:lnSpc>
                <a:spcPts val="1500"/>
              </a:lnSpc>
              <a:buNone/>
            </a:pPr>
            <a:endParaRPr lang="en-US" sz="30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82000" cy="3352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sz="3000" dirty="0"/>
              <a:t>A 1.000 L flask is filled with 1.000 </a:t>
            </a:r>
            <a:r>
              <a:rPr lang="en-US" sz="3000" dirty="0" err="1"/>
              <a:t>mol</a:t>
            </a:r>
            <a:r>
              <a:rPr lang="en-US" sz="3000" dirty="0"/>
              <a:t> of H</a:t>
            </a:r>
            <a:r>
              <a:rPr lang="en-US" sz="3000" baseline="-25000" dirty="0"/>
              <a:t>2</a:t>
            </a:r>
            <a:r>
              <a:rPr lang="en-US" sz="3000" dirty="0"/>
              <a:t>(</a:t>
            </a:r>
            <a:r>
              <a:rPr lang="en-US" sz="3000" i="1" dirty="0"/>
              <a:t>g</a:t>
            </a:r>
            <a:r>
              <a:rPr lang="en-US" sz="3000" dirty="0"/>
              <a:t>) and 2.000 </a:t>
            </a:r>
            <a:r>
              <a:rPr lang="en-US" sz="3000" dirty="0" err="1"/>
              <a:t>mol</a:t>
            </a:r>
            <a:r>
              <a:rPr lang="en-US" sz="3000" dirty="0"/>
              <a:t> of I</a:t>
            </a:r>
            <a:r>
              <a:rPr lang="en-US" sz="3000" baseline="-25000" dirty="0"/>
              <a:t>2</a:t>
            </a:r>
            <a:r>
              <a:rPr lang="en-US" sz="3000" dirty="0"/>
              <a:t>(</a:t>
            </a:r>
            <a:r>
              <a:rPr lang="en-US" sz="3000" i="1" dirty="0"/>
              <a:t>g</a:t>
            </a:r>
            <a:r>
              <a:rPr lang="en-US" sz="3000" dirty="0"/>
              <a:t>) at 448 </a:t>
            </a:r>
            <a:r>
              <a:rPr lang="en-US" sz="3000" dirty="0" smtClean="0">
                <a:latin typeface="Arial"/>
                <a:ea typeface="Arial" charset="0"/>
                <a:cs typeface="Arial"/>
              </a:rPr>
              <a:t>°</a:t>
            </a:r>
            <a:r>
              <a:rPr lang="en-US" sz="3000" dirty="0" smtClean="0">
                <a:ea typeface="Arial" charset="0"/>
                <a:cs typeface="Arial" charset="0"/>
              </a:rPr>
              <a:t>C</a:t>
            </a:r>
            <a:r>
              <a:rPr lang="en-US" sz="3000" dirty="0">
                <a:ea typeface="Arial" charset="0"/>
                <a:cs typeface="Arial" charset="0"/>
              </a:rPr>
              <a:t>. Given a </a:t>
            </a:r>
            <a:r>
              <a:rPr lang="en-US" sz="3000" i="1" dirty="0" err="1">
                <a:ea typeface="Arial" charset="0"/>
                <a:cs typeface="Arial" charset="0"/>
              </a:rPr>
              <a:t>K</a:t>
            </a:r>
            <a:r>
              <a:rPr lang="en-US" sz="3000" i="1" baseline="-25000" dirty="0" err="1">
                <a:ea typeface="Arial" charset="0"/>
                <a:cs typeface="Arial" charset="0"/>
              </a:rPr>
              <a:t>c</a:t>
            </a:r>
            <a:r>
              <a:rPr lang="en-US" sz="3000" dirty="0">
                <a:ea typeface="Arial" charset="0"/>
                <a:cs typeface="Arial" charset="0"/>
              </a:rPr>
              <a:t> of 50.5 at 448 °C, what are the equilibrium concentrations of H</a:t>
            </a:r>
            <a:r>
              <a:rPr lang="en-US" sz="3000" baseline="-25000" dirty="0">
                <a:ea typeface="Arial" charset="0"/>
                <a:cs typeface="Arial" charset="0"/>
              </a:rPr>
              <a:t>2</a:t>
            </a:r>
            <a:r>
              <a:rPr lang="en-US" sz="3000" dirty="0">
                <a:ea typeface="Arial" charset="0"/>
                <a:cs typeface="Arial" charset="0"/>
              </a:rPr>
              <a:t>, I</a:t>
            </a:r>
            <a:r>
              <a:rPr lang="en-US" sz="3000" baseline="-25000" dirty="0">
                <a:ea typeface="Arial" charset="0"/>
                <a:cs typeface="Arial" charset="0"/>
              </a:rPr>
              <a:t>2</a:t>
            </a:r>
            <a:r>
              <a:rPr lang="en-US" sz="3000" dirty="0">
                <a:ea typeface="Arial" charset="0"/>
                <a:cs typeface="Arial" charset="0"/>
              </a:rPr>
              <a:t>, and HI</a:t>
            </a:r>
            <a:r>
              <a:rPr lang="en-US" sz="3000" dirty="0" smtClean="0">
                <a:ea typeface="Arial" charset="0"/>
                <a:cs typeface="Arial" charset="0"/>
              </a:rPr>
              <a:t>?</a:t>
            </a:r>
          </a:p>
          <a:p>
            <a:pPr marL="0" indent="0">
              <a:lnSpc>
                <a:spcPts val="2600"/>
              </a:lnSpc>
              <a:buFontTx/>
              <a:buNone/>
            </a:pPr>
            <a:endParaRPr lang="en-US" dirty="0">
              <a:ea typeface="Arial" charset="0"/>
              <a:cs typeface="Arial" charset="0"/>
            </a:endParaRPr>
          </a:p>
          <a:p>
            <a:pPr marL="0" indent="0">
              <a:buFontTx/>
              <a:buNone/>
            </a:pPr>
            <a:r>
              <a:rPr lang="en-US" dirty="0">
                <a:ea typeface="Arial" charset="0"/>
                <a:cs typeface="Arial" charset="0"/>
              </a:rPr>
              <a:t>		</a:t>
            </a:r>
            <a:r>
              <a:rPr lang="en-US" dirty="0" smtClean="0">
                <a:ea typeface="Arial" charset="0"/>
                <a:cs typeface="Arial" charset="0"/>
              </a:rPr>
              <a:t>H</a:t>
            </a:r>
            <a:r>
              <a:rPr lang="en-US" baseline="-25000" dirty="0" smtClean="0">
                <a:ea typeface="Arial" charset="0"/>
                <a:cs typeface="Arial" charset="0"/>
              </a:rPr>
              <a:t>2</a:t>
            </a:r>
            <a:r>
              <a:rPr lang="en-US" dirty="0" smtClean="0">
                <a:ea typeface="Arial" charset="0"/>
                <a:cs typeface="Arial" charset="0"/>
              </a:rPr>
              <a:t>(</a:t>
            </a:r>
            <a:r>
              <a:rPr lang="en-US" i="1" dirty="0" smtClean="0">
                <a:ea typeface="Arial" charset="0"/>
                <a:cs typeface="Arial" charset="0"/>
              </a:rPr>
              <a:t>g</a:t>
            </a:r>
            <a:r>
              <a:rPr lang="en-US" dirty="0">
                <a:ea typeface="Arial" charset="0"/>
                <a:cs typeface="Arial" charset="0"/>
              </a:rPr>
              <a:t>) </a:t>
            </a:r>
            <a:r>
              <a:rPr lang="en-US" dirty="0" smtClean="0">
                <a:ea typeface="Arial" charset="0"/>
                <a:cs typeface="Arial" charset="0"/>
              </a:rPr>
              <a:t>+ </a:t>
            </a:r>
            <a:r>
              <a:rPr lang="en-US" dirty="0">
                <a:ea typeface="Arial" charset="0"/>
                <a:cs typeface="Arial" charset="0"/>
              </a:rPr>
              <a:t>I</a:t>
            </a:r>
            <a:r>
              <a:rPr lang="en-US" baseline="-25000" dirty="0">
                <a:ea typeface="Arial" charset="0"/>
                <a:cs typeface="Arial" charset="0"/>
              </a:rPr>
              <a:t>2</a:t>
            </a:r>
            <a:r>
              <a:rPr lang="en-US" dirty="0">
                <a:ea typeface="Arial" charset="0"/>
                <a:cs typeface="Arial" charset="0"/>
              </a:rPr>
              <a:t>(</a:t>
            </a:r>
            <a:r>
              <a:rPr lang="en-US" i="1" dirty="0">
                <a:ea typeface="Arial" charset="0"/>
                <a:cs typeface="Arial" charset="0"/>
              </a:rPr>
              <a:t>g</a:t>
            </a:r>
            <a:r>
              <a:rPr lang="en-US" dirty="0">
                <a:ea typeface="Arial" charset="0"/>
                <a:cs typeface="Arial" charset="0"/>
              </a:rPr>
              <a:t>) </a:t>
            </a:r>
            <a:r>
              <a:rPr lang="en-US" dirty="0"/>
              <a:t>⇌ </a:t>
            </a:r>
            <a:r>
              <a:rPr lang="en-US" dirty="0" smtClean="0"/>
              <a:t>2 </a:t>
            </a:r>
            <a:r>
              <a:rPr lang="en-US" dirty="0"/>
              <a:t>HI(</a:t>
            </a:r>
            <a:r>
              <a:rPr lang="en-US" i="1" dirty="0"/>
              <a:t>g</a:t>
            </a:r>
            <a:r>
              <a:rPr lang="en-US" dirty="0"/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257783"/>
              </p:ext>
            </p:extLst>
          </p:nvPr>
        </p:nvGraphicFramePr>
        <p:xfrm>
          <a:off x="381000" y="3657600"/>
          <a:ext cx="8305800" cy="2667000"/>
        </p:xfrm>
        <a:graphic>
          <a:graphicData uri="http://schemas.openxmlformats.org/drawingml/2006/table">
            <a:tbl>
              <a:tblPr/>
              <a:tblGrid>
                <a:gridCol w="2719003"/>
                <a:gridCol w="1909529"/>
                <a:gridCol w="1909529"/>
                <a:gridCol w="1767739"/>
              </a:tblGrid>
              <a:tr h="8890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initial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concentration (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1.000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2.000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change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 in concentration (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8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  <a:endParaRPr kumimoji="0" 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–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+2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equilibrium 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concentration (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M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)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1.000 –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2.000 –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L="91432" marR="914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1447800"/>
          </a:xfrm>
        </p:spPr>
        <p:txBody>
          <a:bodyPr/>
          <a:lstStyle/>
          <a:p>
            <a:r>
              <a:rPr lang="en-US" sz="3000" dirty="0"/>
              <a:t>Set up the equilibrium constant expression, filling in equilibrium concentrations from </a:t>
            </a:r>
            <a:r>
              <a:rPr lang="en-US" sz="3000" dirty="0" smtClean="0"/>
              <a:t>the </a:t>
            </a:r>
            <a:r>
              <a:rPr lang="en-US" sz="3000" dirty="0"/>
              <a:t>table.</a:t>
            </a:r>
          </a:p>
          <a:p>
            <a:pPr>
              <a:buFontTx/>
              <a:buNone/>
            </a:pPr>
            <a:r>
              <a:rPr lang="en-US" dirty="0"/>
              <a:t>		</a:t>
            </a:r>
          </a:p>
        </p:txBody>
      </p:sp>
      <p:sp>
        <p:nvSpPr>
          <p:cNvPr id="30725" name="TextBox 5"/>
          <p:cNvSpPr txBox="1">
            <a:spLocks noChangeArrowheads="1"/>
          </p:cNvSpPr>
          <p:nvPr/>
        </p:nvSpPr>
        <p:spPr bwMode="auto">
          <a:xfrm>
            <a:off x="381000" y="4191000"/>
            <a:ext cx="83820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457200" indent="-457200">
              <a:buFontTx/>
              <a:buChar char="•"/>
            </a:pPr>
            <a:r>
              <a:rPr lang="en-US" sz="3200" dirty="0"/>
              <a:t>Solving for </a:t>
            </a:r>
            <a:r>
              <a:rPr lang="en-US" sz="3200" i="1" dirty="0"/>
              <a:t>x</a:t>
            </a:r>
            <a:r>
              <a:rPr lang="en-US" sz="3200" dirty="0"/>
              <a:t> is done using the quadratic formula, resulting in </a:t>
            </a:r>
            <a:r>
              <a:rPr lang="en-US" sz="3200" i="1" dirty="0"/>
              <a:t>x</a:t>
            </a:r>
            <a:r>
              <a:rPr lang="en-US" sz="3200" dirty="0"/>
              <a:t> = 2.323 </a:t>
            </a:r>
            <a:r>
              <a:rPr lang="en-US" sz="3200" i="1" dirty="0"/>
              <a:t>or </a:t>
            </a:r>
            <a:r>
              <a:rPr lang="en-US" sz="3200" dirty="0"/>
              <a:t>0.935.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41" y="2667000"/>
            <a:ext cx="7569459" cy="95225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8153400" cy="4648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Since </a:t>
            </a:r>
            <a:r>
              <a:rPr lang="en-US" i="1" dirty="0"/>
              <a:t>x</a:t>
            </a:r>
            <a:r>
              <a:rPr lang="en-US" dirty="0"/>
              <a:t> must be subtracted from 1.000 </a:t>
            </a:r>
            <a:r>
              <a:rPr lang="en-US" i="1" dirty="0"/>
              <a:t>M</a:t>
            </a:r>
            <a:r>
              <a:rPr lang="en-US" dirty="0"/>
              <a:t>, 2.323 makes no physical sense. (It results in a negative concentration!) </a:t>
            </a:r>
            <a:r>
              <a:rPr lang="en-US" dirty="0">
                <a:solidFill>
                  <a:srgbClr val="FF0000"/>
                </a:solidFill>
              </a:rPr>
              <a:t>The value </a:t>
            </a:r>
            <a:r>
              <a:rPr lang="en-US" i="1" dirty="0">
                <a:solidFill>
                  <a:srgbClr val="FF0000"/>
                </a:solidFill>
              </a:rPr>
              <a:t>must </a:t>
            </a:r>
            <a:r>
              <a:rPr lang="en-US" dirty="0">
                <a:solidFill>
                  <a:srgbClr val="FF0000"/>
                </a:solidFill>
              </a:rPr>
              <a:t>be 0.935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So</a:t>
            </a:r>
            <a:endParaRPr lang="en-US" dirty="0"/>
          </a:p>
          <a:p>
            <a:r>
              <a:rPr lang="en-US" dirty="0"/>
              <a:t>[H</a:t>
            </a:r>
            <a:r>
              <a:rPr lang="en-US" baseline="-25000" dirty="0"/>
              <a:t>2</a:t>
            </a:r>
            <a:r>
              <a:rPr lang="en-US" dirty="0"/>
              <a:t>]</a:t>
            </a:r>
            <a:r>
              <a:rPr lang="en-US" baseline="-25000" dirty="0" err="1"/>
              <a:t>eq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dirty="0"/>
              <a:t>1.000 – 0.935 </a:t>
            </a:r>
            <a:r>
              <a:rPr lang="en-US" dirty="0" smtClean="0"/>
              <a:t>= </a:t>
            </a:r>
            <a:r>
              <a:rPr lang="en-US" dirty="0"/>
              <a:t>0.065 M</a:t>
            </a:r>
          </a:p>
          <a:p>
            <a:r>
              <a:rPr lang="en-US" dirty="0"/>
              <a:t>[I</a:t>
            </a:r>
            <a:r>
              <a:rPr lang="en-US" baseline="-25000" dirty="0"/>
              <a:t>2</a:t>
            </a:r>
            <a:r>
              <a:rPr lang="en-US" dirty="0"/>
              <a:t>]</a:t>
            </a:r>
            <a:r>
              <a:rPr lang="en-US" baseline="-25000" dirty="0" err="1"/>
              <a:t>eq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dirty="0"/>
              <a:t>2.000 – 0.935 </a:t>
            </a:r>
            <a:r>
              <a:rPr lang="en-US" dirty="0" smtClean="0"/>
              <a:t>= </a:t>
            </a:r>
            <a:r>
              <a:rPr lang="en-US" dirty="0"/>
              <a:t>1.065 M</a:t>
            </a:r>
          </a:p>
          <a:p>
            <a:r>
              <a:rPr lang="en-US" dirty="0"/>
              <a:t>[HI]</a:t>
            </a:r>
            <a:r>
              <a:rPr lang="en-US" baseline="-25000" dirty="0" err="1"/>
              <a:t>eq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dirty="0"/>
              <a:t>2(0.935) </a:t>
            </a:r>
            <a:r>
              <a:rPr lang="en-US" dirty="0" smtClean="0"/>
              <a:t>= 1.87 </a:t>
            </a:r>
            <a:r>
              <a:rPr lang="en-US" dirty="0"/>
              <a:t>M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239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Is a Mixture in Equilibrium? </a:t>
            </a: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Which </a:t>
            </a:r>
            <a:r>
              <a:rPr lang="en-US" sz="3200" b="1" dirty="0"/>
              <a:t>Way Does the Reaction Go?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05000"/>
            <a:ext cx="8305800" cy="3810000"/>
          </a:xfrm>
        </p:spPr>
        <p:txBody>
          <a:bodyPr/>
          <a:lstStyle/>
          <a:p>
            <a:pPr eaLnBrk="1" hangingPunct="1"/>
            <a:r>
              <a:rPr lang="en-US" sz="2800" dirty="0"/>
              <a:t>To answer these questions, we calculate the </a:t>
            </a:r>
            <a:r>
              <a:rPr lang="en-US" sz="2800" b="1" dirty="0"/>
              <a:t>reaction quotient</a:t>
            </a:r>
            <a:r>
              <a:rPr lang="en-US" sz="2800" dirty="0"/>
              <a:t>, </a:t>
            </a:r>
            <a:r>
              <a:rPr lang="en-US" sz="2800" i="1" dirty="0"/>
              <a:t>Q</a:t>
            </a:r>
            <a:r>
              <a:rPr lang="en-US" sz="2800" dirty="0"/>
              <a:t>.</a:t>
            </a:r>
          </a:p>
          <a:p>
            <a:pPr eaLnBrk="1" hangingPunct="1"/>
            <a:r>
              <a:rPr lang="en-US" sz="2800" dirty="0"/>
              <a:t>Q looks like the equilibrium constant, </a:t>
            </a:r>
            <a:r>
              <a:rPr lang="en-US" sz="2800" i="1" dirty="0"/>
              <a:t>K</a:t>
            </a:r>
            <a:r>
              <a:rPr lang="en-US" sz="2800" dirty="0"/>
              <a:t>, but the values used to calculate it are the </a:t>
            </a:r>
            <a:r>
              <a:rPr lang="en-US" sz="2800" dirty="0">
                <a:solidFill>
                  <a:srgbClr val="FF0000"/>
                </a:solidFill>
              </a:rPr>
              <a:t>current</a:t>
            </a:r>
            <a:r>
              <a:rPr lang="en-US" sz="2800" dirty="0"/>
              <a:t> conditions, </a:t>
            </a:r>
            <a:r>
              <a:rPr lang="en-US" sz="2800" dirty="0">
                <a:solidFill>
                  <a:srgbClr val="FF0000"/>
                </a:solidFill>
              </a:rPr>
              <a:t>not necessarily </a:t>
            </a:r>
            <a:r>
              <a:rPr lang="en-US" sz="2800" dirty="0"/>
              <a:t>those for equilibrium.</a:t>
            </a:r>
          </a:p>
          <a:p>
            <a:pPr eaLnBrk="1" hangingPunct="1"/>
            <a:r>
              <a:rPr lang="en-US" sz="2800" dirty="0"/>
              <a:t>To calculate </a:t>
            </a:r>
            <a:r>
              <a:rPr lang="en-US" sz="2800" i="1" dirty="0"/>
              <a:t>Q</a:t>
            </a:r>
            <a:r>
              <a:rPr lang="en-US" sz="2800" dirty="0"/>
              <a:t>, one substitutes the initial concentrations of reactants and products into the equilibrium expression.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Comparing </a:t>
            </a:r>
            <a:r>
              <a:rPr lang="en-US" sz="3200" b="1" i="1" dirty="0"/>
              <a:t>Q</a:t>
            </a:r>
            <a:r>
              <a:rPr lang="en-US" sz="3200" b="1" dirty="0"/>
              <a:t> and </a:t>
            </a:r>
            <a:r>
              <a:rPr lang="en-US" sz="3200" b="1" i="1" dirty="0"/>
              <a:t>K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4419600" cy="4724400"/>
          </a:xfrm>
        </p:spPr>
        <p:txBody>
          <a:bodyPr/>
          <a:lstStyle/>
          <a:p>
            <a:r>
              <a:rPr lang="en-US" sz="2800" dirty="0"/>
              <a:t>Nature wants </a:t>
            </a:r>
            <a:r>
              <a:rPr lang="en-US" sz="2800" i="1" dirty="0"/>
              <a:t>Q</a:t>
            </a:r>
            <a:r>
              <a:rPr lang="en-US" sz="2800" dirty="0"/>
              <a:t> = </a:t>
            </a:r>
            <a:r>
              <a:rPr lang="en-US" sz="2800" i="1" dirty="0"/>
              <a:t>K.</a:t>
            </a:r>
          </a:p>
          <a:p>
            <a:r>
              <a:rPr lang="en-US" sz="2800" dirty="0"/>
              <a:t>If </a:t>
            </a:r>
            <a:r>
              <a:rPr lang="en-US" sz="2800" i="1" dirty="0"/>
              <a:t>Q</a:t>
            </a:r>
            <a:r>
              <a:rPr lang="en-US" sz="2800" dirty="0"/>
              <a:t> &lt; </a:t>
            </a:r>
            <a:r>
              <a:rPr lang="en-US" sz="2800" i="1" dirty="0"/>
              <a:t>K</a:t>
            </a:r>
            <a:r>
              <a:rPr lang="en-US" sz="2800" dirty="0"/>
              <a:t>, nature will make the reaction proceed to products.</a:t>
            </a:r>
          </a:p>
          <a:p>
            <a:r>
              <a:rPr lang="en-US" sz="2800" dirty="0"/>
              <a:t>If </a:t>
            </a:r>
            <a:r>
              <a:rPr lang="en-US" sz="2800" i="1" dirty="0"/>
              <a:t>Q</a:t>
            </a:r>
            <a:r>
              <a:rPr lang="en-US" sz="2800" dirty="0"/>
              <a:t> = </a:t>
            </a:r>
            <a:r>
              <a:rPr lang="en-US" sz="2800" i="1" dirty="0"/>
              <a:t>K</a:t>
            </a:r>
            <a:r>
              <a:rPr lang="en-US" sz="2800" dirty="0"/>
              <a:t>, the reaction is in equilibrium.</a:t>
            </a:r>
          </a:p>
          <a:p>
            <a:r>
              <a:rPr lang="en-US" sz="2800" dirty="0"/>
              <a:t>If </a:t>
            </a:r>
            <a:r>
              <a:rPr lang="en-US" sz="2800" i="1" dirty="0"/>
              <a:t>Q</a:t>
            </a:r>
            <a:r>
              <a:rPr lang="en-US" sz="2800" dirty="0"/>
              <a:t> &gt; </a:t>
            </a:r>
            <a:r>
              <a:rPr lang="en-US" sz="2800" i="1" dirty="0"/>
              <a:t>K</a:t>
            </a:r>
            <a:r>
              <a:rPr lang="en-US" sz="2800" dirty="0"/>
              <a:t>, nature will make the reaction proceed to reactants.</a:t>
            </a:r>
          </a:p>
        </p:txBody>
      </p:sp>
      <p:pic>
        <p:nvPicPr>
          <p:cNvPr id="5" name="Picture 4" descr="15_08_Figure.jpg"/>
          <p:cNvPicPr>
            <a:picLocks noChangeAspect="1"/>
          </p:cNvPicPr>
          <p:nvPr/>
        </p:nvPicPr>
        <p:blipFill>
          <a:blip r:embed="rId2"/>
          <a:srcRect b="2546"/>
          <a:stretch>
            <a:fillRect/>
          </a:stretch>
        </p:blipFill>
        <p:spPr>
          <a:xfrm>
            <a:off x="5029198" y="1219200"/>
            <a:ext cx="3380717" cy="46634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"/>
          <p:cNvSpPr>
            <a:spLocks noChangeArrowheads="1"/>
          </p:cNvSpPr>
          <p:nvPr/>
        </p:nvSpPr>
        <p:spPr bwMode="auto">
          <a:xfrm>
            <a:off x="338138" y="44450"/>
            <a:ext cx="806291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2282825" indent="-2282825"/>
            <a:r>
              <a:rPr lang="en-US" altLang="zh-CN" sz="2000" b="1">
                <a:solidFill>
                  <a:srgbClr val="3366FF"/>
                </a:solidFill>
              </a:rPr>
              <a:t>Exercise </a:t>
            </a:r>
            <a:r>
              <a:rPr lang="en-US" altLang="zh-CN" sz="2000">
                <a:latin typeface="HelveticaNeue-Bold" charset="-52"/>
              </a:rPr>
              <a:t>Predicting the Direction of Approach to Equilibrium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98437" y="2565400"/>
            <a:ext cx="8658225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763" indent="-476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zh-CN" sz="1800" b="1" dirty="0">
                <a:solidFill>
                  <a:srgbClr val="3366FF"/>
                </a:solidFill>
              </a:rPr>
              <a:t>Solution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zh-CN" sz="1800" dirty="0"/>
              <a:t>The </a:t>
            </a:r>
            <a:r>
              <a:rPr lang="en-US" altLang="zh-CN" sz="1800" dirty="0" smtClean="0">
                <a:solidFill>
                  <a:srgbClr val="FF0000"/>
                </a:solidFill>
              </a:rPr>
              <a:t>current</a:t>
            </a:r>
            <a:r>
              <a:rPr lang="en-US" altLang="zh-CN" sz="1800" dirty="0" smtClean="0"/>
              <a:t> concentrations </a:t>
            </a:r>
            <a:r>
              <a:rPr lang="en-US" altLang="zh-CN" sz="1800" dirty="0"/>
              <a:t>are</a:t>
            </a:r>
          </a:p>
          <a:p>
            <a:pPr eaLnBrk="1" hangingPunct="1"/>
            <a:endParaRPr lang="en-US" altLang="zh-CN" sz="1800" dirty="0"/>
          </a:p>
          <a:p>
            <a:pPr eaLnBrk="1" hangingPunct="1"/>
            <a:endParaRPr lang="en-US" altLang="zh-CN" sz="1800" dirty="0"/>
          </a:p>
          <a:p>
            <a:pPr eaLnBrk="1" hangingPunct="1"/>
            <a:endParaRPr lang="en-US" altLang="zh-CN" sz="1800" dirty="0"/>
          </a:p>
          <a:p>
            <a:pPr eaLnBrk="1" hangingPunct="1"/>
            <a:endParaRPr lang="en-US" altLang="zh-CN" sz="1800" dirty="0"/>
          </a:p>
          <a:p>
            <a:pPr eaLnBrk="1" hangingPunct="1"/>
            <a:r>
              <a:rPr lang="en-US" altLang="zh-CN" sz="1800" dirty="0"/>
              <a:t>The reaction </a:t>
            </a:r>
            <a:r>
              <a:rPr lang="en-US" altLang="zh-CN" sz="1800" dirty="0">
                <a:solidFill>
                  <a:srgbClr val="FF0000"/>
                </a:solidFill>
              </a:rPr>
              <a:t>quotient</a:t>
            </a:r>
            <a:r>
              <a:rPr lang="en-US" altLang="zh-CN" sz="1800" dirty="0"/>
              <a:t> is therefore </a:t>
            </a:r>
          </a:p>
        </p:txBody>
      </p:sp>
      <p:sp>
        <p:nvSpPr>
          <p:cNvPr id="61444" name="Text Box 8"/>
          <p:cNvSpPr txBox="1">
            <a:spLocks noChangeArrowheads="1"/>
          </p:cNvSpPr>
          <p:nvPr/>
        </p:nvSpPr>
        <p:spPr bwMode="auto">
          <a:xfrm>
            <a:off x="342900" y="739775"/>
            <a:ext cx="8343900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zh-CN" sz="1800" dirty="0"/>
              <a:t>At 448 </a:t>
            </a:r>
            <a:r>
              <a:rPr lang="en-US" altLang="zh-CN" sz="1800" dirty="0">
                <a:sym typeface="Symbol" pitchFamily="18" charset="2"/>
              </a:rPr>
              <a:t></a:t>
            </a:r>
            <a:r>
              <a:rPr lang="en-US" altLang="zh-CN" sz="1800" dirty="0"/>
              <a:t>C the equilibrium constant </a:t>
            </a:r>
            <a:r>
              <a:rPr lang="en-US" altLang="zh-CN" sz="1800" i="1" dirty="0" err="1"/>
              <a:t>K</a:t>
            </a:r>
            <a:r>
              <a:rPr lang="en-US" altLang="zh-CN" sz="1800" i="1" baseline="-25000" dirty="0" err="1"/>
              <a:t>c</a:t>
            </a:r>
            <a:r>
              <a:rPr lang="en-US" altLang="zh-CN" sz="1800" i="1" dirty="0"/>
              <a:t> </a:t>
            </a:r>
            <a:r>
              <a:rPr lang="en-US" altLang="zh-CN" sz="1800" dirty="0"/>
              <a:t>for the reaction</a:t>
            </a:r>
          </a:p>
          <a:p>
            <a:pPr eaLnBrk="1" hangingPunct="1"/>
            <a:endParaRPr lang="en-US" altLang="zh-CN" sz="1800" dirty="0"/>
          </a:p>
          <a:p>
            <a:pPr eaLnBrk="1" hangingPunct="1"/>
            <a:endParaRPr lang="en-US" altLang="zh-CN" sz="1800" dirty="0"/>
          </a:p>
          <a:p>
            <a:pPr eaLnBrk="1" hangingPunct="1"/>
            <a:r>
              <a:rPr lang="en-US" altLang="zh-CN" sz="1800" dirty="0"/>
              <a:t>is 50.5. Predict in which direction the reaction proceeds to reach equilibrium if we start with 2.0 </a:t>
            </a:r>
            <a:r>
              <a:rPr lang="en-US" altLang="zh-CN" sz="1800" dirty="0">
                <a:sym typeface="Symbol" pitchFamily="18" charset="2"/>
              </a:rPr>
              <a:t> 10</a:t>
            </a:r>
            <a:r>
              <a:rPr lang="en-US" altLang="zh-CN" sz="1800" baseline="30000" dirty="0">
                <a:sym typeface="Symbol" pitchFamily="18" charset="2"/>
              </a:rPr>
              <a:t>2</a:t>
            </a:r>
            <a:r>
              <a:rPr lang="en-US" altLang="zh-CN" sz="1800" dirty="0">
                <a:sym typeface="Symbol" pitchFamily="18" charset="2"/>
              </a:rPr>
              <a:t> </a:t>
            </a:r>
            <a:r>
              <a:rPr lang="en-US" altLang="zh-CN" sz="1800" dirty="0" err="1">
                <a:sym typeface="Symbol" pitchFamily="18" charset="2"/>
              </a:rPr>
              <a:t>mol</a:t>
            </a:r>
            <a:r>
              <a:rPr lang="en-US" altLang="zh-CN" sz="1800" dirty="0">
                <a:sym typeface="Symbol" pitchFamily="18" charset="2"/>
              </a:rPr>
              <a:t> </a:t>
            </a:r>
            <a:r>
              <a:rPr lang="en-US" altLang="zh-CN" sz="1800" dirty="0"/>
              <a:t>of HI, 1.0 </a:t>
            </a:r>
            <a:r>
              <a:rPr lang="en-US" altLang="zh-CN" sz="1800" dirty="0">
                <a:sym typeface="Symbol" pitchFamily="18" charset="2"/>
              </a:rPr>
              <a:t> 10</a:t>
            </a:r>
            <a:r>
              <a:rPr lang="en-US" altLang="zh-CN" sz="1800" baseline="30000" dirty="0">
                <a:sym typeface="Symbol" pitchFamily="18" charset="2"/>
              </a:rPr>
              <a:t>2</a:t>
            </a:r>
            <a:r>
              <a:rPr lang="en-US" altLang="zh-CN" sz="1800" dirty="0">
                <a:sym typeface="Symbol" pitchFamily="18" charset="2"/>
              </a:rPr>
              <a:t> </a:t>
            </a:r>
            <a:r>
              <a:rPr lang="en-US" altLang="zh-CN" sz="1800" dirty="0" err="1">
                <a:sym typeface="Symbol" pitchFamily="18" charset="2"/>
              </a:rPr>
              <a:t>mol</a:t>
            </a:r>
            <a:r>
              <a:rPr lang="en-US" altLang="zh-CN" sz="1800" dirty="0">
                <a:sym typeface="Symbol" pitchFamily="18" charset="2"/>
              </a:rPr>
              <a:t> </a:t>
            </a:r>
            <a:r>
              <a:rPr lang="en-US" altLang="zh-CN" sz="1800" dirty="0"/>
              <a:t>of H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, and 3.0 </a:t>
            </a:r>
            <a:r>
              <a:rPr lang="en-US" altLang="zh-CN" sz="1800" dirty="0">
                <a:sym typeface="Symbol" pitchFamily="18" charset="2"/>
              </a:rPr>
              <a:t></a:t>
            </a:r>
            <a:r>
              <a:rPr lang="en-US" altLang="zh-CN" sz="1800" dirty="0"/>
              <a:t> 10</a:t>
            </a:r>
            <a:r>
              <a:rPr lang="en-US" altLang="zh-CN" sz="1800" baseline="30000" dirty="0">
                <a:sym typeface="Symbol" pitchFamily="18" charset="2"/>
              </a:rPr>
              <a:t>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 of I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 in a 2.00-L container.</a:t>
            </a:r>
          </a:p>
        </p:txBody>
      </p:sp>
      <p:pic>
        <p:nvPicPr>
          <p:cNvPr id="61445" name="Picture 22" descr="15-10-1"/>
          <p:cNvPicPr>
            <a:picLocks noChangeAspect="1" noChangeArrowheads="1"/>
          </p:cNvPicPr>
          <p:nvPr/>
        </p:nvPicPr>
        <p:blipFill>
          <a:blip r:embed="rId2">
            <a:lum bright="-10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1196975"/>
            <a:ext cx="3230563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4" descr="15-10-2"/>
          <p:cNvPicPr>
            <a:picLocks noChangeAspect="1" noChangeArrowheads="1"/>
          </p:cNvPicPr>
          <p:nvPr/>
        </p:nvPicPr>
        <p:blipFill>
          <a:blip r:embed="rId3">
            <a:lum bright="-10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944813"/>
            <a:ext cx="5497513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5" descr="15-10-3"/>
          <p:cNvPicPr>
            <a:picLocks noChangeAspect="1" noChangeArrowheads="1"/>
          </p:cNvPicPr>
          <p:nvPr/>
        </p:nvPicPr>
        <p:blipFill>
          <a:blip r:embed="rId4">
            <a:lum bright="-10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4745038"/>
            <a:ext cx="567055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357378" y="5638800"/>
            <a:ext cx="8294688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sz="1800" dirty="0"/>
              <a:t>Because </a:t>
            </a:r>
            <a:r>
              <a:rPr lang="en-US" altLang="zh-CN" sz="1800" i="1" dirty="0"/>
              <a:t>Q</a:t>
            </a:r>
            <a:r>
              <a:rPr lang="en-US" altLang="zh-CN" sz="1800" i="1" baseline="-25000" dirty="0"/>
              <a:t>c</a:t>
            </a:r>
            <a:r>
              <a:rPr lang="en-US" altLang="zh-CN" sz="1800" i="1" dirty="0"/>
              <a:t> </a:t>
            </a:r>
            <a:r>
              <a:rPr lang="en-US" altLang="zh-CN" sz="1800" dirty="0"/>
              <a:t>&lt; </a:t>
            </a:r>
            <a:r>
              <a:rPr lang="en-US" altLang="zh-CN" sz="1800" i="1" dirty="0" err="1"/>
              <a:t>K</a:t>
            </a:r>
            <a:r>
              <a:rPr lang="en-US" altLang="zh-CN" sz="1800" i="1" baseline="-25000" dirty="0" err="1"/>
              <a:t>c</a:t>
            </a:r>
            <a:r>
              <a:rPr lang="en-US" altLang="zh-CN" sz="1800" dirty="0"/>
              <a:t>, the concentration of HI must increase and the concentrations of H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 and I</a:t>
            </a:r>
            <a:r>
              <a:rPr lang="en-US" altLang="zh-CN" sz="1800" baseline="-25000" dirty="0"/>
              <a:t>2</a:t>
            </a:r>
            <a:r>
              <a:rPr lang="en-US" altLang="zh-CN" sz="1800" dirty="0"/>
              <a:t> must decrease to reach equilibrium; the reaction as written proceeds left to right to attain equilibrium.</a:t>
            </a:r>
          </a:p>
        </p:txBody>
      </p:sp>
    </p:spTree>
    <p:extLst>
      <p:ext uri="{BB962C8B-B14F-4D97-AF65-F5344CB8AC3E}">
        <p14:creationId xmlns:p14="http://schemas.microsoft.com/office/powerpoint/2010/main" val="171186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60350"/>
            <a:ext cx="8382000" cy="1143000"/>
          </a:xfrm>
        </p:spPr>
        <p:txBody>
          <a:bodyPr/>
          <a:lstStyle/>
          <a:p>
            <a:pPr eaLnBrk="1" hangingPunct="1"/>
            <a:r>
              <a:rPr lang="en-US" altLang="zh-CN" sz="3200" b="1" smtClean="0">
                <a:solidFill>
                  <a:srgbClr val="C00000"/>
                </a:solidFill>
              </a:rPr>
              <a:t>Le Châtelier’s Principle</a:t>
            </a:r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455738"/>
            <a:ext cx="3394075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051050" y="5559425"/>
            <a:ext cx="502602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00FF"/>
                </a:solidFill>
                <a:latin typeface="+mj-lt"/>
                <a:cs typeface="Arial" charset="0"/>
              </a:rPr>
              <a:t>Henri-Louis Le </a:t>
            </a:r>
            <a:r>
              <a:rPr lang="en-US" sz="2400" b="1" dirty="0" err="1">
                <a:solidFill>
                  <a:srgbClr val="0000FF"/>
                </a:solidFill>
                <a:latin typeface="+mj-lt"/>
                <a:cs typeface="Arial" charset="0"/>
              </a:rPr>
              <a:t>Châtelier</a:t>
            </a:r>
            <a:r>
              <a:rPr lang="en-US" sz="2400" b="1" dirty="0">
                <a:solidFill>
                  <a:srgbClr val="0000FF"/>
                </a:solidFill>
                <a:latin typeface="+mj-lt"/>
                <a:cs typeface="Arial" charset="0"/>
              </a:rPr>
              <a:t> (1850</a:t>
            </a:r>
            <a:r>
              <a:rPr lang="en-US" sz="2400" b="1" dirty="0">
                <a:solidFill>
                  <a:srgbClr val="0000FF"/>
                </a:solidFill>
                <a:latin typeface="+mj-lt"/>
                <a:cs typeface="Arial" charset="0"/>
                <a:sym typeface="Symbol"/>
              </a:rPr>
              <a:t></a:t>
            </a:r>
            <a:r>
              <a:rPr lang="en-US" sz="2400" b="1" dirty="0">
                <a:solidFill>
                  <a:srgbClr val="0000FF"/>
                </a:solidFill>
                <a:latin typeface="+mj-lt"/>
                <a:cs typeface="Arial" charset="0"/>
              </a:rPr>
              <a:t>1936)</a:t>
            </a:r>
          </a:p>
        </p:txBody>
      </p:sp>
    </p:spTree>
    <p:extLst>
      <p:ext uri="{BB962C8B-B14F-4D97-AF65-F5344CB8AC3E}">
        <p14:creationId xmlns:p14="http://schemas.microsoft.com/office/powerpoint/2010/main" val="771641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1143000"/>
          </a:xfrm>
        </p:spPr>
        <p:txBody>
          <a:bodyPr/>
          <a:lstStyle/>
          <a:p>
            <a:pPr eaLnBrk="1" hangingPunct="1"/>
            <a:r>
              <a:rPr lang="en-US" sz="3600" b="1" dirty="0" err="1"/>
              <a:t>LeChâtelier’s</a:t>
            </a:r>
            <a:r>
              <a:rPr lang="en-US" sz="3600" b="1" dirty="0"/>
              <a:t> Principle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057400"/>
            <a:ext cx="8382000" cy="2286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	“If a system at equilibrium is </a:t>
            </a:r>
            <a:r>
              <a:rPr lang="en-US" dirty="0" smtClean="0">
                <a:solidFill>
                  <a:srgbClr val="FF0000"/>
                </a:solidFill>
              </a:rPr>
              <a:t>disturbed</a:t>
            </a:r>
            <a:r>
              <a:rPr lang="en-US" dirty="0" smtClean="0"/>
              <a:t> </a:t>
            </a:r>
            <a:r>
              <a:rPr lang="en-US" dirty="0">
                <a:solidFill>
                  <a:srgbClr val="FF0000"/>
                </a:solidFill>
              </a:rPr>
              <a:t>by a change </a:t>
            </a:r>
            <a:r>
              <a:rPr lang="en-US" dirty="0"/>
              <a:t>in </a:t>
            </a:r>
            <a:r>
              <a:rPr lang="en-US" u="sng" dirty="0"/>
              <a:t>temperature</a:t>
            </a:r>
            <a:r>
              <a:rPr lang="en-US" dirty="0"/>
              <a:t>, </a:t>
            </a:r>
            <a:r>
              <a:rPr lang="en-US" u="sng" dirty="0" smtClean="0"/>
              <a:t>pressure </a:t>
            </a:r>
            <a:r>
              <a:rPr lang="zh-CN" altLang="en-US" u="sng" dirty="0" smtClean="0"/>
              <a:t>（</a:t>
            </a:r>
            <a:r>
              <a:rPr lang="en-US" altLang="zh-CN" u="sng" dirty="0" smtClean="0"/>
              <a:t>volume</a:t>
            </a:r>
            <a:r>
              <a:rPr lang="zh-CN" altLang="en-US" u="sng" dirty="0" smtClean="0"/>
              <a:t>）</a:t>
            </a:r>
            <a:r>
              <a:rPr lang="en-US" dirty="0" smtClean="0"/>
              <a:t>, </a:t>
            </a:r>
            <a:r>
              <a:rPr lang="en-US" dirty="0"/>
              <a:t>or the </a:t>
            </a:r>
            <a:r>
              <a:rPr lang="en-US" u="sng" dirty="0"/>
              <a:t>concentration</a:t>
            </a:r>
            <a:r>
              <a:rPr lang="en-US" dirty="0"/>
              <a:t> of one of the components, the system will shift its equilibrium position so as to </a:t>
            </a:r>
            <a:r>
              <a:rPr lang="en-US" dirty="0" smtClean="0">
                <a:solidFill>
                  <a:srgbClr val="FF0000"/>
                </a:solidFill>
              </a:rPr>
              <a:t>counteract </a:t>
            </a: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offset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r>
              <a:rPr lang="en-US" dirty="0" smtClean="0"/>
              <a:t> </a:t>
            </a:r>
            <a:r>
              <a:rPr lang="en-US" dirty="0">
                <a:solidFill>
                  <a:srgbClr val="FF0000"/>
                </a:solidFill>
              </a:rPr>
              <a:t>the effect </a:t>
            </a:r>
            <a:r>
              <a:rPr lang="en-US" dirty="0"/>
              <a:t>of the disturbance.”</a:t>
            </a:r>
            <a:endParaRPr lang="en-US" baseline="300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838200" y="152400"/>
            <a:ext cx="7315200" cy="16002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US" sz="2800" b="1" dirty="0" smtClean="0"/>
              <a:t>Using </a:t>
            </a:r>
            <a:r>
              <a:rPr lang="en-US" sz="2800" b="1" dirty="0" err="1" smtClean="0"/>
              <a:t>LeChâtelier’s</a:t>
            </a:r>
            <a:r>
              <a:rPr lang="en-US" sz="2800" b="1" dirty="0" smtClean="0"/>
              <a:t> </a:t>
            </a:r>
            <a:r>
              <a:rPr lang="en-US" sz="2800" b="1" dirty="0"/>
              <a:t>Principle </a:t>
            </a:r>
            <a:r>
              <a:rPr lang="en-US" sz="2800" b="1" dirty="0">
                <a:solidFill>
                  <a:srgbClr val="FF0000"/>
                </a:solidFill>
              </a:rPr>
              <a:t>qualitatively</a:t>
            </a:r>
            <a:r>
              <a:rPr lang="en-US" sz="2800" b="1" dirty="0"/>
              <a:t> to predict shifts in equilibrium based on changes in conditions.</a:t>
            </a:r>
          </a:p>
        </p:txBody>
      </p:sp>
      <p:pic>
        <p:nvPicPr>
          <p:cNvPr id="6" name="Picture 5" descr="15_Pg651_UnFigure.jpg"/>
          <p:cNvPicPr>
            <a:picLocks noChangeAspect="1"/>
          </p:cNvPicPr>
          <p:nvPr/>
        </p:nvPicPr>
        <p:blipFill>
          <a:blip r:embed="rId2"/>
          <a:srcRect b="3125"/>
          <a:stretch>
            <a:fillRect/>
          </a:stretch>
        </p:blipFill>
        <p:spPr>
          <a:xfrm>
            <a:off x="646252" y="1752600"/>
            <a:ext cx="7423577" cy="452042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/>
          <a:lstStyle/>
          <a:p>
            <a:r>
              <a:rPr lang="en-US" sz="3200" b="1" dirty="0"/>
              <a:t>Change in Reactant or Product Concentration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3657600" cy="2819400"/>
          </a:xfrm>
        </p:spPr>
        <p:txBody>
          <a:bodyPr/>
          <a:lstStyle/>
          <a:p>
            <a:r>
              <a:rPr lang="en-US" sz="2700" dirty="0"/>
              <a:t>If the system is in </a:t>
            </a:r>
            <a:r>
              <a:rPr lang="en-US" sz="2700" dirty="0" smtClean="0"/>
              <a:t>equilibrium</a:t>
            </a:r>
          </a:p>
          <a:p>
            <a:pPr marL="0" indent="0">
              <a:lnSpc>
                <a:spcPts val="2000"/>
              </a:lnSpc>
              <a:buNone/>
            </a:pPr>
            <a:endParaRPr lang="en-US" sz="2700" dirty="0"/>
          </a:p>
          <a:p>
            <a:pPr marL="0" indent="0">
              <a:buNone/>
            </a:pPr>
            <a:r>
              <a:rPr lang="en-US" sz="2700" dirty="0" smtClean="0">
                <a:solidFill>
                  <a:srgbClr val="FF0000"/>
                </a:solidFill>
              </a:rPr>
              <a:t>adding</a:t>
            </a:r>
            <a:r>
              <a:rPr lang="en-US" sz="2700" dirty="0" smtClean="0"/>
              <a:t> </a:t>
            </a:r>
            <a:r>
              <a:rPr lang="en-US" sz="2700" dirty="0"/>
              <a:t>a reaction component will result in some of it being used </a:t>
            </a:r>
            <a:r>
              <a:rPr lang="en-US" sz="2700" dirty="0" smtClean="0"/>
              <a:t>up.</a:t>
            </a:r>
          </a:p>
          <a:p>
            <a:pPr marL="0" indent="0">
              <a:lnSpc>
                <a:spcPts val="2000"/>
              </a:lnSpc>
              <a:buNone/>
            </a:pPr>
            <a:endParaRPr lang="en-US" sz="2700" dirty="0"/>
          </a:p>
          <a:p>
            <a:pPr marL="0" indent="0">
              <a:buNone/>
            </a:pPr>
            <a:r>
              <a:rPr lang="en-US" sz="2700" dirty="0" smtClean="0">
                <a:solidFill>
                  <a:srgbClr val="FF0000"/>
                </a:solidFill>
              </a:rPr>
              <a:t>removing</a:t>
            </a:r>
            <a:r>
              <a:rPr lang="en-US" sz="2700" dirty="0" smtClean="0"/>
              <a:t> </a:t>
            </a:r>
            <a:r>
              <a:rPr lang="en-US" sz="2700" dirty="0"/>
              <a:t>a</a:t>
            </a:r>
            <a:r>
              <a:rPr lang="en-US" sz="2700" dirty="0" smtClean="0"/>
              <a:t> reaction</a:t>
            </a:r>
            <a:br>
              <a:rPr lang="en-US" sz="2700" dirty="0" smtClean="0"/>
            </a:br>
            <a:r>
              <a:rPr lang="en-US" sz="2700" dirty="0" smtClean="0"/>
              <a:t>component </a:t>
            </a:r>
            <a:r>
              <a:rPr lang="en-US" sz="2700" dirty="0"/>
              <a:t>will</a:t>
            </a:r>
            <a:r>
              <a:rPr lang="en-US" sz="2700" dirty="0" smtClean="0"/>
              <a:t> </a:t>
            </a:r>
            <a:br>
              <a:rPr lang="en-US" sz="2700" dirty="0" smtClean="0"/>
            </a:br>
            <a:r>
              <a:rPr lang="en-US" sz="2700" dirty="0" smtClean="0"/>
              <a:t>result </a:t>
            </a:r>
            <a:r>
              <a:rPr lang="en-US" sz="2700" dirty="0"/>
              <a:t>in some if it</a:t>
            </a:r>
            <a:r>
              <a:rPr lang="en-US" sz="2700" dirty="0" smtClean="0"/>
              <a:t> </a:t>
            </a:r>
            <a:br>
              <a:rPr lang="en-US" sz="2700" dirty="0" smtClean="0"/>
            </a:br>
            <a:r>
              <a:rPr lang="en-US" sz="2700" dirty="0" smtClean="0"/>
              <a:t>being </a:t>
            </a:r>
            <a:r>
              <a:rPr lang="en-US" sz="2700" dirty="0"/>
              <a:t>produced.</a:t>
            </a:r>
          </a:p>
        </p:txBody>
      </p:sp>
      <p:pic>
        <p:nvPicPr>
          <p:cNvPr id="5" name="Picture 4" descr="15_10_Figure.jpg"/>
          <p:cNvPicPr>
            <a:picLocks noChangeAspect="1"/>
          </p:cNvPicPr>
          <p:nvPr/>
        </p:nvPicPr>
        <p:blipFill>
          <a:blip r:embed="rId2"/>
          <a:srcRect b="3008"/>
          <a:stretch>
            <a:fillRect/>
          </a:stretch>
        </p:blipFill>
        <p:spPr>
          <a:xfrm>
            <a:off x="3428998" y="1752600"/>
            <a:ext cx="5616353" cy="362254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838200" y="152400"/>
            <a:ext cx="7315200" cy="16002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US" sz="2800" b="1" dirty="0" smtClean="0"/>
              <a:t>Using </a:t>
            </a:r>
            <a:r>
              <a:rPr lang="en-US" sz="2800" b="1" dirty="0" err="1" smtClean="0"/>
              <a:t>LeChâtelier’s</a:t>
            </a:r>
            <a:r>
              <a:rPr lang="en-US" sz="2800" b="1" dirty="0" smtClean="0"/>
              <a:t> </a:t>
            </a:r>
            <a:r>
              <a:rPr lang="en-US" sz="2800" b="1" dirty="0"/>
              <a:t>Principle </a:t>
            </a:r>
            <a:r>
              <a:rPr lang="en-US" sz="2800" b="1" dirty="0">
                <a:solidFill>
                  <a:srgbClr val="FF0000"/>
                </a:solidFill>
              </a:rPr>
              <a:t>qualitatively</a:t>
            </a:r>
            <a:r>
              <a:rPr lang="en-US" sz="2800" b="1" dirty="0"/>
              <a:t> to predict shifts in equilibrium based on changes in conditions.</a:t>
            </a:r>
          </a:p>
        </p:txBody>
      </p:sp>
      <p:pic>
        <p:nvPicPr>
          <p:cNvPr id="6" name="Picture 5" descr="15_Pg651_UnFigure.jpg"/>
          <p:cNvPicPr>
            <a:picLocks noChangeAspect="1"/>
          </p:cNvPicPr>
          <p:nvPr/>
        </p:nvPicPr>
        <p:blipFill>
          <a:blip r:embed="rId2"/>
          <a:srcRect b="3125"/>
          <a:stretch>
            <a:fillRect/>
          </a:stretch>
        </p:blipFill>
        <p:spPr>
          <a:xfrm>
            <a:off x="646252" y="1752600"/>
            <a:ext cx="7423577" cy="452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5164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r>
              <a:rPr lang="en-US" sz="3200" b="1" dirty="0"/>
              <a:t>Change in Volume or Pressure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304800" y="762000"/>
            <a:ext cx="8624104" cy="2819400"/>
          </a:xfrm>
        </p:spPr>
        <p:txBody>
          <a:bodyPr/>
          <a:lstStyle/>
          <a:p>
            <a:r>
              <a:rPr lang="en-US" sz="2700" dirty="0"/>
              <a:t>When gases are involved in an equilibrium,</a:t>
            </a:r>
            <a:r>
              <a:rPr lang="en-US" sz="2700" dirty="0" smtClean="0"/>
              <a:t> </a:t>
            </a:r>
            <a:br>
              <a:rPr lang="en-US" sz="2700" dirty="0" smtClean="0"/>
            </a:br>
            <a:r>
              <a:rPr lang="en-US" sz="2700" dirty="0" smtClean="0"/>
              <a:t>a </a:t>
            </a:r>
            <a:r>
              <a:rPr lang="en-US" sz="2700" dirty="0"/>
              <a:t>change in pressure or volume will affect equilibrium:</a:t>
            </a:r>
          </a:p>
          <a:p>
            <a:pPr lvl="1"/>
            <a:r>
              <a:rPr lang="en-US" sz="2700" dirty="0"/>
              <a:t>Higher volume or lower pressure favors </a:t>
            </a:r>
            <a:r>
              <a:rPr lang="en-US" sz="2700" dirty="0" smtClean="0"/>
              <a:t>the</a:t>
            </a:r>
            <a:br>
              <a:rPr lang="en-US" sz="2700" dirty="0" smtClean="0"/>
            </a:br>
            <a:r>
              <a:rPr lang="en-US" sz="2700" dirty="0" smtClean="0"/>
              <a:t>side </a:t>
            </a:r>
            <a:r>
              <a:rPr lang="en-US" sz="2700" dirty="0"/>
              <a:t>of the equation with more moles (and</a:t>
            </a:r>
            <a:r>
              <a:rPr lang="en-US" sz="2700" dirty="0" smtClean="0"/>
              <a:t> </a:t>
            </a:r>
            <a:br>
              <a:rPr lang="en-US" sz="2700" dirty="0" smtClean="0"/>
            </a:br>
            <a:r>
              <a:rPr lang="en-US" sz="2700" dirty="0" smtClean="0"/>
              <a:t>vice</a:t>
            </a:r>
            <a:r>
              <a:rPr lang="en-US" sz="2700" dirty="0"/>
              <a:t>-versa).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66800" y="3429000"/>
            <a:ext cx="6858000" cy="3352800"/>
            <a:chOff x="1143000" y="3657600"/>
            <a:chExt cx="6629400" cy="3096876"/>
          </a:xfrm>
        </p:grpSpPr>
        <p:pic>
          <p:nvPicPr>
            <p:cNvPr id="5" name="Picture 4" descr="15_12_Figure.jpg"/>
            <p:cNvPicPr>
              <a:picLocks noChangeAspect="1"/>
            </p:cNvPicPr>
            <p:nvPr/>
          </p:nvPicPr>
          <p:blipFill rotWithShape="1">
            <a:blip r:embed="rId2"/>
            <a:srcRect r="19770" b="30260"/>
            <a:stretch/>
          </p:blipFill>
          <p:spPr>
            <a:xfrm>
              <a:off x="1143000" y="3657600"/>
              <a:ext cx="5318760" cy="2255520"/>
            </a:xfrm>
            <a:prstGeom prst="rect">
              <a:avLst/>
            </a:prstGeom>
          </p:spPr>
        </p:pic>
        <p:pic>
          <p:nvPicPr>
            <p:cNvPr id="6" name="Picture 5" descr="15_12_Figure.jpg"/>
            <p:cNvPicPr>
              <a:picLocks noChangeAspect="1"/>
            </p:cNvPicPr>
            <p:nvPr/>
          </p:nvPicPr>
          <p:blipFill rotWithShape="1">
            <a:blip r:embed="rId2"/>
            <a:srcRect l="78544" b="4246"/>
            <a:stretch/>
          </p:blipFill>
          <p:spPr>
            <a:xfrm>
              <a:off x="6350000" y="3657600"/>
              <a:ext cx="1422400" cy="3096876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838200" y="152400"/>
            <a:ext cx="7315200" cy="16002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US" sz="2800" b="1" dirty="0" smtClean="0"/>
              <a:t>Using </a:t>
            </a:r>
            <a:r>
              <a:rPr lang="en-US" sz="2800" b="1" dirty="0" err="1" smtClean="0"/>
              <a:t>LeChâtelier’s</a:t>
            </a:r>
            <a:r>
              <a:rPr lang="en-US" sz="2800" b="1" dirty="0" smtClean="0"/>
              <a:t> </a:t>
            </a:r>
            <a:r>
              <a:rPr lang="en-US" sz="2800" b="1" dirty="0"/>
              <a:t>Principle </a:t>
            </a:r>
            <a:r>
              <a:rPr lang="en-US" sz="2800" b="1" dirty="0">
                <a:solidFill>
                  <a:srgbClr val="FF0000"/>
                </a:solidFill>
              </a:rPr>
              <a:t>qualitatively</a:t>
            </a:r>
            <a:r>
              <a:rPr lang="en-US" sz="2800" b="1" dirty="0"/>
              <a:t> to predict shifts in equilibrium based on changes in conditions.</a:t>
            </a:r>
          </a:p>
        </p:txBody>
      </p:sp>
      <p:pic>
        <p:nvPicPr>
          <p:cNvPr id="6" name="Picture 5" descr="15_Pg651_UnFigure.jpg"/>
          <p:cNvPicPr>
            <a:picLocks noChangeAspect="1"/>
          </p:cNvPicPr>
          <p:nvPr/>
        </p:nvPicPr>
        <p:blipFill>
          <a:blip r:embed="rId2"/>
          <a:srcRect b="3125"/>
          <a:stretch>
            <a:fillRect/>
          </a:stretch>
        </p:blipFill>
        <p:spPr>
          <a:xfrm>
            <a:off x="646252" y="1752600"/>
            <a:ext cx="7423577" cy="452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5164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6096" y="24384"/>
            <a:ext cx="9144000" cy="1143000"/>
          </a:xfrm>
        </p:spPr>
        <p:txBody>
          <a:bodyPr/>
          <a:lstStyle/>
          <a:p>
            <a:r>
              <a:rPr lang="en-US" sz="3200" b="1" dirty="0"/>
              <a:t>Change in Temperature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458200" cy="4953000"/>
          </a:xfrm>
        </p:spPr>
        <p:txBody>
          <a:bodyPr/>
          <a:lstStyle/>
          <a:p>
            <a:r>
              <a:rPr lang="en-US" sz="3000" dirty="0"/>
              <a:t>Is the reaction </a:t>
            </a:r>
            <a:r>
              <a:rPr lang="en-US" sz="3000" dirty="0">
                <a:solidFill>
                  <a:srgbClr val="FF0000"/>
                </a:solidFill>
              </a:rPr>
              <a:t>endothermic</a:t>
            </a:r>
            <a:r>
              <a:rPr lang="en-US" sz="3000" dirty="0"/>
              <a:t> or </a:t>
            </a:r>
            <a:r>
              <a:rPr lang="en-US" sz="3000" dirty="0">
                <a:solidFill>
                  <a:srgbClr val="0000C9"/>
                </a:solidFill>
              </a:rPr>
              <a:t>exothermic</a:t>
            </a:r>
            <a:r>
              <a:rPr lang="en-US" sz="3000" dirty="0"/>
              <a:t> as written? That matters!</a:t>
            </a:r>
          </a:p>
          <a:p>
            <a:r>
              <a:rPr lang="en-US" altLang="zh-CN" sz="3000" b="1" dirty="0">
                <a:solidFill>
                  <a:srgbClr val="0000C9"/>
                </a:solidFill>
              </a:rPr>
              <a:t>Exothermic</a:t>
            </a:r>
            <a:r>
              <a:rPr lang="en-US" altLang="zh-CN" sz="3000" dirty="0"/>
              <a:t>: Heat acts </a:t>
            </a:r>
            <a:r>
              <a:rPr lang="en-US" altLang="zh-CN" sz="3000" i="1" dirty="0"/>
              <a:t>like </a:t>
            </a:r>
            <a:r>
              <a:rPr lang="en-US" altLang="zh-CN" sz="3000" dirty="0"/>
              <a:t>a product; adding heat drives a reaction toward reactants</a:t>
            </a:r>
            <a:r>
              <a:rPr lang="en-US" altLang="zh-CN" sz="3000" dirty="0" smtClean="0"/>
              <a:t>.</a:t>
            </a:r>
          </a:p>
          <a:p>
            <a:pPr>
              <a:lnSpc>
                <a:spcPts val="2500"/>
              </a:lnSpc>
            </a:pPr>
            <a:endParaRPr lang="en-US" altLang="zh-CN" sz="3000" dirty="0" smtClean="0"/>
          </a:p>
          <a:p>
            <a:pPr marL="0" indent="0" algn="ctr">
              <a:lnSpc>
                <a:spcPts val="2500"/>
              </a:lnSpc>
              <a:buNone/>
            </a:pPr>
            <a:r>
              <a:rPr lang="en-US" altLang="zh-CN" sz="3000" b="1" dirty="0" smtClean="0"/>
              <a:t>Reactants   </a:t>
            </a:r>
            <a:r>
              <a:rPr lang="en-US" altLang="zh-CN" sz="3000" b="1" dirty="0" smtClean="0">
                <a:sym typeface="Wingdings" pitchFamily="2" charset="2"/>
              </a:rPr>
              <a:t>   Products  </a:t>
            </a:r>
            <a:r>
              <a:rPr lang="en-US" altLang="zh-CN" sz="3000" b="1" dirty="0" smtClean="0">
                <a:solidFill>
                  <a:srgbClr val="FF0000"/>
                </a:solidFill>
                <a:sym typeface="Wingdings" pitchFamily="2" charset="2"/>
              </a:rPr>
              <a:t>+ heat</a:t>
            </a:r>
          </a:p>
          <a:p>
            <a:pPr marL="0" indent="0" algn="ctr">
              <a:lnSpc>
                <a:spcPts val="300"/>
              </a:lnSpc>
              <a:buNone/>
            </a:pPr>
            <a:endParaRPr lang="en-US" altLang="zh-CN" sz="3000" b="1" dirty="0">
              <a:solidFill>
                <a:srgbClr val="FF0000"/>
              </a:solidFill>
            </a:endParaRPr>
          </a:p>
          <a:p>
            <a:r>
              <a:rPr lang="en-US" sz="3000" dirty="0" smtClean="0">
                <a:solidFill>
                  <a:srgbClr val="FF0000"/>
                </a:solidFill>
              </a:rPr>
              <a:t>Endothermic</a:t>
            </a:r>
            <a:r>
              <a:rPr lang="en-US" sz="3000" dirty="0"/>
              <a:t>: Heats acts </a:t>
            </a:r>
            <a:r>
              <a:rPr lang="en-US" sz="3000" i="1" dirty="0"/>
              <a:t>like </a:t>
            </a:r>
            <a:r>
              <a:rPr lang="en-US" sz="3000" dirty="0"/>
              <a:t>a reactant; adding heat drives a reaction toward </a:t>
            </a:r>
            <a:r>
              <a:rPr lang="en-US" sz="3000" dirty="0" smtClean="0"/>
              <a:t>products.</a:t>
            </a:r>
          </a:p>
          <a:p>
            <a:pPr marL="0" indent="0">
              <a:lnSpc>
                <a:spcPts val="0"/>
              </a:lnSpc>
              <a:buNone/>
            </a:pPr>
            <a:endParaRPr lang="en-US" altLang="zh-CN" sz="3000" b="1" dirty="0" smtClean="0"/>
          </a:p>
          <a:p>
            <a:pPr marL="0" indent="0">
              <a:buNone/>
            </a:pPr>
            <a:r>
              <a:rPr lang="en-US" altLang="zh-CN" sz="3000" b="1" dirty="0"/>
              <a:t> </a:t>
            </a:r>
            <a:r>
              <a:rPr lang="en-US" altLang="zh-CN" sz="3000" b="1" dirty="0" smtClean="0"/>
              <a:t>           Reactants </a:t>
            </a:r>
            <a:r>
              <a:rPr lang="en-US" altLang="zh-CN" sz="3000" b="1" dirty="0" smtClean="0">
                <a:solidFill>
                  <a:srgbClr val="FF0000"/>
                </a:solidFill>
                <a:sym typeface="Wingdings" pitchFamily="2" charset="2"/>
              </a:rPr>
              <a:t>+ heat    </a:t>
            </a:r>
            <a:r>
              <a:rPr lang="en-US" altLang="zh-CN" sz="3000" b="1" dirty="0" smtClean="0">
                <a:sym typeface="Wingdings" pitchFamily="2" charset="2"/>
              </a:rPr>
              <a:t>   Products</a:t>
            </a:r>
            <a:endParaRPr lang="en-US" altLang="zh-CN" sz="3000" b="1" dirty="0">
              <a:solidFill>
                <a:srgbClr val="FF0000"/>
              </a:solidFill>
              <a:sym typeface="Wingdings" pitchFamily="2" charset="2"/>
            </a:endParaRPr>
          </a:p>
          <a:p>
            <a:pPr algn="ctr"/>
            <a:endParaRPr lang="en-US" sz="30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25959" y="-76200"/>
            <a:ext cx="9144000" cy="1143000"/>
          </a:xfrm>
        </p:spPr>
        <p:txBody>
          <a:bodyPr/>
          <a:lstStyle/>
          <a:p>
            <a:r>
              <a:rPr lang="en-US" sz="3200" b="1" dirty="0"/>
              <a:t>An Endothermic Equilibrium</a:t>
            </a:r>
          </a:p>
        </p:txBody>
      </p:sp>
      <p:pic>
        <p:nvPicPr>
          <p:cNvPr id="4" name="Picture 3" descr="15_13_Figure.jpg"/>
          <p:cNvPicPr>
            <a:picLocks noChangeAspect="1"/>
          </p:cNvPicPr>
          <p:nvPr/>
        </p:nvPicPr>
        <p:blipFill>
          <a:blip r:embed="rId2"/>
          <a:srcRect b="2924"/>
          <a:stretch>
            <a:fillRect/>
          </a:stretch>
        </p:blipFill>
        <p:spPr>
          <a:xfrm>
            <a:off x="1219200" y="1828800"/>
            <a:ext cx="6705600" cy="4691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7" y="1066800"/>
            <a:ext cx="8586321" cy="5746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An Exothermic Equilibrium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696200" cy="4876800"/>
          </a:xfrm>
        </p:spPr>
        <p:txBody>
          <a:bodyPr/>
          <a:lstStyle/>
          <a:p>
            <a:r>
              <a:rPr lang="en-US" sz="2800" dirty="0"/>
              <a:t>The Haber Process for producing ammonia from the elements is </a:t>
            </a:r>
            <a:r>
              <a:rPr lang="en-US" sz="2800" dirty="0">
                <a:solidFill>
                  <a:srgbClr val="FF0000"/>
                </a:solidFill>
              </a:rPr>
              <a:t>exothermic</a:t>
            </a:r>
            <a:r>
              <a:rPr lang="en-US" sz="2800" dirty="0"/>
              <a:t>.</a:t>
            </a:r>
          </a:p>
          <a:p>
            <a:r>
              <a:rPr lang="en-US" sz="2800" dirty="0"/>
              <a:t>One would think that cooling down the reactants would result in more </a:t>
            </a:r>
            <a:r>
              <a:rPr lang="en-US" sz="2800" dirty="0" smtClean="0"/>
              <a:t>product (larger </a:t>
            </a:r>
            <a:r>
              <a:rPr lang="en-US" sz="2800" i="1" dirty="0" err="1" smtClean="0"/>
              <a:t>K</a:t>
            </a:r>
            <a:r>
              <a:rPr lang="en-US" sz="2800" baseline="-25000" dirty="0" err="1" smtClean="0"/>
              <a:t>eq</a:t>
            </a:r>
            <a:r>
              <a:rPr lang="en-US" sz="2800" dirty="0" smtClean="0"/>
              <a:t>) </a:t>
            </a:r>
            <a:r>
              <a:rPr lang="en-US" altLang="zh-CN" sz="2800" dirty="0" smtClean="0"/>
              <a:t>but slower reaction</a:t>
            </a:r>
            <a:r>
              <a:rPr lang="zh-CN" altLang="en-US" sz="2800" dirty="0"/>
              <a:t> </a:t>
            </a:r>
            <a:r>
              <a:rPr lang="en-US" altLang="zh-CN" sz="2800" dirty="0" smtClean="0"/>
              <a:t>(smaller </a:t>
            </a:r>
            <a:r>
              <a:rPr lang="en-US" altLang="zh-CN" sz="2800" i="1" dirty="0" smtClean="0"/>
              <a:t>k</a:t>
            </a:r>
            <a:r>
              <a:rPr lang="en-US" altLang="zh-CN" sz="2800" dirty="0" smtClean="0"/>
              <a:t>)</a:t>
            </a:r>
            <a:r>
              <a:rPr lang="en-US" sz="2800" dirty="0" smtClean="0"/>
              <a:t>.</a:t>
            </a:r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activation energy for this reaction is high!</a:t>
            </a:r>
          </a:p>
          <a:p>
            <a:r>
              <a:rPr lang="en-US" sz="2800" dirty="0"/>
              <a:t>This is the </a:t>
            </a:r>
            <a:r>
              <a:rPr lang="en-US" sz="2800" i="1" dirty="0"/>
              <a:t>one </a:t>
            </a:r>
            <a:r>
              <a:rPr lang="en-US" sz="2800" dirty="0"/>
              <a:t>instance where a system in equilibrium can be affected by a </a:t>
            </a:r>
            <a:r>
              <a:rPr lang="en-US" sz="2800" dirty="0">
                <a:solidFill>
                  <a:srgbClr val="FF0000"/>
                </a:solidFill>
              </a:rPr>
              <a:t>catalyst</a:t>
            </a:r>
            <a:r>
              <a:rPr lang="en-US" sz="2800" dirty="0"/>
              <a:t>!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0" y="341313"/>
            <a:ext cx="9144000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Changes in Temperature</a:t>
            </a:r>
          </a:p>
        </p:txBody>
      </p:sp>
      <p:pic>
        <p:nvPicPr>
          <p:cNvPr id="74755" name="Picture 1027" descr="15_02_Table_L"/>
          <p:cNvPicPr>
            <a:picLocks noChangeAspect="1" noChangeArrowheads="1"/>
          </p:cNvPicPr>
          <p:nvPr/>
        </p:nvPicPr>
        <p:blipFill>
          <a:blip r:embed="rId2">
            <a:lum bright="-10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70" b="2834"/>
          <a:stretch>
            <a:fillRect/>
          </a:stretch>
        </p:blipFill>
        <p:spPr bwMode="auto">
          <a:xfrm>
            <a:off x="1042988" y="2225675"/>
            <a:ext cx="7200900" cy="408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574675" y="1268413"/>
            <a:ext cx="85693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zh-CN" sz="2800" b="1"/>
              <a:t>N</a:t>
            </a:r>
            <a:r>
              <a:rPr lang="pt-BR" altLang="zh-CN" sz="2800" b="1" baseline="-25000"/>
              <a:t>2</a:t>
            </a:r>
            <a:r>
              <a:rPr lang="pt-BR" altLang="zh-CN" sz="2800" b="1" i="1"/>
              <a:t>(g)</a:t>
            </a:r>
            <a:r>
              <a:rPr lang="pt-BR" altLang="zh-CN" sz="2800" b="1"/>
              <a:t> + 3 H</a:t>
            </a:r>
            <a:r>
              <a:rPr lang="pt-BR" altLang="zh-CN" sz="2800" b="1" baseline="-25000"/>
              <a:t>2</a:t>
            </a:r>
            <a:r>
              <a:rPr lang="pt-BR" altLang="zh-CN" sz="2800" b="1" i="1"/>
              <a:t>(g)</a:t>
            </a:r>
            <a:r>
              <a:rPr lang="pt-BR" altLang="zh-CN" sz="2800" b="1"/>
              <a:t> </a:t>
            </a:r>
            <a:r>
              <a:rPr lang="pt-BR" altLang="zh-CN" sz="4000" b="1"/>
              <a:t>→</a:t>
            </a:r>
            <a:r>
              <a:rPr lang="pt-BR" altLang="zh-CN" sz="2800" b="1"/>
              <a:t> 2 NH</a:t>
            </a:r>
            <a:r>
              <a:rPr lang="pt-BR" altLang="zh-CN" sz="2800" b="1" baseline="-25000"/>
              <a:t>3</a:t>
            </a:r>
            <a:r>
              <a:rPr lang="pt-BR" altLang="zh-CN" sz="2800" b="1" i="1"/>
              <a:t>(g)</a:t>
            </a:r>
            <a:r>
              <a:rPr lang="pt-BR" altLang="zh-CN" sz="2800" b="1"/>
              <a:t>       Δ</a:t>
            </a:r>
            <a:r>
              <a:rPr lang="pt-BR" altLang="zh-CN" sz="2800" b="1" i="1"/>
              <a:t>H</a:t>
            </a:r>
            <a:r>
              <a:rPr lang="pt-BR" altLang="zh-CN" sz="2800" b="1"/>
              <a:t> = –92 kJ/mol</a:t>
            </a:r>
            <a:endParaRPr lang="en-US" altLang="zh-CN" sz="2800" b="1"/>
          </a:p>
        </p:txBody>
      </p:sp>
    </p:spTree>
    <p:extLst>
      <p:ext uri="{BB962C8B-B14F-4D97-AF65-F5344CB8AC3E}">
        <p14:creationId xmlns:p14="http://schemas.microsoft.com/office/powerpoint/2010/main" val="268385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b="1" smtClean="0">
                <a:solidFill>
                  <a:srgbClr val="C00000"/>
                </a:solidFill>
              </a:rPr>
              <a:t>The Haber Process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36513" y="2492375"/>
            <a:ext cx="3563938" cy="33845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smtClean="0"/>
              <a:t>	The transformation of nitrogen and hydrogen into ammonia (NH</a:t>
            </a:r>
            <a:r>
              <a:rPr lang="en-US" altLang="zh-CN" sz="2400" baseline="-25000" smtClean="0"/>
              <a:t>3</a:t>
            </a:r>
            <a:r>
              <a:rPr lang="en-US" altLang="zh-CN" sz="2400" smtClean="0"/>
              <a:t>) is of tremendous significance in agriculture, where ammonia-based fertilizers are of utmost importance.</a:t>
            </a:r>
          </a:p>
        </p:txBody>
      </p:sp>
      <p:pic>
        <p:nvPicPr>
          <p:cNvPr id="73732" name="Picture 1027" descr="15_09_Figure_L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0"/>
          <a:stretch>
            <a:fillRect/>
          </a:stretch>
        </p:blipFill>
        <p:spPr bwMode="auto">
          <a:xfrm>
            <a:off x="3095625" y="2349500"/>
            <a:ext cx="6048375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Rectangle 4"/>
          <p:cNvSpPr>
            <a:spLocks noChangeArrowheads="1"/>
          </p:cNvSpPr>
          <p:nvPr/>
        </p:nvSpPr>
        <p:spPr bwMode="auto">
          <a:xfrm>
            <a:off x="574675" y="1268413"/>
            <a:ext cx="85693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altLang="zh-CN" sz="2800" b="1"/>
              <a:t>N</a:t>
            </a:r>
            <a:r>
              <a:rPr lang="pt-BR" altLang="zh-CN" sz="2800" b="1" baseline="-25000"/>
              <a:t>2</a:t>
            </a:r>
            <a:r>
              <a:rPr lang="pt-BR" altLang="zh-CN" sz="2800" b="1" i="1"/>
              <a:t>(g)</a:t>
            </a:r>
            <a:r>
              <a:rPr lang="pt-BR" altLang="zh-CN" sz="2800" b="1"/>
              <a:t> + 3 H</a:t>
            </a:r>
            <a:r>
              <a:rPr lang="pt-BR" altLang="zh-CN" sz="2800" b="1" baseline="-25000"/>
              <a:t>2</a:t>
            </a:r>
            <a:r>
              <a:rPr lang="pt-BR" altLang="zh-CN" sz="2800" b="1" i="1"/>
              <a:t>(g)</a:t>
            </a:r>
            <a:r>
              <a:rPr lang="pt-BR" altLang="zh-CN" sz="2800" b="1"/>
              <a:t> </a:t>
            </a:r>
            <a:r>
              <a:rPr lang="pt-BR" altLang="zh-CN" sz="4000" b="1"/>
              <a:t>→</a:t>
            </a:r>
            <a:r>
              <a:rPr lang="pt-BR" altLang="zh-CN" sz="2800" b="1"/>
              <a:t> 2 NH</a:t>
            </a:r>
            <a:r>
              <a:rPr lang="pt-BR" altLang="zh-CN" sz="2800" b="1" baseline="-25000"/>
              <a:t>3</a:t>
            </a:r>
            <a:r>
              <a:rPr lang="pt-BR" altLang="zh-CN" sz="2800" b="1" i="1"/>
              <a:t>(g)</a:t>
            </a:r>
            <a:r>
              <a:rPr lang="pt-BR" altLang="zh-CN" sz="2800" b="1"/>
              <a:t>       Δ</a:t>
            </a:r>
            <a:r>
              <a:rPr lang="pt-BR" altLang="zh-CN" sz="2800" b="1" i="1"/>
              <a:t>H</a:t>
            </a:r>
            <a:r>
              <a:rPr lang="pt-BR" altLang="zh-CN" sz="2800" b="1"/>
              <a:t> = –92 kJ/mol</a:t>
            </a:r>
            <a:endParaRPr lang="en-US" altLang="zh-CN" sz="2800" b="1"/>
          </a:p>
        </p:txBody>
      </p:sp>
    </p:spTree>
    <p:extLst>
      <p:ext uri="{BB962C8B-B14F-4D97-AF65-F5344CB8AC3E}">
        <p14:creationId xmlns:p14="http://schemas.microsoft.com/office/powerpoint/2010/main" val="353742449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-23813" y="0"/>
            <a:ext cx="9144001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Catalysts</a:t>
            </a:r>
          </a:p>
        </p:txBody>
      </p:sp>
      <p:sp>
        <p:nvSpPr>
          <p:cNvPr id="39939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914400"/>
            <a:ext cx="8458200" cy="1447800"/>
          </a:xfrm>
        </p:spPr>
        <p:txBody>
          <a:bodyPr/>
          <a:lstStyle/>
          <a:p>
            <a:pPr eaLnBrk="1" hangingPunct="1"/>
            <a:r>
              <a:rPr lang="en-US" sz="2600" b="1" dirty="0"/>
              <a:t>Catalysts</a:t>
            </a:r>
            <a:r>
              <a:rPr lang="en-US" sz="2600" dirty="0"/>
              <a:t> increase the rate of both the forward </a:t>
            </a:r>
            <a:r>
              <a:rPr lang="en-US" sz="2600" i="1" dirty="0"/>
              <a:t>and</a:t>
            </a:r>
            <a:r>
              <a:rPr lang="en-US" sz="2600" dirty="0"/>
              <a:t> reverse reactions.</a:t>
            </a:r>
          </a:p>
          <a:p>
            <a:pPr eaLnBrk="1" hangingPunct="1"/>
            <a:r>
              <a:rPr lang="en-US" sz="2600" dirty="0"/>
              <a:t>Equilibrium is achieved faster, but the </a:t>
            </a:r>
            <a:r>
              <a:rPr lang="en-US" sz="2600" dirty="0">
                <a:solidFill>
                  <a:srgbClr val="FF0000"/>
                </a:solidFill>
              </a:rPr>
              <a:t>equilibrium composition remains unaltered</a:t>
            </a:r>
            <a:r>
              <a:rPr lang="en-US" sz="2600" dirty="0"/>
              <a:t>.</a:t>
            </a:r>
          </a:p>
          <a:p>
            <a:pPr eaLnBrk="1" hangingPunct="1"/>
            <a:r>
              <a:rPr lang="en-US" sz="2600" dirty="0"/>
              <a:t>Activation energy is lowered, allowing equilibrium to be established at lower temperatures.</a:t>
            </a:r>
          </a:p>
          <a:p>
            <a:pPr eaLnBrk="1" hangingPunct="1">
              <a:buFontTx/>
              <a:buNone/>
            </a:pPr>
            <a:endParaRPr lang="en-US" sz="2800" dirty="0"/>
          </a:p>
          <a:p>
            <a:pPr eaLnBrk="1" hangingPunct="1">
              <a:buFontTx/>
              <a:buNone/>
            </a:pPr>
            <a:endParaRPr lang="en-US" sz="2800" dirty="0"/>
          </a:p>
        </p:txBody>
      </p:sp>
      <p:pic>
        <p:nvPicPr>
          <p:cNvPr id="6" name="Picture 5" descr="15_14_Figure.jpg"/>
          <p:cNvPicPr>
            <a:picLocks noChangeAspect="1"/>
          </p:cNvPicPr>
          <p:nvPr/>
        </p:nvPicPr>
        <p:blipFill>
          <a:blip r:embed="rId3"/>
          <a:srcRect b="5830"/>
          <a:stretch>
            <a:fillRect/>
          </a:stretch>
        </p:blipFill>
        <p:spPr>
          <a:xfrm>
            <a:off x="838200" y="3657600"/>
            <a:ext cx="7382250" cy="281052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79388" y="620713"/>
          <a:ext cx="8964612" cy="6119813"/>
        </p:xfrm>
        <a:graphic>
          <a:graphicData uri="http://schemas.openxmlformats.org/drawingml/2006/table">
            <a:tbl>
              <a:tblPr/>
              <a:tblGrid>
                <a:gridCol w="2205037"/>
                <a:gridCol w="2203450"/>
                <a:gridCol w="4556125"/>
              </a:tblGrid>
              <a:tr h="314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System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Change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Result</a:t>
                      </a:r>
                      <a:endParaRPr kumimoji="0" lang="en-US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>
                        <a:alpha val="25882"/>
                      </a:srgbClr>
                    </a:solidFill>
                  </a:tcPr>
                </a:tc>
              </a:tr>
              <a:tr h="7112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CO</a:t>
                      </a:r>
                      <a:r>
                        <a:rPr kumimoji="0" lang="en-US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+ H</a:t>
                      </a:r>
                      <a:r>
                        <a:rPr kumimoji="0" lang="en-US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→ </a:t>
                      </a:r>
                      <a:b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</a:b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H</a:t>
                      </a:r>
                      <a:r>
                        <a:rPr kumimoji="0" lang="en-US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O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(g)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+ CO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A drying agent is added to absorb H</a:t>
                      </a:r>
                      <a:r>
                        <a:rPr kumimoji="0" lang="en-US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O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</a:tr>
              <a:tr h="604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H</a:t>
                      </a:r>
                      <a:r>
                        <a:rPr kumimoji="0" lang="en-US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(g)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+ I</a:t>
                      </a:r>
                      <a:r>
                        <a:rPr kumimoji="0" lang="en-US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(g) 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→ </a:t>
                      </a:r>
                      <a:b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</a:b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2HI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(g)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Some nitrogen gas is added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</a:tr>
              <a:tr h="12177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NaCl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(s)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+ H</a:t>
                      </a:r>
                      <a:r>
                        <a:rPr kumimoji="0" lang="en-US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SO</a:t>
                      </a:r>
                      <a:r>
                        <a:rPr kumimoji="0" lang="en-US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4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(l)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→ Na</a:t>
                      </a:r>
                      <a:r>
                        <a:rPr kumimoji="0" lang="en-US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SO</a:t>
                      </a:r>
                      <a:r>
                        <a:rPr kumimoji="0" lang="en-US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4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(s)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+ HCl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(g)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Reaction is carried out in an open container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</a:tr>
              <a:tr h="893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H</a:t>
                      </a:r>
                      <a:r>
                        <a:rPr kumimoji="0" lang="en-US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O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(l)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→ H</a:t>
                      </a:r>
                      <a:r>
                        <a:rPr kumimoji="0" lang="en-US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O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(g)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Water evaporates from an open container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</a:tr>
              <a:tr h="604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HCN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(aq)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→ </a:t>
                      </a:r>
                      <a:b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</a:b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H</a:t>
                      </a:r>
                      <a:r>
                        <a:rPr kumimoji="0" lang="en-US" altLang="zh-CN" sz="19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+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(aq)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+ CN</a:t>
                      </a:r>
                      <a:r>
                        <a:rPr kumimoji="0" lang="en-US" altLang="zh-CN" sz="19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–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(aq)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The solution is diluted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</a:tr>
              <a:tr h="8939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AgCl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(s)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→ </a:t>
                      </a:r>
                      <a:b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</a:b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Ag</a:t>
                      </a:r>
                      <a:r>
                        <a:rPr kumimoji="0" lang="en-US" altLang="zh-CN" sz="19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+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(aq)</a:t>
                      </a: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+ Cl</a:t>
                      </a:r>
                      <a:r>
                        <a:rPr kumimoji="0" lang="en-US" altLang="zh-CN" sz="19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–</a:t>
                      </a:r>
                      <a:r>
                        <a:rPr kumimoji="0" lang="en-US" altLang="zh-CN" sz="19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(aq) </a:t>
                      </a:r>
                      <a:endParaRPr kumimoji="0" lang="en-US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Some NaCl is added to the solution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9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</a:tr>
              <a:tr h="8795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N</a:t>
                      </a:r>
                      <a:r>
                        <a:rPr kumimoji="0" lang="pt-BR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</a:t>
                      </a:r>
                      <a:r>
                        <a:rPr kumimoji="0" lang="pt-BR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+ 3 H</a:t>
                      </a:r>
                      <a:r>
                        <a:rPr kumimoji="0" lang="pt-BR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2</a:t>
                      </a:r>
                      <a:r>
                        <a:rPr kumimoji="0" lang="pt-BR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→ 2 NH</a:t>
                      </a:r>
                      <a:r>
                        <a:rPr kumimoji="0" lang="pt-BR" altLang="zh-CN" sz="19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3</a:t>
                      </a:r>
                      <a:r>
                        <a:rPr kumimoji="0" lang="pt-BR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宋体" pitchFamily="2" charset="-122"/>
                          <a:cs typeface="Arial" pitchFamily="34" charset="0"/>
                        </a:rPr>
                        <a:t>A catalyst is added to speed up this reaction </a:t>
                      </a: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  <a:cs typeface="Arial" pitchFamily="34" charset="0"/>
                      </a:endParaRPr>
                    </a:p>
                  </a:txBody>
                  <a:tcPr marL="12574" marR="12574" marT="12575" marB="1257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>
                        <a:alpha val="25882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170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/>
              <a:t> </a:t>
            </a:r>
          </a:p>
          <a:p>
            <a:pPr eaLnBrk="0" hangingPunct="0"/>
            <a:endParaRPr lang="en-US" altLang="zh-C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57200" y="-26988"/>
            <a:ext cx="8229600" cy="1143001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32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Le </a:t>
            </a:r>
            <a:r>
              <a:rPr lang="en-US" sz="3200" b="1" dirty="0" err="1">
                <a:solidFill>
                  <a:srgbClr val="C00000"/>
                </a:solidFill>
                <a:latin typeface="+mj-lt"/>
                <a:ea typeface="+mj-ea"/>
                <a:cs typeface="+mj-cs"/>
              </a:rPr>
              <a:t>Châtelier’s</a:t>
            </a:r>
            <a:r>
              <a:rPr lang="en-US" sz="32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 Principle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4572000" y="908050"/>
            <a:ext cx="4572000" cy="67786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altLang="zh-CN" sz="1900" b="1" dirty="0">
                <a:solidFill>
                  <a:srgbClr val="000000"/>
                </a:solidFill>
                <a:latin typeface="Calibri" pitchFamily="34" charset="0"/>
              </a:rPr>
              <a:t>Shift to the right</a:t>
            </a:r>
            <a:r>
              <a:rPr lang="en-US" altLang="zh-CN" sz="1900" dirty="0">
                <a:solidFill>
                  <a:srgbClr val="000000"/>
                </a:solidFill>
                <a:latin typeface="Calibri" pitchFamily="34" charset="0"/>
              </a:rPr>
              <a:t>. Continuous removal of a product will force any reaction to the right</a:t>
            </a:r>
            <a:endParaRPr lang="en-US" altLang="zh-CN" dirty="0"/>
          </a:p>
        </p:txBody>
      </p:sp>
      <p:sp>
        <p:nvSpPr>
          <p:cNvPr id="7" name="TextBox 6"/>
          <p:cNvSpPr txBox="1"/>
          <p:nvPr/>
        </p:nvSpPr>
        <p:spPr>
          <a:xfrm>
            <a:off x="4572000" y="1557338"/>
            <a:ext cx="4572000" cy="6762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b="1" dirty="0">
                <a:solidFill>
                  <a:prstClr val="black"/>
                </a:solidFill>
                <a:latin typeface="Calibri"/>
                <a:cs typeface="+mn-cs"/>
              </a:rPr>
              <a:t>No change</a:t>
            </a: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; N</a:t>
            </a:r>
            <a:r>
              <a:rPr lang="en-US" sz="1900" baseline="-25000" dirty="0">
                <a:solidFill>
                  <a:prstClr val="black"/>
                </a:solidFill>
                <a:latin typeface="Calibri"/>
                <a:cs typeface="+mn-cs"/>
              </a:rPr>
              <a:t>2</a:t>
            </a: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 is not a component of this reaction system.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05038"/>
            <a:ext cx="45720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 smtClean="0">
                <a:solidFill>
                  <a:prstClr val="black"/>
                </a:solidFill>
                <a:latin typeface="Calibri"/>
                <a:cs typeface="+mn-cs"/>
              </a:rPr>
              <a:t>Because </a:t>
            </a:r>
            <a:r>
              <a:rPr lang="en-US" sz="1800" dirty="0" err="1" smtClean="0">
                <a:solidFill>
                  <a:prstClr val="black"/>
                </a:solidFill>
                <a:latin typeface="Calibri"/>
                <a:cs typeface="+mn-cs"/>
              </a:rPr>
              <a:t>HCl</a:t>
            </a:r>
            <a:r>
              <a:rPr lang="en-US" sz="1800" dirty="0" smtClean="0">
                <a:solidFill>
                  <a:prstClr val="black"/>
                </a:solidFill>
                <a:latin typeface="Calibri"/>
                <a:cs typeface="+mn-cs"/>
              </a:rPr>
              <a:t> is a gas that can escape from the system, the reaction is forced to the </a:t>
            </a:r>
            <a:r>
              <a:rPr lang="en-US" sz="1800" b="1" dirty="0" smtClean="0">
                <a:solidFill>
                  <a:prstClr val="black"/>
                </a:solidFill>
                <a:latin typeface="Calibri"/>
                <a:cs typeface="+mn-cs"/>
              </a:rPr>
              <a:t>right</a:t>
            </a:r>
            <a:r>
              <a:rPr lang="en-US" sz="1800" dirty="0" smtClean="0">
                <a:solidFill>
                  <a:prstClr val="black"/>
                </a:solidFill>
                <a:latin typeface="Calibri"/>
                <a:cs typeface="+mn-cs"/>
              </a:rPr>
              <a:t>. This is </a:t>
            </a:r>
            <a:r>
              <a:rPr lang="en-US" sz="1800" dirty="0">
                <a:solidFill>
                  <a:prstClr val="black"/>
                </a:solidFill>
                <a:latin typeface="Calibri"/>
                <a:cs typeface="+mn-cs"/>
              </a:rPr>
              <a:t>the basis for the commercial production of hydrochloric acid.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57563"/>
            <a:ext cx="4572000" cy="9683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Continuous removal of water vapor forces the reaction to the </a:t>
            </a:r>
            <a:r>
              <a:rPr lang="en-US" sz="1900" b="1" dirty="0">
                <a:solidFill>
                  <a:prstClr val="black"/>
                </a:solidFill>
                <a:latin typeface="Calibri"/>
                <a:cs typeface="+mn-cs"/>
              </a:rPr>
              <a:t>right</a:t>
            </a: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, so equilibrium is never achieved.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292600"/>
            <a:ext cx="4572000" cy="67786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Shift to </a:t>
            </a:r>
            <a:r>
              <a:rPr lang="en-US" sz="1900" b="1" dirty="0">
                <a:solidFill>
                  <a:prstClr val="black"/>
                </a:solidFill>
                <a:latin typeface="Calibri"/>
                <a:cs typeface="+mn-cs"/>
              </a:rPr>
              <a:t>right</a:t>
            </a: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; the product [H</a:t>
            </a:r>
            <a:r>
              <a:rPr lang="en-US" sz="1900" baseline="30000" dirty="0">
                <a:solidFill>
                  <a:prstClr val="black"/>
                </a:solidFill>
                <a:latin typeface="Calibri"/>
                <a:cs typeface="+mn-cs"/>
              </a:rPr>
              <a:t>+</a:t>
            </a: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][CN</a:t>
            </a:r>
            <a:r>
              <a:rPr lang="en-US" sz="1900" baseline="30000" dirty="0">
                <a:solidFill>
                  <a:prstClr val="black"/>
                </a:solidFill>
                <a:latin typeface="Calibri"/>
                <a:cs typeface="+mn-cs"/>
              </a:rPr>
              <a:t>—</a:t>
            </a: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] diminishes more rapidly than does [HCN].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941888"/>
            <a:ext cx="4572000" cy="9683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Shift to </a:t>
            </a:r>
            <a:r>
              <a:rPr lang="en-US" sz="1900" b="1" dirty="0">
                <a:solidFill>
                  <a:prstClr val="black"/>
                </a:solidFill>
                <a:latin typeface="Calibri"/>
                <a:cs typeface="+mn-cs"/>
              </a:rPr>
              <a:t>left</a:t>
            </a: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 due to increase in </a:t>
            </a:r>
            <a:r>
              <a:rPr lang="en-US" sz="1900" dirty="0" err="1">
                <a:solidFill>
                  <a:prstClr val="black"/>
                </a:solidFill>
                <a:latin typeface="Calibri"/>
                <a:cs typeface="+mn-cs"/>
              </a:rPr>
              <a:t>Cl</a:t>
            </a:r>
            <a:r>
              <a:rPr lang="en-US" sz="1900" baseline="30000" dirty="0">
                <a:solidFill>
                  <a:prstClr val="black"/>
                </a:solidFill>
                <a:latin typeface="Calibri"/>
                <a:cs typeface="+mn-cs"/>
              </a:rPr>
              <a:t>–</a:t>
            </a: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 concentration. This is known as the common ion effect on solubility.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805488"/>
            <a:ext cx="4572000" cy="96996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900" b="1" dirty="0">
                <a:solidFill>
                  <a:prstClr val="black"/>
                </a:solidFill>
                <a:latin typeface="Calibri"/>
                <a:cs typeface="+mn-cs"/>
              </a:rPr>
              <a:t>No change</a:t>
            </a: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. Catalysts affect only the rate of a reaction</a:t>
            </a:r>
            <a:r>
              <a:rPr lang="en-US" sz="1900">
                <a:solidFill>
                  <a:prstClr val="black"/>
                </a:solidFill>
                <a:latin typeface="Calibri"/>
                <a:cs typeface="+mn-cs"/>
              </a:rPr>
              <a:t>; </a:t>
            </a:r>
            <a:r>
              <a:rPr lang="en-US" sz="1900" smtClean="0">
                <a:solidFill>
                  <a:prstClr val="black"/>
                </a:solidFill>
                <a:latin typeface="Calibri"/>
                <a:cs typeface="+mn-cs"/>
              </a:rPr>
              <a:t>they </a:t>
            </a:r>
            <a:r>
              <a:rPr lang="en-US" sz="1900" dirty="0">
                <a:solidFill>
                  <a:prstClr val="black"/>
                </a:solidFill>
                <a:latin typeface="Calibri"/>
                <a:cs typeface="+mn-cs"/>
              </a:rPr>
              <a:t>have no effect at all on the composition of the equilibrium state. 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388" y="1557338"/>
            <a:ext cx="4464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79388" y="2205038"/>
            <a:ext cx="4464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9388" y="3357563"/>
            <a:ext cx="4464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79388" y="4292600"/>
            <a:ext cx="4464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7950" y="4941888"/>
            <a:ext cx="4464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79388" y="5805488"/>
            <a:ext cx="4464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79388" y="6767513"/>
            <a:ext cx="44640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2268538" y="620713"/>
            <a:ext cx="7937" cy="62372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4564063" y="647700"/>
            <a:ext cx="7937" cy="623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07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85800" y="1981200"/>
            <a:ext cx="7924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20000"/>
              </a:spcBef>
              <a:buFontTx/>
              <a:buAutoNum type="alphaUcPeriod"/>
              <a:defRPr/>
            </a:pPr>
            <a:r>
              <a:rPr lang="en-US" sz="2200" kern="0">
                <a:solidFill>
                  <a:srgbClr val="000000"/>
                </a:solidFill>
                <a:latin typeface="Arial"/>
                <a:ea typeface="ＭＳ Ｐゴシック"/>
                <a:cs typeface="+mn-cs"/>
              </a:rPr>
              <a:t>Evaporation is an exothermic process and an increasing temperature shifts the equilibrium        	               to the right and increases the equilibrium vapor pressure.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FontTx/>
              <a:buAutoNum type="alphaUcPeriod"/>
              <a:defRPr/>
            </a:pPr>
            <a:r>
              <a:rPr lang="en-US" sz="2200" kern="0">
                <a:solidFill>
                  <a:srgbClr val="000000"/>
                </a:solidFill>
                <a:latin typeface="Arial"/>
                <a:ea typeface="ＭＳ Ｐゴシック"/>
                <a:cs typeface="+mn-cs"/>
              </a:rPr>
              <a:t>Evaporation is an endothermic process and an increasing temperature shifts the equilibrium                         to the right and increases the equilibrium vapor pressure.  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FontTx/>
              <a:buAutoNum type="alphaUcPeriod"/>
              <a:defRPr/>
            </a:pPr>
            <a:r>
              <a:rPr lang="en-US" sz="2200" kern="0">
                <a:solidFill>
                  <a:srgbClr val="000000"/>
                </a:solidFill>
                <a:latin typeface="Arial"/>
                <a:ea typeface="ＭＳ Ｐゴシック"/>
                <a:cs typeface="+mn-cs"/>
              </a:rPr>
              <a:t>Evaporation is an exothermic process and an increasing temperature shifts the equilibrium                         to the left and increases the equilibrium vapor pressure.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FontTx/>
              <a:buAutoNum type="alphaUcPeriod"/>
              <a:defRPr/>
            </a:pPr>
            <a:r>
              <a:rPr lang="en-US" sz="2200" kern="0">
                <a:solidFill>
                  <a:srgbClr val="000000"/>
                </a:solidFill>
                <a:latin typeface="Arial"/>
                <a:ea typeface="ＭＳ Ｐゴシック"/>
                <a:cs typeface="+mn-cs"/>
              </a:rPr>
              <a:t>Evaporation is an endothermic process and an increasing temperature shifts the equilibrium                         to the left and increases the equilibrium vapor pressure.  </a:t>
            </a:r>
          </a:p>
        </p:txBody>
      </p:sp>
      <p:pic>
        <p:nvPicPr>
          <p:cNvPr id="72707" name="Picture 16" descr="15_GIST-11-pg6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227013"/>
            <a:ext cx="8372475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8" name="Picture 9" descr="Slide 16 eq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349500"/>
            <a:ext cx="1828800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9" name="Picture 13" descr="Slide 16 eq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825" y="3317875"/>
            <a:ext cx="1828800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0" name="Picture 14" descr="Slide 16 eq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350" y="4279900"/>
            <a:ext cx="1828800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1" name="Picture 15" descr="Slide 16 eq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825" y="5262563"/>
            <a:ext cx="1828800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84213" y="2833688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030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At equilibrium, the rate of the forward reaction is _______ the rate of the reverse reaction.</a:t>
            </a:r>
          </a:p>
        </p:txBody>
      </p:sp>
      <p:sp>
        <p:nvSpPr>
          <p:cNvPr id="8294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908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equal to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slower than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faster than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the reverse of</a:t>
            </a:r>
          </a:p>
        </p:txBody>
      </p:sp>
      <p:pic>
        <p:nvPicPr>
          <p:cNvPr id="82948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3962400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220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The reaction quotient Q is usually represented by</a:t>
            </a:r>
          </a:p>
        </p:txBody>
      </p:sp>
      <p:sp>
        <p:nvSpPr>
          <p:cNvPr id="8397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908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[reactants] / [products].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[products] / [reactants].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[reactants] 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  <a:sym typeface="Wingdings 2" pitchFamily="18" charset="2"/>
              </a:rPr>
              <a:t>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 [products].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[reactants] + [products].</a:t>
            </a:r>
          </a:p>
        </p:txBody>
      </p:sp>
      <p:pic>
        <p:nvPicPr>
          <p:cNvPr id="83972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4581525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187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If the value of the equilibrium constant is large, then _______ will mostly be present at equilibrium.</a:t>
            </a:r>
          </a:p>
        </p:txBody>
      </p:sp>
      <p:sp>
        <p:nvSpPr>
          <p:cNvPr id="8499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reactants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products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catalysts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shrapnel</a:t>
            </a:r>
          </a:p>
        </p:txBody>
      </p:sp>
      <p:pic>
        <p:nvPicPr>
          <p:cNvPr id="84996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4495800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754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914650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If the value of the equilibrium constant is small, then _______ will mostly be present at equilibrium.</a:t>
            </a:r>
          </a:p>
        </p:txBody>
      </p:sp>
      <p:sp>
        <p:nvSpPr>
          <p:cNvPr id="8601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reactants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products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catalysts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shrapnel</a:t>
            </a:r>
          </a:p>
        </p:txBody>
      </p:sp>
      <p:pic>
        <p:nvPicPr>
          <p:cNvPr id="86020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3971925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1683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Q = the reaction quotient</a:t>
            </a:r>
            <a:br>
              <a:rPr lang="en-US" altLang="zh-CN" smtClean="0">
                <a:latin typeface="Arial" pitchFamily="34" charset="0"/>
                <a:cs typeface="Arial" pitchFamily="34" charset="0"/>
              </a:rPr>
            </a:br>
            <a:r>
              <a:rPr lang="en-US" altLang="zh-CN" smtClean="0">
                <a:latin typeface="Arial" pitchFamily="34" charset="0"/>
                <a:cs typeface="Arial" pitchFamily="34" charset="0"/>
              </a:rPr>
              <a:t>K = the equilibrium constant</a:t>
            </a:r>
            <a:br>
              <a:rPr lang="en-US" altLang="zh-CN" smtClean="0">
                <a:latin typeface="Arial" pitchFamily="34" charset="0"/>
                <a:cs typeface="Arial" pitchFamily="34" charset="0"/>
              </a:rPr>
            </a:br>
            <a:r>
              <a:rPr lang="en-US" altLang="zh-CN" smtClean="0">
                <a:latin typeface="Arial" pitchFamily="34" charset="0"/>
                <a:cs typeface="Arial" pitchFamily="34" charset="0"/>
              </a:rPr>
              <a:t>At equilibrium, which is true?</a:t>
            </a:r>
          </a:p>
        </p:txBody>
      </p:sp>
      <p:sp>
        <p:nvSpPr>
          <p:cNvPr id="8704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908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Q &gt; K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Q &lt; K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Q = K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Q</a:t>
            </a:r>
            <a:r>
              <a:rPr lang="en-US" altLang="zh-CN" baseline="30000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 = K</a:t>
            </a:r>
          </a:p>
        </p:txBody>
      </p:sp>
      <p:pic>
        <p:nvPicPr>
          <p:cNvPr id="87044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5137150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9915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1470025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Equilibrium constants typically have units of</a:t>
            </a:r>
          </a:p>
        </p:txBody>
      </p:sp>
      <p:sp>
        <p:nvSpPr>
          <p:cNvPr id="88067" name="Subtitle 2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28194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M.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altLang="zh-CN" baseline="30000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US" altLang="zh-CN" baseline="30000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1–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None of the above</a:t>
            </a:r>
          </a:p>
        </p:txBody>
      </p:sp>
      <p:pic>
        <p:nvPicPr>
          <p:cNvPr id="88068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4657725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036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Reaction quotients for heterogeneous equilibria do not include concentrations of</a:t>
            </a:r>
          </a:p>
        </p:txBody>
      </p:sp>
      <p:sp>
        <p:nvSpPr>
          <p:cNvPr id="8909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908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pure liquids.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pure solids.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Both of the above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Neither of the above</a:t>
            </a:r>
          </a:p>
        </p:txBody>
      </p:sp>
      <p:pic>
        <p:nvPicPr>
          <p:cNvPr id="89092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5137150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965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HA 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 H</a:t>
            </a:r>
            <a:r>
              <a:rPr lang="en-US" altLang="zh-CN" baseline="30000" smtClean="0">
                <a:latin typeface="Arial" pitchFamily="34" charset="0"/>
                <a:cs typeface="Arial" pitchFamily="34" charset="0"/>
                <a:sym typeface="Wingdings" pitchFamily="2" charset="2"/>
              </a:rPr>
              <a:t>+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 + A</a:t>
            </a:r>
            <a:r>
              <a:rPr lang="en-US" altLang="zh-CN" baseline="30000" smtClean="0">
                <a:latin typeface="Arial" pitchFamily="34" charset="0"/>
                <a:cs typeface="Arial" pitchFamily="34" charset="0"/>
                <a:sym typeface="Wingdings" pitchFamily="2" charset="2"/>
              </a:rPr>
              <a:t>–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 </a:t>
            </a:r>
            <a:b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</a:b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[HA] = 1.65 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 2" pitchFamily="18" charset="2"/>
              </a:rPr>
              <a:t>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 10</a:t>
            </a:r>
            <a:r>
              <a:rPr lang="en-US" altLang="zh-CN" baseline="30000" smtClean="0">
                <a:latin typeface="Arial" pitchFamily="34" charset="0"/>
                <a:cs typeface="Arial" pitchFamily="34" charset="0"/>
                <a:sym typeface="Wingdings" pitchFamily="2" charset="2"/>
              </a:rPr>
              <a:t>–2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 M and    [H</a:t>
            </a:r>
            <a:r>
              <a:rPr lang="en-US" altLang="zh-CN" baseline="30000" smtClean="0">
                <a:latin typeface="Arial" pitchFamily="34" charset="0"/>
                <a:cs typeface="Arial" pitchFamily="34" charset="0"/>
                <a:sym typeface="Wingdings" pitchFamily="2" charset="2"/>
              </a:rPr>
              <a:t>+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] = [A</a:t>
            </a:r>
            <a:r>
              <a:rPr lang="en-US" altLang="zh-CN" baseline="30000" smtClean="0">
                <a:latin typeface="Arial" pitchFamily="34" charset="0"/>
                <a:cs typeface="Arial" pitchFamily="34" charset="0"/>
                <a:sym typeface="Wingdings" pitchFamily="2" charset="2"/>
              </a:rPr>
              <a:t>–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] = 5.44 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 2" pitchFamily="18" charset="2"/>
              </a:rPr>
              <a:t>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 10</a:t>
            </a:r>
            <a:r>
              <a:rPr lang="en-US" altLang="zh-CN" baseline="30000" smtClean="0">
                <a:latin typeface="Arial" pitchFamily="34" charset="0"/>
                <a:cs typeface="Arial" pitchFamily="34" charset="0"/>
                <a:sym typeface="Wingdings" pitchFamily="2" charset="2"/>
              </a:rPr>
              <a:t>–4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 M at equilibrium.    K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  <a:sym typeface="Wingdings" pitchFamily="2" charset="2"/>
              </a:rPr>
              <a:t>c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 = _______.</a:t>
            </a:r>
          </a:p>
        </p:txBody>
      </p:sp>
      <p:sp>
        <p:nvSpPr>
          <p:cNvPr id="9011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1.79 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  <a:sym typeface="Wingdings 2" pitchFamily="18" charset="2"/>
              </a:rPr>
              <a:t>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 10</a:t>
            </a:r>
            <a:r>
              <a:rPr lang="en-US" altLang="zh-CN" baseline="30000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–2</a:t>
            </a:r>
            <a:endParaRPr lang="en-US" altLang="zh-CN" smtClean="0">
              <a:solidFill>
                <a:srgbClr val="0D0D0D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1.79 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  <a:sym typeface="Wingdings 2" pitchFamily="18" charset="2"/>
              </a:rPr>
              <a:t>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 10</a:t>
            </a:r>
            <a:r>
              <a:rPr lang="en-US" altLang="zh-CN" baseline="30000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–3</a:t>
            </a:r>
            <a:endParaRPr lang="en-US" altLang="zh-CN" smtClean="0">
              <a:solidFill>
                <a:srgbClr val="0D0D0D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1.79 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  <a:sym typeface="Wingdings 2" pitchFamily="18" charset="2"/>
              </a:rPr>
              <a:t>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 10</a:t>
            </a:r>
            <a:r>
              <a:rPr lang="en-US" altLang="zh-CN" baseline="30000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–4</a:t>
            </a:r>
            <a:endParaRPr lang="en-US" altLang="zh-CN" smtClean="0">
              <a:solidFill>
                <a:srgbClr val="0D0D0D"/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1.79 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  <a:sym typeface="Wingdings 2" pitchFamily="18" charset="2"/>
              </a:rPr>
              <a:t>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 10</a:t>
            </a:r>
            <a:r>
              <a:rPr lang="en-US" altLang="zh-CN" baseline="30000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–5</a:t>
            </a: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90116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5724525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887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K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P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= K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when</a:t>
            </a:r>
          </a:p>
        </p:txBody>
      </p:sp>
      <p:sp>
        <p:nvSpPr>
          <p:cNvPr id="91139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42672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the reaction is at equilibrium.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the reaction is exothermic.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all of the gases present are at the same pressure.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the number of moles of gas on both sides of the balanced equation is the same.</a:t>
            </a:r>
          </a:p>
        </p:txBody>
      </p:sp>
      <p:pic>
        <p:nvPicPr>
          <p:cNvPr id="91140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4495800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78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914650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CO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+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 CO +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  <a:sym typeface="Wingdings" pitchFamily="2" charset="2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O</a:t>
            </a:r>
            <a:b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</a:b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If all species are gases and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  <a:sym typeface="Wingdings" pitchFamily="2" charset="2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 is added, the concentration of CO at equilibrium will</a:t>
            </a:r>
            <a:endParaRPr lang="en-US" altLang="zh-CN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216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increase.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decrease.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remain unchanged.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disappear.</a:t>
            </a:r>
          </a:p>
        </p:txBody>
      </p:sp>
      <p:pic>
        <p:nvPicPr>
          <p:cNvPr id="92164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3971925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094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CO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+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 CO +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  <a:sym typeface="Wingdings" pitchFamily="2" charset="2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O</a:t>
            </a:r>
            <a:b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</a:b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If all species are gases and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  <a:sym typeface="Wingdings" pitchFamily="2" charset="2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O is added, the equilibrium concentration of CO</a:t>
            </a:r>
            <a:endParaRPr lang="en-US" altLang="zh-CN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318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will increase.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will decrease.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will remain unchanged.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will disappear.</a:t>
            </a:r>
          </a:p>
        </p:txBody>
      </p:sp>
      <p:pic>
        <p:nvPicPr>
          <p:cNvPr id="93188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4581525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9453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CO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+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 CO +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  <a:sym typeface="Wingdings" pitchFamily="2" charset="2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O</a:t>
            </a:r>
            <a:b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</a:b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If all species are gases and CO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  <a:sym typeface="Wingdings" pitchFamily="2" charset="2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 is removed, the [CO] at equilibrium will</a:t>
            </a:r>
            <a:endParaRPr lang="en-US" altLang="zh-CN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421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increase.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decrease.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remain unchanged.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disappear.</a:t>
            </a:r>
          </a:p>
        </p:txBody>
      </p:sp>
      <p:pic>
        <p:nvPicPr>
          <p:cNvPr id="94212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4581525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486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0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CO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+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 CO +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  <a:sym typeface="Wingdings" pitchFamily="2" charset="2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O</a:t>
            </a:r>
            <a:b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</a:b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Increasing the temperature of this endothermic reaction will _______ [CO] at equilibrium.</a:t>
            </a:r>
            <a:endParaRPr lang="en-US" altLang="zh-CN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523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4384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increase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decrease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not change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eradicate</a:t>
            </a:r>
          </a:p>
        </p:txBody>
      </p:sp>
      <p:pic>
        <p:nvPicPr>
          <p:cNvPr id="95236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3962400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168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914650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CO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+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 CO +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  <a:sym typeface="Wingdings" pitchFamily="2" charset="2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O</a:t>
            </a:r>
            <a:b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</a:b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If all species are gases and the container is compressed, the amount of CO will</a:t>
            </a:r>
            <a:endParaRPr lang="en-US" altLang="zh-CN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625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908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increase.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decrease.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remain unchanged.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vanish.</a:t>
            </a:r>
          </a:p>
        </p:txBody>
      </p:sp>
      <p:pic>
        <p:nvPicPr>
          <p:cNvPr id="96260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5137150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549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914650"/>
          </a:xfrm>
        </p:spPr>
        <p:txBody>
          <a:bodyPr/>
          <a:lstStyle/>
          <a:p>
            <a:pPr algn="l"/>
            <a:r>
              <a:rPr lang="en-US" altLang="zh-CN" smtClean="0">
                <a:latin typeface="Arial" pitchFamily="34" charset="0"/>
                <a:cs typeface="Arial" pitchFamily="34" charset="0"/>
              </a:rPr>
              <a:t>CO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+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 CO + H</a:t>
            </a:r>
            <a:r>
              <a:rPr lang="en-US" altLang="zh-CN" baseline="-25000" smtClean="0">
                <a:latin typeface="Arial" pitchFamily="34" charset="0"/>
                <a:cs typeface="Arial" pitchFamily="34" charset="0"/>
                <a:sym typeface="Wingdings" pitchFamily="2" charset="2"/>
              </a:rPr>
              <a:t>2</a:t>
            </a: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O</a:t>
            </a:r>
            <a:b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</a:br>
            <a:r>
              <a:rPr lang="en-US" altLang="zh-CN" smtClean="0">
                <a:latin typeface="Arial" pitchFamily="34" charset="0"/>
                <a:cs typeface="Arial" pitchFamily="34" charset="0"/>
                <a:sym typeface="Wingdings" pitchFamily="2" charset="2"/>
              </a:rPr>
              <a:t>Adding a catalyst to this reaction will cause the [CO] at equilibrium to</a:t>
            </a:r>
            <a:endParaRPr lang="en-US" altLang="zh-CN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7283" name="Subtitle 2"/>
          <p:cNvSpPr>
            <a:spLocks noGrp="1"/>
          </p:cNvSpPr>
          <p:nvPr>
            <p:ph type="subTitle" idx="1"/>
          </p:nvPr>
        </p:nvSpPr>
        <p:spPr>
          <a:xfrm>
            <a:off x="1447800" y="3886200"/>
            <a:ext cx="6324600" cy="2514600"/>
          </a:xfrm>
        </p:spPr>
        <p:txBody>
          <a:bodyPr/>
          <a:lstStyle/>
          <a:p>
            <a:pPr marL="514350" indent="-514350" algn="l">
              <a:buFont typeface="Arial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increase.</a:t>
            </a:r>
          </a:p>
          <a:p>
            <a:pPr marL="514350" indent="-514350" algn="l">
              <a:buFont typeface="Arial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decrease.</a:t>
            </a:r>
          </a:p>
          <a:p>
            <a:pPr marL="514350" indent="-514350" algn="l">
              <a:buFont typeface="Arial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remain unchanged.</a:t>
            </a:r>
          </a:p>
          <a:p>
            <a:pPr marL="514350" indent="-514350" algn="l"/>
            <a:r>
              <a:rPr lang="en-US" altLang="zh-CN" smtClean="0">
                <a:solidFill>
                  <a:srgbClr val="0D0D0D"/>
                </a:solidFill>
                <a:latin typeface="Arial" pitchFamily="34" charset="0"/>
                <a:cs typeface="Arial" pitchFamily="34" charset="0"/>
              </a:rPr>
              <a:t>d.	cease to exist.</a:t>
            </a:r>
          </a:p>
        </p:txBody>
      </p:sp>
      <p:pic>
        <p:nvPicPr>
          <p:cNvPr id="97284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5137150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endParaRPr lang="zh-CN" altLang="zh-CN">
              <a:latin typeface="Calibri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008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At equilibrium,"/>
  <p:tag name="QUESTIONTYPE" val=" 0"/>
  <p:tag name="QUESTIONCHOICES" val=" 2"/>
  <p:tag name="QUESTIONANSWER" val="A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The reaction quo"/>
  <p:tag name="QUESTIONTYPE" val=" 0"/>
  <p:tag name="QUESTIONCHOICES" val=" 2"/>
  <p:tag name="QUESTIONANSWER" val="B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If the value of"/>
  <p:tag name="QUESTIONTYPE" val=" 0"/>
  <p:tag name="QUESTIONCHOICES" val=" 2"/>
  <p:tag name="QUESTIONANSWER" val="B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If the value of"/>
  <p:tag name="QUESTIONTYPE" val=" 0"/>
  <p:tag name="QUESTIONCHOICES" val=" 2"/>
  <p:tag name="QUESTIONANSWER" val="A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Q = the reaction"/>
  <p:tag name="QUESTIONTYPE" val=" 0"/>
  <p:tag name="QUESTIONCHOICES" val=" 2"/>
  <p:tag name="QUESTIONANSWER" val="C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Equilibrium cons"/>
  <p:tag name="QUESTIONTYPE" val=" 0"/>
  <p:tag name="QUESTIONCHOICES" val=" 2"/>
  <p:tag name="QUESTIONANSWER" val="D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Reaction quotien"/>
  <p:tag name="QUESTIONTYPE" val=" 0"/>
  <p:tag name="QUESTIONCHOICES" val=" 2"/>
  <p:tag name="QUESTIONANSWER" val="C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HA ?? H+ + A- ["/>
  <p:tag name="QUESTIONTYPE" val=" 0"/>
  <p:tag name="QUESTIONCHOICES" val=" 2"/>
  <p:tag name="QUESTIONANSWER" val="D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KP = KC when:"/>
  <p:tag name="QUESTIONTYPE" val=" 0"/>
  <p:tag name="QUESTIONCHOICES" val=" 2"/>
  <p:tag name="QUESTIONANSWER" val="D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CO2 + H2 ?? CO +"/>
  <p:tag name="QUESTIONTYPE" val=" 0"/>
  <p:tag name="QUESTIONCHOICES" val=" 2"/>
  <p:tag name="QUESTIONANSWER" val="A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CO2 + H2 ?? CO +"/>
  <p:tag name="QUESTIONTYPE" val=" 0"/>
  <p:tag name="QUESTIONCHOICES" val=" 2"/>
  <p:tag name="QUESTIONANSWER" val="B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CO2 + H2 ?? CO +"/>
  <p:tag name="QUESTIONTYPE" val=" 0"/>
  <p:tag name="QUESTIONCHOICES" val=" 2"/>
  <p:tag name="QUESTIONANSWER" val="B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CO2 + H2 ?? CO +"/>
  <p:tag name="QUESTIONTYPE" val=" 0"/>
  <p:tag name="QUESTIONCHOICES" val=" 2"/>
  <p:tag name="QUESTIONANSWER" val="A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CO2 + H2 ?? CO +"/>
  <p:tag name="QUESTIONTYPE" val=" 0"/>
  <p:tag name="QUESTIONCHOICES" val=" 2"/>
  <p:tag name="QUESTIONANSWER" val="C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ON" val="4.10"/>
  <p:tag name="QUESTIONNAME" val="CO2 + H2 ?? CO +"/>
  <p:tag name="QUESTIONTYPE" val=" 0"/>
  <p:tag name="QUESTIONCHOICES" val=" 2"/>
  <p:tag name="QUESTIONANSWER" val="C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67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>
            <a:alpha val="67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1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3369</TotalTime>
  <Words>1907</Words>
  <Application>Microsoft Office PowerPoint</Application>
  <PresentationFormat>On-screen Show (4:3)</PresentationFormat>
  <Paragraphs>374</Paragraphs>
  <Slides>58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71" baseType="lpstr">
      <vt:lpstr>HelveticaNeue-Bold</vt:lpstr>
      <vt:lpstr>MS PGothic</vt:lpstr>
      <vt:lpstr>MS PGothic</vt:lpstr>
      <vt:lpstr>宋体</vt:lpstr>
      <vt:lpstr>Arial</vt:lpstr>
      <vt:lpstr>Calibri</vt:lpstr>
      <vt:lpstr>Cambria Math</vt:lpstr>
      <vt:lpstr>Symbol</vt:lpstr>
      <vt:lpstr>Times New Roman</vt:lpstr>
      <vt:lpstr>Wingdings</vt:lpstr>
      <vt:lpstr>Wingdings 2</vt:lpstr>
      <vt:lpstr>Blank Presentation</vt:lpstr>
      <vt:lpstr>1_Blank Presentation</vt:lpstr>
      <vt:lpstr>PowerPoint Presentation</vt:lpstr>
      <vt:lpstr>The Concept of Equilibrium</vt:lpstr>
      <vt:lpstr>The Concept of Equilibrium</vt:lpstr>
      <vt:lpstr>Writing the Equation for an  Equilibrium Reaction</vt:lpstr>
      <vt:lpstr>Comparing Rates</vt:lpstr>
      <vt:lpstr>The Meaning of Equilibrium</vt:lpstr>
      <vt:lpstr>Another Equilibrium— The Haber Process</vt:lpstr>
      <vt:lpstr>The Equilibrium Constant</vt:lpstr>
      <vt:lpstr>More with Gases and Equilibrium</vt:lpstr>
      <vt:lpstr>Equilibrium Can Be Reached from Either Direction</vt:lpstr>
      <vt:lpstr>Magnitude of K</vt:lpstr>
      <vt:lpstr>The Direction of the Chemical Equation and K</vt:lpstr>
      <vt:lpstr>Stoichiometry and Equilibrium Constants</vt:lpstr>
      <vt:lpstr>PowerPoint Presentation</vt:lpstr>
      <vt:lpstr>Consecutive Equilibria</vt:lpstr>
      <vt:lpstr>Homogeneous vs. Heterogeneous</vt:lpstr>
      <vt:lpstr>The Decomposition of CaCO3— A Heterogeneous Equilibrium</vt:lpstr>
      <vt:lpstr>Deducing Equilibrium Concentrations</vt:lpstr>
      <vt:lpstr>An Example</vt:lpstr>
      <vt:lpstr>What Do We Know?</vt:lpstr>
      <vt:lpstr>And, therefore, the equilibrium constant…</vt:lpstr>
      <vt:lpstr>Calculating Equilibrium Concentrations (using the same ICE approach)</vt:lpstr>
      <vt:lpstr>PowerPoint Presentation</vt:lpstr>
      <vt:lpstr>PowerPoint Presentation</vt:lpstr>
      <vt:lpstr>PowerPoint Presentation</vt:lpstr>
      <vt:lpstr>Is a Mixture in Equilibrium?  Which Way Does the Reaction Go?</vt:lpstr>
      <vt:lpstr>Comparing Q and K</vt:lpstr>
      <vt:lpstr>PowerPoint Presentation</vt:lpstr>
      <vt:lpstr>Le Châtelier’s Principle</vt:lpstr>
      <vt:lpstr>LeChâtelier’s Principle</vt:lpstr>
      <vt:lpstr>PowerPoint Presentation</vt:lpstr>
      <vt:lpstr>Change in Reactant or Product Concentration</vt:lpstr>
      <vt:lpstr>PowerPoint Presentation</vt:lpstr>
      <vt:lpstr>Change in Volume or Pressure</vt:lpstr>
      <vt:lpstr>PowerPoint Presentation</vt:lpstr>
      <vt:lpstr>Change in Temperature</vt:lpstr>
      <vt:lpstr>An Endothermic Equilibrium</vt:lpstr>
      <vt:lpstr>An Exothermic Equilibrium</vt:lpstr>
      <vt:lpstr>PowerPoint Presentation</vt:lpstr>
      <vt:lpstr>The Haber Process</vt:lpstr>
      <vt:lpstr>Catalysts</vt:lpstr>
      <vt:lpstr>PowerPoint Presentation</vt:lpstr>
      <vt:lpstr>PowerPoint Presentation</vt:lpstr>
      <vt:lpstr>At equilibrium, the rate of the forward reaction is _______ the rate of the reverse reaction.</vt:lpstr>
      <vt:lpstr>The reaction quotient Q is usually represented by</vt:lpstr>
      <vt:lpstr>If the value of the equilibrium constant is large, then _______ will mostly be present at equilibrium.</vt:lpstr>
      <vt:lpstr>If the value of the equilibrium constant is small, then _______ will mostly be present at equilibrium.</vt:lpstr>
      <vt:lpstr>Q = the reaction quotient K = the equilibrium constant At equilibrium, which is true?</vt:lpstr>
      <vt:lpstr>Equilibrium constants typically have units of</vt:lpstr>
      <vt:lpstr>Reaction quotients for heterogeneous equilibria do not include concentrations of</vt:lpstr>
      <vt:lpstr>HA  H+ + A–  [HA] = 1.65  10–2 M and    [H+] = [A–] = 5.44  10–4 M at equilibrium.    Kc = _______.</vt:lpstr>
      <vt:lpstr>KP = KC when</vt:lpstr>
      <vt:lpstr>CO2 + H2  CO + H2O If all species are gases and H2 is added, the concentration of CO at equilibrium will</vt:lpstr>
      <vt:lpstr>CO2 + H2  CO + H2O If all species are gases and H2O is added, the equilibrium concentration of CO</vt:lpstr>
      <vt:lpstr>CO2 + H2  CO + H2O If all species are gases and CO2 is removed, the [CO] at equilibrium will</vt:lpstr>
      <vt:lpstr>CO2 + H2  CO + H2O Increasing the temperature of this endothermic reaction will _______ [CO] at equilibrium.</vt:lpstr>
      <vt:lpstr>CO2 + H2  CO + H2O If all species are gases and the container is compressed, the amount of CO will</vt:lpstr>
      <vt:lpstr>CO2 + H2  CO + H2O Adding a catalyst to this reaction will cause the [CO] at equilibrium to</vt:lpstr>
    </vt:vector>
  </TitlesOfParts>
  <Company>St. Charles Community College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 Chemical Equilibrium</dc:title>
  <dc:creator>John Bookstaver</dc:creator>
  <cp:lastModifiedBy>Windows 用户</cp:lastModifiedBy>
  <cp:revision>299</cp:revision>
  <dcterms:created xsi:type="dcterms:W3CDTF">2014-02-17T00:55:59Z</dcterms:created>
  <dcterms:modified xsi:type="dcterms:W3CDTF">2018-12-03T05:32:25Z</dcterms:modified>
</cp:coreProperties>
</file>