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5" r:id="rId1"/>
    <p:sldMasterId id="2147483656" r:id="rId2"/>
  </p:sldMasterIdLst>
  <p:notesMasterIdLst>
    <p:notesMasterId r:id="rId30"/>
  </p:notesMasterIdLst>
  <p:sldIdLst>
    <p:sldId id="297" r:id="rId3"/>
    <p:sldId id="266" r:id="rId4"/>
    <p:sldId id="298" r:id="rId5"/>
    <p:sldId id="257" r:id="rId6"/>
    <p:sldId id="259" r:id="rId7"/>
    <p:sldId id="260" r:id="rId8"/>
    <p:sldId id="263" r:id="rId9"/>
    <p:sldId id="267" r:id="rId10"/>
    <p:sldId id="270" r:id="rId11"/>
    <p:sldId id="299" r:id="rId12"/>
    <p:sldId id="300" r:id="rId13"/>
    <p:sldId id="301" r:id="rId14"/>
    <p:sldId id="302" r:id="rId15"/>
    <p:sldId id="271" r:id="rId16"/>
    <p:sldId id="275" r:id="rId17"/>
    <p:sldId id="276" r:id="rId18"/>
    <p:sldId id="279" r:id="rId19"/>
    <p:sldId id="280" r:id="rId20"/>
    <p:sldId id="282" r:id="rId21"/>
    <p:sldId id="283" r:id="rId22"/>
    <p:sldId id="284" r:id="rId23"/>
    <p:sldId id="303" r:id="rId24"/>
    <p:sldId id="287" r:id="rId25"/>
    <p:sldId id="288" r:id="rId26"/>
    <p:sldId id="289" r:id="rId27"/>
    <p:sldId id="293" r:id="rId28"/>
    <p:sldId id="294" r:id="rId2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7CB2"/>
    <a:srgbClr val="00197D"/>
    <a:srgbClr val="C82E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3" autoAdjust="0"/>
    <p:restoredTop sz="94630" autoAdjust="0"/>
  </p:normalViewPr>
  <p:slideViewPr>
    <p:cSldViewPr>
      <p:cViewPr varScale="1">
        <p:scale>
          <a:sx n="66" d="100"/>
          <a:sy n="66" d="100"/>
        </p:scale>
        <p:origin x="1315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212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US"/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endParaRPr lang="en-US"/>
          </a:p>
        </p:txBody>
      </p:sp>
      <p:sp>
        <p:nvSpPr>
          <p:cNvPr id="307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710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711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/>
            </a:lvl1pPr>
          </a:lstStyle>
          <a:p>
            <a:endParaRPr lang="en-US"/>
          </a:p>
        </p:txBody>
      </p:sp>
      <p:sp>
        <p:nvSpPr>
          <p:cNvPr id="4711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928263E6-AD2B-3140-9C93-299BC5CB9CC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26147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48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81F105E9-9340-6D41-8F54-DC604E7CBFA9}" type="slidenum">
              <a:rPr lang="en-US"/>
              <a:pPr/>
              <a:t>2</a:t>
            </a:fld>
            <a:endParaRPr lang="en-US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858995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B54C1A3F-F28B-BE45-90BD-61D5EBA0826C}" type="slidenum">
              <a:rPr lang="en-US"/>
              <a:pPr/>
              <a:t>4</a:t>
            </a:fld>
            <a:endParaRPr lang="en-US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475944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082FC12A-D7A0-F949-81B4-8000F2406D49}" type="slidenum">
              <a:rPr lang="en-US"/>
              <a:pPr/>
              <a:t>5</a:t>
            </a:fld>
            <a:endParaRPr lang="en-US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754187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E5A7D9CA-80B3-8244-BA32-739E7884B2BA}" type="slidenum">
              <a:rPr lang="en-US"/>
              <a:pPr/>
              <a:t>6</a:t>
            </a:fld>
            <a:endParaRPr lang="en-US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013736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F19E2FF-A8CB-4C47-BCAD-8C2716AB2D8E}" type="slidenum">
              <a:rPr lang="en-US"/>
              <a:pPr/>
              <a:t>7</a:t>
            </a:fld>
            <a:endParaRPr lang="en-US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624601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0117396-B457-FC4D-B6B8-57534EF3C88D}" type="slidenum">
              <a:rPr lang="en-US"/>
              <a:pPr/>
              <a:t>8</a:t>
            </a:fld>
            <a:endParaRPr lang="en-US"/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08228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F8D240D-3E2B-B240-869F-1F1156DC76C7}" type="slidenum">
              <a:rPr lang="en-US"/>
              <a:pPr/>
              <a:t>9</a:t>
            </a:fld>
            <a:endParaRPr lang="en-US"/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321935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5D6A6E03-9F43-D849-AC48-AC5ECE9CBB18}" type="slidenum">
              <a:rPr lang="en-US"/>
              <a:pPr/>
              <a:t>14</a:t>
            </a:fld>
            <a:endParaRPr lang="en-US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>
                <a:ea typeface="ＭＳ Ｐゴシック" charset="-128"/>
                <a:sym typeface="Symbol" charset="2"/>
              </a:rPr>
              <a:t></a:t>
            </a:r>
          </a:p>
        </p:txBody>
      </p:sp>
    </p:spTree>
    <p:extLst>
      <p:ext uri="{BB962C8B-B14F-4D97-AF65-F5344CB8AC3E}">
        <p14:creationId xmlns:p14="http://schemas.microsoft.com/office/powerpoint/2010/main" val="21555063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21FD5E6-63FF-0F4E-93ED-43A27D66455A}" type="slidenum">
              <a:rPr lang="en-US"/>
              <a:pPr/>
              <a:t>15</a:t>
            </a:fld>
            <a:endParaRPr lang="en-US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430093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15B48C-FD8C-1F40-AC86-DEADBD908650}" type="slidenum">
              <a:rPr lang="en-US"/>
              <a:pPr/>
              <a:t>16</a:t>
            </a:fld>
            <a:endParaRPr 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61082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2500DD41-B70A-4443-8F33-91C7F8839A12}" type="slidenum">
              <a:rPr lang="en-US"/>
              <a:pPr/>
              <a:t>17</a:t>
            </a:fld>
            <a:endParaRPr lang="en-US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729079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61990721-535D-6B47-85E4-4A1317E3EADE}" type="slidenum">
              <a:rPr lang="en-US"/>
              <a:pPr/>
              <a:t>18</a:t>
            </a:fld>
            <a:endParaRPr lang="en-US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6670958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1B254EAB-0466-344E-9A4A-938CC122738F}" type="slidenum">
              <a:rPr lang="en-US"/>
              <a:pPr/>
              <a:t>19</a:t>
            </a:fld>
            <a:endParaRPr lang="en-US"/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4666164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3CFD3049-4F5B-284B-A1FE-3E5DF3638974}" type="slidenum">
              <a:rPr lang="en-US"/>
              <a:pPr/>
              <a:t>20</a:t>
            </a:fld>
            <a:endParaRPr lang="en-US"/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701112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8A69B756-2565-FA44-9639-6AF73DFE4230}" type="slidenum">
              <a:rPr lang="en-US"/>
              <a:pPr/>
              <a:t>21</a:t>
            </a:fld>
            <a:endParaRPr lang="en-US"/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904827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4E65D28E-5390-5C48-97FB-D063126D05F9}" type="slidenum">
              <a:rPr lang="en-US"/>
              <a:pPr/>
              <a:t>23</a:t>
            </a:fld>
            <a:endParaRPr lang="en-US"/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201722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1B4EFCDA-59D3-7744-89D0-604852A5849F}" type="slidenum">
              <a:rPr lang="en-US"/>
              <a:pPr/>
              <a:t>24</a:t>
            </a:fld>
            <a:endParaRPr lang="en-US"/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490107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356691B-CE52-B54A-BCF6-7FC27902A634}" type="slidenum">
              <a:rPr lang="en-US"/>
              <a:pPr/>
              <a:t>25</a:t>
            </a:fld>
            <a:endParaRPr lang="en-US"/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943243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0CC1EFB4-717D-B144-9067-66CD5492B0CE}" type="slidenum">
              <a:rPr lang="en-US"/>
              <a:pPr/>
              <a:t>26</a:t>
            </a:fld>
            <a:endParaRPr lang="en-US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533787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793646DF-E3F9-1840-BF8D-49EAFAF3039B}" type="slidenum">
              <a:rPr lang="en-US"/>
              <a:pPr/>
              <a:t>27</a:t>
            </a:fld>
            <a:endParaRPr lang="en-US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>
              <a:ea typeface="ＭＳ Ｐゴシック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1255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29F66D-1B4F-6F4B-98A9-E419AE50509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9F2858-6805-7043-AB72-4B44FBA984B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F5E31F1-D79C-5E47-B677-13498A8259A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A47FCD-3A50-4B4D-BBF4-BB3633C422A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3C8DBC-4AD3-D94D-B530-4C743966BF3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3B6A08-CB91-8343-9BA4-0434C5211ED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CD603E-727C-9942-AF2F-54C006FB8E2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E59B70-43E2-654D-8FCE-70309650CB6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087DBAC-D852-4A46-A4EC-C48A3B25F5D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3133FB-DBD0-C542-BA17-524F50F51D5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28600"/>
            <a:ext cx="2286000" cy="5867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228600"/>
            <a:ext cx="67056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A46522-23EF-C24B-8B60-BE4CB92D723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B199B6-3653-0048-BBC0-66E7AB28671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5881B8-326F-9345-B624-AA4D010D869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8591A9-A214-3047-B192-11C08990093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4A1515-153E-614C-8B19-A04B2FCC6C2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206DE9-4AAA-8548-91A1-0B2E68832D0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6DB501-BA80-EE48-80C4-3F75B00B26C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8683B6-A610-584E-858F-473EDB9F090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47EC54D-338F-4B44-ABDD-FB78C19E22C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39D3A0-4795-D541-97D4-60E7C7EDC56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B60081-7497-CC40-AD62-CA5C7885490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28600"/>
            <a:ext cx="2286000" cy="5867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228600"/>
            <a:ext cx="67056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68AA3FA-778C-FC43-8ECC-0A462E1BD45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2C83E84-6410-AB48-AE93-B743EF70C6F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BABDF8-5215-9B4F-8E7A-A49541CC7C8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41148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491F7F-6EF5-C642-8C95-00A6010BF6E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14800"/>
            <a:ext cx="77724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CFBD692-D760-7346-8F94-B974EC62855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1.jpeg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2286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957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/>
            </a:lvl1pPr>
          </a:lstStyle>
          <a:p>
            <a:endParaRPr lang="en-US"/>
          </a:p>
        </p:txBody>
      </p:sp>
      <p:sp>
        <p:nvSpPr>
          <p:cNvPr id="109573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/>
            </a:lvl1pPr>
          </a:lstStyle>
          <a:p>
            <a:fld id="{701AB000-AF81-134D-BA76-DFFE1DD728F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6" name="Text Box 2"/>
          <p:cNvSpPr txBox="1">
            <a:spLocks noChangeArrowheads="1"/>
          </p:cNvSpPr>
          <p:nvPr userDrawn="1"/>
        </p:nvSpPr>
        <p:spPr bwMode="auto">
          <a:xfrm>
            <a:off x="365125" y="6580188"/>
            <a:ext cx="8229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000" dirty="0" smtClean="0">
                <a:solidFill>
                  <a:srgbClr val="73738C"/>
                </a:solidFill>
              </a:rPr>
              <a:t>© 2015 Pearson Education</a:t>
            </a:r>
            <a:endParaRPr lang="en-US" b="1" dirty="0" smtClean="0">
              <a:solidFill>
                <a:srgbClr val="73738C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2286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264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/>
            </a:lvl1pPr>
          </a:lstStyle>
          <a:p>
            <a:endParaRPr lang="en-US"/>
          </a:p>
        </p:txBody>
      </p:sp>
      <p:sp>
        <p:nvSpPr>
          <p:cNvPr id="112645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400"/>
            </a:lvl1pPr>
          </a:lstStyle>
          <a:p>
            <a:fld id="{1B7B4A74-FAD7-0F46-96B3-8657E9B8C6F0}" type="slidenum">
              <a:rPr lang="en-US"/>
              <a:pPr/>
              <a:t>‹#›</a:t>
            </a:fld>
            <a:endParaRPr lang="en-US"/>
          </a:p>
        </p:txBody>
      </p:sp>
      <p:grpSp>
        <p:nvGrpSpPr>
          <p:cNvPr id="2054" name="Group 6"/>
          <p:cNvGrpSpPr>
            <a:grpSpLocks/>
          </p:cNvGrpSpPr>
          <p:nvPr userDrawn="1"/>
        </p:nvGrpSpPr>
        <p:grpSpPr bwMode="auto">
          <a:xfrm>
            <a:off x="7759700" y="5486400"/>
            <a:ext cx="1428750" cy="1371600"/>
            <a:chOff x="4888" y="3456"/>
            <a:chExt cx="900" cy="864"/>
          </a:xfrm>
        </p:grpSpPr>
        <p:pic>
          <p:nvPicPr>
            <p:cNvPr id="2055" name="Picture 7" descr="Triangle--Gray"/>
            <p:cNvPicPr>
              <a:picLocks noChangeAspect="1" noChangeArrowheads="1"/>
            </p:cNvPicPr>
            <p:nvPr userDrawn="1"/>
          </p:nvPicPr>
          <p:blipFill>
            <a:blip r:embed="rId17" cstate="print"/>
            <a:srcRect/>
            <a:stretch>
              <a:fillRect/>
            </a:stretch>
          </p:blipFill>
          <p:spPr bwMode="auto">
            <a:xfrm>
              <a:off x="4896" y="3456"/>
              <a:ext cx="864" cy="8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056" name="Rectangle 8"/>
            <p:cNvSpPr>
              <a:spLocks noChangeArrowheads="1"/>
            </p:cNvSpPr>
            <p:nvPr userDrawn="1"/>
          </p:nvSpPr>
          <p:spPr bwMode="auto">
            <a:xfrm>
              <a:off x="4888" y="3753"/>
              <a:ext cx="900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r>
                <a:rPr lang="en-US" sz="1400">
                  <a:latin typeface="Times New Roman" charset="0"/>
                </a:rPr>
                <a:t>Chemical</a:t>
              </a:r>
            </a:p>
            <a:p>
              <a:pPr algn="ctr" eaLnBrk="0" hangingPunct="0"/>
              <a:r>
                <a:rPr lang="en-US" sz="1400">
                  <a:latin typeface="Times New Roman" charset="0"/>
                </a:rPr>
                <a:t>Thermodynamics</a:t>
              </a:r>
            </a:p>
          </p:txBody>
        </p:sp>
      </p:grpSp>
      <p:sp>
        <p:nvSpPr>
          <p:cNvPr id="9" name="Text Box 2"/>
          <p:cNvSpPr txBox="1">
            <a:spLocks noChangeArrowheads="1"/>
          </p:cNvSpPr>
          <p:nvPr userDrawn="1"/>
        </p:nvSpPr>
        <p:spPr bwMode="auto">
          <a:xfrm>
            <a:off x="365125" y="6580188"/>
            <a:ext cx="8229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sz="1000" smtClean="0">
                <a:solidFill>
                  <a:srgbClr val="73738C"/>
                </a:solidFill>
              </a:rPr>
              <a:t>© 2015 Pearson Education, Inc.</a:t>
            </a:r>
            <a:endParaRPr lang="en-US" b="1" smtClean="0">
              <a:solidFill>
                <a:srgbClr val="73738C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  <p:sldLayoutId id="2147483679" r:id="rId12"/>
    <p:sldLayoutId id="2147483680" r:id="rId13"/>
    <p:sldLayoutId id="2147483681" r:id="rId14"/>
    <p:sldLayoutId id="2147483682" r:id="rId15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ea typeface="ＭＳ Ｐゴシック" pitchFamily="48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4419600" y="2514600"/>
            <a:ext cx="47244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prstTxWarp prst="textNoShape">
              <a:avLst/>
            </a:prstTxWarp>
          </a:bodyPr>
          <a:lstStyle/>
          <a:p>
            <a:pPr algn="ctr"/>
            <a:r>
              <a:rPr lang="en-US" sz="3400" b="1"/>
              <a:t>Chapter 19</a:t>
            </a:r>
            <a:br>
              <a:rPr lang="en-US" sz="3400" b="1"/>
            </a:br>
            <a:r>
              <a:rPr lang="en-US" sz="3400" b="1"/>
              <a:t/>
            </a:r>
            <a:br>
              <a:rPr lang="en-US" sz="3400" b="1"/>
            </a:br>
            <a:r>
              <a:rPr lang="en-US" sz="3400" b="1"/>
              <a:t>Chemical Thermodynamics</a:t>
            </a:r>
          </a:p>
        </p:txBody>
      </p:sp>
      <p:sp>
        <p:nvSpPr>
          <p:cNvPr id="3075" name="Rectangle 10"/>
          <p:cNvSpPr>
            <a:spLocks noChangeArrowheads="1"/>
          </p:cNvSpPr>
          <p:nvPr/>
        </p:nvSpPr>
        <p:spPr bwMode="auto">
          <a:xfrm>
            <a:off x="4495800" y="700088"/>
            <a:ext cx="46482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solidFill>
                  <a:srgbClr val="000000"/>
                </a:solidFill>
                <a:ea typeface="Arial" charset="0"/>
                <a:cs typeface="Arial" charset="0"/>
              </a:rPr>
              <a:t>Lecture Presentation</a:t>
            </a:r>
          </a:p>
        </p:txBody>
      </p:sp>
      <p:sp>
        <p:nvSpPr>
          <p:cNvPr id="3076" name="Subtitle 2"/>
          <p:cNvSpPr>
            <a:spLocks/>
          </p:cNvSpPr>
          <p:nvPr/>
        </p:nvSpPr>
        <p:spPr bwMode="auto">
          <a:xfrm>
            <a:off x="4495800" y="5791200"/>
            <a:ext cx="45720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</a:bodyPr>
          <a:lstStyle/>
          <a:p>
            <a:pPr algn="ctr"/>
            <a:r>
              <a:rPr lang="en-US">
                <a:solidFill>
                  <a:srgbClr val="0D0D0D"/>
                </a:solidFill>
              </a:rPr>
              <a:t>James  F. Kirby</a:t>
            </a:r>
          </a:p>
          <a:p>
            <a:pPr algn="ctr"/>
            <a:r>
              <a:rPr lang="en-US">
                <a:solidFill>
                  <a:srgbClr val="0D0D0D"/>
                </a:solidFill>
              </a:rPr>
              <a:t>Quinnipiac University</a:t>
            </a:r>
          </a:p>
          <a:p>
            <a:pPr algn="ctr"/>
            <a:r>
              <a:rPr lang="en-US">
                <a:solidFill>
                  <a:srgbClr val="0D0D0D"/>
                </a:solidFill>
              </a:rPr>
              <a:t>Hamden, CT</a:t>
            </a:r>
          </a:p>
        </p:txBody>
      </p:sp>
      <p:sp>
        <p:nvSpPr>
          <p:cNvPr id="3077" name="Text Box 12"/>
          <p:cNvSpPr txBox="1">
            <a:spLocks noChangeArrowheads="1"/>
          </p:cNvSpPr>
          <p:nvPr/>
        </p:nvSpPr>
        <p:spPr bwMode="auto">
          <a:xfrm>
            <a:off x="365125" y="6580188"/>
            <a:ext cx="82296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1000">
                <a:solidFill>
                  <a:srgbClr val="73738C"/>
                </a:solidFill>
              </a:rPr>
              <a:t>© 2015 Pearson Education, Inc.</a:t>
            </a:r>
            <a:endParaRPr lang="en-US" sz="2400" b="1">
              <a:solidFill>
                <a:srgbClr val="73738C"/>
              </a:solidFill>
            </a:endParaRPr>
          </a:p>
        </p:txBody>
      </p:sp>
      <p:pic>
        <p:nvPicPr>
          <p:cNvPr id="7" name="Picture 1" descr="BROW0417_13_ecat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228600" y="736303"/>
            <a:ext cx="4227513" cy="5309193"/>
          </a:xfrm>
          <a:prstGeom prst="rect">
            <a:avLst/>
          </a:prstGeom>
          <a:noFill/>
          <a:ln w="31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/>
              <a:t>First Law of Thermodynamics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524000"/>
            <a:ext cx="7772400" cy="4572000"/>
          </a:xfrm>
        </p:spPr>
        <p:txBody>
          <a:bodyPr/>
          <a:lstStyle/>
          <a:p>
            <a:pPr eaLnBrk="1" hangingPunct="1"/>
            <a:r>
              <a:rPr lang="en-US"/>
              <a:t>You will recall from Chapter 5 that energy cannot be created or destroyed.</a:t>
            </a:r>
          </a:p>
          <a:p>
            <a:pPr eaLnBrk="1" hangingPunct="1"/>
            <a:r>
              <a:rPr lang="en-US"/>
              <a:t>Therefore, the total energy of the universe is a constant.</a:t>
            </a:r>
          </a:p>
          <a:p>
            <a:pPr eaLnBrk="1" hangingPunct="1"/>
            <a:r>
              <a:rPr lang="en-US"/>
              <a:t>Energy can, however, be converted from one form to another or transferred from a system to the surroundings or vice versa.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9144000" cy="1143000"/>
          </a:xfrm>
        </p:spPr>
        <p:txBody>
          <a:bodyPr/>
          <a:lstStyle/>
          <a:p>
            <a:pPr eaLnBrk="1" hangingPunct="1"/>
            <a:r>
              <a:rPr lang="en-US" dirty="0"/>
              <a:t>Enthalpy/Entropy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609600" y="1371600"/>
            <a:ext cx="8305800" cy="4114800"/>
          </a:xfrm>
        </p:spPr>
        <p:txBody>
          <a:bodyPr/>
          <a:lstStyle/>
          <a:p>
            <a:pPr eaLnBrk="1" hangingPunct="1"/>
            <a:r>
              <a:rPr lang="en-US" sz="3000" dirty="0" smtClean="0"/>
              <a:t>Change in enthalpy </a:t>
            </a:r>
            <a:r>
              <a:rPr lang="en-US" sz="3000" dirty="0"/>
              <a:t>is the heat absorbed by a system during a </a:t>
            </a:r>
            <a:r>
              <a:rPr lang="en-US" sz="3000" dirty="0">
                <a:solidFill>
                  <a:srgbClr val="FF0000"/>
                </a:solidFill>
              </a:rPr>
              <a:t>constant-pressure</a:t>
            </a:r>
            <a:r>
              <a:rPr lang="en-US" sz="3000" dirty="0"/>
              <a:t> process</a:t>
            </a:r>
            <a:r>
              <a:rPr lang="en-US" sz="3000" dirty="0" smtClean="0"/>
              <a:t>.</a:t>
            </a:r>
          </a:p>
          <a:p>
            <a:pPr eaLnBrk="1" hangingPunct="1"/>
            <a:endParaRPr lang="en-US" sz="3000" dirty="0"/>
          </a:p>
          <a:p>
            <a:pPr eaLnBrk="1" hangingPunct="1"/>
            <a:r>
              <a:rPr lang="en-US" sz="3000" dirty="0">
                <a:solidFill>
                  <a:srgbClr val="0000FF"/>
                </a:solidFill>
              </a:rPr>
              <a:t>Entropy</a:t>
            </a:r>
            <a:r>
              <a:rPr lang="en-US" sz="3000" dirty="0"/>
              <a:t> is a measure of the randomness in a system</a:t>
            </a:r>
            <a:r>
              <a:rPr lang="en-US" sz="3000" dirty="0" smtClean="0"/>
              <a:t>.</a:t>
            </a:r>
          </a:p>
          <a:p>
            <a:pPr eaLnBrk="1" hangingPunct="1"/>
            <a:endParaRPr lang="en-US" sz="3000" dirty="0"/>
          </a:p>
          <a:p>
            <a:pPr eaLnBrk="1" hangingPunct="1"/>
            <a:r>
              <a:rPr lang="en-US" sz="3000" dirty="0"/>
              <a:t>Both play a role in determining whether a process is spontaneous.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04775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/>
              <a:t>Spontaneous Processes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7463" y="914400"/>
            <a:ext cx="5202237" cy="5334000"/>
          </a:xfrm>
        </p:spPr>
        <p:txBody>
          <a:bodyPr/>
          <a:lstStyle/>
          <a:p>
            <a:pPr eaLnBrk="1" hangingPunct="1"/>
            <a:r>
              <a:rPr lang="en-US" sz="2800" b="1" dirty="0"/>
              <a:t>Spontaneous processes</a:t>
            </a:r>
            <a:r>
              <a:rPr lang="en-US" sz="2800" dirty="0"/>
              <a:t> proceed without any outside assistance.</a:t>
            </a:r>
          </a:p>
          <a:p>
            <a:pPr eaLnBrk="1" hangingPunct="1"/>
            <a:r>
              <a:rPr lang="en-US" sz="2800" dirty="0"/>
              <a:t>The gas in vessel A will spontaneously effuse into vessel B, but it will </a:t>
            </a:r>
            <a:r>
              <a:rPr lang="en-US" sz="2800" i="1" dirty="0"/>
              <a:t>not</a:t>
            </a:r>
            <a:r>
              <a:rPr lang="en-US" sz="2800" dirty="0"/>
              <a:t> spontaneously return to vessel A.</a:t>
            </a:r>
          </a:p>
          <a:p>
            <a:pPr marL="342900" lvl="1" indent="-342900" eaLnBrk="1" hangingPunct="1">
              <a:buFontTx/>
              <a:buChar char="•"/>
            </a:pPr>
            <a:r>
              <a:rPr lang="en-US" dirty="0"/>
              <a:t>Processes that are spontaneous in one</a:t>
            </a:r>
            <a:r>
              <a:rPr lang="en-US" dirty="0" smtClean="0"/>
              <a:t> direction </a:t>
            </a:r>
            <a:r>
              <a:rPr lang="en-US" dirty="0"/>
              <a:t>are </a:t>
            </a:r>
            <a:r>
              <a:rPr lang="en-US" dirty="0" err="1"/>
              <a:t>nonspontaneous</a:t>
            </a:r>
            <a:r>
              <a:rPr lang="en-US" dirty="0"/>
              <a:t> in the reverse direction.</a:t>
            </a:r>
          </a:p>
        </p:txBody>
      </p:sp>
      <p:pic>
        <p:nvPicPr>
          <p:cNvPr id="6" name="Picture 5" descr="19_02_Figure.jpg"/>
          <p:cNvPicPr>
            <a:picLocks noChangeAspect="1"/>
          </p:cNvPicPr>
          <p:nvPr/>
        </p:nvPicPr>
        <p:blipFill>
          <a:blip r:embed="rId3" cstate="print"/>
          <a:srcRect b="2546"/>
          <a:stretch>
            <a:fillRect/>
          </a:stretch>
        </p:blipFill>
        <p:spPr>
          <a:xfrm>
            <a:off x="5105400" y="1455493"/>
            <a:ext cx="1752600" cy="4488107"/>
          </a:xfrm>
          <a:prstGeom prst="rect">
            <a:avLst/>
          </a:prstGeom>
        </p:spPr>
      </p:pic>
      <p:pic>
        <p:nvPicPr>
          <p:cNvPr id="7" name="Picture 6" descr="19_01_Figure.jpg"/>
          <p:cNvPicPr>
            <a:picLocks noChangeAspect="1"/>
          </p:cNvPicPr>
          <p:nvPr/>
        </p:nvPicPr>
        <p:blipFill>
          <a:blip r:embed="rId4" cstate="print"/>
          <a:srcRect b="2546"/>
          <a:stretch>
            <a:fillRect/>
          </a:stretch>
        </p:blipFill>
        <p:spPr>
          <a:xfrm>
            <a:off x="6847416" y="838200"/>
            <a:ext cx="2105220" cy="47244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74585"/>
            <a:ext cx="9144000" cy="1295400"/>
          </a:xfrm>
        </p:spPr>
        <p:txBody>
          <a:bodyPr/>
          <a:lstStyle/>
          <a:p>
            <a:pPr eaLnBrk="1" hangingPunct="1"/>
            <a:r>
              <a:rPr lang="en-US" sz="2700" b="1" dirty="0" smtClean="0"/>
              <a:t>Experimental Factors Affect Spontaneous Processes</a:t>
            </a:r>
            <a:endParaRPr lang="en-US" sz="2700" b="1" dirty="0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914400"/>
            <a:ext cx="8686800" cy="1676400"/>
          </a:xfrm>
        </p:spPr>
        <p:txBody>
          <a:bodyPr/>
          <a:lstStyle/>
          <a:p>
            <a:pPr eaLnBrk="1" hangingPunct="1"/>
            <a:r>
              <a:rPr lang="en-US" sz="2800" dirty="0"/>
              <a:t>Temperature and pressure can affect spontaneity</a:t>
            </a:r>
            <a:r>
              <a:rPr lang="en-US" sz="2800" dirty="0" smtClean="0"/>
              <a:t>.</a:t>
            </a:r>
          </a:p>
          <a:p>
            <a:pPr eaLnBrk="1" hangingPunct="1"/>
            <a:endParaRPr lang="en-US" sz="2800" dirty="0"/>
          </a:p>
          <a:p>
            <a:pPr eaLnBrk="1" hangingPunct="1"/>
            <a:r>
              <a:rPr lang="en-US" sz="2800" dirty="0"/>
              <a:t>An example of how temperature affects spontaneity is ice melting or freezing.</a:t>
            </a:r>
          </a:p>
        </p:txBody>
      </p:sp>
      <p:pic>
        <p:nvPicPr>
          <p:cNvPr id="5" name="Picture 4" descr="19_03_Figure.jpg"/>
          <p:cNvPicPr>
            <a:picLocks noChangeAspect="1"/>
          </p:cNvPicPr>
          <p:nvPr/>
        </p:nvPicPr>
        <p:blipFill>
          <a:blip r:embed="rId3" cstate="print"/>
          <a:srcRect b="4243"/>
          <a:stretch>
            <a:fillRect/>
          </a:stretch>
        </p:blipFill>
        <p:spPr>
          <a:xfrm>
            <a:off x="609600" y="3124200"/>
            <a:ext cx="7391400" cy="3038393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14300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/>
              <a:t>Reversible and Irreversible Processes</a:t>
            </a:r>
          </a:p>
        </p:txBody>
      </p:sp>
      <p:sp>
        <p:nvSpPr>
          <p:cNvPr id="8195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39688" y="3352800"/>
            <a:ext cx="4648200" cy="2747963"/>
          </a:xfrm>
        </p:spPr>
        <p:txBody>
          <a:bodyPr/>
          <a:lstStyle/>
          <a:p>
            <a:pPr marL="114300" lvl="1" indent="0" eaLnBrk="1" hangingPunct="1">
              <a:lnSpc>
                <a:spcPct val="90000"/>
              </a:lnSpc>
              <a:buFontTx/>
              <a:buNone/>
            </a:pPr>
            <a:r>
              <a:rPr lang="en-US" sz="2400" dirty="0"/>
              <a:t>Reversible process: The system changes so that the system and surroundings can be returned to the original state by exactly reversing the process. This maximizes work done by a system </a:t>
            </a:r>
            <a:r>
              <a:rPr lang="en-US" sz="2400" i="1" dirty="0"/>
              <a:t>on </a:t>
            </a:r>
            <a:r>
              <a:rPr lang="en-US" sz="2400" dirty="0"/>
              <a:t>the surroundings.</a:t>
            </a:r>
          </a:p>
        </p:txBody>
      </p:sp>
      <p:sp>
        <p:nvSpPr>
          <p:cNvPr id="8197" name="Rectangle 1"/>
          <p:cNvSpPr>
            <a:spLocks noChangeArrowheads="1"/>
          </p:cNvSpPr>
          <p:nvPr/>
        </p:nvSpPr>
        <p:spPr bwMode="auto">
          <a:xfrm>
            <a:off x="4808538" y="3241675"/>
            <a:ext cx="4335462" cy="304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 sz="2400" dirty="0"/>
              <a:t>Irreversible processes cannot be undone by exactly reversing the change to the system or cannot have the process exactly followed in reverse. Also, any spontaneous process is irreversible!</a:t>
            </a:r>
          </a:p>
        </p:txBody>
      </p:sp>
      <p:pic>
        <p:nvPicPr>
          <p:cNvPr id="7" name="Picture 6" descr="19_04_Figure.jpg"/>
          <p:cNvPicPr>
            <a:picLocks noChangeAspect="1"/>
          </p:cNvPicPr>
          <p:nvPr/>
        </p:nvPicPr>
        <p:blipFill>
          <a:blip r:embed="rId3" cstate="print"/>
          <a:srcRect b="4653"/>
          <a:stretch>
            <a:fillRect/>
          </a:stretch>
        </p:blipFill>
        <p:spPr>
          <a:xfrm>
            <a:off x="228600" y="1401182"/>
            <a:ext cx="4343400" cy="1875418"/>
          </a:xfrm>
          <a:prstGeom prst="rect">
            <a:avLst/>
          </a:prstGeom>
        </p:spPr>
      </p:pic>
      <p:pic>
        <p:nvPicPr>
          <p:cNvPr id="8" name="Picture 7" descr="19_05_Figure.jpg"/>
          <p:cNvPicPr>
            <a:picLocks noChangeAspect="1"/>
          </p:cNvPicPr>
          <p:nvPr/>
        </p:nvPicPr>
        <p:blipFill>
          <a:blip r:embed="rId4" cstate="print"/>
          <a:srcRect b="4992"/>
          <a:stretch>
            <a:fillRect/>
          </a:stretch>
        </p:blipFill>
        <p:spPr>
          <a:xfrm>
            <a:off x="4867742" y="1447800"/>
            <a:ext cx="4123858" cy="1709928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Entropy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305800" cy="4419600"/>
          </a:xfrm>
        </p:spPr>
        <p:txBody>
          <a:bodyPr/>
          <a:lstStyle/>
          <a:p>
            <a:pPr eaLnBrk="1" hangingPunct="1"/>
            <a:r>
              <a:rPr lang="en-US" b="1" dirty="0"/>
              <a:t>Entropy</a:t>
            </a:r>
            <a:r>
              <a:rPr lang="en-US" dirty="0"/>
              <a:t> can be thought of as a measure of the randomness of a system.</a:t>
            </a:r>
          </a:p>
          <a:p>
            <a:pPr eaLnBrk="1" hangingPunct="1"/>
            <a:r>
              <a:rPr lang="en-US" dirty="0"/>
              <a:t>It is a state function:</a:t>
            </a:r>
          </a:p>
          <a:p>
            <a:pPr eaLnBrk="1" hangingPunct="1">
              <a:buFontTx/>
              <a:buNone/>
            </a:pPr>
            <a:r>
              <a:rPr lang="en-US" dirty="0"/>
              <a:t>	</a:t>
            </a:r>
          </a:p>
          <a:p>
            <a:pPr eaLnBrk="1" hangingPunct="1">
              <a:spcBef>
                <a:spcPts val="1400"/>
              </a:spcBef>
            </a:pPr>
            <a:r>
              <a:rPr lang="en-US" dirty="0" smtClean="0"/>
              <a:t>It </a:t>
            </a:r>
            <a:r>
              <a:rPr lang="en-US" dirty="0"/>
              <a:t>can be found by </a:t>
            </a:r>
            <a:r>
              <a:rPr lang="en-US" dirty="0">
                <a:solidFill>
                  <a:srgbClr val="FF0000"/>
                </a:solidFill>
              </a:rPr>
              <a:t>heat transfer </a:t>
            </a:r>
            <a:r>
              <a:rPr lang="en-US" dirty="0">
                <a:solidFill>
                  <a:srgbClr val="0000FF"/>
                </a:solidFill>
              </a:rPr>
              <a:t>from</a:t>
            </a:r>
            <a:r>
              <a:rPr lang="en-US" dirty="0">
                <a:solidFill>
                  <a:srgbClr val="FF0000"/>
                </a:solidFill>
              </a:rPr>
              <a:t> surroundings</a:t>
            </a:r>
            <a:r>
              <a:rPr lang="en-US" dirty="0"/>
              <a:t> at a given temperature:</a:t>
            </a:r>
          </a:p>
          <a:p>
            <a:pPr eaLnBrk="1" hangingPunct="1">
              <a:buFontTx/>
              <a:buNone/>
            </a:pPr>
            <a:r>
              <a:rPr lang="en-US" dirty="0"/>
              <a:t>	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3225800"/>
            <a:ext cx="2960370" cy="3556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4953000"/>
            <a:ext cx="3489960" cy="62484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20688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/>
              <a:t>Second Law of Thermodynamics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752600"/>
            <a:ext cx="8229600" cy="2438400"/>
          </a:xfrm>
        </p:spPr>
        <p:txBody>
          <a:bodyPr/>
          <a:lstStyle/>
          <a:p>
            <a:pPr eaLnBrk="1" hangingPunct="1">
              <a:buClr>
                <a:schemeClr val="tx1"/>
              </a:buClr>
              <a:buFont typeface="Wingdings" charset="2"/>
              <a:buChar char="Ø"/>
            </a:pPr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entropy of the universe </a:t>
            </a:r>
            <a:r>
              <a:rPr lang="en-US" dirty="0"/>
              <a:t>increases in any spontaneous processes</a:t>
            </a:r>
            <a:r>
              <a:rPr lang="en-US" dirty="0" smtClean="0"/>
              <a:t>.</a:t>
            </a:r>
          </a:p>
          <a:p>
            <a:pPr eaLnBrk="1" hangingPunct="1">
              <a:buClr>
                <a:schemeClr val="tx1"/>
              </a:buClr>
              <a:buFont typeface="Wingdings" charset="2"/>
              <a:buChar char="Ø"/>
            </a:pPr>
            <a:endParaRPr lang="en-US" dirty="0"/>
          </a:p>
          <a:p>
            <a:pPr eaLnBrk="1" hangingPunct="1">
              <a:buClr>
                <a:schemeClr val="tx1"/>
              </a:buClr>
              <a:buFont typeface="Wingdings" charset="2"/>
              <a:buChar char="Ø"/>
            </a:pPr>
            <a:r>
              <a:rPr lang="en-US" dirty="0"/>
              <a:t>This results in the following relationships: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399" y="4568824"/>
            <a:ext cx="7169963" cy="99377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-4823" y="-152400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/>
              <a:t>Entropy on the Molecular Scale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7618" y="2795588"/>
            <a:ext cx="8991600" cy="3910012"/>
          </a:xfrm>
        </p:spPr>
        <p:txBody>
          <a:bodyPr/>
          <a:lstStyle/>
          <a:p>
            <a:pPr eaLnBrk="1" hangingPunct="1"/>
            <a:r>
              <a:rPr lang="en-US" sz="2600" dirty="0"/>
              <a:t>Boltzmann described entropy on the molecular level.</a:t>
            </a:r>
          </a:p>
          <a:p>
            <a:pPr eaLnBrk="1" hangingPunct="1">
              <a:spcBef>
                <a:spcPts val="300"/>
              </a:spcBef>
            </a:pPr>
            <a:r>
              <a:rPr lang="en-US" sz="2600" dirty="0"/>
              <a:t>Gas molecule expansion: Two molecules are in the apparatus above; both start in one side. What is the likelihood they both will end up there? (1/2)</a:t>
            </a:r>
            <a:r>
              <a:rPr lang="en-US" sz="2600" baseline="40000" dirty="0"/>
              <a:t>2</a:t>
            </a:r>
            <a:endParaRPr lang="en-US" sz="2600" dirty="0"/>
          </a:p>
          <a:p>
            <a:pPr eaLnBrk="1" hangingPunct="1">
              <a:spcBef>
                <a:spcPts val="300"/>
              </a:spcBef>
            </a:pPr>
            <a:r>
              <a:rPr lang="en-US" sz="2600" dirty="0"/>
              <a:t>If one mole is used? (1/2)</a:t>
            </a:r>
            <a:r>
              <a:rPr lang="en-US" sz="2600" baseline="40000" dirty="0"/>
              <a:t>6.02×10</a:t>
            </a:r>
            <a:r>
              <a:rPr lang="en-US" sz="2600" baseline="60000" dirty="0"/>
              <a:t>23</a:t>
            </a:r>
            <a:r>
              <a:rPr lang="en-US" sz="2600" dirty="0"/>
              <a:t>! (</a:t>
            </a:r>
            <a:r>
              <a:rPr lang="en-US" sz="2600" i="1" dirty="0"/>
              <a:t>No</a:t>
            </a:r>
            <a:r>
              <a:rPr lang="en-US" sz="2600" dirty="0"/>
              <a:t> chance!)</a:t>
            </a:r>
          </a:p>
          <a:p>
            <a:pPr eaLnBrk="1" hangingPunct="1">
              <a:spcBef>
                <a:spcPts val="300"/>
              </a:spcBef>
            </a:pPr>
            <a:r>
              <a:rPr lang="en-US" sz="2600" dirty="0"/>
              <a:t>Gases spontaneously expand to fill the volume given.</a:t>
            </a:r>
          </a:p>
          <a:p>
            <a:pPr eaLnBrk="1" hangingPunct="1">
              <a:spcBef>
                <a:spcPts val="300"/>
              </a:spcBef>
            </a:pPr>
            <a:r>
              <a:rPr lang="en-US" sz="2600" dirty="0"/>
              <a:t>Most probable arrangement of molecules: approximately equal molecules in each side</a:t>
            </a:r>
          </a:p>
        </p:txBody>
      </p:sp>
      <p:pic>
        <p:nvPicPr>
          <p:cNvPr id="5" name="Picture 4" descr="19_06_Figure.jpg"/>
          <p:cNvPicPr>
            <a:picLocks noChangeAspect="1"/>
          </p:cNvPicPr>
          <p:nvPr/>
        </p:nvPicPr>
        <p:blipFill>
          <a:blip r:embed="rId3" cstate="print"/>
          <a:srcRect b="4728"/>
          <a:stretch>
            <a:fillRect/>
          </a:stretch>
        </p:blipFill>
        <p:spPr>
          <a:xfrm>
            <a:off x="1828800" y="990600"/>
            <a:ext cx="5035494" cy="1703076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4"/>
          <p:cNvSpPr>
            <a:spLocks noGrp="1"/>
          </p:cNvSpPr>
          <p:nvPr>
            <p:ph type="title"/>
          </p:nvPr>
        </p:nvSpPr>
        <p:spPr>
          <a:xfrm>
            <a:off x="-1" y="0"/>
            <a:ext cx="9144001" cy="1143000"/>
          </a:xfrm>
        </p:spPr>
        <p:txBody>
          <a:bodyPr/>
          <a:lstStyle/>
          <a:p>
            <a:r>
              <a:rPr lang="en-US" sz="3200" b="1" dirty="0"/>
              <a:t>Statistical Thermodynamics</a:t>
            </a:r>
          </a:p>
        </p:txBody>
      </p:sp>
      <p:sp>
        <p:nvSpPr>
          <p:cNvPr id="12291" name="Content Placeholder 5"/>
          <p:cNvSpPr>
            <a:spLocks noGrp="1"/>
          </p:cNvSpPr>
          <p:nvPr>
            <p:ph idx="1"/>
          </p:nvPr>
        </p:nvSpPr>
        <p:spPr>
          <a:xfrm>
            <a:off x="190499" y="1070658"/>
            <a:ext cx="8763000" cy="4876800"/>
          </a:xfrm>
        </p:spPr>
        <p:txBody>
          <a:bodyPr/>
          <a:lstStyle/>
          <a:p>
            <a:r>
              <a:rPr lang="en-US" dirty="0"/>
              <a:t>Thermodynamics looks at </a:t>
            </a:r>
            <a:r>
              <a:rPr lang="en-US" dirty="0">
                <a:solidFill>
                  <a:srgbClr val="FF0000"/>
                </a:solidFill>
              </a:rPr>
              <a:t>bulk</a:t>
            </a:r>
            <a:r>
              <a:rPr lang="en-US" dirty="0"/>
              <a:t> properties of substances (the </a:t>
            </a:r>
            <a:r>
              <a:rPr lang="en-US" i="1" dirty="0"/>
              <a:t>big </a:t>
            </a:r>
            <a:r>
              <a:rPr lang="en-US" dirty="0"/>
              <a:t>picture).</a:t>
            </a:r>
          </a:p>
          <a:p>
            <a:r>
              <a:rPr lang="en-US" dirty="0"/>
              <a:t>We have seen what happens on the </a:t>
            </a:r>
            <a:r>
              <a:rPr lang="en-US" dirty="0">
                <a:solidFill>
                  <a:srgbClr val="FF0000"/>
                </a:solidFill>
              </a:rPr>
              <a:t>molecular scale</a:t>
            </a:r>
            <a:r>
              <a:rPr lang="en-US" dirty="0"/>
              <a:t>.</a:t>
            </a:r>
          </a:p>
          <a:p>
            <a:r>
              <a:rPr lang="en-US" dirty="0"/>
              <a:t>How do they relate?</a:t>
            </a:r>
          </a:p>
          <a:p>
            <a:r>
              <a:rPr lang="en-US" dirty="0"/>
              <a:t>We use statistics (probability) to relate them. The field is called statistical thermodynamics.</a:t>
            </a:r>
          </a:p>
          <a:p>
            <a:r>
              <a:rPr lang="en-US" dirty="0"/>
              <a:t>Microstate: A single possible arrangement of </a:t>
            </a:r>
            <a:r>
              <a:rPr lang="en-US" dirty="0">
                <a:solidFill>
                  <a:srgbClr val="FF0000"/>
                </a:solidFill>
              </a:rPr>
              <a:t>position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kinetic energy </a:t>
            </a:r>
            <a:r>
              <a:rPr lang="en-US" dirty="0"/>
              <a:t>of molecules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US" sz="3200" b="1" dirty="0"/>
              <a:t>Boltzmann’s Use of Microstates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190500" y="1143000"/>
            <a:ext cx="8763000" cy="4419600"/>
          </a:xfrm>
        </p:spPr>
        <p:txBody>
          <a:bodyPr/>
          <a:lstStyle/>
          <a:p>
            <a:r>
              <a:rPr lang="en-US" dirty="0"/>
              <a:t>Because there are so many possible microstates, we can’t look at every picture.</a:t>
            </a:r>
          </a:p>
          <a:p>
            <a:r>
              <a:rPr lang="en-US" i="1" dirty="0"/>
              <a:t>W</a:t>
            </a:r>
            <a:r>
              <a:rPr lang="en-US" dirty="0"/>
              <a:t> represents the number of microstates.</a:t>
            </a:r>
          </a:p>
          <a:p>
            <a:r>
              <a:rPr lang="en-US" dirty="0">
                <a:solidFill>
                  <a:srgbClr val="FF0000"/>
                </a:solidFill>
              </a:rPr>
              <a:t>Entropy</a:t>
            </a:r>
            <a:r>
              <a:rPr lang="en-US" dirty="0"/>
              <a:t> is a measure of how many microstates are associated with a particular macroscopic state.</a:t>
            </a:r>
          </a:p>
          <a:p>
            <a:r>
              <a:rPr lang="en-US" dirty="0"/>
              <a:t>The connection between the number of microstates and the entropy of the system is: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0900" y="5562600"/>
            <a:ext cx="2095500" cy="333131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Entropy Change</a:t>
            </a:r>
          </a:p>
        </p:txBody>
      </p:sp>
      <p:sp>
        <p:nvSpPr>
          <p:cNvPr id="14339" name="Content Placeholder 2"/>
          <p:cNvSpPr>
            <a:spLocks noGrp="1"/>
          </p:cNvSpPr>
          <p:nvPr>
            <p:ph idx="1"/>
          </p:nvPr>
        </p:nvSpPr>
        <p:spPr>
          <a:xfrm>
            <a:off x="304800" y="1295400"/>
            <a:ext cx="8610600" cy="3124200"/>
          </a:xfrm>
        </p:spPr>
        <p:txBody>
          <a:bodyPr/>
          <a:lstStyle/>
          <a:p>
            <a:r>
              <a:rPr lang="en-US" dirty="0"/>
              <a:t>Since entropy is a </a:t>
            </a:r>
            <a:r>
              <a:rPr lang="en-US" dirty="0">
                <a:solidFill>
                  <a:srgbClr val="FF0000"/>
                </a:solidFill>
              </a:rPr>
              <a:t>state function</a:t>
            </a:r>
            <a:r>
              <a:rPr lang="en-US" dirty="0"/>
              <a:t>, the final value minus the initial value will give the overall change.</a:t>
            </a:r>
          </a:p>
          <a:p>
            <a:r>
              <a:rPr lang="en-US" dirty="0"/>
              <a:t>In this case, an increase in the number of microstates results in a positive entropy change (more disorder).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4596114"/>
            <a:ext cx="7098384" cy="9144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077200" cy="1371600"/>
          </a:xfrm>
        </p:spPr>
        <p:txBody>
          <a:bodyPr/>
          <a:lstStyle/>
          <a:p>
            <a:r>
              <a:rPr lang="en-US" sz="3200" b="1" dirty="0"/>
              <a:t>Effect of Volume and Temperature Change on the System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152400" y="1371600"/>
            <a:ext cx="8861123" cy="4419600"/>
          </a:xfrm>
        </p:spPr>
        <p:txBody>
          <a:bodyPr/>
          <a:lstStyle/>
          <a:p>
            <a:r>
              <a:rPr lang="en-US" sz="3000" dirty="0"/>
              <a:t>If we increase </a:t>
            </a:r>
            <a:r>
              <a:rPr lang="en-US" sz="3000" dirty="0">
                <a:solidFill>
                  <a:srgbClr val="FF0000"/>
                </a:solidFill>
              </a:rPr>
              <a:t>volume</a:t>
            </a:r>
            <a:r>
              <a:rPr lang="en-US" sz="3000" dirty="0"/>
              <a:t>, there are more </a:t>
            </a:r>
            <a:r>
              <a:rPr lang="en-US" sz="3000" dirty="0">
                <a:solidFill>
                  <a:srgbClr val="FF0000"/>
                </a:solidFill>
              </a:rPr>
              <a:t>positions</a:t>
            </a:r>
            <a:r>
              <a:rPr lang="en-US" sz="3000" dirty="0"/>
              <a:t> possible for the molecules. This results in more microstates, so increased entropy</a:t>
            </a:r>
            <a:r>
              <a:rPr lang="en-US" sz="3000" dirty="0" smtClean="0"/>
              <a:t>.</a:t>
            </a:r>
          </a:p>
          <a:p>
            <a:endParaRPr lang="en-US" sz="3000" dirty="0"/>
          </a:p>
          <a:p>
            <a:r>
              <a:rPr lang="en-US" sz="3000" dirty="0"/>
              <a:t>If we increase </a:t>
            </a:r>
            <a:r>
              <a:rPr lang="en-US" sz="3000" dirty="0">
                <a:solidFill>
                  <a:srgbClr val="FF0000"/>
                </a:solidFill>
              </a:rPr>
              <a:t>temperature</a:t>
            </a:r>
            <a:r>
              <a:rPr lang="en-US" sz="3000" dirty="0"/>
              <a:t>, the </a:t>
            </a:r>
            <a:r>
              <a:rPr lang="en-US" sz="3000" dirty="0">
                <a:solidFill>
                  <a:srgbClr val="FF0000"/>
                </a:solidFill>
              </a:rPr>
              <a:t>average kinetic energy increases</a:t>
            </a:r>
            <a:r>
              <a:rPr lang="en-US" sz="3000" dirty="0"/>
              <a:t>. This results in a </a:t>
            </a:r>
            <a:r>
              <a:rPr lang="en-US" sz="3000" u="sng" dirty="0"/>
              <a:t>greater distribution</a:t>
            </a:r>
            <a:r>
              <a:rPr lang="en-US" sz="3000" dirty="0"/>
              <a:t> of molecular speeds. Therefore, there are more possible kinetic energy values, resulting in more microstates, increasing entropy.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/>
              <a:t>Molecular Motions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1045580"/>
            <a:ext cx="8610600" cy="4038600"/>
          </a:xfrm>
        </p:spPr>
        <p:txBody>
          <a:bodyPr/>
          <a:lstStyle/>
          <a:p>
            <a:pPr eaLnBrk="1" hangingPunct="1"/>
            <a:r>
              <a:rPr lang="en-US" sz="2800" dirty="0"/>
              <a:t>Molecules exhibit several types of motion.</a:t>
            </a:r>
          </a:p>
          <a:p>
            <a:pPr eaLnBrk="1" hangingPunct="1">
              <a:buFont typeface="Wingdings" charset="2"/>
              <a:buChar char="Ø"/>
            </a:pPr>
            <a:r>
              <a:rPr lang="en-US" sz="2800" dirty="0">
                <a:solidFill>
                  <a:srgbClr val="FF0000"/>
                </a:solidFill>
              </a:rPr>
              <a:t>Translational</a:t>
            </a:r>
            <a:r>
              <a:rPr lang="en-US" sz="2800" dirty="0"/>
              <a:t>: Movement of the entire molecule from one place to another</a:t>
            </a:r>
          </a:p>
          <a:p>
            <a:pPr eaLnBrk="1" hangingPunct="1">
              <a:buFont typeface="Wingdings" charset="2"/>
              <a:buChar char="Ø"/>
            </a:pPr>
            <a:r>
              <a:rPr lang="en-US" sz="2800" dirty="0">
                <a:solidFill>
                  <a:srgbClr val="FF0000"/>
                </a:solidFill>
              </a:rPr>
              <a:t>Vibrational</a:t>
            </a:r>
            <a:r>
              <a:rPr lang="en-US" sz="2800" dirty="0"/>
              <a:t>: Periodic motion of atoms within a </a:t>
            </a:r>
            <a:r>
              <a:rPr lang="en-US" sz="2800" dirty="0" smtClean="0"/>
              <a:t>molecule (change in </a:t>
            </a:r>
            <a:r>
              <a:rPr lang="en-US" sz="2800" u="sng" dirty="0" smtClean="0"/>
              <a:t>bond lengths or angles</a:t>
            </a:r>
            <a:r>
              <a:rPr lang="en-US" sz="2800" dirty="0" smtClean="0"/>
              <a:t>)</a:t>
            </a:r>
            <a:endParaRPr lang="en-US" sz="2800" dirty="0"/>
          </a:p>
          <a:p>
            <a:pPr eaLnBrk="1" hangingPunct="1">
              <a:buFont typeface="Wingdings" charset="2"/>
              <a:buChar char="Ø"/>
            </a:pPr>
            <a:r>
              <a:rPr lang="en-US" sz="2800" dirty="0">
                <a:solidFill>
                  <a:srgbClr val="FF0000"/>
                </a:solidFill>
              </a:rPr>
              <a:t>Rotational</a:t>
            </a:r>
            <a:r>
              <a:rPr lang="en-US" sz="2800" dirty="0"/>
              <a:t>: Rotation of the molecule about an axis</a:t>
            </a:r>
          </a:p>
          <a:p>
            <a:pPr eaLnBrk="1" hangingPunct="1"/>
            <a:r>
              <a:rPr lang="en-US" sz="2800" dirty="0"/>
              <a:t>Note: More </a:t>
            </a:r>
            <a:r>
              <a:rPr lang="en-US" sz="2800" i="1" dirty="0"/>
              <a:t>atoms </a:t>
            </a:r>
            <a:r>
              <a:rPr lang="en-US" sz="2800" dirty="0"/>
              <a:t>means more microstates (more possible molecular motions).</a:t>
            </a:r>
          </a:p>
        </p:txBody>
      </p:sp>
      <p:pic>
        <p:nvPicPr>
          <p:cNvPr id="5" name="Picture 4" descr="19_08_Figure.jpg"/>
          <p:cNvPicPr>
            <a:picLocks noChangeAspect="1"/>
          </p:cNvPicPr>
          <p:nvPr/>
        </p:nvPicPr>
        <p:blipFill>
          <a:blip r:embed="rId3" cstate="print"/>
          <a:srcRect b="8730"/>
          <a:stretch>
            <a:fillRect/>
          </a:stretch>
        </p:blipFill>
        <p:spPr>
          <a:xfrm>
            <a:off x="609600" y="4917311"/>
            <a:ext cx="7050157" cy="14478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/>
              <a:t>Entropy on the Molecular Scale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295400"/>
            <a:ext cx="8153400" cy="4275138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sz="2800" dirty="0"/>
              <a:t>The number of microstates and, therefore, the entropy tend to increase with increases </a:t>
            </a:r>
            <a:r>
              <a:rPr lang="en-US" sz="2800" dirty="0" smtClean="0"/>
              <a:t>in</a:t>
            </a:r>
          </a:p>
          <a:p>
            <a:pPr eaLnBrk="1" hangingPunct="1"/>
            <a:endParaRPr lang="en-US" sz="2800" dirty="0"/>
          </a:p>
          <a:p>
            <a:pPr eaLnBrk="1" hangingPunct="1">
              <a:buFont typeface="Wingdings" charset="2"/>
              <a:buChar char="Ø"/>
            </a:pPr>
            <a:r>
              <a:rPr lang="en-US" sz="2800" dirty="0"/>
              <a:t>temperature</a:t>
            </a:r>
            <a:r>
              <a:rPr lang="en-US" sz="2800" dirty="0" smtClean="0"/>
              <a:t>.</a:t>
            </a:r>
          </a:p>
          <a:p>
            <a:pPr eaLnBrk="1" hangingPunct="1">
              <a:buFont typeface="Wingdings" charset="2"/>
              <a:buChar char="Ø"/>
            </a:pPr>
            <a:endParaRPr lang="en-US" sz="2800" dirty="0"/>
          </a:p>
          <a:p>
            <a:pPr eaLnBrk="1" hangingPunct="1">
              <a:buFont typeface="Wingdings" charset="2"/>
              <a:buChar char="Ø"/>
            </a:pPr>
            <a:r>
              <a:rPr lang="en-US" sz="2800" dirty="0"/>
              <a:t>volume</a:t>
            </a:r>
            <a:r>
              <a:rPr lang="en-US" sz="2800" dirty="0" smtClean="0"/>
              <a:t>.</a:t>
            </a:r>
          </a:p>
          <a:p>
            <a:pPr eaLnBrk="1" hangingPunct="1">
              <a:buFont typeface="Wingdings" charset="2"/>
              <a:buChar char="Ø"/>
            </a:pPr>
            <a:endParaRPr lang="en-US" sz="2800" dirty="0"/>
          </a:p>
          <a:p>
            <a:pPr eaLnBrk="1" hangingPunct="1">
              <a:buFont typeface="Wingdings" charset="2"/>
              <a:buChar char="Ø"/>
            </a:pPr>
            <a:r>
              <a:rPr lang="en-US" sz="2800" dirty="0"/>
              <a:t>the number of independently moving molecules.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/>
              <a:t>Entropy and Physical States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66700" y="1143000"/>
            <a:ext cx="8610599" cy="27051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Entropy increases with the freedom of motion of molecules.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i="1" dirty="0" err="1"/>
              <a:t>S</a:t>
            </a:r>
            <a:r>
              <a:rPr lang="en-US" sz="2400" dirty="0" err="1"/>
              <a:t>(</a:t>
            </a:r>
            <a:r>
              <a:rPr lang="en-US" sz="2400" i="1" dirty="0" err="1"/>
              <a:t>g</a:t>
            </a:r>
            <a:r>
              <a:rPr lang="en-US" sz="2400" dirty="0"/>
              <a:t>) &gt; </a:t>
            </a:r>
            <a:r>
              <a:rPr lang="en-US" sz="2400" i="1" dirty="0" err="1"/>
              <a:t>S</a:t>
            </a:r>
            <a:r>
              <a:rPr lang="en-US" sz="2400" dirty="0" err="1"/>
              <a:t>(</a:t>
            </a:r>
            <a:r>
              <a:rPr lang="en-US" sz="2400" i="1" dirty="0" err="1"/>
              <a:t>l</a:t>
            </a:r>
            <a:r>
              <a:rPr lang="en-US" sz="2400" dirty="0"/>
              <a:t>) &gt; </a:t>
            </a:r>
            <a:r>
              <a:rPr lang="en-US" sz="2400" i="1" dirty="0" err="1"/>
              <a:t>S</a:t>
            </a:r>
            <a:r>
              <a:rPr lang="en-US" sz="2400" dirty="0" err="1"/>
              <a:t>(</a:t>
            </a:r>
            <a:r>
              <a:rPr lang="en-US" sz="2400" i="1" dirty="0" err="1"/>
              <a:t>s</a:t>
            </a:r>
            <a:r>
              <a:rPr lang="en-US" sz="2400" dirty="0"/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Entropy of a system increases for processes where</a:t>
            </a:r>
          </a:p>
          <a:p>
            <a:pPr eaLnBrk="1" hangingPunct="1">
              <a:lnSpc>
                <a:spcPct val="90000"/>
              </a:lnSpc>
              <a:buFont typeface="Wingdings" charset="2"/>
              <a:buChar char="Ø"/>
            </a:pPr>
            <a:r>
              <a:rPr lang="en-US" sz="2400" dirty="0"/>
              <a:t>gases form from either solids or liquids.</a:t>
            </a:r>
          </a:p>
          <a:p>
            <a:pPr eaLnBrk="1" hangingPunct="1">
              <a:lnSpc>
                <a:spcPct val="90000"/>
              </a:lnSpc>
              <a:buFont typeface="Wingdings" charset="2"/>
              <a:buChar char="Ø"/>
            </a:pPr>
            <a:r>
              <a:rPr lang="en-US" sz="2400" dirty="0"/>
              <a:t>liquids or solutions form from solids.</a:t>
            </a:r>
          </a:p>
          <a:p>
            <a:pPr eaLnBrk="1" hangingPunct="1">
              <a:lnSpc>
                <a:spcPct val="90000"/>
              </a:lnSpc>
              <a:buFont typeface="Wingdings" charset="2"/>
              <a:buChar char="Ø"/>
            </a:pPr>
            <a:r>
              <a:rPr lang="en-US" sz="2400" dirty="0"/>
              <a:t>the number of gas molecules </a:t>
            </a:r>
            <a:r>
              <a:rPr lang="en-US" sz="2400" dirty="0" smtClean="0"/>
              <a:t>increases</a:t>
            </a:r>
            <a:br>
              <a:rPr lang="en-US" sz="2400" dirty="0" smtClean="0"/>
            </a:br>
            <a:r>
              <a:rPr lang="en-US" sz="2400" dirty="0" smtClean="0"/>
              <a:t> </a:t>
            </a:r>
            <a:r>
              <a:rPr lang="en-US" sz="2400" dirty="0"/>
              <a:t>during a chemical reaction.</a:t>
            </a:r>
          </a:p>
          <a:p>
            <a:pPr eaLnBrk="1" hangingPunct="1">
              <a:lnSpc>
                <a:spcPct val="90000"/>
              </a:lnSpc>
            </a:pPr>
            <a:endParaRPr lang="en-US" sz="2400" dirty="0"/>
          </a:p>
        </p:txBody>
      </p:sp>
      <p:pic>
        <p:nvPicPr>
          <p:cNvPr id="7" name="Picture 6" descr="19_09_Figure.jpg"/>
          <p:cNvPicPr>
            <a:picLocks noChangeAspect="1"/>
          </p:cNvPicPr>
          <p:nvPr/>
        </p:nvPicPr>
        <p:blipFill>
          <a:blip r:embed="rId3" cstate="print"/>
          <a:srcRect b="3997"/>
          <a:stretch>
            <a:fillRect/>
          </a:stretch>
        </p:blipFill>
        <p:spPr>
          <a:xfrm>
            <a:off x="341465" y="4191000"/>
            <a:ext cx="4230535" cy="2286000"/>
          </a:xfrm>
          <a:prstGeom prst="rect">
            <a:avLst/>
          </a:prstGeom>
        </p:spPr>
      </p:pic>
      <p:pic>
        <p:nvPicPr>
          <p:cNvPr id="8" name="Picture 7" descr="19_10_Figure.jpg"/>
          <p:cNvPicPr>
            <a:picLocks noChangeAspect="1"/>
          </p:cNvPicPr>
          <p:nvPr/>
        </p:nvPicPr>
        <p:blipFill>
          <a:blip r:embed="rId4" cstate="print"/>
          <a:srcRect b="2546"/>
          <a:stretch>
            <a:fillRect/>
          </a:stretch>
        </p:blipFill>
        <p:spPr>
          <a:xfrm>
            <a:off x="4638643" y="4876800"/>
            <a:ext cx="1838357" cy="1828800"/>
          </a:xfrm>
          <a:prstGeom prst="rect">
            <a:avLst/>
          </a:prstGeom>
        </p:spPr>
      </p:pic>
      <p:pic>
        <p:nvPicPr>
          <p:cNvPr id="9" name="Picture 8" descr="19_11_Figure.jpg"/>
          <p:cNvPicPr>
            <a:picLocks noChangeAspect="1"/>
          </p:cNvPicPr>
          <p:nvPr/>
        </p:nvPicPr>
        <p:blipFill>
          <a:blip r:embed="rId5" cstate="print"/>
          <a:srcRect b="2546"/>
          <a:stretch>
            <a:fillRect/>
          </a:stretch>
        </p:blipFill>
        <p:spPr>
          <a:xfrm>
            <a:off x="6534539" y="3384630"/>
            <a:ext cx="2495161" cy="24384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6752" y="152400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/>
              <a:t>Third Law of Thermodynamics</a:t>
            </a:r>
          </a:p>
        </p:txBody>
      </p:sp>
      <p:sp>
        <p:nvSpPr>
          <p:cNvPr id="19459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267200" y="1828800"/>
            <a:ext cx="4724400" cy="3962400"/>
          </a:xfrm>
        </p:spPr>
        <p:txBody>
          <a:bodyPr/>
          <a:lstStyle/>
          <a:p>
            <a:pPr eaLnBrk="1" hangingPunct="1"/>
            <a:r>
              <a:rPr lang="en-US" sz="2800" dirty="0"/>
              <a:t>The entropy of a pure crystalline substance at </a:t>
            </a:r>
            <a:r>
              <a:rPr lang="en-US" sz="2800" u="sng" dirty="0"/>
              <a:t>absolute zero</a:t>
            </a:r>
            <a:r>
              <a:rPr lang="en-US" sz="2800" dirty="0"/>
              <a:t> is 0.</a:t>
            </a:r>
          </a:p>
          <a:p>
            <a:pPr eaLnBrk="1" hangingPunct="1"/>
            <a:r>
              <a:rPr lang="en-US" sz="2800" dirty="0"/>
              <a:t>Consider all atoms or molecules in the perfect lattice at 0 K; there will only be </a:t>
            </a:r>
            <a:r>
              <a:rPr lang="en-US" sz="2800" i="1" dirty="0"/>
              <a:t>one </a:t>
            </a:r>
            <a:r>
              <a:rPr lang="en-US" sz="2800" dirty="0"/>
              <a:t>microstate.</a:t>
            </a:r>
          </a:p>
          <a:p>
            <a:pPr eaLnBrk="1" hangingPunct="1"/>
            <a:r>
              <a:rPr lang="en-US" sz="2800" i="1" dirty="0"/>
              <a:t>S</a:t>
            </a:r>
            <a:r>
              <a:rPr lang="en-US" sz="2800" dirty="0"/>
              <a:t>  =  </a:t>
            </a:r>
            <a:r>
              <a:rPr lang="en-US" sz="2800" i="1" dirty="0"/>
              <a:t>k</a:t>
            </a:r>
            <a:r>
              <a:rPr lang="en-US" sz="2800" dirty="0"/>
              <a:t> ln </a:t>
            </a:r>
            <a:r>
              <a:rPr lang="en-US" sz="2800" i="1" dirty="0"/>
              <a:t>W</a:t>
            </a:r>
            <a:r>
              <a:rPr lang="en-US" sz="2800" dirty="0"/>
              <a:t>  =  </a:t>
            </a:r>
            <a:r>
              <a:rPr lang="en-US" sz="2800" i="1" dirty="0"/>
              <a:t>k</a:t>
            </a:r>
            <a:r>
              <a:rPr lang="en-US" sz="2800" dirty="0"/>
              <a:t> ln 1  =  0</a:t>
            </a:r>
          </a:p>
        </p:txBody>
      </p:sp>
      <p:pic>
        <p:nvPicPr>
          <p:cNvPr id="5" name="Picture 4" descr="19_12_Figure.jpg"/>
          <p:cNvPicPr>
            <a:picLocks noChangeAspect="1"/>
          </p:cNvPicPr>
          <p:nvPr/>
        </p:nvPicPr>
        <p:blipFill>
          <a:blip r:embed="rId3" cstate="print"/>
          <a:srcRect b="2546"/>
          <a:stretch>
            <a:fillRect/>
          </a:stretch>
        </p:blipFill>
        <p:spPr>
          <a:xfrm>
            <a:off x="152400" y="1447800"/>
            <a:ext cx="3986437" cy="35052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-1295400" y="152400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/>
              <a:t>Standard Entropies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6200" y="1295400"/>
            <a:ext cx="6096000" cy="4876800"/>
          </a:xfrm>
        </p:spPr>
        <p:txBody>
          <a:bodyPr/>
          <a:lstStyle/>
          <a:p>
            <a:pPr marL="344488" indent="-344488" eaLnBrk="1" hangingPunct="1"/>
            <a:r>
              <a:rPr lang="en-US" sz="2800" dirty="0"/>
              <a:t>The reference for entropy is 0 K,</a:t>
            </a:r>
            <a:r>
              <a:rPr lang="en-US" sz="2800" dirty="0" smtClean="0"/>
              <a:t> </a:t>
            </a:r>
            <a:br>
              <a:rPr lang="en-US" sz="2800" dirty="0" smtClean="0"/>
            </a:br>
            <a:r>
              <a:rPr lang="en-US" sz="2800" dirty="0" smtClean="0"/>
              <a:t>so </a:t>
            </a:r>
            <a:r>
              <a:rPr lang="en-US" sz="2800" dirty="0"/>
              <a:t>the values for elements are </a:t>
            </a:r>
            <a:r>
              <a:rPr lang="en-US" sz="2800" i="1" dirty="0"/>
              <a:t>not </a:t>
            </a:r>
            <a:r>
              <a:rPr lang="en-US" sz="2800" dirty="0"/>
              <a:t>0 J/mol K at 298 K.</a:t>
            </a:r>
          </a:p>
          <a:p>
            <a:pPr marL="344488" indent="-344488" eaLnBrk="1" hangingPunct="1"/>
            <a:r>
              <a:rPr lang="en-US" sz="2800" dirty="0"/>
              <a:t>Standard molar enthalpy for gases are generally greater than liquids and solids. (Be careful of size!)</a:t>
            </a:r>
          </a:p>
          <a:p>
            <a:pPr marL="344488" indent="-344488" eaLnBrk="1" hangingPunct="1"/>
            <a:r>
              <a:rPr lang="en-US" sz="2800" dirty="0"/>
              <a:t>Standard entropies increase with </a:t>
            </a:r>
            <a:r>
              <a:rPr lang="en-US" sz="2800" u="sng" dirty="0"/>
              <a:t>molar mass</a:t>
            </a:r>
            <a:r>
              <a:rPr lang="en-US" sz="2800" dirty="0"/>
              <a:t>.</a:t>
            </a:r>
          </a:p>
          <a:p>
            <a:pPr marL="344488" indent="-344488" eaLnBrk="1" hangingPunct="1"/>
            <a:r>
              <a:rPr lang="en-US" sz="2800" dirty="0"/>
              <a:t>Standard entropies increase with </a:t>
            </a:r>
            <a:r>
              <a:rPr lang="en-US" sz="2800" u="sng" dirty="0"/>
              <a:t>number of atoms </a:t>
            </a:r>
            <a:r>
              <a:rPr lang="en-US" sz="2800" dirty="0"/>
              <a:t>in a formula.</a:t>
            </a:r>
          </a:p>
        </p:txBody>
      </p:sp>
      <p:pic>
        <p:nvPicPr>
          <p:cNvPr id="5" name="Picture 4" descr="19_01_Table.jpg"/>
          <p:cNvPicPr>
            <a:picLocks noChangeAspect="1"/>
          </p:cNvPicPr>
          <p:nvPr/>
        </p:nvPicPr>
        <p:blipFill>
          <a:blip r:embed="rId3" cstate="print"/>
          <a:srcRect b="2546"/>
          <a:stretch>
            <a:fillRect/>
          </a:stretch>
        </p:blipFill>
        <p:spPr>
          <a:xfrm>
            <a:off x="6172200" y="864205"/>
            <a:ext cx="2743200" cy="492699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/>
              <a:t>Entropy Changes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1450" y="1387997"/>
            <a:ext cx="8801100" cy="4495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dirty="0"/>
              <a:t>	</a:t>
            </a:r>
            <a:r>
              <a:rPr lang="en-US" sz="2800" dirty="0"/>
              <a:t>Entropy changes for a reaction can be calculated in a manner analogous to that by which </a:t>
            </a:r>
            <a:r>
              <a:rPr lang="en-US" sz="2800" dirty="0">
                <a:latin typeface="Symbol" charset="2"/>
                <a:sym typeface="Symbol" charset="2"/>
              </a:rPr>
              <a:t></a:t>
            </a:r>
            <a:r>
              <a:rPr lang="en-US" sz="2800" i="1" dirty="0"/>
              <a:t>H</a:t>
            </a:r>
            <a:r>
              <a:rPr lang="en-US" sz="2800" dirty="0"/>
              <a:t> is calculated:</a:t>
            </a:r>
          </a:p>
          <a:p>
            <a:pPr algn="ctr" eaLnBrk="1" hangingPunct="1">
              <a:lnSpc>
                <a:spcPct val="90000"/>
              </a:lnSpc>
              <a:buFontTx/>
              <a:buNone/>
            </a:pPr>
            <a:endParaRPr lang="en-US" sz="2800" dirty="0"/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sz="2800" dirty="0">
                <a:latin typeface="Symbol" charset="2"/>
                <a:sym typeface="Symbol" charset="2"/>
              </a:rPr>
              <a:t></a:t>
            </a:r>
            <a:r>
              <a:rPr lang="en-US" sz="2800" i="1" dirty="0" smtClean="0"/>
              <a:t>S</a:t>
            </a:r>
            <a:r>
              <a:rPr lang="en-US" sz="2800" dirty="0" smtClean="0">
                <a:latin typeface="Arial"/>
                <a:cs typeface="Arial"/>
                <a:sym typeface="Symbol" charset="2"/>
              </a:rPr>
              <a:t>°</a:t>
            </a:r>
            <a:r>
              <a:rPr lang="en-US" sz="2800" dirty="0" smtClean="0">
                <a:sym typeface="Symbol" charset="2"/>
              </a:rPr>
              <a:t> </a:t>
            </a:r>
            <a:r>
              <a:rPr lang="en-US" sz="2800" dirty="0">
                <a:sym typeface="Symbol" charset="2"/>
              </a:rPr>
              <a:t>= </a:t>
            </a:r>
            <a:r>
              <a:rPr lang="en-US" sz="2800" dirty="0">
                <a:latin typeface="Symbol" charset="2"/>
                <a:sym typeface="Symbol" charset="2"/>
              </a:rPr>
              <a:t></a:t>
            </a:r>
            <a:r>
              <a:rPr lang="en-US" sz="2800" i="1" dirty="0" err="1" smtClean="0"/>
              <a:t>n</a:t>
            </a:r>
            <a:r>
              <a:rPr lang="en-US" sz="2800" i="1" dirty="0" err="1" smtClean="0">
                <a:sym typeface="Symbol" charset="2"/>
              </a:rPr>
              <a:t>S</a:t>
            </a:r>
            <a:r>
              <a:rPr lang="en-US" sz="2800" dirty="0" smtClean="0">
                <a:latin typeface="Arial"/>
                <a:cs typeface="Arial"/>
                <a:sym typeface="Symbol" charset="2"/>
              </a:rPr>
              <a:t>°</a:t>
            </a:r>
            <a:r>
              <a:rPr lang="en-US" sz="2800" dirty="0" smtClean="0">
                <a:sym typeface="Symbol" charset="2"/>
              </a:rPr>
              <a:t>(</a:t>
            </a:r>
            <a:r>
              <a:rPr lang="en-US" sz="2800" dirty="0">
                <a:sym typeface="Symbol" charset="2"/>
              </a:rPr>
              <a:t>products) – </a:t>
            </a:r>
            <a:r>
              <a:rPr lang="en-US" sz="2800" dirty="0">
                <a:latin typeface="Symbol" charset="2"/>
                <a:sym typeface="Symbol" charset="2"/>
              </a:rPr>
              <a:t></a:t>
            </a:r>
            <a:r>
              <a:rPr lang="en-US" sz="2800" i="1" dirty="0" err="1" smtClean="0"/>
              <a:t>m</a:t>
            </a:r>
            <a:r>
              <a:rPr lang="en-US" sz="2800" i="1" dirty="0" err="1" smtClean="0">
                <a:sym typeface="Symbol" charset="2"/>
              </a:rPr>
              <a:t>S</a:t>
            </a:r>
            <a:r>
              <a:rPr lang="en-US" sz="2800" dirty="0" smtClean="0">
                <a:latin typeface="Arial"/>
                <a:cs typeface="Arial"/>
                <a:sym typeface="Symbol" charset="2"/>
              </a:rPr>
              <a:t>°</a:t>
            </a:r>
            <a:r>
              <a:rPr lang="en-US" sz="2800" dirty="0" smtClean="0">
                <a:sym typeface="Symbol" charset="2"/>
              </a:rPr>
              <a:t>(</a:t>
            </a:r>
            <a:r>
              <a:rPr lang="en-US" sz="2800" dirty="0">
                <a:sym typeface="Symbol" charset="2"/>
              </a:rPr>
              <a:t>reactants)</a:t>
            </a:r>
            <a:endParaRPr lang="en-US" sz="2800" dirty="0"/>
          </a:p>
          <a:p>
            <a:pPr algn="ctr" eaLnBrk="1" hangingPunct="1">
              <a:buFontTx/>
              <a:buNone/>
            </a:pPr>
            <a:r>
              <a:rPr lang="en-US" sz="2800" dirty="0"/>
              <a:t>	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sz="2800" dirty="0"/>
              <a:t>	where </a:t>
            </a:r>
            <a:r>
              <a:rPr lang="en-US" sz="2800" i="1" dirty="0" err="1"/>
              <a:t>n</a:t>
            </a:r>
            <a:r>
              <a:rPr lang="en-US" sz="2800" dirty="0"/>
              <a:t> and </a:t>
            </a:r>
            <a:r>
              <a:rPr lang="en-US" sz="2800" i="1" dirty="0" err="1"/>
              <a:t>m</a:t>
            </a:r>
            <a:r>
              <a:rPr lang="en-US" sz="2800" dirty="0"/>
              <a:t> are the coefficients in the balanced chemical equation.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/>
              <a:t>Entropy Changes in Surroundings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8305800" cy="1828800"/>
          </a:xfrm>
        </p:spPr>
        <p:txBody>
          <a:bodyPr/>
          <a:lstStyle/>
          <a:p>
            <a:pPr eaLnBrk="1" hangingPunct="1"/>
            <a:r>
              <a:rPr lang="en-US" dirty="0"/>
              <a:t>Heat that flows into or out of the system changes the entropy of the surroundings.</a:t>
            </a:r>
          </a:p>
          <a:p>
            <a:pPr eaLnBrk="1" hangingPunct="1"/>
            <a:r>
              <a:rPr lang="en-US" dirty="0"/>
              <a:t>For an isothermal process</a:t>
            </a:r>
          </a:p>
        </p:txBody>
      </p:sp>
      <p:grpSp>
        <p:nvGrpSpPr>
          <p:cNvPr id="22532" name="Group 13"/>
          <p:cNvGrpSpPr>
            <a:grpSpLocks/>
          </p:cNvGrpSpPr>
          <p:nvPr/>
        </p:nvGrpSpPr>
        <p:grpSpPr bwMode="auto">
          <a:xfrm>
            <a:off x="2922588" y="3021013"/>
            <a:ext cx="2103437" cy="833437"/>
            <a:chOff x="2125" y="2541"/>
            <a:chExt cx="1325" cy="525"/>
          </a:xfrm>
        </p:grpSpPr>
        <p:sp>
          <p:nvSpPr>
            <p:cNvPr id="22537" name="Rectangle 4"/>
            <p:cNvSpPr>
              <a:spLocks noChangeArrowheads="1"/>
            </p:cNvSpPr>
            <p:nvPr/>
          </p:nvSpPr>
          <p:spPr bwMode="auto">
            <a:xfrm>
              <a:off x="2125" y="2698"/>
              <a:ext cx="116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eaLnBrk="0" hangingPunct="0"/>
              <a:endParaRPr lang="en-US" sz="3200"/>
            </a:p>
          </p:txBody>
        </p:sp>
        <p:sp>
          <p:nvSpPr>
            <p:cNvPr id="22538" name="Rectangle 5"/>
            <p:cNvSpPr>
              <a:spLocks noChangeArrowheads="1"/>
            </p:cNvSpPr>
            <p:nvPr/>
          </p:nvSpPr>
          <p:spPr bwMode="auto">
            <a:xfrm>
              <a:off x="3334" y="2541"/>
              <a:ext cx="116" cy="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prstTxWarp prst="textNoShape">
                <a:avLst/>
              </a:prstTxWarp>
              <a:spAutoFit/>
            </a:bodyPr>
            <a:lstStyle/>
            <a:p>
              <a:pPr algn="ctr" eaLnBrk="0" hangingPunct="0"/>
              <a:endParaRPr lang="en-US" sz="3200" i="1"/>
            </a:p>
          </p:txBody>
        </p:sp>
      </p:grpSp>
      <p:sp>
        <p:nvSpPr>
          <p:cNvPr id="22533" name="Rectangle 9"/>
          <p:cNvSpPr>
            <a:spLocks noChangeArrowheads="1"/>
          </p:cNvSpPr>
          <p:nvPr/>
        </p:nvSpPr>
        <p:spPr bwMode="auto">
          <a:xfrm>
            <a:off x="455613" y="4114800"/>
            <a:ext cx="8231187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marL="344488" indent="-344488" eaLnBrk="0" hangingPunct="0">
              <a:buFontTx/>
              <a:buChar char="•"/>
            </a:pPr>
            <a:r>
              <a:rPr lang="en-US" sz="3200" dirty="0"/>
              <a:t>At </a:t>
            </a:r>
            <a:r>
              <a:rPr lang="en-US" sz="3200" dirty="0">
                <a:solidFill>
                  <a:srgbClr val="FF0000"/>
                </a:solidFill>
              </a:rPr>
              <a:t>constant pressure</a:t>
            </a:r>
            <a:r>
              <a:rPr lang="en-US" sz="3200" dirty="0"/>
              <a:t>, </a:t>
            </a:r>
            <a:r>
              <a:rPr lang="en-US" sz="3200" i="1" dirty="0" err="1"/>
              <a:t>q</a:t>
            </a:r>
            <a:r>
              <a:rPr lang="en-US" sz="3200" baseline="-25000" dirty="0" err="1"/>
              <a:t>sys</a:t>
            </a:r>
            <a:r>
              <a:rPr lang="en-US" sz="3200" dirty="0"/>
              <a:t> is simply </a:t>
            </a:r>
            <a:r>
              <a:rPr lang="en-US" sz="3200" dirty="0">
                <a:latin typeface="Symbol" charset="2"/>
                <a:sym typeface="Symbol" charset="2"/>
              </a:rPr>
              <a:t></a:t>
            </a:r>
            <a:r>
              <a:rPr lang="en-US" sz="3200" i="1" dirty="0" smtClean="0"/>
              <a:t>H</a:t>
            </a:r>
            <a:r>
              <a:rPr lang="en-US" sz="3200" dirty="0" smtClean="0">
                <a:latin typeface="Arial"/>
                <a:cs typeface="Arial"/>
                <a:sym typeface="Symbol" charset="2"/>
              </a:rPr>
              <a:t>°</a:t>
            </a:r>
            <a:r>
              <a:rPr lang="en-US" sz="3200" dirty="0" smtClean="0"/>
              <a:t> </a:t>
            </a:r>
            <a:r>
              <a:rPr lang="en-US" sz="3200" dirty="0"/>
              <a:t>for the system.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7415" y="3218498"/>
            <a:ext cx="2249170" cy="77343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5060" y="5257800"/>
            <a:ext cx="4373880" cy="74676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/>
              <a:t>Entropy Change in the Universe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447800"/>
            <a:ext cx="8382000" cy="38290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/>
              <a:t>The universe is composed of the system and the surroundings</a:t>
            </a:r>
            <a:r>
              <a:rPr lang="en-US" dirty="0" smtClean="0"/>
              <a:t>.</a:t>
            </a:r>
          </a:p>
          <a:p>
            <a:pPr eaLnBrk="1" hangingPunct="1">
              <a:lnSpc>
                <a:spcPct val="90000"/>
              </a:lnSpc>
            </a:pPr>
            <a:endParaRPr lang="en-US" dirty="0"/>
          </a:p>
          <a:p>
            <a:pPr eaLnBrk="1" hangingPunct="1">
              <a:lnSpc>
                <a:spcPct val="90000"/>
              </a:lnSpc>
            </a:pPr>
            <a:r>
              <a:rPr lang="en-US" dirty="0"/>
              <a:t>Therefore,</a:t>
            </a:r>
          </a:p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en-US" dirty="0">
                <a:latin typeface="Symbol" charset="2"/>
                <a:sym typeface="Symbol" charset="2"/>
              </a:rPr>
              <a:t></a:t>
            </a:r>
            <a:r>
              <a:rPr lang="en-US" i="1" dirty="0" err="1"/>
              <a:t>S</a:t>
            </a:r>
            <a:r>
              <a:rPr lang="en-US" baseline="-25000" dirty="0" err="1"/>
              <a:t>universe</a:t>
            </a:r>
            <a:r>
              <a:rPr lang="en-US" dirty="0"/>
              <a:t> = </a:t>
            </a:r>
            <a:r>
              <a:rPr lang="en-US" dirty="0">
                <a:latin typeface="Symbol" charset="2"/>
                <a:sym typeface="Symbol" charset="2"/>
              </a:rPr>
              <a:t></a:t>
            </a:r>
            <a:r>
              <a:rPr lang="en-US" i="1" dirty="0" err="1"/>
              <a:t>S</a:t>
            </a:r>
            <a:r>
              <a:rPr lang="en-US" baseline="-25000" dirty="0" err="1">
                <a:sym typeface="Symbol" charset="2"/>
              </a:rPr>
              <a:t>system</a:t>
            </a:r>
            <a:r>
              <a:rPr lang="en-US" dirty="0">
                <a:sym typeface="Symbol" charset="2"/>
              </a:rPr>
              <a:t> + </a:t>
            </a:r>
            <a:r>
              <a:rPr lang="en-US" dirty="0">
                <a:latin typeface="Symbol" charset="2"/>
                <a:sym typeface="Symbol" charset="2"/>
              </a:rPr>
              <a:t></a:t>
            </a:r>
            <a:r>
              <a:rPr lang="en-US" i="1" dirty="0" err="1" smtClean="0">
                <a:sym typeface="Symbol" charset="2"/>
              </a:rPr>
              <a:t>S</a:t>
            </a:r>
            <a:r>
              <a:rPr lang="en-US" baseline="-25000" dirty="0" err="1" smtClean="0">
                <a:sym typeface="Symbol" charset="2"/>
              </a:rPr>
              <a:t>surroundings</a:t>
            </a:r>
            <a:endParaRPr lang="en-US" baseline="-25000" dirty="0" smtClean="0">
              <a:sym typeface="Symbol" charset="2"/>
            </a:endParaRPr>
          </a:p>
          <a:p>
            <a:pPr algn="ctr" eaLnBrk="1" hangingPunct="1">
              <a:lnSpc>
                <a:spcPct val="90000"/>
              </a:lnSpc>
              <a:buFontTx/>
              <a:buNone/>
            </a:pPr>
            <a:endParaRPr lang="en-US" dirty="0">
              <a:sym typeface="Symbol" charset="2"/>
            </a:endParaRPr>
          </a:p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en-US" dirty="0">
                <a:sym typeface="Symbol" charset="2"/>
              </a:rPr>
              <a:t>For spontaneous processes</a:t>
            </a:r>
          </a:p>
          <a:p>
            <a:pPr algn="ctr"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r>
              <a:rPr lang="en-US" dirty="0">
                <a:sym typeface="Symbol" charset="2"/>
              </a:rPr>
              <a:t> </a:t>
            </a:r>
            <a:r>
              <a:rPr lang="en-US" dirty="0">
                <a:latin typeface="Symbol" charset="2"/>
                <a:sym typeface="Symbol" charset="2"/>
              </a:rPr>
              <a:t></a:t>
            </a:r>
            <a:r>
              <a:rPr lang="en-US" i="1" dirty="0" err="1">
                <a:sym typeface="Symbol" charset="2"/>
              </a:rPr>
              <a:t>S</a:t>
            </a:r>
            <a:r>
              <a:rPr lang="en-US" baseline="-25000" dirty="0" err="1">
                <a:sym typeface="Symbol" charset="2"/>
              </a:rPr>
              <a:t>universe</a:t>
            </a:r>
            <a:r>
              <a:rPr lang="en-US" baseline="-25000" dirty="0">
                <a:sym typeface="Symbol" charset="2"/>
              </a:rPr>
              <a:t> </a:t>
            </a:r>
            <a:r>
              <a:rPr lang="en-US" dirty="0">
                <a:sym typeface="Symbol" charset="2"/>
              </a:rPr>
              <a:t>&gt; 0</a:t>
            </a:r>
            <a:endParaRPr lang="en-US" baseline="-25000" dirty="0">
              <a:sym typeface="Symbol" charset="2"/>
            </a:endParaRPr>
          </a:p>
          <a:p>
            <a:pPr algn="ctr" eaLnBrk="1" hangingPunct="1">
              <a:lnSpc>
                <a:spcPct val="90000"/>
              </a:lnSpc>
              <a:spcBef>
                <a:spcPct val="50000"/>
              </a:spcBef>
              <a:buFontTx/>
              <a:buNone/>
            </a:pPr>
            <a:endParaRPr 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-152400"/>
            <a:ext cx="8458200" cy="1143000"/>
          </a:xfrm>
        </p:spPr>
        <p:txBody>
          <a:bodyPr/>
          <a:lstStyle/>
          <a:p>
            <a:pPr eaLnBrk="1" hangingPunct="1"/>
            <a:r>
              <a:rPr lang="en-US" sz="3200" b="1" dirty="0"/>
              <a:t>Total Entropy and Spontaneity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1435" y="990600"/>
            <a:ext cx="8991600" cy="4953000"/>
          </a:xfrm>
        </p:spPr>
        <p:txBody>
          <a:bodyPr/>
          <a:lstStyle/>
          <a:p>
            <a:pPr eaLnBrk="1" hangingPunct="1">
              <a:lnSpc>
                <a:spcPts val="2500"/>
              </a:lnSpc>
            </a:pPr>
            <a:r>
              <a:rPr lang="el-GR" sz="2400" dirty="0">
                <a:latin typeface="Arial Unicode MS" charset="0"/>
                <a:ea typeface="Arial Unicode MS" charset="0"/>
                <a:cs typeface="Arial Unicode MS" charset="0"/>
              </a:rPr>
              <a:t>Δ</a:t>
            </a:r>
            <a:r>
              <a:rPr lang="en-US" sz="2400" i="1" dirty="0" err="1">
                <a:latin typeface="Arial Unicode MS" charset="0"/>
                <a:ea typeface="Arial Unicode MS" charset="0"/>
                <a:cs typeface="Arial Unicode MS" charset="0"/>
              </a:rPr>
              <a:t>S</a:t>
            </a:r>
            <a:r>
              <a:rPr lang="en-US" sz="2400" baseline="-25000" dirty="0" err="1">
                <a:latin typeface="Arial Unicode MS" charset="0"/>
                <a:ea typeface="Arial Unicode MS" charset="0"/>
                <a:cs typeface="Arial Unicode MS" charset="0"/>
              </a:rPr>
              <a:t>universe</a:t>
            </a:r>
            <a:r>
              <a:rPr lang="en-US" sz="2400" dirty="0">
                <a:latin typeface="Arial Unicode MS" charset="0"/>
                <a:ea typeface="Arial Unicode MS" charset="0"/>
                <a:cs typeface="Arial Unicode MS" charset="0"/>
              </a:rPr>
              <a:t>  =  </a:t>
            </a:r>
            <a:r>
              <a:rPr lang="el-GR" sz="2400" dirty="0">
                <a:latin typeface="Arial Unicode MS" charset="0"/>
                <a:ea typeface="Arial Unicode MS" charset="0"/>
                <a:cs typeface="Arial Unicode MS" charset="0"/>
              </a:rPr>
              <a:t>Δ</a:t>
            </a:r>
            <a:r>
              <a:rPr lang="en-US" sz="2400" i="1" dirty="0" err="1">
                <a:latin typeface="Arial Unicode MS" charset="0"/>
                <a:ea typeface="Arial Unicode MS" charset="0"/>
                <a:cs typeface="Arial Unicode MS" charset="0"/>
              </a:rPr>
              <a:t>S</a:t>
            </a:r>
            <a:r>
              <a:rPr lang="en-US" sz="2400" baseline="-25000" dirty="0" err="1">
                <a:latin typeface="Arial Unicode MS" charset="0"/>
                <a:ea typeface="Arial Unicode MS" charset="0"/>
                <a:cs typeface="Arial Unicode MS" charset="0"/>
              </a:rPr>
              <a:t>system</a:t>
            </a:r>
            <a:r>
              <a:rPr lang="en-US" sz="2400" dirty="0">
                <a:latin typeface="Arial Unicode MS" charset="0"/>
                <a:ea typeface="Arial Unicode MS" charset="0"/>
                <a:cs typeface="Arial Unicode MS" charset="0"/>
              </a:rPr>
              <a:t>  +  </a:t>
            </a:r>
            <a:r>
              <a:rPr lang="el-GR" sz="2400" dirty="0" smtClean="0">
                <a:latin typeface="Arial Unicode MS" charset="0"/>
                <a:ea typeface="Arial Unicode MS" charset="0"/>
                <a:cs typeface="Arial Unicode MS" charset="0"/>
              </a:rPr>
              <a:t>Δ</a:t>
            </a:r>
            <a:r>
              <a:rPr lang="en-US" sz="2400" i="1" dirty="0" err="1" smtClean="0">
                <a:latin typeface="Arial Unicode MS" charset="0"/>
                <a:ea typeface="Arial Unicode MS" charset="0"/>
                <a:cs typeface="Arial Unicode MS" charset="0"/>
              </a:rPr>
              <a:t>s</a:t>
            </a:r>
            <a:r>
              <a:rPr lang="en-US" sz="2400" baseline="-25000" dirty="0" err="1" smtClean="0">
                <a:latin typeface="Arial Unicode MS" charset="0"/>
                <a:ea typeface="Arial Unicode MS" charset="0"/>
                <a:cs typeface="Arial Unicode MS" charset="0"/>
              </a:rPr>
              <a:t>surroundings</a:t>
            </a:r>
            <a:endParaRPr lang="en-US" sz="2400" baseline="-25000" dirty="0" smtClean="0">
              <a:latin typeface="Arial Unicode MS" charset="0"/>
              <a:ea typeface="Arial Unicode MS" charset="0"/>
              <a:cs typeface="Arial Unicode MS" charset="0"/>
            </a:endParaRPr>
          </a:p>
          <a:p>
            <a:pPr eaLnBrk="1" hangingPunct="1">
              <a:lnSpc>
                <a:spcPts val="2500"/>
              </a:lnSpc>
            </a:pPr>
            <a:endParaRPr lang="en-US" sz="2400" dirty="0">
              <a:latin typeface="Arial Unicode MS" charset="0"/>
              <a:ea typeface="Arial Unicode MS" charset="0"/>
              <a:cs typeface="Arial Unicode MS" charset="0"/>
            </a:endParaRPr>
          </a:p>
          <a:p>
            <a:pPr eaLnBrk="1" hangingPunct="1">
              <a:lnSpc>
                <a:spcPts val="2500"/>
              </a:lnSpc>
            </a:pPr>
            <a:r>
              <a:rPr lang="en-US" sz="2400" dirty="0">
                <a:latin typeface="Arial Unicode MS" charset="0"/>
                <a:ea typeface="Arial Unicode MS" charset="0"/>
                <a:cs typeface="Arial Unicode MS" charset="0"/>
              </a:rPr>
              <a:t>Substitute for the entropy of the surroundings:</a:t>
            </a:r>
          </a:p>
          <a:p>
            <a:pPr lvl="1" eaLnBrk="1" hangingPunct="1">
              <a:lnSpc>
                <a:spcPts val="2500"/>
              </a:lnSpc>
              <a:buClr>
                <a:srgbClr val="00CC00"/>
              </a:buClr>
              <a:buFont typeface="Wingdings" charset="2"/>
              <a:buChar char="Ø"/>
            </a:pPr>
            <a:r>
              <a:rPr lang="el-GR" sz="2400" dirty="0">
                <a:latin typeface="Arial Unicode MS" charset="0"/>
                <a:ea typeface="Arial Unicode MS" charset="0"/>
                <a:cs typeface="Arial Unicode MS" charset="0"/>
              </a:rPr>
              <a:t>Δ</a:t>
            </a:r>
            <a:r>
              <a:rPr lang="en-US" sz="2400" i="1" dirty="0" err="1">
                <a:latin typeface="Arial Unicode MS" charset="0"/>
                <a:ea typeface="Arial Unicode MS" charset="0"/>
                <a:cs typeface="Arial Unicode MS" charset="0"/>
              </a:rPr>
              <a:t>S</a:t>
            </a:r>
            <a:r>
              <a:rPr lang="en-US" sz="2400" baseline="-25000" dirty="0" err="1">
                <a:latin typeface="Arial Unicode MS" charset="0"/>
                <a:ea typeface="Arial Unicode MS" charset="0"/>
                <a:cs typeface="Arial Unicode MS" charset="0"/>
              </a:rPr>
              <a:t>universe</a:t>
            </a:r>
            <a:r>
              <a:rPr lang="en-US" sz="2400" dirty="0">
                <a:latin typeface="Arial Unicode MS" charset="0"/>
                <a:ea typeface="Arial Unicode MS" charset="0"/>
                <a:cs typeface="Arial Unicode MS" charset="0"/>
              </a:rPr>
              <a:t>  =  </a:t>
            </a:r>
            <a:r>
              <a:rPr lang="el-GR" sz="2400" dirty="0">
                <a:latin typeface="Arial Unicode MS" charset="0"/>
                <a:ea typeface="Arial Unicode MS" charset="0"/>
                <a:cs typeface="Arial Unicode MS" charset="0"/>
              </a:rPr>
              <a:t>Δ</a:t>
            </a:r>
            <a:r>
              <a:rPr lang="en-US" sz="2400" i="1" dirty="0" err="1">
                <a:latin typeface="Arial Unicode MS" charset="0"/>
                <a:ea typeface="Arial Unicode MS" charset="0"/>
                <a:cs typeface="Arial Unicode MS" charset="0"/>
              </a:rPr>
              <a:t>S</a:t>
            </a:r>
            <a:r>
              <a:rPr lang="en-US" sz="2400" baseline="-25000" dirty="0" err="1">
                <a:latin typeface="Arial Unicode MS" charset="0"/>
                <a:ea typeface="Arial Unicode MS" charset="0"/>
                <a:cs typeface="Arial Unicode MS" charset="0"/>
              </a:rPr>
              <a:t>system</a:t>
            </a:r>
            <a:r>
              <a:rPr lang="en-US" sz="2400" dirty="0">
                <a:latin typeface="Arial Unicode MS" charset="0"/>
                <a:ea typeface="Arial Unicode MS" charset="0"/>
                <a:cs typeface="Arial Unicode MS" charset="0"/>
              </a:rPr>
              <a:t>  –  </a:t>
            </a:r>
            <a:r>
              <a:rPr lang="el-GR" sz="2400" dirty="0">
                <a:latin typeface="Arial Unicode MS" charset="0"/>
                <a:ea typeface="Arial Unicode MS" charset="0"/>
                <a:cs typeface="Arial Unicode MS" charset="0"/>
              </a:rPr>
              <a:t>Δ</a:t>
            </a:r>
            <a:r>
              <a:rPr lang="en-US" sz="2400" i="1" dirty="0" err="1" smtClean="0">
                <a:latin typeface="Arial Unicode MS" charset="0"/>
                <a:ea typeface="Arial Unicode MS" charset="0"/>
                <a:cs typeface="Arial Unicode MS" charset="0"/>
              </a:rPr>
              <a:t>H</a:t>
            </a:r>
            <a:r>
              <a:rPr lang="en-US" sz="2400" baseline="-25000" dirty="0" err="1" smtClean="0">
                <a:latin typeface="Arial Unicode MS" charset="0"/>
                <a:ea typeface="Arial Unicode MS" charset="0"/>
                <a:cs typeface="Arial Unicode MS" charset="0"/>
              </a:rPr>
              <a:t>system</a:t>
            </a:r>
            <a:r>
              <a:rPr lang="en-US" sz="2400" dirty="0" smtClean="0">
                <a:latin typeface="Arial Unicode MS" charset="0"/>
                <a:ea typeface="Arial Unicode MS" charset="0"/>
                <a:cs typeface="Arial Unicode MS" charset="0"/>
              </a:rPr>
              <a:t>/</a:t>
            </a:r>
            <a:r>
              <a:rPr lang="en-US" sz="2400" i="1" dirty="0" smtClean="0">
                <a:latin typeface="Arial Unicode MS" charset="0"/>
                <a:ea typeface="Arial Unicode MS" charset="0"/>
                <a:cs typeface="Arial Unicode MS" charset="0"/>
              </a:rPr>
              <a:t>T</a:t>
            </a:r>
          </a:p>
          <a:p>
            <a:pPr lvl="1" eaLnBrk="1" hangingPunct="1">
              <a:lnSpc>
                <a:spcPts val="2500"/>
              </a:lnSpc>
              <a:buClr>
                <a:srgbClr val="00CC00"/>
              </a:buClr>
              <a:buFont typeface="Wingdings" charset="2"/>
              <a:buChar char="Ø"/>
            </a:pPr>
            <a:endParaRPr lang="en-US" sz="2400" i="1" dirty="0">
              <a:latin typeface="Arial Unicode MS" charset="0"/>
              <a:ea typeface="Arial Unicode MS" charset="0"/>
              <a:cs typeface="Arial Unicode MS" charset="0"/>
            </a:endParaRPr>
          </a:p>
          <a:p>
            <a:pPr eaLnBrk="1" hangingPunct="1">
              <a:lnSpc>
                <a:spcPts val="2500"/>
              </a:lnSpc>
            </a:pPr>
            <a:r>
              <a:rPr lang="en-US" sz="2400" dirty="0">
                <a:latin typeface="Arial Unicode MS" charset="0"/>
                <a:ea typeface="Arial Unicode MS" charset="0"/>
                <a:cs typeface="Arial Unicode MS" charset="0"/>
              </a:rPr>
              <a:t>Multiply by −</a:t>
            </a:r>
            <a:r>
              <a:rPr lang="en-US" sz="2400" i="1" dirty="0">
                <a:latin typeface="Arial Unicode MS" charset="0"/>
                <a:ea typeface="Arial Unicode MS" charset="0"/>
                <a:cs typeface="Arial Unicode MS" charset="0"/>
              </a:rPr>
              <a:t>T</a:t>
            </a:r>
            <a:r>
              <a:rPr lang="en-US" sz="2400" dirty="0">
                <a:latin typeface="Arial Unicode MS" charset="0"/>
                <a:ea typeface="Arial Unicode MS" charset="0"/>
                <a:cs typeface="Arial Unicode MS" charset="0"/>
              </a:rPr>
              <a:t>:</a:t>
            </a:r>
          </a:p>
          <a:p>
            <a:pPr lvl="1" eaLnBrk="1" hangingPunct="1">
              <a:lnSpc>
                <a:spcPts val="2500"/>
              </a:lnSpc>
              <a:buClr>
                <a:srgbClr val="00CC00"/>
              </a:buClr>
              <a:buFont typeface="Wingdings" charset="2"/>
              <a:buChar char="Ø"/>
            </a:pPr>
            <a:r>
              <a:rPr lang="en-US" sz="2400" dirty="0">
                <a:latin typeface="Arial Unicode MS" charset="0"/>
                <a:ea typeface="Arial Unicode MS" charset="0"/>
                <a:cs typeface="Arial Unicode MS" charset="0"/>
              </a:rPr>
              <a:t>−</a:t>
            </a:r>
            <a:r>
              <a:rPr lang="en-US" sz="2400" i="1" dirty="0">
                <a:latin typeface="Arial Unicode MS" charset="0"/>
                <a:ea typeface="Arial Unicode MS" charset="0"/>
                <a:cs typeface="Arial Unicode MS" charset="0"/>
              </a:rPr>
              <a:t>T</a:t>
            </a:r>
            <a:r>
              <a:rPr lang="el-GR" sz="2400" dirty="0">
                <a:latin typeface="Arial Unicode MS" charset="0"/>
                <a:ea typeface="Arial Unicode MS" charset="0"/>
                <a:cs typeface="Arial Unicode MS" charset="0"/>
              </a:rPr>
              <a:t>Δ</a:t>
            </a:r>
            <a:r>
              <a:rPr lang="en-US" sz="2400" i="1" dirty="0" err="1">
                <a:latin typeface="Arial Unicode MS" charset="0"/>
                <a:ea typeface="Arial Unicode MS" charset="0"/>
                <a:cs typeface="Arial Unicode MS" charset="0"/>
              </a:rPr>
              <a:t>S</a:t>
            </a:r>
            <a:r>
              <a:rPr lang="en-US" sz="2400" baseline="-25000" dirty="0" err="1">
                <a:latin typeface="Arial Unicode MS" charset="0"/>
                <a:ea typeface="Arial Unicode MS" charset="0"/>
                <a:cs typeface="Arial Unicode MS" charset="0"/>
              </a:rPr>
              <a:t>universe</a:t>
            </a:r>
            <a:r>
              <a:rPr lang="en-US" sz="2400" dirty="0">
                <a:latin typeface="Arial Unicode MS" charset="0"/>
                <a:ea typeface="Arial Unicode MS" charset="0"/>
                <a:cs typeface="Arial Unicode MS" charset="0"/>
              </a:rPr>
              <a:t>  =  −</a:t>
            </a:r>
            <a:r>
              <a:rPr lang="en-US" sz="2400" i="1" dirty="0">
                <a:latin typeface="Arial Unicode MS" charset="0"/>
                <a:ea typeface="Arial Unicode MS" charset="0"/>
                <a:cs typeface="Arial Unicode MS" charset="0"/>
              </a:rPr>
              <a:t>T</a:t>
            </a:r>
            <a:r>
              <a:rPr lang="el-GR" sz="2400" dirty="0">
                <a:latin typeface="Arial Unicode MS" charset="0"/>
                <a:ea typeface="Arial Unicode MS" charset="0"/>
                <a:cs typeface="Arial Unicode MS" charset="0"/>
              </a:rPr>
              <a:t>Δ</a:t>
            </a:r>
            <a:r>
              <a:rPr lang="en-US" sz="2400" i="1" dirty="0" err="1">
                <a:latin typeface="Arial Unicode MS" charset="0"/>
                <a:ea typeface="Arial Unicode MS" charset="0"/>
                <a:cs typeface="Arial Unicode MS" charset="0"/>
              </a:rPr>
              <a:t>S</a:t>
            </a:r>
            <a:r>
              <a:rPr lang="en-US" sz="2400" baseline="-25000" dirty="0" err="1">
                <a:latin typeface="Arial Unicode MS" charset="0"/>
                <a:ea typeface="Arial Unicode MS" charset="0"/>
                <a:cs typeface="Arial Unicode MS" charset="0"/>
              </a:rPr>
              <a:t>system</a:t>
            </a:r>
            <a:r>
              <a:rPr lang="en-US" sz="2400" dirty="0">
                <a:latin typeface="Arial Unicode MS" charset="0"/>
                <a:ea typeface="Arial Unicode MS" charset="0"/>
                <a:cs typeface="Arial Unicode MS" charset="0"/>
              </a:rPr>
              <a:t> +  </a:t>
            </a:r>
            <a:r>
              <a:rPr lang="el-GR" sz="2400" dirty="0" smtClean="0">
                <a:latin typeface="Arial Unicode MS" charset="0"/>
                <a:ea typeface="Arial Unicode MS" charset="0"/>
                <a:cs typeface="Arial Unicode MS" charset="0"/>
              </a:rPr>
              <a:t>Δ</a:t>
            </a:r>
            <a:r>
              <a:rPr lang="en-US" sz="2400" i="1" dirty="0" err="1">
                <a:latin typeface="Arial Unicode MS" charset="0"/>
                <a:ea typeface="Arial Unicode MS" charset="0"/>
                <a:cs typeface="Arial Unicode MS" charset="0"/>
              </a:rPr>
              <a:t>H</a:t>
            </a:r>
            <a:r>
              <a:rPr lang="en-US" sz="2400" baseline="-25000" dirty="0" err="1" smtClean="0">
                <a:latin typeface="Arial Unicode MS" charset="0"/>
                <a:ea typeface="Arial Unicode MS" charset="0"/>
                <a:cs typeface="Arial Unicode MS" charset="0"/>
              </a:rPr>
              <a:t>system</a:t>
            </a:r>
            <a:endParaRPr lang="en-US" sz="2400" baseline="-25000" dirty="0" smtClean="0">
              <a:latin typeface="Arial Unicode MS" charset="0"/>
              <a:ea typeface="Arial Unicode MS" charset="0"/>
              <a:cs typeface="Arial Unicode MS" charset="0"/>
            </a:endParaRPr>
          </a:p>
          <a:p>
            <a:pPr lvl="1" eaLnBrk="1" hangingPunct="1">
              <a:lnSpc>
                <a:spcPts val="2500"/>
              </a:lnSpc>
              <a:buClr>
                <a:srgbClr val="00CC00"/>
              </a:buClr>
              <a:buFont typeface="Wingdings" charset="2"/>
              <a:buChar char="Ø"/>
            </a:pPr>
            <a:endParaRPr lang="en-US" sz="2400" dirty="0">
              <a:latin typeface="Arial Unicode MS" charset="0"/>
              <a:ea typeface="Arial Unicode MS" charset="0"/>
              <a:cs typeface="Arial Unicode MS" charset="0"/>
            </a:endParaRPr>
          </a:p>
          <a:p>
            <a:pPr eaLnBrk="1" hangingPunct="1">
              <a:lnSpc>
                <a:spcPts val="2500"/>
              </a:lnSpc>
            </a:pPr>
            <a:r>
              <a:rPr lang="en-US" sz="2400" dirty="0">
                <a:latin typeface="Arial Unicode MS" charset="0"/>
                <a:ea typeface="Arial Unicode MS" charset="0"/>
                <a:cs typeface="Arial Unicode MS" charset="0"/>
              </a:rPr>
              <a:t>Rearrange:</a:t>
            </a:r>
          </a:p>
          <a:p>
            <a:pPr lvl="1" eaLnBrk="1" hangingPunct="1">
              <a:lnSpc>
                <a:spcPts val="2500"/>
              </a:lnSpc>
              <a:buClr>
                <a:srgbClr val="00CC00"/>
              </a:buClr>
              <a:buFont typeface="Wingdings" charset="2"/>
              <a:buChar char="Ø"/>
            </a:pPr>
            <a:r>
              <a:rPr lang="en-US" sz="2400" dirty="0">
                <a:latin typeface="Arial Unicode MS" charset="0"/>
                <a:ea typeface="Arial Unicode MS" charset="0"/>
                <a:cs typeface="Arial Unicode MS" charset="0"/>
              </a:rPr>
              <a:t>−</a:t>
            </a:r>
            <a:r>
              <a:rPr lang="en-US" sz="2400" i="1" dirty="0">
                <a:latin typeface="Arial Unicode MS" charset="0"/>
                <a:ea typeface="Arial Unicode MS" charset="0"/>
                <a:cs typeface="Arial Unicode MS" charset="0"/>
              </a:rPr>
              <a:t>T</a:t>
            </a:r>
            <a:r>
              <a:rPr lang="el-GR" sz="2400" dirty="0">
                <a:latin typeface="Arial Unicode MS" charset="0"/>
                <a:ea typeface="Arial Unicode MS" charset="0"/>
                <a:cs typeface="Arial Unicode MS" charset="0"/>
              </a:rPr>
              <a:t>Δ</a:t>
            </a:r>
            <a:r>
              <a:rPr lang="en-US" sz="2400" i="1" dirty="0" err="1">
                <a:latin typeface="Arial Unicode MS" charset="0"/>
                <a:ea typeface="Arial Unicode MS" charset="0"/>
                <a:cs typeface="Arial Unicode MS" charset="0"/>
              </a:rPr>
              <a:t>S</a:t>
            </a:r>
            <a:r>
              <a:rPr lang="en-US" sz="2400" baseline="-25000" dirty="0" err="1">
                <a:latin typeface="Arial Unicode MS" charset="0"/>
                <a:ea typeface="Arial Unicode MS" charset="0"/>
                <a:cs typeface="Arial Unicode MS" charset="0"/>
              </a:rPr>
              <a:t>universe</a:t>
            </a:r>
            <a:r>
              <a:rPr lang="en-US" sz="2400" dirty="0">
                <a:latin typeface="Arial Unicode MS" charset="0"/>
                <a:ea typeface="Arial Unicode MS" charset="0"/>
                <a:cs typeface="Arial Unicode MS" charset="0"/>
              </a:rPr>
              <a:t>  =  </a:t>
            </a:r>
            <a:r>
              <a:rPr lang="el-GR" sz="2400" dirty="0">
                <a:latin typeface="Arial Unicode MS" charset="0"/>
                <a:ea typeface="Arial Unicode MS" charset="0"/>
                <a:cs typeface="Arial Unicode MS" charset="0"/>
              </a:rPr>
              <a:t>Δ</a:t>
            </a:r>
            <a:r>
              <a:rPr lang="en-US" sz="2400" i="1" dirty="0" err="1">
                <a:latin typeface="Arial Unicode MS" charset="0"/>
                <a:ea typeface="Arial Unicode MS" charset="0"/>
                <a:cs typeface="Arial Unicode MS" charset="0"/>
              </a:rPr>
              <a:t>H</a:t>
            </a:r>
            <a:r>
              <a:rPr lang="en-US" sz="2400" baseline="-25000" dirty="0" err="1">
                <a:latin typeface="Arial Unicode MS" charset="0"/>
                <a:ea typeface="Arial Unicode MS" charset="0"/>
                <a:cs typeface="Arial Unicode MS" charset="0"/>
              </a:rPr>
              <a:t>system</a:t>
            </a:r>
            <a:r>
              <a:rPr lang="en-US" sz="2400" dirty="0">
                <a:latin typeface="Arial Unicode MS" charset="0"/>
                <a:ea typeface="Arial Unicode MS" charset="0"/>
                <a:cs typeface="Arial Unicode MS" charset="0"/>
              </a:rPr>
              <a:t>  −  </a:t>
            </a:r>
            <a:r>
              <a:rPr lang="en-US" sz="2400" i="1" dirty="0">
                <a:latin typeface="Arial Unicode MS" charset="0"/>
                <a:ea typeface="Arial Unicode MS" charset="0"/>
                <a:cs typeface="Arial Unicode MS" charset="0"/>
              </a:rPr>
              <a:t>T</a:t>
            </a:r>
            <a:r>
              <a:rPr lang="el-GR" sz="2400" dirty="0">
                <a:latin typeface="Arial Unicode MS" charset="0"/>
                <a:ea typeface="Arial Unicode MS" charset="0"/>
                <a:cs typeface="Arial Unicode MS" charset="0"/>
              </a:rPr>
              <a:t>Δ</a:t>
            </a:r>
            <a:r>
              <a:rPr lang="en-US" sz="2400" i="1" dirty="0" err="1" smtClean="0">
                <a:latin typeface="Arial Unicode MS" charset="0"/>
                <a:ea typeface="Arial Unicode MS" charset="0"/>
                <a:cs typeface="Arial Unicode MS" charset="0"/>
              </a:rPr>
              <a:t>S</a:t>
            </a:r>
            <a:r>
              <a:rPr lang="en-US" sz="2400" baseline="-25000" dirty="0" err="1" smtClean="0">
                <a:latin typeface="Arial Unicode MS" charset="0"/>
                <a:ea typeface="Arial Unicode MS" charset="0"/>
                <a:cs typeface="Arial Unicode MS" charset="0"/>
              </a:rPr>
              <a:t>system</a:t>
            </a:r>
            <a:r>
              <a:rPr lang="en-US" sz="2400" baseline="-25000" dirty="0" smtClean="0">
                <a:latin typeface="Arial Unicode MS" charset="0"/>
                <a:ea typeface="Arial Unicode MS" charset="0"/>
                <a:cs typeface="Arial Unicode MS" charset="0"/>
              </a:rPr>
              <a:t> </a:t>
            </a:r>
            <a:r>
              <a:rPr lang="en-US" sz="2400" dirty="0" smtClean="0">
                <a:latin typeface="Arial Unicode MS" charset="0"/>
                <a:ea typeface="Arial Unicode MS" charset="0"/>
                <a:cs typeface="Arial Unicode MS" charset="0"/>
              </a:rPr>
              <a:t>=</a:t>
            </a:r>
            <a:r>
              <a:rPr lang="el-GR" sz="2400" dirty="0">
                <a:latin typeface="Arial Unicode MS" charset="0"/>
                <a:ea typeface="Arial Unicode MS" charset="0"/>
                <a:cs typeface="Arial Unicode MS" charset="0"/>
              </a:rPr>
              <a:t> </a:t>
            </a:r>
            <a:r>
              <a:rPr lang="el-GR" sz="2400" dirty="0" smtClean="0">
                <a:latin typeface="Arial Unicode MS" charset="0"/>
                <a:ea typeface="Arial Unicode MS" charset="0"/>
                <a:cs typeface="Arial Unicode MS" charset="0"/>
              </a:rPr>
              <a:t>Δ</a:t>
            </a:r>
            <a:r>
              <a:rPr lang="en-US" sz="2400" dirty="0" smtClean="0">
                <a:latin typeface="Arial Unicode MS" charset="0"/>
                <a:ea typeface="Arial Unicode MS" charset="0"/>
                <a:cs typeface="Arial Unicode MS" charset="0"/>
              </a:rPr>
              <a:t>(</a:t>
            </a:r>
            <a:r>
              <a:rPr lang="en-US" sz="2400" b="1" i="1" dirty="0" err="1" smtClean="0">
                <a:solidFill>
                  <a:srgbClr val="FF0000"/>
                </a:solidFill>
                <a:latin typeface="Arial Unicode MS" charset="0"/>
                <a:ea typeface="Arial Unicode MS" charset="0"/>
                <a:cs typeface="Arial Unicode MS" charset="0"/>
              </a:rPr>
              <a:t>H</a:t>
            </a:r>
            <a:r>
              <a:rPr lang="en-US" sz="2400" b="1" baseline="-25000" dirty="0" err="1" smtClean="0">
                <a:solidFill>
                  <a:srgbClr val="FF0000"/>
                </a:solidFill>
                <a:latin typeface="Arial Unicode MS" charset="0"/>
                <a:ea typeface="Arial Unicode MS" charset="0"/>
                <a:cs typeface="Arial Unicode MS" charset="0"/>
              </a:rPr>
              <a:t>system</a:t>
            </a:r>
            <a:r>
              <a:rPr lang="en-US" sz="2400" b="1" dirty="0" err="1" smtClean="0">
                <a:solidFill>
                  <a:srgbClr val="FF0000"/>
                </a:solidFill>
                <a:latin typeface="Arial Unicode MS" charset="0"/>
                <a:ea typeface="Arial Unicode MS" charset="0"/>
                <a:cs typeface="Arial Unicode MS" charset="0"/>
              </a:rPr>
              <a:t>−</a:t>
            </a:r>
            <a:r>
              <a:rPr lang="en-US" sz="2400" b="1" i="1" dirty="0" err="1" smtClean="0">
                <a:solidFill>
                  <a:srgbClr val="FF0000"/>
                </a:solidFill>
                <a:latin typeface="Arial Unicode MS" charset="0"/>
                <a:ea typeface="Arial Unicode MS" charset="0"/>
                <a:cs typeface="Arial Unicode MS" charset="0"/>
              </a:rPr>
              <a:t>TS</a:t>
            </a:r>
            <a:r>
              <a:rPr lang="en-US" sz="2400" b="1" baseline="-25000" dirty="0" err="1" smtClean="0">
                <a:solidFill>
                  <a:srgbClr val="FF0000"/>
                </a:solidFill>
                <a:latin typeface="Arial Unicode MS" charset="0"/>
                <a:ea typeface="Arial Unicode MS" charset="0"/>
                <a:cs typeface="Arial Unicode MS" charset="0"/>
              </a:rPr>
              <a:t>system</a:t>
            </a:r>
            <a:r>
              <a:rPr lang="en-US" sz="2400" b="1" baseline="-25000" dirty="0" smtClean="0">
                <a:solidFill>
                  <a:srgbClr val="FF0000"/>
                </a:solidFill>
                <a:latin typeface="Arial Unicode MS" charset="0"/>
                <a:ea typeface="Arial Unicode MS" charset="0"/>
                <a:cs typeface="Arial Unicode MS" charset="0"/>
              </a:rPr>
              <a:t> </a:t>
            </a:r>
            <a:r>
              <a:rPr lang="en-US" sz="2400" dirty="0" smtClean="0">
                <a:latin typeface="Arial Unicode MS" charset="0"/>
                <a:ea typeface="Arial Unicode MS" charset="0"/>
                <a:cs typeface="Arial Unicode MS" charset="0"/>
              </a:rPr>
              <a:t>) </a:t>
            </a:r>
          </a:p>
          <a:p>
            <a:pPr lvl="1" eaLnBrk="1" hangingPunct="1">
              <a:lnSpc>
                <a:spcPts val="2500"/>
              </a:lnSpc>
              <a:buClr>
                <a:srgbClr val="00CC00"/>
              </a:buClr>
              <a:buFont typeface="Wingdings" charset="2"/>
              <a:buChar char="Ø"/>
            </a:pPr>
            <a:endParaRPr lang="en-US" sz="2400" dirty="0">
              <a:latin typeface="Arial Unicode MS" charset="0"/>
              <a:ea typeface="Arial Unicode MS" charset="0"/>
              <a:cs typeface="Arial Unicode MS" charset="0"/>
            </a:endParaRPr>
          </a:p>
          <a:p>
            <a:pPr eaLnBrk="1" hangingPunct="1">
              <a:lnSpc>
                <a:spcPts val="2500"/>
              </a:lnSpc>
            </a:pPr>
            <a:r>
              <a:rPr lang="en-US" sz="2400" i="1" dirty="0" smtClean="0">
                <a:solidFill>
                  <a:srgbClr val="0000FF"/>
                </a:solidFill>
                <a:latin typeface="Arial Unicode MS" charset="0"/>
                <a:ea typeface="Arial Unicode MS" charset="0"/>
                <a:cs typeface="Arial Unicode MS" charset="0"/>
              </a:rPr>
              <a:t>G = H-TS</a:t>
            </a:r>
            <a:r>
              <a:rPr lang="en-US" sz="2400" dirty="0" smtClean="0">
                <a:solidFill>
                  <a:srgbClr val="0000FF"/>
                </a:solidFill>
                <a:latin typeface="Arial Unicode MS" charset="0"/>
                <a:ea typeface="Arial Unicode MS" charset="0"/>
                <a:cs typeface="Arial Unicode MS" charset="0"/>
              </a:rPr>
              <a:t>, the </a:t>
            </a:r>
            <a:r>
              <a:rPr lang="en-US" sz="2400" b="1" dirty="0">
                <a:solidFill>
                  <a:srgbClr val="0000FF"/>
                </a:solidFill>
                <a:latin typeface="Arial Unicode MS" charset="0"/>
                <a:ea typeface="Arial Unicode MS" charset="0"/>
                <a:cs typeface="Arial Unicode MS" charset="0"/>
              </a:rPr>
              <a:t>Gibbs Free </a:t>
            </a:r>
            <a:r>
              <a:rPr lang="en-US" sz="2400" b="1" dirty="0" smtClean="0">
                <a:solidFill>
                  <a:srgbClr val="0000FF"/>
                </a:solidFill>
                <a:latin typeface="Arial Unicode MS" charset="0"/>
                <a:ea typeface="Arial Unicode MS" charset="0"/>
                <a:cs typeface="Arial Unicode MS" charset="0"/>
              </a:rPr>
              <a:t>Energy  </a:t>
            </a:r>
            <a:r>
              <a:rPr lang="en-US" sz="2400" dirty="0" smtClean="0">
                <a:solidFill>
                  <a:srgbClr val="0000FF"/>
                </a:solidFill>
                <a:latin typeface="Arial Unicode MS" charset="0"/>
                <a:ea typeface="Arial Unicode MS" charset="0"/>
                <a:cs typeface="Arial Unicode MS" charset="0"/>
              </a:rPr>
              <a:t>- a new state function</a:t>
            </a:r>
          </a:p>
          <a:p>
            <a:pPr marL="0" indent="0" eaLnBrk="1" hangingPunct="1">
              <a:lnSpc>
                <a:spcPts val="2500"/>
              </a:lnSpc>
              <a:buNone/>
            </a:pPr>
            <a:r>
              <a:rPr lang="en-US" sz="2400" b="1" dirty="0" smtClean="0">
                <a:solidFill>
                  <a:srgbClr val="0000FF"/>
                </a:solidFill>
                <a:latin typeface="Arial Unicode MS" charset="0"/>
                <a:ea typeface="Arial Unicode MS" charset="0"/>
                <a:cs typeface="Arial Unicode MS" charset="0"/>
              </a:rPr>
              <a:t>                           </a:t>
            </a:r>
            <a:r>
              <a:rPr lang="en-US" sz="2400" dirty="0" smtClean="0">
                <a:solidFill>
                  <a:srgbClr val="0000FF"/>
                </a:solidFill>
                <a:latin typeface="Arial Unicode MS" charset="0"/>
                <a:ea typeface="Arial Unicode MS" charset="0"/>
                <a:cs typeface="Arial Unicode MS" charset="0"/>
              </a:rPr>
              <a:t>and </a:t>
            </a:r>
            <a:r>
              <a:rPr lang="el-GR" sz="2400" dirty="0" smtClean="0">
                <a:solidFill>
                  <a:srgbClr val="0000FF"/>
                </a:solidFill>
                <a:latin typeface="Arial Unicode MS" charset="0"/>
                <a:ea typeface="Arial Unicode MS" charset="0"/>
                <a:cs typeface="Arial Unicode MS" charset="0"/>
              </a:rPr>
              <a:t>Δ</a:t>
            </a:r>
            <a:r>
              <a:rPr lang="en-US" sz="2400" i="1" dirty="0">
                <a:solidFill>
                  <a:srgbClr val="0000FF"/>
                </a:solidFill>
                <a:latin typeface="Arial Unicode MS" charset="0"/>
                <a:ea typeface="Arial Unicode MS" charset="0"/>
                <a:cs typeface="Arial Unicode MS" charset="0"/>
              </a:rPr>
              <a:t>G</a:t>
            </a:r>
            <a:r>
              <a:rPr lang="en-US" sz="2400" dirty="0">
                <a:solidFill>
                  <a:srgbClr val="0000FF"/>
                </a:solidFill>
                <a:latin typeface="Arial Unicode MS" charset="0"/>
                <a:ea typeface="Arial Unicode MS" charset="0"/>
                <a:cs typeface="Arial Unicode MS" charset="0"/>
              </a:rPr>
              <a:t>  =  </a:t>
            </a:r>
            <a:r>
              <a:rPr lang="el-GR" sz="2400" dirty="0">
                <a:solidFill>
                  <a:srgbClr val="0000FF"/>
                </a:solidFill>
                <a:latin typeface="Arial Unicode MS" charset="0"/>
                <a:ea typeface="Arial Unicode MS" charset="0"/>
                <a:cs typeface="Arial Unicode MS" charset="0"/>
              </a:rPr>
              <a:t>Δ</a:t>
            </a:r>
            <a:r>
              <a:rPr lang="en-US" sz="2400" i="1" dirty="0">
                <a:solidFill>
                  <a:srgbClr val="0000FF"/>
                </a:solidFill>
                <a:latin typeface="Arial Unicode MS" charset="0"/>
                <a:ea typeface="Arial Unicode MS" charset="0"/>
                <a:cs typeface="Arial Unicode MS" charset="0"/>
              </a:rPr>
              <a:t>H</a:t>
            </a:r>
            <a:r>
              <a:rPr lang="en-US" sz="2400" dirty="0">
                <a:solidFill>
                  <a:srgbClr val="0000FF"/>
                </a:solidFill>
                <a:latin typeface="Arial Unicode MS" charset="0"/>
                <a:ea typeface="Arial Unicode MS" charset="0"/>
                <a:cs typeface="Arial Unicode MS" charset="0"/>
              </a:rPr>
              <a:t>  − </a:t>
            </a:r>
            <a:r>
              <a:rPr lang="en-US" sz="2400" i="1" dirty="0">
                <a:solidFill>
                  <a:srgbClr val="0000FF"/>
                </a:solidFill>
                <a:latin typeface="Arial Unicode MS" charset="0"/>
                <a:ea typeface="Arial Unicode MS" charset="0"/>
                <a:cs typeface="Arial Unicode MS" charset="0"/>
              </a:rPr>
              <a:t>T</a:t>
            </a:r>
            <a:r>
              <a:rPr lang="en-US" sz="2400" dirty="0">
                <a:solidFill>
                  <a:srgbClr val="0000FF"/>
                </a:solidFill>
                <a:latin typeface="Arial Unicode MS" charset="0"/>
                <a:ea typeface="Arial Unicode MS" charset="0"/>
                <a:cs typeface="Arial Unicode MS" charset="0"/>
              </a:rPr>
              <a:t> </a:t>
            </a:r>
            <a:r>
              <a:rPr lang="el-GR" sz="2400" dirty="0">
                <a:solidFill>
                  <a:srgbClr val="0000FF"/>
                </a:solidFill>
                <a:latin typeface="Arial Unicode MS" charset="0"/>
                <a:ea typeface="Arial Unicode MS" charset="0"/>
                <a:cs typeface="Arial Unicode MS" charset="0"/>
              </a:rPr>
              <a:t>Δ</a:t>
            </a:r>
            <a:r>
              <a:rPr lang="en-US" sz="2400" i="1" dirty="0" smtClean="0">
                <a:solidFill>
                  <a:srgbClr val="0000FF"/>
                </a:solidFill>
                <a:latin typeface="Arial Unicode MS" charset="0"/>
                <a:ea typeface="Arial Unicode MS" charset="0"/>
                <a:cs typeface="Arial Unicode MS" charset="0"/>
              </a:rPr>
              <a:t>S (isothermal)</a:t>
            </a:r>
            <a:endParaRPr lang="el-GR" sz="2400" i="1" dirty="0">
              <a:solidFill>
                <a:srgbClr val="0000FF"/>
              </a:solidFill>
              <a:latin typeface="Arial Unicode MS" charset="0"/>
              <a:ea typeface="Arial Unicode MS" charset="0"/>
              <a:cs typeface="Arial Unicode MS" charset="0"/>
            </a:endParaRP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6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6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6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66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6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6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6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66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66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66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66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66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66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/>
      <p:bldP spid="26627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57200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/>
              <a:t>Gibbs Free Energy</a:t>
            </a:r>
          </a:p>
        </p:txBody>
      </p:sp>
      <p:sp>
        <p:nvSpPr>
          <p:cNvPr id="25603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3810000" y="1905000"/>
            <a:ext cx="5160381" cy="4495800"/>
          </a:xfrm>
        </p:spPr>
        <p:txBody>
          <a:bodyPr/>
          <a:lstStyle/>
          <a:p>
            <a:pPr marL="533400" indent="-533400" eaLnBrk="1" hangingPunct="1">
              <a:buFontTx/>
              <a:buAutoNum type="arabicPeriod"/>
            </a:pPr>
            <a:r>
              <a:rPr lang="en-US" sz="2800" dirty="0"/>
              <a:t>If </a:t>
            </a:r>
            <a:r>
              <a:rPr lang="en-US" sz="2800" dirty="0">
                <a:latin typeface="Symbol" charset="2"/>
              </a:rPr>
              <a:t>D</a:t>
            </a:r>
            <a:r>
              <a:rPr lang="en-US" sz="2800" i="1" dirty="0"/>
              <a:t>G</a:t>
            </a:r>
            <a:r>
              <a:rPr lang="en-US" sz="2800" dirty="0"/>
              <a:t> is negative, the forward reaction is </a:t>
            </a:r>
            <a:r>
              <a:rPr lang="en-US" sz="2800" dirty="0" smtClean="0"/>
              <a:t>spontaneous (</a:t>
            </a:r>
            <a:r>
              <a:rPr lang="el-GR" sz="2800" dirty="0" smtClean="0">
                <a:latin typeface="Arial Unicode MS" charset="0"/>
                <a:ea typeface="Arial Unicode MS" charset="0"/>
                <a:cs typeface="Arial Unicode MS" charset="0"/>
              </a:rPr>
              <a:t>Δ</a:t>
            </a:r>
            <a:r>
              <a:rPr lang="en-US" sz="2800" i="1" dirty="0" err="1" smtClean="0">
                <a:latin typeface="Arial Unicode MS" charset="0"/>
                <a:ea typeface="Arial Unicode MS" charset="0"/>
                <a:cs typeface="Arial Unicode MS" charset="0"/>
              </a:rPr>
              <a:t>s</a:t>
            </a:r>
            <a:r>
              <a:rPr lang="en-US" sz="2800" baseline="-25000" dirty="0" err="1" smtClean="0">
                <a:latin typeface="Arial Unicode MS" charset="0"/>
                <a:ea typeface="Arial Unicode MS" charset="0"/>
                <a:cs typeface="Arial Unicode MS" charset="0"/>
              </a:rPr>
              <a:t>universe</a:t>
            </a:r>
            <a:r>
              <a:rPr lang="en-US" sz="2800" dirty="0" smtClean="0">
                <a:latin typeface="Arial Unicode MS" charset="0"/>
                <a:ea typeface="Arial Unicode MS" charset="0"/>
                <a:cs typeface="Arial Unicode MS" charset="0"/>
              </a:rPr>
              <a:t> </a:t>
            </a:r>
            <a:r>
              <a:rPr lang="en-US" sz="2800" dirty="0" smtClean="0">
                <a:solidFill>
                  <a:srgbClr val="FF0000"/>
                </a:solidFill>
                <a:latin typeface="Arial Unicode MS" charset="0"/>
                <a:ea typeface="Arial Unicode MS" charset="0"/>
                <a:cs typeface="Arial Unicode MS" charset="0"/>
              </a:rPr>
              <a:t>+</a:t>
            </a:r>
            <a:r>
              <a:rPr lang="en-US" sz="2800" dirty="0" smtClean="0"/>
              <a:t>).</a:t>
            </a:r>
            <a:endParaRPr lang="en-US" sz="2800" dirty="0"/>
          </a:p>
          <a:p>
            <a:pPr marL="533400" indent="-533400" eaLnBrk="1" hangingPunct="1">
              <a:buFontTx/>
              <a:buAutoNum type="arabicPeriod"/>
            </a:pPr>
            <a:r>
              <a:rPr lang="en-US" sz="2800" dirty="0"/>
              <a:t>If </a:t>
            </a:r>
            <a:r>
              <a:rPr lang="en-US" sz="2800" dirty="0">
                <a:latin typeface="Symbol" charset="2"/>
              </a:rPr>
              <a:t>D</a:t>
            </a:r>
            <a:r>
              <a:rPr lang="en-US" sz="2800" i="1" dirty="0"/>
              <a:t>G</a:t>
            </a:r>
            <a:r>
              <a:rPr lang="en-US" sz="2800" dirty="0"/>
              <a:t> is 0, the system is at </a:t>
            </a:r>
            <a:r>
              <a:rPr lang="en-US" sz="2800" dirty="0"/>
              <a:t>equilibrium (</a:t>
            </a:r>
            <a:r>
              <a:rPr lang="el-GR" sz="2800" dirty="0">
                <a:latin typeface="Arial Unicode MS" charset="0"/>
                <a:ea typeface="Arial Unicode MS" charset="0"/>
                <a:cs typeface="Arial Unicode MS" charset="0"/>
              </a:rPr>
              <a:t>Δ</a:t>
            </a:r>
            <a:r>
              <a:rPr lang="en-US" sz="2800" i="1" dirty="0" err="1">
                <a:latin typeface="Arial Unicode MS" charset="0"/>
                <a:ea typeface="Arial Unicode MS" charset="0"/>
                <a:cs typeface="Arial Unicode MS" charset="0"/>
              </a:rPr>
              <a:t>s</a:t>
            </a:r>
            <a:r>
              <a:rPr lang="en-US" sz="2800" baseline="-25000" dirty="0" err="1">
                <a:latin typeface="Arial Unicode MS" charset="0"/>
                <a:ea typeface="Arial Unicode MS" charset="0"/>
                <a:cs typeface="Arial Unicode MS" charset="0"/>
              </a:rPr>
              <a:t>universe</a:t>
            </a:r>
            <a:r>
              <a:rPr lang="en-US" sz="2800" dirty="0">
                <a:latin typeface="Arial Unicode MS" charset="0"/>
                <a:ea typeface="Arial Unicode MS" charset="0"/>
                <a:cs typeface="Arial Unicode MS" charset="0"/>
              </a:rPr>
              <a:t> </a:t>
            </a:r>
            <a:r>
              <a:rPr lang="en-US" sz="2800" dirty="0" smtClean="0">
                <a:solidFill>
                  <a:srgbClr val="FF0000"/>
                </a:solidFill>
                <a:latin typeface="Arial Unicode MS" charset="0"/>
                <a:ea typeface="Arial Unicode MS" charset="0"/>
                <a:cs typeface="Arial Unicode MS" charset="0"/>
              </a:rPr>
              <a:t>0</a:t>
            </a:r>
            <a:r>
              <a:rPr lang="en-US" sz="2800" dirty="0" smtClean="0"/>
              <a:t>).</a:t>
            </a:r>
            <a:endParaRPr lang="en-US" sz="2800" dirty="0"/>
          </a:p>
          <a:p>
            <a:pPr marL="533400" indent="-533400" eaLnBrk="1" hangingPunct="1">
              <a:buFontTx/>
              <a:buAutoNum type="arabicPeriod"/>
            </a:pPr>
            <a:r>
              <a:rPr lang="en-US" sz="2800" dirty="0"/>
              <a:t>If </a:t>
            </a:r>
            <a:r>
              <a:rPr lang="en-US" sz="2800" dirty="0">
                <a:latin typeface="Symbol" charset="2"/>
                <a:sym typeface="Symbol" charset="2"/>
              </a:rPr>
              <a:t></a:t>
            </a:r>
            <a:r>
              <a:rPr lang="en-US" sz="2800" i="1" dirty="0"/>
              <a:t>G</a:t>
            </a:r>
            <a:r>
              <a:rPr lang="en-US" sz="2800" dirty="0"/>
              <a:t> is </a:t>
            </a:r>
            <a:r>
              <a:rPr lang="en-US" sz="2800" dirty="0" smtClean="0"/>
              <a:t>positive (</a:t>
            </a:r>
            <a:r>
              <a:rPr lang="el-GR" sz="2800" dirty="0">
                <a:latin typeface="Arial Unicode MS" charset="0"/>
                <a:ea typeface="Arial Unicode MS" charset="0"/>
                <a:cs typeface="Arial Unicode MS" charset="0"/>
              </a:rPr>
              <a:t>Δ</a:t>
            </a:r>
            <a:r>
              <a:rPr lang="en-US" sz="2800" i="1" dirty="0" err="1">
                <a:latin typeface="Arial Unicode MS" charset="0"/>
                <a:ea typeface="Arial Unicode MS" charset="0"/>
                <a:cs typeface="Arial Unicode MS" charset="0"/>
              </a:rPr>
              <a:t>s</a:t>
            </a:r>
            <a:r>
              <a:rPr lang="en-US" sz="2800" baseline="-25000" dirty="0" err="1">
                <a:latin typeface="Arial Unicode MS" charset="0"/>
                <a:ea typeface="Arial Unicode MS" charset="0"/>
                <a:cs typeface="Arial Unicode MS" charset="0"/>
              </a:rPr>
              <a:t>universe</a:t>
            </a:r>
            <a:r>
              <a:rPr lang="en-US" sz="2800" dirty="0">
                <a:latin typeface="Arial Unicode MS" charset="0"/>
                <a:ea typeface="Arial Unicode MS" charset="0"/>
                <a:cs typeface="Arial Unicode MS" charset="0"/>
              </a:rPr>
              <a:t> </a:t>
            </a:r>
            <a:r>
              <a:rPr lang="en-US" sz="2800" dirty="0" smtClean="0">
                <a:solidFill>
                  <a:srgbClr val="FF0000"/>
                </a:solidFill>
                <a:latin typeface="Arial Unicode MS" charset="0"/>
                <a:ea typeface="Arial Unicode MS" charset="0"/>
                <a:cs typeface="Arial Unicode MS" charset="0"/>
              </a:rPr>
              <a:t>-</a:t>
            </a:r>
            <a:r>
              <a:rPr lang="en-US" sz="2800" dirty="0" smtClean="0"/>
              <a:t>), </a:t>
            </a:r>
            <a:r>
              <a:rPr lang="en-US" sz="2800" dirty="0"/>
              <a:t>the reaction is spontaneous in the reverse direction.</a:t>
            </a:r>
          </a:p>
        </p:txBody>
      </p:sp>
      <p:pic>
        <p:nvPicPr>
          <p:cNvPr id="5" name="Picture 4" descr="19_15_Figure.jpg"/>
          <p:cNvPicPr>
            <a:picLocks noChangeAspect="1"/>
          </p:cNvPicPr>
          <p:nvPr/>
        </p:nvPicPr>
        <p:blipFill>
          <a:blip r:embed="rId3" cstate="print"/>
          <a:srcRect b="2546"/>
          <a:stretch>
            <a:fillRect/>
          </a:stretch>
        </p:blipFill>
        <p:spPr>
          <a:xfrm>
            <a:off x="78130" y="2895600"/>
            <a:ext cx="3733799" cy="307498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/>
              <a:t>Standard Free Energy Changes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2900" y="1293812"/>
            <a:ext cx="6324600" cy="1677988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dirty="0"/>
              <a:t>Standard free energies of </a:t>
            </a:r>
            <a:br>
              <a:rPr lang="en-US" dirty="0"/>
            </a:br>
            <a:r>
              <a:rPr lang="en-US" dirty="0" smtClean="0"/>
              <a:t>formation</a:t>
            </a:r>
            <a:r>
              <a:rPr lang="en-US" dirty="0"/>
              <a:t> </a:t>
            </a:r>
            <a:r>
              <a:rPr lang="en-US" dirty="0" smtClean="0">
                <a:latin typeface="Symbol" charset="2"/>
                <a:sym typeface="Symbol" charset="2"/>
              </a:rPr>
              <a:t></a:t>
            </a:r>
            <a:r>
              <a:rPr lang="en-US" i="1" dirty="0" err="1" smtClean="0"/>
              <a:t>G</a:t>
            </a:r>
            <a:r>
              <a:rPr lang="en-US" b="1" i="1" baseline="-25000" dirty="0" err="1" smtClean="0">
                <a:solidFill>
                  <a:srgbClr val="FF0000"/>
                </a:solidFill>
              </a:rPr>
              <a:t>f</a:t>
            </a:r>
            <a:r>
              <a:rPr lang="en-US" b="1" dirty="0" err="1" smtClean="0">
                <a:solidFill>
                  <a:srgbClr val="0000FF"/>
                </a:solidFill>
                <a:cs typeface="Arial"/>
                <a:sym typeface="Symbol" charset="2"/>
              </a:rPr>
              <a:t>°</a:t>
            </a:r>
            <a:r>
              <a:rPr lang="en-US" dirty="0" err="1" smtClean="0">
                <a:cs typeface="Arial"/>
                <a:sym typeface="Symbol" charset="2"/>
              </a:rPr>
              <a:t>are</a:t>
            </a:r>
            <a:r>
              <a:rPr lang="en-US" dirty="0" smtClean="0">
                <a:cs typeface="Arial"/>
                <a:sym typeface="Symbol" charset="2"/>
              </a:rPr>
              <a:t> a</a:t>
            </a:r>
            <a:r>
              <a:rPr lang="en-US" dirty="0" smtClean="0"/>
              <a:t>nalogous </a:t>
            </a:r>
            <a:r>
              <a:rPr lang="en-US" dirty="0"/>
              <a:t>to standard</a:t>
            </a:r>
            <a:r>
              <a:rPr lang="en-US" dirty="0" smtClean="0"/>
              <a:t> </a:t>
            </a:r>
            <a:r>
              <a:rPr lang="en-US" dirty="0" smtClean="0"/>
              <a:t>enthalpies </a:t>
            </a:r>
            <a:r>
              <a:rPr lang="en-US" dirty="0"/>
              <a:t>of </a:t>
            </a:r>
            <a:r>
              <a:rPr lang="en-US" dirty="0" smtClean="0"/>
              <a:t>formation (</a:t>
            </a:r>
            <a:r>
              <a:rPr lang="en-US" dirty="0" smtClean="0">
                <a:latin typeface="Symbol" charset="2"/>
                <a:sym typeface="Symbol" charset="2"/>
              </a:rPr>
              <a:t></a:t>
            </a:r>
            <a:r>
              <a:rPr lang="en-US" i="1" dirty="0" err="1" smtClean="0"/>
              <a:t>H</a:t>
            </a:r>
            <a:r>
              <a:rPr lang="en-US" b="1" i="1" baseline="-25000" dirty="0" err="1" smtClean="0">
                <a:solidFill>
                  <a:srgbClr val="FF0000"/>
                </a:solidFill>
              </a:rPr>
              <a:t>f</a:t>
            </a:r>
            <a:r>
              <a:rPr lang="en-US" b="1" dirty="0" smtClean="0">
                <a:solidFill>
                  <a:srgbClr val="0000FF"/>
                </a:solidFill>
                <a:cs typeface="Arial"/>
                <a:sym typeface="Symbol" charset="2"/>
              </a:rPr>
              <a:t>°</a:t>
            </a:r>
            <a:r>
              <a:rPr lang="en-US" dirty="0" smtClean="0">
                <a:cs typeface="Arial"/>
                <a:sym typeface="Symbol" charset="2"/>
              </a:rPr>
              <a:t>)</a:t>
            </a:r>
            <a:r>
              <a:rPr lang="en-US" dirty="0" smtClean="0"/>
              <a:t> 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26629" name="Rectangle 9"/>
          <p:cNvSpPr>
            <a:spLocks noChangeArrowheads="1"/>
          </p:cNvSpPr>
          <p:nvPr/>
        </p:nvSpPr>
        <p:spPr bwMode="auto">
          <a:xfrm>
            <a:off x="979488" y="4267200"/>
            <a:ext cx="815340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eaLnBrk="0" hangingPunct="0"/>
            <a:r>
              <a:rPr lang="en-US" sz="3200" dirty="0"/>
              <a:t>where </a:t>
            </a:r>
            <a:r>
              <a:rPr lang="en-US" sz="3200" i="1" dirty="0" err="1"/>
              <a:t>n</a:t>
            </a:r>
            <a:r>
              <a:rPr lang="en-US" sz="3200" dirty="0"/>
              <a:t> and </a:t>
            </a:r>
            <a:r>
              <a:rPr lang="en-US" sz="3200" i="1" dirty="0" err="1"/>
              <a:t>m</a:t>
            </a:r>
            <a:r>
              <a:rPr lang="en-US" sz="3200" dirty="0"/>
              <a:t> are the</a:t>
            </a:r>
            <a:r>
              <a:rPr lang="en-US" sz="3200" dirty="0" smtClean="0"/>
              <a:t> </a:t>
            </a:r>
            <a:br>
              <a:rPr lang="en-US" sz="3200" dirty="0" smtClean="0"/>
            </a:br>
            <a:r>
              <a:rPr lang="en-US" sz="3200" dirty="0" err="1" smtClean="0"/>
              <a:t>stoichiometric</a:t>
            </a:r>
            <a:r>
              <a:rPr lang="en-US" sz="3200" dirty="0" smtClean="0"/>
              <a:t> </a:t>
            </a:r>
            <a:r>
              <a:rPr lang="en-US" sz="3200" dirty="0"/>
              <a:t>coefficients.</a:t>
            </a:r>
          </a:p>
        </p:txBody>
      </p:sp>
      <p:pic>
        <p:nvPicPr>
          <p:cNvPr id="10" name="Picture 9" descr="19_14_Figure.jpg"/>
          <p:cNvPicPr>
            <a:picLocks noChangeAspect="1"/>
          </p:cNvPicPr>
          <p:nvPr/>
        </p:nvPicPr>
        <p:blipFill>
          <a:blip r:embed="rId3" cstate="print"/>
          <a:srcRect b="2546"/>
          <a:stretch>
            <a:fillRect/>
          </a:stretch>
        </p:blipFill>
        <p:spPr>
          <a:xfrm>
            <a:off x="6858000" y="1676400"/>
            <a:ext cx="2160062" cy="4148659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52400" y="3661600"/>
            <a:ext cx="6858000" cy="461665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>
                <a:latin typeface="Symbol" charset="2"/>
                <a:sym typeface="Symbol" charset="2"/>
              </a:rPr>
              <a:t></a:t>
            </a:r>
            <a:r>
              <a:rPr lang="en-US" sz="2400" i="1" dirty="0" err="1" smtClean="0"/>
              <a:t>G</a:t>
            </a:r>
            <a:r>
              <a:rPr lang="en-US" sz="2400" b="1" i="1" baseline="-25000" dirty="0" err="1" smtClean="0">
                <a:solidFill>
                  <a:srgbClr val="FF0000"/>
                </a:solidFill>
              </a:rPr>
              <a:t>rxn</a:t>
            </a:r>
            <a:r>
              <a:rPr lang="en-US" sz="2400" b="1" dirty="0" smtClean="0">
                <a:solidFill>
                  <a:srgbClr val="0000FF"/>
                </a:solidFill>
                <a:latin typeface="Arial"/>
                <a:cs typeface="Arial"/>
                <a:sym typeface="Symbol" charset="2"/>
              </a:rPr>
              <a:t>°</a:t>
            </a:r>
            <a:r>
              <a:rPr lang="en-US" sz="2400" dirty="0" smtClean="0">
                <a:cs typeface="Arial"/>
                <a:sym typeface="Symbol" charset="2"/>
              </a:rPr>
              <a:t>= ∑</a:t>
            </a:r>
            <a:r>
              <a:rPr lang="en-US" sz="2400" i="1" dirty="0" err="1" smtClean="0">
                <a:cs typeface="Arial"/>
                <a:sym typeface="Symbol" charset="2"/>
              </a:rPr>
              <a:t>n</a:t>
            </a:r>
            <a:r>
              <a:rPr lang="en-US" sz="2400" dirty="0" err="1" smtClean="0">
                <a:latin typeface="Symbol" charset="2"/>
                <a:sym typeface="Symbol" charset="2"/>
              </a:rPr>
              <a:t></a:t>
            </a:r>
            <a:r>
              <a:rPr lang="en-US" sz="2400" i="1" dirty="0" err="1" smtClean="0"/>
              <a:t>G</a:t>
            </a:r>
            <a:r>
              <a:rPr lang="en-US" sz="2400" b="1" i="1" baseline="-25000" dirty="0" err="1" smtClean="0">
                <a:solidFill>
                  <a:srgbClr val="FF0000"/>
                </a:solidFill>
              </a:rPr>
              <a:t>f</a:t>
            </a:r>
            <a:r>
              <a:rPr lang="en-US" sz="2400" b="1" i="1" baseline="30000" dirty="0" err="1" smtClean="0">
                <a:solidFill>
                  <a:srgbClr val="FF0000"/>
                </a:solidFill>
              </a:rPr>
              <a:t>o</a:t>
            </a:r>
            <a:r>
              <a:rPr lang="en-US" sz="2400" b="1" dirty="0">
                <a:solidFill>
                  <a:srgbClr val="0000FF"/>
                </a:solidFill>
                <a:latin typeface="Arial"/>
                <a:cs typeface="Arial"/>
                <a:sym typeface="Symbol" charset="2"/>
              </a:rPr>
              <a:t> </a:t>
            </a:r>
            <a:r>
              <a:rPr lang="en-US" sz="2400" dirty="0" smtClean="0">
                <a:cs typeface="Arial"/>
                <a:sym typeface="Symbol" charset="2"/>
              </a:rPr>
              <a:t>(products) - ∑</a:t>
            </a:r>
            <a:r>
              <a:rPr lang="en-US" sz="2400" i="1" dirty="0" err="1" smtClean="0">
                <a:cs typeface="Arial"/>
                <a:sym typeface="Symbol" charset="2"/>
              </a:rPr>
              <a:t>m</a:t>
            </a:r>
            <a:r>
              <a:rPr lang="en-US" sz="2400" dirty="0" err="1" smtClean="0">
                <a:latin typeface="Symbol" charset="2"/>
                <a:sym typeface="Symbol" charset="2"/>
              </a:rPr>
              <a:t></a:t>
            </a:r>
            <a:r>
              <a:rPr lang="en-US" sz="2400" i="1" dirty="0" err="1"/>
              <a:t>G</a:t>
            </a:r>
            <a:r>
              <a:rPr lang="en-US" sz="2400" b="1" i="1" baseline="-25000" dirty="0" err="1">
                <a:solidFill>
                  <a:srgbClr val="FF0000"/>
                </a:solidFill>
              </a:rPr>
              <a:t>f</a:t>
            </a:r>
            <a:r>
              <a:rPr lang="en-US" sz="2400" b="1" i="1" baseline="30000" dirty="0" err="1">
                <a:solidFill>
                  <a:srgbClr val="FF0000"/>
                </a:solidFill>
              </a:rPr>
              <a:t>o</a:t>
            </a:r>
            <a:r>
              <a:rPr lang="en-US" sz="2400" b="1" dirty="0">
                <a:solidFill>
                  <a:srgbClr val="0000FF"/>
                </a:solidFill>
                <a:latin typeface="Arial"/>
                <a:cs typeface="Arial"/>
                <a:sym typeface="Symbol" charset="2"/>
              </a:rPr>
              <a:t> </a:t>
            </a:r>
            <a:r>
              <a:rPr lang="en-US" sz="2400" dirty="0" smtClean="0">
                <a:cs typeface="Arial"/>
                <a:sym typeface="Symbol" charset="2"/>
              </a:rPr>
              <a:t>(reactants</a:t>
            </a:r>
            <a:r>
              <a:rPr lang="en-US" sz="2400" dirty="0">
                <a:cs typeface="Arial"/>
                <a:sym typeface="Symbol" charset="2"/>
              </a:rPr>
              <a:t>)</a:t>
            </a:r>
            <a:r>
              <a:rPr lang="en-US" sz="2400" dirty="0" smtClean="0">
                <a:cs typeface="Arial"/>
                <a:sym typeface="Symbol" charset="2"/>
              </a:rPr>
              <a:t> </a:t>
            </a:r>
            <a:endParaRPr lang="en-US" sz="240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pPr eaLnBrk="1" hangingPunct="1"/>
            <a:r>
              <a:rPr lang="en-US" sz="3200" b="1" dirty="0"/>
              <a:t>Free Energy Changes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3200400"/>
            <a:ext cx="8305800" cy="2590800"/>
          </a:xfrm>
        </p:spPr>
        <p:txBody>
          <a:bodyPr/>
          <a:lstStyle/>
          <a:p>
            <a:pPr eaLnBrk="1" hangingPunct="1"/>
            <a:r>
              <a:rPr lang="en-US" sz="2800" dirty="0"/>
              <a:t>How does </a:t>
            </a:r>
            <a:r>
              <a:rPr lang="el-GR" sz="2800" dirty="0">
                <a:ea typeface="Arial" charset="0"/>
                <a:cs typeface="Arial" charset="0"/>
                <a:sym typeface="Symbol" charset="2"/>
              </a:rPr>
              <a:t>Δ</a:t>
            </a:r>
            <a:r>
              <a:rPr lang="en-US" sz="2800" i="1" dirty="0"/>
              <a:t>G</a:t>
            </a:r>
            <a:r>
              <a:rPr lang="en-US" sz="2800" dirty="0">
                <a:sym typeface="Symbol" charset="2"/>
              </a:rPr>
              <a:t> change with temperature?</a:t>
            </a:r>
          </a:p>
          <a:p>
            <a:pPr eaLnBrk="1" hangingPunct="1"/>
            <a:r>
              <a:rPr lang="el-GR" sz="2800" dirty="0"/>
              <a:t>Δ</a:t>
            </a:r>
            <a:r>
              <a:rPr lang="en-US" sz="2800" i="1" dirty="0"/>
              <a:t>G</a:t>
            </a:r>
            <a:r>
              <a:rPr lang="en-US" sz="2800" dirty="0">
                <a:sym typeface="Symbol" charset="2"/>
              </a:rPr>
              <a:t> = </a:t>
            </a:r>
            <a:r>
              <a:rPr lang="el-GR" sz="2800" dirty="0">
                <a:sym typeface="Symbol" charset="2"/>
              </a:rPr>
              <a:t>Δ</a:t>
            </a:r>
            <a:r>
              <a:rPr lang="en-US" sz="2800" i="1" dirty="0">
                <a:sym typeface="Symbol" charset="2"/>
              </a:rPr>
              <a:t>H</a:t>
            </a:r>
            <a:r>
              <a:rPr lang="en-US" sz="2800" dirty="0" smtClean="0">
                <a:sym typeface="Symbol" charset="2"/>
              </a:rPr>
              <a:t> – </a:t>
            </a:r>
            <a:r>
              <a:rPr lang="en-US" sz="2800" i="1" dirty="0">
                <a:sym typeface="Symbol" charset="2"/>
              </a:rPr>
              <a:t>T</a:t>
            </a:r>
            <a:r>
              <a:rPr lang="el-GR" sz="2800" dirty="0">
                <a:ea typeface="Arial" charset="0"/>
                <a:cs typeface="Arial" charset="0"/>
                <a:sym typeface="Symbol" charset="2"/>
              </a:rPr>
              <a:t>Δ</a:t>
            </a:r>
            <a:r>
              <a:rPr lang="en-US" sz="2800" i="1" dirty="0">
                <a:sym typeface="Symbol" charset="2"/>
              </a:rPr>
              <a:t>S</a:t>
            </a:r>
          </a:p>
          <a:p>
            <a:pPr eaLnBrk="1" hangingPunct="1"/>
            <a:r>
              <a:rPr lang="en-US" sz="2800" dirty="0">
                <a:sym typeface="Symbol" charset="2"/>
              </a:rPr>
              <a:t>Since reactions are spontaneous if </a:t>
            </a:r>
            <a:r>
              <a:rPr lang="el-GR" sz="2800" dirty="0"/>
              <a:t>Δ</a:t>
            </a:r>
            <a:r>
              <a:rPr lang="en-US" sz="2800" i="1" dirty="0"/>
              <a:t>G</a:t>
            </a:r>
            <a:r>
              <a:rPr lang="en-US" sz="2800" dirty="0"/>
              <a:t> &lt; 0, the sign of enthalpy and entropy and the magnitude of the temperature matters to spontaneity.</a:t>
            </a:r>
            <a:endParaRPr lang="en-US" sz="2800" dirty="0">
              <a:sym typeface="Symbol" charset="2"/>
            </a:endParaRPr>
          </a:p>
        </p:txBody>
      </p:sp>
      <p:pic>
        <p:nvPicPr>
          <p:cNvPr id="5" name="Picture 4" descr="19_03_Table.jpg"/>
          <p:cNvPicPr>
            <a:picLocks noChangeAspect="1"/>
          </p:cNvPicPr>
          <p:nvPr/>
        </p:nvPicPr>
        <p:blipFill>
          <a:blip r:embed="rId3" cstate="print"/>
          <a:srcRect b="8904"/>
          <a:stretch>
            <a:fillRect/>
          </a:stretch>
        </p:blipFill>
        <p:spPr>
          <a:xfrm>
            <a:off x="304800" y="990600"/>
            <a:ext cx="8534400" cy="202692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/>
              <a:t>Free Energy and Equilibrium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447800"/>
            <a:ext cx="8610600" cy="4343400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dirty="0"/>
              <a:t>Under </a:t>
            </a:r>
            <a:r>
              <a:rPr lang="en-US" dirty="0">
                <a:solidFill>
                  <a:srgbClr val="FF0000"/>
                </a:solidFill>
              </a:rPr>
              <a:t>any conditions</a:t>
            </a:r>
            <a:r>
              <a:rPr lang="en-US" dirty="0"/>
              <a:t>, standard or nonstandard, the free energy change can be found this way:</a:t>
            </a:r>
          </a:p>
          <a:p>
            <a:pPr marL="0" indent="0" eaLnBrk="1" hangingPunct="1">
              <a:buFontTx/>
              <a:buNone/>
            </a:pPr>
            <a:endParaRPr lang="en-US" dirty="0">
              <a:latin typeface="Symbol" charset="2"/>
              <a:sym typeface="Symbol" charset="2"/>
            </a:endParaRPr>
          </a:p>
          <a:p>
            <a:pPr marL="0" indent="0" eaLnBrk="1" hangingPunct="1">
              <a:buFontTx/>
              <a:buNone/>
            </a:pPr>
            <a:r>
              <a:rPr lang="en-US" dirty="0" smtClean="0">
                <a:latin typeface="Symbol" charset="2"/>
                <a:sym typeface="Symbol" charset="2"/>
              </a:rPr>
              <a:t>                       </a:t>
            </a:r>
            <a:r>
              <a:rPr lang="en-US" i="1" dirty="0"/>
              <a:t>G</a:t>
            </a:r>
            <a:r>
              <a:rPr lang="en-US" dirty="0"/>
              <a:t> = </a:t>
            </a:r>
            <a:r>
              <a:rPr lang="en-US" dirty="0">
                <a:latin typeface="Symbol" charset="2"/>
                <a:sym typeface="Symbol" charset="2"/>
              </a:rPr>
              <a:t></a:t>
            </a:r>
            <a:r>
              <a:rPr lang="en-US" i="1" dirty="0" smtClean="0"/>
              <a:t>G</a:t>
            </a:r>
            <a:r>
              <a:rPr lang="en-US" dirty="0" smtClean="0">
                <a:latin typeface="Arial"/>
                <a:cs typeface="Arial"/>
                <a:sym typeface="Symbol" charset="2"/>
              </a:rPr>
              <a:t>°</a:t>
            </a:r>
            <a:r>
              <a:rPr lang="en-US" dirty="0" smtClean="0">
                <a:sym typeface="Symbol" charset="2"/>
              </a:rPr>
              <a:t> </a:t>
            </a:r>
            <a:r>
              <a:rPr lang="en-US" dirty="0">
                <a:sym typeface="Symbol" charset="2"/>
              </a:rPr>
              <a:t>+ </a:t>
            </a:r>
            <a:r>
              <a:rPr lang="en-US" i="1" dirty="0">
                <a:sym typeface="Symbol" charset="2"/>
              </a:rPr>
              <a:t>RT </a:t>
            </a:r>
            <a:r>
              <a:rPr lang="en-US" dirty="0">
                <a:sym typeface="Symbol" charset="2"/>
              </a:rPr>
              <a:t>ln </a:t>
            </a:r>
            <a:r>
              <a:rPr lang="en-US" i="1" dirty="0">
                <a:sym typeface="Symbol" charset="2"/>
              </a:rPr>
              <a:t>Q</a:t>
            </a:r>
          </a:p>
          <a:p>
            <a:pPr marL="0" indent="0" eaLnBrk="1" hangingPunct="1">
              <a:buFontTx/>
              <a:buNone/>
            </a:pPr>
            <a:endParaRPr lang="en-US" dirty="0">
              <a:sym typeface="Symbol" charset="2"/>
            </a:endParaRPr>
          </a:p>
          <a:p>
            <a:pPr marL="0" indent="0" eaLnBrk="1" hangingPunct="1">
              <a:buFontTx/>
              <a:buNone/>
            </a:pPr>
            <a:r>
              <a:rPr lang="en-US" sz="2800" dirty="0"/>
              <a:t>(Under </a:t>
            </a:r>
            <a:r>
              <a:rPr lang="en-US" sz="2800" dirty="0">
                <a:solidFill>
                  <a:srgbClr val="FF0000"/>
                </a:solidFill>
              </a:rPr>
              <a:t>standard conditions</a:t>
            </a:r>
            <a:r>
              <a:rPr lang="en-US" sz="2800" dirty="0"/>
              <a:t>, concentrations are 1 </a:t>
            </a:r>
            <a:r>
              <a:rPr lang="en-US" sz="2800" i="1" dirty="0"/>
              <a:t>M</a:t>
            </a:r>
            <a:r>
              <a:rPr lang="en-US" sz="2800" dirty="0"/>
              <a:t>, so </a:t>
            </a:r>
            <a:r>
              <a:rPr lang="en-US" sz="2800" i="1" dirty="0"/>
              <a:t>Q</a:t>
            </a:r>
            <a:r>
              <a:rPr lang="en-US" sz="2800" dirty="0"/>
              <a:t> = 1 and ln </a:t>
            </a:r>
            <a:r>
              <a:rPr lang="en-US" sz="2800" i="1" dirty="0"/>
              <a:t>Q</a:t>
            </a:r>
            <a:r>
              <a:rPr lang="en-US" sz="2800" dirty="0"/>
              <a:t> = 0; the last term drops out.)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 b="1" dirty="0"/>
              <a:t>Free Energy and Equilibrium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724400"/>
          </a:xfrm>
        </p:spPr>
        <p:txBody>
          <a:bodyPr/>
          <a:lstStyle/>
          <a:p>
            <a:pPr eaLnBrk="1" hangingPunct="1"/>
            <a:r>
              <a:rPr lang="en-US" dirty="0"/>
              <a:t>At equilibrium, </a:t>
            </a:r>
            <a:r>
              <a:rPr lang="en-US" b="1" i="1" dirty="0">
                <a:solidFill>
                  <a:srgbClr val="FF0000"/>
                </a:solidFill>
              </a:rPr>
              <a:t>Q</a:t>
            </a:r>
            <a:r>
              <a:rPr lang="en-US" b="1" dirty="0">
                <a:solidFill>
                  <a:srgbClr val="FF0000"/>
                </a:solidFill>
              </a:rPr>
              <a:t> = </a:t>
            </a:r>
            <a:r>
              <a:rPr lang="en-US" b="1" i="1" dirty="0">
                <a:solidFill>
                  <a:srgbClr val="FF0000"/>
                </a:solidFill>
              </a:rPr>
              <a:t>K</a:t>
            </a:r>
            <a:r>
              <a:rPr lang="en-US" dirty="0"/>
              <a:t>, and </a:t>
            </a:r>
            <a:r>
              <a:rPr lang="en-US" b="1" dirty="0">
                <a:solidFill>
                  <a:srgbClr val="FF0000"/>
                </a:solidFill>
                <a:latin typeface="Symbol" charset="2"/>
                <a:sym typeface="Symbol" charset="2"/>
              </a:rPr>
              <a:t></a:t>
            </a:r>
            <a:r>
              <a:rPr lang="en-US" b="1" i="1" dirty="0">
                <a:solidFill>
                  <a:srgbClr val="FF0000"/>
                </a:solidFill>
              </a:rPr>
              <a:t>G</a:t>
            </a:r>
            <a:r>
              <a:rPr lang="en-US" b="1" dirty="0">
                <a:solidFill>
                  <a:srgbClr val="FF0000"/>
                </a:solidFill>
              </a:rPr>
              <a:t> = 0</a:t>
            </a:r>
            <a:r>
              <a:rPr lang="en-US" dirty="0"/>
              <a:t>.</a:t>
            </a:r>
          </a:p>
          <a:p>
            <a:pPr eaLnBrk="1" hangingPunct="1"/>
            <a:r>
              <a:rPr lang="en-US" dirty="0"/>
              <a:t>The equation becomes</a:t>
            </a:r>
          </a:p>
          <a:p>
            <a:pPr algn="ctr" eaLnBrk="1" hangingPunct="1">
              <a:buFontTx/>
              <a:buNone/>
            </a:pPr>
            <a:r>
              <a:rPr lang="en-US" dirty="0"/>
              <a:t>0 = </a:t>
            </a:r>
            <a:r>
              <a:rPr lang="en-US" dirty="0">
                <a:latin typeface="Symbol" charset="2"/>
                <a:sym typeface="Symbol" charset="2"/>
              </a:rPr>
              <a:t></a:t>
            </a:r>
            <a:r>
              <a:rPr lang="en-US" i="1" dirty="0" smtClean="0"/>
              <a:t>G</a:t>
            </a:r>
            <a:r>
              <a:rPr lang="en-US" dirty="0" smtClean="0">
                <a:latin typeface="Arial"/>
                <a:cs typeface="Arial"/>
                <a:sym typeface="Symbol" charset="2"/>
              </a:rPr>
              <a:t>°</a:t>
            </a:r>
            <a:r>
              <a:rPr lang="en-US" dirty="0" smtClean="0">
                <a:sym typeface="Symbol" charset="2"/>
              </a:rPr>
              <a:t> </a:t>
            </a:r>
            <a:r>
              <a:rPr lang="en-US" dirty="0">
                <a:sym typeface="Symbol" charset="2"/>
              </a:rPr>
              <a:t>+ </a:t>
            </a:r>
            <a:r>
              <a:rPr lang="en-US" i="1" dirty="0">
                <a:sym typeface="Symbol" charset="2"/>
              </a:rPr>
              <a:t>RT</a:t>
            </a:r>
            <a:r>
              <a:rPr lang="en-US" dirty="0">
                <a:sym typeface="Symbol" charset="2"/>
              </a:rPr>
              <a:t> ln </a:t>
            </a:r>
            <a:r>
              <a:rPr lang="en-US" i="1" dirty="0">
                <a:sym typeface="Symbol" charset="2"/>
              </a:rPr>
              <a:t>K</a:t>
            </a:r>
            <a:endParaRPr lang="en-US" dirty="0">
              <a:sym typeface="Symbol" charset="2"/>
            </a:endParaRPr>
          </a:p>
          <a:p>
            <a:pPr eaLnBrk="1" hangingPunct="1"/>
            <a:r>
              <a:rPr lang="en-US" dirty="0"/>
              <a:t>Rearranging, this becomes</a:t>
            </a:r>
          </a:p>
          <a:p>
            <a:pPr algn="ctr" eaLnBrk="1" hangingPunct="1">
              <a:buFontTx/>
              <a:buNone/>
            </a:pPr>
            <a:r>
              <a:rPr lang="en-US" b="1" dirty="0">
                <a:solidFill>
                  <a:srgbClr val="0000FF"/>
                </a:solidFill>
                <a:latin typeface="Symbol" charset="2"/>
                <a:sym typeface="Symbol" charset="2"/>
              </a:rPr>
              <a:t></a:t>
            </a:r>
            <a:r>
              <a:rPr lang="en-US" b="1" i="1" dirty="0" smtClean="0">
                <a:solidFill>
                  <a:srgbClr val="0000FF"/>
                </a:solidFill>
              </a:rPr>
              <a:t>G</a:t>
            </a:r>
            <a:r>
              <a:rPr lang="en-US" b="1" dirty="0" smtClean="0">
                <a:solidFill>
                  <a:srgbClr val="0000FF"/>
                </a:solidFill>
                <a:latin typeface="Arial"/>
                <a:cs typeface="Arial"/>
                <a:sym typeface="Symbol" charset="2"/>
              </a:rPr>
              <a:t>°</a:t>
            </a:r>
            <a:r>
              <a:rPr lang="en-US" b="1" dirty="0" smtClean="0">
                <a:solidFill>
                  <a:srgbClr val="0000FF"/>
                </a:solidFill>
                <a:sym typeface="Symbol" charset="2"/>
              </a:rPr>
              <a:t> </a:t>
            </a:r>
            <a:r>
              <a:rPr lang="en-US" b="1" dirty="0">
                <a:solidFill>
                  <a:srgbClr val="0000FF"/>
                </a:solidFill>
                <a:sym typeface="Symbol" charset="2"/>
              </a:rPr>
              <a:t>= </a:t>
            </a:r>
            <a:r>
              <a:rPr lang="en-US" b="1" i="1" dirty="0">
                <a:solidFill>
                  <a:srgbClr val="0000FF"/>
                </a:solidFill>
                <a:sym typeface="Symbol" charset="2"/>
              </a:rPr>
              <a:t>RT</a:t>
            </a:r>
            <a:r>
              <a:rPr lang="en-US" b="1" dirty="0">
                <a:solidFill>
                  <a:srgbClr val="0000FF"/>
                </a:solidFill>
                <a:sym typeface="Symbol" charset="2"/>
              </a:rPr>
              <a:t> ln </a:t>
            </a:r>
            <a:r>
              <a:rPr lang="en-US" b="1" i="1" dirty="0">
                <a:solidFill>
                  <a:srgbClr val="0000FF"/>
                </a:solidFill>
                <a:sym typeface="Symbol" charset="2"/>
              </a:rPr>
              <a:t>K</a:t>
            </a:r>
            <a:endParaRPr lang="en-US" b="1" dirty="0">
              <a:solidFill>
                <a:srgbClr val="0000FF"/>
              </a:solidFill>
              <a:sym typeface="Symbol" charset="2"/>
            </a:endParaRPr>
          </a:p>
          <a:p>
            <a:pPr eaLnBrk="1" hangingPunct="1">
              <a:buFontTx/>
              <a:buNone/>
            </a:pPr>
            <a:r>
              <a:rPr lang="en-US" dirty="0"/>
              <a:t>	or</a:t>
            </a:r>
          </a:p>
          <a:p>
            <a:pPr eaLnBrk="1" hangingPunct="1">
              <a:buFontTx/>
              <a:buNone/>
            </a:pPr>
            <a:r>
              <a:rPr lang="en-US" dirty="0"/>
              <a:t>				  </a:t>
            </a:r>
            <a:r>
              <a:rPr lang="en-US" i="1" dirty="0"/>
              <a:t>K</a:t>
            </a:r>
            <a:r>
              <a:rPr lang="en-US" dirty="0"/>
              <a:t> = e</a:t>
            </a:r>
          </a:p>
        </p:txBody>
      </p:sp>
      <p:sp>
        <p:nvSpPr>
          <p:cNvPr id="29701" name="Text Box 10"/>
          <p:cNvSpPr txBox="1">
            <a:spLocks noChangeArrowheads="1"/>
          </p:cNvSpPr>
          <p:nvPr/>
        </p:nvSpPr>
        <p:spPr bwMode="auto">
          <a:xfrm>
            <a:off x="4629150" y="5181600"/>
            <a:ext cx="1201738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dirty="0">
                <a:ea typeface="Arial" charset="0"/>
                <a:cs typeface="Arial" charset="0"/>
                <a:sym typeface="Symbol" charset="2"/>
              </a:rPr>
              <a:t></a:t>
            </a:r>
            <a:r>
              <a:rPr lang="en-US" dirty="0">
                <a:latin typeface="Symbol" charset="2"/>
                <a:sym typeface="Symbol" charset="2"/>
              </a:rPr>
              <a:t></a:t>
            </a:r>
            <a:r>
              <a:rPr lang="en-US" i="1" dirty="0" smtClean="0"/>
              <a:t>G</a:t>
            </a:r>
            <a:r>
              <a:rPr lang="en-US" dirty="0" smtClean="0">
                <a:sym typeface="Symbol"/>
              </a:rPr>
              <a:t></a:t>
            </a:r>
            <a:r>
              <a:rPr lang="en-US" dirty="0" smtClean="0">
                <a:sym typeface="Symbol" charset="2"/>
              </a:rPr>
              <a:t>/</a:t>
            </a:r>
            <a:r>
              <a:rPr lang="en-US" i="1" dirty="0">
                <a:sym typeface="Symbol" charset="2"/>
              </a:rPr>
              <a:t>RT</a:t>
            </a:r>
            <a:endParaRPr lang="en-US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Blank Presentation">
  <a:themeElements>
    <a:clrScheme name="1_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Blank Pre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1591</TotalTime>
  <Words>1228</Words>
  <Application>Microsoft Office PowerPoint</Application>
  <PresentationFormat>On-screen Show (4:3)</PresentationFormat>
  <Paragraphs>171</Paragraphs>
  <Slides>27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Arial Unicode MS</vt:lpstr>
      <vt:lpstr>ＭＳ Ｐゴシック</vt:lpstr>
      <vt:lpstr>Arial</vt:lpstr>
      <vt:lpstr>Symbol</vt:lpstr>
      <vt:lpstr>Times New Roman</vt:lpstr>
      <vt:lpstr>Wingdings</vt:lpstr>
      <vt:lpstr>Blank Presentation</vt:lpstr>
      <vt:lpstr>1_Blank Presentation</vt:lpstr>
      <vt:lpstr>PowerPoint Presentation</vt:lpstr>
      <vt:lpstr>First Law of Thermodynamics</vt:lpstr>
      <vt:lpstr>Enthalpy/Entropy</vt:lpstr>
      <vt:lpstr>Spontaneous Processes</vt:lpstr>
      <vt:lpstr>Experimental Factors Affect Spontaneous Processes</vt:lpstr>
      <vt:lpstr>Reversible and Irreversible Processes</vt:lpstr>
      <vt:lpstr>Entropy</vt:lpstr>
      <vt:lpstr>Second Law of Thermodynamics</vt:lpstr>
      <vt:lpstr>Entropy on the Molecular Scale</vt:lpstr>
      <vt:lpstr>Statistical Thermodynamics</vt:lpstr>
      <vt:lpstr>Boltzmann’s Use of Microstates</vt:lpstr>
      <vt:lpstr>Entropy Change</vt:lpstr>
      <vt:lpstr>Effect of Volume and Temperature Change on the System</vt:lpstr>
      <vt:lpstr>Molecular Motions</vt:lpstr>
      <vt:lpstr>Entropy on the Molecular Scale</vt:lpstr>
      <vt:lpstr>Entropy and Physical States</vt:lpstr>
      <vt:lpstr>Third Law of Thermodynamics</vt:lpstr>
      <vt:lpstr>Standard Entropies</vt:lpstr>
      <vt:lpstr>Entropy Changes</vt:lpstr>
      <vt:lpstr>Entropy Changes in Surroundings</vt:lpstr>
      <vt:lpstr>Entropy Change in the Universe</vt:lpstr>
      <vt:lpstr>Total Entropy and Spontaneity</vt:lpstr>
      <vt:lpstr>Gibbs Free Energy</vt:lpstr>
      <vt:lpstr>Standard Free Energy Changes</vt:lpstr>
      <vt:lpstr>Free Energy Changes</vt:lpstr>
      <vt:lpstr>Free Energy and Equilibrium</vt:lpstr>
      <vt:lpstr>Free Energy and Equilibrium</vt:lpstr>
    </vt:vector>
  </TitlesOfParts>
  <Company>John Bookstaver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19 Chemical Thermodynamics</dc:title>
  <dc:creator>John Bookstaver</dc:creator>
  <cp:lastModifiedBy>zhiping</cp:lastModifiedBy>
  <cp:revision>209</cp:revision>
  <dcterms:created xsi:type="dcterms:W3CDTF">2014-02-19T00:57:26Z</dcterms:created>
  <dcterms:modified xsi:type="dcterms:W3CDTF">2017-12-27T14:55:21Z</dcterms:modified>
</cp:coreProperties>
</file>