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52"/>
  </p:notes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5" r:id="rId10"/>
    <p:sldId id="266" r:id="rId11"/>
    <p:sldId id="269" r:id="rId12"/>
    <p:sldId id="267" r:id="rId13"/>
    <p:sldId id="268" r:id="rId14"/>
    <p:sldId id="319" r:id="rId15"/>
    <p:sldId id="270" r:id="rId16"/>
    <p:sldId id="272" r:id="rId17"/>
    <p:sldId id="273" r:id="rId18"/>
    <p:sldId id="274" r:id="rId19"/>
    <p:sldId id="321" r:id="rId20"/>
    <p:sldId id="278" r:id="rId21"/>
    <p:sldId id="279" r:id="rId22"/>
    <p:sldId id="280" r:id="rId23"/>
    <p:sldId id="322" r:id="rId24"/>
    <p:sldId id="323" r:id="rId25"/>
    <p:sldId id="283" r:id="rId26"/>
    <p:sldId id="284" r:id="rId27"/>
    <p:sldId id="285" r:id="rId28"/>
    <p:sldId id="288" r:id="rId29"/>
    <p:sldId id="290" r:id="rId30"/>
    <p:sldId id="326" r:id="rId31"/>
    <p:sldId id="325" r:id="rId32"/>
    <p:sldId id="324" r:id="rId33"/>
    <p:sldId id="327" r:id="rId34"/>
    <p:sldId id="295" r:id="rId35"/>
    <p:sldId id="328" r:id="rId36"/>
    <p:sldId id="304" r:id="rId37"/>
    <p:sldId id="329" r:id="rId38"/>
    <p:sldId id="333" r:id="rId39"/>
    <p:sldId id="335" r:id="rId40"/>
    <p:sldId id="318" r:id="rId41"/>
    <p:sldId id="330" r:id="rId42"/>
    <p:sldId id="331" r:id="rId43"/>
    <p:sldId id="309" r:id="rId44"/>
    <p:sldId id="311" r:id="rId45"/>
    <p:sldId id="312" r:id="rId46"/>
    <p:sldId id="313" r:id="rId47"/>
    <p:sldId id="314" r:id="rId48"/>
    <p:sldId id="315" r:id="rId49"/>
    <p:sldId id="332" r:id="rId50"/>
    <p:sldId id="334" r:id="rId5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296"/>
    <a:srgbClr val="C82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2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81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44F51025-2F32-344D-BACF-3AC8B902E0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44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3F195FE-091F-CB4A-8632-947F18FD2F7A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517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BD98FB-0D50-D04D-8A2C-53A7AD274D8F}" type="slidenum">
              <a:rPr lang="en-US" sz="1200"/>
              <a:pPr/>
              <a:t>2</a:t>
            </a:fld>
            <a:endParaRPr lang="en-US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385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DF24091-6422-E24F-B21A-82CDEB755F48}" type="slidenum">
              <a:rPr lang="en-US" sz="1200"/>
              <a:pPr/>
              <a:t>3</a:t>
            </a:fld>
            <a:endParaRPr 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647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E04A0A-57C0-064D-9694-31A09668B417}" type="slidenum">
              <a:rPr lang="en-US" sz="1200"/>
              <a:pPr/>
              <a:t>4</a:t>
            </a:fld>
            <a:endParaRPr lang="en-US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001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1C9BC45-C1D4-5B47-8E34-8C0DD24E7421}" type="slidenum">
              <a:rPr lang="en-US" sz="1200"/>
              <a:pPr/>
              <a:t>5</a:t>
            </a:fld>
            <a:endParaRPr 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645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79B5623-4B43-E340-8B01-351F14A52A8C}" type="slidenum">
              <a:rPr lang="en-US" sz="1200"/>
              <a:pPr/>
              <a:t>6</a:t>
            </a:fld>
            <a:endParaRPr lang="en-US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047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F86E4FC-2BDB-7240-8FD4-A8B54A25FC07}" type="slidenum">
              <a:rPr lang="en-US" sz="1200"/>
              <a:pPr/>
              <a:t>7</a:t>
            </a:fld>
            <a:endParaRPr lang="en-US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126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6019937-7FF2-3247-8BAB-4C871D991203}" type="slidenum">
              <a:rPr lang="en-US" sz="1200"/>
              <a:pPr/>
              <a:t>8</a:t>
            </a:fld>
            <a:endParaRPr 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063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E2CEC09-3A78-A842-A5C9-BFB1ECF2C664}" type="slidenum">
              <a:rPr lang="en-US" sz="1200"/>
              <a:pPr/>
              <a:t>9</a:t>
            </a:fld>
            <a:endParaRPr 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442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A261784-913F-2C4C-B7F0-935E35F6ABBF}" type="slidenum">
              <a:rPr lang="en-US" sz="1200"/>
              <a:pPr/>
              <a:t>10</a:t>
            </a:fld>
            <a:endParaRPr 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9549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7B7B885-012D-BC40-8D8E-36B9FC9448AE}" type="slidenum">
              <a:rPr lang="en-US" sz="1200"/>
              <a:pPr/>
              <a:t>11</a:t>
            </a:fld>
            <a:endParaRPr 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699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C61DFFD-66F8-AD45-A42A-8AA36CCE58AA}" type="slidenum">
              <a:rPr lang="en-US" sz="1200"/>
              <a:pPr/>
              <a:t>12</a:t>
            </a:fld>
            <a:endParaRPr lang="en-US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1213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7AF96A9-F4DB-FE46-98AF-B2323F908581}" type="slidenum">
              <a:rPr lang="en-US" sz="1200"/>
              <a:pPr/>
              <a:t>14</a:t>
            </a:fld>
            <a:endParaRPr 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3981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76F69C5-11E1-364E-97C6-8852837A003F}" type="slidenum">
              <a:rPr lang="en-US" sz="1200"/>
              <a:pPr/>
              <a:t>15</a:t>
            </a:fld>
            <a:endParaRPr lang="en-US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923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01509EC-0D2A-9442-924B-F0B760D4E671}" type="slidenum">
              <a:rPr lang="en-US" sz="1200"/>
              <a:pPr/>
              <a:t>16</a:t>
            </a:fld>
            <a:endParaRPr lang="en-US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1314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88105D5-BC65-6A42-BA5F-BDDC54EAD172}" type="slidenum">
              <a:rPr lang="en-US" sz="1200"/>
              <a:pPr/>
              <a:t>17</a:t>
            </a:fld>
            <a:endParaRPr lang="en-US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0573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C270442-7568-B449-A4D9-012212E4AC22}" type="slidenum">
              <a:rPr lang="en-US" sz="1200"/>
              <a:pPr/>
              <a:t>19</a:t>
            </a:fld>
            <a:endParaRPr lang="en-US" sz="12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4871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C7EFB2D-DBBB-7C4C-8C0B-2BB3FF8F1180}" type="slidenum">
              <a:rPr lang="en-US" sz="1200"/>
              <a:pPr/>
              <a:t>20</a:t>
            </a:fld>
            <a:endParaRPr lang="en-US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>
                <a:ea typeface="ＭＳ Ｐゴシック" charset="0"/>
              </a:rPr>
              <a:t>Start here 6/14/10</a:t>
            </a:r>
          </a:p>
        </p:txBody>
      </p:sp>
    </p:spTree>
    <p:extLst>
      <p:ext uri="{BB962C8B-B14F-4D97-AF65-F5344CB8AC3E}">
        <p14:creationId xmlns:p14="http://schemas.microsoft.com/office/powerpoint/2010/main" val="15195958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8949AD9-3B6B-8C4C-876A-EFB48A5D75A4}" type="slidenum">
              <a:rPr lang="en-US" sz="1200"/>
              <a:pPr/>
              <a:t>21</a:t>
            </a:fld>
            <a:endParaRPr 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7743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6D7AE12-1443-944B-A53A-2B35866E36B6}" type="slidenum">
              <a:rPr lang="en-US" sz="1200"/>
              <a:pPr/>
              <a:t>24</a:t>
            </a:fld>
            <a:endParaRPr lang="en-US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1510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5FAAD5C-2057-4640-9124-BA2E9A4125F5}" type="slidenum">
              <a:rPr lang="en-US" sz="1200"/>
              <a:pPr/>
              <a:t>25</a:t>
            </a:fld>
            <a:endParaRPr lang="en-US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7903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728C8B6-630E-DA42-BD64-624F1437103B}" type="slidenum">
              <a:rPr lang="en-US" sz="1200"/>
              <a:pPr/>
              <a:t>26</a:t>
            </a:fld>
            <a:endParaRPr 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8418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88D4B9D-7B2F-3F4E-8EBB-6E5B8020ABC8}" type="slidenum">
              <a:rPr lang="en-US" sz="1200"/>
              <a:pPr/>
              <a:t>27</a:t>
            </a:fld>
            <a:endParaRPr lang="en-US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4828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E941833-F203-334A-8205-4F7E2C66BC17}" type="slidenum">
              <a:rPr lang="en-US" sz="1200"/>
              <a:pPr/>
              <a:t>28</a:t>
            </a:fld>
            <a:endParaRPr 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0685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9252564-F2BB-B740-B753-FC048D2C22B0}" type="slidenum">
              <a:rPr lang="en-US" sz="1200"/>
              <a:pPr/>
              <a:t>33</a:t>
            </a:fld>
            <a:endParaRPr lang="en-US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8146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300FB30-89D1-4D4B-AF04-786996CE5157}" type="slidenum">
              <a:rPr lang="en-US" sz="1200"/>
              <a:pPr/>
              <a:t>35</a:t>
            </a:fld>
            <a:endParaRPr lang="en-US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52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C7EFB2D-DBBB-7C4C-8C0B-2BB3FF8F1180}" type="slidenum">
              <a:rPr lang="en-US" sz="1200"/>
              <a:pPr/>
              <a:t>38</a:t>
            </a:fld>
            <a:endParaRPr lang="en-US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>
                <a:ea typeface="ＭＳ Ｐゴシック" charset="0"/>
              </a:rPr>
              <a:t>Start here 6/14/10</a:t>
            </a:r>
          </a:p>
        </p:txBody>
      </p:sp>
    </p:spTree>
    <p:extLst>
      <p:ext uri="{BB962C8B-B14F-4D97-AF65-F5344CB8AC3E}">
        <p14:creationId xmlns:p14="http://schemas.microsoft.com/office/powerpoint/2010/main" val="33003361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FAE57E0-0B5E-CE4A-A7AF-0698BDEA704F}" type="slidenum">
              <a:rPr lang="en-US" sz="1200"/>
              <a:pPr/>
              <a:t>39</a:t>
            </a:fld>
            <a:endParaRPr 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>
                <a:ea typeface="ＭＳ Ｐゴシック" charset="0"/>
              </a:rPr>
              <a:t>Start here 6/16/10</a:t>
            </a:r>
          </a:p>
        </p:txBody>
      </p:sp>
    </p:spTree>
    <p:extLst>
      <p:ext uri="{BB962C8B-B14F-4D97-AF65-F5344CB8AC3E}">
        <p14:creationId xmlns:p14="http://schemas.microsoft.com/office/powerpoint/2010/main" val="23679870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09C91D7-6C3F-A540-B8E6-3B8E8C790BC2}" type="slidenum">
              <a:rPr lang="en-US" sz="1200"/>
              <a:pPr/>
              <a:t>42</a:t>
            </a:fld>
            <a:endParaRPr lang="en-US" sz="120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5287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7554315-20B7-1742-BB69-F16F8F4B523A}" type="slidenum">
              <a:rPr lang="en-US" sz="1200"/>
              <a:pPr/>
              <a:t>43</a:t>
            </a:fld>
            <a:endParaRPr lang="en-US" sz="12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4777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9FEB01E-ED91-E94F-AF58-788FE3D69DFB}" type="slidenum">
              <a:rPr lang="en-US" sz="1200"/>
              <a:pPr/>
              <a:t>44</a:t>
            </a:fld>
            <a:endParaRPr lang="en-US" sz="120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1065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83ECC12-F9FB-264B-BFED-15812623550F}" type="slidenum">
              <a:rPr lang="en-US" sz="1200"/>
              <a:pPr/>
              <a:t>45</a:t>
            </a:fld>
            <a:endParaRPr lang="en-US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2541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79858D9-2E6E-9E47-B8F1-E165AA6C3E91}" type="slidenum">
              <a:rPr lang="en-US" sz="1200"/>
              <a:pPr/>
              <a:t>46</a:t>
            </a:fld>
            <a:endParaRPr lang="en-US" sz="120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4940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25A2B94-2D93-FB45-BE19-4732F19599D1}" type="slidenum">
              <a:rPr lang="en-US" sz="1200"/>
              <a:pPr/>
              <a:t>47</a:t>
            </a:fld>
            <a:endParaRPr lang="en-US" sz="120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182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8282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81755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2552916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96059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7914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60070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929396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9202523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6642688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7261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28600"/>
            <a:ext cx="22860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28600"/>
            <a:ext cx="67056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02039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8284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466147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63281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80355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77138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588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1594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44658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34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839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788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0918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7798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2644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660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665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28" name="Picture 10" descr="Triangle--Gray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54864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 smtClean="0">
                <a:solidFill>
                  <a:srgbClr val="73738C"/>
                </a:solidFill>
              </a:rPr>
              <a:t>© 2015 Pearson Education, Inc.</a:t>
            </a:r>
            <a:endParaRPr lang="en-US" b="1" dirty="0" smtClean="0">
              <a:solidFill>
                <a:srgbClr val="73738C"/>
              </a:solidFill>
            </a:endParaRPr>
          </a:p>
        </p:txBody>
      </p:sp>
      <p:pic>
        <p:nvPicPr>
          <p:cNvPr id="1030" name="Picture 10" descr="Triangle--Gray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54737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>
            <a:spLocks noChangeArrowheads="1"/>
          </p:cNvSpPr>
          <p:nvPr userDrawn="1"/>
        </p:nvSpPr>
        <p:spPr bwMode="auto">
          <a:xfrm>
            <a:off x="7929563" y="5715000"/>
            <a:ext cx="11080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pPr algn="ctr">
              <a:defRPr/>
            </a:pPr>
            <a:r>
              <a:rPr lang="en-US" altLang="en-US" sz="1400" dirty="0" smtClean="0">
                <a:latin typeface="Times New Roman" pitchFamily="18" charset="0"/>
                <a:cs typeface="+mn-cs"/>
              </a:rPr>
              <a:t>Molecular</a:t>
            </a:r>
          </a:p>
          <a:p>
            <a:pPr algn="ctr">
              <a:defRPr/>
            </a:pPr>
            <a:r>
              <a:rPr lang="en-US" altLang="en-US" sz="1400" dirty="0" smtClean="0">
                <a:latin typeface="Times New Roman" pitchFamily="18" charset="0"/>
                <a:cs typeface="+mn-cs"/>
              </a:rPr>
              <a:t>Geometries</a:t>
            </a:r>
          </a:p>
          <a:p>
            <a:pPr algn="ctr">
              <a:defRPr/>
            </a:pPr>
            <a:r>
              <a:rPr lang="en-US" altLang="en-US" sz="1400" dirty="0" smtClean="0">
                <a:latin typeface="Times New Roman" pitchFamily="18" charset="0"/>
                <a:cs typeface="+mn-cs"/>
              </a:rPr>
              <a:t>and Bonding </a:t>
            </a:r>
            <a:br>
              <a:rPr lang="en-US" altLang="en-US" sz="1400" dirty="0" smtClean="0">
                <a:latin typeface="Times New Roman" pitchFamily="18" charset="0"/>
                <a:cs typeface="+mn-cs"/>
              </a:rPr>
            </a:br>
            <a:r>
              <a:rPr lang="en-US" altLang="en-US" sz="1400" dirty="0" smtClean="0">
                <a:latin typeface="Times New Roman" pitchFamily="18" charset="0"/>
                <a:cs typeface="+mn-cs"/>
              </a:rPr>
              <a:t>Theories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2" name="Text Box 7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 smtClean="0">
                <a:solidFill>
                  <a:srgbClr val="73738C"/>
                </a:solidFill>
              </a:rPr>
              <a:t>© 2015 Pearson Education</a:t>
            </a:r>
            <a:endParaRPr lang="en-US" b="1" dirty="0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le 1"/>
          <p:cNvSpPr>
            <a:spLocks/>
          </p:cNvSpPr>
          <p:nvPr/>
        </p:nvSpPr>
        <p:spPr bwMode="auto">
          <a:xfrm>
            <a:off x="4495800" y="1676400"/>
            <a:ext cx="45720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3400" b="1" dirty="0">
                <a:solidFill>
                  <a:schemeClr val="tx2"/>
                </a:solidFill>
                <a:cs typeface="Arial" charset="0"/>
              </a:rPr>
              <a:t>Chapter 9</a:t>
            </a:r>
            <a:br>
              <a:rPr lang="en-US" sz="3400" b="1" dirty="0">
                <a:solidFill>
                  <a:schemeClr val="tx2"/>
                </a:solidFill>
                <a:cs typeface="Arial" charset="0"/>
              </a:rPr>
            </a:br>
            <a:r>
              <a:rPr lang="en-US" sz="3400" b="1" dirty="0">
                <a:solidFill>
                  <a:schemeClr val="tx2"/>
                </a:solidFill>
                <a:cs typeface="Arial" charset="0"/>
              </a:rPr>
              <a:t/>
            </a:r>
            <a:br>
              <a:rPr lang="en-US" sz="3400" b="1" dirty="0">
                <a:solidFill>
                  <a:schemeClr val="tx2"/>
                </a:solidFill>
                <a:cs typeface="Arial" charset="0"/>
              </a:rPr>
            </a:br>
            <a:r>
              <a:rPr lang="en-US" sz="3400" b="1" dirty="0">
                <a:solidFill>
                  <a:schemeClr val="tx2"/>
                </a:solidFill>
                <a:cs typeface="Arial" charset="0"/>
              </a:rPr>
              <a:t> Molecular </a:t>
            </a:r>
            <a:r>
              <a:rPr lang="en-US" sz="3400" b="1" dirty="0" smtClean="0">
                <a:solidFill>
                  <a:schemeClr val="tx2"/>
                </a:solidFill>
                <a:cs typeface="Arial" charset="0"/>
              </a:rPr>
              <a:t>Geometry</a:t>
            </a:r>
            <a:r>
              <a:rPr lang="en-US" sz="3400" b="1" dirty="0">
                <a:solidFill>
                  <a:schemeClr val="tx2"/>
                </a:solidFill>
                <a:cs typeface="Arial" charset="0"/>
              </a:rPr>
              <a:t/>
            </a:r>
            <a:br>
              <a:rPr lang="en-US" sz="3400" b="1" dirty="0">
                <a:solidFill>
                  <a:schemeClr val="tx2"/>
                </a:solidFill>
                <a:cs typeface="Arial" charset="0"/>
              </a:rPr>
            </a:br>
            <a:r>
              <a:rPr lang="en-US" sz="3400" b="1" dirty="0">
                <a:solidFill>
                  <a:schemeClr val="tx2"/>
                </a:solidFill>
                <a:cs typeface="Arial" charset="0"/>
              </a:rPr>
              <a:t>and Bonding Theories</a:t>
            </a:r>
          </a:p>
        </p:txBody>
      </p:sp>
      <p:sp>
        <p:nvSpPr>
          <p:cNvPr id="4098" name="Subtitle 2"/>
          <p:cNvSpPr>
            <a:spLocks/>
          </p:cNvSpPr>
          <p:nvPr/>
        </p:nvSpPr>
        <p:spPr bwMode="auto">
          <a:xfrm>
            <a:off x="4495800" y="5791200"/>
            <a:ext cx="4572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James F. Kirby</a:t>
            </a: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Quinnipiac University</a:t>
            </a: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Hamden, CT</a:t>
            </a:r>
          </a:p>
        </p:txBody>
      </p:sp>
      <p:pic>
        <p:nvPicPr>
          <p:cNvPr id="4099" name="Picture 1" descr="BROW0417_13_eca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28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495800" y="700088"/>
            <a:ext cx="464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0000"/>
                </a:solidFill>
                <a:cs typeface="Arial" charset="0"/>
              </a:rPr>
              <a:t>Lecture Presentation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Molecular Shapes</a:t>
            </a:r>
          </a:p>
        </p:txBody>
      </p:sp>
      <p:sp>
        <p:nvSpPr>
          <p:cNvPr id="6146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914400"/>
            <a:ext cx="8839200" cy="2819400"/>
          </a:xfrm>
        </p:spPr>
        <p:txBody>
          <a:bodyPr/>
          <a:lstStyle/>
          <a:p>
            <a:pPr eaLnBrk="1" hangingPunct="1"/>
            <a:r>
              <a:rPr lang="en-US" sz="2800">
                <a:latin typeface="Arial" charset="0"/>
                <a:ea typeface="ＭＳ Ｐゴシック" charset="0"/>
              </a:rPr>
              <a:t>Lewis Structures show bonding and lone pairs, but do </a:t>
            </a:r>
            <a:r>
              <a:rPr lang="en-US" sz="2800" i="1">
                <a:latin typeface="Arial" charset="0"/>
                <a:ea typeface="ＭＳ Ｐゴシック" charset="0"/>
              </a:rPr>
              <a:t>not </a:t>
            </a:r>
            <a:r>
              <a:rPr lang="en-US" sz="2800">
                <a:latin typeface="Arial" charset="0"/>
                <a:ea typeface="ＭＳ Ｐゴシック" charset="0"/>
              </a:rPr>
              <a:t>denote shape.</a:t>
            </a:r>
          </a:p>
          <a:p>
            <a:pPr eaLnBrk="1" hangingPunct="1"/>
            <a:r>
              <a:rPr lang="en-US" sz="2800">
                <a:latin typeface="Arial" charset="0"/>
                <a:ea typeface="ＭＳ Ｐゴシック" charset="0"/>
              </a:rPr>
              <a:t>However, we </a:t>
            </a:r>
            <a:r>
              <a:rPr lang="en-US" sz="2800" i="1">
                <a:latin typeface="Arial" charset="0"/>
                <a:ea typeface="ＭＳ Ｐゴシック" charset="0"/>
              </a:rPr>
              <a:t>use </a:t>
            </a:r>
            <a:r>
              <a:rPr lang="en-US" sz="2800">
                <a:latin typeface="Arial" charset="0"/>
                <a:ea typeface="ＭＳ Ｐゴシック" charset="0"/>
              </a:rPr>
              <a:t>Lewis Structures to help us determine shapes.</a:t>
            </a:r>
          </a:p>
          <a:p>
            <a:pPr eaLnBrk="1" hangingPunct="1"/>
            <a:r>
              <a:rPr lang="en-US" sz="2800">
                <a:latin typeface="Arial" charset="0"/>
                <a:ea typeface="ＭＳ Ｐゴシック" charset="0"/>
              </a:rPr>
              <a:t>Here we see some common shapes for molecules with two or three atoms connected to a central atom.</a:t>
            </a:r>
          </a:p>
        </p:txBody>
      </p:sp>
      <p:pic>
        <p:nvPicPr>
          <p:cNvPr id="6147" name="Picture 4" descr="09_02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49"/>
          <a:stretch>
            <a:fillRect/>
          </a:stretch>
        </p:blipFill>
        <p:spPr bwMode="auto">
          <a:xfrm>
            <a:off x="593725" y="3810000"/>
            <a:ext cx="816927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What Determines the </a:t>
            </a:r>
            <a:br>
              <a:rPr lang="en-US">
                <a:latin typeface="Arial" charset="0"/>
                <a:ea typeface="ＭＳ Ｐゴシック" charset="0"/>
              </a:rPr>
            </a:br>
            <a:r>
              <a:rPr lang="en-US">
                <a:latin typeface="Arial" charset="0"/>
                <a:ea typeface="ＭＳ Ｐゴシック" charset="0"/>
              </a:rPr>
              <a:t>Shape of a Molecule?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371600"/>
            <a:ext cx="43434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>
                <a:latin typeface="Arial" charset="0"/>
                <a:ea typeface="ＭＳ Ｐゴシック" charset="0"/>
              </a:rPr>
              <a:t>Simply put, electron pairs, whether they be bonding or nonbonding, repel each other.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latin typeface="Arial" charset="0"/>
                <a:ea typeface="ＭＳ Ｐゴシック" charset="0"/>
              </a:rPr>
              <a:t>By assuming the electron pairs are placed as far as possible from each other, we can predict the shape of the molecule.</a:t>
            </a:r>
          </a:p>
        </p:txBody>
      </p:sp>
      <p:sp>
        <p:nvSpPr>
          <p:cNvPr id="8195" name="TextBox 1"/>
          <p:cNvSpPr txBox="1">
            <a:spLocks noChangeArrowheads="1"/>
          </p:cNvSpPr>
          <p:nvPr/>
        </p:nvSpPr>
        <p:spPr bwMode="auto">
          <a:xfrm>
            <a:off x="152400" y="5715000"/>
            <a:ext cx="79248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buFontTx/>
              <a:buChar char="•"/>
            </a:pPr>
            <a:r>
              <a:rPr lang="en-US" sz="2800"/>
              <a:t>This is the Valence-Shell Electron-Pair Repulsion (VSEPR) model.</a:t>
            </a:r>
          </a:p>
        </p:txBody>
      </p:sp>
      <p:pic>
        <p:nvPicPr>
          <p:cNvPr id="8196" name="Picture 5" descr="09_03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8"/>
          <a:stretch>
            <a:fillRect/>
          </a:stretch>
        </p:blipFill>
        <p:spPr bwMode="auto">
          <a:xfrm>
            <a:off x="4343400" y="1924050"/>
            <a:ext cx="4633913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</a:rPr>
              <a:t>Electron Domains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343400" y="1447800"/>
            <a:ext cx="45720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Arial" charset="0"/>
                <a:ea typeface="ＭＳ Ｐゴシック" charset="0"/>
              </a:rPr>
              <a:t>We can refer to the directions to which electrons point as </a:t>
            </a:r>
            <a:r>
              <a:rPr lang="en-US" sz="2800" b="1" dirty="0">
                <a:latin typeface="Arial" charset="0"/>
                <a:ea typeface="ＭＳ Ｐゴシック" charset="0"/>
              </a:rPr>
              <a:t>electron </a:t>
            </a:r>
            <a:r>
              <a:rPr lang="en-US" sz="2800" b="1" dirty="0" smtClean="0">
                <a:latin typeface="Arial" charset="0"/>
                <a:ea typeface="ＭＳ Ｐゴシック" charset="0"/>
              </a:rPr>
              <a:t>domains (regions)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. This </a:t>
            </a:r>
            <a:r>
              <a:rPr lang="en-US" sz="2800" dirty="0">
                <a:latin typeface="Arial" charset="0"/>
                <a:ea typeface="ＭＳ Ｐゴシック" charset="0"/>
              </a:rPr>
              <a:t>is true whether there is one or more electron pairs pointing in that direction.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Arial" charset="0"/>
                <a:ea typeface="ＭＳ Ｐゴシック" charset="0"/>
              </a:rPr>
              <a:t>The central atom in this molecule, A, has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four</a:t>
            </a:r>
            <a:r>
              <a:rPr lang="en-US" sz="2800" dirty="0">
                <a:latin typeface="Arial" charset="0"/>
                <a:ea typeface="ＭＳ Ｐゴシック" charset="0"/>
              </a:rPr>
              <a:t> electron domains.</a:t>
            </a:r>
          </a:p>
        </p:txBody>
      </p:sp>
      <p:pic>
        <p:nvPicPr>
          <p:cNvPr id="10243" name="Picture 1" descr="09_Pg347_UnFigure_3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63"/>
          <a:stretch/>
        </p:blipFill>
        <p:spPr bwMode="auto">
          <a:xfrm>
            <a:off x="381000" y="2209800"/>
            <a:ext cx="3784600" cy="2277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Valence-Shell Electron-Pair Repulsion (VSEPR) Model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343400" y="1524000"/>
            <a:ext cx="4648200" cy="4876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 i="1" dirty="0">
                <a:latin typeface="Arial" charset="0"/>
                <a:ea typeface="ＭＳ Ｐゴシック" charset="0"/>
              </a:rPr>
              <a:t>	“The best arrangement of a given number of electron domains is the one that </a:t>
            </a:r>
            <a:r>
              <a:rPr lang="en-US" sz="2800" i="1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minimizes</a:t>
            </a:r>
            <a:r>
              <a:rPr lang="en-US" sz="2800" i="1" dirty="0">
                <a:latin typeface="Arial" charset="0"/>
                <a:ea typeface="ＭＳ Ｐゴシック" charset="0"/>
              </a:rPr>
              <a:t> the </a:t>
            </a:r>
            <a:r>
              <a:rPr lang="en-US" sz="2800" i="1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repulsions</a:t>
            </a:r>
            <a:r>
              <a:rPr lang="en-US" sz="2800" i="1" dirty="0">
                <a:latin typeface="Arial" charset="0"/>
                <a:ea typeface="ＭＳ Ｐゴシック" charset="0"/>
              </a:rPr>
              <a:t> among them.”</a:t>
            </a:r>
          </a:p>
          <a:p>
            <a:pPr eaLnBrk="1" hangingPunct="1">
              <a:buFontTx/>
              <a:buNone/>
            </a:pPr>
            <a:r>
              <a:rPr lang="en-US" sz="2800" dirty="0">
                <a:latin typeface="Arial" charset="0"/>
                <a:ea typeface="ＭＳ Ｐゴシック" charset="0"/>
              </a:rPr>
              <a:t>	(The balloon analogy in the figure to the left demonstrates the maximum distances, which minimize repulsions.)</a:t>
            </a:r>
          </a:p>
        </p:txBody>
      </p:sp>
      <p:pic>
        <p:nvPicPr>
          <p:cNvPr id="12291" name="Picture 4" descr="09_05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08"/>
          <a:stretch>
            <a:fillRect/>
          </a:stretch>
        </p:blipFill>
        <p:spPr bwMode="auto">
          <a:xfrm>
            <a:off x="1752600" y="1511300"/>
            <a:ext cx="1601788" cy="496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3338"/>
            <a:ext cx="9144000" cy="804862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Electron-Domain Geometries</a:t>
            </a:r>
          </a:p>
        </p:txBody>
      </p:sp>
      <p:sp>
        <p:nvSpPr>
          <p:cNvPr id="1433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685800"/>
            <a:ext cx="4191000" cy="5791200"/>
          </a:xfrm>
        </p:spPr>
        <p:txBody>
          <a:bodyPr/>
          <a:lstStyle/>
          <a:p>
            <a:pPr eaLnBrk="1" hangingPunct="1"/>
            <a:r>
              <a:rPr lang="en-US" sz="2800">
                <a:latin typeface="Arial" charset="0"/>
                <a:ea typeface="ＭＳ Ｐゴシック" charset="0"/>
              </a:rPr>
              <a:t>The Table shows the electron-domain geometries for two through six electron domains around a central atom.</a:t>
            </a:r>
          </a:p>
          <a:p>
            <a:pPr eaLnBrk="1" hangingPunct="1"/>
            <a:r>
              <a:rPr lang="en-US" sz="2800">
                <a:latin typeface="Arial" charset="0"/>
                <a:ea typeface="ＭＳ Ｐゴシック" charset="0"/>
              </a:rPr>
              <a:t>To determine the electron-domain geometry, count the total number of lone pairs, single, double, and triple bonds on </a:t>
            </a:r>
            <a:br>
              <a:rPr lang="en-US" sz="2800">
                <a:latin typeface="Arial" charset="0"/>
                <a:ea typeface="ＭＳ Ｐゴシック" charset="0"/>
              </a:rPr>
            </a:br>
            <a:r>
              <a:rPr lang="en-US" sz="2800">
                <a:latin typeface="Arial" charset="0"/>
                <a:ea typeface="ＭＳ Ｐゴシック" charset="0"/>
              </a:rPr>
              <a:t>the central atom.</a:t>
            </a:r>
          </a:p>
        </p:txBody>
      </p:sp>
      <p:pic>
        <p:nvPicPr>
          <p:cNvPr id="14339" name="Picture 4" descr="09_01_Tabl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2"/>
          <a:stretch>
            <a:fillRect/>
          </a:stretch>
        </p:blipFill>
        <p:spPr bwMode="auto">
          <a:xfrm>
            <a:off x="533400" y="762000"/>
            <a:ext cx="3886200" cy="572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-19050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</a:rPr>
              <a:t>Molecular Geometries</a:t>
            </a:r>
          </a:p>
        </p:txBody>
      </p:sp>
      <p:sp>
        <p:nvSpPr>
          <p:cNvPr id="1638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4114800"/>
            <a:ext cx="8229600" cy="2286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Arial" charset="0"/>
                <a:ea typeface="ＭＳ Ｐゴシック" charset="0"/>
              </a:rPr>
              <a:t>Once you have determined the </a:t>
            </a:r>
            <a:r>
              <a:rPr lang="en-US" sz="2400" b="1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electron-domain geometry</a:t>
            </a:r>
            <a:r>
              <a:rPr lang="en-US" sz="2400" dirty="0">
                <a:latin typeface="Arial" charset="0"/>
                <a:ea typeface="ＭＳ Ｐゴシック" charset="0"/>
              </a:rPr>
              <a:t>, use the arrangement of the bonded atoms </a:t>
            </a:r>
            <a:br>
              <a:rPr lang="en-US" sz="2400" dirty="0">
                <a:latin typeface="Arial" charset="0"/>
                <a:ea typeface="ＭＳ Ｐゴシック" charset="0"/>
              </a:rPr>
            </a:br>
            <a:r>
              <a:rPr lang="en-US" sz="2400" dirty="0">
                <a:latin typeface="Arial" charset="0"/>
                <a:ea typeface="ＭＳ Ｐゴシック" charset="0"/>
              </a:rPr>
              <a:t>to determine the </a:t>
            </a:r>
            <a:r>
              <a:rPr lang="en-US" sz="2400" b="1" u="sng" dirty="0">
                <a:solidFill>
                  <a:srgbClr val="7030A0"/>
                </a:solidFill>
                <a:latin typeface="Arial" charset="0"/>
                <a:ea typeface="ＭＳ Ｐゴシック" charset="0"/>
              </a:rPr>
              <a:t>molecular geometry</a:t>
            </a:r>
            <a:r>
              <a:rPr lang="en-US" sz="2400" dirty="0">
                <a:latin typeface="Arial" charset="0"/>
                <a:ea typeface="ＭＳ Ｐゴシック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Arial" charset="0"/>
                <a:ea typeface="ＭＳ Ｐゴシック" charset="0"/>
              </a:rPr>
              <a:t>Tables 9.2 and 9.3 show the potential molecular geometries. We will look at each electron domain </a:t>
            </a:r>
            <a:br>
              <a:rPr lang="en-US" sz="2400" dirty="0">
                <a:latin typeface="Arial" charset="0"/>
                <a:ea typeface="ＭＳ Ｐゴシック" charset="0"/>
              </a:rPr>
            </a:br>
            <a:r>
              <a:rPr lang="en-US" sz="2400" dirty="0">
                <a:latin typeface="Arial" charset="0"/>
                <a:ea typeface="ＭＳ Ｐゴシック" charset="0"/>
              </a:rPr>
              <a:t>to see what molecular geometries are possible.</a:t>
            </a:r>
          </a:p>
        </p:txBody>
      </p:sp>
      <p:pic>
        <p:nvPicPr>
          <p:cNvPr id="16387" name="Picture 4" descr="09_06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91"/>
          <a:stretch>
            <a:fillRect/>
          </a:stretch>
        </p:blipFill>
        <p:spPr bwMode="auto">
          <a:xfrm>
            <a:off x="503238" y="1066800"/>
            <a:ext cx="778827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Linear Electron Domain</a:t>
            </a:r>
          </a:p>
        </p:txBody>
      </p:sp>
      <p:sp>
        <p:nvSpPr>
          <p:cNvPr id="1843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3733800"/>
            <a:ext cx="7772400" cy="2438400"/>
          </a:xfrm>
        </p:spPr>
        <p:txBody>
          <a:bodyPr/>
          <a:lstStyle/>
          <a:p>
            <a:pPr eaLnBrk="1" hangingPunct="1"/>
            <a:r>
              <a:rPr lang="en-US" sz="2800">
                <a:latin typeface="Arial" charset="0"/>
                <a:ea typeface="ＭＳ Ｐゴシック" charset="0"/>
              </a:rPr>
              <a:t>In the linear domain, there is only one molecular geometry: linear.</a:t>
            </a:r>
          </a:p>
          <a:p>
            <a:pPr eaLnBrk="1" hangingPunct="1"/>
            <a:r>
              <a:rPr lang="en-US" sz="2800">
                <a:latin typeface="Arial" charset="0"/>
                <a:ea typeface="ＭＳ Ｐゴシック" charset="0"/>
              </a:rPr>
              <a:t>NOTE: If there are only two atoms in the molecule, the molecule will be linear no matter what the electron domain is.</a:t>
            </a:r>
          </a:p>
        </p:txBody>
      </p:sp>
      <p:pic>
        <p:nvPicPr>
          <p:cNvPr id="4" name="Picture 3" descr="Table 9.2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481"/>
          <a:stretch/>
        </p:blipFill>
        <p:spPr>
          <a:xfrm>
            <a:off x="1463593" y="1676400"/>
            <a:ext cx="6156407" cy="16129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Arial" charset="0"/>
                <a:ea typeface="ＭＳ Ｐゴシック" charset="0"/>
              </a:rPr>
              <a:t>Trigonal</a:t>
            </a:r>
            <a:r>
              <a:rPr lang="en-US" dirty="0">
                <a:latin typeface="Arial" charset="0"/>
                <a:ea typeface="ＭＳ Ｐゴシック" charset="0"/>
              </a:rPr>
              <a:t> Planar Electron Domain</a:t>
            </a:r>
          </a:p>
        </p:txBody>
      </p:sp>
      <p:sp>
        <p:nvSpPr>
          <p:cNvPr id="1126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0" y="4191000"/>
            <a:ext cx="9144000" cy="18288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latin typeface="Arial" charset="0"/>
                <a:ea typeface="ＭＳ Ｐゴシック" charset="0"/>
              </a:rPr>
              <a:t>There are two molecular geometries:</a:t>
            </a:r>
          </a:p>
          <a:p>
            <a:pPr marL="740664" indent="-283464" eaLnBrk="1" hangingPunct="1">
              <a:buFont typeface="Lucida Grande"/>
              <a:buChar char="–"/>
              <a:defRPr/>
            </a:pPr>
            <a:r>
              <a:rPr lang="en-US" sz="2800" dirty="0" err="1">
                <a:latin typeface="Arial" charset="0"/>
                <a:ea typeface="ＭＳ Ｐゴシック" charset="0"/>
              </a:rPr>
              <a:t>trigonal</a:t>
            </a:r>
            <a:r>
              <a:rPr lang="en-US" sz="2800" dirty="0">
                <a:latin typeface="Arial" charset="0"/>
                <a:ea typeface="ＭＳ Ｐゴシック" charset="0"/>
              </a:rPr>
              <a:t> planar, if all electron domains are </a:t>
            </a:r>
            <a:r>
              <a:rPr lang="en-US" sz="2800" dirty="0" smtClean="0">
                <a:latin typeface="Arial" charset="0"/>
                <a:ea typeface="ＭＳ Ｐゴシック" charset="0"/>
              </a:rPr>
              <a:t/>
            </a:r>
            <a:br>
              <a:rPr lang="en-US" sz="2800" dirty="0" smtClean="0">
                <a:latin typeface="Arial" charset="0"/>
                <a:ea typeface="ＭＳ Ｐゴシック" charset="0"/>
              </a:rPr>
            </a:br>
            <a:r>
              <a:rPr lang="en-US" sz="2800" dirty="0" smtClean="0">
                <a:latin typeface="Arial" charset="0"/>
                <a:ea typeface="ＭＳ Ｐゴシック" charset="0"/>
              </a:rPr>
              <a:t>bonding</a:t>
            </a:r>
            <a:r>
              <a:rPr lang="en-US" sz="2800" dirty="0">
                <a:latin typeface="Arial" charset="0"/>
                <a:ea typeface="ＭＳ Ｐゴシック" charset="0"/>
              </a:rPr>
              <a:t>, and</a:t>
            </a:r>
          </a:p>
          <a:p>
            <a:pPr marL="740664" indent="-283464" eaLnBrk="1" hangingPunct="1">
              <a:buFont typeface="Lucida Grande"/>
              <a:buChar char="–"/>
              <a:defRPr/>
            </a:pPr>
            <a:r>
              <a:rPr lang="en-US" sz="2800" dirty="0">
                <a:latin typeface="Arial" charset="0"/>
                <a:ea typeface="ＭＳ Ｐゴシック" charset="0"/>
              </a:rPr>
              <a:t>bent, if one of the domains is a </a:t>
            </a:r>
            <a:r>
              <a:rPr lang="en-US" sz="2800" dirty="0" smtClean="0">
                <a:latin typeface="Arial" charset="0"/>
                <a:ea typeface="ＭＳ Ｐゴシック" charset="0"/>
              </a:rPr>
              <a:t/>
            </a:r>
            <a:br>
              <a:rPr lang="en-US" sz="2800" dirty="0" smtClean="0">
                <a:latin typeface="Arial" charset="0"/>
                <a:ea typeface="ＭＳ Ｐゴシック" charset="0"/>
              </a:rPr>
            </a:br>
            <a:r>
              <a:rPr lang="en-US" sz="2800" dirty="0" smtClean="0">
                <a:latin typeface="Arial" charset="0"/>
                <a:ea typeface="ＭＳ Ｐゴシック" charset="0"/>
              </a:rPr>
              <a:t>nonbonding </a:t>
            </a:r>
            <a:r>
              <a:rPr lang="en-US" sz="2800" dirty="0">
                <a:latin typeface="Arial" charset="0"/>
                <a:ea typeface="ＭＳ Ｐゴシック" charset="0"/>
              </a:rPr>
              <a:t>pair.</a:t>
            </a:r>
          </a:p>
        </p:txBody>
      </p:sp>
      <p:pic>
        <p:nvPicPr>
          <p:cNvPr id="2" name="Picture 1" descr="Table 9.2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556"/>
          <a:stretch/>
        </p:blipFill>
        <p:spPr>
          <a:xfrm>
            <a:off x="1485900" y="1066800"/>
            <a:ext cx="6156407" cy="990600"/>
          </a:xfrm>
          <a:prstGeom prst="rect">
            <a:avLst/>
          </a:prstGeom>
        </p:spPr>
      </p:pic>
      <p:pic>
        <p:nvPicPr>
          <p:cNvPr id="3" name="Picture 2" descr="Table 9.2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89" b="45926"/>
          <a:stretch/>
        </p:blipFill>
        <p:spPr>
          <a:xfrm>
            <a:off x="1485900" y="2082800"/>
            <a:ext cx="6156407" cy="20701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7620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</a:rPr>
              <a:t>Tetrahedral Electron Domain</a:t>
            </a:r>
          </a:p>
        </p:txBody>
      </p:sp>
      <p:sp>
        <p:nvSpPr>
          <p:cNvPr id="1229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0" y="4114800"/>
            <a:ext cx="7772400" cy="19812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latin typeface="Arial" charset="0"/>
                <a:ea typeface="ＭＳ Ｐゴシック" charset="0"/>
              </a:rPr>
              <a:t>There are three molecular geometries:</a:t>
            </a:r>
          </a:p>
          <a:p>
            <a:pPr marL="740664" indent="-283464" eaLnBrk="1" hangingPunct="1">
              <a:buFont typeface="Lucida Grande"/>
              <a:buChar char="–"/>
              <a:defRPr/>
            </a:pPr>
            <a:r>
              <a:rPr lang="en-US" sz="2800" dirty="0">
                <a:latin typeface="Arial" charset="0"/>
                <a:ea typeface="ＭＳ Ｐゴシック" charset="0"/>
              </a:rPr>
              <a:t>tetrahedral, if all are bonding pairs,</a:t>
            </a:r>
          </a:p>
          <a:p>
            <a:pPr marL="740664" indent="-283464" eaLnBrk="1" hangingPunct="1">
              <a:buFont typeface="Lucida Grande"/>
              <a:buChar char="–"/>
              <a:defRPr/>
            </a:pPr>
            <a:r>
              <a:rPr lang="en-US" sz="2800" dirty="0" err="1">
                <a:latin typeface="Arial" charset="0"/>
                <a:ea typeface="ＭＳ Ｐゴシック" charset="0"/>
              </a:rPr>
              <a:t>trigonal</a:t>
            </a:r>
            <a:r>
              <a:rPr lang="en-US" sz="2800" dirty="0">
                <a:latin typeface="Arial" charset="0"/>
                <a:ea typeface="ＭＳ Ｐゴシック" charset="0"/>
              </a:rPr>
              <a:t> pyramidal, if one is a nonbonding pair, and</a:t>
            </a:r>
          </a:p>
          <a:p>
            <a:pPr marL="740664" indent="-283464" eaLnBrk="1" hangingPunct="1">
              <a:buFont typeface="Lucida Grande"/>
              <a:buChar char="–"/>
              <a:defRPr/>
            </a:pPr>
            <a:r>
              <a:rPr lang="en-US" sz="2800" dirty="0">
                <a:latin typeface="Arial" charset="0"/>
                <a:ea typeface="ＭＳ Ｐゴシック" charset="0"/>
              </a:rPr>
              <a:t>bent, if there are two nonbonding pairs.</a:t>
            </a:r>
          </a:p>
        </p:txBody>
      </p:sp>
      <p:pic>
        <p:nvPicPr>
          <p:cNvPr id="2" name="Picture 1" descr="Table 9.2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185"/>
          <a:stretch/>
        </p:blipFill>
        <p:spPr>
          <a:xfrm>
            <a:off x="2057400" y="914400"/>
            <a:ext cx="4838700" cy="798537"/>
          </a:xfrm>
          <a:prstGeom prst="rect">
            <a:avLst/>
          </a:prstGeom>
        </p:spPr>
      </p:pic>
      <p:pic>
        <p:nvPicPr>
          <p:cNvPr id="3" name="Picture 2" descr="Table 9.2.jpg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59"/>
          <a:stretch/>
        </p:blipFill>
        <p:spPr>
          <a:xfrm>
            <a:off x="2057400" y="1725517"/>
            <a:ext cx="4838700" cy="246548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Nonbonding Pairs and Bond Angle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219200"/>
            <a:ext cx="5715000" cy="25908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Nonbonding pairs are physically larger than bonding pairs.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Therefore, their repulsions are greater; this tends to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compress</a:t>
            </a:r>
            <a:r>
              <a:rPr lang="en-US" sz="2800" dirty="0">
                <a:latin typeface="Arial" charset="0"/>
                <a:ea typeface="ＭＳ Ｐゴシック" charset="0"/>
              </a:rPr>
              <a:t> bond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angles</a:t>
            </a:r>
            <a:r>
              <a:rPr lang="en-US" sz="2800" dirty="0">
                <a:latin typeface="Arial" charset="0"/>
                <a:ea typeface="ＭＳ Ｐゴシック" charset="0"/>
              </a:rPr>
              <a:t>.</a:t>
            </a:r>
          </a:p>
        </p:txBody>
      </p:sp>
      <p:pic>
        <p:nvPicPr>
          <p:cNvPr id="24579" name="Picture 5" descr="09_07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7"/>
          <a:stretch>
            <a:fillRect/>
          </a:stretch>
        </p:blipFill>
        <p:spPr bwMode="auto">
          <a:xfrm>
            <a:off x="6705600" y="1295400"/>
            <a:ext cx="18288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6" descr="09_Pg351_UnFigure_5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23"/>
          <a:stretch>
            <a:fillRect/>
          </a:stretch>
        </p:blipFill>
        <p:spPr bwMode="auto">
          <a:xfrm>
            <a:off x="457200" y="4038600"/>
            <a:ext cx="5943600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Multiple Bonds and Bond Angles</a:t>
            </a:r>
          </a:p>
        </p:txBody>
      </p:sp>
      <p:sp>
        <p:nvSpPr>
          <p:cNvPr id="2662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981200"/>
            <a:ext cx="3962400" cy="41148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Double and triple bonds have larger electron domains than single bonds.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They exert a greater repulsive force than single bonds, making their bond angles greater.</a:t>
            </a:r>
          </a:p>
        </p:txBody>
      </p:sp>
      <p:pic>
        <p:nvPicPr>
          <p:cNvPr id="2" name="Picture 1" descr="09_Pg352_UnFigure_1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59"/>
          <a:stretch/>
        </p:blipFill>
        <p:spPr>
          <a:xfrm>
            <a:off x="609600" y="2286000"/>
            <a:ext cx="3429000" cy="315383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</a:rPr>
              <a:t>Expanding beyond the Octet Rule</a:t>
            </a:r>
          </a:p>
        </p:txBody>
      </p:sp>
      <p:sp>
        <p:nvSpPr>
          <p:cNvPr id="28674" name="Content Placeholder 5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5720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</a:rPr>
              <a:t>Remember that some elements can break the octet rule and make </a:t>
            </a:r>
            <a:r>
              <a:rPr lang="en-US" i="1" dirty="0">
                <a:latin typeface="Arial" charset="0"/>
                <a:ea typeface="ＭＳ Ｐゴシック" charset="0"/>
              </a:rPr>
              <a:t>more</a:t>
            </a:r>
            <a:r>
              <a:rPr lang="en-US" dirty="0">
                <a:latin typeface="Arial" charset="0"/>
                <a:ea typeface="ＭＳ Ｐゴシック" charset="0"/>
              </a:rPr>
              <a:t> than four bonds (or have </a:t>
            </a:r>
            <a:r>
              <a:rPr lang="en-US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more than four electron domains</a:t>
            </a:r>
            <a:r>
              <a:rPr lang="en-US" dirty="0">
                <a:latin typeface="Arial" charset="0"/>
                <a:ea typeface="ＭＳ Ｐゴシック" charset="0"/>
              </a:rPr>
              <a:t>).</a:t>
            </a:r>
          </a:p>
          <a:p>
            <a:r>
              <a:rPr lang="en-US" dirty="0">
                <a:latin typeface="Arial" charset="0"/>
                <a:ea typeface="ＭＳ Ｐゴシック" charset="0"/>
              </a:rPr>
              <a:t>The result is two more possible electron domains: five = </a:t>
            </a:r>
            <a:r>
              <a:rPr lang="en-US" dirty="0" err="1">
                <a:latin typeface="Arial" charset="0"/>
                <a:ea typeface="ＭＳ Ｐゴシック" charset="0"/>
              </a:rPr>
              <a:t>trigonal</a:t>
            </a:r>
            <a:r>
              <a:rPr lang="en-US" dirty="0">
                <a:latin typeface="Arial" charset="0"/>
                <a:ea typeface="ＭＳ Ｐゴシック" charset="0"/>
              </a:rPr>
              <a:t> </a:t>
            </a:r>
            <a:r>
              <a:rPr lang="en-US" dirty="0" err="1">
                <a:latin typeface="Arial" charset="0"/>
                <a:ea typeface="ＭＳ Ｐゴシック" charset="0"/>
              </a:rPr>
              <a:t>bipyramidal</a:t>
            </a:r>
            <a:r>
              <a:rPr lang="en-US" dirty="0">
                <a:latin typeface="Arial" charset="0"/>
                <a:ea typeface="ＭＳ Ｐゴシック" charset="0"/>
              </a:rPr>
              <a:t>; </a:t>
            </a:r>
            <a:r>
              <a:rPr lang="en-US" dirty="0" smtClean="0">
                <a:latin typeface="Arial" charset="0"/>
                <a:ea typeface="ＭＳ Ｐゴシック" charset="0"/>
              </a:rPr>
              <a:t/>
            </a:r>
            <a:br>
              <a:rPr lang="en-US" dirty="0" smtClean="0">
                <a:latin typeface="Arial" charset="0"/>
                <a:ea typeface="ＭＳ Ｐゴシック" charset="0"/>
              </a:rPr>
            </a:br>
            <a:r>
              <a:rPr lang="en-US" dirty="0" smtClean="0">
                <a:latin typeface="Arial" charset="0"/>
                <a:ea typeface="ＭＳ Ｐゴシック" charset="0"/>
              </a:rPr>
              <a:t>six </a:t>
            </a:r>
            <a:r>
              <a:rPr lang="en-US" dirty="0">
                <a:latin typeface="Arial" charset="0"/>
                <a:ea typeface="ＭＳ Ｐゴシック" charset="0"/>
              </a:rPr>
              <a:t>= octahedral (as was seen in the slide on electron-domain geometries).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Trigonal Bipyramidal Electron Domain</a:t>
            </a:r>
          </a:p>
        </p:txBody>
      </p:sp>
      <p:sp>
        <p:nvSpPr>
          <p:cNvPr id="29698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981200"/>
            <a:ext cx="4343400" cy="41148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There are two distinct positions in this geometry:</a:t>
            </a:r>
          </a:p>
          <a:p>
            <a:pPr marL="914400" indent="-457200" eaLnBrk="1" hangingPunct="1">
              <a:buFont typeface="Lucida Grande"/>
              <a:buChar char="–"/>
            </a:pPr>
            <a:r>
              <a:rPr lang="en-US" sz="2800" dirty="0">
                <a:latin typeface="Arial" charset="0"/>
                <a:ea typeface="ＭＳ Ｐゴシック" charset="0"/>
              </a:rPr>
              <a:t>Axial</a:t>
            </a:r>
          </a:p>
          <a:p>
            <a:pPr marL="914400" indent="-457200" eaLnBrk="1" hangingPunct="1">
              <a:buFont typeface="Lucida Grande"/>
              <a:buChar char="–"/>
            </a:pPr>
            <a:r>
              <a:rPr lang="en-US" sz="2800" dirty="0">
                <a:latin typeface="Arial" charset="0"/>
                <a:ea typeface="ＭＳ Ｐゴシック" charset="0"/>
              </a:rPr>
              <a:t>Equatorial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Lone pairs occupy equatorial positions.</a:t>
            </a:r>
          </a:p>
        </p:txBody>
      </p:sp>
      <p:pic>
        <p:nvPicPr>
          <p:cNvPr id="2" name="Picture 1" descr="09_08_Figure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57"/>
          <a:stretch/>
        </p:blipFill>
        <p:spPr>
          <a:xfrm>
            <a:off x="597170" y="2463800"/>
            <a:ext cx="3711020" cy="24130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Arial" charset="0"/>
                <a:ea typeface="ＭＳ Ｐゴシック" charset="0"/>
              </a:rPr>
              <a:t>Trigonal</a:t>
            </a:r>
            <a:r>
              <a:rPr lang="en-US" dirty="0">
                <a:latin typeface="Arial" charset="0"/>
                <a:ea typeface="ＭＳ Ｐゴシック" charset="0"/>
              </a:rPr>
              <a:t> </a:t>
            </a:r>
            <a:r>
              <a:rPr lang="en-US" dirty="0" err="1">
                <a:latin typeface="Arial" charset="0"/>
                <a:ea typeface="ＭＳ Ｐゴシック" charset="0"/>
              </a:rPr>
              <a:t>Bipyramidal</a:t>
            </a:r>
            <a:r>
              <a:rPr lang="en-US" dirty="0">
                <a:latin typeface="Arial" charset="0"/>
                <a:ea typeface="ＭＳ Ｐゴシック" charset="0"/>
              </a:rPr>
              <a:t> </a:t>
            </a:r>
            <a:r>
              <a:rPr lang="en-US" dirty="0" smtClean="0">
                <a:latin typeface="Arial" charset="0"/>
                <a:ea typeface="ＭＳ Ｐゴシック" charset="0"/>
              </a:rPr>
              <a:t/>
            </a:r>
            <a:br>
              <a:rPr lang="en-US" dirty="0" smtClean="0">
                <a:latin typeface="Arial" charset="0"/>
                <a:ea typeface="ＭＳ Ｐゴシック" charset="0"/>
              </a:rPr>
            </a:br>
            <a:r>
              <a:rPr lang="en-US" dirty="0" smtClean="0">
                <a:latin typeface="Arial" charset="0"/>
                <a:ea typeface="ＭＳ Ｐゴシック" charset="0"/>
              </a:rPr>
              <a:t>Electron </a:t>
            </a:r>
            <a:r>
              <a:rPr lang="en-US" dirty="0">
                <a:latin typeface="Arial" charset="0"/>
                <a:ea typeface="ＭＳ Ｐゴシック" charset="0"/>
              </a:rPr>
              <a:t>Domain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1981200"/>
            <a:ext cx="3810000" cy="41148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There are four distinct molecular geometries in this domain:</a:t>
            </a:r>
          </a:p>
          <a:p>
            <a:pPr marL="914400" indent="-457200" eaLnBrk="1" hangingPunct="1">
              <a:buFont typeface="Lucida Grande"/>
              <a:buChar char="–"/>
            </a:pPr>
            <a:r>
              <a:rPr lang="en-US" sz="2800" dirty="0" err="1">
                <a:latin typeface="Arial" charset="0"/>
                <a:ea typeface="ＭＳ Ｐゴシック" charset="0"/>
              </a:rPr>
              <a:t>Trigonal</a:t>
            </a:r>
            <a:r>
              <a:rPr lang="en-US" sz="2800" dirty="0">
                <a:latin typeface="Arial" charset="0"/>
                <a:ea typeface="ＭＳ Ｐゴシック" charset="0"/>
              </a:rPr>
              <a:t> </a:t>
            </a:r>
            <a:r>
              <a:rPr lang="en-US" sz="2800" dirty="0" err="1">
                <a:latin typeface="Arial" charset="0"/>
                <a:ea typeface="ＭＳ Ｐゴシック" charset="0"/>
              </a:rPr>
              <a:t>bipyramidal</a:t>
            </a:r>
            <a:endParaRPr lang="en-US" sz="2800" dirty="0">
              <a:latin typeface="Arial" charset="0"/>
              <a:ea typeface="ＭＳ Ｐゴシック" charset="0"/>
            </a:endParaRPr>
          </a:p>
          <a:p>
            <a:pPr marL="914400" indent="-457200" eaLnBrk="1" hangingPunct="1">
              <a:buFont typeface="Lucida Grande"/>
              <a:buChar char="–"/>
            </a:pPr>
            <a:r>
              <a:rPr lang="en-US" sz="2800" dirty="0">
                <a:latin typeface="Arial" charset="0"/>
                <a:ea typeface="ＭＳ Ｐゴシック" charset="0"/>
              </a:rPr>
              <a:t>Seesaw</a:t>
            </a:r>
          </a:p>
          <a:p>
            <a:pPr marL="914400" indent="-457200" eaLnBrk="1" hangingPunct="1">
              <a:buFont typeface="Lucida Grande"/>
              <a:buChar char="–"/>
            </a:pPr>
            <a:r>
              <a:rPr lang="en-US" sz="2800" dirty="0">
                <a:latin typeface="Arial" charset="0"/>
                <a:ea typeface="ＭＳ Ｐゴシック" charset="0"/>
              </a:rPr>
              <a:t>T-shaped</a:t>
            </a:r>
          </a:p>
          <a:p>
            <a:pPr marL="914400" indent="-457200" eaLnBrk="1" hangingPunct="1">
              <a:buFont typeface="Lucida Grande"/>
              <a:buChar char="–"/>
            </a:pPr>
            <a:r>
              <a:rPr lang="en-US" sz="2800" dirty="0">
                <a:latin typeface="Arial" charset="0"/>
                <a:ea typeface="ＭＳ Ｐゴシック" charset="0"/>
              </a:rPr>
              <a:t>Linear</a:t>
            </a:r>
          </a:p>
        </p:txBody>
      </p:sp>
      <p:pic>
        <p:nvPicPr>
          <p:cNvPr id="3" name="Picture 2" descr="Table 9.3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63"/>
          <a:stretch/>
        </p:blipFill>
        <p:spPr>
          <a:xfrm>
            <a:off x="3733800" y="1447800"/>
            <a:ext cx="4865015" cy="42545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Octahedral Electron Domain</a:t>
            </a:r>
          </a:p>
        </p:txBody>
      </p:sp>
      <p:sp>
        <p:nvSpPr>
          <p:cNvPr id="3379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257800" y="1371600"/>
            <a:ext cx="3886200" cy="44958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All positions are equivalent in the octahedral domain.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There are three molecular geometries:</a:t>
            </a:r>
          </a:p>
          <a:p>
            <a:pPr marL="740664" indent="-283464" eaLnBrk="1" hangingPunct="1">
              <a:buFont typeface="Lucida Grande"/>
              <a:buChar char="–"/>
            </a:pPr>
            <a:r>
              <a:rPr lang="en-US" sz="2800" dirty="0">
                <a:latin typeface="Arial" charset="0"/>
                <a:ea typeface="ＭＳ Ｐゴシック" charset="0"/>
              </a:rPr>
              <a:t>Octahedral</a:t>
            </a:r>
          </a:p>
          <a:p>
            <a:pPr marL="740664" indent="-283464" eaLnBrk="1" hangingPunct="1">
              <a:buFont typeface="Lucida Grande"/>
              <a:buChar char="–"/>
            </a:pPr>
            <a:r>
              <a:rPr lang="en-US" sz="2800" dirty="0">
                <a:latin typeface="Arial" charset="0"/>
                <a:ea typeface="ＭＳ Ｐゴシック" charset="0"/>
              </a:rPr>
              <a:t>Square pyramidal</a:t>
            </a:r>
          </a:p>
          <a:p>
            <a:pPr marL="740664" indent="-283464" eaLnBrk="1" hangingPunct="1">
              <a:buFont typeface="Lucida Grande"/>
              <a:buChar char="–"/>
            </a:pPr>
            <a:r>
              <a:rPr lang="en-US" sz="2800" dirty="0">
                <a:latin typeface="Arial" charset="0"/>
                <a:ea typeface="ＭＳ Ｐゴシック" charset="0"/>
              </a:rPr>
              <a:t>Square 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planar</a:t>
            </a:r>
            <a:endParaRPr lang="en-US" sz="2800" dirty="0">
              <a:latin typeface="Arial" charset="0"/>
              <a:ea typeface="ＭＳ Ｐゴシック" charset="0"/>
            </a:endParaRPr>
          </a:p>
        </p:txBody>
      </p:sp>
      <p:pic>
        <p:nvPicPr>
          <p:cNvPr id="2" name="Picture 1" descr="Table 9.3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037"/>
          <a:stretch/>
        </p:blipFill>
        <p:spPr>
          <a:xfrm>
            <a:off x="316585" y="2781300"/>
            <a:ext cx="4865015" cy="2603500"/>
          </a:xfrm>
          <a:prstGeom prst="rect">
            <a:avLst/>
          </a:prstGeom>
        </p:spPr>
      </p:pic>
      <p:pic>
        <p:nvPicPr>
          <p:cNvPr id="3" name="Picture 2" descr="Table 9.3.jpg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519"/>
          <a:stretch/>
        </p:blipFill>
        <p:spPr>
          <a:xfrm>
            <a:off x="316585" y="1866900"/>
            <a:ext cx="4865015" cy="7874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Shapes of Larger Molecules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41148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 dirty="0">
                <a:latin typeface="Arial" charset="0"/>
                <a:ea typeface="ＭＳ Ｐゴシック" charset="0"/>
              </a:rPr>
              <a:t>	For larger molecules, look at the geometry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about each atom </a:t>
            </a:r>
            <a:r>
              <a:rPr lang="en-US" sz="2800" dirty="0">
                <a:latin typeface="Arial" charset="0"/>
                <a:ea typeface="ＭＳ Ｐゴシック" charset="0"/>
              </a:rPr>
              <a:t>rather than the molecule as a whole.</a:t>
            </a:r>
          </a:p>
        </p:txBody>
      </p:sp>
      <p:pic>
        <p:nvPicPr>
          <p:cNvPr id="2" name="Picture 1" descr="09_09_Figure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2"/>
          <a:stretch/>
        </p:blipFill>
        <p:spPr>
          <a:xfrm>
            <a:off x="5257800" y="1117600"/>
            <a:ext cx="2057400" cy="554574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7491413" cy="7620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Polarity of Molecules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660400"/>
            <a:ext cx="8534400" cy="5715000"/>
          </a:xfrm>
        </p:spPr>
        <p:txBody>
          <a:bodyPr/>
          <a:lstStyle/>
          <a:p>
            <a:pPr marL="609600" indent="-609600" eaLnBrk="1" hangingPunct="1">
              <a:buFont typeface="Wingdings" charset="0"/>
              <a:buNone/>
            </a:pP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Ask yourself:</a:t>
            </a:r>
          </a:p>
          <a:p>
            <a:pPr marL="609600" indent="-609600" eaLnBrk="1" hangingPunct="1">
              <a:buFont typeface="Wingdings" charset="0"/>
              <a:buNone/>
            </a:pP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COVALENT or IONIC?  If COVALENT:</a:t>
            </a:r>
          </a:p>
          <a:p>
            <a:pPr marL="609600" indent="-609600" eaLnBrk="1" hangingPunct="1">
              <a:buFont typeface="Wingdings" charset="0"/>
              <a:buNone/>
            </a:pP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Are the BONDS polar?</a:t>
            </a:r>
          </a:p>
          <a:p>
            <a:pPr marL="609600" indent="-609600" eaLnBrk="1" hangingPunct="1">
              <a:buFontTx/>
              <a:buAutoNum type="alphaLcPeriod"/>
            </a:pP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NO: The molecule is NONPOLAR!</a:t>
            </a:r>
          </a:p>
          <a:p>
            <a:pPr marL="609600" indent="-609600" eaLnBrk="1" hangingPunct="1">
              <a:buFontTx/>
              <a:buAutoNum type="alphaLcPeriod"/>
            </a:pP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YES: Continue—Do the AVERAGE position of </a:t>
            </a:r>
            <a:r>
              <a:rPr lang="el-GR" i="1" dirty="0">
                <a:solidFill>
                  <a:srgbClr val="000000"/>
                </a:solidFill>
                <a:latin typeface="Times New Roman" charset="0"/>
                <a:ea typeface="ＭＳ Ｐゴシック" charset="0"/>
                <a:cs typeface="Times New Roman" charset="0"/>
              </a:rPr>
              <a:t>δ</a:t>
            </a: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</a:rPr>
              <a:t>+ and</a:t>
            </a:r>
            <a:r>
              <a:rPr lang="en-US" dirty="0">
                <a:solidFill>
                  <a:srgbClr val="000000"/>
                </a:solidFill>
                <a:latin typeface="Times New Roman" charset="0"/>
                <a:ea typeface="ＭＳ Ｐゴシック" charset="0"/>
                <a:cs typeface="Times New Roman" charset="0"/>
              </a:rPr>
              <a:t> </a:t>
            </a:r>
            <a:r>
              <a:rPr lang="el-GR" i="1" dirty="0">
                <a:solidFill>
                  <a:srgbClr val="000000"/>
                </a:solidFill>
                <a:latin typeface="Times New Roman" charset="0"/>
                <a:ea typeface="ＭＳ Ｐゴシック" charset="0"/>
                <a:cs typeface="Times New Roman" charset="0"/>
              </a:rPr>
              <a:t>δ</a:t>
            </a: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  <a:cs typeface="Times New Roman" charset="0"/>
              </a:rPr>
              <a:t>– coincide</a:t>
            </a: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?</a:t>
            </a:r>
          </a:p>
          <a:p>
            <a:pPr marL="609600" indent="-609600" eaLnBrk="1" hangingPunct="1">
              <a:buFontTx/>
              <a:buAutoNum type="arabicParenR"/>
            </a:pP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YES: The molecule is NONPOLAR.</a:t>
            </a:r>
          </a:p>
          <a:p>
            <a:pPr marL="609600" indent="-609600" eaLnBrk="1" hangingPunct="1">
              <a:buFontTx/>
              <a:buAutoNum type="arabicParenR"/>
            </a:pP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NO: The molecule is POLAR.</a:t>
            </a:r>
          </a:p>
          <a:p>
            <a:pPr marL="0" indent="0" eaLnBrk="1" hangingPunct="1">
              <a:buFontTx/>
              <a:buNone/>
            </a:pP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NOTE: Different atoms attached to the central atom have different polarity of bonds.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52400"/>
            <a:ext cx="6629400" cy="1265238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Comparison of the Polarity of Two Molecules</a:t>
            </a:r>
          </a:p>
        </p:txBody>
      </p:sp>
      <p:sp>
        <p:nvSpPr>
          <p:cNvPr id="3891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</a:rPr>
              <a:t>A NONPOLAR molecule</a:t>
            </a:r>
          </a:p>
        </p:txBody>
      </p:sp>
      <p:sp>
        <p:nvSpPr>
          <p:cNvPr id="38916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</a:rPr>
              <a:t>A POLAR molecule</a:t>
            </a:r>
          </a:p>
        </p:txBody>
      </p:sp>
      <p:pic>
        <p:nvPicPr>
          <p:cNvPr id="3" name="Picture 2" descr="09_10_Figure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81"/>
          <a:stretch/>
        </p:blipFill>
        <p:spPr>
          <a:xfrm>
            <a:off x="990600" y="2209800"/>
            <a:ext cx="2717520" cy="3895336"/>
          </a:xfrm>
          <a:prstGeom prst="rect">
            <a:avLst/>
          </a:prstGeom>
        </p:spPr>
      </p:pic>
      <p:pic>
        <p:nvPicPr>
          <p:cNvPr id="5" name="Picture 4" descr="09_11_Figure.jpg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5"/>
          <a:stretch/>
        </p:blipFill>
        <p:spPr>
          <a:xfrm>
            <a:off x="4800600" y="2209800"/>
            <a:ext cx="2683722" cy="444418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</a:rPr>
              <a:t>Valence-Bond Theory</a:t>
            </a:r>
          </a:p>
        </p:txBody>
      </p:sp>
      <p:sp>
        <p:nvSpPr>
          <p:cNvPr id="4096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810000" y="1447800"/>
            <a:ext cx="5105400" cy="46482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In Valence-Bond Theory, electrons of two atoms begin to occupy the same space.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This is called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“overlap” of orbitals</a:t>
            </a:r>
            <a:r>
              <a:rPr lang="en-US" sz="2800" dirty="0">
                <a:latin typeface="Arial" charset="0"/>
                <a:ea typeface="ＭＳ Ｐゴシック" charset="0"/>
              </a:rPr>
              <a:t>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The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sharing of space </a:t>
            </a:r>
            <a:r>
              <a:rPr lang="en-US" sz="2800" dirty="0">
                <a:latin typeface="Arial" charset="0"/>
                <a:ea typeface="ＭＳ Ｐゴシック" charset="0"/>
              </a:rPr>
              <a:t>between two electrons of opposite spin results in a covalent bond.</a:t>
            </a:r>
          </a:p>
        </p:txBody>
      </p:sp>
      <p:pic>
        <p:nvPicPr>
          <p:cNvPr id="2" name="Picture 1" descr="09_13_Figure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82"/>
          <a:stretch/>
        </p:blipFill>
        <p:spPr>
          <a:xfrm>
            <a:off x="533400" y="1295400"/>
            <a:ext cx="2895600" cy="50355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Overlap and Bonding</a:t>
            </a:r>
          </a:p>
        </p:txBody>
      </p:sp>
      <p:pic>
        <p:nvPicPr>
          <p:cNvPr id="3" name="Picture 2" descr="09_14_Figure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25"/>
          <a:stretch/>
        </p:blipFill>
        <p:spPr>
          <a:xfrm>
            <a:off x="4076600" y="2221348"/>
            <a:ext cx="4915000" cy="2884052"/>
          </a:xfrm>
          <a:prstGeom prst="rect">
            <a:avLst/>
          </a:prstGeom>
        </p:spPr>
      </p:pic>
      <p:sp>
        <p:nvSpPr>
          <p:cNvPr id="4301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295400"/>
            <a:ext cx="4572000" cy="49530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Increased overlap brings the electrons and nuclei closer together until a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balance</a:t>
            </a:r>
            <a:r>
              <a:rPr lang="en-US" sz="2800" dirty="0">
                <a:latin typeface="Arial" charset="0"/>
                <a:ea typeface="ＭＳ Ｐゴシック" charset="0"/>
              </a:rPr>
              <a:t> is reached between the like charge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repulsions</a:t>
            </a:r>
            <a:r>
              <a:rPr lang="en-US" sz="2800" dirty="0">
                <a:latin typeface="Arial" charset="0"/>
                <a:ea typeface="ＭＳ Ｐゴシック" charset="0"/>
              </a:rPr>
              <a:t> and the electron-nucleus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attraction</a:t>
            </a:r>
            <a:r>
              <a:rPr lang="en-US" sz="2800" dirty="0">
                <a:latin typeface="Arial" charset="0"/>
                <a:ea typeface="ＭＳ Ｐゴシック" charset="0"/>
              </a:rPr>
              <a:t>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Atoms can’t get too close because the </a:t>
            </a:r>
            <a:r>
              <a:rPr lang="en-US" sz="2800" dirty="0" err="1">
                <a:latin typeface="Arial" charset="0"/>
                <a:ea typeface="ＭＳ Ｐゴシック" charset="0"/>
              </a:rPr>
              <a:t>internuclear</a:t>
            </a:r>
            <a:r>
              <a:rPr lang="en-US" sz="2800" dirty="0">
                <a:latin typeface="Arial" charset="0"/>
                <a:ea typeface="ＭＳ Ｐゴシック" charset="0"/>
              </a:rPr>
              <a:t> repulsions get too great.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>
                <a:latin typeface="Arial" charset="0"/>
                <a:ea typeface="ＭＳ Ｐゴシック" charset="0"/>
              </a:rPr>
              <a:t>VSEPR and Hybrid Orbitals</a:t>
            </a:r>
          </a:p>
        </p:txBody>
      </p:sp>
      <p:sp>
        <p:nvSpPr>
          <p:cNvPr id="45058" name="Content Placeholder 4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5626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</a:rPr>
              <a:t>VSEPR predicts shapes of molecules very well.</a:t>
            </a:r>
          </a:p>
          <a:p>
            <a:r>
              <a:rPr lang="en-US" dirty="0">
                <a:latin typeface="Arial" charset="0"/>
                <a:ea typeface="ＭＳ Ｐゴシック" charset="0"/>
              </a:rPr>
              <a:t>How does that fit with orbitals?</a:t>
            </a:r>
          </a:p>
          <a:p>
            <a:r>
              <a:rPr lang="en-US" dirty="0">
                <a:latin typeface="Arial" charset="0"/>
                <a:ea typeface="ＭＳ Ｐゴシック" charset="0"/>
              </a:rPr>
              <a:t>Let’s use H</a:t>
            </a:r>
            <a:r>
              <a:rPr lang="en-US" baseline="-25000" dirty="0">
                <a:latin typeface="Arial" charset="0"/>
                <a:ea typeface="ＭＳ Ｐゴシック" charset="0"/>
              </a:rPr>
              <a:t>2</a:t>
            </a:r>
            <a:r>
              <a:rPr lang="en-US" dirty="0">
                <a:latin typeface="Arial" charset="0"/>
                <a:ea typeface="ＭＳ Ｐゴシック" charset="0"/>
              </a:rPr>
              <a:t>O as an example:</a:t>
            </a:r>
          </a:p>
          <a:p>
            <a:r>
              <a:rPr lang="en-US" dirty="0">
                <a:latin typeface="Arial" charset="0"/>
                <a:ea typeface="ＭＳ Ｐゴシック" charset="0"/>
              </a:rPr>
              <a:t>If we draw the best Lewis structure to assign VSEPR, it becomes bent.</a:t>
            </a:r>
          </a:p>
          <a:p>
            <a:r>
              <a:rPr lang="en-US" dirty="0">
                <a:latin typeface="Arial" charset="0"/>
                <a:ea typeface="ＭＳ Ｐゴシック" charset="0"/>
              </a:rPr>
              <a:t>If we look at oxygen, its electron configuration is 1</a:t>
            </a:r>
            <a:r>
              <a:rPr lang="en-US" i="1" dirty="0">
                <a:latin typeface="Arial" charset="0"/>
                <a:ea typeface="ＭＳ Ｐゴシック" charset="0"/>
              </a:rPr>
              <a:t>s</a:t>
            </a:r>
            <a:r>
              <a:rPr lang="en-US" baseline="30000" dirty="0">
                <a:latin typeface="Arial" charset="0"/>
                <a:ea typeface="ＭＳ Ｐゴシック" charset="0"/>
              </a:rPr>
              <a:t>2</a:t>
            </a:r>
            <a:r>
              <a:rPr lang="en-US" dirty="0">
                <a:latin typeface="Arial" charset="0"/>
                <a:ea typeface="ＭＳ Ｐゴシック" charset="0"/>
              </a:rPr>
              <a:t>2</a:t>
            </a:r>
            <a:r>
              <a:rPr lang="en-US" i="1" dirty="0">
                <a:latin typeface="Arial" charset="0"/>
                <a:ea typeface="ＭＳ Ｐゴシック" charset="0"/>
              </a:rPr>
              <a:t>s</a:t>
            </a:r>
            <a:r>
              <a:rPr lang="en-US" baseline="30000" dirty="0">
                <a:latin typeface="Arial" charset="0"/>
                <a:ea typeface="ＭＳ Ｐゴシック" charset="0"/>
              </a:rPr>
              <a:t>2</a:t>
            </a:r>
            <a:r>
              <a:rPr lang="en-US" dirty="0">
                <a:latin typeface="Arial" charset="0"/>
                <a:ea typeface="ＭＳ Ｐゴシック" charset="0"/>
              </a:rPr>
              <a:t>2</a:t>
            </a:r>
            <a:r>
              <a:rPr lang="en-US" i="1" dirty="0">
                <a:latin typeface="Arial" charset="0"/>
                <a:ea typeface="ＭＳ Ｐゴシック" charset="0"/>
              </a:rPr>
              <a:t>p</a:t>
            </a:r>
            <a:r>
              <a:rPr lang="en-US" baseline="30000" dirty="0">
                <a:latin typeface="Arial" charset="0"/>
                <a:ea typeface="ＭＳ Ｐゴシック" charset="0"/>
              </a:rPr>
              <a:t>4</a:t>
            </a:r>
            <a:r>
              <a:rPr lang="en-US" dirty="0">
                <a:latin typeface="Arial" charset="0"/>
                <a:ea typeface="ＭＳ Ｐゴシック" charset="0"/>
              </a:rPr>
              <a:t>. If it shares two electrons to fill its valence shell, they should be in </a:t>
            </a:r>
            <a:r>
              <a:rPr lang="en-US" dirty="0" smtClean="0">
                <a:latin typeface="Arial" charset="0"/>
                <a:ea typeface="ＭＳ Ｐゴシック" charset="0"/>
              </a:rPr>
              <a:t>2</a:t>
            </a:r>
            <a:r>
              <a:rPr lang="en-US" i="1" dirty="0" smtClean="0">
                <a:latin typeface="Arial" charset="0"/>
                <a:ea typeface="ＭＳ Ｐゴシック" charset="0"/>
              </a:rPr>
              <a:t>p </a:t>
            </a:r>
            <a:r>
              <a:rPr lang="en-US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(</a:t>
            </a:r>
            <a:r>
              <a:rPr lang="en-US" i="1" dirty="0" err="1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p</a:t>
            </a:r>
            <a:r>
              <a:rPr lang="en-US" baseline="-25000" dirty="0" err="1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x</a:t>
            </a:r>
            <a:r>
              <a:rPr lang="en-US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, </a:t>
            </a:r>
            <a:r>
              <a:rPr lang="en-US" i="1" dirty="0" err="1" smtClean="0">
                <a:solidFill>
                  <a:srgbClr val="0000FF"/>
                </a:solidFill>
                <a:latin typeface="Arial" charset="0"/>
                <a:ea typeface="ＭＳ Ｐゴシック" charset="0"/>
              </a:rPr>
              <a:t>p</a:t>
            </a:r>
            <a:r>
              <a:rPr lang="en-US" baseline="-25000" dirty="0" err="1" smtClean="0">
                <a:solidFill>
                  <a:srgbClr val="0000FF"/>
                </a:solidFill>
                <a:latin typeface="Arial" charset="0"/>
                <a:ea typeface="ＭＳ Ｐゴシック" charset="0"/>
              </a:rPr>
              <a:t>y</a:t>
            </a:r>
            <a:r>
              <a:rPr lang="en-US" dirty="0" smtClean="0">
                <a:solidFill>
                  <a:srgbClr val="0000FF"/>
                </a:solidFill>
                <a:latin typeface="Arial" charset="0"/>
                <a:ea typeface="ＭＳ Ｐゴシック" charset="0"/>
              </a:rPr>
              <a:t>, </a:t>
            </a:r>
            <a:r>
              <a:rPr lang="en-US" i="1" dirty="0" err="1" smtClean="0">
                <a:solidFill>
                  <a:srgbClr val="0000FF"/>
                </a:solidFill>
                <a:latin typeface="Arial" charset="0"/>
                <a:ea typeface="ＭＳ Ｐゴシック" charset="0"/>
              </a:rPr>
              <a:t>p</a:t>
            </a:r>
            <a:r>
              <a:rPr lang="en-US" baseline="-25000" dirty="0" err="1" smtClean="0">
                <a:solidFill>
                  <a:srgbClr val="0000FF"/>
                </a:solidFill>
                <a:latin typeface="Arial" charset="0"/>
                <a:ea typeface="ＭＳ Ｐゴシック" charset="0"/>
              </a:rPr>
              <a:t>z</a:t>
            </a:r>
            <a:r>
              <a:rPr lang="en-US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)</a:t>
            </a:r>
            <a:r>
              <a:rPr lang="en-US" dirty="0" smtClean="0">
                <a:latin typeface="Arial" charset="0"/>
                <a:ea typeface="ＭＳ Ｐゴシック" charset="0"/>
              </a:rPr>
              <a:t>.</a:t>
            </a:r>
            <a:endParaRPr lang="en-US" dirty="0">
              <a:latin typeface="Arial" charset="0"/>
              <a:ea typeface="ＭＳ Ｐゴシック" charset="0"/>
            </a:endParaRPr>
          </a:p>
          <a:p>
            <a:r>
              <a:rPr lang="en-US" dirty="0">
                <a:latin typeface="Arial" charset="0"/>
                <a:ea typeface="ＭＳ Ｐゴシック" charset="0"/>
              </a:rPr>
              <a:t>Wouldn’t that make the angle 90</a:t>
            </a:r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°?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Why is it 104.5°?</a:t>
            </a:r>
            <a:endParaRPr lang="en-US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</a:rPr>
              <a:t>Hybrid Orbitals</a:t>
            </a:r>
          </a:p>
        </p:txBody>
      </p:sp>
      <p:sp>
        <p:nvSpPr>
          <p:cNvPr id="460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rial" charset="0"/>
                <a:ea typeface="ＭＳ Ｐゴシック" charset="0"/>
              </a:rPr>
              <a:t>Hybrid orbitals</a:t>
            </a:r>
            <a:r>
              <a:rPr lang="en-US" dirty="0">
                <a:latin typeface="Arial" charset="0"/>
                <a:ea typeface="ＭＳ Ｐゴシック" charset="0"/>
              </a:rPr>
              <a:t> form by “mixing” of atomic orbitals to create new orbitals of equal energy, called </a:t>
            </a:r>
            <a:r>
              <a:rPr lang="en-US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degenerate</a:t>
            </a:r>
            <a:r>
              <a:rPr lang="en-US" dirty="0">
                <a:latin typeface="Arial" charset="0"/>
                <a:ea typeface="ＭＳ Ｐゴシック" charset="0"/>
              </a:rPr>
              <a:t> orbitals.</a:t>
            </a:r>
          </a:p>
          <a:p>
            <a:r>
              <a:rPr lang="en-US" dirty="0">
                <a:latin typeface="Arial" charset="0"/>
                <a:ea typeface="ＭＳ Ｐゴシック" charset="0"/>
              </a:rPr>
              <a:t>When two orbitals “mix” they create two orbitals; when three orbitals mix, they create three orbitals; etc.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latin typeface="Arial" charset="0"/>
                <a:cs typeface="+mj-cs"/>
              </a:rPr>
              <a:t>Be—</a:t>
            </a:r>
            <a:r>
              <a:rPr lang="en-US" i="1">
                <a:latin typeface="Arial" charset="0"/>
                <a:cs typeface="+mj-cs"/>
              </a:rPr>
              <a:t>sp</a:t>
            </a:r>
            <a:r>
              <a:rPr lang="en-US">
                <a:latin typeface="Arial" charset="0"/>
                <a:cs typeface="+mj-cs"/>
              </a:rPr>
              <a:t> hybridization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86800" cy="2895600"/>
          </a:xfrm>
        </p:spPr>
        <p:txBody>
          <a:bodyPr/>
          <a:lstStyle/>
          <a:p>
            <a:pPr eaLnBrk="1" hangingPunct="1">
              <a:buFont typeface="Arial"/>
              <a:buChar char="•"/>
              <a:defRPr/>
            </a:pPr>
            <a:r>
              <a:rPr lang="en-US" sz="2800" dirty="0">
                <a:latin typeface="Arial" charset="0"/>
                <a:cs typeface="+mn-cs"/>
              </a:rPr>
              <a:t>When we look at the orbital diagram for beryllium (Be), we see that there are only paired electrons in full sub-levels.</a:t>
            </a:r>
          </a:p>
          <a:p>
            <a:pPr eaLnBrk="1" hangingPunct="1">
              <a:buFont typeface="Arial"/>
              <a:buChar char="•"/>
              <a:defRPr/>
            </a:pPr>
            <a:r>
              <a:rPr lang="en-US" sz="2800" dirty="0">
                <a:latin typeface="Arial" charset="0"/>
                <a:cs typeface="+mn-cs"/>
              </a:rPr>
              <a:t>Be makes electron deficient compounds with two bonds for Be. Why? </a:t>
            </a:r>
            <a:r>
              <a:rPr lang="en-US" sz="2800" i="1" dirty="0" err="1">
                <a:solidFill>
                  <a:srgbClr val="FF0000"/>
                </a:solidFill>
                <a:latin typeface="Arial" charset="0"/>
                <a:cs typeface="+mn-cs"/>
              </a:rPr>
              <a:t>sp</a:t>
            </a:r>
            <a:r>
              <a:rPr lang="en-US" sz="2800" dirty="0">
                <a:solidFill>
                  <a:srgbClr val="FF0000"/>
                </a:solidFill>
                <a:latin typeface="Arial" charset="0"/>
                <a:cs typeface="+mn-cs"/>
              </a:rPr>
              <a:t> hybridization </a:t>
            </a:r>
            <a:r>
              <a:rPr lang="en-US" sz="2800" dirty="0">
                <a:latin typeface="Arial" charset="0"/>
                <a:cs typeface="+mn-cs"/>
              </a:rPr>
              <a:t>(mixing of one </a:t>
            </a:r>
            <a:r>
              <a:rPr lang="en-US" sz="2800" i="1" dirty="0">
                <a:latin typeface="Arial" charset="0"/>
                <a:cs typeface="+mn-cs"/>
              </a:rPr>
              <a:t>s</a:t>
            </a:r>
            <a:r>
              <a:rPr lang="en-US" sz="2800" dirty="0">
                <a:latin typeface="Arial" charset="0"/>
                <a:cs typeface="+mn-cs"/>
              </a:rPr>
              <a:t> orbital and one </a:t>
            </a:r>
            <a:r>
              <a:rPr lang="en-US" sz="2800" i="1" dirty="0">
                <a:latin typeface="Arial" charset="0"/>
                <a:cs typeface="+mn-cs"/>
              </a:rPr>
              <a:t>p</a:t>
            </a:r>
            <a:r>
              <a:rPr lang="en-US" sz="2800" dirty="0">
                <a:latin typeface="Arial" charset="0"/>
                <a:cs typeface="+mn-cs"/>
              </a:rPr>
              <a:t> orbital)</a:t>
            </a:r>
            <a:endParaRPr lang="en-US" sz="2400" dirty="0">
              <a:latin typeface="Arial" charset="0"/>
              <a:cs typeface="+mn-cs"/>
            </a:endParaRPr>
          </a:p>
        </p:txBody>
      </p:sp>
      <p:pic>
        <p:nvPicPr>
          <p:cNvPr id="2" name="Picture 1" descr="pg 19 1st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3886200"/>
            <a:ext cx="2514600" cy="816286"/>
          </a:xfrm>
          <a:prstGeom prst="rect">
            <a:avLst/>
          </a:prstGeom>
        </p:spPr>
      </p:pic>
      <p:pic>
        <p:nvPicPr>
          <p:cNvPr id="3" name="Picture 2" descr="pg 19 2nd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4826000"/>
            <a:ext cx="2514600" cy="821764"/>
          </a:xfrm>
          <a:prstGeom prst="rect">
            <a:avLst/>
          </a:prstGeom>
        </p:spPr>
      </p:pic>
      <p:pic>
        <p:nvPicPr>
          <p:cNvPr id="4" name="Picture 3" descr="pg 20 1st.jp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5791200"/>
            <a:ext cx="2514600" cy="81628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>
                <a:latin typeface="Arial" charset="0"/>
                <a:ea typeface="ＭＳ Ｐゴシック" charset="0"/>
              </a:rPr>
              <a:t>sp</a:t>
            </a:r>
            <a:r>
              <a:rPr lang="en-US">
                <a:latin typeface="Arial" charset="0"/>
                <a:ea typeface="ＭＳ Ｐゴシック" charset="0"/>
              </a:rPr>
              <a:t> Orbitals</a:t>
            </a:r>
          </a:p>
        </p:txBody>
      </p:sp>
      <p:sp>
        <p:nvSpPr>
          <p:cNvPr id="4915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382000" cy="2819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Arial" charset="0"/>
                <a:ea typeface="ＭＳ Ｐゴシック" charset="0"/>
              </a:rPr>
              <a:t>Mixing the </a:t>
            </a:r>
            <a:r>
              <a:rPr lang="en-US" sz="2800" i="1" dirty="0">
                <a:latin typeface="Arial" charset="0"/>
                <a:ea typeface="ＭＳ Ｐゴシック" charset="0"/>
              </a:rPr>
              <a:t>s</a:t>
            </a:r>
            <a:r>
              <a:rPr lang="en-US" sz="2800" dirty="0">
                <a:latin typeface="Arial" charset="0"/>
                <a:ea typeface="ＭＳ Ｐゴシック" charset="0"/>
              </a:rPr>
              <a:t> and </a:t>
            </a:r>
            <a:r>
              <a:rPr lang="en-US" sz="2800" i="1" dirty="0">
                <a:latin typeface="Arial" charset="0"/>
                <a:ea typeface="ＭＳ Ｐゴシック" charset="0"/>
              </a:rPr>
              <a:t>p</a:t>
            </a:r>
            <a:r>
              <a:rPr lang="en-US" sz="2800" dirty="0">
                <a:latin typeface="Arial" charset="0"/>
                <a:ea typeface="ＭＳ Ｐゴシック" charset="0"/>
              </a:rPr>
              <a:t> orbitals yields two degenerate orbitals that are hybrids of the two orbitals.</a:t>
            </a:r>
          </a:p>
          <a:p>
            <a:pPr marL="740664" indent="-283464" eaLnBrk="1" hangingPunct="1">
              <a:lnSpc>
                <a:spcPct val="90000"/>
              </a:lnSpc>
              <a:buFont typeface="Lucida Grande"/>
              <a:buChar char="–"/>
            </a:pPr>
            <a:r>
              <a:rPr lang="en-US" sz="2800" dirty="0">
                <a:latin typeface="Arial" charset="0"/>
                <a:ea typeface="ＭＳ Ｐゴシック" charset="0"/>
              </a:rPr>
              <a:t>These </a:t>
            </a:r>
            <a:r>
              <a:rPr lang="en-US" sz="2800" i="1" dirty="0" err="1">
                <a:latin typeface="Arial" charset="0"/>
                <a:ea typeface="ＭＳ Ｐゴシック" charset="0"/>
              </a:rPr>
              <a:t>sp</a:t>
            </a:r>
            <a:r>
              <a:rPr lang="en-US" sz="2800" dirty="0">
                <a:latin typeface="Arial" charset="0"/>
                <a:ea typeface="ＭＳ Ｐゴシック" charset="0"/>
              </a:rPr>
              <a:t> hybrid orbitals have two lobes like a </a:t>
            </a:r>
            <a:r>
              <a:rPr lang="en-US" sz="2800" i="1" dirty="0">
                <a:latin typeface="Arial" charset="0"/>
                <a:ea typeface="ＭＳ Ｐゴシック" charset="0"/>
              </a:rPr>
              <a:t>p</a:t>
            </a:r>
            <a:r>
              <a:rPr lang="en-US" sz="2800" dirty="0">
                <a:latin typeface="Arial" charset="0"/>
                <a:ea typeface="ＭＳ Ｐゴシック" charset="0"/>
              </a:rPr>
              <a:t> orbital.</a:t>
            </a:r>
          </a:p>
          <a:p>
            <a:pPr marL="740664" indent="-283464" eaLnBrk="1" hangingPunct="1">
              <a:lnSpc>
                <a:spcPct val="90000"/>
              </a:lnSpc>
              <a:buFont typeface="Lucida Grande"/>
              <a:buChar char="–"/>
            </a:pPr>
            <a:r>
              <a:rPr lang="en-US" sz="2800" dirty="0">
                <a:latin typeface="Arial" charset="0"/>
                <a:ea typeface="ＭＳ Ｐゴシック" charset="0"/>
              </a:rPr>
              <a:t>One of the lobes is larger and more rounded, as is the </a:t>
            </a:r>
            <a:r>
              <a:rPr lang="en-US" sz="2800" i="1" dirty="0">
                <a:latin typeface="Arial" charset="0"/>
                <a:ea typeface="ＭＳ Ｐゴシック" charset="0"/>
              </a:rPr>
              <a:t>s</a:t>
            </a:r>
            <a:r>
              <a:rPr lang="en-US" sz="2800" dirty="0">
                <a:latin typeface="Arial" charset="0"/>
                <a:ea typeface="ＭＳ Ｐゴシック" charset="0"/>
              </a:rPr>
              <a:t> orbital.</a:t>
            </a:r>
          </a:p>
        </p:txBody>
      </p:sp>
      <p:pic>
        <p:nvPicPr>
          <p:cNvPr id="3" name="Picture 2" descr="09_15_Figure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98"/>
          <a:stretch/>
        </p:blipFill>
        <p:spPr>
          <a:xfrm>
            <a:off x="533400" y="3708400"/>
            <a:ext cx="8305800" cy="19304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Position of </a:t>
            </a:r>
            <a:r>
              <a:rPr lang="en-US" i="1">
                <a:latin typeface="Arial" charset="0"/>
                <a:ea typeface="ＭＳ Ｐゴシック" charset="0"/>
              </a:rPr>
              <a:t>sp</a:t>
            </a:r>
            <a:r>
              <a:rPr lang="en-US">
                <a:latin typeface="Arial" charset="0"/>
                <a:ea typeface="ＭＳ Ｐゴシック" charset="0"/>
              </a:rPr>
              <a:t> Orbitals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143000"/>
            <a:ext cx="8382000" cy="1981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>
                <a:latin typeface="Arial" charset="0"/>
                <a:ea typeface="ＭＳ Ｐゴシック" charset="0"/>
              </a:rPr>
              <a:t>These two degenerate orbitals would align themselves 180</a:t>
            </a:r>
            <a:r>
              <a:rPr lang="en-US" sz="2800">
                <a:latin typeface="Arial" charset="0"/>
                <a:ea typeface="ＭＳ Ｐゴシック" charset="0"/>
                <a:sym typeface="Symbol" charset="0"/>
              </a:rPr>
              <a:t> from each other.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latin typeface="Arial" charset="0"/>
                <a:ea typeface="ＭＳ Ｐゴシック" charset="0"/>
                <a:sym typeface="Symbol" charset="0"/>
              </a:rPr>
              <a:t>This is consistent with the observed geometry of Be compounds (like BeF</a:t>
            </a:r>
            <a:r>
              <a:rPr lang="en-US" sz="2800" baseline="-25000">
                <a:latin typeface="Arial" charset="0"/>
                <a:ea typeface="ＭＳ Ｐゴシック" charset="0"/>
                <a:sym typeface="Symbol" charset="0"/>
              </a:rPr>
              <a:t>2</a:t>
            </a:r>
            <a:r>
              <a:rPr lang="en-US" sz="2800">
                <a:latin typeface="Arial" charset="0"/>
                <a:ea typeface="ＭＳ Ｐゴシック" charset="0"/>
                <a:sym typeface="Symbol" charset="0"/>
              </a:rPr>
              <a:t>) and VSEPR: linear.</a:t>
            </a:r>
            <a:endParaRPr lang="en-US" sz="2800">
              <a:latin typeface="Arial" charset="0"/>
              <a:ea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800">
              <a:latin typeface="Arial" charset="0"/>
              <a:ea typeface="ＭＳ Ｐゴシック" charset="0"/>
            </a:endParaRPr>
          </a:p>
        </p:txBody>
      </p:sp>
      <p:pic>
        <p:nvPicPr>
          <p:cNvPr id="2" name="Picture 1" descr="09_16_Figure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47"/>
          <a:stretch/>
        </p:blipFill>
        <p:spPr>
          <a:xfrm>
            <a:off x="914400" y="3281825"/>
            <a:ext cx="7391400" cy="21474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2954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Boron—Three Electron Domains Gives </a:t>
            </a:r>
            <a:r>
              <a:rPr lang="en-US" i="1">
                <a:latin typeface="Arial" charset="0"/>
                <a:ea typeface="ＭＳ Ｐゴシック" charset="0"/>
              </a:rPr>
              <a:t>sp</a:t>
            </a:r>
            <a:r>
              <a:rPr lang="en-US" baseline="30000">
                <a:latin typeface="Arial" charset="0"/>
                <a:ea typeface="ＭＳ Ｐゴシック" charset="0"/>
              </a:rPr>
              <a:t>2</a:t>
            </a:r>
            <a:r>
              <a:rPr lang="en-US">
                <a:latin typeface="Arial" charset="0"/>
                <a:ea typeface="ＭＳ Ｐゴシック" charset="0"/>
              </a:rPr>
              <a:t> Hybridization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447800"/>
            <a:ext cx="7772400" cy="10668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sz="2800">
                <a:latin typeface="Arial" charset="0"/>
                <a:ea typeface="ＭＳ Ｐゴシック" charset="0"/>
              </a:rPr>
              <a:t>Using a similar model for boron leads to three degenerate </a:t>
            </a:r>
            <a:r>
              <a:rPr lang="en-US" sz="2800" i="1">
                <a:latin typeface="Arial" charset="0"/>
                <a:ea typeface="ＭＳ Ｐゴシック" charset="0"/>
              </a:rPr>
              <a:t>sp</a:t>
            </a:r>
            <a:r>
              <a:rPr lang="en-US" sz="2800" i="1" baseline="30000">
                <a:latin typeface="Arial" charset="0"/>
                <a:ea typeface="ＭＳ Ｐゴシック" charset="0"/>
              </a:rPr>
              <a:t>2</a:t>
            </a:r>
            <a:r>
              <a:rPr lang="en-US" sz="2800">
                <a:latin typeface="Arial" charset="0"/>
                <a:ea typeface="ＭＳ Ｐゴシック" charset="0"/>
              </a:rPr>
              <a:t> orbitals.</a:t>
            </a:r>
          </a:p>
        </p:txBody>
      </p:sp>
      <p:sp>
        <p:nvSpPr>
          <p:cNvPr id="53251" name="Text Box 7"/>
          <p:cNvSpPr txBox="1">
            <a:spLocks noChangeArrowheads="1"/>
          </p:cNvSpPr>
          <p:nvPr/>
        </p:nvSpPr>
        <p:spPr bwMode="auto">
          <a:xfrm>
            <a:off x="457200" y="34290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/>
          </a:p>
        </p:txBody>
      </p:sp>
      <p:pic>
        <p:nvPicPr>
          <p:cNvPr id="2" name="Picture 1" descr="09_17_Figure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48"/>
          <a:stretch/>
        </p:blipFill>
        <p:spPr>
          <a:xfrm>
            <a:off x="1828800" y="2475139"/>
            <a:ext cx="5715000" cy="3970111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Carbon: </a:t>
            </a:r>
            <a:r>
              <a:rPr lang="en-US" i="1">
                <a:latin typeface="Arial" charset="0"/>
                <a:ea typeface="ＭＳ Ｐゴシック" charset="0"/>
              </a:rPr>
              <a:t>sp</a:t>
            </a:r>
            <a:r>
              <a:rPr lang="en-US" baseline="30000">
                <a:latin typeface="Arial" charset="0"/>
                <a:ea typeface="ＭＳ Ｐゴシック" charset="0"/>
              </a:rPr>
              <a:t>3</a:t>
            </a:r>
            <a:r>
              <a:rPr lang="en-US">
                <a:latin typeface="Arial" charset="0"/>
                <a:ea typeface="ＭＳ Ｐゴシック" charset="0"/>
              </a:rPr>
              <a:t> Hybridization</a:t>
            </a:r>
          </a:p>
        </p:txBody>
      </p:sp>
      <p:sp>
        <p:nvSpPr>
          <p:cNvPr id="55298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2362200"/>
            <a:ext cx="2286000" cy="21336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Arial" charset="0"/>
                <a:ea typeface="ＭＳ Ｐゴシック" charset="0"/>
              </a:rPr>
              <a:t>With carbon, we get four degenerate </a:t>
            </a:r>
            <a:r>
              <a:rPr lang="en-US" sz="2800" i="1" dirty="0">
                <a:latin typeface="Arial" charset="0"/>
                <a:ea typeface="ＭＳ Ｐゴシック" charset="0"/>
              </a:rPr>
              <a:t>sp</a:t>
            </a:r>
            <a:r>
              <a:rPr lang="en-US" sz="2800" i="1" baseline="30000" dirty="0">
                <a:latin typeface="Arial" charset="0"/>
                <a:ea typeface="ＭＳ Ｐゴシック" charset="0"/>
              </a:rPr>
              <a:t>3</a:t>
            </a:r>
            <a:r>
              <a:rPr lang="en-US" sz="2800" dirty="0">
                <a:latin typeface="Arial" charset="0"/>
                <a:ea typeface="ＭＳ Ｐゴシック" charset="0"/>
              </a:rPr>
              <a:t> orbitals.</a:t>
            </a:r>
          </a:p>
        </p:txBody>
      </p:sp>
      <p:pic>
        <p:nvPicPr>
          <p:cNvPr id="2" name="Picture 1" descr="09_18_Figure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3"/>
          <a:stretch/>
        </p:blipFill>
        <p:spPr>
          <a:xfrm>
            <a:off x="2743200" y="1219200"/>
            <a:ext cx="5149520" cy="541019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</a:rPr>
              <a:t>Hybrid Orbital Summary</a:t>
            </a:r>
          </a:p>
        </p:txBody>
      </p:sp>
      <p:sp>
        <p:nvSpPr>
          <p:cNvPr id="59394" name="Content Placeholder 2"/>
          <p:cNvSpPr>
            <a:spLocks noGrp="1"/>
          </p:cNvSpPr>
          <p:nvPr>
            <p:ph idx="1"/>
          </p:nvPr>
        </p:nvSpPr>
        <p:spPr>
          <a:xfrm>
            <a:off x="19290" y="1296700"/>
            <a:ext cx="4476509" cy="4226983"/>
          </a:xfrm>
        </p:spPr>
        <p:txBody>
          <a:bodyPr/>
          <a:lstStyle/>
          <a:p>
            <a:pPr marL="514350" indent="-514350">
              <a:buFontTx/>
              <a:buAutoNum type="arabicParenR"/>
            </a:pPr>
            <a:r>
              <a:rPr lang="en-US" sz="2400" dirty="0">
                <a:latin typeface="Arial" charset="0"/>
                <a:ea typeface="ＭＳ Ｐゴシック" charset="0"/>
              </a:rPr>
              <a:t>Draw the Lewis structure.</a:t>
            </a:r>
          </a:p>
          <a:p>
            <a:pPr marL="514350" indent="-514350">
              <a:buFontTx/>
              <a:buAutoNum type="arabicParenR"/>
            </a:pPr>
            <a:r>
              <a:rPr lang="en-US" sz="2400" dirty="0" smtClean="0">
                <a:latin typeface="Arial" charset="0"/>
                <a:ea typeface="ＭＳ Ｐゴシック" charset="0"/>
              </a:rPr>
              <a:t>Determine the # of Electron domains </a:t>
            </a:r>
            <a:endParaRPr lang="en-US" sz="2400" dirty="0">
              <a:latin typeface="Arial" charset="0"/>
              <a:ea typeface="ＭＳ Ｐゴシック" charset="0"/>
            </a:endParaRPr>
          </a:p>
          <a:p>
            <a:pPr marL="514350" indent="-514350">
              <a:buFontTx/>
              <a:buAutoNum type="arabicParenR"/>
            </a:pPr>
            <a:r>
              <a:rPr lang="en-US" sz="2400" dirty="0" smtClean="0">
                <a:latin typeface="Arial" charset="0"/>
                <a:ea typeface="ＭＳ Ｐゴシック" charset="0"/>
              </a:rPr>
              <a:t>Find the combination of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orbitals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for hybridization (</a:t>
            </a:r>
            <a:r>
              <a:rPr lang="en-US" sz="2400" i="1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s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 + # of </a:t>
            </a:r>
            <a:r>
              <a:rPr lang="en-US" sz="2400" i="1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p</a:t>
            </a:r>
            <a:r>
              <a:rPr lang="en-US" sz="2400" i="1" dirty="0" smtClean="0">
                <a:latin typeface="Arial" charset="0"/>
                <a:ea typeface="ＭＳ Ｐゴシック" charset="0"/>
              </a:rPr>
              <a:t>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orbitals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) from the </a:t>
            </a:r>
            <a:r>
              <a:rPr lang="en-US" sz="2400" b="1" u="sng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same</a:t>
            </a:r>
            <a:r>
              <a:rPr lang="en-US" sz="24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atom.  </a:t>
            </a:r>
            <a:endParaRPr lang="en-US" sz="2400" dirty="0">
              <a:latin typeface="Arial" charset="0"/>
              <a:ea typeface="ＭＳ Ｐゴシック" charset="0"/>
            </a:endParaRPr>
          </a:p>
          <a:p>
            <a:pPr marL="0" indent="0">
              <a:buNone/>
            </a:pPr>
            <a:r>
              <a:rPr lang="en-US" sz="2400" dirty="0">
                <a:latin typeface="Arial" charset="0"/>
                <a:ea typeface="ＭＳ Ｐゴシック" charset="0"/>
              </a:rPr>
              <a:t>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2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 e-domains =&gt; </a:t>
            </a:r>
            <a:r>
              <a:rPr lang="en-US" sz="2400" i="1" dirty="0" smtClean="0">
                <a:latin typeface="Arial" charset="0"/>
                <a:ea typeface="ＭＳ Ｐゴシック" charset="0"/>
              </a:rPr>
              <a:t>s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+1 </a:t>
            </a:r>
            <a:r>
              <a:rPr lang="en-US" sz="2400" i="1" dirty="0" smtClean="0">
                <a:latin typeface="Arial" charset="0"/>
                <a:ea typeface="ＭＳ Ｐゴシック" charset="0"/>
              </a:rPr>
              <a:t>p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 = </a:t>
            </a:r>
            <a:r>
              <a:rPr lang="en-US" sz="2400" i="1" dirty="0" err="1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sp</a:t>
            </a:r>
            <a:endParaRPr lang="en-US" sz="2400" i="1" dirty="0" smtClean="0">
              <a:solidFill>
                <a:srgbClr val="FF0000"/>
              </a:solidFill>
              <a:latin typeface="Arial" charset="0"/>
              <a:ea typeface="ＭＳ Ｐゴシック" charset="0"/>
            </a:endParaRPr>
          </a:p>
          <a:p>
            <a:pPr marL="0" indent="0">
              <a:buNone/>
            </a:pPr>
            <a:r>
              <a:rPr lang="en-US" sz="2400" dirty="0">
                <a:latin typeface="Arial" charset="0"/>
                <a:ea typeface="ＭＳ Ｐゴシック" charset="0"/>
              </a:rPr>
              <a:t>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3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 </a:t>
            </a:r>
            <a:r>
              <a:rPr lang="en-US" sz="2400" dirty="0">
                <a:latin typeface="Arial" charset="0"/>
                <a:ea typeface="ＭＳ Ｐゴシック" charset="0"/>
              </a:rPr>
              <a:t>e-domains =&gt; </a:t>
            </a:r>
            <a:r>
              <a:rPr lang="en-US" sz="2400" i="1" dirty="0" smtClean="0">
                <a:latin typeface="Arial" charset="0"/>
                <a:ea typeface="ＭＳ Ｐゴシック" charset="0"/>
              </a:rPr>
              <a:t>s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+2 </a:t>
            </a:r>
            <a:r>
              <a:rPr lang="en-US" sz="2400" i="1" dirty="0" smtClean="0">
                <a:latin typeface="Arial" charset="0"/>
                <a:ea typeface="ＭＳ Ｐゴシック" charset="0"/>
              </a:rPr>
              <a:t>p’s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 </a:t>
            </a:r>
            <a:r>
              <a:rPr lang="en-US" sz="2400" dirty="0">
                <a:latin typeface="Arial" charset="0"/>
                <a:ea typeface="ＭＳ Ｐゴシック" charset="0"/>
              </a:rPr>
              <a:t>= </a:t>
            </a:r>
            <a:r>
              <a:rPr lang="en-US" sz="2400" i="1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sp</a:t>
            </a:r>
            <a:r>
              <a:rPr lang="en-US" sz="2400" baseline="300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2</a:t>
            </a:r>
            <a:endParaRPr lang="en-US" sz="2400" dirty="0" smtClean="0">
              <a:solidFill>
                <a:srgbClr val="FF0000"/>
              </a:solidFill>
              <a:latin typeface="Arial" charset="0"/>
              <a:ea typeface="ＭＳ Ｐゴシック" charset="0"/>
            </a:endParaRPr>
          </a:p>
          <a:p>
            <a:pPr marL="0" indent="0">
              <a:buNone/>
            </a:pPr>
            <a:r>
              <a:rPr lang="en-US" sz="2400" dirty="0">
                <a:latin typeface="Arial" charset="0"/>
                <a:ea typeface="ＭＳ Ｐゴシック" charset="0"/>
              </a:rPr>
              <a:t>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4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 e-domains </a:t>
            </a:r>
            <a:r>
              <a:rPr lang="en-US" sz="2400" dirty="0">
                <a:latin typeface="Arial" charset="0"/>
                <a:ea typeface="ＭＳ Ｐゴシック" charset="0"/>
              </a:rPr>
              <a:t>=&gt; </a:t>
            </a:r>
            <a:r>
              <a:rPr lang="en-US" sz="2400" i="1" dirty="0" smtClean="0">
                <a:latin typeface="Arial" charset="0"/>
                <a:ea typeface="ＭＳ Ｐゴシック" charset="0"/>
              </a:rPr>
              <a:t>s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+3 </a:t>
            </a:r>
            <a:r>
              <a:rPr lang="en-US" sz="2400" i="1" dirty="0" smtClean="0">
                <a:latin typeface="Arial" charset="0"/>
                <a:ea typeface="ＭＳ Ｐゴシック" charset="0"/>
              </a:rPr>
              <a:t>p’s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 </a:t>
            </a:r>
            <a:r>
              <a:rPr lang="en-US" sz="2400" dirty="0">
                <a:latin typeface="Arial" charset="0"/>
                <a:ea typeface="ＭＳ Ｐゴシック" charset="0"/>
              </a:rPr>
              <a:t>= </a:t>
            </a:r>
            <a:r>
              <a:rPr lang="en-US" sz="2400" i="1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sp</a:t>
            </a:r>
            <a:r>
              <a:rPr lang="en-US" sz="2400" baseline="300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3</a:t>
            </a:r>
          </a:p>
          <a:p>
            <a:pPr marL="0" indent="0">
              <a:buNone/>
            </a:pPr>
            <a:endParaRPr lang="en-US" sz="2200" dirty="0">
              <a:solidFill>
                <a:srgbClr val="0000FF"/>
              </a:solidFill>
              <a:latin typeface="Arial" charset="0"/>
              <a:ea typeface="ＭＳ Ｐゴシック" charset="0"/>
            </a:endParaRPr>
          </a:p>
          <a:p>
            <a:pPr marL="0" indent="0">
              <a:buNone/>
            </a:pPr>
            <a:endParaRPr lang="en-US" sz="2200" dirty="0">
              <a:solidFill>
                <a:srgbClr val="0000FF"/>
              </a:solidFill>
              <a:latin typeface="Arial" charset="0"/>
              <a:ea typeface="ＭＳ Ｐゴシック" charset="0"/>
            </a:endParaRPr>
          </a:p>
        </p:txBody>
      </p:sp>
      <p:pic>
        <p:nvPicPr>
          <p:cNvPr id="3" name="Picture 2" descr="09_04_Table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7"/>
          <a:stretch/>
        </p:blipFill>
        <p:spPr>
          <a:xfrm>
            <a:off x="4419600" y="1329267"/>
            <a:ext cx="4505325" cy="408093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52600" y="5676149"/>
            <a:ext cx="571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Arrangement of hybrid </a:t>
            </a:r>
            <a:r>
              <a:rPr lang="en-US" dirty="0" smtClean="0">
                <a:solidFill>
                  <a:srgbClr val="0000FF"/>
                </a:solidFill>
              </a:rPr>
              <a:t>orbitals </a:t>
            </a:r>
            <a:r>
              <a:rPr lang="en-US" dirty="0">
                <a:solidFill>
                  <a:srgbClr val="0000FF"/>
                </a:solidFill>
              </a:rPr>
              <a:t>follows </a:t>
            </a:r>
            <a:r>
              <a:rPr lang="en-US" dirty="0" smtClean="0">
                <a:solidFill>
                  <a:srgbClr val="0000FF"/>
                </a:solidFill>
              </a:rPr>
              <a:t>the rule for </a:t>
            </a:r>
            <a:r>
              <a:rPr lang="en-US" dirty="0">
                <a:solidFill>
                  <a:srgbClr val="0000FF"/>
                </a:solidFill>
              </a:rPr>
              <a:t>electron-domain </a:t>
            </a:r>
            <a:r>
              <a:rPr lang="en-US" dirty="0" smtClean="0">
                <a:solidFill>
                  <a:srgbClr val="0000FF"/>
                </a:solidFill>
              </a:rPr>
              <a:t>geometry</a:t>
            </a:r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/>
          </p:nvPr>
        </p:nvSpPr>
        <p:spPr>
          <a:xfrm>
            <a:off x="0" y="74150"/>
            <a:ext cx="9144000" cy="1143000"/>
          </a:xfrm>
        </p:spPr>
        <p:txBody>
          <a:bodyPr/>
          <a:lstStyle/>
          <a:p>
            <a:r>
              <a:rPr lang="en-US" sz="2800" b="1" dirty="0">
                <a:latin typeface="Arial" charset="0"/>
                <a:ea typeface="ＭＳ Ｐゴシック" charset="0"/>
              </a:rPr>
              <a:t>What Happens with Water?</a:t>
            </a:r>
          </a:p>
        </p:txBody>
      </p:sp>
      <p:sp>
        <p:nvSpPr>
          <p:cNvPr id="58370" name="Content Placeholder 2"/>
          <p:cNvSpPr>
            <a:spLocks noGrp="1"/>
          </p:cNvSpPr>
          <p:nvPr>
            <p:ph idx="1"/>
          </p:nvPr>
        </p:nvSpPr>
        <p:spPr>
          <a:xfrm>
            <a:off x="2286000" y="3733800"/>
            <a:ext cx="5491861" cy="4267200"/>
          </a:xfrm>
        </p:spPr>
        <p:txBody>
          <a:bodyPr/>
          <a:lstStyle/>
          <a:p>
            <a:r>
              <a:rPr lang="en-US" sz="2800" dirty="0" smtClean="0">
                <a:latin typeface="Arial" charset="0"/>
                <a:ea typeface="ＭＳ Ｐゴシック" charset="0"/>
                <a:cs typeface="Arial" charset="0"/>
              </a:rPr>
              <a:t>Oxygen </a:t>
            </a: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has two bonds and two lone 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rPr>
              <a:t>pairs — 4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rPr>
              <a:t>electron domains</a:t>
            </a: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.</a:t>
            </a:r>
          </a:p>
          <a:p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The result is </a:t>
            </a:r>
            <a:r>
              <a:rPr lang="en-US" sz="2800" i="1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rPr>
              <a:t>sp</a:t>
            </a:r>
            <a:r>
              <a:rPr lang="en-US" sz="2800" baseline="3000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rPr>
              <a:t>3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rPr>
              <a:t>hybridization!</a:t>
            </a:r>
            <a:endParaRPr lang="en-US" sz="2800" dirty="0" smtClean="0">
              <a:latin typeface="Arial" charset="0"/>
              <a:ea typeface="ＭＳ Ｐゴシック" charset="0"/>
              <a:cs typeface="Arial" charset="0"/>
            </a:endParaRPr>
          </a:p>
          <a:p>
            <a:r>
              <a:rPr lang="en-US" sz="2800" dirty="0" smtClean="0">
                <a:latin typeface="Arial" charset="0"/>
                <a:ea typeface="ＭＳ Ｐゴシック" charset="0"/>
              </a:rPr>
              <a:t>Tetrahedral and 104.5</a:t>
            </a:r>
            <a:r>
              <a:rPr lang="en-US" sz="2800" dirty="0" smtClean="0">
                <a:latin typeface="Arial" charset="0"/>
                <a:ea typeface="ＭＳ Ｐゴシック" charset="0"/>
                <a:cs typeface="Arial" charset="0"/>
              </a:rPr>
              <a:t>°</a:t>
            </a:r>
            <a:endParaRPr lang="en-US" sz="2800" dirty="0">
              <a:latin typeface="Arial" charset="0"/>
              <a:ea typeface="ＭＳ Ｐゴシック" charset="0"/>
              <a:cs typeface="Arial" charset="0"/>
            </a:endParaRPr>
          </a:p>
          <a:p>
            <a:endParaRPr lang="en-US" sz="2800" dirty="0">
              <a:solidFill>
                <a:srgbClr val="FF0000"/>
              </a:solidFill>
              <a:latin typeface="Arial" charset="0"/>
              <a:ea typeface="ＭＳ Ｐゴシック" charset="0"/>
            </a:endParaRPr>
          </a:p>
        </p:txBody>
      </p:sp>
      <p:pic>
        <p:nvPicPr>
          <p:cNvPr id="2" name="Picture 1" descr="09_19_Figure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15"/>
          <a:stretch/>
        </p:blipFill>
        <p:spPr>
          <a:xfrm>
            <a:off x="2743200" y="1217150"/>
            <a:ext cx="4215511" cy="22098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4"/>
          <p:cNvSpPr>
            <a:spLocks noGrp="1"/>
          </p:cNvSpPr>
          <p:nvPr>
            <p:ph type="title"/>
          </p:nvPr>
        </p:nvSpPr>
        <p:spPr>
          <a:xfrm>
            <a:off x="27972" y="-153769"/>
            <a:ext cx="9144000" cy="1143000"/>
          </a:xfrm>
        </p:spPr>
        <p:txBody>
          <a:bodyPr/>
          <a:lstStyle/>
          <a:p>
            <a:r>
              <a:rPr lang="en-US" sz="3600" b="1" u="sng" dirty="0" err="1">
                <a:solidFill>
                  <a:srgbClr val="FF0000"/>
                </a:solidFill>
                <a:latin typeface="Arial" charset="0"/>
                <a:ea typeface="ＭＳ Ｐゴシック" charset="0"/>
              </a:rPr>
              <a:t>Hyper</a:t>
            </a:r>
            <a:r>
              <a:rPr lang="en-US" sz="3600" b="1" dirty="0" err="1">
                <a:solidFill>
                  <a:srgbClr val="FF0000"/>
                </a:solidFill>
                <a:latin typeface="Arial" charset="0"/>
                <a:ea typeface="ＭＳ Ｐゴシック" charset="0"/>
              </a:rPr>
              <a:t>valent</a:t>
            </a:r>
            <a:r>
              <a:rPr lang="en-US" sz="3600" b="1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 </a:t>
            </a:r>
            <a:r>
              <a:rPr lang="en-US" sz="3600" b="1" dirty="0">
                <a:latin typeface="Arial" charset="0"/>
                <a:ea typeface="ＭＳ Ｐゴシック" charset="0"/>
              </a:rPr>
              <a:t>Molecules</a:t>
            </a:r>
          </a:p>
        </p:txBody>
      </p:sp>
      <p:sp>
        <p:nvSpPr>
          <p:cNvPr id="57346" name="Content Placeholder 5"/>
          <p:cNvSpPr>
            <a:spLocks noGrp="1"/>
          </p:cNvSpPr>
          <p:nvPr>
            <p:ph idx="1"/>
          </p:nvPr>
        </p:nvSpPr>
        <p:spPr>
          <a:xfrm>
            <a:off x="152400" y="914400"/>
            <a:ext cx="7696200" cy="35052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</a:rPr>
              <a:t>The elements which have </a:t>
            </a:r>
            <a:r>
              <a:rPr lang="en-US" i="1" dirty="0">
                <a:latin typeface="Arial" charset="0"/>
                <a:ea typeface="ＭＳ Ｐゴシック" charset="0"/>
              </a:rPr>
              <a:t>more </a:t>
            </a:r>
            <a:r>
              <a:rPr lang="en-US" dirty="0">
                <a:latin typeface="Arial" charset="0"/>
                <a:ea typeface="ＭＳ Ｐゴシック" charset="0"/>
              </a:rPr>
              <a:t>than </a:t>
            </a:r>
            <a:r>
              <a:rPr lang="en-US" dirty="0" smtClean="0">
                <a:latin typeface="Arial" charset="0"/>
                <a:ea typeface="ＭＳ Ｐゴシック" charset="0"/>
              </a:rPr>
              <a:t/>
            </a:r>
            <a:br>
              <a:rPr lang="en-US" dirty="0" smtClean="0">
                <a:latin typeface="Arial" charset="0"/>
                <a:ea typeface="ＭＳ Ｐゴシック" charset="0"/>
              </a:rPr>
            </a:br>
            <a:r>
              <a:rPr lang="en-US" dirty="0" smtClean="0">
                <a:latin typeface="Arial" charset="0"/>
                <a:ea typeface="ＭＳ Ｐゴシック" charset="0"/>
              </a:rPr>
              <a:t>an octet (</a:t>
            </a:r>
            <a:r>
              <a:rPr lang="en-US" dirty="0" smtClean="0">
                <a:solidFill>
                  <a:srgbClr val="0000FF"/>
                </a:solidFill>
                <a:latin typeface="Arial" charset="0"/>
                <a:ea typeface="ＭＳ Ｐゴシック" charset="0"/>
              </a:rPr>
              <a:t>&gt;4 e-domains</a:t>
            </a:r>
            <a:r>
              <a:rPr lang="en-US" dirty="0" smtClean="0">
                <a:latin typeface="Arial" charset="0"/>
                <a:ea typeface="ＭＳ Ｐゴシック" charset="0"/>
              </a:rPr>
              <a:t>), e.g. </a:t>
            </a:r>
            <a:r>
              <a:rPr lang="en-US" dirty="0" smtClean="0">
                <a:solidFill>
                  <a:srgbClr val="0000FF"/>
                </a:solidFill>
                <a:latin typeface="Arial" charset="0"/>
                <a:ea typeface="ＭＳ Ｐゴシック" charset="0"/>
              </a:rPr>
              <a:t>PF</a:t>
            </a:r>
            <a:r>
              <a:rPr lang="en-US" baseline="-25000" dirty="0" smtClean="0">
                <a:solidFill>
                  <a:srgbClr val="0000FF"/>
                </a:solidFill>
                <a:latin typeface="Arial" charset="0"/>
                <a:ea typeface="ＭＳ Ｐゴシック" charset="0"/>
              </a:rPr>
              <a:t>5</a:t>
            </a:r>
            <a:endParaRPr lang="en-US" baseline="-25000" dirty="0">
              <a:solidFill>
                <a:srgbClr val="0000FF"/>
              </a:solidFill>
              <a:latin typeface="Arial" charset="0"/>
              <a:ea typeface="ＭＳ Ｐゴシック" charset="0"/>
            </a:endParaRPr>
          </a:p>
          <a:p>
            <a:r>
              <a:rPr lang="en-US" dirty="0">
                <a:latin typeface="Arial" charset="0"/>
                <a:ea typeface="ＭＳ Ｐゴシック" charset="0"/>
              </a:rPr>
              <a:t>Valence-Bond model would use </a:t>
            </a:r>
            <a:r>
              <a:rPr lang="en-US" i="1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d</a:t>
            </a:r>
            <a:r>
              <a:rPr lang="en-US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 orbitals </a:t>
            </a:r>
            <a:r>
              <a:rPr lang="en-US" dirty="0">
                <a:latin typeface="Arial" charset="0"/>
                <a:ea typeface="ＭＳ Ｐゴシック" charset="0"/>
              </a:rPr>
              <a:t>to make more than four bonds.</a:t>
            </a:r>
          </a:p>
          <a:p>
            <a:r>
              <a:rPr lang="en-US" dirty="0">
                <a:latin typeface="Arial" charset="0"/>
                <a:ea typeface="ＭＳ Ｐゴシック" charset="0"/>
              </a:rPr>
              <a:t>This view works for period 3 and below.</a:t>
            </a:r>
          </a:p>
          <a:p>
            <a:r>
              <a:rPr lang="en-US" i="1" dirty="0" smtClean="0">
                <a:latin typeface="Arial" charset="0"/>
                <a:ea typeface="ＭＳ Ｐゴシック" charset="0"/>
              </a:rPr>
              <a:t>s</a:t>
            </a:r>
            <a:r>
              <a:rPr lang="en-US" dirty="0" smtClean="0">
                <a:latin typeface="Arial" charset="0"/>
                <a:ea typeface="ＭＳ Ｐゴシック" charset="0"/>
              </a:rPr>
              <a:t> + 3 </a:t>
            </a:r>
            <a:r>
              <a:rPr lang="en-US" i="1" dirty="0" smtClean="0">
                <a:latin typeface="Arial" charset="0"/>
                <a:ea typeface="ＭＳ Ｐゴシック" charset="0"/>
              </a:rPr>
              <a:t>p</a:t>
            </a:r>
            <a:r>
              <a:rPr lang="en-US" dirty="0" smtClean="0">
                <a:latin typeface="Arial" charset="0"/>
                <a:ea typeface="ＭＳ Ｐゴシック" charset="0"/>
              </a:rPr>
              <a:t>’s + </a:t>
            </a:r>
            <a:r>
              <a:rPr lang="en-US" i="1" dirty="0" smtClean="0">
                <a:latin typeface="Arial" charset="0"/>
                <a:ea typeface="ＭＳ Ｐゴシック" charset="0"/>
              </a:rPr>
              <a:t>d </a:t>
            </a:r>
            <a:r>
              <a:rPr lang="en-US" dirty="0" smtClean="0">
                <a:latin typeface="Arial" charset="0"/>
                <a:ea typeface="ＭＳ Ｐゴシック" charset="0"/>
              </a:rPr>
              <a:t>(</a:t>
            </a:r>
            <a:r>
              <a:rPr lang="en-US" i="1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sp</a:t>
            </a:r>
            <a:r>
              <a:rPr lang="en-US" baseline="300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3</a:t>
            </a:r>
            <a:r>
              <a:rPr lang="en-US" i="1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d</a:t>
            </a:r>
            <a:r>
              <a:rPr lang="en-US" dirty="0" smtClean="0">
                <a:latin typeface="Arial" charset="0"/>
                <a:ea typeface="ＭＳ Ｐゴシック" charset="0"/>
              </a:rPr>
              <a:t>)</a:t>
            </a:r>
            <a:endParaRPr lang="en-US" dirty="0">
              <a:latin typeface="Arial" charset="0"/>
              <a:ea typeface="ＭＳ Ｐゴシック" charset="0"/>
            </a:endParaRPr>
          </a:p>
        </p:txBody>
      </p:sp>
      <p:pic>
        <p:nvPicPr>
          <p:cNvPr id="4" name="Picture 3" descr="Table 9.3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75" t="62037" r="18796"/>
          <a:stretch/>
        </p:blipFill>
        <p:spPr>
          <a:xfrm>
            <a:off x="4572000" y="3657600"/>
            <a:ext cx="990600" cy="307686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715000" y="4916269"/>
            <a:ext cx="13484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i="1" dirty="0" smtClean="0">
                <a:solidFill>
                  <a:srgbClr val="FF0000"/>
                </a:solidFill>
              </a:rPr>
              <a:t>sp</a:t>
            </a:r>
            <a:r>
              <a:rPr lang="en-US" sz="3600" b="1" baseline="30000" dirty="0" smtClean="0">
                <a:solidFill>
                  <a:srgbClr val="FF0000"/>
                </a:solidFill>
              </a:rPr>
              <a:t>3</a:t>
            </a:r>
            <a:r>
              <a:rPr lang="en-US" sz="3600" b="1" i="1" dirty="0" smtClean="0">
                <a:solidFill>
                  <a:srgbClr val="FF0000"/>
                </a:solidFill>
              </a:rPr>
              <a:t>d</a:t>
            </a:r>
            <a:r>
              <a:rPr lang="en-US" sz="3600" b="1" baseline="30000" dirty="0" smtClean="0">
                <a:solidFill>
                  <a:srgbClr val="FF0000"/>
                </a:solidFill>
              </a:rPr>
              <a:t>2</a:t>
            </a:r>
            <a:endParaRPr lang="en-US" sz="3600" b="1" baseline="300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/>
          <p:cNvSpPr>
            <a:spLocks noGrp="1"/>
          </p:cNvSpPr>
          <p:nvPr>
            <p:ph type="title"/>
          </p:nvPr>
        </p:nvSpPr>
        <p:spPr>
          <a:xfrm>
            <a:off x="0" y="9525"/>
            <a:ext cx="9144000" cy="1143000"/>
          </a:xfrm>
        </p:spPr>
        <p:txBody>
          <a:bodyPr/>
          <a:lstStyle/>
          <a:p>
            <a:r>
              <a:rPr lang="en-US">
                <a:latin typeface="Arial" charset="0"/>
                <a:ea typeface="ＭＳ Ｐゴシック" charset="0"/>
              </a:rPr>
              <a:t>Types of Bonds</a:t>
            </a:r>
          </a:p>
        </p:txBody>
      </p:sp>
      <p:sp>
        <p:nvSpPr>
          <p:cNvPr id="60418" name="Content Placeholder 2"/>
          <p:cNvSpPr>
            <a:spLocks noGrp="1"/>
          </p:cNvSpPr>
          <p:nvPr>
            <p:ph idx="1"/>
          </p:nvPr>
        </p:nvSpPr>
        <p:spPr>
          <a:xfrm>
            <a:off x="266700" y="1524000"/>
            <a:ext cx="8877300" cy="5029200"/>
          </a:xfrm>
        </p:spPr>
        <p:txBody>
          <a:bodyPr/>
          <a:lstStyle/>
          <a:p>
            <a:r>
              <a:rPr lang="en-US" sz="2800" dirty="0">
                <a:latin typeface="Arial" charset="0"/>
                <a:ea typeface="ＭＳ Ｐゴシック" charset="0"/>
              </a:rPr>
              <a:t>How does a double or triple bond form?</a:t>
            </a:r>
          </a:p>
          <a:p>
            <a:r>
              <a:rPr lang="en-US" sz="2800" b="1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If </a:t>
            </a:r>
            <a:r>
              <a:rPr lang="en-US" sz="2800" b="1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we only </a:t>
            </a:r>
            <a:r>
              <a:rPr lang="en-US" sz="2800" b="1" u="sng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use</a:t>
            </a:r>
            <a:r>
              <a:rPr lang="en-US" sz="2800" b="1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 hybridized </a:t>
            </a:r>
            <a:r>
              <a:rPr lang="en-US" sz="2800" b="1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orbitals, it </a:t>
            </a:r>
            <a:r>
              <a:rPr lang="en-US" sz="2800" b="1" u="sng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cannot</a:t>
            </a:r>
            <a:r>
              <a:rPr lang="en-US" sz="2800" b="1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 form.</a:t>
            </a:r>
          </a:p>
          <a:p>
            <a:endParaRPr lang="en-US" sz="2800" b="1" dirty="0">
              <a:solidFill>
                <a:srgbClr val="FF0000"/>
              </a:solidFill>
              <a:latin typeface="Arial" charset="0"/>
              <a:ea typeface="ＭＳ Ｐゴシック" charset="0"/>
            </a:endParaRPr>
          </a:p>
          <a:p>
            <a:r>
              <a:rPr lang="en-US" sz="2800" dirty="0">
                <a:latin typeface="Arial" charset="0"/>
                <a:ea typeface="ＭＳ Ｐゴシック" charset="0"/>
              </a:rPr>
              <a:t>However, if we use the orbitals which are </a:t>
            </a:r>
            <a:r>
              <a:rPr lang="en-US" sz="2800" b="1" u="sng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not</a:t>
            </a:r>
            <a:r>
              <a:rPr lang="en-US" sz="2800" i="1" u="sng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 </a:t>
            </a:r>
            <a:r>
              <a:rPr lang="en-US" sz="2800" b="1" u="sng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hybridized</a:t>
            </a:r>
            <a:r>
              <a:rPr lang="en-US" sz="2800" dirty="0">
                <a:latin typeface="Arial" charset="0"/>
                <a:ea typeface="ＭＳ Ｐゴシック" charset="0"/>
              </a:rPr>
              <a:t>, we can have a “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side-by-side” </a:t>
            </a:r>
            <a:r>
              <a:rPr lang="en-US" sz="2800" dirty="0">
                <a:latin typeface="Arial" charset="0"/>
                <a:ea typeface="ＭＳ Ｐゴシック" charset="0"/>
              </a:rPr>
              <a:t>overlap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.</a:t>
            </a:r>
          </a:p>
          <a:p>
            <a:endParaRPr lang="en-US" sz="2800" dirty="0">
              <a:latin typeface="Arial" charset="0"/>
              <a:ea typeface="ＭＳ Ｐゴシック" charset="0"/>
            </a:endParaRPr>
          </a:p>
          <a:p>
            <a:r>
              <a:rPr lang="en-US" sz="2800" dirty="0">
                <a:latin typeface="Arial" charset="0"/>
                <a:ea typeface="ＭＳ Ｐゴシック" charset="0"/>
              </a:rPr>
              <a:t>Two types of bonds:</a:t>
            </a:r>
          </a:p>
          <a:p>
            <a:r>
              <a:rPr lang="en-US" sz="2800" dirty="0">
                <a:latin typeface="Arial" charset="0"/>
                <a:ea typeface="ＭＳ Ｐゴシック" charset="0"/>
              </a:rPr>
              <a:t>Sigma (</a:t>
            </a:r>
            <a:r>
              <a:rPr lang="el-GR" sz="2800" i="1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rPr>
              <a:t>σ</a:t>
            </a: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) bond</a:t>
            </a:r>
          </a:p>
          <a:p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Pi (</a:t>
            </a:r>
            <a:r>
              <a:rPr lang="el-GR" sz="2800" i="1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rPr>
              <a:t>π</a:t>
            </a: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) bond</a:t>
            </a:r>
            <a:endParaRPr lang="en-US" sz="2800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Sigma (</a:t>
            </a:r>
            <a:r>
              <a:rPr lang="en-US" i="1">
                <a:latin typeface="Symbol" charset="0"/>
                <a:ea typeface="ＭＳ Ｐゴシック" charset="0"/>
                <a:sym typeface="Symbol" charset="0"/>
              </a:rPr>
              <a:t></a:t>
            </a:r>
            <a:r>
              <a:rPr lang="en-US">
                <a:latin typeface="Arial" charset="0"/>
                <a:ea typeface="ＭＳ Ｐゴシック" charset="0"/>
              </a:rPr>
              <a:t>) and Pi (</a:t>
            </a:r>
            <a:r>
              <a:rPr lang="en-US" i="1">
                <a:latin typeface="Symbol" charset="0"/>
                <a:ea typeface="ＭＳ Ｐゴシック" charset="0"/>
                <a:sym typeface="Symbol" charset="0"/>
              </a:rPr>
              <a:t></a:t>
            </a:r>
            <a:r>
              <a:rPr lang="en-US">
                <a:latin typeface="Symbol" charset="0"/>
                <a:ea typeface="ＭＳ Ｐゴシック" charset="0"/>
                <a:sym typeface="Symbol" charset="0"/>
              </a:rPr>
              <a:t>)</a:t>
            </a:r>
            <a:r>
              <a:rPr lang="en-US">
                <a:latin typeface="Arial" charset="0"/>
                <a:ea typeface="ＭＳ Ｐゴシック" charset="0"/>
              </a:rPr>
              <a:t> Bonds</a:t>
            </a:r>
          </a:p>
        </p:txBody>
      </p:sp>
      <p:sp>
        <p:nvSpPr>
          <p:cNvPr id="6144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" y="3048000"/>
            <a:ext cx="8839200" cy="3048000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Arial" charset="0"/>
                <a:ea typeface="ＭＳ Ｐゴシック" charset="0"/>
              </a:rPr>
              <a:t>Sigma bonds are characterized by</a:t>
            </a:r>
          </a:p>
          <a:p>
            <a:pPr marL="740664" indent="-283464" eaLnBrk="1" hangingPunct="1">
              <a:buFont typeface="Lucida Grande"/>
              <a:buChar char="–"/>
            </a:pPr>
            <a:r>
              <a:rPr lang="en-US" sz="24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head-to-head</a:t>
            </a:r>
            <a:r>
              <a:rPr lang="en-US" sz="2400" dirty="0">
                <a:latin typeface="Arial" charset="0"/>
                <a:ea typeface="ＭＳ Ｐゴシック" charset="0"/>
              </a:rPr>
              <a:t> overlap.</a:t>
            </a:r>
          </a:p>
          <a:p>
            <a:pPr marL="740664" indent="-283464" eaLnBrk="1" hangingPunct="1">
              <a:buFont typeface="Lucida Grande"/>
              <a:buChar char="–"/>
            </a:pPr>
            <a:r>
              <a:rPr lang="en-US" sz="2400" dirty="0">
                <a:latin typeface="Arial" charset="0"/>
                <a:ea typeface="ＭＳ Ｐゴシック" charset="0"/>
              </a:rPr>
              <a:t>cylindrical symmetry of electron density about the </a:t>
            </a:r>
            <a:r>
              <a:rPr lang="en-US" sz="2400" dirty="0" err="1">
                <a:latin typeface="Arial" charset="0"/>
                <a:ea typeface="ＭＳ Ｐゴシック" charset="0"/>
              </a:rPr>
              <a:t>internuclear</a:t>
            </a:r>
            <a:r>
              <a:rPr lang="en-US" sz="2400" dirty="0">
                <a:latin typeface="Arial" charset="0"/>
                <a:ea typeface="ＭＳ Ｐゴシック" charset="0"/>
              </a:rPr>
              <a:t> axis.</a:t>
            </a:r>
          </a:p>
          <a:p>
            <a:pPr eaLnBrk="1" hangingPunct="1"/>
            <a:r>
              <a:rPr lang="en-US" sz="2400" dirty="0">
                <a:latin typeface="Arial" charset="0"/>
                <a:ea typeface="ＭＳ Ｐゴシック" charset="0"/>
              </a:rPr>
              <a:t>Pi bonds are characterized by</a:t>
            </a:r>
          </a:p>
          <a:p>
            <a:pPr marL="740664" indent="-283464" eaLnBrk="1" hangingPunct="1">
              <a:buFont typeface="Lucida Grande"/>
              <a:buChar char="–"/>
            </a:pPr>
            <a:r>
              <a:rPr lang="en-US" sz="24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side-to-side</a:t>
            </a:r>
            <a:r>
              <a:rPr lang="en-US" sz="2400" dirty="0">
                <a:latin typeface="Arial" charset="0"/>
                <a:ea typeface="ＭＳ Ｐゴシック" charset="0"/>
              </a:rPr>
              <a:t> overlap.</a:t>
            </a:r>
          </a:p>
          <a:p>
            <a:pPr marL="740664" indent="-283464" eaLnBrk="1" hangingPunct="1">
              <a:buFont typeface="Lucida Grande"/>
              <a:buChar char="–"/>
            </a:pPr>
            <a:r>
              <a:rPr lang="en-US" sz="2400" dirty="0">
                <a:latin typeface="Arial" charset="0"/>
                <a:ea typeface="ＭＳ Ｐゴシック" charset="0"/>
              </a:rPr>
              <a:t>electron density above and below the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/>
            </a:r>
            <a:br>
              <a:rPr lang="en-US" sz="2400" dirty="0" smtClean="0">
                <a:latin typeface="Arial" charset="0"/>
                <a:ea typeface="ＭＳ Ｐゴシック" charset="0"/>
              </a:rPr>
            </a:br>
            <a:r>
              <a:rPr lang="en-US" sz="2400" dirty="0" err="1" smtClean="0">
                <a:latin typeface="Arial" charset="0"/>
                <a:ea typeface="ＭＳ Ｐゴシック" charset="0"/>
              </a:rPr>
              <a:t>internuclear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 </a:t>
            </a:r>
            <a:r>
              <a:rPr lang="en-US" sz="2400" dirty="0">
                <a:latin typeface="Arial" charset="0"/>
                <a:ea typeface="ＭＳ Ｐゴシック" charset="0"/>
              </a:rPr>
              <a:t>axis.</a:t>
            </a:r>
          </a:p>
        </p:txBody>
      </p:sp>
      <p:pic>
        <p:nvPicPr>
          <p:cNvPr id="2" name="Picture 1" descr="09_21_Figure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10"/>
          <a:stretch/>
        </p:blipFill>
        <p:spPr>
          <a:xfrm>
            <a:off x="990600" y="1066800"/>
            <a:ext cx="7281714" cy="19812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4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3716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</a:rPr>
              <a:t>Bonding in Molecules</a:t>
            </a:r>
          </a:p>
        </p:txBody>
      </p:sp>
      <p:pic>
        <p:nvPicPr>
          <p:cNvPr id="2" name="Picture 1" descr="09_24_Figure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2614"/>
          <a:stretch/>
        </p:blipFill>
        <p:spPr>
          <a:xfrm>
            <a:off x="6358762" y="1524000"/>
            <a:ext cx="2709038" cy="3657600"/>
          </a:xfrm>
          <a:prstGeom prst="rect">
            <a:avLst/>
          </a:prstGeom>
        </p:spPr>
      </p:pic>
      <p:pic>
        <p:nvPicPr>
          <p:cNvPr id="3" name="Picture 2" descr="09_23_Figure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20"/>
          <a:stretch/>
        </p:blipFill>
        <p:spPr>
          <a:xfrm>
            <a:off x="76200" y="1442428"/>
            <a:ext cx="3352800" cy="4272572"/>
          </a:xfrm>
          <a:prstGeom prst="rect">
            <a:avLst/>
          </a:prstGeom>
        </p:spPr>
      </p:pic>
      <p:sp>
        <p:nvSpPr>
          <p:cNvPr id="63490" name="Content Placeholder 5"/>
          <p:cNvSpPr>
            <a:spLocks noGrp="1"/>
          </p:cNvSpPr>
          <p:nvPr>
            <p:ph idx="1"/>
          </p:nvPr>
        </p:nvSpPr>
        <p:spPr>
          <a:xfrm>
            <a:off x="2819400" y="1219200"/>
            <a:ext cx="3733800" cy="3509962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</a:rPr>
              <a:t>Single bonds are always </a:t>
            </a:r>
            <a:r>
              <a:rPr lang="el-GR" i="1" dirty="0">
                <a:latin typeface="Arial" charset="0"/>
                <a:ea typeface="ＭＳ Ｐゴシック" charset="0"/>
                <a:cs typeface="Arial" charset="0"/>
              </a:rPr>
              <a:t>σ</a:t>
            </a:r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-bonds.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Multiple bonds have </a:t>
            </a:r>
            <a:r>
              <a:rPr lang="en-US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rPr>
              <a:t>one </a:t>
            </a:r>
            <a:r>
              <a:rPr lang="el-GR" i="1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rPr>
              <a:t>σ</a:t>
            </a:r>
            <a:r>
              <a:rPr lang="en-US" dirty="0">
                <a:solidFill>
                  <a:srgbClr val="FF0000"/>
                </a:solidFill>
                <a:latin typeface="Arial" charset="0"/>
                <a:ea typeface="ＭＳ Ｐゴシック" charset="0"/>
                <a:cs typeface="Arial" charset="0"/>
              </a:rPr>
              <a:t>-bond</a:t>
            </a:r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Arial" charset="0"/>
                <a:ea typeface="ＭＳ Ｐゴシック" charset="0"/>
                <a:cs typeface="Arial" charset="0"/>
              </a:rPr>
              <a:t>all other bonds are </a:t>
            </a:r>
            <a:r>
              <a:rPr lang="el-GR" i="1" dirty="0">
                <a:solidFill>
                  <a:srgbClr val="0000FF"/>
                </a:solidFill>
                <a:latin typeface="Arial" charset="0"/>
                <a:ea typeface="ＭＳ Ｐゴシック" charset="0"/>
                <a:cs typeface="Arial" charset="0"/>
              </a:rPr>
              <a:t>π</a:t>
            </a:r>
            <a:r>
              <a:rPr lang="en-US" dirty="0">
                <a:solidFill>
                  <a:srgbClr val="0000FF"/>
                </a:solidFill>
                <a:latin typeface="Arial" charset="0"/>
                <a:ea typeface="ＭＳ Ｐゴシック" charset="0"/>
                <a:cs typeface="Arial" charset="0"/>
              </a:rPr>
              <a:t>-bonds</a:t>
            </a:r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.</a:t>
            </a:r>
            <a:endParaRPr lang="en-US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875"/>
            <a:ext cx="9144000" cy="11430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Benzene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1066800"/>
            <a:ext cx="9067800" cy="13716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sz="2800">
                <a:latin typeface="Arial" charset="0"/>
                <a:ea typeface="ＭＳ Ｐゴシック" charset="0"/>
              </a:rPr>
              <a:t>The organic molecule benzene (C</a:t>
            </a:r>
            <a:r>
              <a:rPr lang="en-US" sz="2800" baseline="-25000">
                <a:latin typeface="Arial" charset="0"/>
                <a:ea typeface="ＭＳ Ｐゴシック" charset="0"/>
              </a:rPr>
              <a:t>6</a:t>
            </a:r>
            <a:r>
              <a:rPr lang="en-US" sz="2800">
                <a:latin typeface="Arial" charset="0"/>
                <a:ea typeface="ＭＳ Ｐゴシック" charset="0"/>
              </a:rPr>
              <a:t>H</a:t>
            </a:r>
            <a:r>
              <a:rPr lang="en-US" sz="2800" baseline="-25000">
                <a:latin typeface="Arial" charset="0"/>
                <a:ea typeface="ＭＳ Ｐゴシック" charset="0"/>
              </a:rPr>
              <a:t>6</a:t>
            </a:r>
            <a:r>
              <a:rPr lang="en-US" sz="2800">
                <a:latin typeface="Arial" charset="0"/>
                <a:ea typeface="ＭＳ Ｐゴシック" charset="0"/>
              </a:rPr>
              <a:t>) has six </a:t>
            </a:r>
            <a:r>
              <a:rPr lang="en-US" sz="2800" i="1">
                <a:latin typeface="Symbol" charset="0"/>
                <a:ea typeface="ＭＳ Ｐゴシック" charset="0"/>
                <a:sym typeface="Symbol" charset="0"/>
              </a:rPr>
              <a:t></a:t>
            </a:r>
            <a:r>
              <a:rPr lang="en-US" sz="2800">
                <a:latin typeface="Arial" charset="0"/>
                <a:ea typeface="ＭＳ Ｐゴシック" charset="0"/>
                <a:sym typeface="Symbol" charset="0"/>
              </a:rPr>
              <a:t>-</a:t>
            </a:r>
            <a:r>
              <a:rPr lang="en-US" sz="2800">
                <a:latin typeface="Arial" charset="0"/>
                <a:ea typeface="ＭＳ Ｐゴシック" charset="0"/>
              </a:rPr>
              <a:t>bonds and a </a:t>
            </a:r>
            <a:r>
              <a:rPr lang="en-US" sz="2800" i="1">
                <a:latin typeface="Arial" charset="0"/>
                <a:ea typeface="ＭＳ Ｐゴシック" charset="0"/>
              </a:rPr>
              <a:t>p</a:t>
            </a:r>
            <a:r>
              <a:rPr lang="en-US" sz="2800">
                <a:latin typeface="Arial" charset="0"/>
                <a:ea typeface="ＭＳ Ｐゴシック" charset="0"/>
              </a:rPr>
              <a:t> orbital on each C atom, which form delocalized bonds using one electron from each </a:t>
            </a:r>
            <a:r>
              <a:rPr lang="en-US" sz="2800" i="1">
                <a:latin typeface="Arial" charset="0"/>
                <a:ea typeface="ＭＳ Ｐゴシック" charset="0"/>
              </a:rPr>
              <a:t>p</a:t>
            </a:r>
            <a:r>
              <a:rPr lang="en-US" sz="2800">
                <a:latin typeface="Arial" charset="0"/>
                <a:ea typeface="ＭＳ Ｐゴシック" charset="0"/>
              </a:rPr>
              <a:t> orbital.</a:t>
            </a:r>
          </a:p>
        </p:txBody>
      </p:sp>
      <p:pic>
        <p:nvPicPr>
          <p:cNvPr id="2" name="Picture 1" descr="09_26_Figure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02"/>
          <a:stretch/>
        </p:blipFill>
        <p:spPr>
          <a:xfrm>
            <a:off x="2057400" y="2438400"/>
            <a:ext cx="4800600" cy="1943100"/>
          </a:xfrm>
          <a:prstGeom prst="rect">
            <a:avLst/>
          </a:prstGeom>
        </p:spPr>
      </p:pic>
      <p:pic>
        <p:nvPicPr>
          <p:cNvPr id="3" name="Picture 2" descr="09_27_Figure.jpg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47"/>
          <a:stretch/>
        </p:blipFill>
        <p:spPr>
          <a:xfrm>
            <a:off x="1752600" y="4572001"/>
            <a:ext cx="5638800" cy="18923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>
          <a:xfrm>
            <a:off x="0" y="-2894"/>
            <a:ext cx="9144000" cy="1143000"/>
          </a:xfrm>
        </p:spPr>
        <p:txBody>
          <a:bodyPr/>
          <a:lstStyle/>
          <a:p>
            <a:r>
              <a:rPr lang="en-US" sz="3600" b="1" dirty="0">
                <a:latin typeface="Arial" charset="0"/>
                <a:ea typeface="ＭＳ Ｐゴシック" charset="0"/>
              </a:rPr>
              <a:t>Localized or Delocalized Electrons</a:t>
            </a:r>
          </a:p>
        </p:txBody>
      </p:sp>
      <p:sp>
        <p:nvSpPr>
          <p:cNvPr id="64514" name="Content Placeholder 2"/>
          <p:cNvSpPr>
            <a:spLocks noGrp="1"/>
          </p:cNvSpPr>
          <p:nvPr>
            <p:ph idx="1"/>
          </p:nvPr>
        </p:nvSpPr>
        <p:spPr>
          <a:xfrm>
            <a:off x="685800" y="990600"/>
            <a:ext cx="7772400" cy="36576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</a:rPr>
              <a:t>Bonding electrons (</a:t>
            </a:r>
            <a:r>
              <a:rPr lang="el-GR" i="1" dirty="0">
                <a:latin typeface="Arial" charset="0"/>
                <a:ea typeface="ＭＳ Ｐゴシック" charset="0"/>
                <a:cs typeface="Arial" charset="0"/>
              </a:rPr>
              <a:t>σ</a:t>
            </a:r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 or </a:t>
            </a:r>
            <a:r>
              <a:rPr lang="el-GR" i="1" dirty="0">
                <a:latin typeface="Arial" charset="0"/>
                <a:ea typeface="ＭＳ Ｐゴシック" charset="0"/>
                <a:cs typeface="Arial" charset="0"/>
              </a:rPr>
              <a:t>π</a:t>
            </a:r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) that are specifically shared between two atoms</a:t>
            </a:r>
            <a:r>
              <a:rPr lang="en-US" dirty="0">
                <a:latin typeface="Arial" charset="0"/>
                <a:ea typeface="ＭＳ Ｐゴシック" charset="0"/>
              </a:rPr>
              <a:t> are called </a:t>
            </a:r>
            <a:r>
              <a:rPr lang="en-US" b="1" dirty="0">
                <a:latin typeface="Arial" charset="0"/>
                <a:ea typeface="ＭＳ Ｐゴシック" charset="0"/>
              </a:rPr>
              <a:t>localized</a:t>
            </a:r>
            <a:r>
              <a:rPr lang="en-US" dirty="0">
                <a:latin typeface="Arial" charset="0"/>
                <a:ea typeface="ＭＳ Ｐゴシック" charset="0"/>
              </a:rPr>
              <a:t> electrons.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In many molecules, we can’t describe all electrons that way (</a:t>
            </a:r>
            <a:r>
              <a:rPr lang="en-US" dirty="0">
                <a:solidFill>
                  <a:srgbClr val="0000FF"/>
                </a:solidFill>
                <a:latin typeface="Arial" charset="0"/>
                <a:ea typeface="ＭＳ Ｐゴシック" charset="0"/>
                <a:cs typeface="Arial" charset="0"/>
              </a:rPr>
              <a:t>resonance</a:t>
            </a:r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); the other electrons (shared by multiple atoms) are called </a:t>
            </a:r>
            <a:r>
              <a:rPr lang="en-US" b="1" dirty="0">
                <a:solidFill>
                  <a:srgbClr val="0000FF"/>
                </a:solidFill>
                <a:latin typeface="Arial" charset="0"/>
                <a:ea typeface="ＭＳ Ｐゴシック" charset="0"/>
                <a:cs typeface="Arial" charset="0"/>
              </a:rPr>
              <a:t>delocalized</a:t>
            </a:r>
            <a:r>
              <a:rPr lang="en-US" dirty="0">
                <a:solidFill>
                  <a:srgbClr val="0000FF"/>
                </a:solidFill>
                <a:latin typeface="Arial" charset="0"/>
                <a:ea typeface="ＭＳ Ｐゴシック" charset="0"/>
                <a:cs typeface="Arial" charset="0"/>
              </a:rPr>
              <a:t> </a:t>
            </a:r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electrons.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8700" y="5334000"/>
            <a:ext cx="7086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We have to view the </a:t>
            </a:r>
            <a:r>
              <a:rPr lang="en-US" b="1" u="sng" dirty="0" smtClean="0">
                <a:solidFill>
                  <a:srgbClr val="FF0000"/>
                </a:solidFill>
              </a:rPr>
              <a:t>molecule as a whole</a:t>
            </a:r>
            <a:r>
              <a:rPr lang="en-US" b="1" dirty="0" smtClean="0">
                <a:solidFill>
                  <a:srgbClr val="FF0000"/>
                </a:solidFill>
              </a:rPr>
              <a:t>, including all (not just the valence) electrons!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z="3000" b="1" u="sng" dirty="0" smtClean="0">
                <a:latin typeface="Arial" charset="0"/>
                <a:ea typeface="ＭＳ Ｐゴシック" charset="0"/>
              </a:rPr>
              <a:t>Another example:</a:t>
            </a:r>
            <a:r>
              <a:rPr lang="en-US" sz="3000" b="1" u="sng" dirty="0">
                <a:latin typeface="Arial" charset="0"/>
                <a:ea typeface="ＭＳ Ｐゴシック" charset="0"/>
              </a:rPr>
              <a:t> </a:t>
            </a:r>
            <a:r>
              <a:rPr lang="en-US" sz="3000" b="1" u="sng" dirty="0" err="1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Para</a:t>
            </a:r>
            <a:r>
              <a:rPr lang="en-US" sz="3000" b="1" dirty="0" err="1" smtClean="0">
                <a:latin typeface="Arial" charset="0"/>
                <a:ea typeface="ＭＳ Ｐゴシック" charset="0"/>
              </a:rPr>
              <a:t>magnetism</a:t>
            </a:r>
            <a:r>
              <a:rPr lang="en-US" sz="3000" b="1" dirty="0" smtClean="0">
                <a:latin typeface="Arial" charset="0"/>
                <a:ea typeface="ＭＳ Ｐゴシック" charset="0"/>
              </a:rPr>
              <a:t> </a:t>
            </a:r>
            <a:r>
              <a:rPr lang="en-US" sz="3000" b="1" dirty="0">
                <a:latin typeface="Arial" charset="0"/>
                <a:ea typeface="ＭＳ Ｐゴシック" charset="0"/>
              </a:rPr>
              <a:t>of Oxygen</a:t>
            </a:r>
          </a:p>
        </p:txBody>
      </p:sp>
      <p:sp>
        <p:nvSpPr>
          <p:cNvPr id="84994" name="Content Placeholder 2"/>
          <p:cNvSpPr>
            <a:spLocks noGrp="1"/>
          </p:cNvSpPr>
          <p:nvPr>
            <p:ph idx="1"/>
          </p:nvPr>
        </p:nvSpPr>
        <p:spPr>
          <a:xfrm>
            <a:off x="577507" y="4800600"/>
            <a:ext cx="6477000" cy="1219200"/>
          </a:xfrm>
        </p:spPr>
        <p:txBody>
          <a:bodyPr/>
          <a:lstStyle/>
          <a:p>
            <a:pPr marL="0" indent="0">
              <a:buNone/>
            </a:pPr>
            <a:r>
              <a:rPr lang="en-US" sz="3000" dirty="0" smtClean="0">
                <a:latin typeface="Arial" charset="0"/>
                <a:ea typeface="ＭＳ Ｐゴシック" charset="0"/>
              </a:rPr>
              <a:t>But valence bond theory (using Lewis structures) predict </a:t>
            </a:r>
            <a:r>
              <a:rPr lang="en-US" sz="3000" dirty="0">
                <a:latin typeface="Arial" charset="0"/>
                <a:ea typeface="ＭＳ Ｐゴシック" charset="0"/>
              </a:rPr>
              <a:t>that O</a:t>
            </a:r>
            <a:r>
              <a:rPr lang="en-US" sz="3000" baseline="-25000" dirty="0">
                <a:latin typeface="Arial" charset="0"/>
                <a:ea typeface="ＭＳ Ｐゴシック" charset="0"/>
              </a:rPr>
              <a:t>2</a:t>
            </a:r>
            <a:r>
              <a:rPr lang="en-US" sz="3000" dirty="0">
                <a:latin typeface="Arial" charset="0"/>
                <a:ea typeface="ＭＳ Ｐゴシック" charset="0"/>
              </a:rPr>
              <a:t> is </a:t>
            </a:r>
            <a:r>
              <a:rPr lang="en-US" sz="3000" u="sng" dirty="0" smtClean="0">
                <a:latin typeface="Arial" charset="0"/>
                <a:ea typeface="ＭＳ Ｐゴシック" charset="0"/>
              </a:rPr>
              <a:t>dia</a:t>
            </a:r>
            <a:r>
              <a:rPr lang="en-US" sz="3000" dirty="0" smtClean="0">
                <a:latin typeface="Arial" charset="0"/>
                <a:ea typeface="ＭＳ Ｐゴシック" charset="0"/>
              </a:rPr>
              <a:t>magnetic (</a:t>
            </a:r>
            <a:r>
              <a:rPr lang="en-US" sz="30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no unpaired electrons</a:t>
            </a:r>
            <a:r>
              <a:rPr lang="en-US" sz="3000" dirty="0" smtClean="0">
                <a:latin typeface="Arial" charset="0"/>
                <a:ea typeface="ＭＳ Ｐゴシック" charset="0"/>
              </a:rPr>
              <a:t>).</a:t>
            </a:r>
            <a:endParaRPr lang="en-US" sz="3000" dirty="0">
              <a:latin typeface="Arial" charset="0"/>
              <a:ea typeface="ＭＳ Ｐゴシック" charset="0"/>
            </a:endParaRPr>
          </a:p>
        </p:txBody>
      </p:sp>
      <p:pic>
        <p:nvPicPr>
          <p:cNvPr id="2" name="Picture 1" descr="09_45_Figure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5"/>
          <a:stretch/>
        </p:blipFill>
        <p:spPr>
          <a:xfrm>
            <a:off x="2590800" y="1600200"/>
            <a:ext cx="5083917" cy="276385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</a:rPr>
              <a:t>Valence-Bond Theory</a:t>
            </a:r>
          </a:p>
        </p:txBody>
      </p:sp>
      <p:sp>
        <p:nvSpPr>
          <p:cNvPr id="4096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810000" y="1447800"/>
            <a:ext cx="5105400" cy="46482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In Valence-Bond Theory, electrons of two atoms begin to occupy the same space.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This is called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“overlap” of orbitals</a:t>
            </a:r>
            <a:r>
              <a:rPr lang="en-US" sz="2800" dirty="0">
                <a:latin typeface="Arial" charset="0"/>
                <a:ea typeface="ＭＳ Ｐゴシック" charset="0"/>
              </a:rPr>
              <a:t>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The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sharing of space </a:t>
            </a:r>
            <a:r>
              <a:rPr lang="en-US" sz="2800" dirty="0">
                <a:latin typeface="Arial" charset="0"/>
                <a:ea typeface="ＭＳ Ｐゴシック" charset="0"/>
              </a:rPr>
              <a:t>between two electrons of opposite spin results in a covalent bond.</a:t>
            </a:r>
          </a:p>
        </p:txBody>
      </p:sp>
      <p:pic>
        <p:nvPicPr>
          <p:cNvPr id="2" name="Picture 1" descr="09_13_Figure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930"/>
          <a:stretch/>
        </p:blipFill>
        <p:spPr>
          <a:xfrm>
            <a:off x="35689" y="1676400"/>
            <a:ext cx="3839633" cy="363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6148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Molecular Orbital (MO) Theory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295400"/>
            <a:ext cx="4343400" cy="51816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sz="2800" dirty="0">
                <a:latin typeface="Arial" charset="0"/>
                <a:ea typeface="ＭＳ Ｐゴシック" charset="0"/>
              </a:rPr>
              <a:t>Whenever there is direct overlap of orbitals, forming a bonding and an </a:t>
            </a:r>
            <a:r>
              <a:rPr lang="en-US" sz="2800" dirty="0" err="1">
                <a:latin typeface="Arial" charset="0"/>
                <a:ea typeface="ＭＳ Ｐゴシック" charset="0"/>
              </a:rPr>
              <a:t>antibonding</a:t>
            </a:r>
            <a:r>
              <a:rPr lang="en-US" sz="2800" dirty="0">
                <a:latin typeface="Arial" charset="0"/>
                <a:ea typeface="ＭＳ Ｐゴシック" charset="0"/>
              </a:rPr>
              <a:t> orbital, they are called </a:t>
            </a:r>
            <a:r>
              <a:rPr lang="en-US" sz="2800" b="1" dirty="0">
                <a:latin typeface="Arial" charset="0"/>
                <a:ea typeface="ＭＳ Ｐゴシック" charset="0"/>
              </a:rPr>
              <a:t>sigma (</a:t>
            </a:r>
            <a:r>
              <a:rPr lang="el-GR" sz="2800" b="1" i="1" dirty="0">
                <a:latin typeface="Arial" charset="0"/>
                <a:ea typeface="ＭＳ Ｐゴシック" charset="0"/>
                <a:cs typeface="Arial" charset="0"/>
              </a:rPr>
              <a:t>σ</a:t>
            </a:r>
            <a:r>
              <a:rPr lang="en-US" sz="2800" b="1" dirty="0">
                <a:latin typeface="Arial" charset="0"/>
                <a:ea typeface="ＭＳ Ｐゴシック" charset="0"/>
                <a:cs typeface="Arial" charset="0"/>
              </a:rPr>
              <a:t>) molecular orbitals</a:t>
            </a: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. The </a:t>
            </a:r>
            <a:r>
              <a:rPr lang="en-US" sz="2800" dirty="0" err="1">
                <a:latin typeface="Arial" charset="0"/>
                <a:ea typeface="ＭＳ Ｐゴシック" charset="0"/>
                <a:cs typeface="Arial" charset="0"/>
              </a:rPr>
              <a:t>antibonding</a:t>
            </a: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 orbital is distinguished with an asterisk as </a:t>
            </a:r>
            <a:r>
              <a:rPr lang="el-GR" sz="2800" b="1" i="1" dirty="0">
                <a:latin typeface="Arial" charset="0"/>
                <a:ea typeface="ＭＳ Ｐゴシック" charset="0"/>
                <a:cs typeface="Arial" charset="0"/>
              </a:rPr>
              <a:t>σ</a:t>
            </a:r>
            <a:r>
              <a:rPr lang="en-US" sz="2800" b="1" baseline="30000" dirty="0">
                <a:latin typeface="Arial" charset="0"/>
                <a:ea typeface="ＭＳ Ｐゴシック" charset="0"/>
                <a:cs typeface="Arial" charset="0"/>
              </a:rPr>
              <a:t>*</a:t>
            </a: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. Here is an example for the formation of a hydrogen molecule from two atoms.</a:t>
            </a:r>
            <a:endParaRPr lang="en-US" sz="2800" dirty="0">
              <a:latin typeface="Arial" charset="0"/>
              <a:ea typeface="ＭＳ Ｐゴシック" charset="0"/>
            </a:endParaRPr>
          </a:p>
        </p:txBody>
      </p:sp>
      <p:pic>
        <p:nvPicPr>
          <p:cNvPr id="2" name="Picture 1" descr="09_32_Figure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57"/>
          <a:stretch/>
        </p:blipFill>
        <p:spPr>
          <a:xfrm>
            <a:off x="4452766" y="2057400"/>
            <a:ext cx="4538834" cy="31242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Molecular Orbital (MO) </a:t>
            </a:r>
            <a:r>
              <a:rPr lang="en-US" dirty="0">
                <a:latin typeface="Arial" charset="0"/>
                <a:ea typeface="ＭＳ Ｐゴシック" charset="0"/>
              </a:rPr>
              <a:t>Theory</a:t>
            </a:r>
          </a:p>
        </p:txBody>
      </p:sp>
      <p:sp>
        <p:nvSpPr>
          <p:cNvPr id="67586" name="Content Placeholder 5"/>
          <p:cNvSpPr>
            <a:spLocks noGrp="1"/>
          </p:cNvSpPr>
          <p:nvPr>
            <p:ph idx="1"/>
          </p:nvPr>
        </p:nvSpPr>
        <p:spPr>
          <a:xfrm>
            <a:off x="304800" y="1447800"/>
            <a:ext cx="8610600" cy="4648200"/>
          </a:xfrm>
        </p:spPr>
        <p:txBody>
          <a:bodyPr/>
          <a:lstStyle/>
          <a:p>
            <a:r>
              <a:rPr lang="en-US" sz="2800" dirty="0">
                <a:latin typeface="Arial" charset="0"/>
                <a:ea typeface="ＭＳ Ｐゴシック" charset="0"/>
              </a:rPr>
              <a:t>Wave properties are used to describe the energy </a:t>
            </a:r>
            <a:r>
              <a:rPr lang="en-US" sz="2800" dirty="0" smtClean="0">
                <a:latin typeface="Arial" charset="0"/>
                <a:ea typeface="ＭＳ Ｐゴシック" charset="0"/>
              </a:rPr>
              <a:t/>
            </a:r>
            <a:br>
              <a:rPr lang="en-US" sz="2800" dirty="0" smtClean="0">
                <a:latin typeface="Arial" charset="0"/>
                <a:ea typeface="ＭＳ Ｐゴシック" charset="0"/>
              </a:rPr>
            </a:br>
            <a:r>
              <a:rPr lang="en-US" sz="2800" dirty="0" smtClean="0">
                <a:latin typeface="Arial" charset="0"/>
                <a:ea typeface="ＭＳ Ｐゴシック" charset="0"/>
              </a:rPr>
              <a:t>of </a:t>
            </a:r>
            <a:r>
              <a:rPr lang="en-US" sz="2800" dirty="0">
                <a:latin typeface="Arial" charset="0"/>
                <a:ea typeface="ＭＳ Ｐゴシック" charset="0"/>
              </a:rPr>
              <a:t>the electrons in a molecule.</a:t>
            </a:r>
          </a:p>
          <a:p>
            <a:r>
              <a:rPr lang="en-US" sz="2800" b="1" dirty="0">
                <a:latin typeface="Arial" charset="0"/>
                <a:ea typeface="ＭＳ Ｐゴシック" charset="0"/>
              </a:rPr>
              <a:t>Molecular orbitals</a:t>
            </a:r>
            <a:r>
              <a:rPr lang="en-US" sz="2800" dirty="0">
                <a:latin typeface="Arial" charset="0"/>
                <a:ea typeface="ＭＳ Ｐゴシック" charset="0"/>
              </a:rPr>
              <a:t> have many characteristics like atomic orbitals:</a:t>
            </a:r>
          </a:p>
          <a:p>
            <a:pPr marL="740664" indent="-283464">
              <a:buFont typeface="Lucida Grande"/>
              <a:buChar char="–"/>
            </a:pPr>
            <a:r>
              <a:rPr lang="en-US" sz="2800" dirty="0">
                <a:latin typeface="Arial" charset="0"/>
                <a:ea typeface="ＭＳ Ｐゴシック" charset="0"/>
              </a:rPr>
              <a:t>maximum of two electrons per orbital</a:t>
            </a:r>
          </a:p>
          <a:p>
            <a:pPr marL="740664" indent="-283464">
              <a:buFont typeface="Lucida Grande"/>
              <a:buChar char="–"/>
            </a:pPr>
            <a:r>
              <a:rPr lang="en-US" sz="2800" dirty="0">
                <a:latin typeface="Arial" charset="0"/>
                <a:ea typeface="ＭＳ Ｐゴシック" charset="0"/>
              </a:rPr>
              <a:t>Electrons in the same orbital have 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opposite </a:t>
            </a:r>
            <a:r>
              <a:rPr lang="en-US" sz="2800" dirty="0">
                <a:latin typeface="Arial" charset="0"/>
                <a:ea typeface="ＭＳ Ｐゴシック" charset="0"/>
              </a:rPr>
              <a:t>spin.</a:t>
            </a:r>
          </a:p>
          <a:p>
            <a:pPr marL="740664" indent="-283464">
              <a:buFont typeface="Lucida Grande"/>
              <a:buChar char="–"/>
            </a:pPr>
            <a:r>
              <a:rPr lang="en-US" sz="2800" dirty="0">
                <a:latin typeface="Arial" charset="0"/>
                <a:ea typeface="ＭＳ Ｐゴシック" charset="0"/>
              </a:rPr>
              <a:t>Definite energy of orbital</a:t>
            </a:r>
          </a:p>
          <a:p>
            <a:pPr marL="740664" indent="-283464">
              <a:buFont typeface="Lucida Grande"/>
              <a:buChar char="–"/>
            </a:pPr>
            <a:r>
              <a:rPr lang="en-US" sz="2800" dirty="0">
                <a:latin typeface="Arial" charset="0"/>
                <a:ea typeface="ＭＳ Ｐゴシック" charset="0"/>
              </a:rPr>
              <a:t>Can visualize electron density by a contour diagram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>
                <a:latin typeface="Arial" charset="0"/>
                <a:ea typeface="ＭＳ Ｐゴシック" charset="0"/>
              </a:rPr>
              <a:t>More on MO Theory</a:t>
            </a:r>
          </a:p>
        </p:txBody>
      </p:sp>
      <p:sp>
        <p:nvSpPr>
          <p:cNvPr id="68610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105400"/>
          </a:xfrm>
        </p:spPr>
        <p:txBody>
          <a:bodyPr/>
          <a:lstStyle/>
          <a:p>
            <a:r>
              <a:rPr lang="en-US" sz="2800" dirty="0">
                <a:latin typeface="Arial" charset="0"/>
                <a:ea typeface="ＭＳ Ｐゴシック" charset="0"/>
              </a:rPr>
              <a:t>They differ from atomic orbitals because they represent the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entire molecule</a:t>
            </a:r>
            <a:r>
              <a:rPr lang="en-US" sz="2800" dirty="0">
                <a:latin typeface="Arial" charset="0"/>
                <a:ea typeface="ＭＳ Ｐゴシック" charset="0"/>
              </a:rPr>
              <a:t>, not a single atom.</a:t>
            </a:r>
          </a:p>
          <a:p>
            <a:r>
              <a:rPr lang="en-US" sz="2800" dirty="0">
                <a:latin typeface="Arial" charset="0"/>
                <a:ea typeface="ＭＳ Ｐゴシック" charset="0"/>
              </a:rPr>
              <a:t>Whenever two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atomic 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orbitals (A.O.) </a:t>
            </a:r>
            <a:r>
              <a:rPr lang="en-US" sz="2800" dirty="0">
                <a:latin typeface="Arial" charset="0"/>
                <a:ea typeface="ＭＳ Ｐゴシック" charset="0"/>
              </a:rPr>
              <a:t>overlap, two </a:t>
            </a:r>
            <a:r>
              <a:rPr lang="en-US" sz="2800" dirty="0">
                <a:solidFill>
                  <a:srgbClr val="0000FF"/>
                </a:solidFill>
                <a:latin typeface="Arial" charset="0"/>
                <a:ea typeface="ＭＳ Ｐゴシック" charset="0"/>
              </a:rPr>
              <a:t>molecular </a:t>
            </a:r>
            <a:r>
              <a:rPr lang="en-US" sz="2800" dirty="0" smtClean="0">
                <a:solidFill>
                  <a:srgbClr val="0000FF"/>
                </a:solidFill>
                <a:latin typeface="Arial" charset="0"/>
                <a:ea typeface="ＭＳ Ｐゴシック" charset="0"/>
              </a:rPr>
              <a:t>orbitals (M.O.) 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are </a:t>
            </a:r>
            <a:r>
              <a:rPr lang="en-US" sz="2800" dirty="0">
                <a:latin typeface="Arial" charset="0"/>
                <a:ea typeface="ＭＳ Ｐゴシック" charset="0"/>
              </a:rPr>
              <a:t>formed: one bonding, one </a:t>
            </a:r>
            <a:r>
              <a:rPr lang="en-US" sz="2800" dirty="0" err="1">
                <a:latin typeface="Arial" charset="0"/>
                <a:ea typeface="ＭＳ Ｐゴシック" charset="0"/>
              </a:rPr>
              <a:t>antibonding</a:t>
            </a:r>
            <a:r>
              <a:rPr lang="en-US" sz="2800" dirty="0">
                <a:latin typeface="Arial" charset="0"/>
                <a:ea typeface="ＭＳ Ｐゴシック" charset="0"/>
              </a:rPr>
              <a:t>.</a:t>
            </a:r>
          </a:p>
          <a:p>
            <a:r>
              <a:rPr lang="en-US" sz="2800" b="1" dirty="0">
                <a:latin typeface="Arial" charset="0"/>
                <a:ea typeface="ＭＳ Ｐゴシック" charset="0"/>
              </a:rPr>
              <a:t>Bonding orbitals </a:t>
            </a:r>
            <a:r>
              <a:rPr lang="en-US" sz="2800" dirty="0">
                <a:latin typeface="Arial" charset="0"/>
                <a:ea typeface="ＭＳ Ｐゴシック" charset="0"/>
              </a:rPr>
              <a:t>are constructive combinations of atomic orbitals.</a:t>
            </a:r>
          </a:p>
          <a:p>
            <a:r>
              <a:rPr lang="en-US" sz="2800" b="1" dirty="0" err="1">
                <a:latin typeface="Arial" charset="0"/>
                <a:ea typeface="ＭＳ Ｐゴシック" charset="0"/>
              </a:rPr>
              <a:t>Antibonding</a:t>
            </a:r>
            <a:r>
              <a:rPr lang="en-US" sz="2800" b="1" dirty="0">
                <a:latin typeface="Arial" charset="0"/>
                <a:ea typeface="ＭＳ Ｐゴシック" charset="0"/>
              </a:rPr>
              <a:t> orbitals </a:t>
            </a:r>
            <a:r>
              <a:rPr lang="en-US" sz="2800" dirty="0">
                <a:latin typeface="Arial" charset="0"/>
                <a:ea typeface="ＭＳ Ｐゴシック" charset="0"/>
              </a:rPr>
              <a:t>are destructive combinations of atomic orbitals. They have a new feature unseen before: A </a:t>
            </a:r>
            <a:r>
              <a:rPr lang="en-US" sz="2800" b="1" dirty="0">
                <a:latin typeface="Arial" charset="0"/>
                <a:ea typeface="ＭＳ Ｐゴシック" charset="0"/>
              </a:rPr>
              <a:t>nodal plane</a:t>
            </a:r>
            <a:r>
              <a:rPr lang="en-US" sz="2800" dirty="0">
                <a:latin typeface="Arial" charset="0"/>
                <a:ea typeface="ＭＳ Ｐゴシック" charset="0"/>
              </a:rPr>
              <a:t> occurs where electron density equals zero.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9525"/>
            <a:ext cx="9144000" cy="11430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MO Diagram</a:t>
            </a:r>
          </a:p>
        </p:txBody>
      </p:sp>
      <p:sp>
        <p:nvSpPr>
          <p:cNvPr id="7168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191000" y="914400"/>
            <a:ext cx="4800600" cy="5638800"/>
          </a:xfrm>
        </p:spPr>
        <p:txBody>
          <a:bodyPr/>
          <a:lstStyle/>
          <a:p>
            <a:pPr eaLnBrk="1" hangingPunct="1"/>
            <a:r>
              <a:rPr lang="en-US" sz="2800">
                <a:latin typeface="Arial" charset="0"/>
                <a:ea typeface="ＭＳ Ｐゴシック" charset="0"/>
              </a:rPr>
              <a:t>An </a:t>
            </a:r>
            <a:r>
              <a:rPr lang="en-US" sz="2800" b="1">
                <a:latin typeface="Arial" charset="0"/>
                <a:ea typeface="ＭＳ Ｐゴシック" charset="0"/>
              </a:rPr>
              <a:t>energy-level diagram</a:t>
            </a:r>
            <a:r>
              <a:rPr lang="en-US" sz="2800">
                <a:latin typeface="Arial" charset="0"/>
                <a:ea typeface="ＭＳ Ｐゴシック" charset="0"/>
              </a:rPr>
              <a:t>, or </a:t>
            </a:r>
            <a:r>
              <a:rPr lang="en-US" sz="2800" b="1">
                <a:latin typeface="Arial" charset="0"/>
                <a:ea typeface="ＭＳ Ｐゴシック" charset="0"/>
              </a:rPr>
              <a:t>MO diagram</a:t>
            </a:r>
            <a:r>
              <a:rPr lang="en-US" sz="2800">
                <a:latin typeface="Arial" charset="0"/>
                <a:ea typeface="ＭＳ Ｐゴシック" charset="0"/>
              </a:rPr>
              <a:t> shows how orbitals from atoms combine to give the molecule.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In H</a:t>
            </a:r>
            <a:r>
              <a:rPr lang="en-US" sz="2800" baseline="-25000" dirty="0">
                <a:latin typeface="Arial" charset="0"/>
                <a:ea typeface="ＭＳ Ｐゴシック" charset="0"/>
              </a:rPr>
              <a:t>2</a:t>
            </a:r>
            <a:r>
              <a:rPr lang="en-US" sz="2800" dirty="0">
                <a:latin typeface="Arial" charset="0"/>
                <a:ea typeface="ＭＳ Ｐゴシック" charset="0"/>
              </a:rPr>
              <a:t> the two electrons go into the bonding molecular orbital (lower in energy).</a:t>
            </a:r>
          </a:p>
          <a:p>
            <a:pPr eaLnBrk="1" hangingPunct="1"/>
            <a:r>
              <a:rPr lang="en-US" sz="2800" b="1" dirty="0">
                <a:latin typeface="Arial" charset="0"/>
                <a:ea typeface="ＭＳ Ｐゴシック" charset="0"/>
              </a:rPr>
              <a:t>Bond order </a:t>
            </a:r>
            <a:r>
              <a:rPr lang="en-US" sz="2800" dirty="0">
                <a:latin typeface="Arial" charset="0"/>
                <a:ea typeface="ＭＳ Ｐゴシック" charset="0"/>
              </a:rPr>
              <a:t>= </a:t>
            </a:r>
            <a:r>
              <a:rPr lang="en-US" sz="2800" dirty="0">
                <a:latin typeface="Arial" charset="0"/>
                <a:ea typeface="ＭＳ Ｐゴシック" charset="0"/>
                <a:cs typeface="Times New Roman" charset="0"/>
              </a:rPr>
              <a:t>½(# of bonding electrons – # of </a:t>
            </a:r>
            <a:r>
              <a:rPr lang="en-US" sz="2800" dirty="0" err="1">
                <a:latin typeface="Arial" charset="0"/>
                <a:ea typeface="ＭＳ Ｐゴシック" charset="0"/>
                <a:cs typeface="Times New Roman" charset="0"/>
              </a:rPr>
              <a:t>antibonding</a:t>
            </a:r>
            <a:r>
              <a:rPr lang="en-US" sz="2800" dirty="0">
                <a:latin typeface="Arial" charset="0"/>
                <a:ea typeface="ＭＳ Ｐゴシック" charset="0"/>
                <a:cs typeface="Times New Roman" charset="0"/>
              </a:rPr>
              <a:t> electrons)  =  </a:t>
            </a: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½</a:t>
            </a:r>
            <a:r>
              <a:rPr lang="en-US" sz="2800" dirty="0">
                <a:latin typeface="Arial" charset="0"/>
                <a:ea typeface="ＭＳ Ｐゴシック" charset="0"/>
              </a:rPr>
              <a:t>(2 – 0) = </a:t>
            </a:r>
            <a:r>
              <a:rPr lang="en-US" sz="2800" dirty="0">
                <a:solidFill>
                  <a:srgbClr val="002060"/>
                </a:solidFill>
                <a:latin typeface="Arial" charset="0"/>
                <a:ea typeface="ＭＳ Ｐゴシック" charset="0"/>
              </a:rPr>
              <a:t>1 bond  </a:t>
            </a:r>
            <a:endParaRPr lang="en-US" sz="2800" dirty="0">
              <a:solidFill>
                <a:srgbClr val="002060"/>
              </a:solidFill>
              <a:latin typeface="Arial" charset="0"/>
              <a:ea typeface="ＭＳ Ｐゴシック" charset="0"/>
              <a:cs typeface="Times New Roman" charset="0"/>
            </a:endParaRPr>
          </a:p>
        </p:txBody>
      </p:sp>
      <p:pic>
        <p:nvPicPr>
          <p:cNvPr id="2" name="Picture 1" descr="Fig 9.33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361" b="12236"/>
          <a:stretch/>
        </p:blipFill>
        <p:spPr>
          <a:xfrm>
            <a:off x="304800" y="1752600"/>
            <a:ext cx="3898900" cy="340359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Can He</a:t>
            </a:r>
            <a:r>
              <a:rPr lang="en-US" baseline="-25000">
                <a:latin typeface="Arial" charset="0"/>
                <a:ea typeface="ＭＳ Ｐゴシック" charset="0"/>
              </a:rPr>
              <a:t>2</a:t>
            </a:r>
            <a:r>
              <a:rPr lang="en-US">
                <a:latin typeface="Arial" charset="0"/>
                <a:ea typeface="ＭＳ Ｐゴシック" charset="0"/>
              </a:rPr>
              <a:t> Form? Use MO Diagram and Bond Order to Decide!</a:t>
            </a:r>
          </a:p>
        </p:txBody>
      </p:sp>
      <p:sp>
        <p:nvSpPr>
          <p:cNvPr id="7373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981200"/>
            <a:ext cx="4343400" cy="2033588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Bond Order = </a:t>
            </a: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½(2 – 2) = </a:t>
            </a:r>
            <a:r>
              <a:rPr lang="en-US" sz="2800" dirty="0">
                <a:solidFill>
                  <a:srgbClr val="002060"/>
                </a:solidFill>
                <a:latin typeface="Arial" charset="0"/>
                <a:ea typeface="ＭＳ Ｐゴシック" charset="0"/>
                <a:cs typeface="Arial" charset="0"/>
              </a:rPr>
              <a:t>0 bonds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Therefore, He</a:t>
            </a:r>
            <a:r>
              <a:rPr lang="en-US" sz="2800" baseline="-25000" dirty="0">
                <a:latin typeface="Arial" charset="0"/>
                <a:ea typeface="ＭＳ Ｐゴシック" charset="0"/>
              </a:rPr>
              <a:t>2</a:t>
            </a:r>
            <a:r>
              <a:rPr lang="en-US" sz="2800" dirty="0">
                <a:latin typeface="Arial" charset="0"/>
                <a:ea typeface="ＭＳ Ｐゴシック" charset="0"/>
              </a:rPr>
              <a:t> does </a:t>
            </a:r>
            <a:r>
              <a:rPr lang="en-US" sz="2800" dirty="0" smtClean="0">
                <a:latin typeface="Arial" charset="0"/>
                <a:ea typeface="ＭＳ Ｐゴシック" charset="0"/>
              </a:rPr>
              <a:t/>
            </a:r>
            <a:br>
              <a:rPr lang="en-US" sz="2800" dirty="0" smtClean="0">
                <a:latin typeface="Arial" charset="0"/>
                <a:ea typeface="ＭＳ Ｐゴシック" charset="0"/>
              </a:rPr>
            </a:br>
            <a:r>
              <a:rPr lang="en-US" sz="2800" i="1" dirty="0" smtClean="0">
                <a:latin typeface="Arial" charset="0"/>
                <a:ea typeface="ＭＳ Ｐゴシック" charset="0"/>
              </a:rPr>
              <a:t>not </a:t>
            </a:r>
            <a:r>
              <a:rPr lang="en-US" sz="2800" dirty="0">
                <a:latin typeface="Arial" charset="0"/>
                <a:ea typeface="ＭＳ Ｐゴシック" charset="0"/>
              </a:rPr>
              <a:t>exist.</a:t>
            </a:r>
          </a:p>
        </p:txBody>
      </p:sp>
      <p:grpSp>
        <p:nvGrpSpPr>
          <p:cNvPr id="73731" name="Group 12"/>
          <p:cNvGrpSpPr>
            <a:grpSpLocks/>
          </p:cNvGrpSpPr>
          <p:nvPr/>
        </p:nvGrpSpPr>
        <p:grpSpPr bwMode="auto">
          <a:xfrm>
            <a:off x="1439863" y="3276600"/>
            <a:ext cx="636587" cy="738188"/>
            <a:chOff x="907" y="2064"/>
            <a:chExt cx="401" cy="465"/>
          </a:xfrm>
        </p:grpSpPr>
        <p:sp>
          <p:nvSpPr>
            <p:cNvPr id="73733" name="Rectangle 8"/>
            <p:cNvSpPr>
              <a:spLocks noChangeArrowheads="1"/>
            </p:cNvSpPr>
            <p:nvPr/>
          </p:nvSpPr>
          <p:spPr bwMode="auto">
            <a:xfrm>
              <a:off x="907" y="2064"/>
              <a:ext cx="11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endParaRPr lang="en-US" sz="2800"/>
            </a:p>
          </p:txBody>
        </p:sp>
        <p:sp>
          <p:nvSpPr>
            <p:cNvPr id="73734" name="Rectangle 10"/>
            <p:cNvSpPr>
              <a:spLocks noChangeArrowheads="1"/>
            </p:cNvSpPr>
            <p:nvPr/>
          </p:nvSpPr>
          <p:spPr bwMode="auto">
            <a:xfrm>
              <a:off x="1192" y="2199"/>
              <a:ext cx="11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en-US" sz="2800"/>
            </a:p>
          </p:txBody>
        </p:sp>
      </p:grpSp>
      <p:pic>
        <p:nvPicPr>
          <p:cNvPr id="2" name="Picture 1" descr="Fig 9.33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78" r="7083" b="12563"/>
          <a:stretch/>
        </p:blipFill>
        <p:spPr>
          <a:xfrm>
            <a:off x="4648200" y="1752600"/>
            <a:ext cx="4127500" cy="33909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700"/>
            <a:ext cx="9144000" cy="1143000"/>
          </a:xfrm>
        </p:spPr>
        <p:txBody>
          <a:bodyPr/>
          <a:lstStyle/>
          <a:p>
            <a:pPr eaLnBrk="1" hangingPunct="1"/>
            <a:r>
              <a:rPr lang="en-US" i="1" dirty="0">
                <a:latin typeface="Arial" charset="0"/>
                <a:ea typeface="ＭＳ Ｐゴシック" charset="0"/>
              </a:rPr>
              <a:t>s</a:t>
            </a:r>
            <a:r>
              <a:rPr lang="en-US" dirty="0">
                <a:latin typeface="Arial" charset="0"/>
                <a:ea typeface="ＭＳ Ｐゴシック" charset="0"/>
              </a:rPr>
              <a:t> and </a:t>
            </a:r>
            <a:r>
              <a:rPr lang="en-US" i="1" dirty="0">
                <a:latin typeface="Arial" charset="0"/>
                <a:ea typeface="ＭＳ Ｐゴシック" charset="0"/>
              </a:rPr>
              <a:t>p</a:t>
            </a:r>
            <a:r>
              <a:rPr lang="en-US" dirty="0">
                <a:latin typeface="Arial" charset="0"/>
                <a:ea typeface="ＭＳ Ｐゴシック" charset="0"/>
              </a:rPr>
              <a:t> Orbitals Can Interact</a:t>
            </a:r>
          </a:p>
        </p:txBody>
      </p:sp>
      <p:sp>
        <p:nvSpPr>
          <p:cNvPr id="7577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038600" y="1219200"/>
            <a:ext cx="5105400" cy="5105400"/>
          </a:xfrm>
        </p:spPr>
        <p:txBody>
          <a:bodyPr/>
          <a:lstStyle/>
          <a:p>
            <a:pPr eaLnBrk="1" hangingPunct="1"/>
            <a:r>
              <a:rPr lang="en-US" sz="2800">
                <a:latin typeface="Arial" charset="0"/>
                <a:ea typeface="ＭＳ Ｐゴシック" charset="0"/>
              </a:rPr>
              <a:t>For atoms with both </a:t>
            </a:r>
            <a:r>
              <a:rPr lang="en-US" sz="2800" i="1">
                <a:latin typeface="Arial" charset="0"/>
                <a:ea typeface="ＭＳ Ｐゴシック" charset="0"/>
              </a:rPr>
              <a:t>s</a:t>
            </a:r>
            <a:r>
              <a:rPr lang="en-US" sz="2800">
                <a:latin typeface="Arial" charset="0"/>
                <a:ea typeface="ＭＳ Ｐゴシック" charset="0"/>
              </a:rPr>
              <a:t> and </a:t>
            </a:r>
            <a:r>
              <a:rPr lang="en-US" sz="2800" i="1">
                <a:latin typeface="Arial" charset="0"/>
                <a:ea typeface="ＭＳ Ｐゴシック" charset="0"/>
              </a:rPr>
              <a:t>p</a:t>
            </a:r>
            <a:r>
              <a:rPr lang="en-US" sz="2800">
                <a:latin typeface="Arial" charset="0"/>
                <a:ea typeface="ＭＳ Ｐゴシック" charset="0"/>
              </a:rPr>
              <a:t> orbitals, there are two types of interactions:</a:t>
            </a:r>
          </a:p>
          <a:p>
            <a:pPr eaLnBrk="1" hangingPunct="1"/>
            <a:r>
              <a:rPr lang="en-US" sz="2800">
                <a:latin typeface="Arial" charset="0"/>
                <a:ea typeface="ＭＳ Ｐゴシック" charset="0"/>
              </a:rPr>
              <a:t>The </a:t>
            </a:r>
            <a:r>
              <a:rPr lang="en-US" sz="2800" i="1">
                <a:latin typeface="Arial" charset="0"/>
                <a:ea typeface="ＭＳ Ｐゴシック" charset="0"/>
              </a:rPr>
              <a:t>s</a:t>
            </a:r>
            <a:r>
              <a:rPr lang="en-US" sz="2800">
                <a:latin typeface="Arial" charset="0"/>
                <a:ea typeface="ＭＳ Ｐゴシック" charset="0"/>
              </a:rPr>
              <a:t> and the </a:t>
            </a:r>
            <a:r>
              <a:rPr lang="en-US" sz="2800" i="1">
                <a:latin typeface="Arial" charset="0"/>
                <a:ea typeface="ＭＳ Ｐゴシック" charset="0"/>
              </a:rPr>
              <a:t>p</a:t>
            </a:r>
            <a:r>
              <a:rPr lang="en-US" sz="2800">
                <a:latin typeface="Arial" charset="0"/>
                <a:ea typeface="ＭＳ Ｐゴシック" charset="0"/>
              </a:rPr>
              <a:t> orbitals that face each other overlap in </a:t>
            </a:r>
            <a:r>
              <a:rPr lang="en-US" sz="2800" i="1">
                <a:latin typeface="Arial" charset="0"/>
                <a:ea typeface="ＭＳ Ｐゴシック" charset="0"/>
                <a:sym typeface="Symbol" charset="0"/>
              </a:rPr>
              <a:t></a:t>
            </a:r>
            <a:r>
              <a:rPr lang="en-US" sz="2800">
                <a:latin typeface="Arial" charset="0"/>
                <a:ea typeface="ＭＳ Ｐゴシック" charset="0"/>
              </a:rPr>
              <a:t> fashion.</a:t>
            </a:r>
          </a:p>
          <a:p>
            <a:pPr eaLnBrk="1" hangingPunct="1"/>
            <a:r>
              <a:rPr lang="en-US" sz="2800">
                <a:latin typeface="Arial" charset="0"/>
                <a:ea typeface="ＭＳ Ｐゴシック" charset="0"/>
              </a:rPr>
              <a:t>The other two sets of </a:t>
            </a:r>
            <a:r>
              <a:rPr lang="en-US" sz="2800" i="1">
                <a:latin typeface="Arial" charset="0"/>
                <a:ea typeface="ＭＳ Ｐゴシック" charset="0"/>
              </a:rPr>
              <a:t>p</a:t>
            </a:r>
            <a:r>
              <a:rPr lang="en-US" sz="2800">
                <a:latin typeface="Arial" charset="0"/>
                <a:ea typeface="ＭＳ Ｐゴシック" charset="0"/>
              </a:rPr>
              <a:t> orbitals overlap in </a:t>
            </a:r>
            <a:r>
              <a:rPr lang="en-US" sz="2800" i="1">
                <a:latin typeface="Arial" charset="0"/>
                <a:ea typeface="ＭＳ Ｐゴシック" charset="0"/>
                <a:sym typeface="Symbol" charset="0"/>
              </a:rPr>
              <a:t></a:t>
            </a:r>
            <a:r>
              <a:rPr lang="en-US" sz="2800">
                <a:latin typeface="Arial" charset="0"/>
                <a:ea typeface="ＭＳ Ｐゴシック" charset="0"/>
              </a:rPr>
              <a:t> fashion.</a:t>
            </a:r>
          </a:p>
          <a:p>
            <a:pPr eaLnBrk="1" hangingPunct="1"/>
            <a:r>
              <a:rPr lang="en-US" sz="2800">
                <a:latin typeface="Arial" charset="0"/>
                <a:ea typeface="ＭＳ Ｐゴシック" charset="0"/>
              </a:rPr>
              <a:t>These are, again, direct and “side-ways” overlap of orbitals.</a:t>
            </a:r>
          </a:p>
        </p:txBody>
      </p:sp>
      <p:pic>
        <p:nvPicPr>
          <p:cNvPr id="2" name="Picture 1" descr="09_36_Figure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57"/>
          <a:stretch/>
        </p:blipFill>
        <p:spPr>
          <a:xfrm>
            <a:off x="228600" y="1219200"/>
            <a:ext cx="3733800" cy="5283122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</a:rPr>
              <a:t>MO Theory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990600"/>
            <a:ext cx="4800600" cy="48768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The resulting MO diagram:</a:t>
            </a:r>
          </a:p>
          <a:p>
            <a:pPr marL="740664" indent="-283464" eaLnBrk="1" hangingPunct="1">
              <a:buFont typeface="Lucida Grande"/>
              <a:buChar char="–"/>
            </a:pPr>
            <a:r>
              <a:rPr lang="en-US" sz="2800" dirty="0">
                <a:latin typeface="Arial" charset="0"/>
                <a:ea typeface="ＭＳ Ｐゴシック" charset="0"/>
              </a:rPr>
              <a:t>There are </a:t>
            </a:r>
            <a:r>
              <a:rPr lang="el-GR" sz="2800" i="1" dirty="0">
                <a:latin typeface="Arial" charset="0"/>
                <a:ea typeface="ＭＳ Ｐゴシック" charset="0"/>
                <a:cs typeface="Arial" charset="0"/>
              </a:rPr>
              <a:t>σ</a:t>
            </a: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 and </a:t>
            </a:r>
            <a:r>
              <a:rPr lang="el-GR" sz="2800" i="1" dirty="0">
                <a:latin typeface="Arial" charset="0"/>
                <a:ea typeface="ＭＳ Ｐゴシック" charset="0"/>
                <a:cs typeface="Arial" charset="0"/>
              </a:rPr>
              <a:t>σ</a:t>
            </a:r>
            <a:r>
              <a:rPr lang="en-US" sz="2800" baseline="30000" dirty="0">
                <a:latin typeface="Arial" charset="0"/>
                <a:ea typeface="ＭＳ Ｐゴシック" charset="0"/>
                <a:cs typeface="Arial" charset="0"/>
              </a:rPr>
              <a:t>*</a:t>
            </a: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 orbitals from </a:t>
            </a:r>
            <a:r>
              <a:rPr lang="en-US" sz="2800" i="1" dirty="0"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 and </a:t>
            </a:r>
            <a:r>
              <a:rPr lang="en-US" sz="2800" i="1" dirty="0">
                <a:latin typeface="Arial" charset="0"/>
                <a:ea typeface="ＭＳ Ｐゴシック" charset="0"/>
                <a:cs typeface="Arial" charset="0"/>
              </a:rPr>
              <a:t>p</a:t>
            </a: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 atomic orbitals.</a:t>
            </a:r>
          </a:p>
          <a:p>
            <a:pPr marL="740664" indent="-283464" eaLnBrk="1" hangingPunct="1">
              <a:buFont typeface="Lucida Grande"/>
              <a:buChar char="–"/>
            </a:pP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There are </a:t>
            </a:r>
            <a:r>
              <a:rPr lang="el-GR" sz="2800" i="1" dirty="0">
                <a:latin typeface="Arial" charset="0"/>
                <a:ea typeface="ＭＳ Ｐゴシック" charset="0"/>
                <a:cs typeface="Arial" charset="0"/>
              </a:rPr>
              <a:t>π</a:t>
            </a: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 and </a:t>
            </a:r>
            <a:r>
              <a:rPr lang="el-GR" sz="2800" i="1" dirty="0">
                <a:latin typeface="Arial" charset="0"/>
                <a:ea typeface="ＭＳ Ｐゴシック" charset="0"/>
                <a:cs typeface="Arial" charset="0"/>
              </a:rPr>
              <a:t>π</a:t>
            </a:r>
            <a:r>
              <a:rPr lang="en-US" sz="2800" baseline="30000" dirty="0">
                <a:latin typeface="Arial" charset="0"/>
                <a:ea typeface="ＭＳ Ｐゴシック" charset="0"/>
                <a:cs typeface="Arial" charset="0"/>
              </a:rPr>
              <a:t>*</a:t>
            </a: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 orbitals from </a:t>
            </a:r>
            <a:r>
              <a:rPr lang="en-US" sz="2800" i="1" dirty="0">
                <a:latin typeface="Arial" charset="0"/>
                <a:ea typeface="ＭＳ Ｐゴシック" charset="0"/>
                <a:cs typeface="Arial" charset="0"/>
              </a:rPr>
              <a:t>p</a:t>
            </a: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 atomic orbitals.</a:t>
            </a:r>
          </a:p>
          <a:p>
            <a:pPr marL="740664" indent="-283464" eaLnBrk="1" hangingPunct="1">
              <a:buFont typeface="Lucida Grande"/>
              <a:buChar char="–"/>
            </a:pP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Since direct overlap is stronger, the effect of raising and lowering energy is greater for </a:t>
            </a:r>
            <a:r>
              <a:rPr lang="el-GR" sz="2800" i="1" dirty="0">
                <a:latin typeface="Arial" charset="0"/>
                <a:ea typeface="ＭＳ Ｐゴシック" charset="0"/>
                <a:cs typeface="Arial" charset="0"/>
              </a:rPr>
              <a:t>σ</a:t>
            </a: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 and </a:t>
            </a:r>
            <a:r>
              <a:rPr lang="el-GR" sz="2800" i="1" dirty="0">
                <a:latin typeface="Arial" charset="0"/>
                <a:ea typeface="ＭＳ Ｐゴシック" charset="0"/>
                <a:cs typeface="Arial" charset="0"/>
              </a:rPr>
              <a:t>σ</a:t>
            </a:r>
            <a:r>
              <a:rPr lang="en-US" sz="2800" baseline="30000" dirty="0">
                <a:latin typeface="Arial" charset="0"/>
                <a:ea typeface="ＭＳ Ｐゴシック" charset="0"/>
                <a:cs typeface="Arial" charset="0"/>
              </a:rPr>
              <a:t>*</a:t>
            </a:r>
            <a:r>
              <a:rPr lang="en-US" sz="2800" dirty="0">
                <a:latin typeface="Arial" charset="0"/>
                <a:ea typeface="ＭＳ Ｐゴシック" charset="0"/>
                <a:cs typeface="Arial" charset="0"/>
              </a:rPr>
              <a:t>. </a:t>
            </a:r>
            <a:endParaRPr lang="en-US" sz="2800" dirty="0">
              <a:latin typeface="Arial" charset="0"/>
              <a:ea typeface="ＭＳ Ｐゴシック" charset="0"/>
            </a:endParaRPr>
          </a:p>
        </p:txBody>
      </p:sp>
      <p:pic>
        <p:nvPicPr>
          <p:cNvPr id="2" name="Picture 1" descr="09_41_Figure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8"/>
          <a:stretch/>
        </p:blipFill>
        <p:spPr>
          <a:xfrm>
            <a:off x="4648200" y="1714500"/>
            <a:ext cx="4373880" cy="40005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i="1" dirty="0">
                <a:latin typeface="Arial" charset="0"/>
                <a:ea typeface="ＭＳ Ｐゴシック" charset="0"/>
              </a:rPr>
              <a:t>s</a:t>
            </a:r>
            <a:r>
              <a:rPr lang="en-US" dirty="0">
                <a:latin typeface="Arial" charset="0"/>
                <a:ea typeface="ＭＳ Ｐゴシック" charset="0"/>
              </a:rPr>
              <a:t> and </a:t>
            </a:r>
            <a:r>
              <a:rPr lang="en-US" i="1" dirty="0">
                <a:latin typeface="Arial" charset="0"/>
                <a:ea typeface="ＭＳ Ｐゴシック" charset="0"/>
              </a:rPr>
              <a:t>p</a:t>
            </a:r>
            <a:r>
              <a:rPr lang="en-US" dirty="0">
                <a:latin typeface="Arial" charset="0"/>
                <a:ea typeface="ＭＳ Ｐゴシック" charset="0"/>
              </a:rPr>
              <a:t> Orbital Interactions</a:t>
            </a:r>
          </a:p>
        </p:txBody>
      </p:sp>
      <p:sp>
        <p:nvSpPr>
          <p:cNvPr id="79874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228600" y="3962400"/>
            <a:ext cx="8686800" cy="25146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In some 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cases 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(B,C,N)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, </a:t>
            </a:r>
            <a:r>
              <a:rPr lang="en-US" sz="2800" i="1" dirty="0">
                <a:latin typeface="Arial" charset="0"/>
                <a:ea typeface="ＭＳ Ｐゴシック" charset="0"/>
              </a:rPr>
              <a:t>s</a:t>
            </a:r>
            <a:r>
              <a:rPr lang="en-US" sz="2800" dirty="0">
                <a:latin typeface="Arial" charset="0"/>
                <a:ea typeface="ＭＳ Ｐゴシック" charset="0"/>
              </a:rPr>
              <a:t> orbitals can </a:t>
            </a:r>
            <a:r>
              <a:rPr lang="en-US" sz="2800">
                <a:latin typeface="Arial" charset="0"/>
                <a:ea typeface="ＭＳ Ｐゴシック" charset="0"/>
              </a:rPr>
              <a:t>interact </a:t>
            </a:r>
            <a:r>
              <a:rPr lang="en-US" sz="2800" smtClean="0">
                <a:latin typeface="Arial" charset="0"/>
                <a:ea typeface="ＭＳ Ｐゴシック" charset="0"/>
              </a:rPr>
              <a:t>with </a:t>
            </a:r>
            <a:r>
              <a:rPr lang="en-US" sz="2800" dirty="0">
                <a:latin typeface="Arial" charset="0"/>
                <a:ea typeface="ＭＳ Ｐゴシック" charset="0"/>
              </a:rPr>
              <a:t>the </a:t>
            </a:r>
            <a:r>
              <a:rPr lang="en-US" sz="2800" i="1" dirty="0" err="1">
                <a:latin typeface="Arial" charset="0"/>
                <a:ea typeface="ＭＳ Ｐゴシック" charset="0"/>
              </a:rPr>
              <a:t>p</a:t>
            </a:r>
            <a:r>
              <a:rPr lang="en-US" sz="2800" i="1" baseline="-25000" dirty="0" err="1">
                <a:latin typeface="Arial" charset="0"/>
                <a:ea typeface="ＭＳ Ｐゴシック" charset="0"/>
              </a:rPr>
              <a:t>z</a:t>
            </a:r>
            <a:r>
              <a:rPr lang="en-US" sz="2800" dirty="0">
                <a:latin typeface="Arial" charset="0"/>
                <a:ea typeface="ＭＳ Ｐゴシック" charset="0"/>
              </a:rPr>
              <a:t> orbitals more than the </a:t>
            </a:r>
            <a:r>
              <a:rPr lang="en-US" sz="2800" i="1" dirty="0" err="1">
                <a:latin typeface="Arial" charset="0"/>
                <a:ea typeface="ＭＳ Ｐゴシック" charset="0"/>
              </a:rPr>
              <a:t>p</a:t>
            </a:r>
            <a:r>
              <a:rPr lang="en-US" sz="2800" i="1" baseline="-25000" dirty="0" err="1">
                <a:latin typeface="Arial" charset="0"/>
                <a:ea typeface="ＭＳ Ｐゴシック" charset="0"/>
              </a:rPr>
              <a:t>x</a:t>
            </a:r>
            <a:r>
              <a:rPr lang="en-US" sz="2800" dirty="0">
                <a:latin typeface="Arial" charset="0"/>
                <a:ea typeface="ＭＳ Ｐゴシック" charset="0"/>
              </a:rPr>
              <a:t> and </a:t>
            </a:r>
            <a:r>
              <a:rPr lang="en-US" sz="2800" i="1" dirty="0" err="1">
                <a:latin typeface="Arial" charset="0"/>
                <a:ea typeface="ＭＳ Ｐゴシック" charset="0"/>
              </a:rPr>
              <a:t>p</a:t>
            </a:r>
            <a:r>
              <a:rPr lang="en-US" sz="2800" i="1" baseline="-25000" dirty="0" err="1">
                <a:latin typeface="Arial" charset="0"/>
                <a:ea typeface="ＭＳ Ｐゴシック" charset="0"/>
              </a:rPr>
              <a:t>y</a:t>
            </a:r>
            <a:r>
              <a:rPr lang="en-US" sz="2800" dirty="0">
                <a:latin typeface="Arial" charset="0"/>
                <a:ea typeface="ＭＳ Ｐゴシック" charset="0"/>
              </a:rPr>
              <a:t> orbitals.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It raises the energy of the </a:t>
            </a:r>
            <a:r>
              <a:rPr lang="en-US" sz="2800" i="1" dirty="0" err="1">
                <a:latin typeface="Arial" charset="0"/>
                <a:ea typeface="ＭＳ Ｐゴシック" charset="0"/>
              </a:rPr>
              <a:t>p</a:t>
            </a:r>
            <a:r>
              <a:rPr lang="en-US" sz="2800" i="1" baseline="-25000" dirty="0" err="1">
                <a:latin typeface="Arial" charset="0"/>
                <a:ea typeface="ＭＳ Ｐゴシック" charset="0"/>
              </a:rPr>
              <a:t>z</a:t>
            </a:r>
            <a:r>
              <a:rPr lang="en-US" sz="2800" dirty="0">
                <a:latin typeface="Arial" charset="0"/>
                <a:ea typeface="ＭＳ Ｐゴシック" charset="0"/>
              </a:rPr>
              <a:t> orbital and lowers the energy of the </a:t>
            </a:r>
            <a:r>
              <a:rPr lang="en-US" sz="2800" i="1" dirty="0">
                <a:latin typeface="Arial" charset="0"/>
                <a:ea typeface="ＭＳ Ｐゴシック" charset="0"/>
              </a:rPr>
              <a:t>s</a:t>
            </a:r>
            <a:r>
              <a:rPr lang="en-US" sz="2800" dirty="0">
                <a:latin typeface="Arial" charset="0"/>
                <a:ea typeface="ＭＳ Ｐゴシック" charset="0"/>
              </a:rPr>
              <a:t> orbital.</a:t>
            </a:r>
          </a:p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The </a:t>
            </a:r>
            <a:r>
              <a:rPr lang="en-US" sz="2800" i="1" dirty="0" err="1">
                <a:latin typeface="Arial" charset="0"/>
                <a:ea typeface="ＭＳ Ｐゴシック" charset="0"/>
              </a:rPr>
              <a:t>p</a:t>
            </a:r>
            <a:r>
              <a:rPr lang="en-US" sz="2800" i="1" baseline="-25000" dirty="0" err="1">
                <a:latin typeface="Arial" charset="0"/>
                <a:ea typeface="ＭＳ Ｐゴシック" charset="0"/>
              </a:rPr>
              <a:t>x</a:t>
            </a:r>
            <a:r>
              <a:rPr lang="en-US" sz="2800" dirty="0">
                <a:latin typeface="Arial" charset="0"/>
                <a:ea typeface="ＭＳ Ｐゴシック" charset="0"/>
              </a:rPr>
              <a:t> and </a:t>
            </a:r>
            <a:r>
              <a:rPr lang="en-US" sz="2800" i="1" dirty="0" err="1">
                <a:latin typeface="Arial" charset="0"/>
                <a:ea typeface="ＭＳ Ｐゴシック" charset="0"/>
              </a:rPr>
              <a:t>p</a:t>
            </a:r>
            <a:r>
              <a:rPr lang="en-US" sz="2800" i="1" baseline="-25000" dirty="0" err="1">
                <a:latin typeface="Arial" charset="0"/>
                <a:ea typeface="ＭＳ Ｐゴシック" charset="0"/>
              </a:rPr>
              <a:t>y</a:t>
            </a:r>
            <a:r>
              <a:rPr lang="en-US" sz="2800" dirty="0">
                <a:latin typeface="Arial" charset="0"/>
                <a:ea typeface="ＭＳ Ｐゴシック" charset="0"/>
              </a:rPr>
              <a:t> orbitals are degenerate orbitals.</a:t>
            </a:r>
          </a:p>
        </p:txBody>
      </p:sp>
      <p:pic>
        <p:nvPicPr>
          <p:cNvPr id="2" name="Picture 1" descr="09_42_Figure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3"/>
          <a:stretch/>
        </p:blipFill>
        <p:spPr>
          <a:xfrm>
            <a:off x="1177230" y="946150"/>
            <a:ext cx="6747570" cy="29654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2954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MO Diagrams for Diatomic Molecules of 2</a:t>
            </a:r>
            <a:r>
              <a:rPr lang="en-US" baseline="30000">
                <a:latin typeface="Arial" charset="0"/>
                <a:ea typeface="ＭＳ Ｐゴシック" charset="0"/>
              </a:rPr>
              <a:t>nd</a:t>
            </a:r>
            <a:r>
              <a:rPr lang="en-US">
                <a:latin typeface="Arial" charset="0"/>
                <a:ea typeface="ＭＳ Ｐゴシック" charset="0"/>
              </a:rPr>
              <a:t> Period Elements</a:t>
            </a:r>
          </a:p>
        </p:txBody>
      </p:sp>
      <p:pic>
        <p:nvPicPr>
          <p:cNvPr id="2" name="Picture 1" descr="09_43_Figure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36"/>
          <a:stretch/>
        </p:blipFill>
        <p:spPr>
          <a:xfrm>
            <a:off x="304800" y="1538224"/>
            <a:ext cx="8534400" cy="413867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620000" cy="11430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</a:rPr>
              <a:t>MO Diagrams and Magnetism</a:t>
            </a:r>
          </a:p>
        </p:txBody>
      </p:sp>
      <p:sp>
        <p:nvSpPr>
          <p:cNvPr id="83970" name="Content Placeholder 2"/>
          <p:cNvSpPr>
            <a:spLocks noGrp="1"/>
          </p:cNvSpPr>
          <p:nvPr>
            <p:ph idx="1"/>
          </p:nvPr>
        </p:nvSpPr>
        <p:spPr>
          <a:xfrm>
            <a:off x="304800" y="1104900"/>
            <a:ext cx="8610600" cy="5448300"/>
          </a:xfrm>
        </p:spPr>
        <p:txBody>
          <a:bodyPr/>
          <a:lstStyle/>
          <a:p>
            <a:r>
              <a:rPr lang="en-US" b="1" dirty="0">
                <a:latin typeface="Arial" charset="0"/>
                <a:ea typeface="ＭＳ Ｐゴシック" charset="0"/>
              </a:rPr>
              <a:t>Diamagnetism</a:t>
            </a:r>
            <a:r>
              <a:rPr lang="en-US" dirty="0">
                <a:latin typeface="Arial" charset="0"/>
                <a:ea typeface="ＭＳ Ｐゴシック" charset="0"/>
              </a:rPr>
              <a:t> is the result of all electrons in every orbital being spin paired. These substances are weakly repelled by a magnetic field.</a:t>
            </a:r>
          </a:p>
          <a:p>
            <a:r>
              <a:rPr lang="en-US" b="1" dirty="0" err="1">
                <a:latin typeface="Arial" charset="0"/>
                <a:ea typeface="ＭＳ Ｐゴシック" charset="0"/>
              </a:rPr>
              <a:t>Paramagnetism</a:t>
            </a:r>
            <a:r>
              <a:rPr lang="en-US" dirty="0">
                <a:latin typeface="Arial" charset="0"/>
                <a:ea typeface="ＭＳ Ｐゴシック" charset="0"/>
              </a:rPr>
              <a:t> is the result of the presence of one or more unpaired electrons in an orbital.</a:t>
            </a:r>
          </a:p>
          <a:p>
            <a:r>
              <a:rPr lang="en-US" dirty="0">
                <a:latin typeface="Arial" charset="0"/>
                <a:ea typeface="ＭＳ Ｐゴシック" charset="0"/>
              </a:rPr>
              <a:t>Is oxygen (O</a:t>
            </a:r>
            <a:r>
              <a:rPr lang="en-US" baseline="-25000" dirty="0">
                <a:latin typeface="Arial" charset="0"/>
                <a:ea typeface="ＭＳ Ｐゴシック" charset="0"/>
              </a:rPr>
              <a:t>2</a:t>
            </a:r>
            <a:r>
              <a:rPr lang="en-US" dirty="0">
                <a:latin typeface="Arial" charset="0"/>
                <a:ea typeface="ＭＳ Ｐゴシック" charset="0"/>
              </a:rPr>
              <a:t>) paramagnetic or diamagnetic? Look back at  the MO </a:t>
            </a:r>
            <a:r>
              <a:rPr lang="en-US" dirty="0" smtClean="0">
                <a:latin typeface="Arial" charset="0"/>
                <a:ea typeface="ＭＳ Ｐゴシック" charset="0"/>
              </a:rPr>
              <a:t/>
            </a:r>
            <a:br>
              <a:rPr lang="en-US" dirty="0" smtClean="0">
                <a:latin typeface="Arial" charset="0"/>
                <a:ea typeface="ＭＳ Ｐゴシック" charset="0"/>
              </a:rPr>
            </a:br>
            <a:r>
              <a:rPr lang="en-US" dirty="0" smtClean="0">
                <a:latin typeface="Arial" charset="0"/>
                <a:ea typeface="ＭＳ Ｐゴシック" charset="0"/>
              </a:rPr>
              <a:t>diagram</a:t>
            </a:r>
            <a:r>
              <a:rPr lang="en-US" dirty="0">
                <a:latin typeface="Arial" charset="0"/>
                <a:ea typeface="ＭＳ Ｐゴシック" charset="0"/>
              </a:rPr>
              <a:t>! It is paramagnetic.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r>
              <a:rPr lang="en-US">
                <a:latin typeface="Arial" charset="0"/>
                <a:ea typeface="ＭＳ Ｐゴシック" charset="0"/>
              </a:rPr>
              <a:t>Heteronuclear Diatomic Molecules</a:t>
            </a:r>
          </a:p>
        </p:txBody>
      </p:sp>
      <p:sp>
        <p:nvSpPr>
          <p:cNvPr id="86018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5791200" cy="5029200"/>
          </a:xfrm>
        </p:spPr>
        <p:txBody>
          <a:bodyPr/>
          <a:lstStyle/>
          <a:p>
            <a:r>
              <a:rPr lang="en-US" sz="2800" dirty="0">
                <a:latin typeface="Arial" charset="0"/>
                <a:ea typeface="ＭＳ Ｐゴシック" charset="0"/>
              </a:rPr>
              <a:t>Diatomic molecules can consist of atoms from different elements.</a:t>
            </a:r>
          </a:p>
          <a:p>
            <a:r>
              <a:rPr lang="en-US" sz="2800" dirty="0">
                <a:latin typeface="Arial" charset="0"/>
                <a:ea typeface="ＭＳ Ｐゴシック" charset="0"/>
              </a:rPr>
              <a:t>How does a MO diagram reflect differences?</a:t>
            </a:r>
          </a:p>
          <a:p>
            <a:r>
              <a:rPr lang="en-US" sz="2800" dirty="0">
                <a:latin typeface="Arial" charset="0"/>
                <a:ea typeface="ＭＳ Ｐゴシック" charset="0"/>
              </a:rPr>
              <a:t>The atomic orbitals have different energy, so the interactions change slightly.</a:t>
            </a:r>
          </a:p>
          <a:p>
            <a:r>
              <a:rPr lang="en-US" sz="2800" dirty="0">
                <a:latin typeface="Arial" charset="0"/>
                <a:ea typeface="ＭＳ Ｐゴシック" charset="0"/>
              </a:rPr>
              <a:t>The more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electronegative</a:t>
            </a:r>
            <a:r>
              <a:rPr lang="en-US" sz="2800" dirty="0">
                <a:latin typeface="Arial" charset="0"/>
                <a:ea typeface="ＭＳ Ｐゴシック" charset="0"/>
              </a:rPr>
              <a:t> atom has orbitals lower in energy, so the bonding orbitals will more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resemble</a:t>
            </a:r>
            <a:r>
              <a:rPr lang="en-US" sz="2800" dirty="0">
                <a:latin typeface="Arial" charset="0"/>
                <a:ea typeface="ＭＳ Ｐゴシック" charset="0"/>
              </a:rPr>
              <a:t> them in energy.</a:t>
            </a:r>
          </a:p>
        </p:txBody>
      </p:sp>
      <p:pic>
        <p:nvPicPr>
          <p:cNvPr id="2" name="Picture 1" descr="09_46_Figure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1"/>
          <a:stretch/>
        </p:blipFill>
        <p:spPr>
          <a:xfrm>
            <a:off x="5791200" y="1257300"/>
            <a:ext cx="3197225" cy="42291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4044</TotalTime>
  <Words>1937</Words>
  <Application>Microsoft Office PowerPoint</Application>
  <PresentationFormat>On-screen Show (4:3)</PresentationFormat>
  <Paragraphs>240</Paragraphs>
  <Slides>49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Lucida Grande</vt:lpstr>
      <vt:lpstr>ＭＳ Ｐゴシック</vt:lpstr>
      <vt:lpstr>Arial</vt:lpstr>
      <vt:lpstr>Symbol</vt:lpstr>
      <vt:lpstr>Times New Roman</vt:lpstr>
      <vt:lpstr>Wingdings</vt:lpstr>
      <vt:lpstr>Blank Presentation</vt:lpstr>
      <vt:lpstr>Custom Design</vt:lpstr>
      <vt:lpstr>PowerPoint Presentation</vt:lpstr>
      <vt:lpstr>Molecular Shapes</vt:lpstr>
      <vt:lpstr>What Determines the  Shape of a Molecule?</vt:lpstr>
      <vt:lpstr>Electron Domains</vt:lpstr>
      <vt:lpstr>Valence-Shell Electron-Pair Repulsion (VSEPR) Model</vt:lpstr>
      <vt:lpstr>Electron-Domain Geometries</vt:lpstr>
      <vt:lpstr>Molecular Geometries</vt:lpstr>
      <vt:lpstr>Linear Electron Domain</vt:lpstr>
      <vt:lpstr>Trigonal Planar Electron Domain</vt:lpstr>
      <vt:lpstr>Tetrahedral Electron Domain</vt:lpstr>
      <vt:lpstr>Nonbonding Pairs and Bond Angle</vt:lpstr>
      <vt:lpstr>Multiple Bonds and Bond Angles</vt:lpstr>
      <vt:lpstr>Expanding beyond the Octet Rule</vt:lpstr>
      <vt:lpstr>Trigonal Bipyramidal Electron Domain</vt:lpstr>
      <vt:lpstr>Trigonal Bipyramidal  Electron Domain</vt:lpstr>
      <vt:lpstr>Octahedral Electron Domain</vt:lpstr>
      <vt:lpstr>Shapes of Larger Molecules</vt:lpstr>
      <vt:lpstr>Polarity of Molecules</vt:lpstr>
      <vt:lpstr>Comparison of the Polarity of Two Molecules</vt:lpstr>
      <vt:lpstr>Valence-Bond Theory</vt:lpstr>
      <vt:lpstr>Overlap and Bonding</vt:lpstr>
      <vt:lpstr>VSEPR and Hybrid Orbitals</vt:lpstr>
      <vt:lpstr>Hybrid Orbitals</vt:lpstr>
      <vt:lpstr>Be—sp hybridization</vt:lpstr>
      <vt:lpstr>sp Orbitals</vt:lpstr>
      <vt:lpstr>Position of sp Orbitals</vt:lpstr>
      <vt:lpstr>Boron—Three Electron Domains Gives sp2 Hybridization</vt:lpstr>
      <vt:lpstr>Carbon: sp3 Hybridization</vt:lpstr>
      <vt:lpstr>Hybrid Orbital Summary</vt:lpstr>
      <vt:lpstr>What Happens with Water?</vt:lpstr>
      <vt:lpstr>Hypervalent Molecules</vt:lpstr>
      <vt:lpstr>Types of Bonds</vt:lpstr>
      <vt:lpstr>Sigma () and Pi () Bonds</vt:lpstr>
      <vt:lpstr>Bonding in Molecules</vt:lpstr>
      <vt:lpstr>Benzene</vt:lpstr>
      <vt:lpstr>Localized or Delocalized Electrons</vt:lpstr>
      <vt:lpstr>Another example: Paramagnetism of Oxygen</vt:lpstr>
      <vt:lpstr>Valence-Bond Theory</vt:lpstr>
      <vt:lpstr>Molecular Orbital (MO) Theory</vt:lpstr>
      <vt:lpstr>Molecular Orbital (MO) Theory</vt:lpstr>
      <vt:lpstr>More on MO Theory</vt:lpstr>
      <vt:lpstr>MO Diagram</vt:lpstr>
      <vt:lpstr>Can He2 Form? Use MO Diagram and Bond Order to Decide!</vt:lpstr>
      <vt:lpstr>s and p Orbitals Can Interact</vt:lpstr>
      <vt:lpstr>MO Theory</vt:lpstr>
      <vt:lpstr>s and p Orbital Interactions</vt:lpstr>
      <vt:lpstr>MO Diagrams for Diatomic Molecules of 2nd Period Elements</vt:lpstr>
      <vt:lpstr>MO Diagrams and Magnetism</vt:lpstr>
      <vt:lpstr>Heteronuclear Diatomic Molecules</vt:lpstr>
    </vt:vector>
  </TitlesOfParts>
  <Company>John Bookstaver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 Molecular Geometries and Bonding Theories</dc:title>
  <dc:creator>John Bookstaver</dc:creator>
  <cp:lastModifiedBy>zhiping</cp:lastModifiedBy>
  <cp:revision>306</cp:revision>
  <dcterms:created xsi:type="dcterms:W3CDTF">2005-03-07T02:11:13Z</dcterms:created>
  <dcterms:modified xsi:type="dcterms:W3CDTF">2017-11-09T05:32:11Z</dcterms:modified>
</cp:coreProperties>
</file>