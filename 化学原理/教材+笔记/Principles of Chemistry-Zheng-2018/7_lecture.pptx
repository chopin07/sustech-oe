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43"/>
  </p:notesMasterIdLst>
  <p:sldIdLst>
    <p:sldId id="309" r:id="rId3"/>
    <p:sldId id="258" r:id="rId4"/>
    <p:sldId id="259" r:id="rId5"/>
    <p:sldId id="310" r:id="rId6"/>
    <p:sldId id="261" r:id="rId7"/>
    <p:sldId id="260" r:id="rId8"/>
    <p:sldId id="262" r:id="rId9"/>
    <p:sldId id="311" r:id="rId10"/>
    <p:sldId id="263" r:id="rId11"/>
    <p:sldId id="264" r:id="rId12"/>
    <p:sldId id="265" r:id="rId13"/>
    <p:sldId id="307" r:id="rId14"/>
    <p:sldId id="269" r:id="rId15"/>
    <p:sldId id="270" r:id="rId16"/>
    <p:sldId id="271" r:id="rId17"/>
    <p:sldId id="312" r:id="rId18"/>
    <p:sldId id="313" r:id="rId19"/>
    <p:sldId id="314" r:id="rId20"/>
    <p:sldId id="315" r:id="rId21"/>
    <p:sldId id="278" r:id="rId22"/>
    <p:sldId id="316" r:id="rId23"/>
    <p:sldId id="283" r:id="rId24"/>
    <p:sldId id="285" r:id="rId25"/>
    <p:sldId id="286" r:id="rId26"/>
    <p:sldId id="287" r:id="rId27"/>
    <p:sldId id="288" r:id="rId28"/>
    <p:sldId id="289" r:id="rId29"/>
    <p:sldId id="284" r:id="rId30"/>
    <p:sldId id="290" r:id="rId31"/>
    <p:sldId id="317" r:id="rId32"/>
    <p:sldId id="292" r:id="rId33"/>
    <p:sldId id="293" r:id="rId34"/>
    <p:sldId id="294" r:id="rId35"/>
    <p:sldId id="295" r:id="rId36"/>
    <p:sldId id="318" r:id="rId37"/>
    <p:sldId id="296" r:id="rId38"/>
    <p:sldId id="297" r:id="rId39"/>
    <p:sldId id="298" r:id="rId40"/>
    <p:sldId id="301" r:id="rId41"/>
    <p:sldId id="303" r:id="rId42"/>
  </p:sldIdLst>
  <p:sldSz cx="9144000" cy="6858000" type="screen4x3"/>
  <p:notesSz cx="6858000" cy="9144000"/>
  <p:custDataLst>
    <p:tags r:id="rId4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80"/>
    <a:srgbClr val="007CB2"/>
    <a:srgbClr val="F4DBD5"/>
    <a:srgbClr val="F4F4F4"/>
    <a:srgbClr val="C86C77"/>
    <a:srgbClr val="001996"/>
    <a:srgbClr val="C82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994" autoAdjust="0"/>
    <p:restoredTop sz="93677" autoAdjust="0"/>
  </p:normalViewPr>
  <p:slideViewPr>
    <p:cSldViewPr>
      <p:cViewPr varScale="1">
        <p:scale>
          <a:sx n="60" d="100"/>
          <a:sy n="60" d="100"/>
        </p:scale>
        <p:origin x="-1589" y="-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</a:defRPr>
            </a:lvl1pPr>
          </a:lstStyle>
          <a:p>
            <a:pPr>
              <a:defRPr/>
            </a:pPr>
            <a:fld id="{B63490EF-B436-4E17-B468-7053E97ACF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1544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6E55102F-713C-4291-9E11-32DCC8B0CE06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7003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43590E6F-FEC7-444E-9B74-7156668751A5}" type="slidenum">
              <a:rPr lang="en-US" altLang="en-US" sz="1200" smtClean="0"/>
              <a:pPr/>
              <a:t>3</a:t>
            </a:fld>
            <a:endParaRPr lang="en-US" altLang="en-US" sz="1200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6745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56737DD4-144A-4EB3-974E-F8C8E513771D}" type="slidenum">
              <a:rPr lang="en-US" altLang="en-US" sz="1200" smtClean="0"/>
              <a:pPr/>
              <a:t>5</a:t>
            </a:fld>
            <a:endParaRPr lang="en-US" altLang="en-US" sz="1200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6177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17C6AEC-FA97-4A0C-8B6F-2CDBB21AAE22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2673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FA4CF66-7B61-41BF-AC0B-0B149FC15934}" type="slidenum">
              <a:rPr lang="en-US" altLang="en-US" sz="1200" smtClean="0"/>
              <a:pPr/>
              <a:t>7</a:t>
            </a:fld>
            <a:endParaRPr lang="en-US" altLang="en-US" sz="1200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6283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C0132FC8-83B1-4B81-9A1C-9FADBEF29A00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7053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500D8681-AC61-4AA6-8105-6E8C265C2A44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8710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B4772459-6B87-4295-B283-725DBCDEA21F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4069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698DD2F9-CFBA-4953-9472-207345AFA1BE}" type="slidenum">
              <a:rPr lang="en-US" altLang="en-US" sz="1200" smtClean="0"/>
              <a:pPr/>
              <a:t>12</a:t>
            </a:fld>
            <a:endParaRPr lang="en-US" altLang="en-US" sz="1200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1048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69407C55-3B15-47B7-92BF-65D81E1DBCB5}" type="slidenum">
              <a:rPr lang="en-US" altLang="en-US" sz="1200" smtClean="0"/>
              <a:pPr/>
              <a:t>13</a:t>
            </a:fld>
            <a:endParaRPr lang="en-US" altLang="en-US" sz="1200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8062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5A32D4A8-616C-44AC-AF77-A4763CC40F87}" type="slidenum">
              <a:rPr lang="en-US" altLang="en-US" sz="1200" smtClean="0"/>
              <a:pPr/>
              <a:t>14</a:t>
            </a:fld>
            <a:endParaRPr lang="en-US" altLang="en-US" sz="1200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5332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645C1EA-AE33-4EB8-8AA5-A8204DB03F1A}" type="slidenum">
              <a:rPr lang="en-US" altLang="en-US" sz="1200" smtClean="0"/>
              <a:pPr/>
              <a:t>15</a:t>
            </a:fld>
            <a:endParaRPr lang="en-US" altLang="en-US" sz="1200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13038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24999B71-0D32-4986-BF9E-B2F2C7B8B127}" type="slidenum">
              <a:rPr lang="en-US" altLang="en-US" sz="1200" smtClean="0"/>
              <a:pPr/>
              <a:t>20</a:t>
            </a:fld>
            <a:endParaRPr lang="en-US" altLang="en-US" sz="120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8319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73276C3D-B54B-4B80-8FCE-969C21352B1F}" type="slidenum">
              <a:rPr lang="en-US" altLang="en-US" sz="1200" smtClean="0"/>
              <a:pPr/>
              <a:t>22</a:t>
            </a:fld>
            <a:endParaRPr lang="en-US" altLang="en-US" sz="1200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6952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6656EE90-051C-4387-ACB7-3ADB4424D76A}" type="slidenum">
              <a:rPr lang="en-US" altLang="en-US" sz="1200" smtClean="0"/>
              <a:pPr/>
              <a:t>23</a:t>
            </a:fld>
            <a:endParaRPr lang="en-US" altLang="en-US" sz="1200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66672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3A9824D0-0107-4512-BB25-CAA0A88EA289}" type="slidenum">
              <a:rPr lang="en-US" altLang="en-US" sz="1200" smtClean="0"/>
              <a:pPr/>
              <a:t>24</a:t>
            </a:fld>
            <a:endParaRPr lang="en-US" altLang="en-US" sz="120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4719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5187813-0395-4B44-BBA4-E1CA173692BB}" type="slidenum">
              <a:rPr lang="en-US" altLang="en-US" sz="1200" smtClean="0"/>
              <a:pPr/>
              <a:t>25</a:t>
            </a:fld>
            <a:endParaRPr lang="en-US" altLang="en-US" sz="1200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4171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1C6313BE-5B39-4B4A-A30F-AD643C6CE6FB}" type="slidenum">
              <a:rPr lang="en-US" altLang="en-US" sz="1200" smtClean="0"/>
              <a:pPr/>
              <a:t>26</a:t>
            </a:fld>
            <a:endParaRPr lang="en-US" altLang="en-US" sz="120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30367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09DC22E9-0688-46AE-A2B2-DAB3FDB28DD5}" type="slidenum">
              <a:rPr lang="en-US" altLang="en-US" sz="1200" smtClean="0"/>
              <a:pPr/>
              <a:t>27</a:t>
            </a:fld>
            <a:endParaRPr lang="en-US" altLang="en-US" sz="1200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0725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F2FB3F13-539D-47D0-A0B3-F4D570128943}" type="slidenum">
              <a:rPr lang="en-US" altLang="en-US" sz="1200" smtClean="0"/>
              <a:pPr/>
              <a:t>28</a:t>
            </a:fld>
            <a:endParaRPr lang="en-US" altLang="en-US" sz="1200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56250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219796EC-F2E6-4D66-A51D-D5C1E9764719}" type="slidenum">
              <a:rPr lang="en-US" altLang="en-US" sz="1200" smtClean="0"/>
              <a:pPr/>
              <a:t>29</a:t>
            </a:fld>
            <a:endParaRPr lang="en-US" altLang="en-US" sz="1200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40792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94BBA54-6A48-4DE2-A892-613B6218ADA8}" type="slidenum">
              <a:rPr lang="en-US" altLang="en-US" sz="1200" smtClean="0"/>
              <a:pPr/>
              <a:t>31</a:t>
            </a:fld>
            <a:endParaRPr lang="en-US" altLang="en-US" sz="1200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544845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658DCAB1-B163-4D32-85A9-F0A616BC6C78}" type="slidenum">
              <a:rPr lang="en-US" altLang="en-US" sz="1200" smtClean="0"/>
              <a:pPr/>
              <a:t>32</a:t>
            </a:fld>
            <a:endParaRPr lang="en-US" altLang="en-US" sz="1200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64843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C312407-2009-412F-BF96-D6398479D97D}" type="slidenum">
              <a:rPr lang="en-US" altLang="en-US" sz="1200" smtClean="0"/>
              <a:pPr/>
              <a:t>33</a:t>
            </a:fld>
            <a:endParaRPr lang="en-US" altLang="en-US" sz="120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12974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F5E5A45F-37A2-4CB6-8848-F3EC2F481DB1}" type="slidenum">
              <a:rPr lang="en-US" altLang="en-US" sz="1200" smtClean="0"/>
              <a:pPr/>
              <a:t>34</a:t>
            </a:fld>
            <a:endParaRPr lang="en-US" altLang="en-US" sz="1200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4976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417EE809-6BB6-4932-920D-F28460A9E661}" type="slidenum">
              <a:rPr lang="en-US" altLang="en-US" sz="1200" smtClean="0"/>
              <a:pPr/>
              <a:t>36</a:t>
            </a:fld>
            <a:endParaRPr lang="en-US" altLang="en-US" sz="120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87716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B93E1D51-1E0C-4EA3-80EF-A82BA115D131}" type="slidenum">
              <a:rPr lang="en-US" altLang="en-US" sz="1200" smtClean="0"/>
              <a:pPr/>
              <a:t>37</a:t>
            </a:fld>
            <a:endParaRPr lang="en-US" altLang="en-US" sz="1200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00713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C9A99F24-2350-4311-9BD1-D9679EB880C4}" type="slidenum">
              <a:rPr lang="en-US" altLang="en-US" sz="1200" smtClean="0"/>
              <a:pPr/>
              <a:t>38</a:t>
            </a:fld>
            <a:endParaRPr lang="en-US" altLang="en-US" sz="1200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83159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ED6F400B-A4F7-41E8-A3E1-538BCFE54B06}" type="slidenum">
              <a:rPr lang="en-US" altLang="en-US" sz="1200" smtClean="0"/>
              <a:pPr/>
              <a:t>39</a:t>
            </a:fld>
            <a:endParaRPr lang="en-US" altLang="en-US" sz="1200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00272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CAC130C3-5297-4510-9591-C8490F68FA6E}" type="slidenum">
              <a:rPr lang="en-US" altLang="en-US" sz="1200" smtClean="0"/>
              <a:pPr/>
              <a:t>40</a:t>
            </a:fld>
            <a:endParaRPr lang="en-US" altLang="en-US" sz="1200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9359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90632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05749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7312135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3426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93508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1510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0442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0527643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7383356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6858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56270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16457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99683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600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85800" y="3733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68139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00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733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90398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733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33005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26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90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0189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508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96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31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2552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3536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5716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071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75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grpSp>
        <p:nvGrpSpPr>
          <p:cNvPr id="1028" name="Group 11"/>
          <p:cNvGrpSpPr>
            <a:grpSpLocks/>
          </p:cNvGrpSpPr>
          <p:nvPr userDrawn="1"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30" name="Picture 10" descr="Triangle--Gray"/>
            <p:cNvPicPr>
              <a:picLocks noChangeAspect="1" noChangeArrowheads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1" name="Rectangle 8"/>
            <p:cNvSpPr>
              <a:spLocks noChangeArrowheads="1"/>
            </p:cNvSpPr>
            <p:nvPr userDrawn="1"/>
          </p:nvSpPr>
          <p:spPr bwMode="auto">
            <a:xfrm>
              <a:off x="5078" y="3630"/>
              <a:ext cx="570" cy="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defRPr/>
              </a:pPr>
              <a:r>
                <a:rPr lang="en-US" altLang="en-US" sz="1400" smtClean="0">
                  <a:latin typeface="Times New Roman" pitchFamily="18" charset="0"/>
                </a:rPr>
                <a:t>Periodic</a:t>
              </a:r>
            </a:p>
            <a:p>
              <a:pPr algn="ctr">
                <a:defRPr/>
              </a:pPr>
              <a:r>
                <a:rPr lang="en-US" altLang="en-US" sz="1400" smtClean="0">
                  <a:latin typeface="Times New Roman" pitchFamily="18" charset="0"/>
                </a:rPr>
                <a:t>Properties</a:t>
              </a:r>
            </a:p>
            <a:p>
              <a:pPr algn="ctr">
                <a:defRPr/>
              </a:pPr>
              <a:r>
                <a:rPr lang="en-US" altLang="en-US" sz="1400" smtClean="0">
                  <a:latin typeface="Times New Roman" pitchFamily="18" charset="0"/>
                </a:rPr>
                <a:t>of the </a:t>
              </a:r>
            </a:p>
            <a:p>
              <a:pPr algn="ctr">
                <a:defRPr/>
              </a:pPr>
              <a:r>
                <a:rPr lang="en-US" altLang="en-US" sz="1400" smtClean="0">
                  <a:latin typeface="Times New Roman" pitchFamily="18" charset="0"/>
                </a:rPr>
                <a:t>Elements</a:t>
              </a:r>
            </a:p>
          </p:txBody>
        </p:sp>
      </p:grpSp>
      <p:sp>
        <p:nvSpPr>
          <p:cNvPr id="8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sp>
        <p:nvSpPr>
          <p:cNvPr id="2052" name="Text Box 7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00" smtClean="0">
                <a:solidFill>
                  <a:srgbClr val="73738C"/>
                </a:solidFill>
              </a:rPr>
              <a:t>© 2015 Pearson Education, Inc.</a:t>
            </a:r>
            <a:endParaRPr lang="en-US" altLang="en-US" b="1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eaLnBrk="1" hangingPunct="1">
              <a:defRPr/>
            </a:pPr>
            <a:endParaRPr lang="en-US">
              <a:ea typeface="+mn-ea"/>
            </a:endParaRPr>
          </a:p>
        </p:txBody>
      </p:sp>
      <p:sp>
        <p:nvSpPr>
          <p:cNvPr id="3076" name="Subtitle 2"/>
          <p:cNvSpPr>
            <a:spLocks/>
          </p:cNvSpPr>
          <p:nvPr/>
        </p:nvSpPr>
        <p:spPr bwMode="auto">
          <a:xfrm>
            <a:off x="4495800" y="5791200"/>
            <a:ext cx="4572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en-US" sz="1800">
                <a:solidFill>
                  <a:srgbClr val="0D0D0D"/>
                </a:solidFill>
              </a:rPr>
              <a:t>James F. Kirby</a:t>
            </a:r>
          </a:p>
          <a:p>
            <a:pPr algn="ctr" eaLnBrk="1" hangingPunct="1"/>
            <a:r>
              <a:rPr lang="en-US" altLang="en-US" sz="1800">
                <a:solidFill>
                  <a:srgbClr val="0D0D0D"/>
                </a:solidFill>
              </a:rPr>
              <a:t>Quinnipiac University</a:t>
            </a:r>
          </a:p>
          <a:p>
            <a:pPr algn="ctr" eaLnBrk="1" hangingPunct="1"/>
            <a:r>
              <a:rPr lang="en-US" altLang="en-US" sz="1800">
                <a:solidFill>
                  <a:srgbClr val="0D0D0D"/>
                </a:solidFill>
              </a:rPr>
              <a:t>Hamden, CT</a:t>
            </a:r>
          </a:p>
        </p:txBody>
      </p:sp>
      <p:sp>
        <p:nvSpPr>
          <p:cNvPr id="3077" name="Rectangle 8"/>
          <p:cNvSpPr>
            <a:spLocks noChangeArrowheads="1"/>
          </p:cNvSpPr>
          <p:nvPr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2800">
                <a:solidFill>
                  <a:srgbClr val="000000"/>
                </a:solidFill>
                <a:cs typeface="Arial" charset="0"/>
              </a:rPr>
              <a:t>Lecture Presentation</a:t>
            </a:r>
          </a:p>
        </p:txBody>
      </p:sp>
      <p:pic>
        <p:nvPicPr>
          <p:cNvPr id="3078" name="Picture 1" descr="BROW0417_13_eca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4495800" y="1676400"/>
            <a:ext cx="45720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3400" b="1" dirty="0">
                <a:cs typeface="Arial" charset="0"/>
              </a:rPr>
              <a:t>Chapter 7</a:t>
            </a:r>
            <a:br>
              <a:rPr lang="en-US" altLang="en-US" sz="3400" b="1" dirty="0">
                <a:cs typeface="Arial" charset="0"/>
              </a:rPr>
            </a:br>
            <a:r>
              <a:rPr lang="en-US" altLang="en-US" sz="3400" b="1" dirty="0">
                <a:cs typeface="Arial" charset="0"/>
              </a:rPr>
              <a:t/>
            </a:r>
            <a:br>
              <a:rPr lang="en-US" altLang="en-US" sz="3400" b="1" dirty="0">
                <a:cs typeface="Arial" charset="0"/>
              </a:rPr>
            </a:br>
            <a:r>
              <a:rPr lang="en-US" altLang="en-US" sz="3400" b="1" dirty="0">
                <a:cs typeface="Arial" charset="0"/>
              </a:rPr>
              <a:t> Periodic Properties</a:t>
            </a:r>
            <a:br>
              <a:rPr lang="en-US" altLang="en-US" sz="3400" b="1" dirty="0">
                <a:cs typeface="Arial" charset="0"/>
              </a:rPr>
            </a:br>
            <a:r>
              <a:rPr lang="en-US" altLang="en-US" sz="3400" b="1" dirty="0">
                <a:cs typeface="Arial" charset="0"/>
              </a:rPr>
              <a:t>of the Elements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Development of the Periodic Table</a:t>
            </a: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715000" y="1600200"/>
            <a:ext cx="32766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smtClean="0"/>
              <a:t>	Dmitri Mendeleev and Lothar Meyer independently came to the same conclusion about how elements should be grouped.</a:t>
            </a:r>
          </a:p>
        </p:txBody>
      </p:sp>
      <p:pic>
        <p:nvPicPr>
          <p:cNvPr id="4100" name="Picture 5" descr="C:\Documents and Settings\GEX\Desktop\51579 image ppt\Chapter 07\07_01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4976813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Mendeleev and the Periodic Table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4495800"/>
            <a:ext cx="8077200" cy="2057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smtClean="0"/>
              <a:t>	Chemists mostly credit Mendeleev because he also used chemical properties to organize the table and predicted some missing elements and their expected properties, including germanium.</a:t>
            </a:r>
          </a:p>
        </p:txBody>
      </p:sp>
      <p:pic>
        <p:nvPicPr>
          <p:cNvPr id="5124" name="Picture 5" descr="C:\Documents and Settings\GEX\Desktop\51579 image ppt\Chapter 07\07_01_Tab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8" y="1219200"/>
            <a:ext cx="616902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Atomic Number</a:t>
            </a:r>
          </a:p>
        </p:txBody>
      </p:sp>
      <p:sp>
        <p:nvSpPr>
          <p:cNvPr id="6147" name="Content Placeholder 5"/>
          <p:cNvSpPr>
            <a:spLocks noGrp="1"/>
          </p:cNvSpPr>
          <p:nvPr>
            <p:ph idx="1"/>
          </p:nvPr>
        </p:nvSpPr>
        <p:spPr>
          <a:xfrm>
            <a:off x="381000" y="1066800"/>
            <a:ext cx="8458200" cy="4724400"/>
          </a:xfrm>
        </p:spPr>
        <p:txBody>
          <a:bodyPr/>
          <a:lstStyle/>
          <a:p>
            <a:pPr eaLnBrk="1" hangingPunct="1"/>
            <a:r>
              <a:rPr lang="en-US" altLang="en-US" smtClean="0"/>
              <a:t>Mendeleev’s table was based on atomic masses. It was the most fundamental property of elements known at the time.</a:t>
            </a:r>
          </a:p>
          <a:p>
            <a:pPr eaLnBrk="1" hangingPunct="1"/>
            <a:r>
              <a:rPr lang="en-US" altLang="en-US" smtClean="0"/>
              <a:t>About 35 years later, the nuclear atom was discovered by Ernest Rutherford.</a:t>
            </a:r>
          </a:p>
          <a:p>
            <a:pPr eaLnBrk="1" hangingPunct="1"/>
            <a:r>
              <a:rPr lang="en-US" altLang="en-US" smtClean="0"/>
              <a:t>Henry Moseley developed the concept of atomic number experimentally. The  number of protons was considered the basis for the periodic property of elements.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`Periodicity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63638"/>
            <a:ext cx="8686800" cy="5486400"/>
          </a:xfrm>
        </p:spPr>
        <p:txBody>
          <a:bodyPr/>
          <a:lstStyle/>
          <a:p>
            <a:pPr eaLnBrk="1" hangingPunct="1"/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Periodicity is the </a:t>
            </a:r>
            <a:r>
              <a:rPr lang="en-US" altLang="en-US" sz="29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repetitive pattern </a:t>
            </a:r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a property for elements based on atomic number.</a:t>
            </a:r>
          </a:p>
          <a:p>
            <a:pPr eaLnBrk="1" hangingPunct="1"/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properties are discussed in this chapter:</a:t>
            </a:r>
          </a:p>
          <a:p>
            <a:pPr lvl="1" eaLnBrk="1" hangingPunct="1"/>
            <a:r>
              <a:rPr lang="en-US" altLang="en-US" sz="2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Sizes </a:t>
            </a:r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atoms and ions</a:t>
            </a:r>
          </a:p>
          <a:p>
            <a:pPr lvl="1" eaLnBrk="1" hangingPunct="1"/>
            <a:r>
              <a:rPr lang="en-US" altLang="en-US" sz="2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Ionization energy</a:t>
            </a:r>
          </a:p>
          <a:p>
            <a:pPr lvl="1" eaLnBrk="1" hangingPunct="1"/>
            <a:r>
              <a:rPr lang="en-US" altLang="en-US" sz="2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 affinity</a:t>
            </a:r>
          </a:p>
          <a:p>
            <a:pPr lvl="1" eaLnBrk="1" hangingPunct="1"/>
            <a:r>
              <a:rPr lang="en-US" altLang="en-US" sz="2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hemical property </a:t>
            </a:r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</a:p>
          <a:p>
            <a:pPr eaLnBrk="1" hangingPunct="1"/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First, we will discuss a fundamental property that leads to many of the trends, </a:t>
            </a:r>
            <a:r>
              <a:rPr lang="en-US" altLang="en-US" sz="2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nuclear charge</a:t>
            </a:r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81819"/>
            <a:ext cx="9144001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Effective Nuclear Charge</a:t>
            </a: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4191000"/>
            <a:ext cx="8839200" cy="2057400"/>
          </a:xfrm>
        </p:spPr>
        <p:txBody>
          <a:bodyPr/>
          <a:lstStyle/>
          <a:p>
            <a:pPr eaLnBrk="1" hangingPunct="1"/>
            <a:r>
              <a:rPr lang="en-US" altLang="en-US" sz="2200" dirty="0" smtClean="0"/>
              <a:t>Many properties depend on attractions between </a:t>
            </a:r>
            <a:r>
              <a:rPr lang="en-US" altLang="en-US" sz="2200" dirty="0" smtClean="0">
                <a:solidFill>
                  <a:srgbClr val="FF0000"/>
                </a:solidFill>
              </a:rPr>
              <a:t>valence electrons </a:t>
            </a:r>
            <a:r>
              <a:rPr lang="en-US" altLang="en-US" sz="2200" dirty="0" smtClean="0"/>
              <a:t>and the </a:t>
            </a:r>
            <a:r>
              <a:rPr lang="en-US" altLang="en-US" sz="2200" dirty="0" smtClean="0">
                <a:solidFill>
                  <a:srgbClr val="FF0000"/>
                </a:solidFill>
              </a:rPr>
              <a:t>nucleus</a:t>
            </a:r>
            <a:r>
              <a:rPr lang="en-US" altLang="en-US" sz="2200" dirty="0" smtClean="0"/>
              <a:t>.</a:t>
            </a:r>
          </a:p>
          <a:p>
            <a:pPr eaLnBrk="1" hangingPunct="1"/>
            <a:r>
              <a:rPr lang="en-US" altLang="en-US" sz="2200" dirty="0" smtClean="0"/>
              <a:t>Electrons are both </a:t>
            </a:r>
            <a:r>
              <a:rPr lang="en-US" altLang="en-US" sz="2200" dirty="0" smtClean="0">
                <a:solidFill>
                  <a:srgbClr val="FF0000"/>
                </a:solidFill>
              </a:rPr>
              <a:t>attracted</a:t>
            </a:r>
            <a:r>
              <a:rPr lang="en-US" altLang="en-US" sz="2200" dirty="0" smtClean="0"/>
              <a:t> to the nucleus and </a:t>
            </a:r>
            <a:r>
              <a:rPr lang="en-US" altLang="en-US" sz="2200" dirty="0" smtClean="0">
                <a:solidFill>
                  <a:srgbClr val="FF0000"/>
                </a:solidFill>
              </a:rPr>
              <a:t>repelled</a:t>
            </a:r>
            <a:r>
              <a:rPr lang="en-US" altLang="en-US" sz="2200" dirty="0" smtClean="0"/>
              <a:t> by other electrons.</a:t>
            </a:r>
          </a:p>
          <a:p>
            <a:pPr eaLnBrk="1" hangingPunct="1"/>
            <a:r>
              <a:rPr lang="en-US" altLang="en-US" sz="2200" dirty="0" smtClean="0"/>
              <a:t>The forces an electron experiences depend on both factors.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821076"/>
            <a:ext cx="5344072" cy="335785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-30163" y="0"/>
            <a:ext cx="9144001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Effective Nuclear Charge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74637" y="1219200"/>
            <a:ext cx="85344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2800" dirty="0" smtClean="0"/>
              <a:t>The effective nuclear charge, </a:t>
            </a:r>
            <a:r>
              <a:rPr lang="en-US" altLang="en-US" sz="2800" i="1" dirty="0" err="1" smtClean="0"/>
              <a:t>Z</a:t>
            </a:r>
            <a:r>
              <a:rPr lang="en-US" altLang="en-US" sz="2800" baseline="-25000" dirty="0" err="1" smtClean="0"/>
              <a:t>eff</a:t>
            </a:r>
            <a:r>
              <a:rPr lang="en-US" altLang="en-US" sz="2800" dirty="0" smtClean="0"/>
              <a:t>, is found this way:</a:t>
            </a:r>
          </a:p>
          <a:p>
            <a:pPr marL="0" indent="0" algn="ctr" eaLnBrk="1" hangingPunct="1">
              <a:buFontTx/>
              <a:buNone/>
              <a:defRPr/>
            </a:pPr>
            <a:r>
              <a:rPr lang="en-US" altLang="en-US" sz="2800" i="1" dirty="0" err="1" smtClean="0"/>
              <a:t>Z</a:t>
            </a:r>
            <a:r>
              <a:rPr lang="en-US" altLang="en-US" sz="2800" baseline="-25000" dirty="0" err="1" smtClean="0"/>
              <a:t>eff</a:t>
            </a:r>
            <a:r>
              <a:rPr lang="en-US" altLang="en-US" sz="2800" dirty="0" smtClean="0"/>
              <a:t> = </a:t>
            </a:r>
            <a:r>
              <a:rPr lang="en-US" altLang="en-US" sz="2800" i="1" dirty="0" smtClean="0"/>
              <a:t>Z</a:t>
            </a:r>
            <a:r>
              <a:rPr lang="en-US" altLang="en-US" sz="2800" dirty="0" smtClean="0"/>
              <a:t> </a:t>
            </a:r>
            <a:r>
              <a:rPr lang="en-US" altLang="en-US" sz="2800" dirty="0" smtClean="0">
                <a:cs typeface="Arial" charset="0"/>
              </a:rPr>
              <a:t>−</a:t>
            </a:r>
            <a:r>
              <a:rPr lang="en-US" altLang="en-US" sz="2800" dirty="0" smtClean="0"/>
              <a:t> </a:t>
            </a:r>
            <a:r>
              <a:rPr lang="en-US" altLang="en-US" sz="2800" i="1" dirty="0" smtClean="0"/>
              <a:t>S</a:t>
            </a:r>
            <a:endParaRPr lang="en-US" altLang="en-US" sz="2800" dirty="0" smtClean="0"/>
          </a:p>
          <a:p>
            <a:pPr marL="400050" lvl="1" indent="0" eaLnBrk="1" hangingPunct="1">
              <a:buFontTx/>
              <a:buNone/>
              <a:defRPr/>
            </a:pPr>
            <a:r>
              <a:rPr lang="en-US" altLang="en-US" dirty="0" smtClean="0"/>
              <a:t>where </a:t>
            </a:r>
            <a:r>
              <a:rPr lang="en-US" altLang="en-US" i="1" dirty="0" smtClean="0"/>
              <a:t>Z</a:t>
            </a:r>
            <a:r>
              <a:rPr lang="en-US" altLang="en-US" dirty="0" smtClean="0"/>
              <a:t> is the atomic number and </a:t>
            </a:r>
            <a:r>
              <a:rPr lang="en-US" altLang="en-US" i="1" dirty="0" smtClean="0"/>
              <a:t>S</a:t>
            </a:r>
            <a:r>
              <a:rPr lang="en-US" altLang="en-US" dirty="0" smtClean="0"/>
              <a:t> is a </a:t>
            </a:r>
            <a:r>
              <a:rPr lang="en-US" altLang="en-US" dirty="0" smtClean="0">
                <a:solidFill>
                  <a:srgbClr val="FF0000"/>
                </a:solidFill>
              </a:rPr>
              <a:t>screening constant</a:t>
            </a:r>
            <a:r>
              <a:rPr lang="en-US" altLang="en-US" dirty="0" smtClean="0"/>
              <a:t>, usually close to the number of inner electrons.</a:t>
            </a:r>
          </a:p>
          <a:p>
            <a:pPr marL="457200" indent="-457200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2800" dirty="0" smtClean="0"/>
              <a:t>Effective nuclear charge is a periodic property:</a:t>
            </a:r>
          </a:p>
          <a:p>
            <a:pPr marL="857250" lvl="1" indent="-457200" eaLnBrk="1" hangingPunct="1">
              <a:buFont typeface="Courier New" panose="02070309020205020404" pitchFamily="49" charset="0"/>
              <a:buChar char="o"/>
              <a:defRPr/>
            </a:pPr>
            <a:r>
              <a:rPr lang="en-US" altLang="en-US" dirty="0" smtClean="0"/>
              <a:t>It </a:t>
            </a:r>
            <a:r>
              <a:rPr lang="en-US" altLang="en-US" dirty="0" smtClean="0">
                <a:solidFill>
                  <a:srgbClr val="FF0000"/>
                </a:solidFill>
              </a:rPr>
              <a:t>increases</a:t>
            </a:r>
            <a:r>
              <a:rPr lang="en-US" altLang="en-US" dirty="0" smtClean="0"/>
              <a:t> across a period.</a:t>
            </a:r>
          </a:p>
          <a:p>
            <a:pPr marL="857250" lvl="1" indent="-457200" eaLnBrk="1" hangingPunct="1">
              <a:buFont typeface="Courier New" panose="02070309020205020404" pitchFamily="49" charset="0"/>
              <a:buChar char="o"/>
              <a:defRPr/>
            </a:pPr>
            <a:r>
              <a:rPr lang="en-US" altLang="en-US" dirty="0" smtClean="0"/>
              <a:t>It </a:t>
            </a:r>
            <a:r>
              <a:rPr lang="en-US" altLang="zh-CN" dirty="0">
                <a:solidFill>
                  <a:srgbClr val="0000FF"/>
                </a:solidFill>
              </a:rPr>
              <a:t>in</a:t>
            </a:r>
            <a:r>
              <a:rPr lang="en-US" altLang="en-US" dirty="0" smtClean="0">
                <a:solidFill>
                  <a:srgbClr val="FF0000"/>
                </a:solidFill>
              </a:rPr>
              <a:t>creases</a:t>
            </a:r>
            <a:r>
              <a:rPr lang="en-US" altLang="en-US" dirty="0" smtClean="0"/>
              <a:t> (to a less extent) down a group.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4"/>
          <p:cNvSpPr>
            <a:spLocks noGrp="1"/>
          </p:cNvSpPr>
          <p:nvPr>
            <p:ph type="title"/>
          </p:nvPr>
        </p:nvSpPr>
        <p:spPr>
          <a:xfrm>
            <a:off x="27972" y="20256"/>
            <a:ext cx="8915400" cy="12954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Effective Nuclear Charge Increases </a:t>
            </a:r>
            <a:br>
              <a:rPr lang="en-US" altLang="en-US" sz="3200" b="1" dirty="0" smtClean="0"/>
            </a:br>
            <a:r>
              <a:rPr lang="en-US" altLang="en-US" sz="3200" b="1" dirty="0" smtClean="0"/>
              <a:t>across a Period</a:t>
            </a:r>
          </a:p>
        </p:txBody>
      </p:sp>
      <p:pic>
        <p:nvPicPr>
          <p:cNvPr id="10243" name="Picture 4" descr="C:\Documents and Settings\GEX\Desktop\51579 image ppt\Chapter 07\07_05_Figur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447800"/>
            <a:ext cx="4343400" cy="4765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 bwMode="auto">
          <a:xfrm>
            <a:off x="3581400" y="1981200"/>
            <a:ext cx="9906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 bwMode="auto">
          <a:xfrm>
            <a:off x="3657600" y="2362200"/>
            <a:ext cx="9906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648200" y="2209800"/>
            <a:ext cx="4343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Slater’s Rule:</a:t>
            </a:r>
          </a:p>
          <a:p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CN" sz="2000" u="sng" dirty="0" smtClean="0">
                <a:latin typeface="Times New Roman" pitchFamily="18" charset="0"/>
                <a:cs typeface="Times New Roman" pitchFamily="18" charset="0"/>
              </a:rPr>
              <a:t>screening constant </a:t>
            </a:r>
            <a:r>
              <a:rPr lang="en-US" altLang="zh-CN" sz="2000" i="1" u="sng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of an electron is dependent on its location with respect to the electron of interest. </a:t>
            </a:r>
          </a:p>
          <a:p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0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= 0.35 (0.30 for 1</a:t>
            </a:r>
            <a:r>
              <a:rPr lang="en-US" altLang="zh-CN" sz="20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electrons)</a:t>
            </a:r>
          </a:p>
          <a:p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-1	</a:t>
            </a:r>
            <a:r>
              <a:rPr lang="en-US" altLang="zh-CN" sz="20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= 0.85</a:t>
            </a:r>
          </a:p>
          <a:p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-2	</a:t>
            </a:r>
            <a:r>
              <a:rPr lang="en-US" altLang="zh-CN" sz="20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= 1</a:t>
            </a:r>
            <a:endParaRPr lang="en-US" altLang="zh-CN" dirty="0"/>
          </a:p>
        </p:txBody>
      </p:sp>
      <p:cxnSp>
        <p:nvCxnSpPr>
          <p:cNvPr id="8" name="直接箭头连接符 7"/>
          <p:cNvCxnSpPr/>
          <p:nvPr/>
        </p:nvCxnSpPr>
        <p:spPr bwMode="auto">
          <a:xfrm flipV="1">
            <a:off x="6553200" y="1905000"/>
            <a:ext cx="457200" cy="914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4711261" y="1447800"/>
            <a:ext cx="42803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solidFill>
                  <a:srgbClr val="FF0000"/>
                </a:solidFill>
              </a:rPr>
              <a:t>How </a:t>
            </a:r>
            <a:r>
              <a:rPr lang="en-US" altLang="zh-CN" sz="1600" b="1" u="sng" dirty="0" smtClean="0">
                <a:solidFill>
                  <a:srgbClr val="FF0000"/>
                </a:solidFill>
              </a:rPr>
              <a:t>effectively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 screen the nuclear charge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75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What Is the Size of an Atom?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38100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dirty="0" smtClean="0"/>
              <a:t>	The </a:t>
            </a:r>
            <a:r>
              <a:rPr lang="en-US" altLang="en-US" sz="2800" b="1" u="sng" dirty="0" smtClean="0">
                <a:solidFill>
                  <a:srgbClr val="FF0000"/>
                </a:solidFill>
              </a:rPr>
              <a:t>nonbonding</a:t>
            </a:r>
            <a:r>
              <a:rPr lang="en-US" altLang="en-US" sz="2800" b="1" u="sng" dirty="0" smtClean="0"/>
              <a:t> atomic radius</a:t>
            </a:r>
            <a:r>
              <a:rPr lang="en-US" altLang="en-US" sz="2800" u="sng" dirty="0" smtClean="0"/>
              <a:t> or </a:t>
            </a:r>
            <a:r>
              <a:rPr lang="en-US" altLang="en-US" sz="2800" b="1" u="sng" dirty="0" smtClean="0"/>
              <a:t>van der Waals radius</a:t>
            </a:r>
            <a:r>
              <a:rPr lang="en-US" altLang="en-US" sz="2800" dirty="0" smtClean="0"/>
              <a:t> is half of the shortest distance separating two nuclei during a </a:t>
            </a:r>
            <a:r>
              <a:rPr lang="en-US" altLang="en-US" sz="2800" u="sng" dirty="0" smtClean="0">
                <a:solidFill>
                  <a:srgbClr val="FF0000"/>
                </a:solidFill>
              </a:rPr>
              <a:t>collision</a:t>
            </a:r>
            <a:r>
              <a:rPr lang="en-US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en-US" sz="2800" dirty="0" smtClean="0"/>
              <a:t>of atoms.</a:t>
            </a:r>
          </a:p>
        </p:txBody>
      </p:sp>
      <p:pic>
        <p:nvPicPr>
          <p:cNvPr id="11268" name="Picture 5" descr="C:\Documents and Settings\GEX\Desktop\51579 image ppt\Chapter 07\07_06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674" y="1219200"/>
            <a:ext cx="3288621" cy="511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 bwMode="auto">
          <a:xfrm>
            <a:off x="6324600" y="1905000"/>
            <a:ext cx="14478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 bwMode="auto">
          <a:xfrm>
            <a:off x="6629400" y="4419600"/>
            <a:ext cx="9144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-23813" y="1588"/>
            <a:ext cx="9144001" cy="989012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Sizes of Atoms</a:t>
            </a: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2388" y="997352"/>
            <a:ext cx="9067800" cy="2819400"/>
          </a:xfrm>
        </p:spPr>
        <p:txBody>
          <a:bodyPr/>
          <a:lstStyle/>
          <a:p>
            <a:pPr eaLnBrk="1" hangingPunct="1">
              <a:buFont typeface="Wingdings" charset="2"/>
              <a:buChar char="Ø"/>
            </a:pPr>
            <a:r>
              <a:rPr lang="en-US" altLang="en-US" sz="2800" dirty="0" smtClean="0"/>
              <a:t>The </a:t>
            </a:r>
            <a:r>
              <a:rPr lang="en-US" altLang="en-US" sz="2800" u="sng" dirty="0" smtClean="0">
                <a:solidFill>
                  <a:srgbClr val="FF0000"/>
                </a:solidFill>
              </a:rPr>
              <a:t>bonding atomic radius </a:t>
            </a:r>
            <a:r>
              <a:rPr lang="en-US" altLang="en-US" sz="2800" dirty="0" smtClean="0"/>
              <a:t>is half the </a:t>
            </a:r>
            <a:r>
              <a:rPr lang="en-US" altLang="en-US" sz="2800" dirty="0" err="1" smtClean="0"/>
              <a:t>internuclear</a:t>
            </a:r>
            <a:r>
              <a:rPr lang="en-US" altLang="en-US" sz="2800" dirty="0" smtClean="0"/>
              <a:t> distance when atoms are bonded.</a:t>
            </a:r>
          </a:p>
          <a:p>
            <a:pPr eaLnBrk="1" hangingPunct="1">
              <a:buFont typeface="Wingdings" charset="2"/>
              <a:buChar char="Ø"/>
            </a:pPr>
            <a:r>
              <a:rPr lang="en-US" altLang="en-US" sz="2800" dirty="0" smtClean="0"/>
              <a:t>The bonding atomic radius tends to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/>
              <a:t>— decrease from left to right across a period 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Z</a:t>
            </a:r>
            <a:r>
              <a:rPr lang="en-US" altLang="en-US" baseline="-25000" dirty="0" err="1" smtClean="0">
                <a:solidFill>
                  <a:srgbClr val="FF0000"/>
                </a:solidFill>
              </a:rPr>
              <a:t>eff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↑</a:t>
            </a:r>
            <a:r>
              <a:rPr lang="en-US" altLang="en-US" dirty="0" smtClean="0"/>
              <a:t>).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/>
              <a:t>— increase from top to bottom of a group (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↑).</a:t>
            </a:r>
            <a:endParaRPr lang="en-US" altLang="en-US" i="1" dirty="0" smtClean="0"/>
          </a:p>
        </p:txBody>
      </p:sp>
      <p:pic>
        <p:nvPicPr>
          <p:cNvPr id="12292" name="Picture 5" descr="C:\Documents and Settings\GEX\Desktop\51579 image ppt\Chapter 07\07_07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614" y="3646990"/>
            <a:ext cx="5701146" cy="2986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Sizes of 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624898" y="1524000"/>
            <a:ext cx="4419600" cy="42672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Determined by interatomic distances in ionic compounds</a:t>
            </a:r>
          </a:p>
          <a:p>
            <a:pPr eaLnBrk="1" hangingPunct="1"/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Ionic size depends on</a:t>
            </a:r>
          </a:p>
          <a:p>
            <a:pPr lvl="1" eaLnBrk="1" hangingPunct="1"/>
            <a:r>
              <a:rPr lang="en-US" altLang="en-US" sz="2400" dirty="0" smtClean="0"/>
              <a:t>the </a:t>
            </a:r>
            <a:r>
              <a:rPr lang="en-US" altLang="en-US" sz="2400" dirty="0" smtClean="0">
                <a:solidFill>
                  <a:srgbClr val="FF0000"/>
                </a:solidFill>
              </a:rPr>
              <a:t>nuclear charge</a:t>
            </a:r>
            <a:r>
              <a:rPr lang="en-US" altLang="en-US" sz="2400" dirty="0" smtClean="0"/>
              <a:t>.</a:t>
            </a:r>
          </a:p>
          <a:p>
            <a:pPr lvl="1" eaLnBrk="1" hangingPunct="1"/>
            <a:r>
              <a:rPr lang="en-US" altLang="en-US" sz="2400" dirty="0" smtClean="0"/>
              <a:t>the </a:t>
            </a:r>
            <a:r>
              <a:rPr lang="en-US" altLang="en-US" sz="2400" dirty="0" smtClean="0">
                <a:solidFill>
                  <a:srgbClr val="FF0000"/>
                </a:solidFill>
              </a:rPr>
              <a:t>number of electrons</a:t>
            </a:r>
            <a:r>
              <a:rPr lang="en-US" altLang="en-US" sz="2400" dirty="0" smtClean="0"/>
              <a:t>.</a:t>
            </a:r>
          </a:p>
          <a:p>
            <a:pPr lvl="1" eaLnBrk="1" hangingPunct="1"/>
            <a:r>
              <a:rPr lang="en-US" altLang="en-US" sz="2400" dirty="0" smtClean="0"/>
              <a:t>the </a:t>
            </a:r>
            <a:r>
              <a:rPr lang="en-US" altLang="en-US" sz="2400" dirty="0" smtClean="0">
                <a:solidFill>
                  <a:srgbClr val="FF0000"/>
                </a:solidFill>
              </a:rPr>
              <a:t>orbitals </a:t>
            </a:r>
            <a:r>
              <a:rPr lang="en-US" altLang="en-US" sz="2400" dirty="0" smtClean="0"/>
              <a:t>in which electrons reside.</a:t>
            </a:r>
          </a:p>
        </p:txBody>
      </p:sp>
      <p:pic>
        <p:nvPicPr>
          <p:cNvPr id="13316" name="Picture 5" descr="C:\Documents and Settings\GEX\Desktop\51579 image ppt\Chapter 07\07_08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4396298" cy="5189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2795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Sizes of Ions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066800"/>
            <a:ext cx="4518025" cy="48768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Cations are smaller than their parent atoms:</a:t>
            </a:r>
          </a:p>
          <a:p>
            <a:pPr lvl="1" eaLnBrk="1" hangingPunct="1"/>
            <a:r>
              <a:rPr lang="en-US" altLang="en-US" sz="2400" dirty="0" smtClean="0"/>
              <a:t>The </a:t>
            </a:r>
            <a:r>
              <a:rPr lang="en-US" altLang="en-US" sz="2400" dirty="0" smtClean="0">
                <a:solidFill>
                  <a:srgbClr val="FF0000"/>
                </a:solidFill>
              </a:rPr>
              <a:t>outermost</a:t>
            </a:r>
            <a:r>
              <a:rPr lang="en-US" altLang="en-US" sz="2400" dirty="0" smtClean="0"/>
              <a:t> electron is </a:t>
            </a:r>
            <a:r>
              <a:rPr lang="en-US" altLang="en-US" sz="2400" dirty="0" smtClean="0">
                <a:solidFill>
                  <a:srgbClr val="FF0000"/>
                </a:solidFill>
              </a:rPr>
              <a:t>removed</a:t>
            </a:r>
            <a:r>
              <a:rPr lang="en-US" altLang="en-US" sz="2400" dirty="0" smtClean="0"/>
              <a:t> and repulsions between electrons are reduced.</a:t>
            </a:r>
          </a:p>
          <a:p>
            <a:pPr eaLnBrk="1" hangingPunct="1"/>
            <a:r>
              <a:rPr lang="en-US" altLang="en-US" sz="2800" dirty="0" smtClean="0"/>
              <a:t>Anions are larger than their parent atoms:</a:t>
            </a:r>
          </a:p>
          <a:p>
            <a:pPr lvl="1" eaLnBrk="1" hangingPunct="1"/>
            <a:r>
              <a:rPr lang="en-US" altLang="en-US" sz="2400" dirty="0" smtClean="0"/>
              <a:t>Electrons are added and </a:t>
            </a:r>
            <a:r>
              <a:rPr lang="en-US" altLang="en-US" sz="2400" dirty="0" smtClean="0">
                <a:solidFill>
                  <a:srgbClr val="FF0000"/>
                </a:solidFill>
              </a:rPr>
              <a:t>repulsions</a:t>
            </a:r>
            <a:r>
              <a:rPr lang="en-US" altLang="en-US" sz="2400" dirty="0" smtClean="0"/>
              <a:t> between electrons are </a:t>
            </a:r>
            <a:r>
              <a:rPr lang="en-US" altLang="en-US" sz="2400" dirty="0" smtClean="0">
                <a:solidFill>
                  <a:srgbClr val="FF0000"/>
                </a:solidFill>
              </a:rPr>
              <a:t>increased</a:t>
            </a:r>
            <a:r>
              <a:rPr lang="en-US" altLang="en-US" sz="2400" dirty="0" smtClean="0"/>
              <a:t>.</a:t>
            </a:r>
          </a:p>
        </p:txBody>
      </p:sp>
      <p:pic>
        <p:nvPicPr>
          <p:cNvPr id="14340" name="Picture 4" descr="C:\Documents and Settings\GEX\Desktop\51579 image ppt\Chapter 07\07_08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54889"/>
            <a:ext cx="4343400" cy="512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696200" cy="12954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Size of Ions - Isoelectronic Series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sz="half" idx="3"/>
          </p:nvPr>
        </p:nvSpPr>
        <p:spPr>
          <a:xfrm>
            <a:off x="190500" y="1371600"/>
            <a:ext cx="895350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500" dirty="0" smtClean="0"/>
              <a:t>In an </a:t>
            </a:r>
            <a:r>
              <a:rPr lang="en-US" altLang="en-US" sz="2500" b="1" dirty="0" smtClean="0">
                <a:solidFill>
                  <a:srgbClr val="FF0000"/>
                </a:solidFill>
              </a:rPr>
              <a:t>iso</a:t>
            </a:r>
            <a:r>
              <a:rPr lang="en-US" altLang="en-US" sz="2500" b="1" dirty="0" smtClean="0"/>
              <a:t>electronic series</a:t>
            </a:r>
            <a:r>
              <a:rPr lang="en-US" altLang="en-US" sz="2500" dirty="0" smtClean="0"/>
              <a:t>, ions have the same number of electrons.</a:t>
            </a:r>
          </a:p>
          <a:p>
            <a:pPr eaLnBrk="1" hangingPunct="1">
              <a:defRPr/>
            </a:pPr>
            <a:r>
              <a:rPr lang="en-US" altLang="en-US" sz="2500" dirty="0" smtClean="0"/>
              <a:t>Ionic size decreases with an increasing </a:t>
            </a:r>
            <a:r>
              <a:rPr lang="en-US" altLang="en-US" sz="2500" dirty="0" smtClean="0">
                <a:solidFill>
                  <a:srgbClr val="FF0000"/>
                </a:solidFill>
              </a:rPr>
              <a:t>nuclear charge</a:t>
            </a:r>
            <a:r>
              <a:rPr lang="en-US" altLang="en-US" sz="2500" dirty="0" smtClean="0"/>
              <a:t>.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2500" b="1" dirty="0" smtClean="0"/>
              <a:t>An Isoelectronic Series (10 electrons)</a:t>
            </a:r>
          </a:p>
          <a:p>
            <a:pPr eaLnBrk="1" hangingPunct="1">
              <a:buFont typeface="Arial"/>
              <a:buChar char="•"/>
              <a:defRPr/>
            </a:pPr>
            <a:r>
              <a:rPr lang="en-US" altLang="en-US" sz="2500" dirty="0" smtClean="0"/>
              <a:t>Note increasing nuclear charge with decreasing ionic radius as atomic number increases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sz="2800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894595"/>
              </p:ext>
            </p:extLst>
          </p:nvPr>
        </p:nvGraphicFramePr>
        <p:xfrm>
          <a:off x="838200" y="4343400"/>
          <a:ext cx="7391402" cy="1250158"/>
        </p:xfrm>
        <a:graphic>
          <a:graphicData uri="http://schemas.openxmlformats.org/drawingml/2006/table">
            <a:tbl>
              <a:tblPr firstRow="1" firstCol="1" bandRow="1"/>
              <a:tblGrid>
                <a:gridCol w="1478126"/>
                <a:gridCol w="1478126"/>
                <a:gridCol w="1478126"/>
                <a:gridCol w="1478126"/>
                <a:gridCol w="1478898"/>
              </a:tblGrid>
              <a:tr h="6250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O</a:t>
                      </a:r>
                      <a:r>
                        <a:rPr lang="en-US" sz="2000" b="1" baseline="300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2–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F</a:t>
                      </a:r>
                      <a:r>
                        <a:rPr lang="en-US" sz="2000" b="1" baseline="300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–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Na</a:t>
                      </a:r>
                      <a:r>
                        <a:rPr lang="en-US" sz="2000" b="1" baseline="300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Mg</a:t>
                      </a:r>
                      <a:r>
                        <a:rPr lang="en-US" sz="2000" b="1" baseline="300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2+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Al</a:t>
                      </a:r>
                      <a:r>
                        <a:rPr lang="en-US" sz="2000" b="1" baseline="300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3+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0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1.26 Å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1.19 Å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1.16 Å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0.86 Å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0.68 Å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384" name="Rectangle 19"/>
          <p:cNvSpPr>
            <a:spLocks noChangeArrowheads="1"/>
          </p:cNvSpPr>
          <p:nvPr/>
        </p:nvSpPr>
        <p:spPr bwMode="auto">
          <a:xfrm>
            <a:off x="1531938" y="33067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Ionization Energy (</a:t>
            </a:r>
            <a:r>
              <a:rPr lang="en-US" alt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00537"/>
            <a:ext cx="8534400" cy="4390663"/>
          </a:xfrm>
        </p:spPr>
        <p:txBody>
          <a:bodyPr/>
          <a:lstStyle/>
          <a:p>
            <a:pPr eaLnBrk="1" hangingPunct="1"/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ionization energy</a:t>
            </a:r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minimum energy required to remove an electron from the </a:t>
            </a:r>
            <a:r>
              <a:rPr lang="en-US" altLang="en-US" sz="29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ground state </a:t>
            </a:r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a gaseous atom or ion.</a:t>
            </a:r>
          </a:p>
          <a:p>
            <a:pPr lvl="1" eaLnBrk="1" hangingPunct="1"/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ionization energy </a:t>
            </a:r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that energy required to remove the first electron.</a:t>
            </a:r>
          </a:p>
          <a:p>
            <a:pPr lvl="1" eaLnBrk="1" hangingPunct="1"/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ionization energy </a:t>
            </a:r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that energy required to remove the second electron, etc.</a:t>
            </a:r>
          </a:p>
          <a:p>
            <a:pPr eaLnBrk="1" hangingPunct="1"/>
            <a:r>
              <a:rPr lang="en-US" alt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the higher the ionization energy, the more difficult it is to remove an electron!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Ionization Energy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838200"/>
            <a:ext cx="8839200" cy="22860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requires more energy to remove each successive electron.</a:t>
            </a:r>
          </a:p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all valence electrons have been removed, it takes a great deal more energy to remove the next electron.</a:t>
            </a:r>
          </a:p>
        </p:txBody>
      </p:sp>
      <p:pic>
        <p:nvPicPr>
          <p:cNvPr id="17412" name="Picture 5" descr="C:\Documents and Settings\GEX\Desktop\51579 image ppt\Chapter 07\07_02_Tab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38" y="2819400"/>
            <a:ext cx="7553516" cy="2512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58065" y="5410200"/>
            <a:ext cx="72448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An sudden increase in the value of </a:t>
            </a:r>
            <a:r>
              <a:rPr lang="en-US" altLang="zh-CN" sz="2000" i="1" dirty="0" smtClean="0"/>
              <a:t>I</a:t>
            </a:r>
            <a:r>
              <a:rPr lang="en-US" altLang="zh-CN" sz="2000" dirty="0" smtClean="0"/>
              <a:t> suggests removal of an e from a </a:t>
            </a:r>
            <a:r>
              <a:rPr lang="en-US" altLang="zh-CN" sz="2000" u="sng" dirty="0" smtClean="0">
                <a:solidFill>
                  <a:srgbClr val="FF0000"/>
                </a:solidFill>
              </a:rPr>
              <a:t>different and inner </a:t>
            </a:r>
            <a:r>
              <a:rPr lang="en-US" altLang="zh-CN" sz="2000" dirty="0" smtClean="0">
                <a:solidFill>
                  <a:srgbClr val="FF0000"/>
                </a:solidFill>
              </a:rPr>
              <a:t>shell (e’s are of lower energy; more energy, that is, a higher </a:t>
            </a:r>
            <a:r>
              <a:rPr lang="en-US" altLang="zh-CN" sz="2000" i="1" dirty="0" smtClean="0">
                <a:solidFill>
                  <a:srgbClr val="FF0000"/>
                </a:solidFill>
              </a:rPr>
              <a:t>IE</a:t>
            </a:r>
            <a:r>
              <a:rPr lang="en-US" altLang="zh-CN" sz="2000" dirty="0" smtClean="0">
                <a:solidFill>
                  <a:srgbClr val="FF0000"/>
                </a:solidFill>
              </a:rPr>
              <a:t> is needed to remove them)</a:t>
            </a:r>
            <a:r>
              <a:rPr lang="en-US" altLang="zh-CN" sz="2000" dirty="0" smtClean="0"/>
              <a:t>.</a:t>
            </a:r>
            <a:endParaRPr lang="zh-CN" altLang="en-US" sz="20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4"/>
          <p:cNvSpPr>
            <a:spLocks noGrp="1"/>
          </p:cNvSpPr>
          <p:nvPr>
            <p:ph type="title"/>
          </p:nvPr>
        </p:nvSpPr>
        <p:spPr>
          <a:xfrm>
            <a:off x="-533400" y="-27432"/>
            <a:ext cx="10287000" cy="13716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Trends in First Ionization Energy (</a:t>
            </a:r>
            <a:r>
              <a:rPr lang="en-US" alt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435" name="Content Placeholder 5"/>
          <p:cNvSpPr>
            <a:spLocks noGrp="1"/>
          </p:cNvSpPr>
          <p:nvPr>
            <p:ph idx="1"/>
          </p:nvPr>
        </p:nvSpPr>
        <p:spPr>
          <a:xfrm>
            <a:off x="381000" y="1447800"/>
            <a:ext cx="8382000" cy="3276600"/>
          </a:xfrm>
        </p:spPr>
        <p:txBody>
          <a:bodyPr/>
          <a:lstStyle/>
          <a:p>
            <a:pPr marL="514350" indent="-514350" eaLnBrk="1" hangingPunct="1">
              <a:buFontTx/>
              <a:buAutoNum type="arabicParenR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generally increases across a period.</a:t>
            </a:r>
          </a:p>
          <a:p>
            <a:pPr marL="514350" indent="-514350" eaLnBrk="1" hangingPunct="1">
              <a:buFontTx/>
              <a:buAutoNum type="arabicParenR"/>
            </a:pP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buFontTx/>
              <a:buAutoNum type="arabicParenR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generally decreases down a group.</a:t>
            </a:r>
          </a:p>
          <a:p>
            <a:pPr marL="514350" indent="-514350" eaLnBrk="1" hangingPunct="1">
              <a:buFontTx/>
              <a:buAutoNum type="arabicParenR"/>
            </a:pP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buFontTx/>
              <a:buAutoNum type="arabicParenR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and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-block elements show a larger range of values for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(The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-block generally increases slowly across the period; the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-block elements show only small variations.)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52500" y="2253734"/>
            <a:ext cx="7060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s</a:t>
            </a:r>
            <a:r>
              <a:rPr lang="en-US" altLang="zh-CN" sz="1800" dirty="0" smtClean="0"/>
              <a:t>ame principal QN (same #of shells), </a:t>
            </a:r>
            <a:r>
              <a:rPr lang="en-US" altLang="zh-CN" sz="1800" dirty="0" err="1" smtClean="0"/>
              <a:t>Z</a:t>
            </a:r>
            <a:r>
              <a:rPr lang="en-US" altLang="zh-CN" sz="1800" baseline="-25000" dirty="0" err="1" smtClean="0"/>
              <a:t>eff</a:t>
            </a:r>
            <a:r>
              <a:rPr lang="en-US" altLang="zh-CN" sz="1800" dirty="0" smtClean="0"/>
              <a:t> increases, size decreases</a:t>
            </a:r>
            <a:endParaRPr lang="zh-CN" alt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571500" y="3429000"/>
            <a:ext cx="8124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smtClean="0"/>
              <a:t>Increasing principal QN (increasing #of shells), </a:t>
            </a:r>
            <a:r>
              <a:rPr lang="en-US" altLang="zh-CN" sz="1800" dirty="0" err="1" smtClean="0"/>
              <a:t>Z</a:t>
            </a:r>
            <a:r>
              <a:rPr lang="en-US" altLang="zh-CN" sz="1800" baseline="-25000" dirty="0" err="1" smtClean="0"/>
              <a:t>eff</a:t>
            </a:r>
            <a:r>
              <a:rPr lang="en-US" altLang="zh-CN" sz="1800" dirty="0" smtClean="0"/>
              <a:t> decreases, size increases</a:t>
            </a:r>
            <a:endParaRPr lang="zh-CN" altLang="en-US" sz="1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09600" y="-152400"/>
            <a:ext cx="8001000" cy="14478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Factors that Influence Ionization Energy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78368" y="1061546"/>
            <a:ext cx="8839200" cy="2209800"/>
          </a:xfrm>
        </p:spPr>
        <p:txBody>
          <a:bodyPr/>
          <a:lstStyle/>
          <a:p>
            <a:pPr eaLnBrk="1" hangingPunct="1">
              <a:buClr>
                <a:srgbClr val="7030A0"/>
              </a:buClr>
              <a:buFont typeface="Wingdings" pitchFamily="2" charset="2"/>
              <a:buChar char="Ø"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Smaller atoms have higher 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values.</a:t>
            </a:r>
          </a:p>
          <a:p>
            <a:pPr eaLnBrk="1" hangingPunct="1">
              <a:buClr>
                <a:srgbClr val="7030A0"/>
              </a:buClr>
              <a:buFont typeface="Wingdings" pitchFamily="2" charset="2"/>
              <a:buChar char="Ø"/>
            </a:pP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values depend on </a:t>
            </a:r>
            <a:r>
              <a:rPr lang="en-US" altLang="en-US" u="sng" dirty="0" smtClean="0">
                <a:latin typeface="Times New Roman" pitchFamily="18" charset="0"/>
                <a:cs typeface="Times New Roman" pitchFamily="18" charset="0"/>
              </a:rPr>
              <a:t>effective nuclear </a:t>
            </a:r>
            <a:r>
              <a:rPr lang="en-US" alt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charge</a:t>
            </a:r>
            <a:r>
              <a:rPr lang="en-US" altLang="en-US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and average </a:t>
            </a:r>
            <a:r>
              <a:rPr lang="en-US" alt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distance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of the electron from the nucleus.</a:t>
            </a:r>
          </a:p>
        </p:txBody>
      </p:sp>
      <p:pic>
        <p:nvPicPr>
          <p:cNvPr id="19460" name="Picture 5" descr="C:\Documents and Settings\GEX\Desktop\51579 image ppt\Chapter 07\07_10_Figur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806" y="2890346"/>
            <a:ext cx="592042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椭圆 1"/>
          <p:cNvSpPr/>
          <p:nvPr/>
        </p:nvSpPr>
        <p:spPr bwMode="auto">
          <a:xfrm>
            <a:off x="5771448" y="4033346"/>
            <a:ext cx="609600" cy="609600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6" name="上弧形箭头 5"/>
          <p:cNvSpPr/>
          <p:nvPr/>
        </p:nvSpPr>
        <p:spPr bwMode="auto">
          <a:xfrm rot="1006151">
            <a:off x="2488163" y="3468625"/>
            <a:ext cx="3048000" cy="402911"/>
          </a:xfrm>
          <a:prstGeom prst="curved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5169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Irregularities in the General Trend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9144000" cy="2743200"/>
          </a:xfrm>
          <a:ln>
            <a:noFill/>
          </a:ln>
        </p:spPr>
        <p:txBody>
          <a:bodyPr/>
          <a:lstStyle/>
          <a:p>
            <a:pPr eaLnBrk="1" hangingPunct="1"/>
            <a:r>
              <a:rPr lang="en-US" altLang="en-US" dirty="0" smtClean="0"/>
              <a:t>The trend is </a:t>
            </a:r>
            <a:r>
              <a:rPr lang="en-US" altLang="en-US" b="1" dirty="0" smtClean="0"/>
              <a:t>not</a:t>
            </a:r>
            <a:r>
              <a:rPr lang="en-US" altLang="en-US" dirty="0" smtClean="0"/>
              <a:t> followed when the added valence electron in the next element</a:t>
            </a:r>
          </a:p>
          <a:p>
            <a:pPr eaLnBrk="1" hangingPunct="1">
              <a:buClr>
                <a:srgbClr val="C00000"/>
              </a:buClr>
              <a:buFont typeface="Wingdings" pitchFamily="2" charset="2"/>
              <a:buChar char="Ø"/>
            </a:pPr>
            <a:r>
              <a:rPr lang="en-US" altLang="en-US" dirty="0" smtClean="0"/>
              <a:t>enters a new </a:t>
            </a:r>
            <a:r>
              <a:rPr lang="en-US" altLang="en-US" u="sng" dirty="0" smtClean="0">
                <a:solidFill>
                  <a:srgbClr val="FF0000"/>
                </a:solidFill>
              </a:rPr>
              <a:t>sublevel</a:t>
            </a:r>
            <a:r>
              <a:rPr lang="en-US" altLang="en-US" dirty="0" smtClean="0"/>
              <a:t> (higher energy sublevel);</a:t>
            </a:r>
          </a:p>
          <a:p>
            <a:pPr marL="0" indent="0" eaLnBrk="1" hangingPunct="1">
              <a:buClr>
                <a:srgbClr val="C00000"/>
              </a:buClr>
              <a:buNone/>
            </a:pPr>
            <a:r>
              <a:rPr lang="en-US" altLang="zh-CN" dirty="0" smtClean="0"/>
              <a:t>               </a:t>
            </a:r>
            <a:r>
              <a:rPr lang="en-US" altLang="zh-CN" sz="2400" dirty="0" smtClean="0"/>
              <a:t>Be 1</a:t>
            </a:r>
            <a:r>
              <a:rPr lang="en-US" altLang="zh-CN" sz="2400" i="1" dirty="0" smtClean="0"/>
              <a:t>s</a:t>
            </a:r>
            <a:r>
              <a:rPr lang="en-US" altLang="zh-CN" sz="2400" baseline="30000" dirty="0" smtClean="0"/>
              <a:t>2</a:t>
            </a:r>
            <a:r>
              <a:rPr lang="en-US" altLang="zh-CN" sz="2400" dirty="0" smtClean="0"/>
              <a:t>2</a:t>
            </a:r>
            <a:r>
              <a:rPr lang="en-US" altLang="zh-CN" sz="2400" i="1" dirty="0" smtClean="0"/>
              <a:t>s</a:t>
            </a:r>
            <a:r>
              <a:rPr lang="en-US" altLang="zh-CN" sz="2400" baseline="30000" dirty="0" smtClean="0"/>
              <a:t>2</a:t>
            </a:r>
            <a:r>
              <a:rPr lang="en-US" altLang="zh-CN" sz="2400" dirty="0" smtClean="0">
                <a:solidFill>
                  <a:srgbClr val="FF0000"/>
                </a:solidFill>
              </a:rPr>
              <a:t>2</a:t>
            </a:r>
            <a:r>
              <a:rPr lang="en-US" altLang="zh-CN" sz="2400" i="1" dirty="0" smtClean="0">
                <a:solidFill>
                  <a:srgbClr val="FF0000"/>
                </a:solidFill>
              </a:rPr>
              <a:t>p</a:t>
            </a:r>
            <a:r>
              <a:rPr lang="en-US" altLang="zh-CN" sz="2400" baseline="30000" dirty="0">
                <a:solidFill>
                  <a:srgbClr val="FF0000"/>
                </a:solidFill>
              </a:rPr>
              <a:t>0</a:t>
            </a:r>
            <a:r>
              <a:rPr lang="en-US" altLang="zh-CN" sz="2400" dirty="0" smtClean="0"/>
              <a:t> versus B 1</a:t>
            </a:r>
            <a:r>
              <a:rPr lang="en-US" altLang="zh-CN" sz="2400" i="1" dirty="0" smtClean="0"/>
              <a:t>s</a:t>
            </a:r>
            <a:r>
              <a:rPr lang="en-US" altLang="zh-CN" sz="2400" baseline="30000" dirty="0" smtClean="0"/>
              <a:t>2</a:t>
            </a:r>
            <a:r>
              <a:rPr lang="en-US" altLang="zh-CN" sz="2400" dirty="0" smtClean="0"/>
              <a:t>2</a:t>
            </a:r>
            <a:r>
              <a:rPr lang="en-US" altLang="zh-CN" sz="2400" i="1" dirty="0" smtClean="0"/>
              <a:t>s</a:t>
            </a:r>
            <a:r>
              <a:rPr lang="en-US" altLang="zh-CN" sz="2400" baseline="30000" dirty="0" smtClean="0"/>
              <a:t>2</a:t>
            </a:r>
            <a:r>
              <a:rPr lang="en-US" altLang="zh-CN" sz="2400" dirty="0" smtClean="0">
                <a:solidFill>
                  <a:srgbClr val="FF0000"/>
                </a:solidFill>
              </a:rPr>
              <a:t>2</a:t>
            </a:r>
            <a:r>
              <a:rPr lang="en-US" altLang="zh-CN" sz="2400" i="1" dirty="0" smtClean="0">
                <a:solidFill>
                  <a:srgbClr val="FF0000"/>
                </a:solidFill>
              </a:rPr>
              <a:t>p</a:t>
            </a:r>
            <a:r>
              <a:rPr lang="en-US" altLang="zh-CN" sz="2400" baseline="30000" dirty="0" smtClean="0">
                <a:solidFill>
                  <a:srgbClr val="FF0000"/>
                </a:solidFill>
              </a:rPr>
              <a:t>1</a:t>
            </a:r>
          </a:p>
          <a:p>
            <a:pPr marL="0" indent="0" eaLnBrk="1" hangingPunct="1">
              <a:lnSpc>
                <a:spcPts val="400"/>
              </a:lnSpc>
              <a:buClr>
                <a:srgbClr val="C00000"/>
              </a:buClr>
              <a:buNone/>
            </a:pPr>
            <a:endParaRPr lang="en-US" altLang="en-US" sz="2400" dirty="0" smtClean="0"/>
          </a:p>
          <a:p>
            <a:pPr eaLnBrk="1" hangingPunct="1">
              <a:buClr>
                <a:srgbClr val="C00000"/>
              </a:buClr>
              <a:buFont typeface="Wingdings" pitchFamily="2" charset="2"/>
              <a:buChar char="Ø"/>
            </a:pPr>
            <a:r>
              <a:rPr lang="en-US" altLang="en-US" dirty="0" smtClean="0"/>
              <a:t>is the first electron to </a:t>
            </a:r>
            <a:r>
              <a:rPr lang="en-US" altLang="en-US" dirty="0" smtClean="0">
                <a:solidFill>
                  <a:srgbClr val="FF0000"/>
                </a:solidFill>
              </a:rPr>
              <a:t>pair in one orbital </a:t>
            </a:r>
            <a:r>
              <a:rPr lang="en-US" altLang="en-US" dirty="0" smtClean="0"/>
              <a:t>of the sublevel (electron </a:t>
            </a:r>
            <a:r>
              <a:rPr lang="en-US" altLang="en-US" dirty="0" smtClean="0">
                <a:solidFill>
                  <a:srgbClr val="FF0000"/>
                </a:solidFill>
              </a:rPr>
              <a:t>repulsions</a:t>
            </a:r>
            <a:r>
              <a:rPr lang="en-US" altLang="en-US" dirty="0" smtClean="0"/>
              <a:t> lower energy).</a:t>
            </a:r>
          </a:p>
        </p:txBody>
      </p:sp>
      <p:pic>
        <p:nvPicPr>
          <p:cNvPr id="20484" name="Picture 5" descr="C:\Documents and Settings\GEX\Desktop\51579 image ppt\Chapter 07\07_11_Figur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327" y="4700935"/>
            <a:ext cx="1828800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255327" y="5376120"/>
            <a:ext cx="1418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</a:t>
            </a:r>
            <a:r>
              <a:rPr lang="en-US" altLang="zh-CN" dirty="0" smtClean="0"/>
              <a:t>alf-filled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54412" y="4924085"/>
            <a:ext cx="2840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r>
              <a:rPr lang="en-US" altLang="zh-CN" dirty="0" smtClean="0"/>
              <a:t>lectronic repulsion</a:t>
            </a:r>
            <a:endParaRPr lang="zh-CN" altLang="en-US" dirty="0"/>
          </a:p>
        </p:txBody>
      </p:sp>
      <p:sp>
        <p:nvSpPr>
          <p:cNvPr id="4" name="下弧形箭头 3"/>
          <p:cNvSpPr/>
          <p:nvPr/>
        </p:nvSpPr>
        <p:spPr bwMode="auto">
          <a:xfrm rot="21032356">
            <a:off x="2981859" y="5293582"/>
            <a:ext cx="1212936" cy="303968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5" name="右弧形箭头 4"/>
          <p:cNvSpPr/>
          <p:nvPr/>
        </p:nvSpPr>
        <p:spPr bwMode="auto">
          <a:xfrm rot="3829785">
            <a:off x="5847762" y="5629598"/>
            <a:ext cx="304800" cy="1234308"/>
          </a:xfrm>
          <a:prstGeom prst="curved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381000" y="1752600"/>
            <a:ext cx="8610600" cy="3505200"/>
          </a:xfrm>
        </p:spPr>
        <p:txBody>
          <a:bodyPr/>
          <a:lstStyle/>
          <a:p>
            <a:pPr algn="l" eaLnBrk="1" hangingPunct="1"/>
            <a:r>
              <a:rPr lang="en-US" altLang="en-US" sz="3200" b="1" dirty="0" smtClean="0"/>
              <a:t>Electron Configurations of Ions</a:t>
            </a:r>
            <a:br>
              <a:rPr lang="en-US" altLang="en-US" sz="3200" b="1" dirty="0" smtClean="0"/>
            </a:br>
            <a:r>
              <a:rPr lang="en-US" altLang="en-US" sz="3200" b="1" dirty="0"/>
              <a:t/>
            </a:r>
            <a:br>
              <a:rPr lang="en-US" altLang="en-US" sz="3200" b="1" dirty="0"/>
            </a:br>
            <a:r>
              <a:rPr lang="en-US" altLang="en-US" sz="2800" b="1" dirty="0" err="1" smtClean="0">
                <a:latin typeface="Times New Roman" pitchFamily="18" charset="0"/>
                <a:cs typeface="Times New Roman" pitchFamily="18" charset="0"/>
              </a:rPr>
              <a:t>Cations</a:t>
            </a:r>
            <a:r>
              <a:rPr lang="en-US" altLang="en-US" sz="2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The electrons are lost from the </a:t>
            </a:r>
            <a:r>
              <a:rPr lang="en-US" alt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highest</a:t>
            </a: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energy level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(largest 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value).</a:t>
            </a:r>
            <a:br>
              <a:rPr lang="en-US" alt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   Li</a:t>
            </a:r>
            <a:r>
              <a:rPr lang="en-US" altLang="en-US" sz="28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is 1</a:t>
            </a:r>
            <a:r>
              <a:rPr lang="en-US" altLang="en-US" sz="28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(losing a 2</a:t>
            </a:r>
            <a:r>
              <a:rPr lang="en-US" altLang="en-US" sz="28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electron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) from </a:t>
            </a:r>
            <a:r>
              <a:rPr lang="en-US" altLang="zh-CN" sz="2400" dirty="0" smtClean="0"/>
              <a:t>1</a:t>
            </a:r>
            <a:r>
              <a:rPr lang="en-US" altLang="zh-CN" sz="2400" i="1" dirty="0" smtClean="0"/>
              <a:t>s</a:t>
            </a:r>
            <a:r>
              <a:rPr lang="en-US" altLang="zh-CN" sz="2400" baseline="30000" dirty="0" smtClean="0"/>
              <a:t>2</a:t>
            </a:r>
            <a:r>
              <a:rPr lang="en-US" altLang="zh-CN" sz="2400" dirty="0" smtClean="0">
                <a:solidFill>
                  <a:srgbClr val="FF0000"/>
                </a:solidFill>
              </a:rPr>
              <a:t>2</a:t>
            </a:r>
            <a:r>
              <a:rPr lang="en-US" altLang="zh-CN" sz="2400" i="1" dirty="0" smtClean="0">
                <a:solidFill>
                  <a:srgbClr val="FF0000"/>
                </a:solidFill>
              </a:rPr>
              <a:t>s</a:t>
            </a:r>
            <a:r>
              <a:rPr lang="en-US" altLang="zh-CN" sz="2400" baseline="30000" dirty="0">
                <a:solidFill>
                  <a:srgbClr val="FF0000"/>
                </a:solidFill>
              </a:rPr>
              <a:t>1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   Fe</a:t>
            </a:r>
            <a:r>
              <a:rPr lang="en-US" altLang="en-US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800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800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en-US" sz="28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en-US" sz="28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en-US" sz="2800" baseline="30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by losing 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two 4</a:t>
            </a:r>
            <a:r>
              <a:rPr lang="en-US" altLang="en-US" sz="28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e’s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from </a:t>
            </a:r>
            <a:b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            Fe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800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800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en-US" sz="28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en-US" sz="2800" baseline="30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en-US" altLang="en-US" sz="2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aufbau</a:t>
            </a:r>
            <a:r>
              <a:rPr lang="en-US" altLang="en-US" sz="2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altLang="en-US" sz="2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en-US" sz="2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800" b="1" dirty="0">
                <a:latin typeface="Times New Roman" pitchFamily="18" charset="0"/>
                <a:cs typeface="Times New Roman" pitchFamily="18" charset="0"/>
              </a:rPr>
              <a:t>Anions: 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The electron configurations are filled to </a:t>
            </a:r>
            <a:r>
              <a:rPr lang="en-US" altLang="en-US" sz="2800" i="1" dirty="0">
                <a:latin typeface="Times New Roman" pitchFamily="18" charset="0"/>
                <a:cs typeface="Times New Roman" pitchFamily="18" charset="0"/>
              </a:rPr>
              <a:t>ns</a:t>
            </a:r>
            <a:r>
              <a:rPr lang="en-US" altLang="en-US" sz="28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i="1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en-US" altLang="en-US" sz="2800" baseline="30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; e.g., F</a:t>
            </a:r>
            <a:r>
              <a:rPr lang="en-US" altLang="en-US" sz="2800" baseline="300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is 1</a:t>
            </a:r>
            <a:r>
              <a:rPr lang="en-US" altLang="en-US" sz="28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800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by gaining 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in 2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from </a:t>
            </a:r>
            <a:b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            F  </a:t>
            </a:r>
            <a:r>
              <a:rPr lang="en-US" altLang="zh-CN" sz="2400" dirty="0" smtClean="0"/>
              <a:t>1</a:t>
            </a:r>
            <a:r>
              <a:rPr lang="en-US" altLang="zh-CN" sz="2400" i="1" dirty="0" smtClean="0"/>
              <a:t>s</a:t>
            </a:r>
            <a:r>
              <a:rPr lang="en-US" altLang="zh-CN" sz="2400" baseline="30000" dirty="0" smtClean="0"/>
              <a:t>2</a:t>
            </a:r>
            <a:r>
              <a:rPr lang="en-US" altLang="zh-CN" sz="2400" dirty="0" smtClean="0"/>
              <a:t>2</a:t>
            </a:r>
            <a:r>
              <a:rPr lang="en-US" altLang="zh-CN" sz="2400" i="1" dirty="0" smtClean="0"/>
              <a:t>s</a:t>
            </a:r>
            <a:r>
              <a:rPr lang="en-US" altLang="zh-CN" sz="2400" baseline="30000" dirty="0" smtClean="0"/>
              <a:t>2</a:t>
            </a:r>
            <a:r>
              <a:rPr lang="en-US" altLang="zh-CN" sz="2400" dirty="0" smtClean="0">
                <a:solidFill>
                  <a:srgbClr val="FF0000"/>
                </a:solidFill>
              </a:rPr>
              <a:t>2</a:t>
            </a:r>
            <a:r>
              <a:rPr lang="en-US" altLang="zh-CN" sz="2400" i="1" dirty="0" smtClean="0">
                <a:solidFill>
                  <a:srgbClr val="FF0000"/>
                </a:solidFill>
              </a:rPr>
              <a:t>p</a:t>
            </a:r>
            <a:r>
              <a:rPr lang="en-US" altLang="zh-CN" sz="2400" baseline="30000" dirty="0" smtClean="0">
                <a:solidFill>
                  <a:srgbClr val="FF0000"/>
                </a:solidFill>
              </a:rPr>
              <a:t>5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altLang="en-US" sz="3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en-US" sz="3200" dirty="0">
                <a:latin typeface="Times New Roman" pitchFamily="18" charset="0"/>
                <a:cs typeface="Times New Roman" pitchFamily="18" charset="0"/>
              </a:rPr>
            </a:br>
            <a:endParaRPr lang="en-US" altLang="en-US" sz="3200" b="1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-30480" y="533400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Electron Affinity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10600" cy="3581400"/>
          </a:xfrm>
        </p:spPr>
        <p:txBody>
          <a:bodyPr/>
          <a:lstStyle/>
          <a:p>
            <a:pPr eaLnBrk="1" hangingPunct="1">
              <a:buClr>
                <a:srgbClr val="00B05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800" b="1" dirty="0" smtClean="0"/>
              <a:t>Electron affinity</a:t>
            </a:r>
            <a:r>
              <a:rPr lang="en-US" altLang="en-US" sz="2800" dirty="0" smtClean="0"/>
              <a:t> is the energy change accompanying the addition of an electron to a gaseous atom:	</a:t>
            </a:r>
          </a:p>
          <a:p>
            <a:pPr marL="0" indent="0" eaLnBrk="1" hangingPunct="1">
              <a:buClr>
                <a:srgbClr val="00B050"/>
              </a:buClr>
              <a:buFontTx/>
              <a:buNone/>
              <a:defRPr/>
            </a:pPr>
            <a:r>
              <a:rPr lang="en-US" altLang="en-US" sz="2800" dirty="0"/>
              <a:t>	</a:t>
            </a:r>
            <a:r>
              <a:rPr lang="en-US" altLang="en-US" sz="2800" dirty="0" smtClean="0"/>
              <a:t>	</a:t>
            </a:r>
            <a:r>
              <a:rPr lang="en-US" altLang="en-US" sz="2800" dirty="0" err="1" smtClean="0"/>
              <a:t>Cl</a:t>
            </a:r>
            <a:r>
              <a:rPr lang="en-US" altLang="en-US" sz="2800" dirty="0" smtClean="0"/>
              <a:t> + </a:t>
            </a:r>
            <a:r>
              <a:rPr lang="en-US" altLang="en-US" sz="2800" i="1" dirty="0" smtClean="0"/>
              <a:t>e</a:t>
            </a:r>
            <a:r>
              <a:rPr lang="en-US" altLang="en-US" sz="2800" baseline="30000" dirty="0" smtClean="0">
                <a:cs typeface="Arial" charset="0"/>
              </a:rPr>
              <a:t>−</a:t>
            </a:r>
            <a:r>
              <a:rPr lang="en-US" altLang="en-US" sz="2800" dirty="0" smtClean="0"/>
              <a:t> </a:t>
            </a:r>
            <a:r>
              <a:rPr lang="en-US" altLang="en-US" sz="2800" dirty="0" smtClean="0">
                <a:sym typeface="Symbol" pitchFamily="18" charset="2"/>
              </a:rPr>
              <a:t> </a:t>
            </a:r>
            <a:r>
              <a:rPr lang="en-US" altLang="en-US" sz="2800" dirty="0" err="1" smtClean="0">
                <a:sym typeface="Symbol" pitchFamily="18" charset="2"/>
              </a:rPr>
              <a:t>Cl</a:t>
            </a:r>
            <a:r>
              <a:rPr lang="en-US" altLang="en-US" sz="2800" baseline="30000" dirty="0" smtClean="0">
                <a:cs typeface="Arial" charset="0"/>
                <a:sym typeface="Symbol" pitchFamily="18" charset="2"/>
              </a:rPr>
              <a:t>−</a:t>
            </a:r>
            <a:endParaRPr lang="en-US" altLang="en-US" sz="2800" dirty="0" smtClean="0">
              <a:cs typeface="Arial" charset="0"/>
              <a:sym typeface="Symbol" pitchFamily="18" charset="2"/>
            </a:endParaRPr>
          </a:p>
          <a:p>
            <a:pPr eaLnBrk="1" hangingPunct="1">
              <a:buClr>
                <a:srgbClr val="00B050"/>
              </a:buClr>
              <a:buFont typeface="Wingdings" panose="05000000000000000000" pitchFamily="2" charset="2"/>
              <a:buChar char="Ø"/>
              <a:defRPr/>
            </a:pPr>
            <a:endParaRPr lang="en-US" altLang="en-US" sz="2800" dirty="0" smtClean="0">
              <a:cs typeface="Arial" charset="0"/>
              <a:sym typeface="Symbol" pitchFamily="18" charset="2"/>
            </a:endParaRPr>
          </a:p>
          <a:p>
            <a:pPr eaLnBrk="1" hangingPunct="1">
              <a:buClr>
                <a:srgbClr val="00B05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800" dirty="0" smtClean="0">
                <a:cs typeface="Arial" charset="0"/>
                <a:sym typeface="Symbol" pitchFamily="18" charset="2"/>
              </a:rPr>
              <a:t>It is typically </a:t>
            </a:r>
            <a:r>
              <a:rPr lang="en-US" altLang="en-US" sz="2800" i="1" u="sng" dirty="0" smtClean="0">
                <a:solidFill>
                  <a:srgbClr val="FF0000"/>
                </a:solidFill>
                <a:cs typeface="Arial" charset="0"/>
                <a:sym typeface="Symbol" pitchFamily="18" charset="2"/>
              </a:rPr>
              <a:t>exothermic</a:t>
            </a:r>
            <a:r>
              <a:rPr lang="en-US" altLang="en-US" sz="2800" dirty="0" smtClean="0">
                <a:cs typeface="Arial" charset="0"/>
                <a:sym typeface="Symbol" pitchFamily="18" charset="2"/>
              </a:rPr>
              <a:t>, so, for most elements, it is </a:t>
            </a:r>
            <a:r>
              <a:rPr lang="en-US" altLang="en-US" sz="2800" u="sng" dirty="0" smtClean="0">
                <a:solidFill>
                  <a:srgbClr val="FF0000"/>
                </a:solidFill>
                <a:cs typeface="Arial" charset="0"/>
                <a:sym typeface="Symbol" pitchFamily="18" charset="2"/>
              </a:rPr>
              <a:t>negative</a:t>
            </a:r>
            <a:r>
              <a:rPr lang="en-US" altLang="en-US" sz="2800" dirty="0" smtClean="0">
                <a:cs typeface="Arial" charset="0"/>
                <a:sym typeface="Symbol" pitchFamily="18" charset="2"/>
              </a:rPr>
              <a:t> (after all, there is the </a:t>
            </a:r>
            <a:r>
              <a:rPr lang="en-US" altLang="en-US" sz="2800" i="1" dirty="0" err="1" smtClean="0">
                <a:cs typeface="Arial" charset="0"/>
                <a:sym typeface="Symbol" pitchFamily="18" charset="2"/>
              </a:rPr>
              <a:t>Z</a:t>
            </a:r>
            <a:r>
              <a:rPr lang="en-US" altLang="en-US" sz="2800" baseline="-25000" dirty="0" err="1" smtClean="0">
                <a:cs typeface="Arial" charset="0"/>
                <a:sym typeface="Symbol" pitchFamily="18" charset="2"/>
              </a:rPr>
              <a:t>eff</a:t>
            </a:r>
            <a:r>
              <a:rPr lang="en-US" altLang="en-US" sz="2800" baseline="-25000" dirty="0" smtClean="0">
                <a:cs typeface="Arial" charset="0"/>
                <a:sym typeface="Symbol" pitchFamily="18" charset="2"/>
              </a:rPr>
              <a:t> </a:t>
            </a:r>
            <a:r>
              <a:rPr lang="en-US" altLang="en-US" sz="2800" dirty="0" smtClean="0">
                <a:cs typeface="Arial" charset="0"/>
                <a:sym typeface="Symbol" pitchFamily="18" charset="2"/>
              </a:rPr>
              <a:t>– </a:t>
            </a:r>
            <a:r>
              <a:rPr lang="en-US" altLang="en-US" sz="2800" dirty="0" smtClean="0">
                <a:solidFill>
                  <a:srgbClr val="FF0000"/>
                </a:solidFill>
                <a:cs typeface="Arial" charset="0"/>
                <a:sym typeface="Symbol" pitchFamily="18" charset="2"/>
              </a:rPr>
              <a:t>attraction</a:t>
            </a:r>
            <a:r>
              <a:rPr lang="en-US" altLang="en-US" sz="2800" dirty="0" smtClean="0">
                <a:cs typeface="Arial" charset="0"/>
                <a:sym typeface="Symbol" pitchFamily="18" charset="2"/>
              </a:rPr>
              <a:t> by the </a:t>
            </a:r>
            <a:r>
              <a:rPr lang="en-US" altLang="en-US" sz="2800" dirty="0" err="1" smtClean="0">
                <a:cs typeface="Arial" charset="0"/>
                <a:sym typeface="Symbol" pitchFamily="18" charset="2"/>
              </a:rPr>
              <a:t>necleus</a:t>
            </a:r>
            <a:r>
              <a:rPr lang="en-US" altLang="en-US" sz="2800" dirty="0" smtClean="0">
                <a:cs typeface="Arial" charset="0"/>
                <a:sym typeface="Symbol" pitchFamily="18" charset="2"/>
              </a:rPr>
              <a:t>.)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9144000" cy="1143000"/>
          </a:xfrm>
        </p:spPr>
        <p:txBody>
          <a:bodyPr/>
          <a:lstStyle/>
          <a:p>
            <a:r>
              <a:rPr lang="en-US" altLang="en-US" sz="3200" b="1" dirty="0" smtClean="0"/>
              <a:t>General Trend in Electron Affinity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67691"/>
            <a:ext cx="4724400" cy="5410200"/>
          </a:xfrm>
        </p:spPr>
        <p:txBody>
          <a:bodyPr/>
          <a:lstStyle/>
          <a:p>
            <a:pPr eaLnBrk="1" hangingPunct="1">
              <a:buClr>
                <a:srgbClr val="00B05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Not much change in a group.</a:t>
            </a:r>
          </a:p>
          <a:p>
            <a:pPr eaLnBrk="1" hangingPunct="1">
              <a:buClr>
                <a:srgbClr val="00B050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Across a period, it generally </a:t>
            </a:r>
            <a:r>
              <a:rPr lang="en-US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increases (why?)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but with </a:t>
            </a:r>
            <a:r>
              <a:rPr lang="en-US" alt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hree</a:t>
            </a:r>
            <a:r>
              <a:rPr lang="en-US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notable </a:t>
            </a:r>
            <a:r>
              <a:rPr lang="en-US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exceptions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include the following:</a:t>
            </a:r>
          </a:p>
          <a:p>
            <a:pPr marL="514350" indent="-514350" eaLnBrk="1" hangingPunct="1">
              <a:buFont typeface="+mj-lt"/>
              <a:buAutoNum type="arabicParenR"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Group 2A: </a:t>
            </a:r>
            <a:r>
              <a:rPr lang="en-US" altLang="en-US" sz="24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sublevel is full!</a:t>
            </a:r>
          </a:p>
          <a:p>
            <a:pPr marL="514350" indent="-514350" eaLnBrk="1" hangingPunct="1">
              <a:buFont typeface="+mj-lt"/>
              <a:buAutoNum type="arabicParenR"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Group 5A: </a:t>
            </a:r>
            <a:r>
              <a:rPr lang="en-US" altLang="en-US" sz="24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sublevel is half-full!</a:t>
            </a:r>
          </a:p>
          <a:p>
            <a:pPr marL="514350" indent="-514350" eaLnBrk="1" hangingPunct="1">
              <a:buFont typeface="+mj-lt"/>
              <a:buAutoNum type="arabicParenR"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Group 8A: </a:t>
            </a:r>
            <a:r>
              <a:rPr lang="en-US" altLang="en-US" sz="24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sublevel is full!</a:t>
            </a:r>
          </a:p>
          <a:p>
            <a:pPr marL="514350" indent="-514350" eaLnBrk="1" hangingPunct="1">
              <a:buNone/>
              <a:defRPr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Note: the electron affinity for many of these elements is </a:t>
            </a:r>
            <a:r>
              <a:rPr lang="en-US" altLang="en-US" sz="24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positive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(X</a:t>
            </a:r>
            <a:r>
              <a:rPr lang="en-US" altLang="en-US" sz="2400" baseline="30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–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is unstable).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Documents and Settings\GEX\Desktop\51579 IRDVD Brown\51579 Lecture PPT\Chapter 07\07_12_Figur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296391"/>
            <a:ext cx="4160137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下箭头 3"/>
          <p:cNvSpPr/>
          <p:nvPr/>
        </p:nvSpPr>
        <p:spPr bwMode="auto">
          <a:xfrm>
            <a:off x="5334000" y="2220191"/>
            <a:ext cx="152400" cy="381000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7" name="下箭头 6"/>
          <p:cNvSpPr/>
          <p:nvPr/>
        </p:nvSpPr>
        <p:spPr bwMode="auto">
          <a:xfrm>
            <a:off x="7010400" y="2296391"/>
            <a:ext cx="152400" cy="381000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8" name="下箭头 7"/>
          <p:cNvSpPr/>
          <p:nvPr/>
        </p:nvSpPr>
        <p:spPr bwMode="auto">
          <a:xfrm>
            <a:off x="8458200" y="1849859"/>
            <a:ext cx="152400" cy="381000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8305800" y="2656055"/>
            <a:ext cx="457200" cy="2078736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2" name="右箭头 1"/>
          <p:cNvSpPr/>
          <p:nvPr/>
        </p:nvSpPr>
        <p:spPr bwMode="auto">
          <a:xfrm>
            <a:off x="5029200" y="3429000"/>
            <a:ext cx="304800" cy="76200"/>
          </a:xfrm>
          <a:prstGeom prst="rightArrow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12" name="右箭头 11"/>
          <p:cNvSpPr/>
          <p:nvPr/>
        </p:nvSpPr>
        <p:spPr bwMode="auto">
          <a:xfrm>
            <a:off x="6699738" y="3429000"/>
            <a:ext cx="304800" cy="76200"/>
          </a:xfrm>
          <a:prstGeom prst="rightArrow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3446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Metal, Nonmetals, and Metalloids</a:t>
            </a:r>
          </a:p>
        </p:txBody>
      </p:sp>
      <p:pic>
        <p:nvPicPr>
          <p:cNvPr id="24579" name="Picture 4" descr="C:\Documents and Settings\GEX\Desktop\51579 image ppt\Chapter 07\07_13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21618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 smtClean="0"/>
              <a:t>Metals Differ from Nonmetals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409699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Metals tend to form </a:t>
            </a:r>
            <a:r>
              <a:rPr lang="en-US" altLang="en-US" sz="2800" dirty="0" err="1" smtClean="0">
                <a:solidFill>
                  <a:srgbClr val="FF0000"/>
                </a:solidFill>
              </a:rPr>
              <a:t>cations</a:t>
            </a:r>
            <a:r>
              <a:rPr lang="en-US" altLang="en-US" sz="2800" dirty="0" smtClean="0"/>
              <a:t>.</a:t>
            </a:r>
          </a:p>
          <a:p>
            <a:pPr eaLnBrk="1" hangingPunct="1"/>
            <a:r>
              <a:rPr lang="en-US" altLang="en-US" sz="2800" dirty="0" smtClean="0"/>
              <a:t>Nonmetals tend to form </a:t>
            </a:r>
            <a:r>
              <a:rPr lang="en-US" altLang="en-US" sz="2800" dirty="0" smtClean="0">
                <a:solidFill>
                  <a:srgbClr val="FF0000"/>
                </a:solidFill>
              </a:rPr>
              <a:t>anions</a:t>
            </a:r>
            <a:r>
              <a:rPr lang="en-US" altLang="en-US" sz="2800" dirty="0" smtClean="0"/>
              <a:t>.</a:t>
            </a:r>
          </a:p>
        </p:txBody>
      </p:sp>
      <p:pic>
        <p:nvPicPr>
          <p:cNvPr id="25604" name="Picture 5" descr="C:\Documents and Settings\GEX\Desktop\51579 image ppt\Chapter 07\07_15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19400"/>
            <a:ext cx="7543800" cy="27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右大括号 1"/>
          <p:cNvSpPr/>
          <p:nvPr/>
        </p:nvSpPr>
        <p:spPr bwMode="auto">
          <a:xfrm>
            <a:off x="5715000" y="1638299"/>
            <a:ext cx="533400" cy="609600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12877" y="1712266"/>
            <a:ext cx="2513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Ionic compounds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-12192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Metals</a:t>
            </a:r>
          </a:p>
        </p:txBody>
      </p:sp>
      <p:sp>
        <p:nvSpPr>
          <p:cNvPr id="26627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8001000" cy="3733800"/>
          </a:xfrm>
        </p:spPr>
        <p:txBody>
          <a:bodyPr/>
          <a:lstStyle/>
          <a:p>
            <a:pPr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en-US" altLang="en-US" sz="2600" dirty="0" smtClean="0"/>
              <a:t>Most of the elements in nature are metals (</a:t>
            </a:r>
            <a:r>
              <a:rPr lang="en-US" altLang="en-US" sz="2600" dirty="0" smtClean="0">
                <a:solidFill>
                  <a:srgbClr val="FF0000"/>
                </a:solidFill>
              </a:rPr>
              <a:t>~ 85%</a:t>
            </a:r>
            <a:r>
              <a:rPr lang="en-US" altLang="en-US" sz="2600" dirty="0" smtClean="0"/>
              <a:t>).</a:t>
            </a:r>
          </a:p>
          <a:p>
            <a:pPr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en-US" altLang="en-US" sz="2600" dirty="0" smtClean="0"/>
              <a:t>Properties of metals:</a:t>
            </a:r>
          </a:p>
          <a:p>
            <a:pPr lvl="1" eaLnBrk="1" hangingPunct="1"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en-US" sz="2600" dirty="0" smtClean="0"/>
              <a:t>Shiny luster</a:t>
            </a:r>
          </a:p>
          <a:p>
            <a:pPr lvl="1" eaLnBrk="1" hangingPunct="1"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en-US" sz="2600" dirty="0" smtClean="0"/>
              <a:t>Conduct heat and electricity</a:t>
            </a:r>
          </a:p>
          <a:p>
            <a:pPr lvl="1" eaLnBrk="1" hangingPunct="1"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en-US" sz="2600" dirty="0" smtClean="0"/>
              <a:t>Malleable and ductile</a:t>
            </a:r>
          </a:p>
          <a:p>
            <a:pPr lvl="1" eaLnBrk="1" hangingPunct="1"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en-US" sz="2600" dirty="0" smtClean="0"/>
              <a:t>Solids at room temperature (except mercury)</a:t>
            </a:r>
          </a:p>
          <a:p>
            <a:pPr lvl="1" eaLnBrk="1" hangingPunct="1"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en-US" sz="2600" dirty="0" smtClean="0"/>
              <a:t>Low ionization energies/form </a:t>
            </a:r>
            <a:r>
              <a:rPr lang="en-US" altLang="en-US" sz="2600" dirty="0" err="1" smtClean="0"/>
              <a:t>cations</a:t>
            </a:r>
            <a:r>
              <a:rPr lang="en-US" altLang="en-US" sz="2600" dirty="0" smtClean="0"/>
              <a:t> easily</a:t>
            </a:r>
          </a:p>
        </p:txBody>
      </p:sp>
      <p:pic>
        <p:nvPicPr>
          <p:cNvPr id="26628" name="Picture 5" descr="C:\Documents and Settings\GEX\Desktop\51579 image ppt\Chapter 07\07_14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192" y="4724400"/>
            <a:ext cx="2039938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163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Metal Chemistry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7772400" cy="19812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Compounds formed between metals and nonmetals tend to be </a:t>
            </a:r>
            <a:r>
              <a:rPr lang="en-US" altLang="en-US" sz="2800" u="sng" dirty="0" smtClean="0">
                <a:solidFill>
                  <a:srgbClr val="FF0000"/>
                </a:solidFill>
              </a:rPr>
              <a:t>ionic</a:t>
            </a:r>
            <a:r>
              <a:rPr lang="en-US" altLang="en-US" sz="2800" dirty="0" smtClean="0"/>
              <a:t>.</a:t>
            </a:r>
          </a:p>
          <a:p>
            <a:pPr eaLnBrk="1" hangingPunct="1"/>
            <a:r>
              <a:rPr lang="en-US" altLang="en-US" sz="2800" dirty="0" smtClean="0">
                <a:solidFill>
                  <a:srgbClr val="FF0000"/>
                </a:solidFill>
              </a:rPr>
              <a:t>Metal oxides </a:t>
            </a:r>
            <a:r>
              <a:rPr lang="en-US" altLang="en-US" sz="2800" dirty="0" smtClean="0"/>
              <a:t>tend to be </a:t>
            </a:r>
            <a:r>
              <a:rPr lang="en-US" altLang="en-US" sz="2800" dirty="0" smtClean="0">
                <a:solidFill>
                  <a:srgbClr val="FF0000"/>
                </a:solidFill>
              </a:rPr>
              <a:t>basic </a:t>
            </a:r>
            <a:r>
              <a:rPr lang="en-US" altLang="en-US" sz="2800" dirty="0" smtClean="0"/>
              <a:t>(Li</a:t>
            </a:r>
            <a:r>
              <a:rPr lang="en-US" altLang="en-US" sz="2800" baseline="-25000" dirty="0" smtClean="0"/>
              <a:t>2</a:t>
            </a:r>
            <a:r>
              <a:rPr lang="en-US" altLang="en-US" sz="2800" dirty="0" smtClean="0"/>
              <a:t>O, </a:t>
            </a:r>
            <a:r>
              <a:rPr lang="en-US" altLang="en-US" sz="2800" dirty="0" err="1" smtClean="0"/>
              <a:t>MgO</a:t>
            </a:r>
            <a:r>
              <a:rPr lang="en-US" altLang="en-US" sz="2800" dirty="0" smtClean="0"/>
              <a:t>).</a:t>
            </a:r>
          </a:p>
        </p:txBody>
      </p:sp>
      <p:pic>
        <p:nvPicPr>
          <p:cNvPr id="27652" name="Picture 5" descr="C:\Documents and Settings\GEX\Desktop\51579 image ppt\Chapter 07\07_16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124200"/>
            <a:ext cx="6937815" cy="2879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Nonmetals</a:t>
            </a:r>
          </a:p>
        </p:txBody>
      </p:sp>
      <p:sp>
        <p:nvSpPr>
          <p:cNvPr id="28675" name="Rectangle 4"/>
          <p:cNvSpPr>
            <a:spLocks noGrp="1" noChangeArrowheads="1"/>
          </p:cNvSpPr>
          <p:nvPr>
            <p:ph idx="1"/>
          </p:nvPr>
        </p:nvSpPr>
        <p:spPr>
          <a:xfrm>
            <a:off x="183356" y="1143000"/>
            <a:ext cx="8839200" cy="33528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Nonmetals are found on the right hand side of the periodic table.</a:t>
            </a:r>
          </a:p>
          <a:p>
            <a:pPr eaLnBrk="1" hangingPunct="1"/>
            <a:r>
              <a:rPr lang="en-US" altLang="en-US" sz="2800" dirty="0" smtClean="0"/>
              <a:t>Properties of nonmetals include the following:</a:t>
            </a:r>
          </a:p>
          <a:p>
            <a:pPr eaLnBrk="1" hangingPunct="1"/>
            <a:r>
              <a:rPr lang="en-US" altLang="en-US" sz="2800" dirty="0" smtClean="0"/>
              <a:t>Solid, liquid, or gas (depends on element)</a:t>
            </a:r>
          </a:p>
          <a:p>
            <a:pPr eaLnBrk="1" hangingPunct="1"/>
            <a:r>
              <a:rPr lang="en-US" altLang="en-US" sz="2800" dirty="0" smtClean="0"/>
              <a:t>Solids are dull, brittle, </a:t>
            </a:r>
            <a:r>
              <a:rPr lang="en-US" altLang="en-US" sz="2800" u="sng" dirty="0" smtClean="0">
                <a:solidFill>
                  <a:srgbClr val="FF0000"/>
                </a:solidFill>
              </a:rPr>
              <a:t>poor conductors</a:t>
            </a:r>
          </a:p>
          <a:p>
            <a:pPr eaLnBrk="1" hangingPunct="1"/>
            <a:r>
              <a:rPr lang="en-US" altLang="en-US" sz="2800" dirty="0" smtClean="0">
                <a:solidFill>
                  <a:srgbClr val="FF0000"/>
                </a:solidFill>
              </a:rPr>
              <a:t>Large</a:t>
            </a:r>
            <a:r>
              <a:rPr lang="en-US" altLang="en-US" sz="2800" dirty="0" smtClean="0"/>
              <a:t> </a:t>
            </a:r>
            <a:r>
              <a:rPr lang="en-US" altLang="en-US" sz="2800" dirty="0" smtClean="0">
                <a:solidFill>
                  <a:srgbClr val="FF0000"/>
                </a:solidFill>
              </a:rPr>
              <a:t>negative electronegativity</a:t>
            </a:r>
            <a:r>
              <a:rPr lang="en-US" altLang="en-US" sz="2800" dirty="0" smtClean="0"/>
              <a:t>/form anions readily</a:t>
            </a:r>
          </a:p>
        </p:txBody>
      </p:sp>
      <p:pic>
        <p:nvPicPr>
          <p:cNvPr id="28676" name="Picture 5" descr="C:\Documents and Settings\GEX\Desktop\51579 image ppt\Chapter 07\07_17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255008"/>
            <a:ext cx="3657600" cy="2265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163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Nonmetal Chemistry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4191000"/>
            <a:ext cx="8915400" cy="16764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Substances containing only nonmetals are </a:t>
            </a:r>
            <a:r>
              <a:rPr lang="en-US" altLang="en-US" sz="2800" dirty="0" smtClean="0">
                <a:solidFill>
                  <a:srgbClr val="FF0000"/>
                </a:solidFill>
              </a:rPr>
              <a:t>molecular</a:t>
            </a:r>
            <a:r>
              <a:rPr lang="en-US" altLang="en-US" sz="2800" dirty="0" smtClean="0"/>
              <a:t> 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olidFill>
                  <a:srgbClr val="FF0000"/>
                </a:solidFill>
              </a:rPr>
              <a:t>covalent</a:t>
            </a:r>
            <a:r>
              <a:rPr lang="en-US" altLang="zh-CN" sz="2800" dirty="0" smtClean="0"/>
              <a:t>)</a:t>
            </a:r>
            <a:r>
              <a:rPr lang="zh-CN" altLang="en-US" sz="2800" dirty="0" smtClean="0"/>
              <a:t> </a:t>
            </a:r>
            <a:r>
              <a:rPr lang="en-US" altLang="en-US" sz="2800" dirty="0" smtClean="0"/>
              <a:t>compounds.</a:t>
            </a:r>
          </a:p>
          <a:p>
            <a:pPr eaLnBrk="1" hangingPunct="1"/>
            <a:r>
              <a:rPr lang="en-US" altLang="en-US" sz="2800" dirty="0" smtClean="0"/>
              <a:t>Most </a:t>
            </a:r>
            <a:r>
              <a:rPr lang="en-US" altLang="en-US" sz="2800" dirty="0" smtClean="0">
                <a:solidFill>
                  <a:srgbClr val="FF0000"/>
                </a:solidFill>
              </a:rPr>
              <a:t>nonmetal oxides </a:t>
            </a:r>
            <a:r>
              <a:rPr lang="en-US" altLang="en-US" sz="2800" dirty="0" smtClean="0"/>
              <a:t>are </a:t>
            </a:r>
            <a:r>
              <a:rPr lang="en-US" altLang="en-US" sz="2800" dirty="0" smtClean="0">
                <a:solidFill>
                  <a:srgbClr val="FF0000"/>
                </a:solidFill>
              </a:rPr>
              <a:t>acidic 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N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O</a:t>
            </a:r>
            <a:r>
              <a:rPr lang="en-US" altLang="zh-CN" sz="2800" baseline="-25000" dirty="0" smtClean="0"/>
              <a:t>5</a:t>
            </a:r>
            <a:r>
              <a:rPr lang="en-US" altLang="zh-CN" sz="2800" dirty="0" smtClean="0"/>
              <a:t>, SO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, CO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)</a:t>
            </a:r>
            <a:r>
              <a:rPr lang="en-US" altLang="en-US" sz="2800" dirty="0" smtClean="0"/>
              <a:t>.</a:t>
            </a:r>
          </a:p>
        </p:txBody>
      </p:sp>
      <p:pic>
        <p:nvPicPr>
          <p:cNvPr id="29700" name="Picture 5" descr="C:\Documents and Settings\GEX\Desktop\51579 image ppt\Chapter 07\07_18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90600"/>
            <a:ext cx="4648200" cy="3038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3716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Recap of a Comparison of the Properties of Metals and Nonmetals</a:t>
            </a:r>
          </a:p>
        </p:txBody>
      </p:sp>
      <p:sp>
        <p:nvSpPr>
          <p:cNvPr id="30723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4648200"/>
            <a:ext cx="7772400" cy="1066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smtClean="0"/>
              <a:t>	</a:t>
            </a:r>
          </a:p>
        </p:txBody>
      </p:sp>
      <p:sp>
        <p:nvSpPr>
          <p:cNvPr id="30724" name="Text Box 6"/>
          <p:cNvSpPr txBox="1">
            <a:spLocks noChangeArrowheads="1"/>
          </p:cNvSpPr>
          <p:nvPr/>
        </p:nvSpPr>
        <p:spPr bwMode="auto">
          <a:xfrm>
            <a:off x="3794125" y="24098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30725" name="Picture 6" descr="C:\Documents and Settings\GEX\Desktop\51579 image ppt\Chapter 07\07_03_Tab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" y="2860929"/>
            <a:ext cx="902851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Metalloids (all in </a:t>
            </a:r>
            <a:r>
              <a:rPr lang="en-US" altLang="en-US" sz="3200" b="1" i="1" dirty="0" smtClean="0"/>
              <a:t>p</a:t>
            </a:r>
            <a:r>
              <a:rPr lang="en-US" altLang="en-US" sz="3200" b="1" dirty="0" smtClean="0"/>
              <a:t>-block)</a:t>
            </a:r>
          </a:p>
        </p:txBody>
      </p:sp>
      <p:sp>
        <p:nvSpPr>
          <p:cNvPr id="31747" name="Rectangle 4"/>
          <p:cNvSpPr>
            <a:spLocks noGrp="1" noChangeArrowheads="1"/>
          </p:cNvSpPr>
          <p:nvPr>
            <p:ph idx="1"/>
          </p:nvPr>
        </p:nvSpPr>
        <p:spPr>
          <a:xfrm>
            <a:off x="471917" y="1103429"/>
            <a:ext cx="8153400" cy="24384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Metalloids have some characteristics of </a:t>
            </a:r>
            <a:r>
              <a:rPr lang="en-US" altLang="en-US" sz="2800" dirty="0" smtClean="0">
                <a:solidFill>
                  <a:srgbClr val="FF0000"/>
                </a:solidFill>
              </a:rPr>
              <a:t>metals</a:t>
            </a:r>
            <a:r>
              <a:rPr lang="en-US" altLang="en-US" sz="2800" dirty="0" smtClean="0"/>
              <a:t> and some of </a:t>
            </a:r>
            <a:r>
              <a:rPr lang="en-US" altLang="en-US" sz="2800" dirty="0" smtClean="0">
                <a:solidFill>
                  <a:srgbClr val="FF0000"/>
                </a:solidFill>
              </a:rPr>
              <a:t>nonmetals</a:t>
            </a:r>
            <a:r>
              <a:rPr lang="en-US" altLang="en-US" sz="2800" dirty="0" smtClean="0"/>
              <a:t>.</a:t>
            </a:r>
          </a:p>
          <a:p>
            <a:pPr eaLnBrk="1" hangingPunct="1"/>
            <a:r>
              <a:rPr lang="en-US" altLang="en-US" sz="2800" dirty="0" smtClean="0"/>
              <a:t>Several metalloids are electrical </a:t>
            </a:r>
            <a:r>
              <a:rPr lang="en-US" altLang="en-US" sz="2800" u="sng" dirty="0" smtClean="0">
                <a:solidFill>
                  <a:srgbClr val="FF0000"/>
                </a:solidFill>
              </a:rPr>
              <a:t>semiconductors</a:t>
            </a:r>
            <a:r>
              <a:rPr lang="en-US" altLang="en-US" sz="2800" dirty="0" smtClean="0"/>
              <a:t> (computer chips).</a:t>
            </a:r>
          </a:p>
        </p:txBody>
      </p:sp>
      <p:pic>
        <p:nvPicPr>
          <p:cNvPr id="31748" name="Picture 5" descr="C:\Documents and Settings\GEX\Desktop\51579 image ppt\Chapter 07\07_19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17" y="3273658"/>
            <a:ext cx="3862817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://image.slidesharecdn.com/07periodictable-110101201727-phpapp02/95/the-periodic-table-12-728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67" t="18117" b="27553"/>
          <a:stretch/>
        </p:blipFill>
        <p:spPr bwMode="auto">
          <a:xfrm>
            <a:off x="4967717" y="2627429"/>
            <a:ext cx="3124200" cy="326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椭圆 1"/>
          <p:cNvSpPr/>
          <p:nvPr/>
        </p:nvSpPr>
        <p:spPr bwMode="auto">
          <a:xfrm rot="19117731">
            <a:off x="5885796" y="2973273"/>
            <a:ext cx="540770" cy="219796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solidFill>
                  <a:srgbClr val="0000FF"/>
                </a:solidFill>
              </a:ln>
              <a:noFill/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6019800"/>
            <a:ext cx="6354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Commonly accepted 6: </a:t>
            </a:r>
            <a:r>
              <a:rPr lang="en-US" altLang="zh-CN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B, Si/</a:t>
            </a:r>
            <a:r>
              <a:rPr lang="en-US" altLang="zh-CN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Ge</a:t>
            </a:r>
            <a:r>
              <a:rPr lang="en-US" altLang="zh-CN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, As/</a:t>
            </a:r>
            <a:r>
              <a:rPr lang="en-US" altLang="zh-CN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Sb</a:t>
            </a:r>
            <a:r>
              <a:rPr lang="en-US" altLang="zh-CN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altLang="zh-CN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Te</a:t>
            </a:r>
            <a:endParaRPr lang="zh-CN" alt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 smtClean="0"/>
              <a:t>Group Trends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Elements in a group have </a:t>
            </a:r>
            <a:r>
              <a:rPr lang="en-US" altLang="en-US" sz="2800" u="sng" dirty="0" smtClean="0">
                <a:latin typeface="Times New Roman" pitchFamily="18" charset="0"/>
                <a:cs typeface="Times New Roman" pitchFamily="18" charset="0"/>
              </a:rPr>
              <a:t>similar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properties.</a:t>
            </a:r>
          </a:p>
          <a:p>
            <a:r>
              <a:rPr lang="en-US" altLang="en-US" sz="2800" u="sng" dirty="0" smtClean="0">
                <a:latin typeface="Times New Roman" pitchFamily="18" charset="0"/>
                <a:cs typeface="Times New Roman" pitchFamily="18" charset="0"/>
              </a:rPr>
              <a:t>Trends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also exist within groups.</a:t>
            </a:r>
          </a:p>
          <a:p>
            <a:endParaRPr lang="en-US" alt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Groups Compared:</a:t>
            </a:r>
          </a:p>
          <a:p>
            <a:pPr>
              <a:buClr>
                <a:srgbClr val="7030A0"/>
              </a:buClr>
              <a:buFont typeface="Wingdings" pitchFamily="2" charset="2"/>
              <a:buChar char="Ø"/>
            </a:pPr>
            <a:r>
              <a:rPr lang="en-US" altLang="en-US" sz="2800" b="1" dirty="0" smtClean="0">
                <a:latin typeface="Times New Roman" pitchFamily="18" charset="0"/>
                <a:cs typeface="Times New Roman" pitchFamily="18" charset="0"/>
              </a:rPr>
              <a:t>Group 1A: The </a:t>
            </a:r>
            <a:r>
              <a:rPr lang="en-US" alt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Alkali</a:t>
            </a:r>
            <a:r>
              <a:rPr lang="en-US" altLang="en-US" sz="2800" b="1" dirty="0" smtClean="0">
                <a:latin typeface="Times New Roman" pitchFamily="18" charset="0"/>
                <a:cs typeface="Times New Roman" pitchFamily="18" charset="0"/>
              </a:rPr>
              <a:t> Metals</a:t>
            </a:r>
          </a:p>
          <a:p>
            <a:pPr>
              <a:buClr>
                <a:srgbClr val="7030A0"/>
              </a:buClr>
              <a:buFont typeface="Wingdings" pitchFamily="2" charset="2"/>
              <a:buChar char="Ø"/>
            </a:pPr>
            <a:r>
              <a:rPr lang="en-US" altLang="en-US" sz="2800" b="1" dirty="0" smtClean="0">
                <a:latin typeface="Times New Roman" pitchFamily="18" charset="0"/>
                <a:cs typeface="Times New Roman" pitchFamily="18" charset="0"/>
              </a:rPr>
              <a:t>Group 2A: The </a:t>
            </a:r>
            <a:r>
              <a:rPr lang="en-US" alt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Alkaline Earth</a:t>
            </a:r>
            <a:r>
              <a:rPr lang="en-US" altLang="en-US" sz="2800" b="1" dirty="0" smtClean="0">
                <a:latin typeface="Times New Roman" pitchFamily="18" charset="0"/>
                <a:cs typeface="Times New Roman" pitchFamily="18" charset="0"/>
              </a:rPr>
              <a:t> Metals</a:t>
            </a:r>
          </a:p>
          <a:p>
            <a:pPr>
              <a:buClr>
                <a:srgbClr val="7030A0"/>
              </a:buClr>
              <a:buFont typeface="Wingdings" pitchFamily="2" charset="2"/>
              <a:buChar char="Ø"/>
            </a:pPr>
            <a:r>
              <a:rPr lang="en-US" altLang="en-US" sz="2800" b="1" dirty="0" smtClean="0">
                <a:latin typeface="Times New Roman" pitchFamily="18" charset="0"/>
                <a:cs typeface="Times New Roman" pitchFamily="18" charset="0"/>
              </a:rPr>
              <a:t>Group 6A: The </a:t>
            </a:r>
            <a:r>
              <a:rPr lang="en-US" alt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Oxygen</a:t>
            </a:r>
            <a:r>
              <a:rPr lang="en-US" altLang="en-US" sz="2800" b="1" dirty="0" smtClean="0">
                <a:latin typeface="Times New Roman" pitchFamily="18" charset="0"/>
                <a:cs typeface="Times New Roman" pitchFamily="18" charset="0"/>
              </a:rPr>
              <a:t> Group</a:t>
            </a:r>
          </a:p>
          <a:p>
            <a:pPr>
              <a:buClr>
                <a:srgbClr val="7030A0"/>
              </a:buClr>
              <a:buFont typeface="Wingdings" pitchFamily="2" charset="2"/>
              <a:buChar char="Ø"/>
            </a:pPr>
            <a:r>
              <a:rPr lang="en-US" altLang="en-US" sz="2800" b="1" dirty="0" smtClean="0">
                <a:latin typeface="Times New Roman" pitchFamily="18" charset="0"/>
                <a:cs typeface="Times New Roman" pitchFamily="18" charset="0"/>
              </a:rPr>
              <a:t>Group 7A: The </a:t>
            </a:r>
            <a:r>
              <a:rPr lang="en-US" alt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Halogens</a:t>
            </a:r>
          </a:p>
          <a:p>
            <a:pPr>
              <a:buClr>
                <a:srgbClr val="7030A0"/>
              </a:buClr>
              <a:buFont typeface="Wingdings" pitchFamily="2" charset="2"/>
              <a:buChar char="Ø"/>
            </a:pPr>
            <a:r>
              <a:rPr lang="en-US" altLang="en-US" sz="2800" b="1" dirty="0" smtClean="0">
                <a:latin typeface="Times New Roman" pitchFamily="18" charset="0"/>
                <a:cs typeface="Times New Roman" pitchFamily="18" charset="0"/>
              </a:rPr>
              <a:t>Group 8A: The </a:t>
            </a:r>
            <a:r>
              <a:rPr lang="en-US" alt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Noble Gases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Alkali Metals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4343400" cy="48006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Alkali metals</a:t>
            </a:r>
            <a:r>
              <a:rPr lang="en-US" altLang="en-US" sz="2800" smtClean="0"/>
              <a:t> are soft, metallic solids.</a:t>
            </a:r>
          </a:p>
          <a:p>
            <a:pPr eaLnBrk="1" hangingPunct="1"/>
            <a:r>
              <a:rPr lang="en-US" altLang="en-US" sz="2800" smtClean="0"/>
              <a:t>They are found only in compounds in nature, not in their elemental forms.</a:t>
            </a:r>
          </a:p>
          <a:p>
            <a:pPr eaLnBrk="1" hangingPunct="1"/>
            <a:r>
              <a:rPr lang="en-US" altLang="en-US" sz="2800" smtClean="0"/>
              <a:t>Typical metallic properties (luster, conductivity) are seen in them.</a:t>
            </a:r>
          </a:p>
          <a:p>
            <a:pPr eaLnBrk="1" hangingPunct="1"/>
            <a:endParaRPr lang="en-US" altLang="en-US" sz="2800" smtClean="0"/>
          </a:p>
        </p:txBody>
      </p:sp>
      <p:pic>
        <p:nvPicPr>
          <p:cNvPr id="33796" name="Picture 5" descr="C:\Documents and Settings\GEX\Desktop\51579 image ppt\Chapter 07\07_20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50" y="1752600"/>
            <a:ext cx="3676650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Alkali Metal Properties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They have low densities and melting points.</a:t>
            </a:r>
          </a:p>
          <a:p>
            <a:pPr eaLnBrk="1" hangingPunct="1"/>
            <a:r>
              <a:rPr lang="en-US" altLang="en-US" smtClean="0"/>
              <a:t>They also have low ionization energies.</a:t>
            </a:r>
          </a:p>
          <a:p>
            <a:endParaRPr lang="en-US" altLang="en-US" smtClean="0"/>
          </a:p>
        </p:txBody>
      </p:sp>
      <p:pic>
        <p:nvPicPr>
          <p:cNvPr id="34820" name="Picture 5" descr="C:\Documents and Settings\GEX\Desktop\51579 image ppt\Chapter 07\07_04_Tab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91" y="2627745"/>
            <a:ext cx="789476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Alkali Metal Chemistry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5105400"/>
            <a:ext cx="8839200" cy="838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600" dirty="0" smtClean="0"/>
              <a:t>	Their reactions with water are (in)famously exothermic.</a:t>
            </a:r>
          </a:p>
        </p:txBody>
      </p:sp>
      <p:pic>
        <p:nvPicPr>
          <p:cNvPr id="35844" name="Picture 5" descr="C:\Documents and Settings\GEX\Desktop\51579 image ppt\Chapter 07\07_21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81200"/>
            <a:ext cx="6207125" cy="274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381000"/>
            <a:ext cx="9296400" cy="12192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Differences in Alkali Metal Chemistry</a:t>
            </a:r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8763000" cy="3352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 smtClean="0"/>
              <a:t>Lithium reacts with oxygen to make an oxide: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sz="2800" dirty="0"/>
              <a:t>	</a:t>
            </a:r>
            <a:r>
              <a:rPr lang="en-US" altLang="en-US" sz="2800" dirty="0" smtClean="0"/>
              <a:t>		4 Li + </a:t>
            </a:r>
            <a:r>
              <a:rPr lang="en-US" altLang="en-US" sz="2800" dirty="0" err="1" smtClean="0"/>
              <a:t>O</a:t>
            </a:r>
            <a:r>
              <a:rPr lang="en-US" altLang="en-US" sz="2800" baseline="-25000" dirty="0" err="1" smtClean="0"/>
              <a:t>2</a:t>
            </a:r>
            <a:r>
              <a:rPr lang="en-US" altLang="en-US" sz="2800" dirty="0" smtClean="0"/>
              <a:t> </a:t>
            </a:r>
            <a:r>
              <a:rPr lang="en-US" altLang="en-US" sz="2800" dirty="0" smtClean="0">
                <a:sym typeface="Symbol" pitchFamily="18" charset="2"/>
              </a:rPr>
              <a:t> 2 </a:t>
            </a:r>
            <a:r>
              <a:rPr lang="en-US" altLang="en-US" sz="2800" dirty="0" err="1" smtClean="0">
                <a:sym typeface="Symbol" pitchFamily="18" charset="2"/>
              </a:rPr>
              <a:t>Li</a:t>
            </a:r>
            <a:r>
              <a:rPr lang="en-US" altLang="en-US" sz="2800" baseline="-25000" dirty="0" err="1" smtClean="0">
                <a:sym typeface="Symbol" pitchFamily="18" charset="2"/>
              </a:rPr>
              <a:t>2</a:t>
            </a:r>
            <a:r>
              <a:rPr lang="en-US" altLang="en-US" sz="2800" dirty="0" err="1" smtClean="0">
                <a:sym typeface="Symbol" pitchFamily="18" charset="2"/>
              </a:rPr>
              <a:t>O</a:t>
            </a:r>
            <a:endParaRPr lang="en-US" altLang="en-US" sz="2800" dirty="0" smtClean="0"/>
          </a:p>
          <a:p>
            <a:pPr eaLnBrk="1" hangingPunct="1">
              <a:defRPr/>
            </a:pPr>
            <a:r>
              <a:rPr lang="en-US" altLang="en-US" sz="2800" dirty="0" smtClean="0"/>
              <a:t>Sodium reacts with oxygen to form a peroxide: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sz="2800" dirty="0"/>
              <a:t>	</a:t>
            </a:r>
            <a:r>
              <a:rPr lang="en-US" altLang="en-US" sz="2800" dirty="0" smtClean="0"/>
              <a:t>		2 Na + </a:t>
            </a:r>
            <a:r>
              <a:rPr lang="en-US" altLang="en-US" sz="2800" dirty="0" err="1" smtClean="0"/>
              <a:t>O</a:t>
            </a:r>
            <a:r>
              <a:rPr lang="en-US" altLang="en-US" sz="2800" baseline="-25000" dirty="0" err="1" smtClean="0"/>
              <a:t>2</a:t>
            </a:r>
            <a:r>
              <a:rPr lang="en-US" altLang="en-US" sz="2800" dirty="0" smtClean="0"/>
              <a:t> </a:t>
            </a:r>
            <a:r>
              <a:rPr lang="en-US" altLang="en-US" sz="2800" dirty="0" smtClean="0">
                <a:sym typeface="Symbol" pitchFamily="18" charset="2"/>
              </a:rPr>
              <a:t> </a:t>
            </a:r>
            <a:r>
              <a:rPr lang="en-US" altLang="en-US" sz="2800" dirty="0" err="1" smtClean="0">
                <a:sym typeface="Symbol" pitchFamily="18" charset="2"/>
              </a:rPr>
              <a:t>Na</a:t>
            </a:r>
            <a:r>
              <a:rPr lang="en-US" altLang="en-US" sz="2800" baseline="-25000" dirty="0" err="1" smtClean="0">
                <a:sym typeface="Symbol" pitchFamily="18" charset="2"/>
              </a:rPr>
              <a:t>2</a:t>
            </a:r>
            <a:r>
              <a:rPr lang="en-US" altLang="en-US" sz="2800" dirty="0" err="1" smtClean="0">
                <a:sym typeface="Symbol" pitchFamily="18" charset="2"/>
              </a:rPr>
              <a:t>O</a:t>
            </a:r>
            <a:r>
              <a:rPr lang="en-US" altLang="en-US" sz="2800" baseline="-25000" dirty="0" err="1" smtClean="0">
                <a:sym typeface="Symbol" pitchFamily="18" charset="2"/>
              </a:rPr>
              <a:t>2</a:t>
            </a:r>
            <a:endParaRPr lang="en-US" altLang="en-US" sz="2800" dirty="0" smtClean="0"/>
          </a:p>
          <a:p>
            <a:pPr eaLnBrk="1" hangingPunct="1">
              <a:defRPr/>
            </a:pPr>
            <a:r>
              <a:rPr lang="en-US" altLang="en-US" sz="2800" dirty="0" smtClean="0"/>
              <a:t>K, </a:t>
            </a:r>
            <a:r>
              <a:rPr lang="en-US" altLang="en-US" sz="2800" dirty="0" err="1" smtClean="0"/>
              <a:t>Rb</a:t>
            </a:r>
            <a:r>
              <a:rPr lang="en-US" altLang="en-US" sz="2800" dirty="0" smtClean="0"/>
              <a:t>, and Cs also form </a:t>
            </a:r>
            <a:r>
              <a:rPr lang="en-US" altLang="en-US" sz="2800" dirty="0" err="1" smtClean="0"/>
              <a:t>superoxides</a:t>
            </a:r>
            <a:r>
              <a:rPr lang="en-US" altLang="en-US" sz="2800" dirty="0" smtClean="0"/>
              <a:t>:</a:t>
            </a:r>
          </a:p>
          <a:p>
            <a:pPr algn="ctr" eaLnBrk="1" hangingPunct="1">
              <a:buFontTx/>
              <a:buNone/>
              <a:defRPr/>
            </a:pPr>
            <a:r>
              <a:rPr lang="en-US" altLang="en-US" sz="2800" dirty="0"/>
              <a:t>M</a:t>
            </a:r>
            <a:r>
              <a:rPr lang="en-US" altLang="en-US" sz="2800" dirty="0" smtClean="0"/>
              <a:t> + </a:t>
            </a:r>
            <a:r>
              <a:rPr lang="en-US" altLang="en-US" sz="2800" dirty="0" err="1" smtClean="0"/>
              <a:t>O</a:t>
            </a:r>
            <a:r>
              <a:rPr lang="en-US" altLang="en-US" sz="2800" baseline="-25000" dirty="0" err="1" smtClean="0"/>
              <a:t>2</a:t>
            </a:r>
            <a:r>
              <a:rPr lang="en-US" altLang="en-US" sz="2800" dirty="0" smtClean="0"/>
              <a:t> </a:t>
            </a:r>
            <a:r>
              <a:rPr lang="en-US" altLang="en-US" sz="2800" dirty="0" smtClean="0">
                <a:sym typeface="Symbol" pitchFamily="18" charset="2"/>
              </a:rPr>
              <a:t> </a:t>
            </a:r>
            <a:r>
              <a:rPr lang="en-US" altLang="en-US" sz="2800" dirty="0" err="1">
                <a:sym typeface="Symbol" pitchFamily="18" charset="2"/>
              </a:rPr>
              <a:t>M</a:t>
            </a:r>
            <a:r>
              <a:rPr lang="en-US" altLang="en-US" sz="2800" dirty="0" err="1" smtClean="0">
                <a:sym typeface="Symbol" pitchFamily="18" charset="2"/>
              </a:rPr>
              <a:t>O</a:t>
            </a:r>
            <a:r>
              <a:rPr lang="en-US" altLang="en-US" sz="2800" baseline="-25000" dirty="0" err="1" smtClean="0">
                <a:sym typeface="Symbol" pitchFamily="18" charset="2"/>
              </a:rPr>
              <a:t>2</a:t>
            </a:r>
            <a:endParaRPr lang="en-US" altLang="en-US" sz="2800" dirty="0" smtClean="0">
              <a:sym typeface="Symbol" pitchFamily="18" charset="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sz="3200" b="1" dirty="0" smtClean="0"/>
              <a:t>Flame Tests (</a:t>
            </a:r>
            <a:r>
              <a:rPr lang="en-US" altLang="zh-CN" sz="3200" dirty="0">
                <a:solidFill>
                  <a:srgbClr val="FF0000"/>
                </a:solidFill>
              </a:rPr>
              <a:t>atomic emission </a:t>
            </a:r>
            <a:r>
              <a:rPr lang="en-US" altLang="zh-CN" sz="3200" dirty="0"/>
              <a:t>spectrometry</a:t>
            </a:r>
            <a:r>
              <a:rPr lang="en-US" altLang="en-US" sz="3200" b="1" dirty="0" smtClean="0"/>
              <a:t>)</a:t>
            </a:r>
          </a:p>
        </p:txBody>
      </p:sp>
      <p:sp>
        <p:nvSpPr>
          <p:cNvPr id="37891" name="Content Placeholder 5"/>
          <p:cNvSpPr>
            <a:spLocks noGrp="1"/>
          </p:cNvSpPr>
          <p:nvPr>
            <p:ph idx="1"/>
          </p:nvPr>
        </p:nvSpPr>
        <p:spPr>
          <a:xfrm>
            <a:off x="272486" y="1066800"/>
            <a:ext cx="8763000" cy="1447800"/>
          </a:xfrm>
        </p:spPr>
        <p:txBody>
          <a:bodyPr/>
          <a:lstStyle/>
          <a:p>
            <a:r>
              <a:rPr lang="en-US" altLang="en-US" dirty="0" smtClean="0"/>
              <a:t>Qualitative tests for alkali metals include their characteristic </a:t>
            </a:r>
            <a:r>
              <a:rPr lang="en-US" altLang="zh-CN" dirty="0" smtClean="0"/>
              <a:t>(emission) </a:t>
            </a:r>
            <a:r>
              <a:rPr lang="en-US" altLang="en-US" dirty="0" smtClean="0"/>
              <a:t>colors in flames.</a:t>
            </a:r>
          </a:p>
        </p:txBody>
      </p:sp>
      <p:pic>
        <p:nvPicPr>
          <p:cNvPr id="2050" name="Picture 2" descr="https://gss3.bdstatic.com/7Po3dSag_xI4khGkpoWK1HF6hhy/baike/c0%3Dbaike92%2C5%2C5%2C92%2C30/sign=ce2199ff08fa513d45a7648c5c043e9e/f11f3a292df5e0fec68b85225c6034a85edf720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39"/>
          <a:stretch/>
        </p:blipFill>
        <p:spPr bwMode="auto">
          <a:xfrm>
            <a:off x="2855976" y="2286000"/>
            <a:ext cx="3596020" cy="407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altLang="en-US" sz="3000" b="1" dirty="0" smtClean="0"/>
              <a:t>Alkaline Earth Metals—Compare to Alkali Metals</a:t>
            </a:r>
          </a:p>
        </p:txBody>
      </p:sp>
      <p:sp>
        <p:nvSpPr>
          <p:cNvPr id="3891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4343400"/>
            <a:ext cx="8201570" cy="19812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Alkaline earth metals have higher densities and melting points than alkali metals.</a:t>
            </a:r>
          </a:p>
          <a:p>
            <a:pPr eaLnBrk="1" hangingPunct="1"/>
            <a:r>
              <a:rPr lang="en-US" altLang="en-US" sz="2800" dirty="0" smtClean="0"/>
              <a:t>Their ionization energies are low, but not as low as those of alkali metals.</a:t>
            </a:r>
          </a:p>
        </p:txBody>
      </p:sp>
      <p:pic>
        <p:nvPicPr>
          <p:cNvPr id="38916" name="Picture 5" descr="C:\Documents and Settings\GEX\Desktop\51579 image ppt\Chapter 07\07_05_Tab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797297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Alkaline Earth Metals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4267200" cy="4419600"/>
          </a:xfrm>
        </p:spPr>
        <p:txBody>
          <a:bodyPr/>
          <a:lstStyle/>
          <a:p>
            <a:pPr eaLnBrk="1" hangingPunct="1"/>
            <a:r>
              <a:rPr lang="en-US" altLang="en-US" sz="2600" dirty="0" smtClean="0"/>
              <a:t>Beryllium</a:t>
            </a:r>
            <a:r>
              <a:rPr lang="en-US" altLang="en-US" sz="2600" dirty="0" smtClean="0">
                <a:solidFill>
                  <a:srgbClr val="001996"/>
                </a:solidFill>
              </a:rPr>
              <a:t> </a:t>
            </a:r>
            <a:r>
              <a:rPr lang="en-US" altLang="en-US" sz="2600" dirty="0" smtClean="0"/>
              <a:t>does not react with water, and  magnesium reacts only with steam, but the other alkaline earth metals react readily with water.</a:t>
            </a:r>
          </a:p>
          <a:p>
            <a:pPr eaLnBrk="1" hangingPunct="1"/>
            <a:endParaRPr lang="en-US" altLang="en-US" sz="2600" dirty="0" smtClean="0"/>
          </a:p>
          <a:p>
            <a:pPr eaLnBrk="1" hangingPunct="1"/>
            <a:r>
              <a:rPr lang="en-US" altLang="en-US" sz="2600" dirty="0" smtClean="0"/>
              <a:t>Reactivity tends to increase as you go down the group.</a:t>
            </a:r>
          </a:p>
        </p:txBody>
      </p:sp>
      <p:pic>
        <p:nvPicPr>
          <p:cNvPr id="39940" name="Picture 5" descr="C:\Documents and Settings\GEX\Desktop\51579 image ppt\Chapter 07\07_25_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143000"/>
            <a:ext cx="2667000" cy="499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2954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Group 6A—Increasing in Metallic Character down the Group</a:t>
            </a:r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4724400"/>
            <a:ext cx="8610600" cy="16002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Oxygen, sulfur, and selenium </a:t>
            </a:r>
            <a:r>
              <a:rPr lang="en-US" altLang="zh-CN" sz="2800" dirty="0" smtClean="0"/>
              <a:t>(Se)</a:t>
            </a:r>
            <a:r>
              <a:rPr lang="en-US" altLang="en-US" sz="2800" dirty="0" smtClean="0"/>
              <a:t> are nonmetals.</a:t>
            </a:r>
          </a:p>
          <a:p>
            <a:pPr eaLnBrk="1" hangingPunct="1"/>
            <a:r>
              <a:rPr lang="en-US" altLang="en-US" sz="2800" dirty="0" smtClean="0"/>
              <a:t>Tellurium </a:t>
            </a:r>
            <a:r>
              <a:rPr lang="en-US" altLang="zh-CN" sz="2800" dirty="0" smtClean="0"/>
              <a:t>(</a:t>
            </a:r>
            <a:r>
              <a:rPr lang="en-US" altLang="zh-CN" sz="2800" dirty="0" err="1" smtClean="0"/>
              <a:t>Te</a:t>
            </a:r>
            <a:r>
              <a:rPr lang="en-US" altLang="zh-CN" sz="2800" dirty="0" smtClean="0"/>
              <a:t>)</a:t>
            </a:r>
            <a:r>
              <a:rPr lang="en-US" altLang="en-US" sz="2800" dirty="0" smtClean="0"/>
              <a:t> is a metalloid.</a:t>
            </a:r>
          </a:p>
          <a:p>
            <a:pPr eaLnBrk="1" hangingPunct="1"/>
            <a:r>
              <a:rPr lang="en-US" altLang="en-US" sz="2800" dirty="0" smtClean="0"/>
              <a:t>The radioactive polonium is a metal.</a:t>
            </a:r>
          </a:p>
        </p:txBody>
      </p:sp>
      <p:pic>
        <p:nvPicPr>
          <p:cNvPr id="40964" name="Picture 5" descr="C:\Documents and Settings\GEX\Desktop\51579 image ppt\Chapter 07\07_06_Tab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372534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Group 7A—Halogens</a:t>
            </a:r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3901440"/>
            <a:ext cx="8610600" cy="1981200"/>
          </a:xfrm>
        </p:spPr>
        <p:txBody>
          <a:bodyPr/>
          <a:lstStyle/>
          <a:p>
            <a:pPr eaLnBrk="1" hangingPunct="1"/>
            <a:r>
              <a:rPr lang="en-US" altLang="en-US" sz="2700" dirty="0" smtClean="0"/>
              <a:t>The </a:t>
            </a:r>
            <a:r>
              <a:rPr lang="en-US" altLang="en-US" sz="2700" b="1" dirty="0" smtClean="0"/>
              <a:t>halogens</a:t>
            </a:r>
            <a:r>
              <a:rPr lang="en-US" altLang="en-US" sz="2700" dirty="0" smtClean="0"/>
              <a:t> are typical nonmetals.</a:t>
            </a:r>
          </a:p>
          <a:p>
            <a:pPr eaLnBrk="1" hangingPunct="1"/>
            <a:r>
              <a:rPr lang="en-US" altLang="en-US" sz="2700" dirty="0" smtClean="0"/>
              <a:t>They have highly negative electron affinities, so they exist as anions in nature.</a:t>
            </a:r>
          </a:p>
          <a:p>
            <a:pPr eaLnBrk="1" hangingPunct="1"/>
            <a:r>
              <a:rPr lang="en-US" altLang="en-US" sz="2700" dirty="0" smtClean="0"/>
              <a:t>They react directly with metals to form metal halides.</a:t>
            </a:r>
          </a:p>
          <a:p>
            <a:pPr eaLnBrk="1" hangingPunct="1"/>
            <a:endParaRPr lang="en-US" altLang="en-US" sz="2800" dirty="0" smtClean="0"/>
          </a:p>
        </p:txBody>
      </p:sp>
      <p:pic>
        <p:nvPicPr>
          <p:cNvPr id="41988" name="Picture 5" descr="C:\Documents and Settings\GEX\Desktop\51579 image ppt\Chapter 07\07_07_Tab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863099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" y="-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Group 8A—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Noble</a:t>
            </a:r>
            <a:r>
              <a:rPr lang="en-US" altLang="en-US" sz="3200" b="1" dirty="0" smtClean="0"/>
              <a:t>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Gases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4648200"/>
            <a:ext cx="8991600" cy="18288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The noble gases have very large ionization energies.</a:t>
            </a:r>
          </a:p>
          <a:p>
            <a:pPr eaLnBrk="1" hangingPunct="1"/>
            <a:r>
              <a:rPr lang="en-US" altLang="en-US" sz="2400" dirty="0" smtClean="0"/>
              <a:t>Their electron affinities are positive (can’t form stable anions).</a:t>
            </a:r>
          </a:p>
          <a:p>
            <a:pPr eaLnBrk="1" hangingPunct="1"/>
            <a:r>
              <a:rPr lang="en-US" altLang="en-US" sz="2400" dirty="0" smtClean="0"/>
              <a:t>Therefore, they are relatively unreactive.</a:t>
            </a:r>
          </a:p>
          <a:p>
            <a:pPr eaLnBrk="1" hangingPunct="1"/>
            <a:r>
              <a:rPr lang="en-US" altLang="en-US" sz="2400" dirty="0" smtClean="0"/>
              <a:t>They are found as monatomic gases </a:t>
            </a:r>
            <a:r>
              <a:rPr lang="en-US" altLang="en-US" sz="2400" dirty="0"/>
              <a:t>(</a:t>
            </a:r>
            <a:r>
              <a:rPr lang="en-US" altLang="zh-CN" sz="2400" dirty="0" smtClean="0">
                <a:solidFill>
                  <a:srgbClr val="FF0000"/>
                </a:solidFill>
              </a:rPr>
              <a:t>less interactive</a:t>
            </a:r>
            <a:r>
              <a:rPr lang="en-US" altLang="zh-CN" sz="2400" dirty="0" smtClean="0"/>
              <a:t>)</a:t>
            </a:r>
            <a:r>
              <a:rPr lang="en-US" altLang="en-US" sz="2400" dirty="0" smtClean="0"/>
              <a:t>.</a:t>
            </a:r>
          </a:p>
        </p:txBody>
      </p:sp>
      <p:pic>
        <p:nvPicPr>
          <p:cNvPr id="43012" name="Picture 5" descr="C:\Documents and Settings\GEX\Desktop\51579 image ppt\Chapter 07\07_08_Tab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0"/>
            <a:ext cx="7200836" cy="3771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309&quot;/&gt;&lt;/object&gt;&lt;object type=&quot;3&quot; unique_id=&quot;10004&quot;&gt;&lt;property id=&quot;20148&quot; value=&quot;5&quot;/&gt;&lt;property id=&quot;20300&quot; value=&quot;Slide 2 - &amp;quot;Development of the Periodic Table&amp;quot;&quot;/&gt;&lt;property id=&quot;20307&quot; value=&quot;258&quot;/&gt;&lt;/object&gt;&lt;object type=&quot;3&quot; unique_id=&quot;10005&quot;&gt;&lt;property id=&quot;20148&quot; value=&quot;5&quot;/&gt;&lt;property id=&quot;20300&quot; value=&quot;Slide 3 - &amp;quot;Mendeleev and the Periodic Table&amp;quot;&quot;/&gt;&lt;property id=&quot;20307&quot; value=&quot;259&quot;/&gt;&lt;/object&gt;&lt;object type=&quot;3&quot; unique_id=&quot;10006&quot;&gt;&lt;property id=&quot;20148&quot; value=&quot;5&quot;/&gt;&lt;property id=&quot;20300&quot; value=&quot;Slide 4 - &amp;quot;Atomic Number&amp;quot;&quot;/&gt;&lt;property id=&quot;20307&quot; value=&quot;310&quot;/&gt;&lt;/object&gt;&lt;object type=&quot;3&quot; unique_id=&quot;10007&quot;&gt;&lt;property id=&quot;20148&quot; value=&quot;5&quot;/&gt;&lt;property id=&quot;20300&quot; value=&quot;Slide 5 - &amp;quot;Periodicity&amp;quot;&quot;/&gt;&lt;property id=&quot;20307&quot; value=&quot;261&quot;/&gt;&lt;/object&gt;&lt;object type=&quot;3&quot; unique_id=&quot;10008&quot;&gt;&lt;property id=&quot;20148&quot; value=&quot;5&quot;/&gt;&lt;property id=&quot;20300&quot; value=&quot;Slide 6 - &amp;quot;Effective Nuclear Charge&amp;quot;&quot;/&gt;&lt;property id=&quot;20307&quot; value=&quot;260&quot;/&gt;&lt;/object&gt;&lt;object type=&quot;3&quot; unique_id=&quot;10009&quot;&gt;&lt;property id=&quot;20148&quot; value=&quot;5&quot;/&gt;&lt;property id=&quot;20300&quot; value=&quot;Slide 7 - &amp;quot;Effective Nuclear Charge&amp;quot;&quot;/&gt;&lt;property id=&quot;20307&quot; value=&quot;262&quot;/&gt;&lt;/object&gt;&lt;object type=&quot;3&quot; unique_id=&quot;10010&quot;&gt;&lt;property id=&quot;20148&quot; value=&quot;5&quot;/&gt;&lt;property id=&quot;20300&quot; value=&quot;Slide 8 - &amp;quot;Effective Nuclear Charge Increases across a Period&amp;quot;&quot;/&gt;&lt;property id=&quot;20307&quot; value=&quot;311&quot;/&gt;&lt;/object&gt;&lt;object type=&quot;3&quot; unique_id=&quot;10011&quot;&gt;&lt;property id=&quot;20148&quot; value=&quot;5&quot;/&gt;&lt;property id=&quot;20300&quot; value=&quot;Slide 9 - &amp;quot;What Is the Size of an Atom?&amp;quot;&quot;/&gt;&lt;property id=&quot;20307&quot; value=&quot;263&quot;/&gt;&lt;/object&gt;&lt;object type=&quot;3&quot; unique_id=&quot;10012&quot;&gt;&lt;property id=&quot;20148&quot; value=&quot;5&quot;/&gt;&lt;property id=&quot;20300&quot; value=&quot;Slide 10 - &amp;quot;Sizes of Atoms&amp;quot;&quot;/&gt;&lt;property id=&quot;20307&quot; value=&quot;264&quot;/&gt;&lt;/object&gt;&lt;object type=&quot;3&quot; unique_id=&quot;10013&quot;&gt;&lt;property id=&quot;20148&quot; value=&quot;5&quot;/&gt;&lt;property id=&quot;20300&quot; value=&quot;Slide 11 - &amp;quot;Sizes of Ions&amp;quot;&quot;/&gt;&lt;property id=&quot;20307&quot; value=&quot;265&quot;/&gt;&lt;/object&gt;&lt;object type=&quot;3&quot; unique_id=&quot;10014&quot;&gt;&lt;property id=&quot;20148&quot; value=&quot;5&quot;/&gt;&lt;property id=&quot;20300&quot; value=&quot;Slide 12 - &amp;quot;Sizes of Ions&amp;quot;&quot;/&gt;&lt;property id=&quot;20307&quot; value=&quot;307&quot;/&gt;&lt;/object&gt;&lt;object type=&quot;3&quot; unique_id=&quot;10015&quot;&gt;&lt;property id=&quot;20148&quot; value=&quot;5&quot;/&gt;&lt;property id=&quot;20300&quot; value=&quot;Slide 13 - &amp;quot;Size of Ions— Isoelectronic Series&amp;quot;&quot;/&gt;&lt;property id=&quot;20307&quot; value=&quot;269&quot;/&gt;&lt;/object&gt;&lt;object type=&quot;3&quot; unique_id=&quot;10016&quot;&gt;&lt;property id=&quot;20148&quot; value=&quot;5&quot;/&gt;&lt;property id=&quot;20300&quot; value=&quot;Slide 14 - &amp;quot;Ionization Energy (I)&amp;quot;&quot;/&gt;&lt;property id=&quot;20307&quot; value=&quot;270&quot;/&gt;&lt;/object&gt;&lt;object type=&quot;3&quot; unique_id=&quot;10017&quot;&gt;&lt;property id=&quot;20148&quot; value=&quot;5&quot;/&gt;&lt;property id=&quot;20300&quot; value=&quot;Slide 15 - &amp;quot;Ionization Energy&amp;quot;&quot;/&gt;&lt;property id=&quot;20307&quot; value=&quot;271&quot;/&gt;&lt;/object&gt;&lt;object type=&quot;3&quot; unique_id=&quot;10018&quot;&gt;&lt;property id=&quot;20148&quot; value=&quot;5&quot;/&gt;&lt;property id=&quot;20300&quot; value=&quot;Slide 16 - &amp;quot;Periodic Trends in First Ionization Energy (I1)&amp;quot;&quot;/&gt;&lt;property id=&quot;20307&quot; value=&quot;312&quot;/&gt;&lt;/object&gt;&lt;object type=&quot;3&quot; unique_id=&quot;10019&quot;&gt;&lt;property id=&quot;20148&quot; value=&quot;5&quot;/&gt;&lt;property id=&quot;20300&quot; value=&quot;Slide 17 - &amp;quot;Factors that Influence Ionization Energy&amp;quot;&quot;/&gt;&lt;property id=&quot;20307&quot; value=&quot;313&quot;/&gt;&lt;/object&gt;&lt;object type=&quot;3&quot; unique_id=&quot;10020&quot;&gt;&lt;property id=&quot;20148&quot; value=&quot;5&quot;/&gt;&lt;property id=&quot;20300&quot; value=&quot;Slide 18 - &amp;quot;Irregularities in the General Trend&amp;quot;&quot;/&gt;&lt;property id=&quot;20307&quot; value=&quot;314&quot;/&gt;&lt;/object&gt;&lt;object type=&quot;3&quot; unique_id=&quot;10021&quot;&gt;&lt;property id=&quot;20148&quot; value=&quot;5&quot;/&gt;&lt;property id=&quot;20300&quot; value=&quot;Slide 19 - &amp;quot;Electron Configurations of Ions&amp;quot;&quot;/&gt;&lt;property id=&quot;20307&quot; value=&quot;315&quot;/&gt;&lt;/object&gt;&lt;object type=&quot;3&quot; unique_id=&quot;10022&quot;&gt;&lt;property id=&quot;20148&quot; value=&quot;5&quot;/&gt;&lt;property id=&quot;20300&quot; value=&quot;Slide 20 - &amp;quot;Electron Affinity&amp;quot;&quot;/&gt;&lt;property id=&quot;20307&quot; value=&quot;278&quot;/&gt;&lt;/object&gt;&lt;object type=&quot;3&quot; unique_id=&quot;10023&quot;&gt;&lt;property id=&quot;20148&quot; value=&quot;5&quot;/&gt;&lt;property id=&quot;20300&quot; value=&quot;Slide 21 - &amp;quot;General Trend in Electron Affinity&amp;quot;&quot;/&gt;&lt;property id=&quot;20307&quot; value=&quot;316&quot;/&gt;&lt;/object&gt;&lt;object type=&quot;3&quot; unique_id=&quot;10024&quot;&gt;&lt;property id=&quot;20148&quot; value=&quot;5&quot;/&gt;&lt;property id=&quot;20300&quot; value=&quot;Slide 22 - &amp;quot;Metal, Nonmetals, and Metalloids&amp;quot;&quot;/&gt;&lt;property id=&quot;20307&quot; value=&quot;283&quot;/&gt;&lt;/object&gt;&lt;object type=&quot;3&quot; unique_id=&quot;10025&quot;&gt;&lt;property id=&quot;20148&quot; value=&quot;5&quot;/&gt;&lt;property id=&quot;20300&quot; value=&quot;Slide 23 - &amp;quot;Metals Differ from Nonmetals&amp;quot;&quot;/&gt;&lt;property id=&quot;20307&quot; value=&quot;285&quot;/&gt;&lt;/object&gt;&lt;object type=&quot;3&quot; unique_id=&quot;10026&quot;&gt;&lt;property id=&quot;20148&quot; value=&quot;5&quot;/&gt;&lt;property id=&quot;20300&quot; value=&quot;Slide 24 - &amp;quot;Metals&amp;quot;&quot;/&gt;&lt;property id=&quot;20307&quot; value=&quot;286&quot;/&gt;&lt;/object&gt;&lt;object type=&quot;3&quot; unique_id=&quot;10027&quot;&gt;&lt;property id=&quot;20148&quot; value=&quot;5&quot;/&gt;&lt;property id=&quot;20300&quot; value=&quot;Slide 25 - &amp;quot;Metal Chemistry&amp;quot;&quot;/&gt;&lt;property id=&quot;20307&quot; value=&quot;287&quot;/&gt;&lt;/object&gt;&lt;object type=&quot;3&quot; unique_id=&quot;10028&quot;&gt;&lt;property id=&quot;20148&quot; value=&quot;5&quot;/&gt;&lt;property id=&quot;20300&quot; value=&quot;Slide 26 - &amp;quot;Nonmetals&amp;quot;&quot;/&gt;&lt;property id=&quot;20307&quot; value=&quot;288&quot;/&gt;&lt;/object&gt;&lt;object type=&quot;3&quot; unique_id=&quot;10029&quot;&gt;&lt;property id=&quot;20148&quot; value=&quot;5&quot;/&gt;&lt;property id=&quot;20300&quot; value=&quot;Slide 27 - &amp;quot;Nonmetal Chemistry&amp;quot;&quot;/&gt;&lt;property id=&quot;20307&quot; value=&quot;289&quot;/&gt;&lt;/object&gt;&lt;object type=&quot;3&quot; unique_id=&quot;10030&quot;&gt;&lt;property id=&quot;20148&quot; value=&quot;5&quot;/&gt;&lt;property id=&quot;20300&quot; value=&quot;Slide 28 - &amp;quot;Recap of a Comparison of the Properties of Metals and Nonmetals&amp;quot;&quot;/&gt;&lt;property id=&quot;20307&quot; value=&quot;284&quot;/&gt;&lt;/object&gt;&lt;object type=&quot;3&quot; unique_id=&quot;10031&quot;&gt;&lt;property id=&quot;20148&quot; value=&quot;5&quot;/&gt;&lt;property id=&quot;20300&quot; value=&quot;Slide 29 - &amp;quot;Metalloids&amp;quot;&quot;/&gt;&lt;property id=&quot;20307&quot; value=&quot;290&quot;/&gt;&lt;/object&gt;&lt;object type=&quot;3&quot; unique_id=&quot;10032&quot;&gt;&lt;property id=&quot;20148&quot; value=&quot;5&quot;/&gt;&lt;property id=&quot;20300&quot; value=&quot;Slide 30 - &amp;quot;Group Trends&amp;quot;&quot;/&gt;&lt;property id=&quot;20307&quot; value=&quot;317&quot;/&gt;&lt;/object&gt;&lt;object type=&quot;3&quot; unique_id=&quot;10033&quot;&gt;&lt;property id=&quot;20148&quot; value=&quot;5&quot;/&gt;&lt;property id=&quot;20300&quot; value=&quot;Slide 31 - &amp;quot;Alkali Metals&amp;quot;&quot;/&gt;&lt;property id=&quot;20307&quot; value=&quot;292&quot;/&gt;&lt;/object&gt;&lt;object type=&quot;3&quot; unique_id=&quot;10034&quot;&gt;&lt;property id=&quot;20148&quot; value=&quot;5&quot;/&gt;&lt;property id=&quot;20300&quot; value=&quot;Slide 32 - &amp;quot;Alkali Metal Properties&amp;quot;&quot;/&gt;&lt;property id=&quot;20307&quot; value=&quot;293&quot;/&gt;&lt;/object&gt;&lt;object type=&quot;3&quot; unique_id=&quot;10035&quot;&gt;&lt;property id=&quot;20148&quot; value=&quot;5&quot;/&gt;&lt;property id=&quot;20300&quot; value=&quot;Slide 33 - &amp;quot;Alkali Metal Chemistry&amp;quot;&quot;/&gt;&lt;property id=&quot;20307&quot; value=&quot;294&quot;/&gt;&lt;/object&gt;&lt;object type=&quot;3&quot; unique_id=&quot;10036&quot;&gt;&lt;property id=&quot;20148&quot; value=&quot;5&quot;/&gt;&lt;property id=&quot;20300&quot; value=&quot;Slide 34 - &amp;quot;Differences in Alkali Metal Chemistry&amp;quot;&quot;/&gt;&lt;property id=&quot;20307&quot; value=&quot;295&quot;/&gt;&lt;/object&gt;&lt;object type=&quot;3&quot; unique_id=&quot;10037&quot;&gt;&lt;property id=&quot;20148&quot; value=&quot;5&quot;/&gt;&lt;property id=&quot;20300&quot; value=&quot;Slide 35 - &amp;quot;Flame Tests&amp;quot;&quot;/&gt;&lt;property id=&quot;20307&quot; value=&quot;318&quot;/&gt;&lt;/object&gt;&lt;object type=&quot;3&quot; unique_id=&quot;10038&quot;&gt;&lt;property id=&quot;20148&quot; value=&quot;5&quot;/&gt;&lt;property id=&quot;20300&quot; value=&quot;Slide 36 - &amp;quot;Alkaline Earth Metals—Compare to Alkali Metals&amp;quot;&quot;/&gt;&lt;property id=&quot;20307&quot; value=&quot;296&quot;/&gt;&lt;/object&gt;&lt;object type=&quot;3&quot; unique_id=&quot;10039&quot;&gt;&lt;property id=&quot;20148&quot; value=&quot;5&quot;/&gt;&lt;property id=&quot;20300&quot; value=&quot;Slide 37 - &amp;quot;Alkaline Earth Metals&amp;quot;&quot;/&gt;&lt;property id=&quot;20307&quot; value=&quot;297&quot;/&gt;&lt;/object&gt;&lt;object type=&quot;3&quot; unique_id=&quot;10040&quot;&gt;&lt;property id=&quot;20148&quot; value=&quot;5&quot;/&gt;&lt;property id=&quot;20300&quot; value=&quot;Slide 38 - &amp;quot;Group 6A—Increasing in Metallic Character down the Group&amp;quot;&quot;/&gt;&lt;property id=&quot;20307&quot; value=&quot;298&quot;/&gt;&lt;/object&gt;&lt;object type=&quot;3&quot; unique_id=&quot;10041&quot;&gt;&lt;property id=&quot;20148&quot; value=&quot;5&quot;/&gt;&lt;property id=&quot;20300&quot; value=&quot;Slide 39 - &amp;quot;Group 7A—Halogens&amp;quot;&quot;/&gt;&lt;property id=&quot;20307&quot; value=&quot;301&quot;/&gt;&lt;/object&gt;&lt;object type=&quot;3&quot; unique_id=&quot;10042&quot;&gt;&lt;property id=&quot;20148&quot; value=&quot;5&quot;/&gt;&lt;property id=&quot;20300&quot; value=&quot;Slide 40 - &amp;quot;Group 8A—Noble Gases&amp;quot;&quot;/&gt;&lt;property id=&quot;20307&quot; value=&quot;303&quot;/&gt;&lt;/object&gt;&lt;/object&gt;&lt;object type=&quot;8&quot; unique_id=&quot;10084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 Title">
  <a:themeElements>
    <a:clrScheme name="Custom Design 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 Tit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Custom Design 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Titl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Titl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Titl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Titl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Titl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Titl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Titl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Titl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Titl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Titl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Titl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5587</TotalTime>
  <Words>1435</Words>
  <Application>Microsoft Office PowerPoint</Application>
  <PresentationFormat>全屏显示(4:3)</PresentationFormat>
  <Paragraphs>227</Paragraphs>
  <Slides>40</Slides>
  <Notes>30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42" baseType="lpstr">
      <vt:lpstr>Blank Presentation</vt:lpstr>
      <vt:lpstr>Custom Design Title</vt:lpstr>
      <vt:lpstr>PowerPoint 演示文稿</vt:lpstr>
      <vt:lpstr>Development of the Periodic Table</vt:lpstr>
      <vt:lpstr>Mendeleev and the Periodic Table</vt:lpstr>
      <vt:lpstr>Atomic Number</vt:lpstr>
      <vt:lpstr>`Periodicity</vt:lpstr>
      <vt:lpstr>Effective Nuclear Charge</vt:lpstr>
      <vt:lpstr>Effective Nuclear Charge</vt:lpstr>
      <vt:lpstr>Effective Nuclear Charge Increases  across a Period</vt:lpstr>
      <vt:lpstr>What Is the Size of an Atom?</vt:lpstr>
      <vt:lpstr>Sizes of Atoms</vt:lpstr>
      <vt:lpstr>Sizes of Ions</vt:lpstr>
      <vt:lpstr>Sizes of Ions</vt:lpstr>
      <vt:lpstr>Size of Ions - Isoelectronic Series</vt:lpstr>
      <vt:lpstr>Ionization Energy (I)</vt:lpstr>
      <vt:lpstr>Ionization Energy</vt:lpstr>
      <vt:lpstr>Periodic Trends in First Ionization Energy (I1)</vt:lpstr>
      <vt:lpstr>Factors that Influence Ionization Energy</vt:lpstr>
      <vt:lpstr>Irregularities in the General Trend</vt:lpstr>
      <vt:lpstr>Electron Configurations of Ions  Cations: The electrons are lost from the highest energy level (largest n value).      Li+ is 1s2 (losing a 2s electron) from 1s22s1.      Fe2+ is 1s22s22p63s23p63d6 by losing two 4s e’s from                Fe 1s22s22p63s23p64s23d6 (aufbau)  Anions: The electron configurations are filled to ns2np6; e.g., F– is 1s22s22p6 by gaining one e in 2p from                F  1s22s22p5. </vt:lpstr>
      <vt:lpstr>Electron Affinity</vt:lpstr>
      <vt:lpstr>General Trend in Electron Affinity</vt:lpstr>
      <vt:lpstr>Metal, Nonmetals, and Metalloids</vt:lpstr>
      <vt:lpstr>Metals Differ from Nonmetals</vt:lpstr>
      <vt:lpstr>Metals</vt:lpstr>
      <vt:lpstr>Metal Chemistry</vt:lpstr>
      <vt:lpstr>Nonmetals</vt:lpstr>
      <vt:lpstr>Nonmetal Chemistry</vt:lpstr>
      <vt:lpstr>Recap of a Comparison of the Properties of Metals and Nonmetals</vt:lpstr>
      <vt:lpstr>Metalloids (all in p-block)</vt:lpstr>
      <vt:lpstr>Group Trends</vt:lpstr>
      <vt:lpstr>Alkali Metals</vt:lpstr>
      <vt:lpstr>Alkali Metal Properties</vt:lpstr>
      <vt:lpstr>Alkali Metal Chemistry</vt:lpstr>
      <vt:lpstr>Differences in Alkali Metal Chemistry</vt:lpstr>
      <vt:lpstr>Flame Tests (atomic emission spectrometry)</vt:lpstr>
      <vt:lpstr>Alkaline Earth Metals—Compare to Alkali Metals</vt:lpstr>
      <vt:lpstr>Alkaline Earth Metals</vt:lpstr>
      <vt:lpstr>Group 6A—Increasing in Metallic Character down the Group</vt:lpstr>
      <vt:lpstr>Group 7A—Halogens</vt:lpstr>
      <vt:lpstr>Group 8A—Noble Gases</vt:lpstr>
    </vt:vector>
  </TitlesOfParts>
  <Company>John Bookstaver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Periodic Properties of the Elements</dc:title>
  <dc:creator>John Bookstaver</dc:creator>
  <cp:lastModifiedBy>user</cp:lastModifiedBy>
  <cp:revision>281</cp:revision>
  <dcterms:created xsi:type="dcterms:W3CDTF">2005-02-20T03:58:17Z</dcterms:created>
  <dcterms:modified xsi:type="dcterms:W3CDTF">2018-10-14T23:46:38Z</dcterms:modified>
</cp:coreProperties>
</file>