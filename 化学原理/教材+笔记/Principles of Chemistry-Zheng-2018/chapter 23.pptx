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4" r:id="rId2"/>
  </p:sldMasterIdLst>
  <p:notesMasterIdLst>
    <p:notesMasterId r:id="rId82"/>
  </p:notesMasterIdLst>
  <p:sldIdLst>
    <p:sldId id="337" r:id="rId3"/>
    <p:sldId id="257" r:id="rId4"/>
    <p:sldId id="338" r:id="rId5"/>
    <p:sldId id="339" r:id="rId6"/>
    <p:sldId id="300" r:id="rId7"/>
    <p:sldId id="340" r:id="rId8"/>
    <p:sldId id="302" r:id="rId9"/>
    <p:sldId id="305" r:id="rId10"/>
    <p:sldId id="342" r:id="rId11"/>
    <p:sldId id="306" r:id="rId12"/>
    <p:sldId id="307" r:id="rId13"/>
    <p:sldId id="308" r:id="rId14"/>
    <p:sldId id="309" r:id="rId15"/>
    <p:sldId id="312" r:id="rId16"/>
    <p:sldId id="313" r:id="rId17"/>
    <p:sldId id="314" r:id="rId18"/>
    <p:sldId id="315" r:id="rId19"/>
    <p:sldId id="316" r:id="rId20"/>
    <p:sldId id="318" r:id="rId21"/>
    <p:sldId id="320" r:id="rId22"/>
    <p:sldId id="321" r:id="rId23"/>
    <p:sldId id="323" r:id="rId24"/>
    <p:sldId id="324" r:id="rId25"/>
    <p:sldId id="325" r:id="rId26"/>
    <p:sldId id="326" r:id="rId27"/>
    <p:sldId id="327" r:id="rId28"/>
    <p:sldId id="328" r:id="rId29"/>
    <p:sldId id="343" r:id="rId30"/>
    <p:sldId id="329" r:id="rId31"/>
    <p:sldId id="344" r:id="rId32"/>
    <p:sldId id="330" r:id="rId33"/>
    <p:sldId id="331" r:id="rId34"/>
    <p:sldId id="345" r:id="rId35"/>
    <p:sldId id="332" r:id="rId36"/>
    <p:sldId id="333" r:id="rId37"/>
    <p:sldId id="334" r:id="rId38"/>
    <p:sldId id="335" r:id="rId39"/>
    <p:sldId id="336" r:id="rId40"/>
    <p:sldId id="346" r:id="rId41"/>
    <p:sldId id="347" r:id="rId42"/>
    <p:sldId id="348" r:id="rId43"/>
    <p:sldId id="349" r:id="rId44"/>
    <p:sldId id="350" r:id="rId45"/>
    <p:sldId id="351" r:id="rId46"/>
    <p:sldId id="352" r:id="rId47"/>
    <p:sldId id="353" r:id="rId48"/>
    <p:sldId id="354" r:id="rId49"/>
    <p:sldId id="355" r:id="rId50"/>
    <p:sldId id="356" r:id="rId51"/>
    <p:sldId id="357" r:id="rId52"/>
    <p:sldId id="358" r:id="rId53"/>
    <p:sldId id="359" r:id="rId54"/>
    <p:sldId id="360" r:id="rId55"/>
    <p:sldId id="361" r:id="rId56"/>
    <p:sldId id="362" r:id="rId57"/>
    <p:sldId id="363" r:id="rId58"/>
    <p:sldId id="364" r:id="rId59"/>
    <p:sldId id="365" r:id="rId60"/>
    <p:sldId id="366" r:id="rId61"/>
    <p:sldId id="367" r:id="rId62"/>
    <p:sldId id="368" r:id="rId63"/>
    <p:sldId id="369" r:id="rId64"/>
    <p:sldId id="370" r:id="rId65"/>
    <p:sldId id="371" r:id="rId66"/>
    <p:sldId id="372" r:id="rId67"/>
    <p:sldId id="373" r:id="rId68"/>
    <p:sldId id="374" r:id="rId69"/>
    <p:sldId id="375" r:id="rId70"/>
    <p:sldId id="376" r:id="rId71"/>
    <p:sldId id="377" r:id="rId72"/>
    <p:sldId id="378" r:id="rId73"/>
    <p:sldId id="379" r:id="rId74"/>
    <p:sldId id="380" r:id="rId75"/>
    <p:sldId id="381" r:id="rId76"/>
    <p:sldId id="382" r:id="rId77"/>
    <p:sldId id="383" r:id="rId78"/>
    <p:sldId id="384" r:id="rId79"/>
    <p:sldId id="385" r:id="rId80"/>
    <p:sldId id="386" r:id="rId8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CB2"/>
    <a:srgbClr val="111B83"/>
    <a:srgbClr val="2A0391"/>
    <a:srgbClr val="C82E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99" autoAdjust="0"/>
    <p:restoredTop sz="94988" autoAdjust="0"/>
  </p:normalViewPr>
  <p:slideViewPr>
    <p:cSldViewPr showGuides="1">
      <p:cViewPr varScale="1">
        <p:scale>
          <a:sx n="160" d="100"/>
          <a:sy n="160" d="100"/>
        </p:scale>
        <p:origin x="181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D9C46C6-AF99-0645-8F83-61152D0A7CD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8256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D0A2AC-13FB-254E-ACF8-E982123BD9AD}" type="slidenum">
              <a:rPr lang="en-US"/>
              <a:pPr/>
              <a:t>1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89614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B0741E-E72C-8A4C-9A2E-8E5D558EC73F}" type="slidenum">
              <a:rPr lang="en-US"/>
              <a:pPr/>
              <a:t>2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23811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B169A8-3538-D348-8AA8-4757DBA01743}" type="slidenum">
              <a:rPr lang="en-US"/>
              <a:pPr/>
              <a:t>3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2451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5570EB-EC1D-A942-B4A5-23588F63EB5E}" type="slidenum">
              <a:rPr lang="en-US"/>
              <a:pPr/>
              <a:t>4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52334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BA03A0-A12B-6244-B2D1-785EFD51013F}" type="slidenum">
              <a:rPr lang="en-US"/>
              <a:pPr/>
              <a:t>5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93626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A4CA0D3-9A93-AC4D-B4A4-A0539146181C}" type="slidenum">
              <a:rPr lang="en-US"/>
              <a:pPr/>
              <a:t>6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66004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d</a:t>
            </a:r>
          </a:p>
          <a:p>
            <a:pPr eaLnBrk="1" hangingPunct="1"/>
            <a:endParaRPr lang="en-US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578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d</a:t>
            </a:r>
          </a:p>
          <a:p>
            <a:pPr eaLnBrk="1" hangingPunct="1"/>
            <a:endParaRPr lang="en-US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04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c</a:t>
            </a:r>
          </a:p>
          <a:p>
            <a:pPr eaLnBrk="1" hangingPunct="1"/>
            <a:endParaRPr lang="en-US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097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c</a:t>
            </a:r>
          </a:p>
          <a:p>
            <a:pPr eaLnBrk="1" hangingPunct="1"/>
            <a:endParaRPr lang="en-US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945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c</a:t>
            </a:r>
          </a:p>
        </p:txBody>
      </p:sp>
    </p:spTree>
    <p:extLst>
      <p:ext uri="{BB962C8B-B14F-4D97-AF65-F5344CB8AC3E}">
        <p14:creationId xmlns:p14="http://schemas.microsoft.com/office/powerpoint/2010/main" val="24516753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c</a:t>
            </a:r>
          </a:p>
        </p:txBody>
      </p:sp>
    </p:spTree>
    <p:extLst>
      <p:ext uri="{BB962C8B-B14F-4D97-AF65-F5344CB8AC3E}">
        <p14:creationId xmlns:p14="http://schemas.microsoft.com/office/powerpoint/2010/main" val="28100606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a</a:t>
            </a:r>
          </a:p>
        </p:txBody>
      </p:sp>
    </p:spTree>
    <p:extLst>
      <p:ext uri="{BB962C8B-B14F-4D97-AF65-F5344CB8AC3E}">
        <p14:creationId xmlns:p14="http://schemas.microsoft.com/office/powerpoint/2010/main" val="33425915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a</a:t>
            </a:r>
          </a:p>
        </p:txBody>
      </p:sp>
    </p:spTree>
    <p:extLst>
      <p:ext uri="{BB962C8B-B14F-4D97-AF65-F5344CB8AC3E}">
        <p14:creationId xmlns:p14="http://schemas.microsoft.com/office/powerpoint/2010/main" val="34504988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d</a:t>
            </a:r>
          </a:p>
        </p:txBody>
      </p:sp>
    </p:spTree>
    <p:extLst>
      <p:ext uri="{BB962C8B-B14F-4D97-AF65-F5344CB8AC3E}">
        <p14:creationId xmlns:p14="http://schemas.microsoft.com/office/powerpoint/2010/main" val="36429858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d</a:t>
            </a:r>
          </a:p>
        </p:txBody>
      </p:sp>
    </p:spTree>
    <p:extLst>
      <p:ext uri="{BB962C8B-B14F-4D97-AF65-F5344CB8AC3E}">
        <p14:creationId xmlns:p14="http://schemas.microsoft.com/office/powerpoint/2010/main" val="21137831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c</a:t>
            </a:r>
          </a:p>
        </p:txBody>
      </p:sp>
    </p:spTree>
    <p:extLst>
      <p:ext uri="{BB962C8B-B14F-4D97-AF65-F5344CB8AC3E}">
        <p14:creationId xmlns:p14="http://schemas.microsoft.com/office/powerpoint/2010/main" val="39163098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c</a:t>
            </a:r>
          </a:p>
        </p:txBody>
      </p:sp>
    </p:spTree>
    <p:extLst>
      <p:ext uri="{BB962C8B-B14F-4D97-AF65-F5344CB8AC3E}">
        <p14:creationId xmlns:p14="http://schemas.microsoft.com/office/powerpoint/2010/main" val="36467261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c</a:t>
            </a:r>
          </a:p>
        </p:txBody>
      </p:sp>
    </p:spTree>
    <p:extLst>
      <p:ext uri="{BB962C8B-B14F-4D97-AF65-F5344CB8AC3E}">
        <p14:creationId xmlns:p14="http://schemas.microsoft.com/office/powerpoint/2010/main" val="41705723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c</a:t>
            </a:r>
          </a:p>
        </p:txBody>
      </p:sp>
    </p:spTree>
    <p:extLst>
      <p:ext uri="{BB962C8B-B14F-4D97-AF65-F5344CB8AC3E}">
        <p14:creationId xmlns:p14="http://schemas.microsoft.com/office/powerpoint/2010/main" val="10195458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b</a:t>
            </a:r>
          </a:p>
        </p:txBody>
      </p:sp>
    </p:spTree>
    <p:extLst>
      <p:ext uri="{BB962C8B-B14F-4D97-AF65-F5344CB8AC3E}">
        <p14:creationId xmlns:p14="http://schemas.microsoft.com/office/powerpoint/2010/main" val="8684313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b</a:t>
            </a:r>
          </a:p>
        </p:txBody>
      </p:sp>
    </p:spTree>
    <p:extLst>
      <p:ext uri="{BB962C8B-B14F-4D97-AF65-F5344CB8AC3E}">
        <p14:creationId xmlns:p14="http://schemas.microsoft.com/office/powerpoint/2010/main" val="13225562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b</a:t>
            </a:r>
          </a:p>
        </p:txBody>
      </p:sp>
    </p:spTree>
    <p:extLst>
      <p:ext uri="{BB962C8B-B14F-4D97-AF65-F5344CB8AC3E}">
        <p14:creationId xmlns:p14="http://schemas.microsoft.com/office/powerpoint/2010/main" val="3367074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b</a:t>
            </a:r>
          </a:p>
        </p:txBody>
      </p:sp>
    </p:spTree>
    <p:extLst>
      <p:ext uri="{BB962C8B-B14F-4D97-AF65-F5344CB8AC3E}">
        <p14:creationId xmlns:p14="http://schemas.microsoft.com/office/powerpoint/2010/main" val="26158943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d</a:t>
            </a:r>
          </a:p>
        </p:txBody>
      </p:sp>
    </p:spTree>
    <p:extLst>
      <p:ext uri="{BB962C8B-B14F-4D97-AF65-F5344CB8AC3E}">
        <p14:creationId xmlns:p14="http://schemas.microsoft.com/office/powerpoint/2010/main" val="31360334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d</a:t>
            </a:r>
          </a:p>
        </p:txBody>
      </p:sp>
    </p:spTree>
    <p:extLst>
      <p:ext uri="{BB962C8B-B14F-4D97-AF65-F5344CB8AC3E}">
        <p14:creationId xmlns:p14="http://schemas.microsoft.com/office/powerpoint/2010/main" val="7540320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d</a:t>
            </a:r>
          </a:p>
        </p:txBody>
      </p:sp>
    </p:spTree>
    <p:extLst>
      <p:ext uri="{BB962C8B-B14F-4D97-AF65-F5344CB8AC3E}">
        <p14:creationId xmlns:p14="http://schemas.microsoft.com/office/powerpoint/2010/main" val="28474778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d</a:t>
            </a:r>
          </a:p>
        </p:txBody>
      </p:sp>
    </p:spTree>
    <p:extLst>
      <p:ext uri="{BB962C8B-B14F-4D97-AF65-F5344CB8AC3E}">
        <p14:creationId xmlns:p14="http://schemas.microsoft.com/office/powerpoint/2010/main" val="5395136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a</a:t>
            </a:r>
          </a:p>
        </p:txBody>
      </p:sp>
    </p:spTree>
    <p:extLst>
      <p:ext uri="{BB962C8B-B14F-4D97-AF65-F5344CB8AC3E}">
        <p14:creationId xmlns:p14="http://schemas.microsoft.com/office/powerpoint/2010/main" val="9718322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a</a:t>
            </a:r>
          </a:p>
        </p:txBody>
      </p:sp>
    </p:spTree>
    <p:extLst>
      <p:ext uri="{BB962C8B-B14F-4D97-AF65-F5344CB8AC3E}">
        <p14:creationId xmlns:p14="http://schemas.microsoft.com/office/powerpoint/2010/main" val="210107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b</a:t>
            </a:r>
          </a:p>
        </p:txBody>
      </p:sp>
    </p:spTree>
    <p:extLst>
      <p:ext uri="{BB962C8B-B14F-4D97-AF65-F5344CB8AC3E}">
        <p14:creationId xmlns:p14="http://schemas.microsoft.com/office/powerpoint/2010/main" val="6140020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b</a:t>
            </a:r>
          </a:p>
        </p:txBody>
      </p:sp>
    </p:spTree>
    <p:extLst>
      <p:ext uri="{BB962C8B-B14F-4D97-AF65-F5344CB8AC3E}">
        <p14:creationId xmlns:p14="http://schemas.microsoft.com/office/powerpoint/2010/main" val="28796388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d</a:t>
            </a:r>
          </a:p>
        </p:txBody>
      </p:sp>
    </p:spTree>
    <p:extLst>
      <p:ext uri="{BB962C8B-B14F-4D97-AF65-F5344CB8AC3E}">
        <p14:creationId xmlns:p14="http://schemas.microsoft.com/office/powerpoint/2010/main" val="38050528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d</a:t>
            </a:r>
          </a:p>
        </p:txBody>
      </p:sp>
    </p:spTree>
    <p:extLst>
      <p:ext uri="{BB962C8B-B14F-4D97-AF65-F5344CB8AC3E}">
        <p14:creationId xmlns:p14="http://schemas.microsoft.com/office/powerpoint/2010/main" val="34710319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b</a:t>
            </a:r>
          </a:p>
        </p:txBody>
      </p:sp>
    </p:spTree>
    <p:extLst>
      <p:ext uri="{BB962C8B-B14F-4D97-AF65-F5344CB8AC3E}">
        <p14:creationId xmlns:p14="http://schemas.microsoft.com/office/powerpoint/2010/main" val="4003126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b</a:t>
            </a:r>
          </a:p>
        </p:txBody>
      </p:sp>
    </p:spTree>
    <p:extLst>
      <p:ext uri="{BB962C8B-B14F-4D97-AF65-F5344CB8AC3E}">
        <p14:creationId xmlns:p14="http://schemas.microsoft.com/office/powerpoint/2010/main" val="396246250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a</a:t>
            </a:r>
          </a:p>
        </p:txBody>
      </p:sp>
    </p:spTree>
    <p:extLst>
      <p:ext uri="{BB962C8B-B14F-4D97-AF65-F5344CB8AC3E}">
        <p14:creationId xmlns:p14="http://schemas.microsoft.com/office/powerpoint/2010/main" val="329947150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a</a:t>
            </a:r>
          </a:p>
        </p:txBody>
      </p:sp>
    </p:spTree>
    <p:extLst>
      <p:ext uri="{BB962C8B-B14F-4D97-AF65-F5344CB8AC3E}">
        <p14:creationId xmlns:p14="http://schemas.microsoft.com/office/powerpoint/2010/main" val="388398784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a</a:t>
            </a:r>
          </a:p>
        </p:txBody>
      </p:sp>
    </p:spTree>
    <p:extLst>
      <p:ext uri="{BB962C8B-B14F-4D97-AF65-F5344CB8AC3E}">
        <p14:creationId xmlns:p14="http://schemas.microsoft.com/office/powerpoint/2010/main" val="43259865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a</a:t>
            </a:r>
          </a:p>
        </p:txBody>
      </p:sp>
    </p:spTree>
    <p:extLst>
      <p:ext uri="{BB962C8B-B14F-4D97-AF65-F5344CB8AC3E}">
        <p14:creationId xmlns:p14="http://schemas.microsoft.com/office/powerpoint/2010/main" val="288828180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c</a:t>
            </a:r>
          </a:p>
        </p:txBody>
      </p:sp>
    </p:spTree>
    <p:extLst>
      <p:ext uri="{BB962C8B-B14F-4D97-AF65-F5344CB8AC3E}">
        <p14:creationId xmlns:p14="http://schemas.microsoft.com/office/powerpoint/2010/main" val="170259614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c</a:t>
            </a:r>
          </a:p>
        </p:txBody>
      </p:sp>
    </p:spTree>
    <p:extLst>
      <p:ext uri="{BB962C8B-B14F-4D97-AF65-F5344CB8AC3E}">
        <p14:creationId xmlns:p14="http://schemas.microsoft.com/office/powerpoint/2010/main" val="388545439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b</a:t>
            </a:r>
          </a:p>
        </p:txBody>
      </p:sp>
    </p:spTree>
    <p:extLst>
      <p:ext uri="{BB962C8B-B14F-4D97-AF65-F5344CB8AC3E}">
        <p14:creationId xmlns:p14="http://schemas.microsoft.com/office/powerpoint/2010/main" val="106336082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b</a:t>
            </a:r>
          </a:p>
        </p:txBody>
      </p:sp>
    </p:spTree>
    <p:extLst>
      <p:ext uri="{BB962C8B-B14F-4D97-AF65-F5344CB8AC3E}">
        <p14:creationId xmlns:p14="http://schemas.microsoft.com/office/powerpoint/2010/main" val="103029941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d</a:t>
            </a:r>
          </a:p>
        </p:txBody>
      </p:sp>
    </p:spTree>
    <p:extLst>
      <p:ext uri="{BB962C8B-B14F-4D97-AF65-F5344CB8AC3E}">
        <p14:creationId xmlns:p14="http://schemas.microsoft.com/office/powerpoint/2010/main" val="29766596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Answer: d</a:t>
            </a:r>
          </a:p>
        </p:txBody>
      </p:sp>
    </p:spTree>
    <p:extLst>
      <p:ext uri="{BB962C8B-B14F-4D97-AF65-F5344CB8AC3E}">
        <p14:creationId xmlns:p14="http://schemas.microsoft.com/office/powerpoint/2010/main" val="1394278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5BB3CF-513E-C048-9743-B3EE28EC9C5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54A984-4DB6-2B4F-A5EA-46C98A441DA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6997EC-9D61-FE4E-AFDA-5AA0F99229B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37A74C-D63E-184C-9B9D-023C7632627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162C09-3533-F341-9259-A51D403954E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E98366-7EA7-AD4C-B269-4A758C6FD0D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39747E-F45A-E64E-A019-82E2975AC86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C55807-8E8E-9844-9784-0C38D8989F3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9DB7AA-4197-3843-948E-FA9F7604F24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825865-A5A4-BB40-842F-67F908233A4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28600"/>
            <a:ext cx="22860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228600"/>
            <a:ext cx="67056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185306-FFDF-4C4C-AA75-D39D5C7DDD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E93BDF-C7CC-4B43-855E-6EF20292C64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ADCE2D-730A-0346-ADCF-5E0BE389FD5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A00153-B85F-E04A-80B0-FBA852043B5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E4874D-4BBC-B443-8D87-A153C1D0BF6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0F62B0-7CA7-8845-A4DE-7660ACAE2B5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286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713A0D7-CB19-7F45-B65C-5FAC62F1653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Box 2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dirty="0" smtClean="0">
                <a:solidFill>
                  <a:srgbClr val="73738C"/>
                </a:solidFill>
              </a:rPr>
              <a:t>© 2015 Pearson Education</a:t>
            </a:r>
            <a:endParaRPr lang="en-US" b="1" dirty="0" smtClean="0">
              <a:solidFill>
                <a:srgbClr val="73738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286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75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3757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D4A2D8C-8BA6-6D4E-A4AF-ABEA7F53817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Box 2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dirty="0" smtClean="0">
                <a:solidFill>
                  <a:srgbClr val="73738C"/>
                </a:solidFill>
              </a:rPr>
              <a:t>© 2015 Pearson Education</a:t>
            </a:r>
            <a:endParaRPr lang="en-US" b="1" dirty="0" smtClean="0">
              <a:solidFill>
                <a:srgbClr val="73738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6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8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0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/>
          </p:cNvSpPr>
          <p:nvPr/>
        </p:nvSpPr>
        <p:spPr bwMode="auto">
          <a:xfrm>
            <a:off x="533400" y="1676400"/>
            <a:ext cx="83820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 anchorCtr="0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3400" b="1" dirty="0"/>
              <a:t>Chapter 23</a:t>
            </a:r>
            <a:br>
              <a:rPr lang="en-US" sz="3400" b="1" dirty="0"/>
            </a:br>
            <a:r>
              <a:rPr lang="en-US" sz="3400" b="1" dirty="0"/>
              <a:t/>
            </a:r>
            <a:br>
              <a:rPr lang="en-US" sz="3400" b="1" dirty="0"/>
            </a:br>
            <a:r>
              <a:rPr lang="en-US" sz="3400" b="1" dirty="0"/>
              <a:t>Transition Metals and Coordination Chemistry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8991600" cy="1219200"/>
          </a:xfrm>
        </p:spPr>
        <p:txBody>
          <a:bodyPr/>
          <a:lstStyle/>
          <a:p>
            <a:pPr eaLnBrk="1" hangingPunct="1"/>
            <a:r>
              <a:rPr lang="en-US" sz="4000" dirty="0"/>
              <a:t>Why are Transition Metals of Interest?</a:t>
            </a:r>
          </a:p>
        </p:txBody>
      </p:sp>
      <p:sp>
        <p:nvSpPr>
          <p:cNvPr id="409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33400" y="3541713"/>
            <a:ext cx="6629400" cy="2895600"/>
          </a:xfrm>
        </p:spPr>
        <p:txBody>
          <a:bodyPr/>
          <a:lstStyle/>
          <a:p>
            <a:pPr eaLnBrk="1" hangingPunct="1"/>
            <a:r>
              <a:rPr lang="en-US" sz="2400" dirty="0">
                <a:solidFill>
                  <a:srgbClr val="0070C0"/>
                </a:solidFill>
              </a:rPr>
              <a:t>Color</a:t>
            </a:r>
          </a:p>
          <a:p>
            <a:pPr eaLnBrk="1" hangingPunct="1"/>
            <a:r>
              <a:rPr lang="en-US" sz="2400" dirty="0">
                <a:solidFill>
                  <a:srgbClr val="0070C0"/>
                </a:solidFill>
              </a:rPr>
              <a:t>Catalysts</a:t>
            </a:r>
          </a:p>
          <a:p>
            <a:pPr eaLnBrk="1" hangingPunct="1"/>
            <a:r>
              <a:rPr lang="en-US" sz="2400" dirty="0">
                <a:solidFill>
                  <a:srgbClr val="0070C0"/>
                </a:solidFill>
              </a:rPr>
              <a:t>Magnets</a:t>
            </a:r>
          </a:p>
          <a:p>
            <a:pPr eaLnBrk="1" hangingPunct="1"/>
            <a:r>
              <a:rPr lang="en-US" sz="2400" dirty="0">
                <a:solidFill>
                  <a:srgbClr val="0070C0"/>
                </a:solidFill>
              </a:rPr>
              <a:t>Biological roles</a:t>
            </a:r>
          </a:p>
          <a:p>
            <a:pPr eaLnBrk="1" hangingPunct="1"/>
            <a:r>
              <a:rPr lang="en-US" sz="2400" dirty="0">
                <a:solidFill>
                  <a:srgbClr val="0070C0"/>
                </a:solidFill>
              </a:rPr>
              <a:t>Coordination compounds </a:t>
            </a:r>
            <a:r>
              <a:rPr lang="en-US" sz="2400" dirty="0" smtClean="0">
                <a:solidFill>
                  <a:srgbClr val="0070C0"/>
                </a:solidFill>
              </a:rPr>
              <a:t>(</a:t>
            </a:r>
            <a:r>
              <a:rPr lang="en-US" sz="2400" dirty="0">
                <a:solidFill>
                  <a:srgbClr val="0070C0"/>
                </a:solidFill>
              </a:rPr>
              <a:t>metals bonded to molecules </a:t>
            </a:r>
            <a:r>
              <a:rPr lang="en-US" sz="2400" dirty="0" smtClean="0">
                <a:solidFill>
                  <a:srgbClr val="0070C0"/>
                </a:solidFill>
              </a:rPr>
              <a:t>and </a:t>
            </a:r>
            <a:r>
              <a:rPr lang="en-US" sz="2400" dirty="0">
                <a:solidFill>
                  <a:srgbClr val="0070C0"/>
                </a:solidFill>
              </a:rPr>
              <a:t>ions)</a:t>
            </a:r>
          </a:p>
        </p:txBody>
      </p:sp>
      <p:grpSp>
        <p:nvGrpSpPr>
          <p:cNvPr id="4101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4103" name="Picture 8" descr="Triangle--Gray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104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71"/>
          <a:stretch/>
        </p:blipFill>
        <p:spPr>
          <a:xfrm>
            <a:off x="3395897" y="1495425"/>
            <a:ext cx="5519503" cy="345757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90488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Minerals </a:t>
            </a:r>
            <a:r>
              <a:rPr lang="zh-CN" altLang="en-US" dirty="0" smtClean="0">
                <a:latin typeface="Adobe 黑体 Std R" pitchFamily="34" charset="-122"/>
                <a:ea typeface="Adobe 黑体 Std R" pitchFamily="34" charset="-122"/>
              </a:rPr>
              <a:t>矿物</a:t>
            </a:r>
            <a:endParaRPr lang="en-US" dirty="0">
              <a:latin typeface="Adobe 黑体 Std R" pitchFamily="34" charset="-122"/>
              <a:ea typeface="Adobe 黑体 Std R" pitchFamily="34" charset="-122"/>
            </a:endParaRPr>
          </a:p>
        </p:txBody>
      </p:sp>
      <p:sp>
        <p:nvSpPr>
          <p:cNvPr id="5123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52401" y="1318151"/>
            <a:ext cx="3962400" cy="4930249"/>
          </a:xfrm>
        </p:spPr>
        <p:txBody>
          <a:bodyPr/>
          <a:lstStyle/>
          <a:p>
            <a:pPr eaLnBrk="1" hangingPunct="1"/>
            <a:r>
              <a:rPr lang="en-US" sz="2400" dirty="0"/>
              <a:t>Most metals, including transition metals, are found in solid inorganic compounds known as </a:t>
            </a:r>
            <a:r>
              <a:rPr lang="en-US" sz="2400" b="1" dirty="0">
                <a:solidFill>
                  <a:srgbClr val="0070C0"/>
                </a:solidFill>
              </a:rPr>
              <a:t>minerals</a:t>
            </a:r>
            <a:r>
              <a:rPr lang="en-US" sz="2400" dirty="0"/>
              <a:t>.</a:t>
            </a:r>
          </a:p>
          <a:p>
            <a:pPr eaLnBrk="1" hangingPunct="1"/>
            <a:r>
              <a:rPr lang="en-US" sz="2400" dirty="0"/>
              <a:t>Minerals are named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by </a:t>
            </a:r>
            <a:r>
              <a:rPr lang="en-US" sz="2400" dirty="0">
                <a:solidFill>
                  <a:srgbClr val="0070C0"/>
                </a:solidFill>
              </a:rPr>
              <a:t>common</a:t>
            </a:r>
            <a:r>
              <a:rPr lang="en-US" sz="2400" dirty="0"/>
              <a:t>, not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chemical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70C0"/>
                </a:solidFill>
              </a:rPr>
              <a:t>names</a:t>
            </a:r>
            <a:r>
              <a:rPr lang="en-US" sz="2400" dirty="0"/>
              <a:t>.</a:t>
            </a:r>
          </a:p>
          <a:p>
            <a:pPr eaLnBrk="1" hangingPunct="1"/>
            <a:r>
              <a:rPr lang="en-US" sz="2400" dirty="0"/>
              <a:t>Most transition metals range from +1 to +4 oxidation state in minerals.</a:t>
            </a:r>
          </a:p>
        </p:txBody>
      </p:sp>
      <p:grpSp>
        <p:nvGrpSpPr>
          <p:cNvPr id="5125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5127" name="Picture 8" descr="Triangle--Gray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28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14"/>
          <a:stretch/>
        </p:blipFill>
        <p:spPr>
          <a:xfrm>
            <a:off x="3886200" y="1905000"/>
            <a:ext cx="4943764" cy="3112484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90488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Metallurgy </a:t>
            </a:r>
            <a:r>
              <a:rPr lang="zh-CN" altLang="en-US" dirty="0" smtClean="0">
                <a:latin typeface="Adobe 黑体 Std R" pitchFamily="34" charset="-122"/>
                <a:ea typeface="Adobe 黑体 Std R" pitchFamily="34" charset="-122"/>
              </a:rPr>
              <a:t>冶金学</a:t>
            </a:r>
            <a:endParaRPr lang="en-US" dirty="0">
              <a:latin typeface="Adobe 黑体 Std R" pitchFamily="34" charset="-122"/>
              <a:ea typeface="Adobe 黑体 Std R" pitchFamily="34" charset="-122"/>
            </a:endParaRPr>
          </a:p>
        </p:txBody>
      </p:sp>
      <p:sp>
        <p:nvSpPr>
          <p:cNvPr id="614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276225" y="1425575"/>
            <a:ext cx="6172200" cy="4800600"/>
          </a:xfrm>
        </p:spPr>
        <p:txBody>
          <a:bodyPr/>
          <a:lstStyle/>
          <a:p>
            <a:pPr eaLnBrk="1" hangingPunct="1"/>
            <a:r>
              <a:rPr lang="en-US" sz="2400" dirty="0"/>
              <a:t>The science and technology of </a:t>
            </a:r>
            <a:r>
              <a:rPr lang="en-US" sz="2400" dirty="0">
                <a:solidFill>
                  <a:srgbClr val="0070C0"/>
                </a:solidFill>
              </a:rPr>
              <a:t>extracting metals</a:t>
            </a:r>
            <a:r>
              <a:rPr lang="en-US" sz="2400" dirty="0"/>
              <a:t> from their natural sources and preparing them for practical </a:t>
            </a:r>
            <a:r>
              <a:rPr lang="en-US" sz="2400" dirty="0" smtClean="0"/>
              <a:t>use</a:t>
            </a:r>
            <a:r>
              <a:rPr lang="en-US" sz="2400" dirty="0"/>
              <a:t>.</a:t>
            </a:r>
          </a:p>
          <a:p>
            <a:pPr eaLnBrk="1" hangingPunct="1"/>
            <a:r>
              <a:rPr lang="en-US" sz="2400" dirty="0"/>
              <a:t>Steps often involved:</a:t>
            </a:r>
          </a:p>
          <a:p>
            <a:pPr eaLnBrk="1" hangingPunct="1">
              <a:buFontTx/>
              <a:buAutoNum type="arabicParenR"/>
            </a:pPr>
            <a:r>
              <a:rPr lang="en-US" sz="2400" dirty="0"/>
              <a:t>Mining</a:t>
            </a:r>
          </a:p>
          <a:p>
            <a:pPr eaLnBrk="1" hangingPunct="1">
              <a:buFontTx/>
              <a:buAutoNum type="arabicParenR"/>
            </a:pPr>
            <a:r>
              <a:rPr lang="en-US" sz="2400" dirty="0"/>
              <a:t>Concentrating the ore</a:t>
            </a:r>
          </a:p>
          <a:p>
            <a:pPr eaLnBrk="1" hangingPunct="1">
              <a:buFontTx/>
              <a:buAutoNum type="arabicParenR"/>
            </a:pPr>
            <a:r>
              <a:rPr lang="en-US" sz="2400" dirty="0"/>
              <a:t>Reducing the ore to free metal</a:t>
            </a:r>
          </a:p>
          <a:p>
            <a:pPr eaLnBrk="1" hangingPunct="1">
              <a:buFontTx/>
              <a:buAutoNum type="arabicParenR"/>
            </a:pPr>
            <a:r>
              <a:rPr lang="en-US" sz="2400" dirty="0"/>
              <a:t>Purifying the metal</a:t>
            </a:r>
          </a:p>
          <a:p>
            <a:pPr eaLnBrk="1" hangingPunct="1">
              <a:buFontTx/>
              <a:buAutoNum type="arabicParenR"/>
            </a:pPr>
            <a:r>
              <a:rPr lang="en-US" sz="2400" dirty="0"/>
              <a:t>Mixing it with other elements to modify its properties (making an alloy—a solid mixture)</a:t>
            </a:r>
          </a:p>
        </p:txBody>
      </p:sp>
      <p:grpSp>
        <p:nvGrpSpPr>
          <p:cNvPr id="6149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6151" name="Picture 8" descr="Triangle--Gray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152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066800"/>
            <a:ext cx="2205637" cy="32766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Properties of the </a:t>
            </a:r>
            <a:r>
              <a:rPr lang="en-US" dirty="0">
                <a:solidFill>
                  <a:srgbClr val="0070C0"/>
                </a:solidFill>
              </a:rPr>
              <a:t>First</a:t>
            </a:r>
            <a:r>
              <a:rPr lang="en-US" dirty="0"/>
              <a:t> Row Transition Metals</a:t>
            </a:r>
          </a:p>
        </p:txBody>
      </p:sp>
      <p:grpSp>
        <p:nvGrpSpPr>
          <p:cNvPr id="7172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7175" name="Picture 8" descr="Triangle--Gray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176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sp>
        <p:nvSpPr>
          <p:cNvPr id="7173" name="Content Placeholder 1"/>
          <p:cNvSpPr>
            <a:spLocks noGrp="1"/>
          </p:cNvSpPr>
          <p:nvPr>
            <p:ph idx="1"/>
          </p:nvPr>
        </p:nvSpPr>
        <p:spPr>
          <a:xfrm>
            <a:off x="299644" y="1828800"/>
            <a:ext cx="8387156" cy="1295400"/>
          </a:xfrm>
        </p:spPr>
        <p:txBody>
          <a:bodyPr/>
          <a:lstStyle/>
          <a:p>
            <a:r>
              <a:rPr lang="en-US" sz="2800" dirty="0"/>
              <a:t>“First row” means </a:t>
            </a:r>
            <a:r>
              <a:rPr lang="en-US" sz="2800" dirty="0">
                <a:solidFill>
                  <a:srgbClr val="0070C0"/>
                </a:solidFill>
              </a:rPr>
              <a:t>period 4</a:t>
            </a:r>
            <a:r>
              <a:rPr lang="en-US" sz="2800" dirty="0"/>
              <a:t>.</a:t>
            </a:r>
          </a:p>
          <a:p>
            <a:r>
              <a:rPr lang="en-US" sz="2800" dirty="0"/>
              <a:t>Periods 5 and 6 have similar trends </a:t>
            </a:r>
            <a:r>
              <a:rPr lang="en-US" sz="2800" dirty="0" smtClean="0"/>
              <a:t>in properties</a:t>
            </a:r>
            <a:r>
              <a:rPr lang="en-US" sz="2800" dirty="0"/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33"/>
          <a:stretch/>
        </p:blipFill>
        <p:spPr>
          <a:xfrm>
            <a:off x="375844" y="3278631"/>
            <a:ext cx="8387156" cy="2893569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Atomic Radius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42875" y="1295400"/>
            <a:ext cx="5267325" cy="4671219"/>
          </a:xfrm>
        </p:spPr>
        <p:txBody>
          <a:bodyPr/>
          <a:lstStyle/>
          <a:p>
            <a:pPr eaLnBrk="1" hangingPunct="1"/>
            <a:r>
              <a:rPr lang="en-US" sz="2400" dirty="0"/>
              <a:t>As one goes from left to right,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>
                <a:solidFill>
                  <a:srgbClr val="0070C0"/>
                </a:solidFill>
              </a:rPr>
              <a:t>a </a:t>
            </a:r>
            <a:r>
              <a:rPr lang="en-US" sz="2400" dirty="0">
                <a:solidFill>
                  <a:srgbClr val="0070C0"/>
                </a:solidFill>
              </a:rPr>
              <a:t>decrease, then an increase</a:t>
            </a:r>
            <a:r>
              <a:rPr lang="en-US" sz="2400" dirty="0"/>
              <a:t>, is seen in the radius of transition metals.</a:t>
            </a:r>
          </a:p>
          <a:p>
            <a:pPr eaLnBrk="1" hangingPunct="1"/>
            <a:r>
              <a:rPr lang="en-US" sz="2400" dirty="0"/>
              <a:t>On the one hand, increasing </a:t>
            </a:r>
            <a:r>
              <a:rPr lang="en-US" sz="2400" dirty="0">
                <a:solidFill>
                  <a:srgbClr val="0070C0"/>
                </a:solidFill>
              </a:rPr>
              <a:t>effective nuclear charge </a:t>
            </a:r>
            <a:r>
              <a:rPr lang="en-US" sz="2400" dirty="0"/>
              <a:t>tends </a:t>
            </a:r>
            <a:br>
              <a:rPr lang="en-US" sz="2400" dirty="0"/>
            </a:br>
            <a:r>
              <a:rPr lang="en-US" sz="2400" dirty="0"/>
              <a:t>to make atoms smaller.</a:t>
            </a:r>
          </a:p>
          <a:p>
            <a:pPr eaLnBrk="1" hangingPunct="1"/>
            <a:r>
              <a:rPr lang="en-US" sz="2400" dirty="0"/>
              <a:t>On the other hand, </a:t>
            </a:r>
            <a:br>
              <a:rPr lang="en-US" sz="2400" dirty="0"/>
            </a:br>
            <a:r>
              <a:rPr lang="en-US" sz="2400" dirty="0"/>
              <a:t>the strongest (and, therefore, shortest) </a:t>
            </a:r>
            <a:r>
              <a:rPr lang="en-US" sz="2400" dirty="0">
                <a:solidFill>
                  <a:srgbClr val="0070C0"/>
                </a:solidFill>
              </a:rPr>
              <a:t>metallic bonds </a:t>
            </a:r>
            <a:r>
              <a:rPr lang="en-US" sz="2400" dirty="0"/>
              <a:t>are </a:t>
            </a:r>
            <a:br>
              <a:rPr lang="en-US" sz="2400" dirty="0"/>
            </a:br>
            <a:r>
              <a:rPr lang="en-US" sz="2400" dirty="0"/>
              <a:t>found in the center of the transition metals.</a:t>
            </a:r>
          </a:p>
        </p:txBody>
      </p:sp>
      <p:grpSp>
        <p:nvGrpSpPr>
          <p:cNvPr id="8197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8200" name="Picture 8" descr="Triangle--Gray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01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sp>
        <p:nvSpPr>
          <p:cNvPr id="8198" name="TextBox 1"/>
          <p:cNvSpPr txBox="1">
            <a:spLocks noChangeArrowheads="1"/>
          </p:cNvSpPr>
          <p:nvPr/>
        </p:nvSpPr>
        <p:spPr bwMode="auto">
          <a:xfrm>
            <a:off x="5448300" y="4466272"/>
            <a:ext cx="3467100" cy="147732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Periods 5 and 6 are about the same size due to the </a:t>
            </a:r>
            <a:r>
              <a:rPr lang="en-US" sz="1800" b="1" dirty="0"/>
              <a:t>lanthanide contraction</a:t>
            </a:r>
            <a:r>
              <a:rPr lang="en-US" sz="1800" dirty="0"/>
              <a:t>—the effect of 4</a:t>
            </a:r>
            <a:r>
              <a:rPr lang="en-US" sz="1800" i="1" dirty="0"/>
              <a:t>f</a:t>
            </a:r>
            <a:r>
              <a:rPr lang="en-US" sz="1800" dirty="0"/>
              <a:t> electrons on effective nuclear charge.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95"/>
          <a:stretch/>
        </p:blipFill>
        <p:spPr>
          <a:xfrm>
            <a:off x="5446138" y="1448401"/>
            <a:ext cx="3012062" cy="2894999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Transition Metal Characteristics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228600" y="1219200"/>
            <a:ext cx="4876800" cy="2362200"/>
          </a:xfrm>
        </p:spPr>
        <p:txBody>
          <a:bodyPr/>
          <a:lstStyle/>
          <a:p>
            <a:pPr eaLnBrk="1" hangingPunct="1"/>
            <a:r>
              <a:rPr lang="en-US" sz="2400" dirty="0">
                <a:solidFill>
                  <a:srgbClr val="0070C0"/>
                </a:solidFill>
              </a:rPr>
              <a:t>Partially occupied </a:t>
            </a:r>
            <a:r>
              <a:rPr lang="en-US" sz="2400" i="1" dirty="0">
                <a:solidFill>
                  <a:srgbClr val="0070C0"/>
                </a:solidFill>
              </a:rPr>
              <a:t>d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sublevels lead to the possibility of</a:t>
            </a:r>
          </a:p>
          <a:p>
            <a:pPr eaLnBrk="1" hangingPunct="1">
              <a:buFontTx/>
              <a:buAutoNum type="arabicParenR"/>
            </a:pPr>
            <a:r>
              <a:rPr lang="en-US" sz="2400" dirty="0"/>
              <a:t>multiple oxidation states;</a:t>
            </a:r>
          </a:p>
          <a:p>
            <a:pPr eaLnBrk="1" hangingPunct="1">
              <a:buFontTx/>
              <a:buAutoNum type="arabicParenR"/>
            </a:pPr>
            <a:r>
              <a:rPr lang="en-US" sz="2400" dirty="0"/>
              <a:t>colored compounds;</a:t>
            </a:r>
          </a:p>
          <a:p>
            <a:pPr eaLnBrk="1" hangingPunct="1">
              <a:buFontTx/>
              <a:buAutoNum type="arabicParenR"/>
            </a:pPr>
            <a:r>
              <a:rPr lang="en-US" sz="2400" dirty="0"/>
              <a:t>magnetic properties.</a:t>
            </a:r>
          </a:p>
        </p:txBody>
      </p:sp>
      <p:grpSp>
        <p:nvGrpSpPr>
          <p:cNvPr id="9221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9225" name="Picture 8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26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428" y="1418574"/>
            <a:ext cx="2709672" cy="231522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28"/>
          <a:stretch/>
        </p:blipFill>
        <p:spPr>
          <a:xfrm>
            <a:off x="523875" y="3581400"/>
            <a:ext cx="3962400" cy="274782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428" y="4267200"/>
            <a:ext cx="2709672" cy="1805803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Oxidation States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305800" cy="4191000"/>
          </a:xfrm>
        </p:spPr>
        <p:txBody>
          <a:bodyPr/>
          <a:lstStyle/>
          <a:p>
            <a:pPr eaLnBrk="1" hangingPunct="1"/>
            <a:r>
              <a:rPr lang="en-US" sz="2800" dirty="0"/>
              <a:t>For the period 4 transition elements,</a:t>
            </a:r>
          </a:p>
          <a:p>
            <a:pPr lvl="1" eaLnBrk="1" hangingPunct="1"/>
            <a:r>
              <a:rPr lang="en-US" dirty="0"/>
              <a:t>when cations are formed, they lose the 4</a:t>
            </a:r>
            <a:r>
              <a:rPr lang="en-US" i="1" dirty="0"/>
              <a:t>s</a:t>
            </a:r>
            <a:r>
              <a:rPr lang="en-US" dirty="0"/>
              <a:t> electrons first; all (except </a:t>
            </a:r>
            <a:r>
              <a:rPr lang="en-US" dirty="0" err="1"/>
              <a:t>Sc</a:t>
            </a:r>
            <a:r>
              <a:rPr lang="en-US" dirty="0"/>
              <a:t>) form a </a:t>
            </a:r>
            <a:r>
              <a:rPr lang="en-US" dirty="0">
                <a:solidFill>
                  <a:srgbClr val="0070C0"/>
                </a:solidFill>
              </a:rPr>
              <a:t>+2 cation</a:t>
            </a:r>
            <a:r>
              <a:rPr lang="en-US" dirty="0"/>
              <a:t> (have </a:t>
            </a:r>
            <a:r>
              <a:rPr lang="en-US" dirty="0" smtClean="0"/>
              <a:t>a </a:t>
            </a:r>
            <a:r>
              <a:rPr lang="en-US" dirty="0"/>
              <a:t>+2 oxidation state).</a:t>
            </a:r>
          </a:p>
          <a:p>
            <a:pPr lvl="1" eaLnBrk="1" hangingPunct="1"/>
            <a:r>
              <a:rPr lang="en-US" dirty="0"/>
              <a:t>from </a:t>
            </a:r>
            <a:r>
              <a:rPr lang="en-US" dirty="0" err="1"/>
              <a:t>Sc</a:t>
            </a:r>
            <a:r>
              <a:rPr lang="en-US" dirty="0"/>
              <a:t> to </a:t>
            </a:r>
            <a:r>
              <a:rPr lang="en-US" dirty="0" err="1" smtClean="0">
                <a:solidFill>
                  <a:srgbClr val="FF0000"/>
                </a:solidFill>
              </a:rPr>
              <a:t>Mn</a:t>
            </a:r>
            <a:r>
              <a:rPr lang="en-US" dirty="0" smtClean="0">
                <a:solidFill>
                  <a:srgbClr val="FF0000"/>
                </a:solidFill>
              </a:rPr>
              <a:t> (4s</a:t>
            </a:r>
            <a:r>
              <a:rPr lang="en-US" baseline="30000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rgbClr val="FF0000"/>
                </a:solidFill>
              </a:rPr>
              <a:t>3d</a:t>
            </a:r>
            <a:r>
              <a:rPr lang="en-US" baseline="30000" dirty="0" smtClean="0">
                <a:solidFill>
                  <a:srgbClr val="FF0000"/>
                </a:solidFill>
              </a:rPr>
              <a:t>5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  <a:r>
              <a:rPr lang="en-US" dirty="0" smtClean="0"/>
              <a:t>, </a:t>
            </a:r>
            <a:r>
              <a:rPr lang="en-US" dirty="0"/>
              <a:t>the maximum oxidation state is </a:t>
            </a:r>
            <a:r>
              <a:rPr lang="en-US" dirty="0">
                <a:solidFill>
                  <a:srgbClr val="0070C0"/>
                </a:solidFill>
              </a:rPr>
              <a:t>the sum of 4</a:t>
            </a:r>
            <a:r>
              <a:rPr lang="en-US" i="1" dirty="0">
                <a:solidFill>
                  <a:srgbClr val="0070C0"/>
                </a:solidFill>
              </a:rPr>
              <a:t>s</a:t>
            </a:r>
            <a:r>
              <a:rPr lang="en-US" dirty="0">
                <a:solidFill>
                  <a:srgbClr val="0070C0"/>
                </a:solidFill>
              </a:rPr>
              <a:t> and 3</a:t>
            </a:r>
            <a:r>
              <a:rPr lang="en-US" i="1" dirty="0">
                <a:solidFill>
                  <a:srgbClr val="0070C0"/>
                </a:solidFill>
              </a:rPr>
              <a:t>d</a:t>
            </a:r>
            <a:r>
              <a:rPr lang="en-US" dirty="0">
                <a:solidFill>
                  <a:srgbClr val="0070C0"/>
                </a:solidFill>
              </a:rPr>
              <a:t> electrons</a:t>
            </a:r>
            <a:r>
              <a:rPr lang="en-US" dirty="0"/>
              <a:t>.</a:t>
            </a:r>
          </a:p>
          <a:p>
            <a:pPr lvl="1" eaLnBrk="1" hangingPunct="1"/>
            <a:r>
              <a:rPr lang="en-US" dirty="0"/>
              <a:t>after </a:t>
            </a:r>
            <a:r>
              <a:rPr lang="en-US" dirty="0" err="1">
                <a:solidFill>
                  <a:srgbClr val="FF0000"/>
                </a:solidFill>
              </a:rPr>
              <a:t>Mn</a:t>
            </a:r>
            <a:r>
              <a:rPr lang="en-US" dirty="0"/>
              <a:t>, the maximum oxidation number </a:t>
            </a:r>
            <a:r>
              <a:rPr lang="en-US" dirty="0">
                <a:solidFill>
                  <a:srgbClr val="0070C0"/>
                </a:solidFill>
              </a:rPr>
              <a:t>decreases</a:t>
            </a:r>
            <a:r>
              <a:rPr lang="en-US" dirty="0"/>
              <a:t>, until Zn, which is ONLY +2.</a:t>
            </a:r>
          </a:p>
        </p:txBody>
      </p:sp>
      <p:grpSp>
        <p:nvGrpSpPr>
          <p:cNvPr id="10245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10246" name="Picture 8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247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0" y="28575"/>
            <a:ext cx="9144000" cy="885825"/>
          </a:xfrm>
        </p:spPr>
        <p:txBody>
          <a:bodyPr/>
          <a:lstStyle/>
          <a:p>
            <a:r>
              <a:rPr lang="en-US"/>
              <a:t>Magnetism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0" y="1063625"/>
            <a:ext cx="6781800" cy="5383213"/>
          </a:xfrm>
        </p:spPr>
        <p:txBody>
          <a:bodyPr/>
          <a:lstStyle/>
          <a:p>
            <a:pPr eaLnBrk="1" hangingPunct="1"/>
            <a:r>
              <a:rPr lang="en-US" sz="2400" u="sng" dirty="0"/>
              <a:t>Electrons possess spin, causing a magnetic moment.</a:t>
            </a:r>
          </a:p>
          <a:p>
            <a:pPr eaLnBrk="1" hangingPunct="1"/>
            <a:r>
              <a:rPr lang="en-US" sz="2400" dirty="0"/>
              <a:t>When all electrons are </a:t>
            </a:r>
            <a:r>
              <a:rPr lang="en-US" sz="2400" b="1" dirty="0"/>
              <a:t>spin-paired</a:t>
            </a:r>
            <a:r>
              <a:rPr lang="en-US" sz="2400" dirty="0"/>
              <a:t>, the </a:t>
            </a:r>
            <a:r>
              <a:rPr lang="en-US" sz="2400" dirty="0" smtClean="0"/>
              <a:t>moments cancel </a:t>
            </a:r>
            <a:r>
              <a:rPr lang="en-US" sz="2400" dirty="0"/>
              <a:t>each other out: this is a </a:t>
            </a:r>
            <a:r>
              <a:rPr lang="en-US" sz="2400" i="1" dirty="0">
                <a:solidFill>
                  <a:srgbClr val="00B0F0"/>
                </a:solidFill>
              </a:rPr>
              <a:t>diamagnetic</a:t>
            </a:r>
            <a:r>
              <a:rPr lang="en-US" sz="2400" dirty="0">
                <a:solidFill>
                  <a:srgbClr val="00B0F0"/>
                </a:solidFill>
              </a:rPr>
              <a:t> </a:t>
            </a:r>
            <a:r>
              <a:rPr lang="en-US" sz="2400" dirty="0" smtClean="0">
                <a:solidFill>
                  <a:srgbClr val="00B0F0"/>
                </a:solidFill>
              </a:rPr>
              <a:t>(</a:t>
            </a:r>
            <a:r>
              <a:rPr lang="zh-CN" altLang="en-US" sz="2400" dirty="0" smtClean="0">
                <a:solidFill>
                  <a:srgbClr val="00B0F0"/>
                </a:solidFill>
                <a:latin typeface="Adobe 黑体 Std R" pitchFamily="34" charset="-122"/>
                <a:ea typeface="Adobe 黑体 Std R" pitchFamily="34" charset="-122"/>
              </a:rPr>
              <a:t>反磁性</a:t>
            </a:r>
            <a:r>
              <a:rPr lang="en-US" sz="2400" dirty="0" smtClean="0">
                <a:solidFill>
                  <a:srgbClr val="00B0F0"/>
                </a:solidFill>
              </a:rPr>
              <a:t>) </a:t>
            </a:r>
            <a:r>
              <a:rPr lang="en-US" sz="2400" dirty="0" smtClean="0"/>
              <a:t>solid</a:t>
            </a:r>
            <a:r>
              <a:rPr lang="en-US" sz="2400" dirty="0"/>
              <a:t>.</a:t>
            </a:r>
          </a:p>
          <a:p>
            <a:pPr eaLnBrk="1" hangingPunct="1"/>
            <a:r>
              <a:rPr lang="en-US" sz="2400" dirty="0"/>
              <a:t>With </a:t>
            </a:r>
            <a:r>
              <a:rPr lang="en-US" sz="2400" b="1" dirty="0"/>
              <a:t>unpaired</a:t>
            </a:r>
            <a:r>
              <a:rPr lang="en-US" sz="2400" dirty="0"/>
              <a:t> electron(s), the substance is called </a:t>
            </a:r>
            <a:r>
              <a:rPr lang="en-US" sz="2400" i="1" dirty="0" smtClean="0">
                <a:solidFill>
                  <a:srgbClr val="00B0F0"/>
                </a:solidFill>
              </a:rPr>
              <a:t>paramagnetic</a:t>
            </a:r>
            <a:r>
              <a:rPr lang="en-US" sz="2400" dirty="0">
                <a:solidFill>
                  <a:srgbClr val="00B0F0"/>
                </a:solidFill>
              </a:rPr>
              <a:t> </a:t>
            </a:r>
            <a:r>
              <a:rPr lang="en-US" sz="2400" dirty="0" smtClean="0">
                <a:solidFill>
                  <a:srgbClr val="00B0F0"/>
                </a:solidFill>
              </a:rPr>
              <a:t>(</a:t>
            </a:r>
            <a:r>
              <a:rPr lang="zh-CN" altLang="en-US" sz="2400" dirty="0" smtClean="0">
                <a:solidFill>
                  <a:srgbClr val="00B0F0"/>
                </a:solidFill>
                <a:latin typeface="Adobe 黑体 Std R" pitchFamily="34" charset="-122"/>
                <a:ea typeface="Adobe 黑体 Std R" pitchFamily="34" charset="-122"/>
              </a:rPr>
              <a:t>顺磁</a:t>
            </a:r>
            <a:r>
              <a:rPr lang="zh-CN" altLang="en-US" sz="2400" dirty="0">
                <a:solidFill>
                  <a:srgbClr val="00B0F0"/>
                </a:solidFill>
                <a:latin typeface="Adobe 黑体 Std R" pitchFamily="34" charset="-122"/>
                <a:ea typeface="Adobe 黑体 Std R" pitchFamily="34" charset="-122"/>
              </a:rPr>
              <a:t>性</a:t>
            </a:r>
            <a:r>
              <a:rPr lang="en-US" sz="2400" dirty="0">
                <a:solidFill>
                  <a:srgbClr val="00B0F0"/>
                </a:solidFill>
              </a:rPr>
              <a:t>)</a:t>
            </a:r>
            <a:r>
              <a:rPr lang="en-US" sz="2400" dirty="0" smtClean="0"/>
              <a:t>. </a:t>
            </a:r>
            <a:r>
              <a:rPr lang="en-US" sz="2400" dirty="0"/>
              <a:t>In these substances, the adjacent atoms </a:t>
            </a:r>
            <a:r>
              <a:rPr lang="en-US" sz="2400" u="sng" dirty="0"/>
              <a:t>don’t affect </a:t>
            </a:r>
            <a:r>
              <a:rPr lang="en-US" sz="2400" dirty="0"/>
              <a:t>each other.</a:t>
            </a:r>
          </a:p>
          <a:p>
            <a:pPr eaLnBrk="1" hangingPunct="1"/>
            <a:r>
              <a:rPr lang="en-US" sz="2400" dirty="0"/>
              <a:t>In three other types of magnetism, the atoms </a:t>
            </a:r>
            <a:r>
              <a:rPr lang="en-US" sz="2400" u="sng" dirty="0"/>
              <a:t>affect</a:t>
            </a:r>
            <a:r>
              <a:rPr lang="en-US" sz="2400" dirty="0"/>
              <a:t> each other: </a:t>
            </a:r>
            <a:r>
              <a:rPr lang="en-US" sz="2400" dirty="0" smtClean="0">
                <a:solidFill>
                  <a:srgbClr val="00B0F0"/>
                </a:solidFill>
              </a:rPr>
              <a:t>ferromagnetic </a:t>
            </a:r>
            <a:r>
              <a:rPr lang="zh-CN" altLang="en-US" sz="2400" dirty="0" smtClean="0">
                <a:solidFill>
                  <a:srgbClr val="00B0F0"/>
                </a:solidFill>
              </a:rPr>
              <a:t>（</a:t>
            </a:r>
            <a:r>
              <a:rPr lang="zh-CN" altLang="en-US" sz="2400" dirty="0" smtClean="0">
                <a:solidFill>
                  <a:srgbClr val="00B0F0"/>
                </a:solidFill>
                <a:latin typeface="Adobe 黑体 Std R" pitchFamily="34" charset="-122"/>
                <a:ea typeface="Adobe 黑体 Std R" pitchFamily="34" charset="-122"/>
              </a:rPr>
              <a:t>铁磁</a:t>
            </a:r>
            <a:r>
              <a:rPr lang="zh-CN" altLang="en-US" sz="2400" dirty="0" smtClean="0">
                <a:solidFill>
                  <a:srgbClr val="00B0F0"/>
                </a:solidFill>
              </a:rPr>
              <a:t>）</a:t>
            </a:r>
            <a:r>
              <a:rPr lang="en-US" sz="2400" dirty="0" smtClean="0"/>
              <a:t>, </a:t>
            </a:r>
            <a:r>
              <a:rPr lang="en-US" sz="2400" dirty="0" smtClean="0">
                <a:solidFill>
                  <a:srgbClr val="00B0F0"/>
                </a:solidFill>
              </a:rPr>
              <a:t>antiferromagnetic </a:t>
            </a:r>
            <a:r>
              <a:rPr lang="zh-CN" altLang="en-US" sz="2400" dirty="0" smtClean="0">
                <a:solidFill>
                  <a:srgbClr val="00B0F0"/>
                </a:solidFill>
              </a:rPr>
              <a:t>（</a:t>
            </a:r>
            <a:r>
              <a:rPr lang="zh-CN" altLang="en-US" sz="2400" dirty="0" smtClean="0">
                <a:solidFill>
                  <a:srgbClr val="00B0F0"/>
                </a:solidFill>
                <a:latin typeface="Adobe 黑体 Std R" pitchFamily="34" charset="-122"/>
                <a:ea typeface="Adobe 黑体 Std R" pitchFamily="34" charset="-122"/>
              </a:rPr>
              <a:t>反铁磁</a:t>
            </a:r>
            <a:r>
              <a:rPr lang="zh-CN" altLang="en-US" sz="2400" dirty="0" smtClean="0">
                <a:solidFill>
                  <a:srgbClr val="00B0F0"/>
                </a:solidFill>
              </a:rPr>
              <a:t>）</a:t>
            </a:r>
            <a:r>
              <a:rPr lang="en-US" sz="2400" dirty="0" smtClean="0"/>
              <a:t>, </a:t>
            </a:r>
            <a:r>
              <a:rPr lang="en-US" sz="2400" dirty="0"/>
              <a:t>and </a:t>
            </a:r>
            <a:r>
              <a:rPr lang="en-US" sz="2400" dirty="0" err="1" smtClean="0">
                <a:solidFill>
                  <a:srgbClr val="00B0F0"/>
                </a:solidFill>
              </a:rPr>
              <a:t>ferrimagnetic</a:t>
            </a:r>
            <a:r>
              <a:rPr lang="en-US" sz="2400" dirty="0" smtClean="0">
                <a:solidFill>
                  <a:srgbClr val="00B0F0"/>
                </a:solidFill>
              </a:rPr>
              <a:t> </a:t>
            </a:r>
            <a:r>
              <a:rPr lang="zh-CN" altLang="en-US" sz="2400" dirty="0" smtClean="0">
                <a:solidFill>
                  <a:srgbClr val="00B0F0"/>
                </a:solidFill>
              </a:rPr>
              <a:t>（</a:t>
            </a:r>
            <a:r>
              <a:rPr lang="zh-CN" altLang="en-US" sz="2400" dirty="0" smtClean="0">
                <a:solidFill>
                  <a:srgbClr val="00B0F0"/>
                </a:solidFill>
                <a:latin typeface="Adobe 黑体 Std R" pitchFamily="34" charset="-122"/>
                <a:ea typeface="Adobe 黑体 Std R" pitchFamily="34" charset="-122"/>
              </a:rPr>
              <a:t>亚铁磁</a:t>
            </a:r>
            <a:r>
              <a:rPr lang="zh-CN" altLang="en-US" sz="2400" dirty="0" smtClean="0">
                <a:solidFill>
                  <a:srgbClr val="00B0F0"/>
                </a:solidFill>
              </a:rPr>
              <a:t>）</a:t>
            </a:r>
            <a:r>
              <a:rPr lang="en-US" sz="2400" dirty="0" smtClean="0"/>
              <a:t>. </a:t>
            </a:r>
            <a:r>
              <a:rPr lang="en-US" sz="2400" dirty="0"/>
              <a:t>(These become paramagnetic at higher temperatures.)</a:t>
            </a:r>
          </a:p>
        </p:txBody>
      </p:sp>
      <p:grpSp>
        <p:nvGrpSpPr>
          <p:cNvPr id="11269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11271" name="Picture 8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272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61"/>
          <a:stretch/>
        </p:blipFill>
        <p:spPr>
          <a:xfrm>
            <a:off x="6705600" y="152400"/>
            <a:ext cx="2390775" cy="3779718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763" y="166688"/>
            <a:ext cx="9144000" cy="11430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0070C0"/>
                </a:solidFill>
              </a:rPr>
              <a:t>Ferromagnetism </a:t>
            </a:r>
            <a:r>
              <a:rPr lang="zh-CN" altLang="en-US" b="1" dirty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铁</a:t>
            </a:r>
            <a:r>
              <a:rPr lang="zh-CN" altLang="en-US" b="1" dirty="0" smtClean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磁性</a:t>
            </a:r>
            <a:endParaRPr lang="en-US" b="1" dirty="0">
              <a:solidFill>
                <a:srgbClr val="0070C0"/>
              </a:solidFill>
              <a:latin typeface="Adobe 黑体 Std R" pitchFamily="34" charset="-122"/>
              <a:ea typeface="Adobe 黑体 Std R" pitchFamily="34" charset="-122"/>
            </a:endParaRPr>
          </a:p>
        </p:txBody>
      </p:sp>
      <p:sp>
        <p:nvSpPr>
          <p:cNvPr id="12291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228600" y="1524000"/>
            <a:ext cx="5943600" cy="4432300"/>
          </a:xfrm>
        </p:spPr>
        <p:txBody>
          <a:bodyPr/>
          <a:lstStyle/>
          <a:p>
            <a:pPr eaLnBrk="1" hangingPunct="1"/>
            <a:r>
              <a:rPr lang="en-US" sz="2800" dirty="0"/>
              <a:t>In ferromagnetic substances, the unpaired spins influence each other to </a:t>
            </a:r>
            <a:r>
              <a:rPr lang="en-US" sz="2800" dirty="0">
                <a:solidFill>
                  <a:srgbClr val="0070C0"/>
                </a:solidFill>
              </a:rPr>
              <a:t>align in the same direction</a:t>
            </a:r>
            <a:r>
              <a:rPr lang="en-US" sz="2800" dirty="0"/>
              <a:t>, thereby exhibiting strong attractions to an external magnetic field.</a:t>
            </a:r>
          </a:p>
          <a:p>
            <a:pPr eaLnBrk="1" hangingPunct="1"/>
            <a:r>
              <a:rPr lang="en-US" sz="2800" dirty="0"/>
              <a:t>Such species are permanent magnets</a:t>
            </a:r>
            <a:r>
              <a:rPr lang="en-US" sz="2800" dirty="0" smtClean="0"/>
              <a:t>. </a:t>
            </a:r>
            <a:r>
              <a:rPr lang="zh-CN" altLang="en-US" sz="2800" dirty="0" smtClean="0"/>
              <a:t>（</a:t>
            </a:r>
            <a:r>
              <a:rPr lang="zh-CN" altLang="en-US" sz="2800" dirty="0" smtClean="0">
                <a:latin typeface="Adobe 黑体 Std R" pitchFamily="34" charset="-122"/>
                <a:ea typeface="Adobe 黑体 Std R" pitchFamily="34" charset="-122"/>
              </a:rPr>
              <a:t>永久磁铁</a:t>
            </a:r>
            <a:r>
              <a:rPr lang="zh-CN" altLang="en-US" sz="2800" dirty="0" smtClean="0"/>
              <a:t>）</a:t>
            </a:r>
            <a:endParaRPr lang="en-US" sz="2800" dirty="0"/>
          </a:p>
          <a:p>
            <a:pPr eaLnBrk="1" hangingPunct="1"/>
            <a:r>
              <a:rPr lang="en-US" sz="2800" dirty="0"/>
              <a:t>Elements: </a:t>
            </a:r>
            <a:r>
              <a:rPr lang="en-US" sz="2800" dirty="0">
                <a:solidFill>
                  <a:srgbClr val="0070C0"/>
                </a:solidFill>
              </a:rPr>
              <a:t>Fe, Co, Ni</a:t>
            </a:r>
            <a:r>
              <a:rPr lang="en-US" sz="2800" dirty="0"/>
              <a:t>; also </a:t>
            </a:r>
            <a:r>
              <a:rPr lang="en-US" sz="2800" dirty="0" smtClean="0"/>
              <a:t>many </a:t>
            </a:r>
            <a:r>
              <a:rPr lang="en-US" sz="2800" dirty="0"/>
              <a:t>alloys</a:t>
            </a:r>
          </a:p>
        </p:txBody>
      </p:sp>
      <p:grpSp>
        <p:nvGrpSpPr>
          <p:cNvPr id="12293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12295" name="Picture 8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296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61"/>
          <a:stretch/>
        </p:blipFill>
        <p:spPr>
          <a:xfrm>
            <a:off x="6181726" y="1371600"/>
            <a:ext cx="2694890" cy="4235114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>
                <a:solidFill>
                  <a:srgbClr val="0070C0"/>
                </a:solidFill>
              </a:rPr>
              <a:t>Antiferromagnetism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zh-CN" altLang="en-US" b="1" dirty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反</a:t>
            </a:r>
            <a:r>
              <a:rPr lang="zh-CN" altLang="en-US" b="1" dirty="0" smtClean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铁</a:t>
            </a:r>
            <a:r>
              <a:rPr lang="zh-CN" altLang="en-US" b="1" dirty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磁性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827213"/>
            <a:ext cx="6172200" cy="4114800"/>
          </a:xfrm>
        </p:spPr>
        <p:txBody>
          <a:bodyPr/>
          <a:lstStyle/>
          <a:p>
            <a:pPr eaLnBrk="1" hangingPunct="1"/>
            <a:r>
              <a:rPr lang="en-US" sz="2800" dirty="0"/>
              <a:t>Antiferromagnetic substances have unpaired spins on adjacent atoms that </a:t>
            </a:r>
            <a:r>
              <a:rPr lang="en-US" sz="2800" dirty="0">
                <a:solidFill>
                  <a:srgbClr val="0070C0"/>
                </a:solidFill>
              </a:rPr>
              <a:t>align in opposing directions</a:t>
            </a:r>
            <a:r>
              <a:rPr lang="en-US" sz="2800" dirty="0"/>
              <a:t>.</a:t>
            </a:r>
          </a:p>
          <a:p>
            <a:pPr eaLnBrk="1" hangingPunct="1"/>
            <a:r>
              <a:rPr lang="en-US" sz="2800" dirty="0"/>
              <a:t>These magnetic fields tend to cancel each other.</a:t>
            </a:r>
          </a:p>
          <a:p>
            <a:pPr eaLnBrk="1" hangingPunct="1"/>
            <a:r>
              <a:rPr lang="en-US" sz="2800" dirty="0"/>
              <a:t>Examples—element: </a:t>
            </a:r>
            <a:r>
              <a:rPr lang="en-US" sz="2800" dirty="0">
                <a:solidFill>
                  <a:srgbClr val="0070C0"/>
                </a:solidFill>
              </a:rPr>
              <a:t>Cr</a:t>
            </a:r>
            <a:r>
              <a:rPr lang="en-US" sz="2800" dirty="0"/>
              <a:t>; alloys: </a:t>
            </a:r>
            <a:r>
              <a:rPr lang="en-US" sz="2800" dirty="0" err="1">
                <a:solidFill>
                  <a:srgbClr val="0070C0"/>
                </a:solidFill>
              </a:rPr>
              <a:t>FeMn</a:t>
            </a:r>
            <a:r>
              <a:rPr lang="en-US" sz="2800" dirty="0"/>
              <a:t>; transition metal oxides: Fe</a:t>
            </a:r>
            <a:r>
              <a:rPr lang="en-US" sz="2800" baseline="-25000" dirty="0"/>
              <a:t>2</a:t>
            </a:r>
            <a:r>
              <a:rPr lang="en-US" sz="2800" dirty="0"/>
              <a:t>O</a:t>
            </a:r>
            <a:r>
              <a:rPr lang="en-US" sz="2800" baseline="-25000" dirty="0"/>
              <a:t>3</a:t>
            </a:r>
            <a:r>
              <a:rPr lang="en-US" sz="2800" dirty="0"/>
              <a:t>, LaFeO</a:t>
            </a:r>
            <a:r>
              <a:rPr lang="en-US" sz="2800" baseline="-25000" dirty="0"/>
              <a:t>3</a:t>
            </a:r>
            <a:r>
              <a:rPr lang="en-US" sz="2800" dirty="0"/>
              <a:t>, </a:t>
            </a:r>
            <a:r>
              <a:rPr lang="en-US" sz="2800" dirty="0" err="1"/>
              <a:t>MnO</a:t>
            </a:r>
            <a:endParaRPr lang="en-US" sz="2800" dirty="0"/>
          </a:p>
        </p:txBody>
      </p:sp>
      <p:grpSp>
        <p:nvGrpSpPr>
          <p:cNvPr id="13317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13319" name="Picture 8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20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84"/>
          <a:stretch/>
        </p:blipFill>
        <p:spPr>
          <a:xfrm>
            <a:off x="6457950" y="1524000"/>
            <a:ext cx="2628900" cy="3882769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7150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solidFill>
                  <a:srgbClr val="0070C0"/>
                </a:solidFill>
              </a:rPr>
              <a:t>Ferrimagnetism </a:t>
            </a:r>
            <a:r>
              <a:rPr lang="zh-CN" altLang="en-US" dirty="0" smtClean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亚</a:t>
            </a:r>
            <a:r>
              <a:rPr lang="zh-CN" altLang="en-US" dirty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铁</a:t>
            </a:r>
            <a:r>
              <a:rPr lang="zh-CN" altLang="en-US" dirty="0" smtClean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磁性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433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76200" y="1296987"/>
            <a:ext cx="6934200" cy="4875213"/>
          </a:xfrm>
        </p:spPr>
        <p:txBody>
          <a:bodyPr/>
          <a:lstStyle/>
          <a:p>
            <a:pPr eaLnBrk="1" hangingPunct="1"/>
            <a:r>
              <a:rPr lang="en-US" sz="2600" dirty="0" err="1"/>
              <a:t>Ferrimagnetic</a:t>
            </a:r>
            <a:r>
              <a:rPr lang="en-US" sz="2600" dirty="0"/>
              <a:t> substances have spins that </a:t>
            </a:r>
            <a:r>
              <a:rPr lang="en-US" sz="2600" dirty="0">
                <a:solidFill>
                  <a:srgbClr val="0070C0"/>
                </a:solidFill>
              </a:rPr>
              <a:t>align opposite each other</a:t>
            </a:r>
            <a:r>
              <a:rPr lang="en-US" sz="2600" dirty="0"/>
              <a:t>, but the spins are </a:t>
            </a:r>
            <a:r>
              <a:rPr lang="en-US" sz="2600" dirty="0">
                <a:solidFill>
                  <a:srgbClr val="0070C0"/>
                </a:solidFill>
              </a:rPr>
              <a:t>not equal</a:t>
            </a:r>
            <a:r>
              <a:rPr lang="en-US" sz="2600" dirty="0"/>
              <a:t>, so there is a net magnetic field.</a:t>
            </a:r>
          </a:p>
          <a:p>
            <a:pPr eaLnBrk="1" hangingPunct="1"/>
            <a:r>
              <a:rPr lang="en-US" sz="2600" dirty="0"/>
              <a:t>This can occur because</a:t>
            </a:r>
          </a:p>
          <a:p>
            <a:pPr eaLnBrk="1" hangingPunct="1">
              <a:buFont typeface="Wingdings" charset="2"/>
              <a:buChar char="Ø"/>
            </a:pPr>
            <a:r>
              <a:rPr lang="en-US" sz="2600" dirty="0"/>
              <a:t>magnetic centers have different </a:t>
            </a:r>
            <a:r>
              <a:rPr lang="en-US" sz="2600" dirty="0" smtClean="0"/>
              <a:t/>
            </a:r>
            <a:br>
              <a:rPr lang="en-US" sz="2600" dirty="0" smtClean="0"/>
            </a:br>
            <a:r>
              <a:rPr lang="en-US" sz="2600" dirty="0" smtClean="0"/>
              <a:t>numbers </a:t>
            </a:r>
            <a:r>
              <a:rPr lang="en-US" sz="2600" dirty="0"/>
              <a:t>of unpaired electrons;</a:t>
            </a:r>
          </a:p>
          <a:p>
            <a:pPr eaLnBrk="1" hangingPunct="1">
              <a:buFont typeface="Wingdings" charset="2"/>
              <a:buChar char="Ø"/>
            </a:pPr>
            <a:r>
              <a:rPr lang="en-US" sz="2600" dirty="0"/>
              <a:t>more sites align in one direction than </a:t>
            </a:r>
            <a:r>
              <a:rPr lang="en-US" sz="2600" dirty="0" smtClean="0"/>
              <a:t/>
            </a:r>
            <a:br>
              <a:rPr lang="en-US" sz="2600" dirty="0" smtClean="0"/>
            </a:br>
            <a:r>
              <a:rPr lang="en-US" sz="2600" dirty="0" smtClean="0"/>
              <a:t>the </a:t>
            </a:r>
            <a:r>
              <a:rPr lang="en-US" sz="2600" dirty="0"/>
              <a:t>other;</a:t>
            </a:r>
          </a:p>
          <a:p>
            <a:pPr eaLnBrk="1" hangingPunct="1">
              <a:buFont typeface="Wingdings" charset="2"/>
              <a:buChar char="Ø"/>
            </a:pPr>
            <a:r>
              <a:rPr lang="en-US" sz="2600" dirty="0"/>
              <a:t>both of these conditions apply.</a:t>
            </a:r>
          </a:p>
          <a:p>
            <a:pPr eaLnBrk="1" hangingPunct="1"/>
            <a:r>
              <a:rPr lang="en-US" sz="2600" dirty="0"/>
              <a:t>Examples are NiMnO</a:t>
            </a:r>
            <a:r>
              <a:rPr lang="en-US" sz="2600" baseline="-25000" dirty="0"/>
              <a:t>3</a:t>
            </a:r>
            <a:r>
              <a:rPr lang="en-US" sz="2600" dirty="0"/>
              <a:t>, Y</a:t>
            </a:r>
            <a:r>
              <a:rPr lang="en-US" sz="2600" baseline="-25000" dirty="0"/>
              <a:t>3</a:t>
            </a:r>
            <a:r>
              <a:rPr lang="en-US" sz="2600" dirty="0"/>
              <a:t>Fe</a:t>
            </a:r>
            <a:r>
              <a:rPr lang="en-US" sz="2600" baseline="-25000" dirty="0"/>
              <a:t>5</a:t>
            </a:r>
            <a:r>
              <a:rPr lang="en-US" sz="2600" dirty="0"/>
              <a:t>O</a:t>
            </a:r>
            <a:r>
              <a:rPr lang="en-US" sz="2600" baseline="-25000" dirty="0"/>
              <a:t>12</a:t>
            </a:r>
            <a:r>
              <a:rPr lang="en-US" sz="2600" dirty="0"/>
              <a:t>, </a:t>
            </a:r>
            <a:r>
              <a:rPr lang="en-US" sz="2600" dirty="0" smtClean="0"/>
              <a:t/>
            </a:r>
            <a:br>
              <a:rPr lang="en-US" sz="2600" dirty="0" smtClean="0"/>
            </a:br>
            <a:r>
              <a:rPr lang="en-US" sz="2600" dirty="0" smtClean="0"/>
              <a:t>and Fe</a:t>
            </a:r>
            <a:r>
              <a:rPr lang="en-US" sz="2600" baseline="-25000" dirty="0" smtClean="0"/>
              <a:t>3</a:t>
            </a:r>
            <a:r>
              <a:rPr lang="en-US" sz="2600" dirty="0" smtClean="0"/>
              <a:t>O</a:t>
            </a:r>
            <a:r>
              <a:rPr lang="en-US" sz="2600" baseline="-25000" dirty="0" smtClean="0"/>
              <a:t>4</a:t>
            </a:r>
            <a:r>
              <a:rPr lang="en-US" sz="2600" dirty="0"/>
              <a:t>.</a:t>
            </a:r>
          </a:p>
        </p:txBody>
      </p:sp>
      <p:grpSp>
        <p:nvGrpSpPr>
          <p:cNvPr id="14341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14343" name="Picture 8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344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95"/>
          <a:stretch/>
        </p:blipFill>
        <p:spPr>
          <a:xfrm>
            <a:off x="6019800" y="3030104"/>
            <a:ext cx="2933700" cy="3624364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olidFill>
                  <a:srgbClr val="0070C0"/>
                </a:solidFill>
              </a:rPr>
              <a:t>Complexes </a:t>
            </a:r>
            <a:r>
              <a:rPr lang="zh-CN" altLang="en-US" dirty="0" smtClean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络合物</a:t>
            </a:r>
            <a:endParaRPr lang="en-US" dirty="0">
              <a:solidFill>
                <a:srgbClr val="0070C0"/>
              </a:solidFill>
              <a:latin typeface="Adobe 黑体 Std R" pitchFamily="34" charset="-122"/>
              <a:ea typeface="Adobe 黑体 Std R" pitchFamily="34" charset="-122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457325"/>
            <a:ext cx="8115300" cy="3648075"/>
          </a:xfrm>
        </p:spPr>
        <p:txBody>
          <a:bodyPr/>
          <a:lstStyle/>
          <a:p>
            <a:pPr eaLnBrk="1" hangingPunct="1"/>
            <a:r>
              <a:rPr lang="en-US" sz="2400" dirty="0"/>
              <a:t>Commonly, transition metals can have molecules or ions that bond to them, called </a:t>
            </a:r>
            <a:r>
              <a:rPr lang="en-US" sz="2400" b="1" dirty="0">
                <a:solidFill>
                  <a:srgbClr val="0070C0"/>
                </a:solidFill>
              </a:rPr>
              <a:t>ligands</a:t>
            </a:r>
            <a:r>
              <a:rPr lang="en-US" sz="2400" dirty="0" smtClean="0"/>
              <a:t>. </a:t>
            </a:r>
            <a:r>
              <a:rPr lang="zh-CN" altLang="en-US" sz="2400" b="1" dirty="0" smtClean="0"/>
              <a:t>配体</a:t>
            </a:r>
            <a:endParaRPr lang="en-US" sz="2400" b="1" dirty="0"/>
          </a:p>
          <a:p>
            <a:pPr eaLnBrk="1" hangingPunct="1"/>
            <a:r>
              <a:rPr lang="en-US" sz="2400" dirty="0"/>
              <a:t>These give rise to </a:t>
            </a:r>
            <a:r>
              <a:rPr lang="en-US" sz="2400" b="1" dirty="0">
                <a:solidFill>
                  <a:srgbClr val="0070C0"/>
                </a:solidFill>
              </a:rPr>
              <a:t>complex </a:t>
            </a:r>
            <a:r>
              <a:rPr lang="en-US" sz="2400" b="1" dirty="0" smtClean="0">
                <a:solidFill>
                  <a:srgbClr val="0070C0"/>
                </a:solidFill>
              </a:rPr>
              <a:t>ions</a:t>
            </a:r>
            <a:r>
              <a:rPr lang="en-US" sz="2400" b="1" dirty="0" smtClean="0"/>
              <a:t> </a:t>
            </a:r>
            <a:r>
              <a:rPr lang="zh-CN" altLang="en-US" sz="2400" b="1" dirty="0" smtClean="0">
                <a:latin typeface="Adobe 黑体 Std R" pitchFamily="34" charset="-122"/>
                <a:ea typeface="Adobe 黑体 Std R" pitchFamily="34" charset="-122"/>
              </a:rPr>
              <a:t>络合离子</a:t>
            </a:r>
            <a:r>
              <a:rPr lang="en-US" sz="2400" dirty="0" smtClean="0">
                <a:latin typeface="Adobe 黑体 Std R" pitchFamily="34" charset="-122"/>
                <a:ea typeface="Adobe 黑体 Std R" pitchFamily="34" charset="-122"/>
              </a:rPr>
              <a:t> </a:t>
            </a:r>
            <a:r>
              <a:rPr lang="en-US" sz="2400" dirty="0"/>
              <a:t>or </a:t>
            </a:r>
            <a:r>
              <a:rPr lang="en-US" sz="2400" b="1" dirty="0">
                <a:solidFill>
                  <a:srgbClr val="0070C0"/>
                </a:solidFill>
              </a:rPr>
              <a:t>coordination </a:t>
            </a:r>
            <a:r>
              <a:rPr lang="en-US" sz="2400" b="1" dirty="0" smtClean="0">
                <a:solidFill>
                  <a:srgbClr val="0070C0"/>
                </a:solidFill>
              </a:rPr>
              <a:t>compounds </a:t>
            </a:r>
            <a:r>
              <a:rPr lang="zh-CN" altLang="en-US" sz="2400" b="1" dirty="0" smtClean="0"/>
              <a:t>配位化合物</a:t>
            </a:r>
            <a:r>
              <a:rPr lang="en-US" sz="2400" dirty="0" smtClean="0"/>
              <a:t>. </a:t>
            </a:r>
          </a:p>
          <a:p>
            <a:pPr eaLnBrk="1" hangingPunct="1"/>
            <a:r>
              <a:rPr lang="en-US" sz="2400" dirty="0" smtClean="0">
                <a:solidFill>
                  <a:srgbClr val="0070C0"/>
                </a:solidFill>
              </a:rPr>
              <a:t>Ligands </a:t>
            </a:r>
            <a:r>
              <a:rPr lang="en-US" sz="2400" dirty="0">
                <a:solidFill>
                  <a:srgbClr val="0070C0"/>
                </a:solidFill>
              </a:rPr>
              <a:t>act as Lewis bases</a:t>
            </a:r>
            <a:r>
              <a:rPr lang="en-US" sz="2400" dirty="0"/>
              <a:t>, donating a pair of electrons to form the ligand–metal bond.</a:t>
            </a:r>
          </a:p>
          <a:p>
            <a:pPr eaLnBrk="1" hangingPunct="1"/>
            <a:r>
              <a:rPr lang="en-US" sz="2400" dirty="0"/>
              <a:t>Four of the most common ligands:</a:t>
            </a:r>
          </a:p>
        </p:txBody>
      </p:sp>
      <p:grpSp>
        <p:nvGrpSpPr>
          <p:cNvPr id="15365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15367" name="Picture 8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368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92"/>
          <a:stretch/>
        </p:blipFill>
        <p:spPr>
          <a:xfrm>
            <a:off x="1600200" y="4613221"/>
            <a:ext cx="6064418" cy="1539929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371600"/>
          </a:xfrm>
        </p:spPr>
        <p:txBody>
          <a:bodyPr/>
          <a:lstStyle/>
          <a:p>
            <a:pPr eaLnBrk="1" hangingPunct="1"/>
            <a:r>
              <a:rPr lang="en-US" sz="3600" dirty="0"/>
              <a:t>Alfred </a:t>
            </a:r>
            <a:r>
              <a:rPr lang="en-US" sz="3600" dirty="0">
                <a:solidFill>
                  <a:srgbClr val="0070C0"/>
                </a:solidFill>
              </a:rPr>
              <a:t>Werner</a:t>
            </a:r>
            <a:r>
              <a:rPr lang="en-US" sz="3600" dirty="0"/>
              <a:t>’s Theory on Transition Metal Complexes</a:t>
            </a:r>
          </a:p>
        </p:txBody>
      </p:sp>
      <p:sp>
        <p:nvSpPr>
          <p:cNvPr id="1638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7675" y="2012950"/>
            <a:ext cx="8077200" cy="3549650"/>
          </a:xfrm>
        </p:spPr>
        <p:txBody>
          <a:bodyPr/>
          <a:lstStyle/>
          <a:p>
            <a:pPr eaLnBrk="1" hangingPunct="1"/>
            <a:r>
              <a:rPr lang="en-US" sz="2800" dirty="0"/>
              <a:t>Many compounds exist combining CoCl</a:t>
            </a:r>
            <a:r>
              <a:rPr lang="en-US" sz="2800" baseline="-25000" dirty="0"/>
              <a:t>3</a:t>
            </a:r>
            <a:r>
              <a:rPr lang="en-US" sz="2800" dirty="0"/>
              <a:t> and NH</a:t>
            </a:r>
            <a:r>
              <a:rPr lang="en-US" sz="2800" baseline="-25000" dirty="0"/>
              <a:t>3</a:t>
            </a:r>
            <a:r>
              <a:rPr lang="en-US" sz="2800" dirty="0"/>
              <a:t>.  Their nature was explained by Alfred Werner in 1893.</a:t>
            </a:r>
          </a:p>
          <a:p>
            <a:pPr eaLnBrk="1" hangingPunct="1"/>
            <a:r>
              <a:rPr lang="en-US" sz="2800" dirty="0"/>
              <a:t>The oxidation number of a metal is +3 in each compound. However, </a:t>
            </a:r>
            <a:r>
              <a:rPr lang="en-US" sz="2800" dirty="0">
                <a:solidFill>
                  <a:srgbClr val="0070C0"/>
                </a:solidFill>
              </a:rPr>
              <a:t>the number of atoms bonded </a:t>
            </a:r>
            <a:r>
              <a:rPr lang="en-US" sz="2800" dirty="0" smtClean="0">
                <a:solidFill>
                  <a:srgbClr val="0070C0"/>
                </a:solidFill>
              </a:rPr>
              <a:t>to </a:t>
            </a:r>
            <a:r>
              <a:rPr lang="en-US" sz="2800" dirty="0">
                <a:solidFill>
                  <a:srgbClr val="0070C0"/>
                </a:solidFill>
              </a:rPr>
              <a:t>the metal is different</a:t>
            </a:r>
            <a:r>
              <a:rPr lang="en-US" sz="2800" dirty="0"/>
              <a:t>. He called this the </a:t>
            </a:r>
            <a:r>
              <a:rPr lang="en-US" sz="2800" b="1" dirty="0">
                <a:solidFill>
                  <a:srgbClr val="0070C0"/>
                </a:solidFill>
              </a:rPr>
              <a:t>coordination </a:t>
            </a:r>
            <a:r>
              <a:rPr lang="en-US" sz="2800" b="1" dirty="0" smtClean="0">
                <a:solidFill>
                  <a:srgbClr val="0070C0"/>
                </a:solidFill>
              </a:rPr>
              <a:t>number </a:t>
            </a:r>
            <a:r>
              <a:rPr lang="zh-CN" altLang="en-US" sz="2800" b="1" dirty="0" smtClean="0">
                <a:solidFill>
                  <a:srgbClr val="0070C0"/>
                </a:solidFill>
              </a:rPr>
              <a:t>配位数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grpSp>
        <p:nvGrpSpPr>
          <p:cNvPr id="16389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16391" name="Picture 8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392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FF0000"/>
                </a:solidFill>
              </a:rPr>
              <a:t>Werner’s Theory</a:t>
            </a:r>
          </a:p>
        </p:txBody>
      </p:sp>
      <p:sp>
        <p:nvSpPr>
          <p:cNvPr id="17411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33400" y="1066800"/>
            <a:ext cx="8305800" cy="2971800"/>
          </a:xfrm>
        </p:spPr>
        <p:txBody>
          <a:bodyPr/>
          <a:lstStyle/>
          <a:p>
            <a:pPr eaLnBrk="1" hangingPunct="1"/>
            <a:r>
              <a:rPr lang="en-US" sz="2400" dirty="0"/>
              <a:t>The key to solving this problem is </a:t>
            </a:r>
            <a:r>
              <a:rPr lang="en-US" sz="2400" dirty="0">
                <a:solidFill>
                  <a:srgbClr val="00B0F0"/>
                </a:solidFill>
              </a:rPr>
              <a:t>the number of ions </a:t>
            </a:r>
            <a:r>
              <a:rPr lang="en-US" sz="2400" dirty="0"/>
              <a:t>produced in solution per formula unit: along with </a:t>
            </a:r>
            <a:r>
              <a:rPr lang="en-US" sz="2400" dirty="0">
                <a:solidFill>
                  <a:srgbClr val="00B0F0"/>
                </a:solidFill>
              </a:rPr>
              <a:t>ONE cation</a:t>
            </a:r>
            <a:r>
              <a:rPr lang="en-US" sz="2400" dirty="0"/>
              <a:t>, the rest would tell how many Cl</a:t>
            </a:r>
            <a:r>
              <a:rPr lang="en-US" sz="2400" baseline="50000" dirty="0"/>
              <a:t>–</a:t>
            </a:r>
            <a:r>
              <a:rPr lang="en-US" sz="2400" dirty="0"/>
              <a:t> ions are NOT connected directly to the metal.</a:t>
            </a:r>
          </a:p>
          <a:p>
            <a:pPr eaLnBrk="1" hangingPunct="1"/>
            <a:r>
              <a:rPr lang="en-US" sz="2400" dirty="0"/>
              <a:t>Precipitation of </a:t>
            </a:r>
            <a:r>
              <a:rPr lang="en-US" sz="2400" dirty="0" err="1"/>
              <a:t>AgCl</a:t>
            </a:r>
            <a:r>
              <a:rPr lang="en-US" sz="2400" dirty="0"/>
              <a:t> confirmed amount of free Cl</a:t>
            </a:r>
            <a:r>
              <a:rPr lang="en-US" sz="2400" baseline="50000" dirty="0"/>
              <a:t>–</a:t>
            </a:r>
            <a:r>
              <a:rPr lang="en-US" sz="2400" dirty="0"/>
              <a:t>.</a:t>
            </a:r>
          </a:p>
          <a:p>
            <a:pPr eaLnBrk="1" hangingPunct="1"/>
            <a:r>
              <a:rPr lang="en-US" sz="2400" dirty="0"/>
              <a:t>Writing the formula: </a:t>
            </a:r>
            <a:r>
              <a:rPr lang="en-US" sz="2400" dirty="0">
                <a:solidFill>
                  <a:srgbClr val="FF0000"/>
                </a:solidFill>
              </a:rPr>
              <a:t>the </a:t>
            </a:r>
            <a:r>
              <a:rPr lang="en-US" altLang="zh-CN" sz="2400" dirty="0" smtClean="0">
                <a:solidFill>
                  <a:srgbClr val="FF0000"/>
                </a:solidFill>
              </a:rPr>
              <a:t>square </a:t>
            </a:r>
            <a:r>
              <a:rPr lang="en-US" sz="2400" dirty="0" smtClean="0">
                <a:solidFill>
                  <a:srgbClr val="FF0000"/>
                </a:solidFill>
              </a:rPr>
              <a:t>brackets </a:t>
            </a:r>
            <a:r>
              <a:rPr lang="en-US" sz="2400" dirty="0">
                <a:solidFill>
                  <a:srgbClr val="FF0000"/>
                </a:solidFill>
              </a:rPr>
              <a:t>show the complex; </a:t>
            </a:r>
            <a:r>
              <a:rPr lang="en-US" sz="2400" dirty="0" err="1" smtClean="0">
                <a:solidFill>
                  <a:srgbClr val="FF0000"/>
                </a:solidFill>
              </a:rPr>
              <a:t>counterions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are written after</a:t>
            </a:r>
            <a:r>
              <a:rPr lang="en-US" sz="2400" dirty="0"/>
              <a:t>.</a:t>
            </a:r>
          </a:p>
        </p:txBody>
      </p:sp>
      <p:grpSp>
        <p:nvGrpSpPr>
          <p:cNvPr id="17413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17415" name="Picture 8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416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56"/>
          <a:stretch/>
        </p:blipFill>
        <p:spPr>
          <a:xfrm>
            <a:off x="1295400" y="4114799"/>
            <a:ext cx="6568199" cy="2133599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The Metal–Ligand Bond</a:t>
            </a:r>
          </a:p>
        </p:txBody>
      </p:sp>
      <p:sp>
        <p:nvSpPr>
          <p:cNvPr id="18435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371600"/>
            <a:ext cx="8801100" cy="2514600"/>
          </a:xfrm>
        </p:spPr>
        <p:txBody>
          <a:bodyPr/>
          <a:lstStyle/>
          <a:p>
            <a:pPr eaLnBrk="1" hangingPunct="1"/>
            <a:r>
              <a:rPr lang="en-US" sz="2800" dirty="0"/>
              <a:t>The reaction between a metal and a ligand is a reaction between a </a:t>
            </a:r>
            <a:r>
              <a:rPr lang="en-US" sz="2800" dirty="0">
                <a:solidFill>
                  <a:srgbClr val="0070C0"/>
                </a:solidFill>
              </a:rPr>
              <a:t>Lewis acid (the metal)</a:t>
            </a:r>
            <a:r>
              <a:rPr lang="en-US" sz="2800" dirty="0"/>
              <a:t> and a </a:t>
            </a:r>
            <a:r>
              <a:rPr lang="en-US" sz="2800" dirty="0">
                <a:solidFill>
                  <a:srgbClr val="0070C0"/>
                </a:solidFill>
              </a:rPr>
              <a:t>Lewis base (the ligand)</a:t>
            </a:r>
            <a:r>
              <a:rPr lang="en-US" sz="2800" dirty="0"/>
              <a:t>.</a:t>
            </a:r>
          </a:p>
          <a:p>
            <a:pPr eaLnBrk="1" hangingPunct="1"/>
            <a:r>
              <a:rPr lang="en-US" sz="2800" dirty="0"/>
              <a:t>The new complex has </a:t>
            </a:r>
            <a:r>
              <a:rPr lang="en-US" sz="2800" b="1" dirty="0">
                <a:solidFill>
                  <a:srgbClr val="0070C0"/>
                </a:solidFill>
              </a:rPr>
              <a:t>distinct</a:t>
            </a:r>
            <a:r>
              <a:rPr lang="en-US" sz="2800" dirty="0"/>
              <a:t> physical and chemical properties (e.g., color, reduction potential).</a:t>
            </a:r>
          </a:p>
        </p:txBody>
      </p:sp>
      <p:grpSp>
        <p:nvGrpSpPr>
          <p:cNvPr id="18437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18439" name="Picture 8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40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71"/>
          <a:stretch/>
        </p:blipFill>
        <p:spPr>
          <a:xfrm>
            <a:off x="2438399" y="4038599"/>
            <a:ext cx="4364161" cy="264080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0070C0"/>
                </a:solidFill>
              </a:rPr>
              <a:t>Coordination </a:t>
            </a:r>
            <a:r>
              <a:rPr lang="en-US" dirty="0" smtClean="0">
                <a:solidFill>
                  <a:srgbClr val="0070C0"/>
                </a:solidFill>
              </a:rPr>
              <a:t>Numbers </a:t>
            </a:r>
            <a:r>
              <a:rPr lang="zh-CN" altLang="en-US" dirty="0" smtClean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配位数</a:t>
            </a:r>
            <a:endParaRPr lang="en-US" dirty="0">
              <a:solidFill>
                <a:srgbClr val="0070C0"/>
              </a:solidFill>
              <a:latin typeface="Adobe 黑体 Std R" pitchFamily="34" charset="-122"/>
              <a:ea typeface="Adobe 黑体 Std R" pitchFamily="34" charset="-122"/>
            </a:endParaRPr>
          </a:p>
        </p:txBody>
      </p:sp>
      <p:sp>
        <p:nvSpPr>
          <p:cNvPr id="1945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81000" y="1600200"/>
            <a:ext cx="5029200" cy="4572000"/>
          </a:xfrm>
        </p:spPr>
        <p:txBody>
          <a:bodyPr/>
          <a:lstStyle/>
          <a:p>
            <a:pPr eaLnBrk="1" hangingPunct="1"/>
            <a:r>
              <a:rPr lang="en-US" sz="2400" dirty="0"/>
              <a:t>The coordination number of a metal depends </a:t>
            </a:r>
            <a:r>
              <a:rPr lang="en-US" sz="2400" dirty="0">
                <a:solidFill>
                  <a:srgbClr val="0070C0"/>
                </a:solidFill>
              </a:rPr>
              <a:t>upon the size </a:t>
            </a:r>
            <a:r>
              <a:rPr lang="en-US" sz="2400" dirty="0" smtClean="0">
                <a:solidFill>
                  <a:srgbClr val="0070C0"/>
                </a:solidFill>
              </a:rPr>
              <a:t>of </a:t>
            </a:r>
            <a:r>
              <a:rPr lang="en-US" sz="2400" dirty="0">
                <a:solidFill>
                  <a:srgbClr val="0070C0"/>
                </a:solidFill>
              </a:rPr>
              <a:t>the metal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0070C0"/>
                </a:solidFill>
              </a:rPr>
              <a:t>the size of </a:t>
            </a:r>
            <a:r>
              <a:rPr lang="en-US" sz="2400" dirty="0" smtClean="0">
                <a:solidFill>
                  <a:srgbClr val="0070C0"/>
                </a:solidFill>
              </a:rPr>
              <a:t>the </a:t>
            </a:r>
            <a:r>
              <a:rPr lang="en-US" sz="2400" dirty="0">
                <a:solidFill>
                  <a:srgbClr val="0070C0"/>
                </a:solidFill>
              </a:rPr>
              <a:t>ligands</a:t>
            </a:r>
            <a:r>
              <a:rPr lang="en-US" sz="2400" dirty="0"/>
              <a:t>.</a:t>
            </a:r>
          </a:p>
          <a:p>
            <a:pPr eaLnBrk="1" hangingPunct="1">
              <a:spcBef>
                <a:spcPts val="300"/>
              </a:spcBef>
            </a:pPr>
            <a:r>
              <a:rPr lang="en-US" sz="2400" dirty="0"/>
              <a:t>Iron(III) can bind to 6 fluorides but only 4 chlorides (larger).</a:t>
            </a:r>
          </a:p>
          <a:p>
            <a:pPr eaLnBrk="1" hangingPunct="1">
              <a:spcBef>
                <a:spcPts val="300"/>
              </a:spcBef>
            </a:pPr>
            <a:r>
              <a:rPr lang="en-US" sz="2400" dirty="0"/>
              <a:t>The most common coordination numbers are </a:t>
            </a:r>
            <a:r>
              <a:rPr lang="en-US" sz="2400" dirty="0" smtClean="0">
                <a:solidFill>
                  <a:srgbClr val="0070C0"/>
                </a:solidFill>
              </a:rPr>
              <a:t>4 </a:t>
            </a:r>
            <a:r>
              <a:rPr lang="en-US" sz="2400" dirty="0"/>
              <a:t>and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>
                <a:solidFill>
                  <a:srgbClr val="00B050"/>
                </a:solidFill>
              </a:rPr>
              <a:t>6</a:t>
            </a:r>
            <a:r>
              <a:rPr lang="en-US" sz="2400" dirty="0"/>
              <a:t>. They correspond to common geometries: </a:t>
            </a:r>
            <a:r>
              <a:rPr lang="en-US" sz="2400" dirty="0">
                <a:solidFill>
                  <a:srgbClr val="0070C0"/>
                </a:solidFill>
              </a:rPr>
              <a:t>tetrahedral or square planar</a:t>
            </a:r>
            <a:r>
              <a:rPr lang="en-US" sz="2400" dirty="0"/>
              <a:t>; </a:t>
            </a:r>
            <a:r>
              <a:rPr lang="en-US" sz="2400" dirty="0">
                <a:solidFill>
                  <a:srgbClr val="00B050"/>
                </a:solidFill>
              </a:rPr>
              <a:t>octahedral</a:t>
            </a:r>
            <a:r>
              <a:rPr lang="en-US" sz="2400" dirty="0"/>
              <a:t>.</a:t>
            </a:r>
          </a:p>
        </p:txBody>
      </p:sp>
      <p:grpSp>
        <p:nvGrpSpPr>
          <p:cNvPr id="19461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19463" name="Picture 8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464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61"/>
          <a:stretch/>
        </p:blipFill>
        <p:spPr>
          <a:xfrm>
            <a:off x="5562600" y="1524000"/>
            <a:ext cx="3122540" cy="442569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Common Ligands</a:t>
            </a:r>
          </a:p>
        </p:txBody>
      </p:sp>
      <p:sp>
        <p:nvSpPr>
          <p:cNvPr id="20483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04800" y="1219200"/>
            <a:ext cx="8534399" cy="1447800"/>
          </a:xfrm>
        </p:spPr>
        <p:txBody>
          <a:bodyPr/>
          <a:lstStyle/>
          <a:p>
            <a:pPr eaLnBrk="1" hangingPunct="1">
              <a:buNone/>
            </a:pPr>
            <a:r>
              <a:rPr lang="en-US" sz="2400" dirty="0" smtClean="0"/>
              <a:t>The </a:t>
            </a:r>
            <a:r>
              <a:rPr lang="en-US" sz="2400" dirty="0"/>
              <a:t>table shown contains some ligands commonly found </a:t>
            </a:r>
            <a:r>
              <a:rPr lang="en-US" sz="2400" dirty="0" smtClean="0"/>
              <a:t>in complexes</a:t>
            </a:r>
            <a:r>
              <a:rPr lang="en-US" sz="2400" dirty="0"/>
              <a:t>. </a:t>
            </a:r>
            <a:r>
              <a:rPr lang="en-US" sz="2400" b="1" dirty="0" err="1">
                <a:solidFill>
                  <a:srgbClr val="0070C0"/>
                </a:solidFill>
              </a:rPr>
              <a:t>Monodentate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zh-CN" altLang="en-US" sz="2400" dirty="0" smtClean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单配位基</a:t>
            </a:r>
            <a:r>
              <a:rPr lang="zh-CN" altLang="en-US" sz="2400" dirty="0" smtClean="0"/>
              <a:t> </a:t>
            </a:r>
            <a:r>
              <a:rPr lang="en-US" sz="2400" dirty="0" smtClean="0"/>
              <a:t>ligands coordinate </a:t>
            </a:r>
            <a:r>
              <a:rPr lang="en-US" sz="2400" dirty="0"/>
              <a:t>to one site on the metal, </a:t>
            </a:r>
            <a:r>
              <a:rPr lang="en-US" sz="2400" b="1" dirty="0" smtClean="0">
                <a:solidFill>
                  <a:srgbClr val="0070C0"/>
                </a:solidFill>
              </a:rPr>
              <a:t>bidentate </a:t>
            </a:r>
            <a:r>
              <a:rPr lang="zh-CN" altLang="en-US" sz="2400" dirty="0" smtClean="0">
                <a:solidFill>
                  <a:srgbClr val="0070C0"/>
                </a:solidFill>
              </a:rPr>
              <a:t>双</a:t>
            </a:r>
            <a:r>
              <a:rPr lang="zh-CN" altLang="en-US" sz="2400" dirty="0" smtClean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配</a:t>
            </a:r>
            <a:r>
              <a:rPr lang="zh-CN" altLang="en-US" sz="2400" dirty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位</a:t>
            </a:r>
            <a:r>
              <a:rPr lang="zh-CN" altLang="en-US" sz="2400" dirty="0" smtClean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基</a:t>
            </a:r>
            <a:r>
              <a:rPr lang="zh-CN" altLang="en-US" sz="2400" dirty="0" smtClean="0">
                <a:latin typeface="Adobe 黑体 Std R" pitchFamily="34" charset="-122"/>
                <a:ea typeface="Adobe 黑体 Std R" pitchFamily="34" charset="-122"/>
              </a:rPr>
              <a:t> </a:t>
            </a:r>
            <a:r>
              <a:rPr lang="en-US" sz="2400" dirty="0" smtClean="0"/>
              <a:t>to </a:t>
            </a:r>
            <a:r>
              <a:rPr lang="en-US" sz="2400" dirty="0"/>
              <a:t>two sites.</a:t>
            </a:r>
          </a:p>
        </p:txBody>
      </p:sp>
      <p:grpSp>
        <p:nvGrpSpPr>
          <p:cNvPr id="20485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20487" name="Picture 8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488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28"/>
          <a:stretch/>
        </p:blipFill>
        <p:spPr>
          <a:xfrm>
            <a:off x="1905000" y="2590800"/>
            <a:ext cx="5431355" cy="40386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solidFill>
                  <a:srgbClr val="0070C0"/>
                </a:solidFill>
              </a:rPr>
              <a:t>Chelates </a:t>
            </a:r>
            <a:r>
              <a:rPr lang="zh-CN" altLang="en-US" b="1" dirty="0" smtClean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螯合物</a:t>
            </a:r>
            <a:endParaRPr lang="en-US" b="1" dirty="0">
              <a:solidFill>
                <a:srgbClr val="0070C0"/>
              </a:solidFill>
              <a:latin typeface="Adobe 黑体 Std R" pitchFamily="34" charset="-122"/>
              <a:ea typeface="Adobe 黑体 Std R" pitchFamily="34" charset="-122"/>
            </a:endParaRPr>
          </a:p>
        </p:txBody>
      </p:sp>
      <p:grpSp>
        <p:nvGrpSpPr>
          <p:cNvPr id="21509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21512" name="Picture 8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513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 dirty="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 dirty="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89" b="4635"/>
          <a:stretch/>
        </p:blipFill>
        <p:spPr>
          <a:xfrm>
            <a:off x="1752600" y="1295400"/>
            <a:ext cx="5596128" cy="2590800"/>
          </a:xfrm>
          <a:prstGeom prst="rect">
            <a:avLst/>
          </a:prstGeom>
        </p:spPr>
      </p:pic>
      <p:sp>
        <p:nvSpPr>
          <p:cNvPr id="2150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85800" y="4114800"/>
            <a:ext cx="8077200" cy="2195512"/>
          </a:xfrm>
        </p:spPr>
        <p:txBody>
          <a:bodyPr/>
          <a:lstStyle/>
          <a:p>
            <a:pPr eaLnBrk="1" hangingPunct="1"/>
            <a:r>
              <a:rPr lang="en-US" sz="2400" dirty="0"/>
              <a:t>Bidentate and polydentate ligands are also called </a:t>
            </a:r>
            <a:r>
              <a:rPr lang="en-US" sz="2400" b="1" dirty="0">
                <a:solidFill>
                  <a:srgbClr val="0070C0"/>
                </a:solidFill>
              </a:rPr>
              <a:t>chelating agents</a:t>
            </a:r>
            <a:r>
              <a:rPr lang="en-US" sz="2400" dirty="0" smtClean="0"/>
              <a:t>.</a:t>
            </a:r>
            <a:r>
              <a:rPr lang="en-US" sz="2400" dirty="0" smtClean="0">
                <a:latin typeface="Adobe 黑体 Std R" pitchFamily="34" charset="-122"/>
                <a:ea typeface="Adobe 黑体 Std R" pitchFamily="34" charset="-122"/>
              </a:rPr>
              <a:t> </a:t>
            </a:r>
            <a:r>
              <a:rPr lang="zh-CN" altLang="en-US" sz="2400" dirty="0" smtClean="0">
                <a:latin typeface="Adobe 黑体 Std R" pitchFamily="34" charset="-122"/>
                <a:ea typeface="Adobe 黑体 Std R" pitchFamily="34" charset="-122"/>
              </a:rPr>
              <a:t>螯合剂</a:t>
            </a:r>
            <a:endParaRPr lang="en-US" sz="2400" dirty="0">
              <a:latin typeface="Adobe 黑体 Std R" pitchFamily="34" charset="-122"/>
              <a:ea typeface="Adobe 黑体 Std R" pitchFamily="34" charset="-122"/>
            </a:endParaRPr>
          </a:p>
          <a:p>
            <a:pPr eaLnBrk="1" hangingPunct="1"/>
            <a:r>
              <a:rPr lang="en-US" sz="2400" dirty="0"/>
              <a:t>There are many transition metals that are vital to </a:t>
            </a:r>
            <a:r>
              <a:rPr lang="en-US" sz="2400" dirty="0" smtClean="0"/>
              <a:t>human life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s</a:t>
            </a:r>
            <a:r>
              <a:rPr lang="en-US" sz="2400" dirty="0" smtClean="0"/>
              <a:t>everal </a:t>
            </a:r>
            <a:r>
              <a:rPr lang="en-US" sz="2400" dirty="0"/>
              <a:t>of these are bound </a:t>
            </a:r>
            <a:r>
              <a:rPr lang="en-US" sz="2400" dirty="0" smtClean="0"/>
              <a:t>to </a:t>
            </a:r>
            <a:r>
              <a:rPr lang="en-US" sz="2400" dirty="0"/>
              <a:t>chelating agents.</a:t>
            </a:r>
          </a:p>
          <a:p>
            <a:pPr eaLnBrk="1" hangingPunct="1">
              <a:buFontTx/>
              <a:buNone/>
            </a:pPr>
            <a:endParaRPr lang="en-US" sz="28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Chelates in Biological Systems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752600"/>
            <a:ext cx="4724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The </a:t>
            </a:r>
            <a:r>
              <a:rPr lang="en-US" sz="2400" dirty="0" err="1" smtClean="0">
                <a:solidFill>
                  <a:srgbClr val="0070C0"/>
                </a:solidFill>
              </a:rPr>
              <a:t>porphine</a:t>
            </a:r>
            <a:r>
              <a:rPr lang="en-US" sz="2400" dirty="0" smtClean="0">
                <a:solidFill>
                  <a:srgbClr val="0070C0"/>
                </a:solidFill>
              </a:rPr>
              <a:t> </a:t>
            </a:r>
            <a:r>
              <a:rPr lang="zh-CN" altLang="en-US" sz="2400" dirty="0" smtClean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卟啉</a:t>
            </a:r>
            <a:r>
              <a:rPr lang="en-US" sz="2400" dirty="0" smtClean="0">
                <a:latin typeface="Adobe 黑体 Std R" pitchFamily="34" charset="-122"/>
                <a:ea typeface="Adobe 黑体 Std R" pitchFamily="34" charset="-122"/>
              </a:rPr>
              <a:t> </a:t>
            </a:r>
            <a:r>
              <a:rPr lang="en-US" sz="2400" dirty="0"/>
              <a:t>molecule is the basis for many important biological metal chelates, becoming a porphyrin ring.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The iron in </a:t>
            </a:r>
            <a:r>
              <a:rPr lang="en-US" sz="2400" dirty="0" smtClean="0">
                <a:solidFill>
                  <a:srgbClr val="0070C0"/>
                </a:solidFill>
              </a:rPr>
              <a:t>hemoglobin </a:t>
            </a:r>
            <a:r>
              <a:rPr lang="zh-CN" altLang="en-US" sz="2400" dirty="0" smtClean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血红蛋白</a:t>
            </a:r>
            <a:r>
              <a:rPr lang="en-US" sz="2400" dirty="0" smtClean="0"/>
              <a:t> </a:t>
            </a:r>
            <a:r>
              <a:rPr lang="en-US" sz="2400" dirty="0"/>
              <a:t>carries O</a:t>
            </a:r>
            <a:r>
              <a:rPr lang="en-US" sz="2400" baseline="-25000" dirty="0"/>
              <a:t>2</a:t>
            </a:r>
            <a:r>
              <a:rPr lang="en-US" sz="2400" dirty="0"/>
              <a:t> and CO</a:t>
            </a:r>
            <a:r>
              <a:rPr lang="en-US" sz="2400" baseline="-25000" dirty="0"/>
              <a:t>2</a:t>
            </a:r>
            <a:r>
              <a:rPr lang="en-US" sz="2400" dirty="0"/>
              <a:t> </a:t>
            </a:r>
            <a:r>
              <a:rPr lang="en-US" sz="2400" dirty="0" smtClean="0"/>
              <a:t>through </a:t>
            </a:r>
            <a:r>
              <a:rPr lang="en-US" sz="2400" dirty="0"/>
              <a:t>the blood. It contains </a:t>
            </a:r>
            <a:r>
              <a:rPr lang="en-US" sz="2400" dirty="0" err="1">
                <a:solidFill>
                  <a:srgbClr val="0070C0"/>
                </a:solidFill>
              </a:rPr>
              <a:t>heme</a:t>
            </a:r>
            <a:r>
              <a:rPr lang="en-US" sz="2400" dirty="0">
                <a:solidFill>
                  <a:srgbClr val="0070C0"/>
                </a:solidFill>
              </a:rPr>
              <a:t> units</a:t>
            </a:r>
            <a:r>
              <a:rPr lang="en-US" sz="2400" dirty="0" smtClean="0">
                <a:solidFill>
                  <a:srgbClr val="0070C0"/>
                </a:solidFill>
              </a:rPr>
              <a:t>. </a:t>
            </a:r>
            <a:r>
              <a:rPr lang="zh-CN" altLang="en-US" sz="2400" dirty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亚铁血红素</a:t>
            </a:r>
            <a:endParaRPr lang="en-US" sz="2400" dirty="0">
              <a:solidFill>
                <a:srgbClr val="0070C0"/>
              </a:solidFill>
              <a:latin typeface="Adobe 黑体 Std R" pitchFamily="34" charset="-122"/>
              <a:ea typeface="Adobe 黑体 Std R" pitchFamily="34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solidFill>
                  <a:srgbClr val="0070C0"/>
                </a:solidFill>
              </a:rPr>
              <a:t>Chlorophylls </a:t>
            </a:r>
            <a:r>
              <a:rPr lang="zh-CN" altLang="en-US" sz="2400" dirty="0" smtClean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叶绿素</a:t>
            </a:r>
            <a:r>
              <a:rPr lang="zh-CN" altLang="en-US" sz="2400" dirty="0" smtClean="0"/>
              <a:t> </a:t>
            </a:r>
            <a:r>
              <a:rPr lang="en-US" sz="2400" dirty="0" smtClean="0"/>
              <a:t>also </a:t>
            </a:r>
            <a:br>
              <a:rPr lang="en-US" sz="2400" dirty="0" smtClean="0"/>
            </a:br>
            <a:r>
              <a:rPr lang="en-US" sz="2400" dirty="0" smtClean="0"/>
              <a:t>have </a:t>
            </a:r>
            <a:r>
              <a:rPr lang="en-US" sz="2400" dirty="0"/>
              <a:t>metals bound to </a:t>
            </a:r>
            <a:r>
              <a:rPr lang="en-US" sz="2400" dirty="0" err="1"/>
              <a:t>porphine</a:t>
            </a:r>
            <a:r>
              <a:rPr lang="en-US" sz="2400" dirty="0"/>
              <a:t> units.</a:t>
            </a:r>
          </a:p>
        </p:txBody>
      </p:sp>
      <p:grpSp>
        <p:nvGrpSpPr>
          <p:cNvPr id="22533" name="Group 6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22535" name="Picture 7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536" name="Rectangle 8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35"/>
          <a:stretch/>
        </p:blipFill>
        <p:spPr>
          <a:xfrm>
            <a:off x="5562600" y="1371599"/>
            <a:ext cx="3105151" cy="484170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rgbClr val="FF0000"/>
                </a:solidFill>
              </a:rPr>
              <a:t>Nomenclature </a:t>
            </a:r>
            <a:r>
              <a:rPr lang="en-US" sz="3600" b="1" dirty="0" smtClean="0">
                <a:solidFill>
                  <a:srgbClr val="FF0000"/>
                </a:solidFill>
              </a:rPr>
              <a:t>Rules </a:t>
            </a:r>
            <a:r>
              <a:rPr lang="zh-CN" altLang="en-US" sz="3600" b="1" dirty="0" smtClean="0">
                <a:solidFill>
                  <a:srgbClr val="FF0000"/>
                </a:solidFill>
                <a:latin typeface="Adobe 黑体 Std R" pitchFamily="34" charset="-122"/>
                <a:ea typeface="Adobe 黑体 Std R" pitchFamily="34" charset="-122"/>
              </a:rPr>
              <a:t>命名法</a:t>
            </a:r>
            <a:r>
              <a:rPr lang="en-US" sz="3600" b="1" dirty="0" smtClean="0">
                <a:solidFill>
                  <a:srgbClr val="FF0000"/>
                </a:solidFill>
                <a:latin typeface="Adobe 黑体 Std R" pitchFamily="34" charset="-122"/>
                <a:ea typeface="Adobe 黑体 Std R" pitchFamily="34" charset="-122"/>
              </a:rPr>
              <a:t> </a:t>
            </a:r>
            <a:r>
              <a:rPr lang="en-US" sz="3600" b="1" dirty="0" smtClean="0">
                <a:solidFill>
                  <a:srgbClr val="FF0000"/>
                </a:solidFill>
              </a:rPr>
              <a:t/>
            </a:r>
            <a:br>
              <a:rPr lang="en-US" sz="3600" b="1" dirty="0" smtClean="0">
                <a:solidFill>
                  <a:srgbClr val="FF0000"/>
                </a:solidFill>
              </a:rPr>
            </a:br>
            <a:r>
              <a:rPr lang="en-US" sz="3600" b="1" dirty="0" smtClean="0">
                <a:solidFill>
                  <a:srgbClr val="FF0000"/>
                </a:solidFill>
              </a:rPr>
              <a:t>for Coordination Chemistry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23555" name="Rectangle 4"/>
          <p:cNvSpPr>
            <a:spLocks noGrp="1" noChangeArrowheads="1"/>
          </p:cNvSpPr>
          <p:nvPr>
            <p:ph idx="1"/>
          </p:nvPr>
        </p:nvSpPr>
        <p:spPr>
          <a:xfrm>
            <a:off x="228600" y="1676400"/>
            <a:ext cx="8724900" cy="4419600"/>
          </a:xfrm>
        </p:spPr>
        <p:txBody>
          <a:bodyPr/>
          <a:lstStyle/>
          <a:p>
            <a:pPr marL="533400" indent="-533400" eaLnBrk="1" hangingPunct="1">
              <a:buFontTx/>
              <a:buAutoNum type="arabicPeriod"/>
            </a:pPr>
            <a:r>
              <a:rPr lang="en-US" sz="2800" dirty="0"/>
              <a:t>In naming complexes that are salts, the name of the </a:t>
            </a:r>
            <a:r>
              <a:rPr lang="en-US" sz="2800" dirty="0">
                <a:solidFill>
                  <a:srgbClr val="0070C0"/>
                </a:solidFill>
              </a:rPr>
              <a:t>cation</a:t>
            </a:r>
            <a:r>
              <a:rPr lang="en-US" sz="2800" dirty="0"/>
              <a:t> is given </a:t>
            </a:r>
            <a:r>
              <a:rPr lang="en-US" sz="2800" dirty="0">
                <a:solidFill>
                  <a:srgbClr val="0070C0"/>
                </a:solidFill>
              </a:rPr>
              <a:t>before</a:t>
            </a:r>
            <a:r>
              <a:rPr lang="en-US" sz="2800" dirty="0"/>
              <a:t> the name of the </a:t>
            </a:r>
            <a:r>
              <a:rPr lang="en-US" sz="2800" dirty="0">
                <a:solidFill>
                  <a:srgbClr val="0070C0"/>
                </a:solidFill>
              </a:rPr>
              <a:t>anion</a:t>
            </a:r>
            <a:r>
              <a:rPr lang="en-US" sz="2800" dirty="0"/>
              <a:t>.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sz="2800" dirty="0"/>
              <a:t>In naming complex ions or </a:t>
            </a:r>
            <a:r>
              <a:rPr lang="en-US" sz="2800" dirty="0" smtClean="0"/>
              <a:t>molecules, the </a:t>
            </a:r>
            <a:r>
              <a:rPr lang="en-US" sz="2800" dirty="0">
                <a:solidFill>
                  <a:srgbClr val="0070C0"/>
                </a:solidFill>
              </a:rPr>
              <a:t>ligands</a:t>
            </a:r>
            <a:r>
              <a:rPr lang="en-US" sz="2800" dirty="0"/>
              <a:t> are named </a:t>
            </a:r>
            <a:r>
              <a:rPr lang="en-US" sz="2800" dirty="0">
                <a:solidFill>
                  <a:srgbClr val="0070C0"/>
                </a:solidFill>
              </a:rPr>
              <a:t>before</a:t>
            </a:r>
            <a:r>
              <a:rPr lang="en-US" sz="2800" dirty="0"/>
              <a:t> the </a:t>
            </a:r>
            <a:r>
              <a:rPr lang="en-US" sz="2800" dirty="0">
                <a:solidFill>
                  <a:srgbClr val="0070C0"/>
                </a:solidFill>
              </a:rPr>
              <a:t>metal</a:t>
            </a:r>
            <a:r>
              <a:rPr lang="en-US" sz="2800" dirty="0"/>
              <a:t>. Ligands are listed in </a:t>
            </a:r>
            <a:r>
              <a:rPr lang="en-US" sz="2800" u="sng" dirty="0"/>
              <a:t>alphabetical order</a:t>
            </a:r>
            <a:r>
              <a:rPr lang="en-US" sz="2800" dirty="0"/>
              <a:t>, regardless of their charges. </a:t>
            </a:r>
          </a:p>
          <a:p>
            <a:pPr marL="533400" indent="-533400" eaLnBrk="1" hangingPunct="1">
              <a:buFontTx/>
              <a:buAutoNum type="arabicPeriod"/>
            </a:pPr>
            <a:endParaRPr lang="en-US" sz="2800" dirty="0"/>
          </a:p>
        </p:txBody>
      </p:sp>
      <p:grpSp>
        <p:nvGrpSpPr>
          <p:cNvPr id="23557" name="Group 6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23559" name="Picture 7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560" name="Rectangle 8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47"/>
          <a:stretch/>
        </p:blipFill>
        <p:spPr>
          <a:xfrm>
            <a:off x="228600" y="4530158"/>
            <a:ext cx="4114800" cy="118484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70"/>
          <a:stretch/>
        </p:blipFill>
        <p:spPr>
          <a:xfrm>
            <a:off x="4648200" y="4523993"/>
            <a:ext cx="4267200" cy="1114807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Nomenclature Rules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371600"/>
            <a:ext cx="7772400" cy="1981200"/>
          </a:xfrm>
        </p:spPr>
        <p:txBody>
          <a:bodyPr/>
          <a:lstStyle/>
          <a:p>
            <a:pPr marL="533400" indent="-533400" eaLnBrk="1" hangingPunct="1">
              <a:buFontTx/>
              <a:buAutoNum type="arabicPeriod" startAt="3"/>
            </a:pPr>
            <a:r>
              <a:rPr lang="en-US" sz="2800" dirty="0"/>
              <a:t>The names of </a:t>
            </a:r>
            <a:r>
              <a:rPr lang="en-US" sz="2800" dirty="0">
                <a:solidFill>
                  <a:srgbClr val="0070C0"/>
                </a:solidFill>
              </a:rPr>
              <a:t>anionic ligands</a:t>
            </a:r>
            <a:r>
              <a:rPr lang="en-US" sz="2800" dirty="0"/>
              <a:t> end in the letter </a:t>
            </a:r>
            <a:r>
              <a:rPr lang="en-US" sz="2800" b="1" i="1" dirty="0">
                <a:solidFill>
                  <a:srgbClr val="0070C0"/>
                </a:solidFill>
              </a:rPr>
              <a:t>o</a:t>
            </a:r>
            <a:r>
              <a:rPr lang="en-US" sz="2800" dirty="0"/>
              <a:t>, but electrically </a:t>
            </a:r>
            <a:r>
              <a:rPr lang="en-US" sz="2800" dirty="0">
                <a:solidFill>
                  <a:srgbClr val="0070C0"/>
                </a:solidFill>
              </a:rPr>
              <a:t>neutral ligands </a:t>
            </a:r>
            <a:r>
              <a:rPr lang="en-US" sz="2800" dirty="0"/>
              <a:t>ordinarily </a:t>
            </a:r>
            <a:r>
              <a:rPr lang="en-US" sz="2800" dirty="0">
                <a:solidFill>
                  <a:srgbClr val="0070C0"/>
                </a:solidFill>
              </a:rPr>
              <a:t>bear</a:t>
            </a:r>
            <a:r>
              <a:rPr lang="en-US" sz="2800" dirty="0"/>
              <a:t> the name of the molecules (exceptions: ammonia, water, CO).</a:t>
            </a:r>
          </a:p>
        </p:txBody>
      </p:sp>
      <p:grpSp>
        <p:nvGrpSpPr>
          <p:cNvPr id="24581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24583" name="Picture 8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584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13"/>
          <a:stretch/>
        </p:blipFill>
        <p:spPr>
          <a:xfrm>
            <a:off x="1272236" y="3425165"/>
            <a:ext cx="6481113" cy="278196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4288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/>
              <a:t>Nomenclature Rules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447800"/>
            <a:ext cx="8039100" cy="4343400"/>
          </a:xfrm>
        </p:spPr>
        <p:txBody>
          <a:bodyPr/>
          <a:lstStyle/>
          <a:p>
            <a:pPr marL="609600" indent="-609600" eaLnBrk="1" hangingPunct="1">
              <a:buFontTx/>
              <a:buAutoNum type="arabicPeriod" startAt="4"/>
            </a:pPr>
            <a:r>
              <a:rPr lang="en-US" sz="2400" dirty="0"/>
              <a:t>Greek </a:t>
            </a:r>
            <a:r>
              <a:rPr lang="en-US" sz="2400" dirty="0">
                <a:solidFill>
                  <a:srgbClr val="0070C0"/>
                </a:solidFill>
              </a:rPr>
              <a:t>prefixes (</a:t>
            </a:r>
            <a:r>
              <a:rPr lang="en-US" sz="2400" i="1" dirty="0">
                <a:solidFill>
                  <a:srgbClr val="0070C0"/>
                </a:solidFill>
              </a:rPr>
              <a:t>di-</a:t>
            </a:r>
            <a:r>
              <a:rPr lang="en-US" sz="2400" dirty="0">
                <a:solidFill>
                  <a:srgbClr val="0070C0"/>
                </a:solidFill>
              </a:rPr>
              <a:t>, </a:t>
            </a:r>
            <a:r>
              <a:rPr lang="en-US" sz="2400" i="1" dirty="0">
                <a:solidFill>
                  <a:srgbClr val="0070C0"/>
                </a:solidFill>
              </a:rPr>
              <a:t>tri-</a:t>
            </a:r>
            <a:r>
              <a:rPr lang="en-US" sz="2400" dirty="0">
                <a:solidFill>
                  <a:srgbClr val="0070C0"/>
                </a:solidFill>
              </a:rPr>
              <a:t>, </a:t>
            </a:r>
            <a:r>
              <a:rPr lang="en-US" sz="2400" i="1" dirty="0">
                <a:solidFill>
                  <a:srgbClr val="0070C0"/>
                </a:solidFill>
              </a:rPr>
              <a:t>tetra-</a:t>
            </a:r>
            <a:r>
              <a:rPr lang="en-US" sz="2400" dirty="0">
                <a:solidFill>
                  <a:srgbClr val="0070C0"/>
                </a:solidFill>
              </a:rPr>
              <a:t>, etc.) </a:t>
            </a:r>
            <a:r>
              <a:rPr lang="en-US" sz="2400" dirty="0"/>
              <a:t>are used to indicate the number of each kind of ligand when more than one is present. </a:t>
            </a:r>
            <a:r>
              <a:rPr lang="en-US" sz="2400" dirty="0">
                <a:solidFill>
                  <a:srgbClr val="FF0000"/>
                </a:solidFill>
              </a:rPr>
              <a:t>If</a:t>
            </a:r>
            <a:r>
              <a:rPr lang="en-US" sz="2400" dirty="0"/>
              <a:t> the ligand contains a Greek </a:t>
            </a:r>
            <a:r>
              <a:rPr lang="en-US" sz="2400" dirty="0" smtClean="0"/>
              <a:t>prefix</a:t>
            </a:r>
            <a:r>
              <a:rPr lang="zh-CN" altLang="en-US" sz="2400" dirty="0" smtClean="0"/>
              <a:t> </a:t>
            </a:r>
            <a:r>
              <a:rPr lang="en-US" sz="2400" dirty="0" smtClean="0"/>
              <a:t>or </a:t>
            </a:r>
            <a:r>
              <a:rPr lang="en-US" sz="2400" dirty="0"/>
              <a:t>is polydentate, the </a:t>
            </a:r>
            <a:r>
              <a:rPr lang="en-US" sz="2400" dirty="0">
                <a:solidFill>
                  <a:srgbClr val="0070C0"/>
                </a:solidFill>
              </a:rPr>
              <a:t>prefixes </a:t>
            </a:r>
            <a:r>
              <a:rPr lang="en-US" sz="2400" i="1" dirty="0" err="1">
                <a:solidFill>
                  <a:srgbClr val="0070C0"/>
                </a:solidFill>
              </a:rPr>
              <a:t>bis</a:t>
            </a:r>
            <a:r>
              <a:rPr lang="en-US" sz="2400" i="1" dirty="0">
                <a:solidFill>
                  <a:srgbClr val="0070C0"/>
                </a:solidFill>
              </a:rPr>
              <a:t>-</a:t>
            </a:r>
            <a:r>
              <a:rPr lang="en-US" sz="2400" dirty="0">
                <a:solidFill>
                  <a:srgbClr val="0070C0"/>
                </a:solidFill>
              </a:rPr>
              <a:t>, </a:t>
            </a:r>
            <a:r>
              <a:rPr lang="en-US" sz="2400" i="1" dirty="0" err="1">
                <a:solidFill>
                  <a:srgbClr val="0070C0"/>
                </a:solidFill>
              </a:rPr>
              <a:t>tris</a:t>
            </a:r>
            <a:r>
              <a:rPr lang="en-US" sz="2400" i="1" dirty="0">
                <a:solidFill>
                  <a:srgbClr val="0070C0"/>
                </a:solidFill>
              </a:rPr>
              <a:t>-</a:t>
            </a:r>
            <a:r>
              <a:rPr lang="en-US" sz="2400" dirty="0">
                <a:solidFill>
                  <a:srgbClr val="0070C0"/>
                </a:solidFill>
              </a:rPr>
              <a:t>, </a:t>
            </a:r>
            <a:r>
              <a:rPr lang="en-US" sz="2400" i="1" dirty="0" err="1">
                <a:solidFill>
                  <a:srgbClr val="0070C0"/>
                </a:solidFill>
              </a:rPr>
              <a:t>tetrakis</a:t>
            </a:r>
            <a:r>
              <a:rPr lang="en-US" sz="2400" i="1" dirty="0">
                <a:solidFill>
                  <a:srgbClr val="0070C0"/>
                </a:solidFill>
              </a:rPr>
              <a:t>-</a:t>
            </a:r>
            <a:r>
              <a:rPr lang="en-US" sz="2400" dirty="0">
                <a:solidFill>
                  <a:srgbClr val="0070C0"/>
                </a:solidFill>
              </a:rPr>
              <a:t>, etc. </a:t>
            </a:r>
            <a:r>
              <a:rPr lang="en-US" sz="2400" dirty="0"/>
              <a:t>are used and the ligand name is placed in </a:t>
            </a:r>
            <a:r>
              <a:rPr lang="en-US" sz="2400" dirty="0" smtClean="0"/>
              <a:t>parentheses</a:t>
            </a:r>
            <a:r>
              <a:rPr lang="zh-CN" altLang="en-US" sz="2400" dirty="0" smtClean="0"/>
              <a:t> </a:t>
            </a:r>
            <a:r>
              <a:rPr lang="zh-CN" altLang="en-US" sz="2400" dirty="0" smtClean="0">
                <a:latin typeface="Adobe 黑体 Std R" pitchFamily="34" charset="-122"/>
                <a:ea typeface="Adobe 黑体 Std R" pitchFamily="34" charset="-122"/>
              </a:rPr>
              <a:t>括号</a:t>
            </a:r>
            <a:r>
              <a:rPr lang="en-US" sz="2400" dirty="0" smtClean="0"/>
              <a:t>.</a:t>
            </a:r>
            <a:endParaRPr lang="en-US" sz="2400" dirty="0"/>
          </a:p>
          <a:p>
            <a:pPr marL="609600" indent="-609600" eaLnBrk="1" hangingPunct="1">
              <a:buFontTx/>
              <a:buAutoNum type="arabicPeriod" startAt="5"/>
            </a:pPr>
            <a:r>
              <a:rPr lang="en-US" sz="2400" dirty="0"/>
              <a:t>If the complex is an </a:t>
            </a:r>
            <a:r>
              <a:rPr lang="en-US" sz="2400" dirty="0">
                <a:solidFill>
                  <a:srgbClr val="0070C0"/>
                </a:solidFill>
              </a:rPr>
              <a:t>anion</a:t>
            </a:r>
            <a:r>
              <a:rPr lang="en-US" sz="2400" dirty="0"/>
              <a:t>, its name ends in </a:t>
            </a:r>
            <a:r>
              <a:rPr lang="en-US" sz="2400" i="1" dirty="0">
                <a:solidFill>
                  <a:srgbClr val="0070C0"/>
                </a:solidFill>
              </a:rPr>
              <a:t>-ate</a:t>
            </a:r>
            <a:r>
              <a:rPr lang="en-US" sz="2400" dirty="0"/>
              <a:t>.</a:t>
            </a:r>
          </a:p>
          <a:p>
            <a:pPr marL="609600" indent="-609600" eaLnBrk="1" hangingPunct="1">
              <a:buFontTx/>
              <a:buAutoNum type="arabicPeriod" startAt="5"/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0070C0"/>
                </a:solidFill>
              </a:rPr>
              <a:t>oxidation number </a:t>
            </a:r>
            <a:r>
              <a:rPr lang="en-US" sz="2400" dirty="0"/>
              <a:t>of the metal is given in parentheses in </a:t>
            </a:r>
            <a:r>
              <a:rPr lang="en-US" sz="2400" dirty="0">
                <a:solidFill>
                  <a:srgbClr val="0070C0"/>
                </a:solidFill>
              </a:rPr>
              <a:t>Roman numerals </a:t>
            </a:r>
            <a:r>
              <a:rPr lang="en-US" sz="2400" dirty="0"/>
              <a:t>following the name of the metal.</a:t>
            </a:r>
          </a:p>
        </p:txBody>
      </p:sp>
      <p:grpSp>
        <p:nvGrpSpPr>
          <p:cNvPr id="25605" name="Group 5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25606" name="Picture 6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607" name="Rectangle 7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Nomenclature Examples</a:t>
            </a:r>
          </a:p>
        </p:txBody>
      </p:sp>
      <p:grpSp>
        <p:nvGrpSpPr>
          <p:cNvPr id="26629" name="Group 5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26630" name="Picture 6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631" name="Rectangle 7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60525"/>
            <a:ext cx="8305800" cy="4740275"/>
          </a:xfrm>
        </p:spPr>
        <p:txBody>
          <a:bodyPr/>
          <a:lstStyle/>
          <a:p>
            <a:pPr eaLnBrk="1" hangingPunct="1">
              <a:buFont typeface="Wingdings" charset="2"/>
              <a:buChar char="Ø"/>
            </a:pPr>
            <a:r>
              <a:rPr lang="en-US" sz="2800" dirty="0"/>
              <a:t>[Ni(NH</a:t>
            </a:r>
            <a:r>
              <a:rPr lang="en-US" sz="2800" baseline="-25000" dirty="0"/>
              <a:t>3</a:t>
            </a:r>
            <a:r>
              <a:rPr lang="en-US" sz="2800" dirty="0"/>
              <a:t>)</a:t>
            </a:r>
            <a:r>
              <a:rPr lang="en-US" sz="2800" baseline="-25000" dirty="0"/>
              <a:t>6</a:t>
            </a:r>
            <a:r>
              <a:rPr lang="en-US" sz="2800" dirty="0"/>
              <a:t>]Br</a:t>
            </a:r>
            <a:r>
              <a:rPr lang="en-US" sz="2800" baseline="-25000" dirty="0"/>
              <a:t>2</a:t>
            </a:r>
            <a:r>
              <a:rPr lang="en-US" sz="2800" dirty="0"/>
              <a:t> = </a:t>
            </a:r>
            <a:endParaRPr lang="en-US" sz="2800" dirty="0" smtClean="0"/>
          </a:p>
          <a:p>
            <a:pPr marL="0" indent="0" eaLnBrk="1" hangingPunct="1">
              <a:buNone/>
            </a:pPr>
            <a:r>
              <a:rPr lang="en-US" altLang="zh-CN" sz="2800" dirty="0" err="1" smtClean="0"/>
              <a:t>H</a:t>
            </a:r>
            <a:r>
              <a:rPr lang="en-US" sz="2800" dirty="0" err="1" smtClean="0"/>
              <a:t>exaamminenickel</a:t>
            </a:r>
            <a:r>
              <a:rPr lang="en-US" sz="2800" dirty="0" smtClean="0"/>
              <a:t>(II</a:t>
            </a:r>
            <a:r>
              <a:rPr lang="en-US" sz="2800" dirty="0"/>
              <a:t>) </a:t>
            </a:r>
            <a:r>
              <a:rPr lang="en-US" sz="2800" dirty="0" smtClean="0"/>
              <a:t>bromide</a:t>
            </a:r>
          </a:p>
          <a:p>
            <a:pPr marL="0" indent="0" eaLnBrk="1" hangingPunct="1">
              <a:buNone/>
            </a:pPr>
            <a:endParaRPr lang="en-US" sz="2800" dirty="0"/>
          </a:p>
          <a:p>
            <a:pPr eaLnBrk="1" hangingPunct="1">
              <a:buFont typeface="Wingdings" charset="2"/>
              <a:buChar char="Ø"/>
            </a:pPr>
            <a:r>
              <a:rPr lang="en-US" sz="2800" dirty="0"/>
              <a:t>Na</a:t>
            </a:r>
            <a:r>
              <a:rPr lang="en-US" sz="2800" baseline="-25000" dirty="0"/>
              <a:t>2</a:t>
            </a:r>
            <a:r>
              <a:rPr lang="en-US" sz="2800" dirty="0"/>
              <a:t>[MoOCl</a:t>
            </a:r>
            <a:r>
              <a:rPr lang="en-US" sz="2800" baseline="-25000" dirty="0"/>
              <a:t>4</a:t>
            </a:r>
            <a:r>
              <a:rPr lang="en-US" sz="2800" dirty="0"/>
              <a:t>] = </a:t>
            </a:r>
            <a:endParaRPr lang="en-US" sz="2800" dirty="0" smtClean="0"/>
          </a:p>
          <a:p>
            <a:pPr marL="0" indent="0" eaLnBrk="1" hangingPunct="1">
              <a:buNone/>
            </a:pPr>
            <a:r>
              <a:rPr lang="en-US" altLang="zh-CN" sz="2800" dirty="0" smtClean="0"/>
              <a:t>S</a:t>
            </a:r>
            <a:r>
              <a:rPr lang="en-US" sz="2800" dirty="0" smtClean="0"/>
              <a:t>odium </a:t>
            </a:r>
            <a:r>
              <a:rPr lang="en-US" sz="2800" dirty="0" err="1"/>
              <a:t>tetrachlorooxomolybdate</a:t>
            </a:r>
            <a:r>
              <a:rPr lang="en-US" sz="2800" dirty="0"/>
              <a:t>(IV</a:t>
            </a:r>
            <a:r>
              <a:rPr lang="en-US" sz="2800" dirty="0" smtClean="0"/>
              <a:t>)</a:t>
            </a:r>
          </a:p>
          <a:p>
            <a:pPr marL="0" indent="0" eaLnBrk="1" hangingPunct="1">
              <a:buNone/>
            </a:pPr>
            <a:endParaRPr lang="en-US" sz="2800" dirty="0"/>
          </a:p>
          <a:p>
            <a:pPr eaLnBrk="1" hangingPunct="1">
              <a:buFont typeface="Wingdings" charset="2"/>
              <a:buChar char="Ø"/>
            </a:pPr>
            <a:r>
              <a:rPr lang="en-US" sz="2800" dirty="0"/>
              <a:t>[Co(</a:t>
            </a:r>
            <a:r>
              <a:rPr lang="en-US" sz="2800" dirty="0" err="1"/>
              <a:t>en</a:t>
            </a:r>
            <a:r>
              <a:rPr lang="en-US" sz="2800" dirty="0"/>
              <a:t>)</a:t>
            </a:r>
            <a:r>
              <a:rPr lang="en-US" sz="2800" baseline="-25000" dirty="0"/>
              <a:t>2</a:t>
            </a:r>
            <a:r>
              <a:rPr lang="en-US" sz="2800" dirty="0"/>
              <a:t>(H</a:t>
            </a:r>
            <a:r>
              <a:rPr lang="en-US" sz="2800" baseline="-25000" dirty="0"/>
              <a:t>2</a:t>
            </a:r>
            <a:r>
              <a:rPr lang="en-US" sz="2800" dirty="0"/>
              <a:t>O)(CN)]Cl</a:t>
            </a:r>
            <a:r>
              <a:rPr lang="en-US" sz="2800" baseline="-25000" dirty="0"/>
              <a:t>2</a:t>
            </a:r>
            <a:r>
              <a:rPr lang="en-US" sz="2800" dirty="0"/>
              <a:t> </a:t>
            </a:r>
            <a:r>
              <a:rPr lang="en-US" sz="2800" dirty="0" smtClean="0"/>
              <a:t>=</a:t>
            </a:r>
          </a:p>
          <a:p>
            <a:pPr marL="0" indent="0" eaLnBrk="1" hangingPunct="1">
              <a:buNone/>
            </a:pPr>
            <a:r>
              <a:rPr lang="en-US" altLang="zh-CN" sz="2800" dirty="0" err="1" smtClean="0"/>
              <a:t>A</a:t>
            </a:r>
            <a:r>
              <a:rPr lang="en-US" sz="2800" dirty="0" err="1" smtClean="0"/>
              <a:t>quacyanobis</a:t>
            </a:r>
            <a:r>
              <a:rPr lang="en-US" sz="2800" dirty="0" smtClean="0"/>
              <a:t>(</a:t>
            </a:r>
            <a:r>
              <a:rPr lang="en-US" sz="2800" dirty="0" err="1" smtClean="0"/>
              <a:t>ethylenediamine</a:t>
            </a:r>
            <a:r>
              <a:rPr lang="en-US" sz="2800" dirty="0" smtClean="0"/>
              <a:t>)cobalt(III</a:t>
            </a:r>
            <a:r>
              <a:rPr lang="en-US" sz="2800" dirty="0"/>
              <a:t>) chloride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88" y="0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solidFill>
                  <a:srgbClr val="0070C0"/>
                </a:solidFill>
              </a:rPr>
              <a:t>Isomers</a:t>
            </a:r>
            <a:r>
              <a:rPr lang="zh-CN" altLang="en-US" dirty="0" smtClean="0">
                <a:solidFill>
                  <a:srgbClr val="0070C0"/>
                </a:solidFill>
              </a:rPr>
              <a:t> </a:t>
            </a:r>
            <a:r>
              <a:rPr lang="zh-CN" altLang="en-US" dirty="0" smtClean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同分异构体</a:t>
            </a:r>
            <a:endParaRPr lang="en-US" dirty="0">
              <a:solidFill>
                <a:srgbClr val="0070C0"/>
              </a:solidFill>
              <a:latin typeface="Adobe 黑体 Std R" pitchFamily="34" charset="-122"/>
              <a:ea typeface="Adobe 黑体 Std R" pitchFamily="34" charset="-122"/>
            </a:endParaRPr>
          </a:p>
        </p:txBody>
      </p:sp>
      <p:sp>
        <p:nvSpPr>
          <p:cNvPr id="27651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19100" y="1033462"/>
            <a:ext cx="8267700" cy="2700338"/>
          </a:xfrm>
        </p:spPr>
        <p:txBody>
          <a:bodyPr/>
          <a:lstStyle/>
          <a:p>
            <a:pPr eaLnBrk="1" hangingPunct="1"/>
            <a:r>
              <a:rPr lang="en-US" sz="2400" b="1" dirty="0"/>
              <a:t>Isomers</a:t>
            </a:r>
            <a:r>
              <a:rPr lang="en-US" sz="2400" dirty="0"/>
              <a:t> have the same molecular formula but a different arrangement of atoms.</a:t>
            </a:r>
          </a:p>
          <a:p>
            <a:pPr eaLnBrk="1" hangingPunct="1"/>
            <a:r>
              <a:rPr lang="en-US" sz="2400" dirty="0"/>
              <a:t>There are two main subgroupings: </a:t>
            </a:r>
            <a:r>
              <a:rPr lang="en-US" sz="2400" b="1" dirty="0">
                <a:solidFill>
                  <a:srgbClr val="0070C0"/>
                </a:solidFill>
              </a:rPr>
              <a:t>structural </a:t>
            </a:r>
            <a:r>
              <a:rPr lang="en-US" sz="2400" b="1" dirty="0" smtClean="0">
                <a:solidFill>
                  <a:srgbClr val="0070C0"/>
                </a:solidFill>
              </a:rPr>
              <a:t>isomers</a:t>
            </a:r>
            <a:r>
              <a:rPr lang="zh-CN" altLang="en-US" sz="2400" b="1" dirty="0">
                <a:solidFill>
                  <a:srgbClr val="0070C0"/>
                </a:solidFill>
              </a:rPr>
              <a:t> </a:t>
            </a:r>
            <a:r>
              <a:rPr lang="zh-CN" altLang="en-US" sz="2400" b="1" dirty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结构异构体</a:t>
            </a:r>
            <a:r>
              <a:rPr lang="en-US" sz="2400" dirty="0" smtClean="0"/>
              <a:t> </a:t>
            </a:r>
            <a:r>
              <a:rPr lang="en-US" sz="2400" dirty="0"/>
              <a:t>(same molecular formula but </a:t>
            </a:r>
            <a:r>
              <a:rPr lang="en-US" sz="2400" u="sng" dirty="0"/>
              <a:t>different connections</a:t>
            </a:r>
            <a:r>
              <a:rPr lang="en-US" sz="2400" dirty="0"/>
              <a:t> of atoms) and </a:t>
            </a:r>
            <a:r>
              <a:rPr lang="en-US" sz="2400" b="1" dirty="0" smtClean="0">
                <a:solidFill>
                  <a:srgbClr val="0070C0"/>
                </a:solidFill>
              </a:rPr>
              <a:t>stereoisomers </a:t>
            </a:r>
            <a:r>
              <a:rPr lang="zh-CN" altLang="en-US" sz="2400" b="1" dirty="0" smtClean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立体异构体</a:t>
            </a:r>
            <a:r>
              <a:rPr lang="en-US" sz="2400" dirty="0" smtClean="0">
                <a:latin typeface="Adobe 黑体 Std R" pitchFamily="34" charset="-122"/>
                <a:ea typeface="Adobe 黑体 Std R" pitchFamily="34" charset="-122"/>
              </a:rPr>
              <a:t> </a:t>
            </a:r>
            <a:r>
              <a:rPr lang="en-US" sz="2400" dirty="0"/>
              <a:t>(same connections of atoms, but </a:t>
            </a:r>
            <a:r>
              <a:rPr lang="en-US" sz="2400" u="sng" dirty="0"/>
              <a:t>different three-dimensional orientations</a:t>
            </a:r>
            <a:r>
              <a:rPr lang="en-US" sz="2400" dirty="0"/>
              <a:t>). </a:t>
            </a:r>
          </a:p>
        </p:txBody>
      </p:sp>
      <p:grpSp>
        <p:nvGrpSpPr>
          <p:cNvPr id="27653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27655" name="Picture 8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7656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05"/>
          <a:stretch/>
        </p:blipFill>
        <p:spPr>
          <a:xfrm>
            <a:off x="1752600" y="3865561"/>
            <a:ext cx="5928491" cy="258127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2700" y="28575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0070C0"/>
                </a:solidFill>
              </a:rPr>
              <a:t>Linkage </a:t>
            </a:r>
            <a:r>
              <a:rPr lang="en-US" dirty="0" smtClean="0">
                <a:solidFill>
                  <a:srgbClr val="0070C0"/>
                </a:solidFill>
              </a:rPr>
              <a:t>Isomers </a:t>
            </a:r>
            <a:r>
              <a:rPr lang="zh-CN" altLang="en-US" b="1" dirty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键合异构体</a:t>
            </a:r>
            <a:endParaRPr lang="en-US" dirty="0">
              <a:solidFill>
                <a:srgbClr val="0070C0"/>
              </a:solidFill>
              <a:latin typeface="Adobe 黑体 Std R" pitchFamily="34" charset="-122"/>
              <a:ea typeface="Adobe 黑体 Std R" pitchFamily="34" charset="-122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974106" y="2362200"/>
            <a:ext cx="3979394" cy="271145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800" dirty="0"/>
              <a:t>	</a:t>
            </a:r>
            <a:r>
              <a:rPr lang="en-US" sz="2400" dirty="0"/>
              <a:t>In linkage isomers the ligand is bound to the metal </a:t>
            </a:r>
            <a:r>
              <a:rPr lang="en-US" sz="2400" dirty="0">
                <a:solidFill>
                  <a:srgbClr val="0070C0"/>
                </a:solidFill>
              </a:rPr>
              <a:t>by a different atom</a:t>
            </a:r>
            <a:r>
              <a:rPr lang="en-US" sz="2400" dirty="0"/>
              <a:t>.  For example, nitrite can bind via the N or via an O.</a:t>
            </a:r>
          </a:p>
        </p:txBody>
      </p:sp>
      <p:grpSp>
        <p:nvGrpSpPr>
          <p:cNvPr id="28677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28679" name="Picture 8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8680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57"/>
          <a:stretch/>
        </p:blipFill>
        <p:spPr>
          <a:xfrm>
            <a:off x="457200" y="1581149"/>
            <a:ext cx="4516906" cy="4362451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0070C0"/>
                </a:solidFill>
              </a:rPr>
              <a:t>Coordination Sphere </a:t>
            </a:r>
            <a:r>
              <a:rPr lang="en-US" dirty="0" smtClean="0">
                <a:solidFill>
                  <a:srgbClr val="0070C0"/>
                </a:solidFill>
              </a:rPr>
              <a:t>Isomers</a:t>
            </a:r>
            <a:br>
              <a:rPr lang="en-US" dirty="0" smtClean="0">
                <a:solidFill>
                  <a:srgbClr val="0070C0"/>
                </a:solidFill>
              </a:rPr>
            </a:br>
            <a:r>
              <a:rPr lang="zh-CN" altLang="en-US" dirty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配位</a:t>
            </a:r>
            <a:r>
              <a:rPr lang="zh-CN" altLang="en-US" dirty="0" smtClean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层异构体</a:t>
            </a:r>
            <a:endParaRPr lang="en-US" dirty="0">
              <a:solidFill>
                <a:srgbClr val="0070C0"/>
              </a:solidFill>
              <a:latin typeface="Adobe 黑体 Std R" pitchFamily="34" charset="-122"/>
              <a:ea typeface="Adobe 黑体 Std R" pitchFamily="34" charset="-122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772400" cy="40386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0070C0"/>
                </a:solidFill>
              </a:rPr>
              <a:t>Coordination sphere isomers </a:t>
            </a:r>
            <a:r>
              <a:rPr lang="en-US" dirty="0"/>
              <a:t>differ </a:t>
            </a:r>
            <a:br>
              <a:rPr lang="en-US" dirty="0"/>
            </a:br>
            <a:r>
              <a:rPr lang="en-US" dirty="0"/>
              <a:t>in what ligands are bound to the metal and which fall outside the coordination sphere.</a:t>
            </a:r>
          </a:p>
          <a:p>
            <a:pPr eaLnBrk="1" hangingPunct="1"/>
            <a:r>
              <a:rPr lang="en-US" dirty="0"/>
              <a:t>For example, CrCl</a:t>
            </a:r>
            <a:r>
              <a:rPr lang="en-US" baseline="-25000" dirty="0"/>
              <a:t>3</a:t>
            </a:r>
            <a:r>
              <a:rPr lang="en-US" dirty="0"/>
              <a:t>(H</a:t>
            </a:r>
            <a:r>
              <a:rPr lang="en-US" baseline="-25000" dirty="0"/>
              <a:t>2</a:t>
            </a:r>
            <a:r>
              <a:rPr lang="en-US" dirty="0"/>
              <a:t>O)</a:t>
            </a:r>
            <a:r>
              <a:rPr lang="en-US" baseline="-25000" dirty="0"/>
              <a:t>6</a:t>
            </a:r>
            <a:r>
              <a:rPr lang="en-US" dirty="0"/>
              <a:t> exists as [Cr(H</a:t>
            </a:r>
            <a:r>
              <a:rPr lang="en-US" baseline="-25000" dirty="0"/>
              <a:t>2</a:t>
            </a:r>
            <a:r>
              <a:rPr lang="en-US" dirty="0"/>
              <a:t>O)</a:t>
            </a:r>
            <a:r>
              <a:rPr lang="en-US" baseline="-25000" dirty="0"/>
              <a:t>6</a:t>
            </a:r>
            <a:r>
              <a:rPr lang="en-US" dirty="0"/>
              <a:t>]Cl</a:t>
            </a:r>
            <a:r>
              <a:rPr lang="en-US" baseline="-25000" dirty="0"/>
              <a:t>3</a:t>
            </a:r>
            <a:r>
              <a:rPr lang="en-US" dirty="0"/>
              <a:t>, [Cr(H</a:t>
            </a:r>
            <a:r>
              <a:rPr lang="en-US" baseline="-25000" dirty="0"/>
              <a:t>2</a:t>
            </a:r>
            <a:r>
              <a:rPr lang="en-US" dirty="0"/>
              <a:t>O)</a:t>
            </a:r>
            <a:r>
              <a:rPr lang="en-US" baseline="-25000" dirty="0"/>
              <a:t>5</a:t>
            </a:r>
            <a:r>
              <a:rPr lang="en-US" dirty="0"/>
              <a:t>Cl]Cl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sz="2000" baseline="20000" dirty="0">
                <a:sym typeface="Wingdings" charset="2"/>
              </a:rPr>
              <a:t></a:t>
            </a:r>
            <a:r>
              <a:rPr lang="en-US" sz="2000" dirty="0"/>
              <a:t> </a:t>
            </a:r>
            <a:r>
              <a:rPr lang="en-US" dirty="0">
                <a:sym typeface="Wingdings" charset="2"/>
              </a:rPr>
              <a:t>H</a:t>
            </a:r>
            <a:r>
              <a:rPr lang="en-US" baseline="-25000" dirty="0">
                <a:sym typeface="Wingdings" charset="2"/>
              </a:rPr>
              <a:t>2</a:t>
            </a:r>
            <a:r>
              <a:rPr lang="en-US" dirty="0">
                <a:sym typeface="Wingdings" charset="2"/>
              </a:rPr>
              <a:t>O, or </a:t>
            </a:r>
            <a:r>
              <a:rPr lang="en-US" dirty="0"/>
              <a:t>[Cr(H</a:t>
            </a:r>
            <a:r>
              <a:rPr lang="en-US" baseline="-25000" dirty="0"/>
              <a:t>2</a:t>
            </a:r>
            <a:r>
              <a:rPr lang="en-US" dirty="0"/>
              <a:t>O)</a:t>
            </a:r>
            <a:r>
              <a:rPr lang="en-US" baseline="-25000" dirty="0"/>
              <a:t>4</a:t>
            </a:r>
            <a:r>
              <a:rPr lang="en-US" dirty="0"/>
              <a:t>Cl</a:t>
            </a:r>
            <a:r>
              <a:rPr lang="en-US" baseline="-25000" dirty="0"/>
              <a:t>2</a:t>
            </a:r>
            <a:r>
              <a:rPr lang="en-US" dirty="0"/>
              <a:t>]Cl </a:t>
            </a:r>
            <a:r>
              <a:rPr lang="en-US" sz="2000" baseline="20000" dirty="0">
                <a:sym typeface="Wingdings" charset="2"/>
              </a:rPr>
              <a:t></a:t>
            </a:r>
            <a:r>
              <a:rPr lang="en-US" sz="2000" dirty="0"/>
              <a:t> </a:t>
            </a:r>
            <a:r>
              <a:rPr lang="en-US" dirty="0">
                <a:sym typeface="Wingdings" charset="2"/>
              </a:rPr>
              <a:t>2H</a:t>
            </a:r>
            <a:r>
              <a:rPr lang="en-US" baseline="-25000" dirty="0">
                <a:sym typeface="Wingdings" charset="2"/>
              </a:rPr>
              <a:t>2</a:t>
            </a:r>
            <a:r>
              <a:rPr lang="en-US" dirty="0">
                <a:sym typeface="Wingdings" charset="2"/>
              </a:rPr>
              <a:t>O.</a:t>
            </a:r>
            <a:endParaRPr lang="en-US" dirty="0"/>
          </a:p>
        </p:txBody>
      </p:sp>
      <p:grpSp>
        <p:nvGrpSpPr>
          <p:cNvPr id="29701" name="Group 5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29702" name="Picture 6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9703" name="Rectangle 7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Stereoisomers </a:t>
            </a:r>
            <a:r>
              <a:rPr lang="zh-CN" altLang="en-US" dirty="0" smtClean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立体异构体</a:t>
            </a:r>
            <a:endParaRPr lang="en-US" dirty="0">
              <a:solidFill>
                <a:srgbClr val="0070C0"/>
              </a:solidFill>
              <a:latin typeface="Adobe 黑体 Std R" pitchFamily="34" charset="-122"/>
              <a:ea typeface="Adobe 黑体 Std R" pitchFamily="34" charset="-122"/>
            </a:endParaRP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1066800" y="1981200"/>
            <a:ext cx="7162800" cy="4114800"/>
          </a:xfrm>
        </p:spPr>
        <p:txBody>
          <a:bodyPr/>
          <a:lstStyle/>
          <a:p>
            <a:r>
              <a:rPr lang="en-US" dirty="0"/>
              <a:t>Same chemical bonds but different </a:t>
            </a:r>
            <a:r>
              <a:rPr lang="en-US" dirty="0">
                <a:solidFill>
                  <a:srgbClr val="0070C0"/>
                </a:solidFill>
              </a:rPr>
              <a:t>spatial</a:t>
            </a:r>
            <a:r>
              <a:rPr lang="en-US" dirty="0"/>
              <a:t> </a:t>
            </a:r>
            <a:r>
              <a:rPr lang="en-US" dirty="0" smtClean="0"/>
              <a:t>arrangements</a:t>
            </a:r>
            <a:r>
              <a:rPr lang="en-US" dirty="0"/>
              <a:t>.</a:t>
            </a:r>
          </a:p>
          <a:p>
            <a:r>
              <a:rPr lang="en-US" dirty="0"/>
              <a:t>Two types:</a:t>
            </a:r>
          </a:p>
          <a:p>
            <a:pPr>
              <a:buFont typeface="Wingdings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Geometric </a:t>
            </a:r>
            <a:r>
              <a:rPr lang="en-US" dirty="0" smtClean="0">
                <a:solidFill>
                  <a:srgbClr val="0070C0"/>
                </a:solidFill>
              </a:rPr>
              <a:t>isomers </a:t>
            </a:r>
            <a:r>
              <a:rPr lang="zh-CN" altLang="en-US" dirty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几何</a:t>
            </a:r>
            <a:r>
              <a:rPr lang="zh-CN" altLang="en-US" dirty="0" smtClean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异构体</a:t>
            </a:r>
            <a:endParaRPr lang="en-US" dirty="0">
              <a:solidFill>
                <a:srgbClr val="0070C0"/>
              </a:solidFill>
              <a:latin typeface="Adobe 黑体 Std R" pitchFamily="34" charset="-122"/>
              <a:ea typeface="Adobe 黑体 Std R" pitchFamily="34" charset="-122"/>
            </a:endParaRPr>
          </a:p>
          <a:p>
            <a:pPr>
              <a:buFont typeface="Wingdings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Optical </a:t>
            </a:r>
            <a:r>
              <a:rPr lang="en-US" dirty="0" smtClean="0">
                <a:solidFill>
                  <a:srgbClr val="0070C0"/>
                </a:solidFill>
              </a:rPr>
              <a:t>isomers </a:t>
            </a:r>
            <a:r>
              <a:rPr lang="zh-CN" altLang="en-US" dirty="0" smtClean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旋光异构体</a:t>
            </a:r>
            <a:endParaRPr lang="en-US" dirty="0">
              <a:solidFill>
                <a:srgbClr val="0070C0"/>
              </a:solidFill>
              <a:latin typeface="Adobe 黑体 Std R" pitchFamily="34" charset="-122"/>
              <a:ea typeface="Adobe 黑体 Std R" pitchFamily="3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0070C0"/>
                </a:solidFill>
              </a:rPr>
              <a:t>Geometric </a:t>
            </a:r>
            <a:r>
              <a:rPr lang="en-US" dirty="0" smtClean="0">
                <a:solidFill>
                  <a:srgbClr val="0070C0"/>
                </a:solidFill>
              </a:rPr>
              <a:t>Isomers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zh-CN" altLang="en-US" dirty="0" smtClean="0">
                <a:solidFill>
                  <a:srgbClr val="0070C0"/>
                </a:solidFill>
              </a:rPr>
              <a:t>几何异构体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174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85800" y="1219200"/>
            <a:ext cx="7772400" cy="3241675"/>
          </a:xfrm>
        </p:spPr>
        <p:txBody>
          <a:bodyPr/>
          <a:lstStyle/>
          <a:p>
            <a:pPr eaLnBrk="1" hangingPunct="1"/>
            <a:r>
              <a:rPr lang="en-US" sz="2400" dirty="0"/>
              <a:t>In geometric isomers, the arrangement of the atoms is different, but the same bonds exist on the complex.</a:t>
            </a:r>
          </a:p>
          <a:p>
            <a:pPr eaLnBrk="1" hangingPunct="1"/>
            <a:r>
              <a:rPr lang="en-US" sz="2400" dirty="0"/>
              <a:t>For example, chlorine atoms can be adjacent to each other </a:t>
            </a:r>
            <a:r>
              <a:rPr lang="en-US" sz="2400" dirty="0">
                <a:solidFill>
                  <a:srgbClr val="0070C0"/>
                </a:solidFill>
              </a:rPr>
              <a:t>(</a:t>
            </a:r>
            <a:r>
              <a:rPr lang="en-US" sz="2400" i="1" dirty="0" smtClean="0">
                <a:solidFill>
                  <a:srgbClr val="0070C0"/>
                </a:solidFill>
              </a:rPr>
              <a:t>cis </a:t>
            </a:r>
            <a:r>
              <a:rPr lang="en-US" sz="2400" dirty="0" smtClean="0">
                <a:solidFill>
                  <a:srgbClr val="0070C0"/>
                </a:solidFill>
              </a:rPr>
              <a:t>) </a:t>
            </a:r>
            <a:r>
              <a:rPr lang="zh-CN" altLang="en-US" sz="2400" dirty="0" smtClean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顺式</a:t>
            </a:r>
            <a:r>
              <a:rPr lang="en-US" sz="2400" dirty="0" smtClean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 </a:t>
            </a:r>
            <a:r>
              <a:rPr lang="en-US" sz="2400" dirty="0"/>
              <a:t>or opposite each other </a:t>
            </a:r>
            <a:r>
              <a:rPr lang="en-US" sz="2400" dirty="0">
                <a:solidFill>
                  <a:srgbClr val="0070C0"/>
                </a:solidFill>
              </a:rPr>
              <a:t>(</a:t>
            </a:r>
            <a:r>
              <a:rPr lang="en-US" sz="2400" i="1" dirty="0">
                <a:solidFill>
                  <a:srgbClr val="0070C0"/>
                </a:solidFill>
              </a:rPr>
              <a:t>trans</a:t>
            </a:r>
            <a:r>
              <a:rPr lang="en-US" sz="2400" dirty="0" smtClean="0">
                <a:solidFill>
                  <a:srgbClr val="0070C0"/>
                </a:solidFill>
              </a:rPr>
              <a:t>) </a:t>
            </a:r>
            <a:r>
              <a:rPr lang="zh-CN" altLang="en-US" sz="2400" dirty="0" smtClean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反式</a:t>
            </a:r>
            <a:r>
              <a:rPr lang="en-US" sz="2400" dirty="0" smtClean="0"/>
              <a:t>; </a:t>
            </a:r>
            <a:r>
              <a:rPr lang="en-US" sz="2400" dirty="0"/>
              <a:t>found in square planar or octahedral complexes, not tetrahedral.</a:t>
            </a:r>
          </a:p>
          <a:p>
            <a:pPr eaLnBrk="1" hangingPunct="1"/>
            <a:r>
              <a:rPr lang="en-US" sz="2400" dirty="0"/>
              <a:t>They have different physical properties and, often, different chemical reactivity!</a:t>
            </a:r>
          </a:p>
        </p:txBody>
      </p:sp>
      <p:grpSp>
        <p:nvGrpSpPr>
          <p:cNvPr id="31749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31751" name="Picture 8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752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78"/>
          <a:stretch/>
        </p:blipFill>
        <p:spPr>
          <a:xfrm>
            <a:off x="2514600" y="4724400"/>
            <a:ext cx="4267200" cy="194538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3813" y="228600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0070C0"/>
                </a:solidFill>
              </a:rPr>
              <a:t>Optical </a:t>
            </a:r>
            <a:r>
              <a:rPr lang="en-US" dirty="0" smtClean="0">
                <a:solidFill>
                  <a:srgbClr val="0070C0"/>
                </a:solidFill>
              </a:rPr>
              <a:t>Isomers </a:t>
            </a:r>
            <a:r>
              <a:rPr lang="zh-CN" altLang="en-US" dirty="0" smtClean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旋光异构体</a:t>
            </a:r>
            <a:endParaRPr lang="en-US" dirty="0">
              <a:solidFill>
                <a:srgbClr val="0070C0"/>
              </a:solidFill>
              <a:latin typeface="Adobe 黑体 Std R" pitchFamily="34" charset="-122"/>
              <a:ea typeface="Adobe 黑体 Std R" pitchFamily="34" charset="-122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295400"/>
            <a:ext cx="8534400" cy="2362200"/>
          </a:xfrm>
        </p:spPr>
        <p:txBody>
          <a:bodyPr/>
          <a:lstStyle/>
          <a:p>
            <a:pPr eaLnBrk="1" hangingPunct="1">
              <a:buFont typeface="Wingdings" charset="2"/>
              <a:buChar char="Ø"/>
            </a:pPr>
            <a:r>
              <a:rPr lang="en-US" sz="2400" dirty="0">
                <a:solidFill>
                  <a:srgbClr val="0070C0"/>
                </a:solidFill>
              </a:rPr>
              <a:t>Optical isomers</a:t>
            </a:r>
            <a:r>
              <a:rPr lang="en-US" sz="2400" dirty="0"/>
              <a:t>, or </a:t>
            </a:r>
            <a:r>
              <a:rPr lang="en-US" sz="2400" dirty="0" smtClean="0">
                <a:solidFill>
                  <a:srgbClr val="0070C0"/>
                </a:solidFill>
              </a:rPr>
              <a:t>enantiomers </a:t>
            </a:r>
            <a:r>
              <a:rPr lang="zh-CN" altLang="en-US" sz="2400" dirty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对</a:t>
            </a:r>
            <a:r>
              <a:rPr lang="zh-CN" altLang="en-US" sz="2400" dirty="0" smtClean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映异构体</a:t>
            </a:r>
            <a:r>
              <a:rPr lang="en-US" sz="2400" dirty="0" smtClean="0"/>
              <a:t>, </a:t>
            </a:r>
            <a:r>
              <a:rPr lang="en-US" sz="2400" dirty="0"/>
              <a:t>are mirror images of one another that don’t superimpose on each other.  </a:t>
            </a:r>
          </a:p>
          <a:p>
            <a:pPr eaLnBrk="1" hangingPunct="1">
              <a:buFont typeface="Wingdings" charset="2"/>
              <a:buChar char="Ø"/>
            </a:pPr>
            <a:r>
              <a:rPr lang="en-US" sz="2400" dirty="0"/>
              <a:t>They are said to be </a:t>
            </a:r>
            <a:r>
              <a:rPr lang="en-US" sz="2400" dirty="0" smtClean="0">
                <a:solidFill>
                  <a:srgbClr val="0070C0"/>
                </a:solidFill>
              </a:rPr>
              <a:t>chiral </a:t>
            </a:r>
            <a:r>
              <a:rPr lang="zh-CN" altLang="en-US" sz="2400" dirty="0">
                <a:solidFill>
                  <a:srgbClr val="0070C0"/>
                </a:solidFill>
              </a:rPr>
              <a:t>手性</a:t>
            </a:r>
            <a:r>
              <a:rPr lang="en-US" sz="2400" dirty="0" smtClean="0"/>
              <a:t>.  </a:t>
            </a:r>
            <a:endParaRPr lang="en-US" sz="2400" dirty="0"/>
          </a:p>
          <a:p>
            <a:pPr eaLnBrk="1" hangingPunct="1">
              <a:buFont typeface="Wingdings" charset="2"/>
              <a:buChar char="Ø"/>
            </a:pPr>
            <a:r>
              <a:rPr lang="en-US" sz="2400" dirty="0"/>
              <a:t>Their properties differ from each other only when in contact with other chiral substances.  </a:t>
            </a:r>
          </a:p>
        </p:txBody>
      </p:sp>
      <p:grpSp>
        <p:nvGrpSpPr>
          <p:cNvPr id="32773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32775" name="Picture 8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776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98"/>
          <a:stretch/>
        </p:blipFill>
        <p:spPr>
          <a:xfrm>
            <a:off x="1371599" y="3733800"/>
            <a:ext cx="6460301" cy="28956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8575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Optical Isomers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066800"/>
            <a:ext cx="8953500" cy="3429000"/>
          </a:xfrm>
        </p:spPr>
        <p:txBody>
          <a:bodyPr/>
          <a:lstStyle/>
          <a:p>
            <a:pPr eaLnBrk="1" hangingPunct="1"/>
            <a:r>
              <a:rPr lang="en-US" sz="2400" dirty="0"/>
              <a:t>Enantiomers are distinguished from each other by the way they rotate plane-polarized light.</a:t>
            </a:r>
          </a:p>
          <a:p>
            <a:pPr lvl="1" eaLnBrk="1" hangingPunct="1"/>
            <a:r>
              <a:rPr lang="en-US" sz="2400" dirty="0"/>
              <a:t>Substances that rotate plane-polarized light to the right are </a:t>
            </a:r>
            <a:r>
              <a:rPr lang="en-US" sz="2400" b="1" dirty="0">
                <a:solidFill>
                  <a:srgbClr val="0070C0"/>
                </a:solidFill>
              </a:rPr>
              <a:t>dextrorotatory</a:t>
            </a:r>
            <a:r>
              <a:rPr lang="en-US" sz="2400" dirty="0" smtClean="0"/>
              <a:t>. </a:t>
            </a:r>
            <a:r>
              <a:rPr lang="zh-CN" altLang="en-US" sz="2400" dirty="0" smtClean="0"/>
              <a:t>右旋</a:t>
            </a:r>
            <a:endParaRPr lang="en-US" sz="2400" dirty="0"/>
          </a:p>
          <a:p>
            <a:pPr lvl="1" eaLnBrk="1" hangingPunct="1"/>
            <a:r>
              <a:rPr lang="en-US" sz="2400" dirty="0"/>
              <a:t>Substances that rotate plane-polarized light to the left are </a:t>
            </a:r>
            <a:r>
              <a:rPr lang="en-US" sz="2400" b="1" dirty="0">
                <a:solidFill>
                  <a:srgbClr val="0070C0"/>
                </a:solidFill>
              </a:rPr>
              <a:t>levorotatory</a:t>
            </a:r>
            <a:r>
              <a:rPr lang="en-US" sz="2400" dirty="0" smtClean="0"/>
              <a:t>. </a:t>
            </a:r>
            <a:r>
              <a:rPr lang="zh-CN" altLang="en-US" sz="2400" dirty="0" smtClean="0"/>
              <a:t>左旋</a:t>
            </a:r>
            <a:endParaRPr lang="en-US" sz="2400" dirty="0"/>
          </a:p>
          <a:p>
            <a:pPr lvl="1" eaLnBrk="1" hangingPunct="1"/>
            <a:r>
              <a:rPr lang="en-US" sz="2400" dirty="0"/>
              <a:t>A mixture of the two is called a </a:t>
            </a:r>
            <a:r>
              <a:rPr lang="en-US" sz="2400" b="1" dirty="0">
                <a:solidFill>
                  <a:srgbClr val="0070C0"/>
                </a:solidFill>
              </a:rPr>
              <a:t>racemic mixture</a:t>
            </a:r>
            <a:r>
              <a:rPr lang="en-US" sz="2400" dirty="0" smtClean="0"/>
              <a:t>.</a:t>
            </a:r>
            <a:r>
              <a:rPr lang="zh-CN" altLang="en-US" sz="2400" dirty="0"/>
              <a:t> </a:t>
            </a:r>
            <a:r>
              <a:rPr lang="zh-CN" altLang="en-US" sz="2400" dirty="0">
                <a:latin typeface="Adobe 黑体 Std R" pitchFamily="34" charset="-122"/>
                <a:ea typeface="Adobe 黑体 Std R" pitchFamily="34" charset="-122"/>
              </a:rPr>
              <a:t>外消旋混合物</a:t>
            </a:r>
            <a:endParaRPr lang="en-US" sz="2400" dirty="0">
              <a:latin typeface="Adobe 黑体 Std R" pitchFamily="34" charset="-122"/>
              <a:ea typeface="Adobe 黑体 Std R" pitchFamily="34" charset="-122"/>
            </a:endParaRPr>
          </a:p>
        </p:txBody>
      </p:sp>
      <p:grpSp>
        <p:nvGrpSpPr>
          <p:cNvPr id="33797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33799" name="Picture 8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3800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14"/>
          <a:stretch/>
        </p:blipFill>
        <p:spPr>
          <a:xfrm>
            <a:off x="1562100" y="4339102"/>
            <a:ext cx="6019800" cy="210773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914400"/>
          </a:xfrm>
        </p:spPr>
        <p:txBody>
          <a:bodyPr/>
          <a:lstStyle/>
          <a:p>
            <a:pPr eaLnBrk="1" hangingPunct="1"/>
            <a:r>
              <a:rPr lang="en-US"/>
              <a:t>Color</a:t>
            </a:r>
          </a:p>
        </p:txBody>
      </p:sp>
      <p:sp>
        <p:nvSpPr>
          <p:cNvPr id="3481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85800" y="4572000"/>
            <a:ext cx="8153400" cy="762000"/>
          </a:xfrm>
        </p:spPr>
        <p:txBody>
          <a:bodyPr/>
          <a:lstStyle/>
          <a:p>
            <a:pPr eaLnBrk="1" hangingPunct="1"/>
            <a:r>
              <a:rPr lang="en-US" sz="2800" dirty="0"/>
              <a:t>Color depends on the metal </a:t>
            </a:r>
            <a:r>
              <a:rPr lang="en-US" sz="2800" dirty="0">
                <a:solidFill>
                  <a:srgbClr val="0070C0"/>
                </a:solidFill>
              </a:rPr>
              <a:t>AND</a:t>
            </a:r>
            <a:r>
              <a:rPr lang="en-US" sz="2800" dirty="0"/>
              <a:t> the ligands.</a:t>
            </a:r>
          </a:p>
        </p:txBody>
      </p:sp>
      <p:grpSp>
        <p:nvGrpSpPr>
          <p:cNvPr id="34821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34823" name="Picture 8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4824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11"/>
          <a:stretch/>
        </p:blipFill>
        <p:spPr>
          <a:xfrm>
            <a:off x="1651483" y="1371600"/>
            <a:ext cx="5841034" cy="27432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-19050" y="0"/>
            <a:ext cx="9144000" cy="914400"/>
          </a:xfrm>
        </p:spPr>
        <p:txBody>
          <a:bodyPr/>
          <a:lstStyle/>
          <a:p>
            <a:pPr eaLnBrk="1" hangingPunct="1"/>
            <a:r>
              <a:rPr lang="en-US"/>
              <a:t>Color</a:t>
            </a:r>
          </a:p>
        </p:txBody>
      </p:sp>
      <p:sp>
        <p:nvSpPr>
          <p:cNvPr id="35843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52400" y="1371600"/>
            <a:ext cx="6553200" cy="2362200"/>
          </a:xfrm>
        </p:spPr>
        <p:txBody>
          <a:bodyPr/>
          <a:lstStyle/>
          <a:p>
            <a:pPr eaLnBrk="1" hangingPunct="1"/>
            <a:r>
              <a:rPr lang="en-US" sz="2400" dirty="0"/>
              <a:t>Two ways we see color in a complex:  </a:t>
            </a:r>
          </a:p>
          <a:p>
            <a:pPr lvl="1" eaLnBrk="1" hangingPunct="1"/>
            <a:r>
              <a:rPr lang="en-US" sz="2400" dirty="0"/>
              <a:t>Object </a:t>
            </a:r>
            <a:r>
              <a:rPr lang="en-US" sz="2400" dirty="0">
                <a:solidFill>
                  <a:srgbClr val="0070C0"/>
                </a:solidFill>
              </a:rPr>
              <a:t>reflects</a:t>
            </a:r>
            <a:r>
              <a:rPr lang="en-US" sz="2400" dirty="0"/>
              <a:t> that color of light.</a:t>
            </a:r>
          </a:p>
          <a:p>
            <a:pPr lvl="1" eaLnBrk="1" hangingPunct="1"/>
            <a:r>
              <a:rPr lang="en-US" sz="2400" dirty="0"/>
              <a:t>Object </a:t>
            </a:r>
            <a:r>
              <a:rPr lang="en-US" sz="2400" dirty="0">
                <a:solidFill>
                  <a:srgbClr val="0070C0"/>
                </a:solidFill>
              </a:rPr>
              <a:t>transmits</a:t>
            </a:r>
            <a:r>
              <a:rPr lang="en-US" sz="2400" dirty="0"/>
              <a:t> all colors EXCEPT the </a:t>
            </a:r>
            <a:r>
              <a:rPr lang="en-US" sz="2400" dirty="0">
                <a:solidFill>
                  <a:srgbClr val="0070C0"/>
                </a:solidFill>
              </a:rPr>
              <a:t>complementary </a:t>
            </a:r>
            <a:r>
              <a:rPr lang="en-US" sz="2400" dirty="0" smtClean="0">
                <a:solidFill>
                  <a:srgbClr val="0070C0"/>
                </a:solidFill>
              </a:rPr>
              <a:t>color </a:t>
            </a:r>
            <a:r>
              <a:rPr lang="zh-CN" altLang="en-US" sz="2400" dirty="0" smtClean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互补色</a:t>
            </a:r>
            <a:r>
              <a:rPr lang="en-US" sz="2400" dirty="0" smtClean="0">
                <a:solidFill>
                  <a:srgbClr val="0070C0"/>
                </a:solidFill>
                <a:latin typeface="Adobe 黑体 Std R" pitchFamily="34" charset="-122"/>
                <a:ea typeface="Adobe 黑体 Std R" pitchFamily="34" charset="-122"/>
              </a:rPr>
              <a:t> </a:t>
            </a:r>
            <a:r>
              <a:rPr lang="en-US" sz="2400" dirty="0"/>
              <a:t>(as is seen in an absorption spectrum).</a:t>
            </a:r>
          </a:p>
        </p:txBody>
      </p:sp>
      <p:grpSp>
        <p:nvGrpSpPr>
          <p:cNvPr id="35845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35848" name="Picture 8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5849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65"/>
          <a:stretch/>
        </p:blipFill>
        <p:spPr>
          <a:xfrm>
            <a:off x="122660" y="4413167"/>
            <a:ext cx="8802265" cy="206224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01"/>
          <a:stretch/>
        </p:blipFill>
        <p:spPr>
          <a:xfrm>
            <a:off x="7010400" y="114861"/>
            <a:ext cx="1588389" cy="426020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FF0000"/>
                </a:solidFill>
              </a:rPr>
              <a:t>Crystal-Field </a:t>
            </a:r>
            <a:r>
              <a:rPr lang="en-US" dirty="0" smtClean="0">
                <a:solidFill>
                  <a:srgbClr val="FF0000"/>
                </a:solidFill>
              </a:rPr>
              <a:t>Theory </a:t>
            </a:r>
            <a:r>
              <a:rPr lang="zh-CN" altLang="en-US" dirty="0" smtClean="0">
                <a:solidFill>
                  <a:srgbClr val="FF0000"/>
                </a:solidFill>
                <a:latin typeface="Adobe 黑体 Std R" pitchFamily="34" charset="-122"/>
                <a:ea typeface="Adobe 黑体 Std R" pitchFamily="34" charset="-122"/>
              </a:rPr>
              <a:t>晶体场理论</a:t>
            </a:r>
            <a:endParaRPr lang="en-US" dirty="0">
              <a:solidFill>
                <a:srgbClr val="FF0000"/>
              </a:solidFill>
              <a:latin typeface="Adobe 黑体 Std R" pitchFamily="34" charset="-122"/>
              <a:ea typeface="Adobe 黑体 Std R" pitchFamily="34" charset="-122"/>
            </a:endParaRPr>
          </a:p>
        </p:txBody>
      </p:sp>
      <p:sp>
        <p:nvSpPr>
          <p:cNvPr id="3686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76200" y="1447800"/>
            <a:ext cx="8991600" cy="2362200"/>
          </a:xfrm>
        </p:spPr>
        <p:txBody>
          <a:bodyPr/>
          <a:lstStyle/>
          <a:p>
            <a:pPr eaLnBrk="1" hangingPunct="1"/>
            <a:r>
              <a:rPr lang="en-US" sz="2400" dirty="0"/>
              <a:t>As was mentioned earlier, ligands are Lewis bases that are </a:t>
            </a:r>
            <a:r>
              <a:rPr lang="en-US" sz="2400" dirty="0">
                <a:solidFill>
                  <a:srgbClr val="0070C0"/>
                </a:solidFill>
              </a:rPr>
              <a:t>attracted</a:t>
            </a:r>
            <a:r>
              <a:rPr lang="en-US" sz="2400" dirty="0"/>
              <a:t> to a Lewis acid (the metal).</a:t>
            </a:r>
          </a:p>
          <a:p>
            <a:pPr eaLnBrk="1" hangingPunct="1"/>
            <a:r>
              <a:rPr lang="en-US" sz="2400" dirty="0"/>
              <a:t>But </a:t>
            </a:r>
            <a:r>
              <a:rPr lang="en-US" sz="2400" i="1" dirty="0"/>
              <a:t>d</a:t>
            </a:r>
            <a:r>
              <a:rPr lang="en-US" sz="2400" dirty="0"/>
              <a:t> electrons on the metal would </a:t>
            </a:r>
            <a:r>
              <a:rPr lang="en-US" sz="2400" dirty="0">
                <a:solidFill>
                  <a:srgbClr val="0070C0"/>
                </a:solidFill>
              </a:rPr>
              <a:t>repel</a:t>
            </a:r>
            <a:r>
              <a:rPr lang="en-US" sz="2400" dirty="0"/>
              <a:t> the ligand.</a:t>
            </a:r>
          </a:p>
          <a:p>
            <a:pPr eaLnBrk="1" hangingPunct="1"/>
            <a:r>
              <a:rPr lang="en-US" sz="2400" dirty="0"/>
              <a:t>In crystal-field theory, the approaching ligand is considered to be a </a:t>
            </a:r>
            <a:r>
              <a:rPr lang="en-US" altLang="zh-CN" sz="2400" dirty="0" smtClean="0">
                <a:solidFill>
                  <a:srgbClr val="0070C0"/>
                </a:solidFill>
              </a:rPr>
              <a:t>negative </a:t>
            </a:r>
            <a:r>
              <a:rPr lang="en-US" sz="2400" dirty="0" smtClean="0">
                <a:solidFill>
                  <a:srgbClr val="0070C0"/>
                </a:solidFill>
              </a:rPr>
              <a:t>point of charge </a:t>
            </a:r>
            <a:r>
              <a:rPr lang="en-US" sz="2400" dirty="0"/>
              <a:t>repelled by the electrons in a metal’s </a:t>
            </a:r>
            <a:r>
              <a:rPr lang="en-US" sz="2400" i="1" dirty="0"/>
              <a:t>d</a:t>
            </a:r>
            <a:r>
              <a:rPr lang="en-US" sz="2400" dirty="0"/>
              <a:t>-orbitals</a:t>
            </a:r>
            <a:r>
              <a:rPr lang="en-US" sz="2400" dirty="0" smtClean="0"/>
              <a:t>. (see next page)</a:t>
            </a:r>
            <a:endParaRPr lang="en-US" sz="2400" dirty="0"/>
          </a:p>
        </p:txBody>
      </p:sp>
      <p:grpSp>
        <p:nvGrpSpPr>
          <p:cNvPr id="36869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36871" name="Picture 8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6872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39"/>
          <a:stretch/>
        </p:blipFill>
        <p:spPr>
          <a:xfrm>
            <a:off x="2438400" y="4191000"/>
            <a:ext cx="5029200" cy="178536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Crystal-Field Theory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47800"/>
            <a:ext cx="8382000" cy="1828800"/>
          </a:xfrm>
        </p:spPr>
        <p:txBody>
          <a:bodyPr/>
          <a:lstStyle/>
          <a:p>
            <a:pPr eaLnBrk="1" hangingPunct="1"/>
            <a:r>
              <a:rPr lang="en-US" sz="2400" dirty="0"/>
              <a:t>Therefore, the </a:t>
            </a:r>
            <a:r>
              <a:rPr lang="en-US" sz="2400" i="1" dirty="0"/>
              <a:t>d</a:t>
            </a:r>
            <a:r>
              <a:rPr lang="en-US" sz="2400" dirty="0"/>
              <a:t> orbitals on a metal in a complex would </a:t>
            </a:r>
            <a:r>
              <a:rPr lang="en-US" sz="2400" dirty="0">
                <a:solidFill>
                  <a:srgbClr val="0070C0"/>
                </a:solidFill>
              </a:rPr>
              <a:t>not be degenerate</a:t>
            </a:r>
            <a:r>
              <a:rPr lang="en-US" sz="2400" dirty="0"/>
              <a:t>.</a:t>
            </a:r>
          </a:p>
          <a:p>
            <a:pPr eaLnBrk="1" hangingPunct="1"/>
            <a:r>
              <a:rPr lang="en-US" sz="2400" u="sng" dirty="0"/>
              <a:t>Those that point toward ligands would be higher in energy than those that do not.</a:t>
            </a:r>
          </a:p>
        </p:txBody>
      </p:sp>
      <p:grpSp>
        <p:nvGrpSpPr>
          <p:cNvPr id="37893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37895" name="Picture 8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896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33"/>
          <a:stretch/>
        </p:blipFill>
        <p:spPr>
          <a:xfrm>
            <a:off x="990600" y="3360561"/>
            <a:ext cx="7086600" cy="2595151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Crystal-Field Theory</a:t>
            </a:r>
          </a:p>
        </p:txBody>
      </p:sp>
      <p:sp>
        <p:nvSpPr>
          <p:cNvPr id="3891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266700" y="1447800"/>
            <a:ext cx="8343900" cy="1828800"/>
          </a:xfrm>
        </p:spPr>
        <p:txBody>
          <a:bodyPr/>
          <a:lstStyle/>
          <a:p>
            <a:pPr eaLnBrk="1" hangingPunct="1"/>
            <a:r>
              <a:rPr lang="en-US" sz="2400" dirty="0"/>
              <a:t>The energy difference between the orbitals is called the </a:t>
            </a:r>
            <a:r>
              <a:rPr lang="en-US" sz="2400" dirty="0">
                <a:solidFill>
                  <a:srgbClr val="00B0F0"/>
                </a:solidFill>
              </a:rPr>
              <a:t>crystal-field splitting </a:t>
            </a:r>
            <a:r>
              <a:rPr lang="en-US" sz="2400" dirty="0" smtClean="0">
                <a:solidFill>
                  <a:srgbClr val="00B0F0"/>
                </a:solidFill>
              </a:rPr>
              <a:t>energy </a:t>
            </a:r>
            <a:r>
              <a:rPr lang="zh-CN" altLang="en-US" sz="2400" dirty="0" smtClean="0">
                <a:solidFill>
                  <a:srgbClr val="00B0F0"/>
                </a:solidFill>
                <a:latin typeface="Adobe 黑体 Std R" pitchFamily="34" charset="-122"/>
                <a:ea typeface="Adobe 黑体 Std R" pitchFamily="34" charset="-122"/>
              </a:rPr>
              <a:t>晶体场劈裂能</a:t>
            </a:r>
            <a:r>
              <a:rPr lang="en-US" sz="2400" dirty="0" smtClean="0"/>
              <a:t>. </a:t>
            </a:r>
            <a:r>
              <a:rPr lang="el-GR" sz="2400" dirty="0" smtClean="0">
                <a:solidFill>
                  <a:srgbClr val="FF0000"/>
                </a:solidFill>
              </a:rPr>
              <a:t>Δ</a:t>
            </a:r>
            <a:endParaRPr lang="en-US" sz="2400" dirty="0">
              <a:solidFill>
                <a:srgbClr val="FF0000"/>
              </a:solidFill>
            </a:endParaRPr>
          </a:p>
          <a:p>
            <a:pPr eaLnBrk="1" hangingPunct="1"/>
            <a:r>
              <a:rPr lang="en-US" sz="2400" dirty="0"/>
              <a:t>This energy gap between </a:t>
            </a:r>
            <a:r>
              <a:rPr lang="en-US" sz="2400" i="1" dirty="0"/>
              <a:t>d</a:t>
            </a:r>
            <a:r>
              <a:rPr lang="en-US" sz="2400" dirty="0"/>
              <a:t> orbitals corresponds to the energy emitted or absorbed as a photon.</a:t>
            </a:r>
          </a:p>
        </p:txBody>
      </p:sp>
      <p:grpSp>
        <p:nvGrpSpPr>
          <p:cNvPr id="38917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38919" name="Picture 8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8920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14"/>
          <a:stretch/>
        </p:blipFill>
        <p:spPr>
          <a:xfrm>
            <a:off x="1828800" y="3610274"/>
            <a:ext cx="5212781" cy="2347614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Crystal-Field Theory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4300" y="1219200"/>
            <a:ext cx="8953500" cy="1447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400" dirty="0"/>
              <a:t>	The </a:t>
            </a:r>
            <a:r>
              <a:rPr lang="en-US" sz="2400" b="1" dirty="0" err="1">
                <a:solidFill>
                  <a:srgbClr val="00B0F0"/>
                </a:solidFill>
              </a:rPr>
              <a:t>spectrochemical</a:t>
            </a:r>
            <a:r>
              <a:rPr lang="en-US" sz="2400" b="1" dirty="0">
                <a:solidFill>
                  <a:srgbClr val="00B0F0"/>
                </a:solidFill>
              </a:rPr>
              <a:t> series</a:t>
            </a:r>
            <a:r>
              <a:rPr lang="en-US" sz="2400" dirty="0"/>
              <a:t> </a:t>
            </a:r>
            <a:r>
              <a:rPr lang="zh-CN" altLang="en-US" sz="2400" dirty="0" smtClean="0">
                <a:latin typeface="Adobe 黑体 Std R" pitchFamily="34" charset="-122"/>
                <a:ea typeface="Adobe 黑体 Std R" pitchFamily="34" charset="-122"/>
              </a:rPr>
              <a:t>光谱化学系列</a:t>
            </a:r>
            <a:r>
              <a:rPr lang="zh-CN" altLang="en-US" sz="2400" dirty="0" smtClean="0"/>
              <a:t> </a:t>
            </a:r>
            <a:r>
              <a:rPr lang="en-US" sz="2400" dirty="0" smtClean="0"/>
              <a:t>ranks </a:t>
            </a:r>
            <a:r>
              <a:rPr lang="en-US" sz="2400" dirty="0"/>
              <a:t>ligands in order of their ability to increase the energy gap between </a:t>
            </a:r>
            <a:r>
              <a:rPr lang="en-US" sz="2400" i="1" dirty="0" smtClean="0"/>
              <a:t>d</a:t>
            </a:r>
            <a:r>
              <a:rPr lang="en-US" sz="2400" dirty="0" smtClean="0"/>
              <a:t> </a:t>
            </a:r>
            <a:r>
              <a:rPr lang="en-US" sz="2400" dirty="0"/>
              <a:t>orbitals. (This is a variation known as ligand-field theory</a:t>
            </a:r>
            <a:r>
              <a:rPr lang="en-US" sz="2400" dirty="0" smtClean="0"/>
              <a:t>. </a:t>
            </a:r>
            <a:r>
              <a:rPr lang="zh-CN" altLang="en-US" sz="2400" dirty="0" smtClean="0">
                <a:latin typeface="Adobe 黑体 Std R" pitchFamily="34" charset="-122"/>
                <a:ea typeface="Adobe 黑体 Std R" pitchFamily="34" charset="-122"/>
              </a:rPr>
              <a:t>配位场理论</a:t>
            </a:r>
            <a:r>
              <a:rPr lang="en-US" sz="2400" dirty="0" smtClean="0"/>
              <a:t>)</a:t>
            </a:r>
            <a:endParaRPr lang="en-US" sz="2400" dirty="0"/>
          </a:p>
        </p:txBody>
      </p:sp>
      <p:grpSp>
        <p:nvGrpSpPr>
          <p:cNvPr id="39941" name="Group 8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39944" name="Picture 9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9945" name="Rectangle 10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2609850"/>
            <a:ext cx="6858000" cy="61818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91"/>
          <a:stretch/>
        </p:blipFill>
        <p:spPr>
          <a:xfrm>
            <a:off x="2533650" y="3581400"/>
            <a:ext cx="3708411" cy="3059112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/>
              <a:t>Crystal-Field Theory</a:t>
            </a:r>
          </a:p>
        </p:txBody>
      </p:sp>
      <p:sp>
        <p:nvSpPr>
          <p:cNvPr id="40963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52400" y="990600"/>
            <a:ext cx="8991600" cy="2819400"/>
          </a:xfrm>
        </p:spPr>
        <p:txBody>
          <a:bodyPr/>
          <a:lstStyle/>
          <a:p>
            <a:pPr eaLnBrk="1" hangingPunct="1"/>
            <a:r>
              <a:rPr lang="en-US" sz="2400" dirty="0"/>
              <a:t>Numbers of unpaired electrons can differ depending upon the order in which orbitals are filled. </a:t>
            </a:r>
            <a:r>
              <a:rPr lang="en-US" sz="2400" u="sng" dirty="0"/>
              <a:t>Sample Exercise </a:t>
            </a:r>
            <a:r>
              <a:rPr lang="en-US" sz="2400" u="sng" dirty="0" smtClean="0"/>
              <a:t>23.7</a:t>
            </a:r>
            <a:endParaRPr lang="en-US" sz="2400" u="sng" dirty="0"/>
          </a:p>
          <a:p>
            <a:pPr eaLnBrk="1" hangingPunct="1"/>
            <a:r>
              <a:rPr lang="en-US" sz="2400" dirty="0">
                <a:solidFill>
                  <a:srgbClr val="00B0F0"/>
                </a:solidFill>
              </a:rPr>
              <a:t>Stronger ligand fields </a:t>
            </a:r>
            <a:r>
              <a:rPr lang="en-US" sz="2400" dirty="0"/>
              <a:t>result in greater splitting of orbitals; this is a </a:t>
            </a:r>
            <a:r>
              <a:rPr lang="en-US" sz="2400" dirty="0">
                <a:solidFill>
                  <a:srgbClr val="00B0F0"/>
                </a:solidFill>
              </a:rPr>
              <a:t>“high-field” but “low-spin” </a:t>
            </a:r>
            <a:r>
              <a:rPr lang="en-US" sz="2400" dirty="0"/>
              <a:t>case.</a:t>
            </a:r>
          </a:p>
          <a:p>
            <a:pPr eaLnBrk="1" hangingPunct="1"/>
            <a:r>
              <a:rPr lang="en-US" sz="2400" dirty="0">
                <a:solidFill>
                  <a:srgbClr val="00B0F0"/>
                </a:solidFill>
              </a:rPr>
              <a:t>Weaker ligand fields </a:t>
            </a:r>
            <a:r>
              <a:rPr lang="en-US" sz="2400" dirty="0"/>
              <a:t>result in lower splitting of orbitals; this is a </a:t>
            </a:r>
            <a:r>
              <a:rPr lang="en-US" sz="2400" dirty="0">
                <a:solidFill>
                  <a:srgbClr val="00B0F0"/>
                </a:solidFill>
              </a:rPr>
              <a:t>“low-field” but “high-spin”</a:t>
            </a:r>
            <a:r>
              <a:rPr lang="en-US" sz="2400" dirty="0"/>
              <a:t> case</a:t>
            </a:r>
            <a:r>
              <a:rPr lang="en-US" sz="2400" dirty="0" smtClean="0"/>
              <a:t>. </a:t>
            </a:r>
            <a:endParaRPr lang="en-US" sz="2400" dirty="0"/>
          </a:p>
        </p:txBody>
      </p:sp>
      <p:grpSp>
        <p:nvGrpSpPr>
          <p:cNvPr id="40965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40968" name="Picture 8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0969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29"/>
          <a:stretch/>
        </p:blipFill>
        <p:spPr>
          <a:xfrm>
            <a:off x="1066800" y="3581400"/>
            <a:ext cx="4572000" cy="28505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68"/>
          <a:stretch/>
        </p:blipFill>
        <p:spPr>
          <a:xfrm>
            <a:off x="6186431" y="3124200"/>
            <a:ext cx="2347969" cy="3506222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/>
              <a:t>Crystal-Field Theory</a:t>
            </a:r>
          </a:p>
        </p:txBody>
      </p:sp>
      <p:sp>
        <p:nvSpPr>
          <p:cNvPr id="4198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52400" y="1219200"/>
            <a:ext cx="8801100" cy="1828800"/>
          </a:xfrm>
        </p:spPr>
        <p:txBody>
          <a:bodyPr/>
          <a:lstStyle/>
          <a:p>
            <a:pPr eaLnBrk="1" hangingPunct="1"/>
            <a:r>
              <a:rPr lang="en-US" sz="2400" dirty="0"/>
              <a:t>Octahedral complexes differ from </a:t>
            </a:r>
            <a:r>
              <a:rPr lang="en-US" sz="2400" dirty="0" smtClean="0">
                <a:solidFill>
                  <a:srgbClr val="0070C0"/>
                </a:solidFill>
              </a:rPr>
              <a:t>tetrahedral</a:t>
            </a:r>
            <a:r>
              <a:rPr lang="en-US" sz="2400" dirty="0" smtClean="0">
                <a:solidFill>
                  <a:srgbClr val="00B0F0"/>
                </a:solidFill>
              </a:rPr>
              <a:t> </a:t>
            </a:r>
            <a:r>
              <a:rPr lang="en-US" sz="2400" dirty="0" smtClean="0"/>
              <a:t>(left) </a:t>
            </a:r>
            <a:r>
              <a:rPr lang="en-US" sz="2400" dirty="0"/>
              <a:t>and </a:t>
            </a:r>
            <a:r>
              <a:rPr lang="en-US" sz="2400" dirty="0">
                <a:solidFill>
                  <a:srgbClr val="0070C0"/>
                </a:solidFill>
              </a:rPr>
              <a:t>square planar </a:t>
            </a:r>
            <a:r>
              <a:rPr lang="en-US" sz="2400" dirty="0" smtClean="0"/>
              <a:t>(right) complexes </a:t>
            </a:r>
            <a:r>
              <a:rPr lang="en-US" sz="2400" dirty="0"/>
              <a:t>because the ligands approach directly on the </a:t>
            </a:r>
            <a:r>
              <a:rPr lang="en-US" sz="2400" i="1" dirty="0"/>
              <a:t>x-</a:t>
            </a:r>
            <a:r>
              <a:rPr lang="en-US" sz="2400" dirty="0"/>
              <a:t>, </a:t>
            </a:r>
            <a:r>
              <a:rPr lang="en-US" sz="2400" i="1" dirty="0"/>
              <a:t>y-</a:t>
            </a:r>
            <a:r>
              <a:rPr lang="en-US" sz="2400" dirty="0"/>
              <a:t>, and </a:t>
            </a:r>
            <a:r>
              <a:rPr lang="en-US" sz="2400" i="1" dirty="0"/>
              <a:t>z-</a:t>
            </a:r>
            <a:r>
              <a:rPr lang="en-US" sz="2400" dirty="0"/>
              <a:t>axes only for octahedral complexes. (Last slide was octahedral.)</a:t>
            </a:r>
          </a:p>
        </p:txBody>
      </p:sp>
      <p:grpSp>
        <p:nvGrpSpPr>
          <p:cNvPr id="41989" name="Group 7"/>
          <p:cNvGrpSpPr>
            <a:grpSpLocks/>
          </p:cNvGrpSpPr>
          <p:nvPr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41992" name="Picture 8" descr="Triangle--Gray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1993" name="Rectangle 9"/>
            <p:cNvSpPr>
              <a:spLocks noChangeArrowheads="1"/>
            </p:cNvSpPr>
            <p:nvPr/>
          </p:nvSpPr>
          <p:spPr bwMode="auto">
            <a:xfrm>
              <a:off x="5064" y="3735"/>
              <a:ext cx="57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latin typeface="Times New Roman" charset="0"/>
                </a:rPr>
                <a:t>Transition</a:t>
              </a:r>
            </a:p>
            <a:p>
              <a:pPr algn="ctr"/>
              <a:r>
                <a:rPr lang="en-US" sz="1400">
                  <a:latin typeface="Times New Roman" charset="0"/>
                </a:rPr>
                <a:t>Metals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78"/>
          <a:stretch/>
        </p:blipFill>
        <p:spPr>
          <a:xfrm>
            <a:off x="152400" y="3227454"/>
            <a:ext cx="6781800" cy="279234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46"/>
          <a:stretch/>
        </p:blipFill>
        <p:spPr>
          <a:xfrm>
            <a:off x="7010400" y="2695906"/>
            <a:ext cx="2004693" cy="3857294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Transition metals differ from main group metals because transition metals</a:t>
            </a: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7315200" cy="27432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have very low densities.</a:t>
            </a:r>
          </a:p>
          <a:p>
            <a:pPr marL="514350" indent="-514350" algn="l" eaLnBrk="1" hangingPunct="1">
              <a:buFont typeface="Arial" charset="0"/>
              <a:buAutoNum type="alphaLcPeriod" startAt="2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are all the same color.</a:t>
            </a:r>
          </a:p>
          <a:p>
            <a:pPr marL="514350" indent="-514350" algn="l" eaLnBrk="1" hangingPunct="1">
              <a:buFont typeface="Arial" charset="0"/>
              <a:buAutoNum type="alphaLcPeriod" startAt="3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do not react with nonmetals.</a:t>
            </a:r>
          </a:p>
          <a:p>
            <a:pPr marL="514350" indent="-514350" algn="l" eaLnBrk="1" hangingPunct="1"/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d</a:t>
            </a:r>
            <a:r>
              <a:rPr lang="en-US" smtClean="0">
                <a:solidFill>
                  <a:srgbClr val="0D0D0D"/>
                </a:solidFill>
                <a:latin typeface="Arial" charset="0"/>
                <a:cs typeface="Arial" charset="0"/>
              </a:rPr>
              <a:t>.	can </a:t>
            </a: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have multiple oxidation states.</a:t>
            </a:r>
          </a:p>
        </p:txBody>
      </p:sp>
    </p:spTree>
    <p:extLst>
      <p:ext uri="{BB962C8B-B14F-4D97-AF65-F5344CB8AC3E}">
        <p14:creationId xmlns:p14="http://schemas.microsoft.com/office/powerpoint/2010/main" val="2598894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Transition metals differ from main group metals because transition metals</a:t>
            </a:r>
          </a:p>
        </p:txBody>
      </p:sp>
      <p:sp>
        <p:nvSpPr>
          <p:cNvPr id="4099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7467600" cy="27432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have very low densities.</a:t>
            </a:r>
          </a:p>
          <a:p>
            <a:pPr marL="514350" indent="-514350" algn="l" eaLnBrk="1" hangingPunct="1">
              <a:buFont typeface="Arial" charset="0"/>
              <a:buAutoNum type="alphaLcPeriod" startAt="2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are all the same color.</a:t>
            </a:r>
          </a:p>
          <a:p>
            <a:pPr marL="514350" indent="-514350" algn="l" eaLnBrk="1" hangingPunct="1">
              <a:buFont typeface="Arial" charset="0"/>
              <a:buAutoNum type="alphaLcPeriod" startAt="3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do not react with nonmetals.</a:t>
            </a:r>
          </a:p>
          <a:p>
            <a:pPr marL="514350" indent="-514350" algn="l" eaLnBrk="1" hangingPunct="1"/>
            <a:r>
              <a:rPr lang="en-US" b="1">
                <a:solidFill>
                  <a:schemeClr val="tx1"/>
                </a:solidFill>
                <a:latin typeface="Arial" charset="0"/>
                <a:cs typeface="Arial" charset="0"/>
              </a:rPr>
              <a:t>d</a:t>
            </a:r>
            <a:r>
              <a:rPr lang="en-US" b="1" smtClean="0">
                <a:solidFill>
                  <a:schemeClr val="tx1"/>
                </a:solidFill>
                <a:latin typeface="Arial" charset="0"/>
                <a:cs typeface="Arial" charset="0"/>
              </a:rPr>
              <a:t>.	can </a:t>
            </a:r>
            <a:r>
              <a:rPr lang="en-US" b="1">
                <a:solidFill>
                  <a:schemeClr val="tx1"/>
                </a:solidFill>
                <a:latin typeface="Arial" charset="0"/>
                <a:cs typeface="Arial" charset="0"/>
              </a:rPr>
              <a:t>have multiple oxidation states.</a:t>
            </a:r>
          </a:p>
        </p:txBody>
      </p:sp>
    </p:spTree>
    <p:extLst>
      <p:ext uri="{BB962C8B-B14F-4D97-AF65-F5344CB8AC3E}">
        <p14:creationId xmlns:p14="http://schemas.microsoft.com/office/powerpoint/2010/main" val="1020698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685800" y="304800"/>
            <a:ext cx="7772400" cy="28384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The radii of Period 5 and 6 elements in the same group (except for 3B) are virtually the same because of the</a:t>
            </a:r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>
          <a:xfrm>
            <a:off x="685800" y="3200400"/>
            <a:ext cx="7772400" cy="33528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difficulty of making accurate measurements.</a:t>
            </a:r>
          </a:p>
          <a:p>
            <a:pPr marL="514350" indent="-514350" algn="l" eaLnBrk="1" hangingPunct="1">
              <a:buFont typeface="Arial" charset="0"/>
              <a:buAutoNum type="alphaLcPeriod" startAt="2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large number of neutrons in each nucleus.</a:t>
            </a:r>
          </a:p>
          <a:p>
            <a:pPr marL="514350" indent="-514350" algn="l" eaLnBrk="1" hangingPunct="1">
              <a:buFont typeface="Arial" charset="0"/>
              <a:buAutoNum type="alphaLcPeriod" startAt="3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lanthanide contraction.</a:t>
            </a:r>
          </a:p>
          <a:p>
            <a:pPr marL="514350" indent="-514350" algn="l" eaLnBrk="1" hangingPunct="1"/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d</a:t>
            </a:r>
            <a:r>
              <a:rPr lang="en-US" smtClean="0">
                <a:solidFill>
                  <a:srgbClr val="0D0D0D"/>
                </a:solidFill>
                <a:latin typeface="Arial" charset="0"/>
                <a:cs typeface="Arial" charset="0"/>
              </a:rPr>
              <a:t>.	low </a:t>
            </a: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oxidation states observed.</a:t>
            </a:r>
          </a:p>
        </p:txBody>
      </p:sp>
    </p:spTree>
    <p:extLst>
      <p:ext uri="{BB962C8B-B14F-4D97-AF65-F5344CB8AC3E}">
        <p14:creationId xmlns:p14="http://schemas.microsoft.com/office/powerpoint/2010/main" val="2753465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ctrTitle"/>
          </p:nvPr>
        </p:nvSpPr>
        <p:spPr>
          <a:xfrm>
            <a:off x="685800" y="304800"/>
            <a:ext cx="7772400" cy="28384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The radii of Period 5 and 6 elements in the same group (except for 3B) are virtually the same because of the</a:t>
            </a:r>
          </a:p>
        </p:txBody>
      </p:sp>
      <p:sp>
        <p:nvSpPr>
          <p:cNvPr id="6147" name="Subtitle 2"/>
          <p:cNvSpPr>
            <a:spLocks noGrp="1"/>
          </p:cNvSpPr>
          <p:nvPr>
            <p:ph type="subTitle" idx="1"/>
          </p:nvPr>
        </p:nvSpPr>
        <p:spPr>
          <a:xfrm>
            <a:off x="685800" y="3200400"/>
            <a:ext cx="7772400" cy="33528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difficulty of making accurate measurements.</a:t>
            </a:r>
          </a:p>
          <a:p>
            <a:pPr marL="514350" indent="-514350" algn="l" eaLnBrk="1" hangingPunct="1">
              <a:buFont typeface="Arial" charset="0"/>
              <a:buAutoNum type="alphaLcPeriod" startAt="2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large number of neutrons in each nucleus.</a:t>
            </a:r>
          </a:p>
          <a:p>
            <a:pPr marL="514350" indent="-514350" algn="l" eaLnBrk="1" hangingPunct="1">
              <a:buFont typeface="Arial" charset="0"/>
              <a:buAutoNum type="alphaLcPeriod" startAt="3"/>
            </a:pPr>
            <a:r>
              <a:rPr lang="en-US" b="1">
                <a:solidFill>
                  <a:schemeClr val="tx1"/>
                </a:solidFill>
                <a:latin typeface="Arial" charset="0"/>
                <a:cs typeface="Arial" charset="0"/>
              </a:rPr>
              <a:t>lanthanide contraction.</a:t>
            </a:r>
          </a:p>
          <a:p>
            <a:pPr marL="514350" indent="-514350" algn="l" eaLnBrk="1" hangingPunct="1"/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d</a:t>
            </a:r>
            <a:r>
              <a:rPr lang="en-US" smtClean="0">
                <a:solidFill>
                  <a:srgbClr val="0D0D0D"/>
                </a:solidFill>
                <a:latin typeface="Arial" charset="0"/>
                <a:cs typeface="Arial" charset="0"/>
              </a:rPr>
              <a:t>.	low </a:t>
            </a: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oxidation states observed.</a:t>
            </a:r>
          </a:p>
        </p:txBody>
      </p:sp>
    </p:spTree>
    <p:extLst>
      <p:ext uri="{BB962C8B-B14F-4D97-AF65-F5344CB8AC3E}">
        <p14:creationId xmlns:p14="http://schemas.microsoft.com/office/powerpoint/2010/main" val="3529083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8001000" cy="342900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Because transition metal atoms lose their outer </a:t>
            </a:r>
            <a:r>
              <a:rPr lang="en-US" i="1">
                <a:latin typeface="Arial" charset="0"/>
                <a:cs typeface="Arial" charset="0"/>
              </a:rPr>
              <a:t>s</a:t>
            </a:r>
            <a:r>
              <a:rPr lang="en-US">
                <a:latin typeface="Arial" charset="0"/>
                <a:cs typeface="Arial" charset="0"/>
              </a:rPr>
              <a:t> electrons first, almost all of the ions exhibit the ___ oxidation state.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667000"/>
          </a:xfrm>
        </p:spPr>
        <p:txBody>
          <a:bodyPr rtlCol="0">
            <a:normAutofit/>
          </a:bodyPr>
          <a:lstStyle/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0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+1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+2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+3</a:t>
            </a:r>
          </a:p>
        </p:txBody>
      </p:sp>
    </p:spTree>
    <p:extLst>
      <p:ext uri="{BB962C8B-B14F-4D97-AF65-F5344CB8AC3E}">
        <p14:creationId xmlns:p14="http://schemas.microsoft.com/office/powerpoint/2010/main" val="938329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8077200" cy="342900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Because transition metal atoms lose their outer </a:t>
            </a:r>
            <a:r>
              <a:rPr lang="en-US" i="1">
                <a:latin typeface="Arial" charset="0"/>
                <a:cs typeface="Arial" charset="0"/>
              </a:rPr>
              <a:t>s</a:t>
            </a:r>
            <a:r>
              <a:rPr lang="en-US">
                <a:latin typeface="Arial" charset="0"/>
                <a:cs typeface="Arial" charset="0"/>
              </a:rPr>
              <a:t> electrons first, almost all of the ions exhibit the ___ oxidation state.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667000"/>
          </a:xfrm>
        </p:spPr>
        <p:txBody>
          <a:bodyPr rtlCol="0">
            <a:normAutofit/>
          </a:bodyPr>
          <a:lstStyle/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0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+1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/>
              <a:defRPr/>
            </a:pPr>
            <a:r>
              <a:rPr lang="en-US" b="1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+2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+3</a:t>
            </a:r>
          </a:p>
        </p:txBody>
      </p:sp>
    </p:spTree>
    <p:extLst>
      <p:ext uri="{BB962C8B-B14F-4D97-AF65-F5344CB8AC3E}">
        <p14:creationId xmlns:p14="http://schemas.microsoft.com/office/powerpoint/2010/main" val="1000959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_______ is a property of substances in which all of the electrons are paired.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667000"/>
          </a:xfrm>
        </p:spPr>
        <p:txBody>
          <a:bodyPr rtlCol="0">
            <a:normAutofit/>
          </a:bodyPr>
          <a:lstStyle/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Diamagnetism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 startAt="2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Paramagnetism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 startAt="3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Ferromagnetism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d.	Antiferromagnetism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293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_______ is a property of substances in which all of the electrons are paired.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667000"/>
          </a:xfrm>
        </p:spPr>
        <p:txBody>
          <a:bodyPr rtlCol="0">
            <a:normAutofit/>
          </a:bodyPr>
          <a:lstStyle/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/>
              <a:defRPr/>
            </a:pPr>
            <a:r>
              <a:rPr lang="en-US" b="1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Diamagnetism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 startAt="2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Paramagnetism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 startAt="3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Ferromagnetism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d.	Antiferromagnetism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080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ctrTitle"/>
          </p:nvPr>
        </p:nvSpPr>
        <p:spPr>
          <a:xfrm>
            <a:off x="685800" y="609600"/>
            <a:ext cx="7772400" cy="1470025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All ligands have</a:t>
            </a:r>
          </a:p>
        </p:txBody>
      </p:sp>
      <p:sp>
        <p:nvSpPr>
          <p:cNvPr id="11267" name="Subtitle 2"/>
          <p:cNvSpPr>
            <a:spLocks noGrp="1"/>
          </p:cNvSpPr>
          <p:nvPr>
            <p:ph type="subTitle" idx="1"/>
          </p:nvPr>
        </p:nvSpPr>
        <p:spPr>
          <a:xfrm>
            <a:off x="1371600" y="2590800"/>
            <a:ext cx="6400800" cy="30480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negative charges.</a:t>
            </a:r>
          </a:p>
          <a:p>
            <a:pPr marL="514350" indent="-514350" algn="l" eaLnBrk="1" hangingPunct="1">
              <a:buFont typeface="Arial" charset="0"/>
              <a:buAutoNum type="alphaLcPeriod" startAt="2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positive charges.</a:t>
            </a:r>
          </a:p>
          <a:p>
            <a:pPr marL="514350" indent="-514350" algn="l" eaLnBrk="1" hangingPunct="1">
              <a:buFont typeface="Arial" charset="0"/>
              <a:buAutoNum type="alphaLcPeriod" startAt="3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at least two atoms.</a:t>
            </a:r>
          </a:p>
          <a:p>
            <a:pPr marL="514350" indent="-514350" algn="l" eaLnBrk="1" hangingPunct="1"/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d</a:t>
            </a:r>
            <a:r>
              <a:rPr lang="en-US" smtClean="0">
                <a:solidFill>
                  <a:srgbClr val="0D0D0D"/>
                </a:solidFill>
                <a:latin typeface="Arial" charset="0"/>
                <a:cs typeface="Arial" charset="0"/>
              </a:rPr>
              <a:t>.	at </a:t>
            </a: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least one lone pair.</a:t>
            </a:r>
          </a:p>
        </p:txBody>
      </p:sp>
    </p:spTree>
    <p:extLst>
      <p:ext uri="{BB962C8B-B14F-4D97-AF65-F5344CB8AC3E}">
        <p14:creationId xmlns:p14="http://schemas.microsoft.com/office/powerpoint/2010/main" val="2133903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ctrTitle"/>
          </p:nvPr>
        </p:nvSpPr>
        <p:spPr>
          <a:xfrm>
            <a:off x="685800" y="609600"/>
            <a:ext cx="7772400" cy="1470025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All ligands have</a:t>
            </a:r>
          </a:p>
        </p:txBody>
      </p:sp>
      <p:sp>
        <p:nvSpPr>
          <p:cNvPr id="12291" name="Subtitle 2"/>
          <p:cNvSpPr>
            <a:spLocks noGrp="1"/>
          </p:cNvSpPr>
          <p:nvPr>
            <p:ph type="subTitle" idx="1"/>
          </p:nvPr>
        </p:nvSpPr>
        <p:spPr>
          <a:xfrm>
            <a:off x="1371600" y="2590800"/>
            <a:ext cx="6400800" cy="30480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negative charges.</a:t>
            </a:r>
          </a:p>
          <a:p>
            <a:pPr marL="514350" indent="-514350" algn="l" eaLnBrk="1" hangingPunct="1">
              <a:buFont typeface="Arial" charset="0"/>
              <a:buAutoNum type="alphaLcPeriod" startAt="2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positive charges.</a:t>
            </a:r>
          </a:p>
          <a:p>
            <a:pPr marL="514350" indent="-514350" algn="l" eaLnBrk="1" hangingPunct="1">
              <a:buFont typeface="Arial" charset="0"/>
              <a:buAutoNum type="alphaLcPeriod" startAt="3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at least two atoms.</a:t>
            </a:r>
          </a:p>
          <a:p>
            <a:pPr marL="514350" indent="-514350" algn="l" eaLnBrk="1" hangingPunct="1"/>
            <a:r>
              <a:rPr lang="en-US" b="1">
                <a:solidFill>
                  <a:schemeClr val="tx1"/>
                </a:solidFill>
                <a:latin typeface="Arial" charset="0"/>
                <a:cs typeface="Arial" charset="0"/>
              </a:rPr>
              <a:t>d</a:t>
            </a:r>
            <a:r>
              <a:rPr lang="en-US" b="1" smtClean="0">
                <a:solidFill>
                  <a:schemeClr val="tx1"/>
                </a:solidFill>
                <a:latin typeface="Arial" charset="0"/>
                <a:cs typeface="Arial" charset="0"/>
              </a:rPr>
              <a:t>.	at </a:t>
            </a:r>
            <a:r>
              <a:rPr lang="en-US" b="1">
                <a:solidFill>
                  <a:schemeClr val="tx1"/>
                </a:solidFill>
                <a:latin typeface="Arial" charset="0"/>
                <a:cs typeface="Arial" charset="0"/>
              </a:rPr>
              <a:t>least one lone pair.</a:t>
            </a:r>
          </a:p>
        </p:txBody>
      </p:sp>
    </p:spTree>
    <p:extLst>
      <p:ext uri="{BB962C8B-B14F-4D97-AF65-F5344CB8AC3E}">
        <p14:creationId xmlns:p14="http://schemas.microsoft.com/office/powerpoint/2010/main" val="356797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29146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The number of atoms bonded to a transition metal atom is called the _______ number of the metal atom.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667000"/>
          </a:xfrm>
        </p:spPr>
        <p:txBody>
          <a:bodyPr rtlCol="0">
            <a:normAutofit/>
          </a:bodyPr>
          <a:lstStyle/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group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 startAt="2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oxidation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 startAt="3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coordination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d.	atomic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212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29146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The number of atoms bonded to a transition metal atom is called the _______ number of the metal atom.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667000"/>
          </a:xfrm>
        </p:spPr>
        <p:txBody>
          <a:bodyPr rtlCol="0">
            <a:normAutofit/>
          </a:bodyPr>
          <a:lstStyle/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group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 startAt="2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oxidation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 startAt="3"/>
              <a:defRPr/>
            </a:pPr>
            <a:r>
              <a:rPr lang="en-US" b="1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coordination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d.	atomic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62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A transition metal atom and the ligands attached to it constitute the coordination</a:t>
            </a:r>
          </a:p>
        </p:txBody>
      </p:sp>
      <p:sp>
        <p:nvSpPr>
          <p:cNvPr id="1536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6670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circle.</a:t>
            </a:r>
          </a:p>
          <a:p>
            <a:pPr marL="514350" indent="-514350" algn="l" eaLnBrk="1" hangingPunct="1">
              <a:buFont typeface="Arial" charset="0"/>
              <a:buAutoNum type="alphaLcPeriod" startAt="2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square.</a:t>
            </a:r>
          </a:p>
          <a:p>
            <a:pPr marL="514350" indent="-514350" algn="l" eaLnBrk="1" hangingPunct="1">
              <a:buFont typeface="Arial" charset="0"/>
              <a:buAutoNum type="alphaLcPeriod" startAt="3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sphere.</a:t>
            </a:r>
          </a:p>
          <a:p>
            <a:pPr marL="514350" indent="-514350" algn="l" eaLnBrk="1" hangingPunct="1"/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d</a:t>
            </a:r>
            <a:r>
              <a:rPr lang="en-US" smtClean="0">
                <a:solidFill>
                  <a:srgbClr val="0D0D0D"/>
                </a:solidFill>
                <a:latin typeface="Arial" charset="0"/>
                <a:cs typeface="Arial" charset="0"/>
              </a:rPr>
              <a:t>.	trapezoid</a:t>
            </a: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994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A transition metal atom and the ligands attached to it constitute the coordination</a:t>
            </a:r>
          </a:p>
        </p:txBody>
      </p:sp>
      <p:sp>
        <p:nvSpPr>
          <p:cNvPr id="1638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6670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circle.</a:t>
            </a:r>
          </a:p>
          <a:p>
            <a:pPr marL="514350" indent="-514350" algn="l" eaLnBrk="1" hangingPunct="1">
              <a:buFont typeface="Arial" charset="0"/>
              <a:buAutoNum type="alphaLcPeriod" startAt="2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square.</a:t>
            </a:r>
          </a:p>
          <a:p>
            <a:pPr marL="514350" indent="-514350" algn="l" eaLnBrk="1" hangingPunct="1">
              <a:buFont typeface="Arial" charset="0"/>
              <a:buAutoNum type="alphaLcPeriod" startAt="3"/>
            </a:pPr>
            <a:r>
              <a:rPr lang="en-US" b="1">
                <a:solidFill>
                  <a:schemeClr val="tx1"/>
                </a:solidFill>
                <a:latin typeface="Arial" charset="0"/>
                <a:cs typeface="Arial" charset="0"/>
              </a:rPr>
              <a:t>sphere.</a:t>
            </a:r>
          </a:p>
          <a:p>
            <a:pPr marL="514350" indent="-514350" algn="l" eaLnBrk="1" hangingPunct="1"/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d</a:t>
            </a:r>
            <a:r>
              <a:rPr lang="en-US" smtClean="0">
                <a:solidFill>
                  <a:srgbClr val="0D0D0D"/>
                </a:solidFill>
                <a:latin typeface="Arial" charset="0"/>
                <a:cs typeface="Arial" charset="0"/>
              </a:rPr>
              <a:t>.	trapezoid</a:t>
            </a: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9424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ctrTitle"/>
          </p:nvPr>
        </p:nvSpPr>
        <p:spPr>
          <a:xfrm>
            <a:off x="685800" y="533400"/>
            <a:ext cx="7772400" cy="3048000"/>
          </a:xfrm>
        </p:spPr>
        <p:txBody>
          <a:bodyPr/>
          <a:lstStyle/>
          <a:p>
            <a:pPr algn="l" eaLnBrk="1" hangingPunct="1"/>
            <a:r>
              <a:rPr lang="en-US" dirty="0">
                <a:latin typeface="Arial" charset="0"/>
                <a:cs typeface="Arial" charset="0"/>
              </a:rPr>
              <a:t>In the coordination compound [Pt(NH</a:t>
            </a:r>
            <a:r>
              <a:rPr lang="en-US" baseline="-25000" dirty="0">
                <a:latin typeface="Arial" charset="0"/>
                <a:cs typeface="Arial" charset="0"/>
              </a:rPr>
              <a:t>3</a:t>
            </a:r>
            <a:r>
              <a:rPr lang="en-US" dirty="0">
                <a:latin typeface="Arial" charset="0"/>
                <a:cs typeface="Arial" charset="0"/>
              </a:rPr>
              <a:t>)</a:t>
            </a:r>
            <a:r>
              <a:rPr lang="en-US" baseline="-25000" dirty="0">
                <a:latin typeface="Arial" charset="0"/>
                <a:cs typeface="Arial" charset="0"/>
              </a:rPr>
              <a:t>2</a:t>
            </a:r>
            <a:r>
              <a:rPr lang="en-US" dirty="0">
                <a:latin typeface="Arial" charset="0"/>
                <a:cs typeface="Arial" charset="0"/>
              </a:rPr>
              <a:t>Cl</a:t>
            </a:r>
            <a:r>
              <a:rPr lang="en-US" baseline="-25000" dirty="0">
                <a:latin typeface="Arial" charset="0"/>
                <a:cs typeface="Arial" charset="0"/>
              </a:rPr>
              <a:t>2</a:t>
            </a:r>
            <a:r>
              <a:rPr lang="en-US" dirty="0">
                <a:latin typeface="Arial" charset="0"/>
                <a:cs typeface="Arial" charset="0"/>
              </a:rPr>
              <a:t>], </a:t>
            </a:r>
            <a:r>
              <a:rPr lang="en-US" dirty="0" smtClean="0">
                <a:latin typeface="Arial" charset="0"/>
                <a:cs typeface="Arial" charset="0"/>
              </a:rPr>
              <a:t>the </a:t>
            </a:r>
            <a:r>
              <a:rPr lang="en-US" dirty="0">
                <a:latin typeface="Arial" charset="0"/>
                <a:cs typeface="Arial" charset="0"/>
              </a:rPr>
              <a:t>oxidation number of Pt is ___, and its coordination number is ___.</a:t>
            </a:r>
          </a:p>
        </p:txBody>
      </p:sp>
      <p:sp>
        <p:nvSpPr>
          <p:cNvPr id="17411" name="Subtitle 2"/>
          <p:cNvSpPr>
            <a:spLocks noGrp="1"/>
          </p:cNvSpPr>
          <p:nvPr>
            <p:ph type="subTitle" idx="1"/>
          </p:nvPr>
        </p:nvSpPr>
        <p:spPr>
          <a:xfrm>
            <a:off x="1371600" y="3657600"/>
            <a:ext cx="6400800" cy="24384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+4, 4</a:t>
            </a:r>
          </a:p>
          <a:p>
            <a:pPr marL="514350" indent="-514350" algn="l" eaLnBrk="1" hangingPunct="1">
              <a:buFont typeface="Arial" charset="0"/>
              <a:buAutoNum type="alphaLcPeriod" startAt="2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+2, 4</a:t>
            </a:r>
          </a:p>
          <a:p>
            <a:pPr marL="514350" indent="-514350" algn="l" eaLnBrk="1" hangingPunct="1">
              <a:buFont typeface="Arial" charset="0"/>
              <a:buAutoNum type="alphaLcPeriod" startAt="3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+4, 2</a:t>
            </a:r>
          </a:p>
          <a:p>
            <a:pPr marL="514350" indent="-514350" algn="l" eaLnBrk="1" hangingPunct="1"/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d</a:t>
            </a:r>
            <a:r>
              <a:rPr lang="en-US" smtClean="0">
                <a:solidFill>
                  <a:srgbClr val="0D0D0D"/>
                </a:solidFill>
                <a:latin typeface="Arial" charset="0"/>
                <a:cs typeface="Arial" charset="0"/>
              </a:rPr>
              <a:t>.	+</a:t>
            </a: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2, 2</a:t>
            </a:r>
          </a:p>
        </p:txBody>
      </p:sp>
    </p:spTree>
    <p:extLst>
      <p:ext uri="{BB962C8B-B14F-4D97-AF65-F5344CB8AC3E}">
        <p14:creationId xmlns:p14="http://schemas.microsoft.com/office/powerpoint/2010/main" val="1262336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ctrTitle"/>
          </p:nvPr>
        </p:nvSpPr>
        <p:spPr>
          <a:xfrm>
            <a:off x="685800" y="533400"/>
            <a:ext cx="7772400" cy="3048000"/>
          </a:xfrm>
        </p:spPr>
        <p:txBody>
          <a:bodyPr/>
          <a:lstStyle/>
          <a:p>
            <a:pPr algn="l" eaLnBrk="1" hangingPunct="1"/>
            <a:r>
              <a:rPr lang="en-US" dirty="0">
                <a:latin typeface="Arial" charset="0"/>
                <a:cs typeface="Arial" charset="0"/>
              </a:rPr>
              <a:t>In the coordination compound [Pt(NH</a:t>
            </a:r>
            <a:r>
              <a:rPr lang="en-US" baseline="-25000" dirty="0">
                <a:latin typeface="Arial" charset="0"/>
                <a:cs typeface="Arial" charset="0"/>
              </a:rPr>
              <a:t>3</a:t>
            </a:r>
            <a:r>
              <a:rPr lang="en-US" dirty="0">
                <a:latin typeface="Arial" charset="0"/>
                <a:cs typeface="Arial" charset="0"/>
              </a:rPr>
              <a:t>)</a:t>
            </a:r>
            <a:r>
              <a:rPr lang="en-US" baseline="-25000" dirty="0">
                <a:latin typeface="Arial" charset="0"/>
                <a:cs typeface="Arial" charset="0"/>
              </a:rPr>
              <a:t>2</a:t>
            </a:r>
            <a:r>
              <a:rPr lang="en-US" dirty="0">
                <a:latin typeface="Arial" charset="0"/>
                <a:cs typeface="Arial" charset="0"/>
              </a:rPr>
              <a:t>Cl</a:t>
            </a:r>
            <a:r>
              <a:rPr lang="en-US" baseline="-25000" dirty="0">
                <a:latin typeface="Arial" charset="0"/>
                <a:cs typeface="Arial" charset="0"/>
              </a:rPr>
              <a:t>2</a:t>
            </a:r>
            <a:r>
              <a:rPr lang="en-US" dirty="0">
                <a:latin typeface="Arial" charset="0"/>
                <a:cs typeface="Arial" charset="0"/>
              </a:rPr>
              <a:t>], </a:t>
            </a:r>
            <a:r>
              <a:rPr lang="en-US" dirty="0" smtClean="0">
                <a:latin typeface="Arial" charset="0"/>
                <a:cs typeface="Arial" charset="0"/>
              </a:rPr>
              <a:t>the </a:t>
            </a:r>
            <a:r>
              <a:rPr lang="en-US" dirty="0">
                <a:latin typeface="Arial" charset="0"/>
                <a:cs typeface="Arial" charset="0"/>
              </a:rPr>
              <a:t>oxidation number of Pt is ___, and its coordination number is ___.</a:t>
            </a:r>
          </a:p>
        </p:txBody>
      </p:sp>
      <p:sp>
        <p:nvSpPr>
          <p:cNvPr id="18435" name="Subtitle 2"/>
          <p:cNvSpPr>
            <a:spLocks noGrp="1"/>
          </p:cNvSpPr>
          <p:nvPr>
            <p:ph type="subTitle" idx="1"/>
          </p:nvPr>
        </p:nvSpPr>
        <p:spPr>
          <a:xfrm>
            <a:off x="1371600" y="3657600"/>
            <a:ext cx="6400800" cy="24384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+4, 4</a:t>
            </a:r>
          </a:p>
          <a:p>
            <a:pPr marL="514350" indent="-514350" algn="l" eaLnBrk="1" hangingPunct="1">
              <a:buFont typeface="Arial" charset="0"/>
              <a:buAutoNum type="alphaLcPeriod" startAt="2"/>
            </a:pPr>
            <a:r>
              <a:rPr lang="en-US" b="1">
                <a:solidFill>
                  <a:schemeClr val="tx1"/>
                </a:solidFill>
                <a:latin typeface="Arial" charset="0"/>
                <a:cs typeface="Arial" charset="0"/>
              </a:rPr>
              <a:t>+2, 4</a:t>
            </a:r>
          </a:p>
          <a:p>
            <a:pPr marL="514350" indent="-514350" algn="l" eaLnBrk="1" hangingPunct="1">
              <a:buFont typeface="Arial" charset="0"/>
              <a:buAutoNum type="alphaLcPeriod" startAt="3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+4, 2</a:t>
            </a:r>
          </a:p>
          <a:p>
            <a:pPr marL="514350" indent="-514350" algn="l" eaLnBrk="1" hangingPunct="1"/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d</a:t>
            </a:r>
            <a:r>
              <a:rPr lang="en-US" smtClean="0">
                <a:solidFill>
                  <a:srgbClr val="0D0D0D"/>
                </a:solidFill>
                <a:latin typeface="Arial" charset="0"/>
                <a:cs typeface="Arial" charset="0"/>
              </a:rPr>
              <a:t>.	+</a:t>
            </a: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2, 2</a:t>
            </a:r>
          </a:p>
        </p:txBody>
      </p:sp>
    </p:spTree>
    <p:extLst>
      <p:ext uri="{BB962C8B-B14F-4D97-AF65-F5344CB8AC3E}">
        <p14:creationId xmlns:p14="http://schemas.microsoft.com/office/powerpoint/2010/main" val="38895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ctrTitle"/>
          </p:nvPr>
        </p:nvSpPr>
        <p:spPr>
          <a:xfrm>
            <a:off x="685800" y="609600"/>
            <a:ext cx="7772400" cy="1470025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Ligands are</a:t>
            </a:r>
          </a:p>
        </p:txBody>
      </p:sp>
      <p:sp>
        <p:nvSpPr>
          <p:cNvPr id="19459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0"/>
            <a:ext cx="6400800" cy="29718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Lewis acids.</a:t>
            </a:r>
          </a:p>
          <a:p>
            <a:pPr marL="514350" indent="-514350" algn="l" eaLnBrk="1" hangingPunct="1">
              <a:buFont typeface="Arial" charset="0"/>
              <a:buAutoNum type="alphaLcPeriod" startAt="2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Lewis bases.</a:t>
            </a:r>
          </a:p>
          <a:p>
            <a:pPr marL="514350" indent="-514350" algn="l" eaLnBrk="1" hangingPunct="1">
              <a:buFont typeface="Arial" charset="0"/>
              <a:buAutoNum type="alphaLcPeriod" startAt="3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Brønsted acids.</a:t>
            </a:r>
          </a:p>
          <a:p>
            <a:pPr marL="514350" indent="-514350" algn="l" eaLnBrk="1" hangingPunct="1"/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d</a:t>
            </a:r>
            <a:r>
              <a:rPr lang="en-US" smtClean="0">
                <a:solidFill>
                  <a:srgbClr val="0D0D0D"/>
                </a:solidFill>
                <a:latin typeface="Arial" charset="0"/>
                <a:cs typeface="Arial" charset="0"/>
              </a:rPr>
              <a:t>.	Brønsted </a:t>
            </a: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bases.</a:t>
            </a:r>
          </a:p>
        </p:txBody>
      </p:sp>
    </p:spTree>
    <p:extLst>
      <p:ext uri="{BB962C8B-B14F-4D97-AF65-F5344CB8AC3E}">
        <p14:creationId xmlns:p14="http://schemas.microsoft.com/office/powerpoint/2010/main" val="1380378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ctrTitle"/>
          </p:nvPr>
        </p:nvSpPr>
        <p:spPr>
          <a:xfrm>
            <a:off x="685800" y="609600"/>
            <a:ext cx="7772400" cy="1470025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Ligands are</a:t>
            </a:r>
          </a:p>
        </p:txBody>
      </p:sp>
      <p:sp>
        <p:nvSpPr>
          <p:cNvPr id="2048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0"/>
            <a:ext cx="6400800" cy="29718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Lewis acids.</a:t>
            </a:r>
          </a:p>
          <a:p>
            <a:pPr marL="514350" indent="-514350" algn="l" eaLnBrk="1" hangingPunct="1">
              <a:buFont typeface="Arial" charset="0"/>
              <a:buAutoNum type="alphaLcPeriod" startAt="2"/>
            </a:pPr>
            <a:r>
              <a:rPr lang="en-US" b="1">
                <a:solidFill>
                  <a:schemeClr val="tx1"/>
                </a:solidFill>
                <a:latin typeface="Arial" charset="0"/>
                <a:cs typeface="Arial" charset="0"/>
              </a:rPr>
              <a:t>Lewis bases.</a:t>
            </a:r>
          </a:p>
          <a:p>
            <a:pPr marL="514350" indent="-514350" algn="l" eaLnBrk="1" hangingPunct="1">
              <a:buFont typeface="Arial" charset="0"/>
              <a:buAutoNum type="alphaLcPeriod" startAt="3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Brønsted acids.</a:t>
            </a:r>
          </a:p>
          <a:p>
            <a:pPr marL="514350" indent="-514350" algn="l" eaLnBrk="1" hangingPunct="1"/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d</a:t>
            </a:r>
            <a:r>
              <a:rPr lang="en-US" smtClean="0">
                <a:solidFill>
                  <a:srgbClr val="0D0D0D"/>
                </a:solidFill>
                <a:latin typeface="Arial" charset="0"/>
                <a:cs typeface="Arial" charset="0"/>
              </a:rPr>
              <a:t>.	Brønsted </a:t>
            </a: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bases.</a:t>
            </a:r>
          </a:p>
        </p:txBody>
      </p:sp>
    </p:spTree>
    <p:extLst>
      <p:ext uri="{BB962C8B-B14F-4D97-AF65-F5344CB8AC3E}">
        <p14:creationId xmlns:p14="http://schemas.microsoft.com/office/powerpoint/2010/main" val="2812410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Most transition metal complex ions with a coordination number of 6 have what geometry?</a:t>
            </a:r>
          </a:p>
        </p:txBody>
      </p:sp>
      <p:sp>
        <p:nvSpPr>
          <p:cNvPr id="2150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7432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cs typeface="Arial" charset="0"/>
              </a:rPr>
              <a:t>t</a:t>
            </a:r>
            <a:r>
              <a:rPr lang="en-US" dirty="0" smtClean="0">
                <a:solidFill>
                  <a:srgbClr val="0D0D0D"/>
                </a:solidFill>
                <a:latin typeface="Arial" charset="0"/>
                <a:cs typeface="Arial" charset="0"/>
              </a:rPr>
              <a:t>etrahedral</a:t>
            </a:r>
            <a:endParaRPr lang="en-US" dirty="0">
              <a:solidFill>
                <a:srgbClr val="0D0D0D"/>
              </a:solidFill>
              <a:latin typeface="Arial" charset="0"/>
              <a:cs typeface="Arial" charset="0"/>
            </a:endParaRPr>
          </a:p>
          <a:p>
            <a:pPr marL="514350" indent="-514350" algn="l" eaLnBrk="1" hangingPunct="1">
              <a:buFont typeface="Arial" charset="0"/>
              <a:buAutoNum type="alphaLcPeriod" startAt="2"/>
            </a:pPr>
            <a:r>
              <a:rPr lang="en-US" dirty="0">
                <a:solidFill>
                  <a:srgbClr val="0D0D0D"/>
                </a:solidFill>
                <a:latin typeface="Arial" charset="0"/>
                <a:cs typeface="Arial" charset="0"/>
              </a:rPr>
              <a:t>s</a:t>
            </a:r>
            <a:r>
              <a:rPr lang="en-US" dirty="0" smtClean="0">
                <a:solidFill>
                  <a:srgbClr val="0D0D0D"/>
                </a:solidFill>
                <a:latin typeface="Arial" charset="0"/>
                <a:cs typeface="Arial" charset="0"/>
              </a:rPr>
              <a:t>quare </a:t>
            </a:r>
            <a:r>
              <a:rPr lang="en-US" dirty="0">
                <a:solidFill>
                  <a:srgbClr val="0D0D0D"/>
                </a:solidFill>
                <a:latin typeface="Arial" charset="0"/>
                <a:cs typeface="Arial" charset="0"/>
              </a:rPr>
              <a:t>planar</a:t>
            </a:r>
          </a:p>
          <a:p>
            <a:pPr marL="514350" indent="-514350" algn="l" eaLnBrk="1" hangingPunct="1">
              <a:buFont typeface="Arial" charset="0"/>
              <a:buAutoNum type="alphaLcPeriod" startAt="3"/>
            </a:pPr>
            <a:r>
              <a:rPr lang="en-US" dirty="0" err="1">
                <a:solidFill>
                  <a:srgbClr val="0D0D0D"/>
                </a:solidFill>
                <a:latin typeface="Arial" charset="0"/>
                <a:cs typeface="Arial" charset="0"/>
              </a:rPr>
              <a:t>t</a:t>
            </a:r>
            <a:r>
              <a:rPr lang="en-US" dirty="0" err="1" smtClean="0">
                <a:solidFill>
                  <a:srgbClr val="0D0D0D"/>
                </a:solidFill>
                <a:latin typeface="Arial" charset="0"/>
                <a:cs typeface="Arial" charset="0"/>
              </a:rPr>
              <a:t>rigonal</a:t>
            </a:r>
            <a:r>
              <a:rPr lang="en-US" dirty="0" smtClean="0">
                <a:solidFill>
                  <a:srgbClr val="0D0D0D"/>
                </a:solidFill>
                <a:latin typeface="Arial" charset="0"/>
                <a:cs typeface="Arial" charset="0"/>
              </a:rPr>
              <a:t> </a:t>
            </a:r>
            <a:r>
              <a:rPr lang="en-US" dirty="0" err="1">
                <a:solidFill>
                  <a:srgbClr val="0D0D0D"/>
                </a:solidFill>
                <a:latin typeface="Arial" charset="0"/>
                <a:cs typeface="Arial" charset="0"/>
              </a:rPr>
              <a:t>bipyramidal</a:t>
            </a:r>
            <a:endParaRPr lang="en-US" dirty="0">
              <a:solidFill>
                <a:srgbClr val="0D0D0D"/>
              </a:solidFill>
              <a:latin typeface="Arial" charset="0"/>
              <a:cs typeface="Arial" charset="0"/>
            </a:endParaRPr>
          </a:p>
          <a:p>
            <a:pPr marL="514350" indent="-514350" algn="l" eaLnBrk="1" hangingPunct="1"/>
            <a:r>
              <a:rPr lang="en-US" dirty="0">
                <a:solidFill>
                  <a:srgbClr val="0D0D0D"/>
                </a:solidFill>
                <a:latin typeface="Arial" charset="0"/>
                <a:cs typeface="Arial" charset="0"/>
              </a:rPr>
              <a:t>d</a:t>
            </a:r>
            <a:r>
              <a:rPr lang="en-US" dirty="0" smtClean="0">
                <a:solidFill>
                  <a:srgbClr val="0D0D0D"/>
                </a:solidFill>
                <a:latin typeface="Arial" charset="0"/>
                <a:cs typeface="Arial" charset="0"/>
              </a:rPr>
              <a:t>.	octahedral</a:t>
            </a:r>
            <a:endParaRPr lang="en-US" dirty="0">
              <a:solidFill>
                <a:srgbClr val="0D0D0D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898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Most transition metal complex ions with a coordination number of 6 have what geometry?</a:t>
            </a:r>
          </a:p>
        </p:txBody>
      </p:sp>
      <p:sp>
        <p:nvSpPr>
          <p:cNvPr id="22531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7432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>
                <a:solidFill>
                  <a:srgbClr val="0D0D0D"/>
                </a:solidFill>
                <a:latin typeface="Arial" charset="0"/>
                <a:cs typeface="Arial" charset="0"/>
              </a:rPr>
              <a:t>t</a:t>
            </a:r>
            <a:r>
              <a:rPr lang="en-US" dirty="0" smtClean="0">
                <a:solidFill>
                  <a:srgbClr val="0D0D0D"/>
                </a:solidFill>
                <a:latin typeface="Arial" charset="0"/>
                <a:cs typeface="Arial" charset="0"/>
              </a:rPr>
              <a:t>etrahedral</a:t>
            </a:r>
            <a:endParaRPr lang="en-US" dirty="0">
              <a:solidFill>
                <a:srgbClr val="0D0D0D"/>
              </a:solidFill>
              <a:latin typeface="Arial" charset="0"/>
              <a:cs typeface="Arial" charset="0"/>
            </a:endParaRPr>
          </a:p>
          <a:p>
            <a:pPr marL="514350" indent="-514350" algn="l" eaLnBrk="1" hangingPunct="1">
              <a:buFont typeface="Arial" charset="0"/>
              <a:buAutoNum type="alphaLcPeriod" startAt="2"/>
            </a:pPr>
            <a:r>
              <a:rPr lang="en-US" dirty="0" smtClean="0">
                <a:solidFill>
                  <a:srgbClr val="0D0D0D"/>
                </a:solidFill>
                <a:latin typeface="Arial" charset="0"/>
                <a:cs typeface="Arial" charset="0"/>
              </a:rPr>
              <a:t>square </a:t>
            </a:r>
            <a:r>
              <a:rPr lang="en-US" dirty="0">
                <a:solidFill>
                  <a:srgbClr val="0D0D0D"/>
                </a:solidFill>
                <a:latin typeface="Arial" charset="0"/>
                <a:cs typeface="Arial" charset="0"/>
              </a:rPr>
              <a:t>planar</a:t>
            </a:r>
          </a:p>
          <a:p>
            <a:pPr marL="514350" indent="-514350" algn="l" eaLnBrk="1" hangingPunct="1">
              <a:buFont typeface="Arial" charset="0"/>
              <a:buAutoNum type="alphaLcPeriod" startAt="3"/>
            </a:pPr>
            <a:r>
              <a:rPr lang="en-US" dirty="0" err="1">
                <a:solidFill>
                  <a:srgbClr val="0D0D0D"/>
                </a:solidFill>
                <a:latin typeface="Arial" charset="0"/>
                <a:cs typeface="Arial" charset="0"/>
              </a:rPr>
              <a:t>t</a:t>
            </a:r>
            <a:r>
              <a:rPr lang="en-US" dirty="0" err="1" smtClean="0">
                <a:solidFill>
                  <a:srgbClr val="0D0D0D"/>
                </a:solidFill>
                <a:latin typeface="Arial" charset="0"/>
                <a:cs typeface="Arial" charset="0"/>
              </a:rPr>
              <a:t>rigonal</a:t>
            </a:r>
            <a:r>
              <a:rPr lang="en-US" dirty="0" smtClean="0">
                <a:solidFill>
                  <a:srgbClr val="0D0D0D"/>
                </a:solidFill>
                <a:latin typeface="Arial" charset="0"/>
                <a:cs typeface="Arial" charset="0"/>
              </a:rPr>
              <a:t> </a:t>
            </a:r>
            <a:r>
              <a:rPr lang="en-US" dirty="0" err="1">
                <a:solidFill>
                  <a:srgbClr val="0D0D0D"/>
                </a:solidFill>
                <a:latin typeface="Arial" charset="0"/>
                <a:cs typeface="Arial" charset="0"/>
              </a:rPr>
              <a:t>bipyramidal</a:t>
            </a:r>
            <a:endParaRPr lang="en-US" dirty="0">
              <a:solidFill>
                <a:srgbClr val="0D0D0D"/>
              </a:solidFill>
              <a:latin typeface="Arial" charset="0"/>
              <a:cs typeface="Arial" charset="0"/>
            </a:endParaRPr>
          </a:p>
          <a:p>
            <a:pPr marL="514350" indent="-514350" algn="l" eaLnBrk="1" hangingPunct="1"/>
            <a:r>
              <a:rPr lang="en-US" b="1" dirty="0">
                <a:solidFill>
                  <a:schemeClr val="tx1"/>
                </a:solidFill>
                <a:latin typeface="Arial" charset="0"/>
                <a:cs typeface="Arial" charset="0"/>
              </a:rPr>
              <a:t>d</a:t>
            </a:r>
            <a:r>
              <a:rPr lang="en-US" b="1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.	octahedral</a:t>
            </a:r>
            <a:endParaRPr lang="en-US" b="1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976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27622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Which of the following is a bidentate ligand?</a:t>
            </a:r>
          </a:p>
        </p:txBody>
      </p:sp>
      <p:sp>
        <p:nvSpPr>
          <p:cNvPr id="2355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6670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 smtClean="0">
                <a:solidFill>
                  <a:srgbClr val="0D0D0D"/>
                </a:solidFill>
                <a:latin typeface="Arial"/>
                <a:cs typeface="Arial"/>
              </a:rPr>
              <a:t>CN</a:t>
            </a:r>
            <a:r>
              <a:rPr lang="en-US" baseline="30000" dirty="0" smtClean="0">
                <a:solidFill>
                  <a:srgbClr val="0D0D0D"/>
                </a:solidFill>
                <a:latin typeface="Arial"/>
                <a:cs typeface="Arial"/>
              </a:rPr>
              <a:t>1−</a:t>
            </a:r>
            <a:endParaRPr lang="en-US" dirty="0">
              <a:solidFill>
                <a:srgbClr val="0D0D0D"/>
              </a:solidFill>
              <a:latin typeface="Arial"/>
              <a:cs typeface="Arial"/>
            </a:endParaRPr>
          </a:p>
          <a:p>
            <a:pPr marL="514350" indent="-514350" algn="l" eaLnBrk="1" hangingPunct="1">
              <a:buFont typeface="Arial" charset="0"/>
              <a:buAutoNum type="alphaLcPeriod" startAt="2"/>
            </a:pPr>
            <a:r>
              <a:rPr lang="en-US" dirty="0" smtClean="0">
                <a:solidFill>
                  <a:srgbClr val="0D0D0D"/>
                </a:solidFill>
                <a:latin typeface="Arial"/>
                <a:cs typeface="Arial"/>
              </a:rPr>
              <a:t>SCN</a:t>
            </a:r>
            <a:r>
              <a:rPr lang="en-US" baseline="30000" dirty="0" smtClean="0">
                <a:solidFill>
                  <a:srgbClr val="0D0D0D"/>
                </a:solidFill>
                <a:latin typeface="Arial"/>
                <a:cs typeface="Arial"/>
              </a:rPr>
              <a:t>1−</a:t>
            </a:r>
            <a:endParaRPr lang="en-US" dirty="0">
              <a:solidFill>
                <a:srgbClr val="0D0D0D"/>
              </a:solidFill>
              <a:latin typeface="Arial"/>
              <a:cs typeface="Arial"/>
            </a:endParaRPr>
          </a:p>
          <a:p>
            <a:pPr marL="514350" indent="-514350" algn="l" eaLnBrk="1" hangingPunct="1">
              <a:buFont typeface="Arial" charset="0"/>
              <a:buAutoNum type="alphaLcPeriod" startAt="3"/>
            </a:pPr>
            <a:r>
              <a:rPr lang="en-US" dirty="0">
                <a:solidFill>
                  <a:srgbClr val="0D0D0D"/>
                </a:solidFill>
                <a:latin typeface="Arial"/>
                <a:cs typeface="Arial"/>
              </a:rPr>
              <a:t>NH</a:t>
            </a:r>
            <a:r>
              <a:rPr lang="en-US" baseline="-25000" dirty="0">
                <a:solidFill>
                  <a:srgbClr val="0D0D0D"/>
                </a:solidFill>
                <a:latin typeface="Arial"/>
                <a:cs typeface="Arial"/>
              </a:rPr>
              <a:t>3</a:t>
            </a:r>
            <a:endParaRPr lang="en-US" dirty="0">
              <a:solidFill>
                <a:srgbClr val="0D0D0D"/>
              </a:solidFill>
              <a:latin typeface="Arial"/>
              <a:cs typeface="Arial"/>
            </a:endParaRPr>
          </a:p>
          <a:p>
            <a:pPr marL="514350" indent="-514350" algn="l" eaLnBrk="1" hangingPunct="1"/>
            <a:r>
              <a:rPr lang="en-US" dirty="0">
                <a:solidFill>
                  <a:srgbClr val="0D0D0D"/>
                </a:solidFill>
                <a:latin typeface="Arial"/>
                <a:cs typeface="Arial"/>
              </a:rPr>
              <a:t>d</a:t>
            </a:r>
            <a:r>
              <a:rPr lang="en-US" dirty="0" smtClean="0">
                <a:solidFill>
                  <a:srgbClr val="0D0D0D"/>
                </a:solidFill>
                <a:latin typeface="Arial"/>
                <a:cs typeface="Arial"/>
              </a:rPr>
              <a:t>.	H</a:t>
            </a:r>
            <a:r>
              <a:rPr lang="en-US" baseline="-25000" dirty="0" smtClean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r>
              <a:rPr lang="en-US" dirty="0" smtClean="0">
                <a:solidFill>
                  <a:srgbClr val="0D0D0D"/>
                </a:solidFill>
                <a:latin typeface="Arial"/>
                <a:cs typeface="Arial"/>
              </a:rPr>
              <a:t>N–CH</a:t>
            </a:r>
            <a:r>
              <a:rPr lang="en-US" baseline="-25000" dirty="0" smtClean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r>
              <a:rPr lang="en-US" dirty="0" smtClean="0">
                <a:solidFill>
                  <a:srgbClr val="0D0D0D"/>
                </a:solidFill>
                <a:latin typeface="Arial"/>
                <a:cs typeface="Arial"/>
              </a:rPr>
              <a:t>–CH</a:t>
            </a:r>
            <a:r>
              <a:rPr lang="en-US" baseline="-25000" dirty="0" smtClean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r>
              <a:rPr lang="en-US" dirty="0" smtClean="0">
                <a:solidFill>
                  <a:srgbClr val="0D0D0D"/>
                </a:solidFill>
                <a:latin typeface="Arial"/>
                <a:cs typeface="Arial"/>
              </a:rPr>
              <a:t>–NH</a:t>
            </a:r>
            <a:r>
              <a:rPr lang="en-US" baseline="-25000" dirty="0" smtClean="0">
                <a:solidFill>
                  <a:srgbClr val="0D0D0D"/>
                </a:solidFill>
                <a:latin typeface="Arial"/>
                <a:cs typeface="Arial"/>
              </a:rPr>
              <a:t>2</a:t>
            </a:r>
            <a:endParaRPr lang="en-US" dirty="0">
              <a:solidFill>
                <a:srgbClr val="0D0D0D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3426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27622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Which of the following is a bidentate ligand?</a:t>
            </a:r>
          </a:p>
        </p:txBody>
      </p:sp>
      <p:sp>
        <p:nvSpPr>
          <p:cNvPr id="24579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6670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dirty="0" smtClean="0">
                <a:solidFill>
                  <a:srgbClr val="0D0D0D"/>
                </a:solidFill>
                <a:latin typeface="Arial"/>
                <a:cs typeface="Arial"/>
              </a:rPr>
              <a:t>CN</a:t>
            </a:r>
            <a:r>
              <a:rPr lang="en-US" baseline="30000" dirty="0" smtClean="0">
                <a:solidFill>
                  <a:srgbClr val="0D0D0D"/>
                </a:solidFill>
                <a:latin typeface="Arial"/>
                <a:cs typeface="Arial"/>
              </a:rPr>
              <a:t>1−</a:t>
            </a:r>
            <a:endParaRPr lang="en-US" dirty="0">
              <a:solidFill>
                <a:srgbClr val="0D0D0D"/>
              </a:solidFill>
              <a:latin typeface="Arial"/>
              <a:cs typeface="Arial"/>
            </a:endParaRPr>
          </a:p>
          <a:p>
            <a:pPr marL="514350" indent="-514350" algn="l" eaLnBrk="1" hangingPunct="1">
              <a:buFont typeface="Arial" charset="0"/>
              <a:buAutoNum type="alphaLcPeriod" startAt="2"/>
            </a:pPr>
            <a:r>
              <a:rPr lang="en-US" dirty="0" smtClean="0">
                <a:solidFill>
                  <a:srgbClr val="0D0D0D"/>
                </a:solidFill>
                <a:latin typeface="Arial"/>
                <a:cs typeface="Arial"/>
              </a:rPr>
              <a:t>SCN</a:t>
            </a:r>
            <a:r>
              <a:rPr lang="en-US" baseline="30000" dirty="0" smtClean="0">
                <a:solidFill>
                  <a:srgbClr val="0D0D0D"/>
                </a:solidFill>
                <a:latin typeface="Arial"/>
                <a:cs typeface="Arial"/>
              </a:rPr>
              <a:t>1−</a:t>
            </a:r>
            <a:endParaRPr lang="en-US" dirty="0">
              <a:solidFill>
                <a:srgbClr val="0D0D0D"/>
              </a:solidFill>
              <a:latin typeface="Arial"/>
              <a:cs typeface="Arial"/>
            </a:endParaRPr>
          </a:p>
          <a:p>
            <a:pPr marL="514350" indent="-514350" algn="l" eaLnBrk="1" hangingPunct="1">
              <a:buFont typeface="Arial" charset="0"/>
              <a:buAutoNum type="alphaLcPeriod" startAt="3"/>
            </a:pPr>
            <a:r>
              <a:rPr lang="en-US" dirty="0">
                <a:solidFill>
                  <a:srgbClr val="0D0D0D"/>
                </a:solidFill>
                <a:latin typeface="Arial"/>
                <a:cs typeface="Arial"/>
              </a:rPr>
              <a:t>NH</a:t>
            </a:r>
            <a:r>
              <a:rPr lang="en-US" baseline="-25000" dirty="0">
                <a:solidFill>
                  <a:srgbClr val="0D0D0D"/>
                </a:solidFill>
                <a:latin typeface="Arial"/>
                <a:cs typeface="Arial"/>
              </a:rPr>
              <a:t>3</a:t>
            </a:r>
            <a:endParaRPr lang="en-US" dirty="0">
              <a:solidFill>
                <a:srgbClr val="0D0D0D"/>
              </a:solidFill>
              <a:latin typeface="Arial"/>
              <a:cs typeface="Arial"/>
            </a:endParaRPr>
          </a:p>
          <a:p>
            <a:pPr marL="514350" indent="-514350" algn="l" eaLnBrk="1" hangingPunct="1"/>
            <a:r>
              <a:rPr lang="en-US" b="1" dirty="0">
                <a:solidFill>
                  <a:schemeClr val="tx1"/>
                </a:solidFill>
                <a:latin typeface="Arial"/>
                <a:cs typeface="Arial"/>
              </a:rPr>
              <a:t>d</a:t>
            </a:r>
            <a:r>
              <a:rPr lang="en-US" b="1" dirty="0" smtClean="0">
                <a:solidFill>
                  <a:schemeClr val="tx1"/>
                </a:solidFill>
                <a:latin typeface="Arial"/>
                <a:cs typeface="Arial"/>
              </a:rPr>
              <a:t>.	H</a:t>
            </a:r>
            <a:r>
              <a:rPr lang="en-US" b="1" baseline="-25000" dirty="0" smtClean="0">
                <a:solidFill>
                  <a:schemeClr val="tx1"/>
                </a:solidFill>
                <a:latin typeface="Arial"/>
                <a:cs typeface="Arial"/>
              </a:rPr>
              <a:t>2</a:t>
            </a:r>
            <a:r>
              <a:rPr lang="en-US" b="1" dirty="0" smtClean="0">
                <a:solidFill>
                  <a:schemeClr val="tx1"/>
                </a:solidFill>
                <a:latin typeface="Arial"/>
                <a:cs typeface="Arial"/>
              </a:rPr>
              <a:t>N–CH</a:t>
            </a:r>
            <a:r>
              <a:rPr lang="en-US" b="1" baseline="-25000" dirty="0" smtClean="0">
                <a:solidFill>
                  <a:schemeClr val="tx1"/>
                </a:solidFill>
                <a:latin typeface="Arial"/>
                <a:cs typeface="Arial"/>
              </a:rPr>
              <a:t>2</a:t>
            </a:r>
            <a:r>
              <a:rPr lang="en-US" b="1" dirty="0" smtClean="0">
                <a:solidFill>
                  <a:schemeClr val="tx1"/>
                </a:solidFill>
                <a:latin typeface="Arial"/>
                <a:cs typeface="Arial"/>
              </a:rPr>
              <a:t>–CH</a:t>
            </a:r>
            <a:r>
              <a:rPr lang="en-US" b="1" baseline="-25000" dirty="0" smtClean="0">
                <a:solidFill>
                  <a:schemeClr val="tx1"/>
                </a:solidFill>
                <a:latin typeface="Arial"/>
                <a:cs typeface="Arial"/>
              </a:rPr>
              <a:t>2</a:t>
            </a:r>
            <a:r>
              <a:rPr lang="en-US" b="1" dirty="0" smtClean="0">
                <a:solidFill>
                  <a:schemeClr val="tx1"/>
                </a:solidFill>
                <a:latin typeface="Arial"/>
                <a:cs typeface="Arial"/>
              </a:rPr>
              <a:t>–NH</a:t>
            </a:r>
            <a:r>
              <a:rPr lang="en-US" b="1" baseline="-25000" dirty="0" smtClean="0">
                <a:solidFill>
                  <a:schemeClr val="tx1"/>
                </a:solidFill>
                <a:latin typeface="Arial"/>
                <a:cs typeface="Arial"/>
              </a:rPr>
              <a:t>2</a:t>
            </a:r>
            <a:endParaRPr lang="en-US" b="1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71236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27622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Hemoglobin is a porphyrin that contains _______.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667000"/>
          </a:xfrm>
        </p:spPr>
        <p:txBody>
          <a:bodyPr rtlCol="0">
            <a:normAutofit/>
          </a:bodyPr>
          <a:lstStyle/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Fe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 startAt="2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Mg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 startAt="3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Co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d.	Cu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03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27622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Hemoglobin is a porphyrin that contains _______.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667000"/>
          </a:xfrm>
        </p:spPr>
        <p:txBody>
          <a:bodyPr rtlCol="0">
            <a:normAutofit/>
          </a:bodyPr>
          <a:lstStyle/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/>
              <a:defRPr/>
            </a:pPr>
            <a:r>
              <a:rPr lang="en-US" b="1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Fe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 startAt="2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Mg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 startAt="3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Co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d.	Cu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350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27622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Chlorophyll is a porphyrin that contains _______.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514600"/>
          </a:xfrm>
        </p:spPr>
        <p:txBody>
          <a:bodyPr rtlCol="0">
            <a:normAutofit/>
          </a:bodyPr>
          <a:lstStyle/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Fe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 startAt="2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Mg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 startAt="3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Co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d.	Cu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960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27622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Chlorophyll is a porphyrin that contains _______.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514600"/>
          </a:xfrm>
        </p:spPr>
        <p:txBody>
          <a:bodyPr rtlCol="0">
            <a:normAutofit/>
          </a:bodyPr>
          <a:lstStyle/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Fe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 startAt="2"/>
              <a:defRPr/>
            </a:pPr>
            <a:r>
              <a:rPr lang="en-US" b="1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Mg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 startAt="3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Co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d.	Cu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667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182880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Which ligand symbol-name pair is </a:t>
            </a:r>
            <a:r>
              <a:rPr lang="en-US" b="1">
                <a:latin typeface="Arial" charset="0"/>
                <a:cs typeface="Arial" charset="0"/>
              </a:rPr>
              <a:t>not </a:t>
            </a:r>
            <a:r>
              <a:rPr lang="en-US">
                <a:latin typeface="Arial" charset="0"/>
                <a:cs typeface="Arial" charset="0"/>
              </a:rPr>
              <a:t>correct?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048000"/>
            <a:ext cx="5334000" cy="3048000"/>
          </a:xfrm>
        </p:spPr>
        <p:txBody>
          <a:bodyPr rtlCol="0">
            <a:normAutofit/>
          </a:bodyPr>
          <a:lstStyle/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/>
              <a:defRPr/>
            </a:pPr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C</a:t>
            </a:r>
            <a:r>
              <a:rPr lang="en-US" sz="4000" baseline="-25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2</a:t>
            </a:r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O</a:t>
            </a:r>
            <a:r>
              <a:rPr lang="en-US" sz="4000" baseline="-25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4</a:t>
            </a:r>
            <a:r>
              <a:rPr lang="en-US" sz="4000" baseline="30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2</a:t>
            </a:r>
            <a:r>
              <a:rPr lang="en-US" sz="4000" baseline="30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ea"/>
                <a:cs typeface="Arial"/>
              </a:rPr>
              <a:t>−</a:t>
            </a:r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; oxalato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/>
              <a:defRPr/>
            </a:pPr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H</a:t>
            </a:r>
            <a:r>
              <a:rPr lang="en-US" sz="4000" baseline="-25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2</a:t>
            </a:r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O; aquo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/>
              <a:defRPr/>
            </a:pPr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OH</a:t>
            </a:r>
            <a:r>
              <a:rPr lang="en-US" sz="4000" baseline="30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−</a:t>
            </a:r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; hydroxo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/>
              <a:defRPr/>
            </a:pPr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NH</a:t>
            </a:r>
            <a:r>
              <a:rPr lang="en-US" sz="4000" baseline="-25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3</a:t>
            </a:r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; amino</a:t>
            </a:r>
          </a:p>
        </p:txBody>
      </p:sp>
    </p:spTree>
    <p:extLst>
      <p:ext uri="{BB962C8B-B14F-4D97-AF65-F5344CB8AC3E}">
        <p14:creationId xmlns:p14="http://schemas.microsoft.com/office/powerpoint/2010/main" val="665436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182880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Which ligand symbol-name pair is </a:t>
            </a:r>
            <a:r>
              <a:rPr lang="en-US" b="1">
                <a:latin typeface="Arial" charset="0"/>
                <a:cs typeface="Arial" charset="0"/>
              </a:rPr>
              <a:t>not </a:t>
            </a:r>
            <a:r>
              <a:rPr lang="en-US">
                <a:latin typeface="Arial" charset="0"/>
                <a:cs typeface="Arial" charset="0"/>
              </a:rPr>
              <a:t>correct?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048000"/>
            <a:ext cx="5334000" cy="3048000"/>
          </a:xfrm>
        </p:spPr>
        <p:txBody>
          <a:bodyPr rtlCol="0">
            <a:normAutofit/>
          </a:bodyPr>
          <a:lstStyle/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/>
              <a:defRPr/>
            </a:pPr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C</a:t>
            </a:r>
            <a:r>
              <a:rPr lang="en-US" sz="4000" baseline="-25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2</a:t>
            </a:r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O</a:t>
            </a:r>
            <a:r>
              <a:rPr lang="en-US" sz="4000" baseline="-25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4</a:t>
            </a:r>
            <a:r>
              <a:rPr lang="en-US" sz="4000" baseline="30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2</a:t>
            </a:r>
            <a:r>
              <a:rPr lang="en-US" sz="4000" baseline="30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−</a:t>
            </a:r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; oxalato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/>
              <a:defRPr/>
            </a:pPr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H</a:t>
            </a:r>
            <a:r>
              <a:rPr lang="en-US" sz="4000" baseline="-25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2</a:t>
            </a:r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O</a:t>
            </a:r>
            <a:r>
              <a:rPr lang="en-US" sz="400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; aqua</a:t>
            </a:r>
            <a:endParaRPr lang="en-US" sz="40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/>
              <a:defRPr/>
            </a:pPr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OH</a:t>
            </a:r>
            <a:r>
              <a:rPr lang="en-US" sz="4000" baseline="30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−</a:t>
            </a:r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; hydroxo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/>
              <a:defRPr/>
            </a:pPr>
            <a:r>
              <a:rPr lang="en-US" sz="4000" b="1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NH</a:t>
            </a:r>
            <a:r>
              <a:rPr lang="en-US" sz="4000" b="1" baseline="-250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3</a:t>
            </a:r>
            <a:r>
              <a:rPr lang="en-US" sz="4000" b="1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; amino</a:t>
            </a:r>
          </a:p>
        </p:txBody>
      </p:sp>
    </p:spTree>
    <p:extLst>
      <p:ext uri="{BB962C8B-B14F-4D97-AF65-F5344CB8AC3E}">
        <p14:creationId xmlns:p14="http://schemas.microsoft.com/office/powerpoint/2010/main" val="2507693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27622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[Co(NH</a:t>
            </a:r>
            <a:r>
              <a:rPr lang="en-US" baseline="-25000">
                <a:latin typeface="Arial" charset="0"/>
                <a:cs typeface="Arial" charset="0"/>
              </a:rPr>
              <a:t>3</a:t>
            </a:r>
            <a:r>
              <a:rPr lang="en-US">
                <a:latin typeface="Arial" charset="0"/>
                <a:cs typeface="Arial" charset="0"/>
              </a:rPr>
              <a:t>)</a:t>
            </a:r>
            <a:r>
              <a:rPr lang="en-US" baseline="-25000">
                <a:latin typeface="Arial" charset="0"/>
                <a:cs typeface="Arial" charset="0"/>
              </a:rPr>
              <a:t>5</a:t>
            </a:r>
            <a:r>
              <a:rPr lang="en-US">
                <a:latin typeface="Arial" charset="0"/>
                <a:cs typeface="Arial" charset="0"/>
              </a:rPr>
              <a:t>Cl]Cl</a:t>
            </a:r>
            <a:r>
              <a:rPr lang="en-US" baseline="-25000">
                <a:latin typeface="Arial" charset="0"/>
                <a:cs typeface="Arial" charset="0"/>
              </a:rPr>
              <a:t>2</a:t>
            </a:r>
            <a:r>
              <a:rPr lang="en-US">
                <a:latin typeface="Arial" charset="0"/>
                <a:cs typeface="Arial" charset="0"/>
              </a:rPr>
              <a:t> is named _______ chloride.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7391400" cy="2590800"/>
          </a:xfrm>
        </p:spPr>
        <p:txBody>
          <a:bodyPr rtlCol="0">
            <a:normAutofit/>
          </a:bodyPr>
          <a:lstStyle/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chloropentaamminecobalt(III)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 startAt="2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pentaamminechlorocobalt(III)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 startAt="3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chloropentaamminecobalt(II)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d.	pentaamminechlorocobalt(II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26616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27622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[Co(NH</a:t>
            </a:r>
            <a:r>
              <a:rPr lang="en-US" baseline="-25000">
                <a:latin typeface="Arial" charset="0"/>
                <a:cs typeface="Arial" charset="0"/>
              </a:rPr>
              <a:t>3</a:t>
            </a:r>
            <a:r>
              <a:rPr lang="en-US">
                <a:latin typeface="Arial" charset="0"/>
                <a:cs typeface="Arial" charset="0"/>
              </a:rPr>
              <a:t>)</a:t>
            </a:r>
            <a:r>
              <a:rPr lang="en-US" baseline="-25000">
                <a:latin typeface="Arial" charset="0"/>
                <a:cs typeface="Arial" charset="0"/>
              </a:rPr>
              <a:t>5</a:t>
            </a:r>
            <a:r>
              <a:rPr lang="en-US">
                <a:latin typeface="Arial" charset="0"/>
                <a:cs typeface="Arial" charset="0"/>
              </a:rPr>
              <a:t>Cl]Cl</a:t>
            </a:r>
            <a:r>
              <a:rPr lang="en-US" baseline="-25000">
                <a:latin typeface="Arial" charset="0"/>
                <a:cs typeface="Arial" charset="0"/>
              </a:rPr>
              <a:t>2</a:t>
            </a:r>
            <a:r>
              <a:rPr lang="en-US">
                <a:latin typeface="Arial" charset="0"/>
                <a:cs typeface="Arial" charset="0"/>
              </a:rPr>
              <a:t> is named _______ chloride.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7391400" cy="2590800"/>
          </a:xfrm>
        </p:spPr>
        <p:txBody>
          <a:bodyPr rtlCol="0">
            <a:normAutofit/>
          </a:bodyPr>
          <a:lstStyle/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chloropentaamminecobalt(III)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 startAt="2"/>
              <a:defRPr/>
            </a:pPr>
            <a:r>
              <a:rPr lang="en-US" b="1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pentaamminechlorocobalt(III)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AutoNum type="alphaLcPeriod" startAt="3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chloropentaamminecobalt(II)</a:t>
            </a:r>
          </a:p>
          <a:p>
            <a:pPr marL="514350" indent="-514350"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d.	pentaamminechlorocobalt(II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59186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27622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Na</a:t>
            </a:r>
            <a:r>
              <a:rPr lang="en-US" baseline="-25000">
                <a:latin typeface="Arial" charset="0"/>
                <a:cs typeface="Arial" charset="0"/>
              </a:rPr>
              <a:t>2</a:t>
            </a:r>
            <a:r>
              <a:rPr lang="en-US">
                <a:latin typeface="Arial" charset="0"/>
                <a:cs typeface="Arial" charset="0"/>
              </a:rPr>
              <a:t>[MoOCl</a:t>
            </a:r>
            <a:r>
              <a:rPr lang="en-US" baseline="-25000">
                <a:latin typeface="Arial" charset="0"/>
                <a:cs typeface="Arial" charset="0"/>
              </a:rPr>
              <a:t>4</a:t>
            </a:r>
            <a:r>
              <a:rPr lang="en-US">
                <a:latin typeface="Arial" charset="0"/>
                <a:cs typeface="Arial" charset="0"/>
              </a:rPr>
              <a:t>] is named sodium</a:t>
            </a:r>
          </a:p>
        </p:txBody>
      </p:sp>
      <p:sp>
        <p:nvSpPr>
          <p:cNvPr id="3379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5908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tetrachlorooxomolybdate(IV).</a:t>
            </a:r>
          </a:p>
          <a:p>
            <a:pPr marL="514350" indent="-514350" algn="l" eaLnBrk="1" hangingPunct="1">
              <a:buFont typeface="Arial" charset="0"/>
              <a:buAutoNum type="alphaLcPeriod" startAt="2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oxotetrachloromolybdate(IV).</a:t>
            </a:r>
          </a:p>
          <a:p>
            <a:pPr marL="514350" indent="-514350" algn="l" eaLnBrk="1" hangingPunct="1">
              <a:buFont typeface="Arial" charset="0"/>
              <a:buAutoNum type="alphaLcPeriod" startAt="3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tetrachlorooxomolybdate(II).</a:t>
            </a:r>
          </a:p>
          <a:p>
            <a:pPr marL="514350" indent="-514350" algn="l" eaLnBrk="1" hangingPunct="1"/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d</a:t>
            </a:r>
            <a:r>
              <a:rPr lang="en-US" smtClean="0">
                <a:solidFill>
                  <a:srgbClr val="0D0D0D"/>
                </a:solidFill>
                <a:latin typeface="Arial" charset="0"/>
                <a:cs typeface="Arial" charset="0"/>
              </a:rPr>
              <a:t>.	oxotetrachloromolybdate(II</a:t>
            </a: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15380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27622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Na</a:t>
            </a:r>
            <a:r>
              <a:rPr lang="en-US" baseline="-25000">
                <a:latin typeface="Arial" charset="0"/>
                <a:cs typeface="Arial" charset="0"/>
              </a:rPr>
              <a:t>2</a:t>
            </a:r>
            <a:r>
              <a:rPr lang="en-US">
                <a:latin typeface="Arial" charset="0"/>
                <a:cs typeface="Arial" charset="0"/>
              </a:rPr>
              <a:t>[MoOCl</a:t>
            </a:r>
            <a:r>
              <a:rPr lang="en-US" baseline="-25000">
                <a:latin typeface="Arial" charset="0"/>
                <a:cs typeface="Arial" charset="0"/>
              </a:rPr>
              <a:t>4</a:t>
            </a:r>
            <a:r>
              <a:rPr lang="en-US">
                <a:latin typeface="Arial" charset="0"/>
                <a:cs typeface="Arial" charset="0"/>
              </a:rPr>
              <a:t>] is named sodium</a:t>
            </a:r>
          </a:p>
        </p:txBody>
      </p:sp>
      <p:sp>
        <p:nvSpPr>
          <p:cNvPr id="34819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5908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b="1">
                <a:solidFill>
                  <a:schemeClr val="tx1"/>
                </a:solidFill>
                <a:latin typeface="Arial" charset="0"/>
                <a:cs typeface="Arial" charset="0"/>
              </a:rPr>
              <a:t>tetrachlorooxomolybdate(IV).</a:t>
            </a:r>
          </a:p>
          <a:p>
            <a:pPr marL="514350" indent="-514350" algn="l" eaLnBrk="1" hangingPunct="1">
              <a:buFont typeface="Arial" charset="0"/>
              <a:buAutoNum type="alphaLcPeriod" startAt="2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oxotetrachloromolybdate(IV).</a:t>
            </a:r>
          </a:p>
          <a:p>
            <a:pPr marL="514350" indent="-514350" algn="l" eaLnBrk="1" hangingPunct="1">
              <a:buFont typeface="Arial" charset="0"/>
              <a:buAutoNum type="alphaLcPeriod" startAt="3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tetrachlorooxomolybdate(II).</a:t>
            </a:r>
          </a:p>
          <a:p>
            <a:pPr marL="514350" indent="-514350" algn="l" eaLnBrk="1" hangingPunct="1"/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d</a:t>
            </a:r>
            <a:r>
              <a:rPr lang="en-US" smtClean="0">
                <a:solidFill>
                  <a:srgbClr val="0D0D0D"/>
                </a:solidFill>
                <a:latin typeface="Arial" charset="0"/>
                <a:cs typeface="Arial" charset="0"/>
              </a:rPr>
              <a:t>.	oxotetrachloromolybdate(II</a:t>
            </a: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298369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2762250"/>
          </a:xfrm>
        </p:spPr>
        <p:txBody>
          <a:bodyPr/>
          <a:lstStyle/>
          <a:p>
            <a:pPr algn="l" eaLnBrk="1" hangingPunct="1"/>
            <a:r>
              <a:rPr lang="en-US" dirty="0">
                <a:latin typeface="Arial"/>
                <a:cs typeface="Arial"/>
              </a:rPr>
              <a:t>[</a:t>
            </a:r>
            <a:r>
              <a:rPr lang="en-US" dirty="0" smtClean="0">
                <a:latin typeface="Arial"/>
                <a:cs typeface="Arial"/>
              </a:rPr>
              <a:t>Ag(SCN)</a:t>
            </a:r>
            <a:r>
              <a:rPr lang="en-US" baseline="-25000" dirty="0" smtClean="0">
                <a:latin typeface="Arial"/>
                <a:cs typeface="Arial"/>
              </a:rPr>
              <a:t>2</a:t>
            </a:r>
            <a:r>
              <a:rPr lang="en-US" dirty="0" smtClean="0">
                <a:latin typeface="Arial"/>
                <a:cs typeface="Arial"/>
              </a:rPr>
              <a:t>]</a:t>
            </a:r>
            <a:r>
              <a:rPr lang="en-US" baseline="30000" dirty="0" smtClean="0">
                <a:latin typeface="Arial"/>
                <a:cs typeface="Arial"/>
              </a:rPr>
              <a:t>1−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and [</a:t>
            </a:r>
            <a:r>
              <a:rPr lang="en-US" dirty="0" smtClean="0">
                <a:latin typeface="Arial"/>
                <a:cs typeface="Arial"/>
              </a:rPr>
              <a:t>Ag(NCS)</a:t>
            </a:r>
            <a:r>
              <a:rPr lang="en-US" baseline="-25000" dirty="0" smtClean="0">
                <a:latin typeface="Arial"/>
                <a:cs typeface="Arial"/>
              </a:rPr>
              <a:t>2</a:t>
            </a:r>
            <a:r>
              <a:rPr lang="en-US" dirty="0" smtClean="0">
                <a:latin typeface="Arial"/>
                <a:cs typeface="Arial"/>
              </a:rPr>
              <a:t>]</a:t>
            </a:r>
            <a:r>
              <a:rPr lang="en-US" baseline="30000" dirty="0" smtClean="0">
                <a:latin typeface="Arial"/>
                <a:cs typeface="Arial"/>
              </a:rPr>
              <a:t>1−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are</a:t>
            </a:r>
          </a:p>
        </p:txBody>
      </p:sp>
      <p:sp>
        <p:nvSpPr>
          <p:cNvPr id="3584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7432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linkage isomers.</a:t>
            </a:r>
          </a:p>
          <a:p>
            <a:pPr marL="514350" indent="-514350" algn="l" eaLnBrk="1" hangingPunct="1">
              <a:buFont typeface="Arial" charset="0"/>
              <a:buAutoNum type="alphaLcPeriod" startAt="2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coordination-sphere isomers.</a:t>
            </a:r>
          </a:p>
          <a:p>
            <a:pPr marL="514350" indent="-514350" algn="l" eaLnBrk="1" hangingPunct="1">
              <a:buFont typeface="Arial" charset="0"/>
              <a:buAutoNum type="alphaLcPeriod" startAt="3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stereoisomers.</a:t>
            </a:r>
          </a:p>
          <a:p>
            <a:pPr marL="514350" indent="-514350" algn="l" eaLnBrk="1" hangingPunct="1"/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d</a:t>
            </a:r>
            <a:r>
              <a:rPr lang="en-US" smtClean="0">
                <a:solidFill>
                  <a:srgbClr val="0D0D0D"/>
                </a:solidFill>
                <a:latin typeface="Arial" charset="0"/>
                <a:cs typeface="Arial" charset="0"/>
              </a:rPr>
              <a:t>.	identical </a:t>
            </a: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ions.</a:t>
            </a:r>
          </a:p>
        </p:txBody>
      </p:sp>
    </p:spTree>
    <p:extLst>
      <p:ext uri="{BB962C8B-B14F-4D97-AF65-F5344CB8AC3E}">
        <p14:creationId xmlns:p14="http://schemas.microsoft.com/office/powerpoint/2010/main" val="4257218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2762250"/>
          </a:xfrm>
        </p:spPr>
        <p:txBody>
          <a:bodyPr/>
          <a:lstStyle/>
          <a:p>
            <a:pPr algn="l" eaLnBrk="1" hangingPunct="1"/>
            <a:r>
              <a:rPr lang="en-US" dirty="0">
                <a:latin typeface="Arial"/>
                <a:cs typeface="Arial"/>
              </a:rPr>
              <a:t>[</a:t>
            </a:r>
            <a:r>
              <a:rPr lang="en-US" dirty="0" smtClean="0">
                <a:latin typeface="Arial"/>
                <a:cs typeface="Arial"/>
              </a:rPr>
              <a:t>Ag(SCN)</a:t>
            </a:r>
            <a:r>
              <a:rPr lang="en-US" baseline="-25000" dirty="0" smtClean="0">
                <a:latin typeface="Arial"/>
                <a:cs typeface="Arial"/>
              </a:rPr>
              <a:t>2</a:t>
            </a:r>
            <a:r>
              <a:rPr lang="en-US" dirty="0" smtClean="0">
                <a:latin typeface="Arial"/>
                <a:cs typeface="Arial"/>
              </a:rPr>
              <a:t>]</a:t>
            </a:r>
            <a:r>
              <a:rPr lang="en-US" baseline="30000" dirty="0" smtClean="0">
                <a:latin typeface="Arial"/>
                <a:cs typeface="Arial"/>
              </a:rPr>
              <a:t>1−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and [</a:t>
            </a:r>
            <a:r>
              <a:rPr lang="en-US" dirty="0" smtClean="0">
                <a:latin typeface="Arial"/>
                <a:cs typeface="Arial"/>
              </a:rPr>
              <a:t>Ag(NCS)</a:t>
            </a:r>
            <a:r>
              <a:rPr lang="en-US" baseline="-25000" dirty="0" smtClean="0">
                <a:latin typeface="Arial"/>
                <a:cs typeface="Arial"/>
              </a:rPr>
              <a:t>2</a:t>
            </a:r>
            <a:r>
              <a:rPr lang="en-US" dirty="0" smtClean="0">
                <a:latin typeface="Arial"/>
                <a:cs typeface="Arial"/>
              </a:rPr>
              <a:t>]</a:t>
            </a:r>
            <a:r>
              <a:rPr lang="en-US" baseline="30000" dirty="0" smtClean="0">
                <a:latin typeface="Arial"/>
                <a:cs typeface="Arial"/>
              </a:rPr>
              <a:t>1−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are</a:t>
            </a:r>
          </a:p>
        </p:txBody>
      </p:sp>
      <p:sp>
        <p:nvSpPr>
          <p:cNvPr id="3686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7432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 b="1">
                <a:solidFill>
                  <a:schemeClr val="tx1"/>
                </a:solidFill>
                <a:latin typeface="Arial" charset="0"/>
                <a:cs typeface="Arial" charset="0"/>
              </a:rPr>
              <a:t>linkage isomers.</a:t>
            </a:r>
          </a:p>
          <a:p>
            <a:pPr marL="514350" indent="-514350" algn="l" eaLnBrk="1" hangingPunct="1">
              <a:buFont typeface="Arial" charset="0"/>
              <a:buAutoNum type="alphaLcPeriod" startAt="2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coordination-sphere isomers.</a:t>
            </a:r>
          </a:p>
          <a:p>
            <a:pPr marL="514350" indent="-514350" algn="l" eaLnBrk="1" hangingPunct="1">
              <a:buFont typeface="Arial" charset="0"/>
              <a:buAutoNum type="alphaLcPeriod" startAt="3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stereoisomers.</a:t>
            </a:r>
          </a:p>
          <a:p>
            <a:pPr marL="514350" indent="-514350" algn="l" eaLnBrk="1" hangingPunct="1"/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d</a:t>
            </a:r>
            <a:r>
              <a:rPr lang="en-US" smtClean="0">
                <a:solidFill>
                  <a:srgbClr val="0D0D0D"/>
                </a:solidFill>
                <a:latin typeface="Arial" charset="0"/>
                <a:cs typeface="Arial" charset="0"/>
              </a:rPr>
              <a:t>.	identical </a:t>
            </a: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ions.</a:t>
            </a:r>
          </a:p>
        </p:txBody>
      </p:sp>
    </p:spTree>
    <p:extLst>
      <p:ext uri="{BB962C8B-B14F-4D97-AF65-F5344CB8AC3E}">
        <p14:creationId xmlns:p14="http://schemas.microsoft.com/office/powerpoint/2010/main" val="1351803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27622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cis-[Pt(NH</a:t>
            </a:r>
            <a:r>
              <a:rPr lang="en-US" baseline="-25000">
                <a:latin typeface="Arial" charset="0"/>
                <a:cs typeface="Arial" charset="0"/>
              </a:rPr>
              <a:t>3</a:t>
            </a:r>
            <a:r>
              <a:rPr lang="en-US">
                <a:latin typeface="Arial" charset="0"/>
                <a:cs typeface="Arial" charset="0"/>
              </a:rPr>
              <a:t>)</a:t>
            </a:r>
            <a:r>
              <a:rPr lang="en-US" baseline="-25000">
                <a:latin typeface="Arial" charset="0"/>
                <a:cs typeface="Arial" charset="0"/>
              </a:rPr>
              <a:t>2</a:t>
            </a:r>
            <a:r>
              <a:rPr lang="en-US">
                <a:latin typeface="Arial" charset="0"/>
                <a:cs typeface="Arial" charset="0"/>
              </a:rPr>
              <a:t>Cl</a:t>
            </a:r>
            <a:r>
              <a:rPr lang="en-US" baseline="-25000">
                <a:latin typeface="Arial" charset="0"/>
                <a:cs typeface="Arial" charset="0"/>
              </a:rPr>
              <a:t>2</a:t>
            </a:r>
            <a:r>
              <a:rPr lang="en-US">
                <a:latin typeface="Arial" charset="0"/>
                <a:cs typeface="Arial" charset="0"/>
              </a:rPr>
              <a:t>] and </a:t>
            </a:r>
            <a:br>
              <a:rPr lang="en-US">
                <a:latin typeface="Arial" charset="0"/>
                <a:cs typeface="Arial" charset="0"/>
              </a:rPr>
            </a:br>
            <a:r>
              <a:rPr lang="en-US">
                <a:latin typeface="Arial" charset="0"/>
                <a:cs typeface="Arial" charset="0"/>
              </a:rPr>
              <a:t>trans-[Pt(NH</a:t>
            </a:r>
            <a:r>
              <a:rPr lang="en-US" baseline="-25000">
                <a:latin typeface="Arial" charset="0"/>
                <a:cs typeface="Arial" charset="0"/>
              </a:rPr>
              <a:t>3</a:t>
            </a:r>
            <a:r>
              <a:rPr lang="en-US">
                <a:latin typeface="Arial" charset="0"/>
                <a:cs typeface="Arial" charset="0"/>
              </a:rPr>
              <a:t>)</a:t>
            </a:r>
            <a:r>
              <a:rPr lang="en-US" baseline="-25000">
                <a:latin typeface="Arial" charset="0"/>
                <a:cs typeface="Arial" charset="0"/>
              </a:rPr>
              <a:t>2</a:t>
            </a:r>
            <a:r>
              <a:rPr lang="en-US">
                <a:latin typeface="Arial" charset="0"/>
                <a:cs typeface="Arial" charset="0"/>
              </a:rPr>
              <a:t>Cl</a:t>
            </a:r>
            <a:r>
              <a:rPr lang="en-US" baseline="-25000">
                <a:latin typeface="Arial" charset="0"/>
                <a:cs typeface="Arial" charset="0"/>
              </a:rPr>
              <a:t>2</a:t>
            </a:r>
            <a:r>
              <a:rPr lang="en-US">
                <a:latin typeface="Arial" charset="0"/>
                <a:cs typeface="Arial" charset="0"/>
              </a:rPr>
              <a:t>] are</a:t>
            </a:r>
          </a:p>
        </p:txBody>
      </p:sp>
      <p:sp>
        <p:nvSpPr>
          <p:cNvPr id="37891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6670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linkage isomers.</a:t>
            </a:r>
          </a:p>
          <a:p>
            <a:pPr marL="514350" indent="-514350" algn="l" eaLnBrk="1" hangingPunct="1">
              <a:buFont typeface="Arial" charset="0"/>
              <a:buAutoNum type="alphaLcPeriod" startAt="2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coordination-sphere isomers.</a:t>
            </a:r>
          </a:p>
          <a:p>
            <a:pPr marL="514350" indent="-514350" algn="l" eaLnBrk="1" hangingPunct="1">
              <a:buFont typeface="Arial" charset="0"/>
              <a:buAutoNum type="alphaLcPeriod" startAt="3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stereoisomers.</a:t>
            </a:r>
          </a:p>
          <a:p>
            <a:pPr marL="514350" indent="-514350" algn="l" eaLnBrk="1" hangingPunct="1"/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d</a:t>
            </a:r>
            <a:r>
              <a:rPr lang="en-US" smtClean="0">
                <a:solidFill>
                  <a:srgbClr val="0D0D0D"/>
                </a:solidFill>
                <a:latin typeface="Arial" charset="0"/>
                <a:cs typeface="Arial" charset="0"/>
              </a:rPr>
              <a:t>.	identical </a:t>
            </a: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compounds.</a:t>
            </a:r>
          </a:p>
        </p:txBody>
      </p:sp>
    </p:spTree>
    <p:extLst>
      <p:ext uri="{BB962C8B-B14F-4D97-AF65-F5344CB8AC3E}">
        <p14:creationId xmlns:p14="http://schemas.microsoft.com/office/powerpoint/2010/main" val="1604098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27622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cis-[Pt(NH</a:t>
            </a:r>
            <a:r>
              <a:rPr lang="en-US" baseline="-25000">
                <a:latin typeface="Arial" charset="0"/>
                <a:cs typeface="Arial" charset="0"/>
              </a:rPr>
              <a:t>3</a:t>
            </a:r>
            <a:r>
              <a:rPr lang="en-US">
                <a:latin typeface="Arial" charset="0"/>
                <a:cs typeface="Arial" charset="0"/>
              </a:rPr>
              <a:t>)</a:t>
            </a:r>
            <a:r>
              <a:rPr lang="en-US" baseline="-25000">
                <a:latin typeface="Arial" charset="0"/>
                <a:cs typeface="Arial" charset="0"/>
              </a:rPr>
              <a:t>2</a:t>
            </a:r>
            <a:r>
              <a:rPr lang="en-US">
                <a:latin typeface="Arial" charset="0"/>
                <a:cs typeface="Arial" charset="0"/>
              </a:rPr>
              <a:t>Cl</a:t>
            </a:r>
            <a:r>
              <a:rPr lang="en-US" baseline="-25000">
                <a:latin typeface="Arial" charset="0"/>
                <a:cs typeface="Arial" charset="0"/>
              </a:rPr>
              <a:t>2</a:t>
            </a:r>
            <a:r>
              <a:rPr lang="en-US">
                <a:latin typeface="Arial" charset="0"/>
                <a:cs typeface="Arial" charset="0"/>
              </a:rPr>
              <a:t>] and </a:t>
            </a:r>
            <a:br>
              <a:rPr lang="en-US">
                <a:latin typeface="Arial" charset="0"/>
                <a:cs typeface="Arial" charset="0"/>
              </a:rPr>
            </a:br>
            <a:r>
              <a:rPr lang="en-US">
                <a:latin typeface="Arial" charset="0"/>
                <a:cs typeface="Arial" charset="0"/>
              </a:rPr>
              <a:t>trans-[Pt(NH</a:t>
            </a:r>
            <a:r>
              <a:rPr lang="en-US" baseline="-25000">
                <a:latin typeface="Arial" charset="0"/>
                <a:cs typeface="Arial" charset="0"/>
              </a:rPr>
              <a:t>3</a:t>
            </a:r>
            <a:r>
              <a:rPr lang="en-US">
                <a:latin typeface="Arial" charset="0"/>
                <a:cs typeface="Arial" charset="0"/>
              </a:rPr>
              <a:t>)</a:t>
            </a:r>
            <a:r>
              <a:rPr lang="en-US" baseline="-25000">
                <a:latin typeface="Arial" charset="0"/>
                <a:cs typeface="Arial" charset="0"/>
              </a:rPr>
              <a:t>2</a:t>
            </a:r>
            <a:r>
              <a:rPr lang="en-US">
                <a:latin typeface="Arial" charset="0"/>
                <a:cs typeface="Arial" charset="0"/>
              </a:rPr>
              <a:t>Cl</a:t>
            </a:r>
            <a:r>
              <a:rPr lang="en-US" baseline="-25000">
                <a:latin typeface="Arial" charset="0"/>
                <a:cs typeface="Arial" charset="0"/>
              </a:rPr>
              <a:t>2</a:t>
            </a:r>
            <a:r>
              <a:rPr lang="en-US">
                <a:latin typeface="Arial" charset="0"/>
                <a:cs typeface="Arial" charset="0"/>
              </a:rPr>
              <a:t>] are</a:t>
            </a:r>
          </a:p>
        </p:txBody>
      </p:sp>
      <p:sp>
        <p:nvSpPr>
          <p:cNvPr id="3891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6670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linkage isomers.</a:t>
            </a:r>
          </a:p>
          <a:p>
            <a:pPr marL="514350" indent="-514350" algn="l" eaLnBrk="1" hangingPunct="1">
              <a:buFont typeface="Arial" charset="0"/>
              <a:buAutoNum type="alphaLcPeriod" startAt="2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coordination-sphere isomers.</a:t>
            </a:r>
          </a:p>
          <a:p>
            <a:pPr marL="514350" indent="-514350" algn="l" eaLnBrk="1" hangingPunct="1">
              <a:buFont typeface="Arial" charset="0"/>
              <a:buAutoNum type="alphaLcPeriod" startAt="3"/>
            </a:pPr>
            <a:r>
              <a:rPr lang="en-US" b="1">
                <a:solidFill>
                  <a:schemeClr val="tx1"/>
                </a:solidFill>
                <a:latin typeface="Arial" charset="0"/>
                <a:cs typeface="Arial" charset="0"/>
              </a:rPr>
              <a:t>stereoisomers.</a:t>
            </a:r>
          </a:p>
          <a:p>
            <a:pPr marL="514350" indent="-514350" algn="l" eaLnBrk="1" hangingPunct="1"/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d</a:t>
            </a:r>
            <a:r>
              <a:rPr lang="en-US" smtClean="0">
                <a:solidFill>
                  <a:srgbClr val="0D0D0D"/>
                </a:solidFill>
                <a:latin typeface="Arial" charset="0"/>
                <a:cs typeface="Arial" charset="0"/>
              </a:rPr>
              <a:t>.	identical </a:t>
            </a: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compounds.</a:t>
            </a:r>
          </a:p>
        </p:txBody>
      </p:sp>
    </p:spTree>
    <p:extLst>
      <p:ext uri="{BB962C8B-B14F-4D97-AF65-F5344CB8AC3E}">
        <p14:creationId xmlns:p14="http://schemas.microsoft.com/office/powerpoint/2010/main" val="3724727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29146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Objects which are not able to be superimposed on their mirror images are said to be</a:t>
            </a:r>
          </a:p>
        </p:txBody>
      </p:sp>
      <p:sp>
        <p:nvSpPr>
          <p:cNvPr id="39939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5908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symmetrical.</a:t>
            </a:r>
          </a:p>
          <a:p>
            <a:pPr marL="514350" indent="-514350" algn="l" eaLnBrk="1" hangingPunct="1">
              <a:buFont typeface="Arial" charset="0"/>
              <a:buAutoNum type="alphaLcPeriod" startAt="2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chiral.</a:t>
            </a:r>
          </a:p>
          <a:p>
            <a:pPr marL="514350" indent="-514350" algn="l" eaLnBrk="1" hangingPunct="1">
              <a:buFont typeface="Arial" charset="0"/>
              <a:buAutoNum type="alphaLcPeriod" startAt="3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stereoisomeric.</a:t>
            </a:r>
          </a:p>
          <a:p>
            <a:pPr marL="514350" indent="-514350" algn="l" eaLnBrk="1" hangingPunct="1"/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d</a:t>
            </a:r>
            <a:r>
              <a:rPr lang="en-US" smtClean="0">
                <a:solidFill>
                  <a:srgbClr val="0D0D0D"/>
                </a:solidFill>
                <a:latin typeface="Arial" charset="0"/>
                <a:cs typeface="Arial" charset="0"/>
              </a:rPr>
              <a:t>.	vampire-like</a:t>
            </a: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5042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291465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Objects which are not able to be superimposed on their mirror images are said to be</a:t>
            </a:r>
          </a:p>
        </p:txBody>
      </p:sp>
      <p:sp>
        <p:nvSpPr>
          <p:cNvPr id="4096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5908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symmetrical.</a:t>
            </a:r>
          </a:p>
          <a:p>
            <a:pPr marL="514350" indent="-514350" algn="l" eaLnBrk="1" hangingPunct="1">
              <a:buFont typeface="Arial" charset="0"/>
              <a:buAutoNum type="alphaLcPeriod" startAt="2"/>
            </a:pPr>
            <a:r>
              <a:rPr lang="en-US" b="1">
                <a:solidFill>
                  <a:schemeClr val="tx1"/>
                </a:solidFill>
                <a:latin typeface="Arial" charset="0"/>
                <a:cs typeface="Arial" charset="0"/>
              </a:rPr>
              <a:t>chiral.</a:t>
            </a:r>
          </a:p>
          <a:p>
            <a:pPr marL="514350" indent="-514350" algn="l" eaLnBrk="1" hangingPunct="1">
              <a:buFont typeface="Arial" charset="0"/>
              <a:buAutoNum type="alphaLcPeriod" startAt="3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stereoisomeric.</a:t>
            </a:r>
          </a:p>
          <a:p>
            <a:pPr marL="514350" indent="-514350" algn="l" eaLnBrk="1" hangingPunct="1"/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d</a:t>
            </a:r>
            <a:r>
              <a:rPr lang="en-US" smtClean="0">
                <a:solidFill>
                  <a:srgbClr val="0D0D0D"/>
                </a:solidFill>
                <a:latin typeface="Arial" charset="0"/>
                <a:cs typeface="Arial" charset="0"/>
              </a:rPr>
              <a:t>.	vampire-like</a:t>
            </a: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8261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ctrTitle"/>
          </p:nvPr>
        </p:nvSpPr>
        <p:spPr>
          <a:xfrm>
            <a:off x="381000" y="685800"/>
            <a:ext cx="8305800" cy="274320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Crystal field theory provides a foundation for explaining all of the properties of coordination compounds </a:t>
            </a:r>
            <a:r>
              <a:rPr lang="en-US" b="1">
                <a:latin typeface="Arial" charset="0"/>
                <a:cs typeface="Arial" charset="0"/>
              </a:rPr>
              <a:t>except</a:t>
            </a:r>
            <a:r>
              <a:rPr lang="en-US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41987" name="Subtitl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30480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color.</a:t>
            </a:r>
          </a:p>
          <a:p>
            <a:pPr marL="514350" indent="-514350" algn="l" eaLnBrk="1" hangingPunct="1">
              <a:buFont typeface="Arial" charset="0"/>
              <a:buAutoNum type="alphaLcPeriod" startAt="2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magnetic properties.</a:t>
            </a:r>
          </a:p>
          <a:p>
            <a:pPr marL="514350" indent="-514350" algn="l" eaLnBrk="1" hangingPunct="1">
              <a:buFont typeface="Arial" charset="0"/>
              <a:buAutoNum type="alphaLcPeriod" startAt="3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geometry.</a:t>
            </a:r>
          </a:p>
          <a:p>
            <a:pPr marL="514350" indent="-514350" algn="l" eaLnBrk="1" hangingPunct="1"/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d</a:t>
            </a:r>
            <a:r>
              <a:rPr lang="en-US" smtClean="0">
                <a:solidFill>
                  <a:srgbClr val="0D0D0D"/>
                </a:solidFill>
                <a:latin typeface="Arial" charset="0"/>
                <a:cs typeface="Arial" charset="0"/>
              </a:rPr>
              <a:t>.	melting </a:t>
            </a: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point.</a:t>
            </a:r>
          </a:p>
        </p:txBody>
      </p:sp>
    </p:spTree>
    <p:extLst>
      <p:ext uri="{BB962C8B-B14F-4D97-AF65-F5344CB8AC3E}">
        <p14:creationId xmlns:p14="http://schemas.microsoft.com/office/powerpoint/2010/main" val="402194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ctrTitle"/>
          </p:nvPr>
        </p:nvSpPr>
        <p:spPr>
          <a:xfrm>
            <a:off x="381000" y="685800"/>
            <a:ext cx="8305800" cy="2743200"/>
          </a:xfrm>
        </p:spPr>
        <p:txBody>
          <a:bodyPr/>
          <a:lstStyle/>
          <a:p>
            <a:pPr algn="l" eaLnBrk="1" hangingPunct="1"/>
            <a:r>
              <a:rPr lang="en-US">
                <a:latin typeface="Arial" charset="0"/>
                <a:cs typeface="Arial" charset="0"/>
              </a:rPr>
              <a:t>Crystal field theory provides a foundation for explaining all of the properties of coordination compounds </a:t>
            </a:r>
            <a:r>
              <a:rPr lang="en-US" b="1">
                <a:latin typeface="Arial" charset="0"/>
                <a:cs typeface="Arial" charset="0"/>
              </a:rPr>
              <a:t>except</a:t>
            </a:r>
            <a:r>
              <a:rPr lang="en-US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43011" name="Subtitl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3048000"/>
          </a:xfrm>
        </p:spPr>
        <p:txBody>
          <a:bodyPr/>
          <a:lstStyle/>
          <a:p>
            <a:pPr marL="514350" indent="-514350" algn="l" eaLnBrk="1" hangingPunct="1">
              <a:buFont typeface="Arial" charset="0"/>
              <a:buAutoNum type="alphaLcPeriod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color.</a:t>
            </a:r>
          </a:p>
          <a:p>
            <a:pPr marL="514350" indent="-514350" algn="l" eaLnBrk="1" hangingPunct="1">
              <a:buFont typeface="Arial" charset="0"/>
              <a:buAutoNum type="alphaLcPeriod" startAt="2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magnetic properties.</a:t>
            </a:r>
          </a:p>
          <a:p>
            <a:pPr marL="514350" indent="-514350" algn="l" eaLnBrk="1" hangingPunct="1">
              <a:buFont typeface="Arial" charset="0"/>
              <a:buAutoNum type="alphaLcPeriod" startAt="3"/>
            </a:pPr>
            <a:r>
              <a:rPr lang="en-US">
                <a:solidFill>
                  <a:srgbClr val="0D0D0D"/>
                </a:solidFill>
                <a:latin typeface="Arial" charset="0"/>
                <a:cs typeface="Arial" charset="0"/>
              </a:rPr>
              <a:t>geometry.</a:t>
            </a:r>
          </a:p>
          <a:p>
            <a:pPr marL="514350" indent="-514350" algn="l" eaLnBrk="1" hangingPunct="1"/>
            <a:r>
              <a:rPr lang="en-US" b="1">
                <a:solidFill>
                  <a:schemeClr val="tx1"/>
                </a:solidFill>
                <a:latin typeface="Arial" charset="0"/>
                <a:cs typeface="Arial" charset="0"/>
              </a:rPr>
              <a:t>d</a:t>
            </a:r>
            <a:r>
              <a:rPr lang="en-US" b="1" smtClean="0">
                <a:solidFill>
                  <a:schemeClr val="tx1"/>
                </a:solidFill>
                <a:latin typeface="Arial" charset="0"/>
                <a:cs typeface="Arial" charset="0"/>
              </a:rPr>
              <a:t>.	melting </a:t>
            </a:r>
            <a:r>
              <a:rPr lang="en-US" b="1">
                <a:solidFill>
                  <a:schemeClr val="tx1"/>
                </a:solidFill>
                <a:latin typeface="Arial" charset="0"/>
                <a:cs typeface="Arial" charset="0"/>
              </a:rPr>
              <a:t>point.</a:t>
            </a:r>
          </a:p>
        </p:txBody>
      </p:sp>
    </p:spTree>
    <p:extLst>
      <p:ext uri="{BB962C8B-B14F-4D97-AF65-F5344CB8AC3E}">
        <p14:creationId xmlns:p14="http://schemas.microsoft.com/office/powerpoint/2010/main" val="1657510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12" charset="0"/>
            <a:ea typeface="ＭＳ Ｐゴシック" pitchFamily="-112" charset="-128"/>
            <a:cs typeface="ＭＳ Ｐゴシック" pitchFamily="-11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12" charset="0"/>
            <a:ea typeface="ＭＳ Ｐゴシック" pitchFamily="-112" charset="-128"/>
            <a:cs typeface="ＭＳ Ｐゴシック" pitchFamily="-112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ank Presentation">
  <a:themeElements>
    <a:clrScheme name="1_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>
            <a:alpha val="60001"/>
          </a:scheme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>
            <a:ln>
              <a:noFill/>
            </a:ln>
            <a:solidFill>
              <a:srgbClr val="C82E32"/>
            </a:solidFill>
            <a:effectLst/>
            <a:latin typeface="Arial" pitchFamily="-112" charset="0"/>
            <a:ea typeface="ＭＳ Ｐゴシック" pitchFamily="-112" charset="-128"/>
            <a:cs typeface="ＭＳ Ｐゴシック" pitchFamily="-11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>
            <a:alpha val="60001"/>
          </a:scheme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>
            <a:ln>
              <a:noFill/>
            </a:ln>
            <a:solidFill>
              <a:srgbClr val="C82E32"/>
            </a:solidFill>
            <a:effectLst/>
            <a:latin typeface="Arial" pitchFamily="-112" charset="0"/>
            <a:ea typeface="ＭＳ Ｐゴシック" pitchFamily="-112" charset="-128"/>
            <a:cs typeface="ＭＳ Ｐゴシック" pitchFamily="-112" charset="-128"/>
          </a:defRPr>
        </a:defPPr>
      </a:lstStyle>
    </a:lnDef>
  </a:objectDefaults>
  <a:extraClrSchemeLst>
    <a:extraClrScheme>
      <a:clrScheme name="1_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4400</TotalTime>
  <Words>2684</Words>
  <Application>Microsoft Office PowerPoint</Application>
  <PresentationFormat>On-screen Show (4:3)</PresentationFormat>
  <Paragraphs>473</Paragraphs>
  <Slides>79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79</vt:i4>
      </vt:variant>
    </vt:vector>
  </HeadingPairs>
  <TitlesOfParts>
    <vt:vector size="87" baseType="lpstr">
      <vt:lpstr>Adobe 黑体 Std R</vt:lpstr>
      <vt:lpstr>ＭＳ Ｐゴシック</vt:lpstr>
      <vt:lpstr>Arial</vt:lpstr>
      <vt:lpstr>Calibri</vt:lpstr>
      <vt:lpstr>Times New Roman</vt:lpstr>
      <vt:lpstr>Wingdings</vt:lpstr>
      <vt:lpstr>Blank Presentation</vt:lpstr>
      <vt:lpstr>1_Blank Presentation</vt:lpstr>
      <vt:lpstr>PowerPoint Presentation</vt:lpstr>
      <vt:lpstr>Why are Transition Metals of Interest?</vt:lpstr>
      <vt:lpstr>Minerals 矿物</vt:lpstr>
      <vt:lpstr>Metallurgy 冶金学</vt:lpstr>
      <vt:lpstr>Properties of the First Row Transition Metals</vt:lpstr>
      <vt:lpstr>Atomic Radius</vt:lpstr>
      <vt:lpstr>Transition Metal Characteristics</vt:lpstr>
      <vt:lpstr>Oxidation States</vt:lpstr>
      <vt:lpstr>Magnetism</vt:lpstr>
      <vt:lpstr>Ferromagnetism 铁磁性</vt:lpstr>
      <vt:lpstr>Antiferromagnetism 反铁磁性</vt:lpstr>
      <vt:lpstr>Ferrimagnetism 亚铁磁性</vt:lpstr>
      <vt:lpstr>Complexes 络合物</vt:lpstr>
      <vt:lpstr>Alfred Werner’s Theory on Transition Metal Complexes</vt:lpstr>
      <vt:lpstr>Werner’s Theory</vt:lpstr>
      <vt:lpstr>The Metal–Ligand Bond</vt:lpstr>
      <vt:lpstr>Coordination Numbers 配位数</vt:lpstr>
      <vt:lpstr>Common Ligands</vt:lpstr>
      <vt:lpstr>Chelates 螯合物</vt:lpstr>
      <vt:lpstr>Chelates in Biological Systems</vt:lpstr>
      <vt:lpstr>Nomenclature Rules 命名法  for Coordination Chemistry</vt:lpstr>
      <vt:lpstr>Nomenclature Rules</vt:lpstr>
      <vt:lpstr>Nomenclature Rules</vt:lpstr>
      <vt:lpstr>Nomenclature Examples</vt:lpstr>
      <vt:lpstr>Isomers 同分异构体</vt:lpstr>
      <vt:lpstr>Linkage Isomers 键合异构体</vt:lpstr>
      <vt:lpstr>Coordination Sphere Isomers 配位层异构体</vt:lpstr>
      <vt:lpstr>Stereoisomers 立体异构体</vt:lpstr>
      <vt:lpstr>Geometric Isomers 几何异构体</vt:lpstr>
      <vt:lpstr>Optical Isomers 旋光异构体</vt:lpstr>
      <vt:lpstr>Optical Isomers</vt:lpstr>
      <vt:lpstr>Color</vt:lpstr>
      <vt:lpstr>Color</vt:lpstr>
      <vt:lpstr>Crystal-Field Theory 晶体场理论</vt:lpstr>
      <vt:lpstr>Crystal-Field Theory</vt:lpstr>
      <vt:lpstr>Crystal-Field Theory</vt:lpstr>
      <vt:lpstr>Crystal-Field Theory</vt:lpstr>
      <vt:lpstr>Crystal-Field Theory</vt:lpstr>
      <vt:lpstr>Crystal-Field Theory</vt:lpstr>
      <vt:lpstr>Transition metals differ from main group metals because transition metals</vt:lpstr>
      <vt:lpstr>Transition metals differ from main group metals because transition metals</vt:lpstr>
      <vt:lpstr>The radii of Period 5 and 6 elements in the same group (except for 3B) are virtually the same because of the</vt:lpstr>
      <vt:lpstr>The radii of Period 5 and 6 elements in the same group (except for 3B) are virtually the same because of the</vt:lpstr>
      <vt:lpstr>Because transition metal atoms lose their outer s electrons first, almost all of the ions exhibit the ___ oxidation state.</vt:lpstr>
      <vt:lpstr>Because transition metal atoms lose their outer s electrons first, almost all of the ions exhibit the ___ oxidation state.</vt:lpstr>
      <vt:lpstr>_______ is a property of substances in which all of the electrons are paired.</vt:lpstr>
      <vt:lpstr>_______ is a property of substances in which all of the electrons are paired.</vt:lpstr>
      <vt:lpstr>All ligands have</vt:lpstr>
      <vt:lpstr>All ligands have</vt:lpstr>
      <vt:lpstr>The number of atoms bonded to a transition metal atom is called the _______ number of the metal atom.</vt:lpstr>
      <vt:lpstr>The number of atoms bonded to a transition metal atom is called the _______ number of the metal atom.</vt:lpstr>
      <vt:lpstr>A transition metal atom and the ligands attached to it constitute the coordination</vt:lpstr>
      <vt:lpstr>A transition metal atom and the ligands attached to it constitute the coordination</vt:lpstr>
      <vt:lpstr>In the coordination compound [Pt(NH3)2Cl2], the oxidation number of Pt is ___, and its coordination number is ___.</vt:lpstr>
      <vt:lpstr>In the coordination compound [Pt(NH3)2Cl2], the oxidation number of Pt is ___, and its coordination number is ___.</vt:lpstr>
      <vt:lpstr>Ligands are</vt:lpstr>
      <vt:lpstr>Ligands are</vt:lpstr>
      <vt:lpstr>Most transition metal complex ions with a coordination number of 6 have what geometry?</vt:lpstr>
      <vt:lpstr>Most transition metal complex ions with a coordination number of 6 have what geometry?</vt:lpstr>
      <vt:lpstr>Which of the following is a bidentate ligand?</vt:lpstr>
      <vt:lpstr>Which of the following is a bidentate ligand?</vt:lpstr>
      <vt:lpstr>Hemoglobin is a porphyrin that contains _______.</vt:lpstr>
      <vt:lpstr>Hemoglobin is a porphyrin that contains _______.</vt:lpstr>
      <vt:lpstr>Chlorophyll is a porphyrin that contains _______.</vt:lpstr>
      <vt:lpstr>Chlorophyll is a porphyrin that contains _______.</vt:lpstr>
      <vt:lpstr>Which ligand symbol-name pair is not correct?</vt:lpstr>
      <vt:lpstr>Which ligand symbol-name pair is not correct?</vt:lpstr>
      <vt:lpstr>[Co(NH3)5Cl]Cl2 is named _______ chloride.</vt:lpstr>
      <vt:lpstr>[Co(NH3)5Cl]Cl2 is named _______ chloride.</vt:lpstr>
      <vt:lpstr>Na2[MoOCl4] is named sodium</vt:lpstr>
      <vt:lpstr>Na2[MoOCl4] is named sodium</vt:lpstr>
      <vt:lpstr>[Ag(SCN)2]1− and [Ag(NCS)2]1− are</vt:lpstr>
      <vt:lpstr>[Ag(SCN)2]1− and [Ag(NCS)2]1− are</vt:lpstr>
      <vt:lpstr>cis-[Pt(NH3)2Cl2] and  trans-[Pt(NH3)2Cl2] are</vt:lpstr>
      <vt:lpstr>cis-[Pt(NH3)2Cl2] and  trans-[Pt(NH3)2Cl2] are</vt:lpstr>
      <vt:lpstr>Objects which are not able to be superimposed on their mirror images are said to be</vt:lpstr>
      <vt:lpstr>Objects which are not able to be superimposed on their mirror images are said to be</vt:lpstr>
      <vt:lpstr>Crystal field theory provides a foundation for explaining all of the properties of coordination compounds except </vt:lpstr>
      <vt:lpstr>Crystal field theory provides a foundation for explaining all of the properties of coordination compounds except </vt:lpstr>
    </vt:vector>
  </TitlesOfParts>
  <Company>John Bookstaver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23 Metals and Metallurgy</dc:title>
  <dc:creator>John Bookstaver</dc:creator>
  <cp:lastModifiedBy>dell</cp:lastModifiedBy>
  <cp:revision>201</cp:revision>
  <dcterms:created xsi:type="dcterms:W3CDTF">2014-03-05T03:50:15Z</dcterms:created>
  <dcterms:modified xsi:type="dcterms:W3CDTF">2018-12-19T08:07:17Z</dcterms:modified>
</cp:coreProperties>
</file>